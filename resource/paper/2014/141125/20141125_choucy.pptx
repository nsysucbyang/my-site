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71" r:id="rId3"/>
    <p:sldId id="265" r:id="rId4"/>
    <p:sldId id="266" r:id="rId5"/>
    <p:sldId id="267" r:id="rId6"/>
    <p:sldId id="268" r:id="rId7"/>
    <p:sldId id="269" r:id="rId8"/>
    <p:sldId id="256" r:id="rId9"/>
    <p:sldId id="257" r:id="rId10"/>
    <p:sldId id="258" r:id="rId11"/>
    <p:sldId id="259" r:id="rId12"/>
    <p:sldId id="260" r:id="rId13"/>
    <p:sldId id="261" r:id="rId14"/>
    <p:sldId id="272" r:id="rId15"/>
    <p:sldId id="270"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9" d="100"/>
          <a:sy n="109" d="100"/>
        </p:scale>
        <p:origin x="-16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489096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364630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424489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2899715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444378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1350160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969595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632362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73290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2443925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1925854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9E0C83-69DB-4F9F-B279-6070CE1A6E23}" type="datetimeFigureOut">
              <a:rPr lang="zh-TW" altLang="en-US" smtClean="0"/>
              <a:t>2014/11/25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215036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Matching for Run-Length Encoded Strings</a:t>
            </a:r>
            <a:endParaRPr lang="zh-TW" altLang="en-US" dirty="0"/>
          </a:p>
        </p:txBody>
      </p:sp>
      <p:sp>
        <p:nvSpPr>
          <p:cNvPr id="3" name="副標題 2"/>
          <p:cNvSpPr>
            <a:spLocks noGrp="1"/>
          </p:cNvSpPr>
          <p:nvPr>
            <p:ph type="subTitle" idx="1"/>
          </p:nvPr>
        </p:nvSpPr>
        <p:spPr/>
        <p:txBody>
          <a:bodyPr>
            <a:normAutofit fontScale="85000" lnSpcReduction="10000"/>
          </a:bodyPr>
          <a:lstStyle/>
          <a:p>
            <a:pPr algn="l"/>
            <a:r>
              <a:rPr lang="en-US" altLang="zh-TW" dirty="0" err="1"/>
              <a:t>Apostolico</a:t>
            </a:r>
            <a:r>
              <a:rPr lang="en-US" altLang="zh-TW" dirty="0"/>
              <a:t>, A., Landau, G.M. </a:t>
            </a:r>
            <a:r>
              <a:rPr lang="en-US" altLang="zh-TW" dirty="0" smtClean="0"/>
              <a:t>and </a:t>
            </a:r>
            <a:r>
              <a:rPr lang="en-US" altLang="zh-TW" dirty="0" err="1" smtClean="0"/>
              <a:t>Skiena</a:t>
            </a:r>
            <a:r>
              <a:rPr lang="en-US" altLang="zh-TW" dirty="0"/>
              <a:t>, S</a:t>
            </a:r>
            <a:r>
              <a:rPr lang="en-US" altLang="zh-TW" dirty="0" smtClean="0"/>
              <a:t>.</a:t>
            </a:r>
            <a:r>
              <a:rPr lang="en-US" altLang="zh-TW" dirty="0"/>
              <a:t/>
            </a:r>
            <a:br>
              <a:rPr lang="en-US" altLang="zh-TW" dirty="0"/>
            </a:br>
            <a:r>
              <a:rPr lang="en-US" altLang="zh-TW" dirty="0"/>
              <a:t>Compression and Complexity of Sequences </a:t>
            </a:r>
            <a:r>
              <a:rPr lang="en-US" altLang="zh-TW" dirty="0" smtClean="0"/>
              <a:t>1997. Proceedings </a:t>
            </a:r>
            <a:br>
              <a:rPr lang="en-US" altLang="zh-TW" dirty="0" smtClean="0"/>
            </a:br>
            <a:r>
              <a:rPr lang="en-US" altLang="zh-TW" dirty="0" smtClean="0"/>
              <a:t>page </a:t>
            </a:r>
            <a:r>
              <a:rPr lang="en-US" altLang="zh-TW" dirty="0"/>
              <a:t>348 - 356</a:t>
            </a:r>
            <a:endParaRPr lang="zh-TW" altLang="en-US" dirty="0"/>
          </a:p>
        </p:txBody>
      </p:sp>
    </p:spTree>
    <p:extLst>
      <p:ext uri="{BB962C8B-B14F-4D97-AF65-F5344CB8AC3E}">
        <p14:creationId xmlns:p14="http://schemas.microsoft.com/office/powerpoint/2010/main" val="3078452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4" name="矩形 3"/>
          <p:cNvSpPr/>
          <p:nvPr/>
        </p:nvSpPr>
        <p:spPr>
          <a:xfrm>
            <a:off x="683568" y="1484783"/>
            <a:ext cx="7776864" cy="5262979"/>
          </a:xfrm>
          <a:prstGeom prst="rect">
            <a:avLst/>
          </a:prstGeom>
        </p:spPr>
        <p:txBody>
          <a:bodyPr wrap="square">
            <a:spAutoFit/>
          </a:bodyPr>
          <a:lstStyle/>
          <a:p>
            <a:r>
              <a:rPr lang="en-US" altLang="zh-TW" sz="2800" dirty="0"/>
              <a:t>Measuring the similarity between two strings, through such standard measures as Hamming distance, edit distance, and longest common subsequence, is one of the fundamental problems in pattern matching. We consider the problem of finding the longest common subsequence of two strings. A well-known dynamic programming algorithm computes the longest common subsequence of strings X and Y in O(|X|·|Y|) time. We develop significantly faster algorithms for a special class of strings which emerge frequently in pattern matching problems.</a:t>
            </a:r>
            <a:endParaRPr lang="zh-TW" altLang="en-US" sz="2800" dirty="0"/>
          </a:p>
        </p:txBody>
      </p:sp>
    </p:spTree>
    <p:extLst>
      <p:ext uri="{BB962C8B-B14F-4D97-AF65-F5344CB8AC3E}">
        <p14:creationId xmlns:p14="http://schemas.microsoft.com/office/powerpoint/2010/main" val="1437074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內容版面配置區 2"/>
          <p:cNvSpPr>
            <a:spLocks noGrp="1"/>
          </p:cNvSpPr>
          <p:nvPr>
            <p:ph idx="1"/>
          </p:nvPr>
        </p:nvSpPr>
        <p:spPr/>
        <p:txBody>
          <a:bodyPr/>
          <a:lstStyle/>
          <a:p>
            <a:r>
              <a:rPr lang="en-US" altLang="zh-TW" dirty="0" smtClean="0"/>
              <a:t>Run-length string</a:t>
            </a:r>
            <a:br>
              <a:rPr lang="en-US" altLang="zh-TW" dirty="0" smtClean="0"/>
            </a:br>
            <a:r>
              <a:rPr lang="en-US" altLang="zh-TW" dirty="0" smtClean="0"/>
              <a:t>X = </a:t>
            </a:r>
            <a:r>
              <a:rPr lang="en-US" altLang="zh-TW" dirty="0" err="1" smtClean="0"/>
              <a:t>aaabbbbbbcaaaa</a:t>
            </a:r>
            <a:r>
              <a:rPr lang="en-US" altLang="zh-TW" dirty="0" smtClean="0"/>
              <a:t> </a:t>
            </a:r>
            <a:r>
              <a:rPr lang="zh-TW" altLang="en-US" dirty="0" smtClean="0"/>
              <a:t>→ </a:t>
            </a:r>
            <a:r>
              <a:rPr lang="en-US" altLang="zh-TW" dirty="0" smtClean="0"/>
              <a:t>a</a:t>
            </a:r>
            <a:r>
              <a:rPr lang="en-US" altLang="zh-TW" baseline="30000" dirty="0" smtClean="0"/>
              <a:t>3</a:t>
            </a:r>
            <a:r>
              <a:rPr lang="en-US" altLang="zh-TW" dirty="0" smtClean="0"/>
              <a:t>b</a:t>
            </a:r>
            <a:r>
              <a:rPr lang="en-US" altLang="zh-TW" baseline="30000" dirty="0" smtClean="0"/>
              <a:t>6</a:t>
            </a:r>
            <a:r>
              <a:rPr lang="en-US" altLang="zh-TW" dirty="0" smtClean="0"/>
              <a:t>c</a:t>
            </a:r>
            <a:r>
              <a:rPr lang="en-US" altLang="zh-TW" baseline="30000" dirty="0" smtClean="0"/>
              <a:t>1</a:t>
            </a:r>
            <a:r>
              <a:rPr lang="en-US" altLang="zh-TW" dirty="0" smtClean="0"/>
              <a:t>a</a:t>
            </a:r>
            <a:r>
              <a:rPr lang="en-US" altLang="zh-TW" baseline="30000" dirty="0" smtClean="0"/>
              <a:t>4</a:t>
            </a:r>
            <a:br>
              <a:rPr lang="en-US" altLang="zh-TW" baseline="30000" dirty="0" smtClean="0"/>
            </a:br>
            <a:r>
              <a:rPr lang="en-US" altLang="zh-TW" dirty="0" smtClean="0"/>
              <a:t>Y = </a:t>
            </a:r>
            <a:r>
              <a:rPr lang="en-US" altLang="zh-TW" dirty="0" err="1" smtClean="0"/>
              <a:t>aaaaaabbbaaaaaaaabbb</a:t>
            </a:r>
            <a:r>
              <a:rPr lang="en-US" altLang="zh-TW" dirty="0" smtClean="0"/>
              <a:t> </a:t>
            </a:r>
            <a:r>
              <a:rPr lang="zh-TW" altLang="en-US" dirty="0" smtClean="0"/>
              <a:t>→ </a:t>
            </a:r>
            <a:r>
              <a:rPr lang="en-US" altLang="zh-TW" dirty="0" smtClean="0"/>
              <a:t>a</a:t>
            </a:r>
            <a:r>
              <a:rPr lang="en-US" altLang="zh-TW" baseline="30000" dirty="0" smtClean="0"/>
              <a:t>6</a:t>
            </a:r>
            <a:r>
              <a:rPr lang="en-US" altLang="zh-TW" dirty="0" smtClean="0"/>
              <a:t>b</a:t>
            </a:r>
            <a:r>
              <a:rPr lang="en-US" altLang="zh-TW" baseline="30000" dirty="0" smtClean="0"/>
              <a:t>3</a:t>
            </a:r>
            <a:r>
              <a:rPr lang="en-US" altLang="zh-TW" dirty="0" smtClean="0"/>
              <a:t>a</a:t>
            </a:r>
            <a:r>
              <a:rPr lang="en-US" altLang="zh-TW" baseline="30000" dirty="0" smtClean="0"/>
              <a:t>8</a:t>
            </a:r>
            <a:r>
              <a:rPr lang="en-US" altLang="zh-TW" dirty="0" smtClean="0"/>
              <a:t>b</a:t>
            </a:r>
            <a:r>
              <a:rPr lang="en-US" altLang="zh-TW" baseline="30000" dirty="0" smtClean="0"/>
              <a:t>3</a:t>
            </a:r>
          </a:p>
          <a:p>
            <a:r>
              <a:rPr lang="en-US" altLang="zh-TW" dirty="0" smtClean="0"/>
              <a:t>X = X</a:t>
            </a:r>
            <a:r>
              <a:rPr lang="en-US" altLang="zh-TW" baseline="-25000" dirty="0" smtClean="0"/>
              <a:t>1</a:t>
            </a:r>
            <a:r>
              <a:rPr lang="en-US" altLang="zh-TW" dirty="0" smtClean="0"/>
              <a:t>…X</a:t>
            </a:r>
            <a:r>
              <a:rPr lang="en-US" altLang="zh-TW" baseline="-25000" dirty="0" smtClean="0"/>
              <a:t>i</a:t>
            </a:r>
            <a:r>
              <a:rPr lang="en-US" altLang="zh-TW" dirty="0" smtClean="0"/>
              <a:t>, Y = Y</a:t>
            </a:r>
            <a:r>
              <a:rPr lang="en-US" altLang="zh-TW" baseline="-25000" dirty="0" smtClean="0"/>
              <a:t>1</a:t>
            </a:r>
            <a:r>
              <a:rPr lang="en-US" altLang="zh-TW" dirty="0" smtClean="0"/>
              <a:t>…</a:t>
            </a:r>
            <a:r>
              <a:rPr lang="en-US" altLang="zh-TW" dirty="0" err="1" smtClean="0"/>
              <a:t>Y</a:t>
            </a:r>
            <a:r>
              <a:rPr lang="en-US" altLang="zh-TW" baseline="-25000" dirty="0" err="1" smtClean="0"/>
              <a:t>j</a:t>
            </a:r>
            <a:endParaRPr lang="en-US" altLang="zh-TW" baseline="-25000" dirty="0" smtClean="0"/>
          </a:p>
          <a:p>
            <a:r>
              <a:rPr lang="en-US" altLang="zh-TW" dirty="0" err="1" smtClean="0"/>
              <a:t>TOP</a:t>
            </a:r>
            <a:r>
              <a:rPr lang="en-US" altLang="zh-TW" baseline="30000" dirty="0" err="1" smtClean="0"/>
              <a:t>j</a:t>
            </a:r>
            <a:r>
              <a:rPr lang="en-US" altLang="zh-TW" dirty="0" smtClean="0"/>
              <a:t>(</a:t>
            </a:r>
            <a:r>
              <a:rPr lang="el-GR" altLang="zh-TW" dirty="0" smtClean="0"/>
              <a:t>α</a:t>
            </a:r>
            <a:r>
              <a:rPr lang="en-US" altLang="zh-TW" dirty="0" smtClean="0"/>
              <a:t>)</a:t>
            </a:r>
            <a:r>
              <a:rPr lang="zh-TW" altLang="en-US" dirty="0" smtClean="0"/>
              <a:t>：</a:t>
            </a:r>
            <a:r>
              <a:rPr lang="en-US" altLang="zh-TW" dirty="0" smtClean="0"/>
              <a:t>Y</a:t>
            </a:r>
            <a:r>
              <a:rPr lang="zh-TW" altLang="en-US" dirty="0" smtClean="0"/>
              <a:t>在第</a:t>
            </a:r>
            <a:r>
              <a:rPr lang="en-US" altLang="zh-TW" dirty="0" smtClean="0"/>
              <a:t>j</a:t>
            </a:r>
            <a:r>
              <a:rPr lang="zh-TW" altLang="en-US" dirty="0" smtClean="0"/>
              <a:t>元素時，</a:t>
            </a:r>
            <a:r>
              <a:rPr lang="el-GR" altLang="zh-TW" dirty="0" smtClean="0"/>
              <a:t>α</a:t>
            </a:r>
            <a:r>
              <a:rPr lang="zh-TW" altLang="en-US" dirty="0" smtClean="0"/>
              <a:t>的出現次數</a:t>
            </a:r>
            <a:endParaRPr lang="en-US" altLang="zh-TW" dirty="0" smtClean="0"/>
          </a:p>
          <a:p>
            <a:r>
              <a:rPr lang="en-US" altLang="zh-TW" dirty="0" err="1" smtClean="0"/>
              <a:t>LEFT</a:t>
            </a:r>
            <a:r>
              <a:rPr lang="en-US" altLang="zh-TW" baseline="30000" dirty="0" err="1" smtClean="0"/>
              <a:t>i</a:t>
            </a:r>
            <a:r>
              <a:rPr lang="en-US" altLang="zh-TW" dirty="0" smtClean="0"/>
              <a:t>(</a:t>
            </a:r>
            <a:r>
              <a:rPr lang="el-GR" altLang="zh-TW" dirty="0" smtClean="0"/>
              <a:t>α</a:t>
            </a:r>
            <a:r>
              <a:rPr lang="en-US" altLang="zh-TW" dirty="0" smtClean="0"/>
              <a:t>)</a:t>
            </a:r>
            <a:r>
              <a:rPr lang="zh-TW" altLang="en-US" dirty="0" smtClean="0"/>
              <a:t>：</a:t>
            </a:r>
            <a:r>
              <a:rPr lang="en-US" altLang="zh-TW" dirty="0"/>
              <a:t>X</a:t>
            </a:r>
            <a:r>
              <a:rPr lang="zh-TW" altLang="en-US" dirty="0" smtClean="0"/>
              <a:t>在第</a:t>
            </a:r>
            <a:r>
              <a:rPr lang="en-US" altLang="zh-TW" dirty="0" err="1" smtClean="0"/>
              <a:t>i</a:t>
            </a:r>
            <a:r>
              <a:rPr lang="zh-TW" altLang="en-US" dirty="0" smtClean="0"/>
              <a:t>元素時，</a:t>
            </a:r>
            <a:r>
              <a:rPr lang="el-GR" altLang="zh-TW" dirty="0" smtClean="0"/>
              <a:t>α</a:t>
            </a:r>
            <a:r>
              <a:rPr lang="zh-TW" altLang="en-US" dirty="0" smtClean="0"/>
              <a:t>的出現次數</a:t>
            </a:r>
            <a:endParaRPr lang="en-US" altLang="zh-TW" dirty="0" smtClean="0"/>
          </a:p>
        </p:txBody>
      </p:sp>
    </p:spTree>
    <p:extLst>
      <p:ext uri="{BB962C8B-B14F-4D97-AF65-F5344CB8AC3E}">
        <p14:creationId xmlns:p14="http://schemas.microsoft.com/office/powerpoint/2010/main" val="15393885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Forced Path and </a:t>
            </a:r>
            <a:r>
              <a:rPr lang="en-US" altLang="zh-TW" dirty="0"/>
              <a:t>C</a:t>
            </a:r>
            <a:r>
              <a:rPr lang="en-US" altLang="zh-TW" dirty="0" smtClean="0"/>
              <a:t>orner </a:t>
            </a:r>
            <a:r>
              <a:rPr lang="en-US" altLang="zh-TW" dirty="0"/>
              <a:t>P</a:t>
            </a:r>
            <a:r>
              <a:rPr lang="en-US" altLang="zh-TW" dirty="0" smtClean="0"/>
              <a:t>ath</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48190" y="1988840"/>
            <a:ext cx="5192296" cy="3845024"/>
          </a:xfrm>
        </p:spPr>
      </p:pic>
      <p:sp>
        <p:nvSpPr>
          <p:cNvPr id="5" name="文字方塊 4"/>
          <p:cNvSpPr txBox="1"/>
          <p:nvPr/>
        </p:nvSpPr>
        <p:spPr>
          <a:xfrm>
            <a:off x="251520" y="2420888"/>
            <a:ext cx="3720890" cy="3046988"/>
          </a:xfrm>
          <a:prstGeom prst="rect">
            <a:avLst/>
          </a:prstGeom>
          <a:noFill/>
        </p:spPr>
        <p:txBody>
          <a:bodyPr wrap="none" rtlCol="0">
            <a:spAutoFit/>
          </a:bodyPr>
          <a:lstStyle/>
          <a:p>
            <a:r>
              <a:rPr lang="en-US" altLang="zh-TW" sz="2400" dirty="0" smtClean="0"/>
              <a:t>Forced path:</a:t>
            </a:r>
            <a:r>
              <a:rPr lang="zh-TW" altLang="en-US" sz="2400" dirty="0" smtClean="0"/>
              <a:t> 不是從</a:t>
            </a:r>
            <a:r>
              <a:rPr lang="en-US" altLang="zh-TW" sz="2400" dirty="0" smtClean="0"/>
              <a:t>block</a:t>
            </a:r>
            <a:r>
              <a:rPr lang="zh-TW" altLang="en-US" sz="2400" dirty="0" smtClean="0"/>
              <a:t>的</a:t>
            </a:r>
            <a:r>
              <a:rPr lang="en-US" altLang="zh-TW" sz="2400" dirty="0" smtClean="0"/>
              <a:t/>
            </a:r>
            <a:br>
              <a:rPr lang="en-US" altLang="zh-TW" sz="2400" dirty="0" smtClean="0"/>
            </a:br>
            <a:r>
              <a:rPr lang="zh-TW" altLang="en-US" sz="2400" dirty="0" smtClean="0"/>
              <a:t>右下角離開的</a:t>
            </a:r>
            <a:r>
              <a:rPr lang="en-US" altLang="zh-TW" sz="2400" dirty="0" smtClean="0"/>
              <a:t>path</a:t>
            </a:r>
            <a:r>
              <a:rPr lang="zh-TW" altLang="en-US" sz="2400" dirty="0" smtClean="0"/>
              <a:t>。</a:t>
            </a:r>
            <a:endParaRPr lang="en-US" altLang="zh-TW" sz="2400" dirty="0" smtClean="0"/>
          </a:p>
          <a:p>
            <a:endParaRPr lang="en-US" altLang="zh-TW" sz="2400" dirty="0" smtClean="0"/>
          </a:p>
          <a:p>
            <a:r>
              <a:rPr lang="en-US" altLang="zh-TW" sz="2400" dirty="0" smtClean="0"/>
              <a:t>Corner path:</a:t>
            </a:r>
            <a:r>
              <a:rPr lang="zh-TW" altLang="en-US" sz="2400" dirty="0" smtClean="0"/>
              <a:t> 從</a:t>
            </a:r>
            <a:r>
              <a:rPr lang="en-US" altLang="zh-TW" sz="2400" dirty="0" smtClean="0"/>
              <a:t>block</a:t>
            </a:r>
            <a:r>
              <a:rPr lang="zh-TW" altLang="en-US" sz="2400" dirty="0" smtClean="0"/>
              <a:t>的</a:t>
            </a:r>
            <a:r>
              <a:rPr lang="en-US" altLang="zh-TW" sz="2400" dirty="0" smtClean="0"/>
              <a:t/>
            </a:r>
            <a:br>
              <a:rPr lang="en-US" altLang="zh-TW" sz="2400" dirty="0" smtClean="0"/>
            </a:br>
            <a:r>
              <a:rPr lang="zh-TW" altLang="en-US" sz="2400" dirty="0" smtClean="0"/>
              <a:t>右下角離開的</a:t>
            </a:r>
            <a:r>
              <a:rPr lang="en-US" altLang="zh-TW" sz="2400" dirty="0" smtClean="0"/>
              <a:t>path</a:t>
            </a:r>
            <a:r>
              <a:rPr lang="zh-TW" altLang="en-US" sz="2400" dirty="0" smtClean="0"/>
              <a:t>。</a:t>
            </a:r>
            <a:endParaRPr lang="en-US" altLang="zh-TW" sz="2400" dirty="0" smtClean="0"/>
          </a:p>
          <a:p>
            <a:endParaRPr lang="en-US" altLang="zh-TW" sz="2400" dirty="0" smtClean="0"/>
          </a:p>
          <a:p>
            <a:r>
              <a:rPr lang="zh-TW" altLang="en-US" sz="2400" dirty="0" smtClean="0"/>
              <a:t>虛線為</a:t>
            </a:r>
            <a:r>
              <a:rPr lang="en-US" altLang="zh-TW" sz="2400" dirty="0" smtClean="0"/>
              <a:t>forced path</a:t>
            </a:r>
            <a:r>
              <a:rPr lang="zh-TW" altLang="en-US" sz="2400" dirty="0" smtClean="0"/>
              <a:t>，</a:t>
            </a:r>
            <a:r>
              <a:rPr lang="en-US" altLang="zh-TW" sz="2400" dirty="0" smtClean="0"/>
              <a:t/>
            </a:r>
            <a:br>
              <a:rPr lang="en-US" altLang="zh-TW" sz="2400" dirty="0" smtClean="0"/>
            </a:br>
            <a:r>
              <a:rPr lang="zh-TW" altLang="en-US" sz="2400" dirty="0" smtClean="0"/>
              <a:t>實線為</a:t>
            </a:r>
            <a:r>
              <a:rPr lang="en-US" altLang="zh-TW" sz="2400" dirty="0" smtClean="0"/>
              <a:t>corner path</a:t>
            </a:r>
            <a:r>
              <a:rPr lang="zh-TW" altLang="en-US" sz="2400" dirty="0" smtClean="0"/>
              <a:t>。</a:t>
            </a:r>
            <a:endParaRPr lang="en-US" altLang="zh-TW" sz="2400" dirty="0" smtClean="0"/>
          </a:p>
        </p:txBody>
      </p:sp>
    </p:spTree>
    <p:extLst>
      <p:ext uri="{BB962C8B-B14F-4D97-AF65-F5344CB8AC3E}">
        <p14:creationId xmlns:p14="http://schemas.microsoft.com/office/powerpoint/2010/main" val="27250261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Dynamic Programming</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157127"/>
            <a:ext cx="8229600" cy="3412108"/>
          </a:xfrm>
        </p:spPr>
      </p:pic>
      <p:sp>
        <p:nvSpPr>
          <p:cNvPr id="5" name="圓角矩形 4"/>
          <p:cNvSpPr/>
          <p:nvPr/>
        </p:nvSpPr>
        <p:spPr>
          <a:xfrm>
            <a:off x="2987824" y="5157192"/>
            <a:ext cx="2880320" cy="360040"/>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6" name="文字方塊 5"/>
          <p:cNvSpPr txBox="1"/>
          <p:nvPr/>
        </p:nvSpPr>
        <p:spPr>
          <a:xfrm>
            <a:off x="5940152" y="5157192"/>
            <a:ext cx="814647" cy="369332"/>
          </a:xfrm>
          <a:prstGeom prst="rect">
            <a:avLst/>
          </a:prstGeom>
          <a:noFill/>
        </p:spPr>
        <p:txBody>
          <a:bodyPr wrap="none" rtlCol="0">
            <a:spAutoFit/>
          </a:bodyPr>
          <a:lstStyle/>
          <a:p>
            <a:r>
              <a:rPr lang="en-US" altLang="zh-TW" dirty="0" smtClean="0"/>
              <a:t>O(</a:t>
            </a:r>
            <a:r>
              <a:rPr lang="en-US" altLang="zh-TW" dirty="0" err="1" smtClean="0"/>
              <a:t>k+l</a:t>
            </a:r>
            <a:r>
              <a:rPr lang="en-US" altLang="zh-TW" dirty="0" smtClean="0"/>
              <a:t>)</a:t>
            </a:r>
            <a:endParaRPr lang="zh-TW" altLang="en-US" dirty="0"/>
          </a:p>
        </p:txBody>
      </p:sp>
      <p:sp>
        <p:nvSpPr>
          <p:cNvPr id="7" name="文字方塊 6"/>
          <p:cNvSpPr txBox="1"/>
          <p:nvPr/>
        </p:nvSpPr>
        <p:spPr>
          <a:xfrm>
            <a:off x="395536" y="5589240"/>
            <a:ext cx="4492512" cy="461665"/>
          </a:xfrm>
          <a:prstGeom prst="rect">
            <a:avLst/>
          </a:prstGeom>
          <a:noFill/>
        </p:spPr>
        <p:txBody>
          <a:bodyPr wrap="none" rtlCol="0">
            <a:spAutoFit/>
          </a:bodyPr>
          <a:lstStyle/>
          <a:p>
            <a:r>
              <a:rPr lang="en-US" altLang="zh-TW" sz="2400" dirty="0" smtClean="0"/>
              <a:t>Total Time Complexity: O(kl(</a:t>
            </a:r>
            <a:r>
              <a:rPr lang="en-US" altLang="zh-TW" sz="2400" dirty="0" err="1" smtClean="0"/>
              <a:t>k+l</a:t>
            </a:r>
            <a:r>
              <a:rPr lang="en-US" altLang="zh-TW" sz="2400" dirty="0" smtClean="0"/>
              <a:t>))</a:t>
            </a:r>
            <a:endParaRPr lang="zh-TW" altLang="en-US" sz="2400" dirty="0"/>
          </a:p>
        </p:txBody>
      </p:sp>
    </p:spTree>
    <p:extLst>
      <p:ext uri="{BB962C8B-B14F-4D97-AF65-F5344CB8AC3E}">
        <p14:creationId xmlns:p14="http://schemas.microsoft.com/office/powerpoint/2010/main" val="17357292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RANK</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使</a:t>
            </a:r>
            <a:r>
              <a:rPr lang="zh-TW" altLang="en-US" dirty="0" smtClean="0"/>
              <a:t>用</a:t>
            </a:r>
            <a:r>
              <a:rPr lang="en-US" altLang="zh-TW" dirty="0" smtClean="0"/>
              <a:t>balanced binary tree</a:t>
            </a:r>
            <a:r>
              <a:rPr lang="zh-TW" altLang="en-US" dirty="0" smtClean="0"/>
              <a:t>紀錄</a:t>
            </a:r>
            <a:r>
              <a:rPr lang="en-US" altLang="zh-TW" dirty="0" smtClean="0"/>
              <a:t>forced path</a:t>
            </a:r>
            <a:r>
              <a:rPr lang="zh-TW" altLang="en-US" dirty="0" smtClean="0"/>
              <a:t>，其中的資訊包含：</a:t>
            </a:r>
            <a:r>
              <a:rPr lang="en-US" altLang="zh-TW" dirty="0" smtClean="0"/>
              <a:t>RANK</a:t>
            </a:r>
            <a:r>
              <a:rPr lang="zh-TW" altLang="en-US" dirty="0" smtClean="0"/>
              <a:t>，起始</a:t>
            </a:r>
            <a:r>
              <a:rPr lang="en-US" altLang="zh-TW" dirty="0" smtClean="0"/>
              <a:t>LCS value</a:t>
            </a:r>
            <a:r>
              <a:rPr lang="zh-TW" altLang="en-US" dirty="0" smtClean="0"/>
              <a:t>，起始點。</a:t>
            </a:r>
            <a:endParaRPr lang="en-US" altLang="zh-TW" dirty="0" smtClean="0"/>
          </a:p>
          <a:p>
            <a:r>
              <a:rPr lang="en-US" altLang="zh-TW" dirty="0" smtClean="0"/>
              <a:t>RANK(</a:t>
            </a:r>
            <a:r>
              <a:rPr lang="el-GR" altLang="zh-TW" dirty="0" smtClean="0"/>
              <a:t>α</a:t>
            </a:r>
            <a:r>
              <a:rPr lang="en-US" altLang="zh-TW" dirty="0" smtClean="0"/>
              <a:t>; </a:t>
            </a:r>
            <a:r>
              <a:rPr lang="en-US" altLang="zh-TW" dirty="0" err="1" smtClean="0"/>
              <a:t>i</a:t>
            </a:r>
            <a:r>
              <a:rPr lang="en-US" altLang="zh-TW" dirty="0" smtClean="0"/>
              <a:t>, j)</a:t>
            </a:r>
            <a:r>
              <a:rPr lang="zh-TW" altLang="en-US" dirty="0" smtClean="0"/>
              <a:t> </a:t>
            </a:r>
            <a:r>
              <a:rPr lang="en-US" altLang="zh-TW" dirty="0" smtClean="0"/>
              <a:t>=</a:t>
            </a:r>
            <a:r>
              <a:rPr lang="zh-TW" altLang="en-US" dirty="0" smtClean="0"/>
              <a:t> </a:t>
            </a:r>
            <a:r>
              <a:rPr lang="en-US" altLang="zh-TW" dirty="0" smtClean="0"/>
              <a:t>TOP</a:t>
            </a:r>
            <a:r>
              <a:rPr lang="en-US" altLang="zh-TW" baseline="30000" dirty="0" smtClean="0"/>
              <a:t>j-1</a:t>
            </a:r>
            <a:r>
              <a:rPr lang="en-US" altLang="zh-TW" dirty="0" smtClean="0"/>
              <a:t>(</a:t>
            </a:r>
            <a:r>
              <a:rPr lang="el-GR" altLang="zh-TW" dirty="0" smtClean="0"/>
              <a:t>α</a:t>
            </a:r>
            <a:r>
              <a:rPr lang="en-US" altLang="zh-TW" dirty="0" smtClean="0"/>
              <a:t>) - LEFT </a:t>
            </a:r>
            <a:r>
              <a:rPr lang="en-US" altLang="zh-TW" baseline="30000" dirty="0" smtClean="0"/>
              <a:t>i-1</a:t>
            </a:r>
            <a:r>
              <a:rPr lang="en-US" altLang="zh-TW" dirty="0" smtClean="0"/>
              <a:t>(</a:t>
            </a:r>
            <a:r>
              <a:rPr lang="el-GR" altLang="zh-TW" dirty="0" smtClean="0"/>
              <a:t>α</a:t>
            </a:r>
            <a:r>
              <a:rPr lang="en-US" altLang="zh-TW" dirty="0" smtClean="0"/>
              <a:t>)</a:t>
            </a:r>
          </a:p>
          <a:p>
            <a:r>
              <a:rPr lang="en-US" altLang="zh-TW" dirty="0" smtClean="0"/>
              <a:t>Initial LCS value = M[i-1, j-1]</a:t>
            </a:r>
          </a:p>
          <a:p>
            <a:r>
              <a:rPr lang="zh-TW" altLang="en-US" dirty="0" smtClean="0"/>
              <a:t>事先建立</a:t>
            </a:r>
            <a:r>
              <a:rPr lang="zh-TW" altLang="en-US" dirty="0"/>
              <a:t>每個符號的</a:t>
            </a:r>
            <a:r>
              <a:rPr lang="en-US" altLang="zh-TW" dirty="0"/>
              <a:t>TOP</a:t>
            </a:r>
            <a:r>
              <a:rPr lang="zh-TW" altLang="en-US" dirty="0"/>
              <a:t>與</a:t>
            </a:r>
            <a:r>
              <a:rPr lang="en-US" altLang="zh-TW" dirty="0"/>
              <a:t>LEFT</a:t>
            </a:r>
            <a:r>
              <a:rPr lang="zh-TW" altLang="en-US" dirty="0" smtClean="0"/>
              <a:t>表格，利用其對應關係得到</a:t>
            </a:r>
            <a:r>
              <a:rPr lang="en-US" altLang="zh-TW" dirty="0" smtClean="0"/>
              <a:t>RANK</a:t>
            </a:r>
          </a:p>
          <a:p>
            <a:r>
              <a:rPr lang="zh-TW" altLang="en-US" dirty="0" smtClean="0"/>
              <a:t>每個符號建立</a:t>
            </a:r>
            <a:r>
              <a:rPr lang="zh-TW" altLang="en-US" dirty="0"/>
              <a:t>兩</a:t>
            </a:r>
            <a:r>
              <a:rPr lang="zh-TW" altLang="en-US" dirty="0" smtClean="0"/>
              <a:t>個</a:t>
            </a:r>
            <a:r>
              <a:rPr lang="en-US" altLang="zh-TW" dirty="0" smtClean="0"/>
              <a:t>tree C</a:t>
            </a:r>
            <a:r>
              <a:rPr lang="zh-TW" altLang="en-US" dirty="0" smtClean="0"/>
              <a:t>與</a:t>
            </a:r>
            <a:r>
              <a:rPr lang="en-US" altLang="zh-TW" dirty="0" smtClean="0"/>
              <a:t>R</a:t>
            </a:r>
            <a:r>
              <a:rPr lang="zh-TW" altLang="en-US" dirty="0" smtClean="0"/>
              <a:t>，其中的</a:t>
            </a:r>
            <a:r>
              <a:rPr lang="en-US" altLang="zh-TW" dirty="0" smtClean="0"/>
              <a:t>node</a:t>
            </a:r>
            <a:r>
              <a:rPr lang="zh-TW" altLang="en-US" dirty="0" smtClean="0"/>
              <a:t>用</a:t>
            </a:r>
            <a:r>
              <a:rPr lang="en-US" altLang="zh-TW" dirty="0" smtClean="0"/>
              <a:t>RANK</a:t>
            </a:r>
            <a:r>
              <a:rPr lang="zh-TW" altLang="en-US" dirty="0" smtClean="0"/>
              <a:t>作為</a:t>
            </a:r>
            <a:r>
              <a:rPr lang="en-US" altLang="zh-TW" dirty="0" smtClean="0"/>
              <a:t>key</a:t>
            </a:r>
            <a:r>
              <a:rPr lang="zh-TW" altLang="en-US" dirty="0" smtClean="0"/>
              <a:t>，分別處理橫向與縱向的</a:t>
            </a:r>
            <a:r>
              <a:rPr lang="en-US" altLang="zh-TW" dirty="0" smtClean="0"/>
              <a:t>forced path</a:t>
            </a:r>
            <a:r>
              <a:rPr lang="zh-TW" altLang="en-US" dirty="0" smtClean="0"/>
              <a:t>。</a:t>
            </a:r>
            <a:endParaRPr lang="en-US" altLang="zh-TW" dirty="0" smtClean="0"/>
          </a:p>
        </p:txBody>
      </p:sp>
    </p:spTree>
    <p:extLst>
      <p:ext uri="{BB962C8B-B14F-4D97-AF65-F5344CB8AC3E}">
        <p14:creationId xmlns:p14="http://schemas.microsoft.com/office/powerpoint/2010/main" val="473179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Forced Path Tree</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4460" y="1223022"/>
            <a:ext cx="6635080" cy="2205978"/>
          </a:xfrm>
        </p:spPr>
      </p:pic>
      <p:pic>
        <p:nvPicPr>
          <p:cNvPr id="1026" name="Picture 2" descr="F:\Sena\Desktop\45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438128"/>
            <a:ext cx="7018082" cy="3419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8767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637344212"/>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206031917"/>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52311624"/>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548163027"/>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95536"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(1, 1)</a:t>
            </a:r>
          </a:p>
          <a:p>
            <a:r>
              <a:rPr lang="en-US" altLang="zh-TW" dirty="0" smtClean="0"/>
              <a:t>RANK(a, 1, 1) = TOP</a:t>
            </a:r>
            <a:r>
              <a:rPr lang="en-US" altLang="zh-TW" baseline="-25000" dirty="0" smtClean="0"/>
              <a:t>0</a:t>
            </a:r>
            <a:r>
              <a:rPr lang="en-US" altLang="zh-TW" dirty="0" smtClean="0"/>
              <a:t>(a) – LEFT</a:t>
            </a:r>
            <a:r>
              <a:rPr lang="en-US" altLang="zh-TW" baseline="-25000" dirty="0" smtClean="0"/>
              <a:t>0</a:t>
            </a:r>
            <a:r>
              <a:rPr lang="en-US" altLang="zh-TW" dirty="0" smtClean="0"/>
              <a:t>(a) = 0</a:t>
            </a:r>
          </a:p>
          <a:p>
            <a:r>
              <a:rPr lang="en-US" altLang="zh-TW" dirty="0"/>
              <a:t>v</a:t>
            </a:r>
            <a:r>
              <a:rPr lang="en-US" altLang="zh-TW" dirty="0" smtClean="0"/>
              <a:t> = M[0, 0] = 0</a:t>
            </a:r>
          </a:p>
        </p:txBody>
      </p:sp>
      <p:graphicFrame>
        <p:nvGraphicFramePr>
          <p:cNvPr id="15" name="表格 14"/>
          <p:cNvGraphicFramePr>
            <a:graphicFrameLocks noGrp="1"/>
          </p:cNvGraphicFramePr>
          <p:nvPr>
            <p:extLst>
              <p:ext uri="{D42A27DB-BD31-4B8C-83A1-F6EECF244321}">
                <p14:modId xmlns:p14="http://schemas.microsoft.com/office/powerpoint/2010/main" val="2678223709"/>
              </p:ext>
            </p:extLst>
          </p:nvPr>
        </p:nvGraphicFramePr>
        <p:xfrm>
          <a:off x="395536" y="5157192"/>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solidFill>
                            <a:srgbClr val="FF0000"/>
                          </a:solidFill>
                        </a:rPr>
                        <a:t>(0, 0)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(0, 0)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6" name="文字方塊 15"/>
          <p:cNvSpPr txBox="1"/>
          <p:nvPr/>
        </p:nvSpPr>
        <p:spPr>
          <a:xfrm>
            <a:off x="4720202" y="3524061"/>
            <a:ext cx="2903039" cy="646331"/>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smtClean="0"/>
              <a:t>1</a:t>
            </a:r>
            <a:r>
              <a:rPr lang="en-US" altLang="zh-TW" dirty="0" smtClean="0"/>
              <a:t>(a) – LEFT</a:t>
            </a:r>
            <a:r>
              <a:rPr lang="en-US" altLang="zh-TW" baseline="-25000" dirty="0" smtClean="0"/>
              <a:t>1</a:t>
            </a:r>
            <a:r>
              <a:rPr lang="en-US" altLang="zh-TW" dirty="0" smtClean="0"/>
              <a:t>(a) = 3</a:t>
            </a:r>
          </a:p>
          <a:p>
            <a:endParaRPr lang="zh-TW" altLang="en-US" dirty="0"/>
          </a:p>
        </p:txBody>
      </p:sp>
      <p:graphicFrame>
        <p:nvGraphicFramePr>
          <p:cNvPr id="17" name="表格 16"/>
          <p:cNvGraphicFramePr>
            <a:graphicFrameLocks noGrp="1"/>
          </p:cNvGraphicFramePr>
          <p:nvPr>
            <p:extLst>
              <p:ext uri="{D42A27DB-BD31-4B8C-83A1-F6EECF244321}">
                <p14:modId xmlns:p14="http://schemas.microsoft.com/office/powerpoint/2010/main" val="176880239"/>
              </p:ext>
            </p:extLst>
          </p:nvPr>
        </p:nvGraphicFramePr>
        <p:xfrm>
          <a:off x="4644008" y="4022610"/>
          <a:ext cx="3744415" cy="37084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(3, 0)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8" name="文字方塊 17"/>
          <p:cNvSpPr txBox="1"/>
          <p:nvPr/>
        </p:nvSpPr>
        <p:spPr>
          <a:xfrm>
            <a:off x="4644008" y="4460165"/>
            <a:ext cx="3868431" cy="369332"/>
          </a:xfrm>
          <a:prstGeom prst="rect">
            <a:avLst/>
          </a:prstGeom>
          <a:noFill/>
        </p:spPr>
        <p:txBody>
          <a:bodyPr wrap="none" rtlCol="0">
            <a:spAutoFit/>
          </a:bodyPr>
          <a:lstStyle/>
          <a:p>
            <a:r>
              <a:rPr lang="en-US" altLang="zh-TW" dirty="0" smtClean="0"/>
              <a:t>Value of path starts from (1, </a:t>
            </a:r>
            <a:r>
              <a:rPr lang="en-US" altLang="zh-TW" dirty="0"/>
              <a:t>1</a:t>
            </a:r>
            <a:r>
              <a:rPr lang="en-US" altLang="zh-TW" dirty="0" smtClean="0"/>
              <a:t>) = 0 + 3</a:t>
            </a:r>
            <a:endParaRPr lang="zh-TW" altLang="en-US" dirty="0"/>
          </a:p>
        </p:txBody>
      </p:sp>
      <p:sp>
        <p:nvSpPr>
          <p:cNvPr id="19" name="文字方塊 18"/>
          <p:cNvSpPr txBox="1"/>
          <p:nvPr/>
        </p:nvSpPr>
        <p:spPr>
          <a:xfrm>
            <a:off x="4720779" y="4973513"/>
            <a:ext cx="3307605" cy="646331"/>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1</a:t>
            </a:r>
            <a:r>
              <a:rPr lang="en-US" altLang="zh-TW" dirty="0" smtClean="0"/>
              <a:t>(a) – TOP</a:t>
            </a:r>
            <a:r>
              <a:rPr lang="en-US" altLang="zh-TW" baseline="-25000" dirty="0" smtClean="0"/>
              <a:t>1</a:t>
            </a:r>
            <a:r>
              <a:rPr lang="en-US" altLang="zh-TW" dirty="0" smtClean="0"/>
              <a:t>(a) = -3</a:t>
            </a:r>
          </a:p>
          <a:p>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3538287334"/>
              </p:ext>
            </p:extLst>
          </p:nvPr>
        </p:nvGraphicFramePr>
        <p:xfrm>
          <a:off x="4644008" y="5434424"/>
          <a:ext cx="3744415" cy="37084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(-3, 0)</a:t>
                      </a:r>
                      <a:endParaRPr lang="zh-TW" altLang="en-US" b="0" dirty="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(0, 0)</a:t>
                      </a:r>
                      <a:endParaRPr lang="zh-TW" altLang="en-US" b="0" dirty="0" smtClean="0"/>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21" name="文字方塊 20"/>
          <p:cNvSpPr txBox="1"/>
          <p:nvPr/>
        </p:nvSpPr>
        <p:spPr>
          <a:xfrm>
            <a:off x="4644008" y="5949280"/>
            <a:ext cx="2855269" cy="369332"/>
          </a:xfrm>
          <a:prstGeom prst="rect">
            <a:avLst/>
          </a:prstGeom>
          <a:noFill/>
        </p:spPr>
        <p:txBody>
          <a:bodyPr wrap="none" rtlCol="0">
            <a:spAutoFit/>
          </a:bodyPr>
          <a:lstStyle/>
          <a:p>
            <a:r>
              <a:rPr lang="en-US" altLang="zh-TW" dirty="0" smtClean="0"/>
              <a:t>M[1, 1] = max(0, 0, 3, 0) = 3</a:t>
            </a:r>
            <a:endParaRPr lang="zh-TW" altLang="en-US" dirty="0"/>
          </a:p>
        </p:txBody>
      </p:sp>
      <p:sp>
        <p:nvSpPr>
          <p:cNvPr id="22" name="文字方塊 21"/>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cxnSp>
        <p:nvCxnSpPr>
          <p:cNvPr id="3" name="直線接點 2"/>
          <p:cNvCxnSpPr/>
          <p:nvPr/>
        </p:nvCxnSpPr>
        <p:spPr>
          <a:xfrm>
            <a:off x="755576" y="620688"/>
            <a:ext cx="576064" cy="6480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131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595909145"/>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437370082"/>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933597785"/>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078584016"/>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154984"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(1, 3)</a:t>
            </a:r>
          </a:p>
          <a:p>
            <a:r>
              <a:rPr lang="en-US" altLang="zh-TW" dirty="0" smtClean="0"/>
              <a:t>RANK(a, 1, 3) = TOP</a:t>
            </a:r>
            <a:r>
              <a:rPr lang="en-US" altLang="zh-TW" baseline="-25000" dirty="0" smtClean="0"/>
              <a:t>2</a:t>
            </a:r>
            <a:r>
              <a:rPr lang="en-US" altLang="zh-TW" dirty="0" smtClean="0"/>
              <a:t>(a) – LEFT</a:t>
            </a:r>
            <a:r>
              <a:rPr lang="en-US" altLang="zh-TW" baseline="-25000" dirty="0" smtClean="0"/>
              <a:t>0</a:t>
            </a:r>
            <a:r>
              <a:rPr lang="en-US" altLang="zh-TW" dirty="0" smtClean="0"/>
              <a:t>(a) = 14</a:t>
            </a:r>
          </a:p>
          <a:p>
            <a:r>
              <a:rPr lang="en-US" altLang="zh-TW" dirty="0"/>
              <a:t>v</a:t>
            </a:r>
            <a:r>
              <a:rPr lang="en-US" altLang="zh-TW" dirty="0" smtClean="0"/>
              <a:t> = M[0, 2] = 0</a:t>
            </a:r>
          </a:p>
        </p:txBody>
      </p:sp>
      <p:graphicFrame>
        <p:nvGraphicFramePr>
          <p:cNvPr id="15" name="表格 14"/>
          <p:cNvGraphicFramePr>
            <a:graphicFrameLocks noGrp="1"/>
          </p:cNvGraphicFramePr>
          <p:nvPr>
            <p:extLst>
              <p:ext uri="{D42A27DB-BD31-4B8C-83A1-F6EECF244321}">
                <p14:modId xmlns:p14="http://schemas.microsoft.com/office/powerpoint/2010/main" val="2695295030"/>
              </p:ext>
            </p:extLst>
          </p:nvPr>
        </p:nvGraphicFramePr>
        <p:xfrm>
          <a:off x="395536" y="5157192"/>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(14, 0)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(14, 0)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6" name="文字方塊 15"/>
          <p:cNvSpPr txBox="1"/>
          <p:nvPr/>
        </p:nvSpPr>
        <p:spPr>
          <a:xfrm>
            <a:off x="4720202" y="3524061"/>
            <a:ext cx="3009863"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a:t>3</a:t>
            </a:r>
            <a:r>
              <a:rPr lang="en-US" altLang="zh-TW" dirty="0" smtClean="0"/>
              <a:t>(a) – LEFT</a:t>
            </a:r>
            <a:r>
              <a:rPr lang="en-US" altLang="zh-TW" baseline="-25000" dirty="0" smtClean="0"/>
              <a:t>1</a:t>
            </a:r>
            <a:r>
              <a:rPr lang="en-US" altLang="zh-TW" dirty="0" smtClean="0"/>
              <a:t>(a) = 11</a:t>
            </a:r>
          </a:p>
        </p:txBody>
      </p:sp>
      <p:graphicFrame>
        <p:nvGraphicFramePr>
          <p:cNvPr id="17" name="表格 16"/>
          <p:cNvGraphicFramePr>
            <a:graphicFrameLocks noGrp="1"/>
          </p:cNvGraphicFramePr>
          <p:nvPr>
            <p:extLst>
              <p:ext uri="{D42A27DB-BD31-4B8C-83A1-F6EECF244321}">
                <p14:modId xmlns:p14="http://schemas.microsoft.com/office/powerpoint/2010/main" val="3633757960"/>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(11,</a:t>
                      </a:r>
                      <a:r>
                        <a:rPr lang="en-US" altLang="zh-TW" b="0" baseline="0" dirty="0" smtClean="0">
                          <a:solidFill>
                            <a:srgbClr val="FF0000"/>
                          </a:solidFill>
                        </a:rPr>
                        <a:t> 0)</a:t>
                      </a:r>
                      <a:endParaRPr lang="zh-TW" altLang="en-US" b="0" dirty="0">
                        <a:solidFill>
                          <a:srgbClr val="FF0000"/>
                        </a:solidFill>
                      </a:endParaRPr>
                    </a:p>
                  </a:txBody>
                  <a:tcPr/>
                </a:tc>
                <a:tc>
                  <a:txBody>
                    <a:bodyPr/>
                    <a:lstStyle/>
                    <a:p>
                      <a:pPr algn="ctr"/>
                      <a:r>
                        <a:rPr lang="en-US" altLang="zh-TW" b="0" dirty="0" smtClean="0"/>
                        <a:t>(14, 0)</a:t>
                      </a:r>
                      <a:endParaRPr lang="zh-TW" altLang="en-US" b="0" dirty="0"/>
                    </a:p>
                  </a:txBody>
                  <a:tcPr/>
                </a:tc>
                <a:tc>
                  <a:txBody>
                    <a:bodyPr/>
                    <a:lstStyle/>
                    <a:p>
                      <a:pPr algn="ctr"/>
                      <a:endParaRPr lang="zh-TW" altLang="en-US" b="0" dirty="0"/>
                    </a:p>
                  </a:txBody>
                  <a:tcPr/>
                </a:tc>
              </a:tr>
            </a:tbl>
          </a:graphicData>
        </a:graphic>
      </p:graphicFrame>
      <p:sp>
        <p:nvSpPr>
          <p:cNvPr id="18" name="文字方塊 17"/>
          <p:cNvSpPr txBox="1"/>
          <p:nvPr/>
        </p:nvSpPr>
        <p:spPr>
          <a:xfrm>
            <a:off x="4644008" y="4460165"/>
            <a:ext cx="3868431" cy="369332"/>
          </a:xfrm>
          <a:prstGeom prst="rect">
            <a:avLst/>
          </a:prstGeom>
          <a:noFill/>
        </p:spPr>
        <p:txBody>
          <a:bodyPr wrap="none" rtlCol="0">
            <a:spAutoFit/>
          </a:bodyPr>
          <a:lstStyle/>
          <a:p>
            <a:r>
              <a:rPr lang="en-US" altLang="zh-TW" dirty="0" smtClean="0"/>
              <a:t>Value of path starts from (1, </a:t>
            </a:r>
            <a:r>
              <a:rPr lang="en-US" altLang="zh-TW" dirty="0"/>
              <a:t>1</a:t>
            </a:r>
            <a:r>
              <a:rPr lang="en-US" altLang="zh-TW" dirty="0" smtClean="0"/>
              <a:t>) = 0 + 3</a:t>
            </a:r>
            <a:endParaRPr lang="zh-TW" altLang="en-US" dirty="0"/>
          </a:p>
        </p:txBody>
      </p:sp>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1</a:t>
            </a:r>
            <a:r>
              <a:rPr lang="en-US" altLang="zh-TW" dirty="0" smtClean="0"/>
              <a:t>(a) – TOP</a:t>
            </a:r>
            <a:r>
              <a:rPr lang="en-US" altLang="zh-TW" baseline="-25000" dirty="0"/>
              <a:t>3</a:t>
            </a:r>
            <a:r>
              <a:rPr lang="en-US" altLang="zh-TW" dirty="0" smtClean="0"/>
              <a:t>(a) = -11</a:t>
            </a:r>
          </a:p>
        </p:txBody>
      </p:sp>
      <p:graphicFrame>
        <p:nvGraphicFramePr>
          <p:cNvPr id="20" name="表格 19"/>
          <p:cNvGraphicFramePr>
            <a:graphicFrameLocks noGrp="1"/>
          </p:cNvGraphicFramePr>
          <p:nvPr>
            <p:extLst>
              <p:ext uri="{D42A27DB-BD31-4B8C-83A1-F6EECF244321}">
                <p14:modId xmlns:p14="http://schemas.microsoft.com/office/powerpoint/2010/main" val="41824542"/>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(-11, 0)</a:t>
                      </a:r>
                      <a:endParaRPr lang="zh-TW" altLang="en-US" b="0" dirty="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(0, 0)</a:t>
                      </a:r>
                      <a:endParaRPr lang="zh-TW" altLang="en-US" b="0" dirty="0" smtClean="0"/>
                    </a:p>
                  </a:txBody>
                  <a:tcPr/>
                </a:tc>
                <a:tc>
                  <a:txBody>
                    <a:bodyPr/>
                    <a:lstStyle/>
                    <a:p>
                      <a:pPr algn="ctr"/>
                      <a:r>
                        <a:rPr lang="en-US" altLang="zh-TW" b="0" dirty="0" smtClean="0"/>
                        <a:t>(14, 0)</a:t>
                      </a:r>
                      <a:endParaRPr lang="zh-TW" altLang="en-US" b="0" dirty="0"/>
                    </a:p>
                  </a:txBody>
                  <a:tcPr/>
                </a:tc>
                <a:tc>
                  <a:txBody>
                    <a:bodyPr/>
                    <a:lstStyle/>
                    <a:p>
                      <a:pPr algn="ctr"/>
                      <a:endParaRPr lang="zh-TW" altLang="en-US" b="0" dirty="0"/>
                    </a:p>
                  </a:txBody>
                  <a:tcPr/>
                </a:tc>
              </a:tr>
            </a:tbl>
          </a:graphicData>
        </a:graphic>
      </p:graphicFrame>
      <p:sp>
        <p:nvSpPr>
          <p:cNvPr id="21" name="文字方塊 20"/>
          <p:cNvSpPr txBox="1"/>
          <p:nvPr/>
        </p:nvSpPr>
        <p:spPr>
          <a:xfrm>
            <a:off x="4644008" y="5949280"/>
            <a:ext cx="2855269" cy="369332"/>
          </a:xfrm>
          <a:prstGeom prst="rect">
            <a:avLst/>
          </a:prstGeom>
          <a:noFill/>
        </p:spPr>
        <p:txBody>
          <a:bodyPr wrap="none" rtlCol="0">
            <a:spAutoFit/>
          </a:bodyPr>
          <a:lstStyle/>
          <a:p>
            <a:r>
              <a:rPr lang="en-US" altLang="zh-TW" dirty="0" smtClean="0"/>
              <a:t>M[1, 1] = max(0, 3, 3, 0) = 3</a:t>
            </a:r>
            <a:endParaRPr lang="zh-TW" altLang="en-US" dirty="0"/>
          </a:p>
        </p:txBody>
      </p:sp>
      <p:sp>
        <p:nvSpPr>
          <p:cNvPr id="22" name="文字方塊 21"/>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cxnSp>
        <p:nvCxnSpPr>
          <p:cNvPr id="24" name="直線接點 23"/>
          <p:cNvCxnSpPr/>
          <p:nvPr/>
        </p:nvCxnSpPr>
        <p:spPr>
          <a:xfrm>
            <a:off x="755576" y="620688"/>
            <a:ext cx="576064" cy="6480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2280886" y="598449"/>
            <a:ext cx="576064" cy="670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8562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655632922"/>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653874778"/>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765268168"/>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264177511"/>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(2, 2)</a:t>
            </a:r>
          </a:p>
          <a:p>
            <a:r>
              <a:rPr lang="en-US" altLang="zh-TW" dirty="0" smtClean="0"/>
              <a:t>RANK(b, </a:t>
            </a:r>
            <a:r>
              <a:rPr lang="en-US" altLang="zh-TW" dirty="0"/>
              <a:t>2</a:t>
            </a:r>
            <a:r>
              <a:rPr lang="en-US" altLang="zh-TW" dirty="0" smtClean="0"/>
              <a:t>, </a:t>
            </a:r>
            <a:r>
              <a:rPr lang="en-US" altLang="zh-TW" dirty="0"/>
              <a:t>2</a:t>
            </a:r>
            <a:r>
              <a:rPr lang="en-US" altLang="zh-TW" dirty="0" smtClean="0"/>
              <a:t>) = TOP</a:t>
            </a:r>
            <a:r>
              <a:rPr lang="en-US" altLang="zh-TW" baseline="-25000" dirty="0"/>
              <a:t>1</a:t>
            </a:r>
            <a:r>
              <a:rPr lang="en-US" altLang="zh-TW" dirty="0" smtClean="0"/>
              <a:t>(b) – LEFT</a:t>
            </a:r>
            <a:r>
              <a:rPr lang="en-US" altLang="zh-TW" baseline="-25000" dirty="0" smtClean="0"/>
              <a:t>1</a:t>
            </a:r>
            <a:r>
              <a:rPr lang="en-US" altLang="zh-TW" dirty="0" smtClean="0"/>
              <a:t>(b) = 0</a:t>
            </a:r>
          </a:p>
          <a:p>
            <a:r>
              <a:rPr lang="en-US" altLang="zh-TW" dirty="0"/>
              <a:t>v</a:t>
            </a:r>
            <a:r>
              <a:rPr lang="en-US" altLang="zh-TW" dirty="0" smtClean="0"/>
              <a:t> = M[1, </a:t>
            </a:r>
            <a:r>
              <a:rPr lang="en-US" altLang="zh-TW" dirty="0"/>
              <a:t>1</a:t>
            </a:r>
            <a:r>
              <a:rPr lang="en-US" altLang="zh-TW" dirty="0" smtClean="0"/>
              <a:t>] = 3</a:t>
            </a:r>
          </a:p>
        </p:txBody>
      </p:sp>
      <p:graphicFrame>
        <p:nvGraphicFramePr>
          <p:cNvPr id="15" name="表格 14"/>
          <p:cNvGraphicFramePr>
            <a:graphicFrameLocks noGrp="1"/>
          </p:cNvGraphicFramePr>
          <p:nvPr>
            <p:extLst>
              <p:ext uri="{D42A27DB-BD31-4B8C-83A1-F6EECF244321}">
                <p14:modId xmlns:p14="http://schemas.microsoft.com/office/powerpoint/2010/main" val="494196155"/>
              </p:ext>
            </p:extLst>
          </p:nvPr>
        </p:nvGraphicFramePr>
        <p:xfrm>
          <a:off x="395536" y="5157192"/>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solidFill>
                            <a:srgbClr val="FF0000"/>
                          </a:solidFill>
                        </a:rPr>
                        <a:t>(0, 3)</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(0, 3)</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6" name="文字方塊 15"/>
          <p:cNvSpPr txBox="1"/>
          <p:nvPr/>
        </p:nvSpPr>
        <p:spPr>
          <a:xfrm>
            <a:off x="4720202" y="3524061"/>
            <a:ext cx="3005631"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smtClean="0"/>
              <a:t>2</a:t>
            </a:r>
            <a:r>
              <a:rPr lang="en-US" altLang="zh-TW" dirty="0" smtClean="0"/>
              <a:t>(b) – LEFT</a:t>
            </a:r>
            <a:r>
              <a:rPr lang="en-US" altLang="zh-TW" baseline="-25000" dirty="0" smtClean="0"/>
              <a:t>2</a:t>
            </a:r>
            <a:r>
              <a:rPr lang="en-US" altLang="zh-TW" dirty="0" smtClean="0"/>
              <a:t>(b) = -3</a:t>
            </a:r>
          </a:p>
        </p:txBody>
      </p:sp>
      <p:graphicFrame>
        <p:nvGraphicFramePr>
          <p:cNvPr id="17" name="表格 16"/>
          <p:cNvGraphicFramePr>
            <a:graphicFrameLocks noGrp="1"/>
          </p:cNvGraphicFramePr>
          <p:nvPr>
            <p:extLst>
              <p:ext uri="{D42A27DB-BD31-4B8C-83A1-F6EECF244321}">
                <p14:modId xmlns:p14="http://schemas.microsoft.com/office/powerpoint/2010/main" val="2237174996"/>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solidFill>
                            <a:srgbClr val="FF0000"/>
                          </a:solidFill>
                        </a:rPr>
                        <a:t>(-3, 0)</a:t>
                      </a:r>
                      <a:endParaRPr lang="zh-TW" altLang="en-US" b="0" dirty="0">
                        <a:solidFill>
                          <a:srgbClr val="FF0000"/>
                        </a:solidFill>
                      </a:endParaRPr>
                    </a:p>
                  </a:txBody>
                  <a:tcPr/>
                </a:tc>
                <a:tc>
                  <a:txBody>
                    <a:bodyPr/>
                    <a:lstStyle/>
                    <a:p>
                      <a:pPr algn="ctr"/>
                      <a:r>
                        <a:rPr lang="en-US" altLang="zh-TW" b="0" dirty="0" smtClean="0"/>
                        <a:t>(0, 3)</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2</a:t>
            </a:r>
            <a:r>
              <a:rPr lang="en-US" altLang="zh-TW" dirty="0" smtClean="0"/>
              <a:t>(b) – TOP</a:t>
            </a:r>
            <a:r>
              <a:rPr lang="en-US" altLang="zh-TW" baseline="-25000" dirty="0" smtClean="0"/>
              <a:t>2</a:t>
            </a:r>
            <a:r>
              <a:rPr lang="en-US" altLang="zh-TW" dirty="0" smtClean="0"/>
              <a:t>(b) = 3</a:t>
            </a:r>
          </a:p>
        </p:txBody>
      </p:sp>
      <p:graphicFrame>
        <p:nvGraphicFramePr>
          <p:cNvPr id="20" name="表格 19"/>
          <p:cNvGraphicFramePr>
            <a:graphicFrameLocks noGrp="1"/>
          </p:cNvGraphicFramePr>
          <p:nvPr>
            <p:extLst>
              <p:ext uri="{D42A27DB-BD31-4B8C-83A1-F6EECF244321}">
                <p14:modId xmlns:p14="http://schemas.microsoft.com/office/powerpoint/2010/main" val="1702017729"/>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t>(0, 3)</a:t>
                      </a:r>
                      <a:endParaRPr lang="zh-TW" altLang="en-US"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solidFill>
                            <a:srgbClr val="FF0000"/>
                          </a:solidFill>
                        </a:rPr>
                        <a:t>(3,</a:t>
                      </a:r>
                      <a:r>
                        <a:rPr lang="en-US" altLang="zh-TW" b="0" baseline="0" dirty="0" smtClean="0">
                          <a:solidFill>
                            <a:srgbClr val="FF0000"/>
                          </a:solidFill>
                        </a:rPr>
                        <a:t> 0</a:t>
                      </a:r>
                      <a:r>
                        <a:rPr lang="en-US" altLang="zh-TW" b="0" dirty="0" smtClean="0">
                          <a:solidFill>
                            <a:srgbClr val="FF0000"/>
                          </a:solidFill>
                        </a:rPr>
                        <a:t>)</a:t>
                      </a:r>
                      <a:endParaRPr lang="zh-TW" altLang="en-US" b="0" dirty="0" smtClean="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21" name="文字方塊 20"/>
          <p:cNvSpPr txBox="1"/>
          <p:nvPr/>
        </p:nvSpPr>
        <p:spPr>
          <a:xfrm>
            <a:off x="4644008" y="6381328"/>
            <a:ext cx="2855269" cy="369332"/>
          </a:xfrm>
          <a:prstGeom prst="rect">
            <a:avLst/>
          </a:prstGeom>
          <a:noFill/>
        </p:spPr>
        <p:txBody>
          <a:bodyPr wrap="none" rtlCol="0">
            <a:spAutoFit/>
          </a:bodyPr>
          <a:lstStyle/>
          <a:p>
            <a:r>
              <a:rPr lang="en-US" altLang="zh-TW" dirty="0" smtClean="0"/>
              <a:t>M[2, </a:t>
            </a:r>
            <a:r>
              <a:rPr lang="en-US" altLang="zh-TW" dirty="0"/>
              <a:t>2</a:t>
            </a:r>
            <a:r>
              <a:rPr lang="en-US" altLang="zh-TW" dirty="0" smtClean="0"/>
              <a:t>] = max(3, </a:t>
            </a:r>
            <a:r>
              <a:rPr lang="en-US" altLang="zh-TW" dirty="0"/>
              <a:t>3</a:t>
            </a:r>
            <a:r>
              <a:rPr lang="en-US" altLang="zh-TW" dirty="0" smtClean="0"/>
              <a:t>, 0, </a:t>
            </a:r>
            <a:r>
              <a:rPr lang="en-US" altLang="zh-TW" dirty="0"/>
              <a:t>6</a:t>
            </a:r>
            <a:r>
              <a:rPr lang="en-US" altLang="zh-TW" dirty="0" smtClean="0"/>
              <a:t>) = 6</a:t>
            </a:r>
            <a:endParaRPr lang="zh-TW" altLang="en-US" dirty="0"/>
          </a:p>
        </p:txBody>
      </p:sp>
      <p:sp>
        <p:nvSpPr>
          <p:cNvPr id="2" name="矩形 1"/>
          <p:cNvSpPr/>
          <p:nvPr/>
        </p:nvSpPr>
        <p:spPr>
          <a:xfrm>
            <a:off x="4644008" y="5877272"/>
            <a:ext cx="4107278" cy="369332"/>
          </a:xfrm>
          <a:prstGeom prst="rect">
            <a:avLst/>
          </a:prstGeom>
        </p:spPr>
        <p:txBody>
          <a:bodyPr wrap="none">
            <a:spAutoFit/>
          </a:bodyPr>
          <a:lstStyle/>
          <a:p>
            <a:r>
              <a:rPr lang="en-US" altLang="zh-TW" dirty="0" smtClean="0"/>
              <a:t>Value of path starts from (2, </a:t>
            </a:r>
            <a:r>
              <a:rPr lang="en-US" altLang="zh-TW" dirty="0"/>
              <a:t>2</a:t>
            </a:r>
            <a:r>
              <a:rPr lang="en-US" altLang="zh-TW" dirty="0" smtClean="0"/>
              <a:t>) = 3 + 3 = 6</a:t>
            </a:r>
            <a:endParaRPr lang="zh-TW" altLang="en-US" dirty="0"/>
          </a:p>
        </p:txBody>
      </p:sp>
      <p:sp>
        <p:nvSpPr>
          <p:cNvPr id="22" name="文字方塊 21"/>
          <p:cNvSpPr txBox="1"/>
          <p:nvPr/>
        </p:nvSpPr>
        <p:spPr>
          <a:xfrm>
            <a:off x="395535" y="5947809"/>
            <a:ext cx="2108269" cy="369332"/>
          </a:xfrm>
          <a:prstGeom prst="rect">
            <a:avLst/>
          </a:prstGeom>
          <a:noFill/>
        </p:spPr>
        <p:txBody>
          <a:bodyPr wrap="none" rtlCol="0">
            <a:spAutoFit/>
          </a:bodyPr>
          <a:lstStyle/>
          <a:p>
            <a:r>
              <a:rPr lang="en-US" altLang="zh-TW" dirty="0" smtClean="0"/>
              <a:t>Forced path tree of b</a:t>
            </a:r>
            <a:endParaRPr lang="zh-TW" altLang="en-US" dirty="0"/>
          </a:p>
        </p:txBody>
      </p:sp>
      <p:cxnSp>
        <p:nvCxnSpPr>
          <p:cNvPr id="25" name="直線接點 24"/>
          <p:cNvCxnSpPr/>
          <p:nvPr/>
        </p:nvCxnSpPr>
        <p:spPr>
          <a:xfrm>
            <a:off x="755576" y="620688"/>
            <a:ext cx="576064" cy="6480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2280886" y="598449"/>
            <a:ext cx="576064" cy="670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a:off x="1763688"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1331640" y="1268760"/>
            <a:ext cx="432048"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57676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926923482"/>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9282040"/>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418207398"/>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746940601"/>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(2, 4)</a:t>
            </a:r>
          </a:p>
          <a:p>
            <a:r>
              <a:rPr lang="en-US" altLang="zh-TW" dirty="0" smtClean="0"/>
              <a:t>RANK(b, </a:t>
            </a:r>
            <a:r>
              <a:rPr lang="en-US" altLang="zh-TW" dirty="0"/>
              <a:t>2</a:t>
            </a:r>
            <a:r>
              <a:rPr lang="en-US" altLang="zh-TW" dirty="0" smtClean="0"/>
              <a:t>, 4) = TOP</a:t>
            </a:r>
            <a:r>
              <a:rPr lang="en-US" altLang="zh-TW" baseline="-25000" dirty="0" smtClean="0"/>
              <a:t>3</a:t>
            </a:r>
            <a:r>
              <a:rPr lang="en-US" altLang="zh-TW" dirty="0" smtClean="0"/>
              <a:t>(b) – LEFT</a:t>
            </a:r>
            <a:r>
              <a:rPr lang="en-US" altLang="zh-TW" baseline="-25000" dirty="0"/>
              <a:t>1</a:t>
            </a:r>
            <a:r>
              <a:rPr lang="en-US" altLang="zh-TW" dirty="0" smtClean="0"/>
              <a:t>(b) = 3</a:t>
            </a:r>
          </a:p>
          <a:p>
            <a:r>
              <a:rPr lang="en-US" altLang="zh-TW" dirty="0"/>
              <a:t>v</a:t>
            </a:r>
            <a:r>
              <a:rPr lang="en-US" altLang="zh-TW" dirty="0" smtClean="0"/>
              <a:t> = M[1, 3] = 3</a:t>
            </a:r>
          </a:p>
        </p:txBody>
      </p:sp>
      <p:graphicFrame>
        <p:nvGraphicFramePr>
          <p:cNvPr id="15" name="表格 14"/>
          <p:cNvGraphicFramePr>
            <a:graphicFrameLocks noGrp="1"/>
          </p:cNvGraphicFramePr>
          <p:nvPr>
            <p:extLst>
              <p:ext uri="{D42A27DB-BD31-4B8C-83A1-F6EECF244321}">
                <p14:modId xmlns:p14="http://schemas.microsoft.com/office/powerpoint/2010/main" val="788988859"/>
              </p:ext>
            </p:extLst>
          </p:nvPr>
        </p:nvGraphicFramePr>
        <p:xfrm>
          <a:off x="395536" y="5157192"/>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(0, 3)</a:t>
                      </a:r>
                      <a:endParaRPr lang="zh-TW" altLang="en-US" b="0" dirty="0"/>
                    </a:p>
                  </a:txBody>
                  <a:tcPr/>
                </a:tc>
                <a:tc>
                  <a:txBody>
                    <a:bodyPr/>
                    <a:lstStyle/>
                    <a:p>
                      <a:pPr algn="ctr"/>
                      <a:r>
                        <a:rPr lang="en-US" altLang="zh-TW" b="0" dirty="0" smtClean="0">
                          <a:solidFill>
                            <a:srgbClr val="FF0000"/>
                          </a:solidFill>
                        </a:rPr>
                        <a:t>(3, 3)</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t>(0, 3)</a:t>
                      </a:r>
                      <a:endParaRPr lang="zh-TW" altLang="en-US" b="0" dirty="0"/>
                    </a:p>
                  </a:txBody>
                  <a:tcPr/>
                </a:tc>
                <a:tc>
                  <a:txBody>
                    <a:bodyPr/>
                    <a:lstStyle/>
                    <a:p>
                      <a:pPr algn="ctr"/>
                      <a:r>
                        <a:rPr lang="en-US" altLang="zh-TW" b="0" dirty="0" smtClean="0">
                          <a:solidFill>
                            <a:srgbClr val="FF0000"/>
                          </a:solidFill>
                        </a:rPr>
                        <a:t>(3, 3)</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6" name="文字方塊 15"/>
          <p:cNvSpPr txBox="1"/>
          <p:nvPr/>
        </p:nvSpPr>
        <p:spPr>
          <a:xfrm>
            <a:off x="4720202" y="3524061"/>
            <a:ext cx="2928687"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a:t>4</a:t>
            </a:r>
            <a:r>
              <a:rPr lang="en-US" altLang="zh-TW" dirty="0" smtClean="0"/>
              <a:t>(b) – LEFT</a:t>
            </a:r>
            <a:r>
              <a:rPr lang="en-US" altLang="zh-TW" baseline="-25000" dirty="0" smtClean="0"/>
              <a:t>2</a:t>
            </a:r>
            <a:r>
              <a:rPr lang="en-US" altLang="zh-TW" dirty="0" smtClean="0"/>
              <a:t>(b) = 0</a:t>
            </a:r>
          </a:p>
        </p:txBody>
      </p:sp>
      <p:graphicFrame>
        <p:nvGraphicFramePr>
          <p:cNvPr id="17" name="表格 16"/>
          <p:cNvGraphicFramePr>
            <a:graphicFrameLocks noGrp="1"/>
          </p:cNvGraphicFramePr>
          <p:nvPr>
            <p:extLst>
              <p:ext uri="{D42A27DB-BD31-4B8C-83A1-F6EECF244321}">
                <p14:modId xmlns:p14="http://schemas.microsoft.com/office/powerpoint/2010/main" val="2478655536"/>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(0, 3)</a:t>
                      </a:r>
                      <a:endParaRPr lang="zh-TW" altLang="en-US" b="0" dirty="0" smtClean="0"/>
                    </a:p>
                  </a:txBody>
                  <a:tcPr/>
                </a:tc>
                <a:tc>
                  <a:txBody>
                    <a:bodyPr/>
                    <a:lstStyle/>
                    <a:p>
                      <a:pPr algn="ctr"/>
                      <a:r>
                        <a:rPr lang="en-US" altLang="zh-TW" b="0" dirty="0" smtClean="0">
                          <a:solidFill>
                            <a:srgbClr val="FF0000"/>
                          </a:solidFill>
                        </a:rPr>
                        <a:t>(0, 0)</a:t>
                      </a:r>
                      <a:endParaRPr lang="zh-TW" altLang="en-US" b="0" dirty="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(3, 3)</a:t>
                      </a:r>
                      <a:endParaRPr lang="zh-TW" altLang="en-US" b="0" dirty="0" smtClean="0"/>
                    </a:p>
                  </a:txBody>
                  <a:tcPr/>
                </a:tc>
                <a:tc>
                  <a:txBody>
                    <a:bodyPr/>
                    <a:lstStyle/>
                    <a:p>
                      <a:pPr algn="ctr"/>
                      <a:endParaRPr lang="zh-TW" altLang="en-US" b="0" dirty="0"/>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a:t>2</a:t>
            </a:r>
            <a:r>
              <a:rPr lang="en-US" altLang="zh-TW" dirty="0" smtClean="0"/>
              <a:t>(b) – TOP</a:t>
            </a:r>
            <a:r>
              <a:rPr lang="en-US" altLang="zh-TW" baseline="-25000" dirty="0"/>
              <a:t>4</a:t>
            </a:r>
            <a:r>
              <a:rPr lang="en-US" altLang="zh-TW" dirty="0" smtClean="0"/>
              <a:t>(b) = 0</a:t>
            </a:r>
          </a:p>
        </p:txBody>
      </p:sp>
      <p:graphicFrame>
        <p:nvGraphicFramePr>
          <p:cNvPr id="20" name="表格 19"/>
          <p:cNvGraphicFramePr>
            <a:graphicFrameLocks noGrp="1"/>
          </p:cNvGraphicFramePr>
          <p:nvPr>
            <p:extLst>
              <p:ext uri="{D42A27DB-BD31-4B8C-83A1-F6EECF244321}">
                <p14:modId xmlns:p14="http://schemas.microsoft.com/office/powerpoint/2010/main" val="3315856083"/>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t>(0, 3)</a:t>
                      </a:r>
                      <a:endParaRPr lang="zh-TW" altLang="en-US"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solidFill>
                            <a:srgbClr val="FF0000"/>
                          </a:solidFill>
                        </a:rPr>
                        <a:t>(0, 0)</a:t>
                      </a:r>
                      <a:endParaRPr lang="zh-TW" altLang="en-US" b="0" dirty="0" smtClean="0">
                        <a:solidFill>
                          <a:srgbClr val="FF0000"/>
                        </a:solidFill>
                      </a:endParaRPr>
                    </a:p>
                  </a:txBody>
                  <a:tcPr/>
                </a:tc>
                <a:tc>
                  <a:txBody>
                    <a:bodyPr/>
                    <a:lstStyle/>
                    <a:p>
                      <a:pPr algn="ctr"/>
                      <a:r>
                        <a:rPr lang="en-US" altLang="zh-TW" b="0" dirty="0" smtClean="0"/>
                        <a:t>(3, 3)</a:t>
                      </a:r>
                      <a:endParaRPr lang="zh-TW" altLang="en-US" b="0" dirty="0"/>
                    </a:p>
                  </a:txBody>
                  <a:tcPr/>
                </a:tc>
                <a:tc>
                  <a:txBody>
                    <a:bodyPr/>
                    <a:lstStyle/>
                    <a:p>
                      <a:pPr algn="ctr"/>
                      <a:endParaRPr lang="zh-TW" altLang="en-US" b="0" dirty="0"/>
                    </a:p>
                  </a:txBody>
                  <a:tcPr/>
                </a:tc>
              </a:tr>
            </a:tbl>
          </a:graphicData>
        </a:graphic>
      </p:graphicFrame>
      <p:sp>
        <p:nvSpPr>
          <p:cNvPr id="21" name="文字方塊 20"/>
          <p:cNvSpPr txBox="1"/>
          <p:nvPr/>
        </p:nvSpPr>
        <p:spPr>
          <a:xfrm>
            <a:off x="4644008" y="6381328"/>
            <a:ext cx="2855269" cy="369332"/>
          </a:xfrm>
          <a:prstGeom prst="rect">
            <a:avLst/>
          </a:prstGeom>
          <a:noFill/>
        </p:spPr>
        <p:txBody>
          <a:bodyPr wrap="none" rtlCol="0">
            <a:spAutoFit/>
          </a:bodyPr>
          <a:lstStyle/>
          <a:p>
            <a:r>
              <a:rPr lang="en-US" altLang="zh-TW" dirty="0" smtClean="0"/>
              <a:t>M[2, </a:t>
            </a:r>
            <a:r>
              <a:rPr lang="en-US" altLang="zh-TW" dirty="0"/>
              <a:t>4</a:t>
            </a:r>
            <a:r>
              <a:rPr lang="en-US" altLang="zh-TW" dirty="0" smtClean="0"/>
              <a:t>] = max(3, 6, 9, 9) = 9</a:t>
            </a:r>
            <a:endParaRPr lang="zh-TW" altLang="en-US" dirty="0"/>
          </a:p>
        </p:txBody>
      </p:sp>
      <p:sp>
        <p:nvSpPr>
          <p:cNvPr id="2" name="矩形 1"/>
          <p:cNvSpPr/>
          <p:nvPr/>
        </p:nvSpPr>
        <p:spPr>
          <a:xfrm>
            <a:off x="4644008" y="5877272"/>
            <a:ext cx="4107278" cy="369332"/>
          </a:xfrm>
          <a:prstGeom prst="rect">
            <a:avLst/>
          </a:prstGeom>
        </p:spPr>
        <p:txBody>
          <a:bodyPr wrap="none">
            <a:spAutoFit/>
          </a:bodyPr>
          <a:lstStyle/>
          <a:p>
            <a:r>
              <a:rPr lang="en-US" altLang="zh-TW" dirty="0" smtClean="0"/>
              <a:t>Value of path starts from (2, </a:t>
            </a:r>
            <a:r>
              <a:rPr lang="en-US" altLang="zh-TW" dirty="0"/>
              <a:t>2</a:t>
            </a:r>
            <a:r>
              <a:rPr lang="en-US" altLang="zh-TW" dirty="0" smtClean="0"/>
              <a:t>) = 3 + 6 = 9</a:t>
            </a:r>
            <a:endParaRPr lang="zh-TW" altLang="en-US" dirty="0"/>
          </a:p>
        </p:txBody>
      </p:sp>
      <p:sp>
        <p:nvSpPr>
          <p:cNvPr id="3" name="矩形 2"/>
          <p:cNvSpPr/>
          <p:nvPr/>
        </p:nvSpPr>
        <p:spPr>
          <a:xfrm>
            <a:off x="4644008" y="4573843"/>
            <a:ext cx="4107278" cy="369332"/>
          </a:xfrm>
          <a:prstGeom prst="rect">
            <a:avLst/>
          </a:prstGeom>
        </p:spPr>
        <p:txBody>
          <a:bodyPr wrap="none">
            <a:spAutoFit/>
          </a:bodyPr>
          <a:lstStyle/>
          <a:p>
            <a:r>
              <a:rPr lang="en-US" altLang="zh-TW" dirty="0" smtClean="0"/>
              <a:t>Value of path starts from (2, 2) = 3 + 6 = 9</a:t>
            </a:r>
            <a:endParaRPr lang="zh-TW" altLang="en-US" dirty="0"/>
          </a:p>
        </p:txBody>
      </p:sp>
      <p:sp>
        <p:nvSpPr>
          <p:cNvPr id="18" name="文字方塊 17"/>
          <p:cNvSpPr txBox="1"/>
          <p:nvPr/>
        </p:nvSpPr>
        <p:spPr>
          <a:xfrm>
            <a:off x="395535" y="5947809"/>
            <a:ext cx="2108269" cy="369332"/>
          </a:xfrm>
          <a:prstGeom prst="rect">
            <a:avLst/>
          </a:prstGeom>
          <a:noFill/>
        </p:spPr>
        <p:txBody>
          <a:bodyPr wrap="none" rtlCol="0">
            <a:spAutoFit/>
          </a:bodyPr>
          <a:lstStyle/>
          <a:p>
            <a:r>
              <a:rPr lang="en-US" altLang="zh-TW" dirty="0" smtClean="0"/>
              <a:t>Forced path tree of b</a:t>
            </a:r>
            <a:endParaRPr lang="zh-TW" altLang="en-US" dirty="0"/>
          </a:p>
        </p:txBody>
      </p:sp>
      <p:cxnSp>
        <p:nvCxnSpPr>
          <p:cNvPr id="24" name="直線接點 23"/>
          <p:cNvCxnSpPr/>
          <p:nvPr/>
        </p:nvCxnSpPr>
        <p:spPr>
          <a:xfrm>
            <a:off x="755576" y="620688"/>
            <a:ext cx="576064" cy="6480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2280886" y="598449"/>
            <a:ext cx="576064" cy="670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1763688"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3642180"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2860533" y="1268760"/>
            <a:ext cx="78164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0" name="直線接點 29"/>
          <p:cNvCxnSpPr/>
          <p:nvPr/>
        </p:nvCxnSpPr>
        <p:spPr>
          <a:xfrm>
            <a:off x="1331640" y="1268760"/>
            <a:ext cx="432048"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287097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extLst>
              <p:ext uri="{D42A27DB-BD31-4B8C-83A1-F6EECF244321}">
                <p14:modId xmlns:p14="http://schemas.microsoft.com/office/powerpoint/2010/main" val="3415506838"/>
              </p:ext>
            </p:extLst>
          </p:nvPr>
        </p:nvGraphicFramePr>
        <p:xfrm>
          <a:off x="374514" y="5158179"/>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solidFill>
                            <a:srgbClr val="FF0000"/>
                          </a:solidFill>
                        </a:rPr>
                        <a:t>(-3,</a:t>
                      </a:r>
                      <a:r>
                        <a:rPr lang="en-US" altLang="zh-TW" b="0" baseline="0" dirty="0" smtClean="0">
                          <a:solidFill>
                            <a:srgbClr val="FF0000"/>
                          </a:solidFill>
                        </a:rPr>
                        <a:t> 0</a:t>
                      </a:r>
                      <a:r>
                        <a:rPr lang="en-US" altLang="zh-TW" b="0" dirty="0" smtClean="0">
                          <a:solidFill>
                            <a:srgbClr val="FF0000"/>
                          </a:solidFill>
                        </a:rPr>
                        <a:t>)</a:t>
                      </a:r>
                      <a:endParaRPr lang="zh-TW" altLang="en-US" b="0" dirty="0">
                        <a:solidFill>
                          <a:srgbClr val="FF0000"/>
                        </a:solidFill>
                      </a:endParaRPr>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(14, 0)</a:t>
                      </a: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(-3,</a:t>
                      </a:r>
                      <a:r>
                        <a:rPr lang="en-US" altLang="zh-TW" b="0" baseline="0" dirty="0" smtClean="0">
                          <a:solidFill>
                            <a:srgbClr val="FF0000"/>
                          </a:solidFill>
                        </a:rPr>
                        <a:t> 0</a:t>
                      </a:r>
                      <a:r>
                        <a:rPr lang="en-US" altLang="zh-TW" b="0" dirty="0" smtClean="0">
                          <a:solidFill>
                            <a:srgbClr val="FF0000"/>
                          </a:solidFill>
                        </a:rPr>
                        <a:t>)</a:t>
                      </a:r>
                      <a:endParaRPr lang="zh-TW" altLang="en-US" b="0" dirty="0">
                        <a:solidFill>
                          <a:srgbClr val="FF0000"/>
                        </a:solidFill>
                      </a:endParaRPr>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(14, 0)</a:t>
                      </a:r>
                      <a:endParaRPr lang="zh-TW" altLang="en-US" b="0" dirty="0"/>
                    </a:p>
                  </a:txBody>
                  <a:tcPr/>
                </a:tc>
                <a:tc>
                  <a:txBody>
                    <a:bodyPr/>
                    <a:lstStyle/>
                    <a:p>
                      <a:pPr algn="ctr"/>
                      <a:endParaRPr lang="zh-TW" altLang="en-US" b="0" dirty="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4110034147"/>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507235276"/>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993696371"/>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041485613"/>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116512"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(4, </a:t>
            </a:r>
            <a:r>
              <a:rPr lang="en-US" altLang="zh-TW" dirty="0"/>
              <a:t>1</a:t>
            </a:r>
            <a:r>
              <a:rPr lang="en-US" altLang="zh-TW" dirty="0" smtClean="0"/>
              <a:t>)</a:t>
            </a:r>
          </a:p>
          <a:p>
            <a:r>
              <a:rPr lang="en-US" altLang="zh-TW" dirty="0" smtClean="0"/>
              <a:t>RANK(a, 4, </a:t>
            </a:r>
            <a:r>
              <a:rPr lang="en-US" altLang="zh-TW" dirty="0"/>
              <a:t>1</a:t>
            </a:r>
            <a:r>
              <a:rPr lang="en-US" altLang="zh-TW" dirty="0" smtClean="0"/>
              <a:t>) = TOP</a:t>
            </a:r>
            <a:r>
              <a:rPr lang="en-US" altLang="zh-TW" baseline="-25000" dirty="0" smtClean="0"/>
              <a:t>0</a:t>
            </a:r>
            <a:r>
              <a:rPr lang="en-US" altLang="zh-TW" dirty="0" smtClean="0"/>
              <a:t>(a) – LEFT</a:t>
            </a:r>
            <a:r>
              <a:rPr lang="en-US" altLang="zh-TW" baseline="-25000" dirty="0" smtClean="0"/>
              <a:t>3</a:t>
            </a:r>
            <a:r>
              <a:rPr lang="en-US" altLang="zh-TW" dirty="0" smtClean="0"/>
              <a:t>(a) = -3</a:t>
            </a:r>
          </a:p>
          <a:p>
            <a:r>
              <a:rPr lang="en-US" altLang="zh-TW" dirty="0"/>
              <a:t>v</a:t>
            </a:r>
            <a:r>
              <a:rPr lang="en-US" altLang="zh-TW" dirty="0" smtClean="0"/>
              <a:t> = M[3, 0] = 0</a:t>
            </a:r>
          </a:p>
        </p:txBody>
      </p:sp>
      <p:sp>
        <p:nvSpPr>
          <p:cNvPr id="16" name="文字方塊 15"/>
          <p:cNvSpPr txBox="1"/>
          <p:nvPr/>
        </p:nvSpPr>
        <p:spPr>
          <a:xfrm>
            <a:off x="4720202" y="3524061"/>
            <a:ext cx="2979983"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a:t>1</a:t>
            </a:r>
            <a:r>
              <a:rPr lang="en-US" altLang="zh-TW" dirty="0" smtClean="0"/>
              <a:t>(a) – LEFT</a:t>
            </a:r>
            <a:r>
              <a:rPr lang="en-US" altLang="zh-TW" baseline="-25000" dirty="0" smtClean="0"/>
              <a:t>4</a:t>
            </a:r>
            <a:r>
              <a:rPr lang="en-US" altLang="zh-TW" dirty="0" smtClean="0"/>
              <a:t>(a) = -1</a:t>
            </a:r>
          </a:p>
        </p:txBody>
      </p:sp>
      <p:graphicFrame>
        <p:nvGraphicFramePr>
          <p:cNvPr id="17" name="表格 16"/>
          <p:cNvGraphicFramePr>
            <a:graphicFrameLocks noGrp="1"/>
          </p:cNvGraphicFramePr>
          <p:nvPr>
            <p:extLst>
              <p:ext uri="{D42A27DB-BD31-4B8C-83A1-F6EECF244321}">
                <p14:modId xmlns:p14="http://schemas.microsoft.com/office/powerpoint/2010/main" val="2483324417"/>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solidFill>
                            <a:srgbClr val="FF0000"/>
                          </a:solidFill>
                        </a:rPr>
                        <a:t>(-1, 0)</a:t>
                      </a:r>
                      <a:endParaRPr lang="zh-TW" altLang="en-US" b="0" dirty="0">
                        <a:solidFill>
                          <a:srgbClr val="FF0000"/>
                        </a:solidFill>
                      </a:endParaRPr>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(14, 0)</a:t>
                      </a:r>
                      <a:endParaRPr lang="zh-TW" altLang="en-US" b="0" dirty="0"/>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4</a:t>
            </a:r>
            <a:r>
              <a:rPr lang="en-US" altLang="zh-TW" dirty="0" smtClean="0"/>
              <a:t>(b) – TOP</a:t>
            </a:r>
            <a:r>
              <a:rPr lang="en-US" altLang="zh-TW" baseline="-25000" dirty="0" smtClean="0"/>
              <a:t>1</a:t>
            </a:r>
            <a:r>
              <a:rPr lang="en-US" altLang="zh-TW" dirty="0" smtClean="0"/>
              <a:t>(b) = 1</a:t>
            </a:r>
          </a:p>
        </p:txBody>
      </p:sp>
      <p:graphicFrame>
        <p:nvGraphicFramePr>
          <p:cNvPr id="20" name="表格 19"/>
          <p:cNvGraphicFramePr>
            <a:graphicFrameLocks noGrp="1"/>
          </p:cNvGraphicFramePr>
          <p:nvPr>
            <p:extLst>
              <p:ext uri="{D42A27DB-BD31-4B8C-83A1-F6EECF244321}">
                <p14:modId xmlns:p14="http://schemas.microsoft.com/office/powerpoint/2010/main" val="1835324090"/>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t>(-3, 0)</a:t>
                      </a:r>
                      <a:endParaRPr lang="zh-TW" altLang="en-US"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(0, 0)</a:t>
                      </a:r>
                      <a:endParaRPr lang="zh-TW" altLang="en-US" b="0" dirty="0" smtClean="0"/>
                    </a:p>
                  </a:txBody>
                  <a:tcPr/>
                </a:tc>
                <a:tc>
                  <a:txBody>
                    <a:bodyPr/>
                    <a:lstStyle/>
                    <a:p>
                      <a:pPr algn="ctr"/>
                      <a:r>
                        <a:rPr lang="en-US" altLang="zh-TW" b="0" dirty="0" smtClean="0">
                          <a:solidFill>
                            <a:srgbClr val="FF0000"/>
                          </a:solidFill>
                        </a:rPr>
                        <a:t>(1, 0)</a:t>
                      </a:r>
                      <a:endParaRPr lang="zh-TW" altLang="en-US" b="0" dirty="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(14, 0)</a:t>
                      </a:r>
                      <a:endParaRPr lang="zh-TW" altLang="en-US" b="0" dirty="0" smtClean="0"/>
                    </a:p>
                  </a:txBody>
                  <a:tcPr/>
                </a:tc>
              </a:tr>
            </a:tbl>
          </a:graphicData>
        </a:graphic>
      </p:graphicFrame>
      <p:sp>
        <p:nvSpPr>
          <p:cNvPr id="21" name="文字方塊 20"/>
          <p:cNvSpPr txBox="1"/>
          <p:nvPr/>
        </p:nvSpPr>
        <p:spPr>
          <a:xfrm>
            <a:off x="4644008" y="6381328"/>
            <a:ext cx="2855269" cy="369332"/>
          </a:xfrm>
          <a:prstGeom prst="rect">
            <a:avLst/>
          </a:prstGeom>
          <a:noFill/>
        </p:spPr>
        <p:txBody>
          <a:bodyPr wrap="none" rtlCol="0">
            <a:spAutoFit/>
          </a:bodyPr>
          <a:lstStyle/>
          <a:p>
            <a:r>
              <a:rPr lang="en-US" altLang="zh-TW" dirty="0" smtClean="0"/>
              <a:t>M[4, 1] = max(3, 0, </a:t>
            </a:r>
            <a:r>
              <a:rPr lang="en-US" altLang="zh-TW" dirty="0"/>
              <a:t>4</a:t>
            </a:r>
            <a:r>
              <a:rPr lang="en-US" altLang="zh-TW" dirty="0" smtClean="0"/>
              <a:t>, </a:t>
            </a:r>
            <a:r>
              <a:rPr lang="en-US" altLang="zh-TW" dirty="0"/>
              <a:t>6</a:t>
            </a:r>
            <a:r>
              <a:rPr lang="en-US" altLang="zh-TW" dirty="0" smtClean="0"/>
              <a:t>) = 6</a:t>
            </a:r>
            <a:endParaRPr lang="zh-TW" altLang="en-US" dirty="0"/>
          </a:p>
        </p:txBody>
      </p:sp>
      <p:sp>
        <p:nvSpPr>
          <p:cNvPr id="2" name="矩形 1"/>
          <p:cNvSpPr/>
          <p:nvPr/>
        </p:nvSpPr>
        <p:spPr>
          <a:xfrm>
            <a:off x="4644008" y="5877272"/>
            <a:ext cx="4107278" cy="369332"/>
          </a:xfrm>
          <a:prstGeom prst="rect">
            <a:avLst/>
          </a:prstGeom>
        </p:spPr>
        <p:txBody>
          <a:bodyPr wrap="none">
            <a:spAutoFit/>
          </a:bodyPr>
          <a:lstStyle/>
          <a:p>
            <a:r>
              <a:rPr lang="en-US" altLang="zh-TW" dirty="0" smtClean="0"/>
              <a:t>Value of path starts from (1, 1) = 0 + 6 = 6</a:t>
            </a:r>
          </a:p>
        </p:txBody>
      </p:sp>
      <p:sp>
        <p:nvSpPr>
          <p:cNvPr id="3" name="矩形 2"/>
          <p:cNvSpPr/>
          <p:nvPr/>
        </p:nvSpPr>
        <p:spPr>
          <a:xfrm>
            <a:off x="4644008" y="4573843"/>
            <a:ext cx="4107278" cy="369332"/>
          </a:xfrm>
          <a:prstGeom prst="rect">
            <a:avLst/>
          </a:prstGeom>
        </p:spPr>
        <p:txBody>
          <a:bodyPr wrap="none">
            <a:spAutoFit/>
          </a:bodyPr>
          <a:lstStyle/>
          <a:p>
            <a:r>
              <a:rPr lang="en-US" altLang="zh-TW" dirty="0" smtClean="0"/>
              <a:t>Value of path starts from (4, </a:t>
            </a:r>
            <a:r>
              <a:rPr lang="en-US" altLang="zh-TW" dirty="0"/>
              <a:t>1</a:t>
            </a:r>
            <a:r>
              <a:rPr lang="en-US" altLang="zh-TW" dirty="0" smtClean="0"/>
              <a:t>) = 0 + 4 = 4</a:t>
            </a:r>
            <a:endParaRPr lang="zh-TW" altLang="en-US" dirty="0"/>
          </a:p>
        </p:txBody>
      </p:sp>
      <p:sp>
        <p:nvSpPr>
          <p:cNvPr id="22" name="文字方塊 21"/>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cxnSp>
        <p:nvCxnSpPr>
          <p:cNvPr id="25" name="直線接點 24"/>
          <p:cNvCxnSpPr/>
          <p:nvPr/>
        </p:nvCxnSpPr>
        <p:spPr>
          <a:xfrm>
            <a:off x="755576" y="620688"/>
            <a:ext cx="576064" cy="6480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2280886" y="598449"/>
            <a:ext cx="576064" cy="670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1763688"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3642180"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779336" y="2858220"/>
            <a:ext cx="663921" cy="78680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1331640" y="1268760"/>
            <a:ext cx="0" cy="158946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1331640" y="2858220"/>
            <a:ext cx="432048" cy="393402"/>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33" name="文字方塊 32"/>
          <p:cNvSpPr txBox="1"/>
          <p:nvPr/>
        </p:nvSpPr>
        <p:spPr>
          <a:xfrm>
            <a:off x="758377" y="3275692"/>
            <a:ext cx="300082" cy="369332"/>
          </a:xfrm>
          <a:prstGeom prst="rect">
            <a:avLst/>
          </a:prstGeom>
          <a:noFill/>
        </p:spPr>
        <p:txBody>
          <a:bodyPr wrap="none" rtlCol="0">
            <a:spAutoFit/>
          </a:bodyPr>
          <a:lstStyle/>
          <a:p>
            <a:r>
              <a:rPr lang="en-US" altLang="zh-TW" dirty="0" smtClean="0"/>
              <a:t>4</a:t>
            </a:r>
            <a:endParaRPr lang="zh-TW" altLang="en-US" dirty="0"/>
          </a:p>
        </p:txBody>
      </p:sp>
      <p:sp>
        <p:nvSpPr>
          <p:cNvPr id="34" name="文字方塊 33"/>
          <p:cNvSpPr txBox="1"/>
          <p:nvPr/>
        </p:nvSpPr>
        <p:spPr>
          <a:xfrm>
            <a:off x="1463606" y="2858220"/>
            <a:ext cx="300082" cy="369332"/>
          </a:xfrm>
          <a:prstGeom prst="rect">
            <a:avLst/>
          </a:prstGeom>
          <a:noFill/>
        </p:spPr>
        <p:txBody>
          <a:bodyPr wrap="none" rtlCol="0">
            <a:spAutoFit/>
          </a:bodyPr>
          <a:lstStyle/>
          <a:p>
            <a:r>
              <a:rPr lang="en-US" altLang="zh-TW" dirty="0"/>
              <a:t>6</a:t>
            </a:r>
            <a:endParaRPr lang="zh-TW" altLang="en-US" dirty="0"/>
          </a:p>
        </p:txBody>
      </p:sp>
      <p:cxnSp>
        <p:nvCxnSpPr>
          <p:cNvPr id="31" name="直線接點 30"/>
          <p:cNvCxnSpPr/>
          <p:nvPr/>
        </p:nvCxnSpPr>
        <p:spPr>
          <a:xfrm>
            <a:off x="1331640" y="1268760"/>
            <a:ext cx="432048"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直線接點 31"/>
          <p:cNvCxnSpPr/>
          <p:nvPr/>
        </p:nvCxnSpPr>
        <p:spPr>
          <a:xfrm>
            <a:off x="2860533" y="1268760"/>
            <a:ext cx="781647"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64221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extLst>
              <p:ext uri="{D42A27DB-BD31-4B8C-83A1-F6EECF244321}">
                <p14:modId xmlns:p14="http://schemas.microsoft.com/office/powerpoint/2010/main" val="1138707842"/>
              </p:ext>
            </p:extLst>
          </p:nvPr>
        </p:nvGraphicFramePr>
        <p:xfrm>
          <a:off x="374514" y="5158179"/>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(3, 6)</a:t>
                      </a:r>
                      <a:endParaRPr lang="zh-TW" altLang="en-US" b="0" dirty="0">
                        <a:solidFill>
                          <a:srgbClr val="FF0000"/>
                        </a:solidFill>
                      </a:endParaRPr>
                    </a:p>
                  </a:txBody>
                  <a:tcPr/>
                </a:tc>
                <a:tc>
                  <a:txBody>
                    <a:bodyPr/>
                    <a:lstStyle/>
                    <a:p>
                      <a:pPr algn="ctr"/>
                      <a:r>
                        <a:rPr lang="en-US" altLang="zh-TW" b="0" strike="sngStrike" dirty="0" smtClean="0"/>
                        <a:t>(14, 0)</a:t>
                      </a:r>
                      <a:endParaRPr lang="zh-TW" altLang="en-US" b="0" strike="sngStrike"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(3, 6)</a:t>
                      </a:r>
                      <a:endParaRPr lang="zh-TW" altLang="en-US" b="0" dirty="0">
                        <a:solidFill>
                          <a:srgbClr val="FF0000"/>
                        </a:solidFill>
                      </a:endParaRPr>
                    </a:p>
                  </a:txBody>
                  <a:tcPr/>
                </a:tc>
                <a:tc>
                  <a:txBody>
                    <a:bodyPr/>
                    <a:lstStyle/>
                    <a:p>
                      <a:pPr algn="ctr"/>
                      <a:r>
                        <a:rPr lang="en-US" altLang="zh-TW" b="0" strike="sngStrike" dirty="0" smtClean="0"/>
                        <a:t>(14, 0)</a:t>
                      </a:r>
                      <a:endParaRPr lang="zh-TW" altLang="en-US" b="0" strike="sngStrike" dirty="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300797339"/>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809305652"/>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972850326"/>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102182168"/>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(4, 3)</a:t>
            </a:r>
          </a:p>
          <a:p>
            <a:r>
              <a:rPr lang="en-US" altLang="zh-TW" dirty="0" smtClean="0"/>
              <a:t>RANK(a, 4, 3) = TOP</a:t>
            </a:r>
            <a:r>
              <a:rPr lang="en-US" altLang="zh-TW" baseline="-25000" dirty="0"/>
              <a:t>2</a:t>
            </a:r>
            <a:r>
              <a:rPr lang="en-US" altLang="zh-TW" dirty="0" smtClean="0"/>
              <a:t>(a) – LEFT</a:t>
            </a:r>
            <a:r>
              <a:rPr lang="en-US" altLang="zh-TW" baseline="-25000" dirty="0" smtClean="0"/>
              <a:t>3</a:t>
            </a:r>
            <a:r>
              <a:rPr lang="en-US" altLang="zh-TW" dirty="0" smtClean="0"/>
              <a:t>(a) = 3</a:t>
            </a:r>
          </a:p>
          <a:p>
            <a:r>
              <a:rPr lang="en-US" altLang="zh-TW" dirty="0"/>
              <a:t>v</a:t>
            </a:r>
            <a:r>
              <a:rPr lang="en-US" altLang="zh-TW" dirty="0" smtClean="0"/>
              <a:t> = M[3, 2] = 6</a:t>
            </a:r>
          </a:p>
        </p:txBody>
      </p:sp>
      <p:sp>
        <p:nvSpPr>
          <p:cNvPr id="16" name="文字方塊 15"/>
          <p:cNvSpPr txBox="1"/>
          <p:nvPr/>
        </p:nvSpPr>
        <p:spPr>
          <a:xfrm>
            <a:off x="4720202" y="3524061"/>
            <a:ext cx="2903039"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smtClean="0"/>
              <a:t>3</a:t>
            </a:r>
            <a:r>
              <a:rPr lang="en-US" altLang="zh-TW" dirty="0" smtClean="0"/>
              <a:t>(a) – LEFT</a:t>
            </a:r>
            <a:r>
              <a:rPr lang="en-US" altLang="zh-TW" baseline="-25000" dirty="0"/>
              <a:t>4</a:t>
            </a:r>
            <a:r>
              <a:rPr lang="en-US" altLang="zh-TW" dirty="0" smtClean="0"/>
              <a:t>(a) = 7</a:t>
            </a:r>
          </a:p>
        </p:txBody>
      </p:sp>
      <p:graphicFrame>
        <p:nvGraphicFramePr>
          <p:cNvPr id="17" name="表格 16"/>
          <p:cNvGraphicFramePr>
            <a:graphicFrameLocks noGrp="1"/>
          </p:cNvGraphicFramePr>
          <p:nvPr>
            <p:extLst>
              <p:ext uri="{D42A27DB-BD31-4B8C-83A1-F6EECF244321}">
                <p14:modId xmlns:p14="http://schemas.microsoft.com/office/powerpoint/2010/main" val="1771804848"/>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(3, 6)</a:t>
                      </a:r>
                      <a:endParaRPr lang="zh-TW" altLang="en-US" b="0" dirty="0"/>
                    </a:p>
                  </a:txBody>
                  <a:tcPr/>
                </a:tc>
                <a:tc>
                  <a:txBody>
                    <a:bodyPr/>
                    <a:lstStyle/>
                    <a:p>
                      <a:pPr algn="ctr"/>
                      <a:r>
                        <a:rPr lang="en-US" altLang="zh-TW" b="0" dirty="0" smtClean="0">
                          <a:solidFill>
                            <a:srgbClr val="FF0000"/>
                          </a:solidFill>
                        </a:rPr>
                        <a:t>(7, 0)</a:t>
                      </a:r>
                      <a:endParaRPr lang="zh-TW" altLang="en-US" b="0" dirty="0">
                        <a:solidFill>
                          <a:srgbClr val="FF0000"/>
                        </a:solidFill>
                      </a:endParaRPr>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4</a:t>
            </a:r>
            <a:r>
              <a:rPr lang="en-US" altLang="zh-TW" dirty="0" smtClean="0"/>
              <a:t>(b) – TOP</a:t>
            </a:r>
            <a:r>
              <a:rPr lang="en-US" altLang="zh-TW" baseline="-25000" dirty="0"/>
              <a:t>3</a:t>
            </a:r>
            <a:r>
              <a:rPr lang="en-US" altLang="zh-TW" dirty="0" smtClean="0"/>
              <a:t>(b) = -7</a:t>
            </a:r>
          </a:p>
        </p:txBody>
      </p:sp>
      <p:graphicFrame>
        <p:nvGraphicFramePr>
          <p:cNvPr id="20" name="表格 19"/>
          <p:cNvGraphicFramePr>
            <a:graphicFrameLocks noGrp="1"/>
          </p:cNvGraphicFramePr>
          <p:nvPr>
            <p:extLst>
              <p:ext uri="{D42A27DB-BD31-4B8C-83A1-F6EECF244321}">
                <p14:modId xmlns:p14="http://schemas.microsoft.com/office/powerpoint/2010/main" val="1753005483"/>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(-7, 0)</a:t>
                      </a:r>
                      <a:endParaRPr lang="zh-TW" altLang="en-US" b="0" dirty="0">
                        <a:solidFill>
                          <a:srgbClr val="FF0000"/>
                        </a:solidFill>
                      </a:endParaRPr>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(3, 6)</a:t>
                      </a:r>
                      <a:endParaRPr lang="zh-TW" altLang="en-US" b="0" dirty="0"/>
                    </a:p>
                  </a:txBody>
                  <a:tcPr/>
                </a:tc>
              </a:tr>
            </a:tbl>
          </a:graphicData>
        </a:graphic>
      </p:graphicFrame>
      <p:sp>
        <p:nvSpPr>
          <p:cNvPr id="21" name="文字方塊 20"/>
          <p:cNvSpPr txBox="1"/>
          <p:nvPr/>
        </p:nvSpPr>
        <p:spPr>
          <a:xfrm>
            <a:off x="4644008" y="5877272"/>
            <a:ext cx="3086101" cy="369332"/>
          </a:xfrm>
          <a:prstGeom prst="rect">
            <a:avLst/>
          </a:prstGeom>
          <a:noFill/>
        </p:spPr>
        <p:txBody>
          <a:bodyPr wrap="none" rtlCol="0">
            <a:spAutoFit/>
          </a:bodyPr>
          <a:lstStyle/>
          <a:p>
            <a:r>
              <a:rPr lang="en-US" altLang="zh-TW" dirty="0" smtClean="0"/>
              <a:t>M[4, 3] = max(6, </a:t>
            </a:r>
            <a:r>
              <a:rPr lang="en-US" altLang="zh-TW" dirty="0"/>
              <a:t>6</a:t>
            </a:r>
            <a:r>
              <a:rPr lang="en-US" altLang="zh-TW" dirty="0" smtClean="0"/>
              <a:t>, 10, 0) = 10</a:t>
            </a:r>
            <a:endParaRPr lang="zh-TW" altLang="en-US" dirty="0"/>
          </a:p>
        </p:txBody>
      </p:sp>
      <p:sp>
        <p:nvSpPr>
          <p:cNvPr id="3" name="矩形 2"/>
          <p:cNvSpPr/>
          <p:nvPr/>
        </p:nvSpPr>
        <p:spPr>
          <a:xfrm>
            <a:off x="4644008" y="4573843"/>
            <a:ext cx="4222694" cy="369332"/>
          </a:xfrm>
          <a:prstGeom prst="rect">
            <a:avLst/>
          </a:prstGeom>
        </p:spPr>
        <p:txBody>
          <a:bodyPr wrap="none">
            <a:spAutoFit/>
          </a:bodyPr>
          <a:lstStyle/>
          <a:p>
            <a:r>
              <a:rPr lang="en-US" altLang="zh-TW" dirty="0" smtClean="0"/>
              <a:t>Value of path starts from (4, 3) = 6 + 4 = 10</a:t>
            </a:r>
            <a:endParaRPr lang="zh-TW" altLang="en-US" dirty="0"/>
          </a:p>
        </p:txBody>
      </p:sp>
      <p:sp>
        <p:nvSpPr>
          <p:cNvPr id="18" name="文字方塊 17"/>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cxnSp>
        <p:nvCxnSpPr>
          <p:cNvPr id="23" name="直線接點 22"/>
          <p:cNvCxnSpPr/>
          <p:nvPr/>
        </p:nvCxnSpPr>
        <p:spPr>
          <a:xfrm>
            <a:off x="755576" y="620688"/>
            <a:ext cx="576064" cy="6480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2280886" y="598449"/>
            <a:ext cx="576064" cy="670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1763688"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3642180"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1331640" y="1268760"/>
            <a:ext cx="0" cy="158946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1331640" y="2858220"/>
            <a:ext cx="432048" cy="393402"/>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1806263" y="3251622"/>
            <a:ext cx="474623" cy="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2280886" y="3251622"/>
            <a:ext cx="418906" cy="393402"/>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2" name="直線接點 31"/>
          <p:cNvCxnSpPr/>
          <p:nvPr/>
        </p:nvCxnSpPr>
        <p:spPr>
          <a:xfrm>
            <a:off x="2295841" y="2839678"/>
            <a:ext cx="663921" cy="78680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接點 32"/>
          <p:cNvCxnSpPr/>
          <p:nvPr/>
        </p:nvCxnSpPr>
        <p:spPr>
          <a:xfrm>
            <a:off x="2860533" y="1268760"/>
            <a:ext cx="0" cy="158946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a:off x="2856950" y="2865141"/>
            <a:ext cx="634930" cy="761341"/>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3275856" y="2879464"/>
            <a:ext cx="300082" cy="369332"/>
          </a:xfrm>
          <a:prstGeom prst="rect">
            <a:avLst/>
          </a:prstGeom>
          <a:noFill/>
        </p:spPr>
        <p:txBody>
          <a:bodyPr wrap="none" rtlCol="0">
            <a:spAutoFit/>
          </a:bodyPr>
          <a:lstStyle/>
          <a:p>
            <a:r>
              <a:rPr lang="en-US" altLang="zh-TW" dirty="0" smtClean="0"/>
              <a:t>7</a:t>
            </a:r>
            <a:endParaRPr lang="zh-TW" altLang="en-US" dirty="0"/>
          </a:p>
        </p:txBody>
      </p:sp>
      <p:sp>
        <p:nvSpPr>
          <p:cNvPr id="35" name="文字方塊 34"/>
          <p:cNvSpPr txBox="1"/>
          <p:nvPr/>
        </p:nvSpPr>
        <p:spPr>
          <a:xfrm>
            <a:off x="2549751" y="2847198"/>
            <a:ext cx="415498" cy="369332"/>
          </a:xfrm>
          <a:prstGeom prst="rect">
            <a:avLst/>
          </a:prstGeom>
          <a:noFill/>
        </p:spPr>
        <p:txBody>
          <a:bodyPr wrap="none" rtlCol="0">
            <a:spAutoFit/>
          </a:bodyPr>
          <a:lstStyle/>
          <a:p>
            <a:r>
              <a:rPr lang="en-US" altLang="zh-TW" dirty="0" smtClean="0"/>
              <a:t>10</a:t>
            </a:r>
            <a:endParaRPr lang="zh-TW" altLang="en-US" dirty="0"/>
          </a:p>
        </p:txBody>
      </p:sp>
      <p:sp>
        <p:nvSpPr>
          <p:cNvPr id="36" name="文字方塊 35"/>
          <p:cNvSpPr txBox="1"/>
          <p:nvPr/>
        </p:nvSpPr>
        <p:spPr>
          <a:xfrm>
            <a:off x="2280886" y="3291822"/>
            <a:ext cx="300082" cy="369332"/>
          </a:xfrm>
          <a:prstGeom prst="rect">
            <a:avLst/>
          </a:prstGeom>
          <a:noFill/>
        </p:spPr>
        <p:txBody>
          <a:bodyPr wrap="none" rtlCol="0">
            <a:spAutoFit/>
          </a:bodyPr>
          <a:lstStyle/>
          <a:p>
            <a:r>
              <a:rPr lang="en-US" altLang="zh-TW" dirty="0"/>
              <a:t>7</a:t>
            </a:r>
            <a:endParaRPr lang="zh-TW" altLang="en-US" dirty="0"/>
          </a:p>
        </p:txBody>
      </p:sp>
      <p:cxnSp>
        <p:nvCxnSpPr>
          <p:cNvPr id="37" name="直線接點 36"/>
          <p:cNvCxnSpPr/>
          <p:nvPr/>
        </p:nvCxnSpPr>
        <p:spPr>
          <a:xfrm>
            <a:off x="2295841" y="1772816"/>
            <a:ext cx="0" cy="1066862"/>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線接點 37"/>
          <p:cNvCxnSpPr/>
          <p:nvPr/>
        </p:nvCxnSpPr>
        <p:spPr>
          <a:xfrm>
            <a:off x="1331640" y="1268760"/>
            <a:ext cx="432048"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2860533" y="1268760"/>
            <a:ext cx="781647"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795473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extLst>
              <p:ext uri="{D42A27DB-BD31-4B8C-83A1-F6EECF244321}">
                <p14:modId xmlns:p14="http://schemas.microsoft.com/office/powerpoint/2010/main" val="1635719187"/>
              </p:ext>
            </p:extLst>
          </p:nvPr>
        </p:nvGraphicFramePr>
        <p:xfrm>
          <a:off x="374514" y="5158179"/>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(3, 6)</a:t>
                      </a:r>
                      <a:endParaRPr lang="zh-TW" altLang="en-US" b="0" dirty="0">
                        <a:solidFill>
                          <a:srgbClr val="FF0000"/>
                        </a:solidFill>
                      </a:endParaRPr>
                    </a:p>
                  </a:txBody>
                  <a:tcPr/>
                </a:tc>
                <a:tc>
                  <a:txBody>
                    <a:bodyPr/>
                    <a:lstStyle/>
                    <a:p>
                      <a:pPr algn="ctr"/>
                      <a:r>
                        <a:rPr lang="en-US" altLang="zh-TW" b="0" strike="sngStrike" dirty="0" smtClean="0"/>
                        <a:t>(14, 0)</a:t>
                      </a:r>
                      <a:endParaRPr lang="zh-TW" altLang="en-US" b="0" strike="sngStrike"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(3, 6)</a:t>
                      </a:r>
                      <a:endParaRPr lang="zh-TW" altLang="en-US" b="0" dirty="0">
                        <a:solidFill>
                          <a:srgbClr val="FF0000"/>
                        </a:solidFill>
                      </a:endParaRPr>
                    </a:p>
                  </a:txBody>
                  <a:tcPr/>
                </a:tc>
                <a:tc>
                  <a:txBody>
                    <a:bodyPr/>
                    <a:lstStyle/>
                    <a:p>
                      <a:pPr algn="ctr"/>
                      <a:r>
                        <a:rPr lang="en-US" altLang="zh-TW" b="0" strike="sngStrike" dirty="0" smtClean="0"/>
                        <a:t>(14, 0)</a:t>
                      </a:r>
                      <a:endParaRPr lang="zh-TW" altLang="en-US" b="0" strike="sngStrike" dirty="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1712915068"/>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59416426"/>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830139482"/>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874443404"/>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(4, 3)</a:t>
            </a:r>
          </a:p>
          <a:p>
            <a:r>
              <a:rPr lang="en-US" altLang="zh-TW" dirty="0" smtClean="0"/>
              <a:t>RANK(a, 4, 3) = TOP</a:t>
            </a:r>
            <a:r>
              <a:rPr lang="en-US" altLang="zh-TW" baseline="-25000" dirty="0"/>
              <a:t>2</a:t>
            </a:r>
            <a:r>
              <a:rPr lang="en-US" altLang="zh-TW" dirty="0" smtClean="0"/>
              <a:t>(a) – LEFT</a:t>
            </a:r>
            <a:r>
              <a:rPr lang="en-US" altLang="zh-TW" baseline="-25000" dirty="0" smtClean="0"/>
              <a:t>3</a:t>
            </a:r>
            <a:r>
              <a:rPr lang="en-US" altLang="zh-TW" dirty="0" smtClean="0"/>
              <a:t>(a) = 3</a:t>
            </a:r>
          </a:p>
          <a:p>
            <a:r>
              <a:rPr lang="en-US" altLang="zh-TW" dirty="0"/>
              <a:t>v</a:t>
            </a:r>
            <a:r>
              <a:rPr lang="en-US" altLang="zh-TW" dirty="0" smtClean="0"/>
              <a:t> = M[3, 2] = 6</a:t>
            </a:r>
          </a:p>
        </p:txBody>
      </p:sp>
      <p:sp>
        <p:nvSpPr>
          <p:cNvPr id="16" name="文字方塊 15"/>
          <p:cNvSpPr txBox="1"/>
          <p:nvPr/>
        </p:nvSpPr>
        <p:spPr>
          <a:xfrm>
            <a:off x="4720202" y="3524061"/>
            <a:ext cx="2903039"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smtClean="0"/>
              <a:t>3</a:t>
            </a:r>
            <a:r>
              <a:rPr lang="en-US" altLang="zh-TW" dirty="0" smtClean="0"/>
              <a:t>(a) – LEFT</a:t>
            </a:r>
            <a:r>
              <a:rPr lang="en-US" altLang="zh-TW" baseline="-25000" dirty="0"/>
              <a:t>4</a:t>
            </a:r>
            <a:r>
              <a:rPr lang="en-US" altLang="zh-TW" dirty="0" smtClean="0"/>
              <a:t>(a) = 7</a:t>
            </a:r>
          </a:p>
        </p:txBody>
      </p:sp>
      <p:graphicFrame>
        <p:nvGraphicFramePr>
          <p:cNvPr id="17" name="表格 16"/>
          <p:cNvGraphicFramePr>
            <a:graphicFrameLocks noGrp="1"/>
          </p:cNvGraphicFramePr>
          <p:nvPr>
            <p:extLst>
              <p:ext uri="{D42A27DB-BD31-4B8C-83A1-F6EECF244321}">
                <p14:modId xmlns:p14="http://schemas.microsoft.com/office/powerpoint/2010/main" val="3199871953"/>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(3, 6)</a:t>
                      </a:r>
                      <a:endParaRPr lang="zh-TW" altLang="en-US" b="0" dirty="0"/>
                    </a:p>
                  </a:txBody>
                  <a:tcPr/>
                </a:tc>
                <a:tc>
                  <a:txBody>
                    <a:bodyPr/>
                    <a:lstStyle/>
                    <a:p>
                      <a:pPr algn="ctr"/>
                      <a:r>
                        <a:rPr lang="en-US" altLang="zh-TW" b="0" dirty="0" smtClean="0">
                          <a:solidFill>
                            <a:srgbClr val="FF0000"/>
                          </a:solidFill>
                        </a:rPr>
                        <a:t>(7, 0)</a:t>
                      </a:r>
                      <a:endParaRPr lang="zh-TW" altLang="en-US" b="0" dirty="0">
                        <a:solidFill>
                          <a:srgbClr val="FF0000"/>
                        </a:solidFill>
                      </a:endParaRPr>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4</a:t>
            </a:r>
            <a:r>
              <a:rPr lang="en-US" altLang="zh-TW" dirty="0" smtClean="0"/>
              <a:t>(b) – TOP</a:t>
            </a:r>
            <a:r>
              <a:rPr lang="en-US" altLang="zh-TW" baseline="-25000" dirty="0"/>
              <a:t>3</a:t>
            </a:r>
            <a:r>
              <a:rPr lang="en-US" altLang="zh-TW" dirty="0" smtClean="0"/>
              <a:t>(b) = -7</a:t>
            </a:r>
          </a:p>
        </p:txBody>
      </p:sp>
      <p:graphicFrame>
        <p:nvGraphicFramePr>
          <p:cNvPr id="20" name="表格 19"/>
          <p:cNvGraphicFramePr>
            <a:graphicFrameLocks noGrp="1"/>
          </p:cNvGraphicFramePr>
          <p:nvPr>
            <p:extLst>
              <p:ext uri="{D42A27DB-BD31-4B8C-83A1-F6EECF244321}">
                <p14:modId xmlns:p14="http://schemas.microsoft.com/office/powerpoint/2010/main" val="1731391191"/>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(-7, 0)</a:t>
                      </a:r>
                      <a:endParaRPr lang="zh-TW" altLang="en-US" b="0" dirty="0">
                        <a:solidFill>
                          <a:srgbClr val="FF0000"/>
                        </a:solidFill>
                      </a:endParaRPr>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(3, 6)</a:t>
                      </a:r>
                      <a:endParaRPr lang="zh-TW" altLang="en-US" b="0" dirty="0"/>
                    </a:p>
                  </a:txBody>
                  <a:tcPr/>
                </a:tc>
              </a:tr>
            </a:tbl>
          </a:graphicData>
        </a:graphic>
      </p:graphicFrame>
      <p:sp>
        <p:nvSpPr>
          <p:cNvPr id="21" name="文字方塊 20"/>
          <p:cNvSpPr txBox="1"/>
          <p:nvPr/>
        </p:nvSpPr>
        <p:spPr>
          <a:xfrm>
            <a:off x="4644008" y="5877272"/>
            <a:ext cx="3086101" cy="369332"/>
          </a:xfrm>
          <a:prstGeom prst="rect">
            <a:avLst/>
          </a:prstGeom>
          <a:noFill/>
        </p:spPr>
        <p:txBody>
          <a:bodyPr wrap="none" rtlCol="0">
            <a:spAutoFit/>
          </a:bodyPr>
          <a:lstStyle/>
          <a:p>
            <a:r>
              <a:rPr lang="en-US" altLang="zh-TW" dirty="0" smtClean="0"/>
              <a:t>M[4, 3] = max(6, </a:t>
            </a:r>
            <a:r>
              <a:rPr lang="en-US" altLang="zh-TW" dirty="0"/>
              <a:t>6</a:t>
            </a:r>
            <a:r>
              <a:rPr lang="en-US" altLang="zh-TW" dirty="0" smtClean="0"/>
              <a:t>, 10, 0) = 10</a:t>
            </a:r>
            <a:endParaRPr lang="zh-TW" altLang="en-US" dirty="0"/>
          </a:p>
        </p:txBody>
      </p:sp>
      <p:sp>
        <p:nvSpPr>
          <p:cNvPr id="3" name="矩形 2"/>
          <p:cNvSpPr/>
          <p:nvPr/>
        </p:nvSpPr>
        <p:spPr>
          <a:xfrm>
            <a:off x="4644008" y="4573843"/>
            <a:ext cx="4222694" cy="369332"/>
          </a:xfrm>
          <a:prstGeom prst="rect">
            <a:avLst/>
          </a:prstGeom>
        </p:spPr>
        <p:txBody>
          <a:bodyPr wrap="none">
            <a:spAutoFit/>
          </a:bodyPr>
          <a:lstStyle/>
          <a:p>
            <a:r>
              <a:rPr lang="en-US" altLang="zh-TW" dirty="0" smtClean="0"/>
              <a:t>Value of path starts from (4, 3) = 6 + 4 = 10</a:t>
            </a:r>
            <a:endParaRPr lang="zh-TW" altLang="en-US" dirty="0"/>
          </a:p>
        </p:txBody>
      </p:sp>
      <p:sp>
        <p:nvSpPr>
          <p:cNvPr id="18" name="文字方塊 17"/>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cxnSp>
        <p:nvCxnSpPr>
          <p:cNvPr id="23" name="直線接點 22"/>
          <p:cNvCxnSpPr/>
          <p:nvPr/>
        </p:nvCxnSpPr>
        <p:spPr>
          <a:xfrm>
            <a:off x="755576" y="620688"/>
            <a:ext cx="576064" cy="6480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2280886" y="598449"/>
            <a:ext cx="576064" cy="6703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1763688"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3642180" y="1268760"/>
            <a:ext cx="517198" cy="504056"/>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1331640" y="1268760"/>
            <a:ext cx="0" cy="158946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1331640" y="2858220"/>
            <a:ext cx="432048" cy="393402"/>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1806263" y="3251622"/>
            <a:ext cx="474623" cy="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2280886" y="3251622"/>
            <a:ext cx="418906" cy="393402"/>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2" name="直線接點 31"/>
          <p:cNvCxnSpPr/>
          <p:nvPr/>
        </p:nvCxnSpPr>
        <p:spPr>
          <a:xfrm>
            <a:off x="2295841" y="2839678"/>
            <a:ext cx="663921" cy="78680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接點 32"/>
          <p:cNvCxnSpPr/>
          <p:nvPr/>
        </p:nvCxnSpPr>
        <p:spPr>
          <a:xfrm>
            <a:off x="2860533" y="1268760"/>
            <a:ext cx="0" cy="158946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a:off x="2856950" y="2865141"/>
            <a:ext cx="634930" cy="761341"/>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a:off x="1331640" y="1268760"/>
            <a:ext cx="432048"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線接點 37"/>
          <p:cNvCxnSpPr/>
          <p:nvPr/>
        </p:nvCxnSpPr>
        <p:spPr>
          <a:xfrm>
            <a:off x="2860533" y="1268760"/>
            <a:ext cx="78164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2295841" y="1772816"/>
            <a:ext cx="0" cy="1066862"/>
          </a:xfrm>
          <a:prstGeom prst="line">
            <a:avLst/>
          </a:prstGeom>
          <a:ln w="19050"/>
        </p:spPr>
        <p:style>
          <a:lnRef idx="1">
            <a:schemeClr val="dk1"/>
          </a:lnRef>
          <a:fillRef idx="0">
            <a:schemeClr val="dk1"/>
          </a:fillRef>
          <a:effectRef idx="0">
            <a:schemeClr val="dk1"/>
          </a:effectRef>
          <a:fontRef idx="minor">
            <a:schemeClr val="tx1"/>
          </a:fontRef>
        </p:style>
      </p:cxnSp>
      <p:cxnSp>
        <p:nvCxnSpPr>
          <p:cNvPr id="42" name="直線接點 41"/>
          <p:cNvCxnSpPr/>
          <p:nvPr/>
        </p:nvCxnSpPr>
        <p:spPr>
          <a:xfrm>
            <a:off x="4169219" y="1772816"/>
            <a:ext cx="0" cy="1872208"/>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線接點 43"/>
          <p:cNvCxnSpPr/>
          <p:nvPr/>
        </p:nvCxnSpPr>
        <p:spPr>
          <a:xfrm flipH="1">
            <a:off x="2959762" y="3645024"/>
            <a:ext cx="1199616"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561393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p:sp>
        <p:nvSpPr>
          <p:cNvPr id="3" name="內容版面配置區 2"/>
          <p:cNvSpPr>
            <a:spLocks noGrp="1"/>
          </p:cNvSpPr>
          <p:nvPr>
            <p:ph idx="1"/>
          </p:nvPr>
        </p:nvSpPr>
        <p:spPr/>
        <p:txBody>
          <a:bodyPr/>
          <a:lstStyle/>
          <a:p>
            <a:r>
              <a:rPr lang="zh-TW" altLang="en-US" dirty="0" smtClean="0"/>
              <a:t>使用</a:t>
            </a:r>
            <a:r>
              <a:rPr lang="en-US" altLang="zh-TW" dirty="0" smtClean="0"/>
              <a:t>balance binary searching tree</a:t>
            </a:r>
            <a:r>
              <a:rPr lang="zh-TW" altLang="en-US" dirty="0" smtClean="0"/>
              <a:t>處理</a:t>
            </a:r>
            <a:r>
              <a:rPr lang="en-US" altLang="zh-TW" dirty="0" smtClean="0"/>
              <a:t>forced path</a:t>
            </a:r>
            <a:r>
              <a:rPr lang="zh-TW" altLang="en-US" dirty="0" smtClean="0"/>
              <a:t>，</a:t>
            </a:r>
            <a:r>
              <a:rPr lang="en-US" altLang="zh-TW" dirty="0" smtClean="0"/>
              <a:t>O(log(</a:t>
            </a:r>
            <a:r>
              <a:rPr lang="en-US" altLang="zh-TW" dirty="0" err="1" smtClean="0"/>
              <a:t>k+l</a:t>
            </a:r>
            <a:r>
              <a:rPr lang="en-US" altLang="zh-TW" dirty="0" smtClean="0"/>
              <a:t>))</a:t>
            </a:r>
          </a:p>
          <a:p>
            <a:r>
              <a:rPr lang="zh-TW" altLang="en-US" dirty="0" smtClean="0"/>
              <a:t>總時間複雜度</a:t>
            </a:r>
            <a:r>
              <a:rPr lang="en-US" altLang="zh-TW" dirty="0" smtClean="0"/>
              <a:t>O(kl * log(</a:t>
            </a:r>
            <a:r>
              <a:rPr lang="en-US" altLang="zh-TW" dirty="0" err="1" smtClean="0"/>
              <a:t>k+l</a:t>
            </a:r>
            <a:r>
              <a:rPr lang="en-US" altLang="zh-TW" dirty="0" smtClean="0"/>
              <a:t>))</a:t>
            </a:r>
            <a:endParaRPr lang="zh-TW" altLang="en-US" dirty="0"/>
          </a:p>
        </p:txBody>
      </p:sp>
    </p:spTree>
    <p:extLst>
      <p:ext uri="{BB962C8B-B14F-4D97-AF65-F5344CB8AC3E}">
        <p14:creationId xmlns:p14="http://schemas.microsoft.com/office/powerpoint/2010/main" val="15908428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1">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1056</TotalTime>
  <Words>1702</Words>
  <Application>Microsoft Office PowerPoint</Application>
  <PresentationFormat>如螢幕大小 (4:3)</PresentationFormat>
  <Paragraphs>582</Paragraphs>
  <Slides>15</Slides>
  <Notes>0</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Matching for Run-Length Encoded Strings</vt:lpstr>
      <vt:lpstr>Abstract</vt:lpstr>
      <vt:lpstr>Introduction</vt:lpstr>
      <vt:lpstr>Forced Path and Corner Path</vt:lpstr>
      <vt:lpstr>Dynamic Programming</vt:lpstr>
      <vt:lpstr>RANK</vt:lpstr>
      <vt:lpstr>Forced Path Tree</vt:lpstr>
      <vt:lpstr>PowerPoint 簡報</vt:lpstr>
      <vt:lpstr>PowerPoint 簡報</vt:lpstr>
      <vt:lpstr>PowerPoint 簡報</vt:lpstr>
      <vt:lpstr>PowerPoint 簡報</vt:lpstr>
      <vt:lpstr>PowerPoint 簡報</vt:lpstr>
      <vt:lpstr>PowerPoint 簡報</vt:lpstr>
      <vt:lpstr>PowerPoint 簡報</vt:lpstr>
      <vt:lpstr>Time Complexity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Sena</dc:creator>
  <cp:lastModifiedBy>Sena</cp:lastModifiedBy>
  <cp:revision>70</cp:revision>
  <dcterms:created xsi:type="dcterms:W3CDTF">2014-11-17T16:55:28Z</dcterms:created>
  <dcterms:modified xsi:type="dcterms:W3CDTF">2014-11-25T10:02:47Z</dcterms:modified>
</cp:coreProperties>
</file>