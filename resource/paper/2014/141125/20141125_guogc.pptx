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5" d="100"/>
          <a:sy n="95" d="100"/>
        </p:scale>
        <p:origin x="-42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3497115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398234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975755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3676103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2234415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2214142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3309645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3507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45836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3206883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2E22D57-BDF1-4B58-AD69-40089E3EB709}" type="datetimeFigureOut">
              <a:rPr lang="zh-TW" altLang="en-US" smtClean="0"/>
              <a:t>2014/11/25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3736108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E22D57-BDF1-4B58-AD69-40089E3EB709}" type="datetimeFigureOut">
              <a:rPr lang="zh-TW" altLang="en-US" smtClean="0"/>
              <a:t>2014/11/25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5FC017-AF8C-482A-9393-D098FF6598E9}" type="slidenum">
              <a:rPr lang="zh-TW" altLang="en-US" smtClean="0"/>
              <a:t>‹#›</a:t>
            </a:fld>
            <a:endParaRPr lang="zh-TW" altLang="en-US"/>
          </a:p>
        </p:txBody>
      </p:sp>
    </p:spTree>
    <p:extLst>
      <p:ext uri="{BB962C8B-B14F-4D97-AF65-F5344CB8AC3E}">
        <p14:creationId xmlns:p14="http://schemas.microsoft.com/office/powerpoint/2010/main" val="2275096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878855"/>
            <a:ext cx="7772400" cy="1470025"/>
          </a:xfrm>
        </p:spPr>
        <p:txBody>
          <a:bodyPr/>
          <a:lstStyle/>
          <a:p>
            <a:r>
              <a:rPr lang="en-US" altLang="zh-TW" b="1" dirty="0"/>
              <a:t>Fast Time Series Classification Using </a:t>
            </a:r>
            <a:r>
              <a:rPr lang="en-US" altLang="zh-TW" b="1" dirty="0" err="1"/>
              <a:t>Numerosity</a:t>
            </a:r>
            <a:r>
              <a:rPr lang="en-US" altLang="zh-TW" b="1" dirty="0"/>
              <a:t> Reduction</a:t>
            </a:r>
            <a:endParaRPr lang="zh-TW" altLang="en-US" dirty="0"/>
          </a:p>
        </p:txBody>
      </p:sp>
      <p:sp>
        <p:nvSpPr>
          <p:cNvPr id="3" name="副標題 2"/>
          <p:cNvSpPr>
            <a:spLocks noGrp="1"/>
          </p:cNvSpPr>
          <p:nvPr>
            <p:ph type="subTitle" idx="1"/>
          </p:nvPr>
        </p:nvSpPr>
        <p:spPr>
          <a:xfrm>
            <a:off x="467544" y="2924944"/>
            <a:ext cx="8208912" cy="2353816"/>
          </a:xfrm>
        </p:spPr>
        <p:txBody>
          <a:bodyPr>
            <a:normAutofit fontScale="92500" lnSpcReduction="10000"/>
          </a:bodyPr>
          <a:lstStyle/>
          <a:p>
            <a:pPr algn="l"/>
            <a:r>
              <a:rPr lang="en-US" altLang="zh-TW" dirty="0" err="1" smtClean="0">
                <a:solidFill>
                  <a:schemeClr val="tx1"/>
                </a:solidFill>
              </a:rPr>
              <a:t>Xiaopeng</a:t>
            </a:r>
            <a:r>
              <a:rPr lang="en-US" altLang="zh-TW" dirty="0" smtClean="0">
                <a:solidFill>
                  <a:schemeClr val="tx1"/>
                </a:solidFill>
              </a:rPr>
              <a:t> Xi, </a:t>
            </a:r>
            <a:r>
              <a:rPr lang="en-US" altLang="zh-TW" dirty="0" err="1" smtClean="0">
                <a:solidFill>
                  <a:schemeClr val="tx1"/>
                </a:solidFill>
              </a:rPr>
              <a:t>Eamonn</a:t>
            </a:r>
            <a:r>
              <a:rPr lang="en-US" altLang="zh-TW" dirty="0" smtClean="0">
                <a:solidFill>
                  <a:schemeClr val="tx1"/>
                </a:solidFill>
              </a:rPr>
              <a:t> Keogh, Christian Shelton, Li Wei and </a:t>
            </a:r>
            <a:r>
              <a:rPr lang="en-US" altLang="zh-TW" dirty="0" err="1" smtClean="0">
                <a:solidFill>
                  <a:schemeClr val="tx1"/>
                </a:solidFill>
              </a:rPr>
              <a:t>Chotirat</a:t>
            </a:r>
            <a:r>
              <a:rPr lang="en-US" altLang="zh-TW" dirty="0" smtClean="0">
                <a:solidFill>
                  <a:schemeClr val="tx1"/>
                </a:solidFill>
              </a:rPr>
              <a:t> Ann </a:t>
            </a:r>
            <a:r>
              <a:rPr lang="en-US" altLang="zh-TW" dirty="0" err="1" smtClean="0">
                <a:solidFill>
                  <a:schemeClr val="tx1"/>
                </a:solidFill>
              </a:rPr>
              <a:t>Ratanamahatana</a:t>
            </a:r>
            <a:endParaRPr lang="en-US" altLang="zh-TW" dirty="0" smtClean="0">
              <a:solidFill>
                <a:schemeClr val="tx1"/>
              </a:solidFill>
            </a:endParaRPr>
          </a:p>
          <a:p>
            <a:pPr algn="l"/>
            <a:r>
              <a:rPr lang="en-US" altLang="zh-TW" dirty="0" smtClean="0">
                <a:solidFill>
                  <a:schemeClr val="tx1"/>
                </a:solidFill>
              </a:rPr>
              <a:t>Proceeding ICML '06 Proceedings of the 23rd international conference on Machine learning</a:t>
            </a:r>
          </a:p>
          <a:p>
            <a:pPr algn="l"/>
            <a:r>
              <a:rPr lang="en-US" altLang="zh-TW" smtClean="0">
                <a:solidFill>
                  <a:schemeClr val="tx1"/>
                </a:solidFill>
              </a:rPr>
              <a:t>Pages </a:t>
            </a:r>
            <a:r>
              <a:rPr lang="en-US" altLang="zh-TW" smtClean="0">
                <a:solidFill>
                  <a:schemeClr val="tx1"/>
                </a:solidFill>
              </a:rPr>
              <a:t>1033-1040 (2006)</a:t>
            </a:r>
            <a:endParaRPr lang="zh-TW" altLang="en-US" dirty="0">
              <a:solidFill>
                <a:schemeClr val="tx1"/>
              </a:solidFill>
            </a:endParaRPr>
          </a:p>
        </p:txBody>
      </p:sp>
      <p:sp>
        <p:nvSpPr>
          <p:cNvPr id="4" name="矩形 3"/>
          <p:cNvSpPr/>
          <p:nvPr/>
        </p:nvSpPr>
        <p:spPr>
          <a:xfrm>
            <a:off x="5580112" y="5589240"/>
            <a:ext cx="2987824" cy="646331"/>
          </a:xfrm>
          <a:prstGeom prst="rect">
            <a:avLst/>
          </a:prstGeom>
        </p:spPr>
        <p:txBody>
          <a:bodyPr wrap="square">
            <a:spAutoFit/>
          </a:bodyPr>
          <a:lstStyle/>
          <a:p>
            <a:r>
              <a:rPr lang="en-US" altLang="zh-TW" dirty="0" smtClean="0"/>
              <a:t>Presenter</a:t>
            </a:r>
            <a:r>
              <a:rPr lang="zh-TW" altLang="en-US" dirty="0" smtClean="0"/>
              <a:t>：</a:t>
            </a:r>
            <a:r>
              <a:rPr lang="en-US" altLang="zh-TW" dirty="0" smtClean="0"/>
              <a:t>Guan-Cheng </a:t>
            </a:r>
            <a:r>
              <a:rPr lang="en-US" altLang="zh-TW" dirty="0" err="1" smtClean="0"/>
              <a:t>Guo</a:t>
            </a:r>
            <a:r>
              <a:rPr lang="en-US" altLang="zh-TW" dirty="0" smtClean="0"/>
              <a:t/>
            </a:r>
            <a:br>
              <a:rPr lang="en-US" altLang="zh-TW" dirty="0" smtClean="0"/>
            </a:br>
            <a:r>
              <a:rPr lang="en-US" altLang="zh-TW" dirty="0" smtClean="0"/>
              <a:t>Date</a:t>
            </a:r>
            <a:r>
              <a:rPr lang="zh-TW" altLang="en-US" dirty="0" smtClean="0"/>
              <a:t>：</a:t>
            </a:r>
            <a:r>
              <a:rPr lang="en-US" altLang="zh-TW" dirty="0" smtClean="0"/>
              <a:t>2014/11/25</a:t>
            </a:r>
            <a:endParaRPr lang="en-US" altLang="zh-TW" dirty="0"/>
          </a:p>
        </p:txBody>
      </p:sp>
    </p:spTree>
    <p:extLst>
      <p:ext uri="{BB962C8B-B14F-4D97-AF65-F5344CB8AC3E}">
        <p14:creationId xmlns:p14="http://schemas.microsoft.com/office/powerpoint/2010/main" val="2150578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179512" y="1196752"/>
            <a:ext cx="8856984" cy="5400600"/>
          </a:xfrm>
        </p:spPr>
        <p:txBody>
          <a:bodyPr>
            <a:normAutofit fontScale="77500" lnSpcReduction="20000"/>
          </a:bodyPr>
          <a:lstStyle/>
          <a:p>
            <a:pPr marL="0" indent="0">
              <a:buNone/>
            </a:pPr>
            <a:r>
              <a:rPr lang="en-US" altLang="zh-TW" dirty="0" smtClean="0"/>
              <a:t>       Many algorithms have been proposed for the problem of time series classification. However, it is clear that one-nearest-neighbor with Dynamic Time Warping (DTW) distance is exceptionally difficult to beat. This approach has one weakness, however; it is computationally too demanding for many real-time applications. One way to mitigate this problem is to speed up the DTW calculations. Nonetheless, there is a limit to how much this can help. In this work, we propose an additional technique, </a:t>
            </a:r>
            <a:r>
              <a:rPr lang="en-US" altLang="zh-TW" dirty="0" err="1" smtClean="0"/>
              <a:t>numerosity</a:t>
            </a:r>
            <a:r>
              <a:rPr lang="en-US" altLang="zh-TW" dirty="0" smtClean="0"/>
              <a:t> reduction, to speed up one-nearest-neighbor DTW. While the idea of </a:t>
            </a:r>
            <a:r>
              <a:rPr lang="en-US" altLang="zh-TW" dirty="0" err="1" smtClean="0"/>
              <a:t>numerosity</a:t>
            </a:r>
            <a:r>
              <a:rPr lang="en-US" altLang="zh-TW" dirty="0" smtClean="0"/>
              <a:t> reduction for nearest-neighbor classifiers has a long history, we show here that we can leverage off an original observation about the relationship between dataset size and DTW constraints to produce an extremely compact dataset with little or no loss in accuracy. We test our ideas with a comprehensive set of experiments, and show that it can efficiently produce extremely fast accurate classifiers.</a:t>
            </a:r>
            <a:endParaRPr lang="zh-TW" altLang="en-US" dirty="0"/>
          </a:p>
        </p:txBody>
      </p:sp>
    </p:spTree>
    <p:extLst>
      <p:ext uri="{BB962C8B-B14F-4D97-AF65-F5344CB8AC3E}">
        <p14:creationId xmlns:p14="http://schemas.microsoft.com/office/powerpoint/2010/main" val="2814272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Naïve Rank Reduction</a:t>
            </a:r>
            <a:endParaRPr lang="zh-TW" altLang="en-US" dirty="0"/>
          </a:p>
        </p:txBody>
      </p:sp>
      <p:sp>
        <p:nvSpPr>
          <p:cNvPr id="3" name="內容版面配置區 2"/>
          <p:cNvSpPr>
            <a:spLocks noGrp="1"/>
          </p:cNvSpPr>
          <p:nvPr>
            <p:ph idx="1"/>
          </p:nvPr>
        </p:nvSpPr>
        <p:spPr>
          <a:xfrm>
            <a:off x="457200" y="1600201"/>
            <a:ext cx="8229600" cy="1396752"/>
          </a:xfrm>
        </p:spPr>
        <p:txBody>
          <a:bodyPr>
            <a:normAutofit/>
          </a:bodyPr>
          <a:lstStyle/>
          <a:p>
            <a:r>
              <a:rPr lang="en-US" altLang="zh-TW" dirty="0" smtClean="0"/>
              <a:t>The Naïve Rank Reduction algorithm works in two steps, ranking and </a:t>
            </a:r>
            <a:r>
              <a:rPr lang="en-US" altLang="zh-TW" dirty="0" err="1" smtClean="0"/>
              <a:t>thresholding</a:t>
            </a:r>
            <a:r>
              <a:rPr lang="en-US" altLang="zh-TW" dirty="0" smtClean="0"/>
              <a:t>.</a:t>
            </a:r>
          </a:p>
          <a:p>
            <a:endParaRPr lang="en-US" altLang="zh-TW" dirty="0"/>
          </a:p>
          <a:p>
            <a:pPr marL="0" indent="0">
              <a:buNone/>
            </a:pPr>
            <a:endParaRPr lang="en-US" altLang="zh-TW" dirty="0" smtClean="0"/>
          </a:p>
          <a:p>
            <a:endParaRPr lang="en-US" altLang="zh-TW" dirty="0"/>
          </a:p>
          <a:p>
            <a:endParaRPr lang="zh-TW" altLang="en-US" dirty="0"/>
          </a:p>
        </p:txBody>
      </p:sp>
      <p:pic>
        <p:nvPicPr>
          <p:cNvPr id="1026" name="Picture 2" descr="C:\Users\yotsuki\Desktop\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861048"/>
            <a:ext cx="7297737" cy="1238250"/>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p:cNvSpPr txBox="1"/>
          <p:nvPr/>
        </p:nvSpPr>
        <p:spPr>
          <a:xfrm>
            <a:off x="755576" y="3004141"/>
            <a:ext cx="2424638" cy="584775"/>
          </a:xfrm>
          <a:prstGeom prst="rect">
            <a:avLst/>
          </a:prstGeom>
          <a:noFill/>
        </p:spPr>
        <p:txBody>
          <a:bodyPr wrap="none" rtlCol="0">
            <a:spAutoFit/>
          </a:bodyPr>
          <a:lstStyle/>
          <a:p>
            <a:r>
              <a:rPr lang="en-US" altLang="zh-TW" sz="3200" dirty="0" smtClean="0"/>
              <a:t>Ranking step:</a:t>
            </a:r>
            <a:endParaRPr lang="zh-TW" altLang="en-US" sz="3200" dirty="0"/>
          </a:p>
        </p:txBody>
      </p:sp>
      <mc:AlternateContent xmlns:mc="http://schemas.openxmlformats.org/markup-compatibility/2006" xmlns:a14="http://schemas.microsoft.com/office/drawing/2010/main">
        <mc:Choice Requires="a14">
          <p:sp>
            <p:nvSpPr>
              <p:cNvPr id="5" name="文字方塊 4"/>
              <p:cNvSpPr txBox="1"/>
              <p:nvPr/>
            </p:nvSpPr>
            <p:spPr>
              <a:xfrm>
                <a:off x="467544" y="5507869"/>
                <a:ext cx="8347606" cy="624338"/>
              </a:xfrm>
              <a:prstGeom prst="rect">
                <a:avLst/>
              </a:prstGeom>
              <a:noFill/>
            </p:spPr>
            <p:txBody>
              <a:bodyPr wrap="none" rtlCol="0">
                <a:spAutoFit/>
              </a:bodyPr>
              <a:lstStyle/>
              <a:p>
                <a14:m>
                  <m:oMath xmlns:m="http://schemas.openxmlformats.org/officeDocument/2006/math">
                    <m:sSub>
                      <m:sSubPr>
                        <m:ctrlPr>
                          <a:rPr lang="en-US" altLang="zh-TW" sz="3200" i="1" dirty="0" smtClean="0">
                            <a:latin typeface="Cambria Math"/>
                          </a:rPr>
                        </m:ctrlPr>
                      </m:sSubPr>
                      <m:e>
                        <m:r>
                          <a:rPr lang="en-US" altLang="zh-TW" sz="3200" b="0" i="1" dirty="0" smtClean="0">
                            <a:latin typeface="Cambria Math"/>
                          </a:rPr>
                          <m:t>𝑥</m:t>
                        </m:r>
                      </m:e>
                      <m:sub>
                        <m:r>
                          <a:rPr lang="en-US" altLang="zh-TW" sz="3200" b="0" i="1" dirty="0" smtClean="0">
                            <a:latin typeface="Cambria Math"/>
                          </a:rPr>
                          <m:t>𝑗</m:t>
                        </m:r>
                      </m:sub>
                    </m:sSub>
                  </m:oMath>
                </a14:m>
                <a:r>
                  <a:rPr lang="en-US" altLang="zh-TW" sz="3200" i="1" dirty="0"/>
                  <a:t> </a:t>
                </a:r>
                <a:r>
                  <a:rPr lang="en-US" altLang="zh-TW" sz="3200" dirty="0"/>
                  <a:t>is the instance having </a:t>
                </a:r>
                <a:r>
                  <a:rPr lang="en-US" altLang="zh-TW" sz="3200" i="1" dirty="0"/>
                  <a:t>x </a:t>
                </a:r>
                <a:r>
                  <a:rPr lang="en-US" altLang="zh-TW" sz="3200" dirty="0"/>
                  <a:t>as its nearest neighbor</a:t>
                </a:r>
                <a:endParaRPr lang="zh-TW" altLang="en-US" sz="32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467544" y="5507869"/>
                <a:ext cx="8347606" cy="624338"/>
              </a:xfrm>
              <a:prstGeom prst="rect">
                <a:avLst/>
              </a:prstGeom>
              <a:blipFill rotWithShape="1">
                <a:blip r:embed="rId3"/>
                <a:stretch>
                  <a:fillRect t="-11765" r="-804" b="-264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4856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Naïve Rank Reduction</a:t>
            </a:r>
            <a:endParaRPr lang="zh-TW" altLang="en-US" dirty="0"/>
          </a:p>
        </p:txBody>
      </p:sp>
      <p:sp>
        <p:nvSpPr>
          <p:cNvPr id="3" name="內容版面配置區 2"/>
          <p:cNvSpPr>
            <a:spLocks noGrp="1"/>
          </p:cNvSpPr>
          <p:nvPr>
            <p:ph idx="1"/>
          </p:nvPr>
        </p:nvSpPr>
        <p:spPr>
          <a:xfrm>
            <a:off x="457200" y="1600201"/>
            <a:ext cx="8229600" cy="1396752"/>
          </a:xfrm>
        </p:spPr>
        <p:txBody>
          <a:bodyPr>
            <a:normAutofit/>
          </a:bodyPr>
          <a:lstStyle/>
          <a:p>
            <a:r>
              <a:rPr lang="en-US" altLang="zh-TW" dirty="0"/>
              <a:t>If two instances have the same rank, we break the tie </a:t>
            </a:r>
            <a:r>
              <a:rPr lang="en-US" altLang="zh-TW" dirty="0" smtClean="0"/>
              <a:t>by assigning </a:t>
            </a:r>
            <a:r>
              <a:rPr lang="en-US" altLang="zh-TW" dirty="0"/>
              <a:t>different priorities to them.</a:t>
            </a:r>
          </a:p>
          <a:p>
            <a:pPr marL="0" indent="0">
              <a:buNone/>
            </a:pPr>
            <a:endParaRPr lang="en-US" altLang="zh-TW" dirty="0" smtClean="0"/>
          </a:p>
          <a:p>
            <a:endParaRPr lang="en-US" altLang="zh-TW" dirty="0"/>
          </a:p>
          <a:p>
            <a:endParaRPr lang="zh-TW" altLang="en-US" dirty="0"/>
          </a:p>
        </p:txBody>
      </p:sp>
      <p:sp>
        <p:nvSpPr>
          <p:cNvPr id="4" name="文字方塊 3"/>
          <p:cNvSpPr txBox="1"/>
          <p:nvPr/>
        </p:nvSpPr>
        <p:spPr>
          <a:xfrm>
            <a:off x="683568" y="2924944"/>
            <a:ext cx="2424638" cy="584775"/>
          </a:xfrm>
          <a:prstGeom prst="rect">
            <a:avLst/>
          </a:prstGeom>
          <a:noFill/>
        </p:spPr>
        <p:txBody>
          <a:bodyPr wrap="none" rtlCol="0">
            <a:spAutoFit/>
          </a:bodyPr>
          <a:lstStyle/>
          <a:p>
            <a:r>
              <a:rPr lang="en-US" altLang="zh-TW" sz="3200" dirty="0" smtClean="0"/>
              <a:t>Ranking step:</a:t>
            </a:r>
            <a:endParaRPr lang="zh-TW" altLang="en-US" sz="3200" dirty="0"/>
          </a:p>
        </p:txBody>
      </p:sp>
      <mc:AlternateContent xmlns:mc="http://schemas.openxmlformats.org/markup-compatibility/2006" xmlns:a14="http://schemas.microsoft.com/office/drawing/2010/main">
        <mc:Choice Requires="a14">
          <p:sp>
            <p:nvSpPr>
              <p:cNvPr id="5" name="文字方塊 4"/>
              <p:cNvSpPr txBox="1"/>
              <p:nvPr/>
            </p:nvSpPr>
            <p:spPr>
              <a:xfrm>
                <a:off x="103647" y="5229200"/>
                <a:ext cx="9004857" cy="1156342"/>
              </a:xfrm>
              <a:prstGeom prst="rect">
                <a:avLst/>
              </a:prstGeom>
              <a:noFill/>
            </p:spPr>
            <p:txBody>
              <a:bodyPr wrap="square" rtlCol="0">
                <a:spAutoFit/>
              </a:bodyPr>
              <a:lstStyle/>
              <a:p>
                <a14:m>
                  <m:oMath xmlns:m="http://schemas.openxmlformats.org/officeDocument/2006/math">
                    <m:sSub>
                      <m:sSubPr>
                        <m:ctrlPr>
                          <a:rPr lang="en-US" altLang="zh-TW" sz="3200" i="1" dirty="0" smtClean="0">
                            <a:latin typeface="Cambria Math"/>
                          </a:rPr>
                        </m:ctrlPr>
                      </m:sSubPr>
                      <m:e>
                        <m:r>
                          <a:rPr lang="en-US" altLang="zh-TW" sz="3200" b="0" i="1" dirty="0" smtClean="0">
                            <a:latin typeface="Cambria Math"/>
                          </a:rPr>
                          <m:t>𝑥</m:t>
                        </m:r>
                      </m:e>
                      <m:sub>
                        <m:r>
                          <a:rPr lang="en-US" altLang="zh-TW" sz="3200" b="0" i="1" dirty="0" smtClean="0">
                            <a:latin typeface="Cambria Math"/>
                          </a:rPr>
                          <m:t>𝑗</m:t>
                        </m:r>
                      </m:sub>
                    </m:sSub>
                  </m:oMath>
                </a14:m>
                <a:r>
                  <a:rPr lang="en-US" altLang="zh-TW" sz="3200" i="1" dirty="0"/>
                  <a:t> </a:t>
                </a:r>
                <a:r>
                  <a:rPr lang="en-US" altLang="zh-TW" sz="3200" dirty="0"/>
                  <a:t>is the instance having </a:t>
                </a:r>
                <a:r>
                  <a:rPr lang="en-US" altLang="zh-TW" sz="3200" i="1" dirty="0"/>
                  <a:t>x </a:t>
                </a:r>
                <a:r>
                  <a:rPr lang="en-US" altLang="zh-TW" sz="3200" dirty="0"/>
                  <a:t>as its nearest neighbor and</a:t>
                </a:r>
              </a:p>
              <a:p>
                <a:r>
                  <a:rPr lang="en-US" altLang="zh-TW" sz="3200" i="1" dirty="0"/>
                  <a:t>d</a:t>
                </a:r>
                <a:r>
                  <a:rPr lang="en-US" altLang="zh-TW" sz="3200" dirty="0"/>
                  <a:t>(</a:t>
                </a:r>
                <a:r>
                  <a:rPr lang="en-US" altLang="zh-TW" sz="3200" i="1" dirty="0" err="1"/>
                  <a:t>x</a:t>
                </a:r>
                <a:r>
                  <a:rPr lang="en-US" altLang="zh-TW" sz="3200" dirty="0" err="1"/>
                  <a:t>,</a:t>
                </a:r>
                <a:r>
                  <a:rPr lang="en-US" altLang="zh-TW" sz="3200" dirty="0" smtClean="0"/>
                  <a:t> </a:t>
                </a:r>
                <a14:m>
                  <m:oMath xmlns:m="http://schemas.openxmlformats.org/officeDocument/2006/math">
                    <m:sSub>
                      <m:sSubPr>
                        <m:ctrlPr>
                          <a:rPr lang="en-US" altLang="zh-TW" sz="3200" i="1" dirty="0" smtClean="0">
                            <a:latin typeface="Cambria Math"/>
                          </a:rPr>
                        </m:ctrlPr>
                      </m:sSubPr>
                      <m:e>
                        <m:r>
                          <a:rPr lang="en-US" altLang="zh-TW" sz="3200" b="0" i="1" dirty="0" smtClean="0">
                            <a:latin typeface="Cambria Math"/>
                          </a:rPr>
                          <m:t>𝑥</m:t>
                        </m:r>
                      </m:e>
                      <m:sub>
                        <m:r>
                          <a:rPr lang="en-US" altLang="zh-TW" sz="3200" b="0" i="1" dirty="0" smtClean="0">
                            <a:latin typeface="Cambria Math"/>
                          </a:rPr>
                          <m:t>𝑗</m:t>
                        </m:r>
                      </m:sub>
                    </m:sSub>
                  </m:oMath>
                </a14:m>
                <a:r>
                  <a:rPr lang="en-US" altLang="zh-TW" sz="3200" dirty="0"/>
                  <a:t>) is the distance between instances </a:t>
                </a:r>
                <a:r>
                  <a:rPr lang="en-US" altLang="zh-TW" sz="3200" i="1" dirty="0"/>
                  <a:t>x </a:t>
                </a:r>
                <a:r>
                  <a:rPr lang="en-US" altLang="zh-TW" sz="3200" dirty="0"/>
                  <a:t>and </a:t>
                </a:r>
                <a14:m>
                  <m:oMath xmlns:m="http://schemas.openxmlformats.org/officeDocument/2006/math">
                    <m:sSub>
                      <m:sSubPr>
                        <m:ctrlPr>
                          <a:rPr lang="en-US" altLang="zh-TW" sz="3200" i="1" dirty="0" smtClean="0">
                            <a:latin typeface="Cambria Math"/>
                          </a:rPr>
                        </m:ctrlPr>
                      </m:sSubPr>
                      <m:e>
                        <m:r>
                          <a:rPr lang="en-US" altLang="zh-TW" sz="3200" b="0" i="1" dirty="0" smtClean="0">
                            <a:latin typeface="Cambria Math"/>
                          </a:rPr>
                          <m:t>𝑥</m:t>
                        </m:r>
                      </m:e>
                      <m:sub>
                        <m:r>
                          <a:rPr lang="en-US" altLang="zh-TW" sz="3200" b="0" i="1" dirty="0" smtClean="0">
                            <a:latin typeface="Cambria Math"/>
                          </a:rPr>
                          <m:t>𝑗</m:t>
                        </m:r>
                      </m:sub>
                    </m:sSub>
                  </m:oMath>
                </a14:m>
                <a:r>
                  <a:rPr lang="en-US" altLang="zh-TW" sz="3200" dirty="0"/>
                  <a:t>.</a:t>
                </a:r>
                <a:endParaRPr lang="zh-TW" altLang="en-US" sz="32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03647" y="5229200"/>
                <a:ext cx="9004857" cy="1156342"/>
              </a:xfrm>
              <a:prstGeom prst="rect">
                <a:avLst/>
              </a:prstGeom>
              <a:blipFill rotWithShape="1">
                <a:blip r:embed="rId2"/>
                <a:stretch>
                  <a:fillRect l="-1693" t="-6349" r="-1490" b="-14286"/>
                </a:stretch>
              </a:blipFill>
            </p:spPr>
            <p:txBody>
              <a:bodyPr/>
              <a:lstStyle/>
              <a:p>
                <a:r>
                  <a:rPr lang="zh-TW" altLang="en-US">
                    <a:noFill/>
                  </a:rPr>
                  <a:t> </a:t>
                </a:r>
              </a:p>
            </p:txBody>
          </p:sp>
        </mc:Fallback>
      </mc:AlternateContent>
      <p:pic>
        <p:nvPicPr>
          <p:cNvPr id="2050" name="Picture 2" descr="C:\Users\yotsuki\Desktop\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9547" y="3789040"/>
            <a:ext cx="4391025" cy="1133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194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Naïve Rank Reduction</a:t>
            </a:r>
            <a:endParaRPr lang="zh-TW" altLang="en-US" dirty="0"/>
          </a:p>
        </p:txBody>
      </p:sp>
      <p:sp>
        <p:nvSpPr>
          <p:cNvPr id="4" name="文字方塊 3"/>
          <p:cNvSpPr txBox="1"/>
          <p:nvPr/>
        </p:nvSpPr>
        <p:spPr>
          <a:xfrm>
            <a:off x="251520" y="1074056"/>
            <a:ext cx="2424638" cy="584775"/>
          </a:xfrm>
          <a:prstGeom prst="rect">
            <a:avLst/>
          </a:prstGeom>
          <a:noFill/>
        </p:spPr>
        <p:txBody>
          <a:bodyPr wrap="none" rtlCol="0">
            <a:spAutoFit/>
          </a:bodyPr>
          <a:lstStyle/>
          <a:p>
            <a:r>
              <a:rPr lang="en-US" altLang="zh-TW" sz="3200" dirty="0" smtClean="0"/>
              <a:t>Ranking step:</a:t>
            </a:r>
            <a:endParaRPr lang="zh-TW" altLang="en-US" sz="3200" dirty="0"/>
          </a:p>
        </p:txBody>
      </p:sp>
      <p:pic>
        <p:nvPicPr>
          <p:cNvPr id="3074" name="Picture 2" descr="C:\Users\yotsuki\Desktop\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772816"/>
            <a:ext cx="7650055" cy="4980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033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Naïve Rank Reduction</a:t>
            </a:r>
            <a:endParaRPr lang="zh-TW" altLang="en-US" dirty="0"/>
          </a:p>
        </p:txBody>
      </p:sp>
      <p:sp>
        <p:nvSpPr>
          <p:cNvPr id="5" name="內容版面配置區 2"/>
          <p:cNvSpPr>
            <a:spLocks noGrp="1"/>
          </p:cNvSpPr>
          <p:nvPr>
            <p:ph idx="1"/>
          </p:nvPr>
        </p:nvSpPr>
        <p:spPr>
          <a:xfrm>
            <a:off x="273442" y="1074056"/>
            <a:ext cx="8691046" cy="5379280"/>
          </a:xfrm>
        </p:spPr>
        <p:txBody>
          <a:bodyPr>
            <a:normAutofit/>
          </a:bodyPr>
          <a:lstStyle/>
          <a:p>
            <a:pPr marL="0" indent="0">
              <a:buNone/>
            </a:pPr>
            <a:r>
              <a:rPr lang="en-US" altLang="zh-TW" dirty="0"/>
              <a:t> </a:t>
            </a:r>
            <a:r>
              <a:rPr lang="en-US" altLang="zh-TW" dirty="0" err="1"/>
              <a:t>Thresholding</a:t>
            </a:r>
            <a:r>
              <a:rPr lang="en-US" altLang="zh-TW" dirty="0"/>
              <a:t> step:</a:t>
            </a:r>
          </a:p>
          <a:p>
            <a:r>
              <a:rPr lang="en-US" altLang="zh-TW" dirty="0" smtClean="0"/>
              <a:t>keep </a:t>
            </a:r>
            <a:r>
              <a:rPr lang="en-US" altLang="zh-TW" dirty="0"/>
              <a:t>the </a:t>
            </a:r>
            <a:r>
              <a:rPr lang="en-US" altLang="zh-TW" i="1" dirty="0"/>
              <a:t>n </a:t>
            </a:r>
            <a:r>
              <a:rPr lang="en-US" altLang="zh-TW" dirty="0"/>
              <a:t>highest ranking instances in </a:t>
            </a:r>
            <a:r>
              <a:rPr lang="en-US" altLang="zh-TW" i="1" dirty="0"/>
              <a:t>S </a:t>
            </a:r>
            <a:r>
              <a:rPr lang="en-US" altLang="zh-TW" dirty="0"/>
              <a:t>as the training set for future classification, where </a:t>
            </a:r>
            <a:r>
              <a:rPr lang="en-US" altLang="zh-TW" i="1" dirty="0"/>
              <a:t>n </a:t>
            </a:r>
            <a:r>
              <a:rPr lang="en-US" altLang="zh-TW" dirty="0"/>
              <a:t>is the threshold given by the </a:t>
            </a:r>
            <a:r>
              <a:rPr lang="en-US" altLang="zh-TW" dirty="0" smtClean="0"/>
              <a:t>user.</a:t>
            </a:r>
            <a:endParaRPr lang="zh-TW" altLang="en-US" dirty="0"/>
          </a:p>
          <a:p>
            <a:endParaRPr lang="en-US" altLang="zh-TW" dirty="0"/>
          </a:p>
          <a:p>
            <a:pPr marL="0" indent="0">
              <a:buNone/>
            </a:pPr>
            <a:endParaRPr lang="en-US" altLang="zh-TW" dirty="0" smtClean="0"/>
          </a:p>
          <a:p>
            <a:endParaRPr lang="en-US" altLang="zh-TW" dirty="0"/>
          </a:p>
          <a:p>
            <a:endParaRPr lang="zh-TW" altLang="en-US" dirty="0"/>
          </a:p>
        </p:txBody>
      </p:sp>
    </p:spTree>
    <p:extLst>
      <p:ext uri="{BB962C8B-B14F-4D97-AF65-F5344CB8AC3E}">
        <p14:creationId xmlns:p14="http://schemas.microsoft.com/office/powerpoint/2010/main" val="311480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274638"/>
            <a:ext cx="9144000" cy="1143000"/>
          </a:xfrm>
        </p:spPr>
        <p:txBody>
          <a:bodyPr>
            <a:normAutofit fontScale="90000"/>
          </a:bodyPr>
          <a:lstStyle/>
          <a:p>
            <a:r>
              <a:rPr lang="en-US" altLang="zh-TW" dirty="0" err="1" smtClean="0"/>
              <a:t>Numerosity</a:t>
            </a:r>
            <a:r>
              <a:rPr lang="en-US" altLang="zh-TW" dirty="0" smtClean="0"/>
              <a:t> Reduction with Adaptive Warping Window</a:t>
            </a:r>
            <a:endParaRPr lang="zh-TW" altLang="en-US" dirty="0"/>
          </a:p>
        </p:txBody>
      </p:sp>
      <p:sp>
        <p:nvSpPr>
          <p:cNvPr id="3" name="內容版面配置區 2"/>
          <p:cNvSpPr>
            <a:spLocks noGrp="1"/>
          </p:cNvSpPr>
          <p:nvPr>
            <p:ph idx="1"/>
          </p:nvPr>
        </p:nvSpPr>
        <p:spPr>
          <a:xfrm>
            <a:off x="179512" y="1484784"/>
            <a:ext cx="8712968" cy="5256584"/>
          </a:xfrm>
        </p:spPr>
        <p:txBody>
          <a:bodyPr/>
          <a:lstStyle/>
          <a:p>
            <a:r>
              <a:rPr lang="en-US" altLang="zh-TW" dirty="0" smtClean="0"/>
              <a:t>Warping window constraints:</a:t>
            </a:r>
            <a:endParaRPr lang="zh-TW"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132856"/>
            <a:ext cx="7949902" cy="45740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67846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44624"/>
            <a:ext cx="9144000" cy="1143000"/>
          </a:xfrm>
        </p:spPr>
        <p:txBody>
          <a:bodyPr>
            <a:normAutofit fontScale="90000"/>
          </a:bodyPr>
          <a:lstStyle/>
          <a:p>
            <a:r>
              <a:rPr lang="en-US" altLang="zh-TW" dirty="0" err="1" smtClean="0"/>
              <a:t>Numerosity</a:t>
            </a:r>
            <a:r>
              <a:rPr lang="en-US" altLang="zh-TW" dirty="0" smtClean="0"/>
              <a:t> Reduction with Adaptive Warping Window</a:t>
            </a:r>
            <a:endParaRPr lang="zh-TW" altLang="en-US" dirty="0"/>
          </a:p>
        </p:txBody>
      </p:sp>
      <p:sp>
        <p:nvSpPr>
          <p:cNvPr id="3" name="內容版面配置區 2"/>
          <p:cNvSpPr>
            <a:spLocks noGrp="1"/>
          </p:cNvSpPr>
          <p:nvPr>
            <p:ph idx="1"/>
          </p:nvPr>
        </p:nvSpPr>
        <p:spPr>
          <a:xfrm>
            <a:off x="179512" y="1196752"/>
            <a:ext cx="8712968" cy="5256584"/>
          </a:xfrm>
        </p:spPr>
        <p:txBody>
          <a:bodyPr/>
          <a:lstStyle/>
          <a:p>
            <a:r>
              <a:rPr lang="en-US" altLang="zh-TW" dirty="0" smtClean="0"/>
              <a:t>Warping window constraints:</a:t>
            </a:r>
            <a:br>
              <a:rPr lang="en-US" altLang="zh-TW" dirty="0" smtClean="0"/>
            </a:br>
            <a:r>
              <a:rPr lang="en-US" altLang="zh-TW" dirty="0" smtClean="0"/>
              <a:t>A larger warping window constraint is not always good for accuracy.</a:t>
            </a:r>
          </a:p>
          <a:p>
            <a:endParaRPr lang="en-US" altLang="zh-TW" dirty="0" smtClean="0"/>
          </a:p>
          <a:p>
            <a:endParaRPr lang="zh-TW" altLang="en-US" dirty="0"/>
          </a:p>
        </p:txBody>
      </p:sp>
      <p:pic>
        <p:nvPicPr>
          <p:cNvPr id="5122" name="Picture 2" descr="C:\Users\yotsuki\Desktop\w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2708920"/>
            <a:ext cx="5688632" cy="3254408"/>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p:cNvSpPr txBox="1"/>
          <p:nvPr/>
        </p:nvSpPr>
        <p:spPr>
          <a:xfrm>
            <a:off x="623406" y="6093296"/>
            <a:ext cx="7876852" cy="707886"/>
          </a:xfrm>
          <a:prstGeom prst="rect">
            <a:avLst/>
          </a:prstGeom>
          <a:noFill/>
        </p:spPr>
        <p:txBody>
          <a:bodyPr wrap="square" rtlCol="0">
            <a:spAutoFit/>
          </a:bodyPr>
          <a:lstStyle/>
          <a:p>
            <a:r>
              <a:rPr lang="en-US" altLang="zh-TW" sz="2000" dirty="0"/>
              <a:t>Gun-Point Dataset using </a:t>
            </a:r>
            <a:r>
              <a:rPr lang="en-US" altLang="zh-TW" sz="2000" dirty="0" smtClean="0"/>
              <a:t>one-nearest-neighbor DTW. Each </a:t>
            </a:r>
            <a:r>
              <a:rPr lang="en-US" altLang="zh-TW" sz="2000" dirty="0"/>
              <a:t>time, half of the</a:t>
            </a:r>
          </a:p>
          <a:p>
            <a:r>
              <a:rPr lang="en-US" altLang="zh-TW" sz="2000" dirty="0"/>
              <a:t>instances are randomly removed from the dataset.</a:t>
            </a:r>
            <a:endParaRPr lang="zh-TW" altLang="en-US" sz="2000" dirty="0"/>
          </a:p>
        </p:txBody>
      </p:sp>
    </p:spTree>
    <p:extLst>
      <p:ext uri="{BB962C8B-B14F-4D97-AF65-F5344CB8AC3E}">
        <p14:creationId xmlns:p14="http://schemas.microsoft.com/office/powerpoint/2010/main" val="244050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44624"/>
            <a:ext cx="9144000" cy="864096"/>
          </a:xfrm>
        </p:spPr>
        <p:txBody>
          <a:bodyPr>
            <a:normAutofit/>
          </a:bodyPr>
          <a:lstStyle/>
          <a:p>
            <a:r>
              <a:rPr lang="en-US" altLang="zh-TW" dirty="0" smtClean="0"/>
              <a:t>AWARD algorithm</a:t>
            </a:r>
            <a:endParaRPr lang="zh-TW" altLang="en-US" dirty="0"/>
          </a:p>
        </p:txBody>
      </p:sp>
      <p:sp>
        <p:nvSpPr>
          <p:cNvPr id="3" name="內容版面配置區 2"/>
          <p:cNvSpPr>
            <a:spLocks noGrp="1"/>
          </p:cNvSpPr>
          <p:nvPr>
            <p:ph idx="1"/>
          </p:nvPr>
        </p:nvSpPr>
        <p:spPr>
          <a:xfrm>
            <a:off x="179512" y="836712"/>
            <a:ext cx="8712968" cy="5616624"/>
          </a:xfrm>
        </p:spPr>
        <p:txBody>
          <a:bodyPr/>
          <a:lstStyle/>
          <a:p>
            <a:endParaRPr lang="en-US" altLang="zh-TW" dirty="0" smtClean="0"/>
          </a:p>
          <a:p>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052736"/>
            <a:ext cx="7056784" cy="4237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文字方塊 4"/>
              <p:cNvSpPr txBox="1"/>
              <p:nvPr/>
            </p:nvSpPr>
            <p:spPr>
              <a:xfrm>
                <a:off x="323528" y="5589240"/>
                <a:ext cx="8352928" cy="1015663"/>
              </a:xfrm>
              <a:prstGeom prst="rect">
                <a:avLst/>
              </a:prstGeom>
              <a:noFill/>
            </p:spPr>
            <p:txBody>
              <a:bodyPr wrap="square" rtlCol="0">
                <a:spAutoFit/>
              </a:bodyPr>
              <a:lstStyle/>
              <a:p>
                <a:r>
                  <a:rPr lang="en-US" altLang="zh-TW" sz="2000" dirty="0" smtClean="0"/>
                  <a:t>The time complexity of AWARD is O(</a:t>
                </a:r>
                <a14:m>
                  <m:oMath xmlns:m="http://schemas.openxmlformats.org/officeDocument/2006/math">
                    <m:sSup>
                      <m:sSupPr>
                        <m:ctrlPr>
                          <a:rPr lang="en-US" altLang="zh-TW" sz="2000" i="1" dirty="0" smtClean="0">
                            <a:latin typeface="Cambria Math"/>
                          </a:rPr>
                        </m:ctrlPr>
                      </m:sSupPr>
                      <m:e>
                        <m:r>
                          <a:rPr lang="en-US" altLang="zh-TW" sz="2000" b="0" i="1" dirty="0" smtClean="0">
                            <a:latin typeface="Cambria Math"/>
                          </a:rPr>
                          <m:t>𝑛</m:t>
                        </m:r>
                      </m:e>
                      <m:sup>
                        <m:r>
                          <a:rPr lang="en-US" altLang="zh-TW" sz="2000" b="0" i="1" dirty="0" smtClean="0">
                            <a:latin typeface="Cambria Math"/>
                          </a:rPr>
                          <m:t>3</m:t>
                        </m:r>
                      </m:sup>
                    </m:sSup>
                  </m:oMath>
                </a14:m>
                <a:r>
                  <a:rPr lang="en-US" altLang="zh-TW" sz="2000" dirty="0" smtClean="0"/>
                  <a:t>) since the loop will be executed n times, and each time it calls function 1NN_DTW_LB once whose time complexity is O(</a:t>
                </a:r>
                <a14:m>
                  <m:oMath xmlns:m="http://schemas.openxmlformats.org/officeDocument/2006/math">
                    <m:sSup>
                      <m:sSupPr>
                        <m:ctrlPr>
                          <a:rPr lang="en-US" altLang="zh-TW" sz="2000" i="1" dirty="0" smtClean="0">
                            <a:latin typeface="Cambria Math"/>
                          </a:rPr>
                        </m:ctrlPr>
                      </m:sSupPr>
                      <m:e>
                        <m:r>
                          <a:rPr lang="en-US" altLang="zh-TW" sz="2000" b="0" i="1" dirty="0" smtClean="0">
                            <a:latin typeface="Cambria Math"/>
                          </a:rPr>
                          <m:t>𝑛</m:t>
                        </m:r>
                      </m:e>
                      <m:sup>
                        <m:r>
                          <a:rPr lang="en-US" altLang="zh-TW" sz="2000" b="0" i="1" dirty="0" smtClean="0">
                            <a:latin typeface="Cambria Math"/>
                          </a:rPr>
                          <m:t>2</m:t>
                        </m:r>
                      </m:sup>
                    </m:sSup>
                  </m:oMath>
                </a14:m>
                <a:r>
                  <a:rPr lang="en-US" altLang="zh-TW" sz="2000" dirty="0" smtClean="0"/>
                  <a:t>).</a:t>
                </a:r>
                <a:endParaRPr lang="zh-TW" altLang="en-US" sz="20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323528" y="5589240"/>
                <a:ext cx="8352928" cy="1015663"/>
              </a:xfrm>
              <a:prstGeom prst="rect">
                <a:avLst/>
              </a:prstGeom>
              <a:blipFill rotWithShape="1">
                <a:blip r:embed="rId3"/>
                <a:stretch>
                  <a:fillRect l="-730" t="-3012" r="-2190" b="-10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75116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0" y="44624"/>
            <a:ext cx="9144000" cy="864096"/>
          </a:xfrm>
        </p:spPr>
        <p:txBody>
          <a:bodyPr>
            <a:normAutofit/>
          </a:bodyPr>
          <a:lstStyle/>
          <a:p>
            <a:r>
              <a:rPr lang="en-US" altLang="zh-TW" dirty="0" smtClean="0"/>
              <a:t>AWARD algorithm</a:t>
            </a:r>
            <a:endParaRPr lang="zh-TW" altLang="en-US" dirty="0"/>
          </a:p>
        </p:txBody>
      </p:sp>
      <p:sp>
        <p:nvSpPr>
          <p:cNvPr id="3" name="內容版面配置區 2"/>
          <p:cNvSpPr>
            <a:spLocks noGrp="1"/>
          </p:cNvSpPr>
          <p:nvPr>
            <p:ph idx="1"/>
          </p:nvPr>
        </p:nvSpPr>
        <p:spPr>
          <a:xfrm>
            <a:off x="179512" y="836712"/>
            <a:ext cx="8712968" cy="5616624"/>
          </a:xfrm>
        </p:spPr>
        <p:txBody>
          <a:bodyPr/>
          <a:lstStyle/>
          <a:p>
            <a:endParaRPr lang="en-US" altLang="zh-TW" dirty="0" smtClean="0"/>
          </a:p>
          <a:p>
            <a:endParaRPr lang="zh-TW" altLang="en-US" dirty="0"/>
          </a:p>
        </p:txBody>
      </p:sp>
      <p:sp>
        <p:nvSpPr>
          <p:cNvPr id="5" name="文字方塊 4"/>
          <p:cNvSpPr txBox="1"/>
          <p:nvPr/>
        </p:nvSpPr>
        <p:spPr>
          <a:xfrm>
            <a:off x="452643" y="980728"/>
            <a:ext cx="8352928" cy="4031873"/>
          </a:xfrm>
          <a:prstGeom prst="rect">
            <a:avLst/>
          </a:prstGeom>
          <a:noFill/>
        </p:spPr>
        <p:txBody>
          <a:bodyPr wrap="square" rtlCol="0">
            <a:spAutoFit/>
          </a:bodyPr>
          <a:lstStyle/>
          <a:p>
            <a:r>
              <a:rPr lang="en-US" altLang="zh-TW" sz="3200" dirty="0" smtClean="0"/>
              <a:t>1NN_DTW_LB </a:t>
            </a:r>
            <a:r>
              <a:rPr lang="en-US" altLang="zh-TW" sz="3200" dirty="0"/>
              <a:t>uses dataset </a:t>
            </a:r>
            <a:r>
              <a:rPr lang="en-US" altLang="zh-TW" sz="3200" i="1" dirty="0"/>
              <a:t>S </a:t>
            </a:r>
            <a:r>
              <a:rPr lang="en-US" altLang="zh-TW" sz="3200" dirty="0"/>
              <a:t>to classify</a:t>
            </a:r>
          </a:p>
          <a:p>
            <a:r>
              <a:rPr lang="en-US" altLang="zh-TW" sz="3200" dirty="0"/>
              <a:t>dataset </a:t>
            </a:r>
            <a:r>
              <a:rPr lang="en-US" altLang="zh-TW" sz="3200" i="1" dirty="0"/>
              <a:t>T </a:t>
            </a:r>
            <a:r>
              <a:rPr lang="en-US" altLang="zh-TW" sz="3200" dirty="0"/>
              <a:t>with one-nearest-neighbor approach, and </a:t>
            </a:r>
            <a:r>
              <a:rPr lang="en-US" altLang="zh-TW" sz="3200" dirty="0" smtClean="0"/>
              <a:t>the distance </a:t>
            </a:r>
            <a:r>
              <a:rPr lang="en-US" altLang="zh-TW" sz="3200" dirty="0"/>
              <a:t>measure used is DTW with warping window size </a:t>
            </a:r>
            <a:r>
              <a:rPr lang="en-US" altLang="zh-TW" sz="3200" i="1" dirty="0"/>
              <a:t>r</a:t>
            </a:r>
            <a:r>
              <a:rPr lang="en-US" altLang="zh-TW" sz="3200" dirty="0" smtClean="0"/>
              <a:t>.</a:t>
            </a:r>
          </a:p>
          <a:p>
            <a:r>
              <a:rPr lang="en-US" altLang="zh-TW" sz="3200" dirty="0"/>
              <a:t>To accelerate classification, </a:t>
            </a:r>
            <a:r>
              <a:rPr lang="en-US" altLang="zh-TW" sz="3200" dirty="0" smtClean="0"/>
              <a:t>it </a:t>
            </a:r>
            <a:r>
              <a:rPr lang="en-US" altLang="zh-TW" sz="3200" dirty="0"/>
              <a:t>adopts the widely </a:t>
            </a:r>
            <a:r>
              <a:rPr lang="en-US" altLang="zh-TW" sz="3200" dirty="0" smtClean="0"/>
              <a:t>used </a:t>
            </a:r>
            <a:r>
              <a:rPr lang="en-US" altLang="zh-TW" sz="3200" dirty="0" err="1" smtClean="0"/>
              <a:t>LB_Keogh</a:t>
            </a:r>
            <a:r>
              <a:rPr lang="en-US" altLang="zh-TW" sz="3200" dirty="0" smtClean="0"/>
              <a:t> </a:t>
            </a:r>
            <a:r>
              <a:rPr lang="en-US" altLang="zh-TW" sz="3200" dirty="0"/>
              <a:t>lower bounding technique proposed in </a:t>
            </a:r>
            <a:r>
              <a:rPr lang="en-US" altLang="zh-TW" sz="3200" dirty="0" smtClean="0"/>
              <a:t>Keogh (2002</a:t>
            </a:r>
            <a:r>
              <a:rPr lang="en-US" altLang="zh-TW" sz="3200" dirty="0"/>
              <a:t>) to locate the nearest neighbor.</a:t>
            </a:r>
            <a:endParaRPr lang="zh-TW" altLang="en-US" sz="3200" dirty="0"/>
          </a:p>
        </p:txBody>
      </p:sp>
    </p:spTree>
    <p:extLst>
      <p:ext uri="{BB962C8B-B14F-4D97-AF65-F5344CB8AC3E}">
        <p14:creationId xmlns:p14="http://schemas.microsoft.com/office/powerpoint/2010/main" val="880413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Results</a:t>
            </a:r>
            <a:endParaRPr lang="zh-TW" altLang="en-US" dirty="0"/>
          </a:p>
        </p:txBody>
      </p:sp>
      <p:sp>
        <p:nvSpPr>
          <p:cNvPr id="3" name="內容版面配置區 2"/>
          <p:cNvSpPr>
            <a:spLocks noGrp="1"/>
          </p:cNvSpPr>
          <p:nvPr>
            <p:ph idx="1"/>
          </p:nvPr>
        </p:nvSpPr>
        <p:spPr>
          <a:xfrm>
            <a:off x="457200" y="1340768"/>
            <a:ext cx="8229600" cy="4785395"/>
          </a:xfrm>
        </p:spPr>
        <p:txBody>
          <a:bodyPr>
            <a:normAutofit/>
          </a:bodyPr>
          <a:lstStyle/>
          <a:p>
            <a:r>
              <a:rPr lang="en-US" altLang="zh-TW" dirty="0"/>
              <a:t>Two Patterns Dataset</a:t>
            </a:r>
            <a:r>
              <a:rPr lang="en-US" altLang="zh-TW" dirty="0" smtClean="0"/>
              <a:t/>
            </a:r>
            <a:br>
              <a:rPr lang="en-US" altLang="zh-TW" dirty="0" smtClean="0"/>
            </a:br>
            <a:r>
              <a:rPr lang="en-US" altLang="zh-TW" dirty="0" smtClean="0"/>
              <a:t>It contains 5,000 instances, each of length 128. There are four classes, denoting the presence of two patterns in a definite order, namely, down-down, up-down, down-up, and up-up. </a:t>
            </a:r>
          </a:p>
          <a:p>
            <a:r>
              <a:rPr lang="en-US" altLang="zh-TW" dirty="0" smtClean="0"/>
              <a:t>We randomly choose 1,000 instances as training set, and use the remaining 4,000 instances as test set.</a:t>
            </a:r>
            <a:endParaRPr lang="zh-TW" altLang="en-US" dirty="0"/>
          </a:p>
        </p:txBody>
      </p:sp>
    </p:spTree>
    <p:extLst>
      <p:ext uri="{BB962C8B-B14F-4D97-AF65-F5344CB8AC3E}">
        <p14:creationId xmlns:p14="http://schemas.microsoft.com/office/powerpoint/2010/main" val="3289663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Results</a:t>
            </a:r>
            <a:endParaRPr lang="zh-TW" altLang="en-US" dirty="0"/>
          </a:p>
        </p:txBody>
      </p:sp>
      <p:sp>
        <p:nvSpPr>
          <p:cNvPr id="3" name="內容版面配置區 2"/>
          <p:cNvSpPr>
            <a:spLocks noGrp="1"/>
          </p:cNvSpPr>
          <p:nvPr>
            <p:ph idx="1"/>
          </p:nvPr>
        </p:nvSpPr>
        <p:spPr>
          <a:xfrm>
            <a:off x="467545" y="1196752"/>
            <a:ext cx="8280920" cy="4785395"/>
          </a:xfrm>
        </p:spPr>
        <p:txBody>
          <a:bodyPr>
            <a:normAutofit/>
          </a:bodyPr>
          <a:lstStyle/>
          <a:p>
            <a:r>
              <a:rPr lang="en-US" altLang="zh-TW" i="1" dirty="0" err="1"/>
              <a:t>RankFix</a:t>
            </a:r>
            <a:r>
              <a:rPr lang="en-US" altLang="zh-TW" dirty="0"/>
              <a:t>, fixed </a:t>
            </a:r>
            <a:r>
              <a:rPr lang="en-US" altLang="zh-TW" dirty="0" smtClean="0"/>
              <a:t>window with </a:t>
            </a:r>
            <a:r>
              <a:rPr lang="en-US" altLang="zh-TW" dirty="0"/>
              <a:t>naïve rank </a:t>
            </a:r>
            <a:r>
              <a:rPr lang="en-US" altLang="zh-TW" dirty="0" smtClean="0"/>
              <a:t>reduction</a:t>
            </a:r>
            <a:r>
              <a:rPr lang="en-US" altLang="zh-TW" i="1" dirty="0" smtClean="0"/>
              <a:t> </a:t>
            </a:r>
          </a:p>
          <a:p>
            <a:r>
              <a:rPr lang="en-US" altLang="zh-TW" i="1" dirty="0" err="1" smtClean="0"/>
              <a:t>RandomFix</a:t>
            </a:r>
            <a:r>
              <a:rPr lang="en-US" altLang="zh-TW" dirty="0"/>
              <a:t>, fixed window </a:t>
            </a:r>
            <a:r>
              <a:rPr lang="en-US" altLang="zh-TW" dirty="0" smtClean="0"/>
              <a:t>with random reduction</a:t>
            </a:r>
          </a:p>
          <a:p>
            <a:r>
              <a:rPr lang="en-US" altLang="zh-TW" i="1" dirty="0" err="1" smtClean="0"/>
              <a:t>RandomEu</a:t>
            </a:r>
            <a:r>
              <a:rPr lang="en-US" altLang="zh-TW" dirty="0"/>
              <a:t>, random reduction </a:t>
            </a:r>
            <a:r>
              <a:rPr lang="en-US" altLang="zh-TW" dirty="0" smtClean="0"/>
              <a:t>using Euclidean </a:t>
            </a:r>
            <a:r>
              <a:rPr lang="en-US" altLang="zh-TW" dirty="0"/>
              <a:t>distance.</a:t>
            </a:r>
            <a:r>
              <a:rPr lang="en-US" altLang="zh-TW" dirty="0" smtClean="0"/>
              <a:t/>
            </a:r>
            <a:br>
              <a:rPr lang="en-US" altLang="zh-TW" dirty="0" smtClean="0"/>
            </a:br>
            <a:endParaRPr lang="zh-TW" altLang="en-US" dirty="0"/>
          </a:p>
        </p:txBody>
      </p:sp>
    </p:spTree>
    <p:extLst>
      <p:ext uri="{BB962C8B-B14F-4D97-AF65-F5344CB8AC3E}">
        <p14:creationId xmlns:p14="http://schemas.microsoft.com/office/powerpoint/2010/main" val="186133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4624"/>
            <a:ext cx="8229600" cy="1143000"/>
          </a:xfrm>
        </p:spPr>
        <p:txBody>
          <a:bodyPr/>
          <a:lstStyle/>
          <a:p>
            <a:r>
              <a:rPr lang="en-US" altLang="zh-TW" dirty="0" smtClean="0"/>
              <a:t>Experimental Results </a:t>
            </a:r>
            <a:endParaRPr lang="zh-TW" altLang="en-US" dirty="0"/>
          </a:p>
        </p:txBody>
      </p:sp>
      <p:sp>
        <p:nvSpPr>
          <p:cNvPr id="4" name="內容版面配置區 3"/>
          <p:cNvSpPr>
            <a:spLocks noGrp="1"/>
          </p:cNvSpPr>
          <p:nvPr>
            <p:ph idx="1"/>
          </p:nvPr>
        </p:nvSpPr>
        <p:spPr>
          <a:xfrm>
            <a:off x="457200" y="908720"/>
            <a:ext cx="8229600" cy="4525963"/>
          </a:xfrm>
        </p:spPr>
        <p:txBody>
          <a:bodyPr/>
          <a:lstStyle/>
          <a:p>
            <a:r>
              <a:rPr lang="en-US" altLang="zh-TW" i="1" dirty="0" err="1"/>
              <a:t>RankFix</a:t>
            </a:r>
            <a:r>
              <a:rPr lang="en-US" altLang="zh-TW" i="1" dirty="0"/>
              <a:t> </a:t>
            </a:r>
            <a:r>
              <a:rPr lang="en-US" altLang="zh-TW" dirty="0" smtClean="0"/>
              <a:t>and </a:t>
            </a:r>
            <a:r>
              <a:rPr lang="en-US" altLang="zh-TW" i="1" dirty="0" err="1" smtClean="0"/>
              <a:t>RandomFix</a:t>
            </a:r>
            <a:r>
              <a:rPr lang="en-US" altLang="zh-TW" i="1" dirty="0" smtClean="0"/>
              <a:t> </a:t>
            </a:r>
            <a:r>
              <a:rPr lang="en-US" altLang="zh-TW" dirty="0"/>
              <a:t>always use warping window size of 4%.</a:t>
            </a:r>
            <a:endParaRPr lang="zh-TW" altLang="en-US" dirty="0"/>
          </a:p>
        </p:txBody>
      </p:sp>
      <p:pic>
        <p:nvPicPr>
          <p:cNvPr id="7170" name="Picture 2" descr="C:\Users\yotsuki\Desktop\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667" y="1844824"/>
            <a:ext cx="7200800" cy="4717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1754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71400"/>
            <a:ext cx="8229600" cy="1143000"/>
          </a:xfrm>
        </p:spPr>
        <p:txBody>
          <a:bodyPr/>
          <a:lstStyle/>
          <a:p>
            <a:r>
              <a:rPr lang="en-US" altLang="zh-TW" dirty="0" smtClean="0"/>
              <a:t>Experimental Results </a:t>
            </a:r>
            <a:endParaRPr lang="zh-TW" altLang="en-US" dirty="0"/>
          </a:p>
        </p:txBody>
      </p:sp>
      <p:sp>
        <p:nvSpPr>
          <p:cNvPr id="4" name="內容版面配置區 3"/>
          <p:cNvSpPr>
            <a:spLocks noGrp="1"/>
          </p:cNvSpPr>
          <p:nvPr>
            <p:ph idx="1"/>
          </p:nvPr>
        </p:nvSpPr>
        <p:spPr>
          <a:xfrm>
            <a:off x="457200" y="692696"/>
            <a:ext cx="8229600" cy="4525963"/>
          </a:xfrm>
        </p:spPr>
        <p:txBody>
          <a:bodyPr>
            <a:normAutofit/>
          </a:bodyPr>
          <a:lstStyle/>
          <a:p>
            <a:r>
              <a:rPr lang="en-US" altLang="zh-TW" sz="2800" dirty="0" smtClean="0"/>
              <a:t>Compare </a:t>
            </a:r>
            <a:r>
              <a:rPr lang="en-US" altLang="zh-TW" sz="2800" i="1" dirty="0" smtClean="0"/>
              <a:t>AWARD </a:t>
            </a:r>
            <a:r>
              <a:rPr lang="en-US" altLang="zh-TW" sz="2800" dirty="0" smtClean="0"/>
              <a:t>approach </a:t>
            </a:r>
            <a:r>
              <a:rPr lang="en-US" altLang="zh-TW" sz="2800" dirty="0"/>
              <a:t>to the most referenced approaches in </a:t>
            </a:r>
            <a:r>
              <a:rPr lang="en-US" altLang="zh-TW" sz="2800" dirty="0" smtClean="0"/>
              <a:t>the </a:t>
            </a:r>
            <a:r>
              <a:rPr lang="en-US" altLang="zh-TW" sz="2800" dirty="0" err="1" smtClean="0"/>
              <a:t>numerosity</a:t>
            </a:r>
            <a:r>
              <a:rPr lang="en-US" altLang="zh-TW" sz="2800" dirty="0" smtClean="0"/>
              <a:t> </a:t>
            </a:r>
            <a:r>
              <a:rPr lang="en-US" altLang="zh-TW" sz="2800" dirty="0"/>
              <a:t>reduction literature, namely </a:t>
            </a:r>
            <a:r>
              <a:rPr lang="en-US" altLang="zh-TW" sz="2800" i="1" dirty="0"/>
              <a:t>RT1</a:t>
            </a:r>
            <a:r>
              <a:rPr lang="en-US" altLang="zh-TW" sz="2800" dirty="0"/>
              <a:t>, </a:t>
            </a:r>
            <a:r>
              <a:rPr lang="en-US" altLang="zh-TW" sz="2800" i="1" dirty="0"/>
              <a:t>RT2</a:t>
            </a:r>
            <a:r>
              <a:rPr lang="en-US" altLang="zh-TW" sz="2800" dirty="0"/>
              <a:t>, and </a:t>
            </a:r>
            <a:r>
              <a:rPr lang="en-US" altLang="zh-TW" sz="2800" i="1" dirty="0" smtClean="0"/>
              <a:t>RT3 </a:t>
            </a:r>
            <a:r>
              <a:rPr lang="en-US" altLang="zh-TW" sz="2800" dirty="0" smtClean="0"/>
              <a:t>(Wilson </a:t>
            </a:r>
            <a:r>
              <a:rPr lang="en-US" altLang="zh-TW" sz="2800" dirty="0"/>
              <a:t>&amp; Martinez, 1997).</a:t>
            </a:r>
            <a:endParaRPr lang="zh-TW" altLang="en-US" sz="2800" dirty="0"/>
          </a:p>
        </p:txBody>
      </p:sp>
      <p:pic>
        <p:nvPicPr>
          <p:cNvPr id="8196" name="Picture 4" descr="C:\Users\yotsuki\Desktop\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060847"/>
            <a:ext cx="7128792" cy="4744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71801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863</TotalTime>
  <Words>552</Words>
  <Application>Microsoft Office PowerPoint</Application>
  <PresentationFormat>如螢幕大小 (4:3)</PresentationFormat>
  <Paragraphs>49</Paragraphs>
  <Slides>14</Slides>
  <Notes>0</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Fast Time Series Classification Using Numerosity Reduction</vt:lpstr>
      <vt:lpstr>Abstract</vt:lpstr>
      <vt:lpstr>Naïve Rank Reduction</vt:lpstr>
      <vt:lpstr>Naïve Rank Reduction</vt:lpstr>
      <vt:lpstr>Naïve Rank Reduction</vt:lpstr>
      <vt:lpstr>Naïve Rank Reduction</vt:lpstr>
      <vt:lpstr>Numerosity Reduction with Adaptive Warping Window</vt:lpstr>
      <vt:lpstr>Numerosity Reduction with Adaptive Warping Window</vt:lpstr>
      <vt:lpstr>AWARD algorithm</vt:lpstr>
      <vt:lpstr>AWARD algorithm</vt:lpstr>
      <vt:lpstr>Experimental Results</vt:lpstr>
      <vt:lpstr>Experimental Results</vt:lpstr>
      <vt:lpstr>Experimental Results </vt:lpstr>
      <vt:lpstr>Experimental Results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Time Series Classification Using Numerosity Reduction</dc:title>
  <dc:creator>yotsuki</dc:creator>
  <cp:lastModifiedBy>yotsuki</cp:lastModifiedBy>
  <cp:revision>28</cp:revision>
  <dcterms:created xsi:type="dcterms:W3CDTF">2014-11-24T19:00:24Z</dcterms:created>
  <dcterms:modified xsi:type="dcterms:W3CDTF">2014-11-25T09:25:17Z</dcterms:modified>
</cp:coreProperties>
</file>