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19"/>
  </p:notesMasterIdLst>
  <p:sldIdLst>
    <p:sldId id="271" r:id="rId2"/>
    <p:sldId id="269" r:id="rId3"/>
    <p:sldId id="272" r:id="rId4"/>
    <p:sldId id="275" r:id="rId5"/>
    <p:sldId id="276" r:id="rId6"/>
    <p:sldId id="273" r:id="rId7"/>
    <p:sldId id="280" r:id="rId8"/>
    <p:sldId id="277" r:id="rId9"/>
    <p:sldId id="274" r:id="rId10"/>
    <p:sldId id="278" r:id="rId11"/>
    <p:sldId id="279" r:id="rId12"/>
    <p:sldId id="281" r:id="rId13"/>
    <p:sldId id="285" r:id="rId14"/>
    <p:sldId id="282" r:id="rId15"/>
    <p:sldId id="284" r:id="rId16"/>
    <p:sldId id="286" r:id="rId17"/>
    <p:sldId id="266"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44" autoAdjust="0"/>
  </p:normalViewPr>
  <p:slideViewPr>
    <p:cSldViewPr>
      <p:cViewPr>
        <p:scale>
          <a:sx n="80" d="100"/>
          <a:sy n="80" d="100"/>
        </p:scale>
        <p:origin x="-1878" y="-61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550DA3-8C64-4E5B-BDA5-39D7F6F297B3}" type="datetimeFigureOut">
              <a:rPr lang="zh-TW" altLang="en-US" smtClean="0"/>
              <a:t>2014/1/14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C8B9CE-08CF-4B6F-9C3E-B7375A4C7386}" type="slidenum">
              <a:rPr lang="zh-TW" altLang="en-US" smtClean="0"/>
              <a:t>‹#›</a:t>
            </a:fld>
            <a:endParaRPr lang="zh-TW" altLang="en-US"/>
          </a:p>
        </p:txBody>
      </p:sp>
    </p:spTree>
    <p:extLst>
      <p:ext uri="{BB962C8B-B14F-4D97-AF65-F5344CB8AC3E}">
        <p14:creationId xmlns:p14="http://schemas.microsoft.com/office/powerpoint/2010/main" val="3331243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18C8B9CE-08CF-4B6F-9C3E-B7375A4C7386}" type="slidenum">
              <a:rPr lang="zh-TW" altLang="en-US" smtClean="0"/>
              <a:t>1</a:t>
            </a:fld>
            <a:endParaRPr lang="zh-TW" altLang="en-US"/>
          </a:p>
        </p:txBody>
      </p:sp>
    </p:spTree>
    <p:extLst>
      <p:ext uri="{BB962C8B-B14F-4D97-AF65-F5344CB8AC3E}">
        <p14:creationId xmlns:p14="http://schemas.microsoft.com/office/powerpoint/2010/main" val="1522482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8" name="標題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zh-TW" altLang="en-US" smtClean="0"/>
              <a:t>按一下以編輯母片標題樣式</a:t>
            </a:r>
            <a:endParaRPr kumimoji="0" lang="en-US"/>
          </a:p>
        </p:txBody>
      </p:sp>
      <p:sp>
        <p:nvSpPr>
          <p:cNvPr id="9" name="副標題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a:xfrm>
            <a:off x="6400800" y="6355080"/>
            <a:ext cx="2286000" cy="365760"/>
          </a:xfrm>
        </p:spPr>
        <p:txBody>
          <a:bodyPr/>
          <a:lstStyle>
            <a:lvl1pPr>
              <a:defRPr sz="1400"/>
            </a:lvl1pPr>
          </a:lstStyle>
          <a:p>
            <a:fld id="{74349E23-CAB4-4AC9-B1D3-C404B2A8D45F}" type="datetime1">
              <a:rPr lang="zh-TW" altLang="en-US" smtClean="0"/>
              <a:t>2014/1/14</a:t>
            </a:fld>
            <a:endParaRPr lang="zh-TW" altLang="en-US"/>
          </a:p>
        </p:txBody>
      </p:sp>
      <p:sp>
        <p:nvSpPr>
          <p:cNvPr id="17" name="頁尾版面配置區 16"/>
          <p:cNvSpPr>
            <a:spLocks noGrp="1"/>
          </p:cNvSpPr>
          <p:nvPr>
            <p:ph type="ftr" sz="quarter" idx="11"/>
          </p:nvPr>
        </p:nvSpPr>
        <p:spPr>
          <a:xfrm>
            <a:off x="2898648" y="6355080"/>
            <a:ext cx="3474720" cy="365760"/>
          </a:xfrm>
        </p:spPr>
        <p:txBody>
          <a:bodyPr/>
          <a:lstStyle/>
          <a:p>
            <a:endParaRPr lang="zh-TW" altLang="en-US"/>
          </a:p>
        </p:txBody>
      </p:sp>
      <p:sp>
        <p:nvSpPr>
          <p:cNvPr id="29" name="投影片編號版面配置區 28"/>
          <p:cNvSpPr>
            <a:spLocks noGrp="1"/>
          </p:cNvSpPr>
          <p:nvPr>
            <p:ph type="sldNum" sz="quarter" idx="12"/>
          </p:nvPr>
        </p:nvSpPr>
        <p:spPr>
          <a:xfrm>
            <a:off x="1216152" y="6355080"/>
            <a:ext cx="1219200" cy="365760"/>
          </a:xfrm>
        </p:spPr>
        <p:txBody>
          <a:bodyPr/>
          <a:lstStyle/>
          <a:p>
            <a:fld id="{73DA0BB7-265A-403C-9275-D587AB510EDC}" type="slidenum">
              <a:rPr lang="zh-TW" altLang="en-US" smtClean="0"/>
              <a:t>‹#›</a:t>
            </a:fld>
            <a:endParaRPr lang="zh-TW" altLang="en-US"/>
          </a:p>
        </p:txBody>
      </p:sp>
      <p:sp>
        <p:nvSpPr>
          <p:cNvPr id="21" name="矩形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4" name="日期版面配置區 3"/>
          <p:cNvSpPr>
            <a:spLocks noGrp="1"/>
          </p:cNvSpPr>
          <p:nvPr>
            <p:ph type="dt" sz="half" idx="10"/>
          </p:nvPr>
        </p:nvSpPr>
        <p:spPr/>
        <p:txBody>
          <a:bodyPr/>
          <a:lstStyle/>
          <a:p>
            <a:fld id="{E4271DFF-2CB7-4FC6-91FC-EBD2965FCB4C}" type="datetime1">
              <a:rPr lang="zh-TW" altLang="en-US" smtClean="0"/>
              <a:t>2014/1/14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
        <p:nvSpPr>
          <p:cNvPr id="8" name="內容版面配置區 7"/>
          <p:cNvSpPr>
            <a:spLocks noGrp="1"/>
          </p:cNvSpPr>
          <p:nvPr>
            <p:ph sz="quarter" idx="1"/>
          </p:nvPr>
        </p:nvSpPr>
        <p:spPr>
          <a:xfrm>
            <a:off x="457200" y="1219200"/>
            <a:ext cx="8229600"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6400800" y="6355080"/>
            <a:ext cx="2286000" cy="365760"/>
          </a:xfrm>
        </p:spPr>
        <p:txBody>
          <a:bodyPr/>
          <a:lstStyle/>
          <a:p>
            <a:fld id="{B14E302B-8F0F-4B7D-A730-DCE5C2323F11}" type="datetime1">
              <a:rPr lang="zh-TW" altLang="en-US" smtClean="0"/>
              <a:t>2014/1/14</a:t>
            </a:fld>
            <a:endParaRPr lang="zh-TW" altLang="en-US"/>
          </a:p>
        </p:txBody>
      </p:sp>
      <p:sp>
        <p:nvSpPr>
          <p:cNvPr id="5" name="頁尾版面配置區 4"/>
          <p:cNvSpPr>
            <a:spLocks noGrp="1"/>
          </p:cNvSpPr>
          <p:nvPr>
            <p:ph type="ftr" sz="quarter" idx="11"/>
          </p:nvPr>
        </p:nvSpPr>
        <p:spPr>
          <a:xfrm>
            <a:off x="2898648" y="6355080"/>
            <a:ext cx="3474720" cy="365760"/>
          </a:xfrm>
        </p:spPr>
        <p:txBody>
          <a:bodyPr/>
          <a:lstStyle/>
          <a:p>
            <a:endParaRPr lang="zh-TW" altLang="en-US"/>
          </a:p>
        </p:txBody>
      </p:sp>
      <p:sp>
        <p:nvSpPr>
          <p:cNvPr id="6" name="投影片編號版面配置區 5"/>
          <p:cNvSpPr>
            <a:spLocks noGrp="1"/>
          </p:cNvSpPr>
          <p:nvPr>
            <p:ph type="sldNum" sz="quarter" idx="12"/>
          </p:nvPr>
        </p:nvSpPr>
        <p:spPr>
          <a:xfrm>
            <a:off x="1069848" y="6355080"/>
            <a:ext cx="1520952" cy="365760"/>
          </a:xfrm>
        </p:spPr>
        <p:txBody>
          <a:bodyPr/>
          <a:lstStyle/>
          <a:p>
            <a:fld id="{73DA0BB7-265A-403C-9275-D587AB510EDC}" type="slidenum">
              <a:rPr lang="zh-TW" altLang="en-US" smtClean="0"/>
              <a:t>‹#›</a:t>
            </a:fld>
            <a:endParaRPr lang="zh-TW"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fld id="{06930131-A4A2-4A69-B3F2-90ED77FF9466}" type="datetime1">
              <a:rPr lang="zh-TW" altLang="en-US" smtClean="0"/>
              <a:t>2014/1/14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
        <p:nvSpPr>
          <p:cNvPr id="9" name="內容版面配置區 8"/>
          <p:cNvSpPr>
            <a:spLocks noGrp="1"/>
          </p:cNvSpPr>
          <p:nvPr>
            <p:ph sz="quarter" idx="1"/>
          </p:nvPr>
        </p:nvSpPr>
        <p:spPr>
          <a:xfrm>
            <a:off x="457200" y="1219200"/>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4632198" y="1216152"/>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nchor="ctr"/>
          <a:lstStyle>
            <a:lvl1pPr>
              <a:defRPr/>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7" name="日期版面配置區 6"/>
          <p:cNvSpPr>
            <a:spLocks noGrp="1"/>
          </p:cNvSpPr>
          <p:nvPr>
            <p:ph type="dt" sz="half" idx="10"/>
          </p:nvPr>
        </p:nvSpPr>
        <p:spPr/>
        <p:txBody>
          <a:bodyPr/>
          <a:lstStyle/>
          <a:p>
            <a:fld id="{45326B7E-71A5-4D99-9CC4-40B53F247A97}" type="datetime1">
              <a:rPr lang="zh-TW" altLang="en-US" smtClean="0"/>
              <a:t>2014/1/14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t>‹#›</a:t>
            </a:fld>
            <a:endParaRPr lang="zh-TW" altLang="en-US"/>
          </a:p>
        </p:txBody>
      </p:sp>
      <p:sp>
        <p:nvSpPr>
          <p:cNvPr id="11" name="內容版面配置區 10"/>
          <p:cNvSpPr>
            <a:spLocks noGrp="1"/>
          </p:cNvSpPr>
          <p:nvPr>
            <p:ph sz="quarter" idx="2"/>
          </p:nvPr>
        </p:nvSpPr>
        <p:spPr>
          <a:xfrm>
            <a:off x="457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quarter" idx="4"/>
          </p:nvPr>
        </p:nvSpPr>
        <p:spPr>
          <a:xfrm>
            <a:off x="4648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p>
            <a:fld id="{86ECE7F3-7DB6-4F10-B662-1BB4DA84A4BE}" type="datetime1">
              <a:rPr lang="zh-TW" altLang="en-US" smtClean="0"/>
              <a:t>2014/1/14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a:t>
            </a:fld>
            <a:endParaRPr lang="zh-TW"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6AB3B8DB-8BC9-41EC-B5F5-E5E6ABA62F7F}" type="datetime1">
              <a:rPr lang="zh-TW" altLang="en-US" smtClean="0"/>
              <a:t>2014/1/14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a:t>
            </a:fld>
            <a:endParaRPr lang="zh-TW" altLang="en-US"/>
          </a:p>
        </p:txBody>
      </p:sp>
      <p:sp>
        <p:nvSpPr>
          <p:cNvPr id="5" name="直線接點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fld id="{6635F484-157B-4B35-94F1-5570E486B3AD}" type="datetime1">
              <a:rPr lang="zh-TW" altLang="en-US" smtClean="0"/>
              <a:t>2014/1/14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線接點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內容版面配置區 11"/>
          <p:cNvSpPr>
            <a:spLocks noGrp="1"/>
          </p:cNvSpPr>
          <p:nvPr>
            <p:ph sz="quarter" idx="1"/>
          </p:nvPr>
        </p:nvSpPr>
        <p:spPr>
          <a:xfrm>
            <a:off x="304800" y="304800"/>
            <a:ext cx="5715000" cy="5715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TW" altLang="en-US" smtClean="0"/>
              <a:t>按一下以編輯母片標題樣式</a:t>
            </a:r>
            <a:endParaRPr kumimoji="0" lang="en-US"/>
          </a:p>
        </p:txBody>
      </p:sp>
      <p:sp>
        <p:nvSpPr>
          <p:cNvPr id="3" name="圖片版面配置區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TW" altLang="en-US" smtClean="0"/>
              <a:t>按一下圖示以新增圖片</a:t>
            </a:r>
            <a:endParaRPr kumimoji="0" lang="en-US" dirty="0"/>
          </a:p>
        </p:txBody>
      </p:sp>
      <p:sp>
        <p:nvSpPr>
          <p:cNvPr id="4" name="文字版面配置區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fld id="{33A73F45-D604-43A9-A433-05546504FCCF}" type="datetime1">
              <a:rPr lang="zh-TW" altLang="en-US" smtClean="0"/>
              <a:t>2014/1/14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fld id="{1AFEE615-6024-424D-A3D3-43BCAFFE1C3E}" type="datetime1">
              <a:rPr lang="zh-TW" altLang="en-US" smtClean="0"/>
              <a:t>2014/1/14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fld id="{A33665A4-4175-4F2F-9EB2-09251561B7EC}" type="datetime1">
              <a:rPr lang="zh-TW" altLang="en-US" smtClean="0"/>
              <a:t>2014/1/14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
        <p:nvSpPr>
          <p:cNvPr id="7" name="直線接點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457200" y="152400"/>
            <a:ext cx="8229600" cy="990600"/>
          </a:xfrm>
          <a:prstGeom prst="rect">
            <a:avLst/>
          </a:prstGeom>
        </p:spPr>
        <p:txBody>
          <a:bodyPr vert="horz" anchor="b" anchorCtr="0">
            <a:normAutofit/>
          </a:bodyPr>
          <a:lstStyle/>
          <a:p>
            <a:r>
              <a:rPr kumimoji="0" lang="zh-TW" altLang="en-US" smtClean="0"/>
              <a:t>按一下以編輯母片標題樣式</a:t>
            </a:r>
            <a:endParaRPr kumimoji="0" lang="en-US"/>
          </a:p>
        </p:txBody>
      </p:sp>
      <p:sp>
        <p:nvSpPr>
          <p:cNvPr id="13" name="文字版面配置區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TW" altLang="en-US" smtClean="0"/>
              <a:t>按一下以編輯母片文字樣式</a:t>
            </a:r>
          </a:p>
          <a:p>
            <a:pPr lvl="1" eaLnBrk="1" latinLnBrk="0" hangingPunct="1"/>
            <a:r>
              <a:rPr kumimoji="0" lang="zh-TW" altLang="en-US" smtClean="0"/>
              <a:t>第二層</a:t>
            </a:r>
          </a:p>
          <a:p>
            <a:pPr lvl="2" eaLnBrk="1" latinLnBrk="0" hangingPunct="1"/>
            <a:r>
              <a:rPr kumimoji="0" lang="zh-TW" altLang="en-US" smtClean="0"/>
              <a:t>第三層</a:t>
            </a:r>
          </a:p>
          <a:p>
            <a:pPr lvl="3" eaLnBrk="1" latinLnBrk="0" hangingPunct="1"/>
            <a:r>
              <a:rPr kumimoji="0" lang="zh-TW" altLang="en-US" smtClean="0"/>
              <a:t>第四層</a:t>
            </a:r>
          </a:p>
          <a:p>
            <a:pPr lvl="4" eaLnBrk="1" latinLnBrk="0" hangingPunct="1"/>
            <a:r>
              <a:rPr kumimoji="0" lang="zh-TW" altLang="en-US" smtClean="0"/>
              <a:t>第五層</a:t>
            </a:r>
            <a:endParaRPr kumimoji="0" lang="en-US"/>
          </a:p>
        </p:txBody>
      </p:sp>
      <p:sp>
        <p:nvSpPr>
          <p:cNvPr id="14" name="日期版面配置區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B14E302B-8F0F-4B7D-A730-DCE5C2323F11}" type="datetime1">
              <a:rPr lang="zh-TW" altLang="en-US" smtClean="0"/>
              <a:t>2014/1/14</a:t>
            </a:fld>
            <a:endParaRPr lang="zh-TW" altLang="en-US"/>
          </a:p>
        </p:txBody>
      </p:sp>
      <p:sp>
        <p:nvSpPr>
          <p:cNvPr id="3" name="頁尾版面配置區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73DA0BB7-265A-403C-9275-D587AB510EDC}" type="slidenum">
              <a:rPr lang="zh-TW" altLang="en-US" smtClean="0"/>
              <a:t>‹#›</a:t>
            </a:fld>
            <a:endParaRPr lang="zh-TW" altLang="en-US"/>
          </a:p>
        </p:txBody>
      </p:sp>
      <p:sp>
        <p:nvSpPr>
          <p:cNvPr id="28" name="直線接點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線接點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t>Efficient String </a:t>
            </a:r>
            <a:r>
              <a:rPr lang="en-US" altLang="zh-TW" dirty="0" smtClean="0"/>
              <a:t>Matching</a:t>
            </a:r>
            <a:r>
              <a:rPr lang="en-US" altLang="zh-TW" smtClean="0"/>
              <a:t>: </a:t>
            </a:r>
            <a:r>
              <a:rPr lang="en-US" altLang="zh-TW" smtClean="0"/>
              <a:t>An </a:t>
            </a:r>
            <a:r>
              <a:rPr lang="en-US" altLang="zh-TW" dirty="0"/>
              <a:t>Aid to Bibliographic Search</a:t>
            </a:r>
            <a:endParaRPr lang="zh-TW" altLang="en-US" dirty="0"/>
          </a:p>
        </p:txBody>
      </p:sp>
      <p:sp>
        <p:nvSpPr>
          <p:cNvPr id="3" name="副標題 2"/>
          <p:cNvSpPr>
            <a:spLocks noGrp="1"/>
          </p:cNvSpPr>
          <p:nvPr>
            <p:ph type="subTitle" idx="1"/>
          </p:nvPr>
        </p:nvSpPr>
        <p:spPr/>
        <p:txBody>
          <a:bodyPr>
            <a:noAutofit/>
          </a:bodyPr>
          <a:lstStyle/>
          <a:p>
            <a:r>
              <a:rPr lang="de-DE" altLang="zh-TW" sz="1200" dirty="0">
                <a:solidFill>
                  <a:schemeClr val="tx1">
                    <a:lumMod val="65000"/>
                    <a:lumOff val="35000"/>
                  </a:schemeClr>
                </a:solidFill>
                <a:ea typeface="微軟正黑體" pitchFamily="34" charset="-120"/>
                <a:cs typeface="Times New Roman" pitchFamily="18" charset="0"/>
              </a:rPr>
              <a:t>Alfred V. Aho, Margaret J. </a:t>
            </a:r>
            <a:r>
              <a:rPr lang="de-DE" altLang="zh-TW" sz="1200" dirty="0" smtClean="0">
                <a:solidFill>
                  <a:schemeClr val="tx1">
                    <a:lumMod val="65000"/>
                    <a:lumOff val="35000"/>
                  </a:schemeClr>
                </a:solidFill>
                <a:ea typeface="微軟正黑體" pitchFamily="34" charset="-120"/>
                <a:cs typeface="Times New Roman" pitchFamily="18" charset="0"/>
              </a:rPr>
              <a:t>Corasick</a:t>
            </a:r>
            <a:r>
              <a:rPr lang="en-US" altLang="zh-TW" sz="1200" dirty="0" smtClean="0">
                <a:solidFill>
                  <a:schemeClr val="tx1">
                    <a:lumMod val="65000"/>
                    <a:lumOff val="35000"/>
                  </a:schemeClr>
                </a:solidFill>
                <a:ea typeface="微軟正黑體" pitchFamily="34" charset="-120"/>
                <a:cs typeface="Times New Roman" pitchFamily="18" charset="0"/>
              </a:rPr>
              <a:t/>
            </a:r>
            <a:br>
              <a:rPr lang="en-US" altLang="zh-TW" sz="1200" dirty="0" smtClean="0">
                <a:solidFill>
                  <a:schemeClr val="tx1">
                    <a:lumMod val="65000"/>
                    <a:lumOff val="35000"/>
                  </a:schemeClr>
                </a:solidFill>
                <a:ea typeface="微軟正黑體" pitchFamily="34" charset="-120"/>
                <a:cs typeface="Times New Roman" pitchFamily="18" charset="0"/>
              </a:rPr>
            </a:br>
            <a:r>
              <a:rPr lang="en-US" altLang="zh-TW" sz="1200" dirty="0"/>
              <a:t>Communications </a:t>
            </a:r>
            <a:r>
              <a:rPr lang="en-US" altLang="zh-TW" sz="1200" dirty="0" smtClean="0"/>
              <a:t> </a:t>
            </a:r>
            <a:r>
              <a:rPr lang="en-US" altLang="zh-TW" sz="1200" dirty="0" smtClean="0">
                <a:solidFill>
                  <a:schemeClr val="tx1">
                    <a:lumMod val="65000"/>
                    <a:lumOff val="35000"/>
                  </a:schemeClr>
                </a:solidFill>
              </a:rPr>
              <a:t>of the Association for Computing Machinery, vol. 18, issue 6, p.p. 333-340, June 1975</a:t>
            </a:r>
            <a:endParaRPr lang="en-US" altLang="zh-TW" sz="1200" dirty="0" smtClean="0">
              <a:solidFill>
                <a:schemeClr val="tx1">
                  <a:lumMod val="65000"/>
                  <a:lumOff val="35000"/>
                </a:schemeClr>
              </a:solidFill>
              <a:cs typeface="Times New Roman" pitchFamily="18" charset="0"/>
            </a:endParaRPr>
          </a:p>
        </p:txBody>
      </p:sp>
      <p:sp>
        <p:nvSpPr>
          <p:cNvPr id="4" name="矩形 3"/>
          <p:cNvSpPr/>
          <p:nvPr/>
        </p:nvSpPr>
        <p:spPr>
          <a:xfrm>
            <a:off x="5148064" y="5805264"/>
            <a:ext cx="3078088" cy="523220"/>
          </a:xfrm>
          <a:prstGeom prst="rect">
            <a:avLst/>
          </a:prstGeom>
        </p:spPr>
        <p:txBody>
          <a:bodyPr wrap="square">
            <a:spAutoFit/>
          </a:bodyPr>
          <a:lstStyle/>
          <a:p>
            <a:pPr algn="r"/>
            <a:r>
              <a:rPr lang="en-US" altLang="zh-TW" sz="1400" dirty="0">
                <a:solidFill>
                  <a:schemeClr val="tx1">
                    <a:lumMod val="65000"/>
                    <a:lumOff val="35000"/>
                  </a:schemeClr>
                </a:solidFill>
                <a:latin typeface="+mj-lt"/>
                <a:cs typeface="Times New Roman" pitchFamily="18" charset="0"/>
              </a:rPr>
              <a:t>Presenter: Chun-</a:t>
            </a:r>
            <a:r>
              <a:rPr lang="en-US" altLang="zh-TW" sz="1400" dirty="0" err="1">
                <a:solidFill>
                  <a:schemeClr val="tx1">
                    <a:lumMod val="65000"/>
                    <a:lumOff val="35000"/>
                  </a:schemeClr>
                </a:solidFill>
                <a:latin typeface="+mj-lt"/>
                <a:cs typeface="Times New Roman" pitchFamily="18" charset="0"/>
              </a:rPr>
              <a:t>Chieh</a:t>
            </a:r>
            <a:r>
              <a:rPr lang="en-US" altLang="zh-TW" sz="1400" dirty="0">
                <a:solidFill>
                  <a:schemeClr val="tx1">
                    <a:lumMod val="65000"/>
                    <a:lumOff val="35000"/>
                  </a:schemeClr>
                </a:solidFill>
                <a:latin typeface="+mj-lt"/>
                <a:cs typeface="Times New Roman" pitchFamily="18" charset="0"/>
              </a:rPr>
              <a:t> Tai</a:t>
            </a:r>
          </a:p>
          <a:p>
            <a:pPr algn="r"/>
            <a:r>
              <a:rPr lang="en-US" altLang="zh-TW" sz="1400" dirty="0">
                <a:solidFill>
                  <a:schemeClr val="tx1">
                    <a:lumMod val="65000"/>
                    <a:lumOff val="35000"/>
                  </a:schemeClr>
                </a:solidFill>
                <a:latin typeface="+mj-lt"/>
                <a:cs typeface="Times New Roman" pitchFamily="18" charset="0"/>
              </a:rPr>
              <a:t>Date: </a:t>
            </a:r>
            <a:r>
              <a:rPr lang="en-US" altLang="zh-TW" sz="1400" dirty="0" smtClean="0">
                <a:solidFill>
                  <a:schemeClr val="tx1">
                    <a:lumMod val="65000"/>
                    <a:lumOff val="35000"/>
                  </a:schemeClr>
                </a:solidFill>
                <a:latin typeface="+mj-lt"/>
                <a:cs typeface="Times New Roman" pitchFamily="18" charset="0"/>
              </a:rPr>
              <a:t>January </a:t>
            </a:r>
            <a:r>
              <a:rPr lang="en-US" altLang="zh-TW" sz="1400" dirty="0" smtClean="0">
                <a:solidFill>
                  <a:schemeClr val="tx1">
                    <a:lumMod val="65000"/>
                    <a:lumOff val="35000"/>
                  </a:schemeClr>
                </a:solidFill>
                <a:latin typeface="+mj-lt"/>
                <a:cs typeface="Times New Roman" pitchFamily="18" charset="0"/>
              </a:rPr>
              <a:t>14, </a:t>
            </a:r>
            <a:r>
              <a:rPr lang="en-US" altLang="zh-TW" sz="1400" dirty="0" smtClean="0">
                <a:solidFill>
                  <a:schemeClr val="tx1">
                    <a:lumMod val="65000"/>
                    <a:lumOff val="35000"/>
                  </a:schemeClr>
                </a:solidFill>
                <a:latin typeface="+mj-lt"/>
                <a:cs typeface="Times New Roman" pitchFamily="18" charset="0"/>
              </a:rPr>
              <a:t>2014</a:t>
            </a:r>
            <a:endParaRPr lang="zh-TW" altLang="en-US" sz="1400" dirty="0">
              <a:latin typeface="+mj-lt"/>
            </a:endParaRPr>
          </a:p>
        </p:txBody>
      </p:sp>
    </p:spTree>
    <p:extLst>
      <p:ext uri="{BB962C8B-B14F-4D97-AF65-F5344CB8AC3E}">
        <p14:creationId xmlns:p14="http://schemas.microsoft.com/office/powerpoint/2010/main" val="13475340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a:t>
            </a:r>
            <a:endParaRPr lang="zh-TW" altLang="en-US" dirty="0"/>
          </a:p>
        </p:txBody>
      </p:sp>
      <p:sp>
        <p:nvSpPr>
          <p:cNvPr id="3" name="內容版面配置區 2"/>
          <p:cNvSpPr>
            <a:spLocks noGrp="1"/>
          </p:cNvSpPr>
          <p:nvPr>
            <p:ph sz="quarter" idx="1"/>
          </p:nvPr>
        </p:nvSpPr>
        <p:spPr/>
        <p:txBody>
          <a:bodyPr>
            <a:normAutofit fontScale="92500" lnSpcReduction="10000"/>
          </a:bodyPr>
          <a:lstStyle/>
          <a:p>
            <a:pPr marL="0" indent="0" algn="just">
              <a:buNone/>
            </a:pPr>
            <a:r>
              <a:rPr lang="en-US" altLang="zh-TW" dirty="0">
                <a:latin typeface="+mj-lt"/>
              </a:rPr>
              <a:t>This paper describes a simple, efficient algorithm to locate all occurrences of any of a finite number of keywords in a string of text. The algorithm consists of constructing a finite state pattern matching machine from the keywords and then using the pattern matching machine to process the text string in a single pass. Construction of the pattern matching machine takes time proportional to the sum of the lengths of the keywords. The number of state transitions made by the pattern matching machine in processing the text string is independent of the number of keywords. The algorithm has been used to improve the speed of a library bibliographic search program by a factor of 5 to 10.</a:t>
            </a:r>
            <a:endParaRPr lang="zh-TW" altLang="en-US" dirty="0">
              <a:latin typeface="+mj-lt"/>
            </a:endParaRPr>
          </a:p>
        </p:txBody>
      </p:sp>
    </p:spTree>
    <p:extLst>
      <p:ext uri="{BB962C8B-B14F-4D97-AF65-F5344CB8AC3E}">
        <p14:creationId xmlns:p14="http://schemas.microsoft.com/office/powerpoint/2010/main" val="32855895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Pattern Matching Machine</a:t>
            </a:r>
            <a:endParaRPr lang="zh-TW" altLang="en-US" dirty="0"/>
          </a:p>
        </p:txBody>
      </p:sp>
      <p:sp>
        <p:nvSpPr>
          <p:cNvPr id="3" name="內容版面配置區 2"/>
          <p:cNvSpPr>
            <a:spLocks noGrp="1"/>
          </p:cNvSpPr>
          <p:nvPr>
            <p:ph sz="quarter" idx="1"/>
          </p:nvPr>
        </p:nvSpPr>
        <p:spPr/>
        <p:txBody>
          <a:bodyPr/>
          <a:lstStyle/>
          <a:p>
            <a:r>
              <a:rPr lang="en-US" altLang="zh-TW" dirty="0">
                <a:latin typeface="+mj-lt"/>
              </a:rPr>
              <a:t>The behavior of the pattern matching machine is dictated by three functions:</a:t>
            </a:r>
          </a:p>
          <a:p>
            <a:pPr lvl="1"/>
            <a:r>
              <a:rPr lang="en-US" altLang="zh-TW" dirty="0">
                <a:latin typeface="+mj-lt"/>
              </a:rPr>
              <a:t>a </a:t>
            </a:r>
            <a:r>
              <a:rPr lang="en-US" altLang="zh-TW" dirty="0" err="1">
                <a:latin typeface="+mj-lt"/>
              </a:rPr>
              <a:t>goto</a:t>
            </a:r>
            <a:r>
              <a:rPr lang="en-US" altLang="zh-TW" dirty="0">
                <a:latin typeface="+mj-lt"/>
              </a:rPr>
              <a:t> function </a:t>
            </a:r>
            <a:r>
              <a:rPr lang="en-US" altLang="zh-TW" b="1" i="1" dirty="0">
                <a:solidFill>
                  <a:srgbClr val="FF0000"/>
                </a:solidFill>
                <a:latin typeface="+mj-lt"/>
              </a:rPr>
              <a:t>g</a:t>
            </a:r>
            <a:r>
              <a:rPr lang="en-US" altLang="zh-TW" dirty="0">
                <a:latin typeface="+mj-lt"/>
              </a:rPr>
              <a:t>,</a:t>
            </a:r>
          </a:p>
          <a:p>
            <a:pPr lvl="1"/>
            <a:r>
              <a:rPr lang="en-US" altLang="zh-TW" dirty="0">
                <a:latin typeface="+mj-lt"/>
              </a:rPr>
              <a:t>a failure function </a:t>
            </a:r>
            <a:r>
              <a:rPr lang="en-US" altLang="zh-TW" b="1" i="1" dirty="0">
                <a:solidFill>
                  <a:srgbClr val="FF0000"/>
                </a:solidFill>
                <a:latin typeface="+mj-lt"/>
              </a:rPr>
              <a:t>f</a:t>
            </a:r>
            <a:r>
              <a:rPr lang="en-US" altLang="zh-TW" dirty="0">
                <a:latin typeface="+mj-lt"/>
              </a:rPr>
              <a:t>,</a:t>
            </a:r>
          </a:p>
          <a:p>
            <a:pPr lvl="1"/>
            <a:r>
              <a:rPr lang="en-US" altLang="zh-TW" dirty="0">
                <a:latin typeface="+mj-lt"/>
              </a:rPr>
              <a:t>and an output function </a:t>
            </a:r>
            <a:r>
              <a:rPr lang="en-US" altLang="zh-TW" b="1" i="1" dirty="0">
                <a:solidFill>
                  <a:srgbClr val="FF0000"/>
                </a:solidFill>
                <a:latin typeface="+mj-lt"/>
              </a:rPr>
              <a:t>output</a:t>
            </a:r>
            <a:r>
              <a:rPr lang="en-US" altLang="zh-TW" dirty="0">
                <a:latin typeface="+mj-lt"/>
              </a:rPr>
              <a:t>.</a:t>
            </a:r>
          </a:p>
          <a:p>
            <a:endParaRPr lang="zh-TW" altLang="en-US" dirty="0">
              <a:latin typeface="+mj-lt"/>
            </a:endParaRPr>
          </a:p>
        </p:txBody>
      </p:sp>
    </p:spTree>
    <p:extLst>
      <p:ext uri="{BB962C8B-B14F-4D97-AF65-F5344CB8AC3E}">
        <p14:creationId xmlns:p14="http://schemas.microsoft.com/office/powerpoint/2010/main" val="507467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rot="5400000">
            <a:off x="-252720" y="910388"/>
            <a:ext cx="6815227" cy="499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4509120"/>
            <a:ext cx="3810000" cy="133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40317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0"/>
            <a:ext cx="7956645" cy="6846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46413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Construction of </a:t>
            </a:r>
            <a:r>
              <a:rPr lang="en-US" altLang="zh-TW" dirty="0" err="1"/>
              <a:t>Goto</a:t>
            </a:r>
            <a:r>
              <a:rPr lang="en-US" altLang="zh-TW" dirty="0"/>
              <a:t>, Failure, and Output Functions</a:t>
            </a:r>
            <a:endParaRPr lang="zh-TW" altLang="en-US" dirty="0"/>
          </a:p>
        </p:txBody>
      </p:sp>
      <p:sp>
        <p:nvSpPr>
          <p:cNvPr id="3" name="內容版面配置區 2"/>
          <p:cNvSpPr>
            <a:spLocks noGrp="1"/>
          </p:cNvSpPr>
          <p:nvPr>
            <p:ph sz="quarter" idx="1"/>
          </p:nvPr>
        </p:nvSpPr>
        <p:spPr/>
        <p:txBody>
          <a:bodyPr/>
          <a:lstStyle/>
          <a:p>
            <a:r>
              <a:rPr lang="en-US" altLang="zh-TW" dirty="0">
                <a:latin typeface="+mj-lt"/>
              </a:rPr>
              <a:t>To construct the </a:t>
            </a:r>
            <a:r>
              <a:rPr lang="en-US" altLang="zh-TW" b="1" dirty="0" err="1">
                <a:solidFill>
                  <a:srgbClr val="FF0000"/>
                </a:solidFill>
                <a:latin typeface="+mj-lt"/>
              </a:rPr>
              <a:t>goto</a:t>
            </a:r>
            <a:r>
              <a:rPr lang="en-US" altLang="zh-TW" b="1" dirty="0">
                <a:solidFill>
                  <a:srgbClr val="FF0000"/>
                </a:solidFill>
                <a:latin typeface="+mj-lt"/>
              </a:rPr>
              <a:t> function</a:t>
            </a:r>
            <a:r>
              <a:rPr lang="en-US" altLang="zh-TW" dirty="0">
                <a:latin typeface="+mj-lt"/>
              </a:rPr>
              <a:t>, we shall construct a </a:t>
            </a:r>
            <a:r>
              <a:rPr lang="en-US" altLang="zh-TW" b="1" i="1" dirty="0" err="1">
                <a:solidFill>
                  <a:srgbClr val="FF0000"/>
                </a:solidFill>
                <a:latin typeface="+mj-lt"/>
              </a:rPr>
              <a:t>goto</a:t>
            </a:r>
            <a:r>
              <a:rPr lang="en-US" altLang="zh-TW" b="1" i="1" dirty="0">
                <a:solidFill>
                  <a:srgbClr val="FF0000"/>
                </a:solidFill>
                <a:latin typeface="+mj-lt"/>
              </a:rPr>
              <a:t> graph</a:t>
            </a:r>
            <a:r>
              <a:rPr lang="en-US" altLang="zh-TW" dirty="0">
                <a:latin typeface="+mj-lt"/>
              </a:rPr>
              <a:t>.</a:t>
            </a:r>
          </a:p>
          <a:p>
            <a:r>
              <a:rPr lang="en-US" altLang="zh-TW" dirty="0">
                <a:latin typeface="+mj-lt"/>
              </a:rPr>
              <a:t>We begin with a graph consisting of one vertex which represents the state 0.</a:t>
            </a:r>
          </a:p>
          <a:p>
            <a:r>
              <a:rPr lang="en-US" altLang="zh-TW" dirty="0">
                <a:latin typeface="+mj-lt"/>
              </a:rPr>
              <a:t>We then enter each keyword y into the graph, by adding a directed path to the graph that begins at the start state.</a:t>
            </a:r>
          </a:p>
          <a:p>
            <a:r>
              <a:rPr lang="en-US" altLang="zh-TW" dirty="0">
                <a:latin typeface="+mj-lt"/>
              </a:rPr>
              <a:t>We add new edges to the graph only when necessary.</a:t>
            </a:r>
          </a:p>
          <a:p>
            <a:endParaRPr lang="zh-TW" altLang="en-US" dirty="0">
              <a:latin typeface="+mj-lt"/>
            </a:endParaRPr>
          </a:p>
        </p:txBody>
      </p:sp>
    </p:spTree>
    <p:extLst>
      <p:ext uri="{BB962C8B-B14F-4D97-AF65-F5344CB8AC3E}">
        <p14:creationId xmlns:p14="http://schemas.microsoft.com/office/powerpoint/2010/main" val="6700263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384" t="1274" r="3396" b="1601"/>
          <a:stretch/>
        </p:blipFill>
        <p:spPr bwMode="auto">
          <a:xfrm rot="5400000">
            <a:off x="1103410" y="876302"/>
            <a:ext cx="6858003"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6440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Ex: support {he, she, his, hers} is the set of keywords.</a:t>
            </a:r>
            <a:endParaRPr lang="zh-TW" altLang="en-US" dirty="0"/>
          </a:p>
        </p:txBody>
      </p:sp>
      <p:sp>
        <p:nvSpPr>
          <p:cNvPr id="4" name="內容版面配置區 3"/>
          <p:cNvSpPr>
            <a:spLocks noGrp="1"/>
          </p:cNvSpPr>
          <p:nvPr>
            <p:ph sz="quarter" idx="1"/>
          </p:nvPr>
        </p:nvSpPr>
        <p:spPr/>
        <p:txBody>
          <a:bodyPr>
            <a:normAutofit lnSpcReduction="10000"/>
          </a:bodyPr>
          <a:lstStyle/>
          <a:p>
            <a:r>
              <a:rPr lang="en-US" altLang="zh-TW" sz="2800" dirty="0" smtClean="0">
                <a:latin typeface="+mj-lt"/>
              </a:rPr>
              <a:t>(1) Adding “he” to the graph.</a:t>
            </a:r>
          </a:p>
          <a:p>
            <a:pPr lvl="1"/>
            <a:r>
              <a:rPr lang="en-US" altLang="zh-TW" sz="1900" dirty="0" smtClean="0">
                <a:latin typeface="+mj-lt"/>
              </a:rPr>
              <a:t>Output “he” with state 2.</a:t>
            </a:r>
          </a:p>
          <a:p>
            <a:r>
              <a:rPr lang="en-US" altLang="zh-TW" sz="2800" dirty="0" smtClean="0">
                <a:latin typeface="+mj-lt"/>
              </a:rPr>
              <a:t>(2) Add</a:t>
            </a:r>
            <a:r>
              <a:rPr lang="en-US" altLang="zh-TW" sz="2800" dirty="0">
                <a:latin typeface="+mj-lt"/>
              </a:rPr>
              <a:t>ing</a:t>
            </a:r>
            <a:r>
              <a:rPr lang="en-US" altLang="zh-TW" sz="2800" dirty="0" smtClean="0">
                <a:latin typeface="+mj-lt"/>
              </a:rPr>
              <a:t> “she” to the graph.</a:t>
            </a:r>
          </a:p>
          <a:p>
            <a:pPr lvl="1"/>
            <a:r>
              <a:rPr lang="en-US" altLang="zh-TW" sz="1900" dirty="0">
                <a:latin typeface="+mj-lt"/>
              </a:rPr>
              <a:t>Output “she” with state 5.</a:t>
            </a:r>
          </a:p>
          <a:p>
            <a:r>
              <a:rPr lang="en-US" altLang="zh-TW" sz="2800" dirty="0" smtClean="0">
                <a:latin typeface="+mj-lt"/>
              </a:rPr>
              <a:t>(3) Adding “his” to the graph.</a:t>
            </a:r>
          </a:p>
          <a:p>
            <a:pPr lvl="1"/>
            <a:r>
              <a:rPr lang="en-US" altLang="zh-TW" sz="1900" dirty="0">
                <a:latin typeface="+mj-lt"/>
              </a:rPr>
              <a:t>Output “his” with state 7.</a:t>
            </a:r>
            <a:endParaRPr lang="zh-TW" altLang="en-US" sz="1900" dirty="0">
              <a:latin typeface="+mj-lt"/>
            </a:endParaRPr>
          </a:p>
          <a:p>
            <a:r>
              <a:rPr lang="en-US" altLang="zh-TW" sz="2800" dirty="0" smtClean="0">
                <a:latin typeface="+mj-lt"/>
              </a:rPr>
              <a:t>(4)</a:t>
            </a:r>
            <a:r>
              <a:rPr lang="en-US" altLang="zh-TW" sz="2800" dirty="0">
                <a:latin typeface="+mj-lt"/>
              </a:rPr>
              <a:t> </a:t>
            </a:r>
            <a:r>
              <a:rPr lang="en-US" altLang="zh-TW" sz="2800" dirty="0" smtClean="0">
                <a:latin typeface="+mj-lt"/>
              </a:rPr>
              <a:t>Add</a:t>
            </a:r>
            <a:r>
              <a:rPr lang="en-US" altLang="zh-TW" sz="2800" dirty="0">
                <a:latin typeface="+mj-lt"/>
              </a:rPr>
              <a:t>ing</a:t>
            </a:r>
            <a:r>
              <a:rPr lang="en-US" altLang="zh-TW" sz="2800" dirty="0" smtClean="0">
                <a:latin typeface="+mj-lt"/>
              </a:rPr>
              <a:t> “hers” to </a:t>
            </a:r>
            <a:r>
              <a:rPr lang="en-US" altLang="zh-TW" sz="2800" dirty="0">
                <a:latin typeface="+mj-lt"/>
              </a:rPr>
              <a:t>the graph</a:t>
            </a:r>
            <a:r>
              <a:rPr lang="en-US" altLang="zh-TW" sz="2800" dirty="0" smtClean="0">
                <a:latin typeface="+mj-lt"/>
              </a:rPr>
              <a:t>.</a:t>
            </a:r>
          </a:p>
          <a:p>
            <a:pPr lvl="1"/>
            <a:r>
              <a:rPr lang="en-US" altLang="zh-TW" sz="1900" dirty="0">
                <a:latin typeface="+mj-lt"/>
              </a:rPr>
              <a:t>Output “hers” with state 9.</a:t>
            </a:r>
            <a:endParaRPr lang="zh-TW" altLang="en-US" sz="1900" dirty="0">
              <a:latin typeface="+mj-lt"/>
            </a:endParaRPr>
          </a:p>
        </p:txBody>
      </p:sp>
      <p:grpSp>
        <p:nvGrpSpPr>
          <p:cNvPr id="14" name="群組 13"/>
          <p:cNvGrpSpPr/>
          <p:nvPr/>
        </p:nvGrpSpPr>
        <p:grpSpPr>
          <a:xfrm>
            <a:off x="4792536" y="2195993"/>
            <a:ext cx="2304256" cy="585356"/>
            <a:chOff x="4783807" y="1223675"/>
            <a:chExt cx="2304256" cy="585356"/>
          </a:xfrm>
        </p:grpSpPr>
        <p:sp>
          <p:nvSpPr>
            <p:cNvPr id="6" name="橢圓 5"/>
            <p:cNvSpPr/>
            <p:nvPr/>
          </p:nvSpPr>
          <p:spPr>
            <a:xfrm>
              <a:off x="4783807" y="1376983"/>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0</a:t>
              </a:r>
              <a:endParaRPr lang="zh-TW" altLang="en-US" dirty="0"/>
            </a:p>
          </p:txBody>
        </p:sp>
        <p:sp>
          <p:nvSpPr>
            <p:cNvPr id="11" name="橢圓 10"/>
            <p:cNvSpPr/>
            <p:nvPr/>
          </p:nvSpPr>
          <p:spPr>
            <a:xfrm>
              <a:off x="5719911" y="1376983"/>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1</a:t>
              </a:r>
              <a:endParaRPr lang="zh-TW" altLang="en-US" dirty="0"/>
            </a:p>
          </p:txBody>
        </p:sp>
        <p:cxnSp>
          <p:nvCxnSpPr>
            <p:cNvPr id="8" name="直線單箭頭接點 7"/>
            <p:cNvCxnSpPr>
              <a:stCxn id="6" idx="6"/>
              <a:endCxn id="11" idx="2"/>
            </p:cNvCxnSpPr>
            <p:nvPr/>
          </p:nvCxnSpPr>
          <p:spPr>
            <a:xfrm>
              <a:off x="5215855" y="1593007"/>
              <a:ext cx="5040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橢圓 14"/>
            <p:cNvSpPr/>
            <p:nvPr/>
          </p:nvSpPr>
          <p:spPr>
            <a:xfrm>
              <a:off x="6656015" y="1376983"/>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2</a:t>
              </a:r>
              <a:endParaRPr lang="zh-TW" altLang="en-US" dirty="0"/>
            </a:p>
          </p:txBody>
        </p:sp>
        <p:cxnSp>
          <p:nvCxnSpPr>
            <p:cNvPr id="16" name="直線單箭頭接點 15"/>
            <p:cNvCxnSpPr>
              <a:stCxn id="11" idx="6"/>
              <a:endCxn id="15" idx="2"/>
            </p:cNvCxnSpPr>
            <p:nvPr/>
          </p:nvCxnSpPr>
          <p:spPr>
            <a:xfrm>
              <a:off x="6151959" y="1593007"/>
              <a:ext cx="5040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5321048" y="1223675"/>
              <a:ext cx="293670" cy="369332"/>
            </a:xfrm>
            <a:prstGeom prst="rect">
              <a:avLst/>
            </a:prstGeom>
            <a:noFill/>
          </p:spPr>
          <p:txBody>
            <a:bodyPr wrap="none" rtlCol="0">
              <a:spAutoFit/>
            </a:bodyPr>
            <a:lstStyle/>
            <a:p>
              <a:r>
                <a:rPr lang="en-US" altLang="zh-TW" dirty="0" smtClean="0"/>
                <a:t>h</a:t>
              </a:r>
              <a:endParaRPr lang="zh-TW" altLang="en-US" dirty="0"/>
            </a:p>
          </p:txBody>
        </p:sp>
        <p:sp>
          <p:nvSpPr>
            <p:cNvPr id="25" name="文字方塊 24"/>
            <p:cNvSpPr txBox="1"/>
            <p:nvPr/>
          </p:nvSpPr>
          <p:spPr>
            <a:xfrm>
              <a:off x="6257152" y="1223675"/>
              <a:ext cx="280846" cy="369332"/>
            </a:xfrm>
            <a:prstGeom prst="rect">
              <a:avLst/>
            </a:prstGeom>
            <a:noFill/>
          </p:spPr>
          <p:txBody>
            <a:bodyPr wrap="none" rtlCol="0">
              <a:spAutoFit/>
            </a:bodyPr>
            <a:lstStyle/>
            <a:p>
              <a:r>
                <a:rPr lang="en-US" altLang="zh-TW" dirty="0" smtClean="0"/>
                <a:t>e</a:t>
              </a:r>
              <a:endParaRPr lang="zh-TW" altLang="en-US" dirty="0"/>
            </a:p>
          </p:txBody>
        </p:sp>
      </p:grpSp>
      <p:grpSp>
        <p:nvGrpSpPr>
          <p:cNvPr id="39" name="群組 38"/>
          <p:cNvGrpSpPr/>
          <p:nvPr/>
        </p:nvGrpSpPr>
        <p:grpSpPr>
          <a:xfrm>
            <a:off x="5008561" y="2781348"/>
            <a:ext cx="3019823" cy="2015804"/>
            <a:chOff x="5004344" y="693116"/>
            <a:chExt cx="3019823" cy="2015804"/>
          </a:xfrm>
        </p:grpSpPr>
        <p:sp>
          <p:nvSpPr>
            <p:cNvPr id="21" name="橢圓 20"/>
            <p:cNvSpPr/>
            <p:nvPr/>
          </p:nvSpPr>
          <p:spPr>
            <a:xfrm>
              <a:off x="5719911" y="2276872"/>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3</a:t>
              </a:r>
              <a:endParaRPr lang="zh-TW" altLang="en-US" dirty="0"/>
            </a:p>
          </p:txBody>
        </p:sp>
        <p:cxnSp>
          <p:nvCxnSpPr>
            <p:cNvPr id="22" name="直線單箭頭接點 21"/>
            <p:cNvCxnSpPr>
              <a:stCxn id="21" idx="6"/>
              <a:endCxn id="29" idx="2"/>
            </p:cNvCxnSpPr>
            <p:nvPr/>
          </p:nvCxnSpPr>
          <p:spPr>
            <a:xfrm>
              <a:off x="6151959" y="2492896"/>
              <a:ext cx="5040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肘形接點 19"/>
            <p:cNvCxnSpPr>
              <a:stCxn id="6" idx="4"/>
              <a:endCxn id="21" idx="2"/>
            </p:cNvCxnSpPr>
            <p:nvPr/>
          </p:nvCxnSpPr>
          <p:spPr>
            <a:xfrm rot="16200000" flipH="1">
              <a:off x="4462238" y="1235222"/>
              <a:ext cx="1799779" cy="715568"/>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橢圓 28"/>
            <p:cNvSpPr/>
            <p:nvPr/>
          </p:nvSpPr>
          <p:spPr>
            <a:xfrm>
              <a:off x="6656015" y="2276872"/>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4</a:t>
              </a:r>
              <a:endParaRPr lang="zh-TW" altLang="en-US" dirty="0"/>
            </a:p>
          </p:txBody>
        </p:sp>
        <p:cxnSp>
          <p:nvCxnSpPr>
            <p:cNvPr id="30" name="直線單箭頭接點 29"/>
            <p:cNvCxnSpPr>
              <a:stCxn id="29" idx="6"/>
              <a:endCxn id="33" idx="2"/>
            </p:cNvCxnSpPr>
            <p:nvPr/>
          </p:nvCxnSpPr>
          <p:spPr>
            <a:xfrm>
              <a:off x="7088063" y="2492896"/>
              <a:ext cx="5040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橢圓 32"/>
            <p:cNvSpPr/>
            <p:nvPr/>
          </p:nvSpPr>
          <p:spPr>
            <a:xfrm>
              <a:off x="7592119" y="2276872"/>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5</a:t>
              </a:r>
              <a:endParaRPr lang="zh-TW" altLang="en-US" dirty="0"/>
            </a:p>
          </p:txBody>
        </p:sp>
        <p:sp>
          <p:nvSpPr>
            <p:cNvPr id="36" name="文字方塊 35"/>
            <p:cNvSpPr txBox="1"/>
            <p:nvPr/>
          </p:nvSpPr>
          <p:spPr>
            <a:xfrm>
              <a:off x="6250740" y="2123564"/>
              <a:ext cx="293670" cy="369332"/>
            </a:xfrm>
            <a:prstGeom prst="rect">
              <a:avLst/>
            </a:prstGeom>
            <a:noFill/>
          </p:spPr>
          <p:txBody>
            <a:bodyPr wrap="none" rtlCol="0">
              <a:spAutoFit/>
            </a:bodyPr>
            <a:lstStyle/>
            <a:p>
              <a:r>
                <a:rPr lang="en-US" altLang="zh-TW" dirty="0" smtClean="0"/>
                <a:t>h</a:t>
              </a:r>
              <a:endParaRPr lang="zh-TW" altLang="en-US" dirty="0"/>
            </a:p>
          </p:txBody>
        </p:sp>
        <p:sp>
          <p:nvSpPr>
            <p:cNvPr id="37" name="文字方塊 36"/>
            <p:cNvSpPr txBox="1"/>
            <p:nvPr/>
          </p:nvSpPr>
          <p:spPr>
            <a:xfrm>
              <a:off x="7199668" y="2123564"/>
              <a:ext cx="280846" cy="369332"/>
            </a:xfrm>
            <a:prstGeom prst="rect">
              <a:avLst/>
            </a:prstGeom>
            <a:noFill/>
          </p:spPr>
          <p:txBody>
            <a:bodyPr wrap="none" rtlCol="0">
              <a:spAutoFit/>
            </a:bodyPr>
            <a:lstStyle/>
            <a:p>
              <a:r>
                <a:rPr lang="en-US" altLang="zh-TW" dirty="0" smtClean="0"/>
                <a:t>e</a:t>
              </a:r>
              <a:endParaRPr lang="zh-TW" altLang="en-US" dirty="0"/>
            </a:p>
          </p:txBody>
        </p:sp>
        <p:sp>
          <p:nvSpPr>
            <p:cNvPr id="40" name="文字方塊 39"/>
            <p:cNvSpPr txBox="1"/>
            <p:nvPr/>
          </p:nvSpPr>
          <p:spPr>
            <a:xfrm>
              <a:off x="5345092" y="2123564"/>
              <a:ext cx="269626" cy="369332"/>
            </a:xfrm>
            <a:prstGeom prst="rect">
              <a:avLst/>
            </a:prstGeom>
            <a:noFill/>
          </p:spPr>
          <p:txBody>
            <a:bodyPr wrap="none" rtlCol="0">
              <a:spAutoFit/>
            </a:bodyPr>
            <a:lstStyle/>
            <a:p>
              <a:r>
                <a:rPr lang="en-US" altLang="zh-TW" dirty="0" smtClean="0"/>
                <a:t>s</a:t>
              </a:r>
              <a:endParaRPr lang="zh-TW" altLang="en-US" dirty="0"/>
            </a:p>
          </p:txBody>
        </p:sp>
      </p:grpSp>
      <p:grpSp>
        <p:nvGrpSpPr>
          <p:cNvPr id="45" name="群組 44"/>
          <p:cNvGrpSpPr/>
          <p:nvPr/>
        </p:nvGrpSpPr>
        <p:grpSpPr>
          <a:xfrm>
            <a:off x="5944665" y="2781348"/>
            <a:ext cx="2088231" cy="899890"/>
            <a:chOff x="4999832" y="1809030"/>
            <a:chExt cx="2088231" cy="899890"/>
          </a:xfrm>
        </p:grpSpPr>
        <p:sp>
          <p:nvSpPr>
            <p:cNvPr id="46" name="橢圓 45"/>
            <p:cNvSpPr/>
            <p:nvPr/>
          </p:nvSpPr>
          <p:spPr>
            <a:xfrm>
              <a:off x="5719911" y="2276872"/>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6</a:t>
              </a:r>
              <a:endParaRPr lang="zh-TW" altLang="en-US" dirty="0"/>
            </a:p>
          </p:txBody>
        </p:sp>
        <p:cxnSp>
          <p:nvCxnSpPr>
            <p:cNvPr id="47" name="直線單箭頭接點 46"/>
            <p:cNvCxnSpPr>
              <a:stCxn id="46" idx="6"/>
              <a:endCxn id="49" idx="2"/>
            </p:cNvCxnSpPr>
            <p:nvPr/>
          </p:nvCxnSpPr>
          <p:spPr>
            <a:xfrm>
              <a:off x="6151959" y="2492896"/>
              <a:ext cx="5040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肘形接點 47"/>
            <p:cNvCxnSpPr>
              <a:stCxn id="11" idx="4"/>
              <a:endCxn id="46" idx="2"/>
            </p:cNvCxnSpPr>
            <p:nvPr/>
          </p:nvCxnSpPr>
          <p:spPr>
            <a:xfrm rot="16200000" flipH="1">
              <a:off x="5017939" y="1790923"/>
              <a:ext cx="683865" cy="72008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9" name="橢圓 48"/>
            <p:cNvSpPr/>
            <p:nvPr/>
          </p:nvSpPr>
          <p:spPr>
            <a:xfrm>
              <a:off x="6656015" y="2276872"/>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7</a:t>
              </a:r>
              <a:endParaRPr lang="zh-TW" altLang="en-US" dirty="0"/>
            </a:p>
          </p:txBody>
        </p:sp>
        <p:sp>
          <p:nvSpPr>
            <p:cNvPr id="52" name="文字方塊 51"/>
            <p:cNvSpPr txBox="1"/>
            <p:nvPr/>
          </p:nvSpPr>
          <p:spPr>
            <a:xfrm>
              <a:off x="6250740" y="2123564"/>
              <a:ext cx="269626" cy="369332"/>
            </a:xfrm>
            <a:prstGeom prst="rect">
              <a:avLst/>
            </a:prstGeom>
            <a:noFill/>
          </p:spPr>
          <p:txBody>
            <a:bodyPr wrap="none" rtlCol="0">
              <a:spAutoFit/>
            </a:bodyPr>
            <a:lstStyle/>
            <a:p>
              <a:r>
                <a:rPr lang="en-US" altLang="zh-TW" dirty="0" smtClean="0"/>
                <a:t>s</a:t>
              </a:r>
              <a:endParaRPr lang="zh-TW" altLang="en-US" dirty="0"/>
            </a:p>
          </p:txBody>
        </p:sp>
        <p:sp>
          <p:nvSpPr>
            <p:cNvPr id="54" name="文字方塊 53"/>
            <p:cNvSpPr txBox="1"/>
            <p:nvPr/>
          </p:nvSpPr>
          <p:spPr>
            <a:xfrm>
              <a:off x="5345092" y="2123564"/>
              <a:ext cx="245580" cy="369332"/>
            </a:xfrm>
            <a:prstGeom prst="rect">
              <a:avLst/>
            </a:prstGeom>
            <a:noFill/>
          </p:spPr>
          <p:txBody>
            <a:bodyPr wrap="none" rtlCol="0">
              <a:spAutoFit/>
            </a:bodyPr>
            <a:lstStyle/>
            <a:p>
              <a:r>
                <a:rPr lang="en-US" altLang="zh-TW" dirty="0" err="1"/>
                <a:t>i</a:t>
              </a:r>
              <a:endParaRPr lang="zh-TW" altLang="en-US" dirty="0"/>
            </a:p>
          </p:txBody>
        </p:sp>
      </p:grpSp>
      <p:grpSp>
        <p:nvGrpSpPr>
          <p:cNvPr id="56" name="群組 55"/>
          <p:cNvGrpSpPr/>
          <p:nvPr/>
        </p:nvGrpSpPr>
        <p:grpSpPr>
          <a:xfrm>
            <a:off x="7096792" y="2195993"/>
            <a:ext cx="1867696" cy="585356"/>
            <a:chOff x="6156471" y="2123564"/>
            <a:chExt cx="1867696" cy="585356"/>
          </a:xfrm>
        </p:grpSpPr>
        <p:cxnSp>
          <p:nvCxnSpPr>
            <p:cNvPr id="58" name="直線單箭頭接點 57"/>
            <p:cNvCxnSpPr>
              <a:stCxn id="15" idx="6"/>
              <a:endCxn id="60" idx="2"/>
            </p:cNvCxnSpPr>
            <p:nvPr/>
          </p:nvCxnSpPr>
          <p:spPr>
            <a:xfrm>
              <a:off x="6156471" y="2492896"/>
              <a:ext cx="49954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0" name="橢圓 59"/>
            <p:cNvSpPr/>
            <p:nvPr/>
          </p:nvSpPr>
          <p:spPr>
            <a:xfrm>
              <a:off x="6656015" y="2276872"/>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8</a:t>
              </a:r>
              <a:endParaRPr lang="zh-TW" altLang="en-US" dirty="0"/>
            </a:p>
          </p:txBody>
        </p:sp>
        <p:cxnSp>
          <p:nvCxnSpPr>
            <p:cNvPr id="61" name="直線單箭頭接點 60"/>
            <p:cNvCxnSpPr>
              <a:stCxn id="60" idx="6"/>
              <a:endCxn id="62" idx="2"/>
            </p:cNvCxnSpPr>
            <p:nvPr/>
          </p:nvCxnSpPr>
          <p:spPr>
            <a:xfrm>
              <a:off x="7088063" y="2492896"/>
              <a:ext cx="5040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 name="橢圓 61"/>
            <p:cNvSpPr/>
            <p:nvPr/>
          </p:nvSpPr>
          <p:spPr>
            <a:xfrm>
              <a:off x="7592119" y="2276872"/>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9</a:t>
              </a:r>
              <a:endParaRPr lang="zh-TW" altLang="en-US" dirty="0"/>
            </a:p>
          </p:txBody>
        </p:sp>
        <p:sp>
          <p:nvSpPr>
            <p:cNvPr id="63" name="文字方塊 62"/>
            <p:cNvSpPr txBox="1"/>
            <p:nvPr/>
          </p:nvSpPr>
          <p:spPr>
            <a:xfrm>
              <a:off x="6250740" y="2123564"/>
              <a:ext cx="256802" cy="369332"/>
            </a:xfrm>
            <a:prstGeom prst="rect">
              <a:avLst/>
            </a:prstGeom>
            <a:noFill/>
          </p:spPr>
          <p:txBody>
            <a:bodyPr wrap="none" rtlCol="0">
              <a:spAutoFit/>
            </a:bodyPr>
            <a:lstStyle/>
            <a:p>
              <a:r>
                <a:rPr lang="en-US" altLang="zh-TW" dirty="0" smtClean="0"/>
                <a:t>r</a:t>
              </a:r>
              <a:endParaRPr lang="zh-TW" altLang="en-US" dirty="0"/>
            </a:p>
          </p:txBody>
        </p:sp>
        <p:sp>
          <p:nvSpPr>
            <p:cNvPr id="64" name="文字方塊 63"/>
            <p:cNvSpPr txBox="1"/>
            <p:nvPr/>
          </p:nvSpPr>
          <p:spPr>
            <a:xfrm>
              <a:off x="7199668" y="2123564"/>
              <a:ext cx="269626" cy="369332"/>
            </a:xfrm>
            <a:prstGeom prst="rect">
              <a:avLst/>
            </a:prstGeom>
            <a:noFill/>
          </p:spPr>
          <p:txBody>
            <a:bodyPr wrap="none" rtlCol="0">
              <a:spAutoFit/>
            </a:bodyPr>
            <a:lstStyle/>
            <a:p>
              <a:r>
                <a:rPr lang="en-US" altLang="zh-TW" dirty="0" smtClean="0"/>
                <a:t>s</a:t>
              </a:r>
              <a:endParaRPr lang="zh-TW" altLang="en-US" dirty="0"/>
            </a:p>
          </p:txBody>
        </p:sp>
      </p:grpSp>
    </p:spTree>
    <p:extLst>
      <p:ext uri="{BB962C8B-B14F-4D97-AF65-F5344CB8AC3E}">
        <p14:creationId xmlns:p14="http://schemas.microsoft.com/office/powerpoint/2010/main" val="428832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fade">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500"/>
                                        <p:tgtEl>
                                          <p:spTgt spid="4">
                                            <p:txEl>
                                              <p:pRg st="4" end="4"/>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
                                            <p:txEl>
                                              <p:pRg st="6" end="6"/>
                                            </p:txEl>
                                          </p:spTgt>
                                        </p:tgtEl>
                                        <p:attrNameLst>
                                          <p:attrName>style.visibility</p:attrName>
                                        </p:attrNameLst>
                                      </p:cBhvr>
                                      <p:to>
                                        <p:strVal val="visible"/>
                                      </p:to>
                                    </p:set>
                                    <p:animEffect transition="in" filter="fade">
                                      <p:cBhvr>
                                        <p:cTn id="40" dur="500"/>
                                        <p:tgtEl>
                                          <p:spTgt spid="4">
                                            <p:txEl>
                                              <p:pRg st="6" end="6"/>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animEffect transition="in" filter="fade">
                                      <p:cBhvr>
                                        <p:cTn id="43" dur="500"/>
                                        <p:tgtEl>
                                          <p:spTgt spid="4">
                                            <p:txEl>
                                              <p:pRg st="7" end="7"/>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Construction of </a:t>
            </a:r>
            <a:r>
              <a:rPr lang="en-US" altLang="zh-TW" dirty="0" err="1"/>
              <a:t>Goto</a:t>
            </a:r>
            <a:r>
              <a:rPr lang="en-US" altLang="zh-TW" dirty="0"/>
              <a:t>, Failure, and Output Functions</a:t>
            </a:r>
            <a:endParaRPr lang="zh-TW" altLang="en-US" dirty="0"/>
          </a:p>
        </p:txBody>
      </p:sp>
      <p:sp>
        <p:nvSpPr>
          <p:cNvPr id="3" name="內容版面配置區 2"/>
          <p:cNvSpPr>
            <a:spLocks noGrp="1"/>
          </p:cNvSpPr>
          <p:nvPr>
            <p:ph sz="quarter" idx="1"/>
          </p:nvPr>
        </p:nvSpPr>
        <p:spPr/>
        <p:txBody>
          <a:bodyPr/>
          <a:lstStyle/>
          <a:p>
            <a:r>
              <a:rPr lang="en-US" altLang="zh-TW" dirty="0">
                <a:latin typeface="+mj-lt"/>
              </a:rPr>
              <a:t>The failure function is constructed from the </a:t>
            </a:r>
            <a:r>
              <a:rPr lang="en-US" altLang="zh-TW" dirty="0" err="1">
                <a:latin typeface="+mj-lt"/>
              </a:rPr>
              <a:t>goto</a:t>
            </a:r>
            <a:r>
              <a:rPr lang="en-US" altLang="zh-TW" dirty="0">
                <a:latin typeface="+mj-lt"/>
              </a:rPr>
              <a:t> function.</a:t>
            </a:r>
          </a:p>
          <a:p>
            <a:r>
              <a:rPr lang="en-US" altLang="zh-TW" dirty="0">
                <a:latin typeface="+mj-lt"/>
              </a:rPr>
              <a:t>Let us define the </a:t>
            </a:r>
            <a:r>
              <a:rPr lang="en-US" altLang="zh-TW" b="1" i="1" dirty="0">
                <a:solidFill>
                  <a:srgbClr val="FF0000"/>
                </a:solidFill>
                <a:latin typeface="+mj-lt"/>
              </a:rPr>
              <a:t>depth</a:t>
            </a:r>
            <a:r>
              <a:rPr lang="en-US" altLang="zh-TW" dirty="0">
                <a:latin typeface="+mj-lt"/>
              </a:rPr>
              <a:t> of a state s in the </a:t>
            </a:r>
            <a:r>
              <a:rPr lang="en-US" altLang="zh-TW" dirty="0" err="1">
                <a:latin typeface="+mj-lt"/>
              </a:rPr>
              <a:t>goto</a:t>
            </a:r>
            <a:r>
              <a:rPr lang="en-US" altLang="zh-TW" dirty="0">
                <a:latin typeface="+mj-lt"/>
              </a:rPr>
              <a:t> graph as the length of the shortest path from the start state to s.</a:t>
            </a:r>
          </a:p>
          <a:p>
            <a:r>
              <a:rPr lang="en-US" altLang="zh-TW" dirty="0">
                <a:latin typeface="+mj-lt"/>
              </a:rPr>
              <a:t>We shall compute the failure function for all states of depth 1, then for all states of depth 2, and so on, until the failure function has been computed for all states.</a:t>
            </a:r>
          </a:p>
          <a:p>
            <a:endParaRPr lang="zh-TW" altLang="en-US" dirty="0">
              <a:latin typeface="+mj-lt"/>
            </a:endParaRPr>
          </a:p>
        </p:txBody>
      </p:sp>
    </p:spTree>
    <p:extLst>
      <p:ext uri="{BB962C8B-B14F-4D97-AF65-F5344CB8AC3E}">
        <p14:creationId xmlns:p14="http://schemas.microsoft.com/office/powerpoint/2010/main" val="35804478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Construction of </a:t>
            </a:r>
            <a:r>
              <a:rPr lang="en-US" altLang="zh-TW" dirty="0" err="1"/>
              <a:t>Goto</a:t>
            </a:r>
            <a:r>
              <a:rPr lang="en-US" altLang="zh-TW" dirty="0"/>
              <a:t>, Failure, and Output Functions</a:t>
            </a:r>
            <a:endParaRPr lang="zh-TW" altLang="en-US" dirty="0"/>
          </a:p>
        </p:txBody>
      </p:sp>
      <p:sp>
        <p:nvSpPr>
          <p:cNvPr id="3" name="內容版面配置區 2"/>
          <p:cNvSpPr>
            <a:spLocks noGrp="1"/>
          </p:cNvSpPr>
          <p:nvPr>
            <p:ph sz="quarter" idx="1"/>
          </p:nvPr>
        </p:nvSpPr>
        <p:spPr/>
        <p:txBody>
          <a:bodyPr/>
          <a:lstStyle/>
          <a:p>
            <a:r>
              <a:rPr lang="en-US" altLang="zh-TW" dirty="0">
                <a:latin typeface="+mj-lt"/>
              </a:rPr>
              <a:t>We consider each state </a:t>
            </a:r>
            <a:r>
              <a:rPr lang="en-US" altLang="zh-TW" b="1" i="1" dirty="0">
                <a:solidFill>
                  <a:srgbClr val="FF0000"/>
                </a:solidFill>
                <a:latin typeface="+mj-lt"/>
              </a:rPr>
              <a:t>r</a:t>
            </a:r>
            <a:r>
              <a:rPr lang="en-US" altLang="zh-TW" dirty="0">
                <a:latin typeface="+mj-lt"/>
              </a:rPr>
              <a:t> of depth </a:t>
            </a:r>
            <a:r>
              <a:rPr lang="en-US" altLang="zh-TW" b="1" i="1" dirty="0">
                <a:solidFill>
                  <a:srgbClr val="FF0000"/>
                </a:solidFill>
                <a:latin typeface="+mj-lt"/>
              </a:rPr>
              <a:t>d-1</a:t>
            </a:r>
            <a:r>
              <a:rPr lang="en-US" altLang="zh-TW" dirty="0">
                <a:latin typeface="+mj-lt"/>
              </a:rPr>
              <a:t> and perform the following actions.</a:t>
            </a:r>
          </a:p>
          <a:p>
            <a:pPr lvl="1"/>
            <a:r>
              <a:rPr lang="en-US" altLang="zh-TW" dirty="0">
                <a:latin typeface="+mj-lt"/>
              </a:rPr>
              <a:t>1. lf </a:t>
            </a:r>
            <a:r>
              <a:rPr lang="en-US" altLang="zh-TW" b="1" i="1" dirty="0">
                <a:latin typeface="+mj-lt"/>
              </a:rPr>
              <a:t>g(r, </a:t>
            </a:r>
            <a:r>
              <a:rPr lang="en-US" altLang="zh-TW" b="1" i="1" dirty="0" smtClean="0">
                <a:latin typeface="+mj-lt"/>
              </a:rPr>
              <a:t>a)</a:t>
            </a:r>
            <a:r>
              <a:rPr lang="en-US" altLang="zh-TW" b="1" i="1" dirty="0">
                <a:latin typeface="+mj-lt"/>
              </a:rPr>
              <a:t>=</a:t>
            </a:r>
            <a:r>
              <a:rPr lang="en-US" altLang="zh-TW" b="1" i="1" dirty="0" smtClean="0">
                <a:latin typeface="+mj-lt"/>
              </a:rPr>
              <a:t>fail</a:t>
            </a:r>
            <a:r>
              <a:rPr lang="en-US" altLang="zh-TW" i="1" dirty="0" smtClean="0">
                <a:latin typeface="+mj-lt"/>
              </a:rPr>
              <a:t> </a:t>
            </a:r>
            <a:r>
              <a:rPr lang="en-US" altLang="zh-TW" dirty="0">
                <a:latin typeface="+mj-lt"/>
              </a:rPr>
              <a:t>for all </a:t>
            </a:r>
            <a:r>
              <a:rPr lang="en-US" altLang="zh-TW" b="1" i="1" dirty="0">
                <a:latin typeface="+mj-lt"/>
              </a:rPr>
              <a:t>a</a:t>
            </a:r>
            <a:r>
              <a:rPr lang="en-US" altLang="zh-TW" dirty="0">
                <a:latin typeface="+mj-lt"/>
              </a:rPr>
              <a:t>, do nothing.</a:t>
            </a:r>
          </a:p>
          <a:p>
            <a:pPr lvl="1"/>
            <a:r>
              <a:rPr lang="en-US" altLang="zh-TW" dirty="0">
                <a:latin typeface="+mj-lt"/>
              </a:rPr>
              <a:t>2. Otherwise, for each symbol </a:t>
            </a:r>
            <a:r>
              <a:rPr lang="en-US" altLang="zh-TW" b="1" i="1" dirty="0">
                <a:latin typeface="+mj-lt"/>
              </a:rPr>
              <a:t>a</a:t>
            </a:r>
            <a:r>
              <a:rPr lang="en-US" altLang="zh-TW" dirty="0">
                <a:latin typeface="+mj-lt"/>
              </a:rPr>
              <a:t> such </a:t>
            </a:r>
            <a:r>
              <a:rPr lang="en-US" altLang="zh-TW" dirty="0" smtClean="0">
                <a:latin typeface="+mj-lt"/>
              </a:rPr>
              <a:t>that </a:t>
            </a:r>
            <a:r>
              <a:rPr lang="en-US" altLang="zh-TW" b="1" i="1" dirty="0" smtClean="0">
                <a:latin typeface="+mj-lt"/>
              </a:rPr>
              <a:t>g(r</a:t>
            </a:r>
            <a:r>
              <a:rPr lang="en-US" altLang="zh-TW" b="1" i="1" dirty="0">
                <a:latin typeface="+mj-lt"/>
              </a:rPr>
              <a:t>, a</a:t>
            </a:r>
            <a:r>
              <a:rPr lang="en-US" altLang="zh-TW" b="1" i="1" dirty="0" smtClean="0">
                <a:latin typeface="+mj-lt"/>
              </a:rPr>
              <a:t>)=s</a:t>
            </a:r>
            <a:r>
              <a:rPr lang="en-US" altLang="zh-TW" dirty="0">
                <a:latin typeface="+mj-lt"/>
              </a:rPr>
              <a:t>, do the following:</a:t>
            </a:r>
          </a:p>
          <a:p>
            <a:pPr lvl="2"/>
            <a:r>
              <a:rPr lang="en-US" altLang="zh-TW" dirty="0">
                <a:latin typeface="+mj-lt"/>
              </a:rPr>
              <a:t>(a) Set </a:t>
            </a:r>
            <a:r>
              <a:rPr lang="en-US" altLang="zh-TW" b="1" i="1" dirty="0" smtClean="0">
                <a:latin typeface="+mj-lt"/>
              </a:rPr>
              <a:t>state=f(r</a:t>
            </a:r>
            <a:r>
              <a:rPr lang="en-US" altLang="zh-TW" b="1" i="1" dirty="0">
                <a:latin typeface="+mj-lt"/>
              </a:rPr>
              <a:t>) </a:t>
            </a:r>
            <a:r>
              <a:rPr lang="en-US" altLang="zh-TW" dirty="0">
                <a:latin typeface="+mj-lt"/>
              </a:rPr>
              <a:t>.</a:t>
            </a:r>
          </a:p>
          <a:p>
            <a:pPr lvl="2"/>
            <a:r>
              <a:rPr lang="en-US" altLang="zh-TW" dirty="0">
                <a:latin typeface="+mj-lt"/>
              </a:rPr>
              <a:t>(b) Execute the statement </a:t>
            </a:r>
            <a:r>
              <a:rPr lang="en-US" altLang="zh-TW" b="1" i="1" dirty="0" err="1">
                <a:latin typeface="+mj-lt"/>
              </a:rPr>
              <a:t>state</a:t>
            </a:r>
            <a:r>
              <a:rPr lang="en-US" altLang="zh-TW" b="1" i="1" dirty="0" err="1" smtClean="0">
                <a:latin typeface="+mj-lt"/>
              </a:rPr>
              <a:t>←f</a:t>
            </a:r>
            <a:r>
              <a:rPr lang="en-US" altLang="zh-TW" b="1" i="1" dirty="0" smtClean="0">
                <a:latin typeface="+mj-lt"/>
              </a:rPr>
              <a:t> </a:t>
            </a:r>
            <a:r>
              <a:rPr lang="en-US" altLang="zh-TW" b="1" i="1" dirty="0">
                <a:latin typeface="+mj-lt"/>
              </a:rPr>
              <a:t>(state) </a:t>
            </a:r>
            <a:r>
              <a:rPr lang="en-US" altLang="zh-TW" dirty="0">
                <a:latin typeface="+mj-lt"/>
              </a:rPr>
              <a:t>zero or more times, until a value for </a:t>
            </a:r>
            <a:r>
              <a:rPr lang="en-US" altLang="zh-TW" b="1" i="1" dirty="0">
                <a:latin typeface="+mj-lt"/>
              </a:rPr>
              <a:t>state</a:t>
            </a:r>
            <a:r>
              <a:rPr lang="en-US" altLang="zh-TW" dirty="0">
                <a:latin typeface="+mj-lt"/>
              </a:rPr>
              <a:t> is obtained such that </a:t>
            </a:r>
            <a:r>
              <a:rPr lang="en-US" altLang="zh-TW" b="1" i="1" dirty="0">
                <a:latin typeface="+mj-lt"/>
              </a:rPr>
              <a:t>g(state, a)</a:t>
            </a:r>
            <a:r>
              <a:rPr lang="en-US" altLang="zh-TW" b="1" i="1" dirty="0" smtClean="0">
                <a:latin typeface="+mj-lt"/>
              </a:rPr>
              <a:t>≠fail </a:t>
            </a:r>
            <a:r>
              <a:rPr lang="en-US" altLang="zh-TW" dirty="0">
                <a:latin typeface="+mj-lt"/>
              </a:rPr>
              <a:t>. (Note that since </a:t>
            </a:r>
            <a:r>
              <a:rPr lang="en-US" altLang="zh-TW" b="1" i="1" dirty="0">
                <a:latin typeface="+mj-lt"/>
              </a:rPr>
              <a:t>g(0, </a:t>
            </a:r>
            <a:r>
              <a:rPr lang="en-US" altLang="zh-TW" b="1" i="1" dirty="0" smtClean="0">
                <a:latin typeface="+mj-lt"/>
              </a:rPr>
              <a:t>a)=fail </a:t>
            </a:r>
            <a:r>
              <a:rPr lang="en-US" altLang="zh-TW" dirty="0">
                <a:latin typeface="+mj-lt"/>
              </a:rPr>
              <a:t>for all </a:t>
            </a:r>
            <a:r>
              <a:rPr lang="en-US" altLang="zh-TW" b="1" i="1" dirty="0">
                <a:latin typeface="+mj-lt"/>
              </a:rPr>
              <a:t>a</a:t>
            </a:r>
            <a:r>
              <a:rPr lang="en-US" altLang="zh-TW" dirty="0">
                <a:latin typeface="+mj-lt"/>
              </a:rPr>
              <a:t>, such a state will always be found.)</a:t>
            </a:r>
          </a:p>
          <a:p>
            <a:pPr lvl="2"/>
            <a:r>
              <a:rPr lang="en-US" altLang="zh-TW" dirty="0">
                <a:latin typeface="+mj-lt"/>
              </a:rPr>
              <a:t>(c) </a:t>
            </a:r>
            <a:r>
              <a:rPr lang="en-US" altLang="zh-TW" dirty="0" smtClean="0">
                <a:latin typeface="+mj-lt"/>
              </a:rPr>
              <a:t>Set </a:t>
            </a:r>
            <a:r>
              <a:rPr lang="en-US" altLang="zh-TW" b="1" i="1" dirty="0" smtClean="0">
                <a:latin typeface="+mj-lt"/>
              </a:rPr>
              <a:t>f(s)=g(state</a:t>
            </a:r>
            <a:r>
              <a:rPr lang="en-US" altLang="zh-TW" b="1" i="1" dirty="0">
                <a:latin typeface="+mj-lt"/>
              </a:rPr>
              <a:t>, a)</a:t>
            </a:r>
            <a:r>
              <a:rPr lang="en-US" altLang="zh-TW" dirty="0">
                <a:latin typeface="+mj-lt"/>
              </a:rPr>
              <a:t>.</a:t>
            </a:r>
          </a:p>
          <a:p>
            <a:endParaRPr lang="zh-TW" altLang="en-US" dirty="0">
              <a:latin typeface="+mj-lt"/>
            </a:endParaRPr>
          </a:p>
        </p:txBody>
      </p:sp>
    </p:spTree>
    <p:extLst>
      <p:ext uri="{BB962C8B-B14F-4D97-AF65-F5344CB8AC3E}">
        <p14:creationId xmlns:p14="http://schemas.microsoft.com/office/powerpoint/2010/main" val="36285795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Construction of </a:t>
            </a:r>
            <a:r>
              <a:rPr lang="en-US" altLang="zh-TW" dirty="0" err="1"/>
              <a:t>Goto</a:t>
            </a:r>
            <a:r>
              <a:rPr lang="en-US" altLang="zh-TW" dirty="0"/>
              <a:t>, Failure, and Output Functions</a:t>
            </a:r>
            <a:endParaRPr lang="zh-TW" altLang="en-US" dirty="0"/>
          </a:p>
        </p:txBody>
      </p:sp>
      <p:sp>
        <p:nvSpPr>
          <p:cNvPr id="3" name="內容版面配置區 2"/>
          <p:cNvSpPr>
            <a:spLocks noGrp="1"/>
          </p:cNvSpPr>
          <p:nvPr>
            <p:ph sz="quarter" idx="1"/>
          </p:nvPr>
        </p:nvSpPr>
        <p:spPr/>
        <p:txBody>
          <a:bodyPr/>
          <a:lstStyle/>
          <a:p>
            <a:r>
              <a:rPr lang="en-US" altLang="zh-TW" dirty="0">
                <a:latin typeface="+mj-lt"/>
              </a:rPr>
              <a:t>During the computation of the failure function we also update the output function.</a:t>
            </a:r>
          </a:p>
          <a:p>
            <a:endParaRPr lang="zh-TW" altLang="en-US" dirty="0">
              <a:latin typeface="+mj-lt"/>
            </a:endParaRPr>
          </a:p>
        </p:txBody>
      </p:sp>
    </p:spTree>
    <p:extLst>
      <p:ext uri="{BB962C8B-B14F-4D97-AF65-F5344CB8AC3E}">
        <p14:creationId xmlns:p14="http://schemas.microsoft.com/office/powerpoint/2010/main" val="33602348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rot="5400000">
            <a:off x="1156202" y="391835"/>
            <a:ext cx="6857627" cy="60747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17191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93565280"/>
              </p:ext>
            </p:extLst>
          </p:nvPr>
        </p:nvGraphicFramePr>
        <p:xfrm>
          <a:off x="1358705" y="4765794"/>
          <a:ext cx="6384024" cy="1107441"/>
        </p:xfrm>
        <a:graphic>
          <a:graphicData uri="http://schemas.openxmlformats.org/drawingml/2006/table">
            <a:tbl>
              <a:tblPr firstRow="1" bandRow="1">
                <a:tableStyleId>{3B4B98B0-60AC-42C2-AFA5-B58CD77FA1E5}</a:tableStyleId>
              </a:tblPr>
              <a:tblGrid>
                <a:gridCol w="1125063"/>
                <a:gridCol w="584329"/>
                <a:gridCol w="584329"/>
                <a:gridCol w="584329"/>
                <a:gridCol w="584329"/>
                <a:gridCol w="584329"/>
                <a:gridCol w="584329"/>
                <a:gridCol w="584329"/>
                <a:gridCol w="584329"/>
                <a:gridCol w="584329"/>
              </a:tblGrid>
              <a:tr h="369147">
                <a:tc>
                  <a:txBody>
                    <a:bodyPr/>
                    <a:lstStyle/>
                    <a:p>
                      <a:pPr algn="ctr"/>
                      <a:r>
                        <a:rPr lang="en-US" altLang="zh-TW" dirty="0" smtClean="0">
                          <a:latin typeface="+mj-lt"/>
                        </a:rPr>
                        <a:t>depth-1</a:t>
                      </a:r>
                      <a:endParaRPr lang="zh-TW" altLang="en-US" dirty="0">
                        <a:latin typeface="+mj-lt"/>
                      </a:endParaRPr>
                    </a:p>
                  </a:txBody>
                  <a:tcPr/>
                </a:tc>
                <a:tc>
                  <a:txBody>
                    <a:bodyPr/>
                    <a:lstStyle/>
                    <a:p>
                      <a:pPr algn="ctr"/>
                      <a:r>
                        <a:rPr lang="en-US" altLang="zh-TW" dirty="0" smtClean="0">
                          <a:latin typeface="+mj-lt"/>
                        </a:rPr>
                        <a:t>0</a:t>
                      </a:r>
                      <a:endParaRPr lang="zh-TW" altLang="en-US" dirty="0">
                        <a:latin typeface="+mj-lt"/>
                      </a:endParaRPr>
                    </a:p>
                  </a:txBody>
                  <a:tcPr/>
                </a:tc>
                <a:tc>
                  <a:txBody>
                    <a:bodyPr/>
                    <a:lstStyle/>
                    <a:p>
                      <a:pPr algn="ctr"/>
                      <a:r>
                        <a:rPr lang="en-US" altLang="zh-TW" dirty="0" smtClean="0">
                          <a:latin typeface="+mj-lt"/>
                        </a:rPr>
                        <a:t>1</a:t>
                      </a:r>
                      <a:endParaRPr lang="zh-TW" altLang="en-US" dirty="0">
                        <a:latin typeface="+mj-lt"/>
                      </a:endParaRPr>
                    </a:p>
                  </a:txBody>
                  <a:tcPr/>
                </a:tc>
                <a:tc>
                  <a:txBody>
                    <a:bodyPr/>
                    <a:lstStyle/>
                    <a:p>
                      <a:pPr algn="ctr"/>
                      <a:r>
                        <a:rPr lang="en-US" altLang="zh-TW" dirty="0" smtClean="0">
                          <a:latin typeface="+mj-lt"/>
                        </a:rPr>
                        <a:t>0</a:t>
                      </a:r>
                      <a:endParaRPr lang="zh-TW" altLang="en-US" dirty="0">
                        <a:latin typeface="+mj-lt"/>
                      </a:endParaRPr>
                    </a:p>
                  </a:txBody>
                  <a:tcPr/>
                </a:tc>
                <a:tc>
                  <a:txBody>
                    <a:bodyPr/>
                    <a:lstStyle/>
                    <a:p>
                      <a:pPr algn="ctr"/>
                      <a:r>
                        <a:rPr lang="en-US" altLang="zh-TW" dirty="0" smtClean="0">
                          <a:latin typeface="+mj-lt"/>
                        </a:rPr>
                        <a:t>1</a:t>
                      </a:r>
                      <a:endParaRPr lang="zh-TW" altLang="en-US" dirty="0">
                        <a:latin typeface="+mj-lt"/>
                      </a:endParaRPr>
                    </a:p>
                  </a:txBody>
                  <a:tcPr/>
                </a:tc>
                <a:tc>
                  <a:txBody>
                    <a:bodyPr/>
                    <a:lstStyle/>
                    <a:p>
                      <a:pPr algn="ctr"/>
                      <a:r>
                        <a:rPr lang="en-US" altLang="zh-TW" dirty="0" smtClean="0">
                          <a:latin typeface="+mj-lt"/>
                        </a:rPr>
                        <a:t>2</a:t>
                      </a:r>
                      <a:endParaRPr lang="zh-TW" altLang="en-US" dirty="0">
                        <a:latin typeface="+mj-lt"/>
                      </a:endParaRPr>
                    </a:p>
                  </a:txBody>
                  <a:tcPr/>
                </a:tc>
                <a:tc>
                  <a:txBody>
                    <a:bodyPr/>
                    <a:lstStyle/>
                    <a:p>
                      <a:pPr algn="ctr"/>
                      <a:r>
                        <a:rPr lang="en-US" altLang="zh-TW" dirty="0" smtClean="0">
                          <a:latin typeface="+mj-lt"/>
                        </a:rPr>
                        <a:t>1</a:t>
                      </a:r>
                      <a:endParaRPr lang="zh-TW" altLang="en-US" dirty="0">
                        <a:latin typeface="+mj-lt"/>
                      </a:endParaRPr>
                    </a:p>
                  </a:txBody>
                  <a:tcPr/>
                </a:tc>
                <a:tc>
                  <a:txBody>
                    <a:bodyPr/>
                    <a:lstStyle/>
                    <a:p>
                      <a:pPr algn="ctr"/>
                      <a:r>
                        <a:rPr lang="en-US" altLang="zh-TW" dirty="0" smtClean="0">
                          <a:latin typeface="+mj-lt"/>
                        </a:rPr>
                        <a:t>2</a:t>
                      </a:r>
                      <a:endParaRPr lang="zh-TW" altLang="en-US" dirty="0">
                        <a:latin typeface="+mj-lt"/>
                      </a:endParaRPr>
                    </a:p>
                  </a:txBody>
                  <a:tcPr/>
                </a:tc>
                <a:tc>
                  <a:txBody>
                    <a:bodyPr/>
                    <a:lstStyle/>
                    <a:p>
                      <a:pPr algn="ctr"/>
                      <a:r>
                        <a:rPr lang="en-US" altLang="zh-TW" dirty="0" smtClean="0">
                          <a:latin typeface="+mj-lt"/>
                        </a:rPr>
                        <a:t>2</a:t>
                      </a:r>
                      <a:endParaRPr lang="zh-TW" altLang="en-US" dirty="0">
                        <a:latin typeface="+mj-lt"/>
                      </a:endParaRPr>
                    </a:p>
                  </a:txBody>
                  <a:tcPr/>
                </a:tc>
                <a:tc>
                  <a:txBody>
                    <a:bodyPr/>
                    <a:lstStyle/>
                    <a:p>
                      <a:pPr algn="ctr"/>
                      <a:r>
                        <a:rPr lang="en-US" altLang="zh-TW" dirty="0" smtClean="0">
                          <a:latin typeface="+mj-lt"/>
                        </a:rPr>
                        <a:t>3</a:t>
                      </a:r>
                      <a:endParaRPr lang="zh-TW" altLang="en-US" dirty="0">
                        <a:latin typeface="+mj-lt"/>
                      </a:endParaRPr>
                    </a:p>
                  </a:txBody>
                  <a:tcPr/>
                </a:tc>
              </a:tr>
              <a:tr h="369147">
                <a:tc>
                  <a:txBody>
                    <a:bodyPr/>
                    <a:lstStyle/>
                    <a:p>
                      <a:pPr algn="ctr"/>
                      <a:r>
                        <a:rPr lang="en-US" altLang="zh-TW" dirty="0" err="1" smtClean="0">
                          <a:latin typeface="+mj-lt"/>
                        </a:rPr>
                        <a:t>i</a:t>
                      </a:r>
                      <a:endParaRPr lang="zh-TW" altLang="en-US" dirty="0">
                        <a:latin typeface="+mj-lt"/>
                      </a:endParaRPr>
                    </a:p>
                  </a:txBody>
                  <a:tcPr/>
                </a:tc>
                <a:tc>
                  <a:txBody>
                    <a:bodyPr/>
                    <a:lstStyle/>
                    <a:p>
                      <a:pPr algn="ctr"/>
                      <a:r>
                        <a:rPr lang="en-US" altLang="zh-TW" dirty="0" smtClean="0">
                          <a:latin typeface="+mj-lt"/>
                        </a:rPr>
                        <a:t>1</a:t>
                      </a:r>
                      <a:endParaRPr lang="zh-TW" altLang="en-US" dirty="0">
                        <a:latin typeface="+mj-lt"/>
                      </a:endParaRPr>
                    </a:p>
                  </a:txBody>
                  <a:tcPr/>
                </a:tc>
                <a:tc>
                  <a:txBody>
                    <a:bodyPr/>
                    <a:lstStyle/>
                    <a:p>
                      <a:pPr algn="ctr"/>
                      <a:r>
                        <a:rPr lang="en-US" altLang="zh-TW" dirty="0" smtClean="0">
                          <a:latin typeface="+mj-lt"/>
                        </a:rPr>
                        <a:t>2</a:t>
                      </a:r>
                      <a:endParaRPr lang="zh-TW" altLang="en-US" dirty="0">
                        <a:latin typeface="+mj-lt"/>
                      </a:endParaRPr>
                    </a:p>
                  </a:txBody>
                  <a:tcPr/>
                </a:tc>
                <a:tc>
                  <a:txBody>
                    <a:bodyPr/>
                    <a:lstStyle/>
                    <a:p>
                      <a:pPr algn="ctr"/>
                      <a:r>
                        <a:rPr lang="en-US" altLang="zh-TW" dirty="0" smtClean="0">
                          <a:latin typeface="+mj-lt"/>
                        </a:rPr>
                        <a:t>3</a:t>
                      </a:r>
                      <a:endParaRPr lang="zh-TW" altLang="en-US" dirty="0">
                        <a:latin typeface="+mj-lt"/>
                      </a:endParaRPr>
                    </a:p>
                  </a:txBody>
                  <a:tcPr/>
                </a:tc>
                <a:tc>
                  <a:txBody>
                    <a:bodyPr/>
                    <a:lstStyle/>
                    <a:p>
                      <a:pPr algn="ctr"/>
                      <a:r>
                        <a:rPr lang="en-US" altLang="zh-TW" dirty="0" smtClean="0">
                          <a:latin typeface="+mj-lt"/>
                        </a:rPr>
                        <a:t>4</a:t>
                      </a:r>
                      <a:endParaRPr lang="zh-TW" altLang="en-US" dirty="0">
                        <a:latin typeface="+mj-lt"/>
                      </a:endParaRPr>
                    </a:p>
                  </a:txBody>
                  <a:tcPr/>
                </a:tc>
                <a:tc>
                  <a:txBody>
                    <a:bodyPr/>
                    <a:lstStyle/>
                    <a:p>
                      <a:pPr algn="ctr"/>
                      <a:r>
                        <a:rPr lang="en-US" altLang="zh-TW" dirty="0" smtClean="0">
                          <a:latin typeface="+mj-lt"/>
                        </a:rPr>
                        <a:t>5</a:t>
                      </a:r>
                      <a:endParaRPr lang="zh-TW" altLang="en-US" dirty="0">
                        <a:latin typeface="+mj-lt"/>
                      </a:endParaRPr>
                    </a:p>
                  </a:txBody>
                  <a:tcPr/>
                </a:tc>
                <a:tc>
                  <a:txBody>
                    <a:bodyPr/>
                    <a:lstStyle/>
                    <a:p>
                      <a:pPr algn="ctr"/>
                      <a:r>
                        <a:rPr lang="en-US" altLang="zh-TW" dirty="0" smtClean="0">
                          <a:latin typeface="+mj-lt"/>
                        </a:rPr>
                        <a:t>6</a:t>
                      </a:r>
                      <a:endParaRPr lang="zh-TW" altLang="en-US" dirty="0">
                        <a:latin typeface="+mj-lt"/>
                      </a:endParaRPr>
                    </a:p>
                  </a:txBody>
                  <a:tcPr/>
                </a:tc>
                <a:tc>
                  <a:txBody>
                    <a:bodyPr/>
                    <a:lstStyle/>
                    <a:p>
                      <a:pPr algn="ctr"/>
                      <a:r>
                        <a:rPr lang="en-US" altLang="zh-TW" dirty="0" smtClean="0">
                          <a:latin typeface="+mj-lt"/>
                        </a:rPr>
                        <a:t>7</a:t>
                      </a:r>
                      <a:endParaRPr lang="zh-TW" altLang="en-US" dirty="0">
                        <a:latin typeface="+mj-lt"/>
                      </a:endParaRPr>
                    </a:p>
                  </a:txBody>
                  <a:tcPr/>
                </a:tc>
                <a:tc>
                  <a:txBody>
                    <a:bodyPr/>
                    <a:lstStyle/>
                    <a:p>
                      <a:pPr algn="ctr"/>
                      <a:r>
                        <a:rPr lang="en-US" altLang="zh-TW" dirty="0" smtClean="0">
                          <a:latin typeface="+mj-lt"/>
                        </a:rPr>
                        <a:t>8</a:t>
                      </a:r>
                      <a:endParaRPr lang="zh-TW" altLang="en-US" dirty="0">
                        <a:latin typeface="+mj-lt"/>
                      </a:endParaRPr>
                    </a:p>
                  </a:txBody>
                  <a:tcPr/>
                </a:tc>
                <a:tc>
                  <a:txBody>
                    <a:bodyPr/>
                    <a:lstStyle/>
                    <a:p>
                      <a:pPr algn="ctr"/>
                      <a:r>
                        <a:rPr lang="en-US" altLang="zh-TW" dirty="0" smtClean="0">
                          <a:latin typeface="+mj-lt"/>
                        </a:rPr>
                        <a:t>9</a:t>
                      </a:r>
                      <a:endParaRPr lang="zh-TW" altLang="en-US" dirty="0">
                        <a:latin typeface="+mj-lt"/>
                      </a:endParaRPr>
                    </a:p>
                  </a:txBody>
                  <a:tcPr/>
                </a:tc>
              </a:tr>
              <a:tr h="369147">
                <a:tc>
                  <a:txBody>
                    <a:bodyPr/>
                    <a:lstStyle/>
                    <a:p>
                      <a:pPr algn="ctr"/>
                      <a:r>
                        <a:rPr lang="en-US" altLang="zh-TW" dirty="0" smtClean="0">
                          <a:latin typeface="+mj-lt"/>
                        </a:rPr>
                        <a:t>f(</a:t>
                      </a:r>
                      <a:r>
                        <a:rPr lang="en-US" altLang="zh-TW" dirty="0" err="1" smtClean="0">
                          <a:latin typeface="+mj-lt"/>
                        </a:rPr>
                        <a:t>i</a:t>
                      </a:r>
                      <a:r>
                        <a:rPr lang="en-US" altLang="zh-TW" dirty="0" smtClean="0">
                          <a:latin typeface="+mj-lt"/>
                        </a:rPr>
                        <a:t>)</a:t>
                      </a:r>
                      <a:endParaRPr lang="zh-TW" altLang="en-US" dirty="0">
                        <a:latin typeface="+mj-lt"/>
                      </a:endParaRPr>
                    </a:p>
                  </a:txBody>
                  <a:tcPr/>
                </a:tc>
                <a:tc>
                  <a:txBody>
                    <a:bodyPr/>
                    <a:lstStyle/>
                    <a:p>
                      <a:pPr algn="ctr"/>
                      <a:r>
                        <a:rPr lang="en-US" altLang="zh-TW" dirty="0" smtClean="0">
                          <a:latin typeface="+mj-lt"/>
                        </a:rPr>
                        <a:t>0</a:t>
                      </a:r>
                      <a:endParaRPr lang="zh-TW" altLang="en-US" dirty="0">
                        <a:latin typeface="+mj-lt"/>
                      </a:endParaRPr>
                    </a:p>
                  </a:txBody>
                  <a:tcPr/>
                </a:tc>
                <a:tc>
                  <a:txBody>
                    <a:bodyPr/>
                    <a:lstStyle/>
                    <a:p>
                      <a:pPr algn="ctr"/>
                      <a:r>
                        <a:rPr lang="en-US" altLang="zh-TW" dirty="0" smtClean="0">
                          <a:latin typeface="+mj-lt"/>
                        </a:rPr>
                        <a:t>0</a:t>
                      </a:r>
                      <a:endParaRPr lang="zh-TW" altLang="en-US" dirty="0">
                        <a:latin typeface="+mj-lt"/>
                      </a:endParaRPr>
                    </a:p>
                  </a:txBody>
                  <a:tcPr/>
                </a:tc>
                <a:tc>
                  <a:txBody>
                    <a:bodyPr/>
                    <a:lstStyle/>
                    <a:p>
                      <a:pPr algn="ctr"/>
                      <a:r>
                        <a:rPr lang="en-US" altLang="zh-TW" dirty="0" smtClean="0">
                          <a:latin typeface="+mj-lt"/>
                        </a:rPr>
                        <a:t>0</a:t>
                      </a:r>
                      <a:endParaRPr lang="zh-TW" altLang="en-US" dirty="0">
                        <a:latin typeface="+mj-lt"/>
                      </a:endParaRPr>
                    </a:p>
                  </a:txBody>
                  <a:tcPr/>
                </a:tc>
                <a:tc>
                  <a:txBody>
                    <a:bodyPr/>
                    <a:lstStyle/>
                    <a:p>
                      <a:pPr algn="ctr"/>
                      <a:r>
                        <a:rPr lang="en-US" altLang="zh-TW" dirty="0" smtClean="0">
                          <a:latin typeface="+mj-lt"/>
                        </a:rPr>
                        <a:t>1</a:t>
                      </a:r>
                      <a:endParaRPr lang="zh-TW" altLang="en-US" dirty="0">
                        <a:latin typeface="+mj-lt"/>
                      </a:endParaRPr>
                    </a:p>
                  </a:txBody>
                  <a:tcPr/>
                </a:tc>
                <a:tc>
                  <a:txBody>
                    <a:bodyPr/>
                    <a:lstStyle/>
                    <a:p>
                      <a:pPr algn="ctr"/>
                      <a:r>
                        <a:rPr lang="en-US" altLang="zh-TW" dirty="0" smtClean="0">
                          <a:latin typeface="+mj-lt"/>
                        </a:rPr>
                        <a:t>2</a:t>
                      </a:r>
                      <a:endParaRPr lang="zh-TW" altLang="en-US" dirty="0">
                        <a:latin typeface="+mj-lt"/>
                      </a:endParaRPr>
                    </a:p>
                  </a:txBody>
                  <a:tcPr/>
                </a:tc>
                <a:tc>
                  <a:txBody>
                    <a:bodyPr/>
                    <a:lstStyle/>
                    <a:p>
                      <a:pPr algn="ctr"/>
                      <a:r>
                        <a:rPr lang="en-US" altLang="zh-TW" dirty="0" smtClean="0">
                          <a:latin typeface="+mj-lt"/>
                        </a:rPr>
                        <a:t>0</a:t>
                      </a:r>
                      <a:endParaRPr lang="zh-TW" altLang="en-US" dirty="0">
                        <a:latin typeface="+mj-lt"/>
                      </a:endParaRPr>
                    </a:p>
                  </a:txBody>
                  <a:tcPr/>
                </a:tc>
                <a:tc>
                  <a:txBody>
                    <a:bodyPr/>
                    <a:lstStyle/>
                    <a:p>
                      <a:pPr algn="ctr"/>
                      <a:r>
                        <a:rPr lang="en-US" altLang="zh-TW" dirty="0" smtClean="0">
                          <a:latin typeface="+mj-lt"/>
                        </a:rPr>
                        <a:t>3</a:t>
                      </a:r>
                      <a:endParaRPr lang="zh-TW" altLang="en-US" dirty="0">
                        <a:latin typeface="+mj-lt"/>
                      </a:endParaRPr>
                    </a:p>
                  </a:txBody>
                  <a:tcPr/>
                </a:tc>
                <a:tc>
                  <a:txBody>
                    <a:bodyPr/>
                    <a:lstStyle/>
                    <a:p>
                      <a:pPr algn="ctr"/>
                      <a:r>
                        <a:rPr lang="en-US" altLang="zh-TW" dirty="0" smtClean="0">
                          <a:latin typeface="+mj-lt"/>
                        </a:rPr>
                        <a:t>0</a:t>
                      </a:r>
                      <a:endParaRPr lang="zh-TW" altLang="en-US" dirty="0">
                        <a:latin typeface="+mj-lt"/>
                      </a:endParaRPr>
                    </a:p>
                  </a:txBody>
                  <a:tcPr/>
                </a:tc>
                <a:tc>
                  <a:txBody>
                    <a:bodyPr/>
                    <a:lstStyle/>
                    <a:p>
                      <a:pPr algn="ctr"/>
                      <a:r>
                        <a:rPr lang="en-US" altLang="zh-TW" dirty="0" smtClean="0">
                          <a:latin typeface="+mj-lt"/>
                        </a:rPr>
                        <a:t>3</a:t>
                      </a:r>
                      <a:endParaRPr lang="zh-TW" altLang="en-US" dirty="0">
                        <a:latin typeface="+mj-lt"/>
                      </a:endParaRPr>
                    </a:p>
                  </a:txBody>
                  <a:tcPr/>
                </a:tc>
              </a:tr>
            </a:tbl>
          </a:graphicData>
        </a:graphic>
      </p:graphicFrame>
      <p:grpSp>
        <p:nvGrpSpPr>
          <p:cNvPr id="4" name="群組 3"/>
          <p:cNvGrpSpPr/>
          <p:nvPr/>
        </p:nvGrpSpPr>
        <p:grpSpPr>
          <a:xfrm>
            <a:off x="107504" y="628194"/>
            <a:ext cx="4777227" cy="3112533"/>
            <a:chOff x="2196934" y="628194"/>
            <a:chExt cx="4777227" cy="3112533"/>
          </a:xfrm>
        </p:grpSpPr>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rot="5400000">
              <a:off x="3213948" y="-19487"/>
              <a:ext cx="2743200" cy="477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文字方塊 2"/>
            <p:cNvSpPr txBox="1"/>
            <p:nvPr/>
          </p:nvSpPr>
          <p:spPr>
            <a:xfrm>
              <a:off x="2225460" y="628194"/>
              <a:ext cx="4645824" cy="369332"/>
            </a:xfrm>
            <a:prstGeom prst="rect">
              <a:avLst/>
            </a:prstGeom>
            <a:noFill/>
          </p:spPr>
          <p:txBody>
            <a:bodyPr wrap="none" rtlCol="0">
              <a:spAutoFit/>
            </a:bodyPr>
            <a:lstStyle/>
            <a:p>
              <a:r>
                <a:rPr lang="en-US" altLang="zh-TW" dirty="0" smtClean="0">
                  <a:latin typeface="+mj-lt"/>
                </a:rPr>
                <a:t>depth              1          2          3          4</a:t>
              </a:r>
              <a:endParaRPr lang="zh-TW" altLang="en-US" dirty="0">
                <a:latin typeface="+mj-lt"/>
              </a:endParaRPr>
            </a:p>
          </p:txBody>
        </p:sp>
      </p:grpSp>
      <p:graphicFrame>
        <p:nvGraphicFramePr>
          <p:cNvPr id="5" name="表格 4"/>
          <p:cNvGraphicFramePr>
            <a:graphicFrameLocks noGrp="1"/>
          </p:cNvGraphicFramePr>
          <p:nvPr>
            <p:extLst>
              <p:ext uri="{D42A27DB-BD31-4B8C-83A1-F6EECF244321}">
                <p14:modId xmlns:p14="http://schemas.microsoft.com/office/powerpoint/2010/main" val="1870536631"/>
              </p:ext>
            </p:extLst>
          </p:nvPr>
        </p:nvGraphicFramePr>
        <p:xfrm>
          <a:off x="6228184" y="1442026"/>
          <a:ext cx="2628800" cy="1854200"/>
        </p:xfrm>
        <a:graphic>
          <a:graphicData uri="http://schemas.openxmlformats.org/drawingml/2006/table">
            <a:tbl>
              <a:tblPr firstRow="1" bandRow="1">
                <a:tableStyleId>{3B4B98B0-60AC-42C2-AFA5-B58CD77FA1E5}</a:tableStyleId>
              </a:tblPr>
              <a:tblGrid>
                <a:gridCol w="756592"/>
                <a:gridCol w="1872208"/>
              </a:tblGrid>
              <a:tr h="370840">
                <a:tc>
                  <a:txBody>
                    <a:bodyPr/>
                    <a:lstStyle/>
                    <a:p>
                      <a:pPr algn="ctr"/>
                      <a:r>
                        <a:rPr lang="en-US" altLang="zh-TW" dirty="0" err="1" smtClean="0">
                          <a:latin typeface="+mj-lt"/>
                        </a:rPr>
                        <a:t>i</a:t>
                      </a:r>
                      <a:endParaRPr lang="zh-TW" altLang="en-US" dirty="0">
                        <a:latin typeface="+mj-lt"/>
                      </a:endParaRPr>
                    </a:p>
                  </a:txBody>
                  <a:tcPr/>
                </a:tc>
                <a:tc>
                  <a:txBody>
                    <a:bodyPr/>
                    <a:lstStyle/>
                    <a:p>
                      <a:pPr algn="ctr"/>
                      <a:r>
                        <a:rPr lang="en-US" altLang="zh-TW" dirty="0" smtClean="0">
                          <a:latin typeface="+mj-lt"/>
                        </a:rPr>
                        <a:t>output(</a:t>
                      </a:r>
                      <a:r>
                        <a:rPr lang="en-US" altLang="zh-TW" dirty="0" err="1" smtClean="0">
                          <a:latin typeface="+mj-lt"/>
                        </a:rPr>
                        <a:t>i</a:t>
                      </a:r>
                      <a:r>
                        <a:rPr lang="en-US" altLang="zh-TW" dirty="0" smtClean="0">
                          <a:latin typeface="+mj-lt"/>
                        </a:rPr>
                        <a:t>)</a:t>
                      </a:r>
                      <a:endParaRPr lang="zh-TW" altLang="en-US" dirty="0">
                        <a:latin typeface="+mj-lt"/>
                      </a:endParaRPr>
                    </a:p>
                  </a:txBody>
                  <a:tcPr/>
                </a:tc>
              </a:tr>
              <a:tr h="370840">
                <a:tc>
                  <a:txBody>
                    <a:bodyPr/>
                    <a:lstStyle/>
                    <a:p>
                      <a:pPr algn="ctr"/>
                      <a:r>
                        <a:rPr lang="en-US" altLang="zh-TW" dirty="0" smtClean="0">
                          <a:latin typeface="+mj-lt"/>
                        </a:rPr>
                        <a:t>2</a:t>
                      </a:r>
                      <a:endParaRPr lang="zh-TW" altLang="en-US" dirty="0">
                        <a:latin typeface="+mj-lt"/>
                      </a:endParaRPr>
                    </a:p>
                  </a:txBody>
                  <a:tcPr/>
                </a:tc>
                <a:tc>
                  <a:txBody>
                    <a:bodyPr/>
                    <a:lstStyle/>
                    <a:p>
                      <a:pPr algn="ctr"/>
                      <a:r>
                        <a:rPr lang="en-US" altLang="zh-TW" dirty="0" smtClean="0">
                          <a:latin typeface="+mj-lt"/>
                        </a:rPr>
                        <a:t>{he}</a:t>
                      </a:r>
                      <a:endParaRPr lang="zh-TW" altLang="en-US" dirty="0">
                        <a:latin typeface="+mj-lt"/>
                      </a:endParaRPr>
                    </a:p>
                  </a:txBody>
                  <a:tcPr/>
                </a:tc>
              </a:tr>
              <a:tr h="370840">
                <a:tc>
                  <a:txBody>
                    <a:bodyPr/>
                    <a:lstStyle/>
                    <a:p>
                      <a:pPr algn="ctr"/>
                      <a:r>
                        <a:rPr lang="en-US" altLang="zh-TW" dirty="0" smtClean="0">
                          <a:latin typeface="+mj-lt"/>
                        </a:rPr>
                        <a:t>5</a:t>
                      </a:r>
                      <a:endParaRPr lang="zh-TW" altLang="en-US" dirty="0">
                        <a:latin typeface="+mj-lt"/>
                      </a:endParaRPr>
                    </a:p>
                  </a:txBody>
                  <a:tcPr/>
                </a:tc>
                <a:tc>
                  <a:txBody>
                    <a:bodyPr/>
                    <a:lstStyle/>
                    <a:p>
                      <a:pPr algn="ctr"/>
                      <a:r>
                        <a:rPr lang="en-US" altLang="zh-TW" dirty="0" smtClean="0">
                          <a:latin typeface="+mj-lt"/>
                        </a:rPr>
                        <a:t>{she, he}</a:t>
                      </a:r>
                      <a:endParaRPr lang="zh-TW" altLang="en-US" dirty="0">
                        <a:latin typeface="+mj-lt"/>
                      </a:endParaRPr>
                    </a:p>
                  </a:txBody>
                  <a:tcPr/>
                </a:tc>
              </a:tr>
              <a:tr h="370840">
                <a:tc>
                  <a:txBody>
                    <a:bodyPr/>
                    <a:lstStyle/>
                    <a:p>
                      <a:pPr algn="ctr"/>
                      <a:r>
                        <a:rPr lang="en-US" altLang="zh-TW" dirty="0" smtClean="0">
                          <a:latin typeface="+mj-lt"/>
                        </a:rPr>
                        <a:t>7</a:t>
                      </a:r>
                      <a:endParaRPr lang="zh-TW" altLang="en-US" dirty="0">
                        <a:latin typeface="+mj-lt"/>
                      </a:endParaRPr>
                    </a:p>
                  </a:txBody>
                  <a:tcPr/>
                </a:tc>
                <a:tc>
                  <a:txBody>
                    <a:bodyPr/>
                    <a:lstStyle/>
                    <a:p>
                      <a:pPr algn="ctr"/>
                      <a:r>
                        <a:rPr lang="en-US" altLang="zh-TW" dirty="0" smtClean="0">
                          <a:latin typeface="+mj-lt"/>
                        </a:rPr>
                        <a:t>{his}</a:t>
                      </a:r>
                      <a:endParaRPr lang="zh-TW" altLang="en-US" dirty="0">
                        <a:latin typeface="+mj-lt"/>
                      </a:endParaRPr>
                    </a:p>
                  </a:txBody>
                  <a:tcPr/>
                </a:tc>
              </a:tr>
              <a:tr h="370840">
                <a:tc>
                  <a:txBody>
                    <a:bodyPr/>
                    <a:lstStyle/>
                    <a:p>
                      <a:pPr algn="ctr"/>
                      <a:r>
                        <a:rPr lang="en-US" altLang="zh-TW" dirty="0" smtClean="0">
                          <a:latin typeface="+mj-lt"/>
                        </a:rPr>
                        <a:t>9</a:t>
                      </a:r>
                      <a:endParaRPr lang="zh-TW" altLang="en-US" dirty="0">
                        <a:latin typeface="+mj-lt"/>
                      </a:endParaRPr>
                    </a:p>
                  </a:txBody>
                  <a:tcPr/>
                </a:tc>
                <a:tc>
                  <a:txBody>
                    <a:bodyPr/>
                    <a:lstStyle/>
                    <a:p>
                      <a:pPr algn="ctr"/>
                      <a:r>
                        <a:rPr lang="en-US" altLang="zh-TW" dirty="0" smtClean="0">
                          <a:latin typeface="+mj-lt"/>
                        </a:rPr>
                        <a:t>{hers}</a:t>
                      </a:r>
                      <a:endParaRPr lang="zh-TW" altLang="en-US" dirty="0">
                        <a:latin typeface="+mj-lt"/>
                      </a:endParaRPr>
                    </a:p>
                  </a:txBody>
                  <a:tcPr/>
                </a:tc>
              </a:tr>
            </a:tbl>
          </a:graphicData>
        </a:graphic>
      </p:graphicFrame>
      <p:sp>
        <p:nvSpPr>
          <p:cNvPr id="6" name="文字方塊 5"/>
          <p:cNvSpPr txBox="1"/>
          <p:nvPr/>
        </p:nvSpPr>
        <p:spPr>
          <a:xfrm>
            <a:off x="1430762" y="4333746"/>
            <a:ext cx="2130711" cy="369332"/>
          </a:xfrm>
          <a:prstGeom prst="rect">
            <a:avLst/>
          </a:prstGeom>
          <a:noFill/>
          <a:ln>
            <a:solidFill>
              <a:srgbClr val="FF0000"/>
            </a:solidFill>
          </a:ln>
        </p:spPr>
        <p:txBody>
          <a:bodyPr wrap="none" rtlCol="0">
            <a:spAutoFit/>
          </a:bodyPr>
          <a:lstStyle/>
          <a:p>
            <a:r>
              <a:rPr lang="en-US" altLang="zh-TW" b="1" dirty="0" smtClean="0">
                <a:latin typeface="+mj-lt"/>
              </a:rPr>
              <a:t>Failure function</a:t>
            </a:r>
            <a:endParaRPr lang="zh-TW" altLang="en-US" b="1" dirty="0">
              <a:latin typeface="+mj-lt"/>
            </a:endParaRPr>
          </a:p>
        </p:txBody>
      </p:sp>
      <p:sp>
        <p:nvSpPr>
          <p:cNvPr id="8" name="文字方塊 7"/>
          <p:cNvSpPr txBox="1"/>
          <p:nvPr/>
        </p:nvSpPr>
        <p:spPr>
          <a:xfrm>
            <a:off x="107504" y="258862"/>
            <a:ext cx="1854995" cy="369332"/>
          </a:xfrm>
          <a:prstGeom prst="rect">
            <a:avLst/>
          </a:prstGeom>
          <a:noFill/>
          <a:ln>
            <a:solidFill>
              <a:srgbClr val="FF0000"/>
            </a:solidFill>
          </a:ln>
        </p:spPr>
        <p:txBody>
          <a:bodyPr wrap="none" rtlCol="0">
            <a:spAutoFit/>
          </a:bodyPr>
          <a:lstStyle/>
          <a:p>
            <a:r>
              <a:rPr lang="en-US" altLang="zh-TW" b="1" dirty="0" err="1" smtClean="0">
                <a:latin typeface="+mj-lt"/>
              </a:rPr>
              <a:t>Goto</a:t>
            </a:r>
            <a:r>
              <a:rPr lang="en-US" altLang="zh-TW" b="1" dirty="0" smtClean="0">
                <a:latin typeface="+mj-lt"/>
              </a:rPr>
              <a:t> function</a:t>
            </a:r>
            <a:endParaRPr lang="zh-TW" altLang="en-US" b="1" dirty="0">
              <a:latin typeface="+mj-lt"/>
            </a:endParaRPr>
          </a:p>
        </p:txBody>
      </p:sp>
      <p:sp>
        <p:nvSpPr>
          <p:cNvPr id="9" name="文字方塊 8"/>
          <p:cNvSpPr txBox="1"/>
          <p:nvPr/>
        </p:nvSpPr>
        <p:spPr>
          <a:xfrm>
            <a:off x="6444208" y="983274"/>
            <a:ext cx="2132315" cy="369332"/>
          </a:xfrm>
          <a:prstGeom prst="rect">
            <a:avLst/>
          </a:prstGeom>
          <a:noFill/>
          <a:ln>
            <a:solidFill>
              <a:srgbClr val="FF0000"/>
            </a:solidFill>
          </a:ln>
        </p:spPr>
        <p:txBody>
          <a:bodyPr wrap="none" rtlCol="0">
            <a:spAutoFit/>
          </a:bodyPr>
          <a:lstStyle/>
          <a:p>
            <a:r>
              <a:rPr lang="en-US" altLang="zh-TW" b="1" dirty="0" smtClean="0">
                <a:latin typeface="+mj-lt"/>
              </a:rPr>
              <a:t>Output function</a:t>
            </a:r>
            <a:endParaRPr lang="zh-TW" altLang="en-US" b="1" dirty="0">
              <a:latin typeface="+mj-lt"/>
            </a:endParaRPr>
          </a:p>
        </p:txBody>
      </p:sp>
    </p:spTree>
    <p:extLst>
      <p:ext uri="{BB962C8B-B14F-4D97-AF65-F5344CB8AC3E}">
        <p14:creationId xmlns:p14="http://schemas.microsoft.com/office/powerpoint/2010/main" val="21033864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Construction of </a:t>
            </a:r>
            <a:r>
              <a:rPr lang="en-US" altLang="zh-TW" dirty="0" err="1"/>
              <a:t>Goto</a:t>
            </a:r>
            <a:r>
              <a:rPr lang="en-US" altLang="zh-TW" dirty="0"/>
              <a:t>, Failure, and Output Functions</a:t>
            </a:r>
            <a:endParaRPr lang="zh-TW" altLang="en-US" dirty="0"/>
          </a:p>
        </p:txBody>
      </p:sp>
      <p:sp>
        <p:nvSpPr>
          <p:cNvPr id="3" name="內容版面配置區 2"/>
          <p:cNvSpPr>
            <a:spLocks noGrp="1"/>
          </p:cNvSpPr>
          <p:nvPr>
            <p:ph sz="quarter" idx="1"/>
          </p:nvPr>
        </p:nvSpPr>
        <p:spPr/>
        <p:txBody>
          <a:bodyPr/>
          <a:lstStyle/>
          <a:p>
            <a:r>
              <a:rPr lang="en-US" altLang="zh-TW" dirty="0">
                <a:latin typeface="+mj-lt"/>
              </a:rPr>
              <a:t>The failure function produced by Algorithm 3 is not optimal in the following sense.</a:t>
            </a:r>
          </a:p>
          <a:p>
            <a:r>
              <a:rPr lang="en-US" altLang="zh-TW" dirty="0">
                <a:latin typeface="+mj-lt"/>
              </a:rPr>
              <a:t>To avoid making unnecessary failure transitions we can use f', a generalization of the next function from [13].</a:t>
            </a:r>
          </a:p>
          <a:p>
            <a:r>
              <a:rPr lang="en-US" altLang="zh-TW" dirty="0">
                <a:latin typeface="+mj-lt"/>
              </a:rPr>
              <a:t>Using a deterministic finite automaton in Algorithm 1 can potentially reduce the number of state transitions by 50%.</a:t>
            </a:r>
          </a:p>
          <a:p>
            <a:endParaRPr lang="zh-TW" altLang="en-US" dirty="0">
              <a:latin typeface="+mj-lt"/>
            </a:endParaRPr>
          </a:p>
        </p:txBody>
      </p:sp>
    </p:spTree>
    <p:extLst>
      <p:ext uri="{BB962C8B-B14F-4D97-AF65-F5344CB8AC3E}">
        <p14:creationId xmlns:p14="http://schemas.microsoft.com/office/powerpoint/2010/main" val="28476054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4754" t="5648" r="5385" b="4154"/>
          <a:stretch/>
        </p:blipFill>
        <p:spPr bwMode="auto">
          <a:xfrm rot="5400000">
            <a:off x="1256096" y="518257"/>
            <a:ext cx="6803679" cy="5788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159285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40186434"/>
              </p:ext>
            </p:extLst>
          </p:nvPr>
        </p:nvGraphicFramePr>
        <p:xfrm>
          <a:off x="260678" y="4958650"/>
          <a:ext cx="4470880" cy="741680"/>
        </p:xfrm>
        <a:graphic>
          <a:graphicData uri="http://schemas.openxmlformats.org/drawingml/2006/table">
            <a:tbl>
              <a:tblPr firstRow="1" bandRow="1">
                <a:tableStyleId>{3B4B98B0-60AC-42C2-AFA5-B58CD77FA1E5}</a:tableStyleId>
              </a:tblPr>
              <a:tblGrid>
                <a:gridCol w="447088"/>
                <a:gridCol w="447088"/>
                <a:gridCol w="447088"/>
                <a:gridCol w="447088"/>
                <a:gridCol w="447088"/>
                <a:gridCol w="447088"/>
                <a:gridCol w="447088"/>
                <a:gridCol w="447088"/>
                <a:gridCol w="447088"/>
                <a:gridCol w="447088"/>
              </a:tblGrid>
              <a:tr h="370840">
                <a:tc>
                  <a:txBody>
                    <a:bodyPr/>
                    <a:lstStyle/>
                    <a:p>
                      <a:pPr algn="ctr"/>
                      <a:r>
                        <a:rPr lang="en-US" altLang="zh-TW" dirty="0" err="1" smtClean="0"/>
                        <a:t>i</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9</a:t>
                      </a:r>
                      <a:endParaRPr lang="zh-TW" altLang="en-US" dirty="0"/>
                    </a:p>
                  </a:txBody>
                  <a:tcPr/>
                </a:tc>
              </a:tr>
              <a:tr h="370840">
                <a:tc>
                  <a:txBody>
                    <a:bodyPr/>
                    <a:lstStyle/>
                    <a:p>
                      <a:pPr algn="ctr"/>
                      <a:r>
                        <a:rPr lang="en-US" altLang="zh-TW" dirty="0" smtClean="0"/>
                        <a:t>f(</a:t>
                      </a:r>
                      <a:r>
                        <a:rPr lang="en-US" altLang="zh-TW" dirty="0" err="1" smtClean="0"/>
                        <a:t>i</a:t>
                      </a: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r>
            </a:tbl>
          </a:graphicData>
        </a:graphic>
      </p:graphicFrame>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rot="5400000">
            <a:off x="1124518" y="755803"/>
            <a:ext cx="2743200" cy="477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648" t="13608" r="1018" b="1499"/>
          <a:stretch/>
        </p:blipFill>
        <p:spPr bwMode="auto">
          <a:xfrm rot="5400000">
            <a:off x="3717814" y="1431813"/>
            <a:ext cx="6772275" cy="40800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標題 4"/>
          <p:cNvSpPr>
            <a:spLocks noGrp="1"/>
          </p:cNvSpPr>
          <p:nvPr>
            <p:ph type="title"/>
          </p:nvPr>
        </p:nvSpPr>
        <p:spPr/>
        <p:txBody>
          <a:bodyPr/>
          <a:lstStyle/>
          <a:p>
            <a:r>
              <a:rPr lang="en-US" altLang="zh-TW" dirty="0" smtClean="0"/>
              <a:t>Next Move Function</a:t>
            </a:r>
            <a:endParaRPr lang="zh-TW" altLang="en-US" dirty="0"/>
          </a:p>
        </p:txBody>
      </p:sp>
    </p:spTree>
    <p:extLst>
      <p:ext uri="{BB962C8B-B14F-4D97-AF65-F5344CB8AC3E}">
        <p14:creationId xmlns:p14="http://schemas.microsoft.com/office/powerpoint/2010/main" val="20311593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08920"/>
            <a:ext cx="8229600" cy="1143000"/>
          </a:xfrm>
        </p:spPr>
        <p:txBody>
          <a:bodyPr/>
          <a:lstStyle/>
          <a:p>
            <a:r>
              <a:rPr lang="en-US" altLang="zh-TW" dirty="0" smtClean="0"/>
              <a:t>Thanks for your listening.</a:t>
            </a:r>
            <a:endParaRPr lang="zh-TW" altLang="en-US" dirty="0"/>
          </a:p>
        </p:txBody>
      </p:sp>
    </p:spTree>
    <p:extLst>
      <p:ext uri="{BB962C8B-B14F-4D97-AF65-F5344CB8AC3E}">
        <p14:creationId xmlns:p14="http://schemas.microsoft.com/office/powerpoint/2010/main" val="343778070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原創">
  <a:themeElements>
    <a:clrScheme name="原創">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原創">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原創">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2829</TotalTime>
  <Words>761</Words>
  <Application>Microsoft Office PowerPoint</Application>
  <PresentationFormat>如螢幕大小 (4:3)</PresentationFormat>
  <Paragraphs>128</Paragraphs>
  <Slides>17</Slides>
  <Notes>1</Notes>
  <HiddenSlides>0</HiddenSlides>
  <MMClips>0</MMClips>
  <ScaleCrop>false</ScaleCrop>
  <HeadingPairs>
    <vt:vector size="4" baseType="variant">
      <vt:variant>
        <vt:lpstr>佈景主題</vt:lpstr>
      </vt:variant>
      <vt:variant>
        <vt:i4>1</vt:i4>
      </vt:variant>
      <vt:variant>
        <vt:lpstr>投影片標題</vt:lpstr>
      </vt:variant>
      <vt:variant>
        <vt:i4>17</vt:i4>
      </vt:variant>
    </vt:vector>
  </HeadingPairs>
  <TitlesOfParts>
    <vt:vector size="18" baseType="lpstr">
      <vt:lpstr>原創</vt:lpstr>
      <vt:lpstr>Efficient String Matching: An Aid to Bibliographic Search</vt:lpstr>
      <vt:lpstr>Abstract</vt:lpstr>
      <vt:lpstr>Pattern Matching Machine</vt:lpstr>
      <vt:lpstr>PowerPoint 簡報</vt:lpstr>
      <vt:lpstr>PowerPoint 簡報</vt:lpstr>
      <vt:lpstr>Construction of Goto, Failure, and Output Functions</vt:lpstr>
      <vt:lpstr>PowerPoint 簡報</vt:lpstr>
      <vt:lpstr>Ex: support {he, she, his, hers} is the set of keywords.</vt:lpstr>
      <vt:lpstr>Construction of Goto, Failure, and Output Functions</vt:lpstr>
      <vt:lpstr>Construction of Goto, Failure, and Output Functions</vt:lpstr>
      <vt:lpstr>Construction of Goto, Failure, and Output Functions</vt:lpstr>
      <vt:lpstr>PowerPoint 簡報</vt:lpstr>
      <vt:lpstr>PowerPoint 簡報</vt:lpstr>
      <vt:lpstr>Construction of Goto, Failure, and Output Functions</vt:lpstr>
      <vt:lpstr>PowerPoint 簡報</vt:lpstr>
      <vt:lpstr>Next Move Function</vt:lpstr>
      <vt:lpstr>Thanks for your listening.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String Matching: An Aid to Bibliographic Search</dc:title>
  <dc:creator>Dale</dc:creator>
  <cp:lastModifiedBy>Dale</cp:lastModifiedBy>
  <cp:revision>94</cp:revision>
  <dcterms:created xsi:type="dcterms:W3CDTF">2013-10-05T17:05:03Z</dcterms:created>
  <dcterms:modified xsi:type="dcterms:W3CDTF">2014-01-14T10:06:11Z</dcterms:modified>
</cp:coreProperties>
</file>