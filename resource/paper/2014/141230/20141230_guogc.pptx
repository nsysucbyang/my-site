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1" autoAdjust="0"/>
    <p:restoredTop sz="94660"/>
  </p:normalViewPr>
  <p:slideViewPr>
    <p:cSldViewPr snapToGrid="0">
      <p:cViewPr varScale="1">
        <p:scale>
          <a:sx n="74" d="100"/>
          <a:sy n="74" d="100"/>
        </p:scale>
        <p:origin x="612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8C1D5E-CA88-47E7-A1AF-83074EEBD14F}" type="datetimeFigureOut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8C397-2813-4410-B634-0300BD7E6ED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0875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E3709-5335-4E69-9AD5-B2F4964FD5AF}" type="datetimeFigureOut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86E5D-B4F7-40A4-805D-3343EE18DE7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823413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682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D891A-6CE1-475A-8BC4-B44B220AB585}" type="datetime1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6105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5B4CE-DC3C-4FD0-AA2C-09EBEE42E41A}" type="datetime1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774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BDB1E-9715-4479-8CDB-519BBC2F2A74}" type="datetime1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00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83030-F6AF-4C09-A00E-73882DC68F39}" type="datetime1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576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61139-D0CD-43A1-8463-B105A7C89A03}" type="datetime1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394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3528-E33F-4B4D-87C9-C93A71B990B0}" type="datetime1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56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7104-A5E9-4F7D-9522-3E6CD35356F6}" type="datetime1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14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E425-A9D8-4C08-862C-484B62FB417E}" type="datetime1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272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ED0C6-1F49-470B-8215-3A723E114965}" type="datetime1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200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3ABA-B616-4E0B-A147-4915EEBEEF31}" type="datetime1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985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B8D6-91C2-4C8F-A1FF-0B080BF62742}" type="datetime1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425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17289-209F-4C9B-B238-F2BF25DE0A59}" type="datetime1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05CE1-0406-4D71-AD8F-8821D66E071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3499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69817" y="1122363"/>
            <a:ext cx="8288383" cy="2387600"/>
          </a:xfrm>
        </p:spPr>
        <p:txBody>
          <a:bodyPr>
            <a:noAutofit/>
          </a:bodyPr>
          <a:lstStyle/>
          <a:p>
            <a:pPr algn="l"/>
            <a:r>
              <a:rPr lang="en-US" altLang="zh-TW" sz="4800" dirty="0"/>
              <a:t>Time-Series Classification </a:t>
            </a:r>
            <a:r>
              <a:rPr lang="en-US" altLang="zh-TW" sz="4800" dirty="0" smtClean="0"/>
              <a:t>Based </a:t>
            </a:r>
            <a:r>
              <a:rPr lang="en-US" altLang="zh-TW" sz="4800" dirty="0"/>
              <a:t>on </a:t>
            </a:r>
            <a:r>
              <a:rPr lang="en-US" altLang="zh-TW" sz="4800" dirty="0" err="1" smtClean="0"/>
              <a:t>Individualised</a:t>
            </a:r>
            <a:r>
              <a:rPr lang="en-US" altLang="zh-TW" sz="4800" dirty="0" smtClean="0"/>
              <a:t> </a:t>
            </a:r>
            <a:r>
              <a:rPr lang="en-US" altLang="zh-TW" sz="4800" dirty="0"/>
              <a:t>Error Prediction</a:t>
            </a:r>
            <a:endParaRPr lang="zh-TW" altLang="en-US" sz="4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04949" y="3602038"/>
            <a:ext cx="8203474" cy="1655762"/>
          </a:xfrm>
        </p:spPr>
        <p:txBody>
          <a:bodyPr/>
          <a:lstStyle/>
          <a:p>
            <a:r>
              <a:rPr lang="en-US" altLang="zh-TW" dirty="0" err="1"/>
              <a:t>Krisztian</a:t>
            </a:r>
            <a:r>
              <a:rPr lang="en-US" altLang="zh-TW" dirty="0"/>
              <a:t> </a:t>
            </a:r>
            <a:r>
              <a:rPr lang="en-US" altLang="zh-TW" dirty="0" err="1"/>
              <a:t>Buza</a:t>
            </a:r>
            <a:r>
              <a:rPr lang="en-US" altLang="zh-TW" dirty="0"/>
              <a:t>, Alexandros </a:t>
            </a:r>
            <a:r>
              <a:rPr lang="en-US" altLang="zh-TW" dirty="0" err="1"/>
              <a:t>Nanopoulos</a:t>
            </a:r>
            <a:r>
              <a:rPr lang="en-US" altLang="zh-TW" dirty="0"/>
              <a:t>, Lars </a:t>
            </a:r>
            <a:r>
              <a:rPr lang="en-US" altLang="zh-TW" dirty="0" smtClean="0"/>
              <a:t>Schmidt-</a:t>
            </a:r>
            <a:r>
              <a:rPr lang="en-US" altLang="zh-TW" dirty="0" err="1" smtClean="0"/>
              <a:t>Thieme</a:t>
            </a:r>
            <a:endParaRPr lang="en-US" altLang="zh-TW" dirty="0" smtClean="0"/>
          </a:p>
          <a:p>
            <a:r>
              <a:rPr lang="en-US" altLang="zh-TW" dirty="0"/>
              <a:t>Computational Science and Engineering (CSE), 2010 IEEE 13th International Conference </a:t>
            </a:r>
            <a:r>
              <a:rPr lang="en-US" altLang="zh-TW" dirty="0" smtClean="0"/>
              <a:t>on pp.48-54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436096" y="5805264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Presenter</a:t>
            </a:r>
            <a:r>
              <a:rPr lang="zh-TW" altLang="en-US" dirty="0" smtClean="0"/>
              <a:t>：</a:t>
            </a:r>
            <a:r>
              <a:rPr lang="en-US" altLang="zh-TW" dirty="0" smtClean="0"/>
              <a:t>Guan-Cheng </a:t>
            </a:r>
            <a:r>
              <a:rPr lang="en-US" altLang="zh-TW" dirty="0" err="1" smtClean="0"/>
              <a:t>Guo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Date</a:t>
            </a:r>
            <a:r>
              <a:rPr lang="zh-TW" altLang="en-US" dirty="0" smtClean="0"/>
              <a:t>：</a:t>
            </a:r>
            <a:r>
              <a:rPr lang="en-US" altLang="zh-TW" dirty="0" smtClean="0"/>
              <a:t>2014/12/30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4009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209262"/>
            <a:ext cx="7886700" cy="809048"/>
          </a:xfrm>
        </p:spPr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0456" y="1184855"/>
            <a:ext cx="8461420" cy="5190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Time-series </a:t>
            </a:r>
            <a:r>
              <a:rPr lang="en-US" altLang="zh-TW" dirty="0"/>
              <a:t>classification is an active </a:t>
            </a:r>
            <a:r>
              <a:rPr lang="en-US" altLang="zh-TW" dirty="0" smtClean="0"/>
              <a:t>research topic </a:t>
            </a:r>
            <a:r>
              <a:rPr lang="en-US" altLang="zh-TW" dirty="0"/>
              <a:t>in machine learning, as it finds applications in </a:t>
            </a:r>
            <a:r>
              <a:rPr lang="en-US" altLang="zh-TW" dirty="0" smtClean="0"/>
              <a:t>numerous domains</a:t>
            </a:r>
            <a:r>
              <a:rPr lang="en-US" altLang="zh-TW" dirty="0"/>
              <a:t>. The k-NN classifier, based on the discrete </a:t>
            </a:r>
            <a:r>
              <a:rPr lang="en-US" altLang="zh-TW" dirty="0" smtClean="0"/>
              <a:t>time warping </a:t>
            </a:r>
            <a:r>
              <a:rPr lang="en-US" altLang="zh-TW" dirty="0"/>
              <a:t>(DTW) distance, had been shown to be </a:t>
            </a:r>
            <a:r>
              <a:rPr lang="en-US" altLang="zh-TW" dirty="0" smtClean="0"/>
              <a:t>competitive to </a:t>
            </a:r>
            <a:r>
              <a:rPr lang="en-US" altLang="zh-TW" dirty="0"/>
              <a:t>many state-of-the art time-series classification </a:t>
            </a:r>
            <a:r>
              <a:rPr lang="en-US" altLang="zh-TW" dirty="0" smtClean="0"/>
              <a:t>methods. Nevertheless</a:t>
            </a:r>
            <a:r>
              <a:rPr lang="en-US" altLang="zh-TW" dirty="0"/>
              <a:t>, due to the complexity of time-series data </a:t>
            </a:r>
            <a:r>
              <a:rPr lang="en-US" altLang="zh-TW" dirty="0" smtClean="0"/>
              <a:t>sets, our </a:t>
            </a:r>
            <a:r>
              <a:rPr lang="en-US" altLang="zh-TW" dirty="0"/>
              <a:t>investigation demonstrates that a single, global </a:t>
            </a:r>
            <a:r>
              <a:rPr lang="en-US" altLang="zh-TW" dirty="0" smtClean="0"/>
              <a:t>choice for </a:t>
            </a:r>
            <a:r>
              <a:rPr lang="en-US" altLang="zh-TW" dirty="0"/>
              <a:t>k </a:t>
            </a:r>
            <a:r>
              <a:rPr lang="en-US" altLang="zh-TW" dirty="0" smtClean="0"/>
              <a:t>(≥ </a:t>
            </a:r>
            <a:r>
              <a:rPr lang="en-US" altLang="zh-TW" dirty="0"/>
              <a:t>1) can become suboptimal, because each </a:t>
            </a:r>
            <a:r>
              <a:rPr lang="en-US" altLang="zh-TW" dirty="0" smtClean="0"/>
              <a:t>individual region </a:t>
            </a:r>
            <a:r>
              <a:rPr lang="en-US" altLang="zh-TW" dirty="0"/>
              <a:t>of a data set may require a different k value. 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305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209262"/>
            <a:ext cx="7886700" cy="809048"/>
          </a:xfrm>
        </p:spPr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96214" y="1120461"/>
            <a:ext cx="8731877" cy="57375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In this paper</a:t>
            </a:r>
            <a:r>
              <a:rPr lang="en-US" altLang="zh-TW" dirty="0"/>
              <a:t>, we proposed a novel individualized error </a:t>
            </a:r>
            <a:r>
              <a:rPr lang="en-US" altLang="zh-TW" dirty="0" smtClean="0"/>
              <a:t>prediction (IEP</a:t>
            </a:r>
            <a:r>
              <a:rPr lang="en-US" altLang="zh-TW" dirty="0"/>
              <a:t>) mechanism that considers a range of k-NN classifiers (</a:t>
            </a:r>
            <a:r>
              <a:rPr lang="en-US" altLang="zh-TW" dirty="0" smtClean="0"/>
              <a:t>for different </a:t>
            </a:r>
            <a:r>
              <a:rPr lang="en-US" altLang="zh-TW" dirty="0"/>
              <a:t>k values) and uses </a:t>
            </a:r>
            <a:r>
              <a:rPr lang="en-US" altLang="zh-TW" dirty="0" smtClean="0"/>
              <a:t>secondary </a:t>
            </a:r>
            <a:r>
              <a:rPr lang="en-US" altLang="zh-TW" dirty="0"/>
              <a:t>regression models </a:t>
            </a:r>
            <a:r>
              <a:rPr lang="en-US" altLang="zh-TW" dirty="0" smtClean="0"/>
              <a:t>that predict </a:t>
            </a:r>
            <a:r>
              <a:rPr lang="en-US" altLang="zh-TW" dirty="0"/>
              <a:t>the error of each such classifier. This permits to </a:t>
            </a:r>
            <a:r>
              <a:rPr lang="en-US" altLang="zh-TW" dirty="0" smtClean="0"/>
              <a:t>perform k-NN </a:t>
            </a:r>
            <a:r>
              <a:rPr lang="en-US" altLang="zh-TW" dirty="0"/>
              <a:t>time-series </a:t>
            </a:r>
            <a:r>
              <a:rPr lang="en-US" altLang="zh-TW" dirty="0" smtClean="0"/>
              <a:t>classification in a more fine grained fashion that adapts to the varying characteristics among different regions by </a:t>
            </a:r>
            <a:r>
              <a:rPr lang="en-US" altLang="zh-TW" dirty="0"/>
              <a:t>avoiding the restriction of a </a:t>
            </a:r>
            <a:r>
              <a:rPr lang="en-US" altLang="zh-TW" dirty="0" smtClean="0"/>
              <a:t>single </a:t>
            </a:r>
            <a:r>
              <a:rPr lang="en-US" altLang="zh-TW" dirty="0"/>
              <a:t>value of k. </a:t>
            </a:r>
            <a:r>
              <a:rPr lang="en-US" altLang="zh-TW" dirty="0" smtClean="0"/>
              <a:t>Our experimental </a:t>
            </a:r>
            <a:r>
              <a:rPr lang="en-US" altLang="zh-TW" dirty="0"/>
              <a:t>evaluation, using a large collection of real </a:t>
            </a:r>
            <a:r>
              <a:rPr lang="en-US" altLang="zh-TW" dirty="0" smtClean="0"/>
              <a:t>time-series data</a:t>
            </a:r>
            <a:r>
              <a:rPr lang="en-US" altLang="zh-TW" dirty="0"/>
              <a:t>, indicates that the proposed method is more </a:t>
            </a:r>
            <a:r>
              <a:rPr lang="en-US" altLang="zh-TW" dirty="0" smtClean="0"/>
              <a:t>robust and </a:t>
            </a:r>
            <a:r>
              <a:rPr lang="en-US" altLang="zh-TW" dirty="0"/>
              <a:t>compares favorably against two examined baselines </a:t>
            </a:r>
            <a:r>
              <a:rPr lang="en-US" altLang="zh-TW" dirty="0" smtClean="0"/>
              <a:t>by resulting </a:t>
            </a:r>
            <a:r>
              <a:rPr lang="en-US" altLang="zh-TW" dirty="0"/>
              <a:t>in significant reduction in the classification </a:t>
            </a:r>
            <a:r>
              <a:rPr lang="en-US" altLang="zh-TW" dirty="0" smtClean="0"/>
              <a:t>error.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635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1" y="146051"/>
            <a:ext cx="7886700" cy="901699"/>
          </a:xfrm>
        </p:spPr>
        <p:txBody>
          <a:bodyPr/>
          <a:lstStyle/>
          <a:p>
            <a:r>
              <a:rPr lang="en-US" altLang="zh-TW" dirty="0"/>
              <a:t>K-NN </a:t>
            </a:r>
            <a:r>
              <a:rPr lang="en-US" altLang="zh-TW" dirty="0" smtClean="0"/>
              <a:t>classifier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2952750" cy="4351338"/>
          </a:xfrm>
        </p:spPr>
        <p:txBody>
          <a:bodyPr/>
          <a:lstStyle/>
          <a:p>
            <a:r>
              <a:rPr lang="en-US" altLang="zh-TW" dirty="0" smtClean="0"/>
              <a:t>Assume ‘1</a:t>
            </a:r>
            <a:r>
              <a:rPr lang="en-US" altLang="zh-TW" dirty="0"/>
              <a:t>’ as a triangle, whereas ‘2’ as a circle</a:t>
            </a:r>
            <a:endParaRPr lang="zh-TW" altLang="en-US" dirty="0"/>
          </a:p>
        </p:txBody>
      </p:sp>
      <p:pic>
        <p:nvPicPr>
          <p:cNvPr id="1026" name="Picture 2" descr="C:\Users\yotsuki\Desktop\擷取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417" y="853083"/>
            <a:ext cx="5508133" cy="5811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956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3949" y="257576"/>
            <a:ext cx="8425198" cy="767183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Individualized Error Prediction(IEP)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83949" y="1239926"/>
                <a:ext cx="8425198" cy="5431329"/>
              </a:xfrm>
            </p:spPr>
            <p:txBody>
              <a:bodyPr/>
              <a:lstStyle/>
              <a:p>
                <a:r>
                  <a:rPr lang="en-US" altLang="zh-TW" dirty="0" smtClean="0"/>
                  <a:t>IEP considers </a:t>
                </a:r>
                <a:r>
                  <a:rPr lang="en-US" altLang="zh-TW" dirty="0"/>
                  <a:t>a range </a:t>
                </a:r>
                <a:r>
                  <a:rPr lang="en-US" altLang="zh-TW" dirty="0" smtClean="0"/>
                  <a:t>of k </a:t>
                </a:r>
                <a:r>
                  <a:rPr lang="en-US" altLang="zh-TW" dirty="0"/>
                  <a:t>values and predicts the error of each corresponding </a:t>
                </a:r>
                <a:r>
                  <a:rPr lang="en-US" altLang="zh-TW" dirty="0" smtClean="0"/>
                  <a:t>k-NN </a:t>
                </a:r>
                <a:r>
                  <a:rPr lang="en-US" altLang="zh-TW" dirty="0"/>
                  <a:t>classifier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The examined range of n values for k is denoted </a:t>
                </a:r>
                <a:r>
                  <a:rPr lang="en-US" altLang="zh-TW" dirty="0" smtClean="0"/>
                  <a:t>as{</a:t>
                </a:r>
                <a:r>
                  <a:rPr lang="en-US" altLang="zh-TW" dirty="0" err="1" smtClean="0"/>
                  <a:t>k</a:t>
                </a:r>
                <a:r>
                  <a:rPr lang="en-US" altLang="zh-TW" baseline="-25000" dirty="0" err="1" smtClean="0"/>
                  <a:t>i</a:t>
                </a:r>
                <a:r>
                  <a:rPr lang="en-US" altLang="zh-TW" dirty="0"/>
                  <a:t>} </a:t>
                </a:r>
                <a:r>
                  <a:rPr lang="en-US" altLang="zh-TW" dirty="0" smtClean="0"/>
                  <a:t>(1 ≤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≤ n). E(t, </a:t>
                </a:r>
                <a:r>
                  <a:rPr lang="en-US" altLang="zh-TW" dirty="0" err="1"/>
                  <a:t>k</a:t>
                </a:r>
                <a:r>
                  <a:rPr lang="en-US" altLang="zh-TW" baseline="-25000" dirty="0" err="1"/>
                  <a:t>i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denotes the error, i.e., the likelihood </a:t>
                </a:r>
                <a:r>
                  <a:rPr lang="en-US" altLang="zh-TW" dirty="0" smtClean="0"/>
                  <a:t>with which </a:t>
                </a:r>
                <a:r>
                  <a:rPr lang="en-US" altLang="zh-TW" dirty="0"/>
                  <a:t>the </a:t>
                </a:r>
                <a:r>
                  <a:rPr lang="en-US" altLang="zh-TW" dirty="0" err="1"/>
                  <a:t>k</a:t>
                </a:r>
                <a:r>
                  <a:rPr lang="en-US" altLang="zh-TW" baseline="-25000" dirty="0" err="1"/>
                  <a:t>i</a:t>
                </a:r>
                <a:r>
                  <a:rPr lang="en-US" altLang="zh-TW" dirty="0" smtClean="0"/>
                  <a:t>-NN classifier </a:t>
                </a:r>
                <a:r>
                  <a:rPr lang="en-US" altLang="zh-TW" dirty="0"/>
                  <a:t>will </a:t>
                </a:r>
                <a:r>
                  <a:rPr lang="en-US" altLang="zh-TW" dirty="0" smtClean="0"/>
                  <a:t>misclassify each test instance, t.</a:t>
                </a:r>
                <a:endParaRPr lang="en-US" altLang="zh-TW" dirty="0"/>
              </a:p>
              <a:p>
                <a:r>
                  <a:rPr lang="en-US" altLang="zh-TW" dirty="0"/>
                  <a:t>S</a:t>
                </a:r>
                <a:r>
                  <a:rPr lang="en-US" altLang="zh-TW" dirty="0" smtClean="0"/>
                  <a:t>elect k</a:t>
                </a:r>
                <a:r>
                  <a:rPr lang="en-US" altLang="zh-TW" baseline="30000" dirty="0" smtClean="0"/>
                  <a:t>*</a:t>
                </a:r>
                <a:r>
                  <a:rPr lang="en-US" altLang="zh-TW" dirty="0"/>
                  <a:t>that minimizes the predicted </a:t>
                </a:r>
                <a:r>
                  <a:rPr lang="en-US" altLang="zh-TW" dirty="0" smtClean="0"/>
                  <a:t>error: </a:t>
                </a:r>
                <a:r>
                  <a:rPr lang="en-US" altLang="zh-TW" dirty="0"/>
                  <a:t>k</a:t>
                </a:r>
                <a:r>
                  <a:rPr lang="en-US" altLang="zh-TW" baseline="30000" dirty="0" smtClean="0"/>
                  <a:t>*</a:t>
                </a:r>
                <a:r>
                  <a:rPr lang="en-US" altLang="zh-TW" dirty="0" smtClean="0"/>
                  <a:t> = </a:t>
                </a:r>
                <a:r>
                  <a:rPr lang="en-US" altLang="zh-TW" dirty="0" err="1" smtClean="0"/>
                  <a:t>argmin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baseline="-250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baseline="-25000" smtClean="0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altLang="zh-TW" b="0" i="1" baseline="-2500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baseline="-25000" dirty="0" smtClean="0"/>
                  <a:t> ,</a:t>
                </a:r>
                <a:r>
                  <a:rPr lang="en-US" altLang="zh-TW" baseline="-25000" dirty="0"/>
                  <a:t> 1 ≤ i ≤ n</a:t>
                </a:r>
                <a:r>
                  <a:rPr lang="en-US" altLang="zh-TW" dirty="0" smtClean="0"/>
                  <a:t>{ E(t, </a:t>
                </a:r>
                <a:r>
                  <a:rPr lang="en-US" altLang="zh-TW" dirty="0" err="1"/>
                  <a:t>k</a:t>
                </a:r>
                <a:r>
                  <a:rPr lang="en-US" altLang="zh-TW" baseline="-25000" dirty="0" err="1"/>
                  <a:t>i</a:t>
                </a:r>
                <a:r>
                  <a:rPr lang="en-US" altLang="zh-TW" dirty="0" smtClean="0"/>
                  <a:t>) }. </a:t>
                </a:r>
                <a:r>
                  <a:rPr lang="en-US" altLang="zh-TW" dirty="0"/>
                  <a:t>Finally, the k</a:t>
                </a:r>
                <a:r>
                  <a:rPr lang="en-US" altLang="zh-TW" baseline="30000" dirty="0"/>
                  <a:t>* </a:t>
                </a:r>
                <a:r>
                  <a:rPr lang="en-US" altLang="zh-TW" dirty="0" smtClean="0"/>
                  <a:t>-</a:t>
                </a:r>
                <a:r>
                  <a:rPr lang="en-US" altLang="zh-TW" dirty="0"/>
                  <a:t>NN </a:t>
                </a:r>
                <a:r>
                  <a:rPr lang="en-US" altLang="zh-TW" dirty="0" smtClean="0"/>
                  <a:t>classifier is </a:t>
                </a:r>
                <a:r>
                  <a:rPr lang="en-US" altLang="zh-TW" dirty="0"/>
                  <a:t>used to classify t.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3949" y="1239926"/>
                <a:ext cx="8425198" cy="5431329"/>
              </a:xfrm>
              <a:blipFill rotWithShape="1">
                <a:blip r:embed="rId2"/>
                <a:stretch>
                  <a:fillRect l="-1302" t="-1796" r="-15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C:\Users\yotsuki\Desktop\擷取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24" y="5027771"/>
            <a:ext cx="8544670" cy="1735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020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5538" y="215350"/>
            <a:ext cx="8891751" cy="730576"/>
          </a:xfrm>
        </p:spPr>
        <p:txBody>
          <a:bodyPr>
            <a:noAutofit/>
          </a:bodyPr>
          <a:lstStyle/>
          <a:p>
            <a:r>
              <a:rPr lang="en-US" altLang="zh-TW" dirty="0" smtClean="0"/>
              <a:t>Time-series Classification Based on IEP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3779" y="1066800"/>
            <a:ext cx="8647387" cy="53721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IEP-based </a:t>
            </a:r>
            <a:r>
              <a:rPr lang="en-US" altLang="zh-TW" dirty="0" smtClean="0"/>
              <a:t>classification involves </a:t>
            </a:r>
            <a:r>
              <a:rPr lang="en-US" altLang="zh-TW" dirty="0"/>
              <a:t>two types of models</a:t>
            </a:r>
            <a:r>
              <a:rPr lang="en-US" altLang="zh-TW" dirty="0" smtClean="0"/>
              <a:t>:</a:t>
            </a:r>
          </a:p>
          <a:p>
            <a:r>
              <a:rPr lang="en-US" altLang="zh-TW" dirty="0"/>
              <a:t>Primary models, which classify time series with the </a:t>
            </a:r>
            <a:r>
              <a:rPr lang="en-US" altLang="zh-TW" dirty="0" smtClean="0"/>
              <a:t>k-NN </a:t>
            </a:r>
            <a:r>
              <a:rPr lang="en-US" altLang="zh-TW" dirty="0"/>
              <a:t>classifier (based on the DTW distance</a:t>
            </a:r>
            <a:r>
              <a:rPr lang="en-US" altLang="zh-TW" dirty="0" smtClean="0"/>
              <a:t>).</a:t>
            </a:r>
            <a:endParaRPr lang="en-US" altLang="zh-TW" dirty="0"/>
          </a:p>
          <a:p>
            <a:r>
              <a:rPr lang="en-US" altLang="zh-TW" dirty="0"/>
              <a:t> Secondary models, which predict the error of the </a:t>
            </a:r>
            <a:r>
              <a:rPr lang="en-US" altLang="zh-TW" dirty="0" smtClean="0"/>
              <a:t>primary models.</a:t>
            </a:r>
          </a:p>
          <a:p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P</a:t>
            </a:r>
            <a:r>
              <a:rPr lang="en-US" altLang="zh-TW" dirty="0" smtClean="0"/>
              <a:t>artition </a:t>
            </a:r>
            <a:r>
              <a:rPr lang="en-US" altLang="zh-TW" dirty="0"/>
              <a:t>the </a:t>
            </a:r>
            <a:r>
              <a:rPr lang="en-US" altLang="zh-TW" dirty="0" smtClean="0"/>
              <a:t>original training </a:t>
            </a:r>
            <a:r>
              <a:rPr lang="en-US" altLang="zh-TW" dirty="0"/>
              <a:t>data set, D, in two disjoint subsets D</a:t>
            </a:r>
            <a:r>
              <a:rPr lang="en-US" altLang="zh-TW" baseline="-25000" dirty="0"/>
              <a:t>1</a:t>
            </a:r>
            <a:r>
              <a:rPr lang="en-US" altLang="zh-TW" dirty="0"/>
              <a:t> and </a:t>
            </a:r>
            <a:r>
              <a:rPr lang="en-US" altLang="zh-TW" dirty="0" smtClean="0"/>
              <a:t>D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. </a:t>
            </a:r>
            <a:r>
              <a:rPr lang="en-US" altLang="zh-TW" dirty="0"/>
              <a:t>D</a:t>
            </a:r>
            <a:r>
              <a:rPr lang="en-US" altLang="zh-TW" baseline="-25000" dirty="0"/>
              <a:t>2</a:t>
            </a:r>
            <a:r>
              <a:rPr lang="en-US" altLang="zh-TW" dirty="0" smtClean="0"/>
              <a:t> </a:t>
            </a:r>
            <a:r>
              <a:rPr lang="en-US" altLang="zh-TW" dirty="0"/>
              <a:t>is called hold-out set.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For each </a:t>
            </a:r>
            <a:r>
              <a:rPr lang="en-US" altLang="zh-TW" dirty="0"/>
              <a:t>time series t </a:t>
            </a:r>
            <a:r>
              <a:rPr lang="el-GR" altLang="zh-TW" dirty="0" smtClean="0"/>
              <a:t>ϵ</a:t>
            </a:r>
            <a:r>
              <a:rPr lang="en-US" altLang="zh-TW" dirty="0" smtClean="0"/>
              <a:t> </a:t>
            </a:r>
            <a:r>
              <a:rPr lang="en-US" altLang="zh-TW" dirty="0"/>
              <a:t>D</a:t>
            </a:r>
            <a:r>
              <a:rPr lang="en-US" altLang="zh-TW" baseline="-25000" dirty="0"/>
              <a:t>2</a:t>
            </a:r>
            <a:r>
              <a:rPr lang="en-US" altLang="zh-TW" dirty="0"/>
              <a:t>, and for each examined value of </a:t>
            </a:r>
            <a:r>
              <a:rPr lang="en-US" altLang="zh-TW" dirty="0" err="1" smtClean="0"/>
              <a:t>k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 in </a:t>
            </a:r>
            <a:r>
              <a:rPr lang="en-US" altLang="zh-TW" dirty="0"/>
              <a:t>a range </a:t>
            </a:r>
            <a:r>
              <a:rPr lang="en-US" altLang="zh-TW" dirty="0" smtClean="0"/>
              <a:t> 1 </a:t>
            </a:r>
            <a:r>
              <a:rPr lang="en-US" altLang="zh-TW" dirty="0"/>
              <a:t>≤ </a:t>
            </a:r>
            <a:r>
              <a:rPr lang="en-US" altLang="zh-TW" dirty="0" err="1"/>
              <a:t>i</a:t>
            </a:r>
            <a:r>
              <a:rPr lang="en-US" altLang="zh-TW" dirty="0"/>
              <a:t> ≤ </a:t>
            </a:r>
            <a:r>
              <a:rPr lang="en-US" altLang="zh-TW" dirty="0" smtClean="0"/>
              <a:t>n, </a:t>
            </a:r>
            <a:r>
              <a:rPr lang="en-US" altLang="zh-TW" dirty="0"/>
              <a:t>we use </a:t>
            </a:r>
            <a:r>
              <a:rPr lang="en-US" altLang="zh-TW" dirty="0" smtClean="0"/>
              <a:t>D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</a:t>
            </a:r>
            <a:r>
              <a:rPr lang="en-US" altLang="zh-TW" dirty="0"/>
              <a:t>to classify t with the </a:t>
            </a:r>
            <a:r>
              <a:rPr lang="en-US" altLang="zh-TW" dirty="0" err="1"/>
              <a:t>k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en-US" altLang="zh-TW" dirty="0" smtClean="0"/>
              <a:t>-NN classifier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8421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5538" y="215350"/>
            <a:ext cx="8891751" cy="730576"/>
          </a:xfrm>
        </p:spPr>
        <p:txBody>
          <a:bodyPr>
            <a:noAutofit/>
          </a:bodyPr>
          <a:lstStyle/>
          <a:p>
            <a:r>
              <a:rPr lang="en-US" altLang="zh-TW" dirty="0" smtClean="0"/>
              <a:t>Time-series Classification Based on IEP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3779" y="1066800"/>
            <a:ext cx="8726871" cy="5372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Based on the class label of t that is given in D</a:t>
            </a:r>
            <a:r>
              <a:rPr lang="en-US" altLang="zh-TW" baseline="-25000" dirty="0"/>
              <a:t>2</a:t>
            </a:r>
            <a:r>
              <a:rPr lang="en-US" altLang="zh-TW" dirty="0" smtClean="0"/>
              <a:t>, we determine </a:t>
            </a:r>
            <a:r>
              <a:rPr lang="en-US" altLang="zh-TW" dirty="0"/>
              <a:t>if the </a:t>
            </a:r>
            <a:r>
              <a:rPr lang="en-US" altLang="zh-TW" dirty="0" err="1"/>
              <a:t>k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en-US" altLang="zh-TW" dirty="0" smtClean="0"/>
              <a:t>-</a:t>
            </a:r>
            <a:r>
              <a:rPr lang="en-US" altLang="zh-TW" dirty="0"/>
              <a:t>NN classifier (for each 1 ≤</a:t>
            </a:r>
            <a:r>
              <a:rPr lang="en-US" altLang="zh-TW" dirty="0" smtClean="0"/>
              <a:t> </a:t>
            </a:r>
            <a:r>
              <a:rPr lang="en-US" altLang="zh-TW" dirty="0" err="1"/>
              <a:t>i</a:t>
            </a:r>
            <a:r>
              <a:rPr lang="en-US" altLang="zh-TW" dirty="0"/>
              <a:t> ≤</a:t>
            </a:r>
            <a:r>
              <a:rPr lang="en-US" altLang="zh-TW" dirty="0" smtClean="0"/>
              <a:t> n) has </a:t>
            </a:r>
            <a:r>
              <a:rPr lang="en-US" altLang="zh-TW" dirty="0"/>
              <a:t>correctly classified t. In case of correct classification, </a:t>
            </a:r>
            <a:r>
              <a:rPr lang="en-US" altLang="zh-TW" dirty="0" smtClean="0"/>
              <a:t>we associate </a:t>
            </a:r>
            <a:r>
              <a:rPr lang="en-US" altLang="zh-TW" dirty="0"/>
              <a:t>with t an error value of 0, otherwise we </a:t>
            </a:r>
            <a:r>
              <a:rPr lang="en-US" altLang="zh-TW" dirty="0" smtClean="0"/>
              <a:t>associate an </a:t>
            </a:r>
            <a:r>
              <a:rPr lang="en-US" altLang="zh-TW" dirty="0"/>
              <a:t>error value of 1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F</a:t>
            </a:r>
            <a:r>
              <a:rPr lang="en-US" altLang="zh-TW" dirty="0" smtClean="0"/>
              <a:t>rom the </a:t>
            </a:r>
            <a:r>
              <a:rPr lang="en-US" altLang="zh-TW" dirty="0"/>
              <a:t>hold-out set</a:t>
            </a:r>
            <a:r>
              <a:rPr lang="en-US" altLang="zh-TW" dirty="0" smtClean="0"/>
              <a:t> D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we can </a:t>
            </a:r>
            <a:r>
              <a:rPr lang="en-US" altLang="zh-TW" dirty="0"/>
              <a:t>generate n new data sets </a:t>
            </a:r>
            <a:r>
              <a:rPr lang="en-US" altLang="zh-TW" dirty="0" err="1" smtClean="0"/>
              <a:t>D’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, 1</a:t>
            </a:r>
            <a:r>
              <a:rPr lang="en-US" altLang="zh-TW" dirty="0"/>
              <a:t> ≤</a:t>
            </a:r>
            <a:r>
              <a:rPr lang="en-US" altLang="zh-TW" dirty="0" smtClean="0"/>
              <a:t> </a:t>
            </a:r>
            <a:r>
              <a:rPr lang="en-US" altLang="zh-TW" dirty="0" err="1"/>
              <a:t>i</a:t>
            </a:r>
            <a:r>
              <a:rPr lang="en-US" altLang="zh-TW" dirty="0"/>
              <a:t> ≤ </a:t>
            </a:r>
            <a:r>
              <a:rPr lang="en-US" altLang="zh-TW" dirty="0" smtClean="0"/>
              <a:t>n</a:t>
            </a:r>
            <a:r>
              <a:rPr lang="en-US" altLang="zh-TW" dirty="0"/>
              <a:t>. Each </a:t>
            </a:r>
            <a:r>
              <a:rPr lang="en-US" altLang="zh-TW" dirty="0" err="1"/>
              <a:t>D’</a:t>
            </a:r>
            <a:r>
              <a:rPr lang="en-US" altLang="zh-TW" baseline="-25000" dirty="0" err="1"/>
              <a:t>i</a:t>
            </a:r>
            <a:r>
              <a:rPr lang="en-US" altLang="zh-TW" dirty="0" smtClean="0"/>
              <a:t> contains </a:t>
            </a:r>
            <a:r>
              <a:rPr lang="en-US" altLang="zh-TW" dirty="0"/>
              <a:t>all time-series of </a:t>
            </a:r>
            <a:r>
              <a:rPr lang="en-US" altLang="zh-TW" dirty="0" smtClean="0"/>
              <a:t>the </a:t>
            </a:r>
            <a:r>
              <a:rPr lang="en-US" altLang="zh-TW" dirty="0"/>
              <a:t>hold-out set</a:t>
            </a:r>
            <a:r>
              <a:rPr lang="en-US" altLang="zh-TW" dirty="0" smtClean="0"/>
              <a:t> </a:t>
            </a:r>
            <a:r>
              <a:rPr lang="en-US" altLang="zh-TW" dirty="0"/>
              <a:t>D</a:t>
            </a:r>
            <a:r>
              <a:rPr lang="en-US" altLang="zh-TW" baseline="-25000" dirty="0"/>
              <a:t>2</a:t>
            </a:r>
            <a:r>
              <a:rPr lang="en-US" altLang="zh-TW" dirty="0" smtClean="0"/>
              <a:t> </a:t>
            </a:r>
            <a:r>
              <a:rPr lang="en-US" altLang="zh-TW" dirty="0"/>
              <a:t>along </a:t>
            </a:r>
            <a:r>
              <a:rPr lang="en-US" altLang="zh-TW" dirty="0" smtClean="0"/>
              <a:t>with their </a:t>
            </a:r>
            <a:r>
              <a:rPr lang="en-US" altLang="zh-TW" dirty="0"/>
              <a:t>associated error values (0 or 1) for the </a:t>
            </a:r>
            <a:r>
              <a:rPr lang="en-US" altLang="zh-TW" dirty="0" smtClean="0"/>
              <a:t>corresponding </a:t>
            </a:r>
            <a:r>
              <a:rPr lang="en-US" altLang="zh-TW" dirty="0" err="1" smtClean="0"/>
              <a:t>k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-NN </a:t>
            </a:r>
            <a:r>
              <a:rPr lang="en-US" altLang="zh-TW" dirty="0"/>
              <a:t>classifier.</a:t>
            </a:r>
          </a:p>
          <a:p>
            <a:endParaRPr lang="en-US" altLang="zh-TW" dirty="0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27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5538" y="215350"/>
            <a:ext cx="8891751" cy="730576"/>
          </a:xfrm>
        </p:spPr>
        <p:txBody>
          <a:bodyPr>
            <a:noAutofit/>
          </a:bodyPr>
          <a:lstStyle/>
          <a:p>
            <a:r>
              <a:rPr lang="en-US" altLang="zh-TW" dirty="0" smtClean="0"/>
              <a:t>Time-series Classification Based on IEP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3779" y="1066800"/>
            <a:ext cx="8726871" cy="3257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Each </a:t>
            </a:r>
            <a:r>
              <a:rPr lang="en-US" altLang="zh-TW" dirty="0"/>
              <a:t>generated </a:t>
            </a:r>
            <a:r>
              <a:rPr lang="en-US" altLang="zh-TW" dirty="0" err="1"/>
              <a:t>D’</a:t>
            </a:r>
            <a:r>
              <a:rPr lang="en-US" altLang="zh-TW" baseline="-25000" dirty="0" err="1"/>
              <a:t>i</a:t>
            </a:r>
            <a:r>
              <a:rPr lang="en-US" altLang="zh-TW" dirty="0" smtClean="0"/>
              <a:t> acts </a:t>
            </a:r>
            <a:r>
              <a:rPr lang="en-US" altLang="zh-TW" dirty="0"/>
              <a:t>as the training set for </a:t>
            </a:r>
            <a:r>
              <a:rPr lang="en-US" altLang="zh-TW" dirty="0" smtClean="0"/>
              <a:t>the corresponding </a:t>
            </a:r>
            <a:r>
              <a:rPr lang="en-US" altLang="zh-TW" dirty="0"/>
              <a:t>secondary model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r>
              <a:rPr lang="en-US" altLang="zh-TW" dirty="0" smtClean="0"/>
              <a:t>Implement </a:t>
            </a:r>
            <a:r>
              <a:rPr lang="en-US" altLang="zh-TW" dirty="0"/>
              <a:t>each secondary level model as a </a:t>
            </a:r>
            <a:r>
              <a:rPr lang="en-US" altLang="zh-TW" dirty="0" smtClean="0"/>
              <a:t>k’-NN regression </a:t>
            </a:r>
            <a:r>
              <a:rPr lang="en-US" altLang="zh-TW" dirty="0"/>
              <a:t>model based on the DTW distance</a:t>
            </a:r>
            <a:r>
              <a:rPr lang="en-US" altLang="zh-TW" dirty="0" smtClean="0"/>
              <a:t>.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3075" name="Picture 3" descr="C:\Users\yotsuki\Desktop\擷取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24" y="2762250"/>
            <a:ext cx="7599276" cy="4168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14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5538" y="215350"/>
            <a:ext cx="8891751" cy="730576"/>
          </a:xfrm>
        </p:spPr>
        <p:txBody>
          <a:bodyPr>
            <a:noAutofit/>
          </a:bodyPr>
          <a:lstStyle/>
          <a:p>
            <a:r>
              <a:rPr lang="en-US" altLang="zh-TW" dirty="0" smtClean="0"/>
              <a:t>Time-series Classification Based on IEP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3779" y="1066800"/>
            <a:ext cx="8726871" cy="160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The </a:t>
            </a:r>
            <a:r>
              <a:rPr lang="en-US" altLang="zh-TW" dirty="0"/>
              <a:t>secondary level </a:t>
            </a:r>
            <a:r>
              <a:rPr lang="en-US" altLang="zh-TW" dirty="0" smtClean="0"/>
              <a:t>prediction for </a:t>
            </a:r>
            <a:r>
              <a:rPr lang="en-US" altLang="zh-TW" dirty="0"/>
              <a:t>a time series t is calculated the following way</a:t>
            </a:r>
            <a:r>
              <a:rPr lang="en-US" altLang="zh-TW" dirty="0" smtClean="0"/>
              <a:t>:</a:t>
            </a:r>
            <a:br>
              <a:rPr lang="en-US" altLang="zh-TW" dirty="0" smtClean="0"/>
            </a:br>
            <a:endParaRPr lang="en-US" altLang="zh-TW" dirty="0" smtClean="0"/>
          </a:p>
          <a:p>
            <a:endParaRPr lang="en-US" altLang="zh-TW" dirty="0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5CE1-0406-4D71-AD8F-8821D66E0715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90525" y="3863338"/>
            <a:ext cx="8020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N(t) </a:t>
            </a:r>
            <a:r>
              <a:rPr lang="zh-TW" altLang="en-US" sz="2800" dirty="0"/>
              <a:t>⊂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D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 is the set of </a:t>
            </a:r>
            <a:r>
              <a:rPr lang="en-US" altLang="zh-TW" sz="2800" dirty="0" smtClean="0"/>
              <a:t>k’-</a:t>
            </a:r>
            <a:r>
              <a:rPr lang="en-US" altLang="zh-TW" sz="2800" dirty="0"/>
              <a:t>NNs of t and </a:t>
            </a:r>
            <a:endParaRPr lang="en-US" altLang="zh-TW" sz="2800" dirty="0" smtClean="0"/>
          </a:p>
          <a:p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e</a:t>
            </a:r>
            <a:r>
              <a:rPr lang="en-US" altLang="zh-TW" sz="2800" dirty="0" smtClean="0"/>
              <a:t>(</a:t>
            </a:r>
            <a:r>
              <a:rPr lang="en-US" altLang="zh-TW" sz="2800" dirty="0" err="1" smtClean="0"/>
              <a:t>t</a:t>
            </a:r>
            <a:r>
              <a:rPr lang="en-US" altLang="zh-TW" sz="2800" baseline="-25000" dirty="0" err="1" smtClean="0"/>
              <a:t>N</a:t>
            </a:r>
            <a:r>
              <a:rPr lang="en-US" altLang="zh-TW" sz="2800" dirty="0" smtClean="0"/>
              <a:t>, </a:t>
            </a:r>
            <a:r>
              <a:rPr lang="en-US" altLang="zh-TW" sz="2800" dirty="0" err="1" smtClean="0"/>
              <a:t>k</a:t>
            </a:r>
            <a:r>
              <a:rPr lang="en-US" altLang="zh-TW" sz="2800" baseline="-25000" dirty="0" err="1" smtClean="0"/>
              <a:t>i</a:t>
            </a:r>
            <a:r>
              <a:rPr lang="en-US" altLang="zh-TW" sz="2800" dirty="0" smtClean="0"/>
              <a:t>) is </a:t>
            </a:r>
            <a:r>
              <a:rPr lang="en-US" altLang="zh-TW" sz="2800" dirty="0"/>
              <a:t>the associated error value of each </a:t>
            </a:r>
            <a:r>
              <a:rPr lang="en-US" altLang="zh-TW" sz="2800" dirty="0" err="1"/>
              <a:t>t</a:t>
            </a:r>
            <a:r>
              <a:rPr lang="en-US" altLang="zh-TW" sz="2800" baseline="-25000" dirty="0" err="1"/>
              <a:t>N</a:t>
            </a:r>
            <a:r>
              <a:rPr lang="en-US" altLang="zh-TW" sz="2800" dirty="0" smtClean="0"/>
              <a:t> </a:t>
            </a:r>
            <a:r>
              <a:rPr lang="el-GR" altLang="zh-TW" sz="2800" dirty="0" smtClean="0"/>
              <a:t>ϵ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N(t).</a:t>
            </a:r>
            <a:endParaRPr lang="zh-TW" altLang="en-US" sz="28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345" y="2259049"/>
            <a:ext cx="4934792" cy="140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61925"/>
            <a:ext cx="7886700" cy="828676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4799" y="1076325"/>
            <a:ext cx="8639175" cy="5600700"/>
          </a:xfrm>
        </p:spPr>
        <p:txBody>
          <a:bodyPr/>
          <a:lstStyle/>
          <a:p>
            <a:r>
              <a:rPr lang="en-US" altLang="zh-TW" dirty="0" smtClean="0"/>
              <a:t>Compare </a:t>
            </a:r>
            <a:r>
              <a:rPr lang="en-US" altLang="zh-TW" dirty="0"/>
              <a:t>the proposed method, denoted </a:t>
            </a:r>
            <a:r>
              <a:rPr lang="en-US" altLang="zh-TW" dirty="0" smtClean="0"/>
              <a:t>as IEP</a:t>
            </a:r>
            <a:r>
              <a:rPr lang="en-US" altLang="zh-TW" dirty="0"/>
              <a:t>, against two baselines: the 1-NN classifier and the </a:t>
            </a:r>
            <a:r>
              <a:rPr lang="en-US" altLang="zh-TW" dirty="0" smtClean="0"/>
              <a:t>k-NN classifier </a:t>
            </a:r>
            <a:r>
              <a:rPr lang="en-US" altLang="zh-TW" dirty="0"/>
              <a:t>that selects k using a hold-out set from the </a:t>
            </a:r>
            <a:r>
              <a:rPr lang="en-US" altLang="zh-TW" dirty="0" smtClean="0"/>
              <a:t>training data.</a:t>
            </a:r>
          </a:p>
          <a:p>
            <a:endParaRPr lang="en-US" altLang="zh-TW" dirty="0" smtClean="0"/>
          </a:p>
          <a:p>
            <a:r>
              <a:rPr lang="en-US" altLang="zh-TW" dirty="0"/>
              <a:t>E</a:t>
            </a:r>
            <a:r>
              <a:rPr lang="en-US" altLang="zh-TW" dirty="0" smtClean="0"/>
              <a:t>xamine </a:t>
            </a:r>
            <a:r>
              <a:rPr lang="en-US" altLang="zh-TW" dirty="0"/>
              <a:t>all k values in </a:t>
            </a:r>
            <a:r>
              <a:rPr lang="en-US" altLang="zh-TW" dirty="0" smtClean="0"/>
              <a:t>the range 1-10. 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305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61925"/>
            <a:ext cx="7886700" cy="828676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4799" y="1076325"/>
            <a:ext cx="8639175" cy="5600700"/>
          </a:xfrm>
        </p:spPr>
        <p:txBody>
          <a:bodyPr/>
          <a:lstStyle/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100" name="Picture 4" descr="C:\Users\yotsuki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25" y="335418"/>
            <a:ext cx="9239250" cy="648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88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61925"/>
            <a:ext cx="7886700" cy="828676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4799" y="1076325"/>
            <a:ext cx="8639175" cy="5600700"/>
          </a:xfrm>
        </p:spPr>
        <p:txBody>
          <a:bodyPr/>
          <a:lstStyle/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122" name="Picture 2" descr="C:\Users\yotsuki\Desktop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9" y="2140038"/>
            <a:ext cx="7139155" cy="208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500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1179</TotalTime>
  <Words>691</Words>
  <Application>Microsoft Office PowerPoint</Application>
  <PresentationFormat>如螢幕大小 (4:3)</PresentationFormat>
  <Paragraphs>47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Cambria Math</vt:lpstr>
      <vt:lpstr>Office 佈景主題</vt:lpstr>
      <vt:lpstr>Time-Series Classification Based on Individualised Error Prediction</vt:lpstr>
      <vt:lpstr>Abstract</vt:lpstr>
      <vt:lpstr>Abstract</vt:lpstr>
      <vt:lpstr>K-NN classifier</vt:lpstr>
      <vt:lpstr>Individualized Error Prediction(IEP)</vt:lpstr>
      <vt:lpstr>Time-series Classification Based on IEP</vt:lpstr>
      <vt:lpstr>Time-series Classification Based on IEP</vt:lpstr>
      <vt:lpstr>Time-series Classification Based on IEP</vt:lpstr>
      <vt:lpstr>Time-series Classification Based on IEP</vt:lpstr>
      <vt:lpstr>Experimental Results</vt:lpstr>
      <vt:lpstr>Experimental Results</vt:lpstr>
      <vt:lpstr>Experimental Results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Time-Series Classification based on Individualised Error Prediction</dc:title>
  <dc:creator>guo</dc:creator>
  <cp:lastModifiedBy>guo</cp:lastModifiedBy>
  <cp:revision>52</cp:revision>
  <dcterms:created xsi:type="dcterms:W3CDTF">2014-12-29T07:56:09Z</dcterms:created>
  <dcterms:modified xsi:type="dcterms:W3CDTF">2014-12-30T11:18:42Z</dcterms:modified>
</cp:coreProperties>
</file>