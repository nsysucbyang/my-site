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60" r:id="rId4"/>
    <p:sldId id="258" r:id="rId5"/>
    <p:sldId id="261" r:id="rId6"/>
    <p:sldId id="263" r:id="rId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868EAB-B135-4EEF-83C8-3666596F7D3D}" type="datetimeFigureOut">
              <a:rPr lang="zh-TW" altLang="en-US" smtClean="0"/>
              <a:t>2014/2/25</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8569B-E4B3-46F0-9A8B-708DB1F5994F}" type="slidenum">
              <a:rPr lang="zh-TW" altLang="en-US" smtClean="0"/>
              <a:t>‹#›</a:t>
            </a:fld>
            <a:endParaRPr lang="zh-TW" altLang="en-US"/>
          </a:p>
        </p:txBody>
      </p:sp>
    </p:spTree>
    <p:extLst>
      <p:ext uri="{BB962C8B-B14F-4D97-AF65-F5344CB8AC3E}">
        <p14:creationId xmlns:p14="http://schemas.microsoft.com/office/powerpoint/2010/main" val="321620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4D98569B-E4B3-46F0-9A8B-708DB1F5994F}" type="slidenum">
              <a:rPr lang="zh-TW" altLang="en-US" smtClean="0"/>
              <a:t>1</a:t>
            </a:fld>
            <a:endParaRPr lang="zh-TW" altLang="en-US"/>
          </a:p>
        </p:txBody>
      </p:sp>
    </p:spTree>
    <p:extLst>
      <p:ext uri="{BB962C8B-B14F-4D97-AF65-F5344CB8AC3E}">
        <p14:creationId xmlns:p14="http://schemas.microsoft.com/office/powerpoint/2010/main" val="4082940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3446B186-02A0-4450-9970-ED40EC526A14}" type="datetime1">
              <a:rPr lang="zh-TW" altLang="en-US" smtClean="0"/>
              <a:t>2014/2/25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2124276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EB5899AC-91B3-4130-8D51-EFC218A6CC15}" type="datetime1">
              <a:rPr lang="zh-TW" altLang="en-US" smtClean="0"/>
              <a:t>2014/2/25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1745452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BC99E06-8B88-45F1-B8AA-255C9D1ADFE9}" type="datetime1">
              <a:rPr lang="zh-TW" altLang="en-US" smtClean="0"/>
              <a:t>2014/2/25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3900469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E35253B5-40EC-4294-B95C-3AD3F53D7F69}" type="datetime1">
              <a:rPr lang="zh-TW" altLang="en-US" smtClean="0"/>
              <a:t>2014/2/25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184683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E81FBF5B-B561-430E-B11C-CE171EE57257}" type="datetime1">
              <a:rPr lang="zh-TW" altLang="en-US" smtClean="0"/>
              <a:t>2014/2/25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3184178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4EC3D99A-D13E-4419-9D21-6BD25D94E8D2}" type="datetime1">
              <a:rPr lang="zh-TW" altLang="en-US" smtClean="0"/>
              <a:t>2014/2/25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413121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7D2187-015C-4076-BC7D-8B8472DB462F}" type="datetime1">
              <a:rPr lang="zh-TW" altLang="en-US" smtClean="0"/>
              <a:t>2014/2/25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3637654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6CC74867-80B7-4037-B782-09F5866CBD80}" type="datetime1">
              <a:rPr lang="zh-TW" altLang="en-US" smtClean="0"/>
              <a:t>2014/2/25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1002851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54F8678-41D7-4190-BB6C-A2189F8D28C0}" type="datetime1">
              <a:rPr lang="zh-TW" altLang="en-US" smtClean="0"/>
              <a:t>2014/2/25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3227055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F6EEFE2-BA0B-485F-8811-099F358FB97D}" type="datetime1">
              <a:rPr lang="zh-TW" altLang="en-US" smtClean="0"/>
              <a:t>2014/2/25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591882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6BFE38F9-1E1D-4358-9966-09F62BCC39F5}" type="datetime1">
              <a:rPr lang="zh-TW" altLang="en-US" smtClean="0"/>
              <a:t>2014/2/25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1952329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6FDB-E141-4954-95B3-16E863400D05}" type="datetime1">
              <a:rPr lang="zh-TW" altLang="en-US" smtClean="0"/>
              <a:t>2014/2/25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E3A866-001D-4873-95F9-BE963E587978}" type="slidenum">
              <a:rPr lang="zh-TW" altLang="en-US" smtClean="0"/>
              <a:t>‹#›</a:t>
            </a:fld>
            <a:endParaRPr lang="zh-TW" altLang="en-US"/>
          </a:p>
        </p:txBody>
      </p:sp>
    </p:spTree>
    <p:extLst>
      <p:ext uri="{BB962C8B-B14F-4D97-AF65-F5344CB8AC3E}">
        <p14:creationId xmlns:p14="http://schemas.microsoft.com/office/powerpoint/2010/main" val="41622102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p:txBody>
          <a:bodyPr/>
          <a:lstStyle/>
          <a:p>
            <a:r>
              <a:rPr lang="en-US" altLang="zh-TW" smtClean="0"/>
              <a:t>Comparison of Biosequences</a:t>
            </a:r>
            <a:endParaRPr lang="zh-TW" altLang="en-US" dirty="0"/>
          </a:p>
        </p:txBody>
      </p:sp>
      <p:sp>
        <p:nvSpPr>
          <p:cNvPr id="5" name="副標題 4"/>
          <p:cNvSpPr>
            <a:spLocks noGrp="1"/>
          </p:cNvSpPr>
          <p:nvPr>
            <p:ph type="subTitle" idx="1"/>
          </p:nvPr>
        </p:nvSpPr>
        <p:spPr/>
        <p:txBody>
          <a:bodyPr>
            <a:normAutofit/>
          </a:bodyPr>
          <a:lstStyle/>
          <a:p>
            <a:r>
              <a:rPr lang="en-US" altLang="zh-TW" sz="1600" dirty="0" smtClean="0"/>
              <a:t>TEMPLE F. SMITH, Northern Michigan University</a:t>
            </a:r>
          </a:p>
          <a:p>
            <a:r>
              <a:rPr lang="en-US" altLang="zh-TW" sz="1600" dirty="0" smtClean="0"/>
              <a:t> MICHAEL S. WATERMAN, Los Alamos Scientific Laboratory</a:t>
            </a:r>
          </a:p>
          <a:p>
            <a:r>
              <a:rPr lang="en-US" altLang="zh-TW" sz="1600" dirty="0" smtClean="0"/>
              <a:t>Advances in Applied Mathematics, December 1981, p482-489</a:t>
            </a:r>
          </a:p>
          <a:p>
            <a:r>
              <a:rPr lang="en-US" altLang="zh-TW" sz="1600" dirty="0" err="1" smtClean="0"/>
              <a:t>Presentator</a:t>
            </a:r>
            <a:r>
              <a:rPr lang="en-US" altLang="zh-TW" sz="1600" dirty="0" smtClean="0"/>
              <a:t> :</a:t>
            </a:r>
            <a:r>
              <a:rPr lang="zh-TW" altLang="en-US" sz="1600" dirty="0" smtClean="0"/>
              <a:t>許竣傑</a:t>
            </a:r>
            <a:endParaRPr lang="en-US" altLang="zh-TW" sz="1600" dirty="0" smtClean="0"/>
          </a:p>
        </p:txBody>
      </p:sp>
      <p:sp>
        <p:nvSpPr>
          <p:cNvPr id="2" name="投影片編號版面配置區 1"/>
          <p:cNvSpPr>
            <a:spLocks noGrp="1"/>
          </p:cNvSpPr>
          <p:nvPr>
            <p:ph type="sldNum" sz="quarter" idx="12"/>
          </p:nvPr>
        </p:nvSpPr>
        <p:spPr/>
        <p:txBody>
          <a:bodyPr/>
          <a:lstStyle/>
          <a:p>
            <a:fld id="{02E3A866-001D-4873-95F9-BE963E587978}" type="slidenum">
              <a:rPr lang="zh-TW" altLang="en-US" smtClean="0"/>
              <a:t>1</a:t>
            </a:fld>
            <a:endParaRPr lang="zh-TW" altLang="en-US" dirty="0"/>
          </a:p>
        </p:txBody>
      </p:sp>
    </p:spTree>
    <p:extLst>
      <p:ext uri="{BB962C8B-B14F-4D97-AF65-F5344CB8AC3E}">
        <p14:creationId xmlns:p14="http://schemas.microsoft.com/office/powerpoint/2010/main" val="36048813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lstStyle/>
          <a:p>
            <a:r>
              <a:rPr lang="en-US" altLang="zh-TW" dirty="0"/>
              <a:t>Homology and distance measures have been routinely used to compare two biological sequences, such as proteins or nucleic acids. The homology measure of Needleman and </a:t>
            </a:r>
            <a:r>
              <a:rPr lang="en-US" altLang="zh-TW" dirty="0" err="1" smtClean="0"/>
              <a:t>Wunsch</a:t>
            </a:r>
            <a:r>
              <a:rPr lang="en-US" altLang="zh-TW" dirty="0" smtClean="0"/>
              <a:t> is </a:t>
            </a:r>
            <a:r>
              <a:rPr lang="en-US" altLang="zh-TW" dirty="0"/>
              <a:t>shown, under general conditions, to be equivalent to the distance measure of Sellers. A new algorithm is given to find similar pairs of segments, one segment from each sequence. The new algorithm, based on homology measures, is compared to an earlier one due to Sellers.</a:t>
            </a:r>
            <a:endParaRPr lang="zh-TW" altLang="en-US" dirty="0"/>
          </a:p>
        </p:txBody>
      </p:sp>
      <p:sp>
        <p:nvSpPr>
          <p:cNvPr id="5" name="投影片編號版面配置區 4"/>
          <p:cNvSpPr>
            <a:spLocks noGrp="1"/>
          </p:cNvSpPr>
          <p:nvPr>
            <p:ph type="sldNum" sz="quarter" idx="12"/>
          </p:nvPr>
        </p:nvSpPr>
        <p:spPr/>
        <p:txBody>
          <a:bodyPr/>
          <a:lstStyle/>
          <a:p>
            <a:fld id="{02E3A866-001D-4873-95F9-BE963E587978}" type="slidenum">
              <a:rPr lang="zh-TW" altLang="en-US" smtClean="0"/>
              <a:t>2</a:t>
            </a:fld>
            <a:endParaRPr lang="zh-TW" altLang="en-US"/>
          </a:p>
        </p:txBody>
      </p:sp>
    </p:spTree>
    <p:extLst>
      <p:ext uri="{BB962C8B-B14F-4D97-AF65-F5344CB8AC3E}">
        <p14:creationId xmlns:p14="http://schemas.microsoft.com/office/powerpoint/2010/main" val="21941457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Similarity and Distance</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14:m>
                  <m:oMath xmlns:m="http://schemas.openxmlformats.org/officeDocument/2006/math">
                    <m:r>
                      <a:rPr lang="en-US" altLang="zh-TW" b="0" i="1" smtClean="0">
                        <a:latin typeface="Cambria Math" panose="02040503050406030204" pitchFamily="18" charset="0"/>
                      </a:rPr>
                      <m:t>𝑎</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2</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4</m:t>
                        </m:r>
                      </m:sub>
                    </m:sSub>
                  </m:oMath>
                </a14:m>
                <a:endParaRPr lang="en-US" altLang="zh-TW" dirty="0" smtClean="0"/>
              </a:p>
              <a:p>
                <a14:m>
                  <m:oMath xmlns:m="http://schemas.openxmlformats.org/officeDocument/2006/math">
                    <m:r>
                      <a:rPr lang="en-US" altLang="zh-TW" b="0" i="1" smtClean="0">
                        <a:latin typeface="Cambria Math" panose="02040503050406030204" pitchFamily="18" charset="0"/>
                      </a:rPr>
                      <m:t>𝑏</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b="0" i="1" smtClean="0">
                            <a:latin typeface="Cambria Math" panose="02040503050406030204" pitchFamily="18" charset="0"/>
                          </a:rPr>
                          <m:t>2</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b="0" i="1" smtClean="0">
                            <a:latin typeface="Cambria Math" panose="02040503050406030204" pitchFamily="18" charset="0"/>
                          </a:rPr>
                          <m:t>3</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b="0" i="1" smtClean="0">
                            <a:latin typeface="Cambria Math" panose="02040503050406030204" pitchFamily="18" charset="0"/>
                          </a:rPr>
                          <m:t>4</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b="0" i="1" smtClean="0">
                            <a:latin typeface="Cambria Math" panose="02040503050406030204" pitchFamily="18" charset="0"/>
                          </a:rPr>
                          <m:t>5</m:t>
                        </m:r>
                      </m:sub>
                    </m:sSub>
                  </m:oMath>
                </a14:m>
                <a:endParaRPr lang="en-US" altLang="zh-TW" dirty="0" smtClean="0"/>
              </a:p>
              <a:p>
                <a14:m>
                  <m:oMath xmlns:m="http://schemas.openxmlformats.org/officeDocument/2006/math">
                    <m:r>
                      <a:rPr lang="en-US" altLang="zh-TW" b="0" i="1" smtClean="0">
                        <a:latin typeface="Cambria Math" panose="02040503050406030204" pitchFamily="18" charset="0"/>
                      </a:rPr>
                      <m:t>𝐴</m:t>
                    </m:r>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b="0" i="1" smtClean="0">
                                <a:latin typeface="Cambria Math" panose="02040503050406030204" pitchFamily="18" charset="0"/>
                              </a:rPr>
                              <m:t>3</m:t>
                            </m:r>
                          </m:sub>
                        </m:sSub>
                      </m:e>
                    </m:d>
                    <m:r>
                      <a:rPr lang="en-US" altLang="zh-TW" b="0" i="1" smtClean="0">
                        <a:latin typeface="Cambria Math" panose="02040503050406030204" pitchFamily="18" charset="0"/>
                      </a:rPr>
                      <m:t>,</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b="0" i="1" smtClean="0">
                            <a:latin typeface="Cambria Math" panose="02040503050406030204" pitchFamily="18" charset="0"/>
                          </a:rPr>
                          <m:t>4</m:t>
                        </m:r>
                      </m:sub>
                    </m:sSub>
                    <m:r>
                      <a:rPr lang="en-US" altLang="zh-TW" i="1">
                        <a:latin typeface="Cambria Math" panose="02040503050406030204" pitchFamily="18" charset="0"/>
                      </a:rPr>
                      <m:t>)</m:t>
                    </m:r>
                  </m:oMath>
                </a14:m>
                <a:r>
                  <a:rPr lang="en-US" altLang="zh-TW" dirty="0" smtClean="0"/>
                  <a:t>,</a:t>
                </a:r>
                <a:r>
                  <a:rPr lang="en-US" altLang="zh-TW" dirty="0"/>
                  <a:t> </a:t>
                </a:r>
                <a14:m>
                  <m:oMath xmlns:m="http://schemas.openxmlformats.org/officeDocument/2006/math">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4</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b="0" i="1" smtClean="0">
                            <a:latin typeface="Cambria Math" panose="02040503050406030204" pitchFamily="18" charset="0"/>
                          </a:rPr>
                          <m:t>5</m:t>
                        </m:r>
                      </m:sub>
                    </m:sSub>
                    <m:r>
                      <a:rPr lang="en-US" altLang="zh-TW" i="1">
                        <a:latin typeface="Cambria Math" panose="02040503050406030204" pitchFamily="18" charset="0"/>
                      </a:rPr>
                      <m:t>)</m:t>
                    </m:r>
                  </m:oMath>
                </a14:m>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TW" altLang="en-US">
                    <a:noFill/>
                  </a:rPr>
                  <a:t> </a:t>
                </a:r>
              </a:p>
            </p:txBody>
          </p:sp>
        </mc:Fallback>
      </mc:AlternateContent>
      <p:pic>
        <p:nvPicPr>
          <p:cNvPr id="4" name="圖片 3"/>
          <p:cNvPicPr>
            <a:picLocks noChangeAspect="1"/>
          </p:cNvPicPr>
          <p:nvPr/>
        </p:nvPicPr>
        <p:blipFill>
          <a:blip r:embed="rId3"/>
          <a:stretch>
            <a:fillRect/>
          </a:stretch>
        </p:blipFill>
        <p:spPr>
          <a:xfrm>
            <a:off x="698054" y="3436705"/>
            <a:ext cx="3873946" cy="1129177"/>
          </a:xfrm>
          <a:prstGeom prst="rect">
            <a:avLst/>
          </a:prstGeom>
        </p:spPr>
      </p:pic>
      <p:pic>
        <p:nvPicPr>
          <p:cNvPr id="5" name="圖片 4"/>
          <p:cNvPicPr>
            <a:picLocks noChangeAspect="1"/>
          </p:cNvPicPr>
          <p:nvPr/>
        </p:nvPicPr>
        <p:blipFill>
          <a:blip r:embed="rId4"/>
          <a:stretch>
            <a:fillRect/>
          </a:stretch>
        </p:blipFill>
        <p:spPr>
          <a:xfrm>
            <a:off x="698054" y="4565882"/>
            <a:ext cx="5029316" cy="769611"/>
          </a:xfrm>
          <a:prstGeom prst="rect">
            <a:avLst/>
          </a:prstGeom>
        </p:spPr>
      </p:pic>
      <p:pic>
        <p:nvPicPr>
          <p:cNvPr id="6" name="圖片 5"/>
          <p:cNvPicPr>
            <a:picLocks noChangeAspect="1"/>
          </p:cNvPicPr>
          <p:nvPr/>
        </p:nvPicPr>
        <p:blipFill>
          <a:blip r:embed="rId5"/>
          <a:stretch>
            <a:fillRect/>
          </a:stretch>
        </p:blipFill>
        <p:spPr>
          <a:xfrm>
            <a:off x="698054" y="5335493"/>
            <a:ext cx="5256697" cy="1158255"/>
          </a:xfrm>
          <a:prstGeom prst="rect">
            <a:avLst/>
          </a:prstGeom>
        </p:spPr>
      </p:pic>
      <p:sp>
        <p:nvSpPr>
          <p:cNvPr id="8" name="投影片編號版面配置區 7"/>
          <p:cNvSpPr>
            <a:spLocks noGrp="1"/>
          </p:cNvSpPr>
          <p:nvPr>
            <p:ph type="sldNum" sz="quarter" idx="12"/>
          </p:nvPr>
        </p:nvSpPr>
        <p:spPr/>
        <p:txBody>
          <a:bodyPr/>
          <a:lstStyle/>
          <a:p>
            <a:fld id="{02E3A866-001D-4873-95F9-BE963E587978}" type="slidenum">
              <a:rPr lang="zh-TW" altLang="en-US" smtClean="0"/>
              <a:t>3</a:t>
            </a:fld>
            <a:endParaRPr lang="zh-TW" altLang="en-US"/>
          </a:p>
        </p:txBody>
      </p:sp>
    </p:spTree>
    <p:extLst>
      <p:ext uri="{BB962C8B-B14F-4D97-AF65-F5344CB8AC3E}">
        <p14:creationId xmlns:p14="http://schemas.microsoft.com/office/powerpoint/2010/main" val="16823184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Maximum Similarity Segments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圖片 3"/>
          <p:cNvPicPr>
            <a:picLocks noChangeAspect="1"/>
          </p:cNvPicPr>
          <p:nvPr/>
        </p:nvPicPr>
        <p:blipFill>
          <a:blip r:embed="rId2"/>
          <a:stretch>
            <a:fillRect/>
          </a:stretch>
        </p:blipFill>
        <p:spPr>
          <a:xfrm>
            <a:off x="684175" y="3019573"/>
            <a:ext cx="7720901" cy="1963441"/>
          </a:xfrm>
          <a:prstGeom prst="rect">
            <a:avLst/>
          </a:prstGeom>
        </p:spPr>
      </p:pic>
      <p:pic>
        <p:nvPicPr>
          <p:cNvPr id="6" name="圖片 5"/>
          <p:cNvPicPr>
            <a:picLocks noChangeAspect="1"/>
          </p:cNvPicPr>
          <p:nvPr/>
        </p:nvPicPr>
        <p:blipFill>
          <a:blip r:embed="rId3"/>
          <a:stretch>
            <a:fillRect/>
          </a:stretch>
        </p:blipFill>
        <p:spPr>
          <a:xfrm>
            <a:off x="803328" y="1963367"/>
            <a:ext cx="7601748" cy="648592"/>
          </a:xfrm>
          <a:prstGeom prst="rect">
            <a:avLst/>
          </a:prstGeom>
        </p:spPr>
      </p:pic>
      <p:sp>
        <p:nvSpPr>
          <p:cNvPr id="7" name="投影片編號版面配置區 6"/>
          <p:cNvSpPr>
            <a:spLocks noGrp="1"/>
          </p:cNvSpPr>
          <p:nvPr>
            <p:ph type="sldNum" sz="quarter" idx="12"/>
          </p:nvPr>
        </p:nvSpPr>
        <p:spPr/>
        <p:txBody>
          <a:bodyPr/>
          <a:lstStyle/>
          <a:p>
            <a:fld id="{02E3A866-001D-4873-95F9-BE963E587978}" type="slidenum">
              <a:rPr lang="zh-TW" altLang="en-US" smtClean="0"/>
              <a:t>4</a:t>
            </a:fld>
            <a:endParaRPr lang="zh-TW" altLang="en-US"/>
          </a:p>
        </p:txBody>
      </p:sp>
    </p:spTree>
    <p:extLst>
      <p:ext uri="{BB962C8B-B14F-4D97-AF65-F5344CB8AC3E}">
        <p14:creationId xmlns:p14="http://schemas.microsoft.com/office/powerpoint/2010/main" val="16475445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Ma</a:t>
            </a:r>
            <a:r>
              <a:rPr lang="en-US" altLang="zh-TW" dirty="0"/>
              <a:t>x</a:t>
            </a:r>
            <a:r>
              <a:rPr lang="en-US" altLang="zh-TW" dirty="0" smtClean="0"/>
              <a:t>imum </a:t>
            </a:r>
            <a:r>
              <a:rPr lang="en-US" altLang="zh-TW" dirty="0"/>
              <a:t>Similarity Segments</a:t>
            </a:r>
            <a:endParaRPr lang="zh-TW" altLang="en-US" dirty="0"/>
          </a:p>
        </p:txBody>
      </p:sp>
      <p:pic>
        <p:nvPicPr>
          <p:cNvPr id="4" name="圖片 3"/>
          <p:cNvPicPr>
            <a:picLocks noChangeAspect="1"/>
          </p:cNvPicPr>
          <p:nvPr/>
        </p:nvPicPr>
        <p:blipFill>
          <a:blip r:embed="rId2"/>
          <a:stretch>
            <a:fillRect/>
          </a:stretch>
        </p:blipFill>
        <p:spPr>
          <a:xfrm>
            <a:off x="416776" y="2195117"/>
            <a:ext cx="8098573" cy="4633137"/>
          </a:xfrm>
          <a:prstGeom prst="rect">
            <a:avLst/>
          </a:prstGeom>
        </p:spPr>
      </p:pic>
      <mc:AlternateContent xmlns:mc="http://schemas.openxmlformats.org/markup-compatibility/2006">
        <mc:Choice xmlns:a14="http://schemas.microsoft.com/office/drawing/2010/main" Requires="a14">
          <p:sp>
            <p:nvSpPr>
              <p:cNvPr id="5" name="矩形 4"/>
              <p:cNvSpPr/>
              <p:nvPr/>
            </p:nvSpPr>
            <p:spPr>
              <a:xfrm>
                <a:off x="628650" y="1506023"/>
                <a:ext cx="223176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𝑠</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e>
                      </m:d>
                      <m:r>
                        <a:rPr lang="en-US" altLang="zh-TW" b="0" i="1" smtClean="0">
                          <a:latin typeface="Cambria Math" panose="02040503050406030204" pitchFamily="18" charset="0"/>
                        </a:rPr>
                        <m:t>=1, </m:t>
                      </m:r>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oMath>
                  </m:oMathPara>
                </a14:m>
                <a:endParaRPr lang="zh-TW" altLang="en-US" dirty="0"/>
              </a:p>
            </p:txBody>
          </p:sp>
        </mc:Choice>
        <mc:Fallback>
          <p:sp>
            <p:nvSpPr>
              <p:cNvPr id="5" name="矩形 4"/>
              <p:cNvSpPr>
                <a:spLocks noRot="1" noChangeAspect="1" noMove="1" noResize="1" noEditPoints="1" noAdjustHandles="1" noChangeArrowheads="1" noChangeShapeType="1" noTextEdit="1"/>
              </p:cNvSpPr>
              <p:nvPr/>
            </p:nvSpPr>
            <p:spPr>
              <a:xfrm>
                <a:off x="628650" y="1506023"/>
                <a:ext cx="2231765" cy="369332"/>
              </a:xfrm>
              <a:prstGeom prst="rect">
                <a:avLst/>
              </a:prstGeom>
              <a:blipFill rotWithShape="0">
                <a:blip r:embed="rId3"/>
                <a:stretch>
                  <a:fillRect b="-1311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628649" y="1825785"/>
                <a:ext cx="2481833" cy="6127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𝑠</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e>
                      </m:d>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3</m:t>
                          </m:r>
                        </m:den>
                      </m:f>
                      <m:r>
                        <a:rPr lang="en-US" altLang="zh-TW" b="0" i="1" smtClean="0">
                          <a:latin typeface="Cambria Math" panose="02040503050406030204" pitchFamily="18" charset="0"/>
                        </a:rPr>
                        <m:t>, </m:t>
                      </m:r>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𝑎</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rPr>
                        <m:t>𝑏</m:t>
                      </m:r>
                    </m:oMath>
                  </m:oMathPara>
                </a14:m>
                <a:endParaRPr lang="zh-TW" altLang="en-US" dirty="0"/>
              </a:p>
            </p:txBody>
          </p:sp>
        </mc:Choice>
        <mc:Fallback>
          <p:sp>
            <p:nvSpPr>
              <p:cNvPr id="6" name="矩形 5"/>
              <p:cNvSpPr>
                <a:spLocks noRot="1" noChangeAspect="1" noMove="1" noResize="1" noEditPoints="1" noAdjustHandles="1" noChangeArrowheads="1" noChangeShapeType="1" noTextEdit="1"/>
              </p:cNvSpPr>
              <p:nvPr/>
            </p:nvSpPr>
            <p:spPr>
              <a:xfrm>
                <a:off x="628649" y="1825785"/>
                <a:ext cx="2481833" cy="612732"/>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3216437" y="1771376"/>
                <a:ext cx="1355563" cy="61824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=1+</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𝑘</m:t>
                          </m:r>
                        </m:num>
                        <m:den>
                          <m:r>
                            <a:rPr lang="en-US" altLang="zh-TW" b="0" i="1" smtClean="0">
                              <a:latin typeface="Cambria Math" panose="02040503050406030204" pitchFamily="18" charset="0"/>
                            </a:rPr>
                            <m:t>3</m:t>
                          </m:r>
                        </m:den>
                      </m:f>
                    </m:oMath>
                  </m:oMathPara>
                </a14:m>
                <a:endParaRPr lang="zh-TW" altLang="en-US" dirty="0"/>
              </a:p>
            </p:txBody>
          </p:sp>
        </mc:Choice>
        <mc:Fallback>
          <p:sp>
            <p:nvSpPr>
              <p:cNvPr id="7" name="矩形 6"/>
              <p:cNvSpPr>
                <a:spLocks noRot="1" noChangeAspect="1" noMove="1" noResize="1" noEditPoints="1" noAdjustHandles="1" noChangeArrowheads="1" noChangeShapeType="1" noTextEdit="1"/>
              </p:cNvSpPr>
              <p:nvPr/>
            </p:nvSpPr>
            <p:spPr>
              <a:xfrm>
                <a:off x="3216437" y="1771376"/>
                <a:ext cx="1355563" cy="618246"/>
              </a:xfrm>
              <a:prstGeom prst="rect">
                <a:avLst/>
              </a:prstGeom>
              <a:blipFill rotWithShape="0">
                <a:blip r:embed="rId5"/>
                <a:stretch>
                  <a:fillRect/>
                </a:stretch>
              </a:blipFill>
            </p:spPr>
            <p:txBody>
              <a:bodyPr/>
              <a:lstStyle/>
              <a:p>
                <a:r>
                  <a:rPr lang="zh-TW" altLang="en-US">
                    <a:noFill/>
                  </a:rPr>
                  <a:t> </a:t>
                </a:r>
              </a:p>
            </p:txBody>
          </p:sp>
        </mc:Fallback>
      </mc:AlternateContent>
      <p:sp>
        <p:nvSpPr>
          <p:cNvPr id="8" name="橢圓 7"/>
          <p:cNvSpPr/>
          <p:nvPr/>
        </p:nvSpPr>
        <p:spPr>
          <a:xfrm>
            <a:off x="5339622" y="5383084"/>
            <a:ext cx="425558" cy="3400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4756041" y="5043002"/>
            <a:ext cx="425558" cy="3400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4253283" y="4839325"/>
            <a:ext cx="425558" cy="3400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3691826" y="4341644"/>
            <a:ext cx="425558" cy="3400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3145841" y="4001562"/>
            <a:ext cx="425558" cy="3400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2590610" y="3764431"/>
            <a:ext cx="425558" cy="3400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628649" y="4625726"/>
            <a:ext cx="318496" cy="21359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p:nvSpPr>
        <p:spPr>
          <a:xfrm>
            <a:off x="5714377" y="1484883"/>
            <a:ext cx="1756939" cy="646331"/>
          </a:xfrm>
          <a:prstGeom prst="rect">
            <a:avLst/>
          </a:prstGeom>
        </p:spPr>
        <p:txBody>
          <a:bodyPr wrap="square">
            <a:spAutoFit/>
          </a:bodyPr>
          <a:lstStyle/>
          <a:p>
            <a:r>
              <a:rPr lang="en-US" altLang="zh-TW" dirty="0" smtClean="0"/>
              <a:t>G C </a:t>
            </a:r>
            <a:r>
              <a:rPr lang="en-US" altLang="zh-TW" dirty="0" err="1" smtClean="0"/>
              <a:t>C</a:t>
            </a:r>
            <a:r>
              <a:rPr lang="en-US" altLang="zh-TW" dirty="0" smtClean="0"/>
              <a:t> A U </a:t>
            </a:r>
            <a:r>
              <a:rPr lang="en-US" altLang="zh-TW" dirty="0" err="1" smtClean="0"/>
              <a:t>U</a:t>
            </a:r>
            <a:r>
              <a:rPr lang="en-US" altLang="zh-TW" dirty="0" smtClean="0"/>
              <a:t> G</a:t>
            </a:r>
          </a:p>
          <a:p>
            <a:r>
              <a:rPr lang="en-US" altLang="zh-TW" dirty="0" smtClean="0"/>
              <a:t>G C </a:t>
            </a:r>
            <a:r>
              <a:rPr lang="en-US" altLang="zh-TW" dirty="0" err="1" smtClean="0"/>
              <a:t>C</a:t>
            </a:r>
            <a:r>
              <a:rPr lang="en-US" altLang="zh-TW" dirty="0" smtClean="0"/>
              <a:t> </a:t>
            </a:r>
            <a:r>
              <a:rPr lang="zh-TW" altLang="en-US" dirty="0" smtClean="0"/>
              <a:t>∆</a:t>
            </a:r>
            <a:r>
              <a:rPr lang="en-US" altLang="zh-TW" dirty="0" smtClean="0"/>
              <a:t> U C G</a:t>
            </a:r>
            <a:endParaRPr lang="zh-TW" altLang="en-US" dirty="0"/>
          </a:p>
        </p:txBody>
      </p:sp>
      <p:sp>
        <p:nvSpPr>
          <p:cNvPr id="25" name="投影片編號版面配置區 24"/>
          <p:cNvSpPr>
            <a:spLocks noGrp="1"/>
          </p:cNvSpPr>
          <p:nvPr>
            <p:ph type="sldNum" sz="quarter" idx="12"/>
          </p:nvPr>
        </p:nvSpPr>
        <p:spPr/>
        <p:txBody>
          <a:bodyPr/>
          <a:lstStyle/>
          <a:p>
            <a:fld id="{02E3A866-001D-4873-95F9-BE963E587978}" type="slidenum">
              <a:rPr lang="zh-TW" altLang="en-US" smtClean="0"/>
              <a:t>5</a:t>
            </a:fld>
            <a:endParaRPr lang="zh-TW" altLang="en-US"/>
          </a:p>
        </p:txBody>
      </p:sp>
      <p:sp>
        <p:nvSpPr>
          <p:cNvPr id="26" name="橢圓 25"/>
          <p:cNvSpPr/>
          <p:nvPr/>
        </p:nvSpPr>
        <p:spPr>
          <a:xfrm>
            <a:off x="5843264" y="4010805"/>
            <a:ext cx="914400" cy="389816"/>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842917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Thank You</a:t>
            </a:r>
            <a:endParaRPr lang="zh-TW" altLang="en-US" dirty="0"/>
          </a:p>
        </p:txBody>
      </p:sp>
      <p:sp>
        <p:nvSpPr>
          <p:cNvPr id="5" name="投影片編號版面配置區 4"/>
          <p:cNvSpPr>
            <a:spLocks noGrp="1"/>
          </p:cNvSpPr>
          <p:nvPr>
            <p:ph type="sldNum" sz="quarter" idx="12"/>
          </p:nvPr>
        </p:nvSpPr>
        <p:spPr/>
        <p:txBody>
          <a:bodyPr/>
          <a:lstStyle/>
          <a:p>
            <a:fld id="{02E3A866-001D-4873-95F9-BE963E587978}" type="slidenum">
              <a:rPr lang="zh-TW" altLang="en-US" smtClean="0"/>
              <a:t>6</a:t>
            </a:fld>
            <a:endParaRPr lang="zh-TW" altLang="en-US"/>
          </a:p>
        </p:txBody>
      </p:sp>
    </p:spTree>
    <p:extLst>
      <p:ext uri="{BB962C8B-B14F-4D97-AF65-F5344CB8AC3E}">
        <p14:creationId xmlns:p14="http://schemas.microsoft.com/office/powerpoint/2010/main" val="38363195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TotalTime>
  <Words>156</Words>
  <Application>Microsoft Office PowerPoint</Application>
  <PresentationFormat>如螢幕大小 (4:3)</PresentationFormat>
  <Paragraphs>26</Paragraphs>
  <Slides>6</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vt:i4>
      </vt:variant>
    </vt:vector>
  </HeadingPairs>
  <TitlesOfParts>
    <vt:vector size="12" baseType="lpstr">
      <vt:lpstr>新細明體</vt:lpstr>
      <vt:lpstr>Arial</vt:lpstr>
      <vt:lpstr>Calibri</vt:lpstr>
      <vt:lpstr>Calibri Light</vt:lpstr>
      <vt:lpstr>Cambria Math</vt:lpstr>
      <vt:lpstr>Office 佈景主題</vt:lpstr>
      <vt:lpstr>Comparison of Biosequences</vt:lpstr>
      <vt:lpstr>Abstract</vt:lpstr>
      <vt:lpstr>Similarity and Distance</vt:lpstr>
      <vt:lpstr>Maximum Similarity Segments</vt:lpstr>
      <vt:lpstr>Maximum Similarity Segments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Comparison of Biosequences</dc:title>
  <dc:creator>shiujj</dc:creator>
  <cp:lastModifiedBy>shiujj</cp:lastModifiedBy>
  <cp:revision>10</cp:revision>
  <dcterms:created xsi:type="dcterms:W3CDTF">2014-02-21T09:41:11Z</dcterms:created>
  <dcterms:modified xsi:type="dcterms:W3CDTF">2014-02-25T04:08:01Z</dcterms:modified>
</cp:coreProperties>
</file>