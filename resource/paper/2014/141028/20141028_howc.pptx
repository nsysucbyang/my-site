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4" r:id="rId6"/>
    <p:sldId id="285" r:id="rId7"/>
    <p:sldId id="291" r:id="rId8"/>
    <p:sldId id="282" r:id="rId9"/>
    <p:sldId id="301" r:id="rId10"/>
    <p:sldId id="286" r:id="rId11"/>
    <p:sldId id="303" r:id="rId12"/>
    <p:sldId id="289" r:id="rId13"/>
    <p:sldId id="288" r:id="rId14"/>
    <p:sldId id="307" r:id="rId15"/>
    <p:sldId id="290" r:id="rId16"/>
    <p:sldId id="305" r:id="rId17"/>
    <p:sldId id="306" r:id="rId18"/>
    <p:sldId id="281" r:id="rId19"/>
    <p:sldId id="277" r:id="rId20"/>
    <p:sldId id="258" r:id="rId21"/>
    <p:sldId id="292" r:id="rId22"/>
    <p:sldId id="259" r:id="rId23"/>
    <p:sldId id="293" r:id="rId24"/>
    <p:sldId id="260" r:id="rId25"/>
    <p:sldId id="294" r:id="rId26"/>
    <p:sldId id="261" r:id="rId27"/>
    <p:sldId id="295" r:id="rId28"/>
    <p:sldId id="262" r:id="rId29"/>
    <p:sldId id="270" r:id="rId30"/>
    <p:sldId id="265" r:id="rId31"/>
    <p:sldId id="266" r:id="rId32"/>
    <p:sldId id="267" r:id="rId33"/>
    <p:sldId id="296" r:id="rId34"/>
    <p:sldId id="268" r:id="rId35"/>
    <p:sldId id="297" r:id="rId36"/>
    <p:sldId id="269" r:id="rId37"/>
    <p:sldId id="298" r:id="rId38"/>
    <p:sldId id="273" r:id="rId39"/>
    <p:sldId id="299" r:id="rId40"/>
    <p:sldId id="274" r:id="rId41"/>
    <p:sldId id="300" r:id="rId42"/>
    <p:sldId id="287" r:id="rId43"/>
    <p:sldId id="304" r:id="rId4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BE571-AB63-4D38-B508-82F106DD1505}" type="datetimeFigureOut">
              <a:rPr lang="zh-TW" altLang="en-US" smtClean="0"/>
              <a:pPr/>
              <a:t>2014/10/28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B1DA-A46F-48DE-8EA5-4410DD6CCB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42910" y="1000108"/>
            <a:ext cx="7772400" cy="1470025"/>
          </a:xfrm>
        </p:spPr>
        <p:txBody>
          <a:bodyPr/>
          <a:lstStyle/>
          <a:p>
            <a:r>
              <a:rPr lang="en-US" altLang="zh-TW" dirty="0"/>
              <a:t>Edit distance of run-length encoded strings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28662" y="3714752"/>
            <a:ext cx="7486680" cy="1752600"/>
          </a:xfrm>
        </p:spPr>
        <p:txBody>
          <a:bodyPr>
            <a:normAutofit/>
          </a:bodyPr>
          <a:lstStyle/>
          <a:p>
            <a:r>
              <a:rPr lang="en-US" altLang="zh-TW" dirty="0" err="1">
                <a:solidFill>
                  <a:schemeClr val="tx1"/>
                </a:solidFill>
              </a:rPr>
              <a:t>Ora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>
                <a:solidFill>
                  <a:schemeClr val="tx1"/>
                </a:solidFill>
              </a:rPr>
              <a:t>Arbell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i="1" dirty="0" smtClean="0">
                <a:solidFill>
                  <a:schemeClr val="tx1"/>
                </a:solidFill>
              </a:rPr>
              <a:t>, </a:t>
            </a:r>
            <a:r>
              <a:rPr lang="en-US" altLang="zh-TW" i="1" dirty="0">
                <a:solidFill>
                  <a:schemeClr val="tx1"/>
                </a:solidFill>
              </a:rPr>
              <a:t>Gad M. Landau </a:t>
            </a:r>
            <a:r>
              <a:rPr lang="en-US" altLang="zh-TW" i="1" dirty="0" smtClean="0">
                <a:solidFill>
                  <a:schemeClr val="tx1"/>
                </a:solidFill>
              </a:rPr>
              <a:t>, </a:t>
            </a:r>
            <a:r>
              <a:rPr lang="en-US" altLang="zh-TW" i="1" dirty="0">
                <a:solidFill>
                  <a:schemeClr val="tx1"/>
                </a:solidFill>
              </a:rPr>
              <a:t>Joseph S.B. </a:t>
            </a:r>
            <a:r>
              <a:rPr lang="en-US" altLang="zh-TW" i="1" dirty="0" smtClean="0">
                <a:solidFill>
                  <a:schemeClr val="tx1"/>
                </a:solidFill>
              </a:rPr>
              <a:t>Mitchell</a:t>
            </a:r>
          </a:p>
          <a:p>
            <a:r>
              <a:rPr lang="en-US" altLang="zh-TW" sz="2600" dirty="0" smtClean="0"/>
              <a:t>Information Processing Letters 83 (2002) 307–314</a:t>
            </a:r>
            <a:r>
              <a:rPr lang="en-US" altLang="zh-TW" sz="2600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5143504" y="5643578"/>
            <a:ext cx="3500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報告者：何文娟</a:t>
            </a:r>
            <a:endParaRPr lang="en-US" altLang="zh-TW" sz="28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日期：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2014/10/28</a:t>
            </a:r>
            <a:endParaRPr lang="zh-TW" altLang="en-US" sz="28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b="1" dirty="0"/>
              <a:t>Abstract</a:t>
            </a:r>
            <a:endParaRPr lang="zh-TW" altLang="en-US" sz="4800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28650" y="1825625"/>
            <a:ext cx="80873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/>
              <a:t>Let </a:t>
            </a:r>
            <a:r>
              <a:rPr lang="en-US" altLang="zh-TW" sz="2800" i="1" dirty="0"/>
              <a:t>X </a:t>
            </a:r>
            <a:r>
              <a:rPr lang="en-US" altLang="zh-TW" sz="2800" dirty="0"/>
              <a:t>and </a:t>
            </a:r>
            <a:r>
              <a:rPr lang="en-US" altLang="zh-TW" sz="2800" i="1" dirty="0"/>
              <a:t>Y </a:t>
            </a:r>
            <a:r>
              <a:rPr lang="en-US" altLang="zh-TW" sz="2800" dirty="0"/>
              <a:t>be two run-length encoded strings, of encoded lengths </a:t>
            </a:r>
            <a:r>
              <a:rPr lang="en-US" altLang="zh-TW" sz="2800" i="1" dirty="0"/>
              <a:t>k </a:t>
            </a:r>
            <a:r>
              <a:rPr lang="en-US" altLang="zh-TW" sz="2800" dirty="0"/>
              <a:t>and </a:t>
            </a:r>
            <a:r>
              <a:rPr lang="en-US" altLang="zh-TW" sz="2800" i="1" dirty="0"/>
              <a:t>l</a:t>
            </a:r>
            <a:r>
              <a:rPr lang="en-US" altLang="zh-TW" sz="2800" dirty="0"/>
              <a:t>, respectively. We present a simple O</a:t>
            </a:r>
            <a:r>
              <a:rPr lang="en-US" altLang="zh-TW" sz="2800" i="1" dirty="0"/>
              <a:t>(</a:t>
            </a:r>
            <a:r>
              <a:rPr lang="en-US" altLang="zh-TW" sz="2800" dirty="0"/>
              <a:t>|</a:t>
            </a:r>
            <a:r>
              <a:rPr lang="en-US" altLang="zh-TW" sz="2800" i="1" dirty="0" err="1"/>
              <a:t>X</a:t>
            </a:r>
            <a:r>
              <a:rPr lang="en-US" altLang="zh-TW" sz="2800" dirty="0" err="1"/>
              <a:t>|</a:t>
            </a:r>
            <a:r>
              <a:rPr lang="en-US" altLang="zh-TW" sz="2800" i="1" dirty="0" err="1"/>
              <a:t>l</a:t>
            </a:r>
            <a:r>
              <a:rPr lang="en-US" altLang="zh-TW" sz="2800" i="1" dirty="0"/>
              <a:t> </a:t>
            </a:r>
            <a:r>
              <a:rPr lang="en-US" altLang="zh-TW" sz="2800" dirty="0"/>
              <a:t>+|</a:t>
            </a:r>
            <a:r>
              <a:rPr lang="en-US" altLang="zh-TW" sz="2800" i="1" dirty="0" err="1" smtClean="0"/>
              <a:t>Y</a:t>
            </a:r>
            <a:r>
              <a:rPr lang="en-US" altLang="zh-TW" sz="2800" dirty="0" err="1" smtClean="0"/>
              <a:t>|</a:t>
            </a:r>
            <a:r>
              <a:rPr lang="en-US" altLang="zh-TW" sz="2800" i="1" dirty="0" err="1" smtClean="0"/>
              <a:t>k</a:t>
            </a:r>
            <a:r>
              <a:rPr lang="en-US" altLang="zh-TW" sz="2800" i="1" dirty="0" smtClean="0"/>
              <a:t>)</a:t>
            </a:r>
            <a:r>
              <a:rPr lang="en-US" altLang="zh-TW" sz="2800" dirty="0" smtClean="0"/>
              <a:t>time </a:t>
            </a:r>
            <a:r>
              <a:rPr lang="en-US" altLang="zh-TW" sz="2800" dirty="0"/>
              <a:t>algorithm that computes their edit distance.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8799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Run-Length Encoded </a:t>
            </a:r>
            <a:r>
              <a:rPr lang="en-US" altLang="zh-TW" b="1" dirty="0"/>
              <a:t>S</a:t>
            </a:r>
            <a:r>
              <a:rPr lang="en-US" altLang="zh-TW" b="1" dirty="0" smtClean="0"/>
              <a:t>trings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525963"/>
          </a:xfrm>
        </p:spPr>
        <p:txBody>
          <a:bodyPr/>
          <a:lstStyle/>
          <a:p>
            <a:r>
              <a:rPr lang="en-US" altLang="zh-TW" dirty="0" smtClean="0"/>
              <a:t>Example: </a:t>
            </a:r>
          </a:p>
          <a:p>
            <a:pPr marL="1828800" lvl="4" indent="0">
              <a:buNone/>
            </a:pPr>
            <a:r>
              <a:rPr lang="en-US" altLang="zh-TW" sz="3200" dirty="0" smtClean="0"/>
              <a:t>the string </a:t>
            </a:r>
            <a:r>
              <a:rPr lang="en-US" altLang="zh-TW" sz="3200" i="1" dirty="0" err="1" smtClean="0"/>
              <a:t>aaaabbbbcccabbbbcc</a:t>
            </a:r>
            <a:endParaRPr lang="en-US" altLang="zh-TW" sz="3200" i="1" dirty="0" smtClean="0"/>
          </a:p>
          <a:p>
            <a:pPr marL="0" indent="0">
              <a:buNone/>
            </a:pPr>
            <a:r>
              <a:rPr lang="en-US" altLang="zh-TW" dirty="0"/>
              <a:t>		can be encoded as </a:t>
            </a:r>
            <a:r>
              <a:rPr lang="en-US" altLang="zh-TW" i="1" dirty="0"/>
              <a:t>a</a:t>
            </a:r>
            <a:r>
              <a:rPr lang="en-US" altLang="zh-TW" baseline="30000" dirty="0"/>
              <a:t>4</a:t>
            </a:r>
            <a:r>
              <a:rPr lang="en-US" altLang="zh-TW" i="1" dirty="0"/>
              <a:t>b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3</a:t>
            </a:r>
            <a:r>
              <a:rPr lang="en-US" altLang="zh-TW" i="1" dirty="0"/>
              <a:t>a</a:t>
            </a:r>
            <a:r>
              <a:rPr lang="en-US" altLang="zh-TW" baseline="30000" dirty="0"/>
              <a:t>1</a:t>
            </a:r>
            <a:r>
              <a:rPr lang="en-US" altLang="zh-TW" i="1" dirty="0"/>
              <a:t>b</a:t>
            </a:r>
            <a:r>
              <a:rPr lang="en-US" altLang="zh-TW" baseline="30000" dirty="0"/>
              <a:t>4</a:t>
            </a:r>
            <a:r>
              <a:rPr lang="en-US" altLang="zh-TW" i="1" dirty="0"/>
              <a:t>c</a:t>
            </a:r>
            <a:r>
              <a:rPr lang="en-US" altLang="zh-TW" baseline="30000" dirty="0"/>
              <a:t>2</a:t>
            </a:r>
            <a:r>
              <a:rPr lang="en-US" altLang="zh-TW" dirty="0"/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Edit distance(1/2)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686800" cy="5357850"/>
          </a:xfrm>
        </p:spPr>
        <p:txBody>
          <a:bodyPr>
            <a:normAutofit/>
          </a:bodyPr>
          <a:lstStyle/>
          <a:p>
            <a:r>
              <a:rPr lang="en-US" altLang="zh-TW" sz="3000" dirty="0" smtClean="0"/>
              <a:t>∀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,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, 0] = 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 , ∀j, A[0, j] = j</a:t>
            </a:r>
          </a:p>
          <a:p>
            <a:pPr>
              <a:buNone/>
            </a:pPr>
            <a:r>
              <a:rPr lang="en-US" altLang="zh-TW" sz="3000" dirty="0" smtClean="0"/>
              <a:t>                                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, j − 1]+ 1 , insertion</a:t>
            </a:r>
          </a:p>
          <a:p>
            <a:pPr>
              <a:buNone/>
            </a:pPr>
            <a:r>
              <a:rPr lang="en-US" altLang="zh-TW" sz="3000" dirty="0" smtClean="0"/>
              <a:t>                    min     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 − 1, j]+ 1  , deletion     if x</a:t>
            </a:r>
            <a:r>
              <a:rPr lang="en-US" altLang="zh-TW" sz="3000" baseline="-25000" dirty="0" smtClean="0"/>
              <a:t>i</a:t>
            </a:r>
            <a:r>
              <a:rPr lang="en-US" altLang="zh-TW" sz="3000" dirty="0" smtClean="0"/>
              <a:t> ≠ </a:t>
            </a:r>
            <a:r>
              <a:rPr lang="en-US" altLang="zh-TW" sz="3000" dirty="0" err="1" smtClean="0"/>
              <a:t>y</a:t>
            </a:r>
            <a:r>
              <a:rPr lang="en-US" altLang="zh-TW" sz="3000" baseline="-25000" dirty="0" err="1" smtClean="0"/>
              <a:t>j</a:t>
            </a:r>
            <a:endParaRPr lang="en-US" altLang="zh-TW" sz="3000" baseline="-25000" dirty="0" smtClean="0"/>
          </a:p>
          <a:p>
            <a:pPr>
              <a:buNone/>
            </a:pPr>
            <a:r>
              <a:rPr lang="en-US" altLang="zh-TW" sz="3000" dirty="0" smtClean="0"/>
              <a:t>  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, j] =                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 − 1, j − 1]+ 1 , substitution</a:t>
            </a:r>
          </a:p>
          <a:p>
            <a:pPr>
              <a:buNone/>
            </a:pPr>
            <a:r>
              <a:rPr lang="en-US" altLang="zh-TW" sz="3000" dirty="0" smtClean="0"/>
              <a:t>                    A[</a:t>
            </a:r>
            <a:r>
              <a:rPr lang="en-US" altLang="zh-TW" sz="3000" dirty="0" err="1" smtClean="0"/>
              <a:t>i</a:t>
            </a:r>
            <a:r>
              <a:rPr lang="en-US" altLang="zh-TW" sz="3000" dirty="0" smtClean="0"/>
              <a:t> − 1, j − 1]  if x</a:t>
            </a:r>
            <a:r>
              <a:rPr lang="en-US" altLang="zh-TW" sz="3000" baseline="-25000" dirty="0" smtClean="0"/>
              <a:t>i</a:t>
            </a:r>
            <a:r>
              <a:rPr lang="en-US" altLang="zh-TW" sz="3000" dirty="0" smtClean="0"/>
              <a:t> = </a:t>
            </a:r>
            <a:r>
              <a:rPr lang="en-US" altLang="zh-TW" sz="3000" dirty="0" err="1" smtClean="0"/>
              <a:t>y</a:t>
            </a:r>
            <a:r>
              <a:rPr lang="en-US" altLang="zh-TW" sz="3000" baseline="-25000" dirty="0" err="1" smtClean="0"/>
              <a:t>j</a:t>
            </a:r>
            <a:endParaRPr lang="en-US" altLang="zh-TW" sz="3000" baseline="-25000" dirty="0" smtClean="0"/>
          </a:p>
          <a:p>
            <a:pPr>
              <a:buNone/>
            </a:pPr>
            <a:endParaRPr lang="en-US" altLang="zh-TW" sz="3000" baseline="-25000" dirty="0" smtClean="0"/>
          </a:p>
          <a:p>
            <a:r>
              <a:rPr lang="en-US" altLang="zh-TW" sz="3000" dirty="0" smtClean="0"/>
              <a:t>Example</a:t>
            </a:r>
          </a:p>
          <a:p>
            <a:pPr lvl="2">
              <a:buNone/>
            </a:pPr>
            <a:r>
              <a:rPr lang="en-US" altLang="zh-TW" sz="3000" dirty="0" smtClean="0"/>
              <a:t>X = </a:t>
            </a:r>
            <a:r>
              <a:rPr lang="en-US" altLang="zh-TW" sz="3000" dirty="0" err="1" smtClean="0"/>
              <a:t>aaaabbbbbbb</a:t>
            </a:r>
            <a:endParaRPr lang="en-US" altLang="zh-TW" sz="3000" dirty="0" smtClean="0"/>
          </a:p>
          <a:p>
            <a:pPr lvl="2">
              <a:buNone/>
            </a:pPr>
            <a:r>
              <a:rPr lang="en-US" altLang="zh-TW" sz="3000" dirty="0" smtClean="0"/>
              <a:t>Y = </a:t>
            </a:r>
            <a:r>
              <a:rPr lang="en-US" altLang="zh-TW" sz="3000" dirty="0" err="1" smtClean="0"/>
              <a:t>bbbbbbbaaa</a:t>
            </a:r>
            <a:endParaRPr lang="en-US" altLang="zh-TW" sz="3000" dirty="0" smtClean="0"/>
          </a:p>
        </p:txBody>
      </p:sp>
      <p:sp>
        <p:nvSpPr>
          <p:cNvPr id="6" name="左大括弧 5"/>
          <p:cNvSpPr/>
          <p:nvPr/>
        </p:nvSpPr>
        <p:spPr>
          <a:xfrm>
            <a:off x="2714612" y="2000240"/>
            <a:ext cx="285752" cy="128588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左大括弧 6"/>
          <p:cNvSpPr/>
          <p:nvPr/>
        </p:nvSpPr>
        <p:spPr>
          <a:xfrm>
            <a:off x="1714480" y="2643182"/>
            <a:ext cx="214314" cy="121444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Edit distance(2/2)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3328982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5786" y="1214422"/>
          <a:ext cx="7072364" cy="550072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  <a:gridCol w="544028"/>
              </a:tblGrid>
              <a:tr h="458394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endParaRPr lang="zh-TW" altLang="en-US" sz="2000" b="1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10</a:t>
                      </a:r>
                      <a:endParaRPr lang="zh-TW" altLang="en-US" sz="16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11</a:t>
                      </a:r>
                      <a:endParaRPr lang="zh-TW" altLang="en-US" sz="16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10</a:t>
                      </a:r>
                      <a:endParaRPr lang="zh-TW" altLang="en-US" sz="16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b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  <a:tr h="4583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10</a:t>
                      </a:r>
                      <a:endParaRPr lang="zh-TW" altLang="en-US" sz="16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Preliminaries(1/2)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85860"/>
            <a:ext cx="8472518" cy="535785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A block is a </a:t>
            </a:r>
            <a:r>
              <a:rPr lang="en-US" altLang="zh-TW" sz="2800" dirty="0" err="1" smtClean="0"/>
              <a:t>submatrix</a:t>
            </a:r>
            <a:r>
              <a:rPr lang="en-US" altLang="zh-TW" sz="2800" dirty="0" smtClean="0"/>
              <a:t> A[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top</a:t>
            </a:r>
            <a:r>
              <a:rPr lang="en-US" altLang="zh-TW" sz="2800" dirty="0" smtClean="0"/>
              <a:t> . . . 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bottom</a:t>
            </a:r>
            <a:r>
              <a:rPr lang="en-US" altLang="zh-TW" sz="2800" dirty="0" err="1" smtClean="0"/>
              <a:t>,j</a:t>
            </a:r>
            <a:r>
              <a:rPr lang="en-US" altLang="zh-TW" sz="2800" baseline="-25000" dirty="0" err="1" smtClean="0"/>
              <a:t>left</a:t>
            </a:r>
            <a:r>
              <a:rPr lang="en-US" altLang="zh-TW" sz="2800" dirty="0" smtClean="0"/>
              <a:t> . . .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right</a:t>
            </a:r>
            <a:r>
              <a:rPr lang="en-US" altLang="zh-TW" sz="2800" dirty="0" smtClean="0"/>
              <a:t>]</a:t>
            </a:r>
          </a:p>
          <a:p>
            <a:r>
              <a:rPr lang="en-US" altLang="zh-TW" sz="2800" dirty="0" smtClean="0"/>
              <a:t>The blocks are of two types: </a:t>
            </a:r>
          </a:p>
          <a:p>
            <a:pPr>
              <a:buNone/>
            </a:pPr>
            <a:r>
              <a:rPr lang="en-US" altLang="zh-TW" sz="2800" dirty="0" smtClean="0"/>
              <a:t>	(1)black blocks : pairs of identical letters </a:t>
            </a:r>
            <a:r>
              <a:rPr lang="en-US" altLang="zh-TW" sz="2800" i="1" dirty="0" err="1" smtClean="0"/>
              <a:t>x</a:t>
            </a:r>
            <a:r>
              <a:rPr lang="en-US" altLang="zh-TW" sz="2800" i="1" baseline="-25000" dirty="0" err="1" smtClean="0"/>
              <a:t>i</a:t>
            </a:r>
            <a:r>
              <a:rPr lang="en-US" altLang="zh-TW" sz="2800" i="1" baseline="-50000" dirty="0" err="1" smtClean="0"/>
              <a:t>top</a:t>
            </a:r>
            <a:r>
              <a:rPr lang="en-US" altLang="zh-TW" sz="2800" i="1" baseline="-50000" dirty="0" smtClean="0"/>
              <a:t> </a:t>
            </a:r>
            <a:r>
              <a:rPr lang="en-US" altLang="zh-TW" sz="2800" i="1" dirty="0" smtClean="0"/>
              <a:t>= </a:t>
            </a:r>
            <a:r>
              <a:rPr lang="en-US" altLang="zh-TW" sz="2800" i="1" dirty="0" err="1" smtClean="0"/>
              <a:t>y</a:t>
            </a:r>
            <a:r>
              <a:rPr lang="en-US" altLang="zh-TW" sz="2800" i="1" baseline="-25000" dirty="0" err="1" smtClean="0"/>
              <a:t>j</a:t>
            </a:r>
            <a:r>
              <a:rPr lang="en-US" altLang="zh-TW" sz="2800" i="1" baseline="-50000" dirty="0" err="1" smtClean="0"/>
              <a:t>left</a:t>
            </a:r>
            <a:r>
              <a:rPr lang="en-US" altLang="zh-TW" sz="2800" i="1" dirty="0" smtClean="0"/>
              <a:t> </a:t>
            </a:r>
          </a:p>
          <a:p>
            <a:pPr>
              <a:buNone/>
            </a:pPr>
            <a:r>
              <a:rPr lang="en-US" altLang="zh-TW" sz="2800" dirty="0" smtClean="0"/>
              <a:t>	(2)white blocks: pairs of distinct letters </a:t>
            </a:r>
            <a:r>
              <a:rPr lang="en-US" altLang="zh-TW" sz="2800" dirty="0" err="1" smtClean="0"/>
              <a:t>x</a:t>
            </a:r>
            <a:r>
              <a:rPr lang="en-US" altLang="zh-TW" sz="2800" baseline="-25000" dirty="0" err="1" smtClean="0"/>
              <a:t>i</a:t>
            </a:r>
            <a:r>
              <a:rPr lang="en-US" altLang="zh-TW" sz="2800" baseline="-50000" dirty="0" err="1" smtClean="0"/>
              <a:t>top</a:t>
            </a:r>
            <a:r>
              <a:rPr lang="en-US" altLang="zh-TW" sz="2800" baseline="-50000" dirty="0" smtClean="0"/>
              <a:t> </a:t>
            </a:r>
            <a:r>
              <a:rPr lang="en-US" altLang="zh-TW" sz="2800" dirty="0" smtClean="0"/>
              <a:t>≠ </a:t>
            </a:r>
            <a:r>
              <a:rPr lang="en-US" altLang="zh-TW" sz="2800" dirty="0" err="1" smtClean="0"/>
              <a:t>y</a:t>
            </a:r>
            <a:r>
              <a:rPr lang="en-US" altLang="zh-TW" sz="2800" baseline="-25000" dirty="0" err="1" smtClean="0"/>
              <a:t>j</a:t>
            </a:r>
            <a:r>
              <a:rPr lang="en-US" altLang="zh-TW" sz="2800" baseline="-50000" dirty="0" err="1" smtClean="0"/>
              <a:t>left</a:t>
            </a:r>
            <a:endParaRPr lang="en-US" altLang="zh-TW" sz="2800" dirty="0" smtClean="0"/>
          </a:p>
        </p:txBody>
      </p:sp>
      <p:pic>
        <p:nvPicPr>
          <p:cNvPr id="5" name="圖片 4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3429000"/>
            <a:ext cx="7072362" cy="3286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Preliminaries(2/2)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The blocks are of two types: </a:t>
            </a:r>
          </a:p>
          <a:p>
            <a:pPr>
              <a:buNone/>
            </a:pPr>
            <a:r>
              <a:rPr lang="en-US" altLang="zh-TW" sz="2800" dirty="0" smtClean="0"/>
              <a:t>	(1)horizontal blocks: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right</a:t>
            </a:r>
            <a:r>
              <a:rPr lang="en-US" altLang="zh-TW" sz="2800" dirty="0" smtClean="0"/>
              <a:t> −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left</a:t>
            </a:r>
            <a:r>
              <a:rPr lang="en-US" altLang="zh-TW" sz="2800" dirty="0" smtClean="0"/>
              <a:t> ≧ 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bottom</a:t>
            </a:r>
            <a:r>
              <a:rPr lang="en-US" altLang="zh-TW" sz="2800" dirty="0" smtClean="0"/>
              <a:t> − 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top</a:t>
            </a:r>
            <a:endParaRPr lang="en-US" altLang="zh-TW" sz="2800" baseline="-25000" dirty="0" smtClean="0"/>
          </a:p>
          <a:p>
            <a:pPr>
              <a:buNone/>
            </a:pPr>
            <a:r>
              <a:rPr lang="en-US" altLang="zh-TW" sz="2800" dirty="0" smtClean="0"/>
              <a:t>	(2)vertical blocks: 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bottom</a:t>
            </a:r>
            <a:r>
              <a:rPr lang="en-US" altLang="zh-TW" sz="2800" dirty="0" smtClean="0"/>
              <a:t> − 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top</a:t>
            </a:r>
            <a:r>
              <a:rPr lang="en-US" altLang="zh-TW" sz="2800" dirty="0" smtClean="0"/>
              <a:t> ≦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right</a:t>
            </a:r>
            <a:r>
              <a:rPr lang="en-US" altLang="zh-TW" sz="2800" dirty="0" smtClean="0"/>
              <a:t> −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left</a:t>
            </a:r>
            <a:endParaRPr lang="en-US" altLang="zh-TW" sz="2800" baseline="-25000" dirty="0" smtClean="0"/>
          </a:p>
          <a:p>
            <a:r>
              <a:rPr lang="en-US" altLang="zh-TW" sz="2800" dirty="0" smtClean="0"/>
              <a:t>The </a:t>
            </a:r>
            <a:r>
              <a:rPr lang="en-US" altLang="zh-TW" sz="2800" i="1" dirty="0" smtClean="0"/>
              <a:t>diagonal(d) </a:t>
            </a:r>
            <a:r>
              <a:rPr lang="en-US" altLang="zh-TW" sz="2800" dirty="0" smtClean="0"/>
              <a:t>of </a:t>
            </a:r>
            <a:r>
              <a:rPr lang="en-US" altLang="zh-TW" sz="2800" i="1" dirty="0" smtClean="0"/>
              <a:t>A is the set of elements A[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, j ] such that d = j − 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 . </a:t>
            </a:r>
            <a:endParaRPr lang="zh-TW" altLang="en-US" sz="2800" dirty="0" smtClean="0"/>
          </a:p>
          <a:p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Algorithm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97207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The algorithm computes only the elements on the </a:t>
            </a:r>
            <a:r>
              <a:rPr lang="en-US" altLang="zh-TW" dirty="0" smtClean="0">
                <a:solidFill>
                  <a:srgbClr val="FF0000"/>
                </a:solidFill>
              </a:rPr>
              <a:t>bottom-right</a:t>
            </a:r>
            <a:r>
              <a:rPr lang="en-US" altLang="zh-TW" dirty="0" smtClean="0"/>
              <a:t> boundary of each block.</a:t>
            </a:r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sz="2800" dirty="0" smtClean="0"/>
              <a:t>		   black blocks			         Zone I</a:t>
            </a:r>
          </a:p>
          <a:p>
            <a:r>
              <a:rPr lang="en-US" altLang="zh-TW" sz="2800" dirty="0" smtClean="0"/>
              <a:t>A matrix			        horizontal blocks     Zone II </a:t>
            </a:r>
          </a:p>
          <a:p>
            <a:pPr>
              <a:buNone/>
            </a:pPr>
            <a:r>
              <a:rPr lang="en-US" altLang="zh-TW" sz="2800" dirty="0" smtClean="0"/>
              <a:t>			   white blocks	 		         Zone III</a:t>
            </a:r>
          </a:p>
          <a:p>
            <a:pPr>
              <a:buNone/>
            </a:pPr>
            <a:r>
              <a:rPr lang="en-US" altLang="zh-TW" sz="2800" dirty="0" smtClean="0"/>
              <a:t>					        			     Zone I</a:t>
            </a:r>
          </a:p>
          <a:p>
            <a:pPr>
              <a:buNone/>
            </a:pPr>
            <a:r>
              <a:rPr lang="en-US" altLang="zh-TW" sz="2800" dirty="0" smtClean="0"/>
              <a:t>					        vertical blocks      Zone II </a:t>
            </a:r>
          </a:p>
          <a:p>
            <a:pPr>
              <a:buNone/>
            </a:pPr>
            <a:r>
              <a:rPr lang="en-US" altLang="zh-TW" sz="2800" dirty="0" smtClean="0"/>
              <a:t>								     Zone III</a:t>
            </a:r>
          </a:p>
          <a:p>
            <a:pPr>
              <a:buNone/>
            </a:pPr>
            <a:r>
              <a:rPr lang="en-US" altLang="zh-TW" sz="2800" dirty="0" smtClean="0"/>
              <a:t>					 	</a:t>
            </a:r>
            <a:endParaRPr lang="zh-TW" altLang="en-US" sz="2800" dirty="0"/>
          </a:p>
        </p:txBody>
      </p:sp>
      <p:sp>
        <p:nvSpPr>
          <p:cNvPr id="4" name="左大括弧 3"/>
          <p:cNvSpPr/>
          <p:nvPr/>
        </p:nvSpPr>
        <p:spPr>
          <a:xfrm>
            <a:off x="2143108" y="2928934"/>
            <a:ext cx="357190" cy="121444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左大括弧 4"/>
          <p:cNvSpPr/>
          <p:nvPr/>
        </p:nvSpPr>
        <p:spPr>
          <a:xfrm>
            <a:off x="7358082" y="2928934"/>
            <a:ext cx="214314" cy="121444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左大括弧 6"/>
          <p:cNvSpPr/>
          <p:nvPr/>
        </p:nvSpPr>
        <p:spPr>
          <a:xfrm>
            <a:off x="4429124" y="3500438"/>
            <a:ext cx="357190" cy="157163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/>
          <p:cNvSpPr/>
          <p:nvPr/>
        </p:nvSpPr>
        <p:spPr>
          <a:xfrm>
            <a:off x="7000892" y="4429132"/>
            <a:ext cx="214314" cy="128588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Black blocks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Example</a:t>
            </a:r>
          </a:p>
          <a:p>
            <a:pPr>
              <a:buNone/>
            </a:pPr>
            <a:r>
              <a:rPr lang="en-US" altLang="zh-TW" sz="2800" dirty="0" smtClean="0"/>
              <a:t>       X = </a:t>
            </a:r>
            <a:r>
              <a:rPr lang="en-US" altLang="zh-TW" sz="2800" dirty="0" err="1" smtClean="0"/>
              <a:t>aaaa</a:t>
            </a:r>
            <a:endParaRPr lang="en-US" altLang="zh-TW" sz="2800" dirty="0" smtClean="0"/>
          </a:p>
          <a:p>
            <a:pPr>
              <a:buNone/>
            </a:pPr>
            <a:r>
              <a:rPr lang="en-US" altLang="zh-TW" sz="2800" dirty="0" smtClean="0"/>
              <a:t>       Y = </a:t>
            </a:r>
            <a:r>
              <a:rPr lang="en-US" altLang="zh-TW" sz="2800" dirty="0" err="1" smtClean="0"/>
              <a:t>aaa</a:t>
            </a:r>
            <a:endParaRPr lang="zh-TW" altLang="en-US" sz="2800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500430" y="1857364"/>
          <a:ext cx="4860000" cy="4050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10000"/>
                <a:gridCol w="810000"/>
                <a:gridCol w="810000"/>
                <a:gridCol w="810000"/>
                <a:gridCol w="810000"/>
                <a:gridCol w="810000"/>
              </a:tblGrid>
              <a:tr h="810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rot="16200000" flipH="1">
            <a:off x="7358082" y="3286124"/>
            <a:ext cx="428628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rot="16200000" flipH="1">
            <a:off x="6572264" y="3286124"/>
            <a:ext cx="1214446" cy="1214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6200000" flipH="1">
            <a:off x="5679289" y="3250405"/>
            <a:ext cx="2143140" cy="20717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16200000" flipH="1">
            <a:off x="4822033" y="3250405"/>
            <a:ext cx="2071702" cy="2000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16200000" flipH="1">
            <a:off x="4929190" y="4071942"/>
            <a:ext cx="1143008" cy="114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rot="16200000" flipH="1">
            <a:off x="4929190" y="4857760"/>
            <a:ext cx="428628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white blocks(1/3)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357850"/>
          </a:xfrm>
        </p:spPr>
        <p:txBody>
          <a:bodyPr>
            <a:normAutofit/>
          </a:bodyPr>
          <a:lstStyle/>
          <a:p>
            <a:endParaRPr lang="en-US" altLang="zh-TW" sz="1300" dirty="0" smtClean="0"/>
          </a:p>
          <a:p>
            <a:r>
              <a:rPr lang="en-US" altLang="zh-TW" sz="2800" dirty="0" err="1" smtClean="0"/>
              <a:t>dis</a:t>
            </a:r>
            <a:r>
              <a:rPr lang="en-US" altLang="zh-TW" sz="2800" dirty="0" smtClean="0"/>
              <a:t>(A[a, b],A[p, q]) =</a:t>
            </a:r>
          </a:p>
          <a:p>
            <a:pPr>
              <a:buNone/>
            </a:pPr>
            <a:r>
              <a:rPr lang="en-US" altLang="zh-TW" sz="2800" dirty="0" smtClean="0"/>
              <a:t>				</a:t>
            </a:r>
          </a:p>
          <a:p>
            <a:r>
              <a:rPr lang="en-US" altLang="zh-TW" sz="2800" dirty="0" smtClean="0"/>
              <a:t>A[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right</a:t>
            </a:r>
            <a:r>
              <a:rPr lang="en-US" altLang="zh-TW" sz="2800" dirty="0" smtClean="0"/>
              <a:t>] = min{  A[p, q] + </a:t>
            </a:r>
            <a:r>
              <a:rPr lang="en-US" altLang="zh-TW" sz="2800" dirty="0" err="1" smtClean="0"/>
              <a:t>dis</a:t>
            </a:r>
            <a:r>
              <a:rPr lang="en-US" altLang="zh-TW" sz="2800" dirty="0" smtClean="0"/>
              <a:t>(A[p, q], A[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j</a:t>
            </a:r>
            <a:r>
              <a:rPr lang="en-US" altLang="zh-TW" sz="2800" baseline="-25000" dirty="0" err="1" smtClean="0"/>
              <a:t>right</a:t>
            </a:r>
            <a:r>
              <a:rPr lang="en-US" altLang="zh-TW" sz="2800" dirty="0" smtClean="0"/>
              <a:t>]) }</a:t>
            </a:r>
          </a:p>
          <a:p>
            <a:pPr>
              <a:buNone/>
            </a:pPr>
            <a:r>
              <a:rPr lang="en-US" altLang="zh-TW" sz="2800" baseline="50000" dirty="0" smtClean="0"/>
              <a:t>                                     </a:t>
            </a:r>
            <a:r>
              <a:rPr lang="en-US" altLang="zh-TW" sz="2800" baseline="50000" dirty="0" err="1" smtClean="0"/>
              <a:t>p,q</a:t>
            </a:r>
            <a:endParaRPr lang="en-US" altLang="zh-TW" sz="2800" baseline="50000" dirty="0" smtClean="0"/>
          </a:p>
          <a:p>
            <a:pPr>
              <a:buNone/>
            </a:pP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p,q</a:t>
            </a:r>
            <a:r>
              <a:rPr lang="en-US" altLang="zh-TW" sz="2800" dirty="0" smtClean="0"/>
              <a:t>) = (3,5)</a:t>
            </a:r>
          </a:p>
          <a:p>
            <a:pPr>
              <a:buNone/>
            </a:pP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a,b</a:t>
            </a:r>
            <a:r>
              <a:rPr lang="en-US" altLang="zh-TW" sz="2800" dirty="0" smtClean="0"/>
              <a:t>) = (2,2)</a:t>
            </a:r>
          </a:p>
          <a:p>
            <a:pPr>
              <a:buNone/>
            </a:pPr>
            <a:r>
              <a:rPr lang="en-US" altLang="zh-TW" sz="2800" dirty="0" err="1" smtClean="0"/>
              <a:t>dis</a:t>
            </a:r>
            <a:r>
              <a:rPr lang="en-US" altLang="zh-TW" sz="2800" dirty="0" smtClean="0"/>
              <a:t>(A[a, b],A[p, q])</a:t>
            </a:r>
          </a:p>
          <a:p>
            <a:pPr>
              <a:buNone/>
            </a:pPr>
            <a:r>
              <a:rPr lang="en-US" altLang="zh-TW" sz="2800" dirty="0" smtClean="0"/>
              <a:t>		= max{p − a, q − b}</a:t>
            </a:r>
          </a:p>
          <a:p>
            <a:pPr>
              <a:buNone/>
            </a:pPr>
            <a:r>
              <a:rPr lang="en-US" altLang="zh-TW" sz="2800" dirty="0" smtClean="0"/>
              <a:t>		=3</a:t>
            </a:r>
          </a:p>
          <a:p>
            <a:endParaRPr lang="en-US" altLang="zh-TW" sz="2800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71934" y="3500438"/>
          <a:ext cx="4643472" cy="24288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73912"/>
                <a:gridCol w="773912"/>
                <a:gridCol w="773912"/>
                <a:gridCol w="773912"/>
                <a:gridCol w="773912"/>
                <a:gridCol w="773912"/>
              </a:tblGrid>
              <a:tr h="6072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0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1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2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3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4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5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072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1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500" b="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072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2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500" b="0" dirty="0" smtClean="0"/>
                        <a:t>(</a:t>
                      </a:r>
                      <a:r>
                        <a:rPr lang="en-US" altLang="zh-TW" sz="2500" b="0" dirty="0" err="1" smtClean="0"/>
                        <a:t>a,b</a:t>
                      </a:r>
                      <a:r>
                        <a:rPr lang="en-US" altLang="zh-TW" sz="2500" b="0" dirty="0" smtClean="0"/>
                        <a:t>)</a:t>
                      </a:r>
                      <a:endParaRPr lang="zh-TW" altLang="en-US" sz="2500" b="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072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3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 smtClean="0"/>
                        <a:t>(</a:t>
                      </a:r>
                      <a:r>
                        <a:rPr lang="en-US" altLang="zh-TW" sz="2500" b="0" dirty="0" err="1" smtClean="0"/>
                        <a:t>p,q</a:t>
                      </a:r>
                      <a:r>
                        <a:rPr lang="en-US" altLang="zh-TW" sz="2500" b="0" dirty="0" smtClean="0"/>
                        <a:t>)</a:t>
                      </a:r>
                      <a:endParaRPr lang="zh-TW" altLang="en-US" sz="25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786182" y="1357298"/>
            <a:ext cx="51907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max{p − a, q − b}  if p &gt; a and q &gt; b</a:t>
            </a:r>
          </a:p>
          <a:p>
            <a:r>
              <a:rPr lang="en-US" altLang="zh-TW" sz="2800" dirty="0" smtClean="0"/>
              <a:t> ∞                            if p &lt; a or q &lt; b</a:t>
            </a:r>
            <a:endParaRPr lang="zh-TW" altLang="en-US" sz="2800" dirty="0"/>
          </a:p>
        </p:txBody>
      </p:sp>
      <p:sp>
        <p:nvSpPr>
          <p:cNvPr id="7" name="左大括弧 6"/>
          <p:cNvSpPr/>
          <p:nvPr/>
        </p:nvSpPr>
        <p:spPr>
          <a:xfrm>
            <a:off x="3643306" y="1571612"/>
            <a:ext cx="142876" cy="42862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white blocks(2/3)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horizontal blocks</a:t>
            </a:r>
          </a:p>
          <a:p>
            <a:pPr>
              <a:buNone/>
            </a:pPr>
            <a:r>
              <a:rPr lang="en-US" altLang="zh-TW" sz="2600" b="1" dirty="0" smtClean="0"/>
              <a:t>Zone I.</a:t>
            </a:r>
            <a:r>
              <a:rPr lang="en-US" altLang="zh-TW" sz="2600" dirty="0" smtClean="0"/>
              <a:t> Zone I consists of elements A[</a:t>
            </a:r>
            <a:r>
              <a:rPr lang="en-US" altLang="zh-TW" sz="2600" dirty="0" err="1" smtClean="0"/>
              <a:t>i</a:t>
            </a:r>
            <a:r>
              <a:rPr lang="en-US" altLang="zh-TW" sz="2600" baseline="-25000" dirty="0" err="1" smtClean="0"/>
              <a:t>top</a:t>
            </a:r>
            <a:r>
              <a:rPr lang="en-US" altLang="zh-TW" sz="2600" dirty="0" smtClean="0"/>
              <a:t>, </a:t>
            </a:r>
            <a:r>
              <a:rPr lang="en-US" altLang="zh-TW" sz="2600" dirty="0" err="1" smtClean="0"/>
              <a:t>j</a:t>
            </a:r>
            <a:r>
              <a:rPr lang="en-US" altLang="zh-TW" sz="2600" baseline="-25000" dirty="0" err="1" smtClean="0"/>
              <a:t>diagonal</a:t>
            </a:r>
            <a:r>
              <a:rPr lang="en-US" altLang="zh-TW" sz="2600" dirty="0" smtClean="0"/>
              <a:t> . . .</a:t>
            </a:r>
            <a:r>
              <a:rPr lang="en-US" altLang="zh-TW" sz="2600" dirty="0" err="1" smtClean="0"/>
              <a:t>j</a:t>
            </a:r>
            <a:r>
              <a:rPr lang="en-US" altLang="zh-TW" sz="2600" baseline="-25000" dirty="0" err="1" smtClean="0"/>
              <a:t>right</a:t>
            </a:r>
            <a:r>
              <a:rPr lang="en-US" altLang="zh-TW" sz="2600" dirty="0" smtClean="0"/>
              <a:t>];</a:t>
            </a:r>
          </a:p>
          <a:p>
            <a:pPr>
              <a:buNone/>
            </a:pPr>
            <a:r>
              <a:rPr lang="en-US" altLang="zh-TW" sz="2600" b="1" dirty="0" smtClean="0"/>
              <a:t>Zone II. </a:t>
            </a:r>
            <a:r>
              <a:rPr lang="en-US" altLang="zh-TW" sz="2600" dirty="0" smtClean="0"/>
              <a:t>Zone II consists of elements A[</a:t>
            </a:r>
            <a:r>
              <a:rPr lang="en-US" altLang="zh-TW" sz="2600" dirty="0" err="1" smtClean="0"/>
              <a:t>i</a:t>
            </a:r>
            <a:r>
              <a:rPr lang="en-US" altLang="zh-TW" sz="2600" baseline="-25000" dirty="0" err="1" smtClean="0"/>
              <a:t>top</a:t>
            </a:r>
            <a:r>
              <a:rPr lang="en-US" altLang="zh-TW" sz="2600" dirty="0" smtClean="0"/>
              <a:t> . . . </a:t>
            </a:r>
            <a:r>
              <a:rPr lang="en-US" altLang="zh-TW" sz="2600" dirty="0" err="1" smtClean="0"/>
              <a:t>i,j</a:t>
            </a:r>
            <a:r>
              <a:rPr lang="en-US" altLang="zh-TW" sz="2600" baseline="-25000" dirty="0" err="1" smtClean="0"/>
              <a:t>left</a:t>
            </a:r>
            <a:r>
              <a:rPr lang="en-US" altLang="zh-TW" sz="2600" dirty="0" smtClean="0"/>
              <a:t>]; </a:t>
            </a:r>
          </a:p>
          <a:p>
            <a:pPr>
              <a:buNone/>
            </a:pPr>
            <a:r>
              <a:rPr lang="en-US" altLang="zh-TW" sz="2600" b="1" dirty="0" smtClean="0"/>
              <a:t>Zone III. </a:t>
            </a:r>
            <a:r>
              <a:rPr lang="en-US" altLang="zh-TW" sz="2600" dirty="0" smtClean="0"/>
              <a:t>Zone III consists of  all of the elements on the</a:t>
            </a:r>
          </a:p>
          <a:p>
            <a:pPr>
              <a:buNone/>
            </a:pPr>
            <a:r>
              <a:rPr lang="en-US" altLang="zh-TW" sz="2600" dirty="0" smtClean="0"/>
              <a:t>	 upper-left frame between Zone I and Zone II.</a:t>
            </a:r>
          </a:p>
          <a:p>
            <a:pPr>
              <a:buNone/>
            </a:pPr>
            <a:endParaRPr lang="en-US" altLang="zh-TW" sz="2600" dirty="0" smtClean="0"/>
          </a:p>
          <a:p>
            <a:pPr>
              <a:buNone/>
            </a:pPr>
            <a:endParaRPr lang="en-US" altLang="zh-TW" sz="2600" dirty="0" smtClean="0"/>
          </a:p>
          <a:p>
            <a:endParaRPr lang="zh-TW" altLang="en-US" sz="2600" dirty="0"/>
          </a:p>
        </p:txBody>
      </p:sp>
      <p:pic>
        <p:nvPicPr>
          <p:cNvPr id="5" name="內容版面配置區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3786190"/>
            <a:ext cx="5786478" cy="3071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white blocks(3/3)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5043510"/>
          </a:xfrm>
        </p:spPr>
        <p:txBody>
          <a:bodyPr>
            <a:no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vertical blocks</a:t>
            </a:r>
          </a:p>
          <a:p>
            <a:pPr>
              <a:buNone/>
            </a:pPr>
            <a:r>
              <a:rPr lang="en-US" altLang="zh-TW" sz="2600" dirty="0" smtClean="0"/>
              <a:t>Zone I. Zone I consists of </a:t>
            </a:r>
          </a:p>
          <a:p>
            <a:pPr>
              <a:buNone/>
            </a:pPr>
            <a:r>
              <a:rPr lang="en-US" altLang="zh-TW" sz="2600" dirty="0" smtClean="0"/>
              <a:t>	elements A[</a:t>
            </a:r>
            <a:r>
              <a:rPr lang="en-US" altLang="zh-TW" sz="2600" dirty="0" err="1" smtClean="0"/>
              <a:t>i</a:t>
            </a:r>
            <a:r>
              <a:rPr lang="en-US" altLang="zh-TW" sz="2600" baseline="-25000" dirty="0" err="1" smtClean="0"/>
              <a:t>top</a:t>
            </a:r>
            <a:r>
              <a:rPr lang="en-US" altLang="zh-TW" sz="2600" dirty="0" smtClean="0"/>
              <a:t>, </a:t>
            </a:r>
            <a:r>
              <a:rPr lang="en-US" altLang="zh-TW" sz="2600" dirty="0" err="1" smtClean="0"/>
              <a:t>j</a:t>
            </a:r>
            <a:r>
              <a:rPr lang="en-US" altLang="zh-TW" sz="2600" baseline="-25000" dirty="0" err="1" smtClean="0"/>
              <a:t>left</a:t>
            </a:r>
            <a:r>
              <a:rPr lang="en-US" altLang="zh-TW" sz="2600" dirty="0" smtClean="0"/>
              <a:t> . . .</a:t>
            </a:r>
            <a:r>
              <a:rPr lang="en-US" altLang="zh-TW" sz="2600" dirty="0" err="1" smtClean="0"/>
              <a:t>j</a:t>
            </a:r>
            <a:r>
              <a:rPr lang="en-US" altLang="zh-TW" sz="2600" baseline="-25000" dirty="0" err="1" smtClean="0"/>
              <a:t>right</a:t>
            </a:r>
            <a:r>
              <a:rPr lang="en-US" altLang="zh-TW" sz="2600" dirty="0" smtClean="0"/>
              <a:t>].</a:t>
            </a:r>
          </a:p>
          <a:p>
            <a:pPr>
              <a:buNone/>
            </a:pPr>
            <a:r>
              <a:rPr lang="en-US" altLang="zh-TW" sz="2600" dirty="0" smtClean="0"/>
              <a:t>Zone II. Zone II consists of </a:t>
            </a:r>
          </a:p>
          <a:p>
            <a:pPr>
              <a:buNone/>
            </a:pPr>
            <a:r>
              <a:rPr lang="en-US" altLang="zh-TW" sz="2600" dirty="0" smtClean="0"/>
              <a:t>	elements A[</a:t>
            </a:r>
            <a:r>
              <a:rPr lang="en-US" altLang="zh-TW" sz="2600" dirty="0" err="1" smtClean="0"/>
              <a:t>i</a:t>
            </a:r>
            <a:r>
              <a:rPr lang="en-US" altLang="zh-TW" sz="2600" baseline="-25000" dirty="0" err="1" smtClean="0"/>
              <a:t>diagonal</a:t>
            </a:r>
            <a:r>
              <a:rPr lang="en-US" altLang="zh-TW" sz="2600" dirty="0" smtClean="0"/>
              <a:t> . . . </a:t>
            </a:r>
            <a:r>
              <a:rPr lang="en-US" altLang="zh-TW" sz="2600" dirty="0" err="1" smtClean="0"/>
              <a:t>i,j</a:t>
            </a:r>
            <a:r>
              <a:rPr lang="en-US" altLang="zh-TW" sz="2600" baseline="-25000" dirty="0" err="1" smtClean="0"/>
              <a:t>left</a:t>
            </a:r>
            <a:r>
              <a:rPr lang="en-US" altLang="zh-TW" sz="2600" dirty="0" smtClean="0"/>
              <a:t>].</a:t>
            </a:r>
          </a:p>
          <a:p>
            <a:pPr>
              <a:buNone/>
            </a:pPr>
            <a:r>
              <a:rPr lang="en-US" altLang="zh-TW" sz="2600" dirty="0" smtClean="0"/>
              <a:t> Zone III. Zone III consists of all of the </a:t>
            </a:r>
          </a:p>
          <a:p>
            <a:pPr>
              <a:buNone/>
            </a:pPr>
            <a:r>
              <a:rPr lang="en-US" altLang="zh-TW" sz="2600" dirty="0" smtClean="0"/>
              <a:t>	elements on the upper-left frame </a:t>
            </a:r>
          </a:p>
          <a:p>
            <a:pPr>
              <a:buNone/>
            </a:pPr>
            <a:r>
              <a:rPr lang="en-US" altLang="zh-TW" sz="2600" dirty="0" smtClean="0"/>
              <a:t>	between Zone I and Zone II.</a:t>
            </a:r>
            <a:endParaRPr lang="zh-TW" altLang="en-US" sz="2600" dirty="0" smtClean="0"/>
          </a:p>
          <a:p>
            <a:pPr>
              <a:buNone/>
            </a:pPr>
            <a:endParaRPr lang="zh-TW" altLang="en-US" sz="2600" dirty="0"/>
          </a:p>
        </p:txBody>
      </p:sp>
      <p:pic>
        <p:nvPicPr>
          <p:cNvPr id="5" name="圖片 4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2" y="1571612"/>
            <a:ext cx="3310651" cy="5072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US" altLang="zh-TW" b="1" dirty="0" smtClean="0"/>
              <a:t>Zone I(1/2)</a:t>
            </a:r>
            <a:endParaRPr lang="zh-TW" altLang="en-US" b="1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357850"/>
          </a:xfrm>
        </p:spPr>
        <p:txBody>
          <a:bodyPr>
            <a:noAutofit/>
          </a:bodyPr>
          <a:lstStyle/>
          <a:p>
            <a:r>
              <a:rPr lang="en-US" altLang="zh-TW" sz="2600" dirty="0" smtClean="0"/>
              <a:t>Algorithm1</a:t>
            </a:r>
          </a:p>
          <a:p>
            <a:pPr lvl="2">
              <a:buNone/>
            </a:pPr>
            <a:r>
              <a:rPr lang="en-US" altLang="zh-TW" dirty="0" smtClean="0"/>
              <a:t>for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top</a:t>
            </a:r>
            <a:r>
              <a:rPr lang="en-US" altLang="zh-TW" dirty="0" smtClean="0"/>
              <a:t> to </a:t>
            </a:r>
            <a:r>
              <a:rPr lang="en-US" altLang="zh-TW" dirty="0" err="1" smtClean="0"/>
              <a:t>i</a:t>
            </a:r>
            <a:r>
              <a:rPr lang="en-US" altLang="zh-TW" baseline="-25000" dirty="0" err="1" smtClean="0"/>
              <a:t>bottom</a:t>
            </a:r>
            <a:r>
              <a:rPr lang="en-US" altLang="zh-TW" dirty="0" smtClean="0"/>
              <a:t> do</a:t>
            </a:r>
          </a:p>
          <a:p>
            <a:pPr lvl="3">
              <a:buNone/>
            </a:pPr>
            <a:r>
              <a:rPr lang="en-US" altLang="zh-TW" sz="2400" dirty="0" smtClean="0"/>
              <a:t>if (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− </a:t>
            </a:r>
            <a:r>
              <a:rPr lang="en-US" altLang="zh-TW" sz="2400" dirty="0" err="1" smtClean="0"/>
              <a:t>i</a:t>
            </a:r>
            <a:r>
              <a:rPr lang="en-US" altLang="zh-TW" sz="2400" baseline="-25000" dirty="0" err="1" smtClean="0"/>
              <a:t>top</a:t>
            </a:r>
            <a:r>
              <a:rPr lang="en-US" altLang="zh-TW" sz="2400" dirty="0" smtClean="0"/>
              <a:t> ≤ </a:t>
            </a:r>
            <a:r>
              <a:rPr lang="en-US" altLang="zh-TW" sz="2400" dirty="0" err="1" smtClean="0"/>
              <a:t>j</a:t>
            </a:r>
            <a:r>
              <a:rPr lang="en-US" altLang="zh-TW" sz="2400" baseline="-25000" dirty="0" err="1" smtClean="0"/>
              <a:t>right</a:t>
            </a:r>
            <a:r>
              <a:rPr lang="en-US" altLang="zh-TW" sz="2400" dirty="0" smtClean="0"/>
              <a:t> − </a:t>
            </a:r>
            <a:r>
              <a:rPr lang="en-US" altLang="zh-TW" sz="2400" dirty="0" err="1" smtClean="0"/>
              <a:t>j</a:t>
            </a:r>
            <a:r>
              <a:rPr lang="en-US" altLang="zh-TW" sz="2400" baseline="-25000" dirty="0" err="1" smtClean="0"/>
              <a:t>left</a:t>
            </a:r>
            <a:r>
              <a:rPr lang="en-US" altLang="zh-TW" sz="2400" dirty="0" smtClean="0"/>
              <a:t>) then</a:t>
            </a:r>
          </a:p>
          <a:p>
            <a:pPr lvl="3"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err="1" smtClean="0"/>
              <a:t>MinZoneI</a:t>
            </a:r>
            <a:r>
              <a:rPr lang="en-US" altLang="zh-TW" sz="2400" dirty="0" smtClean="0"/>
              <a:t>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] := min(</a:t>
            </a:r>
            <a:r>
              <a:rPr lang="en-US" altLang="zh-TW" sz="2400" dirty="0" err="1" smtClean="0"/>
              <a:t>MinZoneI</a:t>
            </a:r>
            <a:r>
              <a:rPr lang="en-US" altLang="zh-TW" sz="2400" dirty="0" smtClean="0"/>
              <a:t>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− 1],A[</a:t>
            </a:r>
            <a:r>
              <a:rPr lang="en-US" altLang="zh-TW" sz="2400" dirty="0" err="1" smtClean="0"/>
              <a:t>i</a:t>
            </a:r>
            <a:r>
              <a:rPr lang="en-US" altLang="zh-TW" sz="2400" baseline="-25000" dirty="0" err="1" smtClean="0"/>
              <a:t>top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j</a:t>
            </a:r>
            <a:r>
              <a:rPr lang="en-US" altLang="zh-TW" sz="2400" baseline="-25000" dirty="0" err="1" smtClean="0"/>
              <a:t>diagonal</a:t>
            </a:r>
            <a:r>
              <a:rPr lang="en-US" altLang="zh-TW" sz="2400" dirty="0" smtClean="0"/>
              <a:t>])</a:t>
            </a:r>
          </a:p>
          <a:p>
            <a:pPr lvl="3">
              <a:buNone/>
            </a:pPr>
            <a:r>
              <a:rPr lang="en-US" altLang="zh-TW" sz="2400" dirty="0" smtClean="0"/>
              <a:t>else</a:t>
            </a:r>
          </a:p>
          <a:p>
            <a:pPr lvl="3"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err="1" smtClean="0"/>
              <a:t>MinZoneI</a:t>
            </a:r>
            <a:r>
              <a:rPr lang="en-US" altLang="zh-TW" sz="2400" dirty="0" smtClean="0"/>
              <a:t>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] :=</a:t>
            </a:r>
            <a:r>
              <a:rPr lang="en-US" altLang="zh-TW" sz="2400" dirty="0" err="1" smtClean="0"/>
              <a:t>MinZoneI</a:t>
            </a:r>
            <a:r>
              <a:rPr lang="en-US" altLang="zh-TW" sz="2400" dirty="0" smtClean="0"/>
              <a:t>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− 1]</a:t>
            </a:r>
          </a:p>
          <a:p>
            <a:pPr lvl="3">
              <a:buNone/>
            </a:pP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Zone I(2/2)</a:t>
            </a:r>
            <a:endParaRPr lang="zh-TW" altLang="en-US" dirty="0"/>
          </a:p>
        </p:txBody>
      </p:sp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357158" y="1571612"/>
          <a:ext cx="4320000" cy="24288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607223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內容版面配置區 5"/>
          <p:cNvGraphicFramePr>
            <a:graphicFrameLocks/>
          </p:cNvGraphicFramePr>
          <p:nvPr/>
        </p:nvGraphicFramePr>
        <p:xfrm>
          <a:off x="357158" y="4143380"/>
          <a:ext cx="4320000" cy="24288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607223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072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824000" y="2115857"/>
          <a:ext cx="3891405" cy="12971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33950"/>
                <a:gridCol w="1214446"/>
                <a:gridCol w="1143009"/>
              </a:tblGrid>
              <a:tr h="6233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737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MinZoneI</a:t>
                      </a:r>
                      <a:r>
                        <a:rPr lang="en-US" altLang="zh-TW" sz="2000" dirty="0" smtClean="0"/>
                        <a:t>[</a:t>
                      </a:r>
                      <a:r>
                        <a:rPr lang="en-US" altLang="zh-TW" sz="2000" dirty="0" err="1" smtClean="0"/>
                        <a:t>i</a:t>
                      </a:r>
                      <a:r>
                        <a:rPr lang="en-US" altLang="zh-TW" sz="2000" dirty="0" smtClean="0"/>
                        <a:t>]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29190" y="4857760"/>
          <a:ext cx="3891405" cy="12971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33950"/>
                <a:gridCol w="1214446"/>
                <a:gridCol w="1143009"/>
              </a:tblGrid>
              <a:tr h="6233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737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MinZoneI</a:t>
                      </a:r>
                      <a:r>
                        <a:rPr lang="en-US" altLang="zh-TW" sz="2000" dirty="0" smtClean="0"/>
                        <a:t>[</a:t>
                      </a:r>
                      <a:r>
                        <a:rPr lang="en-US" altLang="zh-TW" sz="2000" dirty="0" err="1" smtClean="0"/>
                        <a:t>i</a:t>
                      </a:r>
                      <a:r>
                        <a:rPr lang="en-US" altLang="zh-TW" sz="2000" dirty="0" smtClean="0"/>
                        <a:t>]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Zone II(1/3)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229600" cy="557214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Algorithm2</a:t>
            </a:r>
          </a:p>
          <a:p>
            <a:pPr lvl="1">
              <a:buNone/>
            </a:pPr>
            <a:r>
              <a:rPr lang="en-US" altLang="zh-TW" sz="2600" dirty="0" smtClean="0"/>
              <a:t>for </a:t>
            </a:r>
            <a:r>
              <a:rPr lang="en-US" altLang="zh-TW" sz="2600" i="1" dirty="0" err="1" smtClean="0"/>
              <a:t>i</a:t>
            </a:r>
            <a:r>
              <a:rPr lang="en-US" altLang="zh-TW" sz="2600" i="1" dirty="0" smtClean="0"/>
              <a:t> = </a:t>
            </a:r>
            <a:r>
              <a:rPr lang="en-US" altLang="zh-TW" sz="2600" i="1" dirty="0" err="1" smtClean="0"/>
              <a:t>i</a:t>
            </a:r>
            <a:r>
              <a:rPr lang="en-US" altLang="zh-TW" sz="2600" i="1" baseline="-25000" dirty="0" err="1" smtClean="0"/>
              <a:t>top</a:t>
            </a:r>
            <a:r>
              <a:rPr lang="en-US" altLang="zh-TW" sz="2600" i="1" dirty="0" smtClean="0"/>
              <a:t> to </a:t>
            </a:r>
            <a:r>
              <a:rPr lang="en-US" altLang="zh-TW" sz="2600" i="1" dirty="0" err="1" smtClean="0"/>
              <a:t>i</a:t>
            </a:r>
            <a:r>
              <a:rPr lang="en-US" altLang="zh-TW" sz="2600" i="1" baseline="-25000" dirty="0" err="1" smtClean="0"/>
              <a:t>bottom</a:t>
            </a:r>
            <a:r>
              <a:rPr lang="en-US" altLang="zh-TW" sz="2600" i="1" dirty="0" smtClean="0"/>
              <a:t> do</a:t>
            </a:r>
          </a:p>
          <a:p>
            <a:pPr lvl="2">
              <a:buNone/>
            </a:pPr>
            <a:r>
              <a:rPr lang="en-US" altLang="zh-TW" sz="2600" dirty="0" smtClean="0"/>
              <a:t>counter[</a:t>
            </a:r>
            <a:r>
              <a:rPr lang="en-US" altLang="zh-TW" sz="2600" i="1" dirty="0" smtClean="0"/>
              <a:t>New] :=counter[New] + 1</a:t>
            </a:r>
          </a:p>
          <a:p>
            <a:pPr lvl="2">
              <a:buNone/>
            </a:pPr>
            <a:r>
              <a:rPr lang="en-US" altLang="zh-TW" sz="2600" i="1" dirty="0" smtClean="0"/>
              <a:t>Min := min(Min, New)</a:t>
            </a:r>
          </a:p>
          <a:p>
            <a:pPr lvl="2">
              <a:buNone/>
            </a:pPr>
            <a:r>
              <a:rPr lang="en-US" altLang="zh-TW" sz="2600" dirty="0" smtClean="0"/>
              <a:t>counter[</a:t>
            </a:r>
            <a:r>
              <a:rPr lang="en-US" altLang="zh-TW" sz="2600" i="1" dirty="0" smtClean="0"/>
              <a:t>Out] :=counter[Out] − 1</a:t>
            </a:r>
          </a:p>
          <a:p>
            <a:pPr lvl="2">
              <a:buNone/>
            </a:pPr>
            <a:r>
              <a:rPr lang="en-US" altLang="zh-TW" sz="2600" dirty="0" smtClean="0"/>
              <a:t>if counter[</a:t>
            </a:r>
            <a:r>
              <a:rPr lang="en-US" altLang="zh-TW" sz="2600" i="1" dirty="0" smtClean="0"/>
              <a:t>Min] = 0 then </a:t>
            </a:r>
          </a:p>
          <a:p>
            <a:pPr lvl="2">
              <a:buNone/>
            </a:pPr>
            <a:r>
              <a:rPr lang="en-US" altLang="zh-TW" sz="2600" i="1" dirty="0" smtClean="0"/>
              <a:t>			Min = Min +1</a:t>
            </a:r>
          </a:p>
          <a:p>
            <a:pPr lvl="2">
              <a:buNone/>
            </a:pPr>
            <a:r>
              <a:rPr lang="en-US" altLang="zh-TW" sz="2600" dirty="0" err="1" smtClean="0"/>
              <a:t>MinZoneII</a:t>
            </a:r>
            <a:r>
              <a:rPr lang="en-US" altLang="zh-TW" sz="2600" dirty="0" smtClean="0"/>
              <a:t>[</a:t>
            </a:r>
            <a:r>
              <a:rPr lang="en-US" altLang="zh-TW" sz="2600" i="1" dirty="0" err="1" smtClean="0"/>
              <a:t>i</a:t>
            </a:r>
            <a:r>
              <a:rPr lang="en-US" altLang="zh-TW" sz="2600" i="1" dirty="0" smtClean="0"/>
              <a:t>] :=Min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Zone II(2/3)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910" y="5643578"/>
          <a:ext cx="7429550" cy="1036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5910"/>
                <a:gridCol w="1485910"/>
                <a:gridCol w="1485910"/>
                <a:gridCol w="1485910"/>
                <a:gridCol w="1485910"/>
              </a:tblGrid>
              <a:tr h="4467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467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MinZoneII</a:t>
                      </a:r>
                      <a:r>
                        <a:rPr lang="en-US" altLang="zh-TW" sz="2000" dirty="0" smtClean="0"/>
                        <a:t>[</a:t>
                      </a:r>
                      <a:r>
                        <a:rPr lang="en-US" altLang="zh-TW" sz="2000" i="1" dirty="0" err="1" smtClean="0"/>
                        <a:t>i</a:t>
                      </a:r>
                      <a:r>
                        <a:rPr lang="en-US" altLang="zh-TW" sz="2000" i="1" dirty="0" smtClean="0"/>
                        <a:t>]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內容版面配置區 5"/>
          <p:cNvGraphicFramePr>
            <a:graphicFrameLocks/>
          </p:cNvGraphicFramePr>
          <p:nvPr/>
        </p:nvGraphicFramePr>
        <p:xfrm>
          <a:off x="1000100" y="1428736"/>
          <a:ext cx="2857520" cy="38576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71504"/>
                <a:gridCol w="571504"/>
                <a:gridCol w="571504"/>
                <a:gridCol w="571504"/>
                <a:gridCol w="571504"/>
              </a:tblGrid>
              <a:tr h="642942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內容版面配置區 5"/>
          <p:cNvGraphicFramePr>
            <a:graphicFrameLocks/>
          </p:cNvGraphicFramePr>
          <p:nvPr/>
        </p:nvGraphicFramePr>
        <p:xfrm>
          <a:off x="4714876" y="1428736"/>
          <a:ext cx="3123745" cy="392908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4749"/>
                <a:gridCol w="624749"/>
                <a:gridCol w="624749"/>
                <a:gridCol w="624749"/>
                <a:gridCol w="624749"/>
              </a:tblGrid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Zone II(3/3)</a:t>
            </a:r>
            <a:endParaRPr lang="zh-TW" altLang="en-US" dirty="0"/>
          </a:p>
        </p:txBody>
      </p:sp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4572000" y="1357300"/>
          <a:ext cx="3123745" cy="392908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4749"/>
                <a:gridCol w="624749"/>
                <a:gridCol w="624749"/>
                <a:gridCol w="624749"/>
                <a:gridCol w="624749"/>
              </a:tblGrid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內容版面配置區 5"/>
          <p:cNvGraphicFramePr>
            <a:graphicFrameLocks/>
          </p:cNvGraphicFramePr>
          <p:nvPr/>
        </p:nvGraphicFramePr>
        <p:xfrm>
          <a:off x="1091065" y="1357298"/>
          <a:ext cx="3123745" cy="392908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24749"/>
                <a:gridCol w="624749"/>
                <a:gridCol w="624749"/>
                <a:gridCol w="624749"/>
                <a:gridCol w="624749"/>
              </a:tblGrid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548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2910" y="5643578"/>
          <a:ext cx="7429550" cy="10363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5910"/>
                <a:gridCol w="1485910"/>
                <a:gridCol w="1485910"/>
                <a:gridCol w="1485910"/>
                <a:gridCol w="1485910"/>
              </a:tblGrid>
              <a:tr h="4467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44672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err="1" smtClean="0"/>
                        <a:t>MinZoneII</a:t>
                      </a:r>
                      <a:r>
                        <a:rPr lang="en-US" altLang="zh-TW" sz="2000" dirty="0" smtClean="0"/>
                        <a:t>[</a:t>
                      </a:r>
                      <a:r>
                        <a:rPr lang="en-US" altLang="zh-TW" sz="2000" i="1" dirty="0" err="1" smtClean="0"/>
                        <a:t>i</a:t>
                      </a:r>
                      <a:r>
                        <a:rPr lang="en-US" altLang="zh-TW" sz="2000" i="1" dirty="0" smtClean="0"/>
                        <a:t>]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X 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 </a:t>
            </a:r>
            <a:r>
              <a:rPr lang="en-US" altLang="zh-TW" dirty="0" err="1" smtClean="0"/>
              <a:t>aaaabbbbbbb</a:t>
            </a:r>
            <a:r>
              <a:rPr lang="en-US" altLang="zh-TW" dirty="0" smtClean="0"/>
              <a:t> , |X| = 11 , X = a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7</a:t>
            </a:r>
            <a:r>
              <a:rPr lang="en-US" altLang="zh-TW" dirty="0" smtClean="0"/>
              <a:t> , l = 2 </a:t>
            </a:r>
          </a:p>
          <a:p>
            <a:r>
              <a:rPr lang="en-US" altLang="zh-TW" dirty="0" smtClean="0"/>
              <a:t>Y = </a:t>
            </a:r>
            <a:r>
              <a:rPr lang="en-US" altLang="zh-TW" dirty="0" err="1" smtClean="0"/>
              <a:t>bbbbbbbaaa</a:t>
            </a:r>
            <a:r>
              <a:rPr lang="en-US" altLang="zh-TW" dirty="0" smtClean="0"/>
              <a:t>   , |Y| = 10 , Y = b</a:t>
            </a:r>
            <a:r>
              <a:rPr lang="en-US" altLang="zh-TW" baseline="30000" dirty="0" smtClean="0"/>
              <a:t>7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, k = 2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78" y="2780928"/>
            <a:ext cx="4425748" cy="3927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43438" y="214290"/>
            <a:ext cx="4286280" cy="635798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First , we want to compute A[1,4]</a:t>
            </a:r>
          </a:p>
          <a:p>
            <a:r>
              <a:rPr lang="en-US" altLang="zh-TW" sz="2800" i="1" dirty="0" smtClean="0"/>
              <a:t>A[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, </a:t>
            </a:r>
            <a:r>
              <a:rPr lang="en-US" altLang="zh-TW" sz="2800" i="1" dirty="0" err="1" smtClean="0"/>
              <a:t>j</a:t>
            </a:r>
            <a:r>
              <a:rPr lang="en-US" altLang="zh-TW" sz="2800" i="1" baseline="-25000" dirty="0" err="1" smtClean="0"/>
              <a:t>right</a:t>
            </a:r>
            <a:r>
              <a:rPr lang="en-US" altLang="zh-TW" sz="2800" i="1" dirty="0" smtClean="0"/>
              <a:t>] = min{  A[p, q] + dis(A[p, q], A[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, </a:t>
            </a:r>
            <a:r>
              <a:rPr lang="en-US" altLang="zh-TW" sz="2800" i="1" dirty="0" err="1" smtClean="0"/>
              <a:t>j</a:t>
            </a:r>
            <a:r>
              <a:rPr lang="en-US" altLang="zh-TW" sz="2800" i="1" baseline="-25000" dirty="0" err="1" smtClean="0"/>
              <a:t>right</a:t>
            </a:r>
            <a:r>
              <a:rPr lang="en-US" altLang="zh-TW" sz="2800" i="1" dirty="0" smtClean="0"/>
              <a:t>]) }</a:t>
            </a:r>
            <a:endParaRPr lang="en-US" altLang="zh-TW" sz="2800" dirty="0" smtClean="0"/>
          </a:p>
          <a:p>
            <a:r>
              <a:rPr lang="en-US" altLang="zh-TW" sz="2800" dirty="0" smtClean="0"/>
              <a:t>Compare 3+1 and 0 + 4</a:t>
            </a:r>
          </a:p>
          <a:p>
            <a:r>
              <a:rPr lang="en-US" altLang="zh-TW" sz="2800" dirty="0" smtClean="0"/>
              <a:t>A[1,4] = 4</a:t>
            </a:r>
          </a:p>
          <a:p>
            <a:r>
              <a:rPr lang="en-US" altLang="zh-TW" sz="2800" dirty="0" err="1" smtClean="0"/>
              <a:t>MinZone</a:t>
            </a:r>
            <a:r>
              <a:rPr lang="en-US" altLang="zh-TW" sz="2800" dirty="0" smtClean="0"/>
              <a:t> I</a:t>
            </a:r>
            <a:endParaRPr lang="en-US" altLang="zh-TW" sz="2800" dirty="0"/>
          </a:p>
          <a:p>
            <a:pPr marL="0" indent="0">
              <a:buNone/>
            </a:pPr>
            <a:endParaRPr lang="en-US" altLang="zh-TW" sz="2800" dirty="0" smtClean="0"/>
          </a:p>
          <a:p>
            <a:pPr marL="0" indent="0">
              <a:buNone/>
            </a:pPr>
            <a:endParaRPr lang="en-US" altLang="zh-TW" sz="2800" dirty="0"/>
          </a:p>
          <a:p>
            <a:endParaRPr lang="en-US" altLang="zh-TW" sz="1000" dirty="0" smtClean="0"/>
          </a:p>
          <a:p>
            <a:r>
              <a:rPr lang="en-US" altLang="zh-TW" sz="2800" dirty="0" err="1" smtClean="0"/>
              <a:t>MinZoneII</a:t>
            </a:r>
            <a:endParaRPr lang="en-US" altLang="zh-TW" sz="2800" dirty="0"/>
          </a:p>
          <a:p>
            <a:pPr marL="0" indent="0">
              <a:buNone/>
            </a:pPr>
            <a:endParaRPr lang="en-US" altLang="zh-TW" sz="2800" dirty="0" smtClean="0"/>
          </a:p>
        </p:txBody>
      </p:sp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(1)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3571868" y="1357298"/>
            <a:ext cx="428628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128831"/>
              </p:ext>
            </p:extLst>
          </p:nvPr>
        </p:nvGraphicFramePr>
        <p:xfrm>
          <a:off x="4860032" y="3717032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976905"/>
              </p:ext>
            </p:extLst>
          </p:nvPr>
        </p:nvGraphicFramePr>
        <p:xfrm>
          <a:off x="4860032" y="5327135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(2)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rot="16200000" flipH="1">
            <a:off x="2857488" y="1428736"/>
            <a:ext cx="1071570" cy="1071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643438" y="214290"/>
            <a:ext cx="4286280" cy="635798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Second , we want to compute A[2,4]</a:t>
            </a:r>
          </a:p>
          <a:p>
            <a:r>
              <a:rPr lang="en-US" altLang="zh-TW" sz="2800" i="1" dirty="0" smtClean="0"/>
              <a:t>A[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, </a:t>
            </a:r>
            <a:r>
              <a:rPr lang="en-US" altLang="zh-TW" sz="2800" i="1" dirty="0" err="1" smtClean="0"/>
              <a:t>j</a:t>
            </a:r>
            <a:r>
              <a:rPr lang="en-US" altLang="zh-TW" sz="2800" i="1" baseline="-25000" dirty="0" err="1" smtClean="0"/>
              <a:t>right</a:t>
            </a:r>
            <a:r>
              <a:rPr lang="en-US" altLang="zh-TW" sz="2800" i="1" dirty="0" smtClean="0"/>
              <a:t>] = min{  A[p, q] + dis(A[p, q], A[</a:t>
            </a:r>
            <a:r>
              <a:rPr lang="en-US" altLang="zh-TW" sz="2800" i="1" dirty="0" err="1" smtClean="0"/>
              <a:t>i</a:t>
            </a:r>
            <a:r>
              <a:rPr lang="en-US" altLang="zh-TW" sz="2800" i="1" dirty="0" smtClean="0"/>
              <a:t>, </a:t>
            </a:r>
            <a:r>
              <a:rPr lang="en-US" altLang="zh-TW" sz="2800" i="1" dirty="0" err="1" smtClean="0"/>
              <a:t>j</a:t>
            </a:r>
            <a:r>
              <a:rPr lang="en-US" altLang="zh-TW" sz="2800" i="1" baseline="-25000" dirty="0" err="1" smtClean="0"/>
              <a:t>right</a:t>
            </a:r>
            <a:r>
              <a:rPr lang="en-US" altLang="zh-TW" sz="2800" i="1" dirty="0" smtClean="0"/>
              <a:t>]) }</a:t>
            </a:r>
            <a:endParaRPr lang="en-US" altLang="zh-TW" sz="2800" dirty="0" smtClean="0"/>
          </a:p>
          <a:p>
            <a:r>
              <a:rPr lang="en-US" altLang="zh-TW" sz="2800" dirty="0" smtClean="0"/>
              <a:t>Compare 2+2 and 0 + 4</a:t>
            </a:r>
          </a:p>
          <a:p>
            <a:r>
              <a:rPr lang="en-US" altLang="zh-TW" sz="2800" dirty="0" smtClean="0"/>
              <a:t>A[2,4] = 4</a:t>
            </a:r>
          </a:p>
          <a:p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pPr marL="0" indent="0">
              <a:buNone/>
            </a:pPr>
            <a:endParaRPr lang="en-US" altLang="zh-TW" sz="2800" dirty="0"/>
          </a:p>
          <a:p>
            <a:pPr marL="0" indent="0">
              <a:buNone/>
            </a:pPr>
            <a:endParaRPr lang="en-US" altLang="zh-TW" sz="2800" dirty="0"/>
          </a:p>
          <a:p>
            <a:endParaRPr lang="en-US" altLang="zh-TW" sz="1000" dirty="0"/>
          </a:p>
          <a:p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012881"/>
              </p:ext>
            </p:extLst>
          </p:nvPr>
        </p:nvGraphicFramePr>
        <p:xfrm>
          <a:off x="4860032" y="3717032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90110"/>
              </p:ext>
            </p:extLst>
          </p:nvPr>
        </p:nvGraphicFramePr>
        <p:xfrm>
          <a:off x="4860032" y="5327135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(3)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2250265" y="1607331"/>
            <a:ext cx="1785950" cy="1714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643438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Third, we want to compute A[3,4]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1+3 and 0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A[3,4] = 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 smtClean="0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640199"/>
              </p:ext>
            </p:extLst>
          </p:nvPr>
        </p:nvGraphicFramePr>
        <p:xfrm>
          <a:off x="4860032" y="3717032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34849"/>
              </p:ext>
            </p:extLst>
          </p:nvPr>
        </p:nvGraphicFramePr>
        <p:xfrm>
          <a:off x="4860032" y="5327135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0886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(4)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rot="16200000" flipH="1">
            <a:off x="1428728" y="1428736"/>
            <a:ext cx="2571768" cy="25717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643438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A[4,4]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+ 4 and 0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A[4,4] = 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 smtClean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34849"/>
              </p:ext>
            </p:extLst>
          </p:nvPr>
        </p:nvGraphicFramePr>
        <p:xfrm>
          <a:off x="4860032" y="5327135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282456"/>
              </p:ext>
            </p:extLst>
          </p:nvPr>
        </p:nvGraphicFramePr>
        <p:xfrm>
          <a:off x="4860032" y="3645024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(5)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1071538" y="1857364"/>
            <a:ext cx="3429024" cy="25717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內容版面配置區 2"/>
          <p:cNvSpPr txBox="1">
            <a:spLocks/>
          </p:cNvSpPr>
          <p:nvPr/>
        </p:nvSpPr>
        <p:spPr>
          <a:xfrm>
            <a:off x="4643438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A[5,4]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+ 5 and 1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A[5,4] = 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 smtClean="0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426199"/>
              </p:ext>
            </p:extLst>
          </p:nvPr>
        </p:nvGraphicFramePr>
        <p:xfrm>
          <a:off x="4860032" y="3573016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42662"/>
              </p:ext>
            </p:extLst>
          </p:nvPr>
        </p:nvGraphicFramePr>
        <p:xfrm>
          <a:off x="4860032" y="5229200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(6)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rot="16200000" flipH="1">
            <a:off x="678629" y="2250273"/>
            <a:ext cx="4071966" cy="24288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643438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A[6,4]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+ 6 and 2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A[6,4] =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389980"/>
              </p:ext>
            </p:extLst>
          </p:nvPr>
        </p:nvGraphicFramePr>
        <p:xfrm>
          <a:off x="4860032" y="3573016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79680"/>
              </p:ext>
            </p:extLst>
          </p:nvPr>
        </p:nvGraphicFramePr>
        <p:xfrm>
          <a:off x="4860032" y="5229200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(7)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428596" y="2643182"/>
            <a:ext cx="4714908" cy="24288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644008" y="332656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A[7,4]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+ 7 and 3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A[7,4] =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562708"/>
              </p:ext>
            </p:extLst>
          </p:nvPr>
        </p:nvGraphicFramePr>
        <p:xfrm>
          <a:off x="4860032" y="3573016"/>
          <a:ext cx="3927384" cy="10767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383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262937"/>
              </p:ext>
            </p:extLst>
          </p:nvPr>
        </p:nvGraphicFramePr>
        <p:xfrm>
          <a:off x="4860032" y="5229200"/>
          <a:ext cx="3816432" cy="125163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  <a:gridCol w="477054"/>
              </a:tblGrid>
              <a:tr h="4385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334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(8)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rot="16200000" flipH="1">
            <a:off x="1428728" y="4286256"/>
            <a:ext cx="1857388" cy="18573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714876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A[7,3]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+ 7 and 4 + 3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A[7,3] =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198210"/>
              </p:ext>
            </p:extLst>
          </p:nvPr>
        </p:nvGraphicFramePr>
        <p:xfrm>
          <a:off x="5012048" y="3573016"/>
          <a:ext cx="3953336" cy="123184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4167"/>
                <a:gridCol w="494167"/>
                <a:gridCol w="494167"/>
                <a:gridCol w="494167"/>
                <a:gridCol w="494167"/>
                <a:gridCol w="494167"/>
                <a:gridCol w="494167"/>
                <a:gridCol w="494167"/>
              </a:tblGrid>
              <a:tr h="4384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136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901906"/>
              </p:ext>
            </p:extLst>
          </p:nvPr>
        </p:nvGraphicFramePr>
        <p:xfrm>
          <a:off x="4932040" y="5301208"/>
          <a:ext cx="4001672" cy="12343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</a:tblGrid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(9)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1500166" y="5072074"/>
            <a:ext cx="100013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4714876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A[7,2]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+ 7 and 5 + 2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A[7,2] =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988170"/>
              </p:ext>
            </p:extLst>
          </p:nvPr>
        </p:nvGraphicFramePr>
        <p:xfrm>
          <a:off x="4860032" y="3573016"/>
          <a:ext cx="3927384" cy="11521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750942"/>
              </p:ext>
            </p:extLst>
          </p:nvPr>
        </p:nvGraphicFramePr>
        <p:xfrm>
          <a:off x="4860032" y="5301208"/>
          <a:ext cx="4001672" cy="12343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</a:tblGrid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4320000" cy="648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(10)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rot="16200000" flipH="1">
            <a:off x="1393009" y="5750735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內容版面配置區 2"/>
          <p:cNvSpPr txBox="1">
            <a:spLocks/>
          </p:cNvSpPr>
          <p:nvPr/>
        </p:nvSpPr>
        <p:spPr>
          <a:xfrm>
            <a:off x="4714876" y="285728"/>
            <a:ext cx="4286280" cy="635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A[7,1]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dis(A[p,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0 + 7 and 6 + 1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A[7,1] =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</a:t>
            </a:r>
            <a:r>
              <a:rPr lang="en-US" altLang="zh-TW" sz="2800" dirty="0"/>
              <a:t> I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1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MinZoneII</a:t>
            </a:r>
            <a:endParaRPr lang="en-US" altLang="zh-TW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3338"/>
              </p:ext>
            </p:extLst>
          </p:nvPr>
        </p:nvGraphicFramePr>
        <p:xfrm>
          <a:off x="4860032" y="3573016"/>
          <a:ext cx="3927384" cy="115212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  <a:gridCol w="490923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98384"/>
              </p:ext>
            </p:extLst>
          </p:nvPr>
        </p:nvGraphicFramePr>
        <p:xfrm>
          <a:off x="4860032" y="5301208"/>
          <a:ext cx="4001672" cy="12343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  <a:gridCol w="500209"/>
              </a:tblGrid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171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II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/>
          </p:cNvGraphicFramePr>
          <p:nvPr/>
        </p:nvGraphicFramePr>
        <p:xfrm>
          <a:off x="214282" y="214290"/>
          <a:ext cx="6643737" cy="64294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</a:tblGrid>
              <a:tr h="71438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11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5929322" y="1500174"/>
            <a:ext cx="357190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5143504" y="1428736"/>
            <a:ext cx="1214446" cy="114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214282" y="214290"/>
          <a:ext cx="6643737" cy="64294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  <a:gridCol w="738193"/>
              </a:tblGrid>
              <a:tr h="71438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rot="16200000" flipH="1">
            <a:off x="5929322" y="1500174"/>
            <a:ext cx="357190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143504" y="1428736"/>
            <a:ext cx="1214446" cy="114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4500562" y="1500174"/>
            <a:ext cx="1785950" cy="1714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3714744" y="1428736"/>
            <a:ext cx="2571768" cy="2500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3000364" y="1500174"/>
            <a:ext cx="3286148" cy="31432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16200000" flipH="1">
            <a:off x="2357422" y="1500174"/>
            <a:ext cx="3929090" cy="3929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1571604" y="1500174"/>
            <a:ext cx="4714908" cy="4643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16200000" flipH="1">
            <a:off x="1571604" y="2143116"/>
            <a:ext cx="4071966" cy="40719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500166" y="2857496"/>
            <a:ext cx="3286148" cy="3214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500166" y="3571876"/>
            <a:ext cx="2500330" cy="24288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rot="16200000" flipH="1">
            <a:off x="1571604" y="4357694"/>
            <a:ext cx="1714512" cy="1714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rot="16200000" flipH="1">
            <a:off x="1464447" y="4964917"/>
            <a:ext cx="1214446" cy="114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rot="16200000" flipH="1">
            <a:off x="1500166" y="5715016"/>
            <a:ext cx="357190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57224" y="1571612"/>
          <a:ext cx="4860000" cy="4050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10000"/>
                <a:gridCol w="810000"/>
                <a:gridCol w="810000"/>
                <a:gridCol w="810000"/>
                <a:gridCol w="810000"/>
                <a:gridCol w="810000"/>
              </a:tblGrid>
              <a:tr h="810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rot="16200000" flipH="1">
            <a:off x="4607719" y="2964653"/>
            <a:ext cx="500066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857620" y="3000372"/>
            <a:ext cx="1143008" cy="1071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3000364" y="3000372"/>
            <a:ext cx="2000264" cy="19288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16200000" flipH="1">
            <a:off x="2357422" y="3071810"/>
            <a:ext cx="1928826" cy="19288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16200000" flipH="1">
            <a:off x="2357422" y="3857628"/>
            <a:ext cx="1071570" cy="1071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rot="16200000" flipH="1">
            <a:off x="2250265" y="4607727"/>
            <a:ext cx="428628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6643702" y="1500174"/>
            <a:ext cx="428628" cy="357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500034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A[1,7]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two values: 4 and 4,choose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two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+ 1 and 7 + 7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A[1,7] = 5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16200000" flipH="1">
            <a:off x="6072198" y="1500174"/>
            <a:ext cx="100013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500034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A[2,7]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three values: 4,4 and 4,choose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three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+ 2 and 7 + 7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A[2,7] = 6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>
          <a:xfrm>
            <a:off x="500034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A[3,7]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four values: 4,4,4 and 4,choose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four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+ 3 and 7 + 7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A[3,7] = 7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rot="16200000" flipH="1">
            <a:off x="5393537" y="1607331"/>
            <a:ext cx="1643074" cy="15716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5400000">
            <a:off x="5715802" y="2356636"/>
            <a:ext cx="157163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內容版面配置區 2"/>
          <p:cNvSpPr txBox="1">
            <a:spLocks/>
          </p:cNvSpPr>
          <p:nvPr/>
        </p:nvSpPr>
        <p:spPr>
          <a:xfrm>
            <a:off x="500034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A[3,6]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four values: 4,4,4 and 4,choose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four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+ 3 and 7 + 6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A[3,6] = 7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rot="5400000">
            <a:off x="5072860" y="2356636"/>
            <a:ext cx="157163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357158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A[3,5]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four values: 4,4,4 and 5,choose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four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+ 3 and 7 + 5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A[3,5] = 7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5400000">
            <a:off x="4429918" y="2356636"/>
            <a:ext cx="157163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357158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A[3,4]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four values: 4,4,5 and 6,choose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four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+ 3 and 7 + 4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A[3,4] = 7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rot="5400000">
            <a:off x="3751257" y="2320917"/>
            <a:ext cx="164307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357158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A[3,3]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four values: 4,5,6 and 7,choose </a:t>
            </a:r>
            <a:r>
              <a:rPr lang="en-US" altLang="zh-TW" sz="2800" dirty="0" smtClean="0"/>
              <a:t>4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four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4 + 3 and 7 + 3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A[3,3] = 7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0331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rot="5400000">
            <a:off x="3179753" y="2320917"/>
            <a:ext cx="150019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內容版面配置區 2"/>
          <p:cNvSpPr txBox="1">
            <a:spLocks/>
          </p:cNvSpPr>
          <p:nvPr/>
        </p:nvSpPr>
        <p:spPr>
          <a:xfrm>
            <a:off x="357158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A[3,2]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three values: 5,6 and 7,choose 5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three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7,7and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5 + 3 and 7 + 3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A[3,2] = 8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643042" y="428604"/>
          <a:ext cx="5832000" cy="3240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/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2786050" y="2857496"/>
            <a:ext cx="357190" cy="2857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內容版面配置區 2"/>
          <p:cNvSpPr txBox="1">
            <a:spLocks/>
          </p:cNvSpPr>
          <p:nvPr/>
        </p:nvSpPr>
        <p:spPr>
          <a:xfrm>
            <a:off x="357158" y="3786190"/>
            <a:ext cx="8501122" cy="28575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want to compute A[3,1]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 has two values: 6 and 7,choose 6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Zone II </a:t>
            </a:r>
            <a:r>
              <a:rPr lang="en-US" altLang="zh-TW" sz="2800" dirty="0" smtClean="0"/>
              <a:t>has two </a:t>
            </a: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values: 7and 7,choose 7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min{  A[p, q] +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(A[p, q], A[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TW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TW" sz="28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</a:t>
            </a:r>
            <a:r>
              <a:rPr kumimoji="0" lang="en-US" altLang="zh-TW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 }</a:t>
            </a:r>
            <a:endParaRPr kumimoji="0" lang="en-US" altLang="zh-TW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Compare 6 + 3 and 7 + 1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A[3,1] = 8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7" y="214286"/>
          <a:ext cx="8215363" cy="64294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  <a:gridCol w="631951"/>
              </a:tblGrid>
              <a:tr h="535785"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2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3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4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5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6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7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8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9</a:t>
                      </a:r>
                      <a:endParaRPr lang="zh-TW" altLang="en-US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10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11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10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2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9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3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b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4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5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9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6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a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10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9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8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7</a:t>
                      </a:r>
                      <a:endParaRPr lang="zh-TW" altLang="en-US" sz="2000" b="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Time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Black blocks:  O((j</a:t>
            </a:r>
            <a:r>
              <a:rPr lang="en-US" altLang="zh-TW" sz="2800" baseline="-25000" dirty="0" smtClean="0"/>
              <a:t>right</a:t>
            </a:r>
            <a:r>
              <a:rPr lang="en-US" altLang="zh-TW" sz="2800" dirty="0" smtClean="0"/>
              <a:t>−j</a:t>
            </a:r>
            <a:r>
              <a:rPr lang="en-US" altLang="zh-TW" sz="2800" baseline="-25000" dirty="0" smtClean="0"/>
              <a:t>left</a:t>
            </a:r>
            <a:r>
              <a:rPr lang="en-US" altLang="zh-TW" sz="2800" dirty="0" smtClean="0"/>
              <a:t>+1)+(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bottom</a:t>
            </a:r>
            <a:r>
              <a:rPr lang="en-US" altLang="zh-TW" sz="2800" dirty="0" err="1" smtClean="0"/>
              <a:t>−i</a:t>
            </a:r>
            <a:r>
              <a:rPr lang="en-US" altLang="zh-TW" sz="2800" baseline="-25000" dirty="0" err="1" smtClean="0"/>
              <a:t>top</a:t>
            </a:r>
            <a:r>
              <a:rPr lang="en-US" altLang="zh-TW" sz="2800" dirty="0" smtClean="0"/>
              <a:t>+ 1))</a:t>
            </a:r>
          </a:p>
          <a:p>
            <a:r>
              <a:rPr lang="en-US" altLang="zh-TW" sz="2800" dirty="0" smtClean="0"/>
              <a:t>White blocks: O ((j</a:t>
            </a:r>
            <a:r>
              <a:rPr lang="en-US" altLang="zh-TW" sz="2800" baseline="-25000" dirty="0" smtClean="0"/>
              <a:t>right</a:t>
            </a:r>
            <a:r>
              <a:rPr lang="en-US" altLang="zh-TW" sz="2800" dirty="0" smtClean="0"/>
              <a:t>−j</a:t>
            </a:r>
            <a:r>
              <a:rPr lang="en-US" altLang="zh-TW" sz="2800" baseline="-25000" dirty="0" smtClean="0"/>
              <a:t>left</a:t>
            </a:r>
            <a:r>
              <a:rPr lang="en-US" altLang="zh-TW" sz="2800" dirty="0" smtClean="0"/>
              <a:t>+1)+(</a:t>
            </a:r>
            <a:r>
              <a:rPr lang="en-US" altLang="zh-TW" sz="2800" dirty="0" err="1" smtClean="0"/>
              <a:t>i</a:t>
            </a:r>
            <a:r>
              <a:rPr lang="en-US" altLang="zh-TW" sz="2800" baseline="-25000" dirty="0" err="1" smtClean="0"/>
              <a:t>bottom</a:t>
            </a:r>
            <a:r>
              <a:rPr lang="en-US" altLang="zh-TW" sz="2800" dirty="0" err="1" smtClean="0"/>
              <a:t>−i</a:t>
            </a:r>
            <a:r>
              <a:rPr lang="en-US" altLang="zh-TW" sz="2800" baseline="-25000" dirty="0" err="1" smtClean="0"/>
              <a:t>top</a:t>
            </a:r>
            <a:r>
              <a:rPr lang="en-US" altLang="zh-TW" sz="2800" dirty="0" smtClean="0"/>
              <a:t>+ 1))</a:t>
            </a:r>
          </a:p>
          <a:p>
            <a:r>
              <a:rPr lang="en-US" altLang="zh-TW" sz="2800" dirty="0" smtClean="0"/>
              <a:t>The edit distance between two run-length encoded strings, X and Y , can be computed in O(</a:t>
            </a:r>
            <a:r>
              <a:rPr lang="en-US" altLang="zh-TW" sz="2800" i="1" dirty="0" smtClean="0"/>
              <a:t>(</a:t>
            </a:r>
            <a:r>
              <a:rPr lang="en-US" altLang="zh-TW" sz="2800" dirty="0" smtClean="0"/>
              <a:t>|</a:t>
            </a:r>
            <a:r>
              <a:rPr lang="en-US" altLang="zh-TW" sz="2800" i="1" dirty="0" err="1" smtClean="0"/>
              <a:t>X</a:t>
            </a:r>
            <a:r>
              <a:rPr lang="en-US" altLang="zh-TW" sz="2800" dirty="0" err="1" smtClean="0"/>
              <a:t>|</a:t>
            </a:r>
            <a:r>
              <a:rPr lang="en-US" altLang="zh-TW" sz="2800" i="1" dirty="0" err="1" smtClean="0"/>
              <a:t>l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+|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|k) </a:t>
            </a:r>
            <a:r>
              <a:rPr lang="en-US" altLang="zh-TW" sz="2800" dirty="0" smtClean="0"/>
              <a:t>time.</a:t>
            </a:r>
          </a:p>
          <a:p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0034" y="2500306"/>
            <a:ext cx="8143932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TW" sz="12000" b="1" cap="none" spc="50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Thank You</a:t>
            </a:r>
            <a:endParaRPr lang="zh-TW" altLang="en-US" sz="12000" b="1" cap="none" spc="50" dirty="0">
              <a:ln w="11430"/>
              <a:solidFill>
                <a:schemeClr val="tx2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2818</Words>
  <Application>Microsoft Office PowerPoint</Application>
  <PresentationFormat>如螢幕大小 (4:3)</PresentationFormat>
  <Paragraphs>1620</Paragraphs>
  <Slides>43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8" baseType="lpstr">
      <vt:lpstr>新細明體</vt:lpstr>
      <vt:lpstr>標楷體</vt:lpstr>
      <vt:lpstr>Arial</vt:lpstr>
      <vt:lpstr>Calibri</vt:lpstr>
      <vt:lpstr>Office 佈景主題</vt:lpstr>
      <vt:lpstr>Edit distance of run-length encoded strings</vt:lpstr>
      <vt:lpstr>Abstract</vt:lpstr>
      <vt:lpstr>Run-Length Encoded Strings</vt:lpstr>
      <vt:lpstr>Edit distance(1/2)</vt:lpstr>
      <vt:lpstr>Edit distance(2/2)</vt:lpstr>
      <vt:lpstr>Preliminaries(1/2)</vt:lpstr>
      <vt:lpstr>Preliminaries(2/2)</vt:lpstr>
      <vt:lpstr>Algorithm</vt:lpstr>
      <vt:lpstr>Black blocks</vt:lpstr>
      <vt:lpstr>white blocks(1/3)</vt:lpstr>
      <vt:lpstr>white blocks(2/3)</vt:lpstr>
      <vt:lpstr>white blocks(3/3)</vt:lpstr>
      <vt:lpstr>Zone I(1/2)</vt:lpstr>
      <vt:lpstr>Zone I(2/2)</vt:lpstr>
      <vt:lpstr>Zone II(1/3)</vt:lpstr>
      <vt:lpstr>Zone II(2/3)</vt:lpstr>
      <vt:lpstr>Zone II(3/3)</vt:lpstr>
      <vt:lpstr>Example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Athena_Ho</dc:creator>
  <cp:lastModifiedBy>Athena_Ho</cp:lastModifiedBy>
  <cp:revision>119</cp:revision>
  <dcterms:created xsi:type="dcterms:W3CDTF">2014-10-24T13:15:51Z</dcterms:created>
  <dcterms:modified xsi:type="dcterms:W3CDTF">2014-10-28T10:23:27Z</dcterms:modified>
</cp:coreProperties>
</file>