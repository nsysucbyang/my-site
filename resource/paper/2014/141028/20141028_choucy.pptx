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65" r:id="rId13"/>
    <p:sldId id="267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Learning Algorithm for the Longest Common Subsequence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 Eric A. </a:t>
            </a:r>
            <a:r>
              <a:rPr lang="en-US" altLang="zh-TW" dirty="0" err="1" smtClean="0"/>
              <a:t>Breimer</a:t>
            </a:r>
            <a:r>
              <a:rPr lang="en-US" altLang="zh-TW" dirty="0"/>
              <a:t>, Mark K. </a:t>
            </a:r>
            <a:r>
              <a:rPr lang="en-US" altLang="zh-TW" dirty="0" smtClean="0"/>
              <a:t>Goldberg </a:t>
            </a:r>
            <a:r>
              <a:rPr lang="en-US" altLang="zh-TW" dirty="0"/>
              <a:t>and Darren T. Lim</a:t>
            </a:r>
            <a:br>
              <a:rPr lang="en-US" altLang="zh-TW" dirty="0"/>
            </a:br>
            <a:r>
              <a:rPr lang="en-US" altLang="zh-TW" dirty="0"/>
              <a:t>Journal of Experimental </a:t>
            </a:r>
            <a:r>
              <a:rPr lang="en-US" altLang="zh-TW" dirty="0" err="1" smtClean="0"/>
              <a:t>Algorithmics</a:t>
            </a:r>
            <a:r>
              <a:rPr lang="en-US" altLang="zh-TW" dirty="0" smtClean="0"/>
              <a:t>, Volume </a:t>
            </a:r>
            <a:r>
              <a:rPr lang="en-US" altLang="zh-TW" dirty="0"/>
              <a:t>8, </a:t>
            </a:r>
            <a:r>
              <a:rPr lang="en-US" altLang="zh-TW" dirty="0" smtClean="0"/>
              <a:t>2003</a:t>
            </a:r>
            <a:br>
              <a:rPr lang="en-US" altLang="zh-TW" dirty="0" smtClean="0"/>
            </a:br>
            <a:r>
              <a:rPr lang="en-US" altLang="zh-TW" dirty="0" smtClean="0"/>
              <a:t>Article </a:t>
            </a:r>
            <a:r>
              <a:rPr lang="en-US" altLang="zh-TW" dirty="0"/>
              <a:t>No. 2.1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33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 / 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Autofit/>
          </a:bodyPr>
          <a:lstStyle/>
          <a:p>
            <a:r>
              <a:rPr lang="en-US" altLang="zh-TW" sz="2200" dirty="0" smtClean="0"/>
              <a:t>We present an experimental study of a learning algorithm for the longest common subsequence problem, </a:t>
            </a:r>
            <a:r>
              <a:rPr lang="en-US" altLang="zh-TW" sz="2200" i="1" dirty="0" smtClean="0"/>
              <a:t>LCS</a:t>
            </a:r>
            <a:r>
              <a:rPr lang="en-US" altLang="zh-TW" sz="2200" dirty="0" smtClean="0"/>
              <a:t>. Given an arbitrary input domain, the algorithm learns an </a:t>
            </a:r>
            <a:r>
              <a:rPr lang="en-US" altLang="zh-TW" sz="2200" i="1" dirty="0" smtClean="0"/>
              <a:t>LCS</a:t>
            </a:r>
            <a:r>
              <a:rPr lang="en-US" altLang="zh-TW" sz="2200" dirty="0" smtClean="0"/>
              <a:t>-procedure tailored to that domain. The learning is done with the help of an oracle, which can be any </a:t>
            </a:r>
            <a:r>
              <a:rPr lang="en-US" altLang="zh-TW" sz="2200" i="1" dirty="0" smtClean="0"/>
              <a:t>LCS</a:t>
            </a:r>
            <a:r>
              <a:rPr lang="en-US" altLang="zh-TW" sz="2200" dirty="0" smtClean="0"/>
              <a:t>-algorithm. After solving a limited number of training inputs using an oracle, the learning algorithm outputs a new </a:t>
            </a:r>
            <a:r>
              <a:rPr lang="en-US" altLang="zh-TW" sz="2200" i="1" dirty="0" smtClean="0"/>
              <a:t>LCS</a:t>
            </a:r>
            <a:r>
              <a:rPr lang="en-US" altLang="zh-TW" sz="2200" dirty="0" smtClean="0"/>
              <a:t>-procedure. Our experiments demonstrate that, by allowing a slight loss of optimality, learning yields a procedure which is significantly faster than the oracle. The oracle used for the experiments is the </a:t>
            </a:r>
            <a:r>
              <a:rPr lang="en-US" altLang="zh-TW" sz="2200" i="1" dirty="0" smtClean="0"/>
              <a:t>np</a:t>
            </a:r>
            <a:r>
              <a:rPr lang="en-US" altLang="zh-TW" sz="2200" dirty="0" smtClean="0"/>
              <a:t>-procedure by Wu </a:t>
            </a:r>
            <a:r>
              <a:rPr lang="en-US" altLang="zh-TW" sz="2200" i="1" dirty="0" smtClean="0"/>
              <a:t>et al.</a:t>
            </a:r>
            <a:r>
              <a:rPr lang="en-US" altLang="zh-TW" sz="2200" dirty="0" smtClean="0"/>
              <a:t>, a modification of Myers' classical </a:t>
            </a:r>
            <a:r>
              <a:rPr lang="en-US" altLang="zh-TW" sz="2200" i="1" dirty="0" smtClean="0"/>
              <a:t>LCS</a:t>
            </a:r>
            <a:r>
              <a:rPr lang="en-US" altLang="zh-TW" sz="2200" dirty="0" smtClean="0"/>
              <a:t>-algorithm. We show how to scale up the results of learning on small inputs to inputs of arbitrary lengths. For the domain of two random 2-symbol inputs of length </a:t>
            </a:r>
            <a:r>
              <a:rPr lang="en-US" altLang="zh-TW" sz="2200" i="1" dirty="0" smtClean="0"/>
              <a:t>n</a:t>
            </a:r>
            <a:r>
              <a:rPr lang="en-US" altLang="zh-TW" sz="2200" dirty="0" smtClean="0"/>
              <a:t>, learning yields a program with 0.999 expected accuracy, which runs in </a:t>
            </a:r>
            <a:r>
              <a:rPr lang="en-US" altLang="zh-TW" sz="2200" i="1" dirty="0" smtClean="0"/>
              <a:t>O</a:t>
            </a:r>
            <a:r>
              <a:rPr lang="en-US" altLang="zh-TW" sz="2200" dirty="0" smtClean="0"/>
              <a:t>(</a:t>
            </a:r>
            <a:r>
              <a:rPr lang="en-US" altLang="zh-TW" sz="2200" i="1" dirty="0" smtClean="0"/>
              <a:t>n</a:t>
            </a:r>
            <a:r>
              <a:rPr lang="en-US" altLang="zh-TW" sz="2200" baseline="30000" dirty="0" smtClean="0"/>
              <a:t>1.41</a:t>
            </a:r>
            <a:r>
              <a:rPr lang="en-US" altLang="zh-TW" sz="2200" dirty="0" smtClean="0"/>
              <a:t>)-time, in contrast with </a:t>
            </a:r>
            <a:r>
              <a:rPr lang="en-US" altLang="zh-TW" sz="2200" i="1" dirty="0" smtClean="0"/>
              <a:t>O</a:t>
            </a:r>
            <a:r>
              <a:rPr lang="en-US" altLang="zh-TW" sz="2200" dirty="0" smtClean="0"/>
              <a:t>(</a:t>
            </a:r>
            <a:r>
              <a:rPr lang="en-US" altLang="zh-TW" sz="2200" i="1" dirty="0" smtClean="0"/>
              <a:t>n</a:t>
            </a:r>
            <a:r>
              <a:rPr lang="en-US" altLang="zh-TW" sz="2200" baseline="30000" dirty="0" smtClean="0"/>
              <a:t>2</a:t>
            </a:r>
            <a:r>
              <a:rPr lang="en-US" altLang="zh-TW" sz="2200" dirty="0" smtClean="0"/>
              <a:t>/log </a:t>
            </a:r>
            <a:r>
              <a:rPr lang="en-US" altLang="zh-TW" sz="2200" i="1" dirty="0" smtClean="0"/>
              <a:t>n</a:t>
            </a:r>
            <a:r>
              <a:rPr lang="en-US" altLang="zh-TW" sz="2200" dirty="0" smtClean="0"/>
              <a:t>) running time of the fastest theoretical algorithm that produces optimal solutions. 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4450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 </a:t>
            </a:r>
            <a:r>
              <a:rPr lang="en-US" altLang="zh-TW" dirty="0"/>
              <a:t>/ 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r>
              <a:rPr lang="en-US" altLang="zh-TW" sz="2200" dirty="0"/>
              <a:t>For the domain of random 2-symbol inputs of length 100,000, the program runs 10.5 times faster than the np-procedure, producing 0.999- accurate outputs. The scaled version of the evolved algorithm applied to random inputs of length 1 million runs approximately 30 times faster than the np-procedure while constructing 0.999- accurate solutions. We apply the evolved algorithm to DNA sequences of various lengths by training on random 4-symbol sequences of up to length 10,000. The evolved algorithm, scaled up to the lengths of up to 1.8 million, produces solutions with the 0.998-accuracy in a fraction of the time used by the np</a:t>
            </a:r>
            <a:r>
              <a:rPr lang="en-US" altLang="zh-TW" sz="2200" dirty="0" smtClean="0"/>
              <a:t>.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197776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Learning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Stage 1: Training inputs to LCS are generated.</a:t>
            </a:r>
          </a:p>
          <a:p>
            <a:r>
              <a:rPr lang="en-US" altLang="zh-TW" dirty="0" smtClean="0"/>
              <a:t>Stage 2: The inputs are solved by an oracle-algorithm.</a:t>
            </a:r>
          </a:p>
          <a:p>
            <a:r>
              <a:rPr lang="en-US" altLang="zh-TW" dirty="0" smtClean="0"/>
              <a:t>Stage 3: The database of solution traces is processed, yielding a search area.</a:t>
            </a:r>
          </a:p>
          <a:p>
            <a:r>
              <a:rPr lang="en-US" altLang="zh-TW" dirty="0" smtClean="0"/>
              <a:t>Stage 4: A procedure for a restricted search through the search area is developed.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559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I</a:t>
            </a:r>
            <a:r>
              <a:rPr lang="en-US" altLang="zh-TW" dirty="0" smtClean="0"/>
              <a:t>nputs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可利用機率分布隨機產生</a:t>
            </a:r>
            <a:r>
              <a:rPr lang="zh-TW" altLang="en-US" dirty="0"/>
              <a:t>訓練</a:t>
            </a:r>
            <a:r>
              <a:rPr lang="zh-TW" altLang="en-US" dirty="0" smtClean="0"/>
              <a:t>資料</a:t>
            </a:r>
            <a:endParaRPr lang="en-US" altLang="zh-TW" dirty="0" smtClean="0"/>
          </a:p>
          <a:p>
            <a:r>
              <a:rPr lang="zh-TW" altLang="en-US" dirty="0"/>
              <a:t>或者現成的</a:t>
            </a:r>
            <a:r>
              <a:rPr lang="zh-TW" altLang="en-US" dirty="0" smtClean="0"/>
              <a:t>資料庫</a:t>
            </a:r>
            <a:endParaRPr lang="en-US" altLang="zh-TW" dirty="0" smtClean="0"/>
          </a:p>
          <a:p>
            <a:r>
              <a:rPr lang="zh-TW" altLang="en-US" dirty="0"/>
              <a:t>在這</a:t>
            </a:r>
            <a:r>
              <a:rPr lang="zh-TW" altLang="en-US" dirty="0" smtClean="0"/>
              <a:t>篇</a:t>
            </a:r>
            <a:r>
              <a:rPr lang="zh-TW" altLang="en-US" dirty="0"/>
              <a:t>論文</a:t>
            </a:r>
            <a:r>
              <a:rPr lang="zh-TW" altLang="en-US" dirty="0" smtClean="0"/>
              <a:t>中，訓練用的</a:t>
            </a:r>
            <a:r>
              <a:rPr lang="en-US" altLang="zh-TW" dirty="0" smtClean="0"/>
              <a:t>sample</a:t>
            </a:r>
            <a:r>
              <a:rPr lang="zh-TW" altLang="en-US" dirty="0" smtClean="0"/>
              <a:t>數是</a:t>
            </a:r>
            <a:r>
              <a:rPr lang="en-US" altLang="zh-TW" dirty="0" smtClean="0"/>
              <a:t>300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292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Oracle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任何一種已知可用來解</a:t>
                </a:r>
                <a:r>
                  <a:rPr lang="en-US" altLang="zh-TW" dirty="0" smtClean="0"/>
                  <a:t>LCS</a:t>
                </a:r>
                <a:r>
                  <a:rPr lang="zh-TW" altLang="en-US" dirty="0" smtClean="0"/>
                  <a:t>的方法，皆可被用作</a:t>
                </a:r>
                <a:r>
                  <a:rPr lang="en-US" altLang="zh-TW" dirty="0"/>
                  <a:t>o</a:t>
                </a:r>
                <a:r>
                  <a:rPr lang="en-US" altLang="zh-TW" dirty="0" smtClean="0"/>
                  <a:t>racle algorithm</a:t>
                </a:r>
              </a:p>
              <a:p>
                <a:r>
                  <a:rPr lang="zh-TW" altLang="en-US" dirty="0" smtClean="0"/>
                  <a:t>兩字串</a:t>
                </a:r>
                <a:r>
                  <a:rPr lang="en-US" altLang="zh-TW" dirty="0" smtClean="0"/>
                  <a:t>A</a:t>
                </a:r>
                <a:r>
                  <a:rPr lang="zh-TW" altLang="en-US" dirty="0" smtClean="0"/>
                  <a:t>與</a:t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，長度分別為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與</a:t>
                </a:r>
                <a:r>
                  <a:rPr lang="en-US" altLang="zh-TW" dirty="0" smtClean="0"/>
                  <a:t>m</a:t>
                </a:r>
                <a:r>
                  <a:rPr lang="zh-TW" altLang="en-US" dirty="0" smtClean="0"/>
                  <a:t>，且</a:t>
                </a:r>
                <a:r>
                  <a:rPr lang="en-US" altLang="zh-TW" dirty="0" smtClean="0"/>
                  <a:t>n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m</a:t>
                </a:r>
                <a:r>
                  <a:rPr lang="zh-TW" altLang="en-US" dirty="0" smtClean="0"/>
                  <a:t>，由</a:t>
                </a:r>
                <a:r>
                  <a:rPr lang="en-US" altLang="zh-TW" dirty="0" smtClean="0"/>
                  <a:t>oracle algorithm</a:t>
                </a:r>
                <a:r>
                  <a:rPr lang="zh-TW" altLang="en-US" dirty="0" smtClean="0"/>
                  <a:t>所求得的</a:t>
                </a:r>
                <a:r>
                  <a:rPr lang="en-US" altLang="zh-TW" dirty="0" smtClean="0"/>
                  <a:t>LCS</a:t>
                </a:r>
                <a:r>
                  <a:rPr lang="zh-TW" altLang="en-US" dirty="0" smtClean="0"/>
                  <a:t>解稱之為</a:t>
                </a:r>
                <a:r>
                  <a:rPr lang="en-US" altLang="zh-TW" dirty="0" smtClean="0"/>
                  <a:t>trace</a:t>
                </a:r>
                <a:r>
                  <a:rPr lang="zh-TW" altLang="en-US" dirty="0" smtClean="0"/>
                  <a:t>，所有的</a:t>
                </a:r>
                <a:r>
                  <a:rPr lang="en-US" altLang="zh-TW" dirty="0" smtClean="0"/>
                  <a:t>trace</a:t>
                </a:r>
                <a:r>
                  <a:rPr lang="zh-TW" altLang="en-US" dirty="0" smtClean="0"/>
                  <a:t>所形成的集合稱為</a:t>
                </a:r>
                <a:r>
                  <a:rPr lang="en-US" altLang="zh-TW" dirty="0" smtClean="0"/>
                  <a:t>solution set</a:t>
                </a:r>
                <a:r>
                  <a:rPr lang="zh-TW" altLang="en-US" dirty="0" smtClean="0"/>
                  <a:t>。</a:t>
                </a: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1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02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Yielding a Search Area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將上述的</a:t>
            </a:r>
            <a:r>
              <a:rPr lang="en-US" altLang="zh-TW" dirty="0" smtClean="0"/>
              <a:t>solution set</a:t>
            </a:r>
            <a:r>
              <a:rPr lang="zh-TW" altLang="en-US" dirty="0" smtClean="0"/>
              <a:t>處理後，圈出</a:t>
            </a:r>
            <a:r>
              <a:rPr lang="en-US" altLang="zh-TW" dirty="0" smtClean="0"/>
              <a:t>LCS</a:t>
            </a:r>
            <a:r>
              <a:rPr lang="zh-TW" altLang="en-US" dirty="0" smtClean="0"/>
              <a:t>元素可能出現的範圍</a:t>
            </a:r>
            <a:endParaRPr lang="en-US" altLang="zh-TW" dirty="0" smtClean="0"/>
          </a:p>
          <a:p>
            <a:r>
              <a:rPr lang="en-US" altLang="zh-TW" dirty="0" smtClean="0"/>
              <a:t>Clustering</a:t>
            </a:r>
          </a:p>
          <a:p>
            <a:r>
              <a:rPr lang="en-US" altLang="zh-TW" dirty="0" smtClean="0"/>
              <a:t>Refining</a:t>
            </a:r>
          </a:p>
          <a:p>
            <a:r>
              <a:rPr lang="en-US" altLang="zh-TW" dirty="0" smtClean="0"/>
              <a:t>Scaling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7448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Clustering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800" dirty="0" smtClean="0"/>
                  <a:t>用</a:t>
                </a:r>
                <a:r>
                  <a:rPr lang="en-US" altLang="zh-TW" sz="2800" dirty="0" smtClean="0"/>
                  <a:t>L</a:t>
                </a:r>
                <a:r>
                  <a:rPr lang="zh-TW" altLang="en-US" sz="2800" dirty="0" smtClean="0"/>
                  <a:t>個</a:t>
                </a:r>
                <a:r>
                  <a:rPr lang="en-US" altLang="zh-TW" sz="2800" dirty="0" smtClean="0"/>
                  <a:t>traces</a:t>
                </a:r>
                <a:r>
                  <a:rPr lang="zh-TW" altLang="en-US" sz="2800" dirty="0" smtClean="0"/>
                  <a:t>來產生</a:t>
                </a:r>
                <a:r>
                  <a:rPr lang="en-US" altLang="zh-TW" sz="2800" dirty="0" smtClean="0"/>
                  <a:t>n</a:t>
                </a:r>
                <a:r>
                  <a:rPr lang="zh-TW" altLang="en-US" sz="2800" dirty="0" smtClean="0"/>
                  <a:t>個已排序過的</a:t>
                </a:r>
                <a:r>
                  <a:rPr lang="en-US" altLang="zh-TW" sz="2800" dirty="0" smtClean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𝑙𝑖𝑠𝑡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()</m:t>
                    </m:r>
                  </m:oMath>
                </a14:m>
                <a:r>
                  <a:rPr lang="en-US" altLang="zh-TW" sz="2800" dirty="0" smtClean="0"/>
                  <a:t>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𝑙𝑖𝑠𝑡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()</m:t>
                    </m:r>
                  </m:oMath>
                </a14:m>
                <a:r>
                  <a:rPr lang="zh-TW" altLang="en-US" sz="2800" dirty="0" smtClean="0"/>
                  <a:t>由相對應的</a:t>
                </a:r>
                <a:r>
                  <a:rPr lang="en-US" altLang="zh-TW" sz="2800" dirty="0" smtClean="0"/>
                  <a:t>trace</a:t>
                </a:r>
                <a:r>
                  <a:rPr lang="zh-TW" altLang="en-US" sz="2800" dirty="0" smtClean="0"/>
                  <a:t>中的第</a:t>
                </a:r>
                <a:r>
                  <a:rPr lang="en-US" altLang="zh-TW" sz="2800" dirty="0" err="1" smtClean="0"/>
                  <a:t>i</a:t>
                </a:r>
                <a:r>
                  <a:rPr lang="zh-TW" altLang="en-US" sz="2800" dirty="0" smtClean="0"/>
                  <a:t>個元素的</a:t>
                </a:r>
                <a:r>
                  <a:rPr lang="en-US" altLang="zh-TW" sz="2800" dirty="0" smtClean="0"/>
                  <a:t>y</a:t>
                </a:r>
                <a:r>
                  <a:rPr lang="zh-TW" altLang="en-US" sz="2800" dirty="0" smtClean="0"/>
                  <a:t>值所組成。若下列條件成立，則兩個點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𝑙𝑖𝑠𝑡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(</m:t>
                    </m:r>
                    <m:r>
                      <a:rPr lang="en-US" altLang="zh-TW" sz="2800" b="0" i="1" smtClean="0">
                        <a:latin typeface="Cambria Math"/>
                      </a:rPr>
                      <m:t>𝑎</m:t>
                    </m:r>
                    <m:r>
                      <a:rPr lang="en-US" altLang="zh-TW" sz="2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sz="2800" dirty="0" smtClean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dirty="0" smtClean="0">
                            <a:latin typeface="Cambria Math"/>
                          </a:rPr>
                          <m:t>𝑙𝑖𝑠𝑡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800" b="0" i="1" dirty="0" smtClean="0">
                        <a:latin typeface="Cambria Math"/>
                      </a:rPr>
                      <m:t>(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𝑎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+1)</m:t>
                    </m:r>
                  </m:oMath>
                </a14:m>
                <a:r>
                  <a:rPr lang="zh-TW" altLang="en-US" sz="2800" dirty="0" smtClean="0"/>
                  <a:t>將</a:t>
                </a:r>
                <a:r>
                  <a:rPr lang="zh-TW" altLang="en-US" sz="2800" dirty="0"/>
                  <a:t>會被歸在同一個</a:t>
                </a:r>
                <a:r>
                  <a:rPr lang="en-US" altLang="zh-TW" sz="2800" dirty="0" smtClean="0"/>
                  <a:t>cluster</a:t>
                </a:r>
                <a:r>
                  <a:rPr lang="zh-TW" altLang="en-US" sz="2800" dirty="0" smtClean="0"/>
                  <a:t>中：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TW" sz="2800" b="0" i="0" smtClean="0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𝑙𝑖𝑠𝑡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𝑙𝑖𝑠𝑡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(</m:t>
                    </m:r>
                    <m:r>
                      <a:rPr lang="en-US" altLang="zh-TW" sz="2800" b="0" i="1" smtClean="0">
                        <a:latin typeface="Cambria Math"/>
                      </a:rPr>
                      <m:t>𝑎</m:t>
                    </m:r>
                    <m:r>
                      <a:rPr lang="en-US" altLang="zh-TW" sz="2800" b="0" i="1" smtClean="0">
                        <a:latin typeface="Cambria Math"/>
                      </a:rPr>
                      <m:t>+1)|≤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𝑡𝑚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/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𝐿</m:t>
                    </m:r>
                  </m:oMath>
                </a14:m>
                <a:r>
                  <a:rPr lang="en-US" altLang="zh-TW" sz="2800" dirty="0" smtClean="0"/>
                  <a:t> </a:t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其中</a:t>
                </a:r>
                <a:r>
                  <a:rPr lang="en-US" altLang="zh-TW" sz="2800" dirty="0" smtClean="0"/>
                  <a:t>t</a:t>
                </a:r>
                <a:r>
                  <a:rPr lang="zh-TW" altLang="en-US" sz="2800" dirty="0" smtClean="0"/>
                  <a:t>為調整用參數。</a:t>
                </a:r>
                <a:endParaRPr lang="en-US" altLang="zh-TW" sz="2800" dirty="0" smtClean="0"/>
              </a:p>
              <a:p>
                <a:endParaRPr lang="en-US" altLang="zh-TW" sz="2800" dirty="0" smtClean="0"/>
              </a:p>
              <a:p>
                <a:endParaRPr lang="en-US" altLang="zh-TW" sz="28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348" r="-5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F:\Sena\Desktop\fig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25" y="4293096"/>
            <a:ext cx="8382595" cy="230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51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縮小</a:t>
            </a:r>
            <a:r>
              <a:rPr lang="en-US" altLang="zh-TW" dirty="0" smtClean="0"/>
              <a:t>search area</a:t>
            </a:r>
            <a:r>
              <a:rPr lang="zh-TW" altLang="en-US" dirty="0" smtClean="0"/>
              <a:t>，維持一定的準確率</a:t>
            </a:r>
            <a:r>
              <a:rPr lang="en-US" altLang="zh-TW" dirty="0" smtClean="0"/>
              <a:t>(99.9%)</a:t>
            </a:r>
            <a:r>
              <a:rPr lang="zh-TW" altLang="en-US" dirty="0" smtClean="0"/>
              <a:t>，將</a:t>
            </a:r>
            <a:r>
              <a:rPr lang="zh-TW" altLang="en-US" dirty="0"/>
              <a:t>預設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search area </a:t>
            </a:r>
            <a:r>
              <a:rPr lang="zh-TW" altLang="en-US" dirty="0" smtClean="0"/>
              <a:t>邊界</a:t>
            </a:r>
            <a:r>
              <a:rPr lang="zh-TW" altLang="en-US" dirty="0"/>
              <a:t>去除</a:t>
            </a:r>
            <a:r>
              <a:rPr lang="zh-TW" altLang="en-US" dirty="0" smtClean="0"/>
              <a:t>，利用剩下的範圍驗證，檢查準確率是否有維持，重複此步驟。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6" name="Picture 2" descr="F:\Sena\Desktop\fig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00" y="4023550"/>
            <a:ext cx="8661599" cy="242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32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Refining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60848"/>
            <a:ext cx="8229600" cy="3554534"/>
          </a:xfrm>
        </p:spPr>
      </p:pic>
    </p:spTree>
    <p:extLst>
      <p:ext uri="{BB962C8B-B14F-4D97-AF65-F5344CB8AC3E}">
        <p14:creationId xmlns:p14="http://schemas.microsoft.com/office/powerpoint/2010/main" val="2658456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Scaling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以輸入資料長度較小的訓練資料找出</a:t>
            </a:r>
            <a:r>
              <a:rPr lang="en-US" altLang="zh-TW" dirty="0" smtClean="0"/>
              <a:t>search area</a:t>
            </a:r>
            <a:r>
              <a:rPr lang="zh-TW" altLang="en-US" dirty="0" smtClean="0"/>
              <a:t>，再利用</a:t>
            </a:r>
            <a:r>
              <a:rPr lang="en-US" altLang="zh-TW" dirty="0" smtClean="0"/>
              <a:t>least square method</a:t>
            </a:r>
            <a:r>
              <a:rPr lang="zh-TW" altLang="en-US" dirty="0" smtClean="0"/>
              <a:t>計算當輸入資料長度較長時的</a:t>
            </a:r>
            <a:r>
              <a:rPr lang="en-US" altLang="zh-TW" dirty="0" smtClean="0"/>
              <a:t>search area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pic>
        <p:nvPicPr>
          <p:cNvPr id="1026" name="Picture 2" descr="F:\Sena\Desktop\fig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" t="5482" b="3767"/>
          <a:stretch/>
        </p:blipFill>
        <p:spPr bwMode="auto">
          <a:xfrm>
            <a:off x="150452" y="3429000"/>
            <a:ext cx="8843095" cy="294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18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Restricted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設 </a:t>
                </a:r>
                <a:r>
                  <a:rPr lang="en-US" altLang="zh-TW" dirty="0" smtClean="0"/>
                  <a:t>search area </a:t>
                </a:r>
                <a:r>
                  <a:rPr lang="zh-TW" altLang="en-US" dirty="0" smtClean="0"/>
                  <a:t>為 </a:t>
                </a:r>
                <a:r>
                  <a:rPr lang="en-US" altLang="zh-TW" dirty="0" smtClean="0"/>
                  <a:t>S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S</a:t>
                </a:r>
                <a:r>
                  <a:rPr lang="zh-TW" altLang="en-US" dirty="0" smtClean="0"/>
                  <a:t> 為所有元素數量</a:t>
                </a:r>
                <a:r>
                  <a:rPr lang="en-US" altLang="zh-TW" dirty="0" smtClean="0"/>
                  <a:t>m * n </a:t>
                </a:r>
                <a:r>
                  <a:rPr lang="zh-TW" altLang="en-US" dirty="0" smtClean="0"/>
                  <a:t>的 </a:t>
                </a:r>
                <a:r>
                  <a:rPr lang="en-US" altLang="zh-TW" dirty="0" smtClean="0"/>
                  <a:t>DP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matrix</a:t>
                </a:r>
                <a:r>
                  <a:rPr lang="zh-TW" altLang="en-US" dirty="0" smtClean="0"/>
                  <a:t> 的子集合。</a:t>
                </a:r>
                <a:endParaRPr lang="en-US" altLang="zh-TW" dirty="0" smtClean="0"/>
              </a:p>
              <a:p>
                <a:r>
                  <a:rPr lang="en-US" altLang="zh-TW" dirty="0" smtClean="0"/>
                  <a:t>Restricted dynamic programming</a:t>
                </a:r>
                <a:r>
                  <a:rPr lang="zh-TW" altLang="en-US" dirty="0" smtClean="0"/>
                  <a:t> 就是將一般的 </a:t>
                </a:r>
                <a:r>
                  <a:rPr lang="en-US" altLang="zh-TW" dirty="0" smtClean="0"/>
                  <a:t>DP</a:t>
                </a:r>
                <a:r>
                  <a:rPr lang="zh-TW" altLang="en-US" dirty="0" smtClean="0"/>
                  <a:t> 範圍限制在 </a:t>
                </a:r>
                <a:r>
                  <a:rPr lang="en-US" altLang="zh-TW" dirty="0" smtClean="0"/>
                  <a:t>S</a:t>
                </a:r>
                <a:r>
                  <a:rPr lang="zh-TW" altLang="en-US" dirty="0" smtClean="0"/>
                  <a:t> 中，如此</a:t>
                </a:r>
                <a:r>
                  <a:rPr lang="en-US" altLang="zh-TW" dirty="0" smtClean="0"/>
                  <a:t>DP</a:t>
                </a:r>
                <a:r>
                  <a:rPr lang="zh-TW" altLang="en-US" dirty="0" smtClean="0"/>
                  <a:t>的計算量為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r>
                      <a:rPr lang="en-US" altLang="zh-TW" b="0" i="1" dirty="0" smtClean="0">
                        <a:latin typeface="Cambria Math"/>
                      </a:rPr>
                      <m:t>(|</m:t>
                    </m:r>
                    <m:r>
                      <a:rPr lang="en-US" altLang="zh-TW" b="0" i="1" dirty="0" smtClean="0">
                        <a:latin typeface="Cambria Math"/>
                      </a:rPr>
                      <m:t>𝑆</m:t>
                    </m:r>
                    <m:r>
                      <a:rPr lang="en-US" altLang="zh-TW" b="0" i="1" dirty="0" smtClean="0">
                        <a:latin typeface="Cambria Math"/>
                      </a:rPr>
                      <m:t>|)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25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F:\Sena\Desktop\fig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25" y="4293096"/>
            <a:ext cx="8382595" cy="230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281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</a:t>
            </a:r>
            <a:r>
              <a:rPr lang="en-US" altLang="zh-TW" dirty="0" smtClean="0"/>
              <a:t>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800"/>
            <a:ext cx="8229600" cy="3468136"/>
          </a:xfrm>
        </p:spPr>
      </p:pic>
      <p:pic>
        <p:nvPicPr>
          <p:cNvPr id="6" name="Picture 2" descr="F:\Sena\Desktop\table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58" y="5229200"/>
            <a:ext cx="7210425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06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</TotalTime>
  <Words>430</Words>
  <Application>Microsoft Office PowerPoint</Application>
  <PresentationFormat>如螢幕大小 (4:3)</PresentationFormat>
  <Paragraphs>35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A Learning Algorithm for the Longest Common Subsequence Problem</vt:lpstr>
      <vt:lpstr>Abstract (1 / 2)</vt:lpstr>
      <vt:lpstr>Abstract (2 / 2)</vt:lpstr>
      <vt:lpstr>Learning Algorithm</vt:lpstr>
      <vt:lpstr>Training Inputs</vt:lpstr>
      <vt:lpstr>Oracle Algorithm</vt:lpstr>
      <vt:lpstr>Yielding a Search Area</vt:lpstr>
      <vt:lpstr>Clustering</vt:lpstr>
      <vt:lpstr>Refining</vt:lpstr>
      <vt:lpstr>Refining</vt:lpstr>
      <vt:lpstr>Scaling</vt:lpstr>
      <vt:lpstr>Restricted Dynamic Programming</vt:lpstr>
      <vt:lpstr>Experimental Results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Learning Algorithm for the Longest Common Subsequence Problem</dc:title>
  <dc:creator>Sena</dc:creator>
  <cp:lastModifiedBy>Sena</cp:lastModifiedBy>
  <cp:revision>31</cp:revision>
  <dcterms:created xsi:type="dcterms:W3CDTF">2014-10-13T16:34:50Z</dcterms:created>
  <dcterms:modified xsi:type="dcterms:W3CDTF">2014-10-28T06:14:05Z</dcterms:modified>
</cp:coreProperties>
</file>