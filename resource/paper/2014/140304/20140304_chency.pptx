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9" r:id="rId44"/>
    <p:sldId id="298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8BDCD8F5-3340-4F85-BFE0-DF4DF8B78709}">
          <p14:sldIdLst>
            <p14:sldId id="256"/>
            <p14:sldId id="257"/>
            <p14:sldId id="258"/>
            <p14:sldId id="259"/>
          </p14:sldIdLst>
        </p14:section>
        <p14:section name="Demo1" id="{B50E5987-2030-45F4-8093-D315660AE82F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</p14:sldIdLst>
        </p14:section>
        <p14:section name="未命名的章節" id="{22DBD20F-1DD1-4EFD-9B65-77163A566768}">
          <p14:sldIdLst>
            <p14:sldId id="299"/>
            <p14:sldId id="298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44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552F6-939D-4F68-BCCA-205DDEEE0495}" type="datetimeFigureOut">
              <a:rPr lang="zh-TW" altLang="en-US" smtClean="0"/>
              <a:t>2014/3/3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07801-6704-46F2-9CBF-C4E0727C69D0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2682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552F6-939D-4F68-BCCA-205DDEEE0495}" type="datetimeFigureOut">
              <a:rPr lang="zh-TW" altLang="en-US" smtClean="0"/>
              <a:t>2014/3/3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07801-6704-46F2-9CBF-C4E0727C69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4259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552F6-939D-4F68-BCCA-205DDEEE0495}" type="datetimeFigureOut">
              <a:rPr lang="zh-TW" altLang="en-US" smtClean="0"/>
              <a:t>2014/3/3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07801-6704-46F2-9CBF-C4E0727C69D0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437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552F6-939D-4F68-BCCA-205DDEEE0495}" type="datetimeFigureOut">
              <a:rPr lang="zh-TW" altLang="en-US" smtClean="0"/>
              <a:t>2014/3/3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07801-6704-46F2-9CBF-C4E0727C69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1931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552F6-939D-4F68-BCCA-205DDEEE0495}" type="datetimeFigureOut">
              <a:rPr lang="zh-TW" altLang="en-US" smtClean="0"/>
              <a:t>2014/3/3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07801-6704-46F2-9CBF-C4E0727C69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4836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552F6-939D-4F68-BCCA-205DDEEE0495}" type="datetimeFigureOut">
              <a:rPr lang="zh-TW" altLang="en-US" smtClean="0"/>
              <a:t>2014/3/3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07801-6704-46F2-9CBF-C4E0727C69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812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552F6-939D-4F68-BCCA-205DDEEE0495}" type="datetimeFigureOut">
              <a:rPr lang="zh-TW" altLang="en-US" smtClean="0"/>
              <a:t>2014/3/3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07801-6704-46F2-9CBF-C4E0727C69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2689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CC8552F6-939D-4F68-BCCA-205DDEEE0495}" type="datetimeFigureOut">
              <a:rPr lang="zh-TW" altLang="en-US" smtClean="0"/>
              <a:t>2014/3/3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AB07801-6704-46F2-9CBF-C4E0727C69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1029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552F6-939D-4F68-BCCA-205DDEEE0495}" type="datetimeFigureOut">
              <a:rPr lang="zh-TW" altLang="en-US" smtClean="0"/>
              <a:t>2014/3/3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07801-6704-46F2-9CBF-C4E0727C69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0637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552F6-939D-4F68-BCCA-205DDEEE0495}" type="datetimeFigureOut">
              <a:rPr lang="zh-TW" altLang="en-US" smtClean="0"/>
              <a:t>2014/3/3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07801-6704-46F2-9CBF-C4E0727C69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7959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552F6-939D-4F68-BCCA-205DDEEE0495}" type="datetimeFigureOut">
              <a:rPr lang="zh-TW" altLang="en-US" smtClean="0"/>
              <a:t>2014/3/3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07801-6704-46F2-9CBF-C4E0727C69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0592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C8552F6-939D-4F68-BCCA-205DDEEE0495}" type="datetimeFigureOut">
              <a:rPr lang="zh-TW" altLang="en-US" smtClean="0"/>
              <a:t>2014/3/3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AB07801-6704-46F2-9CBF-C4E0727C69D0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502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822960" y="783666"/>
            <a:ext cx="7543800" cy="3566160"/>
          </a:xfrm>
        </p:spPr>
        <p:txBody>
          <a:bodyPr>
            <a:noAutofit/>
          </a:bodyPr>
          <a:lstStyle/>
          <a:p>
            <a:r>
              <a:rPr lang="en-US" altLang="zh-TW" sz="4800" dirty="0"/>
              <a:t>IMPROVING THE WORST-CASE PERFORMANCE OF THE HUNT-SZYMANSKI STRATEGY FOR THE LOGEST COMMON SUBSEQUENCE OF TWO STRINGS</a:t>
            </a:r>
            <a:endParaRPr lang="zh-TW" altLang="en-US" sz="48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825038" y="4982844"/>
            <a:ext cx="7543800" cy="1143000"/>
          </a:xfrm>
        </p:spPr>
        <p:txBody>
          <a:bodyPr>
            <a:normAutofit fontScale="62500" lnSpcReduction="20000"/>
          </a:bodyPr>
          <a:lstStyle/>
          <a:p>
            <a:r>
              <a:rPr lang="en-US" altLang="zh-TW" dirty="0"/>
              <a:t>Alberto </a:t>
            </a:r>
            <a:r>
              <a:rPr lang="en-US" altLang="zh-TW" dirty="0" smtClean="0"/>
              <a:t>APOSTOLICO, </a:t>
            </a:r>
            <a:r>
              <a:rPr lang="en-US" altLang="zh-TW" dirty="0"/>
              <a:t>Department of Computer Science, Purdue </a:t>
            </a:r>
            <a:r>
              <a:rPr lang="en-US" altLang="zh-TW" dirty="0" smtClean="0"/>
              <a:t>University.</a:t>
            </a:r>
          </a:p>
          <a:p>
            <a:r>
              <a:rPr lang="en-US" altLang="zh-TW" dirty="0"/>
              <a:t>Information Processing Letters 23 (1986) </a:t>
            </a:r>
            <a:r>
              <a:rPr lang="en-US" altLang="zh-TW" dirty="0" smtClean="0"/>
              <a:t>63-69</a:t>
            </a:r>
            <a:endParaRPr lang="en-US" altLang="zh-TW" dirty="0"/>
          </a:p>
          <a:p>
            <a:r>
              <a:rPr lang="en-US" altLang="zh-TW" dirty="0" smtClean="0"/>
              <a:t>Reporter : </a:t>
            </a:r>
            <a:r>
              <a:rPr lang="en-US" altLang="zh-TW" dirty="0" err="1"/>
              <a:t>Cing</a:t>
            </a:r>
            <a:r>
              <a:rPr lang="en-US" altLang="zh-TW" dirty="0"/>
              <a:t>-Yao Chen </a:t>
            </a:r>
            <a:r>
              <a:rPr lang="en-US" altLang="zh-TW" dirty="0" smtClean="0"/>
              <a:t>Date:2014/3/4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28709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ABSTRUCT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sz="1600" dirty="0"/>
              <a:t>Among the algorithms set up to date for finding the longest common subsequence of two strings, the one by Hunt and </a:t>
            </a:r>
            <a:r>
              <a:rPr lang="en-US" altLang="zh-TW" sz="1600" dirty="0" smtClean="0"/>
              <a:t>Szymanski </a:t>
            </a:r>
            <a:r>
              <a:rPr lang="en-US" altLang="zh-TW" sz="1600" dirty="0"/>
              <a:t>exhibits the best known performance in favorable cases, but can be worse than any straightforward algorithm for a </a:t>
            </a:r>
            <a:r>
              <a:rPr lang="en-US" altLang="zh-TW" sz="1600" dirty="0" smtClean="0"/>
              <a:t>large </a:t>
            </a:r>
            <a:r>
              <a:rPr lang="en-US" altLang="zh-TW" sz="1600" dirty="0"/>
              <a:t>variety of inputs. The new algorithm presented here pursues a schedule of primitive operations quite close to the one </a:t>
            </a:r>
            <a:r>
              <a:rPr lang="en-US" altLang="zh-TW" sz="1600" dirty="0" smtClean="0"/>
              <a:t>inherent </a:t>
            </a:r>
            <a:r>
              <a:rPr lang="en-US" altLang="zh-TW" sz="1600" dirty="0"/>
              <a:t>to the Hunt-Szymanski strategy, but with substantially enhanced efficiency. In fact, the new algorithm improves on </a:t>
            </a:r>
            <a:r>
              <a:rPr lang="en-US" altLang="zh-TW" sz="1600" dirty="0" smtClean="0"/>
              <a:t>the </a:t>
            </a:r>
            <a:r>
              <a:rPr lang="en-US" altLang="zh-TW" sz="1600" dirty="0"/>
              <a:t>former in two important respects. First, its worst case is never worse than linear in the product nm of the lengths of the </a:t>
            </a:r>
            <a:r>
              <a:rPr lang="en-US" altLang="zh-TW" sz="1600" dirty="0" smtClean="0"/>
              <a:t>two </a:t>
            </a:r>
            <a:r>
              <a:rPr lang="en-US" altLang="zh-TW" sz="1600" dirty="0"/>
              <a:t>input strings. Second, its time bound does not always grow with the cardinality r of the set R of all pairs of matching </a:t>
            </a:r>
            <a:r>
              <a:rPr lang="en-US" altLang="zh-TW" sz="1600" dirty="0" smtClean="0"/>
              <a:t>positions </a:t>
            </a:r>
            <a:r>
              <a:rPr lang="en-US" altLang="zh-TW" sz="1600" dirty="0"/>
              <a:t>of the input strings. Rather, it depends on the </a:t>
            </a:r>
            <a:r>
              <a:rPr lang="en-US" altLang="zh-TW" sz="1600" dirty="0" smtClean="0"/>
              <a:t>cardinality </a:t>
            </a:r>
            <a:r>
              <a:rPr lang="en-US" altLang="zh-TW" sz="1600" dirty="0"/>
              <a:t>d of a specific subset of R, whose elements are called here </a:t>
            </a:r>
            <a:r>
              <a:rPr lang="en-US" altLang="zh-TW" sz="1600" dirty="0" smtClean="0"/>
              <a:t>dominant </a:t>
            </a:r>
            <a:r>
              <a:rPr lang="en-US" altLang="zh-TW" sz="1600" dirty="0"/>
              <a:t>matches, and are elsewhere referred to as minimal candidates. This second improvement also appears of significance, </a:t>
            </a:r>
            <a:r>
              <a:rPr lang="en-US" altLang="zh-TW" sz="1600" dirty="0" smtClean="0"/>
              <a:t>since </a:t>
            </a:r>
            <a:r>
              <a:rPr lang="en-US" altLang="zh-TW" sz="1600" dirty="0"/>
              <a:t>it seems that whenever r gets too close to </a:t>
            </a:r>
            <a:r>
              <a:rPr lang="en-US" altLang="zh-TW" sz="1600" dirty="0" err="1" smtClean="0"/>
              <a:t>mn</a:t>
            </a:r>
            <a:r>
              <a:rPr lang="en-US" altLang="zh-TW" sz="1600" dirty="0"/>
              <a:t>, this forces d to be linear in m. The new algorithm requires standard </a:t>
            </a:r>
            <a:r>
              <a:rPr lang="en-US" altLang="zh-TW" sz="1600" dirty="0" smtClean="0"/>
              <a:t>preprocessing</a:t>
            </a:r>
            <a:r>
              <a:rPr lang="en-US" altLang="zh-TW" sz="1600" dirty="0"/>
              <a:t>, and makes use of finger-trees. In a forthcoming paper, it will be shown among other things that the same </a:t>
            </a:r>
            <a:r>
              <a:rPr lang="en-US" altLang="zh-TW" sz="1600" dirty="0" smtClean="0"/>
              <a:t>performance </a:t>
            </a:r>
            <a:r>
              <a:rPr lang="en-US" altLang="zh-TW" sz="1600" dirty="0"/>
              <a:t>can be achieved with simpler and handier auxiliary data structures. </a:t>
            </a:r>
          </a:p>
          <a:p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75318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LCS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9330" y="2056756"/>
            <a:ext cx="3190875" cy="3514725"/>
          </a:xfrm>
          <a:prstGeom prst="rect">
            <a:avLst/>
          </a:prstGeom>
        </p:spPr>
      </p:pic>
      <p:cxnSp>
        <p:nvCxnSpPr>
          <p:cNvPr id="6" name="直線接點 5"/>
          <p:cNvCxnSpPr/>
          <p:nvPr/>
        </p:nvCxnSpPr>
        <p:spPr>
          <a:xfrm flipH="1" flipV="1">
            <a:off x="2553216" y="4935881"/>
            <a:ext cx="442397" cy="2100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H="1" flipV="1">
            <a:off x="2169319" y="4242284"/>
            <a:ext cx="153751" cy="45516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flipH="1" flipV="1">
            <a:off x="1919288" y="3476318"/>
            <a:ext cx="135731" cy="42893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 flipH="1" flipV="1">
            <a:off x="1762125" y="3795713"/>
            <a:ext cx="223838" cy="17145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3700205" y="1905000"/>
            <a:ext cx="227126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r>
              <a:rPr lang="zh-TW" altLang="en-US" dirty="0" smtClean="0"/>
              <a:t> </a:t>
            </a:r>
            <a:r>
              <a:rPr lang="en-US" altLang="zh-TW" dirty="0" smtClean="0"/>
              <a:t>=</a:t>
            </a:r>
            <a:r>
              <a:rPr lang="zh-TW" altLang="en-US" dirty="0" smtClean="0"/>
              <a:t> </a:t>
            </a:r>
            <a:r>
              <a:rPr lang="en-US" altLang="zh-TW" dirty="0" err="1" smtClean="0"/>
              <a:t>abcdbb</a:t>
            </a:r>
            <a:endParaRPr lang="en-US" altLang="zh-TW" dirty="0" smtClean="0"/>
          </a:p>
          <a:p>
            <a:r>
              <a:rPr lang="en-US" altLang="zh-TW" dirty="0" smtClean="0"/>
              <a:t>B = </a:t>
            </a:r>
            <a:r>
              <a:rPr lang="en-US" altLang="zh-TW" dirty="0" err="1" smtClean="0"/>
              <a:t>cbacbaaba</a:t>
            </a:r>
            <a:endParaRPr lang="en-US" altLang="zh-TW" dirty="0" smtClean="0"/>
          </a:p>
          <a:p>
            <a:r>
              <a:rPr lang="en-US" altLang="zh-TW" dirty="0" smtClean="0"/>
              <a:t>k:</a:t>
            </a:r>
            <a:r>
              <a:rPr lang="zh-TW" altLang="en-US" dirty="0" smtClean="0"/>
              <a:t>到</a:t>
            </a:r>
            <a:r>
              <a:rPr lang="en-US" altLang="zh-TW" dirty="0" smtClean="0"/>
              <a:t>[</a:t>
            </a:r>
            <a:r>
              <a:rPr lang="en-US" altLang="zh-TW" dirty="0" err="1" smtClean="0"/>
              <a:t>i,j</a:t>
            </a:r>
            <a:r>
              <a:rPr lang="en-US" altLang="zh-TW" dirty="0" smtClean="0"/>
              <a:t>]</a:t>
            </a:r>
            <a:r>
              <a:rPr lang="zh-TW" altLang="en-US" dirty="0" smtClean="0"/>
              <a:t>的</a:t>
            </a:r>
            <a:r>
              <a:rPr lang="en-US" altLang="zh-TW" dirty="0" smtClean="0"/>
              <a:t>LCS</a:t>
            </a:r>
            <a:r>
              <a:rPr lang="zh-TW" altLang="en-US" dirty="0" smtClean="0"/>
              <a:t>的長度</a:t>
            </a:r>
            <a:endParaRPr lang="en-US" altLang="zh-TW" dirty="0" smtClean="0"/>
          </a:p>
          <a:p>
            <a:r>
              <a:rPr lang="en-US" altLang="zh-TW" dirty="0" smtClean="0"/>
              <a:t>Match:</a:t>
            </a:r>
            <a:r>
              <a:rPr lang="zh-TW" altLang="en-US" dirty="0" smtClean="0"/>
              <a:t>圈圈</a:t>
            </a:r>
            <a:endParaRPr lang="en-US" altLang="zh-TW" dirty="0" smtClean="0"/>
          </a:p>
          <a:p>
            <a:r>
              <a:rPr lang="en-US" altLang="zh-TW" dirty="0" smtClean="0"/>
              <a:t>K-dominant:</a:t>
            </a:r>
            <a:r>
              <a:rPr lang="zh-TW" altLang="en-US" dirty="0" smtClean="0"/>
              <a:t>粗的圈圈</a:t>
            </a:r>
            <a:endParaRPr lang="en-US" altLang="zh-TW" dirty="0" smtClean="0"/>
          </a:p>
          <a:p>
            <a:r>
              <a:rPr lang="en-US" altLang="zh-TW" dirty="0" smtClean="0"/>
              <a:t>d:K-dominant</a:t>
            </a:r>
            <a:r>
              <a:rPr lang="zh-TW" altLang="en-US" dirty="0" smtClean="0"/>
              <a:t>的數量</a:t>
            </a:r>
            <a:endParaRPr lang="en-US" altLang="zh-TW" dirty="0" smtClean="0"/>
          </a:p>
          <a:p>
            <a:r>
              <a:rPr lang="en-US" altLang="zh-TW" dirty="0" smtClean="0"/>
              <a:t>l:LCS</a:t>
            </a:r>
            <a:r>
              <a:rPr lang="zh-TW" altLang="en-US" dirty="0" smtClean="0"/>
              <a:t>的長度</a:t>
            </a:r>
            <a:r>
              <a:rPr lang="en-US" altLang="zh-TW" dirty="0" smtClean="0"/>
              <a:t>,k&lt;=l</a:t>
            </a:r>
          </a:p>
        </p:txBody>
      </p:sp>
    </p:spTree>
    <p:extLst>
      <p:ext uri="{BB962C8B-B14F-4D97-AF65-F5344CB8AC3E}">
        <p14:creationId xmlns:p14="http://schemas.microsoft.com/office/powerpoint/2010/main" val="140652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368" y="1888993"/>
            <a:ext cx="6316982" cy="3936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135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62" name="向右箭號 61"/>
          <p:cNvSpPr/>
          <p:nvPr/>
        </p:nvSpPr>
        <p:spPr>
          <a:xfrm>
            <a:off x="575309" y="412213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3792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sz="500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3" name="文字方塊 2"/>
          <p:cNvSpPr txBox="1"/>
          <p:nvPr/>
        </p:nvSpPr>
        <p:spPr>
          <a:xfrm>
            <a:off x="4798415" y="1957076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i</a:t>
            </a:r>
            <a:r>
              <a:rPr lang="en-US" altLang="zh-TW" dirty="0" smtClean="0"/>
              <a:t>=1</a:t>
            </a:r>
            <a:endParaRPr lang="zh-TW" altLang="en-US" dirty="0"/>
          </a:p>
        </p:txBody>
      </p:sp>
      <p:sp>
        <p:nvSpPr>
          <p:cNvPr id="63" name="向右箭號 62"/>
          <p:cNvSpPr/>
          <p:nvPr/>
        </p:nvSpPr>
        <p:spPr>
          <a:xfrm>
            <a:off x="575309" y="412213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822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sz="500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3" name="文字方塊 2"/>
          <p:cNvSpPr txBox="1"/>
          <p:nvPr/>
        </p:nvSpPr>
        <p:spPr>
          <a:xfrm>
            <a:off x="4798415" y="1957076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i</a:t>
            </a:r>
            <a:r>
              <a:rPr lang="en-US" altLang="zh-TW" dirty="0" smtClean="0"/>
              <a:t>=2</a:t>
            </a:r>
            <a:endParaRPr lang="zh-TW" altLang="en-US" dirty="0"/>
          </a:p>
        </p:txBody>
      </p:sp>
      <p:sp>
        <p:nvSpPr>
          <p:cNvPr id="62" name="向右箭號 61"/>
          <p:cNvSpPr/>
          <p:nvPr/>
        </p:nvSpPr>
        <p:spPr>
          <a:xfrm>
            <a:off x="575309" y="412213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0876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sz="500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3" name="文字方塊 2"/>
          <p:cNvSpPr txBox="1"/>
          <p:nvPr/>
        </p:nvSpPr>
        <p:spPr>
          <a:xfrm>
            <a:off x="4798415" y="1957076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i</a:t>
            </a:r>
            <a:r>
              <a:rPr lang="en-US" altLang="zh-TW" dirty="0" smtClean="0"/>
              <a:t>=6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575309" y="412213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5530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sz="500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575309" y="422373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1012785" y="272399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1228470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1441311" y="27203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cxnSp>
        <p:nvCxnSpPr>
          <p:cNvPr id="40" name="直線單箭頭接點 39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線接點 66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7207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sz="500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981709" y="480158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1012785" y="272399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1228470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1441311" y="27203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1</a:t>
            </a:r>
          </a:p>
          <a:p>
            <a:r>
              <a:rPr lang="en-US" altLang="zh-TW" dirty="0" smtClean="0"/>
              <a:t>j = 9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k</a:t>
            </a:r>
            <a:r>
              <a:rPr lang="en-US" altLang="zh-TW" dirty="0" smtClean="0"/>
              <a:t>=1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642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9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1089659" y="503653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文字方塊 61"/>
          <p:cNvSpPr txBox="1"/>
          <p:nvPr/>
        </p:nvSpPr>
        <p:spPr>
          <a:xfrm>
            <a:off x="1228470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1441311" y="27203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1</a:t>
            </a:r>
          </a:p>
          <a:p>
            <a:r>
              <a:rPr lang="en-US" altLang="zh-TW" dirty="0" smtClean="0"/>
              <a:t>j = 9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k</a:t>
            </a:r>
            <a:r>
              <a:rPr lang="en-US" altLang="zh-TW" dirty="0" smtClean="0"/>
              <a:t>=1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332" y="2813328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1,9,null</a:t>
            </a:r>
            <a:endParaRPr lang="zh-TW" altLang="en-US" sz="900" dirty="0"/>
          </a:p>
        </p:txBody>
      </p:sp>
      <p:cxnSp>
        <p:nvCxnSpPr>
          <p:cNvPr id="79" name="直線接點 78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864869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 flipH="1" flipV="1">
            <a:off x="6838950" y="889000"/>
            <a:ext cx="1885950" cy="33734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3421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9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994409" y="480793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文字方塊 61"/>
          <p:cNvSpPr txBox="1"/>
          <p:nvPr/>
        </p:nvSpPr>
        <p:spPr>
          <a:xfrm>
            <a:off x="1228470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1441311" y="27203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1</a:t>
            </a:r>
          </a:p>
          <a:p>
            <a:r>
              <a:rPr lang="en-US" altLang="zh-TW" dirty="0" smtClean="0"/>
              <a:t>j = 7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k</a:t>
            </a:r>
            <a:r>
              <a:rPr lang="en-US" altLang="zh-TW" dirty="0" smtClean="0"/>
              <a:t>=1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332" y="2813328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1,9,null</a:t>
            </a:r>
            <a:endParaRPr lang="zh-TW" altLang="en-US" sz="900" dirty="0"/>
          </a:p>
        </p:txBody>
      </p:sp>
      <p:cxnSp>
        <p:nvCxnSpPr>
          <p:cNvPr id="71" name="直線接點 70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接點 74"/>
          <p:cNvCxnSpPr/>
          <p:nvPr/>
        </p:nvCxnSpPr>
        <p:spPr>
          <a:xfrm>
            <a:off x="864869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/>
          <p:nvPr/>
        </p:nvCxnSpPr>
        <p:spPr>
          <a:xfrm flipH="1" flipV="1">
            <a:off x="6838950" y="889000"/>
            <a:ext cx="1885950" cy="33734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4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7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1083792" y="5036525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文字方塊 61"/>
          <p:cNvSpPr txBox="1"/>
          <p:nvPr/>
        </p:nvSpPr>
        <p:spPr>
          <a:xfrm>
            <a:off x="1228470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1441311" y="27203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1</a:t>
            </a:r>
          </a:p>
          <a:p>
            <a:r>
              <a:rPr lang="en-US" altLang="zh-TW" dirty="0" smtClean="0"/>
              <a:t>j = 7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k</a:t>
            </a:r>
            <a:r>
              <a:rPr lang="en-US" altLang="zh-TW" dirty="0" smtClean="0"/>
              <a:t>=1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332" y="2813328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1,7,null</a:t>
            </a:r>
            <a:endParaRPr lang="zh-TW" altLang="en-US" sz="900" dirty="0"/>
          </a:p>
        </p:txBody>
      </p:sp>
      <p:cxnSp>
        <p:nvCxnSpPr>
          <p:cNvPr id="71" name="直線接點 70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接點 72"/>
          <p:cNvCxnSpPr/>
          <p:nvPr/>
        </p:nvCxnSpPr>
        <p:spPr>
          <a:xfrm>
            <a:off x="826769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/>
          <p:nvPr/>
        </p:nvCxnSpPr>
        <p:spPr>
          <a:xfrm flipH="1" flipV="1">
            <a:off x="6838950" y="889000"/>
            <a:ext cx="1428747" cy="33734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2671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7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1007592" y="4807925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文字方塊 61"/>
          <p:cNvSpPr txBox="1"/>
          <p:nvPr/>
        </p:nvSpPr>
        <p:spPr>
          <a:xfrm>
            <a:off x="1228470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1441311" y="27203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1</a:t>
            </a:r>
          </a:p>
          <a:p>
            <a:r>
              <a:rPr lang="en-US" altLang="zh-TW" dirty="0" smtClean="0"/>
              <a:t>j = 6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k</a:t>
            </a:r>
            <a:r>
              <a:rPr lang="en-US" altLang="zh-TW" dirty="0" smtClean="0"/>
              <a:t>=1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332" y="2813328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1,7,null</a:t>
            </a:r>
            <a:endParaRPr lang="zh-TW" altLang="en-US" sz="900" dirty="0"/>
          </a:p>
        </p:txBody>
      </p:sp>
      <p:cxnSp>
        <p:nvCxnSpPr>
          <p:cNvPr id="71" name="直線接點 70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接點 72"/>
          <p:cNvCxnSpPr/>
          <p:nvPr/>
        </p:nvCxnSpPr>
        <p:spPr>
          <a:xfrm>
            <a:off x="826769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/>
          <p:nvPr/>
        </p:nvCxnSpPr>
        <p:spPr>
          <a:xfrm flipH="1" flipV="1">
            <a:off x="6838950" y="889000"/>
            <a:ext cx="1428747" cy="33734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9388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1090142" y="506372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文字方塊 61"/>
          <p:cNvSpPr txBox="1"/>
          <p:nvPr/>
        </p:nvSpPr>
        <p:spPr>
          <a:xfrm>
            <a:off x="1228470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1441311" y="27203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1</a:t>
            </a:r>
          </a:p>
          <a:p>
            <a:r>
              <a:rPr lang="en-US" altLang="zh-TW" dirty="0" smtClean="0"/>
              <a:t>j = 6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k</a:t>
            </a:r>
            <a:r>
              <a:rPr lang="en-US" altLang="zh-TW" dirty="0" smtClean="0"/>
              <a:t>=1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332" y="2813328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1,6,null</a:t>
            </a:r>
            <a:endParaRPr lang="zh-TW" altLang="en-US" sz="900" dirty="0"/>
          </a:p>
        </p:txBody>
      </p:sp>
      <p:cxnSp>
        <p:nvCxnSpPr>
          <p:cNvPr id="71" name="直線接點 70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接點 72"/>
          <p:cNvCxnSpPr/>
          <p:nvPr/>
        </p:nvCxnSpPr>
        <p:spPr>
          <a:xfrm>
            <a:off x="803909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/>
          <p:nvPr/>
        </p:nvCxnSpPr>
        <p:spPr>
          <a:xfrm flipH="1" flipV="1">
            <a:off x="6838951" y="889000"/>
            <a:ext cx="1149349" cy="393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2173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1000420" y="481570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文字方塊 61"/>
          <p:cNvSpPr txBox="1"/>
          <p:nvPr/>
        </p:nvSpPr>
        <p:spPr>
          <a:xfrm>
            <a:off x="1228470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1441311" y="27203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1</a:t>
            </a:r>
          </a:p>
          <a:p>
            <a:r>
              <a:rPr lang="en-US" altLang="zh-TW" dirty="0" smtClean="0"/>
              <a:t>j = 3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k</a:t>
            </a:r>
            <a:r>
              <a:rPr lang="en-US" altLang="zh-TW" dirty="0" smtClean="0"/>
              <a:t>=1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332" y="2813328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1,6,null</a:t>
            </a:r>
            <a:endParaRPr lang="zh-TW" altLang="en-US" sz="900" dirty="0"/>
          </a:p>
        </p:txBody>
      </p:sp>
      <p:cxnSp>
        <p:nvCxnSpPr>
          <p:cNvPr id="71" name="直線接點 70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接點 74"/>
          <p:cNvCxnSpPr/>
          <p:nvPr/>
        </p:nvCxnSpPr>
        <p:spPr>
          <a:xfrm>
            <a:off x="803909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/>
          <p:nvPr/>
        </p:nvCxnSpPr>
        <p:spPr>
          <a:xfrm flipH="1" flipV="1">
            <a:off x="6838951" y="889000"/>
            <a:ext cx="1149349" cy="393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998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1079460" y="5034372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文字方塊 61"/>
          <p:cNvSpPr txBox="1"/>
          <p:nvPr/>
        </p:nvSpPr>
        <p:spPr>
          <a:xfrm>
            <a:off x="1228470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1441311" y="27203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1</a:t>
            </a:r>
          </a:p>
          <a:p>
            <a:r>
              <a:rPr lang="en-US" altLang="zh-TW" dirty="0" smtClean="0"/>
              <a:t>j = 3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k</a:t>
            </a:r>
            <a:r>
              <a:rPr lang="en-US" altLang="zh-TW" dirty="0" smtClean="0"/>
              <a:t>=1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332" y="2813328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1,3,null</a:t>
            </a:r>
            <a:endParaRPr lang="zh-TW" altLang="en-US" sz="900" dirty="0"/>
          </a:p>
        </p:txBody>
      </p:sp>
      <p:cxnSp>
        <p:nvCxnSpPr>
          <p:cNvPr id="71" name="直線接點 70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接點 72"/>
          <p:cNvCxnSpPr/>
          <p:nvPr/>
        </p:nvCxnSpPr>
        <p:spPr>
          <a:xfrm>
            <a:off x="7372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/>
          <p:nvPr/>
        </p:nvCxnSpPr>
        <p:spPr>
          <a:xfrm flipH="1" flipV="1">
            <a:off x="6838952" y="889000"/>
            <a:ext cx="533395" cy="41275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727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1007120" y="480158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文字方塊 61"/>
          <p:cNvSpPr txBox="1"/>
          <p:nvPr/>
        </p:nvSpPr>
        <p:spPr>
          <a:xfrm>
            <a:off x="1228470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1441311" y="27203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2</a:t>
            </a:r>
          </a:p>
          <a:p>
            <a:r>
              <a:rPr lang="en-US" altLang="zh-TW" dirty="0" smtClean="0"/>
              <a:t>j = 8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k=2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332" y="2813328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1,3,null</a:t>
            </a:r>
            <a:endParaRPr lang="zh-TW" altLang="en-US" sz="900" dirty="0"/>
          </a:p>
        </p:txBody>
      </p:sp>
      <p:cxnSp>
        <p:nvCxnSpPr>
          <p:cNvPr id="71" name="直線接點 70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接點 74"/>
          <p:cNvCxnSpPr/>
          <p:nvPr/>
        </p:nvCxnSpPr>
        <p:spPr>
          <a:xfrm>
            <a:off x="7372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/>
          <p:nvPr/>
        </p:nvCxnSpPr>
        <p:spPr>
          <a:xfrm flipH="1" flipV="1">
            <a:off x="6838952" y="889000"/>
            <a:ext cx="533395" cy="41275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6134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8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1096020" y="504288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文字方塊 62"/>
          <p:cNvSpPr txBox="1"/>
          <p:nvPr/>
        </p:nvSpPr>
        <p:spPr>
          <a:xfrm>
            <a:off x="1441311" y="27203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2</a:t>
            </a:r>
          </a:p>
          <a:p>
            <a:r>
              <a:rPr lang="en-US" altLang="zh-TW" dirty="0" smtClean="0"/>
              <a:t>j = 8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k=2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1,3,null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2,8,L1</a:t>
            </a:r>
            <a:endParaRPr lang="zh-TW" altLang="en-US" sz="900" dirty="0"/>
          </a:p>
        </p:txBody>
      </p:sp>
      <p:cxnSp>
        <p:nvCxnSpPr>
          <p:cNvPr id="79" name="直線接點 78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>
            <a:off x="7372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/>
          <p:cNvCxnSpPr/>
          <p:nvPr/>
        </p:nvCxnSpPr>
        <p:spPr>
          <a:xfrm>
            <a:off x="847089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" name="群組 86"/>
          <p:cNvGrpSpPr/>
          <p:nvPr/>
        </p:nvGrpSpPr>
        <p:grpSpPr>
          <a:xfrm>
            <a:off x="6838952" y="889000"/>
            <a:ext cx="1631945" cy="736600"/>
            <a:chOff x="6838952" y="889000"/>
            <a:chExt cx="1631945" cy="736600"/>
          </a:xfrm>
        </p:grpSpPr>
        <p:cxnSp>
          <p:nvCxnSpPr>
            <p:cNvPr id="85" name="直線單箭頭接點 84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線單箭頭接點 85"/>
            <p:cNvCxnSpPr/>
            <p:nvPr/>
          </p:nvCxnSpPr>
          <p:spPr>
            <a:xfrm flipH="1" flipV="1">
              <a:off x="7607300" y="1460500"/>
              <a:ext cx="863597" cy="1651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30053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8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1007120" y="480158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文字方塊 62"/>
          <p:cNvSpPr txBox="1"/>
          <p:nvPr/>
        </p:nvSpPr>
        <p:spPr>
          <a:xfrm>
            <a:off x="1441311" y="27203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2</a:t>
            </a:r>
          </a:p>
          <a:p>
            <a:r>
              <a:rPr lang="en-US" altLang="zh-TW" dirty="0" smtClean="0"/>
              <a:t>j = 5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k=2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1,3,null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2,8,L1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7372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847089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群組 81"/>
          <p:cNvGrpSpPr/>
          <p:nvPr/>
        </p:nvGrpSpPr>
        <p:grpSpPr>
          <a:xfrm>
            <a:off x="6838952" y="889000"/>
            <a:ext cx="1631945" cy="736600"/>
            <a:chOff x="6838952" y="889000"/>
            <a:chExt cx="1631945" cy="736600"/>
          </a:xfrm>
        </p:grpSpPr>
        <p:cxnSp>
          <p:nvCxnSpPr>
            <p:cNvPr id="83" name="直線單箭頭接點 82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/>
            <p:nvPr/>
          </p:nvCxnSpPr>
          <p:spPr>
            <a:xfrm flipH="1" flipV="1">
              <a:off x="7607300" y="1460500"/>
              <a:ext cx="863597" cy="1651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24398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1083536" y="5033543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文字方塊 62"/>
          <p:cNvSpPr txBox="1"/>
          <p:nvPr/>
        </p:nvSpPr>
        <p:spPr>
          <a:xfrm>
            <a:off x="1441311" y="27203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2</a:t>
            </a:r>
          </a:p>
          <a:p>
            <a:r>
              <a:rPr lang="en-US" altLang="zh-TW" dirty="0" smtClean="0"/>
              <a:t>j = 5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k=2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1,3,null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2,5,L1</a:t>
            </a:r>
            <a:endParaRPr lang="zh-TW" altLang="en-US" sz="900" dirty="0"/>
          </a:p>
        </p:txBody>
      </p:sp>
      <p:cxnSp>
        <p:nvCxnSpPr>
          <p:cNvPr id="73" name="直線接點 72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7372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78168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群組 81"/>
          <p:cNvGrpSpPr/>
          <p:nvPr/>
        </p:nvGrpSpPr>
        <p:grpSpPr>
          <a:xfrm>
            <a:off x="6838952" y="889000"/>
            <a:ext cx="977895" cy="711200"/>
            <a:chOff x="6838952" y="889000"/>
            <a:chExt cx="977895" cy="711200"/>
          </a:xfrm>
        </p:grpSpPr>
        <p:cxnSp>
          <p:nvCxnSpPr>
            <p:cNvPr id="83" name="直線單箭頭接點 82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89851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1007120" y="480158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文字方塊 62"/>
          <p:cNvSpPr txBox="1"/>
          <p:nvPr/>
        </p:nvSpPr>
        <p:spPr>
          <a:xfrm>
            <a:off x="1441311" y="27203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2</a:t>
            </a:r>
          </a:p>
          <a:p>
            <a:r>
              <a:rPr lang="en-US" altLang="zh-TW" dirty="0" smtClean="0"/>
              <a:t>j = 2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k=1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1,3,null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2,5,L1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7372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78168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群組 81"/>
          <p:cNvGrpSpPr/>
          <p:nvPr/>
        </p:nvGrpSpPr>
        <p:grpSpPr>
          <a:xfrm>
            <a:off x="6838952" y="889000"/>
            <a:ext cx="977895" cy="711200"/>
            <a:chOff x="6838952" y="889000"/>
            <a:chExt cx="977895" cy="711200"/>
          </a:xfrm>
        </p:grpSpPr>
        <p:cxnSp>
          <p:nvCxnSpPr>
            <p:cNvPr id="83" name="直線單箭頭接點 82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07572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1096544" y="5055575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文字方塊 62"/>
          <p:cNvSpPr txBox="1"/>
          <p:nvPr/>
        </p:nvSpPr>
        <p:spPr>
          <a:xfrm>
            <a:off x="1441311" y="27203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2</a:t>
            </a:r>
          </a:p>
          <a:p>
            <a:r>
              <a:rPr lang="en-US" altLang="zh-TW" dirty="0" smtClean="0"/>
              <a:t>j = 2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k=1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2</a:t>
            </a:r>
            <a:r>
              <a:rPr lang="en-US" altLang="zh-TW" sz="900" dirty="0" smtClean="0"/>
              <a:t>,2,null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2,5,L1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71564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78168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群組 42"/>
          <p:cNvGrpSpPr/>
          <p:nvPr/>
        </p:nvGrpSpPr>
        <p:grpSpPr>
          <a:xfrm>
            <a:off x="6838952" y="889000"/>
            <a:ext cx="977895" cy="711200"/>
            <a:chOff x="6838952" y="889000"/>
            <a:chExt cx="977895" cy="711200"/>
          </a:xfrm>
        </p:grpSpPr>
        <p:cxnSp>
          <p:nvCxnSpPr>
            <p:cNvPr id="82" name="直線單箭頭接點 81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線單箭頭接點 82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95744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1000238" y="4801205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文字方塊 62"/>
          <p:cNvSpPr txBox="1"/>
          <p:nvPr/>
        </p:nvSpPr>
        <p:spPr>
          <a:xfrm>
            <a:off x="1441311" y="27203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3</a:t>
            </a:r>
          </a:p>
          <a:p>
            <a:r>
              <a:rPr lang="en-US" altLang="zh-TW" dirty="0" smtClean="0"/>
              <a:t>j = 4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k=2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2</a:t>
            </a:r>
            <a:r>
              <a:rPr lang="en-US" altLang="zh-TW" sz="900" dirty="0" smtClean="0"/>
              <a:t>,2,null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2,5,L1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71564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78168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群組 69"/>
          <p:cNvGrpSpPr/>
          <p:nvPr/>
        </p:nvGrpSpPr>
        <p:grpSpPr>
          <a:xfrm>
            <a:off x="6838952" y="889000"/>
            <a:ext cx="977895" cy="711200"/>
            <a:chOff x="6838952" y="889000"/>
            <a:chExt cx="977895" cy="711200"/>
          </a:xfrm>
        </p:grpSpPr>
        <p:cxnSp>
          <p:nvCxnSpPr>
            <p:cNvPr id="74" name="直線單箭頭接點 73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直線單箭頭接點 74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直線單箭頭接點 75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04064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1104179" y="502660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文字方塊 62"/>
          <p:cNvSpPr txBox="1"/>
          <p:nvPr/>
        </p:nvSpPr>
        <p:spPr>
          <a:xfrm>
            <a:off x="1441311" y="27203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3</a:t>
            </a:r>
          </a:p>
          <a:p>
            <a:r>
              <a:rPr lang="en-US" altLang="zh-TW" dirty="0" smtClean="0"/>
              <a:t>j = 4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k=2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2</a:t>
            </a:r>
            <a:r>
              <a:rPr lang="en-US" altLang="zh-TW" sz="900" dirty="0" smtClean="0"/>
              <a:t>,2,null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,4,L1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71564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7572338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群組 10"/>
          <p:cNvGrpSpPr/>
          <p:nvPr/>
        </p:nvGrpSpPr>
        <p:grpSpPr>
          <a:xfrm>
            <a:off x="6838952" y="889000"/>
            <a:ext cx="977895" cy="1061088"/>
            <a:chOff x="6838952" y="889000"/>
            <a:chExt cx="977895" cy="1061088"/>
          </a:xfrm>
        </p:grpSpPr>
        <p:cxnSp>
          <p:nvCxnSpPr>
            <p:cNvPr id="75" name="直線單箭頭接點 74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直線單箭頭接點 75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直線單箭頭接點 76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線單箭頭接點 82"/>
            <p:cNvCxnSpPr/>
            <p:nvPr/>
          </p:nvCxnSpPr>
          <p:spPr>
            <a:xfrm flipH="1" flipV="1">
              <a:off x="7390758" y="1810388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13602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1000238" y="480158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文字方塊 62"/>
          <p:cNvSpPr txBox="1"/>
          <p:nvPr/>
        </p:nvSpPr>
        <p:spPr>
          <a:xfrm>
            <a:off x="1441311" y="27203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3</a:t>
            </a:r>
          </a:p>
          <a:p>
            <a:r>
              <a:rPr lang="en-US" altLang="zh-TW" dirty="0" smtClean="0"/>
              <a:t>j = 1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k=1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2,2,null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,4,L1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71564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7572338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群組 69"/>
          <p:cNvGrpSpPr/>
          <p:nvPr/>
        </p:nvGrpSpPr>
        <p:grpSpPr>
          <a:xfrm>
            <a:off x="6838952" y="889000"/>
            <a:ext cx="977895" cy="1061088"/>
            <a:chOff x="6838952" y="889000"/>
            <a:chExt cx="977895" cy="1061088"/>
          </a:xfrm>
        </p:grpSpPr>
        <p:cxnSp>
          <p:nvCxnSpPr>
            <p:cNvPr id="74" name="直線單箭頭接點 73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直線單箭頭接點 74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直線單箭頭接點 75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直線單箭頭接點 76"/>
            <p:cNvCxnSpPr/>
            <p:nvPr/>
          </p:nvCxnSpPr>
          <p:spPr>
            <a:xfrm flipH="1" flipV="1">
              <a:off x="7390758" y="1810388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56430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1090142" y="506372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文字方塊 62"/>
          <p:cNvSpPr txBox="1"/>
          <p:nvPr/>
        </p:nvSpPr>
        <p:spPr>
          <a:xfrm>
            <a:off x="1441311" y="27203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3</a:t>
            </a:r>
          </a:p>
          <a:p>
            <a:r>
              <a:rPr lang="en-US" altLang="zh-TW" dirty="0" smtClean="0"/>
              <a:t>j = 1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mtClean="0"/>
              <a:t>k=1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,4,L1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7572338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群組 39"/>
          <p:cNvGrpSpPr/>
          <p:nvPr/>
        </p:nvGrpSpPr>
        <p:grpSpPr>
          <a:xfrm>
            <a:off x="6838952" y="889000"/>
            <a:ext cx="977895" cy="1061088"/>
            <a:chOff x="6838952" y="889000"/>
            <a:chExt cx="977895" cy="1061088"/>
          </a:xfrm>
        </p:grpSpPr>
        <p:cxnSp>
          <p:nvCxnSpPr>
            <p:cNvPr id="74" name="直線單箭頭接點 73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直線單箭頭接點 74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直線單箭頭接點 75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直線單箭頭接點 76"/>
            <p:cNvCxnSpPr/>
            <p:nvPr/>
          </p:nvCxnSpPr>
          <p:spPr>
            <a:xfrm flipH="1" flipV="1">
              <a:off x="7390758" y="1810388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直線單箭頭接點 77"/>
            <p:cNvCxnSpPr/>
            <p:nvPr/>
          </p:nvCxnSpPr>
          <p:spPr>
            <a:xfrm flipH="1" flipV="1">
              <a:off x="6851656" y="921534"/>
              <a:ext cx="139691" cy="982612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53117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984800" y="478846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文字方塊 62"/>
          <p:cNvSpPr txBox="1"/>
          <p:nvPr/>
        </p:nvSpPr>
        <p:spPr>
          <a:xfrm>
            <a:off x="1441311" y="27203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5</a:t>
            </a:r>
          </a:p>
          <a:p>
            <a:r>
              <a:rPr lang="en-US" altLang="zh-TW" dirty="0" smtClean="0"/>
              <a:t>j = 8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k=3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,4,L1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7572338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群組 69"/>
          <p:cNvGrpSpPr/>
          <p:nvPr/>
        </p:nvGrpSpPr>
        <p:grpSpPr>
          <a:xfrm>
            <a:off x="6838952" y="889000"/>
            <a:ext cx="977895" cy="1061088"/>
            <a:chOff x="6838952" y="889000"/>
            <a:chExt cx="977895" cy="1061088"/>
          </a:xfrm>
        </p:grpSpPr>
        <p:cxnSp>
          <p:nvCxnSpPr>
            <p:cNvPr id="74" name="直線單箭頭接點 73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直線單箭頭接點 74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直線單箭頭接點 75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直線單箭頭接點 76"/>
            <p:cNvCxnSpPr/>
            <p:nvPr/>
          </p:nvCxnSpPr>
          <p:spPr>
            <a:xfrm flipH="1" flipV="1">
              <a:off x="7390758" y="1810388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直線單箭頭接點 77"/>
            <p:cNvCxnSpPr/>
            <p:nvPr/>
          </p:nvCxnSpPr>
          <p:spPr>
            <a:xfrm flipH="1" flipV="1">
              <a:off x="6851656" y="921534"/>
              <a:ext cx="139691" cy="982612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68411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8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1090142" y="5026005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5</a:t>
            </a:r>
          </a:p>
          <a:p>
            <a:r>
              <a:rPr lang="en-US" altLang="zh-TW" dirty="0" smtClean="0"/>
              <a:t>j = 8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k=3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,4,L1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7572338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8499438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5,8,L2</a:t>
            </a:r>
            <a:endParaRPr lang="zh-TW" altLang="en-US" sz="900" dirty="0"/>
          </a:p>
        </p:txBody>
      </p:sp>
      <p:grpSp>
        <p:nvGrpSpPr>
          <p:cNvPr id="40" name="群組 39"/>
          <p:cNvGrpSpPr/>
          <p:nvPr/>
        </p:nvGrpSpPr>
        <p:grpSpPr>
          <a:xfrm>
            <a:off x="6838952" y="889000"/>
            <a:ext cx="1630644" cy="1700431"/>
            <a:chOff x="6838952" y="889000"/>
            <a:chExt cx="1630644" cy="1700431"/>
          </a:xfrm>
        </p:grpSpPr>
        <p:cxnSp>
          <p:nvCxnSpPr>
            <p:cNvPr id="76" name="直線單箭頭接點 75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直線單箭頭接點 76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直線單箭頭接點 77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線單箭頭接點 80"/>
            <p:cNvCxnSpPr/>
            <p:nvPr/>
          </p:nvCxnSpPr>
          <p:spPr>
            <a:xfrm flipH="1" flipV="1">
              <a:off x="7390758" y="1810388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線單箭頭接點 81"/>
            <p:cNvCxnSpPr/>
            <p:nvPr/>
          </p:nvCxnSpPr>
          <p:spPr>
            <a:xfrm flipH="1" flipV="1">
              <a:off x="6851656" y="921534"/>
              <a:ext cx="139691" cy="982612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直線單箭頭接點 87"/>
            <p:cNvCxnSpPr/>
            <p:nvPr/>
          </p:nvCxnSpPr>
          <p:spPr>
            <a:xfrm flipH="1" flipV="1">
              <a:off x="7848531" y="2104276"/>
              <a:ext cx="621065" cy="485155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66659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8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984800" y="480158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5</a:t>
            </a:r>
          </a:p>
          <a:p>
            <a:r>
              <a:rPr lang="en-US" altLang="zh-TW" dirty="0" smtClean="0"/>
              <a:t>j = 5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k=3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,4,L1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7572338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8499438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5,9,L2</a:t>
            </a:r>
            <a:endParaRPr lang="zh-TW" altLang="en-US" sz="900" dirty="0"/>
          </a:p>
        </p:txBody>
      </p:sp>
      <p:grpSp>
        <p:nvGrpSpPr>
          <p:cNvPr id="75" name="群組 74"/>
          <p:cNvGrpSpPr/>
          <p:nvPr/>
        </p:nvGrpSpPr>
        <p:grpSpPr>
          <a:xfrm>
            <a:off x="6838952" y="889000"/>
            <a:ext cx="1630644" cy="1700431"/>
            <a:chOff x="6838952" y="889000"/>
            <a:chExt cx="1630644" cy="1700431"/>
          </a:xfrm>
        </p:grpSpPr>
        <p:cxnSp>
          <p:nvCxnSpPr>
            <p:cNvPr id="76" name="直線單箭頭接點 75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直線單箭頭接點 76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直線單箭頭接點 77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線單箭頭接點 80"/>
            <p:cNvCxnSpPr/>
            <p:nvPr/>
          </p:nvCxnSpPr>
          <p:spPr>
            <a:xfrm flipH="1" flipV="1">
              <a:off x="7390758" y="1810388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線單箭頭接點 81"/>
            <p:cNvCxnSpPr/>
            <p:nvPr/>
          </p:nvCxnSpPr>
          <p:spPr>
            <a:xfrm flipH="1" flipV="1">
              <a:off x="6851656" y="921534"/>
              <a:ext cx="139691" cy="982612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線單箭頭接點 82"/>
            <p:cNvCxnSpPr/>
            <p:nvPr/>
          </p:nvCxnSpPr>
          <p:spPr>
            <a:xfrm flipH="1" flipV="1">
              <a:off x="7848531" y="2104276"/>
              <a:ext cx="621065" cy="485155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66735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1090142" y="506372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5</a:t>
            </a:r>
          </a:p>
          <a:p>
            <a:r>
              <a:rPr lang="en-US" altLang="zh-TW" dirty="0" smtClean="0"/>
              <a:t>j = 5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k=3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,4,L1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7572338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858088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5,5,L2</a:t>
            </a:r>
            <a:endParaRPr lang="zh-TW" altLang="en-US" sz="900" dirty="0"/>
          </a:p>
        </p:txBody>
      </p:sp>
      <p:grpSp>
        <p:nvGrpSpPr>
          <p:cNvPr id="75" name="群組 74"/>
          <p:cNvGrpSpPr/>
          <p:nvPr/>
        </p:nvGrpSpPr>
        <p:grpSpPr>
          <a:xfrm>
            <a:off x="6838952" y="889000"/>
            <a:ext cx="1079498" cy="1653033"/>
            <a:chOff x="6838952" y="889000"/>
            <a:chExt cx="1079498" cy="1653033"/>
          </a:xfrm>
        </p:grpSpPr>
        <p:cxnSp>
          <p:nvCxnSpPr>
            <p:cNvPr id="76" name="直線單箭頭接點 75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直線單箭頭接點 76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直線單箭頭接點 77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線單箭頭接點 80"/>
            <p:cNvCxnSpPr/>
            <p:nvPr/>
          </p:nvCxnSpPr>
          <p:spPr>
            <a:xfrm flipH="1" flipV="1">
              <a:off x="7390758" y="1810388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線單箭頭接點 81"/>
            <p:cNvCxnSpPr/>
            <p:nvPr/>
          </p:nvCxnSpPr>
          <p:spPr>
            <a:xfrm flipH="1" flipV="1">
              <a:off x="6851656" y="921534"/>
              <a:ext cx="139691" cy="982612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線單箭頭接點 82"/>
            <p:cNvCxnSpPr/>
            <p:nvPr/>
          </p:nvCxnSpPr>
          <p:spPr>
            <a:xfrm flipH="1" flipV="1">
              <a:off x="7816847" y="2198154"/>
              <a:ext cx="101603" cy="343879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30471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993836" y="480158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5</a:t>
            </a:r>
          </a:p>
          <a:p>
            <a:r>
              <a:rPr lang="en-US" altLang="zh-TW" dirty="0" smtClean="0"/>
              <a:t>j = 2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k=2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,4,L1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7572338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858088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5,5,L2</a:t>
            </a:r>
            <a:endParaRPr lang="zh-TW" altLang="en-US" sz="900" dirty="0"/>
          </a:p>
        </p:txBody>
      </p:sp>
      <p:grpSp>
        <p:nvGrpSpPr>
          <p:cNvPr id="75" name="群組 74"/>
          <p:cNvGrpSpPr/>
          <p:nvPr/>
        </p:nvGrpSpPr>
        <p:grpSpPr>
          <a:xfrm>
            <a:off x="6838952" y="889000"/>
            <a:ext cx="1079498" cy="1653033"/>
            <a:chOff x="6838952" y="889000"/>
            <a:chExt cx="1079498" cy="1653033"/>
          </a:xfrm>
        </p:grpSpPr>
        <p:cxnSp>
          <p:nvCxnSpPr>
            <p:cNvPr id="76" name="直線單箭頭接點 75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直線單箭頭接點 76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直線單箭頭接點 77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線單箭頭接點 80"/>
            <p:cNvCxnSpPr/>
            <p:nvPr/>
          </p:nvCxnSpPr>
          <p:spPr>
            <a:xfrm flipH="1" flipV="1">
              <a:off x="7390758" y="1810388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線單箭頭接點 81"/>
            <p:cNvCxnSpPr/>
            <p:nvPr/>
          </p:nvCxnSpPr>
          <p:spPr>
            <a:xfrm flipH="1" flipV="1">
              <a:off x="6851656" y="921534"/>
              <a:ext cx="139691" cy="982612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線單箭頭接點 82"/>
            <p:cNvCxnSpPr/>
            <p:nvPr/>
          </p:nvCxnSpPr>
          <p:spPr>
            <a:xfrm flipH="1" flipV="1">
              <a:off x="7816847" y="2198154"/>
              <a:ext cx="101603" cy="343879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98911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1089834" y="5046243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5</a:t>
            </a:r>
          </a:p>
          <a:p>
            <a:r>
              <a:rPr lang="en-US" altLang="zh-TW" dirty="0" smtClean="0"/>
              <a:t>j = 2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k=2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858088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5,5,L2</a:t>
            </a:r>
            <a:endParaRPr lang="zh-TW" altLang="en-US" sz="900" dirty="0"/>
          </a:p>
        </p:txBody>
      </p:sp>
      <p:grpSp>
        <p:nvGrpSpPr>
          <p:cNvPr id="40" name="群組 39"/>
          <p:cNvGrpSpPr/>
          <p:nvPr/>
        </p:nvGrpSpPr>
        <p:grpSpPr>
          <a:xfrm>
            <a:off x="6838952" y="889000"/>
            <a:ext cx="1079498" cy="1700431"/>
            <a:chOff x="6838952" y="889000"/>
            <a:chExt cx="1079498" cy="1700431"/>
          </a:xfrm>
        </p:grpSpPr>
        <p:cxnSp>
          <p:nvCxnSpPr>
            <p:cNvPr id="76" name="直線單箭頭接點 75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直線單箭頭接點 76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直線單箭頭接點 77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線單箭頭接點 80"/>
            <p:cNvCxnSpPr/>
            <p:nvPr/>
          </p:nvCxnSpPr>
          <p:spPr>
            <a:xfrm flipH="1" flipV="1">
              <a:off x="7390758" y="1810388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線單箭頭接點 81"/>
            <p:cNvCxnSpPr/>
            <p:nvPr/>
          </p:nvCxnSpPr>
          <p:spPr>
            <a:xfrm flipH="1" flipV="1">
              <a:off x="6851656" y="921534"/>
              <a:ext cx="139691" cy="982612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線單箭頭接點 82"/>
            <p:cNvCxnSpPr/>
            <p:nvPr/>
          </p:nvCxnSpPr>
          <p:spPr>
            <a:xfrm flipH="1" flipV="1">
              <a:off x="7816847" y="2198154"/>
              <a:ext cx="101603" cy="343879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/>
            <p:nvPr/>
          </p:nvCxnSpPr>
          <p:spPr>
            <a:xfrm flipH="1" flipV="1">
              <a:off x="7105646" y="2195106"/>
              <a:ext cx="143486" cy="394325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74898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6</a:t>
            </a:r>
          </a:p>
          <a:p>
            <a:r>
              <a:rPr lang="en-US" altLang="zh-TW" dirty="0" smtClean="0"/>
              <a:t>j = 8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k=4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858088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5,5,L2</a:t>
            </a:r>
            <a:endParaRPr lang="zh-TW" altLang="en-US" sz="900" dirty="0"/>
          </a:p>
        </p:txBody>
      </p:sp>
      <p:sp>
        <p:nvSpPr>
          <p:cNvPr id="73" name="向右箭號 72"/>
          <p:cNvSpPr/>
          <p:nvPr/>
        </p:nvSpPr>
        <p:spPr>
          <a:xfrm>
            <a:off x="993836" y="480158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75" name="群組 74"/>
          <p:cNvGrpSpPr/>
          <p:nvPr/>
        </p:nvGrpSpPr>
        <p:grpSpPr>
          <a:xfrm>
            <a:off x="6838952" y="889000"/>
            <a:ext cx="1079498" cy="1700431"/>
            <a:chOff x="6838952" y="889000"/>
            <a:chExt cx="1079498" cy="1700431"/>
          </a:xfrm>
        </p:grpSpPr>
        <p:cxnSp>
          <p:nvCxnSpPr>
            <p:cNvPr id="76" name="直線單箭頭接點 75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直線單箭頭接點 76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直線單箭頭接點 77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線單箭頭接點 80"/>
            <p:cNvCxnSpPr/>
            <p:nvPr/>
          </p:nvCxnSpPr>
          <p:spPr>
            <a:xfrm flipH="1" flipV="1">
              <a:off x="7390758" y="1810388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線單箭頭接點 81"/>
            <p:cNvCxnSpPr/>
            <p:nvPr/>
          </p:nvCxnSpPr>
          <p:spPr>
            <a:xfrm flipH="1" flipV="1">
              <a:off x="6851656" y="921534"/>
              <a:ext cx="139691" cy="982612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線單箭頭接點 82"/>
            <p:cNvCxnSpPr/>
            <p:nvPr/>
          </p:nvCxnSpPr>
          <p:spPr>
            <a:xfrm flipH="1" flipV="1">
              <a:off x="7816847" y="2198154"/>
              <a:ext cx="101603" cy="343879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/>
            <p:nvPr/>
          </p:nvCxnSpPr>
          <p:spPr>
            <a:xfrm flipH="1" flipV="1">
              <a:off x="7105646" y="2195106"/>
              <a:ext cx="143486" cy="394325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5" name="直線接點 84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7889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8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6</a:t>
            </a:r>
          </a:p>
          <a:p>
            <a:r>
              <a:rPr lang="en-US" altLang="zh-TW" dirty="0" smtClean="0"/>
              <a:t>j = 8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k=4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858088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5,5,L2</a:t>
            </a:r>
            <a:endParaRPr lang="zh-TW" altLang="en-US" sz="900" dirty="0"/>
          </a:p>
        </p:txBody>
      </p:sp>
      <p:sp>
        <p:nvSpPr>
          <p:cNvPr id="73" name="向右箭號 72"/>
          <p:cNvSpPr/>
          <p:nvPr/>
        </p:nvSpPr>
        <p:spPr>
          <a:xfrm>
            <a:off x="1104179" y="5039893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5" name="直線接點 74"/>
          <p:cNvCxnSpPr/>
          <p:nvPr/>
        </p:nvCxnSpPr>
        <p:spPr>
          <a:xfrm>
            <a:off x="8470900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grpSp>
        <p:nvGrpSpPr>
          <p:cNvPr id="40" name="群組 39"/>
          <p:cNvGrpSpPr/>
          <p:nvPr/>
        </p:nvGrpSpPr>
        <p:grpSpPr>
          <a:xfrm>
            <a:off x="6838952" y="889000"/>
            <a:ext cx="1689098" cy="2094075"/>
            <a:chOff x="6838952" y="889000"/>
            <a:chExt cx="1689098" cy="2094075"/>
          </a:xfrm>
        </p:grpSpPr>
        <p:cxnSp>
          <p:nvCxnSpPr>
            <p:cNvPr id="78" name="直線單箭頭接點 77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線單箭頭接點 80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線單箭頭接點 81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線單箭頭接點 82"/>
            <p:cNvCxnSpPr/>
            <p:nvPr/>
          </p:nvCxnSpPr>
          <p:spPr>
            <a:xfrm flipH="1" flipV="1">
              <a:off x="7390758" y="1810388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/>
            <p:nvPr/>
          </p:nvCxnSpPr>
          <p:spPr>
            <a:xfrm flipH="1" flipV="1">
              <a:off x="6851656" y="921534"/>
              <a:ext cx="139691" cy="982612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直線單箭頭接點 84"/>
            <p:cNvCxnSpPr/>
            <p:nvPr/>
          </p:nvCxnSpPr>
          <p:spPr>
            <a:xfrm flipH="1" flipV="1">
              <a:off x="7816847" y="2198154"/>
              <a:ext cx="101603" cy="343879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線單箭頭接點 85"/>
            <p:cNvCxnSpPr/>
            <p:nvPr/>
          </p:nvCxnSpPr>
          <p:spPr>
            <a:xfrm flipH="1" flipV="1">
              <a:off x="7105646" y="2195106"/>
              <a:ext cx="143486" cy="394325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直線單箭頭接點 86"/>
            <p:cNvCxnSpPr/>
            <p:nvPr/>
          </p:nvCxnSpPr>
          <p:spPr>
            <a:xfrm flipH="1" flipV="1">
              <a:off x="8102600" y="2833031"/>
              <a:ext cx="425450" cy="150044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0696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8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6</a:t>
            </a:r>
          </a:p>
          <a:p>
            <a:r>
              <a:rPr lang="en-US" altLang="zh-TW" dirty="0" smtClean="0"/>
              <a:t>j = 5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k=3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858088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5,5,L2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470900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993836" y="480158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78" name="群組 77"/>
          <p:cNvGrpSpPr/>
          <p:nvPr/>
        </p:nvGrpSpPr>
        <p:grpSpPr>
          <a:xfrm>
            <a:off x="6838952" y="889000"/>
            <a:ext cx="1689098" cy="2094075"/>
            <a:chOff x="6838952" y="889000"/>
            <a:chExt cx="1689098" cy="2094075"/>
          </a:xfrm>
        </p:grpSpPr>
        <p:cxnSp>
          <p:nvCxnSpPr>
            <p:cNvPr id="81" name="直線單箭頭接點 80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線單箭頭接點 81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線單箭頭接點 82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/>
            <p:nvPr/>
          </p:nvCxnSpPr>
          <p:spPr>
            <a:xfrm flipH="1" flipV="1">
              <a:off x="7390758" y="1810388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直線單箭頭接點 84"/>
            <p:cNvCxnSpPr/>
            <p:nvPr/>
          </p:nvCxnSpPr>
          <p:spPr>
            <a:xfrm flipH="1" flipV="1">
              <a:off x="6851656" y="921534"/>
              <a:ext cx="139691" cy="982612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線單箭頭接點 85"/>
            <p:cNvCxnSpPr/>
            <p:nvPr/>
          </p:nvCxnSpPr>
          <p:spPr>
            <a:xfrm flipH="1" flipV="1">
              <a:off x="7816847" y="2198154"/>
              <a:ext cx="101603" cy="343879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直線單箭頭接點 86"/>
            <p:cNvCxnSpPr/>
            <p:nvPr/>
          </p:nvCxnSpPr>
          <p:spPr>
            <a:xfrm flipH="1" flipV="1">
              <a:off x="7105646" y="2195106"/>
              <a:ext cx="143486" cy="394325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直線單箭頭接點 87"/>
            <p:cNvCxnSpPr/>
            <p:nvPr/>
          </p:nvCxnSpPr>
          <p:spPr>
            <a:xfrm flipH="1" flipV="1">
              <a:off x="8102600" y="2833031"/>
              <a:ext cx="425450" cy="150044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9" name="直線接點 88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1897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8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6</a:t>
            </a:r>
          </a:p>
          <a:p>
            <a:r>
              <a:rPr lang="en-US" altLang="zh-TW" dirty="0" smtClean="0"/>
              <a:t>j = 2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k=2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858088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5,5,L2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470900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993836" y="480158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73" name="群組 72"/>
          <p:cNvGrpSpPr/>
          <p:nvPr/>
        </p:nvGrpSpPr>
        <p:grpSpPr>
          <a:xfrm>
            <a:off x="6838952" y="889000"/>
            <a:ext cx="1689098" cy="2094075"/>
            <a:chOff x="6838952" y="889000"/>
            <a:chExt cx="1689098" cy="2094075"/>
          </a:xfrm>
        </p:grpSpPr>
        <p:cxnSp>
          <p:nvCxnSpPr>
            <p:cNvPr id="78" name="直線單箭頭接點 77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線單箭頭接點 80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線單箭頭接點 81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線單箭頭接點 82"/>
            <p:cNvCxnSpPr/>
            <p:nvPr/>
          </p:nvCxnSpPr>
          <p:spPr>
            <a:xfrm flipH="1" flipV="1">
              <a:off x="7390758" y="1810388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/>
            <p:nvPr/>
          </p:nvCxnSpPr>
          <p:spPr>
            <a:xfrm flipH="1" flipV="1">
              <a:off x="6851656" y="921534"/>
              <a:ext cx="139691" cy="982612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直線單箭頭接點 84"/>
            <p:cNvCxnSpPr/>
            <p:nvPr/>
          </p:nvCxnSpPr>
          <p:spPr>
            <a:xfrm flipH="1" flipV="1">
              <a:off x="7816847" y="2198154"/>
              <a:ext cx="101603" cy="343879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線單箭頭接點 85"/>
            <p:cNvCxnSpPr/>
            <p:nvPr/>
          </p:nvCxnSpPr>
          <p:spPr>
            <a:xfrm flipH="1" flipV="1">
              <a:off x="7105646" y="2195106"/>
              <a:ext cx="143486" cy="394325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直線單箭頭接點 86"/>
            <p:cNvCxnSpPr/>
            <p:nvPr/>
          </p:nvCxnSpPr>
          <p:spPr>
            <a:xfrm flipH="1" flipV="1">
              <a:off x="8102600" y="2833031"/>
              <a:ext cx="425450" cy="150044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2175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8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6</a:t>
            </a:r>
          </a:p>
          <a:p>
            <a:r>
              <a:rPr lang="en-US" altLang="zh-TW" dirty="0" smtClean="0"/>
              <a:t>j = 2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184169" y="5009560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k=4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858088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5,5,L2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470900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703579" y="540483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73" name="群組 72"/>
          <p:cNvGrpSpPr/>
          <p:nvPr/>
        </p:nvGrpSpPr>
        <p:grpSpPr>
          <a:xfrm>
            <a:off x="6838952" y="889000"/>
            <a:ext cx="1689098" cy="2094075"/>
            <a:chOff x="6838952" y="889000"/>
            <a:chExt cx="1689098" cy="2094075"/>
          </a:xfrm>
        </p:grpSpPr>
        <p:cxnSp>
          <p:nvCxnSpPr>
            <p:cNvPr id="78" name="直線單箭頭接點 77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線單箭頭接點 80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線單箭頭接點 81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線單箭頭接點 82"/>
            <p:cNvCxnSpPr/>
            <p:nvPr/>
          </p:nvCxnSpPr>
          <p:spPr>
            <a:xfrm flipH="1" flipV="1">
              <a:off x="7390758" y="1810388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/>
            <p:nvPr/>
          </p:nvCxnSpPr>
          <p:spPr>
            <a:xfrm flipH="1" flipV="1">
              <a:off x="6851656" y="921534"/>
              <a:ext cx="139691" cy="982612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直線單箭頭接點 84"/>
            <p:cNvCxnSpPr/>
            <p:nvPr/>
          </p:nvCxnSpPr>
          <p:spPr>
            <a:xfrm flipH="1" flipV="1">
              <a:off x="7816847" y="2198154"/>
              <a:ext cx="101603" cy="343879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線單箭頭接點 85"/>
            <p:cNvCxnSpPr/>
            <p:nvPr/>
          </p:nvCxnSpPr>
          <p:spPr>
            <a:xfrm flipH="1" flipV="1">
              <a:off x="7105646" y="2195106"/>
              <a:ext cx="143486" cy="394325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直線單箭頭接點 86"/>
            <p:cNvCxnSpPr/>
            <p:nvPr/>
          </p:nvCxnSpPr>
          <p:spPr>
            <a:xfrm flipH="1" flipV="1">
              <a:off x="8102600" y="2833031"/>
              <a:ext cx="425450" cy="150044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2" name="直線接點 41"/>
          <p:cNvCxnSpPr/>
          <p:nvPr/>
        </p:nvCxnSpPr>
        <p:spPr>
          <a:xfrm flipH="1" flipV="1">
            <a:off x="3690923" y="3164356"/>
            <a:ext cx="761054" cy="11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3688262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直線接點 88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3943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8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6</a:t>
            </a:r>
          </a:p>
          <a:p>
            <a:r>
              <a:rPr lang="en-US" altLang="zh-TW" dirty="0" smtClean="0"/>
              <a:t>j = 2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184169" y="5009560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k=4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858088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5,5,L2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470900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73" name="群組 72"/>
          <p:cNvGrpSpPr/>
          <p:nvPr/>
        </p:nvGrpSpPr>
        <p:grpSpPr>
          <a:xfrm>
            <a:off x="6838952" y="889000"/>
            <a:ext cx="1689098" cy="2094075"/>
            <a:chOff x="6838952" y="889000"/>
            <a:chExt cx="1689098" cy="2094075"/>
          </a:xfrm>
        </p:grpSpPr>
        <p:cxnSp>
          <p:nvCxnSpPr>
            <p:cNvPr id="78" name="直線單箭頭接點 77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線單箭頭接點 80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線單箭頭接點 81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線單箭頭接點 82"/>
            <p:cNvCxnSpPr/>
            <p:nvPr/>
          </p:nvCxnSpPr>
          <p:spPr>
            <a:xfrm flipH="1" flipV="1">
              <a:off x="7390758" y="1810388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/>
            <p:nvPr/>
          </p:nvCxnSpPr>
          <p:spPr>
            <a:xfrm flipH="1" flipV="1">
              <a:off x="6851656" y="921534"/>
              <a:ext cx="139691" cy="982612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直線單箭頭接點 84"/>
            <p:cNvCxnSpPr/>
            <p:nvPr/>
          </p:nvCxnSpPr>
          <p:spPr>
            <a:xfrm flipH="1" flipV="1">
              <a:off x="7816847" y="2198154"/>
              <a:ext cx="101603" cy="343879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線單箭頭接點 85"/>
            <p:cNvCxnSpPr/>
            <p:nvPr/>
          </p:nvCxnSpPr>
          <p:spPr>
            <a:xfrm flipH="1" flipV="1">
              <a:off x="7105646" y="2195106"/>
              <a:ext cx="143486" cy="394325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直線單箭頭接點 86"/>
            <p:cNvCxnSpPr/>
            <p:nvPr/>
          </p:nvCxnSpPr>
          <p:spPr>
            <a:xfrm flipH="1" flipV="1">
              <a:off x="8102600" y="2833031"/>
              <a:ext cx="425450" cy="150044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2" name="直線接點 41"/>
          <p:cNvCxnSpPr/>
          <p:nvPr/>
        </p:nvCxnSpPr>
        <p:spPr>
          <a:xfrm flipH="1" flipV="1">
            <a:off x="3446326" y="3165505"/>
            <a:ext cx="1005651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3446326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4462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8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6</a:t>
            </a:r>
          </a:p>
          <a:p>
            <a:r>
              <a:rPr lang="en-US" altLang="zh-TW" dirty="0" smtClean="0"/>
              <a:t>j = 2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184169" y="5009560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k=4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858088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5,5,L2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470900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73" name="群組 72"/>
          <p:cNvGrpSpPr/>
          <p:nvPr/>
        </p:nvGrpSpPr>
        <p:grpSpPr>
          <a:xfrm>
            <a:off x="6838952" y="889000"/>
            <a:ext cx="1689098" cy="2094075"/>
            <a:chOff x="6838952" y="889000"/>
            <a:chExt cx="1689098" cy="2094075"/>
          </a:xfrm>
        </p:grpSpPr>
        <p:cxnSp>
          <p:nvCxnSpPr>
            <p:cNvPr id="78" name="直線單箭頭接點 77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線單箭頭接點 80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線單箭頭接點 81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線單箭頭接點 82"/>
            <p:cNvCxnSpPr/>
            <p:nvPr/>
          </p:nvCxnSpPr>
          <p:spPr>
            <a:xfrm flipH="1" flipV="1">
              <a:off x="7390758" y="1810388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/>
            <p:nvPr/>
          </p:nvCxnSpPr>
          <p:spPr>
            <a:xfrm flipH="1" flipV="1">
              <a:off x="6851656" y="921534"/>
              <a:ext cx="139691" cy="982612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直線單箭頭接點 84"/>
            <p:cNvCxnSpPr/>
            <p:nvPr/>
          </p:nvCxnSpPr>
          <p:spPr>
            <a:xfrm flipH="1" flipV="1">
              <a:off x="7816847" y="2198154"/>
              <a:ext cx="101603" cy="343879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線單箭頭接點 85"/>
            <p:cNvCxnSpPr/>
            <p:nvPr/>
          </p:nvCxnSpPr>
          <p:spPr>
            <a:xfrm flipH="1" flipV="1">
              <a:off x="7105646" y="2195106"/>
              <a:ext cx="143486" cy="394325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直線單箭頭接點 86"/>
            <p:cNvCxnSpPr/>
            <p:nvPr/>
          </p:nvCxnSpPr>
          <p:spPr>
            <a:xfrm flipH="1" flipV="1">
              <a:off x="8102600" y="2833031"/>
              <a:ext cx="425450" cy="150044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2" name="直線接點 41"/>
          <p:cNvCxnSpPr/>
          <p:nvPr/>
        </p:nvCxnSpPr>
        <p:spPr>
          <a:xfrm flipH="1" flipV="1">
            <a:off x="3251769" y="3165506"/>
            <a:ext cx="1200209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3256971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3064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8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6</a:t>
            </a:r>
          </a:p>
          <a:p>
            <a:r>
              <a:rPr lang="en-US" altLang="zh-TW" dirty="0" smtClean="0"/>
              <a:t>j = 2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184169" y="5009560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k=4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858088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5,5,L2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470900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73" name="群組 72"/>
          <p:cNvGrpSpPr/>
          <p:nvPr/>
        </p:nvGrpSpPr>
        <p:grpSpPr>
          <a:xfrm>
            <a:off x="6838952" y="889000"/>
            <a:ext cx="1689098" cy="2094075"/>
            <a:chOff x="6838952" y="889000"/>
            <a:chExt cx="1689098" cy="2094075"/>
          </a:xfrm>
        </p:grpSpPr>
        <p:cxnSp>
          <p:nvCxnSpPr>
            <p:cNvPr id="78" name="直線單箭頭接點 77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線單箭頭接點 80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線單箭頭接點 81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線單箭頭接點 82"/>
            <p:cNvCxnSpPr/>
            <p:nvPr/>
          </p:nvCxnSpPr>
          <p:spPr>
            <a:xfrm flipH="1" flipV="1">
              <a:off x="7390758" y="1810388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/>
            <p:nvPr/>
          </p:nvCxnSpPr>
          <p:spPr>
            <a:xfrm flipH="1" flipV="1">
              <a:off x="6851656" y="921534"/>
              <a:ext cx="139691" cy="982612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直線單箭頭接點 84"/>
            <p:cNvCxnSpPr/>
            <p:nvPr/>
          </p:nvCxnSpPr>
          <p:spPr>
            <a:xfrm flipH="1" flipV="1">
              <a:off x="7816847" y="2198154"/>
              <a:ext cx="101603" cy="343879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線單箭頭接點 85"/>
            <p:cNvCxnSpPr/>
            <p:nvPr/>
          </p:nvCxnSpPr>
          <p:spPr>
            <a:xfrm flipH="1" flipV="1">
              <a:off x="7105646" y="2195106"/>
              <a:ext cx="143486" cy="394325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直線單箭頭接點 86"/>
            <p:cNvCxnSpPr/>
            <p:nvPr/>
          </p:nvCxnSpPr>
          <p:spPr>
            <a:xfrm flipH="1" flipV="1">
              <a:off x="8102600" y="2833031"/>
              <a:ext cx="425450" cy="150044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2" name="直線接點 41"/>
          <p:cNvCxnSpPr/>
          <p:nvPr/>
        </p:nvCxnSpPr>
        <p:spPr>
          <a:xfrm flipH="1" flipV="1">
            <a:off x="3006405" y="3165507"/>
            <a:ext cx="1445574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3026068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c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4128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8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6</a:t>
            </a:r>
          </a:p>
          <a:p>
            <a:r>
              <a:rPr lang="en-US" altLang="zh-TW" dirty="0" smtClean="0"/>
              <a:t>j = 2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184169" y="5009560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k=4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858088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5,5,L2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470900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73" name="群組 72"/>
          <p:cNvGrpSpPr/>
          <p:nvPr/>
        </p:nvGrpSpPr>
        <p:grpSpPr>
          <a:xfrm>
            <a:off x="6838952" y="889000"/>
            <a:ext cx="1689098" cy="2094075"/>
            <a:chOff x="6838952" y="889000"/>
            <a:chExt cx="1689098" cy="2094075"/>
          </a:xfrm>
        </p:grpSpPr>
        <p:cxnSp>
          <p:nvCxnSpPr>
            <p:cNvPr id="78" name="直線單箭頭接點 77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線單箭頭接點 80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線單箭頭接點 81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線單箭頭接點 82"/>
            <p:cNvCxnSpPr/>
            <p:nvPr/>
          </p:nvCxnSpPr>
          <p:spPr>
            <a:xfrm flipH="1" flipV="1">
              <a:off x="7390758" y="1810388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/>
            <p:nvPr/>
          </p:nvCxnSpPr>
          <p:spPr>
            <a:xfrm flipH="1" flipV="1">
              <a:off x="6851656" y="921534"/>
              <a:ext cx="139691" cy="982612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直線單箭頭接點 84"/>
            <p:cNvCxnSpPr/>
            <p:nvPr/>
          </p:nvCxnSpPr>
          <p:spPr>
            <a:xfrm flipH="1" flipV="1">
              <a:off x="7816847" y="2198154"/>
              <a:ext cx="101603" cy="343879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線單箭頭接點 85"/>
            <p:cNvCxnSpPr/>
            <p:nvPr/>
          </p:nvCxnSpPr>
          <p:spPr>
            <a:xfrm flipH="1" flipV="1">
              <a:off x="7105646" y="2195106"/>
              <a:ext cx="143486" cy="394325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直線單箭頭接點 86"/>
            <p:cNvCxnSpPr/>
            <p:nvPr/>
          </p:nvCxnSpPr>
          <p:spPr>
            <a:xfrm flipH="1" flipV="1">
              <a:off x="8102600" y="2833031"/>
              <a:ext cx="425450" cy="150044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2" name="直線接點 41"/>
          <p:cNvCxnSpPr/>
          <p:nvPr/>
        </p:nvCxnSpPr>
        <p:spPr>
          <a:xfrm flipH="1" flipV="1">
            <a:off x="2826276" y="3165508"/>
            <a:ext cx="162570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2854241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c b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718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Worse Case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400" dirty="0" smtClean="0"/>
              <a:t>A = B</a:t>
            </a:r>
          </a:p>
          <a:p>
            <a:pPr algn="ctr"/>
            <a:r>
              <a:rPr lang="en-US" altLang="zh-TW" sz="4400" dirty="0" smtClean="0"/>
              <a:t>O(</a:t>
            </a:r>
            <a:r>
              <a:rPr lang="en-US" altLang="zh-TW" sz="4400" dirty="0" err="1" smtClean="0"/>
              <a:t>mn</a:t>
            </a:r>
            <a:r>
              <a:rPr lang="en-US" altLang="zh-TW" sz="4400" dirty="0" smtClean="0"/>
              <a:t> log n)</a:t>
            </a:r>
            <a:endParaRPr lang="zh-TW" altLang="en-US" sz="44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871012"/>
              </p:ext>
            </p:extLst>
          </p:nvPr>
        </p:nvGraphicFramePr>
        <p:xfrm>
          <a:off x="2298357" y="3644054"/>
          <a:ext cx="1837038" cy="22250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3611"/>
                <a:gridCol w="263611"/>
                <a:gridCol w="313038"/>
                <a:gridCol w="321275"/>
                <a:gridCol w="345989"/>
                <a:gridCol w="329514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6185793" y="3863965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6300921" y="4215404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5, 4, 3, 2, 1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6300921" y="4459244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5, 4, 3, 2, 1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6300918" y="4703084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5, 4, 3, 2, 1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6300918" y="4943539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5, 4, 3, 2, 1</a:t>
            </a:r>
            <a:endParaRPr lang="zh-TW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6300918" y="5187379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5, 4, 3, 2, 1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5990344" y="41497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5990344" y="439649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5990344" y="464587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5990344" y="4881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5990344" y="512463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49879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HS1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5734"/>
            <a:ext cx="6316982" cy="3936842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8386" y="3236382"/>
            <a:ext cx="3463110" cy="286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56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HS1</a:t>
            </a:r>
            <a:endParaRPr lang="zh-TW" altLang="en-US" dirty="0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8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2857" y="4062061"/>
            <a:ext cx="137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17985" y="441350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3, 6, 7, 9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17985" y="465734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2, 5, 8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17982" y="490118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1, 4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17982" y="5141635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07408" y="4347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07408" y="45945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07408" y="484397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07408" y="50798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7</a:t>
            </a:r>
          </a:p>
          <a:p>
            <a:r>
              <a:rPr lang="en-US" altLang="zh-TW" dirty="0" smtClean="0"/>
              <a:t>j = 3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858088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5,5,L2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470900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73" name="群組 72"/>
          <p:cNvGrpSpPr/>
          <p:nvPr/>
        </p:nvGrpSpPr>
        <p:grpSpPr>
          <a:xfrm>
            <a:off x="6838952" y="889000"/>
            <a:ext cx="1689098" cy="2094075"/>
            <a:chOff x="6838952" y="889000"/>
            <a:chExt cx="1689098" cy="2094075"/>
          </a:xfrm>
        </p:grpSpPr>
        <p:cxnSp>
          <p:nvCxnSpPr>
            <p:cNvPr id="78" name="直線單箭頭接點 77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線單箭頭接點 80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線單箭頭接點 81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線單箭頭接點 82"/>
            <p:cNvCxnSpPr/>
            <p:nvPr/>
          </p:nvCxnSpPr>
          <p:spPr>
            <a:xfrm flipH="1" flipV="1">
              <a:off x="7390758" y="1810388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/>
            <p:nvPr/>
          </p:nvCxnSpPr>
          <p:spPr>
            <a:xfrm flipH="1" flipV="1">
              <a:off x="6851656" y="921534"/>
              <a:ext cx="139691" cy="982612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直線單箭頭接點 84"/>
            <p:cNvCxnSpPr/>
            <p:nvPr/>
          </p:nvCxnSpPr>
          <p:spPr>
            <a:xfrm flipH="1" flipV="1">
              <a:off x="7816847" y="2198154"/>
              <a:ext cx="101603" cy="343879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線單箭頭接點 85"/>
            <p:cNvCxnSpPr/>
            <p:nvPr/>
          </p:nvCxnSpPr>
          <p:spPr>
            <a:xfrm flipH="1" flipV="1">
              <a:off x="7105646" y="2195106"/>
              <a:ext cx="143486" cy="394325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直線單箭頭接點 86"/>
            <p:cNvCxnSpPr/>
            <p:nvPr/>
          </p:nvCxnSpPr>
          <p:spPr>
            <a:xfrm flipH="1" flipV="1">
              <a:off x="8102600" y="2833031"/>
              <a:ext cx="425450" cy="150044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2" name="直線接點 41"/>
          <p:cNvCxnSpPr/>
          <p:nvPr/>
        </p:nvCxnSpPr>
        <p:spPr>
          <a:xfrm flipH="1" flipV="1">
            <a:off x="2826276" y="3165508"/>
            <a:ext cx="162570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2854241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c b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7671229" y="4050748"/>
            <a:ext cx="1828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(Active</a:t>
            </a:r>
            <a:r>
              <a:rPr lang="en-US" altLang="zh-TW" dirty="0" smtClean="0"/>
              <a:t> list</a:t>
            </a:r>
            <a:r>
              <a:rPr lang="en-US" altLang="zh-TW" dirty="0" smtClean="0"/>
              <a:t>)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6277618" y="322728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  7</a:t>
            </a:r>
            <a:endParaRPr lang="zh-TW" altLang="en-US" dirty="0"/>
          </a:p>
        </p:txBody>
      </p:sp>
      <p:pic>
        <p:nvPicPr>
          <p:cNvPr id="89" name="圖片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73" y="3392644"/>
            <a:ext cx="3463110" cy="2864894"/>
          </a:xfrm>
          <a:prstGeom prst="rect">
            <a:avLst/>
          </a:prstGeom>
        </p:spPr>
      </p:pic>
      <p:sp>
        <p:nvSpPr>
          <p:cNvPr id="90" name="弧形 89"/>
          <p:cNvSpPr/>
          <p:nvPr/>
        </p:nvSpPr>
        <p:spPr>
          <a:xfrm>
            <a:off x="1492903" y="3430153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2361957" y="338296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63" name="波浪 62"/>
          <p:cNvSpPr/>
          <p:nvPr/>
        </p:nvSpPr>
        <p:spPr>
          <a:xfrm>
            <a:off x="4836672" y="3594775"/>
            <a:ext cx="988395" cy="531486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True</a:t>
            </a:r>
            <a:endParaRPr lang="zh-TW" altLang="en-US" dirty="0"/>
          </a:p>
        </p:txBody>
      </p:sp>
      <p:sp>
        <p:nvSpPr>
          <p:cNvPr id="91" name="向右箭號 90"/>
          <p:cNvSpPr/>
          <p:nvPr/>
        </p:nvSpPr>
        <p:spPr>
          <a:xfrm>
            <a:off x="1139341" y="3961917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9231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HS1</a:t>
            </a:r>
            <a:endParaRPr lang="zh-TW" altLang="en-US" dirty="0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8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2857" y="4062061"/>
            <a:ext cx="137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17985" y="441350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3, 6, 7, 9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17985" y="465734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2, 5, 8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17982" y="490118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1, 4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17982" y="5141635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07408" y="4347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07408" y="45945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07408" y="484397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07408" y="50798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7</a:t>
            </a:r>
          </a:p>
          <a:p>
            <a:r>
              <a:rPr lang="en-US" altLang="zh-TW" dirty="0" smtClean="0"/>
              <a:t>j = 3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858088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5,5,L2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470900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73" name="群組 72"/>
          <p:cNvGrpSpPr/>
          <p:nvPr/>
        </p:nvGrpSpPr>
        <p:grpSpPr>
          <a:xfrm>
            <a:off x="6838952" y="889000"/>
            <a:ext cx="1689098" cy="2094075"/>
            <a:chOff x="6838952" y="889000"/>
            <a:chExt cx="1689098" cy="2094075"/>
          </a:xfrm>
        </p:grpSpPr>
        <p:cxnSp>
          <p:nvCxnSpPr>
            <p:cNvPr id="78" name="直線單箭頭接點 77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線單箭頭接點 80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線單箭頭接點 81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線單箭頭接點 82"/>
            <p:cNvCxnSpPr/>
            <p:nvPr/>
          </p:nvCxnSpPr>
          <p:spPr>
            <a:xfrm flipH="1" flipV="1">
              <a:off x="7390758" y="1810388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/>
            <p:nvPr/>
          </p:nvCxnSpPr>
          <p:spPr>
            <a:xfrm flipH="1" flipV="1">
              <a:off x="6851656" y="921534"/>
              <a:ext cx="139691" cy="982612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直線單箭頭接點 84"/>
            <p:cNvCxnSpPr/>
            <p:nvPr/>
          </p:nvCxnSpPr>
          <p:spPr>
            <a:xfrm flipH="1" flipV="1">
              <a:off x="7816847" y="2198154"/>
              <a:ext cx="101603" cy="343879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線單箭頭接點 85"/>
            <p:cNvCxnSpPr/>
            <p:nvPr/>
          </p:nvCxnSpPr>
          <p:spPr>
            <a:xfrm flipH="1" flipV="1">
              <a:off x="7105646" y="2195106"/>
              <a:ext cx="143486" cy="394325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直線單箭頭接點 86"/>
            <p:cNvCxnSpPr/>
            <p:nvPr/>
          </p:nvCxnSpPr>
          <p:spPr>
            <a:xfrm flipH="1" flipV="1">
              <a:off x="8102600" y="2833031"/>
              <a:ext cx="425450" cy="150044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2" name="直線接點 41"/>
          <p:cNvCxnSpPr/>
          <p:nvPr/>
        </p:nvCxnSpPr>
        <p:spPr>
          <a:xfrm flipH="1" flipV="1">
            <a:off x="2826276" y="3165508"/>
            <a:ext cx="162570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2854241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c b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7671229" y="4050748"/>
            <a:ext cx="1828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(Active</a:t>
            </a:r>
            <a:r>
              <a:rPr lang="en-US" altLang="zh-TW" dirty="0" smtClean="0"/>
              <a:t> list</a:t>
            </a:r>
            <a:r>
              <a:rPr lang="en-US" altLang="zh-TW" dirty="0" smtClean="0"/>
              <a:t>)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6277618" y="322728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  7</a:t>
            </a:r>
            <a:endParaRPr lang="zh-TW" altLang="en-US" dirty="0"/>
          </a:p>
        </p:txBody>
      </p:sp>
      <p:pic>
        <p:nvPicPr>
          <p:cNvPr id="89" name="圖片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73" y="3392644"/>
            <a:ext cx="3463110" cy="2864894"/>
          </a:xfrm>
          <a:prstGeom prst="rect">
            <a:avLst/>
          </a:prstGeom>
        </p:spPr>
      </p:pic>
      <p:sp>
        <p:nvSpPr>
          <p:cNvPr id="90" name="弧形 89"/>
          <p:cNvSpPr/>
          <p:nvPr/>
        </p:nvSpPr>
        <p:spPr>
          <a:xfrm>
            <a:off x="1492903" y="3430153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2361957" y="338296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63" name="波浪 62"/>
          <p:cNvSpPr/>
          <p:nvPr/>
        </p:nvSpPr>
        <p:spPr>
          <a:xfrm>
            <a:off x="4836672" y="3594775"/>
            <a:ext cx="988395" cy="531486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True</a:t>
            </a:r>
            <a:endParaRPr lang="zh-TW" altLang="en-US" dirty="0"/>
          </a:p>
        </p:txBody>
      </p:sp>
      <p:sp>
        <p:nvSpPr>
          <p:cNvPr id="91" name="向右箭號 90"/>
          <p:cNvSpPr/>
          <p:nvPr/>
        </p:nvSpPr>
        <p:spPr>
          <a:xfrm>
            <a:off x="942338" y="4513904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弧形 91"/>
          <p:cNvSpPr/>
          <p:nvPr/>
        </p:nvSpPr>
        <p:spPr>
          <a:xfrm>
            <a:off x="2146927" y="4045216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文字方塊 92"/>
          <p:cNvSpPr txBox="1"/>
          <p:nvPr/>
        </p:nvSpPr>
        <p:spPr>
          <a:xfrm>
            <a:off x="3009578" y="40037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5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51800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HS1</a:t>
            </a:r>
            <a:endParaRPr lang="zh-TW" altLang="en-US" dirty="0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8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2857" y="4062061"/>
            <a:ext cx="137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17985" y="441350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3, 6, 7, 9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17985" y="465734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2, 5, 8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17982" y="490118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1, 4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17982" y="5141635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07408" y="4347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07408" y="45945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07408" y="484397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07408" y="50798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7</a:t>
            </a:r>
          </a:p>
          <a:p>
            <a:r>
              <a:rPr lang="en-US" altLang="zh-TW" dirty="0" smtClean="0"/>
              <a:t>j = 3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396772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5,5,L2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470900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73" name="群組 72"/>
          <p:cNvGrpSpPr/>
          <p:nvPr/>
        </p:nvGrpSpPr>
        <p:grpSpPr>
          <a:xfrm>
            <a:off x="6838952" y="889000"/>
            <a:ext cx="1689098" cy="2094075"/>
            <a:chOff x="6838952" y="889000"/>
            <a:chExt cx="1689098" cy="2094075"/>
          </a:xfrm>
        </p:grpSpPr>
        <p:cxnSp>
          <p:nvCxnSpPr>
            <p:cNvPr id="78" name="直線單箭頭接點 77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線單箭頭接點 80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線單箭頭接點 81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線單箭頭接點 82"/>
            <p:cNvCxnSpPr/>
            <p:nvPr/>
          </p:nvCxnSpPr>
          <p:spPr>
            <a:xfrm flipH="1" flipV="1">
              <a:off x="7390758" y="1810388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/>
            <p:nvPr/>
          </p:nvCxnSpPr>
          <p:spPr>
            <a:xfrm flipH="1" flipV="1">
              <a:off x="6851656" y="921534"/>
              <a:ext cx="139691" cy="982612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直線單箭頭接點 84"/>
            <p:cNvCxnSpPr/>
            <p:nvPr/>
          </p:nvCxnSpPr>
          <p:spPr>
            <a:xfrm flipH="1" flipV="1">
              <a:off x="7816847" y="2198154"/>
              <a:ext cx="101603" cy="343879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線單箭頭接點 85"/>
            <p:cNvCxnSpPr/>
            <p:nvPr/>
          </p:nvCxnSpPr>
          <p:spPr>
            <a:xfrm flipH="1" flipV="1">
              <a:off x="7105646" y="2195106"/>
              <a:ext cx="143486" cy="394325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直線單箭頭接點 86"/>
            <p:cNvCxnSpPr/>
            <p:nvPr/>
          </p:nvCxnSpPr>
          <p:spPr>
            <a:xfrm flipH="1" flipV="1">
              <a:off x="8102600" y="2833031"/>
              <a:ext cx="425450" cy="150044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2" name="直線接點 41"/>
          <p:cNvCxnSpPr/>
          <p:nvPr/>
        </p:nvCxnSpPr>
        <p:spPr>
          <a:xfrm flipH="1" flipV="1">
            <a:off x="2826276" y="3165508"/>
            <a:ext cx="162570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2854241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c b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7671229" y="4050748"/>
            <a:ext cx="1828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(Active</a:t>
            </a:r>
            <a:r>
              <a:rPr lang="en-US" altLang="zh-TW" dirty="0" smtClean="0"/>
              <a:t> list</a:t>
            </a:r>
            <a:r>
              <a:rPr lang="en-US" altLang="zh-TW" dirty="0" smtClean="0"/>
              <a:t>)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6277618" y="322728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  7</a:t>
            </a:r>
            <a:endParaRPr lang="zh-TW" altLang="en-US" dirty="0"/>
          </a:p>
        </p:txBody>
      </p:sp>
      <p:pic>
        <p:nvPicPr>
          <p:cNvPr id="89" name="圖片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73" y="3392644"/>
            <a:ext cx="3463110" cy="2864894"/>
          </a:xfrm>
          <a:prstGeom prst="rect">
            <a:avLst/>
          </a:prstGeom>
        </p:spPr>
      </p:pic>
      <p:sp>
        <p:nvSpPr>
          <p:cNvPr id="90" name="弧形 89"/>
          <p:cNvSpPr/>
          <p:nvPr/>
        </p:nvSpPr>
        <p:spPr>
          <a:xfrm>
            <a:off x="1492903" y="3430153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2361957" y="338296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63" name="波浪 62"/>
          <p:cNvSpPr/>
          <p:nvPr/>
        </p:nvSpPr>
        <p:spPr>
          <a:xfrm>
            <a:off x="4836672" y="3594775"/>
            <a:ext cx="988395" cy="531486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True</a:t>
            </a:r>
            <a:endParaRPr lang="zh-TW" altLang="en-US" dirty="0"/>
          </a:p>
        </p:txBody>
      </p:sp>
      <p:sp>
        <p:nvSpPr>
          <p:cNvPr id="91" name="向右箭號 90"/>
          <p:cNvSpPr/>
          <p:nvPr/>
        </p:nvSpPr>
        <p:spPr>
          <a:xfrm>
            <a:off x="942338" y="4874807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弧形 91"/>
          <p:cNvSpPr/>
          <p:nvPr/>
        </p:nvSpPr>
        <p:spPr>
          <a:xfrm>
            <a:off x="2146927" y="4045216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文字方塊 92"/>
          <p:cNvSpPr txBox="1"/>
          <p:nvPr/>
        </p:nvSpPr>
        <p:spPr>
          <a:xfrm>
            <a:off x="3009578" y="40037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7369683" y="3314639"/>
            <a:ext cx="309253" cy="322146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96178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HS1</a:t>
            </a:r>
            <a:endParaRPr lang="zh-TW" altLang="en-US" dirty="0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8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2857" y="4062061"/>
            <a:ext cx="137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17985" y="441350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3, 6, 7, 9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17985" y="465734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2, 5, 8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17982" y="490118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1, 4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17982" y="5141635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07408" y="4347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07408" y="45945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07408" y="484397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07408" y="50798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7</a:t>
            </a:r>
          </a:p>
          <a:p>
            <a:r>
              <a:rPr lang="en-US" altLang="zh-TW" dirty="0" smtClean="0"/>
              <a:t>j = 3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396772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7,3,L2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470900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8" name="直線單箭頭接點 77"/>
          <p:cNvCxnSpPr/>
          <p:nvPr/>
        </p:nvCxnSpPr>
        <p:spPr>
          <a:xfrm flipH="1" flipV="1">
            <a:off x="6838952" y="889000"/>
            <a:ext cx="533395" cy="41275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/>
          <p:nvPr/>
        </p:nvCxnSpPr>
        <p:spPr>
          <a:xfrm flipH="1" flipV="1">
            <a:off x="7607301" y="1460500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H="1" flipV="1">
            <a:off x="6838952" y="889000"/>
            <a:ext cx="317495" cy="7112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 flipH="1" flipV="1">
            <a:off x="7390758" y="1810388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/>
          <p:nvPr/>
        </p:nvCxnSpPr>
        <p:spPr>
          <a:xfrm flipH="1" flipV="1">
            <a:off x="6851656" y="921534"/>
            <a:ext cx="139691" cy="98261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/>
          <p:nvPr/>
        </p:nvCxnSpPr>
        <p:spPr>
          <a:xfrm flipH="1" flipV="1">
            <a:off x="7816847" y="2198154"/>
            <a:ext cx="101603" cy="343879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/>
          <p:nvPr/>
        </p:nvCxnSpPr>
        <p:spPr>
          <a:xfrm flipH="1" flipV="1">
            <a:off x="7105646" y="2195106"/>
            <a:ext cx="143486" cy="39432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/>
          <p:nvPr/>
        </p:nvCxnSpPr>
        <p:spPr>
          <a:xfrm flipH="1" flipV="1">
            <a:off x="8102600" y="2833031"/>
            <a:ext cx="425450" cy="150044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 flipH="1" flipV="1">
            <a:off x="2826276" y="3165508"/>
            <a:ext cx="162570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2854241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c b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7671229" y="4050748"/>
            <a:ext cx="1828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(Active</a:t>
            </a:r>
            <a:r>
              <a:rPr lang="en-US" altLang="zh-TW" dirty="0" smtClean="0"/>
              <a:t> list</a:t>
            </a:r>
            <a:r>
              <a:rPr lang="en-US" altLang="zh-TW" dirty="0" smtClean="0"/>
              <a:t>)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6277618" y="322728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  7</a:t>
            </a:r>
            <a:endParaRPr lang="zh-TW" altLang="en-US" dirty="0"/>
          </a:p>
        </p:txBody>
      </p:sp>
      <p:pic>
        <p:nvPicPr>
          <p:cNvPr id="89" name="圖片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73" y="3392644"/>
            <a:ext cx="3463110" cy="2864894"/>
          </a:xfrm>
          <a:prstGeom prst="rect">
            <a:avLst/>
          </a:prstGeom>
        </p:spPr>
      </p:pic>
      <p:sp>
        <p:nvSpPr>
          <p:cNvPr id="90" name="弧形 89"/>
          <p:cNvSpPr/>
          <p:nvPr/>
        </p:nvSpPr>
        <p:spPr>
          <a:xfrm>
            <a:off x="1492903" y="3430153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2361957" y="338296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63" name="波浪 62"/>
          <p:cNvSpPr/>
          <p:nvPr/>
        </p:nvSpPr>
        <p:spPr>
          <a:xfrm>
            <a:off x="4836672" y="3594775"/>
            <a:ext cx="988395" cy="531486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True</a:t>
            </a:r>
            <a:endParaRPr lang="zh-TW" altLang="en-US" dirty="0"/>
          </a:p>
        </p:txBody>
      </p:sp>
      <p:sp>
        <p:nvSpPr>
          <p:cNvPr id="91" name="向右箭號 90"/>
          <p:cNvSpPr/>
          <p:nvPr/>
        </p:nvSpPr>
        <p:spPr>
          <a:xfrm>
            <a:off x="916862" y="5046564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弧形 91"/>
          <p:cNvSpPr/>
          <p:nvPr/>
        </p:nvSpPr>
        <p:spPr>
          <a:xfrm>
            <a:off x="2146927" y="4045216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文字方塊 92"/>
          <p:cNvSpPr txBox="1"/>
          <p:nvPr/>
        </p:nvSpPr>
        <p:spPr>
          <a:xfrm>
            <a:off x="3009578" y="40037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7369683" y="3314639"/>
            <a:ext cx="309253" cy="322146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94" name="直線單箭頭接點 93"/>
          <p:cNvCxnSpPr/>
          <p:nvPr/>
        </p:nvCxnSpPr>
        <p:spPr>
          <a:xfrm flipH="1" flipV="1">
            <a:off x="7385576" y="2835800"/>
            <a:ext cx="75671" cy="46239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6711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HS1</a:t>
            </a:r>
            <a:endParaRPr lang="zh-TW" altLang="en-US" dirty="0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8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2857" y="4062061"/>
            <a:ext cx="137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17985" y="441350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3, 6, 7, 9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17985" y="465734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2, 5, 8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17982" y="490118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1, 4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17982" y="5141635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07408" y="4347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07408" y="45945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07408" y="484397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07408" y="50798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7</a:t>
            </a:r>
          </a:p>
          <a:p>
            <a:r>
              <a:rPr lang="en-US" altLang="zh-TW" dirty="0" smtClean="0"/>
              <a:t>j = 3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396772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7,3,L2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470900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8" name="直線單箭頭接點 77"/>
          <p:cNvCxnSpPr/>
          <p:nvPr/>
        </p:nvCxnSpPr>
        <p:spPr>
          <a:xfrm flipH="1" flipV="1">
            <a:off x="6838952" y="889000"/>
            <a:ext cx="533395" cy="41275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/>
          <p:nvPr/>
        </p:nvCxnSpPr>
        <p:spPr>
          <a:xfrm flipH="1" flipV="1">
            <a:off x="7607301" y="1460500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H="1" flipV="1">
            <a:off x="6838952" y="889000"/>
            <a:ext cx="317495" cy="7112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 flipH="1" flipV="1">
            <a:off x="7390758" y="1810388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/>
          <p:nvPr/>
        </p:nvCxnSpPr>
        <p:spPr>
          <a:xfrm flipH="1" flipV="1">
            <a:off x="6851656" y="921534"/>
            <a:ext cx="139691" cy="98261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/>
          <p:nvPr/>
        </p:nvCxnSpPr>
        <p:spPr>
          <a:xfrm flipH="1" flipV="1">
            <a:off x="7816847" y="2198154"/>
            <a:ext cx="101603" cy="343879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/>
          <p:nvPr/>
        </p:nvCxnSpPr>
        <p:spPr>
          <a:xfrm flipH="1" flipV="1">
            <a:off x="7105646" y="2195106"/>
            <a:ext cx="143486" cy="39432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/>
          <p:nvPr/>
        </p:nvCxnSpPr>
        <p:spPr>
          <a:xfrm flipH="1" flipV="1">
            <a:off x="8102600" y="2833031"/>
            <a:ext cx="425450" cy="150044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 flipH="1" flipV="1">
            <a:off x="2826276" y="3165508"/>
            <a:ext cx="162570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2854241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c b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7671229" y="4050748"/>
            <a:ext cx="1828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(Active</a:t>
            </a:r>
            <a:r>
              <a:rPr lang="en-US" altLang="zh-TW" dirty="0" smtClean="0"/>
              <a:t> list</a:t>
            </a:r>
            <a:r>
              <a:rPr lang="en-US" altLang="zh-TW" dirty="0" smtClean="0"/>
              <a:t>)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6277618" y="322728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  7</a:t>
            </a:r>
            <a:endParaRPr lang="zh-TW" altLang="en-US" dirty="0"/>
          </a:p>
        </p:txBody>
      </p:sp>
      <p:pic>
        <p:nvPicPr>
          <p:cNvPr id="89" name="圖片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73" y="3392644"/>
            <a:ext cx="3463110" cy="2864894"/>
          </a:xfrm>
          <a:prstGeom prst="rect">
            <a:avLst/>
          </a:prstGeom>
        </p:spPr>
      </p:pic>
      <p:sp>
        <p:nvSpPr>
          <p:cNvPr id="90" name="弧形 89"/>
          <p:cNvSpPr/>
          <p:nvPr/>
        </p:nvSpPr>
        <p:spPr>
          <a:xfrm>
            <a:off x="1492903" y="3430153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2361957" y="338296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63" name="波浪 62"/>
          <p:cNvSpPr/>
          <p:nvPr/>
        </p:nvSpPr>
        <p:spPr>
          <a:xfrm>
            <a:off x="4836672" y="3594775"/>
            <a:ext cx="988395" cy="531486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True</a:t>
            </a:r>
            <a:endParaRPr lang="zh-TW" altLang="en-US" dirty="0"/>
          </a:p>
        </p:txBody>
      </p:sp>
      <p:sp>
        <p:nvSpPr>
          <p:cNvPr id="91" name="向右箭號 90"/>
          <p:cNvSpPr/>
          <p:nvPr/>
        </p:nvSpPr>
        <p:spPr>
          <a:xfrm>
            <a:off x="954358" y="5213307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弧形 91"/>
          <p:cNvSpPr/>
          <p:nvPr/>
        </p:nvSpPr>
        <p:spPr>
          <a:xfrm>
            <a:off x="2146927" y="4045216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文字方塊 92"/>
          <p:cNvSpPr txBox="1"/>
          <p:nvPr/>
        </p:nvSpPr>
        <p:spPr>
          <a:xfrm>
            <a:off x="3009578" y="40037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7369683" y="3314639"/>
            <a:ext cx="309253" cy="322146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94" name="直線單箭頭接點 93"/>
          <p:cNvCxnSpPr/>
          <p:nvPr/>
        </p:nvCxnSpPr>
        <p:spPr>
          <a:xfrm flipH="1" flipV="1">
            <a:off x="7385576" y="2835800"/>
            <a:ext cx="75671" cy="46239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弧形 94"/>
          <p:cNvSpPr/>
          <p:nvPr/>
        </p:nvSpPr>
        <p:spPr>
          <a:xfrm>
            <a:off x="2024891" y="4780754"/>
            <a:ext cx="3911682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文字方塊 95"/>
          <p:cNvSpPr txBox="1"/>
          <p:nvPr/>
        </p:nvSpPr>
        <p:spPr>
          <a:xfrm>
            <a:off x="4452521" y="4566774"/>
            <a:ext cx="1362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symb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bt</a:t>
            </a:r>
            <a:r>
              <a:rPr lang="en-US" altLang="zh-TW" dirty="0" smtClean="0"/>
              <a:t>) = b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09699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HS1</a:t>
            </a:r>
            <a:endParaRPr lang="zh-TW" altLang="en-US" dirty="0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8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2857" y="4062061"/>
            <a:ext cx="137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17985" y="441350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6, 7, 9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17985" y="465734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2, 5, 8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17982" y="490118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1, 4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17982" y="5141635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07408" y="4347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07408" y="45945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07408" y="484397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07408" y="50798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7</a:t>
            </a:r>
          </a:p>
          <a:p>
            <a:r>
              <a:rPr lang="en-US" altLang="zh-TW" dirty="0" smtClean="0"/>
              <a:t>j = 3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396772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7,3,L2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470900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8" name="直線單箭頭接點 77"/>
          <p:cNvCxnSpPr/>
          <p:nvPr/>
        </p:nvCxnSpPr>
        <p:spPr>
          <a:xfrm flipH="1" flipV="1">
            <a:off x="6838952" y="889000"/>
            <a:ext cx="533395" cy="41275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/>
          <p:nvPr/>
        </p:nvCxnSpPr>
        <p:spPr>
          <a:xfrm flipH="1" flipV="1">
            <a:off x="7607301" y="1460500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H="1" flipV="1">
            <a:off x="6838952" y="889000"/>
            <a:ext cx="317495" cy="7112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 flipH="1" flipV="1">
            <a:off x="7390758" y="1810388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/>
          <p:nvPr/>
        </p:nvCxnSpPr>
        <p:spPr>
          <a:xfrm flipH="1" flipV="1">
            <a:off x="6851656" y="921534"/>
            <a:ext cx="139691" cy="98261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/>
          <p:nvPr/>
        </p:nvCxnSpPr>
        <p:spPr>
          <a:xfrm flipH="1" flipV="1">
            <a:off x="7816847" y="2198154"/>
            <a:ext cx="101603" cy="343879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/>
          <p:nvPr/>
        </p:nvCxnSpPr>
        <p:spPr>
          <a:xfrm flipH="1" flipV="1">
            <a:off x="7105646" y="2195106"/>
            <a:ext cx="143486" cy="39432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/>
          <p:nvPr/>
        </p:nvCxnSpPr>
        <p:spPr>
          <a:xfrm flipH="1" flipV="1">
            <a:off x="8102600" y="2833031"/>
            <a:ext cx="425450" cy="150044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 flipH="1" flipV="1">
            <a:off x="2826276" y="3165508"/>
            <a:ext cx="162570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2854241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c b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7671229" y="4050748"/>
            <a:ext cx="1828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(Active</a:t>
            </a:r>
            <a:r>
              <a:rPr lang="en-US" altLang="zh-TW" dirty="0" smtClean="0"/>
              <a:t> list</a:t>
            </a:r>
            <a:r>
              <a:rPr lang="en-US" altLang="zh-TW" dirty="0" smtClean="0"/>
              <a:t>)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6277618" y="322728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  7</a:t>
            </a:r>
            <a:endParaRPr lang="zh-TW" altLang="en-US" dirty="0"/>
          </a:p>
        </p:txBody>
      </p:sp>
      <p:pic>
        <p:nvPicPr>
          <p:cNvPr id="89" name="圖片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73" y="3392644"/>
            <a:ext cx="3463110" cy="2864894"/>
          </a:xfrm>
          <a:prstGeom prst="rect">
            <a:avLst/>
          </a:prstGeom>
        </p:spPr>
      </p:pic>
      <p:sp>
        <p:nvSpPr>
          <p:cNvPr id="90" name="弧形 89"/>
          <p:cNvSpPr/>
          <p:nvPr/>
        </p:nvSpPr>
        <p:spPr>
          <a:xfrm>
            <a:off x="1492903" y="3430153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2361957" y="338296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63" name="波浪 62"/>
          <p:cNvSpPr/>
          <p:nvPr/>
        </p:nvSpPr>
        <p:spPr>
          <a:xfrm>
            <a:off x="4836672" y="3594775"/>
            <a:ext cx="988395" cy="531486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True</a:t>
            </a:r>
            <a:endParaRPr lang="zh-TW" altLang="en-US" dirty="0"/>
          </a:p>
        </p:txBody>
      </p:sp>
      <p:sp>
        <p:nvSpPr>
          <p:cNvPr id="91" name="向右箭號 90"/>
          <p:cNvSpPr/>
          <p:nvPr/>
        </p:nvSpPr>
        <p:spPr>
          <a:xfrm>
            <a:off x="916661" y="540656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弧形 91"/>
          <p:cNvSpPr/>
          <p:nvPr/>
        </p:nvSpPr>
        <p:spPr>
          <a:xfrm>
            <a:off x="2146927" y="4045216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文字方塊 92"/>
          <p:cNvSpPr txBox="1"/>
          <p:nvPr/>
        </p:nvSpPr>
        <p:spPr>
          <a:xfrm>
            <a:off x="3009578" y="40037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7369683" y="3314639"/>
            <a:ext cx="309253" cy="322146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94" name="直線單箭頭接點 93"/>
          <p:cNvCxnSpPr/>
          <p:nvPr/>
        </p:nvCxnSpPr>
        <p:spPr>
          <a:xfrm flipH="1" flipV="1">
            <a:off x="7385576" y="2835800"/>
            <a:ext cx="75671" cy="46239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弧形 94"/>
          <p:cNvSpPr/>
          <p:nvPr/>
        </p:nvSpPr>
        <p:spPr>
          <a:xfrm>
            <a:off x="2024891" y="4780754"/>
            <a:ext cx="3911682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文字方塊 95"/>
          <p:cNvSpPr txBox="1"/>
          <p:nvPr/>
        </p:nvSpPr>
        <p:spPr>
          <a:xfrm>
            <a:off x="4452521" y="4566774"/>
            <a:ext cx="1362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symb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bt</a:t>
            </a:r>
            <a:r>
              <a:rPr lang="en-US" altLang="zh-TW" dirty="0" smtClean="0"/>
              <a:t>) = b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3643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HS1</a:t>
            </a:r>
            <a:endParaRPr lang="zh-TW" altLang="en-US" dirty="0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8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2857" y="4062061"/>
            <a:ext cx="137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17985" y="441350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6, 7, 9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17985" y="465734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2, 5, 8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17982" y="490118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1, 4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17982" y="5141635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07408" y="4347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07408" y="45945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07408" y="484397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07408" y="50798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7</a:t>
            </a:r>
          </a:p>
          <a:p>
            <a:r>
              <a:rPr lang="en-US" altLang="zh-TW" dirty="0" smtClean="0"/>
              <a:t>j = 6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396772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7,3,L2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470900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8" name="直線單箭頭接點 77"/>
          <p:cNvCxnSpPr/>
          <p:nvPr/>
        </p:nvCxnSpPr>
        <p:spPr>
          <a:xfrm flipH="1" flipV="1">
            <a:off x="6838952" y="889000"/>
            <a:ext cx="533395" cy="41275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/>
          <p:nvPr/>
        </p:nvCxnSpPr>
        <p:spPr>
          <a:xfrm flipH="1" flipV="1">
            <a:off x="7607301" y="1460500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H="1" flipV="1">
            <a:off x="6838952" y="889000"/>
            <a:ext cx="317495" cy="7112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 flipH="1" flipV="1">
            <a:off x="7390758" y="1810388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/>
          <p:nvPr/>
        </p:nvCxnSpPr>
        <p:spPr>
          <a:xfrm flipH="1" flipV="1">
            <a:off x="6851656" y="921534"/>
            <a:ext cx="139691" cy="98261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/>
          <p:nvPr/>
        </p:nvCxnSpPr>
        <p:spPr>
          <a:xfrm flipH="1" flipV="1">
            <a:off x="7816847" y="2198154"/>
            <a:ext cx="101603" cy="343879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/>
          <p:nvPr/>
        </p:nvCxnSpPr>
        <p:spPr>
          <a:xfrm flipH="1" flipV="1">
            <a:off x="7105646" y="2195106"/>
            <a:ext cx="143486" cy="39432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/>
          <p:nvPr/>
        </p:nvCxnSpPr>
        <p:spPr>
          <a:xfrm flipH="1" flipV="1">
            <a:off x="8102600" y="2833031"/>
            <a:ext cx="425450" cy="150044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 flipH="1" flipV="1">
            <a:off x="2826276" y="3165508"/>
            <a:ext cx="162570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2854241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c b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7671229" y="4050748"/>
            <a:ext cx="1828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(Active</a:t>
            </a:r>
            <a:r>
              <a:rPr lang="en-US" altLang="zh-TW" dirty="0" smtClean="0"/>
              <a:t> list</a:t>
            </a:r>
            <a:r>
              <a:rPr lang="en-US" altLang="zh-TW" dirty="0" smtClean="0"/>
              <a:t>)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6277618" y="322728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  7</a:t>
            </a:r>
            <a:endParaRPr lang="zh-TW" altLang="en-US" dirty="0"/>
          </a:p>
        </p:txBody>
      </p:sp>
      <p:pic>
        <p:nvPicPr>
          <p:cNvPr id="89" name="圖片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73" y="3392644"/>
            <a:ext cx="3463110" cy="2864894"/>
          </a:xfrm>
          <a:prstGeom prst="rect">
            <a:avLst/>
          </a:prstGeom>
        </p:spPr>
      </p:pic>
      <p:sp>
        <p:nvSpPr>
          <p:cNvPr id="90" name="弧形 89"/>
          <p:cNvSpPr/>
          <p:nvPr/>
        </p:nvSpPr>
        <p:spPr>
          <a:xfrm>
            <a:off x="1492903" y="3430153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2361957" y="338296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63" name="波浪 62"/>
          <p:cNvSpPr/>
          <p:nvPr/>
        </p:nvSpPr>
        <p:spPr>
          <a:xfrm>
            <a:off x="4836672" y="3594775"/>
            <a:ext cx="988395" cy="531486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True</a:t>
            </a:r>
            <a:endParaRPr lang="zh-TW" altLang="en-US" dirty="0"/>
          </a:p>
        </p:txBody>
      </p:sp>
      <p:sp>
        <p:nvSpPr>
          <p:cNvPr id="91" name="向右箭號 90"/>
          <p:cNvSpPr/>
          <p:nvPr/>
        </p:nvSpPr>
        <p:spPr>
          <a:xfrm>
            <a:off x="899278" y="5749382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弧形 91"/>
          <p:cNvSpPr/>
          <p:nvPr/>
        </p:nvSpPr>
        <p:spPr>
          <a:xfrm>
            <a:off x="2146927" y="4045216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文字方塊 92"/>
          <p:cNvSpPr txBox="1"/>
          <p:nvPr/>
        </p:nvSpPr>
        <p:spPr>
          <a:xfrm>
            <a:off x="3009578" y="40037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7369683" y="3314639"/>
            <a:ext cx="309253" cy="322146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94" name="直線單箭頭接點 93"/>
          <p:cNvCxnSpPr/>
          <p:nvPr/>
        </p:nvCxnSpPr>
        <p:spPr>
          <a:xfrm flipH="1" flipV="1">
            <a:off x="7385576" y="2835800"/>
            <a:ext cx="75671" cy="46239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弧形 94"/>
          <p:cNvSpPr/>
          <p:nvPr/>
        </p:nvSpPr>
        <p:spPr>
          <a:xfrm>
            <a:off x="2024891" y="4780754"/>
            <a:ext cx="3911682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文字方塊 95"/>
          <p:cNvSpPr txBox="1"/>
          <p:nvPr/>
        </p:nvSpPr>
        <p:spPr>
          <a:xfrm>
            <a:off x="4452521" y="4566774"/>
            <a:ext cx="1362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symb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bt</a:t>
            </a:r>
            <a:r>
              <a:rPr lang="en-US" altLang="zh-TW" dirty="0" smtClean="0"/>
              <a:t>) = b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59608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HS1</a:t>
            </a:r>
            <a:endParaRPr lang="zh-TW" altLang="en-US" dirty="0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8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2857" y="4062061"/>
            <a:ext cx="137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17985" y="441350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6, 7, 9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17985" y="465734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2, 5, 8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17982" y="490118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1, 4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17982" y="5141635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07408" y="4347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07408" y="45945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07408" y="484397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07408" y="50798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7</a:t>
            </a:r>
          </a:p>
          <a:p>
            <a:r>
              <a:rPr lang="en-US" altLang="zh-TW" dirty="0" smtClean="0"/>
              <a:t>j = 6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396772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7,3,L2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470900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8" name="直線單箭頭接點 77"/>
          <p:cNvCxnSpPr/>
          <p:nvPr/>
        </p:nvCxnSpPr>
        <p:spPr>
          <a:xfrm flipH="1" flipV="1">
            <a:off x="6838952" y="889000"/>
            <a:ext cx="533395" cy="41275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/>
          <p:nvPr/>
        </p:nvCxnSpPr>
        <p:spPr>
          <a:xfrm flipH="1" flipV="1">
            <a:off x="7607301" y="1460500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H="1" flipV="1">
            <a:off x="6838952" y="889000"/>
            <a:ext cx="317495" cy="7112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 flipH="1" flipV="1">
            <a:off x="7390758" y="1810388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/>
          <p:nvPr/>
        </p:nvCxnSpPr>
        <p:spPr>
          <a:xfrm flipH="1" flipV="1">
            <a:off x="6851656" y="921534"/>
            <a:ext cx="139691" cy="98261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/>
          <p:nvPr/>
        </p:nvCxnSpPr>
        <p:spPr>
          <a:xfrm flipH="1" flipV="1">
            <a:off x="7816847" y="2198154"/>
            <a:ext cx="101603" cy="343879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/>
          <p:nvPr/>
        </p:nvCxnSpPr>
        <p:spPr>
          <a:xfrm flipH="1" flipV="1">
            <a:off x="7105646" y="2195106"/>
            <a:ext cx="143486" cy="39432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/>
          <p:nvPr/>
        </p:nvCxnSpPr>
        <p:spPr>
          <a:xfrm flipH="1" flipV="1">
            <a:off x="8102600" y="2833031"/>
            <a:ext cx="425450" cy="150044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 flipH="1" flipV="1">
            <a:off x="2826276" y="3165508"/>
            <a:ext cx="162570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2854241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c b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7671229" y="4050748"/>
            <a:ext cx="1828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(Active</a:t>
            </a:r>
            <a:r>
              <a:rPr lang="en-US" altLang="zh-TW" dirty="0" smtClean="0"/>
              <a:t> list</a:t>
            </a:r>
            <a:r>
              <a:rPr lang="en-US" altLang="zh-TW" dirty="0" smtClean="0"/>
              <a:t>)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6277618" y="322728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  7</a:t>
            </a:r>
            <a:endParaRPr lang="zh-TW" altLang="en-US" dirty="0"/>
          </a:p>
        </p:txBody>
      </p:sp>
      <p:pic>
        <p:nvPicPr>
          <p:cNvPr id="89" name="圖片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73" y="3392644"/>
            <a:ext cx="3463110" cy="2864894"/>
          </a:xfrm>
          <a:prstGeom prst="rect">
            <a:avLst/>
          </a:prstGeom>
        </p:spPr>
      </p:pic>
      <p:sp>
        <p:nvSpPr>
          <p:cNvPr id="90" name="弧形 89"/>
          <p:cNvSpPr/>
          <p:nvPr/>
        </p:nvSpPr>
        <p:spPr>
          <a:xfrm>
            <a:off x="1492903" y="3430153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2361957" y="338296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63" name="波浪 62"/>
          <p:cNvSpPr/>
          <p:nvPr/>
        </p:nvSpPr>
        <p:spPr>
          <a:xfrm>
            <a:off x="4836672" y="3594775"/>
            <a:ext cx="988395" cy="531486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True</a:t>
            </a:r>
            <a:endParaRPr lang="zh-TW" altLang="en-US" dirty="0"/>
          </a:p>
        </p:txBody>
      </p:sp>
      <p:sp>
        <p:nvSpPr>
          <p:cNvPr id="91" name="向右箭號 90"/>
          <p:cNvSpPr/>
          <p:nvPr/>
        </p:nvSpPr>
        <p:spPr>
          <a:xfrm>
            <a:off x="955980" y="4507819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弧形 91"/>
          <p:cNvSpPr/>
          <p:nvPr/>
        </p:nvSpPr>
        <p:spPr>
          <a:xfrm>
            <a:off x="2146927" y="4045216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文字方塊 92"/>
          <p:cNvSpPr txBox="1"/>
          <p:nvPr/>
        </p:nvSpPr>
        <p:spPr>
          <a:xfrm>
            <a:off x="3009578" y="40037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7369683" y="3314639"/>
            <a:ext cx="309253" cy="322146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94" name="直線單箭頭接點 93"/>
          <p:cNvCxnSpPr/>
          <p:nvPr/>
        </p:nvCxnSpPr>
        <p:spPr>
          <a:xfrm flipH="1" flipV="1">
            <a:off x="7385576" y="2835800"/>
            <a:ext cx="75671" cy="46239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弧形 94"/>
          <p:cNvSpPr/>
          <p:nvPr/>
        </p:nvSpPr>
        <p:spPr>
          <a:xfrm>
            <a:off x="2024891" y="4780754"/>
            <a:ext cx="3911682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文字方塊 95"/>
          <p:cNvSpPr txBox="1"/>
          <p:nvPr/>
        </p:nvSpPr>
        <p:spPr>
          <a:xfrm>
            <a:off x="4452521" y="4566774"/>
            <a:ext cx="1362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symb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bt</a:t>
            </a:r>
            <a:r>
              <a:rPr lang="en-US" altLang="zh-TW" dirty="0" smtClean="0"/>
              <a:t>) = b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90894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HS1</a:t>
            </a:r>
            <a:endParaRPr lang="zh-TW" altLang="en-US" dirty="0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2857" y="4062061"/>
            <a:ext cx="137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17985" y="441350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6, 7, 9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17985" y="465734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2, 5, 8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17982" y="490118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1, 4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17982" y="5141635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07408" y="4347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07408" y="45945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07408" y="484397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07408" y="50798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7</a:t>
            </a:r>
          </a:p>
          <a:p>
            <a:r>
              <a:rPr lang="en-US" altLang="zh-TW" dirty="0" smtClean="0"/>
              <a:t>j = 6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396772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7,3,L2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072051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8" name="直線單箭頭接點 77"/>
          <p:cNvCxnSpPr/>
          <p:nvPr/>
        </p:nvCxnSpPr>
        <p:spPr>
          <a:xfrm flipH="1" flipV="1">
            <a:off x="6838952" y="889000"/>
            <a:ext cx="533395" cy="41275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/>
          <p:nvPr/>
        </p:nvCxnSpPr>
        <p:spPr>
          <a:xfrm flipH="1" flipV="1">
            <a:off x="7607301" y="1460500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H="1" flipV="1">
            <a:off x="6838952" y="889000"/>
            <a:ext cx="317495" cy="7112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 flipH="1" flipV="1">
            <a:off x="7390758" y="1810388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/>
          <p:nvPr/>
        </p:nvCxnSpPr>
        <p:spPr>
          <a:xfrm flipH="1" flipV="1">
            <a:off x="6851656" y="921534"/>
            <a:ext cx="139691" cy="98261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/>
          <p:nvPr/>
        </p:nvCxnSpPr>
        <p:spPr>
          <a:xfrm flipH="1" flipV="1">
            <a:off x="7816847" y="2198154"/>
            <a:ext cx="101603" cy="343879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/>
          <p:nvPr/>
        </p:nvCxnSpPr>
        <p:spPr>
          <a:xfrm flipH="1" flipV="1">
            <a:off x="7105646" y="2195106"/>
            <a:ext cx="143486" cy="39432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/>
          <p:nvPr/>
        </p:nvCxnSpPr>
        <p:spPr>
          <a:xfrm flipH="1" flipV="1">
            <a:off x="8102600" y="2833031"/>
            <a:ext cx="425450" cy="150044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 flipH="1" flipV="1">
            <a:off x="2826276" y="3165508"/>
            <a:ext cx="162570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2854241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c b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7671229" y="4050748"/>
            <a:ext cx="1828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(Active</a:t>
            </a:r>
            <a:r>
              <a:rPr lang="en-US" altLang="zh-TW" dirty="0" smtClean="0"/>
              <a:t> list</a:t>
            </a:r>
            <a:r>
              <a:rPr lang="en-US" altLang="zh-TW" dirty="0" smtClean="0"/>
              <a:t>)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6277618" y="322728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  7</a:t>
            </a:r>
            <a:endParaRPr lang="zh-TW" altLang="en-US" dirty="0"/>
          </a:p>
        </p:txBody>
      </p:sp>
      <p:pic>
        <p:nvPicPr>
          <p:cNvPr id="89" name="圖片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73" y="3392644"/>
            <a:ext cx="3463110" cy="2864894"/>
          </a:xfrm>
          <a:prstGeom prst="rect">
            <a:avLst/>
          </a:prstGeom>
        </p:spPr>
      </p:pic>
      <p:sp>
        <p:nvSpPr>
          <p:cNvPr id="90" name="弧形 89"/>
          <p:cNvSpPr/>
          <p:nvPr/>
        </p:nvSpPr>
        <p:spPr>
          <a:xfrm>
            <a:off x="1492903" y="3430153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2361957" y="338296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63" name="波浪 62"/>
          <p:cNvSpPr/>
          <p:nvPr/>
        </p:nvSpPr>
        <p:spPr>
          <a:xfrm>
            <a:off x="4836672" y="3594775"/>
            <a:ext cx="988395" cy="531486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True</a:t>
            </a:r>
            <a:endParaRPr lang="zh-TW" altLang="en-US" dirty="0"/>
          </a:p>
        </p:txBody>
      </p:sp>
      <p:sp>
        <p:nvSpPr>
          <p:cNvPr id="91" name="向右箭號 90"/>
          <p:cNvSpPr/>
          <p:nvPr/>
        </p:nvSpPr>
        <p:spPr>
          <a:xfrm>
            <a:off x="941375" y="4860675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弧形 91"/>
          <p:cNvSpPr/>
          <p:nvPr/>
        </p:nvSpPr>
        <p:spPr>
          <a:xfrm>
            <a:off x="2146927" y="4045216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文字方塊 92"/>
          <p:cNvSpPr txBox="1"/>
          <p:nvPr/>
        </p:nvSpPr>
        <p:spPr>
          <a:xfrm>
            <a:off x="3009578" y="40037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7369683" y="3314639"/>
            <a:ext cx="309253" cy="322146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94" name="直線單箭頭接點 93"/>
          <p:cNvCxnSpPr/>
          <p:nvPr/>
        </p:nvCxnSpPr>
        <p:spPr>
          <a:xfrm flipH="1" flipV="1">
            <a:off x="7385576" y="2835800"/>
            <a:ext cx="75671" cy="46239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弧形 94"/>
          <p:cNvSpPr/>
          <p:nvPr/>
        </p:nvSpPr>
        <p:spPr>
          <a:xfrm>
            <a:off x="2024891" y="4780754"/>
            <a:ext cx="3911682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文字方塊 95"/>
          <p:cNvSpPr txBox="1"/>
          <p:nvPr/>
        </p:nvSpPr>
        <p:spPr>
          <a:xfrm>
            <a:off x="4452521" y="4566774"/>
            <a:ext cx="1362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symb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bt</a:t>
            </a:r>
            <a:r>
              <a:rPr lang="en-US" altLang="zh-TW" dirty="0" smtClean="0"/>
              <a:t>) = b</a:t>
            </a:r>
            <a:endParaRPr lang="zh-TW" altLang="en-US" dirty="0"/>
          </a:p>
        </p:txBody>
      </p:sp>
      <p:sp>
        <p:nvSpPr>
          <p:cNvPr id="97" name="橢圓 96"/>
          <p:cNvSpPr/>
          <p:nvPr/>
        </p:nvSpPr>
        <p:spPr>
          <a:xfrm>
            <a:off x="8006072" y="3333684"/>
            <a:ext cx="309253" cy="322146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18280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HS1</a:t>
            </a:r>
            <a:endParaRPr lang="zh-TW" altLang="en-US" dirty="0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2857" y="4062061"/>
            <a:ext cx="137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17985" y="441350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6, 7, 9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17985" y="465734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2, 5, 8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17982" y="490118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1, 4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17982" y="5141635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07408" y="4347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07408" y="45945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07408" y="484397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07408" y="50798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7</a:t>
            </a:r>
          </a:p>
          <a:p>
            <a:r>
              <a:rPr lang="en-US" altLang="zh-TW" dirty="0" smtClean="0"/>
              <a:t>j = 6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396772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7,6,L2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072051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8" name="直線單箭頭接點 77"/>
          <p:cNvCxnSpPr/>
          <p:nvPr/>
        </p:nvCxnSpPr>
        <p:spPr>
          <a:xfrm flipH="1" flipV="1">
            <a:off x="6838952" y="889000"/>
            <a:ext cx="533395" cy="41275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/>
          <p:nvPr/>
        </p:nvCxnSpPr>
        <p:spPr>
          <a:xfrm flipH="1" flipV="1">
            <a:off x="7607301" y="1460500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H="1" flipV="1">
            <a:off x="6838952" y="889000"/>
            <a:ext cx="317495" cy="7112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 flipH="1" flipV="1">
            <a:off x="7390758" y="1810388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/>
          <p:nvPr/>
        </p:nvCxnSpPr>
        <p:spPr>
          <a:xfrm flipH="1" flipV="1">
            <a:off x="6851656" y="921534"/>
            <a:ext cx="139691" cy="98261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/>
          <p:nvPr/>
        </p:nvCxnSpPr>
        <p:spPr>
          <a:xfrm flipH="1" flipV="1">
            <a:off x="7816847" y="2198154"/>
            <a:ext cx="101603" cy="343879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/>
          <p:nvPr/>
        </p:nvCxnSpPr>
        <p:spPr>
          <a:xfrm flipH="1" flipV="1">
            <a:off x="7105646" y="2195106"/>
            <a:ext cx="143486" cy="39432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/>
          <p:nvPr/>
        </p:nvCxnSpPr>
        <p:spPr>
          <a:xfrm flipH="1" flipV="1">
            <a:off x="8102600" y="2833031"/>
            <a:ext cx="425450" cy="150044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 flipH="1" flipV="1">
            <a:off x="2826276" y="3165508"/>
            <a:ext cx="162570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2854241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c b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7671229" y="4050748"/>
            <a:ext cx="1828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(Active</a:t>
            </a:r>
            <a:r>
              <a:rPr lang="en-US" altLang="zh-TW" dirty="0" smtClean="0"/>
              <a:t> list</a:t>
            </a:r>
            <a:r>
              <a:rPr lang="en-US" altLang="zh-TW" dirty="0" smtClean="0"/>
              <a:t>)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6277618" y="322728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  7</a:t>
            </a:r>
            <a:endParaRPr lang="zh-TW" altLang="en-US" dirty="0"/>
          </a:p>
        </p:txBody>
      </p:sp>
      <p:pic>
        <p:nvPicPr>
          <p:cNvPr id="89" name="圖片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73" y="3392644"/>
            <a:ext cx="3463110" cy="2864894"/>
          </a:xfrm>
          <a:prstGeom prst="rect">
            <a:avLst/>
          </a:prstGeom>
        </p:spPr>
      </p:pic>
      <p:sp>
        <p:nvSpPr>
          <p:cNvPr id="90" name="弧形 89"/>
          <p:cNvSpPr/>
          <p:nvPr/>
        </p:nvSpPr>
        <p:spPr>
          <a:xfrm>
            <a:off x="1492903" y="3430153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2361957" y="338296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63" name="波浪 62"/>
          <p:cNvSpPr/>
          <p:nvPr/>
        </p:nvSpPr>
        <p:spPr>
          <a:xfrm>
            <a:off x="4836672" y="3594775"/>
            <a:ext cx="988395" cy="531486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True</a:t>
            </a:r>
            <a:endParaRPr lang="zh-TW" altLang="en-US" dirty="0"/>
          </a:p>
        </p:txBody>
      </p:sp>
      <p:sp>
        <p:nvSpPr>
          <p:cNvPr id="91" name="向右箭號 90"/>
          <p:cNvSpPr/>
          <p:nvPr/>
        </p:nvSpPr>
        <p:spPr>
          <a:xfrm>
            <a:off x="936919" y="5066204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弧形 91"/>
          <p:cNvSpPr/>
          <p:nvPr/>
        </p:nvSpPr>
        <p:spPr>
          <a:xfrm>
            <a:off x="2146927" y="4045216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文字方塊 92"/>
          <p:cNvSpPr txBox="1"/>
          <p:nvPr/>
        </p:nvSpPr>
        <p:spPr>
          <a:xfrm>
            <a:off x="3009578" y="40037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7369683" y="3314639"/>
            <a:ext cx="309253" cy="322146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94" name="直線單箭頭接點 93"/>
          <p:cNvCxnSpPr/>
          <p:nvPr/>
        </p:nvCxnSpPr>
        <p:spPr>
          <a:xfrm flipH="1" flipV="1">
            <a:off x="7385576" y="2835800"/>
            <a:ext cx="75671" cy="46239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弧形 94"/>
          <p:cNvSpPr/>
          <p:nvPr/>
        </p:nvSpPr>
        <p:spPr>
          <a:xfrm>
            <a:off x="2024891" y="4780754"/>
            <a:ext cx="3911682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文字方塊 95"/>
          <p:cNvSpPr txBox="1"/>
          <p:nvPr/>
        </p:nvSpPr>
        <p:spPr>
          <a:xfrm>
            <a:off x="4452521" y="4566774"/>
            <a:ext cx="1362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symb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bt</a:t>
            </a:r>
            <a:r>
              <a:rPr lang="en-US" altLang="zh-TW" dirty="0" smtClean="0"/>
              <a:t>) = b</a:t>
            </a:r>
            <a:endParaRPr lang="zh-TW" altLang="en-US" dirty="0"/>
          </a:p>
        </p:txBody>
      </p:sp>
      <p:sp>
        <p:nvSpPr>
          <p:cNvPr id="97" name="橢圓 96"/>
          <p:cNvSpPr/>
          <p:nvPr/>
        </p:nvSpPr>
        <p:spPr>
          <a:xfrm>
            <a:off x="8006072" y="3333684"/>
            <a:ext cx="309253" cy="322146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15414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HS1</a:t>
            </a:r>
            <a:endParaRPr lang="zh-TW" altLang="en-US" dirty="0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2857" y="4062061"/>
            <a:ext cx="137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17985" y="441350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6, 7, 9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17985" y="465734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2, 5, 8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17982" y="490118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1, 4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17982" y="5141635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07408" y="4347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07408" y="45945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07408" y="484397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07408" y="50798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7</a:t>
            </a:r>
          </a:p>
          <a:p>
            <a:r>
              <a:rPr lang="en-US" altLang="zh-TW" dirty="0" smtClean="0"/>
              <a:t>j = 6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396772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7,6,L2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072051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8" name="直線單箭頭接點 77"/>
          <p:cNvCxnSpPr/>
          <p:nvPr/>
        </p:nvCxnSpPr>
        <p:spPr>
          <a:xfrm flipH="1" flipV="1">
            <a:off x="6838952" y="889000"/>
            <a:ext cx="533395" cy="41275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/>
          <p:nvPr/>
        </p:nvCxnSpPr>
        <p:spPr>
          <a:xfrm flipH="1" flipV="1">
            <a:off x="7607301" y="1460500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H="1" flipV="1">
            <a:off x="6838952" y="889000"/>
            <a:ext cx="317495" cy="7112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 flipH="1" flipV="1">
            <a:off x="7390758" y="1810388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/>
          <p:nvPr/>
        </p:nvCxnSpPr>
        <p:spPr>
          <a:xfrm flipH="1" flipV="1">
            <a:off x="6851656" y="921534"/>
            <a:ext cx="139691" cy="98261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/>
          <p:nvPr/>
        </p:nvCxnSpPr>
        <p:spPr>
          <a:xfrm flipH="1" flipV="1">
            <a:off x="7816847" y="2198154"/>
            <a:ext cx="101603" cy="343879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/>
          <p:nvPr/>
        </p:nvCxnSpPr>
        <p:spPr>
          <a:xfrm flipH="1" flipV="1">
            <a:off x="7105646" y="2195106"/>
            <a:ext cx="143486" cy="39432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/>
          <p:nvPr/>
        </p:nvCxnSpPr>
        <p:spPr>
          <a:xfrm flipH="1" flipV="1">
            <a:off x="8102600" y="2833031"/>
            <a:ext cx="425450" cy="150044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 flipH="1" flipV="1">
            <a:off x="2826276" y="3165508"/>
            <a:ext cx="162570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2854241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c b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7671229" y="4050748"/>
            <a:ext cx="1828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(Active</a:t>
            </a:r>
            <a:r>
              <a:rPr lang="en-US" altLang="zh-TW" dirty="0" smtClean="0"/>
              <a:t> list</a:t>
            </a:r>
            <a:r>
              <a:rPr lang="en-US" altLang="zh-TW" dirty="0" smtClean="0"/>
              <a:t>)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6277618" y="322728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  7</a:t>
            </a:r>
            <a:endParaRPr lang="zh-TW" altLang="en-US" dirty="0"/>
          </a:p>
        </p:txBody>
      </p:sp>
      <p:pic>
        <p:nvPicPr>
          <p:cNvPr id="89" name="圖片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73" y="3392644"/>
            <a:ext cx="3463110" cy="2864894"/>
          </a:xfrm>
          <a:prstGeom prst="rect">
            <a:avLst/>
          </a:prstGeom>
        </p:spPr>
      </p:pic>
      <p:sp>
        <p:nvSpPr>
          <p:cNvPr id="90" name="弧形 89"/>
          <p:cNvSpPr/>
          <p:nvPr/>
        </p:nvSpPr>
        <p:spPr>
          <a:xfrm>
            <a:off x="1492903" y="3430153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2361957" y="338296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63" name="波浪 62"/>
          <p:cNvSpPr/>
          <p:nvPr/>
        </p:nvSpPr>
        <p:spPr>
          <a:xfrm>
            <a:off x="4836672" y="3594775"/>
            <a:ext cx="988395" cy="531486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True</a:t>
            </a:r>
            <a:endParaRPr lang="zh-TW" altLang="en-US" dirty="0"/>
          </a:p>
        </p:txBody>
      </p:sp>
      <p:sp>
        <p:nvSpPr>
          <p:cNvPr id="91" name="向右箭號 90"/>
          <p:cNvSpPr/>
          <p:nvPr/>
        </p:nvSpPr>
        <p:spPr>
          <a:xfrm>
            <a:off x="942338" y="5225839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弧形 91"/>
          <p:cNvSpPr/>
          <p:nvPr/>
        </p:nvSpPr>
        <p:spPr>
          <a:xfrm>
            <a:off x="2146927" y="4045216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文字方塊 92"/>
          <p:cNvSpPr txBox="1"/>
          <p:nvPr/>
        </p:nvSpPr>
        <p:spPr>
          <a:xfrm>
            <a:off x="3009578" y="40037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7369683" y="3314639"/>
            <a:ext cx="309253" cy="322146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94" name="直線單箭頭接點 93"/>
          <p:cNvCxnSpPr/>
          <p:nvPr/>
        </p:nvCxnSpPr>
        <p:spPr>
          <a:xfrm flipH="1" flipV="1">
            <a:off x="7385576" y="2835800"/>
            <a:ext cx="75671" cy="46239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弧形 94"/>
          <p:cNvSpPr/>
          <p:nvPr/>
        </p:nvSpPr>
        <p:spPr>
          <a:xfrm>
            <a:off x="2024891" y="4780754"/>
            <a:ext cx="3911682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文字方塊 95"/>
          <p:cNvSpPr txBox="1"/>
          <p:nvPr/>
        </p:nvSpPr>
        <p:spPr>
          <a:xfrm>
            <a:off x="4452521" y="4566774"/>
            <a:ext cx="1362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symb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bt</a:t>
            </a:r>
            <a:r>
              <a:rPr lang="en-US" altLang="zh-TW" dirty="0" smtClean="0"/>
              <a:t>) = b</a:t>
            </a:r>
            <a:endParaRPr lang="zh-TW" altLang="en-US" dirty="0"/>
          </a:p>
        </p:txBody>
      </p:sp>
      <p:sp>
        <p:nvSpPr>
          <p:cNvPr id="97" name="橢圓 96"/>
          <p:cNvSpPr/>
          <p:nvPr/>
        </p:nvSpPr>
        <p:spPr>
          <a:xfrm>
            <a:off x="8006072" y="3333684"/>
            <a:ext cx="309253" cy="322146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1765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HS1</a:t>
            </a:r>
            <a:endParaRPr lang="zh-TW" altLang="en-US" dirty="0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2857" y="4062061"/>
            <a:ext cx="137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17985" y="441350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7, 9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17985" y="465734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2, 5, 8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17982" y="490118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1, 4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17982" y="5141635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07408" y="4347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07408" y="45945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07408" y="484397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07408" y="50798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7</a:t>
            </a:r>
          </a:p>
          <a:p>
            <a:r>
              <a:rPr lang="en-US" altLang="zh-TW" dirty="0" smtClean="0"/>
              <a:t>j = 6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396772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7,6,L2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072051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8" name="直線單箭頭接點 77"/>
          <p:cNvCxnSpPr/>
          <p:nvPr/>
        </p:nvCxnSpPr>
        <p:spPr>
          <a:xfrm flipH="1" flipV="1">
            <a:off x="6838952" y="889000"/>
            <a:ext cx="533395" cy="41275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/>
          <p:nvPr/>
        </p:nvCxnSpPr>
        <p:spPr>
          <a:xfrm flipH="1" flipV="1">
            <a:off x="7607301" y="1460500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H="1" flipV="1">
            <a:off x="6838952" y="889000"/>
            <a:ext cx="317495" cy="7112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 flipH="1" flipV="1">
            <a:off x="7390758" y="1810388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/>
          <p:nvPr/>
        </p:nvCxnSpPr>
        <p:spPr>
          <a:xfrm flipH="1" flipV="1">
            <a:off x="6851656" y="921534"/>
            <a:ext cx="139691" cy="98261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/>
          <p:nvPr/>
        </p:nvCxnSpPr>
        <p:spPr>
          <a:xfrm flipH="1" flipV="1">
            <a:off x="7816847" y="2198154"/>
            <a:ext cx="101603" cy="343879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/>
          <p:nvPr/>
        </p:nvCxnSpPr>
        <p:spPr>
          <a:xfrm flipH="1" flipV="1">
            <a:off x="7105646" y="2195106"/>
            <a:ext cx="143486" cy="39432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/>
          <p:nvPr/>
        </p:nvCxnSpPr>
        <p:spPr>
          <a:xfrm flipH="1" flipV="1">
            <a:off x="8102600" y="2833031"/>
            <a:ext cx="425450" cy="150044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 flipH="1" flipV="1">
            <a:off x="2826276" y="3165508"/>
            <a:ext cx="162570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2854241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c b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7671229" y="4050748"/>
            <a:ext cx="1828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(Active</a:t>
            </a:r>
            <a:r>
              <a:rPr lang="en-US" altLang="zh-TW" dirty="0" smtClean="0"/>
              <a:t> list</a:t>
            </a:r>
            <a:r>
              <a:rPr lang="en-US" altLang="zh-TW" dirty="0" smtClean="0"/>
              <a:t>)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6277618" y="322728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  7</a:t>
            </a:r>
            <a:endParaRPr lang="zh-TW" altLang="en-US" dirty="0"/>
          </a:p>
        </p:txBody>
      </p:sp>
      <p:pic>
        <p:nvPicPr>
          <p:cNvPr id="89" name="圖片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73" y="3392644"/>
            <a:ext cx="3463110" cy="2864894"/>
          </a:xfrm>
          <a:prstGeom prst="rect">
            <a:avLst/>
          </a:prstGeom>
        </p:spPr>
      </p:pic>
      <p:sp>
        <p:nvSpPr>
          <p:cNvPr id="90" name="弧形 89"/>
          <p:cNvSpPr/>
          <p:nvPr/>
        </p:nvSpPr>
        <p:spPr>
          <a:xfrm>
            <a:off x="1492903" y="3430153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2361957" y="338296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63" name="波浪 62"/>
          <p:cNvSpPr/>
          <p:nvPr/>
        </p:nvSpPr>
        <p:spPr>
          <a:xfrm>
            <a:off x="4836672" y="3594775"/>
            <a:ext cx="988395" cy="531486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True</a:t>
            </a:r>
            <a:endParaRPr lang="zh-TW" altLang="en-US" dirty="0"/>
          </a:p>
        </p:txBody>
      </p:sp>
      <p:sp>
        <p:nvSpPr>
          <p:cNvPr id="91" name="向右箭號 90"/>
          <p:cNvSpPr/>
          <p:nvPr/>
        </p:nvSpPr>
        <p:spPr>
          <a:xfrm>
            <a:off x="942338" y="5385475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弧形 91"/>
          <p:cNvSpPr/>
          <p:nvPr/>
        </p:nvSpPr>
        <p:spPr>
          <a:xfrm>
            <a:off x="2146927" y="4045216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文字方塊 92"/>
          <p:cNvSpPr txBox="1"/>
          <p:nvPr/>
        </p:nvSpPr>
        <p:spPr>
          <a:xfrm>
            <a:off x="3009578" y="40037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7369683" y="3314639"/>
            <a:ext cx="309253" cy="322146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94" name="直線單箭頭接點 93"/>
          <p:cNvCxnSpPr/>
          <p:nvPr/>
        </p:nvCxnSpPr>
        <p:spPr>
          <a:xfrm flipH="1" flipV="1">
            <a:off x="7385576" y="2835800"/>
            <a:ext cx="75671" cy="46239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弧形 94"/>
          <p:cNvSpPr/>
          <p:nvPr/>
        </p:nvSpPr>
        <p:spPr>
          <a:xfrm>
            <a:off x="2024891" y="4780754"/>
            <a:ext cx="3911682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文字方塊 95"/>
          <p:cNvSpPr txBox="1"/>
          <p:nvPr/>
        </p:nvSpPr>
        <p:spPr>
          <a:xfrm>
            <a:off x="4452521" y="4566774"/>
            <a:ext cx="1362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symb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bt</a:t>
            </a:r>
            <a:r>
              <a:rPr lang="en-US" altLang="zh-TW" dirty="0" smtClean="0"/>
              <a:t>) = b</a:t>
            </a:r>
            <a:endParaRPr lang="zh-TW" altLang="en-US" dirty="0"/>
          </a:p>
        </p:txBody>
      </p:sp>
      <p:sp>
        <p:nvSpPr>
          <p:cNvPr id="97" name="橢圓 96"/>
          <p:cNvSpPr/>
          <p:nvPr/>
        </p:nvSpPr>
        <p:spPr>
          <a:xfrm>
            <a:off x="8006072" y="3333684"/>
            <a:ext cx="309253" cy="322146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16213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HS1</a:t>
            </a:r>
            <a:endParaRPr lang="zh-TW" altLang="en-US" dirty="0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2857" y="4062061"/>
            <a:ext cx="137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17985" y="441350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7, 9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17985" y="465734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2, 5, 8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17982" y="490118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1, 4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17982" y="5141635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07408" y="4347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07408" y="45945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07408" y="484397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07408" y="50798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7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j = 9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396772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7,6,L2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072051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8" name="直線單箭頭接點 77"/>
          <p:cNvCxnSpPr/>
          <p:nvPr/>
        </p:nvCxnSpPr>
        <p:spPr>
          <a:xfrm flipH="1" flipV="1">
            <a:off x="6838952" y="889000"/>
            <a:ext cx="533395" cy="41275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/>
          <p:nvPr/>
        </p:nvCxnSpPr>
        <p:spPr>
          <a:xfrm flipH="1" flipV="1">
            <a:off x="7607301" y="1460500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H="1" flipV="1">
            <a:off x="6838952" y="889000"/>
            <a:ext cx="317495" cy="7112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 flipH="1" flipV="1">
            <a:off x="7390758" y="1810388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/>
          <p:nvPr/>
        </p:nvCxnSpPr>
        <p:spPr>
          <a:xfrm flipH="1" flipV="1">
            <a:off x="6851656" y="921534"/>
            <a:ext cx="139691" cy="98261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/>
          <p:nvPr/>
        </p:nvCxnSpPr>
        <p:spPr>
          <a:xfrm flipH="1" flipV="1">
            <a:off x="7816847" y="2198154"/>
            <a:ext cx="101603" cy="343879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/>
          <p:nvPr/>
        </p:nvCxnSpPr>
        <p:spPr>
          <a:xfrm flipH="1" flipV="1">
            <a:off x="7105646" y="2195106"/>
            <a:ext cx="143486" cy="39432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/>
          <p:nvPr/>
        </p:nvCxnSpPr>
        <p:spPr>
          <a:xfrm flipH="1" flipV="1">
            <a:off x="8102600" y="2833031"/>
            <a:ext cx="425450" cy="150044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 flipH="1" flipV="1">
            <a:off x="2826276" y="3165508"/>
            <a:ext cx="162570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2854241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c b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7671229" y="4050748"/>
            <a:ext cx="1828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(Active</a:t>
            </a:r>
            <a:r>
              <a:rPr lang="en-US" altLang="zh-TW" dirty="0" smtClean="0"/>
              <a:t> list</a:t>
            </a:r>
            <a:r>
              <a:rPr lang="en-US" altLang="zh-TW" dirty="0" smtClean="0"/>
              <a:t>)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6277618" y="322728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  7</a:t>
            </a:r>
            <a:endParaRPr lang="zh-TW" altLang="en-US" dirty="0"/>
          </a:p>
        </p:txBody>
      </p:sp>
      <p:pic>
        <p:nvPicPr>
          <p:cNvPr id="89" name="圖片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73" y="3392644"/>
            <a:ext cx="3463110" cy="2864894"/>
          </a:xfrm>
          <a:prstGeom prst="rect">
            <a:avLst/>
          </a:prstGeom>
        </p:spPr>
      </p:pic>
      <p:sp>
        <p:nvSpPr>
          <p:cNvPr id="90" name="弧形 89"/>
          <p:cNvSpPr/>
          <p:nvPr/>
        </p:nvSpPr>
        <p:spPr>
          <a:xfrm>
            <a:off x="1492903" y="3430153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2361957" y="338296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63" name="波浪 62"/>
          <p:cNvSpPr/>
          <p:nvPr/>
        </p:nvSpPr>
        <p:spPr>
          <a:xfrm>
            <a:off x="4836672" y="3594775"/>
            <a:ext cx="988395" cy="531486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True</a:t>
            </a:r>
            <a:endParaRPr lang="zh-TW" altLang="en-US" dirty="0"/>
          </a:p>
        </p:txBody>
      </p:sp>
      <p:sp>
        <p:nvSpPr>
          <p:cNvPr id="91" name="向右箭號 90"/>
          <p:cNvSpPr/>
          <p:nvPr/>
        </p:nvSpPr>
        <p:spPr>
          <a:xfrm>
            <a:off x="899278" y="5724007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弧形 91"/>
          <p:cNvSpPr/>
          <p:nvPr/>
        </p:nvSpPr>
        <p:spPr>
          <a:xfrm>
            <a:off x="2146927" y="4045216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文字方塊 92"/>
          <p:cNvSpPr txBox="1"/>
          <p:nvPr/>
        </p:nvSpPr>
        <p:spPr>
          <a:xfrm>
            <a:off x="3009578" y="40037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7369683" y="3314639"/>
            <a:ext cx="309253" cy="322146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94" name="直線單箭頭接點 93"/>
          <p:cNvCxnSpPr/>
          <p:nvPr/>
        </p:nvCxnSpPr>
        <p:spPr>
          <a:xfrm flipH="1" flipV="1">
            <a:off x="7385576" y="2835800"/>
            <a:ext cx="75671" cy="46239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弧形 94"/>
          <p:cNvSpPr/>
          <p:nvPr/>
        </p:nvSpPr>
        <p:spPr>
          <a:xfrm>
            <a:off x="2024891" y="4780754"/>
            <a:ext cx="3911682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文字方塊 95"/>
          <p:cNvSpPr txBox="1"/>
          <p:nvPr/>
        </p:nvSpPr>
        <p:spPr>
          <a:xfrm>
            <a:off x="4452521" y="4566774"/>
            <a:ext cx="1362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symb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bt</a:t>
            </a:r>
            <a:r>
              <a:rPr lang="en-US" altLang="zh-TW" dirty="0" smtClean="0"/>
              <a:t>) = b</a:t>
            </a:r>
            <a:endParaRPr lang="zh-TW" altLang="en-US" dirty="0"/>
          </a:p>
        </p:txBody>
      </p:sp>
      <p:sp>
        <p:nvSpPr>
          <p:cNvPr id="97" name="橢圓 96"/>
          <p:cNvSpPr/>
          <p:nvPr/>
        </p:nvSpPr>
        <p:spPr>
          <a:xfrm>
            <a:off x="8006072" y="3333684"/>
            <a:ext cx="309253" cy="322146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21598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HS1</a:t>
            </a:r>
            <a:endParaRPr lang="zh-TW" altLang="en-US" dirty="0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2857" y="4062061"/>
            <a:ext cx="137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17985" y="441350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7, 9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17985" y="465734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2, 5, 8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17982" y="490118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1, 4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17982" y="5141635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07408" y="4347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07408" y="45945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07408" y="484397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07408" y="50798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7</a:t>
            </a:r>
          </a:p>
          <a:p>
            <a:r>
              <a:rPr lang="en-US" altLang="zh-TW" dirty="0" smtClean="0"/>
              <a:t>j = 9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396772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7,6,L2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072051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8" name="直線單箭頭接點 77"/>
          <p:cNvCxnSpPr/>
          <p:nvPr/>
        </p:nvCxnSpPr>
        <p:spPr>
          <a:xfrm flipH="1" flipV="1">
            <a:off x="6838952" y="889000"/>
            <a:ext cx="533395" cy="41275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/>
          <p:nvPr/>
        </p:nvCxnSpPr>
        <p:spPr>
          <a:xfrm flipH="1" flipV="1">
            <a:off x="7607301" y="1460500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H="1" flipV="1">
            <a:off x="6838952" y="889000"/>
            <a:ext cx="317495" cy="7112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 flipH="1" flipV="1">
            <a:off x="7390758" y="1810388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/>
          <p:nvPr/>
        </p:nvCxnSpPr>
        <p:spPr>
          <a:xfrm flipH="1" flipV="1">
            <a:off x="6851656" y="921534"/>
            <a:ext cx="139691" cy="98261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/>
          <p:nvPr/>
        </p:nvCxnSpPr>
        <p:spPr>
          <a:xfrm flipH="1" flipV="1">
            <a:off x="7816847" y="2198154"/>
            <a:ext cx="101603" cy="343879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/>
          <p:nvPr/>
        </p:nvCxnSpPr>
        <p:spPr>
          <a:xfrm flipH="1" flipV="1">
            <a:off x="7105646" y="2195106"/>
            <a:ext cx="143486" cy="39432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/>
          <p:nvPr/>
        </p:nvCxnSpPr>
        <p:spPr>
          <a:xfrm flipH="1" flipV="1">
            <a:off x="8102600" y="2833031"/>
            <a:ext cx="425450" cy="150044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 flipH="1" flipV="1">
            <a:off x="2826276" y="3165508"/>
            <a:ext cx="162570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2854241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c b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7671229" y="4050748"/>
            <a:ext cx="1828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(Active</a:t>
            </a:r>
            <a:r>
              <a:rPr lang="en-US" altLang="zh-TW" dirty="0" smtClean="0"/>
              <a:t> list</a:t>
            </a:r>
            <a:r>
              <a:rPr lang="en-US" altLang="zh-TW" dirty="0" smtClean="0"/>
              <a:t>)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6277618" y="322728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  7</a:t>
            </a:r>
            <a:endParaRPr lang="zh-TW" altLang="en-US" dirty="0"/>
          </a:p>
        </p:txBody>
      </p:sp>
      <p:pic>
        <p:nvPicPr>
          <p:cNvPr id="89" name="圖片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73" y="3392644"/>
            <a:ext cx="3463110" cy="2864894"/>
          </a:xfrm>
          <a:prstGeom prst="rect">
            <a:avLst/>
          </a:prstGeom>
        </p:spPr>
      </p:pic>
      <p:sp>
        <p:nvSpPr>
          <p:cNvPr id="90" name="弧形 89"/>
          <p:cNvSpPr/>
          <p:nvPr/>
        </p:nvSpPr>
        <p:spPr>
          <a:xfrm>
            <a:off x="1492903" y="3430153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2361957" y="338296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63" name="波浪 62"/>
          <p:cNvSpPr/>
          <p:nvPr/>
        </p:nvSpPr>
        <p:spPr>
          <a:xfrm>
            <a:off x="4836672" y="3594775"/>
            <a:ext cx="988395" cy="531486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True</a:t>
            </a:r>
            <a:endParaRPr lang="zh-TW" altLang="en-US" dirty="0"/>
          </a:p>
        </p:txBody>
      </p:sp>
      <p:sp>
        <p:nvSpPr>
          <p:cNvPr id="91" name="向右箭號 90"/>
          <p:cNvSpPr/>
          <p:nvPr/>
        </p:nvSpPr>
        <p:spPr>
          <a:xfrm>
            <a:off x="954358" y="4488396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弧形 91"/>
          <p:cNvSpPr/>
          <p:nvPr/>
        </p:nvSpPr>
        <p:spPr>
          <a:xfrm>
            <a:off x="2146927" y="4045216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/>
          <p:cNvSpPr/>
          <p:nvPr/>
        </p:nvSpPr>
        <p:spPr>
          <a:xfrm>
            <a:off x="7369683" y="3314639"/>
            <a:ext cx="309253" cy="322146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94" name="直線單箭頭接點 93"/>
          <p:cNvCxnSpPr/>
          <p:nvPr/>
        </p:nvCxnSpPr>
        <p:spPr>
          <a:xfrm flipH="1" flipV="1">
            <a:off x="7385576" y="2835800"/>
            <a:ext cx="75671" cy="46239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弧形 94"/>
          <p:cNvSpPr/>
          <p:nvPr/>
        </p:nvSpPr>
        <p:spPr>
          <a:xfrm>
            <a:off x="2024891" y="4780754"/>
            <a:ext cx="3911682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文字方塊 95"/>
          <p:cNvSpPr txBox="1"/>
          <p:nvPr/>
        </p:nvSpPr>
        <p:spPr>
          <a:xfrm>
            <a:off x="4452521" y="4566774"/>
            <a:ext cx="1362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symb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bt</a:t>
            </a:r>
            <a:r>
              <a:rPr lang="en-US" altLang="zh-TW" dirty="0" smtClean="0"/>
              <a:t>) = b</a:t>
            </a:r>
            <a:endParaRPr lang="zh-TW" altLang="en-US" dirty="0"/>
          </a:p>
        </p:txBody>
      </p:sp>
      <p:sp>
        <p:nvSpPr>
          <p:cNvPr id="97" name="橢圓 96"/>
          <p:cNvSpPr/>
          <p:nvPr/>
        </p:nvSpPr>
        <p:spPr>
          <a:xfrm>
            <a:off x="8006072" y="3333684"/>
            <a:ext cx="309253" cy="322146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98" name="文字方塊 97"/>
          <p:cNvSpPr txBox="1"/>
          <p:nvPr/>
        </p:nvSpPr>
        <p:spPr>
          <a:xfrm>
            <a:off x="3009578" y="4003743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∞</a:t>
            </a:r>
          </a:p>
        </p:txBody>
      </p:sp>
    </p:spTree>
    <p:extLst>
      <p:ext uri="{BB962C8B-B14F-4D97-AF65-F5344CB8AC3E}">
        <p14:creationId xmlns:p14="http://schemas.microsoft.com/office/powerpoint/2010/main" val="20936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HS1</a:t>
            </a:r>
            <a:endParaRPr lang="zh-TW" altLang="en-US" dirty="0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2857" y="4062061"/>
            <a:ext cx="137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17985" y="441350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7, 9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17985" y="465734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2, 5, 8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17982" y="490118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1, 4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17982" y="5141635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07408" y="4347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07408" y="45945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07408" y="484397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07408" y="50798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7</a:t>
            </a:r>
          </a:p>
          <a:p>
            <a:r>
              <a:rPr lang="en-US" altLang="zh-TW" dirty="0" smtClean="0"/>
              <a:t>j = 9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396772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7,6,L2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072051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8" name="直線單箭頭接點 77"/>
          <p:cNvCxnSpPr/>
          <p:nvPr/>
        </p:nvCxnSpPr>
        <p:spPr>
          <a:xfrm flipH="1" flipV="1">
            <a:off x="6838952" y="889000"/>
            <a:ext cx="533395" cy="41275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/>
          <p:nvPr/>
        </p:nvCxnSpPr>
        <p:spPr>
          <a:xfrm flipH="1" flipV="1">
            <a:off x="7607301" y="1460500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H="1" flipV="1">
            <a:off x="6838952" y="889000"/>
            <a:ext cx="317495" cy="7112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 flipH="1" flipV="1">
            <a:off x="7390758" y="1810388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/>
          <p:nvPr/>
        </p:nvCxnSpPr>
        <p:spPr>
          <a:xfrm flipH="1" flipV="1">
            <a:off x="6851656" y="921534"/>
            <a:ext cx="139691" cy="98261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/>
          <p:nvPr/>
        </p:nvCxnSpPr>
        <p:spPr>
          <a:xfrm flipH="1" flipV="1">
            <a:off x="7816847" y="2198154"/>
            <a:ext cx="101603" cy="343879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/>
          <p:nvPr/>
        </p:nvCxnSpPr>
        <p:spPr>
          <a:xfrm flipH="1" flipV="1">
            <a:off x="7105646" y="2195106"/>
            <a:ext cx="143486" cy="39432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/>
          <p:nvPr/>
        </p:nvCxnSpPr>
        <p:spPr>
          <a:xfrm flipH="1" flipV="1">
            <a:off x="8102600" y="2833031"/>
            <a:ext cx="425450" cy="150044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 flipH="1" flipV="1">
            <a:off x="2826276" y="3165508"/>
            <a:ext cx="162570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2854241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c b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7671229" y="4050748"/>
            <a:ext cx="1828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(Active</a:t>
            </a:r>
            <a:r>
              <a:rPr lang="en-US" altLang="zh-TW" dirty="0" smtClean="0"/>
              <a:t> list</a:t>
            </a:r>
            <a:r>
              <a:rPr lang="en-US" altLang="zh-TW" dirty="0" smtClean="0"/>
              <a:t>)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6277618" y="322728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  7</a:t>
            </a:r>
            <a:endParaRPr lang="zh-TW" altLang="en-US" dirty="0"/>
          </a:p>
        </p:txBody>
      </p:sp>
      <p:pic>
        <p:nvPicPr>
          <p:cNvPr id="89" name="圖片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73" y="3392644"/>
            <a:ext cx="3463110" cy="2864894"/>
          </a:xfrm>
          <a:prstGeom prst="rect">
            <a:avLst/>
          </a:prstGeom>
        </p:spPr>
      </p:pic>
      <p:sp>
        <p:nvSpPr>
          <p:cNvPr id="90" name="弧形 89"/>
          <p:cNvSpPr/>
          <p:nvPr/>
        </p:nvSpPr>
        <p:spPr>
          <a:xfrm>
            <a:off x="1492903" y="3430153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2361957" y="338296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63" name="波浪 62"/>
          <p:cNvSpPr/>
          <p:nvPr/>
        </p:nvSpPr>
        <p:spPr>
          <a:xfrm>
            <a:off x="4836672" y="3594775"/>
            <a:ext cx="988395" cy="531486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False</a:t>
            </a:r>
            <a:endParaRPr lang="zh-TW" altLang="en-US" dirty="0"/>
          </a:p>
        </p:txBody>
      </p:sp>
      <p:sp>
        <p:nvSpPr>
          <p:cNvPr id="91" name="向右箭號 90"/>
          <p:cNvSpPr/>
          <p:nvPr/>
        </p:nvSpPr>
        <p:spPr>
          <a:xfrm>
            <a:off x="942338" y="467768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弧形 91"/>
          <p:cNvSpPr/>
          <p:nvPr/>
        </p:nvSpPr>
        <p:spPr>
          <a:xfrm>
            <a:off x="2146927" y="4045216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/>
          <p:cNvSpPr/>
          <p:nvPr/>
        </p:nvSpPr>
        <p:spPr>
          <a:xfrm>
            <a:off x="7369683" y="3314639"/>
            <a:ext cx="309253" cy="322146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94" name="直線單箭頭接點 93"/>
          <p:cNvCxnSpPr/>
          <p:nvPr/>
        </p:nvCxnSpPr>
        <p:spPr>
          <a:xfrm flipH="1" flipV="1">
            <a:off x="7385576" y="2835800"/>
            <a:ext cx="75671" cy="46239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弧形 94"/>
          <p:cNvSpPr/>
          <p:nvPr/>
        </p:nvSpPr>
        <p:spPr>
          <a:xfrm>
            <a:off x="2024891" y="4780754"/>
            <a:ext cx="3911682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文字方塊 95"/>
          <p:cNvSpPr txBox="1"/>
          <p:nvPr/>
        </p:nvSpPr>
        <p:spPr>
          <a:xfrm>
            <a:off x="4452521" y="4566774"/>
            <a:ext cx="1362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symb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bt</a:t>
            </a:r>
            <a:r>
              <a:rPr lang="en-US" altLang="zh-TW" dirty="0" smtClean="0"/>
              <a:t>) = b</a:t>
            </a:r>
            <a:endParaRPr lang="zh-TW" altLang="en-US" dirty="0"/>
          </a:p>
        </p:txBody>
      </p:sp>
      <p:sp>
        <p:nvSpPr>
          <p:cNvPr id="97" name="橢圓 96"/>
          <p:cNvSpPr/>
          <p:nvPr/>
        </p:nvSpPr>
        <p:spPr>
          <a:xfrm>
            <a:off x="8006072" y="3333684"/>
            <a:ext cx="309253" cy="322146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98" name="文字方塊 97"/>
          <p:cNvSpPr txBox="1"/>
          <p:nvPr/>
        </p:nvSpPr>
        <p:spPr>
          <a:xfrm>
            <a:off x="3009578" y="4003743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∞</a:t>
            </a:r>
          </a:p>
        </p:txBody>
      </p:sp>
    </p:spTree>
    <p:extLst>
      <p:ext uri="{BB962C8B-B14F-4D97-AF65-F5344CB8AC3E}">
        <p14:creationId xmlns:p14="http://schemas.microsoft.com/office/powerpoint/2010/main" val="59415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HS1</a:t>
            </a:r>
            <a:endParaRPr lang="zh-TW" altLang="en-US" dirty="0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9</a:t>
            </a:r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2857" y="4062061"/>
            <a:ext cx="137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17985" y="441350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7, 9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17985" y="465734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2, 5, 8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17982" y="490118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1, 4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17982" y="5141635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07408" y="4347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07408" y="45945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07408" y="484397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07408" y="50798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</a:t>
            </a:r>
            <a:endParaRPr lang="zh-TW" altLang="en-US" dirty="0"/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7</a:t>
            </a:r>
          </a:p>
          <a:p>
            <a:r>
              <a:rPr lang="en-US" altLang="zh-TW" dirty="0" smtClean="0"/>
              <a:t>j = 9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396772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7,6,L2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072051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8" name="直線單箭頭接點 77"/>
          <p:cNvCxnSpPr/>
          <p:nvPr/>
        </p:nvCxnSpPr>
        <p:spPr>
          <a:xfrm flipH="1" flipV="1">
            <a:off x="6838952" y="889000"/>
            <a:ext cx="533395" cy="41275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/>
          <p:nvPr/>
        </p:nvCxnSpPr>
        <p:spPr>
          <a:xfrm flipH="1" flipV="1">
            <a:off x="7607301" y="1460500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H="1" flipV="1">
            <a:off x="6838952" y="889000"/>
            <a:ext cx="317495" cy="7112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 flipH="1" flipV="1">
            <a:off x="7390758" y="1810388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/>
          <p:nvPr/>
        </p:nvCxnSpPr>
        <p:spPr>
          <a:xfrm flipH="1" flipV="1">
            <a:off x="6851656" y="921534"/>
            <a:ext cx="139691" cy="98261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/>
          <p:nvPr/>
        </p:nvCxnSpPr>
        <p:spPr>
          <a:xfrm flipH="1" flipV="1">
            <a:off x="7816847" y="2198154"/>
            <a:ext cx="101603" cy="343879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/>
          <p:nvPr/>
        </p:nvCxnSpPr>
        <p:spPr>
          <a:xfrm flipH="1" flipV="1">
            <a:off x="7105646" y="2195106"/>
            <a:ext cx="143486" cy="39432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/>
          <p:nvPr/>
        </p:nvCxnSpPr>
        <p:spPr>
          <a:xfrm flipH="1" flipV="1">
            <a:off x="8102600" y="2833031"/>
            <a:ext cx="425450" cy="150044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 flipH="1" flipV="1">
            <a:off x="2826276" y="3165508"/>
            <a:ext cx="162570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2854241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c b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7671229" y="4050748"/>
            <a:ext cx="1828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(Active</a:t>
            </a:r>
            <a:r>
              <a:rPr lang="en-US" altLang="zh-TW" dirty="0" smtClean="0"/>
              <a:t> list</a:t>
            </a:r>
            <a:r>
              <a:rPr lang="en-US" altLang="zh-TW" dirty="0" smtClean="0"/>
              <a:t>)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6277618" y="322728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  7</a:t>
            </a:r>
            <a:endParaRPr lang="zh-TW" altLang="en-US" dirty="0"/>
          </a:p>
        </p:txBody>
      </p:sp>
      <p:pic>
        <p:nvPicPr>
          <p:cNvPr id="89" name="圖片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73" y="3392644"/>
            <a:ext cx="3463110" cy="2864894"/>
          </a:xfrm>
          <a:prstGeom prst="rect">
            <a:avLst/>
          </a:prstGeom>
        </p:spPr>
      </p:pic>
      <p:sp>
        <p:nvSpPr>
          <p:cNvPr id="90" name="弧形 89"/>
          <p:cNvSpPr/>
          <p:nvPr/>
        </p:nvSpPr>
        <p:spPr>
          <a:xfrm>
            <a:off x="1492903" y="3430153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2361957" y="338296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63" name="波浪 62"/>
          <p:cNvSpPr/>
          <p:nvPr/>
        </p:nvSpPr>
        <p:spPr>
          <a:xfrm>
            <a:off x="4836672" y="3594775"/>
            <a:ext cx="988395" cy="531486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False</a:t>
            </a:r>
            <a:endParaRPr lang="zh-TW" altLang="en-US" dirty="0"/>
          </a:p>
        </p:txBody>
      </p:sp>
      <p:sp>
        <p:nvSpPr>
          <p:cNvPr id="91" name="向右箭號 90"/>
          <p:cNvSpPr/>
          <p:nvPr/>
        </p:nvSpPr>
        <p:spPr>
          <a:xfrm>
            <a:off x="914791" y="486578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弧形 91"/>
          <p:cNvSpPr/>
          <p:nvPr/>
        </p:nvSpPr>
        <p:spPr>
          <a:xfrm>
            <a:off x="2146927" y="4045216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/>
          <p:cNvSpPr/>
          <p:nvPr/>
        </p:nvSpPr>
        <p:spPr>
          <a:xfrm>
            <a:off x="7369683" y="3314639"/>
            <a:ext cx="309253" cy="322146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94" name="直線單箭頭接點 93"/>
          <p:cNvCxnSpPr/>
          <p:nvPr/>
        </p:nvCxnSpPr>
        <p:spPr>
          <a:xfrm flipH="1" flipV="1">
            <a:off x="7385576" y="2835800"/>
            <a:ext cx="75671" cy="46239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弧形 94"/>
          <p:cNvSpPr/>
          <p:nvPr/>
        </p:nvSpPr>
        <p:spPr>
          <a:xfrm>
            <a:off x="2024891" y="4780754"/>
            <a:ext cx="3911682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文字方塊 95"/>
          <p:cNvSpPr txBox="1"/>
          <p:nvPr/>
        </p:nvSpPr>
        <p:spPr>
          <a:xfrm>
            <a:off x="4452521" y="4566774"/>
            <a:ext cx="1362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symb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bt</a:t>
            </a:r>
            <a:r>
              <a:rPr lang="en-US" altLang="zh-TW" dirty="0" smtClean="0"/>
              <a:t>) = b</a:t>
            </a:r>
            <a:endParaRPr lang="zh-TW" altLang="en-US" dirty="0"/>
          </a:p>
        </p:txBody>
      </p:sp>
      <p:sp>
        <p:nvSpPr>
          <p:cNvPr id="97" name="橢圓 96"/>
          <p:cNvSpPr/>
          <p:nvPr/>
        </p:nvSpPr>
        <p:spPr>
          <a:xfrm>
            <a:off x="8006072" y="3333684"/>
            <a:ext cx="309253" cy="322146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98" name="文字方塊 97"/>
          <p:cNvSpPr txBox="1"/>
          <p:nvPr/>
        </p:nvSpPr>
        <p:spPr>
          <a:xfrm>
            <a:off x="3009578" y="4003743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∞</a:t>
            </a:r>
          </a:p>
        </p:txBody>
      </p:sp>
      <p:cxnSp>
        <p:nvCxnSpPr>
          <p:cNvPr id="93" name="直線接點 92"/>
          <p:cNvCxnSpPr/>
          <p:nvPr/>
        </p:nvCxnSpPr>
        <p:spPr>
          <a:xfrm>
            <a:off x="8710140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324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HS1</a:t>
            </a:r>
            <a:endParaRPr lang="zh-TW" altLang="en-US" dirty="0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9</a:t>
            </a:r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2857" y="4062061"/>
            <a:ext cx="137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17985" y="441350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7, 9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17985" y="465734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2, 5, 8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17982" y="490118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1, 4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17982" y="5141635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07408" y="4347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07408" y="45945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07408" y="484397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07408" y="50798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</a:t>
            </a:r>
            <a:endParaRPr lang="zh-TW" altLang="en-US" dirty="0"/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7</a:t>
            </a:r>
          </a:p>
          <a:p>
            <a:r>
              <a:rPr lang="en-US" altLang="zh-TW" dirty="0" smtClean="0"/>
              <a:t>j = 9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396772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7,6,L2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072051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8" name="直線單箭頭接點 77"/>
          <p:cNvCxnSpPr/>
          <p:nvPr/>
        </p:nvCxnSpPr>
        <p:spPr>
          <a:xfrm flipH="1" flipV="1">
            <a:off x="6838952" y="889000"/>
            <a:ext cx="533395" cy="41275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/>
          <p:nvPr/>
        </p:nvCxnSpPr>
        <p:spPr>
          <a:xfrm flipH="1" flipV="1">
            <a:off x="7607301" y="1460500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H="1" flipV="1">
            <a:off x="6838952" y="889000"/>
            <a:ext cx="317495" cy="7112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 flipH="1" flipV="1">
            <a:off x="7390758" y="1810388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/>
          <p:nvPr/>
        </p:nvCxnSpPr>
        <p:spPr>
          <a:xfrm flipH="1" flipV="1">
            <a:off x="6851656" y="921534"/>
            <a:ext cx="139691" cy="98261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/>
          <p:nvPr/>
        </p:nvCxnSpPr>
        <p:spPr>
          <a:xfrm flipH="1" flipV="1">
            <a:off x="7816847" y="2198154"/>
            <a:ext cx="101603" cy="343879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/>
          <p:nvPr/>
        </p:nvCxnSpPr>
        <p:spPr>
          <a:xfrm flipH="1" flipV="1">
            <a:off x="7105646" y="2195106"/>
            <a:ext cx="143486" cy="39432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/>
          <p:nvPr/>
        </p:nvCxnSpPr>
        <p:spPr>
          <a:xfrm flipH="1" flipV="1">
            <a:off x="8102600" y="2833031"/>
            <a:ext cx="425450" cy="150044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 flipH="1" flipV="1">
            <a:off x="2826276" y="3165508"/>
            <a:ext cx="162570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2854241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c b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7671229" y="4050748"/>
            <a:ext cx="1828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(Active</a:t>
            </a:r>
            <a:r>
              <a:rPr lang="en-US" altLang="zh-TW" dirty="0" smtClean="0"/>
              <a:t> list</a:t>
            </a:r>
            <a:r>
              <a:rPr lang="en-US" altLang="zh-TW" dirty="0" smtClean="0"/>
              <a:t>)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6277618" y="322728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  7</a:t>
            </a:r>
            <a:endParaRPr lang="zh-TW" altLang="en-US" dirty="0"/>
          </a:p>
        </p:txBody>
      </p:sp>
      <p:pic>
        <p:nvPicPr>
          <p:cNvPr id="89" name="圖片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73" y="3392644"/>
            <a:ext cx="3463110" cy="2864894"/>
          </a:xfrm>
          <a:prstGeom prst="rect">
            <a:avLst/>
          </a:prstGeom>
        </p:spPr>
      </p:pic>
      <p:sp>
        <p:nvSpPr>
          <p:cNvPr id="90" name="弧形 89"/>
          <p:cNvSpPr/>
          <p:nvPr/>
        </p:nvSpPr>
        <p:spPr>
          <a:xfrm>
            <a:off x="1492903" y="3430153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2361957" y="338296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63" name="波浪 62"/>
          <p:cNvSpPr/>
          <p:nvPr/>
        </p:nvSpPr>
        <p:spPr>
          <a:xfrm>
            <a:off x="4836672" y="3594775"/>
            <a:ext cx="988395" cy="531486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False</a:t>
            </a:r>
            <a:endParaRPr lang="zh-TW" altLang="en-US" dirty="0"/>
          </a:p>
        </p:txBody>
      </p:sp>
      <p:sp>
        <p:nvSpPr>
          <p:cNvPr id="91" name="向右箭號 90"/>
          <p:cNvSpPr/>
          <p:nvPr/>
        </p:nvSpPr>
        <p:spPr>
          <a:xfrm>
            <a:off x="887740" y="502310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弧形 91"/>
          <p:cNvSpPr/>
          <p:nvPr/>
        </p:nvSpPr>
        <p:spPr>
          <a:xfrm>
            <a:off x="2146927" y="4045216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/>
          <p:cNvSpPr/>
          <p:nvPr/>
        </p:nvSpPr>
        <p:spPr>
          <a:xfrm>
            <a:off x="7369683" y="3314639"/>
            <a:ext cx="309253" cy="322146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94" name="直線單箭頭接點 93"/>
          <p:cNvCxnSpPr/>
          <p:nvPr/>
        </p:nvCxnSpPr>
        <p:spPr>
          <a:xfrm flipH="1" flipV="1">
            <a:off x="7385576" y="2835800"/>
            <a:ext cx="75671" cy="46239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弧形 94"/>
          <p:cNvSpPr/>
          <p:nvPr/>
        </p:nvSpPr>
        <p:spPr>
          <a:xfrm>
            <a:off x="2024891" y="4780754"/>
            <a:ext cx="3911682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文字方塊 95"/>
          <p:cNvSpPr txBox="1"/>
          <p:nvPr/>
        </p:nvSpPr>
        <p:spPr>
          <a:xfrm>
            <a:off x="4452521" y="4566774"/>
            <a:ext cx="1362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symb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bt</a:t>
            </a:r>
            <a:r>
              <a:rPr lang="en-US" altLang="zh-TW" dirty="0" smtClean="0"/>
              <a:t>) = b</a:t>
            </a:r>
            <a:endParaRPr lang="zh-TW" altLang="en-US" dirty="0"/>
          </a:p>
        </p:txBody>
      </p:sp>
      <p:sp>
        <p:nvSpPr>
          <p:cNvPr id="97" name="橢圓 96"/>
          <p:cNvSpPr/>
          <p:nvPr/>
        </p:nvSpPr>
        <p:spPr>
          <a:xfrm>
            <a:off x="8006072" y="3333684"/>
            <a:ext cx="309253" cy="322146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98" name="文字方塊 97"/>
          <p:cNvSpPr txBox="1"/>
          <p:nvPr/>
        </p:nvSpPr>
        <p:spPr>
          <a:xfrm>
            <a:off x="3009578" y="4003743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∞</a:t>
            </a:r>
          </a:p>
        </p:txBody>
      </p:sp>
      <p:cxnSp>
        <p:nvCxnSpPr>
          <p:cNvPr id="93" name="直線接點 92"/>
          <p:cNvCxnSpPr/>
          <p:nvPr/>
        </p:nvCxnSpPr>
        <p:spPr>
          <a:xfrm>
            <a:off x="8710140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橢圓 98"/>
          <p:cNvSpPr/>
          <p:nvPr/>
        </p:nvSpPr>
        <p:spPr>
          <a:xfrm>
            <a:off x="8695976" y="3320643"/>
            <a:ext cx="309253" cy="322146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100" name="文字方塊 99"/>
          <p:cNvSpPr txBox="1"/>
          <p:nvPr/>
        </p:nvSpPr>
        <p:spPr>
          <a:xfrm>
            <a:off x="3666505" y="277115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7,9,L4</a:t>
            </a:r>
            <a:endParaRPr lang="zh-TW" altLang="en-US" sz="900" dirty="0"/>
          </a:p>
        </p:txBody>
      </p:sp>
    </p:spTree>
    <p:extLst>
      <p:ext uri="{BB962C8B-B14F-4D97-AF65-F5344CB8AC3E}">
        <p14:creationId xmlns:p14="http://schemas.microsoft.com/office/powerpoint/2010/main" val="733048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HS1</a:t>
            </a:r>
            <a:endParaRPr lang="zh-TW" altLang="en-US" dirty="0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9</a:t>
            </a:r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2857" y="4062061"/>
            <a:ext cx="137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17985" y="441350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7, 9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17985" y="465734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2, 5, 8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17982" y="490118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1, 4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17982" y="5141635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07408" y="4347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07408" y="45945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07408" y="484397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07408" y="50798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</a:t>
            </a:r>
            <a:endParaRPr lang="zh-TW" altLang="en-US" dirty="0"/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7</a:t>
            </a:r>
          </a:p>
          <a:p>
            <a:r>
              <a:rPr lang="en-US" altLang="zh-TW" dirty="0" smtClean="0"/>
              <a:t>j = 9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396772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7,6,L2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072051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8" name="直線單箭頭接點 77"/>
          <p:cNvCxnSpPr/>
          <p:nvPr/>
        </p:nvCxnSpPr>
        <p:spPr>
          <a:xfrm flipH="1" flipV="1">
            <a:off x="6838952" y="889000"/>
            <a:ext cx="533395" cy="41275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/>
          <p:nvPr/>
        </p:nvCxnSpPr>
        <p:spPr>
          <a:xfrm flipH="1" flipV="1">
            <a:off x="7607301" y="1460500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H="1" flipV="1">
            <a:off x="6838952" y="889000"/>
            <a:ext cx="317495" cy="7112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 flipH="1" flipV="1">
            <a:off x="7390758" y="1810388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/>
          <p:nvPr/>
        </p:nvCxnSpPr>
        <p:spPr>
          <a:xfrm flipH="1" flipV="1">
            <a:off x="6851656" y="921534"/>
            <a:ext cx="139691" cy="98261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/>
          <p:nvPr/>
        </p:nvCxnSpPr>
        <p:spPr>
          <a:xfrm flipH="1" flipV="1">
            <a:off x="7816847" y="2198154"/>
            <a:ext cx="101603" cy="343879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/>
          <p:nvPr/>
        </p:nvCxnSpPr>
        <p:spPr>
          <a:xfrm flipH="1" flipV="1">
            <a:off x="7105646" y="2195106"/>
            <a:ext cx="143486" cy="39432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/>
          <p:nvPr/>
        </p:nvCxnSpPr>
        <p:spPr>
          <a:xfrm flipH="1" flipV="1">
            <a:off x="8102600" y="2833031"/>
            <a:ext cx="425450" cy="150044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 flipH="1" flipV="1">
            <a:off x="2826276" y="3165508"/>
            <a:ext cx="162570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2854241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c b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7671229" y="4050748"/>
            <a:ext cx="1828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(Active</a:t>
            </a:r>
            <a:r>
              <a:rPr lang="en-US" altLang="zh-TW" dirty="0" smtClean="0"/>
              <a:t> list</a:t>
            </a:r>
            <a:r>
              <a:rPr lang="en-US" altLang="zh-TW" dirty="0" smtClean="0"/>
              <a:t>)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6277618" y="322728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  7</a:t>
            </a:r>
            <a:endParaRPr lang="zh-TW" altLang="en-US" dirty="0"/>
          </a:p>
        </p:txBody>
      </p:sp>
      <p:pic>
        <p:nvPicPr>
          <p:cNvPr id="89" name="圖片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73" y="3392644"/>
            <a:ext cx="3463110" cy="2864894"/>
          </a:xfrm>
          <a:prstGeom prst="rect">
            <a:avLst/>
          </a:prstGeom>
        </p:spPr>
      </p:pic>
      <p:sp>
        <p:nvSpPr>
          <p:cNvPr id="90" name="弧形 89"/>
          <p:cNvSpPr/>
          <p:nvPr/>
        </p:nvSpPr>
        <p:spPr>
          <a:xfrm>
            <a:off x="1492903" y="3430153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2361957" y="338296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63" name="波浪 62"/>
          <p:cNvSpPr/>
          <p:nvPr/>
        </p:nvSpPr>
        <p:spPr>
          <a:xfrm>
            <a:off x="4836672" y="3594775"/>
            <a:ext cx="988395" cy="531486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False</a:t>
            </a:r>
            <a:endParaRPr lang="zh-TW" altLang="en-US" dirty="0"/>
          </a:p>
        </p:txBody>
      </p:sp>
      <p:sp>
        <p:nvSpPr>
          <p:cNvPr id="91" name="向右箭號 90"/>
          <p:cNvSpPr/>
          <p:nvPr/>
        </p:nvSpPr>
        <p:spPr>
          <a:xfrm>
            <a:off x="942338" y="520762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弧形 91"/>
          <p:cNvSpPr/>
          <p:nvPr/>
        </p:nvSpPr>
        <p:spPr>
          <a:xfrm>
            <a:off x="2146927" y="4045216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/>
          <p:cNvSpPr/>
          <p:nvPr/>
        </p:nvSpPr>
        <p:spPr>
          <a:xfrm>
            <a:off x="7369683" y="3314639"/>
            <a:ext cx="309253" cy="322146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94" name="直線單箭頭接點 93"/>
          <p:cNvCxnSpPr/>
          <p:nvPr/>
        </p:nvCxnSpPr>
        <p:spPr>
          <a:xfrm flipH="1" flipV="1">
            <a:off x="7385576" y="2835800"/>
            <a:ext cx="75671" cy="46239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弧形 94"/>
          <p:cNvSpPr/>
          <p:nvPr/>
        </p:nvSpPr>
        <p:spPr>
          <a:xfrm>
            <a:off x="2024891" y="4780754"/>
            <a:ext cx="3911682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文字方塊 95"/>
          <p:cNvSpPr txBox="1"/>
          <p:nvPr/>
        </p:nvSpPr>
        <p:spPr>
          <a:xfrm>
            <a:off x="4452521" y="4566774"/>
            <a:ext cx="1362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symb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bt</a:t>
            </a:r>
            <a:r>
              <a:rPr lang="en-US" altLang="zh-TW" dirty="0" smtClean="0"/>
              <a:t>) =</a:t>
            </a:r>
            <a:r>
              <a:rPr lang="el-GR" altLang="zh-TW" dirty="0"/>
              <a:t>Λ</a:t>
            </a:r>
            <a:endParaRPr lang="zh-TW" altLang="en-US" dirty="0"/>
          </a:p>
        </p:txBody>
      </p:sp>
      <p:sp>
        <p:nvSpPr>
          <p:cNvPr id="97" name="橢圓 96"/>
          <p:cNvSpPr/>
          <p:nvPr/>
        </p:nvSpPr>
        <p:spPr>
          <a:xfrm>
            <a:off x="8006072" y="3333684"/>
            <a:ext cx="309253" cy="322146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98" name="文字方塊 97"/>
          <p:cNvSpPr txBox="1"/>
          <p:nvPr/>
        </p:nvSpPr>
        <p:spPr>
          <a:xfrm>
            <a:off x="3009578" y="4003743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∞</a:t>
            </a:r>
          </a:p>
        </p:txBody>
      </p:sp>
      <p:cxnSp>
        <p:nvCxnSpPr>
          <p:cNvPr id="93" name="直線接點 92"/>
          <p:cNvCxnSpPr/>
          <p:nvPr/>
        </p:nvCxnSpPr>
        <p:spPr>
          <a:xfrm>
            <a:off x="8710140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橢圓 98"/>
          <p:cNvSpPr/>
          <p:nvPr/>
        </p:nvSpPr>
        <p:spPr>
          <a:xfrm>
            <a:off x="8695976" y="3320643"/>
            <a:ext cx="309253" cy="322146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100" name="文字方塊 99"/>
          <p:cNvSpPr txBox="1"/>
          <p:nvPr/>
        </p:nvSpPr>
        <p:spPr>
          <a:xfrm>
            <a:off x="3666505" y="277115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7,9,L4</a:t>
            </a:r>
            <a:endParaRPr lang="zh-TW" altLang="en-US" sz="900" dirty="0"/>
          </a:p>
        </p:txBody>
      </p:sp>
    </p:spTree>
    <p:extLst>
      <p:ext uri="{BB962C8B-B14F-4D97-AF65-F5344CB8AC3E}">
        <p14:creationId xmlns:p14="http://schemas.microsoft.com/office/powerpoint/2010/main" val="3801585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HS1</a:t>
            </a:r>
            <a:endParaRPr lang="zh-TW" altLang="en-US" dirty="0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9</a:t>
            </a:r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2857" y="4062061"/>
            <a:ext cx="137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17985" y="441350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7, 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17985" y="465734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2, 5, 8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17982" y="490118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1, 4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17982" y="5141635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07408" y="4347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07408" y="45945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07408" y="484397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07408" y="50798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</a:t>
            </a:r>
            <a:endParaRPr lang="zh-TW" altLang="en-US" dirty="0"/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7</a:t>
            </a:r>
          </a:p>
          <a:p>
            <a:r>
              <a:rPr lang="en-US" altLang="zh-TW" dirty="0" smtClean="0"/>
              <a:t>j = 9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396772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7,6,L2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072051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8" name="直線單箭頭接點 77"/>
          <p:cNvCxnSpPr/>
          <p:nvPr/>
        </p:nvCxnSpPr>
        <p:spPr>
          <a:xfrm flipH="1" flipV="1">
            <a:off x="6838952" y="889000"/>
            <a:ext cx="533395" cy="41275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/>
          <p:nvPr/>
        </p:nvCxnSpPr>
        <p:spPr>
          <a:xfrm flipH="1" flipV="1">
            <a:off x="7607301" y="1460500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H="1" flipV="1">
            <a:off x="6838952" y="889000"/>
            <a:ext cx="317495" cy="7112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 flipH="1" flipV="1">
            <a:off x="7390758" y="1810388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/>
          <p:nvPr/>
        </p:nvCxnSpPr>
        <p:spPr>
          <a:xfrm flipH="1" flipV="1">
            <a:off x="6851656" y="921534"/>
            <a:ext cx="139691" cy="98261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/>
          <p:nvPr/>
        </p:nvCxnSpPr>
        <p:spPr>
          <a:xfrm flipH="1" flipV="1">
            <a:off x="7816847" y="2198154"/>
            <a:ext cx="101603" cy="343879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/>
          <p:nvPr/>
        </p:nvCxnSpPr>
        <p:spPr>
          <a:xfrm flipH="1" flipV="1">
            <a:off x="7105646" y="2195106"/>
            <a:ext cx="143486" cy="39432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/>
          <p:nvPr/>
        </p:nvCxnSpPr>
        <p:spPr>
          <a:xfrm flipH="1" flipV="1">
            <a:off x="8102600" y="2833031"/>
            <a:ext cx="425450" cy="150044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 flipH="1" flipV="1">
            <a:off x="2826276" y="3165508"/>
            <a:ext cx="162570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2854241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c b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7671229" y="4050748"/>
            <a:ext cx="1828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(Active</a:t>
            </a:r>
            <a:r>
              <a:rPr lang="en-US" altLang="zh-TW" dirty="0" smtClean="0"/>
              <a:t> list</a:t>
            </a:r>
            <a:r>
              <a:rPr lang="en-US" altLang="zh-TW" dirty="0" smtClean="0"/>
              <a:t>)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6277618" y="322728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  7</a:t>
            </a:r>
            <a:endParaRPr lang="zh-TW" altLang="en-US" dirty="0"/>
          </a:p>
        </p:txBody>
      </p:sp>
      <p:pic>
        <p:nvPicPr>
          <p:cNvPr id="89" name="圖片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73" y="3392644"/>
            <a:ext cx="3463110" cy="2864894"/>
          </a:xfrm>
          <a:prstGeom prst="rect">
            <a:avLst/>
          </a:prstGeom>
        </p:spPr>
      </p:pic>
      <p:sp>
        <p:nvSpPr>
          <p:cNvPr id="90" name="弧形 89"/>
          <p:cNvSpPr/>
          <p:nvPr/>
        </p:nvSpPr>
        <p:spPr>
          <a:xfrm>
            <a:off x="1492903" y="3430153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2361957" y="338296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63" name="波浪 62"/>
          <p:cNvSpPr/>
          <p:nvPr/>
        </p:nvSpPr>
        <p:spPr>
          <a:xfrm>
            <a:off x="4836672" y="3594775"/>
            <a:ext cx="988395" cy="531486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False</a:t>
            </a:r>
            <a:endParaRPr lang="zh-TW" altLang="en-US" dirty="0"/>
          </a:p>
        </p:txBody>
      </p:sp>
      <p:sp>
        <p:nvSpPr>
          <p:cNvPr id="91" name="向右箭號 90"/>
          <p:cNvSpPr/>
          <p:nvPr/>
        </p:nvSpPr>
        <p:spPr>
          <a:xfrm>
            <a:off x="955980" y="5406762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弧形 91"/>
          <p:cNvSpPr/>
          <p:nvPr/>
        </p:nvSpPr>
        <p:spPr>
          <a:xfrm>
            <a:off x="2146927" y="4045216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/>
          <p:cNvSpPr/>
          <p:nvPr/>
        </p:nvSpPr>
        <p:spPr>
          <a:xfrm>
            <a:off x="7369683" y="3314639"/>
            <a:ext cx="309253" cy="322146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94" name="直線單箭頭接點 93"/>
          <p:cNvCxnSpPr/>
          <p:nvPr/>
        </p:nvCxnSpPr>
        <p:spPr>
          <a:xfrm flipH="1" flipV="1">
            <a:off x="7385576" y="2835800"/>
            <a:ext cx="75671" cy="46239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弧形 94"/>
          <p:cNvSpPr/>
          <p:nvPr/>
        </p:nvSpPr>
        <p:spPr>
          <a:xfrm>
            <a:off x="2024891" y="4780754"/>
            <a:ext cx="3911682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文字方塊 95"/>
          <p:cNvSpPr txBox="1"/>
          <p:nvPr/>
        </p:nvSpPr>
        <p:spPr>
          <a:xfrm>
            <a:off x="4452521" y="4566774"/>
            <a:ext cx="1362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symb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bt</a:t>
            </a:r>
            <a:r>
              <a:rPr lang="en-US" altLang="zh-TW" dirty="0" smtClean="0"/>
              <a:t>) =</a:t>
            </a:r>
            <a:r>
              <a:rPr lang="el-GR" altLang="zh-TW" dirty="0"/>
              <a:t>Λ</a:t>
            </a:r>
            <a:endParaRPr lang="zh-TW" altLang="en-US" dirty="0"/>
          </a:p>
        </p:txBody>
      </p:sp>
      <p:sp>
        <p:nvSpPr>
          <p:cNvPr id="97" name="橢圓 96"/>
          <p:cNvSpPr/>
          <p:nvPr/>
        </p:nvSpPr>
        <p:spPr>
          <a:xfrm>
            <a:off x="8006072" y="3333684"/>
            <a:ext cx="309253" cy="322146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98" name="文字方塊 97"/>
          <p:cNvSpPr txBox="1"/>
          <p:nvPr/>
        </p:nvSpPr>
        <p:spPr>
          <a:xfrm>
            <a:off x="3009578" y="4003743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∞</a:t>
            </a:r>
          </a:p>
        </p:txBody>
      </p:sp>
      <p:cxnSp>
        <p:nvCxnSpPr>
          <p:cNvPr id="93" name="直線接點 92"/>
          <p:cNvCxnSpPr/>
          <p:nvPr/>
        </p:nvCxnSpPr>
        <p:spPr>
          <a:xfrm>
            <a:off x="8710140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橢圓 98"/>
          <p:cNvSpPr/>
          <p:nvPr/>
        </p:nvSpPr>
        <p:spPr>
          <a:xfrm>
            <a:off x="8695976" y="3320643"/>
            <a:ext cx="309253" cy="322146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100" name="文字方塊 99"/>
          <p:cNvSpPr txBox="1"/>
          <p:nvPr/>
        </p:nvSpPr>
        <p:spPr>
          <a:xfrm>
            <a:off x="3666505" y="277115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7,9,L4</a:t>
            </a:r>
            <a:endParaRPr lang="zh-TW" altLang="en-US" sz="900" dirty="0"/>
          </a:p>
        </p:txBody>
      </p:sp>
      <p:sp>
        <p:nvSpPr>
          <p:cNvPr id="101" name="矩形 100"/>
          <p:cNvSpPr/>
          <p:nvPr/>
        </p:nvSpPr>
        <p:spPr>
          <a:xfrm>
            <a:off x="6417982" y="5404919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 smtClean="0"/>
              <a:t>∞</a:t>
            </a:r>
          </a:p>
        </p:txBody>
      </p:sp>
      <p:sp>
        <p:nvSpPr>
          <p:cNvPr id="41" name="矩形 40"/>
          <p:cNvSpPr/>
          <p:nvPr/>
        </p:nvSpPr>
        <p:spPr>
          <a:xfrm>
            <a:off x="6094005" y="5335227"/>
            <a:ext cx="3161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TW" dirty="0" smtClean="0"/>
              <a:t>Λ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03319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HS1</a:t>
            </a:r>
            <a:endParaRPr lang="zh-TW" altLang="en-US" dirty="0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9</a:t>
            </a:r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2857" y="4062061"/>
            <a:ext cx="137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17985" y="441350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7, 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17985" y="465734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2, 5, 8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17982" y="490118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1, 4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17982" y="5141635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07408" y="4347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07408" y="45945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07408" y="484397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07408" y="50798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</a:t>
            </a:r>
            <a:endParaRPr lang="zh-TW" altLang="en-US" dirty="0"/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6575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7</a:t>
            </a:r>
          </a:p>
          <a:p>
            <a:r>
              <a:rPr lang="en-US" altLang="zh-TW" dirty="0" smtClean="0"/>
              <a:t>j = </a:t>
            </a:r>
            <a:r>
              <a:rPr lang="zh-TW" altLang="en-US" dirty="0" smtClean="0"/>
              <a:t>∞</a:t>
            </a:r>
            <a:endParaRPr lang="zh-TW" altLang="en-US" dirty="0" smtClean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396772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7,6,L2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072051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8" name="直線單箭頭接點 77"/>
          <p:cNvCxnSpPr/>
          <p:nvPr/>
        </p:nvCxnSpPr>
        <p:spPr>
          <a:xfrm flipH="1" flipV="1">
            <a:off x="6838952" y="889000"/>
            <a:ext cx="533395" cy="41275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/>
          <p:nvPr/>
        </p:nvCxnSpPr>
        <p:spPr>
          <a:xfrm flipH="1" flipV="1">
            <a:off x="7607301" y="1460500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H="1" flipV="1">
            <a:off x="6838952" y="889000"/>
            <a:ext cx="317495" cy="7112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 flipH="1" flipV="1">
            <a:off x="7390758" y="1810388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/>
          <p:nvPr/>
        </p:nvCxnSpPr>
        <p:spPr>
          <a:xfrm flipH="1" flipV="1">
            <a:off x="6851656" y="921534"/>
            <a:ext cx="139691" cy="98261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/>
          <p:nvPr/>
        </p:nvCxnSpPr>
        <p:spPr>
          <a:xfrm flipH="1" flipV="1">
            <a:off x="7816847" y="2198154"/>
            <a:ext cx="101603" cy="343879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/>
          <p:nvPr/>
        </p:nvCxnSpPr>
        <p:spPr>
          <a:xfrm flipH="1" flipV="1">
            <a:off x="7105646" y="2195106"/>
            <a:ext cx="143486" cy="39432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/>
          <p:nvPr/>
        </p:nvCxnSpPr>
        <p:spPr>
          <a:xfrm flipH="1" flipV="1">
            <a:off x="8102600" y="2833031"/>
            <a:ext cx="425450" cy="150044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 flipH="1" flipV="1">
            <a:off x="2826276" y="3165508"/>
            <a:ext cx="162570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2854241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c b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7671229" y="4050748"/>
            <a:ext cx="1828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(Active</a:t>
            </a:r>
            <a:r>
              <a:rPr lang="en-US" altLang="zh-TW" dirty="0" smtClean="0"/>
              <a:t> list</a:t>
            </a:r>
            <a:r>
              <a:rPr lang="en-US" altLang="zh-TW" dirty="0" smtClean="0"/>
              <a:t>)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6277618" y="322728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  7</a:t>
            </a:r>
            <a:endParaRPr lang="zh-TW" altLang="en-US" dirty="0"/>
          </a:p>
        </p:txBody>
      </p:sp>
      <p:pic>
        <p:nvPicPr>
          <p:cNvPr id="89" name="圖片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73" y="3392644"/>
            <a:ext cx="3463110" cy="2864894"/>
          </a:xfrm>
          <a:prstGeom prst="rect">
            <a:avLst/>
          </a:prstGeom>
        </p:spPr>
      </p:pic>
      <p:sp>
        <p:nvSpPr>
          <p:cNvPr id="90" name="弧形 89"/>
          <p:cNvSpPr/>
          <p:nvPr/>
        </p:nvSpPr>
        <p:spPr>
          <a:xfrm>
            <a:off x="1492903" y="3430153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2361957" y="338296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63" name="波浪 62"/>
          <p:cNvSpPr/>
          <p:nvPr/>
        </p:nvSpPr>
        <p:spPr>
          <a:xfrm>
            <a:off x="4836672" y="3594775"/>
            <a:ext cx="988395" cy="531486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False</a:t>
            </a:r>
            <a:endParaRPr lang="zh-TW" altLang="en-US" dirty="0"/>
          </a:p>
        </p:txBody>
      </p:sp>
      <p:sp>
        <p:nvSpPr>
          <p:cNvPr id="91" name="向右箭號 90"/>
          <p:cNvSpPr/>
          <p:nvPr/>
        </p:nvSpPr>
        <p:spPr>
          <a:xfrm>
            <a:off x="969871" y="5761722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弧形 91"/>
          <p:cNvSpPr/>
          <p:nvPr/>
        </p:nvSpPr>
        <p:spPr>
          <a:xfrm>
            <a:off x="2146927" y="4045216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/>
          <p:cNvSpPr/>
          <p:nvPr/>
        </p:nvSpPr>
        <p:spPr>
          <a:xfrm>
            <a:off x="7369683" y="3314639"/>
            <a:ext cx="309253" cy="322146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94" name="直線單箭頭接點 93"/>
          <p:cNvCxnSpPr/>
          <p:nvPr/>
        </p:nvCxnSpPr>
        <p:spPr>
          <a:xfrm flipH="1" flipV="1">
            <a:off x="7385576" y="2835800"/>
            <a:ext cx="75671" cy="46239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弧形 94"/>
          <p:cNvSpPr/>
          <p:nvPr/>
        </p:nvSpPr>
        <p:spPr>
          <a:xfrm>
            <a:off x="2024891" y="4780754"/>
            <a:ext cx="3911682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文字方塊 95"/>
          <p:cNvSpPr txBox="1"/>
          <p:nvPr/>
        </p:nvSpPr>
        <p:spPr>
          <a:xfrm>
            <a:off x="4452521" y="4566774"/>
            <a:ext cx="1362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symb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bt</a:t>
            </a:r>
            <a:r>
              <a:rPr lang="en-US" altLang="zh-TW" dirty="0" smtClean="0"/>
              <a:t>) =</a:t>
            </a:r>
            <a:r>
              <a:rPr lang="el-GR" altLang="zh-TW" dirty="0"/>
              <a:t>Λ</a:t>
            </a:r>
            <a:endParaRPr lang="zh-TW" altLang="en-US" dirty="0"/>
          </a:p>
        </p:txBody>
      </p:sp>
      <p:sp>
        <p:nvSpPr>
          <p:cNvPr id="97" name="橢圓 96"/>
          <p:cNvSpPr/>
          <p:nvPr/>
        </p:nvSpPr>
        <p:spPr>
          <a:xfrm>
            <a:off x="8006072" y="3333684"/>
            <a:ext cx="309253" cy="322146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98" name="文字方塊 97"/>
          <p:cNvSpPr txBox="1"/>
          <p:nvPr/>
        </p:nvSpPr>
        <p:spPr>
          <a:xfrm>
            <a:off x="3009578" y="4003743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∞</a:t>
            </a:r>
          </a:p>
        </p:txBody>
      </p:sp>
      <p:cxnSp>
        <p:nvCxnSpPr>
          <p:cNvPr id="93" name="直線接點 92"/>
          <p:cNvCxnSpPr/>
          <p:nvPr/>
        </p:nvCxnSpPr>
        <p:spPr>
          <a:xfrm>
            <a:off x="8710140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橢圓 98"/>
          <p:cNvSpPr/>
          <p:nvPr/>
        </p:nvSpPr>
        <p:spPr>
          <a:xfrm>
            <a:off x="8695976" y="3320643"/>
            <a:ext cx="309253" cy="322146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100" name="文字方塊 99"/>
          <p:cNvSpPr txBox="1"/>
          <p:nvPr/>
        </p:nvSpPr>
        <p:spPr>
          <a:xfrm>
            <a:off x="3666505" y="277115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7,9,L4</a:t>
            </a:r>
            <a:endParaRPr lang="zh-TW" altLang="en-US" sz="900" dirty="0"/>
          </a:p>
        </p:txBody>
      </p:sp>
      <p:sp>
        <p:nvSpPr>
          <p:cNvPr id="101" name="矩形 100"/>
          <p:cNvSpPr/>
          <p:nvPr/>
        </p:nvSpPr>
        <p:spPr>
          <a:xfrm>
            <a:off x="6417982" y="5404919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 smtClean="0"/>
              <a:t>∞</a:t>
            </a:r>
          </a:p>
        </p:txBody>
      </p:sp>
      <p:sp>
        <p:nvSpPr>
          <p:cNvPr id="41" name="矩形 40"/>
          <p:cNvSpPr/>
          <p:nvPr/>
        </p:nvSpPr>
        <p:spPr>
          <a:xfrm>
            <a:off x="6094005" y="5335227"/>
            <a:ext cx="3161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TW" dirty="0" smtClean="0"/>
              <a:t>Λ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3442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Worst Case (HS1)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O(m log n + d log(</a:t>
            </a:r>
            <a:r>
              <a:rPr lang="en-US" altLang="zh-TW" dirty="0" err="1" smtClean="0"/>
              <a:t>mn</a:t>
            </a:r>
            <a:r>
              <a:rPr lang="en-US" altLang="zh-TW" dirty="0" smtClean="0"/>
              <a:t>/d))</a:t>
            </a:r>
          </a:p>
          <a:p>
            <a:r>
              <a:rPr lang="en-US" altLang="zh-TW" dirty="0"/>
              <a:t>d</a:t>
            </a:r>
            <a:r>
              <a:rPr lang="en-US" altLang="zh-TW" dirty="0" smtClean="0"/>
              <a:t>:</a:t>
            </a:r>
          </a:p>
          <a:p>
            <a:r>
              <a:rPr lang="en-US" altLang="zh-TW" dirty="0"/>
              <a:t>(</a:t>
            </a:r>
            <a:r>
              <a:rPr lang="en-US" altLang="zh-TW" dirty="0" err="1"/>
              <a:t>i</a:t>
            </a:r>
            <a:r>
              <a:rPr lang="en-US" altLang="zh-TW" dirty="0"/>
              <a:t>) the </a:t>
            </a:r>
            <a:r>
              <a:rPr lang="en-US" altLang="zh-TW" dirty="0" smtClean="0"/>
              <a:t>number </a:t>
            </a:r>
            <a:r>
              <a:rPr lang="en-US" altLang="zh-TW" dirty="0"/>
              <a:t>of times that FLAG was true equals the </a:t>
            </a:r>
          </a:p>
          <a:p>
            <a:r>
              <a:rPr lang="en-US" altLang="zh-TW" dirty="0"/>
              <a:t>number of dominant matches detected so far, </a:t>
            </a:r>
            <a:endParaRPr lang="en-US" altLang="zh-TW" dirty="0" smtClean="0"/>
          </a:p>
          <a:p>
            <a:r>
              <a:rPr lang="en-US" altLang="zh-TW" dirty="0" smtClean="0"/>
              <a:t>(</a:t>
            </a:r>
            <a:r>
              <a:rPr lang="en-US" altLang="zh-TW" dirty="0"/>
              <a:t>ii) j </a:t>
            </a:r>
            <a:r>
              <a:rPr lang="en-US" altLang="zh-TW" dirty="0" smtClean="0"/>
              <a:t>identifies </a:t>
            </a:r>
            <a:r>
              <a:rPr lang="en-US" altLang="zh-TW" dirty="0"/>
              <a:t>the last dominant match detected, and </a:t>
            </a:r>
          </a:p>
          <a:p>
            <a:r>
              <a:rPr lang="en-US" altLang="zh-TW" dirty="0"/>
              <a:t>(iii) j is the only such match which has not been </a:t>
            </a:r>
            <a:r>
              <a:rPr lang="en-US" altLang="zh-TW" dirty="0" smtClean="0"/>
              <a:t>recorded </a:t>
            </a:r>
            <a:r>
              <a:rPr lang="en-US" altLang="zh-TW" dirty="0"/>
              <a:t>yet.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31073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回顧">
  <a:themeElements>
    <a:clrScheme name="回顧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1948</TotalTime>
  <Words>4649</Words>
  <Application>Microsoft Office PowerPoint</Application>
  <PresentationFormat>如螢幕大小 (4:3)</PresentationFormat>
  <Paragraphs>2869</Paragraphs>
  <Slides>65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65</vt:i4>
      </vt:variant>
    </vt:vector>
  </HeadingPairs>
  <TitlesOfParts>
    <vt:vector size="69" baseType="lpstr">
      <vt:lpstr>新細明體</vt:lpstr>
      <vt:lpstr>Calibri</vt:lpstr>
      <vt:lpstr>Calibri Light</vt:lpstr>
      <vt:lpstr>回顧</vt:lpstr>
      <vt:lpstr>IMPROVING THE WORST-CASE PERFORMANCE OF THE HUNT-SZYMANSKI STRATEGY FOR THE LOGEST COMMON SUBSEQUENCE OF TWO STRINGS</vt:lpstr>
      <vt:lpstr>ABSTRUCT</vt:lpstr>
      <vt:lpstr>LCS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Worse Case</vt:lpstr>
      <vt:lpstr>Algorithm HS1</vt:lpstr>
      <vt:lpstr>Algorithm HS1</vt:lpstr>
      <vt:lpstr>Algorithm HS1</vt:lpstr>
      <vt:lpstr>Algorithm HS1</vt:lpstr>
      <vt:lpstr>Algorithm HS1</vt:lpstr>
      <vt:lpstr>Algorithm HS1</vt:lpstr>
      <vt:lpstr>Algorithm HS1</vt:lpstr>
      <vt:lpstr>Algorithm HS1</vt:lpstr>
      <vt:lpstr>Algorithm HS1</vt:lpstr>
      <vt:lpstr>Algorithm HS1</vt:lpstr>
      <vt:lpstr>Algorithm HS1</vt:lpstr>
      <vt:lpstr>Algorithm HS1</vt:lpstr>
      <vt:lpstr>Algorithm HS1</vt:lpstr>
      <vt:lpstr>Algorithm HS1</vt:lpstr>
      <vt:lpstr>Algorithm HS1</vt:lpstr>
      <vt:lpstr>Algorithm HS1</vt:lpstr>
      <vt:lpstr>Algorithm HS1</vt:lpstr>
      <vt:lpstr>Algorithm HS1</vt:lpstr>
      <vt:lpstr>Algorithm HS1</vt:lpstr>
      <vt:lpstr>Algorithm HS1</vt:lpstr>
      <vt:lpstr>Algorithm HS1</vt:lpstr>
      <vt:lpstr>Worst Case (HS1)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IMPROVING THE WORST-CASE PERFORMANCE OF THE HUNT-SZYMANSKI STRATEGY FOR THE LOGEST COMMON SUBSEQUENCE OF TWO STRINGS</dc:title>
  <dc:creator>Pichu</dc:creator>
  <cp:lastModifiedBy>Pichu</cp:lastModifiedBy>
  <cp:revision>29</cp:revision>
  <dcterms:created xsi:type="dcterms:W3CDTF">2014-03-03T02:27:23Z</dcterms:created>
  <dcterms:modified xsi:type="dcterms:W3CDTF">2014-03-04T10:55:46Z</dcterms:modified>
</cp:coreProperties>
</file>