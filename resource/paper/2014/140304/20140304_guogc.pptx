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-1440" y="-9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E849-A6E3-4997-ACC1-22F3BB492578}" type="datetimeFigureOut">
              <a:rPr lang="zh-TW" altLang="en-US" smtClean="0"/>
              <a:t>2014/3/11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 smtClean="0"/>
              <a:t>A Longest Common Subsequence Algorithm Suitable for Similar Text Strings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886200"/>
            <a:ext cx="7992888" cy="1752600"/>
          </a:xfrm>
        </p:spPr>
        <p:txBody>
          <a:bodyPr>
            <a:normAutofit/>
          </a:bodyPr>
          <a:lstStyle/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Author</a:t>
            </a:r>
            <a:r>
              <a:rPr lang="zh-TW" altLang="en-US" sz="2800" dirty="0" smtClean="0">
                <a:solidFill>
                  <a:schemeClr val="tx1"/>
                </a:solidFill>
              </a:rPr>
              <a:t>：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Narao</a:t>
            </a:r>
            <a:r>
              <a:rPr lang="en-US" altLang="zh-TW" sz="2800" dirty="0" smtClean="0">
                <a:solidFill>
                  <a:schemeClr val="tx1"/>
                </a:solidFill>
              </a:rPr>
              <a:t>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Nakatsu</a:t>
            </a:r>
            <a:r>
              <a:rPr lang="en-US" altLang="zh-TW" sz="2800" dirty="0" smtClean="0">
                <a:solidFill>
                  <a:schemeClr val="tx1"/>
                </a:solidFill>
              </a:rPr>
              <a:t>,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Yahiko</a:t>
            </a:r>
            <a:r>
              <a:rPr lang="en-US" altLang="zh-TW" sz="2800" dirty="0" smtClean="0">
                <a:solidFill>
                  <a:schemeClr val="tx1"/>
                </a:solidFill>
              </a:rPr>
              <a:t>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Kambayashi</a:t>
            </a:r>
            <a:r>
              <a:rPr lang="en-US" altLang="zh-TW" sz="2800" dirty="0" smtClean="0">
                <a:solidFill>
                  <a:schemeClr val="tx1"/>
                </a:solidFill>
              </a:rPr>
              <a:t> and Shuzo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Yajima</a:t>
            </a:r>
            <a:r>
              <a:rPr lang="en-US" altLang="zh-TW" sz="2800" dirty="0" smtClean="0">
                <a:solidFill>
                  <a:schemeClr val="tx1"/>
                </a:solidFill>
              </a:rPr>
              <a:t/>
            </a:r>
            <a:br>
              <a:rPr lang="en-US" altLang="zh-TW" sz="2800" dirty="0" smtClean="0">
                <a:solidFill>
                  <a:schemeClr val="tx1"/>
                </a:solidFill>
              </a:rPr>
            </a:br>
            <a:r>
              <a:rPr lang="en-US" altLang="zh-TW" sz="2800" dirty="0" smtClean="0">
                <a:solidFill>
                  <a:schemeClr val="tx1"/>
                </a:solidFill>
              </a:rPr>
              <a:t>Source</a:t>
            </a:r>
            <a:r>
              <a:rPr lang="zh-TW" altLang="en-US" sz="2800" dirty="0" smtClean="0">
                <a:solidFill>
                  <a:schemeClr val="tx1"/>
                </a:solidFill>
              </a:rPr>
              <a:t>：</a:t>
            </a:r>
            <a:r>
              <a:rPr lang="pt-BR" altLang="zh-TW" sz="2800" dirty="0" smtClean="0">
                <a:solidFill>
                  <a:schemeClr val="tx1"/>
                </a:solidFill>
              </a:rPr>
              <a:t>Acta Informatica 18, 1982  PP.171 - 179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80112" y="558924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2014/3/4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600" dirty="0" smtClean="0"/>
              <a:t>Efficient algorithms for computing the longest common subsequence (LCS for short) are discussed. O(p n) algorithm and O(p(m -p) log n) algorithm [Hirschberg 1977] seem to be best among previously known algorithms, where p is the length of an LCS and m and n are the lengths of given two strings (m &lt; n). There are many applications where the expected length of an LCS is close to m.</a:t>
            </a:r>
          </a:p>
          <a:p>
            <a:pPr marL="0" indent="0">
              <a:buNone/>
            </a:pPr>
            <a:endParaRPr lang="en-US" altLang="zh-TW" sz="2600" dirty="0" smtClean="0"/>
          </a:p>
          <a:p>
            <a:pPr marL="0" indent="0">
              <a:buNone/>
            </a:pPr>
            <a:r>
              <a:rPr lang="en-US" altLang="zh-TW" sz="2600" dirty="0" smtClean="0"/>
              <a:t>In this paper, O(n(m-p)) algorithm is presented. When p is close to m (in other words, two given strings are similar), the algorithm presented here runs much faster than previously known algorithms.</a:t>
            </a:r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String A = A(1)A(2)…A(m) </a:t>
            </a:r>
            <a:br>
              <a:rPr lang="en-US" altLang="zh-TW" dirty="0" smtClean="0"/>
            </a:br>
            <a:r>
              <a:rPr lang="en-US" altLang="zh-TW" dirty="0" smtClean="0"/>
              <a:t>String B = B(1)B(2)…B(n)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m and n denote the lengths of string a and b.</a:t>
            </a:r>
          </a:p>
          <a:p>
            <a:pPr marL="0" indent="0">
              <a:buNone/>
            </a:pPr>
            <a:r>
              <a:rPr lang="en-US" altLang="zh-TW" dirty="0" smtClean="0"/>
              <a:t>Assumed m ≤ n.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6457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Definition(2/2)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(j) denotes the largest h such that A(i)A(i+1)…A(m) and B(h)B(h+1)…B(n) have an LCS of length j.</a:t>
                </a:r>
              </a:p>
              <a:p>
                <a:r>
                  <a:rPr lang="en-US" altLang="zh-TW" dirty="0" smtClean="0"/>
                  <a:t>Example: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      1234567         123456789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A = </a:t>
                </a:r>
                <a:r>
                  <a:rPr lang="en-US" altLang="zh-TW" dirty="0" err="1" smtClean="0"/>
                  <a:t>bcdabab</a:t>
                </a:r>
                <a:r>
                  <a:rPr lang="en-US" altLang="zh-TW" dirty="0" smtClean="0"/>
                  <a:t>, B = </a:t>
                </a:r>
                <a:r>
                  <a:rPr lang="en-US" altLang="zh-TW" dirty="0" err="1" smtClean="0"/>
                  <a:t>cbacbaaba</a:t>
                </a:r>
                <a:r>
                  <a:rPr lang="en-US" altLang="zh-TW" dirty="0"/>
                  <a:t/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dirty="0" smtClean="0"/>
                  <a:t>(1) = 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dirty="0" smtClean="0"/>
                  <a:t>(1) = 9,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dirty="0" smtClean="0"/>
                  <a:t>(</a:t>
                </a:r>
                <a:r>
                  <a:rPr lang="en-US" altLang="zh-TW" dirty="0"/>
                  <a:t>2</a:t>
                </a:r>
                <a:r>
                  <a:rPr lang="en-US" altLang="zh-TW" dirty="0" smtClean="0"/>
                  <a:t>) = 7, </a:t>
                </a:r>
                <a:r>
                  <a:rPr lang="en-US" altLang="zh-TW" i="1" dirty="0" smtClean="0">
                    <a:latin typeface="Cambria Math"/>
                  </a:rPr>
                  <a:t/>
                </a:r>
                <a:br>
                  <a:rPr lang="en-US" altLang="zh-TW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 smtClean="0"/>
                  <a:t>(5) = undefined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1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50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795320" cy="5141168"/>
              </a:xfrm>
            </p:spPr>
            <p:txBody>
              <a:bodyPr/>
              <a:lstStyle/>
              <a:p>
                <a:r>
                  <a:rPr lang="en-US" altLang="zh-TW" dirty="0" smtClean="0"/>
                  <a:t>Lemma1: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(1) &gt;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(2)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&gt;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… </a:t>
                </a:r>
              </a:p>
              <a:p>
                <a:r>
                  <a:rPr lang="en-US" altLang="zh-TW" dirty="0" smtClean="0"/>
                  <a:t>Lemma2: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zh-TW" alt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∊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1,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US" altLang="zh-TW" b="0" i="1" dirty="0" smtClean="0">
                    <a:latin typeface="Cambria Math"/>
                    <a:ea typeface="Cambria Math"/>
                  </a:rPr>
                  <a:t/>
                </a:r>
                <a:br>
                  <a:rPr lang="en-US" altLang="zh-TW" b="0" i="1" dirty="0" smtClean="0">
                    <a:latin typeface="Cambria Math"/>
                    <a:ea typeface="Cambria Math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</a:rPr>
                      <m:t>)≤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𝑗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Lemma3: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600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sz="2600" b="0" i="1" smtClean="0">
                        <a:latin typeface="Cambria Math"/>
                        <a:ea typeface="Cambria Math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6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Max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h</m:t>
                                </m:r>
                                <m: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60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6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600" b="0" i="1" smtClean="0"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where</m:t>
                            </m:r>
                            <m: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is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the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largest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number</m:t>
                            </m:r>
                          </m:e>
                          <m:e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such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that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A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B</m:t>
                            </m:r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600" b="0" i="0" smtClean="0">
                                    <a:latin typeface="Cambria Math"/>
                                    <a:ea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and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where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sz="26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j</m:t>
                            </m:r>
                            <m:r>
                              <a:rPr lang="en-US" altLang="zh-TW" sz="2600" b="0" i="1" smtClean="0">
                                <a:latin typeface="Cambria Math"/>
                                <a:ea typeface="Cambria Math"/>
                              </a:rPr>
                              <m:t>≥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else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range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n</m:t>
                            </m:r>
                            <m:r>
                              <a:rPr lang="en-US" altLang="zh-TW" sz="2600" b="0" i="0" smtClean="0">
                                <a:latin typeface="Cambria Math"/>
                                <a:ea typeface="Cambria Math"/>
                              </a:rPr>
                              <m:t>+1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6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6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6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sz="2600" b="0" i="0" smtClean="0">
                                <a:latin typeface="Cambria Math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if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no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such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h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600" b="0" i="0" smtClean="0">
                                <a:latin typeface="Cambria Math"/>
                              </a:rPr>
                              <m:t>exists</m:t>
                            </m:r>
                            <m:r>
                              <a:rPr lang="en-US" altLang="zh-TW" sz="2600" b="0" i="0" smtClean="0">
                                <a:latin typeface="Cambria Math"/>
                              </a:rPr>
                              <m:t>.                                      </m:t>
                            </m:r>
                          </m:e>
                        </m:eqArr>
                        <m:r>
                          <a:rPr lang="en-US" altLang="zh-TW" sz="2600" b="0" i="0" smtClean="0">
                            <a:latin typeface="Cambria Math"/>
                            <a:ea typeface="Cambria Math"/>
                          </a:rPr>
                          <m:t>  </m:t>
                        </m:r>
                      </m:e>
                    </m:d>
                  </m:oMath>
                </a14:m>
                <a:endParaRPr lang="en-US" altLang="zh-TW" sz="2600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795320" cy="5141168"/>
              </a:xfrm>
              <a:blipFill rotWithShape="1">
                <a:blip r:embed="rId2"/>
                <a:stretch>
                  <a:fillRect l="-1525" t="-14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2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 </a:t>
            </a:r>
            <a:r>
              <a:rPr lang="zh-TW" altLang="en-US" dirty="0" smtClean="0"/>
              <a:t>      </a:t>
            </a:r>
            <a:r>
              <a:rPr lang="en-US" altLang="zh-TW" dirty="0" smtClean="0"/>
              <a:t>1234567        123456789</a:t>
            </a:r>
            <a:br>
              <a:rPr lang="en-US" altLang="zh-TW" dirty="0" smtClean="0"/>
            </a:br>
            <a:r>
              <a:rPr lang="en-US" altLang="zh-TW" dirty="0" smtClean="0"/>
              <a:t>A = </a:t>
            </a:r>
            <a:r>
              <a:rPr lang="en-US" altLang="zh-TW" dirty="0" err="1" smtClean="0"/>
              <a:t>bcdabab</a:t>
            </a:r>
            <a:r>
              <a:rPr lang="en-US" altLang="zh-TW" dirty="0" smtClean="0"/>
              <a:t>, B = </a:t>
            </a:r>
            <a:r>
              <a:rPr lang="en-US" altLang="zh-TW" dirty="0" err="1" smtClean="0"/>
              <a:t>cbacbaaba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92469"/>
              </p:ext>
            </p:extLst>
          </p:nvPr>
        </p:nvGraphicFramePr>
        <p:xfrm>
          <a:off x="1828798" y="2348880"/>
          <a:ext cx="5486404" cy="3708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3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22114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712"/>
                <a:ext cx="8229600" cy="500141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      </a:t>
                </a:r>
                <a:r>
                  <a:rPr lang="en-US" altLang="zh-TW" dirty="0" smtClean="0"/>
                  <a:t>1234567        123456789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A = </a:t>
                </a:r>
                <a:r>
                  <a:rPr lang="en-US" altLang="zh-TW" dirty="0" err="1" smtClean="0"/>
                  <a:t>bcdabab</a:t>
                </a:r>
                <a:r>
                  <a:rPr lang="en-US" altLang="zh-TW" dirty="0" smtClean="0"/>
                  <a:t>, B = </a:t>
                </a:r>
                <a:r>
                  <a:rPr lang="en-US" altLang="zh-TW" dirty="0" err="1" smtClean="0"/>
                  <a:t>cbacbaaba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sz="3000" dirty="0" smtClean="0"/>
                  <a:t>Begin scan from last position of B 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compute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…</m:t>
                    </m:r>
                    <m:r>
                      <a:rPr lang="en-US" altLang="zh-TW" b="0" i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5</m:t>
                        </m:r>
                      </m:e>
                    </m:d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 err="1" smtClean="0"/>
                  <a:t>undifined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712"/>
                <a:ext cx="8229600" cy="5001419"/>
              </a:xfrm>
              <a:blipFill rotWithShape="1">
                <a:blip r:embed="rId2"/>
                <a:stretch>
                  <a:fillRect l="-1852" t="-1583" r="-1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015500"/>
              </p:ext>
            </p:extLst>
          </p:nvPr>
        </p:nvGraphicFramePr>
        <p:xfrm>
          <a:off x="1828798" y="2924944"/>
          <a:ext cx="5486404" cy="3708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657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229600" cy="485740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      </a:t>
                </a:r>
                <a:r>
                  <a:rPr lang="en-US" altLang="zh-TW" dirty="0" smtClean="0"/>
                  <a:t>1234567        123456789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A = </a:t>
                </a:r>
                <a:r>
                  <a:rPr lang="en-US" altLang="zh-TW" dirty="0" err="1" smtClean="0"/>
                  <a:t>bcdabab</a:t>
                </a:r>
                <a:r>
                  <a:rPr lang="en-US" altLang="zh-TW" dirty="0" smtClean="0"/>
                  <a:t>, B = </a:t>
                </a:r>
                <a:r>
                  <a:rPr lang="en-US" altLang="zh-TW" dirty="0" err="1" smtClean="0"/>
                  <a:t>cbacbaaba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sz="3000" dirty="0" smtClean="0"/>
                  <a:t>Start computation again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…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229600" cy="4857403"/>
              </a:xfrm>
              <a:blipFill rotWithShape="1">
                <a:blip r:embed="rId2"/>
                <a:stretch>
                  <a:fillRect l="-1852" t="-16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416023"/>
              </p:ext>
            </p:extLst>
          </p:nvPr>
        </p:nvGraphicFramePr>
        <p:xfrm>
          <a:off x="1828798" y="2852936"/>
          <a:ext cx="5486404" cy="3708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002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000298"/>
                <a:ext cx="8229600" cy="4857403"/>
              </a:xfrm>
              <a:noFill/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      </a:t>
                </a:r>
                <a:r>
                  <a:rPr lang="en-US" altLang="zh-TW" dirty="0" smtClean="0"/>
                  <a:t>1234567        123456789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A = </a:t>
                </a:r>
                <a:r>
                  <a:rPr lang="en-US" altLang="zh-TW" dirty="0" err="1" smtClean="0"/>
                  <a:t>bcdabab</a:t>
                </a:r>
                <a:r>
                  <a:rPr lang="en-US" altLang="zh-TW" dirty="0" smtClean="0"/>
                  <a:t>, B = </a:t>
                </a:r>
                <a:r>
                  <a:rPr lang="en-US" altLang="zh-TW" dirty="0" err="1" smtClean="0"/>
                  <a:t>cbacbaaba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altLang="zh-TW" sz="2800" i="1">
                        <a:solidFill>
                          <a:prstClr val="black"/>
                        </a:solidFill>
                        <a:latin typeface="Cambria Math"/>
                      </a:rPr>
                      <m:t>(1)</m:t>
                    </m:r>
                  </m:oMath>
                </a14:m>
                <a:r>
                  <a:rPr lang="en-US" altLang="zh-TW" sz="2800" dirty="0" smtClean="0">
                    <a:solidFill>
                      <a:prstClr val="black"/>
                    </a:solidFill>
                  </a:rPr>
                  <a:t>=8,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6</m:t>
                        </m:r>
                      </m:sub>
                    </m:sSub>
                    <m:d>
                      <m:dPr>
                        <m:ctrlP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=7,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(3)</m:t>
                    </m:r>
                  </m:oMath>
                </a14:m>
                <a:r>
                  <a:rPr lang="en-US" altLang="zh-TW" sz="2800" dirty="0" smtClean="0"/>
                  <a:t>=5,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4</m:t>
                        </m:r>
                      </m:e>
                    </m:d>
                  </m:oMath>
                </a14:m>
                <a:r>
                  <a:rPr lang="en-US" altLang="zh-TW" sz="2800" dirty="0" smtClean="0"/>
                  <a:t>=3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(5)</m:t>
                    </m:r>
                  </m:oMath>
                </a14:m>
                <a:r>
                  <a:rPr lang="en-US" altLang="zh-TW" sz="2800" dirty="0" smtClean="0"/>
                  <a:t>=1 show the common subsequence: </a:t>
                </a:r>
              </a:p>
              <a:p>
                <a:pPr marL="0" indent="0">
                  <a:buNone/>
                </a:pPr>
                <a:r>
                  <a:rPr lang="en-US" altLang="zh-TW" sz="2800" dirty="0" smtClean="0"/>
                  <a:t>B(1)B(3)B(5)B(7)B(8) </a:t>
                </a:r>
              </a:p>
              <a:p>
                <a:pPr marL="0" indent="0">
                  <a:buNone/>
                </a:pPr>
                <a:r>
                  <a:rPr lang="en-US" altLang="zh-TW" sz="2800" dirty="0" smtClean="0"/>
                  <a:t>=A(2)A(4)A(5)A(6)A(7)</a:t>
                </a:r>
              </a:p>
              <a:p>
                <a:pPr marL="0" indent="0">
                  <a:buNone/>
                </a:pPr>
                <a:r>
                  <a:rPr lang="en-US" altLang="zh-TW" sz="2800" dirty="0" smtClean="0"/>
                  <a:t>=</a:t>
                </a:r>
                <a:r>
                  <a:rPr lang="en-US" altLang="zh-TW" sz="2800" dirty="0" err="1" smtClean="0"/>
                  <a:t>cabab</a:t>
                </a:r>
                <a:endParaRPr lang="en-US" altLang="zh-TW" sz="2800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000298"/>
                <a:ext cx="8229600" cy="4857403"/>
              </a:xfrm>
              <a:blipFill rotWithShape="1">
                <a:blip r:embed="rId2"/>
                <a:stretch>
                  <a:fillRect l="-1926" t="-2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橢圓 8"/>
          <p:cNvSpPr/>
          <p:nvPr/>
        </p:nvSpPr>
        <p:spPr>
          <a:xfrm>
            <a:off x="6084168" y="4726654"/>
            <a:ext cx="288032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516216" y="4005064"/>
            <a:ext cx="288032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572000" y="5877272"/>
            <a:ext cx="288032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580112" y="5085184"/>
            <a:ext cx="288032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076056" y="5517232"/>
            <a:ext cx="288032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61953"/>
              </p:ext>
            </p:extLst>
          </p:nvPr>
        </p:nvGraphicFramePr>
        <p:xfrm>
          <a:off x="3550092" y="2852936"/>
          <a:ext cx="5486404" cy="3708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  <a:gridCol w="498764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978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This paper are interesting finding one such sequence in example.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When the length of an LCS is expected to be close </a:t>
            </a:r>
            <a:r>
              <a:rPr lang="en-US" altLang="zh-TW" smtClean="0"/>
              <a:t>to m, </a:t>
            </a:r>
            <a:r>
              <a:rPr lang="en-US" altLang="zh-TW" dirty="0" smtClean="0"/>
              <a:t>the algorithm is  better than O(</a:t>
            </a:r>
            <a:r>
              <a:rPr lang="en-US" altLang="zh-TW" dirty="0" err="1" smtClean="0"/>
              <a:t>pn</a:t>
            </a:r>
            <a:r>
              <a:rPr lang="en-US" altLang="zh-TW" dirty="0" smtClean="0"/>
              <a:t>) algorithm which presented by Hirschberg.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687</Words>
  <Application>Microsoft Office PowerPoint</Application>
  <PresentationFormat>如螢幕大小 (4:3)</PresentationFormat>
  <Paragraphs>440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A Longest Common Subsequence Algorithm Suitable for Similar Text Strings</vt:lpstr>
      <vt:lpstr>Abstract</vt:lpstr>
      <vt:lpstr>Definition(1/2)</vt:lpstr>
      <vt:lpstr>Definition(2/2)</vt:lpstr>
      <vt:lpstr>Algorithm</vt:lpstr>
      <vt:lpstr>Example</vt:lpstr>
      <vt:lpstr>Example</vt:lpstr>
      <vt:lpstr>Example</vt:lpstr>
      <vt:lpstr>Example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yotsuki</cp:lastModifiedBy>
  <cp:revision>48</cp:revision>
  <dcterms:created xsi:type="dcterms:W3CDTF">2014-03-03T17:19:54Z</dcterms:created>
  <dcterms:modified xsi:type="dcterms:W3CDTF">2014-03-11T15:18:57Z</dcterms:modified>
</cp:coreProperties>
</file>