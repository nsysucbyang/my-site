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2014/2/18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2014/2/18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2014/2/18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2014/2/18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2014/2/18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2014/2/18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2014/2/18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An Algorithm for Differential File Comparison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/>
              <a:t>Authors: J. W. Hunt, M. D. </a:t>
            </a:r>
            <a:r>
              <a:rPr lang="en-US" altLang="zh-TW" smtClean="0"/>
              <a:t>McIlroy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Bell Laboratories Computing Science </a:t>
            </a:r>
            <a:r>
              <a:rPr lang="en-US" altLang="zh-TW" dirty="0" smtClean="0"/>
              <a:t>Technical Report </a:t>
            </a:r>
            <a:r>
              <a:rPr lang="en-US" altLang="zh-TW" dirty="0"/>
              <a:t>#</a:t>
            </a:r>
            <a:r>
              <a:rPr lang="en-US" altLang="zh-TW" dirty="0" smtClean="0"/>
              <a:t>41(July 1976)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602591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5558" y="1268760"/>
            <a:ext cx="842493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200" dirty="0"/>
              <a:t> </a:t>
            </a:r>
            <a:r>
              <a:rPr lang="en-US" altLang="zh-TW" sz="2200" dirty="0" smtClean="0"/>
              <a:t>       The </a:t>
            </a:r>
            <a:r>
              <a:rPr lang="en-US" altLang="zh-TW" sz="2200" dirty="0"/>
              <a:t>program diff reports differences between two files, expressed as a minimal </a:t>
            </a:r>
            <a:r>
              <a:rPr lang="en-US" altLang="zh-TW" sz="2200" dirty="0" smtClean="0"/>
              <a:t>list of </a:t>
            </a:r>
            <a:r>
              <a:rPr lang="en-US" altLang="zh-TW" sz="2200" dirty="0"/>
              <a:t>line changes to bring either file into agreement with the other. Diff has been </a:t>
            </a:r>
            <a:r>
              <a:rPr lang="en-US" altLang="zh-TW" sz="2200" dirty="0" smtClean="0"/>
              <a:t>engineered to </a:t>
            </a:r>
            <a:r>
              <a:rPr lang="en-US" altLang="zh-TW" sz="2200" dirty="0"/>
              <a:t>make efficient use of time and space on typical inputs that arise in vetting </a:t>
            </a:r>
            <a:r>
              <a:rPr lang="en-US" altLang="zh-TW" sz="2200" dirty="0" smtClean="0"/>
              <a:t>version-to-version </a:t>
            </a:r>
            <a:r>
              <a:rPr lang="en-US" altLang="zh-TW" sz="2200" dirty="0"/>
              <a:t>changes </a:t>
            </a:r>
            <a:r>
              <a:rPr lang="en-US" altLang="zh-TW" sz="2200" dirty="0" smtClean="0"/>
              <a:t>in computer-maintained </a:t>
            </a:r>
            <a:r>
              <a:rPr lang="en-US" altLang="zh-TW" sz="2200" dirty="0"/>
              <a:t>or computer-generated documents. </a:t>
            </a:r>
            <a:r>
              <a:rPr lang="en-US" altLang="zh-TW" sz="2200" dirty="0" smtClean="0"/>
              <a:t>Time and </a:t>
            </a:r>
            <a:r>
              <a:rPr lang="en-US" altLang="zh-TW" sz="2200" dirty="0"/>
              <a:t>space usage are observed to vary about as the sum of the </a:t>
            </a:r>
            <a:r>
              <a:rPr lang="en-US" altLang="zh-TW" sz="2200" dirty="0" smtClean="0"/>
              <a:t>file lengths </a:t>
            </a:r>
            <a:r>
              <a:rPr lang="en-US" altLang="zh-TW" sz="2200" dirty="0"/>
              <a:t>on real </a:t>
            </a:r>
            <a:r>
              <a:rPr lang="en-US" altLang="zh-TW" sz="2200" dirty="0" smtClean="0"/>
              <a:t>data, although </a:t>
            </a:r>
            <a:r>
              <a:rPr lang="en-US" altLang="zh-TW" sz="2200" dirty="0"/>
              <a:t>they are known to vary as the product of the </a:t>
            </a:r>
            <a:r>
              <a:rPr lang="en-US" altLang="zh-TW" sz="2200" dirty="0" smtClean="0"/>
              <a:t>file lengths </a:t>
            </a:r>
            <a:r>
              <a:rPr lang="en-US" altLang="zh-TW" sz="2200" dirty="0"/>
              <a:t>in the worst </a:t>
            </a:r>
            <a:r>
              <a:rPr lang="en-US" altLang="zh-TW" sz="2200" dirty="0" smtClean="0"/>
              <a:t>case.</a:t>
            </a:r>
          </a:p>
          <a:p>
            <a:r>
              <a:rPr lang="en-US" altLang="zh-TW" sz="2200" dirty="0" smtClean="0"/>
              <a:t>        The </a:t>
            </a:r>
            <a:r>
              <a:rPr lang="en-US" altLang="zh-TW" sz="2200" dirty="0"/>
              <a:t>central algorithm of diff solves the ‘longest common subsequence problem’ </a:t>
            </a:r>
            <a:r>
              <a:rPr lang="en-US" altLang="zh-TW" sz="2200" dirty="0" smtClean="0"/>
              <a:t>to find </a:t>
            </a:r>
            <a:r>
              <a:rPr lang="en-US" altLang="zh-TW" sz="2200" dirty="0"/>
              <a:t>the lines that do not change between files. Practical efficiency is gained by </a:t>
            </a:r>
            <a:r>
              <a:rPr lang="en-US" altLang="zh-TW" sz="2200" dirty="0" smtClean="0"/>
              <a:t>attending only </a:t>
            </a:r>
            <a:r>
              <a:rPr lang="en-US" altLang="zh-TW" sz="2200" dirty="0"/>
              <a:t>to certain critical ‘candidate’ matches between the files, the breaking of </a:t>
            </a:r>
            <a:r>
              <a:rPr lang="en-US" altLang="zh-TW" sz="2200" dirty="0" smtClean="0"/>
              <a:t>which would </a:t>
            </a:r>
            <a:r>
              <a:rPr lang="en-US" altLang="zh-TW" sz="2200" dirty="0"/>
              <a:t>shorten the longest subsequence common to some pair of initial segments of </a:t>
            </a:r>
            <a:r>
              <a:rPr lang="en-US" altLang="zh-TW" sz="2200" dirty="0" smtClean="0"/>
              <a:t>the two </a:t>
            </a:r>
            <a:r>
              <a:rPr lang="en-US" altLang="zh-TW" sz="2200" dirty="0"/>
              <a:t>files. Various techniques of hashing, presorting into equivalence classes, merging </a:t>
            </a:r>
            <a:r>
              <a:rPr lang="en-US" altLang="zh-TW" sz="2200" dirty="0" smtClean="0"/>
              <a:t>by binary </a:t>
            </a:r>
            <a:r>
              <a:rPr lang="en-US" altLang="zh-TW" sz="2200" dirty="0"/>
              <a:t>search, and dynamic storage allocation are used to obtain good performance.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xmlns="" val="365224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Diff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 smtClean="0"/>
              <a:t>分辨兩個檔案不同之處的</a:t>
            </a:r>
            <a:r>
              <a:rPr lang="en-US" altLang="zh-TW" sz="2800" dirty="0" smtClean="0"/>
              <a:t>UNIX</a:t>
            </a:r>
            <a:r>
              <a:rPr lang="zh-TW" altLang="en-US" sz="2800" dirty="0" smtClean="0"/>
              <a:t>程式</a:t>
            </a:r>
            <a:endParaRPr lang="en-US" altLang="zh-TW" sz="2800" dirty="0"/>
          </a:p>
          <a:p>
            <a:r>
              <a:rPr lang="zh-TW" altLang="en-US" sz="2800" dirty="0"/>
              <a:t>流程：</a:t>
            </a:r>
            <a:endParaRPr lang="en-US" altLang="zh-TW" sz="2800" dirty="0"/>
          </a:p>
          <a:p>
            <a:pPr lvl="1"/>
            <a:r>
              <a:rPr lang="en-US" altLang="zh-TW" sz="2400" dirty="0"/>
              <a:t>1.</a:t>
            </a:r>
            <a:r>
              <a:rPr lang="zh-TW" altLang="en-US" sz="2400" dirty="0"/>
              <a:t> 將檔案中的每一行</a:t>
            </a:r>
            <a:r>
              <a:rPr lang="en-US" altLang="zh-TW" sz="2400" dirty="0"/>
              <a:t>hash</a:t>
            </a:r>
            <a:r>
              <a:rPr lang="zh-TW" altLang="en-US" sz="2400" dirty="0"/>
              <a:t>成一個</a:t>
            </a:r>
            <a:r>
              <a:rPr lang="en-US" altLang="zh-TW" sz="2400" dirty="0"/>
              <a:t>computer </a:t>
            </a:r>
            <a:r>
              <a:rPr lang="en-US" altLang="zh-TW" sz="2400" dirty="0" smtClean="0"/>
              <a:t>word</a:t>
            </a:r>
            <a:r>
              <a:rPr lang="zh-TW" altLang="en-US" sz="2400" dirty="0" smtClean="0"/>
              <a:t>，並排序</a:t>
            </a:r>
            <a:endParaRPr lang="en-US" altLang="zh-TW" sz="2400" dirty="0"/>
          </a:p>
          <a:p>
            <a:pPr lvl="1"/>
            <a:r>
              <a:rPr lang="en-US" altLang="zh-TW" sz="2400" dirty="0"/>
              <a:t>2.</a:t>
            </a:r>
            <a:r>
              <a:rPr lang="zh-TW" altLang="en-US" sz="2400" dirty="0"/>
              <a:t> 找出兩個檔案</a:t>
            </a:r>
            <a:r>
              <a:rPr lang="en-US" altLang="zh-TW" sz="2400" dirty="0"/>
              <a:t>hash</a:t>
            </a:r>
            <a:r>
              <a:rPr lang="zh-TW" altLang="en-US" sz="2400" dirty="0"/>
              <a:t>結果的</a:t>
            </a:r>
            <a:r>
              <a:rPr lang="en-US" altLang="zh-TW" sz="2400" dirty="0"/>
              <a:t>LCS</a:t>
            </a:r>
          </a:p>
          <a:p>
            <a:pPr lvl="1"/>
            <a:r>
              <a:rPr lang="en-US" altLang="zh-TW" sz="2400" dirty="0"/>
              <a:t>3.</a:t>
            </a:r>
            <a:r>
              <a:rPr lang="zh-TW" altLang="en-US" sz="2400" dirty="0"/>
              <a:t> 利用</a:t>
            </a:r>
            <a:r>
              <a:rPr lang="en-US" altLang="zh-TW" sz="2400" dirty="0"/>
              <a:t>Append, Change, Delete</a:t>
            </a:r>
            <a:r>
              <a:rPr lang="zh-TW" altLang="en-US" sz="2400" dirty="0"/>
              <a:t>三個操作完成</a:t>
            </a:r>
            <a:endParaRPr lang="en-US" altLang="zh-TW" sz="2400" dirty="0"/>
          </a:p>
          <a:p>
            <a:r>
              <a:rPr lang="zh-TW" altLang="en-US" sz="2800" dirty="0" smtClean="0"/>
              <a:t>目標：若 </a:t>
            </a:r>
            <a:r>
              <a:rPr lang="en-US" altLang="zh-TW" sz="2800" dirty="0" smtClean="0"/>
              <a:t>A </a:t>
            </a:r>
            <a:r>
              <a:rPr lang="zh-TW" altLang="en-US" sz="2800" dirty="0" smtClean="0"/>
              <a:t>與 </a:t>
            </a:r>
            <a:r>
              <a:rPr lang="en-US" altLang="zh-TW" sz="2800" dirty="0" smtClean="0"/>
              <a:t>B </a:t>
            </a:r>
            <a:r>
              <a:rPr lang="zh-TW" altLang="en-US" sz="2800" dirty="0" smtClean="0"/>
              <a:t>為兩個檔案，透過 </a:t>
            </a:r>
            <a:r>
              <a:rPr lang="en-US" altLang="zh-TW" sz="2800" dirty="0"/>
              <a:t>append, change, delete</a:t>
            </a:r>
            <a:r>
              <a:rPr lang="zh-TW" altLang="en-US" sz="2800" dirty="0"/>
              <a:t> 將 </a:t>
            </a:r>
            <a:r>
              <a:rPr lang="en-US" altLang="zh-TW" sz="2800" dirty="0"/>
              <a:t>A</a:t>
            </a:r>
            <a:r>
              <a:rPr lang="zh-TW" altLang="en-US" sz="2800" dirty="0"/>
              <a:t> 以 </a:t>
            </a:r>
            <a:r>
              <a:rPr lang="en-US" altLang="zh-TW" sz="2800" dirty="0"/>
              <a:t>B</a:t>
            </a:r>
            <a:r>
              <a:rPr lang="zh-TW" altLang="en-US" sz="2800" dirty="0"/>
              <a:t> 表示，每次操作要先找到 </a:t>
            </a:r>
            <a:r>
              <a:rPr lang="en-US" altLang="zh-TW" sz="2800" dirty="0"/>
              <a:t>LCS</a:t>
            </a:r>
            <a:r>
              <a:rPr lang="zh-TW" altLang="en-US" sz="2800" dirty="0"/>
              <a:t> 的元素，再用合適的方法輸出</a:t>
            </a:r>
            <a:r>
              <a:rPr lang="zh-TW" altLang="en-US" sz="2800" dirty="0" smtClean="0"/>
              <a:t>。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xmlns="" val="121639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Diff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sz="2400" dirty="0" smtClean="0"/>
              <a:t>A = </a:t>
            </a:r>
            <a:r>
              <a:rPr lang="pt-BR" altLang="zh-TW" sz="2400" dirty="0"/>
              <a:t>a b c d e f </a:t>
            </a:r>
            <a:r>
              <a:rPr lang="pt-BR" altLang="zh-TW" sz="2400" dirty="0" smtClean="0"/>
              <a:t>g</a:t>
            </a:r>
          </a:p>
          <a:p>
            <a:r>
              <a:rPr lang="pt-BR" altLang="zh-TW" sz="2400" dirty="0" smtClean="0"/>
              <a:t>B = </a:t>
            </a:r>
            <a:r>
              <a:rPr lang="pl-PL" altLang="zh-TW" sz="2400" dirty="0"/>
              <a:t>w a b x </a:t>
            </a:r>
            <a:r>
              <a:rPr lang="pl-PL" altLang="zh-TW" sz="2400" dirty="0" smtClean="0"/>
              <a:t>y</a:t>
            </a:r>
            <a:r>
              <a:rPr lang="en-US" altLang="zh-TW" sz="2400" dirty="0" smtClean="0"/>
              <a:t> </a:t>
            </a:r>
            <a:r>
              <a:rPr lang="pl-PL" altLang="zh-TW" sz="2400" dirty="0" smtClean="0"/>
              <a:t>z</a:t>
            </a:r>
            <a:r>
              <a:rPr lang="en-US" altLang="zh-TW" sz="2400" dirty="0" smtClean="0"/>
              <a:t> </a:t>
            </a:r>
            <a:r>
              <a:rPr lang="pl-PL" altLang="zh-TW" sz="2400" dirty="0" smtClean="0"/>
              <a:t>e</a:t>
            </a:r>
            <a:endParaRPr lang="en-US" altLang="zh-TW" sz="2400" dirty="0"/>
          </a:p>
          <a:p>
            <a:r>
              <a:rPr lang="zh-TW" altLang="en-US" sz="2400" dirty="0" smtClean="0"/>
              <a:t>將 </a:t>
            </a:r>
            <a:r>
              <a:rPr lang="en-US" altLang="zh-TW" sz="2400" dirty="0" smtClean="0"/>
              <a:t>A</a:t>
            </a:r>
            <a:r>
              <a:rPr lang="zh-TW" altLang="en-US" sz="2400" dirty="0" smtClean="0"/>
              <a:t> 以 </a:t>
            </a:r>
            <a:r>
              <a:rPr lang="en-US" altLang="zh-TW" sz="2400" dirty="0" smtClean="0"/>
              <a:t>B</a:t>
            </a:r>
            <a:r>
              <a:rPr lang="zh-TW" altLang="en-US" sz="2400" dirty="0" smtClean="0"/>
              <a:t> 表示</a:t>
            </a:r>
            <a:endParaRPr lang="en-US" altLang="zh-TW" sz="2400" dirty="0" smtClean="0"/>
          </a:p>
          <a:p>
            <a:r>
              <a:rPr lang="en-US" altLang="zh-TW" sz="2400" dirty="0" smtClean="0"/>
              <a:t>A </a:t>
            </a:r>
            <a:r>
              <a:rPr lang="zh-TW" altLang="en-US" sz="2400" dirty="0" smtClean="0"/>
              <a:t>與 </a:t>
            </a:r>
            <a:r>
              <a:rPr lang="en-US" altLang="zh-TW" sz="2400" dirty="0" smtClean="0"/>
              <a:t>B </a:t>
            </a:r>
            <a:r>
              <a:rPr lang="zh-TW" altLang="en-US" sz="2400" dirty="0" smtClean="0"/>
              <a:t>的 </a:t>
            </a:r>
            <a:r>
              <a:rPr lang="en-US" altLang="zh-TW" sz="2400" dirty="0" smtClean="0"/>
              <a:t>LCS </a:t>
            </a:r>
            <a:r>
              <a:rPr lang="zh-TW" altLang="en-US" sz="2400" dirty="0" smtClean="0"/>
              <a:t>為 </a:t>
            </a:r>
            <a:r>
              <a:rPr lang="en-US" altLang="zh-TW" sz="2400" dirty="0" smtClean="0"/>
              <a:t>a b e</a:t>
            </a:r>
            <a:br>
              <a:rPr lang="en-US" altLang="zh-TW" sz="2400" dirty="0" smtClean="0"/>
            </a:br>
            <a:r>
              <a:rPr lang="en-US" altLang="zh-TW" sz="2400" dirty="0" smtClean="0"/>
              <a:t>1.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delete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B</a:t>
            </a:r>
            <a:r>
              <a:rPr lang="zh-TW" altLang="en-US" sz="2400" dirty="0" smtClean="0"/>
              <a:t> 的</a:t>
            </a:r>
            <a:r>
              <a:rPr lang="en-US" altLang="zh-TW" sz="2400" dirty="0" smtClean="0"/>
              <a:t> a</a:t>
            </a:r>
            <a:r>
              <a:rPr lang="zh-TW" altLang="en-US" sz="2400" dirty="0" smtClean="0"/>
              <a:t> 前面的 </a:t>
            </a:r>
            <a:r>
              <a:rPr lang="en-US" altLang="zh-TW" sz="2400" dirty="0" smtClean="0"/>
              <a:t>line 1</a:t>
            </a:r>
            <a:r>
              <a:rPr lang="zh-TW" altLang="en-US" sz="2400" dirty="0" smtClean="0"/>
              <a:t>，</a:t>
            </a:r>
            <a:r>
              <a:rPr lang="en-US" altLang="zh-TW" sz="2400" dirty="0" smtClean="0"/>
              <a:t>w</a:t>
            </a:r>
            <a:br>
              <a:rPr lang="en-US" altLang="zh-TW" sz="2400" dirty="0" smtClean="0"/>
            </a:br>
            <a:r>
              <a:rPr lang="en-US" altLang="zh-TW" sz="2400" dirty="0" smtClean="0"/>
              <a:t>	A = </a:t>
            </a:r>
            <a:r>
              <a:rPr lang="en-US" altLang="zh-TW" sz="2400" dirty="0" smtClean="0">
                <a:solidFill>
                  <a:srgbClr val="FF0000"/>
                </a:solidFill>
              </a:rPr>
              <a:t>a</a:t>
            </a:r>
            <a:r>
              <a:rPr lang="en-US" altLang="zh-TW" sz="2400" dirty="0" smtClean="0"/>
              <a:t> b c d e f g</a:t>
            </a:r>
            <a:br>
              <a:rPr lang="en-US" altLang="zh-TW" sz="2400" dirty="0" smtClean="0"/>
            </a:br>
            <a:r>
              <a:rPr lang="en-US" altLang="zh-TW" sz="2400" dirty="0" smtClean="0"/>
              <a:t>	B = w </a:t>
            </a:r>
            <a:r>
              <a:rPr lang="en-US" altLang="zh-TW" sz="2400" dirty="0" smtClean="0">
                <a:solidFill>
                  <a:srgbClr val="FF0000"/>
                </a:solidFill>
              </a:rPr>
              <a:t>a</a:t>
            </a:r>
            <a:r>
              <a:rPr lang="en-US" altLang="zh-TW" sz="2400" dirty="0" smtClean="0"/>
              <a:t> b x y z e</a:t>
            </a:r>
            <a:r>
              <a:rPr lang="zh-TW" altLang="en-US" sz="2400" dirty="0" smtClean="0"/>
              <a:t> → </a:t>
            </a:r>
            <a:r>
              <a:rPr lang="en-US" altLang="zh-TW" sz="2400" dirty="0" smtClean="0"/>
              <a:t>B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=</a:t>
            </a:r>
            <a:r>
              <a:rPr lang="zh-TW" altLang="en-US" sz="2400" dirty="0" smtClean="0"/>
              <a:t> </a:t>
            </a:r>
            <a:r>
              <a:rPr lang="en-US" altLang="zh-TW" sz="2400" dirty="0" smtClean="0">
                <a:solidFill>
                  <a:srgbClr val="FF0000"/>
                </a:solidFill>
              </a:rPr>
              <a:t>a</a:t>
            </a:r>
            <a:r>
              <a:rPr lang="en-US" altLang="zh-TW" sz="2400" dirty="0" smtClean="0"/>
              <a:t> b x y z e</a:t>
            </a:r>
            <a:br>
              <a:rPr lang="en-US" altLang="zh-TW" sz="2400" dirty="0" smtClean="0"/>
            </a:br>
            <a:r>
              <a:rPr lang="en-US" altLang="zh-TW" sz="2400" dirty="0" smtClean="0"/>
              <a:t>2.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change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B</a:t>
            </a:r>
            <a:r>
              <a:rPr lang="zh-TW" altLang="en-US" sz="2400" dirty="0" smtClean="0"/>
              <a:t> 的</a:t>
            </a:r>
            <a:r>
              <a:rPr lang="en-US" altLang="zh-TW" sz="2400" dirty="0" smtClean="0"/>
              <a:t> b</a:t>
            </a:r>
            <a:r>
              <a:rPr lang="zh-TW" altLang="en-US" sz="2400" dirty="0" smtClean="0"/>
              <a:t> 到 </a:t>
            </a:r>
            <a:r>
              <a:rPr lang="en-US" altLang="zh-TW" sz="2400" dirty="0" smtClean="0"/>
              <a:t>e</a:t>
            </a:r>
            <a:r>
              <a:rPr lang="zh-TW" altLang="en-US" sz="2400" dirty="0" smtClean="0"/>
              <a:t> 之間的 </a:t>
            </a:r>
            <a:r>
              <a:rPr lang="en-US" altLang="zh-TW" sz="2400" dirty="0" smtClean="0"/>
              <a:t>line 4 </a:t>
            </a:r>
            <a:r>
              <a:rPr lang="zh-TW" altLang="en-US" sz="2400" dirty="0" smtClean="0"/>
              <a:t>至 </a:t>
            </a:r>
            <a:r>
              <a:rPr lang="en-US" altLang="zh-TW" sz="2400" dirty="0" smtClean="0"/>
              <a:t>line 6</a:t>
            </a:r>
            <a:r>
              <a:rPr lang="zh-TW" altLang="en-US" sz="2400" dirty="0" smtClean="0"/>
              <a:t>，</a:t>
            </a:r>
            <a:r>
              <a:rPr lang="en-US" altLang="zh-TW" sz="2400" dirty="0" smtClean="0"/>
              <a:t>x y z</a:t>
            </a:r>
            <a:br>
              <a:rPr lang="en-US" altLang="zh-TW" sz="2400" dirty="0" smtClean="0"/>
            </a:br>
            <a:r>
              <a:rPr lang="zh-TW" altLang="en-US" sz="2400" dirty="0" smtClean="0"/>
              <a:t>    換成 </a:t>
            </a:r>
            <a:r>
              <a:rPr lang="en-US" altLang="zh-TW" sz="2400" dirty="0" smtClean="0"/>
              <a:t>A</a:t>
            </a:r>
            <a:r>
              <a:rPr lang="zh-TW" altLang="en-US" sz="2400" dirty="0" smtClean="0"/>
              <a:t> 的 </a:t>
            </a:r>
            <a:r>
              <a:rPr lang="en-US" altLang="zh-TW" sz="2400" dirty="0" smtClean="0"/>
              <a:t>b</a:t>
            </a:r>
            <a:r>
              <a:rPr lang="zh-TW" altLang="en-US" sz="2400" dirty="0" smtClean="0"/>
              <a:t> 到 </a:t>
            </a:r>
            <a:r>
              <a:rPr lang="en-US" altLang="zh-TW" sz="2400" dirty="0" smtClean="0"/>
              <a:t>e</a:t>
            </a:r>
            <a:r>
              <a:rPr lang="zh-TW" altLang="en-US" sz="2400" dirty="0" smtClean="0"/>
              <a:t> 之間的元素，</a:t>
            </a:r>
            <a:r>
              <a:rPr lang="en-US" altLang="zh-TW" sz="2400" dirty="0" smtClean="0"/>
              <a:t>c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d</a:t>
            </a:r>
            <a:br>
              <a:rPr lang="en-US" altLang="zh-TW" sz="2400" dirty="0" smtClean="0"/>
            </a:br>
            <a:r>
              <a:rPr lang="en-US" altLang="zh-TW" sz="2400" dirty="0"/>
              <a:t>	A = a </a:t>
            </a:r>
            <a:r>
              <a:rPr lang="en-US" altLang="zh-TW" sz="2400" dirty="0">
                <a:solidFill>
                  <a:srgbClr val="FF0000"/>
                </a:solidFill>
              </a:rPr>
              <a:t>b</a:t>
            </a:r>
            <a:r>
              <a:rPr lang="en-US" altLang="zh-TW" sz="2400" dirty="0"/>
              <a:t> </a:t>
            </a:r>
            <a:r>
              <a:rPr lang="en-US" altLang="zh-TW" sz="2400" dirty="0">
                <a:solidFill>
                  <a:srgbClr val="0070C0"/>
                </a:solidFill>
              </a:rPr>
              <a:t>c d</a:t>
            </a:r>
            <a:r>
              <a:rPr lang="en-US" altLang="zh-TW" sz="2400" dirty="0"/>
              <a:t> </a:t>
            </a:r>
            <a:r>
              <a:rPr lang="en-US" altLang="zh-TW" sz="2400" dirty="0">
                <a:solidFill>
                  <a:srgbClr val="FF0000"/>
                </a:solidFill>
              </a:rPr>
              <a:t>e</a:t>
            </a:r>
            <a:r>
              <a:rPr lang="en-US" altLang="zh-TW" sz="2400" dirty="0"/>
              <a:t> f g</a:t>
            </a:r>
            <a:r>
              <a:rPr lang="en-US" altLang="zh-TW" sz="2400" dirty="0" smtClean="0"/>
              <a:t/>
            </a:r>
            <a:br>
              <a:rPr lang="en-US" altLang="zh-TW" sz="2400" dirty="0" smtClean="0"/>
            </a:br>
            <a:r>
              <a:rPr lang="en-US" altLang="zh-TW" sz="2400" dirty="0" smtClean="0"/>
              <a:t>	B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=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a </a:t>
            </a:r>
            <a:r>
              <a:rPr lang="en-US" altLang="zh-TW" sz="2400" dirty="0" smtClean="0">
                <a:solidFill>
                  <a:srgbClr val="FF0000"/>
                </a:solidFill>
              </a:rPr>
              <a:t>b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00B050"/>
                </a:solidFill>
              </a:rPr>
              <a:t>x y z </a:t>
            </a:r>
            <a:r>
              <a:rPr lang="en-US" altLang="zh-TW" sz="2400" dirty="0" smtClean="0">
                <a:solidFill>
                  <a:srgbClr val="FF0000"/>
                </a:solidFill>
              </a:rPr>
              <a:t>e</a:t>
            </a:r>
            <a:r>
              <a:rPr lang="en-US" altLang="zh-TW" sz="2400" dirty="0" smtClean="0"/>
              <a:t> </a:t>
            </a:r>
            <a:r>
              <a:rPr lang="zh-TW" altLang="en-US" sz="2400" dirty="0"/>
              <a:t>→</a:t>
            </a:r>
            <a:r>
              <a:rPr lang="en-US" altLang="zh-TW" sz="2400" dirty="0" smtClean="0"/>
              <a:t> B = a </a:t>
            </a:r>
            <a:r>
              <a:rPr lang="en-US" altLang="zh-TW" sz="2400" dirty="0" smtClean="0">
                <a:solidFill>
                  <a:srgbClr val="FF0000"/>
                </a:solidFill>
              </a:rPr>
              <a:t>b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0070C0"/>
                </a:solidFill>
              </a:rPr>
              <a:t>c d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FF0000"/>
                </a:solidFill>
              </a:rPr>
              <a:t>e</a:t>
            </a:r>
            <a:r>
              <a:rPr lang="en-US" altLang="zh-TW" sz="2400" dirty="0" smtClean="0"/>
              <a:t/>
            </a:r>
            <a:br>
              <a:rPr lang="en-US" altLang="zh-TW" sz="2400" dirty="0" smtClean="0"/>
            </a:br>
            <a:r>
              <a:rPr lang="en-US" altLang="zh-TW" sz="2400" dirty="0" smtClean="0"/>
              <a:t>3.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append B</a:t>
            </a:r>
            <a:r>
              <a:rPr lang="zh-TW" altLang="en-US" sz="2400" dirty="0" smtClean="0"/>
              <a:t> 的 </a:t>
            </a:r>
            <a:r>
              <a:rPr lang="en-US" altLang="zh-TW" sz="2400" dirty="0" smtClean="0"/>
              <a:t>e</a:t>
            </a:r>
            <a:r>
              <a:rPr lang="zh-TW" altLang="en-US" sz="2400" dirty="0" smtClean="0"/>
              <a:t> ，接上 </a:t>
            </a:r>
            <a:r>
              <a:rPr lang="en-US" altLang="zh-TW" sz="2400" dirty="0" smtClean="0"/>
              <a:t>A</a:t>
            </a:r>
            <a:r>
              <a:rPr lang="zh-TW" altLang="en-US" sz="2400" dirty="0" smtClean="0"/>
              <a:t> 的 </a:t>
            </a:r>
            <a:r>
              <a:rPr lang="en-US" altLang="zh-TW" sz="2400" dirty="0" smtClean="0"/>
              <a:t>e</a:t>
            </a:r>
            <a:r>
              <a:rPr lang="zh-TW" altLang="en-US" sz="2400" dirty="0" smtClean="0"/>
              <a:t> 後面的元素，</a:t>
            </a:r>
            <a:r>
              <a:rPr lang="en-US" altLang="zh-TW" sz="2400" dirty="0" smtClean="0"/>
              <a:t>f  g</a:t>
            </a:r>
            <a:br>
              <a:rPr lang="en-US" altLang="zh-TW" sz="2400" dirty="0" smtClean="0"/>
            </a:br>
            <a:r>
              <a:rPr lang="en-US" altLang="zh-TW" sz="2400" dirty="0"/>
              <a:t>	A = a b c d </a:t>
            </a:r>
            <a:r>
              <a:rPr lang="en-US" altLang="zh-TW" sz="2400" dirty="0">
                <a:solidFill>
                  <a:srgbClr val="FF0000"/>
                </a:solidFill>
              </a:rPr>
              <a:t>e</a:t>
            </a:r>
            <a:r>
              <a:rPr lang="en-US" altLang="zh-TW" sz="2400" dirty="0"/>
              <a:t> </a:t>
            </a:r>
            <a:r>
              <a:rPr lang="en-US" altLang="zh-TW" sz="2400" dirty="0">
                <a:solidFill>
                  <a:srgbClr val="0070C0"/>
                </a:solidFill>
              </a:rPr>
              <a:t>f g</a:t>
            </a:r>
            <a:r>
              <a:rPr lang="en-US" altLang="zh-TW" sz="2400" dirty="0" smtClean="0"/>
              <a:t/>
            </a:r>
            <a:br>
              <a:rPr lang="en-US" altLang="zh-TW" sz="2400" dirty="0" smtClean="0"/>
            </a:br>
            <a:r>
              <a:rPr lang="en-US" altLang="zh-TW" sz="2400" dirty="0" smtClean="0"/>
              <a:t>	B = a b c d </a:t>
            </a:r>
            <a:r>
              <a:rPr lang="en-US" altLang="zh-TW" sz="2400" dirty="0" smtClean="0">
                <a:solidFill>
                  <a:srgbClr val="FF0000"/>
                </a:solidFill>
              </a:rPr>
              <a:t>e</a:t>
            </a:r>
            <a:r>
              <a:rPr lang="en-US" altLang="zh-TW" sz="2400" dirty="0" smtClean="0"/>
              <a:t> </a:t>
            </a:r>
            <a:r>
              <a:rPr lang="zh-TW" altLang="en-US" sz="2400" dirty="0"/>
              <a:t>→</a:t>
            </a:r>
            <a:r>
              <a:rPr lang="en-US" altLang="zh-TW" sz="2400" dirty="0" smtClean="0"/>
              <a:t> B = a b c d </a:t>
            </a:r>
            <a:r>
              <a:rPr lang="en-US" altLang="zh-TW" sz="2400" dirty="0" smtClean="0">
                <a:solidFill>
                  <a:srgbClr val="FF0000"/>
                </a:solidFill>
              </a:rPr>
              <a:t>e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0070C0"/>
                </a:solidFill>
              </a:rPr>
              <a:t>f g</a:t>
            </a:r>
          </a:p>
          <a:p>
            <a:endParaRPr lang="en-US" altLang="zh-TW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450081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potatOS\Desktop\diff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78085" y="1550707"/>
            <a:ext cx="3886200" cy="446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Diff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</a:t>
            </a:r>
            <a:r>
              <a:rPr lang="zh-TW" altLang="en-US" dirty="0" smtClean="0"/>
              <a:t> </a:t>
            </a:r>
            <a:r>
              <a:rPr lang="en-US" altLang="zh-TW" dirty="0" smtClean="0"/>
              <a:t>= append</a:t>
            </a:r>
          </a:p>
          <a:p>
            <a:r>
              <a:rPr lang="en-US" altLang="zh-TW" dirty="0" smtClean="0"/>
              <a:t>c = change</a:t>
            </a:r>
          </a:p>
          <a:p>
            <a:r>
              <a:rPr lang="en-US" altLang="zh-TW" dirty="0" smtClean="0"/>
              <a:t>d = delete</a:t>
            </a:r>
          </a:p>
          <a:p>
            <a:r>
              <a:rPr lang="en-US" altLang="zh-TW" dirty="0" smtClean="0"/>
              <a:t>&lt; = original file content</a:t>
            </a:r>
          </a:p>
          <a:p>
            <a:r>
              <a:rPr lang="en-US" altLang="zh-TW" dirty="0" smtClean="0"/>
              <a:t>&gt; = derived file content</a:t>
            </a:r>
          </a:p>
          <a:p>
            <a:r>
              <a:rPr lang="zh-TW" altLang="en-US" dirty="0"/>
              <a:t>左</a:t>
            </a:r>
            <a:r>
              <a:rPr lang="zh-TW" altLang="en-US" dirty="0" smtClean="0"/>
              <a:t>為以 </a:t>
            </a:r>
            <a:r>
              <a:rPr lang="en-US" altLang="zh-TW" dirty="0" smtClean="0"/>
              <a:t>A</a:t>
            </a:r>
            <a:r>
              <a:rPr lang="zh-TW" altLang="en-US" dirty="0" smtClean="0"/>
              <a:t> 表 </a:t>
            </a:r>
            <a:r>
              <a:rPr lang="en-US" altLang="zh-TW" dirty="0" smtClean="0"/>
              <a:t>B</a:t>
            </a:r>
          </a:p>
          <a:p>
            <a:r>
              <a:rPr lang="zh-TW" altLang="en-US" dirty="0" smtClean="0"/>
              <a:t>右為以 </a:t>
            </a:r>
            <a:r>
              <a:rPr lang="en-US" altLang="zh-TW" dirty="0" smtClean="0"/>
              <a:t>B</a:t>
            </a:r>
            <a:r>
              <a:rPr lang="zh-TW" altLang="en-US" dirty="0" smtClean="0"/>
              <a:t> 表 </a:t>
            </a:r>
            <a:r>
              <a:rPr lang="en-US" altLang="zh-TW" dirty="0" smtClean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xmlns="" val="430742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Diff Algorithm for LCS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zh-TW" altLang="en-US" sz="2800" dirty="0" smtClean="0"/>
                  <a:t>假設有兩個字串</a:t>
                </a:r>
                <a:r>
                  <a:rPr lang="en-US" altLang="zh-TW" sz="2800" dirty="0" smtClean="0"/>
                  <a:t>A</a:t>
                </a:r>
                <a:r>
                  <a:rPr lang="zh-TW" altLang="en-US" sz="2800" dirty="0" smtClean="0"/>
                  <a:t> 與 </a:t>
                </a:r>
                <a:r>
                  <a:rPr lang="en-US" altLang="zh-TW" sz="2800" dirty="0" smtClean="0"/>
                  <a:t>B</a:t>
                </a:r>
              </a:p>
              <a:p>
                <a:r>
                  <a:rPr lang="en-US" altLang="zh-TW" sz="2800" dirty="0" smtClean="0"/>
                  <a:t>k-candidate</a:t>
                </a:r>
                <a:r>
                  <a:rPr lang="zh-TW" altLang="en-US" sz="2800" dirty="0"/>
                  <a:t>表示為</a:t>
                </a:r>
                <a:r>
                  <a:rPr lang="en-US" altLang="zh-TW" sz="2800" dirty="0" smtClean="0"/>
                  <a:t>(</a:t>
                </a:r>
                <a:r>
                  <a:rPr lang="en-US" altLang="zh-TW" sz="2800" dirty="0" err="1" smtClean="0"/>
                  <a:t>i</a:t>
                </a:r>
                <a:r>
                  <a:rPr lang="en-US" altLang="zh-TW" sz="2800" dirty="0" smtClean="0"/>
                  <a:t>, j)</a:t>
                </a:r>
                <a:r>
                  <a:rPr lang="en-US" altLang="zh-TW" sz="2800" dirty="0" smtClean="0">
                    <a:sym typeface="Wingdings" panose="05000000000000000000" pitchFamily="2" charset="2"/>
                  </a:rPr>
                  <a:t/>
                </a:r>
                <a:br>
                  <a:rPr lang="en-US" altLang="zh-TW" sz="2800" dirty="0" smtClean="0">
                    <a:sym typeface="Wingdings" panose="05000000000000000000" pitchFamily="2" charset="2"/>
                  </a:rPr>
                </a:br>
                <a:r>
                  <a:rPr lang="en-US" altLang="zh-TW" sz="2800" dirty="0" smtClean="0">
                    <a:sym typeface="Wingdings" panose="05000000000000000000" pitchFamily="2" charset="2"/>
                  </a:rPr>
                  <a:t>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2800" dirty="0" smtClean="0"/>
                  <a:t/>
                </a:r>
                <a:r>
                  <a:rPr lang="en-US" altLang="zh-TW" sz="2800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(2)</a:t>
                </a:r>
                <a:r>
                  <a:rPr lang="zh-TW" altLang="en-US" sz="2800" dirty="0" smtClean="0"/>
                  <a:t/>
                </a:r>
                <a:r>
                  <a:rPr lang="zh-TW" altLang="en-US" sz="2800" dirty="0"/>
                  <a:t>必有</a:t>
                </a:r>
                <a:r>
                  <a:rPr lang="zh-TW" altLang="en-US" sz="2800" dirty="0" smtClean="0"/>
                  <a:t>長度</a:t>
                </a:r>
                <a:r>
                  <a:rPr lang="zh-TW" altLang="en-US" sz="2800" dirty="0"/>
                  <a:t>為</a:t>
                </a:r>
                <a:r>
                  <a:rPr lang="en-US" altLang="zh-TW" sz="2800" dirty="0"/>
                  <a:t>k</a:t>
                </a:r>
                <a:r>
                  <a:rPr lang="zh-TW" altLang="en-US" sz="2800" dirty="0"/>
                  <a:t>的</a:t>
                </a:r>
                <a:r>
                  <a:rPr lang="en-US" altLang="zh-TW" sz="2800" dirty="0" smtClean="0"/>
                  <a:t>LCS</a:t>
                </a:r>
                <a:r>
                  <a:rPr lang="zh-TW" altLang="en-US" sz="2800" dirty="0"/>
                  <a:t>由</a:t>
                </a:r>
                <a:r>
                  <a:rPr lang="en-US" altLang="zh-TW" sz="2800" dirty="0"/>
                  <a:t>A</a:t>
                </a:r>
                <a:r>
                  <a:rPr lang="zh-TW" altLang="en-US" sz="2800" dirty="0"/>
                  <a:t>的</a:t>
                </a:r>
                <a:r>
                  <a:rPr lang="zh-TW" altLang="en-US" sz="2800" dirty="0" smtClean="0"/>
                  <a:t>前 </a:t>
                </a:r>
                <a:r>
                  <a:rPr lang="en-US" altLang="zh-TW" sz="2800" dirty="0" err="1" smtClean="0"/>
                  <a:t>i</a:t>
                </a:r>
                <a:r>
                  <a:rPr lang="zh-TW" altLang="en-US" sz="2800" dirty="0" smtClean="0"/>
                  <a:t> 個元素組成，且必有長度為</a:t>
                </a:r>
                <a:r>
                  <a:rPr lang="en-US" altLang="zh-TW" sz="2800" dirty="0" smtClean="0"/>
                  <a:t>k</a:t>
                </a:r>
                <a:r>
                  <a:rPr lang="zh-TW" altLang="en-US" sz="2800" dirty="0" smtClean="0"/>
                  <a:t>的</a:t>
                </a:r>
                <a:r>
                  <a:rPr lang="en-US" altLang="zh-TW" sz="2800" dirty="0" smtClean="0"/>
                  <a:t>LCS</a:t>
                </a:r>
                <a:r>
                  <a:rPr lang="zh-TW" altLang="en-US" sz="2800" dirty="0" smtClean="0"/>
                  <a:t>由</a:t>
                </a:r>
                <a:r>
                  <a:rPr lang="en-US" altLang="zh-TW" sz="2800" dirty="0" smtClean="0"/>
                  <a:t>B</a:t>
                </a:r>
                <a:r>
                  <a:rPr lang="zh-TW" altLang="en-US" sz="2800" dirty="0" smtClean="0"/>
                  <a:t>的前 </a:t>
                </a:r>
                <a:r>
                  <a:rPr lang="en-US" altLang="zh-TW" sz="2800" dirty="0" smtClean="0"/>
                  <a:t>j</a:t>
                </a:r>
                <a:r>
                  <a:rPr lang="zh-TW" altLang="en-US" sz="2800" dirty="0" smtClean="0"/>
                  <a:t/>
                </a:r>
                <a:r>
                  <a:rPr lang="zh-TW" altLang="en-US" sz="2800" dirty="0"/>
                  <a:t>個元素</a:t>
                </a:r>
                <a:r>
                  <a:rPr lang="zh-TW" altLang="en-US" sz="2800" dirty="0" smtClean="0"/>
                  <a:t>組成。</a:t>
                </a:r>
                <a:r>
                  <a:rPr lang="en-US" altLang="zh-TW" sz="2800" dirty="0" smtClean="0"/>
                  <a:t/>
                </a:r>
                <a:br>
                  <a:rPr lang="en-US" altLang="zh-TW" sz="2800" dirty="0" smtClean="0"/>
                </a:br>
                <a:r>
                  <a:rPr lang="en-US" altLang="zh-TW" sz="2800" dirty="0" smtClean="0"/>
                  <a:t>(3)</a:t>
                </a:r>
                <a:r>
                  <a:rPr lang="zh-TW" altLang="en-US" sz="2800" dirty="0" smtClean="0"/>
                  <a:t> 當 </a:t>
                </a:r>
                <a:r>
                  <a:rPr lang="en-US" altLang="zh-TW" sz="2800" dirty="0" err="1" smtClean="0"/>
                  <a:t>i</a:t>
                </a:r>
                <a:r>
                  <a:rPr lang="zh-TW" altLang="en-US" sz="2800" dirty="0" smtClean="0"/>
                  <a:t> 或 </a:t>
                </a:r>
                <a:r>
                  <a:rPr lang="en-US" altLang="zh-TW" sz="2800" dirty="0" smtClean="0"/>
                  <a:t>j</a:t>
                </a:r>
                <a:r>
                  <a:rPr lang="zh-TW" altLang="en-US" sz="2800" dirty="0" smtClean="0"/>
                  <a:t> 減少時，不會有長度為</a:t>
                </a:r>
                <a:r>
                  <a:rPr lang="en-US" altLang="zh-TW" sz="2800" dirty="0" smtClean="0"/>
                  <a:t>k</a:t>
                </a:r>
                <a:r>
                  <a:rPr lang="zh-TW" altLang="en-US" sz="2800" dirty="0" smtClean="0"/>
                  <a:t>的</a:t>
                </a:r>
                <a:r>
                  <a:rPr lang="en-US" altLang="zh-TW" sz="2800" dirty="0" smtClean="0"/>
                  <a:t>LCS</a:t>
                </a:r>
                <a:r>
                  <a:rPr lang="zh-TW" altLang="en-US" sz="2800" dirty="0" smtClean="0"/>
                  <a:t>。</a:t>
                </a:r>
                <a:endParaRPr lang="en-US" altLang="zh-TW" sz="2800" dirty="0"/>
              </a:p>
              <a:p>
                <a:r>
                  <a:rPr lang="zh-TW" altLang="en-US" sz="2800" dirty="0" smtClean="0"/>
                  <a:t>對</a:t>
                </a:r>
                <a:r>
                  <a:rPr lang="en-US" altLang="zh-TW" sz="2800" dirty="0" smtClean="0"/>
                  <a:t>A</a:t>
                </a:r>
                <a:r>
                  <a:rPr lang="zh-TW" altLang="en-US" sz="2800" dirty="0" smtClean="0"/>
                  <a:t>的每個元素掃描，檢查其中的</a:t>
                </a:r>
                <a:r>
                  <a:rPr lang="en-US" altLang="zh-TW" sz="2800" dirty="0" smtClean="0"/>
                  <a:t>candidate</a:t>
                </a:r>
                <a:r>
                  <a:rPr lang="zh-TW" altLang="en-US" sz="2800" dirty="0" smtClean="0"/>
                  <a:t>，建立</a:t>
                </a:r>
                <a:r>
                  <a:rPr lang="en-US" altLang="zh-TW" sz="2800" dirty="0" smtClean="0"/>
                  <a:t>k-candidate</a:t>
                </a:r>
                <a:r>
                  <a:rPr lang="zh-TW" altLang="en-US" sz="2800" dirty="0" smtClean="0"/>
                  <a:t>的</a:t>
                </a:r>
                <a:r>
                  <a:rPr lang="en-US" altLang="zh-TW" sz="2800" dirty="0" smtClean="0"/>
                  <a:t>list</a:t>
                </a:r>
                <a:r>
                  <a:rPr lang="zh-TW" altLang="en-US" sz="2800" dirty="0" smtClean="0"/>
                  <a:t>，此</a:t>
                </a:r>
                <a:r>
                  <a:rPr lang="en-US" altLang="zh-TW" sz="2800" dirty="0" smtClean="0"/>
                  <a:t>list</a:t>
                </a:r>
                <a:r>
                  <a:rPr lang="zh-TW" altLang="en-US" sz="2800" dirty="0" smtClean="0"/>
                  <a:t>紀錄</a:t>
                </a:r>
                <a:r>
                  <a:rPr lang="en-US" altLang="zh-TW" sz="2800" dirty="0" smtClean="0"/>
                  <a:t>k-candidate</a:t>
                </a:r>
                <a:r>
                  <a:rPr lang="zh-TW" altLang="en-US" sz="2800" dirty="0" smtClean="0"/>
                  <a:t>中 </a:t>
                </a:r>
                <a:r>
                  <a:rPr lang="en-US" altLang="zh-TW" sz="2800" dirty="0" smtClean="0"/>
                  <a:t>j</a:t>
                </a:r>
                <a:r>
                  <a:rPr lang="zh-TW" altLang="en-US" sz="2800" dirty="0" smtClean="0"/>
                  <a:t> 最大的</a:t>
                </a:r>
                <a:r>
                  <a:rPr lang="en-US" altLang="zh-TW" sz="2800" dirty="0" smtClean="0"/>
                  <a:t>k-candidate</a:t>
                </a:r>
                <a:r>
                  <a:rPr lang="zh-TW" altLang="en-US" sz="2800" dirty="0" smtClean="0"/>
                  <a:t>。</a:t>
                </a:r>
                <a:endParaRPr lang="en-US" altLang="zh-TW" sz="2800" dirty="0"/>
              </a:p>
              <a:p>
                <a:r>
                  <a:rPr lang="zh-TW" altLang="en-US" sz="2800" dirty="0" smtClean="0"/>
                  <a:t>每次的掃描將藉由 </a:t>
                </a:r>
                <a:r>
                  <a:rPr lang="en-US" altLang="zh-TW" sz="2800" dirty="0" smtClean="0"/>
                  <a:t>k-candidate list</a:t>
                </a:r>
                <a:r>
                  <a:rPr lang="zh-TW" altLang="en-US" sz="2800" dirty="0" smtClean="0"/>
                  <a:t> 中的元素為基準，判斷掃描到的 </a:t>
                </a:r>
                <a:r>
                  <a:rPr lang="en-US" altLang="zh-TW" sz="2800" dirty="0" smtClean="0"/>
                  <a:t>candidate</a:t>
                </a:r>
                <a:r>
                  <a:rPr lang="zh-TW" altLang="en-US" sz="2800" dirty="0" smtClean="0"/>
                  <a:t> 是否為 </a:t>
                </a:r>
                <a:r>
                  <a:rPr lang="en-US" altLang="zh-TW" sz="2800" dirty="0" smtClean="0"/>
                  <a:t>k-candidate</a:t>
                </a:r>
                <a:r>
                  <a:rPr lang="zh-TW" altLang="en-US" sz="2800" dirty="0" smtClean="0"/>
                  <a:t>。當新的點的 </a:t>
                </a:r>
                <a:r>
                  <a:rPr lang="en-US" altLang="zh-TW" sz="2800" dirty="0" err="1" smtClean="0"/>
                  <a:t>i</a:t>
                </a:r>
                <a:r>
                  <a:rPr lang="en-US" altLang="zh-TW" sz="2800" dirty="0" smtClean="0"/>
                  <a:t>,</a:t>
                </a:r>
                <a:r>
                  <a:rPr lang="zh-TW" altLang="en-US" sz="2800" dirty="0" smtClean="0"/>
                  <a:t/>
                </a:r>
                <a:r>
                  <a:rPr lang="en-US" altLang="zh-TW" sz="2800" dirty="0" smtClean="0"/>
                  <a:t> j</a:t>
                </a:r>
                <a:r>
                  <a:rPr lang="zh-TW" altLang="en-US" sz="2800" dirty="0" smtClean="0"/>
                  <a:t> 皆大於原來的 </a:t>
                </a:r>
                <a:r>
                  <a:rPr lang="en-US" altLang="zh-TW" sz="2800" dirty="0" smtClean="0"/>
                  <a:t>k-candidate</a:t>
                </a:r>
                <a:r>
                  <a:rPr lang="zh-TW" altLang="en-US" sz="2800" dirty="0" smtClean="0"/>
                  <a:t>時，新的點為</a:t>
                </a:r>
                <a:r>
                  <a:rPr lang="en-US" altLang="zh-TW" sz="2800" dirty="0" smtClean="0"/>
                  <a:t>(k+1)-candidate</a:t>
                </a:r>
                <a:r>
                  <a:rPr lang="zh-TW" altLang="en-US" sz="2800" dirty="0" smtClean="0"/>
                  <a:t>，若新的點夾在 </a:t>
                </a:r>
                <a:r>
                  <a:rPr lang="en-US" altLang="zh-TW" sz="2800" dirty="0" smtClean="0"/>
                  <a:t>k</a:t>
                </a:r>
                <a:r>
                  <a:rPr lang="zh-TW" altLang="en-US" sz="2800" dirty="0" smtClean="0"/>
                  <a:t> 與 </a:t>
                </a:r>
                <a:r>
                  <a:rPr lang="en-US" altLang="zh-TW" sz="2800" dirty="0" smtClean="0"/>
                  <a:t>k-1</a:t>
                </a:r>
                <a:r>
                  <a:rPr lang="zh-TW" altLang="en-US" sz="2800" dirty="0" smtClean="0"/>
                  <a:t> 之間時，新的點為</a:t>
                </a:r>
                <a:r>
                  <a:rPr lang="en-US" altLang="zh-TW" sz="2800" dirty="0" smtClean="0"/>
                  <a:t>k-candidate</a:t>
                </a:r>
                <a:r>
                  <a:rPr lang="zh-TW" altLang="en-US" sz="2800" dirty="0" smtClean="0"/>
                  <a:t>。若沒有上述兩條件則不為</a:t>
                </a:r>
                <a:r>
                  <a:rPr lang="en-US" altLang="zh-TW" sz="2800" dirty="0" smtClean="0"/>
                  <a:t>k-candidate</a:t>
                </a:r>
                <a:r>
                  <a:rPr lang="zh-TW" altLang="en-US" sz="2800" dirty="0" smtClean="0"/>
                  <a:t>。</a:t>
                </a:r>
                <a:endParaRPr lang="en-US" altLang="zh-TW" sz="2800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/>
                <a:stretch>
                  <a:fillRect l="-1111" t="-2764" r="-889" b="-17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363090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:\Sena\Desktop\diff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700808"/>
            <a:ext cx="4361516" cy="3814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Diff Algorithm for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A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=</a:t>
            </a:r>
            <a:r>
              <a:rPr lang="zh-TW" altLang="en-US" sz="2400" dirty="0" smtClean="0"/>
              <a:t> </a:t>
            </a:r>
            <a:r>
              <a:rPr lang="en-US" altLang="zh-TW" sz="2400" dirty="0" err="1" smtClean="0"/>
              <a:t>abcabba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 smtClean="0"/>
              <a:t>B = </a:t>
            </a:r>
            <a:r>
              <a:rPr lang="en-US" altLang="zh-TW" sz="2400" dirty="0" err="1" smtClean="0"/>
              <a:t>cababc</a:t>
            </a:r>
            <a:endParaRPr lang="en-US" altLang="zh-TW" sz="2400" dirty="0"/>
          </a:p>
          <a:p>
            <a:r>
              <a:rPr lang="en-US" altLang="zh-TW" sz="2400" dirty="0" smtClean="0"/>
              <a:t>Initial k-candidate list:</a:t>
            </a:r>
            <a:br>
              <a:rPr lang="en-US" altLang="zh-TW" sz="2400" dirty="0" smtClean="0"/>
            </a:br>
            <a:r>
              <a:rPr lang="en-US" altLang="zh-TW" sz="2400" dirty="0" smtClean="0"/>
              <a:t>(0, 0) , (8, 7) , </a:t>
            </a:r>
            <a:r>
              <a:rPr lang="en-US" altLang="zh-TW" sz="2400" dirty="0"/>
              <a:t>(8, 7</a:t>
            </a:r>
            <a:r>
              <a:rPr lang="en-US" altLang="zh-TW" sz="2400" dirty="0" smtClean="0"/>
              <a:t>) , </a:t>
            </a:r>
            <a:r>
              <a:rPr lang="en-US" altLang="zh-TW" sz="2400" dirty="0"/>
              <a:t>(8, </a:t>
            </a:r>
            <a:r>
              <a:rPr lang="en-US" altLang="zh-TW" sz="2400" dirty="0" smtClean="0"/>
              <a:t>7),</a:t>
            </a:r>
            <a:br>
              <a:rPr lang="en-US" altLang="zh-TW" sz="2400" dirty="0" smtClean="0"/>
            </a:br>
            <a:r>
              <a:rPr lang="en-US" altLang="zh-TW" sz="2400" dirty="0" smtClean="0"/>
              <a:t>(8</a:t>
            </a:r>
            <a:r>
              <a:rPr lang="en-US" altLang="zh-TW" sz="2400" dirty="0"/>
              <a:t>, 7</a:t>
            </a:r>
            <a:r>
              <a:rPr lang="en-US" altLang="zh-TW" sz="2400" dirty="0" smtClean="0"/>
              <a:t>)</a:t>
            </a:r>
            <a:r>
              <a:rPr lang="en-US" altLang="zh-TW" sz="2400" dirty="0"/>
              <a:t> , (8, 7</a:t>
            </a:r>
            <a:r>
              <a:rPr lang="en-US" altLang="zh-TW" sz="2400" dirty="0" smtClean="0"/>
              <a:t>)</a:t>
            </a:r>
            <a:r>
              <a:rPr lang="en-US" altLang="zh-TW" sz="2400" dirty="0"/>
              <a:t> , (8, 7</a:t>
            </a:r>
            <a:r>
              <a:rPr lang="en-US" altLang="zh-TW" sz="2400" dirty="0" smtClean="0"/>
              <a:t>)…</a:t>
            </a:r>
          </a:p>
          <a:p>
            <a:endParaRPr lang="en-US" altLang="zh-TW" sz="2400" dirty="0" smtClean="0"/>
          </a:p>
          <a:p>
            <a:r>
              <a:rPr lang="zh-TW" altLang="en-US" sz="2400" dirty="0" smtClean="0"/>
              <a:t>檢查</a:t>
            </a:r>
            <a:r>
              <a:rPr lang="zh-TW" altLang="en-US" sz="2400" dirty="0"/>
              <a:t>垂直線</a:t>
            </a:r>
            <a:r>
              <a:rPr lang="en-US" altLang="zh-TW" sz="2400" dirty="0" smtClean="0"/>
              <a:t>1</a:t>
            </a:r>
            <a:r>
              <a:rPr lang="zh-TW" altLang="en-US" sz="2400" dirty="0" smtClean="0"/>
              <a:t>，更新</a:t>
            </a:r>
            <a:r>
              <a:rPr lang="en-US" altLang="zh-TW" sz="2400" dirty="0" smtClean="0"/>
              <a:t>list</a:t>
            </a:r>
            <a:r>
              <a:rPr lang="zh-TW" altLang="en-US" sz="2400" dirty="0" smtClean="0"/>
              <a:t>：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/>
              <a:t>(0, 0) , </a:t>
            </a:r>
            <a:r>
              <a:rPr lang="en-US" altLang="zh-TW" sz="2400" dirty="0" smtClean="0"/>
              <a:t>(1, 3) </a:t>
            </a:r>
            <a:r>
              <a:rPr lang="en-US" altLang="zh-TW" sz="2400" dirty="0"/>
              <a:t>, (8, 7) , (8, 7),</a:t>
            </a:r>
            <a:br>
              <a:rPr lang="en-US" altLang="zh-TW" sz="2400" dirty="0"/>
            </a:br>
            <a:r>
              <a:rPr lang="en-US" altLang="zh-TW" sz="2400" dirty="0"/>
              <a:t>(8, 7) , (8, 7) , (8, 7)…</a:t>
            </a:r>
            <a:endParaRPr lang="en-US" altLang="zh-TW" sz="2400" dirty="0" smtClean="0"/>
          </a:p>
        </p:txBody>
      </p:sp>
      <p:sp>
        <p:nvSpPr>
          <p:cNvPr id="4" name="矩形 3"/>
          <p:cNvSpPr/>
          <p:nvPr/>
        </p:nvSpPr>
        <p:spPr>
          <a:xfrm>
            <a:off x="4901364" y="2060848"/>
            <a:ext cx="390716" cy="324036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7922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Diff Algorithm for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A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=</a:t>
            </a:r>
            <a:r>
              <a:rPr lang="zh-TW" altLang="en-US" sz="2400" dirty="0" smtClean="0"/>
              <a:t> </a:t>
            </a:r>
            <a:r>
              <a:rPr lang="en-US" altLang="zh-TW" sz="2400" dirty="0" err="1" smtClean="0"/>
              <a:t>abcabba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 smtClean="0"/>
              <a:t>B = </a:t>
            </a:r>
            <a:r>
              <a:rPr lang="en-US" altLang="zh-TW" sz="2400" dirty="0" err="1" smtClean="0"/>
              <a:t>cababc</a:t>
            </a:r>
            <a:endParaRPr lang="en-US" altLang="zh-TW" sz="2400" dirty="0"/>
          </a:p>
          <a:p>
            <a:r>
              <a:rPr lang="en-US" altLang="zh-TW" sz="2400" dirty="0" smtClean="0"/>
              <a:t>Initial k-candidate list:</a:t>
            </a:r>
            <a:br>
              <a:rPr lang="en-US" altLang="zh-TW" sz="2400" dirty="0" smtClean="0"/>
            </a:br>
            <a:r>
              <a:rPr lang="en-US" altLang="zh-TW" sz="2400" dirty="0" smtClean="0"/>
              <a:t>(0, 0) , (8, 7) , </a:t>
            </a:r>
            <a:r>
              <a:rPr lang="en-US" altLang="zh-TW" sz="2400" dirty="0"/>
              <a:t>(8, 7</a:t>
            </a:r>
            <a:r>
              <a:rPr lang="en-US" altLang="zh-TW" sz="2400" dirty="0" smtClean="0"/>
              <a:t>) , </a:t>
            </a:r>
            <a:r>
              <a:rPr lang="en-US" altLang="zh-TW" sz="2400" dirty="0"/>
              <a:t>(8, </a:t>
            </a:r>
            <a:r>
              <a:rPr lang="en-US" altLang="zh-TW" sz="2400" dirty="0" smtClean="0"/>
              <a:t>7),</a:t>
            </a:r>
            <a:br>
              <a:rPr lang="en-US" altLang="zh-TW" sz="2400" dirty="0" smtClean="0"/>
            </a:br>
            <a:r>
              <a:rPr lang="en-US" altLang="zh-TW" sz="2400" dirty="0" smtClean="0"/>
              <a:t>(8</a:t>
            </a:r>
            <a:r>
              <a:rPr lang="en-US" altLang="zh-TW" sz="2400" dirty="0"/>
              <a:t>, 7</a:t>
            </a:r>
            <a:r>
              <a:rPr lang="en-US" altLang="zh-TW" sz="2400" dirty="0" smtClean="0"/>
              <a:t>)</a:t>
            </a:r>
            <a:r>
              <a:rPr lang="en-US" altLang="zh-TW" sz="2400" dirty="0"/>
              <a:t> , (8, 7</a:t>
            </a:r>
            <a:r>
              <a:rPr lang="en-US" altLang="zh-TW" sz="2400" dirty="0" smtClean="0"/>
              <a:t>)</a:t>
            </a:r>
            <a:r>
              <a:rPr lang="en-US" altLang="zh-TW" sz="2400" dirty="0"/>
              <a:t> , (8, 7</a:t>
            </a:r>
            <a:r>
              <a:rPr lang="en-US" altLang="zh-TW" sz="2400" dirty="0" smtClean="0"/>
              <a:t>)…</a:t>
            </a:r>
          </a:p>
          <a:p>
            <a:endParaRPr lang="en-US" altLang="zh-TW" sz="2400" dirty="0" smtClean="0"/>
          </a:p>
          <a:p>
            <a:r>
              <a:rPr lang="zh-TW" altLang="en-US" sz="2400" dirty="0" smtClean="0"/>
              <a:t>檢查</a:t>
            </a:r>
            <a:r>
              <a:rPr lang="zh-TW" altLang="en-US" sz="2400" dirty="0"/>
              <a:t>垂直</a:t>
            </a:r>
            <a:r>
              <a:rPr lang="zh-TW" altLang="en-US" sz="2400" dirty="0" smtClean="0"/>
              <a:t>線</a:t>
            </a:r>
            <a:r>
              <a:rPr lang="en-US" altLang="zh-TW" sz="2400" dirty="0"/>
              <a:t>2</a:t>
            </a:r>
            <a:r>
              <a:rPr lang="zh-TW" altLang="en-US" sz="2400" dirty="0" smtClean="0"/>
              <a:t>，更新</a:t>
            </a:r>
            <a:r>
              <a:rPr lang="en-US" altLang="zh-TW" sz="2400" dirty="0" smtClean="0"/>
              <a:t>list</a:t>
            </a:r>
            <a:r>
              <a:rPr lang="zh-TW" altLang="en-US" sz="2400" dirty="0" smtClean="0"/>
              <a:t>：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/>
              <a:t>(0, 0) , </a:t>
            </a:r>
            <a:r>
              <a:rPr lang="en-US" altLang="zh-TW" sz="2400" dirty="0" smtClean="0"/>
              <a:t>(2, 2) </a:t>
            </a:r>
            <a:r>
              <a:rPr lang="en-US" altLang="zh-TW" sz="2400" dirty="0"/>
              <a:t>, </a:t>
            </a:r>
            <a:r>
              <a:rPr lang="en-US" altLang="zh-TW" sz="2400" dirty="0" smtClean="0"/>
              <a:t>(2, 4) </a:t>
            </a:r>
            <a:r>
              <a:rPr lang="en-US" altLang="zh-TW" sz="2400" dirty="0"/>
              <a:t>, (8, 7),</a:t>
            </a:r>
            <a:br>
              <a:rPr lang="en-US" altLang="zh-TW" sz="2400" dirty="0"/>
            </a:br>
            <a:r>
              <a:rPr lang="en-US" altLang="zh-TW" sz="2400" dirty="0"/>
              <a:t>(8, 7) , (8, 7) , (8, 7)…</a:t>
            </a:r>
            <a:endParaRPr lang="en-US" altLang="zh-TW" sz="2400" dirty="0" smtClean="0"/>
          </a:p>
        </p:txBody>
      </p:sp>
      <p:pic>
        <p:nvPicPr>
          <p:cNvPr id="1026" name="Picture 2" descr="F:\Sena\Desktop\diff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700808"/>
            <a:ext cx="4361516" cy="3814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5477428" y="2060848"/>
            <a:ext cx="390716" cy="324036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2656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Diff Algorithm for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A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=</a:t>
            </a:r>
            <a:r>
              <a:rPr lang="zh-TW" altLang="en-US" sz="2400" dirty="0" smtClean="0"/>
              <a:t> </a:t>
            </a:r>
            <a:r>
              <a:rPr lang="en-US" altLang="zh-TW" sz="2400" dirty="0" err="1" smtClean="0"/>
              <a:t>abcabba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 smtClean="0"/>
              <a:t>B = </a:t>
            </a:r>
            <a:r>
              <a:rPr lang="en-US" altLang="zh-TW" sz="2400" dirty="0" err="1" smtClean="0"/>
              <a:t>cababc</a:t>
            </a:r>
            <a:endParaRPr lang="en-US" altLang="zh-TW" sz="2400" dirty="0"/>
          </a:p>
          <a:p>
            <a:r>
              <a:rPr lang="en-US" altLang="zh-TW" sz="2400" dirty="0" smtClean="0"/>
              <a:t>Initial k-candidate list:</a:t>
            </a:r>
            <a:br>
              <a:rPr lang="en-US" altLang="zh-TW" sz="2400" dirty="0" smtClean="0"/>
            </a:br>
            <a:r>
              <a:rPr lang="en-US" altLang="zh-TW" sz="2400" dirty="0" smtClean="0"/>
              <a:t>(0, 0) , (8, 7) , </a:t>
            </a:r>
            <a:r>
              <a:rPr lang="en-US" altLang="zh-TW" sz="2400" dirty="0"/>
              <a:t>(8, 7</a:t>
            </a:r>
            <a:r>
              <a:rPr lang="en-US" altLang="zh-TW" sz="2400" dirty="0" smtClean="0"/>
              <a:t>) , </a:t>
            </a:r>
            <a:r>
              <a:rPr lang="en-US" altLang="zh-TW" sz="2400" dirty="0"/>
              <a:t>(8, </a:t>
            </a:r>
            <a:r>
              <a:rPr lang="en-US" altLang="zh-TW" sz="2400" dirty="0" smtClean="0"/>
              <a:t>7),</a:t>
            </a:r>
            <a:br>
              <a:rPr lang="en-US" altLang="zh-TW" sz="2400" dirty="0" smtClean="0"/>
            </a:br>
            <a:r>
              <a:rPr lang="en-US" altLang="zh-TW" sz="2400" dirty="0" smtClean="0"/>
              <a:t>(8</a:t>
            </a:r>
            <a:r>
              <a:rPr lang="en-US" altLang="zh-TW" sz="2400" dirty="0"/>
              <a:t>, 7</a:t>
            </a:r>
            <a:r>
              <a:rPr lang="en-US" altLang="zh-TW" sz="2400" dirty="0" smtClean="0"/>
              <a:t>)</a:t>
            </a:r>
            <a:r>
              <a:rPr lang="en-US" altLang="zh-TW" sz="2400" dirty="0"/>
              <a:t> , (8, 7</a:t>
            </a:r>
            <a:r>
              <a:rPr lang="en-US" altLang="zh-TW" sz="2400" dirty="0" smtClean="0"/>
              <a:t>)</a:t>
            </a:r>
            <a:r>
              <a:rPr lang="en-US" altLang="zh-TW" sz="2400" dirty="0"/>
              <a:t> , (8, 7</a:t>
            </a:r>
            <a:r>
              <a:rPr lang="en-US" altLang="zh-TW" sz="2400" dirty="0" smtClean="0"/>
              <a:t>)…</a:t>
            </a:r>
          </a:p>
          <a:p>
            <a:endParaRPr lang="en-US" altLang="zh-TW" sz="2400" dirty="0" smtClean="0"/>
          </a:p>
          <a:p>
            <a:r>
              <a:rPr lang="zh-TW" altLang="en-US" sz="2400" dirty="0" smtClean="0"/>
              <a:t>檢查</a:t>
            </a:r>
            <a:r>
              <a:rPr lang="zh-TW" altLang="en-US" sz="2400" dirty="0"/>
              <a:t>垂直</a:t>
            </a:r>
            <a:r>
              <a:rPr lang="zh-TW" altLang="en-US" sz="2400" dirty="0" smtClean="0"/>
              <a:t>線</a:t>
            </a:r>
            <a:r>
              <a:rPr lang="en-US" altLang="zh-TW" sz="2400" dirty="0" smtClean="0"/>
              <a:t>3</a:t>
            </a:r>
            <a:r>
              <a:rPr lang="zh-TW" altLang="en-US" sz="2400" dirty="0" smtClean="0"/>
              <a:t>，更新</a:t>
            </a:r>
            <a:r>
              <a:rPr lang="en-US" altLang="zh-TW" sz="2400" dirty="0" smtClean="0"/>
              <a:t>list</a:t>
            </a:r>
            <a:r>
              <a:rPr lang="zh-TW" altLang="en-US" sz="2400" dirty="0" smtClean="0"/>
              <a:t>：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/>
              <a:t>(0, 0) , </a:t>
            </a:r>
            <a:r>
              <a:rPr lang="en-US" altLang="zh-TW" sz="2400" dirty="0" smtClean="0"/>
              <a:t>(3, </a:t>
            </a:r>
            <a:r>
              <a:rPr lang="en-US" altLang="zh-TW" sz="2400" dirty="0"/>
              <a:t>1</a:t>
            </a:r>
            <a:r>
              <a:rPr lang="en-US" altLang="zh-TW" sz="2400" dirty="0" smtClean="0"/>
              <a:t>) </a:t>
            </a:r>
            <a:r>
              <a:rPr lang="en-US" altLang="zh-TW" sz="2400" dirty="0"/>
              <a:t>, </a:t>
            </a:r>
            <a:r>
              <a:rPr lang="en-US" altLang="zh-TW" sz="2400" dirty="0" smtClean="0"/>
              <a:t>(2, 4) </a:t>
            </a:r>
            <a:r>
              <a:rPr lang="en-US" altLang="zh-TW" sz="2400" dirty="0"/>
              <a:t>, </a:t>
            </a:r>
            <a:r>
              <a:rPr lang="en-US" altLang="zh-TW" sz="2400" dirty="0" smtClean="0"/>
              <a:t>(3, 6),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/>
              <a:t>(8, 7) , (8, 7) , (8, 7)…</a:t>
            </a:r>
            <a:endParaRPr lang="en-US" altLang="zh-TW" sz="2400" dirty="0" smtClean="0"/>
          </a:p>
        </p:txBody>
      </p:sp>
      <p:pic>
        <p:nvPicPr>
          <p:cNvPr id="1026" name="Picture 2" descr="F:\Sena\Desktop\diff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700808"/>
            <a:ext cx="4361516" cy="3814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6053492" y="2060848"/>
            <a:ext cx="390716" cy="324036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204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Diff Algorithm for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A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=</a:t>
            </a:r>
            <a:r>
              <a:rPr lang="zh-TW" altLang="en-US" sz="2400" dirty="0" smtClean="0"/>
              <a:t> </a:t>
            </a:r>
            <a:r>
              <a:rPr lang="en-US" altLang="zh-TW" sz="2400" dirty="0" err="1" smtClean="0"/>
              <a:t>abcabba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 smtClean="0"/>
              <a:t>B = </a:t>
            </a:r>
            <a:r>
              <a:rPr lang="en-US" altLang="zh-TW" sz="2400" dirty="0" err="1" smtClean="0"/>
              <a:t>cababc</a:t>
            </a:r>
            <a:endParaRPr lang="en-US" altLang="zh-TW" sz="2400" dirty="0"/>
          </a:p>
          <a:p>
            <a:r>
              <a:rPr lang="en-US" altLang="zh-TW" sz="2400" dirty="0" smtClean="0"/>
              <a:t>Initial k-candidate list:</a:t>
            </a:r>
            <a:br>
              <a:rPr lang="en-US" altLang="zh-TW" sz="2400" dirty="0" smtClean="0"/>
            </a:br>
            <a:r>
              <a:rPr lang="en-US" altLang="zh-TW" sz="2400" dirty="0" smtClean="0"/>
              <a:t>(0, 0) , (8, 7) , </a:t>
            </a:r>
            <a:r>
              <a:rPr lang="en-US" altLang="zh-TW" sz="2400" dirty="0"/>
              <a:t>(8, 7</a:t>
            </a:r>
            <a:r>
              <a:rPr lang="en-US" altLang="zh-TW" sz="2400" dirty="0" smtClean="0"/>
              <a:t>) , </a:t>
            </a:r>
            <a:r>
              <a:rPr lang="en-US" altLang="zh-TW" sz="2400" dirty="0"/>
              <a:t>(8, </a:t>
            </a:r>
            <a:r>
              <a:rPr lang="en-US" altLang="zh-TW" sz="2400" dirty="0" smtClean="0"/>
              <a:t>7),</a:t>
            </a:r>
            <a:br>
              <a:rPr lang="en-US" altLang="zh-TW" sz="2400" dirty="0" smtClean="0"/>
            </a:br>
            <a:r>
              <a:rPr lang="en-US" altLang="zh-TW" sz="2400" dirty="0" smtClean="0"/>
              <a:t>(8</a:t>
            </a:r>
            <a:r>
              <a:rPr lang="en-US" altLang="zh-TW" sz="2400" dirty="0"/>
              <a:t>, 7</a:t>
            </a:r>
            <a:r>
              <a:rPr lang="en-US" altLang="zh-TW" sz="2400" dirty="0" smtClean="0"/>
              <a:t>)</a:t>
            </a:r>
            <a:r>
              <a:rPr lang="en-US" altLang="zh-TW" sz="2400" dirty="0"/>
              <a:t> , (8, 7</a:t>
            </a:r>
            <a:r>
              <a:rPr lang="en-US" altLang="zh-TW" sz="2400" dirty="0" smtClean="0"/>
              <a:t>)</a:t>
            </a:r>
            <a:r>
              <a:rPr lang="en-US" altLang="zh-TW" sz="2400" dirty="0"/>
              <a:t> , (8, 7</a:t>
            </a:r>
            <a:r>
              <a:rPr lang="en-US" altLang="zh-TW" sz="2400" dirty="0" smtClean="0"/>
              <a:t>)…</a:t>
            </a:r>
          </a:p>
          <a:p>
            <a:endParaRPr lang="en-US" altLang="zh-TW" sz="2400" dirty="0" smtClean="0"/>
          </a:p>
          <a:p>
            <a:r>
              <a:rPr lang="zh-TW" altLang="en-US" sz="2400" dirty="0" smtClean="0"/>
              <a:t>檢查</a:t>
            </a:r>
            <a:r>
              <a:rPr lang="zh-TW" altLang="en-US" sz="2400" dirty="0"/>
              <a:t>垂直</a:t>
            </a:r>
            <a:r>
              <a:rPr lang="zh-TW" altLang="en-US" sz="2400" dirty="0" smtClean="0"/>
              <a:t>線</a:t>
            </a:r>
            <a:r>
              <a:rPr lang="en-US" altLang="zh-TW" sz="2400" dirty="0"/>
              <a:t>4</a:t>
            </a:r>
            <a:r>
              <a:rPr lang="zh-TW" altLang="en-US" sz="2400" dirty="0" smtClean="0"/>
              <a:t>，更新</a:t>
            </a:r>
            <a:r>
              <a:rPr lang="en-US" altLang="zh-TW" sz="2400" dirty="0" smtClean="0"/>
              <a:t>list</a:t>
            </a:r>
            <a:r>
              <a:rPr lang="zh-TW" altLang="en-US" sz="2400" dirty="0" smtClean="0"/>
              <a:t>：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/>
              <a:t>(0, 0) , </a:t>
            </a:r>
            <a:r>
              <a:rPr lang="en-US" altLang="zh-TW" sz="2400" dirty="0" smtClean="0"/>
              <a:t>(3, </a:t>
            </a:r>
            <a:r>
              <a:rPr lang="en-US" altLang="zh-TW" sz="2400" dirty="0"/>
              <a:t>1</a:t>
            </a:r>
            <a:r>
              <a:rPr lang="en-US" altLang="zh-TW" sz="2400" dirty="0" smtClean="0"/>
              <a:t>) </a:t>
            </a:r>
            <a:r>
              <a:rPr lang="en-US" altLang="zh-TW" sz="2400" dirty="0"/>
              <a:t>, </a:t>
            </a:r>
            <a:r>
              <a:rPr lang="en-US" altLang="zh-TW" sz="2400" dirty="0" smtClean="0"/>
              <a:t>(4, 3) </a:t>
            </a:r>
            <a:r>
              <a:rPr lang="en-US" altLang="zh-TW" sz="2400" dirty="0"/>
              <a:t>, </a:t>
            </a:r>
            <a:r>
              <a:rPr lang="en-US" altLang="zh-TW" sz="2400" dirty="0" smtClean="0"/>
              <a:t>(4, </a:t>
            </a:r>
            <a:r>
              <a:rPr lang="en-US" altLang="zh-TW" sz="2400" dirty="0"/>
              <a:t>5</a:t>
            </a:r>
            <a:r>
              <a:rPr lang="en-US" altLang="zh-TW" sz="2400" dirty="0" smtClean="0"/>
              <a:t>),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/>
              <a:t>(8, 7) , (8, 7) , (8, 7)…</a:t>
            </a:r>
            <a:endParaRPr lang="en-US" altLang="zh-TW" sz="2400" dirty="0" smtClean="0"/>
          </a:p>
        </p:txBody>
      </p:sp>
      <p:pic>
        <p:nvPicPr>
          <p:cNvPr id="1026" name="Picture 2" descr="F:\Sena\Desktop\diff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700808"/>
            <a:ext cx="4361516" cy="3814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6629556" y="2060848"/>
            <a:ext cx="390716" cy="324036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4" name="橢圓 3"/>
          <p:cNvSpPr/>
          <p:nvPr/>
        </p:nvSpPr>
        <p:spPr>
          <a:xfrm>
            <a:off x="6016055" y="1957941"/>
            <a:ext cx="432048" cy="432048"/>
          </a:xfrm>
          <a:prstGeom prst="ellipse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5449741" y="3103957"/>
            <a:ext cx="432048" cy="432048"/>
          </a:xfrm>
          <a:prstGeom prst="ellipse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6608890" y="2542389"/>
            <a:ext cx="432048" cy="432048"/>
          </a:xfrm>
          <a:prstGeom prst="ellipse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5372399" y="3022444"/>
            <a:ext cx="586732" cy="59507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348741" y="4221088"/>
            <a:ext cx="586732" cy="59507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6531400" y="3608109"/>
            <a:ext cx="586732" cy="59507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53078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Diff Algorithm for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A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=</a:t>
            </a:r>
            <a:r>
              <a:rPr lang="zh-TW" altLang="en-US" sz="2400" dirty="0" smtClean="0"/>
              <a:t> </a:t>
            </a:r>
            <a:r>
              <a:rPr lang="en-US" altLang="zh-TW" sz="2400" dirty="0" err="1" smtClean="0"/>
              <a:t>abcabba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 smtClean="0"/>
              <a:t>B = </a:t>
            </a:r>
            <a:r>
              <a:rPr lang="en-US" altLang="zh-TW" sz="2400" dirty="0" err="1" smtClean="0"/>
              <a:t>cababc</a:t>
            </a:r>
            <a:endParaRPr lang="en-US" altLang="zh-TW" sz="2400" dirty="0"/>
          </a:p>
          <a:p>
            <a:r>
              <a:rPr lang="en-US" altLang="zh-TW" sz="2400" dirty="0" smtClean="0"/>
              <a:t>Initial k-candidate list:</a:t>
            </a:r>
            <a:br>
              <a:rPr lang="en-US" altLang="zh-TW" sz="2400" dirty="0" smtClean="0"/>
            </a:br>
            <a:r>
              <a:rPr lang="en-US" altLang="zh-TW" sz="2400" dirty="0" smtClean="0"/>
              <a:t>(0, 0) , (8, 7) , </a:t>
            </a:r>
            <a:r>
              <a:rPr lang="en-US" altLang="zh-TW" sz="2400" dirty="0"/>
              <a:t>(8, 7</a:t>
            </a:r>
            <a:r>
              <a:rPr lang="en-US" altLang="zh-TW" sz="2400" dirty="0" smtClean="0"/>
              <a:t>) , </a:t>
            </a:r>
            <a:r>
              <a:rPr lang="en-US" altLang="zh-TW" sz="2400" dirty="0"/>
              <a:t>(8, </a:t>
            </a:r>
            <a:r>
              <a:rPr lang="en-US" altLang="zh-TW" sz="2400" dirty="0" smtClean="0"/>
              <a:t>7),</a:t>
            </a:r>
            <a:br>
              <a:rPr lang="en-US" altLang="zh-TW" sz="2400" dirty="0" smtClean="0"/>
            </a:br>
            <a:r>
              <a:rPr lang="en-US" altLang="zh-TW" sz="2400" dirty="0" smtClean="0"/>
              <a:t>(8</a:t>
            </a:r>
            <a:r>
              <a:rPr lang="en-US" altLang="zh-TW" sz="2400" dirty="0"/>
              <a:t>, 7</a:t>
            </a:r>
            <a:r>
              <a:rPr lang="en-US" altLang="zh-TW" sz="2400" dirty="0" smtClean="0"/>
              <a:t>)</a:t>
            </a:r>
            <a:r>
              <a:rPr lang="en-US" altLang="zh-TW" sz="2400" dirty="0"/>
              <a:t> , (8, 7</a:t>
            </a:r>
            <a:r>
              <a:rPr lang="en-US" altLang="zh-TW" sz="2400" dirty="0" smtClean="0"/>
              <a:t>)</a:t>
            </a:r>
            <a:r>
              <a:rPr lang="en-US" altLang="zh-TW" sz="2400" dirty="0"/>
              <a:t> , (8, 7</a:t>
            </a:r>
            <a:r>
              <a:rPr lang="en-US" altLang="zh-TW" sz="2400" dirty="0" smtClean="0"/>
              <a:t>)…</a:t>
            </a:r>
          </a:p>
          <a:p>
            <a:endParaRPr lang="en-US" altLang="zh-TW" sz="2400" dirty="0" smtClean="0"/>
          </a:p>
          <a:p>
            <a:r>
              <a:rPr lang="zh-TW" altLang="en-US" sz="2400" dirty="0" smtClean="0"/>
              <a:t>檢查</a:t>
            </a:r>
            <a:r>
              <a:rPr lang="zh-TW" altLang="en-US" sz="2400" dirty="0"/>
              <a:t>垂直</a:t>
            </a:r>
            <a:r>
              <a:rPr lang="zh-TW" altLang="en-US" sz="2400" dirty="0" smtClean="0"/>
              <a:t>線</a:t>
            </a:r>
            <a:r>
              <a:rPr lang="en-US" altLang="zh-TW" sz="2400" dirty="0" smtClean="0"/>
              <a:t>5</a:t>
            </a:r>
            <a:r>
              <a:rPr lang="zh-TW" altLang="en-US" sz="2400" dirty="0" smtClean="0"/>
              <a:t>，更新</a:t>
            </a:r>
            <a:r>
              <a:rPr lang="en-US" altLang="zh-TW" sz="2400" dirty="0" smtClean="0"/>
              <a:t>list</a:t>
            </a:r>
            <a:r>
              <a:rPr lang="zh-TW" altLang="en-US" sz="2400" dirty="0" smtClean="0"/>
              <a:t>：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/>
              <a:t>(0, 0) , </a:t>
            </a:r>
            <a:r>
              <a:rPr lang="en-US" altLang="zh-TW" sz="2400" dirty="0" smtClean="0"/>
              <a:t>(3, </a:t>
            </a:r>
            <a:r>
              <a:rPr lang="en-US" altLang="zh-TW" sz="2400" dirty="0"/>
              <a:t>1</a:t>
            </a:r>
            <a:r>
              <a:rPr lang="en-US" altLang="zh-TW" sz="2400" dirty="0" smtClean="0"/>
              <a:t>) </a:t>
            </a:r>
            <a:r>
              <a:rPr lang="en-US" altLang="zh-TW" sz="2400" dirty="0"/>
              <a:t>, </a:t>
            </a:r>
            <a:r>
              <a:rPr lang="en-US" altLang="zh-TW" sz="2400" dirty="0" smtClean="0"/>
              <a:t>(5, </a:t>
            </a:r>
            <a:r>
              <a:rPr lang="en-US" altLang="zh-TW" sz="2400" dirty="0"/>
              <a:t>2</a:t>
            </a:r>
            <a:r>
              <a:rPr lang="en-US" altLang="zh-TW" sz="2400" dirty="0" smtClean="0"/>
              <a:t>) </a:t>
            </a:r>
            <a:r>
              <a:rPr lang="en-US" altLang="zh-TW" sz="2400" dirty="0"/>
              <a:t>, </a:t>
            </a:r>
            <a:r>
              <a:rPr lang="en-US" altLang="zh-TW" sz="2400" dirty="0" smtClean="0"/>
              <a:t>(5, 4),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/>
              <a:t>(8, 7) , (8, 7) , (8, 7)…</a:t>
            </a:r>
            <a:endParaRPr lang="en-US" altLang="zh-TW" sz="2400" dirty="0" smtClean="0"/>
          </a:p>
        </p:txBody>
      </p:sp>
      <p:pic>
        <p:nvPicPr>
          <p:cNvPr id="1026" name="Picture 2" descr="F:\Sena\Desktop\diff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700808"/>
            <a:ext cx="4361516" cy="3814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7205620" y="2060848"/>
            <a:ext cx="390716" cy="324036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6" name="橢圓 5"/>
          <p:cNvSpPr/>
          <p:nvPr/>
        </p:nvSpPr>
        <p:spPr>
          <a:xfrm>
            <a:off x="6608890" y="2542389"/>
            <a:ext cx="432048" cy="432048"/>
          </a:xfrm>
          <a:prstGeom prst="ellipse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6608890" y="3681488"/>
            <a:ext cx="432048" cy="432048"/>
          </a:xfrm>
          <a:prstGeom prst="ellipse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7184954" y="3126837"/>
            <a:ext cx="432048" cy="432048"/>
          </a:xfrm>
          <a:prstGeom prst="ellipse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6531400" y="3608109"/>
            <a:ext cx="586732" cy="59507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944668" y="4797152"/>
            <a:ext cx="586732" cy="59507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7107612" y="4202079"/>
            <a:ext cx="586732" cy="59507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8989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Diff Algorithm for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A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=</a:t>
            </a:r>
            <a:r>
              <a:rPr lang="zh-TW" altLang="en-US" sz="2400" dirty="0" smtClean="0"/>
              <a:t> </a:t>
            </a:r>
            <a:r>
              <a:rPr lang="en-US" altLang="zh-TW" sz="2400" dirty="0" err="1" smtClean="0"/>
              <a:t>abcabba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 smtClean="0"/>
              <a:t>B = </a:t>
            </a:r>
            <a:r>
              <a:rPr lang="en-US" altLang="zh-TW" sz="2400" dirty="0" err="1" smtClean="0"/>
              <a:t>cababc</a:t>
            </a:r>
            <a:endParaRPr lang="en-US" altLang="zh-TW" sz="2400" dirty="0"/>
          </a:p>
          <a:p>
            <a:r>
              <a:rPr lang="en-US" altLang="zh-TW" sz="2400" dirty="0" smtClean="0"/>
              <a:t>Initial k-candidate list:</a:t>
            </a:r>
            <a:br>
              <a:rPr lang="en-US" altLang="zh-TW" sz="2400" dirty="0" smtClean="0"/>
            </a:br>
            <a:r>
              <a:rPr lang="en-US" altLang="zh-TW" sz="2400" dirty="0" smtClean="0"/>
              <a:t>(0, 0) , (8, 7) , </a:t>
            </a:r>
            <a:r>
              <a:rPr lang="en-US" altLang="zh-TW" sz="2400" dirty="0"/>
              <a:t>(8, 7</a:t>
            </a:r>
            <a:r>
              <a:rPr lang="en-US" altLang="zh-TW" sz="2400" dirty="0" smtClean="0"/>
              <a:t>) , </a:t>
            </a:r>
            <a:r>
              <a:rPr lang="en-US" altLang="zh-TW" sz="2400" dirty="0"/>
              <a:t>(8, </a:t>
            </a:r>
            <a:r>
              <a:rPr lang="en-US" altLang="zh-TW" sz="2400" dirty="0" smtClean="0"/>
              <a:t>7),</a:t>
            </a:r>
            <a:br>
              <a:rPr lang="en-US" altLang="zh-TW" sz="2400" dirty="0" smtClean="0"/>
            </a:br>
            <a:r>
              <a:rPr lang="en-US" altLang="zh-TW" sz="2400" dirty="0" smtClean="0"/>
              <a:t>(8</a:t>
            </a:r>
            <a:r>
              <a:rPr lang="en-US" altLang="zh-TW" sz="2400" dirty="0"/>
              <a:t>, 7</a:t>
            </a:r>
            <a:r>
              <a:rPr lang="en-US" altLang="zh-TW" sz="2400" dirty="0" smtClean="0"/>
              <a:t>)</a:t>
            </a:r>
            <a:r>
              <a:rPr lang="en-US" altLang="zh-TW" sz="2400" dirty="0"/>
              <a:t> , (8, 7</a:t>
            </a:r>
            <a:r>
              <a:rPr lang="en-US" altLang="zh-TW" sz="2400" dirty="0" smtClean="0"/>
              <a:t>)</a:t>
            </a:r>
            <a:r>
              <a:rPr lang="en-US" altLang="zh-TW" sz="2400" dirty="0"/>
              <a:t> , (8, 7</a:t>
            </a:r>
            <a:r>
              <a:rPr lang="en-US" altLang="zh-TW" sz="2400" dirty="0" smtClean="0"/>
              <a:t>)…</a:t>
            </a:r>
          </a:p>
          <a:p>
            <a:endParaRPr lang="en-US" altLang="zh-TW" sz="2400" dirty="0" smtClean="0"/>
          </a:p>
          <a:p>
            <a:r>
              <a:rPr lang="zh-TW" altLang="en-US" sz="2400" dirty="0" smtClean="0"/>
              <a:t>檢查</a:t>
            </a:r>
            <a:r>
              <a:rPr lang="zh-TW" altLang="en-US" sz="2400" dirty="0"/>
              <a:t>垂直</a:t>
            </a:r>
            <a:r>
              <a:rPr lang="zh-TW" altLang="en-US" sz="2400" dirty="0" smtClean="0"/>
              <a:t>線</a:t>
            </a:r>
            <a:r>
              <a:rPr lang="en-US" altLang="zh-TW" sz="2400" dirty="0"/>
              <a:t>6</a:t>
            </a:r>
            <a:r>
              <a:rPr lang="zh-TW" altLang="en-US" sz="2400" dirty="0" smtClean="0"/>
              <a:t>，更新</a:t>
            </a:r>
            <a:r>
              <a:rPr lang="en-US" altLang="zh-TW" sz="2400" dirty="0" smtClean="0"/>
              <a:t>list</a:t>
            </a:r>
            <a:r>
              <a:rPr lang="zh-TW" altLang="en-US" sz="2400" dirty="0" smtClean="0"/>
              <a:t>：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/>
              <a:t>(0, 0) , </a:t>
            </a:r>
            <a:r>
              <a:rPr lang="en-US" altLang="zh-TW" sz="2400" dirty="0" smtClean="0"/>
              <a:t>(3, </a:t>
            </a:r>
            <a:r>
              <a:rPr lang="en-US" altLang="zh-TW" sz="2400" dirty="0"/>
              <a:t>1</a:t>
            </a:r>
            <a:r>
              <a:rPr lang="en-US" altLang="zh-TW" sz="2400" dirty="0" smtClean="0"/>
              <a:t>) </a:t>
            </a:r>
            <a:r>
              <a:rPr lang="en-US" altLang="zh-TW" sz="2400" dirty="0"/>
              <a:t>, </a:t>
            </a:r>
            <a:r>
              <a:rPr lang="en-US" altLang="zh-TW" sz="2400" dirty="0" smtClean="0"/>
              <a:t>(5, </a:t>
            </a:r>
            <a:r>
              <a:rPr lang="en-US" altLang="zh-TW" sz="2400" dirty="0"/>
              <a:t>2</a:t>
            </a:r>
            <a:r>
              <a:rPr lang="en-US" altLang="zh-TW" sz="2400" dirty="0" smtClean="0"/>
              <a:t>) </a:t>
            </a:r>
            <a:r>
              <a:rPr lang="en-US" altLang="zh-TW" sz="2400" dirty="0"/>
              <a:t>, </a:t>
            </a:r>
            <a:r>
              <a:rPr lang="en-US" altLang="zh-TW" sz="2400" dirty="0" smtClean="0"/>
              <a:t>(5, 4),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/>
              <a:t>(8, 7) , (8, 7) , (8, 7)…</a:t>
            </a:r>
            <a:endParaRPr lang="en-US" altLang="zh-TW" sz="2400" dirty="0" smtClean="0"/>
          </a:p>
        </p:txBody>
      </p:sp>
      <p:pic>
        <p:nvPicPr>
          <p:cNvPr id="1026" name="Picture 2" descr="F:\Sena\Desktop\diff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700808"/>
            <a:ext cx="4361516" cy="3814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7781684" y="2060848"/>
            <a:ext cx="390716" cy="324036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2248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Diff Algorithm for 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A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=</a:t>
            </a:r>
            <a:r>
              <a:rPr lang="zh-TW" altLang="en-US" sz="2400" dirty="0" smtClean="0"/>
              <a:t> </a:t>
            </a:r>
            <a:r>
              <a:rPr lang="en-US" altLang="zh-TW" sz="2400" dirty="0" err="1" smtClean="0"/>
              <a:t>abcabba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 smtClean="0"/>
              <a:t>B = </a:t>
            </a:r>
            <a:r>
              <a:rPr lang="en-US" altLang="zh-TW" sz="2400" dirty="0" err="1" smtClean="0"/>
              <a:t>cababc</a:t>
            </a:r>
            <a:endParaRPr lang="en-US" altLang="zh-TW" sz="2400" dirty="0"/>
          </a:p>
          <a:p>
            <a:r>
              <a:rPr lang="en-US" altLang="zh-TW" sz="2400" dirty="0" smtClean="0"/>
              <a:t>Initial k-candidate list:</a:t>
            </a:r>
            <a:br>
              <a:rPr lang="en-US" altLang="zh-TW" sz="2400" dirty="0" smtClean="0"/>
            </a:br>
            <a:r>
              <a:rPr lang="en-US" altLang="zh-TW" sz="2400" dirty="0" smtClean="0"/>
              <a:t>(0, 0) , (8, 7) , </a:t>
            </a:r>
            <a:r>
              <a:rPr lang="en-US" altLang="zh-TW" sz="2400" dirty="0"/>
              <a:t>(8, 7</a:t>
            </a:r>
            <a:r>
              <a:rPr lang="en-US" altLang="zh-TW" sz="2400" dirty="0" smtClean="0"/>
              <a:t>) , </a:t>
            </a:r>
            <a:r>
              <a:rPr lang="en-US" altLang="zh-TW" sz="2400" dirty="0"/>
              <a:t>(8, </a:t>
            </a:r>
            <a:r>
              <a:rPr lang="en-US" altLang="zh-TW" sz="2400" dirty="0" smtClean="0"/>
              <a:t>7),</a:t>
            </a:r>
            <a:br>
              <a:rPr lang="en-US" altLang="zh-TW" sz="2400" dirty="0" smtClean="0"/>
            </a:br>
            <a:r>
              <a:rPr lang="en-US" altLang="zh-TW" sz="2400" dirty="0" smtClean="0"/>
              <a:t>(8</a:t>
            </a:r>
            <a:r>
              <a:rPr lang="en-US" altLang="zh-TW" sz="2400" dirty="0"/>
              <a:t>, 7</a:t>
            </a:r>
            <a:r>
              <a:rPr lang="en-US" altLang="zh-TW" sz="2400" dirty="0" smtClean="0"/>
              <a:t>)</a:t>
            </a:r>
            <a:r>
              <a:rPr lang="en-US" altLang="zh-TW" sz="2400" dirty="0"/>
              <a:t> , (8, 7</a:t>
            </a:r>
            <a:r>
              <a:rPr lang="en-US" altLang="zh-TW" sz="2400" dirty="0" smtClean="0"/>
              <a:t>)</a:t>
            </a:r>
            <a:r>
              <a:rPr lang="en-US" altLang="zh-TW" sz="2400" dirty="0"/>
              <a:t> , (8, 7</a:t>
            </a:r>
            <a:r>
              <a:rPr lang="en-US" altLang="zh-TW" sz="2400" dirty="0" smtClean="0"/>
              <a:t>)…</a:t>
            </a:r>
          </a:p>
          <a:p>
            <a:endParaRPr lang="en-US" altLang="zh-TW" sz="2400" dirty="0" smtClean="0"/>
          </a:p>
          <a:p>
            <a:r>
              <a:rPr lang="zh-TW" altLang="en-US" sz="2400" dirty="0" smtClean="0"/>
              <a:t>檢查</a:t>
            </a:r>
            <a:r>
              <a:rPr lang="zh-TW" altLang="en-US" sz="2400" dirty="0"/>
              <a:t>垂直</a:t>
            </a:r>
            <a:r>
              <a:rPr lang="zh-TW" altLang="en-US" sz="2400" dirty="0" smtClean="0"/>
              <a:t>線</a:t>
            </a:r>
            <a:r>
              <a:rPr lang="en-US" altLang="zh-TW" sz="2400" dirty="0" smtClean="0"/>
              <a:t>7</a:t>
            </a:r>
            <a:r>
              <a:rPr lang="zh-TW" altLang="en-US" sz="2400" dirty="0" smtClean="0"/>
              <a:t>，更新</a:t>
            </a:r>
            <a:r>
              <a:rPr lang="en-US" altLang="zh-TW" sz="2400" dirty="0" smtClean="0"/>
              <a:t>list</a:t>
            </a:r>
            <a:r>
              <a:rPr lang="zh-TW" altLang="en-US" sz="2400" dirty="0" smtClean="0"/>
              <a:t>：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/>
              <a:t>(0, 0) , </a:t>
            </a:r>
            <a:r>
              <a:rPr lang="en-US" altLang="zh-TW" sz="2400" dirty="0" smtClean="0"/>
              <a:t>(3, </a:t>
            </a:r>
            <a:r>
              <a:rPr lang="en-US" altLang="zh-TW" sz="2400" dirty="0"/>
              <a:t>1</a:t>
            </a:r>
            <a:r>
              <a:rPr lang="en-US" altLang="zh-TW" sz="2400" dirty="0" smtClean="0"/>
              <a:t>) </a:t>
            </a:r>
            <a:r>
              <a:rPr lang="en-US" altLang="zh-TW" sz="2400" dirty="0"/>
              <a:t>, </a:t>
            </a:r>
            <a:r>
              <a:rPr lang="en-US" altLang="zh-TW" sz="2400" dirty="0" smtClean="0"/>
              <a:t>(5, </a:t>
            </a:r>
            <a:r>
              <a:rPr lang="en-US" altLang="zh-TW" sz="2400" dirty="0"/>
              <a:t>2</a:t>
            </a:r>
            <a:r>
              <a:rPr lang="en-US" altLang="zh-TW" sz="2400" dirty="0" smtClean="0"/>
              <a:t>) </a:t>
            </a:r>
            <a:r>
              <a:rPr lang="en-US" altLang="zh-TW" sz="2400" dirty="0"/>
              <a:t>, </a:t>
            </a:r>
            <a:r>
              <a:rPr lang="en-US" altLang="zh-TW" sz="2400" dirty="0" smtClean="0"/>
              <a:t>(7, </a:t>
            </a:r>
            <a:r>
              <a:rPr lang="en-US" altLang="zh-TW" sz="2400" dirty="0"/>
              <a:t>3</a:t>
            </a:r>
            <a:r>
              <a:rPr lang="en-US" altLang="zh-TW" sz="2400" dirty="0" smtClean="0"/>
              <a:t>),</a:t>
            </a:r>
            <a:r>
              <a:rPr lang="en-US" altLang="zh-TW" sz="2400" dirty="0"/>
              <a:t/>
            </a:r>
            <a:br>
              <a:rPr lang="en-US" altLang="zh-TW" sz="2400" dirty="0"/>
            </a:br>
            <a:r>
              <a:rPr lang="en-US" altLang="zh-TW" sz="2400" dirty="0" smtClean="0"/>
              <a:t>(7, 5) </a:t>
            </a:r>
            <a:r>
              <a:rPr lang="en-US" altLang="zh-TW" sz="2400" dirty="0"/>
              <a:t>, (8, 7) , (8, 7</a:t>
            </a:r>
            <a:r>
              <a:rPr lang="en-US" altLang="zh-TW" sz="2400" dirty="0" smtClean="0"/>
              <a:t>)…</a:t>
            </a:r>
          </a:p>
          <a:p>
            <a:r>
              <a:rPr lang="en-US" altLang="zh-TW" sz="2400" dirty="0" smtClean="0"/>
              <a:t>LCS</a:t>
            </a:r>
            <a:r>
              <a:rPr lang="zh-TW" altLang="en-US" sz="2400" dirty="0" smtClean="0"/>
              <a:t>為 </a:t>
            </a:r>
            <a:r>
              <a:rPr lang="en-US" altLang="zh-TW" sz="2400" dirty="0" smtClean="0"/>
              <a:t>baba</a:t>
            </a:r>
            <a:r>
              <a:rPr lang="zh-TW" altLang="en-US" sz="2400" dirty="0" smtClean="0"/>
              <a:t>，長度為</a:t>
            </a:r>
            <a:r>
              <a:rPr lang="en-US" altLang="zh-TW" sz="2400" dirty="0" smtClean="0"/>
              <a:t>4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</p:txBody>
      </p:sp>
      <p:pic>
        <p:nvPicPr>
          <p:cNvPr id="1026" name="Picture 2" descr="F:\Sena\Desktop\diff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700808"/>
            <a:ext cx="4361516" cy="3814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8357748" y="2060848"/>
            <a:ext cx="390716" cy="324036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6" name="橢圓 5"/>
          <p:cNvSpPr/>
          <p:nvPr/>
        </p:nvSpPr>
        <p:spPr>
          <a:xfrm>
            <a:off x="7118132" y="3013847"/>
            <a:ext cx="586732" cy="59507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7118132" y="4176177"/>
            <a:ext cx="586732" cy="59507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8259740" y="3608109"/>
            <a:ext cx="586732" cy="59507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12117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假設有兩字串</a:t>
                </a:r>
                <a:r>
                  <a:rPr lang="en-US" altLang="zh-TW" dirty="0"/>
                  <a:t>A</a:t>
                </a:r>
                <a:r>
                  <a:rPr lang="zh-TW" altLang="en-US" dirty="0"/>
                  <a:t>、</a:t>
                </a:r>
                <a:r>
                  <a:rPr lang="en-US" altLang="zh-TW" dirty="0" smtClean="0"/>
                  <a:t>B</a:t>
                </a:r>
                <a:r>
                  <a:rPr lang="zh-TW" altLang="en-US" dirty="0" smtClean="0"/>
                  <a:t>，其長度分別為</a:t>
                </a:r>
                <a:r>
                  <a:rPr lang="en-US" altLang="zh-TW" dirty="0" smtClean="0"/>
                  <a:t>m</a:t>
                </a:r>
                <a:r>
                  <a:rPr lang="zh-TW" altLang="en-US" dirty="0" smtClean="0"/>
                  <a:t>、</a:t>
                </a:r>
                <a:r>
                  <a:rPr lang="en-US" altLang="zh-TW" dirty="0" smtClean="0"/>
                  <a:t>n</a:t>
                </a:r>
              </a:p>
              <a:p>
                <a:r>
                  <a:rPr lang="zh-TW" altLang="en-US" dirty="0"/>
                  <a:t>每次掃描</a:t>
                </a:r>
                <a:r>
                  <a:rPr lang="zh-TW" altLang="en-US" dirty="0" smtClean="0"/>
                  <a:t>為以</a:t>
                </a:r>
                <a:r>
                  <a:rPr lang="en-US" altLang="zh-TW" dirty="0" smtClean="0"/>
                  <a:t>A</a:t>
                </a:r>
                <a:r>
                  <a:rPr lang="zh-TW" altLang="en-US" dirty="0" smtClean="0"/>
                  <a:t>的元素對</a:t>
                </a:r>
                <a:r>
                  <a:rPr lang="en-US" altLang="zh-TW" dirty="0" smtClean="0"/>
                  <a:t>B</a:t>
                </a:r>
                <a:r>
                  <a:rPr lang="zh-TW" altLang="en-US" dirty="0"/>
                  <a:t>作</a:t>
                </a:r>
                <a:r>
                  <a:rPr lang="en-US" altLang="zh-TW" dirty="0" smtClean="0"/>
                  <a:t>binary </a:t>
                </a:r>
                <a:r>
                  <a:rPr lang="en-US" altLang="zh-TW" dirty="0"/>
                  <a:t>search</a:t>
                </a:r>
                <a:r>
                  <a:rPr lang="zh-TW" altLang="en-US" dirty="0" smtClean="0"/>
                  <a:t>找出</a:t>
                </a:r>
                <a:r>
                  <a:rPr lang="en-US" altLang="zh-TW" dirty="0" smtClean="0"/>
                  <a:t>candidate</a:t>
                </a:r>
                <a:r>
                  <a:rPr lang="zh-TW" altLang="en-US" dirty="0" smtClean="0"/>
                  <a:t>，此步驟為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/>
                      </a:rPr>
                      <m:t>O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𝑚</m:t>
                        </m:r>
                        <m:func>
                          <m:funcPr>
                            <m:ctrlPr>
                              <a:rPr lang="en-US" altLang="zh-TW" b="0" i="1" dirty="0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dirty="0" smtClean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zh-TW" altLang="en-US" dirty="0" smtClean="0"/>
                  <a:t>，又每次掃描須檢查最多</a:t>
                </a:r>
                <a:r>
                  <a:rPr lang="en-US" altLang="zh-TW" dirty="0" smtClean="0"/>
                  <a:t>n</a:t>
                </a:r>
                <a:r>
                  <a:rPr lang="zh-TW" altLang="en-US" dirty="0" smtClean="0"/>
                  <a:t>個</a:t>
                </a:r>
                <a:r>
                  <a:rPr lang="en-US" altLang="zh-TW" dirty="0" smtClean="0"/>
                  <a:t>candidate</a:t>
                </a:r>
                <a:r>
                  <a:rPr lang="zh-TW" altLang="en-US" dirty="0" smtClean="0"/>
                  <a:t>是否為</a:t>
                </a:r>
                <a:r>
                  <a:rPr lang="en-US" altLang="zh-TW" dirty="0" smtClean="0"/>
                  <a:t>k-candidate</a:t>
                </a:r>
                <a:r>
                  <a:rPr lang="zh-TW" altLang="en-US" smtClean="0"/>
                  <a:t>，總</a:t>
                </a:r>
                <a:r>
                  <a:rPr lang="zh-TW" altLang="en-US" dirty="0" smtClean="0"/>
                  <a:t>時間複雜度為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/>
                      </a:rPr>
                      <m:t>O</m:t>
                    </m:r>
                    <m:d>
                      <m:dPr>
                        <m:ctrlPr>
                          <a:rPr lang="en-US" altLang="zh-TW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𝑛</m:t>
                        </m:r>
                        <m:r>
                          <a:rPr lang="en-US" altLang="zh-TW" i="1" dirty="0">
                            <a:latin typeface="Cambria Math"/>
                          </a:rPr>
                          <m:t>𝑚</m:t>
                        </m:r>
                        <m:func>
                          <m:func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 r="-9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571605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彪哥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412</Words>
  <Application>Microsoft Office PowerPoint</Application>
  <PresentationFormat>如螢幕大小 (4:3)</PresentationFormat>
  <Paragraphs>65</Paragraphs>
  <Slides>14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5" baseType="lpstr">
      <vt:lpstr>Office 佈景主題</vt:lpstr>
      <vt:lpstr>An Algorithm for Differential File Comparison</vt:lpstr>
      <vt:lpstr>Abstract</vt:lpstr>
      <vt:lpstr>Diff</vt:lpstr>
      <vt:lpstr>Diff</vt:lpstr>
      <vt:lpstr>Diff</vt:lpstr>
      <vt:lpstr>Diff Algorithm for LCS</vt:lpstr>
      <vt:lpstr>Diff Algorithm for LCS</vt:lpstr>
      <vt:lpstr>Diff Algorithm for LCS</vt:lpstr>
      <vt:lpstr>Diff Algorithm for LCS</vt:lpstr>
      <vt:lpstr>Diff Algorithm for LCS</vt:lpstr>
      <vt:lpstr>Diff Algorithm for LCS</vt:lpstr>
      <vt:lpstr>Diff Algorithm for LCS</vt:lpstr>
      <vt:lpstr>Diff Algorithm for LCS</vt:lpstr>
      <vt:lpstr>Time Complexity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Algorithm for Differential File Comparison</dc:title>
  <dc:creator>potatOS</dc:creator>
  <cp:lastModifiedBy>admin</cp:lastModifiedBy>
  <cp:revision>30</cp:revision>
  <dcterms:created xsi:type="dcterms:W3CDTF">2014-02-17T05:42:01Z</dcterms:created>
  <dcterms:modified xsi:type="dcterms:W3CDTF">2014-02-18T11:08:08Z</dcterms:modified>
</cp:coreProperties>
</file>