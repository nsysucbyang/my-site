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notesMasterIdLst>
    <p:notesMasterId r:id="rId13"/>
  </p:notesMasterIdLst>
  <p:sldIdLst>
    <p:sldId id="287" r:id="rId2"/>
    <p:sldId id="269" r:id="rId3"/>
    <p:sldId id="288" r:id="rId4"/>
    <p:sldId id="289" r:id="rId5"/>
    <p:sldId id="290" r:id="rId6"/>
    <p:sldId id="291" r:id="rId7"/>
    <p:sldId id="292" r:id="rId8"/>
    <p:sldId id="295" r:id="rId9"/>
    <p:sldId id="293" r:id="rId10"/>
    <p:sldId id="294" r:id="rId11"/>
    <p:sldId id="266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44" autoAdjust="0"/>
  </p:normalViewPr>
  <p:slideViewPr>
    <p:cSldViewPr>
      <p:cViewPr>
        <p:scale>
          <a:sx n="80" d="100"/>
          <a:sy n="80" d="100"/>
        </p:scale>
        <p:origin x="-1878" y="-6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50DA3-8C64-4E5B-BDA5-39D7F6F297B3}" type="datetimeFigureOut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8B9CE-08CF-4B6F-9C3E-B7375A4C73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1243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9E23-CAB4-4AC9-B1D3-C404B2A8D45F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1DFF-2CB7-4FC6-91FC-EBD2965FCB4C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2B-8F0F-4B7D-A730-DCE5C2323F11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0131-A4A2-4A69-B3F2-90ED77FF9466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6B7E-71A5-4D99-9CC4-40B53F247A97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E7F3-7DB6-4F10-B662-1BB4DA84A4BE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B8DB-8BC9-41EC-B5F5-E5E6ABA62F7F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F484-157B-4B35-94F1-5570E486B3AD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3F45-D604-43A9-A433-05546504FCCF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E615-6024-424D-A3D3-43BCAFFE1C3E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65A4-4175-4F2F-9EB2-09251561B7EC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B14E302B-8F0F-4B7D-A730-DCE5C2323F11}" type="datetime1">
              <a:rPr lang="zh-TW" altLang="en-US" smtClean="0"/>
              <a:t>2014/2/18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/>
              <a:t>An Extension of the String-to-String Correction Problem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Roy Lowrance and Robert A. Wagner</a:t>
            </a:r>
          </a:p>
          <a:p>
            <a:r>
              <a:rPr lang="en-US" altLang="zh-TW" dirty="0"/>
              <a:t>Journal of the Association for </a:t>
            </a:r>
            <a:r>
              <a:rPr lang="en-US" altLang="zh-TW" dirty="0" smtClean="0"/>
              <a:t>Computing Machinery</a:t>
            </a:r>
            <a:r>
              <a:rPr lang="en-US" altLang="zh-TW" dirty="0"/>
              <a:t>, vol.22, No.2, pp</a:t>
            </a:r>
            <a:r>
              <a:rPr lang="en-US" altLang="zh-TW" dirty="0" smtClean="0"/>
              <a:t>. 177-183</a:t>
            </a:r>
            <a:r>
              <a:rPr lang="en-US" altLang="zh-TW" dirty="0"/>
              <a:t>, April 1975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sp>
        <p:nvSpPr>
          <p:cNvPr id="4" name="矩形 3"/>
          <p:cNvSpPr/>
          <p:nvPr/>
        </p:nvSpPr>
        <p:spPr>
          <a:xfrm>
            <a:off x="5148064" y="5805264"/>
            <a:ext cx="30780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TW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Times New Roman" pitchFamily="18" charset="0"/>
              </a:rPr>
              <a:t>Presenter: Chun-Chieh Tai</a:t>
            </a:r>
          </a:p>
          <a:p>
            <a:pPr algn="r"/>
            <a:r>
              <a:rPr lang="en-US" altLang="zh-TW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Times New Roman" pitchFamily="18" charset="0"/>
              </a:rPr>
              <a:t>Date: </a:t>
            </a:r>
            <a:r>
              <a:rPr lang="en-US" altLang="zh-TW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Times New Roman" pitchFamily="18" charset="0"/>
              </a:rPr>
              <a:t>February 18, 2014</a:t>
            </a:r>
            <a:endParaRPr lang="zh-TW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8131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altLang="zh-TW" dirty="0"/>
              <a:t>The string-to-string correction problem asks for a sequence S of "edit operations" of minimal cost such that </a:t>
            </a:r>
            <a:r>
              <a:rPr lang="en-US" altLang="zh-TW" dirty="0" smtClean="0"/>
              <a:t>S(A</a:t>
            </a:r>
            <a:r>
              <a:rPr lang="en-US" altLang="zh-TW" dirty="0"/>
              <a:t>) = B, for given strings A and B. The edit operations previously investigated allow changing one symbol of a string into another single symbol, deleting one symbol from a string, or inserting a single symbol into a string. This paper extends the set of allowable edit operations to include the operation of interchanging the positions of two adjacent characters Under certain restrictions on edit-operation costs, it is shown that the extended problem can still be solved in time proportional to the product of the lengths of the given strings.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558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Edit Distance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0"/>
            <a:ext cx="8507288" cy="4988768"/>
          </a:xfrm>
        </p:spPr>
        <p:txBody>
          <a:bodyPr>
            <a:noAutofit/>
          </a:bodyPr>
          <a:lstStyle/>
          <a:p>
            <a:r>
              <a:rPr lang="en-US" altLang="zh-TW" sz="2400" dirty="0" smtClean="0"/>
              <a:t>Three edit operations:</a:t>
            </a:r>
          </a:p>
          <a:p>
            <a:pPr lvl="1"/>
            <a:r>
              <a:rPr lang="en-US" altLang="zh-TW" sz="2400" dirty="0" smtClean="0"/>
              <a:t>Substitution</a:t>
            </a:r>
          </a:p>
          <a:p>
            <a:pPr lvl="2"/>
            <a:r>
              <a:rPr lang="en-US" altLang="zh-TW" sz="2000" dirty="0" smtClean="0"/>
              <a:t>a</a:t>
            </a:r>
            <a:r>
              <a:rPr lang="en-US" altLang="zh-TW" sz="2000" dirty="0" smtClean="0">
                <a:solidFill>
                  <a:srgbClr val="FF0000"/>
                </a:solidFill>
              </a:rPr>
              <a:t>b</a:t>
            </a:r>
            <a:r>
              <a:rPr lang="en-US" altLang="zh-TW" sz="2000" dirty="0" smtClean="0"/>
              <a:t>cd -&gt; a</a:t>
            </a:r>
            <a:r>
              <a:rPr lang="en-US" altLang="zh-TW" sz="2000" dirty="0" smtClean="0">
                <a:solidFill>
                  <a:srgbClr val="FF0000"/>
                </a:solidFill>
              </a:rPr>
              <a:t>a</a:t>
            </a:r>
            <a:r>
              <a:rPr lang="en-US" altLang="zh-TW" sz="2000" dirty="0" smtClean="0"/>
              <a:t>cd (change b to a)</a:t>
            </a:r>
          </a:p>
          <a:p>
            <a:pPr lvl="1"/>
            <a:r>
              <a:rPr lang="en-US" altLang="zh-TW" sz="2400" dirty="0" smtClean="0"/>
              <a:t>Insertion</a:t>
            </a:r>
          </a:p>
          <a:p>
            <a:pPr lvl="2"/>
            <a:r>
              <a:rPr lang="en-US" altLang="zh-TW" sz="2000" dirty="0" smtClean="0"/>
              <a:t>abcd -&gt; ab</a:t>
            </a:r>
            <a:r>
              <a:rPr lang="en-US" altLang="zh-TW" sz="2000" dirty="0" smtClean="0">
                <a:solidFill>
                  <a:srgbClr val="FF0000"/>
                </a:solidFill>
              </a:rPr>
              <a:t>a</a:t>
            </a:r>
            <a:r>
              <a:rPr lang="en-US" altLang="zh-TW" sz="2000" dirty="0" smtClean="0"/>
              <a:t>cd (insert an a)</a:t>
            </a:r>
          </a:p>
          <a:p>
            <a:pPr lvl="1"/>
            <a:r>
              <a:rPr lang="en-US" altLang="zh-TW" sz="2400" dirty="0" smtClean="0"/>
              <a:t>Deletion</a:t>
            </a:r>
          </a:p>
          <a:p>
            <a:pPr lvl="2"/>
            <a:r>
              <a:rPr lang="en-US" altLang="zh-TW" sz="2000" dirty="0" smtClean="0"/>
              <a:t>ab</a:t>
            </a:r>
            <a:r>
              <a:rPr lang="en-US" altLang="zh-TW" sz="2000" dirty="0" smtClean="0">
                <a:solidFill>
                  <a:srgbClr val="FF0000"/>
                </a:solidFill>
              </a:rPr>
              <a:t>c</a:t>
            </a:r>
            <a:r>
              <a:rPr lang="en-US" altLang="zh-TW" sz="2000" dirty="0" smtClean="0"/>
              <a:t>d -&gt; abd (delete c)</a:t>
            </a:r>
          </a:p>
          <a:p>
            <a:r>
              <a:rPr lang="en-US" altLang="zh-TW" sz="2400" dirty="0" smtClean="0"/>
              <a:t>Given two strings A and B, the problem is to determine the minimum number of edit operations to transform A into B. </a:t>
            </a:r>
          </a:p>
          <a:p>
            <a:endParaRPr lang="en-US" altLang="zh-TW" sz="1200" i="1" dirty="0" smtClean="0"/>
          </a:p>
          <a:p>
            <a:r>
              <a:rPr lang="en-US" altLang="zh-TW" i="1" dirty="0" smtClean="0"/>
              <a:t>Note</a:t>
            </a:r>
            <a:r>
              <a:rPr lang="en-US" altLang="zh-TW" i="1" dirty="0" smtClean="0"/>
              <a:t>: For clarity, we consider the cost of all edit operations are same.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8136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for </a:t>
            </a:r>
            <a:br>
              <a:rPr lang="en-US" altLang="zh-TW" dirty="0" smtClean="0"/>
            </a:br>
            <a:r>
              <a:rPr lang="en-US" altLang="zh-TW" dirty="0" smtClean="0"/>
              <a:t>Edit Distance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1"/>
            <a:ext cx="7620000" cy="1748408"/>
          </a:xfrm>
        </p:spPr>
        <p:txBody>
          <a:bodyPr/>
          <a:lstStyle/>
          <a:p>
            <a:r>
              <a:rPr lang="en-US" altLang="zh-TW" dirty="0" smtClean="0"/>
              <a:t>sitting -&gt; kitten</a:t>
            </a:r>
          </a:p>
          <a:p>
            <a:r>
              <a:rPr lang="en-US" altLang="zh-TW" dirty="0" smtClean="0"/>
              <a:t>d[i, j] = min{ d[i, j-1] + 1,                            // Insertion</a:t>
            </a:r>
          </a:p>
          <a:p>
            <a:r>
              <a:rPr lang="en-US" altLang="zh-TW" dirty="0" smtClean="0"/>
              <a:t>                     d[i-1, j] + 1,                             // Deletion</a:t>
            </a:r>
          </a:p>
          <a:p>
            <a:r>
              <a:rPr lang="en-US" altLang="zh-TW" dirty="0" smtClean="0"/>
              <a:t>                     d[i-1, j-1] + cost(A[i]-&gt;B[j])}   // Substitution</a:t>
            </a:r>
            <a:endParaRPr lang="en-US" altLang="zh-TW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651378"/>
              </p:ext>
            </p:extLst>
          </p:nvPr>
        </p:nvGraphicFramePr>
        <p:xfrm>
          <a:off x="467544" y="3521536"/>
          <a:ext cx="6917944" cy="3291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64743"/>
                <a:gridCol w="864743"/>
                <a:gridCol w="864743"/>
                <a:gridCol w="864743"/>
                <a:gridCol w="864743"/>
                <a:gridCol w="864743"/>
                <a:gridCol w="864743"/>
                <a:gridCol w="864743"/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k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i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t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t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e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n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2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4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5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6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s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1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4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5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6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i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2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2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2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4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5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t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2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2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4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t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4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4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2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2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i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5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5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4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2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n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6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6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5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4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3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g</a:t>
                      </a:r>
                      <a:endParaRPr lang="zh-TW" altLang="en-US" sz="18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7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7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6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5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4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/>
                        <a:t>4</a:t>
                      </a:r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9" name="群組 8"/>
          <p:cNvGrpSpPr/>
          <p:nvPr/>
        </p:nvGrpSpPr>
        <p:grpSpPr>
          <a:xfrm>
            <a:off x="5220072" y="1159878"/>
            <a:ext cx="3365024" cy="646331"/>
            <a:chOff x="5724128" y="836712"/>
            <a:chExt cx="3365024" cy="646331"/>
          </a:xfrm>
        </p:grpSpPr>
        <p:sp>
          <p:nvSpPr>
            <p:cNvPr id="7" name="文字方塊 6"/>
            <p:cNvSpPr txBox="1"/>
            <p:nvPr/>
          </p:nvSpPr>
          <p:spPr>
            <a:xfrm>
              <a:off x="5724128" y="836712"/>
              <a:ext cx="33650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cost(A[i]-&gt;B[j</a:t>
              </a:r>
              <a:r>
                <a:rPr lang="en-US" altLang="zh-TW" dirty="0" smtClean="0"/>
                <a:t>]) =  </a:t>
              </a:r>
              <a:r>
                <a:rPr lang="en-US" altLang="zh-TW" dirty="0" smtClean="0"/>
                <a:t> 0</a:t>
              </a:r>
              <a:r>
                <a:rPr lang="en-US" altLang="zh-TW" dirty="0" smtClean="0"/>
                <a:t>, if A[i]=B[j].</a:t>
              </a:r>
            </a:p>
            <a:p>
              <a:r>
                <a:rPr lang="en-US" altLang="zh-TW" dirty="0"/>
                <a:t> </a:t>
              </a:r>
              <a:r>
                <a:rPr lang="en-US" altLang="zh-TW" dirty="0" smtClean="0"/>
                <a:t>                           </a:t>
              </a:r>
              <a:r>
                <a:rPr lang="en-US" altLang="zh-TW" dirty="0" smtClean="0"/>
                <a:t> 1, </a:t>
              </a:r>
              <a:r>
                <a:rPr lang="en-US" altLang="zh-TW" dirty="0" smtClean="0"/>
                <a:t>otherwise.</a:t>
              </a:r>
              <a:endParaRPr lang="zh-TW" altLang="en-US" dirty="0"/>
            </a:p>
          </p:txBody>
        </p:sp>
        <p:sp>
          <p:nvSpPr>
            <p:cNvPr id="8" name="左大括弧 7"/>
            <p:cNvSpPr/>
            <p:nvPr/>
          </p:nvSpPr>
          <p:spPr>
            <a:xfrm>
              <a:off x="7487945" y="1017601"/>
              <a:ext cx="117727" cy="288033"/>
            </a:xfrm>
            <a:prstGeom prst="leftBrac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558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772744"/>
          </a:xfrm>
        </p:spPr>
        <p:txBody>
          <a:bodyPr>
            <a:noAutofit/>
          </a:bodyPr>
          <a:lstStyle/>
          <a:p>
            <a:pPr algn="just"/>
            <a:r>
              <a:rPr lang="en-US" altLang="zh-TW" sz="2800" dirty="0" smtClean="0"/>
              <a:t>This paper extends the set of edit operations to include the operation of interchanging two adjacent characters.</a:t>
            </a:r>
          </a:p>
          <a:p>
            <a:pPr lvl="1"/>
            <a:r>
              <a:rPr lang="en-US" altLang="zh-TW" sz="2800" dirty="0" smtClean="0"/>
              <a:t>Swap </a:t>
            </a:r>
          </a:p>
          <a:p>
            <a:r>
              <a:rPr lang="en-US" altLang="zh-TW" sz="2800" dirty="0" smtClean="0"/>
              <a:t>Example:</a:t>
            </a:r>
          </a:p>
          <a:p>
            <a:pPr marL="274320" lvl="1" indent="0">
              <a:buNone/>
            </a:pPr>
            <a:r>
              <a:rPr lang="en-US" altLang="zh-TW" sz="2800" i="1" dirty="0" smtClean="0"/>
              <a:t>A</a:t>
            </a:r>
            <a:r>
              <a:rPr lang="en-US" altLang="zh-TW" sz="2800" dirty="0"/>
              <a:t>: a b c d </a:t>
            </a:r>
          </a:p>
          <a:p>
            <a:pPr marL="274320" lvl="1" indent="0">
              <a:buNone/>
            </a:pPr>
            <a:r>
              <a:rPr lang="en-US" altLang="zh-TW" sz="2800" i="1" dirty="0" smtClean="0"/>
              <a:t>B</a:t>
            </a:r>
            <a:r>
              <a:rPr lang="en-US" altLang="zh-TW" sz="2800" dirty="0"/>
              <a:t>: c d </a:t>
            </a:r>
            <a:r>
              <a:rPr lang="en-US" altLang="zh-TW" sz="2800" dirty="0" smtClean="0"/>
              <a:t>a</a:t>
            </a:r>
          </a:p>
          <a:p>
            <a:pPr marL="274320" lvl="1" indent="0">
              <a:buNone/>
            </a:pPr>
            <a:endParaRPr lang="en-US" altLang="zh-TW" sz="1400" dirty="0" smtClean="0"/>
          </a:p>
          <a:p>
            <a:pPr marL="274320" lvl="1" indent="0">
              <a:buNone/>
            </a:pPr>
            <a:r>
              <a:rPr lang="en-US" altLang="zh-TW" sz="2800" dirty="0" smtClean="0"/>
              <a:t>a </a:t>
            </a:r>
            <a:r>
              <a:rPr lang="en-US" altLang="zh-TW" sz="2800" dirty="0"/>
              <a:t>b c d </a:t>
            </a:r>
            <a:r>
              <a:rPr lang="en-US" altLang="zh-TW" sz="2800" dirty="0">
                <a:solidFill>
                  <a:srgbClr val="FF0000"/>
                </a:solidFill>
              </a:rPr>
              <a:t>-&gt;</a:t>
            </a:r>
            <a:r>
              <a:rPr lang="en-US" altLang="zh-TW" sz="2800" dirty="0"/>
              <a:t> a c d </a:t>
            </a:r>
            <a:r>
              <a:rPr lang="en-US" altLang="zh-TW" sz="2800" dirty="0">
                <a:solidFill>
                  <a:srgbClr val="FF0000"/>
                </a:solidFill>
              </a:rPr>
              <a:t>-&gt;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c a d </a:t>
            </a:r>
            <a:r>
              <a:rPr lang="en-US" altLang="zh-TW" sz="2800" dirty="0">
                <a:solidFill>
                  <a:srgbClr val="FF0000"/>
                </a:solidFill>
              </a:rPr>
              <a:t>-&gt;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c d a</a:t>
            </a:r>
          </a:p>
        </p:txBody>
      </p:sp>
    </p:spTree>
    <p:extLst>
      <p:ext uri="{BB962C8B-B14F-4D97-AF65-F5344CB8AC3E}">
        <p14:creationId xmlns:p14="http://schemas.microsoft.com/office/powerpoint/2010/main" val="174352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1"/>
            <a:ext cx="7620000" cy="2684512"/>
          </a:xfrm>
        </p:spPr>
        <p:txBody>
          <a:bodyPr>
            <a:normAutofit/>
          </a:bodyPr>
          <a:lstStyle/>
          <a:p>
            <a:pPr algn="just"/>
            <a:r>
              <a:rPr lang="en-US" altLang="zh-TW" sz="2800" dirty="0" smtClean="0"/>
              <a:t>A trace is a graphical specification of how edit operations apply to each character in the two strings.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Example: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326028"/>
              </p:ext>
            </p:extLst>
          </p:nvPr>
        </p:nvGraphicFramePr>
        <p:xfrm>
          <a:off x="2411760" y="4243066"/>
          <a:ext cx="2448270" cy="1424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654"/>
                <a:gridCol w="489654"/>
                <a:gridCol w="489654"/>
                <a:gridCol w="489654"/>
                <a:gridCol w="489654"/>
              </a:tblGrid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/>
                        <a:t>A</a:t>
                      </a:r>
                      <a:r>
                        <a:rPr lang="en-US" altLang="zh-TW" sz="2800" dirty="0" smtClean="0"/>
                        <a:t>: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d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/>
                        <a:t>B</a:t>
                      </a:r>
                      <a:r>
                        <a:rPr lang="en-US" altLang="zh-TW" sz="2800" dirty="0" smtClean="0"/>
                        <a:t>: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d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3131839" y="4826092"/>
            <a:ext cx="1439863" cy="282575"/>
            <a:chOff x="2017" y="2726"/>
            <a:chExt cx="907" cy="178"/>
          </a:xfrm>
        </p:grpSpPr>
        <p:sp>
          <p:nvSpPr>
            <p:cNvPr id="13" name="Line 6"/>
            <p:cNvSpPr>
              <a:spLocks noChangeShapeType="1"/>
            </p:cNvSpPr>
            <p:nvPr/>
          </p:nvSpPr>
          <p:spPr bwMode="auto">
            <a:xfrm>
              <a:off x="2017" y="2726"/>
              <a:ext cx="635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 flipV="1">
              <a:off x="2017" y="2726"/>
              <a:ext cx="635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 flipV="1">
              <a:off x="2357" y="2726"/>
              <a:ext cx="567" cy="17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078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399818"/>
              </p:ext>
            </p:extLst>
          </p:nvPr>
        </p:nvGraphicFramePr>
        <p:xfrm>
          <a:off x="5292080" y="3429000"/>
          <a:ext cx="2304256" cy="1424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/>
                <a:gridCol w="504056"/>
                <a:gridCol w="504056"/>
                <a:gridCol w="504056"/>
                <a:gridCol w="288032"/>
              </a:tblGrid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492997"/>
              </p:ext>
            </p:extLst>
          </p:nvPr>
        </p:nvGraphicFramePr>
        <p:xfrm>
          <a:off x="3028966" y="3429000"/>
          <a:ext cx="1547139" cy="1424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713"/>
                <a:gridCol w="515713"/>
                <a:gridCol w="515713"/>
              </a:tblGrid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555608"/>
              </p:ext>
            </p:extLst>
          </p:nvPr>
        </p:nvGraphicFramePr>
        <p:xfrm>
          <a:off x="879887" y="3429000"/>
          <a:ext cx="1547139" cy="1424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713"/>
                <a:gridCol w="515713"/>
                <a:gridCol w="515713"/>
              </a:tblGrid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635080" cy="1371600"/>
          </a:xfrm>
        </p:spPr>
        <p:txBody>
          <a:bodyPr/>
          <a:lstStyle/>
          <a:p>
            <a:r>
              <a:rPr lang="en-US" altLang="zh-TW" dirty="0" smtClean="0"/>
              <a:t>Important Properties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1"/>
            <a:ext cx="7620000" cy="1100336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The edit operations in following cases can be substituted by other edit operations.</a:t>
            </a:r>
            <a:endParaRPr lang="en-US" altLang="zh-TW" sz="2800" dirty="0"/>
          </a:p>
        </p:txBody>
      </p:sp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1116088" y="4012026"/>
            <a:ext cx="1079501" cy="282575"/>
            <a:chOff x="2017" y="2726"/>
            <a:chExt cx="680" cy="178"/>
          </a:xfrm>
        </p:grpSpPr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2017" y="2726"/>
              <a:ext cx="68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V="1">
              <a:off x="2017" y="2726"/>
              <a:ext cx="34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V="1">
              <a:off x="2357" y="2726"/>
              <a:ext cx="34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8" name="Group 10"/>
          <p:cNvGrpSpPr>
            <a:grpSpLocks/>
          </p:cNvGrpSpPr>
          <p:nvPr/>
        </p:nvGrpSpPr>
        <p:grpSpPr bwMode="auto">
          <a:xfrm>
            <a:off x="3356027" y="4011422"/>
            <a:ext cx="1000126" cy="282575"/>
            <a:chOff x="2151" y="2730"/>
            <a:chExt cx="630" cy="178"/>
          </a:xfrm>
        </p:grpSpPr>
        <p:sp>
          <p:nvSpPr>
            <p:cNvPr id="20" name="Line 6"/>
            <p:cNvSpPr>
              <a:spLocks noChangeShapeType="1"/>
            </p:cNvSpPr>
            <p:nvPr/>
          </p:nvSpPr>
          <p:spPr bwMode="auto">
            <a:xfrm>
              <a:off x="2151" y="2730"/>
              <a:ext cx="63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Line 7"/>
            <p:cNvSpPr>
              <a:spLocks noChangeShapeType="1"/>
            </p:cNvSpPr>
            <p:nvPr/>
          </p:nvSpPr>
          <p:spPr bwMode="auto">
            <a:xfrm flipV="1">
              <a:off x="2151" y="2730"/>
              <a:ext cx="63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3" name="Group 10"/>
          <p:cNvGrpSpPr>
            <a:grpSpLocks/>
          </p:cNvGrpSpPr>
          <p:nvPr/>
        </p:nvGrpSpPr>
        <p:grpSpPr bwMode="auto">
          <a:xfrm>
            <a:off x="5606951" y="4011416"/>
            <a:ext cx="1844677" cy="282575"/>
            <a:chOff x="2151" y="2738"/>
            <a:chExt cx="1162" cy="178"/>
          </a:xfrm>
        </p:grpSpPr>
        <p:sp>
          <p:nvSpPr>
            <p:cNvPr id="25" name="Line 6"/>
            <p:cNvSpPr>
              <a:spLocks noChangeShapeType="1"/>
            </p:cNvSpPr>
            <p:nvPr/>
          </p:nvSpPr>
          <p:spPr bwMode="auto">
            <a:xfrm>
              <a:off x="2151" y="2738"/>
              <a:ext cx="1162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Line 7"/>
            <p:cNvSpPr>
              <a:spLocks noChangeShapeType="1"/>
            </p:cNvSpPr>
            <p:nvPr/>
          </p:nvSpPr>
          <p:spPr bwMode="auto">
            <a:xfrm flipV="1">
              <a:off x="2151" y="2738"/>
              <a:ext cx="1162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58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405319"/>
              </p:ext>
            </p:extLst>
          </p:nvPr>
        </p:nvGraphicFramePr>
        <p:xfrm>
          <a:off x="467544" y="60012"/>
          <a:ext cx="1547139" cy="1424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713"/>
                <a:gridCol w="515713"/>
                <a:gridCol w="515713"/>
              </a:tblGrid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703745" y="643038"/>
            <a:ext cx="1079501" cy="282575"/>
            <a:chOff x="2017" y="2726"/>
            <a:chExt cx="680" cy="178"/>
          </a:xfrm>
        </p:grpSpPr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2017" y="2726"/>
              <a:ext cx="68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V="1">
              <a:off x="2017" y="2726"/>
              <a:ext cx="34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2357" y="2726"/>
              <a:ext cx="34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93891"/>
              </p:ext>
            </p:extLst>
          </p:nvPr>
        </p:nvGraphicFramePr>
        <p:xfrm>
          <a:off x="477283" y="4308484"/>
          <a:ext cx="2304256" cy="1424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/>
                <a:gridCol w="504056"/>
                <a:gridCol w="504056"/>
                <a:gridCol w="504056"/>
                <a:gridCol w="288032"/>
              </a:tblGrid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075056"/>
              </p:ext>
            </p:extLst>
          </p:nvPr>
        </p:nvGraphicFramePr>
        <p:xfrm>
          <a:off x="467902" y="2004228"/>
          <a:ext cx="1547139" cy="1424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713"/>
                <a:gridCol w="515713"/>
                <a:gridCol w="515713"/>
              </a:tblGrid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703745" y="2595543"/>
            <a:ext cx="1079501" cy="282575"/>
            <a:chOff x="2151" y="2730"/>
            <a:chExt cx="680" cy="178"/>
          </a:xfrm>
        </p:grpSpPr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2151" y="2730"/>
              <a:ext cx="68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Line 7"/>
            <p:cNvSpPr>
              <a:spLocks noChangeShapeType="1"/>
            </p:cNvSpPr>
            <p:nvPr/>
          </p:nvSpPr>
          <p:spPr bwMode="auto">
            <a:xfrm flipV="1">
              <a:off x="2151" y="2730"/>
              <a:ext cx="68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4" name="Group 10"/>
          <p:cNvGrpSpPr>
            <a:grpSpLocks/>
          </p:cNvGrpSpPr>
          <p:nvPr/>
        </p:nvGrpSpPr>
        <p:grpSpPr bwMode="auto">
          <a:xfrm>
            <a:off x="703744" y="4890005"/>
            <a:ext cx="1972741" cy="282575"/>
            <a:chOff x="2151" y="2738"/>
            <a:chExt cx="1027" cy="178"/>
          </a:xfrm>
        </p:grpSpPr>
        <p:sp>
          <p:nvSpPr>
            <p:cNvPr id="15" name="Line 6"/>
            <p:cNvSpPr>
              <a:spLocks noChangeShapeType="1"/>
            </p:cNvSpPr>
            <p:nvPr/>
          </p:nvSpPr>
          <p:spPr bwMode="auto">
            <a:xfrm>
              <a:off x="2151" y="2738"/>
              <a:ext cx="1027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auto">
            <a:xfrm flipV="1">
              <a:off x="2151" y="2738"/>
              <a:ext cx="1027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7" name="Text Box 164"/>
          <p:cNvSpPr txBox="1">
            <a:spLocks noChangeArrowheads="1"/>
          </p:cNvSpPr>
          <p:nvPr/>
        </p:nvSpPr>
        <p:spPr bwMode="auto">
          <a:xfrm>
            <a:off x="684213" y="1409700"/>
            <a:ext cx="119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dirty="0">
                <a:latin typeface="Georgia" pitchFamily="18" charset="0"/>
              </a:rPr>
              <a:t>2 </a:t>
            </a:r>
            <a:r>
              <a:rPr lang="en-US" altLang="zh-TW" dirty="0">
                <a:latin typeface="Georgia" pitchFamily="18" charset="0"/>
                <a:sym typeface="Symbol" pitchFamily="18" charset="2"/>
              </a:rPr>
              <a:t></a:t>
            </a:r>
            <a:r>
              <a:rPr lang="en-US" altLang="zh-TW" i="1" dirty="0">
                <a:latin typeface="Georgia" pitchFamily="18" charset="0"/>
              </a:rPr>
              <a:t> swaps</a:t>
            </a:r>
            <a:endParaRPr lang="en-US" altLang="zh-TW" i="1" baseline="-25000" dirty="0">
              <a:latin typeface="Georgia" pitchFamily="18" charset="0"/>
            </a:endParaRPr>
          </a:p>
        </p:txBody>
      </p:sp>
      <p:sp>
        <p:nvSpPr>
          <p:cNvPr id="18" name="Text Box 165"/>
          <p:cNvSpPr txBox="1">
            <a:spLocks noChangeArrowheads="1"/>
          </p:cNvSpPr>
          <p:nvPr/>
        </p:nvSpPr>
        <p:spPr bwMode="auto">
          <a:xfrm>
            <a:off x="4500563" y="1412875"/>
            <a:ext cx="2179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i="1" dirty="0">
                <a:latin typeface="Georgia" pitchFamily="18" charset="0"/>
              </a:rPr>
              <a:t>insertion + deletion</a:t>
            </a:r>
            <a:endParaRPr lang="en-US" altLang="zh-TW" i="1" baseline="-25000" dirty="0">
              <a:latin typeface="Georgia" pitchFamily="18" charset="0"/>
            </a:endParaRPr>
          </a:p>
        </p:txBody>
      </p:sp>
      <p:sp>
        <p:nvSpPr>
          <p:cNvPr id="19" name="Line 167"/>
          <p:cNvSpPr>
            <a:spLocks noChangeShapeType="1"/>
          </p:cNvSpPr>
          <p:nvPr/>
        </p:nvSpPr>
        <p:spPr bwMode="auto">
          <a:xfrm>
            <a:off x="395288" y="1916113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" name="Line 170"/>
          <p:cNvSpPr>
            <a:spLocks noChangeShapeType="1"/>
          </p:cNvSpPr>
          <p:nvPr/>
        </p:nvSpPr>
        <p:spPr bwMode="auto">
          <a:xfrm>
            <a:off x="395288" y="4005263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Box 171"/>
          <p:cNvSpPr txBox="1">
            <a:spLocks noChangeArrowheads="1"/>
          </p:cNvSpPr>
          <p:nvPr/>
        </p:nvSpPr>
        <p:spPr bwMode="auto">
          <a:xfrm>
            <a:off x="3492500" y="3357563"/>
            <a:ext cx="2479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i="1" dirty="0">
                <a:latin typeface="Georgia" pitchFamily="18" charset="0"/>
              </a:rPr>
              <a:t>deletion </a:t>
            </a:r>
            <a:r>
              <a:rPr lang="en-US" altLang="zh-TW" dirty="0">
                <a:latin typeface="Georgia" pitchFamily="18" charset="0"/>
              </a:rPr>
              <a:t>+</a:t>
            </a:r>
            <a:r>
              <a:rPr lang="en-US" altLang="zh-TW" i="1" dirty="0">
                <a:latin typeface="Georgia" pitchFamily="18" charset="0"/>
              </a:rPr>
              <a:t> substitution</a:t>
            </a:r>
            <a:endParaRPr lang="en-US" altLang="zh-TW" i="1" baseline="-25000" dirty="0">
              <a:latin typeface="Georgia" pitchFamily="18" charset="0"/>
            </a:endParaRPr>
          </a:p>
        </p:txBody>
      </p:sp>
      <p:sp>
        <p:nvSpPr>
          <p:cNvPr id="22" name="Text Box 172"/>
          <p:cNvSpPr txBox="1">
            <a:spLocks noChangeArrowheads="1"/>
          </p:cNvSpPr>
          <p:nvPr/>
        </p:nvSpPr>
        <p:spPr bwMode="auto">
          <a:xfrm>
            <a:off x="6372225" y="3357563"/>
            <a:ext cx="17668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dirty="0">
                <a:latin typeface="Georgia" pitchFamily="18" charset="0"/>
              </a:rPr>
              <a:t>2</a:t>
            </a:r>
            <a:r>
              <a:rPr lang="en-US" altLang="zh-TW" i="1" dirty="0">
                <a:latin typeface="Georgia" pitchFamily="18" charset="0"/>
              </a:rPr>
              <a:t> </a:t>
            </a:r>
            <a:r>
              <a:rPr lang="en-US" altLang="zh-TW" dirty="0">
                <a:latin typeface="Georgia" pitchFamily="18" charset="0"/>
                <a:sym typeface="Symbol" pitchFamily="18" charset="2"/>
              </a:rPr>
              <a:t> </a:t>
            </a:r>
            <a:r>
              <a:rPr lang="en-US" altLang="zh-TW" i="1" dirty="0">
                <a:latin typeface="Georgia" pitchFamily="18" charset="0"/>
                <a:sym typeface="Symbol" pitchFamily="18" charset="2"/>
              </a:rPr>
              <a:t>substitution</a:t>
            </a:r>
            <a:endParaRPr lang="en-US" altLang="zh-TW" i="1" baseline="-25000" dirty="0">
              <a:latin typeface="Georgia" pitchFamily="18" charset="0"/>
              <a:sym typeface="Symbol" pitchFamily="18" charset="2"/>
            </a:endParaRPr>
          </a:p>
        </p:txBody>
      </p:sp>
      <p:sp>
        <p:nvSpPr>
          <p:cNvPr id="23" name="Text Box 173"/>
          <p:cNvSpPr txBox="1">
            <a:spLocks noChangeArrowheads="1"/>
          </p:cNvSpPr>
          <p:nvPr/>
        </p:nvSpPr>
        <p:spPr bwMode="auto">
          <a:xfrm>
            <a:off x="395288" y="3360738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i="1" dirty="0">
                <a:latin typeface="Georgia" pitchFamily="18" charset="0"/>
              </a:rPr>
              <a:t>swap + substitution</a:t>
            </a:r>
            <a:endParaRPr lang="en-US" altLang="zh-TW" i="1" baseline="-25000" dirty="0">
              <a:latin typeface="Georgia" pitchFamily="18" charset="0"/>
            </a:endParaRPr>
          </a:p>
        </p:txBody>
      </p:sp>
      <p:sp>
        <p:nvSpPr>
          <p:cNvPr id="24" name="Text Box 174"/>
          <p:cNvSpPr txBox="1">
            <a:spLocks noChangeArrowheads="1"/>
          </p:cNvSpPr>
          <p:nvPr/>
        </p:nvSpPr>
        <p:spPr bwMode="auto">
          <a:xfrm>
            <a:off x="323850" y="5949950"/>
            <a:ext cx="3521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i="1" dirty="0">
                <a:latin typeface="Georgia" pitchFamily="18" charset="0"/>
              </a:rPr>
              <a:t>swap</a:t>
            </a:r>
            <a:r>
              <a:rPr lang="en-US" altLang="zh-TW" baseline="-25000" dirty="0">
                <a:latin typeface="Georgia" pitchFamily="18" charset="0"/>
              </a:rPr>
              <a:t> </a:t>
            </a:r>
            <a:r>
              <a:rPr lang="en-US" altLang="zh-TW" dirty="0">
                <a:latin typeface="Georgia" pitchFamily="18" charset="0"/>
              </a:rPr>
              <a:t>+</a:t>
            </a:r>
            <a:r>
              <a:rPr lang="en-US" altLang="zh-TW" dirty="0"/>
              <a:t> </a:t>
            </a:r>
            <a:r>
              <a:rPr lang="en-US" altLang="zh-TW" i="1" dirty="0"/>
              <a:t>K</a:t>
            </a:r>
            <a:r>
              <a:rPr lang="en-US" altLang="zh-TW" dirty="0">
                <a:sym typeface="Symbol" pitchFamily="18" charset="2"/>
              </a:rPr>
              <a:t></a:t>
            </a:r>
            <a:r>
              <a:rPr lang="en-US" altLang="zh-TW" i="1" dirty="0">
                <a:latin typeface="Georgia" pitchFamily="18" charset="0"/>
              </a:rPr>
              <a:t>deletion</a:t>
            </a:r>
            <a:r>
              <a:rPr lang="en-US" altLang="zh-TW" dirty="0"/>
              <a:t> </a:t>
            </a:r>
            <a:r>
              <a:rPr lang="en-US" altLang="zh-TW" dirty="0">
                <a:latin typeface="Georgia" pitchFamily="18" charset="0"/>
              </a:rPr>
              <a:t>+</a:t>
            </a:r>
            <a:r>
              <a:rPr lang="en-US" altLang="zh-TW" dirty="0"/>
              <a:t> </a:t>
            </a:r>
            <a:r>
              <a:rPr lang="en-US" altLang="zh-TW" i="1" dirty="0"/>
              <a:t>L</a:t>
            </a:r>
            <a:r>
              <a:rPr lang="en-US" altLang="zh-TW" dirty="0">
                <a:sym typeface="Symbol" pitchFamily="18" charset="2"/>
              </a:rPr>
              <a:t></a:t>
            </a:r>
            <a:r>
              <a:rPr lang="en-US" altLang="zh-TW" i="1" dirty="0">
                <a:latin typeface="Georgia" pitchFamily="18" charset="0"/>
              </a:rPr>
              <a:t>insertion</a:t>
            </a:r>
          </a:p>
        </p:txBody>
      </p:sp>
      <p:sp>
        <p:nvSpPr>
          <p:cNvPr id="25" name="AutoShape 202"/>
          <p:cNvSpPr>
            <a:spLocks/>
          </p:cNvSpPr>
          <p:nvPr/>
        </p:nvSpPr>
        <p:spPr bwMode="auto">
          <a:xfrm rot="5400000">
            <a:off x="1615282" y="3793331"/>
            <a:ext cx="152400" cy="1439863"/>
          </a:xfrm>
          <a:prstGeom prst="leftBrace">
            <a:avLst>
              <a:gd name="adj1" fmla="val 787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" name="AutoShape 203"/>
          <p:cNvSpPr>
            <a:spLocks/>
          </p:cNvSpPr>
          <p:nvPr/>
        </p:nvSpPr>
        <p:spPr bwMode="auto">
          <a:xfrm rot="16200000">
            <a:off x="1615282" y="4945856"/>
            <a:ext cx="152400" cy="1439863"/>
          </a:xfrm>
          <a:prstGeom prst="leftBrace">
            <a:avLst>
              <a:gd name="adj1" fmla="val 787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7" name="Rectangle 204"/>
          <p:cNvSpPr>
            <a:spLocks noChangeArrowheads="1"/>
          </p:cNvSpPr>
          <p:nvPr/>
        </p:nvSpPr>
        <p:spPr bwMode="auto">
          <a:xfrm>
            <a:off x="1547813" y="41497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i="1" dirty="0"/>
              <a:t>K</a:t>
            </a:r>
          </a:p>
        </p:txBody>
      </p:sp>
      <p:sp>
        <p:nvSpPr>
          <p:cNvPr id="28" name="Rectangle 205"/>
          <p:cNvSpPr>
            <a:spLocks noChangeArrowheads="1"/>
          </p:cNvSpPr>
          <p:nvPr/>
        </p:nvSpPr>
        <p:spPr bwMode="auto">
          <a:xfrm>
            <a:off x="1547813" y="566102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i="1" dirty="0"/>
              <a:t>L</a:t>
            </a:r>
          </a:p>
        </p:txBody>
      </p:sp>
      <p:sp>
        <p:nvSpPr>
          <p:cNvPr id="29" name="Text Box 206"/>
          <p:cNvSpPr txBox="1">
            <a:spLocks noChangeArrowheads="1"/>
          </p:cNvSpPr>
          <p:nvPr/>
        </p:nvSpPr>
        <p:spPr bwMode="auto">
          <a:xfrm>
            <a:off x="5651500" y="5949950"/>
            <a:ext cx="2516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i="1" dirty="0">
                <a:latin typeface="Georgia" pitchFamily="18" charset="0"/>
              </a:rPr>
              <a:t>a trace with lower cost</a:t>
            </a:r>
          </a:p>
        </p:txBody>
      </p:sp>
      <p:sp>
        <p:nvSpPr>
          <p:cNvPr id="30" name="Text Box 207"/>
          <p:cNvSpPr txBox="1">
            <a:spLocks noChangeArrowheads="1"/>
          </p:cNvSpPr>
          <p:nvPr/>
        </p:nvSpPr>
        <p:spPr bwMode="auto">
          <a:xfrm>
            <a:off x="5651500" y="2420938"/>
            <a:ext cx="522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800" dirty="0">
                <a:latin typeface="Georgia" pitchFamily="18" charset="0"/>
              </a:rPr>
              <a:t>or</a:t>
            </a:r>
          </a:p>
        </p:txBody>
      </p:sp>
      <p:sp>
        <p:nvSpPr>
          <p:cNvPr id="31" name="AutoShape 209"/>
          <p:cNvSpPr>
            <a:spLocks noChangeArrowheads="1"/>
          </p:cNvSpPr>
          <p:nvPr/>
        </p:nvSpPr>
        <p:spPr bwMode="auto">
          <a:xfrm>
            <a:off x="2987675" y="404813"/>
            <a:ext cx="647700" cy="576262"/>
          </a:xfrm>
          <a:prstGeom prst="rightArrow">
            <a:avLst>
              <a:gd name="adj1" fmla="val 59231"/>
              <a:gd name="adj2" fmla="val 68869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2" name="AutoShape 210"/>
          <p:cNvSpPr>
            <a:spLocks noChangeArrowheads="1"/>
          </p:cNvSpPr>
          <p:nvPr/>
        </p:nvSpPr>
        <p:spPr bwMode="auto">
          <a:xfrm>
            <a:off x="2771775" y="2492375"/>
            <a:ext cx="647700" cy="576263"/>
          </a:xfrm>
          <a:prstGeom prst="rightArrow">
            <a:avLst>
              <a:gd name="adj1" fmla="val 59231"/>
              <a:gd name="adj2" fmla="val 68869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3" name="AutoShape 211"/>
          <p:cNvSpPr>
            <a:spLocks noChangeArrowheads="1"/>
          </p:cNvSpPr>
          <p:nvPr/>
        </p:nvSpPr>
        <p:spPr bwMode="auto">
          <a:xfrm>
            <a:off x="3995738" y="4797425"/>
            <a:ext cx="647700" cy="576263"/>
          </a:xfrm>
          <a:prstGeom prst="rightArrow">
            <a:avLst>
              <a:gd name="adj1" fmla="val 59231"/>
              <a:gd name="adj2" fmla="val 68869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405319"/>
              </p:ext>
            </p:extLst>
          </p:nvPr>
        </p:nvGraphicFramePr>
        <p:xfrm>
          <a:off x="4825086" y="60012"/>
          <a:ext cx="1547139" cy="1424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713"/>
                <a:gridCol w="515713"/>
                <a:gridCol w="515713"/>
              </a:tblGrid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35" name="Group 10"/>
          <p:cNvGrpSpPr>
            <a:grpSpLocks/>
          </p:cNvGrpSpPr>
          <p:nvPr/>
        </p:nvGrpSpPr>
        <p:grpSpPr bwMode="auto">
          <a:xfrm>
            <a:off x="5061287" y="643038"/>
            <a:ext cx="1079501" cy="282575"/>
            <a:chOff x="2017" y="2726"/>
            <a:chExt cx="680" cy="178"/>
          </a:xfrm>
        </p:grpSpPr>
        <p:sp>
          <p:nvSpPr>
            <p:cNvPr id="37" name="Line 7"/>
            <p:cNvSpPr>
              <a:spLocks noChangeShapeType="1"/>
            </p:cNvSpPr>
            <p:nvPr/>
          </p:nvSpPr>
          <p:spPr bwMode="auto">
            <a:xfrm flipV="1">
              <a:off x="2017" y="2726"/>
              <a:ext cx="34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Line 8"/>
            <p:cNvSpPr>
              <a:spLocks noChangeShapeType="1"/>
            </p:cNvSpPr>
            <p:nvPr/>
          </p:nvSpPr>
          <p:spPr bwMode="auto">
            <a:xfrm flipV="1">
              <a:off x="2357" y="2726"/>
              <a:ext cx="34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585015"/>
              </p:ext>
            </p:extLst>
          </p:nvPr>
        </p:nvGraphicFramePr>
        <p:xfrm>
          <a:off x="3958767" y="2004228"/>
          <a:ext cx="1547139" cy="1424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713"/>
                <a:gridCol w="515713"/>
                <a:gridCol w="515713"/>
              </a:tblGrid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2" name="Line 7"/>
          <p:cNvSpPr>
            <a:spLocks noChangeShapeType="1"/>
          </p:cNvSpPr>
          <p:nvPr/>
        </p:nvSpPr>
        <p:spPr bwMode="auto">
          <a:xfrm flipV="1">
            <a:off x="4194610" y="2595543"/>
            <a:ext cx="1079501" cy="2825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585015"/>
              </p:ext>
            </p:extLst>
          </p:nvPr>
        </p:nvGraphicFramePr>
        <p:xfrm>
          <a:off x="6452455" y="2004228"/>
          <a:ext cx="1547139" cy="1424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713"/>
                <a:gridCol w="515713"/>
                <a:gridCol w="515713"/>
              </a:tblGrid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44" name="Group 10"/>
          <p:cNvGrpSpPr>
            <a:grpSpLocks/>
          </p:cNvGrpSpPr>
          <p:nvPr/>
        </p:nvGrpSpPr>
        <p:grpSpPr bwMode="auto">
          <a:xfrm>
            <a:off x="6688298" y="2595549"/>
            <a:ext cx="1079501" cy="344488"/>
            <a:chOff x="2151" y="2730"/>
            <a:chExt cx="680" cy="217"/>
          </a:xfrm>
        </p:grpSpPr>
        <p:sp>
          <p:nvSpPr>
            <p:cNvPr id="45" name="Line 6"/>
            <p:cNvSpPr>
              <a:spLocks noChangeShapeType="1"/>
            </p:cNvSpPr>
            <p:nvPr/>
          </p:nvSpPr>
          <p:spPr bwMode="auto">
            <a:xfrm>
              <a:off x="2151" y="2730"/>
              <a:ext cx="0" cy="21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Line 7"/>
            <p:cNvSpPr>
              <a:spLocks noChangeShapeType="1"/>
            </p:cNvSpPr>
            <p:nvPr/>
          </p:nvSpPr>
          <p:spPr bwMode="auto">
            <a:xfrm flipV="1">
              <a:off x="2831" y="2730"/>
              <a:ext cx="0" cy="21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93891"/>
              </p:ext>
            </p:extLst>
          </p:nvPr>
        </p:nvGraphicFramePr>
        <p:xfrm>
          <a:off x="5651500" y="4308484"/>
          <a:ext cx="2304256" cy="1424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/>
                <a:gridCol w="504056"/>
                <a:gridCol w="504056"/>
                <a:gridCol w="504056"/>
                <a:gridCol w="288032"/>
              </a:tblGrid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12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…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48" name="Group 10"/>
          <p:cNvGrpSpPr>
            <a:grpSpLocks/>
          </p:cNvGrpSpPr>
          <p:nvPr/>
        </p:nvGrpSpPr>
        <p:grpSpPr bwMode="auto">
          <a:xfrm>
            <a:off x="5877961" y="4890005"/>
            <a:ext cx="1972741" cy="282575"/>
            <a:chOff x="2151" y="2738"/>
            <a:chExt cx="1027" cy="178"/>
          </a:xfrm>
        </p:grpSpPr>
        <p:sp>
          <p:nvSpPr>
            <p:cNvPr id="49" name="Line 6"/>
            <p:cNvSpPr>
              <a:spLocks noChangeShapeType="1"/>
            </p:cNvSpPr>
            <p:nvPr/>
          </p:nvSpPr>
          <p:spPr bwMode="auto">
            <a:xfrm>
              <a:off x="2688" y="2738"/>
              <a:ext cx="490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Line 7"/>
            <p:cNvSpPr>
              <a:spLocks noChangeShapeType="1"/>
            </p:cNvSpPr>
            <p:nvPr/>
          </p:nvSpPr>
          <p:spPr bwMode="auto">
            <a:xfrm flipV="1">
              <a:off x="2151" y="2738"/>
              <a:ext cx="1027" cy="17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6360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1"/>
            <a:ext cx="7620000" cy="1748408"/>
          </a:xfrm>
        </p:spPr>
        <p:txBody>
          <a:bodyPr/>
          <a:lstStyle/>
          <a:p>
            <a:r>
              <a:rPr lang="en-US" altLang="zh-TW" dirty="0" smtClean="0"/>
              <a:t>d[i, j] = min{ d[i, j-1] + 1,                                    </a:t>
            </a:r>
            <a:r>
              <a:rPr lang="en-US" altLang="zh-TW" dirty="0" smtClean="0"/>
              <a:t> // </a:t>
            </a:r>
            <a:r>
              <a:rPr lang="en-US" altLang="zh-TW" dirty="0" smtClean="0"/>
              <a:t>Insertion</a:t>
            </a:r>
          </a:p>
          <a:p>
            <a:r>
              <a:rPr lang="en-US" altLang="zh-TW" dirty="0" smtClean="0"/>
              <a:t>                    </a:t>
            </a:r>
            <a:r>
              <a:rPr lang="en-US" altLang="zh-TW" dirty="0" smtClean="0"/>
              <a:t>  d[i-1</a:t>
            </a:r>
            <a:r>
              <a:rPr lang="en-US" altLang="zh-TW" dirty="0" smtClean="0"/>
              <a:t>, j] + 1,                                     // Deletion</a:t>
            </a:r>
          </a:p>
          <a:p>
            <a:r>
              <a:rPr lang="en-US" altLang="zh-TW" dirty="0" smtClean="0"/>
              <a:t>                    </a:t>
            </a:r>
            <a:r>
              <a:rPr lang="en-US" altLang="zh-TW" dirty="0" smtClean="0"/>
              <a:t>  d[i-1</a:t>
            </a:r>
            <a:r>
              <a:rPr lang="en-US" altLang="zh-TW" dirty="0"/>
              <a:t>, j-1] + cost(A[i]-&gt;B[j</a:t>
            </a:r>
            <a:r>
              <a:rPr lang="en-US" altLang="zh-TW" dirty="0" smtClean="0"/>
              <a:t>]),           </a:t>
            </a:r>
            <a:r>
              <a:rPr lang="en-US" altLang="zh-TW" dirty="0"/>
              <a:t>// </a:t>
            </a:r>
            <a:r>
              <a:rPr lang="en-US" altLang="zh-TW" dirty="0" smtClean="0"/>
              <a:t>Substitution</a:t>
            </a:r>
          </a:p>
          <a:p>
            <a:r>
              <a:rPr lang="en-US" altLang="zh-TW" dirty="0" smtClean="0"/>
              <a:t>                   </a:t>
            </a:r>
            <a:r>
              <a:rPr lang="en-US" altLang="zh-TW" dirty="0" smtClean="0"/>
              <a:t>   </a:t>
            </a:r>
            <a:r>
              <a:rPr lang="en-US" altLang="zh-TW" dirty="0" smtClean="0"/>
              <a:t>d[i</a:t>
            </a:r>
            <a:r>
              <a:rPr lang="en-US" altLang="zh-TW" dirty="0"/>
              <a:t>’-1, j’-1] + (i-i’-1) + (j-j’-1) + </a:t>
            </a:r>
            <a:r>
              <a:rPr lang="en-US" altLang="zh-TW" dirty="0" smtClean="0"/>
              <a:t>1}    </a:t>
            </a:r>
            <a:r>
              <a:rPr lang="en-US" altLang="zh-TW" dirty="0"/>
              <a:t>// </a:t>
            </a:r>
            <a:r>
              <a:rPr lang="en-US" altLang="zh-TW" dirty="0" smtClean="0"/>
              <a:t>Swap</a:t>
            </a:r>
            <a:endParaRPr lang="en-US" altLang="zh-TW" dirty="0"/>
          </a:p>
        </p:txBody>
      </p:sp>
      <p:graphicFrame>
        <p:nvGraphicFramePr>
          <p:cNvPr id="4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708353"/>
              </p:ext>
            </p:extLst>
          </p:nvPr>
        </p:nvGraphicFramePr>
        <p:xfrm>
          <a:off x="4782528" y="3501009"/>
          <a:ext cx="3677710" cy="3328759"/>
        </p:xfrm>
        <a:graphic>
          <a:graphicData uri="http://schemas.openxmlformats.org/drawingml/2006/table">
            <a:tbl>
              <a:tblPr/>
              <a:tblGrid>
                <a:gridCol w="367771"/>
                <a:gridCol w="367771"/>
                <a:gridCol w="367771"/>
                <a:gridCol w="367771"/>
                <a:gridCol w="367771"/>
                <a:gridCol w="367771"/>
                <a:gridCol w="367771"/>
                <a:gridCol w="367771"/>
                <a:gridCol w="367771"/>
                <a:gridCol w="367771"/>
              </a:tblGrid>
              <a:tr h="3359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ngsuhChe" pitchFamily="49" charset="-127"/>
                          <a:ea typeface="GungsuhChe" pitchFamily="49" charset="-127"/>
                        </a:rPr>
                        <a:t>i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</a:rPr>
                        <a:t>'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ngsuhChe" pitchFamily="49" charset="-127"/>
                        <a:ea typeface="GungsuhChe" pitchFamily="49" charset="-127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ngsuhChe" pitchFamily="49" charset="-127"/>
                        <a:ea typeface="GungsuhChe" pitchFamily="49" charset="-127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ngsuhChe" pitchFamily="49" charset="-127"/>
                          <a:ea typeface="GungsuhChe" pitchFamily="49" charset="-127"/>
                        </a:rPr>
                        <a:t>i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ngsuhChe" pitchFamily="49" charset="-127"/>
                        <a:ea typeface="GungsuhChe" pitchFamily="49" charset="-127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4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1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4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ngsuhChe" pitchFamily="49" charset="-127"/>
                          <a:ea typeface="GungsuhChe" pitchFamily="49" charset="-127"/>
                        </a:rPr>
                        <a:t>j'</a:t>
                      </a:r>
                    </a:p>
                  </a:txBody>
                  <a:tcPr marL="65669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9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ngsuhChe" pitchFamily="49" charset="-127"/>
                        <a:ea typeface="GungsuhChe" pitchFamily="49" charset="-127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4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ngsuhChe" pitchFamily="49" charset="-127"/>
                        <a:ea typeface="GungsuhChe" pitchFamily="49" charset="-127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9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ngsuhChe" pitchFamily="49" charset="-127"/>
                        <a:ea typeface="GungsuhChe" pitchFamily="49" charset="-127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0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ngsuhChe" pitchFamily="49" charset="-127"/>
                          <a:ea typeface="GungsuhChe" pitchFamily="49" charset="-127"/>
                        </a:rPr>
                        <a:t>j</a:t>
                      </a:r>
                    </a:p>
                  </a:txBody>
                  <a:tcPr marL="65669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9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4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6" name="群組 15"/>
          <p:cNvGrpSpPr/>
          <p:nvPr/>
        </p:nvGrpSpPr>
        <p:grpSpPr>
          <a:xfrm>
            <a:off x="6332827" y="4552026"/>
            <a:ext cx="1584325" cy="1479550"/>
            <a:chOff x="6332827" y="4552026"/>
            <a:chExt cx="1584325" cy="1479550"/>
          </a:xfrm>
        </p:grpSpPr>
        <p:sp>
          <p:nvSpPr>
            <p:cNvPr id="12" name="Line 166"/>
            <p:cNvSpPr>
              <a:spLocks noChangeShapeType="1"/>
            </p:cNvSpPr>
            <p:nvPr/>
          </p:nvSpPr>
          <p:spPr bwMode="auto">
            <a:xfrm>
              <a:off x="7539449" y="5630481"/>
              <a:ext cx="0" cy="28892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Line 167"/>
            <p:cNvSpPr>
              <a:spLocks noChangeShapeType="1"/>
            </p:cNvSpPr>
            <p:nvPr/>
          </p:nvSpPr>
          <p:spPr bwMode="auto">
            <a:xfrm>
              <a:off x="7152834" y="6003637"/>
              <a:ext cx="287338" cy="158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Line 168"/>
            <p:cNvSpPr>
              <a:spLocks noChangeShapeType="1"/>
            </p:cNvSpPr>
            <p:nvPr/>
          </p:nvSpPr>
          <p:spPr bwMode="auto">
            <a:xfrm>
              <a:off x="7224421" y="5696873"/>
              <a:ext cx="215900" cy="21590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169"/>
            <p:cNvSpPr>
              <a:spLocks/>
            </p:cNvSpPr>
            <p:nvPr/>
          </p:nvSpPr>
          <p:spPr bwMode="auto">
            <a:xfrm>
              <a:off x="6332827" y="4552026"/>
              <a:ext cx="1584325" cy="1479550"/>
            </a:xfrm>
            <a:custGeom>
              <a:avLst/>
              <a:gdLst>
                <a:gd name="T0" fmla="*/ 0 w 998"/>
                <a:gd name="T1" fmla="*/ 87216 h 950"/>
                <a:gd name="T2" fmla="*/ 1339850 w 998"/>
                <a:gd name="T3" fmla="*/ 232056 h 950"/>
                <a:gd name="T4" fmla="*/ 1292225 w 998"/>
                <a:gd name="T5" fmla="*/ 1479550 h 9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8" h="950">
                  <a:moveTo>
                    <a:pt x="0" y="56"/>
                  </a:moveTo>
                  <a:cubicBezTo>
                    <a:pt x="140" y="72"/>
                    <a:pt x="708" y="0"/>
                    <a:pt x="844" y="149"/>
                  </a:cubicBezTo>
                  <a:cubicBezTo>
                    <a:pt x="998" y="272"/>
                    <a:pt x="820" y="783"/>
                    <a:pt x="814" y="95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none" w="med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aphicFrame>
        <p:nvGraphicFramePr>
          <p:cNvPr id="1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94952"/>
              </p:ext>
            </p:extLst>
          </p:nvPr>
        </p:nvGraphicFramePr>
        <p:xfrm>
          <a:off x="864394" y="3788492"/>
          <a:ext cx="2808288" cy="27368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79500"/>
                <a:gridCol w="433388"/>
                <a:gridCol w="430212"/>
                <a:gridCol w="433388"/>
                <a:gridCol w="431800"/>
              </a:tblGrid>
              <a:tr h="684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="b" anchorCtr="1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</a:rPr>
                        <a:t>i’</a:t>
                      </a:r>
                    </a:p>
                  </a:txBody>
                  <a:tcPr marL="90000" marR="90000" marT="46800" marB="46800" anchor="b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="b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</a:rPr>
                        <a:t>i</a:t>
                      </a:r>
                    </a:p>
                  </a:txBody>
                  <a:tcPr marL="90000" marR="90000" marT="46800" marB="46800" anchor="b" anchorCtr="1" horzOverflow="overflow"/>
                </a:tc>
              </a:tr>
              <a:tr h="68421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............</a:t>
                      </a:r>
                      <a:endParaRPr kumimoji="1" lang="en-US" altLang="zh-TW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="ctr" anchorCtr="1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a</a:t>
                      </a:r>
                      <a:endParaRPr kumimoji="1" lang="en-US" altLang="zh-TW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="ctr" anchorCtr="1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...</a:t>
                      </a:r>
                      <a:endParaRPr kumimoji="1" lang="en-US" altLang="zh-TW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="ctr" anchorCtr="1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b</a:t>
                      </a:r>
                      <a:endParaRPr kumimoji="1" lang="en-US" altLang="zh-TW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="ctr" anchorCtr="1" horzOverflow="overflow"/>
                </a:tc>
              </a:tr>
              <a:tr h="684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........</a:t>
                      </a:r>
                      <a:endParaRPr kumimoji="1" lang="en-US" altLang="zh-TW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="ctr" anchorCtr="1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b</a:t>
                      </a:r>
                      <a:endParaRPr kumimoji="1" lang="en-US" altLang="zh-TW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="ctr" anchorCtr="1" horzOverflow="overflow"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......</a:t>
                      </a:r>
                      <a:endParaRPr kumimoji="1" lang="en-US" altLang="zh-TW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="ctr" anchorCtr="1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a</a:t>
                      </a:r>
                      <a:endParaRPr kumimoji="1" lang="en-US" altLang="zh-TW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="ctr" anchorCtr="1" horzOverflow="overflow"/>
                </a:tc>
              </a:tr>
              <a:tr h="684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</a:rPr>
                        <a:t>j’</a:t>
                      </a:r>
                    </a:p>
                  </a:txBody>
                  <a:tcPr marL="90000" marR="90000" marT="46800" marB="46800" anchorCtr="1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charset="-120"/>
                      </a:endParaRPr>
                    </a:p>
                  </a:txBody>
                  <a:tcPr marL="90000" marR="90000" marT="46800" marB="46800" anchorCtr="1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</a:rPr>
                        <a:t>j</a:t>
                      </a:r>
                    </a:p>
                  </a:txBody>
                  <a:tcPr marL="90000" marR="90000" marT="46800" marB="46800" anchorCtr="1" horzOverflow="overflow"/>
                </a:tc>
              </a:tr>
            </a:tbl>
          </a:graphicData>
        </a:graphic>
      </p:graphicFrame>
      <p:sp>
        <p:nvSpPr>
          <p:cNvPr id="18" name="Line 24"/>
          <p:cNvSpPr>
            <a:spLocks noChangeShapeType="1"/>
          </p:cNvSpPr>
          <p:nvPr/>
        </p:nvSpPr>
        <p:spPr bwMode="auto">
          <a:xfrm flipH="1" flipV="1">
            <a:off x="2593181" y="5085182"/>
            <a:ext cx="863600" cy="2761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9" name="Line 25"/>
          <p:cNvSpPr>
            <a:spLocks noChangeShapeType="1"/>
          </p:cNvSpPr>
          <p:nvPr/>
        </p:nvSpPr>
        <p:spPr bwMode="auto">
          <a:xfrm flipH="1">
            <a:off x="2159794" y="5085183"/>
            <a:ext cx="1296988" cy="27614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31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altLang="zh-TW" sz="2400" dirty="0" smtClean="0"/>
              <a:t>With a simple preprocessing on |A| and |B|, then the problem can be solved by dynamic programming in time O(|A|</a:t>
            </a:r>
            <a:r>
              <a:rPr lang="en-US" altLang="zh-TW" sz="2400" dirty="0" smtClean="0">
                <a:sym typeface="Symbol" pitchFamily="18" charset="2"/>
              </a:rPr>
              <a:t>|B|).</a:t>
            </a:r>
          </a:p>
          <a:p>
            <a:r>
              <a:rPr lang="en-US" altLang="zh-TW" sz="2400" dirty="0" smtClean="0">
                <a:sym typeface="Symbol" pitchFamily="18" charset="2"/>
              </a:rPr>
              <a:t>If we allow edit operations to have different cost</a:t>
            </a:r>
          </a:p>
          <a:p>
            <a:pPr lvl="1"/>
            <a:r>
              <a:rPr lang="en-US" altLang="zh-TW" sz="2400" dirty="0" smtClean="0">
                <a:sym typeface="Symbol" pitchFamily="18" charset="2"/>
              </a:rPr>
              <a:t>Insertion (cost W</a:t>
            </a:r>
            <a:r>
              <a:rPr lang="en-US" altLang="zh-TW" sz="2400" baseline="-25000" dirty="0" smtClean="0">
                <a:sym typeface="Symbol" pitchFamily="18" charset="2"/>
              </a:rPr>
              <a:t>I</a:t>
            </a:r>
            <a:r>
              <a:rPr lang="en-US" altLang="zh-TW" sz="2400" dirty="0" smtClean="0">
                <a:sym typeface="Symbol" pitchFamily="18" charset="2"/>
              </a:rPr>
              <a:t>)</a:t>
            </a:r>
          </a:p>
          <a:p>
            <a:pPr lvl="1"/>
            <a:r>
              <a:rPr lang="en-US" altLang="zh-TW" sz="2400" dirty="0" smtClean="0">
                <a:sym typeface="Symbol" pitchFamily="18" charset="2"/>
              </a:rPr>
              <a:t>Deletion (cost W</a:t>
            </a:r>
            <a:r>
              <a:rPr lang="en-US" altLang="zh-TW" sz="2400" baseline="-25000" dirty="0" smtClean="0">
                <a:sym typeface="Symbol" pitchFamily="18" charset="2"/>
              </a:rPr>
              <a:t>D</a:t>
            </a:r>
            <a:r>
              <a:rPr lang="en-US" altLang="zh-TW" sz="2400" dirty="0" smtClean="0">
                <a:sym typeface="Symbol" pitchFamily="18" charset="2"/>
              </a:rPr>
              <a:t>)</a:t>
            </a:r>
          </a:p>
          <a:p>
            <a:pPr lvl="1"/>
            <a:r>
              <a:rPr lang="en-US" altLang="zh-TW" sz="2400" dirty="0" smtClean="0">
                <a:sym typeface="Symbol" pitchFamily="18" charset="2"/>
              </a:rPr>
              <a:t>Swap (cost W</a:t>
            </a:r>
            <a:r>
              <a:rPr lang="en-US" altLang="zh-TW" sz="2400" baseline="-25000" dirty="0" smtClean="0">
                <a:sym typeface="Symbol" pitchFamily="18" charset="2"/>
              </a:rPr>
              <a:t>S</a:t>
            </a:r>
            <a:r>
              <a:rPr lang="en-US" altLang="zh-TW" sz="2400" dirty="0" smtClean="0">
                <a:sym typeface="Symbol" pitchFamily="18" charset="2"/>
              </a:rPr>
              <a:t>)</a:t>
            </a:r>
          </a:p>
          <a:p>
            <a:pPr lvl="1"/>
            <a:r>
              <a:rPr lang="en-US" altLang="zh-TW" sz="2400" dirty="0" smtClean="0">
                <a:sym typeface="Symbol" pitchFamily="18" charset="2"/>
              </a:rPr>
              <a:t>Substitution (cost W</a:t>
            </a:r>
            <a:r>
              <a:rPr lang="en-US" altLang="zh-TW" sz="2400" baseline="-25000" dirty="0" smtClean="0">
                <a:sym typeface="Symbol" pitchFamily="18" charset="2"/>
              </a:rPr>
              <a:t>C</a:t>
            </a:r>
            <a:r>
              <a:rPr lang="en-US" altLang="zh-TW" sz="2400" dirty="0" smtClean="0">
                <a:sym typeface="Symbol" pitchFamily="18" charset="2"/>
              </a:rPr>
              <a:t>)</a:t>
            </a:r>
          </a:p>
          <a:p>
            <a:r>
              <a:rPr lang="en-US" altLang="zh-TW" sz="2400" dirty="0" smtClean="0">
                <a:sym typeface="Symbol" pitchFamily="18" charset="2"/>
              </a:rPr>
              <a:t>then the algorithm works </a:t>
            </a:r>
            <a:r>
              <a:rPr lang="en-US" altLang="zh-TW" sz="2400" dirty="0" smtClean="0"/>
              <a:t>if 2 </a:t>
            </a:r>
            <a:r>
              <a:rPr lang="en-US" altLang="zh-TW" sz="2400" dirty="0" smtClean="0">
                <a:sym typeface="Symbol" pitchFamily="18" charset="2"/>
              </a:rPr>
              <a:t></a:t>
            </a:r>
            <a:r>
              <a:rPr lang="en-US" altLang="zh-TW" sz="2400" dirty="0" smtClean="0"/>
              <a:t> W</a:t>
            </a:r>
            <a:r>
              <a:rPr lang="en-US" altLang="zh-TW" sz="2400" baseline="-25000" dirty="0" smtClean="0"/>
              <a:t>S</a:t>
            </a:r>
            <a:r>
              <a:rPr lang="en-US" altLang="zh-TW" sz="2400" dirty="0" smtClean="0"/>
              <a:t> ≥ W</a:t>
            </a:r>
            <a:r>
              <a:rPr lang="en-US" altLang="zh-TW" sz="2400" baseline="-25000" dirty="0" smtClean="0"/>
              <a:t>I</a:t>
            </a:r>
            <a:r>
              <a:rPr lang="en-US" altLang="zh-TW" sz="2400" dirty="0" smtClean="0"/>
              <a:t> + W</a:t>
            </a:r>
            <a:r>
              <a:rPr lang="en-US" altLang="zh-TW" sz="2400" baseline="-25000" dirty="0" smtClean="0"/>
              <a:t>D</a:t>
            </a:r>
            <a:r>
              <a:rPr lang="en-US" altLang="zh-TW" sz="2400" dirty="0" smtClean="0"/>
              <a:t>.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33679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版面配置區 5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" y="0"/>
            <a:ext cx="9144001" cy="4846320"/>
          </a:xfr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5517232"/>
            <a:ext cx="8153400" cy="762000"/>
          </a:xfrm>
        </p:spPr>
        <p:txBody>
          <a:bodyPr/>
          <a:lstStyle/>
          <a:p>
            <a:pPr algn="ctr"/>
            <a:r>
              <a:rPr lang="en-US" altLang="zh-TW" dirty="0" smtClean="0"/>
              <a:t>Thanks for your listening.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778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3149</TotalTime>
  <Words>731</Words>
  <Application>Microsoft Office PowerPoint</Application>
  <PresentationFormat>如螢幕大小 (4:3)</PresentationFormat>
  <Paragraphs>229</Paragraphs>
  <Slides>11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基本</vt:lpstr>
      <vt:lpstr>An Extension of the String-to-String Correction Problem</vt:lpstr>
      <vt:lpstr>Abstract</vt:lpstr>
      <vt:lpstr>Edit Distance</vt:lpstr>
      <vt:lpstr>Example for  Edit Distance</vt:lpstr>
      <vt:lpstr>The Problem</vt:lpstr>
      <vt:lpstr>Trace</vt:lpstr>
      <vt:lpstr>Important Properties</vt:lpstr>
      <vt:lpstr>PowerPoint 簡報</vt:lpstr>
      <vt:lpstr>The algorithm</vt:lpstr>
      <vt:lpstr>Summary</vt:lpstr>
      <vt:lpstr>Thanks for your listening.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String Matching: An Aid to Bibliographic Search</dc:title>
  <dc:creator>Dale</dc:creator>
  <cp:lastModifiedBy>Dale</cp:lastModifiedBy>
  <cp:revision>117</cp:revision>
  <dcterms:created xsi:type="dcterms:W3CDTF">2013-10-05T17:05:03Z</dcterms:created>
  <dcterms:modified xsi:type="dcterms:W3CDTF">2014-02-18T09:52:34Z</dcterms:modified>
</cp:coreProperties>
</file>