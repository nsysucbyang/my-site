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54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97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18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63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64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239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61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533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368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01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49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11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E73FD-24B2-4555-8B84-F37A9C020BF2}" type="datetimeFigureOut">
              <a:rPr lang="zh-TW" altLang="en-US" smtClean="0"/>
              <a:t>2014/8/5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9813F-860E-482F-BF0F-08B9B560C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543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54868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Approximating the Longest Approximate Common Subsequence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11560" y="2852936"/>
            <a:ext cx="8064896" cy="2664296"/>
          </a:xfrm>
        </p:spPr>
        <p:txBody>
          <a:bodyPr>
            <a:normAutofit fontScale="92500"/>
          </a:bodyPr>
          <a:lstStyle/>
          <a:p>
            <a:r>
              <a:rPr lang="de-DE" altLang="zh-TW" dirty="0" smtClean="0">
                <a:solidFill>
                  <a:schemeClr val="tx1"/>
                </a:solidFill>
              </a:rPr>
              <a:t>Wen-Chen Hu, Gerhard X. Ritter, Mark S. Schmalz</a:t>
            </a:r>
          </a:p>
          <a:p>
            <a:endParaRPr lang="en-US" altLang="zh-TW" dirty="0" smtClean="0">
              <a:solidFill>
                <a:schemeClr val="tx1"/>
              </a:solidFill>
            </a:endParaRPr>
          </a:p>
          <a:p>
            <a:r>
              <a:rPr lang="en-US" altLang="zh-TW" dirty="0" smtClean="0">
                <a:solidFill>
                  <a:schemeClr val="tx1"/>
                </a:solidFill>
              </a:rPr>
              <a:t>Proceeding ACM-SE 36 Proceedings of the 36th annual Southeast regional conference</a:t>
            </a:r>
          </a:p>
          <a:p>
            <a:r>
              <a:rPr lang="en-US" altLang="zh-TW" dirty="0" smtClean="0">
                <a:solidFill>
                  <a:schemeClr val="tx1"/>
                </a:solidFill>
              </a:rPr>
              <a:t>pp. 166-172 (1998)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0112" y="558924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2014/8/5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0335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124744"/>
            <a:ext cx="8964488" cy="56166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Finding a longest common subsequence of two strings is a well-known problem. We generalize this problem to a longest approximate common subsequence problem that produces a maximum-gain approximate common subsequence of two strings. An approximate subsequence of a string X is a string edited from a subsequence of X String Z is an approximate common subsequence of two strings X and Y if Z is an approximate subsequence of both X and Y. The gain function, g assigns a nonnegative real number to each subsequence. The problem is divided into smaller segments in order to lessen its complexity with some of these segments having been proven to be NP-hard.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721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124744"/>
            <a:ext cx="8964488" cy="5616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000" dirty="0" smtClean="0"/>
              <a:t>A heuristic approximation algorithm and an optimization neural network are constructed to find a near-optimal solution for the problem, where a ratio bound of the approximation algorithm is given, and a technique of interception is used to determine the values of the network weights. Some experimental results and the comparative performance of the two methods also are discussed.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78065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Longest Approximate Common Subsequence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52936"/>
          </a:xfrm>
        </p:spPr>
        <p:txBody>
          <a:bodyPr/>
          <a:lstStyle/>
          <a:p>
            <a:r>
              <a:rPr lang="en-US" altLang="zh-TW" dirty="0" smtClean="0"/>
              <a:t>Given two sequences X and Y.</a:t>
            </a:r>
            <a:br>
              <a:rPr lang="en-US" altLang="zh-TW" dirty="0" smtClean="0"/>
            </a:br>
            <a:r>
              <a:rPr lang="en-US" altLang="zh-TW" dirty="0" smtClean="0"/>
              <a:t>X = CABEBA,   Y = BADACB</a:t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en-US" altLang="zh-TW" dirty="0" smtClean="0"/>
              <a:t>We can find the LCS between X and Y is “CB”.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2987824" y="4581128"/>
            <a:ext cx="3098925" cy="1607646"/>
            <a:chOff x="3491880" y="4733854"/>
            <a:chExt cx="3098925" cy="1607646"/>
          </a:xfrm>
        </p:grpSpPr>
        <p:sp>
          <p:nvSpPr>
            <p:cNvPr id="6" name="文字方塊 5"/>
            <p:cNvSpPr txBox="1"/>
            <p:nvPr/>
          </p:nvSpPr>
          <p:spPr>
            <a:xfrm>
              <a:off x="3491880" y="4733854"/>
              <a:ext cx="30588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 smtClean="0"/>
                <a:t>X = C  A  B  E  B  A</a:t>
              </a:r>
              <a:endParaRPr lang="zh-TW" altLang="en-US" sz="3200" dirty="0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3491880" y="5756725"/>
              <a:ext cx="309892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 smtClean="0"/>
                <a:t>Y = B  A  D  A  C  B</a:t>
              </a:r>
              <a:endParaRPr lang="zh-TW" altLang="en-US" sz="3200" dirty="0"/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4326518" y="5193196"/>
              <a:ext cx="1591898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5918416" y="5193196"/>
              <a:ext cx="453784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291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Longest Approximate Common Subsequence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268960"/>
          </a:xfrm>
        </p:spPr>
        <p:txBody>
          <a:bodyPr/>
          <a:lstStyle/>
          <a:p>
            <a:r>
              <a:rPr lang="en-US" altLang="zh-TW" dirty="0" smtClean="0"/>
              <a:t>X = CABEBA,   Y = BADACB</a:t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en-US" altLang="zh-TW" dirty="0" smtClean="0"/>
              <a:t>If we edit the sequences, we can get longer common subsequence.</a:t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Ex: 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2985243" y="4599091"/>
            <a:ext cx="3098925" cy="1607646"/>
            <a:chOff x="3215162" y="4599091"/>
            <a:chExt cx="3098925" cy="1607646"/>
          </a:xfrm>
        </p:grpSpPr>
        <p:grpSp>
          <p:nvGrpSpPr>
            <p:cNvPr id="4" name="群組 3"/>
            <p:cNvGrpSpPr/>
            <p:nvPr/>
          </p:nvGrpSpPr>
          <p:grpSpPr>
            <a:xfrm>
              <a:off x="3215162" y="4599091"/>
              <a:ext cx="3098925" cy="1607646"/>
              <a:chOff x="3491880" y="4733854"/>
              <a:chExt cx="3098925" cy="1607646"/>
            </a:xfrm>
          </p:grpSpPr>
          <p:sp>
            <p:nvSpPr>
              <p:cNvPr id="5" name="文字方塊 4"/>
              <p:cNvSpPr txBox="1"/>
              <p:nvPr/>
            </p:nvSpPr>
            <p:spPr>
              <a:xfrm>
                <a:off x="3491880" y="4733854"/>
                <a:ext cx="30588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X = </a:t>
                </a:r>
                <a:r>
                  <a:rPr lang="en-US" altLang="zh-TW" sz="3200" dirty="0" smtClean="0">
                    <a:solidFill>
                      <a:srgbClr val="FF0000"/>
                    </a:solidFill>
                  </a:rPr>
                  <a:t>A  C  </a:t>
                </a:r>
                <a:r>
                  <a:rPr lang="en-US" altLang="zh-TW" sz="3200" dirty="0" smtClean="0"/>
                  <a:t>B  E  B  A</a:t>
                </a:r>
                <a:endParaRPr lang="zh-TW" altLang="en-US" sz="3200" dirty="0"/>
              </a:p>
            </p:txBody>
          </p:sp>
          <p:sp>
            <p:nvSpPr>
              <p:cNvPr id="6" name="文字方塊 5"/>
              <p:cNvSpPr txBox="1"/>
              <p:nvPr/>
            </p:nvSpPr>
            <p:spPr>
              <a:xfrm>
                <a:off x="3491880" y="5756725"/>
                <a:ext cx="309892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Y = B  A  D  A  C  B</a:t>
                </a:r>
                <a:endParaRPr lang="zh-TW" altLang="en-US" sz="3200" dirty="0"/>
              </a:p>
            </p:txBody>
          </p:sp>
          <p:cxnSp>
            <p:nvCxnSpPr>
              <p:cNvPr id="7" name="直線接點 6"/>
              <p:cNvCxnSpPr/>
              <p:nvPr/>
            </p:nvCxnSpPr>
            <p:spPr>
              <a:xfrm>
                <a:off x="4326518" y="5193196"/>
                <a:ext cx="1170272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線接點 7"/>
              <p:cNvCxnSpPr/>
              <p:nvPr/>
            </p:nvCxnSpPr>
            <p:spPr>
              <a:xfrm>
                <a:off x="6000846" y="5193196"/>
                <a:ext cx="360040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線接點 11"/>
            <p:cNvCxnSpPr/>
            <p:nvPr/>
          </p:nvCxnSpPr>
          <p:spPr>
            <a:xfrm>
              <a:off x="4452317" y="5058433"/>
              <a:ext cx="1271811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203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Longest Approximate Common Subsequence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600200"/>
                <a:ext cx="8928992" cy="514116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Z is an approximate common subsequence of X and Y.</a:t>
                </a:r>
              </a:p>
              <a:p>
                <a:endParaRPr lang="en-US" altLang="zh-TW" sz="30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is a weight for a symbol in an approximate common subsequence.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&gt; 0</a:t>
                </a:r>
              </a:p>
              <a:p>
                <a:r>
                  <a:rPr lang="en-US" altLang="zh-TW" sz="3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is a weight for an adjacent symbol interchange operation.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≤ 0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600200"/>
                <a:ext cx="8928992" cy="5141168"/>
              </a:xfrm>
              <a:blipFill rotWithShape="1">
                <a:blip r:embed="rId2"/>
                <a:stretch>
                  <a:fillRect l="-1434" t="-14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78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Longest Approximate Common Subsequence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600200"/>
                <a:ext cx="8928992" cy="514116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If Z is an approximate common subsequence of X and Y, and the gain g(X, Y, Z,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) = |Z|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+ </a:t>
                </a:r>
                <a:r>
                  <a:rPr lang="el-GR" altLang="zh-TW" sz="3000" dirty="0" smtClean="0"/>
                  <a:t>δ</a:t>
                </a:r>
                <a:r>
                  <a:rPr lang="en-US" altLang="zh-TW" sz="3000" dirty="0" smtClean="0"/>
                  <a:t>(X, Z)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+ </a:t>
                </a:r>
                <a:r>
                  <a:rPr lang="el-GR" altLang="zh-TW" sz="3000" dirty="0" smtClean="0"/>
                  <a:t>δ</a:t>
                </a:r>
                <a:r>
                  <a:rPr lang="en-US" altLang="zh-TW" sz="3000" dirty="0" smtClean="0"/>
                  <a:t>(Y, Z)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is maximum among all approximate common subsequences of X and Y. Z is longest approximate common subsequences of X and Y.</a:t>
                </a:r>
              </a:p>
              <a:p>
                <a:endParaRPr lang="en-US" altLang="zh-TW" sz="3000" dirty="0" smtClean="0"/>
              </a:p>
              <a:p>
                <a:r>
                  <a:rPr lang="el-GR" altLang="zh-TW" sz="3000" dirty="0" smtClean="0"/>
                  <a:t>δ</a:t>
                </a:r>
                <a:r>
                  <a:rPr lang="en-US" altLang="zh-TW" sz="3000" dirty="0" smtClean="0"/>
                  <a:t>(X, Z) is the minimum edit distance from  a subsequence of X and Z. </a:t>
                </a:r>
                <a:r>
                  <a:rPr lang="el-GR" altLang="zh-TW" sz="3000" dirty="0" smtClean="0"/>
                  <a:t>δ</a:t>
                </a:r>
                <a:r>
                  <a:rPr lang="en-US" altLang="zh-TW" sz="3000" dirty="0" smtClean="0"/>
                  <a:t>(Y, Z) is to Y and Z.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600200"/>
                <a:ext cx="8928992" cy="5141168"/>
              </a:xfrm>
              <a:blipFill rotWithShape="1">
                <a:blip r:embed="rId2"/>
                <a:stretch>
                  <a:fillRect l="-1434" t="-1423" r="-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88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Longest Approximate Common Subsequence Problem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600200"/>
                <a:ext cx="8928992" cy="499715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TW" sz="3000" smtClean="0"/>
                  <a:t>(X, Y)</a:t>
                </a:r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is longest approximate common subsequence of X and Y.</a:t>
                </a:r>
              </a:p>
              <a:p>
                <a:endParaRPr lang="en-US" altLang="zh-TW" sz="3000" dirty="0" smtClean="0"/>
              </a:p>
              <a:p>
                <a:r>
                  <a:rPr lang="en-US" altLang="zh-TW" sz="3000" dirty="0" smtClean="0"/>
                  <a:t>In 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i</m:t>
                        </m:r>
                      </m:sub>
                    </m:sSub>
                    <m:r>
                      <a:rPr lang="en-US" altLang="zh-TW" sz="3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 trace, each line is allowed to have maximum of i line-crossings. The total number of line-crossings in a trace is </a:t>
                </a:r>
                <a:r>
                  <a:rPr lang="el-GR" altLang="zh-TW" sz="3000" dirty="0" smtClean="0"/>
                  <a:t>δ</a:t>
                </a:r>
                <a:r>
                  <a:rPr lang="en-US" altLang="zh-TW" sz="3000" dirty="0" smtClean="0"/>
                  <a:t>(X, Z)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+ </a:t>
                </a:r>
                <a:r>
                  <a:rPr lang="el-GR" altLang="zh-TW" sz="3000" dirty="0" smtClean="0"/>
                  <a:t>δ</a:t>
                </a:r>
                <a:r>
                  <a:rPr lang="en-US" altLang="zh-TW" sz="3000" dirty="0" smtClean="0"/>
                  <a:t>(Y, Z)</a:t>
                </a:r>
              </a:p>
              <a:p>
                <a:endParaRPr lang="en-US" altLang="zh-TW" sz="3000" dirty="0"/>
              </a:p>
              <a:p>
                <a:r>
                  <a:rPr lang="en-US" altLang="zh-TW" sz="3000" dirty="0" smtClean="0"/>
                  <a:t>If i =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a:rPr lang="en-US" altLang="zh-TW" sz="3000" b="0" i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3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 is reduced to an LCS problem.</a:t>
                </a:r>
                <a:endParaRPr lang="zh-TW" altLang="en-US" sz="30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600200"/>
                <a:ext cx="8928992" cy="4997152"/>
              </a:xfrm>
              <a:blipFill rotWithShape="0">
                <a:blip r:embed="rId2"/>
                <a:stretch>
                  <a:fillRect l="-1434" t="-1465" r="-7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44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Longest Approximate Common Subsequence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600200"/>
                <a:ext cx="8928992" cy="2404864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Example: </a:t>
                </a:r>
              </a:p>
              <a:p>
                <a:r>
                  <a:rPr lang="en-US" altLang="zh-TW" sz="2800" dirty="0" smtClean="0"/>
                  <a:t>X = CABEBA, Y = BADACB,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-1</a:t>
                </a:r>
              </a:p>
              <a:p>
                <a:endParaRPr lang="zh-TW" altLang="en-US" sz="3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600200"/>
                <a:ext cx="8928992" cy="2404864"/>
              </a:xfrm>
              <a:blipFill rotWithShape="1">
                <a:blip r:embed="rId2"/>
                <a:stretch>
                  <a:fillRect l="-1434" t="-30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a:rPr lang="en-US" altLang="zh-TW" sz="3000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(X, Y) = Z = A B A B</a:t>
                </a:r>
              </a:p>
              <a:p>
                <a:r>
                  <a:rPr lang="en-US" altLang="zh-TW" sz="3000" dirty="0" smtClean="0"/>
                  <a:t>g(X, Y, Z, 3,-1) = 4</a:t>
                </a:r>
                <a14:m>
                  <m:oMath xmlns:m="http://schemas.openxmlformats.org/officeDocument/2006/math">
                    <m:r>
                      <a:rPr lang="en-US" altLang="zh-TW" sz="30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x 3 + 2 x (-1) = 10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2495" t="-7186" r="-868" b="-17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/>
          <p:cNvGrpSpPr/>
          <p:nvPr/>
        </p:nvGrpSpPr>
        <p:grpSpPr>
          <a:xfrm>
            <a:off x="2850343" y="3541271"/>
            <a:ext cx="3098925" cy="1607646"/>
            <a:chOff x="2850343" y="3541271"/>
            <a:chExt cx="3098925" cy="1607646"/>
          </a:xfrm>
        </p:grpSpPr>
        <p:grpSp>
          <p:nvGrpSpPr>
            <p:cNvPr id="10" name="群組 9"/>
            <p:cNvGrpSpPr/>
            <p:nvPr/>
          </p:nvGrpSpPr>
          <p:grpSpPr>
            <a:xfrm>
              <a:off x="2850343" y="3541271"/>
              <a:ext cx="3098925" cy="1607646"/>
              <a:chOff x="3491880" y="4733854"/>
              <a:chExt cx="3098925" cy="1607646"/>
            </a:xfrm>
          </p:grpSpPr>
          <p:sp>
            <p:nvSpPr>
              <p:cNvPr id="11" name="文字方塊 10"/>
              <p:cNvSpPr txBox="1"/>
              <p:nvPr/>
            </p:nvSpPr>
            <p:spPr>
              <a:xfrm>
                <a:off x="3491880" y="4733854"/>
                <a:ext cx="30588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X = C  A  B  E  B  A</a:t>
                </a:r>
                <a:endParaRPr lang="zh-TW" altLang="en-US" sz="3200" dirty="0"/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3491880" y="5756725"/>
                <a:ext cx="309892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Y = B  A  D  A  C  B</a:t>
                </a:r>
                <a:endParaRPr lang="zh-TW" altLang="en-US" sz="3200" dirty="0"/>
              </a:p>
            </p:txBody>
          </p:sp>
          <p:cxnSp>
            <p:nvCxnSpPr>
              <p:cNvPr id="13" name="直線接點 12"/>
              <p:cNvCxnSpPr/>
              <p:nvPr/>
            </p:nvCxnSpPr>
            <p:spPr>
              <a:xfrm>
                <a:off x="4709481" y="5193196"/>
                <a:ext cx="0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/>
              <p:nvPr/>
            </p:nvCxnSpPr>
            <p:spPr>
              <a:xfrm>
                <a:off x="5918416" y="5193196"/>
                <a:ext cx="453784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線接點 16"/>
            <p:cNvCxnSpPr/>
            <p:nvPr/>
          </p:nvCxnSpPr>
          <p:spPr>
            <a:xfrm flipH="1">
              <a:off x="3635896" y="4000613"/>
              <a:ext cx="763909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 flipH="1">
              <a:off x="4932040" y="3971811"/>
              <a:ext cx="720080" cy="74888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325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Approximate LACS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600200"/>
                <a:ext cx="8928992" cy="514116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Input string X and Y. trace T is empty and i = 0 at first.</a:t>
                </a:r>
              </a:p>
              <a:p>
                <a:r>
                  <a:rPr lang="en-US" altLang="zh-TW" sz="3000" dirty="0" smtClean="0"/>
                  <a:t>Algorithm executes the following step:</a:t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1. Find an LCS of X and Y.</a:t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2. Select symbols from the LCS such that each symbol make no more than i line-crossings in trace T.</a:t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3. Eliminate the selected symbols from X and Y, and add them to T.</a:t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4. i = i + 1</a:t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5. Repeat the above steps until i ≥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sz="28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800" b="0" i="0" dirty="0" smtClean="0"/>
                          <m:t>/</m:t>
                        </m:r>
                        <m:r>
                          <m:rPr>
                            <m:nor/>
                          </m:rPr>
                          <a:rPr lang="en-US" altLang="zh-TW" sz="28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800" b="0" i="0" dirty="0" smtClean="0"/>
                          <m:t>−</m:t>
                        </m:r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sz="2800" dirty="0" smtClean="0"/>
                          <m:t> </m:t>
                        </m:r>
                      </m:e>
                    </m:d>
                  </m:oMath>
                </a14:m>
                <a:endParaRPr lang="en-US" altLang="zh-TW" sz="3000" dirty="0" smtClean="0"/>
              </a:p>
              <a:p>
                <a:endParaRPr lang="en-US" altLang="zh-TW" sz="3000" dirty="0" smtClean="0"/>
              </a:p>
              <a:p>
                <a:endParaRPr lang="en-US" altLang="zh-TW" sz="3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600200"/>
                <a:ext cx="8928992" cy="5141168"/>
              </a:xfrm>
              <a:blipFill rotWithShape="1">
                <a:blip r:embed="rId2"/>
                <a:stretch>
                  <a:fillRect l="-1434" t="-1423" r="-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56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Approximate LACS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Example:</a:t>
                </a:r>
                <a:br>
                  <a:rPr lang="en-US" altLang="zh-TW" sz="3000" dirty="0" smtClean="0"/>
                </a:br>
                <a:r>
                  <a:rPr lang="en-US" altLang="zh-TW" sz="2800" dirty="0" smtClean="0"/>
                  <a:t>X = CABEBA, Y = BADACB,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-1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i = 0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LCS(X, Y) = CB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eliminate C,B </a:t>
                </a:r>
              </a:p>
              <a:p>
                <a:endParaRPr lang="en-US" altLang="zh-TW" sz="3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  <a:blipFill rotWithShape="1">
                <a:blip r:embed="rId2"/>
                <a:stretch>
                  <a:fillRect l="-1434" t="-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/>
          <p:cNvGrpSpPr/>
          <p:nvPr/>
        </p:nvGrpSpPr>
        <p:grpSpPr>
          <a:xfrm>
            <a:off x="2769219" y="3777305"/>
            <a:ext cx="3098925" cy="1607646"/>
            <a:chOff x="3491880" y="4733854"/>
            <a:chExt cx="3098925" cy="1607646"/>
          </a:xfrm>
        </p:grpSpPr>
        <p:sp>
          <p:nvSpPr>
            <p:cNvPr id="5" name="文字方塊 4"/>
            <p:cNvSpPr txBox="1"/>
            <p:nvPr/>
          </p:nvSpPr>
          <p:spPr>
            <a:xfrm>
              <a:off x="3491880" y="4733854"/>
              <a:ext cx="30588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 smtClean="0"/>
                <a:t>X = C  A  B  E  B  A</a:t>
              </a:r>
              <a:endParaRPr lang="zh-TW" altLang="en-US" sz="3200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3491880" y="5756725"/>
              <a:ext cx="309892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 smtClean="0"/>
                <a:t>Y = B  A  D  A  C  B</a:t>
              </a:r>
              <a:endParaRPr lang="zh-TW" altLang="en-US" sz="3200" dirty="0"/>
            </a:p>
          </p:txBody>
        </p:sp>
        <p:cxnSp>
          <p:nvCxnSpPr>
            <p:cNvPr id="7" name="直線接點 6"/>
            <p:cNvCxnSpPr/>
            <p:nvPr/>
          </p:nvCxnSpPr>
          <p:spPr>
            <a:xfrm>
              <a:off x="4326518" y="5193196"/>
              <a:ext cx="1591898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線接點 7"/>
            <p:cNvCxnSpPr/>
            <p:nvPr/>
          </p:nvCxnSpPr>
          <p:spPr>
            <a:xfrm>
              <a:off x="5918416" y="5193196"/>
              <a:ext cx="453784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/>
                      </a:rPr>
                      <m:t>A</m:t>
                    </m:r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a:rPr lang="en-US" altLang="zh-TW" sz="3000" b="0" i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(X, Y) = Z = CB</a:t>
                </a:r>
              </a:p>
              <a:p>
                <a:r>
                  <a:rPr lang="en-US" altLang="zh-TW" sz="3000" dirty="0" smtClean="0"/>
                  <a:t>g(X, Y, Z, 3,-1) = 2 x 3 + 0 x (-1) = 6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2495" t="-7186" b="-17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13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Approximate LACS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Example:</a:t>
                </a:r>
                <a:br>
                  <a:rPr lang="en-US" altLang="zh-TW" sz="3000" dirty="0" smtClean="0"/>
                </a:br>
                <a:r>
                  <a:rPr lang="en-US" altLang="zh-TW" sz="2800" dirty="0" smtClean="0"/>
                  <a:t>X = ABEA, Y = BADA,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-1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i = 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LCS(X, Y) = AA</a:t>
                </a:r>
                <a:br>
                  <a:rPr lang="en-US" altLang="zh-TW" sz="2800" dirty="0" smtClean="0"/>
                </a:br>
                <a:endParaRPr lang="en-US" altLang="zh-TW" sz="2800" dirty="0" smtClean="0"/>
              </a:p>
              <a:p>
                <a:endParaRPr lang="en-US" altLang="zh-TW" sz="3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  <a:blipFill rotWithShape="1">
                <a:blip r:embed="rId2"/>
                <a:stretch>
                  <a:fillRect l="-1434" t="-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/>
          <p:cNvGrpSpPr/>
          <p:nvPr/>
        </p:nvGrpSpPr>
        <p:grpSpPr>
          <a:xfrm>
            <a:off x="2769219" y="3777305"/>
            <a:ext cx="3098925" cy="1607646"/>
            <a:chOff x="2769219" y="3777305"/>
            <a:chExt cx="3098925" cy="1607646"/>
          </a:xfrm>
        </p:grpSpPr>
        <p:grpSp>
          <p:nvGrpSpPr>
            <p:cNvPr id="4" name="群組 3"/>
            <p:cNvGrpSpPr/>
            <p:nvPr/>
          </p:nvGrpSpPr>
          <p:grpSpPr>
            <a:xfrm>
              <a:off x="2769219" y="3777305"/>
              <a:ext cx="3098925" cy="1607646"/>
              <a:chOff x="3491880" y="4733854"/>
              <a:chExt cx="3098925" cy="1607646"/>
            </a:xfrm>
          </p:grpSpPr>
          <p:sp>
            <p:nvSpPr>
              <p:cNvPr id="5" name="文字方塊 4"/>
              <p:cNvSpPr txBox="1"/>
              <p:nvPr/>
            </p:nvSpPr>
            <p:spPr>
              <a:xfrm>
                <a:off x="3491880" y="4733854"/>
                <a:ext cx="30588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X = C  A  B  E  B  A</a:t>
                </a:r>
                <a:endParaRPr lang="zh-TW" altLang="en-US" sz="3200" dirty="0"/>
              </a:p>
            </p:txBody>
          </p:sp>
          <p:sp>
            <p:nvSpPr>
              <p:cNvPr id="6" name="文字方塊 5"/>
              <p:cNvSpPr txBox="1"/>
              <p:nvPr/>
            </p:nvSpPr>
            <p:spPr>
              <a:xfrm>
                <a:off x="3491880" y="5756725"/>
                <a:ext cx="309892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Y = B  A  D  A  C  B</a:t>
                </a:r>
                <a:endParaRPr lang="zh-TW" altLang="en-US" sz="3200" dirty="0"/>
              </a:p>
            </p:txBody>
          </p:sp>
          <p:cxnSp>
            <p:nvCxnSpPr>
              <p:cNvPr id="7" name="直線接點 6"/>
              <p:cNvCxnSpPr/>
              <p:nvPr/>
            </p:nvCxnSpPr>
            <p:spPr>
              <a:xfrm>
                <a:off x="4326518" y="5193196"/>
                <a:ext cx="1591898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線接點 7"/>
              <p:cNvCxnSpPr/>
              <p:nvPr/>
            </p:nvCxnSpPr>
            <p:spPr>
              <a:xfrm>
                <a:off x="5918416" y="5193196"/>
                <a:ext cx="453784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線接點 12"/>
            <p:cNvCxnSpPr/>
            <p:nvPr/>
          </p:nvCxnSpPr>
          <p:spPr>
            <a:xfrm>
              <a:off x="3995936" y="4236647"/>
              <a:ext cx="0" cy="72008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H="1">
              <a:off x="4860032" y="4236647"/>
              <a:ext cx="789507" cy="72008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951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Approximate LACS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Example:</a:t>
                </a:r>
                <a:br>
                  <a:rPr lang="en-US" altLang="zh-TW" sz="3000" dirty="0" smtClean="0"/>
                </a:br>
                <a:r>
                  <a:rPr lang="en-US" altLang="zh-TW" sz="2800" dirty="0" smtClean="0"/>
                  <a:t>X = ABEA, Y = BADA,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-1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i = 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LCS(X, Y) = AA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eliminate A </a:t>
                </a:r>
              </a:p>
              <a:p>
                <a:endParaRPr lang="en-US" altLang="zh-TW" sz="3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  <a:blipFill rotWithShape="1">
                <a:blip r:embed="rId2"/>
                <a:stretch>
                  <a:fillRect l="-1434" t="-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/>
                      </a:rPr>
                      <m:t>A</m:t>
                    </m:r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a:rPr lang="en-US" altLang="zh-TW" sz="3000" b="0" i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(X, Y) = Z = ACB</a:t>
                </a:r>
              </a:p>
              <a:p>
                <a:r>
                  <a:rPr lang="en-US" altLang="zh-TW" sz="3000" dirty="0" smtClean="0"/>
                  <a:t>g(X, Y, Z, 3,-1) = </a:t>
                </a:r>
                <a:r>
                  <a:rPr lang="en-US" altLang="zh-TW" sz="3000" dirty="0"/>
                  <a:t>3</a:t>
                </a:r>
                <a:r>
                  <a:rPr lang="en-US" altLang="zh-TW" sz="3000" dirty="0" smtClean="0"/>
                  <a:t> x 3 + 1 x (-1) = 8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2495" t="-7186" b="-17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/>
          <p:cNvGrpSpPr/>
          <p:nvPr/>
        </p:nvGrpSpPr>
        <p:grpSpPr>
          <a:xfrm>
            <a:off x="2769219" y="3777305"/>
            <a:ext cx="3098925" cy="1607646"/>
            <a:chOff x="2769219" y="3777305"/>
            <a:chExt cx="3098925" cy="1607646"/>
          </a:xfrm>
        </p:grpSpPr>
        <p:grpSp>
          <p:nvGrpSpPr>
            <p:cNvPr id="4" name="群組 3"/>
            <p:cNvGrpSpPr/>
            <p:nvPr/>
          </p:nvGrpSpPr>
          <p:grpSpPr>
            <a:xfrm>
              <a:off x="2769219" y="3777305"/>
              <a:ext cx="3098925" cy="1607646"/>
              <a:chOff x="3491880" y="4733854"/>
              <a:chExt cx="3098925" cy="1607646"/>
            </a:xfrm>
          </p:grpSpPr>
          <p:sp>
            <p:nvSpPr>
              <p:cNvPr id="5" name="文字方塊 4"/>
              <p:cNvSpPr txBox="1"/>
              <p:nvPr/>
            </p:nvSpPr>
            <p:spPr>
              <a:xfrm>
                <a:off x="3491880" y="4733854"/>
                <a:ext cx="30588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X = C  A  B  E  B  A</a:t>
                </a:r>
                <a:endParaRPr lang="zh-TW" altLang="en-US" sz="3200" dirty="0"/>
              </a:p>
            </p:txBody>
          </p:sp>
          <p:sp>
            <p:nvSpPr>
              <p:cNvPr id="6" name="文字方塊 5"/>
              <p:cNvSpPr txBox="1"/>
              <p:nvPr/>
            </p:nvSpPr>
            <p:spPr>
              <a:xfrm>
                <a:off x="3491880" y="5756725"/>
                <a:ext cx="309892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 smtClean="0"/>
                  <a:t>Y = B  A  D  A  C  B</a:t>
                </a:r>
                <a:endParaRPr lang="zh-TW" altLang="en-US" sz="3200" dirty="0"/>
              </a:p>
            </p:txBody>
          </p:sp>
          <p:cxnSp>
            <p:nvCxnSpPr>
              <p:cNvPr id="7" name="直線接點 6"/>
              <p:cNvCxnSpPr/>
              <p:nvPr/>
            </p:nvCxnSpPr>
            <p:spPr>
              <a:xfrm>
                <a:off x="4326518" y="5193196"/>
                <a:ext cx="1591898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線接點 7"/>
              <p:cNvCxnSpPr/>
              <p:nvPr/>
            </p:nvCxnSpPr>
            <p:spPr>
              <a:xfrm>
                <a:off x="5918416" y="5193196"/>
                <a:ext cx="453784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線接點 12"/>
            <p:cNvCxnSpPr/>
            <p:nvPr/>
          </p:nvCxnSpPr>
          <p:spPr>
            <a:xfrm>
              <a:off x="3995936" y="4236647"/>
              <a:ext cx="0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111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Approximate LACS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Example:</a:t>
                </a:r>
                <a:br>
                  <a:rPr lang="en-US" altLang="zh-TW" sz="3000" dirty="0" smtClean="0"/>
                </a:br>
                <a:r>
                  <a:rPr lang="en-US" altLang="zh-TW" sz="2800" dirty="0" smtClean="0"/>
                  <a:t>X = BEA, Y = BDA,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-1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i = 2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LCS(X, Y) = BA</a:t>
                </a:r>
                <a:br>
                  <a:rPr lang="en-US" altLang="zh-TW" sz="2800" dirty="0" smtClean="0"/>
                </a:br>
                <a:endParaRPr lang="en-US" altLang="zh-TW" sz="3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  <a:blipFill rotWithShape="1">
                <a:blip r:embed="rId2"/>
                <a:stretch>
                  <a:fillRect l="-1434" t="-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/>
          <p:cNvGrpSpPr/>
          <p:nvPr/>
        </p:nvGrpSpPr>
        <p:grpSpPr>
          <a:xfrm>
            <a:off x="2769219" y="3777305"/>
            <a:ext cx="3098925" cy="1607646"/>
            <a:chOff x="2769219" y="3777305"/>
            <a:chExt cx="3098925" cy="1607646"/>
          </a:xfrm>
        </p:grpSpPr>
        <p:grpSp>
          <p:nvGrpSpPr>
            <p:cNvPr id="10" name="群組 9"/>
            <p:cNvGrpSpPr/>
            <p:nvPr/>
          </p:nvGrpSpPr>
          <p:grpSpPr>
            <a:xfrm>
              <a:off x="2769219" y="3777305"/>
              <a:ext cx="3098925" cy="1607646"/>
              <a:chOff x="2769219" y="3777305"/>
              <a:chExt cx="3098925" cy="160764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769219" y="3777305"/>
                <a:ext cx="3098925" cy="1607646"/>
                <a:chOff x="3491880" y="4733854"/>
                <a:chExt cx="3098925" cy="1607646"/>
              </a:xfrm>
            </p:grpSpPr>
            <p:sp>
              <p:nvSpPr>
                <p:cNvPr id="5" name="文字方塊 4"/>
                <p:cNvSpPr txBox="1"/>
                <p:nvPr/>
              </p:nvSpPr>
              <p:spPr>
                <a:xfrm>
                  <a:off x="3491880" y="4733854"/>
                  <a:ext cx="30588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3200" dirty="0" smtClean="0"/>
                    <a:t>X = C  A  B  E  B  A</a:t>
                  </a:r>
                  <a:endParaRPr lang="zh-TW" altLang="en-US" sz="3200" dirty="0"/>
                </a:p>
              </p:txBody>
            </p:sp>
            <p:sp>
              <p:nvSpPr>
                <p:cNvPr id="6" name="文字方塊 5"/>
                <p:cNvSpPr txBox="1"/>
                <p:nvPr/>
              </p:nvSpPr>
              <p:spPr>
                <a:xfrm>
                  <a:off x="3491880" y="5756725"/>
                  <a:ext cx="309892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3200" dirty="0" smtClean="0"/>
                    <a:t>Y = B  A  D  A  C  B</a:t>
                  </a:r>
                  <a:endParaRPr lang="zh-TW" altLang="en-US" sz="3200" dirty="0"/>
                </a:p>
              </p:txBody>
            </p:sp>
            <p:cxnSp>
              <p:nvCxnSpPr>
                <p:cNvPr id="7" name="直線接點 6"/>
                <p:cNvCxnSpPr/>
                <p:nvPr/>
              </p:nvCxnSpPr>
              <p:spPr>
                <a:xfrm>
                  <a:off x="4326518" y="5193196"/>
                  <a:ext cx="1591898" cy="72008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線接點 7"/>
                <p:cNvCxnSpPr/>
                <p:nvPr/>
              </p:nvCxnSpPr>
              <p:spPr>
                <a:xfrm>
                  <a:off x="5918416" y="5193196"/>
                  <a:ext cx="453784" cy="72008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" name="直線接點 12"/>
              <p:cNvCxnSpPr/>
              <p:nvPr/>
            </p:nvCxnSpPr>
            <p:spPr>
              <a:xfrm>
                <a:off x="3995936" y="4236647"/>
                <a:ext cx="0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線接點 11"/>
            <p:cNvCxnSpPr/>
            <p:nvPr/>
          </p:nvCxnSpPr>
          <p:spPr>
            <a:xfrm flipH="1">
              <a:off x="3603857" y="4236647"/>
              <a:ext cx="795949" cy="72008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H="1">
              <a:off x="4860032" y="4236647"/>
              <a:ext cx="789507" cy="72008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640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Approximate LACS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Example:</a:t>
                </a:r>
                <a:br>
                  <a:rPr lang="en-US" altLang="zh-TW" sz="3000" dirty="0" smtClean="0"/>
                </a:br>
                <a:r>
                  <a:rPr lang="en-US" altLang="zh-TW" sz="2800" dirty="0" smtClean="0"/>
                  <a:t>X = BEA, Y = BDA,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-1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i = 2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LCS(X, Y) = BA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eliminate B or A </a:t>
                </a:r>
              </a:p>
              <a:p>
                <a:endParaRPr lang="en-US" altLang="zh-TW" sz="3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  <a:blipFill rotWithShape="1">
                <a:blip r:embed="rId2"/>
                <a:stretch>
                  <a:fillRect l="-1434" t="-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/>
                      </a:rPr>
                      <m:t>A</m:t>
                    </m:r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a:rPr lang="en-US" altLang="zh-TW" sz="3000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(X, Y) = Z = BACB</a:t>
                </a:r>
              </a:p>
              <a:p>
                <a:r>
                  <a:rPr lang="en-US" altLang="zh-TW" sz="3000" dirty="0" smtClean="0"/>
                  <a:t>g(X, Y, Z, 3,-1) = 4 x 3 + 3 x (-1) = 9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2495" t="-7186" b="-17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/>
          <p:cNvGrpSpPr/>
          <p:nvPr/>
        </p:nvGrpSpPr>
        <p:grpSpPr>
          <a:xfrm>
            <a:off x="2769219" y="3777305"/>
            <a:ext cx="3098925" cy="1607646"/>
            <a:chOff x="2769219" y="3777305"/>
            <a:chExt cx="3098925" cy="1607646"/>
          </a:xfrm>
        </p:grpSpPr>
        <p:grpSp>
          <p:nvGrpSpPr>
            <p:cNvPr id="10" name="群組 9"/>
            <p:cNvGrpSpPr/>
            <p:nvPr/>
          </p:nvGrpSpPr>
          <p:grpSpPr>
            <a:xfrm>
              <a:off x="2769219" y="3777305"/>
              <a:ext cx="3098925" cy="1607646"/>
              <a:chOff x="2769219" y="3777305"/>
              <a:chExt cx="3098925" cy="160764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769219" y="3777305"/>
                <a:ext cx="3098925" cy="1607646"/>
                <a:chOff x="3491880" y="4733854"/>
                <a:chExt cx="3098925" cy="1607646"/>
              </a:xfrm>
            </p:grpSpPr>
            <p:sp>
              <p:nvSpPr>
                <p:cNvPr id="5" name="文字方塊 4"/>
                <p:cNvSpPr txBox="1"/>
                <p:nvPr/>
              </p:nvSpPr>
              <p:spPr>
                <a:xfrm>
                  <a:off x="3491880" y="4733854"/>
                  <a:ext cx="30588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3200" dirty="0" smtClean="0"/>
                    <a:t>X = C  A  B  E  B  A</a:t>
                  </a:r>
                  <a:endParaRPr lang="zh-TW" altLang="en-US" sz="3200" dirty="0"/>
                </a:p>
              </p:txBody>
            </p:sp>
            <p:sp>
              <p:nvSpPr>
                <p:cNvPr id="6" name="文字方塊 5"/>
                <p:cNvSpPr txBox="1"/>
                <p:nvPr/>
              </p:nvSpPr>
              <p:spPr>
                <a:xfrm>
                  <a:off x="3491880" y="5756725"/>
                  <a:ext cx="309892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3200" dirty="0" smtClean="0"/>
                    <a:t>Y = B  A  D  A  C  B</a:t>
                  </a:r>
                  <a:endParaRPr lang="zh-TW" altLang="en-US" sz="3200" dirty="0"/>
                </a:p>
              </p:txBody>
            </p:sp>
            <p:cxnSp>
              <p:nvCxnSpPr>
                <p:cNvPr id="7" name="直線接點 6"/>
                <p:cNvCxnSpPr/>
                <p:nvPr/>
              </p:nvCxnSpPr>
              <p:spPr>
                <a:xfrm>
                  <a:off x="4326518" y="5193196"/>
                  <a:ext cx="1591898" cy="72008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線接點 7"/>
                <p:cNvCxnSpPr/>
                <p:nvPr/>
              </p:nvCxnSpPr>
              <p:spPr>
                <a:xfrm>
                  <a:off x="5918416" y="5193196"/>
                  <a:ext cx="453784" cy="72008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" name="直線接點 12"/>
              <p:cNvCxnSpPr/>
              <p:nvPr/>
            </p:nvCxnSpPr>
            <p:spPr>
              <a:xfrm>
                <a:off x="3995936" y="4236647"/>
                <a:ext cx="0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線接點 11"/>
            <p:cNvCxnSpPr/>
            <p:nvPr/>
          </p:nvCxnSpPr>
          <p:spPr>
            <a:xfrm flipH="1">
              <a:off x="3603857" y="4236647"/>
              <a:ext cx="795949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276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Approximate LACS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Another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800" b="0" i="0" smtClean="0">
                        <a:latin typeface="Cambria Math"/>
                      </a:rPr>
                      <m:t>A</m:t>
                    </m:r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a:rPr lang="en-US" altLang="zh-TW" sz="2800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(X, Y) = (A B A B) is better.</a:t>
                </a:r>
              </a:p>
              <a:p>
                <a:endParaRPr lang="en-US" altLang="zh-TW" sz="3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68760"/>
                <a:ext cx="8928992" cy="2448272"/>
              </a:xfrm>
              <a:blipFill rotWithShape="1">
                <a:blip r:embed="rId2"/>
                <a:stretch>
                  <a:fillRect l="-1230" t="-22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/>
                      </a:rPr>
                      <m:t>A</m:t>
                    </m:r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/>
                          </a:rPr>
                          <m:t>LACS</m:t>
                        </m:r>
                      </m:e>
                      <m:sub>
                        <m:r>
                          <a:rPr lang="en-US" altLang="zh-TW" sz="3000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(X, Y) = Z = A B A B</a:t>
                </a:r>
              </a:p>
              <a:p>
                <a:r>
                  <a:rPr lang="en-US" altLang="zh-TW" sz="3000" dirty="0" smtClean="0"/>
                  <a:t>g(X, Y, Z, 3,-1) = 4 x 3 + 2 x (-1) = 10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445224"/>
                <a:ext cx="5616624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2495" t="-7186" r="-868" b="-17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/>
          <p:cNvGrpSpPr/>
          <p:nvPr/>
        </p:nvGrpSpPr>
        <p:grpSpPr>
          <a:xfrm>
            <a:off x="2769219" y="3777305"/>
            <a:ext cx="3098925" cy="1607646"/>
            <a:chOff x="2769219" y="3777305"/>
            <a:chExt cx="3098925" cy="1607646"/>
          </a:xfrm>
        </p:grpSpPr>
        <p:grpSp>
          <p:nvGrpSpPr>
            <p:cNvPr id="10" name="群組 9"/>
            <p:cNvGrpSpPr/>
            <p:nvPr/>
          </p:nvGrpSpPr>
          <p:grpSpPr>
            <a:xfrm>
              <a:off x="2769219" y="3777305"/>
              <a:ext cx="3098925" cy="1607646"/>
              <a:chOff x="2769219" y="3777305"/>
              <a:chExt cx="3098925" cy="160764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769219" y="3777305"/>
                <a:ext cx="3098925" cy="1607646"/>
                <a:chOff x="3491880" y="4733854"/>
                <a:chExt cx="3098925" cy="1607646"/>
              </a:xfrm>
            </p:grpSpPr>
            <p:sp>
              <p:nvSpPr>
                <p:cNvPr id="5" name="文字方塊 4"/>
                <p:cNvSpPr txBox="1"/>
                <p:nvPr/>
              </p:nvSpPr>
              <p:spPr>
                <a:xfrm>
                  <a:off x="3491880" y="4733854"/>
                  <a:ext cx="30588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3200" dirty="0" smtClean="0"/>
                    <a:t>X = C  A  B  E  B  A</a:t>
                  </a:r>
                  <a:endParaRPr lang="zh-TW" altLang="en-US" sz="3200" dirty="0"/>
                </a:p>
              </p:txBody>
            </p:sp>
            <p:sp>
              <p:nvSpPr>
                <p:cNvPr id="6" name="文字方塊 5"/>
                <p:cNvSpPr txBox="1"/>
                <p:nvPr/>
              </p:nvSpPr>
              <p:spPr>
                <a:xfrm>
                  <a:off x="3491880" y="5756725"/>
                  <a:ext cx="309892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3200" dirty="0" smtClean="0"/>
                    <a:t>Y = B  A  D  A  C  B</a:t>
                  </a:r>
                  <a:endParaRPr lang="zh-TW" altLang="en-US" sz="3200" dirty="0"/>
                </a:p>
              </p:txBody>
            </p:sp>
            <p:cxnSp>
              <p:nvCxnSpPr>
                <p:cNvPr id="7" name="直線接點 6"/>
                <p:cNvCxnSpPr/>
                <p:nvPr/>
              </p:nvCxnSpPr>
              <p:spPr>
                <a:xfrm flipH="1">
                  <a:off x="4286549" y="5193196"/>
                  <a:ext cx="834546" cy="727538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線接點 7"/>
                <p:cNvCxnSpPr/>
                <p:nvPr/>
              </p:nvCxnSpPr>
              <p:spPr>
                <a:xfrm>
                  <a:off x="5918416" y="5193196"/>
                  <a:ext cx="453784" cy="72008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" name="直線接點 12"/>
              <p:cNvCxnSpPr/>
              <p:nvPr/>
            </p:nvCxnSpPr>
            <p:spPr>
              <a:xfrm>
                <a:off x="3995936" y="4236647"/>
                <a:ext cx="0" cy="720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線接點 11"/>
            <p:cNvCxnSpPr/>
            <p:nvPr/>
          </p:nvCxnSpPr>
          <p:spPr>
            <a:xfrm flipH="1">
              <a:off x="4853590" y="4244105"/>
              <a:ext cx="795949" cy="720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862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Artificial Neural Network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rtificial neural networks (ANNs) are computational models inspired by an animal's central nervous systems.</a:t>
            </a:r>
          </a:p>
          <a:p>
            <a:r>
              <a:rPr lang="en-US" altLang="zh-TW" dirty="0" smtClean="0"/>
              <a:t>The model includes numerous nodes(also call neurons). Each node denote a specific output function.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Hopfield Neural network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Hopfield nets </a:t>
            </a:r>
            <a:r>
              <a:rPr lang="zh-TW" altLang="en-US" dirty="0" smtClean="0"/>
              <a:t>每個</a:t>
            </a:r>
            <a:r>
              <a:rPr lang="en-US" altLang="zh-TW" dirty="0" smtClean="0"/>
              <a:t>node</a:t>
            </a:r>
            <a:r>
              <a:rPr lang="zh-TW" altLang="en-US" dirty="0" smtClean="0"/>
              <a:t>之輸入及輸出值皆為</a:t>
            </a:r>
            <a:r>
              <a:rPr lang="zh-TW" altLang="en-US" dirty="0"/>
              <a:t>二元</a:t>
            </a:r>
            <a:r>
              <a:rPr lang="zh-TW" altLang="en-US" dirty="0" smtClean="0"/>
              <a:t>值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Hopfield net </a:t>
            </a:r>
            <a:r>
              <a:rPr lang="zh-TW" altLang="en-US" dirty="0" smtClean="0"/>
              <a:t>將輸出值依照</a:t>
            </a:r>
            <a:r>
              <a:rPr lang="en-US" altLang="zh-TW" dirty="0" smtClean="0"/>
              <a:t>threshold</a:t>
            </a:r>
            <a:r>
              <a:rPr lang="zh-TW" altLang="en-US" dirty="0" smtClean="0"/>
              <a:t>輸出，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將輸出值輸入回</a:t>
            </a:r>
            <a:r>
              <a:rPr lang="en-US" altLang="zh-TW" dirty="0" err="1"/>
              <a:t>H</a:t>
            </a:r>
            <a:r>
              <a:rPr lang="en-US" altLang="zh-TW" dirty="0" err="1" smtClean="0"/>
              <a:t>opfiled</a:t>
            </a:r>
            <a:r>
              <a:rPr lang="en-US" altLang="zh-TW" dirty="0" smtClean="0"/>
              <a:t> </a:t>
            </a:r>
            <a:r>
              <a:rPr lang="en-US" altLang="zh-TW" dirty="0"/>
              <a:t>net </a:t>
            </a:r>
            <a:r>
              <a:rPr lang="zh-TW" altLang="en-US" dirty="0" smtClean="0"/>
              <a:t>中，直到輸出值收斂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026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Hopfield Neural network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改造</a:t>
            </a:r>
            <a:r>
              <a:rPr lang="en-US" altLang="zh-TW" dirty="0" smtClean="0"/>
              <a:t>Hopfield neural network </a:t>
            </a:r>
            <a:r>
              <a:rPr lang="zh-TW" altLang="en-US" dirty="0" smtClean="0"/>
              <a:t>用來解決</a:t>
            </a:r>
            <a:r>
              <a:rPr lang="en-US" altLang="zh-TW" dirty="0" smtClean="0"/>
              <a:t>LACS</a:t>
            </a:r>
            <a:r>
              <a:rPr lang="zh-TW" altLang="en-US" dirty="0" smtClean="0"/>
              <a:t> </a:t>
            </a:r>
            <a:r>
              <a:rPr lang="en-US" altLang="zh-TW" dirty="0" smtClean="0"/>
              <a:t>problem</a:t>
            </a:r>
          </a:p>
          <a:p>
            <a:endParaRPr lang="en-US" altLang="zh-TW" dirty="0"/>
          </a:p>
          <a:p>
            <a:r>
              <a:rPr lang="zh-TW" altLang="en-US" dirty="0" smtClean="0"/>
              <a:t>將輸入字串計算，</a:t>
            </a:r>
            <a:r>
              <a:rPr lang="zh-TW" altLang="en-US" dirty="0"/>
              <a:t>所得到</a:t>
            </a:r>
            <a:r>
              <a:rPr lang="en-US" altLang="zh-TW" dirty="0"/>
              <a:t>gain</a:t>
            </a:r>
            <a:r>
              <a:rPr lang="zh-TW" altLang="en-US" dirty="0"/>
              <a:t>值會</a:t>
            </a:r>
            <a:r>
              <a:rPr lang="zh-TW" altLang="en-US" dirty="0" smtClean="0"/>
              <a:t>趨近於</a:t>
            </a:r>
            <a:r>
              <a:rPr lang="zh-TW" altLang="en-US" dirty="0"/>
              <a:t>一定</a:t>
            </a:r>
            <a:r>
              <a:rPr lang="zh-TW" altLang="en-US" dirty="0" smtClean="0"/>
              <a:t>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074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pic>
        <p:nvPicPr>
          <p:cNvPr id="2050" name="Picture 2" descr="C:\Users\yotsuki\Desktop\擷取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111817"/>
            <a:ext cx="4297876" cy="470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251520" y="764704"/>
            <a:ext cx="8892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/>
              <a:t>The output gains of ALACS </a:t>
            </a:r>
            <a:r>
              <a:rPr lang="en-US" altLang="zh-TW" sz="3000" dirty="0" smtClean="0"/>
              <a:t>and Hopfield </a:t>
            </a:r>
            <a:r>
              <a:rPr lang="en-US" altLang="zh-TW" sz="3000" dirty="0"/>
              <a:t>net are pretty much the </a:t>
            </a:r>
            <a:r>
              <a:rPr lang="en-US" altLang="zh-TW" sz="3000" dirty="0" smtClean="0"/>
              <a:t>same. And the Hopfield net is a little bit poorer. The Hopfield net is much slower, but it requires less memory.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76658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636</Words>
  <Application>Microsoft Office PowerPoint</Application>
  <PresentationFormat>如螢幕大小 (4:3)</PresentationFormat>
  <Paragraphs>90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新細明體</vt:lpstr>
      <vt:lpstr>Arial</vt:lpstr>
      <vt:lpstr>Calibri</vt:lpstr>
      <vt:lpstr>Cambria Math</vt:lpstr>
      <vt:lpstr>Office 佈景主題</vt:lpstr>
      <vt:lpstr>Approximating the Longest Approximate Common Subsequence Problem</vt:lpstr>
      <vt:lpstr>Abstract</vt:lpstr>
      <vt:lpstr>Abstract</vt:lpstr>
      <vt:lpstr>Longest Approximate Common Subsequence Problem</vt:lpstr>
      <vt:lpstr>Longest Approximate Common Subsequence Problem</vt:lpstr>
      <vt:lpstr>Longest Approximate Common Subsequence Problem</vt:lpstr>
      <vt:lpstr>Longest Approximate Common Subsequence Problem</vt:lpstr>
      <vt:lpstr>Longest Approximate Common Subsequence Problem</vt:lpstr>
      <vt:lpstr>Longest Approximate Common Subsequence Problem</vt:lpstr>
      <vt:lpstr>Approximate LACS Algorithm</vt:lpstr>
      <vt:lpstr>Approximate LACS Algorithm</vt:lpstr>
      <vt:lpstr>Approximate LACS Algorithm</vt:lpstr>
      <vt:lpstr>Approximate LACS Algorithm</vt:lpstr>
      <vt:lpstr>Approximate LACS Algorithm</vt:lpstr>
      <vt:lpstr>Approximate LACS Algorithm</vt:lpstr>
      <vt:lpstr>Approximate LACS Algorithm</vt:lpstr>
      <vt:lpstr>Artificial Neural Network</vt:lpstr>
      <vt:lpstr>Hopfield Neural network</vt:lpstr>
      <vt:lpstr>Hopfield Neural network</vt:lpstr>
      <vt:lpstr>Experimental 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Approximating the Longest Approximate Common Subsequence Problem</dc:title>
  <dc:creator>yotsuki</dc:creator>
  <cp:lastModifiedBy>郭冠呈</cp:lastModifiedBy>
  <cp:revision>125</cp:revision>
  <dcterms:created xsi:type="dcterms:W3CDTF">2014-08-04T16:23:17Z</dcterms:created>
  <dcterms:modified xsi:type="dcterms:W3CDTF">2014-08-05T10:25:09Z</dcterms:modified>
</cp:coreProperties>
</file>