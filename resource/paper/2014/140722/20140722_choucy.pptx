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4DDD71-BFD7-44BC-AF8B-7FA41F5CAF63}" type="datetimeFigureOut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DEF069-658B-41A1-9D09-B9501CD2129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284181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DEF069-658B-41A1-9D09-B9501CD2129C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3620728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DEF069-658B-41A1-9D09-B9501CD2129C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3620728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DEF069-658B-41A1-9D09-B9501CD2129C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3620728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DEF069-658B-41A1-9D09-B9501CD2129C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3620728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DEF069-658B-41A1-9D09-B9501CD2129C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3620728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2014/7/22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 </a:t>
            </a:r>
            <a:r>
              <a:rPr lang="en-US" altLang="zh-TW" dirty="0" smtClean="0"/>
              <a:t>Simple </a:t>
            </a:r>
            <a:r>
              <a:rPr lang="en-US" altLang="zh-TW" dirty="0"/>
              <a:t>A</a:t>
            </a:r>
            <a:r>
              <a:rPr lang="en-US" altLang="zh-TW" dirty="0" smtClean="0"/>
              <a:t>lgorithm </a:t>
            </a:r>
            <a:r>
              <a:rPr lang="en-US" altLang="zh-TW" dirty="0"/>
              <a:t>for the </a:t>
            </a:r>
            <a:r>
              <a:rPr lang="en-US" altLang="zh-TW" dirty="0" smtClean="0"/>
              <a:t>Constrained </a:t>
            </a:r>
            <a:r>
              <a:rPr lang="en-US" altLang="zh-TW" dirty="0"/>
              <a:t>S</a:t>
            </a:r>
            <a:r>
              <a:rPr lang="en-US" altLang="zh-TW" dirty="0" smtClean="0"/>
              <a:t>equence </a:t>
            </a:r>
            <a:r>
              <a:rPr lang="en-US" altLang="zh-TW" dirty="0"/>
              <a:t>P</a:t>
            </a:r>
            <a:r>
              <a:rPr lang="en-US" altLang="zh-TW" dirty="0" smtClean="0"/>
              <a:t>roblems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US" altLang="zh-TW" dirty="0"/>
              <a:t>Francis Y.L. </a:t>
            </a:r>
            <a:r>
              <a:rPr lang="en-US" altLang="zh-TW" dirty="0" smtClean="0"/>
              <a:t>Chin, </a:t>
            </a:r>
            <a:r>
              <a:rPr lang="en-US" altLang="zh-TW" dirty="0"/>
              <a:t>Alfredo De </a:t>
            </a:r>
            <a:r>
              <a:rPr lang="en-US" altLang="zh-TW" dirty="0" err="1" smtClean="0"/>
              <a:t>Santis</a:t>
            </a:r>
            <a:r>
              <a:rPr lang="en-US" altLang="zh-TW" dirty="0" smtClean="0"/>
              <a:t>, </a:t>
            </a:r>
            <a:r>
              <a:rPr lang="en-US" altLang="zh-TW" dirty="0"/>
              <a:t>Anna Lisa </a:t>
            </a:r>
            <a:r>
              <a:rPr lang="en-US" altLang="zh-TW" dirty="0" smtClean="0"/>
              <a:t>Ferrara, </a:t>
            </a:r>
            <a:r>
              <a:rPr lang="en-US" altLang="zh-TW" dirty="0"/>
              <a:t>N.L. </a:t>
            </a:r>
            <a:r>
              <a:rPr lang="en-US" altLang="zh-TW" dirty="0" err="1"/>
              <a:t>Hoa</a:t>
            </a:r>
            <a:r>
              <a:rPr lang="en-US" altLang="zh-TW" dirty="0"/>
              <a:t>, S.K. </a:t>
            </a:r>
            <a:r>
              <a:rPr lang="en-US" altLang="zh-TW" dirty="0" smtClean="0"/>
              <a:t>Kim</a:t>
            </a:r>
            <a:br>
              <a:rPr lang="en-US" altLang="zh-TW" dirty="0" smtClean="0"/>
            </a:br>
            <a:r>
              <a:rPr lang="en-US" altLang="zh-TW" dirty="0" smtClean="0"/>
              <a:t>Information </a:t>
            </a:r>
            <a:r>
              <a:rPr lang="en-US" altLang="zh-TW" dirty="0"/>
              <a:t>Processing Letters </a:t>
            </a:r>
            <a:r>
              <a:rPr lang="en-US" altLang="zh-TW" dirty="0" smtClean="0"/>
              <a:t>90 pp.175-179(2004)</a:t>
            </a:r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87232439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287524" y="1124744"/>
                <a:ext cx="8568952" cy="56938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600" dirty="0" smtClean="0"/>
                  <a:t>In this paper we address the constrained longest common subsequence problem. Given two sequences </a:t>
                </a:r>
                <a:r>
                  <a:rPr lang="en-US" altLang="zh-TW" sz="2600" i="1" dirty="0"/>
                  <a:t>X</a:t>
                </a:r>
                <a:r>
                  <a:rPr lang="en-US" altLang="zh-TW" sz="2600" dirty="0"/>
                  <a:t>, </a:t>
                </a:r>
                <a:r>
                  <a:rPr lang="en-US" altLang="zh-TW" sz="2600" i="1" dirty="0"/>
                  <a:t>Y </a:t>
                </a:r>
                <a:r>
                  <a:rPr lang="en-US" altLang="zh-TW" sz="2600" dirty="0"/>
                  <a:t>and a </a:t>
                </a:r>
                <a:r>
                  <a:rPr lang="en-US" altLang="zh-TW" sz="2600" dirty="0" smtClean="0"/>
                  <a:t>constrained sequence </a:t>
                </a:r>
                <a:r>
                  <a:rPr lang="en-US" altLang="zh-TW" sz="2600" i="1" dirty="0"/>
                  <a:t>P</a:t>
                </a:r>
                <a:r>
                  <a:rPr lang="en-US" altLang="zh-TW" sz="2600" dirty="0"/>
                  <a:t>, a sequence </a:t>
                </a:r>
                <a:r>
                  <a:rPr lang="en-US" altLang="zh-TW" sz="2600" i="1" dirty="0"/>
                  <a:t>Z </a:t>
                </a:r>
                <a:r>
                  <a:rPr lang="en-US" altLang="zh-TW" sz="2600" dirty="0"/>
                  <a:t>is a constrained longest </a:t>
                </a:r>
                <a:r>
                  <a:rPr lang="en-US" altLang="zh-TW" sz="2600" dirty="0" smtClean="0"/>
                  <a:t>common subsequence </a:t>
                </a:r>
                <a:r>
                  <a:rPr lang="en-US" altLang="zh-TW" sz="2600" dirty="0"/>
                  <a:t>for </a:t>
                </a:r>
                <a:r>
                  <a:rPr lang="en-US" altLang="zh-TW" sz="2600" i="1" dirty="0"/>
                  <a:t>X </a:t>
                </a:r>
                <a:r>
                  <a:rPr lang="en-US" altLang="zh-TW" sz="2600" dirty="0"/>
                  <a:t>and </a:t>
                </a:r>
                <a:r>
                  <a:rPr lang="en-US" altLang="zh-TW" sz="2600" i="1" dirty="0"/>
                  <a:t>Y </a:t>
                </a:r>
                <a:r>
                  <a:rPr lang="en-US" altLang="zh-TW" sz="2600" dirty="0"/>
                  <a:t>with respect to </a:t>
                </a:r>
                <a:r>
                  <a:rPr lang="en-US" altLang="zh-TW" sz="2600" i="1" dirty="0"/>
                  <a:t>P </a:t>
                </a:r>
                <a:r>
                  <a:rPr lang="en-US" altLang="zh-TW" sz="2600" dirty="0"/>
                  <a:t>if </a:t>
                </a:r>
                <a:r>
                  <a:rPr lang="en-US" altLang="zh-TW" sz="2600" i="1" dirty="0"/>
                  <a:t>Z </a:t>
                </a:r>
                <a:r>
                  <a:rPr lang="en-US" altLang="zh-TW" sz="2600" dirty="0"/>
                  <a:t>is the </a:t>
                </a:r>
                <a:r>
                  <a:rPr lang="en-US" altLang="zh-TW" sz="2600" dirty="0" smtClean="0"/>
                  <a:t>longest subsequence </a:t>
                </a:r>
                <a:r>
                  <a:rPr lang="en-US" altLang="zh-TW" sz="2600" dirty="0"/>
                  <a:t>of </a:t>
                </a:r>
                <a:r>
                  <a:rPr lang="en-US" altLang="zh-TW" sz="2600" i="1" dirty="0"/>
                  <a:t>X </a:t>
                </a:r>
                <a:r>
                  <a:rPr lang="en-US" altLang="zh-TW" sz="2600" dirty="0"/>
                  <a:t>and </a:t>
                </a:r>
                <a:r>
                  <a:rPr lang="en-US" altLang="zh-TW" sz="2600" i="1" dirty="0"/>
                  <a:t>Y </a:t>
                </a:r>
                <a:r>
                  <a:rPr lang="en-US" altLang="zh-TW" sz="2600" dirty="0"/>
                  <a:t>such that </a:t>
                </a:r>
                <a:r>
                  <a:rPr lang="en-US" altLang="zh-TW" sz="2600" i="1" dirty="0"/>
                  <a:t>P </a:t>
                </a:r>
                <a:r>
                  <a:rPr lang="en-US" altLang="zh-TW" sz="2600" dirty="0"/>
                  <a:t>is a subsequence of </a:t>
                </a:r>
                <a:r>
                  <a:rPr lang="en-US" altLang="zh-TW" sz="2600" i="1" dirty="0" smtClean="0"/>
                  <a:t>Z</a:t>
                </a:r>
                <a:r>
                  <a:rPr lang="en-US" altLang="zh-TW" sz="2600" dirty="0" smtClean="0"/>
                  <a:t>. Recently, Tsai proposed </a:t>
                </a:r>
                <a:r>
                  <a:rPr lang="en-US" altLang="zh-TW" sz="2600" dirty="0"/>
                  <a:t>an </a:t>
                </a:r>
                <a:r>
                  <a:rPr lang="en-US" altLang="zh-TW" sz="2600" dirty="0" smtClean="0"/>
                  <a:t>O</a:t>
                </a:r>
                <a:r>
                  <a:rPr lang="en-US" altLang="zh-TW" sz="2600" i="1" dirty="0" smtClean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60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600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altLang="zh-TW" sz="26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600" dirty="0" smtClean="0"/>
                  <a:t/>
                </a:r>
                <a:r>
                  <a:rPr lang="en-US" altLang="zh-TW" sz="2600" dirty="0"/>
                  <a:t>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6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600" b="0" i="1" smtClean="0">
                            <a:latin typeface="Cambria Math"/>
                          </a:rPr>
                          <m:t>𝑚</m:t>
                        </m:r>
                      </m:e>
                      <m:sup>
                        <m:r>
                          <a:rPr lang="en-US" altLang="zh-TW" sz="26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600" dirty="0"/>
                  <a:t> · </a:t>
                </a:r>
                <a:r>
                  <a:rPr lang="en-US" altLang="zh-TW" sz="2600" i="1" dirty="0"/>
                  <a:t>r) </a:t>
                </a:r>
                <a:r>
                  <a:rPr lang="en-US" altLang="zh-TW" sz="2600" dirty="0"/>
                  <a:t>time algorithm to solve </a:t>
                </a:r>
                <a:r>
                  <a:rPr lang="en-US" altLang="zh-TW" sz="2600" dirty="0" smtClean="0"/>
                  <a:t>this problem</a:t>
                </a:r>
                <a:r>
                  <a:rPr lang="en-US" altLang="zh-TW" sz="2600" dirty="0"/>
                  <a:t/>
                </a:r>
                <a:r>
                  <a:rPr lang="en-US" altLang="zh-TW" sz="2600" dirty="0" smtClean="0"/>
                  <a:t>using </a:t>
                </a:r>
                <a:r>
                  <a:rPr lang="en-US" altLang="zh-TW" sz="2600" dirty="0"/>
                  <a:t>dynamic programming technique, where </a:t>
                </a:r>
                <a:r>
                  <a:rPr lang="en-US" altLang="zh-TW" sz="2600" i="1" dirty="0"/>
                  <a:t>n</a:t>
                </a:r>
                <a:r>
                  <a:rPr lang="en-US" altLang="zh-TW" sz="2600" dirty="0"/>
                  <a:t>, </a:t>
                </a:r>
                <a:r>
                  <a:rPr lang="en-US" altLang="zh-TW" sz="2600" i="1" dirty="0"/>
                  <a:t>m </a:t>
                </a:r>
                <a:r>
                  <a:rPr lang="en-US" altLang="zh-TW" sz="2600" dirty="0"/>
                  <a:t>and </a:t>
                </a:r>
                <a:r>
                  <a:rPr lang="en-US" altLang="zh-TW" sz="2600" i="1" dirty="0" smtClean="0"/>
                  <a:t>r </a:t>
                </a:r>
                <a:r>
                  <a:rPr lang="en-US" altLang="zh-TW" sz="2600" dirty="0" smtClean="0"/>
                  <a:t>are </a:t>
                </a:r>
                <a:r>
                  <a:rPr lang="en-US" altLang="zh-TW" sz="2600" dirty="0"/>
                  <a:t>the lengths of </a:t>
                </a:r>
                <a:r>
                  <a:rPr lang="en-US" altLang="zh-TW" sz="2600" i="1" dirty="0"/>
                  <a:t>X</a:t>
                </a:r>
                <a:r>
                  <a:rPr lang="en-US" altLang="zh-TW" sz="2600" dirty="0"/>
                  <a:t>, </a:t>
                </a:r>
                <a:r>
                  <a:rPr lang="en-US" altLang="zh-TW" sz="2600" i="1" dirty="0"/>
                  <a:t>Y </a:t>
                </a:r>
                <a:r>
                  <a:rPr lang="en-US" altLang="zh-TW" sz="2600" dirty="0"/>
                  <a:t>and </a:t>
                </a:r>
                <a:r>
                  <a:rPr lang="en-US" altLang="zh-TW" sz="2600" i="1" dirty="0"/>
                  <a:t>P</a:t>
                </a:r>
                <a:r>
                  <a:rPr lang="en-US" altLang="zh-TW" sz="2600" dirty="0"/>
                  <a:t>, </a:t>
                </a:r>
                <a:r>
                  <a:rPr lang="en-US" altLang="zh-TW" sz="2600" dirty="0" smtClean="0"/>
                  <a:t>respectively. In </a:t>
                </a:r>
                <a:r>
                  <a:rPr lang="en-US" altLang="zh-TW" sz="2600" dirty="0"/>
                  <a:t>this paper, we </a:t>
                </a:r>
                <a:r>
                  <a:rPr lang="en-US" altLang="zh-TW" sz="2600" dirty="0" smtClean="0"/>
                  <a:t>present a </a:t>
                </a:r>
                <a:r>
                  <a:rPr lang="en-US" altLang="zh-TW" sz="2600" dirty="0"/>
                  <a:t>simple algorithm to solve the constrained longest </a:t>
                </a:r>
                <a:r>
                  <a:rPr lang="en-US" altLang="zh-TW" sz="2600" dirty="0" smtClean="0"/>
                  <a:t>common subsequence </a:t>
                </a:r>
                <a:r>
                  <a:rPr lang="en-US" altLang="zh-TW" sz="2600" dirty="0"/>
                  <a:t>problem in O</a:t>
                </a:r>
                <a:r>
                  <a:rPr lang="en-US" altLang="zh-TW" sz="2600" i="1" dirty="0"/>
                  <a:t>(n </a:t>
                </a:r>
                <a:r>
                  <a:rPr lang="en-US" altLang="zh-TW" sz="2600" dirty="0"/>
                  <a:t>· </a:t>
                </a:r>
                <a:r>
                  <a:rPr lang="en-US" altLang="zh-TW" sz="2600" i="1" dirty="0"/>
                  <a:t>m </a:t>
                </a:r>
                <a:r>
                  <a:rPr lang="en-US" altLang="zh-TW" sz="2600" dirty="0"/>
                  <a:t>· </a:t>
                </a:r>
                <a:r>
                  <a:rPr lang="en-US" altLang="zh-TW" sz="2600" i="1" dirty="0" smtClean="0"/>
                  <a:t>r) </a:t>
                </a:r>
                <a:r>
                  <a:rPr lang="en-US" altLang="zh-TW" sz="2600" dirty="0" smtClean="0"/>
                  <a:t>time </a:t>
                </a:r>
                <a:r>
                  <a:rPr lang="en-US" altLang="zh-TW" sz="2600" dirty="0"/>
                  <a:t>and show that </a:t>
                </a:r>
                <a:r>
                  <a:rPr lang="en-US" altLang="zh-TW" sz="2600" dirty="0" smtClean="0"/>
                  <a:t>the constrained </a:t>
                </a:r>
                <a:r>
                  <a:rPr lang="en-US" altLang="zh-TW" sz="2600" dirty="0"/>
                  <a:t>longest common subsequence problem is equivalent to </a:t>
                </a:r>
                <a:r>
                  <a:rPr lang="en-US" altLang="zh-TW" sz="2600" dirty="0" smtClean="0"/>
                  <a:t>a special </a:t>
                </a:r>
                <a:r>
                  <a:rPr lang="en-US" altLang="zh-TW" sz="2600" dirty="0"/>
                  <a:t>case of the </a:t>
                </a:r>
                <a:r>
                  <a:rPr lang="en-US" altLang="zh-TW" sz="2600" dirty="0" smtClean="0"/>
                  <a:t>constrained multiple </a:t>
                </a:r>
                <a:r>
                  <a:rPr lang="en-US" altLang="zh-TW" sz="2600" dirty="0"/>
                  <a:t>sequence alignment </a:t>
                </a:r>
                <a:r>
                  <a:rPr lang="en-US" altLang="zh-TW" sz="2600" dirty="0" smtClean="0"/>
                  <a:t>problem which </a:t>
                </a:r>
                <a:r>
                  <a:rPr lang="en-US" altLang="zh-TW" sz="2600" dirty="0"/>
                  <a:t>can also be solved </a:t>
                </a:r>
                <a:r>
                  <a:rPr lang="en-US" altLang="zh-TW" sz="2600" dirty="0" smtClean="0"/>
                  <a:t>with the </a:t>
                </a:r>
                <a:r>
                  <a:rPr lang="en-US" altLang="zh-TW" sz="2600" dirty="0"/>
                  <a:t>same time complexity.</a:t>
                </a:r>
                <a:endParaRPr lang="zh-TW" altLang="en-US" sz="2600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24" y="1124744"/>
                <a:ext cx="8568952" cy="5693866"/>
              </a:xfrm>
              <a:prstGeom prst="rect">
                <a:avLst/>
              </a:prstGeom>
              <a:blipFill rotWithShape="1">
                <a:blip r:embed="rId2"/>
                <a:stretch>
                  <a:fillRect l="-1209" t="-964" r="-2063" b="-17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323859920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X = a t c a t c t a g </a:t>
            </a:r>
            <a:r>
              <a:rPr lang="en-US" altLang="zh-TW" dirty="0" err="1" smtClean="0"/>
              <a:t>g</a:t>
            </a:r>
            <a:endParaRPr lang="en-US" altLang="zh-TW" dirty="0" smtClean="0"/>
          </a:p>
          <a:p>
            <a:r>
              <a:rPr lang="en-US" altLang="zh-TW" dirty="0" smtClean="0"/>
              <a:t>Y = a t c a t a t g c g</a:t>
            </a:r>
          </a:p>
          <a:p>
            <a:r>
              <a:rPr lang="en-US" altLang="zh-TW" dirty="0" smtClean="0"/>
              <a:t>P = </a:t>
            </a:r>
            <a:r>
              <a:rPr lang="en-US" altLang="zh-TW" dirty="0" smtClean="0"/>
              <a:t>t </a:t>
            </a:r>
            <a:r>
              <a:rPr lang="en-US" altLang="zh-TW" dirty="0" err="1" smtClean="0"/>
              <a:t>t</a:t>
            </a:r>
            <a:r>
              <a:rPr lang="en-US" altLang="zh-TW" dirty="0" smtClean="0"/>
              <a:t> </a:t>
            </a:r>
            <a:r>
              <a:rPr lang="en-US" altLang="zh-TW" dirty="0" smtClean="0"/>
              <a:t>c g</a:t>
            </a:r>
          </a:p>
          <a:p>
            <a:r>
              <a:rPr lang="en-US" altLang="zh-TW" dirty="0" smtClean="0"/>
              <a:t>Z </a:t>
            </a:r>
            <a:r>
              <a:rPr lang="zh-TW" altLang="en-US" dirty="0" smtClean="0"/>
              <a:t>為 </a:t>
            </a:r>
            <a:r>
              <a:rPr lang="en-US" altLang="zh-TW" dirty="0" smtClean="0"/>
              <a:t>X</a:t>
            </a:r>
            <a:r>
              <a:rPr lang="zh-TW" altLang="en-US" dirty="0" smtClean="0"/>
              <a:t> 與 </a:t>
            </a:r>
            <a:r>
              <a:rPr lang="en-US" altLang="zh-TW" dirty="0" smtClean="0"/>
              <a:t>Y</a:t>
            </a:r>
            <a:r>
              <a:rPr lang="zh-TW" altLang="en-US" dirty="0" smtClean="0"/>
              <a:t> </a:t>
            </a:r>
            <a:r>
              <a:rPr lang="zh-TW" altLang="en-US" dirty="0" smtClean="0"/>
              <a:t>的</a:t>
            </a:r>
            <a:r>
              <a:rPr lang="en-US" altLang="zh-TW" dirty="0" smtClean="0"/>
              <a:t>CS</a:t>
            </a:r>
            <a:r>
              <a:rPr lang="zh-TW" altLang="en-US" dirty="0" smtClean="0"/>
              <a:t>，若</a:t>
            </a:r>
            <a:r>
              <a:rPr lang="en-US" altLang="zh-TW" dirty="0" smtClean="0"/>
              <a:t>P</a:t>
            </a:r>
            <a:r>
              <a:rPr lang="zh-TW" altLang="en-US" dirty="0" smtClean="0"/>
              <a:t>為</a:t>
            </a:r>
            <a:r>
              <a:rPr lang="en-US" altLang="zh-TW" dirty="0" smtClean="0"/>
              <a:t>Z</a:t>
            </a:r>
            <a:r>
              <a:rPr lang="zh-TW" altLang="en-US" dirty="0" smtClean="0"/>
              <a:t>的子序列，則</a:t>
            </a:r>
            <a:r>
              <a:rPr lang="en-US" altLang="zh-TW" dirty="0" smtClean="0"/>
              <a:t>Z</a:t>
            </a:r>
            <a:r>
              <a:rPr lang="zh-TW" altLang="en-US" dirty="0" smtClean="0"/>
              <a:t>為對應到 </a:t>
            </a:r>
            <a:r>
              <a:rPr lang="en-US" altLang="zh-TW" dirty="0" smtClean="0"/>
              <a:t>P</a:t>
            </a:r>
            <a:r>
              <a:rPr lang="zh-TW" altLang="en-US" dirty="0" smtClean="0"/>
              <a:t> 的 </a:t>
            </a:r>
            <a:r>
              <a:rPr lang="en-US" altLang="zh-TW" dirty="0" smtClean="0"/>
              <a:t>X</a:t>
            </a:r>
            <a:r>
              <a:rPr lang="zh-TW" altLang="en-US" dirty="0" smtClean="0"/>
              <a:t> 與 </a:t>
            </a:r>
            <a:r>
              <a:rPr lang="en-US" altLang="zh-TW" dirty="0" smtClean="0"/>
              <a:t>Y</a:t>
            </a:r>
            <a:r>
              <a:rPr lang="zh-TW" altLang="en-US" dirty="0" smtClean="0"/>
              <a:t> </a:t>
            </a:r>
            <a:r>
              <a:rPr lang="zh-TW" altLang="en-US" dirty="0" smtClean="0"/>
              <a:t>之 </a:t>
            </a:r>
            <a:r>
              <a:rPr lang="en-US" altLang="zh-TW" dirty="0" smtClean="0"/>
              <a:t>constrained LCS</a:t>
            </a:r>
            <a:r>
              <a:rPr lang="zh-TW" altLang="en-US" dirty="0" smtClean="0"/>
              <a:t>。在這例子</a:t>
            </a:r>
            <a:r>
              <a:rPr lang="zh-TW" altLang="en-US" dirty="0" smtClean="0"/>
              <a:t>中就不是 </a:t>
            </a:r>
            <a:r>
              <a:rPr lang="en-US" altLang="zh-TW" dirty="0" smtClean="0"/>
              <a:t>a t c a t </a:t>
            </a:r>
            <a:r>
              <a:rPr lang="en-US" altLang="zh-TW" dirty="0" err="1" smtClean="0"/>
              <a:t>t</a:t>
            </a:r>
            <a:r>
              <a:rPr lang="en-US" altLang="zh-TW" dirty="0" smtClean="0"/>
              <a:t> a </a:t>
            </a:r>
            <a:r>
              <a:rPr lang="en-US" altLang="zh-TW" dirty="0" smtClean="0"/>
              <a:t>g</a:t>
            </a:r>
            <a:r>
              <a:rPr lang="zh-TW" altLang="en-US" dirty="0" smtClean="0"/>
              <a:t>，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而是</a:t>
            </a:r>
            <a:r>
              <a:rPr lang="en-US" altLang="zh-TW" dirty="0" smtClean="0"/>
              <a:t>a </a:t>
            </a:r>
            <a:r>
              <a:rPr lang="en-US" altLang="zh-TW" dirty="0" smtClean="0">
                <a:solidFill>
                  <a:srgbClr val="FF0000"/>
                </a:solidFill>
              </a:rPr>
              <a:t>t</a:t>
            </a:r>
            <a:r>
              <a:rPr lang="en-US" altLang="zh-TW" dirty="0" smtClean="0"/>
              <a:t> c</a:t>
            </a:r>
            <a:r>
              <a:rPr lang="zh-TW" altLang="en-US" dirty="0" smtClean="0"/>
              <a:t> </a:t>
            </a:r>
            <a:r>
              <a:rPr lang="en-US" altLang="zh-TW" dirty="0" smtClean="0"/>
              <a:t>a</a:t>
            </a:r>
            <a:r>
              <a:rPr lang="zh-TW" altLang="en-US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t</a:t>
            </a:r>
            <a:r>
              <a:rPr lang="zh-TW" altLang="en-US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c</a:t>
            </a:r>
            <a:r>
              <a:rPr lang="zh-TW" altLang="en-US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g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609486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X, Y, P</a:t>
                </a:r>
                <a:r>
                  <a:rPr lang="zh-TW" altLang="en-US" dirty="0" smtClean="0"/>
                  <a:t> 的長度分別為 </a:t>
                </a:r>
                <a:r>
                  <a:rPr lang="en-US" altLang="zh-TW" dirty="0" smtClean="0"/>
                  <a:t>n, m, r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dirty="0" smtClean="0">
                        <a:latin typeface="Cambria Math"/>
                      </a:rPr>
                      <m:t>0</m:t>
                    </m:r>
                    <m:r>
                      <a:rPr lang="en-US" altLang="zh-TW" i="1" dirty="0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b="0" i="1" dirty="0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altLang="zh-TW" b="0" i="1" dirty="0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b="0" i="1" dirty="0" smtClean="0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dirty="0">
                        <a:latin typeface="Cambria Math"/>
                      </a:rPr>
                      <m:t>0</m:t>
                    </m:r>
                    <m:r>
                      <a:rPr lang="en-US" altLang="zh-TW" i="1" dirty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b="0" i="1" dirty="0" smtClean="0">
                        <a:latin typeface="Cambria Math"/>
                        <a:ea typeface="Cambria Math"/>
                      </a:rPr>
                      <m:t>𝑗</m:t>
                    </m:r>
                    <m:r>
                      <a:rPr lang="en-US" altLang="zh-TW" i="1" dirty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b="0" i="1" dirty="0" smtClean="0">
                        <a:latin typeface="Cambria Math"/>
                        <a:ea typeface="Cambria Math"/>
                      </a:rPr>
                      <m:t>𝑚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dirty="0">
                        <a:latin typeface="Cambria Math"/>
                      </a:rPr>
                      <m:t>0</m:t>
                    </m:r>
                    <m:r>
                      <a:rPr lang="en-US" altLang="zh-TW" i="1" dirty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b="0" i="1" dirty="0" smtClean="0">
                        <a:latin typeface="Cambria Math"/>
                        <a:ea typeface="Cambria Math"/>
                      </a:rPr>
                      <m:t>𝑘</m:t>
                    </m:r>
                    <m:r>
                      <a:rPr lang="en-US" altLang="zh-TW" i="1" dirty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b="0" i="1" dirty="0" smtClean="0">
                        <a:latin typeface="Cambria Math"/>
                        <a:ea typeface="Cambria Math"/>
                      </a:rPr>
                      <m:t>𝑟</m:t>
                    </m:r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L</a:t>
                </a:r>
                <a:r>
                  <a:rPr lang="zh-TW" altLang="en-US" dirty="0" smtClean="0"/>
                  <a:t> 為 </a:t>
                </a:r>
                <a:r>
                  <a:rPr lang="en-US" altLang="zh-TW" dirty="0" smtClean="0"/>
                  <a:t>CLCS</a:t>
                </a:r>
                <a:r>
                  <a:rPr lang="zh-TW" altLang="en-US" dirty="0" smtClean="0"/>
                  <a:t> 長度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1" name="Picture 3" descr="F:\Sena\Desktop\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573016"/>
            <a:ext cx="7128792" cy="236068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9135314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134" y="1600200"/>
            <a:ext cx="5137732" cy="4525963"/>
          </a:xfrm>
        </p:spPr>
      </p:pic>
    </p:spTree>
    <p:extLst>
      <p:ext uri="{BB962C8B-B14F-4D97-AF65-F5344CB8AC3E}">
        <p14:creationId xmlns="" xmlns:p14="http://schemas.microsoft.com/office/powerpoint/2010/main" val="191340984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90414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6021154"/>
              </p:ext>
            </p:extLst>
          </p:nvPr>
        </p:nvGraphicFramePr>
        <p:xfrm>
          <a:off x="4572000" y="2204864"/>
          <a:ext cx="4464492" cy="43891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  <a:gridCol w="372041"/>
              </a:tblGrid>
              <a:tr h="347758">
                <a:tc>
                  <a:txBody>
                    <a:bodyPr/>
                    <a:lstStyle/>
                    <a:p>
                      <a:pPr algn="ctr"/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</a:tr>
              <a:tr h="34775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-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4775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a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4775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4775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4775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a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  <a:tr h="34775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4775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a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  <a:tr h="34775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  <a:tr h="34775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  <a:tr h="34775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a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  <a:tr h="34775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611560" y="1251917"/>
            <a:ext cx="308449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X = a t c a t c t a g </a:t>
            </a:r>
            <a:r>
              <a:rPr lang="en-US" altLang="zh-TW" sz="2800" dirty="0" err="1" smtClean="0"/>
              <a:t>g</a:t>
            </a:r>
            <a:r>
              <a:rPr lang="en-US" altLang="zh-TW" sz="2800" dirty="0" smtClean="0"/>
              <a:t/>
            </a:r>
            <a:br>
              <a:rPr lang="en-US" altLang="zh-TW" sz="2800" dirty="0" smtClean="0"/>
            </a:br>
            <a:r>
              <a:rPr lang="en-US" altLang="zh-TW" sz="2800" dirty="0" smtClean="0"/>
              <a:t>Y = a t c a t a t g a g</a:t>
            </a:r>
            <a:br>
              <a:rPr lang="en-US" altLang="zh-TW" sz="2800" dirty="0" smtClean="0"/>
            </a:br>
            <a:r>
              <a:rPr lang="en-US" altLang="zh-TW" sz="2800" dirty="0" smtClean="0"/>
              <a:t>P = a c g</a:t>
            </a:r>
            <a:endParaRPr lang="zh-TW" altLang="en-US" sz="2800" dirty="0"/>
          </a:p>
        </p:txBody>
      </p:sp>
      <p:sp>
        <p:nvSpPr>
          <p:cNvPr id="5" name="矩形 4"/>
          <p:cNvSpPr/>
          <p:nvPr/>
        </p:nvSpPr>
        <p:spPr>
          <a:xfrm>
            <a:off x="4644008" y="1556792"/>
            <a:ext cx="9252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/>
              <a:t>k = </a:t>
            </a:r>
            <a:r>
              <a:rPr lang="en-US" altLang="zh-TW" sz="2800" dirty="0" smtClean="0"/>
              <a:t>0</a:t>
            </a:r>
            <a:endParaRPr lang="zh-TW" alt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125013562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90414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537164"/>
                  </p:ext>
                </p:extLst>
              </p:nvPr>
            </p:nvGraphicFramePr>
            <p:xfrm>
              <a:off x="3635896" y="2204864"/>
              <a:ext cx="5436096" cy="4389120"/>
            </p:xfrm>
            <a:graphic>
              <a:graphicData uri="http://schemas.openxmlformats.org/drawingml/2006/table">
                <a:tbl>
                  <a:tblPr firstRow="1" bandRow="1">
                    <a:tableStyleId>{0505E3EF-67EA-436B-97B2-0124C06EBD24}</a:tableStyleId>
                  </a:tblPr>
                  <a:tblGrid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</a:tblGrid>
                  <a:tr h="347758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-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accent6"/>
                              </a:solidFill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c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accent6"/>
                              </a:solidFill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accent6"/>
                              </a:solidFill>
                            </a:rPr>
                            <a:t>5</a:t>
                          </a:r>
                          <a:endParaRPr lang="zh-TW" altLang="en-US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accent6"/>
                              </a:solidFill>
                            </a:rPr>
                            <a:t>6</a:t>
                          </a:r>
                          <a:endParaRPr lang="zh-TW" altLang="en-US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g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accent6"/>
                              </a:solidFill>
                            </a:rPr>
                            <a:t>7</a:t>
                          </a:r>
                          <a:endParaRPr lang="zh-TW" altLang="en-US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g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C000"/>
                              </a:solidFill>
                            </a:rPr>
                            <a:t>8</a:t>
                          </a:r>
                          <a:endParaRPr lang="zh-TW" altLang="en-US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a14="http://schemas.microsoft.com/office/drawing/2010/main" xmlns="" xmlns:p14="http://schemas.microsoft.com/office/powerpoint/2010/main" val="305537164"/>
                  </p:ext>
                </p:extLst>
              </p:nvPr>
            </p:nvGraphicFramePr>
            <p:xfrm>
              <a:off x="3635896" y="2204864"/>
              <a:ext cx="5436096" cy="4389120"/>
            </p:xfrm>
            <a:graphic>
              <a:graphicData uri="http://schemas.openxmlformats.org/drawingml/2006/table">
                <a:tbl>
                  <a:tblPr firstRow="1" bandRow="1">
                    <a:tableStyleId>{0505E3EF-67EA-436B-97B2-0124C06EBD24}</a:tableStyleId>
                  </a:tblPr>
                  <a:tblGrid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-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108333" r="-992000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108333" r="-905405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108333" r="-805405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108333" r="-694667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108333" r="-604054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108333" r="-504054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108333" r="-39733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108333" r="-30270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108333" r="-20270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0667" t="-108333" r="-100000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105405" t="-108333" r="-1351" b="-10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208333" r="-992000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308333" r="-992000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accent6"/>
                              </a:solidFill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c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408333" r="-992000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accent6"/>
                              </a:solidFill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508333" r="-99200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608333" r="-992000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accent6"/>
                              </a:solidFill>
                            </a:rPr>
                            <a:t>5</a:t>
                          </a:r>
                          <a:endParaRPr lang="zh-TW" altLang="en-US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708333" r="-992000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808333" r="-992000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accent6"/>
                              </a:solidFill>
                            </a:rPr>
                            <a:t>6</a:t>
                          </a:r>
                          <a:endParaRPr lang="zh-TW" altLang="en-US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g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908333" r="-992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accent6"/>
                              </a:solidFill>
                            </a:rPr>
                            <a:t>7</a:t>
                          </a:r>
                          <a:endParaRPr lang="zh-TW" altLang="en-US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1008333" r="-992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g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1108333" r="-992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C000"/>
                              </a:solidFill>
                            </a:rPr>
                            <a:t>8</a:t>
                          </a:r>
                          <a:endParaRPr lang="zh-TW" altLang="en-US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文字方塊 3"/>
          <p:cNvSpPr txBox="1"/>
          <p:nvPr/>
        </p:nvSpPr>
        <p:spPr>
          <a:xfrm>
            <a:off x="0" y="1251917"/>
            <a:ext cx="308449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X = a t c a t c t a g </a:t>
            </a:r>
            <a:r>
              <a:rPr lang="en-US" altLang="zh-TW" sz="2800" dirty="0" err="1" smtClean="0"/>
              <a:t>g</a:t>
            </a:r>
            <a:r>
              <a:rPr lang="en-US" altLang="zh-TW" sz="2800" dirty="0" smtClean="0"/>
              <a:t/>
            </a:r>
            <a:br>
              <a:rPr lang="en-US" altLang="zh-TW" sz="2800" dirty="0" smtClean="0"/>
            </a:br>
            <a:r>
              <a:rPr lang="en-US" altLang="zh-TW" sz="2800" dirty="0" smtClean="0"/>
              <a:t>Y = a t c a t a t g a g</a:t>
            </a:r>
            <a:br>
              <a:rPr lang="en-US" altLang="zh-TW" sz="2800" dirty="0" smtClean="0"/>
            </a:br>
            <a:r>
              <a:rPr lang="en-US" altLang="zh-TW" sz="2800" dirty="0" smtClean="0"/>
              <a:t>P = a c g</a:t>
            </a:r>
            <a:endParaRPr lang="zh-TW" altLang="en-US" sz="28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153193619"/>
              </p:ext>
            </p:extLst>
          </p:nvPr>
        </p:nvGraphicFramePr>
        <p:xfrm>
          <a:off x="35496" y="2924944"/>
          <a:ext cx="3528396" cy="36576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94033"/>
                <a:gridCol w="294033"/>
                <a:gridCol w="294033"/>
                <a:gridCol w="294033"/>
                <a:gridCol w="294033"/>
                <a:gridCol w="294033"/>
                <a:gridCol w="294033"/>
                <a:gridCol w="294033"/>
                <a:gridCol w="294033"/>
                <a:gridCol w="294033"/>
                <a:gridCol w="294033"/>
                <a:gridCol w="294033"/>
              </a:tblGrid>
              <a:tr h="274797">
                <a:tc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747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747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747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747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747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747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747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747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747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747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747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>
        <mc:Choice xmlns=""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3707904" y="1556792"/>
                <a:ext cx="201048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/>
                  <a:t>k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sz="2800" dirty="0" smtClean="0"/>
                  <a:t/>
                </a:r>
                <a:r>
                  <a:rPr lang="en-US" altLang="zh-TW" sz="2800" dirty="0" smtClean="0"/>
                  <a:t>= a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1556792"/>
                <a:ext cx="2010487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6061" t="-11628" r="-4242" b="-313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35496" y="2564904"/>
            <a:ext cx="660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k = </a:t>
            </a:r>
            <a:r>
              <a:rPr lang="en-US" altLang="zh-TW" dirty="0" smtClean="0"/>
              <a:t>0</a:t>
            </a:r>
            <a:endParaRPr lang="zh-TW" altLang="en-US" dirty="0"/>
          </a:p>
        </p:txBody>
      </p:sp>
      <p:cxnSp>
        <p:nvCxnSpPr>
          <p:cNvPr id="9" name="直線單箭頭接點 8"/>
          <p:cNvCxnSpPr/>
          <p:nvPr/>
        </p:nvCxnSpPr>
        <p:spPr>
          <a:xfrm flipH="1">
            <a:off x="611560" y="3140968"/>
            <a:ext cx="3960440" cy="2660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H="1">
            <a:off x="1501964" y="4221088"/>
            <a:ext cx="4438188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flipH="1">
            <a:off x="2591780" y="4941168"/>
            <a:ext cx="51485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flipH="1" flipV="1">
            <a:off x="2627784" y="5913276"/>
            <a:ext cx="5112568" cy="1080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30893925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90414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2771352"/>
                  </p:ext>
                </p:extLst>
              </p:nvPr>
            </p:nvGraphicFramePr>
            <p:xfrm>
              <a:off x="3635896" y="2204864"/>
              <a:ext cx="5436096" cy="4389120"/>
            </p:xfrm>
            <a:graphic>
              <a:graphicData uri="http://schemas.openxmlformats.org/drawingml/2006/table">
                <a:tbl>
                  <a:tblPr firstRow="1" bandRow="1">
                    <a:tableStyleId>{0505E3EF-67EA-436B-97B2-0124C06EBD24}</a:tableStyleId>
                  </a:tblPr>
                  <a:tblGrid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</a:tblGrid>
                  <a:tr h="347758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-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>
                              <a:solidFill>
                                <a:srgbClr val="FFC000"/>
                              </a:solidFill>
                            </a:rPr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C000"/>
                              </a:solidFill>
                            </a:rPr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solidFill>
                                    <a:srgbClr val="FFC000"/>
                                  </a:solidFill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c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C000"/>
                              </a:solidFill>
                            </a:rPr>
                            <a:t>4</a:t>
                          </a:r>
                          <a:endParaRPr lang="zh-TW" altLang="en-US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C000"/>
                              </a:solidFill>
                            </a:rPr>
                            <a:t>5</a:t>
                          </a:r>
                          <a:endParaRPr lang="zh-TW" altLang="en-US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C000"/>
                              </a:solidFill>
                            </a:rPr>
                            <a:t>6</a:t>
                          </a:r>
                          <a:endParaRPr lang="zh-TW" altLang="en-US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C000"/>
                              </a:solidFill>
                            </a:rPr>
                            <a:t>6</a:t>
                          </a:r>
                          <a:endParaRPr lang="zh-TW" altLang="en-US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g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C000"/>
                              </a:solidFill>
                            </a:rPr>
                            <a:t>7</a:t>
                          </a:r>
                          <a:endParaRPr lang="zh-TW" altLang="en-US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C000"/>
                              </a:solidFill>
                            </a:rPr>
                            <a:t>7</a:t>
                          </a:r>
                          <a:endParaRPr lang="zh-TW" altLang="en-US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g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C000"/>
                              </a:solidFill>
                            </a:rPr>
                            <a:t>8</a:t>
                          </a:r>
                          <a:endParaRPr lang="zh-TW" altLang="en-US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a14="http://schemas.microsoft.com/office/drawing/2010/main" xmlns="" xmlns:p14="http://schemas.microsoft.com/office/powerpoint/2010/main" val="1222771352"/>
                  </p:ext>
                </p:extLst>
              </p:nvPr>
            </p:nvGraphicFramePr>
            <p:xfrm>
              <a:off x="3635896" y="2204864"/>
              <a:ext cx="5436096" cy="4389120"/>
            </p:xfrm>
            <a:graphic>
              <a:graphicData uri="http://schemas.openxmlformats.org/drawingml/2006/table">
                <a:tbl>
                  <a:tblPr firstRow="1" bandRow="1">
                    <a:tableStyleId>{0505E3EF-67EA-436B-97B2-0124C06EBD24}</a:tableStyleId>
                  </a:tblPr>
                  <a:tblGrid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-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108333" r="-992000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108333" r="-905405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108333" r="-805405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108333" r="-694667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108333" r="-604054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108333" r="-504054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108333" r="-39733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108333" r="-30270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108333" r="-20270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0667" t="-108333" r="-100000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105405" t="-108333" r="-1351" b="-10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208333" r="-992000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208333" r="-905405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208333" r="-805405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208333" r="-694667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208333" r="-604054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208333" r="-504054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208333" r="-397333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208333" r="-302703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208333" r="-202703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0667" t="-208333" r="-100000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105405" t="-208333" r="-1351" b="-9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308333" r="-992000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308333" r="-905405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308333" r="-805405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308333" r="-694667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308333" r="-604054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308333" r="-504054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308333" r="-397333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308333" r="-302703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308333" r="-202703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0667" t="-308333" r="-100000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105405" t="-308333" r="-1351" b="-8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c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408333" r="-992000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408333" r="-905405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408333" r="-805405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508333" r="-99200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508333" r="-905405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508333" r="-805405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C000"/>
                              </a:solidFill>
                            </a:rPr>
                            <a:t>4</a:t>
                          </a:r>
                          <a:endParaRPr lang="zh-TW" altLang="en-US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608333" r="-992000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608333" r="-905405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608333" r="-805405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C000"/>
                              </a:solidFill>
                            </a:rPr>
                            <a:t>5</a:t>
                          </a:r>
                          <a:endParaRPr lang="zh-TW" altLang="en-US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708333" r="-992000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708333" r="-905405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708333" r="-805405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C000"/>
                              </a:solidFill>
                            </a:rPr>
                            <a:t>6</a:t>
                          </a:r>
                          <a:endParaRPr lang="zh-TW" altLang="en-US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808333" r="-992000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808333" r="-905405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808333" r="-805405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C000"/>
                              </a:solidFill>
                            </a:rPr>
                            <a:t>6</a:t>
                          </a:r>
                          <a:endParaRPr lang="zh-TW" altLang="en-US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g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908333" r="-992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908333" r="-905405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908333" r="-805405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C000"/>
                              </a:solidFill>
                            </a:rPr>
                            <a:t>7</a:t>
                          </a:r>
                          <a:endParaRPr lang="zh-TW" altLang="en-US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1008333" r="-992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1008333" r="-905405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1008333" r="-805405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C000"/>
                              </a:solidFill>
                            </a:rPr>
                            <a:t>7</a:t>
                          </a:r>
                          <a:endParaRPr lang="zh-TW" altLang="en-US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g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dirty="0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1108333" r="-992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1108333" r="-905405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1108333" r="-805405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C000"/>
                              </a:solidFill>
                            </a:rPr>
                            <a:t>8</a:t>
                          </a:r>
                          <a:endParaRPr lang="zh-TW" altLang="en-US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文字方塊 3"/>
          <p:cNvSpPr txBox="1"/>
          <p:nvPr/>
        </p:nvSpPr>
        <p:spPr>
          <a:xfrm>
            <a:off x="0" y="642523"/>
            <a:ext cx="308449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X = a t c a t c t a g </a:t>
            </a:r>
            <a:r>
              <a:rPr lang="en-US" altLang="zh-TW" sz="2800" dirty="0" err="1" smtClean="0"/>
              <a:t>g</a:t>
            </a:r>
            <a:r>
              <a:rPr lang="en-US" altLang="zh-TW" sz="2800" dirty="0" smtClean="0"/>
              <a:t/>
            </a:r>
            <a:br>
              <a:rPr lang="en-US" altLang="zh-TW" sz="2800" dirty="0" smtClean="0"/>
            </a:br>
            <a:r>
              <a:rPr lang="en-US" altLang="zh-TW" sz="2800" dirty="0" smtClean="0"/>
              <a:t>Y = a t c a t a t g a g</a:t>
            </a:r>
            <a:br>
              <a:rPr lang="en-US" altLang="zh-TW" sz="2800" dirty="0" smtClean="0"/>
            </a:br>
            <a:r>
              <a:rPr lang="en-US" altLang="zh-TW" sz="2800" dirty="0" smtClean="0"/>
              <a:t>P = a c g</a:t>
            </a:r>
            <a:endParaRPr lang="zh-TW" altLang="en-US" sz="28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mc="http://schemas.openxmlformats.org/markup-compatibility/2006" xmlns:a14="http://schemas.microsoft.com/office/drawing/2010/main" xmlns="" xmlns:p14="http://schemas.microsoft.com/office/powerpoint/2010/main" val="2429272234"/>
              </p:ext>
            </p:extLst>
          </p:nvPr>
        </p:nvGraphicFramePr>
        <p:xfrm>
          <a:off x="35496" y="2315550"/>
          <a:ext cx="3528396" cy="43281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94033"/>
                <a:gridCol w="294033"/>
                <a:gridCol w="294033"/>
                <a:gridCol w="294033"/>
                <a:gridCol w="294033"/>
                <a:gridCol w="294033"/>
                <a:gridCol w="294033"/>
                <a:gridCol w="294033"/>
                <a:gridCol w="294033"/>
                <a:gridCol w="294033"/>
                <a:gridCol w="294033"/>
                <a:gridCol w="294033"/>
              </a:tblGrid>
              <a:tr h="261885">
                <a:tc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142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000" t="-102000" r="-983673" b="-10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204167" t="-102000" r="-904167" b="-10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304167" t="-102000" r="-804167" b="-10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404167" t="-102000" r="-704167" b="-10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493878" t="-102000" r="-589796" b="-10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606250" t="-102000" r="-502083" b="-10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706250" t="-102000" r="-402083" b="-10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806250" t="-102000" r="-302083" b="-10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887755" t="-102000" r="-195918" b="-10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8333" t="-102000" r="-100000" b="-10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108333" t="-102000" b="-1020000"/>
                      </a:stretch>
                    </a:blipFill>
                  </a:tcPr>
                </a:tc>
              </a:tr>
              <a:tr h="3142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000" t="-202000" r="-983673" b="-9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142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000" t="-302000" r="-983673" b="-8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142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000" t="-402000" r="-983673" b="-7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142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000" t="-502000" r="-983673" b="-6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142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000" t="-602000" r="-983673" b="-5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142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000" t="-702000" r="-983673" b="-4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142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000" t="-802000" r="-983673" b="-3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142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000" t="-902000" r="-983673" b="-2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142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000" t="-1002000" r="-983673" b="-1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142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000" t="-1102000" r="-983673" b="-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>
        <mc:Choice xmlns=""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3707904" y="1556792"/>
                <a:ext cx="199638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/>
                  <a:t>k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sz="2800" dirty="0" smtClean="0"/>
                  <a:t/>
                </a:r>
                <a:r>
                  <a:rPr lang="en-US" altLang="zh-TW" sz="2800" dirty="0" smtClean="0"/>
                  <a:t>= c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1556792"/>
                <a:ext cx="1996380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6098" t="-11628" r="-5183" b="-313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35496" y="1955510"/>
            <a:ext cx="660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k = </a:t>
            </a:r>
            <a:r>
              <a:rPr lang="en-US" altLang="zh-TW" dirty="0" smtClean="0"/>
              <a:t>1</a:t>
            </a:r>
            <a:endParaRPr lang="zh-TW" altLang="en-US" dirty="0"/>
          </a:p>
        </p:txBody>
      </p:sp>
      <p:cxnSp>
        <p:nvCxnSpPr>
          <p:cNvPr id="12" name="直線單箭頭接點 11"/>
          <p:cNvCxnSpPr/>
          <p:nvPr/>
        </p:nvCxnSpPr>
        <p:spPr>
          <a:xfrm rot="10800000">
            <a:off x="1214414" y="3571876"/>
            <a:ext cx="4293690" cy="2891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6054196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90414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8330975"/>
                  </p:ext>
                </p:extLst>
              </p:nvPr>
            </p:nvGraphicFramePr>
            <p:xfrm>
              <a:off x="3635896" y="2204864"/>
              <a:ext cx="5436096" cy="4389120"/>
            </p:xfrm>
            <a:graphic>
              <a:graphicData uri="http://schemas.openxmlformats.org/drawingml/2006/table">
                <a:tbl>
                  <a:tblPr firstRow="1" bandRow="1">
                    <a:tableStyleId>{0505E3EF-67EA-436B-97B2-0124C06EBD24}</a:tableStyleId>
                  </a:tblPr>
                  <a:tblGrid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</a:tblGrid>
                  <a:tr h="347758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-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c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g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g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a14="http://schemas.microsoft.com/office/drawing/2010/main" xmlns="" xmlns:p14="http://schemas.microsoft.com/office/powerpoint/2010/main" val="2528330975"/>
                  </p:ext>
                </p:extLst>
              </p:nvPr>
            </p:nvGraphicFramePr>
            <p:xfrm>
              <a:off x="3635896" y="2204864"/>
              <a:ext cx="5436096" cy="4389120"/>
            </p:xfrm>
            <a:graphic>
              <a:graphicData uri="http://schemas.openxmlformats.org/drawingml/2006/table">
                <a:tbl>
                  <a:tblPr firstRow="1" bandRow="1">
                    <a:tableStyleId>{0505E3EF-67EA-436B-97B2-0124C06EBD24}</a:tableStyleId>
                  </a:tblPr>
                  <a:tblGrid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-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108333" r="-992000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108333" r="-905405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108333" r="-805405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108333" r="-694667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108333" r="-604054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108333" r="-504054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108333" r="-39733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108333" r="-30270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108333" r="-20270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0667" t="-108333" r="-100000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105405" t="-108333" r="-1351" b="-10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208333" r="-992000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208333" r="-905405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208333" r="-805405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208333" r="-694667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208333" r="-604054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208333" r="-504054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208333" r="-397333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208333" r="-302703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208333" r="-202703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0667" t="-208333" r="-100000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105405" t="-208333" r="-1351" b="-9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308333" r="-992000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308333" r="-905405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308333" r="-805405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308333" r="-694667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308333" r="-604054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308333" r="-504054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308333" r="-397333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308333" r="-302703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308333" r="-202703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0667" t="-308333" r="-100000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105405" t="-308333" r="-1351" b="-8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c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408333" r="-992000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408333" r="-905405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408333" r="-805405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408333" r="-694667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408333" r="-604054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408333" r="-504054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408333" r="-397333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408333" r="-302703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408333" r="-202703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0667" t="-408333" r="-100000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105405" t="-408333" r="-1351" b="-7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508333" r="-99200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508333" r="-905405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508333" r="-805405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508333" r="-694667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508333" r="-604054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508333" r="-504054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508333" r="-397333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508333" r="-302703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508333" r="-202703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0667" t="-508333" r="-10000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105405" t="-508333" r="-1351" b="-6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608333" r="-992000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608333" r="-905405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608333" r="-805405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608333" r="-694667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608333" r="-604054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608333" r="-504054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608333" r="-397333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608333" r="-302703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608333" r="-202703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0667" t="-608333" r="-100000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105405" t="-608333" r="-1351" b="-5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708333" r="-992000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708333" r="-905405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708333" r="-805405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708333" r="-694667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708333" r="-604054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708333" r="-504054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708333" r="-397333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708333" r="-302703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708333" r="-202703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0667" t="-708333" r="-100000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105405" t="-708333" r="-1351" b="-4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808333" r="-992000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808333" r="-905405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808333" r="-805405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808333" r="-694667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808333" r="-604054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808333" r="-504054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808333" r="-397333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808333" r="-302703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808333" r="-202703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0667" t="-808333" r="-100000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105405" t="-808333" r="-1351" b="-3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g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908333" r="-992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908333" r="-905405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908333" r="-805405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908333" r="-694667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908333" r="-604054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908333" r="-504054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908333" r="-39733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908333" r="-30270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908333" r="-20270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1008333" r="-992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1008333" r="-905405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1008333" r="-805405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1008333" r="-694667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1008333" r="-604054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1008333" r="-504054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1008333" r="-397333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1008333" r="-302703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1008333" r="-202703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g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1108333" r="-992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1108333" r="-905405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1108333" r="-805405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1108333" r="-694667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1108333" r="-604054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1108333" r="-504054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1108333" r="-397333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1108333" r="-302703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1108333" r="-202703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文字方塊 3"/>
          <p:cNvSpPr txBox="1"/>
          <p:nvPr/>
        </p:nvSpPr>
        <p:spPr>
          <a:xfrm>
            <a:off x="0" y="642918"/>
            <a:ext cx="308449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X = a t c a t c t a g </a:t>
            </a:r>
            <a:r>
              <a:rPr lang="en-US" altLang="zh-TW" sz="2800" dirty="0" err="1" smtClean="0"/>
              <a:t>g</a:t>
            </a:r>
            <a:r>
              <a:rPr lang="en-US" altLang="zh-TW" sz="2800" dirty="0" smtClean="0"/>
              <a:t/>
            </a:r>
            <a:br>
              <a:rPr lang="en-US" altLang="zh-TW" sz="2800" dirty="0" smtClean="0"/>
            </a:br>
            <a:r>
              <a:rPr lang="en-US" altLang="zh-TW" sz="2800" dirty="0" smtClean="0"/>
              <a:t>Y = a t c a t a t g a g</a:t>
            </a:r>
            <a:br>
              <a:rPr lang="en-US" altLang="zh-TW" sz="2800" dirty="0" smtClean="0"/>
            </a:br>
            <a:r>
              <a:rPr lang="en-US" altLang="zh-TW" sz="2800" dirty="0" smtClean="0"/>
              <a:t>P = a c g</a:t>
            </a:r>
            <a:endParaRPr lang="zh-TW" altLang="en-US" sz="28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mc="http://schemas.openxmlformats.org/markup-compatibility/2006" xmlns:a14="http://schemas.microsoft.com/office/drawing/2010/main" xmlns="" xmlns:p14="http://schemas.microsoft.com/office/powerpoint/2010/main" val="1680592441"/>
              </p:ext>
            </p:extLst>
          </p:nvPr>
        </p:nvGraphicFramePr>
        <p:xfrm>
          <a:off x="35496" y="2315945"/>
          <a:ext cx="3528396" cy="43281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94033"/>
                <a:gridCol w="294033"/>
                <a:gridCol w="294033"/>
                <a:gridCol w="294033"/>
                <a:gridCol w="294033"/>
                <a:gridCol w="294033"/>
                <a:gridCol w="294033"/>
                <a:gridCol w="294033"/>
                <a:gridCol w="294033"/>
                <a:gridCol w="294033"/>
                <a:gridCol w="294033"/>
                <a:gridCol w="294033"/>
              </a:tblGrid>
              <a:tr h="304800">
                <a:tc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000" t="-102000" r="-983673" b="-10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204167" t="-102000" r="-904167" b="-10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304167" t="-102000" r="-804167" b="-10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404167" t="-102000" r="-704167" b="-10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493878" t="-102000" r="-589796" b="-10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606250" t="-102000" r="-502083" b="-10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706250" t="-102000" r="-402083" b="-10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806250" t="-102000" r="-302083" b="-10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887755" t="-102000" r="-195918" b="-10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8333" t="-102000" r="-100000" b="-10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108333" t="-102000" b="-1020000"/>
                      </a:stretch>
                    </a:blip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000" t="-202000" r="-983673" b="-9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204167" t="-202000" r="-904167" b="-9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304167" t="-202000" r="-804167" b="-9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404167" t="-202000" r="-704167" b="-9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493878" t="-202000" r="-589796" b="-9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606250" t="-202000" r="-502083" b="-9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706250" t="-202000" r="-402083" b="-9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806250" t="-202000" r="-302083" b="-9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887755" t="-202000" r="-195918" b="-9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8333" t="-202000" r="-100000" b="-9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108333" t="-202000" b="-920000"/>
                      </a:stretch>
                    </a:blip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000" t="-302000" r="-983673" b="-8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204167" t="-302000" r="-904167" b="-8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304167" t="-302000" r="-804167" b="-8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404167" t="-302000" r="-704167" b="-8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493878" t="-302000" r="-589796" b="-8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606250" t="-302000" r="-502083" b="-8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706250" t="-302000" r="-402083" b="-8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806250" t="-302000" r="-302083" b="-8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887755" t="-302000" r="-195918" b="-8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8333" t="-302000" r="-100000" b="-8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108333" t="-302000" b="-820000"/>
                      </a:stretch>
                    </a:blip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000" t="-402000" r="-983673" b="-7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204167" t="-402000" r="-904167" b="-7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304167" t="-402000" r="-804167" b="-7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000" t="-502000" r="-983673" b="-6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204167" t="-502000" r="-904167" b="-6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304167" t="-502000" r="-804167" b="-6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000" t="-602000" r="-983673" b="-5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204167" t="-602000" r="-904167" b="-5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304167" t="-602000" r="-804167" b="-5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000" t="-702000" r="-983673" b="-4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204167" t="-702000" r="-904167" b="-4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304167" t="-702000" r="-804167" b="-4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000" t="-802000" r="-983673" b="-3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204167" t="-802000" r="-904167" b="-3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304167" t="-802000" r="-804167" b="-3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000" t="-902000" r="-983673" b="-2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204167" t="-902000" r="-904167" b="-2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304167" t="-902000" r="-804167" b="-2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000" t="-1002000" r="-983673" b="-1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204167" t="-1002000" r="-904167" b="-1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304167" t="-1002000" r="-804167" b="-1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100000" t="-1102000" r="-983673" b="-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204167" t="-1102000" r="-904167" b="-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blipFill rotWithShape="1">
                      <a:blip r:embed="rId4"/>
                      <a:stretch>
                        <a:fillRect l="-304167" t="-1102000" r="-804167" b="-2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>
        <mc:Choice xmlns=""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3707904" y="1556792"/>
                <a:ext cx="203132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/>
                  <a:t>k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TW" altLang="en-US" sz="2800" dirty="0" smtClean="0"/>
                  <a:t/>
                </a:r>
                <a:r>
                  <a:rPr lang="en-US" altLang="zh-TW" sz="2800" dirty="0" smtClean="0"/>
                  <a:t>= g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1556792"/>
                <a:ext cx="2031325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6006" t="-11628" r="-4204" b="-313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35496" y="1955905"/>
            <a:ext cx="660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k = 2</a:t>
            </a:r>
            <a:endParaRPr lang="zh-TW" altLang="en-US" dirty="0"/>
          </a:p>
        </p:txBody>
      </p:sp>
      <p:cxnSp>
        <p:nvCxnSpPr>
          <p:cNvPr id="8" name="直線單箭頭接點 7"/>
          <p:cNvCxnSpPr/>
          <p:nvPr/>
        </p:nvCxnSpPr>
        <p:spPr>
          <a:xfrm rot="10800000">
            <a:off x="2928926" y="5429264"/>
            <a:ext cx="5243474" cy="2319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H="1" flipV="1">
            <a:off x="2915816" y="6165304"/>
            <a:ext cx="5256584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78735410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90414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9743689"/>
                  </p:ext>
                </p:extLst>
              </p:nvPr>
            </p:nvGraphicFramePr>
            <p:xfrm>
              <a:off x="3635896" y="2204864"/>
              <a:ext cx="5436096" cy="4389120"/>
            </p:xfrm>
            <a:graphic>
              <a:graphicData uri="http://schemas.openxmlformats.org/drawingml/2006/table">
                <a:tbl>
                  <a:tblPr firstRow="1" bandRow="1">
                    <a:tableStyleId>{0505E3EF-67EA-436B-97B2-0124C06EBD24}</a:tableStyleId>
                  </a:tblPr>
                  <a:tblGrid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</a:tblGrid>
                  <a:tr h="347758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-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c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g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477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g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a14="http://schemas.microsoft.com/office/drawing/2010/main" xmlns="" xmlns:p14="http://schemas.microsoft.com/office/powerpoint/2010/main" val="3759743689"/>
                  </p:ext>
                </p:extLst>
              </p:nvPr>
            </p:nvGraphicFramePr>
            <p:xfrm>
              <a:off x="3635896" y="2204864"/>
              <a:ext cx="5436096" cy="4389120"/>
            </p:xfrm>
            <a:graphic>
              <a:graphicData uri="http://schemas.openxmlformats.org/drawingml/2006/table">
                <a:tbl>
                  <a:tblPr firstRow="1" bandRow="1">
                    <a:tableStyleId>{0505E3EF-67EA-436B-97B2-0124C06EBD24}</a:tableStyleId>
                  </a:tblPr>
                  <a:tblGrid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  <a:gridCol w="453008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-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108333" r="-992000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108333" r="-905405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108333" r="-805405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108333" r="-694667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108333" r="-604054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108333" r="-504054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108333" r="-39733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108333" r="-30270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108333" r="-202703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0667" t="-108333" r="-100000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105405" t="-108333" r="-1351" b="-10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208333" r="-992000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208333" r="-905405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208333" r="-805405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208333" r="-694667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208333" r="-604054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208333" r="-504054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208333" r="-397333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208333" r="-302703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208333" r="-202703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0667" t="-208333" r="-100000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105405" t="-208333" r="-1351" b="-9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308333" r="-992000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308333" r="-905405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308333" r="-805405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308333" r="-694667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308333" r="-604054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308333" r="-504054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308333" r="-397333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308333" r="-302703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308333" r="-202703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0667" t="-308333" r="-100000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105405" t="-308333" r="-1351" b="-8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c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408333" r="-992000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408333" r="-905405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408333" r="-805405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408333" r="-694667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408333" r="-604054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408333" r="-504054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408333" r="-397333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408333" r="-302703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408333" r="-202703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0667" t="-408333" r="-100000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105405" t="-408333" r="-1351" b="-7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508333" r="-99200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508333" r="-905405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508333" r="-805405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508333" r="-694667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508333" r="-604054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508333" r="-504054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508333" r="-397333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508333" r="-302703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508333" r="-202703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0667" t="-508333" r="-10000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105405" t="-508333" r="-1351" b="-6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608333" r="-992000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608333" r="-905405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608333" r="-805405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608333" r="-694667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608333" r="-604054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608333" r="-504054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608333" r="-397333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608333" r="-302703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608333" r="-202703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0667" t="-608333" r="-100000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105405" t="-608333" r="-1351" b="-5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708333" r="-992000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708333" r="-905405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708333" r="-805405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708333" r="-694667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708333" r="-604054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708333" r="-504054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708333" r="-397333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708333" r="-302703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708333" r="-202703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0667" t="-708333" r="-100000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105405" t="-708333" r="-1351" b="-4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t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808333" r="-992000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808333" r="-905405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808333" r="-805405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808333" r="-694667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808333" r="-604054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808333" r="-504054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808333" r="-397333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808333" r="-302703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808333" r="-202703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0667" t="-808333" r="-100000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105405" t="-808333" r="-1351" b="-3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g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908333" r="-992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908333" r="-905405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908333" r="-805405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908333" r="-694667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908333" r="-604054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908333" r="-504054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908333" r="-39733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908333" r="-30270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908333" r="-20270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a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1008333" r="-992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1008333" r="-905405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1008333" r="-805405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1008333" r="-694667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1008333" r="-604054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1008333" r="-504054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1008333" r="-397333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1008333" r="-302703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1008333" r="-202703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g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667" t="-1108333" r="-992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51" t="-1108333" r="-905405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351" t="-1108333" r="-805405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6000" t="-1108333" r="-694667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2703" t="-1108333" r="-604054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2703" t="-1108333" r="-504054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93333" t="-1108333" r="-397333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4054" t="-1108333" r="-302703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4054" t="-1108333" r="-202703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157551" y="2204864"/>
                <a:ext cx="3438762" cy="35394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/>
                  <a:t>X = a t c a t c t a g </a:t>
                </a:r>
                <a:r>
                  <a:rPr lang="en-US" altLang="zh-TW" sz="2800" dirty="0" err="1" smtClean="0"/>
                  <a:t>g</a:t>
                </a: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Y = a t c a t a t g a g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P = a c g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zh-TW" altLang="en-US" sz="2800" dirty="0" smtClean="0"/>
                  <a:t>完成，</a:t>
                </a:r>
                <a:r>
                  <a:rPr lang="en-US" altLang="zh-TW" sz="2800" dirty="0" smtClean="0"/>
                  <a:t>CLCS</a:t>
                </a:r>
                <a:r>
                  <a:rPr lang="zh-TW" altLang="en-US" sz="2800" dirty="0" smtClean="0"/>
                  <a:t>長度 </a:t>
                </a:r>
                <a:r>
                  <a:rPr lang="en-US" altLang="zh-TW" sz="2800" dirty="0" smtClean="0"/>
                  <a:t>= 8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CLCS</a:t>
                </a:r>
                <a:r>
                  <a:rPr lang="zh-TW" altLang="en-US" sz="2800" dirty="0" smtClean="0"/>
                  <a:t/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/>
                </a:r>
                <a:r>
                  <a:rPr lang="en-US" altLang="zh-TW" sz="2800" dirty="0" smtClean="0">
                    <a:solidFill>
                      <a:srgbClr val="FF0000"/>
                    </a:solidFill>
                  </a:rPr>
                  <a:t>a</a:t>
                </a:r>
                <a:r>
                  <a:rPr lang="en-US" altLang="zh-TW" sz="2800" dirty="0" smtClean="0"/>
                  <a:t/>
                </a:r>
                <a:r>
                  <a:rPr lang="en-US" altLang="zh-TW" sz="2800" dirty="0"/>
                  <a:t>t </a:t>
                </a:r>
                <a:r>
                  <a:rPr lang="en-US" altLang="zh-TW" sz="2800" dirty="0">
                    <a:solidFill>
                      <a:srgbClr val="FF0000"/>
                    </a:solidFill>
                  </a:rPr>
                  <a:t>c</a:t>
                </a:r>
                <a:r>
                  <a:rPr lang="en-US" altLang="zh-TW" sz="2800" dirty="0"/>
                  <a:t> a t </a:t>
                </a:r>
                <a:r>
                  <a:rPr lang="en-US" altLang="zh-TW" sz="2800" dirty="0" err="1"/>
                  <a:t>t</a:t>
                </a:r>
                <a:r>
                  <a:rPr lang="en-US" altLang="zh-TW" sz="2800" dirty="0"/>
                  <a:t> a </a:t>
                </a:r>
                <a:r>
                  <a:rPr lang="en-US" altLang="zh-TW" sz="2800" dirty="0" smtClean="0">
                    <a:solidFill>
                      <a:srgbClr val="FF0000"/>
                    </a:solidFill>
                  </a:rPr>
                  <a:t>g</a:t>
                </a: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zh-TW" altLang="en-US" sz="2800" dirty="0" smtClean="0"/>
                  <a:t>時間複雜度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800" dirty="0">
                        <a:latin typeface="Cambria Math"/>
                      </a:rPr>
                      <m:t>O</m:t>
                    </m:r>
                    <m:r>
                      <a:rPr lang="en-US" altLang="zh-TW" sz="2800" b="0" i="1" dirty="0" smtClean="0">
                        <a:latin typeface="Cambria Math"/>
                      </a:rPr>
                      <m:t>(</m:t>
                    </m:r>
                    <m:r>
                      <a:rPr lang="en-US" altLang="zh-TW" sz="2800" b="0" i="1" dirty="0" smtClean="0">
                        <a:latin typeface="Cambria Math"/>
                      </a:rPr>
                      <m:t>𝑛𝑚𝑟</m:t>
                    </m:r>
                    <m:r>
                      <a:rPr lang="en-US" altLang="zh-TW" sz="2800" b="0" i="1" dirty="0" smtClean="0">
                        <a:latin typeface="Cambria Math"/>
                      </a:rPr>
                      <m:t>)</m:t>
                    </m:r>
                  </m:oMath>
                </a14:m>
                <a:endParaRPr lang="zh-TW" altLang="en-US" sz="2800" b="1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51" y="2204864"/>
                <a:ext cx="3438762" cy="3539430"/>
              </a:xfrm>
              <a:prstGeom prst="rect">
                <a:avLst/>
              </a:prstGeom>
              <a:blipFill rotWithShape="1">
                <a:blip r:embed="rId4"/>
                <a:stretch>
                  <a:fillRect l="-3723" t="-1724" r="-2482" b="-39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3707904" y="1556792"/>
                <a:ext cx="203132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/>
                  <a:t>k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TW" altLang="en-US" sz="2800" dirty="0" smtClean="0"/>
                  <a:t/>
                </a:r>
                <a:r>
                  <a:rPr lang="en-US" altLang="zh-TW" sz="2800" dirty="0" smtClean="0"/>
                  <a:t>= g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1556792"/>
                <a:ext cx="2031325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6006" t="-11628" r="-4204" b="-313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400817530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935</Words>
  <Application>Microsoft Office PowerPoint</Application>
  <PresentationFormat>如螢幕大小 (4:3)</PresentationFormat>
  <Paragraphs>793</Paragraphs>
  <Slides>10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Office 佈景主題</vt:lpstr>
      <vt:lpstr>A Simple Algorithm for the Constrained Sequence Problems</vt:lpstr>
      <vt:lpstr>Abstract</vt:lpstr>
      <vt:lpstr>CLCS</vt:lpstr>
      <vt:lpstr>Algorithm</vt:lpstr>
      <vt:lpstr>Algorithm</vt:lpstr>
      <vt:lpstr>Example</vt:lpstr>
      <vt:lpstr>Example</vt:lpstr>
      <vt:lpstr>Example</vt:lpstr>
      <vt:lpstr>Example</vt:lpstr>
      <vt:lpstr>Example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simple algorithm for the constrained sequence problems</dc:title>
  <dc:creator>Sena</dc:creator>
  <cp:lastModifiedBy>admin</cp:lastModifiedBy>
  <cp:revision>34</cp:revision>
  <dcterms:created xsi:type="dcterms:W3CDTF">2014-07-21T16:24:57Z</dcterms:created>
  <dcterms:modified xsi:type="dcterms:W3CDTF">2014-07-22T12:37:30Z</dcterms:modified>
</cp:coreProperties>
</file>