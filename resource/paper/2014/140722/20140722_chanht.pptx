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0" r:id="rId16"/>
    <p:sldId id="281" r:id="rId17"/>
    <p:sldId id="282" r:id="rId18"/>
    <p:sldId id="283" r:id="rId19"/>
    <p:sldId id="284" r:id="rId20"/>
    <p:sldId id="271" r:id="rId21"/>
    <p:sldId id="272" r:id="rId22"/>
    <p:sldId id="273" r:id="rId23"/>
    <p:sldId id="274" r:id="rId24"/>
    <p:sldId id="275" r:id="rId25"/>
    <p:sldId id="276" r:id="rId26"/>
    <p:sldId id="278" r:id="rId27"/>
    <p:sldId id="279" r:id="rId28"/>
    <p:sldId id="277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895567C-51B9-4775-9552-14B7D32D415C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80"/>
            <p14:sldId id="281"/>
            <p14:sldId id="282"/>
            <p14:sldId id="283"/>
            <p14:sldId id="284"/>
            <p14:sldId id="271"/>
            <p14:sldId id="272"/>
            <p14:sldId id="273"/>
            <p14:sldId id="274"/>
            <p14:sldId id="275"/>
            <p14:sldId id="276"/>
            <p14:sldId id="278"/>
            <p14:sldId id="279"/>
            <p14:sldId id="277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92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881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92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80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687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291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17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57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85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73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20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F1B5E-EAD4-4013-B723-A1526CED3E61}" type="datetimeFigureOut">
              <a:rPr lang="zh-TW" altLang="en-US" smtClean="0"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5B92E-1D42-4F38-B55A-112CD77B3B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98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608013" y="1571625"/>
            <a:ext cx="7772400" cy="1470025"/>
          </a:xfrm>
          <a:prstGeom prst="rect">
            <a:avLst/>
          </a:prstGeom>
        </p:spPr>
        <p:txBody>
          <a:bodyPr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zh-TW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Efficient algorithms for the longest common subsequence in k-length substrings</a:t>
            </a:r>
            <a:endParaRPr kumimoji="0" lang="zh-TW" altLang="en-US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25"/>
            <a:ext cx="6400800" cy="47942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zh-TW" sz="3100" dirty="0" smtClean="0"/>
              <a:t>Sebastian </a:t>
            </a:r>
            <a:r>
              <a:rPr kumimoji="0" lang="en-US" altLang="zh-TW" sz="3100" dirty="0" err="1" smtClean="0"/>
              <a:t>Deorowicz</a:t>
            </a:r>
            <a:r>
              <a:rPr kumimoji="0" lang="en-US" altLang="zh-TW" sz="3100" dirty="0" smtClean="0"/>
              <a:t>, </a:t>
            </a:r>
            <a:r>
              <a:rPr kumimoji="0" lang="en-US" altLang="zh-TW" sz="3100" dirty="0" err="1" smtClean="0"/>
              <a:t>Szymon</a:t>
            </a:r>
            <a:r>
              <a:rPr kumimoji="0" lang="en-US" altLang="zh-TW" sz="3100" dirty="0" smtClean="0"/>
              <a:t> Grabowski</a:t>
            </a:r>
            <a:endParaRPr kumimoji="0"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375298"/>
              </p:ext>
            </p:extLst>
          </p:nvPr>
        </p:nvGraphicFramePr>
        <p:xfrm>
          <a:off x="2843213" y="3581400"/>
          <a:ext cx="3816350" cy="1220788"/>
        </p:xfrm>
        <a:graphic>
          <a:graphicData uri="http://schemas.openxmlformats.org/drawingml/2006/table">
            <a:tbl>
              <a:tblPr/>
              <a:tblGrid>
                <a:gridCol w="3816350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Information Processing Letters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0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Volume 114, Issue 11, November 2013, </a:t>
                      </a:r>
                    </a:p>
                    <a:p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Pages 634–638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0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132138" y="5229225"/>
            <a:ext cx="32480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1800" dirty="0"/>
              <a:t>Presenter:  Huang-Ting Chan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1800" dirty="0"/>
              <a:t>Date:</a:t>
            </a:r>
            <a:fld id="{F3590F60-3E7B-48AD-979A-345F224951B5}" type="datetime1">
              <a:rPr kumimoji="0"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2014/7/22</a:t>
            </a:fld>
            <a:endParaRPr kumimoji="0"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2065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Finding the longest common subsequence in </a:t>
            </a:r>
            <a:r>
              <a:rPr lang="en-US" altLang="zh-TW" i="1" dirty="0"/>
              <a:t>k</a:t>
            </a:r>
            <a:r>
              <a:rPr lang="en-US" altLang="zh-TW" dirty="0"/>
              <a:t>-length substrings (</a:t>
            </a:r>
            <a:r>
              <a:rPr lang="en-US" altLang="zh-TW" dirty="0" err="1"/>
              <a:t>LCS</a:t>
            </a:r>
            <a:r>
              <a:rPr lang="en-US" altLang="zh-TW" i="1" dirty="0" err="1"/>
              <a:t>k</a:t>
            </a:r>
            <a:r>
              <a:rPr lang="en-US" altLang="zh-TW" dirty="0"/>
              <a:t>) is a recently proposed problem motivated by computational biology. This is a generalization of the well-known LCS problem in which matching symbols from two sequences </a:t>
            </a:r>
            <a:r>
              <a:rPr lang="en-US" altLang="zh-TW" i="1" dirty="0"/>
              <a:t>A</a:t>
            </a:r>
            <a:r>
              <a:rPr lang="en-US" altLang="zh-TW" dirty="0"/>
              <a:t> and </a:t>
            </a:r>
            <a:r>
              <a:rPr lang="en-US" altLang="zh-TW" i="1" dirty="0"/>
              <a:t>B</a:t>
            </a:r>
            <a:r>
              <a:rPr lang="en-US" altLang="zh-TW" dirty="0"/>
              <a:t> are replaced with matching non-overlapping substrings of </a:t>
            </a:r>
            <a:r>
              <a:rPr lang="en-US" altLang="zh-TW" dirty="0" smtClean="0"/>
              <a:t>length</a:t>
            </a:r>
            <a:r>
              <a:rPr lang="en-US" altLang="zh-TW" dirty="0"/>
              <a:t> </a:t>
            </a:r>
            <a:r>
              <a:rPr lang="en-US" altLang="zh-TW" i="1" dirty="0"/>
              <a:t>k</a:t>
            </a:r>
            <a:r>
              <a:rPr lang="en-US" altLang="zh-TW" dirty="0"/>
              <a:t> from </a:t>
            </a:r>
            <a:r>
              <a:rPr lang="en-US" altLang="zh-TW" i="1" dirty="0"/>
              <a:t>A</a:t>
            </a:r>
            <a:r>
              <a:rPr lang="en-US" altLang="zh-TW" dirty="0"/>
              <a:t> and </a:t>
            </a:r>
            <a:r>
              <a:rPr lang="en-US" altLang="zh-TW" i="1" dirty="0"/>
              <a:t>B</a:t>
            </a:r>
            <a:r>
              <a:rPr lang="en-US" altLang="zh-TW" dirty="0"/>
              <a:t>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428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We propose several algorithms for </a:t>
            </a:r>
            <a:r>
              <a:rPr lang="en-US" altLang="zh-TW" dirty="0" err="1"/>
              <a:t>LCS</a:t>
            </a:r>
            <a:r>
              <a:rPr lang="en-US" altLang="zh-TW" i="1" dirty="0" err="1"/>
              <a:t>k</a:t>
            </a:r>
            <a:r>
              <a:rPr lang="en-US" altLang="zh-TW" dirty="0"/>
              <a:t>, being non-trivial incarnations of the major concepts known from LCS research (dynamic programming, sparse dynamic programming, tabulation). Our algorithms make use of a linear-time and linear-space preprocessing finding the occurrences of all the substrings of length </a:t>
            </a:r>
            <a:r>
              <a:rPr lang="en-US" altLang="zh-TW" i="1" dirty="0"/>
              <a:t>k</a:t>
            </a:r>
            <a:r>
              <a:rPr lang="en-US" altLang="zh-TW" dirty="0"/>
              <a:t> from one sequence in the other sequence.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86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Define </a:t>
            </a:r>
            <a:r>
              <a:rPr lang="en-US" altLang="zh-TW" dirty="0" err="1" smtClean="0"/>
              <a:t>LCSk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3200" dirty="0" smtClean="0"/>
                  <a:t>Given two sequence,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sz="3200" dirty="0" smtClean="0"/>
                  <a:t> </a:t>
                </a:r>
                <a:r>
                  <a:rPr lang="en-US" altLang="zh-TW" sz="3200" dirty="0" smtClean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sz="3200" dirty="0" smtClean="0"/>
                  <a:t> </a:t>
                </a:r>
                <a:r>
                  <a:rPr lang="en-US" altLang="zh-TW" sz="3200" dirty="0" smtClean="0"/>
                  <a:t>over common alphabet ∑. </a:t>
                </a:r>
              </a:p>
              <a:p>
                <a:pPr marL="0" indent="0">
                  <a:buNone/>
                </a:pPr>
                <a:r>
                  <a:rPr lang="en-US" altLang="zh-TW" sz="3200" dirty="0" smtClean="0"/>
                  <a:t>The </a:t>
                </a:r>
                <a:r>
                  <a:rPr lang="en-US" altLang="zh-TW" sz="3200" dirty="0"/>
                  <a:t>task is to find the maximal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such that there exist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pairs of substrings of length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3200" dirty="0"/>
                  <a:t>(called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3200" dirty="0"/>
                  <a:t>-strings</a:t>
                </a:r>
                <a:r>
                  <a:rPr lang="en-US" altLang="zh-TW" sz="3200" dirty="0" smtClean="0"/>
                  <a:t>).</a:t>
                </a:r>
              </a:p>
              <a:p>
                <a:pPr marL="0" indent="0">
                  <a:buNone/>
                </a:pPr>
                <a:endParaRPr lang="zh-TW" altLang="en-US" sz="32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932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60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3200" dirty="0"/>
                  <a:t>, 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sz="32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is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for any valid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altLang="zh-TW" sz="3200" dirty="0" smtClean="0"/>
              </a:p>
              <a:p>
                <a:pPr marL="0" indent="0">
                  <a:buNone/>
                </a:pPr>
                <a:r>
                  <a:rPr lang="en-US" altLang="zh-TW" sz="3200" dirty="0"/>
                  <a:t>(that is, strings of length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3200" dirty="0"/>
                  <a:t> are </a:t>
                </a:r>
                <a:r>
                  <a:rPr lang="en-US" altLang="zh-TW" sz="3200" dirty="0" smtClean="0"/>
                  <a:t>no overlapping</a:t>
                </a:r>
                <a:r>
                  <a:rPr lang="en-US" altLang="zh-TW" sz="3200" dirty="0"/>
                  <a:t>)</a:t>
                </a:r>
                <a:endParaRPr lang="zh-TW" altLang="en-US" sz="3200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932" t="-2521" r="-1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01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3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𝑇𝐺𝐶𝐺𝑇𝐺𝑇𝐺</m:t>
                    </m:r>
                  </m:oMath>
                </a14:m>
                <a:r>
                  <a:rPr lang="en-US" altLang="zh-TW" sz="30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𝐺𝑇𝑇𝐺𝑇𝐺𝐶𝐶</m:t>
                    </m:r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TW" sz="30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3000" dirty="0"/>
                  <a:t>A possible common subsequence in pairs (k = 2) is</a:t>
                </a:r>
                <a14:m>
                  <m:oMath xmlns:m="http://schemas.openxmlformats.org/officeDocument/2006/math">
                    <m:r>
                      <a:rPr lang="en-US" altLang="zh-TW" sz="3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𝐺𝑇𝑇𝐺</m:t>
                    </m:r>
                  </m:oMath>
                </a14:m>
                <a:r>
                  <a:rPr lang="en-US" altLang="zh-TW" sz="3000" dirty="0"/>
                  <a:t> obtained from </a:t>
                </a:r>
                <a:r>
                  <a:rPr lang="en-US" altLang="zh-TW" sz="3000" dirty="0" smtClean="0"/>
                  <a:t>a4,a5</a:t>
                </a:r>
                <a:r>
                  <a:rPr lang="en-US" altLang="zh-TW" sz="3000" dirty="0"/>
                  <a:t>, a7, a8 and b1, b2, b5, b6</a:t>
                </a:r>
                <a:r>
                  <a:rPr lang="en-US" altLang="zh-TW" sz="3000" dirty="0" smtClean="0"/>
                  <a:t>.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77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58" y="4001294"/>
            <a:ext cx="632548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09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000" dirty="0"/>
              <a:t>For k = 3, one of the </a:t>
            </a:r>
            <a:r>
              <a:rPr lang="en-US" altLang="zh-TW" sz="3000" dirty="0" smtClean="0"/>
              <a:t>possible solutions </a:t>
            </a:r>
            <a:r>
              <a:rPr lang="en-US" altLang="zh-TW" sz="3000" dirty="0"/>
              <a:t>is T G C achieved by matching a1, a2, a3, with b5, b6, b7</a:t>
            </a:r>
            <a:r>
              <a:rPr lang="en-US" altLang="zh-TW" sz="3000" dirty="0" smtClean="0"/>
              <a:t>.</a:t>
            </a:r>
          </a:p>
          <a:p>
            <a:pPr marL="0" indent="0">
              <a:buNone/>
            </a:pPr>
            <a:endParaRPr lang="en-US" altLang="zh-TW" sz="3000" dirty="0" smtClean="0"/>
          </a:p>
          <a:p>
            <a:pPr marL="0" indent="0">
              <a:buNone/>
            </a:pPr>
            <a:r>
              <a:rPr lang="en-US" altLang="zh-TW" sz="3000" dirty="0" smtClean="0"/>
              <a:t>For </a:t>
            </a:r>
            <a:r>
              <a:rPr lang="en-US" altLang="zh-TW" sz="3000" dirty="0"/>
              <a:t>k = </a:t>
            </a:r>
            <a:r>
              <a:rPr lang="en-US" altLang="zh-TW" sz="3000" dirty="0" smtClean="0"/>
              <a:t>4 a </a:t>
            </a:r>
            <a:r>
              <a:rPr lang="en-US" altLang="zh-TW" sz="3000" dirty="0"/>
              <a:t>possible solution is T G T G obtained from matching a5, a6, a7, a8 </a:t>
            </a:r>
            <a:r>
              <a:rPr lang="en-US" altLang="zh-TW" sz="3000" dirty="0" smtClean="0"/>
              <a:t>and b3</a:t>
            </a:r>
            <a:r>
              <a:rPr lang="en-US" altLang="zh-TW" sz="3000" dirty="0"/>
              <a:t>, b4, b5, b6.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995299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The </a:t>
                </a:r>
                <a:r>
                  <a:rPr lang="en-US" altLang="zh-TW" dirty="0" err="1"/>
                  <a:t>LCSk</a:t>
                </a:r>
                <a:r>
                  <a:rPr lang="en-US" altLang="zh-TW" dirty="0"/>
                  <a:t> in </a:t>
                </a:r>
                <a:r>
                  <a:rPr lang="en-US" altLang="zh-TW" dirty="0" smtClean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) </a:t>
                </a:r>
                <a:r>
                  <a:rPr lang="en-US" altLang="zh-TW" dirty="0"/>
                  <a:t>time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7175" y="1825625"/>
                <a:ext cx="87249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d>
                                        <m:d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d>
                                        <m:d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eqAr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+1…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+1…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+1, 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+1…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+1…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Boundary conditions 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for all valid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when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j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.</a:t>
                </a:r>
                <a:r>
                  <a:rPr lang="zh-TW" altLang="en-US" dirty="0"/>
                  <a:t> </a:t>
                </a:r>
                <a:r>
                  <a:rPr lang="en-US" altLang="zh-TW" dirty="0" smtClean="0"/>
                  <a:t>Any location (</a:t>
                </a:r>
                <a:r>
                  <a:rPr lang="en-US" altLang="zh-TW" dirty="0" err="1"/>
                  <a:t>i</a:t>
                </a:r>
                <a:r>
                  <a:rPr lang="en-US" altLang="zh-TW" dirty="0" err="1" smtClean="0"/>
                  <a:t>,j</a:t>
                </a:r>
                <a:r>
                  <a:rPr lang="en-US" altLang="zh-TW" dirty="0" smtClean="0"/>
                  <a:t>) 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dirty="0" smtClean="0"/>
                  <a:t> will be called a match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175" y="1825625"/>
                <a:ext cx="8724900" cy="4351338"/>
              </a:xfrm>
              <a:blipFill rotWithShape="0">
                <a:blip r:embed="rId3"/>
                <a:stretch>
                  <a:fillRect l="-1398" t="-420" r="-1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732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3200" dirty="0" smtClean="0"/>
                  <a:t>Efficient computation of the recurrence depends on quick test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32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3200" dirty="0"/>
                  <a:t>This can be achieved with the longest common extension(LCE) query, which can be performed in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time after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preprocessing.</a:t>
                </a:r>
                <a:r>
                  <a:rPr lang="zh-TW" altLang="en-US" sz="3200" dirty="0"/>
                  <a:t>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932" t="-2941" r="-33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33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Preprocessing-1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LCE Procedure:</a:t>
                </a:r>
              </a:p>
              <a:p>
                <a:r>
                  <a:rPr lang="en-US" altLang="zh-TW" dirty="0"/>
                  <a:t> B</a:t>
                </a:r>
                <a:r>
                  <a:rPr lang="en-US" altLang="zh-TW" dirty="0" smtClean="0"/>
                  <a:t>uild an augmented suffix tree for solving the lowest common ancestor(LCA) queries in constant time</a:t>
                </a:r>
              </a:p>
              <a:p>
                <a:r>
                  <a:rPr lang="en-US" altLang="zh-TW" dirty="0" smtClean="0"/>
                  <a:t>Over the concatenated sequence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/>
                  <a:t>,where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r>
                  <a:rPr lang="en-US" altLang="zh-TW" dirty="0"/>
                  <a:t> working as a terminator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. </a:t>
                </a:r>
                <a:r>
                  <a:rPr lang="en-US" altLang="zh-TW" dirty="0" smtClean="0"/>
                  <a:t>Test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  translates to the question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𝐿𝐶𝐸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+1+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+1)≥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.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57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The </a:t>
            </a:r>
            <a:r>
              <a:rPr lang="en-US" altLang="zh-TW" i="1" dirty="0"/>
              <a:t>longest common extension (LCE) </a:t>
            </a:r>
            <a:r>
              <a:rPr lang="en-US" altLang="zh-TW" dirty="0" smtClean="0"/>
              <a:t>problem </a:t>
            </a:r>
            <a:r>
              <a:rPr lang="en-US" altLang="zh-TW" dirty="0"/>
              <a:t>takes as input a string </a:t>
            </a:r>
            <a:r>
              <a:rPr lang="en-US" altLang="zh-TW" dirty="0" smtClean="0"/>
              <a:t>S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and </a:t>
            </a:r>
            <a:r>
              <a:rPr lang="en-US" altLang="zh-TW" dirty="0"/>
              <a:t>many </a:t>
            </a:r>
            <a:r>
              <a:rPr lang="en-US" altLang="zh-TW" dirty="0" smtClean="0"/>
              <a:t>pairs(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), </a:t>
            </a:r>
            <a:r>
              <a:rPr lang="en-US" altLang="zh-TW" dirty="0"/>
              <a:t>for </a:t>
            </a:r>
            <a:r>
              <a:rPr lang="en-US" altLang="zh-TW" dirty="0" smtClean="0"/>
              <a:t>each pair(</a:t>
            </a:r>
            <a:r>
              <a:rPr lang="en-US" altLang="zh-TW" dirty="0" err="1" smtClean="0"/>
              <a:t>i,j</a:t>
            </a:r>
            <a:r>
              <a:rPr lang="en-US" altLang="zh-TW" dirty="0"/>
              <a:t>), the longest substring of </a:t>
            </a:r>
            <a:r>
              <a:rPr lang="en-US" altLang="zh-TW" i="1" dirty="0"/>
              <a:t>S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that </a:t>
            </a:r>
            <a:r>
              <a:rPr lang="en-US" altLang="zh-TW" dirty="0"/>
              <a:t>occurs both starting at position </a:t>
            </a:r>
            <a:r>
              <a:rPr lang="en-US" altLang="zh-TW" i="1" dirty="0" err="1" smtClean="0"/>
              <a:t>i</a:t>
            </a:r>
            <a:r>
              <a:rPr lang="en-US" altLang="zh-TW" dirty="0"/>
              <a:t> and at </a:t>
            </a:r>
            <a:r>
              <a:rPr lang="en-US" altLang="zh-TW" i="1" dirty="0"/>
              <a:t>j </a:t>
            </a:r>
            <a:r>
              <a:rPr lang="en-US" altLang="zh-TW" dirty="0"/>
              <a:t>i</a:t>
            </a:r>
            <a:r>
              <a:rPr lang="en-US" altLang="zh-TW" dirty="0" smtClean="0"/>
              <a:t>n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. </a:t>
            </a:r>
          </a:p>
          <a:p>
            <a:pPr marL="0" indent="0">
              <a:buNone/>
            </a:pPr>
            <a:r>
              <a:rPr lang="en-US" altLang="zh-TW" dirty="0" smtClean="0"/>
              <a:t>That </a:t>
            </a:r>
            <a:r>
              <a:rPr lang="en-US" altLang="zh-TW" dirty="0"/>
              <a:t>is, the longest common prefix of the suffixes of </a:t>
            </a:r>
            <a:r>
              <a:rPr lang="en-US" altLang="zh-TW" i="1" dirty="0" smtClean="0"/>
              <a:t>S </a:t>
            </a:r>
            <a:r>
              <a:rPr lang="en-US" altLang="zh-TW" dirty="0" smtClean="0"/>
              <a:t>that </a:t>
            </a:r>
            <a:r>
              <a:rPr lang="en-US" altLang="zh-TW" dirty="0"/>
              <a:t>start at positions </a:t>
            </a:r>
            <a:r>
              <a:rPr lang="en-US" altLang="zh-TW" i="1" dirty="0" err="1"/>
              <a:t>i</a:t>
            </a:r>
            <a:r>
              <a:rPr lang="en-US" altLang="zh-TW" i="1" dirty="0"/>
              <a:t> </a:t>
            </a:r>
            <a:r>
              <a:rPr lang="en-US" altLang="zh-TW" dirty="0" smtClean="0"/>
              <a:t>and</a:t>
            </a:r>
            <a:r>
              <a:rPr lang="en-US" altLang="zh-TW" dirty="0"/>
              <a:t> 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, </a:t>
            </a:r>
            <a:r>
              <a:rPr lang="en-US" altLang="zh-TW" dirty="0"/>
              <a:t>respectively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476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𝑎𝑎𝑏𝑏𝑐𝑐𝑐𝑎𝑎𝑏𝑏𝑏𝑐𝑐𝑐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LCE(0,7)=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𝑎𝑎𝑏𝑏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LCE(2,9)=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57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Suffix tree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655" y="1690689"/>
            <a:ext cx="4102690" cy="4351338"/>
          </a:xfrm>
        </p:spPr>
      </p:pic>
    </p:spTree>
    <p:extLst>
      <p:ext uri="{BB962C8B-B14F-4D97-AF65-F5344CB8AC3E}">
        <p14:creationId xmlns:p14="http://schemas.microsoft.com/office/powerpoint/2010/main" val="119525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Preprocessing-2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The procedure makes use of a suffix array for the concatenated sequence </a:t>
            </a:r>
            <a:r>
              <a:rPr lang="en-US" altLang="zh-TW" i="1" dirty="0"/>
              <a:t>B</a:t>
            </a:r>
            <a:r>
              <a:rPr lang="en-US" altLang="zh-TW" dirty="0"/>
              <a:t>#</a:t>
            </a:r>
            <a:r>
              <a:rPr lang="en-US" altLang="zh-TW" i="1" dirty="0"/>
              <a:t>A</a:t>
            </a:r>
            <a:r>
              <a:rPr lang="en-US" altLang="zh-TW" dirty="0"/>
              <a:t>. We also build its longest common prefix (LCP) table; both operations can be </a:t>
            </a:r>
            <a:r>
              <a:rPr lang="en-US" altLang="zh-TW" dirty="0" smtClean="0"/>
              <a:t>accomplished </a:t>
            </a:r>
            <a:r>
              <a:rPr lang="en-US" altLang="zh-TW" dirty="0"/>
              <a:t>in linear time and using linear </a:t>
            </a:r>
            <a:r>
              <a:rPr lang="en-US" altLang="zh-TW" dirty="0" smtClean="0"/>
              <a:t>space. The </a:t>
            </a:r>
            <a:r>
              <a:rPr lang="en-US" altLang="zh-TW" dirty="0"/>
              <a:t>computed LCP values allow us to partition the sorted set of suffixes into maximal groups such that the LCP between successive items is at least </a:t>
            </a:r>
            <a:r>
              <a:rPr lang="en-US" altLang="zh-TW" i="1" dirty="0"/>
              <a:t>k</a:t>
            </a:r>
            <a:r>
              <a:rPr lang="en-US" altLang="zh-TW" dirty="0"/>
              <a:t>. In other words, suffixes from such groups have a prefix of length </a:t>
            </a:r>
            <a:r>
              <a:rPr lang="en-US" altLang="zh-TW" i="1" dirty="0" smtClean="0"/>
              <a:t>k </a:t>
            </a:r>
            <a:r>
              <a:rPr lang="en-US" altLang="zh-TW" dirty="0" smtClean="0"/>
              <a:t>symbols </a:t>
            </a:r>
            <a:r>
              <a:rPr lang="en-US" altLang="zh-TW" dirty="0"/>
              <a:t>in common.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283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" y="23024"/>
            <a:ext cx="8315325" cy="6834976"/>
          </a:xfrm>
        </p:spPr>
      </p:pic>
    </p:spTree>
    <p:extLst>
      <p:ext uri="{BB962C8B-B14F-4D97-AF65-F5344CB8AC3E}">
        <p14:creationId xmlns:p14="http://schemas.microsoft.com/office/powerpoint/2010/main" val="85248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These </a:t>
            </a:r>
            <a:r>
              <a:rPr lang="en-US" altLang="zh-TW" i="1" dirty="0"/>
              <a:t>k</a:t>
            </a:r>
            <a:r>
              <a:rPr lang="en-US" altLang="zh-TW" dirty="0"/>
              <a:t>-string groups are radix-sorted according to the starting position of the suffix. To make it efficient (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)time</a:t>
            </a:r>
            <a:r>
              <a:rPr lang="en-US" altLang="zh-TW" dirty="0" smtClean="0"/>
              <a:t>); </a:t>
            </a:r>
            <a:r>
              <a:rPr lang="en-US" altLang="zh-TW" dirty="0"/>
              <a:t>all the suffixes are represented as pairs (</a:t>
            </a:r>
            <a:r>
              <a:rPr lang="en-US" altLang="zh-TW" i="1" dirty="0" err="1"/>
              <a:t>group</a:t>
            </a:r>
            <a:r>
              <a:rPr lang="en-US" altLang="zh-TW" dirty="0" err="1"/>
              <a:t>_</a:t>
            </a:r>
            <a:r>
              <a:rPr lang="en-US" altLang="zh-TW" i="1" dirty="0" err="1"/>
              <a:t>id</a:t>
            </a:r>
            <a:r>
              <a:rPr lang="en-US" altLang="zh-TW" dirty="0"/>
              <a:t>, </a:t>
            </a:r>
            <a:r>
              <a:rPr lang="en-US" altLang="zh-TW" i="1" dirty="0" err="1" smtClean="0"/>
              <a:t>start</a:t>
            </a:r>
            <a:r>
              <a:rPr lang="en-US" altLang="zh-TW" dirty="0" err="1" smtClean="0"/>
              <a:t>_</a:t>
            </a:r>
            <a:r>
              <a:rPr lang="en-US" altLang="zh-TW" i="1" dirty="0" err="1" smtClean="0"/>
              <a:t>pos</a:t>
            </a:r>
            <a:r>
              <a:rPr lang="en-US" altLang="zh-TW" dirty="0" smtClean="0"/>
              <a:t>). </a:t>
            </a:r>
            <a:r>
              <a:rPr lang="en-US" altLang="zh-TW" dirty="0"/>
              <a:t>Let us denote the </a:t>
            </a:r>
            <a:r>
              <a:rPr lang="en-US" altLang="zh-TW" dirty="0" smtClean="0"/>
              <a:t>array </a:t>
            </a:r>
            <a:r>
              <a:rPr lang="en-US" altLang="zh-TW" dirty="0"/>
              <a:t>with such pairs with </a:t>
            </a:r>
            <a:r>
              <a:rPr lang="en-US" altLang="zh-TW" i="1" dirty="0"/>
              <a:t>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After </a:t>
            </a:r>
            <a:r>
              <a:rPr lang="en-US" altLang="zh-TW" dirty="0"/>
              <a:t>the sort, suffixes in the groups are kept together, in starting position order.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Note </a:t>
            </a:r>
            <a:r>
              <a:rPr lang="en-US" altLang="zh-TW" dirty="0"/>
              <a:t>that within a group all suffixes starting in </a:t>
            </a:r>
            <a:r>
              <a:rPr lang="en-US" altLang="zh-TW" i="1" dirty="0" smtClean="0"/>
              <a:t>B </a:t>
            </a:r>
            <a:r>
              <a:rPr lang="en-US" altLang="zh-TW" dirty="0" smtClean="0"/>
              <a:t>are </a:t>
            </a:r>
            <a:r>
              <a:rPr lang="en-US" altLang="zh-TW" dirty="0"/>
              <a:t>located before any suffix starting </a:t>
            </a:r>
            <a:r>
              <a:rPr lang="en-US" altLang="zh-TW" dirty="0" smtClean="0"/>
              <a:t>in </a:t>
            </a:r>
            <a:r>
              <a:rPr lang="en-US" altLang="zh-TW" i="1" dirty="0" smtClean="0"/>
              <a:t>A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216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We scan over all the items in </a:t>
            </a:r>
            <a:r>
              <a:rPr lang="en-US" altLang="zh-TW" i="1" dirty="0"/>
              <a:t>S</a:t>
            </a:r>
            <a:r>
              <a:rPr lang="en-US" altLang="zh-TW" dirty="0"/>
              <a:t>, except for the last one (which must correspond to the suffix starting with #), and we insert related data into another array, </a:t>
            </a:r>
            <a:r>
              <a:rPr lang="en-US" altLang="zh-TW" i="1" dirty="0" smtClean="0"/>
              <a:t>X </a:t>
            </a:r>
            <a:r>
              <a:rPr lang="en-US" altLang="zh-TW" dirty="0" smtClean="0"/>
              <a:t>of </a:t>
            </a:r>
            <a:r>
              <a:rPr lang="en-US" altLang="zh-TW" dirty="0"/>
              <a:t>length |</a:t>
            </a:r>
            <a:r>
              <a:rPr lang="en-US" altLang="zh-TW" i="1" dirty="0"/>
              <a:t>A</a:t>
            </a:r>
            <a:r>
              <a:rPr lang="en-US" altLang="zh-TW" dirty="0"/>
              <a:t>| +|</a:t>
            </a:r>
            <a:r>
              <a:rPr lang="en-US" altLang="zh-TW" i="1" dirty="0"/>
              <a:t>B</a:t>
            </a:r>
            <a:r>
              <a:rPr lang="en-US" altLang="zh-TW" dirty="0"/>
              <a:t>| =2</a:t>
            </a:r>
            <a:r>
              <a:rPr lang="en-US" altLang="zh-TW" i="1" dirty="0"/>
              <a:t>n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More </a:t>
            </a:r>
            <a:r>
              <a:rPr lang="en-US" altLang="zh-TW" dirty="0"/>
              <a:t>precisely, for each examined </a:t>
            </a:r>
            <a:r>
              <a:rPr lang="en-US" altLang="zh-TW" i="1" dirty="0"/>
              <a:t>S</a:t>
            </a:r>
            <a:r>
              <a:rPr lang="en-US" altLang="zh-TW" dirty="0"/>
              <a:t>[</a:t>
            </a:r>
            <a:r>
              <a:rPr lang="en-US" altLang="zh-TW" i="1" dirty="0" err="1"/>
              <a:t>i</a:t>
            </a:r>
            <a:r>
              <a:rPr lang="en-US" altLang="zh-TW" dirty="0" smtClean="0"/>
              <a:t>] we </a:t>
            </a:r>
            <a:r>
              <a:rPr lang="en-US" altLang="zh-TW" dirty="0"/>
              <a:t>write in </a:t>
            </a:r>
            <a:r>
              <a:rPr lang="en-US" altLang="zh-TW" i="1" dirty="0"/>
              <a:t>X</a:t>
            </a:r>
            <a:r>
              <a:rPr lang="en-US" altLang="zh-TW" dirty="0"/>
              <a:t>[</a:t>
            </a:r>
            <a:r>
              <a:rPr lang="en-US" altLang="zh-TW" i="1" dirty="0"/>
              <a:t>S</a:t>
            </a:r>
            <a:r>
              <a:rPr lang="en-US" altLang="zh-TW" dirty="0"/>
              <a:t>[</a:t>
            </a:r>
            <a:r>
              <a:rPr lang="en-US" altLang="zh-TW" i="1" dirty="0" err="1"/>
              <a:t>i</a:t>
            </a:r>
            <a:r>
              <a:rPr lang="en-US" altLang="zh-TW" dirty="0"/>
              <a:t>].</a:t>
            </a:r>
            <a:r>
              <a:rPr lang="en-US" altLang="zh-TW" i="1" dirty="0" err="1"/>
              <a:t>start</a:t>
            </a:r>
            <a:r>
              <a:rPr lang="en-US" altLang="zh-TW" dirty="0" err="1"/>
              <a:t>_</a:t>
            </a:r>
            <a:r>
              <a:rPr lang="en-US" altLang="zh-TW" i="1" dirty="0" err="1"/>
              <a:t>pos</a:t>
            </a:r>
            <a:r>
              <a:rPr lang="en-US" altLang="zh-TW" dirty="0" smtClean="0"/>
              <a:t>] a </a:t>
            </a:r>
            <a:r>
              <a:rPr lang="en-US" altLang="zh-TW" dirty="0"/>
              <a:t>triple: (</a:t>
            </a:r>
            <a:r>
              <a:rPr lang="en-US" altLang="zh-TW" i="1" dirty="0" err="1"/>
              <a:t>fa</a:t>
            </a:r>
            <a:r>
              <a:rPr lang="en-US" altLang="zh-TW" dirty="0" err="1"/>
              <a:t>_</a:t>
            </a:r>
            <a:r>
              <a:rPr lang="en-US" altLang="zh-TW" i="1" dirty="0" err="1"/>
              <a:t>pos</a:t>
            </a:r>
            <a:r>
              <a:rPr lang="en-US" altLang="zh-TW" dirty="0"/>
              <a:t>, </a:t>
            </a:r>
            <a:r>
              <a:rPr lang="en-US" altLang="zh-TW" i="1" dirty="0" err="1"/>
              <a:t>fb</a:t>
            </a:r>
            <a:r>
              <a:rPr lang="en-US" altLang="zh-TW" dirty="0" err="1"/>
              <a:t>_</a:t>
            </a:r>
            <a:r>
              <a:rPr lang="en-US" altLang="zh-TW" i="1" dirty="0" err="1"/>
              <a:t>pos</a:t>
            </a:r>
            <a:r>
              <a:rPr lang="en-US" altLang="zh-TW" dirty="0"/>
              <a:t>, </a:t>
            </a:r>
            <a:r>
              <a:rPr lang="en-US" altLang="zh-TW" i="1" dirty="0" err="1"/>
              <a:t>ng</a:t>
            </a:r>
            <a:r>
              <a:rPr lang="en-US" altLang="zh-TW" dirty="0" err="1"/>
              <a:t>_</a:t>
            </a:r>
            <a:r>
              <a:rPr lang="en-US" altLang="zh-TW" i="1" dirty="0" err="1"/>
              <a:t>pos</a:t>
            </a:r>
            <a:r>
              <a:rPr lang="en-US" altLang="zh-TW" dirty="0"/>
              <a:t>), where </a:t>
            </a:r>
            <a:r>
              <a:rPr lang="en-US" altLang="zh-TW" i="1" dirty="0" err="1"/>
              <a:t>fa</a:t>
            </a:r>
            <a:r>
              <a:rPr lang="en-US" altLang="zh-TW" dirty="0" err="1"/>
              <a:t>_</a:t>
            </a:r>
            <a:r>
              <a:rPr lang="en-US" altLang="zh-TW" i="1" dirty="0" err="1"/>
              <a:t>pos</a:t>
            </a:r>
            <a:r>
              <a:rPr lang="en-US" altLang="zh-TW" dirty="0"/>
              <a:t>(</a:t>
            </a:r>
            <a:r>
              <a:rPr lang="en-US" altLang="zh-TW" i="1" dirty="0" err="1"/>
              <a:t>fb</a:t>
            </a:r>
            <a:r>
              <a:rPr lang="en-US" altLang="zh-TW" dirty="0" err="1"/>
              <a:t>_</a:t>
            </a:r>
            <a:r>
              <a:rPr lang="en-US" altLang="zh-TW" i="1" dirty="0" err="1"/>
              <a:t>pos</a:t>
            </a:r>
            <a:r>
              <a:rPr lang="en-US" altLang="zh-TW" dirty="0"/>
              <a:t>) is the position in </a:t>
            </a:r>
            <a:r>
              <a:rPr lang="en-US" altLang="zh-TW" i="1" dirty="0" smtClean="0"/>
              <a:t>S </a:t>
            </a:r>
            <a:r>
              <a:rPr lang="en-US" altLang="zh-TW" dirty="0" smtClean="0"/>
              <a:t>of </a:t>
            </a:r>
            <a:r>
              <a:rPr lang="en-US" altLang="zh-TW" dirty="0"/>
              <a:t>the first suffix from this group starting in </a:t>
            </a:r>
            <a:r>
              <a:rPr lang="en-US" altLang="zh-TW" i="1" dirty="0"/>
              <a:t>A</a:t>
            </a:r>
            <a:r>
              <a:rPr lang="en-US" altLang="zh-TW" dirty="0"/>
              <a:t>(in </a:t>
            </a:r>
            <a:r>
              <a:rPr lang="en-US" altLang="zh-TW" i="1" dirty="0"/>
              <a:t>B</a:t>
            </a:r>
            <a:r>
              <a:rPr lang="en-US" altLang="zh-TW" dirty="0"/>
              <a:t>) and </a:t>
            </a:r>
            <a:r>
              <a:rPr lang="en-US" altLang="zh-TW" i="1" dirty="0" err="1" smtClean="0"/>
              <a:t>ng</a:t>
            </a:r>
            <a:r>
              <a:rPr lang="en-US" altLang="zh-TW" dirty="0" err="1" smtClean="0"/>
              <a:t>_</a:t>
            </a:r>
            <a:r>
              <a:rPr lang="en-US" altLang="zh-TW" i="1" dirty="0" err="1" smtClean="0"/>
              <a:t>pos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is </a:t>
            </a:r>
            <a:r>
              <a:rPr lang="en-US" altLang="zh-TW" dirty="0"/>
              <a:t>the position in </a:t>
            </a:r>
            <a:r>
              <a:rPr lang="en-US" altLang="zh-TW" i="1" dirty="0" smtClean="0"/>
              <a:t>S </a:t>
            </a:r>
            <a:r>
              <a:rPr lang="en-US" altLang="zh-TW" dirty="0" smtClean="0"/>
              <a:t>of </a:t>
            </a:r>
            <a:r>
              <a:rPr lang="en-US" altLang="zh-TW" dirty="0"/>
              <a:t>the first suffix from the next group. This operation also takes linear time and the preprocessing is done.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570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It </a:t>
            </a:r>
            <a:r>
              <a:rPr lang="en-US" altLang="zh-TW" dirty="0"/>
              <a:t>is now enough to examine the information stored at </a:t>
            </a:r>
            <a:r>
              <a:rPr lang="en-US" altLang="zh-TW" i="1" dirty="0"/>
              <a:t>X</a:t>
            </a:r>
            <a:r>
              <a:rPr lang="en-US" altLang="zh-TW" dirty="0"/>
              <a:t>[</a:t>
            </a:r>
            <a:r>
              <a:rPr lang="en-US" altLang="zh-TW" i="1" dirty="0"/>
              <a:t>S</a:t>
            </a:r>
            <a:r>
              <a:rPr lang="en-US" altLang="zh-TW" dirty="0"/>
              <a:t>[</a:t>
            </a:r>
            <a:r>
              <a:rPr lang="en-US" altLang="zh-TW" i="1" dirty="0" err="1"/>
              <a:t>i</a:t>
            </a:r>
            <a:r>
              <a:rPr lang="en-US" altLang="zh-TW" dirty="0"/>
              <a:t>].</a:t>
            </a:r>
            <a:r>
              <a:rPr lang="en-US" altLang="zh-TW" i="1" dirty="0" err="1"/>
              <a:t>start</a:t>
            </a:r>
            <a:r>
              <a:rPr lang="en-US" altLang="zh-TW" dirty="0" err="1"/>
              <a:t>_</a:t>
            </a:r>
            <a:r>
              <a:rPr lang="en-US" altLang="zh-TW" i="1" dirty="0" err="1"/>
              <a:t>pos</a:t>
            </a:r>
            <a:r>
              <a:rPr lang="en-US" altLang="zh-TW" dirty="0"/>
              <a:t>](which in turn refers to </a:t>
            </a:r>
            <a:r>
              <a:rPr lang="en-US" altLang="zh-TW" i="1" dirty="0"/>
              <a:t>S</a:t>
            </a:r>
            <a:r>
              <a:rPr lang="en-US" altLang="zh-TW" dirty="0"/>
              <a:t>), to find the match locations in the row in </a:t>
            </a:r>
            <a:r>
              <a:rPr lang="en-US" altLang="zh-TW" i="1" dirty="0"/>
              <a:t>O</a:t>
            </a:r>
            <a:r>
              <a:rPr lang="en-US" altLang="zh-TW" dirty="0"/>
              <a:t>(1)time per each.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214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b="1" dirty="0" smtClean="0"/>
                  <a:t>Lemma 1. </a:t>
                </a:r>
                <a:r>
                  <a:rPr lang="en-US" altLang="zh-TW" i="1" dirty="0"/>
                  <a:t>For each </a:t>
                </a:r>
                <a:r>
                  <a:rPr lang="en-US" altLang="zh-TW" i="1" dirty="0"/>
                  <a:t>i</a:t>
                </a:r>
                <a:r>
                  <a:rPr lang="en-US" altLang="zh-TW" i="1" dirty="0" smtClean="0"/>
                  <a:t> </a:t>
                </a:r>
                <a:r>
                  <a:rPr lang="en-US" altLang="zh-TW" i="1" dirty="0" smtClean="0"/>
                  <a:t>and j the </a:t>
                </a:r>
                <a:r>
                  <a:rPr lang="en-US" altLang="zh-TW" i="1" dirty="0"/>
                  <a:t>value M</a:t>
                </a:r>
                <a:r>
                  <a:rPr lang="en-US" altLang="zh-TW" dirty="0"/>
                  <a:t>(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</a:t>
                </a:r>
                <a:r>
                  <a:rPr lang="en-US" altLang="zh-TW" dirty="0" smtClean="0"/>
                  <a:t>) </a:t>
                </a:r>
                <a:r>
                  <a:rPr lang="en-US" altLang="zh-TW" i="1" dirty="0" smtClean="0"/>
                  <a:t>is </a:t>
                </a:r>
                <a:r>
                  <a:rPr lang="en-US" altLang="zh-TW" i="1" dirty="0"/>
                  <a:t>the </a:t>
                </a:r>
                <a:r>
                  <a:rPr lang="en-US" altLang="zh-TW" i="1" dirty="0" err="1" smtClean="0"/>
                  <a:t>LCSk</a:t>
                </a:r>
                <a:r>
                  <a:rPr lang="en-US" altLang="zh-TW" i="1" dirty="0" smtClean="0"/>
                  <a:t> of </a:t>
                </a:r>
                <a:r>
                  <a:rPr lang="en-US" altLang="zh-TW" i="1" dirty="0"/>
                  <a:t>the prefixes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i="1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i="1" dirty="0" smtClean="0"/>
                  <a:t>.</a:t>
                </a:r>
              </a:p>
              <a:p>
                <a:r>
                  <a:rPr lang="en-US" altLang="zh-TW" b="1" dirty="0"/>
                  <a:t>Lemma 2. </a:t>
                </a:r>
                <a:r>
                  <a:rPr lang="en-US" altLang="zh-TW" i="1" dirty="0"/>
                  <a:t>Let vector V</a:t>
                </a:r>
                <a:r>
                  <a:rPr lang="en-US" altLang="zh-TW" dirty="0"/>
                  <a:t>(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, for any </a:t>
                </a:r>
                <a:r>
                  <a:rPr lang="en-US" altLang="zh-TW" i="1" dirty="0" err="1"/>
                  <a:t>i</a:t>
                </a:r>
                <a:r>
                  <a:rPr lang="en-US" altLang="zh-TW" i="1" dirty="0"/>
                  <a:t>, describe the changes in </a:t>
                </a:r>
                <a:r>
                  <a:rPr lang="en-US" altLang="zh-TW" i="1" dirty="0" err="1"/>
                  <a:t>i</a:t>
                </a:r>
                <a:r>
                  <a:rPr lang="en-US" altLang="zh-TW" i="1" dirty="0" smtClean="0"/>
                  <a:t> </a:t>
                </a:r>
                <a:r>
                  <a:rPr lang="en-US" altLang="zh-TW" i="1" dirty="0" err="1" smtClean="0"/>
                  <a:t>th</a:t>
                </a:r>
                <a:r>
                  <a:rPr lang="en-US" altLang="zh-TW" i="1" dirty="0" smtClean="0"/>
                  <a:t> </a:t>
                </a:r>
                <a:r>
                  <a:rPr lang="en-US" altLang="zh-TW" i="1" dirty="0"/>
                  <a:t>row </a:t>
                </a:r>
                <a:r>
                  <a:rPr lang="en-US" altLang="zh-TW" i="1" dirty="0" smtClean="0"/>
                  <a:t>of M</a:t>
                </a:r>
                <a:r>
                  <a:rPr lang="en-US" altLang="zh-TW" i="1" dirty="0"/>
                  <a:t>, i.e., V</a:t>
                </a:r>
                <a:r>
                  <a:rPr lang="en-US" altLang="zh-TW" dirty="0"/>
                  <a:t>(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stores the pairs </a:t>
                </a:r>
                <a:r>
                  <a:rPr lang="en-US" altLang="zh-TW" dirty="0"/>
                  <a:t>{</a:t>
                </a:r>
                <a:r>
                  <a:rPr lang="en-US" altLang="zh-TW" i="1" dirty="0" smtClean="0"/>
                  <a:t>M</a:t>
                </a:r>
                <a:r>
                  <a:rPr lang="en-US" altLang="zh-TW" dirty="0" smtClean="0"/>
                  <a:t>(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), 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} </a:t>
                </a:r>
                <a:r>
                  <a:rPr lang="en-US" altLang="zh-TW" i="1" dirty="0" smtClean="0"/>
                  <a:t>such </a:t>
                </a:r>
                <a:r>
                  <a:rPr lang="en-US" altLang="zh-TW" i="1" dirty="0"/>
                  <a:t>that M</a:t>
                </a:r>
                <a:r>
                  <a:rPr lang="en-US" altLang="zh-TW" dirty="0"/>
                  <a:t>(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 </a:t>
                </a:r>
                <a:r>
                  <a:rPr lang="en-US" altLang="zh-TW" dirty="0"/>
                  <a:t>−1) +1 =</a:t>
                </a:r>
                <a:r>
                  <a:rPr lang="en-US" altLang="zh-TW" i="1" dirty="0"/>
                  <a:t>M</a:t>
                </a:r>
                <a:r>
                  <a:rPr lang="en-US" altLang="zh-TW" dirty="0"/>
                  <a:t>(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. Then, each 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{</a:t>
                </a:r>
                <a:r>
                  <a:rPr lang="en-US" altLang="zh-TW" i="1" dirty="0" smtClean="0"/>
                  <a:t>h</a:t>
                </a:r>
                <a:r>
                  <a:rPr lang="en-US" altLang="zh-TW" dirty="0"/>
                  <a:t>, 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} </a:t>
                </a:r>
                <a:r>
                  <a:rPr lang="en-US" altLang="zh-TW" dirty="0"/>
                  <a:t>∈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(</a:t>
                </a:r>
                <a:r>
                  <a:rPr lang="en-US" altLang="zh-TW" i="1" dirty="0" err="1"/>
                  <a:t>i</a:t>
                </a:r>
                <a:r>
                  <a:rPr lang="en-US" altLang="zh-TW" dirty="0" smtClean="0"/>
                  <a:t>) </a:t>
                </a:r>
                <a:r>
                  <a:rPr lang="en-US" altLang="zh-TW" i="1" dirty="0" smtClean="0"/>
                  <a:t>implies </a:t>
                </a:r>
                <a:r>
                  <a:rPr lang="en-US" altLang="zh-TW" i="1" dirty="0"/>
                  <a:t>that it is impossible </a:t>
                </a:r>
                <a:r>
                  <a:rPr lang="en-US" altLang="zh-TW" i="1" dirty="0" smtClean="0"/>
                  <a:t>that</a:t>
                </a:r>
                <a:r>
                  <a:rPr lang="en-US" altLang="zh-TW" dirty="0" smtClean="0"/>
                  <a:t>{</a:t>
                </a:r>
                <a:r>
                  <a:rPr lang="en-US" altLang="zh-TW" i="1" dirty="0" smtClean="0"/>
                  <a:t>h </a:t>
                </a:r>
                <a:r>
                  <a:rPr lang="en-US" altLang="zh-TW" dirty="0"/>
                  <a:t>+1,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} </a:t>
                </a:r>
                <a:r>
                  <a:rPr lang="en-US" altLang="zh-TW" dirty="0" smtClean="0"/>
                  <a:t>∈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)</a:t>
                </a:r>
                <a:r>
                  <a:rPr lang="en-US" altLang="zh-TW" i="1" dirty="0"/>
                  <a:t>, for any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i="1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i="1" dirty="0" smtClean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 r="-19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33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Sparse dynamic programing-1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The overall idea is to visit only those DP matrix cells which correspond to matches. As the number of matches, r, is usually significantly smaller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This algorithm called </a:t>
                </a:r>
                <a:r>
                  <a:rPr lang="en-US" altLang="zh-TW" dirty="0" err="1" smtClean="0"/>
                  <a:t>LCSk</a:t>
                </a:r>
                <a:r>
                  <a:rPr lang="en-US" altLang="zh-TW" dirty="0" smtClean="0"/>
                  <a:t>-Sparse.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12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52" y="609600"/>
            <a:ext cx="6711979" cy="5458911"/>
          </a:xfrm>
        </p:spPr>
      </p:pic>
    </p:spTree>
    <p:extLst>
      <p:ext uri="{BB962C8B-B14F-4D97-AF65-F5344CB8AC3E}">
        <p14:creationId xmlns:p14="http://schemas.microsoft.com/office/powerpoint/2010/main" val="267261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LCSk</a:t>
            </a:r>
            <a:r>
              <a:rPr lang="en-US" altLang="zh-TW" dirty="0" smtClean="0"/>
              <a:t>-Sparse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In the preprocessing, lists of successive occurrences of all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-strings from the 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are gathered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These lists will be referred to as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𝑀𝐴𝑇𝐶𝐻𝐿𝐼𝑆𝑇</m:t>
                    </m:r>
                  </m:oMath>
                </a14:m>
                <a:r>
                  <a:rPr lang="en-US" altLang="zh-TW" dirty="0" smtClean="0"/>
                  <a:t>, where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𝑀𝐴𝑇𝐶𝐻𝐿𝐼𝑆𝑇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stores the end positions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-</a:t>
                </a:r>
                <a:r>
                  <a:rPr lang="en-US" altLang="zh-TW" dirty="0" smtClean="0"/>
                  <a:t>string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in 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in ascending order.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94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Initialization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Accessing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𝑇𝐻𝑅𝐸𝑆𝐻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answers the question about the leftmost column in row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with a match of rank h.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When processing row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 smtClean="0"/>
                  <a:t>, we will often be interested in accessing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𝑇𝐻𝑅𝐸𝑆𝐻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zh-TW" dirty="0" smtClean="0"/>
                  <a:t>, i.e., the state of this structure k rows earlier.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029" y="4524376"/>
            <a:ext cx="6311000" cy="13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7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Copy previous state</a:t>
                </a:r>
              </a:p>
              <a:p>
                <a:r>
                  <a:rPr lang="en-US" altLang="zh-TW" dirty="0" smtClean="0"/>
                  <a:t>Get </a:t>
                </a:r>
                <a:r>
                  <a:rPr lang="en-US" altLang="zh-TW" dirty="0"/>
                  <a:t>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內容版面配置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675" y="4886325"/>
            <a:ext cx="5768040" cy="79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2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內容版面配置區 9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47750"/>
                <a:ext cx="7886700" cy="5376863"/>
              </a:xfrm>
            </p:spPr>
            <p:txBody>
              <a:bodyPr/>
              <a:lstStyle/>
              <a:p>
                <a:r>
                  <a:rPr lang="en-US" altLang="zh-TW" dirty="0"/>
                  <a:t>For x 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𝑀𝐴𝑇𝐶𝐻𝐿𝐼𝑆𝑇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dirty="0"/>
                  <a:t>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Get </a:t>
                </a:r>
                <a:r>
                  <a:rPr lang="en-US" altLang="zh-TW" dirty="0"/>
                  <a:t>previous state and string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/>
                  <a:t> →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Get the rank 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𝑇𝐻𝑅𝐸𝑆𝐻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→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Find current state’s rank which is h+1 →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altLang="zh-TW" dirty="0"/>
                  <a:t> , delete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altLang="zh-TW" dirty="0"/>
                  <a:t> and insert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“=</m:t>
                    </m:r>
                    <m:r>
                      <m:rPr>
                        <m:nor/>
                      </m:rPr>
                      <a:rPr lang="en-US" altLang="zh-TW" dirty="0"/>
                      <m:t>∞</m:t>
                    </m:r>
                  </m:oMath>
                </a14:m>
                <a:r>
                  <a:rPr lang="en-US" altLang="zh-TW" dirty="0"/>
                  <a:t>, insert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∞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10" name="內容版面配置區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47750"/>
                <a:ext cx="7886700" cy="5376863"/>
              </a:xfrm>
              <a:blipFill rotWithShape="0">
                <a:blip r:embed="rId2"/>
                <a:stretch>
                  <a:fillRect l="-1391" t="-19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962" y="4248944"/>
            <a:ext cx="5201376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4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Because of the we need to store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 previous versions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𝑇𝐻𝑅𝐸𝑆𝐻</m:t>
                    </m:r>
                  </m:oMath>
                </a14:m>
                <a:r>
                  <a:rPr lang="en-US" altLang="zh-TW" dirty="0" smtClean="0"/>
                  <a:t>(for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 previous rows), and using naïve list copies add an extra additive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𝑛𝑙</m:t>
                    </m:r>
                  </m:oMath>
                </a14:m>
                <a:r>
                  <a:rPr lang="en-US" altLang="zh-TW" dirty="0" smtClean="0"/>
                  <a:t> term to the time complexity, which is prohibitive.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So we need to make use of persistent red-black tree.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 r="-21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33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All operations on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𝑇𝐻𝑅𝐸𝑆𝐻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have logarithmic cost in the worst case, that is,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func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where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the </a:t>
                </a:r>
                <a:r>
                  <a:rPr lang="en-US" altLang="zh-TW" dirty="0" err="1"/>
                  <a:t>LCSk</a:t>
                </a:r>
                <a:r>
                  <a:rPr lang="en-US" altLang="zh-TW" dirty="0"/>
                  <a:t> length. The overall worst case time for the algorithm is thus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rlog</m:t>
                            </m:r>
                          </m:fName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func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TW" dirty="0"/>
                  <a:t>The space consumption is usually determined by the number of matches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dirty="0"/>
                  <a:t>(we need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dirty="0"/>
                  <a:t> nodes of the persistent RB tree per each match).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 r="-19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57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LCSk</a:t>
            </a:r>
            <a:r>
              <a:rPr lang="en-US" altLang="zh-TW" dirty="0" smtClean="0"/>
              <a:t>-Dense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If the number of matches is close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The specific trait is skipping over some matches, when we are certain they cannot affect the algorithm’s output. 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29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610" y="1786660"/>
            <a:ext cx="4772691" cy="1019317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60" y="2805977"/>
            <a:ext cx="5220429" cy="72400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779" y="3501403"/>
            <a:ext cx="5268060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4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 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h </a:t>
                </a:r>
                <a:r>
                  <a:rPr lang="en-US" altLang="zh-TW" dirty="0"/>
                  <a:t>−1)-</a:t>
                </a:r>
                <a:r>
                  <a:rPr lang="en-US" altLang="zh-TW" dirty="0" err="1"/>
                  <a:t>th</a:t>
                </a:r>
                <a:r>
                  <a:rPr lang="en-US" altLang="zh-TW" dirty="0"/>
                  <a:t> value of </a:t>
                </a:r>
                <a:r>
                  <a:rPr lang="en-US" altLang="zh-TW" i="1" dirty="0"/>
                  <a:t>THRESH</a:t>
                </a:r>
                <a:r>
                  <a:rPr lang="en-US" altLang="zh-TW" dirty="0"/>
                  <a:t>[</a:t>
                </a:r>
                <a:r>
                  <a:rPr lang="en-US" altLang="zh-TW" i="1" dirty="0" err="1"/>
                  <a:t>i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−</a:t>
                </a:r>
                <a:r>
                  <a:rPr lang="en-US" altLang="zh-TW" i="1" dirty="0"/>
                  <a:t>k</a:t>
                </a:r>
                <a:r>
                  <a:rPr lang="en-US" altLang="zh-TW" dirty="0" smtClean="0"/>
                  <a:t>]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</a:p>
              <a:p>
                <a:r>
                  <a:rPr lang="en-US" altLang="zh-TW" dirty="0"/>
                  <a:t>the nearest match on the current </a:t>
                </a:r>
                <a:r>
                  <a:rPr lang="en-US" altLang="zh-TW" i="1" dirty="0" smtClean="0"/>
                  <a:t>MATCHLIST </a:t>
                </a:r>
                <a:r>
                  <a:rPr lang="en-US" altLang="zh-TW" dirty="0" smtClean="0"/>
                  <a:t>in </a:t>
                </a:r>
                <a:r>
                  <a:rPr lang="en-US" altLang="zh-TW" dirty="0"/>
                  <a:t>a column greater than or equal </a:t>
                </a:r>
                <a:r>
                  <a:rPr lang="en-US" altLang="zh-TW" dirty="0" smtClean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→ x</a:t>
                </a:r>
              </a:p>
              <a:p>
                <a:r>
                  <a:rPr lang="en-US" altLang="zh-TW" dirty="0"/>
                  <a:t>current </a:t>
                </a:r>
                <a:r>
                  <a:rPr lang="en-US" altLang="zh-TW" i="1" dirty="0"/>
                  <a:t>h</a:t>
                </a:r>
                <a:r>
                  <a:rPr lang="en-US" altLang="zh-TW" dirty="0"/>
                  <a:t>-</a:t>
                </a:r>
                <a:r>
                  <a:rPr lang="en-US" altLang="zh-TW" dirty="0" err="1"/>
                  <a:t>th</a:t>
                </a:r>
                <a:r>
                  <a:rPr lang="en-US" altLang="zh-TW" dirty="0"/>
                  <a:t> element of </a:t>
                </a:r>
                <a:r>
                  <a:rPr lang="en-US" altLang="zh-TW" i="1" dirty="0" smtClean="0"/>
                  <a:t>THRESH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"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"</m:t>
                        </m:r>
                      </m:sup>
                    </m:sSup>
                  </m:oMath>
                </a14:m>
                <a:r>
                  <a:rPr lang="en-US" altLang="zh-TW" dirty="0" smtClean="0"/>
                  <a:t> update the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𝑇𝐻𝑅𝐸𝑆𝐻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61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The successor queries may be handled with </a:t>
                </a:r>
                <a:r>
                  <a:rPr lang="en-US" altLang="zh-TW" dirty="0" err="1" smtClean="0"/>
                  <a:t>vEB</a:t>
                </a:r>
                <a:r>
                  <a:rPr lang="en-US" altLang="zh-TW" dirty="0" smtClean="0"/>
                  <a:t> tree,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𝑙𝑜𝑔𝑙𝑜𝑔𝑛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time.</a:t>
                </a:r>
              </a:p>
              <a:p>
                <a:r>
                  <a:rPr lang="en-US" altLang="zh-TW" dirty="0" smtClean="0"/>
                  <a:t>The space consumption is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𝑙𝑜𝑔𝑙𝑜𝑔𝑛</m:t>
                        </m:r>
                      </m:e>
                    </m:d>
                  </m:oMath>
                </a14:m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The overall time complexity is 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𝑙𝑜𝑔𝑙𝑜𝑔𝑛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86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Tabulation-based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The tabulation (also called “4-Russians”) technique for dynamic programming algorithms consists in dividing the DP matrix into small blocks (usually 1 </a:t>
            </a:r>
            <a:r>
              <a:rPr lang="en-US" altLang="zh-TW" dirty="0" smtClean="0"/>
              <a:t>× </a:t>
            </a:r>
            <a:r>
              <a:rPr lang="en-US" altLang="zh-TW" i="1" dirty="0" smtClean="0"/>
              <a:t>b </a:t>
            </a:r>
            <a:r>
              <a:rPr lang="en-US" altLang="zh-TW" dirty="0" smtClean="0"/>
              <a:t>or </a:t>
            </a:r>
            <a:r>
              <a:rPr lang="en-US" altLang="zh-TW" i="1" dirty="0"/>
              <a:t>b </a:t>
            </a:r>
            <a:r>
              <a:rPr lang="en-US" altLang="zh-TW" dirty="0" smtClean="0"/>
              <a:t>× </a:t>
            </a:r>
            <a:r>
              <a:rPr lang="en-US" altLang="zh-TW" i="1" dirty="0" smtClean="0"/>
              <a:t>b</a:t>
            </a:r>
            <a:r>
              <a:rPr lang="en-US" altLang="zh-TW" dirty="0"/>
              <a:t>, for some </a:t>
            </a:r>
            <a:r>
              <a:rPr lang="en-US" altLang="zh-TW" i="1" dirty="0"/>
              <a:t>b</a:t>
            </a:r>
            <a:r>
              <a:rPr lang="en-US" altLang="zh-TW" dirty="0"/>
              <a:t>), such that the number of distinct blocks is small enough to be </a:t>
            </a:r>
            <a:r>
              <a:rPr lang="en-US" altLang="zh-TW" dirty="0" err="1"/>
              <a:t>precomputed</a:t>
            </a:r>
            <a:r>
              <a:rPr lang="en-US" altLang="zh-TW" dirty="0"/>
              <a:t> beforehand, e.g., with linear time-space </a:t>
            </a:r>
            <a:r>
              <a:rPr lang="en-US" altLang="zh-TW" dirty="0" smtClean="0"/>
              <a:t>resources.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Let us now present a tabulation-based algorithm for </a:t>
            </a:r>
            <a:r>
              <a:rPr lang="en-US" altLang="zh-TW" dirty="0" err="1"/>
              <a:t>LCS</a:t>
            </a:r>
            <a:r>
              <a:rPr lang="en-US" altLang="zh-TW" i="1" dirty="0" err="1"/>
              <a:t>k</a:t>
            </a:r>
            <a:r>
              <a:rPr lang="en-US" altLang="zh-TW" dirty="0"/>
              <a:t>, called DP-4R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491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T</a:t>
                </a:r>
                <a:r>
                  <a:rPr lang="en-US" altLang="zh-TW" dirty="0" smtClean="0"/>
                  <a:t>he current state of the list </a:t>
                </a:r>
                <a:r>
                  <a:rPr lang="en-US" altLang="zh-TW" i="1" dirty="0" smtClean="0"/>
                  <a:t>THRESH </a:t>
                </a:r>
                <a:r>
                  <a:rPr lang="en-US" altLang="zh-TW" dirty="0" smtClean="0"/>
                  <a:t>is </a:t>
                </a:r>
                <a:r>
                  <a:rPr lang="en-US" altLang="zh-TW" dirty="0"/>
                  <a:t>represented as a bit-vector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𝑇𝐻𝑅𝐸𝑆𝐻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of </a:t>
                </a:r>
                <a:r>
                  <a:rPr lang="en-US" altLang="zh-TW" dirty="0"/>
                  <a:t>length </a:t>
                </a:r>
                <a:r>
                  <a:rPr lang="en-US" altLang="zh-TW" i="1" dirty="0" smtClean="0"/>
                  <a:t>n </a:t>
                </a:r>
                <a:r>
                  <a:rPr lang="en-US" altLang="zh-TW" dirty="0" smtClean="0"/>
                  <a:t>and </a:t>
                </a:r>
                <a:r>
                  <a:rPr lang="en-US" altLang="zh-TW" dirty="0"/>
                  <a:t>similarly the match lists,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𝑇𝐻𝑅𝐸𝑆𝐻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</m:oMath>
                </a14:m>
                <a:r>
                  <a:rPr lang="en-US" altLang="zh-TW" dirty="0"/>
                  <a:t>, for all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-strings from </a:t>
                </a:r>
                <a:r>
                  <a:rPr lang="en-US" altLang="zh-TW" i="1" dirty="0" smtClean="0"/>
                  <a:t>A </a:t>
                </a:r>
                <a:r>
                  <a:rPr lang="en-US" altLang="zh-TW" dirty="0" smtClean="0"/>
                  <a:t>are </a:t>
                </a:r>
                <a:r>
                  <a:rPr lang="en-US" altLang="zh-TW" dirty="0"/>
                  <a:t>built (to avoid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bits </a:t>
                </a:r>
                <a:r>
                  <a:rPr lang="en-US" altLang="zh-TW" dirty="0"/>
                  <a:t>of space in the worst case, these lists can be built on the fly, one per row).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More </a:t>
                </a:r>
                <a:r>
                  <a:rPr lang="en-US" altLang="zh-TW" dirty="0"/>
                  <a:t>precisely,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𝑇𝐻𝑅𝐸𝑆𝐻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altLang="zh-TW" dirty="0" smtClean="0"/>
                  <a:t>iff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dirty="0"/>
                  <a:t>, for any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/>
                  <a:t>. </a:t>
                </a:r>
                <a:r>
                  <a:rPr lang="en-US" altLang="zh-TW" dirty="0" smtClean="0"/>
                  <a:t>Similarly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𝑀𝐴𝑇𝐶𝐻𝐿𝐼𝑆𝑇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dirty="0"/>
                          <m:t>σ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A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err="1"/>
                  <a:t>iff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σ</m:t>
                    </m:r>
                    <m:r>
                      <m:rPr>
                        <m:nor/>
                      </m:rPr>
                      <a:rPr lang="en-US" altLang="zh-TW" i="1" dirty="0"/>
                      <m:t>A</m:t>
                    </m:r>
                  </m:oMath>
                </a14:m>
                <a:r>
                  <a:rPr lang="en-US" altLang="zh-TW" dirty="0" smtClean="0"/>
                  <a:t>. 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 r="-20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36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For the current row </a:t>
                </a:r>
                <a:r>
                  <a:rPr lang="en-US" altLang="zh-TW" i="1" dirty="0" err="1"/>
                  <a:t>i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each snippet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𝑇𝐻𝑅𝐸𝑆𝐻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TW" dirty="0" smtClean="0"/>
                  <a:t>depends </a:t>
                </a:r>
                <a:r>
                  <a:rPr lang="en-US" altLang="zh-TW" dirty="0"/>
                  <a:t>only on</a:t>
                </a:r>
                <a:r>
                  <a:rPr lang="en-US" altLang="zh-TW" dirty="0" smtClean="0"/>
                  <a:t>: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sz="2600" dirty="0"/>
                  <a:t>–the snippet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𝑇𝐻𝑅𝐸𝑆𝐻</m:t>
                        </m:r>
                      </m:e>
                      <m:sub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TW" sz="2600" b="0" dirty="0" smtClean="0"/>
                  <a:t>,</a:t>
                </a:r>
              </a:p>
              <a:p>
                <a:pPr marL="0" indent="0">
                  <a:buNone/>
                </a:pPr>
                <a:r>
                  <a:rPr lang="en-US" altLang="zh-TW" sz="2600" dirty="0"/>
                  <a:t>–the snippet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𝑇𝐻𝑅𝐸𝑆𝐻</m:t>
                        </m:r>
                      </m:e>
                      <m:sub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sz="26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TW" sz="2600" dirty="0"/>
              </a:p>
              <a:p>
                <a:pPr marL="0" indent="0">
                  <a:buNone/>
                </a:pPr>
                <a:r>
                  <a:rPr lang="en-US" altLang="zh-TW" sz="2600" dirty="0"/>
                  <a:t>–the snippet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𝑀𝐴𝑇𝐶𝐻𝐿𝐼𝑆𝑇</m:t>
                        </m:r>
                      </m:e>
                      <m:sub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altLang="zh-TW" sz="2600" dirty="0"/>
                          <m:t>σ</m:t>
                        </m:r>
                        <m:r>
                          <m:rPr>
                            <m:nor/>
                          </m:rPr>
                          <a:rPr lang="en-US" altLang="zh-TW" sz="2600" i="1" dirty="0"/>
                          <m:t>A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TW" sz="2600" b="0" dirty="0" smtClean="0"/>
                  <a:t>,</a:t>
                </a:r>
              </a:p>
              <a:p>
                <a:pPr marL="0" indent="0">
                  <a:buNone/>
                </a:pPr>
                <a:r>
                  <a:rPr lang="en-US" altLang="zh-TW" sz="2600" dirty="0"/>
                  <a:t>–the difference </a:t>
                </a:r>
                <a:r>
                  <a:rPr lang="en-US" altLang="zh-TW" sz="2600" i="1" dirty="0"/>
                  <a:t>M</a:t>
                </a:r>
                <a:r>
                  <a:rPr lang="en-US" altLang="zh-TW" sz="2600" dirty="0"/>
                  <a:t>(</a:t>
                </a:r>
                <a:r>
                  <a:rPr lang="en-US" altLang="zh-TW" sz="2600" i="1" dirty="0" err="1"/>
                  <a:t>i</a:t>
                </a:r>
                <a:r>
                  <a:rPr lang="en-US" altLang="zh-TW" sz="2600" dirty="0"/>
                  <a:t>, </a:t>
                </a:r>
                <a:r>
                  <a:rPr lang="en-US" altLang="zh-TW" sz="2600" i="1" dirty="0"/>
                  <a:t>j</a:t>
                </a:r>
                <a:r>
                  <a:rPr lang="en-US" altLang="zh-TW" sz="2600" dirty="0"/>
                  <a:t>) −</a:t>
                </a:r>
                <a:r>
                  <a:rPr lang="en-US" altLang="zh-TW" sz="2600" i="1" dirty="0"/>
                  <a:t>M</a:t>
                </a:r>
                <a:r>
                  <a:rPr lang="en-US" altLang="zh-TW" sz="2600" dirty="0"/>
                  <a:t>(</a:t>
                </a:r>
                <a:r>
                  <a:rPr lang="en-US" altLang="zh-TW" sz="2600" i="1" dirty="0" err="1"/>
                  <a:t>i</a:t>
                </a:r>
                <a:r>
                  <a:rPr lang="en-US" altLang="zh-TW" sz="2600" i="1" dirty="0"/>
                  <a:t> </a:t>
                </a:r>
                <a:r>
                  <a:rPr lang="en-US" altLang="zh-TW" sz="2600" dirty="0"/>
                  <a:t>−1, </a:t>
                </a:r>
                <a:r>
                  <a:rPr lang="en-US" altLang="zh-TW" sz="2600" i="1" dirty="0"/>
                  <a:t>j</a:t>
                </a:r>
                <a:r>
                  <a:rPr lang="en-US" altLang="zh-TW" sz="2600" dirty="0"/>
                  <a:t>) ∈{0, 1},</a:t>
                </a:r>
              </a:p>
              <a:p>
                <a:pPr marL="0" indent="0">
                  <a:buNone/>
                </a:pPr>
                <a:r>
                  <a:rPr lang="en-US" altLang="zh-TW" sz="2600" dirty="0"/>
                  <a:t>–the difference </a:t>
                </a:r>
                <a:r>
                  <a:rPr lang="en-US" altLang="zh-TW" sz="2600" i="1" dirty="0"/>
                  <a:t>M</a:t>
                </a:r>
                <a:r>
                  <a:rPr lang="en-US" altLang="zh-TW" sz="2600" dirty="0"/>
                  <a:t>(</a:t>
                </a:r>
                <a:r>
                  <a:rPr lang="en-US" altLang="zh-TW" sz="2600" i="1" dirty="0" err="1"/>
                  <a:t>i</a:t>
                </a:r>
                <a:r>
                  <a:rPr lang="en-US" altLang="zh-TW" sz="2600" dirty="0"/>
                  <a:t>, </a:t>
                </a:r>
                <a:r>
                  <a:rPr lang="en-US" altLang="zh-TW" sz="2600" i="1" dirty="0"/>
                  <a:t>j</a:t>
                </a:r>
                <a:r>
                  <a:rPr lang="en-US" altLang="zh-TW" sz="2600" dirty="0"/>
                  <a:t>) −</a:t>
                </a:r>
                <a:r>
                  <a:rPr lang="en-US" altLang="zh-TW" sz="2600" i="1" dirty="0"/>
                  <a:t>M</a:t>
                </a:r>
                <a:r>
                  <a:rPr lang="en-US" altLang="zh-TW" sz="2600" dirty="0"/>
                  <a:t>(</a:t>
                </a:r>
                <a:r>
                  <a:rPr lang="en-US" altLang="zh-TW" sz="2600" i="1" dirty="0" err="1"/>
                  <a:t>i</a:t>
                </a:r>
                <a:r>
                  <a:rPr lang="en-US" altLang="zh-TW" sz="2600" i="1" dirty="0"/>
                  <a:t> </a:t>
                </a:r>
                <a:r>
                  <a:rPr lang="en-US" altLang="zh-TW" sz="2600" dirty="0"/>
                  <a:t>−</a:t>
                </a:r>
                <a:r>
                  <a:rPr lang="en-US" altLang="zh-TW" sz="2600" i="1" dirty="0"/>
                  <a:t>k</a:t>
                </a:r>
                <a:r>
                  <a:rPr lang="en-US" altLang="zh-TW" sz="2600" dirty="0"/>
                  <a:t>, </a:t>
                </a:r>
                <a:r>
                  <a:rPr lang="en-US" altLang="zh-TW" sz="2600" i="1" dirty="0"/>
                  <a:t>j </a:t>
                </a:r>
                <a:r>
                  <a:rPr lang="en-US" altLang="zh-TW" sz="2600" dirty="0"/>
                  <a:t>−</a:t>
                </a:r>
                <a:r>
                  <a:rPr lang="en-US" altLang="zh-TW" sz="2600" i="1" dirty="0"/>
                  <a:t>k</a:t>
                </a:r>
                <a:r>
                  <a:rPr lang="en-US" altLang="zh-TW" sz="2600" dirty="0"/>
                  <a:t>) ∈{0, 1}.</a:t>
                </a:r>
                <a:endParaRPr lang="zh-TW" altLang="en-US" sz="2600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0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Now, 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with a small enough constant, we can compute the current snippet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𝑇𝐻𝑅𝐸𝑆𝐻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in </a:t>
                </a:r>
                <a:r>
                  <a:rPr lang="en-US" altLang="zh-TW" dirty="0" smtClean="0"/>
                  <a:t>constant </a:t>
                </a:r>
                <a:r>
                  <a:rPr lang="en-US" altLang="zh-TW" dirty="0"/>
                  <a:t>time, with a lookup table built in the preprocessing (e.g.,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dirty="0" smtClean="0"/>
                  <a:t> time</a:t>
                </a:r>
                <a:r>
                  <a:rPr lang="en-US" altLang="zh-TW" dirty="0"/>
                  <a:t>), obtaining an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-time </a:t>
                </a:r>
                <a:r>
                  <a:rPr lang="en-US" altLang="zh-TW" dirty="0" smtClean="0"/>
                  <a:t>algorithm</a:t>
                </a:r>
                <a:r>
                  <a:rPr lang="en-US" altLang="zh-TW" dirty="0"/>
                  <a:t>. During the computations, the previous </a:t>
                </a:r>
                <a:r>
                  <a:rPr lang="en-US" altLang="zh-TW" i="1" dirty="0" smtClean="0"/>
                  <a:t>k </a:t>
                </a:r>
                <a:r>
                  <a:rPr lang="en-US" altLang="zh-TW" dirty="0" smtClean="0"/>
                  <a:t>rows </a:t>
                </a:r>
                <a:r>
                  <a:rPr lang="en-US" altLang="zh-TW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𝑇𝐻𝑅𝐸𝑆𝐻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𝑏𝑖𝑛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 of </a:t>
                </a:r>
                <a:r>
                  <a:rPr lang="en-US" altLang="zh-TW" dirty="0"/>
                  <a:t>length </a:t>
                </a:r>
                <a:r>
                  <a:rPr lang="en-US" altLang="zh-TW" i="1" dirty="0" smtClean="0"/>
                  <a:t>n </a:t>
                </a:r>
                <a:r>
                  <a:rPr lang="en-US" altLang="zh-TW" dirty="0" smtClean="0"/>
                  <a:t>bits </a:t>
                </a:r>
                <a:r>
                  <a:rPr lang="en-US" altLang="zh-TW" dirty="0"/>
                  <a:t>need to be available, which makes the overall space use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𝑛𝑘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words.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 r="-19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295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2" y="2551466"/>
            <a:ext cx="9073696" cy="3201634"/>
          </a:xfrm>
        </p:spPr>
      </p:pic>
    </p:spTree>
    <p:extLst>
      <p:ext uri="{BB962C8B-B14F-4D97-AF65-F5344CB8AC3E}">
        <p14:creationId xmlns:p14="http://schemas.microsoft.com/office/powerpoint/2010/main" val="120602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</TotalTime>
  <Words>909</Words>
  <Application>Microsoft Office PowerPoint</Application>
  <PresentationFormat>如螢幕大小 (4:3)</PresentationFormat>
  <Paragraphs>93</Paragraphs>
  <Slides>36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4" baseType="lpstr">
      <vt:lpstr>Arial Unicode MS</vt:lpstr>
      <vt:lpstr>新細明體</vt:lpstr>
      <vt:lpstr>Arial</vt:lpstr>
      <vt:lpstr>Calibri</vt:lpstr>
      <vt:lpstr>Calibri Light</vt:lpstr>
      <vt:lpstr>Cambria Math</vt:lpstr>
      <vt:lpstr>Verdana</vt:lpstr>
      <vt:lpstr>Office 佈景主題</vt:lpstr>
      <vt:lpstr>PowerPoint 簡報</vt:lpstr>
      <vt:lpstr>Abstract</vt:lpstr>
      <vt:lpstr>PowerPoint 簡報</vt:lpstr>
      <vt:lpstr>Define LCSk</vt:lpstr>
      <vt:lpstr>PowerPoint 簡報</vt:lpstr>
      <vt:lpstr>Example</vt:lpstr>
      <vt:lpstr>PowerPoint 簡報</vt:lpstr>
      <vt:lpstr>The LCSk in O(n^2) time</vt:lpstr>
      <vt:lpstr>PowerPoint 簡報</vt:lpstr>
      <vt:lpstr>Preprocessing-1</vt:lpstr>
      <vt:lpstr>LCE</vt:lpstr>
      <vt:lpstr>Example</vt:lpstr>
      <vt:lpstr>Suffix tree</vt:lpstr>
      <vt:lpstr>Preprocessing-2</vt:lpstr>
      <vt:lpstr>PowerPoint 簡報</vt:lpstr>
      <vt:lpstr>PowerPoint 簡報</vt:lpstr>
      <vt:lpstr>PowerPoint 簡報</vt:lpstr>
      <vt:lpstr>PowerPoint 簡報</vt:lpstr>
      <vt:lpstr>PowerPoint 簡報</vt:lpstr>
      <vt:lpstr>Sparse dynamic programing-1</vt:lpstr>
      <vt:lpstr>PowerPoint 簡報</vt:lpstr>
      <vt:lpstr>LCSk-Sparse</vt:lpstr>
      <vt:lpstr>Initialization</vt:lpstr>
      <vt:lpstr>Step</vt:lpstr>
      <vt:lpstr>PowerPoint 簡報</vt:lpstr>
      <vt:lpstr>PowerPoint 簡報</vt:lpstr>
      <vt:lpstr>PowerPoint 簡報</vt:lpstr>
      <vt:lpstr>LCSk-Dense</vt:lpstr>
      <vt:lpstr>PowerPoint 簡報</vt:lpstr>
      <vt:lpstr>PowerPoint 簡報</vt:lpstr>
      <vt:lpstr>PowerPoint 簡報</vt:lpstr>
      <vt:lpstr>Tabulation-based algorithm</vt:lpstr>
      <vt:lpstr>PowerPoint 簡報</vt:lpstr>
      <vt:lpstr>PowerPoint 簡報</vt:lpstr>
      <vt:lpstr>PowerPoint 簡報</vt:lpstr>
      <vt:lpstr>Conclusions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</dc:creator>
  <cp:lastModifiedBy>HUGO</cp:lastModifiedBy>
  <cp:revision>35</cp:revision>
  <dcterms:created xsi:type="dcterms:W3CDTF">2014-07-21T12:11:53Z</dcterms:created>
  <dcterms:modified xsi:type="dcterms:W3CDTF">2014-07-22T05:38:34Z</dcterms:modified>
</cp:coreProperties>
</file>