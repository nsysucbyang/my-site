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6" r:id="rId2"/>
    <p:sldId id="264" r:id="rId3"/>
    <p:sldId id="265" r:id="rId4"/>
    <p:sldId id="275" r:id="rId5"/>
    <p:sldId id="266" r:id="rId6"/>
    <p:sldId id="274" r:id="rId7"/>
    <p:sldId id="276" r:id="rId8"/>
    <p:sldId id="277" r:id="rId9"/>
    <p:sldId id="278" r:id="rId10"/>
    <p:sldId id="279" r:id="rId11"/>
    <p:sldId id="268" r:id="rId12"/>
    <p:sldId id="280" r:id="rId13"/>
    <p:sldId id="281" r:id="rId14"/>
    <p:sldId id="282" r:id="rId15"/>
    <p:sldId id="283" r:id="rId16"/>
    <p:sldId id="284" r:id="rId17"/>
    <p:sldId id="285" r:id="rId18"/>
    <p:sldId id="291" r:id="rId19"/>
    <p:sldId id="292" r:id="rId20"/>
    <p:sldId id="286" r:id="rId21"/>
    <p:sldId id="271" r:id="rId22"/>
    <p:sldId id="272" r:id="rId23"/>
    <p:sldId id="287" r:id="rId24"/>
    <p:sldId id="293" r:id="rId25"/>
    <p:sldId id="294" r:id="rId26"/>
    <p:sldId id="295" r:id="rId27"/>
    <p:sldId id="296" r:id="rId28"/>
    <p:sldId id="297" r:id="rId29"/>
    <p:sldId id="288" r:id="rId30"/>
    <p:sldId id="289" r:id="rId31"/>
    <p:sldId id="290" r:id="rId32"/>
    <p:sldId id="299" r:id="rId33"/>
    <p:sldId id="298" r:id="rId34"/>
    <p:sldId id="300" r:id="rId35"/>
    <p:sldId id="273" r:id="rId36"/>
    <p:sldId id="263" r:id="rId37"/>
  </p:sldIdLst>
  <p:sldSz cx="9144000" cy="6858000" type="screen4x3"/>
  <p:notesSz cx="9947275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E9162-903A-4B5D-9A35-C07917148BD0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EA265-4AD1-4C62-A3C3-1BF281F50CE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482228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68EAB-B135-4EEF-83C8-3666596F7D3D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30588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8569B-E4B3-46F0-9A8B-708DB1F5994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1620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98569B-E4B3-46F0-9A8B-708DB1F5994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82940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98569B-E4B3-46F0-9A8B-708DB1F5994F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02904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B186-02A0-4450-9970-ED40EC526A14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2427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9AC-91B3-4130-8D51-EFC218A6CC15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4545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9E06-8B88-45F1-B8AA-255C9D1ADFE9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0046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53B5-40EC-4294-B95C-3AD3F53D7F69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4683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BF5B-B561-430E-B11C-CE171EE57257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8417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3D99A-D13E-4419-9D21-6BD25D94E8D2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3121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2187-015C-4076-BC7D-8B8472DB462F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3765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4867-80B7-4037-B782-09F5866CBD80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0285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F8678-41D7-4190-BB6C-A2189F8D28C0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2705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EFE2-BA0B-485F-8811-099F358FB97D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9188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38F9-1E1D-4358-9966-09F62BCC39F5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5232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66FDB-E141-4954-95B3-16E863400D05}" type="datetime1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6221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The </a:t>
            </a:r>
            <a:r>
              <a:rPr lang="en-US" altLang="zh-TW" sz="4000" dirty="0"/>
              <a:t>Department Score </a:t>
            </a:r>
            <a:r>
              <a:rPr lang="en-US" altLang="zh-TW" sz="4000" dirty="0" smtClean="0"/>
              <a:t>Prediction and </a:t>
            </a:r>
            <a:r>
              <a:rPr lang="en-US" altLang="zh-TW" sz="4000" dirty="0"/>
              <a:t>Analysis of the College Entrance Examination</a:t>
            </a:r>
            <a:endParaRPr lang="zh-TW" altLang="en-US" sz="4000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指導老師</a:t>
            </a:r>
            <a:r>
              <a:rPr lang="en-US" altLang="zh-TW" dirty="0" smtClean="0"/>
              <a:t>:</a:t>
            </a:r>
            <a:r>
              <a:rPr lang="zh-TW" altLang="en-US" dirty="0" smtClean="0"/>
              <a:t>楊昌彪</a:t>
            </a:r>
            <a:endParaRPr lang="en-US" altLang="zh-TW" dirty="0" smtClean="0"/>
          </a:p>
          <a:p>
            <a:r>
              <a:rPr lang="en-US" altLang="zh-TW" dirty="0" err="1" smtClean="0"/>
              <a:t>Presentator</a:t>
            </a:r>
            <a:r>
              <a:rPr lang="en-US" altLang="zh-TW" dirty="0" smtClean="0"/>
              <a:t> :</a:t>
            </a:r>
            <a:r>
              <a:rPr lang="en-US" altLang="zh-TW" dirty="0"/>
              <a:t>Chun-</a:t>
            </a:r>
            <a:r>
              <a:rPr lang="en-US" altLang="zh-TW" dirty="0" err="1"/>
              <a:t>Chieh</a:t>
            </a:r>
            <a:r>
              <a:rPr lang="en-US" altLang="zh-TW" dirty="0" smtClean="0"/>
              <a:t> Hsu</a:t>
            </a:r>
          </a:p>
          <a:p>
            <a:r>
              <a:rPr lang="en-US" altLang="zh-TW" dirty="0" smtClean="0"/>
              <a:t>Date: 2014/07/22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048813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Admission </a:t>
            </a:r>
            <a:r>
              <a:rPr lang="en-US" altLang="zh-TW" dirty="0" smtClean="0"/>
              <a:t>Way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Star recommendation (less than 15%)</a:t>
            </a:r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application for </a:t>
            </a:r>
            <a:r>
              <a:rPr lang="en-US" altLang="zh-TW" sz="2400" dirty="0" smtClean="0"/>
              <a:t>admission to </a:t>
            </a:r>
            <a:r>
              <a:rPr lang="en-US" altLang="zh-TW" sz="2400" dirty="0"/>
              <a:t>a school</a:t>
            </a:r>
            <a:r>
              <a:rPr lang="en-US" altLang="zh-TW" sz="2400" dirty="0" smtClean="0"/>
              <a:t>(less than 45%)</a:t>
            </a:r>
          </a:p>
          <a:p>
            <a:r>
              <a:rPr lang="en-US" altLang="zh-TW" sz="2400" dirty="0"/>
              <a:t>College Entrance Advanced Subjects </a:t>
            </a:r>
            <a:r>
              <a:rPr lang="en-US" altLang="zh-TW" sz="2400" dirty="0" smtClean="0"/>
              <a:t>Test (greater than 40%)</a:t>
            </a:r>
            <a:endParaRPr lang="en-US" altLang="zh-TW" sz="2400" dirty="0"/>
          </a:p>
          <a:p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428776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College Entrance </a:t>
            </a:r>
            <a:r>
              <a:rPr lang="en-US" altLang="zh-TW" dirty="0" smtClean="0"/>
              <a:t>Examination (CEE)</a:t>
            </a:r>
            <a:r>
              <a:rPr lang="zh-TW" altLang="en-US" dirty="0" smtClean="0"/>
              <a:t> </a:t>
            </a:r>
            <a:r>
              <a:rPr lang="en-US" altLang="zh-TW" dirty="0" smtClean="0"/>
              <a:t>Prediction System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/>
                  <a:t>College Entrance Advanced Subjects Test</a:t>
                </a:r>
              </a:p>
              <a:p>
                <a:pPr lvl="1"/>
                <a:r>
                  <a:rPr lang="en-US" altLang="zh-TW" sz="2000" dirty="0" smtClean="0"/>
                  <a:t>Minimum required test score</a:t>
                </a:r>
                <a:r>
                  <a:rPr lang="zh-TW" altLang="en-US" sz="2000" dirty="0" smtClean="0"/>
                  <a:t/>
                </a:r>
                <a:r>
                  <a:rPr lang="en-US" altLang="zh-TW" sz="2000" dirty="0" smtClean="0"/>
                  <a:t>(MRTS)</a:t>
                </a:r>
              </a:p>
              <a:p>
                <a:pPr lvl="1" algn="di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𝑀𝑅𝑇𝑆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𝑤𝑒𝑖𝑔h𝑡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sz="22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896750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Forward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We make two assumptions that the preferences of students to </a:t>
            </a:r>
            <a:r>
              <a:rPr lang="en-US" altLang="zh-TW" sz="2400" dirty="0" smtClean="0"/>
              <a:t>schools are </a:t>
            </a:r>
            <a:r>
              <a:rPr lang="en-US" altLang="zh-TW" sz="2400" dirty="0"/>
              <a:t>not changed in two consecutive years, and that a student has equal rank </a:t>
            </a:r>
            <a:r>
              <a:rPr lang="en-US" altLang="zh-TW" sz="2400" dirty="0" smtClean="0"/>
              <a:t>to all </a:t>
            </a:r>
            <a:r>
              <a:rPr lang="en-US" altLang="zh-TW" sz="2400" dirty="0"/>
              <a:t>subjects.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137358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20674"/>
            <a:ext cx="7886700" cy="1325563"/>
          </a:xfrm>
        </p:spPr>
        <p:txBody>
          <a:bodyPr/>
          <a:lstStyle/>
          <a:p>
            <a:r>
              <a:rPr lang="en-US" altLang="zh-TW" dirty="0"/>
              <a:t>The Forward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781572" cy="244157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 smtClean="0"/>
                  <a:t>Cumulative Score Table (CST)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𝑝𝑡𝑠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sz="20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𝑀𝑅𝑇𝑆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𝐺𝑝𝑒𝑟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𝑤𝑒𝑖𝑔h𝑡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sz="2400" dirty="0" smtClean="0">
                  <a:ea typeface="Cambria Math" panose="02040503050406030204" pitchFamily="18" charset="0"/>
                </a:endParaRPr>
              </a:p>
              <a:p>
                <a:endParaRPr lang="en-US" altLang="zh-TW" sz="24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781572" cy="2441575"/>
              </a:xfrm>
              <a:blipFill rotWithShape="0">
                <a:blip r:embed="rId2"/>
                <a:stretch>
                  <a:fillRect l="-1018" t="-34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5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89633506"/>
              </p:ext>
            </p:extLst>
          </p:nvPr>
        </p:nvGraphicFramePr>
        <p:xfrm>
          <a:off x="628650" y="4109157"/>
          <a:ext cx="7807681" cy="1106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789"/>
                <a:gridCol w="510243"/>
                <a:gridCol w="510243"/>
                <a:gridCol w="510243"/>
                <a:gridCol w="510243"/>
                <a:gridCol w="510243"/>
                <a:gridCol w="510243"/>
                <a:gridCol w="844789"/>
                <a:gridCol w="510243"/>
                <a:gridCol w="510243"/>
                <a:gridCol w="510243"/>
                <a:gridCol w="510243"/>
                <a:gridCol w="510243"/>
                <a:gridCol w="505430"/>
              </a:tblGrid>
              <a:tr h="392622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 smtClean="0">
                          <a:effectLst/>
                        </a:rPr>
                        <a:t>國文 </a:t>
                      </a:r>
                      <a:r>
                        <a:rPr lang="en-US" altLang="zh-TW" sz="1200" u="none" strike="noStrike" dirty="0" smtClean="0">
                          <a:effectLst/>
                        </a:rPr>
                        <a:t>(2012)</a:t>
                      </a:r>
                      <a:endParaRPr lang="zh-TW" altLang="en-US" sz="12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98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分數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 dirty="0">
                          <a:effectLst/>
                        </a:rPr>
                        <a:t>百分比</a:t>
                      </a:r>
                      <a:endParaRPr lang="zh-TW" altLang="en-US" sz="9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 dirty="0">
                          <a:effectLst/>
                        </a:rPr>
                        <a:t>自高分往低分累計</a:t>
                      </a:r>
                      <a:endParaRPr lang="zh-TW" altLang="en-US" sz="8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 dirty="0">
                          <a:effectLst/>
                        </a:rPr>
                        <a:t>自低分往高分累計</a:t>
                      </a:r>
                      <a:endParaRPr lang="zh-TW" altLang="en-US" sz="8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分數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>
                          <a:effectLst/>
                        </a:rPr>
                        <a:t>自高分往低分累計</a:t>
                      </a:r>
                      <a:endParaRPr lang="zh-TW" altLang="en-US" sz="8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>
                          <a:effectLst/>
                        </a:rPr>
                        <a:t>自低分往高分累計</a:t>
                      </a:r>
                      <a:endParaRPr lang="zh-TW" altLang="en-US" sz="8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2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</a:tr>
              <a:tr h="232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 dirty="0">
                          <a:effectLst/>
                        </a:rPr>
                        <a:t>百分比</a:t>
                      </a:r>
                      <a:endParaRPr lang="zh-TW" altLang="en-US" sz="9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67853417"/>
              </p:ext>
            </p:extLst>
          </p:nvPr>
        </p:nvGraphicFramePr>
        <p:xfrm>
          <a:off x="628656" y="5226754"/>
          <a:ext cx="7807672" cy="893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6152"/>
                <a:gridCol w="509614"/>
                <a:gridCol w="509614"/>
                <a:gridCol w="509614"/>
                <a:gridCol w="509614"/>
                <a:gridCol w="509614"/>
                <a:gridCol w="509614"/>
                <a:gridCol w="846152"/>
                <a:gridCol w="509614"/>
                <a:gridCol w="509614"/>
                <a:gridCol w="509614"/>
                <a:gridCol w="509614"/>
                <a:gridCol w="509614"/>
                <a:gridCol w="509614"/>
              </a:tblGrid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</a:rPr>
                        <a:t>73.00 - 73.99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1175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1.87%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7806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12.40%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56336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89.47%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22.00 - 22.99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72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0.11%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62473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99.22%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566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0.90%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</a:rPr>
                        <a:t>72.00 - 72.99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1329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2.11%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9135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14.51%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55161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87.60%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21.00 - 21.99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78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0.12%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62551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99.34%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494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0.78%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71.00 - 71.99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1478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2.35%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10613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16.85%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53832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85.49%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20.00 - 20.99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0.11%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62619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99.45%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416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0.66%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70.00 - 70.99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1463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2.32%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12076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19.18%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52354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83.15%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19.00 - 19.99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0.09%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62677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99.54%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348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0.55%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2562578" y="4446588"/>
            <a:ext cx="970844" cy="1671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28650" y="4446588"/>
            <a:ext cx="874888" cy="1671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822442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Forward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𝑀𝑅𝑇𝑆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𝑆𝑈𝐵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𝐺𝑝𝑒𝑟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𝑤𝑒𝑖𝑔h𝑡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5047971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Method with School Ranking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9320687"/>
                  </p:ext>
                </p:extLst>
              </p:nvPr>
            </p:nvGraphicFramePr>
            <p:xfrm>
              <a:off x="866619" y="2952751"/>
              <a:ext cx="7410761" cy="36746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848"/>
                    <a:gridCol w="1198782"/>
                    <a:gridCol w="995815"/>
                    <a:gridCol w="995815"/>
                    <a:gridCol w="995815"/>
                    <a:gridCol w="435746"/>
                    <a:gridCol w="977835"/>
                    <a:gridCol w="1018105"/>
                  </a:tblGrid>
                  <a:tr h="551729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School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Dept.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𝒑𝒆𝒐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TW" sz="14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chi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𝒑𝒆𝒐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TW" sz="14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chi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𝒑𝒆𝒐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TW" sz="14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chi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sz="14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𝒑𝒆𝒐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TW" sz="14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chi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𝑮𝒑𝒆𝒓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TW" sz="14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027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  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135417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Cheng Kung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Medical Laboratory Science and Biotechnology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36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36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36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17.23%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9861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Sun </a:t>
                          </a:r>
                        </a:p>
                        <a:p>
                          <a:r>
                            <a:rPr lang="en-US" altLang="zh-TW" sz="1400" dirty="0" err="1" smtClean="0">
                              <a:solidFill>
                                <a:schemeClr val="tx1"/>
                              </a:solidFill>
                            </a:rPr>
                            <a:t>Yat-sen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Computer</a:t>
                          </a:r>
                        </a:p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Science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17.28%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958797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Sun</a:t>
                          </a:r>
                        </a:p>
                        <a:p>
                          <a:r>
                            <a:rPr lang="en-US" altLang="zh-TW" sz="1400" dirty="0" err="1" smtClean="0">
                              <a:solidFill>
                                <a:schemeClr val="tx1"/>
                              </a:solidFill>
                            </a:rPr>
                            <a:t>Yat-sen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Grime Prevention and Corrections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17.29%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799320687"/>
                  </p:ext>
                </p:extLst>
              </p:nvPr>
            </p:nvGraphicFramePr>
            <p:xfrm>
              <a:off x="866619" y="2952751"/>
              <a:ext cx="7410761" cy="36746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848"/>
                    <a:gridCol w="1198782"/>
                    <a:gridCol w="995815"/>
                    <a:gridCol w="995815"/>
                    <a:gridCol w="995815"/>
                    <a:gridCol w="435746"/>
                    <a:gridCol w="977835"/>
                    <a:gridCol w="1018105"/>
                  </a:tblGrid>
                  <a:tr h="551729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School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Dept.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227" t="-1099" r="-446626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99390" t="-1099" r="-343902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840" t="-1099" r="-246012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sz="14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52174" t="-1099" r="-104969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628743" t="-1099" r="-1198" b="-571429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  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1582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Cheng Kung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Medical Laboratory Science and Biotechnology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36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36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36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17.23%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Sun </a:t>
                          </a:r>
                        </a:p>
                        <a:p>
                          <a:r>
                            <a:rPr lang="en-US" altLang="zh-TW" sz="1400" dirty="0" err="1" smtClean="0">
                              <a:solidFill>
                                <a:schemeClr val="tx1"/>
                              </a:solidFill>
                            </a:rPr>
                            <a:t>Yat-sen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Computer</a:t>
                          </a:r>
                        </a:p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Science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17.28%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958797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Sun</a:t>
                          </a:r>
                        </a:p>
                        <a:p>
                          <a:r>
                            <a:rPr lang="en-US" altLang="zh-TW" sz="1400" dirty="0" err="1" smtClean="0">
                              <a:solidFill>
                                <a:schemeClr val="tx1"/>
                              </a:solidFill>
                            </a:rPr>
                            <a:t>Yat-sen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Grime Prevention and Corrections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21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17.29%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1557542" y="1902563"/>
                <a:ext cx="5646418" cy="853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𝑡𝑐𝑝𝑒𝑜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𝐺𝑝𝑒𝑟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𝐺𝑝𝑒𝑟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𝐺𝑝𝑒𝑟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𝑝𝑒𝑜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542" y="1902563"/>
                <a:ext cx="5646418" cy="85350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56657606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Method with School Ranking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07302"/>
                <a:ext cx="7886700" cy="1996347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 smtClean="0"/>
                  <a:t>Transform </a:t>
                </a:r>
                <a:r>
                  <a:rPr lang="en-US" altLang="zh-TW" sz="2400" dirty="0"/>
                  <a:t>a high-to-low cumulative percentage into </a:t>
                </a:r>
                <a:r>
                  <a:rPr lang="en-US" altLang="zh-TW" sz="2400" dirty="0" smtClean="0"/>
                  <a:t>its corresponding </a:t>
                </a:r>
                <a:r>
                  <a:rPr lang="en-US" altLang="zh-TW" sz="2400" dirty="0"/>
                  <a:t>number of high-to-low cumulative </a:t>
                </a:r>
                <a:r>
                  <a:rPr lang="en-US" altLang="zh-TW" sz="2400" dirty="0" smtClean="0"/>
                  <a:t>people.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𝑐𝑢𝑚𝑢𝑙𝑎𝑡𝑖𝑣𝑒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𝑝𝑒𝑜𝑝𝑙𝑒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𝑐𝑝𝑒𝑜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07302"/>
                <a:ext cx="7886700" cy="1996347"/>
              </a:xfrm>
              <a:blipFill rotWithShape="0">
                <a:blip r:embed="rId2"/>
                <a:stretch>
                  <a:fillRect l="-1005" t="-42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97823203"/>
              </p:ext>
            </p:extLst>
          </p:nvPr>
        </p:nvGraphicFramePr>
        <p:xfrm>
          <a:off x="707669" y="4210756"/>
          <a:ext cx="7807681" cy="1106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789"/>
                <a:gridCol w="510243"/>
                <a:gridCol w="510243"/>
                <a:gridCol w="510243"/>
                <a:gridCol w="510243"/>
                <a:gridCol w="510243"/>
                <a:gridCol w="510243"/>
                <a:gridCol w="844789"/>
                <a:gridCol w="510243"/>
                <a:gridCol w="510243"/>
                <a:gridCol w="510243"/>
                <a:gridCol w="510243"/>
                <a:gridCol w="510243"/>
                <a:gridCol w="505430"/>
              </a:tblGrid>
              <a:tr h="392622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 smtClean="0">
                          <a:effectLst/>
                        </a:rPr>
                        <a:t>國文 </a:t>
                      </a:r>
                      <a:r>
                        <a:rPr lang="en-US" altLang="zh-TW" sz="1200" u="none" strike="noStrike" dirty="0" smtClean="0">
                          <a:effectLst/>
                        </a:rPr>
                        <a:t>(2012)</a:t>
                      </a:r>
                      <a:endParaRPr lang="zh-TW" altLang="en-US" sz="12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98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分數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 dirty="0">
                          <a:effectLst/>
                        </a:rPr>
                        <a:t>自高分往低分累計</a:t>
                      </a:r>
                      <a:endParaRPr lang="zh-TW" altLang="en-US" sz="8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 dirty="0">
                          <a:effectLst/>
                        </a:rPr>
                        <a:t>自低分往高分累計</a:t>
                      </a:r>
                      <a:endParaRPr lang="zh-TW" altLang="en-US" sz="8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分數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>
                          <a:effectLst/>
                        </a:rPr>
                        <a:t>自高分往低分累計</a:t>
                      </a:r>
                      <a:endParaRPr lang="zh-TW" altLang="en-US" sz="8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>
                          <a:effectLst/>
                        </a:rPr>
                        <a:t>自低分往高分累計</a:t>
                      </a:r>
                      <a:endParaRPr lang="zh-TW" altLang="en-US" sz="8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2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累計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</a:tr>
              <a:tr h="232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百分比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>
                          <a:effectLst/>
                        </a:rPr>
                        <a:t>人數</a:t>
                      </a:r>
                      <a:endParaRPr lang="zh-TW" altLang="en-US" sz="9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 dirty="0">
                          <a:effectLst/>
                        </a:rPr>
                        <a:t>百分比</a:t>
                      </a:r>
                      <a:endParaRPr lang="zh-TW" altLang="en-US" sz="9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285" marR="7285" marT="7285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21681465"/>
              </p:ext>
            </p:extLst>
          </p:nvPr>
        </p:nvGraphicFramePr>
        <p:xfrm>
          <a:off x="707675" y="5328353"/>
          <a:ext cx="7807672" cy="893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6152"/>
                <a:gridCol w="509614"/>
                <a:gridCol w="509614"/>
                <a:gridCol w="509614"/>
                <a:gridCol w="509614"/>
                <a:gridCol w="509614"/>
                <a:gridCol w="509614"/>
                <a:gridCol w="846152"/>
                <a:gridCol w="509614"/>
                <a:gridCol w="509614"/>
                <a:gridCol w="509614"/>
                <a:gridCol w="509614"/>
                <a:gridCol w="509614"/>
                <a:gridCol w="509614"/>
              </a:tblGrid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</a:rPr>
                        <a:t>73.00 - 73.99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1175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1.87%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7806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12.40%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56336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89.47%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22.00 - 22.99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72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0.11%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62473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99.22%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566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0.90%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</a:rPr>
                        <a:t>72.00 - 72.99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1329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2.11%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9135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14.51%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55161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87.60%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21.00 - 21.99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78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0.12%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62551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99.34%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494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0.78%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71.00 - 71.99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1478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2.35%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10613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16.85%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53832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85.49%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20.00 - 20.99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0.11%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62619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99.45%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416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0.66%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  <a:tr h="2232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70.00 - 70.99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1463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2.32%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12076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19.18%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52354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83.15%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>
                          <a:effectLst/>
                        </a:rPr>
                        <a:t>19.00 - 19.99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58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0.09%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62677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99.54%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>
                          <a:effectLst/>
                        </a:rPr>
                        <a:t>348</a:t>
                      </a:r>
                      <a:endParaRPr lang="en-US" altLang="zh-TW" sz="9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900" u="none" strike="noStrike" dirty="0">
                          <a:effectLst/>
                        </a:rPr>
                        <a:t>0.55%</a:t>
                      </a:r>
                      <a:endParaRPr lang="en-US" altLang="zh-TW" sz="9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285" marR="7285" marT="7285" marB="0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607734" y="4548189"/>
            <a:ext cx="970844" cy="1671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607515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Method with School Ranking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zh-TW" sz="24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𝑐𝑝𝑒𝑜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−1(</m:t>
                            </m: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𝑡𝑐𝑝𝑒𝑜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−1(</m:t>
                            </m: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𝑐𝑝𝑒𝑜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𝑡𝑐𝑝𝑒𝑜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sz="2400" dirty="0" smtClean="0"/>
              </a:p>
              <a:p>
                <a:endParaRPr lang="en-US" altLang="zh-TW" sz="24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𝑀𝑅𝑇𝑆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𝐺𝑝𝑒𝑟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𝑤𝑒𝑖𝑔h𝑡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8002301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Lin’s 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/>
                  <a:t>The five indices (</a:t>
                </a:r>
                <a:r>
                  <a:rPr lang="zh-TW" altLang="en-US" sz="2400" dirty="0" smtClean="0"/>
                  <a:t>五標</a:t>
                </a:r>
                <a:r>
                  <a:rPr lang="en-US" altLang="zh-TW" sz="2400" dirty="0" smtClean="0"/>
                  <a:t>)</a:t>
                </a:r>
                <a:r>
                  <a:rPr lang="zh-TW" altLang="en-US" sz="2400" dirty="0" smtClean="0"/>
                  <a:t/>
                </a:r>
                <a:r>
                  <a:rPr lang="en-US" altLang="zh-TW" sz="2400" dirty="0" smtClean="0"/>
                  <a:t>are used to compute the predicted mean and the predicted variance.</a:t>
                </a:r>
              </a:p>
              <a:p>
                <a:pPr lvl="1"/>
                <a:r>
                  <a:rPr lang="zh-TW" altLang="en-US" sz="2000" dirty="0" smtClean="0"/>
                  <a:t>頂標</a:t>
                </a:r>
                <a:r>
                  <a:rPr lang="en-US" altLang="zh-TW" sz="2000" dirty="0" smtClean="0"/>
                  <a:t>(88%)</a:t>
                </a:r>
                <a:r>
                  <a:rPr lang="zh-TW" altLang="en-US" sz="2000" dirty="0" smtClean="0"/>
                  <a:t>，前標</a:t>
                </a:r>
                <a:r>
                  <a:rPr lang="en-US" altLang="zh-TW" sz="2000" dirty="0" smtClean="0"/>
                  <a:t>(75%)</a:t>
                </a:r>
                <a:r>
                  <a:rPr lang="zh-TW" altLang="en-US" sz="2000" dirty="0" smtClean="0"/>
                  <a:t>，均標</a:t>
                </a:r>
                <a:r>
                  <a:rPr lang="en-US" altLang="zh-TW" sz="2000" dirty="0" smtClean="0"/>
                  <a:t>(50%)</a:t>
                </a:r>
                <a:r>
                  <a:rPr lang="zh-TW" altLang="en-US" sz="2000" dirty="0" smtClean="0"/>
                  <a:t>，後標</a:t>
                </a:r>
                <a:r>
                  <a:rPr lang="en-US" altLang="zh-TW" sz="2000" dirty="0" smtClean="0"/>
                  <a:t>(25%)</a:t>
                </a:r>
                <a:r>
                  <a:rPr lang="zh-TW" altLang="en-US" sz="2000" dirty="0" smtClean="0"/>
                  <a:t>，底標</a:t>
                </a:r>
                <a:r>
                  <a:rPr lang="en-US" altLang="zh-TW" sz="2000" dirty="0" smtClean="0"/>
                  <a:t>(12</a:t>
                </a:r>
                <a:r>
                  <a:rPr lang="en-US" altLang="zh-TW" sz="2000" dirty="0" smtClean="0"/>
                  <a:t>%)</a:t>
                </a:r>
                <a:endParaRPr lang="en-US" altLang="zh-TW" sz="200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=12%,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altLang="zh-TW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…,</m:t>
                    </m:r>
                  </m:oMath>
                </a14:m>
                <a:r>
                  <a:rPr lang="en-US" altLang="zh-TW" sz="2400" dirty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88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zh-TW" sz="2400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TW" sz="2400" b="0" i="0" baseline="-25000" smtClean="0">
                        <a:latin typeface="Cambria Math" panose="02040503050406030204" pitchFamily="18" charset="0"/>
                      </a:rPr>
                      <m:t>pi</m:t>
                    </m:r>
                  </m:oMath>
                </a14:m>
                <a:endParaRPr lang="en-US" altLang="zh-TW" sz="2400" baseline="-250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724470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Lin’s 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/>
                  <a:t>Four Prediction Indices: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,</a:t>
                </a:r>
                <a:r>
                  <a:rPr lang="en-US" altLang="zh-TW" sz="2400" dirty="0"/>
                  <a:t/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,</a:t>
                </a:r>
                <a:r>
                  <a:rPr lang="en-US" altLang="zh-TW" sz="2400" dirty="0"/>
                  <a:t/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𝑆𝑈𝐵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𝑆𝑈𝐵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altLang="zh-TW" dirty="0" smtClean="0"/>
              </a:p>
              <a:p>
                <a:pPr lvl="2"/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6329485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Lin’s 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/>
                  <a:t>Lin applied the simple linear regression to compute </a:t>
                </a:r>
                <a:r>
                  <a:rPr lang="en-US" altLang="zh-TW" sz="2400" dirty="0"/>
                  <a:t>the correlation coefficient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 smtClean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 smtClean="0"/>
                  <a:t>,  denoted </a:t>
                </a:r>
                <a:r>
                  <a:rPr lang="en-US" altLang="zh-TW" sz="2400" dirty="0"/>
                  <a:t>as </a:t>
                </a:r>
                <a:r>
                  <a:rPr lang="en-US" altLang="zh-TW" sz="2400" dirty="0" smtClean="0"/>
                  <a:t>R(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 smtClean="0"/>
                  <a:t>,</a:t>
                </a:r>
                <a:r>
                  <a:rPr lang="en-US" altLang="zh-TW" sz="2400" dirty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 smtClean="0"/>
                  <a:t/>
                </a:r>
                <a:r>
                  <a:rPr lang="en-US" altLang="zh-TW" sz="2400" dirty="0" smtClean="0"/>
                  <a:t>).</a:t>
                </a:r>
              </a:p>
              <a:p>
                <a:endParaRPr lang="en-US" altLang="zh-TW" sz="2400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sz="2400" dirty="0" smtClean="0"/>
                  <a:t>Prediction: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12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9878514"/>
                  </p:ext>
                </p:extLst>
              </p:nvPr>
            </p:nvGraphicFramePr>
            <p:xfrm>
              <a:off x="1273084" y="3204340"/>
              <a:ext cx="6096000" cy="15132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9200"/>
                    <a:gridCol w="1219200"/>
                    <a:gridCol w="1219200"/>
                    <a:gridCol w="1219200"/>
                    <a:gridCol w="1219200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  <m:sup>
                                    <m:r>
                                      <a:rPr lang="en-US" altLang="zh-TW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n=2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j=2004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0.9909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0.9912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j=2005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0.9939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j=2006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0.9808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2809878514"/>
                  </p:ext>
                </p:extLst>
              </p:nvPr>
            </p:nvGraphicFramePr>
            <p:xfrm>
              <a:off x="1273084" y="3204340"/>
              <a:ext cx="6096000" cy="15132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9200"/>
                    <a:gridCol w="1219200"/>
                    <a:gridCol w="1219200"/>
                    <a:gridCol w="1219200"/>
                    <a:gridCol w="1219200"/>
                  </a:tblGrid>
                  <a:tr h="40068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00" t="-7576" r="-4015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n=2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n=4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j=2004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0.9909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0.9912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j=2005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0.9939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j=2006</a:t>
                          </a:r>
                          <a:endParaRPr lang="zh-TW" altLang="en-US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0.9883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0.9808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xmlns="" val="21344267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Fuzzy sets were introduced by </a:t>
            </a:r>
            <a:r>
              <a:rPr lang="en-US" altLang="zh-TW" sz="2400" dirty="0" err="1"/>
              <a:t>Zadeh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in </a:t>
            </a:r>
            <a:r>
              <a:rPr lang="en-US" altLang="zh-TW" sz="2400" dirty="0"/>
              <a:t>1965. Since then, fuzzy </a:t>
            </a:r>
            <a:r>
              <a:rPr lang="en-US" altLang="zh-TW" sz="2400" dirty="0" smtClean="0"/>
              <a:t>sets have </a:t>
            </a:r>
            <a:r>
              <a:rPr lang="en-US" altLang="zh-TW" sz="2400" dirty="0"/>
              <a:t>largely been applied in several areas including industry, </a:t>
            </a:r>
            <a:r>
              <a:rPr lang="en-US" altLang="zh-TW" sz="2400" dirty="0" smtClean="0"/>
              <a:t>financial, meteorology, etc.</a:t>
            </a:r>
          </a:p>
          <a:p>
            <a:r>
              <a:rPr lang="en-US" altLang="zh-TW" sz="2400" dirty="0" smtClean="0"/>
              <a:t>Until 1993, </a:t>
            </a:r>
            <a:r>
              <a:rPr lang="en-US" altLang="zh-TW" sz="2400" dirty="0"/>
              <a:t>Song and </a:t>
            </a:r>
            <a:r>
              <a:rPr lang="en-US" altLang="zh-TW" sz="2400" dirty="0" err="1" smtClean="0"/>
              <a:t>Chissom</a:t>
            </a:r>
            <a:r>
              <a:rPr lang="en-US" altLang="zh-TW" sz="2400" dirty="0" smtClean="0"/>
              <a:t> proposed a fuzzy time series.</a:t>
            </a:r>
          </a:p>
          <a:p>
            <a:pPr lvl="1"/>
            <a:r>
              <a:rPr lang="en-US" altLang="zh-TW" sz="2000" dirty="0"/>
              <a:t>Forecasting enrollments with fuzzy time </a:t>
            </a:r>
            <a:r>
              <a:rPr lang="en-US" altLang="zh-TW" sz="2000" dirty="0" smtClean="0"/>
              <a:t>series part 1</a:t>
            </a:r>
          </a:p>
          <a:p>
            <a:pPr lvl="1"/>
            <a:r>
              <a:rPr lang="en-US" altLang="zh-TW" sz="2000" dirty="0"/>
              <a:t>Forecasting enrollments with fuzzy time </a:t>
            </a:r>
            <a:r>
              <a:rPr lang="en-US" altLang="zh-TW" sz="2000" dirty="0" smtClean="0"/>
              <a:t>series part 2</a:t>
            </a:r>
          </a:p>
          <a:p>
            <a:r>
              <a:rPr lang="en-US" altLang="zh-TW" sz="2400" dirty="0" err="1" smtClean="0"/>
              <a:t>Sah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constructed an enrolment prediction model based on </a:t>
            </a:r>
            <a:r>
              <a:rPr lang="en-US" altLang="zh-TW" sz="2400" dirty="0" smtClean="0"/>
              <a:t>first-order fuzzy </a:t>
            </a:r>
            <a:r>
              <a:rPr lang="en-US" altLang="zh-TW" sz="2400" dirty="0"/>
              <a:t>time series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 err="1"/>
              <a:t>Haneen</a:t>
            </a:r>
            <a:r>
              <a:rPr lang="en-US" altLang="zh-TW" sz="2400" dirty="0"/>
              <a:t> et. al </a:t>
            </a:r>
            <a:r>
              <a:rPr lang="en-US" altLang="zh-TW" sz="2400" dirty="0" smtClean="0"/>
              <a:t>forecasted </a:t>
            </a:r>
            <a:r>
              <a:rPr lang="en-US" altLang="zh-TW" sz="2400" dirty="0"/>
              <a:t>the enrolments of students by </a:t>
            </a:r>
            <a:r>
              <a:rPr lang="en-US" altLang="zh-TW" sz="2400" dirty="0" smtClean="0"/>
              <a:t>using genetic </a:t>
            </a:r>
            <a:r>
              <a:rPr lang="en-US" altLang="zh-TW" sz="2400" dirty="0"/>
              <a:t>algorithms and fuzzy time series.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126745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 smtClean="0"/>
                  <a:t>Fuzzy </a:t>
                </a:r>
                <a:r>
                  <a:rPr lang="en-US" altLang="zh-TW" sz="2400" dirty="0"/>
                  <a:t>time series contains linguistic terms represented by fuzzy sets</a:t>
                </a:r>
                <a:r>
                  <a:rPr lang="en-US" altLang="zh-TW" sz="2400" dirty="0" smtClean="0"/>
                  <a:t>.</a:t>
                </a:r>
              </a:p>
              <a:p>
                <a:r>
                  <a:rPr lang="en-US" altLang="zh-TW" sz="2400" dirty="0" smtClean="0"/>
                  <a:t>Question: how </a:t>
                </a:r>
                <a:r>
                  <a:rPr lang="en-US" altLang="zh-TW" sz="2400" dirty="0"/>
                  <a:t>is the weather </a:t>
                </a:r>
                <a:r>
                  <a:rPr lang="en-US" altLang="zh-TW" sz="2400" dirty="0" smtClean="0"/>
                  <a:t>today?</a:t>
                </a:r>
              </a:p>
              <a:p>
                <a:r>
                  <a:rPr lang="en-US" altLang="zh-TW" sz="2400" dirty="0" smtClean="0"/>
                  <a:t>Answers: cold, warm, hot, etc.</a:t>
                </a:r>
              </a:p>
              <a:p>
                <a:endParaRPr lang="en-US" altLang="zh-TW" sz="2400" dirty="0"/>
              </a:p>
              <a:p>
                <a:endParaRPr lang="en-US" altLang="zh-TW" sz="2400" dirty="0" smtClean="0"/>
              </a:p>
              <a:p>
                <a:endParaRPr lang="en-US" altLang="zh-TW" sz="24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zh-TW" sz="2400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)∘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14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33758877"/>
              </p:ext>
            </p:extLst>
          </p:nvPr>
        </p:nvGraphicFramePr>
        <p:xfrm>
          <a:off x="1255321" y="3572854"/>
          <a:ext cx="6637872" cy="1178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312"/>
                <a:gridCol w="1106312"/>
                <a:gridCol w="1106312"/>
                <a:gridCol w="1106312"/>
                <a:gridCol w="1106312"/>
                <a:gridCol w="1106312"/>
              </a:tblGrid>
              <a:tr h="342024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Day 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Day 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Day 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Day 31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131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Linguistic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Hot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Warm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Cold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131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Fuzzy set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(t=1)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W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(t=2)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(t=30)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641440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5533405" cy="4392295"/>
              </a:xfrm>
            </p:spPr>
            <p:txBody>
              <a:bodyPr/>
              <a:lstStyle/>
              <a:p>
                <a:r>
                  <a:rPr lang="en-US" altLang="zh-TW" sz="2400" dirty="0" smtClean="0"/>
                  <a:t>U=[-0.6, 0.6]</a:t>
                </a:r>
              </a:p>
              <a:p>
                <a:pPr lvl="1"/>
                <a:r>
                  <a:rPr lang="en-US" altLang="zh-TW" sz="2000" dirty="0" smtClean="0"/>
                  <a:t>u</a:t>
                </a:r>
                <a:r>
                  <a:rPr lang="en-US" altLang="zh-TW" sz="2000" baseline="-25000" dirty="0" smtClean="0"/>
                  <a:t>1</a:t>
                </a:r>
                <a:r>
                  <a:rPr lang="en-US" altLang="zh-TW" sz="2000" dirty="0" smtClean="0"/>
                  <a:t>=[-0.6</a:t>
                </a:r>
                <a:r>
                  <a:rPr lang="en-US" altLang="zh-TW" sz="2000" dirty="0" smtClean="0"/>
                  <a:t>,-0.36], </a:t>
                </a:r>
                <a:r>
                  <a:rPr lang="en-US" altLang="zh-TW" sz="2000" dirty="0" smtClean="0"/>
                  <a:t>u</a:t>
                </a:r>
                <a:r>
                  <a:rPr lang="en-US" altLang="zh-TW" sz="2000" baseline="-25000" dirty="0" smtClean="0"/>
                  <a:t>2</a:t>
                </a:r>
                <a:r>
                  <a:rPr lang="en-US" altLang="zh-TW" sz="2000" dirty="0" smtClean="0"/>
                  <a:t>=[-</a:t>
                </a:r>
                <a:r>
                  <a:rPr lang="en-US" altLang="zh-TW" sz="2000" dirty="0" smtClean="0"/>
                  <a:t>0.36,-0.12], </a:t>
                </a:r>
              </a:p>
              <a:p>
                <a:pPr marL="457200" lvl="1" indent="0">
                  <a:buNone/>
                </a:pPr>
                <a:r>
                  <a:rPr lang="en-US" altLang="zh-TW" sz="2000" dirty="0"/>
                  <a:t/>
                </a:r>
                <a:r>
                  <a:rPr lang="en-US" altLang="zh-TW" sz="2000" dirty="0" smtClean="0"/>
                  <a:t/>
                </a:r>
                <a:r>
                  <a:rPr lang="en-US" altLang="zh-TW" sz="2000" dirty="0" smtClean="0"/>
                  <a:t>u</a:t>
                </a:r>
                <a:r>
                  <a:rPr lang="en-US" altLang="zh-TW" sz="2000" baseline="-25000" dirty="0" smtClean="0"/>
                  <a:t>3</a:t>
                </a:r>
                <a:r>
                  <a:rPr lang="en-US" altLang="zh-TW" sz="2000" dirty="0" smtClean="0"/>
                  <a:t>=[-</a:t>
                </a:r>
                <a:r>
                  <a:rPr lang="en-US" altLang="zh-TW" sz="2000" dirty="0"/>
                  <a:t>0.12,0.12], </a:t>
                </a:r>
                <a:r>
                  <a:rPr lang="en-US" altLang="zh-TW" sz="2000" dirty="0" smtClean="0"/>
                  <a:t>u</a:t>
                </a:r>
                <a:r>
                  <a:rPr lang="en-US" altLang="zh-TW" sz="2000" baseline="-25000" dirty="0" smtClean="0"/>
                  <a:t>4</a:t>
                </a:r>
                <a:r>
                  <a:rPr lang="en-US" altLang="zh-TW" sz="2000" dirty="0" smtClean="0"/>
                  <a:t>=[0.12,0.36],u</a:t>
                </a:r>
                <a:r>
                  <a:rPr lang="en-US" altLang="zh-TW" sz="2000" baseline="-25000" dirty="0" smtClean="0"/>
                  <a:t>5</a:t>
                </a:r>
                <a:r>
                  <a:rPr lang="en-US" altLang="zh-TW" sz="2000" dirty="0" smtClean="0"/>
                  <a:t>=[0.36,0.6]</a:t>
                </a:r>
                <a:endParaRPr lang="en-US" altLang="zh-TW" sz="2000" dirty="0"/>
              </a:p>
              <a:p>
                <a:r>
                  <a:rPr lang="en-US" altLang="zh-TW" sz="2400" dirty="0" smtClean="0"/>
                  <a:t>A</a:t>
                </a:r>
                <a:r>
                  <a:rPr lang="en-US" altLang="zh-TW" sz="2400" baseline="-25000" dirty="0" smtClean="0"/>
                  <a:t>1</a:t>
                </a:r>
                <a:r>
                  <a:rPr lang="en-US" altLang="zh-TW" sz="2400" dirty="0" smtClean="0"/>
                  <a:t/>
                </a:r>
                <a:r>
                  <a:rPr lang="en-US" altLang="zh-TW" sz="2400" dirty="0"/>
                  <a:t>(decreasing), </a:t>
                </a:r>
                <a:r>
                  <a:rPr lang="en-US" altLang="zh-TW" sz="2400" dirty="0" smtClean="0"/>
                  <a:t>A</a:t>
                </a:r>
                <a:r>
                  <a:rPr lang="en-US" altLang="zh-TW" sz="2400" baseline="-25000" dirty="0" smtClean="0"/>
                  <a:t>2</a:t>
                </a:r>
                <a:r>
                  <a:rPr lang="en-US" altLang="zh-TW" sz="2400" dirty="0"/>
                  <a:t>(increasing) </a:t>
                </a:r>
                <a:endParaRPr lang="en-US" altLang="zh-TW" sz="24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−0.3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altLang="zh-TW" sz="2400" dirty="0"/>
                      <m:t>decreasing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f>
                      <m:fPr>
                        <m:type m:val="lin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sz="24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altLang="zh-TW" sz="2400" dirty="0"/>
                      <m:t>increasing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sz="2400" dirty="0"/>
              </a:p>
              <a:p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5533405" cy="4392295"/>
              </a:xfrm>
              <a:blipFill rotWithShape="0">
                <a:blip r:embed="rId2"/>
                <a:stretch>
                  <a:fillRect l="-1432" t="-19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517762"/>
                  </p:ext>
                </p:extLst>
              </p:nvPr>
            </p:nvGraphicFramePr>
            <p:xfrm>
              <a:off x="5893692" y="3239398"/>
              <a:ext cx="3250308" cy="31134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577"/>
                    <a:gridCol w="812577"/>
                    <a:gridCol w="812577"/>
                    <a:gridCol w="812577"/>
                  </a:tblGrid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years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𝑮𝒑𝒆𝒓</m:t>
                                    </m:r>
                                  </m:e>
                                  <m:sub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variations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Fuzzy sets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j+2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14.2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j+4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-0.4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j+7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2124517762"/>
                  </p:ext>
                </p:extLst>
              </p:nvPr>
            </p:nvGraphicFramePr>
            <p:xfrm>
              <a:off x="5893692" y="3239398"/>
              <a:ext cx="3250308" cy="34028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577"/>
                    <a:gridCol w="812577"/>
                    <a:gridCol w="812577"/>
                    <a:gridCol w="812577"/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years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1504" t="-1176" r="-203008" b="-50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variations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Fuzzy sets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2256" t="-264151" r="-2256" b="-615094"/>
                          </a:stretch>
                        </a:blipFill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j+2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14.2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2256" t="-364151" r="-2256" b="-515094"/>
                          </a:stretch>
                        </a:blipFill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2256" t="-455556" r="-2256" b="-405556"/>
                          </a:stretch>
                        </a:blipFill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j+4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2256" t="-566038" r="-2256" b="-313208"/>
                          </a:stretch>
                        </a:blipFill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14.1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-0.4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2256" t="-666038" r="-2256" b="-213208"/>
                          </a:stretch>
                        </a:blipFill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2256" t="-751852" r="-2256" b="-109259"/>
                          </a:stretch>
                        </a:blipFill>
                      </a:tcPr>
                    </a:tc>
                  </a:tr>
                  <a:tr h="324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j+7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14.3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 smtClean="0">
                              <a:solidFill>
                                <a:schemeClr val="tx1"/>
                              </a:solidFill>
                            </a:rPr>
                            <a:t>-0.3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2256" t="-867925" r="-2256" b="-1132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xmlns="" val="29338363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8" y="1825625"/>
            <a:ext cx="7886701" cy="1775531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Combine fuzzy </a:t>
            </a:r>
            <a:r>
              <a:rPr lang="en-US" altLang="zh-TW" dirty="0"/>
              <a:t>relationships (FR) into FR groups and obtain logical relationships from </a:t>
            </a:r>
            <a:r>
              <a:rPr lang="en-US" altLang="zh-TW" dirty="0" smtClean="0"/>
              <a:t>each FR group.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046610"/>
                  </p:ext>
                </p:extLst>
              </p:nvPr>
            </p:nvGraphicFramePr>
            <p:xfrm>
              <a:off x="2730136" y="2894376"/>
              <a:ext cx="6048104" cy="32357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4926"/>
                    <a:gridCol w="1802675"/>
                    <a:gridCol w="2390503"/>
                  </a:tblGrid>
                  <a:tr h="2556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FR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FR groups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Logical relationships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+4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+4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+5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+4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+5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+4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+6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+6</m:t>
                                    </m:r>
                                  </m:sub>
                                </m:sSub>
                                <m:r>
                                  <a:rPr lang="en-US" altLang="zh-TW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+6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141046610"/>
                  </p:ext>
                </p:extLst>
              </p:nvPr>
            </p:nvGraphicFramePr>
            <p:xfrm>
              <a:off x="2730136" y="2894376"/>
              <a:ext cx="6048104" cy="32357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4926"/>
                    <a:gridCol w="1802675"/>
                    <a:gridCol w="2390503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FR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FR groups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Logical relationships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28" t="-82278" r="-22655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3378" t="-82278" r="-133446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53571" t="-82278" r="-765" b="-500000"/>
                          </a:stretch>
                        </a:blipFill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28" t="-184615" r="-226557" b="-406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3378" t="-184615" r="-133446" b="-406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53571" t="-184615" r="-765" b="-406410"/>
                          </a:stretch>
                        </a:blipFill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28" t="-281013" r="-226557" b="-30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3378" t="-281013" r="-133446" b="-30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53571" t="-281013" r="-765" b="-301266"/>
                          </a:stretch>
                        </a:blipFill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28" t="-381013" r="-226557" b="-20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3378" t="-381013" r="-133446" b="-20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53571" t="-381013" r="-765" b="-201266"/>
                          </a:stretch>
                        </a:blipFill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28" t="-487179" r="-226557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3378" t="-487179" r="-133446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53571" t="-487179" r="-765" b="-103846"/>
                          </a:stretch>
                        </a:blipFill>
                      </a:tcPr>
                    </a:tc>
                  </a:tr>
                  <a:tr h="47833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28" t="-579747" r="-226557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3378" t="-579747" r="-133446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53571" t="-579747" r="-765" b="-253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3295823"/>
                  </p:ext>
                </p:extLst>
              </p:nvPr>
            </p:nvGraphicFramePr>
            <p:xfrm>
              <a:off x="274321" y="3252649"/>
              <a:ext cx="2377440" cy="2862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7440"/>
                  </a:tblGrid>
                  <a:tr h="4770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1673295823"/>
                  </p:ext>
                </p:extLst>
              </p:nvPr>
            </p:nvGraphicFramePr>
            <p:xfrm>
              <a:off x="274321" y="3252649"/>
              <a:ext cx="2377440" cy="2862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7440"/>
                  </a:tblGrid>
                  <a:tr h="47702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12" t="-1266" r="-512" b="-498734"/>
                          </a:stretch>
                        </a:blipFill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12" t="-102564" r="-512" b="-405128"/>
                          </a:stretch>
                        </a:blipFill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12" t="-200000" r="-512" b="-300000"/>
                          </a:stretch>
                        </a:blipFill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12" t="-303846" r="-512" b="-203846"/>
                          </a:stretch>
                        </a:blipFill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12" t="-398734" r="-512" b="-101266"/>
                          </a:stretch>
                        </a:blipFill>
                      </a:tcPr>
                    </a:tc>
                  </a:tr>
                  <a:tr h="47702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12" t="-505128" r="-512" b="-256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xmlns="" val="13207360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1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9105453"/>
              </p:ext>
            </p:extLst>
          </p:nvPr>
        </p:nvGraphicFramePr>
        <p:xfrm>
          <a:off x="1979557" y="4286948"/>
          <a:ext cx="2391720" cy="499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344"/>
                <a:gridCol w="478344"/>
                <a:gridCol w="478344"/>
                <a:gridCol w="478344"/>
                <a:gridCol w="478344"/>
              </a:tblGrid>
              <a:tr h="49984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26107539"/>
              </p:ext>
            </p:extLst>
          </p:nvPr>
        </p:nvGraphicFramePr>
        <p:xfrm>
          <a:off x="1028418" y="3223038"/>
          <a:ext cx="566307" cy="249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07"/>
              </a:tblGrid>
              <a:tr h="505099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880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5099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5099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5099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1576883" y="4352205"/>
                <a:ext cx="4026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83" y="4352205"/>
                <a:ext cx="40267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4458095" y="4352205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095" y="4352205"/>
                <a:ext cx="41069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08006296"/>
              </p:ext>
            </p:extLst>
          </p:nvPr>
        </p:nvGraphicFramePr>
        <p:xfrm>
          <a:off x="4968240" y="3189424"/>
          <a:ext cx="2609850" cy="2493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0"/>
                <a:gridCol w="521970"/>
                <a:gridCol w="521970"/>
                <a:gridCol w="521970"/>
                <a:gridCol w="521970"/>
              </a:tblGrid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318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307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0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21" name="矩形 20"/>
              <p:cNvSpPr/>
              <p:nvPr/>
            </p:nvSpPr>
            <p:spPr>
              <a:xfrm>
                <a:off x="855755" y="2697269"/>
                <a:ext cx="824648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55" y="2697269"/>
                <a:ext cx="824648" cy="391646"/>
              </a:xfrm>
              <a:prstGeom prst="rect">
                <a:avLst/>
              </a:prstGeom>
              <a:blipFill rotWithShape="0"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2" name="矩形 21"/>
              <p:cNvSpPr/>
              <p:nvPr/>
            </p:nvSpPr>
            <p:spPr>
              <a:xfrm>
                <a:off x="2611829" y="3410579"/>
                <a:ext cx="824648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829" y="3410579"/>
                <a:ext cx="824648" cy="391646"/>
              </a:xfrm>
              <a:prstGeom prst="rect">
                <a:avLst/>
              </a:prstGeom>
              <a:blipFill rotWithShape="0"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2280710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56417921"/>
              </p:ext>
            </p:extLst>
          </p:nvPr>
        </p:nvGraphicFramePr>
        <p:xfrm>
          <a:off x="200297" y="2588533"/>
          <a:ext cx="2609850" cy="2493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0"/>
                <a:gridCol w="521970"/>
                <a:gridCol w="521970"/>
                <a:gridCol w="521970"/>
                <a:gridCol w="521970"/>
              </a:tblGrid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318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307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0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753952" y="1931281"/>
                <a:ext cx="1679434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52" y="1931281"/>
                <a:ext cx="1679434" cy="391646"/>
              </a:xfrm>
              <a:prstGeom prst="rect">
                <a:avLst/>
              </a:prstGeom>
              <a:blipFill rotWithShape="0"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3827417" y="1955385"/>
                <a:ext cx="1684756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417" y="1955385"/>
                <a:ext cx="1684756" cy="391646"/>
              </a:xfrm>
              <a:prstGeom prst="rect">
                <a:avLst/>
              </a:prstGeom>
              <a:blipFill rotWithShape="0"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2820189" y="3654188"/>
                <a:ext cx="3946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189" y="3654188"/>
                <a:ext cx="394659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39397544"/>
              </p:ext>
            </p:extLst>
          </p:nvPr>
        </p:nvGraphicFramePr>
        <p:xfrm>
          <a:off x="3267100" y="2592077"/>
          <a:ext cx="2609850" cy="2493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0"/>
                <a:gridCol w="521970"/>
                <a:gridCol w="521970"/>
                <a:gridCol w="521970"/>
                <a:gridCol w="521970"/>
              </a:tblGrid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318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307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0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矩形 9"/>
              <p:cNvSpPr/>
              <p:nvPr/>
            </p:nvSpPr>
            <p:spPr>
              <a:xfrm>
                <a:off x="5843996" y="3654188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996" y="3654188"/>
                <a:ext cx="41069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04027577"/>
              </p:ext>
            </p:extLst>
          </p:nvPr>
        </p:nvGraphicFramePr>
        <p:xfrm>
          <a:off x="6246767" y="2592077"/>
          <a:ext cx="2609850" cy="2493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0"/>
                <a:gridCol w="521970"/>
                <a:gridCol w="521970"/>
                <a:gridCol w="521970"/>
                <a:gridCol w="521970"/>
              </a:tblGrid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318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307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0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1473674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29985763"/>
              </p:ext>
            </p:extLst>
          </p:nvPr>
        </p:nvGraphicFramePr>
        <p:xfrm>
          <a:off x="3273559" y="2296191"/>
          <a:ext cx="2609850" cy="2493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0"/>
                <a:gridCol w="521970"/>
                <a:gridCol w="521970"/>
                <a:gridCol w="521970"/>
                <a:gridCol w="521970"/>
              </a:tblGrid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318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307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0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0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975970" y="1690689"/>
                <a:ext cx="824649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970" y="1690689"/>
                <a:ext cx="824649" cy="391646"/>
              </a:xfrm>
              <a:prstGeom prst="rect">
                <a:avLst/>
              </a:prstGeom>
              <a:blipFill rotWithShape="0"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401102" y="2777795"/>
                <a:ext cx="19743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𝑑𝑒𝑐𝑟𝑒𝑎𝑠𝑖𝑛𝑔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02" y="2777795"/>
                <a:ext cx="1974387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83476860"/>
              </p:ext>
            </p:extLst>
          </p:nvPr>
        </p:nvGraphicFramePr>
        <p:xfrm>
          <a:off x="249780" y="3298731"/>
          <a:ext cx="2391720" cy="499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344"/>
                <a:gridCol w="478344"/>
                <a:gridCol w="478344"/>
                <a:gridCol w="478344"/>
                <a:gridCol w="478344"/>
              </a:tblGrid>
              <a:tr h="49984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矩形 8"/>
              <p:cNvSpPr/>
              <p:nvPr/>
            </p:nvSpPr>
            <p:spPr>
              <a:xfrm>
                <a:off x="2776647" y="3358302"/>
                <a:ext cx="3401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647" y="3358302"/>
                <a:ext cx="340158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矩形 9"/>
              <p:cNvSpPr/>
              <p:nvPr/>
            </p:nvSpPr>
            <p:spPr>
              <a:xfrm>
                <a:off x="5916632" y="3350374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632" y="3350374"/>
                <a:ext cx="41069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16450672"/>
              </p:ext>
            </p:extLst>
          </p:nvPr>
        </p:nvGraphicFramePr>
        <p:xfrm>
          <a:off x="6327322" y="3270892"/>
          <a:ext cx="2391720" cy="499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344"/>
                <a:gridCol w="478344"/>
                <a:gridCol w="478344"/>
                <a:gridCol w="478344"/>
                <a:gridCol w="478344"/>
              </a:tblGrid>
              <a:tr h="499845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矩形 12"/>
              <p:cNvSpPr/>
              <p:nvPr/>
            </p:nvSpPr>
            <p:spPr>
              <a:xfrm>
                <a:off x="4289581" y="1717117"/>
                <a:ext cx="4854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581" y="1717117"/>
                <a:ext cx="485454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矩形 13"/>
              <p:cNvSpPr/>
              <p:nvPr/>
            </p:nvSpPr>
            <p:spPr>
              <a:xfrm>
                <a:off x="7126576" y="1722458"/>
                <a:ext cx="10713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+8)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576" y="1722458"/>
                <a:ext cx="10713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矩形 14"/>
              <p:cNvSpPr/>
              <p:nvPr/>
            </p:nvSpPr>
            <p:spPr>
              <a:xfrm>
                <a:off x="401102" y="5187483"/>
                <a:ext cx="7877798" cy="643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 smtClean="0"/>
                  <a:t>Defuzzification: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0.5∗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−0.48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+0.5∗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−0.24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+1∗0+0.5∗0.48+0.5∗0.24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0.5+0.5+1+0.5+0.5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02" y="5187483"/>
                <a:ext cx="7877798" cy="643061"/>
              </a:xfrm>
              <a:prstGeom prst="rect">
                <a:avLst/>
              </a:prstGeom>
              <a:blipFill rotWithShape="0">
                <a:blip r:embed="rId8"/>
                <a:stretch>
                  <a:fillRect l="-1238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41226052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1676047"/>
              </a:xfrm>
            </p:spPr>
            <p:txBody>
              <a:bodyPr/>
              <a:lstStyle/>
              <a:p>
                <a:r>
                  <a:rPr lang="en-US" altLang="zh-TW" dirty="0" smtClean="0"/>
                  <a:t>Prediction: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+7)∘</m:t>
                    </m:r>
                    <m:r>
                      <m:rPr>
                        <m:sty m:val="p"/>
                      </m:rP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+8)=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 smtClean="0"/>
                  <a:t>0 + 14.3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1676047"/>
              </a:xfrm>
              <a:blipFill rotWithShape="0">
                <a:blip r:embed="rId2"/>
                <a:stretch>
                  <a:fillRect l="-1391" t="-5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3781758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Admission Rate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628650" y="1509536"/>
            <a:ext cx="7781572" cy="1132064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400" dirty="0"/>
              <a:t>over-estimation (OE) </a:t>
            </a:r>
            <a:endParaRPr lang="en-US" altLang="zh-TW" sz="2400" dirty="0" smtClean="0"/>
          </a:p>
          <a:p>
            <a:r>
              <a:rPr lang="en-US" altLang="zh-TW" sz="2400" dirty="0" smtClean="0"/>
              <a:t>under-estimation </a:t>
            </a:r>
            <a:r>
              <a:rPr lang="en-US" altLang="zh-TW" sz="2400" dirty="0"/>
              <a:t>(UE</a:t>
            </a:r>
            <a:r>
              <a:rPr lang="en-US" altLang="zh-TW" sz="2400" dirty="0" smtClean="0"/>
              <a:t>)</a:t>
            </a:r>
            <a:endParaRPr lang="en-US" altLang="zh-TW" sz="2400" dirty="0"/>
          </a:p>
          <a:p>
            <a:r>
              <a:rPr lang="en-US" altLang="zh-TW" sz="2400" dirty="0"/>
              <a:t>ratio of admission rates (RAR)</a:t>
            </a:r>
            <a:endParaRPr lang="en-US" altLang="zh-TW" sz="2400" dirty="0" smtClean="0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951046162"/>
              </p:ext>
            </p:extLst>
          </p:nvPr>
        </p:nvGraphicFramePr>
        <p:xfrm>
          <a:off x="316088" y="2763682"/>
          <a:ext cx="8199262" cy="3554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438"/>
                <a:gridCol w="752807"/>
                <a:gridCol w="719965"/>
                <a:gridCol w="746464"/>
                <a:gridCol w="746465"/>
                <a:gridCol w="817557"/>
                <a:gridCol w="758313"/>
                <a:gridCol w="782011"/>
                <a:gridCol w="746464"/>
                <a:gridCol w="770162"/>
                <a:gridCol w="734616"/>
              </a:tblGrid>
              <a:tr h="455303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2004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2005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2006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2007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2008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2009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2010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2011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2012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2013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094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OE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72.02%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78.62%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88.20%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87.74%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77.40%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32.60%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16.86%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30.00%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sng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85.69%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094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UE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27.98%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21.38%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11.81%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12.25%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22.60%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67.40%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標楷體" panose="03000509000000000000" pitchFamily="65" charset="-120"/>
                          <a:cs typeface="+mn-cs"/>
                        </a:rPr>
                        <a:t>83.14%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sng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70.00%</a:t>
                      </a:r>
                      <a:endParaRPr lang="zh-TW" altLang="en-US" sz="1400" u="sng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14.31%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094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H or 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00B0F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400" dirty="0">
                        <a:solidFill>
                          <a:srgbClr val="00B0F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00B0F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400" dirty="0">
                        <a:solidFill>
                          <a:srgbClr val="00B0F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00B0F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400" dirty="0">
                        <a:solidFill>
                          <a:srgbClr val="00B0F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3713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+mn-lt"/>
                        </a:rPr>
                        <a:t>Admission</a:t>
                      </a:r>
                      <a:r>
                        <a:rPr lang="en-US" altLang="zh-TW" sz="1400" baseline="0" dirty="0" smtClean="0">
                          <a:latin typeface="+mn-lt"/>
                        </a:rPr>
                        <a:t> rate</a:t>
                      </a:r>
                      <a:endParaRPr lang="en-US" altLang="zh-TW" sz="14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75.60%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76.32%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80.94%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85.86%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91.02%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94.01%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86.50%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00B0F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rgbClr val="00B0F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80.29%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00B0F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rgbClr val="00B0F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77.49%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00B0F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rgbClr val="00B0F0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82.95%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  <a:latin typeface="+mn-lt"/>
                          <a:ea typeface="標楷體" panose="03000509000000000000" pitchFamily="65" charset="-120"/>
                        </a:rPr>
                        <a:t>rise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3713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+mn-lt"/>
                        </a:rPr>
                        <a:t>RAR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1.0095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1.0606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1.0607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1.0601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1.0329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0.9202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0.9281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0.9652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1.0705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678262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Forward method with Admission Rate (FMAR)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713839" cy="782108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𝑀𝑅𝑇𝑆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𝐺𝑝𝑒𝑟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𝑅𝐴𝑅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)×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713839" cy="78210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8667214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</a:t>
            </a:r>
            <a:r>
              <a:rPr lang="en-US" altLang="zh-TW" dirty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99564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Root mean square error(RMSE)</a:t>
            </a:r>
          </a:p>
          <a:p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內容版面配置區 2"/>
              <p:cNvSpPr txBox="1">
                <a:spLocks/>
              </p:cNvSpPr>
              <p:nvPr/>
            </p:nvSpPr>
            <p:spPr>
              <a:xfrm>
                <a:off x="628650" y="2325189"/>
                <a:ext cx="7886700" cy="12420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1=</m:t>
                    </m:r>
                    <m:rad>
                      <m:radPr>
                        <m:degHide m:val="on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9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m:rPr>
                                    <m:brk m:alnAt="9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𝑇𝐷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9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,(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)∈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𝑇𝐷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𝑀𝑅𝑇𝑆</m:t>
                                        </m:r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𝑀𝑅𝑇𝑆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𝐷𝐸𝑃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rad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325189"/>
                <a:ext cx="7886700" cy="124205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內容版面配置區 2"/>
              <p:cNvSpPr txBox="1">
                <a:spLocks/>
              </p:cNvSpPr>
              <p:nvPr/>
            </p:nvSpPr>
            <p:spPr>
              <a:xfrm>
                <a:off x="754925" y="3567247"/>
                <a:ext cx="7886700" cy="12420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2=</m:t>
                    </m:r>
                    <m:rad>
                      <m:radPr>
                        <m:degHide m:val="on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9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m:rPr>
                                    <m:brk m:alnAt="9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𝑇𝐷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9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,(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)∈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𝑇𝐷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𝑀𝑅𝑇𝑆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e>
                                          <m:sub>
                                            <m:d>
                                              <m:dPr>
                                                <m:ctrlP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</m:sub>
                                        </m:sSub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𝑀𝑅𝑇𝑆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𝑀𝑅𝑇𝑆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𝐷𝐸𝑃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rad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9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25" y="3567247"/>
                <a:ext cx="7886700" cy="12420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內容版面配置區 2"/>
              <p:cNvSpPr txBox="1">
                <a:spLocks/>
              </p:cNvSpPr>
              <p:nvPr/>
            </p:nvSpPr>
            <p:spPr>
              <a:xfrm>
                <a:off x="754924" y="4809305"/>
                <a:ext cx="8389075" cy="12420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2=</m:t>
                    </m:r>
                    <m:rad>
                      <m:radPr>
                        <m:degHide m:val="on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9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m:rPr>
                                    <m:brk m:alnAt="9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𝑇𝐷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9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,(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)∈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𝑇𝐷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𝑀𝑅𝑇𝑆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e>
                                          <m:sub>
                                            <m:d>
                                              <m:dPr>
                                                <m:ctrlP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</m:sub>
                                        </m:sSub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𝑀𝑅𝑇𝑆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400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⁡(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𝑀𝑅𝑇</m:t>
                                                </m:r>
                                                <m:sSup>
                                                  <m:sSupPr>
                                                    <m:ctrlP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  <m:sub>
                                                <m:d>
                                                  <m:dPr>
                                                    <m:ctrlP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  <m: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𝑑</m:t>
                                                    </m:r>
                                                    <m: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altLang="zh-TW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e>
                                                </m:d>
                                              </m:sub>
                                            </m:sSub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𝑀𝑅𝑇𝑆</m:t>
                                            </m:r>
                                          </m:e>
                                          <m:sub>
                                            <m:d>
                                              <m:dPr>
                                                <m:ctrlP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zh-TW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</m:sub>
                                        </m:sSub>
                                        <m:r>
                                          <a:rPr lang="en-US" altLang="zh-TW" sz="24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den>
                                    </m:f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𝐷𝐸𝑃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rad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24" y="4809305"/>
                <a:ext cx="8389075" cy="124205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29988159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 smtClean="0"/>
                  <a:t>true positive (TP): </a:t>
                </a:r>
                <a:r>
                  <a:rPr lang="en-US" altLang="zh-TW" sz="2400" dirty="0"/>
                  <a:t>a department is called </a:t>
                </a:r>
                <a:r>
                  <a:rPr lang="en-US" altLang="zh-TW" sz="2400" dirty="0" smtClean="0"/>
                  <a:t>TP if </a:t>
                </a:r>
                <a:r>
                  <a:rPr lang="en-US" altLang="zh-TW" sz="2400" dirty="0"/>
                  <a:t>its </a:t>
                </a:r>
                <a:r>
                  <a:rPr lang="en-US" altLang="zh-TW" sz="2400" dirty="0" smtClean="0"/>
                  <a:t>PAL </a:t>
                </a:r>
                <a:r>
                  <a:rPr lang="en-US" altLang="zh-TW" sz="2400" dirty="0"/>
                  <a:t>and </a:t>
                </a:r>
                <a:r>
                  <a:rPr lang="en-US" altLang="zh-TW" sz="2400" dirty="0" smtClean="0"/>
                  <a:t>RAL </a:t>
                </a:r>
                <a:r>
                  <a:rPr lang="en-US" altLang="zh-TW" sz="2400" dirty="0"/>
                  <a:t>are both in the same specified interval</a:t>
                </a:r>
                <a:r>
                  <a:rPr lang="en-US" altLang="zh-TW" sz="2400" dirty="0" smtClean="0"/>
                  <a:t>.</a:t>
                </a:r>
              </a:p>
              <a:p>
                <a:r>
                  <a:rPr lang="en-US" altLang="zh-TW" sz="2400" dirty="0"/>
                  <a:t>false positive </a:t>
                </a:r>
                <a:r>
                  <a:rPr lang="en-US" altLang="zh-TW" sz="2400" dirty="0" smtClean="0"/>
                  <a:t>(FP): </a:t>
                </a:r>
                <a:r>
                  <a:rPr lang="en-US" altLang="zh-TW" sz="2400" dirty="0"/>
                  <a:t>a department is called </a:t>
                </a:r>
                <a:r>
                  <a:rPr lang="en-US" altLang="zh-TW" sz="2400" dirty="0" smtClean="0"/>
                  <a:t>FP </a:t>
                </a:r>
                <a:r>
                  <a:rPr lang="en-US" altLang="zh-TW" sz="2400" dirty="0"/>
                  <a:t>if its </a:t>
                </a:r>
                <a:r>
                  <a:rPr lang="en-US" altLang="zh-TW" sz="2400" dirty="0" smtClean="0"/>
                  <a:t>PAL </a:t>
                </a:r>
                <a:r>
                  <a:rPr lang="en-US" altLang="zh-TW" sz="2400" dirty="0"/>
                  <a:t>is within the specified interval while its </a:t>
                </a:r>
                <a:r>
                  <a:rPr lang="en-US" altLang="zh-TW" sz="2400" dirty="0" smtClean="0"/>
                  <a:t>RAL </a:t>
                </a:r>
                <a:r>
                  <a:rPr lang="en-US" altLang="zh-TW" sz="2400" dirty="0"/>
                  <a:t>is not</a:t>
                </a:r>
                <a:r>
                  <a:rPr lang="en-US" altLang="zh-TW" sz="2400" dirty="0" smtClean="0"/>
                  <a:t>.</a:t>
                </a:r>
              </a:p>
              <a:p>
                <a:r>
                  <a:rPr lang="en-US" altLang="zh-TW" sz="2400" dirty="0"/>
                  <a:t>true negative </a:t>
                </a:r>
                <a:r>
                  <a:rPr lang="en-US" altLang="zh-TW" sz="2400" dirty="0" smtClean="0"/>
                  <a:t>(TN): </a:t>
                </a:r>
                <a:r>
                  <a:rPr lang="en-US" altLang="zh-TW" sz="2400" dirty="0"/>
                  <a:t>a department is called </a:t>
                </a:r>
                <a:r>
                  <a:rPr lang="en-US" altLang="zh-TW" sz="2400" dirty="0" smtClean="0"/>
                  <a:t>TN </a:t>
                </a:r>
                <a:r>
                  <a:rPr lang="en-US" altLang="zh-TW" sz="2400" dirty="0"/>
                  <a:t>if its </a:t>
                </a:r>
                <a:r>
                  <a:rPr lang="en-US" altLang="zh-TW" sz="2400" dirty="0" smtClean="0"/>
                  <a:t>PAL </a:t>
                </a:r>
                <a:r>
                  <a:rPr lang="en-US" altLang="zh-TW" sz="2400" dirty="0"/>
                  <a:t>and </a:t>
                </a:r>
                <a:r>
                  <a:rPr lang="en-US" altLang="zh-TW" sz="2400" dirty="0" smtClean="0"/>
                  <a:t>RAL </a:t>
                </a:r>
                <a:r>
                  <a:rPr lang="en-US" altLang="zh-TW" sz="2400" dirty="0"/>
                  <a:t>are both outside a specified interval</a:t>
                </a:r>
                <a:r>
                  <a:rPr lang="en-US" altLang="zh-TW" sz="2400" dirty="0" smtClean="0"/>
                  <a:t>.</a:t>
                </a:r>
              </a:p>
              <a:p>
                <a:r>
                  <a:rPr lang="en-US" altLang="zh-TW" sz="2400" dirty="0"/>
                  <a:t>false negative </a:t>
                </a:r>
                <a:r>
                  <a:rPr lang="en-US" altLang="zh-TW" sz="2400" dirty="0" smtClean="0"/>
                  <a:t>(FN): </a:t>
                </a:r>
                <a:r>
                  <a:rPr lang="en-US" altLang="zh-TW" sz="2400" dirty="0"/>
                  <a:t>a department is called </a:t>
                </a:r>
                <a:r>
                  <a:rPr lang="en-US" altLang="zh-TW" sz="2400" dirty="0" smtClean="0"/>
                  <a:t>FN </a:t>
                </a:r>
                <a:r>
                  <a:rPr lang="en-US" altLang="zh-TW" sz="2400" dirty="0"/>
                  <a:t>if its </a:t>
                </a:r>
                <a:r>
                  <a:rPr lang="en-US" altLang="zh-TW" sz="2400" dirty="0" smtClean="0"/>
                  <a:t>RAL </a:t>
                </a:r>
                <a:r>
                  <a:rPr lang="en-US" altLang="zh-TW" sz="2400" dirty="0"/>
                  <a:t>is within a specified interval while its </a:t>
                </a:r>
                <a:r>
                  <a:rPr lang="en-US" altLang="zh-TW" sz="2400" dirty="0" smtClean="0"/>
                  <a:t>PAL </a:t>
                </a:r>
                <a:r>
                  <a:rPr lang="en-US" altLang="zh-TW" sz="2400" dirty="0"/>
                  <a:t>is not</a:t>
                </a:r>
                <a:r>
                  <a:rPr lang="en-US" altLang="zh-TW" sz="2400" dirty="0" smtClean="0"/>
                  <a:t>.</a:t>
                </a:r>
              </a:p>
              <a:p>
                <a:r>
                  <a:rPr lang="en-US" altLang="zh-TW" sz="2400" dirty="0" smtClean="0"/>
                  <a:t>Sensitivity: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den>
                    </m:f>
                  </m:oMath>
                </a14:m>
                <a:r>
                  <a:rPr lang="en-US" altLang="zh-TW" sz="2400" dirty="0" smtClean="0"/>
                  <a:t/>
                </a:r>
              </a:p>
              <a:p>
                <a:r>
                  <a:rPr lang="en-US" altLang="zh-TW" sz="2400" dirty="0" smtClean="0"/>
                  <a:t>Precision 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den>
                    </m:f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1961" b="-4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192861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26</a:t>
            </a:fld>
            <a:endParaRPr lang="zh-TW" altLang="en-US"/>
          </a:p>
        </p:txBody>
      </p:sp>
      <p:graphicFrame>
        <p:nvGraphicFramePr>
          <p:cNvPr id="77" name="表格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82249323"/>
              </p:ext>
            </p:extLst>
          </p:nvPr>
        </p:nvGraphicFramePr>
        <p:xfrm>
          <a:off x="231353" y="2029529"/>
          <a:ext cx="8571122" cy="3820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098"/>
                <a:gridCol w="572877"/>
                <a:gridCol w="572877"/>
                <a:gridCol w="587040"/>
                <a:gridCol w="612223"/>
                <a:gridCol w="612223"/>
                <a:gridCol w="612223"/>
                <a:gridCol w="612223"/>
                <a:gridCol w="612223"/>
                <a:gridCol w="612223"/>
                <a:gridCol w="612223"/>
                <a:gridCol w="612223"/>
                <a:gridCol w="612223"/>
                <a:gridCol w="612223"/>
              </a:tblGrid>
              <a:tr h="642682">
                <a:tc>
                  <a:txBody>
                    <a:bodyPr/>
                    <a:lstStyle/>
                    <a:p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rmse1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rmse2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rmse3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SENS.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PREC.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SENS.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PREC.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SENS.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PREC.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SNES.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PREC.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SENS.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PREC.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624"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Forward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20.96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15.26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8.82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36.4%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36.06%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51.93%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51.76%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61.02%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61.53%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624"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School ranking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26.49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20.73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10.59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33.33%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31.52%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47.28%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44.48%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56.39%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53.48%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624"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Lin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21.6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16.11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9.1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35.92%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36.21%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52.42%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52.71%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61.44%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62.44%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624"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Fuzzy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21.73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12.47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8.81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34.33%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34.58%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49.95%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50.84%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57.96%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60.08%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624">
                <a:tc>
                  <a:txBody>
                    <a:bodyPr/>
                    <a:lstStyle/>
                    <a:p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FMAR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17.59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dirty="0" smtClean="0">
                          <a:solidFill>
                            <a:schemeClr val="tx1"/>
                          </a:solidFill>
                        </a:rPr>
                        <a:t>14.76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8.23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45.66%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45.35%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62.05%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61.54%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70.82%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u="sng" dirty="0" smtClean="0">
                          <a:solidFill>
                            <a:srgbClr val="FF0000"/>
                          </a:solidFill>
                        </a:rPr>
                        <a:t>70.07%</a:t>
                      </a:r>
                      <a:endParaRPr lang="zh-TW" altLang="en-US" sz="1100" b="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624">
                <a:tc>
                  <a:txBody>
                    <a:bodyPr/>
                    <a:lstStyle/>
                    <a:p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" name="矩形 77"/>
          <p:cNvSpPr/>
          <p:nvPr/>
        </p:nvSpPr>
        <p:spPr>
          <a:xfrm>
            <a:off x="3026143" y="1598414"/>
            <a:ext cx="68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[-2,2]</a:t>
            </a:r>
            <a:endParaRPr lang="zh-TW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4227995" y="1598414"/>
            <a:ext cx="68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[-4,4]</a:t>
            </a:r>
            <a:endParaRPr lang="zh-TW" altLang="en-US" dirty="0"/>
          </a:p>
        </p:txBody>
      </p:sp>
      <p:sp>
        <p:nvSpPr>
          <p:cNvPr id="80" name="矩形 79"/>
          <p:cNvSpPr/>
          <p:nvPr/>
        </p:nvSpPr>
        <p:spPr>
          <a:xfrm>
            <a:off x="5423636" y="1598414"/>
            <a:ext cx="68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[-6,6]</a:t>
            </a:r>
            <a:endParaRPr lang="zh-TW" altLang="en-US" dirty="0"/>
          </a:p>
        </p:txBody>
      </p:sp>
      <p:sp>
        <p:nvSpPr>
          <p:cNvPr id="81" name="矩形 80"/>
          <p:cNvSpPr/>
          <p:nvPr/>
        </p:nvSpPr>
        <p:spPr>
          <a:xfrm>
            <a:off x="6625488" y="1598414"/>
            <a:ext cx="747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[0,</a:t>
            </a:r>
            <a:r>
              <a:rPr lang="zh-TW" altLang="en-US" b="1" dirty="0"/>
              <a:t> </a:t>
            </a:r>
            <a:r>
              <a:rPr lang="zh-TW" altLang="en-US" b="1" dirty="0" smtClean="0"/>
              <a:t>∞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sp>
        <p:nvSpPr>
          <p:cNvPr id="82" name="矩形 81"/>
          <p:cNvSpPr/>
          <p:nvPr/>
        </p:nvSpPr>
        <p:spPr>
          <a:xfrm>
            <a:off x="7720149" y="1598415"/>
            <a:ext cx="795201" cy="369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[-</a:t>
            </a:r>
            <a:r>
              <a:rPr lang="zh-TW" altLang="en-US" b="1" dirty="0" smtClean="0"/>
              <a:t>∞</a:t>
            </a:r>
            <a:r>
              <a:rPr lang="en-US" altLang="zh-TW" dirty="0" smtClean="0"/>
              <a:t>,0]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747731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27</a:t>
            </a:fld>
            <a:endParaRPr lang="zh-TW" altLang="en-US"/>
          </a:p>
        </p:txBody>
      </p:sp>
      <p:graphicFrame>
        <p:nvGraphicFramePr>
          <p:cNvPr id="245" name="表格 2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17446996"/>
              </p:ext>
            </p:extLst>
          </p:nvPr>
        </p:nvGraphicFramePr>
        <p:xfrm>
          <a:off x="205196" y="1560063"/>
          <a:ext cx="8310150" cy="479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015"/>
                <a:gridCol w="831015"/>
                <a:gridCol w="831015"/>
                <a:gridCol w="831015"/>
                <a:gridCol w="831015"/>
                <a:gridCol w="831015"/>
                <a:gridCol w="831015"/>
                <a:gridCol w="831015"/>
                <a:gridCol w="831015"/>
                <a:gridCol w="831015"/>
              </a:tblGrid>
              <a:tr h="288116"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40%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50%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60%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70%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80%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+mn-lt"/>
                        </a:rPr>
                        <a:t>90%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forward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SENS.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87.08%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71.48%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46.03%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33.8%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24.96%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15.78%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14.93%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8.58%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2.88%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PREC.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80.6%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63.45%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37.45%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31.62%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24.52%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14.42%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18.75%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7.46%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7.56%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544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School ranking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SENS.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78.64%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78.95%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63.29%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46.65%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35.27%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21.67%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9.36%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1.17%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0.88%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PREC.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78.45%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72.96%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55.3%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43.8%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31.77%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18.48%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10.82%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0.88%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Lin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SENS.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82.81%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79.16%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51.74%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39.84%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29.86%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18.01%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15.6%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7.37%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2.49%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PREC.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78.71%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69.01%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42.25%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37.17%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28.71%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16.8%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19.11%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6.69%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6.86%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Fuzzy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SENS.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84.31%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72.11%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42.97%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32.29%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25.38%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17.28%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8.63%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1.56%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3.08%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PREC.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77.66%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60.33%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35.63%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32.02%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23.98%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13.93%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11.33%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1.94%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5.61%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FMAR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SENS.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81.05%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78.8%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66.66%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49.84%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50.6%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49.45%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42.55%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34.39%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10.02%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  <a:tr h="288116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+mn-lt"/>
                        </a:rPr>
                        <a:t>PREC.</a:t>
                      </a:r>
                      <a:endParaRPr lang="zh-TW" altLang="en-US" sz="1100" dirty="0">
                        <a:latin typeface="+mn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81.82%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75.21%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61.47%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51.63%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51.63%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52.89%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48.22%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32.56%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u="sng" dirty="0" smtClean="0">
                          <a:solidFill>
                            <a:srgbClr val="FF0000"/>
                          </a:solidFill>
                          <a:latin typeface="+mn-lt"/>
                        </a:rPr>
                        <a:t>11.65%</a:t>
                      </a:r>
                      <a:endParaRPr lang="zh-TW" altLang="en-US" sz="1100" u="sng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246" name="矩形 245"/>
          <p:cNvSpPr/>
          <p:nvPr/>
        </p:nvSpPr>
        <p:spPr>
          <a:xfrm>
            <a:off x="176066" y="1506023"/>
            <a:ext cx="68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[-2,2]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148107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991628" y="1686297"/>
            <a:ext cx="6703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0-25(%)</a:t>
            </a:r>
            <a:endParaRPr lang="zh-TW" altLang="en-US" sz="1200" dirty="0"/>
          </a:p>
        </p:txBody>
      </p:sp>
      <p:sp>
        <p:nvSpPr>
          <p:cNvPr id="6" name="矩形 5"/>
          <p:cNvSpPr/>
          <p:nvPr/>
        </p:nvSpPr>
        <p:spPr>
          <a:xfrm>
            <a:off x="4184889" y="1695080"/>
            <a:ext cx="7489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25-50(%)</a:t>
            </a:r>
            <a:endParaRPr lang="zh-TW" altLang="en-US" sz="1200" dirty="0"/>
          </a:p>
        </p:txBody>
      </p:sp>
      <p:sp>
        <p:nvSpPr>
          <p:cNvPr id="7" name="矩形 6"/>
          <p:cNvSpPr/>
          <p:nvPr/>
        </p:nvSpPr>
        <p:spPr>
          <a:xfrm>
            <a:off x="5664646" y="1686298"/>
            <a:ext cx="7489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50-75(%)</a:t>
            </a:r>
            <a:endParaRPr lang="zh-TW" altLang="en-US" sz="1200" dirty="0"/>
          </a:p>
        </p:txBody>
      </p:sp>
      <p:sp>
        <p:nvSpPr>
          <p:cNvPr id="8" name="矩形 7"/>
          <p:cNvSpPr/>
          <p:nvPr/>
        </p:nvSpPr>
        <p:spPr>
          <a:xfrm>
            <a:off x="6836031" y="1686299"/>
            <a:ext cx="8274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75-100(%)</a:t>
            </a:r>
            <a:endParaRPr lang="zh-TW" altLang="en-US" sz="1200" dirty="0"/>
          </a:p>
        </p:txBody>
      </p:sp>
      <p:sp>
        <p:nvSpPr>
          <p:cNvPr id="9" name="矩形 8"/>
          <p:cNvSpPr/>
          <p:nvPr/>
        </p:nvSpPr>
        <p:spPr>
          <a:xfrm>
            <a:off x="2597358" y="2299708"/>
            <a:ext cx="5597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FMAR</a:t>
            </a:r>
            <a:endParaRPr lang="zh-TW" altLang="en-US" sz="1200" dirty="0"/>
          </a:p>
        </p:txBody>
      </p:sp>
      <p:sp>
        <p:nvSpPr>
          <p:cNvPr id="10" name="矩形 9"/>
          <p:cNvSpPr/>
          <p:nvPr/>
        </p:nvSpPr>
        <p:spPr>
          <a:xfrm>
            <a:off x="3251802" y="2299709"/>
            <a:ext cx="702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Forward</a:t>
            </a:r>
            <a:endParaRPr lang="zh-TW" altLang="en-US" sz="1200" dirty="0"/>
          </a:p>
        </p:txBody>
      </p:sp>
      <p:sp>
        <p:nvSpPr>
          <p:cNvPr id="12" name="矩形 11"/>
          <p:cNvSpPr/>
          <p:nvPr/>
        </p:nvSpPr>
        <p:spPr>
          <a:xfrm>
            <a:off x="4586648" y="2299711"/>
            <a:ext cx="702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Forward</a:t>
            </a:r>
            <a:endParaRPr lang="zh-TW" altLang="en-US" sz="1200" dirty="0"/>
          </a:p>
        </p:txBody>
      </p:sp>
      <p:sp>
        <p:nvSpPr>
          <p:cNvPr id="14" name="矩形 13"/>
          <p:cNvSpPr/>
          <p:nvPr/>
        </p:nvSpPr>
        <p:spPr>
          <a:xfrm>
            <a:off x="5855083" y="2299714"/>
            <a:ext cx="702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Forward</a:t>
            </a:r>
            <a:endParaRPr lang="zh-TW" altLang="en-US" sz="1200" dirty="0"/>
          </a:p>
        </p:txBody>
      </p:sp>
      <p:sp>
        <p:nvSpPr>
          <p:cNvPr id="16" name="矩形 15"/>
          <p:cNvSpPr/>
          <p:nvPr/>
        </p:nvSpPr>
        <p:spPr>
          <a:xfrm>
            <a:off x="7312444" y="2300342"/>
            <a:ext cx="702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Forward</a:t>
            </a:r>
            <a:endParaRPr lang="zh-TW" altLang="en-US" sz="1200" dirty="0"/>
          </a:p>
        </p:txBody>
      </p:sp>
      <p:sp>
        <p:nvSpPr>
          <p:cNvPr id="17" name="矩形 16"/>
          <p:cNvSpPr/>
          <p:nvPr/>
        </p:nvSpPr>
        <p:spPr>
          <a:xfrm>
            <a:off x="6651873" y="2299714"/>
            <a:ext cx="5597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FMAR</a:t>
            </a:r>
            <a:endParaRPr lang="zh-TW" altLang="en-US" sz="1200" dirty="0"/>
          </a:p>
        </p:txBody>
      </p:sp>
      <p:sp>
        <p:nvSpPr>
          <p:cNvPr id="18" name="矩形 17"/>
          <p:cNvSpPr/>
          <p:nvPr/>
        </p:nvSpPr>
        <p:spPr>
          <a:xfrm>
            <a:off x="5216731" y="2299713"/>
            <a:ext cx="5597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FMAR</a:t>
            </a:r>
            <a:endParaRPr lang="zh-TW" altLang="en-US" sz="1200" dirty="0"/>
          </a:p>
        </p:txBody>
      </p:sp>
      <p:sp>
        <p:nvSpPr>
          <p:cNvPr id="19" name="矩形 18"/>
          <p:cNvSpPr/>
          <p:nvPr/>
        </p:nvSpPr>
        <p:spPr>
          <a:xfrm>
            <a:off x="3953917" y="2299710"/>
            <a:ext cx="5597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FMAR</a:t>
            </a:r>
            <a:endParaRPr lang="zh-TW" altLang="en-US" sz="1200" dirty="0"/>
          </a:p>
        </p:txBody>
      </p:sp>
      <p:cxnSp>
        <p:nvCxnSpPr>
          <p:cNvPr id="20" name="直線接點 19"/>
          <p:cNvCxnSpPr/>
          <p:nvPr/>
        </p:nvCxnSpPr>
        <p:spPr>
          <a:xfrm>
            <a:off x="6651873" y="1686298"/>
            <a:ext cx="13093" cy="466566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5201927" y="1686298"/>
            <a:ext cx="13093" cy="466566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3933492" y="1686298"/>
            <a:ext cx="13093" cy="466566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2601259" y="1695080"/>
            <a:ext cx="13093" cy="466566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884384" y="2574369"/>
            <a:ext cx="7130175" cy="1111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884384" y="2634313"/>
            <a:ext cx="1723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The first academic group</a:t>
            </a:r>
            <a:endParaRPr lang="zh-TW" altLang="en-US" sz="1200" dirty="0"/>
          </a:p>
        </p:txBody>
      </p:sp>
      <p:sp>
        <p:nvSpPr>
          <p:cNvPr id="30" name="矩形 29"/>
          <p:cNvSpPr/>
          <p:nvPr/>
        </p:nvSpPr>
        <p:spPr>
          <a:xfrm>
            <a:off x="1930032" y="2917999"/>
            <a:ext cx="6238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RMSE1</a:t>
            </a:r>
            <a:endParaRPr lang="zh-TW" altLang="en-US" sz="1200" dirty="0"/>
          </a:p>
        </p:txBody>
      </p:sp>
      <p:sp>
        <p:nvSpPr>
          <p:cNvPr id="31" name="矩形 30"/>
          <p:cNvSpPr/>
          <p:nvPr/>
        </p:nvSpPr>
        <p:spPr>
          <a:xfrm>
            <a:off x="1929982" y="3165466"/>
            <a:ext cx="6238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RMSE2</a:t>
            </a:r>
            <a:endParaRPr lang="zh-TW" altLang="en-US" sz="1200" dirty="0"/>
          </a:p>
        </p:txBody>
      </p:sp>
      <p:sp>
        <p:nvSpPr>
          <p:cNvPr id="32" name="矩形 31"/>
          <p:cNvSpPr/>
          <p:nvPr/>
        </p:nvSpPr>
        <p:spPr>
          <a:xfrm>
            <a:off x="1930473" y="3408558"/>
            <a:ext cx="5870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100" dirty="0" smtClean="0"/>
              <a:t>RMSE3</a:t>
            </a:r>
            <a:endParaRPr lang="zh-TW" altLang="en-US" sz="1100" dirty="0"/>
          </a:p>
        </p:txBody>
      </p:sp>
      <p:sp>
        <p:nvSpPr>
          <p:cNvPr id="33" name="矩形 32"/>
          <p:cNvSpPr/>
          <p:nvPr/>
        </p:nvSpPr>
        <p:spPr>
          <a:xfrm>
            <a:off x="1898232" y="3931229"/>
            <a:ext cx="6238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 smtClean="0"/>
              <a:t>RMSE1</a:t>
            </a:r>
            <a:endParaRPr lang="zh-TW" altLang="en-US" sz="1200" dirty="0"/>
          </a:p>
        </p:txBody>
      </p:sp>
      <p:sp>
        <p:nvSpPr>
          <p:cNvPr id="34" name="矩形 33"/>
          <p:cNvSpPr/>
          <p:nvPr/>
        </p:nvSpPr>
        <p:spPr>
          <a:xfrm>
            <a:off x="1898231" y="4182480"/>
            <a:ext cx="6238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RMSE2</a:t>
            </a:r>
            <a:endParaRPr lang="zh-TW" altLang="en-US" sz="1200" dirty="0"/>
          </a:p>
        </p:txBody>
      </p:sp>
      <p:sp>
        <p:nvSpPr>
          <p:cNvPr id="35" name="矩形 34"/>
          <p:cNvSpPr/>
          <p:nvPr/>
        </p:nvSpPr>
        <p:spPr>
          <a:xfrm>
            <a:off x="1897411" y="4446623"/>
            <a:ext cx="6238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RMSE3</a:t>
            </a:r>
            <a:endParaRPr lang="zh-TW" altLang="en-US" sz="1200" dirty="0"/>
          </a:p>
        </p:txBody>
      </p:sp>
      <p:sp>
        <p:nvSpPr>
          <p:cNvPr id="36" name="矩形 35"/>
          <p:cNvSpPr/>
          <p:nvPr/>
        </p:nvSpPr>
        <p:spPr>
          <a:xfrm>
            <a:off x="748952" y="4718944"/>
            <a:ext cx="17785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The third academic group</a:t>
            </a:r>
            <a:endParaRPr lang="zh-TW" altLang="en-US" sz="1200" dirty="0"/>
          </a:p>
        </p:txBody>
      </p:sp>
      <p:sp>
        <p:nvSpPr>
          <p:cNvPr id="37" name="矩形 36"/>
          <p:cNvSpPr/>
          <p:nvPr/>
        </p:nvSpPr>
        <p:spPr>
          <a:xfrm>
            <a:off x="1889500" y="4970195"/>
            <a:ext cx="6238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RMSE1</a:t>
            </a:r>
            <a:endParaRPr lang="zh-TW" altLang="en-US" sz="1200" dirty="0"/>
          </a:p>
        </p:txBody>
      </p:sp>
      <p:sp>
        <p:nvSpPr>
          <p:cNvPr id="38" name="矩形 37"/>
          <p:cNvSpPr/>
          <p:nvPr/>
        </p:nvSpPr>
        <p:spPr>
          <a:xfrm>
            <a:off x="1889501" y="5216768"/>
            <a:ext cx="6238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RMSE2</a:t>
            </a:r>
            <a:endParaRPr lang="zh-TW" altLang="en-US" sz="1200" dirty="0"/>
          </a:p>
        </p:txBody>
      </p:sp>
      <p:sp>
        <p:nvSpPr>
          <p:cNvPr id="39" name="矩形 38"/>
          <p:cNvSpPr/>
          <p:nvPr/>
        </p:nvSpPr>
        <p:spPr>
          <a:xfrm>
            <a:off x="1909153" y="5493767"/>
            <a:ext cx="6238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RMSE3</a:t>
            </a:r>
            <a:endParaRPr lang="zh-TW" altLang="en-US" sz="1200" dirty="0"/>
          </a:p>
        </p:txBody>
      </p:sp>
      <p:cxnSp>
        <p:nvCxnSpPr>
          <p:cNvPr id="40" name="直線接點 39"/>
          <p:cNvCxnSpPr/>
          <p:nvPr/>
        </p:nvCxnSpPr>
        <p:spPr>
          <a:xfrm flipV="1">
            <a:off x="748952" y="3663740"/>
            <a:ext cx="7250366" cy="33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28650" y="3667086"/>
            <a:ext cx="19252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The second academic group</a:t>
            </a:r>
            <a:endParaRPr lang="zh-TW" altLang="en-US" sz="1200" dirty="0"/>
          </a:p>
        </p:txBody>
      </p:sp>
      <p:cxnSp>
        <p:nvCxnSpPr>
          <p:cNvPr id="42" name="直線接點 41"/>
          <p:cNvCxnSpPr/>
          <p:nvPr/>
        </p:nvCxnSpPr>
        <p:spPr>
          <a:xfrm>
            <a:off x="1024453" y="4710730"/>
            <a:ext cx="6974864" cy="821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2648220" y="2908830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5.23</a:t>
            </a:r>
            <a:endParaRPr lang="zh-TW" altLang="en-US" sz="1200" dirty="0"/>
          </a:p>
        </p:txBody>
      </p:sp>
      <p:sp>
        <p:nvSpPr>
          <p:cNvPr id="47" name="矩形 46"/>
          <p:cNvSpPr/>
          <p:nvPr/>
        </p:nvSpPr>
        <p:spPr>
          <a:xfrm>
            <a:off x="2645272" y="3169337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1.09</a:t>
            </a:r>
            <a:endParaRPr lang="zh-TW" altLang="en-US" sz="1200" dirty="0"/>
          </a:p>
        </p:txBody>
      </p:sp>
      <p:sp>
        <p:nvSpPr>
          <p:cNvPr id="48" name="矩形 47"/>
          <p:cNvSpPr/>
          <p:nvPr/>
        </p:nvSpPr>
        <p:spPr>
          <a:xfrm>
            <a:off x="2645272" y="3393169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1.09</a:t>
            </a:r>
            <a:endParaRPr lang="zh-TW" altLang="en-US" sz="1200" dirty="0"/>
          </a:p>
        </p:txBody>
      </p:sp>
      <p:sp>
        <p:nvSpPr>
          <p:cNvPr id="49" name="矩形 48"/>
          <p:cNvSpPr/>
          <p:nvPr/>
        </p:nvSpPr>
        <p:spPr>
          <a:xfrm>
            <a:off x="3254750" y="2927270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4.34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251802" y="3187777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0.92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251802" y="3411609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0.91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46082" y="3927984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4.89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643134" y="418849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1.25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643134" y="4412323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1.24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254315" y="3928252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7.74</a:t>
            </a:r>
            <a:endParaRPr lang="zh-TW" altLang="en-US" sz="1200" dirty="0"/>
          </a:p>
        </p:txBody>
      </p:sp>
      <p:sp>
        <p:nvSpPr>
          <p:cNvPr id="56" name="矩形 55"/>
          <p:cNvSpPr/>
          <p:nvPr/>
        </p:nvSpPr>
        <p:spPr>
          <a:xfrm>
            <a:off x="3251367" y="4188759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1.92</a:t>
            </a:r>
            <a:endParaRPr lang="zh-TW" altLang="en-US" sz="1200" dirty="0"/>
          </a:p>
        </p:txBody>
      </p:sp>
      <p:sp>
        <p:nvSpPr>
          <p:cNvPr id="57" name="矩形 56"/>
          <p:cNvSpPr/>
          <p:nvPr/>
        </p:nvSpPr>
        <p:spPr>
          <a:xfrm>
            <a:off x="3251367" y="441259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1.88</a:t>
            </a:r>
            <a:endParaRPr lang="zh-TW" altLang="en-US" sz="1200" dirty="0"/>
          </a:p>
        </p:txBody>
      </p:sp>
      <p:sp>
        <p:nvSpPr>
          <p:cNvPr id="58" name="矩形 57"/>
          <p:cNvSpPr/>
          <p:nvPr/>
        </p:nvSpPr>
        <p:spPr>
          <a:xfrm>
            <a:off x="2646082" y="4997322"/>
            <a:ext cx="380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8.1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643134" y="5257829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1.68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643134" y="548166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1.68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252001" y="4997008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8.78</a:t>
            </a:r>
            <a:endParaRPr lang="zh-TW" altLang="en-US" sz="1200" dirty="0"/>
          </a:p>
        </p:txBody>
      </p:sp>
      <p:sp>
        <p:nvSpPr>
          <p:cNvPr id="62" name="矩形 61"/>
          <p:cNvSpPr/>
          <p:nvPr/>
        </p:nvSpPr>
        <p:spPr>
          <a:xfrm>
            <a:off x="3249053" y="5257515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1.93</a:t>
            </a:r>
            <a:endParaRPr lang="zh-TW" altLang="en-US" sz="1200" dirty="0"/>
          </a:p>
        </p:txBody>
      </p:sp>
      <p:sp>
        <p:nvSpPr>
          <p:cNvPr id="63" name="矩形 62"/>
          <p:cNvSpPr/>
          <p:nvPr/>
        </p:nvSpPr>
        <p:spPr>
          <a:xfrm>
            <a:off x="3249053" y="5481347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1.91</a:t>
            </a:r>
            <a:endParaRPr lang="zh-TW" altLang="en-US" sz="1200" dirty="0"/>
          </a:p>
        </p:txBody>
      </p:sp>
      <p:sp>
        <p:nvSpPr>
          <p:cNvPr id="64" name="矩形 63"/>
          <p:cNvSpPr/>
          <p:nvPr/>
        </p:nvSpPr>
        <p:spPr>
          <a:xfrm>
            <a:off x="4057854" y="2907984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6.85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054906" y="316849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1.85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054906" y="3392323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1.81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631301" y="2927270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10.73</a:t>
            </a:r>
            <a:endParaRPr lang="zh-TW" altLang="en-US" sz="1200" dirty="0"/>
          </a:p>
        </p:txBody>
      </p:sp>
      <p:sp>
        <p:nvSpPr>
          <p:cNvPr id="68" name="矩形 67"/>
          <p:cNvSpPr/>
          <p:nvPr/>
        </p:nvSpPr>
        <p:spPr>
          <a:xfrm>
            <a:off x="4628353" y="3187777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3.09</a:t>
            </a:r>
            <a:endParaRPr lang="zh-TW" altLang="en-US" sz="1200" dirty="0"/>
          </a:p>
        </p:txBody>
      </p:sp>
      <p:sp>
        <p:nvSpPr>
          <p:cNvPr id="69" name="矩形 68"/>
          <p:cNvSpPr/>
          <p:nvPr/>
        </p:nvSpPr>
        <p:spPr>
          <a:xfrm>
            <a:off x="4628353" y="3411609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2.97</a:t>
            </a:r>
            <a:endParaRPr lang="zh-TW" altLang="en-US" sz="1200" dirty="0"/>
          </a:p>
        </p:txBody>
      </p:sp>
      <p:sp>
        <p:nvSpPr>
          <p:cNvPr id="70" name="矩形 69"/>
          <p:cNvSpPr/>
          <p:nvPr/>
        </p:nvSpPr>
        <p:spPr>
          <a:xfrm>
            <a:off x="4058488" y="3938907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13.18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055540" y="4199414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3.67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055540" y="4423246"/>
            <a:ext cx="380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3.5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595516" y="3927984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20.08</a:t>
            </a:r>
            <a:endParaRPr lang="zh-TW" altLang="en-US" sz="1200" dirty="0"/>
          </a:p>
        </p:txBody>
      </p:sp>
      <p:sp>
        <p:nvSpPr>
          <p:cNvPr id="77" name="矩形 76"/>
          <p:cNvSpPr/>
          <p:nvPr/>
        </p:nvSpPr>
        <p:spPr>
          <a:xfrm>
            <a:off x="4592568" y="418849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5.73</a:t>
            </a:r>
            <a:endParaRPr lang="zh-TW" altLang="en-US" sz="1200" dirty="0"/>
          </a:p>
        </p:txBody>
      </p:sp>
      <p:sp>
        <p:nvSpPr>
          <p:cNvPr id="78" name="矩形 77"/>
          <p:cNvSpPr/>
          <p:nvPr/>
        </p:nvSpPr>
        <p:spPr>
          <a:xfrm>
            <a:off x="4592568" y="4412323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5.34</a:t>
            </a:r>
            <a:endParaRPr lang="zh-TW" altLang="en-US" sz="1200" dirty="0"/>
          </a:p>
        </p:txBody>
      </p:sp>
      <p:sp>
        <p:nvSpPr>
          <p:cNvPr id="79" name="矩形 78"/>
          <p:cNvSpPr/>
          <p:nvPr/>
        </p:nvSpPr>
        <p:spPr>
          <a:xfrm>
            <a:off x="4059240" y="4997008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12.6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056292" y="5257515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3.35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056292" y="5481347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3.24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595516" y="5009428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17.82</a:t>
            </a:r>
            <a:endParaRPr lang="zh-TW" altLang="en-US" sz="1200" dirty="0"/>
          </a:p>
        </p:txBody>
      </p:sp>
      <p:sp>
        <p:nvSpPr>
          <p:cNvPr id="84" name="矩形 83"/>
          <p:cNvSpPr/>
          <p:nvPr/>
        </p:nvSpPr>
        <p:spPr>
          <a:xfrm>
            <a:off x="4592568" y="5269935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4.75</a:t>
            </a:r>
            <a:endParaRPr lang="zh-TW" altLang="en-US" sz="1200" dirty="0"/>
          </a:p>
        </p:txBody>
      </p:sp>
      <p:sp>
        <p:nvSpPr>
          <p:cNvPr id="85" name="矩形 84"/>
          <p:cNvSpPr/>
          <p:nvPr/>
        </p:nvSpPr>
        <p:spPr>
          <a:xfrm>
            <a:off x="4592568" y="5493767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4.45</a:t>
            </a:r>
            <a:endParaRPr lang="zh-TW" altLang="en-US" sz="1200" dirty="0"/>
          </a:p>
        </p:txBody>
      </p:sp>
      <p:sp>
        <p:nvSpPr>
          <p:cNvPr id="86" name="矩形 85"/>
          <p:cNvSpPr/>
          <p:nvPr/>
        </p:nvSpPr>
        <p:spPr>
          <a:xfrm>
            <a:off x="5317426" y="291524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9.57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314478" y="3175748"/>
            <a:ext cx="380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2.9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314478" y="3399580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2.85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950539" y="2920277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16.77</a:t>
            </a:r>
            <a:endParaRPr lang="zh-TW" altLang="en-US" sz="1200" dirty="0"/>
          </a:p>
        </p:txBody>
      </p:sp>
      <p:sp>
        <p:nvSpPr>
          <p:cNvPr id="93" name="矩形 92"/>
          <p:cNvSpPr/>
          <p:nvPr/>
        </p:nvSpPr>
        <p:spPr>
          <a:xfrm>
            <a:off x="5947591" y="3180784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4.86</a:t>
            </a:r>
            <a:endParaRPr lang="zh-TW" altLang="en-US" sz="1200" dirty="0"/>
          </a:p>
        </p:txBody>
      </p:sp>
      <p:sp>
        <p:nvSpPr>
          <p:cNvPr id="94" name="矩形 93"/>
          <p:cNvSpPr/>
          <p:nvPr/>
        </p:nvSpPr>
        <p:spPr>
          <a:xfrm>
            <a:off x="5947591" y="3404616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4.58</a:t>
            </a:r>
            <a:endParaRPr lang="zh-TW" altLang="en-US" sz="1200" dirty="0"/>
          </a:p>
        </p:txBody>
      </p:sp>
      <p:sp>
        <p:nvSpPr>
          <p:cNvPr id="95" name="矩形 94"/>
          <p:cNvSpPr/>
          <p:nvPr/>
        </p:nvSpPr>
        <p:spPr>
          <a:xfrm>
            <a:off x="5317426" y="3938688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19.81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314478" y="4199195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7.25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314478" y="4423027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6.51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954789" y="3928242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31.67</a:t>
            </a:r>
            <a:endParaRPr lang="zh-TW" altLang="en-US" sz="1200" dirty="0"/>
          </a:p>
        </p:txBody>
      </p:sp>
      <p:sp>
        <p:nvSpPr>
          <p:cNvPr id="99" name="矩形 98"/>
          <p:cNvSpPr/>
          <p:nvPr/>
        </p:nvSpPr>
        <p:spPr>
          <a:xfrm>
            <a:off x="5951841" y="4188749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11.25</a:t>
            </a:r>
            <a:endParaRPr lang="zh-TW" altLang="en-US" sz="1200" dirty="0"/>
          </a:p>
        </p:txBody>
      </p:sp>
      <p:sp>
        <p:nvSpPr>
          <p:cNvPr id="100" name="矩形 99"/>
          <p:cNvSpPr/>
          <p:nvPr/>
        </p:nvSpPr>
        <p:spPr>
          <a:xfrm>
            <a:off x="5951841" y="441258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9.79</a:t>
            </a:r>
            <a:endParaRPr lang="zh-TW" altLang="en-US" sz="1200" dirty="0"/>
          </a:p>
        </p:txBody>
      </p:sp>
      <p:sp>
        <p:nvSpPr>
          <p:cNvPr id="101" name="矩形 100"/>
          <p:cNvSpPr/>
          <p:nvPr/>
        </p:nvSpPr>
        <p:spPr>
          <a:xfrm>
            <a:off x="6754279" y="2907556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20.24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6751331" y="3168063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6.72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751331" y="3391895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6.44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5317426" y="4997366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19.29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314478" y="5257873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6.56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5314478" y="5481705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5.99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5987800" y="5006259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27.66</a:t>
            </a:r>
            <a:endParaRPr lang="zh-TW" altLang="en-US" sz="1200" dirty="0"/>
          </a:p>
        </p:txBody>
      </p:sp>
      <p:sp>
        <p:nvSpPr>
          <p:cNvPr id="108" name="矩形 107"/>
          <p:cNvSpPr/>
          <p:nvPr/>
        </p:nvSpPr>
        <p:spPr>
          <a:xfrm>
            <a:off x="5984852" y="5266766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9.68</a:t>
            </a:r>
            <a:endParaRPr lang="zh-TW" altLang="en-US" sz="1200" dirty="0"/>
          </a:p>
        </p:txBody>
      </p:sp>
      <p:sp>
        <p:nvSpPr>
          <p:cNvPr id="109" name="矩形 108"/>
          <p:cNvSpPr/>
          <p:nvPr/>
        </p:nvSpPr>
        <p:spPr>
          <a:xfrm>
            <a:off x="5984852" y="5490598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8.46</a:t>
            </a:r>
            <a:endParaRPr lang="zh-TW" altLang="en-US" sz="1200" dirty="0"/>
          </a:p>
        </p:txBody>
      </p:sp>
      <p:sp>
        <p:nvSpPr>
          <p:cNvPr id="113" name="矩形 112"/>
          <p:cNvSpPr/>
          <p:nvPr/>
        </p:nvSpPr>
        <p:spPr>
          <a:xfrm>
            <a:off x="7396120" y="2915241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39.08</a:t>
            </a:r>
            <a:endParaRPr lang="zh-TW" altLang="en-US" sz="1200" dirty="0"/>
          </a:p>
        </p:txBody>
      </p:sp>
      <p:sp>
        <p:nvSpPr>
          <p:cNvPr id="114" name="矩形 113"/>
          <p:cNvSpPr/>
          <p:nvPr/>
        </p:nvSpPr>
        <p:spPr>
          <a:xfrm>
            <a:off x="7393172" y="3175748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13.08</a:t>
            </a:r>
            <a:endParaRPr lang="zh-TW" altLang="en-US" sz="1200" dirty="0"/>
          </a:p>
        </p:txBody>
      </p:sp>
      <p:sp>
        <p:nvSpPr>
          <p:cNvPr id="115" name="矩形 114"/>
          <p:cNvSpPr/>
          <p:nvPr/>
        </p:nvSpPr>
        <p:spPr>
          <a:xfrm>
            <a:off x="7393172" y="3399580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11.16</a:t>
            </a:r>
            <a:endParaRPr lang="zh-TW" altLang="en-US" sz="1200" dirty="0"/>
          </a:p>
        </p:txBody>
      </p:sp>
      <p:sp>
        <p:nvSpPr>
          <p:cNvPr id="116" name="矩形 115"/>
          <p:cNvSpPr/>
          <p:nvPr/>
        </p:nvSpPr>
        <p:spPr>
          <a:xfrm>
            <a:off x="6801153" y="3926925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12.62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6798205" y="4187432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4.82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6798205" y="4411264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4.79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393172" y="3936682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25.83</a:t>
            </a:r>
            <a:endParaRPr lang="zh-TW" altLang="en-US" sz="1200" dirty="0"/>
          </a:p>
        </p:txBody>
      </p:sp>
      <p:sp>
        <p:nvSpPr>
          <p:cNvPr id="120" name="矩形 119"/>
          <p:cNvSpPr/>
          <p:nvPr/>
        </p:nvSpPr>
        <p:spPr>
          <a:xfrm>
            <a:off x="7390224" y="4197189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9.85</a:t>
            </a:r>
            <a:endParaRPr lang="zh-TW" altLang="en-US" sz="1200" dirty="0"/>
          </a:p>
        </p:txBody>
      </p:sp>
      <p:sp>
        <p:nvSpPr>
          <p:cNvPr id="121" name="矩形 120"/>
          <p:cNvSpPr/>
          <p:nvPr/>
        </p:nvSpPr>
        <p:spPr>
          <a:xfrm>
            <a:off x="7390224" y="4421021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8.87</a:t>
            </a:r>
            <a:endParaRPr lang="zh-TW" altLang="en-US" sz="1200" dirty="0"/>
          </a:p>
        </p:txBody>
      </p:sp>
      <p:sp>
        <p:nvSpPr>
          <p:cNvPr id="122" name="矩形 121"/>
          <p:cNvSpPr/>
          <p:nvPr/>
        </p:nvSpPr>
        <p:spPr>
          <a:xfrm>
            <a:off x="6801153" y="4971923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15.81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6798205" y="5232430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5.49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6798205" y="5456262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u="sng" dirty="0" smtClean="0">
                <a:solidFill>
                  <a:srgbClr val="FF0000"/>
                </a:solidFill>
              </a:rPr>
              <a:t>5.47</a:t>
            </a:r>
            <a:endParaRPr lang="zh-TW" altLang="en-US" sz="1200" u="sng" dirty="0">
              <a:solidFill>
                <a:srgbClr val="FF0000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7395342" y="4996537"/>
            <a:ext cx="537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23.32</a:t>
            </a:r>
            <a:endParaRPr lang="zh-TW" altLang="en-US" sz="1200" dirty="0"/>
          </a:p>
        </p:txBody>
      </p:sp>
      <p:sp>
        <p:nvSpPr>
          <p:cNvPr id="126" name="矩形 125"/>
          <p:cNvSpPr/>
          <p:nvPr/>
        </p:nvSpPr>
        <p:spPr>
          <a:xfrm>
            <a:off x="7392394" y="5257044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8.86</a:t>
            </a:r>
            <a:endParaRPr lang="zh-TW" altLang="en-US" sz="1200" dirty="0"/>
          </a:p>
        </p:txBody>
      </p:sp>
      <p:sp>
        <p:nvSpPr>
          <p:cNvPr id="127" name="矩形 126"/>
          <p:cNvSpPr/>
          <p:nvPr/>
        </p:nvSpPr>
        <p:spPr>
          <a:xfrm>
            <a:off x="7392394" y="5480876"/>
            <a:ext cx="458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7.99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0161278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3215"/>
            <a:ext cx="7886700" cy="966963"/>
          </a:xfrm>
        </p:spPr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29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99822"/>
            <a:ext cx="4573482" cy="277706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132" y="3130791"/>
            <a:ext cx="3563820" cy="26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3892166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3215"/>
            <a:ext cx="7886700" cy="966963"/>
          </a:xfrm>
        </p:spPr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59" y="1140178"/>
            <a:ext cx="4852105" cy="293511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164" y="3318933"/>
            <a:ext cx="3432316" cy="247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86277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3215"/>
            <a:ext cx="7886700" cy="966963"/>
          </a:xfrm>
        </p:spPr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1407582"/>
            <a:ext cx="4573482" cy="275971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133" y="3397955"/>
            <a:ext cx="3584195" cy="254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602871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87354838"/>
              </p:ext>
            </p:extLst>
          </p:nvPr>
        </p:nvGraphicFramePr>
        <p:xfrm>
          <a:off x="1306287" y="1690689"/>
          <a:ext cx="5522025" cy="5074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223"/>
                <a:gridCol w="914400"/>
                <a:gridCol w="1009402"/>
              </a:tblGrid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Departments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Real MRTS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Predicted MRTS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台大中文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491.85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491.78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台大外文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636.93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636.36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臺大歷史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500.5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500.09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台大哲學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417.2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411.7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台大人類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516.28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511.33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台大圖書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539.45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540.32</a:t>
                      </a:r>
                      <a:endParaRPr lang="zh-TW" altLang="en-US" sz="1200" dirty="0" smtClean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臺大日文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496.15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495.57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607146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台大戲劇</a:t>
                      </a:r>
                      <a:r>
                        <a:rPr lang="en-US" altLang="zh-TW" sz="1200" dirty="0" smtClean="0">
                          <a:latin typeface="+mn-lt"/>
                        </a:rPr>
                        <a:t>(</a:t>
                      </a:r>
                      <a:r>
                        <a:rPr lang="zh-TW" altLang="en-US" sz="1200" dirty="0" smtClean="0">
                          <a:latin typeface="+mn-lt"/>
                        </a:rPr>
                        <a:t>男</a:t>
                      </a:r>
                      <a:r>
                        <a:rPr lang="en-US" altLang="zh-TW" sz="1200" dirty="0" smtClean="0">
                          <a:latin typeface="+mn-lt"/>
                        </a:rPr>
                        <a:t>)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486.9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482.18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台大戲劇</a:t>
                      </a:r>
                      <a:r>
                        <a:rPr lang="en-US" altLang="zh-TW" sz="1200" dirty="0" smtClean="0">
                          <a:latin typeface="+mn-lt"/>
                        </a:rPr>
                        <a:t>(</a:t>
                      </a:r>
                      <a:r>
                        <a:rPr lang="zh-TW" altLang="en-US" sz="1200" dirty="0" smtClean="0">
                          <a:latin typeface="+mn-lt"/>
                        </a:rPr>
                        <a:t>女</a:t>
                      </a:r>
                      <a:r>
                        <a:rPr lang="en-US" altLang="zh-TW" sz="1200" dirty="0" smtClean="0">
                          <a:latin typeface="+mn-lt"/>
                        </a:rPr>
                        <a:t>)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491.5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488.61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台大地理環境資源</a:t>
                      </a:r>
                      <a:r>
                        <a:rPr lang="en-US" altLang="zh-TW" sz="1200" dirty="0" smtClean="0">
                          <a:latin typeface="+mn-lt"/>
                        </a:rPr>
                        <a:t>B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417.9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415.79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482552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33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74174102"/>
              </p:ext>
            </p:extLst>
          </p:nvPr>
        </p:nvGraphicFramePr>
        <p:xfrm>
          <a:off x="1223159" y="1593704"/>
          <a:ext cx="5522025" cy="5155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223"/>
                <a:gridCol w="914400"/>
                <a:gridCol w="1009402"/>
              </a:tblGrid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Departments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Real MRTS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Predicted MRTS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err="1" smtClean="0">
                          <a:latin typeface="+mn-lt"/>
                        </a:rPr>
                        <a:t>Ntal</a:t>
                      </a:r>
                      <a:r>
                        <a:rPr lang="en-US" altLang="zh-TW" sz="1200" dirty="0" smtClean="0">
                          <a:latin typeface="+mn-lt"/>
                        </a:rPr>
                        <a:t>. Taiwan Univ., Dept. of Electrical Engineering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430.4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431.5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err="1" smtClean="0">
                          <a:latin typeface="+mn-lt"/>
                        </a:rPr>
                        <a:t>Ntal</a:t>
                      </a:r>
                      <a:r>
                        <a:rPr lang="en-US" altLang="zh-TW" sz="1200" dirty="0" smtClean="0">
                          <a:latin typeface="+mn-lt"/>
                        </a:rPr>
                        <a:t>. Taiwan Univ., Dept. of Materials Science and Engineering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427.6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429.1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Taiwan Univ., Dept. of Physics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423.2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425.11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Taiwan Univ., Dept. of Computer Science &amp; Information Engineering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419.8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421.89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Taiwan Univ., Dept. of Chemical Engineering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415.5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416.91</a:t>
                      </a:r>
                      <a:endParaRPr lang="zh-TW" altLang="en-US" sz="1200" dirty="0" smtClean="0">
                        <a:latin typeface="+mn-lt"/>
                      </a:endParaRPr>
                    </a:p>
                    <a:p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Taiwan Univ., Dept. of Business Administration division Of Technology Management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586 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581.48</a:t>
                      </a:r>
                      <a:endParaRPr lang="zh-TW" altLang="en-US" sz="1200" dirty="0" smtClean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Taiwan Univ., Dept. of Mechanical Engineering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413.8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413.3</a:t>
                      </a:r>
                      <a:endParaRPr lang="zh-TW" altLang="en-US" sz="1200" dirty="0" smtClean="0">
                        <a:latin typeface="+mn-lt"/>
                      </a:endParaRPr>
                    </a:p>
                    <a:p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607146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</a:t>
                      </a:r>
                      <a:r>
                        <a:rPr lang="en-US" altLang="zh-TW" sz="1200" dirty="0" err="1" smtClean="0">
                          <a:latin typeface="+mn-lt"/>
                        </a:rPr>
                        <a:t>Chiao</a:t>
                      </a:r>
                      <a:r>
                        <a:rPr lang="en-US" altLang="zh-TW" sz="1200" dirty="0" smtClean="0">
                          <a:latin typeface="+mn-lt"/>
                        </a:rPr>
                        <a:t> Tung Univ., Dept. of Electrical Engineering and Computer Science Undergraduate Honors Program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412.7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413.37</a:t>
                      </a:r>
                      <a:endParaRPr lang="zh-TW" altLang="en-US" sz="1200" dirty="0" smtClean="0">
                        <a:latin typeface="+mn-lt"/>
                      </a:endParaRPr>
                    </a:p>
                    <a:p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Taiwan Univ., Dept. of Chemistry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411.9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409.6</a:t>
                      </a:r>
                      <a:endParaRPr lang="zh-TW" altLang="en-US" sz="1200" dirty="0" smtClean="0">
                        <a:latin typeface="+mn-lt"/>
                      </a:endParaRPr>
                    </a:p>
                    <a:p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Natl. Taiwan Univ., Dept. of Information Management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 411.3 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410.95</a:t>
                      </a:r>
                      <a:endParaRPr lang="zh-TW" altLang="en-US" sz="1200" dirty="0" smtClean="0">
                        <a:latin typeface="+mn-lt"/>
                      </a:endParaRPr>
                    </a:p>
                    <a:p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5943950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34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00372962"/>
              </p:ext>
            </p:extLst>
          </p:nvPr>
        </p:nvGraphicFramePr>
        <p:xfrm>
          <a:off x="1223159" y="1593704"/>
          <a:ext cx="5522025" cy="5074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223"/>
                <a:gridCol w="914400"/>
                <a:gridCol w="1009402"/>
              </a:tblGrid>
              <a:tr h="445585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Departments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Real MRTS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Predicted MRTS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台大心理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481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478.94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台大醫學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544.7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538.75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台大牙醫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533.8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526.09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台大藥學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590.1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583.71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台大醫學檢驗暨生物技術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494.3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491.38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台大護理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466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462.4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臺大物理治療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493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487.52</a:t>
                      </a:r>
                      <a:endParaRPr lang="zh-TW" altLang="en-US" sz="1200" dirty="0" smtClean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臺大職能治療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488.8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484.89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607146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台大農藝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513.3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511.51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  <a:tr h="445585"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+mn-lt"/>
                        </a:rPr>
                        <a:t>台大農業化學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+mn-lt"/>
                        </a:rPr>
                        <a:t>478.8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latin typeface="+mn-lt"/>
                        </a:rPr>
                        <a:t>479.7</a:t>
                      </a:r>
                      <a:endParaRPr lang="zh-TW" altLang="en-US" sz="12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264336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 and Future </a:t>
            </a:r>
            <a:r>
              <a:rPr lang="en-US" altLang="zh-TW" dirty="0" smtClean="0"/>
              <a:t> Work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 useful factor for the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biased </a:t>
                </a:r>
                <a:r>
                  <a:rPr lang="en-US" altLang="zh-TW" dirty="0"/>
                  <a:t>prediction </a:t>
                </a:r>
                <a:r>
                  <a:rPr lang="en-US" altLang="zh-TW" dirty="0" smtClean="0"/>
                  <a:t>scores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A method that considers the trend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</m:sSub>
                  </m:oMath>
                </a14:m>
                <a:r>
                  <a:rPr lang="en-US" altLang="zh-TW" dirty="0" smtClean="0"/>
                  <a:t> will </a:t>
                </a:r>
                <a:r>
                  <a:rPr lang="en-US" altLang="zh-TW" dirty="0"/>
                  <a:t>be our next research topic.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Update </a:t>
                </a:r>
                <a:r>
                  <a:rPr lang="en-US" altLang="zh-TW" dirty="0" smtClean="0"/>
                  <a:t>CEE prediction system, and implement our newest method on the website.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6201095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Thank You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363195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1910</TotalTime>
  <Words>1739</Words>
  <Application>Microsoft Office PowerPoint</Application>
  <PresentationFormat>如螢幕大小 (4:3)</PresentationFormat>
  <Paragraphs>991</Paragraphs>
  <Slides>36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37" baseType="lpstr">
      <vt:lpstr>Office 佈景主題</vt:lpstr>
      <vt:lpstr>The Department Score Prediction and Analysis of the College Entrance Examination</vt:lpstr>
      <vt:lpstr>Admission Way</vt:lpstr>
      <vt:lpstr>College Entrance Examination (CEE) Prediction System</vt:lpstr>
      <vt:lpstr>The Forward Method</vt:lpstr>
      <vt:lpstr>The Forward Method</vt:lpstr>
      <vt:lpstr>The Forward Method</vt:lpstr>
      <vt:lpstr>Forward Method with School Ranking</vt:lpstr>
      <vt:lpstr>Forward Method with School Ranking</vt:lpstr>
      <vt:lpstr>Forward Method with School Ranking</vt:lpstr>
      <vt:lpstr>Lin’s Method</vt:lpstr>
      <vt:lpstr>Lin’s Method</vt:lpstr>
      <vt:lpstr>Lin’s Method</vt:lpstr>
      <vt:lpstr>Prediction with Fuzzy Time Series</vt:lpstr>
      <vt:lpstr>Prediction with Fuzzy Time Series</vt:lpstr>
      <vt:lpstr>Prediction with Fuzzy Time Series</vt:lpstr>
      <vt:lpstr>Prediction with Fuzzy Time Series</vt:lpstr>
      <vt:lpstr>Prediction with Fuzzy Time Series</vt:lpstr>
      <vt:lpstr>Prediction with Fuzzy Time Series</vt:lpstr>
      <vt:lpstr>Prediction with Fuzzy Time Series</vt:lpstr>
      <vt:lpstr>Prediction with Fuzzy Time Series</vt:lpstr>
      <vt:lpstr>The Admission Rate</vt:lpstr>
      <vt:lpstr>Forward method with Admission Rate (FMAR)</vt:lpstr>
      <vt:lpstr>Experimental Results</vt:lpstr>
      <vt:lpstr>投影片 24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Conclusion and Future  Work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Biosequences</dc:title>
  <dc:creator>shiujj</dc:creator>
  <cp:lastModifiedBy>admin</cp:lastModifiedBy>
  <cp:revision>128</cp:revision>
  <cp:lastPrinted>2014-04-15T08:58:27Z</cp:lastPrinted>
  <dcterms:created xsi:type="dcterms:W3CDTF">2014-02-21T09:41:11Z</dcterms:created>
  <dcterms:modified xsi:type="dcterms:W3CDTF">2014-07-22T12:07:12Z</dcterms:modified>
</cp:coreProperties>
</file>