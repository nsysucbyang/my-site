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-2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64C8D-8791-40DE-9C78-B062CC5CE0DC}" type="datetimeFigureOut">
              <a:rPr lang="zh-TW" altLang="en-US" smtClean="0"/>
              <a:t>2014/12/1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E5AB2C-D8D8-4212-9417-63B76C2B73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E5AB2C-D8D8-4212-9417-63B76C2B7358}" type="slidenum">
              <a:rPr lang="zh-TW" altLang="en-US" smtClean="0"/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E5AB2C-D8D8-4212-9417-63B76C2B7358}" type="slidenum">
              <a:rPr lang="zh-TW" altLang="en-US" smtClean="0"/>
              <a:t>23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DF580-7B2C-4263-AED9-DB23E20AF80D}" type="datetime1">
              <a:rPr lang="zh-TW" altLang="en-US" smtClean="0"/>
              <a:t>2014/12/2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25158-AED5-4F50-BEC4-3C9043B4E6E1}" type="datetime1">
              <a:rPr lang="zh-TW" altLang="en-US" smtClean="0"/>
              <a:t>2014/12/2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9F076-61A4-4E98-9A80-33E24252C4E4}" type="datetime1">
              <a:rPr lang="zh-TW" altLang="en-US" smtClean="0"/>
              <a:t>2014/12/2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7AA87-7A50-4088-9292-20E72E19865F}" type="datetime1">
              <a:rPr lang="zh-TW" altLang="en-US" smtClean="0"/>
              <a:t>2014/12/2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BDB8F-F12B-42A3-BB0B-C0AC32B5B9B4}" type="datetime1">
              <a:rPr lang="zh-TW" altLang="en-US" smtClean="0"/>
              <a:t>2014/12/2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D2517-6C9F-48FC-807C-2EAB4B29F97F}" type="datetime1">
              <a:rPr lang="zh-TW" altLang="en-US" smtClean="0"/>
              <a:t>2014/12/2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8F862-B247-4B6A-B140-DB116443C113}" type="datetime1">
              <a:rPr lang="zh-TW" altLang="en-US" smtClean="0"/>
              <a:t>2014/12/2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724E6-9EFD-4C40-9AFD-F7CB718BA2D6}" type="datetime1">
              <a:rPr lang="zh-TW" altLang="en-US" smtClean="0"/>
              <a:t>2014/12/2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F27D9-950D-4D04-AC70-A4F1D3E7A559}" type="datetime1">
              <a:rPr lang="zh-TW" altLang="en-US" smtClean="0"/>
              <a:t>2014/12/2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1D4E5-FF93-4756-B26C-49BE6415C3BA}" type="datetime1">
              <a:rPr lang="zh-TW" altLang="en-US" smtClean="0"/>
              <a:t>2014/12/2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3E96C-A6CB-46DF-A50B-70C866EBDE3F}" type="datetime1">
              <a:rPr lang="zh-TW" altLang="en-US" smtClean="0"/>
              <a:t>2014/12/2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8E395-478F-446E-9DC2-8900D85B56A2}" type="datetime1">
              <a:rPr lang="zh-TW" altLang="en-US" smtClean="0"/>
              <a:t>2014/12/2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/>
              <a:t>Fast algorithm for constrained longest common subsequence </a:t>
            </a:r>
            <a:r>
              <a:rPr lang="en-US" altLang="zh-TW" b="1" dirty="0" smtClean="0"/>
              <a:t>problem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Theoretical and Applied </a:t>
            </a:r>
            <a:r>
              <a:rPr lang="en-US" altLang="zh-TW" dirty="0" smtClean="0"/>
              <a:t>Informatics</a:t>
            </a:r>
            <a:endParaRPr lang="en-US" altLang="zh-TW" dirty="0" smtClean="0"/>
          </a:p>
          <a:p>
            <a:r>
              <a:rPr lang="en-US" altLang="zh-TW" dirty="0" smtClean="0"/>
              <a:t>Vol. 19 (2007), no. </a:t>
            </a:r>
            <a:r>
              <a:rPr lang="en-US" altLang="zh-TW" dirty="0" smtClean="0"/>
              <a:t>2 pp</a:t>
            </a:r>
            <a:r>
              <a:rPr lang="en-US" altLang="zh-TW" dirty="0" smtClean="0"/>
              <a:t>. </a:t>
            </a:r>
            <a:r>
              <a:rPr lang="en-US" altLang="zh-TW" dirty="0" smtClean="0"/>
              <a:t>91–102</a:t>
            </a:r>
          </a:p>
          <a:p>
            <a:r>
              <a:rPr lang="en-US" altLang="zh-TW" dirty="0" smtClean="0"/>
              <a:t>SEBASTIAN DEOROWICZ </a:t>
            </a:r>
            <a:r>
              <a:rPr lang="en-US" altLang="zh-TW" i="1" baseline="30000" dirty="0" smtClean="0"/>
              <a:t>a</a:t>
            </a:r>
            <a:endParaRPr lang="zh-TW" altLang="en-US" baseline="30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6357950" y="5500702"/>
            <a:ext cx="25366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 smtClean="0">
                <a:latin typeface="Calibri" pitchFamily="34" charset="0"/>
              </a:rPr>
              <a:t>Presenter:</a:t>
            </a:r>
            <a:r>
              <a:rPr lang="en-US" dirty="0" err="1" smtClean="0"/>
              <a:t>De-Sheng</a:t>
            </a:r>
            <a:r>
              <a:rPr lang="en-US" dirty="0" smtClean="0"/>
              <a:t> </a:t>
            </a:r>
            <a:r>
              <a:rPr lang="en-US" dirty="0" err="1" smtClean="0"/>
              <a:t>Jhan</a:t>
            </a:r>
            <a:endParaRPr lang="en-US" altLang="zh-TW" dirty="0" smtClean="0">
              <a:latin typeface="Calibri" pitchFamily="34" charset="0"/>
            </a:endParaRPr>
          </a:p>
          <a:p>
            <a:r>
              <a:rPr lang="en-US" altLang="zh-TW" dirty="0" smtClean="0">
                <a:latin typeface="Calibri" pitchFamily="34" charset="0"/>
              </a:rPr>
              <a:t>              </a:t>
            </a:r>
            <a:r>
              <a:rPr lang="en-US" altLang="zh-TW" dirty="0" smtClean="0">
                <a:latin typeface="Calibri" pitchFamily="34" charset="0"/>
              </a:rPr>
              <a:t>2014/12/02</a:t>
            </a:r>
            <a:endParaRPr lang="zh-TW" altLang="en-US" dirty="0" smtClean="0">
              <a:latin typeface="Calibri" pitchFamily="34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</a:t>
            </a:r>
            <a:r>
              <a:rPr lang="en-US" altLang="zh-TW" dirty="0" smtClean="0"/>
              <a:t>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altLang="zh-TW" dirty="0" smtClean="0"/>
              <a:t>    The </a:t>
            </a:r>
            <a:r>
              <a:rPr lang="en-US" altLang="zh-TW" dirty="0" smtClean="0"/>
              <a:t>problem of finding the constrained longest common subsequence (CLCS) for </a:t>
            </a:r>
            <a:r>
              <a:rPr lang="en-US" altLang="zh-TW" dirty="0" smtClean="0"/>
              <a:t>the sequences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/>
              <a:t> and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/>
              <a:t> with respect to the sequence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dirty="0" smtClean="0"/>
              <a:t> was introduced recently. Its goal is to find the </a:t>
            </a:r>
            <a:r>
              <a:rPr lang="en-US" altLang="zh-TW" dirty="0" smtClean="0"/>
              <a:t>longest subsequence </a:t>
            </a:r>
            <a:r>
              <a:rPr lang="en-US" altLang="zh-TW" dirty="0" smtClean="0"/>
              <a:t>of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/>
              <a:t> and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/>
              <a:t> such that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dirty="0" smtClean="0"/>
              <a:t> is a subsequence of it. The best known algorithms for its solving </a:t>
            </a:r>
            <a:r>
              <a:rPr lang="en-US" altLang="zh-TW" dirty="0" smtClean="0"/>
              <a:t>require time </a:t>
            </a:r>
            <a:r>
              <a:rPr lang="en-US" altLang="zh-TW" dirty="0" smtClean="0"/>
              <a:t>of order of a product of the sequence lengths. We introduce a novel approach in which time and </a:t>
            </a:r>
            <a:r>
              <a:rPr lang="en-US" altLang="zh-TW" dirty="0" smtClean="0"/>
              <a:t>space complexities </a:t>
            </a:r>
            <a:r>
              <a:rPr lang="en-US" altLang="zh-TW" dirty="0" smtClean="0"/>
              <a:t>depend also on the number of matches between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/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/>
              <a:t>, and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dirty="0" smtClean="0"/>
              <a:t>. The time complexity is better </a:t>
            </a:r>
            <a:r>
              <a:rPr lang="en-US" altLang="zh-TW" dirty="0" smtClean="0"/>
              <a:t>for typical </a:t>
            </a:r>
            <a:r>
              <a:rPr lang="en-US" altLang="zh-TW" dirty="0" smtClean="0"/>
              <a:t>parameter settings and never worse.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 = 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…a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 = A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BAAD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BC , n = 12</a:t>
            </a:r>
          </a:p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 = b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baseline="-25000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CBC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AADC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m = 12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LCS(A, B) = B A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D C B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|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| = 7</a:t>
            </a:r>
            <a:endParaRPr lang="zh-TW" alt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</a:t>
            </a:fld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…a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 = ABAADACBAABC , n = 12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b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baseline="-25000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CBCBDAADCDBA, m = 12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LCS(A, B) = B A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D C B A, |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| = 7</a:t>
            </a:r>
          </a:p>
          <a:p>
            <a:pPr>
              <a:buNone/>
            </a:pPr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p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…p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CBB, r = 3</a:t>
            </a:r>
          </a:p>
          <a:p>
            <a:pPr>
              <a:buNone/>
            </a:pP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altLang="zh-TW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not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a subsequence of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C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…a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 = A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AADA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CBAAB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 , n = 12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b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baseline="-25000" dirty="0" err="1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C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BCB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DCD</a:t>
            </a:r>
            <a:r>
              <a:rPr lang="en-US" altLang="zh-TW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A, m = 12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zh-TW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CBB</a:t>
            </a:r>
          </a:p>
          <a:p>
            <a:endParaRPr lang="en-US" altLang="zh-TW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CLCS(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) = B </a:t>
            </a:r>
            <a:r>
              <a:rPr lang="en-US" altLang="zh-TW" u="sng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u="sng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u="sng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, |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C | = 6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TW" u="sng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Chin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et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al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. [2004]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500174"/>
            <a:ext cx="8858281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100" y="4000504"/>
            <a:ext cx="6215106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文字方塊 5"/>
          <p:cNvSpPr txBox="1"/>
          <p:nvPr/>
        </p:nvSpPr>
        <p:spPr>
          <a:xfrm>
            <a:off x="1571604" y="6000768"/>
            <a:ext cx="62865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/>
              <a:t>A</a:t>
            </a:r>
            <a:r>
              <a:rPr lang="en-US" altLang="zh-TW" sz="3200" baseline="-25000" dirty="0" smtClean="0"/>
              <a:t>i</a:t>
            </a:r>
            <a:r>
              <a:rPr lang="en-US" altLang="zh-TW" sz="3200" dirty="0" smtClean="0"/>
              <a:t> = </a:t>
            </a:r>
            <a:r>
              <a:rPr lang="en-US" altLang="zh-TW" sz="3200" dirty="0" err="1" smtClean="0"/>
              <a:t>b</a:t>
            </a:r>
            <a:r>
              <a:rPr lang="en-US" altLang="zh-TW" sz="3200" baseline="-25000" dirty="0" err="1" smtClean="0"/>
              <a:t>j</a:t>
            </a:r>
            <a:r>
              <a:rPr lang="en-US" altLang="zh-TW" sz="3200" dirty="0" smtClean="0"/>
              <a:t> = </a:t>
            </a:r>
            <a:r>
              <a:rPr lang="en-US" altLang="zh-TW" sz="3200" dirty="0" err="1" smtClean="0"/>
              <a:t>p</a:t>
            </a:r>
            <a:r>
              <a:rPr lang="en-US" altLang="zh-TW" sz="3200" baseline="-25000" dirty="0" err="1" smtClean="0"/>
              <a:t>k</a:t>
            </a:r>
            <a:r>
              <a:rPr lang="en-US" altLang="zh-TW" sz="3200" dirty="0" smtClean="0"/>
              <a:t> : </a:t>
            </a:r>
            <a:r>
              <a:rPr lang="en-US" altLang="zh-TW" sz="3200" dirty="0" smtClean="0">
                <a:solidFill>
                  <a:srgbClr val="FF0000"/>
                </a:solidFill>
              </a:rPr>
              <a:t>strong match</a:t>
            </a:r>
            <a:endParaRPr lang="zh-TW" altLang="en-US" sz="3200" baseline="-25000" dirty="0">
              <a:solidFill>
                <a:srgbClr val="FF0000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143768" y="5500702"/>
            <a:ext cx="15680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 smtClean="0"/>
              <a:t>O</a:t>
            </a:r>
            <a:r>
              <a:rPr lang="en-US" altLang="zh-TW" sz="3200" dirty="0" smtClean="0"/>
              <a:t>( </a:t>
            </a:r>
            <a:r>
              <a:rPr lang="en-US" altLang="zh-TW" sz="3200" i="1" dirty="0" err="1" smtClean="0"/>
              <a:t>rmn</a:t>
            </a:r>
            <a:r>
              <a:rPr lang="en-US" altLang="zh-TW" sz="3200" i="1" dirty="0" smtClean="0"/>
              <a:t> </a:t>
            </a:r>
            <a:r>
              <a:rPr lang="en-US" altLang="zh-TW" sz="3200" dirty="0" smtClean="0"/>
              <a:t>)</a:t>
            </a:r>
            <a:endParaRPr lang="zh-TW" altLang="en-US" sz="3200" dirty="0"/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42852"/>
            <a:ext cx="8229600" cy="5983311"/>
          </a:xfrm>
        </p:spPr>
        <p:txBody>
          <a:bodyPr/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ABAADACBAABC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CBCBDAADCDBA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= CBB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9001124" cy="4286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Our Algorithm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7" y="1643050"/>
            <a:ext cx="7572428" cy="1714512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4071942"/>
            <a:ext cx="7500990" cy="264317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6" name="向下箭號 5"/>
          <p:cNvSpPr/>
          <p:nvPr/>
        </p:nvSpPr>
        <p:spPr>
          <a:xfrm>
            <a:off x="3929058" y="3500438"/>
            <a:ext cx="571504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929322" cy="264317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5" name="文字方塊 4"/>
          <p:cNvSpPr txBox="1"/>
          <p:nvPr/>
        </p:nvSpPr>
        <p:spPr>
          <a:xfrm>
            <a:off x="6143636" y="214290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>
                <a:solidFill>
                  <a:srgbClr val="FF0000"/>
                </a:solidFill>
              </a:rPr>
              <a:t>case1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6143636" y="986837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/>
              <a:t>case2</a:t>
            </a:r>
            <a:endParaRPr lang="zh-TW" altLang="en-US" sz="32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6143636" y="1857364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/>
              <a:t>case3</a:t>
            </a:r>
            <a:endParaRPr lang="zh-TW" altLang="en-US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2875575"/>
            <a:ext cx="3960000" cy="3841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2873948"/>
            <a:ext cx="4207495" cy="384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文字方塊 10"/>
          <p:cNvSpPr txBox="1"/>
          <p:nvPr/>
        </p:nvSpPr>
        <p:spPr>
          <a:xfrm>
            <a:off x="2357422" y="2500306"/>
            <a:ext cx="731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0070C0"/>
                </a:solidFill>
              </a:rPr>
              <a:t>K-1</a:t>
            </a:r>
            <a:endParaRPr lang="zh-TW" altLang="en-US" sz="3200" dirty="0">
              <a:solidFill>
                <a:srgbClr val="0070C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865639" y="2500306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0070C0"/>
                </a:solidFill>
              </a:rPr>
              <a:t>K</a:t>
            </a:r>
            <a:endParaRPr lang="zh-TW" altLang="en-US" sz="3200" dirty="0">
              <a:solidFill>
                <a:srgbClr val="0070C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2714620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Case1: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643702" y="4758041"/>
            <a:ext cx="285752" cy="28575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1058132" y="3419571"/>
            <a:ext cx="1336276" cy="13503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投影片編號版面配置區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929322" cy="264317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6" name="文字方塊 5"/>
          <p:cNvSpPr txBox="1"/>
          <p:nvPr/>
        </p:nvSpPr>
        <p:spPr>
          <a:xfrm>
            <a:off x="6143636" y="214290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/>
              <a:t>case1</a:t>
            </a:r>
            <a:endParaRPr lang="zh-TW" altLang="en-US" sz="32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6143636" y="986837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>
                <a:solidFill>
                  <a:srgbClr val="FF0000"/>
                </a:solidFill>
              </a:rPr>
              <a:t>case2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143636" y="1857364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>
                <a:solidFill>
                  <a:srgbClr val="FF0000"/>
                </a:solidFill>
              </a:rPr>
              <a:t>case3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2875575"/>
            <a:ext cx="3960000" cy="3841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2873948"/>
            <a:ext cx="4207495" cy="384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矩形 12"/>
          <p:cNvSpPr/>
          <p:nvPr/>
        </p:nvSpPr>
        <p:spPr>
          <a:xfrm>
            <a:off x="0" y="2714620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Case2: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58132" y="3419571"/>
            <a:ext cx="1336276" cy="13503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4286248" y="2714620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Case3: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653129" y="4743165"/>
            <a:ext cx="285752" cy="28575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2385703" y="4767468"/>
            <a:ext cx="285752" cy="28575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/>
          <p:cNvSpPr/>
          <p:nvPr/>
        </p:nvSpPr>
        <p:spPr>
          <a:xfrm>
            <a:off x="5235988" y="3429000"/>
            <a:ext cx="1693466" cy="15716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投影片編號版面配置區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357166"/>
            <a:ext cx="7500990" cy="264317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3757616"/>
            <a:ext cx="7572428" cy="2457466"/>
          </a:xfrm>
          <a:prstGeom prst="rect">
            <a:avLst/>
          </a:prstGeom>
          <a:noFill/>
          <a:ln w="9525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6" name="向下箭號 5"/>
          <p:cNvSpPr/>
          <p:nvPr/>
        </p:nvSpPr>
        <p:spPr>
          <a:xfrm>
            <a:off x="3929058" y="3143248"/>
            <a:ext cx="571504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14278"/>
            <a:ext cx="7572428" cy="2457466"/>
          </a:xfrm>
          <a:prstGeom prst="rect">
            <a:avLst/>
          </a:prstGeom>
          <a:noFill/>
          <a:ln w="9525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5" name="文字方塊 4"/>
          <p:cNvSpPr txBox="1"/>
          <p:nvPr/>
        </p:nvSpPr>
        <p:spPr>
          <a:xfrm>
            <a:off x="7858148" y="428604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>
                <a:solidFill>
                  <a:srgbClr val="FF0000"/>
                </a:solidFill>
              </a:rPr>
              <a:t>case1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858148" y="1486903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/>
              <a:t>case2</a:t>
            </a:r>
            <a:endParaRPr lang="zh-TW" altLang="en-US" sz="32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2875575"/>
            <a:ext cx="3960000" cy="3841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2873948"/>
            <a:ext cx="4207495" cy="384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矩形 8"/>
          <p:cNvSpPr/>
          <p:nvPr/>
        </p:nvSpPr>
        <p:spPr>
          <a:xfrm>
            <a:off x="0" y="2714620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Case1: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643702" y="4758041"/>
            <a:ext cx="285752" cy="28575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1058132" y="3419571"/>
            <a:ext cx="1336276" cy="13503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2357422" y="2500306"/>
            <a:ext cx="731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0070C0"/>
                </a:solidFill>
              </a:rPr>
              <a:t>K-1</a:t>
            </a:r>
            <a:endParaRPr lang="zh-TW" altLang="en-US" sz="3200" dirty="0">
              <a:solidFill>
                <a:srgbClr val="0070C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865639" y="2500306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0070C0"/>
                </a:solidFill>
              </a:rPr>
              <a:t>K</a:t>
            </a:r>
            <a:endParaRPr lang="zh-TW" altLang="en-US" sz="3200" dirty="0">
              <a:solidFill>
                <a:srgbClr val="0070C0"/>
              </a:solidFill>
            </a:endParaRPr>
          </a:p>
        </p:txBody>
      </p:sp>
      <p:sp>
        <p:nvSpPr>
          <p:cNvPr id="14" name="笑臉 13"/>
          <p:cNvSpPr/>
          <p:nvPr/>
        </p:nvSpPr>
        <p:spPr>
          <a:xfrm>
            <a:off x="2152535" y="4519424"/>
            <a:ext cx="214314" cy="214314"/>
          </a:xfrm>
          <a:prstGeom prst="smileyFac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笑臉 14"/>
          <p:cNvSpPr/>
          <p:nvPr/>
        </p:nvSpPr>
        <p:spPr>
          <a:xfrm>
            <a:off x="1332987" y="4257975"/>
            <a:ext cx="214314" cy="214314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笑臉 15"/>
          <p:cNvSpPr/>
          <p:nvPr/>
        </p:nvSpPr>
        <p:spPr>
          <a:xfrm>
            <a:off x="1334458" y="3710774"/>
            <a:ext cx="214314" cy="214314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114278"/>
            <a:ext cx="7572428" cy="2457466"/>
          </a:xfrm>
          <a:prstGeom prst="rect">
            <a:avLst/>
          </a:prstGeom>
          <a:noFill/>
          <a:ln w="9525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30" name="文字方塊 29"/>
          <p:cNvSpPr txBox="1"/>
          <p:nvPr/>
        </p:nvSpPr>
        <p:spPr>
          <a:xfrm>
            <a:off x="7858148" y="428604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/>
              <a:t>case1</a:t>
            </a:r>
            <a:endParaRPr lang="zh-TW" altLang="en-US" sz="32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7858148" y="1486903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>
                <a:solidFill>
                  <a:srgbClr val="FF0000"/>
                </a:solidFill>
              </a:rPr>
              <a:t>case2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2875575"/>
            <a:ext cx="3960000" cy="3841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" name="矩形 33"/>
          <p:cNvSpPr/>
          <p:nvPr/>
        </p:nvSpPr>
        <p:spPr>
          <a:xfrm>
            <a:off x="0" y="2714620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Case2: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058132" y="3419571"/>
            <a:ext cx="1336276" cy="13503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笑臉 38"/>
          <p:cNvSpPr/>
          <p:nvPr/>
        </p:nvSpPr>
        <p:spPr>
          <a:xfrm>
            <a:off x="2152535" y="4519424"/>
            <a:ext cx="214314" cy="214314"/>
          </a:xfrm>
          <a:prstGeom prst="smileyFac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笑臉 39"/>
          <p:cNvSpPr/>
          <p:nvPr/>
        </p:nvSpPr>
        <p:spPr>
          <a:xfrm>
            <a:off x="1332987" y="4257975"/>
            <a:ext cx="214314" cy="214314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笑臉 40"/>
          <p:cNvSpPr/>
          <p:nvPr/>
        </p:nvSpPr>
        <p:spPr>
          <a:xfrm>
            <a:off x="1334458" y="3710774"/>
            <a:ext cx="214314" cy="214314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/>
          <p:cNvSpPr/>
          <p:nvPr/>
        </p:nvSpPr>
        <p:spPr>
          <a:xfrm>
            <a:off x="2400579" y="4776895"/>
            <a:ext cx="285752" cy="28575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投影片編號版面配置區 4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Variant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the Hunt-Szymanski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428736"/>
            <a:ext cx="8643998" cy="520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42984"/>
            <a:ext cx="7358082" cy="5715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Algorithm computing the length of the CLCS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6186974" cy="4643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字方塊 4"/>
          <p:cNvSpPr txBox="1"/>
          <p:nvPr/>
        </p:nvSpPr>
        <p:spPr>
          <a:xfrm>
            <a:off x="6143636" y="571480"/>
            <a:ext cx="3233578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200" dirty="0" smtClean="0"/>
              <a:t>&lt;7,1&gt;</a:t>
            </a:r>
          </a:p>
          <a:p>
            <a:r>
              <a:rPr lang="en-US" altLang="zh-TW" sz="2200" dirty="0" smtClean="0"/>
              <a:t>&lt;7,1&gt;,&lt;8,2&gt;</a:t>
            </a:r>
          </a:p>
          <a:p>
            <a:r>
              <a:rPr lang="en-US" altLang="zh-TW" sz="2200" dirty="0" smtClean="0"/>
              <a:t>&lt;7,2&gt;,&lt;12,3&gt;</a:t>
            </a:r>
          </a:p>
          <a:p>
            <a:r>
              <a:rPr lang="en-US" altLang="zh-TW" sz="2200" dirty="0" smtClean="0"/>
              <a:t>&lt;7,2&gt;,&lt;8,3&gt;</a:t>
            </a:r>
          </a:p>
          <a:p>
            <a:r>
              <a:rPr lang="en-US" altLang="zh-TW" sz="2200" dirty="0" smtClean="0"/>
              <a:t>&lt;7,2&gt;,&lt;8,3</a:t>
            </a:r>
            <a:r>
              <a:rPr lang="en-US" altLang="zh-TW" sz="2200" dirty="0" smtClean="0"/>
              <a:t>&gt;</a:t>
            </a:r>
          </a:p>
          <a:p>
            <a:r>
              <a:rPr lang="en-US" altLang="zh-TW" sz="2200" dirty="0" smtClean="0"/>
              <a:t>&lt;7,2&gt;,&lt;8,3&gt;,&lt;9,4&gt;</a:t>
            </a:r>
          </a:p>
          <a:p>
            <a:r>
              <a:rPr lang="en-US" altLang="zh-TW" sz="2200" dirty="0" smtClean="0"/>
              <a:t>&lt;7,2&gt;,&lt;8,3&gt;,&lt;9,4</a:t>
            </a:r>
            <a:r>
              <a:rPr lang="en-US" altLang="zh-TW" sz="2200" dirty="0" smtClean="0"/>
              <a:t>&gt;,&lt;10,5&gt;</a:t>
            </a:r>
          </a:p>
          <a:p>
            <a:r>
              <a:rPr lang="en-US" altLang="zh-TW" sz="2200" dirty="0" smtClean="0"/>
              <a:t>&lt;</a:t>
            </a:r>
            <a:r>
              <a:rPr lang="en-US" altLang="zh-TW" sz="2200" dirty="0" smtClean="0"/>
              <a:t>7,2&gt;,&lt;</a:t>
            </a:r>
            <a:r>
              <a:rPr lang="en-US" altLang="zh-TW" sz="2200" dirty="0" smtClean="0"/>
              <a:t>8,3&gt;,&lt;9,4</a:t>
            </a:r>
            <a:r>
              <a:rPr lang="en-US" altLang="zh-TW" sz="2200" dirty="0" smtClean="0"/>
              <a:t>&gt;,&lt;</a:t>
            </a:r>
            <a:r>
              <a:rPr lang="en-US" altLang="zh-TW" sz="2200" dirty="0" smtClean="0"/>
              <a:t>10,5&gt;</a:t>
            </a:r>
          </a:p>
          <a:p>
            <a:r>
              <a:rPr lang="en-US" altLang="zh-TW" sz="2200" dirty="0" smtClean="0"/>
              <a:t>&lt;7,5&gt;,&lt;12,6&gt;,&lt;9,4&gt;,&lt;10,5&gt;</a:t>
            </a:r>
          </a:p>
          <a:p>
            <a:r>
              <a:rPr lang="en-US" altLang="zh-TW" sz="2200" dirty="0" smtClean="0"/>
              <a:t>&lt;7,5</a:t>
            </a:r>
            <a:r>
              <a:rPr lang="en-US" altLang="zh-TW" sz="2200" dirty="0" smtClean="0"/>
              <a:t>&gt;,&lt;12,6&gt;,&lt;</a:t>
            </a:r>
            <a:r>
              <a:rPr lang="en-US" altLang="zh-TW" sz="2200" dirty="0" smtClean="0"/>
              <a:t>9,4&gt;,&lt;10,5</a:t>
            </a:r>
            <a:r>
              <a:rPr lang="en-US" altLang="zh-TW" sz="2200" dirty="0" smtClean="0"/>
              <a:t>&gt;</a:t>
            </a:r>
          </a:p>
          <a:p>
            <a:r>
              <a:rPr lang="en-US" altLang="zh-TW" sz="2200" dirty="0" smtClean="0"/>
              <a:t>&lt;7,5&gt;,&lt;</a:t>
            </a:r>
            <a:r>
              <a:rPr lang="en-US" altLang="zh-TW" sz="2200" dirty="0" smtClean="0"/>
              <a:t>8,6&gt;,&lt;</a:t>
            </a:r>
            <a:r>
              <a:rPr lang="en-US" altLang="zh-TW" sz="2200" dirty="0" smtClean="0"/>
              <a:t>9,4&gt;,&lt;10,5</a:t>
            </a:r>
            <a:r>
              <a:rPr lang="en-US" altLang="zh-TW" sz="2200" dirty="0" smtClean="0"/>
              <a:t>&gt;</a:t>
            </a:r>
          </a:p>
          <a:p>
            <a:r>
              <a:rPr lang="en-US" altLang="zh-TW" sz="2200" dirty="0" smtClean="0"/>
              <a:t>&lt;7,5&gt;,&lt;</a:t>
            </a:r>
            <a:r>
              <a:rPr lang="en-US" altLang="zh-TW" sz="2200" dirty="0" smtClean="0"/>
              <a:t>8,6&gt;,&lt;9,7&gt;,&lt;</a:t>
            </a:r>
            <a:r>
              <a:rPr lang="en-US" altLang="zh-TW" sz="2200" dirty="0" smtClean="0"/>
              <a:t>10,5&gt;</a:t>
            </a:r>
            <a:endParaRPr lang="zh-TW" altLang="en-US" sz="2200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4643438" y="5643578"/>
            <a:ext cx="22529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&lt;</a:t>
            </a:r>
            <a:r>
              <a:rPr lang="en-US" altLang="zh-TW" sz="3200" dirty="0" err="1" smtClean="0"/>
              <a:t>i</a:t>
            </a:r>
            <a:r>
              <a:rPr lang="en-US" altLang="zh-TW" sz="3200" dirty="0" smtClean="0"/>
              <a:t>, </a:t>
            </a:r>
            <a:r>
              <a:rPr lang="en-US" altLang="zh-TW" sz="3200" i="1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sz="3200" dirty="0" smtClean="0"/>
              <a:t>-value&gt;</a:t>
            </a:r>
            <a:endParaRPr lang="zh-TW" alt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6143637" cy="471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字方塊 4"/>
          <p:cNvSpPr txBox="1"/>
          <p:nvPr/>
        </p:nvSpPr>
        <p:spPr>
          <a:xfrm>
            <a:off x="6072198" y="642918"/>
            <a:ext cx="3163045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TW" sz="2200" dirty="0" smtClean="0"/>
          </a:p>
          <a:p>
            <a:r>
              <a:rPr lang="en-US" altLang="zh-TW" sz="2200" dirty="0" smtClean="0"/>
              <a:t>&lt;8,2&gt;</a:t>
            </a:r>
          </a:p>
          <a:p>
            <a:r>
              <a:rPr lang="en-US" altLang="zh-TW" sz="2200" dirty="0" smtClean="0"/>
              <a:t>&lt;8,2&gt;,&lt;12,3&gt;</a:t>
            </a:r>
          </a:p>
          <a:p>
            <a:r>
              <a:rPr lang="en-US" altLang="zh-TW" sz="2200" dirty="0" smtClean="0"/>
              <a:t>&lt;8,3&gt;,&lt;12,3&gt;</a:t>
            </a:r>
          </a:p>
          <a:p>
            <a:r>
              <a:rPr lang="en-US" altLang="zh-TW" sz="2200" dirty="0" smtClean="0"/>
              <a:t>&lt;8,3&gt;,&lt;12,3&gt;</a:t>
            </a:r>
          </a:p>
          <a:p>
            <a:r>
              <a:rPr lang="en-US" altLang="zh-TW" sz="2200" dirty="0" smtClean="0"/>
              <a:t>&lt;8,3&gt;,&lt;9,4&gt;</a:t>
            </a:r>
          </a:p>
          <a:p>
            <a:r>
              <a:rPr lang="en-US" altLang="zh-TW" sz="2200" dirty="0" smtClean="0"/>
              <a:t>&lt;8,3&gt;,&lt;9,4&gt;,&lt;10,5&gt;</a:t>
            </a:r>
          </a:p>
          <a:p>
            <a:r>
              <a:rPr lang="en-US" altLang="zh-TW" sz="2200" dirty="0" smtClean="0"/>
              <a:t>&lt;8,3&gt;,&lt;9,4&gt;,&lt;10,5&gt;</a:t>
            </a:r>
          </a:p>
          <a:p>
            <a:r>
              <a:rPr lang="en-US" altLang="zh-TW" sz="2200" dirty="0" smtClean="0"/>
              <a:t>&lt;8,3&gt;,&lt;9,4&gt;,&lt;10,5</a:t>
            </a:r>
            <a:r>
              <a:rPr lang="en-US" altLang="zh-TW" sz="2200" dirty="0" smtClean="0"/>
              <a:t>&gt;&lt;12,6&gt;</a:t>
            </a:r>
          </a:p>
          <a:p>
            <a:r>
              <a:rPr lang="en-US" altLang="zh-TW" sz="2200" dirty="0" smtClean="0"/>
              <a:t>&lt;8,3&gt;,&lt;9,4&gt;,&lt;10,5&gt;&lt;12,6&gt;</a:t>
            </a:r>
            <a:endParaRPr lang="en-US" altLang="zh-TW" sz="2200" dirty="0" smtClean="0"/>
          </a:p>
          <a:p>
            <a:r>
              <a:rPr lang="en-US" altLang="zh-TW" sz="2200" dirty="0" smtClean="0"/>
              <a:t>&lt;</a:t>
            </a:r>
            <a:r>
              <a:rPr lang="en-US" altLang="zh-TW" sz="2200" dirty="0" smtClean="0"/>
              <a:t>8,6&gt;,&lt;</a:t>
            </a:r>
            <a:r>
              <a:rPr lang="en-US" altLang="zh-TW" sz="2200" dirty="0" smtClean="0"/>
              <a:t>9,4&gt;,&lt;10,5&gt;&lt;12,6&gt;</a:t>
            </a:r>
            <a:endParaRPr lang="en-US" altLang="zh-TW" sz="2200" dirty="0" smtClean="0"/>
          </a:p>
          <a:p>
            <a:r>
              <a:rPr lang="en-US" altLang="zh-TW" sz="2200" dirty="0" smtClean="0"/>
              <a:t>&lt;8,6&gt;,&lt;</a:t>
            </a:r>
            <a:r>
              <a:rPr lang="en-US" altLang="zh-TW" sz="2200" dirty="0" smtClean="0"/>
              <a:t>9,7&gt;,&lt;</a:t>
            </a:r>
            <a:r>
              <a:rPr lang="en-US" altLang="zh-TW" sz="2200" dirty="0" smtClean="0"/>
              <a:t>10,5&gt;&lt;12,6&gt;</a:t>
            </a:r>
            <a:endParaRPr lang="zh-TW" altLang="en-US" sz="2200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195301" y="631338"/>
            <a:ext cx="1816523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TW" sz="2200" dirty="0" smtClean="0"/>
          </a:p>
          <a:p>
            <a:endParaRPr lang="en-US" altLang="zh-TW" sz="2200" dirty="0" smtClean="0"/>
          </a:p>
          <a:p>
            <a:endParaRPr lang="en-US" altLang="zh-TW" sz="2200" dirty="0" smtClean="0"/>
          </a:p>
          <a:p>
            <a:r>
              <a:rPr lang="en-US" altLang="zh-TW" sz="2200" dirty="0" smtClean="0"/>
              <a:t>&lt;11,3&gt;</a:t>
            </a:r>
          </a:p>
          <a:p>
            <a:r>
              <a:rPr lang="en-US" altLang="zh-TW" sz="2200" dirty="0" smtClean="0"/>
              <a:t>&lt;11,3&gt;</a:t>
            </a:r>
          </a:p>
          <a:p>
            <a:r>
              <a:rPr lang="en-US" altLang="zh-TW" sz="2200" dirty="0" smtClean="0"/>
              <a:t>&lt;</a:t>
            </a:r>
            <a:r>
              <a:rPr lang="en-US" altLang="zh-TW" sz="2200" dirty="0" smtClean="0"/>
              <a:t>11,3&gt;</a:t>
            </a:r>
          </a:p>
          <a:p>
            <a:r>
              <a:rPr lang="en-US" altLang="zh-TW" sz="2200" dirty="0" smtClean="0"/>
              <a:t>&lt;</a:t>
            </a:r>
            <a:r>
              <a:rPr lang="en-US" altLang="zh-TW" sz="2200" dirty="0" smtClean="0"/>
              <a:t>11,3&gt;</a:t>
            </a:r>
          </a:p>
          <a:p>
            <a:r>
              <a:rPr lang="en-US" altLang="zh-TW" sz="2200" dirty="0" smtClean="0"/>
              <a:t>&lt;</a:t>
            </a:r>
            <a:r>
              <a:rPr lang="en-US" altLang="zh-TW" sz="2200" dirty="0" smtClean="0"/>
              <a:t>11,3&gt;</a:t>
            </a:r>
          </a:p>
          <a:p>
            <a:r>
              <a:rPr lang="en-US" altLang="zh-TW" sz="2200" dirty="0" smtClean="0"/>
              <a:t>&lt;</a:t>
            </a:r>
            <a:r>
              <a:rPr lang="en-US" altLang="zh-TW" sz="2200" dirty="0" smtClean="0"/>
              <a:t>11,3&gt;,&lt;12,6&gt;</a:t>
            </a:r>
          </a:p>
          <a:p>
            <a:r>
              <a:rPr lang="en-US" altLang="zh-TW" sz="2200" dirty="0" smtClean="0"/>
              <a:t>&lt;</a:t>
            </a:r>
            <a:r>
              <a:rPr lang="en-US" altLang="zh-TW" sz="2200" dirty="0" smtClean="0"/>
              <a:t>11,3&gt;,&lt;12,6&gt;</a:t>
            </a:r>
          </a:p>
          <a:p>
            <a:r>
              <a:rPr lang="en-US" altLang="zh-TW" sz="2200" dirty="0" smtClean="0"/>
              <a:t>&lt;</a:t>
            </a:r>
            <a:r>
              <a:rPr lang="en-US" altLang="zh-TW" sz="2200" dirty="0" smtClean="0"/>
              <a:t>11,6&gt;,&lt;12,6&gt;</a:t>
            </a:r>
          </a:p>
          <a:p>
            <a:r>
              <a:rPr lang="en-US" altLang="zh-TW" sz="2200" dirty="0" smtClean="0"/>
              <a:t>&lt;</a:t>
            </a:r>
            <a:r>
              <a:rPr lang="en-US" altLang="zh-TW" sz="2200" dirty="0" smtClean="0"/>
              <a:t>11,6&gt;,&lt;12,6&gt;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6204160" cy="4643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computing the CLCS</a:t>
            </a:r>
            <a:endParaRPr lang="zh-TW" altLang="en-US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785926"/>
            <a:ext cx="5000660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572000" cy="3427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67238" y="0"/>
            <a:ext cx="4576762" cy="3438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9524" y="3429001"/>
            <a:ext cx="4581524" cy="34385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72000" y="3429000"/>
            <a:ext cx="4581525" cy="34432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9" name="文字方塊 8"/>
          <p:cNvSpPr txBox="1"/>
          <p:nvPr/>
        </p:nvSpPr>
        <p:spPr>
          <a:xfrm>
            <a:off x="142844" y="142852"/>
            <a:ext cx="8114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FF0000"/>
                </a:solidFill>
              </a:rPr>
              <a:t>K=0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643438" y="0"/>
            <a:ext cx="8114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FF0000"/>
                </a:solidFill>
              </a:rPr>
              <a:t>K=1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0" y="3429000"/>
            <a:ext cx="8114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FF0000"/>
                </a:solidFill>
              </a:rPr>
              <a:t>K=2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572000" y="3357562"/>
            <a:ext cx="8114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>
                <a:solidFill>
                  <a:srgbClr val="FF0000"/>
                </a:solidFill>
              </a:rPr>
              <a:t>K=3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501090" y="6357958"/>
            <a:ext cx="35719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3929058" y="6357958"/>
            <a:ext cx="35719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3571868" y="5357826"/>
            <a:ext cx="35719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3214678" y="5143512"/>
            <a:ext cx="35719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2928926" y="4643446"/>
            <a:ext cx="35719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7500958" y="1214422"/>
            <a:ext cx="35719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7163018" y="957545"/>
            <a:ext cx="35719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2590986" y="938295"/>
            <a:ext cx="35719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967162" y="714356"/>
            <a:ext cx="35719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向左箭號 22"/>
          <p:cNvSpPr/>
          <p:nvPr/>
        </p:nvSpPr>
        <p:spPr>
          <a:xfrm>
            <a:off x="4429124" y="6357958"/>
            <a:ext cx="3857652" cy="2857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向左箭號 23"/>
          <p:cNvSpPr/>
          <p:nvPr/>
        </p:nvSpPr>
        <p:spPr>
          <a:xfrm rot="3708723">
            <a:off x="3723013" y="5820538"/>
            <a:ext cx="525194" cy="4286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向左箭號 24"/>
          <p:cNvSpPr/>
          <p:nvPr/>
        </p:nvSpPr>
        <p:spPr>
          <a:xfrm>
            <a:off x="3643306" y="5000636"/>
            <a:ext cx="525194" cy="4286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向左箭號 25"/>
          <p:cNvSpPr/>
          <p:nvPr/>
        </p:nvSpPr>
        <p:spPr>
          <a:xfrm rot="3123596">
            <a:off x="3195384" y="4796815"/>
            <a:ext cx="235943" cy="4286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向左箭號 26"/>
          <p:cNvSpPr/>
          <p:nvPr/>
        </p:nvSpPr>
        <p:spPr>
          <a:xfrm rot="8551749">
            <a:off x="2840388" y="2959609"/>
            <a:ext cx="5162887" cy="2857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向左箭號 27"/>
          <p:cNvSpPr/>
          <p:nvPr/>
        </p:nvSpPr>
        <p:spPr>
          <a:xfrm>
            <a:off x="7500958" y="857232"/>
            <a:ext cx="525194" cy="4286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向左箭號 28"/>
          <p:cNvSpPr/>
          <p:nvPr/>
        </p:nvSpPr>
        <p:spPr>
          <a:xfrm>
            <a:off x="3000364" y="928670"/>
            <a:ext cx="4000528" cy="2857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向左箭號 29"/>
          <p:cNvSpPr/>
          <p:nvPr/>
        </p:nvSpPr>
        <p:spPr>
          <a:xfrm>
            <a:off x="1357290" y="642918"/>
            <a:ext cx="1214446" cy="2857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/>
          <p:cNvSpPr txBox="1"/>
          <p:nvPr/>
        </p:nvSpPr>
        <p:spPr>
          <a:xfrm>
            <a:off x="8215338" y="5715016"/>
            <a:ext cx="428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>
                <a:solidFill>
                  <a:schemeClr val="accent6">
                    <a:lumMod val="75000"/>
                  </a:schemeClr>
                </a:solidFill>
              </a:rPr>
              <a:t>B</a:t>
            </a:r>
            <a:endParaRPr lang="zh-TW" altLang="en-US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500430" y="6143644"/>
            <a:ext cx="428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>
                <a:solidFill>
                  <a:schemeClr val="accent6">
                    <a:lumMod val="75000"/>
                  </a:schemeClr>
                </a:solidFill>
              </a:rPr>
              <a:t>A</a:t>
            </a:r>
            <a:endParaRPr lang="zh-TW" altLang="en-US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4000496" y="5214950"/>
            <a:ext cx="428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>
                <a:solidFill>
                  <a:schemeClr val="accent6">
                    <a:lumMod val="75000"/>
                  </a:schemeClr>
                </a:solidFill>
              </a:rPr>
              <a:t>A</a:t>
            </a:r>
            <a:endParaRPr lang="zh-TW" altLang="en-US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2643174" y="5072074"/>
            <a:ext cx="428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>
                <a:solidFill>
                  <a:schemeClr val="accent6">
                    <a:lumMod val="75000"/>
                  </a:schemeClr>
                </a:solidFill>
              </a:rPr>
              <a:t>B</a:t>
            </a:r>
            <a:endParaRPr lang="zh-TW" altLang="en-US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29586" y="1071546"/>
            <a:ext cx="428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>
                <a:solidFill>
                  <a:schemeClr val="accent6">
                    <a:lumMod val="75000"/>
                  </a:schemeClr>
                </a:solidFill>
              </a:rPr>
              <a:t>C</a:t>
            </a:r>
            <a:endParaRPr lang="zh-TW" altLang="en-US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2143108" y="1000108"/>
            <a:ext cx="428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smtClean="0">
                <a:solidFill>
                  <a:schemeClr val="accent6">
                    <a:lumMod val="75000"/>
                  </a:schemeClr>
                </a:solidFill>
              </a:rPr>
              <a:t>B</a:t>
            </a:r>
            <a:endParaRPr lang="zh-TW" altLang="en-US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7" name="投影片編號版面配置區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 </a:t>
            </a:r>
            <a:r>
              <a:rPr lang="en-US" altLang="zh-TW" dirty="0" smtClean="0"/>
              <a:t>results(1/3)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dirty="0" smtClean="0"/>
              <a:t>    We </a:t>
            </a:r>
            <a:r>
              <a:rPr lang="en-US" altLang="zh-TW" dirty="0" smtClean="0"/>
              <a:t>implemented both algorithms in C++, compiled using </a:t>
            </a:r>
            <a:r>
              <a:rPr lang="en-US" altLang="zh-TW" dirty="0" smtClean="0"/>
              <a:t>Microsoft Visual </a:t>
            </a:r>
            <a:r>
              <a:rPr lang="en-US" altLang="zh-TW" dirty="0" smtClean="0"/>
              <a:t>C++ 2005 compiler2, and run on a computer equipped with AMD </a:t>
            </a:r>
            <a:r>
              <a:rPr lang="en-US" altLang="zh-TW" dirty="0" err="1" smtClean="0"/>
              <a:t>Athlon</a:t>
            </a:r>
            <a:r>
              <a:rPr lang="en-US" altLang="zh-TW" dirty="0" smtClean="0"/>
              <a:t> 64 </a:t>
            </a:r>
            <a:r>
              <a:rPr lang="en-US" altLang="zh-TW" dirty="0" smtClean="0"/>
              <a:t>X2 5000</a:t>
            </a:r>
            <a:r>
              <a:rPr lang="en-US" altLang="zh-TW" dirty="0" smtClean="0"/>
              <a:t>+ processor (real 2600 MHz CPU clock) and 2GB RAM. </a:t>
            </a:r>
            <a:r>
              <a:rPr lang="en-US" altLang="zh-TW" dirty="0" smtClean="0">
                <a:solidFill>
                  <a:srgbClr val="FF0000"/>
                </a:solidFill>
              </a:rPr>
              <a:t>Each time is a median </a:t>
            </a:r>
            <a:r>
              <a:rPr lang="en-US" altLang="zh-TW" dirty="0" smtClean="0">
                <a:solidFill>
                  <a:srgbClr val="FF0000"/>
                </a:solidFill>
              </a:rPr>
              <a:t>of 51 </a:t>
            </a:r>
            <a:r>
              <a:rPr lang="en-US" altLang="zh-TW" dirty="0" smtClean="0">
                <a:solidFill>
                  <a:srgbClr val="FF0000"/>
                </a:solidFill>
              </a:rPr>
              <a:t>executions.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 </a:t>
            </a:r>
            <a:r>
              <a:rPr lang="en-US" altLang="zh-TW" dirty="0" smtClean="0"/>
              <a:t>results(2/3)</a:t>
            </a:r>
            <a:endParaRPr lang="zh-TW" altLang="en-U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785926"/>
            <a:ext cx="9144000" cy="4214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09675" y="6215082"/>
            <a:ext cx="6724650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Experimental </a:t>
            </a:r>
            <a:r>
              <a:rPr lang="en-US" altLang="zh-TW" dirty="0" smtClean="0"/>
              <a:t>results(1/3)</a:t>
            </a:r>
            <a:endParaRPr lang="zh-TW" alt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1266849"/>
            <a:ext cx="9144000" cy="559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Conclusions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dirty="0" smtClean="0"/>
              <a:t>    The </a:t>
            </a:r>
            <a:r>
              <a:rPr lang="en-US" altLang="zh-TW" dirty="0" smtClean="0"/>
              <a:t>time complexity of the method </a:t>
            </a:r>
            <a:r>
              <a:rPr lang="en-US" altLang="zh-TW" dirty="0" smtClean="0"/>
              <a:t>is</a:t>
            </a:r>
          </a:p>
          <a:p>
            <a:pPr>
              <a:buNone/>
            </a:pPr>
            <a:r>
              <a:rPr lang="en-US" altLang="zh-TW" dirty="0" smtClean="0"/>
              <a:t> </a:t>
            </a:r>
            <a:r>
              <a:rPr lang="en-US" altLang="zh-TW" dirty="0" smtClean="0"/>
              <a:t>   </a:t>
            </a:r>
            <a:r>
              <a:rPr lang="en-US" altLang="zh-TW" dirty="0" smtClean="0">
                <a:solidFill>
                  <a:srgbClr val="FF0000"/>
                </a:solidFill>
              </a:rPr>
              <a:t>O(</a:t>
            </a:r>
            <a:r>
              <a:rPr lang="en-US" altLang="zh-TW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dirty="0" smtClean="0">
                <a:solidFill>
                  <a:srgbClr val="FF0000"/>
                </a:solidFill>
              </a:rPr>
              <a:t>(</a:t>
            </a:r>
            <a:r>
              <a:rPr lang="en-US" altLang="zh-TW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ml</a:t>
            </a:r>
            <a:r>
              <a:rPr lang="en-US" altLang="zh-TW" i="1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+</a:t>
            </a:r>
            <a:r>
              <a:rPr lang="en-US" altLang="zh-TW" i="1" dirty="0" smtClean="0">
                <a:solidFill>
                  <a:srgbClr val="FF0000"/>
                </a:solidFill>
              </a:rPr>
              <a:t> </a:t>
            </a:r>
            <a:r>
              <a:rPr lang="en-US" altLang="zh-TW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r>
              <a:rPr lang="en-US" altLang="zh-TW" i="1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+</a:t>
            </a:r>
            <a:r>
              <a:rPr lang="en-US" altLang="zh-TW" i="1" dirty="0" smtClean="0">
                <a:solidFill>
                  <a:srgbClr val="FF0000"/>
                </a:solidFill>
              </a:rPr>
              <a:t> </a:t>
            </a:r>
            <a:r>
              <a:rPr lang="en-US" altLang="zh-TW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r>
              <a:rPr lang="en-US" altLang="zh-TW" i="1" dirty="0" smtClean="0"/>
              <a:t>, </a:t>
            </a:r>
            <a:r>
              <a:rPr lang="en-US" altLang="zh-TW" dirty="0" smtClean="0"/>
              <a:t>where</a:t>
            </a:r>
            <a:r>
              <a:rPr lang="en-US" altLang="zh-TW" i="1" dirty="0" smtClean="0"/>
              <a:t>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zh-TW" i="1" dirty="0" smtClean="0"/>
              <a:t> </a:t>
            </a:r>
            <a:r>
              <a:rPr lang="en-US" altLang="zh-TW" dirty="0" smtClean="0"/>
              <a:t>is </a:t>
            </a:r>
            <a:r>
              <a:rPr lang="en-US" altLang="zh-TW" dirty="0" smtClean="0"/>
              <a:t>the LCS </a:t>
            </a:r>
            <a:r>
              <a:rPr lang="en-US" altLang="zh-TW" dirty="0" smtClean="0"/>
              <a:t>length for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i="1" dirty="0" smtClean="0"/>
              <a:t> </a:t>
            </a:r>
            <a:r>
              <a:rPr lang="en-US" altLang="zh-TW" dirty="0" smtClean="0"/>
              <a:t>and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 smtClean="0"/>
              <a:t> and d is the number of </a:t>
            </a:r>
            <a:r>
              <a:rPr lang="en-US" altLang="zh-TW" dirty="0" smtClean="0"/>
              <a:t>matches </a:t>
            </a:r>
            <a:r>
              <a:rPr lang="en-US" altLang="zh-TW" i="1" dirty="0" smtClean="0"/>
              <a:t>between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i="1" dirty="0" smtClean="0"/>
              <a:t> and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i="1" dirty="0" smtClean="0"/>
              <a:t>. </a:t>
            </a:r>
            <a:endParaRPr lang="en-US" altLang="zh-TW" i="1" dirty="0" smtClean="0"/>
          </a:p>
          <a:p>
            <a:pPr>
              <a:buNone/>
            </a:pPr>
            <a:r>
              <a:rPr lang="en-US" altLang="zh-TW" i="1" dirty="0" smtClean="0"/>
              <a:t>    </a:t>
            </a:r>
            <a:r>
              <a:rPr lang="en-US" altLang="zh-TW" dirty="0" smtClean="0"/>
              <a:t>The memory requirements </a:t>
            </a:r>
            <a:r>
              <a:rPr lang="en-US" altLang="zh-TW" dirty="0" smtClean="0"/>
              <a:t>of our algorithm is</a:t>
            </a:r>
            <a:r>
              <a:rPr lang="en-US" altLang="zh-TW" dirty="0" smtClean="0">
                <a:solidFill>
                  <a:srgbClr val="FF0000"/>
                </a:solidFill>
              </a:rPr>
              <a:t> O(</a:t>
            </a:r>
            <a:r>
              <a:rPr lang="en-US" altLang="zh-TW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dr</a:t>
            </a:r>
            <a:r>
              <a:rPr lang="en-US" altLang="zh-TW" i="1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+max(</a:t>
            </a:r>
            <a:r>
              <a:rPr lang="en-US" altLang="zh-TW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i="1" dirty="0" smtClean="0">
                <a:solidFill>
                  <a:srgbClr val="FF0000"/>
                </a:solidFill>
              </a:rPr>
              <a:t>,</a:t>
            </a:r>
            <a:r>
              <a:rPr lang="el-GR" dirty="0" smtClean="0">
                <a:solidFill>
                  <a:srgbClr val="FF0000"/>
                </a:solidFill>
              </a:rPr>
              <a:t> </a:t>
            </a:r>
            <a:r>
              <a:rPr lang="el-G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altLang="zh-TW" dirty="0" smtClean="0">
                <a:solidFill>
                  <a:srgbClr val="FF0000"/>
                </a:solidFill>
              </a:rPr>
              <a:t>))</a:t>
            </a:r>
            <a:r>
              <a:rPr lang="en-US" altLang="zh-TW" i="1" dirty="0" smtClean="0"/>
              <a:t>, </a:t>
            </a:r>
            <a:r>
              <a:rPr lang="en-US" altLang="zh-TW" dirty="0" smtClean="0"/>
              <a:t>where </a:t>
            </a:r>
            <a:r>
              <a:rPr lang="el-GR" dirty="0" smtClean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altLang="zh-TW" dirty="0" smtClean="0"/>
              <a:t> </a:t>
            </a:r>
            <a:r>
              <a:rPr lang="en-US" altLang="zh-TW" dirty="0" smtClean="0"/>
              <a:t>is the alphabet </a:t>
            </a:r>
            <a:r>
              <a:rPr lang="en-US" altLang="zh-TW" dirty="0" smtClean="0"/>
              <a:t>size</a:t>
            </a:r>
            <a:r>
              <a:rPr lang="en-US" altLang="zh-TW" i="1" dirty="0" smtClean="0"/>
              <a:t>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 algn="ctr">
              <a:buNone/>
            </a:pPr>
            <a:r>
              <a:rPr lang="en-US" altLang="zh-TW" dirty="0" smtClean="0"/>
              <a:t>Thanks for listening</a:t>
            </a:r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1527</TotalTime>
  <Words>701</Words>
  <PresentationFormat>如螢幕大小 (4:3)</PresentationFormat>
  <Paragraphs>142</Paragraphs>
  <Slides>25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26" baseType="lpstr">
      <vt:lpstr>Office 佈景主題</vt:lpstr>
      <vt:lpstr>Fast algorithm for constrained longest common subsequence problem</vt:lpstr>
      <vt:lpstr>Abstract</vt:lpstr>
      <vt:lpstr>LCS</vt:lpstr>
      <vt:lpstr>CLCS</vt:lpstr>
      <vt:lpstr>CLCS</vt:lpstr>
      <vt:lpstr>Chin et al. [2004]</vt:lpstr>
      <vt:lpstr>投影片 7</vt:lpstr>
      <vt:lpstr>Our Algorithm</vt:lpstr>
      <vt:lpstr>投影片 9</vt:lpstr>
      <vt:lpstr>投影片 10</vt:lpstr>
      <vt:lpstr>投影片 11</vt:lpstr>
      <vt:lpstr>投影片 12</vt:lpstr>
      <vt:lpstr>投影片 13</vt:lpstr>
      <vt:lpstr>Variant of the Hunt-Szymanski</vt:lpstr>
      <vt:lpstr>Algorithm computing the length of the CLCS</vt:lpstr>
      <vt:lpstr>投影片 16</vt:lpstr>
      <vt:lpstr>投影片 17</vt:lpstr>
      <vt:lpstr>投影片 18</vt:lpstr>
      <vt:lpstr>Algorithm computing the CLCS</vt:lpstr>
      <vt:lpstr>投影片 20</vt:lpstr>
      <vt:lpstr>Experimental results(1/3)</vt:lpstr>
      <vt:lpstr>Experimental results(2/3)</vt:lpstr>
      <vt:lpstr>Experimental results(1/3)</vt:lpstr>
      <vt:lpstr>Conclusions</vt:lpstr>
      <vt:lpstr>投影片 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 algorithm for constrained longest common subsequence problem</dc:title>
  <dc:creator>user</dc:creator>
  <cp:lastModifiedBy>user</cp:lastModifiedBy>
  <cp:revision>80</cp:revision>
  <dcterms:created xsi:type="dcterms:W3CDTF">2014-12-01T08:34:25Z</dcterms:created>
  <dcterms:modified xsi:type="dcterms:W3CDTF">2014-12-02T10:12:07Z</dcterms:modified>
</cp:coreProperties>
</file>