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2" r:id="rId5"/>
    <p:sldId id="276" r:id="rId6"/>
    <p:sldId id="275" r:id="rId7"/>
    <p:sldId id="286" r:id="rId8"/>
    <p:sldId id="292" r:id="rId9"/>
    <p:sldId id="290" r:id="rId10"/>
    <p:sldId id="289" r:id="rId11"/>
    <p:sldId id="270" r:id="rId12"/>
    <p:sldId id="272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91" r:id="rId21"/>
    <p:sldId id="288" r:id="rId2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中等深淺樣式 3 - 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8A107856-5554-42FB-B03E-39F5DBC370BA}" styleName="中等深淺樣式 4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161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03F6-2248-4631-BBD3-24BEA54ADD3A}" type="datetimeFigureOut">
              <a:rPr lang="zh-TW" altLang="en-US" smtClean="0"/>
              <a:pPr/>
              <a:t>2014/12/2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579A6-1C70-42D8-90BC-A4788C5A5CC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03F6-2248-4631-BBD3-24BEA54ADD3A}" type="datetimeFigureOut">
              <a:rPr lang="zh-TW" altLang="en-US" smtClean="0"/>
              <a:pPr/>
              <a:t>2014/12/2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579A6-1C70-42D8-90BC-A4788C5A5CC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03F6-2248-4631-BBD3-24BEA54ADD3A}" type="datetimeFigureOut">
              <a:rPr lang="zh-TW" altLang="en-US" smtClean="0"/>
              <a:pPr/>
              <a:t>2014/12/2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579A6-1C70-42D8-90BC-A4788C5A5CC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03F6-2248-4631-BBD3-24BEA54ADD3A}" type="datetimeFigureOut">
              <a:rPr lang="zh-TW" altLang="en-US" smtClean="0"/>
              <a:pPr/>
              <a:t>2014/12/2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579A6-1C70-42D8-90BC-A4788C5A5CC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03F6-2248-4631-BBD3-24BEA54ADD3A}" type="datetimeFigureOut">
              <a:rPr lang="zh-TW" altLang="en-US" smtClean="0"/>
              <a:pPr/>
              <a:t>2014/12/2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579A6-1C70-42D8-90BC-A4788C5A5CC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03F6-2248-4631-BBD3-24BEA54ADD3A}" type="datetimeFigureOut">
              <a:rPr lang="zh-TW" altLang="en-US" smtClean="0"/>
              <a:pPr/>
              <a:t>2014/12/2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579A6-1C70-42D8-90BC-A4788C5A5CC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03F6-2248-4631-BBD3-24BEA54ADD3A}" type="datetimeFigureOut">
              <a:rPr lang="zh-TW" altLang="en-US" smtClean="0"/>
              <a:pPr/>
              <a:t>2014/12/2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579A6-1C70-42D8-90BC-A4788C5A5CC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03F6-2248-4631-BBD3-24BEA54ADD3A}" type="datetimeFigureOut">
              <a:rPr lang="zh-TW" altLang="en-US" smtClean="0"/>
              <a:pPr/>
              <a:t>2014/12/2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579A6-1C70-42D8-90BC-A4788C5A5CC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03F6-2248-4631-BBD3-24BEA54ADD3A}" type="datetimeFigureOut">
              <a:rPr lang="zh-TW" altLang="en-US" smtClean="0"/>
              <a:pPr/>
              <a:t>2014/12/2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579A6-1C70-42D8-90BC-A4788C5A5CC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03F6-2248-4631-BBD3-24BEA54ADD3A}" type="datetimeFigureOut">
              <a:rPr lang="zh-TW" altLang="en-US" smtClean="0"/>
              <a:pPr/>
              <a:t>2014/12/2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579A6-1C70-42D8-90BC-A4788C5A5CC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03F6-2248-4631-BBD3-24BEA54ADD3A}" type="datetimeFigureOut">
              <a:rPr lang="zh-TW" altLang="en-US" smtClean="0"/>
              <a:pPr/>
              <a:t>2014/12/2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579A6-1C70-42D8-90BC-A4788C5A5CC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C303F6-2248-4631-BBD3-24BEA54ADD3A}" type="datetimeFigureOut">
              <a:rPr lang="zh-TW" altLang="en-US" smtClean="0"/>
              <a:pPr/>
              <a:t>2014/12/2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2579A6-1C70-42D8-90BC-A4788C5A5CC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071547"/>
            <a:ext cx="7772400" cy="2528904"/>
          </a:xfrm>
        </p:spPr>
        <p:txBody>
          <a:bodyPr>
            <a:normAutofit/>
          </a:bodyPr>
          <a:lstStyle/>
          <a:p>
            <a:r>
              <a:rPr lang="en-US" altLang="zh-TW" dirty="0"/>
              <a:t>Edit distance for a run-length-encoded string and</a:t>
            </a:r>
            <a:br>
              <a:rPr lang="en-US" altLang="zh-TW" dirty="0"/>
            </a:br>
            <a:r>
              <a:rPr lang="en-US" altLang="zh-TW" dirty="0"/>
              <a:t>an uncompressed string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>
                <a:solidFill>
                  <a:schemeClr val="tx1"/>
                </a:solidFill>
              </a:rPr>
              <a:t>J.J. Liu </a:t>
            </a:r>
            <a:r>
              <a:rPr lang="en-US" altLang="zh-TW" sz="2800" dirty="0" smtClean="0">
                <a:solidFill>
                  <a:schemeClr val="tx1"/>
                </a:solidFill>
              </a:rPr>
              <a:t>, </a:t>
            </a:r>
            <a:r>
              <a:rPr lang="en-US" altLang="zh-TW" sz="2800" dirty="0">
                <a:solidFill>
                  <a:schemeClr val="tx1"/>
                </a:solidFill>
              </a:rPr>
              <a:t>G.S. Huang </a:t>
            </a:r>
            <a:r>
              <a:rPr lang="en-US" altLang="zh-TW" sz="2800" dirty="0" smtClean="0">
                <a:solidFill>
                  <a:schemeClr val="tx1"/>
                </a:solidFill>
              </a:rPr>
              <a:t>, Y.L</a:t>
            </a:r>
            <a:r>
              <a:rPr lang="en-US" altLang="zh-TW" sz="2800" dirty="0">
                <a:solidFill>
                  <a:schemeClr val="tx1"/>
                </a:solidFill>
              </a:rPr>
              <a:t>. </a:t>
            </a:r>
            <a:r>
              <a:rPr lang="en-US" altLang="zh-TW" sz="2800" dirty="0" smtClean="0">
                <a:solidFill>
                  <a:schemeClr val="tx1"/>
                </a:solidFill>
              </a:rPr>
              <a:t>Wang</a:t>
            </a:r>
            <a:r>
              <a:rPr lang="en-US" altLang="zh-TW" sz="2800" i="1" dirty="0" smtClean="0">
                <a:solidFill>
                  <a:schemeClr val="tx1"/>
                </a:solidFill>
              </a:rPr>
              <a:t>, </a:t>
            </a:r>
            <a:r>
              <a:rPr lang="en-US" altLang="zh-TW" sz="2800" i="1" dirty="0">
                <a:solidFill>
                  <a:schemeClr val="tx1"/>
                </a:solidFill>
              </a:rPr>
              <a:t>R.C.T. Lee </a:t>
            </a:r>
            <a:endParaRPr lang="en-US" altLang="zh-TW" sz="2800" i="1" dirty="0" smtClean="0">
              <a:solidFill>
                <a:schemeClr val="tx1"/>
              </a:solidFill>
            </a:endParaRPr>
          </a:p>
          <a:p>
            <a:r>
              <a:rPr lang="en-US" altLang="zh-TW" sz="2800" dirty="0"/>
              <a:t>Information Processing Letters 105 (2007) 12–16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5143504" y="5643578"/>
            <a:ext cx="35004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報告者：何文娟</a:t>
            </a:r>
            <a:endParaRPr lang="en-US" altLang="zh-TW" sz="2800" dirty="0" smtClean="0">
              <a:latin typeface="標楷體" pitchFamily="65" charset="-120"/>
              <a:ea typeface="標楷體" pitchFamily="65" charset="-120"/>
            </a:endParaRPr>
          </a:p>
          <a:p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日期：</a:t>
            </a:r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2014/12/02</a:t>
            </a:r>
            <a:endParaRPr lang="zh-TW" altLang="en-US" sz="2800" dirty="0"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/>
              <a:t>Abstract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4282" y="1600200"/>
            <a:ext cx="8643998" cy="475775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TW" sz="3000" dirty="0" smtClean="0"/>
              <a:t>	We </a:t>
            </a:r>
            <a:r>
              <a:rPr lang="en-US" altLang="zh-TW" sz="3000" dirty="0"/>
              <a:t>propose a new algorithm for computing the edit distance of an uncompressed string against a run-length-encoded </a:t>
            </a:r>
            <a:r>
              <a:rPr lang="en-US" altLang="zh-TW" sz="3000" dirty="0" err="1" smtClean="0"/>
              <a:t>string.For</a:t>
            </a:r>
            <a:r>
              <a:rPr lang="en-US" altLang="zh-TW" sz="3000" dirty="0" smtClean="0"/>
              <a:t> </a:t>
            </a:r>
            <a:r>
              <a:rPr lang="en-US" altLang="zh-TW" sz="3000" dirty="0"/>
              <a:t>an uncompressed string of length </a:t>
            </a:r>
            <a:r>
              <a:rPr lang="en-US" altLang="zh-TW" sz="3000" i="1" dirty="0"/>
              <a:t>n and a compressed string with M runs, the algorithm computes their edit distance in </a:t>
            </a:r>
            <a:r>
              <a:rPr lang="en-US" altLang="zh-TW" sz="3000" i="1" dirty="0" smtClean="0"/>
              <a:t>time </a:t>
            </a:r>
            <a:r>
              <a:rPr lang="en-US" altLang="zh-TW" sz="3000" dirty="0" smtClean="0"/>
              <a:t>O</a:t>
            </a:r>
            <a:r>
              <a:rPr lang="en-US" altLang="zh-TW" sz="3000" i="1" dirty="0" smtClean="0"/>
              <a:t>(</a:t>
            </a:r>
            <a:r>
              <a:rPr lang="en-US" altLang="zh-TW" sz="3000" i="1" dirty="0" err="1" smtClean="0"/>
              <a:t>Mn</a:t>
            </a:r>
            <a:r>
              <a:rPr lang="en-US" altLang="zh-TW" sz="3000" i="1" dirty="0"/>
              <a:t>). This result directly implies </a:t>
            </a:r>
            <a:r>
              <a:rPr lang="en-US" altLang="zh-TW" sz="3000" i="1" dirty="0" smtClean="0"/>
              <a:t>an O(min{</a:t>
            </a:r>
            <a:r>
              <a:rPr lang="en-US" altLang="zh-TW" sz="3000" i="1" dirty="0" err="1" smtClean="0"/>
              <a:t>mN,Mn</a:t>
            </a:r>
            <a:r>
              <a:rPr lang="en-US" altLang="zh-TW" sz="3000" i="1" dirty="0"/>
              <a:t>}) time algorithm for strings of lengths m and n with M and N </a:t>
            </a:r>
            <a:r>
              <a:rPr lang="en-US" altLang="zh-TW" sz="3000" i="1" dirty="0" err="1" smtClean="0"/>
              <a:t>runs,</a:t>
            </a:r>
            <a:r>
              <a:rPr lang="en-US" altLang="zh-TW" sz="3000" dirty="0" err="1" smtClean="0"/>
              <a:t>respectively</a:t>
            </a:r>
            <a:r>
              <a:rPr lang="en-US" altLang="zh-TW" sz="3000" dirty="0"/>
              <a:t>. It improves the previous best known time bound O</a:t>
            </a:r>
            <a:r>
              <a:rPr lang="en-US" altLang="zh-TW" sz="3000" i="1" dirty="0"/>
              <a:t>(</a:t>
            </a:r>
            <a:r>
              <a:rPr lang="en-US" altLang="zh-TW" sz="3000" i="1" dirty="0" err="1"/>
              <a:t>mN</a:t>
            </a:r>
            <a:r>
              <a:rPr lang="en-US" altLang="zh-TW" sz="3000" i="1" dirty="0"/>
              <a:t> +</a:t>
            </a:r>
            <a:r>
              <a:rPr lang="en-US" altLang="zh-TW" sz="3000" i="1" dirty="0" err="1"/>
              <a:t>Mn</a:t>
            </a:r>
            <a:r>
              <a:rPr lang="en-US" altLang="zh-TW" sz="3000" i="1" dirty="0"/>
              <a:t>).</a:t>
            </a:r>
            <a:endParaRPr lang="zh-TW" alt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Run-Length Encoded </a:t>
            </a:r>
            <a:r>
              <a:rPr lang="en-US" altLang="zh-TW" b="1" dirty="0"/>
              <a:t>S</a:t>
            </a:r>
            <a:r>
              <a:rPr lang="en-US" altLang="zh-TW" b="1" dirty="0" smtClean="0"/>
              <a:t>trings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401080" cy="4525963"/>
          </a:xfrm>
        </p:spPr>
        <p:txBody>
          <a:bodyPr>
            <a:normAutofit/>
          </a:bodyPr>
          <a:lstStyle/>
          <a:p>
            <a:r>
              <a:rPr lang="en-US" altLang="zh-TW" sz="2800" i="1" dirty="0" smtClean="0"/>
              <a:t>In this paper, it uses X</a:t>
            </a:r>
            <a:r>
              <a:rPr lang="en-US" altLang="zh-TW" sz="2800" i="1" baseline="-25000" dirty="0" smtClean="0"/>
              <a:t>1</a:t>
            </a:r>
            <a:r>
              <a:rPr lang="en-US" altLang="zh-TW" sz="2800" i="1" dirty="0" smtClean="0"/>
              <a:t> </a:t>
            </a:r>
            <a:r>
              <a:rPr lang="en-US" altLang="zh-TW" sz="2800" i="1" dirty="0"/>
              <a:t>. . . X</a:t>
            </a:r>
            <a:r>
              <a:rPr lang="en-US" altLang="zh-TW" sz="2800" i="1" baseline="-25000" dirty="0"/>
              <a:t>M</a:t>
            </a:r>
            <a:r>
              <a:rPr lang="en-US" altLang="zh-TW" sz="2800" i="1" dirty="0"/>
              <a:t> to denote its </a:t>
            </a:r>
            <a:r>
              <a:rPr lang="en-US" altLang="zh-TW" sz="2800" dirty="0" smtClean="0"/>
              <a:t>Run-Length Encoded</a:t>
            </a:r>
            <a:r>
              <a:rPr lang="en-US" altLang="zh-TW" sz="2800" i="1" dirty="0" smtClean="0"/>
              <a:t> </a:t>
            </a:r>
            <a:r>
              <a:rPr lang="en-US" altLang="zh-TW" sz="2800" i="1" dirty="0"/>
              <a:t>and X</a:t>
            </a:r>
            <a:r>
              <a:rPr lang="en-US" altLang="zh-TW" sz="2800" i="1" baseline="-25000" dirty="0"/>
              <a:t>i</a:t>
            </a:r>
            <a:r>
              <a:rPr lang="en-US" altLang="zh-TW" sz="2800" i="1" dirty="0"/>
              <a:t> to be its </a:t>
            </a:r>
            <a:r>
              <a:rPr lang="en-US" altLang="zh-TW" sz="2800" i="1" dirty="0" smtClean="0"/>
              <a:t>i </a:t>
            </a:r>
            <a:r>
              <a:rPr lang="en-US" altLang="zh-TW" sz="2800" i="1" dirty="0" err="1" smtClean="0"/>
              <a:t>th</a:t>
            </a:r>
            <a:r>
              <a:rPr lang="en-US" altLang="zh-TW" sz="2800" i="1" dirty="0" smtClean="0"/>
              <a:t> run </a:t>
            </a:r>
            <a:r>
              <a:rPr lang="en-US" altLang="zh-TW" sz="2800" dirty="0" smtClean="0"/>
              <a:t>and </a:t>
            </a:r>
            <a:r>
              <a:rPr lang="en-US" altLang="zh-TW" sz="2800" dirty="0" err="1" smtClean="0">
                <a:latin typeface="MT Extra" pitchFamily="18" charset="2"/>
              </a:rPr>
              <a:t>l</a:t>
            </a:r>
            <a:r>
              <a:rPr lang="en-US" altLang="zh-TW" sz="2800" baseline="-25000" dirty="0" err="1" smtClean="0"/>
              <a:t>i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= |</a:t>
            </a:r>
            <a:r>
              <a:rPr lang="en-US" altLang="zh-TW" sz="2800" dirty="0" smtClean="0"/>
              <a:t>X</a:t>
            </a:r>
            <a:r>
              <a:rPr lang="en-US" altLang="zh-TW" sz="2800" baseline="-25000" dirty="0" smtClean="0"/>
              <a:t>i</a:t>
            </a:r>
            <a:r>
              <a:rPr lang="en-US" altLang="zh-TW" sz="2800" dirty="0" smtClean="0"/>
              <a:t>|</a:t>
            </a:r>
          </a:p>
          <a:p>
            <a:r>
              <a:rPr lang="en-US" altLang="zh-TW" sz="2800" dirty="0" smtClean="0"/>
              <a:t>Example: </a:t>
            </a:r>
          </a:p>
          <a:p>
            <a:pPr marL="1828800" lvl="4" indent="0">
              <a:buNone/>
            </a:pPr>
            <a:r>
              <a:rPr lang="en-US" altLang="zh-TW" sz="2800" dirty="0" smtClean="0"/>
              <a:t>the string </a:t>
            </a:r>
            <a:r>
              <a:rPr lang="en-US" altLang="zh-TW" sz="2800" i="1" dirty="0" err="1" smtClean="0"/>
              <a:t>aaaabbbbcccabbbbcc</a:t>
            </a:r>
            <a:endParaRPr lang="en-US" altLang="zh-TW" sz="2800" i="1" dirty="0" smtClean="0"/>
          </a:p>
          <a:p>
            <a:pPr marL="0" indent="0">
              <a:buNone/>
            </a:pPr>
            <a:r>
              <a:rPr lang="en-US" altLang="zh-TW" sz="2800" dirty="0" smtClean="0"/>
              <a:t>		can be encoded as </a:t>
            </a:r>
            <a:r>
              <a:rPr lang="en-US" altLang="zh-TW" sz="2800" i="1" dirty="0" smtClean="0"/>
              <a:t>a</a:t>
            </a:r>
            <a:r>
              <a:rPr lang="en-US" altLang="zh-TW" sz="2800" baseline="30000" dirty="0" smtClean="0"/>
              <a:t>4</a:t>
            </a:r>
            <a:r>
              <a:rPr lang="en-US" altLang="zh-TW" sz="2800" i="1" dirty="0" smtClean="0"/>
              <a:t>b</a:t>
            </a:r>
            <a:r>
              <a:rPr lang="en-US" altLang="zh-TW" sz="2800" baseline="30000" dirty="0" smtClean="0"/>
              <a:t>4</a:t>
            </a:r>
            <a:r>
              <a:rPr lang="en-US" altLang="zh-TW" sz="2800" i="1" dirty="0" smtClean="0"/>
              <a:t>c</a:t>
            </a:r>
            <a:r>
              <a:rPr lang="en-US" altLang="zh-TW" sz="2800" baseline="30000" dirty="0" smtClean="0"/>
              <a:t>3</a:t>
            </a:r>
            <a:r>
              <a:rPr lang="en-US" altLang="zh-TW" sz="2800" i="1" dirty="0" smtClean="0"/>
              <a:t>a</a:t>
            </a:r>
            <a:r>
              <a:rPr lang="en-US" altLang="zh-TW" sz="2800" baseline="30000" dirty="0" smtClean="0"/>
              <a:t>1</a:t>
            </a:r>
            <a:r>
              <a:rPr lang="en-US" altLang="zh-TW" sz="2800" i="1" dirty="0" smtClean="0"/>
              <a:t>b</a:t>
            </a:r>
            <a:r>
              <a:rPr lang="en-US" altLang="zh-TW" sz="2800" baseline="30000" dirty="0" smtClean="0"/>
              <a:t>4</a:t>
            </a:r>
            <a:r>
              <a:rPr lang="en-US" altLang="zh-TW" sz="2800" i="1" dirty="0" smtClean="0"/>
              <a:t>c</a:t>
            </a:r>
            <a:r>
              <a:rPr lang="en-US" altLang="zh-TW" sz="2800" baseline="30000" dirty="0" smtClean="0"/>
              <a:t>2</a:t>
            </a:r>
            <a:r>
              <a:rPr lang="en-US" altLang="zh-TW" sz="2800" dirty="0" smtClean="0"/>
              <a:t>.</a:t>
            </a:r>
          </a:p>
          <a:p>
            <a:pPr marL="0" indent="0">
              <a:buNone/>
            </a:pPr>
            <a:r>
              <a:rPr lang="en-US" altLang="zh-TW" sz="2800" dirty="0"/>
              <a:t>	</a:t>
            </a:r>
            <a:endParaRPr lang="en-US" altLang="zh-TW" sz="2800" dirty="0" smtClean="0"/>
          </a:p>
          <a:p>
            <a:pPr marL="0" indent="0">
              <a:buNone/>
            </a:pPr>
            <a:endParaRPr lang="zh-TW" altLang="en-US" sz="2800" dirty="0" smtClean="0"/>
          </a:p>
          <a:p>
            <a:pPr lvl="4">
              <a:buNone/>
            </a:pPr>
            <a:endParaRPr lang="en-US" altLang="zh-TW" sz="1600" i="1" dirty="0"/>
          </a:p>
          <a:p>
            <a:endParaRPr lang="zh-TW" altLang="en-US" sz="28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642910" y="4286256"/>
          <a:ext cx="7858179" cy="1643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2597"/>
                <a:gridCol w="1122597"/>
                <a:gridCol w="1122597"/>
                <a:gridCol w="1122597"/>
                <a:gridCol w="1122597"/>
                <a:gridCol w="1122597"/>
                <a:gridCol w="1122597"/>
              </a:tblGrid>
              <a:tr h="547691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X</a:t>
                      </a:r>
                      <a:r>
                        <a:rPr lang="en-US" altLang="zh-TW" sz="2800" baseline="-25000" dirty="0" smtClean="0"/>
                        <a:t>1</a:t>
                      </a:r>
                      <a:endParaRPr lang="zh-TW" altLang="en-US" sz="28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X</a:t>
                      </a:r>
                      <a:r>
                        <a:rPr lang="en-US" altLang="zh-TW" sz="2800" baseline="-25000" dirty="0" smtClean="0"/>
                        <a:t>2</a:t>
                      </a:r>
                      <a:endParaRPr lang="zh-TW" altLang="en-US" sz="28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X</a:t>
                      </a:r>
                      <a:r>
                        <a:rPr lang="en-US" altLang="zh-TW" sz="2800" baseline="-25000" dirty="0" smtClean="0"/>
                        <a:t>3</a:t>
                      </a:r>
                      <a:endParaRPr lang="zh-TW" altLang="en-US" sz="28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X</a:t>
                      </a:r>
                      <a:r>
                        <a:rPr lang="en-US" altLang="zh-TW" sz="2800" baseline="-25000" dirty="0" smtClean="0"/>
                        <a:t>4</a:t>
                      </a:r>
                      <a:endParaRPr lang="zh-TW" altLang="en-US" sz="28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X</a:t>
                      </a:r>
                      <a:r>
                        <a:rPr lang="en-US" altLang="zh-TW" sz="2800" baseline="-25000" dirty="0" smtClean="0"/>
                        <a:t>5</a:t>
                      </a:r>
                      <a:endParaRPr lang="zh-TW" altLang="en-US" sz="28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X</a:t>
                      </a:r>
                      <a:r>
                        <a:rPr lang="en-US" altLang="zh-TW" sz="2800" baseline="-25000" dirty="0" smtClean="0"/>
                        <a:t>6</a:t>
                      </a:r>
                      <a:endParaRPr lang="zh-TW" altLang="en-US" sz="2800" baseline="-25000" dirty="0"/>
                    </a:p>
                  </a:txBody>
                  <a:tcPr anchor="ctr"/>
                </a:tc>
              </a:tr>
              <a:tr h="54769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Letter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c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c</a:t>
                      </a:r>
                      <a:endParaRPr lang="zh-TW" altLang="en-US" sz="2800" dirty="0"/>
                    </a:p>
                  </a:txBody>
                  <a:tcPr anchor="ctr"/>
                </a:tc>
              </a:tr>
              <a:tr h="54769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|X</a:t>
                      </a:r>
                      <a:r>
                        <a:rPr lang="en-US" altLang="zh-TW" sz="2800" baseline="-25000" dirty="0" smtClean="0"/>
                        <a:t>i</a:t>
                      </a:r>
                      <a:r>
                        <a:rPr lang="en-US" altLang="zh-TW" sz="2800" dirty="0" smtClean="0"/>
                        <a:t>|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3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endParaRPr lang="zh-TW" altLang="en-US" sz="28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Edit distance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4282" y="1285860"/>
            <a:ext cx="8686800" cy="535785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TW" sz="3000" dirty="0" smtClean="0"/>
              <a:t>ƐD(x</a:t>
            </a:r>
            <a:r>
              <a:rPr lang="en-US" altLang="zh-TW" sz="3000" baseline="-25000" dirty="0" smtClean="0"/>
              <a:t>(0,i] </a:t>
            </a:r>
            <a:r>
              <a:rPr lang="en-US" altLang="zh-TW" sz="3000" dirty="0" smtClean="0"/>
              <a:t>, y</a:t>
            </a:r>
            <a:r>
              <a:rPr lang="en-US" altLang="zh-TW" sz="3000" baseline="-25000" dirty="0" smtClean="0"/>
              <a:t>(0,0])</a:t>
            </a:r>
            <a:r>
              <a:rPr lang="en-US" altLang="zh-TW" sz="3000" dirty="0" smtClean="0"/>
              <a:t>)= </a:t>
            </a:r>
            <a:r>
              <a:rPr lang="en-US" altLang="zh-TW" sz="3000" dirty="0" err="1" smtClean="0"/>
              <a:t>i</a:t>
            </a:r>
            <a:r>
              <a:rPr lang="en-US" altLang="zh-TW" sz="3000" dirty="0" smtClean="0"/>
              <a:t>, ƐD(x</a:t>
            </a:r>
            <a:r>
              <a:rPr lang="en-US" altLang="zh-TW" sz="3000" baseline="-25000" dirty="0" smtClean="0"/>
              <a:t>(0,0] </a:t>
            </a:r>
            <a:r>
              <a:rPr lang="en-US" altLang="zh-TW" sz="3000" dirty="0" smtClean="0"/>
              <a:t>, y</a:t>
            </a:r>
            <a:r>
              <a:rPr lang="en-US" altLang="zh-TW" sz="3000" baseline="-25000" dirty="0" smtClean="0"/>
              <a:t>(0,j]</a:t>
            </a:r>
            <a:r>
              <a:rPr lang="en-US" altLang="zh-TW" sz="3000" dirty="0" smtClean="0"/>
              <a:t>)= j</a:t>
            </a:r>
          </a:p>
          <a:p>
            <a:pPr>
              <a:buNone/>
            </a:pPr>
            <a:r>
              <a:rPr lang="en-US" altLang="zh-TW" sz="3000" dirty="0" smtClean="0"/>
              <a:t>                                           ƐD(x</a:t>
            </a:r>
            <a:r>
              <a:rPr lang="en-US" altLang="zh-TW" sz="3000" baseline="-25000" dirty="0" smtClean="0"/>
              <a:t>(0,i] </a:t>
            </a:r>
            <a:r>
              <a:rPr lang="en-US" altLang="zh-TW" sz="3000" dirty="0" smtClean="0"/>
              <a:t>, y</a:t>
            </a:r>
            <a:r>
              <a:rPr lang="en-US" altLang="zh-TW" sz="3000" baseline="-25000" dirty="0" smtClean="0"/>
              <a:t>(0,j-1])</a:t>
            </a:r>
            <a:r>
              <a:rPr lang="en-US" altLang="zh-TW" sz="3000" dirty="0" smtClean="0"/>
              <a:t>)+ 1</a:t>
            </a:r>
          </a:p>
          <a:p>
            <a:pPr>
              <a:buNone/>
            </a:pPr>
            <a:r>
              <a:rPr lang="en-US" altLang="zh-TW" sz="3000" dirty="0" smtClean="0"/>
              <a:t>			          min     ƐD(x</a:t>
            </a:r>
            <a:r>
              <a:rPr lang="en-US" altLang="zh-TW" sz="3000" baseline="-25000" dirty="0" smtClean="0"/>
              <a:t>(0,i-1] </a:t>
            </a:r>
            <a:r>
              <a:rPr lang="en-US" altLang="zh-TW" sz="3000" dirty="0" smtClean="0"/>
              <a:t>, y</a:t>
            </a:r>
            <a:r>
              <a:rPr lang="en-US" altLang="zh-TW" sz="3000" baseline="-25000" dirty="0" smtClean="0"/>
              <a:t>(0,j])</a:t>
            </a:r>
            <a:r>
              <a:rPr lang="en-US" altLang="zh-TW" sz="3000" dirty="0" smtClean="0"/>
              <a:t>)+ 1   if x</a:t>
            </a:r>
            <a:r>
              <a:rPr lang="en-US" altLang="zh-TW" sz="3000" baseline="-25000" dirty="0" smtClean="0"/>
              <a:t>i</a:t>
            </a:r>
            <a:r>
              <a:rPr lang="en-US" altLang="zh-TW" sz="3000" dirty="0" smtClean="0"/>
              <a:t> ≠ </a:t>
            </a:r>
            <a:r>
              <a:rPr lang="en-US" altLang="zh-TW" sz="3000" dirty="0" err="1" smtClean="0"/>
              <a:t>y</a:t>
            </a:r>
            <a:r>
              <a:rPr lang="en-US" altLang="zh-TW" sz="3000" baseline="-25000" dirty="0" err="1" smtClean="0"/>
              <a:t>j</a:t>
            </a:r>
            <a:endParaRPr lang="en-US" altLang="zh-TW" sz="3000" baseline="-25000" dirty="0" smtClean="0"/>
          </a:p>
          <a:p>
            <a:pPr>
              <a:buNone/>
            </a:pPr>
            <a:r>
              <a:rPr lang="en-US" altLang="zh-TW" sz="3000" dirty="0" smtClean="0"/>
              <a:t>ƐD(x</a:t>
            </a:r>
            <a:r>
              <a:rPr lang="en-US" altLang="zh-TW" sz="3000" baseline="-25000" dirty="0" smtClean="0"/>
              <a:t>(0,i] </a:t>
            </a:r>
            <a:r>
              <a:rPr lang="en-US" altLang="zh-TW" sz="3000" dirty="0" smtClean="0"/>
              <a:t>, y</a:t>
            </a:r>
            <a:r>
              <a:rPr lang="en-US" altLang="zh-TW" sz="3000" baseline="-25000" dirty="0" smtClean="0"/>
              <a:t>(0,j])</a:t>
            </a:r>
            <a:r>
              <a:rPr lang="en-US" altLang="zh-TW" sz="3000" dirty="0" smtClean="0"/>
              <a:t>)=                ƐD(x</a:t>
            </a:r>
            <a:r>
              <a:rPr lang="en-US" altLang="zh-TW" sz="3000" baseline="-25000" dirty="0" smtClean="0"/>
              <a:t>(0,i-1] </a:t>
            </a:r>
            <a:r>
              <a:rPr lang="en-US" altLang="zh-TW" sz="3000" dirty="0" smtClean="0"/>
              <a:t>, y</a:t>
            </a:r>
            <a:r>
              <a:rPr lang="en-US" altLang="zh-TW" sz="3000" baseline="-25000" dirty="0" smtClean="0"/>
              <a:t>(0,j-1])</a:t>
            </a:r>
            <a:r>
              <a:rPr lang="en-US" altLang="zh-TW" sz="3000" dirty="0" smtClean="0"/>
              <a:t>)+ 1</a:t>
            </a:r>
          </a:p>
          <a:p>
            <a:pPr>
              <a:buNone/>
            </a:pPr>
            <a:r>
              <a:rPr lang="en-US" altLang="zh-TW" sz="3000" dirty="0" smtClean="0"/>
              <a:t>                                ƐD(x</a:t>
            </a:r>
            <a:r>
              <a:rPr lang="en-US" altLang="zh-TW" sz="3000" baseline="-25000" dirty="0" smtClean="0"/>
              <a:t>(0,i] </a:t>
            </a:r>
            <a:r>
              <a:rPr lang="en-US" altLang="zh-TW" sz="3000" dirty="0" smtClean="0"/>
              <a:t>, y</a:t>
            </a:r>
            <a:r>
              <a:rPr lang="en-US" altLang="zh-TW" sz="3000" baseline="-25000" dirty="0" smtClean="0"/>
              <a:t>(0,0])</a:t>
            </a:r>
            <a:r>
              <a:rPr lang="en-US" altLang="zh-TW" sz="3000" dirty="0" smtClean="0"/>
              <a:t>)  if x</a:t>
            </a:r>
            <a:r>
              <a:rPr lang="en-US" altLang="zh-TW" sz="3000" baseline="-25000" dirty="0" smtClean="0"/>
              <a:t>i</a:t>
            </a:r>
            <a:r>
              <a:rPr lang="en-US" altLang="zh-TW" sz="3000" dirty="0" smtClean="0"/>
              <a:t> = </a:t>
            </a:r>
            <a:r>
              <a:rPr lang="en-US" altLang="zh-TW" sz="3000" dirty="0" err="1" smtClean="0"/>
              <a:t>y</a:t>
            </a:r>
            <a:r>
              <a:rPr lang="en-US" altLang="zh-TW" sz="3000" baseline="-25000" dirty="0" err="1" smtClean="0"/>
              <a:t>j</a:t>
            </a:r>
            <a:endParaRPr lang="en-US" altLang="zh-TW" sz="3000" baseline="-25000" dirty="0" smtClean="0"/>
          </a:p>
        </p:txBody>
      </p:sp>
      <p:sp>
        <p:nvSpPr>
          <p:cNvPr id="8" name="左大括弧 7"/>
          <p:cNvSpPr/>
          <p:nvPr/>
        </p:nvSpPr>
        <p:spPr>
          <a:xfrm>
            <a:off x="3643306" y="2071678"/>
            <a:ext cx="285752" cy="1214446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左大括弧 8"/>
          <p:cNvSpPr/>
          <p:nvPr/>
        </p:nvSpPr>
        <p:spPr>
          <a:xfrm>
            <a:off x="2714612" y="2643182"/>
            <a:ext cx="214314" cy="1143008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357290" y="4143380"/>
          <a:ext cx="6096000" cy="25958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a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a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a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a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b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a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b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a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0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2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3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4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5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6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7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8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b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2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3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4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4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5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6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7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a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2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2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3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4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4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5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6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a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3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2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2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3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4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5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6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a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4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3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2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2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3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4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5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a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5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4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3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2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2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2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3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4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Main results(1/2)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0034" y="1214422"/>
            <a:ext cx="8229600" cy="4525963"/>
          </a:xfrm>
        </p:spPr>
        <p:txBody>
          <a:bodyPr/>
          <a:lstStyle/>
          <a:p>
            <a:r>
              <a:rPr lang="en-US" altLang="zh-TW" dirty="0" smtClean="0"/>
              <a:t>D(</a:t>
            </a:r>
            <a:r>
              <a:rPr lang="en-US" altLang="zh-TW" dirty="0" err="1" smtClean="0"/>
              <a:t>i,j</a:t>
            </a:r>
            <a:r>
              <a:rPr lang="en-US" altLang="zh-TW" dirty="0" smtClean="0"/>
              <a:t>) = min { D(i-1,u) + ƐD(</a:t>
            </a:r>
            <a:r>
              <a:rPr lang="en-US" altLang="zh-TW" dirty="0" err="1" smtClean="0"/>
              <a:t>X</a:t>
            </a:r>
            <a:r>
              <a:rPr lang="en-US" altLang="zh-TW" baseline="-25000" dirty="0" err="1" smtClean="0"/>
              <a:t>i</a:t>
            </a:r>
            <a:r>
              <a:rPr lang="en-US" altLang="zh-TW" dirty="0" err="1" smtClean="0"/>
              <a:t>,y</a:t>
            </a:r>
            <a:r>
              <a:rPr lang="en-US" altLang="zh-TW" baseline="-25000" dirty="0" smtClean="0"/>
              <a:t>(</a:t>
            </a:r>
            <a:r>
              <a:rPr lang="en-US" altLang="zh-TW" baseline="-25000" dirty="0" err="1" smtClean="0"/>
              <a:t>u,j</a:t>
            </a:r>
            <a:r>
              <a:rPr lang="en-US" altLang="zh-TW" baseline="-25000" dirty="0" smtClean="0"/>
              <a:t>]</a:t>
            </a:r>
            <a:r>
              <a:rPr lang="en-US" altLang="zh-TW" dirty="0" smtClean="0"/>
              <a:t>)}</a:t>
            </a:r>
          </a:p>
          <a:p>
            <a:r>
              <a:rPr lang="en-US" altLang="zh-TW" sz="2800" dirty="0" smtClean="0"/>
              <a:t>ƐD(</a:t>
            </a:r>
            <a:r>
              <a:rPr lang="en-US" altLang="zh-TW" sz="2800" dirty="0" err="1" smtClean="0"/>
              <a:t>X</a:t>
            </a:r>
            <a:r>
              <a:rPr lang="en-US" altLang="zh-TW" sz="2800" baseline="-25000" dirty="0" err="1" smtClean="0"/>
              <a:t>i</a:t>
            </a:r>
            <a:r>
              <a:rPr lang="en-US" altLang="zh-TW" sz="2800" dirty="0" err="1" smtClean="0"/>
              <a:t>,y</a:t>
            </a:r>
            <a:r>
              <a:rPr lang="en-US" altLang="zh-TW" sz="2800" baseline="-25000" dirty="0" smtClean="0"/>
              <a:t>(</a:t>
            </a:r>
            <a:r>
              <a:rPr lang="en-US" altLang="zh-TW" sz="2800" baseline="-25000" dirty="0" err="1" smtClean="0"/>
              <a:t>u,j</a:t>
            </a:r>
            <a:r>
              <a:rPr lang="en-US" altLang="zh-TW" sz="2800" baseline="-25000" dirty="0" smtClean="0"/>
              <a:t>]</a:t>
            </a:r>
            <a:r>
              <a:rPr lang="en-US" altLang="zh-TW" sz="2800" dirty="0" smtClean="0"/>
              <a:t>) = max{ </a:t>
            </a:r>
            <a:r>
              <a:rPr lang="en-US" altLang="zh-TW" sz="2800" dirty="0" err="1" smtClean="0">
                <a:latin typeface="MT Extra" pitchFamily="18" charset="2"/>
              </a:rPr>
              <a:t>l</a:t>
            </a:r>
            <a:r>
              <a:rPr lang="en-US" altLang="zh-TW" sz="2800" baseline="-25000" dirty="0" err="1" smtClean="0"/>
              <a:t>i</a:t>
            </a:r>
            <a:r>
              <a:rPr lang="en-US" altLang="zh-TW" sz="2800" dirty="0" err="1" smtClean="0"/>
              <a:t>,j</a:t>
            </a:r>
            <a:r>
              <a:rPr lang="en-US" altLang="zh-TW" sz="2800" dirty="0" smtClean="0"/>
              <a:t>-u} - min{</a:t>
            </a:r>
            <a:r>
              <a:rPr lang="en-US" altLang="zh-TW" sz="2800" dirty="0" err="1" smtClean="0">
                <a:latin typeface="MT Extra" pitchFamily="18" charset="2"/>
              </a:rPr>
              <a:t>l</a:t>
            </a:r>
            <a:r>
              <a:rPr lang="en-US" altLang="zh-TW" sz="2800" baseline="-25000" dirty="0" err="1" smtClean="0"/>
              <a:t>i</a:t>
            </a:r>
            <a:r>
              <a:rPr lang="en-US" altLang="zh-TW" sz="2800" dirty="0" smtClean="0"/>
              <a:t>, y</a:t>
            </a:r>
            <a:r>
              <a:rPr lang="en-US" altLang="zh-TW" sz="2800" baseline="-25000" dirty="0" smtClean="0"/>
              <a:t>(</a:t>
            </a:r>
            <a:r>
              <a:rPr lang="en-US" altLang="zh-TW" sz="2800" baseline="-25000" dirty="0" err="1" smtClean="0"/>
              <a:t>u,j</a:t>
            </a:r>
            <a:r>
              <a:rPr lang="en-US" altLang="zh-TW" sz="2800" baseline="-25000" dirty="0" smtClean="0"/>
              <a:t>]</a:t>
            </a:r>
            <a:r>
              <a:rPr lang="en-US" altLang="zh-TW" sz="2800" dirty="0" smtClean="0"/>
              <a:t>(</a:t>
            </a:r>
            <a:r>
              <a:rPr lang="el-GR" altLang="zh-TW" sz="2800" dirty="0" smtClean="0"/>
              <a:t>τ</a:t>
            </a:r>
            <a:r>
              <a:rPr lang="en-US" altLang="zh-TW" sz="2800" dirty="0" smtClean="0"/>
              <a:t>)}</a:t>
            </a:r>
          </a:p>
          <a:p>
            <a:pPr marL="1714500" lvl="8" indent="-342900">
              <a:buNone/>
            </a:pPr>
            <a:r>
              <a:rPr lang="en-US" altLang="zh-TW" sz="2600" dirty="0" smtClean="0">
                <a:latin typeface="MT Extra" pitchFamily="18" charset="2"/>
              </a:rPr>
              <a:t>		       </a:t>
            </a:r>
            <a:r>
              <a:rPr lang="en-US" altLang="zh-TW" sz="2600" dirty="0" err="1" smtClean="0">
                <a:latin typeface="MT Extra" pitchFamily="18" charset="2"/>
              </a:rPr>
              <a:t>l</a:t>
            </a:r>
            <a:r>
              <a:rPr lang="en-US" altLang="zh-TW" sz="2600" baseline="-25000" dirty="0" err="1" smtClean="0"/>
              <a:t>i</a:t>
            </a:r>
            <a:r>
              <a:rPr lang="en-US" altLang="zh-TW" sz="2600" baseline="-25000" dirty="0" smtClean="0"/>
              <a:t> </a:t>
            </a:r>
            <a:r>
              <a:rPr lang="pl-PL" altLang="zh-TW" sz="2600" dirty="0" smtClean="0"/>
              <a:t>− </a:t>
            </a:r>
            <a:r>
              <a:rPr lang="en-US" altLang="zh-TW" sz="2600" dirty="0" smtClean="0"/>
              <a:t> y</a:t>
            </a:r>
            <a:r>
              <a:rPr lang="en-US" altLang="zh-TW" sz="2600" baseline="-25000" dirty="0" smtClean="0"/>
              <a:t>(</a:t>
            </a:r>
            <a:r>
              <a:rPr lang="en-US" altLang="zh-TW" sz="2600" baseline="-25000" dirty="0" err="1" smtClean="0"/>
              <a:t>u,j</a:t>
            </a:r>
            <a:r>
              <a:rPr lang="en-US" altLang="zh-TW" sz="2600" baseline="-25000" dirty="0" smtClean="0"/>
              <a:t>]</a:t>
            </a:r>
            <a:r>
              <a:rPr lang="en-US" altLang="zh-TW" sz="2600" dirty="0" smtClean="0"/>
              <a:t>(</a:t>
            </a:r>
            <a:r>
              <a:rPr lang="el-GR" altLang="zh-TW" sz="2600" dirty="0" smtClean="0"/>
              <a:t>τ</a:t>
            </a:r>
            <a:r>
              <a:rPr lang="en-US" altLang="zh-TW" sz="2600" dirty="0" smtClean="0"/>
              <a:t>)  </a:t>
            </a:r>
            <a:r>
              <a:rPr lang="pl-PL" altLang="zh-TW" sz="2600" dirty="0" smtClean="0"/>
              <a:t>if </a:t>
            </a:r>
            <a:r>
              <a:rPr lang="en-US" altLang="zh-TW" sz="2600" dirty="0" err="1" smtClean="0">
                <a:latin typeface="MT Extra" pitchFamily="18" charset="2"/>
              </a:rPr>
              <a:t>l</a:t>
            </a:r>
            <a:r>
              <a:rPr lang="en-US" altLang="zh-TW" sz="2600" baseline="-25000" dirty="0" err="1" smtClean="0"/>
              <a:t>i</a:t>
            </a:r>
            <a:r>
              <a:rPr lang="en-US" altLang="zh-TW" sz="2600" baseline="-25000" dirty="0" smtClean="0"/>
              <a:t> </a:t>
            </a:r>
            <a:r>
              <a:rPr lang="pl-PL" altLang="zh-TW" sz="2600" dirty="0" smtClean="0"/>
              <a:t> ≥ j − u</a:t>
            </a:r>
            <a:endParaRPr lang="en-US" altLang="zh-TW" sz="2800" dirty="0" smtClean="0"/>
          </a:p>
          <a:p>
            <a:r>
              <a:rPr lang="en-US" altLang="zh-TW" sz="2800" dirty="0" smtClean="0"/>
              <a:t>ƐD(</a:t>
            </a:r>
            <a:r>
              <a:rPr lang="en-US" altLang="zh-TW" sz="2800" dirty="0" err="1" smtClean="0"/>
              <a:t>X</a:t>
            </a:r>
            <a:r>
              <a:rPr lang="en-US" altLang="zh-TW" sz="2800" baseline="-25000" dirty="0" err="1" smtClean="0"/>
              <a:t>i</a:t>
            </a:r>
            <a:r>
              <a:rPr lang="en-US" altLang="zh-TW" sz="2800" dirty="0" err="1" smtClean="0"/>
              <a:t>,y</a:t>
            </a:r>
            <a:r>
              <a:rPr lang="en-US" altLang="zh-TW" sz="2800" baseline="-25000" dirty="0" smtClean="0"/>
              <a:t>(</a:t>
            </a:r>
            <a:r>
              <a:rPr lang="en-US" altLang="zh-TW" sz="2800" baseline="-25000" dirty="0" err="1" smtClean="0"/>
              <a:t>u,j</a:t>
            </a:r>
            <a:r>
              <a:rPr lang="en-US" altLang="zh-TW" sz="2800" baseline="-25000" dirty="0" smtClean="0"/>
              <a:t>]</a:t>
            </a:r>
            <a:r>
              <a:rPr lang="en-US" altLang="zh-TW" sz="2800" dirty="0" smtClean="0"/>
              <a:t>)	         </a:t>
            </a:r>
            <a:r>
              <a:rPr lang="pl-PL" altLang="zh-TW" sz="2600" dirty="0" smtClean="0"/>
              <a:t>j −u </a:t>
            </a:r>
            <a:r>
              <a:rPr lang="en-US" altLang="zh-TW" sz="2600" dirty="0" smtClean="0"/>
              <a:t>− y</a:t>
            </a:r>
            <a:r>
              <a:rPr lang="en-US" altLang="zh-TW" sz="2600" baseline="-25000" dirty="0" smtClean="0"/>
              <a:t>(</a:t>
            </a:r>
            <a:r>
              <a:rPr lang="en-US" altLang="zh-TW" sz="2600" baseline="-25000" dirty="0" err="1" smtClean="0"/>
              <a:t>u,j</a:t>
            </a:r>
            <a:r>
              <a:rPr lang="en-US" altLang="zh-TW" sz="2600" baseline="-25000" dirty="0" smtClean="0"/>
              <a:t>]</a:t>
            </a:r>
            <a:r>
              <a:rPr lang="en-US" altLang="zh-TW" sz="2600" dirty="0" smtClean="0"/>
              <a:t>(</a:t>
            </a:r>
            <a:r>
              <a:rPr lang="el-GR" altLang="zh-TW" sz="2600" dirty="0" smtClean="0"/>
              <a:t>τ</a:t>
            </a:r>
            <a:r>
              <a:rPr lang="en-US" altLang="zh-TW" sz="2600" dirty="0" smtClean="0"/>
              <a:t>)   </a:t>
            </a:r>
            <a:r>
              <a:rPr lang="pl-PL" altLang="zh-TW" sz="2600" dirty="0" smtClean="0"/>
              <a:t>if </a:t>
            </a:r>
            <a:r>
              <a:rPr lang="en-US" altLang="zh-TW" sz="2600" dirty="0" smtClean="0"/>
              <a:t>y</a:t>
            </a:r>
            <a:r>
              <a:rPr lang="en-US" altLang="zh-TW" sz="2600" baseline="-25000" dirty="0" smtClean="0"/>
              <a:t>(</a:t>
            </a:r>
            <a:r>
              <a:rPr lang="en-US" altLang="zh-TW" sz="2600" baseline="-25000" dirty="0" err="1" smtClean="0"/>
              <a:t>u,j</a:t>
            </a:r>
            <a:r>
              <a:rPr lang="en-US" altLang="zh-TW" sz="2600" baseline="-25000" dirty="0" smtClean="0"/>
              <a:t>]</a:t>
            </a:r>
            <a:r>
              <a:rPr lang="en-US" altLang="zh-TW" sz="2600" dirty="0" smtClean="0"/>
              <a:t>(</a:t>
            </a:r>
            <a:r>
              <a:rPr lang="el-GR" altLang="zh-TW" sz="2600" dirty="0" smtClean="0"/>
              <a:t>τ</a:t>
            </a:r>
            <a:r>
              <a:rPr lang="en-US" altLang="zh-TW" sz="2600" dirty="0" smtClean="0"/>
              <a:t>) </a:t>
            </a:r>
            <a:r>
              <a:rPr lang="pl-PL" altLang="zh-TW" sz="2600" dirty="0" smtClean="0"/>
              <a:t>≤</a:t>
            </a:r>
            <a:r>
              <a:rPr lang="en-US" altLang="zh-TW" sz="2600" dirty="0" smtClean="0">
                <a:latin typeface="MT Extra" pitchFamily="18" charset="2"/>
              </a:rPr>
              <a:t> </a:t>
            </a:r>
            <a:r>
              <a:rPr lang="en-US" altLang="zh-TW" sz="2600" dirty="0" err="1" smtClean="0">
                <a:latin typeface="MT Extra" pitchFamily="18" charset="2"/>
              </a:rPr>
              <a:t>l</a:t>
            </a:r>
            <a:r>
              <a:rPr lang="en-US" altLang="zh-TW" sz="2600" baseline="-25000" dirty="0" err="1" smtClean="0"/>
              <a:t>i</a:t>
            </a:r>
            <a:r>
              <a:rPr lang="pl-PL" altLang="zh-TW" sz="2600" dirty="0" smtClean="0"/>
              <a:t> ≤ j −u</a:t>
            </a:r>
          </a:p>
          <a:p>
            <a:pPr lvl="5">
              <a:buNone/>
            </a:pPr>
            <a:r>
              <a:rPr lang="en-US" altLang="zh-TW" sz="2600" dirty="0" smtClean="0"/>
              <a:t>	 </a:t>
            </a:r>
            <a:r>
              <a:rPr lang="pl-PL" altLang="zh-TW" sz="2600" dirty="0" smtClean="0"/>
              <a:t>j −u −</a:t>
            </a:r>
            <a:r>
              <a:rPr lang="en-US" altLang="zh-TW" sz="2600" dirty="0" smtClean="0">
                <a:latin typeface="MT Extra" pitchFamily="18" charset="2"/>
              </a:rPr>
              <a:t> </a:t>
            </a:r>
            <a:r>
              <a:rPr lang="en-US" altLang="zh-TW" sz="2600" dirty="0" err="1" smtClean="0">
                <a:latin typeface="MT Extra" pitchFamily="18" charset="2"/>
              </a:rPr>
              <a:t>l</a:t>
            </a:r>
            <a:r>
              <a:rPr lang="en-US" altLang="zh-TW" sz="2600" baseline="-25000" dirty="0" err="1" smtClean="0"/>
              <a:t>i</a:t>
            </a:r>
            <a:r>
              <a:rPr lang="en-US" altLang="zh-TW" sz="2600" baseline="-25000" dirty="0" smtClean="0"/>
              <a:t>  </a:t>
            </a:r>
            <a:r>
              <a:rPr lang="pl-PL" altLang="zh-TW" sz="2600" dirty="0" smtClean="0"/>
              <a:t> if </a:t>
            </a:r>
            <a:r>
              <a:rPr lang="en-US" altLang="zh-TW" sz="2600" dirty="0" err="1" smtClean="0">
                <a:latin typeface="MT Extra" pitchFamily="18" charset="2"/>
              </a:rPr>
              <a:t>l</a:t>
            </a:r>
            <a:r>
              <a:rPr lang="en-US" altLang="zh-TW" sz="2600" baseline="-25000" dirty="0" err="1" smtClean="0"/>
              <a:t>i</a:t>
            </a:r>
            <a:r>
              <a:rPr lang="pl-PL" altLang="zh-TW" sz="2600" dirty="0" smtClean="0"/>
              <a:t> ≤ </a:t>
            </a:r>
            <a:r>
              <a:rPr lang="en-US" altLang="zh-TW" sz="2600" dirty="0" smtClean="0"/>
              <a:t> y</a:t>
            </a:r>
            <a:r>
              <a:rPr lang="en-US" altLang="zh-TW" sz="2600" baseline="-25000" dirty="0" smtClean="0"/>
              <a:t>(</a:t>
            </a:r>
            <a:r>
              <a:rPr lang="en-US" altLang="zh-TW" sz="2600" baseline="-25000" dirty="0" err="1" smtClean="0"/>
              <a:t>u,j</a:t>
            </a:r>
            <a:r>
              <a:rPr lang="en-US" altLang="zh-TW" sz="2600" baseline="-25000" dirty="0" smtClean="0"/>
              <a:t>]</a:t>
            </a:r>
            <a:r>
              <a:rPr lang="en-US" altLang="zh-TW" sz="2600" dirty="0" smtClean="0"/>
              <a:t>(</a:t>
            </a:r>
            <a:r>
              <a:rPr lang="el-GR" altLang="zh-TW" sz="2600" dirty="0" smtClean="0"/>
              <a:t>τ</a:t>
            </a:r>
            <a:r>
              <a:rPr lang="en-US" altLang="zh-TW" sz="2600" dirty="0" smtClean="0"/>
              <a:t>)</a:t>
            </a:r>
            <a:r>
              <a:rPr lang="en-US" altLang="zh-TW" sz="1800" dirty="0" smtClean="0"/>
              <a:t>	</a:t>
            </a:r>
          </a:p>
          <a:p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2000232" y="1571612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 0≤u≤j</a:t>
            </a:r>
            <a:endParaRPr lang="zh-TW" altLang="en-US" dirty="0"/>
          </a:p>
        </p:txBody>
      </p:sp>
      <p:sp>
        <p:nvSpPr>
          <p:cNvPr id="6" name="左大括弧 5"/>
          <p:cNvSpPr/>
          <p:nvPr/>
        </p:nvSpPr>
        <p:spPr>
          <a:xfrm>
            <a:off x="2571736" y="2428868"/>
            <a:ext cx="357190" cy="1214446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285852" y="4000504"/>
          <a:ext cx="6096000" cy="25958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a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a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a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a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b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a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b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a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0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2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3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4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5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6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7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8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b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</a:t>
                      </a:r>
                      <a:endParaRPr lang="zh-TW" altLang="en-US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2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3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4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4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5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6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7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a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2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2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3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4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4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5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6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a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3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2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2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3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4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5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6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a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4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3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2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2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3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4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5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a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5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4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3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2</a:t>
                      </a:r>
                      <a:endParaRPr lang="zh-TW" altLang="en-US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2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2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3</a:t>
                      </a:r>
                      <a:endParaRPr lang="zh-TW" altLang="en-US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4</a:t>
                      </a:r>
                      <a:endParaRPr lang="zh-TW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7643834" y="2935310"/>
          <a:ext cx="1152000" cy="37084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360000"/>
                <a:gridCol w="792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y</a:t>
                      </a:r>
                      <a:r>
                        <a:rPr lang="en-US" altLang="zh-TW" baseline="-25000" dirty="0" smtClean="0"/>
                        <a:t>(0,t]</a:t>
                      </a:r>
                      <a:r>
                        <a:rPr lang="en-US" altLang="zh-TW" dirty="0" smtClean="0"/>
                        <a:t>(a)</a:t>
                      </a:r>
                      <a:endParaRPr lang="zh-TW" altLang="en-US" dirty="0" smtClean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Main results(2/2)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 smtClean="0"/>
              <a:t>Ex :</a:t>
            </a:r>
            <a:r>
              <a:rPr lang="zh-TW" altLang="en-US" sz="2800" dirty="0" smtClean="0"/>
              <a:t> </a:t>
            </a:r>
            <a:r>
              <a:rPr lang="en-US" altLang="zh-TW" sz="2800" dirty="0" smtClean="0">
                <a:sym typeface="Wingdings" pitchFamily="2" charset="2"/>
              </a:rPr>
              <a:t>D(2,6) , </a:t>
            </a:r>
            <a:r>
              <a:rPr lang="en-US" altLang="zh-TW" sz="2800" dirty="0" err="1" smtClean="0">
                <a:latin typeface="MT Extra" pitchFamily="18" charset="2"/>
              </a:rPr>
              <a:t>l</a:t>
            </a:r>
            <a:r>
              <a:rPr lang="en-US" altLang="zh-TW" sz="2800" baseline="-25000" dirty="0" err="1" smtClean="0"/>
              <a:t>i</a:t>
            </a:r>
            <a:r>
              <a:rPr lang="en-US" altLang="zh-TW" sz="2800" baseline="-25000" dirty="0" smtClean="0"/>
              <a:t> </a:t>
            </a:r>
            <a:r>
              <a:rPr lang="en-US" altLang="zh-TW" sz="2800" dirty="0" smtClean="0"/>
              <a:t>= 4</a:t>
            </a:r>
          </a:p>
          <a:p>
            <a:r>
              <a:rPr lang="en-US" altLang="zh-TW" sz="2800" dirty="0" smtClean="0"/>
              <a:t>D(</a:t>
            </a:r>
            <a:r>
              <a:rPr lang="en-US" altLang="zh-TW" sz="2800" dirty="0" err="1" smtClean="0"/>
              <a:t>i,j</a:t>
            </a:r>
            <a:r>
              <a:rPr lang="en-US" altLang="zh-TW" sz="2800" dirty="0" smtClean="0"/>
              <a:t>) = min { D(i-1,u) + ƐD(</a:t>
            </a:r>
            <a:r>
              <a:rPr lang="en-US" altLang="zh-TW" sz="2800" dirty="0" err="1" smtClean="0"/>
              <a:t>X</a:t>
            </a:r>
            <a:r>
              <a:rPr lang="en-US" altLang="zh-TW" sz="2800" baseline="-25000" dirty="0" err="1" smtClean="0"/>
              <a:t>i</a:t>
            </a:r>
            <a:r>
              <a:rPr lang="en-US" altLang="zh-TW" sz="2800" dirty="0" err="1" smtClean="0"/>
              <a:t>,y</a:t>
            </a:r>
            <a:r>
              <a:rPr lang="en-US" altLang="zh-TW" sz="2800" baseline="-25000" dirty="0" smtClean="0"/>
              <a:t>(</a:t>
            </a:r>
            <a:r>
              <a:rPr lang="en-US" altLang="zh-TW" sz="2800" baseline="-25000" dirty="0" err="1" smtClean="0"/>
              <a:t>u,j</a:t>
            </a:r>
            <a:r>
              <a:rPr lang="en-US" altLang="zh-TW" sz="2800" baseline="-25000" dirty="0" smtClean="0"/>
              <a:t>]</a:t>
            </a:r>
            <a:r>
              <a:rPr lang="en-US" altLang="zh-TW" sz="2800" dirty="0" smtClean="0"/>
              <a:t>)}</a:t>
            </a:r>
          </a:p>
          <a:p>
            <a:pPr marL="1714500" lvl="8" indent="-342900">
              <a:buNone/>
            </a:pPr>
            <a:r>
              <a:rPr lang="en-US" altLang="zh-TW" sz="2400" dirty="0">
                <a:latin typeface="MT Extra" pitchFamily="18" charset="2"/>
              </a:rPr>
              <a:t>		     </a:t>
            </a:r>
            <a:r>
              <a:rPr lang="en-US" altLang="zh-TW" sz="2400" dirty="0" smtClean="0">
                <a:latin typeface="MT Extra" pitchFamily="18" charset="2"/>
              </a:rPr>
              <a:t>l</a:t>
            </a:r>
            <a:r>
              <a:rPr lang="en-US" altLang="zh-TW" sz="2400" baseline="-25000" dirty="0" smtClean="0"/>
              <a:t>i </a:t>
            </a:r>
            <a:r>
              <a:rPr lang="pl-PL" altLang="zh-TW" sz="2400" dirty="0"/>
              <a:t>− </a:t>
            </a:r>
            <a:r>
              <a:rPr lang="en-US" altLang="zh-TW" sz="2400" dirty="0"/>
              <a:t> y</a:t>
            </a:r>
            <a:r>
              <a:rPr lang="en-US" altLang="zh-TW" sz="2400" baseline="-25000" dirty="0"/>
              <a:t>(</a:t>
            </a:r>
            <a:r>
              <a:rPr lang="en-US" altLang="zh-TW" sz="2400" baseline="-25000" dirty="0" err="1"/>
              <a:t>u,j</a:t>
            </a:r>
            <a:r>
              <a:rPr lang="en-US" altLang="zh-TW" sz="2400" baseline="-25000" dirty="0"/>
              <a:t>]</a:t>
            </a:r>
            <a:r>
              <a:rPr lang="en-US" altLang="zh-TW" sz="2400" dirty="0"/>
              <a:t>(</a:t>
            </a:r>
            <a:r>
              <a:rPr lang="el-GR" altLang="zh-TW" sz="2400" dirty="0"/>
              <a:t>τ</a:t>
            </a:r>
            <a:r>
              <a:rPr lang="en-US" altLang="zh-TW" sz="2400" dirty="0"/>
              <a:t>)  </a:t>
            </a:r>
            <a:r>
              <a:rPr lang="pl-PL" altLang="zh-TW" sz="2400" dirty="0"/>
              <a:t>if </a:t>
            </a:r>
            <a:r>
              <a:rPr lang="en-US" altLang="zh-TW" sz="2400" dirty="0">
                <a:latin typeface="MT Extra" pitchFamily="18" charset="2"/>
              </a:rPr>
              <a:t>l</a:t>
            </a:r>
            <a:r>
              <a:rPr lang="en-US" altLang="zh-TW" sz="2400" baseline="-25000" dirty="0"/>
              <a:t>i </a:t>
            </a:r>
            <a:r>
              <a:rPr lang="pl-PL" altLang="zh-TW" sz="2400" dirty="0"/>
              <a:t> ≥ j − u</a:t>
            </a:r>
            <a:endParaRPr lang="en-US" altLang="zh-TW" sz="2400" dirty="0"/>
          </a:p>
          <a:p>
            <a:r>
              <a:rPr lang="en-US" altLang="zh-TW" sz="2400" dirty="0"/>
              <a:t>ƐD(</a:t>
            </a:r>
            <a:r>
              <a:rPr lang="en-US" altLang="zh-TW" sz="2400" dirty="0" err="1"/>
              <a:t>X</a:t>
            </a:r>
            <a:r>
              <a:rPr lang="en-US" altLang="zh-TW" sz="2400" baseline="-25000" dirty="0" err="1"/>
              <a:t>i</a:t>
            </a:r>
            <a:r>
              <a:rPr lang="en-US" altLang="zh-TW" sz="2400" dirty="0" err="1"/>
              <a:t>,y</a:t>
            </a:r>
            <a:r>
              <a:rPr lang="en-US" altLang="zh-TW" sz="2400" baseline="-25000" dirty="0"/>
              <a:t>(</a:t>
            </a:r>
            <a:r>
              <a:rPr lang="en-US" altLang="zh-TW" sz="2400" baseline="-25000" dirty="0" err="1"/>
              <a:t>u,j</a:t>
            </a:r>
            <a:r>
              <a:rPr lang="en-US" altLang="zh-TW" sz="2400" baseline="-25000" dirty="0"/>
              <a:t>]</a:t>
            </a:r>
            <a:r>
              <a:rPr lang="en-US" altLang="zh-TW" sz="2400" dirty="0"/>
              <a:t>)	      </a:t>
            </a:r>
            <a:r>
              <a:rPr lang="en-US" altLang="zh-TW" sz="2400" dirty="0" smtClean="0"/>
              <a:t>  </a:t>
            </a:r>
            <a:r>
              <a:rPr lang="pl-PL" altLang="zh-TW" sz="2400" dirty="0"/>
              <a:t>j −u </a:t>
            </a:r>
            <a:r>
              <a:rPr lang="en-US" altLang="zh-TW" sz="2400" dirty="0"/>
              <a:t>− y</a:t>
            </a:r>
            <a:r>
              <a:rPr lang="en-US" altLang="zh-TW" sz="2400" baseline="-25000" dirty="0"/>
              <a:t>(</a:t>
            </a:r>
            <a:r>
              <a:rPr lang="en-US" altLang="zh-TW" sz="2400" baseline="-25000" dirty="0" err="1"/>
              <a:t>u,j</a:t>
            </a:r>
            <a:r>
              <a:rPr lang="en-US" altLang="zh-TW" sz="2400" baseline="-25000" dirty="0"/>
              <a:t>]</a:t>
            </a:r>
            <a:r>
              <a:rPr lang="en-US" altLang="zh-TW" sz="2400" dirty="0"/>
              <a:t>(</a:t>
            </a:r>
            <a:r>
              <a:rPr lang="el-GR" altLang="zh-TW" sz="2400" dirty="0"/>
              <a:t>τ</a:t>
            </a:r>
            <a:r>
              <a:rPr lang="en-US" altLang="zh-TW" sz="2400" dirty="0"/>
              <a:t>)   </a:t>
            </a:r>
            <a:r>
              <a:rPr lang="pl-PL" altLang="zh-TW" sz="2400" dirty="0"/>
              <a:t>if </a:t>
            </a:r>
            <a:r>
              <a:rPr lang="en-US" altLang="zh-TW" sz="2400" dirty="0"/>
              <a:t>y</a:t>
            </a:r>
            <a:r>
              <a:rPr lang="en-US" altLang="zh-TW" sz="2400" baseline="-25000" dirty="0"/>
              <a:t>(</a:t>
            </a:r>
            <a:r>
              <a:rPr lang="en-US" altLang="zh-TW" sz="2400" baseline="-25000" dirty="0" err="1"/>
              <a:t>u,j</a:t>
            </a:r>
            <a:r>
              <a:rPr lang="en-US" altLang="zh-TW" sz="2400" baseline="-25000" dirty="0"/>
              <a:t>]</a:t>
            </a:r>
            <a:r>
              <a:rPr lang="en-US" altLang="zh-TW" sz="2400" dirty="0"/>
              <a:t>(</a:t>
            </a:r>
            <a:r>
              <a:rPr lang="el-GR" altLang="zh-TW" sz="2400" dirty="0"/>
              <a:t>τ</a:t>
            </a:r>
            <a:r>
              <a:rPr lang="en-US" altLang="zh-TW" sz="2400" dirty="0"/>
              <a:t>) </a:t>
            </a:r>
            <a:r>
              <a:rPr lang="pl-PL" altLang="zh-TW" sz="2400" dirty="0"/>
              <a:t>≤</a:t>
            </a:r>
            <a:r>
              <a:rPr lang="en-US" altLang="zh-TW" sz="2400" dirty="0">
                <a:latin typeface="MT Extra" pitchFamily="18" charset="2"/>
              </a:rPr>
              <a:t> l</a:t>
            </a:r>
            <a:r>
              <a:rPr lang="en-US" altLang="zh-TW" sz="2400" baseline="-25000" dirty="0"/>
              <a:t>i</a:t>
            </a:r>
            <a:r>
              <a:rPr lang="pl-PL" altLang="zh-TW" sz="2400" dirty="0"/>
              <a:t> ≤ j −u</a:t>
            </a:r>
          </a:p>
          <a:p>
            <a:pPr lvl="5">
              <a:buNone/>
            </a:pPr>
            <a:r>
              <a:rPr lang="en-US" altLang="zh-TW" sz="2400" dirty="0" smtClean="0"/>
              <a:t> </a:t>
            </a:r>
            <a:r>
              <a:rPr lang="pl-PL" altLang="zh-TW" sz="2400" dirty="0" smtClean="0"/>
              <a:t>j </a:t>
            </a:r>
            <a:r>
              <a:rPr lang="pl-PL" altLang="zh-TW" sz="2400" dirty="0"/>
              <a:t>−u −</a:t>
            </a:r>
            <a:r>
              <a:rPr lang="en-US" altLang="zh-TW" sz="2400" dirty="0">
                <a:latin typeface="MT Extra" pitchFamily="18" charset="2"/>
              </a:rPr>
              <a:t> l</a:t>
            </a:r>
            <a:r>
              <a:rPr lang="en-US" altLang="zh-TW" sz="2400" baseline="-25000" dirty="0"/>
              <a:t>i  </a:t>
            </a:r>
            <a:r>
              <a:rPr lang="pl-PL" altLang="zh-TW" sz="2400" dirty="0"/>
              <a:t> if </a:t>
            </a:r>
            <a:r>
              <a:rPr lang="en-US" altLang="zh-TW" sz="2400" dirty="0">
                <a:latin typeface="MT Extra" pitchFamily="18" charset="2"/>
              </a:rPr>
              <a:t>l</a:t>
            </a:r>
            <a:r>
              <a:rPr lang="en-US" altLang="zh-TW" sz="2400" baseline="-25000" dirty="0"/>
              <a:t>i</a:t>
            </a:r>
            <a:r>
              <a:rPr lang="pl-PL" altLang="zh-TW" sz="2400" dirty="0"/>
              <a:t> ≤ </a:t>
            </a:r>
            <a:r>
              <a:rPr lang="en-US" altLang="zh-TW" sz="2400" dirty="0"/>
              <a:t> y</a:t>
            </a:r>
            <a:r>
              <a:rPr lang="en-US" altLang="zh-TW" sz="2400" baseline="-25000" dirty="0"/>
              <a:t>(</a:t>
            </a:r>
            <a:r>
              <a:rPr lang="en-US" altLang="zh-TW" sz="2400" baseline="-25000" dirty="0" err="1"/>
              <a:t>u,j</a:t>
            </a:r>
            <a:r>
              <a:rPr lang="en-US" altLang="zh-TW" sz="2400" baseline="-25000" dirty="0"/>
              <a:t>]</a:t>
            </a:r>
            <a:r>
              <a:rPr lang="en-US" altLang="zh-TW" sz="2400" dirty="0"/>
              <a:t>(</a:t>
            </a:r>
            <a:r>
              <a:rPr lang="el-GR" altLang="zh-TW" sz="2400" dirty="0"/>
              <a:t>τ</a:t>
            </a:r>
            <a:r>
              <a:rPr lang="en-US" altLang="zh-TW" sz="2400" dirty="0"/>
              <a:t>)	</a:t>
            </a:r>
          </a:p>
          <a:p>
            <a:endParaRPr lang="en-US" altLang="zh-TW" sz="2800" dirty="0" smtClean="0"/>
          </a:p>
          <a:p>
            <a:endParaRPr lang="en-US" altLang="zh-TW" sz="2800" dirty="0" smtClean="0"/>
          </a:p>
          <a:p>
            <a:pPr>
              <a:buNone/>
            </a:pPr>
            <a:r>
              <a:rPr lang="en-US" altLang="zh-TW" sz="2800" dirty="0" smtClean="0"/>
              <a:t>	</a:t>
            </a:r>
          </a:p>
          <a:p>
            <a:endParaRPr lang="zh-TW" altLang="en-US" sz="28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921616"/>
              </p:ext>
            </p:extLst>
          </p:nvPr>
        </p:nvGraphicFramePr>
        <p:xfrm>
          <a:off x="437853" y="4221088"/>
          <a:ext cx="6096000" cy="11887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b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b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b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1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1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2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3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5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6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7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5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3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2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1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2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2</a:t>
                      </a:r>
                      <a:endParaRPr lang="zh-TW" altLang="en-US" sz="2000" b="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3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7393875"/>
              </p:ext>
            </p:extLst>
          </p:nvPr>
        </p:nvGraphicFramePr>
        <p:xfrm>
          <a:off x="107504" y="5572725"/>
          <a:ext cx="87868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255263"/>
                <a:gridCol w="1255263"/>
                <a:gridCol w="1255263"/>
                <a:gridCol w="1255263"/>
                <a:gridCol w="1255263"/>
                <a:gridCol w="1255263"/>
                <a:gridCol w="125526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/>
                        <a:t>ƐD(X</a:t>
                      </a:r>
                      <a:r>
                        <a:rPr lang="en-US" altLang="zh-TW" sz="1800" b="0" baseline="-25000" dirty="0" smtClean="0"/>
                        <a:t>2</a:t>
                      </a:r>
                      <a:r>
                        <a:rPr lang="en-US" altLang="zh-TW" sz="1800" b="0" dirty="0" smtClean="0"/>
                        <a:t>,y</a:t>
                      </a:r>
                      <a:r>
                        <a:rPr lang="en-US" altLang="zh-TW" sz="1800" b="0" baseline="-25000" dirty="0" smtClean="0"/>
                        <a:t>(0,6]</a:t>
                      </a:r>
                      <a:r>
                        <a:rPr lang="en-US" altLang="zh-TW" sz="1800" b="0" dirty="0" smtClean="0"/>
                        <a:t>)</a:t>
                      </a:r>
                      <a:endParaRPr lang="zh-TW" altLang="en-US" b="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dirty="0" smtClean="0"/>
                        <a:t>ƐD(X</a:t>
                      </a:r>
                      <a:r>
                        <a:rPr lang="en-US" altLang="zh-TW" sz="1800" b="0" baseline="-25000" dirty="0" smtClean="0"/>
                        <a:t>2</a:t>
                      </a:r>
                      <a:r>
                        <a:rPr lang="en-US" altLang="zh-TW" sz="1800" b="0" dirty="0" smtClean="0"/>
                        <a:t>,y</a:t>
                      </a:r>
                      <a:r>
                        <a:rPr lang="en-US" altLang="zh-TW" sz="1800" b="0" baseline="-25000" dirty="0" smtClean="0"/>
                        <a:t>(1,6]</a:t>
                      </a:r>
                      <a:r>
                        <a:rPr lang="en-US" altLang="zh-TW" sz="1800" b="0" dirty="0" smtClean="0"/>
                        <a:t>)</a:t>
                      </a:r>
                      <a:endParaRPr lang="zh-TW" altLang="en-US" b="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dirty="0" smtClean="0"/>
                        <a:t>ƐD(X</a:t>
                      </a:r>
                      <a:r>
                        <a:rPr lang="en-US" altLang="zh-TW" sz="1800" b="0" baseline="-25000" dirty="0" smtClean="0"/>
                        <a:t>2</a:t>
                      </a:r>
                      <a:r>
                        <a:rPr lang="en-US" altLang="zh-TW" sz="1800" b="0" dirty="0" smtClean="0"/>
                        <a:t>,y</a:t>
                      </a:r>
                      <a:r>
                        <a:rPr lang="en-US" altLang="zh-TW" sz="1800" b="0" baseline="-25000" dirty="0" smtClean="0"/>
                        <a:t>(2,6]</a:t>
                      </a:r>
                      <a:r>
                        <a:rPr lang="en-US" altLang="zh-TW" sz="1800" b="0" dirty="0" smtClean="0"/>
                        <a:t>)</a:t>
                      </a:r>
                      <a:endParaRPr lang="zh-TW" altLang="en-US" b="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dirty="0" smtClean="0"/>
                        <a:t>ƐD(X</a:t>
                      </a:r>
                      <a:r>
                        <a:rPr lang="en-US" altLang="zh-TW" sz="1800" b="0" baseline="-25000" dirty="0" smtClean="0"/>
                        <a:t>2</a:t>
                      </a:r>
                      <a:r>
                        <a:rPr lang="en-US" altLang="zh-TW" sz="1800" b="0" dirty="0" smtClean="0"/>
                        <a:t>,y</a:t>
                      </a:r>
                      <a:r>
                        <a:rPr lang="en-US" altLang="zh-TW" sz="1800" b="0" baseline="-25000" dirty="0" smtClean="0"/>
                        <a:t>(3,6]</a:t>
                      </a:r>
                      <a:r>
                        <a:rPr lang="en-US" altLang="zh-TW" sz="1800" b="0" dirty="0" smtClean="0"/>
                        <a:t>)</a:t>
                      </a:r>
                      <a:endParaRPr lang="zh-TW" altLang="en-US" b="0" dirty="0" smtClean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dirty="0" smtClean="0"/>
                        <a:t>ƐD(X</a:t>
                      </a:r>
                      <a:r>
                        <a:rPr lang="en-US" altLang="zh-TW" sz="1800" b="0" baseline="-25000" dirty="0" smtClean="0"/>
                        <a:t>2</a:t>
                      </a:r>
                      <a:r>
                        <a:rPr lang="en-US" altLang="zh-TW" sz="1800" b="0" dirty="0" smtClean="0"/>
                        <a:t>,y</a:t>
                      </a:r>
                      <a:r>
                        <a:rPr lang="en-US" altLang="zh-TW" sz="1800" b="0" baseline="-25000" dirty="0" smtClean="0"/>
                        <a:t>(4,6]</a:t>
                      </a:r>
                      <a:r>
                        <a:rPr lang="en-US" altLang="zh-TW" sz="1800" b="0" dirty="0" smtClean="0"/>
                        <a:t>)</a:t>
                      </a:r>
                      <a:endParaRPr lang="zh-TW" altLang="en-US" b="0" dirty="0" smtClean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dirty="0" smtClean="0"/>
                        <a:t>ƐD(X</a:t>
                      </a:r>
                      <a:r>
                        <a:rPr lang="en-US" altLang="zh-TW" sz="1800" b="0" baseline="-25000" dirty="0" smtClean="0"/>
                        <a:t>2</a:t>
                      </a:r>
                      <a:r>
                        <a:rPr lang="en-US" altLang="zh-TW" sz="1800" b="0" dirty="0" smtClean="0"/>
                        <a:t>,y</a:t>
                      </a:r>
                      <a:r>
                        <a:rPr lang="en-US" altLang="zh-TW" sz="1800" b="0" baseline="-25000" dirty="0" smtClean="0"/>
                        <a:t>(5,6]</a:t>
                      </a:r>
                      <a:r>
                        <a:rPr lang="en-US" altLang="zh-TW" sz="1800" b="0" dirty="0" smtClean="0"/>
                        <a:t>)</a:t>
                      </a:r>
                      <a:endParaRPr lang="zh-TW" altLang="en-US" b="0" dirty="0" smtClean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dirty="0" smtClean="0"/>
                        <a:t>ƐD(X</a:t>
                      </a:r>
                      <a:r>
                        <a:rPr lang="en-US" altLang="zh-TW" sz="1800" b="0" baseline="-25000" dirty="0" smtClean="0"/>
                        <a:t>2</a:t>
                      </a:r>
                      <a:r>
                        <a:rPr lang="en-US" altLang="zh-TW" sz="1800" b="0" dirty="0" smtClean="0"/>
                        <a:t>,y</a:t>
                      </a:r>
                      <a:r>
                        <a:rPr lang="en-US" altLang="zh-TW" sz="1800" b="0" baseline="-25000" dirty="0" smtClean="0"/>
                        <a:t>6,6]</a:t>
                      </a:r>
                      <a:r>
                        <a:rPr lang="en-US" altLang="zh-TW" sz="1800" b="0" dirty="0" smtClean="0"/>
                        <a:t>)</a:t>
                      </a:r>
                      <a:endParaRPr lang="zh-TW" altLang="en-US" b="0" dirty="0" smtClean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2</a:t>
                      </a:r>
                      <a:endParaRPr lang="zh-TW" altLang="en-US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</a:t>
                      </a:r>
                      <a:endParaRPr lang="zh-TW" altLang="en-US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</a:t>
                      </a:r>
                      <a:endParaRPr lang="zh-TW" altLang="en-US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2</a:t>
                      </a:r>
                      <a:endParaRPr lang="zh-TW" altLang="en-US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3</a:t>
                      </a:r>
                      <a:endParaRPr lang="zh-TW" altLang="en-US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3</a:t>
                      </a:r>
                      <a:endParaRPr lang="zh-TW" altLang="en-US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4</a:t>
                      </a:r>
                      <a:endParaRPr lang="zh-TW" altLang="en-US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1763688" y="2420888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 0≤u≤j</a:t>
            </a:r>
            <a:endParaRPr lang="zh-TW" altLang="en-US" dirty="0"/>
          </a:p>
        </p:txBody>
      </p:sp>
      <p:sp>
        <p:nvSpPr>
          <p:cNvPr id="7" name="左大括弧 6"/>
          <p:cNvSpPr/>
          <p:nvPr/>
        </p:nvSpPr>
        <p:spPr>
          <a:xfrm>
            <a:off x="2346840" y="2790220"/>
            <a:ext cx="357190" cy="998820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28596" y="1331929"/>
            <a:ext cx="8472518" cy="4525963"/>
          </a:xfrm>
        </p:spPr>
        <p:txBody>
          <a:bodyPr>
            <a:normAutofit/>
          </a:bodyPr>
          <a:lstStyle/>
          <a:p>
            <a:r>
              <a:rPr lang="en-US" altLang="zh-TW" sz="2800" dirty="0" smtClean="0"/>
              <a:t>k = D(i-1,u) + ƐD(</a:t>
            </a:r>
            <a:r>
              <a:rPr lang="en-US" altLang="zh-TW" sz="2800" dirty="0" err="1" smtClean="0"/>
              <a:t>X</a:t>
            </a:r>
            <a:r>
              <a:rPr lang="en-US" altLang="zh-TW" sz="2800" baseline="-25000" dirty="0" err="1" smtClean="0"/>
              <a:t>i</a:t>
            </a:r>
            <a:r>
              <a:rPr lang="en-US" altLang="zh-TW" sz="2800" dirty="0" err="1" smtClean="0"/>
              <a:t>,y</a:t>
            </a:r>
            <a:r>
              <a:rPr lang="en-US" altLang="zh-TW" sz="2800" baseline="-25000" dirty="0" smtClean="0"/>
              <a:t>(</a:t>
            </a:r>
            <a:r>
              <a:rPr lang="en-US" altLang="zh-TW" sz="2800" baseline="-25000" dirty="0" err="1" smtClean="0"/>
              <a:t>u,j</a:t>
            </a:r>
            <a:r>
              <a:rPr lang="en-US" altLang="zh-TW" sz="2800" baseline="-25000" dirty="0" smtClean="0"/>
              <a:t>]</a:t>
            </a:r>
            <a:r>
              <a:rPr lang="en-US" altLang="zh-TW" sz="2800" dirty="0" smtClean="0"/>
              <a:t>)</a:t>
            </a:r>
          </a:p>
          <a:p>
            <a:pPr>
              <a:buNone/>
            </a:pPr>
            <a:r>
              <a:rPr lang="es-ES" altLang="zh-TW" sz="2800" dirty="0" smtClean="0"/>
              <a:t>(C1) D(i −1,u)+</a:t>
            </a:r>
            <a:r>
              <a:rPr lang="en-US" altLang="zh-TW" sz="2800" dirty="0" smtClean="0"/>
              <a:t>y</a:t>
            </a:r>
            <a:r>
              <a:rPr lang="en-US" altLang="zh-TW" sz="2800" baseline="-25000" dirty="0" smtClean="0"/>
              <a:t>(0,u]</a:t>
            </a:r>
            <a:r>
              <a:rPr lang="es-ES" altLang="zh-TW" sz="2800" dirty="0" smtClean="0"/>
              <a:t>(τ) = k+</a:t>
            </a:r>
            <a:r>
              <a:rPr lang="en-US" altLang="zh-TW" sz="2800" dirty="0" smtClean="0"/>
              <a:t>y</a:t>
            </a:r>
            <a:r>
              <a:rPr lang="en-US" altLang="zh-TW" sz="2800" baseline="-25000" dirty="0" smtClean="0"/>
              <a:t>(0,j]</a:t>
            </a:r>
            <a:r>
              <a:rPr lang="es-ES" altLang="zh-TW" sz="2800" dirty="0" smtClean="0"/>
              <a:t>(τ)−</a:t>
            </a:r>
            <a:r>
              <a:rPr lang="en-US" altLang="zh-TW" sz="2800" dirty="0" smtClean="0">
                <a:latin typeface="MT Extra" pitchFamily="18" charset="2"/>
              </a:rPr>
              <a:t> </a:t>
            </a:r>
            <a:r>
              <a:rPr lang="en-US" altLang="zh-TW" sz="2800" dirty="0" err="1" smtClean="0">
                <a:latin typeface="MT Extra" pitchFamily="18" charset="2"/>
              </a:rPr>
              <a:t>l</a:t>
            </a:r>
            <a:r>
              <a:rPr lang="en-US" altLang="zh-TW" sz="2800" baseline="-25000" dirty="0" err="1" smtClean="0"/>
              <a:t>i</a:t>
            </a:r>
            <a:r>
              <a:rPr lang="es-ES" altLang="zh-TW" sz="2800" i="1" dirty="0" smtClean="0"/>
              <a:t> </a:t>
            </a:r>
          </a:p>
          <a:p>
            <a:pPr>
              <a:buNone/>
            </a:pPr>
            <a:r>
              <a:rPr lang="es-ES" altLang="zh-TW" sz="2800" i="1" dirty="0" smtClean="0"/>
              <a:t>				</a:t>
            </a:r>
            <a:r>
              <a:rPr lang="es-ES" altLang="zh-TW" sz="2800" dirty="0" smtClean="0"/>
              <a:t>whenever </a:t>
            </a:r>
            <a:r>
              <a:rPr lang="pl-PL" altLang="zh-TW" sz="2800" dirty="0" smtClean="0"/>
              <a:t>max{j </a:t>
            </a:r>
            <a:r>
              <a:rPr lang="pl-PL" altLang="zh-TW" sz="2800" dirty="0" smtClean="0"/>
              <a:t>−</a:t>
            </a:r>
            <a:r>
              <a:rPr lang="en-US" altLang="zh-TW" sz="2800" dirty="0">
                <a:latin typeface="MT Extra" pitchFamily="18" charset="2"/>
              </a:rPr>
              <a:t> </a:t>
            </a:r>
            <a:r>
              <a:rPr lang="en-US" altLang="zh-TW" sz="2800" dirty="0" smtClean="0">
                <a:latin typeface="MT Extra" pitchFamily="18" charset="2"/>
              </a:rPr>
              <a:t>l</a:t>
            </a:r>
            <a:r>
              <a:rPr lang="en-US" altLang="zh-TW" sz="2800" baseline="-25000" dirty="0" smtClean="0"/>
              <a:t>i </a:t>
            </a:r>
            <a:r>
              <a:rPr lang="pl-PL" altLang="zh-TW" sz="2800" i="1" dirty="0" smtClean="0"/>
              <a:t>,0</a:t>
            </a:r>
            <a:r>
              <a:rPr lang="pl-PL" altLang="zh-TW" sz="2800" i="1" dirty="0" smtClean="0"/>
              <a:t>} ≤ u ≤ j </a:t>
            </a:r>
          </a:p>
          <a:p>
            <a:pPr>
              <a:buNone/>
            </a:pPr>
            <a:r>
              <a:rPr lang="en-US" altLang="zh-TW" sz="2800" dirty="0" smtClean="0"/>
              <a:t>(C2) D(</a:t>
            </a:r>
            <a:r>
              <a:rPr lang="en-US" altLang="zh-TW" sz="2800" dirty="0" err="1" smtClean="0"/>
              <a:t>i</a:t>
            </a:r>
            <a:r>
              <a:rPr lang="en-US" altLang="zh-TW" sz="2800" dirty="0" smtClean="0"/>
              <a:t> − 1,u)+y</a:t>
            </a:r>
            <a:r>
              <a:rPr lang="en-US" altLang="zh-TW" sz="2800" baseline="-25000" dirty="0" smtClean="0"/>
              <a:t>(0,u]</a:t>
            </a:r>
            <a:r>
              <a:rPr lang="es-ES" altLang="zh-TW" sz="2800" dirty="0" smtClean="0"/>
              <a:t>(τ) </a:t>
            </a:r>
            <a:r>
              <a:rPr lang="el-GR" altLang="zh-TW" sz="2800" dirty="0" smtClean="0"/>
              <a:t>− </a:t>
            </a:r>
            <a:r>
              <a:rPr lang="en-US" altLang="zh-TW" sz="2800" dirty="0" smtClean="0"/>
              <a:t>u = k + y</a:t>
            </a:r>
            <a:r>
              <a:rPr lang="en-US" altLang="zh-TW" sz="2800" baseline="-25000" dirty="0" smtClean="0"/>
              <a:t>(0,j]</a:t>
            </a:r>
            <a:r>
              <a:rPr lang="es-ES" altLang="zh-TW" sz="2800" dirty="0" smtClean="0"/>
              <a:t>(τ) </a:t>
            </a:r>
            <a:r>
              <a:rPr lang="el-GR" altLang="zh-TW" sz="2800" dirty="0" smtClean="0"/>
              <a:t>− </a:t>
            </a:r>
            <a:r>
              <a:rPr lang="en-US" altLang="zh-TW" sz="2800" dirty="0" smtClean="0"/>
              <a:t>j</a:t>
            </a:r>
          </a:p>
          <a:p>
            <a:pPr>
              <a:buNone/>
            </a:pPr>
            <a:r>
              <a:rPr lang="en-US" altLang="zh-TW" sz="2800" dirty="0" smtClean="0"/>
              <a:t>				whenever 0 ≤ </a:t>
            </a:r>
            <a:r>
              <a:rPr lang="en-US" altLang="zh-TW" sz="2800" i="1" dirty="0" smtClean="0"/>
              <a:t>u </a:t>
            </a:r>
            <a:r>
              <a:rPr lang="en-US" altLang="zh-TW" sz="2800" dirty="0" smtClean="0"/>
              <a:t>≤</a:t>
            </a:r>
            <a:r>
              <a:rPr lang="en-US" altLang="zh-TW" sz="2800" i="1" dirty="0" smtClean="0"/>
              <a:t> j −</a:t>
            </a:r>
            <a:r>
              <a:rPr lang="en-US" altLang="zh-TW" sz="2800" dirty="0" err="1" smtClean="0">
                <a:latin typeface="MT Extra" pitchFamily="18" charset="2"/>
              </a:rPr>
              <a:t>l</a:t>
            </a:r>
            <a:r>
              <a:rPr lang="en-US" altLang="zh-TW" sz="2800" baseline="-25000" dirty="0" err="1" smtClean="0"/>
              <a:t>i</a:t>
            </a:r>
            <a:r>
              <a:rPr lang="en-US" altLang="zh-TW" sz="2800" i="1" dirty="0" smtClean="0"/>
              <a:t> and </a:t>
            </a:r>
            <a:r>
              <a:rPr lang="en-US" altLang="zh-TW" sz="2800" dirty="0" smtClean="0"/>
              <a:t>y</a:t>
            </a:r>
            <a:r>
              <a:rPr lang="en-US" altLang="zh-TW" sz="2800" baseline="-25000" dirty="0" smtClean="0"/>
              <a:t>(</a:t>
            </a:r>
            <a:r>
              <a:rPr lang="en-US" altLang="zh-TW" sz="2800" baseline="-25000" dirty="0" err="1" smtClean="0"/>
              <a:t>u,j</a:t>
            </a:r>
            <a:r>
              <a:rPr lang="en-US" altLang="zh-TW" sz="2800" baseline="-25000" dirty="0" smtClean="0"/>
              <a:t>]</a:t>
            </a:r>
            <a:r>
              <a:rPr lang="es-ES" altLang="zh-TW" sz="2800" i="1" dirty="0" smtClean="0"/>
              <a:t>(τ)</a:t>
            </a:r>
            <a:r>
              <a:rPr lang="en-US" altLang="zh-TW" sz="2800" dirty="0" smtClean="0"/>
              <a:t> ≤</a:t>
            </a:r>
            <a:r>
              <a:rPr lang="es-ES" altLang="zh-TW" sz="2800" i="1" dirty="0" smtClean="0"/>
              <a:t> </a:t>
            </a:r>
            <a:r>
              <a:rPr lang="en-US" altLang="zh-TW" sz="2800" dirty="0" err="1" smtClean="0">
                <a:latin typeface="MT Extra" pitchFamily="18" charset="2"/>
              </a:rPr>
              <a:t>l</a:t>
            </a:r>
            <a:r>
              <a:rPr lang="en-US" altLang="zh-TW" sz="2800" baseline="-25000" dirty="0" err="1" smtClean="0"/>
              <a:t>i</a:t>
            </a:r>
            <a:r>
              <a:rPr lang="en-US" altLang="zh-TW" sz="2800" i="1" dirty="0" smtClean="0"/>
              <a:t> </a:t>
            </a:r>
          </a:p>
          <a:p>
            <a:pPr>
              <a:buNone/>
            </a:pPr>
            <a:r>
              <a:rPr lang="pl-PL" altLang="zh-TW" sz="2800" dirty="0" smtClean="0"/>
              <a:t>(C3) D(i −1,u)−u = k −j +</a:t>
            </a:r>
            <a:r>
              <a:rPr lang="en-US" altLang="zh-TW" sz="2800" dirty="0" smtClean="0">
                <a:latin typeface="MT Extra" pitchFamily="18" charset="2"/>
              </a:rPr>
              <a:t> </a:t>
            </a:r>
            <a:r>
              <a:rPr lang="en-US" altLang="zh-TW" sz="2800" dirty="0" err="1" smtClean="0">
                <a:latin typeface="MT Extra" pitchFamily="18" charset="2"/>
              </a:rPr>
              <a:t>l</a:t>
            </a:r>
            <a:r>
              <a:rPr lang="en-US" altLang="zh-TW" sz="2800" baseline="-25000" dirty="0" err="1" smtClean="0"/>
              <a:t>i</a:t>
            </a:r>
            <a:r>
              <a:rPr lang="pl-PL" altLang="zh-TW" sz="2800" i="1" dirty="0" smtClean="0"/>
              <a:t> </a:t>
            </a:r>
            <a:endParaRPr lang="en-US" altLang="zh-TW" sz="2800" i="1" dirty="0" smtClean="0"/>
          </a:p>
          <a:p>
            <a:pPr>
              <a:buNone/>
            </a:pPr>
            <a:r>
              <a:rPr lang="en-US" altLang="zh-TW" sz="2800" i="1" dirty="0" smtClean="0"/>
              <a:t>				</a:t>
            </a:r>
            <a:r>
              <a:rPr lang="pl-PL" altLang="zh-TW" sz="2800" i="1" dirty="0" smtClean="0"/>
              <a:t>whenever 0 </a:t>
            </a:r>
            <a:r>
              <a:rPr lang="en-US" altLang="zh-TW" sz="2800" dirty="0" smtClean="0"/>
              <a:t>≤ </a:t>
            </a:r>
            <a:r>
              <a:rPr lang="pl-PL" altLang="zh-TW" sz="2800" i="1" dirty="0" smtClean="0"/>
              <a:t>u </a:t>
            </a:r>
            <a:r>
              <a:rPr lang="en-US" altLang="zh-TW" sz="2800" dirty="0" smtClean="0"/>
              <a:t>≤</a:t>
            </a:r>
            <a:r>
              <a:rPr lang="pl-PL" altLang="zh-TW" sz="2800" i="1" dirty="0" smtClean="0"/>
              <a:t> j</a:t>
            </a:r>
            <a:r>
              <a:rPr lang="en-US" altLang="zh-TW" sz="2800" i="1" dirty="0" smtClean="0"/>
              <a:t> </a:t>
            </a:r>
            <a:r>
              <a:rPr lang="en-US" altLang="zh-TW" sz="2800" dirty="0" smtClean="0"/>
              <a:t>and </a:t>
            </a:r>
            <a:r>
              <a:rPr lang="en-US" altLang="zh-TW" sz="2800" dirty="0" err="1" smtClean="0">
                <a:latin typeface="MT Extra" pitchFamily="18" charset="2"/>
              </a:rPr>
              <a:t>l</a:t>
            </a:r>
            <a:r>
              <a:rPr lang="en-US" altLang="zh-TW" sz="2800" baseline="-25000" dirty="0" err="1" smtClean="0"/>
              <a:t>i</a:t>
            </a:r>
            <a:r>
              <a:rPr lang="en-US" altLang="zh-TW" sz="2800" i="1" dirty="0" smtClean="0"/>
              <a:t> </a:t>
            </a:r>
            <a:r>
              <a:rPr lang="en-US" altLang="zh-TW" sz="2800" dirty="0" smtClean="0"/>
              <a:t>≤ y</a:t>
            </a:r>
            <a:r>
              <a:rPr lang="en-US" altLang="zh-TW" sz="2800" baseline="-25000" dirty="0" smtClean="0"/>
              <a:t>(</a:t>
            </a:r>
            <a:r>
              <a:rPr lang="en-US" altLang="zh-TW" sz="2800" baseline="-25000" dirty="0" err="1" smtClean="0"/>
              <a:t>u,j</a:t>
            </a:r>
            <a:r>
              <a:rPr lang="en-US" altLang="zh-TW" sz="2800" baseline="-25000" dirty="0" smtClean="0"/>
              <a:t>]</a:t>
            </a:r>
            <a:r>
              <a:rPr lang="es-ES" altLang="zh-TW" sz="2800" i="1" dirty="0" smtClean="0"/>
              <a:t>(τ)</a:t>
            </a:r>
            <a:endParaRPr lang="en-US" altLang="zh-TW" sz="2800" dirty="0" smtClean="0"/>
          </a:p>
          <a:p>
            <a:endParaRPr lang="en-US" altLang="zh-TW" sz="2800" dirty="0" smtClean="0"/>
          </a:p>
          <a:p>
            <a:endParaRPr lang="zh-TW" altLang="en-US" sz="2800" dirty="0"/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485804" y="274638"/>
            <a:ext cx="8229600" cy="1143000"/>
          </a:xfrm>
        </p:spPr>
        <p:txBody>
          <a:bodyPr/>
          <a:lstStyle/>
          <a:p>
            <a:r>
              <a:rPr lang="en-US" altLang="zh-TW" b="1" dirty="0" smtClean="0"/>
              <a:t>The </a:t>
            </a:r>
            <a:r>
              <a:rPr lang="en-US" altLang="zh-TW" b="1" dirty="0" smtClean="0"/>
              <a:t>Algorithm(1/4)</a:t>
            </a:r>
            <a:endParaRPr lang="zh-TW" altLang="en-US" b="1" dirty="0"/>
          </a:p>
        </p:txBody>
      </p:sp>
      <p:graphicFrame>
        <p:nvGraphicFramePr>
          <p:cNvPr id="7" name="內容版面配置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4596277"/>
              </p:ext>
            </p:extLst>
          </p:nvPr>
        </p:nvGraphicFramePr>
        <p:xfrm>
          <a:off x="4357686" y="5072074"/>
          <a:ext cx="4417005" cy="1584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540000"/>
                <a:gridCol w="432000"/>
                <a:gridCol w="432000"/>
                <a:gridCol w="432000"/>
                <a:gridCol w="432000"/>
                <a:gridCol w="432000"/>
                <a:gridCol w="421005"/>
                <a:gridCol w="432000"/>
                <a:gridCol w="432000"/>
                <a:gridCol w="432000"/>
              </a:tblGrid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u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A[u]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B[u]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C[u]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891315"/>
              </p:ext>
            </p:extLst>
          </p:nvPr>
        </p:nvGraphicFramePr>
        <p:xfrm>
          <a:off x="214282" y="5072074"/>
          <a:ext cx="3960000" cy="158496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96000"/>
                <a:gridCol w="396000"/>
                <a:gridCol w="396000"/>
                <a:gridCol w="396000"/>
                <a:gridCol w="396000"/>
                <a:gridCol w="396000"/>
                <a:gridCol w="396000"/>
                <a:gridCol w="396000"/>
                <a:gridCol w="396000"/>
                <a:gridCol w="396000"/>
              </a:tblGrid>
              <a:tr h="392909">
                <a:tc>
                  <a:txBody>
                    <a:bodyPr/>
                    <a:lstStyle/>
                    <a:p>
                      <a:pPr algn="ctr"/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b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b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92909">
                <a:tc>
                  <a:txBody>
                    <a:bodyPr/>
                    <a:lstStyle/>
                    <a:p>
                      <a:pPr algn="ctr"/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0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1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2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3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5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6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7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8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92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b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1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1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2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3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5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6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7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92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5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3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2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1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2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2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3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The </a:t>
            </a:r>
            <a:r>
              <a:rPr lang="en-US" altLang="zh-TW" b="1" dirty="0" smtClean="0"/>
              <a:t>Algorithm(2/4)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395796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zh-TW" sz="2800" dirty="0" smtClean="0"/>
              <a:t>EX:D(2,6)         k = D(2,5) = 2</a:t>
            </a:r>
          </a:p>
          <a:p>
            <a:pPr lvl="0"/>
            <a:r>
              <a:rPr lang="en-US" altLang="zh-TW" sz="2800" dirty="0" smtClean="0">
                <a:sym typeface="Wingdings" pitchFamily="2" charset="2"/>
              </a:rPr>
              <a:t>(C1)v</a:t>
            </a:r>
            <a:r>
              <a:rPr lang="en-US" altLang="zh-TW" sz="2800" baseline="-25000" dirty="0" smtClean="0">
                <a:sym typeface="Wingdings" pitchFamily="2" charset="2"/>
              </a:rPr>
              <a:t>1</a:t>
            </a:r>
            <a:r>
              <a:rPr lang="en-US" altLang="zh-TW" sz="2800" dirty="0" smtClean="0">
                <a:sym typeface="Wingdings" pitchFamily="2" charset="2"/>
              </a:rPr>
              <a:t> </a:t>
            </a:r>
            <a:r>
              <a:rPr lang="en-US" altLang="zh-TW" sz="2800" dirty="0">
                <a:sym typeface="Wingdings" pitchFamily="2" charset="2"/>
              </a:rPr>
              <a:t>= </a:t>
            </a:r>
            <a:r>
              <a:rPr lang="en-US" altLang="zh-TW" sz="2800" dirty="0" smtClean="0">
                <a:sym typeface="Wingdings" pitchFamily="2" charset="2"/>
              </a:rPr>
              <a:t>k +</a:t>
            </a:r>
            <a:r>
              <a:rPr lang="en-US" altLang="zh-TW" sz="2800" dirty="0"/>
              <a:t> y</a:t>
            </a:r>
            <a:r>
              <a:rPr lang="en-US" altLang="zh-TW" sz="2800" baseline="-25000" dirty="0"/>
              <a:t>(0,j]</a:t>
            </a:r>
            <a:r>
              <a:rPr lang="es-ES" altLang="zh-TW" sz="2800" i="1" dirty="0"/>
              <a:t>(τ)−</a:t>
            </a:r>
            <a:r>
              <a:rPr lang="en-US" altLang="zh-TW" sz="2800" dirty="0">
                <a:latin typeface="MT Extra" pitchFamily="18" charset="2"/>
              </a:rPr>
              <a:t> l</a:t>
            </a:r>
            <a:r>
              <a:rPr lang="en-US" altLang="zh-TW" sz="2800" baseline="-25000" dirty="0"/>
              <a:t>i</a:t>
            </a:r>
            <a:r>
              <a:rPr lang="es-ES" altLang="zh-TW" sz="2800" i="1" dirty="0"/>
              <a:t> </a:t>
            </a:r>
            <a:r>
              <a:rPr lang="es-ES" altLang="zh-TW" sz="2800" i="1" dirty="0" smtClean="0"/>
              <a:t> = </a:t>
            </a:r>
            <a:r>
              <a:rPr lang="en-US" altLang="zh-TW" sz="2800" dirty="0" smtClean="0">
                <a:sym typeface="Wingdings" pitchFamily="2" charset="2"/>
              </a:rPr>
              <a:t>2 </a:t>
            </a:r>
            <a:r>
              <a:rPr lang="en-US" altLang="zh-TW" sz="2800" dirty="0">
                <a:sym typeface="Wingdings" pitchFamily="2" charset="2"/>
              </a:rPr>
              <a:t>+ 5 – </a:t>
            </a:r>
            <a:r>
              <a:rPr lang="en-US" altLang="zh-TW" sz="2800" dirty="0" smtClean="0">
                <a:sym typeface="Wingdings" pitchFamily="2" charset="2"/>
              </a:rPr>
              <a:t>4 = 3</a:t>
            </a:r>
            <a:r>
              <a:rPr lang="en-US" altLang="zh-TW" sz="2800" baseline="-25000" dirty="0" smtClean="0"/>
              <a:t> </a:t>
            </a:r>
            <a:endParaRPr lang="en-US" altLang="zh-TW" sz="2800" dirty="0">
              <a:sym typeface="Wingdings" pitchFamily="2" charset="2"/>
            </a:endParaRPr>
          </a:p>
          <a:p>
            <a:r>
              <a:rPr lang="en-US" altLang="zh-TW" sz="2800" dirty="0" smtClean="0">
                <a:sym typeface="Wingdings" pitchFamily="2" charset="2"/>
              </a:rPr>
              <a:t>(C2)v</a:t>
            </a:r>
            <a:r>
              <a:rPr lang="en-US" altLang="zh-TW" sz="2800" baseline="-25000" dirty="0" smtClean="0">
                <a:sym typeface="Wingdings" pitchFamily="2" charset="2"/>
              </a:rPr>
              <a:t>2</a:t>
            </a:r>
            <a:r>
              <a:rPr lang="en-US" altLang="zh-TW" sz="2800" dirty="0" smtClean="0">
                <a:sym typeface="Wingdings" pitchFamily="2" charset="2"/>
              </a:rPr>
              <a:t> </a:t>
            </a:r>
            <a:r>
              <a:rPr lang="en-US" altLang="zh-TW" sz="2800" dirty="0">
                <a:sym typeface="Wingdings" pitchFamily="2" charset="2"/>
              </a:rPr>
              <a:t>= </a:t>
            </a:r>
            <a:r>
              <a:rPr lang="en-US" altLang="zh-TW" sz="2800" dirty="0"/>
              <a:t>k + y</a:t>
            </a:r>
            <a:r>
              <a:rPr lang="en-US" altLang="zh-TW" sz="2800" baseline="-25000" dirty="0"/>
              <a:t>(0,j]</a:t>
            </a:r>
            <a:r>
              <a:rPr lang="es-ES" altLang="zh-TW" sz="2800" dirty="0"/>
              <a:t>(τ) </a:t>
            </a:r>
            <a:r>
              <a:rPr lang="el-GR" altLang="zh-TW" sz="2800" dirty="0"/>
              <a:t>− </a:t>
            </a:r>
            <a:r>
              <a:rPr lang="en-US" altLang="zh-TW" sz="2800" dirty="0" smtClean="0"/>
              <a:t>j = </a:t>
            </a:r>
            <a:r>
              <a:rPr lang="en-US" altLang="zh-TW" sz="2800" dirty="0" smtClean="0">
                <a:sym typeface="Wingdings" pitchFamily="2" charset="2"/>
              </a:rPr>
              <a:t>2 </a:t>
            </a:r>
            <a:r>
              <a:rPr lang="en-US" altLang="zh-TW" sz="2800" dirty="0">
                <a:sym typeface="Wingdings" pitchFamily="2" charset="2"/>
              </a:rPr>
              <a:t>+ 5 – 6 </a:t>
            </a:r>
            <a:r>
              <a:rPr lang="en-US" altLang="zh-TW" sz="2800" dirty="0" smtClean="0">
                <a:sym typeface="Wingdings" pitchFamily="2" charset="2"/>
              </a:rPr>
              <a:t> = 1</a:t>
            </a:r>
          </a:p>
          <a:p>
            <a:pPr lvl="0"/>
            <a:r>
              <a:rPr lang="en-US" altLang="zh-TW" sz="2800" dirty="0" smtClean="0">
                <a:sym typeface="Wingdings" pitchFamily="2" charset="2"/>
              </a:rPr>
              <a:t>(C3)v</a:t>
            </a:r>
            <a:r>
              <a:rPr lang="en-US" altLang="zh-TW" sz="2800" baseline="-25000" dirty="0" smtClean="0">
                <a:sym typeface="Wingdings" pitchFamily="2" charset="2"/>
              </a:rPr>
              <a:t>3</a:t>
            </a:r>
            <a:r>
              <a:rPr lang="en-US" altLang="zh-TW" sz="2800" dirty="0" smtClean="0">
                <a:sym typeface="Wingdings" pitchFamily="2" charset="2"/>
              </a:rPr>
              <a:t> </a:t>
            </a:r>
            <a:r>
              <a:rPr lang="en-US" altLang="zh-TW" sz="2800" dirty="0">
                <a:sym typeface="Wingdings" pitchFamily="2" charset="2"/>
              </a:rPr>
              <a:t>= </a:t>
            </a:r>
            <a:r>
              <a:rPr lang="pl-PL" altLang="zh-TW" sz="2800" i="1" dirty="0"/>
              <a:t>k −j +</a:t>
            </a:r>
            <a:r>
              <a:rPr lang="en-US" altLang="zh-TW" sz="2800" dirty="0">
                <a:latin typeface="MT Extra" pitchFamily="18" charset="2"/>
              </a:rPr>
              <a:t> l</a:t>
            </a:r>
            <a:r>
              <a:rPr lang="en-US" altLang="zh-TW" sz="2800" baseline="-25000" dirty="0"/>
              <a:t>i</a:t>
            </a:r>
            <a:r>
              <a:rPr lang="pl-PL" altLang="zh-TW" sz="2800" i="1" dirty="0"/>
              <a:t> </a:t>
            </a:r>
            <a:r>
              <a:rPr lang="en-US" altLang="zh-TW" sz="2800" i="1" dirty="0" smtClean="0"/>
              <a:t> = </a:t>
            </a:r>
            <a:r>
              <a:rPr lang="en-US" altLang="zh-TW" sz="2800" dirty="0" smtClean="0">
                <a:sym typeface="Wingdings" pitchFamily="2" charset="2"/>
              </a:rPr>
              <a:t>2 </a:t>
            </a:r>
            <a:r>
              <a:rPr lang="en-US" altLang="zh-TW" sz="2800" dirty="0">
                <a:sym typeface="Wingdings" pitchFamily="2" charset="2"/>
              </a:rPr>
              <a:t>– 6 + 4 = </a:t>
            </a:r>
            <a:r>
              <a:rPr lang="en-US" altLang="zh-TW" sz="2800" dirty="0" smtClean="0">
                <a:sym typeface="Wingdings" pitchFamily="2" charset="2"/>
              </a:rPr>
              <a:t>0</a:t>
            </a:r>
            <a:endParaRPr lang="en-US" altLang="zh-TW" sz="2800" dirty="0" smtClean="0"/>
          </a:p>
          <a:p>
            <a:endParaRPr lang="en-US" altLang="zh-TW" sz="2800" dirty="0" smtClean="0"/>
          </a:p>
          <a:p>
            <a:endParaRPr lang="en-US" altLang="zh-TW" sz="2800" dirty="0" smtClean="0"/>
          </a:p>
          <a:p>
            <a:endParaRPr lang="zh-TW" altLang="en-US" sz="28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361109"/>
              </p:ext>
            </p:extLst>
          </p:nvPr>
        </p:nvGraphicFramePr>
        <p:xfrm>
          <a:off x="179512" y="5085184"/>
          <a:ext cx="3960000" cy="158496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96000"/>
                <a:gridCol w="396000"/>
                <a:gridCol w="396000"/>
                <a:gridCol w="396000"/>
                <a:gridCol w="396000"/>
                <a:gridCol w="396000"/>
                <a:gridCol w="396000"/>
                <a:gridCol w="396000"/>
                <a:gridCol w="396000"/>
                <a:gridCol w="396000"/>
              </a:tblGrid>
              <a:tr h="392909">
                <a:tc>
                  <a:txBody>
                    <a:bodyPr/>
                    <a:lstStyle/>
                    <a:p>
                      <a:pPr algn="ctr"/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b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b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92909">
                <a:tc>
                  <a:txBody>
                    <a:bodyPr/>
                    <a:lstStyle/>
                    <a:p>
                      <a:pPr algn="ctr"/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0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1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2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3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5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6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7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8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92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b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1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1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2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3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5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6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7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92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5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3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2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1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2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20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內容版面配置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2418452"/>
              </p:ext>
            </p:extLst>
          </p:nvPr>
        </p:nvGraphicFramePr>
        <p:xfrm>
          <a:off x="4258800" y="5085184"/>
          <a:ext cx="4428000" cy="1584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540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</a:tblGrid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A[t]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B[t]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C[t]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657894"/>
              </p:ext>
            </p:extLst>
          </p:nvPr>
        </p:nvGraphicFramePr>
        <p:xfrm>
          <a:off x="7534800" y="476672"/>
          <a:ext cx="1152000" cy="37084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360000"/>
                <a:gridCol w="792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y</a:t>
                      </a:r>
                      <a:r>
                        <a:rPr lang="en-US" altLang="zh-TW" baseline="-25000" dirty="0" smtClean="0"/>
                        <a:t>(0,t]</a:t>
                      </a:r>
                      <a:r>
                        <a:rPr lang="en-US" altLang="zh-TW" dirty="0" smtClean="0"/>
                        <a:t>(a)</a:t>
                      </a:r>
                      <a:endParaRPr lang="zh-TW" altLang="en-US" dirty="0" smtClean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011753"/>
              </p:ext>
            </p:extLst>
          </p:nvPr>
        </p:nvGraphicFramePr>
        <p:xfrm>
          <a:off x="107504" y="4293096"/>
          <a:ext cx="87868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255263"/>
                <a:gridCol w="1255263"/>
                <a:gridCol w="1255263"/>
                <a:gridCol w="1255263"/>
                <a:gridCol w="1255263"/>
                <a:gridCol w="1255263"/>
                <a:gridCol w="125526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/>
                        <a:t>ƐD(X</a:t>
                      </a:r>
                      <a:r>
                        <a:rPr lang="en-US" altLang="zh-TW" sz="1800" b="0" baseline="-25000" dirty="0" smtClean="0"/>
                        <a:t>2</a:t>
                      </a:r>
                      <a:r>
                        <a:rPr lang="en-US" altLang="zh-TW" sz="1800" b="0" dirty="0" smtClean="0"/>
                        <a:t>,y</a:t>
                      </a:r>
                      <a:r>
                        <a:rPr lang="en-US" altLang="zh-TW" sz="1800" b="0" baseline="-25000" dirty="0" smtClean="0"/>
                        <a:t>(0,6]</a:t>
                      </a:r>
                      <a:r>
                        <a:rPr lang="en-US" altLang="zh-TW" sz="1800" b="0" dirty="0" smtClean="0"/>
                        <a:t>)</a:t>
                      </a:r>
                      <a:endParaRPr lang="zh-TW" altLang="en-US" b="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dirty="0" smtClean="0"/>
                        <a:t>ƐD(X</a:t>
                      </a:r>
                      <a:r>
                        <a:rPr lang="en-US" altLang="zh-TW" sz="1800" b="0" baseline="-25000" dirty="0" smtClean="0"/>
                        <a:t>2</a:t>
                      </a:r>
                      <a:r>
                        <a:rPr lang="en-US" altLang="zh-TW" sz="1800" b="0" dirty="0" smtClean="0"/>
                        <a:t>,y</a:t>
                      </a:r>
                      <a:r>
                        <a:rPr lang="en-US" altLang="zh-TW" sz="1800" b="0" baseline="-25000" dirty="0" smtClean="0"/>
                        <a:t>(1,6]</a:t>
                      </a:r>
                      <a:r>
                        <a:rPr lang="en-US" altLang="zh-TW" sz="1800" b="0" dirty="0" smtClean="0"/>
                        <a:t>)</a:t>
                      </a:r>
                      <a:endParaRPr lang="zh-TW" altLang="en-US" b="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dirty="0" smtClean="0"/>
                        <a:t>ƐD(X</a:t>
                      </a:r>
                      <a:r>
                        <a:rPr lang="en-US" altLang="zh-TW" sz="1800" b="0" baseline="-25000" dirty="0" smtClean="0"/>
                        <a:t>2</a:t>
                      </a:r>
                      <a:r>
                        <a:rPr lang="en-US" altLang="zh-TW" sz="1800" b="0" dirty="0" smtClean="0"/>
                        <a:t>,y</a:t>
                      </a:r>
                      <a:r>
                        <a:rPr lang="en-US" altLang="zh-TW" sz="1800" b="0" baseline="-25000" dirty="0" smtClean="0"/>
                        <a:t>(2,6]</a:t>
                      </a:r>
                      <a:r>
                        <a:rPr lang="en-US" altLang="zh-TW" sz="1800" b="0" dirty="0" smtClean="0"/>
                        <a:t>)</a:t>
                      </a:r>
                      <a:endParaRPr lang="zh-TW" altLang="en-US" b="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dirty="0" smtClean="0"/>
                        <a:t>ƐD(X</a:t>
                      </a:r>
                      <a:r>
                        <a:rPr lang="en-US" altLang="zh-TW" sz="1800" b="0" baseline="-25000" dirty="0" smtClean="0"/>
                        <a:t>2</a:t>
                      </a:r>
                      <a:r>
                        <a:rPr lang="en-US" altLang="zh-TW" sz="1800" b="0" dirty="0" smtClean="0"/>
                        <a:t>,y</a:t>
                      </a:r>
                      <a:r>
                        <a:rPr lang="en-US" altLang="zh-TW" sz="1800" b="0" baseline="-25000" dirty="0" smtClean="0"/>
                        <a:t>(3,6]</a:t>
                      </a:r>
                      <a:r>
                        <a:rPr lang="en-US" altLang="zh-TW" sz="1800" b="0" dirty="0" smtClean="0"/>
                        <a:t>)</a:t>
                      </a:r>
                      <a:endParaRPr lang="zh-TW" altLang="en-US" b="0" dirty="0" smtClean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dirty="0" smtClean="0"/>
                        <a:t>ƐD(X</a:t>
                      </a:r>
                      <a:r>
                        <a:rPr lang="en-US" altLang="zh-TW" sz="1800" b="0" baseline="-25000" dirty="0" smtClean="0"/>
                        <a:t>2</a:t>
                      </a:r>
                      <a:r>
                        <a:rPr lang="en-US" altLang="zh-TW" sz="1800" b="0" dirty="0" smtClean="0"/>
                        <a:t>,y</a:t>
                      </a:r>
                      <a:r>
                        <a:rPr lang="en-US" altLang="zh-TW" sz="1800" b="0" baseline="-25000" dirty="0" smtClean="0"/>
                        <a:t>(4,6]</a:t>
                      </a:r>
                      <a:r>
                        <a:rPr lang="en-US" altLang="zh-TW" sz="1800" b="0" dirty="0" smtClean="0"/>
                        <a:t>)</a:t>
                      </a:r>
                      <a:endParaRPr lang="zh-TW" altLang="en-US" b="0" dirty="0" smtClean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dirty="0" smtClean="0"/>
                        <a:t>ƐD(X</a:t>
                      </a:r>
                      <a:r>
                        <a:rPr lang="en-US" altLang="zh-TW" sz="1800" b="0" baseline="-25000" dirty="0" smtClean="0"/>
                        <a:t>2</a:t>
                      </a:r>
                      <a:r>
                        <a:rPr lang="en-US" altLang="zh-TW" sz="1800" b="0" dirty="0" smtClean="0"/>
                        <a:t>,y</a:t>
                      </a:r>
                      <a:r>
                        <a:rPr lang="en-US" altLang="zh-TW" sz="1800" b="0" baseline="-25000" dirty="0" smtClean="0"/>
                        <a:t>(5,6]</a:t>
                      </a:r>
                      <a:r>
                        <a:rPr lang="en-US" altLang="zh-TW" sz="1800" b="0" dirty="0" smtClean="0"/>
                        <a:t>)</a:t>
                      </a:r>
                      <a:endParaRPr lang="zh-TW" altLang="en-US" b="0" dirty="0" smtClean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dirty="0" smtClean="0"/>
                        <a:t>ƐD(X</a:t>
                      </a:r>
                      <a:r>
                        <a:rPr lang="en-US" altLang="zh-TW" sz="1800" b="0" baseline="-25000" dirty="0" smtClean="0"/>
                        <a:t>2</a:t>
                      </a:r>
                      <a:r>
                        <a:rPr lang="en-US" altLang="zh-TW" sz="1800" b="0" dirty="0" smtClean="0"/>
                        <a:t>,y</a:t>
                      </a:r>
                      <a:r>
                        <a:rPr lang="en-US" altLang="zh-TW" sz="1800" b="0" baseline="-25000" dirty="0" smtClean="0"/>
                        <a:t>6,6]</a:t>
                      </a:r>
                      <a:r>
                        <a:rPr lang="en-US" altLang="zh-TW" sz="1800" b="0" dirty="0" smtClean="0"/>
                        <a:t>)</a:t>
                      </a:r>
                      <a:endParaRPr lang="zh-TW" altLang="en-US" b="0" dirty="0" smtClean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2</a:t>
                      </a:r>
                      <a:endParaRPr lang="zh-TW" altLang="en-US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</a:t>
                      </a:r>
                      <a:endParaRPr lang="zh-TW" altLang="en-US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</a:t>
                      </a:r>
                      <a:endParaRPr lang="zh-TW" altLang="en-US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2</a:t>
                      </a:r>
                      <a:endParaRPr lang="zh-TW" altLang="en-US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3</a:t>
                      </a:r>
                      <a:endParaRPr lang="zh-TW" altLang="en-US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3</a:t>
                      </a:r>
                      <a:endParaRPr lang="zh-TW" altLang="en-US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4</a:t>
                      </a:r>
                      <a:endParaRPr lang="zh-TW" altLang="en-US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0901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The </a:t>
            </a:r>
            <a:r>
              <a:rPr lang="en-US" altLang="zh-TW" b="1" dirty="0" smtClean="0"/>
              <a:t>Algorithm(3/4)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28596" y="1403367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zh-TW" sz="2800" dirty="0" smtClean="0"/>
              <a:t>k ∈ </a:t>
            </a:r>
            <a:r>
              <a:rPr lang="en-US" altLang="zh-TW" sz="2800" dirty="0" smtClean="0"/>
              <a:t>{ D(</a:t>
            </a:r>
            <a:r>
              <a:rPr lang="en-US" altLang="zh-TW" sz="2800" dirty="0" err="1" smtClean="0"/>
              <a:t>i</a:t>
            </a:r>
            <a:r>
              <a:rPr lang="en-US" altLang="zh-TW" sz="2800" dirty="0" smtClean="0"/>
              <a:t>, j −1)−1</a:t>
            </a:r>
            <a:r>
              <a:rPr lang="en-US" altLang="zh-TW" sz="2800" dirty="0" smtClean="0"/>
              <a:t>, D(</a:t>
            </a:r>
            <a:r>
              <a:rPr lang="en-US" altLang="zh-TW" sz="2800" dirty="0" err="1" smtClean="0"/>
              <a:t>i</a:t>
            </a:r>
            <a:r>
              <a:rPr lang="en-US" altLang="zh-TW" sz="2800" dirty="0" smtClean="0"/>
              <a:t>, j −1</a:t>
            </a:r>
            <a:r>
              <a:rPr lang="en-US" altLang="zh-TW" sz="2800" dirty="0" smtClean="0"/>
              <a:t>), D(</a:t>
            </a:r>
            <a:r>
              <a:rPr lang="en-US" altLang="zh-TW" sz="2800" dirty="0" err="1" smtClean="0"/>
              <a:t>i</a:t>
            </a:r>
            <a:r>
              <a:rPr lang="en-US" altLang="zh-TW" sz="2800" dirty="0" smtClean="0"/>
              <a:t>, j −1)+</a:t>
            </a:r>
            <a:r>
              <a:rPr lang="en-US" altLang="zh-TW" sz="2800" dirty="0" smtClean="0"/>
              <a:t>1 }</a:t>
            </a:r>
            <a:endParaRPr lang="en-US" altLang="zh-TW" sz="2800" dirty="0" smtClean="0"/>
          </a:p>
          <a:p>
            <a:r>
              <a:rPr lang="en-US" altLang="zh-TW" sz="2800" dirty="0" smtClean="0"/>
              <a:t>(a) v</a:t>
            </a:r>
            <a:r>
              <a:rPr lang="en-US" altLang="zh-TW" sz="2800" baseline="-25000" dirty="0" smtClean="0"/>
              <a:t>1</a:t>
            </a:r>
            <a:r>
              <a:rPr lang="en-US" altLang="zh-TW" sz="2800" dirty="0" smtClean="0"/>
              <a:t> = k +y</a:t>
            </a:r>
            <a:r>
              <a:rPr lang="en-US" altLang="zh-TW" sz="2800" baseline="-25000" dirty="0" smtClean="0"/>
              <a:t>(0,j ]</a:t>
            </a:r>
            <a:r>
              <a:rPr lang="en-US" altLang="zh-TW" sz="2800" dirty="0" smtClean="0"/>
              <a:t>(</a:t>
            </a:r>
            <a:r>
              <a:rPr lang="el-GR" altLang="zh-TW" sz="2800" dirty="0" smtClean="0"/>
              <a:t>τ)−</a:t>
            </a:r>
            <a:r>
              <a:rPr lang="en-US" altLang="zh-TW" sz="2800" dirty="0" err="1" smtClean="0">
                <a:latin typeface="MT Extra" pitchFamily="18" charset="2"/>
              </a:rPr>
              <a:t>l</a:t>
            </a:r>
            <a:r>
              <a:rPr lang="en-US" altLang="zh-TW" sz="2800" baseline="-25000" dirty="0" err="1" smtClean="0"/>
              <a:t>i</a:t>
            </a:r>
            <a:r>
              <a:rPr lang="en-US" altLang="zh-TW" sz="2800" dirty="0" smtClean="0"/>
              <a:t> </a:t>
            </a:r>
          </a:p>
          <a:p>
            <a:pPr>
              <a:buNone/>
            </a:pPr>
            <a:r>
              <a:rPr lang="en-US" altLang="zh-TW" sz="2800" dirty="0" smtClean="0"/>
              <a:t>		−n ≤ v</a:t>
            </a:r>
            <a:r>
              <a:rPr lang="en-US" altLang="zh-TW" sz="2800" baseline="-25000" dirty="0" smtClean="0"/>
              <a:t>1</a:t>
            </a:r>
            <a:r>
              <a:rPr lang="en-US" altLang="zh-TW" sz="2800" dirty="0" smtClean="0"/>
              <a:t> − A[0] </a:t>
            </a:r>
            <a:r>
              <a:rPr lang="en-US" altLang="zh-TW" sz="2800" i="1" dirty="0" smtClean="0"/>
              <a:t>≤</a:t>
            </a:r>
            <a:r>
              <a:rPr lang="en-US" altLang="zh-TW" sz="2800" dirty="0" smtClean="0"/>
              <a:t> 2n and max{j − </a:t>
            </a:r>
            <a:r>
              <a:rPr lang="en-US" altLang="zh-TW" sz="2800" dirty="0" err="1" smtClean="0"/>
              <a:t>i</a:t>
            </a:r>
            <a:r>
              <a:rPr lang="en-US" altLang="zh-TW" sz="2800" dirty="0" smtClean="0"/>
              <a:t> , 0}</a:t>
            </a:r>
            <a:r>
              <a:rPr lang="en-US" altLang="zh-TW" sz="2800" i="1" dirty="0" smtClean="0"/>
              <a:t> ≤</a:t>
            </a:r>
            <a:r>
              <a:rPr lang="en-US" altLang="zh-TW" sz="2800" dirty="0" smtClean="0"/>
              <a:t> A</a:t>
            </a:r>
            <a:r>
              <a:rPr lang="en-US" altLang="zh-TW" sz="2800" baseline="30000" dirty="0" smtClean="0"/>
              <a:t>−</a:t>
            </a:r>
            <a:r>
              <a:rPr lang="en-US" altLang="zh-TW" sz="2800" dirty="0" smtClean="0"/>
              <a:t>[v</a:t>
            </a:r>
            <a:r>
              <a:rPr lang="en-US" altLang="zh-TW" sz="2800" baseline="-25000" dirty="0" smtClean="0"/>
              <a:t>1</a:t>
            </a:r>
            <a:r>
              <a:rPr lang="en-US" altLang="zh-TW" sz="2800" dirty="0" smtClean="0"/>
              <a:t>]</a:t>
            </a:r>
          </a:p>
          <a:p>
            <a:r>
              <a:rPr lang="pt-BR" altLang="zh-TW" sz="2800" dirty="0" smtClean="0"/>
              <a:t>(b)</a:t>
            </a:r>
            <a:r>
              <a:rPr lang="en-US" altLang="zh-TW" sz="2800" dirty="0" smtClean="0"/>
              <a:t> </a:t>
            </a:r>
            <a:r>
              <a:rPr lang="pt-BR" altLang="zh-TW" sz="2800" dirty="0" smtClean="0"/>
              <a:t>v</a:t>
            </a:r>
            <a:r>
              <a:rPr lang="pt-BR" altLang="zh-TW" sz="2800" baseline="-25000" dirty="0" smtClean="0"/>
              <a:t>2</a:t>
            </a:r>
            <a:r>
              <a:rPr lang="en-US" altLang="zh-TW" sz="2800" dirty="0" smtClean="0"/>
              <a:t> = k + y</a:t>
            </a:r>
            <a:r>
              <a:rPr lang="en-US" altLang="zh-TW" sz="2800" baseline="-25000" dirty="0" smtClean="0"/>
              <a:t>(0,j ]</a:t>
            </a:r>
            <a:r>
              <a:rPr lang="en-US" altLang="zh-TW" sz="2800" dirty="0" smtClean="0"/>
              <a:t>(</a:t>
            </a:r>
            <a:r>
              <a:rPr lang="el-GR" altLang="zh-TW" sz="2800" dirty="0" smtClean="0"/>
              <a:t>τ) −</a:t>
            </a:r>
            <a:r>
              <a:rPr lang="en-US" altLang="zh-TW" sz="2800" dirty="0" smtClean="0"/>
              <a:t>j</a:t>
            </a:r>
            <a:endParaRPr lang="pt-BR" altLang="zh-TW" sz="2800" dirty="0" smtClean="0"/>
          </a:p>
          <a:p>
            <a:pPr>
              <a:buNone/>
            </a:pPr>
            <a:r>
              <a:rPr lang="pt-BR" altLang="zh-TW" sz="2800" dirty="0" smtClean="0"/>
              <a:t>		−2n </a:t>
            </a:r>
            <a:r>
              <a:rPr lang="en-US" altLang="zh-TW" sz="2800" i="1" dirty="0" smtClean="0"/>
              <a:t>≤</a:t>
            </a:r>
            <a:r>
              <a:rPr lang="pt-BR" altLang="zh-TW" sz="2800" dirty="0" smtClean="0"/>
              <a:t> v</a:t>
            </a:r>
            <a:r>
              <a:rPr lang="pt-BR" altLang="zh-TW" sz="2800" baseline="-25000" dirty="0" smtClean="0"/>
              <a:t>2</a:t>
            </a:r>
            <a:r>
              <a:rPr lang="pt-BR" altLang="zh-TW" sz="2800" dirty="0" smtClean="0"/>
              <a:t>−B[0] </a:t>
            </a:r>
            <a:r>
              <a:rPr lang="en-US" altLang="zh-TW" sz="2800" i="1" dirty="0" smtClean="0"/>
              <a:t>≤</a:t>
            </a:r>
            <a:r>
              <a:rPr lang="pt-BR" altLang="zh-TW" sz="2800" dirty="0" smtClean="0"/>
              <a:t> n, 0 </a:t>
            </a:r>
            <a:r>
              <a:rPr lang="en-US" altLang="zh-TW" sz="2800" i="1" dirty="0" smtClean="0"/>
              <a:t>≤</a:t>
            </a:r>
            <a:r>
              <a:rPr lang="pt-BR" altLang="zh-TW" sz="2800" dirty="0" smtClean="0"/>
              <a:t> B</a:t>
            </a:r>
            <a:r>
              <a:rPr lang="en-US" altLang="zh-TW" sz="2800" baseline="30000" dirty="0" smtClean="0"/>
              <a:t>−</a:t>
            </a:r>
            <a:r>
              <a:rPr lang="en-US" altLang="zh-TW" sz="2800" dirty="0" smtClean="0"/>
              <a:t>[v</a:t>
            </a:r>
            <a:r>
              <a:rPr lang="en-US" altLang="zh-TW" sz="2800" baseline="-25000" dirty="0" smtClean="0"/>
              <a:t>2</a:t>
            </a:r>
            <a:r>
              <a:rPr lang="en-US" altLang="zh-TW" sz="2800" dirty="0" smtClean="0"/>
              <a:t>] and y</a:t>
            </a:r>
            <a:r>
              <a:rPr lang="en-US" altLang="zh-TW" sz="2800" baseline="-25000" dirty="0" smtClean="0"/>
              <a:t>(</a:t>
            </a:r>
            <a:r>
              <a:rPr lang="en-US" altLang="zh-TW" sz="2800" baseline="-25000" dirty="0" err="1" smtClean="0"/>
              <a:t>u’,j</a:t>
            </a:r>
            <a:r>
              <a:rPr lang="en-US" altLang="zh-TW" sz="2800" baseline="-25000" dirty="0" smtClean="0"/>
              <a:t> ]</a:t>
            </a:r>
            <a:r>
              <a:rPr lang="en-US" altLang="zh-TW" sz="2800" dirty="0" smtClean="0"/>
              <a:t>(</a:t>
            </a:r>
            <a:r>
              <a:rPr lang="el-GR" altLang="zh-TW" sz="2800" dirty="0" smtClean="0"/>
              <a:t>τ )</a:t>
            </a:r>
            <a:r>
              <a:rPr lang="en-US" altLang="zh-TW" sz="2800" i="1" dirty="0" smtClean="0"/>
              <a:t> </a:t>
            </a:r>
            <a:r>
              <a:rPr lang="en-US" altLang="zh-TW" sz="2800" dirty="0" smtClean="0"/>
              <a:t>≤ </a:t>
            </a:r>
            <a:r>
              <a:rPr lang="en-US" altLang="zh-TW" sz="2800" dirty="0" err="1" smtClean="0">
                <a:latin typeface="MT Extra" pitchFamily="18" charset="2"/>
              </a:rPr>
              <a:t>l</a:t>
            </a:r>
            <a:r>
              <a:rPr lang="en-US" altLang="zh-TW" sz="2800" baseline="-25000" dirty="0" err="1" smtClean="0"/>
              <a:t>i</a:t>
            </a:r>
            <a:endParaRPr lang="en-US" altLang="zh-TW" sz="2800" dirty="0" smtClean="0"/>
          </a:p>
          <a:p>
            <a:r>
              <a:rPr lang="pt-BR" altLang="zh-TW" sz="2800" dirty="0" smtClean="0"/>
              <a:t>(c)</a:t>
            </a:r>
            <a:r>
              <a:rPr lang="en-US" altLang="zh-TW" sz="2800" dirty="0" smtClean="0"/>
              <a:t> </a:t>
            </a:r>
            <a:r>
              <a:rPr lang="pt-BR" altLang="zh-TW" sz="2800" dirty="0" smtClean="0"/>
              <a:t>v</a:t>
            </a:r>
            <a:r>
              <a:rPr lang="pt-BR" altLang="zh-TW" sz="2800" baseline="-25000" dirty="0" smtClean="0"/>
              <a:t>3</a:t>
            </a:r>
            <a:r>
              <a:rPr lang="en-US" altLang="zh-TW" sz="2800" dirty="0" smtClean="0"/>
              <a:t> = k −j +</a:t>
            </a:r>
            <a:r>
              <a:rPr lang="en-US" altLang="zh-TW" sz="2800" dirty="0" err="1" smtClean="0">
                <a:latin typeface="MT Extra" pitchFamily="18" charset="2"/>
              </a:rPr>
              <a:t>l</a:t>
            </a:r>
            <a:r>
              <a:rPr lang="en-US" altLang="zh-TW" sz="2800" baseline="-25000" dirty="0" err="1" smtClean="0"/>
              <a:t>i</a:t>
            </a:r>
            <a:r>
              <a:rPr lang="en-US" altLang="zh-TW" sz="2800" dirty="0" smtClean="0"/>
              <a:t> </a:t>
            </a:r>
            <a:endParaRPr lang="pt-BR" altLang="zh-TW" sz="2800" dirty="0" smtClean="0"/>
          </a:p>
          <a:p>
            <a:pPr>
              <a:buNone/>
            </a:pPr>
            <a:r>
              <a:rPr lang="pt-BR" altLang="zh-TW" sz="2800" dirty="0" smtClean="0"/>
              <a:t>		−2n </a:t>
            </a:r>
            <a:r>
              <a:rPr lang="en-US" altLang="zh-TW" sz="2800" i="1" dirty="0" smtClean="0"/>
              <a:t>≤</a:t>
            </a:r>
            <a:r>
              <a:rPr lang="pt-BR" altLang="zh-TW" sz="2800" dirty="0" smtClean="0"/>
              <a:t> v</a:t>
            </a:r>
            <a:r>
              <a:rPr lang="pt-BR" altLang="zh-TW" sz="2800" baseline="-25000" dirty="0" smtClean="0"/>
              <a:t>3</a:t>
            </a:r>
            <a:r>
              <a:rPr lang="pt-BR" altLang="zh-TW" sz="2800" dirty="0" smtClean="0"/>
              <a:t> − C[0] </a:t>
            </a:r>
            <a:r>
              <a:rPr lang="en-US" altLang="zh-TW" sz="2800" i="1" dirty="0" smtClean="0"/>
              <a:t>≤</a:t>
            </a:r>
            <a:r>
              <a:rPr lang="pt-BR" altLang="zh-TW" sz="2800" dirty="0" smtClean="0"/>
              <a:t> 0, 0 </a:t>
            </a:r>
            <a:r>
              <a:rPr lang="en-US" altLang="zh-TW" sz="2800" i="1" dirty="0" smtClean="0"/>
              <a:t>≤</a:t>
            </a:r>
            <a:r>
              <a:rPr lang="pt-BR" altLang="zh-TW" sz="2800" dirty="0" smtClean="0"/>
              <a:t> C</a:t>
            </a:r>
            <a:r>
              <a:rPr lang="en-US" altLang="zh-TW" sz="2800" baseline="30000" dirty="0" smtClean="0"/>
              <a:t>−</a:t>
            </a:r>
            <a:r>
              <a:rPr lang="en-US" altLang="zh-TW" sz="2800" dirty="0" smtClean="0"/>
              <a:t>[v</a:t>
            </a:r>
            <a:r>
              <a:rPr lang="en-US" altLang="zh-TW" sz="2800" baseline="-25000" dirty="0" smtClean="0"/>
              <a:t>3</a:t>
            </a:r>
            <a:r>
              <a:rPr lang="en-US" altLang="zh-TW" sz="2800" dirty="0" smtClean="0"/>
              <a:t>] and </a:t>
            </a:r>
            <a:r>
              <a:rPr lang="en-US" altLang="zh-TW" sz="2800" dirty="0" err="1" smtClean="0">
                <a:latin typeface="MT Extra" pitchFamily="18" charset="2"/>
              </a:rPr>
              <a:t>l</a:t>
            </a:r>
            <a:r>
              <a:rPr lang="en-US" altLang="zh-TW" sz="2800" baseline="-25000" dirty="0" err="1" smtClean="0"/>
              <a:t>i</a:t>
            </a:r>
            <a:r>
              <a:rPr lang="en-US" altLang="zh-TW" sz="2800" dirty="0" smtClean="0"/>
              <a:t> ≤</a:t>
            </a:r>
            <a:r>
              <a:rPr lang="en-US" altLang="zh-TW" sz="2800" i="1" dirty="0" smtClean="0"/>
              <a:t> </a:t>
            </a:r>
            <a:r>
              <a:rPr lang="en-US" altLang="zh-TW" sz="2800" dirty="0" smtClean="0"/>
              <a:t>y</a:t>
            </a:r>
            <a:r>
              <a:rPr lang="en-US" altLang="zh-TW" sz="2800" baseline="-25000" dirty="0" smtClean="0"/>
              <a:t>(</a:t>
            </a:r>
            <a:r>
              <a:rPr lang="en-US" altLang="zh-TW" sz="2800" baseline="-25000" dirty="0" err="1" smtClean="0"/>
              <a:t>u’,j</a:t>
            </a:r>
            <a:r>
              <a:rPr lang="en-US" altLang="zh-TW" sz="2800" baseline="-25000" dirty="0" smtClean="0"/>
              <a:t> ]</a:t>
            </a:r>
            <a:r>
              <a:rPr lang="en-US" altLang="zh-TW" sz="2800" dirty="0" smtClean="0"/>
              <a:t>(</a:t>
            </a:r>
            <a:r>
              <a:rPr lang="el-GR" altLang="zh-TW" sz="2800" dirty="0" smtClean="0"/>
              <a:t>τ )</a:t>
            </a:r>
            <a:endParaRPr lang="en-US" altLang="zh-TW" sz="2800" dirty="0" smtClean="0"/>
          </a:p>
        </p:txBody>
      </p:sp>
      <p:pic>
        <p:nvPicPr>
          <p:cNvPr id="4" name="圖片 3" descr="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1" y="5072074"/>
            <a:ext cx="9088119" cy="17859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The </a:t>
            </a:r>
            <a:r>
              <a:rPr lang="en-US" altLang="zh-TW" b="1" dirty="0" smtClean="0"/>
              <a:t>Algorithm(4/4)</a:t>
            </a:r>
            <a:endParaRPr lang="zh-TW" altLang="en-US" b="1" dirty="0"/>
          </a:p>
        </p:txBody>
      </p:sp>
      <p:pic>
        <p:nvPicPr>
          <p:cNvPr id="4" name="內容版面配置區 3" descr="1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844" y="1142984"/>
            <a:ext cx="4429156" cy="571501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圖片 4" descr="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5904" y="1214422"/>
            <a:ext cx="4438096" cy="564357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TW" dirty="0" smtClean="0"/>
              <a:t>X = </a:t>
            </a:r>
            <a:r>
              <a:rPr lang="en-US" altLang="zh-TW" dirty="0" err="1" smtClean="0"/>
              <a:t>baaaa</a:t>
            </a:r>
            <a:r>
              <a:rPr lang="en-US" altLang="zh-TW" dirty="0" smtClean="0"/>
              <a:t> : X1 = b ,</a:t>
            </a:r>
            <a:r>
              <a:rPr lang="en-US" altLang="zh-TW" dirty="0" smtClean="0">
                <a:latin typeface="MT Extra" pitchFamily="18" charset="2"/>
              </a:rPr>
              <a:t>l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= 1 ; X2 = a ,</a:t>
            </a:r>
            <a:r>
              <a:rPr lang="en-US" altLang="zh-TW" dirty="0" smtClean="0">
                <a:latin typeface="MT Extra" pitchFamily="18" charset="2"/>
              </a:rPr>
              <a:t> l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 = 4</a:t>
            </a:r>
          </a:p>
          <a:p>
            <a:pPr>
              <a:buNone/>
            </a:pPr>
            <a:r>
              <a:rPr lang="en-US" altLang="zh-TW" dirty="0" smtClean="0"/>
              <a:t>Y = </a:t>
            </a:r>
            <a:r>
              <a:rPr lang="en-US" altLang="zh-TW" dirty="0" err="1" smtClean="0"/>
              <a:t>aaaababa</a:t>
            </a:r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70336"/>
              </p:ext>
            </p:extLst>
          </p:nvPr>
        </p:nvGraphicFramePr>
        <p:xfrm>
          <a:off x="571472" y="2857496"/>
          <a:ext cx="6096000" cy="20726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/>
                        <a:t>a</a:t>
                      </a:r>
                      <a:endParaRPr lang="zh-TW" altLang="en-US" sz="28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/>
                        <a:t>a</a:t>
                      </a:r>
                      <a:endParaRPr lang="zh-TW" altLang="en-US" sz="28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/>
                        <a:t>a</a:t>
                      </a:r>
                      <a:endParaRPr lang="zh-TW" altLang="en-US" sz="28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/>
                        <a:t>a</a:t>
                      </a:r>
                      <a:endParaRPr lang="zh-TW" altLang="en-US" sz="28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/>
                        <a:t>b</a:t>
                      </a:r>
                      <a:endParaRPr lang="zh-TW" altLang="en-US" sz="28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/>
                        <a:t>a</a:t>
                      </a:r>
                      <a:endParaRPr lang="zh-TW" altLang="en-US" sz="28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/>
                        <a:t>b</a:t>
                      </a:r>
                      <a:endParaRPr lang="zh-TW" altLang="en-US" sz="28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/>
                        <a:t>a</a:t>
                      </a:r>
                      <a:endParaRPr lang="zh-TW" altLang="en-US" sz="28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8</a:t>
                      </a:r>
                      <a:endParaRPr lang="zh-TW" altLang="en-US" sz="2800" b="0" dirty="0"/>
                    </a:p>
                  </a:txBody>
                  <a:tcPr>
                    <a:solidFill>
                      <a:srgbClr val="FFFF99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/>
                        <a:t>b</a:t>
                      </a:r>
                      <a:endParaRPr lang="zh-TW" altLang="en-US" sz="28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/>
                        <a:t>a</a:t>
                      </a:r>
                      <a:endParaRPr lang="zh-TW" altLang="en-US" sz="28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14282" y="5286388"/>
          <a:ext cx="8786880" cy="111252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878688"/>
                <a:gridCol w="878688"/>
                <a:gridCol w="878688"/>
                <a:gridCol w="878688"/>
                <a:gridCol w="878688"/>
                <a:gridCol w="878688"/>
                <a:gridCol w="878688"/>
                <a:gridCol w="878688"/>
                <a:gridCol w="878688"/>
                <a:gridCol w="87868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y</a:t>
                      </a:r>
                      <a:r>
                        <a:rPr lang="en-US" altLang="zh-TW" baseline="-25000" dirty="0" smtClean="0"/>
                        <a:t>(0,t]</a:t>
                      </a:r>
                      <a:r>
                        <a:rPr lang="en-US" altLang="zh-TW" dirty="0" smtClean="0"/>
                        <a:t>(b)</a:t>
                      </a:r>
                      <a:endParaRPr lang="zh-TW" altLang="en-US" dirty="0" smtClean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y</a:t>
                      </a:r>
                      <a:r>
                        <a:rPr lang="en-US" altLang="zh-TW" baseline="-25000" dirty="0" smtClean="0"/>
                        <a:t>(0,t]</a:t>
                      </a:r>
                      <a:r>
                        <a:rPr lang="en-US" altLang="zh-TW" dirty="0" smtClean="0"/>
                        <a:t>(a)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88992" y="214290"/>
          <a:ext cx="3960000" cy="158496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96000"/>
                <a:gridCol w="396000"/>
                <a:gridCol w="396000"/>
                <a:gridCol w="396000"/>
                <a:gridCol w="396000"/>
                <a:gridCol w="396000"/>
                <a:gridCol w="396000"/>
                <a:gridCol w="396000"/>
                <a:gridCol w="396000"/>
                <a:gridCol w="396000"/>
              </a:tblGrid>
              <a:tr h="392909">
                <a:tc>
                  <a:txBody>
                    <a:bodyPr/>
                    <a:lstStyle/>
                    <a:p>
                      <a:pPr algn="ctr"/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b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b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92909">
                <a:tc>
                  <a:txBody>
                    <a:bodyPr/>
                    <a:lstStyle/>
                    <a:p>
                      <a:pPr algn="ctr"/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0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1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2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3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5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6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7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8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92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b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1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1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2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3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5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6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7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92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5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20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14282" y="2000240"/>
          <a:ext cx="7020000" cy="148336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40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12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13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r>
                        <a:rPr lang="en-US" altLang="zh-TW" baseline="30000" dirty="0" smtClean="0"/>
                        <a:t>-</a:t>
                      </a:r>
                      <a:r>
                        <a:rPr lang="en-US" altLang="zh-TW" dirty="0" smtClean="0"/>
                        <a:t>[t]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B</a:t>
                      </a:r>
                      <a:r>
                        <a:rPr lang="en-US" altLang="zh-TW" baseline="30000" dirty="0" smtClean="0"/>
                        <a:t>-</a:t>
                      </a:r>
                      <a:r>
                        <a:rPr lang="en-US" altLang="zh-TW" dirty="0" smtClean="0"/>
                        <a:t>[t]</a:t>
                      </a:r>
                      <a:endParaRPr lang="zh-TW" altLang="en-US" dirty="0" smtClean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C</a:t>
                      </a:r>
                      <a:r>
                        <a:rPr lang="en-US" altLang="zh-TW" baseline="30000" dirty="0" smtClean="0"/>
                        <a:t>-</a:t>
                      </a:r>
                      <a:r>
                        <a:rPr lang="en-US" altLang="zh-TW" dirty="0" smtClean="0"/>
                        <a:t>[t]</a:t>
                      </a:r>
                      <a:endParaRPr lang="zh-TW" altLang="en-US" dirty="0" smtClean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內容版面配置區 4"/>
          <p:cNvGraphicFramePr>
            <a:graphicFrameLocks/>
          </p:cNvGraphicFramePr>
          <p:nvPr/>
        </p:nvGraphicFramePr>
        <p:xfrm>
          <a:off x="4430280" y="214290"/>
          <a:ext cx="4417005" cy="1584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540000"/>
                <a:gridCol w="432000"/>
                <a:gridCol w="432000"/>
                <a:gridCol w="432000"/>
                <a:gridCol w="432000"/>
                <a:gridCol w="432000"/>
                <a:gridCol w="421005"/>
                <a:gridCol w="432000"/>
                <a:gridCol w="432000"/>
                <a:gridCol w="432000"/>
              </a:tblGrid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A[t]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B[t]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C[t]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0" name="內容版面配置區 2"/>
          <p:cNvSpPr>
            <a:spLocks noGrp="1"/>
          </p:cNvSpPr>
          <p:nvPr>
            <p:ph idx="1"/>
          </p:nvPr>
        </p:nvSpPr>
        <p:spPr>
          <a:xfrm>
            <a:off x="214282" y="3571876"/>
            <a:ext cx="8472518" cy="3286124"/>
          </a:xfrm>
        </p:spPr>
        <p:txBody>
          <a:bodyPr>
            <a:normAutofit/>
          </a:bodyPr>
          <a:lstStyle/>
          <a:p>
            <a:r>
              <a:rPr lang="en-US" altLang="zh-TW" sz="2800" dirty="0" smtClean="0"/>
              <a:t>Compute D(2,1) </a:t>
            </a:r>
          </a:p>
          <a:p>
            <a:pPr>
              <a:buNone/>
            </a:pPr>
            <a:r>
              <a:rPr lang="en-US" altLang="zh-TW" sz="2000" dirty="0" smtClean="0">
                <a:sym typeface="Wingdings" pitchFamily="2" charset="2"/>
              </a:rPr>
              <a:t>(1)</a:t>
            </a:r>
            <a:r>
              <a:rPr lang="en-US" altLang="zh-TW" sz="2000" dirty="0" smtClean="0">
                <a:solidFill>
                  <a:srgbClr val="FF0000"/>
                </a:solidFill>
                <a:sym typeface="Wingdings" pitchFamily="2" charset="2"/>
              </a:rPr>
              <a:t>Form D(2,0)-1</a:t>
            </a:r>
            <a:r>
              <a:rPr lang="en-US" altLang="zh-TW" sz="2000" dirty="0" smtClean="0">
                <a:sym typeface="Wingdings" pitchFamily="2" charset="2"/>
              </a:rPr>
              <a:t>: D(2,0) = 5  D(2,0)-1 = 4</a:t>
            </a:r>
          </a:p>
          <a:p>
            <a:pPr>
              <a:buNone/>
            </a:pPr>
            <a:r>
              <a:rPr lang="en-US" altLang="zh-TW" sz="2000" dirty="0" smtClean="0">
                <a:sym typeface="Wingdings" pitchFamily="2" charset="2"/>
              </a:rPr>
              <a:t>	v</a:t>
            </a:r>
            <a:r>
              <a:rPr lang="en-US" altLang="zh-TW" sz="2000" baseline="-25000" dirty="0" smtClean="0">
                <a:sym typeface="Wingdings" pitchFamily="2" charset="2"/>
              </a:rPr>
              <a:t>1</a:t>
            </a:r>
            <a:r>
              <a:rPr lang="en-US" altLang="zh-TW" sz="2000" dirty="0" smtClean="0">
                <a:sym typeface="Wingdings" pitchFamily="2" charset="2"/>
              </a:rPr>
              <a:t> = 4 + 1 – 4</a:t>
            </a:r>
            <a:r>
              <a:rPr lang="en-US" altLang="zh-TW" sz="2000" baseline="-25000" dirty="0" smtClean="0"/>
              <a:t> </a:t>
            </a:r>
            <a:r>
              <a:rPr lang="en-US" altLang="zh-TW" sz="2000" dirty="0" smtClean="0"/>
              <a:t> = 1;u</a:t>
            </a:r>
            <a:r>
              <a:rPr lang="en-US" altLang="zh-TW" sz="2000" baseline="-25000" dirty="0" smtClean="0"/>
              <a:t>1</a:t>
            </a:r>
            <a:r>
              <a:rPr lang="en-US" altLang="zh-TW" sz="2000" dirty="0" smtClean="0"/>
              <a:t> = A</a:t>
            </a:r>
            <a:r>
              <a:rPr lang="en-US" altLang="zh-TW" sz="2000" baseline="30000" dirty="0" smtClean="0"/>
              <a:t>-</a:t>
            </a:r>
            <a:r>
              <a:rPr lang="en-US" altLang="zh-TW" sz="2000" dirty="0" smtClean="0"/>
              <a:t>[</a:t>
            </a:r>
            <a:r>
              <a:rPr lang="en-US" altLang="zh-TW" sz="2000" dirty="0" smtClean="0">
                <a:sym typeface="Wingdings" pitchFamily="2" charset="2"/>
              </a:rPr>
              <a:t>1</a:t>
            </a:r>
            <a:r>
              <a:rPr lang="en-US" altLang="zh-TW" sz="2000" dirty="0" smtClean="0"/>
              <a:t>] =  0     </a:t>
            </a:r>
            <a:r>
              <a:rPr lang="en-US" altLang="zh-TW" sz="2000" dirty="0" smtClean="0">
                <a:sym typeface="Wingdings" pitchFamily="2" charset="2"/>
              </a:rPr>
              <a:t>if(0 </a:t>
            </a:r>
            <a:r>
              <a:rPr lang="en-US" altLang="zh-TW" sz="2000" dirty="0" smtClean="0"/>
              <a:t>≤</a:t>
            </a:r>
            <a:r>
              <a:rPr lang="en-US" altLang="zh-TW" sz="2000" dirty="0" smtClean="0">
                <a:sym typeface="Wingdings" pitchFamily="2" charset="2"/>
              </a:rPr>
              <a:t> 1)and (1 -</a:t>
            </a:r>
            <a:r>
              <a:rPr lang="en-US" altLang="zh-TW" sz="2000" dirty="0" smtClean="0">
                <a:latin typeface="MT Extra" pitchFamily="18" charset="2"/>
              </a:rPr>
              <a:t> </a:t>
            </a:r>
            <a:r>
              <a:rPr lang="en-US" altLang="zh-TW" sz="2000" dirty="0" smtClean="0"/>
              <a:t>4</a:t>
            </a:r>
            <a:r>
              <a:rPr lang="en-US" altLang="zh-TW" sz="2000" baseline="-25000" dirty="0" smtClean="0"/>
              <a:t> </a:t>
            </a:r>
            <a:r>
              <a:rPr lang="en-US" altLang="zh-TW" sz="2000" dirty="0" smtClean="0"/>
              <a:t>≤</a:t>
            </a:r>
            <a:r>
              <a:rPr lang="en-US" altLang="zh-TW" sz="2000" dirty="0" smtClean="0">
                <a:sym typeface="Wingdings" pitchFamily="2" charset="2"/>
              </a:rPr>
              <a:t> </a:t>
            </a:r>
            <a:r>
              <a:rPr lang="en-US" altLang="zh-TW" sz="2000" dirty="0" smtClean="0"/>
              <a:t>0</a:t>
            </a:r>
            <a:r>
              <a:rPr lang="en-US" altLang="zh-TW" sz="2000" dirty="0" smtClean="0">
                <a:sym typeface="Wingdings" pitchFamily="2" charset="2"/>
              </a:rPr>
              <a:t>) </a:t>
            </a:r>
            <a:r>
              <a:rPr lang="en-US" altLang="zh-TW" sz="2000" dirty="0" err="1" smtClean="0">
                <a:sym typeface="Wingdings" pitchFamily="2" charset="2"/>
              </a:rPr>
              <a:t>Ture</a:t>
            </a:r>
            <a:r>
              <a:rPr lang="en-US" altLang="zh-TW" sz="2000" dirty="0" smtClean="0">
                <a:sym typeface="Wingdings" pitchFamily="2" charset="2"/>
              </a:rPr>
              <a:t> 	</a:t>
            </a:r>
          </a:p>
          <a:p>
            <a:pPr>
              <a:buNone/>
            </a:pPr>
            <a:r>
              <a:rPr lang="en-US" altLang="zh-TW" sz="2000" dirty="0" smtClean="0">
                <a:sym typeface="Wingdings" pitchFamily="2" charset="2"/>
              </a:rPr>
              <a:t>	v</a:t>
            </a:r>
            <a:r>
              <a:rPr lang="en-US" altLang="zh-TW" sz="2000" baseline="-25000" dirty="0" smtClean="0">
                <a:sym typeface="Wingdings" pitchFamily="2" charset="2"/>
              </a:rPr>
              <a:t>2</a:t>
            </a:r>
            <a:r>
              <a:rPr lang="en-US" altLang="zh-TW" sz="2000" dirty="0" smtClean="0">
                <a:sym typeface="Wingdings" pitchFamily="2" charset="2"/>
              </a:rPr>
              <a:t> = 4 + 1 – 1  = 4;</a:t>
            </a:r>
            <a:r>
              <a:rPr lang="en-US" altLang="zh-TW" sz="2000" dirty="0" smtClean="0"/>
              <a:t>u</a:t>
            </a:r>
            <a:r>
              <a:rPr lang="en-US" altLang="zh-TW" sz="2000" baseline="-25000" dirty="0" smtClean="0"/>
              <a:t>2</a:t>
            </a:r>
            <a:r>
              <a:rPr lang="en-US" altLang="zh-TW" sz="2000" dirty="0" smtClean="0"/>
              <a:t> = B</a:t>
            </a:r>
            <a:r>
              <a:rPr lang="en-US" altLang="zh-TW" sz="2000" baseline="30000" dirty="0" smtClean="0"/>
              <a:t>-</a:t>
            </a:r>
            <a:r>
              <a:rPr lang="en-US" altLang="zh-TW" sz="2000" dirty="0" smtClean="0"/>
              <a:t>[</a:t>
            </a:r>
            <a:r>
              <a:rPr lang="en-US" altLang="zh-TW" sz="2000" dirty="0" smtClean="0">
                <a:sym typeface="Wingdings" pitchFamily="2" charset="2"/>
              </a:rPr>
              <a:t>4</a:t>
            </a:r>
            <a:r>
              <a:rPr lang="en-US" altLang="zh-TW" sz="2000" dirty="0" smtClean="0"/>
              <a:t>] =  -1   </a:t>
            </a:r>
            <a:r>
              <a:rPr lang="en-US" altLang="zh-TW" sz="2000" dirty="0" smtClean="0">
                <a:sym typeface="Wingdings" pitchFamily="2" charset="2"/>
              </a:rPr>
              <a:t>if(0 </a:t>
            </a:r>
            <a:r>
              <a:rPr lang="en-US" altLang="zh-TW" sz="2000" dirty="0" smtClean="0"/>
              <a:t>≤</a:t>
            </a:r>
            <a:r>
              <a:rPr lang="en-US" altLang="zh-TW" sz="2000" dirty="0" smtClean="0">
                <a:sym typeface="Wingdings" pitchFamily="2" charset="2"/>
              </a:rPr>
              <a:t> 4) and (1 </a:t>
            </a:r>
            <a:r>
              <a:rPr lang="en-US" altLang="zh-TW" sz="2000" dirty="0" smtClean="0"/>
              <a:t>≤</a:t>
            </a:r>
            <a:r>
              <a:rPr lang="en-US" altLang="zh-TW" sz="2000" dirty="0" smtClean="0">
                <a:latin typeface="MT Extra" pitchFamily="18" charset="2"/>
              </a:rPr>
              <a:t> </a:t>
            </a:r>
            <a:r>
              <a:rPr lang="en-US" altLang="zh-TW" sz="2000" dirty="0" smtClean="0"/>
              <a:t>4 )</a:t>
            </a:r>
          </a:p>
          <a:p>
            <a:pPr>
              <a:buNone/>
            </a:pPr>
            <a:r>
              <a:rPr lang="en-US" altLang="zh-TW" sz="2000" dirty="0" smtClean="0">
                <a:sym typeface="Wingdings" pitchFamily="2" charset="2"/>
              </a:rPr>
              <a:t>	v</a:t>
            </a:r>
            <a:r>
              <a:rPr lang="en-US" altLang="zh-TW" sz="2000" baseline="-25000" dirty="0" smtClean="0">
                <a:sym typeface="Wingdings" pitchFamily="2" charset="2"/>
              </a:rPr>
              <a:t>3</a:t>
            </a:r>
            <a:r>
              <a:rPr lang="en-US" altLang="zh-TW" sz="2000" dirty="0" smtClean="0">
                <a:sym typeface="Wingdings" pitchFamily="2" charset="2"/>
              </a:rPr>
              <a:t> = 4 – 1 + 4 = 7; </a:t>
            </a:r>
            <a:r>
              <a:rPr lang="en-US" altLang="zh-TW" sz="2000" dirty="0" smtClean="0"/>
              <a:t>u</a:t>
            </a:r>
            <a:r>
              <a:rPr lang="en-US" altLang="zh-TW" sz="2000" baseline="-25000" dirty="0" smtClean="0"/>
              <a:t>3</a:t>
            </a:r>
            <a:r>
              <a:rPr lang="en-US" altLang="zh-TW" sz="2000" dirty="0" smtClean="0"/>
              <a:t> = C</a:t>
            </a:r>
            <a:r>
              <a:rPr lang="en-US" altLang="zh-TW" sz="2000" baseline="30000" dirty="0" smtClean="0"/>
              <a:t>-</a:t>
            </a:r>
            <a:r>
              <a:rPr lang="en-US" altLang="zh-TW" sz="2000" dirty="0" smtClean="0"/>
              <a:t>[</a:t>
            </a:r>
            <a:r>
              <a:rPr lang="en-US" altLang="zh-TW" sz="2000" dirty="0" smtClean="0">
                <a:sym typeface="Wingdings" pitchFamily="2" charset="2"/>
              </a:rPr>
              <a:t>7</a:t>
            </a:r>
            <a:r>
              <a:rPr lang="en-US" altLang="zh-TW" sz="2000" dirty="0" smtClean="0"/>
              <a:t>]</a:t>
            </a:r>
            <a:r>
              <a:rPr lang="en-US" altLang="zh-TW" sz="2000" dirty="0" smtClean="0">
                <a:sym typeface="Wingdings" pitchFamily="2" charset="2"/>
              </a:rPr>
              <a:t> =  -1   if(0 </a:t>
            </a:r>
            <a:r>
              <a:rPr lang="en-US" altLang="zh-TW" sz="2000" dirty="0" smtClean="0"/>
              <a:t>≤</a:t>
            </a:r>
            <a:r>
              <a:rPr lang="en-US" altLang="zh-TW" sz="2000" dirty="0" smtClean="0">
                <a:sym typeface="Wingdings" pitchFamily="2" charset="2"/>
              </a:rPr>
              <a:t> 7) and (</a:t>
            </a:r>
            <a:r>
              <a:rPr lang="en-US" altLang="zh-TW" sz="2000" dirty="0" smtClean="0"/>
              <a:t>4 ≤</a:t>
            </a:r>
            <a:r>
              <a:rPr lang="en-US" altLang="zh-TW" sz="2000" dirty="0" smtClean="0">
                <a:sym typeface="Wingdings" pitchFamily="2" charset="2"/>
              </a:rPr>
              <a:t> 1) </a:t>
            </a:r>
          </a:p>
          <a:p>
            <a:pPr>
              <a:buNone/>
            </a:pPr>
            <a:r>
              <a:rPr lang="en-US" altLang="zh-TW" sz="2000" dirty="0" smtClean="0">
                <a:sym typeface="Wingdings" pitchFamily="2" charset="2"/>
              </a:rPr>
              <a:t>(2) Form D(2,0): X</a:t>
            </a:r>
          </a:p>
          <a:p>
            <a:pPr>
              <a:buNone/>
            </a:pPr>
            <a:r>
              <a:rPr lang="en-US" altLang="zh-TW" sz="2000" dirty="0" smtClean="0">
                <a:sym typeface="Wingdings" pitchFamily="2" charset="2"/>
              </a:rPr>
              <a:t>(3) Form D(2,0)+1: X</a:t>
            </a:r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7643834" y="2000240"/>
          <a:ext cx="1152000" cy="37084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360000"/>
                <a:gridCol w="792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y</a:t>
                      </a:r>
                      <a:r>
                        <a:rPr lang="en-US" altLang="zh-TW" baseline="-25000" dirty="0" smtClean="0"/>
                        <a:t>(0,t]</a:t>
                      </a:r>
                      <a:r>
                        <a:rPr lang="en-US" altLang="zh-TW" dirty="0" smtClean="0"/>
                        <a:t>(a)</a:t>
                      </a:r>
                      <a:endParaRPr lang="zh-TW" altLang="en-US" dirty="0" smtClean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14282" y="2000240"/>
          <a:ext cx="7020000" cy="148336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40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12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13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r>
                        <a:rPr lang="en-US" altLang="zh-TW" baseline="30000" dirty="0" smtClean="0"/>
                        <a:t>-</a:t>
                      </a:r>
                      <a:r>
                        <a:rPr lang="en-US" altLang="zh-TW" dirty="0" smtClean="0"/>
                        <a:t>[t]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B</a:t>
                      </a:r>
                      <a:r>
                        <a:rPr lang="en-US" altLang="zh-TW" baseline="30000" dirty="0" smtClean="0"/>
                        <a:t>-</a:t>
                      </a:r>
                      <a:r>
                        <a:rPr lang="en-US" altLang="zh-TW" dirty="0" smtClean="0"/>
                        <a:t>[t]</a:t>
                      </a:r>
                      <a:endParaRPr lang="zh-TW" altLang="en-US" dirty="0" smtClean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C</a:t>
                      </a:r>
                      <a:r>
                        <a:rPr lang="en-US" altLang="zh-TW" baseline="30000" dirty="0" smtClean="0"/>
                        <a:t>-</a:t>
                      </a:r>
                      <a:r>
                        <a:rPr lang="en-US" altLang="zh-TW" dirty="0" smtClean="0"/>
                        <a:t>[t]</a:t>
                      </a:r>
                      <a:endParaRPr lang="zh-TW" altLang="en-US" dirty="0" smtClean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88992" y="214290"/>
          <a:ext cx="3960000" cy="158496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96000"/>
                <a:gridCol w="396000"/>
                <a:gridCol w="396000"/>
                <a:gridCol w="396000"/>
                <a:gridCol w="396000"/>
                <a:gridCol w="396000"/>
                <a:gridCol w="396000"/>
                <a:gridCol w="396000"/>
                <a:gridCol w="396000"/>
                <a:gridCol w="396000"/>
              </a:tblGrid>
              <a:tr h="392909">
                <a:tc>
                  <a:txBody>
                    <a:bodyPr/>
                    <a:lstStyle/>
                    <a:p>
                      <a:pPr algn="ctr"/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b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b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92909">
                <a:tc>
                  <a:txBody>
                    <a:bodyPr/>
                    <a:lstStyle/>
                    <a:p>
                      <a:pPr algn="ctr"/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0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1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2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3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5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6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7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8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92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b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1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1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2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3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5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6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7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92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5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20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內容版面配置區 4"/>
          <p:cNvGraphicFramePr>
            <a:graphicFrameLocks/>
          </p:cNvGraphicFramePr>
          <p:nvPr/>
        </p:nvGraphicFramePr>
        <p:xfrm>
          <a:off x="4430280" y="214290"/>
          <a:ext cx="4428000" cy="1584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540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</a:tblGrid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A[t]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B[t]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C[t]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7643834" y="2000240"/>
          <a:ext cx="1152000" cy="37084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360000"/>
                <a:gridCol w="792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y</a:t>
                      </a:r>
                      <a:r>
                        <a:rPr lang="en-US" altLang="zh-TW" baseline="-25000" dirty="0" smtClean="0"/>
                        <a:t>(0,t]</a:t>
                      </a:r>
                      <a:r>
                        <a:rPr lang="en-US" altLang="zh-TW" dirty="0" smtClean="0"/>
                        <a:t>(a)</a:t>
                      </a:r>
                      <a:endParaRPr lang="zh-TW" altLang="en-US" dirty="0" smtClean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內容版面配置區 2"/>
          <p:cNvSpPr txBox="1">
            <a:spLocks/>
          </p:cNvSpPr>
          <p:nvPr/>
        </p:nvSpPr>
        <p:spPr>
          <a:xfrm>
            <a:off x="214282" y="3571876"/>
            <a:ext cx="8472518" cy="3286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Compute D(2,2)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(1)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Form D(2,1)-1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: D(2,1) = 4  D(2,0)-1 = 3</a:t>
            </a:r>
          </a:p>
          <a:p>
            <a:pPr marL="342900" lvl="0" indent="-342900">
              <a:spcBef>
                <a:spcPct val="20000"/>
              </a:spcBef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	v</a:t>
            </a:r>
            <a:r>
              <a:rPr kumimoji="0" lang="en-US" altLang="zh-TW" sz="20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1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= 3 + </a:t>
            </a:r>
            <a:r>
              <a:rPr lang="en-US" altLang="zh-TW" sz="2000" dirty="0" smtClean="0">
                <a:sym typeface="Wingdings" pitchFamily="2" charset="2"/>
              </a:rPr>
              <a:t>2 – 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4</a:t>
            </a:r>
            <a:r>
              <a:rPr kumimoji="0" lang="en-US" altLang="zh-TW" sz="20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1;u</a:t>
            </a:r>
            <a:r>
              <a:rPr kumimoji="0" lang="en-US" altLang="zh-TW" sz="20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A</a:t>
            </a:r>
            <a:r>
              <a:rPr kumimoji="0" lang="en-US" altLang="zh-TW" sz="2000" b="0" i="0" u="none" strike="noStrike" kern="120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lang="en-US" altLang="zh-TW" sz="2000" dirty="0" smtClean="0">
                <a:sym typeface="Wingdings" pitchFamily="2" charset="2"/>
              </a:rPr>
              <a:t>1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 = 0    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if(0 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≤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</a:t>
            </a:r>
            <a:r>
              <a:rPr lang="en-US" altLang="zh-TW" sz="2000" dirty="0" smtClean="0">
                <a:sym typeface="Wingdings" pitchFamily="2" charset="2"/>
              </a:rPr>
              <a:t>0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)and (2 -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T Extra" pitchFamily="18" charset="2"/>
                <a:ea typeface="+mn-ea"/>
                <a:cs typeface="+mn-cs"/>
              </a:rPr>
              <a:t> 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en-US" altLang="zh-TW" sz="20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≤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) </a:t>
            </a:r>
            <a:r>
              <a:rPr kumimoji="0" lang="en-US" altLang="zh-TW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Ture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	</a:t>
            </a:r>
          </a:p>
          <a:p>
            <a:pPr marL="342900" lvl="0" indent="-342900">
              <a:spcBef>
                <a:spcPct val="20000"/>
              </a:spcBef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	v</a:t>
            </a:r>
            <a:r>
              <a:rPr kumimoji="0" lang="en-US" altLang="zh-TW" sz="20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2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= 3 + </a:t>
            </a:r>
            <a:r>
              <a:rPr lang="en-US" altLang="zh-TW" sz="2000" dirty="0" smtClean="0">
                <a:sym typeface="Wingdings" pitchFamily="2" charset="2"/>
              </a:rPr>
              <a:t>2 – 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2 = 3;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en-US" altLang="zh-TW" sz="20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B</a:t>
            </a:r>
            <a:r>
              <a:rPr kumimoji="0" lang="en-US" altLang="zh-TW" sz="2000" b="0" i="0" u="none" strike="noStrike" kern="120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3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 = -1   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if(0 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≤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</a:t>
            </a:r>
            <a:r>
              <a:rPr lang="en-US" altLang="zh-TW" sz="2000" dirty="0" smtClean="0">
                <a:sym typeface="Wingdings" pitchFamily="2" charset="2"/>
              </a:rPr>
              <a:t>-1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) and (2 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≤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T Extra" pitchFamily="18" charset="2"/>
                <a:ea typeface="+mn-ea"/>
                <a:cs typeface="+mn-cs"/>
              </a:rPr>
              <a:t> 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4 )</a:t>
            </a:r>
          </a:p>
          <a:p>
            <a:pPr marL="342900" lvl="0" indent="-342900">
              <a:spcBef>
                <a:spcPct val="20000"/>
              </a:spcBef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	v</a:t>
            </a:r>
            <a:r>
              <a:rPr kumimoji="0" lang="en-US" altLang="zh-TW" sz="20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3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= </a:t>
            </a:r>
            <a:r>
              <a:rPr lang="en-US" altLang="zh-TW" sz="2000" dirty="0" smtClean="0">
                <a:sym typeface="Wingdings" pitchFamily="2" charset="2"/>
              </a:rPr>
              <a:t>3 – 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2 + 4 = 5; 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en-US" altLang="zh-TW" sz="20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C</a:t>
            </a:r>
            <a:r>
              <a:rPr kumimoji="0" lang="en-US" altLang="zh-TW" sz="2000" b="0" i="0" u="none" strike="noStrike" kern="120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lang="en-US" altLang="zh-TW" sz="2000" dirty="0" smtClean="0">
                <a:sym typeface="Wingdings" pitchFamily="2" charset="2"/>
              </a:rPr>
              <a:t>5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 = -1  if(0 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≤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</a:t>
            </a:r>
            <a:r>
              <a:rPr lang="en-US" altLang="zh-TW" sz="2000" dirty="0" smtClean="0">
                <a:sym typeface="Wingdings" pitchFamily="2" charset="2"/>
              </a:rPr>
              <a:t>-1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) and (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 ≤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2)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(2) Form D(2,1): X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(3) Form D(2,1)+1: 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14282" y="2000240"/>
          <a:ext cx="7020000" cy="148336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40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12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13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r>
                        <a:rPr lang="en-US" altLang="zh-TW" baseline="30000" dirty="0" smtClean="0"/>
                        <a:t>-</a:t>
                      </a:r>
                      <a:r>
                        <a:rPr lang="en-US" altLang="zh-TW" dirty="0" smtClean="0"/>
                        <a:t>[t]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B</a:t>
                      </a:r>
                      <a:r>
                        <a:rPr lang="en-US" altLang="zh-TW" baseline="30000" dirty="0" smtClean="0"/>
                        <a:t>-</a:t>
                      </a:r>
                      <a:r>
                        <a:rPr lang="en-US" altLang="zh-TW" dirty="0" smtClean="0"/>
                        <a:t>[t]</a:t>
                      </a:r>
                      <a:endParaRPr lang="zh-TW" altLang="en-US" dirty="0" smtClean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C</a:t>
                      </a:r>
                      <a:r>
                        <a:rPr lang="en-US" altLang="zh-TW" baseline="30000" dirty="0" smtClean="0"/>
                        <a:t>-</a:t>
                      </a:r>
                      <a:r>
                        <a:rPr lang="en-US" altLang="zh-TW" dirty="0" smtClean="0"/>
                        <a:t>[t]</a:t>
                      </a:r>
                      <a:endParaRPr lang="zh-TW" altLang="en-US" dirty="0" smtClean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88992" y="214290"/>
          <a:ext cx="3960000" cy="158496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96000"/>
                <a:gridCol w="396000"/>
                <a:gridCol w="396000"/>
                <a:gridCol w="396000"/>
                <a:gridCol w="396000"/>
                <a:gridCol w="396000"/>
                <a:gridCol w="396000"/>
                <a:gridCol w="396000"/>
                <a:gridCol w="396000"/>
                <a:gridCol w="396000"/>
              </a:tblGrid>
              <a:tr h="392909">
                <a:tc>
                  <a:txBody>
                    <a:bodyPr/>
                    <a:lstStyle/>
                    <a:p>
                      <a:pPr algn="ctr"/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b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b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92909">
                <a:tc>
                  <a:txBody>
                    <a:bodyPr/>
                    <a:lstStyle/>
                    <a:p>
                      <a:pPr algn="ctr"/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0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1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2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3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5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6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7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8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92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b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1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1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2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3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5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6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7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92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5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3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20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內容版面配置區 4"/>
          <p:cNvGraphicFramePr>
            <a:graphicFrameLocks/>
          </p:cNvGraphicFramePr>
          <p:nvPr/>
        </p:nvGraphicFramePr>
        <p:xfrm>
          <a:off x="4430280" y="214290"/>
          <a:ext cx="4428000" cy="1584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540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</a:tblGrid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A[t]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B[t]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C[t]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7643834" y="2000240"/>
          <a:ext cx="1152000" cy="37084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360000"/>
                <a:gridCol w="792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y</a:t>
                      </a:r>
                      <a:r>
                        <a:rPr lang="en-US" altLang="zh-TW" baseline="-25000" dirty="0" smtClean="0"/>
                        <a:t>(0,t]</a:t>
                      </a:r>
                      <a:r>
                        <a:rPr lang="en-US" altLang="zh-TW" dirty="0" smtClean="0"/>
                        <a:t>(a)</a:t>
                      </a:r>
                      <a:endParaRPr lang="zh-TW" altLang="en-US" dirty="0" smtClean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內容版面配置區 2"/>
          <p:cNvSpPr txBox="1">
            <a:spLocks/>
          </p:cNvSpPr>
          <p:nvPr/>
        </p:nvSpPr>
        <p:spPr>
          <a:xfrm>
            <a:off x="214282" y="3571876"/>
            <a:ext cx="8472518" cy="3286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Compute D(2,3)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(1)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Form D(2,2)-1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: D(2,2) = 3  D(2,2)-1 = 2</a:t>
            </a:r>
          </a:p>
          <a:p>
            <a:pPr marL="342900" lvl="0" indent="-342900">
              <a:spcBef>
                <a:spcPct val="20000"/>
              </a:spcBef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	v</a:t>
            </a:r>
            <a:r>
              <a:rPr kumimoji="0" lang="en-US" altLang="zh-TW" sz="20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1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= 2 + </a:t>
            </a:r>
            <a:r>
              <a:rPr lang="en-US" altLang="zh-TW" sz="2000" dirty="0" smtClean="0">
                <a:sym typeface="Wingdings" pitchFamily="2" charset="2"/>
              </a:rPr>
              <a:t>3 – 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4</a:t>
            </a:r>
            <a:r>
              <a:rPr kumimoji="0" lang="en-US" altLang="zh-TW" sz="20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1;u</a:t>
            </a:r>
            <a:r>
              <a:rPr kumimoji="0" lang="en-US" altLang="zh-TW" sz="20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A</a:t>
            </a:r>
            <a:r>
              <a:rPr kumimoji="0" lang="en-US" altLang="zh-TW" sz="2000" b="0" i="0" u="none" strike="noStrike" kern="120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lang="en-US" altLang="zh-TW" sz="2000" dirty="0" smtClean="0">
                <a:sym typeface="Wingdings" pitchFamily="2" charset="2"/>
              </a:rPr>
              <a:t>1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= 0     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if(0 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≤</a:t>
            </a:r>
            <a:r>
              <a:rPr lang="en-US" altLang="zh-TW" sz="2000" dirty="0" smtClean="0">
                <a:sym typeface="Wingdings" pitchFamily="2" charset="2"/>
              </a:rPr>
              <a:t> 0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)and (3 -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T Extra" pitchFamily="18" charset="2"/>
                <a:ea typeface="+mn-ea"/>
                <a:cs typeface="+mn-cs"/>
              </a:rPr>
              <a:t> 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en-US" altLang="zh-TW" sz="20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≤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) </a:t>
            </a:r>
            <a:r>
              <a:rPr kumimoji="0" lang="en-US" altLang="zh-TW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Ture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	</a:t>
            </a:r>
          </a:p>
          <a:p>
            <a:pPr marL="342900" lvl="0" indent="-342900">
              <a:spcBef>
                <a:spcPct val="20000"/>
              </a:spcBef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	v</a:t>
            </a:r>
            <a:r>
              <a:rPr kumimoji="0" lang="en-US" altLang="zh-TW" sz="20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2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= 2 + </a:t>
            </a:r>
            <a:r>
              <a:rPr lang="en-US" altLang="zh-TW" sz="2000" dirty="0" smtClean="0">
                <a:sym typeface="Wingdings" pitchFamily="2" charset="2"/>
              </a:rPr>
              <a:t>3 – 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3 = 2;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en-US" altLang="zh-TW" sz="20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B</a:t>
            </a:r>
            <a:r>
              <a:rPr kumimoji="0" lang="en-US" altLang="zh-TW" sz="2000" b="0" i="0" u="none" strike="noStrike" kern="120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lang="en-US" altLang="zh-TW" sz="2000" dirty="0" smtClean="0">
                <a:sym typeface="Wingdings" pitchFamily="2" charset="2"/>
              </a:rPr>
              <a:t>2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= -1   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if(0 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≤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</a:t>
            </a:r>
            <a:r>
              <a:rPr lang="en-US" altLang="zh-TW" sz="2000" dirty="0" smtClean="0">
                <a:sym typeface="Wingdings" pitchFamily="2" charset="2"/>
              </a:rPr>
              <a:t>-1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) and (2 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≤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T Extra" pitchFamily="18" charset="2"/>
                <a:ea typeface="+mn-ea"/>
                <a:cs typeface="+mn-cs"/>
              </a:rPr>
              <a:t> 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4 )</a:t>
            </a:r>
          </a:p>
          <a:p>
            <a:pPr marL="342900" lvl="0" indent="-342900">
              <a:spcBef>
                <a:spcPct val="20000"/>
              </a:spcBef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	v</a:t>
            </a:r>
            <a:r>
              <a:rPr kumimoji="0" lang="en-US" altLang="zh-TW" sz="20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3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= </a:t>
            </a:r>
            <a:r>
              <a:rPr lang="en-US" altLang="zh-TW" sz="2000" dirty="0" smtClean="0">
                <a:sym typeface="Wingdings" pitchFamily="2" charset="2"/>
              </a:rPr>
              <a:t>2 – 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3 + 4 = 3; 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en-US" altLang="zh-TW" sz="20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C</a:t>
            </a:r>
            <a:r>
              <a:rPr kumimoji="0" lang="en-US" altLang="zh-TW" sz="2000" b="0" i="0" u="none" strike="noStrike" kern="120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lang="en-US" altLang="zh-TW" sz="2000" dirty="0" smtClean="0">
                <a:sym typeface="Wingdings" pitchFamily="2" charset="2"/>
              </a:rPr>
              <a:t>5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= -1   if(0 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≤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</a:t>
            </a:r>
            <a:r>
              <a:rPr lang="en-US" altLang="zh-TW" sz="2000" dirty="0" smtClean="0">
                <a:sym typeface="Wingdings" pitchFamily="2" charset="2"/>
              </a:rPr>
              <a:t>-1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) and (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 ≤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2)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(2) Form D(2,2): X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(3) Form D(2,2)+1: 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14282" y="2000240"/>
          <a:ext cx="7020000" cy="148336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40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12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13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r>
                        <a:rPr lang="en-US" altLang="zh-TW" baseline="30000" dirty="0" smtClean="0"/>
                        <a:t>-</a:t>
                      </a:r>
                      <a:r>
                        <a:rPr lang="en-US" altLang="zh-TW" dirty="0" smtClean="0"/>
                        <a:t>[t]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B</a:t>
                      </a:r>
                      <a:r>
                        <a:rPr lang="en-US" altLang="zh-TW" baseline="30000" dirty="0" smtClean="0"/>
                        <a:t>-</a:t>
                      </a:r>
                      <a:r>
                        <a:rPr lang="en-US" altLang="zh-TW" dirty="0" smtClean="0"/>
                        <a:t>[t]</a:t>
                      </a:r>
                      <a:endParaRPr lang="zh-TW" altLang="en-US" dirty="0" smtClean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C</a:t>
                      </a:r>
                      <a:r>
                        <a:rPr lang="en-US" altLang="zh-TW" baseline="30000" dirty="0" smtClean="0"/>
                        <a:t>-</a:t>
                      </a:r>
                      <a:r>
                        <a:rPr lang="en-US" altLang="zh-TW" dirty="0" smtClean="0"/>
                        <a:t>[t]</a:t>
                      </a:r>
                      <a:endParaRPr lang="zh-TW" altLang="en-US" dirty="0" smtClean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88992" y="214290"/>
          <a:ext cx="3960000" cy="158496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96000"/>
                <a:gridCol w="396000"/>
                <a:gridCol w="396000"/>
                <a:gridCol w="396000"/>
                <a:gridCol w="396000"/>
                <a:gridCol w="396000"/>
                <a:gridCol w="396000"/>
                <a:gridCol w="396000"/>
                <a:gridCol w="396000"/>
                <a:gridCol w="396000"/>
              </a:tblGrid>
              <a:tr h="392909">
                <a:tc>
                  <a:txBody>
                    <a:bodyPr/>
                    <a:lstStyle/>
                    <a:p>
                      <a:pPr algn="ctr"/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b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b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92909">
                <a:tc>
                  <a:txBody>
                    <a:bodyPr/>
                    <a:lstStyle/>
                    <a:p>
                      <a:pPr algn="ctr"/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0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1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2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3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5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6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7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8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92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b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1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1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2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3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5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6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7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92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5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3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2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20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內容版面配置區 4"/>
          <p:cNvGraphicFramePr>
            <a:graphicFrameLocks/>
          </p:cNvGraphicFramePr>
          <p:nvPr/>
        </p:nvGraphicFramePr>
        <p:xfrm>
          <a:off x="4430280" y="214290"/>
          <a:ext cx="4428000" cy="1584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540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</a:tblGrid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A[t]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B[t]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C[t]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7643834" y="2000240"/>
          <a:ext cx="1152000" cy="37084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360000"/>
                <a:gridCol w="792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y</a:t>
                      </a:r>
                      <a:r>
                        <a:rPr lang="en-US" altLang="zh-TW" baseline="-25000" dirty="0" smtClean="0"/>
                        <a:t>(0,t]</a:t>
                      </a:r>
                      <a:r>
                        <a:rPr lang="en-US" altLang="zh-TW" dirty="0" smtClean="0"/>
                        <a:t>(a)</a:t>
                      </a:r>
                      <a:endParaRPr lang="zh-TW" altLang="en-US" dirty="0" smtClean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內容版面配置區 2"/>
          <p:cNvSpPr txBox="1">
            <a:spLocks/>
          </p:cNvSpPr>
          <p:nvPr/>
        </p:nvSpPr>
        <p:spPr>
          <a:xfrm>
            <a:off x="214282" y="3571876"/>
            <a:ext cx="8472518" cy="3286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Compute D(2,4)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(1)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Form D(2,3)-1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: D(2,3) = 2  D(2,3)-1 = 1</a:t>
            </a:r>
          </a:p>
          <a:p>
            <a:pPr marL="342900" lvl="0" indent="-342900">
              <a:spcBef>
                <a:spcPct val="20000"/>
              </a:spcBef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	v</a:t>
            </a:r>
            <a:r>
              <a:rPr kumimoji="0" lang="en-US" altLang="zh-TW" sz="20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1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= 1 + </a:t>
            </a:r>
            <a:r>
              <a:rPr lang="en-US" altLang="zh-TW" sz="2000" dirty="0" smtClean="0">
                <a:sym typeface="Wingdings" pitchFamily="2" charset="2"/>
              </a:rPr>
              <a:t>4 – 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4</a:t>
            </a:r>
            <a:r>
              <a:rPr kumimoji="0" lang="en-US" altLang="zh-TW" sz="20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1;u</a:t>
            </a:r>
            <a:r>
              <a:rPr kumimoji="0" lang="en-US" altLang="zh-TW" sz="20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A</a:t>
            </a:r>
            <a:r>
              <a:rPr kumimoji="0" lang="en-US" altLang="zh-TW" sz="2000" b="0" i="0" u="none" strike="noStrike" kern="120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lang="en-US" altLang="zh-TW" sz="2000" dirty="0" smtClean="0">
                <a:sym typeface="Wingdings" pitchFamily="2" charset="2"/>
              </a:rPr>
              <a:t>1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= 0  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if(0 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≤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)and (4 -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T Extra" pitchFamily="18" charset="2"/>
                <a:ea typeface="+mn-ea"/>
                <a:cs typeface="+mn-cs"/>
              </a:rPr>
              <a:t> 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en-US" altLang="zh-TW" sz="20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≤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) </a:t>
            </a:r>
            <a:r>
              <a:rPr kumimoji="0" lang="en-US" altLang="zh-TW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Ture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	</a:t>
            </a:r>
          </a:p>
          <a:p>
            <a:pPr marL="342900" lvl="0" indent="-342900">
              <a:spcBef>
                <a:spcPct val="20000"/>
              </a:spcBef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	v</a:t>
            </a:r>
            <a:r>
              <a:rPr kumimoji="0" lang="en-US" altLang="zh-TW" sz="20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2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= 1 + </a:t>
            </a:r>
            <a:r>
              <a:rPr lang="en-US" altLang="zh-TW" sz="2000" dirty="0" smtClean="0">
                <a:sym typeface="Wingdings" pitchFamily="2" charset="2"/>
              </a:rPr>
              <a:t>4 – 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4 = 1;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en-US" altLang="zh-TW" sz="20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B</a:t>
            </a:r>
            <a:r>
              <a:rPr kumimoji="0" lang="en-US" altLang="zh-TW" sz="2000" b="0" i="0" u="none" strike="noStrike" kern="120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1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= 0  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if(0 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≤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</a:t>
            </a:r>
            <a:r>
              <a:rPr lang="en-US" altLang="zh-TW" sz="2000" dirty="0" smtClean="0">
                <a:sym typeface="Wingdings" pitchFamily="2" charset="2"/>
              </a:rPr>
              <a:t>0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) and (4 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≤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T Extra" pitchFamily="18" charset="2"/>
                <a:ea typeface="+mn-ea"/>
                <a:cs typeface="+mn-cs"/>
              </a:rPr>
              <a:t> 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4 )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	v</a:t>
            </a:r>
            <a:r>
              <a:rPr kumimoji="0" lang="en-US" altLang="zh-TW" sz="20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3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= 1 – 4 + 4 = 1;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en-US" altLang="zh-TW" sz="20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C</a:t>
            </a:r>
            <a:r>
              <a:rPr kumimoji="0" lang="en-US" altLang="zh-TW" sz="2000" b="0" i="0" u="none" strike="noStrike" kern="120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1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= 0  if(0 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≤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</a:t>
            </a:r>
            <a:r>
              <a:rPr lang="en-US" altLang="zh-TW" sz="2000" dirty="0" smtClean="0">
                <a:sym typeface="Wingdings" pitchFamily="2" charset="2"/>
              </a:rPr>
              <a:t>0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) and (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 ≤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4)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(2) Form D(2,3): X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(3) Form D(2,31)+1: 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14282" y="2000240"/>
          <a:ext cx="7020000" cy="148336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40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12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13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r>
                        <a:rPr lang="en-US" altLang="zh-TW" baseline="30000" dirty="0" smtClean="0"/>
                        <a:t>-</a:t>
                      </a:r>
                      <a:r>
                        <a:rPr lang="en-US" altLang="zh-TW" dirty="0" smtClean="0"/>
                        <a:t>[t]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B</a:t>
                      </a:r>
                      <a:r>
                        <a:rPr lang="en-US" altLang="zh-TW" baseline="30000" dirty="0" smtClean="0"/>
                        <a:t>-</a:t>
                      </a:r>
                      <a:r>
                        <a:rPr lang="en-US" altLang="zh-TW" dirty="0" smtClean="0"/>
                        <a:t>[t]</a:t>
                      </a:r>
                      <a:endParaRPr lang="zh-TW" altLang="en-US" dirty="0" smtClean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C</a:t>
                      </a:r>
                      <a:r>
                        <a:rPr lang="en-US" altLang="zh-TW" baseline="30000" dirty="0" smtClean="0"/>
                        <a:t>-</a:t>
                      </a:r>
                      <a:r>
                        <a:rPr lang="en-US" altLang="zh-TW" dirty="0" smtClean="0"/>
                        <a:t>[t]</a:t>
                      </a:r>
                      <a:endParaRPr lang="zh-TW" altLang="en-US" dirty="0" smtClean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88992" y="214290"/>
          <a:ext cx="3960000" cy="158496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96000"/>
                <a:gridCol w="396000"/>
                <a:gridCol w="396000"/>
                <a:gridCol w="396000"/>
                <a:gridCol w="396000"/>
                <a:gridCol w="396000"/>
                <a:gridCol w="396000"/>
                <a:gridCol w="396000"/>
                <a:gridCol w="396000"/>
                <a:gridCol w="396000"/>
              </a:tblGrid>
              <a:tr h="392909">
                <a:tc>
                  <a:txBody>
                    <a:bodyPr/>
                    <a:lstStyle/>
                    <a:p>
                      <a:pPr algn="ctr"/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b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b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92909">
                <a:tc>
                  <a:txBody>
                    <a:bodyPr/>
                    <a:lstStyle/>
                    <a:p>
                      <a:pPr algn="ctr"/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0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1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2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3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5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6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7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8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92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b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1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1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2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3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5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6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7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92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5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3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2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1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20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內容版面配置區 4"/>
          <p:cNvGraphicFramePr>
            <a:graphicFrameLocks/>
          </p:cNvGraphicFramePr>
          <p:nvPr/>
        </p:nvGraphicFramePr>
        <p:xfrm>
          <a:off x="4430280" y="214290"/>
          <a:ext cx="4428000" cy="1584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540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</a:tblGrid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A[t]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B[t]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C[t]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內容版面配置區 2"/>
          <p:cNvSpPr txBox="1">
            <a:spLocks/>
          </p:cNvSpPr>
          <p:nvPr/>
        </p:nvSpPr>
        <p:spPr>
          <a:xfrm>
            <a:off x="214282" y="3571876"/>
            <a:ext cx="7358114" cy="3286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Compute D(2,5)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(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1)Form D(2,4)-1: X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(2) Form D(2,4): X</a:t>
            </a:r>
          </a:p>
          <a:p>
            <a:pPr marL="342900" indent="-342900">
              <a:spcBef>
                <a:spcPct val="20000"/>
              </a:spcBef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(3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)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Form D(2,4)+1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: </a:t>
            </a:r>
            <a:r>
              <a:rPr lang="en-US" altLang="zh-TW" sz="2000" dirty="0" smtClean="0">
                <a:sym typeface="Wingdings" pitchFamily="2" charset="2"/>
              </a:rPr>
              <a:t>D(2,4) = 1  D(2,4)+1 = 2</a:t>
            </a:r>
            <a:endParaRPr kumimoji="0" lang="en-US" altLang="zh-TW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itchFamily="2" charset="2"/>
            </a:endParaRPr>
          </a:p>
          <a:p>
            <a:pPr marL="342900" lvl="0" indent="-342900">
              <a:spcBef>
                <a:spcPct val="20000"/>
              </a:spcBef>
            </a:pPr>
            <a:r>
              <a:rPr lang="en-US" altLang="zh-TW" sz="2000" dirty="0" smtClean="0">
                <a:sym typeface="Wingdings" pitchFamily="2" charset="2"/>
              </a:rPr>
              <a:t>	v</a:t>
            </a:r>
            <a:r>
              <a:rPr lang="en-US" altLang="zh-TW" sz="2000" baseline="-25000" dirty="0" smtClean="0">
                <a:sym typeface="Wingdings" pitchFamily="2" charset="2"/>
              </a:rPr>
              <a:t>1</a:t>
            </a:r>
            <a:r>
              <a:rPr lang="en-US" altLang="zh-TW" sz="2000" dirty="0" smtClean="0">
                <a:sym typeface="Wingdings" pitchFamily="2" charset="2"/>
              </a:rPr>
              <a:t> = 2 + 4– 4</a:t>
            </a:r>
            <a:r>
              <a:rPr lang="en-US" altLang="zh-TW" sz="2000" baseline="-25000" dirty="0" smtClean="0"/>
              <a:t> </a:t>
            </a:r>
            <a:r>
              <a:rPr lang="en-US" altLang="zh-TW" sz="2000" dirty="0" smtClean="0"/>
              <a:t>= 2;u</a:t>
            </a:r>
            <a:r>
              <a:rPr lang="en-US" altLang="zh-TW" sz="2000" baseline="-25000" dirty="0" smtClean="0"/>
              <a:t>1</a:t>
            </a:r>
            <a:r>
              <a:rPr lang="en-US" altLang="zh-TW" sz="2000" dirty="0" smtClean="0"/>
              <a:t> = A</a:t>
            </a:r>
            <a:r>
              <a:rPr lang="en-US" altLang="zh-TW" sz="2000" baseline="30000" dirty="0" smtClean="0"/>
              <a:t>-</a:t>
            </a:r>
            <a:r>
              <a:rPr lang="en-US" altLang="zh-TW" sz="2000" dirty="0" smtClean="0"/>
              <a:t>[</a:t>
            </a:r>
            <a:r>
              <a:rPr lang="en-US" altLang="zh-TW" sz="2000" dirty="0" smtClean="0">
                <a:sym typeface="Wingdings" pitchFamily="2" charset="2"/>
              </a:rPr>
              <a:t>2</a:t>
            </a:r>
            <a:r>
              <a:rPr lang="en-US" altLang="zh-TW" sz="2000" dirty="0" smtClean="0"/>
              <a:t>] = 1    </a:t>
            </a:r>
            <a:r>
              <a:rPr lang="en-US" altLang="zh-TW" sz="2000" dirty="0" smtClean="0">
                <a:sym typeface="Wingdings" pitchFamily="2" charset="2"/>
              </a:rPr>
              <a:t>if(0 </a:t>
            </a:r>
            <a:r>
              <a:rPr lang="en-US" altLang="zh-TW" sz="2000" dirty="0" smtClean="0"/>
              <a:t>≤</a:t>
            </a:r>
            <a:r>
              <a:rPr lang="en-US" altLang="zh-TW" sz="2000" dirty="0" smtClean="0">
                <a:sym typeface="Wingdings" pitchFamily="2" charset="2"/>
              </a:rPr>
              <a:t> </a:t>
            </a:r>
            <a:r>
              <a:rPr lang="en-US" altLang="zh-TW" sz="2000" dirty="0" smtClean="0"/>
              <a:t>u</a:t>
            </a:r>
            <a:r>
              <a:rPr lang="en-US" altLang="zh-TW" sz="2000" baseline="-25000" dirty="0" smtClean="0"/>
              <a:t>1</a:t>
            </a:r>
            <a:r>
              <a:rPr lang="en-US" altLang="zh-TW" sz="2000" dirty="0" smtClean="0">
                <a:sym typeface="Wingdings" pitchFamily="2" charset="2"/>
              </a:rPr>
              <a:t>)and (5 -</a:t>
            </a:r>
            <a:r>
              <a:rPr lang="en-US" altLang="zh-TW" sz="2000" dirty="0" smtClean="0">
                <a:latin typeface="MT Extra" pitchFamily="18" charset="2"/>
              </a:rPr>
              <a:t> </a:t>
            </a:r>
            <a:r>
              <a:rPr lang="en-US" altLang="zh-TW" sz="2000" dirty="0" smtClean="0"/>
              <a:t>4</a:t>
            </a:r>
            <a:r>
              <a:rPr lang="en-US" altLang="zh-TW" sz="2000" baseline="-25000" dirty="0" smtClean="0"/>
              <a:t> </a:t>
            </a:r>
            <a:r>
              <a:rPr lang="en-US" altLang="zh-TW" sz="2000" dirty="0" smtClean="0"/>
              <a:t>≤</a:t>
            </a:r>
            <a:r>
              <a:rPr lang="en-US" altLang="zh-TW" sz="2000" dirty="0" smtClean="0">
                <a:sym typeface="Wingdings" pitchFamily="2" charset="2"/>
              </a:rPr>
              <a:t> 1)True	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zh-TW" sz="2000" dirty="0" smtClean="0">
                <a:sym typeface="Wingdings" pitchFamily="2" charset="2"/>
              </a:rPr>
              <a:t>	v</a:t>
            </a:r>
            <a:r>
              <a:rPr lang="en-US" altLang="zh-TW" sz="2000" baseline="-25000" dirty="0" smtClean="0">
                <a:sym typeface="Wingdings" pitchFamily="2" charset="2"/>
              </a:rPr>
              <a:t>2</a:t>
            </a:r>
            <a:r>
              <a:rPr lang="en-US" altLang="zh-TW" sz="2000" dirty="0" smtClean="0">
                <a:sym typeface="Wingdings" pitchFamily="2" charset="2"/>
              </a:rPr>
              <a:t> = 2 + 4 – 5 = 1;</a:t>
            </a:r>
            <a:r>
              <a:rPr lang="en-US" altLang="zh-TW" sz="2000" dirty="0" smtClean="0"/>
              <a:t>u</a:t>
            </a:r>
            <a:r>
              <a:rPr lang="en-US" altLang="zh-TW" sz="2000" baseline="-25000" dirty="0" smtClean="0"/>
              <a:t>2</a:t>
            </a:r>
            <a:r>
              <a:rPr lang="en-US" altLang="zh-TW" sz="2000" dirty="0" smtClean="0"/>
              <a:t> = B</a:t>
            </a:r>
            <a:r>
              <a:rPr lang="en-US" altLang="zh-TW" sz="2000" baseline="30000" dirty="0" smtClean="0"/>
              <a:t>-</a:t>
            </a:r>
            <a:r>
              <a:rPr lang="en-US" altLang="zh-TW" sz="2000" dirty="0" smtClean="0"/>
              <a:t>[</a:t>
            </a:r>
            <a:r>
              <a:rPr lang="en-US" altLang="zh-TW" sz="2000" dirty="0" smtClean="0">
                <a:sym typeface="Wingdings" pitchFamily="2" charset="2"/>
              </a:rPr>
              <a:t>1</a:t>
            </a:r>
            <a:r>
              <a:rPr lang="en-US" altLang="zh-TW" sz="2000" dirty="0" smtClean="0"/>
              <a:t>] = 1  </a:t>
            </a:r>
            <a:r>
              <a:rPr lang="en-US" altLang="zh-TW" sz="2000" dirty="0" smtClean="0">
                <a:sym typeface="Wingdings" pitchFamily="2" charset="2"/>
              </a:rPr>
              <a:t>if(0 </a:t>
            </a:r>
            <a:r>
              <a:rPr lang="en-US" altLang="zh-TW" sz="2000" dirty="0" smtClean="0"/>
              <a:t>≤</a:t>
            </a:r>
            <a:r>
              <a:rPr lang="en-US" altLang="zh-TW" sz="2000" dirty="0" smtClean="0">
                <a:sym typeface="Wingdings" pitchFamily="2" charset="2"/>
              </a:rPr>
              <a:t> </a:t>
            </a:r>
            <a:r>
              <a:rPr lang="en-US" altLang="zh-TW" sz="2000" dirty="0" smtClean="0"/>
              <a:t>u</a:t>
            </a:r>
            <a:r>
              <a:rPr lang="en-US" altLang="zh-TW" sz="2000" baseline="-25000" dirty="0" smtClean="0"/>
              <a:t>2</a:t>
            </a:r>
            <a:r>
              <a:rPr lang="en-US" altLang="zh-TW" sz="2000" dirty="0" smtClean="0">
                <a:sym typeface="Wingdings" pitchFamily="2" charset="2"/>
              </a:rPr>
              <a:t>) and (3 </a:t>
            </a:r>
            <a:r>
              <a:rPr lang="en-US" altLang="zh-TW" sz="2000" dirty="0" smtClean="0"/>
              <a:t>≤</a:t>
            </a:r>
            <a:r>
              <a:rPr lang="en-US" altLang="zh-TW" sz="2000" dirty="0" smtClean="0">
                <a:latin typeface="MT Extra" pitchFamily="18" charset="2"/>
              </a:rPr>
              <a:t> </a:t>
            </a:r>
            <a:r>
              <a:rPr lang="en-US" altLang="zh-TW" sz="2000" dirty="0" smtClean="0"/>
              <a:t>4 )</a:t>
            </a:r>
          </a:p>
          <a:p>
            <a:pPr marL="342900" lvl="0" indent="-342900">
              <a:spcBef>
                <a:spcPct val="20000"/>
              </a:spcBef>
              <a:defRPr/>
            </a:pPr>
            <a:r>
              <a:rPr lang="en-US" altLang="zh-TW" sz="2000" dirty="0" smtClean="0">
                <a:sym typeface="Wingdings" pitchFamily="2" charset="2"/>
              </a:rPr>
              <a:t>	v</a:t>
            </a:r>
            <a:r>
              <a:rPr lang="en-US" altLang="zh-TW" sz="2000" baseline="-25000" dirty="0" smtClean="0">
                <a:sym typeface="Wingdings" pitchFamily="2" charset="2"/>
              </a:rPr>
              <a:t>3</a:t>
            </a:r>
            <a:r>
              <a:rPr lang="en-US" altLang="zh-TW" sz="2000" dirty="0" smtClean="0">
                <a:sym typeface="Wingdings" pitchFamily="2" charset="2"/>
              </a:rPr>
              <a:t> = 2 – 5 + 4 = 1;</a:t>
            </a:r>
            <a:r>
              <a:rPr lang="en-US" altLang="zh-TW" sz="2000" dirty="0" smtClean="0"/>
              <a:t>u</a:t>
            </a:r>
            <a:r>
              <a:rPr lang="en-US" altLang="zh-TW" sz="2000" baseline="-25000" dirty="0" smtClean="0"/>
              <a:t>3</a:t>
            </a:r>
            <a:r>
              <a:rPr lang="en-US" altLang="zh-TW" sz="2000" dirty="0" smtClean="0"/>
              <a:t> = C</a:t>
            </a:r>
            <a:r>
              <a:rPr lang="en-US" altLang="zh-TW" sz="2000" baseline="30000" dirty="0" smtClean="0"/>
              <a:t>-</a:t>
            </a:r>
            <a:r>
              <a:rPr lang="en-US" altLang="zh-TW" sz="2000" dirty="0" smtClean="0"/>
              <a:t>[</a:t>
            </a:r>
            <a:r>
              <a:rPr lang="en-US" altLang="zh-TW" sz="2000" dirty="0" smtClean="0">
                <a:sym typeface="Wingdings" pitchFamily="2" charset="2"/>
              </a:rPr>
              <a:t>1</a:t>
            </a:r>
            <a:r>
              <a:rPr lang="en-US" altLang="zh-TW" sz="2000" dirty="0" smtClean="0"/>
              <a:t>]</a:t>
            </a:r>
            <a:r>
              <a:rPr lang="en-US" altLang="zh-TW" sz="2000" dirty="0" smtClean="0">
                <a:sym typeface="Wingdings" pitchFamily="2" charset="2"/>
              </a:rPr>
              <a:t> = 0  if(0 </a:t>
            </a:r>
            <a:r>
              <a:rPr lang="en-US" altLang="zh-TW" sz="2000" dirty="0" smtClean="0"/>
              <a:t>≤</a:t>
            </a:r>
            <a:r>
              <a:rPr lang="en-US" altLang="zh-TW" sz="2000" dirty="0" smtClean="0">
                <a:sym typeface="Wingdings" pitchFamily="2" charset="2"/>
              </a:rPr>
              <a:t> </a:t>
            </a:r>
            <a:r>
              <a:rPr lang="en-US" altLang="zh-TW" sz="2000" dirty="0" smtClean="0"/>
              <a:t>u</a:t>
            </a:r>
            <a:r>
              <a:rPr lang="en-US" altLang="zh-TW" sz="2000" baseline="-25000" dirty="0" smtClean="0"/>
              <a:t>3</a:t>
            </a:r>
            <a:r>
              <a:rPr lang="en-US" altLang="zh-TW" sz="2000" dirty="0" smtClean="0">
                <a:sym typeface="Wingdings" pitchFamily="2" charset="2"/>
              </a:rPr>
              <a:t>) and (</a:t>
            </a:r>
            <a:r>
              <a:rPr lang="en-US" altLang="zh-TW" sz="2000" dirty="0" smtClean="0"/>
              <a:t>4 ≤</a:t>
            </a:r>
            <a:r>
              <a:rPr lang="en-US" altLang="zh-TW" sz="2000" dirty="0" smtClean="0">
                <a:sym typeface="Wingdings" pitchFamily="2" charset="2"/>
              </a:rPr>
              <a:t> 5)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TW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itchFamily="2" charset="2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7643834" y="2000240"/>
          <a:ext cx="1152000" cy="37084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360000"/>
                <a:gridCol w="792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y</a:t>
                      </a:r>
                      <a:r>
                        <a:rPr lang="en-US" altLang="zh-TW" baseline="-25000" dirty="0" smtClean="0"/>
                        <a:t>(0,t]</a:t>
                      </a:r>
                      <a:r>
                        <a:rPr lang="en-US" altLang="zh-TW" dirty="0" smtClean="0"/>
                        <a:t>(a)</a:t>
                      </a:r>
                      <a:endParaRPr lang="zh-TW" altLang="en-US" dirty="0" smtClean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14282" y="2000240"/>
          <a:ext cx="7020000" cy="148336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40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12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13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r>
                        <a:rPr lang="en-US" altLang="zh-TW" baseline="30000" dirty="0" smtClean="0"/>
                        <a:t>-</a:t>
                      </a:r>
                      <a:r>
                        <a:rPr lang="en-US" altLang="zh-TW" dirty="0" smtClean="0"/>
                        <a:t>[t]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B</a:t>
                      </a:r>
                      <a:r>
                        <a:rPr lang="en-US" altLang="zh-TW" baseline="30000" dirty="0" smtClean="0"/>
                        <a:t>-</a:t>
                      </a:r>
                      <a:r>
                        <a:rPr lang="en-US" altLang="zh-TW" dirty="0" smtClean="0"/>
                        <a:t>[t]</a:t>
                      </a:r>
                      <a:endParaRPr lang="zh-TW" altLang="en-US" dirty="0" smtClean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C</a:t>
                      </a:r>
                      <a:r>
                        <a:rPr lang="en-US" altLang="zh-TW" baseline="30000" dirty="0" smtClean="0"/>
                        <a:t>-</a:t>
                      </a:r>
                      <a:r>
                        <a:rPr lang="en-US" altLang="zh-TW" dirty="0" smtClean="0"/>
                        <a:t>[t]</a:t>
                      </a:r>
                      <a:endParaRPr lang="zh-TW" altLang="en-US" dirty="0" smtClean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88992" y="214290"/>
          <a:ext cx="3960000" cy="158496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96000"/>
                <a:gridCol w="396000"/>
                <a:gridCol w="396000"/>
                <a:gridCol w="396000"/>
                <a:gridCol w="396000"/>
                <a:gridCol w="396000"/>
                <a:gridCol w="396000"/>
                <a:gridCol w="396000"/>
                <a:gridCol w="396000"/>
                <a:gridCol w="396000"/>
              </a:tblGrid>
              <a:tr h="392909">
                <a:tc>
                  <a:txBody>
                    <a:bodyPr/>
                    <a:lstStyle/>
                    <a:p>
                      <a:pPr algn="ctr"/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b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b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92909">
                <a:tc>
                  <a:txBody>
                    <a:bodyPr/>
                    <a:lstStyle/>
                    <a:p>
                      <a:pPr algn="ctr"/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0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1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2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3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5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6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7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8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92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b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1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1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2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3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5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6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7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92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5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3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2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1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2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20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內容版面配置區 4"/>
          <p:cNvGraphicFramePr>
            <a:graphicFrameLocks/>
          </p:cNvGraphicFramePr>
          <p:nvPr/>
        </p:nvGraphicFramePr>
        <p:xfrm>
          <a:off x="4430280" y="214290"/>
          <a:ext cx="4428000" cy="1584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540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</a:tblGrid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A[t]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B[t]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C[t]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7643834" y="2000240"/>
          <a:ext cx="1152000" cy="37084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360000"/>
                <a:gridCol w="792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y</a:t>
                      </a:r>
                      <a:r>
                        <a:rPr lang="en-US" altLang="zh-TW" baseline="-25000" dirty="0" smtClean="0"/>
                        <a:t>(0,t]</a:t>
                      </a:r>
                      <a:r>
                        <a:rPr lang="en-US" altLang="zh-TW" dirty="0" smtClean="0"/>
                        <a:t>(a)</a:t>
                      </a:r>
                      <a:endParaRPr lang="zh-TW" altLang="en-US" dirty="0" smtClean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內容版面配置區 2"/>
          <p:cNvSpPr txBox="1">
            <a:spLocks/>
          </p:cNvSpPr>
          <p:nvPr/>
        </p:nvSpPr>
        <p:spPr>
          <a:xfrm>
            <a:off x="214282" y="3571876"/>
            <a:ext cx="7358114" cy="3286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Compute D(2,6)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(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1) Form D(2,5)-1: X</a:t>
            </a:r>
          </a:p>
          <a:p>
            <a:pPr marL="342900" lvl="0" indent="-342900">
              <a:spcBef>
                <a:spcPct val="20000"/>
              </a:spcBef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(2) 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Form D(2,5)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: </a:t>
            </a:r>
            <a:r>
              <a:rPr lang="en-US" altLang="zh-TW" sz="2000" dirty="0" smtClean="0">
                <a:sym typeface="Wingdings" pitchFamily="2" charset="2"/>
              </a:rPr>
              <a:t>D(2,5) = 2 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zh-TW" sz="2000" dirty="0" smtClean="0">
                <a:sym typeface="Wingdings" pitchFamily="2" charset="2"/>
              </a:rPr>
              <a:t>	v</a:t>
            </a:r>
            <a:r>
              <a:rPr lang="en-US" altLang="zh-TW" sz="2000" baseline="-25000" dirty="0" smtClean="0">
                <a:sym typeface="Wingdings" pitchFamily="2" charset="2"/>
              </a:rPr>
              <a:t>1</a:t>
            </a:r>
            <a:r>
              <a:rPr lang="en-US" altLang="zh-TW" sz="2000" dirty="0" smtClean="0">
                <a:sym typeface="Wingdings" pitchFamily="2" charset="2"/>
              </a:rPr>
              <a:t> = 2 + 5 – 4</a:t>
            </a:r>
            <a:r>
              <a:rPr lang="en-US" altLang="zh-TW" sz="2000" baseline="-25000" dirty="0" smtClean="0"/>
              <a:t> </a:t>
            </a:r>
            <a:r>
              <a:rPr lang="en-US" altLang="zh-TW" sz="2000" dirty="0" smtClean="0"/>
              <a:t>= 3;u</a:t>
            </a:r>
            <a:r>
              <a:rPr lang="en-US" altLang="zh-TW" sz="2000" baseline="-25000" dirty="0" smtClean="0"/>
              <a:t>1</a:t>
            </a:r>
            <a:r>
              <a:rPr lang="en-US" altLang="zh-TW" sz="2000" dirty="0" smtClean="0"/>
              <a:t> = A</a:t>
            </a:r>
            <a:r>
              <a:rPr lang="en-US" altLang="zh-TW" sz="2000" baseline="30000" dirty="0" smtClean="0"/>
              <a:t>-</a:t>
            </a:r>
            <a:r>
              <a:rPr lang="en-US" altLang="zh-TW" sz="2000" dirty="0" smtClean="0"/>
              <a:t>[</a:t>
            </a:r>
            <a:r>
              <a:rPr lang="en-US" altLang="zh-TW" sz="2000" dirty="0" smtClean="0">
                <a:sym typeface="Wingdings" pitchFamily="2" charset="2"/>
              </a:rPr>
              <a:t>3</a:t>
            </a:r>
            <a:r>
              <a:rPr lang="en-US" altLang="zh-TW" sz="2000" dirty="0" smtClean="0"/>
              <a:t>] = -1  </a:t>
            </a:r>
            <a:r>
              <a:rPr lang="en-US" altLang="zh-TW" sz="2000" dirty="0" smtClean="0">
                <a:sym typeface="Wingdings" pitchFamily="2" charset="2"/>
              </a:rPr>
              <a:t>if(0 </a:t>
            </a:r>
            <a:r>
              <a:rPr lang="en-US" altLang="zh-TW" sz="2000" dirty="0" smtClean="0"/>
              <a:t>≤</a:t>
            </a:r>
            <a:r>
              <a:rPr lang="en-US" altLang="zh-TW" sz="2000" dirty="0" smtClean="0">
                <a:sym typeface="Wingdings" pitchFamily="2" charset="2"/>
              </a:rPr>
              <a:t> </a:t>
            </a:r>
            <a:r>
              <a:rPr lang="en-US" altLang="zh-TW" sz="2000" dirty="0" smtClean="0"/>
              <a:t>u</a:t>
            </a:r>
            <a:r>
              <a:rPr lang="en-US" altLang="zh-TW" sz="2000" baseline="-25000" dirty="0" smtClean="0"/>
              <a:t>1</a:t>
            </a:r>
            <a:r>
              <a:rPr lang="en-US" altLang="zh-TW" sz="2000" dirty="0" smtClean="0">
                <a:sym typeface="Wingdings" pitchFamily="2" charset="2"/>
              </a:rPr>
              <a:t>)and (5 -</a:t>
            </a:r>
            <a:r>
              <a:rPr lang="en-US" altLang="zh-TW" sz="2000" dirty="0" smtClean="0">
                <a:latin typeface="MT Extra" pitchFamily="18" charset="2"/>
              </a:rPr>
              <a:t> </a:t>
            </a:r>
            <a:r>
              <a:rPr lang="en-US" altLang="zh-TW" sz="2000" dirty="0" smtClean="0"/>
              <a:t>4</a:t>
            </a:r>
            <a:r>
              <a:rPr lang="en-US" altLang="zh-TW" sz="2000" baseline="-25000" dirty="0" smtClean="0"/>
              <a:t> </a:t>
            </a:r>
            <a:r>
              <a:rPr lang="en-US" altLang="zh-TW" sz="2000" dirty="0" smtClean="0"/>
              <a:t>≤</a:t>
            </a:r>
            <a:r>
              <a:rPr lang="en-US" altLang="zh-TW" sz="2000" dirty="0" smtClean="0">
                <a:sym typeface="Wingdings" pitchFamily="2" charset="2"/>
              </a:rPr>
              <a:t> 1) 	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zh-TW" sz="2000" dirty="0" smtClean="0">
                <a:sym typeface="Wingdings" pitchFamily="2" charset="2"/>
              </a:rPr>
              <a:t>	v</a:t>
            </a:r>
            <a:r>
              <a:rPr lang="en-US" altLang="zh-TW" sz="2000" baseline="-25000" dirty="0" smtClean="0">
                <a:sym typeface="Wingdings" pitchFamily="2" charset="2"/>
              </a:rPr>
              <a:t>2</a:t>
            </a:r>
            <a:r>
              <a:rPr lang="en-US" altLang="zh-TW" sz="2000" dirty="0" smtClean="0">
                <a:sym typeface="Wingdings" pitchFamily="2" charset="2"/>
              </a:rPr>
              <a:t> = 2 + 5 – 6 = 1;</a:t>
            </a:r>
            <a:r>
              <a:rPr lang="en-US" altLang="zh-TW" sz="2000" dirty="0" smtClean="0"/>
              <a:t>u</a:t>
            </a:r>
            <a:r>
              <a:rPr lang="en-US" altLang="zh-TW" sz="2000" baseline="-25000" dirty="0" smtClean="0"/>
              <a:t>2</a:t>
            </a:r>
            <a:r>
              <a:rPr lang="en-US" altLang="zh-TW" sz="2000" dirty="0" smtClean="0"/>
              <a:t> = B</a:t>
            </a:r>
            <a:r>
              <a:rPr lang="en-US" altLang="zh-TW" sz="2000" baseline="30000" dirty="0" smtClean="0"/>
              <a:t>-</a:t>
            </a:r>
            <a:r>
              <a:rPr lang="en-US" altLang="zh-TW" sz="2000" dirty="0" smtClean="0"/>
              <a:t>[</a:t>
            </a:r>
            <a:r>
              <a:rPr lang="en-US" altLang="zh-TW" sz="2000" dirty="0" smtClean="0">
                <a:sym typeface="Wingdings" pitchFamily="2" charset="2"/>
              </a:rPr>
              <a:t>1</a:t>
            </a:r>
            <a:r>
              <a:rPr lang="en-US" altLang="zh-TW" sz="2000" dirty="0" smtClean="0"/>
              <a:t>] = 1  </a:t>
            </a:r>
            <a:r>
              <a:rPr lang="en-US" altLang="zh-TW" sz="2000" dirty="0" smtClean="0">
                <a:sym typeface="Wingdings" pitchFamily="2" charset="2"/>
              </a:rPr>
              <a:t>if(0 </a:t>
            </a:r>
            <a:r>
              <a:rPr lang="en-US" altLang="zh-TW" sz="2000" dirty="0" smtClean="0"/>
              <a:t>≤</a:t>
            </a:r>
            <a:r>
              <a:rPr lang="en-US" altLang="zh-TW" sz="2000" dirty="0" smtClean="0">
                <a:sym typeface="Wingdings" pitchFamily="2" charset="2"/>
              </a:rPr>
              <a:t> </a:t>
            </a:r>
            <a:r>
              <a:rPr lang="en-US" altLang="zh-TW" sz="2000" dirty="0" smtClean="0"/>
              <a:t>u</a:t>
            </a:r>
            <a:r>
              <a:rPr lang="en-US" altLang="zh-TW" sz="2000" baseline="-25000" dirty="0" smtClean="0"/>
              <a:t>2</a:t>
            </a:r>
            <a:r>
              <a:rPr lang="en-US" altLang="zh-TW" sz="2000" dirty="0" smtClean="0">
                <a:sym typeface="Wingdings" pitchFamily="2" charset="2"/>
              </a:rPr>
              <a:t>) and (4 </a:t>
            </a:r>
            <a:r>
              <a:rPr lang="en-US" altLang="zh-TW" sz="2000" dirty="0" smtClean="0"/>
              <a:t>≤</a:t>
            </a:r>
            <a:r>
              <a:rPr lang="en-US" altLang="zh-TW" sz="2000" dirty="0" smtClean="0">
                <a:latin typeface="MT Extra" pitchFamily="18" charset="2"/>
              </a:rPr>
              <a:t> </a:t>
            </a:r>
            <a:r>
              <a:rPr lang="en-US" altLang="zh-TW" sz="2000" dirty="0" smtClean="0"/>
              <a:t>4 )True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altLang="zh-TW" sz="2000" dirty="0" smtClean="0">
                <a:sym typeface="Wingdings" pitchFamily="2" charset="2"/>
              </a:rPr>
              <a:t>	v</a:t>
            </a:r>
            <a:r>
              <a:rPr lang="en-US" altLang="zh-TW" sz="2000" baseline="-25000" dirty="0" smtClean="0">
                <a:sym typeface="Wingdings" pitchFamily="2" charset="2"/>
              </a:rPr>
              <a:t>3</a:t>
            </a:r>
            <a:r>
              <a:rPr lang="en-US" altLang="zh-TW" sz="2000" dirty="0" smtClean="0">
                <a:sym typeface="Wingdings" pitchFamily="2" charset="2"/>
              </a:rPr>
              <a:t> = 2 – 6 + 4 = 0;</a:t>
            </a:r>
            <a:r>
              <a:rPr lang="en-US" altLang="zh-TW" sz="2000" dirty="0" smtClean="0"/>
              <a:t>u</a:t>
            </a:r>
            <a:r>
              <a:rPr lang="en-US" altLang="zh-TW" sz="2000" baseline="-25000" dirty="0" smtClean="0"/>
              <a:t>3</a:t>
            </a:r>
            <a:r>
              <a:rPr lang="en-US" altLang="zh-TW" sz="2000" dirty="0" smtClean="0"/>
              <a:t> = C</a:t>
            </a:r>
            <a:r>
              <a:rPr lang="en-US" altLang="zh-TW" sz="2000" baseline="30000" dirty="0" smtClean="0"/>
              <a:t>-</a:t>
            </a:r>
            <a:r>
              <a:rPr lang="en-US" altLang="zh-TW" sz="2000" dirty="0" smtClean="0"/>
              <a:t>[</a:t>
            </a:r>
            <a:r>
              <a:rPr lang="en-US" altLang="zh-TW" sz="2000" dirty="0" smtClean="0">
                <a:sym typeface="Wingdings" pitchFamily="2" charset="2"/>
              </a:rPr>
              <a:t>0</a:t>
            </a:r>
            <a:r>
              <a:rPr lang="en-US" altLang="zh-TW" sz="2000" dirty="0" smtClean="0"/>
              <a:t>]</a:t>
            </a:r>
            <a:r>
              <a:rPr lang="en-US" altLang="zh-TW" sz="2000" dirty="0" smtClean="0">
                <a:sym typeface="Wingdings" pitchFamily="2" charset="2"/>
              </a:rPr>
              <a:t> = 1  if(0 </a:t>
            </a:r>
            <a:r>
              <a:rPr lang="en-US" altLang="zh-TW" sz="2000" dirty="0" smtClean="0"/>
              <a:t>≤</a:t>
            </a:r>
            <a:r>
              <a:rPr lang="en-US" altLang="zh-TW" sz="2000" dirty="0" smtClean="0">
                <a:sym typeface="Wingdings" pitchFamily="2" charset="2"/>
              </a:rPr>
              <a:t> </a:t>
            </a:r>
            <a:r>
              <a:rPr lang="en-US" altLang="zh-TW" sz="2000" dirty="0" smtClean="0"/>
              <a:t>u</a:t>
            </a:r>
            <a:r>
              <a:rPr lang="en-US" altLang="zh-TW" sz="2000" baseline="-25000" dirty="0" smtClean="0"/>
              <a:t>3</a:t>
            </a:r>
            <a:r>
              <a:rPr lang="en-US" altLang="zh-TW" sz="2000" dirty="0" smtClean="0">
                <a:sym typeface="Wingdings" pitchFamily="2" charset="2"/>
              </a:rPr>
              <a:t>) and (</a:t>
            </a:r>
            <a:r>
              <a:rPr lang="en-US" altLang="zh-TW" sz="2000" dirty="0" smtClean="0"/>
              <a:t>4 ≤</a:t>
            </a:r>
            <a:r>
              <a:rPr lang="en-US" altLang="zh-TW" sz="2000" dirty="0" smtClean="0">
                <a:sym typeface="Wingdings" pitchFamily="2" charset="2"/>
              </a:rPr>
              <a:t> 4) </a:t>
            </a:r>
            <a:r>
              <a:rPr lang="en-US" altLang="zh-TW" sz="2000" dirty="0" smtClean="0"/>
              <a:t>True</a:t>
            </a:r>
            <a:endParaRPr kumimoji="0" lang="en-US" altLang="zh-TW" sz="20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  <a:sym typeface="Wingdings" pitchFamily="2" charset="2"/>
            </a:endParaRPr>
          </a:p>
          <a:p>
            <a:pPr marL="342900" indent="-342900">
              <a:spcBef>
                <a:spcPct val="20000"/>
              </a:spcBef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(3) Form D(2,5</a:t>
            </a:r>
            <a:r>
              <a:rPr lang="en-US" altLang="zh-TW" sz="2000" dirty="0" smtClean="0">
                <a:sym typeface="Wingdings" pitchFamily="2" charset="2"/>
              </a:rPr>
              <a:t>)+1:X</a:t>
            </a:r>
            <a:endParaRPr kumimoji="0" lang="en-US" altLang="zh-TW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itchFamily="2" charset="2"/>
            </a:endParaRPr>
          </a:p>
          <a:p>
            <a:pPr marL="342900" lvl="0" indent="-342900">
              <a:spcBef>
                <a:spcPct val="20000"/>
              </a:spcBef>
            </a:pPr>
            <a:r>
              <a:rPr lang="en-US" altLang="zh-TW" sz="2000" dirty="0" smtClean="0">
                <a:sym typeface="Wingdings" pitchFamily="2" charset="2"/>
              </a:rPr>
              <a:t>	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TW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itchFamily="2" charset="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14282" y="2000240"/>
          <a:ext cx="7020000" cy="148336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40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12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13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r>
                        <a:rPr lang="en-US" altLang="zh-TW" baseline="30000" dirty="0" smtClean="0"/>
                        <a:t>-</a:t>
                      </a:r>
                      <a:r>
                        <a:rPr lang="en-US" altLang="zh-TW" dirty="0" smtClean="0"/>
                        <a:t>[t]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B</a:t>
                      </a:r>
                      <a:r>
                        <a:rPr lang="en-US" altLang="zh-TW" baseline="30000" dirty="0" smtClean="0"/>
                        <a:t>-</a:t>
                      </a:r>
                      <a:r>
                        <a:rPr lang="en-US" altLang="zh-TW" dirty="0" smtClean="0"/>
                        <a:t>[t]</a:t>
                      </a:r>
                      <a:endParaRPr lang="zh-TW" altLang="en-US" dirty="0" smtClean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C</a:t>
                      </a:r>
                      <a:r>
                        <a:rPr lang="en-US" altLang="zh-TW" baseline="30000" dirty="0" smtClean="0"/>
                        <a:t>-</a:t>
                      </a:r>
                      <a:r>
                        <a:rPr lang="en-US" altLang="zh-TW" dirty="0" smtClean="0"/>
                        <a:t>[t]</a:t>
                      </a:r>
                      <a:endParaRPr lang="zh-TW" altLang="en-US" dirty="0" smtClean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88992" y="214290"/>
          <a:ext cx="3960000" cy="158496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96000"/>
                <a:gridCol w="396000"/>
                <a:gridCol w="396000"/>
                <a:gridCol w="396000"/>
                <a:gridCol w="396000"/>
                <a:gridCol w="396000"/>
                <a:gridCol w="396000"/>
                <a:gridCol w="396000"/>
                <a:gridCol w="396000"/>
                <a:gridCol w="396000"/>
              </a:tblGrid>
              <a:tr h="392909">
                <a:tc>
                  <a:txBody>
                    <a:bodyPr/>
                    <a:lstStyle/>
                    <a:p>
                      <a:pPr algn="ctr"/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b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b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92909">
                <a:tc>
                  <a:txBody>
                    <a:bodyPr/>
                    <a:lstStyle/>
                    <a:p>
                      <a:pPr algn="ctr"/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0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1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2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3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5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6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7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8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92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b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1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1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2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3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5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6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7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92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5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3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2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1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2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2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20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內容版面配置區 4"/>
          <p:cNvGraphicFramePr>
            <a:graphicFrameLocks/>
          </p:cNvGraphicFramePr>
          <p:nvPr/>
        </p:nvGraphicFramePr>
        <p:xfrm>
          <a:off x="4430280" y="214290"/>
          <a:ext cx="4428000" cy="1584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540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</a:tblGrid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A[t]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B[t]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C[t]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7643834" y="2000240"/>
          <a:ext cx="1152000" cy="37084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360000"/>
                <a:gridCol w="792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y</a:t>
                      </a:r>
                      <a:r>
                        <a:rPr lang="en-US" altLang="zh-TW" baseline="-25000" dirty="0" smtClean="0"/>
                        <a:t>(0,t]</a:t>
                      </a:r>
                      <a:r>
                        <a:rPr lang="en-US" altLang="zh-TW" dirty="0" smtClean="0"/>
                        <a:t>(a)</a:t>
                      </a:r>
                      <a:endParaRPr lang="zh-TW" altLang="en-US" dirty="0" smtClean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內容版面配置區 2"/>
          <p:cNvSpPr txBox="1">
            <a:spLocks/>
          </p:cNvSpPr>
          <p:nvPr/>
        </p:nvSpPr>
        <p:spPr>
          <a:xfrm>
            <a:off x="214282" y="3571876"/>
            <a:ext cx="7358114" cy="328612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Compute D(2,7)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(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1) Form D(2,6)-1: X</a:t>
            </a:r>
          </a:p>
          <a:p>
            <a:pPr marL="342900" lvl="0" indent="-342900">
              <a:spcBef>
                <a:spcPct val="20000"/>
              </a:spcBef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(2) Form D(2,6):</a:t>
            </a:r>
            <a:r>
              <a:rPr lang="en-US" altLang="zh-TW" sz="2000" dirty="0" smtClean="0">
                <a:sym typeface="Wingdings" pitchFamily="2" charset="2"/>
              </a:rPr>
              <a:t>X</a:t>
            </a:r>
          </a:p>
          <a:p>
            <a:pPr marL="342900" lvl="0" indent="-342900">
              <a:spcBef>
                <a:spcPct val="20000"/>
              </a:spcBef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(3) 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Form D(2,6</a:t>
            </a:r>
            <a:r>
              <a:rPr lang="en-US" altLang="zh-TW" sz="2000" dirty="0" smtClean="0">
                <a:solidFill>
                  <a:srgbClr val="FF0000"/>
                </a:solidFill>
                <a:sym typeface="Wingdings" pitchFamily="2" charset="2"/>
              </a:rPr>
              <a:t>)+1</a:t>
            </a:r>
            <a:r>
              <a:rPr lang="en-US" altLang="zh-TW" sz="2000" dirty="0" smtClean="0">
                <a:sym typeface="Wingdings" pitchFamily="2" charset="2"/>
              </a:rPr>
              <a:t>: D(2,6) = 2  D(2,6)+1 = 3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zh-TW" sz="2000" dirty="0" smtClean="0">
                <a:sym typeface="Wingdings" pitchFamily="2" charset="2"/>
              </a:rPr>
              <a:t>	v</a:t>
            </a:r>
            <a:r>
              <a:rPr lang="en-US" altLang="zh-TW" sz="2000" baseline="-25000" dirty="0" smtClean="0">
                <a:sym typeface="Wingdings" pitchFamily="2" charset="2"/>
              </a:rPr>
              <a:t>1</a:t>
            </a:r>
            <a:r>
              <a:rPr lang="en-US" altLang="zh-TW" sz="2000" dirty="0" smtClean="0">
                <a:sym typeface="Wingdings" pitchFamily="2" charset="2"/>
              </a:rPr>
              <a:t> = 3 + 5 – 4</a:t>
            </a:r>
            <a:r>
              <a:rPr lang="en-US" altLang="zh-TW" sz="2000" baseline="-25000" dirty="0" smtClean="0"/>
              <a:t> </a:t>
            </a:r>
            <a:r>
              <a:rPr lang="en-US" altLang="zh-TW" sz="2000" dirty="0" smtClean="0"/>
              <a:t>= 4;u</a:t>
            </a:r>
            <a:r>
              <a:rPr lang="en-US" altLang="zh-TW" sz="2000" baseline="-25000" dirty="0" smtClean="0"/>
              <a:t>1</a:t>
            </a:r>
            <a:r>
              <a:rPr lang="en-US" altLang="zh-TW" sz="2000" dirty="0" smtClean="0"/>
              <a:t> = A</a:t>
            </a:r>
            <a:r>
              <a:rPr lang="en-US" altLang="zh-TW" sz="2000" baseline="30000" dirty="0" smtClean="0"/>
              <a:t>-</a:t>
            </a:r>
            <a:r>
              <a:rPr lang="en-US" altLang="zh-TW" sz="2000" dirty="0" smtClean="0"/>
              <a:t>[</a:t>
            </a:r>
            <a:r>
              <a:rPr lang="en-US" altLang="zh-TW" sz="2000" dirty="0" smtClean="0">
                <a:sym typeface="Wingdings" pitchFamily="2" charset="2"/>
              </a:rPr>
              <a:t>4</a:t>
            </a:r>
            <a:r>
              <a:rPr lang="en-US" altLang="zh-TW" sz="2000" dirty="0" smtClean="0"/>
              <a:t>] = 2  </a:t>
            </a:r>
            <a:r>
              <a:rPr lang="en-US" altLang="zh-TW" sz="2000" dirty="0" smtClean="0">
                <a:sym typeface="Wingdings" pitchFamily="2" charset="2"/>
              </a:rPr>
              <a:t>if(0 </a:t>
            </a:r>
            <a:r>
              <a:rPr lang="en-US" altLang="zh-TW" sz="2000" dirty="0" smtClean="0"/>
              <a:t>≤</a:t>
            </a:r>
            <a:r>
              <a:rPr lang="en-US" altLang="zh-TW" sz="2000" dirty="0" smtClean="0">
                <a:sym typeface="Wingdings" pitchFamily="2" charset="2"/>
              </a:rPr>
              <a:t> </a:t>
            </a:r>
            <a:r>
              <a:rPr lang="en-US" altLang="zh-TW" sz="2000" dirty="0" smtClean="0"/>
              <a:t>u</a:t>
            </a:r>
            <a:r>
              <a:rPr lang="en-US" altLang="zh-TW" sz="2000" baseline="-25000" dirty="0" smtClean="0"/>
              <a:t>1</a:t>
            </a:r>
            <a:r>
              <a:rPr lang="en-US" altLang="zh-TW" sz="2000" dirty="0" smtClean="0">
                <a:sym typeface="Wingdings" pitchFamily="2" charset="2"/>
              </a:rPr>
              <a:t>)and (7 -</a:t>
            </a:r>
            <a:r>
              <a:rPr lang="en-US" altLang="zh-TW" sz="2000" dirty="0" smtClean="0">
                <a:latin typeface="MT Extra" pitchFamily="18" charset="2"/>
              </a:rPr>
              <a:t> </a:t>
            </a:r>
            <a:r>
              <a:rPr lang="en-US" altLang="zh-TW" sz="2000" dirty="0" smtClean="0"/>
              <a:t>4</a:t>
            </a:r>
            <a:r>
              <a:rPr lang="en-US" altLang="zh-TW" sz="2000" baseline="-25000" dirty="0" smtClean="0"/>
              <a:t> </a:t>
            </a:r>
            <a:r>
              <a:rPr lang="en-US" altLang="zh-TW" sz="2000" dirty="0" smtClean="0"/>
              <a:t>≤</a:t>
            </a:r>
            <a:r>
              <a:rPr lang="en-US" altLang="zh-TW" sz="2000" dirty="0" smtClean="0">
                <a:sym typeface="Wingdings" pitchFamily="2" charset="2"/>
              </a:rPr>
              <a:t> 1) 	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zh-TW" sz="2000" dirty="0" smtClean="0">
                <a:sym typeface="Wingdings" pitchFamily="2" charset="2"/>
              </a:rPr>
              <a:t>	v</a:t>
            </a:r>
            <a:r>
              <a:rPr lang="en-US" altLang="zh-TW" sz="2000" baseline="-25000" dirty="0" smtClean="0">
                <a:sym typeface="Wingdings" pitchFamily="2" charset="2"/>
              </a:rPr>
              <a:t>2</a:t>
            </a:r>
            <a:r>
              <a:rPr lang="en-US" altLang="zh-TW" sz="2000" dirty="0" smtClean="0">
                <a:sym typeface="Wingdings" pitchFamily="2" charset="2"/>
              </a:rPr>
              <a:t> = 3 + 5 – 7 = 1;</a:t>
            </a:r>
            <a:r>
              <a:rPr lang="en-US" altLang="zh-TW" sz="2000" dirty="0" smtClean="0"/>
              <a:t>u</a:t>
            </a:r>
            <a:r>
              <a:rPr lang="en-US" altLang="zh-TW" sz="2000" baseline="-25000" dirty="0" smtClean="0"/>
              <a:t>2</a:t>
            </a:r>
            <a:r>
              <a:rPr lang="en-US" altLang="zh-TW" sz="2000" dirty="0" smtClean="0"/>
              <a:t> = B</a:t>
            </a:r>
            <a:r>
              <a:rPr lang="en-US" altLang="zh-TW" sz="2000" baseline="30000" dirty="0" smtClean="0"/>
              <a:t>-</a:t>
            </a:r>
            <a:r>
              <a:rPr lang="en-US" altLang="zh-TW" sz="2000" dirty="0" smtClean="0"/>
              <a:t>[</a:t>
            </a:r>
            <a:r>
              <a:rPr lang="en-US" altLang="zh-TW" sz="2000" dirty="0" smtClean="0">
                <a:sym typeface="Wingdings" pitchFamily="2" charset="2"/>
              </a:rPr>
              <a:t>1</a:t>
            </a:r>
            <a:r>
              <a:rPr lang="en-US" altLang="zh-TW" sz="2000" dirty="0" smtClean="0"/>
              <a:t>] = 1  </a:t>
            </a:r>
            <a:r>
              <a:rPr lang="en-US" altLang="zh-TW" sz="2000" dirty="0" smtClean="0">
                <a:sym typeface="Wingdings" pitchFamily="2" charset="2"/>
              </a:rPr>
              <a:t>if(0 </a:t>
            </a:r>
            <a:r>
              <a:rPr lang="en-US" altLang="zh-TW" sz="2000" dirty="0" smtClean="0"/>
              <a:t>≤</a:t>
            </a:r>
            <a:r>
              <a:rPr lang="en-US" altLang="zh-TW" sz="2000" dirty="0" smtClean="0">
                <a:sym typeface="Wingdings" pitchFamily="2" charset="2"/>
              </a:rPr>
              <a:t> </a:t>
            </a:r>
            <a:r>
              <a:rPr lang="en-US" altLang="zh-TW" sz="2000" dirty="0" smtClean="0"/>
              <a:t>u</a:t>
            </a:r>
            <a:r>
              <a:rPr lang="en-US" altLang="zh-TW" sz="2000" baseline="-25000" dirty="0" smtClean="0"/>
              <a:t>2</a:t>
            </a:r>
            <a:r>
              <a:rPr lang="en-US" altLang="zh-TW" sz="2000" dirty="0" smtClean="0">
                <a:sym typeface="Wingdings" pitchFamily="2" charset="2"/>
              </a:rPr>
              <a:t>) and (4 </a:t>
            </a:r>
            <a:r>
              <a:rPr lang="en-US" altLang="zh-TW" sz="2000" dirty="0" smtClean="0"/>
              <a:t>≤</a:t>
            </a:r>
            <a:r>
              <a:rPr lang="en-US" altLang="zh-TW" sz="2000" dirty="0" smtClean="0">
                <a:latin typeface="MT Extra" pitchFamily="18" charset="2"/>
              </a:rPr>
              <a:t> </a:t>
            </a:r>
            <a:r>
              <a:rPr lang="en-US" altLang="zh-TW" sz="2000" dirty="0" smtClean="0"/>
              <a:t>4 )True</a:t>
            </a:r>
          </a:p>
          <a:p>
            <a:pPr marL="342900" lvl="0" indent="-342900">
              <a:spcBef>
                <a:spcPct val="20000"/>
              </a:spcBef>
              <a:defRPr/>
            </a:pPr>
            <a:r>
              <a:rPr lang="en-US" altLang="zh-TW" sz="2000" dirty="0" smtClean="0">
                <a:sym typeface="Wingdings" pitchFamily="2" charset="2"/>
              </a:rPr>
              <a:t>	v</a:t>
            </a:r>
            <a:r>
              <a:rPr lang="en-US" altLang="zh-TW" sz="2000" baseline="-25000" dirty="0" smtClean="0">
                <a:sym typeface="Wingdings" pitchFamily="2" charset="2"/>
              </a:rPr>
              <a:t>3</a:t>
            </a:r>
            <a:r>
              <a:rPr lang="en-US" altLang="zh-TW" sz="2000" dirty="0" smtClean="0">
                <a:sym typeface="Wingdings" pitchFamily="2" charset="2"/>
              </a:rPr>
              <a:t> = 3 – 7 + 4 = 0;</a:t>
            </a:r>
            <a:r>
              <a:rPr lang="en-US" altLang="zh-TW" sz="2000" dirty="0" smtClean="0"/>
              <a:t>u</a:t>
            </a:r>
            <a:r>
              <a:rPr lang="en-US" altLang="zh-TW" sz="2000" baseline="-25000" dirty="0" smtClean="0"/>
              <a:t>3</a:t>
            </a:r>
            <a:r>
              <a:rPr lang="en-US" altLang="zh-TW" sz="2000" dirty="0" smtClean="0"/>
              <a:t> = C</a:t>
            </a:r>
            <a:r>
              <a:rPr lang="en-US" altLang="zh-TW" sz="2000" baseline="30000" dirty="0" smtClean="0"/>
              <a:t>-</a:t>
            </a:r>
            <a:r>
              <a:rPr lang="en-US" altLang="zh-TW" sz="2000" dirty="0" smtClean="0"/>
              <a:t>[</a:t>
            </a:r>
            <a:r>
              <a:rPr lang="en-US" altLang="zh-TW" sz="2000" dirty="0" smtClean="0">
                <a:sym typeface="Wingdings" pitchFamily="2" charset="2"/>
              </a:rPr>
              <a:t>0</a:t>
            </a:r>
            <a:r>
              <a:rPr lang="en-US" altLang="zh-TW" sz="2000" dirty="0" smtClean="0"/>
              <a:t>]</a:t>
            </a:r>
            <a:r>
              <a:rPr lang="en-US" altLang="zh-TW" sz="2000" dirty="0" smtClean="0">
                <a:sym typeface="Wingdings" pitchFamily="2" charset="2"/>
              </a:rPr>
              <a:t> = 1  if(0 </a:t>
            </a:r>
            <a:r>
              <a:rPr lang="en-US" altLang="zh-TW" sz="2000" dirty="0" smtClean="0"/>
              <a:t>≤</a:t>
            </a:r>
            <a:r>
              <a:rPr lang="en-US" altLang="zh-TW" sz="2000" dirty="0" smtClean="0">
                <a:sym typeface="Wingdings" pitchFamily="2" charset="2"/>
              </a:rPr>
              <a:t> </a:t>
            </a:r>
            <a:r>
              <a:rPr lang="en-US" altLang="zh-TW" sz="2000" dirty="0" smtClean="0"/>
              <a:t>u</a:t>
            </a:r>
            <a:r>
              <a:rPr lang="en-US" altLang="zh-TW" sz="2000" baseline="-25000" dirty="0" smtClean="0"/>
              <a:t>3</a:t>
            </a:r>
            <a:r>
              <a:rPr lang="en-US" altLang="zh-TW" sz="2000" dirty="0" smtClean="0">
                <a:sym typeface="Wingdings" pitchFamily="2" charset="2"/>
              </a:rPr>
              <a:t>) and (</a:t>
            </a:r>
            <a:r>
              <a:rPr lang="en-US" altLang="zh-TW" sz="2000" dirty="0" smtClean="0"/>
              <a:t>4 ≤</a:t>
            </a:r>
            <a:r>
              <a:rPr lang="en-US" altLang="zh-TW" sz="2000" dirty="0" smtClean="0">
                <a:sym typeface="Wingdings" pitchFamily="2" charset="2"/>
              </a:rPr>
              <a:t> 4) </a:t>
            </a:r>
          </a:p>
          <a:p>
            <a:pPr marL="342900" lvl="0" indent="-342900">
              <a:spcBef>
                <a:spcPct val="20000"/>
              </a:spcBef>
            </a:pPr>
            <a:endParaRPr kumimoji="0" lang="en-US" altLang="zh-TW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itchFamily="2" charset="2"/>
            </a:endParaRPr>
          </a:p>
          <a:p>
            <a:pPr marL="342900" lvl="0" indent="-342900">
              <a:spcBef>
                <a:spcPct val="20000"/>
              </a:spcBef>
            </a:pPr>
            <a:r>
              <a:rPr lang="en-US" altLang="zh-TW" sz="2000" dirty="0" smtClean="0">
                <a:sym typeface="Wingdings" pitchFamily="2" charset="2"/>
              </a:rPr>
              <a:t>	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TW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itchFamily="2" charset="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14282" y="2000240"/>
          <a:ext cx="7020000" cy="148336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40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12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13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r>
                        <a:rPr lang="en-US" altLang="zh-TW" baseline="30000" dirty="0" smtClean="0"/>
                        <a:t>-</a:t>
                      </a:r>
                      <a:r>
                        <a:rPr lang="en-US" altLang="zh-TW" dirty="0" smtClean="0"/>
                        <a:t>[t]</a:t>
                      </a:r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B</a:t>
                      </a:r>
                      <a:r>
                        <a:rPr lang="en-US" altLang="zh-TW" baseline="30000" dirty="0" smtClean="0"/>
                        <a:t>-</a:t>
                      </a:r>
                      <a:r>
                        <a:rPr lang="en-US" altLang="zh-TW" dirty="0" smtClean="0"/>
                        <a:t>[t]</a:t>
                      </a:r>
                      <a:endParaRPr lang="zh-TW" altLang="en-US" dirty="0" smtClean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C</a:t>
                      </a:r>
                      <a:r>
                        <a:rPr lang="en-US" altLang="zh-TW" baseline="30000" dirty="0" smtClean="0"/>
                        <a:t>-</a:t>
                      </a:r>
                      <a:r>
                        <a:rPr lang="en-US" altLang="zh-TW" dirty="0" smtClean="0"/>
                        <a:t>[t]</a:t>
                      </a:r>
                      <a:endParaRPr lang="zh-TW" altLang="en-US" dirty="0" smtClean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88992" y="214290"/>
          <a:ext cx="3960000" cy="158496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96000"/>
                <a:gridCol w="396000"/>
                <a:gridCol w="396000"/>
                <a:gridCol w="396000"/>
                <a:gridCol w="396000"/>
                <a:gridCol w="396000"/>
                <a:gridCol w="396000"/>
                <a:gridCol w="396000"/>
                <a:gridCol w="396000"/>
                <a:gridCol w="396000"/>
              </a:tblGrid>
              <a:tr h="392909">
                <a:tc>
                  <a:txBody>
                    <a:bodyPr/>
                    <a:lstStyle/>
                    <a:p>
                      <a:pPr algn="ctr"/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b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b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92909">
                <a:tc>
                  <a:txBody>
                    <a:bodyPr/>
                    <a:lstStyle/>
                    <a:p>
                      <a:pPr algn="ctr"/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0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1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2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3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5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6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7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8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92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b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1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1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2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3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5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6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7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92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/>
                        <a:t>a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5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3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2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1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2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2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3</a:t>
                      </a:r>
                      <a:endParaRPr lang="zh-TW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20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內容版面配置區 4"/>
          <p:cNvGraphicFramePr>
            <a:graphicFrameLocks/>
          </p:cNvGraphicFramePr>
          <p:nvPr/>
        </p:nvGraphicFramePr>
        <p:xfrm>
          <a:off x="4430280" y="214290"/>
          <a:ext cx="4428000" cy="1584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540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</a:tblGrid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A[t]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B[t]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C[t]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7643834" y="2000240"/>
          <a:ext cx="1152000" cy="37084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360000"/>
                <a:gridCol w="792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y</a:t>
                      </a:r>
                      <a:r>
                        <a:rPr lang="en-US" altLang="zh-TW" baseline="-25000" dirty="0" smtClean="0"/>
                        <a:t>(0,t]</a:t>
                      </a:r>
                      <a:r>
                        <a:rPr lang="en-US" altLang="zh-TW" dirty="0" smtClean="0"/>
                        <a:t>(a)</a:t>
                      </a:r>
                      <a:endParaRPr lang="zh-TW" altLang="en-US" dirty="0" smtClean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內容版面配置區 2"/>
          <p:cNvSpPr txBox="1">
            <a:spLocks/>
          </p:cNvSpPr>
          <p:nvPr/>
        </p:nvSpPr>
        <p:spPr>
          <a:xfrm>
            <a:off x="214282" y="3571876"/>
            <a:ext cx="7358114" cy="328612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Compute D(2,8)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(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1) Form D(2,7)-1: X</a:t>
            </a:r>
          </a:p>
          <a:p>
            <a:pPr marL="342900" lvl="0" indent="-342900">
              <a:spcBef>
                <a:spcPct val="20000"/>
              </a:spcBef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(2) Form D(2,7):</a:t>
            </a:r>
            <a:r>
              <a:rPr lang="en-US" altLang="zh-TW" sz="2000" dirty="0" smtClean="0">
                <a:sym typeface="Wingdings" pitchFamily="2" charset="2"/>
              </a:rPr>
              <a:t>X</a:t>
            </a:r>
          </a:p>
          <a:p>
            <a:pPr marL="342900" lvl="0" indent="-342900">
              <a:spcBef>
                <a:spcPct val="20000"/>
              </a:spcBef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(3) 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Form D(2,7</a:t>
            </a:r>
            <a:r>
              <a:rPr lang="en-US" altLang="zh-TW" sz="2000" dirty="0" smtClean="0">
                <a:solidFill>
                  <a:srgbClr val="FF0000"/>
                </a:solidFill>
                <a:sym typeface="Wingdings" pitchFamily="2" charset="2"/>
              </a:rPr>
              <a:t>)+1</a:t>
            </a:r>
            <a:r>
              <a:rPr lang="en-US" altLang="zh-TW" sz="2000" dirty="0" smtClean="0">
                <a:sym typeface="Wingdings" pitchFamily="2" charset="2"/>
              </a:rPr>
              <a:t>: D(2,7) = 3  D(2,7)+1 = 4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zh-TW" sz="2000" dirty="0" smtClean="0">
                <a:sym typeface="Wingdings" pitchFamily="2" charset="2"/>
              </a:rPr>
              <a:t>	v</a:t>
            </a:r>
            <a:r>
              <a:rPr lang="en-US" altLang="zh-TW" sz="2000" baseline="-25000" dirty="0" smtClean="0">
                <a:sym typeface="Wingdings" pitchFamily="2" charset="2"/>
              </a:rPr>
              <a:t>1</a:t>
            </a:r>
            <a:r>
              <a:rPr lang="en-US" altLang="zh-TW" sz="2000" dirty="0" smtClean="0">
                <a:sym typeface="Wingdings" pitchFamily="2" charset="2"/>
              </a:rPr>
              <a:t> = 4 + 6 – 4</a:t>
            </a:r>
            <a:r>
              <a:rPr lang="en-US" altLang="zh-TW" sz="2000" baseline="-25000" dirty="0" smtClean="0"/>
              <a:t> </a:t>
            </a:r>
            <a:r>
              <a:rPr lang="en-US" altLang="zh-TW" sz="2000" dirty="0" smtClean="0"/>
              <a:t>= 6;u</a:t>
            </a:r>
            <a:r>
              <a:rPr lang="en-US" altLang="zh-TW" sz="2000" baseline="-25000" dirty="0" smtClean="0"/>
              <a:t>1</a:t>
            </a:r>
            <a:r>
              <a:rPr lang="en-US" altLang="zh-TW" sz="2000" dirty="0" smtClean="0"/>
              <a:t> = A</a:t>
            </a:r>
            <a:r>
              <a:rPr lang="en-US" altLang="zh-TW" sz="2000" baseline="30000" dirty="0" smtClean="0"/>
              <a:t>-</a:t>
            </a:r>
            <a:r>
              <a:rPr lang="en-US" altLang="zh-TW" sz="2000" dirty="0" smtClean="0"/>
              <a:t>[</a:t>
            </a:r>
            <a:r>
              <a:rPr lang="en-US" altLang="zh-TW" sz="2000" dirty="0" smtClean="0">
                <a:sym typeface="Wingdings" pitchFamily="2" charset="2"/>
              </a:rPr>
              <a:t>6</a:t>
            </a:r>
            <a:r>
              <a:rPr lang="en-US" altLang="zh-TW" sz="2000" dirty="0" smtClean="0"/>
              <a:t>] = 3  </a:t>
            </a:r>
            <a:r>
              <a:rPr lang="en-US" altLang="zh-TW" sz="2000" dirty="0" smtClean="0">
                <a:sym typeface="Wingdings" pitchFamily="2" charset="2"/>
              </a:rPr>
              <a:t>if(0 </a:t>
            </a:r>
            <a:r>
              <a:rPr lang="en-US" altLang="zh-TW" sz="2000" dirty="0" smtClean="0"/>
              <a:t>≤</a:t>
            </a:r>
            <a:r>
              <a:rPr lang="en-US" altLang="zh-TW" sz="2000" dirty="0" smtClean="0">
                <a:sym typeface="Wingdings" pitchFamily="2" charset="2"/>
              </a:rPr>
              <a:t> </a:t>
            </a:r>
            <a:r>
              <a:rPr lang="en-US" altLang="zh-TW" sz="2000" dirty="0" smtClean="0"/>
              <a:t>u</a:t>
            </a:r>
            <a:r>
              <a:rPr lang="en-US" altLang="zh-TW" sz="2000" baseline="-25000" dirty="0" smtClean="0"/>
              <a:t>1</a:t>
            </a:r>
            <a:r>
              <a:rPr lang="en-US" altLang="zh-TW" sz="2000" dirty="0" smtClean="0">
                <a:sym typeface="Wingdings" pitchFamily="2" charset="2"/>
              </a:rPr>
              <a:t>)and (8 -</a:t>
            </a:r>
            <a:r>
              <a:rPr lang="en-US" altLang="zh-TW" sz="2000" dirty="0" smtClean="0">
                <a:latin typeface="MT Extra" pitchFamily="18" charset="2"/>
              </a:rPr>
              <a:t> </a:t>
            </a:r>
            <a:r>
              <a:rPr lang="en-US" altLang="zh-TW" sz="2000" dirty="0" smtClean="0"/>
              <a:t>4</a:t>
            </a:r>
            <a:r>
              <a:rPr lang="en-US" altLang="zh-TW" sz="2000" baseline="-25000" dirty="0" smtClean="0"/>
              <a:t> </a:t>
            </a:r>
            <a:r>
              <a:rPr lang="en-US" altLang="zh-TW" sz="2000" dirty="0" smtClean="0"/>
              <a:t>≤</a:t>
            </a:r>
            <a:r>
              <a:rPr lang="en-US" altLang="zh-TW" sz="2000" dirty="0" smtClean="0">
                <a:sym typeface="Wingdings" pitchFamily="2" charset="2"/>
              </a:rPr>
              <a:t> 1) 	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zh-TW" sz="2000" dirty="0" smtClean="0">
                <a:sym typeface="Wingdings" pitchFamily="2" charset="2"/>
              </a:rPr>
              <a:t>	v</a:t>
            </a:r>
            <a:r>
              <a:rPr lang="en-US" altLang="zh-TW" sz="2000" baseline="-25000" dirty="0" smtClean="0">
                <a:sym typeface="Wingdings" pitchFamily="2" charset="2"/>
              </a:rPr>
              <a:t>2</a:t>
            </a:r>
            <a:r>
              <a:rPr lang="en-US" altLang="zh-TW" sz="2000" dirty="0" smtClean="0">
                <a:sym typeface="Wingdings" pitchFamily="2" charset="2"/>
              </a:rPr>
              <a:t> = 4 + 6 – 8 = 2;</a:t>
            </a:r>
            <a:r>
              <a:rPr lang="en-US" altLang="zh-TW" sz="2000" dirty="0" smtClean="0"/>
              <a:t>u</a:t>
            </a:r>
            <a:r>
              <a:rPr lang="en-US" altLang="zh-TW" sz="2000" baseline="-25000" dirty="0" smtClean="0"/>
              <a:t>2</a:t>
            </a:r>
            <a:r>
              <a:rPr lang="en-US" altLang="zh-TW" sz="2000" dirty="0" smtClean="0"/>
              <a:t> = B</a:t>
            </a:r>
            <a:r>
              <a:rPr lang="en-US" altLang="zh-TW" sz="2000" baseline="30000" dirty="0" smtClean="0"/>
              <a:t>-</a:t>
            </a:r>
            <a:r>
              <a:rPr lang="en-US" altLang="zh-TW" sz="2000" dirty="0" smtClean="0"/>
              <a:t>[</a:t>
            </a:r>
            <a:r>
              <a:rPr lang="en-US" altLang="zh-TW" sz="2000" dirty="0" smtClean="0">
                <a:sym typeface="Wingdings" pitchFamily="2" charset="2"/>
              </a:rPr>
              <a:t>2</a:t>
            </a:r>
            <a:r>
              <a:rPr lang="en-US" altLang="zh-TW" sz="2000" dirty="0" smtClean="0"/>
              <a:t>] = 2  </a:t>
            </a:r>
            <a:r>
              <a:rPr lang="en-US" altLang="zh-TW" sz="2000" dirty="0" smtClean="0">
                <a:sym typeface="Wingdings" pitchFamily="2" charset="2"/>
              </a:rPr>
              <a:t>if(0 </a:t>
            </a:r>
            <a:r>
              <a:rPr lang="en-US" altLang="zh-TW" sz="2000" dirty="0" smtClean="0"/>
              <a:t>≤</a:t>
            </a:r>
            <a:r>
              <a:rPr lang="en-US" altLang="zh-TW" sz="2000" dirty="0" smtClean="0">
                <a:sym typeface="Wingdings" pitchFamily="2" charset="2"/>
              </a:rPr>
              <a:t> </a:t>
            </a:r>
            <a:r>
              <a:rPr lang="en-US" altLang="zh-TW" sz="2000" dirty="0" smtClean="0"/>
              <a:t>u</a:t>
            </a:r>
            <a:r>
              <a:rPr lang="en-US" altLang="zh-TW" sz="2000" baseline="-25000" dirty="0" smtClean="0"/>
              <a:t>2</a:t>
            </a:r>
            <a:r>
              <a:rPr lang="en-US" altLang="zh-TW" sz="2000" dirty="0" smtClean="0">
                <a:sym typeface="Wingdings" pitchFamily="2" charset="2"/>
              </a:rPr>
              <a:t>) and (4 </a:t>
            </a:r>
            <a:r>
              <a:rPr lang="en-US" altLang="zh-TW" sz="2000" dirty="0" smtClean="0"/>
              <a:t>≤</a:t>
            </a:r>
            <a:r>
              <a:rPr lang="en-US" altLang="zh-TW" sz="2000" dirty="0" smtClean="0">
                <a:latin typeface="MT Extra" pitchFamily="18" charset="2"/>
              </a:rPr>
              <a:t> </a:t>
            </a:r>
            <a:r>
              <a:rPr lang="en-US" altLang="zh-TW" sz="2000" dirty="0" smtClean="0"/>
              <a:t>4 )True</a:t>
            </a:r>
          </a:p>
          <a:p>
            <a:pPr marL="342900" lvl="0" indent="-342900">
              <a:spcBef>
                <a:spcPct val="20000"/>
              </a:spcBef>
              <a:defRPr/>
            </a:pPr>
            <a:r>
              <a:rPr lang="en-US" altLang="zh-TW" sz="2000" dirty="0" smtClean="0">
                <a:sym typeface="Wingdings" pitchFamily="2" charset="2"/>
              </a:rPr>
              <a:t>	v</a:t>
            </a:r>
            <a:r>
              <a:rPr lang="en-US" altLang="zh-TW" sz="2000" baseline="-25000" dirty="0" smtClean="0">
                <a:sym typeface="Wingdings" pitchFamily="2" charset="2"/>
              </a:rPr>
              <a:t>3</a:t>
            </a:r>
            <a:r>
              <a:rPr lang="en-US" altLang="zh-TW" sz="2000" dirty="0" smtClean="0">
                <a:sym typeface="Wingdings" pitchFamily="2" charset="2"/>
              </a:rPr>
              <a:t> = 4 – 8 + 4 = 0;</a:t>
            </a:r>
            <a:r>
              <a:rPr lang="en-US" altLang="zh-TW" sz="2000" dirty="0" smtClean="0"/>
              <a:t>u</a:t>
            </a:r>
            <a:r>
              <a:rPr lang="en-US" altLang="zh-TW" sz="2000" baseline="-25000" dirty="0" smtClean="0"/>
              <a:t>3</a:t>
            </a:r>
            <a:r>
              <a:rPr lang="en-US" altLang="zh-TW" sz="2000" dirty="0" smtClean="0"/>
              <a:t> = C</a:t>
            </a:r>
            <a:r>
              <a:rPr lang="en-US" altLang="zh-TW" sz="2000" baseline="30000" dirty="0" smtClean="0"/>
              <a:t>-</a:t>
            </a:r>
            <a:r>
              <a:rPr lang="en-US" altLang="zh-TW" sz="2000" dirty="0" smtClean="0"/>
              <a:t>[</a:t>
            </a:r>
            <a:r>
              <a:rPr lang="en-US" altLang="zh-TW" sz="2000" dirty="0" smtClean="0">
                <a:sym typeface="Wingdings" pitchFamily="2" charset="2"/>
              </a:rPr>
              <a:t>0</a:t>
            </a:r>
            <a:r>
              <a:rPr lang="en-US" altLang="zh-TW" sz="2000" dirty="0" smtClean="0"/>
              <a:t>]</a:t>
            </a:r>
            <a:r>
              <a:rPr lang="en-US" altLang="zh-TW" sz="2000" dirty="0" smtClean="0">
                <a:sym typeface="Wingdings" pitchFamily="2" charset="2"/>
              </a:rPr>
              <a:t> = 1  if(0 </a:t>
            </a:r>
            <a:r>
              <a:rPr lang="en-US" altLang="zh-TW" sz="2000" dirty="0" smtClean="0"/>
              <a:t>≤</a:t>
            </a:r>
            <a:r>
              <a:rPr lang="en-US" altLang="zh-TW" sz="2000" dirty="0" smtClean="0">
                <a:sym typeface="Wingdings" pitchFamily="2" charset="2"/>
              </a:rPr>
              <a:t> </a:t>
            </a:r>
            <a:r>
              <a:rPr lang="en-US" altLang="zh-TW" sz="2000" dirty="0" smtClean="0"/>
              <a:t>u</a:t>
            </a:r>
            <a:r>
              <a:rPr lang="en-US" altLang="zh-TW" sz="2000" baseline="-25000" dirty="0" smtClean="0"/>
              <a:t>3</a:t>
            </a:r>
            <a:r>
              <a:rPr lang="en-US" altLang="zh-TW" sz="2000" dirty="0" smtClean="0">
                <a:sym typeface="Wingdings" pitchFamily="2" charset="2"/>
              </a:rPr>
              <a:t>) and (4</a:t>
            </a:r>
            <a:r>
              <a:rPr lang="en-US" altLang="zh-TW" sz="2000" dirty="0" smtClean="0"/>
              <a:t> ≤</a:t>
            </a:r>
            <a:r>
              <a:rPr lang="en-US" altLang="zh-TW" sz="2000" dirty="0" smtClean="0">
                <a:sym typeface="Wingdings" pitchFamily="2" charset="2"/>
              </a:rPr>
              <a:t> 5) </a:t>
            </a:r>
          </a:p>
          <a:p>
            <a:pPr marL="342900" lvl="0" indent="-342900">
              <a:spcBef>
                <a:spcPct val="20000"/>
              </a:spcBef>
            </a:pPr>
            <a:endParaRPr kumimoji="0" lang="en-US" altLang="zh-TW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itchFamily="2" charset="2"/>
            </a:endParaRPr>
          </a:p>
          <a:p>
            <a:pPr marL="342900" lvl="0" indent="-342900">
              <a:spcBef>
                <a:spcPct val="20000"/>
              </a:spcBef>
            </a:pPr>
            <a:r>
              <a:rPr lang="en-US" altLang="zh-TW" sz="2000" dirty="0" smtClean="0">
                <a:sym typeface="Wingdings" pitchFamily="2" charset="2"/>
              </a:rPr>
              <a:t>	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TW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itchFamily="2" charset="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Time complexity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Build y</a:t>
            </a:r>
            <a:r>
              <a:rPr lang="en-US" altLang="zh-TW" baseline="-25000" dirty="0" smtClean="0"/>
              <a:t>(0,u]</a:t>
            </a:r>
            <a:r>
              <a:rPr lang="es-ES" altLang="zh-TW" dirty="0" smtClean="0"/>
              <a:t>(τ),0≤u≤n  </a:t>
            </a:r>
            <a:r>
              <a:rPr lang="es-ES" altLang="zh-TW" dirty="0" smtClean="0">
                <a:sym typeface="Wingdings" pitchFamily="2" charset="2"/>
              </a:rPr>
              <a:t>O(n)</a:t>
            </a:r>
          </a:p>
          <a:p>
            <a:r>
              <a:rPr lang="es-ES" altLang="zh-TW" dirty="0" smtClean="0">
                <a:sym typeface="Wingdings" pitchFamily="2" charset="2"/>
              </a:rPr>
              <a:t>Build array A,B,C O(n)</a:t>
            </a:r>
          </a:p>
          <a:p>
            <a:r>
              <a:rPr lang="es-ES" altLang="zh-TW" dirty="0" smtClean="0">
                <a:sym typeface="Wingdings" pitchFamily="2" charset="2"/>
              </a:rPr>
              <a:t>Update A</a:t>
            </a:r>
            <a:r>
              <a:rPr lang="es-ES" altLang="zh-TW" baseline="30000" dirty="0" smtClean="0">
                <a:sym typeface="Wingdings" pitchFamily="2" charset="2"/>
              </a:rPr>
              <a:t>-</a:t>
            </a:r>
            <a:r>
              <a:rPr lang="es-ES" altLang="zh-TW" dirty="0" smtClean="0">
                <a:sym typeface="Wingdings" pitchFamily="2" charset="2"/>
              </a:rPr>
              <a:t>,B</a:t>
            </a:r>
            <a:r>
              <a:rPr lang="es-ES" altLang="zh-TW" baseline="30000" dirty="0" smtClean="0">
                <a:sym typeface="Wingdings" pitchFamily="2" charset="2"/>
              </a:rPr>
              <a:t>-</a:t>
            </a:r>
            <a:r>
              <a:rPr lang="es-ES" altLang="zh-TW" dirty="0" smtClean="0">
                <a:sym typeface="Wingdings" pitchFamily="2" charset="2"/>
              </a:rPr>
              <a:t>,C</a:t>
            </a:r>
            <a:r>
              <a:rPr lang="es-ES" altLang="zh-TW" baseline="30000" dirty="0" smtClean="0">
                <a:sym typeface="Wingdings" pitchFamily="2" charset="2"/>
              </a:rPr>
              <a:t>- </a:t>
            </a:r>
            <a:r>
              <a:rPr lang="es-ES" altLang="zh-TW" dirty="0" smtClean="0">
                <a:sym typeface="Wingdings" pitchFamily="2" charset="2"/>
              </a:rPr>
              <a:t> O(1)</a:t>
            </a:r>
          </a:p>
          <a:p>
            <a:r>
              <a:rPr lang="es-ES" altLang="zh-TW" dirty="0" smtClean="0">
                <a:sym typeface="Wingdings" pitchFamily="2" charset="2"/>
              </a:rPr>
              <a:t>Total </a:t>
            </a:r>
            <a:r>
              <a:rPr lang="en-US" altLang="zh-TW" dirty="0" smtClean="0"/>
              <a:t>complexity  </a:t>
            </a:r>
            <a:r>
              <a:rPr lang="en-US" altLang="zh-TW" dirty="0" smtClean="0">
                <a:sym typeface="Wingdings" pitchFamily="2" charset="2"/>
              </a:rPr>
              <a:t>O(</a:t>
            </a:r>
            <a:r>
              <a:rPr lang="en-US" altLang="zh-TW" dirty="0" err="1" smtClean="0">
                <a:sym typeface="Wingdings" pitchFamily="2" charset="2"/>
              </a:rPr>
              <a:t>Mn</a:t>
            </a:r>
            <a:r>
              <a:rPr lang="en-US" altLang="zh-TW" dirty="0" smtClean="0">
                <a:sym typeface="Wingdings" pitchFamily="2" charset="2"/>
              </a:rPr>
              <a:t>)</a:t>
            </a:r>
          </a:p>
          <a:p>
            <a:pPr lvl="1">
              <a:buFont typeface="Arial" pitchFamily="34" charset="0"/>
              <a:buChar char="•"/>
            </a:pPr>
            <a:r>
              <a:rPr lang="es-ES" altLang="zh-TW" dirty="0" smtClean="0">
                <a:sym typeface="Wingdings" pitchFamily="2" charset="2"/>
              </a:rPr>
              <a:t>X has M elements</a:t>
            </a:r>
          </a:p>
          <a:p>
            <a:pPr lvl="1">
              <a:buFont typeface="Arial" pitchFamily="34" charset="0"/>
              <a:buChar char="•"/>
            </a:pPr>
            <a:r>
              <a:rPr lang="es-ES" altLang="zh-TW" dirty="0" smtClean="0">
                <a:sym typeface="Wingdings" pitchFamily="2" charset="2"/>
              </a:rPr>
              <a:t>Y has n elements </a:t>
            </a:r>
          </a:p>
          <a:p>
            <a:endParaRPr lang="es-ES" altLang="zh-TW" dirty="0" smtClean="0">
              <a:sym typeface="Wingdings" pitchFamily="2" charset="2"/>
            </a:endParaRP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00034" y="2500306"/>
            <a:ext cx="8143932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altLang="zh-TW" sz="12000" b="1" cap="none" spc="50" dirty="0" smtClean="0">
                <a:ln w="11430"/>
                <a:solidFill>
                  <a:schemeClr val="tx2">
                    <a:lumMod val="7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Thank You</a:t>
            </a:r>
            <a:endParaRPr lang="zh-TW" altLang="en-US" sz="12000" b="1" cap="none" spc="50" dirty="0">
              <a:ln w="11430"/>
              <a:solidFill>
                <a:schemeClr val="tx2">
                  <a:lumMod val="75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1211</TotalTime>
  <Words>2211</Words>
  <Application>Microsoft Office PowerPoint</Application>
  <PresentationFormat>如螢幕大小 (4:3)</PresentationFormat>
  <Paragraphs>1564</Paragraphs>
  <Slides>21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8" baseType="lpstr">
      <vt:lpstr>新細明體</vt:lpstr>
      <vt:lpstr>標楷體</vt:lpstr>
      <vt:lpstr>Arial</vt:lpstr>
      <vt:lpstr>Calibri</vt:lpstr>
      <vt:lpstr>MT Extra</vt:lpstr>
      <vt:lpstr>Wingdings</vt:lpstr>
      <vt:lpstr>Office 佈景主題</vt:lpstr>
      <vt:lpstr>Edit distance for a run-length-encoded string and an uncompressed string</vt:lpstr>
      <vt:lpstr>Abstract</vt:lpstr>
      <vt:lpstr>Run-Length Encoded Strings</vt:lpstr>
      <vt:lpstr>Edit distance</vt:lpstr>
      <vt:lpstr>Main results(1/2)</vt:lpstr>
      <vt:lpstr>Main results(2/2)</vt:lpstr>
      <vt:lpstr>The Algorithm(1/4)</vt:lpstr>
      <vt:lpstr>The Algorithm(2/4)</vt:lpstr>
      <vt:lpstr>The Algorithm(3/4)</vt:lpstr>
      <vt:lpstr>The Algorithm(4/4)</vt:lpstr>
      <vt:lpstr>Example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Time complexity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 distance for a run-length-encoded string and an uncompressed string</dc:title>
  <dc:creator>Athena_Ho</dc:creator>
  <cp:lastModifiedBy>Athena_Ho</cp:lastModifiedBy>
  <cp:revision>117</cp:revision>
  <dcterms:created xsi:type="dcterms:W3CDTF">2014-11-25T17:40:40Z</dcterms:created>
  <dcterms:modified xsi:type="dcterms:W3CDTF">2014-12-02T10:02:46Z</dcterms:modified>
</cp:coreProperties>
</file>