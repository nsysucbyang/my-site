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5" r:id="rId8"/>
    <p:sldId id="262" r:id="rId9"/>
    <p:sldId id="263" r:id="rId10"/>
    <p:sldId id="265" r:id="rId11"/>
    <p:sldId id="264" r:id="rId12"/>
    <p:sldId id="266" r:id="rId13"/>
    <p:sldId id="267" r:id="rId14"/>
    <p:sldId id="268" r:id="rId15"/>
    <p:sldId id="269" r:id="rId16"/>
    <p:sldId id="270" r:id="rId17"/>
    <p:sldId id="271" r:id="rId18"/>
    <p:sldId id="272" r:id="rId19"/>
    <p:sldId id="273" r:id="rId20"/>
    <p:sldId id="274" r:id="rId21"/>
    <p:sldId id="277" r:id="rId22"/>
    <p:sldId id="276" r:id="rId2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0"/>
      </p:cViewPr>
      <p:guideLst>
        <p:guide orient="horz" pos="2160"/>
        <p:guide pos="2835"/>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2014/4/8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2014/4/8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2014/4/8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2014/4/8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2014/4/8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2014/4/8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2014/4/8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2014/4/8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2014/4/8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2014/4/8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2014/4/8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2014/4/8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a:t>A Fast Algorithm for Computing Longest Common Subsequences of Small Alphabet Size</a:t>
            </a:r>
            <a:endParaRPr lang="zh-TW" altLang="en-US" dirty="0"/>
          </a:p>
        </p:txBody>
      </p:sp>
      <p:sp>
        <p:nvSpPr>
          <p:cNvPr id="3" name="副標題 2"/>
          <p:cNvSpPr>
            <a:spLocks noGrp="1"/>
          </p:cNvSpPr>
          <p:nvPr>
            <p:ph type="subTitle" idx="1"/>
          </p:nvPr>
        </p:nvSpPr>
        <p:spPr/>
        <p:txBody>
          <a:bodyPr>
            <a:normAutofit/>
          </a:bodyPr>
          <a:lstStyle/>
          <a:p>
            <a:r>
              <a:rPr lang="en-US" altLang="zh-TW" dirty="0" smtClean="0"/>
              <a:t>Chin Francis </a:t>
            </a:r>
            <a:r>
              <a:rPr lang="en-US" altLang="zh-TW" dirty="0" smtClean="0"/>
              <a:t>Y. L</a:t>
            </a:r>
            <a:r>
              <a:rPr lang="en-US" altLang="zh-TW" dirty="0" smtClean="0"/>
              <a:t>. and </a:t>
            </a:r>
            <a:r>
              <a:rPr lang="en-US" altLang="zh-TW" dirty="0" err="1" smtClean="0"/>
              <a:t>Poon</a:t>
            </a:r>
            <a:r>
              <a:rPr lang="en-US" altLang="zh-TW" dirty="0" smtClean="0"/>
              <a:t> </a:t>
            </a:r>
            <a:r>
              <a:rPr lang="en-US" altLang="zh-TW" dirty="0" smtClean="0"/>
              <a:t>C. K.</a:t>
            </a:r>
            <a:r>
              <a:rPr lang="en-US" altLang="zh-TW" dirty="0" smtClean="0"/>
              <a:t/>
            </a:r>
            <a:br>
              <a:rPr lang="en-US" altLang="zh-TW" dirty="0" smtClean="0"/>
            </a:br>
            <a:r>
              <a:rPr lang="en-US" altLang="zh-TW" dirty="0"/>
              <a:t>Journal of information processing 13(4), </a:t>
            </a:r>
            <a:r>
              <a:rPr lang="en-US" altLang="zh-TW" dirty="0" smtClean="0"/>
              <a:t>463-469 (Feb</a:t>
            </a:r>
            <a:r>
              <a:rPr lang="en-US" altLang="zh-TW" smtClean="0"/>
              <a:t>, </a:t>
            </a:r>
            <a:r>
              <a:rPr lang="en-US" altLang="zh-TW" smtClean="0"/>
              <a:t>1991)</a:t>
            </a:r>
            <a:endParaRPr lang="zh-TW" altLang="en-US" dirty="0"/>
          </a:p>
        </p:txBody>
      </p:sp>
      <p:sp>
        <p:nvSpPr>
          <p:cNvPr id="5" name="文字方塊 4"/>
          <p:cNvSpPr txBox="1"/>
          <p:nvPr/>
        </p:nvSpPr>
        <p:spPr>
          <a:xfrm>
            <a:off x="7000892" y="5857892"/>
            <a:ext cx="1858201" cy="646331"/>
          </a:xfrm>
          <a:prstGeom prst="rect">
            <a:avLst/>
          </a:prstGeom>
          <a:noFill/>
        </p:spPr>
        <p:txBody>
          <a:bodyPr wrap="none" rtlCol="0">
            <a:spAutoFit/>
          </a:bodyPr>
          <a:lstStyle/>
          <a:p>
            <a:r>
              <a:rPr lang="en-US" altLang="zh-TW" dirty="0" smtClean="0"/>
              <a:t>Presenter: </a:t>
            </a:r>
            <a:r>
              <a:rPr lang="zh-TW" altLang="en-US" dirty="0" smtClean="0"/>
              <a:t>周展億</a:t>
            </a:r>
            <a:endParaRPr lang="en-US" altLang="zh-TW" dirty="0" smtClean="0"/>
          </a:p>
          <a:p>
            <a:r>
              <a:rPr lang="en-US" altLang="zh-TW" dirty="0" smtClean="0"/>
              <a:t>Date: 2014/04/08</a:t>
            </a:r>
            <a:endParaRPr lang="zh-TW" altLang="en-US" dirty="0"/>
          </a:p>
        </p:txBody>
      </p:sp>
    </p:spTree>
    <p:extLst>
      <p:ext uri="{BB962C8B-B14F-4D97-AF65-F5344CB8AC3E}">
        <p14:creationId xmlns="" xmlns:p14="http://schemas.microsoft.com/office/powerpoint/2010/main" val="11041422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Abstract</a:t>
            </a:r>
            <a:endParaRPr lang="zh-TW" altLang="en-US" dirty="0"/>
          </a:p>
        </p:txBody>
      </p:sp>
      <p:sp>
        <p:nvSpPr>
          <p:cNvPr id="3" name="矩形 2"/>
          <p:cNvSpPr/>
          <p:nvPr/>
        </p:nvSpPr>
        <p:spPr>
          <a:xfrm>
            <a:off x="431540" y="1157806"/>
            <a:ext cx="8280920" cy="5632311"/>
          </a:xfrm>
          <a:prstGeom prst="rect">
            <a:avLst/>
          </a:prstGeom>
        </p:spPr>
        <p:txBody>
          <a:bodyPr wrap="square">
            <a:spAutoFit/>
          </a:bodyPr>
          <a:lstStyle/>
          <a:p>
            <a:r>
              <a:rPr lang="en-US" altLang="zh-TW" sz="2000" dirty="0" smtClean="0"/>
              <a:t>    Given </a:t>
            </a:r>
            <a:r>
              <a:rPr lang="en-US" altLang="zh-TW" sz="2000" dirty="0"/>
              <a:t>two strings of lengths m and </a:t>
            </a:r>
            <a:r>
              <a:rPr lang="en-US" altLang="zh-TW" sz="2000" dirty="0" smtClean="0"/>
              <a:t>n ≥ m </a:t>
            </a:r>
            <a:r>
              <a:rPr lang="en-US" altLang="zh-TW" sz="2000" dirty="0"/>
              <a:t>on an alphabet of size s, the longest common subsequence (LCS) problem is to determine the longest subsequence that can be obtained by deleting zero or more symbols from either string. The first Ο(</a:t>
            </a:r>
            <a:r>
              <a:rPr lang="en-US" altLang="zh-TW" sz="2000" dirty="0" err="1"/>
              <a:t>mn</a:t>
            </a:r>
            <a:r>
              <a:rPr lang="en-US" altLang="zh-TW" sz="2000" dirty="0"/>
              <a:t>) algorithm was given by Hirschberg in 1975. The algorithm was later revised to Ο(</a:t>
            </a:r>
            <a:r>
              <a:rPr lang="en-US" altLang="zh-TW" sz="2000" dirty="0" err="1"/>
              <a:t>ln</a:t>
            </a:r>
            <a:r>
              <a:rPr lang="en-US" altLang="zh-TW" sz="2000" dirty="0"/>
              <a:t>), where l is the length of an LCS between the two strings. Another strategy given by Hunt and Szymanski takes Ο(</a:t>
            </a:r>
            <a:r>
              <a:rPr lang="en-US" altLang="zh-TW" sz="2000" dirty="0" err="1"/>
              <a:t>rlogn</a:t>
            </a:r>
            <a:r>
              <a:rPr lang="en-US" altLang="zh-TW" sz="2000" dirty="0"/>
              <a:t>) time, where </a:t>
            </a:r>
            <a:r>
              <a:rPr lang="en-US" altLang="zh-TW" sz="2000" dirty="0" smtClean="0"/>
              <a:t>r ≤ </a:t>
            </a:r>
            <a:r>
              <a:rPr lang="en-US" altLang="zh-TW" sz="2000" dirty="0" err="1" smtClean="0"/>
              <a:t>mn</a:t>
            </a:r>
            <a:r>
              <a:rPr lang="en-US" altLang="zh-TW" sz="2000" dirty="0" smtClean="0"/>
              <a:t> </a:t>
            </a:r>
            <a:r>
              <a:rPr lang="en-US" altLang="zh-TW" sz="2000" dirty="0"/>
              <a:t>is the total number of matches between the two strings. </a:t>
            </a:r>
            <a:r>
              <a:rPr lang="en-US" altLang="zh-TW" sz="2000" dirty="0" err="1"/>
              <a:t>Apostolico</a:t>
            </a:r>
            <a:r>
              <a:rPr lang="en-US" altLang="zh-TW" sz="2000" dirty="0"/>
              <a:t> and Guerra combined the two approaches and derived an Ο(</a:t>
            </a:r>
            <a:r>
              <a:rPr lang="en-US" altLang="zh-TW" sz="2000" dirty="0" err="1"/>
              <a:t>mlogn+dlog</a:t>
            </a:r>
            <a:r>
              <a:rPr lang="en-US" altLang="zh-TW" sz="2000" dirty="0"/>
              <a:t>(</a:t>
            </a:r>
            <a:r>
              <a:rPr lang="en-US" altLang="zh-TW" sz="2000" dirty="0" err="1"/>
              <a:t>mn</a:t>
            </a:r>
            <a:r>
              <a:rPr lang="en-US" altLang="zh-TW" sz="2000" dirty="0"/>
              <a:t>/d)) algorithm, where d ≤ r is the number of dominant matches (minimal candidates) between the two strings. Efficient algorithms for two similar strings were devised by </a:t>
            </a:r>
            <a:r>
              <a:rPr lang="en-US" altLang="zh-TW" sz="2000" dirty="0" err="1"/>
              <a:t>Nakatsu</a:t>
            </a:r>
            <a:r>
              <a:rPr lang="en-US" altLang="zh-TW" sz="2000" dirty="0"/>
              <a:t> et al.[7]and Myers[61with time complexities of </a:t>
            </a:r>
            <a:r>
              <a:rPr lang="en-US" altLang="zh-TW" sz="2000" dirty="0" smtClean="0"/>
              <a:t>Ο(n(m-l)) </a:t>
            </a:r>
            <a:r>
              <a:rPr lang="en-US" altLang="zh-TW" sz="2000" dirty="0"/>
              <a:t>and Ο(n(n-1)), respectively. This paper presents a new algorithm for this problem, which requires preprocessing that is nearly standard for the LCS problem and has time and space complexity of Ο(</a:t>
            </a:r>
            <a:r>
              <a:rPr lang="en-US" altLang="zh-TW" sz="2000" dirty="0" err="1"/>
              <a:t>ns+min</a:t>
            </a:r>
            <a:r>
              <a:rPr lang="en-US" altLang="zh-TW" sz="2000" dirty="0"/>
              <a:t>{</a:t>
            </a:r>
            <a:r>
              <a:rPr lang="en-US" altLang="zh-TW" sz="2000" dirty="0" err="1"/>
              <a:t>ds,lm</a:t>
            </a:r>
            <a:r>
              <a:rPr lang="en-US" altLang="zh-TW" sz="2000" dirty="0"/>
              <a:t>}) and Ο(</a:t>
            </a:r>
            <a:r>
              <a:rPr lang="en-US" altLang="zh-TW" sz="2000" dirty="0" err="1"/>
              <a:t>ns+d</a:t>
            </a:r>
            <a:r>
              <a:rPr lang="en-US" altLang="zh-TW" sz="2000" dirty="0"/>
              <a:t>), respectively. This algorithm is particularly efficient when s (the alphabet size) is small Different data structures are used to obtain variations of the basic algorithm that require different time and space complexities</a:t>
            </a:r>
            <a:r>
              <a:rPr lang="en-US" altLang="zh-TW" sz="2000" dirty="0" smtClean="0"/>
              <a:t>.</a:t>
            </a:r>
            <a:endParaRPr lang="zh-TW" altLang="en-US" sz="2000" dirty="0"/>
          </a:p>
        </p:txBody>
      </p:sp>
    </p:spTree>
    <p:extLst>
      <p:ext uri="{BB962C8B-B14F-4D97-AF65-F5344CB8AC3E}">
        <p14:creationId xmlns="" xmlns:p14="http://schemas.microsoft.com/office/powerpoint/2010/main" val="28378481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a:t>
            </a:r>
            <a:endParaRPr lang="zh-TW" altLang="en-US" dirty="0"/>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a:xfrm>
                <a:off x="457200" y="1600200"/>
                <a:ext cx="8229600" cy="4925144"/>
              </a:xfrm>
            </p:spPr>
            <p:txBody>
              <a:bodyPr>
                <a:normAutofit fontScale="92500" lnSpcReduction="10000"/>
              </a:bodyPr>
              <a:lstStyle/>
              <a:p>
                <a14:m>
                  <m:oMath xmlns:m="http://schemas.openxmlformats.org/officeDocument/2006/math">
                    <m:r>
                      <m:rPr>
                        <m:sty m:val="p"/>
                      </m:rPr>
                      <a:rPr lang="el-GR" altLang="zh-TW" i="1" smtClean="0">
                        <a:latin typeface="Cambria Math"/>
                      </a:rPr>
                      <m:t>α</m:t>
                    </m:r>
                  </m:oMath>
                </a14:m>
                <a:r>
                  <a:rPr lang="zh-TW" altLang="en-US" dirty="0" smtClean="0"/>
                  <a:t/>
                </a:r>
                <a:r>
                  <a:rPr lang="en-US" altLang="zh-TW" dirty="0" smtClean="0"/>
                  <a:t>= </a:t>
                </a:r>
                <a14:m>
                  <m:oMath xmlns:m="http://schemas.openxmlformats.org/officeDocument/2006/math">
                    <m:sSub>
                      <m:sSubPr>
                        <m:ctrlPr>
                          <a:rPr lang="en-US" altLang="zh-TW" i="1" smtClean="0">
                            <a:latin typeface="Cambria Math"/>
                          </a:rPr>
                        </m:ctrlPr>
                      </m:sSubPr>
                      <m:e>
                        <m:r>
                          <a:rPr lang="en-US" altLang="zh-TW" b="0" i="1" smtClean="0">
                            <a:latin typeface="Cambria Math"/>
                          </a:rPr>
                          <m:t>𝑎</m:t>
                        </m:r>
                      </m:e>
                      <m:sub>
                        <m:r>
                          <a:rPr lang="en-US" altLang="zh-TW" b="0" i="1" smtClean="0">
                            <a:latin typeface="Cambria Math"/>
                          </a:rPr>
                          <m:t>1</m:t>
                        </m:r>
                      </m:sub>
                    </m:sSub>
                  </m:oMath>
                </a14:m>
                <a:r>
                  <a:rPr lang="en-US" altLang="zh-TW" dirty="0"/>
                  <a:t/>
                </a:r>
                <a14:m>
                  <m:oMath xmlns:m="http://schemas.openxmlformats.org/officeDocument/2006/math">
                    <m:sSub>
                      <m:sSubPr>
                        <m:ctrlPr>
                          <a:rPr lang="en-US" altLang="zh-TW" i="1">
                            <a:latin typeface="Cambria Math"/>
                          </a:rPr>
                        </m:ctrlPr>
                      </m:sSubPr>
                      <m:e>
                        <m:r>
                          <a:rPr lang="en-US" altLang="zh-TW" i="1">
                            <a:latin typeface="Cambria Math"/>
                          </a:rPr>
                          <m:t>𝑎</m:t>
                        </m:r>
                      </m:e>
                      <m:sub>
                        <m:r>
                          <a:rPr lang="en-US" altLang="zh-TW" b="0" i="1" smtClean="0">
                            <a:latin typeface="Cambria Math"/>
                          </a:rPr>
                          <m:t>2</m:t>
                        </m:r>
                      </m:sub>
                    </m:sSub>
                  </m:oMath>
                </a14:m>
                <a:r>
                  <a:rPr lang="en-US" altLang="zh-TW" dirty="0" smtClean="0"/>
                  <a:t>…</a:t>
                </a:r>
                <a:r>
                  <a:rPr lang="en-US" altLang="zh-TW" dirty="0"/>
                  <a:t/>
                </a:r>
                <a14:m>
                  <m:oMath xmlns:m="http://schemas.openxmlformats.org/officeDocument/2006/math">
                    <m:sSub>
                      <m:sSubPr>
                        <m:ctrlPr>
                          <a:rPr lang="en-US" altLang="zh-TW" i="1">
                            <a:latin typeface="Cambria Math"/>
                          </a:rPr>
                        </m:ctrlPr>
                      </m:sSubPr>
                      <m:e>
                        <m:r>
                          <a:rPr lang="en-US" altLang="zh-TW" i="1">
                            <a:latin typeface="Cambria Math"/>
                          </a:rPr>
                          <m:t>𝑎</m:t>
                        </m:r>
                      </m:e>
                      <m:sub>
                        <m:r>
                          <a:rPr lang="en-US" altLang="zh-TW" b="0" i="1" smtClean="0">
                            <a:latin typeface="Cambria Math"/>
                          </a:rPr>
                          <m:t>𝑚</m:t>
                        </m:r>
                      </m:sub>
                    </m:sSub>
                  </m:oMath>
                </a14:m>
                <a:r>
                  <a:rPr lang="zh-TW" altLang="en-US" dirty="0" smtClean="0"/>
                  <a:t>，長度為 </a:t>
                </a:r>
                <a:r>
                  <a:rPr lang="en-US" altLang="zh-TW" dirty="0" smtClean="0"/>
                  <a:t>m</a:t>
                </a:r>
              </a:p>
              <a:p>
                <a14:m>
                  <m:oMath xmlns:m="http://schemas.openxmlformats.org/officeDocument/2006/math">
                    <m:r>
                      <m:rPr>
                        <m:sty m:val="p"/>
                      </m:rPr>
                      <a:rPr lang="el-GR" altLang="zh-TW" i="1" smtClean="0">
                        <a:latin typeface="Cambria Math"/>
                      </a:rPr>
                      <m:t>β</m:t>
                    </m:r>
                  </m:oMath>
                </a14:m>
                <a:r>
                  <a:rPr lang="zh-TW" altLang="en-US" dirty="0" smtClean="0"/>
                  <a:t/>
                </a:r>
                <a:r>
                  <a:rPr lang="en-US" altLang="zh-TW" dirty="0" smtClean="0"/>
                  <a:t>= </a:t>
                </a:r>
                <a14:m>
                  <m:oMath xmlns:m="http://schemas.openxmlformats.org/officeDocument/2006/math">
                    <m:sSub>
                      <m:sSubPr>
                        <m:ctrlPr>
                          <a:rPr lang="en-US" altLang="zh-TW" i="1">
                            <a:latin typeface="Cambria Math"/>
                          </a:rPr>
                        </m:ctrlPr>
                      </m:sSubPr>
                      <m:e>
                        <m:r>
                          <a:rPr lang="en-US" altLang="zh-TW" b="0" i="1" smtClean="0">
                            <a:latin typeface="Cambria Math"/>
                          </a:rPr>
                          <m:t>𝑏</m:t>
                        </m:r>
                      </m:e>
                      <m:sub>
                        <m:r>
                          <a:rPr lang="en-US" altLang="zh-TW" i="1">
                            <a:latin typeface="Cambria Math"/>
                          </a:rPr>
                          <m:t>1</m:t>
                        </m:r>
                      </m:sub>
                    </m:sSub>
                  </m:oMath>
                </a14:m>
                <a:r>
                  <a:rPr lang="zh-TW" altLang="en-US" dirty="0" smtClean="0"/>
                  <a:t/>
                </a:r>
                <a14:m>
                  <m:oMath xmlns:m="http://schemas.openxmlformats.org/officeDocument/2006/math">
                    <m:sSub>
                      <m:sSubPr>
                        <m:ctrlPr>
                          <a:rPr lang="en-US" altLang="zh-TW" i="1">
                            <a:latin typeface="Cambria Math"/>
                          </a:rPr>
                        </m:ctrlPr>
                      </m:sSubPr>
                      <m:e>
                        <m:r>
                          <a:rPr lang="en-US" altLang="zh-TW" b="0" i="1" smtClean="0">
                            <a:latin typeface="Cambria Math"/>
                          </a:rPr>
                          <m:t>𝑏</m:t>
                        </m:r>
                      </m:e>
                      <m:sub>
                        <m:r>
                          <a:rPr lang="en-US" altLang="zh-TW" b="0" i="1" smtClean="0">
                            <a:latin typeface="Cambria Math"/>
                          </a:rPr>
                          <m:t>2</m:t>
                        </m:r>
                      </m:sub>
                    </m:sSub>
                  </m:oMath>
                </a14:m>
                <a:r>
                  <a:rPr lang="en-US" altLang="zh-TW" dirty="0" smtClean="0"/>
                  <a:t>… </a:t>
                </a:r>
                <a14:m>
                  <m:oMath xmlns:m="http://schemas.openxmlformats.org/officeDocument/2006/math">
                    <m:sSub>
                      <m:sSubPr>
                        <m:ctrlPr>
                          <a:rPr lang="en-US" altLang="zh-TW" i="1">
                            <a:latin typeface="Cambria Math"/>
                          </a:rPr>
                        </m:ctrlPr>
                      </m:sSubPr>
                      <m:e>
                        <m:r>
                          <a:rPr lang="en-US" altLang="zh-TW" b="0" i="1" smtClean="0">
                            <a:latin typeface="Cambria Math"/>
                          </a:rPr>
                          <m:t>𝑏</m:t>
                        </m:r>
                      </m:e>
                      <m:sub>
                        <m:r>
                          <a:rPr lang="en-US" altLang="zh-TW" b="0" i="1" smtClean="0">
                            <a:latin typeface="Cambria Math"/>
                          </a:rPr>
                          <m:t>𝑛</m:t>
                        </m:r>
                      </m:sub>
                    </m:sSub>
                  </m:oMath>
                </a14:m>
                <a:r>
                  <a:rPr lang="zh-TW" altLang="en-US" dirty="0" smtClean="0"/>
                  <a:t>，長度為 </a:t>
                </a:r>
                <a:r>
                  <a:rPr lang="en-US" altLang="zh-TW" dirty="0" smtClean="0"/>
                  <a:t>n</a:t>
                </a:r>
              </a:p>
              <a:p>
                <a:r>
                  <a:rPr lang="en-US" altLang="zh-TW" dirty="0" smtClean="0"/>
                  <a:t>m ≦ n</a:t>
                </a:r>
              </a:p>
              <a:p>
                <a:r>
                  <a:rPr lang="en-US" altLang="zh-TW" dirty="0" smtClean="0"/>
                  <a:t>alphabet </a:t>
                </a:r>
                <a:r>
                  <a:rPr lang="el-GR" altLang="zh-TW" dirty="0" smtClean="0"/>
                  <a:t>Σ</a:t>
                </a:r>
                <a:r>
                  <a:rPr lang="en-US" altLang="zh-TW" dirty="0" smtClean="0"/>
                  <a:t> = {</a:t>
                </a:r>
                <a14:m>
                  <m:oMath xmlns:m="http://schemas.openxmlformats.org/officeDocument/2006/math">
                    <m:sSub>
                      <m:sSubPr>
                        <m:ctrlPr>
                          <a:rPr lang="el-GR" altLang="zh-TW" i="1" dirty="0" smtClean="0">
                            <a:latin typeface="Cambria Math"/>
                          </a:rPr>
                        </m:ctrlPr>
                      </m:sSubPr>
                      <m:e>
                        <m:r>
                          <m:rPr>
                            <m:nor/>
                          </m:rPr>
                          <a:rPr lang="el-GR" altLang="zh-TW" dirty="0"/>
                          <m:t>σ</m:t>
                        </m:r>
                      </m:e>
                      <m:sub>
                        <m:r>
                          <a:rPr lang="en-US" altLang="zh-TW" b="0" i="1" dirty="0" smtClean="0">
                            <a:latin typeface="Cambria Math"/>
                          </a:rPr>
                          <m:t>1</m:t>
                        </m:r>
                      </m:sub>
                    </m:sSub>
                  </m:oMath>
                </a14:m>
                <a:r>
                  <a:rPr lang="en-US" altLang="zh-TW" dirty="0" smtClean="0"/>
                  <a:t>, </a:t>
                </a:r>
                <a14:m>
                  <m:oMath xmlns:m="http://schemas.openxmlformats.org/officeDocument/2006/math">
                    <m:sSub>
                      <m:sSubPr>
                        <m:ctrlPr>
                          <a:rPr lang="el-GR" altLang="zh-TW" i="1" dirty="0">
                            <a:latin typeface="Cambria Math"/>
                          </a:rPr>
                        </m:ctrlPr>
                      </m:sSubPr>
                      <m:e>
                        <m:r>
                          <m:rPr>
                            <m:nor/>
                          </m:rPr>
                          <a:rPr lang="el-GR" altLang="zh-TW" dirty="0"/>
                          <m:t>σ</m:t>
                        </m:r>
                      </m:e>
                      <m:sub>
                        <m:r>
                          <a:rPr lang="en-US" altLang="zh-TW" b="0" i="1" dirty="0" smtClean="0">
                            <a:latin typeface="Cambria Math"/>
                          </a:rPr>
                          <m:t>2</m:t>
                        </m:r>
                      </m:sub>
                    </m:sSub>
                  </m:oMath>
                </a14:m>
                <a:r>
                  <a:rPr lang="en-US" altLang="zh-TW" dirty="0" smtClean="0"/>
                  <a:t>, …, </a:t>
                </a:r>
                <a14:m>
                  <m:oMath xmlns:m="http://schemas.openxmlformats.org/officeDocument/2006/math">
                    <m:sSub>
                      <m:sSubPr>
                        <m:ctrlPr>
                          <a:rPr lang="el-GR" altLang="zh-TW" i="1" dirty="0">
                            <a:latin typeface="Cambria Math"/>
                          </a:rPr>
                        </m:ctrlPr>
                      </m:sSubPr>
                      <m:e>
                        <m:r>
                          <m:rPr>
                            <m:nor/>
                          </m:rPr>
                          <a:rPr lang="el-GR" altLang="zh-TW" dirty="0"/>
                          <m:t>σ</m:t>
                        </m:r>
                      </m:e>
                      <m:sub>
                        <m:r>
                          <a:rPr lang="en-US" altLang="zh-TW" b="0" i="1" dirty="0" smtClean="0">
                            <a:latin typeface="Cambria Math"/>
                          </a:rPr>
                          <m:t>𝑠</m:t>
                        </m:r>
                      </m:sub>
                    </m:sSub>
                  </m:oMath>
                </a14:m>
                <a:r>
                  <a:rPr lang="en-US" altLang="zh-TW" dirty="0" smtClean="0"/>
                  <a:t>}</a:t>
                </a:r>
                <a:r>
                  <a:rPr lang="zh-TW" altLang="en-US" dirty="0" smtClean="0"/>
                  <a:t>，</a:t>
                </a:r>
                <a:r>
                  <a:rPr lang="en-US" altLang="zh-TW" dirty="0" smtClean="0"/>
                  <a:t>size</a:t>
                </a:r>
                <a:r>
                  <a:rPr lang="zh-TW" altLang="en-US" dirty="0" smtClean="0"/>
                  <a:t>為</a:t>
                </a:r>
                <a:r>
                  <a:rPr lang="en-US" altLang="zh-TW" dirty="0" smtClean="0"/>
                  <a:t>s</a:t>
                </a:r>
              </a:p>
              <a:p>
                <a14:m>
                  <m:oMath xmlns:m="http://schemas.openxmlformats.org/officeDocument/2006/math">
                    <m:r>
                      <a:rPr lang="en-US" altLang="zh-TW" b="0" i="1" smtClean="0">
                        <a:latin typeface="Cambria Math"/>
                      </a:rPr>
                      <m:t>[</m:t>
                    </m:r>
                    <m:r>
                      <a:rPr lang="en-US" altLang="zh-TW" b="0" i="1" smtClean="0">
                        <a:latin typeface="Cambria Math"/>
                      </a:rPr>
                      <m:t>𝑖</m:t>
                    </m:r>
                  </m:oMath>
                </a14:m>
                <a:r>
                  <a:rPr lang="en-US" altLang="zh-TW" dirty="0" smtClean="0"/>
                  <a:t>, </a:t>
                </a:r>
                <a14:m>
                  <m:oMath xmlns:m="http://schemas.openxmlformats.org/officeDocument/2006/math">
                    <m:r>
                      <a:rPr lang="en-US" altLang="zh-TW" b="0" i="1" smtClean="0">
                        <a:latin typeface="Cambria Math"/>
                      </a:rPr>
                      <m:t>𝑗</m:t>
                    </m:r>
                  </m:oMath>
                </a14:m>
                <a:r>
                  <a:rPr lang="en-US" altLang="zh-TW" dirty="0" smtClean="0"/>
                  <a:t>] </a:t>
                </a:r>
                <a:r>
                  <a:rPr lang="zh-TW" altLang="en-US" dirty="0" smtClean="0"/>
                  <a:t>表示</a:t>
                </a:r>
                <a14:m>
                  <m:oMath xmlns:m="http://schemas.openxmlformats.org/officeDocument/2006/math">
                    <m:sSub>
                      <m:sSubPr>
                        <m:ctrlPr>
                          <a:rPr lang="en-US" altLang="zh-TW" i="1">
                            <a:latin typeface="Cambria Math"/>
                          </a:rPr>
                        </m:ctrlPr>
                      </m:sSubPr>
                      <m:e>
                        <m:r>
                          <a:rPr lang="en-US" altLang="zh-TW" b="0" i="1" smtClean="0">
                            <a:latin typeface="Cambria Math"/>
                          </a:rPr>
                          <m:t>𝑎</m:t>
                        </m:r>
                      </m:e>
                      <m:sub>
                        <m:r>
                          <a:rPr lang="en-US" altLang="zh-TW" b="0" i="1" smtClean="0">
                            <a:latin typeface="Cambria Math"/>
                          </a:rPr>
                          <m:t>𝑖</m:t>
                        </m:r>
                      </m:sub>
                    </m:sSub>
                  </m:oMath>
                </a14:m>
                <a:r>
                  <a:rPr lang="zh-TW" altLang="en-US" dirty="0" smtClean="0"/>
                  <a:t/>
                </a:r>
                <a:r>
                  <a:rPr lang="en-US" altLang="zh-TW" dirty="0" smtClean="0"/>
                  <a:t>= </a:t>
                </a:r>
                <a14:m>
                  <m:oMath xmlns:m="http://schemas.openxmlformats.org/officeDocument/2006/math">
                    <m:sSub>
                      <m:sSubPr>
                        <m:ctrlPr>
                          <a:rPr lang="en-US" altLang="zh-TW" i="1">
                            <a:latin typeface="Cambria Math"/>
                          </a:rPr>
                        </m:ctrlPr>
                      </m:sSubPr>
                      <m:e>
                        <m:r>
                          <a:rPr lang="en-US" altLang="zh-TW" i="1">
                            <a:latin typeface="Cambria Math"/>
                          </a:rPr>
                          <m:t>𝑏</m:t>
                        </m:r>
                      </m:e>
                      <m:sub>
                        <m:r>
                          <a:rPr lang="en-US" altLang="zh-TW" b="0" i="1" smtClean="0">
                            <a:latin typeface="Cambria Math"/>
                          </a:rPr>
                          <m:t>𝑗</m:t>
                        </m:r>
                      </m:sub>
                    </m:sSub>
                  </m:oMath>
                </a14:m>
                <a:r>
                  <a:rPr lang="zh-TW" altLang="en-US" dirty="0" smtClean="0"/>
                  <a:t>，為一個</a:t>
                </a:r>
                <a:r>
                  <a:rPr lang="en-US" altLang="zh-TW" dirty="0" smtClean="0"/>
                  <a:t>match</a:t>
                </a:r>
              </a:p>
              <a:p>
                <a:r>
                  <a:rPr lang="en-US" altLang="zh-TW" dirty="0" smtClean="0"/>
                  <a:t>[</a:t>
                </a:r>
                <a14:m>
                  <m:oMath xmlns:m="http://schemas.openxmlformats.org/officeDocument/2006/math">
                    <m:r>
                      <a:rPr lang="en-US" altLang="zh-TW" i="1">
                        <a:latin typeface="Cambria Math"/>
                      </a:rPr>
                      <m:t>𝑖</m:t>
                    </m:r>
                  </m:oMath>
                </a14:m>
                <a:r>
                  <a:rPr lang="en-US" altLang="zh-TW" dirty="0"/>
                  <a:t>, </a:t>
                </a:r>
                <a14:m>
                  <m:oMath xmlns:m="http://schemas.openxmlformats.org/officeDocument/2006/math">
                    <m:r>
                      <a:rPr lang="en-US" altLang="zh-TW" i="1">
                        <a:latin typeface="Cambria Math"/>
                      </a:rPr>
                      <m:t>𝑗</m:t>
                    </m:r>
                  </m:oMath>
                </a14:m>
                <a:r>
                  <a:rPr lang="en-US" altLang="zh-TW" dirty="0" smtClean="0"/>
                  <a:t>] </a:t>
                </a:r>
                <a:r>
                  <a:rPr lang="zh-TW" altLang="en-US" dirty="0" smtClean="0"/>
                  <a:t>為</a:t>
                </a:r>
                <a:r>
                  <a:rPr lang="en-US" altLang="zh-TW" dirty="0" smtClean="0"/>
                  <a:t>dominant</a:t>
                </a:r>
                <a:r>
                  <a:rPr lang="zh-TW" altLang="en-US" dirty="0" smtClean="0"/>
                  <a:t>或</a:t>
                </a:r>
                <a:r>
                  <a:rPr lang="en-US" altLang="zh-TW" dirty="0" smtClean="0"/>
                  <a:t>k-dominant</a:t>
                </a:r>
                <a:r>
                  <a:rPr lang="zh-TW" altLang="en-US" dirty="0" smtClean="0"/>
                  <a:t>，當</a:t>
                </a:r>
                <a:r>
                  <a:rPr lang="en-US" altLang="zh-TW" dirty="0" smtClean="0"/>
                  <a:t>L[</a:t>
                </a:r>
                <a14:m>
                  <m:oMath xmlns:m="http://schemas.openxmlformats.org/officeDocument/2006/math">
                    <m:r>
                      <a:rPr lang="en-US" altLang="zh-TW" b="0" i="1" smtClean="0">
                        <a:latin typeface="Cambria Math"/>
                      </a:rPr>
                      <m:t>𝑖</m:t>
                    </m:r>
                    <m:r>
                      <a:rPr lang="en-US" altLang="zh-TW" b="0" i="0" smtClean="0">
                        <a:latin typeface="Cambria Math"/>
                      </a:rPr>
                      <m:t>,</m:t>
                    </m:r>
                    <m:r>
                      <a:rPr lang="en-US" altLang="zh-TW" i="1">
                        <a:latin typeface="Cambria Math"/>
                      </a:rPr>
                      <m:t>𝑗</m:t>
                    </m:r>
                  </m:oMath>
                </a14:m>
                <a:r>
                  <a:rPr lang="en-US" altLang="zh-TW" dirty="0" smtClean="0"/>
                  <a:t>] = </a:t>
                </a:r>
                <a14:m>
                  <m:oMath xmlns:m="http://schemas.openxmlformats.org/officeDocument/2006/math">
                    <m:r>
                      <a:rPr lang="en-US" altLang="zh-TW" b="0" i="1" smtClean="0">
                        <a:latin typeface="Cambria Math"/>
                      </a:rPr>
                      <m:t>𝑘</m:t>
                    </m:r>
                  </m:oMath>
                </a14:m>
                <a:r>
                  <a:rPr lang="zh-TW" altLang="en-US" dirty="0" smtClean="0"/>
                  <a:t>，且對於所有</a:t>
                </a:r>
                <a14:m>
                  <m:oMath xmlns:m="http://schemas.openxmlformats.org/officeDocument/2006/math">
                    <m:r>
                      <a:rPr lang="en-US" altLang="zh-TW" i="1">
                        <a:latin typeface="Cambria Math"/>
                      </a:rPr>
                      <m:t>𝑝</m:t>
                    </m:r>
                    <m:r>
                      <a:rPr lang="en-US" altLang="zh-TW" b="0" i="1" smtClean="0">
                        <a:latin typeface="Cambria Math"/>
                      </a:rPr>
                      <m:t>,</m:t>
                    </m:r>
                    <m:r>
                      <a:rPr lang="en-US" altLang="zh-TW" b="0" i="1" smtClean="0">
                        <a:latin typeface="Cambria Math"/>
                      </a:rPr>
                      <m:t>𝑞</m:t>
                    </m:r>
                    <m:r>
                      <a:rPr lang="zh-TW" altLang="en-US" i="1">
                        <a:latin typeface="Cambria Math"/>
                      </a:rPr>
                      <m:t>而言</m:t>
                    </m:r>
                  </m:oMath>
                </a14:m>
                <a:r>
                  <a:rPr lang="zh-TW" altLang="en-US" dirty="0" smtClean="0"/>
                  <a:t>，</a:t>
                </a:r>
                <a:r>
                  <a:rPr lang="en-US" altLang="zh-TW" dirty="0" smtClean="0"/>
                  <a:t>L[</a:t>
                </a:r>
                <a14:m>
                  <m:oMath xmlns:m="http://schemas.openxmlformats.org/officeDocument/2006/math">
                    <m:r>
                      <a:rPr lang="en-US" altLang="zh-TW" b="0" i="1" smtClean="0">
                        <a:latin typeface="Cambria Math"/>
                      </a:rPr>
                      <m:t>𝑝</m:t>
                    </m:r>
                  </m:oMath>
                </a14:m>
                <a:r>
                  <a:rPr lang="en-US" altLang="zh-TW" dirty="0" smtClean="0"/>
                  <a:t>, </a:t>
                </a:r>
                <a14:m>
                  <m:oMath xmlns:m="http://schemas.openxmlformats.org/officeDocument/2006/math">
                    <m:r>
                      <a:rPr lang="en-US" altLang="zh-TW" b="0" i="1" smtClean="0">
                        <a:latin typeface="Cambria Math"/>
                      </a:rPr>
                      <m:t>𝑞</m:t>
                    </m:r>
                  </m:oMath>
                </a14:m>
                <a:r>
                  <a:rPr lang="en-US" altLang="zh-TW" dirty="0" smtClean="0"/>
                  <a:t>] &lt;</a:t>
                </a:r>
                <a14:m>
                  <m:oMath xmlns:m="http://schemas.openxmlformats.org/officeDocument/2006/math">
                    <m:r>
                      <a:rPr lang="en-US" altLang="zh-TW" b="0" i="1" smtClean="0">
                        <a:latin typeface="Cambria Math"/>
                      </a:rPr>
                      <m:t>𝑘</m:t>
                    </m:r>
                  </m:oMath>
                </a14:m>
                <a:r>
                  <a:rPr lang="zh-TW" altLang="en-US" dirty="0" smtClean="0"/>
                  <a:t>，</a:t>
                </a:r>
                <a:r>
                  <a:rPr lang="en-US" altLang="zh-TW" dirty="0" smtClean="0"/>
                  <a:t>0 &lt;</a:t>
                </a:r>
                <a14:m>
                  <m:oMath xmlns:m="http://schemas.openxmlformats.org/officeDocument/2006/math">
                    <m:r>
                      <a:rPr lang="en-US" altLang="zh-TW" b="0" i="1" smtClean="0">
                        <a:latin typeface="Cambria Math"/>
                      </a:rPr>
                      <m:t>𝑝</m:t>
                    </m:r>
                  </m:oMath>
                </a14:m>
                <a:r>
                  <a:rPr lang="en-US" altLang="zh-TW" dirty="0" smtClean="0"/>
                  <a:t/>
                </a:r>
                <a:r>
                  <a:rPr lang="en-US" altLang="zh-TW" dirty="0"/>
                  <a:t>≦</a:t>
                </a:r>
                <a:r>
                  <a:rPr lang="en-US" altLang="zh-TW" dirty="0" smtClean="0"/>
                  <a:t/>
                </a:r>
                <a14:m>
                  <m:oMath xmlns:m="http://schemas.openxmlformats.org/officeDocument/2006/math">
                    <m:r>
                      <a:rPr lang="en-US" altLang="zh-TW" b="0" i="1" smtClean="0">
                        <a:latin typeface="Cambria Math"/>
                      </a:rPr>
                      <m:t>𝑖</m:t>
                    </m:r>
                  </m:oMath>
                </a14:m>
                <a:r>
                  <a:rPr lang="zh-TW" altLang="en-US" dirty="0" smtClean="0"/>
                  <a:t>，</a:t>
                </a:r>
                <a:r>
                  <a:rPr lang="en-US" altLang="zh-TW" dirty="0" smtClean="0"/>
                  <a:t>0 &lt;</a:t>
                </a:r>
                <a14:m>
                  <m:oMath xmlns:m="http://schemas.openxmlformats.org/officeDocument/2006/math">
                    <m:r>
                      <a:rPr lang="en-US" altLang="zh-TW" b="0" i="1" smtClean="0">
                        <a:latin typeface="Cambria Math"/>
                      </a:rPr>
                      <m:t>𝑞</m:t>
                    </m:r>
                  </m:oMath>
                </a14:m>
                <a:r>
                  <a:rPr lang="zh-TW" altLang="en-US" dirty="0" smtClean="0"/>
                  <a:t/>
                </a:r>
                <a:r>
                  <a:rPr lang="en-US" altLang="zh-TW" dirty="0"/>
                  <a:t>≦</a:t>
                </a:r>
                <a:r>
                  <a:rPr lang="en-US" altLang="zh-TW" dirty="0" smtClean="0"/>
                  <a:t/>
                </a:r>
                <a14:m>
                  <m:oMath xmlns:m="http://schemas.openxmlformats.org/officeDocument/2006/math">
                    <m:r>
                      <a:rPr lang="en-US" altLang="zh-TW" i="1" smtClean="0">
                        <a:latin typeface="Cambria Math"/>
                      </a:rPr>
                      <m:t>𝑗</m:t>
                    </m:r>
                  </m:oMath>
                </a14:m>
                <a:r>
                  <a:rPr lang="zh-TW" altLang="en-US" dirty="0" smtClean="0"/>
                  <a:t>時</a:t>
                </a:r>
                <a:endParaRPr lang="en-US" altLang="zh-TW" dirty="0" smtClean="0"/>
              </a:p>
              <a:p>
                <a14:m>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𝑘</m:t>
                        </m:r>
                      </m:sup>
                    </m:sSup>
                  </m:oMath>
                </a14:m>
                <a:r>
                  <a:rPr lang="zh-TW" altLang="en-US" dirty="0" smtClean="0"/>
                  <a:t>為</a:t>
                </a:r>
                <a:r>
                  <a:rPr lang="en-US" altLang="zh-TW" dirty="0" smtClean="0"/>
                  <a:t>k-dominants</a:t>
                </a:r>
                <a:r>
                  <a:rPr lang="zh-TW" altLang="en-US" dirty="0" smtClean="0"/>
                  <a:t>的集合</a:t>
                </a:r>
                <a14:m>
                  <m:oMath xmlns:m="http://schemas.openxmlformats.org/officeDocument/2006/math">
                    <m:sSup>
                      <m:sSupPr>
                        <m:ctrlPr>
                          <a:rPr lang="en-US" altLang="zh-TW" i="1">
                            <a:latin typeface="Cambria Math"/>
                          </a:rPr>
                        </m:ctrlPr>
                      </m:sSupPr>
                      <m:e>
                        <m:r>
                          <a:rPr lang="en-US" altLang="zh-TW" i="1">
                            <a:latin typeface="Cambria Math"/>
                          </a:rPr>
                          <m:t>𝐷</m:t>
                        </m:r>
                      </m:e>
                      <m:sup>
                        <m:r>
                          <a:rPr lang="en-US" altLang="zh-TW" b="0" i="1" smtClean="0">
                            <a:latin typeface="Cambria Math"/>
                          </a:rPr>
                          <m:t>1</m:t>
                        </m:r>
                      </m:sup>
                    </m:sSup>
                  </m:oMath>
                </a14:m>
                <a:r>
                  <a:rPr lang="en-US" altLang="zh-TW" dirty="0" smtClean="0"/>
                  <a:t>, </a:t>
                </a:r>
                <a14:m>
                  <m:oMath xmlns:m="http://schemas.openxmlformats.org/officeDocument/2006/math">
                    <m:sSup>
                      <m:sSupPr>
                        <m:ctrlPr>
                          <a:rPr lang="en-US" altLang="zh-TW" i="1">
                            <a:latin typeface="Cambria Math"/>
                          </a:rPr>
                        </m:ctrlPr>
                      </m:sSupPr>
                      <m:e>
                        <m:r>
                          <a:rPr lang="en-US" altLang="zh-TW" i="1">
                            <a:latin typeface="Cambria Math"/>
                          </a:rPr>
                          <m:t>𝐷</m:t>
                        </m:r>
                      </m:e>
                      <m:sup>
                        <m:r>
                          <a:rPr lang="en-US" altLang="zh-TW" b="0" i="1" smtClean="0">
                            <a:latin typeface="Cambria Math"/>
                          </a:rPr>
                          <m:t>2</m:t>
                        </m:r>
                      </m:sup>
                    </m:sSup>
                  </m:oMath>
                </a14:m>
                <a:r>
                  <a:rPr lang="en-US" altLang="zh-TW" dirty="0" smtClean="0"/>
                  <a:t>, …, </a:t>
                </a:r>
                <a14:m>
                  <m:oMath xmlns:m="http://schemas.openxmlformats.org/officeDocument/2006/math">
                    <m:sSup>
                      <m:sSupPr>
                        <m:ctrlPr>
                          <a:rPr lang="en-US" altLang="zh-TW" i="1">
                            <a:latin typeface="Cambria Math"/>
                          </a:rPr>
                        </m:ctrlPr>
                      </m:sSupPr>
                      <m:e>
                        <m:r>
                          <a:rPr lang="en-US" altLang="zh-TW" i="1">
                            <a:latin typeface="Cambria Math"/>
                          </a:rPr>
                          <m:t>𝐷</m:t>
                        </m:r>
                      </m:e>
                      <m:sup>
                        <m:r>
                          <a:rPr lang="en-US" altLang="zh-TW" b="0" i="1" smtClean="0">
                            <a:latin typeface="Cambria Math"/>
                          </a:rPr>
                          <m:t>𝑙</m:t>
                        </m:r>
                      </m:sup>
                    </m:sSup>
                  </m:oMath>
                </a14:m>
                <a:r>
                  <a:rPr lang="zh-TW" altLang="en-US" dirty="0" smtClean="0"/>
                  <a:t>，</a:t>
                </a:r>
                <a:r>
                  <a:rPr lang="en-US" altLang="zh-TW" dirty="0"/>
                  <a:t/>
                </a:r>
                <a14:m>
                  <m:oMath xmlns:m="http://schemas.openxmlformats.org/officeDocument/2006/math">
                    <m:r>
                      <a:rPr lang="en-US" altLang="zh-TW" b="0" i="1" smtClean="0">
                        <a:latin typeface="Cambria Math"/>
                      </a:rPr>
                      <m:t>𝑙</m:t>
                    </m:r>
                  </m:oMath>
                </a14:m>
                <a:r>
                  <a:rPr lang="zh-TW" altLang="en-US" dirty="0" smtClean="0"/>
                  <a:t>為</a:t>
                </a:r>
                <a:r>
                  <a:rPr lang="en-US" altLang="zh-TW" dirty="0" smtClean="0"/>
                  <a:t>LCS</a:t>
                </a:r>
                <a:r>
                  <a:rPr lang="zh-TW" altLang="en-US" dirty="0" smtClean="0"/>
                  <a:t>長度</a:t>
                </a: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457200" y="1600200"/>
                <a:ext cx="8229600" cy="4925144"/>
              </a:xfrm>
              <a:blipFill rotWithShape="1">
                <a:blip r:embed="rId2"/>
                <a:stretch>
                  <a:fillRect l="-1481" t="-2478" r="-815" b="-1487"/>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32098603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a:t>
            </a:r>
            <a:endParaRPr lang="zh-TW" altLang="en-US" dirty="0"/>
          </a:p>
        </p:txBody>
      </p:sp>
      <p:pic>
        <p:nvPicPr>
          <p:cNvPr id="1026" name="Picture 2" descr="F:\Sena\Desktop\ex1.PN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4783075" y="2424296"/>
            <a:ext cx="4248472" cy="3734564"/>
          </a:xfrm>
          <a:prstGeom prst="rect">
            <a:avLst/>
          </a:prstGeom>
          <a:noFill/>
          <a:extLst>
            <a:ext uri="{909E8E84-426E-40DD-AFC4-6F175D3DCCD1}">
              <a14:hiddenFill xmlns="" xmlns:a14="http://schemas.microsoft.com/office/drawing/2010/main">
                <a:solidFill>
                  <a:srgbClr val="FFFFFF"/>
                </a:solidFill>
              </a14:hiddenFill>
            </a:ext>
          </a:extLst>
        </p:spPr>
      </p:pic>
      <mc:AlternateContent xmlns:mc="http://schemas.openxmlformats.org/markup-compatibility/2006">
        <mc:Choice xmlns="" xmlns:a14="http://schemas.microsoft.com/office/drawing/2010/main" Requires="a14">
          <p:sp>
            <p:nvSpPr>
              <p:cNvPr id="4" name="矩形 3"/>
              <p:cNvSpPr/>
              <p:nvPr/>
            </p:nvSpPr>
            <p:spPr>
              <a:xfrm>
                <a:off x="4783075" y="1322999"/>
                <a:ext cx="2497800" cy="954107"/>
              </a:xfrm>
              <a:prstGeom prst="rect">
                <a:avLst/>
              </a:prstGeom>
            </p:spPr>
            <p:txBody>
              <a:bodyPr wrap="none">
                <a:spAutoFit/>
              </a:bodyPr>
              <a:lstStyle/>
              <a:p>
                <a14:m>
                  <m:oMath xmlns:m="http://schemas.openxmlformats.org/officeDocument/2006/math">
                    <m:r>
                      <m:rPr>
                        <m:sty m:val="p"/>
                      </m:rPr>
                      <a:rPr lang="el-GR" altLang="zh-TW" sz="2800" i="1" smtClean="0">
                        <a:latin typeface="Cambria Math"/>
                      </a:rPr>
                      <m:t>α</m:t>
                    </m:r>
                  </m:oMath>
                </a14:m>
                <a:r>
                  <a:rPr lang="zh-TW" altLang="en-US" sz="2800" dirty="0" smtClean="0"/>
                  <a:t/>
                </a:r>
                <a:r>
                  <a:rPr lang="en-US" altLang="zh-TW" sz="2800" dirty="0" smtClean="0"/>
                  <a:t>= c b </a:t>
                </a:r>
                <a:r>
                  <a:rPr lang="en-US" altLang="zh-TW" sz="2800" dirty="0" err="1" smtClean="0"/>
                  <a:t>b</a:t>
                </a:r>
                <a:r>
                  <a:rPr lang="en-US" altLang="zh-TW" sz="2800" dirty="0" smtClean="0"/>
                  <a:t> d a c</a:t>
                </a:r>
                <a:br>
                  <a:rPr lang="en-US" altLang="zh-TW" sz="2800" dirty="0" smtClean="0"/>
                </a:br>
                <a14:m>
                  <m:oMath xmlns:m="http://schemas.openxmlformats.org/officeDocument/2006/math">
                    <m:r>
                      <m:rPr>
                        <m:sty m:val="p"/>
                      </m:rPr>
                      <a:rPr lang="el-GR" altLang="zh-TW" sz="2800" i="1">
                        <a:latin typeface="Cambria Math"/>
                      </a:rPr>
                      <m:t>β</m:t>
                    </m:r>
                  </m:oMath>
                </a14:m>
                <a:r>
                  <a:rPr lang="en-US" altLang="zh-TW" sz="2800" b="0" dirty="0" smtClean="0"/>
                  <a:t> = a b c d </a:t>
                </a:r>
                <a:r>
                  <a:rPr lang="en-US" altLang="zh-TW" sz="2800" b="0" dirty="0" err="1" smtClean="0"/>
                  <a:t>d</a:t>
                </a:r>
                <a:r>
                  <a:rPr lang="en-US" altLang="zh-TW" sz="2800" b="0" dirty="0" smtClean="0"/>
                  <a:t> b a</a:t>
                </a:r>
              </a:p>
            </p:txBody>
          </p:sp>
        </mc:Choice>
        <mc:Fallback>
          <p:sp>
            <p:nvSpPr>
              <p:cNvPr id="4" name="矩形 3"/>
              <p:cNvSpPr>
                <a:spLocks noRot="1" noChangeAspect="1" noMove="1" noResize="1" noEditPoints="1" noAdjustHandles="1" noChangeArrowheads="1" noChangeShapeType="1" noTextEdit="1"/>
              </p:cNvSpPr>
              <p:nvPr/>
            </p:nvSpPr>
            <p:spPr>
              <a:xfrm>
                <a:off x="4783075" y="1322999"/>
                <a:ext cx="2497800" cy="954107"/>
              </a:xfrm>
              <a:prstGeom prst="rect">
                <a:avLst/>
              </a:prstGeom>
              <a:blipFill rotWithShape="1">
                <a:blip r:embed="rId3"/>
                <a:stretch>
                  <a:fillRect t="-6369" r="-4156" b="-16561"/>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5" name="文字方塊 4"/>
              <p:cNvSpPr txBox="1"/>
              <p:nvPr/>
            </p:nvSpPr>
            <p:spPr>
              <a:xfrm>
                <a:off x="251520" y="1931772"/>
                <a:ext cx="4234429" cy="4161524"/>
              </a:xfrm>
              <a:prstGeom prst="rect">
                <a:avLst/>
              </a:prstGeom>
              <a:noFill/>
            </p:spPr>
            <p:txBody>
              <a:bodyPr wrap="none" rtlCol="0">
                <a:spAutoFit/>
              </a:bodyPr>
              <a:lstStyle/>
              <a:p>
                <a:r>
                  <a:rPr lang="en-US" altLang="zh-TW" sz="2400" dirty="0" smtClean="0"/>
                  <a:t>Ordering:</a:t>
                </a:r>
                <a:br>
                  <a:rPr lang="en-US" altLang="zh-TW" sz="2400" dirty="0" smtClean="0"/>
                </a:br>
                <a:r>
                  <a:rPr lang="en-US" altLang="zh-TW" sz="2400" dirty="0" smtClean="0"/>
                  <a:t>if </a:t>
                </a:r>
                <a14:m>
                  <m:oMath xmlns:m="http://schemas.openxmlformats.org/officeDocument/2006/math">
                    <m:r>
                      <a:rPr lang="en-US" altLang="zh-TW" sz="2400" b="0" i="1" smtClean="0">
                        <a:latin typeface="Cambria Math"/>
                      </a:rPr>
                      <m:t>𝑢</m:t>
                    </m:r>
                    <m:r>
                      <a:rPr lang="en-US" altLang="zh-TW" sz="2400" b="0" i="1" smtClean="0">
                        <a:latin typeface="Cambria Math"/>
                      </a:rPr>
                      <m:t>&gt;</m:t>
                    </m:r>
                    <m:r>
                      <a:rPr lang="en-US" altLang="zh-TW" sz="2400" b="0" i="1" smtClean="0">
                        <a:latin typeface="Cambria Math"/>
                      </a:rPr>
                      <m:t>𝑖</m:t>
                    </m:r>
                  </m:oMath>
                </a14:m>
                <a:r>
                  <a:rPr lang="en-US" altLang="zh-TW" sz="2400" dirty="0" smtClean="0"/>
                  <a:t> or </a:t>
                </a:r>
                <a14:m>
                  <m:oMath xmlns:m="http://schemas.openxmlformats.org/officeDocument/2006/math">
                    <m:r>
                      <a:rPr lang="en-US" altLang="zh-TW" sz="2400" b="0" i="1" smtClean="0">
                        <a:latin typeface="Cambria Math"/>
                      </a:rPr>
                      <m:t>𝑗</m:t>
                    </m:r>
                    <m:r>
                      <a:rPr lang="en-US" altLang="zh-TW" sz="2400" b="0" i="1" smtClean="0">
                        <a:latin typeface="Cambria Math"/>
                      </a:rPr>
                      <m:t>&gt;</m:t>
                    </m:r>
                    <m:r>
                      <a:rPr lang="en-US" altLang="zh-TW" sz="2400" b="0" i="1" smtClean="0">
                        <a:latin typeface="Cambria Math"/>
                      </a:rPr>
                      <m:t>𝑣</m:t>
                    </m:r>
                  </m:oMath>
                </a14:m>
                <a:endParaRPr lang="en-US" altLang="zh-TW" sz="2400" dirty="0" smtClean="0"/>
              </a:p>
              <a:p>
                <a14:m>
                  <m:oMath xmlns:m="http://schemas.openxmlformats.org/officeDocument/2006/math">
                    <m:r>
                      <a:rPr lang="en-US" altLang="zh-TW" sz="2400" i="1">
                        <a:latin typeface="Cambria Math"/>
                      </a:rPr>
                      <m:t>[</m:t>
                    </m:r>
                    <m:r>
                      <a:rPr lang="en-US" altLang="zh-TW" sz="2400" i="1">
                        <a:latin typeface="Cambria Math"/>
                      </a:rPr>
                      <m:t>𝑖</m:t>
                    </m:r>
                  </m:oMath>
                </a14:m>
                <a:r>
                  <a:rPr lang="en-US" altLang="zh-TW" sz="2400" dirty="0"/>
                  <a:t>, </a:t>
                </a:r>
                <a14:m>
                  <m:oMath xmlns:m="http://schemas.openxmlformats.org/officeDocument/2006/math">
                    <m:r>
                      <a:rPr lang="en-US" altLang="zh-TW" sz="2400" i="1">
                        <a:latin typeface="Cambria Math"/>
                      </a:rPr>
                      <m:t>𝑗</m:t>
                    </m:r>
                  </m:oMath>
                </a14:m>
                <a:r>
                  <a:rPr lang="en-US" altLang="zh-TW" sz="2400" dirty="0" smtClean="0"/>
                  <a:t>] is</a:t>
                </a:r>
                <a:r>
                  <a:rPr lang="zh-TW" altLang="en-US" sz="2400" dirty="0" smtClean="0"/>
                  <a:t/>
                </a:r>
                <a:r>
                  <a:rPr lang="en-US" altLang="zh-TW" sz="2400" dirty="0" smtClean="0"/>
                  <a:t>higher neighbor of </a:t>
                </a:r>
                <a14:m>
                  <m:oMath xmlns:m="http://schemas.openxmlformats.org/officeDocument/2006/math">
                    <m:r>
                      <a:rPr lang="en-US" altLang="zh-TW" sz="2400" i="1">
                        <a:latin typeface="Cambria Math"/>
                      </a:rPr>
                      <m:t>[</m:t>
                    </m:r>
                    <m:r>
                      <a:rPr lang="en-US" altLang="zh-TW" sz="2400" b="0" i="1" smtClean="0">
                        <a:latin typeface="Cambria Math"/>
                      </a:rPr>
                      <m:t>𝑢</m:t>
                    </m:r>
                  </m:oMath>
                </a14:m>
                <a:r>
                  <a:rPr lang="en-US" altLang="zh-TW" sz="2400" dirty="0"/>
                  <a:t>, </a:t>
                </a:r>
                <a14:m>
                  <m:oMath xmlns:m="http://schemas.openxmlformats.org/officeDocument/2006/math">
                    <m:r>
                      <a:rPr lang="en-US" altLang="zh-TW" sz="2400" b="0" i="1" smtClean="0">
                        <a:latin typeface="Cambria Math"/>
                      </a:rPr>
                      <m:t>𝑣</m:t>
                    </m:r>
                  </m:oMath>
                </a14:m>
                <a:r>
                  <a:rPr lang="en-US" altLang="zh-TW" sz="2400" dirty="0" smtClean="0"/>
                  <a:t>]</a:t>
                </a:r>
              </a:p>
              <a:p>
                <a14:m>
                  <m:oMath xmlns:m="http://schemas.openxmlformats.org/officeDocument/2006/math">
                    <m:r>
                      <a:rPr lang="en-US" altLang="zh-TW" sz="2400" i="1">
                        <a:latin typeface="Cambria Math"/>
                      </a:rPr>
                      <m:t>[</m:t>
                    </m:r>
                    <m:r>
                      <a:rPr lang="en-US" altLang="zh-TW" sz="2400" b="0" i="1" smtClean="0">
                        <a:latin typeface="Cambria Math"/>
                      </a:rPr>
                      <m:t>𝑢</m:t>
                    </m:r>
                  </m:oMath>
                </a14:m>
                <a:r>
                  <a:rPr lang="en-US" altLang="zh-TW" sz="2400" dirty="0"/>
                  <a:t>, </a:t>
                </a:r>
                <a14:m>
                  <m:oMath xmlns:m="http://schemas.openxmlformats.org/officeDocument/2006/math">
                    <m:r>
                      <a:rPr lang="en-US" altLang="zh-TW" sz="2400" b="0" i="1" smtClean="0">
                        <a:latin typeface="Cambria Math"/>
                      </a:rPr>
                      <m:t>𝑣</m:t>
                    </m:r>
                  </m:oMath>
                </a14:m>
                <a:r>
                  <a:rPr lang="en-US" altLang="zh-TW" sz="2400" dirty="0" smtClean="0"/>
                  <a:t>] is lower neighbor of</a:t>
                </a:r>
                <a:r>
                  <a:rPr lang="en-US" altLang="zh-TW" sz="2400" dirty="0"/>
                  <a:t/>
                </a:r>
                <a14:m>
                  <m:oMath xmlns:m="http://schemas.openxmlformats.org/officeDocument/2006/math">
                    <m:r>
                      <a:rPr lang="en-US" altLang="zh-TW" sz="2400" i="1">
                        <a:latin typeface="Cambria Math"/>
                      </a:rPr>
                      <m:t>[</m:t>
                    </m:r>
                    <m:r>
                      <a:rPr lang="en-US" altLang="zh-TW" sz="2400" i="1">
                        <a:latin typeface="Cambria Math"/>
                      </a:rPr>
                      <m:t>𝑖</m:t>
                    </m:r>
                  </m:oMath>
                </a14:m>
                <a:r>
                  <a:rPr lang="en-US" altLang="zh-TW" sz="2400" dirty="0"/>
                  <a:t>, </a:t>
                </a:r>
                <a14:m>
                  <m:oMath xmlns:m="http://schemas.openxmlformats.org/officeDocument/2006/math">
                    <m:r>
                      <a:rPr lang="en-US" altLang="zh-TW" sz="2400" i="1">
                        <a:latin typeface="Cambria Math"/>
                      </a:rPr>
                      <m:t>𝑗</m:t>
                    </m:r>
                  </m:oMath>
                </a14:m>
                <a:r>
                  <a:rPr lang="en-US" altLang="zh-TW" sz="2400" dirty="0" smtClean="0"/>
                  <a:t>]</a:t>
                </a:r>
              </a:p>
              <a:p>
                <a:r>
                  <a:rPr lang="en-US" altLang="zh-TW" sz="2400" dirty="0" smtClean="0"/>
                  <a:t>If [</a:t>
                </a:r>
                <a14:m>
                  <m:oMath xmlns:m="http://schemas.openxmlformats.org/officeDocument/2006/math">
                    <m:r>
                      <a:rPr lang="en-US" altLang="zh-TW" sz="2400" i="1">
                        <a:latin typeface="Cambria Math"/>
                      </a:rPr>
                      <m:t>𝑖</m:t>
                    </m:r>
                  </m:oMath>
                </a14:m>
                <a:r>
                  <a:rPr lang="en-US" altLang="zh-TW" sz="2400" dirty="0"/>
                  <a:t>, </a:t>
                </a:r>
                <a14:m>
                  <m:oMath xmlns:m="http://schemas.openxmlformats.org/officeDocument/2006/math">
                    <m:r>
                      <a:rPr lang="en-US" altLang="zh-TW" sz="2400" i="1">
                        <a:latin typeface="Cambria Math"/>
                      </a:rPr>
                      <m:t>𝑗</m:t>
                    </m:r>
                  </m:oMath>
                </a14:m>
                <a:r>
                  <a:rPr lang="en-US" altLang="zh-TW" sz="2400" dirty="0" smtClean="0"/>
                  <a:t>] is the lowest dominant of</a:t>
                </a:r>
                <a:br>
                  <a:rPr lang="en-US" altLang="zh-TW" sz="2400" dirty="0" smtClean="0"/>
                </a:br>
                <a14:m>
                  <m:oMath xmlns:m="http://schemas.openxmlformats.org/officeDocument/2006/math">
                    <m:sSup>
                      <m:sSupPr>
                        <m:ctrlPr>
                          <a:rPr lang="en-US" altLang="zh-TW" sz="2400" i="1">
                            <a:latin typeface="Cambria Math"/>
                          </a:rPr>
                        </m:ctrlPr>
                      </m:sSupPr>
                      <m:e>
                        <m:r>
                          <a:rPr lang="en-US" altLang="zh-TW" sz="2400" i="1">
                            <a:latin typeface="Cambria Math"/>
                          </a:rPr>
                          <m:t>𝐷</m:t>
                        </m:r>
                      </m:e>
                      <m:sup>
                        <m:r>
                          <a:rPr lang="en-US" altLang="zh-TW" sz="2400" i="1">
                            <a:latin typeface="Cambria Math"/>
                          </a:rPr>
                          <m:t>𝑘</m:t>
                        </m:r>
                      </m:sup>
                    </m:sSup>
                  </m:oMath>
                </a14:m>
                <a:r>
                  <a:rPr lang="en-US" altLang="zh-TW" sz="2400" dirty="0" smtClean="0"/>
                  <a:t>, define </a:t>
                </a:r>
                <a14:m>
                  <m:oMath xmlns:m="http://schemas.openxmlformats.org/officeDocument/2006/math">
                    <m:r>
                      <a:rPr lang="en-US" altLang="zh-TW" sz="2400" i="1">
                        <a:latin typeface="Cambria Math"/>
                      </a:rPr>
                      <m:t>[</m:t>
                    </m:r>
                    <m:r>
                      <a:rPr lang="en-US" altLang="zh-TW" sz="2400" i="1">
                        <a:latin typeface="Cambria Math"/>
                      </a:rPr>
                      <m:t>𝑢</m:t>
                    </m:r>
                  </m:oMath>
                </a14:m>
                <a:r>
                  <a:rPr lang="en-US" altLang="zh-TW" sz="2400" dirty="0"/>
                  <a:t>, </a:t>
                </a:r>
                <a14:m>
                  <m:oMath xmlns:m="http://schemas.openxmlformats.org/officeDocument/2006/math">
                    <m:r>
                      <a:rPr lang="en-US" altLang="zh-TW" sz="2400" i="1">
                        <a:latin typeface="Cambria Math"/>
                      </a:rPr>
                      <m:t>𝑣</m:t>
                    </m:r>
                  </m:oMath>
                </a14:m>
                <a:r>
                  <a:rPr lang="en-US" altLang="zh-TW" sz="2400" dirty="0" smtClean="0"/>
                  <a:t>] = </a:t>
                </a:r>
                <a14:m>
                  <m:oMath xmlns:m="http://schemas.openxmlformats.org/officeDocument/2006/math">
                    <m:r>
                      <a:rPr lang="en-US" altLang="zh-TW" sz="2400" i="1">
                        <a:latin typeface="Cambria Math"/>
                      </a:rPr>
                      <m:t>[</m:t>
                    </m:r>
                    <m:r>
                      <a:rPr lang="en-US" altLang="zh-TW" sz="2400" b="0" i="1" smtClean="0">
                        <a:latin typeface="Cambria Math"/>
                      </a:rPr>
                      <m:t>𝑚</m:t>
                    </m:r>
                  </m:oMath>
                </a14:m>
                <a:r>
                  <a:rPr lang="en-US" altLang="zh-TW" sz="2400" dirty="0"/>
                  <a:t>,</a:t>
                </a:r>
                <a:r>
                  <a:rPr lang="en-US" altLang="zh-TW" sz="2400" dirty="0" smtClean="0"/>
                  <a:t/>
                </a:r>
                <a14:m>
                  <m:oMath xmlns:m="http://schemas.openxmlformats.org/officeDocument/2006/math">
                    <m:r>
                      <a:rPr lang="en-US" altLang="zh-TW" sz="2400" b="0" i="1" smtClean="0">
                        <a:latin typeface="Cambria Math"/>
                      </a:rPr>
                      <m:t>0</m:t>
                    </m:r>
                  </m:oMath>
                </a14:m>
                <a:r>
                  <a:rPr lang="en-US" altLang="zh-TW" sz="2400" dirty="0" smtClean="0"/>
                  <a:t>]</a:t>
                </a:r>
                <a:r>
                  <a:rPr lang="en-US" altLang="zh-TW" sz="2400" dirty="0"/>
                  <a:t/>
                </a:r>
                <a:br>
                  <a:rPr lang="en-US" altLang="zh-TW" sz="2400" dirty="0"/>
                </a:br>
                <a:r>
                  <a:rPr lang="en-US" altLang="zh-TW" sz="2400" dirty="0"/>
                  <a:t/>
                </a:r>
                <a:br>
                  <a:rPr lang="en-US" altLang="zh-TW" sz="2400" dirty="0"/>
                </a:br>
                <a:r>
                  <a:rPr lang="en-US" altLang="zh-TW" sz="2400" dirty="0"/>
                  <a:t>Example: </a:t>
                </a:r>
                <a:br>
                  <a:rPr lang="en-US" altLang="zh-TW" sz="2400" dirty="0"/>
                </a:br>
                <a:r>
                  <a:rPr lang="en-US" altLang="zh-TW" sz="2400" dirty="0"/>
                  <a:t>in </a:t>
                </a:r>
                <a14:m>
                  <m:oMath xmlns:m="http://schemas.openxmlformats.org/officeDocument/2006/math">
                    <m:sSup>
                      <m:sSupPr>
                        <m:ctrlPr>
                          <a:rPr lang="en-US" altLang="zh-TW" sz="2400" i="1" smtClean="0">
                            <a:latin typeface="Cambria Math"/>
                          </a:rPr>
                        </m:ctrlPr>
                      </m:sSupPr>
                      <m:e>
                        <m:r>
                          <a:rPr lang="en-US" altLang="zh-TW" sz="2400" b="0" i="1" smtClean="0">
                            <a:latin typeface="Cambria Math"/>
                          </a:rPr>
                          <m:t>𝐷</m:t>
                        </m:r>
                      </m:e>
                      <m:sup>
                        <m:r>
                          <a:rPr lang="en-US" altLang="zh-TW" sz="2400" b="0" i="1" smtClean="0">
                            <a:latin typeface="Cambria Math"/>
                          </a:rPr>
                          <m:t>2</m:t>
                        </m:r>
                      </m:sup>
                    </m:sSup>
                  </m:oMath>
                </a14:m>
                <a:r>
                  <a:rPr lang="zh-TW" altLang="en-US" sz="2400" dirty="0" smtClean="0"/>
                  <a:t/>
                </a:r>
                <a:r>
                  <a:rPr lang="en-US" altLang="zh-TW" sz="2400" dirty="0" smtClean="0"/>
                  <a:t>= {[2, 6], [4, 4], [6, 3]}</a:t>
                </a:r>
              </a:p>
              <a:p>
                <a:r>
                  <a:rPr lang="en-US" altLang="zh-TW" sz="2400" dirty="0" smtClean="0"/>
                  <a:t>[2, 6] is higher than [4, 4] and </a:t>
                </a:r>
                <a:br>
                  <a:rPr lang="en-US" altLang="zh-TW" sz="2400" dirty="0" smtClean="0"/>
                </a:br>
                <a:r>
                  <a:rPr lang="en-US" altLang="zh-TW" sz="2400" dirty="0" smtClean="0"/>
                  <a:t>[4, 4] is higher then [6, 3]</a:t>
                </a:r>
              </a:p>
            </p:txBody>
          </p:sp>
        </mc:Choice>
        <mc:Fallback>
          <p:sp>
            <p:nvSpPr>
              <p:cNvPr id="5" name="文字方塊 4"/>
              <p:cNvSpPr txBox="1">
                <a:spLocks noRot="1" noChangeAspect="1" noMove="1" noResize="1" noEditPoints="1" noAdjustHandles="1" noChangeArrowheads="1" noChangeShapeType="1" noTextEdit="1"/>
              </p:cNvSpPr>
              <p:nvPr/>
            </p:nvSpPr>
            <p:spPr>
              <a:xfrm>
                <a:off x="251520" y="1931772"/>
                <a:ext cx="4234429" cy="4161524"/>
              </a:xfrm>
              <a:prstGeom prst="rect">
                <a:avLst/>
              </a:prstGeom>
              <a:blipFill rotWithShape="1">
                <a:blip r:embed="rId4"/>
                <a:stretch>
                  <a:fillRect l="-2158" t="-1171" r="-1151" b="-2343"/>
                </a:stretch>
              </a:blipFill>
            </p:spPr>
            <p:txBody>
              <a:bodyPr/>
              <a:lstStyle/>
              <a:p>
                <a:r>
                  <a:rPr lang="zh-TW" altLang="en-US">
                    <a:noFill/>
                  </a:rPr>
                  <a:t> </a:t>
                </a:r>
              </a:p>
            </p:txBody>
          </p:sp>
        </mc:Fallback>
      </mc:AlternateContent>
      <p:sp>
        <p:nvSpPr>
          <p:cNvPr id="7" name="矩形 6"/>
          <p:cNvSpPr/>
          <p:nvPr/>
        </p:nvSpPr>
        <p:spPr>
          <a:xfrm>
            <a:off x="7884368" y="3356992"/>
            <a:ext cx="648072" cy="6480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p:nvSpPr>
        <p:spPr>
          <a:xfrm>
            <a:off x="6804248" y="4437112"/>
            <a:ext cx="648072" cy="6480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p:cNvSpPr/>
          <p:nvPr/>
        </p:nvSpPr>
        <p:spPr>
          <a:xfrm>
            <a:off x="6228184" y="5445224"/>
            <a:ext cx="648072" cy="6480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 xmlns:p14="http://schemas.microsoft.com/office/powerpoint/2010/main" val="299062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a:t>
            </a:r>
            <a:endParaRPr lang="zh-TW" altLang="en-US" dirty="0"/>
          </a:p>
        </p:txBody>
      </p:sp>
      <p:pic>
        <p:nvPicPr>
          <p:cNvPr id="1026" name="Picture 2" descr="F:\Sena\Desktop\ex1.PN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4783075" y="2424296"/>
            <a:ext cx="4248472" cy="3734564"/>
          </a:xfrm>
          <a:prstGeom prst="rect">
            <a:avLst/>
          </a:prstGeom>
          <a:noFill/>
          <a:extLst>
            <a:ext uri="{909E8E84-426E-40DD-AFC4-6F175D3DCCD1}">
              <a14:hiddenFill xmlns="" xmlns:a14="http://schemas.microsoft.com/office/drawing/2010/main">
                <a:solidFill>
                  <a:srgbClr val="FFFFFF"/>
                </a:solidFill>
              </a14:hiddenFill>
            </a:ext>
          </a:extLst>
        </p:spPr>
      </p:pic>
      <mc:AlternateContent xmlns:mc="http://schemas.openxmlformats.org/markup-compatibility/2006">
        <mc:Choice xmlns="" xmlns:a14="http://schemas.microsoft.com/office/drawing/2010/main" Requires="a14">
          <p:sp>
            <p:nvSpPr>
              <p:cNvPr id="4" name="矩形 3"/>
              <p:cNvSpPr/>
              <p:nvPr/>
            </p:nvSpPr>
            <p:spPr>
              <a:xfrm>
                <a:off x="4783075" y="1322999"/>
                <a:ext cx="2497800" cy="954107"/>
              </a:xfrm>
              <a:prstGeom prst="rect">
                <a:avLst/>
              </a:prstGeom>
            </p:spPr>
            <p:txBody>
              <a:bodyPr wrap="none">
                <a:spAutoFit/>
              </a:bodyPr>
              <a:lstStyle/>
              <a:p>
                <a14:m>
                  <m:oMath xmlns:m="http://schemas.openxmlformats.org/officeDocument/2006/math">
                    <m:r>
                      <m:rPr>
                        <m:sty m:val="p"/>
                      </m:rPr>
                      <a:rPr lang="el-GR" altLang="zh-TW" sz="2800" i="1" smtClean="0">
                        <a:latin typeface="Cambria Math"/>
                      </a:rPr>
                      <m:t>α</m:t>
                    </m:r>
                  </m:oMath>
                </a14:m>
                <a:r>
                  <a:rPr lang="zh-TW" altLang="en-US" sz="2800" dirty="0" smtClean="0"/>
                  <a:t/>
                </a:r>
                <a:r>
                  <a:rPr lang="en-US" altLang="zh-TW" sz="2800" dirty="0" smtClean="0"/>
                  <a:t>= c b </a:t>
                </a:r>
                <a:r>
                  <a:rPr lang="en-US" altLang="zh-TW" sz="2800" dirty="0" err="1" smtClean="0"/>
                  <a:t>b</a:t>
                </a:r>
                <a:r>
                  <a:rPr lang="en-US" altLang="zh-TW" sz="2800" dirty="0" smtClean="0"/>
                  <a:t> d a c</a:t>
                </a:r>
                <a:br>
                  <a:rPr lang="en-US" altLang="zh-TW" sz="2800" dirty="0" smtClean="0"/>
                </a:br>
                <a14:m>
                  <m:oMath xmlns:m="http://schemas.openxmlformats.org/officeDocument/2006/math">
                    <m:r>
                      <m:rPr>
                        <m:sty m:val="p"/>
                      </m:rPr>
                      <a:rPr lang="el-GR" altLang="zh-TW" sz="2800" i="1">
                        <a:latin typeface="Cambria Math"/>
                      </a:rPr>
                      <m:t>β</m:t>
                    </m:r>
                  </m:oMath>
                </a14:m>
                <a:r>
                  <a:rPr lang="en-US" altLang="zh-TW" sz="2800" b="0" dirty="0" smtClean="0"/>
                  <a:t> = a b c d </a:t>
                </a:r>
                <a:r>
                  <a:rPr lang="en-US" altLang="zh-TW" sz="2800" b="0" dirty="0" err="1" smtClean="0"/>
                  <a:t>d</a:t>
                </a:r>
                <a:r>
                  <a:rPr lang="en-US" altLang="zh-TW" sz="2800" b="0" dirty="0" smtClean="0"/>
                  <a:t> b a</a:t>
                </a:r>
              </a:p>
            </p:txBody>
          </p:sp>
        </mc:Choice>
        <mc:Fallback>
          <p:sp>
            <p:nvSpPr>
              <p:cNvPr id="4" name="矩形 3"/>
              <p:cNvSpPr>
                <a:spLocks noRot="1" noChangeAspect="1" noMove="1" noResize="1" noEditPoints="1" noAdjustHandles="1" noChangeArrowheads="1" noChangeShapeType="1" noTextEdit="1"/>
              </p:cNvSpPr>
              <p:nvPr/>
            </p:nvSpPr>
            <p:spPr>
              <a:xfrm>
                <a:off x="4783075" y="1322999"/>
                <a:ext cx="2497800" cy="954107"/>
              </a:xfrm>
              <a:prstGeom prst="rect">
                <a:avLst/>
              </a:prstGeom>
              <a:blipFill rotWithShape="1">
                <a:blip r:embed="rId3"/>
                <a:stretch>
                  <a:fillRect t="-6369" r="-4156" b="-16561"/>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3" name="文字方塊 2"/>
              <p:cNvSpPr txBox="1"/>
              <p:nvPr/>
            </p:nvSpPr>
            <p:spPr>
              <a:xfrm>
                <a:off x="179904" y="1322999"/>
                <a:ext cx="4536112" cy="4953151"/>
              </a:xfrm>
              <a:prstGeom prst="rect">
                <a:avLst/>
              </a:prstGeom>
              <a:noFill/>
            </p:spPr>
            <p:txBody>
              <a:bodyPr wrap="square" rtlCol="0">
                <a:spAutoFit/>
              </a:bodyPr>
              <a:lstStyle/>
              <a:p>
                <a14:m>
                  <m:oMath xmlns:m="http://schemas.openxmlformats.org/officeDocument/2006/math">
                    <m:sSub>
                      <m:sSubPr>
                        <m:ctrlPr>
                          <a:rPr lang="en-US" altLang="zh-TW" sz="2400" i="1" smtClean="0">
                            <a:latin typeface="Cambria Math"/>
                          </a:rPr>
                        </m:ctrlPr>
                      </m:sSubPr>
                      <m:e>
                        <m:r>
                          <a:rPr lang="en-US" altLang="zh-TW" sz="2400" b="0" i="1" smtClean="0">
                            <a:latin typeface="Cambria Math"/>
                          </a:rPr>
                          <m:t>𝐷</m:t>
                        </m:r>
                      </m:e>
                      <m:sub>
                        <m:r>
                          <a:rPr lang="en-US" altLang="zh-TW" sz="2400" b="0" i="1" smtClean="0">
                            <a:latin typeface="Cambria Math"/>
                          </a:rPr>
                          <m:t>𝑖</m:t>
                        </m:r>
                        <m:r>
                          <a:rPr lang="en-US" altLang="zh-TW" sz="2400" i="1">
                            <a:latin typeface="Cambria Math"/>
                          </a:rPr>
                          <m:t>𝑗</m:t>
                        </m:r>
                      </m:sub>
                    </m:sSub>
                  </m:oMath>
                </a14:m>
                <a:r>
                  <a:rPr lang="en-US" altLang="zh-TW" sz="2400" dirty="0" smtClean="0"/>
                  <a:t>:</a:t>
                </a:r>
                <a:br>
                  <a:rPr lang="en-US" altLang="zh-TW" sz="2400" dirty="0" smtClean="0"/>
                </a:br>
                <a14:m>
                  <m:oMath xmlns:m="http://schemas.openxmlformats.org/officeDocument/2006/math">
                    <m:r>
                      <a:rPr lang="en-US" altLang="zh-TW" sz="2400" i="1">
                        <a:latin typeface="Cambria Math"/>
                      </a:rPr>
                      <m:t>[</m:t>
                    </m:r>
                    <m:r>
                      <a:rPr lang="en-US" altLang="zh-TW" sz="2400" b="0" i="1" smtClean="0">
                        <a:latin typeface="Cambria Math"/>
                      </a:rPr>
                      <m:t>𝑢</m:t>
                    </m:r>
                  </m:oMath>
                </a14:m>
                <a:r>
                  <a:rPr lang="en-US" altLang="zh-TW" sz="2400" dirty="0"/>
                  <a:t>,</a:t>
                </a:r>
                <a:r>
                  <a:rPr lang="en-US" altLang="zh-TW" sz="2400" dirty="0" smtClean="0"/>
                  <a:t/>
                </a:r>
                <a14:m>
                  <m:oMath xmlns:m="http://schemas.openxmlformats.org/officeDocument/2006/math">
                    <m:r>
                      <a:rPr lang="en-US" altLang="zh-TW" sz="2400" b="0" i="1" smtClean="0">
                        <a:latin typeface="Cambria Math"/>
                      </a:rPr>
                      <m:t>𝑣</m:t>
                    </m:r>
                  </m:oMath>
                </a14:m>
                <a:r>
                  <a:rPr lang="en-US" altLang="zh-TW" sz="2400" dirty="0" smtClean="0"/>
                  <a:t>] is a lower neighbor of </a:t>
                </a:r>
                <a14:m>
                  <m:oMath xmlns:m="http://schemas.openxmlformats.org/officeDocument/2006/math">
                    <m:r>
                      <a:rPr lang="en-US" altLang="zh-TW" sz="2400" i="1">
                        <a:latin typeface="Cambria Math"/>
                      </a:rPr>
                      <m:t>[</m:t>
                    </m:r>
                    <m:r>
                      <a:rPr lang="en-US" altLang="zh-TW" sz="2400" i="1">
                        <a:latin typeface="Cambria Math"/>
                      </a:rPr>
                      <m:t>𝑖</m:t>
                    </m:r>
                  </m:oMath>
                </a14:m>
                <a:r>
                  <a:rPr lang="en-US" altLang="zh-TW" sz="2400" dirty="0"/>
                  <a:t>, </a:t>
                </a:r>
                <a14:m>
                  <m:oMath xmlns:m="http://schemas.openxmlformats.org/officeDocument/2006/math">
                    <m:r>
                      <a:rPr lang="en-US" altLang="zh-TW" sz="2400" i="1">
                        <a:latin typeface="Cambria Math"/>
                      </a:rPr>
                      <m:t>𝑗</m:t>
                    </m:r>
                  </m:oMath>
                </a14:m>
                <a:r>
                  <a:rPr lang="en-US" altLang="zh-TW" sz="2400" dirty="0" smtClean="0"/>
                  <a:t>]</a:t>
                </a:r>
                <a:br>
                  <a:rPr lang="en-US" altLang="zh-TW" sz="2400" dirty="0" smtClean="0"/>
                </a:br>
                <a14:m>
                  <m:oMath xmlns:m="http://schemas.openxmlformats.org/officeDocument/2006/math">
                    <m:sSub>
                      <m:sSubPr>
                        <m:ctrlPr>
                          <a:rPr lang="en-US" altLang="zh-TW" sz="2400" i="1">
                            <a:latin typeface="Cambria Math"/>
                          </a:rPr>
                        </m:ctrlPr>
                      </m:sSubPr>
                      <m:e>
                        <m:r>
                          <a:rPr lang="en-US" altLang="zh-TW" sz="2400" i="1">
                            <a:latin typeface="Cambria Math"/>
                          </a:rPr>
                          <m:t>𝐷</m:t>
                        </m:r>
                      </m:e>
                      <m:sub>
                        <m:r>
                          <a:rPr lang="en-US" altLang="zh-TW" sz="2400" i="1">
                            <a:latin typeface="Cambria Math"/>
                          </a:rPr>
                          <m:t>𝑖𝑗</m:t>
                        </m:r>
                      </m:sub>
                    </m:sSub>
                  </m:oMath>
                </a14:m>
                <a:r>
                  <a:rPr lang="zh-TW" altLang="en-US" sz="2400" dirty="0" smtClean="0"/>
                  <a:t/>
                </a:r>
                <a:r>
                  <a:rPr lang="en-US" altLang="zh-TW" sz="2400" dirty="0" smtClean="0"/>
                  <a:t>is a set of all the (k+1)-dominants</a:t>
                </a:r>
                <a:br>
                  <a:rPr lang="en-US" altLang="zh-TW" sz="2400" dirty="0" smtClean="0"/>
                </a:br>
                <a:r>
                  <a:rPr lang="en-US" altLang="zh-TW" sz="2400" dirty="0" smtClean="0"/>
                  <a:t>in the horizontal strip of L bounded </a:t>
                </a:r>
                <a:br>
                  <a:rPr lang="en-US" altLang="zh-TW" sz="2400" dirty="0" smtClean="0"/>
                </a:br>
                <a:r>
                  <a:rPr lang="en-US" altLang="zh-TW" sz="2400" dirty="0" smtClean="0"/>
                  <a:t>by row </a:t>
                </a:r>
                <a14:m>
                  <m:oMath xmlns:m="http://schemas.openxmlformats.org/officeDocument/2006/math">
                    <m:r>
                      <a:rPr lang="en-US" altLang="zh-TW" sz="2400" b="0" i="1" smtClean="0">
                        <a:latin typeface="Cambria Math"/>
                      </a:rPr>
                      <m:t>𝑖</m:t>
                    </m:r>
                    <m:r>
                      <a:rPr lang="en-US" altLang="zh-TW" sz="2400" b="0" i="1" smtClean="0">
                        <a:latin typeface="Cambria Math"/>
                      </a:rPr>
                      <m:t>+1</m:t>
                    </m:r>
                  </m:oMath>
                </a14:m>
                <a:r>
                  <a:rPr lang="en-US" altLang="zh-TW" sz="2400" dirty="0" smtClean="0"/>
                  <a:t> and </a:t>
                </a:r>
                <a14:m>
                  <m:oMath xmlns:m="http://schemas.openxmlformats.org/officeDocument/2006/math">
                    <m:r>
                      <a:rPr lang="en-US" altLang="zh-TW" sz="2400" i="1">
                        <a:latin typeface="Cambria Math"/>
                      </a:rPr>
                      <m:t>𝑢</m:t>
                    </m:r>
                  </m:oMath>
                </a14:m>
                <a:r>
                  <a:rPr lang="en-US" altLang="zh-TW" sz="2400" dirty="0" smtClean="0"/>
                  <a:t/>
                </a:r>
                <a:br>
                  <a:rPr lang="en-US" altLang="zh-TW" sz="2400" dirty="0" smtClean="0"/>
                </a:br>
                <a:r>
                  <a:rPr lang="en-US" altLang="zh-TW" sz="2400" dirty="0" smtClean="0"/>
                  <a:t/>
                </a:r>
                <a:br>
                  <a:rPr lang="en-US" altLang="zh-TW" sz="2400" dirty="0" smtClean="0"/>
                </a:br>
                <a:r>
                  <a:rPr lang="en-US" altLang="zh-TW" sz="2400" dirty="0" smtClean="0"/>
                  <a:t>Example: </a:t>
                </a:r>
              </a:p>
              <a:p>
                <a14:m>
                  <m:oMath xmlns:m="http://schemas.openxmlformats.org/officeDocument/2006/math">
                    <m:sSup>
                      <m:sSupPr>
                        <m:ctrlPr>
                          <a:rPr lang="en-US" altLang="zh-TW" sz="2400" i="1">
                            <a:latin typeface="Cambria Math"/>
                          </a:rPr>
                        </m:ctrlPr>
                      </m:sSupPr>
                      <m:e>
                        <m:r>
                          <a:rPr lang="en-US" altLang="zh-TW" sz="2400" i="1">
                            <a:latin typeface="Cambria Math"/>
                          </a:rPr>
                          <m:t>𝐷</m:t>
                        </m:r>
                      </m:e>
                      <m:sup>
                        <m:r>
                          <a:rPr lang="en-US" altLang="zh-TW" sz="2400" b="0" i="1" smtClean="0">
                            <a:latin typeface="Cambria Math"/>
                          </a:rPr>
                          <m:t>1</m:t>
                        </m:r>
                      </m:sup>
                    </m:sSup>
                  </m:oMath>
                </a14:m>
                <a:r>
                  <a:rPr lang="zh-TW" altLang="en-US" sz="2400" dirty="0" smtClean="0"/>
                  <a:t/>
                </a:r>
                <a:r>
                  <a:rPr lang="en-US" altLang="zh-TW" sz="2400" dirty="0" smtClean="0"/>
                  <a:t>= {[1, 3], [2, 2], [5, 1]}</a:t>
                </a:r>
                <a:r>
                  <a:rPr lang="zh-TW" altLang="en-US" sz="2400" dirty="0" smtClean="0"/>
                  <a:t>有三個元素，故</a:t>
                </a:r>
                <a14:m>
                  <m:oMath xmlns:m="http://schemas.openxmlformats.org/officeDocument/2006/math">
                    <m:sSup>
                      <m:sSupPr>
                        <m:ctrlPr>
                          <a:rPr lang="en-US" altLang="zh-TW" sz="2400" i="1">
                            <a:latin typeface="Cambria Math"/>
                          </a:rPr>
                        </m:ctrlPr>
                      </m:sSupPr>
                      <m:e>
                        <m:r>
                          <a:rPr lang="en-US" altLang="zh-TW" sz="2400" i="1">
                            <a:latin typeface="Cambria Math"/>
                          </a:rPr>
                          <m:t>𝐷</m:t>
                        </m:r>
                      </m:e>
                      <m:sup>
                        <m:r>
                          <a:rPr lang="en-US" altLang="zh-TW" sz="2400" i="1">
                            <a:latin typeface="Cambria Math"/>
                          </a:rPr>
                          <m:t>2</m:t>
                        </m:r>
                      </m:sup>
                    </m:sSup>
                  </m:oMath>
                </a14:m>
                <a:r>
                  <a:rPr lang="zh-TW" altLang="en-US" sz="2400" dirty="0" smtClean="0"/>
                  <a:t>可分為三個子集合，分別是：</a:t>
                </a:r>
                <a:r>
                  <a:rPr lang="en-US" altLang="zh-TW" sz="2400" i="1" dirty="0" smtClean="0">
                    <a:latin typeface="Cambria Math"/>
                  </a:rPr>
                  <a:t/>
                </a:r>
                <a:br>
                  <a:rPr lang="en-US" altLang="zh-TW" sz="2400" i="1" dirty="0" smtClean="0">
                    <a:latin typeface="Cambria Math"/>
                  </a:rPr>
                </a:br>
                <a14:m>
                  <m:oMath xmlns:m="http://schemas.openxmlformats.org/officeDocument/2006/math">
                    <m:sSub>
                      <m:sSubPr>
                        <m:ctrlPr>
                          <a:rPr lang="en-US" altLang="zh-TW" sz="2400" i="1">
                            <a:latin typeface="Cambria Math"/>
                          </a:rPr>
                        </m:ctrlPr>
                      </m:sSubPr>
                      <m:e>
                        <m:r>
                          <a:rPr lang="en-US" altLang="zh-TW" sz="2400" i="1">
                            <a:latin typeface="Cambria Math"/>
                          </a:rPr>
                          <m:t>𝐷</m:t>
                        </m:r>
                      </m:e>
                      <m:sub>
                        <m:r>
                          <a:rPr lang="en-US" altLang="zh-TW" sz="2400" b="0" i="1" smtClean="0">
                            <a:latin typeface="Cambria Math"/>
                          </a:rPr>
                          <m:t>13</m:t>
                        </m:r>
                      </m:sub>
                    </m:sSub>
                  </m:oMath>
                </a14:m>
                <a:r>
                  <a:rPr lang="zh-TW" altLang="en-US" sz="2400" dirty="0" smtClean="0"/>
                  <a:t/>
                </a:r>
                <a:r>
                  <a:rPr lang="en-US" altLang="zh-TW" sz="2400" dirty="0" smtClean="0"/>
                  <a:t>=</a:t>
                </a:r>
                <a:r>
                  <a:rPr lang="zh-TW" altLang="en-US" sz="2400" dirty="0" smtClean="0"/>
                  <a:t/>
                </a:r>
                <a:r>
                  <a:rPr lang="en-US" altLang="zh-TW" sz="2400" dirty="0" smtClean="0"/>
                  <a:t>{[2, 6]}</a:t>
                </a:r>
                <a:r>
                  <a:rPr lang="zh-TW" altLang="en-US" sz="2400" dirty="0" smtClean="0"/>
                  <a:t>，</a:t>
                </a:r>
                <a14:m>
                  <m:oMath xmlns:m="http://schemas.openxmlformats.org/officeDocument/2006/math">
                    <m:sSub>
                      <m:sSubPr>
                        <m:ctrlPr>
                          <a:rPr lang="en-US" altLang="zh-TW" sz="2400" i="1">
                            <a:latin typeface="Cambria Math"/>
                          </a:rPr>
                        </m:ctrlPr>
                      </m:sSubPr>
                      <m:e>
                        <m:r>
                          <a:rPr lang="en-US" altLang="zh-TW" sz="2400" i="1">
                            <a:latin typeface="Cambria Math"/>
                          </a:rPr>
                          <m:t>𝐷</m:t>
                        </m:r>
                      </m:e>
                      <m:sub>
                        <m:r>
                          <a:rPr lang="en-US" altLang="zh-TW" sz="2400" b="0" i="1" smtClean="0">
                            <a:latin typeface="Cambria Math"/>
                          </a:rPr>
                          <m:t>22</m:t>
                        </m:r>
                      </m:sub>
                    </m:sSub>
                  </m:oMath>
                </a14:m>
                <a:r>
                  <a:rPr lang="zh-TW" altLang="en-US" sz="2400" dirty="0" smtClean="0"/>
                  <a:t/>
                </a:r>
                <a:r>
                  <a:rPr lang="en-US" altLang="zh-TW" sz="2400" dirty="0" smtClean="0"/>
                  <a:t>=</a:t>
                </a:r>
                <a:r>
                  <a:rPr lang="zh-TW" altLang="en-US" sz="2400" dirty="0" smtClean="0"/>
                  <a:t/>
                </a:r>
                <a:r>
                  <a:rPr lang="en-US" altLang="zh-TW" sz="2400" dirty="0" smtClean="0"/>
                  <a:t>{[4, 4]}</a:t>
                </a:r>
                <a:r>
                  <a:rPr lang="zh-TW" altLang="en-US" sz="2400" dirty="0" smtClean="0"/>
                  <a:t>，</a:t>
                </a:r>
                <a:r>
                  <a:rPr lang="en-US" altLang="zh-TW" sz="2400" dirty="0" smtClean="0"/>
                  <a:t/>
                </a:r>
                <a:br>
                  <a:rPr lang="en-US" altLang="zh-TW" sz="2400" dirty="0" smtClean="0"/>
                </a:br>
                <a14:m>
                  <m:oMath xmlns:m="http://schemas.openxmlformats.org/officeDocument/2006/math">
                    <m:sSub>
                      <m:sSubPr>
                        <m:ctrlPr>
                          <a:rPr lang="en-US" altLang="zh-TW" sz="2400" i="1">
                            <a:latin typeface="Cambria Math"/>
                          </a:rPr>
                        </m:ctrlPr>
                      </m:sSubPr>
                      <m:e>
                        <m:r>
                          <a:rPr lang="en-US" altLang="zh-TW" sz="2400" i="1">
                            <a:latin typeface="Cambria Math"/>
                          </a:rPr>
                          <m:t>𝐷</m:t>
                        </m:r>
                      </m:e>
                      <m:sub>
                        <m:r>
                          <a:rPr lang="en-US" altLang="zh-TW" sz="2400" b="0" i="1" smtClean="0">
                            <a:latin typeface="Cambria Math"/>
                          </a:rPr>
                          <m:t>51</m:t>
                        </m:r>
                      </m:sub>
                    </m:sSub>
                  </m:oMath>
                </a14:m>
                <a:r>
                  <a:rPr lang="zh-TW" altLang="en-US" sz="2400" dirty="0" smtClean="0"/>
                  <a:t/>
                </a:r>
                <a:r>
                  <a:rPr lang="en-US" altLang="zh-TW" sz="2400" dirty="0" smtClean="0"/>
                  <a:t>=</a:t>
                </a:r>
                <a:r>
                  <a:rPr lang="zh-TW" altLang="en-US" sz="2400" dirty="0" smtClean="0"/>
                  <a:t/>
                </a:r>
                <a:r>
                  <a:rPr lang="en-US" altLang="zh-TW" sz="2400" dirty="0" smtClean="0"/>
                  <a:t>{[6, 3]}</a:t>
                </a:r>
                <a:r>
                  <a:rPr lang="zh-TW" altLang="en-US" sz="2400" dirty="0" smtClean="0"/>
                  <a:t>。</a:t>
                </a:r>
                <a:endParaRPr lang="zh-TW" altLang="en-US" sz="2400" dirty="0"/>
              </a:p>
            </p:txBody>
          </p:sp>
        </mc:Choice>
        <mc:Fallback>
          <p:sp>
            <p:nvSpPr>
              <p:cNvPr id="3" name="文字方塊 2"/>
              <p:cNvSpPr txBox="1">
                <a:spLocks noRot="1" noChangeAspect="1" noMove="1" noResize="1" noEditPoints="1" noAdjustHandles="1" noChangeArrowheads="1" noChangeShapeType="1" noTextEdit="1"/>
              </p:cNvSpPr>
              <p:nvPr/>
            </p:nvSpPr>
            <p:spPr>
              <a:xfrm>
                <a:off x="179904" y="1322999"/>
                <a:ext cx="4536112" cy="4953151"/>
              </a:xfrm>
              <a:prstGeom prst="rect">
                <a:avLst/>
              </a:prstGeom>
              <a:blipFill rotWithShape="1">
                <a:blip r:embed="rId4"/>
                <a:stretch>
                  <a:fillRect l="-2151" t="-984" r="-2957" b="-1845"/>
                </a:stretch>
              </a:blipFill>
            </p:spPr>
            <p:txBody>
              <a:bodyPr/>
              <a:lstStyle/>
              <a:p>
                <a:r>
                  <a:rPr lang="zh-TW" altLang="en-US">
                    <a:noFill/>
                  </a:rPr>
                  <a:t> </a:t>
                </a:r>
              </a:p>
            </p:txBody>
          </p:sp>
        </mc:Fallback>
      </mc:AlternateContent>
      <p:sp>
        <p:nvSpPr>
          <p:cNvPr id="7" name="矩形 6"/>
          <p:cNvSpPr/>
          <p:nvPr/>
        </p:nvSpPr>
        <p:spPr>
          <a:xfrm>
            <a:off x="6907310" y="3356992"/>
            <a:ext cx="2057177" cy="6480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p:cNvSpPr/>
          <p:nvPr/>
        </p:nvSpPr>
        <p:spPr>
          <a:xfrm>
            <a:off x="6372200" y="4077072"/>
            <a:ext cx="2592288" cy="1296144"/>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p:nvSpPr>
        <p:spPr>
          <a:xfrm>
            <a:off x="5796136" y="5445224"/>
            <a:ext cx="3168352" cy="576064"/>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 xmlns:p14="http://schemas.microsoft.com/office/powerpoint/2010/main" val="33132673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 xmlns:a14="http://schemas.microsoft.com/office/drawing/2010/main" Requires="a14">
          <p:sp>
            <p:nvSpPr>
              <p:cNvPr id="2" name="標題 1"/>
              <p:cNvSpPr>
                <a:spLocks noGrp="1"/>
              </p:cNvSpPr>
              <p:nvPr>
                <p:ph type="title"/>
              </p:nvPr>
            </p:nvSpPr>
            <p:spPr/>
            <p:txBody>
              <a:bodyPr/>
              <a:lstStyle/>
              <a:p>
                <a14:m>
                  <m:oMath xmlns:m="http://schemas.openxmlformats.org/officeDocument/2006/math">
                    <m:r>
                      <m:rPr>
                        <m:sty m:val="p"/>
                      </m:rPr>
                      <a:rPr lang="el-GR" altLang="zh-TW" i="1" smtClean="0">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smtClean="0"/>
                  <a:t>&amp;</a:t>
                </a:r>
                <a:r>
                  <a:rPr lang="zh-TW" altLang="en-US" dirty="0" smtClean="0"/>
                  <a:t/>
                </a:r>
                <a14:m>
                  <m:oMath xmlns:m="http://schemas.openxmlformats.org/officeDocument/2006/math">
                    <m:r>
                      <m:rPr>
                        <m:sty m:val="p"/>
                      </m:rPr>
                      <a:rPr lang="el-GR" altLang="zh-TW" i="1" smtClean="0">
                        <a:latin typeface="Cambria Math"/>
                      </a:rPr>
                      <m:t>β</m:t>
                    </m:r>
                    <m:r>
                      <a:rPr lang="en-US" altLang="zh-TW" i="1">
                        <a:latin typeface="Cambria Math"/>
                      </a:rPr>
                      <m:t>−</m:t>
                    </m:r>
                    <m:r>
                      <a:rPr lang="en-US" altLang="zh-TW" i="1">
                        <a:latin typeface="Cambria Math"/>
                      </a:rPr>
                      <m:t>𝐶𝐿𝑂𝑆𝐸𝑆𝑇</m:t>
                    </m:r>
                  </m:oMath>
                </a14:m>
                <a:endParaRPr lang="zh-TW" altLang="en-US" dirty="0"/>
              </a:p>
            </p:txBody>
          </p:sp>
        </mc:Choice>
        <mc:Fallback>
          <p:sp>
            <p:nvSpPr>
              <p:cNvPr id="2" name="標題 1"/>
              <p:cNvSpPr>
                <a:spLocks noGrp="1" noRot="1" noChangeAspect="1" noMove="1" noResize="1" noEditPoints="1" noAdjustHandles="1" noChangeArrowheads="1" noChangeShapeType="1" noTextEdit="1"/>
              </p:cNvSpPr>
              <p:nvPr>
                <p:ph type="title"/>
              </p:nvPr>
            </p:nvSpPr>
            <p:spPr>
              <a:blipFill rotWithShape="1">
                <a:blip r:embed="rId2"/>
                <a:stretch>
                  <a:fillRect b="-9043"/>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3" name="內容版面配置區 2"/>
              <p:cNvSpPr>
                <a:spLocks noGrp="1"/>
              </p:cNvSpPr>
              <p:nvPr>
                <p:ph idx="1"/>
              </p:nvPr>
            </p:nvSpPr>
            <p:spPr>
              <a:xfrm>
                <a:off x="457200" y="1600200"/>
                <a:ext cx="8229600" cy="4925144"/>
              </a:xfrm>
            </p:spPr>
            <p:txBody>
              <a:bodyPr>
                <a:normAutofit fontScale="77500" lnSpcReduction="20000"/>
              </a:bodyPr>
              <a:lstStyle/>
              <a:p>
                <a14:m>
                  <m:oMath xmlns:m="http://schemas.openxmlformats.org/officeDocument/2006/math">
                    <m:r>
                      <m:rPr>
                        <m:sty m:val="p"/>
                      </m:rPr>
                      <a:rPr lang="el-GR" altLang="zh-TW" i="1" smtClean="0">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smtClean="0"/>
                  <a:t>[1…</a:t>
                </a:r>
                <a14:m>
                  <m:oMath xmlns:m="http://schemas.openxmlformats.org/officeDocument/2006/math">
                    <m:r>
                      <a:rPr lang="en-US" altLang="zh-TW" b="0" i="1" smtClean="0">
                        <a:latin typeface="Cambria Math"/>
                      </a:rPr>
                      <m:t>𝑠</m:t>
                    </m:r>
                  </m:oMath>
                </a14:m>
                <a:r>
                  <a:rPr lang="en-US" altLang="zh-TW" dirty="0" smtClean="0"/>
                  <a:t>, 0…</a:t>
                </a:r>
                <a14:m>
                  <m:oMath xmlns:m="http://schemas.openxmlformats.org/officeDocument/2006/math">
                    <m:r>
                      <a:rPr lang="en-US" altLang="zh-TW" b="0" i="1" smtClean="0">
                        <a:latin typeface="Cambria Math"/>
                      </a:rPr>
                      <m:t>𝑚</m:t>
                    </m:r>
                  </m:oMath>
                </a14:m>
                <a:r>
                  <a:rPr lang="en-US" altLang="zh-TW" dirty="0" smtClean="0"/>
                  <a:t>]</a:t>
                </a:r>
              </a:p>
              <a:p>
                <a14:m>
                  <m:oMath xmlns:m="http://schemas.openxmlformats.org/officeDocument/2006/math">
                    <m:r>
                      <m:rPr>
                        <m:sty m:val="p"/>
                      </m:rPr>
                      <a:rPr lang="el-GR" altLang="zh-TW" i="1">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smtClean="0"/>
                  <a:t>[</a:t>
                </a:r>
                <a14:m>
                  <m:oMath xmlns:m="http://schemas.openxmlformats.org/officeDocument/2006/math">
                    <m:r>
                      <a:rPr lang="en-US" altLang="zh-TW" b="0" i="1" dirty="0" smtClean="0">
                        <a:latin typeface="Cambria Math"/>
                      </a:rPr>
                      <m:t>𝑝</m:t>
                    </m:r>
                  </m:oMath>
                </a14:m>
                <a:r>
                  <a:rPr lang="en-US" altLang="zh-TW" dirty="0" smtClean="0"/>
                  <a:t>,</a:t>
                </a:r>
                <a:r>
                  <a:rPr lang="en-US" altLang="zh-TW" dirty="0"/>
                  <a:t/>
                </a:r>
                <a14:m>
                  <m:oMath xmlns:m="http://schemas.openxmlformats.org/officeDocument/2006/math">
                    <m:r>
                      <a:rPr lang="en-US" altLang="zh-TW" b="0" i="1" smtClean="0">
                        <a:latin typeface="Cambria Math"/>
                      </a:rPr>
                      <m:t>𝑞</m:t>
                    </m:r>
                  </m:oMath>
                </a14:m>
                <a:r>
                  <a:rPr lang="en-US" altLang="zh-TW" dirty="0" smtClean="0"/>
                  <a:t>]</a:t>
                </a:r>
                <a:r>
                  <a:rPr lang="zh-TW" altLang="en-US" dirty="0" smtClean="0"/>
                  <a:t>：</a:t>
                </a:r>
                <a:r>
                  <a:rPr lang="el-GR" altLang="zh-TW" dirty="0"/>
                  <a:t/>
                </a:r>
                <a14:m>
                  <m:oMath xmlns:m="http://schemas.openxmlformats.org/officeDocument/2006/math">
                    <m:r>
                      <m:rPr>
                        <m:sty m:val="p"/>
                      </m:rPr>
                      <a:rPr lang="el-GR" altLang="zh-TW" i="1">
                        <a:latin typeface="Cambria Math"/>
                      </a:rPr>
                      <m:t>α</m:t>
                    </m:r>
                  </m:oMath>
                </a14:m>
                <a:r>
                  <a:rPr lang="zh-TW" altLang="en-US" dirty="0" smtClean="0"/>
                  <a:t>的第</a:t>
                </a:r>
                <a14:m>
                  <m:oMath xmlns:m="http://schemas.openxmlformats.org/officeDocument/2006/math">
                    <m:r>
                      <a:rPr lang="en-US" altLang="zh-TW" b="0" i="1" smtClean="0">
                        <a:latin typeface="Cambria Math"/>
                      </a:rPr>
                      <m:t>𝑞</m:t>
                    </m:r>
                  </m:oMath>
                </a14:m>
                <a:r>
                  <a:rPr lang="zh-TW" altLang="en-US" b="0" dirty="0" smtClean="0"/>
                  <a:t>個元素後面，第</a:t>
                </a:r>
                <a14:m>
                  <m:oMath xmlns:m="http://schemas.openxmlformats.org/officeDocument/2006/math">
                    <m:r>
                      <a:rPr lang="en-US" altLang="zh-TW" b="0" i="1" smtClean="0">
                        <a:latin typeface="Cambria Math"/>
                      </a:rPr>
                      <m:t>𝑝</m:t>
                    </m:r>
                  </m:oMath>
                </a14:m>
                <a:r>
                  <a:rPr lang="zh-TW" altLang="en-US" b="0" dirty="0" smtClean="0"/>
                  <a:t>個不同符號出現的最近位置。</a:t>
                </a:r>
                <a:endParaRPr lang="en-US" altLang="zh-TW" b="0" dirty="0" smtClean="0"/>
              </a:p>
              <a:p>
                <a14:m>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a14:m>
                <a:r>
                  <a:rPr lang="en-US" altLang="zh-TW" b="0" dirty="0" smtClean="0"/>
                  <a:t>[</a:t>
                </a:r>
                <a14:m>
                  <m:oMath xmlns:m="http://schemas.openxmlformats.org/officeDocument/2006/math">
                    <m:sSub>
                      <m:sSubPr>
                        <m:ctrlPr>
                          <a:rPr lang="en-US" altLang="zh-TW" b="0" i="1" dirty="0" smtClean="0">
                            <a:latin typeface="Cambria Math"/>
                          </a:rPr>
                        </m:ctrlPr>
                      </m:sSubPr>
                      <m:e>
                        <m:r>
                          <a:rPr lang="zh-TW" altLang="en-US" b="0" i="1" dirty="0" smtClean="0">
                            <a:latin typeface="Cambria Math"/>
                          </a:rPr>
                          <m:t>𝜎</m:t>
                        </m:r>
                      </m:e>
                      <m:sub>
                        <m:r>
                          <a:rPr lang="en-US" altLang="zh-TW" b="0" i="1" dirty="0" smtClean="0">
                            <a:latin typeface="Cambria Math"/>
                          </a:rPr>
                          <m:t>1</m:t>
                        </m:r>
                      </m:sub>
                    </m:sSub>
                  </m:oMath>
                </a14:m>
                <a:r>
                  <a:rPr lang="en-US" altLang="zh-TW" b="0" dirty="0" smtClean="0"/>
                  <a:t>…</a:t>
                </a:r>
                <a14:m>
                  <m:oMath xmlns:m="http://schemas.openxmlformats.org/officeDocument/2006/math">
                    <m:sSub>
                      <m:sSubPr>
                        <m:ctrlPr>
                          <a:rPr lang="en-US" altLang="zh-TW" i="1" dirty="0">
                            <a:latin typeface="Cambria Math"/>
                          </a:rPr>
                        </m:ctrlPr>
                      </m:sSubPr>
                      <m:e>
                        <m:r>
                          <a:rPr lang="zh-TW" altLang="en-US" i="1" dirty="0">
                            <a:latin typeface="Cambria Math"/>
                          </a:rPr>
                          <m:t>𝜎</m:t>
                        </m:r>
                      </m:e>
                      <m:sub>
                        <m:r>
                          <a:rPr lang="en-US" altLang="zh-TW" b="0" i="1" dirty="0" smtClean="0">
                            <a:latin typeface="Cambria Math"/>
                          </a:rPr>
                          <m:t>𝑆</m:t>
                        </m:r>
                      </m:sub>
                    </m:sSub>
                  </m:oMath>
                </a14:m>
                <a:r>
                  <a:rPr lang="en-US" altLang="zh-TW" b="0" dirty="0" smtClean="0"/>
                  <a:t>, 0…</a:t>
                </a:r>
                <a:r>
                  <a:rPr lang="en-US" altLang="zh-TW" dirty="0"/>
                  <a:t/>
                </a:r>
                <a14:m>
                  <m:oMath xmlns:m="http://schemas.openxmlformats.org/officeDocument/2006/math">
                    <m:r>
                      <a:rPr lang="en-US" altLang="zh-TW" b="0" i="1" smtClean="0">
                        <a:latin typeface="Cambria Math"/>
                      </a:rPr>
                      <m:t>𝑛</m:t>
                    </m:r>
                  </m:oMath>
                </a14:m>
                <a:r>
                  <a:rPr lang="en-US" altLang="zh-TW" b="0" dirty="0" smtClean="0"/>
                  <a:t>]</a:t>
                </a:r>
              </a:p>
              <a:p>
                <a14:m>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a14:m>
                <a:r>
                  <a:rPr lang="en-US" altLang="zh-TW" b="0" dirty="0" smtClean="0"/>
                  <a:t>[</a:t>
                </a:r>
                <a14:m>
                  <m:oMath xmlns:m="http://schemas.openxmlformats.org/officeDocument/2006/math">
                    <m:r>
                      <a:rPr lang="zh-TW" altLang="en-US" i="1" dirty="0">
                        <a:latin typeface="Cambria Math"/>
                      </a:rPr>
                      <m:t>𝜎</m:t>
                    </m:r>
                  </m:oMath>
                </a14:m>
                <a:r>
                  <a:rPr lang="en-US" altLang="zh-TW" b="0" dirty="0" smtClean="0"/>
                  <a:t>, </a:t>
                </a:r>
                <a14:m>
                  <m:oMath xmlns:m="http://schemas.openxmlformats.org/officeDocument/2006/math">
                    <m:r>
                      <a:rPr lang="en-US" altLang="zh-TW" i="1">
                        <a:latin typeface="Cambria Math"/>
                      </a:rPr>
                      <m:t>𝑞</m:t>
                    </m:r>
                  </m:oMath>
                </a14:m>
                <a:r>
                  <a:rPr lang="en-US" altLang="zh-TW" b="0" dirty="0" smtClean="0"/>
                  <a:t>]</a:t>
                </a:r>
                <a:r>
                  <a:rPr lang="zh-TW" altLang="en-US" b="0" dirty="0" smtClean="0"/>
                  <a:t>：</a:t>
                </a:r>
                <a:r>
                  <a:rPr lang="el-GR" altLang="zh-TW" dirty="0"/>
                  <a:t/>
                </a:r>
                <a14:m>
                  <m:oMath xmlns:m="http://schemas.openxmlformats.org/officeDocument/2006/math">
                    <m:r>
                      <m:rPr>
                        <m:sty m:val="p"/>
                      </m:rPr>
                      <a:rPr lang="el-GR" altLang="zh-TW" i="1">
                        <a:latin typeface="Cambria Math"/>
                      </a:rPr>
                      <m:t>β</m:t>
                    </m:r>
                  </m:oMath>
                </a14:m>
                <a:r>
                  <a:rPr lang="zh-TW" altLang="en-US" b="0" dirty="0" smtClean="0"/>
                  <a:t>的第</a:t>
                </a:r>
                <a14:m>
                  <m:oMath xmlns:m="http://schemas.openxmlformats.org/officeDocument/2006/math">
                    <m:r>
                      <a:rPr lang="en-US" altLang="zh-TW" b="0" i="1" smtClean="0">
                        <a:latin typeface="Cambria Math"/>
                      </a:rPr>
                      <m:t>𝑞</m:t>
                    </m:r>
                  </m:oMath>
                </a14:m>
                <a:r>
                  <a:rPr lang="zh-TW" altLang="en-US" b="0" dirty="0" smtClean="0"/>
                  <a:t>個元素後面，符號</a:t>
                </a:r>
                <a14:m>
                  <m:oMath xmlns:m="http://schemas.openxmlformats.org/officeDocument/2006/math">
                    <m:r>
                      <a:rPr lang="zh-TW" altLang="en-US" i="1" dirty="0">
                        <a:latin typeface="Cambria Math"/>
                      </a:rPr>
                      <m:t>𝜎</m:t>
                    </m:r>
                  </m:oMath>
                </a14:m>
                <a:r>
                  <a:rPr lang="zh-TW" altLang="en-US" b="0" dirty="0" smtClean="0"/>
                  <a:t>出現的最近位置。</a:t>
                </a:r>
                <a:endParaRPr lang="en-US" altLang="zh-TW" b="0" dirty="0" smtClean="0"/>
              </a:p>
              <a:p>
                <a:r>
                  <a:rPr lang="zh-TW" altLang="en-US" dirty="0"/>
                  <a:t>利用這兩個表格的對應關係</a:t>
                </a:r>
                <a:r>
                  <a:rPr lang="zh-TW" altLang="en-US" dirty="0" smtClean="0"/>
                  <a:t>，找出</a:t>
                </a:r>
                <a:r>
                  <a:rPr lang="zh-TW" altLang="en-US" dirty="0"/>
                  <a:t>可能為</a:t>
                </a:r>
                <a:r>
                  <a:rPr lang="en-US" altLang="zh-TW" dirty="0"/>
                  <a:t>dominant</a:t>
                </a:r>
                <a:r>
                  <a:rPr lang="zh-TW" altLang="en-US" dirty="0" smtClean="0"/>
                  <a:t>的</a:t>
                </a:r>
                <a:r>
                  <a:rPr lang="en-US" altLang="zh-TW" dirty="0" smtClean="0"/>
                  <a:t>match</a:t>
                </a:r>
                <a:r>
                  <a:rPr lang="zh-TW" altLang="en-US" dirty="0" smtClean="0"/>
                  <a:t>。</a:t>
                </a:r>
                <a:endParaRPr lang="en-US" altLang="zh-TW" dirty="0"/>
              </a:p>
              <a:p>
                <a14:m>
                  <m:oMath xmlns:m="http://schemas.openxmlformats.org/officeDocument/2006/math">
                    <m:sSub>
                      <m:sSubPr>
                        <m:ctrlPr>
                          <a:rPr lang="en-US" altLang="zh-TW" i="1">
                            <a:latin typeface="Cambria Math"/>
                          </a:rPr>
                        </m:ctrlPr>
                      </m:sSubPr>
                      <m:e>
                        <m:r>
                          <a:rPr lang="en-US" altLang="zh-TW" b="0" i="1" smtClean="0">
                            <a:latin typeface="Cambria Math"/>
                          </a:rPr>
                          <m:t>𝑆</m:t>
                        </m:r>
                      </m:e>
                      <m:sub>
                        <m:r>
                          <a:rPr lang="en-US" altLang="zh-TW" i="1">
                            <a:latin typeface="Cambria Math"/>
                          </a:rPr>
                          <m:t>𝑖𝑗</m:t>
                        </m:r>
                      </m:sub>
                    </m:sSub>
                  </m:oMath>
                </a14:m>
                <a:r>
                  <a:rPr lang="zh-TW" altLang="en-US" b="0" dirty="0" smtClean="0"/>
                  <a:t>：利用這兩個表格找出的</a:t>
                </a:r>
                <a:r>
                  <a:rPr lang="en-US" altLang="zh-TW" b="0" dirty="0" smtClean="0"/>
                  <a:t>match</a:t>
                </a:r>
                <a:r>
                  <a:rPr lang="zh-TW" altLang="en-US" b="0" dirty="0" smtClean="0"/>
                  <a:t>的集合</a:t>
                </a:r>
                <a:endParaRPr lang="en-US" altLang="zh-TW" b="0" dirty="0" smtClean="0"/>
              </a:p>
              <a:p>
                <a:r>
                  <a:rPr lang="en-US" altLang="zh-TW" dirty="0" smtClean="0"/>
                  <a:t>[</a:t>
                </a:r>
                <a14:m>
                  <m:oMath xmlns:m="http://schemas.openxmlformats.org/officeDocument/2006/math">
                    <m:sSub>
                      <m:sSubPr>
                        <m:ctrlPr>
                          <a:rPr lang="en-US" altLang="zh-TW" i="1" dirty="0">
                            <a:latin typeface="Cambria Math"/>
                          </a:rPr>
                        </m:ctrlPr>
                      </m:sSubPr>
                      <m:e>
                        <m:r>
                          <a:rPr lang="en-US" altLang="zh-TW" b="0" i="1" dirty="0" smtClean="0">
                            <a:latin typeface="Cambria Math"/>
                          </a:rPr>
                          <m:t>𝑝</m:t>
                        </m:r>
                      </m:e>
                      <m:sub>
                        <m:r>
                          <a:rPr lang="zh-TW" altLang="en-US" i="1" dirty="0">
                            <a:latin typeface="Cambria Math"/>
                          </a:rPr>
                          <m:t>𝜎</m:t>
                        </m:r>
                      </m:sub>
                    </m:sSub>
                  </m:oMath>
                </a14:m>
                <a:r>
                  <a:rPr lang="en-US" altLang="zh-TW" dirty="0" smtClean="0"/>
                  <a:t>,</a:t>
                </a:r>
                <a:r>
                  <a:rPr lang="en-US" altLang="zh-TW" dirty="0"/>
                  <a:t/>
                </a:r>
                <a14:m>
                  <m:oMath xmlns:m="http://schemas.openxmlformats.org/officeDocument/2006/math">
                    <m:sSub>
                      <m:sSubPr>
                        <m:ctrlPr>
                          <a:rPr lang="en-US" altLang="zh-TW" i="1" dirty="0">
                            <a:latin typeface="Cambria Math"/>
                          </a:rPr>
                        </m:ctrlPr>
                      </m:sSubPr>
                      <m:e>
                        <m:r>
                          <a:rPr lang="en-US" altLang="zh-TW" b="0" i="1" dirty="0" smtClean="0">
                            <a:latin typeface="Cambria Math"/>
                          </a:rPr>
                          <m:t>𝑞</m:t>
                        </m:r>
                      </m:e>
                      <m:sub>
                        <m:r>
                          <a:rPr lang="zh-TW" altLang="en-US" i="1" dirty="0">
                            <a:latin typeface="Cambria Math"/>
                          </a:rPr>
                          <m:t>𝜎</m:t>
                        </m:r>
                      </m:sub>
                    </m:sSub>
                  </m:oMath>
                </a14:m>
                <a:r>
                  <a:rPr lang="en-US" altLang="zh-TW" dirty="0" smtClean="0"/>
                  <a:t>]</a:t>
                </a:r>
                <a:r>
                  <a:rPr lang="zh-TW" altLang="en-US" dirty="0" smtClean="0"/>
                  <a:t>是個在</a:t>
                </a:r>
                <a14:m>
                  <m:oMath xmlns:m="http://schemas.openxmlformats.org/officeDocument/2006/math">
                    <m:sSub>
                      <m:sSubPr>
                        <m:ctrlPr>
                          <a:rPr lang="en-US" altLang="zh-TW" i="1">
                            <a:latin typeface="Cambria Math"/>
                          </a:rPr>
                        </m:ctrlPr>
                      </m:sSubPr>
                      <m:e>
                        <m:r>
                          <a:rPr lang="en-US" altLang="zh-TW" i="1">
                            <a:latin typeface="Cambria Math"/>
                          </a:rPr>
                          <m:t>𝑆</m:t>
                        </m:r>
                      </m:e>
                      <m:sub>
                        <m:r>
                          <a:rPr lang="en-US" altLang="zh-TW" i="1">
                            <a:latin typeface="Cambria Math"/>
                          </a:rPr>
                          <m:t>𝑖𝑗</m:t>
                        </m:r>
                      </m:sub>
                    </m:sSub>
                  </m:oMath>
                </a14:m>
                <a:r>
                  <a:rPr lang="zh-TW" altLang="en-US" b="0" dirty="0" smtClean="0"/>
                  <a:t>中的</a:t>
                </a:r>
                <a:r>
                  <a:rPr lang="en-US" altLang="zh-TW" b="0" dirty="0" smtClean="0"/>
                  <a:t>match</a:t>
                </a:r>
                <a:r>
                  <a:rPr lang="zh-TW" altLang="en-US" dirty="0"/>
                  <a:t>，</a:t>
                </a:r>
                <a:r>
                  <a:rPr lang="en-US" altLang="zh-TW" dirty="0"/>
                  <a:t/>
                </a:r>
                <a:r>
                  <a:rPr lang="en-US" altLang="zh-TW" dirty="0" smtClean="0"/>
                  <a:t>[</a:t>
                </a:r>
                <a14:m>
                  <m:oMath xmlns:m="http://schemas.openxmlformats.org/officeDocument/2006/math">
                    <m:r>
                      <a:rPr lang="en-US" altLang="zh-TW" b="0" i="1" smtClean="0">
                        <a:latin typeface="Cambria Math"/>
                      </a:rPr>
                      <m:t>𝑦</m:t>
                    </m:r>
                  </m:oMath>
                </a14:m>
                <a:r>
                  <a:rPr lang="en-US" altLang="zh-TW" dirty="0" smtClean="0"/>
                  <a:t> ,</a:t>
                </a:r>
                <a:r>
                  <a:rPr lang="en-US" altLang="zh-TW" dirty="0"/>
                  <a:t/>
                </a:r>
                <a14:m>
                  <m:oMath xmlns:m="http://schemas.openxmlformats.org/officeDocument/2006/math">
                    <m:r>
                      <a:rPr lang="en-US" altLang="zh-TW" b="0" i="1" smtClean="0">
                        <a:latin typeface="Cambria Math"/>
                      </a:rPr>
                      <m:t>𝑧</m:t>
                    </m:r>
                  </m:oMath>
                </a14:m>
                <a:r>
                  <a:rPr lang="en-US" altLang="zh-TW" dirty="0" smtClean="0"/>
                  <a:t>]</a:t>
                </a:r>
                <a:r>
                  <a:rPr lang="zh-TW" altLang="en-US" dirty="0" smtClean="0"/>
                  <a:t>為</a:t>
                </a:r>
                <a:r>
                  <a:rPr lang="en-US" altLang="zh-TW" dirty="0" smtClean="0"/>
                  <a:t>row</a:t>
                </a:r>
                <a:r>
                  <a:rPr lang="zh-TW" altLang="en-US" dirty="0" smtClean="0"/>
                  <a:t/>
                </a:r>
                <a14:m>
                  <m:oMath xmlns:m="http://schemas.openxmlformats.org/officeDocument/2006/math">
                    <m:sSub>
                      <m:sSubPr>
                        <m:ctrlPr>
                          <a:rPr lang="en-US" altLang="zh-TW" i="1" dirty="0">
                            <a:latin typeface="Cambria Math"/>
                          </a:rPr>
                        </m:ctrlPr>
                      </m:sSubPr>
                      <m:e>
                        <m:r>
                          <a:rPr lang="en-US" altLang="zh-TW" i="1" dirty="0">
                            <a:latin typeface="Cambria Math"/>
                          </a:rPr>
                          <m:t>𝑝</m:t>
                        </m:r>
                      </m:e>
                      <m:sub>
                        <m:r>
                          <a:rPr lang="zh-TW" altLang="en-US" i="1" dirty="0">
                            <a:latin typeface="Cambria Math"/>
                          </a:rPr>
                          <m:t>𝜎</m:t>
                        </m:r>
                      </m:sub>
                    </m:sSub>
                  </m:oMath>
                </a14:m>
                <a:r>
                  <a:rPr lang="zh-TW" altLang="en-US" b="0" dirty="0" smtClean="0"/>
                  <a:t>之上最低的</a:t>
                </a:r>
                <a:r>
                  <a:rPr lang="en-US" altLang="zh-TW" b="0" dirty="0" smtClean="0"/>
                  <a:t>(k+1)-dominant(</a:t>
                </a:r>
                <a:r>
                  <a:rPr lang="zh-TW" altLang="en-US" b="0" dirty="0" smtClean="0"/>
                  <a:t>若</a:t>
                </a:r>
                <a:r>
                  <a:rPr lang="en-US" altLang="zh-TW" dirty="0"/>
                  <a:t>row</a:t>
                </a:r>
                <a:r>
                  <a:rPr lang="zh-TW" altLang="en-US" dirty="0"/>
                  <a:t/>
                </a:r>
                <a14:m>
                  <m:oMath xmlns:m="http://schemas.openxmlformats.org/officeDocument/2006/math">
                    <m:sSub>
                      <m:sSubPr>
                        <m:ctrlPr>
                          <a:rPr lang="en-US" altLang="zh-TW" i="1" dirty="0">
                            <a:latin typeface="Cambria Math"/>
                          </a:rPr>
                        </m:ctrlPr>
                      </m:sSubPr>
                      <m:e>
                        <m:r>
                          <a:rPr lang="en-US" altLang="zh-TW" i="1" dirty="0">
                            <a:latin typeface="Cambria Math"/>
                          </a:rPr>
                          <m:t>𝑝</m:t>
                        </m:r>
                      </m:e>
                      <m:sub>
                        <m:r>
                          <a:rPr lang="zh-TW" altLang="en-US" i="1" dirty="0">
                            <a:latin typeface="Cambria Math"/>
                          </a:rPr>
                          <m:t>𝜎</m:t>
                        </m:r>
                      </m:sub>
                    </m:sSub>
                  </m:oMath>
                </a14:m>
                <a:r>
                  <a:rPr lang="zh-TW" altLang="en-US" dirty="0"/>
                  <a:t>之上</a:t>
                </a:r>
                <a:r>
                  <a:rPr lang="zh-TW" altLang="en-US" b="0" dirty="0" smtClean="0"/>
                  <a:t>無</a:t>
                </a:r>
                <a:r>
                  <a:rPr lang="en-US" altLang="zh-TW" b="0" dirty="0" smtClean="0"/>
                  <a:t>(k+1)-dominant</a:t>
                </a:r>
                <a:r>
                  <a:rPr lang="zh-TW" altLang="en-US" b="0" dirty="0" smtClean="0"/>
                  <a:t>，</a:t>
                </a:r>
                <a14:m>
                  <m:oMath xmlns:m="http://schemas.openxmlformats.org/officeDocument/2006/math">
                    <m:r>
                      <a:rPr lang="en-US" altLang="zh-TW" i="1">
                        <a:latin typeface="Cambria Math"/>
                      </a:rPr>
                      <m:t>𝑧</m:t>
                    </m:r>
                    <m:r>
                      <a:rPr lang="en-US" altLang="zh-TW" b="0" i="1" smtClean="0">
                        <a:latin typeface="Cambria Math"/>
                      </a:rPr>
                      <m:t>=</m:t>
                    </m:r>
                    <m:r>
                      <a:rPr lang="en-US" altLang="zh-TW" b="0" i="1" smtClean="0">
                        <a:latin typeface="Cambria Math"/>
                      </a:rPr>
                      <m:t>𝑛</m:t>
                    </m:r>
                    <m:r>
                      <a:rPr lang="en-US" altLang="zh-TW" b="0" i="1" smtClean="0">
                        <a:latin typeface="Cambria Math"/>
                      </a:rPr>
                      <m:t>+1</m:t>
                    </m:r>
                  </m:oMath>
                </a14:m>
                <a:r>
                  <a:rPr lang="en-US" altLang="zh-TW" b="0" dirty="0" smtClean="0"/>
                  <a:t>)</a:t>
                </a:r>
                <a:r>
                  <a:rPr lang="zh-TW" altLang="en-US" b="0" dirty="0" smtClean="0"/>
                  <a:t>，</a:t>
                </a:r>
                <a:r>
                  <a:rPr lang="zh-TW" altLang="en-US" dirty="0" smtClean="0"/>
                  <a:t>則</a:t>
                </a:r>
                <a14:m>
                  <m:oMath xmlns:m="http://schemas.openxmlformats.org/officeDocument/2006/math">
                    <m:sSub>
                      <m:sSubPr>
                        <m:ctrlPr>
                          <a:rPr lang="en-US" altLang="zh-TW" i="1" dirty="0">
                            <a:latin typeface="Cambria Math"/>
                          </a:rPr>
                        </m:ctrlPr>
                      </m:sSubPr>
                      <m:e>
                        <m:r>
                          <a:rPr lang="en-US" altLang="zh-TW" i="1" dirty="0">
                            <a:latin typeface="Cambria Math"/>
                          </a:rPr>
                          <m:t>𝑝</m:t>
                        </m:r>
                      </m:e>
                      <m:sub>
                        <m:r>
                          <a:rPr lang="zh-TW" altLang="en-US" i="1" dirty="0">
                            <a:latin typeface="Cambria Math"/>
                          </a:rPr>
                          <m:t>𝜎</m:t>
                        </m:r>
                      </m:sub>
                    </m:sSub>
                  </m:oMath>
                </a14:m>
                <a:r>
                  <a:rPr lang="en-US" altLang="zh-TW" b="0" dirty="0" smtClean="0"/>
                  <a:t>≦</a:t>
                </a:r>
                <a:r>
                  <a:rPr lang="en-US" altLang="zh-TW" dirty="0"/>
                  <a:t/>
                </a:r>
                <a14:m>
                  <m:oMath xmlns:m="http://schemas.openxmlformats.org/officeDocument/2006/math">
                    <m:r>
                      <a:rPr lang="en-US" altLang="zh-TW" b="0" i="1" smtClean="0">
                        <a:latin typeface="Cambria Math"/>
                      </a:rPr>
                      <m:t>𝑢</m:t>
                    </m:r>
                  </m:oMath>
                </a14:m>
                <a:r>
                  <a:rPr lang="zh-TW" altLang="en-US" b="0" dirty="0" smtClean="0"/>
                  <a:t>，</a:t>
                </a:r>
                <a14:m>
                  <m:oMath xmlns:m="http://schemas.openxmlformats.org/officeDocument/2006/math">
                    <m:sSub>
                      <m:sSubPr>
                        <m:ctrlPr>
                          <a:rPr lang="en-US" altLang="zh-TW" i="1" dirty="0">
                            <a:latin typeface="Cambria Math"/>
                          </a:rPr>
                        </m:ctrlPr>
                      </m:sSubPr>
                      <m:e>
                        <m:r>
                          <a:rPr lang="en-US" altLang="zh-TW" i="1" dirty="0">
                            <a:latin typeface="Cambria Math"/>
                          </a:rPr>
                          <m:t>𝑞</m:t>
                        </m:r>
                      </m:e>
                      <m:sub>
                        <m:r>
                          <a:rPr lang="zh-TW" altLang="en-US" i="1" dirty="0">
                            <a:latin typeface="Cambria Math"/>
                          </a:rPr>
                          <m:t>𝜎</m:t>
                        </m:r>
                      </m:sub>
                    </m:sSub>
                  </m:oMath>
                </a14:m>
                <a:r>
                  <a:rPr lang="en-US" altLang="zh-TW" b="0" dirty="0" smtClean="0"/>
                  <a:t>&lt;</a:t>
                </a:r>
                <a:r>
                  <a:rPr lang="zh-TW" altLang="en-US" b="0" dirty="0" smtClean="0"/>
                  <a:t/>
                </a:r>
                <a14:m>
                  <m:oMath xmlns:m="http://schemas.openxmlformats.org/officeDocument/2006/math">
                    <m:r>
                      <a:rPr lang="en-US" altLang="zh-TW" b="0" i="1" smtClean="0">
                        <a:latin typeface="Cambria Math"/>
                      </a:rPr>
                      <m:t>𝑧</m:t>
                    </m:r>
                  </m:oMath>
                </a14:m>
                <a:r>
                  <a:rPr lang="zh-TW" altLang="en-US" b="0" dirty="0" smtClean="0"/>
                  <a:t>，</a:t>
                </a:r>
                <a:r>
                  <a:rPr lang="en-US" altLang="zh-TW" dirty="0"/>
                  <a:t> [</a:t>
                </a:r>
                <a14:m>
                  <m:oMath xmlns:m="http://schemas.openxmlformats.org/officeDocument/2006/math">
                    <m:sSub>
                      <m:sSubPr>
                        <m:ctrlPr>
                          <a:rPr lang="en-US" altLang="zh-TW" i="1" dirty="0">
                            <a:latin typeface="Cambria Math"/>
                          </a:rPr>
                        </m:ctrlPr>
                      </m:sSubPr>
                      <m:e>
                        <m:r>
                          <a:rPr lang="en-US" altLang="zh-TW" i="1" dirty="0">
                            <a:latin typeface="Cambria Math"/>
                          </a:rPr>
                          <m:t>𝑝</m:t>
                        </m:r>
                      </m:e>
                      <m:sub>
                        <m:r>
                          <a:rPr lang="zh-TW" altLang="en-US" i="1" dirty="0">
                            <a:latin typeface="Cambria Math"/>
                          </a:rPr>
                          <m:t>𝜎</m:t>
                        </m:r>
                      </m:sub>
                    </m:sSub>
                  </m:oMath>
                </a14:m>
                <a:r>
                  <a:rPr lang="en-US" altLang="zh-TW" dirty="0"/>
                  <a:t>, </a:t>
                </a:r>
                <a14:m>
                  <m:oMath xmlns:m="http://schemas.openxmlformats.org/officeDocument/2006/math">
                    <m:sSub>
                      <m:sSubPr>
                        <m:ctrlPr>
                          <a:rPr lang="en-US" altLang="zh-TW" i="1" dirty="0">
                            <a:latin typeface="Cambria Math"/>
                          </a:rPr>
                        </m:ctrlPr>
                      </m:sSubPr>
                      <m:e>
                        <m:r>
                          <a:rPr lang="en-US" altLang="zh-TW" i="1" dirty="0">
                            <a:latin typeface="Cambria Math"/>
                          </a:rPr>
                          <m:t>𝑞</m:t>
                        </m:r>
                      </m:e>
                      <m:sub>
                        <m:r>
                          <a:rPr lang="zh-TW" altLang="en-US" i="1" dirty="0">
                            <a:latin typeface="Cambria Math"/>
                          </a:rPr>
                          <m:t>𝜎</m:t>
                        </m:r>
                      </m:sub>
                    </m:sSub>
                  </m:oMath>
                </a14:m>
                <a:r>
                  <a:rPr lang="en-US" altLang="zh-TW" dirty="0" smtClean="0"/>
                  <a:t>]</a:t>
                </a:r>
                <a:r>
                  <a:rPr lang="zh-TW" altLang="en-US" dirty="0" smtClean="0"/>
                  <a:t>才能是</a:t>
                </a:r>
                <a14:m>
                  <m:oMath xmlns:m="http://schemas.openxmlformats.org/officeDocument/2006/math">
                    <m:sSub>
                      <m:sSubPr>
                        <m:ctrlPr>
                          <a:rPr lang="en-US" altLang="zh-TW" i="1">
                            <a:latin typeface="Cambria Math"/>
                          </a:rPr>
                        </m:ctrlPr>
                      </m:sSubPr>
                      <m:e>
                        <m:r>
                          <a:rPr lang="en-US" altLang="zh-TW" i="1">
                            <a:latin typeface="Cambria Math"/>
                          </a:rPr>
                          <m:t>𝐷</m:t>
                        </m:r>
                      </m:e>
                      <m:sub>
                        <m:r>
                          <a:rPr lang="en-US" altLang="zh-TW" i="1">
                            <a:latin typeface="Cambria Math"/>
                          </a:rPr>
                          <m:t>𝑖𝑗</m:t>
                        </m:r>
                      </m:sub>
                    </m:sSub>
                  </m:oMath>
                </a14:m>
                <a:r>
                  <a:rPr lang="zh-TW" altLang="en-US" dirty="0" smtClean="0"/>
                  <a:t>。</a:t>
                </a:r>
                <a:endParaRPr lang="en-US" altLang="zh-TW" b="0" dirty="0" smtClean="0"/>
              </a:p>
              <a:p>
                <a:endParaRPr lang="en-US" altLang="zh-TW" b="0" dirty="0" smtClean="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457200" y="1600200"/>
                <a:ext cx="8229600" cy="4925144"/>
              </a:xfrm>
              <a:blipFill rotWithShape="1">
                <a:blip r:embed="rId3"/>
                <a:stretch>
                  <a:fillRect l="-1037" t="-2478" r="-889"/>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36098999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 xmlns:a14="http://schemas.microsoft.com/office/drawing/2010/main" Requires="a14">
          <p:sp>
            <p:nvSpPr>
              <p:cNvPr id="2" name="標題 1"/>
              <p:cNvSpPr>
                <a:spLocks noGrp="1"/>
              </p:cNvSpPr>
              <p:nvPr>
                <p:ph type="title"/>
              </p:nvPr>
            </p:nvSpPr>
            <p:spPr/>
            <p:txBody>
              <a:bodyPr/>
              <a:lstStyle/>
              <a:p>
                <a:r>
                  <a:rPr lang="en-US" altLang="zh-TW" dirty="0"/>
                  <a:t>[</a:t>
                </a:r>
                <a14:m>
                  <m:oMath xmlns:m="http://schemas.openxmlformats.org/officeDocument/2006/math">
                    <m:sSub>
                      <m:sSubPr>
                        <m:ctrlPr>
                          <a:rPr lang="en-US" altLang="zh-TW" i="1" dirty="0">
                            <a:latin typeface="Cambria Math"/>
                          </a:rPr>
                        </m:ctrlPr>
                      </m:sSubPr>
                      <m:e>
                        <m:r>
                          <a:rPr lang="en-US" altLang="zh-TW" i="1" dirty="0">
                            <a:latin typeface="Cambria Math"/>
                          </a:rPr>
                          <m:t>𝑝</m:t>
                        </m:r>
                      </m:e>
                      <m:sub>
                        <m:r>
                          <a:rPr lang="zh-TW" altLang="en-US" i="1" dirty="0">
                            <a:latin typeface="Cambria Math"/>
                          </a:rPr>
                          <m:t>𝜎</m:t>
                        </m:r>
                      </m:sub>
                    </m:sSub>
                  </m:oMath>
                </a14:m>
                <a:r>
                  <a:rPr lang="en-US" altLang="zh-TW" dirty="0"/>
                  <a:t>, </a:t>
                </a:r>
                <a14:m>
                  <m:oMath xmlns:m="http://schemas.openxmlformats.org/officeDocument/2006/math">
                    <m:sSub>
                      <m:sSubPr>
                        <m:ctrlPr>
                          <a:rPr lang="en-US" altLang="zh-TW" i="1" dirty="0">
                            <a:latin typeface="Cambria Math"/>
                          </a:rPr>
                        </m:ctrlPr>
                      </m:sSubPr>
                      <m:e>
                        <m:r>
                          <a:rPr lang="en-US" altLang="zh-TW" i="1" dirty="0">
                            <a:latin typeface="Cambria Math"/>
                          </a:rPr>
                          <m:t>𝑞</m:t>
                        </m:r>
                      </m:e>
                      <m:sub>
                        <m:r>
                          <a:rPr lang="zh-TW" altLang="en-US" i="1" dirty="0">
                            <a:latin typeface="Cambria Math"/>
                          </a:rPr>
                          <m:t>𝜎</m:t>
                        </m:r>
                      </m:sub>
                    </m:sSub>
                  </m:oMath>
                </a14:m>
                <a:r>
                  <a:rPr lang="en-US" altLang="zh-TW" dirty="0"/>
                  <a:t>]</a:t>
                </a:r>
                <a:endParaRPr lang="zh-TW" altLang="en-US" dirty="0"/>
              </a:p>
            </p:txBody>
          </p:sp>
        </mc:Choice>
        <mc:Fallback>
          <p:sp>
            <p:nvSpPr>
              <p:cNvPr id="2" name="標題 1"/>
              <p:cNvSpPr>
                <a:spLocks noGrp="1" noRot="1" noChangeAspect="1" noMove="1" noResize="1" noEditPoints="1" noAdjustHandles="1" noChangeArrowheads="1" noChangeShapeType="1" noTextEdit="1"/>
              </p:cNvSpPr>
              <p:nvPr>
                <p:ph type="title"/>
              </p:nvPr>
            </p:nvSpPr>
            <p:spPr>
              <a:blipFill rotWithShape="1">
                <a:blip r:embed="rId2"/>
                <a:stretch>
                  <a:fillRect b="-9043"/>
                </a:stretch>
              </a:blipFill>
            </p:spPr>
            <p:txBody>
              <a:bodyPr/>
              <a:lstStyle/>
              <a:p>
                <a:r>
                  <a:rPr lang="zh-TW" altLang="en-US">
                    <a:noFill/>
                  </a:rPr>
                  <a:t> </a:t>
                </a:r>
              </a:p>
            </p:txBody>
          </p:sp>
        </mc:Fallback>
      </mc:AlternateContent>
      <p:pic>
        <p:nvPicPr>
          <p:cNvPr id="3074" name="Picture 2" descr="F:\Sena\Desktop\456.PNG"/>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763688" y="1725613"/>
            <a:ext cx="5486400" cy="460057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4379447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Sena\Desktop\ex1.PN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251520" y="2996951"/>
            <a:ext cx="4177479" cy="3672159"/>
          </a:xfrm>
          <a:prstGeom prst="rect">
            <a:avLst/>
          </a:prstGeom>
          <a:noFill/>
          <a:extLst>
            <a:ext uri="{909E8E84-426E-40DD-AFC4-6F175D3DCCD1}">
              <a14:hiddenFill xmlns="" xmlns:a14="http://schemas.microsoft.com/office/drawing/2010/main">
                <a:solidFill>
                  <a:srgbClr val="FFFFFF"/>
                </a:solidFill>
              </a14:hiddenFill>
            </a:ext>
          </a:extLst>
        </p:spPr>
      </p:pic>
      <p:sp>
        <p:nvSpPr>
          <p:cNvPr id="2" name="標題 1"/>
          <p:cNvSpPr>
            <a:spLocks noGrp="1"/>
          </p:cNvSpPr>
          <p:nvPr>
            <p:ph type="title"/>
          </p:nvPr>
        </p:nvSpPr>
        <p:spPr>
          <a:xfrm>
            <a:off x="457200" y="280469"/>
            <a:ext cx="8229600" cy="1143000"/>
          </a:xfrm>
        </p:spPr>
        <p:txBody>
          <a:bodyPr/>
          <a:lstStyle/>
          <a:p>
            <a:r>
              <a:rPr lang="en-US" altLang="zh-TW" dirty="0" smtClean="0"/>
              <a:t>Example</a:t>
            </a:r>
            <a:endParaRPr lang="zh-TW" altLang="en-US" dirty="0"/>
          </a:p>
        </p:txBody>
      </p:sp>
      <mc:AlternateContent xmlns:mc="http://schemas.openxmlformats.org/markup-compatibility/2006">
        <mc:Choice xmlns="" xmlns:a14="http://schemas.microsoft.com/office/drawing/2010/main" Requires="a14">
          <p:sp>
            <p:nvSpPr>
              <p:cNvPr id="4" name="矩形 3"/>
              <p:cNvSpPr/>
              <p:nvPr/>
            </p:nvSpPr>
            <p:spPr>
              <a:xfrm>
                <a:off x="5570960" y="2951946"/>
                <a:ext cx="2497800" cy="954107"/>
              </a:xfrm>
              <a:prstGeom prst="rect">
                <a:avLst/>
              </a:prstGeom>
            </p:spPr>
            <p:txBody>
              <a:bodyPr wrap="none">
                <a:spAutoFit/>
              </a:bodyPr>
              <a:lstStyle/>
              <a:p>
                <a14:m>
                  <m:oMath xmlns:m="http://schemas.openxmlformats.org/officeDocument/2006/math">
                    <m:r>
                      <m:rPr>
                        <m:sty m:val="p"/>
                      </m:rPr>
                      <a:rPr lang="el-GR" altLang="zh-TW" sz="2800" i="1" smtClean="0">
                        <a:latin typeface="Cambria Math"/>
                      </a:rPr>
                      <m:t>α</m:t>
                    </m:r>
                  </m:oMath>
                </a14:m>
                <a:r>
                  <a:rPr lang="zh-TW" altLang="en-US" sz="2800" dirty="0" smtClean="0"/>
                  <a:t/>
                </a:r>
                <a:r>
                  <a:rPr lang="en-US" altLang="zh-TW" sz="2800" dirty="0" smtClean="0"/>
                  <a:t>= c b </a:t>
                </a:r>
                <a:r>
                  <a:rPr lang="en-US" altLang="zh-TW" sz="2800" dirty="0" err="1" smtClean="0"/>
                  <a:t>b</a:t>
                </a:r>
                <a:r>
                  <a:rPr lang="en-US" altLang="zh-TW" sz="2800" dirty="0" smtClean="0"/>
                  <a:t> d a c</a:t>
                </a:r>
                <a:br>
                  <a:rPr lang="en-US" altLang="zh-TW" sz="2800" dirty="0" smtClean="0"/>
                </a:br>
                <a14:m>
                  <m:oMath xmlns:m="http://schemas.openxmlformats.org/officeDocument/2006/math">
                    <m:r>
                      <m:rPr>
                        <m:sty m:val="p"/>
                      </m:rPr>
                      <a:rPr lang="el-GR" altLang="zh-TW" sz="2800" i="1">
                        <a:latin typeface="Cambria Math"/>
                      </a:rPr>
                      <m:t>β</m:t>
                    </m:r>
                  </m:oMath>
                </a14:m>
                <a:r>
                  <a:rPr lang="en-US" altLang="zh-TW" sz="2800" b="0" dirty="0" smtClean="0"/>
                  <a:t> = a b c d </a:t>
                </a:r>
                <a:r>
                  <a:rPr lang="en-US" altLang="zh-TW" sz="2800" b="0" dirty="0" err="1" smtClean="0"/>
                  <a:t>d</a:t>
                </a:r>
                <a:r>
                  <a:rPr lang="en-US" altLang="zh-TW" sz="2800" b="0" dirty="0" smtClean="0"/>
                  <a:t> b a</a:t>
                </a:r>
              </a:p>
            </p:txBody>
          </p:sp>
        </mc:Choice>
        <mc:Fallback>
          <p:sp>
            <p:nvSpPr>
              <p:cNvPr id="4" name="矩形 3"/>
              <p:cNvSpPr>
                <a:spLocks noRot="1" noChangeAspect="1" noMove="1" noResize="1" noEditPoints="1" noAdjustHandles="1" noChangeArrowheads="1" noChangeShapeType="1" noTextEdit="1"/>
              </p:cNvSpPr>
              <p:nvPr/>
            </p:nvSpPr>
            <p:spPr>
              <a:xfrm>
                <a:off x="5570960" y="2951946"/>
                <a:ext cx="2497800" cy="954107"/>
              </a:xfrm>
              <a:prstGeom prst="rect">
                <a:avLst/>
              </a:prstGeom>
              <a:blipFill rotWithShape="1">
                <a:blip r:embed="rId3"/>
                <a:stretch>
                  <a:fillRect t="-6369" r="-3902" b="-16561"/>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5" name="矩形 4"/>
              <p:cNvSpPr/>
              <p:nvPr/>
            </p:nvSpPr>
            <p:spPr>
              <a:xfrm>
                <a:off x="71500" y="1347387"/>
                <a:ext cx="9000999" cy="1569660"/>
              </a:xfrm>
              <a:prstGeom prst="rect">
                <a:avLst/>
              </a:prstGeom>
              <a:ln>
                <a:noFill/>
              </a:ln>
            </p:spPr>
            <p:txBody>
              <a:bodyPr wrap="square">
                <a:spAutoFit/>
              </a:bodyPr>
              <a:lstStyle/>
              <a:p>
                <a14:m>
                  <m:oMath xmlns:m="http://schemas.openxmlformats.org/officeDocument/2006/math">
                    <m:r>
                      <m:rPr>
                        <m:sty m:val="p"/>
                      </m:rPr>
                      <a:rPr lang="el-GR" altLang="zh-TW" sz="2400" i="1" smtClean="0">
                        <a:latin typeface="Cambria Math"/>
                      </a:rPr>
                      <m:t>α</m:t>
                    </m:r>
                    <m:r>
                      <a:rPr lang="en-US" altLang="zh-TW" sz="2400" i="1">
                        <a:latin typeface="Cambria Math"/>
                      </a:rPr>
                      <m:t>−</m:t>
                    </m:r>
                    <m:r>
                      <a:rPr lang="en-US" altLang="zh-TW" sz="2400" i="1">
                        <a:latin typeface="Cambria Math"/>
                      </a:rPr>
                      <m:t>𝐶𝐿𝑂𝑆𝐸𝑆</m:t>
                    </m:r>
                    <m:sSup>
                      <m:sSupPr>
                        <m:ctrlPr>
                          <a:rPr lang="en-US" altLang="zh-TW" sz="2400" i="1">
                            <a:latin typeface="Cambria Math"/>
                          </a:rPr>
                        </m:ctrlPr>
                      </m:sSupPr>
                      <m:e>
                        <m:r>
                          <a:rPr lang="en-US" altLang="zh-TW" sz="2400" i="1">
                            <a:latin typeface="Cambria Math"/>
                          </a:rPr>
                          <m:t>𝑇</m:t>
                        </m:r>
                      </m:e>
                      <m:sup>
                        <m:r>
                          <a:rPr lang="en-US" altLang="zh-TW" sz="2400" i="1">
                            <a:latin typeface="Cambria Math"/>
                          </a:rPr>
                          <m:t>′</m:t>
                        </m:r>
                      </m:sup>
                    </m:sSup>
                  </m:oMath>
                </a14:m>
                <a:r>
                  <a:rPr lang="en-US" altLang="zh-TW" sz="2400" dirty="0" smtClean="0"/>
                  <a:t>[1, 2] = 3	</a:t>
                </a:r>
                <a14:m>
                  <m:oMath xmlns:m="http://schemas.openxmlformats.org/officeDocument/2006/math">
                    <m:r>
                      <m:rPr>
                        <m:sty m:val="p"/>
                      </m:rPr>
                      <a:rPr lang="el-GR" altLang="zh-TW" sz="2400" i="1">
                        <a:latin typeface="Cambria Math"/>
                      </a:rPr>
                      <m:t>α</m:t>
                    </m:r>
                  </m:oMath>
                </a14:m>
                <a:r>
                  <a:rPr lang="en-US" altLang="zh-TW" sz="2400" dirty="0" smtClean="0"/>
                  <a:t>[3] = b	</a:t>
                </a:r>
                <a14:m>
                  <m:oMath xmlns:m="http://schemas.openxmlformats.org/officeDocument/2006/math">
                    <m:r>
                      <m:rPr>
                        <m:sty m:val="p"/>
                      </m:rPr>
                      <a:rPr lang="el-GR" altLang="zh-TW" sz="2400" i="1">
                        <a:latin typeface="Cambria Math"/>
                      </a:rPr>
                      <m:t>β</m:t>
                    </m:r>
                    <m:r>
                      <a:rPr lang="en-US" altLang="zh-TW" sz="2400" i="1">
                        <a:latin typeface="Cambria Math"/>
                      </a:rPr>
                      <m:t>−</m:t>
                    </m:r>
                    <m:r>
                      <a:rPr lang="en-US" altLang="zh-TW" sz="2400" i="1">
                        <a:latin typeface="Cambria Math"/>
                      </a:rPr>
                      <m:t>𝐶𝐿𝑂𝑆𝐸𝑆𝑇</m:t>
                    </m:r>
                  </m:oMath>
                </a14:m>
                <a:r>
                  <a:rPr lang="en-US" altLang="zh-TW" sz="2400" dirty="0" smtClean="0"/>
                  <a:t>[b, 2] = 6</a:t>
                </a:r>
              </a:p>
              <a:p>
                <a14:m>
                  <m:oMath xmlns:m="http://schemas.openxmlformats.org/officeDocument/2006/math">
                    <m:r>
                      <m:rPr>
                        <m:sty m:val="p"/>
                      </m:rPr>
                      <a:rPr lang="el-GR" altLang="zh-TW" sz="2400" i="1">
                        <a:latin typeface="Cambria Math"/>
                      </a:rPr>
                      <m:t>α</m:t>
                    </m:r>
                    <m:r>
                      <a:rPr lang="en-US" altLang="zh-TW" sz="2400" i="1">
                        <a:latin typeface="Cambria Math"/>
                      </a:rPr>
                      <m:t>−</m:t>
                    </m:r>
                    <m:r>
                      <a:rPr lang="en-US" altLang="zh-TW" sz="2400" i="1">
                        <a:latin typeface="Cambria Math"/>
                      </a:rPr>
                      <m:t>𝐶𝐿𝑂𝑆𝐸𝑆</m:t>
                    </m:r>
                    <m:sSup>
                      <m:sSupPr>
                        <m:ctrlPr>
                          <a:rPr lang="en-US" altLang="zh-TW" sz="2400" i="1">
                            <a:latin typeface="Cambria Math"/>
                          </a:rPr>
                        </m:ctrlPr>
                      </m:sSupPr>
                      <m:e>
                        <m:r>
                          <a:rPr lang="en-US" altLang="zh-TW" sz="2400" i="1">
                            <a:latin typeface="Cambria Math"/>
                          </a:rPr>
                          <m:t>𝑇</m:t>
                        </m:r>
                      </m:e>
                      <m:sup>
                        <m:r>
                          <a:rPr lang="en-US" altLang="zh-TW" sz="2400" i="1">
                            <a:latin typeface="Cambria Math"/>
                          </a:rPr>
                          <m:t>′</m:t>
                        </m:r>
                      </m:sup>
                    </m:sSup>
                  </m:oMath>
                </a14:m>
                <a:r>
                  <a:rPr lang="en-US" altLang="zh-TW" sz="2400" dirty="0" smtClean="0"/>
                  <a:t>[2, 2] = 4 	</a:t>
                </a:r>
                <a14:m>
                  <m:oMath xmlns:m="http://schemas.openxmlformats.org/officeDocument/2006/math">
                    <m:r>
                      <m:rPr>
                        <m:sty m:val="p"/>
                      </m:rPr>
                      <a:rPr lang="el-GR" altLang="zh-TW" sz="2400" i="1" smtClean="0">
                        <a:latin typeface="Cambria Math"/>
                      </a:rPr>
                      <m:t>α</m:t>
                    </m:r>
                  </m:oMath>
                </a14:m>
                <a:r>
                  <a:rPr lang="en-US" altLang="zh-TW" sz="2400" dirty="0" smtClean="0"/>
                  <a:t>[4] = d	</a:t>
                </a:r>
                <a14:m>
                  <m:oMath xmlns:m="http://schemas.openxmlformats.org/officeDocument/2006/math">
                    <m:r>
                      <m:rPr>
                        <m:sty m:val="p"/>
                      </m:rPr>
                      <a:rPr lang="el-GR" altLang="zh-TW" sz="2400" i="1">
                        <a:latin typeface="Cambria Math"/>
                      </a:rPr>
                      <m:t>β</m:t>
                    </m:r>
                    <m:r>
                      <a:rPr lang="en-US" altLang="zh-TW" sz="2400" i="1">
                        <a:latin typeface="Cambria Math"/>
                      </a:rPr>
                      <m:t>−</m:t>
                    </m:r>
                    <m:r>
                      <a:rPr lang="en-US" altLang="zh-TW" sz="2400" i="1">
                        <a:latin typeface="Cambria Math"/>
                      </a:rPr>
                      <m:t>𝐶𝐿𝑂𝑆𝐸𝑆𝑇</m:t>
                    </m:r>
                  </m:oMath>
                </a14:m>
                <a:r>
                  <a:rPr lang="en-US" altLang="zh-TW" sz="2400" dirty="0" smtClean="0"/>
                  <a:t>[d, 2] = 4</a:t>
                </a:r>
              </a:p>
              <a:p>
                <a14:m>
                  <m:oMath xmlns:m="http://schemas.openxmlformats.org/officeDocument/2006/math">
                    <m:r>
                      <m:rPr>
                        <m:sty m:val="p"/>
                      </m:rPr>
                      <a:rPr lang="el-GR" altLang="zh-TW" sz="2400" i="1">
                        <a:latin typeface="Cambria Math"/>
                      </a:rPr>
                      <m:t>α</m:t>
                    </m:r>
                    <m:r>
                      <a:rPr lang="en-US" altLang="zh-TW" sz="2400" i="1">
                        <a:latin typeface="Cambria Math"/>
                      </a:rPr>
                      <m:t>−</m:t>
                    </m:r>
                    <m:r>
                      <a:rPr lang="en-US" altLang="zh-TW" sz="2400" i="1">
                        <a:latin typeface="Cambria Math"/>
                      </a:rPr>
                      <m:t>𝐶𝐿𝑂𝑆𝐸𝑆</m:t>
                    </m:r>
                    <m:sSup>
                      <m:sSupPr>
                        <m:ctrlPr>
                          <a:rPr lang="en-US" altLang="zh-TW" sz="2400" i="1">
                            <a:latin typeface="Cambria Math"/>
                          </a:rPr>
                        </m:ctrlPr>
                      </m:sSupPr>
                      <m:e>
                        <m:r>
                          <a:rPr lang="en-US" altLang="zh-TW" sz="2400" i="1">
                            <a:latin typeface="Cambria Math"/>
                          </a:rPr>
                          <m:t>𝑇</m:t>
                        </m:r>
                      </m:e>
                      <m:sup>
                        <m:r>
                          <a:rPr lang="en-US" altLang="zh-TW" sz="2400" i="1">
                            <a:latin typeface="Cambria Math"/>
                          </a:rPr>
                          <m:t>′</m:t>
                        </m:r>
                      </m:sup>
                    </m:sSup>
                  </m:oMath>
                </a14:m>
                <a:r>
                  <a:rPr lang="en-US" altLang="zh-TW" sz="2400" dirty="0" smtClean="0"/>
                  <a:t>[3, 2] = 5 	</a:t>
                </a:r>
                <a14:m>
                  <m:oMath xmlns:m="http://schemas.openxmlformats.org/officeDocument/2006/math">
                    <m:r>
                      <m:rPr>
                        <m:sty m:val="p"/>
                      </m:rPr>
                      <a:rPr lang="el-GR" altLang="zh-TW" sz="2400" i="1">
                        <a:latin typeface="Cambria Math"/>
                      </a:rPr>
                      <m:t>α</m:t>
                    </m:r>
                  </m:oMath>
                </a14:m>
                <a:r>
                  <a:rPr lang="en-US" altLang="zh-TW" sz="2400" dirty="0" smtClean="0"/>
                  <a:t>[5] = a	</a:t>
                </a:r>
                <a14:m>
                  <m:oMath xmlns:m="http://schemas.openxmlformats.org/officeDocument/2006/math">
                    <m:r>
                      <m:rPr>
                        <m:sty m:val="p"/>
                      </m:rPr>
                      <a:rPr lang="el-GR" altLang="zh-TW" sz="2400" i="1">
                        <a:latin typeface="Cambria Math"/>
                      </a:rPr>
                      <m:t>β</m:t>
                    </m:r>
                    <m:r>
                      <a:rPr lang="en-US" altLang="zh-TW" sz="2400" i="1">
                        <a:latin typeface="Cambria Math"/>
                      </a:rPr>
                      <m:t>−</m:t>
                    </m:r>
                    <m:r>
                      <a:rPr lang="en-US" altLang="zh-TW" sz="2400" i="1">
                        <a:latin typeface="Cambria Math"/>
                      </a:rPr>
                      <m:t>𝐶𝐿𝑂𝑆𝐸𝑆𝑇</m:t>
                    </m:r>
                  </m:oMath>
                </a14:m>
                <a:r>
                  <a:rPr lang="en-US" altLang="zh-TW" sz="2400" dirty="0" smtClean="0"/>
                  <a:t>[a, 2] = 7</a:t>
                </a:r>
              </a:p>
              <a:p>
                <a14:m>
                  <m:oMath xmlns:m="http://schemas.openxmlformats.org/officeDocument/2006/math">
                    <m:r>
                      <m:rPr>
                        <m:sty m:val="p"/>
                      </m:rPr>
                      <a:rPr lang="el-GR" altLang="zh-TW" sz="2400" i="1">
                        <a:latin typeface="Cambria Math"/>
                      </a:rPr>
                      <m:t>α</m:t>
                    </m:r>
                    <m:r>
                      <a:rPr lang="en-US" altLang="zh-TW" sz="2400" i="1">
                        <a:latin typeface="Cambria Math"/>
                      </a:rPr>
                      <m:t>−</m:t>
                    </m:r>
                    <m:r>
                      <a:rPr lang="en-US" altLang="zh-TW" sz="2400" i="1">
                        <a:latin typeface="Cambria Math"/>
                      </a:rPr>
                      <m:t>𝐶𝐿𝑂𝑆𝐸𝑆</m:t>
                    </m:r>
                    <m:sSup>
                      <m:sSupPr>
                        <m:ctrlPr>
                          <a:rPr lang="en-US" altLang="zh-TW" sz="2400" i="1">
                            <a:latin typeface="Cambria Math"/>
                          </a:rPr>
                        </m:ctrlPr>
                      </m:sSupPr>
                      <m:e>
                        <m:r>
                          <a:rPr lang="en-US" altLang="zh-TW" sz="2400" i="1">
                            <a:latin typeface="Cambria Math"/>
                          </a:rPr>
                          <m:t>𝑇</m:t>
                        </m:r>
                      </m:e>
                      <m:sup>
                        <m:r>
                          <a:rPr lang="en-US" altLang="zh-TW" sz="2400" i="1">
                            <a:latin typeface="Cambria Math"/>
                          </a:rPr>
                          <m:t>′</m:t>
                        </m:r>
                      </m:sup>
                    </m:sSup>
                  </m:oMath>
                </a14:m>
                <a:r>
                  <a:rPr lang="en-US" altLang="zh-TW" sz="2400" dirty="0" smtClean="0"/>
                  <a:t>[4, 2] = 6 	</a:t>
                </a:r>
                <a14:m>
                  <m:oMath xmlns:m="http://schemas.openxmlformats.org/officeDocument/2006/math">
                    <m:r>
                      <m:rPr>
                        <m:sty m:val="p"/>
                      </m:rPr>
                      <a:rPr lang="el-GR" altLang="zh-TW" sz="2400" i="1">
                        <a:latin typeface="Cambria Math"/>
                      </a:rPr>
                      <m:t>α</m:t>
                    </m:r>
                  </m:oMath>
                </a14:m>
                <a:r>
                  <a:rPr lang="en-US" altLang="zh-TW" sz="2400" dirty="0" smtClean="0"/>
                  <a:t>[6] = c	</a:t>
                </a:r>
                <a14:m>
                  <m:oMath xmlns:m="http://schemas.openxmlformats.org/officeDocument/2006/math">
                    <m:r>
                      <m:rPr>
                        <m:sty m:val="p"/>
                      </m:rPr>
                      <a:rPr lang="el-GR" altLang="zh-TW" sz="2400" i="1">
                        <a:latin typeface="Cambria Math"/>
                      </a:rPr>
                      <m:t>β</m:t>
                    </m:r>
                    <m:r>
                      <a:rPr lang="en-US" altLang="zh-TW" sz="2400" i="1">
                        <a:latin typeface="Cambria Math"/>
                      </a:rPr>
                      <m:t>−</m:t>
                    </m:r>
                    <m:r>
                      <a:rPr lang="en-US" altLang="zh-TW" sz="2400" i="1">
                        <a:latin typeface="Cambria Math"/>
                      </a:rPr>
                      <m:t>𝐶𝐿𝑂𝑆𝐸𝑆𝑇</m:t>
                    </m:r>
                  </m:oMath>
                </a14:m>
                <a:r>
                  <a:rPr lang="en-US" altLang="zh-TW" sz="2400" dirty="0" smtClean="0"/>
                  <a:t>[c, 2] = 3</a:t>
                </a:r>
                <a:endParaRPr lang="zh-TW" altLang="en-US" sz="2400" dirty="0"/>
              </a:p>
            </p:txBody>
          </p:sp>
        </mc:Choice>
        <mc:Fallback>
          <p:sp>
            <p:nvSpPr>
              <p:cNvPr id="5" name="矩形 4"/>
              <p:cNvSpPr>
                <a:spLocks noRot="1" noChangeAspect="1" noMove="1" noResize="1" noEditPoints="1" noAdjustHandles="1" noChangeArrowheads="1" noChangeShapeType="1" noTextEdit="1"/>
              </p:cNvSpPr>
              <p:nvPr/>
            </p:nvSpPr>
            <p:spPr>
              <a:xfrm>
                <a:off x="71500" y="1347387"/>
                <a:ext cx="9000999" cy="1569660"/>
              </a:xfrm>
              <a:prstGeom prst="rect">
                <a:avLst/>
              </a:prstGeom>
              <a:blipFill rotWithShape="1">
                <a:blip r:embed="rId4"/>
                <a:stretch>
                  <a:fillRect t="-3101" b="-7752"/>
                </a:stretch>
              </a:blipFill>
              <a:ln>
                <a:noFill/>
              </a:ln>
            </p:spPr>
            <p:txBody>
              <a:bodyPr/>
              <a:lstStyle/>
              <a:p>
                <a:r>
                  <a:rPr lang="zh-TW" altLang="en-US">
                    <a:noFill/>
                  </a:rPr>
                  <a:t> </a:t>
                </a:r>
              </a:p>
            </p:txBody>
          </p:sp>
        </mc:Fallback>
      </mc:AlternateContent>
      <p:sp>
        <p:nvSpPr>
          <p:cNvPr id="6" name="矩形 5"/>
          <p:cNvSpPr/>
          <p:nvPr/>
        </p:nvSpPr>
        <p:spPr>
          <a:xfrm>
            <a:off x="1187624" y="3951059"/>
            <a:ext cx="576064" cy="55806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p:cNvSpPr/>
          <p:nvPr/>
        </p:nvSpPr>
        <p:spPr>
          <a:xfrm>
            <a:off x="179512" y="4316094"/>
            <a:ext cx="576064" cy="558061"/>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p:cNvSpPr/>
          <p:nvPr/>
        </p:nvSpPr>
        <p:spPr>
          <a:xfrm>
            <a:off x="179512" y="4928326"/>
            <a:ext cx="576064" cy="558061"/>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p:cNvSpPr/>
          <p:nvPr/>
        </p:nvSpPr>
        <p:spPr>
          <a:xfrm>
            <a:off x="179512" y="5529878"/>
            <a:ext cx="576064" cy="55806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p:cNvSpPr/>
          <p:nvPr/>
        </p:nvSpPr>
        <p:spPr>
          <a:xfrm>
            <a:off x="179512" y="6122382"/>
            <a:ext cx="576064" cy="558061"/>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p:cNvSpPr/>
          <p:nvPr/>
        </p:nvSpPr>
        <p:spPr>
          <a:xfrm>
            <a:off x="1691680" y="2964870"/>
            <a:ext cx="576064" cy="558061"/>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p:cNvSpPr/>
          <p:nvPr/>
        </p:nvSpPr>
        <p:spPr>
          <a:xfrm>
            <a:off x="2306209" y="2951406"/>
            <a:ext cx="576064" cy="558061"/>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p:cNvSpPr/>
          <p:nvPr/>
        </p:nvSpPr>
        <p:spPr>
          <a:xfrm>
            <a:off x="3336437" y="2964870"/>
            <a:ext cx="576064" cy="558061"/>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p:cNvSpPr/>
          <p:nvPr/>
        </p:nvSpPr>
        <p:spPr>
          <a:xfrm>
            <a:off x="3941223" y="2964867"/>
            <a:ext cx="576064" cy="55806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p:cNvSpPr/>
          <p:nvPr/>
        </p:nvSpPr>
        <p:spPr>
          <a:xfrm>
            <a:off x="2267744" y="4971817"/>
            <a:ext cx="576064" cy="558061"/>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p:cNvSpPr/>
          <p:nvPr/>
        </p:nvSpPr>
        <p:spPr>
          <a:xfrm>
            <a:off x="3336437" y="4316408"/>
            <a:ext cx="576064" cy="558061"/>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p:cNvSpPr/>
          <p:nvPr/>
        </p:nvSpPr>
        <p:spPr>
          <a:xfrm>
            <a:off x="3852935" y="5470296"/>
            <a:ext cx="576064" cy="55806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p:cNvSpPr/>
          <p:nvPr/>
        </p:nvSpPr>
        <p:spPr>
          <a:xfrm>
            <a:off x="1691680" y="6122382"/>
            <a:ext cx="576064" cy="558061"/>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sp>
            <p:nvSpPr>
              <p:cNvPr id="10" name="文字方塊 9"/>
              <p:cNvSpPr txBox="1"/>
              <p:nvPr/>
            </p:nvSpPr>
            <p:spPr>
              <a:xfrm>
                <a:off x="4644008" y="4131428"/>
                <a:ext cx="4351704" cy="1938992"/>
              </a:xfrm>
              <a:prstGeom prst="rect">
                <a:avLst/>
              </a:prstGeom>
              <a:noFill/>
            </p:spPr>
            <p:txBody>
              <a:bodyPr wrap="none" rtlCol="0">
                <a:spAutoFit/>
              </a:bodyPr>
              <a:lstStyle/>
              <a:p>
                <a:r>
                  <a:rPr lang="en-US" altLang="zh-TW" sz="2400" dirty="0" smtClean="0"/>
                  <a:t>[</a:t>
                </a:r>
                <a14:m>
                  <m:oMath xmlns:m="http://schemas.openxmlformats.org/officeDocument/2006/math">
                    <m:r>
                      <a:rPr lang="en-US" altLang="zh-TW" sz="2400" b="0" i="1" smtClean="0">
                        <a:latin typeface="Cambria Math"/>
                      </a:rPr>
                      <m:t>𝑖</m:t>
                    </m:r>
                  </m:oMath>
                </a14:m>
                <a:r>
                  <a:rPr lang="en-US" altLang="zh-TW" sz="2400" dirty="0" smtClean="0"/>
                  <a:t>, </a:t>
                </a:r>
                <a14:m>
                  <m:oMath xmlns:m="http://schemas.openxmlformats.org/officeDocument/2006/math">
                    <m:r>
                      <a:rPr lang="en-US" altLang="zh-TW" sz="2400" b="0" i="1" smtClean="0">
                        <a:latin typeface="Cambria Math"/>
                      </a:rPr>
                      <m:t>𝑗</m:t>
                    </m:r>
                  </m:oMath>
                </a14:m>
                <a:r>
                  <a:rPr lang="en-US" altLang="zh-TW" sz="2400" dirty="0" smtClean="0"/>
                  <a:t>]</a:t>
                </a:r>
                <a:r>
                  <a:rPr lang="zh-TW" altLang="en-US" sz="2400" dirty="0"/>
                  <a:t/>
                </a:r>
                <a:r>
                  <a:rPr lang="en-US" altLang="zh-TW" sz="2400" dirty="0" smtClean="0"/>
                  <a:t>=</a:t>
                </a:r>
                <a:r>
                  <a:rPr lang="zh-TW" altLang="en-US" sz="2400" dirty="0" smtClean="0"/>
                  <a:t/>
                </a:r>
                <a:r>
                  <a:rPr lang="en-US" altLang="zh-TW" sz="2400" dirty="0" smtClean="0"/>
                  <a:t>[2, 2]</a:t>
                </a:r>
                <a:r>
                  <a:rPr lang="zh-TW" altLang="en-US" sz="2400" dirty="0" smtClean="0"/>
                  <a:t>時，</a:t>
                </a:r>
                <a:r>
                  <a:rPr lang="en-US" altLang="zh-TW" sz="2400" dirty="0" smtClean="0"/>
                  <a:t>k = 1</a:t>
                </a:r>
                <a:r>
                  <a:rPr lang="zh-TW" altLang="en-US" sz="2400" dirty="0" smtClean="0"/>
                  <a:t>，</a:t>
                </a:r>
                <a:endParaRPr lang="en-US" altLang="zh-TW" sz="2400" dirty="0" smtClean="0"/>
              </a:p>
              <a:p>
                <a:r>
                  <a:rPr lang="en-US" altLang="zh-TW" sz="2400" dirty="0" smtClean="0"/>
                  <a:t>[</a:t>
                </a:r>
                <a14:m>
                  <m:oMath xmlns:m="http://schemas.openxmlformats.org/officeDocument/2006/math">
                    <m:r>
                      <a:rPr lang="en-US" altLang="zh-TW" sz="2400" b="0" i="1" smtClean="0">
                        <a:latin typeface="Cambria Math"/>
                      </a:rPr>
                      <m:t>𝑢</m:t>
                    </m:r>
                  </m:oMath>
                </a14:m>
                <a:r>
                  <a:rPr lang="en-US" altLang="zh-TW" sz="2400" dirty="0" smtClean="0"/>
                  <a:t>, </a:t>
                </a:r>
                <a14:m>
                  <m:oMath xmlns:m="http://schemas.openxmlformats.org/officeDocument/2006/math">
                    <m:r>
                      <a:rPr lang="en-US" altLang="zh-TW" sz="2400" b="0" i="1" smtClean="0">
                        <a:latin typeface="Cambria Math"/>
                      </a:rPr>
                      <m:t>𝑣</m:t>
                    </m:r>
                  </m:oMath>
                </a14:m>
                <a:r>
                  <a:rPr lang="en-US" altLang="zh-TW" sz="2400" dirty="0" smtClean="0"/>
                  <a:t>] = [5, 1]</a:t>
                </a:r>
                <a:r>
                  <a:rPr lang="zh-TW" altLang="en-US" sz="2400" dirty="0" smtClean="0"/>
                  <a:t>，</a:t>
                </a:r>
                <a:r>
                  <a:rPr lang="en-US" altLang="zh-TW" sz="2400" dirty="0"/>
                  <a:t/>
                </a:r>
                <a:r>
                  <a:rPr lang="en-US" altLang="zh-TW" sz="2400" dirty="0" smtClean="0"/>
                  <a:t>[</a:t>
                </a:r>
                <a14:m>
                  <m:oMath xmlns:m="http://schemas.openxmlformats.org/officeDocument/2006/math">
                    <m:r>
                      <a:rPr lang="en-US" altLang="zh-TW" sz="2400" b="0" i="1" smtClean="0">
                        <a:latin typeface="Cambria Math"/>
                      </a:rPr>
                      <m:t>𝑦</m:t>
                    </m:r>
                  </m:oMath>
                </a14:m>
                <a:r>
                  <a:rPr lang="en-US" altLang="zh-TW" sz="2400" dirty="0" smtClean="0"/>
                  <a:t>, </a:t>
                </a:r>
                <a14:m>
                  <m:oMath xmlns:m="http://schemas.openxmlformats.org/officeDocument/2006/math">
                    <m:r>
                      <a:rPr lang="en-US" altLang="zh-TW" sz="2400" b="0" i="1" smtClean="0">
                        <a:latin typeface="Cambria Math"/>
                      </a:rPr>
                      <m:t>𝑧</m:t>
                    </m:r>
                  </m:oMath>
                </a14:m>
                <a:r>
                  <a:rPr lang="en-US" altLang="zh-TW" sz="2400" dirty="0" smtClean="0"/>
                  <a:t>] = [2, 6]</a:t>
                </a:r>
                <a:br>
                  <a:rPr lang="en-US" altLang="zh-TW" sz="2400" dirty="0" smtClean="0"/>
                </a:br>
                <a14:m>
                  <m:oMath xmlns:m="http://schemas.openxmlformats.org/officeDocument/2006/math">
                    <m:sSub>
                      <m:sSubPr>
                        <m:ctrlPr>
                          <a:rPr lang="en-US" altLang="zh-TW" sz="2400" i="1">
                            <a:latin typeface="Cambria Math"/>
                          </a:rPr>
                        </m:ctrlPr>
                      </m:sSubPr>
                      <m:e>
                        <m:r>
                          <a:rPr lang="en-US" altLang="zh-TW" sz="2400" i="1">
                            <a:latin typeface="Cambria Math"/>
                          </a:rPr>
                          <m:t>𝑆</m:t>
                        </m:r>
                      </m:e>
                      <m:sub>
                        <m:r>
                          <a:rPr lang="en-US" altLang="zh-TW" sz="2400" b="0" i="1" smtClean="0">
                            <a:latin typeface="Cambria Math"/>
                          </a:rPr>
                          <m:t>22</m:t>
                        </m:r>
                      </m:sub>
                    </m:sSub>
                  </m:oMath>
                </a14:m>
                <a:r>
                  <a:rPr lang="zh-TW" altLang="en-US" sz="2400" dirty="0" smtClean="0"/>
                  <a:t>：</a:t>
                </a:r>
                <a:r>
                  <a:rPr lang="en-US" altLang="zh-TW" sz="2400" dirty="0" smtClean="0"/>
                  <a:t>[3, 6], [4, 4], [5, 7], [6, 3]</a:t>
                </a:r>
                <a:r>
                  <a:rPr lang="zh-TW" altLang="en-US" sz="2400" dirty="0" smtClean="0"/>
                  <a:t>，</a:t>
                </a:r>
                <a:r>
                  <a:rPr lang="en-US" altLang="zh-TW" sz="2400" dirty="0" smtClean="0"/>
                  <a:t/>
                </a:r>
                <a:br>
                  <a:rPr lang="en-US" altLang="zh-TW" sz="2400" dirty="0" smtClean="0"/>
                </a:br>
                <a:r>
                  <a:rPr lang="zh-TW" altLang="en-US" sz="2400" dirty="0" smtClean="0"/>
                  <a:t>唯一符合條件</a:t>
                </a:r>
                <a14:m>
                  <m:oMath xmlns:m="http://schemas.openxmlformats.org/officeDocument/2006/math">
                    <m:sSub>
                      <m:sSubPr>
                        <m:ctrlPr>
                          <a:rPr lang="en-US" altLang="zh-TW" sz="2400" i="1" dirty="0">
                            <a:latin typeface="Cambria Math"/>
                          </a:rPr>
                        </m:ctrlPr>
                      </m:sSubPr>
                      <m:e>
                        <m:r>
                          <a:rPr lang="en-US" altLang="zh-TW" sz="2400" i="1" dirty="0">
                            <a:latin typeface="Cambria Math"/>
                          </a:rPr>
                          <m:t>𝑝</m:t>
                        </m:r>
                      </m:e>
                      <m:sub>
                        <m:r>
                          <a:rPr lang="zh-TW" altLang="en-US" sz="2400" i="1" dirty="0">
                            <a:latin typeface="Cambria Math"/>
                          </a:rPr>
                          <m:t>𝜎</m:t>
                        </m:r>
                      </m:sub>
                    </m:sSub>
                  </m:oMath>
                </a14:m>
                <a:r>
                  <a:rPr lang="en-US" altLang="zh-TW" sz="2400" dirty="0"/>
                  <a:t>≦ </a:t>
                </a:r>
                <a14:m>
                  <m:oMath xmlns:m="http://schemas.openxmlformats.org/officeDocument/2006/math">
                    <m:r>
                      <a:rPr lang="en-US" altLang="zh-TW" sz="2400" i="1">
                        <a:latin typeface="Cambria Math"/>
                      </a:rPr>
                      <m:t>𝑢</m:t>
                    </m:r>
                  </m:oMath>
                </a14:m>
                <a:r>
                  <a:rPr lang="zh-TW" altLang="en-US" sz="2400" dirty="0"/>
                  <a:t>，</a:t>
                </a:r>
                <a14:m>
                  <m:oMath xmlns:m="http://schemas.openxmlformats.org/officeDocument/2006/math">
                    <m:sSub>
                      <m:sSubPr>
                        <m:ctrlPr>
                          <a:rPr lang="en-US" altLang="zh-TW" sz="2400" i="1" dirty="0">
                            <a:latin typeface="Cambria Math"/>
                          </a:rPr>
                        </m:ctrlPr>
                      </m:sSubPr>
                      <m:e>
                        <m:r>
                          <a:rPr lang="en-US" altLang="zh-TW" sz="2400" i="1" dirty="0">
                            <a:latin typeface="Cambria Math"/>
                          </a:rPr>
                          <m:t>𝑞</m:t>
                        </m:r>
                      </m:e>
                      <m:sub>
                        <m:r>
                          <a:rPr lang="zh-TW" altLang="en-US" sz="2400" i="1" dirty="0">
                            <a:latin typeface="Cambria Math"/>
                          </a:rPr>
                          <m:t>𝜎</m:t>
                        </m:r>
                      </m:sub>
                    </m:sSub>
                  </m:oMath>
                </a14:m>
                <a:r>
                  <a:rPr lang="en-US" altLang="zh-TW" sz="2400" dirty="0"/>
                  <a:t>&lt;</a:t>
                </a:r>
                <a:r>
                  <a:rPr lang="zh-TW" altLang="en-US" sz="2400" dirty="0"/>
                  <a:t/>
                </a:r>
                <a14:m>
                  <m:oMath xmlns:m="http://schemas.openxmlformats.org/officeDocument/2006/math">
                    <m:r>
                      <a:rPr lang="en-US" altLang="zh-TW" sz="2400" i="1">
                        <a:latin typeface="Cambria Math"/>
                      </a:rPr>
                      <m:t>𝑧</m:t>
                    </m:r>
                  </m:oMath>
                </a14:m>
                <a:r>
                  <a:rPr lang="en-US" altLang="zh-TW" sz="2400" dirty="0" smtClean="0"/>
                  <a:t/>
                </a:r>
                <a:br>
                  <a:rPr lang="en-US" altLang="zh-TW" sz="2400" dirty="0" smtClean="0"/>
                </a:br>
                <a:r>
                  <a:rPr lang="zh-TW" altLang="en-US" sz="2400" dirty="0" smtClean="0"/>
                  <a:t>的只有</a:t>
                </a:r>
                <a:r>
                  <a:rPr lang="en-US" altLang="zh-TW" sz="2400" dirty="0" smtClean="0"/>
                  <a:t>[4, 4]</a:t>
                </a:r>
                <a:r>
                  <a:rPr lang="zh-TW" altLang="en-US" sz="2400" dirty="0" smtClean="0"/>
                  <a:t>。</a:t>
                </a:r>
                <a:endParaRPr lang="zh-TW" altLang="en-US" sz="2400" dirty="0"/>
              </a:p>
            </p:txBody>
          </p:sp>
        </mc:Choice>
        <mc:Fallback>
          <p:sp>
            <p:nvSpPr>
              <p:cNvPr id="10" name="文字方塊 9"/>
              <p:cNvSpPr txBox="1">
                <a:spLocks noRot="1" noChangeAspect="1" noMove="1" noResize="1" noEditPoints="1" noAdjustHandles="1" noChangeArrowheads="1" noChangeShapeType="1" noTextEdit="1"/>
              </p:cNvSpPr>
              <p:nvPr/>
            </p:nvSpPr>
            <p:spPr>
              <a:xfrm>
                <a:off x="4644008" y="4131428"/>
                <a:ext cx="4351704" cy="1938992"/>
              </a:xfrm>
              <a:prstGeom prst="rect">
                <a:avLst/>
              </a:prstGeom>
              <a:blipFill rotWithShape="1">
                <a:blip r:embed="rId5"/>
                <a:stretch>
                  <a:fillRect l="-2241" t="-2516" r="-1261" b="-6289"/>
                </a:stretch>
              </a:blipFill>
            </p:spPr>
            <p:txBody>
              <a:bodyPr/>
              <a:lstStyle/>
              <a:p>
                <a:r>
                  <a:rPr lang="zh-TW" altLang="en-US">
                    <a:noFill/>
                  </a:rPr>
                  <a:t> </a:t>
                </a:r>
              </a:p>
            </p:txBody>
          </p:sp>
        </mc:Fallback>
      </mc:AlternateContent>
      <p:sp>
        <p:nvSpPr>
          <p:cNvPr id="3" name="矩形 2"/>
          <p:cNvSpPr/>
          <p:nvPr/>
        </p:nvSpPr>
        <p:spPr>
          <a:xfrm>
            <a:off x="1763688" y="4595124"/>
            <a:ext cx="1512168" cy="13541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 xmlns:p14="http://schemas.microsoft.com/office/powerpoint/2010/main" val="3055314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Algorithm</a:t>
            </a:r>
            <a:endParaRPr lang="zh-TW" altLang="en-US" dirty="0"/>
          </a:p>
        </p:txBody>
      </p:sp>
      <p:graphicFrame>
        <p:nvGraphicFramePr>
          <p:cNvPr id="5" name="表格 4"/>
          <p:cNvGraphicFramePr>
            <a:graphicFrameLocks noGrp="1"/>
          </p:cNvGraphicFramePr>
          <p:nvPr>
            <p:extLst>
              <p:ext uri="{D42A27DB-BD31-4B8C-83A1-F6EECF244321}">
                <p14:modId xmlns="" xmlns:p14="http://schemas.microsoft.com/office/powerpoint/2010/main" val="3195747903"/>
              </p:ext>
            </p:extLst>
          </p:nvPr>
        </p:nvGraphicFramePr>
        <p:xfrm>
          <a:off x="4936933" y="2214156"/>
          <a:ext cx="3168352" cy="1828800"/>
        </p:xfrm>
        <a:graphic>
          <a:graphicData uri="http://schemas.openxmlformats.org/drawingml/2006/table">
            <a:tbl>
              <a:tblPr firstRow="1" bandRow="1">
                <a:tableStyleId>{5C22544A-7EE6-4342-B048-85BDC9FD1C3A}</a:tableStyleId>
              </a:tblPr>
              <a:tblGrid>
                <a:gridCol w="396044"/>
                <a:gridCol w="396044"/>
                <a:gridCol w="396044"/>
                <a:gridCol w="396044"/>
                <a:gridCol w="396044"/>
                <a:gridCol w="396044"/>
                <a:gridCol w="396044"/>
                <a:gridCol w="396044"/>
              </a:tblGrid>
              <a:tr h="0">
                <a:tc>
                  <a:txBody>
                    <a:bodyPr/>
                    <a:lstStyle/>
                    <a:p>
                      <a:pPr algn="ctr"/>
                      <a:endParaRPr lang="zh-TW" altLang="en-US" dirty="0"/>
                    </a:p>
                  </a:txBody>
                  <a:tcPr>
                    <a:lnTlToBr w="12700" cap="flat" cmpd="sng" algn="ctr">
                      <a:noFill/>
                      <a:prstDash val="solid"/>
                      <a:round/>
                      <a:headEnd type="none" w="med" len="med"/>
                      <a:tailEnd type="none" w="med" len="med"/>
                    </a:lnTlToBr>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0">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4</a:t>
                      </a:r>
                      <a:endParaRPr lang="zh-TW" altLang="en-US" dirty="0">
                        <a:solidFill>
                          <a:srgbClr val="FF0000"/>
                        </a:solidFill>
                      </a:endParaRPr>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bl>
          </a:graphicData>
        </a:graphic>
      </p:graphicFrame>
      <mc:AlternateContent xmlns:mc="http://schemas.openxmlformats.org/markup-compatibility/2006">
        <mc:Choice xmlns="" xmlns:a14="http://schemas.microsoft.com/office/drawing/2010/main" Requires="a14">
          <p:sp>
            <p:nvSpPr>
              <p:cNvPr id="8" name="矩形 7"/>
              <p:cNvSpPr/>
              <p:nvPr/>
            </p:nvSpPr>
            <p:spPr>
              <a:xfrm>
                <a:off x="1115616" y="4412288"/>
                <a:ext cx="2497800" cy="954107"/>
              </a:xfrm>
              <a:prstGeom prst="rect">
                <a:avLst/>
              </a:prstGeom>
            </p:spPr>
            <p:txBody>
              <a:bodyPr wrap="none">
                <a:spAutoFit/>
              </a:bodyPr>
              <a:lstStyle/>
              <a:p>
                <a14:m>
                  <m:oMath xmlns:m="http://schemas.openxmlformats.org/officeDocument/2006/math">
                    <m:r>
                      <m:rPr>
                        <m:sty m:val="p"/>
                      </m:rPr>
                      <a:rPr lang="el-GR" altLang="zh-TW" sz="2800" i="1" smtClean="0">
                        <a:latin typeface="Cambria Math"/>
                      </a:rPr>
                      <m:t>α</m:t>
                    </m:r>
                  </m:oMath>
                </a14:m>
                <a:r>
                  <a:rPr lang="zh-TW" altLang="en-US" sz="2800" dirty="0" smtClean="0"/>
                  <a:t/>
                </a:r>
                <a:r>
                  <a:rPr lang="en-US" altLang="zh-TW" sz="2800" dirty="0" smtClean="0"/>
                  <a:t>= c b </a:t>
                </a:r>
                <a:r>
                  <a:rPr lang="en-US" altLang="zh-TW" sz="2800" dirty="0" err="1" smtClean="0"/>
                  <a:t>b</a:t>
                </a:r>
                <a:r>
                  <a:rPr lang="en-US" altLang="zh-TW" sz="2800" dirty="0" smtClean="0"/>
                  <a:t> d a c</a:t>
                </a:r>
                <a:br>
                  <a:rPr lang="en-US" altLang="zh-TW" sz="2800" dirty="0" smtClean="0"/>
                </a:br>
                <a14:m>
                  <m:oMath xmlns:m="http://schemas.openxmlformats.org/officeDocument/2006/math">
                    <m:r>
                      <m:rPr>
                        <m:sty m:val="p"/>
                      </m:rPr>
                      <a:rPr lang="el-GR" altLang="zh-TW" sz="2800" i="1">
                        <a:latin typeface="Cambria Math"/>
                      </a:rPr>
                      <m:t>β</m:t>
                    </m:r>
                  </m:oMath>
                </a14:m>
                <a:r>
                  <a:rPr lang="en-US" altLang="zh-TW" sz="2800" b="0" dirty="0" smtClean="0"/>
                  <a:t> = a b c d </a:t>
                </a:r>
                <a:r>
                  <a:rPr lang="en-US" altLang="zh-TW" sz="2800" b="0" dirty="0" err="1" smtClean="0"/>
                  <a:t>d</a:t>
                </a:r>
                <a:r>
                  <a:rPr lang="en-US" altLang="zh-TW" sz="2800" b="0" dirty="0" smtClean="0"/>
                  <a:t> b a</a:t>
                </a:r>
              </a:p>
            </p:txBody>
          </p:sp>
        </mc:Choice>
        <mc:Fallback>
          <p:sp>
            <p:nvSpPr>
              <p:cNvPr id="8" name="矩形 7"/>
              <p:cNvSpPr>
                <a:spLocks noRot="1" noChangeAspect="1" noMove="1" noResize="1" noEditPoints="1" noAdjustHandles="1" noChangeArrowheads="1" noChangeShapeType="1" noTextEdit="1"/>
              </p:cNvSpPr>
              <p:nvPr/>
            </p:nvSpPr>
            <p:spPr>
              <a:xfrm>
                <a:off x="1115616" y="4412288"/>
                <a:ext cx="2497800" cy="954107"/>
              </a:xfrm>
              <a:prstGeom prst="rect">
                <a:avLst/>
              </a:prstGeom>
              <a:blipFill rotWithShape="1">
                <a:blip r:embed="rId2"/>
                <a:stretch>
                  <a:fillRect t="-6410" r="-4146" b="-17308"/>
                </a:stretch>
              </a:blipFill>
            </p:spPr>
            <p:txBody>
              <a:bodyPr/>
              <a:lstStyle/>
              <a:p>
                <a:r>
                  <a:rPr lang="zh-TW" altLang="en-US">
                    <a:noFill/>
                  </a:rPr>
                  <a:t> </a:t>
                </a:r>
              </a:p>
            </p:txBody>
          </p:sp>
        </mc:Fallback>
      </mc:AlternateContent>
      <p:graphicFrame>
        <p:nvGraphicFramePr>
          <p:cNvPr id="9" name="表格 8"/>
          <p:cNvGraphicFramePr>
            <a:graphicFrameLocks noGrp="1"/>
          </p:cNvGraphicFramePr>
          <p:nvPr>
            <p:extLst>
              <p:ext uri="{D42A27DB-BD31-4B8C-83A1-F6EECF244321}">
                <p14:modId xmlns="" xmlns:p14="http://schemas.microsoft.com/office/powerpoint/2010/main" val="2283490782"/>
              </p:ext>
            </p:extLst>
          </p:nvPr>
        </p:nvGraphicFramePr>
        <p:xfrm>
          <a:off x="4932040" y="4446404"/>
          <a:ext cx="3600396" cy="1828800"/>
        </p:xfrm>
        <a:graphic>
          <a:graphicData uri="http://schemas.openxmlformats.org/drawingml/2006/table">
            <a:tbl>
              <a:tblPr firstRow="1" bandRow="1">
                <a:tableStyleId>{5C22544A-7EE6-4342-B048-85BDC9FD1C3A}</a:tableStyleId>
              </a:tblPr>
              <a:tblGrid>
                <a:gridCol w="400044"/>
                <a:gridCol w="400044"/>
                <a:gridCol w="400044"/>
                <a:gridCol w="400044"/>
                <a:gridCol w="400044"/>
                <a:gridCol w="400044"/>
                <a:gridCol w="400044"/>
                <a:gridCol w="400044"/>
                <a:gridCol w="400044"/>
              </a:tblGrid>
              <a:tr h="158418">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158418">
                <a:tc>
                  <a:txBody>
                    <a:bodyPr/>
                    <a:lstStyle/>
                    <a:p>
                      <a:pPr algn="ctr"/>
                      <a:r>
                        <a:rPr lang="en-US" altLang="zh-TW" dirty="0" smtClean="0">
                          <a:solidFill>
                            <a:srgbClr val="FF0000"/>
                          </a:solidFill>
                        </a:rPr>
                        <a:t>a</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b</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c</a:t>
                      </a:r>
                      <a:endParaRPr lang="zh-TW" altLang="en-US" dirty="0">
                        <a:solidFill>
                          <a:srgbClr val="FF0000"/>
                        </a:solidFill>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d</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bl>
          </a:graphicData>
        </a:graphic>
      </p:graphicFrame>
      <mc:AlternateContent xmlns:mc="http://schemas.openxmlformats.org/markup-compatibility/2006">
        <mc:Choice xmlns="" xmlns:a14="http://schemas.microsoft.com/office/drawing/2010/main" Requires="a14">
          <p:sp>
            <p:nvSpPr>
              <p:cNvPr id="10" name="矩形 9"/>
              <p:cNvSpPr/>
              <p:nvPr/>
            </p:nvSpPr>
            <p:spPr>
              <a:xfrm>
                <a:off x="5724128" y="1702405"/>
                <a:ext cx="1679434" cy="369332"/>
              </a:xfrm>
              <a:prstGeom prst="rect">
                <a:avLst/>
              </a:prstGeom>
            </p:spPr>
            <p:txBody>
              <a:bodyPr wrap="none">
                <a:spAutoFit/>
              </a:bodyPr>
              <a:lstStyle/>
              <a:p>
                <a14:m>
                  <m:oMath xmlns:m="http://schemas.openxmlformats.org/officeDocument/2006/math">
                    <m:r>
                      <m:rPr>
                        <m:sty m:val="p"/>
                      </m:rPr>
                      <a:rPr lang="el-GR" altLang="zh-TW" i="1">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a:t/>
                </a:r>
                <a:endParaRPr lang="zh-TW" altLang="en-US" dirty="0"/>
              </a:p>
            </p:txBody>
          </p:sp>
        </mc:Choice>
        <mc:Fallback>
          <p:sp>
            <p:nvSpPr>
              <p:cNvPr id="10" name="矩形 9"/>
              <p:cNvSpPr>
                <a:spLocks noRot="1" noChangeAspect="1" noMove="1" noResize="1" noEditPoints="1" noAdjustHandles="1" noChangeArrowheads="1" noChangeShapeType="1" noTextEdit="1"/>
              </p:cNvSpPr>
              <p:nvPr/>
            </p:nvSpPr>
            <p:spPr>
              <a:xfrm>
                <a:off x="5724128" y="1702405"/>
                <a:ext cx="1679434" cy="369332"/>
              </a:xfrm>
              <a:prstGeom prst="rect">
                <a:avLst/>
              </a:prstGeom>
              <a:blipFill rotWithShape="1">
                <a:blip r:embed="rId3"/>
                <a:stretch>
                  <a:fillRect/>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11" name="矩形 10"/>
              <p:cNvSpPr/>
              <p:nvPr/>
            </p:nvSpPr>
            <p:spPr>
              <a:xfrm>
                <a:off x="5724128" y="4042956"/>
                <a:ext cx="1593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m:oMathPara>
                </a14:m>
                <a:endParaRPr lang="zh-TW" altLang="en-US" dirty="0"/>
              </a:p>
            </p:txBody>
          </p:sp>
        </mc:Choice>
        <mc:Fallback>
          <p:sp>
            <p:nvSpPr>
              <p:cNvPr id="11" name="矩形 10"/>
              <p:cNvSpPr>
                <a:spLocks noRot="1" noChangeAspect="1" noMove="1" noResize="1" noEditPoints="1" noAdjustHandles="1" noChangeArrowheads="1" noChangeShapeType="1" noTextEdit="1"/>
              </p:cNvSpPr>
              <p:nvPr/>
            </p:nvSpPr>
            <p:spPr>
              <a:xfrm>
                <a:off x="5724128" y="4042956"/>
                <a:ext cx="1593962" cy="369332"/>
              </a:xfrm>
              <a:prstGeom prst="rect">
                <a:avLst/>
              </a:prstGeom>
              <a:blipFill rotWithShape="1">
                <a:blip r:embed="rId4"/>
                <a:stretch>
                  <a:fillRect b="-13115"/>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3" name="矩形 2"/>
              <p:cNvSpPr/>
              <p:nvPr/>
            </p:nvSpPr>
            <p:spPr>
              <a:xfrm>
                <a:off x="473902" y="2204864"/>
                <a:ext cx="3781228" cy="369332"/>
              </a:xfrm>
              <a:prstGeom prst="rect">
                <a:avLst/>
              </a:prstGeom>
            </p:spPr>
            <p:txBody>
              <a:bodyPr wrap="none">
                <a:spAutoFit/>
              </a:bodyPr>
              <a:lstStyle/>
              <a:p>
                <a:r>
                  <a:rPr lang="zh-TW" altLang="en-US" dirty="0" smtClean="0"/>
                  <a:t>建立</a:t>
                </a:r>
                <a14:m>
                  <m:oMath xmlns:m="http://schemas.openxmlformats.org/officeDocument/2006/math">
                    <m:r>
                      <m:rPr>
                        <m:sty m:val="p"/>
                      </m:rPr>
                      <a:rPr lang="el-GR" altLang="zh-TW" i="1">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a:t/>
                </a:r>
                <a:r>
                  <a:rPr lang="zh-TW" altLang="en-US" dirty="0"/>
                  <a:t>和</a:t>
                </a:r>
                <a:r>
                  <a:rPr lang="en-US" altLang="zh-TW" dirty="0" smtClean="0"/>
                  <a:t/>
                </a:r>
                <a14:m>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a14:m>
                <a:endParaRPr lang="zh-TW" altLang="en-US" dirty="0"/>
              </a:p>
            </p:txBody>
          </p:sp>
        </mc:Choice>
        <mc:Fallback>
          <p:sp>
            <p:nvSpPr>
              <p:cNvPr id="3" name="矩形 2"/>
              <p:cNvSpPr>
                <a:spLocks noRot="1" noChangeAspect="1" noMove="1" noResize="1" noEditPoints="1" noAdjustHandles="1" noChangeArrowheads="1" noChangeShapeType="1" noTextEdit="1"/>
              </p:cNvSpPr>
              <p:nvPr/>
            </p:nvSpPr>
            <p:spPr>
              <a:xfrm>
                <a:off x="473902" y="2204864"/>
                <a:ext cx="3781228" cy="369332"/>
              </a:xfrm>
              <a:prstGeom prst="rect">
                <a:avLst/>
              </a:prstGeom>
              <a:blipFill rotWithShape="1">
                <a:blip r:embed="rId5"/>
                <a:stretch>
                  <a:fillRect l="-1452" t="-6667" b="-28333"/>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8994347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p:graphicFrame>
        <p:nvGraphicFramePr>
          <p:cNvPr id="4" name="內容版面配置區 3"/>
          <p:cNvGraphicFramePr>
            <a:graphicFrameLocks noGrp="1"/>
          </p:cNvGraphicFramePr>
          <p:nvPr>
            <p:ph idx="1"/>
            <p:extLst>
              <p:ext uri="{D42A27DB-BD31-4B8C-83A1-F6EECF244321}">
                <p14:modId xmlns="" xmlns:p14="http://schemas.microsoft.com/office/powerpoint/2010/main" val="2295630981"/>
              </p:ext>
            </p:extLst>
          </p:nvPr>
        </p:nvGraphicFramePr>
        <p:xfrm>
          <a:off x="581902" y="1484784"/>
          <a:ext cx="3672408" cy="2595880"/>
        </p:xfrm>
        <a:graphic>
          <a:graphicData uri="http://schemas.openxmlformats.org/drawingml/2006/table">
            <a:tbl>
              <a:tblPr firstRow="1" bandRow="1">
                <a:tableStyleId>{5C22544A-7EE6-4342-B048-85BDC9FD1C3A}</a:tableStyleId>
              </a:tblPr>
              <a:tblGrid>
                <a:gridCol w="459051"/>
                <a:gridCol w="459051"/>
                <a:gridCol w="459051"/>
                <a:gridCol w="459051"/>
                <a:gridCol w="459051"/>
                <a:gridCol w="459051"/>
                <a:gridCol w="459051"/>
                <a:gridCol w="459051"/>
              </a:tblGrid>
              <a:tr h="370840">
                <a:tc>
                  <a:txBody>
                    <a:bodyPr/>
                    <a:lstStyle/>
                    <a:p>
                      <a:pPr algn="ctr"/>
                      <a:r>
                        <a:rPr lang="en-US" altLang="zh-TW" dirty="0" smtClean="0"/>
                        <a:t>0</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r>
              <a:tr h="370840">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extLst>
              <p:ext uri="{D42A27DB-BD31-4B8C-83A1-F6EECF244321}">
                <p14:modId xmlns="" xmlns:p14="http://schemas.microsoft.com/office/powerpoint/2010/main" val="3968699998"/>
              </p:ext>
            </p:extLst>
          </p:nvPr>
        </p:nvGraphicFramePr>
        <p:xfrm>
          <a:off x="755576" y="4734436"/>
          <a:ext cx="3168352" cy="1828800"/>
        </p:xfrm>
        <a:graphic>
          <a:graphicData uri="http://schemas.openxmlformats.org/drawingml/2006/table">
            <a:tbl>
              <a:tblPr firstRow="1" bandRow="1">
                <a:tableStyleId>{5C22544A-7EE6-4342-B048-85BDC9FD1C3A}</a:tableStyleId>
              </a:tblPr>
              <a:tblGrid>
                <a:gridCol w="396044"/>
                <a:gridCol w="396044"/>
                <a:gridCol w="396044"/>
                <a:gridCol w="396044"/>
                <a:gridCol w="396044"/>
                <a:gridCol w="396044"/>
                <a:gridCol w="396044"/>
                <a:gridCol w="396044"/>
              </a:tblGrid>
              <a:tr h="0">
                <a:tc>
                  <a:txBody>
                    <a:bodyPr/>
                    <a:lstStyle/>
                    <a:p>
                      <a:pPr algn="ctr"/>
                      <a:endParaRPr lang="zh-TW" altLang="en-US" dirty="0"/>
                    </a:p>
                  </a:txBody>
                  <a:tcPr>
                    <a:lnTlToBr w="12700" cap="flat" cmpd="sng" algn="ctr">
                      <a:noFill/>
                      <a:prstDash val="solid"/>
                      <a:round/>
                      <a:headEnd type="none" w="med" len="med"/>
                      <a:tailEnd type="none" w="med" len="med"/>
                    </a:lnTlToBr>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0">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4</a:t>
                      </a:r>
                      <a:endParaRPr lang="zh-TW" altLang="en-US" dirty="0">
                        <a:solidFill>
                          <a:srgbClr val="FF0000"/>
                        </a:solidFill>
                      </a:endParaRPr>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 xmlns:p14="http://schemas.microsoft.com/office/powerpoint/2010/main" val="3544794872"/>
              </p:ext>
            </p:extLst>
          </p:nvPr>
        </p:nvGraphicFramePr>
        <p:xfrm>
          <a:off x="4860036" y="4725144"/>
          <a:ext cx="3600396" cy="1828800"/>
        </p:xfrm>
        <a:graphic>
          <a:graphicData uri="http://schemas.openxmlformats.org/drawingml/2006/table">
            <a:tbl>
              <a:tblPr firstRow="1" bandRow="1">
                <a:tableStyleId>{5C22544A-7EE6-4342-B048-85BDC9FD1C3A}</a:tableStyleId>
              </a:tblPr>
              <a:tblGrid>
                <a:gridCol w="400044"/>
                <a:gridCol w="400044"/>
                <a:gridCol w="400044"/>
                <a:gridCol w="400044"/>
                <a:gridCol w="400044"/>
                <a:gridCol w="400044"/>
                <a:gridCol w="400044"/>
                <a:gridCol w="400044"/>
                <a:gridCol w="400044"/>
              </a:tblGrid>
              <a:tr h="158418">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158418">
                <a:tc>
                  <a:txBody>
                    <a:bodyPr/>
                    <a:lstStyle/>
                    <a:p>
                      <a:pPr algn="ctr"/>
                      <a:r>
                        <a:rPr lang="en-US" altLang="zh-TW" dirty="0" smtClean="0">
                          <a:solidFill>
                            <a:srgbClr val="FF0000"/>
                          </a:solidFill>
                        </a:rPr>
                        <a:t>a</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b</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c</a:t>
                      </a:r>
                      <a:endParaRPr lang="zh-TW" altLang="en-US" dirty="0">
                        <a:solidFill>
                          <a:srgbClr val="FF0000"/>
                        </a:solidFill>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d</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bl>
          </a:graphicData>
        </a:graphic>
      </p:graphicFrame>
      <mc:AlternateContent xmlns:mc="http://schemas.openxmlformats.org/markup-compatibility/2006">
        <mc:Choice xmlns="" xmlns:a14="http://schemas.microsoft.com/office/drawing/2010/main" Requires="a14">
          <p:sp>
            <p:nvSpPr>
              <p:cNvPr id="7" name="矩形 6"/>
              <p:cNvSpPr/>
              <p:nvPr/>
            </p:nvSpPr>
            <p:spPr>
              <a:xfrm>
                <a:off x="1578389" y="4365104"/>
                <a:ext cx="1679434" cy="369332"/>
              </a:xfrm>
              <a:prstGeom prst="rect">
                <a:avLst/>
              </a:prstGeom>
            </p:spPr>
            <p:txBody>
              <a:bodyPr wrap="none">
                <a:spAutoFit/>
              </a:bodyPr>
              <a:lstStyle/>
              <a:p>
                <a14:m>
                  <m:oMath xmlns:m="http://schemas.openxmlformats.org/officeDocument/2006/math">
                    <m:r>
                      <m:rPr>
                        <m:sty m:val="p"/>
                      </m:rPr>
                      <a:rPr lang="el-GR" altLang="zh-TW" i="1">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a:t/>
                </a:r>
                <a:endParaRPr lang="zh-TW" altLang="en-US" dirty="0"/>
              </a:p>
            </p:txBody>
          </p:sp>
        </mc:Choice>
        <mc:Fallback>
          <p:sp>
            <p:nvSpPr>
              <p:cNvPr id="7" name="矩形 6"/>
              <p:cNvSpPr>
                <a:spLocks noRot="1" noChangeAspect="1" noMove="1" noResize="1" noEditPoints="1" noAdjustHandles="1" noChangeArrowheads="1" noChangeShapeType="1" noTextEdit="1"/>
              </p:cNvSpPr>
              <p:nvPr/>
            </p:nvSpPr>
            <p:spPr>
              <a:xfrm>
                <a:off x="1578389" y="4365104"/>
                <a:ext cx="1679434" cy="369332"/>
              </a:xfrm>
              <a:prstGeom prst="rect">
                <a:avLst/>
              </a:prstGeom>
              <a:blipFill rotWithShape="1">
                <a:blip r:embed="rId2"/>
                <a:stretch>
                  <a:fillRect/>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8" name="矩形 7"/>
              <p:cNvSpPr/>
              <p:nvPr/>
            </p:nvSpPr>
            <p:spPr>
              <a:xfrm>
                <a:off x="5652124" y="4365104"/>
                <a:ext cx="1593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m:oMathPara>
                </a14:m>
                <a:endParaRPr lang="zh-TW" altLang="en-US" dirty="0"/>
              </a:p>
            </p:txBody>
          </p:sp>
        </mc:Choice>
        <mc:Fallback>
          <p:sp>
            <p:nvSpPr>
              <p:cNvPr id="8" name="矩形 7"/>
              <p:cNvSpPr>
                <a:spLocks noRot="1" noChangeAspect="1" noMove="1" noResize="1" noEditPoints="1" noAdjustHandles="1" noChangeArrowheads="1" noChangeShapeType="1" noTextEdit="1"/>
              </p:cNvSpPr>
              <p:nvPr/>
            </p:nvSpPr>
            <p:spPr>
              <a:xfrm>
                <a:off x="5652124" y="4365104"/>
                <a:ext cx="1593962" cy="369332"/>
              </a:xfrm>
              <a:prstGeom prst="rect">
                <a:avLst/>
              </a:prstGeom>
              <a:blipFill rotWithShape="1">
                <a:blip r:embed="rId3"/>
                <a:stretch>
                  <a:fillRect b="-13115"/>
                </a:stretch>
              </a:blipFill>
            </p:spPr>
            <p:txBody>
              <a:bodyPr/>
              <a:lstStyle/>
              <a:p>
                <a:r>
                  <a:rPr lang="zh-TW" altLang="en-US">
                    <a:noFill/>
                  </a:rPr>
                  <a:t> </a:t>
                </a:r>
              </a:p>
            </p:txBody>
          </p:sp>
        </mc:Fallback>
      </mc:AlternateContent>
      <p:sp>
        <p:nvSpPr>
          <p:cNvPr id="9" name="矩形 8"/>
          <p:cNvSpPr/>
          <p:nvPr/>
        </p:nvSpPr>
        <p:spPr>
          <a:xfrm>
            <a:off x="1187624" y="4745511"/>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5292084" y="4792109"/>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graphicFrame>
            <p:nvGraphicFramePr>
              <p:cNvPr id="11" name="表格 10"/>
              <p:cNvGraphicFramePr>
                <a:graphicFrameLocks noGrp="1"/>
              </p:cNvGraphicFramePr>
              <p:nvPr>
                <p:extLst>
                  <p:ext uri="{D42A27DB-BD31-4B8C-83A1-F6EECF244321}">
                    <p14:modId xmlns:p14="http://schemas.microsoft.com/office/powerpoint/2010/main" val="2024924768"/>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0</m:t>
                                    </m:r>
                                  </m:sup>
                                </m:sSup>
                              </m:oMath>
                            </m:oMathPara>
                          </a14:m>
                          <a:endParaRPr lang="zh-TW" altLang="en-US" dirty="0"/>
                        </a:p>
                      </a:txBody>
                      <a:tcPr/>
                    </a:tc>
                    <a:tc>
                      <a:txBody>
                        <a:bodyPr/>
                        <a:lstStyle/>
                        <a:p>
                          <a:pPr algn="ctr"/>
                          <a:r>
                            <a:rPr lang="en-US" altLang="zh-TW" dirty="0" smtClean="0"/>
                            <a:t>[0, 0]</a:t>
                          </a:r>
                          <a:endParaRPr lang="zh-TW" altLang="en-US"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1</m:t>
                                    </m:r>
                                  </m:sup>
                                </m:sSup>
                              </m:oMath>
                            </m:oMathPara>
                          </a14:m>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2</m:t>
                                    </m:r>
                                  </m:sup>
                                </m:sSup>
                              </m:oMath>
                            </m:oMathPara>
                          </a14:m>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3</m:t>
                                    </m:r>
                                  </m:sup>
                                </m:sSup>
                              </m:oMath>
                            </m:oMathPara>
                          </a14:m>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Choice>
        <mc:Fallback>
          <p:graphicFrame>
            <p:nvGraphicFramePr>
              <p:cNvPr id="11" name="表格 10"/>
              <p:cNvGraphicFramePr>
                <a:graphicFrameLocks noGrp="1"/>
              </p:cNvGraphicFramePr>
              <p:nvPr>
                <p:extLst>
                  <p:ext uri="{D42A27DB-BD31-4B8C-83A1-F6EECF244321}">
                    <p14:modId xmlns="" xmlns:p14="http://schemas.microsoft.com/office/powerpoint/2010/main" val="2024924768"/>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endParaRPr lang="zh-TW"/>
                        </a:p>
                      </a:txBody>
                      <a:tcPr>
                        <a:blipFill rotWithShape="1">
                          <a:blip r:embed="rId4"/>
                          <a:stretch>
                            <a:fillRect l="-633" t="-8197" r="-298734" b="-298361"/>
                          </a:stretch>
                        </a:blipFill>
                      </a:tcPr>
                    </a:tc>
                    <a:tc>
                      <a:txBody>
                        <a:bodyPr/>
                        <a:lstStyle/>
                        <a:p>
                          <a:pPr algn="ctr"/>
                          <a:r>
                            <a:rPr lang="en-US" altLang="zh-TW" dirty="0" smtClean="0"/>
                            <a:t>[0, 0]</a:t>
                          </a:r>
                          <a:endParaRPr lang="zh-TW" altLang="en-US"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endParaRPr lang="zh-TW"/>
                        </a:p>
                      </a:txBody>
                      <a:tcPr>
                        <a:blipFill rotWithShape="1">
                          <a:blip r:embed="rId4"/>
                          <a:stretch>
                            <a:fillRect l="-633" t="-108197" r="-298734" b="-198361"/>
                          </a:stretch>
                        </a:blip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endParaRPr lang="zh-TW"/>
                        </a:p>
                      </a:txBody>
                      <a:tcPr>
                        <a:blipFill rotWithShape="1">
                          <a:blip r:embed="rId4"/>
                          <a:stretch>
                            <a:fillRect l="-633" t="-211667" r="-298734" b="-101667"/>
                          </a:stretch>
                        </a:blip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r>
                  <a:tr h="370840">
                    <a:tc>
                      <a:txBody>
                        <a:bodyPr/>
                        <a:lstStyle/>
                        <a:p>
                          <a:endParaRPr lang="zh-TW"/>
                        </a:p>
                      </a:txBody>
                      <a:tcPr>
                        <a:blipFill rotWithShape="1">
                          <a:blip r:embed="rId4"/>
                          <a:stretch>
                            <a:fillRect l="-633" t="-306557" r="-298734"/>
                          </a:stretch>
                        </a:blip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Fallback>
      </mc:AlternateContent>
      <p:sp>
        <p:nvSpPr>
          <p:cNvPr id="3" name="橢圓 2"/>
          <p:cNvSpPr/>
          <p:nvPr/>
        </p:nvSpPr>
        <p:spPr>
          <a:xfrm>
            <a:off x="588043" y="1484784"/>
            <a:ext cx="432048" cy="43204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sp>
            <p:nvSpPr>
              <p:cNvPr id="13" name="矩形 12"/>
              <p:cNvSpPr/>
              <p:nvPr/>
            </p:nvSpPr>
            <p:spPr>
              <a:xfrm>
                <a:off x="5200205" y="1532582"/>
                <a:ext cx="2497800" cy="954107"/>
              </a:xfrm>
              <a:prstGeom prst="rect">
                <a:avLst/>
              </a:prstGeom>
            </p:spPr>
            <p:txBody>
              <a:bodyPr wrap="none">
                <a:spAutoFit/>
              </a:bodyPr>
              <a:lstStyle/>
              <a:p>
                <a14:m>
                  <m:oMath xmlns:m="http://schemas.openxmlformats.org/officeDocument/2006/math">
                    <m:r>
                      <m:rPr>
                        <m:sty m:val="p"/>
                      </m:rPr>
                      <a:rPr lang="el-GR" altLang="zh-TW" sz="2800" i="1" smtClean="0">
                        <a:latin typeface="Cambria Math"/>
                      </a:rPr>
                      <m:t>α</m:t>
                    </m:r>
                  </m:oMath>
                </a14:m>
                <a:r>
                  <a:rPr lang="zh-TW" altLang="en-US" sz="2800" dirty="0" smtClean="0"/>
                  <a:t/>
                </a:r>
                <a:r>
                  <a:rPr lang="en-US" altLang="zh-TW" sz="2800" dirty="0" smtClean="0"/>
                  <a:t>= c b </a:t>
                </a:r>
                <a:r>
                  <a:rPr lang="en-US" altLang="zh-TW" sz="2800" dirty="0" err="1" smtClean="0"/>
                  <a:t>b</a:t>
                </a:r>
                <a:r>
                  <a:rPr lang="en-US" altLang="zh-TW" sz="2800" dirty="0" smtClean="0"/>
                  <a:t> d a c</a:t>
                </a:r>
                <a:br>
                  <a:rPr lang="en-US" altLang="zh-TW" sz="2800" dirty="0" smtClean="0"/>
                </a:br>
                <a14:m>
                  <m:oMath xmlns:m="http://schemas.openxmlformats.org/officeDocument/2006/math">
                    <m:r>
                      <m:rPr>
                        <m:sty m:val="p"/>
                      </m:rPr>
                      <a:rPr lang="el-GR" altLang="zh-TW" sz="2800" i="1">
                        <a:latin typeface="Cambria Math"/>
                      </a:rPr>
                      <m:t>β</m:t>
                    </m:r>
                  </m:oMath>
                </a14:m>
                <a:r>
                  <a:rPr lang="en-US" altLang="zh-TW" sz="2800" b="0" dirty="0" smtClean="0"/>
                  <a:t> = a b c d </a:t>
                </a:r>
                <a:r>
                  <a:rPr lang="en-US" altLang="zh-TW" sz="2800" b="0" dirty="0" err="1" smtClean="0"/>
                  <a:t>d</a:t>
                </a:r>
                <a:r>
                  <a:rPr lang="en-US" altLang="zh-TW" sz="2800" b="0" dirty="0" smtClean="0"/>
                  <a:t> b a</a:t>
                </a:r>
              </a:p>
            </p:txBody>
          </p:sp>
        </mc:Choice>
        <mc:Fallback>
          <p:sp>
            <p:nvSpPr>
              <p:cNvPr id="13" name="矩形 12"/>
              <p:cNvSpPr>
                <a:spLocks noRot="1" noChangeAspect="1" noMove="1" noResize="1" noEditPoints="1" noAdjustHandles="1" noChangeArrowheads="1" noChangeShapeType="1" noTextEdit="1"/>
              </p:cNvSpPr>
              <p:nvPr/>
            </p:nvSpPr>
            <p:spPr>
              <a:xfrm>
                <a:off x="5200205" y="1532582"/>
                <a:ext cx="2497800" cy="954107"/>
              </a:xfrm>
              <a:prstGeom prst="rect">
                <a:avLst/>
              </a:prstGeom>
              <a:blipFill rotWithShape="1">
                <a:blip r:embed="rId5"/>
                <a:stretch>
                  <a:fillRect t="-6369" r="-4146" b="-16561"/>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12" name="文字方塊 11"/>
              <p:cNvSpPr txBox="1"/>
              <p:nvPr/>
            </p:nvSpPr>
            <p:spPr>
              <a:xfrm>
                <a:off x="570654" y="980728"/>
                <a:ext cx="946285" cy="391646"/>
              </a:xfrm>
              <a:prstGeom prst="rect">
                <a:avLst/>
              </a:prstGeom>
              <a:noFill/>
            </p:spPr>
            <p:txBody>
              <a:bodyPr wrap="none" rtlCol="0">
                <a:spAutoFit/>
              </a:bodyPr>
              <a:lstStyle/>
              <a:p>
                <a:r>
                  <a:rPr lang="zh-TW" altLang="en-US" dirty="0" smtClean="0"/>
                  <a:t>尋找</a:t>
                </a:r>
                <a14:m>
                  <m:oMath xmlns:m="http://schemas.openxmlformats.org/officeDocument/2006/math">
                    <m:sSub>
                      <m:sSubPr>
                        <m:ctrlPr>
                          <a:rPr lang="en-US" altLang="zh-TW" i="1">
                            <a:latin typeface="Cambria Math"/>
                          </a:rPr>
                        </m:ctrlPr>
                      </m:sSubPr>
                      <m:e>
                        <m:r>
                          <a:rPr lang="en-US" altLang="zh-TW" b="0" i="1" smtClean="0">
                            <a:latin typeface="Cambria Math"/>
                          </a:rPr>
                          <m:t>𝐷</m:t>
                        </m:r>
                      </m:e>
                      <m:sub>
                        <m:r>
                          <a:rPr lang="en-US" altLang="zh-TW" i="1">
                            <a:latin typeface="Cambria Math"/>
                          </a:rPr>
                          <m:t>𝑖𝑗</m:t>
                        </m:r>
                      </m:sub>
                    </m:sSub>
                  </m:oMath>
                </a14:m>
                <a:endParaRPr lang="zh-TW" altLang="en-US" dirty="0"/>
              </a:p>
            </p:txBody>
          </p:sp>
        </mc:Choice>
        <mc:Fallback>
          <p:sp>
            <p:nvSpPr>
              <p:cNvPr id="12" name="文字方塊 11"/>
              <p:cNvSpPr txBox="1">
                <a:spLocks noRot="1" noChangeAspect="1" noMove="1" noResize="1" noEditPoints="1" noAdjustHandles="1" noChangeArrowheads="1" noChangeShapeType="1" noTextEdit="1"/>
              </p:cNvSpPr>
              <p:nvPr/>
            </p:nvSpPr>
            <p:spPr>
              <a:xfrm>
                <a:off x="570654" y="980728"/>
                <a:ext cx="946285" cy="391646"/>
              </a:xfrm>
              <a:prstGeom prst="rect">
                <a:avLst/>
              </a:prstGeom>
              <a:blipFill rotWithShape="1">
                <a:blip r:embed="rId6"/>
                <a:stretch>
                  <a:fillRect l="-5806" t="-6250" b="-20313"/>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13149793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p:graphicFrame>
        <p:nvGraphicFramePr>
          <p:cNvPr id="4" name="內容版面配置區 3"/>
          <p:cNvGraphicFramePr>
            <a:graphicFrameLocks noGrp="1"/>
          </p:cNvGraphicFramePr>
          <p:nvPr>
            <p:ph idx="1"/>
            <p:extLst>
              <p:ext uri="{D42A27DB-BD31-4B8C-83A1-F6EECF244321}">
                <p14:modId xmlns="" xmlns:p14="http://schemas.microsoft.com/office/powerpoint/2010/main" val="2051996052"/>
              </p:ext>
            </p:extLst>
          </p:nvPr>
        </p:nvGraphicFramePr>
        <p:xfrm>
          <a:off x="581902" y="1484784"/>
          <a:ext cx="3672408" cy="2595880"/>
        </p:xfrm>
        <a:graphic>
          <a:graphicData uri="http://schemas.openxmlformats.org/drawingml/2006/table">
            <a:tbl>
              <a:tblPr firstRow="1" bandRow="1">
                <a:tableStyleId>{5C22544A-7EE6-4342-B048-85BDC9FD1C3A}</a:tableStyleId>
              </a:tblPr>
              <a:tblGrid>
                <a:gridCol w="459051"/>
                <a:gridCol w="459051"/>
                <a:gridCol w="459051"/>
                <a:gridCol w="459051"/>
                <a:gridCol w="459051"/>
                <a:gridCol w="459051"/>
                <a:gridCol w="459051"/>
                <a:gridCol w="459051"/>
              </a:tblGrid>
              <a:tr h="370840">
                <a:tc>
                  <a:txBody>
                    <a:bodyPr/>
                    <a:lstStyle/>
                    <a:p>
                      <a:pPr algn="ctr"/>
                      <a:r>
                        <a:rPr lang="en-US" altLang="zh-TW" dirty="0" smtClean="0"/>
                        <a:t>0</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rgbClr val="FF0000"/>
                          </a:solidFill>
                        </a:rPr>
                        <a:t>*</a:t>
                      </a: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r>
              <a:tr h="370840">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extLst>
              <p:ext uri="{D42A27DB-BD31-4B8C-83A1-F6EECF244321}">
                <p14:modId xmlns="" xmlns:p14="http://schemas.microsoft.com/office/powerpoint/2010/main" val="2695602559"/>
              </p:ext>
            </p:extLst>
          </p:nvPr>
        </p:nvGraphicFramePr>
        <p:xfrm>
          <a:off x="755576" y="4734436"/>
          <a:ext cx="3168352" cy="1828800"/>
        </p:xfrm>
        <a:graphic>
          <a:graphicData uri="http://schemas.openxmlformats.org/drawingml/2006/table">
            <a:tbl>
              <a:tblPr firstRow="1" bandRow="1">
                <a:tableStyleId>{5C22544A-7EE6-4342-B048-85BDC9FD1C3A}</a:tableStyleId>
              </a:tblPr>
              <a:tblGrid>
                <a:gridCol w="396044"/>
                <a:gridCol w="396044"/>
                <a:gridCol w="396044"/>
                <a:gridCol w="396044"/>
                <a:gridCol w="396044"/>
                <a:gridCol w="396044"/>
                <a:gridCol w="396044"/>
                <a:gridCol w="396044"/>
              </a:tblGrid>
              <a:tr h="0">
                <a:tc>
                  <a:txBody>
                    <a:bodyPr/>
                    <a:lstStyle/>
                    <a:p>
                      <a:pPr algn="ctr"/>
                      <a:endParaRPr lang="zh-TW" altLang="en-US" dirty="0"/>
                    </a:p>
                  </a:txBody>
                  <a:tcPr>
                    <a:lnTlToBr w="12700" cap="flat" cmpd="sng" algn="ctr">
                      <a:noFill/>
                      <a:prstDash val="solid"/>
                      <a:round/>
                      <a:headEnd type="none" w="med" len="med"/>
                      <a:tailEnd type="none" w="med" len="med"/>
                    </a:lnTlToBr>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0">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4</a:t>
                      </a:r>
                      <a:endParaRPr lang="zh-TW" altLang="en-US" dirty="0">
                        <a:solidFill>
                          <a:srgbClr val="FF0000"/>
                        </a:solidFill>
                      </a:endParaRPr>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 xmlns:p14="http://schemas.microsoft.com/office/powerpoint/2010/main" val="358292415"/>
              </p:ext>
            </p:extLst>
          </p:nvPr>
        </p:nvGraphicFramePr>
        <p:xfrm>
          <a:off x="4860036" y="4725144"/>
          <a:ext cx="3600396" cy="1828800"/>
        </p:xfrm>
        <a:graphic>
          <a:graphicData uri="http://schemas.openxmlformats.org/drawingml/2006/table">
            <a:tbl>
              <a:tblPr firstRow="1" bandRow="1">
                <a:tableStyleId>{5C22544A-7EE6-4342-B048-85BDC9FD1C3A}</a:tableStyleId>
              </a:tblPr>
              <a:tblGrid>
                <a:gridCol w="400044"/>
                <a:gridCol w="400044"/>
                <a:gridCol w="400044"/>
                <a:gridCol w="400044"/>
                <a:gridCol w="400044"/>
                <a:gridCol w="400044"/>
                <a:gridCol w="400044"/>
                <a:gridCol w="400044"/>
                <a:gridCol w="400044"/>
              </a:tblGrid>
              <a:tr h="158418">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158418">
                <a:tc>
                  <a:txBody>
                    <a:bodyPr/>
                    <a:lstStyle/>
                    <a:p>
                      <a:pPr algn="ctr"/>
                      <a:r>
                        <a:rPr lang="en-US" altLang="zh-TW" dirty="0" smtClean="0">
                          <a:solidFill>
                            <a:srgbClr val="FF0000"/>
                          </a:solidFill>
                        </a:rPr>
                        <a:t>a</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b</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c</a:t>
                      </a:r>
                      <a:endParaRPr lang="zh-TW" altLang="en-US" dirty="0">
                        <a:solidFill>
                          <a:srgbClr val="FF0000"/>
                        </a:solidFill>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d</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bl>
          </a:graphicData>
        </a:graphic>
      </p:graphicFrame>
      <mc:AlternateContent xmlns:mc="http://schemas.openxmlformats.org/markup-compatibility/2006">
        <mc:Choice xmlns="" xmlns:a14="http://schemas.microsoft.com/office/drawing/2010/main" Requires="a14">
          <p:sp>
            <p:nvSpPr>
              <p:cNvPr id="7" name="矩形 6"/>
              <p:cNvSpPr/>
              <p:nvPr/>
            </p:nvSpPr>
            <p:spPr>
              <a:xfrm>
                <a:off x="1578389" y="4365104"/>
                <a:ext cx="1679434" cy="369332"/>
              </a:xfrm>
              <a:prstGeom prst="rect">
                <a:avLst/>
              </a:prstGeom>
            </p:spPr>
            <p:txBody>
              <a:bodyPr wrap="none">
                <a:spAutoFit/>
              </a:bodyPr>
              <a:lstStyle/>
              <a:p>
                <a14:m>
                  <m:oMath xmlns:m="http://schemas.openxmlformats.org/officeDocument/2006/math">
                    <m:r>
                      <m:rPr>
                        <m:sty m:val="p"/>
                      </m:rPr>
                      <a:rPr lang="el-GR" altLang="zh-TW" i="1">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a:t/>
                </a:r>
                <a:endParaRPr lang="zh-TW" altLang="en-US" dirty="0"/>
              </a:p>
            </p:txBody>
          </p:sp>
        </mc:Choice>
        <mc:Fallback>
          <p:sp>
            <p:nvSpPr>
              <p:cNvPr id="7" name="矩形 6"/>
              <p:cNvSpPr>
                <a:spLocks noRot="1" noChangeAspect="1" noMove="1" noResize="1" noEditPoints="1" noAdjustHandles="1" noChangeArrowheads="1" noChangeShapeType="1" noTextEdit="1"/>
              </p:cNvSpPr>
              <p:nvPr/>
            </p:nvSpPr>
            <p:spPr>
              <a:xfrm>
                <a:off x="1578389" y="4365104"/>
                <a:ext cx="1679434" cy="369332"/>
              </a:xfrm>
              <a:prstGeom prst="rect">
                <a:avLst/>
              </a:prstGeom>
              <a:blipFill rotWithShape="1">
                <a:blip r:embed="rId2"/>
                <a:stretch>
                  <a:fillRect/>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8" name="矩形 7"/>
              <p:cNvSpPr/>
              <p:nvPr/>
            </p:nvSpPr>
            <p:spPr>
              <a:xfrm>
                <a:off x="5652124" y="4365104"/>
                <a:ext cx="1593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m:oMathPara>
                </a14:m>
                <a:endParaRPr lang="zh-TW" altLang="en-US" dirty="0"/>
              </a:p>
            </p:txBody>
          </p:sp>
        </mc:Choice>
        <mc:Fallback>
          <p:sp>
            <p:nvSpPr>
              <p:cNvPr id="8" name="矩形 7"/>
              <p:cNvSpPr>
                <a:spLocks noRot="1" noChangeAspect="1" noMove="1" noResize="1" noEditPoints="1" noAdjustHandles="1" noChangeArrowheads="1" noChangeShapeType="1" noTextEdit="1"/>
              </p:cNvSpPr>
              <p:nvPr/>
            </p:nvSpPr>
            <p:spPr>
              <a:xfrm>
                <a:off x="5652124" y="4365104"/>
                <a:ext cx="1593962" cy="369332"/>
              </a:xfrm>
              <a:prstGeom prst="rect">
                <a:avLst/>
              </a:prstGeom>
              <a:blipFill rotWithShape="1">
                <a:blip r:embed="rId3"/>
                <a:stretch>
                  <a:fillRect b="-13115"/>
                </a:stretch>
              </a:blipFill>
            </p:spPr>
            <p:txBody>
              <a:bodyPr/>
              <a:lstStyle/>
              <a:p>
                <a:r>
                  <a:rPr lang="zh-TW" altLang="en-US">
                    <a:noFill/>
                  </a:rPr>
                  <a:t> </a:t>
                </a:r>
              </a:p>
            </p:txBody>
          </p:sp>
        </mc:Fallback>
      </mc:AlternateContent>
      <p:sp>
        <p:nvSpPr>
          <p:cNvPr id="9" name="矩形 8"/>
          <p:cNvSpPr/>
          <p:nvPr/>
        </p:nvSpPr>
        <p:spPr>
          <a:xfrm>
            <a:off x="1187624" y="4745511"/>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5292084" y="4792109"/>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graphicFrame>
            <p:nvGraphicFramePr>
              <p:cNvPr id="11" name="表格 10"/>
              <p:cNvGraphicFramePr>
                <a:graphicFrameLocks noGrp="1"/>
              </p:cNvGraphicFramePr>
              <p:nvPr>
                <p:extLst>
                  <p:ext uri="{D42A27DB-BD31-4B8C-83A1-F6EECF244321}">
                    <p14:modId xmlns:p14="http://schemas.microsoft.com/office/powerpoint/2010/main" val="2585654835"/>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0</m:t>
                                    </m:r>
                                  </m:sup>
                                </m:sSup>
                              </m:oMath>
                            </m:oMathPara>
                          </a14:m>
                          <a:endParaRPr lang="zh-TW" altLang="en-US" dirty="0"/>
                        </a:p>
                      </a:txBody>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1</m:t>
                                    </m:r>
                                  </m:sup>
                                </m:sSup>
                              </m:oMath>
                            </m:oMathPara>
                          </a14:m>
                          <a:endParaRPr lang="zh-TW" altLang="en-US" dirty="0"/>
                        </a:p>
                      </a:txBody>
                      <a:tcPr/>
                    </a:tc>
                    <a:tc>
                      <a:txBody>
                        <a:bodyPr/>
                        <a:lstStyle/>
                        <a:p>
                          <a:pPr algn="ctr"/>
                          <a:r>
                            <a:rPr lang="en-US" altLang="zh-TW" b="1" dirty="0" smtClean="0"/>
                            <a:t>[1, 3]</a:t>
                          </a:r>
                          <a:endParaRPr lang="zh-TW" altLang="en-US" b="1"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2</m:t>
                                    </m:r>
                                  </m:sup>
                                </m:sSup>
                              </m:oMath>
                            </m:oMathPara>
                          </a14:m>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3</m:t>
                                    </m:r>
                                  </m:sup>
                                </m:sSup>
                              </m:oMath>
                            </m:oMathPara>
                          </a14:m>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Choice>
        <mc:Fallback>
          <p:graphicFrame>
            <p:nvGraphicFramePr>
              <p:cNvPr id="11" name="表格 10"/>
              <p:cNvGraphicFramePr>
                <a:graphicFrameLocks noGrp="1"/>
              </p:cNvGraphicFramePr>
              <p:nvPr>
                <p:extLst>
                  <p:ext uri="{D42A27DB-BD31-4B8C-83A1-F6EECF244321}">
                    <p14:modId xmlns="" xmlns:p14="http://schemas.microsoft.com/office/powerpoint/2010/main" val="2585654835"/>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endParaRPr lang="zh-TW" dirty="0"/>
                        </a:p>
                      </a:txBody>
                      <a:tcPr>
                        <a:blipFill rotWithShape="1">
                          <a:blip r:embed="rId4"/>
                          <a:stretch>
                            <a:fillRect l="-633" t="-8197" r="-298734" b="-298361"/>
                          </a:stretch>
                        </a:blipFill>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endParaRPr lang="zh-TW"/>
                        </a:p>
                      </a:txBody>
                      <a:tcPr>
                        <a:blipFill rotWithShape="1">
                          <a:blip r:embed="rId4"/>
                          <a:stretch>
                            <a:fillRect l="-633" t="-108197" r="-298734" b="-198361"/>
                          </a:stretch>
                        </a:blipFill>
                      </a:tcPr>
                    </a:tc>
                    <a:tc>
                      <a:txBody>
                        <a:bodyPr/>
                        <a:lstStyle/>
                        <a:p>
                          <a:pPr algn="ctr"/>
                          <a:r>
                            <a:rPr lang="en-US" altLang="zh-TW" b="1" dirty="0" smtClean="0"/>
                            <a:t>[1, 3]</a:t>
                          </a:r>
                          <a:endParaRPr lang="zh-TW" altLang="en-US" b="1"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endParaRPr lang="zh-TW"/>
                        </a:p>
                      </a:txBody>
                      <a:tcPr>
                        <a:blipFill rotWithShape="1">
                          <a:blip r:embed="rId4"/>
                          <a:stretch>
                            <a:fillRect l="-633" t="-211667" r="-298734" b="-101667"/>
                          </a:stretch>
                        </a:blipFill>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r>
                  <a:tr h="370840">
                    <a:tc>
                      <a:txBody>
                        <a:bodyPr/>
                        <a:lstStyle/>
                        <a:p>
                          <a:endParaRPr lang="zh-TW"/>
                        </a:p>
                      </a:txBody>
                      <a:tcPr>
                        <a:blipFill rotWithShape="1">
                          <a:blip r:embed="rId4"/>
                          <a:stretch>
                            <a:fillRect l="-633" t="-306557" r="-298734"/>
                          </a:stretch>
                        </a:blip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Fallback>
      </mc:AlternateContent>
      <p:sp>
        <p:nvSpPr>
          <p:cNvPr id="12" name="矩形 11"/>
          <p:cNvSpPr/>
          <p:nvPr/>
        </p:nvSpPr>
        <p:spPr>
          <a:xfrm>
            <a:off x="1043608" y="1844824"/>
            <a:ext cx="3240360" cy="22322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588043" y="1484784"/>
            <a:ext cx="432048" cy="43204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sp>
            <p:nvSpPr>
              <p:cNvPr id="13" name="矩形 12"/>
              <p:cNvSpPr/>
              <p:nvPr/>
            </p:nvSpPr>
            <p:spPr>
              <a:xfrm>
                <a:off x="5200205" y="1532582"/>
                <a:ext cx="2497800" cy="954107"/>
              </a:xfrm>
              <a:prstGeom prst="rect">
                <a:avLst/>
              </a:prstGeom>
            </p:spPr>
            <p:txBody>
              <a:bodyPr wrap="none">
                <a:spAutoFit/>
              </a:bodyPr>
              <a:lstStyle/>
              <a:p>
                <a14:m>
                  <m:oMath xmlns:m="http://schemas.openxmlformats.org/officeDocument/2006/math">
                    <m:r>
                      <m:rPr>
                        <m:sty m:val="p"/>
                      </m:rPr>
                      <a:rPr lang="el-GR" altLang="zh-TW" sz="2800" i="1" smtClean="0">
                        <a:latin typeface="Cambria Math"/>
                      </a:rPr>
                      <m:t>α</m:t>
                    </m:r>
                  </m:oMath>
                </a14:m>
                <a:r>
                  <a:rPr lang="zh-TW" altLang="en-US" sz="2800" dirty="0" smtClean="0"/>
                  <a:t/>
                </a:r>
                <a:r>
                  <a:rPr lang="en-US" altLang="zh-TW" sz="2800" dirty="0" smtClean="0"/>
                  <a:t>= c b </a:t>
                </a:r>
                <a:r>
                  <a:rPr lang="en-US" altLang="zh-TW" sz="2800" dirty="0" err="1" smtClean="0"/>
                  <a:t>b</a:t>
                </a:r>
                <a:r>
                  <a:rPr lang="en-US" altLang="zh-TW" sz="2800" dirty="0" smtClean="0"/>
                  <a:t> d a c</a:t>
                </a:r>
                <a:br>
                  <a:rPr lang="en-US" altLang="zh-TW" sz="2800" dirty="0" smtClean="0"/>
                </a:br>
                <a14:m>
                  <m:oMath xmlns:m="http://schemas.openxmlformats.org/officeDocument/2006/math">
                    <m:r>
                      <m:rPr>
                        <m:sty m:val="p"/>
                      </m:rPr>
                      <a:rPr lang="el-GR" altLang="zh-TW" sz="2800" i="1">
                        <a:latin typeface="Cambria Math"/>
                      </a:rPr>
                      <m:t>β</m:t>
                    </m:r>
                  </m:oMath>
                </a14:m>
                <a:r>
                  <a:rPr lang="en-US" altLang="zh-TW" sz="2800" b="0" dirty="0" smtClean="0"/>
                  <a:t> = a b c d </a:t>
                </a:r>
                <a:r>
                  <a:rPr lang="en-US" altLang="zh-TW" sz="2800" b="0" dirty="0" err="1" smtClean="0"/>
                  <a:t>d</a:t>
                </a:r>
                <a:r>
                  <a:rPr lang="en-US" altLang="zh-TW" sz="2800" b="0" dirty="0" smtClean="0"/>
                  <a:t> b a</a:t>
                </a:r>
              </a:p>
            </p:txBody>
          </p:sp>
        </mc:Choice>
        <mc:Fallback>
          <p:sp>
            <p:nvSpPr>
              <p:cNvPr id="13" name="矩形 12"/>
              <p:cNvSpPr>
                <a:spLocks noRot="1" noChangeAspect="1" noMove="1" noResize="1" noEditPoints="1" noAdjustHandles="1" noChangeArrowheads="1" noChangeShapeType="1" noTextEdit="1"/>
              </p:cNvSpPr>
              <p:nvPr/>
            </p:nvSpPr>
            <p:spPr>
              <a:xfrm>
                <a:off x="5200205" y="1532582"/>
                <a:ext cx="2497800" cy="954107"/>
              </a:xfrm>
              <a:prstGeom prst="rect">
                <a:avLst/>
              </a:prstGeom>
              <a:blipFill rotWithShape="1">
                <a:blip r:embed="rId5"/>
                <a:stretch>
                  <a:fillRect t="-6369" r="-4146" b="-16561"/>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15" name="文字方塊 14"/>
              <p:cNvSpPr txBox="1"/>
              <p:nvPr/>
            </p:nvSpPr>
            <p:spPr>
              <a:xfrm>
                <a:off x="570654" y="980728"/>
                <a:ext cx="946285" cy="391646"/>
              </a:xfrm>
              <a:prstGeom prst="rect">
                <a:avLst/>
              </a:prstGeom>
              <a:noFill/>
            </p:spPr>
            <p:txBody>
              <a:bodyPr wrap="none" rtlCol="0">
                <a:spAutoFit/>
              </a:bodyPr>
              <a:lstStyle/>
              <a:p>
                <a:r>
                  <a:rPr lang="zh-TW" altLang="en-US" dirty="0" smtClean="0"/>
                  <a:t>尋找</a:t>
                </a:r>
                <a14:m>
                  <m:oMath xmlns:m="http://schemas.openxmlformats.org/officeDocument/2006/math">
                    <m:sSub>
                      <m:sSubPr>
                        <m:ctrlPr>
                          <a:rPr lang="en-US" altLang="zh-TW" i="1">
                            <a:latin typeface="Cambria Math"/>
                          </a:rPr>
                        </m:ctrlPr>
                      </m:sSubPr>
                      <m:e>
                        <m:r>
                          <a:rPr lang="en-US" altLang="zh-TW" b="0" i="1" smtClean="0">
                            <a:latin typeface="Cambria Math"/>
                          </a:rPr>
                          <m:t>𝐷</m:t>
                        </m:r>
                      </m:e>
                      <m:sub>
                        <m:r>
                          <a:rPr lang="en-US" altLang="zh-TW" i="1">
                            <a:latin typeface="Cambria Math"/>
                          </a:rPr>
                          <m:t>𝑖𝑗</m:t>
                        </m:r>
                      </m:sub>
                    </m:sSub>
                  </m:oMath>
                </a14:m>
                <a:endParaRPr lang="zh-TW" altLang="en-US" dirty="0"/>
              </a:p>
            </p:txBody>
          </p:sp>
        </mc:Choice>
        <mc:Fallback>
          <p:sp>
            <p:nvSpPr>
              <p:cNvPr id="15" name="文字方塊 14"/>
              <p:cNvSpPr txBox="1">
                <a:spLocks noRot="1" noChangeAspect="1" noMove="1" noResize="1" noEditPoints="1" noAdjustHandles="1" noChangeArrowheads="1" noChangeShapeType="1" noTextEdit="1"/>
              </p:cNvSpPr>
              <p:nvPr/>
            </p:nvSpPr>
            <p:spPr>
              <a:xfrm>
                <a:off x="570654" y="980728"/>
                <a:ext cx="946285" cy="391646"/>
              </a:xfrm>
              <a:prstGeom prst="rect">
                <a:avLst/>
              </a:prstGeom>
              <a:blipFill rotWithShape="1">
                <a:blip r:embed="rId6"/>
                <a:stretch>
                  <a:fillRect l="-5806" t="-6250" b="-20313"/>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42709257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p:graphicFrame>
        <p:nvGraphicFramePr>
          <p:cNvPr id="4" name="內容版面配置區 3"/>
          <p:cNvGraphicFramePr>
            <a:graphicFrameLocks noGrp="1"/>
          </p:cNvGraphicFramePr>
          <p:nvPr>
            <p:ph idx="1"/>
            <p:extLst>
              <p:ext uri="{D42A27DB-BD31-4B8C-83A1-F6EECF244321}">
                <p14:modId xmlns="" xmlns:p14="http://schemas.microsoft.com/office/powerpoint/2010/main" val="357054449"/>
              </p:ext>
            </p:extLst>
          </p:nvPr>
        </p:nvGraphicFramePr>
        <p:xfrm>
          <a:off x="581902" y="1484784"/>
          <a:ext cx="3672408" cy="2595880"/>
        </p:xfrm>
        <a:graphic>
          <a:graphicData uri="http://schemas.openxmlformats.org/drawingml/2006/table">
            <a:tbl>
              <a:tblPr firstRow="1" bandRow="1">
                <a:tableStyleId>{5C22544A-7EE6-4342-B048-85BDC9FD1C3A}</a:tableStyleId>
              </a:tblPr>
              <a:tblGrid>
                <a:gridCol w="459051"/>
                <a:gridCol w="459051"/>
                <a:gridCol w="459051"/>
                <a:gridCol w="459051"/>
                <a:gridCol w="459051"/>
                <a:gridCol w="459051"/>
                <a:gridCol w="459051"/>
                <a:gridCol w="459051"/>
              </a:tblGrid>
              <a:tr h="370840">
                <a:tc>
                  <a:txBody>
                    <a:bodyPr/>
                    <a:lstStyle/>
                    <a:p>
                      <a:pPr algn="ctr"/>
                      <a:r>
                        <a:rPr lang="en-US" altLang="zh-TW" dirty="0" smtClean="0"/>
                        <a:t>0</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r>
                        <a:rPr lang="en-US" altLang="zh-TW" dirty="0" smtClean="0">
                          <a:solidFill>
                            <a:srgbClr val="FF0000"/>
                          </a:solidFill>
                        </a:rPr>
                        <a:t>*</a:t>
                      </a: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r>
              <a:tr h="370840">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extLst>
              <p:ext uri="{D42A27DB-BD31-4B8C-83A1-F6EECF244321}">
                <p14:modId xmlns="" xmlns:p14="http://schemas.microsoft.com/office/powerpoint/2010/main" val="2018934867"/>
              </p:ext>
            </p:extLst>
          </p:nvPr>
        </p:nvGraphicFramePr>
        <p:xfrm>
          <a:off x="755576" y="4734436"/>
          <a:ext cx="3168352" cy="1828800"/>
        </p:xfrm>
        <a:graphic>
          <a:graphicData uri="http://schemas.openxmlformats.org/drawingml/2006/table">
            <a:tbl>
              <a:tblPr firstRow="1" bandRow="1">
                <a:tableStyleId>{5C22544A-7EE6-4342-B048-85BDC9FD1C3A}</a:tableStyleId>
              </a:tblPr>
              <a:tblGrid>
                <a:gridCol w="396044"/>
                <a:gridCol w="396044"/>
                <a:gridCol w="396044"/>
                <a:gridCol w="396044"/>
                <a:gridCol w="396044"/>
                <a:gridCol w="396044"/>
                <a:gridCol w="396044"/>
                <a:gridCol w="396044"/>
              </a:tblGrid>
              <a:tr h="0">
                <a:tc>
                  <a:txBody>
                    <a:bodyPr/>
                    <a:lstStyle/>
                    <a:p>
                      <a:pPr algn="ctr"/>
                      <a:endParaRPr lang="zh-TW" altLang="en-US" dirty="0"/>
                    </a:p>
                  </a:txBody>
                  <a:tcPr>
                    <a:lnTlToBr w="12700" cap="flat" cmpd="sng" algn="ctr">
                      <a:noFill/>
                      <a:prstDash val="solid"/>
                      <a:round/>
                      <a:headEnd type="none" w="med" len="med"/>
                      <a:tailEnd type="none" w="med" len="med"/>
                    </a:lnTlToBr>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0">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4</a:t>
                      </a:r>
                      <a:endParaRPr lang="zh-TW" altLang="en-US" dirty="0">
                        <a:solidFill>
                          <a:srgbClr val="FF0000"/>
                        </a:solidFill>
                      </a:endParaRPr>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 xmlns:p14="http://schemas.microsoft.com/office/powerpoint/2010/main" val="1925974738"/>
              </p:ext>
            </p:extLst>
          </p:nvPr>
        </p:nvGraphicFramePr>
        <p:xfrm>
          <a:off x="4860036" y="4725144"/>
          <a:ext cx="3600396" cy="1828800"/>
        </p:xfrm>
        <a:graphic>
          <a:graphicData uri="http://schemas.openxmlformats.org/drawingml/2006/table">
            <a:tbl>
              <a:tblPr firstRow="1" bandRow="1">
                <a:tableStyleId>{5C22544A-7EE6-4342-B048-85BDC9FD1C3A}</a:tableStyleId>
              </a:tblPr>
              <a:tblGrid>
                <a:gridCol w="400044"/>
                <a:gridCol w="400044"/>
                <a:gridCol w="400044"/>
                <a:gridCol w="400044"/>
                <a:gridCol w="400044"/>
                <a:gridCol w="400044"/>
                <a:gridCol w="400044"/>
                <a:gridCol w="400044"/>
                <a:gridCol w="400044"/>
              </a:tblGrid>
              <a:tr h="158418">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158418">
                <a:tc>
                  <a:txBody>
                    <a:bodyPr/>
                    <a:lstStyle/>
                    <a:p>
                      <a:pPr algn="ctr"/>
                      <a:r>
                        <a:rPr lang="en-US" altLang="zh-TW" dirty="0" smtClean="0">
                          <a:solidFill>
                            <a:srgbClr val="FF0000"/>
                          </a:solidFill>
                        </a:rPr>
                        <a:t>a</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b</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c</a:t>
                      </a:r>
                      <a:endParaRPr lang="zh-TW" altLang="en-US" dirty="0">
                        <a:solidFill>
                          <a:srgbClr val="FF0000"/>
                        </a:solidFill>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d</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bl>
          </a:graphicData>
        </a:graphic>
      </p:graphicFrame>
      <mc:AlternateContent xmlns:mc="http://schemas.openxmlformats.org/markup-compatibility/2006">
        <mc:Choice xmlns="" xmlns:a14="http://schemas.microsoft.com/office/drawing/2010/main" Requires="a14">
          <p:sp>
            <p:nvSpPr>
              <p:cNvPr id="7" name="矩形 6"/>
              <p:cNvSpPr/>
              <p:nvPr/>
            </p:nvSpPr>
            <p:spPr>
              <a:xfrm>
                <a:off x="1578389" y="4365104"/>
                <a:ext cx="1679434" cy="369332"/>
              </a:xfrm>
              <a:prstGeom prst="rect">
                <a:avLst/>
              </a:prstGeom>
            </p:spPr>
            <p:txBody>
              <a:bodyPr wrap="none">
                <a:spAutoFit/>
              </a:bodyPr>
              <a:lstStyle/>
              <a:p>
                <a14:m>
                  <m:oMath xmlns:m="http://schemas.openxmlformats.org/officeDocument/2006/math">
                    <m:r>
                      <m:rPr>
                        <m:sty m:val="p"/>
                      </m:rPr>
                      <a:rPr lang="el-GR" altLang="zh-TW" i="1">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a:t/>
                </a:r>
                <a:endParaRPr lang="zh-TW" altLang="en-US" dirty="0"/>
              </a:p>
            </p:txBody>
          </p:sp>
        </mc:Choice>
        <mc:Fallback>
          <p:sp>
            <p:nvSpPr>
              <p:cNvPr id="7" name="矩形 6"/>
              <p:cNvSpPr>
                <a:spLocks noRot="1" noChangeAspect="1" noMove="1" noResize="1" noEditPoints="1" noAdjustHandles="1" noChangeArrowheads="1" noChangeShapeType="1" noTextEdit="1"/>
              </p:cNvSpPr>
              <p:nvPr/>
            </p:nvSpPr>
            <p:spPr>
              <a:xfrm>
                <a:off x="1578389" y="4365104"/>
                <a:ext cx="1679434" cy="369332"/>
              </a:xfrm>
              <a:prstGeom prst="rect">
                <a:avLst/>
              </a:prstGeom>
              <a:blipFill rotWithShape="1">
                <a:blip r:embed="rId2"/>
                <a:stretch>
                  <a:fillRect/>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8" name="矩形 7"/>
              <p:cNvSpPr/>
              <p:nvPr/>
            </p:nvSpPr>
            <p:spPr>
              <a:xfrm>
                <a:off x="5652124" y="4365104"/>
                <a:ext cx="1593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m:oMathPara>
                </a14:m>
                <a:endParaRPr lang="zh-TW" altLang="en-US" dirty="0"/>
              </a:p>
            </p:txBody>
          </p:sp>
        </mc:Choice>
        <mc:Fallback>
          <p:sp>
            <p:nvSpPr>
              <p:cNvPr id="8" name="矩形 7"/>
              <p:cNvSpPr>
                <a:spLocks noRot="1" noChangeAspect="1" noMove="1" noResize="1" noEditPoints="1" noAdjustHandles="1" noChangeArrowheads="1" noChangeShapeType="1" noTextEdit="1"/>
              </p:cNvSpPr>
              <p:nvPr/>
            </p:nvSpPr>
            <p:spPr>
              <a:xfrm>
                <a:off x="5652124" y="4365104"/>
                <a:ext cx="1593962" cy="369332"/>
              </a:xfrm>
              <a:prstGeom prst="rect">
                <a:avLst/>
              </a:prstGeom>
              <a:blipFill rotWithShape="1">
                <a:blip r:embed="rId3"/>
                <a:stretch>
                  <a:fillRect b="-13115"/>
                </a:stretch>
              </a:blipFill>
            </p:spPr>
            <p:txBody>
              <a:bodyPr/>
              <a:lstStyle/>
              <a:p>
                <a:r>
                  <a:rPr lang="zh-TW" altLang="en-US">
                    <a:noFill/>
                  </a:rPr>
                  <a:t> </a:t>
                </a:r>
              </a:p>
            </p:txBody>
          </p:sp>
        </mc:Fallback>
      </mc:AlternateContent>
      <p:sp>
        <p:nvSpPr>
          <p:cNvPr id="9" name="矩形 8"/>
          <p:cNvSpPr/>
          <p:nvPr/>
        </p:nvSpPr>
        <p:spPr>
          <a:xfrm>
            <a:off x="1187624" y="4745511"/>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5292084" y="4792109"/>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graphicFrame>
            <p:nvGraphicFramePr>
              <p:cNvPr id="11" name="表格 10"/>
              <p:cNvGraphicFramePr>
                <a:graphicFrameLocks noGrp="1"/>
              </p:cNvGraphicFramePr>
              <p:nvPr>
                <p:extLst>
                  <p:ext uri="{D42A27DB-BD31-4B8C-83A1-F6EECF244321}">
                    <p14:modId xmlns:p14="http://schemas.microsoft.com/office/powerpoint/2010/main" val="4275331827"/>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0</m:t>
                                    </m:r>
                                  </m:sup>
                                </m:sSup>
                              </m:oMath>
                            </m:oMathPara>
                          </a14:m>
                          <a:endParaRPr lang="zh-TW" altLang="en-US" dirty="0"/>
                        </a:p>
                      </a:txBody>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1</m:t>
                                    </m:r>
                                  </m:sup>
                                </m:sSup>
                              </m:oMath>
                            </m:oMathPara>
                          </a14:m>
                          <a:endParaRPr lang="zh-TW" altLang="en-US" dirty="0"/>
                        </a:p>
                      </a:txBody>
                      <a:tcPr/>
                    </a:tc>
                    <a:tc>
                      <a:txBody>
                        <a:bodyPr/>
                        <a:lstStyle/>
                        <a:p>
                          <a:pPr algn="ctr"/>
                          <a:r>
                            <a:rPr lang="en-US" altLang="zh-TW" dirty="0" smtClean="0"/>
                            <a:t>[1, 3]</a:t>
                          </a:r>
                          <a:endParaRPr lang="zh-TW" altLang="en-US" dirty="0"/>
                        </a:p>
                      </a:txBody>
                      <a:tcPr/>
                    </a:tc>
                    <a:tc>
                      <a:txBody>
                        <a:bodyPr/>
                        <a:lstStyle/>
                        <a:p>
                          <a:pPr algn="ctr"/>
                          <a:r>
                            <a:rPr lang="en-US" altLang="zh-TW" b="1" dirty="0" smtClean="0"/>
                            <a:t>[2, 2]</a:t>
                          </a:r>
                          <a:endParaRPr lang="zh-TW" altLang="en-US" b="1" dirty="0"/>
                        </a:p>
                      </a:txBody>
                      <a:tcPr/>
                    </a:tc>
                    <a:tc>
                      <a:txBody>
                        <a:bodyPr/>
                        <a:lstStyle/>
                        <a:p>
                          <a:pPr algn="ctr"/>
                          <a:endParaRPr lang="zh-TW" altLang="en-US"/>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2</m:t>
                                    </m:r>
                                  </m:sup>
                                </m:sSup>
                              </m:oMath>
                            </m:oMathPara>
                          </a14:m>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3</m:t>
                                    </m:r>
                                  </m:sup>
                                </m:sSup>
                              </m:oMath>
                            </m:oMathPara>
                          </a14:m>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Choice>
        <mc:Fallback>
          <p:graphicFrame>
            <p:nvGraphicFramePr>
              <p:cNvPr id="11" name="表格 10"/>
              <p:cNvGraphicFramePr>
                <a:graphicFrameLocks noGrp="1"/>
              </p:cNvGraphicFramePr>
              <p:nvPr>
                <p:extLst>
                  <p:ext uri="{D42A27DB-BD31-4B8C-83A1-F6EECF244321}">
                    <p14:modId xmlns="" xmlns:p14="http://schemas.microsoft.com/office/powerpoint/2010/main" val="4275331827"/>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endParaRPr lang="zh-TW"/>
                        </a:p>
                      </a:txBody>
                      <a:tcPr>
                        <a:blipFill rotWithShape="1">
                          <a:blip r:embed="rId4"/>
                          <a:stretch>
                            <a:fillRect l="-633" t="-8197" r="-298734" b="-298361"/>
                          </a:stretch>
                        </a:blipFill>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endParaRPr lang="zh-TW"/>
                        </a:p>
                      </a:txBody>
                      <a:tcPr>
                        <a:blipFill rotWithShape="1">
                          <a:blip r:embed="rId4"/>
                          <a:stretch>
                            <a:fillRect l="-633" t="-108197" r="-298734" b="-198361"/>
                          </a:stretch>
                        </a:blipFill>
                      </a:tcPr>
                    </a:tc>
                    <a:tc>
                      <a:txBody>
                        <a:bodyPr/>
                        <a:lstStyle/>
                        <a:p>
                          <a:pPr algn="ctr"/>
                          <a:r>
                            <a:rPr lang="en-US" altLang="zh-TW" dirty="0" smtClean="0"/>
                            <a:t>[1, 3]</a:t>
                          </a:r>
                          <a:endParaRPr lang="zh-TW" altLang="en-US" dirty="0"/>
                        </a:p>
                      </a:txBody>
                      <a:tcPr/>
                    </a:tc>
                    <a:tc>
                      <a:txBody>
                        <a:bodyPr/>
                        <a:lstStyle/>
                        <a:p>
                          <a:pPr algn="ctr"/>
                          <a:r>
                            <a:rPr lang="en-US" altLang="zh-TW" b="1" dirty="0" smtClean="0"/>
                            <a:t>[2, 2]</a:t>
                          </a:r>
                          <a:endParaRPr lang="zh-TW" altLang="en-US" b="1" dirty="0"/>
                        </a:p>
                      </a:txBody>
                      <a:tcPr/>
                    </a:tc>
                    <a:tc>
                      <a:txBody>
                        <a:bodyPr/>
                        <a:lstStyle/>
                        <a:p>
                          <a:pPr algn="ctr"/>
                          <a:endParaRPr lang="zh-TW" altLang="en-US"/>
                        </a:p>
                      </a:txBody>
                      <a:tcPr/>
                    </a:tc>
                  </a:tr>
                  <a:tr h="370840">
                    <a:tc>
                      <a:txBody>
                        <a:bodyPr/>
                        <a:lstStyle/>
                        <a:p>
                          <a:endParaRPr lang="zh-TW"/>
                        </a:p>
                      </a:txBody>
                      <a:tcPr>
                        <a:blipFill rotWithShape="1">
                          <a:blip r:embed="rId4"/>
                          <a:stretch>
                            <a:fillRect l="-633" t="-211667" r="-298734" b="-101667"/>
                          </a:stretch>
                        </a:blip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r>
                  <a:tr h="370840">
                    <a:tc>
                      <a:txBody>
                        <a:bodyPr/>
                        <a:lstStyle/>
                        <a:p>
                          <a:endParaRPr lang="zh-TW"/>
                        </a:p>
                      </a:txBody>
                      <a:tcPr>
                        <a:blipFill rotWithShape="1">
                          <a:blip r:embed="rId4"/>
                          <a:stretch>
                            <a:fillRect l="-633" t="-306557" r="-298734"/>
                          </a:stretch>
                        </a:blip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Fallback>
      </mc:AlternateContent>
      <p:sp>
        <p:nvSpPr>
          <p:cNvPr id="12" name="矩形 11"/>
          <p:cNvSpPr/>
          <p:nvPr/>
        </p:nvSpPr>
        <p:spPr>
          <a:xfrm>
            <a:off x="1043608" y="2204864"/>
            <a:ext cx="936104" cy="18722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588043" y="1484784"/>
            <a:ext cx="432048" cy="43204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sp>
            <p:nvSpPr>
              <p:cNvPr id="15" name="矩形 14"/>
              <p:cNvSpPr/>
              <p:nvPr/>
            </p:nvSpPr>
            <p:spPr>
              <a:xfrm>
                <a:off x="5200205" y="1532582"/>
                <a:ext cx="2497800" cy="954107"/>
              </a:xfrm>
              <a:prstGeom prst="rect">
                <a:avLst/>
              </a:prstGeom>
            </p:spPr>
            <p:txBody>
              <a:bodyPr wrap="none">
                <a:spAutoFit/>
              </a:bodyPr>
              <a:lstStyle/>
              <a:p>
                <a14:m>
                  <m:oMath xmlns:m="http://schemas.openxmlformats.org/officeDocument/2006/math">
                    <m:r>
                      <m:rPr>
                        <m:sty m:val="p"/>
                      </m:rPr>
                      <a:rPr lang="el-GR" altLang="zh-TW" sz="2800" i="1" smtClean="0">
                        <a:latin typeface="Cambria Math"/>
                      </a:rPr>
                      <m:t>α</m:t>
                    </m:r>
                  </m:oMath>
                </a14:m>
                <a:r>
                  <a:rPr lang="zh-TW" altLang="en-US" sz="2800" dirty="0" smtClean="0"/>
                  <a:t/>
                </a:r>
                <a:r>
                  <a:rPr lang="en-US" altLang="zh-TW" sz="2800" dirty="0" smtClean="0"/>
                  <a:t>= c b </a:t>
                </a:r>
                <a:r>
                  <a:rPr lang="en-US" altLang="zh-TW" sz="2800" dirty="0" err="1" smtClean="0"/>
                  <a:t>b</a:t>
                </a:r>
                <a:r>
                  <a:rPr lang="en-US" altLang="zh-TW" sz="2800" dirty="0" smtClean="0"/>
                  <a:t> d a c</a:t>
                </a:r>
                <a:br>
                  <a:rPr lang="en-US" altLang="zh-TW" sz="2800" dirty="0" smtClean="0"/>
                </a:br>
                <a14:m>
                  <m:oMath xmlns:m="http://schemas.openxmlformats.org/officeDocument/2006/math">
                    <m:r>
                      <m:rPr>
                        <m:sty m:val="p"/>
                      </m:rPr>
                      <a:rPr lang="el-GR" altLang="zh-TW" sz="2800" i="1">
                        <a:latin typeface="Cambria Math"/>
                      </a:rPr>
                      <m:t>β</m:t>
                    </m:r>
                  </m:oMath>
                </a14:m>
                <a:r>
                  <a:rPr lang="en-US" altLang="zh-TW" sz="2800" b="0" dirty="0" smtClean="0"/>
                  <a:t> = a b c d </a:t>
                </a:r>
                <a:r>
                  <a:rPr lang="en-US" altLang="zh-TW" sz="2800" b="0" dirty="0" err="1" smtClean="0"/>
                  <a:t>d</a:t>
                </a:r>
                <a:r>
                  <a:rPr lang="en-US" altLang="zh-TW" sz="2800" b="0" dirty="0" smtClean="0"/>
                  <a:t> b a</a:t>
                </a:r>
              </a:p>
            </p:txBody>
          </p:sp>
        </mc:Choice>
        <mc:Fallback>
          <p:sp>
            <p:nvSpPr>
              <p:cNvPr id="15" name="矩形 14"/>
              <p:cNvSpPr>
                <a:spLocks noRot="1" noChangeAspect="1" noMove="1" noResize="1" noEditPoints="1" noAdjustHandles="1" noChangeArrowheads="1" noChangeShapeType="1" noTextEdit="1"/>
              </p:cNvSpPr>
              <p:nvPr/>
            </p:nvSpPr>
            <p:spPr>
              <a:xfrm>
                <a:off x="5200205" y="1532582"/>
                <a:ext cx="2497800" cy="954107"/>
              </a:xfrm>
              <a:prstGeom prst="rect">
                <a:avLst/>
              </a:prstGeom>
              <a:blipFill rotWithShape="1">
                <a:blip r:embed="rId5"/>
                <a:stretch>
                  <a:fillRect t="-6369" r="-4146" b="-16561"/>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14" name="文字方塊 13"/>
              <p:cNvSpPr txBox="1"/>
              <p:nvPr/>
            </p:nvSpPr>
            <p:spPr>
              <a:xfrm>
                <a:off x="570654" y="980728"/>
                <a:ext cx="946285" cy="391646"/>
              </a:xfrm>
              <a:prstGeom prst="rect">
                <a:avLst/>
              </a:prstGeom>
              <a:noFill/>
            </p:spPr>
            <p:txBody>
              <a:bodyPr wrap="none" rtlCol="0">
                <a:spAutoFit/>
              </a:bodyPr>
              <a:lstStyle/>
              <a:p>
                <a:r>
                  <a:rPr lang="zh-TW" altLang="en-US" dirty="0" smtClean="0"/>
                  <a:t>尋找</a:t>
                </a:r>
                <a14:m>
                  <m:oMath xmlns:m="http://schemas.openxmlformats.org/officeDocument/2006/math">
                    <m:sSub>
                      <m:sSubPr>
                        <m:ctrlPr>
                          <a:rPr lang="en-US" altLang="zh-TW" i="1">
                            <a:latin typeface="Cambria Math"/>
                          </a:rPr>
                        </m:ctrlPr>
                      </m:sSubPr>
                      <m:e>
                        <m:r>
                          <a:rPr lang="en-US" altLang="zh-TW" b="0" i="1" smtClean="0">
                            <a:latin typeface="Cambria Math"/>
                          </a:rPr>
                          <m:t>𝐷</m:t>
                        </m:r>
                      </m:e>
                      <m:sub>
                        <m:r>
                          <a:rPr lang="en-US" altLang="zh-TW" i="1">
                            <a:latin typeface="Cambria Math"/>
                          </a:rPr>
                          <m:t>𝑖𝑗</m:t>
                        </m:r>
                      </m:sub>
                    </m:sSub>
                  </m:oMath>
                </a14:m>
                <a:endParaRPr lang="zh-TW" altLang="en-US" dirty="0"/>
              </a:p>
            </p:txBody>
          </p:sp>
        </mc:Choice>
        <mc:Fallback>
          <p:sp>
            <p:nvSpPr>
              <p:cNvPr id="14" name="文字方塊 13"/>
              <p:cNvSpPr txBox="1">
                <a:spLocks noRot="1" noChangeAspect="1" noMove="1" noResize="1" noEditPoints="1" noAdjustHandles="1" noChangeArrowheads="1" noChangeShapeType="1" noTextEdit="1"/>
              </p:cNvSpPr>
              <p:nvPr/>
            </p:nvSpPr>
            <p:spPr>
              <a:xfrm>
                <a:off x="570654" y="980728"/>
                <a:ext cx="946285" cy="391646"/>
              </a:xfrm>
              <a:prstGeom prst="rect">
                <a:avLst/>
              </a:prstGeom>
              <a:blipFill rotWithShape="1">
                <a:blip r:embed="rId6"/>
                <a:stretch>
                  <a:fillRect l="-5806" t="-6250" b="-20313"/>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2508685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p:graphicFrame>
        <p:nvGraphicFramePr>
          <p:cNvPr id="4" name="內容版面配置區 3"/>
          <p:cNvGraphicFramePr>
            <a:graphicFrameLocks noGrp="1"/>
          </p:cNvGraphicFramePr>
          <p:nvPr>
            <p:ph idx="1"/>
            <p:extLst>
              <p:ext uri="{D42A27DB-BD31-4B8C-83A1-F6EECF244321}">
                <p14:modId xmlns="" xmlns:p14="http://schemas.microsoft.com/office/powerpoint/2010/main" val="1333543453"/>
              </p:ext>
            </p:extLst>
          </p:nvPr>
        </p:nvGraphicFramePr>
        <p:xfrm>
          <a:off x="581902" y="1484784"/>
          <a:ext cx="3672408" cy="2595880"/>
        </p:xfrm>
        <a:graphic>
          <a:graphicData uri="http://schemas.openxmlformats.org/drawingml/2006/table">
            <a:tbl>
              <a:tblPr firstRow="1" bandRow="1">
                <a:tableStyleId>{5C22544A-7EE6-4342-B048-85BDC9FD1C3A}</a:tableStyleId>
              </a:tblPr>
              <a:tblGrid>
                <a:gridCol w="459051"/>
                <a:gridCol w="459051"/>
                <a:gridCol w="459051"/>
                <a:gridCol w="459051"/>
                <a:gridCol w="459051"/>
                <a:gridCol w="459051"/>
                <a:gridCol w="459051"/>
                <a:gridCol w="459051"/>
              </a:tblGrid>
              <a:tr h="370840">
                <a:tc>
                  <a:txBody>
                    <a:bodyPr/>
                    <a:lstStyle/>
                    <a:p>
                      <a:pPr algn="ctr"/>
                      <a:r>
                        <a:rPr lang="en-US" altLang="zh-TW" dirty="0" smtClean="0"/>
                        <a:t>0</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r>
              <a:tr h="370840">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rgbClr val="FF0000"/>
                          </a:solidFill>
                        </a:rPr>
                        <a:t>*</a:t>
                      </a: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extLst>
              <p:ext uri="{D42A27DB-BD31-4B8C-83A1-F6EECF244321}">
                <p14:modId xmlns="" xmlns:p14="http://schemas.microsoft.com/office/powerpoint/2010/main" val="2750051722"/>
              </p:ext>
            </p:extLst>
          </p:nvPr>
        </p:nvGraphicFramePr>
        <p:xfrm>
          <a:off x="755576" y="4734436"/>
          <a:ext cx="3168352" cy="1828800"/>
        </p:xfrm>
        <a:graphic>
          <a:graphicData uri="http://schemas.openxmlformats.org/drawingml/2006/table">
            <a:tbl>
              <a:tblPr firstRow="1" bandRow="1">
                <a:tableStyleId>{5C22544A-7EE6-4342-B048-85BDC9FD1C3A}</a:tableStyleId>
              </a:tblPr>
              <a:tblGrid>
                <a:gridCol w="396044"/>
                <a:gridCol w="396044"/>
                <a:gridCol w="396044"/>
                <a:gridCol w="396044"/>
                <a:gridCol w="396044"/>
                <a:gridCol w="396044"/>
                <a:gridCol w="396044"/>
                <a:gridCol w="396044"/>
              </a:tblGrid>
              <a:tr h="0">
                <a:tc>
                  <a:txBody>
                    <a:bodyPr/>
                    <a:lstStyle/>
                    <a:p>
                      <a:pPr algn="ctr"/>
                      <a:endParaRPr lang="zh-TW" altLang="en-US" dirty="0"/>
                    </a:p>
                  </a:txBody>
                  <a:tcPr>
                    <a:lnTlToBr w="12700" cap="flat" cmpd="sng" algn="ctr">
                      <a:noFill/>
                      <a:prstDash val="solid"/>
                      <a:round/>
                      <a:headEnd type="none" w="med" len="med"/>
                      <a:tailEnd type="none" w="med" len="med"/>
                    </a:lnTlToBr>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0">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4</a:t>
                      </a:r>
                      <a:endParaRPr lang="zh-TW" altLang="en-US" dirty="0">
                        <a:solidFill>
                          <a:srgbClr val="FF0000"/>
                        </a:solidFill>
                      </a:endParaRPr>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 xmlns:p14="http://schemas.microsoft.com/office/powerpoint/2010/main" val="1392831939"/>
              </p:ext>
            </p:extLst>
          </p:nvPr>
        </p:nvGraphicFramePr>
        <p:xfrm>
          <a:off x="4860036" y="4725144"/>
          <a:ext cx="3600396" cy="1828800"/>
        </p:xfrm>
        <a:graphic>
          <a:graphicData uri="http://schemas.openxmlformats.org/drawingml/2006/table">
            <a:tbl>
              <a:tblPr firstRow="1" bandRow="1">
                <a:tableStyleId>{5C22544A-7EE6-4342-B048-85BDC9FD1C3A}</a:tableStyleId>
              </a:tblPr>
              <a:tblGrid>
                <a:gridCol w="400044"/>
                <a:gridCol w="400044"/>
                <a:gridCol w="400044"/>
                <a:gridCol w="400044"/>
                <a:gridCol w="400044"/>
                <a:gridCol w="400044"/>
                <a:gridCol w="400044"/>
                <a:gridCol w="400044"/>
                <a:gridCol w="400044"/>
              </a:tblGrid>
              <a:tr h="158418">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158418">
                <a:tc>
                  <a:txBody>
                    <a:bodyPr/>
                    <a:lstStyle/>
                    <a:p>
                      <a:pPr algn="ctr"/>
                      <a:r>
                        <a:rPr lang="en-US" altLang="zh-TW" dirty="0" smtClean="0">
                          <a:solidFill>
                            <a:srgbClr val="FF0000"/>
                          </a:solidFill>
                        </a:rPr>
                        <a:t>a</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b</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c</a:t>
                      </a:r>
                      <a:endParaRPr lang="zh-TW" altLang="en-US" dirty="0">
                        <a:solidFill>
                          <a:srgbClr val="FF0000"/>
                        </a:solidFill>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d</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bl>
          </a:graphicData>
        </a:graphic>
      </p:graphicFrame>
      <mc:AlternateContent xmlns:mc="http://schemas.openxmlformats.org/markup-compatibility/2006">
        <mc:Choice xmlns="" xmlns:a14="http://schemas.microsoft.com/office/drawing/2010/main" Requires="a14">
          <p:sp>
            <p:nvSpPr>
              <p:cNvPr id="7" name="矩形 6"/>
              <p:cNvSpPr/>
              <p:nvPr/>
            </p:nvSpPr>
            <p:spPr>
              <a:xfrm>
                <a:off x="1578389" y="4365104"/>
                <a:ext cx="1679434" cy="369332"/>
              </a:xfrm>
              <a:prstGeom prst="rect">
                <a:avLst/>
              </a:prstGeom>
            </p:spPr>
            <p:txBody>
              <a:bodyPr wrap="none">
                <a:spAutoFit/>
              </a:bodyPr>
              <a:lstStyle/>
              <a:p>
                <a14:m>
                  <m:oMath xmlns:m="http://schemas.openxmlformats.org/officeDocument/2006/math">
                    <m:r>
                      <m:rPr>
                        <m:sty m:val="p"/>
                      </m:rPr>
                      <a:rPr lang="el-GR" altLang="zh-TW" i="1">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a:t/>
                </a:r>
                <a:endParaRPr lang="zh-TW" altLang="en-US" dirty="0"/>
              </a:p>
            </p:txBody>
          </p:sp>
        </mc:Choice>
        <mc:Fallback>
          <p:sp>
            <p:nvSpPr>
              <p:cNvPr id="7" name="矩形 6"/>
              <p:cNvSpPr>
                <a:spLocks noRot="1" noChangeAspect="1" noMove="1" noResize="1" noEditPoints="1" noAdjustHandles="1" noChangeArrowheads="1" noChangeShapeType="1" noTextEdit="1"/>
              </p:cNvSpPr>
              <p:nvPr/>
            </p:nvSpPr>
            <p:spPr>
              <a:xfrm>
                <a:off x="1578389" y="4365104"/>
                <a:ext cx="1679434" cy="369332"/>
              </a:xfrm>
              <a:prstGeom prst="rect">
                <a:avLst/>
              </a:prstGeom>
              <a:blipFill rotWithShape="1">
                <a:blip r:embed="rId2"/>
                <a:stretch>
                  <a:fillRect/>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8" name="矩形 7"/>
              <p:cNvSpPr/>
              <p:nvPr/>
            </p:nvSpPr>
            <p:spPr>
              <a:xfrm>
                <a:off x="5652124" y="4365104"/>
                <a:ext cx="1593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m:oMathPara>
                </a14:m>
                <a:endParaRPr lang="zh-TW" altLang="en-US" dirty="0"/>
              </a:p>
            </p:txBody>
          </p:sp>
        </mc:Choice>
        <mc:Fallback>
          <p:sp>
            <p:nvSpPr>
              <p:cNvPr id="8" name="矩形 7"/>
              <p:cNvSpPr>
                <a:spLocks noRot="1" noChangeAspect="1" noMove="1" noResize="1" noEditPoints="1" noAdjustHandles="1" noChangeArrowheads="1" noChangeShapeType="1" noTextEdit="1"/>
              </p:cNvSpPr>
              <p:nvPr/>
            </p:nvSpPr>
            <p:spPr>
              <a:xfrm>
                <a:off x="5652124" y="4365104"/>
                <a:ext cx="1593962" cy="369332"/>
              </a:xfrm>
              <a:prstGeom prst="rect">
                <a:avLst/>
              </a:prstGeom>
              <a:blipFill rotWithShape="1">
                <a:blip r:embed="rId3"/>
                <a:stretch>
                  <a:fillRect b="-13115"/>
                </a:stretch>
              </a:blipFill>
            </p:spPr>
            <p:txBody>
              <a:bodyPr/>
              <a:lstStyle/>
              <a:p>
                <a:r>
                  <a:rPr lang="zh-TW" altLang="en-US">
                    <a:noFill/>
                  </a:rPr>
                  <a:t> </a:t>
                </a:r>
              </a:p>
            </p:txBody>
          </p:sp>
        </mc:Fallback>
      </mc:AlternateContent>
      <p:sp>
        <p:nvSpPr>
          <p:cNvPr id="9" name="矩形 8"/>
          <p:cNvSpPr/>
          <p:nvPr/>
        </p:nvSpPr>
        <p:spPr>
          <a:xfrm>
            <a:off x="1187624" y="4745511"/>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5292084" y="4792109"/>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graphicFrame>
            <p:nvGraphicFramePr>
              <p:cNvPr id="11" name="表格 10"/>
              <p:cNvGraphicFramePr>
                <a:graphicFrameLocks noGrp="1"/>
              </p:cNvGraphicFramePr>
              <p:nvPr>
                <p:extLst>
                  <p:ext uri="{D42A27DB-BD31-4B8C-83A1-F6EECF244321}">
                    <p14:modId xmlns:p14="http://schemas.microsoft.com/office/powerpoint/2010/main" val="642435597"/>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0</m:t>
                                    </m:r>
                                  </m:sup>
                                </m:sSup>
                              </m:oMath>
                            </m:oMathPara>
                          </a14:m>
                          <a:endParaRPr lang="zh-TW" altLang="en-US" dirty="0"/>
                        </a:p>
                      </a:txBody>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1</m:t>
                                    </m:r>
                                  </m:sup>
                                </m:sSup>
                              </m:oMath>
                            </m:oMathPara>
                          </a14:m>
                          <a:endParaRPr lang="zh-TW" altLang="en-US" dirty="0"/>
                        </a:p>
                      </a:txBody>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endParaRPr lang="zh-TW" altLang="en-US"/>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2</m:t>
                                    </m:r>
                                  </m:sup>
                                </m:sSup>
                              </m:oMath>
                            </m:oMathPara>
                          </a14:m>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3</m:t>
                                    </m:r>
                                  </m:sup>
                                </m:sSup>
                              </m:oMath>
                            </m:oMathPara>
                          </a14:m>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r>
                </a:tbl>
              </a:graphicData>
            </a:graphic>
          </p:graphicFrame>
        </mc:Choice>
        <mc:Fallback>
          <p:graphicFrame>
            <p:nvGraphicFramePr>
              <p:cNvPr id="11" name="表格 10"/>
              <p:cNvGraphicFramePr>
                <a:graphicFrameLocks noGrp="1"/>
              </p:cNvGraphicFramePr>
              <p:nvPr>
                <p:extLst>
                  <p:ext uri="{D42A27DB-BD31-4B8C-83A1-F6EECF244321}">
                    <p14:modId xmlns="" xmlns:p14="http://schemas.microsoft.com/office/powerpoint/2010/main" val="642435597"/>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endParaRPr lang="zh-TW"/>
                        </a:p>
                      </a:txBody>
                      <a:tcPr>
                        <a:blipFill rotWithShape="1">
                          <a:blip r:embed="rId4"/>
                          <a:stretch>
                            <a:fillRect l="-633" t="-8197" r="-298734" b="-298361"/>
                          </a:stretch>
                        </a:blipFill>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endParaRPr lang="zh-TW"/>
                        </a:p>
                      </a:txBody>
                      <a:tcPr>
                        <a:blipFill rotWithShape="1">
                          <a:blip r:embed="rId4"/>
                          <a:stretch>
                            <a:fillRect l="-633" t="-108197" r="-298734" b="-198361"/>
                          </a:stretch>
                        </a:blipFill>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endParaRPr lang="zh-TW" altLang="en-US"/>
                        </a:p>
                      </a:txBody>
                      <a:tcPr/>
                    </a:tc>
                  </a:tr>
                  <a:tr h="370840">
                    <a:tc>
                      <a:txBody>
                        <a:bodyPr/>
                        <a:lstStyle/>
                        <a:p>
                          <a:endParaRPr lang="zh-TW"/>
                        </a:p>
                      </a:txBody>
                      <a:tcPr>
                        <a:blipFill rotWithShape="1">
                          <a:blip r:embed="rId4"/>
                          <a:stretch>
                            <a:fillRect l="-633" t="-211667" r="-298734" b="-101667"/>
                          </a:stretch>
                        </a:blip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r>
                  <a:tr h="370840">
                    <a:tc>
                      <a:txBody>
                        <a:bodyPr/>
                        <a:lstStyle/>
                        <a:p>
                          <a:endParaRPr lang="zh-TW"/>
                        </a:p>
                      </a:txBody>
                      <a:tcPr>
                        <a:blipFill rotWithShape="1">
                          <a:blip r:embed="rId4"/>
                          <a:stretch>
                            <a:fillRect l="-633" t="-306557" r="-298734"/>
                          </a:stretch>
                        </a:blipFill>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r>
                </a:tbl>
              </a:graphicData>
            </a:graphic>
          </p:graphicFrame>
        </mc:Fallback>
      </mc:AlternateContent>
      <p:sp>
        <p:nvSpPr>
          <p:cNvPr id="12" name="矩形 11"/>
          <p:cNvSpPr/>
          <p:nvPr/>
        </p:nvSpPr>
        <p:spPr>
          <a:xfrm>
            <a:off x="1043608" y="2636912"/>
            <a:ext cx="468052" cy="14401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588043" y="1484784"/>
            <a:ext cx="432048" cy="43204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sp>
            <p:nvSpPr>
              <p:cNvPr id="14" name="矩形 13"/>
              <p:cNvSpPr/>
              <p:nvPr/>
            </p:nvSpPr>
            <p:spPr>
              <a:xfrm>
                <a:off x="5200205" y="1532582"/>
                <a:ext cx="2497800" cy="954107"/>
              </a:xfrm>
              <a:prstGeom prst="rect">
                <a:avLst/>
              </a:prstGeom>
            </p:spPr>
            <p:txBody>
              <a:bodyPr wrap="none">
                <a:spAutoFit/>
              </a:bodyPr>
              <a:lstStyle/>
              <a:p>
                <a14:m>
                  <m:oMath xmlns:m="http://schemas.openxmlformats.org/officeDocument/2006/math">
                    <m:r>
                      <m:rPr>
                        <m:sty m:val="p"/>
                      </m:rPr>
                      <a:rPr lang="el-GR" altLang="zh-TW" sz="2800" i="1" smtClean="0">
                        <a:latin typeface="Cambria Math"/>
                      </a:rPr>
                      <m:t>α</m:t>
                    </m:r>
                  </m:oMath>
                </a14:m>
                <a:r>
                  <a:rPr lang="zh-TW" altLang="en-US" sz="2800" dirty="0" smtClean="0"/>
                  <a:t/>
                </a:r>
                <a:r>
                  <a:rPr lang="en-US" altLang="zh-TW" sz="2800" dirty="0" smtClean="0"/>
                  <a:t>= c b </a:t>
                </a:r>
                <a:r>
                  <a:rPr lang="en-US" altLang="zh-TW" sz="2800" dirty="0" err="1" smtClean="0"/>
                  <a:t>b</a:t>
                </a:r>
                <a:r>
                  <a:rPr lang="en-US" altLang="zh-TW" sz="2800" dirty="0" smtClean="0"/>
                  <a:t> d a c</a:t>
                </a:r>
                <a:br>
                  <a:rPr lang="en-US" altLang="zh-TW" sz="2800" dirty="0" smtClean="0"/>
                </a:br>
                <a14:m>
                  <m:oMath xmlns:m="http://schemas.openxmlformats.org/officeDocument/2006/math">
                    <m:r>
                      <m:rPr>
                        <m:sty m:val="p"/>
                      </m:rPr>
                      <a:rPr lang="el-GR" altLang="zh-TW" sz="2800" i="1">
                        <a:latin typeface="Cambria Math"/>
                      </a:rPr>
                      <m:t>β</m:t>
                    </m:r>
                  </m:oMath>
                </a14:m>
                <a:r>
                  <a:rPr lang="en-US" altLang="zh-TW" sz="2800" b="0" dirty="0" smtClean="0"/>
                  <a:t> = a b c d </a:t>
                </a:r>
                <a:r>
                  <a:rPr lang="en-US" altLang="zh-TW" sz="2800" b="0" dirty="0" err="1" smtClean="0"/>
                  <a:t>d</a:t>
                </a:r>
                <a:r>
                  <a:rPr lang="en-US" altLang="zh-TW" sz="2800" b="0" dirty="0" smtClean="0"/>
                  <a:t> b a</a:t>
                </a:r>
              </a:p>
            </p:txBody>
          </p:sp>
        </mc:Choice>
        <mc:Fallback>
          <p:sp>
            <p:nvSpPr>
              <p:cNvPr id="14" name="矩形 13"/>
              <p:cNvSpPr>
                <a:spLocks noRot="1" noChangeAspect="1" noMove="1" noResize="1" noEditPoints="1" noAdjustHandles="1" noChangeArrowheads="1" noChangeShapeType="1" noTextEdit="1"/>
              </p:cNvSpPr>
              <p:nvPr/>
            </p:nvSpPr>
            <p:spPr>
              <a:xfrm>
                <a:off x="5200205" y="1532582"/>
                <a:ext cx="2497800" cy="954107"/>
              </a:xfrm>
              <a:prstGeom prst="rect">
                <a:avLst/>
              </a:prstGeom>
              <a:blipFill rotWithShape="1">
                <a:blip r:embed="rId5"/>
                <a:stretch>
                  <a:fillRect t="-6369" r="-4146" b="-16561"/>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15" name="文字方塊 14"/>
              <p:cNvSpPr txBox="1"/>
              <p:nvPr/>
            </p:nvSpPr>
            <p:spPr>
              <a:xfrm>
                <a:off x="570654" y="980728"/>
                <a:ext cx="946285" cy="391646"/>
              </a:xfrm>
              <a:prstGeom prst="rect">
                <a:avLst/>
              </a:prstGeom>
              <a:noFill/>
            </p:spPr>
            <p:txBody>
              <a:bodyPr wrap="none" rtlCol="0">
                <a:spAutoFit/>
              </a:bodyPr>
              <a:lstStyle/>
              <a:p>
                <a:r>
                  <a:rPr lang="zh-TW" altLang="en-US" dirty="0" smtClean="0"/>
                  <a:t>尋找</a:t>
                </a:r>
                <a14:m>
                  <m:oMath xmlns:m="http://schemas.openxmlformats.org/officeDocument/2006/math">
                    <m:sSub>
                      <m:sSubPr>
                        <m:ctrlPr>
                          <a:rPr lang="en-US" altLang="zh-TW" i="1">
                            <a:latin typeface="Cambria Math"/>
                          </a:rPr>
                        </m:ctrlPr>
                      </m:sSubPr>
                      <m:e>
                        <m:r>
                          <a:rPr lang="en-US" altLang="zh-TW" b="0" i="1" smtClean="0">
                            <a:latin typeface="Cambria Math"/>
                          </a:rPr>
                          <m:t>𝐷</m:t>
                        </m:r>
                      </m:e>
                      <m:sub>
                        <m:r>
                          <a:rPr lang="en-US" altLang="zh-TW" i="1">
                            <a:latin typeface="Cambria Math"/>
                          </a:rPr>
                          <m:t>𝑖𝑗</m:t>
                        </m:r>
                      </m:sub>
                    </m:sSub>
                  </m:oMath>
                </a14:m>
                <a:endParaRPr lang="zh-TW" altLang="en-US" dirty="0"/>
              </a:p>
            </p:txBody>
          </p:sp>
        </mc:Choice>
        <mc:Fallback>
          <p:sp>
            <p:nvSpPr>
              <p:cNvPr id="15" name="文字方塊 14"/>
              <p:cNvSpPr txBox="1">
                <a:spLocks noRot="1" noChangeAspect="1" noMove="1" noResize="1" noEditPoints="1" noAdjustHandles="1" noChangeArrowheads="1" noChangeShapeType="1" noTextEdit="1"/>
              </p:cNvSpPr>
              <p:nvPr/>
            </p:nvSpPr>
            <p:spPr>
              <a:xfrm>
                <a:off x="570654" y="980728"/>
                <a:ext cx="946285" cy="391646"/>
              </a:xfrm>
              <a:prstGeom prst="rect">
                <a:avLst/>
              </a:prstGeom>
              <a:blipFill rotWithShape="1">
                <a:blip r:embed="rId6"/>
                <a:stretch>
                  <a:fillRect l="-5806" t="-6250" b="-20313"/>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32743935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p:graphicFrame>
        <p:nvGraphicFramePr>
          <p:cNvPr id="4" name="內容版面配置區 3"/>
          <p:cNvGraphicFramePr>
            <a:graphicFrameLocks noGrp="1"/>
          </p:cNvGraphicFramePr>
          <p:nvPr>
            <p:ph idx="1"/>
            <p:extLst>
              <p:ext uri="{D42A27DB-BD31-4B8C-83A1-F6EECF244321}">
                <p14:modId xmlns="" xmlns:p14="http://schemas.microsoft.com/office/powerpoint/2010/main" val="1798973286"/>
              </p:ext>
            </p:extLst>
          </p:nvPr>
        </p:nvGraphicFramePr>
        <p:xfrm>
          <a:off x="581902" y="1484784"/>
          <a:ext cx="3672408" cy="2595880"/>
        </p:xfrm>
        <a:graphic>
          <a:graphicData uri="http://schemas.openxmlformats.org/drawingml/2006/table">
            <a:tbl>
              <a:tblPr firstRow="1" bandRow="1">
                <a:tableStyleId>{5C22544A-7EE6-4342-B048-85BDC9FD1C3A}</a:tableStyleId>
              </a:tblPr>
              <a:tblGrid>
                <a:gridCol w="459051"/>
                <a:gridCol w="459051"/>
                <a:gridCol w="459051"/>
                <a:gridCol w="459051"/>
                <a:gridCol w="459051"/>
                <a:gridCol w="459051"/>
                <a:gridCol w="459051"/>
                <a:gridCol w="459051"/>
              </a:tblGrid>
              <a:tr h="370840">
                <a:tc>
                  <a:txBody>
                    <a:bodyPr/>
                    <a:lstStyle/>
                    <a:p>
                      <a:pPr algn="ctr"/>
                      <a:r>
                        <a:rPr lang="en-US" altLang="zh-TW" dirty="0" smtClean="0"/>
                        <a:t>0</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r>
              <a:tr h="370840">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solidFill>
                            <a:srgbClr val="FF0000"/>
                          </a:solidFill>
                        </a:rPr>
                        <a:t>*</a:t>
                      </a: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extLst>
              <p:ext uri="{D42A27DB-BD31-4B8C-83A1-F6EECF244321}">
                <p14:modId xmlns="" xmlns:p14="http://schemas.microsoft.com/office/powerpoint/2010/main" val="3668621795"/>
              </p:ext>
            </p:extLst>
          </p:nvPr>
        </p:nvGraphicFramePr>
        <p:xfrm>
          <a:off x="755576" y="4734436"/>
          <a:ext cx="3168352" cy="1828800"/>
        </p:xfrm>
        <a:graphic>
          <a:graphicData uri="http://schemas.openxmlformats.org/drawingml/2006/table">
            <a:tbl>
              <a:tblPr firstRow="1" bandRow="1">
                <a:tableStyleId>{5C22544A-7EE6-4342-B048-85BDC9FD1C3A}</a:tableStyleId>
              </a:tblPr>
              <a:tblGrid>
                <a:gridCol w="396044"/>
                <a:gridCol w="396044"/>
                <a:gridCol w="396044"/>
                <a:gridCol w="396044"/>
                <a:gridCol w="396044"/>
                <a:gridCol w="396044"/>
                <a:gridCol w="396044"/>
                <a:gridCol w="396044"/>
              </a:tblGrid>
              <a:tr h="0">
                <a:tc>
                  <a:txBody>
                    <a:bodyPr/>
                    <a:lstStyle/>
                    <a:p>
                      <a:pPr algn="ctr"/>
                      <a:endParaRPr lang="zh-TW" altLang="en-US" dirty="0"/>
                    </a:p>
                  </a:txBody>
                  <a:tcPr>
                    <a:lnTlToBr w="12700" cap="flat" cmpd="sng" algn="ctr">
                      <a:noFill/>
                      <a:prstDash val="solid"/>
                      <a:round/>
                      <a:headEnd type="none" w="med" len="med"/>
                      <a:tailEnd type="none" w="med" len="med"/>
                    </a:lnTlToBr>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0">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4</a:t>
                      </a:r>
                      <a:endParaRPr lang="zh-TW" altLang="en-US" dirty="0">
                        <a:solidFill>
                          <a:srgbClr val="FF0000"/>
                        </a:solidFill>
                      </a:endParaRPr>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 xmlns:p14="http://schemas.microsoft.com/office/powerpoint/2010/main" val="1277926115"/>
              </p:ext>
            </p:extLst>
          </p:nvPr>
        </p:nvGraphicFramePr>
        <p:xfrm>
          <a:off x="4860036" y="4725144"/>
          <a:ext cx="3600396" cy="1828800"/>
        </p:xfrm>
        <a:graphic>
          <a:graphicData uri="http://schemas.openxmlformats.org/drawingml/2006/table">
            <a:tbl>
              <a:tblPr firstRow="1" bandRow="1">
                <a:tableStyleId>{5C22544A-7EE6-4342-B048-85BDC9FD1C3A}</a:tableStyleId>
              </a:tblPr>
              <a:tblGrid>
                <a:gridCol w="400044"/>
                <a:gridCol w="400044"/>
                <a:gridCol w="400044"/>
                <a:gridCol w="400044"/>
                <a:gridCol w="400044"/>
                <a:gridCol w="400044"/>
                <a:gridCol w="400044"/>
                <a:gridCol w="400044"/>
                <a:gridCol w="400044"/>
              </a:tblGrid>
              <a:tr h="158418">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158418">
                <a:tc>
                  <a:txBody>
                    <a:bodyPr/>
                    <a:lstStyle/>
                    <a:p>
                      <a:pPr algn="ctr"/>
                      <a:r>
                        <a:rPr lang="en-US" altLang="zh-TW" dirty="0" smtClean="0">
                          <a:solidFill>
                            <a:srgbClr val="FF0000"/>
                          </a:solidFill>
                        </a:rPr>
                        <a:t>a</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b</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c</a:t>
                      </a:r>
                      <a:endParaRPr lang="zh-TW" altLang="en-US" dirty="0">
                        <a:solidFill>
                          <a:srgbClr val="FF0000"/>
                        </a:solidFill>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d</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bl>
          </a:graphicData>
        </a:graphic>
      </p:graphicFrame>
      <mc:AlternateContent xmlns:mc="http://schemas.openxmlformats.org/markup-compatibility/2006">
        <mc:Choice xmlns="" xmlns:a14="http://schemas.microsoft.com/office/drawing/2010/main" Requires="a14">
          <p:sp>
            <p:nvSpPr>
              <p:cNvPr id="7" name="矩形 6"/>
              <p:cNvSpPr/>
              <p:nvPr/>
            </p:nvSpPr>
            <p:spPr>
              <a:xfrm>
                <a:off x="1578389" y="4365104"/>
                <a:ext cx="1679434" cy="369332"/>
              </a:xfrm>
              <a:prstGeom prst="rect">
                <a:avLst/>
              </a:prstGeom>
            </p:spPr>
            <p:txBody>
              <a:bodyPr wrap="none">
                <a:spAutoFit/>
              </a:bodyPr>
              <a:lstStyle/>
              <a:p>
                <a14:m>
                  <m:oMath xmlns:m="http://schemas.openxmlformats.org/officeDocument/2006/math">
                    <m:r>
                      <m:rPr>
                        <m:sty m:val="p"/>
                      </m:rPr>
                      <a:rPr lang="el-GR" altLang="zh-TW" i="1">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a:t/>
                </a:r>
                <a:endParaRPr lang="zh-TW" altLang="en-US" dirty="0"/>
              </a:p>
            </p:txBody>
          </p:sp>
        </mc:Choice>
        <mc:Fallback>
          <p:sp>
            <p:nvSpPr>
              <p:cNvPr id="7" name="矩形 6"/>
              <p:cNvSpPr>
                <a:spLocks noRot="1" noChangeAspect="1" noMove="1" noResize="1" noEditPoints="1" noAdjustHandles="1" noChangeArrowheads="1" noChangeShapeType="1" noTextEdit="1"/>
              </p:cNvSpPr>
              <p:nvPr/>
            </p:nvSpPr>
            <p:spPr>
              <a:xfrm>
                <a:off x="1578389" y="4365104"/>
                <a:ext cx="1679434" cy="369332"/>
              </a:xfrm>
              <a:prstGeom prst="rect">
                <a:avLst/>
              </a:prstGeom>
              <a:blipFill rotWithShape="1">
                <a:blip r:embed="rId2"/>
                <a:stretch>
                  <a:fillRect/>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8" name="矩形 7"/>
              <p:cNvSpPr/>
              <p:nvPr/>
            </p:nvSpPr>
            <p:spPr>
              <a:xfrm>
                <a:off x="5652124" y="4365104"/>
                <a:ext cx="1593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m:oMathPara>
                </a14:m>
                <a:endParaRPr lang="zh-TW" altLang="en-US" dirty="0"/>
              </a:p>
            </p:txBody>
          </p:sp>
        </mc:Choice>
        <mc:Fallback>
          <p:sp>
            <p:nvSpPr>
              <p:cNvPr id="8" name="矩形 7"/>
              <p:cNvSpPr>
                <a:spLocks noRot="1" noChangeAspect="1" noMove="1" noResize="1" noEditPoints="1" noAdjustHandles="1" noChangeArrowheads="1" noChangeShapeType="1" noTextEdit="1"/>
              </p:cNvSpPr>
              <p:nvPr/>
            </p:nvSpPr>
            <p:spPr>
              <a:xfrm>
                <a:off x="5652124" y="4365104"/>
                <a:ext cx="1593962" cy="369332"/>
              </a:xfrm>
              <a:prstGeom prst="rect">
                <a:avLst/>
              </a:prstGeom>
              <a:blipFill rotWithShape="1">
                <a:blip r:embed="rId3"/>
                <a:stretch>
                  <a:fillRect b="-13115"/>
                </a:stretch>
              </a:blipFill>
            </p:spPr>
            <p:txBody>
              <a:bodyPr/>
              <a:lstStyle/>
              <a:p>
                <a:r>
                  <a:rPr lang="zh-TW" altLang="en-US">
                    <a:noFill/>
                  </a:rPr>
                  <a:t> </a:t>
                </a:r>
              </a:p>
            </p:txBody>
          </p:sp>
        </mc:Fallback>
      </mc:AlternateContent>
      <p:sp>
        <p:nvSpPr>
          <p:cNvPr id="9" name="矩形 8"/>
          <p:cNvSpPr/>
          <p:nvPr/>
        </p:nvSpPr>
        <p:spPr>
          <a:xfrm>
            <a:off x="1187624" y="4745511"/>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5292084" y="4792109"/>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graphicFrame>
            <p:nvGraphicFramePr>
              <p:cNvPr id="11" name="表格 10"/>
              <p:cNvGraphicFramePr>
                <a:graphicFrameLocks noGrp="1"/>
              </p:cNvGraphicFramePr>
              <p:nvPr>
                <p:extLst>
                  <p:ext uri="{D42A27DB-BD31-4B8C-83A1-F6EECF244321}">
                    <p14:modId xmlns:p14="http://schemas.microsoft.com/office/powerpoint/2010/main" val="330861928"/>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0</m:t>
                                    </m:r>
                                  </m:sup>
                                </m:sSup>
                              </m:oMath>
                            </m:oMathPara>
                          </a14:m>
                          <a:endParaRPr lang="zh-TW" altLang="en-US" dirty="0"/>
                        </a:p>
                      </a:txBody>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1</m:t>
                                    </m:r>
                                  </m:sup>
                                </m:sSup>
                              </m:oMath>
                            </m:oMathPara>
                          </a14:m>
                          <a:endParaRPr lang="zh-TW" altLang="en-US" dirty="0"/>
                        </a:p>
                      </a:txBody>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r>
                            <a:rPr lang="en-US" altLang="zh-TW" b="1" dirty="0" smtClean="0"/>
                            <a:t>[5, 1]</a:t>
                          </a:r>
                          <a:endParaRPr lang="zh-TW" altLang="en-US" b="1"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2</m:t>
                                    </m:r>
                                  </m:sup>
                                </m:sSup>
                              </m:oMath>
                            </m:oMathPara>
                          </a14:m>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3</m:t>
                                    </m:r>
                                  </m:sup>
                                </m:sSup>
                              </m:oMath>
                            </m:oMathPara>
                          </a14:m>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Choice>
        <mc:Fallback>
          <p:graphicFrame>
            <p:nvGraphicFramePr>
              <p:cNvPr id="11" name="表格 10"/>
              <p:cNvGraphicFramePr>
                <a:graphicFrameLocks noGrp="1"/>
              </p:cNvGraphicFramePr>
              <p:nvPr>
                <p:extLst>
                  <p:ext uri="{D42A27DB-BD31-4B8C-83A1-F6EECF244321}">
                    <p14:modId xmlns="" xmlns:p14="http://schemas.microsoft.com/office/powerpoint/2010/main" val="330861928"/>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endParaRPr lang="zh-TW"/>
                        </a:p>
                      </a:txBody>
                      <a:tcPr>
                        <a:blipFill rotWithShape="1">
                          <a:blip r:embed="rId4"/>
                          <a:stretch>
                            <a:fillRect l="-633" t="-8197" r="-298734" b="-298361"/>
                          </a:stretch>
                        </a:blipFill>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endParaRPr lang="zh-TW"/>
                        </a:p>
                      </a:txBody>
                      <a:tcPr>
                        <a:blipFill rotWithShape="1">
                          <a:blip r:embed="rId4"/>
                          <a:stretch>
                            <a:fillRect l="-633" t="-108197" r="-298734" b="-198361"/>
                          </a:stretch>
                        </a:blipFill>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r>
                            <a:rPr lang="en-US" altLang="zh-TW" b="1" dirty="0" smtClean="0"/>
                            <a:t>[5, 1]</a:t>
                          </a:r>
                          <a:endParaRPr lang="zh-TW" altLang="en-US" b="1" dirty="0"/>
                        </a:p>
                      </a:txBody>
                      <a:tcPr/>
                    </a:tc>
                  </a:tr>
                  <a:tr h="370840">
                    <a:tc>
                      <a:txBody>
                        <a:bodyPr/>
                        <a:lstStyle/>
                        <a:p>
                          <a:endParaRPr lang="zh-TW"/>
                        </a:p>
                      </a:txBody>
                      <a:tcPr>
                        <a:blipFill rotWithShape="1">
                          <a:blip r:embed="rId4"/>
                          <a:stretch>
                            <a:fillRect l="-633" t="-211667" r="-298734" b="-101667"/>
                          </a:stretch>
                        </a:blip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r>
                  <a:tr h="370840">
                    <a:tc>
                      <a:txBody>
                        <a:bodyPr/>
                        <a:lstStyle/>
                        <a:p>
                          <a:endParaRPr lang="zh-TW"/>
                        </a:p>
                      </a:txBody>
                      <a:tcPr>
                        <a:blipFill rotWithShape="1">
                          <a:blip r:embed="rId4"/>
                          <a:stretch>
                            <a:fillRect l="-633" t="-306557" r="-298734"/>
                          </a:stretch>
                        </a:blip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Fallback>
      </mc:AlternateContent>
      <p:sp>
        <p:nvSpPr>
          <p:cNvPr id="12" name="矩形 11"/>
          <p:cNvSpPr/>
          <p:nvPr/>
        </p:nvSpPr>
        <p:spPr>
          <a:xfrm>
            <a:off x="1043608" y="2636912"/>
            <a:ext cx="468052" cy="14401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588043" y="1484784"/>
            <a:ext cx="432048" cy="43204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sp>
            <p:nvSpPr>
              <p:cNvPr id="14" name="矩形 13"/>
              <p:cNvSpPr/>
              <p:nvPr/>
            </p:nvSpPr>
            <p:spPr>
              <a:xfrm>
                <a:off x="5200205" y="1532582"/>
                <a:ext cx="2497800" cy="954107"/>
              </a:xfrm>
              <a:prstGeom prst="rect">
                <a:avLst/>
              </a:prstGeom>
            </p:spPr>
            <p:txBody>
              <a:bodyPr wrap="none">
                <a:spAutoFit/>
              </a:bodyPr>
              <a:lstStyle/>
              <a:p>
                <a14:m>
                  <m:oMath xmlns:m="http://schemas.openxmlformats.org/officeDocument/2006/math">
                    <m:r>
                      <m:rPr>
                        <m:sty m:val="p"/>
                      </m:rPr>
                      <a:rPr lang="el-GR" altLang="zh-TW" sz="2800" i="1" smtClean="0">
                        <a:latin typeface="Cambria Math"/>
                      </a:rPr>
                      <m:t>α</m:t>
                    </m:r>
                  </m:oMath>
                </a14:m>
                <a:r>
                  <a:rPr lang="zh-TW" altLang="en-US" sz="2800" dirty="0" smtClean="0"/>
                  <a:t/>
                </a:r>
                <a:r>
                  <a:rPr lang="en-US" altLang="zh-TW" sz="2800" dirty="0" smtClean="0"/>
                  <a:t>= c b </a:t>
                </a:r>
                <a:r>
                  <a:rPr lang="en-US" altLang="zh-TW" sz="2800" dirty="0" err="1" smtClean="0"/>
                  <a:t>b</a:t>
                </a:r>
                <a:r>
                  <a:rPr lang="en-US" altLang="zh-TW" sz="2800" dirty="0" smtClean="0"/>
                  <a:t> d a c</a:t>
                </a:r>
                <a:br>
                  <a:rPr lang="en-US" altLang="zh-TW" sz="2800" dirty="0" smtClean="0"/>
                </a:br>
                <a14:m>
                  <m:oMath xmlns:m="http://schemas.openxmlformats.org/officeDocument/2006/math">
                    <m:r>
                      <m:rPr>
                        <m:sty m:val="p"/>
                      </m:rPr>
                      <a:rPr lang="el-GR" altLang="zh-TW" sz="2800" i="1">
                        <a:latin typeface="Cambria Math"/>
                      </a:rPr>
                      <m:t>β</m:t>
                    </m:r>
                  </m:oMath>
                </a14:m>
                <a:r>
                  <a:rPr lang="en-US" altLang="zh-TW" sz="2800" b="0" dirty="0" smtClean="0"/>
                  <a:t> = a b c d </a:t>
                </a:r>
                <a:r>
                  <a:rPr lang="en-US" altLang="zh-TW" sz="2800" b="0" dirty="0" err="1" smtClean="0"/>
                  <a:t>d</a:t>
                </a:r>
                <a:r>
                  <a:rPr lang="en-US" altLang="zh-TW" sz="2800" b="0" dirty="0" smtClean="0"/>
                  <a:t> b a</a:t>
                </a:r>
              </a:p>
            </p:txBody>
          </p:sp>
        </mc:Choice>
        <mc:Fallback>
          <p:sp>
            <p:nvSpPr>
              <p:cNvPr id="14" name="矩形 13"/>
              <p:cNvSpPr>
                <a:spLocks noRot="1" noChangeAspect="1" noMove="1" noResize="1" noEditPoints="1" noAdjustHandles="1" noChangeArrowheads="1" noChangeShapeType="1" noTextEdit="1"/>
              </p:cNvSpPr>
              <p:nvPr/>
            </p:nvSpPr>
            <p:spPr>
              <a:xfrm>
                <a:off x="5200205" y="1532582"/>
                <a:ext cx="2497800" cy="954107"/>
              </a:xfrm>
              <a:prstGeom prst="rect">
                <a:avLst/>
              </a:prstGeom>
              <a:blipFill rotWithShape="1">
                <a:blip r:embed="rId5"/>
                <a:stretch>
                  <a:fillRect t="-6369" r="-4146" b="-16561"/>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15" name="文字方塊 14"/>
              <p:cNvSpPr txBox="1"/>
              <p:nvPr/>
            </p:nvSpPr>
            <p:spPr>
              <a:xfrm>
                <a:off x="570654" y="980728"/>
                <a:ext cx="946285" cy="391646"/>
              </a:xfrm>
              <a:prstGeom prst="rect">
                <a:avLst/>
              </a:prstGeom>
              <a:noFill/>
            </p:spPr>
            <p:txBody>
              <a:bodyPr wrap="none" rtlCol="0">
                <a:spAutoFit/>
              </a:bodyPr>
              <a:lstStyle/>
              <a:p>
                <a:r>
                  <a:rPr lang="zh-TW" altLang="en-US" dirty="0" smtClean="0"/>
                  <a:t>尋找</a:t>
                </a:r>
                <a14:m>
                  <m:oMath xmlns:m="http://schemas.openxmlformats.org/officeDocument/2006/math">
                    <m:sSub>
                      <m:sSubPr>
                        <m:ctrlPr>
                          <a:rPr lang="en-US" altLang="zh-TW" i="1">
                            <a:latin typeface="Cambria Math"/>
                          </a:rPr>
                        </m:ctrlPr>
                      </m:sSubPr>
                      <m:e>
                        <m:r>
                          <a:rPr lang="en-US" altLang="zh-TW" b="0" i="1" smtClean="0">
                            <a:latin typeface="Cambria Math"/>
                          </a:rPr>
                          <m:t>𝐷</m:t>
                        </m:r>
                      </m:e>
                      <m:sub>
                        <m:r>
                          <a:rPr lang="en-US" altLang="zh-TW" i="1">
                            <a:latin typeface="Cambria Math"/>
                          </a:rPr>
                          <m:t>𝑖𝑗</m:t>
                        </m:r>
                      </m:sub>
                    </m:sSub>
                  </m:oMath>
                </a14:m>
                <a:endParaRPr lang="zh-TW" altLang="en-US" dirty="0"/>
              </a:p>
            </p:txBody>
          </p:sp>
        </mc:Choice>
        <mc:Fallback>
          <p:sp>
            <p:nvSpPr>
              <p:cNvPr id="15" name="文字方塊 14"/>
              <p:cNvSpPr txBox="1">
                <a:spLocks noRot="1" noChangeAspect="1" noMove="1" noResize="1" noEditPoints="1" noAdjustHandles="1" noChangeArrowheads="1" noChangeShapeType="1" noTextEdit="1"/>
              </p:cNvSpPr>
              <p:nvPr/>
            </p:nvSpPr>
            <p:spPr>
              <a:xfrm>
                <a:off x="570654" y="980728"/>
                <a:ext cx="946285" cy="391646"/>
              </a:xfrm>
              <a:prstGeom prst="rect">
                <a:avLst/>
              </a:prstGeom>
              <a:blipFill rotWithShape="1">
                <a:blip r:embed="rId6"/>
                <a:stretch>
                  <a:fillRect l="-5806" t="-6250" b="-20313"/>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35212306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p:graphicFrame>
        <p:nvGraphicFramePr>
          <p:cNvPr id="4" name="內容版面配置區 3"/>
          <p:cNvGraphicFramePr>
            <a:graphicFrameLocks noGrp="1"/>
          </p:cNvGraphicFramePr>
          <p:nvPr>
            <p:ph idx="1"/>
            <p:extLst>
              <p:ext uri="{D42A27DB-BD31-4B8C-83A1-F6EECF244321}">
                <p14:modId xmlns="" xmlns:p14="http://schemas.microsoft.com/office/powerpoint/2010/main" val="2233496019"/>
              </p:ext>
            </p:extLst>
          </p:nvPr>
        </p:nvGraphicFramePr>
        <p:xfrm>
          <a:off x="581902" y="1484784"/>
          <a:ext cx="3672408" cy="2595880"/>
        </p:xfrm>
        <a:graphic>
          <a:graphicData uri="http://schemas.openxmlformats.org/drawingml/2006/table">
            <a:tbl>
              <a:tblPr firstRow="1" bandRow="1">
                <a:tableStyleId>{5C22544A-7EE6-4342-B048-85BDC9FD1C3A}</a:tableStyleId>
              </a:tblPr>
              <a:tblGrid>
                <a:gridCol w="459051"/>
                <a:gridCol w="459051"/>
                <a:gridCol w="459051"/>
                <a:gridCol w="459051"/>
                <a:gridCol w="459051"/>
                <a:gridCol w="459051"/>
                <a:gridCol w="459051"/>
                <a:gridCol w="459051"/>
              </a:tblGrid>
              <a:tr h="370840">
                <a:tc>
                  <a:txBody>
                    <a:bodyPr/>
                    <a:lstStyle/>
                    <a:p>
                      <a:pPr algn="ctr"/>
                      <a:r>
                        <a:rPr lang="en-US" altLang="zh-TW" dirty="0" smtClean="0"/>
                        <a:t>0</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solidFill>
                          <a:srgbClr val="FF0000"/>
                        </a:solidFill>
                      </a:endParaRPr>
                    </a:p>
                  </a:txBody>
                  <a:tcPr/>
                </a:tc>
                <a:tc>
                  <a:txBody>
                    <a:bodyPr/>
                    <a:lstStyle/>
                    <a:p>
                      <a:pPr algn="ctr"/>
                      <a:r>
                        <a:rPr lang="en-US" altLang="zh-TW" dirty="0" smtClean="0">
                          <a:solidFill>
                            <a:srgbClr val="FF0000"/>
                          </a:solidFill>
                        </a:rPr>
                        <a:t>*</a:t>
                      </a:r>
                      <a:endParaRPr lang="zh-TW" altLang="en-US" dirty="0">
                        <a:solidFill>
                          <a:srgbClr val="FF0000"/>
                        </a:solidFill>
                      </a:endParaRPr>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rgbClr val="FF0000"/>
                          </a:solidFill>
                        </a:rPr>
                        <a:t>*</a:t>
                      </a: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rgbClr val="FF0000"/>
                          </a:solidFill>
                        </a:rPr>
                        <a:t>*</a:t>
                      </a:r>
                      <a:endParaRPr lang="zh-TW" altLang="en-US" dirty="0">
                        <a:solidFill>
                          <a:srgbClr val="FF0000"/>
                        </a:solidFill>
                      </a:endParaRPr>
                    </a:p>
                  </a:txBody>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solidFill>
                          <a:srgbClr val="FF0000"/>
                        </a:solidFill>
                      </a:endParaRPr>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extLst>
              <p:ext uri="{D42A27DB-BD31-4B8C-83A1-F6EECF244321}">
                <p14:modId xmlns="" xmlns:p14="http://schemas.microsoft.com/office/powerpoint/2010/main" val="80492899"/>
              </p:ext>
            </p:extLst>
          </p:nvPr>
        </p:nvGraphicFramePr>
        <p:xfrm>
          <a:off x="755576" y="4734436"/>
          <a:ext cx="3168352" cy="1828800"/>
        </p:xfrm>
        <a:graphic>
          <a:graphicData uri="http://schemas.openxmlformats.org/drawingml/2006/table">
            <a:tbl>
              <a:tblPr firstRow="1" bandRow="1">
                <a:tableStyleId>{5C22544A-7EE6-4342-B048-85BDC9FD1C3A}</a:tableStyleId>
              </a:tblPr>
              <a:tblGrid>
                <a:gridCol w="396044"/>
                <a:gridCol w="396044"/>
                <a:gridCol w="396044"/>
                <a:gridCol w="396044"/>
                <a:gridCol w="396044"/>
                <a:gridCol w="396044"/>
                <a:gridCol w="396044"/>
                <a:gridCol w="396044"/>
              </a:tblGrid>
              <a:tr h="0">
                <a:tc>
                  <a:txBody>
                    <a:bodyPr/>
                    <a:lstStyle/>
                    <a:p>
                      <a:pPr algn="ctr"/>
                      <a:endParaRPr lang="zh-TW" altLang="en-US" dirty="0"/>
                    </a:p>
                  </a:txBody>
                  <a:tcPr>
                    <a:lnTlToBr w="12700" cap="flat" cmpd="sng" algn="ctr">
                      <a:noFill/>
                      <a:prstDash val="solid"/>
                      <a:round/>
                      <a:headEnd type="none" w="med" len="med"/>
                      <a:tailEnd type="none" w="med" len="med"/>
                    </a:lnTlToBr>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0">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4</a:t>
                      </a:r>
                      <a:endParaRPr lang="zh-TW" altLang="en-US" dirty="0">
                        <a:solidFill>
                          <a:srgbClr val="FF0000"/>
                        </a:solidFill>
                      </a:endParaRPr>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 xmlns:p14="http://schemas.microsoft.com/office/powerpoint/2010/main" val="3074310943"/>
              </p:ext>
            </p:extLst>
          </p:nvPr>
        </p:nvGraphicFramePr>
        <p:xfrm>
          <a:off x="4860036" y="4725144"/>
          <a:ext cx="3600396" cy="1828800"/>
        </p:xfrm>
        <a:graphic>
          <a:graphicData uri="http://schemas.openxmlformats.org/drawingml/2006/table">
            <a:tbl>
              <a:tblPr firstRow="1" bandRow="1">
                <a:tableStyleId>{5C22544A-7EE6-4342-B048-85BDC9FD1C3A}</a:tableStyleId>
              </a:tblPr>
              <a:tblGrid>
                <a:gridCol w="400044"/>
                <a:gridCol w="400044"/>
                <a:gridCol w="400044"/>
                <a:gridCol w="400044"/>
                <a:gridCol w="400044"/>
                <a:gridCol w="400044"/>
                <a:gridCol w="400044"/>
                <a:gridCol w="400044"/>
                <a:gridCol w="400044"/>
              </a:tblGrid>
              <a:tr h="158418">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158418">
                <a:tc>
                  <a:txBody>
                    <a:bodyPr/>
                    <a:lstStyle/>
                    <a:p>
                      <a:pPr algn="ctr"/>
                      <a:r>
                        <a:rPr lang="en-US" altLang="zh-TW" dirty="0" smtClean="0">
                          <a:solidFill>
                            <a:srgbClr val="FF0000"/>
                          </a:solidFill>
                        </a:rPr>
                        <a:t>a</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b</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c</a:t>
                      </a:r>
                      <a:endParaRPr lang="zh-TW" altLang="en-US" dirty="0">
                        <a:solidFill>
                          <a:srgbClr val="FF0000"/>
                        </a:solidFill>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d</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bl>
          </a:graphicData>
        </a:graphic>
      </p:graphicFrame>
      <mc:AlternateContent xmlns:mc="http://schemas.openxmlformats.org/markup-compatibility/2006">
        <mc:Choice xmlns="" xmlns:a14="http://schemas.microsoft.com/office/drawing/2010/main" Requires="a14">
          <p:sp>
            <p:nvSpPr>
              <p:cNvPr id="7" name="矩形 6"/>
              <p:cNvSpPr/>
              <p:nvPr/>
            </p:nvSpPr>
            <p:spPr>
              <a:xfrm>
                <a:off x="1578389" y="4365104"/>
                <a:ext cx="1679434" cy="369332"/>
              </a:xfrm>
              <a:prstGeom prst="rect">
                <a:avLst/>
              </a:prstGeom>
            </p:spPr>
            <p:txBody>
              <a:bodyPr wrap="none">
                <a:spAutoFit/>
              </a:bodyPr>
              <a:lstStyle/>
              <a:p>
                <a14:m>
                  <m:oMath xmlns:m="http://schemas.openxmlformats.org/officeDocument/2006/math">
                    <m:r>
                      <m:rPr>
                        <m:sty m:val="p"/>
                      </m:rPr>
                      <a:rPr lang="el-GR" altLang="zh-TW" i="1">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a:t/>
                </a:r>
                <a:endParaRPr lang="zh-TW" altLang="en-US" dirty="0"/>
              </a:p>
            </p:txBody>
          </p:sp>
        </mc:Choice>
        <mc:Fallback>
          <p:sp>
            <p:nvSpPr>
              <p:cNvPr id="7" name="矩形 6"/>
              <p:cNvSpPr>
                <a:spLocks noRot="1" noChangeAspect="1" noMove="1" noResize="1" noEditPoints="1" noAdjustHandles="1" noChangeArrowheads="1" noChangeShapeType="1" noTextEdit="1"/>
              </p:cNvSpPr>
              <p:nvPr/>
            </p:nvSpPr>
            <p:spPr>
              <a:xfrm>
                <a:off x="1578389" y="4365104"/>
                <a:ext cx="1679434" cy="369332"/>
              </a:xfrm>
              <a:prstGeom prst="rect">
                <a:avLst/>
              </a:prstGeom>
              <a:blipFill rotWithShape="1">
                <a:blip r:embed="rId2"/>
                <a:stretch>
                  <a:fillRect/>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8" name="矩形 7"/>
              <p:cNvSpPr/>
              <p:nvPr/>
            </p:nvSpPr>
            <p:spPr>
              <a:xfrm>
                <a:off x="5652124" y="4365104"/>
                <a:ext cx="1593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m:oMathPara>
                </a14:m>
                <a:endParaRPr lang="zh-TW" altLang="en-US" dirty="0"/>
              </a:p>
            </p:txBody>
          </p:sp>
        </mc:Choice>
        <mc:Fallback>
          <p:sp>
            <p:nvSpPr>
              <p:cNvPr id="8" name="矩形 7"/>
              <p:cNvSpPr>
                <a:spLocks noRot="1" noChangeAspect="1" noMove="1" noResize="1" noEditPoints="1" noAdjustHandles="1" noChangeArrowheads="1" noChangeShapeType="1" noTextEdit="1"/>
              </p:cNvSpPr>
              <p:nvPr/>
            </p:nvSpPr>
            <p:spPr>
              <a:xfrm>
                <a:off x="5652124" y="4365104"/>
                <a:ext cx="1593962" cy="369332"/>
              </a:xfrm>
              <a:prstGeom prst="rect">
                <a:avLst/>
              </a:prstGeom>
              <a:blipFill rotWithShape="1">
                <a:blip r:embed="rId3"/>
                <a:stretch>
                  <a:fillRect b="-13115"/>
                </a:stretch>
              </a:blipFill>
            </p:spPr>
            <p:txBody>
              <a:bodyPr/>
              <a:lstStyle/>
              <a:p>
                <a:r>
                  <a:rPr lang="zh-TW" altLang="en-US">
                    <a:noFill/>
                  </a:rPr>
                  <a:t> </a:t>
                </a:r>
              </a:p>
            </p:txBody>
          </p:sp>
        </mc:Fallback>
      </mc:AlternateContent>
      <p:sp>
        <p:nvSpPr>
          <p:cNvPr id="9" name="矩形 8"/>
          <p:cNvSpPr/>
          <p:nvPr/>
        </p:nvSpPr>
        <p:spPr>
          <a:xfrm>
            <a:off x="1578389" y="4745511"/>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6516216" y="4792109"/>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graphicFrame>
            <p:nvGraphicFramePr>
              <p:cNvPr id="11" name="表格 10"/>
              <p:cNvGraphicFramePr>
                <a:graphicFrameLocks noGrp="1"/>
              </p:cNvGraphicFramePr>
              <p:nvPr>
                <p:extLst>
                  <p:ext uri="{D42A27DB-BD31-4B8C-83A1-F6EECF244321}">
                    <p14:modId xmlns:p14="http://schemas.microsoft.com/office/powerpoint/2010/main" val="3056228300"/>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0</m:t>
                                    </m:r>
                                  </m:sup>
                                </m:sSup>
                              </m:oMath>
                            </m:oMathPara>
                          </a14:m>
                          <a:endParaRPr lang="zh-TW" altLang="en-US" dirty="0"/>
                        </a:p>
                      </a:txBody>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1</m:t>
                                    </m:r>
                                  </m:sup>
                                </m:sSup>
                              </m:oMath>
                            </m:oMathPara>
                          </a14:m>
                          <a:endParaRPr lang="zh-TW" altLang="en-US" dirty="0"/>
                        </a:p>
                      </a:txBody>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r>
                            <a:rPr lang="en-US" altLang="zh-TW" dirty="0" smtClean="0"/>
                            <a:t>[5, 1]</a:t>
                          </a:r>
                          <a:endParaRPr lang="zh-TW" altLang="en-US"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2</m:t>
                                    </m:r>
                                  </m:sup>
                                </m:sSup>
                              </m:oMath>
                            </m:oMathPara>
                          </a14:m>
                          <a:endParaRPr lang="zh-TW" altLang="en-US" dirty="0"/>
                        </a:p>
                      </a:txBody>
                      <a:tcPr/>
                    </a:tc>
                    <a:tc>
                      <a:txBody>
                        <a:bodyPr/>
                        <a:lstStyle/>
                        <a:p>
                          <a:pPr algn="ctr"/>
                          <a:r>
                            <a:rPr lang="en-US" altLang="zh-TW" b="1" dirty="0" smtClean="0"/>
                            <a:t>[2, 6]</a:t>
                          </a:r>
                          <a:endParaRPr lang="zh-TW" altLang="en-US" b="1"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3</m:t>
                                    </m:r>
                                  </m:sup>
                                </m:sSup>
                              </m:oMath>
                            </m:oMathPara>
                          </a14:m>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Choice>
        <mc:Fallback>
          <p:graphicFrame>
            <p:nvGraphicFramePr>
              <p:cNvPr id="11" name="表格 10"/>
              <p:cNvGraphicFramePr>
                <a:graphicFrameLocks noGrp="1"/>
              </p:cNvGraphicFramePr>
              <p:nvPr>
                <p:extLst>
                  <p:ext uri="{D42A27DB-BD31-4B8C-83A1-F6EECF244321}">
                    <p14:modId xmlns="" xmlns:p14="http://schemas.microsoft.com/office/powerpoint/2010/main" val="3056228300"/>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endParaRPr lang="zh-TW"/>
                        </a:p>
                      </a:txBody>
                      <a:tcPr>
                        <a:blipFill rotWithShape="1">
                          <a:blip r:embed="rId4"/>
                          <a:stretch>
                            <a:fillRect l="-633" t="-8197" r="-298734" b="-298361"/>
                          </a:stretch>
                        </a:blipFill>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endParaRPr lang="zh-TW"/>
                        </a:p>
                      </a:txBody>
                      <a:tcPr>
                        <a:blipFill rotWithShape="1">
                          <a:blip r:embed="rId4"/>
                          <a:stretch>
                            <a:fillRect l="-633" t="-108197" r="-298734" b="-198361"/>
                          </a:stretch>
                        </a:blipFill>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r>
                            <a:rPr lang="en-US" altLang="zh-TW" dirty="0" smtClean="0"/>
                            <a:t>[5, 1]</a:t>
                          </a:r>
                          <a:endParaRPr lang="zh-TW" altLang="en-US" dirty="0"/>
                        </a:p>
                      </a:txBody>
                      <a:tcPr/>
                    </a:tc>
                  </a:tr>
                  <a:tr h="370840">
                    <a:tc>
                      <a:txBody>
                        <a:bodyPr/>
                        <a:lstStyle/>
                        <a:p>
                          <a:endParaRPr lang="zh-TW"/>
                        </a:p>
                      </a:txBody>
                      <a:tcPr>
                        <a:blipFill rotWithShape="1">
                          <a:blip r:embed="rId4"/>
                          <a:stretch>
                            <a:fillRect l="-633" t="-211667" r="-298734" b="-101667"/>
                          </a:stretch>
                        </a:blipFill>
                      </a:tcPr>
                    </a:tc>
                    <a:tc>
                      <a:txBody>
                        <a:bodyPr/>
                        <a:lstStyle/>
                        <a:p>
                          <a:pPr algn="ctr"/>
                          <a:r>
                            <a:rPr lang="en-US" altLang="zh-TW" b="1" dirty="0" smtClean="0"/>
                            <a:t>[2, 6]</a:t>
                          </a:r>
                          <a:endParaRPr lang="zh-TW" altLang="en-US" b="1"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endParaRPr lang="zh-TW"/>
                        </a:p>
                      </a:txBody>
                      <a:tcPr>
                        <a:blipFill rotWithShape="1">
                          <a:blip r:embed="rId4"/>
                          <a:stretch>
                            <a:fillRect l="-633" t="-306557" r="-298734"/>
                          </a:stretch>
                        </a:blip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Fallback>
      </mc:AlternateContent>
      <p:sp>
        <p:nvSpPr>
          <p:cNvPr id="13" name="矩形 12"/>
          <p:cNvSpPr/>
          <p:nvPr/>
        </p:nvSpPr>
        <p:spPr>
          <a:xfrm>
            <a:off x="2418106" y="2204863"/>
            <a:ext cx="1793854" cy="3967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1986058" y="1774409"/>
            <a:ext cx="432048" cy="43204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sp>
            <p:nvSpPr>
              <p:cNvPr id="15" name="矩形 14"/>
              <p:cNvSpPr/>
              <p:nvPr/>
            </p:nvSpPr>
            <p:spPr>
              <a:xfrm>
                <a:off x="5200205" y="1532582"/>
                <a:ext cx="2497800" cy="954107"/>
              </a:xfrm>
              <a:prstGeom prst="rect">
                <a:avLst/>
              </a:prstGeom>
            </p:spPr>
            <p:txBody>
              <a:bodyPr wrap="none">
                <a:spAutoFit/>
              </a:bodyPr>
              <a:lstStyle/>
              <a:p>
                <a14:m>
                  <m:oMath xmlns:m="http://schemas.openxmlformats.org/officeDocument/2006/math">
                    <m:r>
                      <m:rPr>
                        <m:sty m:val="p"/>
                      </m:rPr>
                      <a:rPr lang="el-GR" altLang="zh-TW" sz="2800" i="1" smtClean="0">
                        <a:latin typeface="Cambria Math"/>
                      </a:rPr>
                      <m:t>α</m:t>
                    </m:r>
                  </m:oMath>
                </a14:m>
                <a:r>
                  <a:rPr lang="zh-TW" altLang="en-US" sz="2800" dirty="0" smtClean="0"/>
                  <a:t/>
                </a:r>
                <a:r>
                  <a:rPr lang="en-US" altLang="zh-TW" sz="2800" dirty="0" smtClean="0"/>
                  <a:t>= c b </a:t>
                </a:r>
                <a:r>
                  <a:rPr lang="en-US" altLang="zh-TW" sz="2800" dirty="0" err="1" smtClean="0"/>
                  <a:t>b</a:t>
                </a:r>
                <a:r>
                  <a:rPr lang="en-US" altLang="zh-TW" sz="2800" dirty="0" smtClean="0"/>
                  <a:t> d a c</a:t>
                </a:r>
                <a:br>
                  <a:rPr lang="en-US" altLang="zh-TW" sz="2800" dirty="0" smtClean="0"/>
                </a:br>
                <a14:m>
                  <m:oMath xmlns:m="http://schemas.openxmlformats.org/officeDocument/2006/math">
                    <m:r>
                      <m:rPr>
                        <m:sty m:val="p"/>
                      </m:rPr>
                      <a:rPr lang="el-GR" altLang="zh-TW" sz="2800" i="1">
                        <a:latin typeface="Cambria Math"/>
                      </a:rPr>
                      <m:t>β</m:t>
                    </m:r>
                  </m:oMath>
                </a14:m>
                <a:r>
                  <a:rPr lang="en-US" altLang="zh-TW" sz="2800" b="0" dirty="0" smtClean="0"/>
                  <a:t> = a b c d </a:t>
                </a:r>
                <a:r>
                  <a:rPr lang="en-US" altLang="zh-TW" sz="2800" b="0" dirty="0" err="1" smtClean="0"/>
                  <a:t>d</a:t>
                </a:r>
                <a:r>
                  <a:rPr lang="en-US" altLang="zh-TW" sz="2800" b="0" dirty="0" smtClean="0"/>
                  <a:t> b a</a:t>
                </a:r>
              </a:p>
            </p:txBody>
          </p:sp>
        </mc:Choice>
        <mc:Fallback>
          <p:sp>
            <p:nvSpPr>
              <p:cNvPr id="15" name="矩形 14"/>
              <p:cNvSpPr>
                <a:spLocks noRot="1" noChangeAspect="1" noMove="1" noResize="1" noEditPoints="1" noAdjustHandles="1" noChangeArrowheads="1" noChangeShapeType="1" noTextEdit="1"/>
              </p:cNvSpPr>
              <p:nvPr/>
            </p:nvSpPr>
            <p:spPr>
              <a:xfrm>
                <a:off x="5200205" y="1532582"/>
                <a:ext cx="2497800" cy="954107"/>
              </a:xfrm>
              <a:prstGeom prst="rect">
                <a:avLst/>
              </a:prstGeom>
              <a:blipFill rotWithShape="1">
                <a:blip r:embed="rId5"/>
                <a:stretch>
                  <a:fillRect t="-6369" r="-4146" b="-16561"/>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16" name="文字方塊 15"/>
              <p:cNvSpPr txBox="1"/>
              <p:nvPr/>
            </p:nvSpPr>
            <p:spPr>
              <a:xfrm>
                <a:off x="570654" y="980728"/>
                <a:ext cx="946285" cy="391646"/>
              </a:xfrm>
              <a:prstGeom prst="rect">
                <a:avLst/>
              </a:prstGeom>
              <a:noFill/>
            </p:spPr>
            <p:txBody>
              <a:bodyPr wrap="none" rtlCol="0">
                <a:spAutoFit/>
              </a:bodyPr>
              <a:lstStyle/>
              <a:p>
                <a:r>
                  <a:rPr lang="zh-TW" altLang="en-US" dirty="0" smtClean="0"/>
                  <a:t>尋找</a:t>
                </a:r>
                <a14:m>
                  <m:oMath xmlns:m="http://schemas.openxmlformats.org/officeDocument/2006/math">
                    <m:sSub>
                      <m:sSubPr>
                        <m:ctrlPr>
                          <a:rPr lang="en-US" altLang="zh-TW" i="1">
                            <a:latin typeface="Cambria Math"/>
                          </a:rPr>
                        </m:ctrlPr>
                      </m:sSubPr>
                      <m:e>
                        <m:r>
                          <a:rPr lang="en-US" altLang="zh-TW" b="0" i="1" smtClean="0">
                            <a:latin typeface="Cambria Math"/>
                          </a:rPr>
                          <m:t>𝐷</m:t>
                        </m:r>
                      </m:e>
                      <m:sub>
                        <m:r>
                          <a:rPr lang="en-US" altLang="zh-TW" i="1">
                            <a:latin typeface="Cambria Math"/>
                          </a:rPr>
                          <m:t>𝑖𝑗</m:t>
                        </m:r>
                      </m:sub>
                    </m:sSub>
                  </m:oMath>
                </a14:m>
                <a:endParaRPr lang="zh-TW" altLang="en-US" dirty="0"/>
              </a:p>
            </p:txBody>
          </p:sp>
        </mc:Choice>
        <mc:Fallback>
          <p:sp>
            <p:nvSpPr>
              <p:cNvPr id="16" name="文字方塊 15"/>
              <p:cNvSpPr txBox="1">
                <a:spLocks noRot="1" noChangeAspect="1" noMove="1" noResize="1" noEditPoints="1" noAdjustHandles="1" noChangeArrowheads="1" noChangeShapeType="1" noTextEdit="1"/>
              </p:cNvSpPr>
              <p:nvPr/>
            </p:nvSpPr>
            <p:spPr>
              <a:xfrm>
                <a:off x="570654" y="980728"/>
                <a:ext cx="946285" cy="391646"/>
              </a:xfrm>
              <a:prstGeom prst="rect">
                <a:avLst/>
              </a:prstGeom>
              <a:blipFill rotWithShape="1">
                <a:blip r:embed="rId6"/>
                <a:stretch>
                  <a:fillRect l="-5806" t="-6250" b="-20313"/>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5551811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p:graphicFrame>
        <p:nvGraphicFramePr>
          <p:cNvPr id="4" name="內容版面配置區 3"/>
          <p:cNvGraphicFramePr>
            <a:graphicFrameLocks noGrp="1"/>
          </p:cNvGraphicFramePr>
          <p:nvPr>
            <p:ph idx="1"/>
            <p:extLst>
              <p:ext uri="{D42A27DB-BD31-4B8C-83A1-F6EECF244321}">
                <p14:modId xmlns="" xmlns:p14="http://schemas.microsoft.com/office/powerpoint/2010/main" val="750047608"/>
              </p:ext>
            </p:extLst>
          </p:nvPr>
        </p:nvGraphicFramePr>
        <p:xfrm>
          <a:off x="581902" y="1484784"/>
          <a:ext cx="3672408" cy="2595880"/>
        </p:xfrm>
        <a:graphic>
          <a:graphicData uri="http://schemas.openxmlformats.org/drawingml/2006/table">
            <a:tbl>
              <a:tblPr firstRow="1" bandRow="1">
                <a:tableStyleId>{5C22544A-7EE6-4342-B048-85BDC9FD1C3A}</a:tableStyleId>
              </a:tblPr>
              <a:tblGrid>
                <a:gridCol w="459051"/>
                <a:gridCol w="459051"/>
                <a:gridCol w="459051"/>
                <a:gridCol w="459051"/>
                <a:gridCol w="459051"/>
                <a:gridCol w="459051"/>
                <a:gridCol w="459051"/>
                <a:gridCol w="459051"/>
              </a:tblGrid>
              <a:tr h="370840">
                <a:tc>
                  <a:txBody>
                    <a:bodyPr/>
                    <a:lstStyle/>
                    <a:p>
                      <a:pPr algn="ctr"/>
                      <a:r>
                        <a:rPr lang="en-US" altLang="zh-TW" dirty="0" smtClean="0"/>
                        <a:t>0</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solidFill>
                          <a:srgbClr val="FF0000"/>
                        </a:solidFill>
                      </a:endParaRPr>
                    </a:p>
                  </a:txBody>
                  <a:tcPr/>
                </a:tc>
                <a:tc>
                  <a:txBody>
                    <a:bodyPr/>
                    <a:lstStyle/>
                    <a:p>
                      <a:pPr algn="ctr"/>
                      <a:r>
                        <a:rPr lang="en-US" altLang="zh-TW" dirty="0" smtClean="0">
                          <a:solidFill>
                            <a:srgbClr val="FF0000"/>
                          </a:solidFill>
                        </a:rPr>
                        <a:t>*</a:t>
                      </a:r>
                      <a:endParaRPr lang="zh-TW" altLang="en-US" dirty="0">
                        <a:solidFill>
                          <a:srgbClr val="FF0000"/>
                        </a:solidFill>
                      </a:endParaRPr>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rgbClr val="FF0000"/>
                          </a:solidFill>
                        </a:rPr>
                        <a:t>*</a:t>
                      </a: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rgbClr val="FF0000"/>
                          </a:solidFill>
                        </a:rPr>
                        <a:t>*</a:t>
                      </a:r>
                      <a:endParaRPr lang="zh-TW" altLang="en-US" dirty="0">
                        <a:solidFill>
                          <a:srgbClr val="FF0000"/>
                        </a:solidFill>
                      </a:endParaRPr>
                    </a:p>
                  </a:txBody>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rgbClr val="FF0000"/>
                          </a:solidFill>
                        </a:rPr>
                        <a:t>*</a:t>
                      </a:r>
                      <a:endParaRPr lang="zh-TW" altLang="en-US" dirty="0">
                        <a:solidFill>
                          <a:srgbClr val="FF0000"/>
                        </a:solidFill>
                      </a:endParaRPr>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extLst>
              <p:ext uri="{D42A27DB-BD31-4B8C-83A1-F6EECF244321}">
                <p14:modId xmlns="" xmlns:p14="http://schemas.microsoft.com/office/powerpoint/2010/main" val="1749572978"/>
              </p:ext>
            </p:extLst>
          </p:nvPr>
        </p:nvGraphicFramePr>
        <p:xfrm>
          <a:off x="755576" y="4734436"/>
          <a:ext cx="3168352" cy="1828800"/>
        </p:xfrm>
        <a:graphic>
          <a:graphicData uri="http://schemas.openxmlformats.org/drawingml/2006/table">
            <a:tbl>
              <a:tblPr firstRow="1" bandRow="1">
                <a:tableStyleId>{5C22544A-7EE6-4342-B048-85BDC9FD1C3A}</a:tableStyleId>
              </a:tblPr>
              <a:tblGrid>
                <a:gridCol w="396044"/>
                <a:gridCol w="396044"/>
                <a:gridCol w="396044"/>
                <a:gridCol w="396044"/>
                <a:gridCol w="396044"/>
                <a:gridCol w="396044"/>
                <a:gridCol w="396044"/>
                <a:gridCol w="396044"/>
              </a:tblGrid>
              <a:tr h="0">
                <a:tc>
                  <a:txBody>
                    <a:bodyPr/>
                    <a:lstStyle/>
                    <a:p>
                      <a:pPr algn="ctr"/>
                      <a:endParaRPr lang="zh-TW" altLang="en-US" dirty="0"/>
                    </a:p>
                  </a:txBody>
                  <a:tcPr>
                    <a:lnTlToBr w="12700" cap="flat" cmpd="sng" algn="ctr">
                      <a:noFill/>
                      <a:prstDash val="solid"/>
                      <a:round/>
                      <a:headEnd type="none" w="med" len="med"/>
                      <a:tailEnd type="none" w="med" len="med"/>
                    </a:lnTlToBr>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0">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4</a:t>
                      </a:r>
                      <a:endParaRPr lang="zh-TW" altLang="en-US" dirty="0">
                        <a:solidFill>
                          <a:srgbClr val="FF0000"/>
                        </a:solidFill>
                      </a:endParaRPr>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 xmlns:p14="http://schemas.microsoft.com/office/powerpoint/2010/main" val="2181857323"/>
              </p:ext>
            </p:extLst>
          </p:nvPr>
        </p:nvGraphicFramePr>
        <p:xfrm>
          <a:off x="4860036" y="4725144"/>
          <a:ext cx="3600396" cy="1828800"/>
        </p:xfrm>
        <a:graphic>
          <a:graphicData uri="http://schemas.openxmlformats.org/drawingml/2006/table">
            <a:tbl>
              <a:tblPr firstRow="1" bandRow="1">
                <a:tableStyleId>{5C22544A-7EE6-4342-B048-85BDC9FD1C3A}</a:tableStyleId>
              </a:tblPr>
              <a:tblGrid>
                <a:gridCol w="400044"/>
                <a:gridCol w="400044"/>
                <a:gridCol w="400044"/>
                <a:gridCol w="400044"/>
                <a:gridCol w="400044"/>
                <a:gridCol w="400044"/>
                <a:gridCol w="400044"/>
                <a:gridCol w="400044"/>
                <a:gridCol w="400044"/>
              </a:tblGrid>
              <a:tr h="158418">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158418">
                <a:tc>
                  <a:txBody>
                    <a:bodyPr/>
                    <a:lstStyle/>
                    <a:p>
                      <a:pPr algn="ctr"/>
                      <a:r>
                        <a:rPr lang="en-US" altLang="zh-TW" dirty="0" smtClean="0">
                          <a:solidFill>
                            <a:srgbClr val="FF0000"/>
                          </a:solidFill>
                        </a:rPr>
                        <a:t>a</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b</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c</a:t>
                      </a:r>
                      <a:endParaRPr lang="zh-TW" altLang="en-US" dirty="0">
                        <a:solidFill>
                          <a:srgbClr val="FF0000"/>
                        </a:solidFill>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d</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bl>
          </a:graphicData>
        </a:graphic>
      </p:graphicFrame>
      <mc:AlternateContent xmlns:mc="http://schemas.openxmlformats.org/markup-compatibility/2006">
        <mc:Choice xmlns="" xmlns:a14="http://schemas.microsoft.com/office/drawing/2010/main" Requires="a14">
          <p:sp>
            <p:nvSpPr>
              <p:cNvPr id="7" name="矩形 6"/>
              <p:cNvSpPr/>
              <p:nvPr/>
            </p:nvSpPr>
            <p:spPr>
              <a:xfrm>
                <a:off x="1578389" y="4365104"/>
                <a:ext cx="1679434" cy="369332"/>
              </a:xfrm>
              <a:prstGeom prst="rect">
                <a:avLst/>
              </a:prstGeom>
            </p:spPr>
            <p:txBody>
              <a:bodyPr wrap="none">
                <a:spAutoFit/>
              </a:bodyPr>
              <a:lstStyle/>
              <a:p>
                <a14:m>
                  <m:oMath xmlns:m="http://schemas.openxmlformats.org/officeDocument/2006/math">
                    <m:r>
                      <m:rPr>
                        <m:sty m:val="p"/>
                      </m:rPr>
                      <a:rPr lang="el-GR" altLang="zh-TW" i="1">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a:t/>
                </a:r>
                <a:endParaRPr lang="zh-TW" altLang="en-US" dirty="0"/>
              </a:p>
            </p:txBody>
          </p:sp>
        </mc:Choice>
        <mc:Fallback>
          <p:sp>
            <p:nvSpPr>
              <p:cNvPr id="7" name="矩形 6"/>
              <p:cNvSpPr>
                <a:spLocks noRot="1" noChangeAspect="1" noMove="1" noResize="1" noEditPoints="1" noAdjustHandles="1" noChangeArrowheads="1" noChangeShapeType="1" noTextEdit="1"/>
              </p:cNvSpPr>
              <p:nvPr/>
            </p:nvSpPr>
            <p:spPr>
              <a:xfrm>
                <a:off x="1578389" y="4365104"/>
                <a:ext cx="1679434" cy="369332"/>
              </a:xfrm>
              <a:prstGeom prst="rect">
                <a:avLst/>
              </a:prstGeom>
              <a:blipFill rotWithShape="1">
                <a:blip r:embed="rId2"/>
                <a:stretch>
                  <a:fillRect/>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8" name="矩形 7"/>
              <p:cNvSpPr/>
              <p:nvPr/>
            </p:nvSpPr>
            <p:spPr>
              <a:xfrm>
                <a:off x="5652124" y="4365104"/>
                <a:ext cx="1593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m:oMathPara>
                </a14:m>
                <a:endParaRPr lang="zh-TW" altLang="en-US" dirty="0"/>
              </a:p>
            </p:txBody>
          </p:sp>
        </mc:Choice>
        <mc:Fallback>
          <p:sp>
            <p:nvSpPr>
              <p:cNvPr id="8" name="矩形 7"/>
              <p:cNvSpPr>
                <a:spLocks noRot="1" noChangeAspect="1" noMove="1" noResize="1" noEditPoints="1" noAdjustHandles="1" noChangeArrowheads="1" noChangeShapeType="1" noTextEdit="1"/>
              </p:cNvSpPr>
              <p:nvPr/>
            </p:nvSpPr>
            <p:spPr>
              <a:xfrm>
                <a:off x="5652124" y="4365104"/>
                <a:ext cx="1593962" cy="369332"/>
              </a:xfrm>
              <a:prstGeom prst="rect">
                <a:avLst/>
              </a:prstGeom>
              <a:blipFill rotWithShape="1">
                <a:blip r:embed="rId3"/>
                <a:stretch>
                  <a:fillRect b="-13115"/>
                </a:stretch>
              </a:blipFill>
            </p:spPr>
            <p:txBody>
              <a:bodyPr/>
              <a:lstStyle/>
              <a:p>
                <a:r>
                  <a:rPr lang="zh-TW" altLang="en-US">
                    <a:noFill/>
                  </a:rPr>
                  <a:t> </a:t>
                </a:r>
              </a:p>
            </p:txBody>
          </p:sp>
        </mc:Fallback>
      </mc:AlternateContent>
      <p:sp>
        <p:nvSpPr>
          <p:cNvPr id="9" name="矩形 8"/>
          <p:cNvSpPr/>
          <p:nvPr/>
        </p:nvSpPr>
        <p:spPr>
          <a:xfrm>
            <a:off x="1979712" y="4745511"/>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6084168" y="4792109"/>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graphicFrame>
            <p:nvGraphicFramePr>
              <p:cNvPr id="11" name="表格 10"/>
              <p:cNvGraphicFramePr>
                <a:graphicFrameLocks noGrp="1"/>
              </p:cNvGraphicFramePr>
              <p:nvPr>
                <p:extLst>
                  <p:ext uri="{D42A27DB-BD31-4B8C-83A1-F6EECF244321}">
                    <p14:modId xmlns:p14="http://schemas.microsoft.com/office/powerpoint/2010/main" val="2780943902"/>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0</m:t>
                                    </m:r>
                                  </m:sup>
                                </m:sSup>
                              </m:oMath>
                            </m:oMathPara>
                          </a14:m>
                          <a:endParaRPr lang="zh-TW" altLang="en-US" dirty="0"/>
                        </a:p>
                      </a:txBody>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1</m:t>
                                    </m:r>
                                  </m:sup>
                                </m:sSup>
                              </m:oMath>
                            </m:oMathPara>
                          </a14:m>
                          <a:endParaRPr lang="zh-TW" altLang="en-US" dirty="0"/>
                        </a:p>
                      </a:txBody>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r>
                            <a:rPr lang="en-US" altLang="zh-TW" dirty="0" smtClean="0"/>
                            <a:t>[5, 1]</a:t>
                          </a:r>
                          <a:endParaRPr lang="zh-TW" altLang="en-US"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2</m:t>
                                    </m:r>
                                  </m:sup>
                                </m:sSup>
                              </m:oMath>
                            </m:oMathPara>
                          </a14:m>
                          <a:endParaRPr lang="zh-TW" altLang="en-US" dirty="0"/>
                        </a:p>
                      </a:txBody>
                      <a:tcPr/>
                    </a:tc>
                    <a:tc>
                      <a:txBody>
                        <a:bodyPr/>
                        <a:lstStyle/>
                        <a:p>
                          <a:pPr algn="ctr"/>
                          <a:r>
                            <a:rPr lang="en-US" altLang="zh-TW" dirty="0" smtClean="0"/>
                            <a:t>[2, 6]</a:t>
                          </a:r>
                          <a:endParaRPr lang="zh-TW" altLang="en-US" dirty="0"/>
                        </a:p>
                      </a:txBody>
                      <a:tcPr/>
                    </a:tc>
                    <a:tc>
                      <a:txBody>
                        <a:bodyPr/>
                        <a:lstStyle/>
                        <a:p>
                          <a:pPr algn="ctr"/>
                          <a:r>
                            <a:rPr lang="en-US" altLang="zh-TW" b="1" dirty="0" smtClean="0"/>
                            <a:t>[4, 4]</a:t>
                          </a:r>
                          <a:endParaRPr lang="zh-TW" altLang="en-US" b="1" dirty="0"/>
                        </a:p>
                      </a:txBody>
                      <a:tcPr/>
                    </a:tc>
                    <a:tc>
                      <a:txBody>
                        <a:bodyPr/>
                        <a:lstStyle/>
                        <a:p>
                          <a:pPr algn="ctr"/>
                          <a:endParaRPr lang="zh-TW" altLang="en-US"/>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3</m:t>
                                    </m:r>
                                  </m:sup>
                                </m:sSup>
                              </m:oMath>
                            </m:oMathPara>
                          </a14:m>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Choice>
        <mc:Fallback>
          <p:graphicFrame>
            <p:nvGraphicFramePr>
              <p:cNvPr id="11" name="表格 10"/>
              <p:cNvGraphicFramePr>
                <a:graphicFrameLocks noGrp="1"/>
              </p:cNvGraphicFramePr>
              <p:nvPr>
                <p:extLst>
                  <p:ext uri="{D42A27DB-BD31-4B8C-83A1-F6EECF244321}">
                    <p14:modId xmlns="" xmlns:p14="http://schemas.microsoft.com/office/powerpoint/2010/main" val="2780943902"/>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endParaRPr lang="zh-TW"/>
                        </a:p>
                      </a:txBody>
                      <a:tcPr>
                        <a:blipFill rotWithShape="1">
                          <a:blip r:embed="rId4"/>
                          <a:stretch>
                            <a:fillRect l="-633" t="-8197" r="-298734" b="-298361"/>
                          </a:stretch>
                        </a:blipFill>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endParaRPr lang="zh-TW"/>
                        </a:p>
                      </a:txBody>
                      <a:tcPr>
                        <a:blipFill rotWithShape="1">
                          <a:blip r:embed="rId4"/>
                          <a:stretch>
                            <a:fillRect l="-633" t="-108197" r="-298734" b="-198361"/>
                          </a:stretch>
                        </a:blipFill>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r>
                            <a:rPr lang="en-US" altLang="zh-TW" dirty="0" smtClean="0"/>
                            <a:t>[5, 1]</a:t>
                          </a:r>
                          <a:endParaRPr lang="zh-TW" altLang="en-US" dirty="0"/>
                        </a:p>
                      </a:txBody>
                      <a:tcPr/>
                    </a:tc>
                  </a:tr>
                  <a:tr h="370840">
                    <a:tc>
                      <a:txBody>
                        <a:bodyPr/>
                        <a:lstStyle/>
                        <a:p>
                          <a:endParaRPr lang="zh-TW"/>
                        </a:p>
                      </a:txBody>
                      <a:tcPr>
                        <a:blipFill rotWithShape="1">
                          <a:blip r:embed="rId4"/>
                          <a:stretch>
                            <a:fillRect l="-633" t="-211667" r="-298734" b="-101667"/>
                          </a:stretch>
                        </a:blipFill>
                      </a:tcPr>
                    </a:tc>
                    <a:tc>
                      <a:txBody>
                        <a:bodyPr/>
                        <a:lstStyle/>
                        <a:p>
                          <a:pPr algn="ctr"/>
                          <a:r>
                            <a:rPr lang="en-US" altLang="zh-TW" dirty="0" smtClean="0"/>
                            <a:t>[2, 6]</a:t>
                          </a:r>
                          <a:endParaRPr lang="zh-TW" altLang="en-US" dirty="0"/>
                        </a:p>
                      </a:txBody>
                      <a:tcPr/>
                    </a:tc>
                    <a:tc>
                      <a:txBody>
                        <a:bodyPr/>
                        <a:lstStyle/>
                        <a:p>
                          <a:pPr algn="ctr"/>
                          <a:r>
                            <a:rPr lang="en-US" altLang="zh-TW" b="1" dirty="0" smtClean="0"/>
                            <a:t>[4, 4]</a:t>
                          </a:r>
                          <a:endParaRPr lang="zh-TW" altLang="en-US" b="1" dirty="0"/>
                        </a:p>
                      </a:txBody>
                      <a:tcPr/>
                    </a:tc>
                    <a:tc>
                      <a:txBody>
                        <a:bodyPr/>
                        <a:lstStyle/>
                        <a:p>
                          <a:pPr algn="ctr"/>
                          <a:endParaRPr lang="zh-TW" altLang="en-US"/>
                        </a:p>
                      </a:txBody>
                      <a:tcPr/>
                    </a:tc>
                  </a:tr>
                  <a:tr h="370840">
                    <a:tc>
                      <a:txBody>
                        <a:bodyPr/>
                        <a:lstStyle/>
                        <a:p>
                          <a:endParaRPr lang="zh-TW"/>
                        </a:p>
                      </a:txBody>
                      <a:tcPr>
                        <a:blipFill rotWithShape="1">
                          <a:blip r:embed="rId4"/>
                          <a:stretch>
                            <a:fillRect l="-633" t="-306557" r="-298734"/>
                          </a:stretch>
                        </a:blip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Fallback>
      </mc:AlternateContent>
      <p:sp>
        <p:nvSpPr>
          <p:cNvPr id="13" name="矩形 12"/>
          <p:cNvSpPr/>
          <p:nvPr/>
        </p:nvSpPr>
        <p:spPr>
          <a:xfrm>
            <a:off x="1979712" y="2590609"/>
            <a:ext cx="1368152" cy="105441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1514967" y="2162724"/>
            <a:ext cx="432048" cy="43204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sp>
            <p:nvSpPr>
              <p:cNvPr id="15" name="矩形 14"/>
              <p:cNvSpPr/>
              <p:nvPr/>
            </p:nvSpPr>
            <p:spPr>
              <a:xfrm>
                <a:off x="5200205" y="1532582"/>
                <a:ext cx="2497800" cy="954107"/>
              </a:xfrm>
              <a:prstGeom prst="rect">
                <a:avLst/>
              </a:prstGeom>
            </p:spPr>
            <p:txBody>
              <a:bodyPr wrap="none">
                <a:spAutoFit/>
              </a:bodyPr>
              <a:lstStyle/>
              <a:p>
                <a14:m>
                  <m:oMath xmlns:m="http://schemas.openxmlformats.org/officeDocument/2006/math">
                    <m:r>
                      <m:rPr>
                        <m:sty m:val="p"/>
                      </m:rPr>
                      <a:rPr lang="el-GR" altLang="zh-TW" sz="2800" i="1" smtClean="0">
                        <a:latin typeface="Cambria Math"/>
                      </a:rPr>
                      <m:t>α</m:t>
                    </m:r>
                  </m:oMath>
                </a14:m>
                <a:r>
                  <a:rPr lang="zh-TW" altLang="en-US" sz="2800" dirty="0" smtClean="0"/>
                  <a:t/>
                </a:r>
                <a:r>
                  <a:rPr lang="en-US" altLang="zh-TW" sz="2800" dirty="0" smtClean="0"/>
                  <a:t>= c b </a:t>
                </a:r>
                <a:r>
                  <a:rPr lang="en-US" altLang="zh-TW" sz="2800" dirty="0" err="1" smtClean="0"/>
                  <a:t>b</a:t>
                </a:r>
                <a:r>
                  <a:rPr lang="en-US" altLang="zh-TW" sz="2800" dirty="0" smtClean="0"/>
                  <a:t> d a c</a:t>
                </a:r>
                <a:br>
                  <a:rPr lang="en-US" altLang="zh-TW" sz="2800" dirty="0" smtClean="0"/>
                </a:br>
                <a14:m>
                  <m:oMath xmlns:m="http://schemas.openxmlformats.org/officeDocument/2006/math">
                    <m:r>
                      <m:rPr>
                        <m:sty m:val="p"/>
                      </m:rPr>
                      <a:rPr lang="el-GR" altLang="zh-TW" sz="2800" i="1">
                        <a:latin typeface="Cambria Math"/>
                      </a:rPr>
                      <m:t>β</m:t>
                    </m:r>
                  </m:oMath>
                </a14:m>
                <a:r>
                  <a:rPr lang="en-US" altLang="zh-TW" sz="2800" b="0" dirty="0" smtClean="0"/>
                  <a:t> = a b c d </a:t>
                </a:r>
                <a:r>
                  <a:rPr lang="en-US" altLang="zh-TW" sz="2800" b="0" dirty="0" err="1" smtClean="0"/>
                  <a:t>d</a:t>
                </a:r>
                <a:r>
                  <a:rPr lang="en-US" altLang="zh-TW" sz="2800" b="0" dirty="0" smtClean="0"/>
                  <a:t> b a</a:t>
                </a:r>
              </a:p>
            </p:txBody>
          </p:sp>
        </mc:Choice>
        <mc:Fallback>
          <p:sp>
            <p:nvSpPr>
              <p:cNvPr id="15" name="矩形 14"/>
              <p:cNvSpPr>
                <a:spLocks noRot="1" noChangeAspect="1" noMove="1" noResize="1" noEditPoints="1" noAdjustHandles="1" noChangeArrowheads="1" noChangeShapeType="1" noTextEdit="1"/>
              </p:cNvSpPr>
              <p:nvPr/>
            </p:nvSpPr>
            <p:spPr>
              <a:xfrm>
                <a:off x="5200205" y="1532582"/>
                <a:ext cx="2497800" cy="954107"/>
              </a:xfrm>
              <a:prstGeom prst="rect">
                <a:avLst/>
              </a:prstGeom>
              <a:blipFill rotWithShape="1">
                <a:blip r:embed="rId5"/>
                <a:stretch>
                  <a:fillRect t="-6369" r="-4146" b="-16561"/>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16" name="文字方塊 15"/>
              <p:cNvSpPr txBox="1"/>
              <p:nvPr/>
            </p:nvSpPr>
            <p:spPr>
              <a:xfrm>
                <a:off x="570654" y="980728"/>
                <a:ext cx="946285" cy="391646"/>
              </a:xfrm>
              <a:prstGeom prst="rect">
                <a:avLst/>
              </a:prstGeom>
              <a:noFill/>
            </p:spPr>
            <p:txBody>
              <a:bodyPr wrap="none" rtlCol="0">
                <a:spAutoFit/>
              </a:bodyPr>
              <a:lstStyle/>
              <a:p>
                <a:r>
                  <a:rPr lang="zh-TW" altLang="en-US" dirty="0" smtClean="0"/>
                  <a:t>尋找</a:t>
                </a:r>
                <a14:m>
                  <m:oMath xmlns:m="http://schemas.openxmlformats.org/officeDocument/2006/math">
                    <m:sSub>
                      <m:sSubPr>
                        <m:ctrlPr>
                          <a:rPr lang="en-US" altLang="zh-TW" i="1">
                            <a:latin typeface="Cambria Math"/>
                          </a:rPr>
                        </m:ctrlPr>
                      </m:sSubPr>
                      <m:e>
                        <m:r>
                          <a:rPr lang="en-US" altLang="zh-TW" b="0" i="1" smtClean="0">
                            <a:latin typeface="Cambria Math"/>
                          </a:rPr>
                          <m:t>𝐷</m:t>
                        </m:r>
                      </m:e>
                      <m:sub>
                        <m:r>
                          <a:rPr lang="en-US" altLang="zh-TW" i="1">
                            <a:latin typeface="Cambria Math"/>
                          </a:rPr>
                          <m:t>𝑖𝑗</m:t>
                        </m:r>
                      </m:sub>
                    </m:sSub>
                  </m:oMath>
                </a14:m>
                <a:endParaRPr lang="zh-TW" altLang="en-US" dirty="0"/>
              </a:p>
            </p:txBody>
          </p:sp>
        </mc:Choice>
        <mc:Fallback>
          <p:sp>
            <p:nvSpPr>
              <p:cNvPr id="16" name="文字方塊 15"/>
              <p:cNvSpPr txBox="1">
                <a:spLocks noRot="1" noChangeAspect="1" noMove="1" noResize="1" noEditPoints="1" noAdjustHandles="1" noChangeArrowheads="1" noChangeShapeType="1" noTextEdit="1"/>
              </p:cNvSpPr>
              <p:nvPr/>
            </p:nvSpPr>
            <p:spPr>
              <a:xfrm>
                <a:off x="570654" y="980728"/>
                <a:ext cx="946285" cy="391646"/>
              </a:xfrm>
              <a:prstGeom prst="rect">
                <a:avLst/>
              </a:prstGeom>
              <a:blipFill rotWithShape="1">
                <a:blip r:embed="rId6"/>
                <a:stretch>
                  <a:fillRect l="-5806" t="-6250" b="-20313"/>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41236793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p:graphicFrame>
        <p:nvGraphicFramePr>
          <p:cNvPr id="4" name="內容版面配置區 3"/>
          <p:cNvGraphicFramePr>
            <a:graphicFrameLocks noGrp="1"/>
          </p:cNvGraphicFramePr>
          <p:nvPr>
            <p:ph idx="1"/>
            <p:extLst>
              <p:ext uri="{D42A27DB-BD31-4B8C-83A1-F6EECF244321}">
                <p14:modId xmlns="" xmlns:p14="http://schemas.microsoft.com/office/powerpoint/2010/main" val="3779388540"/>
              </p:ext>
            </p:extLst>
          </p:nvPr>
        </p:nvGraphicFramePr>
        <p:xfrm>
          <a:off x="581902" y="1484784"/>
          <a:ext cx="3672408" cy="2595880"/>
        </p:xfrm>
        <a:graphic>
          <a:graphicData uri="http://schemas.openxmlformats.org/drawingml/2006/table">
            <a:tbl>
              <a:tblPr firstRow="1" bandRow="1">
                <a:tableStyleId>{5C22544A-7EE6-4342-B048-85BDC9FD1C3A}</a:tableStyleId>
              </a:tblPr>
              <a:tblGrid>
                <a:gridCol w="459051"/>
                <a:gridCol w="459051"/>
                <a:gridCol w="459051"/>
                <a:gridCol w="459051"/>
                <a:gridCol w="459051"/>
                <a:gridCol w="459051"/>
                <a:gridCol w="459051"/>
                <a:gridCol w="459051"/>
              </a:tblGrid>
              <a:tr h="370840">
                <a:tc>
                  <a:txBody>
                    <a:bodyPr/>
                    <a:lstStyle/>
                    <a:p>
                      <a:pPr algn="ctr"/>
                      <a:r>
                        <a:rPr lang="en-US" altLang="zh-TW" dirty="0" smtClean="0"/>
                        <a:t>0</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solidFill>
                          <a:srgbClr val="FF0000"/>
                        </a:solidFill>
                      </a:endParaRPr>
                    </a:p>
                  </a:txBody>
                  <a:tcPr/>
                </a:tc>
                <a:tc>
                  <a:txBody>
                    <a:bodyPr/>
                    <a:lstStyle/>
                    <a:p>
                      <a:pPr algn="ctr"/>
                      <a:r>
                        <a:rPr lang="en-US" altLang="zh-TW" dirty="0" smtClean="0">
                          <a:solidFill>
                            <a:srgbClr val="FF0000"/>
                          </a:solidFill>
                        </a:rPr>
                        <a:t>*</a:t>
                      </a:r>
                      <a:endParaRPr lang="zh-TW" altLang="en-US" dirty="0">
                        <a:solidFill>
                          <a:srgbClr val="FF0000"/>
                        </a:solidFill>
                      </a:endParaRPr>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rgbClr val="FF0000"/>
                          </a:solidFill>
                        </a:rPr>
                        <a:t>*</a:t>
                      </a:r>
                      <a:endParaRPr lang="zh-TW" altLang="en-US" dirty="0">
                        <a:solidFill>
                          <a:srgbClr val="FF0000"/>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rgbClr val="FF0000"/>
                          </a:solidFill>
                        </a:rPr>
                        <a:t>*</a:t>
                      </a:r>
                      <a:endParaRPr lang="zh-TW" altLang="en-US" dirty="0">
                        <a:solidFill>
                          <a:srgbClr val="FF0000"/>
                        </a:solidFill>
                      </a:endParaRPr>
                    </a:p>
                  </a:txBody>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rgbClr val="FF0000"/>
                          </a:solidFill>
                        </a:rPr>
                        <a:t>*</a:t>
                      </a:r>
                      <a:endParaRPr lang="zh-TW" altLang="en-US" dirty="0">
                        <a:solidFill>
                          <a:srgbClr val="FF0000"/>
                        </a:solidFill>
                      </a:endParaRPr>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extLst>
              <p:ext uri="{D42A27DB-BD31-4B8C-83A1-F6EECF244321}">
                <p14:modId xmlns="" xmlns:p14="http://schemas.microsoft.com/office/powerpoint/2010/main" val="1221015572"/>
              </p:ext>
            </p:extLst>
          </p:nvPr>
        </p:nvGraphicFramePr>
        <p:xfrm>
          <a:off x="755576" y="4734436"/>
          <a:ext cx="3168352" cy="1828800"/>
        </p:xfrm>
        <a:graphic>
          <a:graphicData uri="http://schemas.openxmlformats.org/drawingml/2006/table">
            <a:tbl>
              <a:tblPr firstRow="1" bandRow="1">
                <a:tableStyleId>{5C22544A-7EE6-4342-B048-85BDC9FD1C3A}</a:tableStyleId>
              </a:tblPr>
              <a:tblGrid>
                <a:gridCol w="396044"/>
                <a:gridCol w="396044"/>
                <a:gridCol w="396044"/>
                <a:gridCol w="396044"/>
                <a:gridCol w="396044"/>
                <a:gridCol w="396044"/>
                <a:gridCol w="396044"/>
                <a:gridCol w="396044"/>
              </a:tblGrid>
              <a:tr h="0">
                <a:tc>
                  <a:txBody>
                    <a:bodyPr/>
                    <a:lstStyle/>
                    <a:p>
                      <a:pPr algn="ctr"/>
                      <a:endParaRPr lang="zh-TW" altLang="en-US" dirty="0"/>
                    </a:p>
                  </a:txBody>
                  <a:tcPr>
                    <a:lnTlToBr w="12700" cap="flat" cmpd="sng" algn="ctr">
                      <a:noFill/>
                      <a:prstDash val="solid"/>
                      <a:round/>
                      <a:headEnd type="none" w="med" len="med"/>
                      <a:tailEnd type="none" w="med" len="med"/>
                    </a:lnTlToBr>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0">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4</a:t>
                      </a:r>
                      <a:endParaRPr lang="zh-TW" altLang="en-US" dirty="0">
                        <a:solidFill>
                          <a:srgbClr val="FF0000"/>
                        </a:solidFill>
                      </a:endParaRPr>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 xmlns:p14="http://schemas.microsoft.com/office/powerpoint/2010/main" val="1875582567"/>
              </p:ext>
            </p:extLst>
          </p:nvPr>
        </p:nvGraphicFramePr>
        <p:xfrm>
          <a:off x="4860036" y="4725144"/>
          <a:ext cx="3600396" cy="1828800"/>
        </p:xfrm>
        <a:graphic>
          <a:graphicData uri="http://schemas.openxmlformats.org/drawingml/2006/table">
            <a:tbl>
              <a:tblPr firstRow="1" bandRow="1">
                <a:tableStyleId>{5C22544A-7EE6-4342-B048-85BDC9FD1C3A}</a:tableStyleId>
              </a:tblPr>
              <a:tblGrid>
                <a:gridCol w="400044"/>
                <a:gridCol w="400044"/>
                <a:gridCol w="400044"/>
                <a:gridCol w="400044"/>
                <a:gridCol w="400044"/>
                <a:gridCol w="400044"/>
                <a:gridCol w="400044"/>
                <a:gridCol w="400044"/>
                <a:gridCol w="400044"/>
              </a:tblGrid>
              <a:tr h="158418">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158418">
                <a:tc>
                  <a:txBody>
                    <a:bodyPr/>
                    <a:lstStyle/>
                    <a:p>
                      <a:pPr algn="ctr"/>
                      <a:r>
                        <a:rPr lang="en-US" altLang="zh-TW" dirty="0" smtClean="0">
                          <a:solidFill>
                            <a:srgbClr val="FF0000"/>
                          </a:solidFill>
                        </a:rPr>
                        <a:t>a</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b</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c</a:t>
                      </a:r>
                      <a:endParaRPr lang="zh-TW" altLang="en-US" dirty="0">
                        <a:solidFill>
                          <a:srgbClr val="FF0000"/>
                        </a:solidFill>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d</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bl>
          </a:graphicData>
        </a:graphic>
      </p:graphicFrame>
      <mc:AlternateContent xmlns:mc="http://schemas.openxmlformats.org/markup-compatibility/2006">
        <mc:Choice xmlns="" xmlns:a14="http://schemas.microsoft.com/office/drawing/2010/main" Requires="a14">
          <p:sp>
            <p:nvSpPr>
              <p:cNvPr id="7" name="矩形 6"/>
              <p:cNvSpPr/>
              <p:nvPr/>
            </p:nvSpPr>
            <p:spPr>
              <a:xfrm>
                <a:off x="1578389" y="4365104"/>
                <a:ext cx="1679434" cy="369332"/>
              </a:xfrm>
              <a:prstGeom prst="rect">
                <a:avLst/>
              </a:prstGeom>
            </p:spPr>
            <p:txBody>
              <a:bodyPr wrap="none">
                <a:spAutoFit/>
              </a:bodyPr>
              <a:lstStyle/>
              <a:p>
                <a14:m>
                  <m:oMath xmlns:m="http://schemas.openxmlformats.org/officeDocument/2006/math">
                    <m:r>
                      <m:rPr>
                        <m:sty m:val="p"/>
                      </m:rPr>
                      <a:rPr lang="el-GR" altLang="zh-TW" i="1">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a:t/>
                </a:r>
                <a:endParaRPr lang="zh-TW" altLang="en-US" dirty="0"/>
              </a:p>
            </p:txBody>
          </p:sp>
        </mc:Choice>
        <mc:Fallback>
          <p:sp>
            <p:nvSpPr>
              <p:cNvPr id="7" name="矩形 6"/>
              <p:cNvSpPr>
                <a:spLocks noRot="1" noChangeAspect="1" noMove="1" noResize="1" noEditPoints="1" noAdjustHandles="1" noChangeArrowheads="1" noChangeShapeType="1" noTextEdit="1"/>
              </p:cNvSpPr>
              <p:nvPr/>
            </p:nvSpPr>
            <p:spPr>
              <a:xfrm>
                <a:off x="1578389" y="4365104"/>
                <a:ext cx="1679434" cy="369332"/>
              </a:xfrm>
              <a:prstGeom prst="rect">
                <a:avLst/>
              </a:prstGeom>
              <a:blipFill rotWithShape="1">
                <a:blip r:embed="rId2"/>
                <a:stretch>
                  <a:fillRect/>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8" name="矩形 7"/>
              <p:cNvSpPr/>
              <p:nvPr/>
            </p:nvSpPr>
            <p:spPr>
              <a:xfrm>
                <a:off x="5652124" y="4365104"/>
                <a:ext cx="1593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m:oMathPara>
                </a14:m>
                <a:endParaRPr lang="zh-TW" altLang="en-US" dirty="0"/>
              </a:p>
            </p:txBody>
          </p:sp>
        </mc:Choice>
        <mc:Fallback>
          <p:sp>
            <p:nvSpPr>
              <p:cNvPr id="8" name="矩形 7"/>
              <p:cNvSpPr>
                <a:spLocks noRot="1" noChangeAspect="1" noMove="1" noResize="1" noEditPoints="1" noAdjustHandles="1" noChangeArrowheads="1" noChangeShapeType="1" noTextEdit="1"/>
              </p:cNvSpPr>
              <p:nvPr/>
            </p:nvSpPr>
            <p:spPr>
              <a:xfrm>
                <a:off x="5652124" y="4365104"/>
                <a:ext cx="1593962" cy="369332"/>
              </a:xfrm>
              <a:prstGeom prst="rect">
                <a:avLst/>
              </a:prstGeom>
              <a:blipFill rotWithShape="1">
                <a:blip r:embed="rId3"/>
                <a:stretch>
                  <a:fillRect b="-13115"/>
                </a:stretch>
              </a:blipFill>
            </p:spPr>
            <p:txBody>
              <a:bodyPr/>
              <a:lstStyle/>
              <a:p>
                <a:r>
                  <a:rPr lang="zh-TW" altLang="en-US">
                    <a:noFill/>
                  </a:rPr>
                  <a:t> </a:t>
                </a:r>
              </a:p>
            </p:txBody>
          </p:sp>
        </mc:Fallback>
      </mc:AlternateContent>
      <p:sp>
        <p:nvSpPr>
          <p:cNvPr id="9" name="矩形 8"/>
          <p:cNvSpPr/>
          <p:nvPr/>
        </p:nvSpPr>
        <p:spPr>
          <a:xfrm>
            <a:off x="1619672" y="4745511"/>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6516216" y="4792109"/>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graphicFrame>
            <p:nvGraphicFramePr>
              <p:cNvPr id="11" name="表格 10"/>
              <p:cNvGraphicFramePr>
                <a:graphicFrameLocks noGrp="1"/>
              </p:cNvGraphicFramePr>
              <p:nvPr>
                <p:extLst>
                  <p:ext uri="{D42A27DB-BD31-4B8C-83A1-F6EECF244321}">
                    <p14:modId xmlns:p14="http://schemas.microsoft.com/office/powerpoint/2010/main" val="20830920"/>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0</m:t>
                                    </m:r>
                                  </m:sup>
                                </m:sSup>
                              </m:oMath>
                            </m:oMathPara>
                          </a14:m>
                          <a:endParaRPr lang="zh-TW" altLang="en-US" dirty="0"/>
                        </a:p>
                      </a:txBody>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1</m:t>
                                    </m:r>
                                  </m:sup>
                                </m:sSup>
                              </m:oMath>
                            </m:oMathPara>
                          </a14:m>
                          <a:endParaRPr lang="zh-TW" altLang="en-US" dirty="0"/>
                        </a:p>
                      </a:txBody>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r>
                            <a:rPr lang="en-US" altLang="zh-TW" dirty="0" smtClean="0"/>
                            <a:t>[5, 1]</a:t>
                          </a:r>
                          <a:endParaRPr lang="zh-TW" altLang="en-US"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2</m:t>
                                    </m:r>
                                  </m:sup>
                                </m:sSup>
                              </m:oMath>
                            </m:oMathPara>
                          </a14:m>
                          <a:endParaRPr lang="zh-TW" altLang="en-US" dirty="0"/>
                        </a:p>
                      </a:txBody>
                      <a:tcPr/>
                    </a:tc>
                    <a:tc>
                      <a:txBody>
                        <a:bodyPr/>
                        <a:lstStyle/>
                        <a:p>
                          <a:pPr algn="ctr"/>
                          <a:r>
                            <a:rPr lang="en-US" altLang="zh-TW" dirty="0" smtClean="0"/>
                            <a:t>[2, 6]</a:t>
                          </a:r>
                          <a:endParaRPr lang="zh-TW" altLang="en-US" dirty="0"/>
                        </a:p>
                      </a:txBody>
                      <a:tcPr/>
                    </a:tc>
                    <a:tc>
                      <a:txBody>
                        <a:bodyPr/>
                        <a:lstStyle/>
                        <a:p>
                          <a:pPr algn="ctr"/>
                          <a:r>
                            <a:rPr lang="en-US" altLang="zh-TW" dirty="0" smtClean="0"/>
                            <a:t>[4, 4]</a:t>
                          </a:r>
                          <a:endParaRPr lang="zh-TW" altLang="en-US" dirty="0"/>
                        </a:p>
                      </a:txBody>
                      <a:tcPr/>
                    </a:tc>
                    <a:tc>
                      <a:txBody>
                        <a:bodyPr/>
                        <a:lstStyle/>
                        <a:p>
                          <a:pPr algn="ctr"/>
                          <a:r>
                            <a:rPr lang="en-US" altLang="zh-TW" b="1" dirty="0" smtClean="0"/>
                            <a:t>[6, 3]</a:t>
                          </a:r>
                          <a:endParaRPr lang="zh-TW" altLang="en-US" b="1"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3</m:t>
                                    </m:r>
                                  </m:sup>
                                </m:sSup>
                              </m:oMath>
                            </m:oMathPara>
                          </a14:m>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Choice>
        <mc:Fallback>
          <p:graphicFrame>
            <p:nvGraphicFramePr>
              <p:cNvPr id="11" name="表格 10"/>
              <p:cNvGraphicFramePr>
                <a:graphicFrameLocks noGrp="1"/>
              </p:cNvGraphicFramePr>
              <p:nvPr>
                <p:extLst>
                  <p:ext uri="{D42A27DB-BD31-4B8C-83A1-F6EECF244321}">
                    <p14:modId xmlns="" xmlns:p14="http://schemas.microsoft.com/office/powerpoint/2010/main" val="20830920"/>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endParaRPr lang="zh-TW"/>
                        </a:p>
                      </a:txBody>
                      <a:tcPr>
                        <a:blipFill rotWithShape="1">
                          <a:blip r:embed="rId4"/>
                          <a:stretch>
                            <a:fillRect l="-633" t="-8197" r="-298734" b="-298361"/>
                          </a:stretch>
                        </a:blipFill>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endParaRPr lang="zh-TW"/>
                        </a:p>
                      </a:txBody>
                      <a:tcPr>
                        <a:blipFill rotWithShape="1">
                          <a:blip r:embed="rId4"/>
                          <a:stretch>
                            <a:fillRect l="-633" t="-108197" r="-298734" b="-198361"/>
                          </a:stretch>
                        </a:blipFill>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r>
                            <a:rPr lang="en-US" altLang="zh-TW" dirty="0" smtClean="0"/>
                            <a:t>[5, 1]</a:t>
                          </a:r>
                          <a:endParaRPr lang="zh-TW" altLang="en-US" dirty="0"/>
                        </a:p>
                      </a:txBody>
                      <a:tcPr/>
                    </a:tc>
                  </a:tr>
                  <a:tr h="370840">
                    <a:tc>
                      <a:txBody>
                        <a:bodyPr/>
                        <a:lstStyle/>
                        <a:p>
                          <a:endParaRPr lang="zh-TW"/>
                        </a:p>
                      </a:txBody>
                      <a:tcPr>
                        <a:blipFill rotWithShape="1">
                          <a:blip r:embed="rId4"/>
                          <a:stretch>
                            <a:fillRect l="-633" t="-211667" r="-298734" b="-101667"/>
                          </a:stretch>
                        </a:blipFill>
                      </a:tcPr>
                    </a:tc>
                    <a:tc>
                      <a:txBody>
                        <a:bodyPr/>
                        <a:lstStyle/>
                        <a:p>
                          <a:pPr algn="ctr"/>
                          <a:r>
                            <a:rPr lang="en-US" altLang="zh-TW" dirty="0" smtClean="0"/>
                            <a:t>[2, 6]</a:t>
                          </a:r>
                          <a:endParaRPr lang="zh-TW" altLang="en-US" dirty="0"/>
                        </a:p>
                      </a:txBody>
                      <a:tcPr/>
                    </a:tc>
                    <a:tc>
                      <a:txBody>
                        <a:bodyPr/>
                        <a:lstStyle/>
                        <a:p>
                          <a:pPr algn="ctr"/>
                          <a:r>
                            <a:rPr lang="en-US" altLang="zh-TW" dirty="0" smtClean="0"/>
                            <a:t>[4, 4]</a:t>
                          </a:r>
                          <a:endParaRPr lang="zh-TW" altLang="en-US" dirty="0"/>
                        </a:p>
                      </a:txBody>
                      <a:tcPr/>
                    </a:tc>
                    <a:tc>
                      <a:txBody>
                        <a:bodyPr/>
                        <a:lstStyle/>
                        <a:p>
                          <a:pPr algn="ctr"/>
                          <a:r>
                            <a:rPr lang="en-US" altLang="zh-TW" b="1" dirty="0" smtClean="0"/>
                            <a:t>[6, 3]</a:t>
                          </a:r>
                          <a:endParaRPr lang="zh-TW" altLang="en-US" b="1" dirty="0"/>
                        </a:p>
                      </a:txBody>
                      <a:tcPr/>
                    </a:tc>
                  </a:tr>
                  <a:tr h="370840">
                    <a:tc>
                      <a:txBody>
                        <a:bodyPr/>
                        <a:lstStyle/>
                        <a:p>
                          <a:endParaRPr lang="zh-TW"/>
                        </a:p>
                      </a:txBody>
                      <a:tcPr>
                        <a:blipFill rotWithShape="1">
                          <a:blip r:embed="rId4"/>
                          <a:stretch>
                            <a:fillRect l="-633" t="-306557" r="-298734"/>
                          </a:stretch>
                        </a:blip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Fallback>
      </mc:AlternateContent>
      <p:sp>
        <p:nvSpPr>
          <p:cNvPr id="13" name="矩形 12"/>
          <p:cNvSpPr/>
          <p:nvPr/>
        </p:nvSpPr>
        <p:spPr>
          <a:xfrm>
            <a:off x="1521179" y="3662536"/>
            <a:ext cx="896927" cy="3600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1043608" y="3242385"/>
            <a:ext cx="432048" cy="43204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sp>
            <p:nvSpPr>
              <p:cNvPr id="14" name="矩形 13"/>
              <p:cNvSpPr/>
              <p:nvPr/>
            </p:nvSpPr>
            <p:spPr>
              <a:xfrm>
                <a:off x="5200205" y="1532582"/>
                <a:ext cx="2497800" cy="954107"/>
              </a:xfrm>
              <a:prstGeom prst="rect">
                <a:avLst/>
              </a:prstGeom>
            </p:spPr>
            <p:txBody>
              <a:bodyPr wrap="none">
                <a:spAutoFit/>
              </a:bodyPr>
              <a:lstStyle/>
              <a:p>
                <a14:m>
                  <m:oMath xmlns:m="http://schemas.openxmlformats.org/officeDocument/2006/math">
                    <m:r>
                      <m:rPr>
                        <m:sty m:val="p"/>
                      </m:rPr>
                      <a:rPr lang="el-GR" altLang="zh-TW" sz="2800" i="1" smtClean="0">
                        <a:latin typeface="Cambria Math"/>
                      </a:rPr>
                      <m:t>α</m:t>
                    </m:r>
                  </m:oMath>
                </a14:m>
                <a:r>
                  <a:rPr lang="zh-TW" altLang="en-US" sz="2800" dirty="0" smtClean="0"/>
                  <a:t/>
                </a:r>
                <a:r>
                  <a:rPr lang="en-US" altLang="zh-TW" sz="2800" dirty="0" smtClean="0"/>
                  <a:t>= c b </a:t>
                </a:r>
                <a:r>
                  <a:rPr lang="en-US" altLang="zh-TW" sz="2800" dirty="0" err="1" smtClean="0"/>
                  <a:t>b</a:t>
                </a:r>
                <a:r>
                  <a:rPr lang="en-US" altLang="zh-TW" sz="2800" dirty="0" smtClean="0"/>
                  <a:t> d a c</a:t>
                </a:r>
                <a:br>
                  <a:rPr lang="en-US" altLang="zh-TW" sz="2800" dirty="0" smtClean="0"/>
                </a:br>
                <a14:m>
                  <m:oMath xmlns:m="http://schemas.openxmlformats.org/officeDocument/2006/math">
                    <m:r>
                      <m:rPr>
                        <m:sty m:val="p"/>
                      </m:rPr>
                      <a:rPr lang="el-GR" altLang="zh-TW" sz="2800" i="1">
                        <a:latin typeface="Cambria Math"/>
                      </a:rPr>
                      <m:t>β</m:t>
                    </m:r>
                  </m:oMath>
                </a14:m>
                <a:r>
                  <a:rPr lang="en-US" altLang="zh-TW" sz="2800" b="0" dirty="0" smtClean="0"/>
                  <a:t> = a b c d </a:t>
                </a:r>
                <a:r>
                  <a:rPr lang="en-US" altLang="zh-TW" sz="2800" b="0" dirty="0" err="1" smtClean="0"/>
                  <a:t>d</a:t>
                </a:r>
                <a:r>
                  <a:rPr lang="en-US" altLang="zh-TW" sz="2800" b="0" dirty="0" smtClean="0"/>
                  <a:t> b a</a:t>
                </a:r>
              </a:p>
            </p:txBody>
          </p:sp>
        </mc:Choice>
        <mc:Fallback>
          <p:sp>
            <p:nvSpPr>
              <p:cNvPr id="14" name="矩形 13"/>
              <p:cNvSpPr>
                <a:spLocks noRot="1" noChangeAspect="1" noMove="1" noResize="1" noEditPoints="1" noAdjustHandles="1" noChangeArrowheads="1" noChangeShapeType="1" noTextEdit="1"/>
              </p:cNvSpPr>
              <p:nvPr/>
            </p:nvSpPr>
            <p:spPr>
              <a:xfrm>
                <a:off x="5200205" y="1532582"/>
                <a:ext cx="2497800" cy="954107"/>
              </a:xfrm>
              <a:prstGeom prst="rect">
                <a:avLst/>
              </a:prstGeom>
              <a:blipFill rotWithShape="1">
                <a:blip r:embed="rId5"/>
                <a:stretch>
                  <a:fillRect t="-6369" r="-4146" b="-16561"/>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15" name="文字方塊 14"/>
              <p:cNvSpPr txBox="1"/>
              <p:nvPr/>
            </p:nvSpPr>
            <p:spPr>
              <a:xfrm>
                <a:off x="570654" y="980728"/>
                <a:ext cx="946285" cy="391646"/>
              </a:xfrm>
              <a:prstGeom prst="rect">
                <a:avLst/>
              </a:prstGeom>
              <a:noFill/>
            </p:spPr>
            <p:txBody>
              <a:bodyPr wrap="none" rtlCol="0">
                <a:spAutoFit/>
              </a:bodyPr>
              <a:lstStyle/>
              <a:p>
                <a:r>
                  <a:rPr lang="zh-TW" altLang="en-US" dirty="0" smtClean="0"/>
                  <a:t>尋找</a:t>
                </a:r>
                <a14:m>
                  <m:oMath xmlns:m="http://schemas.openxmlformats.org/officeDocument/2006/math">
                    <m:sSub>
                      <m:sSubPr>
                        <m:ctrlPr>
                          <a:rPr lang="en-US" altLang="zh-TW" i="1">
                            <a:latin typeface="Cambria Math"/>
                          </a:rPr>
                        </m:ctrlPr>
                      </m:sSubPr>
                      <m:e>
                        <m:r>
                          <a:rPr lang="en-US" altLang="zh-TW" b="0" i="1" smtClean="0">
                            <a:latin typeface="Cambria Math"/>
                          </a:rPr>
                          <m:t>𝐷</m:t>
                        </m:r>
                      </m:e>
                      <m:sub>
                        <m:r>
                          <a:rPr lang="en-US" altLang="zh-TW" i="1">
                            <a:latin typeface="Cambria Math"/>
                          </a:rPr>
                          <m:t>𝑖𝑗</m:t>
                        </m:r>
                      </m:sub>
                    </m:sSub>
                  </m:oMath>
                </a14:m>
                <a:endParaRPr lang="zh-TW" altLang="en-US" dirty="0"/>
              </a:p>
            </p:txBody>
          </p:sp>
        </mc:Choice>
        <mc:Fallback>
          <p:sp>
            <p:nvSpPr>
              <p:cNvPr id="15" name="文字方塊 14"/>
              <p:cNvSpPr txBox="1">
                <a:spLocks noRot="1" noChangeAspect="1" noMove="1" noResize="1" noEditPoints="1" noAdjustHandles="1" noChangeArrowheads="1" noChangeShapeType="1" noTextEdit="1"/>
              </p:cNvSpPr>
              <p:nvPr/>
            </p:nvSpPr>
            <p:spPr>
              <a:xfrm>
                <a:off x="570654" y="980728"/>
                <a:ext cx="946285" cy="391646"/>
              </a:xfrm>
              <a:prstGeom prst="rect">
                <a:avLst/>
              </a:prstGeom>
              <a:blipFill rotWithShape="1">
                <a:blip r:embed="rId6"/>
                <a:stretch>
                  <a:fillRect l="-5806" t="-6250" b="-20313"/>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20262396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p:graphicFrame>
        <p:nvGraphicFramePr>
          <p:cNvPr id="4" name="內容版面配置區 3"/>
          <p:cNvGraphicFramePr>
            <a:graphicFrameLocks noGrp="1"/>
          </p:cNvGraphicFramePr>
          <p:nvPr>
            <p:ph idx="1"/>
            <p:extLst>
              <p:ext uri="{D42A27DB-BD31-4B8C-83A1-F6EECF244321}">
                <p14:modId xmlns="" xmlns:p14="http://schemas.microsoft.com/office/powerpoint/2010/main" val="930709645"/>
              </p:ext>
            </p:extLst>
          </p:nvPr>
        </p:nvGraphicFramePr>
        <p:xfrm>
          <a:off x="581902" y="1484784"/>
          <a:ext cx="3672408" cy="2595880"/>
        </p:xfrm>
        <a:graphic>
          <a:graphicData uri="http://schemas.openxmlformats.org/drawingml/2006/table">
            <a:tbl>
              <a:tblPr firstRow="1" bandRow="1">
                <a:tableStyleId>{5C22544A-7EE6-4342-B048-85BDC9FD1C3A}</a:tableStyleId>
              </a:tblPr>
              <a:tblGrid>
                <a:gridCol w="459051"/>
                <a:gridCol w="459051"/>
                <a:gridCol w="459051"/>
                <a:gridCol w="459051"/>
                <a:gridCol w="459051"/>
                <a:gridCol w="459051"/>
                <a:gridCol w="459051"/>
                <a:gridCol w="459051"/>
              </a:tblGrid>
              <a:tr h="370840">
                <a:tc>
                  <a:txBody>
                    <a:bodyPr/>
                    <a:lstStyle/>
                    <a:p>
                      <a:pPr algn="ctr"/>
                      <a:r>
                        <a:rPr lang="en-US" altLang="zh-TW" dirty="0" smtClean="0"/>
                        <a:t>0</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solidFill>
                          <a:srgbClr val="FF0000"/>
                        </a:solidFill>
                      </a:endParaRPr>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rgbClr val="FF0000"/>
                          </a:solidFill>
                        </a:rPr>
                        <a:t>*</a:t>
                      </a:r>
                      <a:endParaRPr lang="zh-TW" altLang="en-US" dirty="0">
                        <a:solidFill>
                          <a:srgbClr val="FF0000"/>
                        </a:solidFill>
                      </a:endParaRPr>
                    </a:p>
                  </a:txBody>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extLst>
              <p:ext uri="{D42A27DB-BD31-4B8C-83A1-F6EECF244321}">
                <p14:modId xmlns="" xmlns:p14="http://schemas.microsoft.com/office/powerpoint/2010/main" val="2530844801"/>
              </p:ext>
            </p:extLst>
          </p:nvPr>
        </p:nvGraphicFramePr>
        <p:xfrm>
          <a:off x="755576" y="4734436"/>
          <a:ext cx="3168352" cy="1828800"/>
        </p:xfrm>
        <a:graphic>
          <a:graphicData uri="http://schemas.openxmlformats.org/drawingml/2006/table">
            <a:tbl>
              <a:tblPr firstRow="1" bandRow="1">
                <a:tableStyleId>{5C22544A-7EE6-4342-B048-85BDC9FD1C3A}</a:tableStyleId>
              </a:tblPr>
              <a:tblGrid>
                <a:gridCol w="396044"/>
                <a:gridCol w="396044"/>
                <a:gridCol w="396044"/>
                <a:gridCol w="396044"/>
                <a:gridCol w="396044"/>
                <a:gridCol w="396044"/>
                <a:gridCol w="396044"/>
                <a:gridCol w="396044"/>
              </a:tblGrid>
              <a:tr h="0">
                <a:tc>
                  <a:txBody>
                    <a:bodyPr/>
                    <a:lstStyle/>
                    <a:p>
                      <a:pPr algn="ctr"/>
                      <a:endParaRPr lang="zh-TW" altLang="en-US" dirty="0"/>
                    </a:p>
                  </a:txBody>
                  <a:tcPr>
                    <a:lnTlToBr w="12700" cap="flat" cmpd="sng" algn="ctr">
                      <a:noFill/>
                      <a:prstDash val="solid"/>
                      <a:round/>
                      <a:headEnd type="none" w="med" len="med"/>
                      <a:tailEnd type="none" w="med" len="med"/>
                    </a:lnTlToBr>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0">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4</a:t>
                      </a:r>
                      <a:endParaRPr lang="zh-TW" altLang="en-US" dirty="0">
                        <a:solidFill>
                          <a:srgbClr val="FF0000"/>
                        </a:solidFill>
                      </a:endParaRPr>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 xmlns:p14="http://schemas.microsoft.com/office/powerpoint/2010/main" val="671738400"/>
              </p:ext>
            </p:extLst>
          </p:nvPr>
        </p:nvGraphicFramePr>
        <p:xfrm>
          <a:off x="4860036" y="4725144"/>
          <a:ext cx="3600396" cy="1828800"/>
        </p:xfrm>
        <a:graphic>
          <a:graphicData uri="http://schemas.openxmlformats.org/drawingml/2006/table">
            <a:tbl>
              <a:tblPr firstRow="1" bandRow="1">
                <a:tableStyleId>{5C22544A-7EE6-4342-B048-85BDC9FD1C3A}</a:tableStyleId>
              </a:tblPr>
              <a:tblGrid>
                <a:gridCol w="400044"/>
                <a:gridCol w="400044"/>
                <a:gridCol w="400044"/>
                <a:gridCol w="400044"/>
                <a:gridCol w="400044"/>
                <a:gridCol w="400044"/>
                <a:gridCol w="400044"/>
                <a:gridCol w="400044"/>
                <a:gridCol w="400044"/>
              </a:tblGrid>
              <a:tr h="158418">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158418">
                <a:tc>
                  <a:txBody>
                    <a:bodyPr/>
                    <a:lstStyle/>
                    <a:p>
                      <a:pPr algn="ctr"/>
                      <a:r>
                        <a:rPr lang="en-US" altLang="zh-TW" dirty="0" smtClean="0">
                          <a:solidFill>
                            <a:srgbClr val="FF0000"/>
                          </a:solidFill>
                        </a:rPr>
                        <a:t>a</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b</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c</a:t>
                      </a:r>
                      <a:endParaRPr lang="zh-TW" altLang="en-US" dirty="0">
                        <a:solidFill>
                          <a:srgbClr val="FF0000"/>
                        </a:solidFill>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d</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bl>
          </a:graphicData>
        </a:graphic>
      </p:graphicFrame>
      <mc:AlternateContent xmlns:mc="http://schemas.openxmlformats.org/markup-compatibility/2006">
        <mc:Choice xmlns="" xmlns:a14="http://schemas.microsoft.com/office/drawing/2010/main" Requires="a14">
          <p:sp>
            <p:nvSpPr>
              <p:cNvPr id="7" name="矩形 6"/>
              <p:cNvSpPr/>
              <p:nvPr/>
            </p:nvSpPr>
            <p:spPr>
              <a:xfrm>
                <a:off x="1578389" y="4365104"/>
                <a:ext cx="1679434" cy="369332"/>
              </a:xfrm>
              <a:prstGeom prst="rect">
                <a:avLst/>
              </a:prstGeom>
            </p:spPr>
            <p:txBody>
              <a:bodyPr wrap="none">
                <a:spAutoFit/>
              </a:bodyPr>
              <a:lstStyle/>
              <a:p>
                <a14:m>
                  <m:oMath xmlns:m="http://schemas.openxmlformats.org/officeDocument/2006/math">
                    <m:r>
                      <m:rPr>
                        <m:sty m:val="p"/>
                      </m:rPr>
                      <a:rPr lang="el-GR" altLang="zh-TW" i="1">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a:t/>
                </a:r>
                <a:endParaRPr lang="zh-TW" altLang="en-US" dirty="0"/>
              </a:p>
            </p:txBody>
          </p:sp>
        </mc:Choice>
        <mc:Fallback>
          <p:sp>
            <p:nvSpPr>
              <p:cNvPr id="7" name="矩形 6"/>
              <p:cNvSpPr>
                <a:spLocks noRot="1" noChangeAspect="1" noMove="1" noResize="1" noEditPoints="1" noAdjustHandles="1" noChangeArrowheads="1" noChangeShapeType="1" noTextEdit="1"/>
              </p:cNvSpPr>
              <p:nvPr/>
            </p:nvSpPr>
            <p:spPr>
              <a:xfrm>
                <a:off x="1578389" y="4365104"/>
                <a:ext cx="1679434" cy="369332"/>
              </a:xfrm>
              <a:prstGeom prst="rect">
                <a:avLst/>
              </a:prstGeom>
              <a:blipFill rotWithShape="1">
                <a:blip r:embed="rId2"/>
                <a:stretch>
                  <a:fillRect/>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8" name="矩形 7"/>
              <p:cNvSpPr/>
              <p:nvPr/>
            </p:nvSpPr>
            <p:spPr>
              <a:xfrm>
                <a:off x="5652124" y="4365104"/>
                <a:ext cx="1593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m:oMathPara>
                </a14:m>
                <a:endParaRPr lang="zh-TW" altLang="en-US" dirty="0"/>
              </a:p>
            </p:txBody>
          </p:sp>
        </mc:Choice>
        <mc:Fallback>
          <p:sp>
            <p:nvSpPr>
              <p:cNvPr id="8" name="矩形 7"/>
              <p:cNvSpPr>
                <a:spLocks noRot="1" noChangeAspect="1" noMove="1" noResize="1" noEditPoints="1" noAdjustHandles="1" noChangeArrowheads="1" noChangeShapeType="1" noTextEdit="1"/>
              </p:cNvSpPr>
              <p:nvPr/>
            </p:nvSpPr>
            <p:spPr>
              <a:xfrm>
                <a:off x="5652124" y="4365104"/>
                <a:ext cx="1593962" cy="369332"/>
              </a:xfrm>
              <a:prstGeom prst="rect">
                <a:avLst/>
              </a:prstGeom>
              <a:blipFill rotWithShape="1">
                <a:blip r:embed="rId3"/>
                <a:stretch>
                  <a:fillRect b="-13115"/>
                </a:stretch>
              </a:blipFill>
            </p:spPr>
            <p:txBody>
              <a:bodyPr/>
              <a:lstStyle/>
              <a:p>
                <a:r>
                  <a:rPr lang="zh-TW" altLang="en-US">
                    <a:noFill/>
                  </a:rPr>
                  <a:t> </a:t>
                </a:r>
              </a:p>
            </p:txBody>
          </p:sp>
        </mc:Fallback>
      </mc:AlternateContent>
      <p:sp>
        <p:nvSpPr>
          <p:cNvPr id="9" name="矩形 8"/>
          <p:cNvSpPr/>
          <p:nvPr/>
        </p:nvSpPr>
        <p:spPr>
          <a:xfrm>
            <a:off x="1979712" y="4745511"/>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7699069" y="4792109"/>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graphicFrame>
            <p:nvGraphicFramePr>
              <p:cNvPr id="11" name="表格 10"/>
              <p:cNvGraphicFramePr>
                <a:graphicFrameLocks noGrp="1"/>
              </p:cNvGraphicFramePr>
              <p:nvPr>
                <p:extLst>
                  <p:ext uri="{D42A27DB-BD31-4B8C-83A1-F6EECF244321}">
                    <p14:modId xmlns:p14="http://schemas.microsoft.com/office/powerpoint/2010/main" val="504551211"/>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0</m:t>
                                    </m:r>
                                  </m:sup>
                                </m:sSup>
                              </m:oMath>
                            </m:oMathPara>
                          </a14:m>
                          <a:endParaRPr lang="zh-TW" altLang="en-US" dirty="0"/>
                        </a:p>
                      </a:txBody>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1</m:t>
                                    </m:r>
                                  </m:sup>
                                </m:sSup>
                              </m:oMath>
                            </m:oMathPara>
                          </a14:m>
                          <a:endParaRPr lang="zh-TW" altLang="en-US" dirty="0"/>
                        </a:p>
                      </a:txBody>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r>
                            <a:rPr lang="en-US" altLang="zh-TW" dirty="0" smtClean="0"/>
                            <a:t>[5, 1]</a:t>
                          </a:r>
                          <a:endParaRPr lang="zh-TW" altLang="en-US"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2</m:t>
                                    </m:r>
                                  </m:sup>
                                </m:sSup>
                              </m:oMath>
                            </m:oMathPara>
                          </a14:m>
                          <a:endParaRPr lang="zh-TW" altLang="en-US" dirty="0"/>
                        </a:p>
                      </a:txBody>
                      <a:tcPr/>
                    </a:tc>
                    <a:tc>
                      <a:txBody>
                        <a:bodyPr/>
                        <a:lstStyle/>
                        <a:p>
                          <a:pPr algn="ctr"/>
                          <a:r>
                            <a:rPr lang="en-US" altLang="zh-TW" dirty="0" smtClean="0"/>
                            <a:t>[2, 6]</a:t>
                          </a:r>
                          <a:endParaRPr lang="zh-TW" altLang="en-US" dirty="0"/>
                        </a:p>
                      </a:txBody>
                      <a:tcPr/>
                    </a:tc>
                    <a:tc>
                      <a:txBody>
                        <a:bodyPr/>
                        <a:lstStyle/>
                        <a:p>
                          <a:pPr algn="ctr"/>
                          <a:r>
                            <a:rPr lang="en-US" altLang="zh-TW" dirty="0" smtClean="0"/>
                            <a:t>[4, 4]</a:t>
                          </a:r>
                          <a:endParaRPr lang="zh-TW" altLang="en-US" dirty="0"/>
                        </a:p>
                      </a:txBody>
                      <a:tcPr/>
                    </a:tc>
                    <a:tc>
                      <a:txBody>
                        <a:bodyPr/>
                        <a:lstStyle/>
                        <a:p>
                          <a:pPr algn="ctr"/>
                          <a:r>
                            <a:rPr lang="en-US" altLang="zh-TW" dirty="0" smtClean="0"/>
                            <a:t>[6, 3]</a:t>
                          </a:r>
                          <a:endParaRPr lang="zh-TW" altLang="en-US"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3</m:t>
                                    </m:r>
                                  </m:sup>
                                </m:sSup>
                              </m:oMath>
                            </m:oMathPara>
                          </a14:m>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Choice>
        <mc:Fallback>
          <p:graphicFrame>
            <p:nvGraphicFramePr>
              <p:cNvPr id="11" name="表格 10"/>
              <p:cNvGraphicFramePr>
                <a:graphicFrameLocks noGrp="1"/>
              </p:cNvGraphicFramePr>
              <p:nvPr>
                <p:extLst>
                  <p:ext uri="{D42A27DB-BD31-4B8C-83A1-F6EECF244321}">
                    <p14:modId xmlns="" xmlns:p14="http://schemas.microsoft.com/office/powerpoint/2010/main" val="504551211"/>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endParaRPr lang="zh-TW"/>
                        </a:p>
                      </a:txBody>
                      <a:tcPr>
                        <a:blipFill rotWithShape="1">
                          <a:blip r:embed="rId4"/>
                          <a:stretch>
                            <a:fillRect l="-633" t="-8197" r="-298734" b="-298361"/>
                          </a:stretch>
                        </a:blipFill>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endParaRPr lang="zh-TW"/>
                        </a:p>
                      </a:txBody>
                      <a:tcPr>
                        <a:blipFill rotWithShape="1">
                          <a:blip r:embed="rId4"/>
                          <a:stretch>
                            <a:fillRect l="-633" t="-108197" r="-298734" b="-198361"/>
                          </a:stretch>
                        </a:blipFill>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r>
                            <a:rPr lang="en-US" altLang="zh-TW" dirty="0" smtClean="0"/>
                            <a:t>[5, 1]</a:t>
                          </a:r>
                          <a:endParaRPr lang="zh-TW" altLang="en-US" dirty="0"/>
                        </a:p>
                      </a:txBody>
                      <a:tcPr/>
                    </a:tc>
                  </a:tr>
                  <a:tr h="370840">
                    <a:tc>
                      <a:txBody>
                        <a:bodyPr/>
                        <a:lstStyle/>
                        <a:p>
                          <a:endParaRPr lang="zh-TW"/>
                        </a:p>
                      </a:txBody>
                      <a:tcPr>
                        <a:blipFill rotWithShape="1">
                          <a:blip r:embed="rId4"/>
                          <a:stretch>
                            <a:fillRect l="-633" t="-211667" r="-298734" b="-101667"/>
                          </a:stretch>
                        </a:blipFill>
                      </a:tcPr>
                    </a:tc>
                    <a:tc>
                      <a:txBody>
                        <a:bodyPr/>
                        <a:lstStyle/>
                        <a:p>
                          <a:pPr algn="ctr"/>
                          <a:r>
                            <a:rPr lang="en-US" altLang="zh-TW" dirty="0" smtClean="0"/>
                            <a:t>[2, 6]</a:t>
                          </a:r>
                          <a:endParaRPr lang="zh-TW" altLang="en-US" dirty="0"/>
                        </a:p>
                      </a:txBody>
                      <a:tcPr/>
                    </a:tc>
                    <a:tc>
                      <a:txBody>
                        <a:bodyPr/>
                        <a:lstStyle/>
                        <a:p>
                          <a:pPr algn="ctr"/>
                          <a:r>
                            <a:rPr lang="en-US" altLang="zh-TW" dirty="0" smtClean="0"/>
                            <a:t>[4, 4]</a:t>
                          </a:r>
                          <a:endParaRPr lang="zh-TW" altLang="en-US" dirty="0"/>
                        </a:p>
                      </a:txBody>
                      <a:tcPr/>
                    </a:tc>
                    <a:tc>
                      <a:txBody>
                        <a:bodyPr/>
                        <a:lstStyle/>
                        <a:p>
                          <a:pPr algn="ctr"/>
                          <a:r>
                            <a:rPr lang="en-US" altLang="zh-TW" dirty="0" smtClean="0"/>
                            <a:t>[6, 3]</a:t>
                          </a:r>
                          <a:endParaRPr lang="zh-TW" altLang="en-US" dirty="0"/>
                        </a:p>
                      </a:txBody>
                      <a:tcPr/>
                    </a:tc>
                  </a:tr>
                  <a:tr h="370840">
                    <a:tc>
                      <a:txBody>
                        <a:bodyPr/>
                        <a:lstStyle/>
                        <a:p>
                          <a:endParaRPr lang="zh-TW"/>
                        </a:p>
                      </a:txBody>
                      <a:tcPr>
                        <a:blipFill rotWithShape="1">
                          <a:blip r:embed="rId4"/>
                          <a:stretch>
                            <a:fillRect l="-633" t="-306557" r="-298734"/>
                          </a:stretch>
                        </a:blip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Fallback>
      </mc:AlternateContent>
      <p:sp>
        <p:nvSpPr>
          <p:cNvPr id="13" name="矩形 12"/>
          <p:cNvSpPr/>
          <p:nvPr/>
        </p:nvSpPr>
        <p:spPr>
          <a:xfrm>
            <a:off x="3779912" y="2564904"/>
            <a:ext cx="448463" cy="7920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3347864" y="2144753"/>
            <a:ext cx="432048" cy="43204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sp>
            <p:nvSpPr>
              <p:cNvPr id="14" name="矩形 13"/>
              <p:cNvSpPr/>
              <p:nvPr/>
            </p:nvSpPr>
            <p:spPr>
              <a:xfrm>
                <a:off x="5200205" y="1532582"/>
                <a:ext cx="2497800" cy="954107"/>
              </a:xfrm>
              <a:prstGeom prst="rect">
                <a:avLst/>
              </a:prstGeom>
            </p:spPr>
            <p:txBody>
              <a:bodyPr wrap="none">
                <a:spAutoFit/>
              </a:bodyPr>
              <a:lstStyle/>
              <a:p>
                <a14:m>
                  <m:oMath xmlns:m="http://schemas.openxmlformats.org/officeDocument/2006/math">
                    <m:r>
                      <m:rPr>
                        <m:sty m:val="p"/>
                      </m:rPr>
                      <a:rPr lang="el-GR" altLang="zh-TW" sz="2800" i="1" smtClean="0">
                        <a:latin typeface="Cambria Math"/>
                      </a:rPr>
                      <m:t>α</m:t>
                    </m:r>
                  </m:oMath>
                </a14:m>
                <a:r>
                  <a:rPr lang="zh-TW" altLang="en-US" sz="2800" dirty="0" smtClean="0"/>
                  <a:t/>
                </a:r>
                <a:r>
                  <a:rPr lang="en-US" altLang="zh-TW" sz="2800" dirty="0" smtClean="0"/>
                  <a:t>= c b </a:t>
                </a:r>
                <a:r>
                  <a:rPr lang="en-US" altLang="zh-TW" sz="2800" dirty="0" err="1" smtClean="0"/>
                  <a:t>b</a:t>
                </a:r>
                <a:r>
                  <a:rPr lang="en-US" altLang="zh-TW" sz="2800" dirty="0" smtClean="0"/>
                  <a:t> d a c</a:t>
                </a:r>
                <a:br>
                  <a:rPr lang="en-US" altLang="zh-TW" sz="2800" dirty="0" smtClean="0"/>
                </a:br>
                <a14:m>
                  <m:oMath xmlns:m="http://schemas.openxmlformats.org/officeDocument/2006/math">
                    <m:r>
                      <m:rPr>
                        <m:sty m:val="p"/>
                      </m:rPr>
                      <a:rPr lang="el-GR" altLang="zh-TW" sz="2800" i="1">
                        <a:latin typeface="Cambria Math"/>
                      </a:rPr>
                      <m:t>β</m:t>
                    </m:r>
                  </m:oMath>
                </a14:m>
                <a:r>
                  <a:rPr lang="en-US" altLang="zh-TW" sz="2800" b="0" dirty="0" smtClean="0"/>
                  <a:t> = a b c d </a:t>
                </a:r>
                <a:r>
                  <a:rPr lang="en-US" altLang="zh-TW" sz="2800" b="0" dirty="0" err="1" smtClean="0"/>
                  <a:t>d</a:t>
                </a:r>
                <a:r>
                  <a:rPr lang="en-US" altLang="zh-TW" sz="2800" b="0" dirty="0" smtClean="0"/>
                  <a:t> b a</a:t>
                </a:r>
              </a:p>
            </p:txBody>
          </p:sp>
        </mc:Choice>
        <mc:Fallback>
          <p:sp>
            <p:nvSpPr>
              <p:cNvPr id="14" name="矩形 13"/>
              <p:cNvSpPr>
                <a:spLocks noRot="1" noChangeAspect="1" noMove="1" noResize="1" noEditPoints="1" noAdjustHandles="1" noChangeArrowheads="1" noChangeShapeType="1" noTextEdit="1"/>
              </p:cNvSpPr>
              <p:nvPr/>
            </p:nvSpPr>
            <p:spPr>
              <a:xfrm>
                <a:off x="5200205" y="1532582"/>
                <a:ext cx="2497800" cy="954107"/>
              </a:xfrm>
              <a:prstGeom prst="rect">
                <a:avLst/>
              </a:prstGeom>
              <a:blipFill rotWithShape="1">
                <a:blip r:embed="rId5"/>
                <a:stretch>
                  <a:fillRect t="-6369" r="-4146" b="-16561"/>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15" name="文字方塊 14"/>
              <p:cNvSpPr txBox="1"/>
              <p:nvPr/>
            </p:nvSpPr>
            <p:spPr>
              <a:xfrm>
                <a:off x="570654" y="980728"/>
                <a:ext cx="946285" cy="391646"/>
              </a:xfrm>
              <a:prstGeom prst="rect">
                <a:avLst/>
              </a:prstGeom>
              <a:noFill/>
            </p:spPr>
            <p:txBody>
              <a:bodyPr wrap="none" rtlCol="0">
                <a:spAutoFit/>
              </a:bodyPr>
              <a:lstStyle/>
              <a:p>
                <a:r>
                  <a:rPr lang="zh-TW" altLang="en-US" dirty="0" smtClean="0"/>
                  <a:t>尋找</a:t>
                </a:r>
                <a14:m>
                  <m:oMath xmlns:m="http://schemas.openxmlformats.org/officeDocument/2006/math">
                    <m:sSub>
                      <m:sSubPr>
                        <m:ctrlPr>
                          <a:rPr lang="en-US" altLang="zh-TW" i="1">
                            <a:latin typeface="Cambria Math"/>
                          </a:rPr>
                        </m:ctrlPr>
                      </m:sSubPr>
                      <m:e>
                        <m:r>
                          <a:rPr lang="en-US" altLang="zh-TW" b="0" i="1" smtClean="0">
                            <a:latin typeface="Cambria Math"/>
                          </a:rPr>
                          <m:t>𝐷</m:t>
                        </m:r>
                      </m:e>
                      <m:sub>
                        <m:r>
                          <a:rPr lang="en-US" altLang="zh-TW" i="1">
                            <a:latin typeface="Cambria Math"/>
                          </a:rPr>
                          <m:t>𝑖𝑗</m:t>
                        </m:r>
                      </m:sub>
                    </m:sSub>
                  </m:oMath>
                </a14:m>
                <a:endParaRPr lang="zh-TW" altLang="en-US" dirty="0"/>
              </a:p>
            </p:txBody>
          </p:sp>
        </mc:Choice>
        <mc:Fallback>
          <p:sp>
            <p:nvSpPr>
              <p:cNvPr id="15" name="文字方塊 14"/>
              <p:cNvSpPr txBox="1">
                <a:spLocks noRot="1" noChangeAspect="1" noMove="1" noResize="1" noEditPoints="1" noAdjustHandles="1" noChangeArrowheads="1" noChangeShapeType="1" noTextEdit="1"/>
              </p:cNvSpPr>
              <p:nvPr/>
            </p:nvSpPr>
            <p:spPr>
              <a:xfrm>
                <a:off x="570654" y="980728"/>
                <a:ext cx="946285" cy="391646"/>
              </a:xfrm>
              <a:prstGeom prst="rect">
                <a:avLst/>
              </a:prstGeom>
              <a:blipFill rotWithShape="1">
                <a:blip r:embed="rId6"/>
                <a:stretch>
                  <a:fillRect l="-5806" t="-6250" b="-20313"/>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19308350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p:graphicFrame>
        <p:nvGraphicFramePr>
          <p:cNvPr id="4" name="內容版面配置區 3"/>
          <p:cNvGraphicFramePr>
            <a:graphicFrameLocks noGrp="1"/>
          </p:cNvGraphicFramePr>
          <p:nvPr>
            <p:ph idx="1"/>
            <p:extLst>
              <p:ext uri="{D42A27DB-BD31-4B8C-83A1-F6EECF244321}">
                <p14:modId xmlns="" xmlns:p14="http://schemas.microsoft.com/office/powerpoint/2010/main" val="8496330"/>
              </p:ext>
            </p:extLst>
          </p:nvPr>
        </p:nvGraphicFramePr>
        <p:xfrm>
          <a:off x="581902" y="1484784"/>
          <a:ext cx="3672408" cy="2595880"/>
        </p:xfrm>
        <a:graphic>
          <a:graphicData uri="http://schemas.openxmlformats.org/drawingml/2006/table">
            <a:tbl>
              <a:tblPr firstRow="1" bandRow="1">
                <a:tableStyleId>{5C22544A-7EE6-4342-B048-85BDC9FD1C3A}</a:tableStyleId>
              </a:tblPr>
              <a:tblGrid>
                <a:gridCol w="459051"/>
                <a:gridCol w="459051"/>
                <a:gridCol w="459051"/>
                <a:gridCol w="459051"/>
                <a:gridCol w="459051"/>
                <a:gridCol w="459051"/>
                <a:gridCol w="459051"/>
                <a:gridCol w="459051"/>
              </a:tblGrid>
              <a:tr h="370840">
                <a:tc>
                  <a:txBody>
                    <a:bodyPr/>
                    <a:lstStyle/>
                    <a:p>
                      <a:pPr algn="ctr"/>
                      <a:r>
                        <a:rPr lang="en-US" altLang="zh-TW" dirty="0" smtClean="0"/>
                        <a:t>0</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solidFill>
                          <a:srgbClr val="FF0000"/>
                        </a:solidFill>
                      </a:endParaRPr>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rgbClr val="FF0000"/>
                          </a:solidFill>
                        </a:rPr>
                        <a:t>*</a:t>
                      </a:r>
                      <a:endParaRPr lang="zh-TW" altLang="en-US" dirty="0">
                        <a:solidFill>
                          <a:srgbClr val="FF0000"/>
                        </a:solidFill>
                      </a:endParaRPr>
                    </a:p>
                  </a:txBody>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extLst>
              <p:ext uri="{D42A27DB-BD31-4B8C-83A1-F6EECF244321}">
                <p14:modId xmlns="" xmlns:p14="http://schemas.microsoft.com/office/powerpoint/2010/main" val="3622210748"/>
              </p:ext>
            </p:extLst>
          </p:nvPr>
        </p:nvGraphicFramePr>
        <p:xfrm>
          <a:off x="755576" y="4734436"/>
          <a:ext cx="3168352" cy="1828800"/>
        </p:xfrm>
        <a:graphic>
          <a:graphicData uri="http://schemas.openxmlformats.org/drawingml/2006/table">
            <a:tbl>
              <a:tblPr firstRow="1" bandRow="1">
                <a:tableStyleId>{5C22544A-7EE6-4342-B048-85BDC9FD1C3A}</a:tableStyleId>
              </a:tblPr>
              <a:tblGrid>
                <a:gridCol w="396044"/>
                <a:gridCol w="396044"/>
                <a:gridCol w="396044"/>
                <a:gridCol w="396044"/>
                <a:gridCol w="396044"/>
                <a:gridCol w="396044"/>
                <a:gridCol w="396044"/>
                <a:gridCol w="396044"/>
              </a:tblGrid>
              <a:tr h="0">
                <a:tc>
                  <a:txBody>
                    <a:bodyPr/>
                    <a:lstStyle/>
                    <a:p>
                      <a:pPr algn="ctr"/>
                      <a:endParaRPr lang="zh-TW" altLang="en-US" dirty="0"/>
                    </a:p>
                  </a:txBody>
                  <a:tcPr>
                    <a:lnTlToBr w="12700" cap="flat" cmpd="sng" algn="ctr">
                      <a:noFill/>
                      <a:prstDash val="solid"/>
                      <a:round/>
                      <a:headEnd type="none" w="med" len="med"/>
                      <a:tailEnd type="none" w="med" len="med"/>
                    </a:lnTlToBr>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0">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4</a:t>
                      </a:r>
                      <a:endParaRPr lang="zh-TW" altLang="en-US" dirty="0">
                        <a:solidFill>
                          <a:srgbClr val="FF0000"/>
                        </a:solidFill>
                      </a:endParaRPr>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 xmlns:p14="http://schemas.microsoft.com/office/powerpoint/2010/main" val="397733854"/>
              </p:ext>
            </p:extLst>
          </p:nvPr>
        </p:nvGraphicFramePr>
        <p:xfrm>
          <a:off x="4860036" y="4725144"/>
          <a:ext cx="3600396" cy="1828800"/>
        </p:xfrm>
        <a:graphic>
          <a:graphicData uri="http://schemas.openxmlformats.org/drawingml/2006/table">
            <a:tbl>
              <a:tblPr firstRow="1" bandRow="1">
                <a:tableStyleId>{5C22544A-7EE6-4342-B048-85BDC9FD1C3A}</a:tableStyleId>
              </a:tblPr>
              <a:tblGrid>
                <a:gridCol w="400044"/>
                <a:gridCol w="400044"/>
                <a:gridCol w="400044"/>
                <a:gridCol w="400044"/>
                <a:gridCol w="400044"/>
                <a:gridCol w="400044"/>
                <a:gridCol w="400044"/>
                <a:gridCol w="400044"/>
                <a:gridCol w="400044"/>
              </a:tblGrid>
              <a:tr h="158418">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158418">
                <a:tc>
                  <a:txBody>
                    <a:bodyPr/>
                    <a:lstStyle/>
                    <a:p>
                      <a:pPr algn="ctr"/>
                      <a:r>
                        <a:rPr lang="en-US" altLang="zh-TW" dirty="0" smtClean="0">
                          <a:solidFill>
                            <a:srgbClr val="FF0000"/>
                          </a:solidFill>
                        </a:rPr>
                        <a:t>a</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b</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c</a:t>
                      </a:r>
                      <a:endParaRPr lang="zh-TW" altLang="en-US" dirty="0">
                        <a:solidFill>
                          <a:srgbClr val="FF0000"/>
                        </a:solidFill>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d</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bl>
          </a:graphicData>
        </a:graphic>
      </p:graphicFrame>
      <mc:AlternateContent xmlns:mc="http://schemas.openxmlformats.org/markup-compatibility/2006">
        <mc:Choice xmlns="" xmlns:a14="http://schemas.microsoft.com/office/drawing/2010/main" Requires="a14">
          <p:sp>
            <p:nvSpPr>
              <p:cNvPr id="7" name="矩形 6"/>
              <p:cNvSpPr/>
              <p:nvPr/>
            </p:nvSpPr>
            <p:spPr>
              <a:xfrm>
                <a:off x="1578389" y="4365104"/>
                <a:ext cx="1679434" cy="369332"/>
              </a:xfrm>
              <a:prstGeom prst="rect">
                <a:avLst/>
              </a:prstGeom>
            </p:spPr>
            <p:txBody>
              <a:bodyPr wrap="none">
                <a:spAutoFit/>
              </a:bodyPr>
              <a:lstStyle/>
              <a:p>
                <a14:m>
                  <m:oMath xmlns:m="http://schemas.openxmlformats.org/officeDocument/2006/math">
                    <m:r>
                      <m:rPr>
                        <m:sty m:val="p"/>
                      </m:rPr>
                      <a:rPr lang="el-GR" altLang="zh-TW" i="1">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a:t/>
                </a:r>
                <a:endParaRPr lang="zh-TW" altLang="en-US" dirty="0"/>
              </a:p>
            </p:txBody>
          </p:sp>
        </mc:Choice>
        <mc:Fallback>
          <p:sp>
            <p:nvSpPr>
              <p:cNvPr id="7" name="矩形 6"/>
              <p:cNvSpPr>
                <a:spLocks noRot="1" noChangeAspect="1" noMove="1" noResize="1" noEditPoints="1" noAdjustHandles="1" noChangeArrowheads="1" noChangeShapeType="1" noTextEdit="1"/>
              </p:cNvSpPr>
              <p:nvPr/>
            </p:nvSpPr>
            <p:spPr>
              <a:xfrm>
                <a:off x="1578389" y="4365104"/>
                <a:ext cx="1679434" cy="369332"/>
              </a:xfrm>
              <a:prstGeom prst="rect">
                <a:avLst/>
              </a:prstGeom>
              <a:blipFill rotWithShape="1">
                <a:blip r:embed="rId2"/>
                <a:stretch>
                  <a:fillRect/>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8" name="矩形 7"/>
              <p:cNvSpPr/>
              <p:nvPr/>
            </p:nvSpPr>
            <p:spPr>
              <a:xfrm>
                <a:off x="5652124" y="4365104"/>
                <a:ext cx="1593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m:oMathPara>
                </a14:m>
                <a:endParaRPr lang="zh-TW" altLang="en-US" dirty="0"/>
              </a:p>
            </p:txBody>
          </p:sp>
        </mc:Choice>
        <mc:Fallback>
          <p:sp>
            <p:nvSpPr>
              <p:cNvPr id="8" name="矩形 7"/>
              <p:cNvSpPr>
                <a:spLocks noRot="1" noChangeAspect="1" noMove="1" noResize="1" noEditPoints="1" noAdjustHandles="1" noChangeArrowheads="1" noChangeShapeType="1" noTextEdit="1"/>
              </p:cNvSpPr>
              <p:nvPr/>
            </p:nvSpPr>
            <p:spPr>
              <a:xfrm>
                <a:off x="5652124" y="4365104"/>
                <a:ext cx="1593962" cy="369332"/>
              </a:xfrm>
              <a:prstGeom prst="rect">
                <a:avLst/>
              </a:prstGeom>
              <a:blipFill rotWithShape="1">
                <a:blip r:embed="rId3"/>
                <a:stretch>
                  <a:fillRect b="-13115"/>
                </a:stretch>
              </a:blipFill>
            </p:spPr>
            <p:txBody>
              <a:bodyPr/>
              <a:lstStyle/>
              <a:p>
                <a:r>
                  <a:rPr lang="zh-TW" altLang="en-US">
                    <a:noFill/>
                  </a:rPr>
                  <a:t> </a:t>
                </a:r>
              </a:p>
            </p:txBody>
          </p:sp>
        </mc:Fallback>
      </mc:AlternateContent>
      <p:sp>
        <p:nvSpPr>
          <p:cNvPr id="9" name="矩形 8"/>
          <p:cNvSpPr/>
          <p:nvPr/>
        </p:nvSpPr>
        <p:spPr>
          <a:xfrm>
            <a:off x="2771800" y="4745511"/>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6876256" y="4792109"/>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graphicFrame>
            <p:nvGraphicFramePr>
              <p:cNvPr id="11" name="表格 10"/>
              <p:cNvGraphicFramePr>
                <a:graphicFrameLocks noGrp="1"/>
              </p:cNvGraphicFramePr>
              <p:nvPr>
                <p:extLst>
                  <p:ext uri="{D42A27DB-BD31-4B8C-83A1-F6EECF244321}">
                    <p14:modId xmlns:p14="http://schemas.microsoft.com/office/powerpoint/2010/main" val="152039319"/>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0</m:t>
                                    </m:r>
                                  </m:sup>
                                </m:sSup>
                              </m:oMath>
                            </m:oMathPara>
                          </a14:m>
                          <a:endParaRPr lang="zh-TW" altLang="en-US" dirty="0"/>
                        </a:p>
                      </a:txBody>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1</m:t>
                                    </m:r>
                                  </m:sup>
                                </m:sSup>
                              </m:oMath>
                            </m:oMathPara>
                          </a14:m>
                          <a:endParaRPr lang="zh-TW" altLang="en-US" dirty="0"/>
                        </a:p>
                      </a:txBody>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r>
                            <a:rPr lang="en-US" altLang="zh-TW" dirty="0" smtClean="0"/>
                            <a:t>[5, 1]</a:t>
                          </a:r>
                          <a:endParaRPr lang="zh-TW" altLang="en-US"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2</m:t>
                                    </m:r>
                                  </m:sup>
                                </m:sSup>
                              </m:oMath>
                            </m:oMathPara>
                          </a14:m>
                          <a:endParaRPr lang="zh-TW" altLang="en-US" dirty="0"/>
                        </a:p>
                      </a:txBody>
                      <a:tcPr/>
                    </a:tc>
                    <a:tc>
                      <a:txBody>
                        <a:bodyPr/>
                        <a:lstStyle/>
                        <a:p>
                          <a:pPr algn="ctr"/>
                          <a:r>
                            <a:rPr lang="en-US" altLang="zh-TW" dirty="0" smtClean="0"/>
                            <a:t>[2, 6]</a:t>
                          </a:r>
                          <a:endParaRPr lang="zh-TW" altLang="en-US" dirty="0"/>
                        </a:p>
                      </a:txBody>
                      <a:tcPr/>
                    </a:tc>
                    <a:tc>
                      <a:txBody>
                        <a:bodyPr/>
                        <a:lstStyle/>
                        <a:p>
                          <a:pPr algn="ctr"/>
                          <a:r>
                            <a:rPr lang="en-US" altLang="zh-TW" dirty="0" smtClean="0"/>
                            <a:t>[4, 4]</a:t>
                          </a:r>
                          <a:endParaRPr lang="zh-TW" altLang="en-US" dirty="0"/>
                        </a:p>
                      </a:txBody>
                      <a:tcPr/>
                    </a:tc>
                    <a:tc>
                      <a:txBody>
                        <a:bodyPr/>
                        <a:lstStyle/>
                        <a:p>
                          <a:pPr algn="ctr"/>
                          <a:r>
                            <a:rPr lang="en-US" altLang="zh-TW" dirty="0" smtClean="0"/>
                            <a:t>[6, 3]</a:t>
                          </a:r>
                          <a:endParaRPr lang="zh-TW" altLang="en-US"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3</m:t>
                                    </m:r>
                                  </m:sup>
                                </m:sSup>
                              </m:oMath>
                            </m:oMathPara>
                          </a14:m>
                          <a:endParaRPr lang="zh-TW" altLang="en-US" dirty="0"/>
                        </a:p>
                      </a:txBody>
                      <a:tcPr/>
                    </a:tc>
                    <a:tc>
                      <a:txBody>
                        <a:bodyPr/>
                        <a:lstStyle/>
                        <a:p>
                          <a:pPr algn="ctr"/>
                          <a:r>
                            <a:rPr lang="en-US" altLang="zh-TW" b="1" dirty="0" smtClean="0"/>
                            <a:t>[5, 7]</a:t>
                          </a:r>
                          <a:endParaRPr lang="zh-TW" altLang="en-US" b="1" dirty="0"/>
                        </a:p>
                      </a:txBody>
                      <a:tcPr/>
                    </a:tc>
                    <a:tc>
                      <a:txBody>
                        <a:bodyPr/>
                        <a:lstStyle/>
                        <a:p>
                          <a:pPr algn="ctr"/>
                          <a:endParaRPr lang="zh-TW" altLang="en-US" dirty="0"/>
                        </a:p>
                      </a:txBody>
                      <a:tcPr/>
                    </a:tc>
                    <a:tc>
                      <a:txBody>
                        <a:bodyPr/>
                        <a:lstStyle/>
                        <a:p>
                          <a:pPr algn="ctr"/>
                          <a:endParaRPr lang="zh-TW" altLang="en-US" dirty="0"/>
                        </a:p>
                      </a:txBody>
                      <a:tcPr/>
                    </a:tc>
                  </a:tr>
                </a:tbl>
              </a:graphicData>
            </a:graphic>
          </p:graphicFrame>
        </mc:Choice>
        <mc:Fallback>
          <p:graphicFrame>
            <p:nvGraphicFramePr>
              <p:cNvPr id="11" name="表格 10"/>
              <p:cNvGraphicFramePr>
                <a:graphicFrameLocks noGrp="1"/>
              </p:cNvGraphicFramePr>
              <p:nvPr>
                <p:extLst>
                  <p:ext uri="{D42A27DB-BD31-4B8C-83A1-F6EECF244321}">
                    <p14:modId xmlns="" xmlns:p14="http://schemas.microsoft.com/office/powerpoint/2010/main" val="152039319"/>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endParaRPr lang="zh-TW"/>
                        </a:p>
                      </a:txBody>
                      <a:tcPr>
                        <a:blipFill rotWithShape="1">
                          <a:blip r:embed="rId4"/>
                          <a:stretch>
                            <a:fillRect l="-633" t="-8197" r="-298734" b="-322951"/>
                          </a:stretch>
                        </a:blipFill>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endParaRPr lang="zh-TW"/>
                        </a:p>
                      </a:txBody>
                      <a:tcPr>
                        <a:blipFill rotWithShape="1">
                          <a:blip r:embed="rId4"/>
                          <a:stretch>
                            <a:fillRect l="-633" t="-108197" r="-298734" b="-222951"/>
                          </a:stretch>
                        </a:blipFill>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r>
                            <a:rPr lang="en-US" altLang="zh-TW" dirty="0" smtClean="0"/>
                            <a:t>[5, 1]</a:t>
                          </a:r>
                          <a:endParaRPr lang="zh-TW" altLang="en-US" dirty="0"/>
                        </a:p>
                      </a:txBody>
                      <a:tcPr/>
                    </a:tc>
                  </a:tr>
                  <a:tr h="370840">
                    <a:tc>
                      <a:txBody>
                        <a:bodyPr/>
                        <a:lstStyle/>
                        <a:p>
                          <a:endParaRPr lang="zh-TW"/>
                        </a:p>
                      </a:txBody>
                      <a:tcPr>
                        <a:blipFill rotWithShape="1">
                          <a:blip r:embed="rId4"/>
                          <a:stretch>
                            <a:fillRect l="-633" t="-211667" r="-298734" b="-126667"/>
                          </a:stretch>
                        </a:blipFill>
                      </a:tcPr>
                    </a:tc>
                    <a:tc>
                      <a:txBody>
                        <a:bodyPr/>
                        <a:lstStyle/>
                        <a:p>
                          <a:pPr algn="ctr"/>
                          <a:r>
                            <a:rPr lang="en-US" altLang="zh-TW" dirty="0" smtClean="0"/>
                            <a:t>[2, 6]</a:t>
                          </a:r>
                          <a:endParaRPr lang="zh-TW" altLang="en-US" dirty="0"/>
                        </a:p>
                      </a:txBody>
                      <a:tcPr/>
                    </a:tc>
                    <a:tc>
                      <a:txBody>
                        <a:bodyPr/>
                        <a:lstStyle/>
                        <a:p>
                          <a:pPr algn="ctr"/>
                          <a:r>
                            <a:rPr lang="en-US" altLang="zh-TW" dirty="0" smtClean="0"/>
                            <a:t>[4, 4]</a:t>
                          </a:r>
                          <a:endParaRPr lang="zh-TW" altLang="en-US" dirty="0"/>
                        </a:p>
                      </a:txBody>
                      <a:tcPr/>
                    </a:tc>
                    <a:tc>
                      <a:txBody>
                        <a:bodyPr/>
                        <a:lstStyle/>
                        <a:p>
                          <a:pPr algn="ctr"/>
                          <a:r>
                            <a:rPr lang="en-US" altLang="zh-TW" dirty="0" smtClean="0"/>
                            <a:t>[6, 3]</a:t>
                          </a:r>
                          <a:endParaRPr lang="zh-TW" altLang="en-US" dirty="0"/>
                        </a:p>
                      </a:txBody>
                      <a:tcPr/>
                    </a:tc>
                  </a:tr>
                  <a:tr h="370840">
                    <a:tc>
                      <a:txBody>
                        <a:bodyPr/>
                        <a:lstStyle/>
                        <a:p>
                          <a:endParaRPr lang="zh-TW"/>
                        </a:p>
                      </a:txBody>
                      <a:tcPr>
                        <a:blipFill rotWithShape="1">
                          <a:blip r:embed="rId4"/>
                          <a:stretch>
                            <a:fillRect l="-633" t="-306557" r="-298734" b="-24590"/>
                          </a:stretch>
                        </a:blipFill>
                      </a:tcPr>
                    </a:tc>
                    <a:tc>
                      <a:txBody>
                        <a:bodyPr/>
                        <a:lstStyle/>
                        <a:p>
                          <a:pPr algn="ctr"/>
                          <a:r>
                            <a:rPr lang="en-US" altLang="zh-TW" b="1" dirty="0" smtClean="0"/>
                            <a:t>[5, 7]</a:t>
                          </a:r>
                          <a:endParaRPr lang="zh-TW" altLang="en-US" b="1" dirty="0"/>
                        </a:p>
                      </a:txBody>
                      <a:tcPr/>
                    </a:tc>
                    <a:tc>
                      <a:txBody>
                        <a:bodyPr/>
                        <a:lstStyle/>
                        <a:p>
                          <a:pPr algn="ctr"/>
                          <a:endParaRPr lang="zh-TW" altLang="en-US" dirty="0"/>
                        </a:p>
                      </a:txBody>
                      <a:tcPr/>
                    </a:tc>
                    <a:tc>
                      <a:txBody>
                        <a:bodyPr/>
                        <a:lstStyle/>
                        <a:p>
                          <a:pPr algn="ctr"/>
                          <a:endParaRPr lang="zh-TW" altLang="en-US" dirty="0"/>
                        </a:p>
                      </a:txBody>
                      <a:tcPr/>
                    </a:tc>
                  </a:tr>
                </a:tbl>
              </a:graphicData>
            </a:graphic>
          </p:graphicFrame>
        </mc:Fallback>
      </mc:AlternateContent>
      <p:sp>
        <p:nvSpPr>
          <p:cNvPr id="13" name="矩形 12"/>
          <p:cNvSpPr/>
          <p:nvPr/>
        </p:nvSpPr>
        <p:spPr>
          <a:xfrm>
            <a:off x="2844239" y="3278777"/>
            <a:ext cx="1367721" cy="7920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2421621" y="2867335"/>
            <a:ext cx="432048" cy="43204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sp>
            <p:nvSpPr>
              <p:cNvPr id="14" name="矩形 13"/>
              <p:cNvSpPr/>
              <p:nvPr/>
            </p:nvSpPr>
            <p:spPr>
              <a:xfrm>
                <a:off x="5200205" y="1532582"/>
                <a:ext cx="2497800" cy="954107"/>
              </a:xfrm>
              <a:prstGeom prst="rect">
                <a:avLst/>
              </a:prstGeom>
            </p:spPr>
            <p:txBody>
              <a:bodyPr wrap="none">
                <a:spAutoFit/>
              </a:bodyPr>
              <a:lstStyle/>
              <a:p>
                <a14:m>
                  <m:oMath xmlns:m="http://schemas.openxmlformats.org/officeDocument/2006/math">
                    <m:r>
                      <m:rPr>
                        <m:sty m:val="p"/>
                      </m:rPr>
                      <a:rPr lang="el-GR" altLang="zh-TW" sz="2800" i="1" smtClean="0">
                        <a:latin typeface="Cambria Math"/>
                      </a:rPr>
                      <m:t>α</m:t>
                    </m:r>
                  </m:oMath>
                </a14:m>
                <a:r>
                  <a:rPr lang="zh-TW" altLang="en-US" sz="2800" dirty="0" smtClean="0"/>
                  <a:t/>
                </a:r>
                <a:r>
                  <a:rPr lang="en-US" altLang="zh-TW" sz="2800" dirty="0" smtClean="0"/>
                  <a:t>= c b </a:t>
                </a:r>
                <a:r>
                  <a:rPr lang="en-US" altLang="zh-TW" sz="2800" dirty="0" err="1" smtClean="0"/>
                  <a:t>b</a:t>
                </a:r>
                <a:r>
                  <a:rPr lang="en-US" altLang="zh-TW" sz="2800" dirty="0" smtClean="0"/>
                  <a:t> d a c</a:t>
                </a:r>
                <a:br>
                  <a:rPr lang="en-US" altLang="zh-TW" sz="2800" dirty="0" smtClean="0"/>
                </a:br>
                <a14:m>
                  <m:oMath xmlns:m="http://schemas.openxmlformats.org/officeDocument/2006/math">
                    <m:r>
                      <m:rPr>
                        <m:sty m:val="p"/>
                      </m:rPr>
                      <a:rPr lang="el-GR" altLang="zh-TW" sz="2800" i="1">
                        <a:latin typeface="Cambria Math"/>
                      </a:rPr>
                      <m:t>β</m:t>
                    </m:r>
                  </m:oMath>
                </a14:m>
                <a:r>
                  <a:rPr lang="en-US" altLang="zh-TW" sz="2800" b="0" dirty="0" smtClean="0"/>
                  <a:t> = a b c d </a:t>
                </a:r>
                <a:r>
                  <a:rPr lang="en-US" altLang="zh-TW" sz="2800" b="0" dirty="0" err="1" smtClean="0"/>
                  <a:t>d</a:t>
                </a:r>
                <a:r>
                  <a:rPr lang="en-US" altLang="zh-TW" sz="2800" b="0" dirty="0" smtClean="0"/>
                  <a:t> b a</a:t>
                </a:r>
              </a:p>
            </p:txBody>
          </p:sp>
        </mc:Choice>
        <mc:Fallback>
          <p:sp>
            <p:nvSpPr>
              <p:cNvPr id="14" name="矩形 13"/>
              <p:cNvSpPr>
                <a:spLocks noRot="1" noChangeAspect="1" noMove="1" noResize="1" noEditPoints="1" noAdjustHandles="1" noChangeArrowheads="1" noChangeShapeType="1" noTextEdit="1"/>
              </p:cNvSpPr>
              <p:nvPr/>
            </p:nvSpPr>
            <p:spPr>
              <a:xfrm>
                <a:off x="5200205" y="1532582"/>
                <a:ext cx="2497800" cy="954107"/>
              </a:xfrm>
              <a:prstGeom prst="rect">
                <a:avLst/>
              </a:prstGeom>
              <a:blipFill rotWithShape="1">
                <a:blip r:embed="rId5"/>
                <a:stretch>
                  <a:fillRect t="-6369" r="-4146" b="-16561"/>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15" name="文字方塊 14"/>
              <p:cNvSpPr txBox="1"/>
              <p:nvPr/>
            </p:nvSpPr>
            <p:spPr>
              <a:xfrm>
                <a:off x="570654" y="980728"/>
                <a:ext cx="946285" cy="391646"/>
              </a:xfrm>
              <a:prstGeom prst="rect">
                <a:avLst/>
              </a:prstGeom>
              <a:noFill/>
            </p:spPr>
            <p:txBody>
              <a:bodyPr wrap="none" rtlCol="0">
                <a:spAutoFit/>
              </a:bodyPr>
              <a:lstStyle/>
              <a:p>
                <a:r>
                  <a:rPr lang="zh-TW" altLang="en-US" dirty="0" smtClean="0"/>
                  <a:t>尋找</a:t>
                </a:r>
                <a14:m>
                  <m:oMath xmlns:m="http://schemas.openxmlformats.org/officeDocument/2006/math">
                    <m:sSub>
                      <m:sSubPr>
                        <m:ctrlPr>
                          <a:rPr lang="en-US" altLang="zh-TW" i="1">
                            <a:latin typeface="Cambria Math"/>
                          </a:rPr>
                        </m:ctrlPr>
                      </m:sSubPr>
                      <m:e>
                        <m:r>
                          <a:rPr lang="en-US" altLang="zh-TW" b="0" i="1" smtClean="0">
                            <a:latin typeface="Cambria Math"/>
                          </a:rPr>
                          <m:t>𝐷</m:t>
                        </m:r>
                      </m:e>
                      <m:sub>
                        <m:r>
                          <a:rPr lang="en-US" altLang="zh-TW" i="1">
                            <a:latin typeface="Cambria Math"/>
                          </a:rPr>
                          <m:t>𝑖𝑗</m:t>
                        </m:r>
                      </m:sub>
                    </m:sSub>
                  </m:oMath>
                </a14:m>
                <a:endParaRPr lang="zh-TW" altLang="en-US" dirty="0"/>
              </a:p>
            </p:txBody>
          </p:sp>
        </mc:Choice>
        <mc:Fallback>
          <p:sp>
            <p:nvSpPr>
              <p:cNvPr id="15" name="文字方塊 14"/>
              <p:cNvSpPr txBox="1">
                <a:spLocks noRot="1" noChangeAspect="1" noMove="1" noResize="1" noEditPoints="1" noAdjustHandles="1" noChangeArrowheads="1" noChangeShapeType="1" noTextEdit="1"/>
              </p:cNvSpPr>
              <p:nvPr/>
            </p:nvSpPr>
            <p:spPr>
              <a:xfrm>
                <a:off x="570654" y="980728"/>
                <a:ext cx="946285" cy="391646"/>
              </a:xfrm>
              <a:prstGeom prst="rect">
                <a:avLst/>
              </a:prstGeom>
              <a:blipFill rotWithShape="1">
                <a:blip r:embed="rId6"/>
                <a:stretch>
                  <a:fillRect l="-5806" t="-6250" b="-20313"/>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41687194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p:graphicFrame>
        <p:nvGraphicFramePr>
          <p:cNvPr id="4" name="內容版面配置區 3"/>
          <p:cNvGraphicFramePr>
            <a:graphicFrameLocks noGrp="1"/>
          </p:cNvGraphicFramePr>
          <p:nvPr>
            <p:ph idx="1"/>
            <p:extLst>
              <p:ext uri="{D42A27DB-BD31-4B8C-83A1-F6EECF244321}">
                <p14:modId xmlns="" xmlns:p14="http://schemas.microsoft.com/office/powerpoint/2010/main" val="3182867338"/>
              </p:ext>
            </p:extLst>
          </p:nvPr>
        </p:nvGraphicFramePr>
        <p:xfrm>
          <a:off x="581902" y="1484784"/>
          <a:ext cx="3672408" cy="2595880"/>
        </p:xfrm>
        <a:graphic>
          <a:graphicData uri="http://schemas.openxmlformats.org/drawingml/2006/table">
            <a:tbl>
              <a:tblPr firstRow="1" bandRow="1">
                <a:tableStyleId>{5C22544A-7EE6-4342-B048-85BDC9FD1C3A}</a:tableStyleId>
              </a:tblPr>
              <a:tblGrid>
                <a:gridCol w="459051"/>
                <a:gridCol w="459051"/>
                <a:gridCol w="459051"/>
                <a:gridCol w="459051"/>
                <a:gridCol w="459051"/>
                <a:gridCol w="459051"/>
                <a:gridCol w="459051"/>
                <a:gridCol w="459051"/>
              </a:tblGrid>
              <a:tr h="370840">
                <a:tc>
                  <a:txBody>
                    <a:bodyPr/>
                    <a:lstStyle/>
                    <a:p>
                      <a:pPr algn="ctr"/>
                      <a:r>
                        <a:rPr lang="en-US" altLang="zh-TW" dirty="0" smtClean="0"/>
                        <a:t>0</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solidFill>
                          <a:srgbClr val="FF0000"/>
                        </a:solidFill>
                      </a:endParaRPr>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extLst>
              <p:ext uri="{D42A27DB-BD31-4B8C-83A1-F6EECF244321}">
                <p14:modId xmlns="" xmlns:p14="http://schemas.microsoft.com/office/powerpoint/2010/main" val="1080219582"/>
              </p:ext>
            </p:extLst>
          </p:nvPr>
        </p:nvGraphicFramePr>
        <p:xfrm>
          <a:off x="755576" y="4734436"/>
          <a:ext cx="3168352" cy="1828800"/>
        </p:xfrm>
        <a:graphic>
          <a:graphicData uri="http://schemas.openxmlformats.org/drawingml/2006/table">
            <a:tbl>
              <a:tblPr firstRow="1" bandRow="1">
                <a:tableStyleId>{5C22544A-7EE6-4342-B048-85BDC9FD1C3A}</a:tableStyleId>
              </a:tblPr>
              <a:tblGrid>
                <a:gridCol w="396044"/>
                <a:gridCol w="396044"/>
                <a:gridCol w="396044"/>
                <a:gridCol w="396044"/>
                <a:gridCol w="396044"/>
                <a:gridCol w="396044"/>
                <a:gridCol w="396044"/>
                <a:gridCol w="396044"/>
              </a:tblGrid>
              <a:tr h="0">
                <a:tc>
                  <a:txBody>
                    <a:bodyPr/>
                    <a:lstStyle/>
                    <a:p>
                      <a:pPr algn="ctr"/>
                      <a:endParaRPr lang="zh-TW" altLang="en-US" dirty="0"/>
                    </a:p>
                  </a:txBody>
                  <a:tcPr>
                    <a:lnTlToBr w="12700" cap="flat" cmpd="sng" algn="ctr">
                      <a:noFill/>
                      <a:prstDash val="solid"/>
                      <a:round/>
                      <a:headEnd type="none" w="med" len="med"/>
                      <a:tailEnd type="none" w="med" len="med"/>
                    </a:lnTlToBr>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0">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4</a:t>
                      </a:r>
                      <a:endParaRPr lang="zh-TW" altLang="en-US" dirty="0">
                        <a:solidFill>
                          <a:srgbClr val="FF0000"/>
                        </a:solidFill>
                      </a:endParaRPr>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 xmlns:p14="http://schemas.microsoft.com/office/powerpoint/2010/main" val="2037727378"/>
              </p:ext>
            </p:extLst>
          </p:nvPr>
        </p:nvGraphicFramePr>
        <p:xfrm>
          <a:off x="4860036" y="4725144"/>
          <a:ext cx="3600396" cy="1828800"/>
        </p:xfrm>
        <a:graphic>
          <a:graphicData uri="http://schemas.openxmlformats.org/drawingml/2006/table">
            <a:tbl>
              <a:tblPr firstRow="1" bandRow="1">
                <a:tableStyleId>{5C22544A-7EE6-4342-B048-85BDC9FD1C3A}</a:tableStyleId>
              </a:tblPr>
              <a:tblGrid>
                <a:gridCol w="400044"/>
                <a:gridCol w="400044"/>
                <a:gridCol w="400044"/>
                <a:gridCol w="400044"/>
                <a:gridCol w="400044"/>
                <a:gridCol w="400044"/>
                <a:gridCol w="400044"/>
                <a:gridCol w="400044"/>
                <a:gridCol w="400044"/>
              </a:tblGrid>
              <a:tr h="158418">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158418">
                <a:tc>
                  <a:txBody>
                    <a:bodyPr/>
                    <a:lstStyle/>
                    <a:p>
                      <a:pPr algn="ctr"/>
                      <a:r>
                        <a:rPr lang="en-US" altLang="zh-TW" dirty="0" smtClean="0">
                          <a:solidFill>
                            <a:srgbClr val="FF0000"/>
                          </a:solidFill>
                        </a:rPr>
                        <a:t>a</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b</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c</a:t>
                      </a:r>
                      <a:endParaRPr lang="zh-TW" altLang="en-US" dirty="0">
                        <a:solidFill>
                          <a:srgbClr val="FF0000"/>
                        </a:solidFill>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d</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bl>
          </a:graphicData>
        </a:graphic>
      </p:graphicFrame>
      <mc:AlternateContent xmlns:mc="http://schemas.openxmlformats.org/markup-compatibility/2006">
        <mc:Choice xmlns="" xmlns:a14="http://schemas.microsoft.com/office/drawing/2010/main" Requires="a14">
          <p:sp>
            <p:nvSpPr>
              <p:cNvPr id="7" name="矩形 6"/>
              <p:cNvSpPr/>
              <p:nvPr/>
            </p:nvSpPr>
            <p:spPr>
              <a:xfrm>
                <a:off x="1578389" y="4365104"/>
                <a:ext cx="1679434" cy="369332"/>
              </a:xfrm>
              <a:prstGeom prst="rect">
                <a:avLst/>
              </a:prstGeom>
            </p:spPr>
            <p:txBody>
              <a:bodyPr wrap="none">
                <a:spAutoFit/>
              </a:bodyPr>
              <a:lstStyle/>
              <a:p>
                <a14:m>
                  <m:oMath xmlns:m="http://schemas.openxmlformats.org/officeDocument/2006/math">
                    <m:r>
                      <m:rPr>
                        <m:sty m:val="p"/>
                      </m:rPr>
                      <a:rPr lang="el-GR" altLang="zh-TW" i="1">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a:t/>
                </a:r>
                <a:endParaRPr lang="zh-TW" altLang="en-US" dirty="0"/>
              </a:p>
            </p:txBody>
          </p:sp>
        </mc:Choice>
        <mc:Fallback>
          <p:sp>
            <p:nvSpPr>
              <p:cNvPr id="7" name="矩形 6"/>
              <p:cNvSpPr>
                <a:spLocks noRot="1" noChangeAspect="1" noMove="1" noResize="1" noEditPoints="1" noAdjustHandles="1" noChangeArrowheads="1" noChangeShapeType="1" noTextEdit="1"/>
              </p:cNvSpPr>
              <p:nvPr/>
            </p:nvSpPr>
            <p:spPr>
              <a:xfrm>
                <a:off x="1578389" y="4365104"/>
                <a:ext cx="1679434" cy="369332"/>
              </a:xfrm>
              <a:prstGeom prst="rect">
                <a:avLst/>
              </a:prstGeom>
              <a:blipFill rotWithShape="1">
                <a:blip r:embed="rId2"/>
                <a:stretch>
                  <a:fillRect/>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8" name="矩形 7"/>
              <p:cNvSpPr/>
              <p:nvPr/>
            </p:nvSpPr>
            <p:spPr>
              <a:xfrm>
                <a:off x="5652124" y="4365104"/>
                <a:ext cx="1593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m:oMathPara>
                </a14:m>
                <a:endParaRPr lang="zh-TW" altLang="en-US" dirty="0"/>
              </a:p>
            </p:txBody>
          </p:sp>
        </mc:Choice>
        <mc:Fallback>
          <p:sp>
            <p:nvSpPr>
              <p:cNvPr id="8" name="矩形 7"/>
              <p:cNvSpPr>
                <a:spLocks noRot="1" noChangeAspect="1" noMove="1" noResize="1" noEditPoints="1" noAdjustHandles="1" noChangeArrowheads="1" noChangeShapeType="1" noTextEdit="1"/>
              </p:cNvSpPr>
              <p:nvPr/>
            </p:nvSpPr>
            <p:spPr>
              <a:xfrm>
                <a:off x="5652124" y="4365104"/>
                <a:ext cx="1593962" cy="369332"/>
              </a:xfrm>
              <a:prstGeom prst="rect">
                <a:avLst/>
              </a:prstGeom>
              <a:blipFill rotWithShape="1">
                <a:blip r:embed="rId3"/>
                <a:stretch>
                  <a:fillRect b="-13115"/>
                </a:stretch>
              </a:blipFill>
            </p:spPr>
            <p:txBody>
              <a:bodyPr/>
              <a:lstStyle/>
              <a:p>
                <a:r>
                  <a:rPr lang="zh-TW" altLang="en-US">
                    <a:noFill/>
                  </a:rPr>
                  <a:t> </a:t>
                </a:r>
              </a:p>
            </p:txBody>
          </p:sp>
        </mc:Fallback>
      </mc:AlternateContent>
      <p:sp>
        <p:nvSpPr>
          <p:cNvPr id="9" name="矩形 8"/>
          <p:cNvSpPr/>
          <p:nvPr/>
        </p:nvSpPr>
        <p:spPr>
          <a:xfrm>
            <a:off x="3563888" y="4745511"/>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6474933" y="4792109"/>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graphicFrame>
            <p:nvGraphicFramePr>
              <p:cNvPr id="11" name="表格 10"/>
              <p:cNvGraphicFramePr>
                <a:graphicFrameLocks noGrp="1"/>
              </p:cNvGraphicFramePr>
              <p:nvPr>
                <p:extLst>
                  <p:ext uri="{D42A27DB-BD31-4B8C-83A1-F6EECF244321}">
                    <p14:modId xmlns:p14="http://schemas.microsoft.com/office/powerpoint/2010/main" val="2432559367"/>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0</m:t>
                                    </m:r>
                                  </m:sup>
                                </m:sSup>
                              </m:oMath>
                            </m:oMathPara>
                          </a14:m>
                          <a:endParaRPr lang="zh-TW" altLang="en-US" dirty="0"/>
                        </a:p>
                      </a:txBody>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1</m:t>
                                    </m:r>
                                  </m:sup>
                                </m:sSup>
                              </m:oMath>
                            </m:oMathPara>
                          </a14:m>
                          <a:endParaRPr lang="zh-TW" altLang="en-US" dirty="0"/>
                        </a:p>
                      </a:txBody>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r>
                            <a:rPr lang="en-US" altLang="zh-TW" dirty="0" smtClean="0"/>
                            <a:t>[5, 1]</a:t>
                          </a:r>
                          <a:endParaRPr lang="zh-TW" altLang="en-US"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2</m:t>
                                    </m:r>
                                  </m:sup>
                                </m:sSup>
                              </m:oMath>
                            </m:oMathPara>
                          </a14:m>
                          <a:endParaRPr lang="zh-TW" altLang="en-US" dirty="0"/>
                        </a:p>
                      </a:txBody>
                      <a:tcPr/>
                    </a:tc>
                    <a:tc>
                      <a:txBody>
                        <a:bodyPr/>
                        <a:lstStyle/>
                        <a:p>
                          <a:pPr algn="ctr"/>
                          <a:r>
                            <a:rPr lang="en-US" altLang="zh-TW" dirty="0" smtClean="0"/>
                            <a:t>[2, 6]</a:t>
                          </a:r>
                          <a:endParaRPr lang="zh-TW" altLang="en-US" dirty="0"/>
                        </a:p>
                      </a:txBody>
                      <a:tcPr/>
                    </a:tc>
                    <a:tc>
                      <a:txBody>
                        <a:bodyPr/>
                        <a:lstStyle/>
                        <a:p>
                          <a:pPr algn="ctr"/>
                          <a:r>
                            <a:rPr lang="en-US" altLang="zh-TW" dirty="0" smtClean="0"/>
                            <a:t>[4, 4]</a:t>
                          </a:r>
                          <a:endParaRPr lang="zh-TW" altLang="en-US" dirty="0"/>
                        </a:p>
                      </a:txBody>
                      <a:tcPr/>
                    </a:tc>
                    <a:tc>
                      <a:txBody>
                        <a:bodyPr/>
                        <a:lstStyle/>
                        <a:p>
                          <a:pPr algn="ctr"/>
                          <a:r>
                            <a:rPr lang="en-US" altLang="zh-TW" dirty="0" smtClean="0"/>
                            <a:t>[6, 3]</a:t>
                          </a:r>
                          <a:endParaRPr lang="zh-TW" altLang="en-US"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3</m:t>
                                    </m:r>
                                  </m:sup>
                                </m:sSup>
                              </m:oMath>
                            </m:oMathPara>
                          </a14:m>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[5, 7]</a:t>
                          </a:r>
                          <a:endParaRPr lang="zh-TW" altLang="en-US"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dirty="0" smtClean="0"/>
                        </a:p>
                      </a:txBody>
                      <a:tcPr/>
                    </a:tc>
                    <a:tc>
                      <a:txBody>
                        <a:bodyPr/>
                        <a:lstStyle/>
                        <a:p>
                          <a:pPr algn="ctr"/>
                          <a:endParaRPr lang="zh-TW" altLang="en-US" dirty="0"/>
                        </a:p>
                      </a:txBody>
                      <a:tcPr/>
                    </a:tc>
                  </a:tr>
                </a:tbl>
              </a:graphicData>
            </a:graphic>
          </p:graphicFrame>
        </mc:Choice>
        <mc:Fallback>
          <p:graphicFrame>
            <p:nvGraphicFramePr>
              <p:cNvPr id="11" name="表格 10"/>
              <p:cNvGraphicFramePr>
                <a:graphicFrameLocks noGrp="1"/>
              </p:cNvGraphicFramePr>
              <p:nvPr>
                <p:extLst>
                  <p:ext uri="{D42A27DB-BD31-4B8C-83A1-F6EECF244321}">
                    <p14:modId xmlns:a14="http://schemas.microsoft.com/office/drawing/2010/main" xmlns="" xmlns:p14="http://schemas.microsoft.com/office/powerpoint/2010/main" val="2432559367"/>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endParaRPr lang="zh-TW"/>
                        </a:p>
                      </a:txBody>
                      <a:tcPr>
                        <a:blipFill rotWithShape="1">
                          <a:blip r:embed="rId4"/>
                          <a:stretch>
                            <a:fillRect l="-633" t="-8197" r="-298734" b="-322951"/>
                          </a:stretch>
                        </a:blipFill>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endParaRPr lang="zh-TW"/>
                        </a:p>
                      </a:txBody>
                      <a:tcPr>
                        <a:blipFill rotWithShape="1">
                          <a:blip r:embed="rId4"/>
                          <a:stretch>
                            <a:fillRect l="-633" t="-108197" r="-298734" b="-222951"/>
                          </a:stretch>
                        </a:blipFill>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r>
                            <a:rPr lang="en-US" altLang="zh-TW" dirty="0" smtClean="0"/>
                            <a:t>[5, 1]</a:t>
                          </a:r>
                          <a:endParaRPr lang="zh-TW" altLang="en-US" dirty="0"/>
                        </a:p>
                      </a:txBody>
                      <a:tcPr/>
                    </a:tc>
                  </a:tr>
                  <a:tr h="370840">
                    <a:tc>
                      <a:txBody>
                        <a:bodyPr/>
                        <a:lstStyle/>
                        <a:p>
                          <a:endParaRPr lang="zh-TW"/>
                        </a:p>
                      </a:txBody>
                      <a:tcPr>
                        <a:blipFill rotWithShape="1">
                          <a:blip r:embed="rId4"/>
                          <a:stretch>
                            <a:fillRect l="-633" t="-211667" r="-298734" b="-126667"/>
                          </a:stretch>
                        </a:blipFill>
                      </a:tcPr>
                    </a:tc>
                    <a:tc>
                      <a:txBody>
                        <a:bodyPr/>
                        <a:lstStyle/>
                        <a:p>
                          <a:pPr algn="ctr"/>
                          <a:r>
                            <a:rPr lang="en-US" altLang="zh-TW" dirty="0" smtClean="0"/>
                            <a:t>[2, 6]</a:t>
                          </a:r>
                          <a:endParaRPr lang="zh-TW" altLang="en-US" dirty="0"/>
                        </a:p>
                      </a:txBody>
                      <a:tcPr/>
                    </a:tc>
                    <a:tc>
                      <a:txBody>
                        <a:bodyPr/>
                        <a:lstStyle/>
                        <a:p>
                          <a:pPr algn="ctr"/>
                          <a:r>
                            <a:rPr lang="en-US" altLang="zh-TW" dirty="0" smtClean="0"/>
                            <a:t>[4, 4]</a:t>
                          </a:r>
                          <a:endParaRPr lang="zh-TW" altLang="en-US" dirty="0"/>
                        </a:p>
                      </a:txBody>
                      <a:tcPr/>
                    </a:tc>
                    <a:tc>
                      <a:txBody>
                        <a:bodyPr/>
                        <a:lstStyle/>
                        <a:p>
                          <a:pPr algn="ctr"/>
                          <a:r>
                            <a:rPr lang="en-US" altLang="zh-TW" dirty="0" smtClean="0"/>
                            <a:t>[6, 3]</a:t>
                          </a:r>
                          <a:endParaRPr lang="zh-TW" altLang="en-US" dirty="0"/>
                        </a:p>
                      </a:txBody>
                      <a:tcPr/>
                    </a:tc>
                  </a:tr>
                  <a:tr h="370840">
                    <a:tc>
                      <a:txBody>
                        <a:bodyPr/>
                        <a:lstStyle/>
                        <a:p>
                          <a:endParaRPr lang="zh-TW"/>
                        </a:p>
                      </a:txBody>
                      <a:tcPr>
                        <a:blipFill rotWithShape="1">
                          <a:blip r:embed="rId4"/>
                          <a:stretch>
                            <a:fillRect l="-633" t="-306557" r="-298734" b="-24590"/>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[5, 7]</a:t>
                          </a:r>
                          <a:endParaRPr lang="zh-TW" altLang="en-US"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dirty="0" smtClean="0"/>
                        </a:p>
                      </a:txBody>
                      <a:tcPr/>
                    </a:tc>
                    <a:tc>
                      <a:txBody>
                        <a:bodyPr/>
                        <a:lstStyle/>
                        <a:p>
                          <a:pPr algn="ctr"/>
                          <a:endParaRPr lang="zh-TW" altLang="en-US" dirty="0"/>
                        </a:p>
                      </a:txBody>
                      <a:tcPr/>
                    </a:tc>
                  </a:tr>
                </a:tbl>
              </a:graphicData>
            </a:graphic>
          </p:graphicFrame>
        </mc:Fallback>
      </mc:AlternateContent>
      <p:sp>
        <p:nvSpPr>
          <p:cNvPr id="12" name="橢圓 11"/>
          <p:cNvSpPr/>
          <p:nvPr/>
        </p:nvSpPr>
        <p:spPr>
          <a:xfrm>
            <a:off x="1986058" y="3645024"/>
            <a:ext cx="432048" cy="43204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sp>
            <p:nvSpPr>
              <p:cNvPr id="13" name="矩形 12"/>
              <p:cNvSpPr/>
              <p:nvPr/>
            </p:nvSpPr>
            <p:spPr>
              <a:xfrm>
                <a:off x="5200205" y="1532582"/>
                <a:ext cx="2497800" cy="954107"/>
              </a:xfrm>
              <a:prstGeom prst="rect">
                <a:avLst/>
              </a:prstGeom>
            </p:spPr>
            <p:txBody>
              <a:bodyPr wrap="none">
                <a:spAutoFit/>
              </a:bodyPr>
              <a:lstStyle/>
              <a:p>
                <a14:m>
                  <m:oMath xmlns:m="http://schemas.openxmlformats.org/officeDocument/2006/math">
                    <m:r>
                      <m:rPr>
                        <m:sty m:val="p"/>
                      </m:rPr>
                      <a:rPr lang="el-GR" altLang="zh-TW" sz="2800" i="1" smtClean="0">
                        <a:latin typeface="Cambria Math"/>
                      </a:rPr>
                      <m:t>α</m:t>
                    </m:r>
                  </m:oMath>
                </a14:m>
                <a:r>
                  <a:rPr lang="zh-TW" altLang="en-US" sz="2800" dirty="0" smtClean="0"/>
                  <a:t/>
                </a:r>
                <a:r>
                  <a:rPr lang="en-US" altLang="zh-TW" sz="2800" dirty="0" smtClean="0"/>
                  <a:t>= c b </a:t>
                </a:r>
                <a:r>
                  <a:rPr lang="en-US" altLang="zh-TW" sz="2800" dirty="0" err="1" smtClean="0"/>
                  <a:t>b</a:t>
                </a:r>
                <a:r>
                  <a:rPr lang="en-US" altLang="zh-TW" sz="2800" dirty="0" smtClean="0"/>
                  <a:t> d a c</a:t>
                </a:r>
                <a:br>
                  <a:rPr lang="en-US" altLang="zh-TW" sz="2800" dirty="0" smtClean="0"/>
                </a:br>
                <a14:m>
                  <m:oMath xmlns:m="http://schemas.openxmlformats.org/officeDocument/2006/math">
                    <m:r>
                      <m:rPr>
                        <m:sty m:val="p"/>
                      </m:rPr>
                      <a:rPr lang="el-GR" altLang="zh-TW" sz="2800" i="1">
                        <a:latin typeface="Cambria Math"/>
                      </a:rPr>
                      <m:t>β</m:t>
                    </m:r>
                  </m:oMath>
                </a14:m>
                <a:r>
                  <a:rPr lang="en-US" altLang="zh-TW" sz="2800" b="0" dirty="0" smtClean="0"/>
                  <a:t> = a b c d </a:t>
                </a:r>
                <a:r>
                  <a:rPr lang="en-US" altLang="zh-TW" sz="2800" b="0" dirty="0" err="1" smtClean="0"/>
                  <a:t>d</a:t>
                </a:r>
                <a:r>
                  <a:rPr lang="en-US" altLang="zh-TW" sz="2800" b="0" dirty="0" smtClean="0"/>
                  <a:t> b a</a:t>
                </a:r>
              </a:p>
            </p:txBody>
          </p:sp>
        </mc:Choice>
        <mc:Fallback>
          <p:sp>
            <p:nvSpPr>
              <p:cNvPr id="13" name="矩形 12"/>
              <p:cNvSpPr>
                <a:spLocks noRot="1" noChangeAspect="1" noMove="1" noResize="1" noEditPoints="1" noAdjustHandles="1" noChangeArrowheads="1" noChangeShapeType="1" noTextEdit="1"/>
              </p:cNvSpPr>
              <p:nvPr/>
            </p:nvSpPr>
            <p:spPr>
              <a:xfrm>
                <a:off x="5200205" y="1532582"/>
                <a:ext cx="2497800" cy="954107"/>
              </a:xfrm>
              <a:prstGeom prst="rect">
                <a:avLst/>
              </a:prstGeom>
              <a:blipFill rotWithShape="1">
                <a:blip r:embed="rId5"/>
                <a:stretch>
                  <a:fillRect t="-6369" r="-4146" b="-16561"/>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14" name="文字方塊 13"/>
              <p:cNvSpPr txBox="1"/>
              <p:nvPr/>
            </p:nvSpPr>
            <p:spPr>
              <a:xfrm>
                <a:off x="570654" y="980728"/>
                <a:ext cx="946285" cy="391646"/>
              </a:xfrm>
              <a:prstGeom prst="rect">
                <a:avLst/>
              </a:prstGeom>
              <a:noFill/>
            </p:spPr>
            <p:txBody>
              <a:bodyPr wrap="none" rtlCol="0">
                <a:spAutoFit/>
              </a:bodyPr>
              <a:lstStyle/>
              <a:p>
                <a:r>
                  <a:rPr lang="zh-TW" altLang="en-US" dirty="0" smtClean="0"/>
                  <a:t>尋找</a:t>
                </a:r>
                <a14:m>
                  <m:oMath xmlns:m="http://schemas.openxmlformats.org/officeDocument/2006/math">
                    <m:sSub>
                      <m:sSubPr>
                        <m:ctrlPr>
                          <a:rPr lang="en-US" altLang="zh-TW" i="1">
                            <a:latin typeface="Cambria Math"/>
                          </a:rPr>
                        </m:ctrlPr>
                      </m:sSubPr>
                      <m:e>
                        <m:r>
                          <a:rPr lang="en-US" altLang="zh-TW" b="0" i="1" smtClean="0">
                            <a:latin typeface="Cambria Math"/>
                          </a:rPr>
                          <m:t>𝐷</m:t>
                        </m:r>
                      </m:e>
                      <m:sub>
                        <m:r>
                          <a:rPr lang="en-US" altLang="zh-TW" i="1">
                            <a:latin typeface="Cambria Math"/>
                          </a:rPr>
                          <m:t>𝑖𝑗</m:t>
                        </m:r>
                      </m:sub>
                    </m:sSub>
                  </m:oMath>
                </a14:m>
                <a:endParaRPr lang="zh-TW" altLang="en-US" dirty="0"/>
              </a:p>
            </p:txBody>
          </p:sp>
        </mc:Choice>
        <mc:Fallback>
          <p:sp>
            <p:nvSpPr>
              <p:cNvPr id="14" name="文字方塊 13"/>
              <p:cNvSpPr txBox="1">
                <a:spLocks noRot="1" noChangeAspect="1" noMove="1" noResize="1" noEditPoints="1" noAdjustHandles="1" noChangeArrowheads="1" noChangeShapeType="1" noTextEdit="1"/>
              </p:cNvSpPr>
              <p:nvPr/>
            </p:nvSpPr>
            <p:spPr>
              <a:xfrm>
                <a:off x="570654" y="980728"/>
                <a:ext cx="946285" cy="391646"/>
              </a:xfrm>
              <a:prstGeom prst="rect">
                <a:avLst/>
              </a:prstGeom>
              <a:blipFill rotWithShape="1">
                <a:blip r:embed="rId6"/>
                <a:stretch>
                  <a:fillRect l="-5806" t="-6250" b="-20313"/>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19598707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p:graphicFrame>
        <p:nvGraphicFramePr>
          <p:cNvPr id="4" name="內容版面配置區 3"/>
          <p:cNvGraphicFramePr>
            <a:graphicFrameLocks noGrp="1"/>
          </p:cNvGraphicFramePr>
          <p:nvPr>
            <p:ph idx="1"/>
            <p:extLst>
              <p:ext uri="{D42A27DB-BD31-4B8C-83A1-F6EECF244321}">
                <p14:modId xmlns="" xmlns:p14="http://schemas.microsoft.com/office/powerpoint/2010/main" val="2973419277"/>
              </p:ext>
            </p:extLst>
          </p:nvPr>
        </p:nvGraphicFramePr>
        <p:xfrm>
          <a:off x="581902" y="1484784"/>
          <a:ext cx="3672408" cy="2595880"/>
        </p:xfrm>
        <a:graphic>
          <a:graphicData uri="http://schemas.openxmlformats.org/drawingml/2006/table">
            <a:tbl>
              <a:tblPr firstRow="1" bandRow="1">
                <a:tableStyleId>{5C22544A-7EE6-4342-B048-85BDC9FD1C3A}</a:tableStyleId>
              </a:tblPr>
              <a:tblGrid>
                <a:gridCol w="459051"/>
                <a:gridCol w="459051"/>
                <a:gridCol w="459051"/>
                <a:gridCol w="459051"/>
                <a:gridCol w="459051"/>
                <a:gridCol w="459051"/>
                <a:gridCol w="459051"/>
                <a:gridCol w="459051"/>
              </a:tblGrid>
              <a:tr h="370840">
                <a:tc>
                  <a:txBody>
                    <a:bodyPr/>
                    <a:lstStyle/>
                    <a:p>
                      <a:pPr algn="ctr"/>
                      <a:r>
                        <a:rPr lang="en-US" altLang="zh-TW" dirty="0" smtClean="0"/>
                        <a:t>0</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r>
                        <a:rPr lang="en-US" altLang="zh-TW" dirty="0" smtClean="0"/>
                        <a:t>a</a:t>
                      </a:r>
                      <a:endParaRPr lang="zh-TW" altLang="en-US" dirty="0"/>
                    </a:p>
                  </a:txBody>
                  <a:tcPr>
                    <a:solidFill>
                      <a:schemeClr val="accent5">
                        <a:lumMod val="40000"/>
                        <a:lumOff val="60000"/>
                      </a:schemeClr>
                    </a:solidFill>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solidFill>
                          <a:srgbClr val="FF0000"/>
                        </a:solidFill>
                      </a:endParaRPr>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r>
              <a:tr h="370840">
                <a:tc>
                  <a:txBody>
                    <a:bodyPr/>
                    <a:lstStyle/>
                    <a:p>
                      <a:pPr algn="ctr"/>
                      <a:r>
                        <a:rPr lang="en-US" altLang="zh-TW" dirty="0" smtClean="0"/>
                        <a:t>b</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r h="370840">
                <a:tc>
                  <a:txBody>
                    <a:bodyPr/>
                    <a:lstStyle/>
                    <a:p>
                      <a:pPr algn="ctr"/>
                      <a:r>
                        <a:rPr lang="en-US" altLang="zh-TW" dirty="0" smtClean="0"/>
                        <a:t>d</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370840">
                <a:tc>
                  <a:txBody>
                    <a:bodyPr/>
                    <a:lstStyle/>
                    <a:p>
                      <a:pPr algn="ctr"/>
                      <a:r>
                        <a:rPr lang="en-US" altLang="zh-TW" dirty="0" smtClean="0"/>
                        <a:t>a</a:t>
                      </a:r>
                      <a:endParaRPr lang="zh-TW" altLang="en-US" dirty="0"/>
                    </a:p>
                  </a:txBody>
                  <a:tcPr>
                    <a:solidFill>
                      <a:schemeClr val="accent5">
                        <a:lumMod val="40000"/>
                        <a:lumOff val="60000"/>
                      </a:schemeClr>
                    </a:solidFill>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r>
              <a:tr h="370840">
                <a:tc>
                  <a:txBody>
                    <a:bodyPr/>
                    <a:lstStyle/>
                    <a:p>
                      <a:pPr algn="ctr"/>
                      <a:r>
                        <a:rPr lang="en-US" altLang="zh-TW" dirty="0" smtClean="0"/>
                        <a:t>c</a:t>
                      </a:r>
                      <a:endParaRPr lang="zh-TW" altLang="en-US" dirty="0"/>
                    </a:p>
                  </a:txBody>
                  <a:tcPr>
                    <a:solidFill>
                      <a:schemeClr val="accent5">
                        <a:lumMod val="40000"/>
                        <a:lumOff val="60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solidFill>
                            <a:schemeClr val="tx1"/>
                          </a:solidFill>
                        </a:rPr>
                        <a:t>*</a:t>
                      </a:r>
                      <a:endParaRPr lang="zh-TW" altLang="en-US" dirty="0">
                        <a:solidFill>
                          <a:schemeClr val="tx1"/>
                        </a:solidFill>
                      </a:endParaRPr>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r>
            </a:tbl>
          </a:graphicData>
        </a:graphic>
      </p:graphicFrame>
      <p:graphicFrame>
        <p:nvGraphicFramePr>
          <p:cNvPr id="5" name="表格 4"/>
          <p:cNvGraphicFramePr>
            <a:graphicFrameLocks noGrp="1"/>
          </p:cNvGraphicFramePr>
          <p:nvPr>
            <p:extLst>
              <p:ext uri="{D42A27DB-BD31-4B8C-83A1-F6EECF244321}">
                <p14:modId xmlns="" xmlns:p14="http://schemas.microsoft.com/office/powerpoint/2010/main" val="2021126289"/>
              </p:ext>
            </p:extLst>
          </p:nvPr>
        </p:nvGraphicFramePr>
        <p:xfrm>
          <a:off x="755576" y="4734436"/>
          <a:ext cx="3168352" cy="1828800"/>
        </p:xfrm>
        <a:graphic>
          <a:graphicData uri="http://schemas.openxmlformats.org/drawingml/2006/table">
            <a:tbl>
              <a:tblPr firstRow="1" bandRow="1">
                <a:tableStyleId>{5C22544A-7EE6-4342-B048-85BDC9FD1C3A}</a:tableStyleId>
              </a:tblPr>
              <a:tblGrid>
                <a:gridCol w="396044"/>
                <a:gridCol w="396044"/>
                <a:gridCol w="396044"/>
                <a:gridCol w="396044"/>
                <a:gridCol w="396044"/>
                <a:gridCol w="396044"/>
                <a:gridCol w="396044"/>
                <a:gridCol w="396044"/>
              </a:tblGrid>
              <a:tr h="0">
                <a:tc>
                  <a:txBody>
                    <a:bodyPr/>
                    <a:lstStyle/>
                    <a:p>
                      <a:pPr algn="ctr"/>
                      <a:endParaRPr lang="zh-TW" altLang="en-US" dirty="0"/>
                    </a:p>
                  </a:txBody>
                  <a:tcPr>
                    <a:lnTlToBr w="12700" cap="flat" cmpd="sng" algn="ctr">
                      <a:noFill/>
                      <a:prstDash val="solid"/>
                      <a:round/>
                      <a:headEnd type="none" w="med" len="med"/>
                      <a:tailEnd type="none" w="med" len="med"/>
                    </a:lnTlToBr>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0">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r h="0">
                <a:tc>
                  <a:txBody>
                    <a:bodyPr/>
                    <a:lstStyle/>
                    <a:p>
                      <a:pPr algn="ctr"/>
                      <a:r>
                        <a:rPr lang="en-US" altLang="zh-TW" dirty="0" smtClean="0">
                          <a:solidFill>
                            <a:srgbClr val="FF0000"/>
                          </a:solidFill>
                        </a:rPr>
                        <a:t>4</a:t>
                      </a:r>
                      <a:endParaRPr lang="zh-TW" altLang="en-US" dirty="0">
                        <a:solidFill>
                          <a:srgbClr val="FF0000"/>
                        </a:solidFill>
                      </a:endParaRPr>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 xmlns:p14="http://schemas.microsoft.com/office/powerpoint/2010/main" val="3040834614"/>
              </p:ext>
            </p:extLst>
          </p:nvPr>
        </p:nvGraphicFramePr>
        <p:xfrm>
          <a:off x="4860036" y="4725144"/>
          <a:ext cx="3600396" cy="1828800"/>
        </p:xfrm>
        <a:graphic>
          <a:graphicData uri="http://schemas.openxmlformats.org/drawingml/2006/table">
            <a:tbl>
              <a:tblPr firstRow="1" bandRow="1">
                <a:tableStyleId>{5C22544A-7EE6-4342-B048-85BDC9FD1C3A}</a:tableStyleId>
              </a:tblPr>
              <a:tblGrid>
                <a:gridCol w="400044"/>
                <a:gridCol w="400044"/>
                <a:gridCol w="400044"/>
                <a:gridCol w="400044"/>
                <a:gridCol w="400044"/>
                <a:gridCol w="400044"/>
                <a:gridCol w="400044"/>
                <a:gridCol w="400044"/>
                <a:gridCol w="400044"/>
              </a:tblGrid>
              <a:tr h="158418">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r>
              <a:tr h="158418">
                <a:tc>
                  <a:txBody>
                    <a:bodyPr/>
                    <a:lstStyle/>
                    <a:p>
                      <a:pPr algn="ctr"/>
                      <a:r>
                        <a:rPr lang="en-US" altLang="zh-TW" dirty="0" smtClean="0">
                          <a:solidFill>
                            <a:srgbClr val="FF0000"/>
                          </a:solidFill>
                        </a:rPr>
                        <a:t>a</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b</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c</a:t>
                      </a:r>
                      <a:endParaRPr lang="zh-TW" altLang="en-US" dirty="0">
                        <a:solidFill>
                          <a:srgbClr val="FF0000"/>
                        </a:solidFill>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r h="158418">
                <a:tc>
                  <a:txBody>
                    <a:bodyPr/>
                    <a:lstStyle/>
                    <a:p>
                      <a:pPr algn="ctr"/>
                      <a:r>
                        <a:rPr lang="en-US" altLang="zh-TW" dirty="0" smtClean="0">
                          <a:solidFill>
                            <a:srgbClr val="FF0000"/>
                          </a:solidFill>
                        </a:rPr>
                        <a:t>d</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8</a:t>
                      </a:r>
                      <a:endParaRPr lang="zh-TW" altLang="en-US" dirty="0"/>
                    </a:p>
                  </a:txBody>
                  <a:tcPr/>
                </a:tc>
              </a:tr>
            </a:tbl>
          </a:graphicData>
        </a:graphic>
      </p:graphicFrame>
      <mc:AlternateContent xmlns:mc="http://schemas.openxmlformats.org/markup-compatibility/2006">
        <mc:Choice xmlns="" xmlns:a14="http://schemas.microsoft.com/office/drawing/2010/main" Requires="a14">
          <p:sp>
            <p:nvSpPr>
              <p:cNvPr id="7" name="矩形 6"/>
              <p:cNvSpPr/>
              <p:nvPr/>
            </p:nvSpPr>
            <p:spPr>
              <a:xfrm>
                <a:off x="1578389" y="4365104"/>
                <a:ext cx="1679434" cy="369332"/>
              </a:xfrm>
              <a:prstGeom prst="rect">
                <a:avLst/>
              </a:prstGeom>
            </p:spPr>
            <p:txBody>
              <a:bodyPr wrap="none">
                <a:spAutoFit/>
              </a:bodyPr>
              <a:lstStyle/>
              <a:p>
                <a14:m>
                  <m:oMath xmlns:m="http://schemas.openxmlformats.org/officeDocument/2006/math">
                    <m:r>
                      <m:rPr>
                        <m:sty m:val="p"/>
                      </m:rPr>
                      <a:rPr lang="el-GR" altLang="zh-TW" i="1">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en-US" altLang="zh-TW" dirty="0"/>
                  <a:t/>
                </a:r>
                <a:endParaRPr lang="zh-TW" altLang="en-US" dirty="0"/>
              </a:p>
            </p:txBody>
          </p:sp>
        </mc:Choice>
        <mc:Fallback>
          <p:sp>
            <p:nvSpPr>
              <p:cNvPr id="7" name="矩形 6"/>
              <p:cNvSpPr>
                <a:spLocks noRot="1" noChangeAspect="1" noMove="1" noResize="1" noEditPoints="1" noAdjustHandles="1" noChangeArrowheads="1" noChangeShapeType="1" noTextEdit="1"/>
              </p:cNvSpPr>
              <p:nvPr/>
            </p:nvSpPr>
            <p:spPr>
              <a:xfrm>
                <a:off x="1578389" y="4365104"/>
                <a:ext cx="1679434" cy="369332"/>
              </a:xfrm>
              <a:prstGeom prst="rect">
                <a:avLst/>
              </a:prstGeom>
              <a:blipFill rotWithShape="1">
                <a:blip r:embed="rId2"/>
                <a:stretch>
                  <a:fillRect/>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sp>
            <p:nvSpPr>
              <p:cNvPr id="8" name="矩形 7"/>
              <p:cNvSpPr/>
              <p:nvPr/>
            </p:nvSpPr>
            <p:spPr>
              <a:xfrm>
                <a:off x="5652124" y="4365104"/>
                <a:ext cx="1593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m:oMathPara>
                </a14:m>
                <a:endParaRPr lang="zh-TW" altLang="en-US" dirty="0"/>
              </a:p>
            </p:txBody>
          </p:sp>
        </mc:Choice>
        <mc:Fallback>
          <p:sp>
            <p:nvSpPr>
              <p:cNvPr id="8" name="矩形 7"/>
              <p:cNvSpPr>
                <a:spLocks noRot="1" noChangeAspect="1" noMove="1" noResize="1" noEditPoints="1" noAdjustHandles="1" noChangeArrowheads="1" noChangeShapeType="1" noTextEdit="1"/>
              </p:cNvSpPr>
              <p:nvPr/>
            </p:nvSpPr>
            <p:spPr>
              <a:xfrm>
                <a:off x="5652124" y="4365104"/>
                <a:ext cx="1593962" cy="369332"/>
              </a:xfrm>
              <a:prstGeom prst="rect">
                <a:avLst/>
              </a:prstGeom>
              <a:blipFill rotWithShape="1">
                <a:blip r:embed="rId3"/>
                <a:stretch>
                  <a:fillRect b="-13115"/>
                </a:stretch>
              </a:blipFill>
            </p:spPr>
            <p:txBody>
              <a:bodyPr/>
              <a:lstStyle/>
              <a:p>
                <a:r>
                  <a:rPr lang="zh-TW" altLang="en-US">
                    <a:noFill/>
                  </a:rPr>
                  <a:t> </a:t>
                </a:r>
              </a:p>
            </p:txBody>
          </p:sp>
        </mc:Fallback>
      </mc:AlternateContent>
      <p:sp>
        <p:nvSpPr>
          <p:cNvPr id="9" name="矩形 8"/>
          <p:cNvSpPr/>
          <p:nvPr/>
        </p:nvSpPr>
        <p:spPr>
          <a:xfrm>
            <a:off x="3162565" y="4745511"/>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8100392" y="4792109"/>
            <a:ext cx="329315" cy="1790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graphicFrame>
            <p:nvGraphicFramePr>
              <p:cNvPr id="11" name="表格 10"/>
              <p:cNvGraphicFramePr>
                <a:graphicFrameLocks noGrp="1"/>
              </p:cNvGraphicFramePr>
              <p:nvPr>
                <p:extLst>
                  <p:ext uri="{D42A27DB-BD31-4B8C-83A1-F6EECF244321}">
                    <p14:modId xmlns:p14="http://schemas.microsoft.com/office/powerpoint/2010/main" val="1366571270"/>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0</m:t>
                                    </m:r>
                                  </m:sup>
                                </m:sSup>
                              </m:oMath>
                            </m:oMathPara>
                          </a14:m>
                          <a:endParaRPr lang="zh-TW" altLang="en-US" dirty="0"/>
                        </a:p>
                      </a:txBody>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1</m:t>
                                    </m:r>
                                  </m:sup>
                                </m:sSup>
                              </m:oMath>
                            </m:oMathPara>
                          </a14:m>
                          <a:endParaRPr lang="zh-TW" altLang="en-US" dirty="0"/>
                        </a:p>
                      </a:txBody>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r>
                            <a:rPr lang="en-US" altLang="zh-TW" dirty="0" smtClean="0"/>
                            <a:t>[5, 1]</a:t>
                          </a:r>
                          <a:endParaRPr lang="zh-TW" altLang="en-US"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2</m:t>
                                    </m:r>
                                  </m:sup>
                                </m:sSup>
                              </m:oMath>
                            </m:oMathPara>
                          </a14:m>
                          <a:endParaRPr lang="zh-TW" altLang="en-US" dirty="0"/>
                        </a:p>
                      </a:txBody>
                      <a:tcPr/>
                    </a:tc>
                    <a:tc>
                      <a:txBody>
                        <a:bodyPr/>
                        <a:lstStyle/>
                        <a:p>
                          <a:pPr algn="ctr"/>
                          <a:r>
                            <a:rPr lang="en-US" altLang="zh-TW" dirty="0" smtClean="0"/>
                            <a:t>[2, 6]</a:t>
                          </a:r>
                          <a:endParaRPr lang="zh-TW" altLang="en-US" dirty="0"/>
                        </a:p>
                      </a:txBody>
                      <a:tcPr/>
                    </a:tc>
                    <a:tc>
                      <a:txBody>
                        <a:bodyPr/>
                        <a:lstStyle/>
                        <a:p>
                          <a:pPr algn="ctr"/>
                          <a:r>
                            <a:rPr lang="en-US" altLang="zh-TW" dirty="0" smtClean="0"/>
                            <a:t>[4, 4]</a:t>
                          </a:r>
                          <a:endParaRPr lang="zh-TW" altLang="en-US" dirty="0"/>
                        </a:p>
                      </a:txBody>
                      <a:tcPr/>
                    </a:tc>
                    <a:tc>
                      <a:txBody>
                        <a:bodyPr/>
                        <a:lstStyle/>
                        <a:p>
                          <a:pPr algn="ctr"/>
                          <a:r>
                            <a:rPr lang="en-US" altLang="zh-TW" dirty="0" smtClean="0"/>
                            <a:t>[6, 3]</a:t>
                          </a:r>
                          <a:endParaRPr lang="zh-TW" altLang="en-US" dirty="0"/>
                        </a:p>
                      </a:txBody>
                      <a:tcPr/>
                    </a:tc>
                  </a:tr>
                  <a:tr h="370840">
                    <a:tc>
                      <a:txBody>
                        <a:bodyPr/>
                        <a:lstStyle/>
                        <a:p>
                          <a:pPr algn="ctr"/>
                          <a14:m>
                            <m:oMathPara xmlns:m="http://schemas.openxmlformats.org/officeDocument/2006/math">
                              <m:oMathParaPr>
                                <m:jc m:val="centerGroup"/>
                              </m:oMathParaPr>
                              <m:oMath xmlns:m="http://schemas.openxmlformats.org/officeDocument/2006/math">
                                <m:sSup>
                                  <m:sSupPr>
                                    <m:ctrlPr>
                                      <a:rPr lang="en-US" altLang="zh-TW" i="1" smtClean="0">
                                        <a:latin typeface="Cambria Math"/>
                                      </a:rPr>
                                    </m:ctrlPr>
                                  </m:sSupPr>
                                  <m:e>
                                    <m:r>
                                      <a:rPr lang="en-US" altLang="zh-TW" b="0" i="1" smtClean="0">
                                        <a:latin typeface="Cambria Math"/>
                                      </a:rPr>
                                      <m:t>𝐷</m:t>
                                    </m:r>
                                  </m:e>
                                  <m:sup>
                                    <m:r>
                                      <a:rPr lang="en-US" altLang="zh-TW" b="0" i="1" smtClean="0">
                                        <a:latin typeface="Cambria Math"/>
                                      </a:rPr>
                                      <m:t>3</m:t>
                                    </m:r>
                                  </m:sup>
                                </m:sSup>
                              </m:oMath>
                            </m:oMathPara>
                          </a14:m>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[5, 7]</a:t>
                          </a:r>
                          <a:endParaRPr lang="zh-TW" altLang="en-US"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dirty="0" smtClean="0"/>
                        </a:p>
                      </a:txBody>
                      <a:tcPr/>
                    </a:tc>
                    <a:tc>
                      <a:txBody>
                        <a:bodyPr/>
                        <a:lstStyle/>
                        <a:p>
                          <a:pPr algn="ctr"/>
                          <a:endParaRPr lang="zh-TW" altLang="en-US" dirty="0"/>
                        </a:p>
                      </a:txBody>
                      <a:tcPr/>
                    </a:tc>
                  </a:tr>
                </a:tbl>
              </a:graphicData>
            </a:graphic>
          </p:graphicFrame>
        </mc:Choice>
        <mc:Fallback>
          <p:graphicFrame>
            <p:nvGraphicFramePr>
              <p:cNvPr id="11" name="表格 10"/>
              <p:cNvGraphicFramePr>
                <a:graphicFrameLocks noGrp="1"/>
              </p:cNvGraphicFramePr>
              <p:nvPr>
                <p:extLst>
                  <p:ext uri="{D42A27DB-BD31-4B8C-83A1-F6EECF244321}">
                    <p14:modId xmlns:a14="http://schemas.microsoft.com/office/drawing/2010/main" xmlns="" xmlns:p14="http://schemas.microsoft.com/office/powerpoint/2010/main" val="2432559367"/>
                  </p:ext>
                </p:extLst>
              </p:nvPr>
            </p:nvGraphicFramePr>
            <p:xfrm>
              <a:off x="4716016" y="2521704"/>
              <a:ext cx="3840092" cy="1483360"/>
            </p:xfrm>
            <a:graphic>
              <a:graphicData uri="http://schemas.openxmlformats.org/drawingml/2006/table">
                <a:tbl>
                  <a:tblPr firstRow="1" bandRow="1">
                    <a:tableStyleId>{69CF1AB2-1976-4502-BF36-3FF5EA218861}</a:tableStyleId>
                  </a:tblPr>
                  <a:tblGrid>
                    <a:gridCol w="960023"/>
                    <a:gridCol w="960023"/>
                    <a:gridCol w="960023"/>
                    <a:gridCol w="960023"/>
                  </a:tblGrid>
                  <a:tr h="370840">
                    <a:tc>
                      <a:txBody>
                        <a:bodyPr/>
                        <a:lstStyle/>
                        <a:p>
                          <a:endParaRPr lang="zh-TW"/>
                        </a:p>
                      </a:txBody>
                      <a:tcPr>
                        <a:blipFill rotWithShape="1">
                          <a:blip r:embed="rId4"/>
                          <a:stretch>
                            <a:fillRect l="-633" t="-8197" r="-298734" b="-322951"/>
                          </a:stretch>
                        </a:blipFill>
                      </a:tcPr>
                    </a:tc>
                    <a:tc>
                      <a:txBody>
                        <a:bodyPr/>
                        <a:lstStyle/>
                        <a:p>
                          <a:pPr algn="ctr"/>
                          <a:r>
                            <a:rPr lang="en-US" altLang="zh-TW" b="0" dirty="0" smtClean="0"/>
                            <a:t>[0, 0]</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endParaRPr lang="zh-TW"/>
                        </a:p>
                      </a:txBody>
                      <a:tcPr>
                        <a:blipFill rotWithShape="1">
                          <a:blip r:embed="rId4"/>
                          <a:stretch>
                            <a:fillRect l="-633" t="-108197" r="-298734" b="-222951"/>
                          </a:stretch>
                        </a:blipFill>
                      </a:tcPr>
                    </a:tc>
                    <a:tc>
                      <a:txBody>
                        <a:bodyPr/>
                        <a:lstStyle/>
                        <a:p>
                          <a:pPr algn="ctr"/>
                          <a:r>
                            <a:rPr lang="en-US" altLang="zh-TW" dirty="0" smtClean="0"/>
                            <a:t>[1, 3]</a:t>
                          </a:r>
                          <a:endParaRPr lang="zh-TW" altLang="en-US" dirty="0"/>
                        </a:p>
                      </a:txBody>
                      <a:tcPr/>
                    </a:tc>
                    <a:tc>
                      <a:txBody>
                        <a:bodyPr/>
                        <a:lstStyle/>
                        <a:p>
                          <a:pPr algn="ctr"/>
                          <a:r>
                            <a:rPr lang="en-US" altLang="zh-TW" dirty="0" smtClean="0"/>
                            <a:t>[2, 2]</a:t>
                          </a:r>
                          <a:endParaRPr lang="zh-TW" altLang="en-US" dirty="0"/>
                        </a:p>
                      </a:txBody>
                      <a:tcPr/>
                    </a:tc>
                    <a:tc>
                      <a:txBody>
                        <a:bodyPr/>
                        <a:lstStyle/>
                        <a:p>
                          <a:pPr algn="ctr"/>
                          <a:r>
                            <a:rPr lang="en-US" altLang="zh-TW" dirty="0" smtClean="0"/>
                            <a:t>[5, 1]</a:t>
                          </a:r>
                          <a:endParaRPr lang="zh-TW" altLang="en-US" dirty="0"/>
                        </a:p>
                      </a:txBody>
                      <a:tcPr/>
                    </a:tc>
                  </a:tr>
                  <a:tr h="370840">
                    <a:tc>
                      <a:txBody>
                        <a:bodyPr/>
                        <a:lstStyle/>
                        <a:p>
                          <a:endParaRPr lang="zh-TW"/>
                        </a:p>
                      </a:txBody>
                      <a:tcPr>
                        <a:blipFill rotWithShape="1">
                          <a:blip r:embed="rId4"/>
                          <a:stretch>
                            <a:fillRect l="-633" t="-211667" r="-298734" b="-126667"/>
                          </a:stretch>
                        </a:blipFill>
                      </a:tcPr>
                    </a:tc>
                    <a:tc>
                      <a:txBody>
                        <a:bodyPr/>
                        <a:lstStyle/>
                        <a:p>
                          <a:pPr algn="ctr"/>
                          <a:r>
                            <a:rPr lang="en-US" altLang="zh-TW" dirty="0" smtClean="0"/>
                            <a:t>[2, 6]</a:t>
                          </a:r>
                          <a:endParaRPr lang="zh-TW" altLang="en-US" dirty="0"/>
                        </a:p>
                      </a:txBody>
                      <a:tcPr/>
                    </a:tc>
                    <a:tc>
                      <a:txBody>
                        <a:bodyPr/>
                        <a:lstStyle/>
                        <a:p>
                          <a:pPr algn="ctr"/>
                          <a:r>
                            <a:rPr lang="en-US" altLang="zh-TW" dirty="0" smtClean="0"/>
                            <a:t>[4, 4]</a:t>
                          </a:r>
                          <a:endParaRPr lang="zh-TW" altLang="en-US" dirty="0"/>
                        </a:p>
                      </a:txBody>
                      <a:tcPr/>
                    </a:tc>
                    <a:tc>
                      <a:txBody>
                        <a:bodyPr/>
                        <a:lstStyle/>
                        <a:p>
                          <a:pPr algn="ctr"/>
                          <a:r>
                            <a:rPr lang="en-US" altLang="zh-TW" dirty="0" smtClean="0"/>
                            <a:t>[6, 3]</a:t>
                          </a:r>
                          <a:endParaRPr lang="zh-TW" altLang="en-US" dirty="0"/>
                        </a:p>
                      </a:txBody>
                      <a:tcPr/>
                    </a:tc>
                  </a:tr>
                  <a:tr h="370840">
                    <a:tc>
                      <a:txBody>
                        <a:bodyPr/>
                        <a:lstStyle/>
                        <a:p>
                          <a:endParaRPr lang="zh-TW"/>
                        </a:p>
                      </a:txBody>
                      <a:tcPr>
                        <a:blipFill rotWithShape="1">
                          <a:blip r:embed="rId4"/>
                          <a:stretch>
                            <a:fillRect l="-633" t="-306557" r="-298734" b="-24590"/>
                          </a:stretch>
                        </a:blip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[5, 7]</a:t>
                          </a:r>
                          <a:endParaRPr lang="zh-TW" altLang="en-US"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dirty="0" smtClean="0"/>
                        </a:p>
                      </a:txBody>
                      <a:tcPr/>
                    </a:tc>
                    <a:tc>
                      <a:txBody>
                        <a:bodyPr/>
                        <a:lstStyle/>
                        <a:p>
                          <a:pPr algn="ctr"/>
                          <a:endParaRPr lang="zh-TW" altLang="en-US" dirty="0"/>
                        </a:p>
                      </a:txBody>
                      <a:tcPr/>
                    </a:tc>
                  </a:tr>
                </a:tbl>
              </a:graphicData>
            </a:graphic>
          </p:graphicFrame>
        </mc:Fallback>
      </mc:AlternateContent>
      <p:sp>
        <p:nvSpPr>
          <p:cNvPr id="12" name="橢圓 11"/>
          <p:cNvSpPr/>
          <p:nvPr/>
        </p:nvSpPr>
        <p:spPr>
          <a:xfrm>
            <a:off x="3793096" y="3284984"/>
            <a:ext cx="432048" cy="43204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 xmlns:a14="http://schemas.microsoft.com/office/drawing/2010/main" Requires="a14">
          <p:sp>
            <p:nvSpPr>
              <p:cNvPr id="13" name="矩形 12"/>
              <p:cNvSpPr/>
              <p:nvPr/>
            </p:nvSpPr>
            <p:spPr>
              <a:xfrm>
                <a:off x="5200205" y="1532582"/>
                <a:ext cx="2497800" cy="954107"/>
              </a:xfrm>
              <a:prstGeom prst="rect">
                <a:avLst/>
              </a:prstGeom>
            </p:spPr>
            <p:txBody>
              <a:bodyPr wrap="none">
                <a:spAutoFit/>
              </a:bodyPr>
              <a:lstStyle/>
              <a:p>
                <a14:m>
                  <m:oMath xmlns:m="http://schemas.openxmlformats.org/officeDocument/2006/math">
                    <m:r>
                      <m:rPr>
                        <m:sty m:val="p"/>
                      </m:rPr>
                      <a:rPr lang="el-GR" altLang="zh-TW" sz="2800" i="1" smtClean="0">
                        <a:latin typeface="Cambria Math"/>
                      </a:rPr>
                      <m:t>α</m:t>
                    </m:r>
                  </m:oMath>
                </a14:m>
                <a:r>
                  <a:rPr lang="zh-TW" altLang="en-US" sz="2800" dirty="0" smtClean="0"/>
                  <a:t/>
                </a:r>
                <a:r>
                  <a:rPr lang="en-US" altLang="zh-TW" sz="2800" dirty="0" smtClean="0"/>
                  <a:t>= c b </a:t>
                </a:r>
                <a:r>
                  <a:rPr lang="en-US" altLang="zh-TW" sz="2800" dirty="0" err="1" smtClean="0"/>
                  <a:t>b</a:t>
                </a:r>
                <a:r>
                  <a:rPr lang="en-US" altLang="zh-TW" sz="2800" dirty="0" smtClean="0"/>
                  <a:t> d a c</a:t>
                </a:r>
                <a:br>
                  <a:rPr lang="en-US" altLang="zh-TW" sz="2800" dirty="0" smtClean="0"/>
                </a:br>
                <a14:m>
                  <m:oMath xmlns:m="http://schemas.openxmlformats.org/officeDocument/2006/math">
                    <m:r>
                      <m:rPr>
                        <m:sty m:val="p"/>
                      </m:rPr>
                      <a:rPr lang="el-GR" altLang="zh-TW" sz="2800" i="1">
                        <a:latin typeface="Cambria Math"/>
                      </a:rPr>
                      <m:t>β</m:t>
                    </m:r>
                  </m:oMath>
                </a14:m>
                <a:r>
                  <a:rPr lang="en-US" altLang="zh-TW" sz="2800" b="0" dirty="0" smtClean="0"/>
                  <a:t> = a b c d </a:t>
                </a:r>
                <a:r>
                  <a:rPr lang="en-US" altLang="zh-TW" sz="2800" b="0" dirty="0" err="1" smtClean="0"/>
                  <a:t>d</a:t>
                </a:r>
                <a:r>
                  <a:rPr lang="en-US" altLang="zh-TW" sz="2800" b="0" dirty="0" smtClean="0"/>
                  <a:t> b a</a:t>
                </a:r>
              </a:p>
            </p:txBody>
          </p:sp>
        </mc:Choice>
        <mc:Fallback>
          <p:sp>
            <p:nvSpPr>
              <p:cNvPr id="13" name="矩形 12"/>
              <p:cNvSpPr>
                <a:spLocks noRot="1" noChangeAspect="1" noMove="1" noResize="1" noEditPoints="1" noAdjustHandles="1" noChangeArrowheads="1" noChangeShapeType="1" noTextEdit="1"/>
              </p:cNvSpPr>
              <p:nvPr/>
            </p:nvSpPr>
            <p:spPr>
              <a:xfrm>
                <a:off x="5200205" y="1532582"/>
                <a:ext cx="2497800" cy="954107"/>
              </a:xfrm>
              <a:prstGeom prst="rect">
                <a:avLst/>
              </a:prstGeom>
              <a:blipFill rotWithShape="1">
                <a:blip r:embed="rId5"/>
                <a:stretch>
                  <a:fillRect t="-6369" r="-4146" b="-16561"/>
                </a:stretch>
              </a:blipFill>
            </p:spPr>
            <p:txBody>
              <a:bodyPr/>
              <a:lstStyle/>
              <a:p>
                <a:r>
                  <a:rPr lang="zh-TW" altLang="en-US">
                    <a:noFill/>
                  </a:rPr>
                  <a:t> </a:t>
                </a:r>
              </a:p>
            </p:txBody>
          </p:sp>
        </mc:Fallback>
      </mc:AlternateContent>
      <p:sp>
        <p:nvSpPr>
          <p:cNvPr id="3" name="文字方塊 2"/>
          <p:cNvSpPr txBox="1"/>
          <p:nvPr/>
        </p:nvSpPr>
        <p:spPr>
          <a:xfrm>
            <a:off x="6516216" y="4005064"/>
            <a:ext cx="2108269" cy="369332"/>
          </a:xfrm>
          <a:prstGeom prst="rect">
            <a:avLst/>
          </a:prstGeom>
          <a:noFill/>
        </p:spPr>
        <p:txBody>
          <a:bodyPr wrap="none" rtlCol="0">
            <a:spAutoFit/>
          </a:bodyPr>
          <a:lstStyle/>
          <a:p>
            <a:r>
              <a:rPr lang="zh-TW" altLang="en-US" dirty="0" smtClean="0"/>
              <a:t>完成，</a:t>
            </a:r>
            <a:r>
              <a:rPr lang="en-US" altLang="zh-TW" dirty="0" smtClean="0"/>
              <a:t>LCS</a:t>
            </a:r>
            <a:r>
              <a:rPr lang="zh-TW" altLang="en-US" dirty="0" smtClean="0"/>
              <a:t>長度為</a:t>
            </a:r>
            <a:r>
              <a:rPr lang="en-US" altLang="zh-TW" dirty="0" smtClean="0"/>
              <a:t>3</a:t>
            </a:r>
            <a:endParaRPr lang="zh-TW" altLang="en-US" dirty="0"/>
          </a:p>
        </p:txBody>
      </p:sp>
      <mc:AlternateContent xmlns:mc="http://schemas.openxmlformats.org/markup-compatibility/2006">
        <mc:Choice xmlns="" xmlns:a14="http://schemas.microsoft.com/office/drawing/2010/main" Requires="a14">
          <p:sp>
            <p:nvSpPr>
              <p:cNvPr id="14" name="文字方塊 13"/>
              <p:cNvSpPr txBox="1"/>
              <p:nvPr/>
            </p:nvSpPr>
            <p:spPr>
              <a:xfrm>
                <a:off x="570654" y="980728"/>
                <a:ext cx="946285" cy="391646"/>
              </a:xfrm>
              <a:prstGeom prst="rect">
                <a:avLst/>
              </a:prstGeom>
              <a:noFill/>
            </p:spPr>
            <p:txBody>
              <a:bodyPr wrap="none" rtlCol="0">
                <a:spAutoFit/>
              </a:bodyPr>
              <a:lstStyle/>
              <a:p>
                <a:r>
                  <a:rPr lang="zh-TW" altLang="en-US" dirty="0" smtClean="0"/>
                  <a:t>尋找</a:t>
                </a:r>
                <a14:m>
                  <m:oMath xmlns:m="http://schemas.openxmlformats.org/officeDocument/2006/math">
                    <m:sSub>
                      <m:sSubPr>
                        <m:ctrlPr>
                          <a:rPr lang="en-US" altLang="zh-TW" i="1">
                            <a:latin typeface="Cambria Math"/>
                          </a:rPr>
                        </m:ctrlPr>
                      </m:sSubPr>
                      <m:e>
                        <m:r>
                          <a:rPr lang="en-US" altLang="zh-TW" b="0" i="1" smtClean="0">
                            <a:latin typeface="Cambria Math"/>
                          </a:rPr>
                          <m:t>𝐷</m:t>
                        </m:r>
                      </m:e>
                      <m:sub>
                        <m:r>
                          <a:rPr lang="en-US" altLang="zh-TW" i="1">
                            <a:latin typeface="Cambria Math"/>
                          </a:rPr>
                          <m:t>𝑖𝑗</m:t>
                        </m:r>
                      </m:sub>
                    </m:sSub>
                  </m:oMath>
                </a14:m>
                <a:endParaRPr lang="zh-TW" altLang="en-US" dirty="0"/>
              </a:p>
            </p:txBody>
          </p:sp>
        </mc:Choice>
        <mc:Fallback>
          <p:sp>
            <p:nvSpPr>
              <p:cNvPr id="14" name="文字方塊 13"/>
              <p:cNvSpPr txBox="1">
                <a:spLocks noRot="1" noChangeAspect="1" noMove="1" noResize="1" noEditPoints="1" noAdjustHandles="1" noChangeArrowheads="1" noChangeShapeType="1" noTextEdit="1"/>
              </p:cNvSpPr>
              <p:nvPr/>
            </p:nvSpPr>
            <p:spPr>
              <a:xfrm>
                <a:off x="570654" y="980728"/>
                <a:ext cx="946285" cy="391646"/>
              </a:xfrm>
              <a:prstGeom prst="rect">
                <a:avLst/>
              </a:prstGeom>
              <a:blipFill rotWithShape="1">
                <a:blip r:embed="rId6"/>
                <a:stretch>
                  <a:fillRect l="-5806" t="-6250" b="-20313"/>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31250653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Time Complexity</a:t>
            </a:r>
            <a:endParaRPr lang="zh-TW" altLang="en-US" dirty="0"/>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p:txBody>
              <a:bodyPr>
                <a:normAutofit lnSpcReduction="10000"/>
              </a:bodyPr>
              <a:lstStyle/>
              <a:p>
                <a:r>
                  <a:rPr lang="zh-TW" altLang="en-US" dirty="0" smtClean="0"/>
                  <a:t>建立</a:t>
                </a:r>
                <a14:m>
                  <m:oMath xmlns:m="http://schemas.openxmlformats.org/officeDocument/2006/math">
                    <m:r>
                      <m:rPr>
                        <m:sty m:val="p"/>
                      </m:rPr>
                      <a:rPr lang="el-GR" altLang="zh-TW" i="1">
                        <a:latin typeface="Cambria Math"/>
                      </a:rPr>
                      <m:t>α</m:t>
                    </m:r>
                    <m:r>
                      <a:rPr lang="en-US" altLang="zh-TW" i="1">
                        <a:latin typeface="Cambria Math"/>
                      </a:rPr>
                      <m:t>−</m:t>
                    </m:r>
                    <m:r>
                      <a:rPr lang="en-US" altLang="zh-TW" i="1">
                        <a:latin typeface="Cambria Math"/>
                      </a:rPr>
                      <m:t>𝐶𝐿𝑂𝑆𝐸𝑆</m:t>
                    </m:r>
                    <m:sSup>
                      <m:sSupPr>
                        <m:ctrlPr>
                          <a:rPr lang="en-US" altLang="zh-TW" i="1">
                            <a:latin typeface="Cambria Math"/>
                          </a:rPr>
                        </m:ctrlPr>
                      </m:sSupPr>
                      <m:e>
                        <m:r>
                          <a:rPr lang="en-US" altLang="zh-TW" i="1">
                            <a:latin typeface="Cambria Math"/>
                          </a:rPr>
                          <m:t>𝑇</m:t>
                        </m:r>
                      </m:e>
                      <m:sup>
                        <m:r>
                          <a:rPr lang="en-US" altLang="zh-TW" i="1">
                            <a:latin typeface="Cambria Math"/>
                          </a:rPr>
                          <m:t>′</m:t>
                        </m:r>
                      </m:sup>
                    </m:sSup>
                  </m:oMath>
                </a14:m>
                <a:r>
                  <a:rPr lang="zh-TW" altLang="en-US" dirty="0" smtClean="0"/>
                  <a:t>與</a:t>
                </a:r>
                <a:r>
                  <a:rPr lang="zh-TW" altLang="en-US" dirty="0"/>
                  <a:t/>
                </a:r>
                <a14:m>
                  <m:oMath xmlns:m="http://schemas.openxmlformats.org/officeDocument/2006/math">
                    <m:r>
                      <m:rPr>
                        <m:sty m:val="p"/>
                      </m:rPr>
                      <a:rPr lang="el-GR" altLang="zh-TW" i="1">
                        <a:latin typeface="Cambria Math"/>
                      </a:rPr>
                      <m:t>β</m:t>
                    </m:r>
                    <m:r>
                      <a:rPr lang="en-US" altLang="zh-TW" i="1">
                        <a:latin typeface="Cambria Math"/>
                      </a:rPr>
                      <m:t>−</m:t>
                    </m:r>
                    <m:r>
                      <a:rPr lang="en-US" altLang="zh-TW" i="1">
                        <a:latin typeface="Cambria Math"/>
                      </a:rPr>
                      <m:t>𝐶𝐿𝑂𝑆𝐸𝑆𝑇</m:t>
                    </m:r>
                  </m:oMath>
                </a14:m>
                <a:r>
                  <a:rPr lang="zh-TW" altLang="en-US" dirty="0" smtClean="0"/>
                  <a:t>：</a:t>
                </a:r>
                <a:r>
                  <a:rPr lang="en-US" altLang="zh-TW" dirty="0" smtClean="0"/>
                  <a:t/>
                </a:r>
                <a:br>
                  <a:rPr lang="en-US" altLang="zh-TW" dirty="0" smtClean="0"/>
                </a:br>
                <a14:m>
                  <m:oMath xmlns:m="http://schemas.openxmlformats.org/officeDocument/2006/math">
                    <m:r>
                      <m:rPr>
                        <m:sty m:val="p"/>
                      </m:rPr>
                      <a:rPr lang="en-US" altLang="zh-TW" dirty="0">
                        <a:latin typeface="Cambria Math"/>
                      </a:rPr>
                      <m:t>O</m:t>
                    </m:r>
                    <m:r>
                      <a:rPr lang="en-US" altLang="zh-TW" b="0" i="1" dirty="0" smtClean="0">
                        <a:latin typeface="Cambria Math"/>
                      </a:rPr>
                      <m:t>(</m:t>
                    </m:r>
                    <m:d>
                      <m:dPr>
                        <m:ctrlPr>
                          <a:rPr lang="en-US" altLang="zh-TW" b="0" i="1" dirty="0" smtClean="0">
                            <a:latin typeface="Cambria Math"/>
                          </a:rPr>
                        </m:ctrlPr>
                      </m:dPr>
                      <m:e>
                        <m:r>
                          <a:rPr lang="en-US" altLang="zh-TW" b="0" i="1" dirty="0" smtClean="0">
                            <a:latin typeface="Cambria Math"/>
                          </a:rPr>
                          <m:t>𝑚</m:t>
                        </m:r>
                        <m:r>
                          <a:rPr lang="en-US" altLang="zh-TW" b="0" i="1" dirty="0" smtClean="0">
                            <a:latin typeface="Cambria Math"/>
                          </a:rPr>
                          <m:t>+</m:t>
                        </m:r>
                        <m:r>
                          <a:rPr lang="en-US" altLang="zh-TW" b="0" i="1" dirty="0" smtClean="0">
                            <a:latin typeface="Cambria Math"/>
                          </a:rPr>
                          <m:t>𝑛</m:t>
                        </m:r>
                      </m:e>
                    </m:d>
                    <m:r>
                      <a:rPr lang="en-US" altLang="zh-TW" b="0" i="1" dirty="0" smtClean="0">
                        <a:latin typeface="Cambria Math"/>
                      </a:rPr>
                      <m:t>𝑠</m:t>
                    </m:r>
                    <m:r>
                      <a:rPr lang="en-US" altLang="zh-TW" b="0" i="1" dirty="0" smtClean="0">
                        <a:latin typeface="Cambria Math"/>
                      </a:rPr>
                      <m:t>)</m:t>
                    </m:r>
                  </m:oMath>
                </a14:m>
                <a:endParaRPr lang="en-US" altLang="zh-TW" dirty="0" smtClean="0"/>
              </a:p>
              <a:p>
                <a14:m>
                  <m:oMath xmlns:m="http://schemas.openxmlformats.org/officeDocument/2006/math">
                    <m:d>
                      <m:dPr>
                        <m:begChr m:val="|"/>
                        <m:endChr m:val="|"/>
                        <m:ctrlPr>
                          <a:rPr lang="en-US" altLang="zh-TW" b="0" i="1" smtClean="0">
                            <a:latin typeface="Cambria Math"/>
                          </a:rPr>
                        </m:ctrlPr>
                      </m:dPr>
                      <m:e>
                        <m:sSup>
                          <m:sSupPr>
                            <m:ctrlPr>
                              <a:rPr lang="en-US" altLang="zh-TW" i="1">
                                <a:latin typeface="Cambria Math"/>
                              </a:rPr>
                            </m:ctrlPr>
                          </m:sSupPr>
                          <m:e>
                            <m:r>
                              <a:rPr lang="en-US" altLang="zh-TW" i="1">
                                <a:latin typeface="Cambria Math"/>
                              </a:rPr>
                              <m:t>𝐷</m:t>
                            </m:r>
                          </m:e>
                          <m:sup>
                            <m:r>
                              <a:rPr lang="en-US" altLang="zh-TW" b="0" i="1" smtClean="0">
                                <a:latin typeface="Cambria Math"/>
                              </a:rPr>
                              <m:t>1</m:t>
                            </m:r>
                          </m:sup>
                        </m:sSup>
                      </m:e>
                    </m:d>
                    <m:r>
                      <a:rPr lang="en-US" altLang="zh-TW" b="0" i="1" smtClean="0">
                        <a:latin typeface="Cambria Math"/>
                      </a:rPr>
                      <m:t>+</m:t>
                    </m:r>
                    <m:d>
                      <m:dPr>
                        <m:begChr m:val="|"/>
                        <m:endChr m:val="|"/>
                        <m:ctrlPr>
                          <a:rPr lang="en-US" altLang="zh-TW" i="1">
                            <a:latin typeface="Cambria Math"/>
                          </a:rPr>
                        </m:ctrlPr>
                      </m:dPr>
                      <m:e>
                        <m:sSup>
                          <m:sSupPr>
                            <m:ctrlPr>
                              <a:rPr lang="en-US" altLang="zh-TW" i="1">
                                <a:latin typeface="Cambria Math"/>
                              </a:rPr>
                            </m:ctrlPr>
                          </m:sSupPr>
                          <m:e>
                            <m:r>
                              <a:rPr lang="en-US" altLang="zh-TW" i="1">
                                <a:latin typeface="Cambria Math"/>
                              </a:rPr>
                              <m:t>𝐷</m:t>
                            </m:r>
                          </m:e>
                          <m:sup>
                            <m:r>
                              <a:rPr lang="en-US" altLang="zh-TW" b="0" i="1" smtClean="0">
                                <a:latin typeface="Cambria Math"/>
                              </a:rPr>
                              <m:t>2</m:t>
                            </m:r>
                          </m:sup>
                        </m:sSup>
                      </m:e>
                    </m:d>
                    <m:r>
                      <a:rPr lang="en-US" altLang="zh-TW" b="0" i="1" smtClean="0">
                        <a:latin typeface="Cambria Math"/>
                      </a:rPr>
                      <m:t>+…+</m:t>
                    </m:r>
                    <m:d>
                      <m:dPr>
                        <m:begChr m:val="|"/>
                        <m:endChr m:val="|"/>
                        <m:ctrlPr>
                          <a:rPr lang="en-US" altLang="zh-TW" b="0" i="1" smtClean="0">
                            <a:latin typeface="Cambria Math"/>
                          </a:rPr>
                        </m:ctrlPr>
                      </m:dPr>
                      <m:e>
                        <m:sSup>
                          <m:sSupPr>
                            <m:ctrlPr>
                              <a:rPr lang="en-US" altLang="zh-TW" i="1">
                                <a:latin typeface="Cambria Math"/>
                              </a:rPr>
                            </m:ctrlPr>
                          </m:sSupPr>
                          <m:e>
                            <m:r>
                              <a:rPr lang="en-US" altLang="zh-TW" i="1">
                                <a:latin typeface="Cambria Math"/>
                              </a:rPr>
                              <m:t>𝐷</m:t>
                            </m:r>
                          </m:e>
                          <m:sup>
                            <m:r>
                              <a:rPr lang="en-US" altLang="zh-TW" b="0" i="1" smtClean="0">
                                <a:latin typeface="Cambria Math"/>
                              </a:rPr>
                              <m:t>𝑙</m:t>
                            </m:r>
                          </m:sup>
                        </m:sSup>
                      </m:e>
                    </m:d>
                    <m:r>
                      <a:rPr lang="en-US" altLang="zh-TW" b="0" i="0" smtClean="0">
                        <a:latin typeface="Cambria Math"/>
                      </a:rPr>
                      <m:t>=</m:t>
                    </m:r>
                    <m:r>
                      <a:rPr lang="en-US" altLang="zh-TW" b="0" i="1" smtClean="0">
                        <a:latin typeface="Cambria Math"/>
                      </a:rPr>
                      <m:t>𝑑</m:t>
                    </m:r>
                  </m:oMath>
                </a14:m>
                <a:endParaRPr lang="en-US" altLang="zh-TW" b="0" i="1" dirty="0" smtClean="0">
                  <a:latin typeface="Cambria Math"/>
                </a:endParaRPr>
              </a:p>
              <a:p>
                <a14:m>
                  <m:oMath xmlns:m="http://schemas.openxmlformats.org/officeDocument/2006/math">
                    <m:sSup>
                      <m:sSupPr>
                        <m:ctrlPr>
                          <a:rPr lang="en-US" altLang="zh-TW" i="1">
                            <a:latin typeface="Cambria Math"/>
                          </a:rPr>
                        </m:ctrlPr>
                      </m:sSupPr>
                      <m:e>
                        <m:r>
                          <a:rPr lang="en-US" altLang="zh-TW" i="1">
                            <a:latin typeface="Cambria Math"/>
                          </a:rPr>
                          <m:t>𝐷</m:t>
                        </m:r>
                      </m:e>
                      <m:sup>
                        <m:r>
                          <a:rPr lang="en-US" altLang="zh-TW" b="0" i="1" smtClean="0">
                            <a:latin typeface="Cambria Math"/>
                          </a:rPr>
                          <m:t>𝑘</m:t>
                        </m:r>
                      </m:sup>
                    </m:sSup>
                  </m:oMath>
                </a14:m>
                <a:r>
                  <a:rPr lang="zh-TW" altLang="en-US" dirty="0" smtClean="0"/>
                  <a:t>中每個元素每次需要</a:t>
                </a:r>
                <a:r>
                  <a:rPr lang="en-US" altLang="zh-TW" dirty="0" smtClean="0"/>
                  <a:t>s</a:t>
                </a:r>
                <a:r>
                  <a:rPr lang="zh-TW" altLang="en-US" dirty="0" smtClean="0"/>
                  <a:t>的時間找到</a:t>
                </a:r>
                <a14:m>
                  <m:oMath xmlns:m="http://schemas.openxmlformats.org/officeDocument/2006/math">
                    <m:sSub>
                      <m:sSubPr>
                        <m:ctrlPr>
                          <a:rPr lang="en-US" altLang="zh-TW" i="1">
                            <a:latin typeface="Cambria Math"/>
                          </a:rPr>
                        </m:ctrlPr>
                      </m:sSubPr>
                      <m:e>
                        <m:r>
                          <a:rPr lang="en-US" altLang="zh-TW" i="1">
                            <a:latin typeface="Cambria Math"/>
                          </a:rPr>
                          <m:t>𝐷</m:t>
                        </m:r>
                      </m:e>
                      <m:sub>
                        <m:r>
                          <a:rPr lang="en-US" altLang="zh-TW" b="0" i="1" smtClean="0">
                            <a:latin typeface="Cambria Math"/>
                          </a:rPr>
                          <m:t>𝑖𝑗</m:t>
                        </m:r>
                      </m:sub>
                    </m:sSub>
                  </m:oMath>
                </a14:m>
                <a:r>
                  <a:rPr lang="zh-TW" altLang="en-US" dirty="0"/>
                  <a:t/>
                </a:r>
                <a:r>
                  <a:rPr lang="zh-TW" altLang="en-US" dirty="0" smtClean="0"/>
                  <a:t>，故此步驟需要</a:t>
                </a:r>
                <a14:m>
                  <m:oMath xmlns:m="http://schemas.openxmlformats.org/officeDocument/2006/math">
                    <m:r>
                      <m:rPr>
                        <m:sty m:val="p"/>
                      </m:rPr>
                      <a:rPr lang="en-US" altLang="zh-TW" dirty="0">
                        <a:latin typeface="Cambria Math"/>
                      </a:rPr>
                      <m:t>O</m:t>
                    </m:r>
                    <m:r>
                      <a:rPr lang="en-US" altLang="zh-TW" b="0" i="1" dirty="0" smtClean="0">
                        <a:latin typeface="Cambria Math"/>
                      </a:rPr>
                      <m:t>(</m:t>
                    </m:r>
                    <m:r>
                      <a:rPr lang="en-US" altLang="zh-TW" b="0" i="1" dirty="0" smtClean="0">
                        <a:latin typeface="Cambria Math"/>
                      </a:rPr>
                      <m:t>𝑑𝑠</m:t>
                    </m:r>
                    <m:r>
                      <a:rPr lang="en-US" altLang="zh-TW" b="0" i="1" dirty="0" smtClean="0">
                        <a:latin typeface="Cambria Math"/>
                      </a:rPr>
                      <m:t>)</m:t>
                    </m:r>
                  </m:oMath>
                </a14:m>
                <a:endParaRPr lang="en-US" altLang="zh-TW" dirty="0"/>
              </a:p>
              <a:p>
                <a:r>
                  <a:rPr lang="zh-TW" altLang="en-US" dirty="0" smtClean="0"/>
                  <a:t>此步驟不會超過</a:t>
                </a:r>
                <a14:m>
                  <m:oMath xmlns:m="http://schemas.openxmlformats.org/officeDocument/2006/math">
                    <m:r>
                      <m:rPr>
                        <m:sty m:val="p"/>
                      </m:rPr>
                      <a:rPr lang="en-US" altLang="zh-TW" dirty="0">
                        <a:latin typeface="Cambria Math"/>
                      </a:rPr>
                      <m:t>O</m:t>
                    </m:r>
                    <m:d>
                      <m:dPr>
                        <m:ctrlPr>
                          <a:rPr lang="en-US" altLang="zh-TW" b="0" i="1" dirty="0" smtClean="0">
                            <a:latin typeface="Cambria Math"/>
                          </a:rPr>
                        </m:ctrlPr>
                      </m:dPr>
                      <m:e>
                        <m:r>
                          <a:rPr lang="en-US" altLang="zh-TW" b="0" i="1" dirty="0" smtClean="0">
                            <a:latin typeface="Cambria Math"/>
                          </a:rPr>
                          <m:t>𝑙𝑚</m:t>
                        </m:r>
                      </m:e>
                    </m:d>
                  </m:oMath>
                </a14:m>
                <a:endParaRPr lang="en-US" altLang="zh-TW" b="0" dirty="0" smtClean="0"/>
              </a:p>
              <a:p>
                <a:r>
                  <a:rPr lang="zh-TW" altLang="en-US" dirty="0" smtClean="0"/>
                  <a:t>演算法總時間複雜度：</a:t>
                </a:r>
                <a14:m>
                  <m:oMath xmlns:m="http://schemas.openxmlformats.org/officeDocument/2006/math">
                    <m:r>
                      <m:rPr>
                        <m:sty m:val="p"/>
                      </m:rPr>
                      <a:rPr lang="en-US" altLang="zh-TW" dirty="0">
                        <a:latin typeface="Cambria Math"/>
                      </a:rPr>
                      <m:t>O</m:t>
                    </m:r>
                    <m:d>
                      <m:dPr>
                        <m:ctrlPr>
                          <a:rPr lang="en-US" altLang="zh-TW" i="1" dirty="0">
                            <a:latin typeface="Cambria Math"/>
                          </a:rPr>
                        </m:ctrlPr>
                      </m:dPr>
                      <m:e>
                        <m:d>
                          <m:dPr>
                            <m:ctrlPr>
                              <a:rPr lang="en-US" altLang="zh-TW" b="0" i="1" dirty="0" smtClean="0">
                                <a:latin typeface="Cambria Math"/>
                              </a:rPr>
                            </m:ctrlPr>
                          </m:dPr>
                          <m:e>
                            <m:r>
                              <a:rPr lang="en-US" altLang="zh-TW" b="0" i="1" dirty="0" smtClean="0">
                                <a:latin typeface="Cambria Math"/>
                              </a:rPr>
                              <m:t>𝑚</m:t>
                            </m:r>
                            <m:r>
                              <a:rPr lang="en-US" altLang="zh-TW" b="0" i="1" dirty="0" smtClean="0">
                                <a:latin typeface="Cambria Math"/>
                              </a:rPr>
                              <m:t>+</m:t>
                            </m:r>
                            <m:r>
                              <a:rPr lang="en-US" altLang="zh-TW" b="0" i="1" dirty="0" smtClean="0">
                                <a:latin typeface="Cambria Math"/>
                              </a:rPr>
                              <m:t>𝑛</m:t>
                            </m:r>
                          </m:e>
                        </m:d>
                        <m:r>
                          <a:rPr lang="en-US" altLang="zh-TW" b="0" i="1" dirty="0" smtClean="0">
                            <a:latin typeface="Cambria Math"/>
                          </a:rPr>
                          <m:t>𝑠</m:t>
                        </m:r>
                        <m:r>
                          <a:rPr lang="en-US" altLang="zh-TW" b="0" i="1" dirty="0" smtClean="0">
                            <a:latin typeface="Cambria Math"/>
                          </a:rPr>
                          <m:t>+</m:t>
                        </m:r>
                        <m:r>
                          <a:rPr lang="en-US" altLang="zh-TW" b="0" i="1" dirty="0" smtClean="0">
                            <a:latin typeface="Cambria Math"/>
                          </a:rPr>
                          <m:t>𝑚𝑖𝑛</m:t>
                        </m:r>
                        <m:r>
                          <a:rPr lang="en-US" altLang="zh-TW" b="0" i="1" dirty="0" smtClean="0">
                            <a:latin typeface="Cambria Math"/>
                          </a:rPr>
                          <m:t>(</m:t>
                        </m:r>
                        <m:r>
                          <a:rPr lang="en-US" altLang="zh-TW" b="0" i="1" dirty="0" smtClean="0">
                            <a:latin typeface="Cambria Math"/>
                          </a:rPr>
                          <m:t>𝑑𝑠</m:t>
                        </m:r>
                        <m:r>
                          <a:rPr lang="en-US" altLang="zh-TW" b="0" i="1" dirty="0" smtClean="0">
                            <a:latin typeface="Cambria Math"/>
                          </a:rPr>
                          <m:t>,</m:t>
                        </m:r>
                        <m:r>
                          <a:rPr lang="en-US" altLang="zh-TW" i="1" dirty="0">
                            <a:latin typeface="Cambria Math"/>
                          </a:rPr>
                          <m:t>𝑙𝑚</m:t>
                        </m:r>
                        <m:r>
                          <a:rPr lang="en-US" altLang="zh-TW" b="0" i="1" dirty="0" smtClean="0">
                            <a:latin typeface="Cambria Math"/>
                          </a:rPr>
                          <m:t>)</m:t>
                        </m:r>
                      </m:e>
                    </m:d>
                  </m:oMath>
                </a14:m>
                <a:endParaRPr lang="en-US" altLang="zh-TW" dirty="0"/>
              </a:p>
              <a:p>
                <a:endParaRPr lang="en-US" altLang="zh-TW" dirty="0"/>
              </a:p>
              <a:p>
                <a:endParaRPr lang="en-US" altLang="zh-TW" dirty="0" smtClean="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2830"/>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91105769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彪哥">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492</TotalTime>
  <Words>1906</Words>
  <Application>Microsoft Office PowerPoint</Application>
  <PresentationFormat>如螢幕大小 (4:3)</PresentationFormat>
  <Paragraphs>1456</Paragraphs>
  <Slides>22</Slides>
  <Notes>0</Notes>
  <HiddenSlides>0</HiddenSlides>
  <MMClips>0</MMClips>
  <ScaleCrop>false</ScaleCrop>
  <HeadingPairs>
    <vt:vector size="4" baseType="variant">
      <vt:variant>
        <vt:lpstr>佈景主題</vt:lpstr>
      </vt:variant>
      <vt:variant>
        <vt:i4>1</vt:i4>
      </vt:variant>
      <vt:variant>
        <vt:lpstr>投影片標題</vt:lpstr>
      </vt:variant>
      <vt:variant>
        <vt:i4>22</vt:i4>
      </vt:variant>
    </vt:vector>
  </HeadingPairs>
  <TitlesOfParts>
    <vt:vector size="23" baseType="lpstr">
      <vt:lpstr>Office 佈景主題</vt:lpstr>
      <vt:lpstr>A Fast Algorithm for Computing Longest Common Subsequences of Small Alphabet Size</vt:lpstr>
      <vt:lpstr>Abstract</vt:lpstr>
      <vt:lpstr>Introduction</vt:lpstr>
      <vt:lpstr>Example</vt:lpstr>
      <vt:lpstr>Example</vt:lpstr>
      <vt:lpstr> </vt:lpstr>
      <vt:lpstr> </vt:lpstr>
      <vt:lpstr>Example</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Time Complexity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Longest Common Subsequences of Small Alphabet Size</dc:title>
  <dc:creator>potatOS</dc:creator>
  <cp:lastModifiedBy>admin</cp:lastModifiedBy>
  <cp:revision>51</cp:revision>
  <dcterms:created xsi:type="dcterms:W3CDTF">2014-04-07T09:08:07Z</dcterms:created>
  <dcterms:modified xsi:type="dcterms:W3CDTF">2014-04-08T04:03:59Z</dcterms:modified>
</cp:coreProperties>
</file>