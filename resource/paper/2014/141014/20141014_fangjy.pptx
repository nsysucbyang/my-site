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57" r:id="rId4"/>
    <p:sldId id="289" r:id="rId5"/>
    <p:sldId id="288" r:id="rId6"/>
    <p:sldId id="293" r:id="rId7"/>
    <p:sldId id="279" r:id="rId8"/>
    <p:sldId id="272" r:id="rId9"/>
    <p:sldId id="284" r:id="rId10"/>
    <p:sldId id="290" r:id="rId11"/>
    <p:sldId id="280" r:id="rId12"/>
    <p:sldId id="281" r:id="rId13"/>
    <p:sldId id="294" r:id="rId14"/>
    <p:sldId id="283" r:id="rId15"/>
    <p:sldId id="292" r:id="rId16"/>
  </p:sldIdLst>
  <p:sldSz cx="9144000" cy="6858000" type="screen4x3"/>
  <p:notesSz cx="6858000" cy="99472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620"/>
    <p:restoredTop sz="94670" autoAdjust="0"/>
  </p:normalViewPr>
  <p:slideViewPr>
    <p:cSldViewPr>
      <p:cViewPr varScale="1">
        <p:scale>
          <a:sx n="69" d="100"/>
          <a:sy n="69" d="100"/>
        </p:scale>
        <p:origin x="-15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233B4-1F5A-4615-A07F-508CB2C0B35C}" type="datetimeFigureOut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E89EA-78D1-4B11-AE23-F92136618C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71340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A016-A8B6-408A-B2E0-0CE7413CD190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4431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188E-42AD-4265-BD7B-6D6D62334585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130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BC49-2A70-44CB-BD05-F5523CF62895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8036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DC24-0C81-48BE-97C2-62CCE451FDAA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3911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64F-3C1D-48B7-8183-0D6E3F79441F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0156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22956-F816-4489-BEC6-6685A548AA59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1121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ADA2-2374-455D-A7FA-CBE43F928384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6277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822B-1F80-4359-86BD-0AF2EA72313D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1163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B3D8-B68C-4BDE-A967-9E6BFCEF0A9C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1867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FFB12-F263-4B58-BAEE-385AF3FF4CA7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1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838-7870-49FE-B96F-7B68F6D17578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3264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4308A-8816-4285-94BB-1C847B9DA00D}" type="datetime1">
              <a:rPr lang="zh-TW" altLang="en-US" smtClean="0"/>
              <a:pPr/>
              <a:t>2014/10/14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1744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Bond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 Prediction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Student: Chun-Yi Fang (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方鈞毅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Advisor: Prof. Chang-Biau Yang (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楊昌彪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Date: Oct. 14, 2014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2620423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680520"/>
          </a:xfrm>
        </p:spPr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氨基酸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(amino acid)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為構成蛋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白質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protein)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的基本單位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其表示法常以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序列的方式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表示，範例如下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SNPV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HLEHCSNL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GGAAGG</a:t>
            </a:r>
          </a:p>
          <a:p>
            <a:pPr lvl="2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Each alphabet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represents an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amino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acid. 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雙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硫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鍵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(disulfide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bond/ 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disulfide bridge)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是由兩個氧化的半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胱氨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酸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(Cystine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)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所構成，在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序列中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簡寫為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”C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9841969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3904"/>
            <a:ext cx="8229600" cy="1038831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124744"/>
            <a:ext cx="8229600" cy="4886003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雙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硫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鍵會拉近兩氨基酸之間的距離而造成摺疊，而影響蛋白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質的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結構與受體的結合。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1"/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LK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NKLVPLFYKT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PAGKNL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YKMFMVSNKMVPVKRG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IDV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PKSSLLVKYV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CC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NTDR</a:t>
            </a:r>
            <a:r>
              <a: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1028" name="Picture 4" descr="http://upload.wikimedia.org/wikipedia/commons/thumb/8/8c/Disulfide_Bridges_%28SCHEMATIC%29_V.1.svg/250px-Disulfide_Bridges_%28SCHEMATIC%29_V.1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99561" y="3068960"/>
            <a:ext cx="2736304" cy="350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941911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(3/4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常見的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雙硫鍵相關的研究問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題分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類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1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cystine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的氧化狀態預測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雙硫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鍵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為兩個氧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化的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cystine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所構成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一些實驗會把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cystine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的氧化狀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態作為已知的條件。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the connection of pairs of cystine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同序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列中的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任兩個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cystine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1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t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he prediction of disulfide patterns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580062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本次實驗的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disulfide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attern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示方法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itchFamily="18" charset="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G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SNPV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HLEH</a:t>
            </a:r>
            <a:r>
              <a:rPr lang="en-US" altLang="zh-TW" u="sng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SNL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GGAAGG</a:t>
            </a:r>
          </a:p>
          <a:p>
            <a:pPr marL="457200" lvl="1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在同一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條蛋白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itchFamily="18" charset="0"/>
              </a:rPr>
              <a:t>質中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itchFamily="18" charset="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不考慮不構成任何雙硫鍵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u="sng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從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序列最前端逐一開始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尋找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，直到找到未編號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字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符。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若此字符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與已編號的字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符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構成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一個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雙硫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鍵，給予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相同的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編號。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若不與任何已編號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過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構成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雙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硫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鍵，則給予目前最大編號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+1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予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;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直到序列結束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848362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The Behavior-Knowledge Space Method</a:t>
            </a:r>
            <a:br>
              <a:rPr lang="en-US" altLang="zh-TW" dirty="0"/>
            </a:b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37338547"/>
              </p:ext>
            </p:extLst>
          </p:nvPr>
        </p:nvGraphicFramePr>
        <p:xfrm>
          <a:off x="457200" y="1600200"/>
          <a:ext cx="82296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分類器一</a:t>
                      </a:r>
                      <a:endParaRPr lang="en-US" altLang="zh-TW" dirty="0" smtClean="0"/>
                    </a:p>
                    <a:p>
                      <a:r>
                        <a:rPr lang="zh-TW" altLang="en-US" dirty="0" smtClean="0"/>
                        <a:t>結果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分類器二</a:t>
                      </a:r>
                      <a:endParaRPr lang="en-US" altLang="zh-TW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類別</a:t>
                      </a:r>
                      <a:r>
                        <a:rPr lang="en-US" altLang="zh-TW" dirty="0" smtClean="0"/>
                        <a:t>1</a:t>
                      </a:r>
                      <a:r>
                        <a:rPr lang="zh-TW" altLang="en-US" dirty="0" smtClean="0"/>
                        <a:t>的數量</a:t>
                      </a:r>
                      <a:r>
                        <a:rPr lang="en-US" altLang="zh-TW" dirty="0" smtClean="0"/>
                        <a:t>(real)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類別</a:t>
                      </a:r>
                      <a:r>
                        <a:rPr lang="en-US" altLang="zh-TW" dirty="0" smtClean="0"/>
                        <a:t>2</a:t>
                      </a:r>
                      <a:r>
                        <a:rPr lang="zh-TW" altLang="en-US" dirty="0" smtClean="0"/>
                        <a:t>的數量</a:t>
                      </a:r>
                      <a:endParaRPr lang="en-US" altLang="zh-TW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(real)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類別</a:t>
                      </a:r>
                      <a:r>
                        <a:rPr lang="en-US" altLang="zh-TW" dirty="0" smtClean="0"/>
                        <a:t>3</a:t>
                      </a:r>
                      <a:r>
                        <a:rPr lang="zh-TW" altLang="en-US" dirty="0" smtClean="0"/>
                        <a:t>的數量</a:t>
                      </a:r>
                      <a:endParaRPr lang="en-US" altLang="zh-TW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mtClean="0"/>
                        <a:t>(real)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類別</a:t>
                      </a:r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945031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Pattern-wise methods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input: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蛋白質序列</a:t>
                </a:r>
                <a:endParaRPr lang="en-US" altLang="zh-TW" sz="2800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output</a:t>
                </a: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: </a:t>
                </a:r>
                <a:r>
                  <a:rPr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此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序列的</a:t>
                </a: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disulfide pattern</a:t>
                </a:r>
                <a:endParaRPr lang="en-US" altLang="zh-TW" sz="2800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1"/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對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於序列中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cystein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數量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的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增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加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，序列可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能的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pattern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數量將大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幅提升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2"/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4, 	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/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2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*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!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3</a:t>
                </a:r>
              </a:p>
              <a:p>
                <a:pPr lvl="2"/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6, 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/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3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*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!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15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2"/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8, 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8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/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4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*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!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105</a:t>
                </a:r>
              </a:p>
              <a:p>
                <a:pPr lvl="2"/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10,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10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8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/5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!</m:t>
                    </m:r>
                  </m:oMath>
                </a14:m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945</a:t>
                </a:r>
              </a:p>
              <a:p>
                <a:pPr lvl="1"/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bottleneck: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訓練資料的筆數</a:t>
                </a:r>
                <a:endPara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22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397212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Pairwise Methods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input: 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序列中任一成對的</a:t>
                </a: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cystine</a:t>
                </a:r>
                <a:endParaRPr lang="en-US" altLang="zh-TW" sz="2800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outpu</a:t>
                </a: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t: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此</a:t>
                </a:r>
                <a:r>
                  <a:rPr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序列的</a:t>
                </a:r>
                <a:r>
                  <a:rPr lang="en-US" altLang="zh-TW" sz="28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disulfide pattern</a:t>
                </a:r>
              </a:p>
              <a:p>
                <a:pPr lvl="1"/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整</a:t>
                </a:r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理所有的預測狀態，歸納整理出最有可能</a:t>
                </a:r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的</a:t>
                </a:r>
                <a:r>
                  <a:rPr lang="en-US" altLang="zh-TW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disulfide pattern</a:t>
                </a:r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。</a:t>
                </a:r>
                <a:endParaRPr lang="en-US" altLang="zh-TW" sz="2400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bottleneck</a:t>
                </a:r>
                <a:r>
                  <a:rPr lang="en-US" altLang="zh-TW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:</a:t>
                </a:r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endParaRPr lang="en-US" altLang="zh-TW" sz="2400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2"/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 = 4, p(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有鍵結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):2, 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n(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無鍵結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):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TW" sz="2000" b="0" i="1" smtClean="0">
                        <a:latin typeface="Cambria Math"/>
                        <a:ea typeface="Meiryo" panose="020B0604030504040204" pitchFamily="34" charset="-128"/>
                        <a:cs typeface="Meiryo" panose="020B0604030504040204" pitchFamily="34" charset="-128"/>
                      </a:rPr>
                      <m:t>−2</m:t>
                    </m:r>
                  </m:oMath>
                </a14:m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, p/(n+p) = 2/6</a:t>
                </a:r>
              </a:p>
              <a:p>
                <a:pPr lvl="2"/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 = 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6,  p:3, 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n: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TW" sz="2000" i="1">
                        <a:latin typeface="Cambria Math"/>
                        <a:ea typeface="Meiryo" panose="020B0604030504040204" pitchFamily="34" charset="-128"/>
                        <a:cs typeface="Meiryo" panose="020B0604030504040204" pitchFamily="34" charset="-128"/>
                      </a:rPr>
                      <m:t>−</m:t>
                    </m:r>
                    <m:r>
                      <a:rPr lang="en-US" altLang="zh-TW" sz="2000" b="0" i="1" smtClean="0">
                        <a:latin typeface="Cambria Math"/>
                        <a:ea typeface="Meiryo" panose="020B0604030504040204" pitchFamily="34" charset="-128"/>
                        <a:cs typeface="Meiryo" panose="020B0604030504040204" pitchFamily="34" charset="-128"/>
                      </a:rPr>
                      <m:t>3</m:t>
                    </m:r>
                  </m:oMath>
                </a14:m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, p/(n+p) = 3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/15</a:t>
                </a:r>
                <a:endPara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2"/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 = 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8,  p:4, 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n: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8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TW" sz="2000" i="1">
                        <a:latin typeface="Cambria Math"/>
                        <a:ea typeface="Meiryo" panose="020B0604030504040204" pitchFamily="34" charset="-128"/>
                        <a:cs typeface="Meiryo" panose="020B0604030504040204" pitchFamily="34" charset="-128"/>
                      </a:rPr>
                      <m:t>−</m:t>
                    </m:r>
                    <m:r>
                      <a:rPr lang="en-US" altLang="zh-TW" sz="2000" b="0" i="1" smtClean="0">
                        <a:latin typeface="Cambria Math"/>
                        <a:ea typeface="Meiryo" panose="020B0604030504040204" pitchFamily="34" charset="-128"/>
                        <a:cs typeface="Meiryo" panose="020B0604030504040204" pitchFamily="34" charset="-128"/>
                      </a:rPr>
                      <m:t>4</m:t>
                    </m:r>
                  </m:oMath>
                </a14:m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, p/(n+p) = 4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/28</a:t>
                </a:r>
                <a:endPara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2"/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 = 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10, p:5, 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n: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10</m:t>
                            </m:r>
                          </m:num>
                          <m:den>
                            <m:r>
                              <a:rPr lang="en-US" altLang="zh-TW" sz="2000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TW" sz="2000" i="1">
                        <a:latin typeface="Cambria Math"/>
                        <a:ea typeface="Meiryo" panose="020B0604030504040204" pitchFamily="34" charset="-128"/>
                        <a:cs typeface="Meiryo" panose="020B0604030504040204" pitchFamily="34" charset="-128"/>
                      </a:rPr>
                      <m:t>−</m:t>
                    </m:r>
                    <m:r>
                      <a:rPr lang="en-US" altLang="zh-TW" sz="2000" b="0" i="1" smtClean="0">
                        <a:latin typeface="Cambria Math"/>
                        <a:ea typeface="Meiryo" panose="020B0604030504040204" pitchFamily="34" charset="-128"/>
                        <a:cs typeface="Meiryo" panose="020B0604030504040204" pitchFamily="34" charset="-128"/>
                      </a:rPr>
                      <m:t>5</m:t>
                    </m:r>
                  </m:oMath>
                </a14:m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, p/(n+p) = 5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/36</a:t>
                </a:r>
                <a:endPara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2"/>
                <a:endParaRPr lang="en-US" altLang="zh-TW" sz="2000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2"/>
                <a:endParaRPr lang="en-US" altLang="zh-TW" sz="2000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  <a:blipFill rotWithShape="1">
                <a:blip r:embed="rId2"/>
                <a:stretch>
                  <a:fillRect l="-1259" t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8487977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method(1/4)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將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sp39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中具有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不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同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鍵結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數的資料分割成數個資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料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庫處理，以加上後輟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bn0(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鍵結數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)</a:t>
            </a:r>
          </a:p>
          <a:p>
            <a:pPr lvl="2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4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個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雙硫鍵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的為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sp39bn04</a:t>
            </a: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作法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: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預測各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cystein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與各編號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的機率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將相同編號的機率值轉換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為各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cystein pair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的機率，最後再用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pairwise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架構處理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1"/>
            <a:endParaRPr lang="en-US" altLang="zh-TW" baseline="-25000" dirty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60064" y="5373216"/>
            <a:ext cx="5956300" cy="882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8454537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method(2/4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4333" y="16288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sz="2000" dirty="0" smtClean="0">
                <a:solidFill>
                  <a:srgbClr val="002060"/>
                </a:solidFill>
              </a:rPr>
              <a:t>SVM0</a:t>
            </a:r>
            <a:r>
              <a:rPr lang="en-US" altLang="zh-TW" sz="2000" dirty="0" smtClean="0"/>
              <a:t>               </a:t>
            </a:r>
            <a:r>
              <a:rPr lang="en-US" altLang="zh-TW" sz="2000" dirty="0" smtClean="0">
                <a:solidFill>
                  <a:srgbClr val="00B0F0"/>
                </a:solidFill>
              </a:rPr>
              <a:t>SVM1</a:t>
            </a:r>
            <a:r>
              <a:rPr lang="en-US" altLang="zh-TW" sz="2000" dirty="0" smtClean="0"/>
              <a:t>     </a:t>
            </a:r>
            <a:r>
              <a:rPr lang="en-US" altLang="zh-TW" sz="2000" dirty="0" smtClean="0">
                <a:solidFill>
                  <a:srgbClr val="00B050"/>
                </a:solidFill>
              </a:rPr>
              <a:t>SVM2</a:t>
            </a:r>
            <a:r>
              <a:rPr lang="en-US" altLang="zh-TW" sz="2000" dirty="0" smtClean="0"/>
              <a:t> ..................................................... </a:t>
            </a:r>
            <a:r>
              <a:rPr lang="en-US" altLang="zh-TW" sz="2000" dirty="0" smtClean="0">
                <a:solidFill>
                  <a:srgbClr val="FF0000"/>
                </a:solidFill>
              </a:rPr>
              <a:t>SVM7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LK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NK..YKT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PANL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YKVPKRG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IDV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PVKYV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NDR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endParaRPr lang="en-US" altLang="zh-TW" dirty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endParaRPr lang="en-US" altLang="zh-TW" dirty="0" smtClean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endParaRPr lang="en-US" altLang="zh-TW" dirty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所有相同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i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位置的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c</a:t>
            </a:r>
            <a:r>
              <a:rPr lang="en-US" altLang="zh-TW" baseline="-25000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i</a:t>
            </a:r>
            <a:r>
              <a:rPr lang="zh-TW" altLang="en-US" baseline="-25000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將會一同訓練，使用多個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fold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的交差驗證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1"/>
            <a:endParaRPr lang="en-US" altLang="zh-TW" dirty="0">
              <a:latin typeface="Meiryo" panose="020B0604030504040204" pitchFamily="34" charset="-128"/>
              <a:ea typeface="Meiryo" panose="020B0604030504040204" pitchFamily="34" charset="-128"/>
              <a:cs typeface="Meiryo" panose="020B0604030504040204" pitchFamily="34" charset="-128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236296" y="2258596"/>
            <a:ext cx="432048" cy="18610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987824" y="2241775"/>
            <a:ext cx="432048" cy="18002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851920" y="2265711"/>
            <a:ext cx="504056" cy="181318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220072" y="2258596"/>
            <a:ext cx="432048" cy="181318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5927671" y="2238542"/>
            <a:ext cx="432048" cy="182452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7020272" y="2258596"/>
            <a:ext cx="432048" cy="183930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1547664" y="2204859"/>
            <a:ext cx="432048" cy="18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7957147" y="2240132"/>
            <a:ext cx="432048" cy="1874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5878673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sp39bn04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來說，序列的最大的編號數為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，因此每個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cystein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的真實標號與各編號的機率為下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Label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(prob(1)|prob(2)|prob(3)|prob(4))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( 0.13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| 0.14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| 0.19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| 0.54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1    ( 0.39 | 0.35 | 0.18 |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0.08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) 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2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3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0.09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| 0.41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| 0.43 |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0.07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Meiryo" panose="020B0604030504040204" pitchFamily="34" charset="-128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Meiryo" panose="020B0604030504040204" pitchFamily="34" charset="-128"/>
            </a:endParaRPr>
          </a:p>
          <a:p>
            <a:pPr lvl="2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809569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method(4/4)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</a:t>
                </a:r>
                <a:r>
                  <a:rPr lang="en-US" altLang="zh-TW" sz="2800" baseline="-25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j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(i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/>
                        <a:ea typeface="Cambria Math"/>
                        <a:cs typeface="Meiryo" panose="020B0604030504040204" pitchFamily="34" charset="-128"/>
                      </a:rPr>
                      <m:t>≠</m:t>
                    </m:r>
                  </m:oMath>
                </a14:m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 j) 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則</a:t>
                </a:r>
                <a:r>
                  <a:rPr lang="en-US" altLang="zh-TW" sz="28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</a:t>
                </a:r>
                <a:r>
                  <a:rPr lang="en-US" altLang="zh-TW" sz="2800" baseline="-25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i</a:t>
                </a:r>
                <a:r>
                  <a:rPr lang="zh-TW" altLang="en-US" sz="2800" baseline="-250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，</a:t>
                </a: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</a:t>
                </a:r>
                <a:r>
                  <a:rPr lang="en-US" altLang="zh-TW" sz="2800" baseline="-25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j</a:t>
                </a:r>
                <a:r>
                  <a:rPr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是否構成同個雙硫鍵鍵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結的機率可以表示成以下公式</a:t>
                </a: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:</a:t>
                </a:r>
              </a:p>
              <a:p>
                <a:pPr lvl="1"/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p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rob</a:t>
                </a:r>
                <a:r>
                  <a:rPr lang="en-US" altLang="zh-TW" baseline="-25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i,j 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𝑙</m:t>
                        </m:r>
                        <m: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𝑎𝑏𝑒𝑙</m:t>
                        </m:r>
                        <m:r>
                          <a:rPr lang="en-US" altLang="zh-TW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𝑏𝑜𝑛𝑑𝑛𝑢𝑚</m:t>
                        </m:r>
                      </m:sup>
                      <m:e>
                        <m:r>
                          <a:rPr lang="en-US" altLang="zh-TW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𝑝𝑟𝑜𝑏</m:t>
                        </m:r>
                        <m:r>
                          <a:rPr lang="en-US" altLang="zh-TW" b="0" i="1" baseline="-25000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𝑖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𝑙𝑎𝑏𝑒𝑙</m:t>
                            </m:r>
                          </m:e>
                        </m:d>
                        <m:r>
                          <a:rPr lang="zh-TW" altLang="en-US" b="0" i="1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∗</m:t>
                        </m:r>
                        <m:r>
                          <a:rPr lang="en-US" altLang="zh-TW" i="1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𝑝𝑟𝑜𝑏</m:t>
                        </m:r>
                        <m:r>
                          <a:rPr lang="en-US" altLang="zh-TW" b="0" i="1" baseline="-25000" smtClean="0">
                            <a:latin typeface="Cambria Math"/>
                            <a:ea typeface="Meiryo" panose="020B0604030504040204" pitchFamily="34" charset="-128"/>
                            <a:cs typeface="Meiryo" panose="020B0604030504040204" pitchFamily="34" charset="-128"/>
                          </a:rPr>
                          <m:t>𝑗</m:t>
                        </m:r>
                        <m:d>
                          <m:dPr>
                            <m:ctrlPr>
                              <a:rPr lang="en-US" altLang="zh-TW" i="1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  <a:ea typeface="Meiryo" panose="020B0604030504040204" pitchFamily="34" charset="-128"/>
                                <a:cs typeface="Meiryo" panose="020B0604030504040204" pitchFamily="34" charset="-128"/>
                              </a:rPr>
                              <m:t>𝑙𝑎𝑏𝑒𝑙</m:t>
                            </m:r>
                          </m:e>
                        </m:d>
                      </m:e>
                    </m:nary>
                  </m:oMath>
                </a14:m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應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用上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敘推導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: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2"/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labels 1 2 3 4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1    ( 0.39 | 0.35 | 0.18 |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0.08) 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lvl="1"/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3 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(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0.09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| 0.41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| 0.43 |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0.07)</a:t>
                </a:r>
                <a:endPara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marL="57150" indent="0">
                  <a:buNone/>
                </a:pP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	0.09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0.39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+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0.41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0.35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+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0.43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0.18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+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	0.07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*</a:t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0.08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=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/>
                </a:r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0.2616</a:t>
                </a:r>
              </a:p>
              <a:p>
                <a:pPr marL="57150" indent="0">
                  <a:buNone/>
                </a:pP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marL="57150" indent="0">
                  <a:buNone/>
                </a:pP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0.2616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即為此對</a:t>
                </a:r>
                <a:r>
                  <a:rPr lang="en-US" altLang="zh-TW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cystein</a:t>
                </a:r>
                <a:r>
                  <a:rPr lang="zh-TW" altLang="en-US" sz="28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Meiryo" panose="020B0604030504040204" pitchFamily="34" charset="-128"/>
                  </a:rPr>
                  <a:t>構成同個雙硫鍵的機率值</a:t>
                </a:r>
                <a:endParaRPr lang="zh-TW" altLang="en-US" sz="2800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  <a:p>
                <a:pPr marL="457200" lvl="1" indent="0">
                  <a:buNone/>
                </a:pPr>
                <a:endPara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  <a:cs typeface="Meiryo" panose="020B0604030504040204" pitchFamily="34" charset="-128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  <a:blipFill rotWithShape="1">
                <a:blip r:embed="rId2"/>
                <a:stretch>
                  <a:fillRect l="-1185" t="-23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403896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method(4/4</a:t>
            </a:r>
            <a:r>
              <a:rPr lang="en-US" altLang="zh-TW" dirty="0" smtClean="0"/>
              <a:t>)+BKS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TW" altLang="en-US" dirty="0"/>
              <a:t>另</a:t>
            </a:r>
            <a:r>
              <a:rPr lang="en-US" altLang="zh-TW" dirty="0"/>
              <a:t>cystein</a:t>
            </a:r>
            <a:r>
              <a:rPr lang="zh-TW" altLang="en-US" dirty="0"/>
              <a:t>為</a:t>
            </a:r>
            <a:r>
              <a:rPr lang="en-US" altLang="zh-TW" dirty="0"/>
              <a:t>node,edge</a:t>
            </a:r>
            <a:r>
              <a:rPr lang="zh-TW" altLang="en-US" dirty="0"/>
              <a:t>為此對</a:t>
            </a:r>
            <a:r>
              <a:rPr lang="en-US" altLang="zh-TW" dirty="0"/>
              <a:t>cysteine</a:t>
            </a:r>
            <a:r>
              <a:rPr lang="zh-TW" altLang="en-US" dirty="0"/>
              <a:t>構成同個雙硫鍵的機</a:t>
            </a:r>
            <a:r>
              <a:rPr lang="zh-TW" altLang="en-US" dirty="0" smtClean="0"/>
              <a:t>率。</a:t>
            </a:r>
            <a:endParaRPr lang="zh-TW" altLang="en-US" dirty="0"/>
          </a:p>
          <a:p>
            <a:r>
              <a:rPr lang="en-US" altLang="zh-TW" dirty="0" smtClean="0"/>
              <a:t>Bond 2,3</a:t>
            </a:r>
            <a:r>
              <a:rPr lang="zh-TW" altLang="en-US" dirty="0" smtClean="0"/>
              <a:t>使用</a:t>
            </a:r>
            <a:r>
              <a:rPr lang="en-US" altLang="zh-TW" dirty="0" smtClean="0"/>
              <a:t>pair </a:t>
            </a:r>
            <a:r>
              <a:rPr lang="en-US" altLang="zh-TW" smtClean="0"/>
              <a:t>wise BKS</a:t>
            </a:r>
            <a:endParaRPr lang="en-US" altLang="zh-TW" dirty="0" smtClean="0"/>
          </a:p>
          <a:p>
            <a:r>
              <a:rPr lang="en-US" altLang="zh-TW" dirty="0"/>
              <a:t>Bond </a:t>
            </a:r>
            <a:r>
              <a:rPr lang="en-US" altLang="zh-TW" dirty="0" smtClean="0"/>
              <a:t>4,5</a:t>
            </a:r>
            <a:r>
              <a:rPr lang="zh-TW" altLang="en-US" dirty="0" smtClean="0"/>
              <a:t>使用</a:t>
            </a:r>
            <a:r>
              <a:rPr lang="en-US" altLang="zh-TW" dirty="0" smtClean="0"/>
              <a:t>pattern wise BKS</a:t>
            </a:r>
          </a:p>
          <a:p>
            <a:pPr lvl="1"/>
            <a:r>
              <a:rPr lang="zh-TW" altLang="en-US" dirty="0"/>
              <a:t>將所有上敘</a:t>
            </a:r>
            <a:r>
              <a:rPr lang="en-US" altLang="zh-TW" dirty="0"/>
              <a:t>edge</a:t>
            </a:r>
            <a:r>
              <a:rPr lang="zh-TW" altLang="en-US" dirty="0" smtClean="0"/>
              <a:t>值</a:t>
            </a:r>
            <a:r>
              <a:rPr lang="en-US" altLang="zh-TW" dirty="0" smtClean="0"/>
              <a:t>(</a:t>
            </a:r>
            <a:r>
              <a:rPr lang="zh-TW" altLang="en-US" dirty="0" smtClean="0"/>
              <a:t>機率</a:t>
            </a:r>
            <a:r>
              <a:rPr lang="en-US" altLang="zh-TW" dirty="0" smtClean="0"/>
              <a:t>)</a:t>
            </a:r>
            <a:r>
              <a:rPr lang="zh-TW" altLang="en-US" dirty="0" smtClean="0"/>
              <a:t>加總，若愈接近鍵結數則為預測愈準確或是錯的愈嚴重的愈測，反之</a:t>
            </a:r>
            <a:r>
              <a:rPr lang="zh-TW" altLang="en-US" dirty="0"/>
              <a:t>愈</a:t>
            </a:r>
            <a:r>
              <a:rPr lang="zh-TW" altLang="en-US" dirty="0" smtClean="0"/>
              <a:t>小則為分類其無法預測精準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00397483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14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53919884"/>
              </p:ext>
            </p:extLst>
          </p:nvPr>
        </p:nvGraphicFramePr>
        <p:xfrm>
          <a:off x="683568" y="260648"/>
          <a:ext cx="7920882" cy="613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/>
                <a:gridCol w="1152128"/>
                <a:gridCol w="1152128"/>
                <a:gridCol w="1224136"/>
                <a:gridCol w="1440160"/>
                <a:gridCol w="1080122"/>
              </a:tblGrid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 Bonds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3 Bonds 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4 Bonds 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5 Bonds 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all Bonds 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CSP(4)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72.4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52.7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33.3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17.8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51.8</a:t>
                      </a:r>
                      <a:endParaRPr lang="zh-TW" altLang="en-US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(4)</a:t>
                      </a:r>
                      <a:r>
                        <a:rPr lang="en-US" altLang="zh-TW" baseline="30000" dirty="0" smtClean="0"/>
                        <a:t>   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84.0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53.4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55.6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46.7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63.9</a:t>
                      </a:r>
                      <a:endParaRPr lang="zh-TW" altLang="en-US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(leave one out)</a:t>
                      </a:r>
                      <a:endParaRPr lang="zh-TW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85.3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55.5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i="0" u="none" dirty="0" smtClean="0"/>
                        <a:t>65.7</a:t>
                      </a:r>
                      <a:endParaRPr lang="zh-TW" altLang="en-US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35.6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65.3</a:t>
                      </a:r>
                      <a:endParaRPr lang="zh-TW" altLang="en-US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(4)</a:t>
                      </a:r>
                      <a:r>
                        <a:rPr lang="en-US" altLang="zh-TW" dirty="0" smtClean="0"/>
                        <a:t>+BKS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84.0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56.8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55.6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57.8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65.9</a:t>
                      </a:r>
                      <a:endParaRPr lang="zh-TW" altLang="en-US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r>
                        <a:rPr lang="en-US" altLang="zh-TW" b="0" dirty="0" smtClean="0"/>
                        <a:t>Our method 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/>
                        <a:t>79.5(156)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u="none" dirty="0" smtClean="0"/>
                        <a:t>69.2</a:t>
                      </a:r>
                      <a:r>
                        <a:rPr lang="en-US" altLang="zh-TW" b="0" u="none" baseline="0" dirty="0" smtClean="0"/>
                        <a:t>(146)</a:t>
                      </a:r>
                      <a:endParaRPr lang="zh-TW" altLang="en-US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u="none" dirty="0" smtClean="0"/>
                        <a:t>74.8</a:t>
                      </a:r>
                      <a:r>
                        <a:rPr lang="en-US" altLang="zh-TW" b="0" u="none" baseline="0" dirty="0" smtClean="0"/>
                        <a:t>(99)</a:t>
                      </a:r>
                      <a:endParaRPr lang="zh-TW" altLang="en-US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baseline="0" dirty="0" smtClean="0"/>
                        <a:t>44.4(45)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u="none" dirty="0" smtClean="0"/>
                        <a:t>71.2</a:t>
                      </a:r>
                      <a:endParaRPr lang="zh-TW" altLang="en-US" b="0" u="none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Our method + 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(4)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79.3(156)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71.9</a:t>
                      </a:r>
                      <a:r>
                        <a:rPr lang="en-US" altLang="zh-TW" baseline="0" dirty="0" smtClean="0"/>
                        <a:t>(146)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78.8</a:t>
                      </a:r>
                      <a:r>
                        <a:rPr lang="en-US" altLang="zh-TW" baseline="0" dirty="0" smtClean="0"/>
                        <a:t>(99)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55.6</a:t>
                      </a:r>
                      <a:r>
                        <a:rPr lang="en-US" altLang="zh-TW" u="none" baseline="0" dirty="0" smtClean="0"/>
                        <a:t>(45)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74.4</a:t>
                      </a:r>
                      <a:endParaRPr lang="zh-TW" altLang="en-US" u="none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Our method + 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(leave one out)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79.9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i="0" u="none" dirty="0" smtClean="0"/>
                        <a:t>77.8</a:t>
                      </a:r>
                      <a:endParaRPr lang="zh-TW" altLang="en-US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48.9</a:t>
                      </a:r>
                      <a:endParaRPr lang="zh-TW" alt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none" dirty="0" smtClean="0"/>
                        <a:t>73.3</a:t>
                      </a:r>
                      <a:endParaRPr lang="zh-TW" altLang="en-US" u="none" dirty="0"/>
                    </a:p>
                  </a:txBody>
                  <a:tcPr/>
                </a:tc>
              </a:tr>
              <a:tr h="6048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Our method + CP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dirty="0" smtClean="0"/>
                        <a:t>F</a:t>
                      </a:r>
                      <a:r>
                        <a:rPr lang="en-US" altLang="zh-TW" baseline="-25000" dirty="0" smtClean="0"/>
                        <a:t>521</a:t>
                      </a:r>
                      <a:r>
                        <a:rPr lang="en-US" altLang="zh-TW" baseline="0" dirty="0" smtClean="0"/>
                        <a:t>(4)+BKS</a:t>
                      </a:r>
                      <a:endParaRPr lang="zh-TW" alt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85.9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70.6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i="0" u="none" dirty="0" smtClean="0"/>
                        <a:t>76.8</a:t>
                      </a:r>
                      <a:endParaRPr lang="zh-TW" altLang="en-US" b="0" i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57.8</a:t>
                      </a:r>
                      <a:endParaRPr lang="zh-TW" alt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u="sng" dirty="0" smtClean="0"/>
                        <a:t>76.0</a:t>
                      </a:r>
                      <a:endParaRPr lang="zh-TW" altLang="en-US" u="sng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3154332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Our method</a:t>
            </a:r>
            <a:r>
              <a:rPr lang="en-US" altLang="zh-TW" dirty="0" smtClean="0"/>
              <a:t>(leave one out) with difference windows size(w) for PSSM feature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15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00481535"/>
              </p:ext>
            </p:extLst>
          </p:nvPr>
        </p:nvGraphicFramePr>
        <p:xfrm>
          <a:off x="899592" y="2852936"/>
          <a:ext cx="6984777" cy="2464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  <a:gridCol w="861677"/>
                <a:gridCol w="943356"/>
                <a:gridCol w="982884"/>
                <a:gridCol w="1030924"/>
                <a:gridCol w="1006904"/>
                <a:gridCol w="1006904"/>
              </a:tblGrid>
              <a:tr h="672487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= 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 = 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 = 3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 = 4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 = 5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w = 6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4479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sp39bn02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79.3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44791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sp39bn03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69.2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75.3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73.3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74.7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76.0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76.7</a:t>
                      </a:r>
                      <a:endParaRPr lang="zh-TW" altLang="en-US" dirty="0"/>
                    </a:p>
                  </a:txBody>
                  <a:tcPr/>
                </a:tc>
              </a:tr>
              <a:tr h="44791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sp39bn04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74.8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u="sng" dirty="0" smtClean="0"/>
                        <a:t>75.8</a:t>
                      </a:r>
                      <a:endParaRPr lang="zh-TW" altLang="en-US" b="1" u="sng" dirty="0"/>
                    </a:p>
                  </a:txBody>
                  <a:tcPr/>
                </a:tc>
              </a:tr>
              <a:tr h="4479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sp39bn05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44.4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37.8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33.3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28.9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325593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61840</TotalTime>
  <Words>759</Words>
  <Application>Microsoft Office PowerPoint</Application>
  <PresentationFormat>如螢幕大小 (4:3)</PresentationFormat>
  <Paragraphs>230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The Disulfide Bond Pattern Prediction</vt:lpstr>
      <vt:lpstr>Introduction(1/4)</vt:lpstr>
      <vt:lpstr>Introduction (2/4)</vt:lpstr>
      <vt:lpstr>Introduction (3/4)</vt:lpstr>
      <vt:lpstr>Introduction (4/4)</vt:lpstr>
      <vt:lpstr>The Behavior-Knowledge Space Method </vt:lpstr>
      <vt:lpstr>Pattern-wise methods</vt:lpstr>
      <vt:lpstr>Pairwise Methods</vt:lpstr>
      <vt:lpstr>Our method(1/4)</vt:lpstr>
      <vt:lpstr>Our method(2/4)</vt:lpstr>
      <vt:lpstr>Our method(3/4)</vt:lpstr>
      <vt:lpstr>Our method(4/4)</vt:lpstr>
      <vt:lpstr>Our method(4/4)+BKS</vt:lpstr>
      <vt:lpstr>投影片 14</vt:lpstr>
      <vt:lpstr>投影片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Fangcy</dc:creator>
  <cp:lastModifiedBy>admin</cp:lastModifiedBy>
  <cp:revision>159</cp:revision>
  <cp:lastPrinted>2014-08-14T05:01:10Z</cp:lastPrinted>
  <dcterms:created xsi:type="dcterms:W3CDTF">2014-03-16T09:44:44Z</dcterms:created>
  <dcterms:modified xsi:type="dcterms:W3CDTF">2014-10-14T12:05:16Z</dcterms:modified>
</cp:coreProperties>
</file>