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>
      <p:cViewPr varScale="1">
        <p:scale>
          <a:sx n="74" d="100"/>
          <a:sy n="74" d="100"/>
        </p:scale>
        <p:origin x="28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62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89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61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0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91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41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90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094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11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1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2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13FA0-12BE-49EC-8DED-BDEE798B54B7}" type="datetimeFigureOut">
              <a:rPr lang="zh-TW" altLang="en-US" smtClean="0"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1616-70A7-4DBA-81AD-4FAA8BB1D4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96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Constrained LCS: Hardness and Approximation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645024"/>
            <a:ext cx="8568952" cy="2304256"/>
          </a:xfrm>
        </p:spPr>
        <p:txBody>
          <a:bodyPr>
            <a:normAutofit fontScale="92500"/>
          </a:bodyPr>
          <a:lstStyle/>
          <a:p>
            <a:r>
              <a:rPr lang="en-US" altLang="zh-TW" dirty="0" err="1" smtClean="0">
                <a:solidFill>
                  <a:schemeClr val="tx1"/>
                </a:solidFill>
              </a:rPr>
              <a:t>Zvi</a:t>
            </a:r>
            <a:r>
              <a:rPr lang="en-US" altLang="zh-TW" dirty="0" smtClean="0">
                <a:solidFill>
                  <a:schemeClr val="tx1"/>
                </a:solidFill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</a:rPr>
              <a:t>Gotthilf</a:t>
            </a:r>
            <a:r>
              <a:rPr lang="en-US" altLang="zh-TW" dirty="0" smtClean="0">
                <a:solidFill>
                  <a:schemeClr val="tx1"/>
                </a:solidFill>
              </a:rPr>
              <a:t>, Danny </a:t>
            </a:r>
            <a:r>
              <a:rPr lang="en-US" altLang="zh-TW" dirty="0" err="1" smtClean="0">
                <a:solidFill>
                  <a:schemeClr val="tx1"/>
                </a:solidFill>
              </a:rPr>
              <a:t>Hermelin</a:t>
            </a:r>
            <a:r>
              <a:rPr lang="en-US" altLang="zh-TW" dirty="0" smtClean="0">
                <a:solidFill>
                  <a:schemeClr val="tx1"/>
                </a:solidFill>
              </a:rPr>
              <a:t> and Moshe </a:t>
            </a:r>
            <a:r>
              <a:rPr lang="en-US" altLang="zh-TW" dirty="0" err="1" smtClean="0">
                <a:solidFill>
                  <a:schemeClr val="tx1"/>
                </a:solidFill>
              </a:rPr>
              <a:t>Lewenstein</a:t>
            </a:r>
            <a:endParaRPr lang="en-US" altLang="zh-TW" dirty="0" smtClean="0">
              <a:solidFill>
                <a:schemeClr val="tx1"/>
              </a:solidFill>
            </a:endParaRPr>
          </a:p>
          <a:p>
            <a:r>
              <a:rPr lang="en-US" altLang="zh-TW" dirty="0" smtClean="0">
                <a:solidFill>
                  <a:schemeClr val="tx1"/>
                </a:solidFill>
              </a:rPr>
              <a:t>Combinatorial Pattern Matching Lecture Notes in Computer Science Volume 5029, 2008, pp. 255-262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2014/10/14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6881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36104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692696"/>
                <a:ext cx="8928992" cy="604867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    The problem of finding </a:t>
                </a:r>
                <a:r>
                  <a:rPr lang="en-US" altLang="zh-TW" dirty="0"/>
                  <a:t>the longest common </a:t>
                </a:r>
                <a:r>
                  <a:rPr lang="en-US" altLang="zh-TW" dirty="0" smtClean="0"/>
                  <a:t>subsequence (LCS</a:t>
                </a:r>
                <a:r>
                  <a:rPr lang="en-US" altLang="zh-TW" dirty="0"/>
                  <a:t>) of two given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is a well-studied problem. </a:t>
                </a:r>
                <a:r>
                  <a:rPr lang="en-US" altLang="zh-TW" dirty="0" smtClean="0"/>
                  <a:t>The constrained </a:t>
                </a:r>
                <a:r>
                  <a:rPr lang="en-US" altLang="zh-TW" dirty="0"/>
                  <a:t>longest common subsequence (C-LCS) for three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is the longest common subsequence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that </a:t>
                </a:r>
                <a:r>
                  <a:rPr lang="en-US" altLang="zh-TW" dirty="0" smtClean="0"/>
                  <a:t>contains </a:t>
                </a:r>
                <a:r>
                  <a:rPr lang="en-US" altLang="zh-TW" dirty="0"/>
                  <a:t>B1 as a subsequence. The fastest algorithm solving the </a:t>
                </a:r>
                <a:r>
                  <a:rPr lang="en-US" altLang="zh-TW" dirty="0" smtClean="0"/>
                  <a:t>C-LCS problem </a:t>
                </a:r>
                <a:r>
                  <a:rPr lang="en-US" altLang="zh-TW" dirty="0"/>
                  <a:t>has a time complexity of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)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are the </a:t>
                </a:r>
                <a:r>
                  <a:rPr lang="en-US" altLang="zh-TW" dirty="0"/>
                  <a:t>lengths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respectively. In this paper we consider </a:t>
                </a:r>
                <a:r>
                  <a:rPr lang="en-US" altLang="zh-TW" dirty="0" smtClean="0"/>
                  <a:t>two general </a:t>
                </a:r>
                <a:r>
                  <a:rPr lang="en-US" altLang="zh-TW" dirty="0"/>
                  <a:t>variants of the C-LCS problem. First we show that in case of </a:t>
                </a:r>
                <a:r>
                  <a:rPr lang="en-US" altLang="zh-TW" dirty="0" smtClean="0"/>
                  <a:t>two input </a:t>
                </a:r>
                <a:r>
                  <a:rPr lang="en-US" altLang="zh-TW" dirty="0"/>
                  <a:t>strings and an arbitrary number of constraint strings, it is </a:t>
                </a:r>
                <a:r>
                  <a:rPr lang="en-US" altLang="zh-TW" dirty="0" smtClean="0"/>
                  <a:t>NP-hard to </a:t>
                </a:r>
                <a:r>
                  <a:rPr lang="en-US" altLang="zh-TW" dirty="0"/>
                  <a:t>approximate the C-LCS problem. </a:t>
                </a:r>
                <a:r>
                  <a:rPr lang="en-US" altLang="zh-TW" dirty="0" smtClean="0"/>
                  <a:t>Moreover, it is easy to see that in case </a:t>
                </a:r>
                <a:r>
                  <a:rPr lang="en-US" altLang="zh-TW" dirty="0"/>
                  <a:t>of an arbitrary number of input strings and a single constraint, </a:t>
                </a:r>
                <a:r>
                  <a:rPr lang="en-US" altLang="zh-TW" dirty="0" smtClean="0"/>
                  <a:t>the problem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finding </a:t>
                </a:r>
                <a:r>
                  <a:rPr lang="en-US" altLang="zh-TW" dirty="0"/>
                  <a:t>the constrained longest common subsequence is </a:t>
                </a:r>
                <a:r>
                  <a:rPr lang="en-US" altLang="zh-TW" dirty="0" smtClean="0"/>
                  <a:t>NP-hard</a:t>
                </a:r>
                <a:r>
                  <a:rPr lang="en-US" altLang="zh-TW" dirty="0"/>
                  <a:t>. Therefore, we propose a linear time approximation algorithm </a:t>
                </a:r>
                <a:r>
                  <a:rPr lang="en-US" altLang="zh-TW" dirty="0" smtClean="0"/>
                  <a:t>for this </a:t>
                </a:r>
                <a:r>
                  <a:rPr lang="en-US" altLang="zh-TW" dirty="0"/>
                  <a:t>variant, our algorithm yields a </a:t>
                </a:r>
                <a:r>
                  <a:rPr lang="en-US" altLang="zh-TW" dirty="0" smtClean="0"/>
                  <a:t>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𝑚𝑖𝑛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  <m:r>
                          <a:rPr lang="el-GR" altLang="zh-TW" i="1">
                            <a:latin typeface="Cambria Math"/>
                          </a:rPr>
                          <m:t>𝛴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</m:e>
                    </m:rad>
                  </m:oMath>
                </a14:m>
                <a:r>
                  <a:rPr lang="en-US" altLang="zh-TW" dirty="0" smtClean="0"/>
                  <a:t> approximation factor,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is the length of the shortest input string and </a:t>
                </a:r>
                <a:r>
                  <a:rPr lang="en-US" altLang="zh-TW" dirty="0" smtClean="0"/>
                  <a:t>|</a:t>
                </a:r>
                <a:r>
                  <a:rPr lang="zh-TW" altLang="zh-TW" dirty="0" smtClean="0"/>
                  <a:t>Σ</a:t>
                </a:r>
                <a:r>
                  <a:rPr lang="en-US" altLang="zh-TW" dirty="0" smtClean="0"/>
                  <a:t>| is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size of </a:t>
                </a:r>
                <a:r>
                  <a:rPr lang="en-US" altLang="zh-TW" dirty="0"/>
                  <a:t>the alphabet.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692696"/>
                <a:ext cx="8928992" cy="6048672"/>
              </a:xfrm>
              <a:blipFill rotWithShape="0">
                <a:blip r:embed="rId2"/>
                <a:stretch>
                  <a:fillRect l="-1161" t="-1915" r="-9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11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onstrained LCS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),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 and 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  <a:p>
                <a:r>
                  <a:rPr lang="en-US" altLang="zh-TW" dirty="0" smtClean="0"/>
                  <a:t>The C-LCS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the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that contains each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as a subsequence</a:t>
                </a:r>
                <a:r>
                  <a:rPr lang="en-US" altLang="zh-TW" dirty="0" smtClean="0"/>
                  <a:t>.</a:t>
                </a:r>
                <a:endParaRPr lang="en-US" altLang="zh-TW" dirty="0" smtClean="0"/>
              </a:p>
              <a:p>
                <a:r>
                  <a:rPr lang="en-US" altLang="zh-TW" smtClean="0"/>
                  <a:t>Two </a:t>
                </a:r>
                <a:r>
                  <a:rPr lang="en-US" altLang="zh-TW" dirty="0"/>
                  <a:t>input strings and an arbitrary number </a:t>
                </a:r>
                <a:r>
                  <a:rPr lang="en-US" altLang="zh-TW" dirty="0" smtClean="0"/>
                  <a:t>of constrains </a:t>
                </a:r>
                <a:r>
                  <a:rPr lang="en-US" altLang="zh-TW" dirty="0"/>
                  <a:t>the problem of ¯</a:t>
                </a:r>
                <a:r>
                  <a:rPr lang="en-US" altLang="zh-TW" dirty="0" err="1"/>
                  <a:t>nding</a:t>
                </a:r>
                <a:r>
                  <a:rPr lang="en-US" altLang="zh-TW" dirty="0"/>
                  <a:t> the C-LCS is </a:t>
                </a:r>
                <a:r>
                  <a:rPr lang="en-US" altLang="zh-TW" dirty="0" smtClean="0"/>
                  <a:t>NP-hard.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C-LCS problem in case of an arbitrary number of </a:t>
                </a:r>
                <a:r>
                  <a:rPr lang="en-US" altLang="zh-TW" dirty="0" smtClean="0"/>
                  <a:t>constraints is </a:t>
                </a:r>
                <a:r>
                  <a:rPr lang="en-US" altLang="zh-TW" dirty="0"/>
                  <a:t>NP-complete.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  <a:blipFill rotWithShape="0">
                <a:blip r:embed="rId2"/>
                <a:stretch>
                  <a:fillRect l="-1533" t="-1215" r="-1800" b="-2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90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onstrained LCS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836712"/>
                <a:ext cx="8856984" cy="5832648"/>
              </a:xfrm>
            </p:spPr>
            <p:txBody>
              <a:bodyPr/>
              <a:lstStyle/>
              <a:p>
                <a:r>
                  <a:rPr lang="en-US" altLang="zh-TW" dirty="0" smtClean="0"/>
                  <a:t>Example: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</a:t>
                </a:r>
                <a:r>
                  <a:rPr lang="en-US" altLang="zh-TW" dirty="0" err="1" smtClean="0"/>
                  <a:t>abcabcaba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= bcaabccab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</a:t>
                </a:r>
                <a:r>
                  <a:rPr lang="en-US" altLang="zh-TW" dirty="0" err="1" smtClean="0"/>
                  <a:t>cbcb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= bcaa</a:t>
                </a:r>
                <a:br>
                  <a:rPr lang="en-US" altLang="zh-TW" dirty="0" smtClean="0"/>
                </a:b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The LCS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“</a:t>
                </a:r>
                <a:r>
                  <a:rPr lang="en-US" altLang="zh-TW" dirty="0" err="1" smtClean="0"/>
                  <a:t>bcabcab</a:t>
                </a:r>
                <a:r>
                  <a:rPr lang="en-US" altLang="zh-TW" dirty="0" smtClean="0"/>
                  <a:t>”</a:t>
                </a:r>
                <a:br>
                  <a:rPr lang="en-US" altLang="zh-TW" dirty="0" smtClean="0"/>
                </a:b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“</a:t>
                </a:r>
                <a:r>
                  <a:rPr lang="en-US" altLang="zh-TW" dirty="0" err="1" smtClean="0"/>
                  <a:t>b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dirty="0" err="1" smtClean="0"/>
                  <a:t>a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bc</a:t>
                </a:r>
                <a:r>
                  <a:rPr lang="en-US" altLang="zh-TW" dirty="0" err="1" smtClean="0"/>
                  <a:t>a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dirty="0" smtClean="0"/>
                  <a:t>” contains </a:t>
                </a:r>
                <a:r>
                  <a:rPr lang="en-US" altLang="zh-TW" dirty="0" err="1" smtClean="0"/>
                  <a:t>cbcb</a:t>
                </a:r>
                <a:r>
                  <a:rPr lang="en-US" altLang="zh-TW" dirty="0" smtClean="0"/>
                  <a:t>.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/>
                  <a:t>“</a:t>
                </a:r>
                <a:r>
                  <a:rPr lang="en-US" altLang="zh-TW" dirty="0" err="1">
                    <a:solidFill>
                      <a:srgbClr val="FF0000"/>
                    </a:solidFill>
                  </a:rPr>
                  <a:t>bca</a:t>
                </a:r>
                <a:r>
                  <a:rPr lang="en-US" altLang="zh-TW" dirty="0" err="1"/>
                  <a:t>bc</a:t>
                </a:r>
                <a:r>
                  <a:rPr lang="en-US" altLang="zh-TW" dirty="0" err="1">
                    <a:solidFill>
                      <a:srgbClr val="FF0000"/>
                    </a:solidFill>
                  </a:rPr>
                  <a:t>a</a:t>
                </a:r>
                <a:r>
                  <a:rPr lang="en-US" altLang="zh-TW" dirty="0" err="1"/>
                  <a:t>b</a:t>
                </a:r>
                <a:r>
                  <a:rPr lang="en-US" altLang="zh-TW" dirty="0" smtClean="0"/>
                  <a:t>” contains </a:t>
                </a:r>
                <a:r>
                  <a:rPr lang="en-US" altLang="zh-TW" dirty="0" err="1" smtClean="0"/>
                  <a:t>bcaa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/>
                  <a:t>The </a:t>
                </a:r>
                <a:r>
                  <a:rPr lang="en-US" altLang="zh-TW" dirty="0" smtClean="0"/>
                  <a:t>C-LCS </a:t>
                </a:r>
                <a:r>
                  <a:rPr lang="en-US" altLang="zh-TW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is “</a:t>
                </a:r>
                <a:r>
                  <a:rPr lang="en-US" altLang="zh-TW" dirty="0" err="1"/>
                  <a:t>bcabcab</a:t>
                </a:r>
                <a:r>
                  <a:rPr lang="en-US" altLang="zh-TW" dirty="0"/>
                  <a:t>”</a:t>
                </a:r>
                <a:br>
                  <a:rPr lang="en-US" altLang="zh-TW" dirty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836712"/>
                <a:ext cx="8856984" cy="5832648"/>
              </a:xfrm>
              <a:blipFill rotWithShape="0">
                <a:blip r:embed="rId2"/>
                <a:stretch>
                  <a:fillRect l="-1583" t="-1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92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onstrained LCS – Single Constraint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0728"/>
                <a:ext cx="8568952" cy="568863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are the input strings. 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/>
                  <a:t>A</a:t>
                </a:r>
                <a:r>
                  <a:rPr lang="en-US" altLang="zh-TW" dirty="0" smtClean="0"/>
                  <a:t> single  constraint B=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)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 be an input string of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[</a:t>
                </a:r>
                <a:r>
                  <a:rPr lang="en-US" altLang="zh-TW" dirty="0" err="1" smtClean="0"/>
                  <a:t>s,e</a:t>
                </a:r>
                <a:r>
                  <a:rPr lang="en-US" altLang="zh-TW" dirty="0" smtClean="0"/>
                  <a:t>] denotes the substring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that starts at location s and ends at location e.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0728"/>
                <a:ext cx="8568952" cy="5688632"/>
              </a:xfrm>
              <a:blipFill rotWithShape="1">
                <a:blip r:embed="rId2"/>
                <a:stretch>
                  <a:fillRect l="-1565" t="-1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38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onstrained LCS – Single Constraint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052736"/>
                <a:ext cx="8856984" cy="5616624"/>
              </a:xfrm>
            </p:spPr>
            <p:txBody>
              <a:bodyPr/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,j) denote the left most location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a subsequence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[1,start(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,j)]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,j) denote the left most location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a subsequence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[e</a:t>
                </a:r>
                <a:r>
                  <a:rPr lang="en-US" altLang="zh-TW" dirty="0" smtClean="0"/>
                  <a:t>nd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,j</a:t>
                </a:r>
                <a:r>
                  <a:rPr lang="en-US" altLang="zh-TW" dirty="0" smtClean="0"/>
                  <a:t>),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𝑚</m:t>
                    </m:r>
                    <m:r>
                      <a:rPr lang="en-US" altLang="zh-TW" i="1">
                        <a:latin typeface="Cambria Math"/>
                      </a:rPr>
                      <m:t>﷮</m:t>
                    </m:r>
                    <m:r>
                      <a:rPr lang="en-US" altLang="zh-TW" i="1">
                        <a:latin typeface="Cambria Math"/>
                      </a:rPr>
                      <m:t>𝑖</m:t>
                    </m:r>
                  </m:oMath>
                </a14:m>
                <a:r>
                  <a:rPr lang="en-US" altLang="zh-TW" dirty="0" smtClean="0"/>
                  <a:t>]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052736"/>
                <a:ext cx="8856984" cy="5616624"/>
              </a:xfrm>
              <a:blipFill rotWithShape="1">
                <a:blip r:embed="rId2"/>
                <a:stretch>
                  <a:fillRect l="-1583" t="-1303" r="-15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81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onstrained LCS – Single Constraint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052736"/>
            <a:ext cx="8856984" cy="648072"/>
          </a:xfrm>
        </p:spPr>
        <p:txBody>
          <a:bodyPr/>
          <a:lstStyle/>
          <a:p>
            <a:r>
              <a:rPr lang="en-US" altLang="zh-TW" dirty="0" smtClean="0"/>
              <a:t>Example:</a:t>
            </a:r>
          </a:p>
          <a:p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821955"/>
              </p:ext>
            </p:extLst>
          </p:nvPr>
        </p:nvGraphicFramePr>
        <p:xfrm>
          <a:off x="1835926" y="2996952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463140"/>
              </p:ext>
            </p:extLst>
          </p:nvPr>
        </p:nvGraphicFramePr>
        <p:xfrm>
          <a:off x="1835696" y="38610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043837" y="2924944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37" y="2924944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070487" y="3789040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87" y="3789040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76162"/>
              </p:ext>
            </p:extLst>
          </p:nvPr>
        </p:nvGraphicFramePr>
        <p:xfrm>
          <a:off x="1835696" y="5857831"/>
          <a:ext cx="1896210" cy="457200"/>
        </p:xfrm>
        <a:graphic>
          <a:graphicData uri="http://schemas.openxmlformats.org/drawingml/2006/table">
            <a:tbl>
              <a:tblPr firstRow="1" bandRow="1"/>
              <a:tblGrid>
                <a:gridCol w="632070"/>
                <a:gridCol w="632070"/>
                <a:gridCol w="632070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180189" y="5857831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357073" y="2060848"/>
                <a:ext cx="1177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073" y="2060848"/>
                <a:ext cx="117737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663" t="-8197" r="-466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2627784" y="2060848"/>
                <a:ext cx="1177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2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060848"/>
                <a:ext cx="117737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145" t="-8197" r="-5181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618762" y="2061784"/>
                <a:ext cx="1177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3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762" y="2061784"/>
                <a:ext cx="117737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663" t="-8197" r="-466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/>
          <p:cNvCxnSpPr>
            <a:endCxn id="17" idx="2"/>
          </p:cNvCxnSpPr>
          <p:nvPr/>
        </p:nvCxnSpPr>
        <p:spPr>
          <a:xfrm flipH="1" flipV="1">
            <a:off x="1945760" y="2430180"/>
            <a:ext cx="163067" cy="5667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18" idx="2"/>
          </p:cNvCxnSpPr>
          <p:nvPr/>
        </p:nvCxnSpPr>
        <p:spPr>
          <a:xfrm flipV="1">
            <a:off x="3131840" y="2430180"/>
            <a:ext cx="84631" cy="5667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endCxn id="19" idx="2"/>
          </p:cNvCxnSpPr>
          <p:nvPr/>
        </p:nvCxnSpPr>
        <p:spPr>
          <a:xfrm flipV="1">
            <a:off x="5207449" y="2431116"/>
            <a:ext cx="0" cy="5658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926131" y="4807462"/>
                <a:ext cx="11826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31" y="4807462"/>
                <a:ext cx="1182696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639" t="-8333" r="-4639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2267744" y="4807462"/>
                <a:ext cx="11826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,2)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4807462"/>
                <a:ext cx="1182696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124" t="-8333" r="-5155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492896" y="4807462"/>
                <a:ext cx="11826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start(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,3)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896" y="4807462"/>
                <a:ext cx="1182696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4639" t="-8333" r="-4639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單箭頭接點 31"/>
          <p:cNvCxnSpPr>
            <a:endCxn id="29" idx="0"/>
          </p:cNvCxnSpPr>
          <p:nvPr/>
        </p:nvCxnSpPr>
        <p:spPr>
          <a:xfrm flipH="1">
            <a:off x="1517479" y="4312260"/>
            <a:ext cx="517265" cy="4952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endCxn id="30" idx="0"/>
          </p:cNvCxnSpPr>
          <p:nvPr/>
        </p:nvCxnSpPr>
        <p:spPr>
          <a:xfrm>
            <a:off x="2627785" y="4312260"/>
            <a:ext cx="231307" cy="4952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31" idx="0"/>
          </p:cNvCxnSpPr>
          <p:nvPr/>
        </p:nvCxnSpPr>
        <p:spPr>
          <a:xfrm>
            <a:off x="3573851" y="4312260"/>
            <a:ext cx="510393" cy="4952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3707904" y="1691516"/>
                <a:ext cx="1160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691516"/>
                <a:ext cx="1160318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4188" t="-8197" r="-366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115322" y="1700913"/>
                <a:ext cx="1160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2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322" y="1700913"/>
                <a:ext cx="1160318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4188" t="-8197" r="-366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380312" y="1708102"/>
                <a:ext cx="1160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3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312" y="1708102"/>
                <a:ext cx="1160318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4737" t="-8197" r="-3684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4543051" y="5176794"/>
                <a:ext cx="11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051" y="5176794"/>
                <a:ext cx="1165640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4188" t="-8197" r="-4188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796136" y="5176794"/>
                <a:ext cx="11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2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5176794"/>
                <a:ext cx="1165640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4712" t="-8197" r="-366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7040568" y="5180362"/>
                <a:ext cx="11656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end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3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568" y="5180362"/>
                <a:ext cx="1165640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4712" t="-8333" r="-3665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>
            <a:endCxn id="43" idx="2"/>
          </p:cNvCxnSpPr>
          <p:nvPr/>
        </p:nvCxnSpPr>
        <p:spPr>
          <a:xfrm flipH="1" flipV="1">
            <a:off x="4288063" y="2060848"/>
            <a:ext cx="330699" cy="936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4" idx="2"/>
          </p:cNvCxnSpPr>
          <p:nvPr/>
        </p:nvCxnSpPr>
        <p:spPr>
          <a:xfrm flipH="1" flipV="1">
            <a:off x="6695481" y="2070245"/>
            <a:ext cx="18055" cy="9267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endCxn id="45" idx="2"/>
          </p:cNvCxnSpPr>
          <p:nvPr/>
        </p:nvCxnSpPr>
        <p:spPr>
          <a:xfrm flipV="1">
            <a:off x="7740352" y="2077434"/>
            <a:ext cx="220119" cy="9195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46" idx="0"/>
          </p:cNvCxnSpPr>
          <p:nvPr/>
        </p:nvCxnSpPr>
        <p:spPr>
          <a:xfrm flipH="1">
            <a:off x="5125871" y="4312260"/>
            <a:ext cx="81578" cy="8645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endCxn id="47" idx="0"/>
          </p:cNvCxnSpPr>
          <p:nvPr/>
        </p:nvCxnSpPr>
        <p:spPr>
          <a:xfrm flipH="1">
            <a:off x="6378956" y="4312260"/>
            <a:ext cx="357314" cy="8645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endCxn id="48" idx="0"/>
          </p:cNvCxnSpPr>
          <p:nvPr/>
        </p:nvCxnSpPr>
        <p:spPr>
          <a:xfrm flipH="1">
            <a:off x="7623388" y="4312260"/>
            <a:ext cx="108064" cy="868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82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052736"/>
                <a:ext cx="8856984" cy="5616624"/>
              </a:xfrm>
            </p:spPr>
            <p:txBody>
              <a:bodyPr/>
              <a:lstStyle/>
              <a:p>
                <a:r>
                  <a:rPr lang="en-US" altLang="zh-TW" dirty="0" smtClean="0"/>
                  <a:t>Find the approximate LCS.</a:t>
                </a:r>
              </a:p>
              <a:p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 is the alphabet of input string.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(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, e, f) denotes the number of 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’s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0" smtClean="0">
                        <a:latin typeface="Cambria Math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e</m:t>
                    </m:r>
                    <m:r>
                      <a:rPr lang="en-US" altLang="zh-TW" b="0" i="0" smtClean="0"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f</m:t>
                    </m:r>
                    <m:r>
                      <a:rPr lang="en-US" altLang="zh-TW" b="0" i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TW" dirty="0" smtClean="0"/>
                  <a:t> for every input string and 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 </a:t>
                </a:r>
                <a:r>
                  <a:rPr lang="el-GR" altLang="zh-TW" dirty="0" smtClean="0"/>
                  <a:t>ϵ</a:t>
                </a:r>
                <a:r>
                  <a:rPr lang="en-US" altLang="zh-TW" dirty="0" smtClean="0"/>
                  <a:t> 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C[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]</a:t>
                </a:r>
                <a:r>
                  <a:rPr lang="en-US" altLang="zh-TW" dirty="0" smtClean="0"/>
                  <a:t> =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l-GR" altLang="zh-TW" dirty="0"/>
                  <a:t>σ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))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C*(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) = </a:t>
                </a:r>
                <a:r>
                  <a:rPr lang="en-US" altLang="zh-TW" dirty="0" smtClean="0"/>
                  <a:t>max C[</a:t>
                </a:r>
                <a:r>
                  <a:rPr lang="el-GR" altLang="zh-TW" dirty="0"/>
                  <a:t>σ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]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052736"/>
                <a:ext cx="8856984" cy="5616624"/>
              </a:xfrm>
              <a:blipFill rotWithShape="1">
                <a:blip r:embed="rId2"/>
                <a:stretch>
                  <a:fillRect l="-1583" t="-1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73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656215"/>
              </p:ext>
            </p:extLst>
          </p:nvPr>
        </p:nvGraphicFramePr>
        <p:xfrm>
          <a:off x="1475656" y="1509077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764037"/>
              </p:ext>
            </p:extLst>
          </p:nvPr>
        </p:nvGraphicFramePr>
        <p:xfrm>
          <a:off x="1475426" y="2276872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83567" y="1437069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1437069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10217" y="2204864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17" y="2204864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467544" y="847493"/>
                <a:ext cx="4533613" cy="565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C[</a:t>
                </a:r>
                <a:r>
                  <a:rPr lang="el-GR" altLang="zh-TW" sz="2800" dirty="0"/>
                  <a:t>σ</a:t>
                </a:r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] =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800" dirty="0"/>
                  <a:t>(</a:t>
                </a:r>
                <a:r>
                  <a:rPr lang="el-GR" altLang="zh-TW" sz="2800" dirty="0"/>
                  <a:t>σ</a:t>
                </a:r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))</a:t>
                </a: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47493"/>
                <a:ext cx="4533613" cy="565283"/>
              </a:xfrm>
              <a:prstGeom prst="rect">
                <a:avLst/>
              </a:prstGeom>
              <a:blipFill rotWithShape="1">
                <a:blip r:embed="rId4"/>
                <a:stretch>
                  <a:fillRect l="-2826" t="-9677" r="-2019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825439" y="2897004"/>
                <a:ext cx="46106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TW" sz="2800" dirty="0" smtClean="0"/>
                  <a:t>Σ </a:t>
                </a:r>
                <a:r>
                  <a:rPr lang="en-US" altLang="zh-TW" sz="2800" dirty="0" smtClean="0"/>
                  <a:t>=(</a:t>
                </a:r>
                <a:r>
                  <a:rPr lang="en-US" altLang="zh-TW" sz="2800" dirty="0" err="1" smtClean="0"/>
                  <a:t>a,b,c,d</a:t>
                </a:r>
                <a:r>
                  <a:rPr lang="en-US" altLang="zh-TW" sz="2800" dirty="0" smtClean="0"/>
                  <a:t>).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=10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9" y="2897004"/>
                <a:ext cx="4610657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642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37561"/>
              </p:ext>
            </p:extLst>
          </p:nvPr>
        </p:nvGraphicFramePr>
        <p:xfrm>
          <a:off x="1537579" y="357301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856136" y="3573016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36" y="3573016"/>
                <a:ext cx="652936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841405" y="5013176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05" y="5013176"/>
                <a:ext cx="661207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81805"/>
              </p:ext>
            </p:extLst>
          </p:nvPr>
        </p:nvGraphicFramePr>
        <p:xfrm>
          <a:off x="1524000" y="4869160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4394794" y="4248636"/>
                <a:ext cx="777457" cy="686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𝑖𝑛</m:t>
                        </m:r>
                      </m:e>
                    </m:groupCh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94" y="4248636"/>
                <a:ext cx="777457" cy="6861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196074"/>
              </p:ext>
            </p:extLst>
          </p:nvPr>
        </p:nvGraphicFramePr>
        <p:xfrm>
          <a:off x="5796136" y="409623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17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69881"/>
              </p:ext>
            </p:extLst>
          </p:nvPr>
        </p:nvGraphicFramePr>
        <p:xfrm>
          <a:off x="1475656" y="1509077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14094"/>
              </p:ext>
            </p:extLst>
          </p:nvPr>
        </p:nvGraphicFramePr>
        <p:xfrm>
          <a:off x="1475426" y="2276872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83567" y="1437069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1437069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10217" y="2204864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17" y="2204864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856136" y="836712"/>
                <a:ext cx="40850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/>
                  <a:t>C*(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) = max C[</a:t>
                </a:r>
                <a:r>
                  <a:rPr lang="el-GR" altLang="zh-TW" sz="2800" dirty="0"/>
                  <a:t>σ</a:t>
                </a:r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]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36" y="836712"/>
                <a:ext cx="4085029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981" t="-10465" r="-223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825439" y="2897004"/>
                <a:ext cx="44666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zh-TW" sz="2800" dirty="0" smtClean="0"/>
                  <a:t>Σ </a:t>
                </a:r>
                <a:r>
                  <a:rPr lang="en-US" altLang="zh-TW" sz="2800" dirty="0" smtClean="0"/>
                  <a:t>=(</a:t>
                </a:r>
                <a:r>
                  <a:rPr lang="en-US" altLang="zh-TW" sz="2800" dirty="0" err="1" smtClean="0"/>
                  <a:t>a,b,c,d</a:t>
                </a:r>
                <a:r>
                  <a:rPr lang="en-US" altLang="zh-TW" sz="2800" dirty="0" smtClean="0"/>
                  <a:t>).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 =10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9" y="2897004"/>
                <a:ext cx="4466641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729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/>
          <p:cNvSpPr txBox="1"/>
          <p:nvPr/>
        </p:nvSpPr>
        <p:spPr>
          <a:xfrm>
            <a:off x="1907704" y="3612756"/>
            <a:ext cx="1054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 max:</a:t>
            </a:r>
            <a:r>
              <a:rPr lang="zh-TW" altLang="en-US" sz="2800" dirty="0" smtClean="0"/>
              <a:t> </a:t>
            </a:r>
            <a:endParaRPr lang="zh-TW" altLang="en-US" sz="28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3831"/>
              </p:ext>
            </p:extLst>
          </p:nvPr>
        </p:nvGraphicFramePr>
        <p:xfrm>
          <a:off x="3440089" y="4365104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11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pic>
        <p:nvPicPr>
          <p:cNvPr id="1027" name="Picture 3" descr="C:\Users\yotsuki\Desktop\擷取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70696"/>
            <a:ext cx="8790451" cy="269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87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156022"/>
              </p:ext>
            </p:extLst>
          </p:nvPr>
        </p:nvGraphicFramePr>
        <p:xfrm>
          <a:off x="2484000" y="908720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318605"/>
              </p:ext>
            </p:extLst>
          </p:nvPr>
        </p:nvGraphicFramePr>
        <p:xfrm>
          <a:off x="2483770" y="16036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5436096" y="2348880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dirty="0" smtClean="0"/>
              <a:t>Σ </a:t>
            </a:r>
            <a:r>
              <a:rPr lang="en-US" altLang="zh-TW" sz="2800" dirty="0" smtClean="0"/>
              <a:t>=(</a:t>
            </a:r>
            <a:r>
              <a:rPr lang="en-US" altLang="zh-TW" sz="2800" dirty="0" err="1" smtClean="0"/>
              <a:t>a,b,c,d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649634"/>
              </p:ext>
            </p:extLst>
          </p:nvPr>
        </p:nvGraphicFramePr>
        <p:xfrm>
          <a:off x="1187624" y="4048472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403977"/>
              </p:ext>
            </p:extLst>
          </p:nvPr>
        </p:nvGraphicFramePr>
        <p:xfrm>
          <a:off x="2483768" y="2276872"/>
          <a:ext cx="1618257" cy="457200"/>
        </p:xfrm>
        <a:graphic>
          <a:graphicData uri="http://schemas.openxmlformats.org/drawingml/2006/table">
            <a:tbl>
              <a:tblPr firstRow="1" bandRow="1"/>
              <a:tblGrid>
                <a:gridCol w="539419"/>
                <a:gridCol w="539419"/>
                <a:gridCol w="539419"/>
              </a:tblGrid>
              <a:tr h="41161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94179" y="2225298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7308" y="697173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Example: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j = 0, </a:t>
                </a:r>
                <a:r>
                  <a:rPr lang="en-US" altLang="zh-TW" sz="2400" dirty="0" err="1" smtClean="0"/>
                  <a:t>Occ</a:t>
                </a:r>
                <a:r>
                  <a:rPr lang="en-US" altLang="zh-TW" sz="2400" dirty="0" smtClean="0"/>
                  <a:t> = 0, </a:t>
                </a:r>
                <a:r>
                  <a:rPr lang="en-US" altLang="zh-TW" sz="2400" dirty="0" err="1" smtClean="0"/>
                  <a:t>bLoc</a:t>
                </a:r>
                <a:r>
                  <a:rPr lang="en-US" altLang="zh-TW" sz="2400" dirty="0" smtClean="0"/>
                  <a:t> = 0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C</a:t>
                </a:r>
                <a:r>
                  <a:rPr lang="en-US" altLang="zh-TW" sz="2400" dirty="0"/>
                  <a:t>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 </m:t>
                    </m:r>
                  </m:oMath>
                </a14:m>
                <a:r>
                  <a:rPr lang="en-US" altLang="zh-TW" sz="2400" dirty="0" smtClean="0"/>
                  <a:t>0)+1,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1</m:t>
                    </m:r>
                  </m:oMath>
                </a14:m>
                <a:r>
                  <a:rPr lang="en-US" altLang="zh-TW" sz="2400" dirty="0" smtClean="0"/>
                  <a:t>)-1)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2432" t="-5882" r="-1216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67544" y="5466928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66928"/>
                <a:ext cx="661207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67544" y="4314800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314800"/>
                <a:ext cx="652936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382033"/>
              </p:ext>
            </p:extLst>
          </p:nvPr>
        </p:nvGraphicFramePr>
        <p:xfrm>
          <a:off x="1187624" y="5250904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779912" y="4756396"/>
                <a:ext cx="777457" cy="686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𝑖𝑛</m:t>
                        </m:r>
                      </m:e>
                    </m:groupCh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56396"/>
                <a:ext cx="777457" cy="6861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7639"/>
              </p:ext>
            </p:extLst>
          </p:nvPr>
        </p:nvGraphicFramePr>
        <p:xfrm>
          <a:off x="5004048" y="460399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078211" y="5703639"/>
                <a:ext cx="481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</m:oMath>
                </a14:m>
                <a:r>
                  <a:rPr lang="en-US" altLang="zh-TW" sz="2400" dirty="0"/>
                  <a:t>0)+1,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1</m:t>
                    </m:r>
                  </m:oMath>
                </a14:m>
                <a:r>
                  <a:rPr lang="en-US" altLang="zh-TW" sz="2400" dirty="0"/>
                  <a:t>)-1</a:t>
                </a:r>
                <a:r>
                  <a:rPr lang="en-US" altLang="zh-TW" sz="2400" dirty="0" smtClean="0"/>
                  <a:t>) = 2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11" y="5703639"/>
                <a:ext cx="4814269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025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/>
          <p:cNvSpPr txBox="1"/>
          <p:nvPr/>
        </p:nvSpPr>
        <p:spPr>
          <a:xfrm>
            <a:off x="5227172" y="2924944"/>
            <a:ext cx="30892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symbol = b, </a:t>
            </a:r>
            <a:r>
              <a:rPr lang="en-US" altLang="zh-TW" sz="2800" dirty="0" err="1" smtClean="0"/>
              <a:t>Occ</a:t>
            </a:r>
            <a:r>
              <a:rPr lang="en-US" altLang="zh-TW" sz="2800" dirty="0" smtClean="0"/>
              <a:t> = 2,</a:t>
            </a:r>
            <a:br>
              <a:rPr lang="en-US" altLang="zh-TW" sz="2800" dirty="0" smtClean="0"/>
            </a:br>
            <a:r>
              <a:rPr lang="en-US" altLang="zh-TW" sz="2800" dirty="0" err="1" smtClean="0"/>
              <a:t>bLoc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0</a:t>
            </a:r>
            <a:br>
              <a:rPr lang="en-US" altLang="zh-TW" sz="2800" dirty="0"/>
            </a:br>
            <a:endParaRPr lang="zh-TW" altLang="en-US" sz="2800" dirty="0"/>
          </a:p>
        </p:txBody>
      </p:sp>
      <p:sp>
        <p:nvSpPr>
          <p:cNvPr id="22" name="向右箭號 21"/>
          <p:cNvSpPr/>
          <p:nvPr/>
        </p:nvSpPr>
        <p:spPr>
          <a:xfrm>
            <a:off x="4823309" y="3284984"/>
            <a:ext cx="252747" cy="2160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59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676692"/>
              </p:ext>
            </p:extLst>
          </p:nvPr>
        </p:nvGraphicFramePr>
        <p:xfrm>
          <a:off x="2484000" y="908720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92813"/>
              </p:ext>
            </p:extLst>
          </p:nvPr>
        </p:nvGraphicFramePr>
        <p:xfrm>
          <a:off x="2483770" y="16036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5436096" y="2348880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dirty="0" smtClean="0"/>
              <a:t>Σ </a:t>
            </a:r>
            <a:r>
              <a:rPr lang="en-US" altLang="zh-TW" sz="2800" dirty="0" smtClean="0"/>
              <a:t>=(</a:t>
            </a:r>
            <a:r>
              <a:rPr lang="en-US" altLang="zh-TW" sz="2800" dirty="0" err="1" smtClean="0"/>
              <a:t>a,b,c,d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47467"/>
              </p:ext>
            </p:extLst>
          </p:nvPr>
        </p:nvGraphicFramePr>
        <p:xfrm>
          <a:off x="1187624" y="404671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965306"/>
              </p:ext>
            </p:extLst>
          </p:nvPr>
        </p:nvGraphicFramePr>
        <p:xfrm>
          <a:off x="2483768" y="2276872"/>
          <a:ext cx="1618257" cy="457200"/>
        </p:xfrm>
        <a:graphic>
          <a:graphicData uri="http://schemas.openxmlformats.org/drawingml/2006/table">
            <a:tbl>
              <a:tblPr firstRow="1" bandRow="1"/>
              <a:tblGrid>
                <a:gridCol w="539419"/>
                <a:gridCol w="539419"/>
                <a:gridCol w="539419"/>
              </a:tblGrid>
              <a:tr h="41161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94179" y="2225298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7308" y="697173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Example: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j = 1, </a:t>
                </a:r>
                <a:r>
                  <a:rPr lang="en-US" altLang="zh-TW" sz="2400" dirty="0" err="1" smtClean="0"/>
                  <a:t>Occ</a:t>
                </a:r>
                <a:r>
                  <a:rPr lang="en-US" altLang="zh-TW" sz="2400" dirty="0" smtClean="0"/>
                  <a:t> = 2, </a:t>
                </a:r>
                <a:r>
                  <a:rPr lang="en-US" altLang="zh-TW" sz="2400" dirty="0" err="1" smtClean="0"/>
                  <a:t>bLoc</a:t>
                </a:r>
                <a:r>
                  <a:rPr lang="en-US" altLang="zh-TW" sz="2400" dirty="0" smtClean="0"/>
                  <a:t> = 0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C</a:t>
                </a:r>
                <a:r>
                  <a:rPr lang="en-US" altLang="zh-TW" sz="2400" dirty="0"/>
                  <a:t>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 1</m:t>
                    </m:r>
                  </m:oMath>
                </a14:m>
                <a:r>
                  <a:rPr lang="en-US" altLang="zh-TW" sz="2400" dirty="0" smtClean="0"/>
                  <a:t>)+1,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2</m:t>
                    </m:r>
                  </m:oMath>
                </a14:m>
                <a:r>
                  <a:rPr lang="en-US" altLang="zh-TW" sz="2400" dirty="0" smtClean="0"/>
                  <a:t>)-1)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2432" t="-5882" r="-1216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37631"/>
              </p:ext>
            </p:extLst>
          </p:nvPr>
        </p:nvGraphicFramePr>
        <p:xfrm>
          <a:off x="1187624" y="5249148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𝑖𝑛</m:t>
                        </m:r>
                      </m:e>
                    </m:groupCh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767722"/>
              </p:ext>
            </p:extLst>
          </p:nvPr>
        </p:nvGraphicFramePr>
        <p:xfrm>
          <a:off x="5004048" y="4602240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1</m:t>
                    </m:r>
                  </m:oMath>
                </a14:m>
                <a:r>
                  <a:rPr lang="en-US" altLang="zh-TW" sz="2400" dirty="0" smtClean="0"/>
                  <a:t>)+</a:t>
                </a:r>
                <a:r>
                  <a:rPr lang="en-US" altLang="zh-TW" sz="2400" dirty="0"/>
                  <a:t>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 </m:t>
                    </m:r>
                  </m:oMath>
                </a14:m>
                <a:r>
                  <a:rPr lang="en-US" altLang="zh-TW" sz="2400" dirty="0" smtClean="0"/>
                  <a:t>2)-</a:t>
                </a:r>
                <a:r>
                  <a:rPr lang="en-US" altLang="zh-TW" sz="2400" dirty="0"/>
                  <a:t>1</a:t>
                </a:r>
                <a:r>
                  <a:rPr lang="en-US" altLang="zh-TW" sz="2400" dirty="0" smtClean="0"/>
                  <a:t>) = 2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02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/>
          <p:cNvSpPr txBox="1"/>
          <p:nvPr/>
        </p:nvSpPr>
        <p:spPr>
          <a:xfrm>
            <a:off x="5227172" y="2924944"/>
            <a:ext cx="30892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symbol = b, </a:t>
            </a:r>
            <a:r>
              <a:rPr lang="en-US" altLang="zh-TW" sz="2800" dirty="0" err="1" smtClean="0"/>
              <a:t>Occ</a:t>
            </a:r>
            <a:r>
              <a:rPr lang="en-US" altLang="zh-TW" sz="2800" dirty="0" smtClean="0"/>
              <a:t> = 2,</a:t>
            </a:r>
            <a:br>
              <a:rPr lang="en-US" altLang="zh-TW" sz="2800" dirty="0" smtClean="0"/>
            </a:br>
            <a:r>
              <a:rPr lang="en-US" altLang="zh-TW" sz="2800" dirty="0" err="1" smtClean="0"/>
              <a:t>bLoc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0</a:t>
            </a:r>
            <a:br>
              <a:rPr lang="en-US" altLang="zh-TW" sz="2800" dirty="0"/>
            </a:br>
            <a:endParaRPr lang="zh-TW" altLang="en-US" sz="2800" dirty="0"/>
          </a:p>
        </p:txBody>
      </p:sp>
      <p:sp>
        <p:nvSpPr>
          <p:cNvPr id="20" name="向右箭號 19"/>
          <p:cNvSpPr/>
          <p:nvPr/>
        </p:nvSpPr>
        <p:spPr>
          <a:xfrm>
            <a:off x="4823309" y="3284984"/>
            <a:ext cx="252747" cy="2160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70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38300"/>
              </p:ext>
            </p:extLst>
          </p:nvPr>
        </p:nvGraphicFramePr>
        <p:xfrm>
          <a:off x="2484000" y="908720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73594"/>
              </p:ext>
            </p:extLst>
          </p:nvPr>
        </p:nvGraphicFramePr>
        <p:xfrm>
          <a:off x="2483770" y="16036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5436096" y="2348880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dirty="0" smtClean="0"/>
              <a:t>Σ </a:t>
            </a:r>
            <a:r>
              <a:rPr lang="en-US" altLang="zh-TW" sz="2800" dirty="0" smtClean="0"/>
              <a:t>=(</a:t>
            </a:r>
            <a:r>
              <a:rPr lang="en-US" altLang="zh-TW" sz="2800" dirty="0" err="1" smtClean="0"/>
              <a:t>a,b,c,d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401855"/>
              </p:ext>
            </p:extLst>
          </p:nvPr>
        </p:nvGraphicFramePr>
        <p:xfrm>
          <a:off x="1187624" y="404671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556479"/>
              </p:ext>
            </p:extLst>
          </p:nvPr>
        </p:nvGraphicFramePr>
        <p:xfrm>
          <a:off x="2483768" y="2276872"/>
          <a:ext cx="1618257" cy="457200"/>
        </p:xfrm>
        <a:graphic>
          <a:graphicData uri="http://schemas.openxmlformats.org/drawingml/2006/table">
            <a:tbl>
              <a:tblPr firstRow="1" bandRow="1"/>
              <a:tblGrid>
                <a:gridCol w="539419"/>
                <a:gridCol w="539419"/>
                <a:gridCol w="539419"/>
              </a:tblGrid>
              <a:tr h="41161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94179" y="2225298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7308" y="697173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Example: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j = 2, </a:t>
                </a:r>
                <a:r>
                  <a:rPr lang="en-US" altLang="zh-TW" sz="2400" dirty="0" err="1" smtClean="0"/>
                  <a:t>Occ</a:t>
                </a:r>
                <a:r>
                  <a:rPr lang="en-US" altLang="zh-TW" sz="2400" dirty="0" smtClean="0"/>
                  <a:t> = 2, </a:t>
                </a:r>
                <a:r>
                  <a:rPr lang="en-US" altLang="zh-TW" sz="2400" dirty="0" err="1" smtClean="0"/>
                  <a:t>bLoc</a:t>
                </a:r>
                <a:r>
                  <a:rPr lang="en-US" altLang="zh-TW" sz="2400" dirty="0" smtClean="0"/>
                  <a:t> = 0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C</a:t>
                </a:r>
                <a:r>
                  <a:rPr lang="en-US" altLang="zh-TW" sz="2400" dirty="0"/>
                  <a:t>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 2</m:t>
                    </m:r>
                  </m:oMath>
                </a14:m>
                <a:r>
                  <a:rPr lang="en-US" altLang="zh-TW" sz="2400" dirty="0" smtClean="0"/>
                  <a:t>)+1,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3</m:t>
                    </m:r>
                  </m:oMath>
                </a14:m>
                <a:r>
                  <a:rPr lang="en-US" altLang="zh-TW" sz="2400" dirty="0" smtClean="0"/>
                  <a:t>)-1)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2432" t="-5882" r="-1216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775067"/>
              </p:ext>
            </p:extLst>
          </p:nvPr>
        </p:nvGraphicFramePr>
        <p:xfrm>
          <a:off x="1187624" y="5249148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𝑖𝑛</m:t>
                        </m:r>
                      </m:e>
                    </m:groupCh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09308"/>
              </p:ext>
            </p:extLst>
          </p:nvPr>
        </p:nvGraphicFramePr>
        <p:xfrm>
          <a:off x="5004048" y="4602240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2</m:t>
                    </m:r>
                  </m:oMath>
                </a14:m>
                <a:r>
                  <a:rPr lang="en-US" altLang="zh-TW" sz="2400" dirty="0" smtClean="0"/>
                  <a:t>)+</a:t>
                </a:r>
                <a:r>
                  <a:rPr lang="en-US" altLang="zh-TW" sz="2400" dirty="0"/>
                  <a:t>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3</m:t>
                    </m:r>
                  </m:oMath>
                </a14:m>
                <a:r>
                  <a:rPr lang="en-US" altLang="zh-TW" sz="2400" dirty="0" smtClean="0"/>
                  <a:t>)-</a:t>
                </a:r>
                <a:r>
                  <a:rPr lang="en-US" altLang="zh-TW" sz="2400" dirty="0"/>
                  <a:t>1</a:t>
                </a:r>
                <a:r>
                  <a:rPr lang="en-US" altLang="zh-TW" sz="2400" dirty="0" smtClean="0"/>
                  <a:t>) = 3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02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/>
          <p:cNvSpPr txBox="1"/>
          <p:nvPr/>
        </p:nvSpPr>
        <p:spPr>
          <a:xfrm>
            <a:off x="5217428" y="2924944"/>
            <a:ext cx="31709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/>
              <a:t> </a:t>
            </a:r>
            <a:r>
              <a:rPr lang="en-US" altLang="zh-TW" sz="2800" dirty="0" smtClean="0"/>
              <a:t>symbol = d, </a:t>
            </a:r>
            <a:r>
              <a:rPr lang="en-US" altLang="zh-TW" sz="2800" dirty="0" err="1" smtClean="0"/>
              <a:t>Occ</a:t>
            </a:r>
            <a:r>
              <a:rPr lang="en-US" altLang="zh-TW" sz="2800" dirty="0" smtClean="0"/>
              <a:t> = 3,</a:t>
            </a:r>
            <a:br>
              <a:rPr lang="en-US" altLang="zh-TW" sz="2800" dirty="0" smtClean="0"/>
            </a:b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bLoc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</a:t>
            </a:r>
            <a:r>
              <a:rPr lang="en-US" altLang="zh-TW" sz="2800" dirty="0" smtClean="0"/>
              <a:t>2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endParaRPr lang="zh-TW" altLang="en-US" sz="2800" dirty="0"/>
          </a:p>
        </p:txBody>
      </p:sp>
      <p:sp>
        <p:nvSpPr>
          <p:cNvPr id="20" name="向右箭號 19"/>
          <p:cNvSpPr/>
          <p:nvPr/>
        </p:nvSpPr>
        <p:spPr>
          <a:xfrm>
            <a:off x="4823309" y="3284984"/>
            <a:ext cx="252747" cy="2160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75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078033"/>
              </p:ext>
            </p:extLst>
          </p:nvPr>
        </p:nvGraphicFramePr>
        <p:xfrm>
          <a:off x="2484000" y="908720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883422"/>
              </p:ext>
            </p:extLst>
          </p:nvPr>
        </p:nvGraphicFramePr>
        <p:xfrm>
          <a:off x="2483770" y="16036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5436096" y="2348880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dirty="0" smtClean="0"/>
              <a:t>Σ </a:t>
            </a:r>
            <a:r>
              <a:rPr lang="en-US" altLang="zh-TW" sz="2800" dirty="0" smtClean="0"/>
              <a:t>=(</a:t>
            </a:r>
            <a:r>
              <a:rPr lang="en-US" altLang="zh-TW" sz="2800" dirty="0" err="1" smtClean="0"/>
              <a:t>a,b,c,d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821388"/>
              </p:ext>
            </p:extLst>
          </p:nvPr>
        </p:nvGraphicFramePr>
        <p:xfrm>
          <a:off x="1187624" y="4046716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73175"/>
              </p:ext>
            </p:extLst>
          </p:nvPr>
        </p:nvGraphicFramePr>
        <p:xfrm>
          <a:off x="2483768" y="2276872"/>
          <a:ext cx="1618257" cy="457200"/>
        </p:xfrm>
        <a:graphic>
          <a:graphicData uri="http://schemas.openxmlformats.org/drawingml/2006/table">
            <a:tbl>
              <a:tblPr firstRow="1" bandRow="1"/>
              <a:tblGrid>
                <a:gridCol w="539419"/>
                <a:gridCol w="539419"/>
                <a:gridCol w="539419"/>
              </a:tblGrid>
              <a:tr h="41161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94179" y="2225298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7308" y="697173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Example: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j = 3, </a:t>
                </a:r>
                <a:r>
                  <a:rPr lang="en-US" altLang="zh-TW" sz="2400" dirty="0" err="1" smtClean="0"/>
                  <a:t>Occ</a:t>
                </a:r>
                <a:r>
                  <a:rPr lang="en-US" altLang="zh-TW" sz="2400" dirty="0" smtClean="0"/>
                  <a:t> = 3, </a:t>
                </a:r>
                <a:r>
                  <a:rPr lang="en-US" altLang="zh-TW" sz="2400" dirty="0" err="1" smtClean="0"/>
                  <a:t>bLoc</a:t>
                </a:r>
                <a:r>
                  <a:rPr lang="en-US" altLang="zh-TW" sz="2400" dirty="0" smtClean="0"/>
                  <a:t> = 2</a:t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C</a:t>
                </a:r>
                <a:r>
                  <a:rPr lang="en-US" altLang="zh-TW" sz="2400" dirty="0"/>
                  <a:t>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 3</m:t>
                    </m:r>
                  </m:oMath>
                </a14:m>
                <a:r>
                  <a:rPr lang="en-US" altLang="zh-TW" sz="2400" dirty="0" smtClean="0"/>
                  <a:t>)+1,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4</m:t>
                    </m:r>
                  </m:oMath>
                </a14:m>
                <a:r>
                  <a:rPr lang="en-US" altLang="zh-TW" sz="2400" dirty="0" smtClean="0"/>
                  <a:t>)-1)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28" y="2948309"/>
                <a:ext cx="4015073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2432" t="-5882" r="-1216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65172"/>
                <a:ext cx="661207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313044"/>
                <a:ext cx="652936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6486"/>
              </p:ext>
            </p:extLst>
          </p:nvPr>
        </p:nvGraphicFramePr>
        <p:xfrm>
          <a:off x="1187624" y="5249148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TW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𝑖𝑛</m:t>
                        </m:r>
                      </m:e>
                    </m:groupCh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754640"/>
                <a:ext cx="777457" cy="6861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456060"/>
              </p:ext>
            </p:extLst>
          </p:nvPr>
        </p:nvGraphicFramePr>
        <p:xfrm>
          <a:off x="5004048" y="4602240"/>
          <a:ext cx="2327920" cy="914400"/>
        </p:xfrm>
        <a:graphic>
          <a:graphicData uri="http://schemas.openxmlformats.org/drawingml/2006/table">
            <a:tbl>
              <a:tblPr firstRow="1" bandRow="1"/>
              <a:tblGrid>
                <a:gridCol w="581980"/>
                <a:gridCol w="581980"/>
                <a:gridCol w="581980"/>
                <a:gridCol w="581980"/>
              </a:tblGrid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7332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/>
                      <m:t>start</m:t>
                    </m:r>
                    <m:r>
                      <m:rPr>
                        <m:nor/>
                      </m:rPr>
                      <a:rPr lang="en-US" altLang="zh-TW" sz="2400" dirty="0"/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3</m:t>
                    </m:r>
                  </m:oMath>
                </a14:m>
                <a:r>
                  <a:rPr lang="en-US" altLang="zh-TW" sz="2400" dirty="0" smtClean="0"/>
                  <a:t>)+</a:t>
                </a:r>
                <a:r>
                  <a:rPr lang="en-US" altLang="zh-TW" sz="2400" dirty="0"/>
                  <a:t>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2400" dirty="0"/>
                      <m:t>, </m:t>
                    </m:r>
                    <m:r>
                      <m:rPr>
                        <m:nor/>
                      </m:rPr>
                      <a:rPr lang="en-US" altLang="zh-TW" sz="2400" b="0" i="0" dirty="0" smtClean="0"/>
                      <m:t>4</m:t>
                    </m:r>
                  </m:oMath>
                </a14:m>
                <a:r>
                  <a:rPr lang="en-US" altLang="zh-TW" sz="2400" dirty="0" smtClean="0"/>
                  <a:t>)-</a:t>
                </a:r>
                <a:r>
                  <a:rPr lang="en-US" altLang="zh-TW" sz="2400" dirty="0"/>
                  <a:t>1</a:t>
                </a:r>
                <a:r>
                  <a:rPr lang="en-US" altLang="zh-TW" sz="2400" dirty="0" smtClean="0"/>
                  <a:t>) = 2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11" y="5733256"/>
                <a:ext cx="4814269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02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/>
          <p:cNvSpPr txBox="1"/>
          <p:nvPr/>
        </p:nvSpPr>
        <p:spPr>
          <a:xfrm>
            <a:off x="5289436" y="2924944"/>
            <a:ext cx="31709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/>
              <a:t> </a:t>
            </a:r>
            <a:r>
              <a:rPr lang="en-US" altLang="zh-TW" sz="2800" dirty="0" smtClean="0"/>
              <a:t>symbol = d, </a:t>
            </a:r>
            <a:r>
              <a:rPr lang="en-US" altLang="zh-TW" sz="2800" dirty="0" err="1" smtClean="0"/>
              <a:t>Occ</a:t>
            </a:r>
            <a:r>
              <a:rPr lang="en-US" altLang="zh-TW" sz="2800" dirty="0" smtClean="0"/>
              <a:t> = 3,</a:t>
            </a:r>
            <a:br>
              <a:rPr lang="en-US" altLang="zh-TW" sz="2800" dirty="0" smtClean="0"/>
            </a:b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bLoc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</a:t>
            </a:r>
            <a:r>
              <a:rPr lang="en-US" altLang="zh-TW" sz="2800" dirty="0" smtClean="0"/>
              <a:t>2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endParaRPr lang="zh-TW" altLang="en-US" sz="2800" dirty="0"/>
          </a:p>
        </p:txBody>
      </p:sp>
      <p:sp>
        <p:nvSpPr>
          <p:cNvPr id="9" name="向右箭號 8"/>
          <p:cNvSpPr/>
          <p:nvPr/>
        </p:nvSpPr>
        <p:spPr>
          <a:xfrm>
            <a:off x="4823309" y="3284984"/>
            <a:ext cx="252747" cy="2160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39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922114"/>
          </a:xfrm>
        </p:spPr>
        <p:txBody>
          <a:bodyPr>
            <a:normAutofit/>
          </a:bodyPr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Approximation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540059"/>
              </p:ext>
            </p:extLst>
          </p:nvPr>
        </p:nvGraphicFramePr>
        <p:xfrm>
          <a:off x="2484000" y="908720"/>
          <a:ext cx="6192456" cy="457200"/>
        </p:xfrm>
        <a:graphic>
          <a:graphicData uri="http://schemas.openxmlformats.org/drawingml/2006/table">
            <a:tbl>
              <a:tblPr firstRow="1" bandRow="1"/>
              <a:tblGrid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  <a:gridCol w="516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614517"/>
              </p:ext>
            </p:extLst>
          </p:nvPr>
        </p:nvGraphicFramePr>
        <p:xfrm>
          <a:off x="2483770" y="1603648"/>
          <a:ext cx="6192684" cy="457200"/>
        </p:xfrm>
        <a:graphic>
          <a:graphicData uri="http://schemas.openxmlformats.org/drawingml/2006/table">
            <a:tbl>
              <a:tblPr firstRow="1" bandRow="1"/>
              <a:tblGrid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  <a:gridCol w="516057"/>
              </a:tblGrid>
              <a:tr h="370841"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11" y="836712"/>
                <a:ext cx="652936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61" y="1556792"/>
                <a:ext cx="66120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/>
          <p:cNvSpPr txBox="1"/>
          <p:nvPr/>
        </p:nvSpPr>
        <p:spPr>
          <a:xfrm>
            <a:off x="5436096" y="2348880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dirty="0" smtClean="0"/>
              <a:t>Σ </a:t>
            </a:r>
            <a:r>
              <a:rPr lang="en-US" altLang="zh-TW" sz="2800" dirty="0" smtClean="0"/>
              <a:t>=(</a:t>
            </a:r>
            <a:r>
              <a:rPr lang="en-US" altLang="zh-TW" sz="2800" dirty="0" err="1" smtClean="0"/>
              <a:t>a,b,c,d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68142"/>
              </p:ext>
            </p:extLst>
          </p:nvPr>
        </p:nvGraphicFramePr>
        <p:xfrm>
          <a:off x="2483768" y="2276872"/>
          <a:ext cx="1618257" cy="457200"/>
        </p:xfrm>
        <a:graphic>
          <a:graphicData uri="http://schemas.openxmlformats.org/drawingml/2006/table">
            <a:tbl>
              <a:tblPr firstRow="1" bandRow="1"/>
              <a:tblGrid>
                <a:gridCol w="539419"/>
                <a:gridCol w="539419"/>
                <a:gridCol w="539419"/>
              </a:tblGrid>
              <a:tr h="41161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94179" y="2225298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7308" y="697173"/>
            <a:ext cx="1802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Example: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403648" y="3093156"/>
            <a:ext cx="65643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 </a:t>
            </a:r>
            <a:r>
              <a:rPr lang="en-US" altLang="zh-TW" sz="2800" dirty="0" smtClean="0"/>
              <a:t>symbol = d, </a:t>
            </a:r>
            <a:r>
              <a:rPr lang="en-US" altLang="zh-TW" sz="2800" dirty="0" err="1" smtClean="0"/>
              <a:t>Occ</a:t>
            </a:r>
            <a:r>
              <a:rPr lang="en-US" altLang="zh-TW" sz="2800" dirty="0" smtClean="0"/>
              <a:t> = 3, </a:t>
            </a:r>
            <a:r>
              <a:rPr lang="en-US" altLang="zh-TW" sz="2800" dirty="0" err="1" smtClean="0"/>
              <a:t>bLoc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= </a:t>
            </a:r>
            <a:r>
              <a:rPr lang="en-US" altLang="zh-TW" sz="2800" dirty="0" smtClean="0"/>
              <a:t>2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endParaRPr lang="zh-TW" altLang="en-US" sz="2800" dirty="0"/>
          </a:p>
        </p:txBody>
      </p:sp>
      <p:sp>
        <p:nvSpPr>
          <p:cNvPr id="9" name="向下箭號 8"/>
          <p:cNvSpPr/>
          <p:nvPr/>
        </p:nvSpPr>
        <p:spPr>
          <a:xfrm>
            <a:off x="3635896" y="3717032"/>
            <a:ext cx="216024" cy="21602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1400267" y="4005064"/>
            <a:ext cx="6564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 </a:t>
            </a:r>
            <a:r>
              <a:rPr lang="en-US" altLang="zh-TW" sz="2800" dirty="0" smtClean="0"/>
              <a:t>approximate LCS:</a:t>
            </a:r>
            <a:br>
              <a:rPr lang="en-US" altLang="zh-TW" sz="2800" dirty="0" smtClean="0"/>
            </a:br>
            <a:r>
              <a:rPr lang="en-US" altLang="zh-TW" sz="2800" dirty="0" smtClean="0"/>
              <a:t>	</a:t>
            </a:r>
            <a:r>
              <a:rPr lang="en-US" altLang="zh-TW" sz="2800" dirty="0" err="1" smtClean="0"/>
              <a:t>cb‧ddd‧a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 C-LCS = </a:t>
            </a:r>
            <a:r>
              <a:rPr lang="en-US" altLang="zh-TW" sz="2800" dirty="0" err="1" smtClean="0"/>
              <a:t>cbddda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5123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433467"/>
              </a:xfrm>
            </p:spPr>
            <p:txBody>
              <a:bodyPr/>
              <a:lstStyle/>
              <a:p>
                <a:r>
                  <a:rPr lang="en-US" altLang="zh-TW" dirty="0" smtClean="0"/>
                  <a:t>The running time is linear. The computation of </a:t>
                </a:r>
                <a:r>
                  <a:rPr lang="en-US" altLang="zh-TW" dirty="0"/>
                  <a:t>C*(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start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, </m:t>
                    </m:r>
                    <m:r>
                      <m:rPr>
                        <m:nor/>
                      </m:rPr>
                      <a:rPr lang="en-US" altLang="zh-TW" b="0" i="0" dirty="0" smtClean="0"/>
                      <m:t>j</m:t>
                    </m:r>
                  </m:oMath>
                </a14:m>
                <a:r>
                  <a:rPr lang="en-US" altLang="zh-TW" dirty="0" smtClean="0"/>
                  <a:t>)+</a:t>
                </a:r>
                <a:r>
                  <a:rPr lang="en-US" altLang="zh-TW" dirty="0"/>
                  <a:t>1, 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, </m:t>
                    </m:r>
                    <m:r>
                      <m:rPr>
                        <m:nor/>
                      </m:rPr>
                      <a:rPr lang="en-US" altLang="zh-TW" b="0" i="0" dirty="0" smtClean="0"/>
                      <m:t>j</m:t>
                    </m:r>
                    <m:r>
                      <m:rPr>
                        <m:nor/>
                      </m:rPr>
                      <a:rPr lang="en-US" altLang="zh-TW" b="0" i="0" dirty="0" smtClean="0"/>
                      <m:t>+1</m:t>
                    </m:r>
                  </m:oMath>
                </a14:m>
                <a:r>
                  <a:rPr lang="en-US" altLang="zh-TW" dirty="0" smtClean="0"/>
                  <a:t>)-</a:t>
                </a:r>
                <a:r>
                  <a:rPr lang="en-US" altLang="zh-TW" dirty="0"/>
                  <a:t>1</a:t>
                </a:r>
                <a:r>
                  <a:rPr lang="en-US" altLang="zh-TW" dirty="0" smtClean="0"/>
                  <a:t>) is a process of 2(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p>
                      <m:e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dirty="0" smtClean="0"/>
                  <a:t>) updates operations (insert </a:t>
                </a:r>
                <a:r>
                  <a:rPr lang="en-US" altLang="zh-TW" dirty="0"/>
                  <a:t>and delete </a:t>
                </a:r>
                <a:r>
                  <a:rPr lang="en-US" altLang="zh-TW" dirty="0" smtClean="0"/>
                  <a:t>every character </a:t>
                </a:r>
                <a:r>
                  <a:rPr lang="en-US" altLang="zh-TW" dirty="0"/>
                  <a:t>of the input strings exactly once</a:t>
                </a:r>
                <a:r>
                  <a:rPr lang="en-US" altLang="zh-TW" dirty="0" smtClean="0"/>
                  <a:t>)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The Algorithm </a:t>
                </a:r>
                <a:r>
                  <a:rPr lang="en-US" altLang="zh-TW" dirty="0" err="1" smtClean="0"/>
                  <a:t>yeilds</a:t>
                </a:r>
                <a:r>
                  <a:rPr lang="en-US" altLang="zh-TW" dirty="0" smtClean="0"/>
                  <a:t> an approximation ratio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el-GR" altLang="zh-TW" dirty="0"/>
                              <m:t>Σ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|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TW" dirty="0" smtClean="0"/>
                  <a:t>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zh-TW" dirty="0"/>
                  <a:t> is the length of the shortest input string and |</a:t>
                </a:r>
                <a:r>
                  <a:rPr lang="zh-TW" altLang="zh-TW" dirty="0"/>
                  <a:t>Σ</a:t>
                </a:r>
                <a:r>
                  <a:rPr lang="en-US" altLang="zh-TW" dirty="0"/>
                  <a:t>| is the size of the alphabet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433467"/>
              </a:xfrm>
              <a:blipFill rotWithShape="1">
                <a:blip r:embed="rId2"/>
                <a:stretch>
                  <a:fillRect l="-1630" t="-1459" r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59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700</Words>
  <Application>Microsoft Office PowerPoint</Application>
  <PresentationFormat>如螢幕大小 (4:3)</PresentationFormat>
  <Paragraphs>457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新細明體</vt:lpstr>
      <vt:lpstr>Arial</vt:lpstr>
      <vt:lpstr>Calibri</vt:lpstr>
      <vt:lpstr>Cambria Math</vt:lpstr>
      <vt:lpstr>Office 佈景主題</vt:lpstr>
      <vt:lpstr>Constrained LCS: Hardness and Approximation</vt:lpstr>
      <vt:lpstr>Abstract</vt:lpstr>
      <vt:lpstr>Constrained LCS</vt:lpstr>
      <vt:lpstr>Constrained LCS</vt:lpstr>
      <vt:lpstr>Constrained LCS – Single Constraint</vt:lpstr>
      <vt:lpstr>Constrained LCS – Single Constraint</vt:lpstr>
      <vt:lpstr>Constrained LCS – Single Constraint</vt:lpstr>
      <vt:lpstr>An Approximation Algorithm</vt:lpstr>
      <vt:lpstr>An Approximation Algorithm</vt:lpstr>
      <vt:lpstr>An Approximation Algorithm</vt:lpstr>
      <vt:lpstr>An Approximation Algorithm</vt:lpstr>
      <vt:lpstr>An Approximation Algorithm</vt:lpstr>
      <vt:lpstr>An Approximation Algorithm</vt:lpstr>
      <vt:lpstr>An Approximation Algorithm</vt:lpstr>
      <vt:lpstr>An Approximation Algorithm</vt:lpstr>
      <vt:lpstr>An Approximation Algorithm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Constrained LCS: Hardness and Approximation</dc:title>
  <dc:creator>yotsuki</dc:creator>
  <cp:lastModifiedBy>郭冠呈</cp:lastModifiedBy>
  <cp:revision>80</cp:revision>
  <dcterms:created xsi:type="dcterms:W3CDTF">2014-10-07T05:58:09Z</dcterms:created>
  <dcterms:modified xsi:type="dcterms:W3CDTF">2014-10-14T11:24:02Z</dcterms:modified>
</cp:coreProperties>
</file>