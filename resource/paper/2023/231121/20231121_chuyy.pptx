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307" r:id="rId2"/>
    <p:sldId id="309" r:id="rId3"/>
    <p:sldId id="312" r:id="rId4"/>
    <p:sldId id="334" r:id="rId5"/>
    <p:sldId id="317" r:id="rId6"/>
    <p:sldId id="336" r:id="rId7"/>
    <p:sldId id="339" r:id="rId8"/>
    <p:sldId id="314" r:id="rId9"/>
    <p:sldId id="359" r:id="rId10"/>
    <p:sldId id="340" r:id="rId11"/>
    <p:sldId id="352" r:id="rId12"/>
    <p:sldId id="343" r:id="rId13"/>
    <p:sldId id="353" r:id="rId14"/>
    <p:sldId id="357" r:id="rId15"/>
    <p:sldId id="341" r:id="rId16"/>
    <p:sldId id="342" r:id="rId17"/>
    <p:sldId id="355" r:id="rId18"/>
    <p:sldId id="356" r:id="rId19"/>
    <p:sldId id="344" r:id="rId20"/>
    <p:sldId id="354" r:id="rId21"/>
    <p:sldId id="351" r:id="rId22"/>
    <p:sldId id="320" r:id="rId23"/>
  </p:sldIdLst>
  <p:sldSz cx="12192000" cy="6858000"/>
  <p:notesSz cx="9144000" cy="6858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AFE3"/>
    <a:srgbClr val="66CCCC"/>
    <a:srgbClr val="99D8B9"/>
    <a:srgbClr val="FFCC66"/>
    <a:srgbClr val="FF9966"/>
    <a:srgbClr val="FE7A7B"/>
    <a:srgbClr val="CBCBC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86" autoAdjust="0"/>
    <p:restoredTop sz="96341" autoAdjust="0"/>
  </p:normalViewPr>
  <p:slideViewPr>
    <p:cSldViewPr snapToGrid="0">
      <p:cViewPr varScale="1">
        <p:scale>
          <a:sx n="129" d="100"/>
          <a:sy n="129" d="100"/>
        </p:scale>
        <p:origin x="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842013-3B7F-4C4B-B6DC-023897CF8B9B}" type="datetimeFigureOut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FBA196-9CB9-459F-9AAA-F0375B3B57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459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BA196-9CB9-459F-9AAA-F0375B3B57E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2574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BA196-9CB9-459F-9AAA-F0375B3B57E9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851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BA196-9CB9-459F-9AAA-F0375B3B57E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444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BA196-9CB9-459F-9AAA-F0375B3B57E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8350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BA196-9CB9-459F-9AAA-F0375B3B57E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5605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FBA196-9CB9-459F-9AAA-F0375B3B57E9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3785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FBA196-9CB9-459F-9AAA-F0375B3B57E9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8678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FBA196-9CB9-459F-9AAA-F0375B3B57E9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359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2711FA-10F6-CD7F-26B6-41DA7BB1F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3B938C3-24C0-2448-F373-350E8FD22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7C7B31-7E1C-92C6-525C-A7A9E0A77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6B2E-E789-429B-9EE0-C8F91F0324C1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AB2F55-C1E3-A64F-FED7-6B3BCFA45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CE8FA9-0EEC-DEE8-0977-4E43681EB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528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2076CA-3A1C-360D-3310-BEB9F287A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DC52EC-1FC6-26CE-1F90-C2CF3C35F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BE6CFC-3BAE-EE70-EDA2-4D75C3FA7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E1ECF-D376-401B-9DA5-913E62ECDE20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25B577-09D8-C926-1EC8-5B61C941D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776511-3CE8-96BA-518E-0F19BDBE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5271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235DA9-2820-1009-ECDC-790819395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20B56A-BD81-D699-3204-6013D4CF3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60F844-D3E2-B9F9-59E3-DEBE0DDAB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4FD5-6DE1-4BBA-9E5F-53B6959BA4A9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B678A6-77B6-9385-5F7C-B8B19925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742ADE-650A-A269-2ECC-040D9279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4632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9122F9-7A00-A82F-4DCB-0EBE9C9B7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02D084-9232-BD0F-D890-C664A477A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60E4813-B595-44C3-812C-262CD133B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69EF12-5604-ABE5-C295-B55BB2B90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C9F34-27D4-4EDF-86A1-BEF987234EEE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5D6A465-16F0-9EDF-5B33-B66C9F8DD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80DDDB1-DEBD-A0A1-DDEC-6DB7099AB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626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076EBA-E485-5AC6-822D-BA89D5990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C63106C-E78E-9713-24B2-1B13DAABF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9FB1680-1080-8090-6CE3-63378D6FF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44C353D-4671-2CD1-FD18-C835721D5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8E9CC27-AA12-FBB4-ED33-88FD25954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0218939-6468-3447-C0CB-82D3D39D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3D9FA-931C-4F89-8D7D-0B5E4B05340A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A634432-DE13-AD6F-EF0A-062DE533B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1D9D9F8-9F51-ABBB-3640-5A2CC81A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8466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A97CA3-257C-E976-CEA3-FC27DFA0C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F63A08-39FD-D638-C5DB-6789241FF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2C934-9B4D-4AA8-B0C0-784309F9B8E3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F14F41F-260E-0448-929C-E182A3108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0F19FF3-DCE8-E304-0357-D45830D2A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9216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BEA286C-163E-6D1A-0131-15247140B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3DFB0-1A4B-41C5-A55E-ABF9978ED7C4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1540F45-782C-7494-7F34-AF5EC4DD1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996965-699F-E73D-69B4-4DE42B4B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459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4FF378-3C78-5C26-1EA2-19FDC69F6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99AD37-8B00-4B1C-06E4-97C4992E2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3754FFB-89B9-B191-F079-8C1D0A636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9ECA52D-083A-006B-51AE-C3CFF6D8C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235C3-9DDF-4FE1-A9C3-B27DC6D1B8B3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BF1EB42-727C-78C2-AEEC-415F23133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A5A5FB6-795E-8AD6-E18D-AB5EC8AB5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6994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0CAA70-C419-4E0B-3873-2D410D82E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C07714A-1704-E3B8-7F1C-4B21BBB25E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9E90562-E3B1-D836-2EC4-762D87874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616125B-1A2A-B3CE-2328-A2FE7AD22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31FD7-4B44-4513-AFFA-85A9965915C0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6977BAA-6163-0372-15A8-8791733A4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033D410-7A24-AFB8-88FD-DD953210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9420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FD6C79-B383-BF45-FE68-4EF30D0F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4561E2-A4F2-E27A-E9B6-8E8A491C9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911918-CEBF-4297-D3B3-AC93D19D1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00D8D-9ECB-4B91-AFA7-27FCFD8B6EFF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CAB948-319F-7FE8-92DA-5A9BD430C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E0EDAE-D5A3-3FE8-17BD-E6EDDF9A4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8431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16BF781-5C59-A225-E583-B64793254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60E5A29-627B-90C4-8897-CF49DED3E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99420F-B947-5D42-C0C4-5E1EC1502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BB694-6D70-4213-A3CB-75881E70AC79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9E4B4B-5598-74B9-FF07-90029E26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18E028-1B7B-DF13-F3B3-D45177DF7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4758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C44FD99-01F6-FAF1-A6D4-7CE315202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DB43A3-883E-A501-7AE8-AC74AE5FA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30A43F-CA06-C66D-3522-479540D82F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05BBF-CDCE-4F22-BC05-B63924A750E9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FA1824-FA28-9BC0-22B1-5D42A0CB5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E5B8417-9348-5904-A812-312727533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13289-1A93-4CFE-9211-B525CF4EE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5150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AE3571-FA88-CA9D-16F1-5B6B1BE8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320" y="1214438"/>
            <a:ext cx="9357360" cy="2387600"/>
          </a:xfrm>
        </p:spPr>
        <p:txBody>
          <a:bodyPr>
            <a:normAutofit fontScale="90000"/>
          </a:bodyPr>
          <a:lstStyle/>
          <a:p>
            <a:r>
              <a:rPr lang="en-US" altLang="zh-TW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Prediction of the Most Suitable Contract in</a:t>
            </a:r>
            <a:r>
              <a:rPr lang="zh-TW" alt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TW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Bridge Bidding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7A541E-F386-4554-E479-9D1126EAE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00244"/>
            <a:ext cx="9144000" cy="1655762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Ying-Yu Lin, Chang-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Biau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Yang, and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Kuo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-Si Huang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Department of Computer Science and Engineering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National Sun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Yat-sen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University, Kaohsiung, Taiwan</a:t>
            </a:r>
          </a:p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DD8E958-4CDA-D74B-AB10-5BC0458F7E95}"/>
              </a:ext>
            </a:extLst>
          </p:cNvPr>
          <p:cNvSpPr txBox="1"/>
          <p:nvPr/>
        </p:nvSpPr>
        <p:spPr>
          <a:xfrm>
            <a:off x="5111197" y="6054212"/>
            <a:ext cx="19696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latin typeface="+mj-ea"/>
                <a:ea typeface="+mj-ea"/>
              </a:rPr>
              <a:t>報告人：朱宥諺</a:t>
            </a:r>
            <a:endParaRPr kumimoji="1" lang="zh-TW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87480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EF26B-52DC-E138-5912-AA443731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itchFamily="18" charset="0"/>
                <a:ea typeface="+mn-ea"/>
                <a:cs typeface="Times New Roman" pitchFamily="18" charset="0"/>
              </a:rPr>
              <a:t>Contract Bridge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E602E1-818A-1FB0-7CAB-8A86CB2C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2</a:t>
            </a:fld>
            <a:endParaRPr lang="zh-TW" altLang="en-US"/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C880CAB3-782E-E862-1647-93AAA3CF4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000544"/>
              </p:ext>
            </p:extLst>
          </p:nvPr>
        </p:nvGraphicFramePr>
        <p:xfrm>
          <a:off x="2839217" y="1690688"/>
          <a:ext cx="378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73565735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443406315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317424169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+mj-lt"/>
                          <a:cs typeface="Courier New" panose="02070309020205020404" pitchFamily="49" charset="0"/>
                        </a:rPr>
                        <a:t>—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98632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AQT987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647893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QT764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JT876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  <a:p>
                      <a:pPr algn="dist"/>
                      <a:endParaRPr lang="en-US" altLang="zh-TW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zh-TW" alt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dist"/>
                      <a:endParaRPr lang="en-US" altLang="zh-TW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A932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KJT7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64733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KJ85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A4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AQ93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9364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9">
                <a:extLst>
                  <a:ext uri="{FF2B5EF4-FFF2-40B4-BE49-F238E27FC236}">
                    <a16:creationId xmlns:a16="http://schemas.microsoft.com/office/drawing/2014/main" id="{DC3B047F-13C0-6122-3C1D-45277E39F1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3532688"/>
                  </p:ext>
                </p:extLst>
              </p:nvPr>
            </p:nvGraphicFramePr>
            <p:xfrm>
              <a:off x="5360416" y="4342449"/>
              <a:ext cx="2987040" cy="1867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840">
                      <a:extLst>
                        <a:ext uri="{9D8B030D-6E8A-4147-A177-3AD203B41FA5}">
                          <a16:colId xmlns:a16="http://schemas.microsoft.com/office/drawing/2014/main" val="3944126467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920079245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3965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♣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♢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♡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♠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NT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30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30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30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30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9">
                <a:extLst>
                  <a:ext uri="{FF2B5EF4-FFF2-40B4-BE49-F238E27FC236}">
                    <a16:creationId xmlns:a16="http://schemas.microsoft.com/office/drawing/2014/main" id="{DC3B047F-13C0-6122-3C1D-45277E39F1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3532688"/>
                  </p:ext>
                </p:extLst>
              </p:nvPr>
            </p:nvGraphicFramePr>
            <p:xfrm>
              <a:off x="5360416" y="4342449"/>
              <a:ext cx="298704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840">
                      <a:extLst>
                        <a:ext uri="{9D8B030D-6E8A-4147-A177-3AD203B41FA5}">
                          <a16:colId xmlns:a16="http://schemas.microsoft.com/office/drawing/2014/main" val="3944126467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920079245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220" t="-8333" r="-401220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220" t="-8333" r="-301220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4938" t="-8333" r="-204938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8333" r="-102439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NT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表格 9">
                <a:extLst>
                  <a:ext uri="{FF2B5EF4-FFF2-40B4-BE49-F238E27FC236}">
                    <a16:creationId xmlns:a16="http://schemas.microsoft.com/office/drawing/2014/main" id="{2012B8EE-2747-03FB-24D8-DC9A2F987E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9644062"/>
                  </p:ext>
                </p:extLst>
              </p:nvPr>
            </p:nvGraphicFramePr>
            <p:xfrm>
              <a:off x="6356096" y="1873568"/>
              <a:ext cx="2171680" cy="1867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2920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542920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542920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542920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2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b="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TW" sz="1800" b="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oMath>
                          </a14:m>
                          <a:endParaRPr lang="zh-TW" altLang="en-US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♢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♡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♣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表格 9">
                <a:extLst>
                  <a:ext uri="{FF2B5EF4-FFF2-40B4-BE49-F238E27FC236}">
                    <a16:creationId xmlns:a16="http://schemas.microsoft.com/office/drawing/2014/main" id="{2012B8EE-2747-03FB-24D8-DC9A2F987E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9644062"/>
                  </p:ext>
                </p:extLst>
              </p:nvPr>
            </p:nvGraphicFramePr>
            <p:xfrm>
              <a:off x="6356096" y="1873568"/>
              <a:ext cx="2171680" cy="1867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2920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542920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542920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542920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6897" r="-297674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6897" r="-197674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6897" r="-97674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106897" r="2326" b="-3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206897" r="-197674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206897" r="2326" b="-2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4043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278125" r="-197674" b="-1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2971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EF26B-52DC-E138-5912-AA443731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itchFamily="18" charset="0"/>
                <a:ea typeface="+mn-ea"/>
                <a:cs typeface="Times New Roman" pitchFamily="18" charset="0"/>
              </a:rPr>
              <a:t>Bridge Score Calculation</a:t>
            </a:r>
            <a:endParaRPr lang="zh-TW" altLang="en-US" dirty="0"/>
          </a:p>
        </p:txBody>
      </p:sp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C0AB3D9F-51B5-EA4B-7D41-8817495A1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579667"/>
              </p:ext>
            </p:extLst>
          </p:nvPr>
        </p:nvGraphicFramePr>
        <p:xfrm>
          <a:off x="838200" y="1382366"/>
          <a:ext cx="10619232" cy="527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936">
                  <a:extLst>
                    <a:ext uri="{9D8B030D-6E8A-4147-A177-3AD203B41FA5}">
                      <a16:colId xmlns:a16="http://schemas.microsoft.com/office/drawing/2014/main" val="414264651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3354120619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3779825110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1533612494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474189713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2810291297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3889293200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3931659420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571946139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2966578944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2206403185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2378564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contract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made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non-vulnerable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vulnerable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contract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made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non-vulnerable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vulnerable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contract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made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non-vulnerable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vulnerable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69988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1NT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4083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75765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2m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2M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2NT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3645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140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140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150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150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90310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3m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3M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140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140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3NT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400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600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09537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130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130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170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170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430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630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78900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130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130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4NT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430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630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6839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150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150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450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650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460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660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81585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5m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400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600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5M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450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650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5NT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460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660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97216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480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680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4341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1370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980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1430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6NT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1440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97047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940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1390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1010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1460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1020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1470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012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7m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38100" cap="flat" cmpd="sng" algn="ctr">
                      <a:solidFill>
                        <a:srgbClr val="99D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D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D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1440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D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2140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D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7M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D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D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1510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D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2210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D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7NT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D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D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1520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D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2220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D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D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588885"/>
                  </a:ext>
                </a:extLst>
              </a:tr>
            </a:tbl>
          </a:graphicData>
        </a:graphic>
      </p:graphicFrame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BA717AAB-0046-E35E-78C4-250795621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66662"/>
            <a:ext cx="2743200" cy="365125"/>
          </a:xfrm>
        </p:spPr>
        <p:txBody>
          <a:bodyPr/>
          <a:lstStyle/>
          <a:p>
            <a:fld id="{31C13289-1A93-4CFE-9211-B525CF4EEED4}" type="slidenum">
              <a:rPr lang="zh-TW" altLang="en-US" smtClean="0"/>
              <a:t>3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7C1E0A7-C42A-164A-41FF-894813476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799770"/>
              </p:ext>
            </p:extLst>
          </p:nvPr>
        </p:nvGraphicFramePr>
        <p:xfrm>
          <a:off x="838200" y="1382366"/>
          <a:ext cx="10619232" cy="527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936">
                  <a:extLst>
                    <a:ext uri="{9D8B030D-6E8A-4147-A177-3AD203B41FA5}">
                      <a16:colId xmlns:a16="http://schemas.microsoft.com/office/drawing/2014/main" val="414264651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3354120619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3779825110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1533612494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474189713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2810291297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3889293200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3931659420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571946139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2966578944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2206403185"/>
                    </a:ext>
                  </a:extLst>
                </a:gridCol>
                <a:gridCol w="884936">
                  <a:extLst>
                    <a:ext uri="{9D8B030D-6E8A-4147-A177-3AD203B41FA5}">
                      <a16:colId xmlns:a16="http://schemas.microsoft.com/office/drawing/2014/main" val="2378564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contract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made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non-vulnerable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vulnerable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contract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made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non-vulnerable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vulnerable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contract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made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non-vulnerable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120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vulnerable</a:t>
                      </a:r>
                      <a:endParaRPr lang="zh-TW" altLang="en-US" sz="120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69988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70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80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1NT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4083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75765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2m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2M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2NT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3645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140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140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150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150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90310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3m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3M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140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140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3NT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400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600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09537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130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130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170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170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430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630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78900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130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130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4NT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430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630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6839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150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150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450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650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E7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460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660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81585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5m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400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600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5M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450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650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5NT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460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660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97216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480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680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490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4341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1370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980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1430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6NT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1440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97047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940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1390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1010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1460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+1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1020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1470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012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7m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1440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2140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7M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1510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2210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7NT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+0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1520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2220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588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8864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EF26B-52DC-E138-5912-AA443731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itchFamily="18" charset="0"/>
                <a:ea typeface="+mn-ea"/>
                <a:cs typeface="Times New Roman" pitchFamily="18" charset="0"/>
              </a:rPr>
              <a:t>Hidden Messages in Bidding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E602E1-818A-1FB0-7CAB-8A86CB2C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4</a:t>
            </a:fld>
            <a:endParaRPr lang="zh-TW" altLang="en-US"/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F639C93D-2121-356D-FC76-92A5B6D5E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200298"/>
              </p:ext>
            </p:extLst>
          </p:nvPr>
        </p:nvGraphicFramePr>
        <p:xfrm>
          <a:off x="2839217" y="1690688"/>
          <a:ext cx="378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73565735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443406315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317424169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—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98632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AQT987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647893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QT764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JT876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  <a:p>
                      <a:pPr algn="dist"/>
                      <a:endParaRPr lang="en-US" altLang="zh-TW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zh-TW" alt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dist"/>
                      <a:endParaRPr lang="en-US" altLang="zh-TW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A932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KJT7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64733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KJ85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A4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AQ93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93641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表格 9">
                <a:extLst>
                  <a:ext uri="{FF2B5EF4-FFF2-40B4-BE49-F238E27FC236}">
                    <a16:creationId xmlns:a16="http://schemas.microsoft.com/office/drawing/2014/main" id="{08CBB878-8019-7562-0D1C-C776A9E9C5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8919022"/>
                  </p:ext>
                </p:extLst>
              </p:nvPr>
            </p:nvGraphicFramePr>
            <p:xfrm>
              <a:off x="6356095" y="1873568"/>
              <a:ext cx="2161740" cy="1867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0435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540435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540435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540435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2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b="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TW" sz="1800" b="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oMath>
                          </a14:m>
                          <a:endParaRPr lang="zh-TW" altLang="en-US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♢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♡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♣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表格 9">
                <a:extLst>
                  <a:ext uri="{FF2B5EF4-FFF2-40B4-BE49-F238E27FC236}">
                    <a16:creationId xmlns:a16="http://schemas.microsoft.com/office/drawing/2014/main" id="{08CBB878-8019-7562-0D1C-C776A9E9C5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8919022"/>
                  </p:ext>
                </p:extLst>
              </p:nvPr>
            </p:nvGraphicFramePr>
            <p:xfrm>
              <a:off x="6356095" y="1873568"/>
              <a:ext cx="2161740" cy="1867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0435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540435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540435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540435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6897" r="-297674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6897" r="-197674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4762" t="-6897" r="-102381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7674" t="-106897" b="-3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206897" r="-197674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7674" t="-206897" b="-2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4043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278125" r="-197674" b="-1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066E8398-E64D-771E-66BB-9E7779F2AF6F}"/>
              </a:ext>
            </a:extLst>
          </p:cNvPr>
          <p:cNvSpPr/>
          <p:nvPr/>
        </p:nvSpPr>
        <p:spPr>
          <a:xfrm>
            <a:off x="7977577" y="2256183"/>
            <a:ext cx="540258" cy="329632"/>
          </a:xfrm>
          <a:prstGeom prst="rect">
            <a:avLst/>
          </a:prstGeom>
          <a:noFill/>
          <a:ln w="38100">
            <a:solidFill>
              <a:srgbClr val="FE7A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9">
                <a:extLst>
                  <a:ext uri="{FF2B5EF4-FFF2-40B4-BE49-F238E27FC236}">
                    <a16:creationId xmlns:a16="http://schemas.microsoft.com/office/drawing/2014/main" id="{0E5836BB-6D9D-76BE-27A9-0A20DDD8A5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8237192"/>
                  </p:ext>
                </p:extLst>
              </p:nvPr>
            </p:nvGraphicFramePr>
            <p:xfrm>
              <a:off x="8904892" y="1644523"/>
              <a:ext cx="2208685" cy="21702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08685">
                      <a:extLst>
                        <a:ext uri="{9D8B030D-6E8A-4147-A177-3AD203B41FA5}">
                          <a16:colId xmlns:a16="http://schemas.microsoft.com/office/drawing/2014/main" val="2350072776"/>
                        </a:ext>
                      </a:extLst>
                    </a:gridCol>
                  </a:tblGrid>
                  <a:tr h="469054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1NT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7A7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8574180"/>
                      </a:ext>
                    </a:extLst>
                  </a:tr>
                  <a:tr h="140038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kern="120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notrump opener. Could have 5M. -- 2-5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000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♣</m:t>
                              </m:r>
                            </m:oMath>
                          </a14:m>
                          <a:r>
                            <a:rPr lang="en-US" altLang="zh-TW" sz="2000" kern="120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; 2-5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000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♢</m:t>
                              </m:r>
                            </m:oMath>
                          </a14:m>
                          <a:r>
                            <a:rPr lang="en-US" altLang="zh-TW" sz="2000" kern="120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; 2-5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000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♡</m:t>
                              </m:r>
                            </m:oMath>
                          </a14:m>
                          <a:r>
                            <a:rPr lang="en-US" altLang="zh-TW" sz="2000" kern="120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; 2-5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000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♠</m:t>
                              </m:r>
                            </m:oMath>
                          </a14:m>
                          <a:r>
                            <a:rPr lang="en-US" altLang="zh-TW" sz="2000" kern="120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; 15-17 HCP; 18- total points</a:t>
                          </a:r>
                          <a:endParaRPr lang="zh-TW" altLang="en-US" sz="2000" kern="1200" dirty="0">
                            <a:solidFill>
                              <a:schemeClr val="dk1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32514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9">
                <a:extLst>
                  <a:ext uri="{FF2B5EF4-FFF2-40B4-BE49-F238E27FC236}">
                    <a16:creationId xmlns:a16="http://schemas.microsoft.com/office/drawing/2014/main" id="{0E5836BB-6D9D-76BE-27A9-0A20DDD8A5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8237192"/>
                  </p:ext>
                </p:extLst>
              </p:nvPr>
            </p:nvGraphicFramePr>
            <p:xfrm>
              <a:off x="8904892" y="1644523"/>
              <a:ext cx="2208685" cy="20844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08685">
                      <a:extLst>
                        <a:ext uri="{9D8B030D-6E8A-4147-A177-3AD203B41FA5}">
                          <a16:colId xmlns:a16="http://schemas.microsoft.com/office/drawing/2014/main" val="2350072776"/>
                        </a:ext>
                      </a:extLst>
                    </a:gridCol>
                  </a:tblGrid>
                  <a:tr h="469054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1NT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7A7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8574180"/>
                      </a:ext>
                    </a:extLst>
                  </a:tr>
                  <a:tr h="16154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5" t="-31579" r="-549" b="-67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325143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40809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EF26B-52DC-E138-5912-AA443731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itchFamily="18" charset="0"/>
                <a:ea typeface="+mn-ea"/>
                <a:cs typeface="Times New Roman" pitchFamily="18" charset="0"/>
              </a:rPr>
              <a:t>Goal of the Predictive Model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E602E1-818A-1FB0-7CAB-8A86CB2C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7" name="表格 4">
            <a:extLst>
              <a:ext uri="{FF2B5EF4-FFF2-40B4-BE49-F238E27FC236}">
                <a16:creationId xmlns:a16="http://schemas.microsoft.com/office/drawing/2014/main" id="{844B0EB1-DC2B-DD12-5D69-6E6C192CC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799398"/>
              </p:ext>
            </p:extLst>
          </p:nvPr>
        </p:nvGraphicFramePr>
        <p:xfrm>
          <a:off x="2839217" y="1690688"/>
          <a:ext cx="378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73565735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443406315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317424169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—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98632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AQT987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647893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QT764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JT876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  <a:p>
                      <a:pPr algn="dist"/>
                      <a:endParaRPr lang="en-US" altLang="zh-TW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zh-TW" alt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dist"/>
                      <a:endParaRPr lang="en-US" altLang="zh-TW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A932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KJT7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64733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KJ85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A4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AQ93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93641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B3701E51-69CF-816D-98A5-0322262156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3345821"/>
                  </p:ext>
                </p:extLst>
              </p:nvPr>
            </p:nvGraphicFramePr>
            <p:xfrm>
              <a:off x="6356095" y="1873568"/>
              <a:ext cx="2112044" cy="1867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11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528011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528011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528011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2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b="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TW" sz="1800" b="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oMath>
                          </a14:m>
                          <a:endParaRPr lang="zh-TW" altLang="en-US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♢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♡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♣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B3701E51-69CF-816D-98A5-0322262156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3345821"/>
                  </p:ext>
                </p:extLst>
              </p:nvPr>
            </p:nvGraphicFramePr>
            <p:xfrm>
              <a:off x="6356095" y="1873568"/>
              <a:ext cx="2112044" cy="1867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8011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528011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528011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528011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6897" r="-297619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6897" r="-197619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4878" t="-6897" r="-102439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7619" t="-106897" b="-3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206897" r="-197619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7619" t="-206897" b="-2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4043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278125" r="-197619" b="-1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2F5A4896-A535-ACFA-9146-1E715677C498}"/>
              </a:ext>
            </a:extLst>
          </p:cNvPr>
          <p:cNvSpPr/>
          <p:nvPr/>
        </p:nvSpPr>
        <p:spPr>
          <a:xfrm>
            <a:off x="7892139" y="3010977"/>
            <a:ext cx="576000" cy="279273"/>
          </a:xfrm>
          <a:prstGeom prst="rect">
            <a:avLst/>
          </a:prstGeom>
          <a:solidFill>
            <a:srgbClr val="FE7A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?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048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EF26B-52DC-E138-5912-AA443731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itchFamily="18" charset="0"/>
                <a:ea typeface="+mn-ea"/>
                <a:cs typeface="Times New Roman" pitchFamily="18" charset="0"/>
              </a:rPr>
              <a:t>Dataset - BBO Solitaire’s “Just Declare”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E602E1-818A-1FB0-7CAB-8A86CB2C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66662"/>
            <a:ext cx="2743200" cy="365125"/>
          </a:xfrm>
        </p:spPr>
        <p:txBody>
          <a:bodyPr/>
          <a:lstStyle/>
          <a:p>
            <a:fld id="{31C13289-1A93-4CFE-9211-B525CF4EEED4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10" name="圖片 9" descr="一張含有 文字, 螢幕擷取畫面, 軟體, 電腦圖示 的圖片">
            <a:extLst>
              <a:ext uri="{FF2B5EF4-FFF2-40B4-BE49-F238E27FC236}">
                <a16:creationId xmlns:a16="http://schemas.microsoft.com/office/drawing/2014/main" id="{1798D2D8-6C19-359E-9076-3BE195124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544542"/>
            <a:ext cx="9601200" cy="4511866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96BE9F1C-94F3-42E3-3DB4-5D51A52CD73C}"/>
              </a:ext>
            </a:extLst>
          </p:cNvPr>
          <p:cNvSpPr txBox="1"/>
          <p:nvPr/>
        </p:nvSpPr>
        <p:spPr>
          <a:xfrm>
            <a:off x="1295400" y="6478508"/>
            <a:ext cx="922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is captured from Bridge Base Online https://www.bridgebase.com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428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EF26B-52DC-E138-5912-AA443731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itchFamily="18" charset="0"/>
                <a:ea typeface="+mn-ea"/>
                <a:cs typeface="Times New Roman" pitchFamily="18" charset="0"/>
              </a:rPr>
              <a:t>The Issue of Luck in Bridge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E602E1-818A-1FB0-7CAB-8A86CB2C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7</a:t>
            </a:fld>
            <a:endParaRPr lang="zh-TW" altLang="en-US"/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6FCF8097-3D0A-DED6-37E7-8073F1990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067572"/>
              </p:ext>
            </p:extLst>
          </p:nvPr>
        </p:nvGraphicFramePr>
        <p:xfrm>
          <a:off x="200411" y="1971325"/>
          <a:ext cx="378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73565735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443406315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317424169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—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7432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AKT642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AT7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647893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A982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J95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  <a:p>
                      <a:pPr algn="dist"/>
                      <a:endParaRPr lang="en-US" altLang="zh-TW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zh-TW" alt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dist"/>
                      <a:endParaRPr lang="en-US" altLang="zh-TW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KT765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J9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Q87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J82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64733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QJ43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AKQT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KQ96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9364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9">
                <a:extLst>
                  <a:ext uri="{FF2B5EF4-FFF2-40B4-BE49-F238E27FC236}">
                    <a16:creationId xmlns:a16="http://schemas.microsoft.com/office/drawing/2014/main" id="{D096AB37-ECD9-0054-1404-67414734A8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2374513"/>
                  </p:ext>
                </p:extLst>
              </p:nvPr>
            </p:nvGraphicFramePr>
            <p:xfrm>
              <a:off x="2721610" y="4623086"/>
              <a:ext cx="2987040" cy="1867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840">
                      <a:extLst>
                        <a:ext uri="{9D8B030D-6E8A-4147-A177-3AD203B41FA5}">
                          <a16:colId xmlns:a16="http://schemas.microsoft.com/office/drawing/2014/main" val="3944126467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920079245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3965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♣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♢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♡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♠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NT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30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30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30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7A7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30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9">
                <a:extLst>
                  <a:ext uri="{FF2B5EF4-FFF2-40B4-BE49-F238E27FC236}">
                    <a16:creationId xmlns:a16="http://schemas.microsoft.com/office/drawing/2014/main" id="{D096AB37-ECD9-0054-1404-67414734A8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2374513"/>
                  </p:ext>
                </p:extLst>
              </p:nvPr>
            </p:nvGraphicFramePr>
            <p:xfrm>
              <a:off x="2721610" y="4623086"/>
              <a:ext cx="298704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840">
                      <a:extLst>
                        <a:ext uri="{9D8B030D-6E8A-4147-A177-3AD203B41FA5}">
                          <a16:colId xmlns:a16="http://schemas.microsoft.com/office/drawing/2014/main" val="3944126467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920079245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20" t="-8333" r="-401220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220" t="-8333" r="-301220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4938" t="-8333" r="-204938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000" t="-8333" r="-102439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NT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7A7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5DDF9946-C291-F542-F043-EFEC2B98B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283924"/>
              </p:ext>
            </p:extLst>
          </p:nvPr>
        </p:nvGraphicFramePr>
        <p:xfrm>
          <a:off x="6339849" y="1971325"/>
          <a:ext cx="378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73565735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443406315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317424169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—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7432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AKT642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AT7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647893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A9852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J987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  <a:p>
                      <a:pPr algn="dist"/>
                      <a:endParaRPr lang="en-US" altLang="zh-TW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zh-TW" alt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dist"/>
                      <a:endParaRPr lang="en-US" altLang="zh-TW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KT76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J986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J82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64733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QJ43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AKQT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KQ96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9364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9">
                <a:extLst>
                  <a:ext uri="{FF2B5EF4-FFF2-40B4-BE49-F238E27FC236}">
                    <a16:creationId xmlns:a16="http://schemas.microsoft.com/office/drawing/2014/main" id="{6357D8C4-D206-4E19-D58C-A4F8F52CBE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9066925"/>
                  </p:ext>
                </p:extLst>
              </p:nvPr>
            </p:nvGraphicFramePr>
            <p:xfrm>
              <a:off x="8861048" y="4623086"/>
              <a:ext cx="2987040" cy="1867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840">
                      <a:extLst>
                        <a:ext uri="{9D8B030D-6E8A-4147-A177-3AD203B41FA5}">
                          <a16:colId xmlns:a16="http://schemas.microsoft.com/office/drawing/2014/main" val="3944126467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920079245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3965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♣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♢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♡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♠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NT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30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30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30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7A7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30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9">
                <a:extLst>
                  <a:ext uri="{FF2B5EF4-FFF2-40B4-BE49-F238E27FC236}">
                    <a16:creationId xmlns:a16="http://schemas.microsoft.com/office/drawing/2014/main" id="{6357D8C4-D206-4E19-D58C-A4F8F52CBE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9066925"/>
                  </p:ext>
                </p:extLst>
              </p:nvPr>
            </p:nvGraphicFramePr>
            <p:xfrm>
              <a:off x="8861048" y="4623086"/>
              <a:ext cx="298704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840">
                      <a:extLst>
                        <a:ext uri="{9D8B030D-6E8A-4147-A177-3AD203B41FA5}">
                          <a16:colId xmlns:a16="http://schemas.microsoft.com/office/drawing/2014/main" val="3944126467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920079245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220" t="-8333" r="-401220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220" t="-8333" r="-301220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4938" t="-8333" r="-204938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0000" t="-8333" r="-102439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NT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7A7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內容版面配置區 8">
            <a:extLst>
              <a:ext uri="{FF2B5EF4-FFF2-40B4-BE49-F238E27FC236}">
                <a16:creationId xmlns:a16="http://schemas.microsoft.com/office/drawing/2014/main" id="{30E5FA05-8CBA-C941-056D-CC116D4414BD}"/>
              </a:ext>
            </a:extLst>
          </p:cNvPr>
          <p:cNvSpPr txBox="1">
            <a:spLocks/>
          </p:cNvSpPr>
          <p:nvPr/>
        </p:nvSpPr>
        <p:spPr>
          <a:xfrm>
            <a:off x="838199" y="1498073"/>
            <a:ext cx="11153389" cy="4729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+mj-lt"/>
              </a:rPr>
              <a:t>For a ﬁxed NS hand, shuﬄe 100 diﬀerent decks where the EW does not bid</a:t>
            </a:r>
            <a:endParaRPr lang="en-US" altLang="zh-TW" dirty="0">
              <a:solidFill>
                <a:srgbClr val="D4AFE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23010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EF26B-52DC-E138-5912-AA443731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itchFamily="18" charset="0"/>
                <a:ea typeface="+mn-ea"/>
                <a:cs typeface="Times New Roman" pitchFamily="18" charset="0"/>
              </a:rPr>
              <a:t>Which is the Best Contract?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E602E1-818A-1FB0-7CAB-8A86CB2C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8</a:t>
            </a:fld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E6F7674-8644-D393-4EBF-328C5C74CE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836302"/>
              </p:ext>
            </p:extLst>
          </p:nvPr>
        </p:nvGraphicFramePr>
        <p:xfrm>
          <a:off x="7650480" y="4080498"/>
          <a:ext cx="4026409" cy="1932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209">
                  <a:extLst>
                    <a:ext uri="{9D8B030D-6E8A-4147-A177-3AD203B41FA5}">
                      <a16:colId xmlns:a16="http://schemas.microsoft.com/office/drawing/2014/main" val="3820070821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3187481921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3342421702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1378093333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1384808053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140795339"/>
                    </a:ext>
                  </a:extLst>
                </a:gridCol>
              </a:tblGrid>
              <a:tr h="386494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C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D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H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S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N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06859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Partial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348509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Game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51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A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13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36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363761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Slam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590308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Grand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457979"/>
                  </a:ext>
                </a:extLst>
              </a:tr>
            </a:tbl>
          </a:graphicData>
        </a:graphic>
      </p:graphicFrame>
      <p:graphicFrame>
        <p:nvGraphicFramePr>
          <p:cNvPr id="16" name="表格 16">
            <a:extLst>
              <a:ext uri="{FF2B5EF4-FFF2-40B4-BE49-F238E27FC236}">
                <a16:creationId xmlns:a16="http://schemas.microsoft.com/office/drawing/2014/main" id="{C8C0BCD8-8839-F0C5-C118-666403594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993333"/>
              </p:ext>
            </p:extLst>
          </p:nvPr>
        </p:nvGraphicFramePr>
        <p:xfrm>
          <a:off x="7650481" y="1500382"/>
          <a:ext cx="402640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869">
                  <a:extLst>
                    <a:ext uri="{9D8B030D-6E8A-4147-A177-3AD203B41FA5}">
                      <a16:colId xmlns:a16="http://schemas.microsoft.com/office/drawing/2014/main" val="3589383481"/>
                    </a:ext>
                  </a:extLst>
                </a:gridCol>
                <a:gridCol w="608708">
                  <a:extLst>
                    <a:ext uri="{9D8B030D-6E8A-4147-A177-3AD203B41FA5}">
                      <a16:colId xmlns:a16="http://schemas.microsoft.com/office/drawing/2014/main" val="3617126572"/>
                    </a:ext>
                  </a:extLst>
                </a:gridCol>
                <a:gridCol w="608708">
                  <a:extLst>
                    <a:ext uri="{9D8B030D-6E8A-4147-A177-3AD203B41FA5}">
                      <a16:colId xmlns:a16="http://schemas.microsoft.com/office/drawing/2014/main" val="280147482"/>
                    </a:ext>
                  </a:extLst>
                </a:gridCol>
                <a:gridCol w="608708">
                  <a:extLst>
                    <a:ext uri="{9D8B030D-6E8A-4147-A177-3AD203B41FA5}">
                      <a16:colId xmlns:a16="http://schemas.microsoft.com/office/drawing/2014/main" val="1348717250"/>
                    </a:ext>
                  </a:extLst>
                </a:gridCol>
                <a:gridCol w="608708">
                  <a:extLst>
                    <a:ext uri="{9D8B030D-6E8A-4147-A177-3AD203B41FA5}">
                      <a16:colId xmlns:a16="http://schemas.microsoft.com/office/drawing/2014/main" val="3170641589"/>
                    </a:ext>
                  </a:extLst>
                </a:gridCol>
                <a:gridCol w="608708">
                  <a:extLst>
                    <a:ext uri="{9D8B030D-6E8A-4147-A177-3AD203B41FA5}">
                      <a16:colId xmlns:a16="http://schemas.microsoft.com/office/drawing/2014/main" val="195285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5C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A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3D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3H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3S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3N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A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734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+mj-lt"/>
                        </a:rPr>
                        <a:t>Score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+mj-lt"/>
                        </a:rPr>
                        <a:t>600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+mj-lt"/>
                        </a:rPr>
                        <a:t>-200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+mj-lt"/>
                        </a:rPr>
                        <a:t>140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+mj-lt"/>
                        </a:rPr>
                        <a:t>-400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+mj-lt"/>
                        </a:rPr>
                        <a:t>630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741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+mj-lt"/>
                        </a:rPr>
                        <a:t>Declarer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+mj-lt"/>
                        </a:rPr>
                        <a:t>N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+mj-lt"/>
                        </a:rPr>
                        <a:t>N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+mj-lt"/>
                        </a:rPr>
                        <a:t>S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+mj-lt"/>
                        </a:rPr>
                        <a:t>S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+mj-lt"/>
                        </a:rPr>
                        <a:t>S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434271"/>
                  </a:ext>
                </a:extLst>
              </a:tr>
            </a:tbl>
          </a:graphicData>
        </a:graphic>
      </p:graphicFrame>
      <p:graphicFrame>
        <p:nvGraphicFramePr>
          <p:cNvPr id="7" name="表格 4">
            <a:extLst>
              <a:ext uri="{FF2B5EF4-FFF2-40B4-BE49-F238E27FC236}">
                <a16:creationId xmlns:a16="http://schemas.microsoft.com/office/drawing/2014/main" id="{0512572C-674D-787E-1091-D35123424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328331"/>
              </p:ext>
            </p:extLst>
          </p:nvPr>
        </p:nvGraphicFramePr>
        <p:xfrm>
          <a:off x="1101857" y="1690688"/>
          <a:ext cx="378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73565735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443406315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317424169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—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98632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AQT987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647893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QT764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JT876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  <a:p>
                      <a:pPr algn="dist"/>
                      <a:endParaRPr lang="en-US" altLang="zh-TW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zh-TW" alt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dist"/>
                      <a:endParaRPr lang="en-US" altLang="zh-TW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A932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KJT7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64733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KJ85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A4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AQ93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9364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9">
                <a:extLst>
                  <a:ext uri="{FF2B5EF4-FFF2-40B4-BE49-F238E27FC236}">
                    <a16:creationId xmlns:a16="http://schemas.microsoft.com/office/drawing/2014/main" id="{DDB5DDFE-0AD6-D319-A099-351F16856A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8171818"/>
                  </p:ext>
                </p:extLst>
              </p:nvPr>
            </p:nvGraphicFramePr>
            <p:xfrm>
              <a:off x="3623056" y="4342449"/>
              <a:ext cx="2987040" cy="1867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840">
                      <a:extLst>
                        <a:ext uri="{9D8B030D-6E8A-4147-A177-3AD203B41FA5}">
                          <a16:colId xmlns:a16="http://schemas.microsoft.com/office/drawing/2014/main" val="3944126467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920079245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3965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♣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♢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♡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♠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NT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30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30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30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30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9">
                <a:extLst>
                  <a:ext uri="{FF2B5EF4-FFF2-40B4-BE49-F238E27FC236}">
                    <a16:creationId xmlns:a16="http://schemas.microsoft.com/office/drawing/2014/main" id="{DDB5DDFE-0AD6-D319-A099-351F16856A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8171818"/>
                  </p:ext>
                </p:extLst>
              </p:nvPr>
            </p:nvGraphicFramePr>
            <p:xfrm>
              <a:off x="3623056" y="4342449"/>
              <a:ext cx="298704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840">
                      <a:extLst>
                        <a:ext uri="{9D8B030D-6E8A-4147-A177-3AD203B41FA5}">
                          <a16:colId xmlns:a16="http://schemas.microsoft.com/office/drawing/2014/main" val="3944126467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920079245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20" t="-8333" r="-401220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220" t="-8333" r="-301220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4938" t="-8333" r="-204938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000" t="-8333" r="-102439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NT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E1B8DF17-01EA-7D07-81DD-2481D1BC41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9002284"/>
                  </p:ext>
                </p:extLst>
              </p:nvPr>
            </p:nvGraphicFramePr>
            <p:xfrm>
              <a:off x="4618736" y="1873568"/>
              <a:ext cx="2169692" cy="1867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2423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542423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542423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542423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2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b="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TW" sz="1800" b="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oMath>
                          </a14:m>
                          <a:endParaRPr lang="zh-TW" altLang="en-US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♢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♡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♣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E1B8DF17-01EA-7D07-81DD-2481D1BC41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9002284"/>
                  </p:ext>
                </p:extLst>
              </p:nvPr>
            </p:nvGraphicFramePr>
            <p:xfrm>
              <a:off x="4618736" y="1873568"/>
              <a:ext cx="2169692" cy="1867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2423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542423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542423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542423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6897" r="-297674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t="-6897" r="-197674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000" t="-6897" r="-97674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000" t="-106897" r="2326" b="-3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t="-206897" r="-197674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000" t="-206897" r="2326" b="-2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4043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000" t="-278125" r="-197674" b="-1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3D89028D-FD01-9D86-C745-451245C464C8}"/>
              </a:ext>
            </a:extLst>
          </p:cNvPr>
          <p:cNvSpPr/>
          <p:nvPr/>
        </p:nvSpPr>
        <p:spPr>
          <a:xfrm>
            <a:off x="6212428" y="3020916"/>
            <a:ext cx="576000" cy="279273"/>
          </a:xfrm>
          <a:prstGeom prst="rect">
            <a:avLst/>
          </a:prstGeom>
          <a:solidFill>
            <a:srgbClr val="FE7A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?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555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EF26B-52DC-E138-5912-AA443731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itchFamily="18" charset="0"/>
                <a:ea typeface="+mn-ea"/>
                <a:cs typeface="Times New Roman" pitchFamily="18" charset="0"/>
              </a:rPr>
              <a:t>More than </a:t>
            </a:r>
            <a:r>
              <a:rPr lang="en-US" altLang="zh-TW" dirty="0">
                <a:latin typeface="Times New Roman" pitchFamily="18" charset="0"/>
                <a:ea typeface="+mn-ea"/>
                <a:cs typeface="Times New Roman" pitchFamily="18" charset="0"/>
              </a:rPr>
              <a:t>O</a:t>
            </a:r>
            <a:r>
              <a:rPr lang="en-US" altLang="zh-TW" sz="4400" dirty="0">
                <a:latin typeface="Times New Roman" pitchFamily="18" charset="0"/>
                <a:ea typeface="+mn-ea"/>
                <a:cs typeface="Times New Roman" pitchFamily="18" charset="0"/>
              </a:rPr>
              <a:t>ne Contracts are the Best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E602E1-818A-1FB0-7CAB-8A86CB2C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9</a:t>
            </a:fld>
            <a:endParaRPr lang="zh-TW" altLang="en-US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D4F94E43-9F28-CEA0-D087-164453860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999691"/>
              </p:ext>
            </p:extLst>
          </p:nvPr>
        </p:nvGraphicFramePr>
        <p:xfrm>
          <a:off x="8041799" y="4460082"/>
          <a:ext cx="331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382007082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748192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34242170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37809333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38480805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40795339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C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D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H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S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N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0685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Partial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3485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Game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A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36376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Slam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5903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Grand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457979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9BD9DADB-6ED8-98F4-5BF2-E0737996F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241299"/>
              </p:ext>
            </p:extLst>
          </p:nvPr>
        </p:nvGraphicFramePr>
        <p:xfrm>
          <a:off x="4439998" y="4460082"/>
          <a:ext cx="331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382007082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748192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34242170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37809333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38480805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40795339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C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D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H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S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N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0685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Partial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3485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Game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49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A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36376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Slam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5903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Grand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457979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E7138CFA-B5CC-471D-9BB2-F17443B43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905468"/>
              </p:ext>
            </p:extLst>
          </p:nvPr>
        </p:nvGraphicFramePr>
        <p:xfrm>
          <a:off x="838198" y="4460082"/>
          <a:ext cx="331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382007082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748192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34242170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37809333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38480805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40795339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C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D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H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S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N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0685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Partial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3485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Game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47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36376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Slam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A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5903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Grand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457979"/>
                  </a:ext>
                </a:extLst>
              </a:tr>
            </a:tbl>
          </a:graphicData>
        </a:graphic>
      </p:graphicFrame>
      <p:sp>
        <p:nvSpPr>
          <p:cNvPr id="23" name="內容版面配置區 8">
            <a:extLst>
              <a:ext uri="{FF2B5EF4-FFF2-40B4-BE49-F238E27FC236}">
                <a16:creationId xmlns:a16="http://schemas.microsoft.com/office/drawing/2014/main" id="{7F8B2136-019D-B51B-695B-2E4101111E9A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10515600" cy="4729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latin typeface="+mj-lt"/>
              </a:rPr>
              <a:t>Choose the better one from the total</a:t>
            </a:r>
            <a:r>
              <a:rPr lang="zh-TW" altLang="en-US" dirty="0">
                <a:latin typeface="+mj-lt"/>
              </a:rPr>
              <a:t> </a:t>
            </a:r>
            <a:r>
              <a:rPr lang="en-US" altLang="zh-TW" dirty="0">
                <a:latin typeface="+mj-lt"/>
              </a:rPr>
              <a:t>counts of suits ﬁrst.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latin typeface="+mj-lt"/>
              </a:rPr>
              <a:t>Select a superior game category based</a:t>
            </a:r>
            <a:r>
              <a:rPr lang="zh-TW" altLang="en-US" dirty="0">
                <a:latin typeface="+mj-lt"/>
              </a:rPr>
              <a:t> </a:t>
            </a:r>
            <a:r>
              <a:rPr lang="en-US" altLang="zh-TW" dirty="0">
                <a:latin typeface="+mj-lt"/>
              </a:rPr>
              <a:t>on the overall number of game categories.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latin typeface="+mj-lt"/>
              </a:rPr>
              <a:t>First choose</a:t>
            </a:r>
            <a:r>
              <a:rPr lang="zh-TW" altLang="en-US" dirty="0">
                <a:latin typeface="+mj-lt"/>
              </a:rPr>
              <a:t> </a:t>
            </a:r>
            <a:r>
              <a:rPr lang="en-US" altLang="zh-TW" dirty="0">
                <a:latin typeface="+mj-lt"/>
              </a:rPr>
              <a:t>by suit order: major suit, no-trump, minor suit; and then by category order:</a:t>
            </a:r>
            <a:r>
              <a:rPr lang="zh-TW" altLang="en-US" dirty="0">
                <a:latin typeface="+mj-lt"/>
              </a:rPr>
              <a:t> </a:t>
            </a:r>
            <a:r>
              <a:rPr lang="en-US" altLang="zh-TW" dirty="0">
                <a:latin typeface="+mj-lt"/>
              </a:rPr>
              <a:t>grand slam, slam, game, partial game.</a:t>
            </a:r>
          </a:p>
        </p:txBody>
      </p:sp>
    </p:spTree>
    <p:extLst>
      <p:ext uri="{BB962C8B-B14F-4D97-AF65-F5344CB8AC3E}">
        <p14:creationId xmlns:p14="http://schemas.microsoft.com/office/powerpoint/2010/main" val="1736559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EF26B-52DC-E138-5912-AA443731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itchFamily="18" charset="0"/>
                <a:ea typeface="+mn-ea"/>
                <a:cs typeface="Times New Roman" pitchFamily="18" charset="0"/>
              </a:rPr>
              <a:t>Which is the Most Suitable Contract?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E602E1-818A-1FB0-7CAB-8A86CB2C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E6F7674-8644-D393-4EBF-328C5C74CE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659114"/>
              </p:ext>
            </p:extLst>
          </p:nvPr>
        </p:nvGraphicFramePr>
        <p:xfrm>
          <a:off x="6819899" y="4180985"/>
          <a:ext cx="4026409" cy="1932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209">
                  <a:extLst>
                    <a:ext uri="{9D8B030D-6E8A-4147-A177-3AD203B41FA5}">
                      <a16:colId xmlns:a16="http://schemas.microsoft.com/office/drawing/2014/main" val="3820070821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3187481921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3342421702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1378093333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1384808053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140795339"/>
                    </a:ext>
                  </a:extLst>
                </a:gridCol>
              </a:tblGrid>
              <a:tr h="386494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C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D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H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S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N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06859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Partial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348509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Game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51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13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36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A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363761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Slam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590308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Grand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45797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99C55A5-7D14-7ED4-CB2F-1A62C9A438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7316479"/>
                  </p:ext>
                </p:extLst>
              </p:nvPr>
            </p:nvGraphicFramePr>
            <p:xfrm>
              <a:off x="7837421" y="1827948"/>
              <a:ext cx="2161344" cy="1867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0336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540336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540336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540336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2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b="0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TW" sz="1800" b="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oMath>
                          </a14:m>
                          <a:endParaRPr lang="zh-TW" altLang="en-US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2152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♢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♡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♣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99C55A5-7D14-7ED4-CB2F-1A62C9A438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7316479"/>
                  </p:ext>
                </p:extLst>
              </p:nvPr>
            </p:nvGraphicFramePr>
            <p:xfrm>
              <a:off x="7837421" y="1827948"/>
              <a:ext cx="2161344" cy="1867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0336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540336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540336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540336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326" t="-6897" r="-295349" b="-4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326" t="-6897" r="-195349" b="-4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7143" t="-6897" r="-100000" b="-4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106897" r="2326" b="-3344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326" t="-206897" r="-195349" b="-2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000" t="-206897" r="2326" b="-2344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4043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326" t="-278125" r="-195349" b="-1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BFAC42E0-C27E-38A5-B1E8-92D82615B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078" y="1629026"/>
            <a:ext cx="5352738" cy="467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20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EF26B-52DC-E138-5912-AA443731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itchFamily="18" charset="0"/>
                <a:ea typeface="+mn-ea"/>
                <a:cs typeface="Times New Roman" pitchFamily="18" charset="0"/>
              </a:rPr>
              <a:t>Dataset - BBO Solitaire’s “Just Declare”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E602E1-818A-1FB0-7CAB-8A86CB2C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66662"/>
            <a:ext cx="2743200" cy="365125"/>
          </a:xfrm>
        </p:spPr>
        <p:txBody>
          <a:bodyPr/>
          <a:lstStyle/>
          <a:p>
            <a:fld id="{31C13289-1A93-4CFE-9211-B525CF4EEED4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194610E-2143-BD3C-5313-E01F814FB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80474"/>
            <a:ext cx="7528560" cy="322840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9FAC868-C80A-7651-54A8-37B41BD10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48" y="4468895"/>
            <a:ext cx="8874859" cy="220306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B9AA56A-919B-51A7-E8FE-03206DD57A9A}"/>
              </a:ext>
            </a:extLst>
          </p:cNvPr>
          <p:cNvSpPr/>
          <p:nvPr/>
        </p:nvSpPr>
        <p:spPr>
          <a:xfrm>
            <a:off x="3571875" y="4063634"/>
            <a:ext cx="863647" cy="3906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853EB5-EB04-4A48-7524-BE658FE51DD3}"/>
              </a:ext>
            </a:extLst>
          </p:cNvPr>
          <p:cNvSpPr/>
          <p:nvPr/>
        </p:nvSpPr>
        <p:spPr>
          <a:xfrm>
            <a:off x="7403997" y="4063634"/>
            <a:ext cx="863647" cy="3906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2F4AF9B-4EC4-895C-552C-6E65F53321A6}"/>
                  </a:ext>
                </a:extLst>
              </p:cNvPr>
              <p:cNvSpPr txBox="1"/>
              <p:nvPr/>
            </p:nvSpPr>
            <p:spPr>
              <a:xfrm>
                <a:off x="8484780" y="3429000"/>
                <a:ext cx="3707220" cy="654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latin typeface="+mj-lt"/>
                  </a:rPr>
                  <a:t>Correct rate: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204,904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215,320</m:t>
                        </m:r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=95%</m:t>
                    </m:r>
                  </m:oMath>
                </a14:m>
                <a:endParaRPr lang="zh-TW" alt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2F4AF9B-4EC4-895C-552C-6E65F5332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780" y="3429000"/>
                <a:ext cx="3707220" cy="654346"/>
              </a:xfrm>
              <a:prstGeom prst="rect">
                <a:avLst/>
              </a:prstGeom>
              <a:blipFill>
                <a:blip r:embed="rId5"/>
                <a:stretch>
                  <a:fillRect l="-2632" b="-18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CB8B29FD-2443-14E4-D6FC-E1167163E6FF}"/>
              </a:ext>
            </a:extLst>
          </p:cNvPr>
          <p:cNvSpPr/>
          <p:nvPr/>
        </p:nvSpPr>
        <p:spPr>
          <a:xfrm>
            <a:off x="3054477" y="4837074"/>
            <a:ext cx="792000" cy="1800000"/>
          </a:xfrm>
          <a:prstGeom prst="rect">
            <a:avLst/>
          </a:prstGeom>
          <a:noFill/>
          <a:ln w="38100">
            <a:solidFill>
              <a:srgbClr val="FFCC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7906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355330-FE47-A303-C63D-4AEE51D4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35F48F45-8375-8F06-BF9D-CD038E0C024F}"/>
              </a:ext>
            </a:extLst>
          </p:cNvPr>
          <p:cNvSpPr txBox="1">
            <a:spLocks/>
          </p:cNvSpPr>
          <p:nvPr/>
        </p:nvSpPr>
        <p:spPr>
          <a:xfrm>
            <a:off x="990599" y="518051"/>
            <a:ext cx="108374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itchFamily="18" charset="0"/>
                <a:ea typeface="+mn-ea"/>
                <a:cs typeface="Times New Roman" pitchFamily="18" charset="0"/>
              </a:rPr>
              <a:t>Data Labelling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ED516D1-A9FE-D22B-EE29-9D9D1FFD0F61}"/>
              </a:ext>
            </a:extLst>
          </p:cNvPr>
          <p:cNvSpPr txBox="1"/>
          <p:nvPr/>
        </p:nvSpPr>
        <p:spPr>
          <a:xfrm>
            <a:off x="6806183" y="537269"/>
            <a:ext cx="502184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+mj-lt"/>
              </a:rPr>
              <a:t>HCP</a:t>
            </a:r>
          </a:p>
          <a:p>
            <a:pPr lvl="1"/>
            <a:r>
              <a:rPr lang="en-US" altLang="zh-TW" sz="2400" dirty="0">
                <a:latin typeface="+mj-lt"/>
              </a:rPr>
              <a:t>A=4, K=3, Q=2, J=1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+mj-lt"/>
              </a:rPr>
              <a:t>Balance</a:t>
            </a:r>
          </a:p>
          <a:p>
            <a:pPr marL="457200" lvl="1" indent="0">
              <a:buNone/>
            </a:pPr>
            <a:r>
              <a:rPr lang="en-US" altLang="zh-TW" sz="2400" dirty="0">
                <a:latin typeface="+mj-lt"/>
              </a:rPr>
              <a:t>0:Balance, 4333/4432/5332/5422</a:t>
            </a:r>
          </a:p>
          <a:p>
            <a:pPr marL="457200" lvl="1" indent="0">
              <a:buNone/>
            </a:pPr>
            <a:r>
              <a:rPr lang="en-US" altLang="zh-TW" sz="2400" dirty="0">
                <a:latin typeface="+mj-lt"/>
              </a:rPr>
              <a:t>3</a:t>
            </a:r>
            <a:r>
              <a:rPr lang="en-US" altLang="zh-TW" sz="2400">
                <a:latin typeface="+mj-lt"/>
              </a:rPr>
              <a:t>:</a:t>
            </a:r>
            <a:r>
              <a:rPr lang="en-US" altLang="zh-TW" sz="2400" dirty="0">
                <a:latin typeface="+mj-lt"/>
              </a:rPr>
              <a:t>Unbalance, Others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+mj-lt"/>
              </a:rPr>
              <a:t>Stop</a:t>
            </a:r>
          </a:p>
          <a:p>
            <a:pPr marL="457200" lvl="1" indent="0">
              <a:buNone/>
            </a:pPr>
            <a:r>
              <a:rPr lang="en-US" altLang="zh-TW" sz="2400" dirty="0">
                <a:latin typeface="+mj-lt"/>
              </a:rPr>
              <a:t>4:stopper,</a:t>
            </a:r>
            <a:r>
              <a:rPr lang="en-US" altLang="zh-TW" sz="2400" b="0" dirty="0">
                <a:solidFill>
                  <a:schemeClr val="tx1"/>
                </a:solidFill>
                <a:latin typeface="+mj-lt"/>
              </a:rPr>
              <a:t>AQ/AK/AJT/KQJ/QJT9/</a:t>
            </a:r>
          </a:p>
          <a:p>
            <a:pPr marL="457200" lvl="1" indent="0">
              <a:buNone/>
            </a:pPr>
            <a:r>
              <a:rPr lang="en-US" altLang="zh-TW" sz="2400" b="0" dirty="0">
                <a:solidFill>
                  <a:schemeClr val="tx1"/>
                </a:solidFill>
                <a:latin typeface="+mj-lt"/>
              </a:rPr>
              <a:t>	KJT9/A/KX/QJX/JT9X</a:t>
            </a:r>
          </a:p>
          <a:p>
            <a:pPr marL="457200" lvl="1" indent="0">
              <a:buNone/>
            </a:pPr>
            <a:r>
              <a:rPr lang="en-US" altLang="zh-TW" sz="2400" dirty="0">
                <a:latin typeface="+mj-lt"/>
              </a:rPr>
              <a:t>3:partial-stop, </a:t>
            </a:r>
            <a:r>
              <a:rPr lang="en-US" altLang="zh-TW" sz="2400" b="0" dirty="0">
                <a:solidFill>
                  <a:schemeClr val="tx1"/>
                </a:solidFill>
                <a:latin typeface="+mj-lt"/>
              </a:rPr>
              <a:t>K/QX/JXX/TXXX</a:t>
            </a:r>
          </a:p>
          <a:p>
            <a:pPr marL="457200" lvl="1" indent="0">
              <a:buNone/>
            </a:pPr>
            <a:r>
              <a:rPr lang="en-US" altLang="zh-TW" sz="2400" dirty="0">
                <a:latin typeface="+mj-lt"/>
              </a:rPr>
              <a:t>2:unknown</a:t>
            </a:r>
          </a:p>
          <a:p>
            <a:pPr marL="457200" lvl="1" indent="0">
              <a:buNone/>
            </a:pPr>
            <a:r>
              <a:rPr lang="en-US" altLang="zh-TW" sz="2400" b="0" dirty="0">
                <a:solidFill>
                  <a:schemeClr val="tx1"/>
                </a:solidFill>
                <a:latin typeface="+mj-lt"/>
              </a:rPr>
              <a:t>1:no-stop, none of above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+mj-lt"/>
              </a:rPr>
              <a:t>Vulnerability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sz="2400" dirty="0">
                <a:latin typeface="+mj-lt"/>
              </a:rPr>
              <a:t>NS </a:t>
            </a:r>
            <a:r>
              <a:rPr lang="en-US" altLang="zh-TW" sz="2400" dirty="0" err="1">
                <a:latin typeface="+mj-lt"/>
              </a:rPr>
              <a:t>nonvul</a:t>
            </a:r>
            <a:r>
              <a:rPr lang="en-US" altLang="zh-TW" sz="2400" dirty="0">
                <a:latin typeface="+mj-lt"/>
              </a:rPr>
              <a:t>, 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+mj-lt"/>
              </a:rPr>
              <a:t>EW </a:t>
            </a:r>
            <a:r>
              <a:rPr lang="en-US" altLang="zh-TW" sz="2400" b="0" i="0" dirty="0" err="1">
                <a:solidFill>
                  <a:srgbClr val="000000"/>
                </a:solidFill>
                <a:effectLst/>
                <a:latin typeface="+mj-lt"/>
              </a:rPr>
              <a:t>nonvul</a:t>
            </a:r>
            <a:endParaRPr lang="en-US" altLang="zh-TW" sz="2400" b="0" i="0" dirty="0">
              <a:solidFill>
                <a:srgbClr val="000000"/>
              </a:solidFill>
              <a:effectLst/>
              <a:latin typeface="+mj-lt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zh-TW" sz="2400" dirty="0">
                <a:solidFill>
                  <a:srgbClr val="000000"/>
                </a:solidFill>
                <a:latin typeface="+mj-lt"/>
              </a:rPr>
              <a:t>NS </a:t>
            </a:r>
            <a:r>
              <a:rPr lang="en-US" altLang="zh-TW" sz="2400" dirty="0" err="1">
                <a:solidFill>
                  <a:srgbClr val="000000"/>
                </a:solidFill>
                <a:latin typeface="+mj-lt"/>
              </a:rPr>
              <a:t>vul</a:t>
            </a:r>
            <a:r>
              <a:rPr lang="en-US" altLang="zh-TW" sz="2400" dirty="0">
                <a:solidFill>
                  <a:srgbClr val="000000"/>
                </a:solidFill>
                <a:latin typeface="+mj-lt"/>
              </a:rPr>
              <a:t>, EW </a:t>
            </a:r>
            <a:r>
              <a:rPr lang="en-US" altLang="zh-TW" sz="2400" dirty="0" err="1">
                <a:solidFill>
                  <a:srgbClr val="000000"/>
                </a:solidFill>
                <a:latin typeface="+mj-lt"/>
              </a:rPr>
              <a:t>nonvul</a:t>
            </a:r>
            <a:endParaRPr lang="en-US" altLang="zh-TW" sz="2400" dirty="0">
              <a:solidFill>
                <a:srgbClr val="000000"/>
              </a:solidFill>
              <a:latin typeface="+mj-lt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zh-TW" sz="2400" dirty="0">
                <a:solidFill>
                  <a:srgbClr val="000000"/>
                </a:solidFill>
                <a:latin typeface="+mj-lt"/>
              </a:rPr>
              <a:t>NS </a:t>
            </a:r>
            <a:r>
              <a:rPr lang="en-US" altLang="zh-TW" sz="2400" dirty="0" err="1">
                <a:solidFill>
                  <a:srgbClr val="000000"/>
                </a:solidFill>
                <a:latin typeface="+mj-lt"/>
              </a:rPr>
              <a:t>nonvul</a:t>
            </a:r>
            <a:r>
              <a:rPr lang="en-US" altLang="zh-TW" sz="2400" dirty="0">
                <a:solidFill>
                  <a:srgbClr val="000000"/>
                </a:solidFill>
                <a:latin typeface="+mj-lt"/>
              </a:rPr>
              <a:t>, EW</a:t>
            </a:r>
            <a:r>
              <a:rPr lang="en-US" altLang="zh-TW" sz="2400" dirty="0">
                <a:latin typeface="+mj-lt"/>
              </a:rPr>
              <a:t> </a:t>
            </a:r>
            <a:r>
              <a:rPr lang="en-US" altLang="zh-TW" sz="2400" dirty="0" err="1">
                <a:latin typeface="+mj-lt"/>
              </a:rPr>
              <a:t>vul</a:t>
            </a:r>
            <a:endParaRPr lang="en-US" altLang="zh-TW" sz="2400" dirty="0">
              <a:latin typeface="+mj-lt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zh-TW" sz="2400" dirty="0">
                <a:latin typeface="+mj-lt"/>
              </a:rPr>
              <a:t>NS </a:t>
            </a:r>
            <a:r>
              <a:rPr lang="en-US" altLang="zh-TW" sz="2400" dirty="0" err="1">
                <a:latin typeface="+mj-lt"/>
              </a:rPr>
              <a:t>vul</a:t>
            </a:r>
            <a:r>
              <a:rPr lang="en-US" altLang="zh-TW" sz="2400" dirty="0">
                <a:latin typeface="+mj-lt"/>
              </a:rPr>
              <a:t>, EW </a:t>
            </a:r>
            <a:r>
              <a:rPr lang="en-US" altLang="zh-TW" sz="2400" dirty="0" err="1">
                <a:latin typeface="+mj-lt"/>
              </a:rPr>
              <a:t>vul</a:t>
            </a:r>
            <a:endParaRPr lang="en-US" altLang="zh-TW" sz="2400" dirty="0">
              <a:latin typeface="+mj-lt"/>
            </a:endParaRPr>
          </a:p>
        </p:txBody>
      </p:sp>
      <p:graphicFrame>
        <p:nvGraphicFramePr>
          <p:cNvPr id="2" name="表格 4">
            <a:extLst>
              <a:ext uri="{FF2B5EF4-FFF2-40B4-BE49-F238E27FC236}">
                <a16:creationId xmlns:a16="http://schemas.microsoft.com/office/drawing/2014/main" id="{BA9982B0-CB9E-4A7E-9D02-B34901BF4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723843"/>
              </p:ext>
            </p:extLst>
          </p:nvPr>
        </p:nvGraphicFramePr>
        <p:xfrm>
          <a:off x="901076" y="2179742"/>
          <a:ext cx="378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73565735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443406315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317424169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T6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AT963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AQT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647893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K94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KJ2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T43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KJ96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  <a:p>
                      <a:pPr algn="dist"/>
                      <a:endParaRPr lang="en-US" altLang="zh-TW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zh-TW" alt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dist"/>
                      <a:endParaRPr lang="en-US" altLang="zh-TW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J732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K72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8752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64733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AQ85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Q74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AQJ9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9364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08515481-10CD-9B4A-3B28-BD4C078347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9307534"/>
                  </p:ext>
                </p:extLst>
              </p:nvPr>
            </p:nvGraphicFramePr>
            <p:xfrm>
              <a:off x="4417955" y="2362622"/>
              <a:ext cx="199136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840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2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♢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♡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08515481-10CD-9B4A-3B28-BD4C078347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9307534"/>
                  </p:ext>
                </p:extLst>
              </p:nvPr>
            </p:nvGraphicFramePr>
            <p:xfrm>
              <a:off x="4417955" y="2362622"/>
              <a:ext cx="199136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840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8333" r="-300000" b="-4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8333" r="-200000" b="-4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8333" r="-100000" b="-4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204918" r="-200000" b="-1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204918" b="-196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11875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355330-FE47-A303-C63D-4AEE51D4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13</a:t>
            </a:fld>
            <a:endParaRPr lang="zh-TW" alt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35F48F45-8375-8F06-BF9D-CD038E0C024F}"/>
              </a:ext>
            </a:extLst>
          </p:cNvPr>
          <p:cNvSpPr txBox="1">
            <a:spLocks/>
          </p:cNvSpPr>
          <p:nvPr/>
        </p:nvSpPr>
        <p:spPr>
          <a:xfrm>
            <a:off x="990599" y="518051"/>
            <a:ext cx="108374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itchFamily="18" charset="0"/>
                <a:ea typeface="+mn-ea"/>
                <a:cs typeface="Times New Roman" pitchFamily="18" charset="0"/>
              </a:rPr>
              <a:t>Input Representation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9">
                <a:extLst>
                  <a:ext uri="{FF2B5EF4-FFF2-40B4-BE49-F238E27FC236}">
                    <a16:creationId xmlns:a16="http://schemas.microsoft.com/office/drawing/2014/main" id="{4ECB3D85-A798-67A0-7682-EB2CC50552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789336"/>
                  </p:ext>
                </p:extLst>
              </p:nvPr>
            </p:nvGraphicFramePr>
            <p:xfrm>
              <a:off x="2451223" y="2362042"/>
              <a:ext cx="199136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840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2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♢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♡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9">
                <a:extLst>
                  <a:ext uri="{FF2B5EF4-FFF2-40B4-BE49-F238E27FC236}">
                    <a16:creationId xmlns:a16="http://schemas.microsoft.com/office/drawing/2014/main" id="{4ECB3D85-A798-67A0-7682-EB2CC50552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789336"/>
                  </p:ext>
                </p:extLst>
              </p:nvPr>
            </p:nvGraphicFramePr>
            <p:xfrm>
              <a:off x="2451223" y="2362042"/>
              <a:ext cx="199136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840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8333" r="-298780" b="-4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8333" r="-198780" b="-4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2469" t="-8333" r="-101235" b="-4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204918" r="-198780" b="-1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8780" t="-204918" b="-196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表格 6">
            <a:extLst>
              <a:ext uri="{FF2B5EF4-FFF2-40B4-BE49-F238E27FC236}">
                <a16:creationId xmlns:a16="http://schemas.microsoft.com/office/drawing/2014/main" id="{A0A339E9-7D23-3ED1-4E11-3A311B153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324894"/>
              </p:ext>
            </p:extLst>
          </p:nvPr>
        </p:nvGraphicFramePr>
        <p:xfrm>
          <a:off x="4771223" y="2362042"/>
          <a:ext cx="7132882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000">
                  <a:extLst>
                    <a:ext uri="{9D8B030D-6E8A-4147-A177-3AD203B41FA5}">
                      <a16:colId xmlns:a16="http://schemas.microsoft.com/office/drawing/2014/main" val="172329840"/>
                    </a:ext>
                  </a:extLst>
                </a:gridCol>
                <a:gridCol w="216159">
                  <a:extLst>
                    <a:ext uri="{9D8B030D-6E8A-4147-A177-3AD203B41FA5}">
                      <a16:colId xmlns:a16="http://schemas.microsoft.com/office/drawing/2014/main" val="807881724"/>
                    </a:ext>
                  </a:extLst>
                </a:gridCol>
                <a:gridCol w="216159">
                  <a:extLst>
                    <a:ext uri="{9D8B030D-6E8A-4147-A177-3AD203B41FA5}">
                      <a16:colId xmlns:a16="http://schemas.microsoft.com/office/drawing/2014/main" val="269761691"/>
                    </a:ext>
                  </a:extLst>
                </a:gridCol>
                <a:gridCol w="155996">
                  <a:extLst>
                    <a:ext uri="{9D8B030D-6E8A-4147-A177-3AD203B41FA5}">
                      <a16:colId xmlns:a16="http://schemas.microsoft.com/office/drawing/2014/main" val="351686844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1742827412"/>
                    </a:ext>
                  </a:extLst>
                </a:gridCol>
                <a:gridCol w="216159">
                  <a:extLst>
                    <a:ext uri="{9D8B030D-6E8A-4147-A177-3AD203B41FA5}">
                      <a16:colId xmlns:a16="http://schemas.microsoft.com/office/drawing/2014/main" val="462255612"/>
                    </a:ext>
                  </a:extLst>
                </a:gridCol>
                <a:gridCol w="223085">
                  <a:extLst>
                    <a:ext uri="{9D8B030D-6E8A-4147-A177-3AD203B41FA5}">
                      <a16:colId xmlns:a16="http://schemas.microsoft.com/office/drawing/2014/main" val="1545666235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679635210"/>
                    </a:ext>
                  </a:extLst>
                </a:gridCol>
                <a:gridCol w="192119">
                  <a:extLst>
                    <a:ext uri="{9D8B030D-6E8A-4147-A177-3AD203B41FA5}">
                      <a16:colId xmlns:a16="http://schemas.microsoft.com/office/drawing/2014/main" val="1823283816"/>
                    </a:ext>
                  </a:extLst>
                </a:gridCol>
                <a:gridCol w="223086">
                  <a:extLst>
                    <a:ext uri="{9D8B030D-6E8A-4147-A177-3AD203B41FA5}">
                      <a16:colId xmlns:a16="http://schemas.microsoft.com/office/drawing/2014/main" val="1502452750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3876373058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4123877273"/>
                    </a:ext>
                  </a:extLst>
                </a:gridCol>
                <a:gridCol w="216159">
                  <a:extLst>
                    <a:ext uri="{9D8B030D-6E8A-4147-A177-3AD203B41FA5}">
                      <a16:colId xmlns:a16="http://schemas.microsoft.com/office/drawing/2014/main" val="1276257449"/>
                    </a:ext>
                  </a:extLst>
                </a:gridCol>
                <a:gridCol w="216159">
                  <a:extLst>
                    <a:ext uri="{9D8B030D-6E8A-4147-A177-3AD203B41FA5}">
                      <a16:colId xmlns:a16="http://schemas.microsoft.com/office/drawing/2014/main" val="3961822248"/>
                    </a:ext>
                  </a:extLst>
                </a:gridCol>
                <a:gridCol w="216159">
                  <a:extLst>
                    <a:ext uri="{9D8B030D-6E8A-4147-A177-3AD203B41FA5}">
                      <a16:colId xmlns:a16="http://schemas.microsoft.com/office/drawing/2014/main" val="1197327966"/>
                    </a:ext>
                  </a:extLst>
                </a:gridCol>
                <a:gridCol w="216159">
                  <a:extLst>
                    <a:ext uri="{9D8B030D-6E8A-4147-A177-3AD203B41FA5}">
                      <a16:colId xmlns:a16="http://schemas.microsoft.com/office/drawing/2014/main" val="2526293081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464286994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1716245714"/>
                    </a:ext>
                  </a:extLst>
                </a:gridCol>
                <a:gridCol w="223086">
                  <a:extLst>
                    <a:ext uri="{9D8B030D-6E8A-4147-A177-3AD203B41FA5}">
                      <a16:colId xmlns:a16="http://schemas.microsoft.com/office/drawing/2014/main" val="1799973501"/>
                    </a:ext>
                  </a:extLst>
                </a:gridCol>
                <a:gridCol w="192119">
                  <a:extLst>
                    <a:ext uri="{9D8B030D-6E8A-4147-A177-3AD203B41FA5}">
                      <a16:colId xmlns:a16="http://schemas.microsoft.com/office/drawing/2014/main" val="1325824942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890243070"/>
                    </a:ext>
                  </a:extLst>
                </a:gridCol>
                <a:gridCol w="223085">
                  <a:extLst>
                    <a:ext uri="{9D8B030D-6E8A-4147-A177-3AD203B41FA5}">
                      <a16:colId xmlns:a16="http://schemas.microsoft.com/office/drawing/2014/main" val="2653171415"/>
                    </a:ext>
                  </a:extLst>
                </a:gridCol>
                <a:gridCol w="216159">
                  <a:extLst>
                    <a:ext uri="{9D8B030D-6E8A-4147-A177-3AD203B41FA5}">
                      <a16:colId xmlns:a16="http://schemas.microsoft.com/office/drawing/2014/main" val="1671714040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1974272090"/>
                    </a:ext>
                  </a:extLst>
                </a:gridCol>
                <a:gridCol w="372155">
                  <a:extLst>
                    <a:ext uri="{9D8B030D-6E8A-4147-A177-3AD203B41FA5}">
                      <a16:colId xmlns:a16="http://schemas.microsoft.com/office/drawing/2014/main" val="2096293653"/>
                    </a:ext>
                  </a:extLst>
                </a:gridCol>
                <a:gridCol w="216159">
                  <a:extLst>
                    <a:ext uri="{9D8B030D-6E8A-4147-A177-3AD203B41FA5}">
                      <a16:colId xmlns:a16="http://schemas.microsoft.com/office/drawing/2014/main" val="33092890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player_hcp_C</a:t>
                      </a:r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/D/H/S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017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total_hcp_lower</a:t>
                      </a:r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/upper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1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26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372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total_num_lower</a:t>
                      </a:r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/upper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206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player/</a:t>
                      </a:r>
                      <a:r>
                        <a:rPr lang="en-US" altLang="zh-TW" sz="1800" b="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partner_balance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1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40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total_stop_C</a:t>
                      </a:r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/D/H/S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137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vulnerability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5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78448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bidding_history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5387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rgbClr val="FE7A7B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b="0" kern="1200" dirty="0">
                        <a:solidFill>
                          <a:srgbClr val="FE7A7B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rgbClr val="FE7A7B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b="0" kern="1200" dirty="0">
                        <a:solidFill>
                          <a:srgbClr val="FE7A7B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rgbClr val="FE7A7B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b="0" kern="1200" dirty="0">
                        <a:solidFill>
                          <a:srgbClr val="FE7A7B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1656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rgbClr val="FE7A7B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b="0" kern="1200" dirty="0">
                        <a:solidFill>
                          <a:srgbClr val="FE7A7B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rgbClr val="FE7A7B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b="0" kern="1200" dirty="0">
                        <a:solidFill>
                          <a:srgbClr val="FE7A7B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53869"/>
                  </a:ext>
                </a:extLst>
              </a:tr>
            </a:tbl>
          </a:graphicData>
        </a:graphic>
      </p:graphicFrame>
      <p:graphicFrame>
        <p:nvGraphicFramePr>
          <p:cNvPr id="2" name="表格 4">
            <a:extLst>
              <a:ext uri="{FF2B5EF4-FFF2-40B4-BE49-F238E27FC236}">
                <a16:creationId xmlns:a16="http://schemas.microsoft.com/office/drawing/2014/main" id="{8B941325-8017-97A6-8B77-0F4941474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266380"/>
              </p:ext>
            </p:extLst>
          </p:nvPr>
        </p:nvGraphicFramePr>
        <p:xfrm>
          <a:off x="862583" y="1996862"/>
          <a:ext cx="126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3443406315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T6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AT963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AQT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647893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dist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  <a:p>
                      <a:pPr algn="dist"/>
                      <a:endParaRPr lang="en-US" altLang="zh-TW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zh-TW" alt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dist"/>
                      <a:endParaRPr lang="en-US" altLang="zh-TW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64733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AQ85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Q74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AQJ9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936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413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355330-FE47-A303-C63D-4AEE51D4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14</a:t>
            </a:fld>
            <a:endParaRPr lang="zh-TW" alt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35F48F45-8375-8F06-BF9D-CD038E0C024F}"/>
              </a:ext>
            </a:extLst>
          </p:cNvPr>
          <p:cNvSpPr txBox="1">
            <a:spLocks/>
          </p:cNvSpPr>
          <p:nvPr/>
        </p:nvSpPr>
        <p:spPr>
          <a:xfrm>
            <a:off x="990599" y="518051"/>
            <a:ext cx="108374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itchFamily="18" charset="0"/>
                <a:ea typeface="+mn-ea"/>
                <a:cs typeface="Times New Roman" pitchFamily="18" charset="0"/>
              </a:rPr>
              <a:t>Two-stage Prediction with Random Forests</a:t>
            </a:r>
            <a:endParaRPr lang="zh-TW" altLang="en-US" dirty="0"/>
          </a:p>
        </p:txBody>
      </p:sp>
      <p:graphicFrame>
        <p:nvGraphicFramePr>
          <p:cNvPr id="9" name="表格 4">
            <a:extLst>
              <a:ext uri="{FF2B5EF4-FFF2-40B4-BE49-F238E27FC236}">
                <a16:creationId xmlns:a16="http://schemas.microsoft.com/office/drawing/2014/main" id="{6BE39593-0554-54DA-5545-A614BC910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066577"/>
              </p:ext>
            </p:extLst>
          </p:nvPr>
        </p:nvGraphicFramePr>
        <p:xfrm>
          <a:off x="3422401" y="3027299"/>
          <a:ext cx="378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73565735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443406315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317424169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T6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AT963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AQT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647893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K94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KJ2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T43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KJ96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  <a:p>
                      <a:pPr algn="dist"/>
                      <a:endParaRPr lang="en-US" altLang="zh-TW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zh-TW" alt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algn="dist"/>
                      <a:endParaRPr lang="en-US" altLang="zh-TW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dist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J732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K72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8752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64733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AQ85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Q74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AQJ9</a:t>
                      </a:r>
                    </a:p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9364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1E78DDC7-3ED3-77B1-F760-6456604CE3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4631440"/>
                  </p:ext>
                </p:extLst>
              </p:nvPr>
            </p:nvGraphicFramePr>
            <p:xfrm>
              <a:off x="6939280" y="3228467"/>
              <a:ext cx="199136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840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2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oMath>
                            </m:oMathPara>
                          </a14:m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♢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♡</m:t>
                              </m:r>
                            </m:oMath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1E78DDC7-3ED3-77B1-F760-6456604CE3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4631440"/>
                  </p:ext>
                </p:extLst>
              </p:nvPr>
            </p:nvGraphicFramePr>
            <p:xfrm>
              <a:off x="6939280" y="3228467"/>
              <a:ext cx="199136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840">
                      <a:extLst>
                        <a:ext uri="{9D8B030D-6E8A-4147-A177-3AD203B41FA5}">
                          <a16:colId xmlns:a16="http://schemas.microsoft.com/office/drawing/2014/main" val="282942782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196809247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2807850588"/>
                        </a:ext>
                      </a:extLst>
                    </a:gridCol>
                    <a:gridCol w="497840">
                      <a:extLst>
                        <a:ext uri="{9D8B030D-6E8A-4147-A177-3AD203B41FA5}">
                          <a16:colId xmlns:a16="http://schemas.microsoft.com/office/drawing/2014/main" val="70601232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8333" r="-298780" b="-4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8333" r="-198780" b="-4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2469" t="-8333" r="-101235" b="-4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5478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0871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204918" r="-198780" b="-1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8780" t="-204918" b="-196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4981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3N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7334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108509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內容版面配置區 8">
            <a:extLst>
              <a:ext uri="{FF2B5EF4-FFF2-40B4-BE49-F238E27FC236}">
                <a16:creationId xmlns:a16="http://schemas.microsoft.com/office/drawing/2014/main" id="{3D8E60A3-57D2-5D01-9C78-4224BF017BEE}"/>
              </a:ext>
            </a:extLst>
          </p:cNvPr>
          <p:cNvSpPr txBox="1">
            <a:spLocks/>
          </p:cNvSpPr>
          <p:nvPr/>
        </p:nvSpPr>
        <p:spPr>
          <a:xfrm>
            <a:off x="838200" y="1715897"/>
            <a:ext cx="10515600" cy="4729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>
                <a:latin typeface="+mj-lt"/>
              </a:rPr>
              <a:t>Stage 1: Predict the suit (or NT) that the board should choose.</a:t>
            </a:r>
          </a:p>
          <a:p>
            <a:pPr marL="0" indent="0">
              <a:buNone/>
            </a:pPr>
            <a:r>
              <a:rPr lang="en-US" altLang="zh-TW" dirty="0">
                <a:latin typeface="+mj-lt"/>
              </a:rPr>
              <a:t>Stage 2: Predict the game category (partial, game, slam, or grand slam).</a:t>
            </a:r>
          </a:p>
          <a:p>
            <a:pPr marL="0" indent="0">
              <a:buNone/>
            </a:pPr>
            <a:r>
              <a:rPr lang="en-US" altLang="zh-TW" dirty="0">
                <a:latin typeface="+mj-lt"/>
              </a:rPr>
              <a:t>Adjust the suit if it does not comply with the game rules.</a:t>
            </a:r>
            <a:endParaRPr lang="en-US" altLang="zh-TW" dirty="0">
              <a:solidFill>
                <a:srgbClr val="D4AFE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1739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355330-FE47-A303-C63D-4AEE51D4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15</a:t>
            </a:fld>
            <a:endParaRPr lang="zh-TW" alt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35F48F45-8375-8F06-BF9D-CD038E0C024F}"/>
              </a:ext>
            </a:extLst>
          </p:cNvPr>
          <p:cNvSpPr txBox="1">
            <a:spLocks/>
          </p:cNvSpPr>
          <p:nvPr/>
        </p:nvSpPr>
        <p:spPr>
          <a:xfrm>
            <a:off x="990599" y="518051"/>
            <a:ext cx="108374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itchFamily="18" charset="0"/>
                <a:ea typeface="+mn-ea"/>
                <a:cs typeface="Times New Roman" pitchFamily="18" charset="0"/>
              </a:rPr>
              <a:t>Classify All Situations into Seven Indicators</a:t>
            </a:r>
            <a:endParaRPr lang="zh-TW" alt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96697558-8828-E377-FC16-A149AB17C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641771" cy="472955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TW" sz="2400" dirty="0">
                <a:highlight>
                  <a:srgbClr val="FE7A7B"/>
                </a:highlight>
                <a:latin typeface="+mj-lt"/>
              </a:rPr>
              <a:t>  </a:t>
            </a:r>
            <a:r>
              <a:rPr lang="en-US" altLang="zh-TW" sz="2400" dirty="0">
                <a:latin typeface="+mj-lt"/>
              </a:rPr>
              <a:t>Most Suitable: MS</a:t>
            </a:r>
          </a:p>
          <a:p>
            <a:pPr>
              <a:lnSpc>
                <a:spcPct val="120000"/>
              </a:lnSpc>
            </a:pPr>
            <a:r>
              <a:rPr lang="zh-TW" altLang="en-US" sz="2400" dirty="0">
                <a:highlight>
                  <a:srgbClr val="FF9966"/>
                </a:highlight>
                <a:latin typeface="+mj-lt"/>
              </a:rPr>
              <a:t>  </a:t>
            </a:r>
            <a:r>
              <a:rPr lang="en-US" altLang="zh-TW" sz="2400" dirty="0">
                <a:latin typeface="+mj-lt"/>
              </a:rPr>
              <a:t>Same Category: SC</a:t>
            </a:r>
          </a:p>
          <a:p>
            <a:pPr>
              <a:lnSpc>
                <a:spcPct val="120000"/>
              </a:lnSpc>
            </a:pPr>
            <a:r>
              <a:rPr lang="zh-TW" altLang="en-US" sz="2400" dirty="0">
                <a:highlight>
                  <a:srgbClr val="FFCC66"/>
                </a:highlight>
                <a:latin typeface="+mj-lt"/>
              </a:rPr>
              <a:t>  </a:t>
            </a:r>
            <a:r>
              <a:rPr lang="en-US" altLang="zh-TW" sz="2400" dirty="0">
                <a:latin typeface="+mj-lt"/>
              </a:rPr>
              <a:t>Same Suit: SS</a:t>
            </a:r>
          </a:p>
          <a:p>
            <a:pPr>
              <a:lnSpc>
                <a:spcPct val="120000"/>
              </a:lnSpc>
            </a:pPr>
            <a:r>
              <a:rPr lang="zh-TW" altLang="en-US" sz="2400" dirty="0">
                <a:highlight>
                  <a:srgbClr val="808080"/>
                </a:highlight>
                <a:latin typeface="+mj-lt"/>
              </a:rPr>
              <a:t>  </a:t>
            </a:r>
            <a:r>
              <a:rPr lang="en-US" altLang="zh-TW" sz="2400" dirty="0">
                <a:latin typeface="+mj-lt"/>
              </a:rPr>
              <a:t>Same Category and Unacceptable Suit: </a:t>
            </a:r>
            <a:br>
              <a:rPr lang="en-US" altLang="zh-TW" sz="2400" dirty="0">
                <a:latin typeface="+mj-lt"/>
              </a:rPr>
            </a:br>
            <a:r>
              <a:rPr lang="en-US" altLang="zh-TW" sz="2400" dirty="0">
                <a:latin typeface="+mj-lt"/>
              </a:rPr>
              <a:t>SCU = SC \ (MS </a:t>
            </a:r>
            <a:r>
              <a:rPr lang="en-US" altLang="zh-TW" sz="2400" dirty="0">
                <a:latin typeface="+mj-lt"/>
                <a:sym typeface="Symbol" panose="05050102010706020507" pitchFamily="18" charset="2"/>
              </a:rPr>
              <a:t></a:t>
            </a:r>
            <a:r>
              <a:rPr lang="en-US" altLang="zh-TW" sz="2400" dirty="0">
                <a:latin typeface="+mj-lt"/>
              </a:rPr>
              <a:t> SCA) </a:t>
            </a:r>
          </a:p>
          <a:p>
            <a:pPr>
              <a:lnSpc>
                <a:spcPct val="120000"/>
              </a:lnSpc>
            </a:pPr>
            <a:r>
              <a:rPr lang="zh-TW" altLang="en-US" sz="2400" dirty="0">
                <a:highlight>
                  <a:srgbClr val="99D8B9"/>
                </a:highlight>
                <a:latin typeface="+mj-lt"/>
              </a:rPr>
              <a:t>  </a:t>
            </a:r>
            <a:r>
              <a:rPr lang="en-US" altLang="zh-TW" sz="2400" dirty="0">
                <a:latin typeface="+mj-lt"/>
              </a:rPr>
              <a:t>Same Category and Acceptable Suit excluding Most</a:t>
            </a:r>
            <a:r>
              <a:rPr lang="zh-TW" altLang="en-US" sz="2400" dirty="0">
                <a:latin typeface="+mj-lt"/>
              </a:rPr>
              <a:t> </a:t>
            </a:r>
            <a:r>
              <a:rPr lang="en-US" altLang="zh-TW" sz="2400" dirty="0">
                <a:latin typeface="+mj-lt"/>
              </a:rPr>
              <a:t>Suitable: SCA = SC \ (MS </a:t>
            </a:r>
            <a:r>
              <a:rPr lang="en-US" altLang="zh-TW" sz="2400" dirty="0">
                <a:latin typeface="+mj-lt"/>
                <a:sym typeface="Symbol" panose="05050102010706020507" pitchFamily="18" charset="2"/>
              </a:rPr>
              <a:t></a:t>
            </a:r>
            <a:r>
              <a:rPr lang="en-US" altLang="zh-TW" sz="2400" dirty="0">
                <a:latin typeface="+mj-lt"/>
              </a:rPr>
              <a:t> SCU)</a:t>
            </a:r>
            <a:r>
              <a:rPr lang="en-US" altLang="zh-TW" sz="2400" dirty="0">
                <a:latin typeface="+mj-lt"/>
                <a:cs typeface="Sabon Next LT" panose="020B0502040204020203" pitchFamily="2" charset="0"/>
              </a:rPr>
              <a:t> </a:t>
            </a:r>
            <a:endParaRPr lang="en-US" altLang="zh-TW" sz="2400" dirty="0">
              <a:latin typeface="+mj-lt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highlight>
                  <a:srgbClr val="66CCCC"/>
                </a:highlight>
                <a:latin typeface="+mj-lt"/>
              </a:rPr>
              <a:t>  </a:t>
            </a:r>
            <a:r>
              <a:rPr lang="en-US" altLang="zh-TW" sz="2400" dirty="0">
                <a:latin typeface="+mj-lt"/>
              </a:rPr>
              <a:t>Same Suit excluding Most</a:t>
            </a:r>
            <a:r>
              <a:rPr lang="zh-TW" altLang="en-US" sz="2400" dirty="0">
                <a:latin typeface="+mj-lt"/>
              </a:rPr>
              <a:t> </a:t>
            </a:r>
            <a:r>
              <a:rPr lang="en-US" altLang="zh-TW" sz="2400" dirty="0">
                <a:latin typeface="+mj-lt"/>
              </a:rPr>
              <a:t>Suitable:</a:t>
            </a:r>
            <a:br>
              <a:rPr lang="en-US" altLang="zh-TW" sz="2400" dirty="0">
                <a:latin typeface="+mj-lt"/>
              </a:rPr>
            </a:br>
            <a:r>
              <a:rPr lang="en-US" altLang="zh-TW" sz="2400" dirty="0">
                <a:latin typeface="+mj-lt"/>
              </a:rPr>
              <a:t>SSE = SS \ MS</a:t>
            </a:r>
          </a:p>
          <a:p>
            <a:pPr>
              <a:lnSpc>
                <a:spcPct val="120000"/>
              </a:lnSpc>
            </a:pPr>
            <a:r>
              <a:rPr lang="zh-TW" altLang="en-US" sz="2400" dirty="0">
                <a:highlight>
                  <a:srgbClr val="D4AFE3"/>
                </a:highlight>
                <a:latin typeface="+mj-lt"/>
              </a:rPr>
              <a:t>  </a:t>
            </a:r>
            <a:r>
              <a:rPr lang="en-US" altLang="zh-TW" sz="2400" dirty="0">
                <a:latin typeface="+mj-lt"/>
              </a:rPr>
              <a:t>Others: O = U \ (SC </a:t>
            </a:r>
            <a:r>
              <a:rPr lang="en-US" altLang="zh-TW" sz="2400" dirty="0">
                <a:latin typeface="+mj-lt"/>
                <a:sym typeface="Symbol" panose="05050102010706020507" pitchFamily="18" charset="2"/>
              </a:rPr>
              <a:t></a:t>
            </a:r>
            <a:r>
              <a:rPr lang="en-US" altLang="zh-TW" sz="2400" dirty="0">
                <a:latin typeface="+mj-lt"/>
              </a:rPr>
              <a:t> SS)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60161EFB-F3C7-74C8-B0BB-3BB492EB4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202717"/>
              </p:ext>
            </p:extLst>
          </p:nvPr>
        </p:nvGraphicFramePr>
        <p:xfrm>
          <a:off x="7528559" y="1975535"/>
          <a:ext cx="4026409" cy="1932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209">
                  <a:extLst>
                    <a:ext uri="{9D8B030D-6E8A-4147-A177-3AD203B41FA5}">
                      <a16:colId xmlns:a16="http://schemas.microsoft.com/office/drawing/2014/main" val="3820070821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3187481921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3342421702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1378093333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1384808053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140795339"/>
                    </a:ext>
                  </a:extLst>
                </a:gridCol>
              </a:tblGrid>
              <a:tr h="386494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006859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Partial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348509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Game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51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8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8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8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A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363761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Slam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590308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Grand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457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8972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355330-FE47-A303-C63D-4AEE51D4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16</a:t>
            </a:fld>
            <a:endParaRPr lang="zh-TW" altLang="en-US" dirty="0"/>
          </a:p>
        </p:txBody>
      </p:sp>
      <p:pic>
        <p:nvPicPr>
          <p:cNvPr id="16" name="圖形 15">
            <a:extLst>
              <a:ext uri="{FF2B5EF4-FFF2-40B4-BE49-F238E27FC236}">
                <a16:creationId xmlns:a16="http://schemas.microsoft.com/office/drawing/2014/main" id="{C771F696-6AC8-4D1C-5766-BAFC6859E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196" y="1784350"/>
            <a:ext cx="7315200" cy="457200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92C449CF-CFBC-8D71-7276-C02DA3AEA93D}"/>
              </a:ext>
            </a:extLst>
          </p:cNvPr>
          <p:cNvSpPr txBox="1"/>
          <p:nvPr/>
        </p:nvSpPr>
        <p:spPr>
          <a:xfrm>
            <a:off x="7528559" y="4080977"/>
            <a:ext cx="453237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+mj-lt"/>
              </a:rPr>
              <a:t>  U = 146</a:t>
            </a:r>
          </a:p>
          <a:p>
            <a:r>
              <a:rPr lang="en-US" altLang="zh-TW" sz="2400" dirty="0">
                <a:solidFill>
                  <a:schemeClr val="bg1"/>
                </a:solidFill>
                <a:highlight>
                  <a:srgbClr val="FE7A7B"/>
                </a:highlight>
                <a:latin typeface="+mj-lt"/>
              </a:rPr>
              <a:t>  </a:t>
            </a:r>
            <a:r>
              <a:rPr lang="en-US" altLang="zh-TW" sz="2400" dirty="0">
                <a:latin typeface="+mj-lt"/>
              </a:rPr>
              <a:t>MS = 36/146 = 0.247</a:t>
            </a:r>
          </a:p>
          <a:p>
            <a:r>
              <a:rPr lang="en-US" altLang="zh-TW" sz="2400" dirty="0">
                <a:solidFill>
                  <a:schemeClr val="bg1"/>
                </a:solidFill>
                <a:highlight>
                  <a:srgbClr val="FF9966"/>
                </a:highlight>
                <a:latin typeface="+mj-lt"/>
              </a:rPr>
              <a:t>  </a:t>
            </a:r>
            <a:r>
              <a:rPr lang="en-US" altLang="zh-TW" sz="2400" dirty="0">
                <a:latin typeface="+mj-lt"/>
              </a:rPr>
              <a:t>SC = (51+2+13+36)/146 = 0.699</a:t>
            </a:r>
          </a:p>
          <a:p>
            <a:r>
              <a:rPr lang="en-US" altLang="zh-TW" sz="2400" dirty="0">
                <a:solidFill>
                  <a:schemeClr val="bg1"/>
                </a:solidFill>
                <a:highlight>
                  <a:srgbClr val="FFCC66"/>
                </a:highlight>
                <a:latin typeface="+mj-lt"/>
              </a:rPr>
              <a:t>  </a:t>
            </a:r>
            <a:r>
              <a:rPr lang="en-US" altLang="zh-TW" sz="2400" dirty="0">
                <a:latin typeface="+mj-lt"/>
              </a:rPr>
              <a:t>SS = 36/146 = 0.247</a:t>
            </a:r>
          </a:p>
          <a:p>
            <a:r>
              <a:rPr lang="en-US" altLang="zh-TW" sz="2400" dirty="0">
                <a:solidFill>
                  <a:schemeClr val="bg1"/>
                </a:solidFill>
                <a:highlight>
                  <a:srgbClr val="99D8B9"/>
                </a:highlight>
                <a:latin typeface="+mj-lt"/>
              </a:rPr>
              <a:t>  </a:t>
            </a:r>
            <a:r>
              <a:rPr lang="en-US" altLang="zh-TW" sz="2400" dirty="0">
                <a:latin typeface="+mj-lt"/>
              </a:rPr>
              <a:t>SCA = (51+2+13)/146 = 0.452</a:t>
            </a:r>
          </a:p>
          <a:p>
            <a:r>
              <a:rPr lang="en-US" altLang="zh-TW" sz="2400" dirty="0">
                <a:solidFill>
                  <a:schemeClr val="bg1"/>
                </a:solidFill>
                <a:highlight>
                  <a:srgbClr val="66CCCC"/>
                </a:highlight>
                <a:latin typeface="+mj-lt"/>
              </a:rPr>
              <a:t>  </a:t>
            </a:r>
            <a:r>
              <a:rPr lang="en-US" altLang="zh-TW" sz="2400" dirty="0">
                <a:latin typeface="+mj-lt"/>
              </a:rPr>
              <a:t>SSE = 0/146 = 0</a:t>
            </a:r>
          </a:p>
          <a:p>
            <a:r>
              <a:rPr lang="en-US" altLang="zh-TW" sz="2400" dirty="0">
                <a:solidFill>
                  <a:schemeClr val="bg1"/>
                </a:solidFill>
                <a:highlight>
                  <a:srgbClr val="D4AFE3"/>
                </a:highlight>
              </a:rPr>
              <a:t> </a:t>
            </a:r>
            <a:r>
              <a:rPr lang="en-US" altLang="zh-TW" sz="2400" dirty="0">
                <a:solidFill>
                  <a:schemeClr val="bg1"/>
                </a:solidFill>
                <a:highlight>
                  <a:srgbClr val="D4AFE3"/>
                </a:highlight>
                <a:latin typeface="+mj-lt"/>
              </a:rPr>
              <a:t> </a:t>
            </a:r>
            <a:r>
              <a:rPr lang="en-US" altLang="zh-TW" sz="2400" dirty="0">
                <a:latin typeface="+mj-lt"/>
              </a:rPr>
              <a:t>O = (2+1+41)/146 = 0.301</a:t>
            </a:r>
            <a:endParaRPr lang="zh-TW" altLang="en-US" sz="2400" dirty="0">
              <a:latin typeface="+mj-lt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35F48F45-8375-8F06-BF9D-CD038E0C024F}"/>
              </a:ext>
            </a:extLst>
          </p:cNvPr>
          <p:cNvSpPr txBox="1">
            <a:spLocks/>
          </p:cNvSpPr>
          <p:nvPr/>
        </p:nvSpPr>
        <p:spPr>
          <a:xfrm>
            <a:off x="990599" y="518051"/>
            <a:ext cx="108374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itchFamily="18" charset="0"/>
                <a:ea typeface="+mn-ea"/>
                <a:cs typeface="Times New Roman" pitchFamily="18" charset="0"/>
              </a:rPr>
              <a:t>Proportions of Seven Indicators Becoming the Highest Score</a:t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12D151E-6D57-6322-E0A5-06512BBE7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647913"/>
              </p:ext>
            </p:extLst>
          </p:nvPr>
        </p:nvGraphicFramePr>
        <p:xfrm>
          <a:off x="7528559" y="2050433"/>
          <a:ext cx="4026409" cy="1932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209">
                  <a:extLst>
                    <a:ext uri="{9D8B030D-6E8A-4147-A177-3AD203B41FA5}">
                      <a16:colId xmlns:a16="http://schemas.microsoft.com/office/drawing/2014/main" val="3820070821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3187481921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3342421702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1378093333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1384808053"/>
                    </a:ext>
                  </a:extLst>
                </a:gridCol>
                <a:gridCol w="621040">
                  <a:extLst>
                    <a:ext uri="{9D8B030D-6E8A-4147-A177-3AD203B41FA5}">
                      <a16:colId xmlns:a16="http://schemas.microsoft.com/office/drawing/2014/main" val="140795339"/>
                    </a:ext>
                  </a:extLst>
                </a:gridCol>
              </a:tblGrid>
              <a:tr h="386494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006859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Partial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348509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Game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51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8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8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8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7A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363761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Slam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590308"/>
                  </a:ext>
                </a:extLst>
              </a:tr>
              <a:tr h="3864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Grand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457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465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355330-FE47-A303-C63D-4AEE51D4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35F48F45-8375-8F06-BF9D-CD038E0C024F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8447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itchFamily="18" charset="0"/>
                <a:ea typeface="+mn-ea"/>
                <a:cs typeface="Times New Roman" pitchFamily="18" charset="0"/>
              </a:rPr>
              <a:t>Random Forest Compared with NN Model(1/2)</a:t>
            </a:r>
            <a:endParaRPr lang="zh-TW" altLang="en-US" dirty="0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9521324E-9963-5C78-A487-02878457CAA3}"/>
              </a:ext>
            </a:extLst>
          </p:cNvPr>
          <p:cNvGrpSpPr/>
          <p:nvPr/>
        </p:nvGrpSpPr>
        <p:grpSpPr>
          <a:xfrm>
            <a:off x="2641569" y="2106415"/>
            <a:ext cx="6344982" cy="4615060"/>
            <a:chOff x="5232519" y="1787968"/>
            <a:chExt cx="5885805" cy="4281075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B451C498-4406-B220-9C3B-DF34B86DD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32519" y="1787968"/>
              <a:ext cx="5885805" cy="4281075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8034135" y="5730701"/>
              <a:ext cx="703465" cy="29386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內容版面配置區 8">
            <a:extLst>
              <a:ext uri="{FF2B5EF4-FFF2-40B4-BE49-F238E27FC236}">
                <a16:creationId xmlns:a16="http://schemas.microsoft.com/office/drawing/2014/main" id="{87C65988-75EA-3235-CB42-53B731708EA5}"/>
              </a:ext>
            </a:extLst>
          </p:cNvPr>
          <p:cNvSpPr txBox="1">
            <a:spLocks/>
          </p:cNvSpPr>
          <p:nvPr/>
        </p:nvSpPr>
        <p:spPr>
          <a:xfrm>
            <a:off x="838200" y="1575251"/>
            <a:ext cx="11201400" cy="4729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+mj-lt"/>
              </a:rPr>
              <a:t>Experiments are performed one time on the same training and testing sets</a:t>
            </a:r>
            <a:endParaRPr lang="en-US" altLang="zh-TW" dirty="0">
              <a:solidFill>
                <a:srgbClr val="D4AFE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70023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B1F64820-52FF-3A66-C337-5C71BE39A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353" y="3105713"/>
            <a:ext cx="8811284" cy="2031556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355330-FE47-A303-C63D-4AEE51D4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35F48F45-8375-8F06-BF9D-CD038E0C024F}"/>
              </a:ext>
            </a:extLst>
          </p:cNvPr>
          <p:cNvSpPr txBox="1">
            <a:spLocks/>
          </p:cNvSpPr>
          <p:nvPr/>
        </p:nvSpPr>
        <p:spPr>
          <a:xfrm>
            <a:off x="990599" y="517525"/>
            <a:ext cx="1085565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itchFamily="18" charset="0"/>
                <a:ea typeface="+mn-ea"/>
                <a:cs typeface="Times New Roman" pitchFamily="18" charset="0"/>
              </a:rPr>
              <a:t>Random Forest Compared with NN Model(2/2)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B6A34E-B063-3666-49BF-E3A61AA3E9D2}"/>
              </a:ext>
            </a:extLst>
          </p:cNvPr>
          <p:cNvSpPr/>
          <p:nvPr/>
        </p:nvSpPr>
        <p:spPr>
          <a:xfrm>
            <a:off x="5493023" y="4601727"/>
            <a:ext cx="1398316" cy="4584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內容版面配置區 8">
            <a:extLst>
              <a:ext uri="{FF2B5EF4-FFF2-40B4-BE49-F238E27FC236}">
                <a16:creationId xmlns:a16="http://schemas.microsoft.com/office/drawing/2014/main" id="{51349C09-4878-65C0-2268-D2911592325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9951720" cy="4729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+mj-lt"/>
              </a:rPr>
              <a:t>Random Forest is better than NNs.</a:t>
            </a:r>
          </a:p>
          <a:p>
            <a:r>
              <a:rPr lang="en-US" altLang="zh-TW" dirty="0">
                <a:latin typeface="+mj-lt"/>
              </a:rPr>
              <a:t>Feature extraction is helpful for predicting the ﬁnal contract.</a:t>
            </a:r>
          </a:p>
        </p:txBody>
      </p:sp>
    </p:spTree>
    <p:extLst>
      <p:ext uri="{BB962C8B-B14F-4D97-AF65-F5344CB8AC3E}">
        <p14:creationId xmlns:p14="http://schemas.microsoft.com/office/powerpoint/2010/main" val="197747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5F6881FD-8F39-DA6C-59B0-F9E12C3B5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812" y="2039318"/>
            <a:ext cx="7052970" cy="445862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355330-FE47-A303-C63D-4AEE51D4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35F48F45-8375-8F06-BF9D-CD038E0C024F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itchFamily="18" charset="0"/>
                <a:ea typeface="+mn-ea"/>
                <a:cs typeface="Times New Roman" pitchFamily="18" charset="0"/>
              </a:rPr>
              <a:t>Experimental Result: Random Forests (1/2)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0391775" y="6048541"/>
            <a:ext cx="680416" cy="3906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65D8B43-6A55-EBF8-0088-C790FA435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69" y="4395344"/>
            <a:ext cx="4322555" cy="212455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3388415-81C7-C9CF-7F02-A4336BA81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104" y="2093748"/>
            <a:ext cx="4322555" cy="2099042"/>
          </a:xfrm>
          <a:prstGeom prst="rect">
            <a:avLst/>
          </a:prstGeom>
        </p:spPr>
      </p:pic>
      <p:sp>
        <p:nvSpPr>
          <p:cNvPr id="3" name="內容版面配置區 8">
            <a:extLst>
              <a:ext uri="{FF2B5EF4-FFF2-40B4-BE49-F238E27FC236}">
                <a16:creationId xmlns:a16="http://schemas.microsoft.com/office/drawing/2014/main" id="{CC5B1147-9108-60AC-A3CF-0A3733DC8E2E}"/>
              </a:ext>
            </a:extLst>
          </p:cNvPr>
          <p:cNvSpPr txBox="1">
            <a:spLocks/>
          </p:cNvSpPr>
          <p:nvPr/>
        </p:nvSpPr>
        <p:spPr>
          <a:xfrm>
            <a:off x="838200" y="1575251"/>
            <a:ext cx="9951720" cy="4729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+mj-lt"/>
              </a:rPr>
              <a:t>5-fold cross-validation experiments are performed ten times</a:t>
            </a:r>
            <a:endParaRPr lang="en-US" altLang="zh-TW" dirty="0">
              <a:solidFill>
                <a:srgbClr val="D4AFE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04647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355330-FE47-A303-C63D-4AEE51D4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35F48F45-8375-8F06-BF9D-CD038E0C024F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itchFamily="18" charset="0"/>
                <a:ea typeface="+mn-ea"/>
                <a:cs typeface="Times New Roman" pitchFamily="18" charset="0"/>
              </a:rPr>
              <a:t>Experimental Result: Random Forests (2/2)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30B63CE-CEEC-76CE-003B-8BB67DDC2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377" y="3249898"/>
            <a:ext cx="6711246" cy="170100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815068" y="4392971"/>
            <a:ext cx="1544092" cy="4866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059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355330-FE47-A303-C63D-4AEE51D4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13289-1A93-4CFE-9211-B525CF4EEED4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35F48F45-8375-8F06-BF9D-CD038E0C024F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itchFamily="18" charset="0"/>
                <a:ea typeface="+mn-ea"/>
                <a:cs typeface="Times New Roman" pitchFamily="18" charset="0"/>
              </a:rPr>
              <a:t>Conclusion</a:t>
            </a:r>
            <a:endParaRPr lang="zh-TW" altLang="en-US" dirty="0"/>
          </a:p>
        </p:txBody>
      </p:sp>
      <p:sp>
        <p:nvSpPr>
          <p:cNvPr id="5" name="內容版面配置區 8">
            <a:extLst>
              <a:ext uri="{FF2B5EF4-FFF2-40B4-BE49-F238E27FC236}">
                <a16:creationId xmlns:a16="http://schemas.microsoft.com/office/drawing/2014/main" id="{82D44590-FABB-BCA0-6F42-E0E14220356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9951720" cy="4729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+mj-lt"/>
              </a:rPr>
              <a:t>Propose the two-stage prediction with random forest models to predict the suit and game category.</a:t>
            </a:r>
          </a:p>
          <a:p>
            <a:r>
              <a:rPr lang="en-US" altLang="zh-TW" dirty="0">
                <a:latin typeface="+mj-lt"/>
              </a:rPr>
              <a:t>Achieve an accuracy of 0.773 in prediction of the most suitable contract.</a:t>
            </a:r>
          </a:p>
          <a:p>
            <a:r>
              <a:rPr lang="en-US" altLang="zh-TW" dirty="0">
                <a:latin typeface="+mj-lt"/>
              </a:rPr>
              <a:t>Achieve an average 0.212 IMP advantage over the BBO system in ten experiments.</a:t>
            </a:r>
          </a:p>
          <a:p>
            <a:endParaRPr lang="en-US" altLang="zh-TW" dirty="0">
              <a:solidFill>
                <a:srgbClr val="D4AFE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07836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A6D9A0-AB49-223D-0C0B-853156ECCB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Thanks for listening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BD97FA6-9549-E26F-085D-E17E65B0A3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0203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論文">
      <a:majorFont>
        <a:latin typeface="Times New Roman"/>
        <a:ea typeface="標楷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19550</TotalTime>
  <Words>1824</Words>
  <Application>Microsoft Macintosh PowerPoint</Application>
  <PresentationFormat>寬螢幕</PresentationFormat>
  <Paragraphs>1145</Paragraphs>
  <Slides>22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3" baseType="lpstr">
      <vt:lpstr>微軟正黑體</vt:lpstr>
      <vt:lpstr>新細明體</vt:lpstr>
      <vt:lpstr>標楷體</vt:lpstr>
      <vt:lpstr>Sabon Next LT</vt:lpstr>
      <vt:lpstr>Arial</vt:lpstr>
      <vt:lpstr>Calibri</vt:lpstr>
      <vt:lpstr>Cambria Math</vt:lpstr>
      <vt:lpstr>Courier New</vt:lpstr>
      <vt:lpstr>Symbol</vt:lpstr>
      <vt:lpstr>Times New Roman</vt:lpstr>
      <vt:lpstr>Office 佈景主題</vt:lpstr>
      <vt:lpstr>The Prediction of the Most Suitable Contract in  Non-competitive Bridge Bidding</vt:lpstr>
      <vt:lpstr>Contract Bridge</vt:lpstr>
      <vt:lpstr>Bridge Score Calculation</vt:lpstr>
      <vt:lpstr>Hidden Messages in Bidding</vt:lpstr>
      <vt:lpstr>Goal of the Predictive Model</vt:lpstr>
      <vt:lpstr>Dataset - BBO Solitaire’s “Just Declare”</vt:lpstr>
      <vt:lpstr>The Issue of Luck in Bridge</vt:lpstr>
      <vt:lpstr>Which is the Best Contract?</vt:lpstr>
      <vt:lpstr>More than One Contracts are the Best</vt:lpstr>
      <vt:lpstr>Which is the Most Suitable Contract?</vt:lpstr>
      <vt:lpstr>Dataset - BBO Solitaire’s “Just Declare”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Thanks for listening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Model for Predicting the Optimal Bidding Contract in Bridge No Competitive Bidding</dc:title>
  <dc:creator>M103040019</dc:creator>
  <cp:lastModifiedBy>Microsoft Office 使用者</cp:lastModifiedBy>
  <cp:revision>87</cp:revision>
  <dcterms:created xsi:type="dcterms:W3CDTF">2023-03-14T10:21:50Z</dcterms:created>
  <dcterms:modified xsi:type="dcterms:W3CDTF">2023-11-21T10:01:19Z</dcterms:modified>
</cp:coreProperties>
</file>