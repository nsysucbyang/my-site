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8"/>
  </p:notesMasterIdLst>
  <p:sldIdLst>
    <p:sldId id="256" r:id="rId2"/>
    <p:sldId id="257" r:id="rId3"/>
    <p:sldId id="280" r:id="rId4"/>
    <p:sldId id="297" r:id="rId5"/>
    <p:sldId id="258" r:id="rId6"/>
    <p:sldId id="308" r:id="rId7"/>
    <p:sldId id="307" r:id="rId8"/>
    <p:sldId id="299" r:id="rId9"/>
    <p:sldId id="300" r:id="rId10"/>
    <p:sldId id="301" r:id="rId11"/>
    <p:sldId id="302" r:id="rId12"/>
    <p:sldId id="303" r:id="rId13"/>
    <p:sldId id="304" r:id="rId14"/>
    <p:sldId id="305" r:id="rId15"/>
    <p:sldId id="306" r:id="rId16"/>
    <p:sldId id="295"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54"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5011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96458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837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6657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49092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22454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93862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91727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29563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45463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8521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65053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e56bd871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1e56bd8716d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TW"/>
              <a:t>Given a string S of length n, an integer p ∈ [1..n] is a period of S if S[i] = S[i + p] for all i ∈ [1..n − p].</a:t>
            </a:r>
            <a:endParaRPr/>
          </a:p>
          <a:p>
            <a:pPr marL="0" lvl="0" indent="0" algn="l" rtl="0">
              <a:lnSpc>
                <a:spcPct val="100000"/>
              </a:lnSpc>
              <a:spcBef>
                <a:spcPts val="0"/>
              </a:spcBef>
              <a:spcAft>
                <a:spcPts val="0"/>
              </a:spcAft>
              <a:buSzPts val="1100"/>
              <a:buNone/>
            </a:pPr>
            <a:r>
              <a:rPr lang="zh-TW"/>
              <a:t>S[|S| − p + 1] = c</a:t>
            </a:r>
            <a:endParaRPr/>
          </a:p>
        </p:txBody>
      </p:sp>
    </p:spTree>
    <p:extLst>
      <p:ext uri="{BB962C8B-B14F-4D97-AF65-F5344CB8AC3E}">
        <p14:creationId xmlns:p14="http://schemas.microsoft.com/office/powerpoint/2010/main" val="151893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ts val="5778"/>
              <a:buNone/>
            </a:pPr>
            <a:r>
              <a:rPr lang="en-US" altLang="zh-TW" sz="4800" dirty="0">
                <a:latin typeface="Times New Roman"/>
                <a:ea typeface="Times New Roman"/>
                <a:cs typeface="Times New Roman"/>
                <a:sym typeface="Times New Roman"/>
              </a:rPr>
              <a:t>Henry V: A linear time algorithm for solving the N-Queens Problem using only 5 patterns</a:t>
            </a:r>
            <a:endParaRPr lang="en-US" sz="4800"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100"/>
              <a:buNone/>
            </a:pPr>
            <a:r>
              <a:rPr lang="pl-PL" altLang="zh-TW" sz="1800" dirty="0">
                <a:solidFill>
                  <a:schemeClr val="dk1"/>
                </a:solidFill>
                <a:latin typeface="Times New Roman"/>
                <a:ea typeface="Times New Roman"/>
                <a:cs typeface="Times New Roman"/>
                <a:sym typeface="Times New Roman"/>
              </a:rPr>
              <a:t>Ali Dehghani</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Reza Namvar</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Abdullah Khalili</a:t>
            </a:r>
            <a:r>
              <a:rPr lang="en-US" altLang="zh-TW" sz="1800" dirty="0">
                <a:solidFill>
                  <a:schemeClr val="dk1"/>
                </a:solidFill>
                <a:latin typeface="Times New Roman"/>
                <a:ea typeface="Times New Roman"/>
                <a:cs typeface="Times New Roman"/>
                <a:sym typeface="Times New Roman"/>
              </a:rPr>
              <a:t> </a:t>
            </a:r>
          </a:p>
          <a:p>
            <a:pPr marL="0" lvl="0" indent="0" algn="ctr" rtl="0">
              <a:lnSpc>
                <a:spcPct val="100000"/>
              </a:lnSpc>
              <a:spcBef>
                <a:spcPts val="0"/>
              </a:spcBef>
              <a:spcAft>
                <a:spcPts val="0"/>
              </a:spcAft>
              <a:buSzPts val="1100"/>
              <a:buNone/>
            </a:pPr>
            <a:r>
              <a:rPr lang="en-US" altLang="zh-TW" sz="1800" dirty="0">
                <a:solidFill>
                  <a:schemeClr val="dk1"/>
                </a:solidFill>
                <a:latin typeface="Times New Roman"/>
                <a:ea typeface="Times New Roman"/>
                <a:cs typeface="Times New Roman"/>
                <a:sym typeface="Times New Roman"/>
              </a:rPr>
              <a:t>28th International Computer Conference, Computer Society of Iran (CSICC), Tehran, Iran</a:t>
            </a:r>
            <a:r>
              <a:rPr lang="pl-PL" altLang="zh-TW" sz="1800" dirty="0">
                <a:solidFill>
                  <a:schemeClr val="dk1"/>
                </a:solidFill>
                <a:latin typeface="Times New Roman"/>
                <a:ea typeface="Times New Roman"/>
                <a:cs typeface="Times New Roman"/>
                <a:sym typeface="Times New Roman"/>
              </a:rPr>
              <a:t>,</a:t>
            </a:r>
            <a:r>
              <a:rPr lang="en-US" altLang="zh-TW" sz="1800" dirty="0">
                <a:solidFill>
                  <a:schemeClr val="dk1"/>
                </a:solidFill>
                <a:latin typeface="Times New Roman"/>
                <a:ea typeface="Times New Roman"/>
                <a:cs typeface="Times New Roman"/>
                <a:sym typeface="Times New Roman"/>
              </a:rPr>
              <a:t> 25</a:t>
            </a:r>
            <a:r>
              <a:rPr lang="pl-PL" altLang="zh-TW" sz="1800" dirty="0">
                <a:solidFill>
                  <a:schemeClr val="dk1"/>
                </a:solidFill>
                <a:latin typeface="Times New Roman"/>
                <a:ea typeface="Times New Roman"/>
                <a:cs typeface="Times New Roman"/>
                <a:sym typeface="Times New Roman"/>
              </a:rPr>
              <a:t>-</a:t>
            </a:r>
            <a:r>
              <a:rPr lang="en-US" altLang="zh-TW" sz="1800" dirty="0">
                <a:solidFill>
                  <a:schemeClr val="dk1"/>
                </a:solidFill>
                <a:latin typeface="Times New Roman"/>
                <a:ea typeface="Times New Roman"/>
                <a:cs typeface="Times New Roman"/>
                <a:sym typeface="Times New Roman"/>
              </a:rPr>
              <a:t>26 </a:t>
            </a:r>
            <a:r>
              <a:rPr lang="pl-PL" altLang="zh-TW" sz="1800" dirty="0">
                <a:solidFill>
                  <a:schemeClr val="dk1"/>
                </a:solidFill>
                <a:latin typeface="Times New Roman"/>
                <a:ea typeface="Times New Roman"/>
                <a:cs typeface="Times New Roman"/>
                <a:sym typeface="Times New Roman"/>
              </a:rPr>
              <a:t>J</a:t>
            </a:r>
            <a:r>
              <a:rPr lang="en-US" altLang="zh-TW" sz="1800" dirty="0">
                <a:solidFill>
                  <a:schemeClr val="dk1"/>
                </a:solidFill>
                <a:latin typeface="Times New Roman"/>
                <a:ea typeface="Times New Roman"/>
                <a:cs typeface="Times New Roman"/>
                <a:sym typeface="Times New Roman"/>
              </a:rPr>
              <a:t>an.</a:t>
            </a:r>
            <a:r>
              <a:rPr lang="pl-PL" altLang="zh-TW" sz="1800" dirty="0">
                <a:solidFill>
                  <a:schemeClr val="dk1"/>
                </a:solidFill>
                <a:latin typeface="Times New Roman"/>
                <a:ea typeface="Times New Roman"/>
                <a:cs typeface="Times New Roman"/>
                <a:sym typeface="Times New Roman"/>
              </a:rPr>
              <a:t> 20</a:t>
            </a:r>
            <a:r>
              <a:rPr lang="en-US" altLang="zh-TW" sz="1800" dirty="0">
                <a:solidFill>
                  <a:schemeClr val="dk1"/>
                </a:solidFill>
                <a:latin typeface="Times New Roman"/>
                <a:ea typeface="Times New Roman"/>
                <a:cs typeface="Times New Roman"/>
                <a:sym typeface="Times New Roman"/>
              </a:rPr>
              <a:t>23</a:t>
            </a:r>
            <a:endParaRPr lang="pl-PL" sz="1800" dirty="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Presenter: </a:t>
            </a:r>
            <a:r>
              <a:rPr lang="zh-TW" sz="2400" dirty="0">
                <a:latin typeface="Times New Roman"/>
                <a:ea typeface="Times New Roman"/>
                <a:cs typeface="Times New Roman"/>
                <a:sym typeface="Times New Roman"/>
              </a:rPr>
              <a:t>Hsin-Chang Yu</a:t>
            </a:r>
            <a:endParaRPr sz="2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Date: </a:t>
            </a:r>
            <a:r>
              <a:rPr lang="en-US" altLang="zh-TW" sz="2400" b="0" i="0" u="none" strike="noStrike" cap="none" dirty="0">
                <a:solidFill>
                  <a:srgbClr val="000000"/>
                </a:solidFill>
                <a:latin typeface="Times New Roman"/>
                <a:ea typeface="Times New Roman"/>
                <a:cs typeface="Times New Roman"/>
                <a:sym typeface="Times New Roman"/>
              </a:rPr>
              <a:t>Nov</a:t>
            </a:r>
            <a:r>
              <a:rPr lang="zh-TW" sz="2400" b="0" i="0" u="none" strike="noStrike" cap="none" dirty="0">
                <a:solidFill>
                  <a:srgbClr val="000000"/>
                </a:solidFill>
                <a:latin typeface="Times New Roman"/>
                <a:ea typeface="Times New Roman"/>
                <a:cs typeface="Times New Roman"/>
                <a:sym typeface="Times New Roman"/>
              </a:rPr>
              <a:t>. </a:t>
            </a:r>
            <a:r>
              <a:rPr lang="en-US" altLang="zh-TW" sz="2400" dirty="0">
                <a:latin typeface="Times New Roman"/>
                <a:ea typeface="Times New Roman"/>
                <a:cs typeface="Times New Roman"/>
                <a:sym typeface="Times New Roman"/>
              </a:rPr>
              <a:t>21</a:t>
            </a:r>
            <a:r>
              <a:rPr lang="zh-TW" sz="2400" b="0" i="0" u="none" strike="noStrike" cap="none" dirty="0">
                <a:solidFill>
                  <a:srgbClr val="000000"/>
                </a:solidFill>
                <a:latin typeface="Times New Roman"/>
                <a:ea typeface="Times New Roman"/>
                <a:cs typeface="Times New Roman"/>
                <a:sym typeface="Times New Roman"/>
              </a:rPr>
              <a:t>, 2023</a:t>
            </a: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4234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It has been known that the time complexity of solving the N-Queens problem, a classic problem with many applications in computer science is Nondeterministic Polynomial (NP). Many different approaches have been proposed for solving the problem since its first presentation in 1848 including genetic algorithms, brute force search and propositional logic statements.</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4234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In this paper, a novel idea called Layouts have been proposed to solve this problem in θ(n) time complexity. Layouts are patterns for placing queens on the chessboard. Correctness of the proposed approach has been proven for all natural numbers using proof by contradiction and exhaustion.</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3</a:t>
            </a:fld>
            <a:endParaRPr/>
          </a:p>
        </p:txBody>
      </p:sp>
    </p:spTree>
    <p:extLst>
      <p:ext uri="{BB962C8B-B14F-4D97-AF65-F5344CB8AC3E}">
        <p14:creationId xmlns:p14="http://schemas.microsoft.com/office/powerpoint/2010/main" val="823480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4234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It is shown that by using only 5 layouts, N-Queens with any size can be solved in linear time. The proposed approach has been verified by being applied to 60 different sizes of the N-Queens problem where the size has been chosen by randomly selecting a number between 1000 and 10000.</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4</a:t>
            </a:fld>
            <a:endParaRPr/>
          </a:p>
        </p:txBody>
      </p:sp>
    </p:spTree>
    <p:extLst>
      <p:ext uri="{BB962C8B-B14F-4D97-AF65-F5344CB8AC3E}">
        <p14:creationId xmlns:p14="http://schemas.microsoft.com/office/powerpoint/2010/main" val="4125964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N-Queens Problem</a:t>
            </a:r>
            <a:endParaRPr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5</a:t>
            </a:fld>
            <a:endParaRPr/>
          </a:p>
        </p:txBody>
      </p:sp>
      <p:pic>
        <p:nvPicPr>
          <p:cNvPr id="3" name="圖片 2">
            <a:extLst>
              <a:ext uri="{FF2B5EF4-FFF2-40B4-BE49-F238E27FC236}">
                <a16:creationId xmlns:a16="http://schemas.microsoft.com/office/drawing/2014/main" id="{6A11489F-D8CC-4B5D-B212-7545353F40D7}"/>
              </a:ext>
            </a:extLst>
          </p:cNvPr>
          <p:cNvPicPr>
            <a:picLocks noChangeAspect="1"/>
          </p:cNvPicPr>
          <p:nvPr/>
        </p:nvPicPr>
        <p:blipFill>
          <a:blip r:embed="rId3"/>
          <a:stretch>
            <a:fillRect/>
          </a:stretch>
        </p:blipFill>
        <p:spPr>
          <a:xfrm>
            <a:off x="3041837" y="442325"/>
            <a:ext cx="4212852" cy="42208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7" name="圖片 6">
            <a:extLst>
              <a:ext uri="{FF2B5EF4-FFF2-40B4-BE49-F238E27FC236}">
                <a16:creationId xmlns:a16="http://schemas.microsoft.com/office/drawing/2014/main" id="{A5C7974B-DB22-4C86-8FEC-72FDF6202838}"/>
              </a:ext>
            </a:extLst>
          </p:cNvPr>
          <p:cNvPicPr>
            <a:picLocks noChangeAspect="1"/>
          </p:cNvPicPr>
          <p:nvPr/>
        </p:nvPicPr>
        <p:blipFill>
          <a:blip r:embed="rId3"/>
          <a:stretch>
            <a:fillRect/>
          </a:stretch>
        </p:blipFill>
        <p:spPr>
          <a:xfrm>
            <a:off x="0" y="806750"/>
            <a:ext cx="9144000" cy="3950597"/>
          </a:xfrm>
          <a:prstGeom prst="rect">
            <a:avLst/>
          </a:prstGeom>
        </p:spPr>
      </p:pic>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5 Layouts</a:t>
            </a:r>
            <a:endParaRPr dirty="0">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6</a:t>
            </a:fld>
            <a:endParaRPr/>
          </a:p>
        </p:txBody>
      </p:sp>
    </p:spTree>
    <p:extLst>
      <p:ext uri="{BB962C8B-B14F-4D97-AF65-F5344CB8AC3E}">
        <p14:creationId xmlns:p14="http://schemas.microsoft.com/office/powerpoint/2010/main" val="869458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Layout 1</a:t>
            </a:r>
            <a:endParaRPr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7</a:t>
            </a:fld>
            <a:endParaRPr/>
          </a:p>
        </p:txBody>
      </p:sp>
      <p:pic>
        <p:nvPicPr>
          <p:cNvPr id="4" name="圖片 3">
            <a:extLst>
              <a:ext uri="{FF2B5EF4-FFF2-40B4-BE49-F238E27FC236}">
                <a16:creationId xmlns:a16="http://schemas.microsoft.com/office/drawing/2014/main" id="{15A9BED8-ACAA-4EAA-9233-1E68548CC37F}"/>
              </a:ext>
            </a:extLst>
          </p:cNvPr>
          <p:cNvPicPr>
            <a:picLocks noChangeAspect="1"/>
          </p:cNvPicPr>
          <p:nvPr/>
        </p:nvPicPr>
        <p:blipFill>
          <a:blip r:embed="rId3"/>
          <a:stretch>
            <a:fillRect/>
          </a:stretch>
        </p:blipFill>
        <p:spPr>
          <a:xfrm>
            <a:off x="4904958" y="157425"/>
            <a:ext cx="4116200" cy="1567523"/>
          </a:xfrm>
          <a:prstGeom prst="rect">
            <a:avLst/>
          </a:prstGeom>
        </p:spPr>
      </p:pic>
      <p:pic>
        <p:nvPicPr>
          <p:cNvPr id="8" name="圖片 7">
            <a:extLst>
              <a:ext uri="{FF2B5EF4-FFF2-40B4-BE49-F238E27FC236}">
                <a16:creationId xmlns:a16="http://schemas.microsoft.com/office/drawing/2014/main" id="{DABA67D4-2307-4482-A999-5F04400CD3D6}"/>
              </a:ext>
            </a:extLst>
          </p:cNvPr>
          <p:cNvPicPr>
            <a:picLocks noChangeAspect="1"/>
          </p:cNvPicPr>
          <p:nvPr/>
        </p:nvPicPr>
        <p:blipFill>
          <a:blip r:embed="rId4"/>
          <a:stretch>
            <a:fillRect/>
          </a:stretch>
        </p:blipFill>
        <p:spPr>
          <a:xfrm>
            <a:off x="968188" y="1017725"/>
            <a:ext cx="3676369" cy="3762438"/>
          </a:xfrm>
          <a:prstGeom prst="rect">
            <a:avLst/>
          </a:prstGeom>
        </p:spPr>
      </p:pic>
      <p:sp>
        <p:nvSpPr>
          <p:cNvPr id="14" name="Google Shape;78;p16">
            <a:extLst>
              <a:ext uri="{FF2B5EF4-FFF2-40B4-BE49-F238E27FC236}">
                <a16:creationId xmlns:a16="http://schemas.microsoft.com/office/drawing/2014/main" id="{73A2F9CF-02C8-44D4-BDF1-AD21F31246F1}"/>
              </a:ext>
            </a:extLst>
          </p:cNvPr>
          <p:cNvSpPr txBox="1"/>
          <p:nvPr/>
        </p:nvSpPr>
        <p:spPr>
          <a:xfrm>
            <a:off x="4933912" y="1695055"/>
            <a:ext cx="3241900" cy="923299"/>
          </a:xfrm>
          <a:prstGeom prst="rect">
            <a:avLst/>
          </a:prstGeom>
          <a:noFill/>
          <a:ln>
            <a:noFill/>
          </a:ln>
        </p:spPr>
        <p:txBody>
          <a:bodyPr spcFirstLastPara="1" wrap="square" lIns="91425" tIns="91425" rIns="91425" bIns="91425" anchor="t" anchorCtr="0">
            <a:spAutoFit/>
          </a:bodyPr>
          <a:lstStyle/>
          <a:p>
            <a:pPr>
              <a:buSzPts val="2400"/>
            </a:pPr>
            <a:r>
              <a:rPr lang="en-US" altLang="zh-TW" sz="2400" dirty="0">
                <a:solidFill>
                  <a:schemeClr val="dk1"/>
                </a:solidFill>
                <a:latin typeface="Times New Roman"/>
                <a:ea typeface="Times New Roman"/>
                <a:cs typeface="Times New Roman"/>
                <a:sym typeface="Times New Roman"/>
              </a:rPr>
              <a:t>N is in the form of </a:t>
            </a:r>
          </a:p>
          <a:p>
            <a:pPr>
              <a:buSzPts val="2400"/>
            </a:pPr>
            <a:r>
              <a:rPr lang="en-US" altLang="zh-TW" sz="2400" dirty="0">
                <a:solidFill>
                  <a:schemeClr val="dk1"/>
                </a:solidFill>
                <a:latin typeface="Times New Roman"/>
                <a:ea typeface="Times New Roman"/>
                <a:cs typeface="Times New Roman"/>
                <a:sym typeface="Times New Roman"/>
              </a:rPr>
              <a:t>6i, 6i+1, 6i+4, 6i+5</a:t>
            </a:r>
            <a:endParaRPr lang="en-US"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60802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Layout 2</a:t>
            </a:r>
            <a:endParaRPr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8</a:t>
            </a:fld>
            <a:endParaRPr/>
          </a:p>
        </p:txBody>
      </p:sp>
      <p:pic>
        <p:nvPicPr>
          <p:cNvPr id="3" name="圖片 2">
            <a:extLst>
              <a:ext uri="{FF2B5EF4-FFF2-40B4-BE49-F238E27FC236}">
                <a16:creationId xmlns:a16="http://schemas.microsoft.com/office/drawing/2014/main" id="{075358EC-629B-4B47-97E9-76495A743595}"/>
              </a:ext>
            </a:extLst>
          </p:cNvPr>
          <p:cNvPicPr>
            <a:picLocks noChangeAspect="1"/>
          </p:cNvPicPr>
          <p:nvPr/>
        </p:nvPicPr>
        <p:blipFill>
          <a:blip r:embed="rId3"/>
          <a:stretch>
            <a:fillRect/>
          </a:stretch>
        </p:blipFill>
        <p:spPr>
          <a:xfrm>
            <a:off x="4956761" y="250285"/>
            <a:ext cx="3875539" cy="3030797"/>
          </a:xfrm>
          <a:prstGeom prst="rect">
            <a:avLst/>
          </a:prstGeom>
        </p:spPr>
      </p:pic>
      <p:pic>
        <p:nvPicPr>
          <p:cNvPr id="6" name="圖片 5">
            <a:extLst>
              <a:ext uri="{FF2B5EF4-FFF2-40B4-BE49-F238E27FC236}">
                <a16:creationId xmlns:a16="http://schemas.microsoft.com/office/drawing/2014/main" id="{931D07CB-0212-49F5-BF1F-8647EDEC334C}"/>
              </a:ext>
            </a:extLst>
          </p:cNvPr>
          <p:cNvPicPr>
            <a:picLocks noChangeAspect="1"/>
          </p:cNvPicPr>
          <p:nvPr/>
        </p:nvPicPr>
        <p:blipFill>
          <a:blip r:embed="rId4"/>
          <a:stretch>
            <a:fillRect/>
          </a:stretch>
        </p:blipFill>
        <p:spPr>
          <a:xfrm>
            <a:off x="968188" y="1091622"/>
            <a:ext cx="3676369" cy="3688542"/>
          </a:xfrm>
          <a:prstGeom prst="rect">
            <a:avLst/>
          </a:prstGeom>
        </p:spPr>
      </p:pic>
      <p:sp>
        <p:nvSpPr>
          <p:cNvPr id="11" name="Google Shape;78;p16">
            <a:extLst>
              <a:ext uri="{FF2B5EF4-FFF2-40B4-BE49-F238E27FC236}">
                <a16:creationId xmlns:a16="http://schemas.microsoft.com/office/drawing/2014/main" id="{0D0AA4CE-EAFE-4B36-8F94-6442F960BDCF}"/>
              </a:ext>
            </a:extLst>
          </p:cNvPr>
          <p:cNvSpPr txBox="1"/>
          <p:nvPr/>
        </p:nvSpPr>
        <p:spPr>
          <a:xfrm>
            <a:off x="4956761" y="3341935"/>
            <a:ext cx="3241900" cy="923299"/>
          </a:xfrm>
          <a:prstGeom prst="rect">
            <a:avLst/>
          </a:prstGeom>
          <a:noFill/>
          <a:ln>
            <a:noFill/>
          </a:ln>
        </p:spPr>
        <p:txBody>
          <a:bodyPr spcFirstLastPara="1" wrap="square" lIns="91425" tIns="91425" rIns="91425" bIns="91425" anchor="t" anchorCtr="0">
            <a:spAutoFit/>
          </a:bodyPr>
          <a:lstStyle/>
          <a:p>
            <a:pPr>
              <a:buSzPts val="2400"/>
            </a:pPr>
            <a:r>
              <a:rPr lang="en-US" altLang="zh-TW" sz="2400" dirty="0">
                <a:solidFill>
                  <a:schemeClr val="dk1"/>
                </a:solidFill>
                <a:latin typeface="Times New Roman"/>
                <a:ea typeface="Times New Roman"/>
                <a:cs typeface="Times New Roman"/>
                <a:sym typeface="Times New Roman"/>
              </a:rPr>
              <a:t>N is in the form of </a:t>
            </a:r>
          </a:p>
          <a:p>
            <a:pPr>
              <a:buSzPts val="2400"/>
            </a:pPr>
            <a:r>
              <a:rPr lang="en-US" altLang="zh-TW" sz="2400" dirty="0">
                <a:solidFill>
                  <a:schemeClr val="dk1"/>
                </a:solidFill>
                <a:latin typeface="Times New Roman"/>
                <a:ea typeface="Times New Roman"/>
                <a:cs typeface="Times New Roman"/>
                <a:sym typeface="Times New Roman"/>
              </a:rPr>
              <a:t>12i+8</a:t>
            </a:r>
            <a:endParaRPr lang="en-US"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09567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Layout 3</a:t>
            </a:r>
            <a:endParaRPr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9</a:t>
            </a:fld>
            <a:endParaRPr/>
          </a:p>
        </p:txBody>
      </p:sp>
      <p:pic>
        <p:nvPicPr>
          <p:cNvPr id="4" name="圖片 3">
            <a:extLst>
              <a:ext uri="{FF2B5EF4-FFF2-40B4-BE49-F238E27FC236}">
                <a16:creationId xmlns:a16="http://schemas.microsoft.com/office/drawing/2014/main" id="{E28031B9-A2CF-42D3-8F9D-1D50A13508AE}"/>
              </a:ext>
            </a:extLst>
          </p:cNvPr>
          <p:cNvPicPr>
            <a:picLocks noChangeAspect="1"/>
          </p:cNvPicPr>
          <p:nvPr/>
        </p:nvPicPr>
        <p:blipFill>
          <a:blip r:embed="rId3"/>
          <a:stretch>
            <a:fillRect/>
          </a:stretch>
        </p:blipFill>
        <p:spPr>
          <a:xfrm>
            <a:off x="4941270" y="250285"/>
            <a:ext cx="3891030" cy="1289403"/>
          </a:xfrm>
          <a:prstGeom prst="rect">
            <a:avLst/>
          </a:prstGeom>
        </p:spPr>
      </p:pic>
      <p:pic>
        <p:nvPicPr>
          <p:cNvPr id="7" name="圖片 6">
            <a:extLst>
              <a:ext uri="{FF2B5EF4-FFF2-40B4-BE49-F238E27FC236}">
                <a16:creationId xmlns:a16="http://schemas.microsoft.com/office/drawing/2014/main" id="{E692227E-361D-4BA9-A480-C055739708FB}"/>
              </a:ext>
            </a:extLst>
          </p:cNvPr>
          <p:cNvPicPr>
            <a:picLocks noChangeAspect="1"/>
          </p:cNvPicPr>
          <p:nvPr/>
        </p:nvPicPr>
        <p:blipFill>
          <a:blip r:embed="rId4"/>
          <a:stretch>
            <a:fillRect/>
          </a:stretch>
        </p:blipFill>
        <p:spPr>
          <a:xfrm>
            <a:off x="4941270" y="1548543"/>
            <a:ext cx="3891030" cy="1871128"/>
          </a:xfrm>
          <a:prstGeom prst="rect">
            <a:avLst/>
          </a:prstGeom>
        </p:spPr>
      </p:pic>
      <p:pic>
        <p:nvPicPr>
          <p:cNvPr id="9" name="圖片 8">
            <a:extLst>
              <a:ext uri="{FF2B5EF4-FFF2-40B4-BE49-F238E27FC236}">
                <a16:creationId xmlns:a16="http://schemas.microsoft.com/office/drawing/2014/main" id="{1DCAF03E-1BDA-4F97-9C90-9DEEDE89ADCD}"/>
              </a:ext>
            </a:extLst>
          </p:cNvPr>
          <p:cNvPicPr>
            <a:picLocks noChangeAspect="1"/>
          </p:cNvPicPr>
          <p:nvPr/>
        </p:nvPicPr>
        <p:blipFill>
          <a:blip r:embed="rId5"/>
          <a:stretch>
            <a:fillRect/>
          </a:stretch>
        </p:blipFill>
        <p:spPr>
          <a:xfrm>
            <a:off x="968188" y="1080673"/>
            <a:ext cx="3676369" cy="3699491"/>
          </a:xfrm>
          <a:prstGeom prst="rect">
            <a:avLst/>
          </a:prstGeom>
        </p:spPr>
      </p:pic>
      <p:sp>
        <p:nvSpPr>
          <p:cNvPr id="13" name="Google Shape;78;p16">
            <a:extLst>
              <a:ext uri="{FF2B5EF4-FFF2-40B4-BE49-F238E27FC236}">
                <a16:creationId xmlns:a16="http://schemas.microsoft.com/office/drawing/2014/main" id="{5299700F-D3B2-47EB-8B63-E279CD553552}"/>
              </a:ext>
            </a:extLst>
          </p:cNvPr>
          <p:cNvSpPr txBox="1"/>
          <p:nvPr/>
        </p:nvSpPr>
        <p:spPr>
          <a:xfrm>
            <a:off x="4968688" y="3502528"/>
            <a:ext cx="3241900" cy="923299"/>
          </a:xfrm>
          <a:prstGeom prst="rect">
            <a:avLst/>
          </a:prstGeom>
          <a:noFill/>
          <a:ln>
            <a:noFill/>
          </a:ln>
        </p:spPr>
        <p:txBody>
          <a:bodyPr spcFirstLastPara="1" wrap="square" lIns="91425" tIns="91425" rIns="91425" bIns="91425" anchor="t" anchorCtr="0">
            <a:spAutoFit/>
          </a:bodyPr>
          <a:lstStyle/>
          <a:p>
            <a:pPr>
              <a:buSzPts val="2400"/>
            </a:pPr>
            <a:r>
              <a:rPr lang="en-US" altLang="zh-TW" sz="2400" dirty="0">
                <a:solidFill>
                  <a:schemeClr val="dk1"/>
                </a:solidFill>
                <a:latin typeface="Times New Roman"/>
                <a:ea typeface="Times New Roman"/>
                <a:cs typeface="Times New Roman"/>
                <a:sym typeface="Times New Roman"/>
              </a:rPr>
              <a:t>N is in the form of </a:t>
            </a:r>
          </a:p>
          <a:p>
            <a:pPr>
              <a:buSzPts val="2400"/>
            </a:pPr>
            <a:r>
              <a:rPr lang="en-US" altLang="zh-TW" sz="2400" dirty="0">
                <a:solidFill>
                  <a:schemeClr val="dk1"/>
                </a:solidFill>
                <a:latin typeface="Times New Roman"/>
                <a:ea typeface="Times New Roman"/>
                <a:cs typeface="Times New Roman"/>
                <a:sym typeface="Times New Roman"/>
              </a:rPr>
              <a:t>12i+2</a:t>
            </a:r>
            <a:endParaRPr lang="en-US"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82073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7" name="圖片 6">
            <a:extLst>
              <a:ext uri="{FF2B5EF4-FFF2-40B4-BE49-F238E27FC236}">
                <a16:creationId xmlns:a16="http://schemas.microsoft.com/office/drawing/2014/main" id="{5E936ED0-3206-4789-AC7B-1517BFC38EE6}"/>
              </a:ext>
            </a:extLst>
          </p:cNvPr>
          <p:cNvPicPr>
            <a:picLocks noChangeAspect="1"/>
          </p:cNvPicPr>
          <p:nvPr/>
        </p:nvPicPr>
        <p:blipFill>
          <a:blip r:embed="rId3"/>
          <a:stretch>
            <a:fillRect/>
          </a:stretch>
        </p:blipFill>
        <p:spPr>
          <a:xfrm>
            <a:off x="968188" y="1048802"/>
            <a:ext cx="3676369" cy="3734724"/>
          </a:xfrm>
          <a:prstGeom prst="rect">
            <a:avLst/>
          </a:prstGeom>
        </p:spPr>
      </p:pic>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Layout 4</a:t>
            </a:r>
            <a:endParaRPr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10</a:t>
            </a:fld>
            <a:endParaRPr/>
          </a:p>
        </p:txBody>
      </p:sp>
      <p:pic>
        <p:nvPicPr>
          <p:cNvPr id="4" name="圖片 3">
            <a:extLst>
              <a:ext uri="{FF2B5EF4-FFF2-40B4-BE49-F238E27FC236}">
                <a16:creationId xmlns:a16="http://schemas.microsoft.com/office/drawing/2014/main" id="{1F666375-927D-455B-956F-0A1D028D0872}"/>
              </a:ext>
            </a:extLst>
          </p:cNvPr>
          <p:cNvPicPr>
            <a:picLocks noChangeAspect="1"/>
          </p:cNvPicPr>
          <p:nvPr/>
        </p:nvPicPr>
        <p:blipFill>
          <a:blip r:embed="rId4"/>
          <a:stretch>
            <a:fillRect/>
          </a:stretch>
        </p:blipFill>
        <p:spPr>
          <a:xfrm>
            <a:off x="4956761" y="250285"/>
            <a:ext cx="3875539" cy="3202029"/>
          </a:xfrm>
          <a:prstGeom prst="rect">
            <a:avLst/>
          </a:prstGeom>
        </p:spPr>
      </p:pic>
      <p:sp>
        <p:nvSpPr>
          <p:cNvPr id="11" name="Google Shape;78;p16">
            <a:extLst>
              <a:ext uri="{FF2B5EF4-FFF2-40B4-BE49-F238E27FC236}">
                <a16:creationId xmlns:a16="http://schemas.microsoft.com/office/drawing/2014/main" id="{79BAD4A3-22EF-4608-B8CA-BA1B73BBBAC6}"/>
              </a:ext>
            </a:extLst>
          </p:cNvPr>
          <p:cNvSpPr txBox="1"/>
          <p:nvPr/>
        </p:nvSpPr>
        <p:spPr>
          <a:xfrm>
            <a:off x="4968688" y="3502528"/>
            <a:ext cx="3241900" cy="923299"/>
          </a:xfrm>
          <a:prstGeom prst="rect">
            <a:avLst/>
          </a:prstGeom>
          <a:noFill/>
          <a:ln>
            <a:noFill/>
          </a:ln>
        </p:spPr>
        <p:txBody>
          <a:bodyPr spcFirstLastPara="1" wrap="square" lIns="91425" tIns="91425" rIns="91425" bIns="91425" anchor="t" anchorCtr="0">
            <a:spAutoFit/>
          </a:bodyPr>
          <a:lstStyle/>
          <a:p>
            <a:pPr>
              <a:buSzPts val="2400"/>
            </a:pPr>
            <a:r>
              <a:rPr lang="en-US" altLang="zh-TW" sz="2400" dirty="0">
                <a:solidFill>
                  <a:schemeClr val="dk1"/>
                </a:solidFill>
                <a:latin typeface="Times New Roman"/>
                <a:ea typeface="Times New Roman"/>
                <a:cs typeface="Times New Roman"/>
                <a:sym typeface="Times New Roman"/>
              </a:rPr>
              <a:t>N is in the form of </a:t>
            </a:r>
          </a:p>
          <a:p>
            <a:pPr>
              <a:buSzPts val="2400"/>
            </a:pPr>
            <a:r>
              <a:rPr lang="en-US" altLang="zh-TW" sz="2400" dirty="0">
                <a:solidFill>
                  <a:schemeClr val="dk1"/>
                </a:solidFill>
                <a:latin typeface="Times New Roman"/>
                <a:ea typeface="Times New Roman"/>
                <a:cs typeface="Times New Roman"/>
                <a:sym typeface="Times New Roman"/>
              </a:rPr>
              <a:t>12i+9</a:t>
            </a:r>
            <a:endParaRPr lang="en-US"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746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9" name="圖片 8">
            <a:extLst>
              <a:ext uri="{FF2B5EF4-FFF2-40B4-BE49-F238E27FC236}">
                <a16:creationId xmlns:a16="http://schemas.microsoft.com/office/drawing/2014/main" id="{A6F4369E-D8E1-459E-A370-7CCBACEA73E2}"/>
              </a:ext>
            </a:extLst>
          </p:cNvPr>
          <p:cNvPicPr>
            <a:picLocks noChangeAspect="1"/>
          </p:cNvPicPr>
          <p:nvPr/>
        </p:nvPicPr>
        <p:blipFill>
          <a:blip r:embed="rId3"/>
          <a:stretch>
            <a:fillRect/>
          </a:stretch>
        </p:blipFill>
        <p:spPr>
          <a:xfrm>
            <a:off x="968189" y="1176353"/>
            <a:ext cx="3603812" cy="3603812"/>
          </a:xfrm>
          <a:prstGeom prst="rect">
            <a:avLst/>
          </a:prstGeom>
        </p:spPr>
      </p:pic>
      <p:pic>
        <p:nvPicPr>
          <p:cNvPr id="7" name="圖片 6">
            <a:extLst>
              <a:ext uri="{FF2B5EF4-FFF2-40B4-BE49-F238E27FC236}">
                <a16:creationId xmlns:a16="http://schemas.microsoft.com/office/drawing/2014/main" id="{ED456A15-0AB5-458C-AE36-F7D4D66C7B89}"/>
              </a:ext>
            </a:extLst>
          </p:cNvPr>
          <p:cNvPicPr>
            <a:picLocks noChangeAspect="1"/>
          </p:cNvPicPr>
          <p:nvPr/>
        </p:nvPicPr>
        <p:blipFill>
          <a:blip r:embed="rId4"/>
          <a:stretch>
            <a:fillRect/>
          </a:stretch>
        </p:blipFill>
        <p:spPr>
          <a:xfrm>
            <a:off x="4968688" y="574625"/>
            <a:ext cx="3778120" cy="2927903"/>
          </a:xfrm>
          <a:prstGeom prst="rect">
            <a:avLst/>
          </a:prstGeom>
        </p:spPr>
      </p:pic>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Layout 5</a:t>
            </a:r>
            <a:endParaRPr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11</a:t>
            </a:fld>
            <a:endParaRPr/>
          </a:p>
        </p:txBody>
      </p:sp>
      <p:pic>
        <p:nvPicPr>
          <p:cNvPr id="4" name="圖片 3">
            <a:extLst>
              <a:ext uri="{FF2B5EF4-FFF2-40B4-BE49-F238E27FC236}">
                <a16:creationId xmlns:a16="http://schemas.microsoft.com/office/drawing/2014/main" id="{F7A2D48A-1C24-4C97-88F0-BBB5BD364D84}"/>
              </a:ext>
            </a:extLst>
          </p:cNvPr>
          <p:cNvPicPr>
            <a:picLocks noChangeAspect="1"/>
          </p:cNvPicPr>
          <p:nvPr/>
        </p:nvPicPr>
        <p:blipFill>
          <a:blip r:embed="rId5"/>
          <a:stretch>
            <a:fillRect/>
          </a:stretch>
        </p:blipFill>
        <p:spPr>
          <a:xfrm>
            <a:off x="5069541" y="260300"/>
            <a:ext cx="3762759" cy="380309"/>
          </a:xfrm>
          <a:prstGeom prst="rect">
            <a:avLst/>
          </a:prstGeom>
        </p:spPr>
      </p:pic>
      <p:sp>
        <p:nvSpPr>
          <p:cNvPr id="13" name="Google Shape;78;p16">
            <a:extLst>
              <a:ext uri="{FF2B5EF4-FFF2-40B4-BE49-F238E27FC236}">
                <a16:creationId xmlns:a16="http://schemas.microsoft.com/office/drawing/2014/main" id="{AC263847-1F0F-4726-9C94-2D5501696B2D}"/>
              </a:ext>
            </a:extLst>
          </p:cNvPr>
          <p:cNvSpPr txBox="1"/>
          <p:nvPr/>
        </p:nvSpPr>
        <p:spPr>
          <a:xfrm>
            <a:off x="4968688" y="3502528"/>
            <a:ext cx="3241900" cy="923299"/>
          </a:xfrm>
          <a:prstGeom prst="rect">
            <a:avLst/>
          </a:prstGeom>
          <a:noFill/>
          <a:ln>
            <a:noFill/>
          </a:ln>
        </p:spPr>
        <p:txBody>
          <a:bodyPr spcFirstLastPara="1" wrap="square" lIns="91425" tIns="91425" rIns="91425" bIns="91425" anchor="t" anchorCtr="0">
            <a:spAutoFit/>
          </a:bodyPr>
          <a:lstStyle/>
          <a:p>
            <a:pPr>
              <a:buSzPts val="2400"/>
            </a:pPr>
            <a:r>
              <a:rPr lang="en-US" altLang="zh-TW" sz="2400" dirty="0">
                <a:solidFill>
                  <a:schemeClr val="dk1"/>
                </a:solidFill>
                <a:latin typeface="Times New Roman"/>
                <a:ea typeface="Times New Roman"/>
                <a:cs typeface="Times New Roman"/>
                <a:sym typeface="Times New Roman"/>
              </a:rPr>
              <a:t>N is in the form of </a:t>
            </a:r>
          </a:p>
          <a:p>
            <a:pPr>
              <a:buSzPts val="2400"/>
            </a:pPr>
            <a:r>
              <a:rPr lang="en-US" altLang="zh-TW" sz="2400" dirty="0">
                <a:solidFill>
                  <a:schemeClr val="dk1"/>
                </a:solidFill>
                <a:latin typeface="Times New Roman"/>
                <a:ea typeface="Times New Roman"/>
                <a:cs typeface="Times New Roman"/>
                <a:sym typeface="Times New Roman"/>
              </a:rPr>
              <a:t>12i+3</a:t>
            </a:r>
            <a:endParaRPr lang="en-US" sz="24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56194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Correctness Proof</a:t>
            </a:r>
            <a:endParaRPr lang="en-US" dirty="0">
              <a:latin typeface="Times New Roman"/>
              <a:ea typeface="Times New Roman"/>
              <a:cs typeface="Times New Roman"/>
              <a:sym typeface="Times New Roman"/>
            </a:endParaRPr>
          </a:p>
        </p:txBody>
      </p:sp>
      <p:sp>
        <p:nvSpPr>
          <p:cNvPr id="69" name="Google Shape;69;p15"/>
          <p:cNvSpPr txBox="1">
            <a:spLocks noGrp="1"/>
          </p:cNvSpPr>
          <p:nvPr>
            <p:ph type="body" idx="1"/>
          </p:nvPr>
        </p:nvSpPr>
        <p:spPr>
          <a:xfrm>
            <a:off x="311701" y="1152475"/>
            <a:ext cx="7265718" cy="3416400"/>
          </a:xfrm>
          <a:prstGeom prst="rect">
            <a:avLst/>
          </a:prstGeom>
          <a:noFill/>
          <a:ln>
            <a:noFill/>
          </a:ln>
        </p:spPr>
        <p:txBody>
          <a:bodyPr spcFirstLastPara="1" wrap="square" lIns="91425" tIns="91425" rIns="91425" bIns="91425" anchor="t" anchorCtr="0">
            <a:normAutofit/>
          </a:bodyPr>
          <a:lstStyle/>
          <a:p>
            <a:pPr indent="-457200">
              <a:buClrTx/>
              <a:buFont typeface="+mj-lt"/>
              <a:buAutoNum type="arabicPeriod"/>
            </a:pPr>
            <a:r>
              <a:rPr lang="en-US" altLang="zh-TW" sz="2400" dirty="0">
                <a:solidFill>
                  <a:schemeClr val="tx1"/>
                </a:solidFill>
                <a:latin typeface="Times New Roman"/>
                <a:ea typeface="Times New Roman"/>
                <a:cs typeface="Times New Roman"/>
                <a:sym typeface="Times New Roman"/>
              </a:rPr>
              <a:t>Proving that these five layouts can solve any case of the N-Queens problem.</a:t>
            </a:r>
          </a:p>
          <a:p>
            <a:pPr indent="-457200">
              <a:buClrTx/>
              <a:buFont typeface="+mj-lt"/>
              <a:buAutoNum type="arabicPeriod"/>
            </a:pPr>
            <a:r>
              <a:rPr lang="en-US" altLang="zh-TW" sz="2400" dirty="0">
                <a:solidFill>
                  <a:schemeClr val="tx1"/>
                </a:solidFill>
                <a:latin typeface="Times New Roman"/>
                <a:cs typeface="Times New Roman"/>
              </a:rPr>
              <a:t>Proving that when considering an  </a:t>
            </a:r>
            <a:r>
              <a:rPr lang="en-US" altLang="zh-TW" sz="2400" i="1" dirty="0">
                <a:solidFill>
                  <a:schemeClr val="tx1"/>
                </a:solidFill>
                <a:latin typeface="Times New Roman"/>
                <a:cs typeface="Times New Roman"/>
              </a:rPr>
              <a:t>N </a:t>
            </a:r>
            <a:r>
              <a:rPr lang="en-US" altLang="zh-TW" sz="2400" dirty="0">
                <a:solidFill>
                  <a:schemeClr val="tx1"/>
                </a:solidFill>
                <a:latin typeface="Times New Roman"/>
                <a:cs typeface="Times New Roman"/>
              </a:rPr>
              <a:t>× </a:t>
            </a:r>
            <a:r>
              <a:rPr lang="en-US" altLang="zh-TW" sz="2400" i="1" dirty="0">
                <a:solidFill>
                  <a:schemeClr val="tx1"/>
                </a:solidFill>
                <a:latin typeface="Times New Roman"/>
                <a:cs typeface="Times New Roman"/>
              </a:rPr>
              <a:t>N</a:t>
            </a:r>
            <a:r>
              <a:rPr lang="en-US" altLang="zh-TW" sz="2400" dirty="0">
                <a:solidFill>
                  <a:schemeClr val="tx1"/>
                </a:solidFill>
                <a:latin typeface="Times New Roman"/>
                <a:cs typeface="Times New Roman"/>
              </a:rPr>
              <a:t>  chessboard as an </a:t>
            </a:r>
            <a:r>
              <a:rPr lang="en-US" altLang="zh-TW" sz="2400" i="1" dirty="0">
                <a:solidFill>
                  <a:schemeClr val="tx1"/>
                </a:solidFill>
                <a:latin typeface="Times New Roman"/>
                <a:cs typeface="Times New Roman"/>
              </a:rPr>
              <a:t>N </a:t>
            </a:r>
            <a:r>
              <a:rPr lang="en-US" altLang="zh-TW" sz="2400" dirty="0">
                <a:solidFill>
                  <a:schemeClr val="tx1"/>
                </a:solidFill>
                <a:latin typeface="Times New Roman"/>
                <a:cs typeface="Times New Roman"/>
              </a:rPr>
              <a:t>× </a:t>
            </a:r>
            <a:r>
              <a:rPr lang="en-US" altLang="zh-TW" sz="2400" i="1" dirty="0">
                <a:solidFill>
                  <a:schemeClr val="tx1"/>
                </a:solidFill>
                <a:latin typeface="Times New Roman"/>
                <a:cs typeface="Times New Roman"/>
              </a:rPr>
              <a:t>N</a:t>
            </a:r>
            <a:r>
              <a:rPr lang="en-US" altLang="zh-TW" sz="2400" dirty="0">
                <a:solidFill>
                  <a:schemeClr val="tx1"/>
                </a:solidFill>
                <a:latin typeface="Times New Roman"/>
                <a:cs typeface="Times New Roman"/>
              </a:rPr>
              <a:t> matrix, each layout is producing a correct solution for its associated number set.</a:t>
            </a:r>
            <a:endParaRPr lang="en-US" altLang="zh-TW" sz="2400" dirty="0">
              <a:solidFill>
                <a:schemeClr val="tx1"/>
              </a:solidFill>
              <a:latin typeface="Times New Roman"/>
              <a:cs typeface="Times New Roman"/>
              <a:sym typeface="Times New Roman"/>
            </a:endParaRPr>
          </a:p>
          <a:p>
            <a:pPr lvl="0" indent="-457200" algn="l" rtl="0">
              <a:lnSpc>
                <a:spcPct val="115000"/>
              </a:lnSpc>
              <a:spcBef>
                <a:spcPts val="0"/>
              </a:spcBef>
              <a:spcAft>
                <a:spcPts val="0"/>
              </a:spcAft>
              <a:buClrTx/>
              <a:buSzPts val="1800"/>
              <a:buFont typeface="+mj-lt"/>
              <a:buAutoNum type="arabicPeriod"/>
            </a:pPr>
            <a:endParaRPr lang="en-US" sz="2400" dirty="0">
              <a:solidFill>
                <a:schemeClr val="tx1"/>
              </a:solidFill>
              <a:latin typeface="Times New Roman"/>
              <a:ea typeface="Times New Roman"/>
              <a:cs typeface="Times New Roman"/>
              <a:sym typeface="Times New Roman"/>
            </a:endParaRPr>
          </a:p>
          <a:p>
            <a:pPr lvl="0" indent="-457200" algn="l" rtl="0">
              <a:lnSpc>
                <a:spcPct val="115000"/>
              </a:lnSpc>
              <a:spcBef>
                <a:spcPts val="0"/>
              </a:spcBef>
              <a:spcAft>
                <a:spcPts val="0"/>
              </a:spcAft>
              <a:buClrTx/>
              <a:buSzPts val="1800"/>
              <a:buFont typeface="+mj-lt"/>
              <a:buAutoNum type="arabicPeriod"/>
            </a:pPr>
            <a:endParaRPr sz="2400" dirty="0">
              <a:solidFill>
                <a:schemeClr val="tx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12</a:t>
            </a:fld>
            <a:endParaRPr/>
          </a:p>
        </p:txBody>
      </p:sp>
    </p:spTree>
    <p:extLst>
      <p:ext uri="{BB962C8B-B14F-4D97-AF65-F5344CB8AC3E}">
        <p14:creationId xmlns:p14="http://schemas.microsoft.com/office/powerpoint/2010/main" val="2101771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Proof</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a:t>
            </a:r>
            <a:r>
              <a:rPr lang="en-US" altLang="zh-TW" dirty="0" err="1">
                <a:latin typeface="Times New Roman"/>
                <a:ea typeface="Times New Roman"/>
                <a:cs typeface="Times New Roman"/>
                <a:sym typeface="Times New Roman"/>
              </a:rPr>
              <a:t>i</a:t>
            </a:r>
            <a:r>
              <a:rPr lang="en-US" altLang="zh-TW" dirty="0">
                <a:latin typeface="Times New Roman"/>
                <a:ea typeface="Times New Roman"/>
                <a:cs typeface="Times New Roman"/>
                <a:sym typeface="Times New Roman"/>
              </a:rPr>
              <a:t>)</a:t>
            </a:r>
            <a:endParaRPr lang="en-US" dirty="0">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13</a:t>
            </a:fld>
            <a:endParaRPr/>
          </a:p>
        </p:txBody>
      </p:sp>
      <p:pic>
        <p:nvPicPr>
          <p:cNvPr id="7" name="圖片 6">
            <a:extLst>
              <a:ext uri="{FF2B5EF4-FFF2-40B4-BE49-F238E27FC236}">
                <a16:creationId xmlns:a16="http://schemas.microsoft.com/office/drawing/2014/main" id="{1A8C7C11-8D15-4A41-8DD1-13E64771C1B7}"/>
              </a:ext>
            </a:extLst>
          </p:cNvPr>
          <p:cNvPicPr>
            <a:picLocks noChangeAspect="1"/>
          </p:cNvPicPr>
          <p:nvPr/>
        </p:nvPicPr>
        <p:blipFill>
          <a:blip r:embed="rId3"/>
          <a:stretch>
            <a:fillRect/>
          </a:stretch>
        </p:blipFill>
        <p:spPr>
          <a:xfrm>
            <a:off x="1089633" y="1913104"/>
            <a:ext cx="3435724" cy="2856286"/>
          </a:xfrm>
          <a:prstGeom prst="rect">
            <a:avLst/>
          </a:prstGeom>
        </p:spPr>
      </p:pic>
      <p:pic>
        <p:nvPicPr>
          <p:cNvPr id="9" name="圖片 8">
            <a:extLst>
              <a:ext uri="{FF2B5EF4-FFF2-40B4-BE49-F238E27FC236}">
                <a16:creationId xmlns:a16="http://schemas.microsoft.com/office/drawing/2014/main" id="{503172A4-5BD3-459C-94BA-942EE8A291A6}"/>
              </a:ext>
            </a:extLst>
          </p:cNvPr>
          <p:cNvPicPr>
            <a:picLocks noChangeAspect="1"/>
          </p:cNvPicPr>
          <p:nvPr/>
        </p:nvPicPr>
        <p:blipFill>
          <a:blip r:embed="rId4"/>
          <a:stretch>
            <a:fillRect/>
          </a:stretch>
        </p:blipFill>
        <p:spPr>
          <a:xfrm>
            <a:off x="4908177" y="1399817"/>
            <a:ext cx="3430962" cy="3369573"/>
          </a:xfrm>
          <a:prstGeom prst="rect">
            <a:avLst/>
          </a:prstGeom>
        </p:spPr>
      </p:pic>
      <p:pic>
        <p:nvPicPr>
          <p:cNvPr id="11" name="圖片 10">
            <a:extLst>
              <a:ext uri="{FF2B5EF4-FFF2-40B4-BE49-F238E27FC236}">
                <a16:creationId xmlns:a16="http://schemas.microsoft.com/office/drawing/2014/main" id="{28C3F4C7-7E7A-4AD1-B31C-E923BC2CC5D0}"/>
              </a:ext>
            </a:extLst>
          </p:cNvPr>
          <p:cNvPicPr>
            <a:picLocks noChangeAspect="1"/>
          </p:cNvPicPr>
          <p:nvPr/>
        </p:nvPicPr>
        <p:blipFill>
          <a:blip r:embed="rId5"/>
          <a:stretch>
            <a:fillRect/>
          </a:stretch>
        </p:blipFill>
        <p:spPr>
          <a:xfrm>
            <a:off x="388478" y="1004554"/>
            <a:ext cx="5155939" cy="354510"/>
          </a:xfrm>
          <a:prstGeom prst="rect">
            <a:avLst/>
          </a:prstGeom>
        </p:spPr>
      </p:pic>
    </p:spTree>
    <p:extLst>
      <p:ext uri="{BB962C8B-B14F-4D97-AF65-F5344CB8AC3E}">
        <p14:creationId xmlns:p14="http://schemas.microsoft.com/office/powerpoint/2010/main" val="2490171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Proof</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(ii).</a:t>
            </a:r>
            <a:r>
              <a:rPr lang="zh-TW" altLang="en-US" dirty="0">
                <a:latin typeface="Times New Roman"/>
                <a:ea typeface="Times New Roman"/>
                <a:cs typeface="Times New Roman"/>
                <a:sym typeface="Times New Roman"/>
              </a:rPr>
              <a:t> </a:t>
            </a:r>
            <a:r>
              <a:rPr lang="en-US" altLang="zh-TW" dirty="0">
                <a:latin typeface="Times New Roman"/>
                <a:ea typeface="Times New Roman"/>
                <a:cs typeface="Times New Roman"/>
                <a:sym typeface="Times New Roman"/>
              </a:rPr>
              <a:t>Skip</a:t>
            </a:r>
            <a:endParaRPr lang="en-US" dirty="0">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14</a:t>
            </a:fld>
            <a:endParaRPr/>
          </a:p>
        </p:txBody>
      </p:sp>
    </p:spTree>
    <p:extLst>
      <p:ext uri="{BB962C8B-B14F-4D97-AF65-F5344CB8AC3E}">
        <p14:creationId xmlns:p14="http://schemas.microsoft.com/office/powerpoint/2010/main" val="2654533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Result</a:t>
            </a:r>
            <a:endParaRPr lang="en-US" dirty="0">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15</a:t>
            </a:fld>
            <a:endParaRPr/>
          </a:p>
        </p:txBody>
      </p:sp>
      <p:grpSp>
        <p:nvGrpSpPr>
          <p:cNvPr id="7" name="群組 6">
            <a:extLst>
              <a:ext uri="{FF2B5EF4-FFF2-40B4-BE49-F238E27FC236}">
                <a16:creationId xmlns:a16="http://schemas.microsoft.com/office/drawing/2014/main" id="{92BD91D4-2638-489F-84E9-66E9D0FCCA72}"/>
              </a:ext>
            </a:extLst>
          </p:cNvPr>
          <p:cNvGrpSpPr/>
          <p:nvPr/>
        </p:nvGrpSpPr>
        <p:grpSpPr>
          <a:xfrm>
            <a:off x="597159" y="1014143"/>
            <a:ext cx="4099867" cy="3995667"/>
            <a:chOff x="795711" y="1254677"/>
            <a:chExt cx="4099867" cy="3995667"/>
          </a:xfrm>
        </p:grpSpPr>
        <p:pic>
          <p:nvPicPr>
            <p:cNvPr id="4" name="圖片 3">
              <a:extLst>
                <a:ext uri="{FF2B5EF4-FFF2-40B4-BE49-F238E27FC236}">
                  <a16:creationId xmlns:a16="http://schemas.microsoft.com/office/drawing/2014/main" id="{C3BCA57F-6903-4F90-A7F7-EFEAA5D38A7F}"/>
                </a:ext>
              </a:extLst>
            </p:cNvPr>
            <p:cNvPicPr>
              <a:picLocks noChangeAspect="1"/>
            </p:cNvPicPr>
            <p:nvPr/>
          </p:nvPicPr>
          <p:blipFill rotWithShape="1">
            <a:blip r:embed="rId3"/>
            <a:srcRect b="52492"/>
            <a:stretch/>
          </p:blipFill>
          <p:spPr>
            <a:xfrm>
              <a:off x="795715" y="1671708"/>
              <a:ext cx="4099863" cy="3578636"/>
            </a:xfrm>
            <a:prstGeom prst="rect">
              <a:avLst/>
            </a:prstGeom>
          </p:spPr>
        </p:pic>
        <p:pic>
          <p:nvPicPr>
            <p:cNvPr id="9" name="圖片 8">
              <a:extLst>
                <a:ext uri="{FF2B5EF4-FFF2-40B4-BE49-F238E27FC236}">
                  <a16:creationId xmlns:a16="http://schemas.microsoft.com/office/drawing/2014/main" id="{DE1889F4-59AC-4167-A0A9-B6D347714300}"/>
                </a:ext>
              </a:extLst>
            </p:cNvPr>
            <p:cNvPicPr>
              <a:picLocks noChangeAspect="1"/>
            </p:cNvPicPr>
            <p:nvPr/>
          </p:nvPicPr>
          <p:blipFill rotWithShape="1">
            <a:blip r:embed="rId3"/>
            <a:srcRect b="52492"/>
            <a:stretch/>
          </p:blipFill>
          <p:spPr>
            <a:xfrm>
              <a:off x="795711" y="1671708"/>
              <a:ext cx="4099863" cy="3578636"/>
            </a:xfrm>
            <a:prstGeom prst="rect">
              <a:avLst/>
            </a:prstGeom>
          </p:spPr>
        </p:pic>
        <p:pic>
          <p:nvPicPr>
            <p:cNvPr id="3" name="圖片 2">
              <a:extLst>
                <a:ext uri="{FF2B5EF4-FFF2-40B4-BE49-F238E27FC236}">
                  <a16:creationId xmlns:a16="http://schemas.microsoft.com/office/drawing/2014/main" id="{E1DB9CD6-93FA-4599-970D-43DD8C85A8E3}"/>
                </a:ext>
              </a:extLst>
            </p:cNvPr>
            <p:cNvPicPr>
              <a:picLocks noChangeAspect="1"/>
            </p:cNvPicPr>
            <p:nvPr/>
          </p:nvPicPr>
          <p:blipFill>
            <a:blip r:embed="rId4"/>
            <a:stretch>
              <a:fillRect/>
            </a:stretch>
          </p:blipFill>
          <p:spPr>
            <a:xfrm>
              <a:off x="795713" y="1254677"/>
              <a:ext cx="4099863" cy="460734"/>
            </a:xfrm>
            <a:prstGeom prst="rect">
              <a:avLst/>
            </a:prstGeom>
          </p:spPr>
        </p:pic>
      </p:grpSp>
      <p:pic>
        <p:nvPicPr>
          <p:cNvPr id="6" name="圖片 5">
            <a:extLst>
              <a:ext uri="{FF2B5EF4-FFF2-40B4-BE49-F238E27FC236}">
                <a16:creationId xmlns:a16="http://schemas.microsoft.com/office/drawing/2014/main" id="{D8E9284C-0577-418B-9934-586CA3D199B2}"/>
              </a:ext>
            </a:extLst>
          </p:cNvPr>
          <p:cNvPicPr>
            <a:picLocks noChangeAspect="1"/>
          </p:cNvPicPr>
          <p:nvPr/>
        </p:nvPicPr>
        <p:blipFill rotWithShape="1">
          <a:blip r:embed="rId3"/>
          <a:srcRect t="47296"/>
          <a:stretch/>
        </p:blipFill>
        <p:spPr>
          <a:xfrm>
            <a:off x="4819532" y="1039708"/>
            <a:ext cx="4099863" cy="3970102"/>
          </a:xfrm>
          <a:prstGeom prst="rect">
            <a:avLst/>
          </a:prstGeom>
        </p:spPr>
      </p:pic>
    </p:spTree>
    <p:extLst>
      <p:ext uri="{BB962C8B-B14F-4D97-AF65-F5344CB8AC3E}">
        <p14:creationId xmlns:p14="http://schemas.microsoft.com/office/powerpoint/2010/main" val="3738714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0" y="1754841"/>
            <a:ext cx="9144000" cy="190275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1111"/>
              <a:buNone/>
            </a:pPr>
            <a:r>
              <a:rPr lang="en-US" sz="4800" dirty="0">
                <a:latin typeface="Times New Roman"/>
                <a:ea typeface="Times New Roman"/>
                <a:cs typeface="Times New Roman"/>
                <a:sym typeface="Times New Roman"/>
              </a:rPr>
              <a:t>Thanks</a:t>
            </a:r>
            <a:endParaRPr dirty="0">
              <a:latin typeface="Times New Roman"/>
              <a:ea typeface="Times New Roman"/>
              <a:cs typeface="Times New Roman"/>
              <a:sym typeface="Times New Roman"/>
            </a:endParaRPr>
          </a:p>
        </p:txBody>
      </p:sp>
      <p:sp>
        <p:nvSpPr>
          <p:cNvPr id="111" name="Google Shape;11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16</a:t>
            </a:fld>
            <a:endParaRPr/>
          </a:p>
        </p:txBody>
      </p:sp>
    </p:spTree>
    <p:extLst>
      <p:ext uri="{BB962C8B-B14F-4D97-AF65-F5344CB8AC3E}">
        <p14:creationId xmlns:p14="http://schemas.microsoft.com/office/powerpoint/2010/main" val="214628215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1353</TotalTime>
  <Words>432</Words>
  <Application>Microsoft Office PowerPoint</Application>
  <PresentationFormat>如螢幕大小 (16:9)</PresentationFormat>
  <Paragraphs>58</Paragraphs>
  <Slides>16</Slides>
  <Notes>16</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16</vt:i4>
      </vt:variant>
    </vt:vector>
  </HeadingPairs>
  <TitlesOfParts>
    <vt:vector size="19" baseType="lpstr">
      <vt:lpstr>Arial</vt:lpstr>
      <vt:lpstr>Times New Roman</vt:lpstr>
      <vt:lpstr>Simple Light</vt:lpstr>
      <vt:lpstr>Henry V: A linear time algorithm for solving the N-Queens Problem using only 5 patterns</vt:lpstr>
      <vt:lpstr>Abstract</vt:lpstr>
      <vt:lpstr>Abstract</vt:lpstr>
      <vt:lpstr>Abstract</vt:lpstr>
      <vt:lpstr>N-Queens Problem</vt:lpstr>
      <vt:lpstr>5 Layouts</vt:lpstr>
      <vt:lpstr>Layout 1</vt:lpstr>
      <vt:lpstr>Layout 2</vt:lpstr>
      <vt:lpstr>Layout 3</vt:lpstr>
      <vt:lpstr>Layout 4</vt:lpstr>
      <vt:lpstr>Layout 5</vt:lpstr>
      <vt:lpstr>Correctness Proof</vt:lpstr>
      <vt:lpstr>Proof (i)</vt:lpstr>
      <vt:lpstr>Proof (ii). Skip</vt:lpstr>
      <vt:lpstr>Result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Order-preserving pattern matching with k mismatches</dc:title>
  <cp:lastModifiedBy>鑫昌 俞</cp:lastModifiedBy>
  <cp:revision>61</cp:revision>
  <dcterms:modified xsi:type="dcterms:W3CDTF">2023-11-21T05:58:56Z</dcterms:modified>
</cp:coreProperties>
</file>