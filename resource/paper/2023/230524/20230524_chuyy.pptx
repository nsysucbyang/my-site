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57" r:id="rId3"/>
    <p:sldId id="286" r:id="rId4"/>
    <p:sldId id="259" r:id="rId5"/>
    <p:sldId id="258" r:id="rId6"/>
    <p:sldId id="260" r:id="rId7"/>
    <p:sldId id="261" r:id="rId8"/>
    <p:sldId id="262" r:id="rId9"/>
    <p:sldId id="263" r:id="rId10"/>
    <p:sldId id="287" r:id="rId11"/>
    <p:sldId id="269" r:id="rId12"/>
    <p:sldId id="270" r:id="rId13"/>
    <p:sldId id="266" r:id="rId14"/>
    <p:sldId id="264" r:id="rId15"/>
    <p:sldId id="265" r:id="rId16"/>
    <p:sldId id="267" r:id="rId17"/>
    <p:sldId id="268"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3"/>
    <p:restoredTop sz="95788"/>
  </p:normalViewPr>
  <p:slideViewPr>
    <p:cSldViewPr snapToGrid="0" snapToObjects="1">
      <p:cViewPr varScale="1">
        <p:scale>
          <a:sx n="128" d="100"/>
          <a:sy n="128" d="100"/>
        </p:scale>
        <p:origin x="1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2023/5/24</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2023/5/24</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2023/5/24</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2023/5/24</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2023/5/24</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2023/5/24</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2023/5/24</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2023/5/24</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2023/5/24</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2023/5/24</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2023/5/24</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2023/5/24</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2023/5/24</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The Synergy of Double Neural Networks for Bridge Bidding</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p:txBody>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X. Zhang, R. Lin, Y. Bo, and F. Yang, </a:t>
            </a:r>
          </a:p>
          <a:p>
            <a:r>
              <a:rPr kumimoji="1" lang="en-US" altLang="zh-TW" dirty="0">
                <a:latin typeface="Times New Roman" panose="02020603050405020304" pitchFamily="18" charset="0"/>
                <a:cs typeface="Times New Roman" panose="02020603050405020304" pitchFamily="18" charset="0"/>
              </a:rPr>
              <a:t>Mathematics 2022, 10, 3187.</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May 24, 2023</a:t>
            </a:r>
          </a:p>
        </p:txBody>
      </p:sp>
    </p:spTree>
    <p:extLst>
      <p:ext uri="{BB962C8B-B14F-4D97-AF65-F5344CB8AC3E}">
        <p14:creationId xmlns:p14="http://schemas.microsoft.com/office/powerpoint/2010/main" val="694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Artificial intelligence (AI) has made many breakthroughs in the perfect information game. Nevertheless, Bridge, a multiplayer imperfect information game, is still quite challenging. Bridge consists of two parts: bidding and playing. Bidding accounts for about 75% of the game and playing for about 25%. Expert-level teams are generally indistinguishable at the playing level, so bidding is the more decisive factor in winning or losing. The two teams can communicate using different systems during the bidding phase. However, existing bridge bidding models focus on at most one bidding system, which does not conform to the real game rules.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(Cont.)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This paper proposes a deep reinforcement learning model that supports multiple bidding systems, which can compete with players using different bidding systems and exchange hand information normally. The model mainly comprises two deep neural networks: a bid selection network and a state evaluation network. The bid selection network can predict the probabilities of all bids, and the state evaluation network can directly evaluate the optional bids and make decisions based on the evaluation results. Experiments show that the bidding model is not limited by a single bidding system and has superior bidding performance.</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7426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Preliminary</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Previous researches can be divided into two categories: human-based bidding system and non-human-based bidding system. Because bridge needs to explain the meaning of bids to opponents, the application of non-human-based bidding system is narrow.</a:t>
            </a:r>
          </a:p>
          <a:p>
            <a:r>
              <a:rPr kumimoji="1" lang="en-US" altLang="zh-TW" dirty="0">
                <a:latin typeface="Times New Roman" panose="02020603050405020304" pitchFamily="18" charset="0"/>
                <a:cs typeface="Times New Roman" panose="02020603050405020304" pitchFamily="18" charset="0"/>
              </a:rPr>
              <a:t>Previous researches focused on single bidding system. When opponents use a different bidding system, it may cause error. (The bidding system cannot understand the bids of opponents correctly.)</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640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Train a bidding model with competition.</a:t>
            </a:r>
          </a:p>
          <a:p>
            <a:r>
              <a:rPr kumimoji="1" lang="en-US" altLang="zh-TW" dirty="0">
                <a:latin typeface="Times New Roman" panose="02020603050405020304" pitchFamily="18" charset="0"/>
                <a:cs typeface="Times New Roman" panose="02020603050405020304" pitchFamily="18" charset="0"/>
              </a:rPr>
              <a:t>Use Chinese Bridge Association(CCBA) bidding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system, and compete against opponents using any bidding systems.</a:t>
            </a:r>
          </a:p>
          <a:p>
            <a:r>
              <a:rPr kumimoji="1" lang="en-US" altLang="zh-TW" dirty="0">
                <a:latin typeface="Times New Roman" panose="02020603050405020304" pitchFamily="18" charset="0"/>
                <a:cs typeface="Times New Roman" panose="02020603050405020304" pitchFamily="18" charset="0"/>
              </a:rPr>
              <a:t>Two parts of the model:</a:t>
            </a:r>
          </a:p>
          <a:p>
            <a:pPr lvl="1"/>
            <a:r>
              <a:rPr kumimoji="1" lang="en-US" altLang="zh-TW" dirty="0">
                <a:latin typeface="Times New Roman" panose="02020603050405020304" pitchFamily="18" charset="0"/>
                <a:cs typeface="Times New Roman" panose="02020603050405020304" pitchFamily="18" charset="0"/>
              </a:rPr>
              <a:t>bid selection</a:t>
            </a:r>
          </a:p>
          <a:p>
            <a:pPr lvl="1"/>
            <a:r>
              <a:rPr kumimoji="1" lang="en-US" altLang="zh-TW" dirty="0">
                <a:latin typeface="Times New Roman" panose="02020603050405020304" pitchFamily="18" charset="0"/>
                <a:cs typeface="Times New Roman" panose="02020603050405020304" pitchFamily="18" charset="0"/>
              </a:rPr>
              <a:t>bid evaluation</a:t>
            </a:r>
          </a:p>
          <a:p>
            <a:r>
              <a:rPr kumimoji="1" lang="en-US" altLang="zh-TW" dirty="0">
                <a:latin typeface="Times New Roman" panose="02020603050405020304" pitchFamily="18" charset="0"/>
                <a:cs typeface="Times New Roman" panose="02020603050405020304" pitchFamily="18" charset="0"/>
              </a:rPr>
              <a:t>Do feature extraction, and use these features as input of the model.</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921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0C1777DE-1292-4E46-812C-282E8E9BDC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2538" y="1825625"/>
            <a:ext cx="6409462" cy="3870765"/>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Feature Extraction</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4778829" cy="4351338"/>
          </a:xfrm>
        </p:spPr>
        <p:txBody>
          <a:bodyPr/>
          <a:lstStyle/>
          <a:p>
            <a:r>
              <a:rPr kumimoji="1" lang="en-US" altLang="zh-TW" dirty="0">
                <a:latin typeface="Times New Roman" panose="02020603050405020304" pitchFamily="18" charset="0"/>
                <a:cs typeface="Times New Roman" panose="02020603050405020304" pitchFamily="18" charset="0"/>
              </a:rPr>
              <a:t>Convert bidding sequences to general features by fixed logic.</a:t>
            </a:r>
          </a:p>
          <a:p>
            <a:r>
              <a:rPr kumimoji="1" lang="en-US" altLang="zh-TW" dirty="0">
                <a:latin typeface="Times New Roman" panose="02020603050405020304" pitchFamily="18" charset="0"/>
                <a:cs typeface="Times New Roman" panose="02020603050405020304" pitchFamily="18" charset="0"/>
              </a:rPr>
              <a:t>Design two feature extraction algorithms.</a:t>
            </a:r>
          </a:p>
          <a:p>
            <a:pPr lvl="1"/>
            <a:r>
              <a:rPr kumimoji="1" lang="en-US" altLang="zh-TW" dirty="0">
                <a:latin typeface="Times New Roman" panose="02020603050405020304" pitchFamily="18" charset="0"/>
                <a:cs typeface="Times New Roman" panose="02020603050405020304" pitchFamily="18" charset="0"/>
              </a:rPr>
              <a:t>CCBA bidding system</a:t>
            </a:r>
          </a:p>
          <a:p>
            <a:pPr lvl="1"/>
            <a:r>
              <a:rPr kumimoji="1" lang="en-US" altLang="zh-TW" dirty="0">
                <a:latin typeface="Times New Roman" panose="02020603050405020304" pitchFamily="18" charset="0"/>
                <a:cs typeface="Times New Roman" panose="02020603050405020304" pitchFamily="18" charset="0"/>
              </a:rPr>
              <a:t>precision bidding system</a:t>
            </a:r>
          </a:p>
          <a:p>
            <a:r>
              <a:rPr kumimoji="1" lang="en-US" altLang="zh-TW" dirty="0">
                <a:latin typeface="Times New Roman" panose="02020603050405020304" pitchFamily="18" charset="0"/>
                <a:cs typeface="Times New Roman" panose="02020603050405020304" pitchFamily="18" charset="0"/>
              </a:rPr>
              <a:t>30 common features selected by the analysis of 2,500,000 instances of bidding.</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748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72D2F2C7-022C-B449-AD13-1BADE084D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2241" y="0"/>
            <a:ext cx="6309759" cy="6858000"/>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Bid Selection 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5044041" cy="5032375"/>
          </a:xfrm>
        </p:spPr>
        <p:txBody>
          <a:bodyPr>
            <a:normAutofit/>
          </a:bodyPr>
          <a:lstStyle/>
          <a:p>
            <a:r>
              <a:rPr kumimoji="1" lang="en-US" altLang="zh-TW" dirty="0">
                <a:latin typeface="Times New Roman" panose="02020603050405020304" pitchFamily="18" charset="0"/>
                <a:cs typeface="Times New Roman" panose="02020603050405020304" pitchFamily="18" charset="0"/>
              </a:rPr>
              <a:t>Use Mini-batch Gradient Descent for training.</a:t>
            </a:r>
          </a:p>
          <a:p>
            <a:r>
              <a:rPr kumimoji="1" lang="en-US" altLang="zh-TW" dirty="0">
                <a:latin typeface="Times New Roman" panose="02020603050405020304" pitchFamily="18" charset="0"/>
                <a:cs typeface="Times New Roman" panose="02020603050405020304" pitchFamily="18" charset="0"/>
              </a:rPr>
              <a:t>Input:</a:t>
            </a:r>
          </a:p>
          <a:p>
            <a:pPr lvl="1"/>
            <a:r>
              <a:rPr kumimoji="1" lang="en-US" altLang="zh-TW" dirty="0">
                <a:latin typeface="Times New Roman" panose="02020603050405020304" pitchFamily="18" charset="0"/>
                <a:cs typeface="Times New Roman" panose="02020603050405020304" pitchFamily="18" charset="0"/>
              </a:rPr>
              <a:t>vulnerability v</a:t>
            </a:r>
          </a:p>
          <a:p>
            <a:pPr lvl="1"/>
            <a:r>
              <a:rPr kumimoji="1" lang="en-US" altLang="zh-TW" dirty="0">
                <a:latin typeface="Times New Roman" panose="02020603050405020304" pitchFamily="18" charset="0"/>
                <a:cs typeface="Times New Roman" panose="02020603050405020304" pitchFamily="18" charset="0"/>
              </a:rPr>
              <a:t>opener d</a:t>
            </a:r>
          </a:p>
          <a:p>
            <a:pPr lvl="1"/>
            <a:r>
              <a:rPr kumimoji="1" lang="en-US" altLang="zh-TW" dirty="0">
                <a:latin typeface="Times New Roman" panose="02020603050405020304" pitchFamily="18" charset="0"/>
                <a:cs typeface="Times New Roman" panose="02020603050405020304" pitchFamily="18" charset="0"/>
              </a:rPr>
              <a:t>player </a:t>
            </a:r>
            <a:r>
              <a:rPr kumimoji="1" lang="en-US" altLang="zh-TW" dirty="0" err="1">
                <a:latin typeface="Times New Roman" panose="02020603050405020304" pitchFamily="18" charset="0"/>
                <a:cs typeface="Times New Roman" panose="02020603050405020304" pitchFamily="18" charset="0"/>
              </a:rPr>
              <a:t>i</a:t>
            </a:r>
            <a:endParaRPr kumimoji="1" lang="en-US" altLang="zh-TW"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hand cards h</a:t>
            </a:r>
            <a:r>
              <a:rPr kumimoji="1" lang="en-US" altLang="zh-TW" baseline="-25000" dirty="0">
                <a:latin typeface="Times New Roman" panose="02020603050405020304" pitchFamily="18" charset="0"/>
                <a:cs typeface="Times New Roman" panose="02020603050405020304" pitchFamily="18" charset="0"/>
              </a:rPr>
              <a:t>i</a:t>
            </a:r>
          </a:p>
          <a:p>
            <a:pPr lvl="1"/>
            <a:r>
              <a:rPr kumimoji="1" lang="en-US" altLang="zh-TW" dirty="0">
                <a:latin typeface="Times New Roman" panose="02020603050405020304" pitchFamily="18" charset="0"/>
                <a:cs typeface="Times New Roman" panose="02020603050405020304" pitchFamily="18" charset="0"/>
              </a:rPr>
              <a:t>features of bidding sequence L</a:t>
            </a:r>
          </a:p>
          <a:p>
            <a:r>
              <a:rPr kumimoji="1" lang="en-US" altLang="zh-TW" dirty="0">
                <a:latin typeface="Times New Roman" panose="02020603050405020304" pitchFamily="18" charset="0"/>
                <a:cs typeface="Times New Roman" panose="02020603050405020304" pitchFamily="18" charset="0"/>
              </a:rPr>
              <a:t>Output:</a:t>
            </a:r>
          </a:p>
          <a:p>
            <a:pPr lvl="1"/>
            <a:r>
              <a:rPr kumimoji="1" lang="en-US" altLang="zh-TW" dirty="0">
                <a:latin typeface="Times New Roman" panose="02020603050405020304" pitchFamily="18" charset="0"/>
                <a:cs typeface="Times New Roman" panose="02020603050405020304" pitchFamily="18" charset="0"/>
              </a:rPr>
              <a:t>probability of choosing bid b</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70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9359C012-ADBB-DB4F-9BCE-C1AB33C3A6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6590" y="5301180"/>
            <a:ext cx="6460238" cy="1215854"/>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Encoding of input</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3576" y="1878496"/>
                <a:ext cx="4046537" cy="4979503"/>
              </a:xfrm>
            </p:spPr>
            <p:txBody>
              <a:bodyPr>
                <a:normAutofit/>
              </a:bodyPr>
              <a:lstStyle/>
              <a:p>
                <a:r>
                  <a:rPr kumimoji="1" lang="en-US" altLang="zh-TW" dirty="0">
                    <a:latin typeface="Times New Roman" panose="02020603050405020304" pitchFamily="18" charset="0"/>
                    <a:cs typeface="Times New Roman" panose="02020603050405020304" pitchFamily="18" charset="0"/>
                  </a:rPr>
                  <a:t>2~9 are marked as small cards, and all start encoding from 2.</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pPr marL="0" indent="0">
                  <a:buNone/>
                </a:pPr>
                <a:endParaRPr kumimoji="1" lang="en-US" altLang="zh-TW" dirty="0">
                  <a:latin typeface="Times New Roman" panose="02020603050405020304" pitchFamily="18" charset="0"/>
                  <a:cs typeface="Times New Roman" panose="02020603050405020304" pitchFamily="18" charset="0"/>
                </a:endParaRPr>
              </a:p>
              <a:p>
                <a:pPr marL="0" indent="0">
                  <a:buNone/>
                </a:pPr>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Range-valued features: positions lies in the range are all   </a:t>
                </a:r>
                <a14:m>
                  <m:oMath xmlns:m="http://schemas.openxmlformats.org/officeDocument/2006/math">
                    <m:f>
                      <m:fPr>
                        <m:ctrlPr>
                          <a:rPr kumimoji="1" lang="en-US" altLang="zh-TW" i="1" smtClean="0">
                            <a:latin typeface="Cambria Math" panose="02040503050406030204" pitchFamily="18" charset="0"/>
                            <a:cs typeface="Times New Roman" panose="02020603050405020304" pitchFamily="18" charset="0"/>
                          </a:rPr>
                        </m:ctrlPr>
                      </m:fPr>
                      <m:num>
                        <m:r>
                          <a:rPr kumimoji="1" lang="en-US" altLang="zh-TW" b="0" i="1" smtClean="0">
                            <a:latin typeface="Cambria Math" panose="02040503050406030204" pitchFamily="18" charset="0"/>
                            <a:cs typeface="Times New Roman" panose="02020603050405020304" pitchFamily="18" charset="0"/>
                          </a:rPr>
                          <m:t>1</m:t>
                        </m:r>
                      </m:num>
                      <m:den>
                        <m:r>
                          <a:rPr kumimoji="1" lang="en-US" altLang="zh-TW" b="0" i="1" smtClean="0">
                            <a:latin typeface="Cambria Math" panose="02040503050406030204" pitchFamily="18" charset="0"/>
                            <a:cs typeface="Times New Roman" panose="02020603050405020304" pitchFamily="18" charset="0"/>
                          </a:rPr>
                          <m:t>𝑢𝑝𝑝𝑒𝑟</m:t>
                        </m:r>
                        <m:r>
                          <a:rPr kumimoji="1" lang="en-US" altLang="zh-TW" b="0" i="1" smtClean="0">
                            <a:latin typeface="Cambria Math" panose="02040503050406030204" pitchFamily="18" charset="0"/>
                            <a:cs typeface="Times New Roman" panose="02020603050405020304" pitchFamily="18" charset="0"/>
                          </a:rPr>
                          <m:t> − </m:t>
                        </m:r>
                        <m:r>
                          <a:rPr kumimoji="1" lang="en-US" altLang="zh-TW" b="0" i="1" smtClean="0">
                            <a:latin typeface="Cambria Math" panose="02040503050406030204" pitchFamily="18" charset="0"/>
                            <a:cs typeface="Times New Roman" panose="02020603050405020304" pitchFamily="18" charset="0"/>
                          </a:rPr>
                          <m:t>𝑙𝑜𝑤𝑒𝑟</m:t>
                        </m:r>
                        <m:r>
                          <a:rPr kumimoji="1" lang="en-US" altLang="zh-TW" b="0" i="1" smtClean="0">
                            <a:latin typeface="Cambria Math" panose="02040503050406030204" pitchFamily="18" charset="0"/>
                            <a:cs typeface="Times New Roman" panose="02020603050405020304" pitchFamily="18" charset="0"/>
                          </a:rPr>
                          <m:t> + 1</m:t>
                        </m:r>
                      </m:den>
                    </m:f>
                  </m:oMath>
                </a14:m>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FDBA7692-A0C6-5C4A-A230-F72A3B531FB3}"/>
                  </a:ext>
                </a:extLst>
              </p:cNvPr>
              <p:cNvSpPr>
                <a:spLocks noGrp="1" noRot="1" noChangeAspect="1" noMove="1" noResize="1" noEditPoints="1" noAdjustHandles="1" noChangeArrowheads="1" noChangeShapeType="1" noTextEdit="1"/>
              </p:cNvSpPr>
              <p:nvPr>
                <p:ph idx="1"/>
              </p:nvPr>
            </p:nvSpPr>
            <p:spPr>
              <a:xfrm>
                <a:off x="833576" y="1878496"/>
                <a:ext cx="4046537" cy="4979503"/>
              </a:xfrm>
              <a:blipFill>
                <a:blip r:embed="rId3"/>
                <a:stretch>
                  <a:fillRect l="-2508" t="-2036" r="-501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CABDA0F2-E78B-5D44-BDE8-75D0FE438F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2833" y="1086702"/>
            <a:ext cx="7119167" cy="3703959"/>
          </a:xfrm>
          <a:prstGeom prst="rect">
            <a:avLst/>
          </a:prstGeom>
        </p:spPr>
      </p:pic>
    </p:spTree>
    <p:extLst>
      <p:ext uri="{BB962C8B-B14F-4D97-AF65-F5344CB8AC3E}">
        <p14:creationId xmlns:p14="http://schemas.microsoft.com/office/powerpoint/2010/main" val="307744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Evaluation Model</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9</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9" name="內容版面配置區 2">
            <a:extLst>
              <a:ext uri="{FF2B5EF4-FFF2-40B4-BE49-F238E27FC236}">
                <a16:creationId xmlns:a16="http://schemas.microsoft.com/office/drawing/2014/main" id="{9146023C-8DEF-7147-B4E8-BE5485236F86}"/>
              </a:ext>
            </a:extLst>
          </p:cNvPr>
          <p:cNvSpPr txBox="1">
            <a:spLocks/>
          </p:cNvSpPr>
          <p:nvPr/>
        </p:nvSpPr>
        <p:spPr>
          <a:xfrm>
            <a:off x="838200" y="1825624"/>
            <a:ext cx="10515600"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Use Gradient Descent with Reinforcement Learning for training.</a:t>
            </a:r>
          </a:p>
          <a:p>
            <a:r>
              <a:rPr kumimoji="1" lang="en-US" altLang="zh-TW" dirty="0">
                <a:latin typeface="Times New Roman" panose="02020603050405020304" pitchFamily="18" charset="0"/>
                <a:cs typeface="Times New Roman" panose="02020603050405020304" pitchFamily="18" charset="0"/>
              </a:rPr>
              <a:t>Input:</a:t>
            </a:r>
          </a:p>
          <a:p>
            <a:pPr lvl="1"/>
            <a:r>
              <a:rPr kumimoji="1" lang="en-US" altLang="zh-TW" dirty="0">
                <a:latin typeface="Times New Roman" panose="02020603050405020304" pitchFamily="18" charset="0"/>
                <a:cs typeface="Times New Roman" panose="02020603050405020304" pitchFamily="18" charset="0"/>
              </a:rPr>
              <a:t>vulnerability v</a:t>
            </a:r>
          </a:p>
          <a:p>
            <a:pPr lvl="1"/>
            <a:r>
              <a:rPr kumimoji="1" lang="en-US" altLang="zh-TW" dirty="0">
                <a:latin typeface="Times New Roman" panose="02020603050405020304" pitchFamily="18" charset="0"/>
                <a:cs typeface="Times New Roman" panose="02020603050405020304" pitchFamily="18" charset="0"/>
              </a:rPr>
              <a:t>opener d</a:t>
            </a:r>
          </a:p>
          <a:p>
            <a:pPr lvl="1"/>
            <a:r>
              <a:rPr kumimoji="1" lang="en-US" altLang="zh-TW" dirty="0">
                <a:latin typeface="Times New Roman" panose="02020603050405020304" pitchFamily="18" charset="0"/>
                <a:cs typeface="Times New Roman" panose="02020603050405020304" pitchFamily="18" charset="0"/>
              </a:rPr>
              <a:t>player </a:t>
            </a:r>
            <a:r>
              <a:rPr kumimoji="1" lang="en-US" altLang="zh-TW" dirty="0" err="1">
                <a:latin typeface="Times New Roman" panose="02020603050405020304" pitchFamily="18" charset="0"/>
                <a:cs typeface="Times New Roman" panose="02020603050405020304" pitchFamily="18" charset="0"/>
              </a:rPr>
              <a:t>i</a:t>
            </a:r>
            <a:endParaRPr kumimoji="1" lang="en-US" altLang="zh-TW"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hand cards h</a:t>
            </a:r>
            <a:r>
              <a:rPr kumimoji="1" lang="en-US" altLang="zh-TW" baseline="-25000" dirty="0">
                <a:latin typeface="Times New Roman" panose="02020603050405020304" pitchFamily="18" charset="0"/>
                <a:cs typeface="Times New Roman" panose="02020603050405020304" pitchFamily="18" charset="0"/>
              </a:rPr>
              <a:t>i</a:t>
            </a:r>
          </a:p>
          <a:p>
            <a:pPr lvl="1"/>
            <a:r>
              <a:rPr kumimoji="1" lang="en-US" altLang="zh-TW" dirty="0">
                <a:latin typeface="Times New Roman" panose="02020603050405020304" pitchFamily="18" charset="0"/>
                <a:cs typeface="Times New Roman" panose="02020603050405020304" pitchFamily="18" charset="0"/>
              </a:rPr>
              <a:t>features of bidding sequence L (including the predicted bid b from bid selection model)</a:t>
            </a:r>
          </a:p>
          <a:p>
            <a:r>
              <a:rPr kumimoji="1" lang="en-US" altLang="zh-TW" dirty="0">
                <a:latin typeface="Times New Roman" panose="02020603050405020304" pitchFamily="18" charset="0"/>
                <a:cs typeface="Times New Roman" panose="02020603050405020304" pitchFamily="18" charset="0"/>
              </a:rPr>
              <a:t>Output:</a:t>
            </a:r>
          </a:p>
          <a:p>
            <a:pPr lvl="1"/>
            <a:r>
              <a:rPr kumimoji="1" lang="en-US" altLang="zh-TW" dirty="0">
                <a:latin typeface="Times New Roman" panose="02020603050405020304" pitchFamily="18" charset="0"/>
                <a:cs typeface="Times New Roman" panose="02020603050405020304" pitchFamily="18" charset="0"/>
              </a:rPr>
              <a:t>Evaluation of IMP at the situation after choosing bid b.</a:t>
            </a:r>
          </a:p>
          <a:p>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1400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62970D1F-ECCC-B34A-9BD2-4D31C394E5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0454" y="0"/>
            <a:ext cx="6350000" cy="6858000"/>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Evaluation Model</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4992254" cy="4351338"/>
              </a:xfrm>
            </p:spPr>
            <p:txBody>
              <a:bodyPr/>
              <a:lstStyle/>
              <a:p>
                <a:r>
                  <a:rPr kumimoji="1" lang="en-US" altLang="zh-TW" dirty="0">
                    <a:latin typeface="Times New Roman" panose="02020603050405020304" pitchFamily="18" charset="0"/>
                    <a:cs typeface="Times New Roman" panose="02020603050405020304" pitchFamily="18" charset="0"/>
                  </a:rPr>
                  <a:t>From a state </a:t>
                </a:r>
                <a:r>
                  <a:rPr kumimoji="1" lang="en-US" altLang="zh-TW" dirty="0" err="1">
                    <a:latin typeface="Times New Roman" panose="02020603050405020304" pitchFamily="18" charset="0"/>
                    <a:cs typeface="Times New Roman" panose="02020603050405020304" pitchFamily="18" charset="0"/>
                  </a:rPr>
                  <a:t>s</a:t>
                </a:r>
                <a:r>
                  <a:rPr kumimoji="1" lang="en-US" altLang="zh-TW" baseline="-25000" dirty="0" err="1">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apply </a:t>
                </a:r>
                <a14:m>
                  <m:oMath xmlns:m="http://schemas.openxmlformats.org/officeDocument/2006/math">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𝜀</m:t>
                    </m:r>
                  </m:oMath>
                </a14:m>
                <a:r>
                  <a:rPr kumimoji="1" lang="en-US" altLang="zh-TW" dirty="0">
                    <a:latin typeface="Times New Roman" panose="02020603050405020304" pitchFamily="18" charset="0"/>
                    <a:cs typeface="Times New Roman" panose="02020603050405020304" pitchFamily="18" charset="0"/>
                  </a:rPr>
                  <a:t>-greedy to select an action a</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get reward </a:t>
                </a:r>
                <a:r>
                  <a:rPr kumimoji="1" lang="en-US" altLang="zh-TW" dirty="0" err="1">
                    <a:latin typeface="Times New Roman" panose="02020603050405020304" pitchFamily="18" charset="0"/>
                    <a:cs typeface="Times New Roman" panose="02020603050405020304" pitchFamily="18" charset="0"/>
                  </a:rPr>
                  <a:t>R</a:t>
                </a:r>
                <a:r>
                  <a:rPr kumimoji="1" lang="en-US" altLang="zh-TW" baseline="-25000" dirty="0" err="1">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 and go to state s</a:t>
                </a:r>
                <a:r>
                  <a:rPr kumimoji="1" lang="en-US" altLang="zh-TW" baseline="-25000" dirty="0">
                    <a:latin typeface="Times New Roman" panose="02020603050405020304" pitchFamily="18" charset="0"/>
                    <a:cs typeface="Times New Roman" panose="02020603050405020304" pitchFamily="18" charset="0"/>
                  </a:rPr>
                  <a:t>t+1</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Store (</a:t>
                </a:r>
                <a:r>
                  <a:rPr kumimoji="1" lang="en-US" altLang="zh-TW" dirty="0" err="1">
                    <a:latin typeface="Times New Roman" panose="02020603050405020304" pitchFamily="18" charset="0"/>
                    <a:cs typeface="Times New Roman" panose="02020603050405020304" pitchFamily="18" charset="0"/>
                  </a:rPr>
                  <a:t>s</a:t>
                </a:r>
                <a:r>
                  <a:rPr kumimoji="1" lang="en-US" altLang="zh-TW" baseline="-25000" dirty="0" err="1">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a</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R</a:t>
                </a:r>
                <a:r>
                  <a:rPr kumimoji="1" lang="en-US" altLang="zh-TW" baseline="-25000" dirty="0" err="1">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s</a:t>
                </a:r>
                <a:r>
                  <a:rPr kumimoji="1" lang="en-US" altLang="zh-TW" baseline="-25000" dirty="0">
                    <a:latin typeface="Times New Roman" panose="02020603050405020304" pitchFamily="18" charset="0"/>
                    <a:cs typeface="Times New Roman" panose="02020603050405020304" pitchFamily="18" charset="0"/>
                  </a:rPr>
                  <a:t>t+1</a:t>
                </a:r>
                <a:r>
                  <a:rPr kumimoji="1" lang="en-US" altLang="zh-TW" dirty="0">
                    <a:latin typeface="Times New Roman" panose="02020603050405020304" pitchFamily="18" charset="0"/>
                    <a:cs typeface="Times New Roman" panose="02020603050405020304" pitchFamily="18" charset="0"/>
                  </a:rPr>
                  <a:t>) to memory, and randomly picked several R</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Update truth value </a:t>
                </a:r>
                <a:r>
                  <a:rPr kumimoji="1" lang="en-US" altLang="zh-TW" dirty="0" err="1">
                    <a:latin typeface="Times New Roman" panose="02020603050405020304" pitchFamily="18" charset="0"/>
                    <a:cs typeface="Times New Roman" panose="02020603050405020304" pitchFamily="18" charset="0"/>
                  </a:rPr>
                  <a:t>y</a:t>
                </a:r>
                <a:r>
                  <a:rPr kumimoji="1" lang="en-US" altLang="zh-TW" baseline="-25000"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and parameter matrix </a:t>
                </a:r>
                <a14:m>
                  <m:oMath xmlns:m="http://schemas.openxmlformats.org/officeDocument/2006/math">
                    <m:r>
                      <m:rPr>
                        <m:sty m:val="p"/>
                      </m:rPr>
                      <a:rPr kumimoji="1" lang="el-GR" altLang="zh-TW" i="1" smtClean="0">
                        <a:latin typeface="Cambria Math" panose="02040503050406030204" pitchFamily="18" charset="0"/>
                        <a:ea typeface="Cambria Math" panose="02040503050406030204" pitchFamily="18" charset="0"/>
                        <a:cs typeface="Times New Roman" panose="02020603050405020304" pitchFamily="18" charset="0"/>
                      </a:rPr>
                      <m:t>Θ</m:t>
                    </m:r>
                  </m:oMath>
                </a14:m>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FDBA7692-A0C6-5C4A-A230-F72A3B531FB3}"/>
                  </a:ext>
                </a:extLst>
              </p:cNvPr>
              <p:cNvSpPr>
                <a:spLocks noGrp="1" noRot="1" noChangeAspect="1" noMove="1" noResize="1" noEditPoints="1" noAdjustHandles="1" noChangeArrowheads="1" noChangeShapeType="1" noTextEdit="1"/>
              </p:cNvSpPr>
              <p:nvPr>
                <p:ph idx="1"/>
              </p:nvPr>
            </p:nvSpPr>
            <p:spPr>
              <a:xfrm>
                <a:off x="838200" y="1825625"/>
                <a:ext cx="4992254" cy="4351338"/>
              </a:xfrm>
              <a:blipFill>
                <a:blip r:embed="rId3"/>
                <a:stretch>
                  <a:fillRect l="-2030" t="-2632" r="-355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10</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7289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4C1AC6B2-76D8-634B-997D-341DA4857F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5562" y="0"/>
            <a:ext cx="5786438" cy="6858000"/>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Evaluation 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199" y="1825624"/>
            <a:ext cx="5363817" cy="5032375"/>
          </a:xfrm>
        </p:spPr>
        <p:txBody>
          <a:bodyPr>
            <a:normAutofit/>
          </a:bodyPr>
          <a:lstStyle/>
          <a:p>
            <a:r>
              <a:rPr kumimoji="1" lang="en-US" altLang="zh-TW" dirty="0">
                <a:latin typeface="Times New Roman" panose="02020603050405020304" pitchFamily="18" charset="0"/>
                <a:cs typeface="Times New Roman" panose="02020603050405020304" pitchFamily="18" charset="0"/>
              </a:rPr>
              <a:t>Reward: IMP of choose the action (bid), and the difference between 2 scores, converted to IMP.</a:t>
            </a:r>
          </a:p>
          <a:p>
            <a:r>
              <a:rPr kumimoji="1" lang="en-US" altLang="zh-TW" dirty="0">
                <a:latin typeface="Times New Roman" panose="02020603050405020304" pitchFamily="18" charset="0"/>
                <a:cs typeface="Times New Roman" panose="02020603050405020304" pitchFamily="18" charset="0"/>
              </a:rPr>
              <a:t>2 scores</a:t>
            </a:r>
          </a:p>
          <a:p>
            <a:pPr lvl="1"/>
            <a:r>
              <a:rPr kumimoji="1" lang="en-US" altLang="zh-TW" dirty="0">
                <a:latin typeface="Times New Roman" panose="02020603050405020304" pitchFamily="18" charset="0"/>
                <a:cs typeface="Times New Roman" panose="02020603050405020304" pitchFamily="18" charset="0"/>
              </a:rPr>
              <a:t>Actual score: the score of the last bid.</a:t>
            </a:r>
          </a:p>
          <a:p>
            <a:pPr lvl="1"/>
            <a:r>
              <a:rPr kumimoji="1" lang="en-US" altLang="zh-TW" dirty="0">
                <a:latin typeface="Times New Roman" panose="02020603050405020304" pitchFamily="18" charset="0"/>
                <a:cs typeface="Times New Roman" panose="02020603050405020304" pitchFamily="18" charset="0"/>
              </a:rPr>
              <a:t>Best score: the score of contract at balanced point (winner cannot get higher score and loser cannot get lower score), and applied from double dummy results.</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11</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075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Flow Chart</a:t>
            </a:r>
            <a:endParaRPr kumimoji="1"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2494604F-F2FD-FA45-870D-44C1F24A35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83765" y="0"/>
            <a:ext cx="5159011" cy="6864729"/>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62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Dataset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About 500,000,000 bidding sequences by </a:t>
            </a:r>
            <a:r>
              <a:rPr kumimoji="1" lang="en-US" altLang="zh-TW" dirty="0" err="1">
                <a:latin typeface="Times New Roman" panose="02020603050405020304" pitchFamily="18" charset="0"/>
                <a:cs typeface="Times New Roman" panose="02020603050405020304" pitchFamily="18" charset="0"/>
              </a:rPr>
              <a:t>Snyrey</a:t>
            </a:r>
            <a:r>
              <a:rPr kumimoji="1" lang="en-US" altLang="zh-TW" dirty="0">
                <a:latin typeface="Times New Roman" panose="02020603050405020304" pitchFamily="18" charset="0"/>
                <a:cs typeface="Times New Roman" panose="02020603050405020304" pitchFamily="18" charset="0"/>
              </a:rPr>
              <a:t> platform.</a:t>
            </a:r>
          </a:p>
          <a:p>
            <a:r>
              <a:rPr kumimoji="1" lang="en-US" altLang="zh-TW" dirty="0">
                <a:latin typeface="Times New Roman" panose="02020603050405020304" pitchFamily="18" charset="0"/>
                <a:cs typeface="Times New Roman" panose="02020603050405020304" pitchFamily="18" charset="0"/>
              </a:rPr>
              <a:t>Random select 8,000,000 instances, 80% training, 20% testing.</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7049906B-9CCD-C74A-8139-8378B7468F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13" y="3372169"/>
            <a:ext cx="5910470" cy="1991571"/>
          </a:xfrm>
          <a:prstGeom prst="rect">
            <a:avLst/>
          </a:prstGeom>
        </p:spPr>
      </p:pic>
      <p:pic>
        <p:nvPicPr>
          <p:cNvPr id="10" name="圖片 9">
            <a:extLst>
              <a:ext uri="{FF2B5EF4-FFF2-40B4-BE49-F238E27FC236}">
                <a16:creationId xmlns:a16="http://schemas.microsoft.com/office/drawing/2014/main" id="{87CA48FB-B2DA-EB49-9B28-462B1198C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2626" y="3368104"/>
            <a:ext cx="6009861" cy="2229936"/>
          </a:xfrm>
          <a:prstGeom prst="rect">
            <a:avLst/>
          </a:prstGeom>
        </p:spPr>
      </p:pic>
      <p:sp>
        <p:nvSpPr>
          <p:cNvPr id="11" name="矩形 10">
            <a:extLst>
              <a:ext uri="{FF2B5EF4-FFF2-40B4-BE49-F238E27FC236}">
                <a16:creationId xmlns:a16="http://schemas.microsoft.com/office/drawing/2014/main" id="{F37A1E42-E696-024F-A2BB-E92D9F464CF8}"/>
              </a:ext>
            </a:extLst>
          </p:cNvPr>
          <p:cNvSpPr/>
          <p:nvPr/>
        </p:nvSpPr>
        <p:spPr>
          <a:xfrm>
            <a:off x="6748670" y="5363740"/>
            <a:ext cx="1490869" cy="1524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482737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235BA886-E82A-9648-AB10-0765E3AA59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5950" y="3279913"/>
            <a:ext cx="6368829" cy="3521042"/>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Evaluation of Bid Selection Model</a:t>
            </a: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1" y="1825625"/>
            <a:ext cx="10910453" cy="4351338"/>
          </a:xfrm>
        </p:spPr>
        <p:txBody>
          <a:bodyPr/>
          <a:lstStyle/>
          <a:p>
            <a:r>
              <a:rPr kumimoji="1" lang="en-US" altLang="zh-TW" sz="2400" dirty="0">
                <a:latin typeface="Times New Roman" panose="02020603050405020304" pitchFamily="18" charset="0"/>
                <a:cs typeface="Times New Roman" panose="02020603050405020304" pitchFamily="18" charset="0"/>
              </a:rPr>
              <a:t>Precision (auctions made from model compare with real bidding sequence)</a:t>
            </a:r>
          </a:p>
          <a:p>
            <a:pPr lvl="1"/>
            <a:r>
              <a:rPr kumimoji="1" lang="en-US" altLang="zh-TW" sz="2000" dirty="0">
                <a:latin typeface="Times New Roman" panose="02020603050405020304" pitchFamily="18" charset="0"/>
                <a:cs typeface="Times New Roman" panose="02020603050405020304" pitchFamily="18" charset="0"/>
              </a:rPr>
              <a:t>Total-Precision (overall precision)</a:t>
            </a:r>
          </a:p>
          <a:p>
            <a:pPr lvl="1"/>
            <a:r>
              <a:rPr kumimoji="1" lang="en-US" altLang="zh-TW" sz="2000" dirty="0">
                <a:latin typeface="Times New Roman" panose="02020603050405020304" pitchFamily="18" charset="0"/>
                <a:cs typeface="Times New Roman" panose="02020603050405020304" pitchFamily="18" charset="0"/>
              </a:rPr>
              <a:t>Real-Precision (precision of 1C~7NT)</a:t>
            </a:r>
          </a:p>
          <a:p>
            <a:pPr lvl="1"/>
            <a:r>
              <a:rPr kumimoji="1" lang="en-US" altLang="zh-TW" sz="2000" dirty="0">
                <a:latin typeface="Times New Roman" panose="02020603050405020304" pitchFamily="18" charset="0"/>
                <a:cs typeface="Times New Roman" panose="02020603050405020304" pitchFamily="18" charset="0"/>
              </a:rPr>
              <a:t>Unreal-Precision (precision of P, X, and XX)</a:t>
            </a:r>
          </a:p>
          <a:p>
            <a:endParaRPr kumimoji="1" lang="en-US" altLang="zh-TW"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grpSp>
        <p:nvGrpSpPr>
          <p:cNvPr id="16" name="群組 15">
            <a:extLst>
              <a:ext uri="{FF2B5EF4-FFF2-40B4-BE49-F238E27FC236}">
                <a16:creationId xmlns:a16="http://schemas.microsoft.com/office/drawing/2014/main" id="{20483230-7BAD-D04B-B242-6A5FE2D44B2A}"/>
              </a:ext>
            </a:extLst>
          </p:cNvPr>
          <p:cNvGrpSpPr/>
          <p:nvPr/>
        </p:nvGrpSpPr>
        <p:grpSpPr>
          <a:xfrm>
            <a:off x="367432" y="3272786"/>
            <a:ext cx="4830732" cy="3585214"/>
            <a:chOff x="6838122" y="2865885"/>
            <a:chExt cx="5353878" cy="3992115"/>
          </a:xfrm>
        </p:grpSpPr>
        <p:pic>
          <p:nvPicPr>
            <p:cNvPr id="12" name="圖片 11">
              <a:extLst>
                <a:ext uri="{FF2B5EF4-FFF2-40B4-BE49-F238E27FC236}">
                  <a16:creationId xmlns:a16="http://schemas.microsoft.com/office/drawing/2014/main" id="{67827738-5756-884D-A2A3-5006D82A48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8122" y="2865885"/>
              <a:ext cx="5353878" cy="3992115"/>
            </a:xfrm>
            <a:prstGeom prst="rect">
              <a:avLst/>
            </a:prstGeom>
          </p:spPr>
        </p:pic>
        <p:sp>
          <p:nvSpPr>
            <p:cNvPr id="13" name="橢圓 12">
              <a:extLst>
                <a:ext uri="{FF2B5EF4-FFF2-40B4-BE49-F238E27FC236}">
                  <a16:creationId xmlns:a16="http://schemas.microsoft.com/office/drawing/2014/main" id="{9F4EB111-DF78-D446-BE69-ED84DCC8F743}"/>
                </a:ext>
              </a:extLst>
            </p:cNvPr>
            <p:cNvSpPr/>
            <p:nvPr/>
          </p:nvSpPr>
          <p:spPr>
            <a:xfrm>
              <a:off x="11274288" y="3448878"/>
              <a:ext cx="274983" cy="278296"/>
            </a:xfrm>
            <a:prstGeom prst="ellipse">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TW" altLang="en-US"/>
            </a:p>
          </p:txBody>
        </p:sp>
        <p:sp>
          <p:nvSpPr>
            <p:cNvPr id="14" name="矩形 13">
              <a:extLst>
                <a:ext uri="{FF2B5EF4-FFF2-40B4-BE49-F238E27FC236}">
                  <a16:creationId xmlns:a16="http://schemas.microsoft.com/office/drawing/2014/main" id="{17601092-8AC4-414C-826C-494C8A41F4D3}"/>
                </a:ext>
              </a:extLst>
            </p:cNvPr>
            <p:cNvSpPr/>
            <p:nvPr/>
          </p:nvSpPr>
          <p:spPr>
            <a:xfrm>
              <a:off x="10933043" y="5804452"/>
              <a:ext cx="944218" cy="2186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15" name="文字方塊 14">
            <a:extLst>
              <a:ext uri="{FF2B5EF4-FFF2-40B4-BE49-F238E27FC236}">
                <a16:creationId xmlns:a16="http://schemas.microsoft.com/office/drawing/2014/main" id="{E7807F9E-9C39-5D48-93FE-7FC939E2BB94}"/>
              </a:ext>
            </a:extLst>
          </p:cNvPr>
          <p:cNvSpPr txBox="1"/>
          <p:nvPr/>
        </p:nvSpPr>
        <p:spPr>
          <a:xfrm>
            <a:off x="9768468" y="2441789"/>
            <a:ext cx="2136311" cy="830997"/>
          </a:xfrm>
          <a:prstGeom prst="rect">
            <a:avLst/>
          </a:prstGeom>
          <a:noFill/>
        </p:spPr>
        <p:txBody>
          <a:bodyPr wrap="square" rtlCol="0">
            <a:spAutoFit/>
          </a:bodyPr>
          <a:lstStyle/>
          <a:p>
            <a:r>
              <a:rPr kumimoji="1" lang="en-US" altLang="zh-TW" sz="2400" dirty="0">
                <a:latin typeface="Times New Roman" panose="02020603050405020304" pitchFamily="18" charset="0"/>
                <a:cs typeface="Times New Roman" panose="02020603050405020304" pitchFamily="18" charset="0"/>
              </a:rPr>
              <a:t>Epoch: 30</a:t>
            </a:r>
          </a:p>
          <a:p>
            <a:r>
              <a:rPr kumimoji="1" lang="en-US" altLang="zh-TW" sz="2400" dirty="0">
                <a:latin typeface="Times New Roman" panose="02020603050405020304" pitchFamily="18" charset="0"/>
                <a:cs typeface="Times New Roman" panose="02020603050405020304" pitchFamily="18" charset="0"/>
              </a:rPr>
              <a:t>Batch size: 512</a:t>
            </a:r>
            <a:endParaRPr kumimoji="1"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1303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Evaluation of Bid Selection 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515600" cy="4644749"/>
          </a:xfrm>
        </p:spPr>
        <p:txBody>
          <a:bodyPr>
            <a:normAutofit/>
          </a:bodyPr>
          <a:lstStyle/>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Select Leaky </a:t>
            </a:r>
            <a:r>
              <a:rPr kumimoji="1" lang="en-US" altLang="zh-TW" dirty="0" err="1">
                <a:latin typeface="Times New Roman" panose="02020603050405020304" pitchFamily="18" charset="0"/>
                <a:cs typeface="Times New Roman" panose="02020603050405020304" pitchFamily="18" charset="0"/>
              </a:rPr>
              <a:t>ReLU</a:t>
            </a:r>
            <a:r>
              <a:rPr kumimoji="1" lang="en-US" altLang="zh-TW" dirty="0">
                <a:latin typeface="Times New Roman" panose="02020603050405020304" pitchFamily="18" charset="0"/>
                <a:cs typeface="Times New Roman" panose="02020603050405020304" pitchFamily="18" charset="0"/>
              </a:rPr>
              <a:t> and Adam.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6345EAC8-1C3A-5E40-AA89-FF0B12464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1538"/>
            <a:ext cx="6202017" cy="4486209"/>
          </a:xfrm>
          <a:prstGeom prst="rect">
            <a:avLst/>
          </a:prstGeom>
        </p:spPr>
      </p:pic>
      <p:pic>
        <p:nvPicPr>
          <p:cNvPr id="8" name="圖片 7">
            <a:extLst>
              <a:ext uri="{FF2B5EF4-FFF2-40B4-BE49-F238E27FC236}">
                <a16:creationId xmlns:a16="http://schemas.microsoft.com/office/drawing/2014/main" id="{C7585B10-4A69-A64F-BE03-CA52D1F653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17" y="1362277"/>
            <a:ext cx="5989983" cy="4549456"/>
          </a:xfrm>
          <a:prstGeom prst="rect">
            <a:avLst/>
          </a:prstGeom>
        </p:spPr>
      </p:pic>
      <p:sp>
        <p:nvSpPr>
          <p:cNvPr id="9" name="矩形 8">
            <a:extLst>
              <a:ext uri="{FF2B5EF4-FFF2-40B4-BE49-F238E27FC236}">
                <a16:creationId xmlns:a16="http://schemas.microsoft.com/office/drawing/2014/main" id="{827D2B93-59BE-9E47-B164-22C0C002DE17}"/>
              </a:ext>
            </a:extLst>
          </p:cNvPr>
          <p:cNvSpPr/>
          <p:nvPr/>
        </p:nvSpPr>
        <p:spPr>
          <a:xfrm>
            <a:off x="2107096" y="5188226"/>
            <a:ext cx="546652" cy="17890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417957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Evaluation of Evaluation 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2,500,000 training data to pre-train the parameters before reinforcement learning stage.</a:t>
            </a:r>
          </a:p>
          <a:p>
            <a:r>
              <a:rPr kumimoji="1" lang="en-US" altLang="zh-TW" dirty="0">
                <a:latin typeface="Times New Roman" panose="02020603050405020304" pitchFamily="18" charset="0"/>
                <a:cs typeface="Times New Roman" panose="02020603050405020304" pitchFamily="18" charset="0"/>
              </a:rPr>
              <a:t>Compare the results of trained model and untrained model.</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A4E6BC07-9320-6F41-9B62-1C94AF0EE6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2168" y="3157851"/>
            <a:ext cx="5018432" cy="3570939"/>
          </a:xfrm>
          <a:prstGeom prst="rect">
            <a:avLst/>
          </a:prstGeom>
        </p:spPr>
      </p:pic>
    </p:spTree>
    <p:extLst>
      <p:ext uri="{BB962C8B-B14F-4D97-AF65-F5344CB8AC3E}">
        <p14:creationId xmlns:p14="http://schemas.microsoft.com/office/powerpoint/2010/main" val="1004768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F9B85F76-0E66-2D44-8051-A9C983290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4783" y="1460500"/>
            <a:ext cx="8177218" cy="4989996"/>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Multi-System Bidding</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3176583" cy="4351338"/>
          </a:xfrm>
        </p:spPr>
        <p:txBody>
          <a:bodyPr/>
          <a:lstStyle/>
          <a:p>
            <a:r>
              <a:rPr kumimoji="1" lang="en-US" altLang="zh-TW" dirty="0">
                <a:latin typeface="Times New Roman" panose="02020603050405020304" pitchFamily="18" charset="0"/>
                <a:cs typeface="Times New Roman" panose="02020603050405020304" pitchFamily="18" charset="0"/>
              </a:rPr>
              <a:t>Model play against human players.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68900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760</TotalTime>
  <Words>792</Words>
  <Application>Microsoft Macintosh PowerPoint</Application>
  <PresentationFormat>寬螢幕</PresentationFormat>
  <Paragraphs>104</Paragraphs>
  <Slides>17</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17</vt:i4>
      </vt:variant>
    </vt:vector>
  </HeadingPairs>
  <TitlesOfParts>
    <vt:vector size="24" baseType="lpstr">
      <vt:lpstr>新細明體</vt:lpstr>
      <vt:lpstr>Arial</vt:lpstr>
      <vt:lpstr>Calibri</vt:lpstr>
      <vt:lpstr>Calibri Light</vt:lpstr>
      <vt:lpstr>Cambria Math</vt:lpstr>
      <vt:lpstr>Times New Roman</vt:lpstr>
      <vt:lpstr>Office 佈景主題</vt:lpstr>
      <vt:lpstr>The Synergy of Double Neural Networks for Bridge Bidding</vt:lpstr>
      <vt:lpstr>Abstract</vt:lpstr>
      <vt:lpstr>Abstract (Cont.)</vt:lpstr>
      <vt:lpstr>Preliminary</vt:lpstr>
      <vt:lpstr>Problem Setup</vt:lpstr>
      <vt:lpstr>Feature Extraction</vt:lpstr>
      <vt:lpstr>Bid Selection Model</vt:lpstr>
      <vt:lpstr>Encoding of input</vt:lpstr>
      <vt:lpstr>Evaluation Model</vt:lpstr>
      <vt:lpstr>Evaluation Model</vt:lpstr>
      <vt:lpstr>Evaluation Model</vt:lpstr>
      <vt:lpstr>Flow Chart</vt:lpstr>
      <vt:lpstr>Dataset</vt:lpstr>
      <vt:lpstr>Evaluation of Bid Selection Model</vt:lpstr>
      <vt:lpstr>Evaluation of Bid Selection Model</vt:lpstr>
      <vt:lpstr>Evaluation of Evaluation Model</vt:lpstr>
      <vt:lpstr>Multi-System Bidding</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Microsoft Office 使用者</cp:lastModifiedBy>
  <cp:revision>64</cp:revision>
  <dcterms:created xsi:type="dcterms:W3CDTF">2023-01-02T07:42:35Z</dcterms:created>
  <dcterms:modified xsi:type="dcterms:W3CDTF">2023-05-24T11:45:21Z</dcterms:modified>
</cp:coreProperties>
</file>