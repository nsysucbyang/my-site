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56" r:id="rId2"/>
    <p:sldId id="257" r:id="rId3"/>
    <p:sldId id="259" r:id="rId4"/>
    <p:sldId id="300" r:id="rId5"/>
    <p:sldId id="298" r:id="rId6"/>
    <p:sldId id="307" r:id="rId7"/>
    <p:sldId id="308" r:id="rId8"/>
    <p:sldId id="305" r:id="rId9"/>
    <p:sldId id="309" r:id="rId10"/>
    <p:sldId id="310" r:id="rId11"/>
    <p:sldId id="306" r:id="rId12"/>
    <p:sldId id="302" r:id="rId13"/>
    <p:sldId id="311" r:id="rId14"/>
    <p:sldId id="312" r:id="rId15"/>
    <p:sldId id="313" r:id="rId16"/>
    <p:sldId id="314" r:id="rId17"/>
    <p:sldId id="303"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97" autoAdjust="0"/>
    <p:restoredTop sz="82645" autoAdjust="0"/>
  </p:normalViewPr>
  <p:slideViewPr>
    <p:cSldViewPr snapToGrid="0">
      <p:cViewPr varScale="1">
        <p:scale>
          <a:sx n="57" d="100"/>
          <a:sy n="57" d="100"/>
        </p:scale>
        <p:origin x="113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鈺宸 林" userId="6d35af2b8e622366" providerId="LiveId" clId="{20AF628F-7E34-4013-8A6C-106F55BF9C0D}"/>
    <pc:docChg chg="modSld">
      <pc:chgData name="鈺宸 林" userId="6d35af2b8e622366" providerId="LiveId" clId="{20AF628F-7E34-4013-8A6C-106F55BF9C0D}" dt="2023-07-04T08:14:10.928" v="13" actId="20577"/>
      <pc:docMkLst>
        <pc:docMk/>
      </pc:docMkLst>
      <pc:sldChg chg="modNotesTx">
        <pc:chgData name="鈺宸 林" userId="6d35af2b8e622366" providerId="LiveId" clId="{20AF628F-7E34-4013-8A6C-106F55BF9C0D}" dt="2023-07-04T08:14:10.928" v="13" actId="20577"/>
        <pc:sldMkLst>
          <pc:docMk/>
          <pc:sldMk cId="1415766575" sldId="298"/>
        </pc:sldMkLst>
      </pc:sldChg>
      <pc:sldChg chg="modSp mod">
        <pc:chgData name="鈺宸 林" userId="6d35af2b8e622366" providerId="LiveId" clId="{20AF628F-7E34-4013-8A6C-106F55BF9C0D}" dt="2023-07-04T08:13:24.916" v="12" actId="20577"/>
        <pc:sldMkLst>
          <pc:docMk/>
          <pc:sldMk cId="1764993614" sldId="303"/>
        </pc:sldMkLst>
        <pc:spChg chg="mod">
          <ac:chgData name="鈺宸 林" userId="6d35af2b8e622366" providerId="LiveId" clId="{20AF628F-7E34-4013-8A6C-106F55BF9C0D}" dt="2023-07-04T08:13:24.916" v="12" actId="20577"/>
          <ac:spMkLst>
            <pc:docMk/>
            <pc:sldMk cId="1764993614" sldId="303"/>
            <ac:spMk id="3" creationId="{3D6AEC88-211A-4C79-873B-599FBDE52DD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B2B1B951-C510-4522-AF93-ADB85ED09AE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629B89B7-9CDA-4AA8-9698-7B71FD1985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70CF6B-A307-4891-9A3F-3BDEA15122F4}" type="datetimeFigureOut">
              <a:rPr lang="zh-TW" altLang="en-US" smtClean="0"/>
              <a:t>2023/7/4</a:t>
            </a:fld>
            <a:endParaRPr lang="zh-TW" altLang="en-US"/>
          </a:p>
        </p:txBody>
      </p:sp>
      <p:sp>
        <p:nvSpPr>
          <p:cNvPr id="4" name="頁尾版面配置區 3">
            <a:extLst>
              <a:ext uri="{FF2B5EF4-FFF2-40B4-BE49-F238E27FC236}">
                <a16:creationId xmlns:a16="http://schemas.microsoft.com/office/drawing/2014/main" id="{94AA06BA-A144-429D-9036-05EAC36F36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5D362C06-5F0E-4E9C-8F96-54694C2D61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0C0899-C804-4EB6-B155-7732788E8AAF}" type="slidenum">
              <a:rPr lang="zh-TW" altLang="en-US" smtClean="0"/>
              <a:t>‹#›</a:t>
            </a:fld>
            <a:endParaRPr lang="zh-TW" altLang="en-US"/>
          </a:p>
        </p:txBody>
      </p:sp>
    </p:spTree>
    <p:extLst>
      <p:ext uri="{BB962C8B-B14F-4D97-AF65-F5344CB8AC3E}">
        <p14:creationId xmlns:p14="http://schemas.microsoft.com/office/powerpoint/2010/main" val="23706857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0286B5-03C6-41D4-B2DC-EA76AD58808D}" type="datetimeFigureOut">
              <a:rPr lang="zh-TW" altLang="en-US" smtClean="0"/>
              <a:t>2023/7/4</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BB21A4-C6D0-470A-943D-BE54FF210D33}" type="slidenum">
              <a:rPr lang="zh-TW" altLang="en-US" smtClean="0"/>
              <a:t>‹#›</a:t>
            </a:fld>
            <a:endParaRPr lang="zh-TW" altLang="en-US"/>
          </a:p>
        </p:txBody>
      </p:sp>
    </p:spTree>
    <p:extLst>
      <p:ext uri="{BB962C8B-B14F-4D97-AF65-F5344CB8AC3E}">
        <p14:creationId xmlns:p14="http://schemas.microsoft.com/office/powerpoint/2010/main" val="29195028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a:t>
            </a:fld>
            <a:endParaRPr lang="zh-TW" altLang="en-US"/>
          </a:p>
        </p:txBody>
      </p:sp>
    </p:spTree>
    <p:extLst>
      <p:ext uri="{BB962C8B-B14F-4D97-AF65-F5344CB8AC3E}">
        <p14:creationId xmlns:p14="http://schemas.microsoft.com/office/powerpoint/2010/main" val="2128137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2</a:t>
            </a:fld>
            <a:endParaRPr lang="zh-TW" altLang="en-US"/>
          </a:p>
        </p:txBody>
      </p:sp>
    </p:spTree>
    <p:extLst>
      <p:ext uri="{BB962C8B-B14F-4D97-AF65-F5344CB8AC3E}">
        <p14:creationId xmlns:p14="http://schemas.microsoft.com/office/powerpoint/2010/main" val="953237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3</a:t>
            </a:fld>
            <a:endParaRPr lang="zh-TW" altLang="en-US"/>
          </a:p>
        </p:txBody>
      </p:sp>
    </p:spTree>
    <p:extLst>
      <p:ext uri="{BB962C8B-B14F-4D97-AF65-F5344CB8AC3E}">
        <p14:creationId xmlns:p14="http://schemas.microsoft.com/office/powerpoint/2010/main" val="3470912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5</a:t>
            </a:fld>
            <a:endParaRPr lang="zh-TW" altLang="en-US"/>
          </a:p>
        </p:txBody>
      </p:sp>
    </p:spTree>
    <p:extLst>
      <p:ext uri="{BB962C8B-B14F-4D97-AF65-F5344CB8AC3E}">
        <p14:creationId xmlns:p14="http://schemas.microsoft.com/office/powerpoint/2010/main" val="2326441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6</a:t>
            </a:fld>
            <a:endParaRPr lang="zh-TW" altLang="en-US"/>
          </a:p>
        </p:txBody>
      </p:sp>
    </p:spTree>
    <p:extLst>
      <p:ext uri="{BB962C8B-B14F-4D97-AF65-F5344CB8AC3E}">
        <p14:creationId xmlns:p14="http://schemas.microsoft.com/office/powerpoint/2010/main" val="15482017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7</a:t>
            </a:fld>
            <a:endParaRPr lang="zh-TW" altLang="en-US"/>
          </a:p>
        </p:txBody>
      </p:sp>
    </p:spTree>
    <p:extLst>
      <p:ext uri="{BB962C8B-B14F-4D97-AF65-F5344CB8AC3E}">
        <p14:creationId xmlns:p14="http://schemas.microsoft.com/office/powerpoint/2010/main" val="38883699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CN" b="0" i="0" dirty="0">
                <a:solidFill>
                  <a:srgbClr val="555555"/>
                </a:solidFill>
                <a:effectLst/>
                <a:latin typeface="Lato" panose="020F0502020204030204" pitchFamily="34" charset="0"/>
              </a:rPr>
              <a:t>A* </a:t>
            </a:r>
            <a:r>
              <a:rPr lang="zh-CN" altLang="en-US" b="0" i="0" dirty="0">
                <a:solidFill>
                  <a:srgbClr val="555555"/>
                </a:solidFill>
                <a:effectLst/>
                <a:latin typeface="Lato" panose="020F0502020204030204" pitchFamily="34" charset="0"/>
              </a:rPr>
              <a:t>算法首先从起点开始，计算周围的点的优先值并且加入优先队列。之后开始从优先队列中选取优先值最小的点，将其加入 </a:t>
            </a:r>
            <a:r>
              <a:rPr lang="en-US" altLang="zh-CN" b="0" i="0" dirty="0">
                <a:solidFill>
                  <a:srgbClr val="555555"/>
                </a:solidFill>
                <a:effectLst/>
                <a:latin typeface="Lato" panose="020F0502020204030204" pitchFamily="34" charset="0"/>
              </a:rPr>
              <a:t>close list </a:t>
            </a:r>
            <a:r>
              <a:rPr lang="zh-CN" altLang="en-US" b="0" i="0" dirty="0">
                <a:solidFill>
                  <a:srgbClr val="555555"/>
                </a:solidFill>
                <a:effectLst/>
                <a:latin typeface="Lato" panose="020F0502020204030204" pitchFamily="34" charset="0"/>
              </a:rPr>
              <a:t>并且同样计算周围的点的优先值加入优先队列（</a:t>
            </a:r>
            <a:r>
              <a:rPr lang="en-US" altLang="zh-CN" b="0" i="0" dirty="0">
                <a:solidFill>
                  <a:srgbClr val="555555"/>
                </a:solidFill>
                <a:effectLst/>
                <a:latin typeface="Lato" panose="020F0502020204030204" pitchFamily="34" charset="0"/>
              </a:rPr>
              <a:t>close list </a:t>
            </a:r>
            <a:r>
              <a:rPr lang="zh-CN" altLang="en-US" b="0" i="0" dirty="0">
                <a:solidFill>
                  <a:srgbClr val="555555"/>
                </a:solidFill>
                <a:effectLst/>
                <a:latin typeface="Lato" panose="020F0502020204030204" pitchFamily="34" charset="0"/>
              </a:rPr>
              <a:t>中的点就不需要再计算了）。不断重复这个过程直到搜索到终点算法就结束，返回路径。</a:t>
            </a:r>
            <a:endParaRPr lang="en-US" altLang="zh-CN" b="0" i="0" dirty="0">
              <a:solidFill>
                <a:srgbClr val="555555"/>
              </a:solidFill>
              <a:effectLst/>
              <a:latin typeface="Lato" panose="020F0502020204030204" pitchFamily="34" charset="0"/>
            </a:endParaRPr>
          </a:p>
          <a:p>
            <a:r>
              <a:rPr lang="zh-TW" altLang="en-US" b="0" i="0" dirty="0">
                <a:solidFill>
                  <a:srgbClr val="374151"/>
                </a:solidFill>
                <a:effectLst/>
                <a:latin typeface="Söhne"/>
              </a:rPr>
              <a:t>相對於其他路徑規劃演算法，</a:t>
            </a:r>
            <a:r>
              <a:rPr lang="en-US" altLang="zh-TW" b="0" i="0" dirty="0">
                <a:solidFill>
                  <a:srgbClr val="374151"/>
                </a:solidFill>
                <a:effectLst/>
                <a:latin typeface="Söhne"/>
              </a:rPr>
              <a:t>A</a:t>
            </a:r>
            <a:r>
              <a:rPr lang="zh-TW" altLang="en-US" b="0" i="1" dirty="0">
                <a:solidFill>
                  <a:srgbClr val="374151"/>
                </a:solidFill>
                <a:effectLst/>
                <a:latin typeface="Söhne"/>
              </a:rPr>
              <a:t>算法在計算上較為簡單，並且它的效率使得它適用於受限制和嵌入式系統上的運行。</a:t>
            </a:r>
            <a:r>
              <a:rPr lang="en-US" altLang="zh-TW" b="0" i="1" dirty="0">
                <a:solidFill>
                  <a:srgbClr val="374151"/>
                </a:solidFill>
                <a:effectLst/>
                <a:latin typeface="Söhne"/>
              </a:rPr>
              <a:t>A</a:t>
            </a:r>
            <a:r>
              <a:rPr lang="zh-TW" altLang="en-US" b="0" i="0" dirty="0">
                <a:solidFill>
                  <a:srgbClr val="374151"/>
                </a:solidFill>
                <a:effectLst/>
                <a:latin typeface="Söhne"/>
              </a:rPr>
              <a:t>算法是一種利用啟發式信息尋找最佳路徑的演算法，可以通過設置適當的啟發式函數來指導搜索，例如歐幾里得距離、曼哈頓距離或對角距離等。</a:t>
            </a:r>
            <a:endParaRPr lang="en-US" altLang="zh-TW" b="0" i="0" dirty="0">
              <a:solidFill>
                <a:srgbClr val="555555"/>
              </a:solidFill>
              <a:effectLst/>
              <a:latin typeface="Lato" panose="020F0502020204030204" pitchFamily="34" charset="0"/>
            </a:endParaRPr>
          </a:p>
          <a:p>
            <a:r>
              <a:rPr lang="zh-TW" altLang="en-US" b="0" i="0" dirty="0">
                <a:solidFill>
                  <a:srgbClr val="374151"/>
                </a:solidFill>
                <a:effectLst/>
                <a:latin typeface="Söhne"/>
              </a:rPr>
              <a:t>在使用</a:t>
            </a:r>
            <a:r>
              <a:rPr lang="en-US" altLang="zh-TW" b="0" i="0" dirty="0">
                <a:solidFill>
                  <a:srgbClr val="374151"/>
                </a:solidFill>
                <a:effectLst/>
                <a:latin typeface="Söhne"/>
              </a:rPr>
              <a:t>A*</a:t>
            </a:r>
            <a:r>
              <a:rPr lang="zh-TW" altLang="en-US" b="0" i="0" dirty="0">
                <a:solidFill>
                  <a:srgbClr val="374151"/>
                </a:solidFill>
                <a:effectLst/>
                <a:latin typeface="Söhne"/>
              </a:rPr>
              <a:t>算法時，速度和準確性之間存在一個折衷。我們可以通過增加內存來降低算法的時間複雜度，或者通過降低內存來獲得較慢的執行速度。</a:t>
            </a:r>
            <a:endParaRPr lang="en-US" altLang="zh-TW" b="0" i="0" dirty="0">
              <a:solidFill>
                <a:srgbClr val="374151"/>
              </a:solidFill>
              <a:effectLst/>
              <a:latin typeface="Söhne"/>
            </a:endParaRPr>
          </a:p>
          <a:p>
            <a:r>
              <a:rPr lang="zh-TW" altLang="en-US" b="0" i="0" dirty="0">
                <a:solidFill>
                  <a:srgbClr val="374151"/>
                </a:solidFill>
                <a:effectLst/>
                <a:latin typeface="Söhne"/>
              </a:rPr>
              <a:t>總的來說，</a:t>
            </a:r>
            <a:r>
              <a:rPr lang="en-US" altLang="zh-TW" b="0" i="0" dirty="0">
                <a:solidFill>
                  <a:srgbClr val="374151"/>
                </a:solidFill>
                <a:effectLst/>
                <a:latin typeface="Söhne"/>
              </a:rPr>
              <a:t>A</a:t>
            </a:r>
            <a:r>
              <a:rPr lang="zh-TW" altLang="en-US" b="0" i="1" dirty="0">
                <a:solidFill>
                  <a:srgbClr val="374151"/>
                </a:solidFill>
                <a:effectLst/>
                <a:latin typeface="Söhne"/>
              </a:rPr>
              <a:t>算法在靜態環境中具有較高的計算效率，這使得它適合應用在靜態環境中。</a:t>
            </a:r>
            <a:r>
              <a:rPr lang="en-US" altLang="zh-TW" b="0" i="1" dirty="0">
                <a:solidFill>
                  <a:srgbClr val="374151"/>
                </a:solidFill>
                <a:effectLst/>
                <a:latin typeface="Söhne"/>
              </a:rPr>
              <a:t>A</a:t>
            </a:r>
            <a:r>
              <a:rPr lang="zh-TW" altLang="en-US" b="0" i="0" dirty="0">
                <a:solidFill>
                  <a:srgbClr val="374151"/>
                </a:solidFill>
                <a:effectLst/>
                <a:latin typeface="Söhne"/>
              </a:rPr>
              <a:t>算法及其變體的計算速度和效率取決於啟發式函數的準確性。</a:t>
            </a:r>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11</a:t>
            </a:fld>
            <a:endParaRPr lang="zh-TW" altLang="en-US"/>
          </a:p>
        </p:txBody>
      </p:sp>
    </p:spTree>
    <p:extLst>
      <p:ext uri="{BB962C8B-B14F-4D97-AF65-F5344CB8AC3E}">
        <p14:creationId xmlns:p14="http://schemas.microsoft.com/office/powerpoint/2010/main" val="12745071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12</a:t>
            </a:fld>
            <a:endParaRPr lang="zh-TW" altLang="en-US"/>
          </a:p>
        </p:txBody>
      </p:sp>
    </p:spTree>
    <p:extLst>
      <p:ext uri="{BB962C8B-B14F-4D97-AF65-F5344CB8AC3E}">
        <p14:creationId xmlns:p14="http://schemas.microsoft.com/office/powerpoint/2010/main" val="24006241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13</a:t>
            </a:fld>
            <a:endParaRPr lang="zh-TW" altLang="en-US"/>
          </a:p>
        </p:txBody>
      </p:sp>
    </p:spTree>
    <p:extLst>
      <p:ext uri="{BB962C8B-B14F-4D97-AF65-F5344CB8AC3E}">
        <p14:creationId xmlns:p14="http://schemas.microsoft.com/office/powerpoint/2010/main" val="1631031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14</a:t>
            </a:fld>
            <a:endParaRPr lang="zh-TW" altLang="en-US"/>
          </a:p>
        </p:txBody>
      </p:sp>
    </p:spTree>
    <p:extLst>
      <p:ext uri="{BB962C8B-B14F-4D97-AF65-F5344CB8AC3E}">
        <p14:creationId xmlns:p14="http://schemas.microsoft.com/office/powerpoint/2010/main" val="3497881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15</a:t>
            </a:fld>
            <a:endParaRPr lang="zh-TW" altLang="en-US"/>
          </a:p>
        </p:txBody>
      </p:sp>
    </p:spTree>
    <p:extLst>
      <p:ext uri="{BB962C8B-B14F-4D97-AF65-F5344CB8AC3E}">
        <p14:creationId xmlns:p14="http://schemas.microsoft.com/office/powerpoint/2010/main" val="2882359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16</a:t>
            </a:fld>
            <a:endParaRPr lang="zh-TW" altLang="en-US"/>
          </a:p>
        </p:txBody>
      </p:sp>
    </p:spTree>
    <p:extLst>
      <p:ext uri="{BB962C8B-B14F-4D97-AF65-F5344CB8AC3E}">
        <p14:creationId xmlns:p14="http://schemas.microsoft.com/office/powerpoint/2010/main" val="42613708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17</a:t>
            </a:fld>
            <a:endParaRPr lang="zh-TW" altLang="en-US"/>
          </a:p>
        </p:txBody>
      </p:sp>
    </p:spTree>
    <p:extLst>
      <p:ext uri="{BB962C8B-B14F-4D97-AF65-F5344CB8AC3E}">
        <p14:creationId xmlns:p14="http://schemas.microsoft.com/office/powerpoint/2010/main" val="1459800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6AED7B-3AC0-43C0-BDB3-2C4AFA9F738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559334D-3BE1-454D-9C46-049A5FE3D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F7A35ED-A91A-418B-8EEF-606731AB7C7E}"/>
              </a:ext>
            </a:extLst>
          </p:cNvPr>
          <p:cNvSpPr>
            <a:spLocks noGrp="1"/>
          </p:cNvSpPr>
          <p:nvPr>
            <p:ph type="dt" sz="half" idx="10"/>
          </p:nvPr>
        </p:nvSpPr>
        <p:spPr/>
        <p:txBody>
          <a:bodyPr/>
          <a:lstStyle/>
          <a:p>
            <a:fld id="{E34719EE-CC92-45A1-848A-E62A6F69E5FD}" type="datetime1">
              <a:rPr lang="zh-TW" altLang="en-US" smtClean="0"/>
              <a:t>2023/7/4</a:t>
            </a:fld>
            <a:endParaRPr lang="zh-TW" altLang="en-US"/>
          </a:p>
        </p:txBody>
      </p:sp>
      <p:sp>
        <p:nvSpPr>
          <p:cNvPr id="5" name="頁尾版面配置區 4">
            <a:extLst>
              <a:ext uri="{FF2B5EF4-FFF2-40B4-BE49-F238E27FC236}">
                <a16:creationId xmlns:a16="http://schemas.microsoft.com/office/drawing/2014/main" id="{8F23CF94-5147-4E2D-94FA-D156783F20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FF78306-98C1-4A20-8451-B89524CEFC32}"/>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788649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30CE7C-B11A-4592-99DC-9295D556CFC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3C089F3-337E-4191-A36B-B85915E374DF}"/>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41B5F5D-1566-460B-B7A8-7789F4ADD5CE}"/>
              </a:ext>
            </a:extLst>
          </p:cNvPr>
          <p:cNvSpPr>
            <a:spLocks noGrp="1"/>
          </p:cNvSpPr>
          <p:nvPr>
            <p:ph type="dt" sz="half" idx="10"/>
          </p:nvPr>
        </p:nvSpPr>
        <p:spPr/>
        <p:txBody>
          <a:bodyPr/>
          <a:lstStyle/>
          <a:p>
            <a:fld id="{2410B330-CB06-4033-8D67-C4343070258D}" type="datetime1">
              <a:rPr lang="zh-TW" altLang="en-US" smtClean="0"/>
              <a:t>2023/7/4</a:t>
            </a:fld>
            <a:endParaRPr lang="zh-TW" altLang="en-US"/>
          </a:p>
        </p:txBody>
      </p:sp>
      <p:sp>
        <p:nvSpPr>
          <p:cNvPr id="5" name="頁尾版面配置區 4">
            <a:extLst>
              <a:ext uri="{FF2B5EF4-FFF2-40B4-BE49-F238E27FC236}">
                <a16:creationId xmlns:a16="http://schemas.microsoft.com/office/drawing/2014/main" id="{8351E327-56EF-4EB4-9B53-5A579EBE19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8C7FCE-3342-4CB2-A64D-A352D2C2821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184112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E3A202-ECCD-4387-858D-619D6A0C10A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207F5F8-0D71-4C88-AF0D-4F91124A42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822F8C89-B173-48C4-AA79-F8D0D1713FE4}"/>
              </a:ext>
            </a:extLst>
          </p:cNvPr>
          <p:cNvSpPr>
            <a:spLocks noGrp="1"/>
          </p:cNvSpPr>
          <p:nvPr>
            <p:ph type="dt" sz="half" idx="10"/>
          </p:nvPr>
        </p:nvSpPr>
        <p:spPr/>
        <p:txBody>
          <a:bodyPr/>
          <a:lstStyle/>
          <a:p>
            <a:fld id="{57DE7F20-22FE-4AC5-BB9E-06EA31EBF516}" type="datetime1">
              <a:rPr lang="zh-TW" altLang="en-US" smtClean="0"/>
              <a:t>2023/7/4</a:t>
            </a:fld>
            <a:endParaRPr lang="zh-TW" altLang="en-US"/>
          </a:p>
        </p:txBody>
      </p:sp>
      <p:sp>
        <p:nvSpPr>
          <p:cNvPr id="5" name="頁尾版面配置區 4">
            <a:extLst>
              <a:ext uri="{FF2B5EF4-FFF2-40B4-BE49-F238E27FC236}">
                <a16:creationId xmlns:a16="http://schemas.microsoft.com/office/drawing/2014/main" id="{841A0F6C-077B-4EE8-B87C-AE9C8921202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5D9F22-282D-4976-8BB0-765254681B9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979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9DB818-75A8-4B63-9429-11BAB3087F9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AE8C4E-C2D1-40BD-80F2-198479EE78D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5A9DCA7-BAC7-4C10-B29E-195D854612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A48D530-75DC-40E5-8EF8-661ECE2D38CE}"/>
              </a:ext>
            </a:extLst>
          </p:cNvPr>
          <p:cNvSpPr>
            <a:spLocks noGrp="1"/>
          </p:cNvSpPr>
          <p:nvPr>
            <p:ph type="dt" sz="half" idx="10"/>
          </p:nvPr>
        </p:nvSpPr>
        <p:spPr/>
        <p:txBody>
          <a:bodyPr/>
          <a:lstStyle/>
          <a:p>
            <a:fld id="{E17CD23D-B9C5-4883-A841-45C28286401F}" type="datetime1">
              <a:rPr lang="zh-TW" altLang="en-US" smtClean="0"/>
              <a:t>2023/7/4</a:t>
            </a:fld>
            <a:endParaRPr lang="zh-TW" altLang="en-US"/>
          </a:p>
        </p:txBody>
      </p:sp>
      <p:sp>
        <p:nvSpPr>
          <p:cNvPr id="6" name="頁尾版面配置區 5">
            <a:extLst>
              <a:ext uri="{FF2B5EF4-FFF2-40B4-BE49-F238E27FC236}">
                <a16:creationId xmlns:a16="http://schemas.microsoft.com/office/drawing/2014/main" id="{CC4826B8-E693-43BF-95C5-22E21059581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8AF8187-80C0-4C29-ADB6-DA00CA1DC0C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35293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66C6E3-92E0-4351-B2DC-E52F39BD89B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18CC00D-5393-41C3-AF1B-041CAF3F1B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B74B4B1B-E61B-46D8-9A90-03280E45DE8E}"/>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F04706E-A3A2-4316-93FC-42B46B8BA6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73F1D73-774D-45EB-9450-3CB0C9304736}"/>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4CAC80A6-81BA-47AA-AA43-42EC35F8FAF9}"/>
              </a:ext>
            </a:extLst>
          </p:cNvPr>
          <p:cNvSpPr>
            <a:spLocks noGrp="1"/>
          </p:cNvSpPr>
          <p:nvPr>
            <p:ph type="dt" sz="half" idx="10"/>
          </p:nvPr>
        </p:nvSpPr>
        <p:spPr/>
        <p:txBody>
          <a:bodyPr/>
          <a:lstStyle/>
          <a:p>
            <a:fld id="{0808FB18-E334-40DF-8913-297E53BF38F7}" type="datetime1">
              <a:rPr lang="zh-TW" altLang="en-US" smtClean="0"/>
              <a:t>2023/7/4</a:t>
            </a:fld>
            <a:endParaRPr lang="zh-TW" altLang="en-US"/>
          </a:p>
        </p:txBody>
      </p:sp>
      <p:sp>
        <p:nvSpPr>
          <p:cNvPr id="8" name="頁尾版面配置區 7">
            <a:extLst>
              <a:ext uri="{FF2B5EF4-FFF2-40B4-BE49-F238E27FC236}">
                <a16:creationId xmlns:a16="http://schemas.microsoft.com/office/drawing/2014/main" id="{AE74EAC2-C744-4AE5-AE34-F47FC14CB449}"/>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4328309-436C-45EA-A6EE-D4EF01A3CE9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997366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68319E-7001-4D86-9C66-59FF95494D8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4526E76-6DDF-423C-840E-0C29F12161F7}"/>
              </a:ext>
            </a:extLst>
          </p:cNvPr>
          <p:cNvSpPr>
            <a:spLocks noGrp="1"/>
          </p:cNvSpPr>
          <p:nvPr>
            <p:ph type="dt" sz="half" idx="10"/>
          </p:nvPr>
        </p:nvSpPr>
        <p:spPr/>
        <p:txBody>
          <a:bodyPr/>
          <a:lstStyle/>
          <a:p>
            <a:fld id="{8468BF0B-4931-43DB-AFF9-ECAB917261FB}" type="datetime1">
              <a:rPr lang="zh-TW" altLang="en-US" smtClean="0"/>
              <a:t>2023/7/4</a:t>
            </a:fld>
            <a:endParaRPr lang="zh-TW" altLang="en-US"/>
          </a:p>
        </p:txBody>
      </p:sp>
      <p:sp>
        <p:nvSpPr>
          <p:cNvPr id="4" name="頁尾版面配置區 3">
            <a:extLst>
              <a:ext uri="{FF2B5EF4-FFF2-40B4-BE49-F238E27FC236}">
                <a16:creationId xmlns:a16="http://schemas.microsoft.com/office/drawing/2014/main" id="{DD9D2800-CEBA-4036-A26B-CE8FB2EA1AF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98B8CC3-87C3-4792-B025-86FEA6CB961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471133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8F7A8DF-7CAF-40EA-A813-9D70AD0E3DE5}"/>
              </a:ext>
            </a:extLst>
          </p:cNvPr>
          <p:cNvSpPr>
            <a:spLocks noGrp="1"/>
          </p:cNvSpPr>
          <p:nvPr>
            <p:ph type="dt" sz="half" idx="10"/>
          </p:nvPr>
        </p:nvSpPr>
        <p:spPr/>
        <p:txBody>
          <a:bodyPr/>
          <a:lstStyle/>
          <a:p>
            <a:fld id="{C30401FB-DC53-4A39-AB71-3E05DF9680A5}" type="datetime1">
              <a:rPr lang="zh-TW" altLang="en-US" smtClean="0"/>
              <a:t>2023/7/4</a:t>
            </a:fld>
            <a:endParaRPr lang="zh-TW" altLang="en-US"/>
          </a:p>
        </p:txBody>
      </p:sp>
      <p:sp>
        <p:nvSpPr>
          <p:cNvPr id="3" name="頁尾版面配置區 2">
            <a:extLst>
              <a:ext uri="{FF2B5EF4-FFF2-40B4-BE49-F238E27FC236}">
                <a16:creationId xmlns:a16="http://schemas.microsoft.com/office/drawing/2014/main" id="{5719E78A-F621-4136-9BC3-87E7F8B249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5EFECFB-C447-487D-B43B-1B5B71697FB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154182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CC23B8-75A5-4019-B628-F1C82E5382B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99A34CC-502A-423E-932E-39CE4BC555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5DBAFA7-CF5D-40EC-82C2-AC3D0C4C26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69C2E307-A73A-4F80-B550-AE2F641E85EB}"/>
              </a:ext>
            </a:extLst>
          </p:cNvPr>
          <p:cNvSpPr>
            <a:spLocks noGrp="1"/>
          </p:cNvSpPr>
          <p:nvPr>
            <p:ph type="dt" sz="half" idx="10"/>
          </p:nvPr>
        </p:nvSpPr>
        <p:spPr/>
        <p:txBody>
          <a:bodyPr/>
          <a:lstStyle/>
          <a:p>
            <a:fld id="{D3DC3587-5ABE-4311-A519-7F8CF83C098B}" type="datetime1">
              <a:rPr lang="zh-TW" altLang="en-US" smtClean="0"/>
              <a:t>2023/7/4</a:t>
            </a:fld>
            <a:endParaRPr lang="zh-TW" altLang="en-US"/>
          </a:p>
        </p:txBody>
      </p:sp>
      <p:sp>
        <p:nvSpPr>
          <p:cNvPr id="6" name="頁尾版面配置區 5">
            <a:extLst>
              <a:ext uri="{FF2B5EF4-FFF2-40B4-BE49-F238E27FC236}">
                <a16:creationId xmlns:a16="http://schemas.microsoft.com/office/drawing/2014/main" id="{0A3A147B-79C1-412A-B2FF-8D32DF46510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AA629CE-B57F-4520-A533-B44C6A2C8BA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796774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D55816-64E8-462B-A3D7-4453B003379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40DF5AE-4B4C-4B45-AC23-AA4CFC3055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F4118706-CAE1-4FEA-B01D-7CE0654D4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2AF1CF92-18B7-4CB0-8C56-AF0B883E3B7B}"/>
              </a:ext>
            </a:extLst>
          </p:cNvPr>
          <p:cNvSpPr>
            <a:spLocks noGrp="1"/>
          </p:cNvSpPr>
          <p:nvPr>
            <p:ph type="dt" sz="half" idx="10"/>
          </p:nvPr>
        </p:nvSpPr>
        <p:spPr/>
        <p:txBody>
          <a:bodyPr/>
          <a:lstStyle/>
          <a:p>
            <a:fld id="{D2DA342B-0A8F-45F2-921C-3FDF514126B7}" type="datetime1">
              <a:rPr lang="zh-TW" altLang="en-US" smtClean="0"/>
              <a:t>2023/7/4</a:t>
            </a:fld>
            <a:endParaRPr lang="zh-TW" altLang="en-US"/>
          </a:p>
        </p:txBody>
      </p:sp>
      <p:sp>
        <p:nvSpPr>
          <p:cNvPr id="6" name="頁尾版面配置區 5">
            <a:extLst>
              <a:ext uri="{FF2B5EF4-FFF2-40B4-BE49-F238E27FC236}">
                <a16:creationId xmlns:a16="http://schemas.microsoft.com/office/drawing/2014/main" id="{2ADBC973-241B-4503-ADCE-06D35A39F1A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B66D3F1-4059-4827-95C2-E95F79F4187F}"/>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78461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9D1DF3-8597-4AC3-9592-591615E93AE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5D238C8-B4FB-46C1-B87B-DC663D229B15}"/>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D766127-E315-4D91-8EF2-B008095B6E77}"/>
              </a:ext>
            </a:extLst>
          </p:cNvPr>
          <p:cNvSpPr>
            <a:spLocks noGrp="1"/>
          </p:cNvSpPr>
          <p:nvPr>
            <p:ph type="dt" sz="half" idx="10"/>
          </p:nvPr>
        </p:nvSpPr>
        <p:spPr/>
        <p:txBody>
          <a:bodyPr/>
          <a:lstStyle/>
          <a:p>
            <a:fld id="{A6AD3143-C9CF-4834-9DEF-9BC47245ADD3}" type="datetime1">
              <a:rPr lang="zh-TW" altLang="en-US" smtClean="0"/>
              <a:t>2023/7/4</a:t>
            </a:fld>
            <a:endParaRPr lang="zh-TW" altLang="en-US"/>
          </a:p>
        </p:txBody>
      </p:sp>
      <p:sp>
        <p:nvSpPr>
          <p:cNvPr id="5" name="頁尾版面配置區 4">
            <a:extLst>
              <a:ext uri="{FF2B5EF4-FFF2-40B4-BE49-F238E27FC236}">
                <a16:creationId xmlns:a16="http://schemas.microsoft.com/office/drawing/2014/main" id="{8B76B946-7EAB-42DF-A2F5-EACCC43DE19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00A8436-D093-407E-A6F6-4CF3FE749A6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1528449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79C0EB2-FDD9-45F9-BD56-C202BA6F85C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A5302A6-36E0-4F61-95D0-FFF22F355FC8}"/>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FB54F25-B1AD-4B0D-B783-5F7604B3BEA1}"/>
              </a:ext>
            </a:extLst>
          </p:cNvPr>
          <p:cNvSpPr>
            <a:spLocks noGrp="1"/>
          </p:cNvSpPr>
          <p:nvPr>
            <p:ph type="dt" sz="half" idx="10"/>
          </p:nvPr>
        </p:nvSpPr>
        <p:spPr/>
        <p:txBody>
          <a:bodyPr/>
          <a:lstStyle/>
          <a:p>
            <a:fld id="{2FEA573D-32C6-443E-A69A-182A1B82649D}" type="datetime1">
              <a:rPr lang="zh-TW" altLang="en-US" smtClean="0"/>
              <a:t>2023/7/4</a:t>
            </a:fld>
            <a:endParaRPr lang="zh-TW" altLang="en-US"/>
          </a:p>
        </p:txBody>
      </p:sp>
      <p:sp>
        <p:nvSpPr>
          <p:cNvPr id="5" name="頁尾版面配置區 4">
            <a:extLst>
              <a:ext uri="{FF2B5EF4-FFF2-40B4-BE49-F238E27FC236}">
                <a16:creationId xmlns:a16="http://schemas.microsoft.com/office/drawing/2014/main" id="{458B8143-DD91-4913-9BBC-F47FA1D7AE9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827F965-69A7-40AE-AB34-F6BB6055C539}"/>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27644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FA6E97-504F-4D83-A00A-ACFAB093FB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835DDF6-3759-49B7-9B87-FFD02FD5AA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E763631-A33B-462D-B65B-99A0817F5D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735890-F13E-4E65-8362-5C488D5B0D04}" type="datetime1">
              <a:rPr lang="zh-TW" altLang="en-US" smtClean="0"/>
              <a:t>2023/7/4</a:t>
            </a:fld>
            <a:endParaRPr lang="zh-TW" altLang="en-US"/>
          </a:p>
        </p:txBody>
      </p:sp>
      <p:sp>
        <p:nvSpPr>
          <p:cNvPr id="5" name="頁尾版面配置區 4">
            <a:extLst>
              <a:ext uri="{FF2B5EF4-FFF2-40B4-BE49-F238E27FC236}">
                <a16:creationId xmlns:a16="http://schemas.microsoft.com/office/drawing/2014/main" id="{B01C28F1-D551-4915-B007-99BD38614E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B8AB29E7-4E9B-4190-8484-4F45F88BC0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85547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B35EA8-3B84-42D5-BAD0-9B2BE5F58BE1}"/>
              </a:ext>
            </a:extLst>
          </p:cNvPr>
          <p:cNvSpPr>
            <a:spLocks noGrp="1"/>
          </p:cNvSpPr>
          <p:nvPr>
            <p:ph type="ctrTitle"/>
          </p:nvPr>
        </p:nvSpPr>
        <p:spPr>
          <a:xfrm>
            <a:off x="1524000" y="932954"/>
            <a:ext cx="9144000" cy="2387600"/>
          </a:xfrm>
        </p:spPr>
        <p:txBody>
          <a:bodyPr>
            <a:noAutofit/>
          </a:bodyPr>
          <a:lstStyle/>
          <a:p>
            <a:r>
              <a:rPr lang="en-US" altLang="zh-TW" sz="4400" b="1" dirty="0">
                <a:solidFill>
                  <a:srgbClr val="333333"/>
                </a:solidFill>
                <a:latin typeface="Times New Roman" panose="02020603050405020304" pitchFamily="18" charset="0"/>
                <a:cs typeface="Times New Roman" panose="02020603050405020304" pitchFamily="18" charset="0"/>
              </a:rPr>
              <a:t>A Survey of Path Planning Algorithms for Mobile Robots</a:t>
            </a:r>
            <a:endParaRPr lang="en-US" altLang="zh-TW" sz="4400" b="1" i="0" dirty="0">
              <a:solidFill>
                <a:srgbClr val="333333"/>
              </a:solidFill>
              <a:effectLst/>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4E6F3D17-E5C7-4A7C-946D-5608813E8227}"/>
              </a:ext>
            </a:extLst>
          </p:cNvPr>
          <p:cNvSpPr>
            <a:spLocks noGrp="1"/>
          </p:cNvSpPr>
          <p:nvPr>
            <p:ph type="subTitle" idx="1"/>
          </p:nvPr>
        </p:nvSpPr>
        <p:spPr>
          <a:xfrm>
            <a:off x="1524000" y="3858821"/>
            <a:ext cx="9144000" cy="1655762"/>
          </a:xfrm>
        </p:spPr>
        <p:txBody>
          <a:bodyPr/>
          <a:lstStyle/>
          <a:p>
            <a:r>
              <a:rPr lang="en-US" altLang="zh-TW" dirty="0">
                <a:latin typeface="Times New Roman" panose="02020603050405020304" pitchFamily="18" charset="0"/>
                <a:cs typeface="Times New Roman" panose="02020603050405020304" pitchFamily="18" charset="0"/>
              </a:rPr>
              <a:t>Karthik Karur, Nitin Sharma, Chinmay </a:t>
            </a:r>
            <a:r>
              <a:rPr lang="en-US" altLang="zh-TW" dirty="0" err="1">
                <a:latin typeface="Times New Roman" panose="02020603050405020304" pitchFamily="18" charset="0"/>
                <a:cs typeface="Times New Roman" panose="02020603050405020304" pitchFamily="18" charset="0"/>
              </a:rPr>
              <a:t>Dharmatti</a:t>
            </a:r>
            <a:r>
              <a:rPr lang="en-US" altLang="zh-TW" dirty="0">
                <a:latin typeface="Times New Roman" panose="02020603050405020304" pitchFamily="18" charset="0"/>
                <a:cs typeface="Times New Roman" panose="02020603050405020304" pitchFamily="18" charset="0"/>
              </a:rPr>
              <a:t>, Joshua E. Siegel (2021). A Survey of Path Planning Algorithms for Mobile Robots. Vehicles, 3(3), 448-468.</a:t>
            </a:r>
            <a:endParaRPr lang="zh-TW" altLang="en-US" dirty="0">
              <a:latin typeface="Times New Roman" panose="02020603050405020304" pitchFamily="18" charset="0"/>
              <a:cs typeface="Times New Roman" panose="02020603050405020304" pitchFamily="18" charset="0"/>
            </a:endParaRPr>
          </a:p>
        </p:txBody>
      </p:sp>
      <p:sp>
        <p:nvSpPr>
          <p:cNvPr id="4" name="Google Shape;56;p13">
            <a:extLst>
              <a:ext uri="{FF2B5EF4-FFF2-40B4-BE49-F238E27FC236}">
                <a16:creationId xmlns:a16="http://schemas.microsoft.com/office/drawing/2014/main" id="{06C1D35A-D785-485D-9332-2BCA50B420B3}"/>
              </a:ext>
            </a:extLst>
          </p:cNvPr>
          <p:cNvSpPr txBox="1"/>
          <p:nvPr/>
        </p:nvSpPr>
        <p:spPr>
          <a:xfrm>
            <a:off x="7904957" y="5834548"/>
            <a:ext cx="3920100" cy="800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zh-TW" sz="2000" dirty="0">
                <a:latin typeface="Times New Roman"/>
                <a:ea typeface="Times New Roman"/>
                <a:cs typeface="Times New Roman"/>
                <a:sym typeface="Times New Roman"/>
              </a:rPr>
              <a:t>Presenter: </a:t>
            </a:r>
            <a:r>
              <a:rPr lang="en-US" altLang="zh-TW" sz="2000" dirty="0">
                <a:latin typeface="Times New Roman"/>
                <a:ea typeface="Times New Roman"/>
                <a:cs typeface="Times New Roman"/>
                <a:sym typeface="Times New Roman"/>
              </a:rPr>
              <a:t>Yu-Chen Lin</a:t>
            </a:r>
            <a:endParaRPr sz="2000" dirty="0">
              <a:latin typeface="Times New Roman"/>
              <a:ea typeface="Times New Roman"/>
              <a:cs typeface="Times New Roman"/>
              <a:sym typeface="Times New Roman"/>
            </a:endParaRPr>
          </a:p>
          <a:p>
            <a:pPr marL="0" lvl="0" indent="0" algn="r" rtl="0">
              <a:spcBef>
                <a:spcPts val="0"/>
              </a:spcBef>
              <a:spcAft>
                <a:spcPts val="0"/>
              </a:spcAft>
              <a:buNone/>
            </a:pPr>
            <a:r>
              <a:rPr lang="zh-TW" sz="2000" dirty="0">
                <a:latin typeface="Times New Roman"/>
                <a:ea typeface="Times New Roman"/>
                <a:cs typeface="Times New Roman"/>
                <a:sym typeface="Times New Roman"/>
              </a:rPr>
              <a:t>Date: </a:t>
            </a:r>
            <a:r>
              <a:rPr lang="en-US" altLang="zh-TW" sz="2000">
                <a:latin typeface="Times New Roman"/>
                <a:ea typeface="Times New Roman"/>
                <a:cs typeface="Times New Roman"/>
                <a:sym typeface="Times New Roman"/>
              </a:rPr>
              <a:t>July</a:t>
            </a:r>
            <a:r>
              <a:rPr lang="zh-TW" sz="2000">
                <a:latin typeface="Times New Roman"/>
                <a:ea typeface="Times New Roman"/>
                <a:cs typeface="Times New Roman"/>
                <a:sym typeface="Times New Roman"/>
              </a:rPr>
              <a:t> </a:t>
            </a:r>
            <a:r>
              <a:rPr lang="en-US" altLang="zh-TW" sz="2000" dirty="0">
                <a:latin typeface="Times New Roman"/>
                <a:ea typeface="Times New Roman"/>
                <a:cs typeface="Times New Roman"/>
                <a:sym typeface="Times New Roman"/>
              </a:rPr>
              <a:t>4</a:t>
            </a:r>
            <a:r>
              <a:rPr lang="zh-TW" sz="2000" dirty="0">
                <a:latin typeface="Times New Roman"/>
                <a:ea typeface="Times New Roman"/>
                <a:cs typeface="Times New Roman"/>
                <a:sym typeface="Times New Roman"/>
              </a:rPr>
              <a:t>, 202</a:t>
            </a:r>
            <a:r>
              <a:rPr lang="en-US" altLang="zh-TW" sz="2000" dirty="0">
                <a:latin typeface="Times New Roman"/>
                <a:ea typeface="Times New Roman"/>
                <a:cs typeface="Times New Roman"/>
                <a:sym typeface="Times New Roman"/>
              </a:rPr>
              <a:t>3</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98855893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Abstract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825625"/>
            <a:ext cx="10515600" cy="4351338"/>
          </a:xfrm>
        </p:spPr>
        <p:txBody>
          <a:bodyPr>
            <a:normAutofit fontScale="77500" lnSpcReduction="20000"/>
          </a:bodyPr>
          <a:lstStyle/>
          <a:p>
            <a:pPr marL="0" indent="0">
              <a:buNone/>
            </a:pPr>
            <a:r>
              <a:rPr lang="en-US" altLang="zh-TW" sz="2400" dirty="0">
                <a:latin typeface="Times New Roman" panose="02020603050405020304" pitchFamily="18" charset="0"/>
                <a:cs typeface="Times New Roman" panose="02020603050405020304" pitchFamily="18" charset="0"/>
              </a:rPr>
              <a:t>	</a:t>
            </a:r>
            <a:r>
              <a:rPr lang="en-US" altLang="zh-TW" sz="3100" dirty="0">
                <a:solidFill>
                  <a:srgbClr val="333333"/>
                </a:solidFill>
                <a:latin typeface="Times New Roman" panose="02020603050405020304" pitchFamily="18" charset="0"/>
                <a:cs typeface="Times New Roman" panose="02020603050405020304" pitchFamily="18" charset="0"/>
              </a:rPr>
              <a:t>Path planning algorithms are used by mobile robots, unmanned aerial vehicles, and autonomous cars in order to identify safe, efficient, collision-free, and least-cost travel paths from an origin to a destination. Choosing an appropriate path planning algorithm helps to ensure safe and effective point-to-point navigation, and the optimal algorithm depends on the robot geometry as well as the computing constraints, including static/holonomic and dynamic/non-</a:t>
            </a:r>
            <a:r>
              <a:rPr lang="en-US" altLang="zh-TW" sz="3100" dirty="0" err="1">
                <a:solidFill>
                  <a:srgbClr val="333333"/>
                </a:solidFill>
                <a:latin typeface="Times New Roman" panose="02020603050405020304" pitchFamily="18" charset="0"/>
                <a:cs typeface="Times New Roman" panose="02020603050405020304" pitchFamily="18" charset="0"/>
              </a:rPr>
              <a:t>holonomically</a:t>
            </a:r>
            <a:r>
              <a:rPr lang="en-US" altLang="zh-TW" sz="3100" dirty="0">
                <a:solidFill>
                  <a:srgbClr val="333333"/>
                </a:solidFill>
                <a:latin typeface="Times New Roman" panose="02020603050405020304" pitchFamily="18" charset="0"/>
                <a:cs typeface="Times New Roman" panose="02020603050405020304" pitchFamily="18" charset="0"/>
              </a:rPr>
              <a:t>-constrained systems, and requires a comprehensive understanding of contemporary solutions. The goal of this paper is to help novice practitioners gain an awareness of the classes of path planning algorithms used today and to understand their potential use cases—particularly within automated or unmanned systems. To that end, we provide broad, rather than deep, coverage of key and foundational algorithms, with popular algorithms and variants considered in the context of different robotic systems. The definitions, summaries, and comparisons are relevant to novice robotics engineers and embedded system developers seeking a primer of available algorithms.</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2</a:t>
            </a:fld>
            <a:endParaRPr lang="zh-TW" altLang="en-US"/>
          </a:p>
        </p:txBody>
      </p:sp>
    </p:spTree>
    <p:extLst>
      <p:ext uri="{BB962C8B-B14F-4D97-AF65-F5344CB8AC3E}">
        <p14:creationId xmlns:p14="http://schemas.microsoft.com/office/powerpoint/2010/main" val="210235064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Problem Description</a:t>
            </a:r>
            <a:endParaRPr lang="zh-TW" altLang="en-US" b="1" dirty="0"/>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3</a:t>
            </a:fld>
            <a:endParaRPr lang="zh-TW" altLang="en-US" dirty="0"/>
          </a:p>
        </p:txBody>
      </p:sp>
      <p:pic>
        <p:nvPicPr>
          <p:cNvPr id="1026" name="Picture 2" descr="Algorithms | Free Full-Text | Research on Path Planning of Mobile Robot  Based on Improved Theta* Algorithm">
            <a:extLst>
              <a:ext uri="{FF2B5EF4-FFF2-40B4-BE49-F238E27FC236}">
                <a16:creationId xmlns:a16="http://schemas.microsoft.com/office/drawing/2014/main" id="{E35F44CE-67B0-ADF7-3664-3791EA8FCD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5875" y="1540427"/>
            <a:ext cx="7080250" cy="5317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693964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BC9F5294-BB5E-4B68-8C55-EE8D65088999}"/>
              </a:ext>
            </a:extLst>
          </p:cNvPr>
          <p:cNvSpPr>
            <a:spLocks noGrp="1"/>
          </p:cNvSpPr>
          <p:nvPr>
            <p:ph idx="1"/>
          </p:nvPr>
        </p:nvSpPr>
        <p:spPr>
          <a:xfrm>
            <a:off x="838200" y="1593346"/>
            <a:ext cx="10515600" cy="4540074"/>
          </a:xfrm>
        </p:spPr>
        <p:txBody>
          <a:bodyPr/>
          <a:lstStyle/>
          <a:p>
            <a:r>
              <a:rPr lang="en-US" altLang="zh-TW" dirty="0">
                <a:latin typeface="Times New Roman" panose="02020603050405020304" pitchFamily="18" charset="0"/>
                <a:cs typeface="Times New Roman" panose="02020603050405020304" pitchFamily="18" charset="0"/>
              </a:rPr>
              <a:t>NP-hard problem</a:t>
            </a:r>
          </a:p>
          <a:p>
            <a:r>
              <a:rPr lang="en-US" altLang="zh-TW" dirty="0">
                <a:latin typeface="Times New Roman" panose="02020603050405020304" pitchFamily="18" charset="0"/>
                <a:cs typeface="Times New Roman" panose="02020603050405020304" pitchFamily="18" charset="0"/>
              </a:rPr>
              <a:t>Static/Dynamic environment</a:t>
            </a:r>
          </a:p>
          <a:p>
            <a:r>
              <a:rPr lang="en-US" altLang="zh-TW" dirty="0">
                <a:latin typeface="Times New Roman" panose="02020603050405020304" pitchFamily="18" charset="0"/>
                <a:cs typeface="Times New Roman" panose="02020603050405020304" pitchFamily="18" charset="0"/>
              </a:rPr>
              <a:t>Shortest path between end points</a:t>
            </a:r>
          </a:p>
          <a:p>
            <a:r>
              <a:rPr lang="en-US" altLang="zh-TW" dirty="0">
                <a:latin typeface="Times New Roman" panose="02020603050405020304" pitchFamily="18" charset="0"/>
                <a:cs typeface="Times New Roman" panose="02020603050405020304" pitchFamily="18" charset="0"/>
              </a:rPr>
              <a:t>Minimum time to travel without any collisions</a:t>
            </a:r>
          </a:p>
          <a:p>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AFC4445-144F-49E6-9300-2EA8C2A7F148}"/>
              </a:ext>
            </a:extLst>
          </p:cNvPr>
          <p:cNvSpPr>
            <a:spLocks noGrp="1"/>
          </p:cNvSpPr>
          <p:nvPr>
            <p:ph type="sldNum" sz="quarter" idx="12"/>
          </p:nvPr>
        </p:nvSpPr>
        <p:spPr/>
        <p:txBody>
          <a:bodyPr/>
          <a:lstStyle/>
          <a:p>
            <a:fld id="{55935506-5D51-4B07-8BDD-18CEF4E05E0A}" type="slidenum">
              <a:rPr lang="zh-TW" altLang="en-US" smtClean="0"/>
              <a:t>4</a:t>
            </a:fld>
            <a:endParaRPr lang="zh-TW" altLang="en-US"/>
          </a:p>
        </p:txBody>
      </p:sp>
      <p:sp>
        <p:nvSpPr>
          <p:cNvPr id="6" name="標題 1">
            <a:extLst>
              <a:ext uri="{FF2B5EF4-FFF2-40B4-BE49-F238E27FC236}">
                <a16:creationId xmlns:a16="http://schemas.microsoft.com/office/drawing/2014/main" id="{2F1E678D-C6A1-4769-83DA-AFB0E4C6076A}"/>
              </a:ext>
            </a:extLst>
          </p:cNvPr>
          <p:cNvSpPr>
            <a:spLocks noGrp="1"/>
          </p:cNvSpPr>
          <p:nvPr>
            <p:ph type="title"/>
          </p:nvPr>
        </p:nvSpPr>
        <p:spPr>
          <a:xfrm>
            <a:off x="838200" y="365125"/>
            <a:ext cx="10515600" cy="1325563"/>
          </a:xfrm>
        </p:spPr>
        <p:txBody>
          <a:bodyPr/>
          <a:lstStyle/>
          <a:p>
            <a:pPr algn="ctr"/>
            <a:r>
              <a:rPr lang="en-US" altLang="zh-TW" b="1" dirty="0">
                <a:latin typeface="Times New Roman" panose="02020603050405020304" pitchFamily="18" charset="0"/>
                <a:cs typeface="Times New Roman" panose="02020603050405020304" pitchFamily="18" charset="0"/>
              </a:rPr>
              <a:t>Path Planning</a:t>
            </a:r>
            <a:endParaRPr lang="zh-TW" altLang="en-US" b="1" dirty="0"/>
          </a:p>
        </p:txBody>
      </p:sp>
    </p:spTree>
    <p:extLst>
      <p:ext uri="{BB962C8B-B14F-4D97-AF65-F5344CB8AC3E}">
        <p14:creationId xmlns:p14="http://schemas.microsoft.com/office/powerpoint/2010/main" val="385373551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Path Planning Algorithms</a:t>
            </a:r>
            <a:endParaRPr lang="zh-TW" altLang="en-US" b="1" dirty="0"/>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5</a:t>
            </a:fld>
            <a:endParaRPr lang="zh-TW" altLang="en-US" dirty="0"/>
          </a:p>
        </p:txBody>
      </p:sp>
      <p:sp>
        <p:nvSpPr>
          <p:cNvPr id="3" name="內容版面配置區 2">
            <a:extLst>
              <a:ext uri="{FF2B5EF4-FFF2-40B4-BE49-F238E27FC236}">
                <a16:creationId xmlns:a16="http://schemas.microsoft.com/office/drawing/2014/main" id="{E813CF27-EF53-35BE-FC94-E39167B63AFE}"/>
              </a:ext>
            </a:extLst>
          </p:cNvPr>
          <p:cNvSpPr>
            <a:spLocks noGrp="1"/>
          </p:cNvSpPr>
          <p:nvPr>
            <p:ph idx="1"/>
          </p:nvPr>
        </p:nvSpPr>
        <p:spPr>
          <a:xfrm>
            <a:off x="838200" y="1593346"/>
            <a:ext cx="10515600" cy="4540074"/>
          </a:xfrm>
        </p:spPr>
        <p:txBody>
          <a:bodyPr/>
          <a:lstStyle/>
          <a:p>
            <a:r>
              <a:rPr lang="en-US" altLang="zh-TW" dirty="0">
                <a:latin typeface="Times New Roman" panose="02020603050405020304" pitchFamily="18" charset="0"/>
                <a:cs typeface="Times New Roman" panose="02020603050405020304" pitchFamily="18" charset="0"/>
              </a:rPr>
              <a:t>Dijkstra Algorithm</a:t>
            </a:r>
          </a:p>
          <a:p>
            <a:r>
              <a:rPr lang="en-US" altLang="zh-TW" dirty="0">
                <a:latin typeface="Times New Roman" panose="02020603050405020304" pitchFamily="18" charset="0"/>
                <a:cs typeface="Times New Roman" panose="02020603050405020304" pitchFamily="18" charset="0"/>
              </a:rPr>
              <a:t>The Floyd Algorithm</a:t>
            </a:r>
          </a:p>
          <a:p>
            <a:r>
              <a:rPr lang="en-US" altLang="zh-TW" dirty="0">
                <a:latin typeface="Times New Roman" panose="02020603050405020304" pitchFamily="18" charset="0"/>
                <a:cs typeface="Times New Roman" panose="02020603050405020304" pitchFamily="18" charset="0"/>
              </a:rPr>
              <a:t>A* Algorithm</a:t>
            </a:r>
          </a:p>
          <a:p>
            <a:r>
              <a:rPr lang="en-US" altLang="zh-TW" dirty="0">
                <a:latin typeface="Times New Roman" panose="02020603050405020304" pitchFamily="18" charset="0"/>
                <a:cs typeface="Times New Roman" panose="02020603050405020304" pitchFamily="18" charset="0"/>
              </a:rPr>
              <a:t>D* Algorithm</a:t>
            </a:r>
          </a:p>
          <a:p>
            <a:r>
              <a:rPr lang="en-US" altLang="zh-TW" dirty="0">
                <a:latin typeface="Times New Roman" panose="02020603050405020304" pitchFamily="18" charset="0"/>
                <a:cs typeface="Times New Roman" panose="02020603050405020304" pitchFamily="18" charset="0"/>
              </a:rPr>
              <a:t>Rapidly-Exploring Random Trees</a:t>
            </a:r>
          </a:p>
          <a:p>
            <a:r>
              <a:rPr lang="en-US" altLang="zh-TW" dirty="0">
                <a:latin typeface="Times New Roman" panose="02020603050405020304" pitchFamily="18" charset="0"/>
                <a:cs typeface="Times New Roman" panose="02020603050405020304" pitchFamily="18" charset="0"/>
              </a:rPr>
              <a:t>Genetic Algorithm</a:t>
            </a:r>
          </a:p>
          <a:p>
            <a:r>
              <a:rPr lang="en-US" altLang="zh-TW" dirty="0">
                <a:latin typeface="Times New Roman" panose="02020603050405020304" pitchFamily="18" charset="0"/>
                <a:cs typeface="Times New Roman" panose="02020603050405020304" pitchFamily="18" charset="0"/>
              </a:rPr>
              <a:t>Ant Colony Algorithm</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576657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Dijkstra Algorithm</a:t>
            </a:r>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6</a:t>
            </a:fld>
            <a:endParaRPr lang="zh-TW" altLang="en-US" dirty="0"/>
          </a:p>
        </p:txBody>
      </p:sp>
      <p:sp>
        <p:nvSpPr>
          <p:cNvPr id="3" name="內容版面配置區 2">
            <a:extLst>
              <a:ext uri="{FF2B5EF4-FFF2-40B4-BE49-F238E27FC236}">
                <a16:creationId xmlns:a16="http://schemas.microsoft.com/office/drawing/2014/main" id="{E813CF27-EF53-35BE-FC94-E39167B63AFE}"/>
              </a:ext>
            </a:extLst>
          </p:cNvPr>
          <p:cNvSpPr>
            <a:spLocks noGrp="1"/>
          </p:cNvSpPr>
          <p:nvPr>
            <p:ph idx="1"/>
          </p:nvPr>
        </p:nvSpPr>
        <p:spPr>
          <a:xfrm>
            <a:off x="838200" y="1593346"/>
            <a:ext cx="10515600" cy="4540074"/>
          </a:xfrm>
        </p:spPr>
        <p:txBody>
          <a:bodyPr/>
          <a:lstStyle/>
          <a:p>
            <a:r>
              <a:rPr lang="en-US" altLang="zh-TW" dirty="0">
                <a:latin typeface="Times New Roman" panose="02020603050405020304" pitchFamily="18" charset="0"/>
                <a:cs typeface="Times New Roman" panose="02020603050405020304" pitchFamily="18" charset="0"/>
              </a:rPr>
              <a:t>Acyclic environment</a:t>
            </a:r>
          </a:p>
          <a:p>
            <a:r>
              <a:rPr lang="en-US" altLang="zh-TW" dirty="0">
                <a:latin typeface="Times New Roman" panose="02020603050405020304" pitchFamily="18" charset="0"/>
                <a:cs typeface="Times New Roman" panose="02020603050405020304" pitchFamily="18" charset="0"/>
              </a:rPr>
              <a:t>Greedy strategy</a:t>
            </a:r>
          </a:p>
          <a:p>
            <a:r>
              <a:rPr lang="en-US" altLang="zh-TW" dirty="0">
                <a:latin typeface="Times New Roman" panose="02020603050405020304" pitchFamily="18" charset="0"/>
                <a:cs typeface="Times New Roman" panose="02020603050405020304" pitchFamily="18" charset="0"/>
              </a:rPr>
              <a:t>Static environment and global path planning as most of the data required are pre-defined</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616686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Improved Dijkstra Algorithm</a:t>
            </a:r>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7</a:t>
            </a:fld>
            <a:endParaRPr lang="zh-TW" altLang="en-US" dirty="0"/>
          </a:p>
        </p:txBody>
      </p:sp>
      <p:sp>
        <p:nvSpPr>
          <p:cNvPr id="3" name="內容版面配置區 2">
            <a:extLst>
              <a:ext uri="{FF2B5EF4-FFF2-40B4-BE49-F238E27FC236}">
                <a16:creationId xmlns:a16="http://schemas.microsoft.com/office/drawing/2014/main" id="{E813CF27-EF53-35BE-FC94-E39167B63AFE}"/>
              </a:ext>
            </a:extLst>
          </p:cNvPr>
          <p:cNvSpPr>
            <a:spLocks noGrp="1"/>
          </p:cNvSpPr>
          <p:nvPr>
            <p:ph idx="1"/>
          </p:nvPr>
        </p:nvSpPr>
        <p:spPr>
          <a:xfrm>
            <a:off x="838200" y="1593346"/>
            <a:ext cx="10515600" cy="4540074"/>
          </a:xfrm>
        </p:spPr>
        <p:txBody>
          <a:bodyPr/>
          <a:lstStyle/>
          <a:p>
            <a:pPr marL="514350" indent="-514350">
              <a:buFont typeface="+mj-lt"/>
              <a:buAutoNum type="arabicPeriod"/>
            </a:pPr>
            <a:r>
              <a:rPr lang="en-US" altLang="zh-TW" dirty="0">
                <a:latin typeface="Times New Roman" panose="02020603050405020304" pitchFamily="18" charset="0"/>
                <a:cs typeface="Times New Roman" panose="02020603050405020304" pitchFamily="18" charset="0"/>
              </a:rPr>
              <a:t>Reserves all nodes with the same distance from the source node as intermediate nodes.</a:t>
            </a:r>
          </a:p>
          <a:p>
            <a:pPr marL="514350" indent="-514350">
              <a:buFont typeface="+mj-lt"/>
              <a:buAutoNum type="arabicPeriod"/>
            </a:pPr>
            <a:r>
              <a:rPr lang="en-US" altLang="zh-TW" dirty="0">
                <a:latin typeface="Times New Roman" panose="02020603050405020304" pitchFamily="18" charset="0"/>
                <a:cs typeface="Times New Roman" panose="02020603050405020304" pitchFamily="18" charset="0"/>
              </a:rPr>
              <a:t>Multi-layer dictionary</a:t>
            </a:r>
          </a:p>
        </p:txBody>
      </p:sp>
    </p:spTree>
    <p:extLst>
      <p:ext uri="{BB962C8B-B14F-4D97-AF65-F5344CB8AC3E}">
        <p14:creationId xmlns:p14="http://schemas.microsoft.com/office/powerpoint/2010/main" val="162585881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17750E-E021-4243-A064-2A76FA0C35BA}"/>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Breadth-first search</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7F7AB35-8468-4F03-8E10-22F08A5F34B4}"/>
              </a:ext>
            </a:extLst>
          </p:cNvPr>
          <p:cNvSpPr>
            <a:spLocks noGrp="1"/>
          </p:cNvSpPr>
          <p:nvPr>
            <p:ph type="sldNum" sz="quarter" idx="12"/>
          </p:nvPr>
        </p:nvSpPr>
        <p:spPr/>
        <p:txBody>
          <a:bodyPr/>
          <a:lstStyle/>
          <a:p>
            <a:fld id="{55935506-5D51-4B07-8BDD-18CEF4E05E0A}" type="slidenum">
              <a:rPr lang="zh-TW" altLang="en-US" smtClean="0"/>
              <a:t>8</a:t>
            </a:fld>
            <a:endParaRPr lang="zh-TW" altLang="en-US"/>
          </a:p>
        </p:txBody>
      </p:sp>
      <p:pic>
        <p:nvPicPr>
          <p:cNvPr id="2050" name="Picture 2">
            <a:extLst>
              <a:ext uri="{FF2B5EF4-FFF2-40B4-BE49-F238E27FC236}">
                <a16:creationId xmlns:a16="http://schemas.microsoft.com/office/drawing/2014/main" id="{675B3F73-468F-4A7C-E6A9-6C6FC1B8A8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6285" y="1530464"/>
            <a:ext cx="9579429" cy="4825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1011216"/>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17750E-E021-4243-A064-2A76FA0C35BA}"/>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Best-first search</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7F7AB35-8468-4F03-8E10-22F08A5F34B4}"/>
              </a:ext>
            </a:extLst>
          </p:cNvPr>
          <p:cNvSpPr>
            <a:spLocks noGrp="1"/>
          </p:cNvSpPr>
          <p:nvPr>
            <p:ph type="sldNum" sz="quarter" idx="12"/>
          </p:nvPr>
        </p:nvSpPr>
        <p:spPr/>
        <p:txBody>
          <a:bodyPr/>
          <a:lstStyle/>
          <a:p>
            <a:fld id="{55935506-5D51-4B07-8BDD-18CEF4E05E0A}" type="slidenum">
              <a:rPr lang="zh-TW" altLang="en-US" smtClean="0"/>
              <a:t>9</a:t>
            </a:fld>
            <a:endParaRPr lang="zh-TW" altLang="en-US"/>
          </a:p>
        </p:txBody>
      </p:sp>
      <p:pic>
        <p:nvPicPr>
          <p:cNvPr id="3074" name="Picture 2">
            <a:extLst>
              <a:ext uri="{FF2B5EF4-FFF2-40B4-BE49-F238E27FC236}">
                <a16:creationId xmlns:a16="http://schemas.microsoft.com/office/drawing/2014/main" id="{A2C83D2D-E7BB-7127-7D53-63FB1971FA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5476" y="1615395"/>
            <a:ext cx="9861048" cy="4816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313955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17750E-E021-4243-A064-2A76FA0C35BA}"/>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Best-first search</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B7F7AB35-8468-4F03-8E10-22F08A5F34B4}"/>
              </a:ext>
            </a:extLst>
          </p:cNvPr>
          <p:cNvSpPr>
            <a:spLocks noGrp="1"/>
          </p:cNvSpPr>
          <p:nvPr>
            <p:ph type="sldNum" sz="quarter" idx="12"/>
          </p:nvPr>
        </p:nvSpPr>
        <p:spPr/>
        <p:txBody>
          <a:bodyPr/>
          <a:lstStyle/>
          <a:p>
            <a:fld id="{55935506-5D51-4B07-8BDD-18CEF4E05E0A}" type="slidenum">
              <a:rPr lang="zh-TW" altLang="en-US" smtClean="0"/>
              <a:t>10</a:t>
            </a:fld>
            <a:endParaRPr lang="zh-TW" altLang="en-US"/>
          </a:p>
        </p:txBody>
      </p:sp>
      <p:pic>
        <p:nvPicPr>
          <p:cNvPr id="4098" name="Picture 2">
            <a:extLst>
              <a:ext uri="{FF2B5EF4-FFF2-40B4-BE49-F238E27FC236}">
                <a16:creationId xmlns:a16="http://schemas.microsoft.com/office/drawing/2014/main" id="{9A969014-35F9-06D3-0112-F411ACBF55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8314" y="1658316"/>
            <a:ext cx="9775371" cy="4698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254057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A* Algorithm</a:t>
            </a: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396706"/>
            <a:ext cx="10515600" cy="4351338"/>
          </a:xfrm>
        </p:spPr>
        <p:txBody>
          <a:bodyPr>
            <a:normAutofit/>
          </a:bodyPr>
          <a:lstStyle/>
          <a:p>
            <a:r>
              <a:rPr lang="en-US" altLang="zh-TW" sz="2400" dirty="0">
                <a:latin typeface="Times New Roman" panose="02020603050405020304" pitchFamily="18" charset="0"/>
                <a:cs typeface="Times New Roman" panose="02020603050405020304" pitchFamily="18" charset="0"/>
              </a:rPr>
              <a:t>Search towards the most promising states</a:t>
            </a:r>
          </a:p>
          <a:p>
            <a:r>
              <a:rPr lang="en-US" altLang="zh-TW" sz="2400" dirty="0">
                <a:latin typeface="Times New Roman" panose="02020603050405020304" pitchFamily="18" charset="0"/>
                <a:cs typeface="Times New Roman" panose="02020603050405020304" pitchFamily="18" charset="0"/>
              </a:rPr>
              <a:t>Static environments</a:t>
            </a: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11</a:t>
            </a:fld>
            <a:endParaRPr lang="zh-TW" altLang="en-US"/>
          </a:p>
        </p:txBody>
      </p:sp>
      <p:pic>
        <p:nvPicPr>
          <p:cNvPr id="7" name="圖片 6">
            <a:extLst>
              <a:ext uri="{FF2B5EF4-FFF2-40B4-BE49-F238E27FC236}">
                <a16:creationId xmlns:a16="http://schemas.microsoft.com/office/drawing/2014/main" id="{E5EA4187-E693-111E-3E69-1F78946EA97D}"/>
              </a:ext>
            </a:extLst>
          </p:cNvPr>
          <p:cNvPicPr>
            <a:picLocks noChangeAspect="1"/>
          </p:cNvPicPr>
          <p:nvPr/>
        </p:nvPicPr>
        <p:blipFill>
          <a:blip r:embed="rId3"/>
          <a:stretch>
            <a:fillRect/>
          </a:stretch>
        </p:blipFill>
        <p:spPr>
          <a:xfrm>
            <a:off x="838200" y="2685763"/>
            <a:ext cx="3039309" cy="743237"/>
          </a:xfrm>
          <a:prstGeom prst="rect">
            <a:avLst/>
          </a:prstGeom>
        </p:spPr>
      </p:pic>
    </p:spTree>
    <p:extLst>
      <p:ext uri="{BB962C8B-B14F-4D97-AF65-F5344CB8AC3E}">
        <p14:creationId xmlns:p14="http://schemas.microsoft.com/office/powerpoint/2010/main" val="323845607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D* Algorithm</a:t>
            </a: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825625"/>
            <a:ext cx="10515600" cy="4351338"/>
          </a:xfrm>
        </p:spPr>
        <p:txBody>
          <a:bodyPr>
            <a:normAutofit/>
          </a:bodyPr>
          <a:lstStyle/>
          <a:p>
            <a:r>
              <a:rPr lang="en-US" altLang="zh-TW" sz="2400" dirty="0">
                <a:latin typeface="Times New Roman" panose="02020603050405020304" pitchFamily="18" charset="0"/>
                <a:cs typeface="Times New Roman" panose="02020603050405020304" pitchFamily="18" charset="0"/>
              </a:rPr>
              <a:t>Informed incremental search algorithm</a:t>
            </a:r>
          </a:p>
          <a:p>
            <a:r>
              <a:rPr lang="en-US" altLang="zh-TW" sz="2400" dirty="0">
                <a:latin typeface="Times New Roman" panose="02020603050405020304" pitchFamily="18" charset="0"/>
                <a:cs typeface="Times New Roman" panose="02020603050405020304" pitchFamily="18" charset="0"/>
              </a:rPr>
              <a:t>Repairs the cost map partially and the previously calculated cost map</a:t>
            </a:r>
          </a:p>
          <a:p>
            <a:r>
              <a:rPr lang="en-US" altLang="zh-TW" sz="2400" dirty="0">
                <a:latin typeface="Times New Roman" panose="02020603050405020304" pitchFamily="18" charset="0"/>
                <a:cs typeface="Times New Roman" panose="02020603050405020304" pitchFamily="18" charset="0"/>
              </a:rPr>
              <a:t>Dynamic environments</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12</a:t>
            </a:fld>
            <a:endParaRPr lang="zh-TW" altLang="en-US"/>
          </a:p>
        </p:txBody>
      </p:sp>
    </p:spTree>
    <p:extLst>
      <p:ext uri="{BB962C8B-B14F-4D97-AF65-F5344CB8AC3E}">
        <p14:creationId xmlns:p14="http://schemas.microsoft.com/office/powerpoint/2010/main" val="401690764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13</a:t>
            </a:fld>
            <a:endParaRPr lang="zh-TW" altLang="en-US"/>
          </a:p>
        </p:txBody>
      </p:sp>
      <p:pic>
        <p:nvPicPr>
          <p:cNvPr id="5122" name="Picture 2">
            <a:extLst>
              <a:ext uri="{FF2B5EF4-FFF2-40B4-BE49-F238E27FC236}">
                <a16:creationId xmlns:a16="http://schemas.microsoft.com/office/drawing/2014/main" id="{E2226FB5-BDBF-2FDC-049C-788659E07F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1118" y="194738"/>
            <a:ext cx="6129764" cy="6344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912381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14</a:t>
            </a:fld>
            <a:endParaRPr lang="zh-TW" altLang="en-US"/>
          </a:p>
        </p:txBody>
      </p:sp>
      <p:pic>
        <p:nvPicPr>
          <p:cNvPr id="6146" name="Picture 2">
            <a:extLst>
              <a:ext uri="{FF2B5EF4-FFF2-40B4-BE49-F238E27FC236}">
                <a16:creationId xmlns:a16="http://schemas.microsoft.com/office/drawing/2014/main" id="{A32DA9E9-E3D0-84E1-CBF0-D529D7511F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4360" y="135618"/>
            <a:ext cx="6363279" cy="6585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708872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Rapidly-exploring Randomized Trees</a:t>
            </a: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825625"/>
            <a:ext cx="10515600" cy="4351338"/>
          </a:xfrm>
        </p:spPr>
        <p:txBody>
          <a:bodyPr>
            <a:normAutofit/>
          </a:bodyPr>
          <a:lstStyle/>
          <a:p>
            <a:r>
              <a:rPr lang="en-US" altLang="zh-TW" sz="2400" dirty="0">
                <a:latin typeface="Times New Roman" panose="02020603050405020304" pitchFamily="18" charset="0"/>
                <a:cs typeface="Times New Roman" panose="02020603050405020304" pitchFamily="18" charset="0"/>
              </a:rPr>
              <a:t>Rapidly expands by randomly sampling in various regions, starting from the initial point and expanding until the tree is sufficiently close to the goal point.</a:t>
            </a:r>
          </a:p>
          <a:p>
            <a:r>
              <a:rPr lang="en-US" altLang="zh-TW" sz="2400" dirty="0">
                <a:latin typeface="Times New Roman" panose="02020603050405020304" pitchFamily="18" charset="0"/>
                <a:cs typeface="Times New Roman" panose="02020603050405020304" pitchFamily="18" charset="0"/>
              </a:rPr>
              <a:t>Dynamic environments</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15</a:t>
            </a:fld>
            <a:endParaRPr lang="zh-TW" altLang="en-US"/>
          </a:p>
        </p:txBody>
      </p:sp>
    </p:spTree>
    <p:extLst>
      <p:ext uri="{BB962C8B-B14F-4D97-AF65-F5344CB8AC3E}">
        <p14:creationId xmlns:p14="http://schemas.microsoft.com/office/powerpoint/2010/main" val="174089850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Rapidly-exploring Randomized Trees</a:t>
            </a: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16</a:t>
            </a:fld>
            <a:endParaRPr lang="zh-TW" altLang="en-US"/>
          </a:p>
        </p:txBody>
      </p:sp>
      <p:pic>
        <p:nvPicPr>
          <p:cNvPr id="7172" name="Picture 4" descr="Vehicles 03 00027 g003 550">
            <a:extLst>
              <a:ext uri="{FF2B5EF4-FFF2-40B4-BE49-F238E27FC236}">
                <a16:creationId xmlns:a16="http://schemas.microsoft.com/office/drawing/2014/main" id="{AC33D9AE-2792-1E89-9B69-F803D59052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1" y="1412487"/>
            <a:ext cx="5070150" cy="52220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52243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A57DAF-1727-4845-BD2A-A164A69A7C0F}"/>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Conclusion</a:t>
            </a:r>
            <a:endParaRPr lang="zh-TW" altLang="en-US" dirty="0"/>
          </a:p>
        </p:txBody>
      </p:sp>
      <p:sp>
        <p:nvSpPr>
          <p:cNvPr id="3" name="內容版面配置區 2">
            <a:extLst>
              <a:ext uri="{FF2B5EF4-FFF2-40B4-BE49-F238E27FC236}">
                <a16:creationId xmlns:a16="http://schemas.microsoft.com/office/drawing/2014/main" id="{3D6AEC88-211A-4C79-873B-599FBDE52DDC}"/>
              </a:ext>
            </a:extLst>
          </p:cNvPr>
          <p:cNvSpPr>
            <a:spLocks noGrp="1"/>
          </p:cNvSpPr>
          <p:nvPr>
            <p:ph idx="1"/>
          </p:nvPr>
        </p:nvSpPr>
        <p:spPr/>
        <p:txBody>
          <a:bodyPr>
            <a:normAutofit/>
          </a:bodyPr>
          <a:lstStyle/>
          <a:p>
            <a:r>
              <a:rPr lang="en-US" altLang="zh-TW" sz="2400" dirty="0">
                <a:solidFill>
                  <a:srgbClr val="333333"/>
                </a:solidFill>
                <a:latin typeface="Times New Roman" panose="02020603050405020304" pitchFamily="18" charset="0"/>
                <a:cs typeface="Times New Roman" panose="02020603050405020304" pitchFamily="18" charset="0"/>
              </a:rPr>
              <a:t>Presented several widely used path planning algorithms and their variants.</a:t>
            </a:r>
          </a:p>
          <a:p>
            <a:r>
              <a:rPr lang="en-US" altLang="zh-TW" sz="2400" dirty="0">
                <a:solidFill>
                  <a:srgbClr val="333333"/>
                </a:solidFill>
                <a:latin typeface="Times New Roman" panose="02020603050405020304" pitchFamily="18" charset="0"/>
                <a:cs typeface="Times New Roman" panose="02020603050405020304" pitchFamily="18" charset="0"/>
              </a:rPr>
              <a:t>Each algorithm was suited best based on a static or dynamic environment.</a:t>
            </a:r>
          </a:p>
        </p:txBody>
      </p:sp>
    </p:spTree>
    <p:extLst>
      <p:ext uri="{BB962C8B-B14F-4D97-AF65-F5344CB8AC3E}">
        <p14:creationId xmlns:p14="http://schemas.microsoft.com/office/powerpoint/2010/main" val="176499361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2250</TotalTime>
  <Words>714</Words>
  <Application>Microsoft Office PowerPoint</Application>
  <PresentationFormat>寬螢幕</PresentationFormat>
  <Paragraphs>76</Paragraphs>
  <Slides>17</Slides>
  <Notes>13</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17</vt:i4>
      </vt:variant>
    </vt:vector>
  </HeadingPairs>
  <TitlesOfParts>
    <vt:vector size="24" baseType="lpstr">
      <vt:lpstr>Söhne</vt:lpstr>
      <vt:lpstr>Arial</vt:lpstr>
      <vt:lpstr>Calibri</vt:lpstr>
      <vt:lpstr>Calibri Light</vt:lpstr>
      <vt:lpstr>Lato</vt:lpstr>
      <vt:lpstr>Times New Roman</vt:lpstr>
      <vt:lpstr>Office 佈景主題</vt:lpstr>
      <vt:lpstr>A Survey of Path Planning Algorithms for Mobile Robots</vt:lpstr>
      <vt:lpstr>Abstract</vt:lpstr>
      <vt:lpstr>Problem Description</vt:lpstr>
      <vt:lpstr>Path Planning</vt:lpstr>
      <vt:lpstr>Path Planning Algorithms</vt:lpstr>
      <vt:lpstr>Dijkstra Algorithm</vt:lpstr>
      <vt:lpstr>Improved Dijkstra Algorithm</vt:lpstr>
      <vt:lpstr>Breadth-first search</vt:lpstr>
      <vt:lpstr>Best-first search</vt:lpstr>
      <vt:lpstr>Best-first search</vt:lpstr>
      <vt:lpstr>A* Algorithm</vt:lpstr>
      <vt:lpstr>D* Algorithm</vt:lpstr>
      <vt:lpstr>PowerPoint 簡報</vt:lpstr>
      <vt:lpstr>PowerPoint 簡報</vt:lpstr>
      <vt:lpstr>Rapidly-exploring Randomized Trees</vt:lpstr>
      <vt:lpstr>Rapidly-exploring Randomized Trees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Local Alignment Algorithm for Multiple Sequences on Heterogeneous Cluster Systems</dc:title>
  <dc:creator>師老爸</dc:creator>
  <cp:lastModifiedBy>pplab</cp:lastModifiedBy>
  <cp:revision>66</cp:revision>
  <dcterms:created xsi:type="dcterms:W3CDTF">2022-11-14T21:21:39Z</dcterms:created>
  <dcterms:modified xsi:type="dcterms:W3CDTF">2023-07-04T08:28:04Z</dcterms:modified>
</cp:coreProperties>
</file>