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1"/>
  </p:notesMasterIdLst>
  <p:sldIdLst>
    <p:sldId id="256" r:id="rId2"/>
    <p:sldId id="265" r:id="rId3"/>
    <p:sldId id="266" r:id="rId4"/>
    <p:sldId id="267" r:id="rId5"/>
    <p:sldId id="280" r:id="rId6"/>
    <p:sldId id="268" r:id="rId7"/>
    <p:sldId id="271" r:id="rId8"/>
    <p:sldId id="281" r:id="rId9"/>
    <p:sldId id="279" r:id="rId10"/>
    <p:sldId id="270" r:id="rId11"/>
    <p:sldId id="272" r:id="rId12"/>
    <p:sldId id="273" r:id="rId13"/>
    <p:sldId id="274" r:id="rId14"/>
    <p:sldId id="275" r:id="rId15"/>
    <p:sldId id="263" r:id="rId16"/>
    <p:sldId id="269" r:id="rId17"/>
    <p:sldId id="276" r:id="rId18"/>
    <p:sldId id="277" r:id="rId19"/>
    <p:sldId id="278"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56"/>
    <p:restoredTop sz="95728"/>
  </p:normalViewPr>
  <p:slideViewPr>
    <p:cSldViewPr snapToGrid="0" snapToObjects="1">
      <p:cViewPr varScale="1">
        <p:scale>
          <a:sx n="109" d="100"/>
          <a:sy n="109" d="100"/>
        </p:scale>
        <p:origin x="4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2023/7/4</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3449788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4106446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1239396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7</a:t>
            </a:fld>
            <a:endParaRPr kumimoji="1" lang="zh-TW" altLang="en-US"/>
          </a:p>
        </p:txBody>
      </p:sp>
    </p:spTree>
    <p:extLst>
      <p:ext uri="{BB962C8B-B14F-4D97-AF65-F5344CB8AC3E}">
        <p14:creationId xmlns:p14="http://schemas.microsoft.com/office/powerpoint/2010/main" val="612159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8</a:t>
            </a:fld>
            <a:endParaRPr kumimoji="1" lang="zh-TW" altLang="en-US"/>
          </a:p>
        </p:txBody>
      </p:sp>
    </p:spTree>
    <p:extLst>
      <p:ext uri="{BB962C8B-B14F-4D97-AF65-F5344CB8AC3E}">
        <p14:creationId xmlns:p14="http://schemas.microsoft.com/office/powerpoint/2010/main" val="1605827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1152889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10</a:t>
            </a:fld>
            <a:endParaRPr kumimoji="1" lang="zh-TW" altLang="en-US"/>
          </a:p>
        </p:txBody>
      </p:sp>
    </p:spTree>
    <p:extLst>
      <p:ext uri="{BB962C8B-B14F-4D97-AF65-F5344CB8AC3E}">
        <p14:creationId xmlns:p14="http://schemas.microsoft.com/office/powerpoint/2010/main" val="2442555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11</a:t>
            </a:fld>
            <a:endParaRPr kumimoji="1" lang="zh-TW" altLang="en-US"/>
          </a:p>
        </p:txBody>
      </p:sp>
    </p:spTree>
    <p:extLst>
      <p:ext uri="{BB962C8B-B14F-4D97-AF65-F5344CB8AC3E}">
        <p14:creationId xmlns:p14="http://schemas.microsoft.com/office/powerpoint/2010/main" val="824806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12</a:t>
            </a:fld>
            <a:endParaRPr kumimoji="1" lang="zh-TW" altLang="en-US"/>
          </a:p>
        </p:txBody>
      </p:sp>
    </p:spTree>
    <p:extLst>
      <p:ext uri="{BB962C8B-B14F-4D97-AF65-F5344CB8AC3E}">
        <p14:creationId xmlns:p14="http://schemas.microsoft.com/office/powerpoint/2010/main" val="314765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13</a:t>
            </a:fld>
            <a:endParaRPr kumimoji="1" lang="zh-TW" altLang="en-US"/>
          </a:p>
        </p:txBody>
      </p:sp>
    </p:spTree>
    <p:extLst>
      <p:ext uri="{BB962C8B-B14F-4D97-AF65-F5344CB8AC3E}">
        <p14:creationId xmlns:p14="http://schemas.microsoft.com/office/powerpoint/2010/main" val="2925642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14</a:t>
            </a:fld>
            <a:endParaRPr kumimoji="1" lang="zh-TW" altLang="en-US"/>
          </a:p>
        </p:txBody>
      </p:sp>
    </p:spTree>
    <p:extLst>
      <p:ext uri="{BB962C8B-B14F-4D97-AF65-F5344CB8AC3E}">
        <p14:creationId xmlns:p14="http://schemas.microsoft.com/office/powerpoint/2010/main" val="36648713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16</a:t>
            </a:fld>
            <a:endParaRPr kumimoji="1" lang="zh-TW" altLang="en-US"/>
          </a:p>
        </p:txBody>
      </p:sp>
    </p:spTree>
    <p:extLst>
      <p:ext uri="{BB962C8B-B14F-4D97-AF65-F5344CB8AC3E}">
        <p14:creationId xmlns:p14="http://schemas.microsoft.com/office/powerpoint/2010/main" val="1855062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lvl="0" indent="0">
              <a:buNone/>
            </a:pPr>
            <a:r>
              <a:rPr lang="en-US" altLang="zh-TW" dirty="0">
                <a:latin typeface="Times New Roman" panose="02020603050405020304" pitchFamily="18" charset="0"/>
                <a:cs typeface="Times New Roman" panose="02020603050405020304" pitchFamily="18" charset="0"/>
              </a:rPr>
              <a:t>Nil:</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partner’s bid ≥ 4 and hand contains no A or K, and no A-T and no more than 3 spades.</a:t>
            </a:r>
          </a:p>
          <a:p>
            <a:pPr marL="0" lvl="0" indent="0">
              <a:buNone/>
            </a:pPr>
            <a:r>
              <a:rPr lang="en-US" altLang="zh-TW" dirty="0">
                <a:latin typeface="Times New Roman" panose="02020603050405020304" pitchFamily="18" charset="0"/>
                <a:cs typeface="Times New Roman" panose="02020603050405020304" pitchFamily="18" charset="0"/>
              </a:rPr>
              <a:t>Regular bid: spade A to 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 worth 1 trick, spade 9 to 2 is worth 0.4 trick, in side-suits, each A is worth 1 trick, each {AK} is worth 2 tricks and each {Kx} is worth 0.5 a trick.</a:t>
            </a:r>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17</a:t>
            </a:fld>
            <a:endParaRPr kumimoji="1" lang="zh-TW" altLang="en-US"/>
          </a:p>
        </p:txBody>
      </p:sp>
    </p:spTree>
    <p:extLst>
      <p:ext uri="{BB962C8B-B14F-4D97-AF65-F5344CB8AC3E}">
        <p14:creationId xmlns:p14="http://schemas.microsoft.com/office/powerpoint/2010/main" val="3587403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2023/7/4</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2023/7/4</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2023/7/4</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2023/7/4</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2023/7/4</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2023/7/4</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2023/7/4</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2023/7/4</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2023/7/4</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2023/7/4</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2023/7/4</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2023/7/4</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chor="ctr">
            <a:normAutofit/>
          </a:bodyPr>
          <a:lstStyle/>
          <a:p>
            <a:r>
              <a:rPr kumimoji="1" lang="en" altLang="zh-TW" sz="4800" dirty="0">
                <a:latin typeface="Times" pitchFamily="2" charset="0"/>
              </a:rPr>
              <a:t>Bidding in Spades</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r>
              <a:rPr lang="en" altLang="zh-TW" dirty="0">
                <a:latin typeface="Times" pitchFamily="2" charset="0"/>
              </a:rPr>
              <a:t>Gal </a:t>
            </a:r>
            <a:r>
              <a:rPr lang="en" altLang="zh-TW" dirty="0" err="1">
                <a:latin typeface="Times" pitchFamily="2" charset="0"/>
              </a:rPr>
              <a:t>Cohensius</a:t>
            </a:r>
            <a:r>
              <a:rPr lang="en-US" altLang="zh-TW" dirty="0">
                <a:latin typeface="Times" pitchFamily="2" charset="0"/>
              </a:rPr>
              <a:t>,</a:t>
            </a:r>
            <a:r>
              <a:rPr lang="en" altLang="zh-TW" dirty="0">
                <a:latin typeface="Times" pitchFamily="2" charset="0"/>
              </a:rPr>
              <a:t> </a:t>
            </a:r>
            <a:r>
              <a:rPr lang="en" altLang="zh-TW" dirty="0" err="1">
                <a:latin typeface="Times" pitchFamily="2" charset="0"/>
              </a:rPr>
              <a:t>Reshef</a:t>
            </a:r>
            <a:r>
              <a:rPr lang="en" altLang="zh-TW" dirty="0">
                <a:latin typeface="Times" pitchFamily="2" charset="0"/>
              </a:rPr>
              <a:t> Meir</a:t>
            </a:r>
            <a:r>
              <a:rPr lang="en-US" altLang="zh-TW" dirty="0">
                <a:latin typeface="Times" pitchFamily="2" charset="0"/>
              </a:rPr>
              <a:t>,</a:t>
            </a:r>
            <a:r>
              <a:rPr lang="en" altLang="zh-TW" dirty="0">
                <a:latin typeface="Times" pitchFamily="2" charset="0"/>
              </a:rPr>
              <a:t> Nadav Oved and Roni Stern</a:t>
            </a:r>
          </a:p>
          <a:p>
            <a:pPr>
              <a:lnSpc>
                <a:spcPct val="100000"/>
              </a:lnSpc>
            </a:pPr>
            <a:r>
              <a:rPr lang="en" altLang="zh-TW" dirty="0">
                <a:latin typeface="Times" pitchFamily="2" charset="0"/>
              </a:rPr>
              <a:t>24th European Conference on Artificial Intelligence</a:t>
            </a:r>
            <a:r>
              <a:rPr lang="en-US" altLang="zh-TW" dirty="0">
                <a:latin typeface="Times" pitchFamily="2" charset="0"/>
              </a:rPr>
              <a:t>(</a:t>
            </a:r>
            <a:r>
              <a:rPr lang="en" altLang="zh-TW" dirty="0">
                <a:latin typeface="Times" pitchFamily="2" charset="0"/>
              </a:rPr>
              <a:t>ECAI</a:t>
            </a:r>
            <a:r>
              <a:rPr lang="en-US" altLang="zh-TW" dirty="0">
                <a:latin typeface="Times" pitchFamily="2" charset="0"/>
              </a:rPr>
              <a:t>)</a:t>
            </a:r>
          </a:p>
          <a:p>
            <a:pPr>
              <a:lnSpc>
                <a:spcPct val="100000"/>
              </a:lnSpc>
            </a:pPr>
            <a:r>
              <a:rPr lang="en" altLang="zh-TW" dirty="0">
                <a:latin typeface="Times" pitchFamily="2" charset="0"/>
              </a:rPr>
              <a:t>Santiago de Compostela, Spain</a:t>
            </a:r>
            <a:r>
              <a:rPr lang="en-US" altLang="zh-TW" dirty="0">
                <a:latin typeface="Times" pitchFamily="2" charset="0"/>
              </a:rPr>
              <a:t>,</a:t>
            </a:r>
            <a:r>
              <a:rPr lang="zh-TW" altLang="en-US" dirty="0">
                <a:latin typeface="Times" pitchFamily="2" charset="0"/>
              </a:rPr>
              <a:t> </a:t>
            </a:r>
            <a:r>
              <a:rPr lang="en-US" altLang="zh-TW" dirty="0">
                <a:latin typeface="Times" pitchFamily="2" charset="0"/>
              </a:rPr>
              <a:t>2020.</a:t>
            </a:r>
            <a:endParaRPr lang="en" altLang="zh-TW" dirty="0">
              <a:latin typeface="Times" pitchFamily="2" charset="0"/>
            </a:endParaRP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July</a:t>
            </a:r>
            <a:r>
              <a:rPr kumimoji="1" lang="zh-TW" altLang="en-US" dirty="0">
                <a:latin typeface="Times" pitchFamily="2" charset="0"/>
              </a:rPr>
              <a:t> </a:t>
            </a:r>
            <a:r>
              <a:rPr kumimoji="1" lang="en-US" altLang="zh-TW" dirty="0">
                <a:latin typeface="Times" pitchFamily="2" charset="0"/>
              </a:rPr>
              <a:t>4,</a:t>
            </a:r>
            <a:r>
              <a:rPr kumimoji="1" lang="zh-TW" altLang="en-US" dirty="0">
                <a:latin typeface="Times" pitchFamily="2" charset="0"/>
              </a:rPr>
              <a:t> </a:t>
            </a:r>
            <a:r>
              <a:rPr kumimoji="1" lang="en-US" altLang="zh-TW" dirty="0">
                <a:latin typeface="Times" pitchFamily="2" charset="0"/>
              </a:rPr>
              <a:t>2023</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rmAutofit/>
          </a:bodyPr>
          <a:lstStyle/>
          <a:p>
            <a:pPr marL="0" indent="0" algn="just">
              <a:lnSpc>
                <a:spcPct val="150000"/>
              </a:lnSpc>
              <a:buNone/>
            </a:pPr>
            <a:r>
              <a:rPr lang="en" altLang="zh-TW" sz="2400" dirty="0">
                <a:latin typeface="Times" pitchFamily="2" charset="0"/>
              </a:rPr>
              <a:t>We present a Spades bidding algorithm that is superior to recreational human players and to publicly available bots. Like in Bridge, the game of Spades is composed of two independent phases, bidding and playing. This paper focuses on the bidding algorithm, since this phase holds a precise challenge: based on the input, choose the bid that maximizes the agent’s winning probability. Our Bidding-in-Spades (BIS) algorithm heuristically determines the bidding strategy by comparing the expected utility of each possible bid.</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 altLang="zh-TW" sz="2400" dirty="0">
                <a:latin typeface="Times" pitchFamily="2" charset="0"/>
              </a:rPr>
              <a:t>A major challenge is how to estimate these expected utilities. To this end, we propose a set of domain-specific heuristics, and then correct them via machine learning using data from real-world players. The BIS algorithm we present can be attached to any playing algorithm. It beats rule-based bidding bots when all use the same playing component. When combined with a rule-based playing algorithm, it is superior to the average recreational human.</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Spades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pic>
        <p:nvPicPr>
          <p:cNvPr id="6" name="圖片 5" descr="一張含有 文字, 螢幕擷取畫面, Rectangle, 綠色 的圖片&#10;&#10;自動產生的描述">
            <a:extLst>
              <a:ext uri="{FF2B5EF4-FFF2-40B4-BE49-F238E27FC236}">
                <a16:creationId xmlns:a16="http://schemas.microsoft.com/office/drawing/2014/main" id="{1E7BCA98-AA87-5C47-BDD0-42562C023C71}"/>
              </a:ext>
            </a:extLst>
          </p:cNvPr>
          <p:cNvPicPr>
            <a:picLocks noChangeAspect="1"/>
          </p:cNvPicPr>
          <p:nvPr/>
        </p:nvPicPr>
        <p:blipFill>
          <a:blip r:embed="rId3"/>
          <a:stretch>
            <a:fillRect/>
          </a:stretch>
        </p:blipFill>
        <p:spPr>
          <a:xfrm>
            <a:off x="412364" y="1595150"/>
            <a:ext cx="5524502" cy="4761200"/>
          </a:xfrm>
          <a:prstGeom prst="rect">
            <a:avLst/>
          </a:prstGeom>
        </p:spPr>
      </p:pic>
      <p:pic>
        <p:nvPicPr>
          <p:cNvPr id="8" name="圖片 7" descr="一張含有 文字, 螢幕擷取畫面, 軟體, 多媒體軟體 的圖片&#10;&#10;自動產生的描述">
            <a:extLst>
              <a:ext uri="{FF2B5EF4-FFF2-40B4-BE49-F238E27FC236}">
                <a16:creationId xmlns:a16="http://schemas.microsoft.com/office/drawing/2014/main" id="{324035DE-A8EA-794D-B04C-8201886E2C87}"/>
              </a:ext>
            </a:extLst>
          </p:cNvPr>
          <p:cNvPicPr>
            <a:picLocks noChangeAspect="1"/>
          </p:cNvPicPr>
          <p:nvPr/>
        </p:nvPicPr>
        <p:blipFill rotWithShape="1">
          <a:blip r:embed="rId4"/>
          <a:srcRect l="19792" t="17777" r="29861" b="13334"/>
          <a:stretch/>
        </p:blipFill>
        <p:spPr>
          <a:xfrm>
            <a:off x="6255134" y="1595150"/>
            <a:ext cx="5524502" cy="4724402"/>
          </a:xfrm>
          <a:prstGeom prst="rect">
            <a:avLst/>
          </a:prstGeom>
        </p:spPr>
      </p:pic>
      <p:sp>
        <p:nvSpPr>
          <p:cNvPr id="10" name="文字方塊 9">
            <a:extLst>
              <a:ext uri="{FF2B5EF4-FFF2-40B4-BE49-F238E27FC236}">
                <a16:creationId xmlns:a16="http://schemas.microsoft.com/office/drawing/2014/main" id="{372BC627-F7DF-804E-A8B0-E4898075121B}"/>
              </a:ext>
            </a:extLst>
          </p:cNvPr>
          <p:cNvSpPr txBox="1"/>
          <p:nvPr/>
        </p:nvSpPr>
        <p:spPr>
          <a:xfrm>
            <a:off x="8417169" y="6398715"/>
            <a:ext cx="2567354" cy="338554"/>
          </a:xfrm>
          <a:prstGeom prst="rect">
            <a:avLst/>
          </a:prstGeom>
          <a:noFill/>
        </p:spPr>
        <p:txBody>
          <a:bodyPr wrap="square">
            <a:spAutoFit/>
          </a:bodyPr>
          <a:lstStyle/>
          <a:p>
            <a:r>
              <a:rPr lang="zh-TW" altLang="en-US" sz="1600" dirty="0">
                <a:latin typeface="Times New Roman" panose="02020603050405020304" pitchFamily="18" charset="0"/>
                <a:cs typeface="Times New Roman" panose="02020603050405020304" pitchFamily="18" charset="0"/>
              </a:rPr>
              <a:t>https://cardgames.io/spades/</a:t>
            </a:r>
          </a:p>
        </p:txBody>
      </p:sp>
    </p:spTree>
    <p:extLst>
      <p:ext uri="{BB962C8B-B14F-4D97-AF65-F5344CB8AC3E}">
        <p14:creationId xmlns:p14="http://schemas.microsoft.com/office/powerpoint/2010/main" val="108701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Spades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p:pic>
        <p:nvPicPr>
          <p:cNvPr id="5" name="圖片 4" descr="一張含有 文字, 螢幕擷取畫面, 紙牌遊戲, 遊戲 的圖片&#10;&#10;自動產生的描述">
            <a:extLst>
              <a:ext uri="{FF2B5EF4-FFF2-40B4-BE49-F238E27FC236}">
                <a16:creationId xmlns:a16="http://schemas.microsoft.com/office/drawing/2014/main" id="{C2185DEF-9FC5-6946-B59D-5C1C9464A506}"/>
              </a:ext>
            </a:extLst>
          </p:cNvPr>
          <p:cNvPicPr>
            <a:picLocks noChangeAspect="1"/>
          </p:cNvPicPr>
          <p:nvPr/>
        </p:nvPicPr>
        <p:blipFill>
          <a:blip r:embed="rId3"/>
          <a:stretch>
            <a:fillRect/>
          </a:stretch>
        </p:blipFill>
        <p:spPr>
          <a:xfrm>
            <a:off x="3317631" y="92750"/>
            <a:ext cx="7690339" cy="6672500"/>
          </a:xfrm>
          <a:prstGeom prst="rect">
            <a:avLst/>
          </a:prstGeom>
        </p:spPr>
      </p:pic>
      <p:sp>
        <p:nvSpPr>
          <p:cNvPr id="9" name="文字方塊 8">
            <a:extLst>
              <a:ext uri="{FF2B5EF4-FFF2-40B4-BE49-F238E27FC236}">
                <a16:creationId xmlns:a16="http://schemas.microsoft.com/office/drawing/2014/main" id="{C50509A1-90E3-9B49-8F00-25B12319B507}"/>
              </a:ext>
            </a:extLst>
          </p:cNvPr>
          <p:cNvSpPr txBox="1"/>
          <p:nvPr/>
        </p:nvSpPr>
        <p:spPr>
          <a:xfrm>
            <a:off x="457200" y="6414370"/>
            <a:ext cx="2567354" cy="338554"/>
          </a:xfrm>
          <a:prstGeom prst="rect">
            <a:avLst/>
          </a:prstGeom>
          <a:noFill/>
        </p:spPr>
        <p:txBody>
          <a:bodyPr wrap="square">
            <a:spAutoFit/>
          </a:bodyPr>
          <a:lstStyle/>
          <a:p>
            <a:r>
              <a:rPr lang="zh-TW" altLang="en-US" sz="1600" dirty="0">
                <a:latin typeface="Times New Roman" panose="02020603050405020304" pitchFamily="18" charset="0"/>
                <a:cs typeface="Times New Roman" panose="02020603050405020304" pitchFamily="18" charset="0"/>
              </a:rPr>
              <a:t>https://cardgames.io/spades/</a:t>
            </a:r>
          </a:p>
        </p:txBody>
      </p:sp>
    </p:spTree>
    <p:extLst>
      <p:ext uri="{BB962C8B-B14F-4D97-AF65-F5344CB8AC3E}">
        <p14:creationId xmlns:p14="http://schemas.microsoft.com/office/powerpoint/2010/main" val="1896290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Spades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pic>
        <p:nvPicPr>
          <p:cNvPr id="5" name="圖片 4" descr="一張含有 文字, 螢幕擷取畫面, 數字, Rectangle 的圖片&#10;&#10;自動產生的描述">
            <a:extLst>
              <a:ext uri="{FF2B5EF4-FFF2-40B4-BE49-F238E27FC236}">
                <a16:creationId xmlns:a16="http://schemas.microsoft.com/office/drawing/2014/main" id="{AB9FB39B-681F-5342-836F-687E198C5CA4}"/>
              </a:ext>
            </a:extLst>
          </p:cNvPr>
          <p:cNvPicPr>
            <a:picLocks noChangeAspect="1"/>
          </p:cNvPicPr>
          <p:nvPr/>
        </p:nvPicPr>
        <p:blipFill>
          <a:blip r:embed="rId3"/>
          <a:stretch>
            <a:fillRect/>
          </a:stretch>
        </p:blipFill>
        <p:spPr>
          <a:xfrm>
            <a:off x="3280998" y="105075"/>
            <a:ext cx="7791450" cy="6647849"/>
          </a:xfrm>
          <a:prstGeom prst="rect">
            <a:avLst/>
          </a:prstGeom>
        </p:spPr>
      </p:pic>
      <p:sp>
        <p:nvSpPr>
          <p:cNvPr id="9" name="文字方塊 8">
            <a:extLst>
              <a:ext uri="{FF2B5EF4-FFF2-40B4-BE49-F238E27FC236}">
                <a16:creationId xmlns:a16="http://schemas.microsoft.com/office/drawing/2014/main" id="{0B4CB208-BE20-7B41-8BFE-94C4C618BF15}"/>
              </a:ext>
            </a:extLst>
          </p:cNvPr>
          <p:cNvSpPr txBox="1"/>
          <p:nvPr/>
        </p:nvSpPr>
        <p:spPr>
          <a:xfrm>
            <a:off x="457200" y="6414370"/>
            <a:ext cx="2567354" cy="338554"/>
          </a:xfrm>
          <a:prstGeom prst="rect">
            <a:avLst/>
          </a:prstGeom>
          <a:noFill/>
        </p:spPr>
        <p:txBody>
          <a:bodyPr wrap="square">
            <a:spAutoFit/>
          </a:bodyPr>
          <a:lstStyle/>
          <a:p>
            <a:r>
              <a:rPr lang="zh-TW" altLang="en-US" sz="1600" dirty="0">
                <a:latin typeface="Times New Roman" panose="02020603050405020304" pitchFamily="18" charset="0"/>
                <a:cs typeface="Times New Roman" panose="02020603050405020304" pitchFamily="18" charset="0"/>
              </a:rPr>
              <a:t>https://cardgames.io/spades/</a:t>
            </a:r>
          </a:p>
        </p:txBody>
      </p:sp>
    </p:spTree>
    <p:extLst>
      <p:ext uri="{BB962C8B-B14F-4D97-AF65-F5344CB8AC3E}">
        <p14:creationId xmlns:p14="http://schemas.microsoft.com/office/powerpoint/2010/main" val="2281149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Spades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dirty="0"/>
          </a:p>
        </p:txBody>
      </p:sp>
      <p:sp>
        <p:nvSpPr>
          <p:cNvPr id="9" name="文字方塊 8">
            <a:extLst>
              <a:ext uri="{FF2B5EF4-FFF2-40B4-BE49-F238E27FC236}">
                <a16:creationId xmlns:a16="http://schemas.microsoft.com/office/drawing/2014/main" id="{0B4CB208-BE20-7B41-8BFE-94C4C618BF15}"/>
              </a:ext>
            </a:extLst>
          </p:cNvPr>
          <p:cNvSpPr txBox="1"/>
          <p:nvPr/>
        </p:nvSpPr>
        <p:spPr>
          <a:xfrm>
            <a:off x="457200" y="6414370"/>
            <a:ext cx="2567354" cy="338554"/>
          </a:xfrm>
          <a:prstGeom prst="rect">
            <a:avLst/>
          </a:prstGeom>
          <a:noFill/>
        </p:spPr>
        <p:txBody>
          <a:bodyPr wrap="square">
            <a:spAutoFit/>
          </a:bodyPr>
          <a:lstStyle/>
          <a:p>
            <a:r>
              <a:rPr lang="zh-TW" altLang="en-US" sz="1600" dirty="0">
                <a:latin typeface="Times New Roman" panose="02020603050405020304" pitchFamily="18" charset="0"/>
                <a:cs typeface="Times New Roman" panose="02020603050405020304" pitchFamily="18" charset="0"/>
              </a:rPr>
              <a:t>https://cardgames.io/spades/</a:t>
            </a:r>
          </a:p>
        </p:txBody>
      </p:sp>
      <p:pic>
        <p:nvPicPr>
          <p:cNvPr id="8" name="圖片 7" descr="一張含有 文字, 螢幕擷取畫面 的圖片&#10;&#10;自動產生的描述">
            <a:extLst>
              <a:ext uri="{FF2B5EF4-FFF2-40B4-BE49-F238E27FC236}">
                <a16:creationId xmlns:a16="http://schemas.microsoft.com/office/drawing/2014/main" id="{577177FA-6BC1-D046-B7BA-9C5CC826B189}"/>
              </a:ext>
            </a:extLst>
          </p:cNvPr>
          <p:cNvPicPr>
            <a:picLocks noChangeAspect="1"/>
          </p:cNvPicPr>
          <p:nvPr/>
        </p:nvPicPr>
        <p:blipFill>
          <a:blip r:embed="rId3"/>
          <a:stretch>
            <a:fillRect/>
          </a:stretch>
        </p:blipFill>
        <p:spPr>
          <a:xfrm>
            <a:off x="3370387" y="105076"/>
            <a:ext cx="7734514" cy="6647848"/>
          </a:xfrm>
          <a:prstGeom prst="rect">
            <a:avLst/>
          </a:prstGeom>
        </p:spPr>
      </p:pic>
    </p:spTree>
    <p:extLst>
      <p:ext uri="{BB962C8B-B14F-4D97-AF65-F5344CB8AC3E}">
        <p14:creationId xmlns:p14="http://schemas.microsoft.com/office/powerpoint/2010/main" val="1609530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Bids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dirty="0"/>
          </a:p>
        </p:txBody>
      </p:sp>
      <p:sp>
        <p:nvSpPr>
          <p:cNvPr id="8" name="內容版面配置區 7">
            <a:extLst>
              <a:ext uri="{FF2B5EF4-FFF2-40B4-BE49-F238E27FC236}">
                <a16:creationId xmlns:a16="http://schemas.microsoft.com/office/drawing/2014/main" id="{71229686-998D-E644-950A-840D9D64F5DF}"/>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Regular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bid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(1-13</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tricks)</a:t>
            </a:r>
            <a:endParaRPr lang="en" altLang="zh-TW" dirty="0">
              <a:latin typeface="Times New Roman" panose="02020603050405020304" pitchFamily="18" charset="0"/>
              <a:cs typeface="Times New Roman" panose="02020603050405020304" pitchFamily="18" charset="0"/>
            </a:endParaRPr>
          </a:p>
          <a:p>
            <a:pPr lvl="1"/>
            <a:r>
              <a:rPr lang="en" altLang="zh-TW" dirty="0">
                <a:latin typeface="Times New Roman" panose="02020603050405020304" pitchFamily="18" charset="0"/>
                <a:cs typeface="Times New Roman" panose="02020603050405020304" pitchFamily="18" charset="0"/>
              </a:rPr>
              <a:t>Side suits high cards</a:t>
            </a:r>
          </a:p>
          <a:p>
            <a:pPr lvl="1"/>
            <a:r>
              <a:rPr lang="en-US" altLang="zh-TW" dirty="0">
                <a:latin typeface="Times New Roman" panose="02020603050405020304" pitchFamily="18" charset="0"/>
                <a:cs typeface="Times New Roman" panose="02020603050405020304" pitchFamily="18" charset="0"/>
              </a:rPr>
              <a:t>Spades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high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cards</a:t>
            </a:r>
          </a:p>
          <a:p>
            <a:pPr lvl="1"/>
            <a:r>
              <a:rPr lang="en-US" altLang="zh-TW" dirty="0">
                <a:latin typeface="Times New Roman" panose="02020603050405020304" pitchFamily="18" charset="0"/>
                <a:cs typeface="Times New Roman" panose="02020603050405020304" pitchFamily="18" charset="0"/>
              </a:rPr>
              <a:t>Spades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long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suits</a:t>
            </a:r>
          </a:p>
          <a:p>
            <a:pPr lvl="1"/>
            <a:r>
              <a:rPr kumimoji="1" lang="en-US" altLang="zh-TW" dirty="0">
                <a:latin typeface="Times" pitchFamily="2" charset="0"/>
              </a:rPr>
              <a:t>Short</a:t>
            </a:r>
            <a:r>
              <a:rPr kumimoji="1" lang="zh-TW" altLang="en-US" dirty="0">
                <a:latin typeface="Times" pitchFamily="2" charset="0"/>
              </a:rPr>
              <a:t> </a:t>
            </a:r>
            <a:r>
              <a:rPr kumimoji="1" lang="en-US" altLang="zh-TW" dirty="0">
                <a:latin typeface="Times" pitchFamily="2" charset="0"/>
              </a:rPr>
              <a:t>side</a:t>
            </a:r>
            <a:r>
              <a:rPr kumimoji="1" lang="zh-TW" altLang="en-US" dirty="0">
                <a:latin typeface="Times" pitchFamily="2" charset="0"/>
              </a:rPr>
              <a:t> </a:t>
            </a:r>
            <a:r>
              <a:rPr kumimoji="1" lang="en-US" altLang="zh-TW" dirty="0">
                <a:latin typeface="Times" pitchFamily="2" charset="0"/>
              </a:rPr>
              <a:t>suits</a:t>
            </a:r>
            <a:r>
              <a:rPr kumimoji="1" lang="zh-TW" altLang="en-US" dirty="0">
                <a:latin typeface="Times" pitchFamily="2" charset="0"/>
              </a:rPr>
              <a:t> </a:t>
            </a:r>
            <a:r>
              <a:rPr kumimoji="1" lang="en-US" altLang="zh-TW" dirty="0">
                <a:latin typeface="Times" pitchFamily="2" charset="0"/>
              </a:rPr>
              <a:t>with</a:t>
            </a:r>
            <a:r>
              <a:rPr kumimoji="1" lang="zh-TW" altLang="en-US" dirty="0">
                <a:latin typeface="Times" pitchFamily="2" charset="0"/>
              </a:rPr>
              <a:t> </a:t>
            </a:r>
            <a:r>
              <a:rPr kumimoji="1" lang="en-US" altLang="zh-TW" dirty="0">
                <a:latin typeface="Times" pitchFamily="2" charset="0"/>
              </a:rPr>
              <a:t>spades</a:t>
            </a:r>
          </a:p>
          <a:p>
            <a:pPr marL="457200" lvl="1" indent="0">
              <a:buNone/>
            </a:pPr>
            <a:endParaRPr kumimoji="1" lang="en-US" altLang="zh-TW" dirty="0">
              <a:latin typeface="Times" pitchFamily="2" charset="0"/>
            </a:endParaRPr>
          </a:p>
          <a:p>
            <a:r>
              <a:rPr kumimoji="1" lang="en-US" altLang="zh-TW" dirty="0">
                <a:latin typeface="Times" pitchFamily="2" charset="0"/>
              </a:rPr>
              <a:t>Nil</a:t>
            </a:r>
            <a:r>
              <a:rPr kumimoji="1" lang="zh-TW" altLang="en-US" dirty="0">
                <a:latin typeface="Times" pitchFamily="2" charset="0"/>
              </a:rPr>
              <a:t> </a:t>
            </a:r>
            <a:r>
              <a:rPr kumimoji="1" lang="en-US" altLang="zh-TW" dirty="0">
                <a:latin typeface="Times" pitchFamily="2" charset="0"/>
              </a:rPr>
              <a:t>bid</a:t>
            </a:r>
            <a:r>
              <a:rPr kumimoji="1" lang="zh-TW" altLang="en-US" dirty="0">
                <a:latin typeface="Times" pitchFamily="2" charset="0"/>
              </a:rPr>
              <a:t> </a:t>
            </a:r>
            <a:r>
              <a:rPr kumimoji="1" lang="en-US" altLang="zh-TW" dirty="0">
                <a:latin typeface="Times" pitchFamily="2" charset="0"/>
              </a:rPr>
              <a:t>(0</a:t>
            </a:r>
            <a:r>
              <a:rPr kumimoji="1" lang="zh-TW" altLang="en-US" dirty="0">
                <a:latin typeface="Times" pitchFamily="2" charset="0"/>
              </a:rPr>
              <a:t> </a:t>
            </a:r>
            <a:r>
              <a:rPr kumimoji="1" lang="en-US" altLang="zh-TW" dirty="0">
                <a:latin typeface="Times" pitchFamily="2" charset="0"/>
              </a:rPr>
              <a:t>trick)</a:t>
            </a:r>
            <a:endParaRPr lang="en" altLang="zh-TW" dirty="0">
              <a:latin typeface="Times New Roman" panose="02020603050405020304" pitchFamily="18" charset="0"/>
              <a:cs typeface="Times New Roman" panose="02020603050405020304" pitchFamily="18" charset="0"/>
            </a:endParaRPr>
          </a:p>
          <a:p>
            <a:endParaRPr lang="en" altLang="zh-TW" dirty="0">
              <a:latin typeface="Times New Roman" panose="02020603050405020304" pitchFamily="18" charset="0"/>
              <a:cs typeface="Times New Roman" panose="02020603050405020304" pitchFamily="18" charset="0"/>
            </a:endParaRPr>
          </a:p>
          <a:p>
            <a:endParaRPr lang="en" altLang="zh-TW"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97748710-C3F3-3E4B-A95E-A460D8259176}"/>
              </a:ext>
            </a:extLst>
          </p:cNvPr>
          <p:cNvSpPr txBox="1"/>
          <p:nvPr/>
        </p:nvSpPr>
        <p:spPr>
          <a:xfrm>
            <a:off x="3851031" y="6202461"/>
            <a:ext cx="7268308" cy="307777"/>
          </a:xfrm>
          <a:prstGeom prst="rect">
            <a:avLst/>
          </a:prstGeom>
          <a:noFill/>
        </p:spPr>
        <p:txBody>
          <a:bodyPr wrap="square">
            <a:spAutoFit/>
          </a:bodyPr>
          <a:lstStyle/>
          <a:p>
            <a:r>
              <a:rPr lang="en" altLang="zh-TW" sz="1400" dirty="0">
                <a:effectLst/>
                <a:latin typeface="LMRoman9-Regular-Identity-H"/>
              </a:rPr>
              <a:t>Tyler Wong. Spades: tactics and trickery. </a:t>
            </a:r>
            <a:r>
              <a:rPr lang="en" altLang="zh-TW" sz="1400" dirty="0">
                <a:effectLst/>
                <a:latin typeface="LMMono9-Regular-Identity-H"/>
              </a:rPr>
              <a:t>www. </a:t>
            </a:r>
            <a:r>
              <a:rPr lang="en" altLang="zh-TW" sz="1400" dirty="0" err="1">
                <a:effectLst/>
                <a:latin typeface="LMMono9-Regular-Identity-H"/>
              </a:rPr>
              <a:t>sharkfeeder.com</a:t>
            </a:r>
            <a:r>
              <a:rPr lang="en" altLang="zh-TW" sz="1400" dirty="0">
                <a:effectLst/>
                <a:latin typeface="LMMono9-Regular-Identity-H"/>
              </a:rPr>
              <a:t>/</a:t>
            </a:r>
            <a:r>
              <a:rPr lang="en" altLang="zh-TW" sz="1400" dirty="0" err="1">
                <a:effectLst/>
                <a:latin typeface="LMMono9-Regular-Identity-H"/>
              </a:rPr>
              <a:t>spadsbook</a:t>
            </a:r>
            <a:r>
              <a:rPr lang="en" altLang="zh-TW" sz="1400" dirty="0">
                <a:effectLst/>
                <a:latin typeface="LMMono9-Regular-Identity-H"/>
              </a:rPr>
              <a:t>/</a:t>
            </a:r>
            <a:r>
              <a:rPr lang="en" altLang="zh-TW" sz="1400" dirty="0" err="1">
                <a:effectLst/>
                <a:latin typeface="LMMono9-Regular-Identity-H"/>
              </a:rPr>
              <a:t>basicbidding.html</a:t>
            </a:r>
            <a:r>
              <a:rPr lang="en" altLang="zh-TW" sz="1400" dirty="0">
                <a:effectLst/>
                <a:latin typeface="LMRoman9-Regular-Identity-H"/>
              </a:rPr>
              <a:t>. </a:t>
            </a:r>
            <a:endParaRPr lang="en" altLang="zh-TW" sz="1400" dirty="0">
              <a:effectLst/>
            </a:endParaRPr>
          </a:p>
        </p:txBody>
      </p:sp>
    </p:spTree>
    <p:extLst>
      <p:ext uri="{BB962C8B-B14F-4D97-AF65-F5344CB8AC3E}">
        <p14:creationId xmlns:p14="http://schemas.microsoft.com/office/powerpoint/2010/main" val="408560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Regular</a:t>
            </a:r>
            <a:r>
              <a:rPr kumimoji="1" lang="zh-TW" altLang="en-US" dirty="0">
                <a:latin typeface="Times" pitchFamily="2" charset="0"/>
              </a:rPr>
              <a:t> </a:t>
            </a:r>
            <a:r>
              <a:rPr kumimoji="1" lang="en-US" altLang="zh-TW" dirty="0">
                <a:latin typeface="Times" pitchFamily="2" charset="0"/>
              </a:rPr>
              <a:t>bid - </a:t>
            </a:r>
            <a:r>
              <a:rPr lang="en-US" altLang="zh-TW" dirty="0">
                <a:latin typeface="Times New Roman" panose="02020603050405020304" pitchFamily="18" charset="0"/>
                <a:cs typeface="Times New Roman" panose="02020603050405020304" pitchFamily="18" charset="0"/>
              </a:rPr>
              <a:t>Side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high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cards</a:t>
            </a:r>
            <a:endParaRPr kumimoji="1" lang="zh-TW" altLang="en-US" dirty="0">
              <a:latin typeface="Times" pitchFamily="2" charset="0"/>
            </a:endParaRPr>
          </a:p>
        </p:txBody>
      </p:sp>
      <p:sp>
        <p:nvSpPr>
          <p:cNvPr id="6" name="內容版面配置區 5">
            <a:extLst>
              <a:ext uri="{FF2B5EF4-FFF2-40B4-BE49-F238E27FC236}">
                <a16:creationId xmlns:a16="http://schemas.microsoft.com/office/drawing/2014/main" id="{E9C61F61-112C-0545-B7E4-D8A9DF742FF8}"/>
              </a:ext>
            </a:extLst>
          </p:cNvPr>
          <p:cNvSpPr>
            <a:spLocks noGrp="1"/>
          </p:cNvSpPr>
          <p:nvPr>
            <p:ph idx="1"/>
          </p:nvPr>
        </p:nvSpPr>
        <p:spPr/>
        <p:txBody>
          <a:bodyPr/>
          <a:lstStyle/>
          <a:p>
            <a:r>
              <a:rPr lang="en-US" altLang="zh-TW" sz="2400" dirty="0">
                <a:latin typeface="Times New Roman" panose="02020603050405020304" pitchFamily="18" charset="0"/>
                <a:cs typeface="Times New Roman" panose="02020603050405020304" pitchFamily="18" charset="0"/>
              </a:rPr>
              <a:t>CK:</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0.678</a:t>
            </a:r>
          </a:p>
          <a:p>
            <a:r>
              <a:rPr lang="en-US" altLang="zh-TW" sz="2400" dirty="0">
                <a:latin typeface="Times New Roman" panose="02020603050405020304" pitchFamily="18" charset="0"/>
                <a:cs typeface="Times New Roman" panose="02020603050405020304" pitchFamily="18" charset="0"/>
              </a:rPr>
              <a:t>DQ:</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0</a:t>
            </a:r>
          </a:p>
          <a:p>
            <a:r>
              <a:rPr lang="en-US" altLang="zh-TW" sz="2400" dirty="0">
                <a:latin typeface="Times New Roman" panose="02020603050405020304" pitchFamily="18" charset="0"/>
                <a:cs typeface="Times New Roman" panose="02020603050405020304" pitchFamily="18" charset="0"/>
              </a:rPr>
              <a:t>HA:</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0.990</a:t>
            </a:r>
          </a:p>
          <a:p>
            <a:r>
              <a:rPr lang="en-US" altLang="zh-TW" sz="2400" dirty="0">
                <a:latin typeface="Times New Roman" panose="02020603050405020304" pitchFamily="18" charset="0"/>
                <a:cs typeface="Times New Roman" panose="02020603050405020304" pitchFamily="18" charset="0"/>
              </a:rPr>
              <a:t>HQ:</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0</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p:pic>
        <p:nvPicPr>
          <p:cNvPr id="5" name="圖片 4" descr="一張含有 文字, 字型, 螢幕擷取畫面, 標誌 的圖片&#10;&#10;自動產生的描述">
            <a:extLst>
              <a:ext uri="{FF2B5EF4-FFF2-40B4-BE49-F238E27FC236}">
                <a16:creationId xmlns:a16="http://schemas.microsoft.com/office/drawing/2014/main" id="{5D1E8FA3-F22A-7044-9D86-67C933DFB412}"/>
              </a:ext>
            </a:extLst>
          </p:cNvPr>
          <p:cNvPicPr>
            <a:picLocks noChangeAspect="1"/>
          </p:cNvPicPr>
          <p:nvPr/>
        </p:nvPicPr>
        <p:blipFill rotWithShape="1">
          <a:blip r:embed="rId3"/>
          <a:srcRect b="26621"/>
          <a:stretch/>
        </p:blipFill>
        <p:spPr>
          <a:xfrm>
            <a:off x="503994" y="3828877"/>
            <a:ext cx="5295703" cy="2262441"/>
          </a:xfrm>
          <a:prstGeom prst="rect">
            <a:avLst/>
          </a:prstGeom>
        </p:spPr>
      </p:pic>
      <p:pic>
        <p:nvPicPr>
          <p:cNvPr id="7" name="圖片 6" descr="一張含有 文字, 數字, 字型, 螢幕擷取畫面 的圖片&#10;&#10;自動產生的描述">
            <a:extLst>
              <a:ext uri="{FF2B5EF4-FFF2-40B4-BE49-F238E27FC236}">
                <a16:creationId xmlns:a16="http://schemas.microsoft.com/office/drawing/2014/main" id="{89BE0E25-3F99-5C4E-84F7-73D239EFDC60}"/>
              </a:ext>
            </a:extLst>
          </p:cNvPr>
          <p:cNvPicPr>
            <a:picLocks noChangeAspect="1"/>
          </p:cNvPicPr>
          <p:nvPr/>
        </p:nvPicPr>
        <p:blipFill>
          <a:blip r:embed="rId4"/>
          <a:stretch>
            <a:fillRect/>
          </a:stretch>
        </p:blipFill>
        <p:spPr>
          <a:xfrm>
            <a:off x="5799697" y="1735826"/>
            <a:ext cx="5807685" cy="4373078"/>
          </a:xfrm>
          <a:prstGeom prst="rect">
            <a:avLst/>
          </a:prstGeom>
        </p:spPr>
      </p:pic>
      <p:sp>
        <p:nvSpPr>
          <p:cNvPr id="3" name="圓角矩形 2">
            <a:extLst>
              <a:ext uri="{FF2B5EF4-FFF2-40B4-BE49-F238E27FC236}">
                <a16:creationId xmlns:a16="http://schemas.microsoft.com/office/drawing/2014/main" id="{1A74A7EF-ACFB-3E41-842B-CAC801E139A8}"/>
              </a:ext>
            </a:extLst>
          </p:cNvPr>
          <p:cNvSpPr/>
          <p:nvPr/>
        </p:nvSpPr>
        <p:spPr>
          <a:xfrm>
            <a:off x="8534400" y="4372709"/>
            <a:ext cx="1377462" cy="293076"/>
          </a:xfrm>
          <a:prstGeom prst="round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zh-TW" altLang="en-US"/>
          </a:p>
        </p:txBody>
      </p:sp>
      <p:sp>
        <p:nvSpPr>
          <p:cNvPr id="8" name="圓角矩形 7">
            <a:extLst>
              <a:ext uri="{FF2B5EF4-FFF2-40B4-BE49-F238E27FC236}">
                <a16:creationId xmlns:a16="http://schemas.microsoft.com/office/drawing/2014/main" id="{D06FFB1E-DDF2-3545-9C63-C98E793F48AD}"/>
              </a:ext>
            </a:extLst>
          </p:cNvPr>
          <p:cNvSpPr/>
          <p:nvPr/>
        </p:nvSpPr>
        <p:spPr>
          <a:xfrm>
            <a:off x="7246178" y="3629289"/>
            <a:ext cx="1377462" cy="293076"/>
          </a:xfrm>
          <a:prstGeom prst="roundRect">
            <a:avLst/>
          </a:prstGeom>
          <a:noFill/>
          <a:ln w="38100" cap="flat" cmpd="sng" algn="ctr">
            <a:solidFill>
              <a:schemeClr val="accent4">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zh-TW" altLang="en-US"/>
          </a:p>
        </p:txBody>
      </p:sp>
    </p:spTree>
    <p:extLst>
      <p:ext uri="{BB962C8B-B14F-4D97-AF65-F5344CB8AC3E}">
        <p14:creationId xmlns:p14="http://schemas.microsoft.com/office/powerpoint/2010/main" val="350550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Regular</a:t>
            </a:r>
            <a:r>
              <a:rPr kumimoji="1" lang="zh-TW" altLang="en-US" dirty="0">
                <a:latin typeface="Times" pitchFamily="2" charset="0"/>
              </a:rPr>
              <a:t> </a:t>
            </a:r>
            <a:r>
              <a:rPr kumimoji="1" lang="en-US" altLang="zh-TW" dirty="0">
                <a:latin typeface="Times" pitchFamily="2" charset="0"/>
              </a:rPr>
              <a:t>bid</a:t>
            </a:r>
            <a:r>
              <a:rPr kumimoji="1" lang="zh-TW" altLang="en-US" dirty="0">
                <a:latin typeface="Times" pitchFamily="2" charset="0"/>
              </a:rPr>
              <a:t> </a:t>
            </a:r>
            <a:r>
              <a:rPr kumimoji="1" lang="en-US" altLang="zh-TW" dirty="0">
                <a:latin typeface="Times" pitchFamily="2" charset="0"/>
              </a:rPr>
              <a:t>-</a:t>
            </a:r>
            <a:r>
              <a:rPr kumimoji="1" lang="zh-TW" altLang="en-US" dirty="0">
                <a:latin typeface="Times" pitchFamily="2" charset="0"/>
              </a:rPr>
              <a:t> </a:t>
            </a:r>
            <a:r>
              <a:rPr lang="en-US" altLang="zh-TW" dirty="0">
                <a:latin typeface="Times New Roman" panose="02020603050405020304" pitchFamily="18" charset="0"/>
                <a:cs typeface="Times New Roman" panose="02020603050405020304" pitchFamily="18" charset="0"/>
              </a:rPr>
              <a:t>Spades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high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cards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dirty="0"/>
          </a:p>
        </p:txBody>
      </p:sp>
      <p:sp>
        <p:nvSpPr>
          <p:cNvPr id="8" name="內容版面配置區 7">
            <a:extLst>
              <a:ext uri="{FF2B5EF4-FFF2-40B4-BE49-F238E27FC236}">
                <a16:creationId xmlns:a16="http://schemas.microsoft.com/office/drawing/2014/main" id="{71229686-998D-E644-950A-840D9D64F5DF}"/>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a:t>
            </a:r>
            <a:r>
              <a:rPr lang="en" altLang="zh-TW" dirty="0">
                <a:latin typeface="Times New Roman" panose="02020603050405020304" pitchFamily="18" charset="0"/>
                <a:cs typeface="Times New Roman" panose="02020603050405020304" pitchFamily="18" charset="0"/>
              </a:rPr>
              <a:t>A is worth one trick</a:t>
            </a:r>
            <a:r>
              <a:rPr lang="en-US" altLang="zh-TW" dirty="0">
                <a:latin typeface="Times New Roman" panose="02020603050405020304" pitchFamily="18" charset="0"/>
                <a:cs typeface="Times New Roman" panose="02020603050405020304" pitchFamily="18" charset="0"/>
              </a:rPr>
              <a:t>.</a:t>
            </a:r>
            <a:endParaRPr lang="en"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a:t>
            </a:r>
            <a:r>
              <a:rPr lang="en" altLang="zh-TW" dirty="0">
                <a:latin typeface="Times New Roman" panose="02020603050405020304" pitchFamily="18" charset="0"/>
                <a:cs typeface="Times New Roman" panose="02020603050405020304" pitchFamily="18" charset="0"/>
              </a:rPr>
              <a:t>K</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is worth one trick if the hand contains another spade</a:t>
            </a:r>
            <a:r>
              <a:rPr lang="en-US" altLang="zh-TW" dirty="0">
                <a:latin typeface="Times New Roman" panose="02020603050405020304" pitchFamily="18" charset="0"/>
                <a:cs typeface="Times New Roman" panose="02020603050405020304" pitchFamily="18" charset="0"/>
              </a:rPr>
              <a:t>.</a:t>
            </a:r>
            <a:endParaRPr lang="en"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a:t>
            </a:r>
            <a:r>
              <a:rPr lang="en" altLang="zh-TW" dirty="0">
                <a:latin typeface="Times New Roman" panose="02020603050405020304" pitchFamily="18" charset="0"/>
                <a:cs typeface="Times New Roman" panose="02020603050405020304" pitchFamily="18" charset="0"/>
              </a:rPr>
              <a:t>Q needs 2 protectors in order to be counted as a take</a:t>
            </a:r>
            <a:r>
              <a:rPr lang="en-US" altLang="zh-TW" dirty="0">
                <a:latin typeface="Times New Roman" panose="02020603050405020304" pitchFamily="18" charset="0"/>
                <a:cs typeface="Times New Roman" panose="02020603050405020304" pitchFamily="18" charset="0"/>
              </a:rPr>
              <a:t>.</a:t>
            </a:r>
            <a:endParaRPr lang="en"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a:t>
            </a:r>
            <a:r>
              <a:rPr lang="en" altLang="zh-TW" dirty="0">
                <a:latin typeface="Times New Roman" panose="02020603050405020304" pitchFamily="18" charset="0"/>
                <a:cs typeface="Times New Roman" panose="02020603050405020304" pitchFamily="18" charset="0"/>
              </a:rPr>
              <a:t>J</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needs 3 protectors in order to be counted as a take.</a:t>
            </a:r>
          </a:p>
        </p:txBody>
      </p:sp>
      <p:sp>
        <p:nvSpPr>
          <p:cNvPr id="7" name="文字方塊 6">
            <a:extLst>
              <a:ext uri="{FF2B5EF4-FFF2-40B4-BE49-F238E27FC236}">
                <a16:creationId xmlns:a16="http://schemas.microsoft.com/office/drawing/2014/main" id="{97748710-C3F3-3E4B-A95E-A460D8259176}"/>
              </a:ext>
            </a:extLst>
          </p:cNvPr>
          <p:cNvSpPr txBox="1"/>
          <p:nvPr/>
        </p:nvSpPr>
        <p:spPr>
          <a:xfrm>
            <a:off x="2225040" y="6202461"/>
            <a:ext cx="8894299" cy="307777"/>
          </a:xfrm>
          <a:prstGeom prst="rect">
            <a:avLst/>
          </a:prstGeom>
          <a:noFill/>
        </p:spPr>
        <p:txBody>
          <a:bodyPr wrap="square">
            <a:spAutoFit/>
          </a:bodyPr>
          <a:lstStyle/>
          <a:p>
            <a:r>
              <a:rPr lang="en-US" altLang="zh-TW" sz="1400" dirty="0">
                <a:effectLst/>
                <a:latin typeface="LMRoman9-Regular-Identity-H"/>
              </a:rPr>
              <a:t>The</a:t>
            </a:r>
            <a:r>
              <a:rPr lang="zh-TW" altLang="en-US" sz="1400" dirty="0">
                <a:effectLst/>
                <a:latin typeface="LMRoman9-Regular-Identity-H"/>
              </a:rPr>
              <a:t> </a:t>
            </a:r>
            <a:r>
              <a:rPr lang="en-US" altLang="zh-TW" sz="1400" dirty="0">
                <a:effectLst/>
                <a:latin typeface="LMRoman9-Regular-Identity-H"/>
              </a:rPr>
              <a:t>finesse</a:t>
            </a:r>
            <a:r>
              <a:rPr lang="zh-TW" altLang="en-US" sz="1400" dirty="0">
                <a:effectLst/>
                <a:latin typeface="LMRoman9-Regular-Identity-H"/>
              </a:rPr>
              <a:t> </a:t>
            </a:r>
            <a:r>
              <a:rPr lang="en-US" altLang="zh-TW" sz="1400" dirty="0">
                <a:effectLst/>
                <a:latin typeface="LMRoman9-Regular-Identity-H"/>
              </a:rPr>
              <a:t>version:</a:t>
            </a:r>
            <a:r>
              <a:rPr lang="zh-TW" altLang="en-US" sz="1400" dirty="0">
                <a:effectLst/>
                <a:latin typeface="LMRoman9-Regular-Identity-H"/>
              </a:rPr>
              <a:t> </a:t>
            </a:r>
            <a:r>
              <a:rPr lang="en" altLang="zh-TW" sz="1400" dirty="0">
                <a:effectLst/>
                <a:latin typeface="LMRoman9-Regular-Identity-H"/>
              </a:rPr>
              <a:t>Tyler Wong. Spades: tactics and trickery. </a:t>
            </a:r>
            <a:r>
              <a:rPr lang="en" altLang="zh-TW" sz="1400" dirty="0">
                <a:effectLst/>
                <a:latin typeface="LMMono9-Regular-Identity-H"/>
              </a:rPr>
              <a:t>www. </a:t>
            </a:r>
            <a:r>
              <a:rPr lang="en" altLang="zh-TW" sz="1400" dirty="0" err="1">
                <a:effectLst/>
                <a:latin typeface="LMMono9-Regular-Identity-H"/>
              </a:rPr>
              <a:t>sharkfeeder.com</a:t>
            </a:r>
            <a:r>
              <a:rPr lang="en" altLang="zh-TW" sz="1400" dirty="0">
                <a:effectLst/>
                <a:latin typeface="LMMono9-Regular-Identity-H"/>
              </a:rPr>
              <a:t>/</a:t>
            </a:r>
            <a:r>
              <a:rPr lang="en" altLang="zh-TW" sz="1400" dirty="0" err="1">
                <a:effectLst/>
                <a:latin typeface="LMMono9-Regular-Identity-H"/>
              </a:rPr>
              <a:t>spadsbook</a:t>
            </a:r>
            <a:r>
              <a:rPr lang="en" altLang="zh-TW" sz="1400" dirty="0">
                <a:effectLst/>
                <a:latin typeface="LMMono9-Regular-Identity-H"/>
              </a:rPr>
              <a:t>/</a:t>
            </a:r>
            <a:r>
              <a:rPr lang="en" altLang="zh-TW" sz="1400" dirty="0" err="1">
                <a:effectLst/>
                <a:latin typeface="LMMono9-Regular-Identity-H"/>
              </a:rPr>
              <a:t>basicbidding.html</a:t>
            </a:r>
            <a:r>
              <a:rPr lang="en" altLang="zh-TW" sz="1400" dirty="0">
                <a:effectLst/>
                <a:latin typeface="LMRoman9-Regular-Identity-H"/>
              </a:rPr>
              <a:t>. </a:t>
            </a:r>
            <a:endParaRPr lang="en" altLang="zh-TW" sz="1400" dirty="0">
              <a:effectLst/>
            </a:endParaRPr>
          </a:p>
        </p:txBody>
      </p:sp>
    </p:spTree>
    <p:extLst>
      <p:ext uri="{BB962C8B-B14F-4D97-AF65-F5344CB8AC3E}">
        <p14:creationId xmlns:p14="http://schemas.microsoft.com/office/powerpoint/2010/main" val="16866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Regular</a:t>
            </a:r>
            <a:r>
              <a:rPr kumimoji="1" lang="zh-TW" altLang="en-US" dirty="0">
                <a:latin typeface="Times" pitchFamily="2" charset="0"/>
              </a:rPr>
              <a:t> </a:t>
            </a:r>
            <a:r>
              <a:rPr kumimoji="1" lang="en-US" altLang="zh-TW" dirty="0">
                <a:latin typeface="Times" pitchFamily="2" charset="0"/>
              </a:rPr>
              <a:t>bid</a:t>
            </a:r>
            <a:r>
              <a:rPr kumimoji="1" lang="zh-TW" altLang="en-US" dirty="0">
                <a:latin typeface="Times" pitchFamily="2" charset="0"/>
              </a:rPr>
              <a:t> </a:t>
            </a:r>
            <a:r>
              <a:rPr kumimoji="1" lang="en-US" altLang="zh-TW" dirty="0">
                <a:latin typeface="Times" pitchFamily="2" charset="0"/>
              </a:rPr>
              <a:t>-</a:t>
            </a:r>
            <a:r>
              <a:rPr kumimoji="1" lang="zh-TW" altLang="en-US" dirty="0">
                <a:latin typeface="Times" pitchFamily="2" charset="0"/>
              </a:rPr>
              <a:t> </a:t>
            </a:r>
            <a:r>
              <a:rPr lang="en-US" altLang="zh-TW" dirty="0">
                <a:latin typeface="Times New Roman" panose="02020603050405020304" pitchFamily="18" charset="0"/>
                <a:cs typeface="Times New Roman" panose="02020603050405020304" pitchFamily="18" charset="0"/>
              </a:rPr>
              <a:t>Spades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long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dirty="0"/>
          </a:p>
        </p:txBody>
      </p:sp>
      <p:sp>
        <p:nvSpPr>
          <p:cNvPr id="8" name="內容版面配置區 7">
            <a:extLst>
              <a:ext uri="{FF2B5EF4-FFF2-40B4-BE49-F238E27FC236}">
                <a16:creationId xmlns:a16="http://schemas.microsoft.com/office/drawing/2014/main" id="{71229686-998D-E644-950A-840D9D64F5DF}"/>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Every spade beyond the fourth is counted as a take since given the agent holds five spades or more</a:t>
            </a:r>
            <a:r>
              <a:rPr lang="en-US" altLang="zh-TW" dirty="0">
                <a:latin typeface="Times New Roman" panose="02020603050405020304" pitchFamily="18" charset="0"/>
                <a:cs typeface="Times New Roman" panose="02020603050405020304" pitchFamily="18" charset="0"/>
              </a:rPr>
              <a:t>.</a:t>
            </a:r>
          </a:p>
        </p:txBody>
      </p:sp>
      <p:pic>
        <p:nvPicPr>
          <p:cNvPr id="5" name="圖片 4" descr="一張含有 文字, 字型, 螢幕擷取畫面, 標誌 的圖片&#10;&#10;自動產生的描述">
            <a:extLst>
              <a:ext uri="{FF2B5EF4-FFF2-40B4-BE49-F238E27FC236}">
                <a16:creationId xmlns:a16="http://schemas.microsoft.com/office/drawing/2014/main" id="{BFEF11A9-021B-854C-BE99-439C86EA35FA}"/>
              </a:ext>
            </a:extLst>
          </p:cNvPr>
          <p:cNvPicPr>
            <a:picLocks noChangeAspect="1"/>
          </p:cNvPicPr>
          <p:nvPr/>
        </p:nvPicPr>
        <p:blipFill rotWithShape="1">
          <a:blip r:embed="rId3"/>
          <a:srcRect b="26621"/>
          <a:stretch/>
        </p:blipFill>
        <p:spPr>
          <a:xfrm>
            <a:off x="5703375" y="3429000"/>
            <a:ext cx="5295703" cy="2262441"/>
          </a:xfrm>
          <a:prstGeom prst="rect">
            <a:avLst/>
          </a:prstGeom>
        </p:spPr>
      </p:pic>
      <p:sp>
        <p:nvSpPr>
          <p:cNvPr id="7" name="文字方塊 6">
            <a:extLst>
              <a:ext uri="{FF2B5EF4-FFF2-40B4-BE49-F238E27FC236}">
                <a16:creationId xmlns:a16="http://schemas.microsoft.com/office/drawing/2014/main" id="{6BD8482D-B29A-C64B-BA0D-403C87305AD9}"/>
              </a:ext>
            </a:extLst>
          </p:cNvPr>
          <p:cNvSpPr txBox="1"/>
          <p:nvPr/>
        </p:nvSpPr>
        <p:spPr>
          <a:xfrm>
            <a:off x="838200" y="3590724"/>
            <a:ext cx="4510453" cy="1938992"/>
          </a:xfrm>
          <a:prstGeom prst="rect">
            <a:avLst/>
          </a:prstGeom>
          <a:noFill/>
        </p:spPr>
        <p:txBody>
          <a:bodyPr wrap="square">
            <a:spAutoFit/>
          </a:bodyPr>
          <a:lstStyle/>
          <a:p>
            <a:pPr lvl="1"/>
            <a:r>
              <a:rPr lang="en-US" altLang="zh-TW" sz="2400" dirty="0">
                <a:latin typeface="Times New Roman" panose="02020603050405020304" pitchFamily="18" charset="0"/>
                <a:cs typeface="Times New Roman" panose="02020603050405020304" pitchFamily="18" charset="0"/>
              </a:rPr>
              <a:t>Four</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tricks:</a:t>
            </a:r>
          </a:p>
          <a:p>
            <a:pPr marL="1200150" lvl="2"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SA</a:t>
            </a:r>
          </a:p>
          <a:p>
            <a:pPr marL="1200150" lvl="2"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SK</a:t>
            </a:r>
          </a:p>
          <a:p>
            <a:pPr marL="1200150" lvl="2"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SJ</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with</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S2</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blocker</a:t>
            </a:r>
          </a:p>
          <a:p>
            <a:pPr marL="1200150" lvl="2"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The</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fifth</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spade</a:t>
            </a:r>
            <a:endParaRPr lang="en"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1133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Regular</a:t>
            </a:r>
            <a:r>
              <a:rPr kumimoji="1" lang="zh-TW" altLang="en-US" dirty="0">
                <a:latin typeface="Times" pitchFamily="2" charset="0"/>
              </a:rPr>
              <a:t> </a:t>
            </a:r>
            <a:r>
              <a:rPr kumimoji="1" lang="en-US" altLang="zh-TW" dirty="0">
                <a:latin typeface="Times" pitchFamily="2" charset="0"/>
              </a:rPr>
              <a:t>bid</a:t>
            </a:r>
            <a:r>
              <a:rPr kumimoji="1" lang="zh-TW" altLang="en-US" dirty="0">
                <a:latin typeface="Times" pitchFamily="2" charset="0"/>
              </a:rPr>
              <a:t> </a:t>
            </a:r>
            <a:r>
              <a:rPr kumimoji="1" lang="en-US" altLang="zh-TW" dirty="0">
                <a:latin typeface="Times" pitchFamily="2" charset="0"/>
              </a:rPr>
              <a:t>-</a:t>
            </a:r>
            <a:r>
              <a:rPr kumimoji="1" lang="zh-TW" altLang="en-US" dirty="0">
                <a:latin typeface="Times" pitchFamily="2" charset="0"/>
              </a:rPr>
              <a:t> </a:t>
            </a:r>
            <a:r>
              <a:rPr kumimoji="1" lang="en-US" altLang="zh-TW" dirty="0">
                <a:latin typeface="Times" pitchFamily="2" charset="0"/>
              </a:rPr>
              <a:t>Short</a:t>
            </a:r>
            <a:r>
              <a:rPr kumimoji="1" lang="zh-TW" altLang="en-US" dirty="0">
                <a:latin typeface="Times" pitchFamily="2" charset="0"/>
              </a:rPr>
              <a:t> </a:t>
            </a:r>
            <a:r>
              <a:rPr kumimoji="1" lang="en-US" altLang="zh-TW" dirty="0">
                <a:latin typeface="Times" pitchFamily="2" charset="0"/>
              </a:rPr>
              <a:t>side</a:t>
            </a:r>
            <a:r>
              <a:rPr kumimoji="1" lang="zh-TW" altLang="en-US" dirty="0">
                <a:latin typeface="Times" pitchFamily="2" charset="0"/>
              </a:rPr>
              <a:t> </a:t>
            </a:r>
            <a:r>
              <a:rPr kumimoji="1" lang="en-US" altLang="zh-TW" dirty="0">
                <a:latin typeface="Times" pitchFamily="2" charset="0"/>
              </a:rPr>
              <a:t>suits</a:t>
            </a:r>
            <a:r>
              <a:rPr kumimoji="1" lang="zh-TW" altLang="en-US" dirty="0">
                <a:latin typeface="Times" pitchFamily="2" charset="0"/>
              </a:rPr>
              <a:t> </a:t>
            </a:r>
            <a:r>
              <a:rPr kumimoji="1" lang="en-US" altLang="zh-TW" dirty="0">
                <a:latin typeface="Times" pitchFamily="2" charset="0"/>
              </a:rPr>
              <a:t>with</a:t>
            </a:r>
            <a:r>
              <a:rPr kumimoji="1" lang="zh-TW" altLang="en-US" dirty="0">
                <a:latin typeface="Times" pitchFamily="2" charset="0"/>
              </a:rPr>
              <a:t> </a:t>
            </a:r>
            <a:r>
              <a:rPr kumimoji="1" lang="en-US" altLang="zh-TW" dirty="0">
                <a:latin typeface="Times" pitchFamily="2" charset="0"/>
              </a:rPr>
              <a:t>spades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dirty="0"/>
          </a:p>
        </p:txBody>
      </p:sp>
      <p:pic>
        <p:nvPicPr>
          <p:cNvPr id="9" name="圖片 8" descr="一張含有 文字, 數字, 字型, 螢幕擷取畫面 的圖片&#10;&#10;自動產生的描述">
            <a:extLst>
              <a:ext uri="{FF2B5EF4-FFF2-40B4-BE49-F238E27FC236}">
                <a16:creationId xmlns:a16="http://schemas.microsoft.com/office/drawing/2014/main" id="{BB7441FA-A753-4748-9E65-37C417D03C4A}"/>
              </a:ext>
            </a:extLst>
          </p:cNvPr>
          <p:cNvPicPr>
            <a:picLocks noChangeAspect="1"/>
          </p:cNvPicPr>
          <p:nvPr/>
        </p:nvPicPr>
        <p:blipFill rotWithShape="1">
          <a:blip r:embed="rId3"/>
          <a:srcRect t="17423"/>
          <a:stretch/>
        </p:blipFill>
        <p:spPr>
          <a:xfrm>
            <a:off x="5330560" y="1874519"/>
            <a:ext cx="6560080" cy="4078983"/>
          </a:xfrm>
          <a:prstGeom prst="rect">
            <a:avLst/>
          </a:prstGeom>
        </p:spPr>
      </p:pic>
      <p:pic>
        <p:nvPicPr>
          <p:cNvPr id="6" name="圖片 5" descr="一張含有 文字, 字型, 螢幕擷取畫面, 標誌 的圖片&#10;&#10;自動產生的描述">
            <a:extLst>
              <a:ext uri="{FF2B5EF4-FFF2-40B4-BE49-F238E27FC236}">
                <a16:creationId xmlns:a16="http://schemas.microsoft.com/office/drawing/2014/main" id="{44212913-5E8D-1E45-9FD5-0C1DA72FE8E9}"/>
              </a:ext>
            </a:extLst>
          </p:cNvPr>
          <p:cNvPicPr>
            <a:picLocks noChangeAspect="1"/>
          </p:cNvPicPr>
          <p:nvPr/>
        </p:nvPicPr>
        <p:blipFill rotWithShape="1">
          <a:blip r:embed="rId4"/>
          <a:srcRect b="26621"/>
          <a:stretch/>
        </p:blipFill>
        <p:spPr>
          <a:xfrm>
            <a:off x="415857" y="2749270"/>
            <a:ext cx="5295703" cy="2262441"/>
          </a:xfrm>
          <a:prstGeom prst="rect">
            <a:avLst/>
          </a:prstGeom>
        </p:spPr>
      </p:pic>
      <p:sp>
        <p:nvSpPr>
          <p:cNvPr id="10" name="圓角矩形 9">
            <a:extLst>
              <a:ext uri="{FF2B5EF4-FFF2-40B4-BE49-F238E27FC236}">
                <a16:creationId xmlns:a16="http://schemas.microsoft.com/office/drawing/2014/main" id="{0E57BCC0-0955-1442-A9FD-2A2EE62704AC}"/>
              </a:ext>
            </a:extLst>
          </p:cNvPr>
          <p:cNvSpPr/>
          <p:nvPr/>
        </p:nvSpPr>
        <p:spPr>
          <a:xfrm>
            <a:off x="8510954" y="2930770"/>
            <a:ext cx="1377462" cy="293076"/>
          </a:xfrm>
          <a:prstGeom prst="round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zh-TW" altLang="en-US"/>
          </a:p>
        </p:txBody>
      </p:sp>
      <p:sp>
        <p:nvSpPr>
          <p:cNvPr id="11" name="圓角矩形 10">
            <a:extLst>
              <a:ext uri="{FF2B5EF4-FFF2-40B4-BE49-F238E27FC236}">
                <a16:creationId xmlns:a16="http://schemas.microsoft.com/office/drawing/2014/main" id="{45CE783E-DF72-B34B-B3FA-D4B3659D36D1}"/>
              </a:ext>
            </a:extLst>
          </p:cNvPr>
          <p:cNvSpPr/>
          <p:nvPr/>
        </p:nvSpPr>
        <p:spPr>
          <a:xfrm>
            <a:off x="10017369" y="2930770"/>
            <a:ext cx="1377462" cy="293076"/>
          </a:xfrm>
          <a:prstGeom prst="round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zh-TW" altLang="en-US"/>
          </a:p>
        </p:txBody>
      </p:sp>
    </p:spTree>
    <p:extLst>
      <p:ext uri="{BB962C8B-B14F-4D97-AF65-F5344CB8AC3E}">
        <p14:creationId xmlns:p14="http://schemas.microsoft.com/office/powerpoint/2010/main" val="3221990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7">
            <a:extLst>
              <a:ext uri="{FF2B5EF4-FFF2-40B4-BE49-F238E27FC236}">
                <a16:creationId xmlns:a16="http://schemas.microsoft.com/office/drawing/2014/main" id="{DCEDC1CA-2C24-BB4F-9519-948AE5C7A8C6}"/>
              </a:ext>
            </a:extLst>
          </p:cNvPr>
          <p:cNvSpPr>
            <a:spLocks noGrp="1"/>
          </p:cNvSpPr>
          <p:nvPr>
            <p:ph idx="1"/>
          </p:nvPr>
        </p:nvSpPr>
        <p:spPr>
          <a:xfrm>
            <a:off x="838200" y="1825625"/>
            <a:ext cx="10515600" cy="4351338"/>
          </a:xfrm>
        </p:spPr>
        <p:txBody>
          <a:bodyPr>
            <a:normAutofit/>
          </a:bodyPr>
          <a:lstStyle/>
          <a:p>
            <a:r>
              <a:rPr lang="en-US" altLang="zh-TW" dirty="0">
                <a:latin typeface="Times New Roman" panose="02020603050405020304" pitchFamily="18" charset="0"/>
                <a:cs typeface="Times New Roman" panose="02020603050405020304" pitchFamily="18" charset="0"/>
              </a:rPr>
              <a:t>The side suit high cards contribute 0.678 (for CK) and 0.990 (for HA). While the HQ, DQ contribute 0.</a:t>
            </a:r>
          </a:p>
          <a:p>
            <a:r>
              <a:rPr lang="en-US" altLang="zh-TW" dirty="0">
                <a:latin typeface="Times New Roman" panose="02020603050405020304" pitchFamily="18" charset="0"/>
                <a:cs typeface="Times New Roman" panose="02020603050405020304" pitchFamily="18" charset="0"/>
              </a:rPr>
              <a:t>The SA, SK contribute 1 take each.</a:t>
            </a:r>
          </a:p>
          <a:p>
            <a:r>
              <a:rPr lang="en-US" altLang="zh-TW" dirty="0">
                <a:latin typeface="Times New Roman" panose="02020603050405020304" pitchFamily="18" charset="0"/>
                <a:cs typeface="Times New Roman" panose="02020603050405020304" pitchFamily="18" charset="0"/>
              </a:rPr>
              <a:t>The SJ, S6, S2 can be counted as a high card (SJ) with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 blocker and a fifth spade and contribute 1 + 1 = 2.</a:t>
            </a:r>
          </a:p>
          <a:p>
            <a:r>
              <a:rPr lang="en-US" altLang="zh-TW" dirty="0">
                <a:latin typeface="Times New Roman" panose="02020603050405020304" pitchFamily="18" charset="0"/>
                <a:cs typeface="Times New Roman" panose="02020603050405020304" pitchFamily="18" charset="0"/>
              </a:rPr>
              <a:t>Alternatively, the SJ,</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S6,</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S2, can be counted as short side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suits cuts, which worth 0.942 + 0.733 + 0.624 = 2.3.</a:t>
            </a:r>
          </a:p>
          <a:p>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The expected regular takes is 0.678 + 0.99 + 2 + max{2, 2.3} = 5.97</a:t>
            </a:r>
          </a:p>
        </p:txBody>
      </p:sp>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Example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dirty="0"/>
          </a:p>
        </p:txBody>
      </p:sp>
      <p:pic>
        <p:nvPicPr>
          <p:cNvPr id="6" name="圖片 5" descr="一張含有 文字, 字型, 螢幕擷取畫面, 標誌 的圖片&#10;&#10;自動產生的描述">
            <a:extLst>
              <a:ext uri="{FF2B5EF4-FFF2-40B4-BE49-F238E27FC236}">
                <a16:creationId xmlns:a16="http://schemas.microsoft.com/office/drawing/2014/main" id="{44212913-5E8D-1E45-9FD5-0C1DA72FE8E9}"/>
              </a:ext>
            </a:extLst>
          </p:cNvPr>
          <p:cNvPicPr>
            <a:picLocks noChangeAspect="1"/>
          </p:cNvPicPr>
          <p:nvPr/>
        </p:nvPicPr>
        <p:blipFill rotWithShape="1">
          <a:blip r:embed="rId3"/>
          <a:srcRect l="19764" t="52638" r="19764" b="28099"/>
          <a:stretch/>
        </p:blipFill>
        <p:spPr>
          <a:xfrm>
            <a:off x="5406445" y="543196"/>
            <a:ext cx="5947355" cy="1103042"/>
          </a:xfrm>
          <a:prstGeom prst="rect">
            <a:avLst/>
          </a:prstGeom>
        </p:spPr>
      </p:pic>
    </p:spTree>
    <p:extLst>
      <p:ext uri="{BB962C8B-B14F-4D97-AF65-F5344CB8AC3E}">
        <p14:creationId xmlns:p14="http://schemas.microsoft.com/office/powerpoint/2010/main" val="3081056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Nil-value</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9FC6A433-760D-C243-B019-543F8CA8203F}"/>
              </a:ext>
            </a:extLst>
          </p:cNvPr>
          <p:cNvSpPr>
            <a:spLocks noGrp="1"/>
          </p:cNvSpPr>
          <p:nvPr>
            <p:ph idx="1"/>
          </p:nvPr>
        </p:nvSpPr>
        <p:spPr/>
        <p:txBody>
          <a:bodyPr/>
          <a:lstStyle/>
          <a:p>
            <a:pPr algn="just"/>
            <a:r>
              <a:rPr lang="en-US" altLang="zh-TW" dirty="0">
                <a:latin typeface="Times New Roman" panose="02020603050405020304" pitchFamily="18" charset="0"/>
                <a:cs typeface="Times New Roman" panose="02020603050405020304" pitchFamily="18" charset="0"/>
              </a:rPr>
              <a:t>C</a:t>
            </a:r>
            <a:r>
              <a:rPr lang="en" altLang="zh-TW" dirty="0">
                <a:latin typeface="Times New Roman" panose="02020603050405020304" pitchFamily="18" charset="0"/>
                <a:cs typeface="Times New Roman" panose="02020603050405020304" pitchFamily="18" charset="0"/>
              </a:rPr>
              <a:t>: The 3 lowest cards are perfectly safe, thus </a:t>
            </a:r>
            <a:r>
              <a:rPr lang="en" altLang="zh-TW" dirty="0" err="1">
                <a:latin typeface="Times New Roman" panose="02020603050405020304" pitchFamily="18" charset="0"/>
                <a:cs typeface="Times New Roman" panose="02020603050405020304" pitchFamily="18" charset="0"/>
              </a:rPr>
              <a:t>Pr</a:t>
            </a:r>
            <a:r>
              <a:rPr lang="en" altLang="zh-TW" dirty="0">
                <a:latin typeface="Times New Roman" panose="02020603050405020304" pitchFamily="18" charset="0"/>
                <a:cs typeface="Times New Roman" panose="02020603050405020304" pitchFamily="18" charset="0"/>
              </a:rPr>
              <a:t>(</a:t>
            </a:r>
            <a:r>
              <a:rPr lang="en" altLang="zh-TW" dirty="0" err="1">
                <a:latin typeface="Times New Roman" panose="02020603050405020304" pitchFamily="18" charset="0"/>
                <a:cs typeface="Times New Roman" panose="02020603050405020304" pitchFamily="18" charset="0"/>
              </a:rPr>
              <a:t>cnil</a:t>
            </a:r>
            <a:r>
              <a:rPr lang="en"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C</a:t>
            </a:r>
            <a:r>
              <a:rPr lang="en" altLang="zh-TW" dirty="0">
                <a:latin typeface="Times New Roman" panose="02020603050405020304" pitchFamily="18" charset="0"/>
                <a:cs typeface="Times New Roman" panose="02020603050405020304" pitchFamily="18" charset="0"/>
              </a:rPr>
              <a:t>)|hand) = 1.</a:t>
            </a:r>
          </a:p>
          <a:p>
            <a:pPr algn="just"/>
            <a:r>
              <a:rPr lang="en-US" altLang="zh-TW" dirty="0">
                <a:latin typeface="Times New Roman" panose="02020603050405020304" pitchFamily="18" charset="0"/>
                <a:cs typeface="Times New Roman" panose="02020603050405020304" pitchFamily="18" charset="0"/>
              </a:rPr>
              <a:t>D</a:t>
            </a:r>
            <a:r>
              <a:rPr lang="en" altLang="zh-TW" dirty="0">
                <a:latin typeface="Times New Roman" panose="02020603050405020304" pitchFamily="18" charset="0"/>
                <a:cs typeface="Times New Roman" panose="02020603050405020304" pitchFamily="18" charset="0"/>
              </a:rPr>
              <a:t>: The singleton Q has 57.8% to be covered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en" altLang="zh-TW" dirty="0">
                <a:latin typeface="Times New Roman" panose="02020603050405020304" pitchFamily="18" charset="0"/>
                <a:cs typeface="Times New Roman" panose="02020603050405020304" pitchFamily="18" charset="0"/>
              </a:rPr>
              <a:t>partner is void, partner holds either the K or the A, one of the opponents holds only higher </a:t>
            </a:r>
            <a:r>
              <a:rPr lang="en-US" altLang="zh-TW" dirty="0">
                <a:latin typeface="Times New Roman" panose="02020603050405020304" pitchFamily="18" charset="0"/>
                <a:cs typeface="Times New Roman" panose="02020603050405020304" pitchFamily="18" charset="0"/>
              </a:rPr>
              <a:t>D</a:t>
            </a:r>
            <a:r>
              <a:rPr lang="en"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a:t>
            </a:r>
            <a:r>
              <a:rPr lang="en" altLang="zh-TW" dirty="0">
                <a:latin typeface="Times New Roman" panose="02020603050405020304" pitchFamily="18" charset="0"/>
                <a:cs typeface="Times New Roman" panose="02020603050405020304" pitchFamily="18" charset="0"/>
              </a:rPr>
              <a:t>r(</a:t>
            </a:r>
            <a:r>
              <a:rPr lang="en" altLang="zh-TW" dirty="0" err="1">
                <a:latin typeface="Times New Roman" panose="02020603050405020304" pitchFamily="18" charset="0"/>
                <a:cs typeface="Times New Roman" panose="02020603050405020304" pitchFamily="18" charset="0"/>
              </a:rPr>
              <a:t>cnil</a:t>
            </a:r>
            <a:r>
              <a:rPr lang="en"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D</a:t>
            </a:r>
            <a:r>
              <a:rPr lang="en" altLang="zh-TW" dirty="0">
                <a:latin typeface="Times New Roman" panose="02020603050405020304" pitchFamily="18" charset="0"/>
                <a:cs typeface="Times New Roman" panose="02020603050405020304" pitchFamily="18" charset="0"/>
              </a:rPr>
              <a:t>)|hand) = 0.578.</a:t>
            </a:r>
          </a:p>
          <a:p>
            <a:pPr algn="just"/>
            <a:r>
              <a:rPr lang="en-US" altLang="zh-TW" dirty="0">
                <a:latin typeface="Times New Roman" panose="02020603050405020304" pitchFamily="18" charset="0"/>
                <a:cs typeface="Times New Roman" panose="02020603050405020304" pitchFamily="18" charset="0"/>
              </a:rPr>
              <a:t>H</a:t>
            </a:r>
            <a:r>
              <a:rPr lang="en"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 altLang="zh-TW" dirty="0" err="1">
                <a:latin typeface="Times New Roman" panose="02020603050405020304" pitchFamily="18" charset="0"/>
                <a:cs typeface="Times New Roman" panose="02020603050405020304" pitchFamily="18" charset="0"/>
              </a:rPr>
              <a:t>Pr</a:t>
            </a:r>
            <a:r>
              <a:rPr lang="en" altLang="zh-TW" dirty="0">
                <a:latin typeface="Times New Roman" panose="02020603050405020304" pitchFamily="18" charset="0"/>
                <a:cs typeface="Times New Roman" panose="02020603050405020304" pitchFamily="18" charset="0"/>
              </a:rPr>
              <a:t>(</a:t>
            </a:r>
            <a:r>
              <a:rPr lang="en" altLang="zh-TW" dirty="0" err="1">
                <a:latin typeface="Times New Roman" panose="02020603050405020304" pitchFamily="18" charset="0"/>
                <a:cs typeface="Times New Roman" panose="02020603050405020304" pitchFamily="18" charset="0"/>
              </a:rPr>
              <a:t>cnil</a:t>
            </a:r>
            <a:r>
              <a:rPr lang="en"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H</a:t>
            </a:r>
            <a:r>
              <a:rPr lang="en" altLang="zh-TW" dirty="0">
                <a:latin typeface="Times New Roman" panose="02020603050405020304" pitchFamily="18" charset="0"/>
                <a:cs typeface="Times New Roman" panose="02020603050405020304" pitchFamily="18" charset="0"/>
              </a:rPr>
              <a:t>)|hand) &lt; 0.001. It is non-zero only due to the chance is that partner is void.</a:t>
            </a:r>
          </a:p>
          <a:p>
            <a:pPr algn="just"/>
            <a:r>
              <a:rPr lang="en-US" altLang="zh-TW" dirty="0">
                <a:latin typeface="Times New Roman" panose="02020603050405020304" pitchFamily="18" charset="0"/>
                <a:cs typeface="Times New Roman" panose="02020603050405020304" pitchFamily="18" charset="0"/>
              </a:rPr>
              <a:t>S:</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The A guarantees </a:t>
            </a:r>
            <a:r>
              <a:rPr lang="en" altLang="zh-TW" dirty="0" err="1">
                <a:latin typeface="Times New Roman" panose="02020603050405020304" pitchFamily="18" charset="0"/>
                <a:cs typeface="Times New Roman" panose="02020603050405020304" pitchFamily="18" charset="0"/>
              </a:rPr>
              <a:t>Pr</a:t>
            </a:r>
            <a:r>
              <a:rPr lang="en" altLang="zh-TW" dirty="0">
                <a:latin typeface="Times New Roman" panose="02020603050405020304" pitchFamily="18" charset="0"/>
                <a:cs typeface="Times New Roman" panose="02020603050405020304" pitchFamily="18" charset="0"/>
              </a:rPr>
              <a:t>(</a:t>
            </a:r>
            <a:r>
              <a:rPr lang="en" altLang="zh-TW" dirty="0" err="1">
                <a:latin typeface="Times New Roman" panose="02020603050405020304" pitchFamily="18" charset="0"/>
                <a:cs typeface="Times New Roman" panose="02020603050405020304" pitchFamily="18" charset="0"/>
              </a:rPr>
              <a:t>cnil</a:t>
            </a:r>
            <a:r>
              <a:rPr lang="en"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S</a:t>
            </a:r>
            <a:r>
              <a:rPr lang="en" altLang="zh-TW" dirty="0">
                <a:latin typeface="Times New Roman" panose="02020603050405020304" pitchFamily="18" charset="0"/>
                <a:cs typeface="Times New Roman" panose="02020603050405020304" pitchFamily="18" charset="0"/>
              </a:rPr>
              <a:t>)|hand) = 0</a:t>
            </a:r>
            <a:r>
              <a:rPr lang="en-US" altLang="zh-TW" dirty="0">
                <a:latin typeface="Times New Roman" panose="02020603050405020304" pitchFamily="18" charset="0"/>
                <a:cs typeface="Times New Roman" panose="02020603050405020304" pitchFamily="18" charset="0"/>
              </a:rPr>
              <a:t>.</a:t>
            </a:r>
          </a:p>
          <a:p>
            <a:pPr algn="just"/>
            <a:endParaRPr lang="en-US" altLang="zh-TW" dirty="0">
              <a:latin typeface="Times New Roman" panose="02020603050405020304" pitchFamily="18" charset="0"/>
              <a:cs typeface="Times New Roman" panose="02020603050405020304" pitchFamily="18" charset="0"/>
            </a:endParaRPr>
          </a:p>
          <a:p>
            <a:pPr marL="0" indent="0" algn="just">
              <a:buNone/>
            </a:pPr>
            <a:r>
              <a:rPr lang="en"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Nil-Value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is</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1·0.578·0.001·0</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dirty="0"/>
          </a:p>
        </p:txBody>
      </p:sp>
      <p:pic>
        <p:nvPicPr>
          <p:cNvPr id="10" name="圖片 9" descr="一張含有 文字, 字型, 螢幕擷取畫面, 標誌 的圖片&#10;&#10;自動產生的描述">
            <a:extLst>
              <a:ext uri="{FF2B5EF4-FFF2-40B4-BE49-F238E27FC236}">
                <a16:creationId xmlns:a16="http://schemas.microsoft.com/office/drawing/2014/main" id="{860A7EA2-F268-0448-93BA-883FE2D721A0}"/>
              </a:ext>
            </a:extLst>
          </p:cNvPr>
          <p:cNvPicPr>
            <a:picLocks noChangeAspect="1"/>
          </p:cNvPicPr>
          <p:nvPr/>
        </p:nvPicPr>
        <p:blipFill rotWithShape="1">
          <a:blip r:embed="rId3"/>
          <a:srcRect l="19764" t="52638" r="19764" b="28099"/>
          <a:stretch/>
        </p:blipFill>
        <p:spPr>
          <a:xfrm>
            <a:off x="5406445" y="543196"/>
            <a:ext cx="5947355" cy="1103042"/>
          </a:xfrm>
          <a:prstGeom prst="rect">
            <a:avLst/>
          </a:prstGeom>
        </p:spPr>
      </p:pic>
    </p:spTree>
    <p:extLst>
      <p:ext uri="{BB962C8B-B14F-4D97-AF65-F5344CB8AC3E}">
        <p14:creationId xmlns:p14="http://schemas.microsoft.com/office/powerpoint/2010/main" val="186644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a:xfrm>
            <a:off x="838200" y="1825625"/>
            <a:ext cx="5257800" cy="4351338"/>
          </a:xfrm>
        </p:spPr>
        <p:txBody>
          <a:bodyPr>
            <a:normAutofit/>
          </a:bodyPr>
          <a:lstStyle/>
          <a:p>
            <a:r>
              <a:rPr lang="en-US" altLang="zh-TW" dirty="0">
                <a:latin typeface="Times New Roman" panose="02020603050405020304" pitchFamily="18" charset="0"/>
                <a:cs typeface="Times New Roman" panose="02020603050405020304" pitchFamily="18" charset="0"/>
              </a:rPr>
              <a:t>Dataset: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2 million rounds from online games played during December 2018</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All</a:t>
            </a:r>
            <a:r>
              <a:rPr lang="en" altLang="zh-TW" dirty="0">
                <a:latin typeface="Times New Roman" panose="02020603050405020304" pitchFamily="18" charset="0"/>
                <a:cs typeface="Times New Roman" panose="02020603050405020304" pitchFamily="18" charset="0"/>
              </a:rPr>
              <a:t> games had three bots and a single human player</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pPr marL="0" indent="0">
              <a:buNone/>
            </a:pPr>
            <a:r>
              <a:rPr lang="en" altLang="zh-TW" dirty="0">
                <a:latin typeface="Times New Roman" panose="02020603050405020304" pitchFamily="18" charset="0"/>
                <a:cs typeface="Times New Roman" panose="02020603050405020304" pitchFamily="18" charset="0"/>
              </a:rPr>
              <a:t>If the agent bids third, previous bids are (1, 3), and the calculated nil value is 0.8 then the estimated nil success probability is 65%</a:t>
            </a:r>
            <a:endParaRPr lang="zh-TW" altLang="en-US"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Nil Success Probability</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15</a:t>
            </a:fld>
            <a:endParaRPr kumimoji="1" lang="zh-TW" altLang="en-US"/>
          </a:p>
        </p:txBody>
      </p:sp>
      <p:pic>
        <p:nvPicPr>
          <p:cNvPr id="5" name="圖片 4" descr="一張含有 行, 繪圖, 圖表, 收據 的圖片&#10;&#10;自動產生的描述">
            <a:extLst>
              <a:ext uri="{FF2B5EF4-FFF2-40B4-BE49-F238E27FC236}">
                <a16:creationId xmlns:a16="http://schemas.microsoft.com/office/drawing/2014/main" id="{8FCEE2BB-1EBC-F84F-A53B-B4CE148EE2B9}"/>
              </a:ext>
            </a:extLst>
          </p:cNvPr>
          <p:cNvPicPr>
            <a:picLocks noChangeAspect="1"/>
          </p:cNvPicPr>
          <p:nvPr/>
        </p:nvPicPr>
        <p:blipFill rotWithShape="1">
          <a:blip r:embed="rId2"/>
          <a:srcRect l="53093"/>
          <a:stretch/>
        </p:blipFill>
        <p:spPr>
          <a:xfrm>
            <a:off x="6284594" y="1823577"/>
            <a:ext cx="5556885" cy="4399883"/>
          </a:xfrm>
          <a:prstGeom prst="rect">
            <a:avLst/>
          </a:prstGeom>
        </p:spPr>
      </p:pic>
    </p:spTree>
    <p:extLst>
      <p:ext uri="{BB962C8B-B14F-4D97-AF65-F5344CB8AC3E}">
        <p14:creationId xmlns:p14="http://schemas.microsoft.com/office/powerpoint/2010/main" val="1836791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a:latin typeface="Times" pitchFamily="2" charset="0"/>
              </a:rPr>
              <a:t>The BIS Agent</a:t>
            </a:r>
            <a:endParaRPr kumimoji="1" lang="zh-TW" altLang="en-US" dirty="0">
              <a:latin typeface="Times" pitchFamily="2" charset="0"/>
            </a:endParaRPr>
          </a:p>
        </p:txBody>
      </p:sp>
      <p:sp>
        <p:nvSpPr>
          <p:cNvPr id="12" name="內容版面配置區 11">
            <a:extLst>
              <a:ext uri="{FF2B5EF4-FFF2-40B4-BE49-F238E27FC236}">
                <a16:creationId xmlns:a16="http://schemas.microsoft.com/office/drawing/2014/main" id="{BA81A00F-AE7D-8E4B-BB62-AB9F68AC571D}"/>
              </a:ext>
            </a:extLst>
          </p:cNvPr>
          <p:cNvSpPr>
            <a:spLocks noGrp="1"/>
          </p:cNvSpPr>
          <p:nvPr>
            <p:ph idx="1"/>
          </p:nvPr>
        </p:nvSpPr>
        <p:spPr>
          <a:xfrm>
            <a:off x="509954" y="1825625"/>
            <a:ext cx="5586046" cy="4351338"/>
          </a:xfrm>
        </p:spPr>
        <p:txBody>
          <a:bodyPr/>
          <a:lstStyle/>
          <a:p>
            <a:r>
              <a:rPr lang="en" altLang="zh-TW" dirty="0">
                <a:latin typeface="Times New Roman" panose="02020603050405020304" pitchFamily="18" charset="0"/>
                <a:cs typeface="Times New Roman" panose="02020603050405020304" pitchFamily="18" charset="0"/>
              </a:rPr>
              <a:t>Monte-Carlo simulation</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the probability that other players hold various cards. The output is in the form of Probability Tables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en" altLang="zh-TW" dirty="0">
                <a:latin typeface="Times New Roman" panose="02020603050405020304" pitchFamily="18" charset="0"/>
                <a:cs typeface="Times New Roman" panose="02020603050405020304" pitchFamily="18" charset="0"/>
              </a:rPr>
              <a:t>PT</a:t>
            </a:r>
            <a:r>
              <a:rPr lang="en-US" altLang="zh-TW" dirty="0">
                <a:latin typeface="Times New Roman" panose="02020603050405020304" pitchFamily="18" charset="0"/>
                <a:cs typeface="Times New Roman" panose="02020603050405020304" pitchFamily="18" charset="0"/>
              </a:rPr>
              <a:t>)</a:t>
            </a:r>
            <a:r>
              <a:rPr lang="en" altLang="zh-TW" dirty="0">
                <a:latin typeface="Times New Roman" panose="02020603050405020304" pitchFamily="18" charset="0"/>
                <a:cs typeface="Times New Roman" panose="02020603050405020304" pitchFamily="18" charset="0"/>
              </a:rPr>
              <a:t>.</a:t>
            </a:r>
          </a:p>
          <a:p>
            <a:pPr marL="0" indent="0">
              <a:buNone/>
            </a:pPr>
            <a:endParaRPr lang="en"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Success</a:t>
            </a:r>
            <a:r>
              <a:rPr lang="en" altLang="zh-TW" dirty="0">
                <a:latin typeface="Times New Roman" panose="02020603050405020304" pitchFamily="18" charset="0"/>
                <a:cs typeface="Times New Roman" panose="02020603050405020304" pitchFamily="18" charset="0"/>
              </a:rPr>
              <a:t> probabilities of nil bids</a:t>
            </a:r>
            <a:r>
              <a:rPr lang="en-US" altLang="zh-TW" dirty="0">
                <a:latin typeface="Times New Roman" panose="02020603050405020304" pitchFamily="18" charset="0"/>
                <a:cs typeface="Times New Roman" panose="02020603050405020304" pitchFamily="18" charset="0"/>
              </a:rPr>
              <a:t>:</a:t>
            </a:r>
            <a:r>
              <a:rPr lang="en" altLang="zh-TW"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output is in the form a real-valued function called success curves (SC).</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16</a:t>
            </a:fld>
            <a:endParaRPr kumimoji="1" lang="zh-TW" altLang="en-US" dirty="0"/>
          </a:p>
        </p:txBody>
      </p:sp>
      <p:pic>
        <p:nvPicPr>
          <p:cNvPr id="14" name="圖片 13" descr="一張含有 文字, 螢幕擷取畫面, 字型, 數字 的圖片&#10;&#10;自動產生的描述">
            <a:extLst>
              <a:ext uri="{FF2B5EF4-FFF2-40B4-BE49-F238E27FC236}">
                <a16:creationId xmlns:a16="http://schemas.microsoft.com/office/drawing/2014/main" id="{1D58C086-4D77-AC4E-BB29-8820A2CA4392}"/>
              </a:ext>
            </a:extLst>
          </p:cNvPr>
          <p:cNvPicPr>
            <a:picLocks noChangeAspect="1"/>
          </p:cNvPicPr>
          <p:nvPr/>
        </p:nvPicPr>
        <p:blipFill>
          <a:blip r:embed="rId3"/>
          <a:stretch>
            <a:fillRect/>
          </a:stretch>
        </p:blipFill>
        <p:spPr>
          <a:xfrm>
            <a:off x="6286307" y="1825625"/>
            <a:ext cx="5395739" cy="3578713"/>
          </a:xfrm>
          <a:prstGeom prst="rect">
            <a:avLst/>
          </a:prstGeom>
        </p:spPr>
      </p:pic>
    </p:spTree>
    <p:extLst>
      <p:ext uri="{BB962C8B-B14F-4D97-AF65-F5344CB8AC3E}">
        <p14:creationId xmlns:p14="http://schemas.microsoft.com/office/powerpoint/2010/main" val="3388204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In every game there was one BIS partnership (two agents using BIS for bidding) and one competing partnership.</a:t>
            </a:r>
          </a:p>
          <a:p>
            <a:pPr lvl="1"/>
            <a:r>
              <a:rPr lang="en-US" altLang="zh-TW" dirty="0">
                <a:latin typeface="Times New Roman" panose="02020603050405020304" pitchFamily="18" charset="0"/>
                <a:cs typeface="Times New Roman" panose="02020603050405020304" pitchFamily="18" charset="0"/>
              </a:rPr>
              <a:t>IO:</a:t>
            </a:r>
            <a:r>
              <a:rPr lang="zh-TW" altLang="en-US" dirty="0">
                <a:latin typeface="Times New Roman" panose="02020603050405020304" pitchFamily="18" charset="0"/>
                <a:cs typeface="Times New Roman" panose="02020603050405020304" pitchFamily="18" charset="0"/>
              </a:rPr>
              <a:t> </a:t>
            </a:r>
            <a:r>
              <a:rPr lang="en" altLang="zh-TW" dirty="0" err="1">
                <a:latin typeface="Times New Roman" panose="02020603050405020304" pitchFamily="18" charset="0"/>
                <a:cs typeface="Times New Roman" panose="02020603050405020304" pitchFamily="18" charset="0"/>
              </a:rPr>
              <a:t>Cardsgame.io</a:t>
            </a:r>
            <a:r>
              <a:rPr lang="en" altLang="zh-TW" dirty="0">
                <a:latin typeface="Times New Roman" panose="02020603050405020304" pitchFamily="18" charset="0"/>
                <a:cs typeface="Times New Roman" panose="02020603050405020304" pitchFamily="18" charset="0"/>
              </a:rPr>
              <a:t> website</a:t>
            </a:r>
            <a:r>
              <a:rPr lang="en-US" altLang="zh-TW" dirty="0">
                <a:latin typeface="Times New Roman" panose="02020603050405020304" pitchFamily="18" charset="0"/>
                <a:cs typeface="Times New Roman" panose="02020603050405020304" pitchFamily="18" charset="0"/>
              </a:rPr>
              <a:t>.</a:t>
            </a:r>
          </a:p>
          <a:p>
            <a:pPr lvl="1"/>
            <a:r>
              <a:rPr lang="en-US" altLang="zh-TW" dirty="0">
                <a:latin typeface="Times New Roman" panose="02020603050405020304" pitchFamily="18" charset="0"/>
                <a:cs typeface="Times New Roman" panose="02020603050405020304" pitchFamily="18" charset="0"/>
              </a:rPr>
              <a:t>MS:</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an implementation in the book Master Spades</a:t>
            </a:r>
            <a:r>
              <a:rPr lang="en-US" altLang="zh-TW" dirty="0">
                <a:latin typeface="Times New Roman" panose="02020603050405020304" pitchFamily="18" charset="0"/>
                <a:cs typeface="Times New Roman" panose="02020603050405020304" pitchFamily="18" charset="0"/>
              </a:rPr>
              <a:t>.</a:t>
            </a:r>
          </a:p>
          <a:p>
            <a:pPr lvl="1"/>
            <a:r>
              <a:rPr lang="en-US" altLang="zh-TW" dirty="0">
                <a:latin typeface="Times New Roman" panose="02020603050405020304" pitchFamily="18" charset="0"/>
                <a:cs typeface="Times New Roman" panose="02020603050405020304" pitchFamily="18" charset="0"/>
              </a:rPr>
              <a:t>RB:</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a:t>
            </a:r>
            <a:r>
              <a:rPr lang="en" altLang="zh-TW" dirty="0">
                <a:latin typeface="Times New Roman" panose="02020603050405020304" pitchFamily="18" charset="0"/>
                <a:cs typeface="Times New Roman" panose="02020603050405020304" pitchFamily="18" charset="0"/>
              </a:rPr>
              <a:t>ule-based Bidder</a:t>
            </a:r>
            <a:r>
              <a:rPr lang="en-US" altLang="zh-TW" dirty="0">
                <a:latin typeface="Times New Roman" panose="02020603050405020304" pitchFamily="18" charset="0"/>
                <a:cs typeface="Times New Roman" panose="02020603050405020304" pitchFamily="18" charset="0"/>
              </a:rPr>
              <a:t>.</a:t>
            </a:r>
          </a:p>
          <a:p>
            <a:r>
              <a:rPr lang="en" altLang="zh-TW" dirty="0">
                <a:latin typeface="Times New Roman" panose="02020603050405020304" pitchFamily="18" charset="0"/>
                <a:cs typeface="Times New Roman" panose="02020603050405020304" pitchFamily="18" charset="0"/>
              </a:rPr>
              <a:t>In each comparison 10K games were played</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With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same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playing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module: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WRP,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SRP,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UCT.</a:t>
            </a:r>
            <a:endParaRPr lang="en"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w</a:t>
            </a:r>
            <a:r>
              <a:rPr lang="en" altLang="zh-TW" dirty="0">
                <a:latin typeface="Times New Roman" panose="02020603050405020304" pitchFamily="18" charset="0"/>
                <a:cs typeface="Times New Roman" panose="02020603050405020304" pitchFamily="18" charset="0"/>
              </a:rPr>
              <a:t>inning goal </a:t>
            </a:r>
            <a:r>
              <a:rPr lang="en-US" altLang="zh-TW" dirty="0">
                <a:latin typeface="Times New Roman" panose="02020603050405020304" pitchFamily="18" charset="0"/>
                <a:cs typeface="Times New Roman" panose="02020603050405020304" pitchFamily="18" charset="0"/>
              </a:rPr>
              <a:t>is</a:t>
            </a:r>
            <a:r>
              <a:rPr lang="en" altLang="zh-TW" dirty="0">
                <a:latin typeface="Times New Roman" panose="02020603050405020304" pitchFamily="18" charset="0"/>
                <a:cs typeface="Times New Roman" panose="02020603050405020304" pitchFamily="18" charset="0"/>
              </a:rPr>
              <a:t> 200 points, and </a:t>
            </a:r>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losing goal </a:t>
            </a:r>
            <a:r>
              <a:rPr lang="en-US" altLang="zh-TW" dirty="0">
                <a:latin typeface="Times New Roman" panose="02020603050405020304" pitchFamily="18" charset="0"/>
                <a:cs typeface="Times New Roman" panose="02020603050405020304" pitchFamily="18" charset="0"/>
              </a:rPr>
              <a:t>is</a:t>
            </a:r>
            <a:r>
              <a:rPr lang="en" altLang="zh-TW" dirty="0">
                <a:latin typeface="Times New Roman" panose="02020603050405020304" pitchFamily="18" charset="0"/>
                <a:cs typeface="Times New Roman" panose="02020603050405020304" pitchFamily="18" charset="0"/>
              </a:rPr>
              <a:t> -100 points.</a:t>
            </a:r>
            <a:endParaRPr lang="zh-TW" altLang="en-US"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Experiments</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 </a:t>
            </a:r>
            <a:r>
              <a:rPr kumimoji="1" lang="en" altLang="zh-TW" dirty="0">
                <a:latin typeface="Times New Roman" panose="02020603050405020304" pitchFamily="18" charset="0"/>
                <a:cs typeface="Times New Roman" panose="02020603050405020304" pitchFamily="18" charset="0"/>
              </a:rPr>
              <a:t>Competition with other bots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17</a:t>
            </a:fld>
            <a:endParaRPr kumimoji="1" lang="zh-TW" altLang="en-US"/>
          </a:p>
        </p:txBody>
      </p:sp>
    </p:spTree>
    <p:extLst>
      <p:ext uri="{BB962C8B-B14F-4D97-AF65-F5344CB8AC3E}">
        <p14:creationId xmlns:p14="http://schemas.microsoft.com/office/powerpoint/2010/main" val="2451084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Experiments</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 </a:t>
            </a:r>
            <a:r>
              <a:rPr kumimoji="1" lang="en" altLang="zh-TW" dirty="0">
                <a:latin typeface="Times New Roman" panose="02020603050405020304" pitchFamily="18" charset="0"/>
                <a:cs typeface="Times New Roman" panose="02020603050405020304" pitchFamily="18" charset="0"/>
              </a:rPr>
              <a:t>Competition with other bots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18</a:t>
            </a:fld>
            <a:endParaRPr kumimoji="1" lang="zh-TW" altLang="en-US"/>
          </a:p>
        </p:txBody>
      </p:sp>
      <p:pic>
        <p:nvPicPr>
          <p:cNvPr id="7" name="圖片 6" descr="一張含有 文字, 字型, 數字, 螢幕擷取畫面 的圖片&#10;&#10;自動產生的描述">
            <a:extLst>
              <a:ext uri="{FF2B5EF4-FFF2-40B4-BE49-F238E27FC236}">
                <a16:creationId xmlns:a16="http://schemas.microsoft.com/office/drawing/2014/main" id="{172CCB54-49EC-134E-93C4-3DAEDBA03EFF}"/>
              </a:ext>
            </a:extLst>
          </p:cNvPr>
          <p:cNvPicPr>
            <a:picLocks noChangeAspect="1"/>
          </p:cNvPicPr>
          <p:nvPr/>
        </p:nvPicPr>
        <p:blipFill>
          <a:blip r:embed="rId2"/>
          <a:stretch>
            <a:fillRect/>
          </a:stretch>
        </p:blipFill>
        <p:spPr>
          <a:xfrm>
            <a:off x="940481" y="1859257"/>
            <a:ext cx="10311037" cy="4328524"/>
          </a:xfrm>
          <a:prstGeom prst="rect">
            <a:avLst/>
          </a:prstGeom>
        </p:spPr>
      </p:pic>
    </p:spTree>
    <p:extLst>
      <p:ext uri="{BB962C8B-B14F-4D97-AF65-F5344CB8AC3E}">
        <p14:creationId xmlns:p14="http://schemas.microsoft.com/office/powerpoint/2010/main" val="1455530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lstStyle/>
          <a:p>
            <a:pPr algn="just"/>
            <a:r>
              <a:rPr lang="en-US" altLang="zh-TW" dirty="0">
                <a:latin typeface="Times New Roman" panose="02020603050405020304" pitchFamily="18" charset="0"/>
                <a:cs typeface="Times New Roman" panose="02020603050405020304" pitchFamily="18" charset="0"/>
              </a:rPr>
              <a:t>Dataset: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400K rounds from games played during October 2019, between a partnership of two BIS+SRP agents and a partnership composed of a BIS+SRP and a human player.</a:t>
            </a:r>
          </a:p>
          <a:p>
            <a:pPr algn="just"/>
            <a:r>
              <a:rPr lang="en" altLang="zh-TW" dirty="0">
                <a:latin typeface="Times New Roman" panose="02020603050405020304" pitchFamily="18" charset="0"/>
                <a:cs typeface="Times New Roman" panose="02020603050405020304" pitchFamily="18" charset="0"/>
              </a:rPr>
              <a:t>The overall winning rate of the BIS partnership is 56% of all games.</a:t>
            </a: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Experiments</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 </a:t>
            </a:r>
            <a:r>
              <a:rPr kumimoji="1" lang="en" altLang="zh-TW" dirty="0">
                <a:latin typeface="Times New Roman" panose="02020603050405020304" pitchFamily="18" charset="0"/>
                <a:cs typeface="Times New Roman" panose="02020603050405020304" pitchFamily="18" charset="0"/>
              </a:rPr>
              <a:t>Playing against humans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19</a:t>
            </a:fld>
            <a:endParaRPr kumimoji="1" lang="zh-TW" altLang="en-US"/>
          </a:p>
        </p:txBody>
      </p:sp>
    </p:spTree>
    <p:extLst>
      <p:ext uri="{BB962C8B-B14F-4D97-AF65-F5344CB8AC3E}">
        <p14:creationId xmlns:p14="http://schemas.microsoft.com/office/powerpoint/2010/main" val="303627759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3784</TotalTime>
  <Words>1040</Words>
  <Application>Microsoft Macintosh PowerPoint</Application>
  <PresentationFormat>寬螢幕</PresentationFormat>
  <Paragraphs>114</Paragraphs>
  <Slides>19</Slides>
  <Notes>13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19</vt:i4>
      </vt:variant>
    </vt:vector>
  </HeadingPairs>
  <TitlesOfParts>
    <vt:vector size="27" baseType="lpstr">
      <vt:lpstr>LMMono9-Regular-Identity-H</vt:lpstr>
      <vt:lpstr>LMRoman9-Regular-Identity-H</vt:lpstr>
      <vt:lpstr>Times</vt:lpstr>
      <vt:lpstr>Arial</vt:lpstr>
      <vt:lpstr>Calibri</vt:lpstr>
      <vt:lpstr>Calibri Light</vt:lpstr>
      <vt:lpstr>Times New Roman</vt:lpstr>
      <vt:lpstr>Office 佈景主題</vt:lpstr>
      <vt:lpstr>Bidding in Spades</vt:lpstr>
      <vt:lpstr>Abstract(1/2)</vt:lpstr>
      <vt:lpstr>Abstract(2/2)</vt:lpstr>
      <vt:lpstr>Spades</vt:lpstr>
      <vt:lpstr>Spades</vt:lpstr>
      <vt:lpstr>Spades</vt:lpstr>
      <vt:lpstr>Spades</vt:lpstr>
      <vt:lpstr>Bids</vt:lpstr>
      <vt:lpstr>Regular bid - Side suits high cards</vt:lpstr>
      <vt:lpstr>Regular bid - Spades high cards</vt:lpstr>
      <vt:lpstr>Regular bid - Spades long suits</vt:lpstr>
      <vt:lpstr>Regular bid - Short side suits with spades</vt:lpstr>
      <vt:lpstr>Example</vt:lpstr>
      <vt:lpstr>Nil-value</vt:lpstr>
      <vt:lpstr>Nil Success Probability</vt:lpstr>
      <vt:lpstr>The BIS Agent</vt:lpstr>
      <vt:lpstr>Experiments - Competition with other bots</vt:lpstr>
      <vt:lpstr>Experiments - Competition with other bots</vt:lpstr>
      <vt:lpstr>Experiments - Playing against humans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M113040012</dc:creator>
  <cp:lastModifiedBy>M113040012</cp:lastModifiedBy>
  <cp:revision>124</cp:revision>
  <dcterms:created xsi:type="dcterms:W3CDTF">2023-07-01T04:19:29Z</dcterms:created>
  <dcterms:modified xsi:type="dcterms:W3CDTF">2023-07-04T06:27:31Z</dcterms:modified>
</cp:coreProperties>
</file>