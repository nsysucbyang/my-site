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08290C-3C36-4E88-AD46-20A14A3E3987}">
  <a:tblStyle styleId="{C308290C-3C36-4E88-AD46-20A14A3E39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c415ebfed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c415ebfe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c415ebfed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c415ebfe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c415ebfed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c415ebfed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5c415ec1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5c415ec1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37ff27f6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37ff27f6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c415ec14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c415ec1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ＬＣＳ</a:t>
            </a:r>
            <a:r>
              <a:rPr lang="zh-TW"/>
              <a:t>可以轉換成找最長鏈的問題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前篇論文給予關係Ｒ（偏序關係）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兩組ｍａｔｃｈ［ｉ，ｊ］Ｒ［ｉ’，ｊ’］等價於ｉ＜ｉ’且ｊ＜ｊ’，</a:t>
            </a:r>
            <a:r>
              <a:rPr lang="zh-TW"/>
              <a:t>可以形成一條鏈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圖中的虛線為反鏈（一個ｓｅｔ中的ｍａｔｃｈｅｓ無法互相產生Ｒ關係的話，便形成反鏈）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黑點為在ｋ－ｄｏｍｉｎａｎｔ時可以延伸出最佳解的ｍａｔｃｈ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灰點的發展性一定比黑點差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c415ec14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c415ec14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∆Ｌ：</a:t>
            </a:r>
            <a:r>
              <a:rPr lang="zh-TW"/>
              <a:t>與上一個ｒｏｗ元素的差值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看某ｃｏｌｕｍｎ有幾個１，就知道ＬＬＣＳ是多少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c415ec14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c415ec14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０</a:t>
            </a:r>
            <a:r>
              <a:rPr lang="zh-TW"/>
              <a:t>表示ｋ－ｄｏｍｉｎａｎｔ的邊界通過此位置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反之為１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為何最後一格是１但有邊界通過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這邊紀錄的０應該是有＂新＂的ｋ－ｄｏｍｉｎａｎｔ經過（即代表ＬＬＣＳ＋１）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因為倒數兩格同為５－ｄｏｍｉｎａｎｔ，ＬＬＣＳ沒有增加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c415ebfed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c415ebfed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c415ebfed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c415ebfed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37ff27f654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37ff27f654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d8cff6fe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d8cff6fe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5d215fbb63_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5d215fbb63_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d8cff6fe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5d8cff6fe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5d8cff6fe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5d8cff6fe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5d215fbb63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5d215fbb63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 Fast and Practical Bit-vector Algorithm for the Longest Common Subsequence Problem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Maxime Crochemore, Costas S. Iliopoulos, Yoan J. Pinzon, James F. Reid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Processing Letters, Volume 80, Issue 6, 31 December 2001, Pages 279-285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Aug.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paper presents a new practical bit-vector algorithm for solving the well-known Longest Common Subsequence (LCS) problem. Given two strings of length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⩾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present an algorithm which determines the length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an LCS in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time and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space, where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number of bits in a machine word. This algorithm can be thought of as column-wise “parallelization” of the classical dynamic programming approach.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algorithm is very efficient in practice, where computing the length of an LCS of two strings can be done in linear time and constant (additional/working) space by assuming that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⩽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LLCS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600" y="1574800"/>
            <a:ext cx="56388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LLCS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2473800" y="4514900"/>
            <a:ext cx="419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“survey”, y = “surgery”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163" y="1206462"/>
            <a:ext cx="7477676" cy="33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Time / Space Complexity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K-dominant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613" y="1152475"/>
            <a:ext cx="7492768" cy="39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8236875" y="1894225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8236875" y="2163200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8236875" y="2448325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8236875" y="2717300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8236875" y="3002425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8236875" y="3832825"/>
            <a:ext cx="3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K-dominant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　</a:t>
            </a:r>
            <a:endParaRPr/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2001"/>
            <a:ext cx="9143998" cy="3137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8101375" y="2032650"/>
            <a:ext cx="225900" cy="2047200"/>
          </a:xfrm>
          <a:prstGeom prst="frame">
            <a:avLst>
              <a:gd fmla="val 1250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841850" y="2156075"/>
            <a:ext cx="1962925" cy="1994425"/>
          </a:xfrm>
          <a:custGeom>
            <a:rect b="b" l="l" r="r" t="t"/>
            <a:pathLst>
              <a:path extrusionOk="0" h="79777" w="78517">
                <a:moveTo>
                  <a:pt x="0" y="79777"/>
                </a:moveTo>
                <a:lnTo>
                  <a:pt x="0" y="17215"/>
                </a:lnTo>
                <a:lnTo>
                  <a:pt x="24353" y="17215"/>
                </a:lnTo>
                <a:lnTo>
                  <a:pt x="24353" y="0"/>
                </a:lnTo>
                <a:lnTo>
                  <a:pt x="78517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" name="Google Shape;119;p20"/>
          <p:cNvSpPr/>
          <p:nvPr/>
        </p:nvSpPr>
        <p:spPr>
          <a:xfrm>
            <a:off x="4111825" y="2156075"/>
            <a:ext cx="1962925" cy="1994425"/>
          </a:xfrm>
          <a:custGeom>
            <a:rect b="b" l="l" r="r" t="t"/>
            <a:pathLst>
              <a:path extrusionOk="0" h="79777" w="78517">
                <a:moveTo>
                  <a:pt x="0" y="79777"/>
                </a:moveTo>
                <a:lnTo>
                  <a:pt x="0" y="17215"/>
                </a:lnTo>
                <a:lnTo>
                  <a:pt x="24353" y="17215"/>
                </a:lnTo>
                <a:lnTo>
                  <a:pt x="24353" y="0"/>
                </a:lnTo>
                <a:lnTo>
                  <a:pt x="78517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0" name="Google Shape;120;p20"/>
          <p:cNvSpPr/>
          <p:nvPr/>
        </p:nvSpPr>
        <p:spPr>
          <a:xfrm>
            <a:off x="1027250" y="2593600"/>
            <a:ext cx="1777625" cy="1559075"/>
          </a:xfrm>
          <a:custGeom>
            <a:rect b="b" l="l" r="r" t="t"/>
            <a:pathLst>
              <a:path extrusionOk="0" h="62363" w="71105">
                <a:moveTo>
                  <a:pt x="0" y="62363"/>
                </a:moveTo>
                <a:lnTo>
                  <a:pt x="0" y="8743"/>
                </a:lnTo>
                <a:lnTo>
                  <a:pt x="40507" y="8743"/>
                </a:lnTo>
                <a:lnTo>
                  <a:pt x="40507" y="0"/>
                </a:lnTo>
                <a:lnTo>
                  <a:pt x="71105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1" name="Google Shape;121;p20"/>
          <p:cNvSpPr/>
          <p:nvPr/>
        </p:nvSpPr>
        <p:spPr>
          <a:xfrm>
            <a:off x="4297125" y="2593600"/>
            <a:ext cx="1777625" cy="1559075"/>
          </a:xfrm>
          <a:custGeom>
            <a:rect b="b" l="l" r="r" t="t"/>
            <a:pathLst>
              <a:path extrusionOk="0" h="62363" w="71105">
                <a:moveTo>
                  <a:pt x="0" y="62363"/>
                </a:moveTo>
                <a:lnTo>
                  <a:pt x="0" y="8743"/>
                </a:lnTo>
                <a:lnTo>
                  <a:pt x="40507" y="8743"/>
                </a:lnTo>
                <a:lnTo>
                  <a:pt x="40507" y="0"/>
                </a:lnTo>
                <a:lnTo>
                  <a:pt x="71105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2" name="Google Shape;122;p20"/>
          <p:cNvSpPr/>
          <p:nvPr/>
        </p:nvSpPr>
        <p:spPr>
          <a:xfrm>
            <a:off x="1223950" y="2819450"/>
            <a:ext cx="1580925" cy="1318675"/>
          </a:xfrm>
          <a:custGeom>
            <a:rect b="b" l="l" r="r" t="t"/>
            <a:pathLst>
              <a:path extrusionOk="0" h="52747" w="63237">
                <a:moveTo>
                  <a:pt x="0" y="52747"/>
                </a:moveTo>
                <a:lnTo>
                  <a:pt x="291" y="17194"/>
                </a:lnTo>
                <a:lnTo>
                  <a:pt x="8451" y="17485"/>
                </a:lnTo>
                <a:lnTo>
                  <a:pt x="8451" y="8743"/>
                </a:lnTo>
                <a:lnTo>
                  <a:pt x="39924" y="9034"/>
                </a:lnTo>
                <a:lnTo>
                  <a:pt x="39633" y="0"/>
                </a:lnTo>
                <a:lnTo>
                  <a:pt x="63237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Google Shape;123;p20"/>
          <p:cNvSpPr/>
          <p:nvPr/>
        </p:nvSpPr>
        <p:spPr>
          <a:xfrm>
            <a:off x="4493825" y="2834000"/>
            <a:ext cx="1580925" cy="1318675"/>
          </a:xfrm>
          <a:custGeom>
            <a:rect b="b" l="l" r="r" t="t"/>
            <a:pathLst>
              <a:path extrusionOk="0" h="52747" w="63237">
                <a:moveTo>
                  <a:pt x="0" y="52747"/>
                </a:moveTo>
                <a:lnTo>
                  <a:pt x="291" y="17194"/>
                </a:lnTo>
                <a:lnTo>
                  <a:pt x="8451" y="17485"/>
                </a:lnTo>
                <a:lnTo>
                  <a:pt x="8451" y="8743"/>
                </a:lnTo>
                <a:lnTo>
                  <a:pt x="39924" y="9034"/>
                </a:lnTo>
                <a:lnTo>
                  <a:pt x="39633" y="0"/>
                </a:lnTo>
                <a:lnTo>
                  <a:pt x="63237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" name="Google Shape;124;p20"/>
          <p:cNvSpPr/>
          <p:nvPr/>
        </p:nvSpPr>
        <p:spPr>
          <a:xfrm>
            <a:off x="1435225" y="3271150"/>
            <a:ext cx="1362375" cy="859675"/>
          </a:xfrm>
          <a:custGeom>
            <a:rect b="b" l="l" r="r" t="t"/>
            <a:pathLst>
              <a:path extrusionOk="0" h="34387" w="54495">
                <a:moveTo>
                  <a:pt x="0" y="34387"/>
                </a:moveTo>
                <a:lnTo>
                  <a:pt x="0" y="26519"/>
                </a:lnTo>
                <a:lnTo>
                  <a:pt x="7577" y="26519"/>
                </a:lnTo>
                <a:lnTo>
                  <a:pt x="8451" y="0"/>
                </a:lnTo>
                <a:lnTo>
                  <a:pt x="54495" y="291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5" name="Google Shape;125;p20"/>
          <p:cNvSpPr/>
          <p:nvPr/>
        </p:nvSpPr>
        <p:spPr>
          <a:xfrm>
            <a:off x="4676625" y="3271150"/>
            <a:ext cx="1362375" cy="859675"/>
          </a:xfrm>
          <a:custGeom>
            <a:rect b="b" l="l" r="r" t="t"/>
            <a:pathLst>
              <a:path extrusionOk="0" h="34387" w="54495">
                <a:moveTo>
                  <a:pt x="0" y="34387"/>
                </a:moveTo>
                <a:lnTo>
                  <a:pt x="0" y="26519"/>
                </a:lnTo>
                <a:lnTo>
                  <a:pt x="7577" y="26519"/>
                </a:lnTo>
                <a:lnTo>
                  <a:pt x="8451" y="0"/>
                </a:lnTo>
                <a:lnTo>
                  <a:pt x="54495" y="291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6" name="Google Shape;126;p20"/>
          <p:cNvSpPr/>
          <p:nvPr/>
        </p:nvSpPr>
        <p:spPr>
          <a:xfrm>
            <a:off x="1814075" y="3489700"/>
            <a:ext cx="990800" cy="648425"/>
          </a:xfrm>
          <a:custGeom>
            <a:rect b="b" l="l" r="r" t="t"/>
            <a:pathLst>
              <a:path extrusionOk="0" h="25937" w="39632">
                <a:moveTo>
                  <a:pt x="291" y="25937"/>
                </a:moveTo>
                <a:lnTo>
                  <a:pt x="0" y="9034"/>
                </a:lnTo>
                <a:lnTo>
                  <a:pt x="24479" y="9034"/>
                </a:lnTo>
                <a:lnTo>
                  <a:pt x="24770" y="0"/>
                </a:lnTo>
                <a:lnTo>
                  <a:pt x="39632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7" name="Google Shape;127;p20"/>
          <p:cNvSpPr/>
          <p:nvPr/>
        </p:nvSpPr>
        <p:spPr>
          <a:xfrm>
            <a:off x="5048200" y="3489700"/>
            <a:ext cx="990800" cy="648425"/>
          </a:xfrm>
          <a:custGeom>
            <a:rect b="b" l="l" r="r" t="t"/>
            <a:pathLst>
              <a:path extrusionOk="0" h="25937" w="39632">
                <a:moveTo>
                  <a:pt x="291" y="25937"/>
                </a:moveTo>
                <a:lnTo>
                  <a:pt x="0" y="9034"/>
                </a:lnTo>
                <a:lnTo>
                  <a:pt x="24479" y="9034"/>
                </a:lnTo>
                <a:lnTo>
                  <a:pt x="24770" y="0"/>
                </a:lnTo>
                <a:lnTo>
                  <a:pt x="39632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K-dominant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　</a:t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73" y="941375"/>
            <a:ext cx="5150855" cy="3991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1"/>
          <p:cNvCxnSpPr/>
          <p:nvPr/>
        </p:nvCxnSpPr>
        <p:spPr>
          <a:xfrm>
            <a:off x="5026925" y="4921000"/>
            <a:ext cx="1442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1"/>
          <p:cNvSpPr txBox="1"/>
          <p:nvPr/>
        </p:nvSpPr>
        <p:spPr>
          <a:xfrm>
            <a:off x="5059300" y="1821725"/>
            <a:ext cx="357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CIPR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reprocessing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　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175" y="755650"/>
            <a:ext cx="5248275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CIPR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425" y="405725"/>
            <a:ext cx="5168016" cy="16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975" y="2070800"/>
            <a:ext cx="6000050" cy="25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62" name="Google Shape;162;p24"/>
          <p:cNvGraphicFramePr/>
          <p:nvPr/>
        </p:nvGraphicFramePr>
        <p:xfrm>
          <a:off x="130100" y="124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{C308290C-3C36-4E88-AD46-20A14A3E3987}</a:tableStyleId>
              </a:tblPr>
              <a:tblGrid>
                <a:gridCol w="1110475"/>
                <a:gridCol w="1110475"/>
                <a:gridCol w="1110475"/>
                <a:gridCol w="1110475"/>
                <a:gridCol w="1110475"/>
                <a:gridCol w="1110475"/>
                <a:gridCol w="1110475"/>
                <a:gridCol w="1110475"/>
              </a:tblGrid>
              <a:tr h="47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∆L’</a:t>
                      </a:r>
                      <a:r>
                        <a:rPr baseline="-25000"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aseline="-25000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M[y</a:t>
                      </a:r>
                      <a:r>
                        <a:rPr baseline="-25000"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=’g’]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∆L’</a:t>
                      </a:r>
                      <a:r>
                        <a:rPr baseline="-25000"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M[y</a:t>
                      </a:r>
                      <a:r>
                        <a:rPr baseline="-25000"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=’a’]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∆L’</a:t>
                      </a:r>
                      <a:r>
                        <a:rPr baseline="-25000"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M[y</a:t>
                      </a:r>
                      <a:r>
                        <a:rPr baseline="-25000"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=’a’]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∆L’</a:t>
                      </a:r>
                      <a:r>
                        <a:rPr baseline="-25000"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carry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099" y="0"/>
            <a:ext cx="49718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CIPR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LLCS =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carries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‘0’ in ∆L’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-2500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 general case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per column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Time Complexity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if using a bit-parallel formula under the assumption that m⩽w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per column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