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5" r:id="rId3"/>
    <p:sldId id="266" r:id="rId4"/>
    <p:sldId id="267" r:id="rId5"/>
    <p:sldId id="283" r:id="rId6"/>
    <p:sldId id="301" r:id="rId7"/>
    <p:sldId id="282" r:id="rId8"/>
    <p:sldId id="286" r:id="rId9"/>
    <p:sldId id="285" r:id="rId10"/>
    <p:sldId id="288" r:id="rId11"/>
    <p:sldId id="302" r:id="rId12"/>
    <p:sldId id="303" r:id="rId13"/>
    <p:sldId id="308" r:id="rId14"/>
    <p:sldId id="309" r:id="rId15"/>
    <p:sldId id="297" r:id="rId16"/>
    <p:sldId id="312" r:id="rId17"/>
    <p:sldId id="313" r:id="rId18"/>
    <p:sldId id="319" r:id="rId19"/>
    <p:sldId id="287" r:id="rId20"/>
    <p:sldId id="289" r:id="rId21"/>
    <p:sldId id="290" r:id="rId22"/>
    <p:sldId id="315" r:id="rId23"/>
    <p:sldId id="320" r:id="rId24"/>
    <p:sldId id="291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95" autoAdjust="0"/>
    <p:restoredTop sz="95728"/>
  </p:normalViewPr>
  <p:slideViewPr>
    <p:cSldViewPr snapToGrid="0" snapToObjects="1">
      <p:cViewPr varScale="1">
        <p:scale>
          <a:sx n="65" d="100"/>
          <a:sy n="65" d="100"/>
        </p:scale>
        <p:origin x="6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87B1E-D7BB-234A-BB61-4186E7CB5889}" type="datetimeFigureOut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6A01-BB7F-2749-98D2-EC6EAA37179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44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49788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2932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771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3848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84017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83537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7811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57282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63583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64744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0307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4298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67314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7656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284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88585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8318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52898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74782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62488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5535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501DD-7617-CF45-952C-148738FE8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49E178-73AA-644C-8223-66BF7136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3253A-849A-4D45-A3E7-4D1991E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53D5-883A-5840-B916-BEC4DF4506D5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CDC78-3D4D-404B-AFA4-5B8A4BFD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C002C-0479-C74D-9FB3-84645C0A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464A-FDF4-3341-B07B-24B820E4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333E2-9D9C-8C49-8592-A408903C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6F474-7FB1-5646-B2F2-525F8D1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29E5-98E1-4140-9D90-8AD9B393DC63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4CE80-A870-164A-A65F-809FC9C0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9FA6-21BE-FF46-A0DD-80A4E3E4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5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485C0-58BA-C248-AFEC-796DBE7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20E7-FE89-E04B-A373-97BD15E9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132D52-ED19-E540-984A-CB07B5F7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C34D-36C3-F34E-AF6E-5E7D513EECD1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BDAE5-6429-1646-BE72-C577966D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FD161E-0E50-D549-9D79-396E6719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7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827E9-DFE9-224C-9899-DD344BC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56C89-BB60-5D4A-B951-F0C1C7545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C126F-4174-1949-9558-B4C272D36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65A31-2149-0648-8A59-90D8961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6D90-58FA-0641-BF29-5E2687B5D06E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C8BAB3-FB47-3344-B999-5CB7AACA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B979C4-5F59-314A-943B-7732149E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99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5BCB-A32E-984F-994B-6AD69C1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BBA48-11AB-EA42-B26E-97C56E55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45D110-23DF-BA43-8D13-0E9505DC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FA7828-C650-A046-B918-8845F0B6A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DE3B6E-6238-D149-9212-48351BD8A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5BA387-FB25-3242-BD50-C95AE8C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B0E6-B8C8-474E-B122-D8F5DE0AFAD2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C4116-BEB6-7E4E-A4A7-D255334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0F097C-57D7-B44E-A73C-8373F218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14667-755C-594C-B649-0C584C79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BF655D-EEC9-1849-AFE9-30359B4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937B-9027-774A-B9FD-9279ACD255BD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5848DC-EF7E-5E45-97D5-BB00291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47D0D-FB63-C04A-88AA-4663F56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29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D0DAB-E3AB-C542-BAF1-FA0813F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104-FA4D-834B-9033-B46E2F34E77F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4257D8-EC9E-534F-9065-715A4574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29C47-757A-114F-A178-225027B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6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441E4-4620-9244-B66E-26EC9ECB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2631A-AADB-4344-B902-B53FE9F5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2930E1-81A7-6848-925D-24DF951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A1FEB3-ECC3-AD41-BEA6-44C6F60F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3C6-1BDC-EF4C-9138-1B867971D82A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CC6D6D-32D3-0F46-8645-9348CDC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FE86A-1C31-4A46-A584-5E4CEF4A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3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D89C4-8B50-834A-81C5-869F9DC9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534F9E-8511-5F4A-A82F-05692527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5567A0-F6B9-9340-A872-76C4D30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79205F-B98C-E943-92A5-27963140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67F-5EDC-4F4F-93AF-7C8D00AA37FD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25F96-ED76-8549-9FD6-2B59D285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6D537-3F67-CD44-B755-194C465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4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6AB28-6653-9C49-A992-A424797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E57488-2CEC-AB48-B522-A9BF17B6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9DC675-96A7-5740-944C-CAFED91F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BB45-072B-E944-9661-5DAAF6BF234C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19B60E-DE36-CE48-92C7-29C9040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11CB14-7E7D-DA4F-95BF-F4F6A71A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7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37A97-13EF-684A-A0A9-0B2C4B915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4D9E75-6CF5-DE45-9FA4-3A5D546C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846D7A-FDC0-584E-83DF-7CFDFE8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93-5293-2E45-810C-52C7374A43E9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227D2-8B70-D046-B3FE-419A372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9F65E-93FE-3541-912C-7DF85AF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39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22299C-DADF-924C-A256-3B359EC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7C0D55-55DC-8A4F-8D1C-054CD64B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F6F637-18F3-BD4C-908D-9F4BD7CE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2FFB-DAFA-B349-908F-41F05A7F02F7}" type="datetime1">
              <a:rPr kumimoji="1" lang="zh-TW" altLang="en-US" smtClean="0"/>
              <a:t>2023/8/1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9E3A8-AF3F-CA42-A297-2EE032B20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09E7D-F646-F04E-B26F-BEF4E728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51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8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10" Type="http://schemas.openxmlformats.org/officeDocument/2006/relationships/image" Target="../media/image311.png"/><Relationship Id="rId4" Type="http://schemas.openxmlformats.org/officeDocument/2006/relationships/image" Target="../media/image6.pn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81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39.png"/><Relationship Id="rId5" Type="http://schemas.openxmlformats.org/officeDocument/2006/relationships/image" Target="../media/image270.png"/><Relationship Id="rId10" Type="http://schemas.openxmlformats.org/officeDocument/2006/relationships/image" Target="../media/image311.png"/><Relationship Id="rId4" Type="http://schemas.openxmlformats.org/officeDocument/2006/relationships/image" Target="../media/image37.png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8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311.png"/><Relationship Id="rId4" Type="http://schemas.openxmlformats.org/officeDocument/2006/relationships/image" Target="../media/image391.png"/><Relationship Id="rId9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Order-preserving</a:t>
            </a:r>
            <a:r>
              <a:rPr kumimoji="1" lang="en-US" altLang="zh-TW" sz="4800" dirty="0">
                <a:latin typeface="Times" pitchFamily="2" charset="0"/>
              </a:rPr>
              <a:t> matching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Jinil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Kim, Peter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Eades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Rudolf Fleischer, Seok-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Hong,</a:t>
            </a: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Costas S. Iliopoulos,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Kunsoo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Simon J. Puglisi, Takeshi Tokuyama</a:t>
            </a:r>
            <a:endParaRPr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 525(2014) 68–79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573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Wen-Yu Chang</a:t>
            </a:r>
          </a:p>
          <a:p>
            <a:r>
              <a:rPr kumimoji="1" lang="en-US" altLang="zh-TW" dirty="0">
                <a:latin typeface="Times" pitchFamily="2" charset="0"/>
              </a:rPr>
              <a:t>Date: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Aug.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1,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2023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Abstract(1/2)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09F5D7-A24C-7540-ADEE-E8D83623F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z="2400" dirty="0">
                <a:latin typeface="Times" pitchFamily="2" charset="0"/>
              </a:rPr>
              <a:t>We introduce a new string matching problem called order-preserving matching on numeric</a:t>
            </a:r>
            <a:r>
              <a:rPr lang="zh-TW" altLang="en-US" sz="2400" dirty="0">
                <a:latin typeface="Times" pitchFamily="2" charset="0"/>
              </a:rPr>
              <a:t> </a:t>
            </a:r>
            <a:r>
              <a:rPr lang="en-US" altLang="zh-TW" sz="2400" dirty="0">
                <a:latin typeface="Times" pitchFamily="2" charset="0"/>
              </a:rPr>
              <a:t>strings, where a pattern matches a text if the text contains a substring of values whose</a:t>
            </a:r>
            <a:r>
              <a:rPr lang="zh-TW" altLang="en-US" sz="2400" dirty="0">
                <a:latin typeface="Times" pitchFamily="2" charset="0"/>
              </a:rPr>
              <a:t> </a:t>
            </a:r>
            <a:r>
              <a:rPr lang="en-US" altLang="zh-TW" sz="2400" dirty="0">
                <a:latin typeface="Times" pitchFamily="2" charset="0"/>
              </a:rPr>
              <a:t>relative orders coincide with those of the pattern. Order-preserving matching is applicable</a:t>
            </a:r>
            <a:r>
              <a:rPr lang="zh-TW" altLang="en-US" sz="2400" dirty="0">
                <a:latin typeface="Times" pitchFamily="2" charset="0"/>
              </a:rPr>
              <a:t> </a:t>
            </a:r>
            <a:r>
              <a:rPr lang="en-US" altLang="zh-TW" sz="2400" dirty="0">
                <a:latin typeface="Times" pitchFamily="2" charset="0"/>
              </a:rPr>
              <a:t>to many scenarios such as stock price analysis and musical melody matching in which</a:t>
            </a:r>
            <a:r>
              <a:rPr lang="zh-TW" altLang="en-US" sz="2400" dirty="0">
                <a:latin typeface="Times" pitchFamily="2" charset="0"/>
              </a:rPr>
              <a:t> </a:t>
            </a:r>
            <a:r>
              <a:rPr lang="en-US" altLang="zh-TW" sz="2400" dirty="0">
                <a:latin typeface="Times" pitchFamily="2" charset="0"/>
              </a:rPr>
              <a:t>the order relations should be matched instead of the strings themselves. Solving order-preserving matching is closely related to the representation of order relations of a numeric string. </a:t>
            </a:r>
            <a:endParaRPr lang="en" altLang="zh-TW" sz="2400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Abstract(2/2)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5466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" pitchFamily="2" charset="0"/>
                  </a:rPr>
                  <a:t>We define the prefix representation and the nearest neighbor representation of the pattern, both of which lead to efficient algorithms for order-preserving matching. We present efficient algorithms for single and multiple pattern cases. For the single pattern case, we give an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 time algorithm and optimize it further to obtain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time. For the multiple pattern case, we give an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time algorithm.</a:t>
                </a:r>
                <a:endParaRPr lang="en" altLang="zh-TW" sz="2400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546600"/>
              </a:xfrm>
              <a:blipFill>
                <a:blip r:embed="rId2"/>
                <a:stretch>
                  <a:fillRect l="-928" r="-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0063C2-B176-C143-AD15-5E06A3E6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4132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Order-Preserving Matching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DBB8FEB-3D00-49F7-8D1E-D689E68159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19"/>
          <a:stretch/>
        </p:blipFill>
        <p:spPr>
          <a:xfrm>
            <a:off x="1007320" y="1514168"/>
            <a:ext cx="10177360" cy="44540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4056C1A-D156-4E09-AF8A-570F2AFD6F1D}"/>
                  </a:ext>
                </a:extLst>
              </p:cNvPr>
              <p:cNvSpPr txBox="1"/>
              <p:nvPr/>
            </p:nvSpPr>
            <p:spPr>
              <a:xfrm>
                <a:off x="5117690" y="5343832"/>
                <a:ext cx="44596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4..11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=(1, 2, 5, 3, 4, 7, 8, 6)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4056C1A-D156-4E09-AF8A-570F2AFD6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690" y="5343832"/>
                <a:ext cx="4459682" cy="369332"/>
              </a:xfrm>
              <a:prstGeom prst="rect">
                <a:avLst/>
              </a:prstGeom>
              <a:blipFill>
                <a:blip r:embed="rId4"/>
                <a:stretch>
                  <a:fillRect l="-547" r="-2052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01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Prefix Representation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670D7EF-220E-4141-907E-4326F7D19DF2}"/>
              </a:ext>
            </a:extLst>
          </p:cNvPr>
          <p:cNvSpPr txBox="1"/>
          <p:nvPr/>
        </p:nvSpPr>
        <p:spPr>
          <a:xfrm>
            <a:off x="838199" y="1672662"/>
            <a:ext cx="10515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An alternative way of representing order relations is to use the rank of each character in the prefix</a:t>
            </a:r>
            <a:r>
              <a:rPr lang="zh-TW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by using the order-statistic tree.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42174BB8-A6CB-46BD-8270-49270CF85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868311"/>
                  </p:ext>
                </p:extLst>
              </p:nvPr>
            </p:nvGraphicFramePr>
            <p:xfrm>
              <a:off x="2045999" y="3131748"/>
              <a:ext cx="8100000" cy="21905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883552243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90033395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628528286"/>
                        </a:ext>
                      </a:extLst>
                    </a:gridCol>
                  </a:tblGrid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altLang="zh-TW" sz="2400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i="0" dirty="0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42174BB8-A6CB-46BD-8270-49270CF85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868311"/>
                  </p:ext>
                </p:extLst>
              </p:nvPr>
            </p:nvGraphicFramePr>
            <p:xfrm>
              <a:off x="2045999" y="3131748"/>
              <a:ext cx="8100000" cy="21905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883552243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90033395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628528286"/>
                        </a:ext>
                      </a:extLst>
                    </a:gridCol>
                  </a:tblGrid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76" t="-833" r="-800000" b="-2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76" t="-100000" r="-800000" b="-1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7301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76" t="-201667" r="-8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3371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Failure Function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79BE1E70-5D81-47B6-A8F9-F7FE99C64A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070780"/>
                  </p:ext>
                </p:extLst>
              </p:nvPr>
            </p:nvGraphicFramePr>
            <p:xfrm>
              <a:off x="2046000" y="2404654"/>
              <a:ext cx="8100000" cy="26779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883552243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90033395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628528286"/>
                        </a:ext>
                      </a:extLst>
                    </a:gridCol>
                  </a:tblGrid>
                  <a:tr h="6694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6694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6694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altLang="zh-TW" sz="2400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i="0" dirty="0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6694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7674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79BE1E70-5D81-47B6-A8F9-F7FE99C64A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070780"/>
                  </p:ext>
                </p:extLst>
              </p:nvPr>
            </p:nvGraphicFramePr>
            <p:xfrm>
              <a:off x="2046000" y="2404654"/>
              <a:ext cx="8100000" cy="26779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3242848539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735761456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529620551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40278743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695976807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64933656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883552243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90033395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628528286"/>
                        </a:ext>
                      </a:extLst>
                    </a:gridCol>
                  </a:tblGrid>
                  <a:tr h="66948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76" t="-909" r="-800000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726943"/>
                      </a:ext>
                    </a:extLst>
                  </a:tr>
                  <a:tr h="66948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76" t="-100909" r="-800000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5053646"/>
                      </a:ext>
                    </a:extLst>
                  </a:tr>
                  <a:tr h="66948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76" t="-200909" r="-800000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9765776"/>
                      </a:ext>
                    </a:extLst>
                  </a:tr>
                  <a:tr h="66948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76" t="-300909" r="-800000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7674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007344DD-D58C-4462-AF2C-2E249FFA0C65}"/>
              </a:ext>
            </a:extLst>
          </p:cNvPr>
          <p:cNvSpPr txBox="1"/>
          <p:nvPr/>
        </p:nvSpPr>
        <p:spPr>
          <a:xfrm>
            <a:off x="955233" y="1691600"/>
            <a:ext cx="4066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Based on the KMP algorithm</a:t>
            </a:r>
            <a:endParaRPr lang="zh-TW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69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kumimoji="1"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TW" dirty="0">
                    <a:latin typeface="Times" pitchFamily="2" charset="0"/>
                  </a:rPr>
                  <a:t> Algorithm</a:t>
                </a:r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C595A6F-0825-46E9-BA39-A8E64FBD1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654" y="2271735"/>
            <a:ext cx="7564692" cy="4292325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E3EC31E-300B-48D2-A9AF-EE94AC183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577844"/>
              </p:ext>
            </p:extLst>
          </p:nvPr>
        </p:nvGraphicFramePr>
        <p:xfrm>
          <a:off x="3618271" y="1479255"/>
          <a:ext cx="2989008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26">
                  <a:extLst>
                    <a:ext uri="{9D8B030D-6E8A-4147-A177-3AD203B41FA5}">
                      <a16:colId xmlns:a16="http://schemas.microsoft.com/office/drawing/2014/main" val="3590171900"/>
                    </a:ext>
                  </a:extLst>
                </a:gridCol>
                <a:gridCol w="373626">
                  <a:extLst>
                    <a:ext uri="{9D8B030D-6E8A-4147-A177-3AD203B41FA5}">
                      <a16:colId xmlns:a16="http://schemas.microsoft.com/office/drawing/2014/main" val="3517740036"/>
                    </a:ext>
                  </a:extLst>
                </a:gridCol>
                <a:gridCol w="373626">
                  <a:extLst>
                    <a:ext uri="{9D8B030D-6E8A-4147-A177-3AD203B41FA5}">
                      <a16:colId xmlns:a16="http://schemas.microsoft.com/office/drawing/2014/main" val="153330516"/>
                    </a:ext>
                  </a:extLst>
                </a:gridCol>
                <a:gridCol w="373626">
                  <a:extLst>
                    <a:ext uri="{9D8B030D-6E8A-4147-A177-3AD203B41FA5}">
                      <a16:colId xmlns:a16="http://schemas.microsoft.com/office/drawing/2014/main" val="3269270170"/>
                    </a:ext>
                  </a:extLst>
                </a:gridCol>
                <a:gridCol w="373626">
                  <a:extLst>
                    <a:ext uri="{9D8B030D-6E8A-4147-A177-3AD203B41FA5}">
                      <a16:colId xmlns:a16="http://schemas.microsoft.com/office/drawing/2014/main" val="444037126"/>
                    </a:ext>
                  </a:extLst>
                </a:gridCol>
                <a:gridCol w="373626">
                  <a:extLst>
                    <a:ext uri="{9D8B030D-6E8A-4147-A177-3AD203B41FA5}">
                      <a16:colId xmlns:a16="http://schemas.microsoft.com/office/drawing/2014/main" val="4022528890"/>
                    </a:ext>
                  </a:extLst>
                </a:gridCol>
                <a:gridCol w="373626">
                  <a:extLst>
                    <a:ext uri="{9D8B030D-6E8A-4147-A177-3AD203B41FA5}">
                      <a16:colId xmlns:a16="http://schemas.microsoft.com/office/drawing/2014/main" val="3718913817"/>
                    </a:ext>
                  </a:extLst>
                </a:gridCol>
                <a:gridCol w="373626">
                  <a:extLst>
                    <a:ext uri="{9D8B030D-6E8A-4147-A177-3AD203B41FA5}">
                      <a16:colId xmlns:a16="http://schemas.microsoft.com/office/drawing/2014/main" val="2363161608"/>
                    </a:ext>
                  </a:extLst>
                </a:gridCol>
              </a:tblGrid>
              <a:tr h="1357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530558"/>
                  </a:ext>
                </a:extLst>
              </a:tr>
              <a:tr h="1357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799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FD21E01-88FF-417B-AD98-B41198EE4601}"/>
                  </a:ext>
                </a:extLst>
              </p:cNvPr>
              <p:cNvSpPr txBox="1"/>
              <p:nvPr/>
            </p:nvSpPr>
            <p:spPr>
              <a:xfrm>
                <a:off x="2992343" y="1842783"/>
                <a:ext cx="4429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FD21E01-88FF-417B-AD98-B41198EE4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343" y="1842783"/>
                <a:ext cx="44294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185DF09-4A17-4EA4-84A3-69056F6B5976}"/>
                  </a:ext>
                </a:extLst>
              </p:cNvPr>
              <p:cNvSpPr txBox="1"/>
              <p:nvPr/>
            </p:nvSpPr>
            <p:spPr>
              <a:xfrm>
                <a:off x="3033252" y="1413830"/>
                <a:ext cx="3611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185DF09-4A17-4EA4-84A3-69056F6B5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252" y="1413830"/>
                <a:ext cx="36112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42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Time Complexity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B4EB748-0678-4520-8639-6E11DCF986D9}"/>
                  </a:ext>
                </a:extLst>
              </p:cNvPr>
              <p:cNvSpPr txBox="1"/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Prefix representation: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Failure function: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Text search: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B4EB748-0678-4520-8639-6E11DCF98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blipFill>
                <a:blip r:embed="rId3"/>
                <a:stretch>
                  <a:fillRect l="-753" t="-4082" b="-112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3041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The Nearest </a:t>
            </a:r>
            <a:r>
              <a:rPr kumimoji="1" lang="en-US" altLang="zh-TW" dirty="0">
                <a:latin typeface="Times" panose="02020603050405020304" pitchFamily="18" charset="0"/>
                <a:cs typeface="Times" panose="02020603050405020304" pitchFamily="18" charset="0"/>
              </a:rPr>
              <a:t>N</a:t>
            </a:r>
            <a:r>
              <a:rPr lang="en-US" altLang="zh-TW" sz="4400" dirty="0">
                <a:latin typeface="Times" panose="02020603050405020304" pitchFamily="18" charset="0"/>
                <a:cs typeface="Times" panose="02020603050405020304" pitchFamily="18" charset="0"/>
              </a:rPr>
              <a:t>eighbor </a:t>
            </a:r>
            <a:r>
              <a:rPr lang="en-US" altLang="zh-TW" dirty="0">
                <a:latin typeface="Times" panose="02020603050405020304" pitchFamily="18" charset="0"/>
                <a:cs typeface="Times" panose="02020603050405020304" pitchFamily="18" charset="0"/>
              </a:rPr>
              <a:t>R</a:t>
            </a:r>
            <a:r>
              <a:rPr lang="en-US" altLang="zh-TW" sz="4400" dirty="0">
                <a:latin typeface="Times" panose="02020603050405020304" pitchFamily="18" charset="0"/>
                <a:cs typeface="Times" panose="02020603050405020304" pitchFamily="18" charset="0"/>
              </a:rPr>
              <a:t>epresentation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42D10E6D-B496-4861-B4E1-B72572B91D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313105"/>
                  </p:ext>
                </p:extLst>
              </p:nvPr>
            </p:nvGraphicFramePr>
            <p:xfrm>
              <a:off x="1640999" y="1930937"/>
              <a:ext cx="8910000" cy="282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0000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zh-TW" altLang="en-US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166445"/>
                      </a:ext>
                    </a:extLst>
                  </a:tr>
                  <a:tr h="565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42D10E6D-B496-4861-B4E1-B72572B91D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313105"/>
                  </p:ext>
                </p:extLst>
              </p:nvPr>
            </p:nvGraphicFramePr>
            <p:xfrm>
              <a:off x="1640999" y="1930937"/>
              <a:ext cx="8910000" cy="282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0000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1075" r="-803704" b="-4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101075" r="-803704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201075" r="-803704" b="-2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166445"/>
                      </a:ext>
                    </a:extLst>
                  </a:tr>
                  <a:tr h="565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301075" r="-803704" b="-1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1075" r="-698773" b="-1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401075" r="-803704" b="-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01075" r="-698773" b="-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235" t="-401075" r="-603086" b="-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387" t="-401075" r="-499387" b="-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2469" t="-401075" r="-201852" b="-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160" t="-401075" r="-100613" b="-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CA367D3-A235-40E5-8A9D-7736067B4E87}"/>
                  </a:ext>
                </a:extLst>
              </p:cNvPr>
              <p:cNvSpPr txBox="1"/>
              <p:nvPr/>
            </p:nvSpPr>
            <p:spPr>
              <a:xfrm>
                <a:off x="1640999" y="4756937"/>
                <a:ext cx="8927691" cy="85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P</m:t>
                        </m:r>
                      </m:e>
                    </m:d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[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𝑖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: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index of the largest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character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less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P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[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𝑖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]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zh-TW" alt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en-US" altLang="zh-TW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P</m:t>
                        </m:r>
                      </m:e>
                    </m:d>
                    <m:r>
                      <a:rPr lang="en-US" altLang="zh-TW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[</m:t>
                    </m:r>
                    <m:r>
                      <a:rPr lang="en-US" altLang="zh-TW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𝑖</m:t>
                    </m:r>
                    <m:r>
                      <a:rPr lang="en-US" altLang="zh-TW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400" b="0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: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index of the smallest</a:t>
                </a:r>
                <a:r>
                  <a:rPr lang="zh-TW" altLang="en-US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character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greater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dirty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P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[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𝑖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]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CA367D3-A235-40E5-8A9D-7736067B4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999" y="4756937"/>
                <a:ext cx="8927691" cy="859531"/>
              </a:xfrm>
              <a:prstGeom prst="rect">
                <a:avLst/>
              </a:prstGeom>
              <a:blipFill>
                <a:blip r:embed="rId4"/>
                <a:stretch>
                  <a:fillRect t="-5674" b="-156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6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Failure Function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7">
                <a:extLst>
                  <a:ext uri="{FF2B5EF4-FFF2-40B4-BE49-F238E27FC236}">
                    <a16:creationId xmlns:a16="http://schemas.microsoft.com/office/drawing/2014/main" id="{256292E5-A8BB-4177-BCD6-D4A4D9133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4669058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en-US" altLang="zh-TW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7">
                <a:extLst>
                  <a:ext uri="{FF2B5EF4-FFF2-40B4-BE49-F238E27FC236}">
                    <a16:creationId xmlns:a16="http://schemas.microsoft.com/office/drawing/2014/main" id="{256292E5-A8BB-4177-BCD6-D4A4D9133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4669058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1075" r="-803704" b="-4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101075" r="-803704" b="-3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201075" r="-803704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1075" r="-698773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301075" r="-803704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1075" r="-69877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235" t="-301075" r="-603086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387" t="-301075" r="-499387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2469" t="-301075" r="-201852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160" t="-301075" r="-10061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7" t="-401075" r="-803704" b="-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24A1CBB-0DE4-46E5-B9D6-6AE581B92CAC}"/>
                  </a:ext>
                </a:extLst>
              </p:cNvPr>
              <p:cNvSpPr txBox="1"/>
              <p:nvPr/>
            </p:nvSpPr>
            <p:spPr>
              <a:xfrm>
                <a:off x="1641985" y="4607010"/>
                <a:ext cx="233916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∞&lt;33&lt;∞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∞&lt;42&lt;∞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24A1CBB-0DE4-46E5-B9D6-6AE581B92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85" y="4607010"/>
                <a:ext cx="2339167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62DEA79-6760-425F-92C7-82DA4192C8B5}"/>
              </a:ext>
            </a:extLst>
          </p:cNvPr>
          <p:cNvSpPr/>
          <p:nvPr/>
        </p:nvSpPr>
        <p:spPr>
          <a:xfrm>
            <a:off x="2644190" y="2824804"/>
            <a:ext cx="966410" cy="11236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534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Failure Function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51F1726-F435-4FD0-8EA7-4219EA04E4A4}"/>
                  </a:ext>
                </a:extLst>
              </p:cNvPr>
              <p:cNvSpPr txBox="1"/>
              <p:nvPr/>
            </p:nvSpPr>
            <p:spPr>
              <a:xfrm>
                <a:off x="1641985" y="4607010"/>
                <a:ext cx="233916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33&lt;42&lt;∞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42&lt;73&lt;∞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51F1726-F435-4FD0-8EA7-4219EA04E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85" y="4607010"/>
                <a:ext cx="2339167" cy="1200329"/>
              </a:xfrm>
              <a:prstGeom prst="rect">
                <a:avLst/>
              </a:prstGeom>
              <a:blipFill>
                <a:blip r:embed="rId3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BA6A8ADA-4C8D-490B-BA96-52A1EBC2C2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61140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en-US" altLang="zh-TW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BA6A8ADA-4C8D-490B-BA96-52A1EBC2C2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61140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1075" r="-803704" b="-4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101075" r="-803704" b="-3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201075" r="-803704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1075" r="-698773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301075" r="-803704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01075" r="-69877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235" t="-301075" r="-603086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387" t="-301075" r="-499387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2469" t="-301075" r="-201852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60" t="-301075" r="-10061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401075" r="-803704" b="-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731688EB-7D72-4916-A6E1-C0545F94155C}"/>
              </a:ext>
            </a:extLst>
          </p:cNvPr>
          <p:cNvSpPr/>
          <p:nvPr/>
        </p:nvSpPr>
        <p:spPr>
          <a:xfrm>
            <a:off x="3632426" y="2824804"/>
            <a:ext cx="966410" cy="11236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1030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Failure Function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12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8D74B1B-8C05-4AE3-84A1-1A92168D8EE1}"/>
                  </a:ext>
                </a:extLst>
              </p:cNvPr>
              <p:cNvSpPr txBox="1"/>
              <p:nvPr/>
            </p:nvSpPr>
            <p:spPr>
              <a:xfrm>
                <a:off x="1641985" y="4607010"/>
                <a:ext cx="204196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42&lt;73&lt;∞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73&lt;57&lt;∞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8D74B1B-8C05-4AE3-84A1-1A92168D8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85" y="4607010"/>
                <a:ext cx="2041969" cy="830997"/>
              </a:xfrm>
              <a:prstGeom prst="rect">
                <a:avLst/>
              </a:prstGeom>
              <a:blipFill>
                <a:blip r:embed="rId3"/>
                <a:stretch>
                  <a:fillRect l="-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E32D2D73-024E-47F9-A9F8-F1C789C970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57434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en-US" altLang="zh-TW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E32D2D73-024E-47F9-A9F8-F1C789C970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57434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1075" r="-803704" b="-4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101075" r="-803704" b="-3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201075" r="-803704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1075" r="-698773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301075" r="-803704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01075" r="-69877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235" t="-301075" r="-603086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387" t="-301075" r="-499387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2469" t="-301075" r="-201852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60" t="-301075" r="-10061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401075" r="-803704" b="-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173B67D4-9BAD-4914-8FB1-0E57BAA5F166}"/>
              </a:ext>
            </a:extLst>
          </p:cNvPr>
          <p:cNvSpPr/>
          <p:nvPr/>
        </p:nvSpPr>
        <p:spPr>
          <a:xfrm>
            <a:off x="4630307" y="2824804"/>
            <a:ext cx="966410" cy="11236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250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Failure Function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13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8D74B1B-8C05-4AE3-84A1-1A92168D8EE1}"/>
                  </a:ext>
                </a:extLst>
              </p:cNvPr>
              <p:cNvSpPr txBox="1"/>
              <p:nvPr/>
            </p:nvSpPr>
            <p:spPr>
              <a:xfrm>
                <a:off x="1641985" y="4607010"/>
                <a:ext cx="204196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33&lt;42&lt;∞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73&lt;57&lt;∞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8D74B1B-8C05-4AE3-84A1-1A92168D8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85" y="4607010"/>
                <a:ext cx="2041969" cy="830997"/>
              </a:xfrm>
              <a:prstGeom prst="rect">
                <a:avLst/>
              </a:prstGeom>
              <a:blipFill>
                <a:blip r:embed="rId3"/>
                <a:stretch>
                  <a:fillRect l="-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3F5A9C13-2032-46EE-9573-05421BE312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093336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en-US" altLang="zh-TW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3F5A9C13-2032-46EE-9573-05421BE312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093336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1075" r="-803704" b="-4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101075" r="-803704" b="-3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201075" r="-803704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1075" r="-698773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301075" r="-803704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01075" r="-69877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235" t="-301075" r="-603086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387" t="-301075" r="-499387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2469" t="-301075" r="-201852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60" t="-301075" r="-10061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401075" r="-803704" b="-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B558BA9B-A0CB-4ADC-AF48-E12D36A448EB}"/>
              </a:ext>
            </a:extLst>
          </p:cNvPr>
          <p:cNvSpPr/>
          <p:nvPr/>
        </p:nvSpPr>
        <p:spPr>
          <a:xfrm>
            <a:off x="3632426" y="2824804"/>
            <a:ext cx="966410" cy="11236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4995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Failure Function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14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8D74B1B-8C05-4AE3-84A1-1A92168D8EE1}"/>
                  </a:ext>
                </a:extLst>
              </p:cNvPr>
              <p:cNvSpPr txBox="1"/>
              <p:nvPr/>
            </p:nvSpPr>
            <p:spPr>
              <a:xfrm>
                <a:off x="1641985" y="4613803"/>
                <a:ext cx="233916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−∞&lt;33&lt;∞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−∞&lt;57&lt;∞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8D74B1B-8C05-4AE3-84A1-1A92168D8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985" y="4613803"/>
                <a:ext cx="233916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077ED45A-6DB8-41EC-8ECB-137A95B19E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2836615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en-US" altLang="zh-TW" sz="2400" b="0" i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altLang="zh-TW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4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P</m:t>
                                </m:r>
                                <m: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077ED45A-6DB8-41EC-8ECB-137A95B19E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2836615"/>
                  </p:ext>
                </p:extLst>
              </p:nvPr>
            </p:nvGraphicFramePr>
            <p:xfrm>
              <a:off x="1641985" y="1690688"/>
              <a:ext cx="8908029" cy="2828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9781">
                      <a:extLst>
                        <a:ext uri="{9D8B030D-6E8A-4147-A177-3AD203B41FA5}">
                          <a16:colId xmlns:a16="http://schemas.microsoft.com/office/drawing/2014/main" val="3054760787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227218964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7202095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1631032952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78263350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289987465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778925275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4045034618"/>
                        </a:ext>
                      </a:extLst>
                    </a:gridCol>
                    <a:gridCol w="989781">
                      <a:extLst>
                        <a:ext uri="{9D8B030D-6E8A-4147-A177-3AD203B41FA5}">
                          <a16:colId xmlns:a16="http://schemas.microsoft.com/office/drawing/2014/main" val="3793986253"/>
                        </a:ext>
                      </a:extLst>
                    </a:gridCol>
                  </a:tblGrid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1075" r="-803704" b="-4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676429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101075" r="-803704" b="-3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57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87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95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79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7107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201075" r="-803704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1075" r="-698773" b="-2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0167153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301075" r="-803704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01075" r="-69877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235" t="-301075" r="-603086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387" t="-301075" r="-499387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2469" t="-301075" r="-201852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60" t="-301075" r="-100613" b="-1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074611"/>
                      </a:ext>
                    </a:extLst>
                  </a:tr>
                  <a:tr h="56579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" t="-401075" r="-803704" b="-15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4297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9FE50D17-7536-4CF7-8282-4ACDEC35A464}"/>
              </a:ext>
            </a:extLst>
          </p:cNvPr>
          <p:cNvSpPr/>
          <p:nvPr/>
        </p:nvSpPr>
        <p:spPr>
          <a:xfrm>
            <a:off x="2644190" y="2824804"/>
            <a:ext cx="966410" cy="11236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3984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TW" dirty="0">
                    <a:latin typeface="Times" pitchFamily="2" charset="0"/>
                  </a:rPr>
                  <a:t>O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TW" i="1" dirty="0" err="1" smtClean="0">
                        <a:latin typeface="Cambria Math" panose="02040503050406030204" pitchFamily="18" charset="0"/>
                      </a:rPr>
                      <m:t>𝑚</m:t>
                    </m:r>
                    <m:func>
                      <m:funcPr>
                        <m:ctrlPr>
                          <a:rPr kumimoji="1"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en-US" altLang="zh-TW" dirty="0">
                    <a:latin typeface="Times" pitchFamily="2" charset="0"/>
                  </a:rPr>
                  <a:t>Algorithm</a:t>
                </a:r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15</a:t>
            </a:fld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43BC6AC-583A-4826-817E-958380B8DE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4254"/>
          <a:stretch/>
        </p:blipFill>
        <p:spPr>
          <a:xfrm>
            <a:off x="568548" y="2138814"/>
            <a:ext cx="11054904" cy="16149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0B32E1-648E-4DF3-8517-B9889313C7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437432"/>
                  </p:ext>
                </p:extLst>
              </p:nvPr>
            </p:nvGraphicFramePr>
            <p:xfrm>
              <a:off x="2536722" y="3881956"/>
              <a:ext cx="4313736" cy="1406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9217">
                      <a:extLst>
                        <a:ext uri="{9D8B030D-6E8A-4147-A177-3AD203B41FA5}">
                          <a16:colId xmlns:a16="http://schemas.microsoft.com/office/drawing/2014/main" val="46029247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477869026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0256560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885898860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037825813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33250125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22903638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873799081"/>
                        </a:ext>
                      </a:extLst>
                    </a:gridCol>
                  </a:tblGrid>
                  <a:tr h="4687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7304278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1920053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6711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0B32E1-648E-4DF3-8517-B9889313C7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437432"/>
                  </p:ext>
                </p:extLst>
              </p:nvPr>
            </p:nvGraphicFramePr>
            <p:xfrm>
              <a:off x="2536722" y="3881956"/>
              <a:ext cx="4313736" cy="1406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9217">
                      <a:extLst>
                        <a:ext uri="{9D8B030D-6E8A-4147-A177-3AD203B41FA5}">
                          <a16:colId xmlns:a16="http://schemas.microsoft.com/office/drawing/2014/main" val="46029247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477869026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0256560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885898860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037825813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33250125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22903638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873799081"/>
                        </a:ext>
                      </a:extLst>
                    </a:gridCol>
                  </a:tblGrid>
                  <a:tr h="4687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7792" r="-697753" b="-2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7304278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106410" r="-697753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273" t="-106410" r="-605682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6410" r="-498876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4545" t="-106410" r="-203409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7753" t="-106410" r="-101124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1920053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67116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0252B34-3DE1-4AD2-B0CE-68DA1A74F7F0}"/>
                  </a:ext>
                </a:extLst>
              </p:cNvPr>
              <p:cNvSpPr txBox="1"/>
              <p:nvPr/>
            </p:nvSpPr>
            <p:spPr>
              <a:xfrm>
                <a:off x="1363437" y="3841213"/>
                <a:ext cx="1022716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P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0252B34-3DE1-4AD2-B0CE-68DA1A74F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437" y="3841213"/>
                <a:ext cx="1022716" cy="490199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9C862BC-2F35-492B-A28D-70334358BCB7}"/>
                  </a:ext>
                </a:extLst>
              </p:cNvPr>
              <p:cNvSpPr txBox="1"/>
              <p:nvPr/>
            </p:nvSpPr>
            <p:spPr>
              <a:xfrm>
                <a:off x="1363437" y="4331412"/>
                <a:ext cx="10152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P</m:t>
                      </m:r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9C862BC-2F35-492B-A28D-70334358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437" y="4331412"/>
                <a:ext cx="1015278" cy="461665"/>
              </a:xfrm>
              <a:prstGeom prst="rect">
                <a:avLst/>
              </a:prstGeom>
              <a:blipFill>
                <a:blip r:embed="rId7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9E995E-25B8-48AF-AD6E-848546EABD48}"/>
                  </a:ext>
                </a:extLst>
              </p:cNvPr>
              <p:cNvSpPr txBox="1"/>
              <p:nvPr/>
            </p:nvSpPr>
            <p:spPr>
              <a:xfrm>
                <a:off x="1645598" y="4844409"/>
                <a:ext cx="4509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b="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9E995E-25B8-48AF-AD6E-848546EA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598" y="4844409"/>
                <a:ext cx="45095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1CFB725E-6DB7-45CA-810B-E5CBD9D2ADA6}"/>
              </a:ext>
            </a:extLst>
          </p:cNvPr>
          <p:cNvSpPr/>
          <p:nvPr/>
        </p:nvSpPr>
        <p:spPr>
          <a:xfrm>
            <a:off x="2542621" y="3872296"/>
            <a:ext cx="511130" cy="983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A7CF6A0-B76C-48F0-868D-2F1E7790CCD9}"/>
                  </a:ext>
                </a:extLst>
              </p:cNvPr>
              <p:cNvSpPr txBox="1"/>
              <p:nvPr/>
            </p:nvSpPr>
            <p:spPr>
              <a:xfrm>
                <a:off x="1341792" y="5615438"/>
                <a:ext cx="253864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∞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&lt;11&lt;∞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∞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&lt;33&lt;∞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A7CF6A0-B76C-48F0-868D-2F1E7790C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792" y="5615438"/>
                <a:ext cx="2538644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11">
            <a:extLst>
              <a:ext uri="{FF2B5EF4-FFF2-40B4-BE49-F238E27FC236}">
                <a16:creationId xmlns:a16="http://schemas.microsoft.com/office/drawing/2014/main" id="{53EB4FD8-6740-42E1-9D2D-214E635CD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595589"/>
              </p:ext>
            </p:extLst>
          </p:nvPr>
        </p:nvGraphicFramePr>
        <p:xfrm>
          <a:off x="2536722" y="1700348"/>
          <a:ext cx="431373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217">
                  <a:extLst>
                    <a:ext uri="{9D8B030D-6E8A-4147-A177-3AD203B41FA5}">
                      <a16:colId xmlns:a16="http://schemas.microsoft.com/office/drawing/2014/main" val="2359330374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1585417070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141694913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2285120425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203722406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882710157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2081012781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272568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5977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39350E9-2EC2-4709-AF1A-06B739F7852C}"/>
                  </a:ext>
                </a:extLst>
              </p:cNvPr>
              <p:cNvSpPr txBox="1"/>
              <p:nvPr/>
            </p:nvSpPr>
            <p:spPr>
              <a:xfrm>
                <a:off x="1782846" y="1742193"/>
                <a:ext cx="1764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39350E9-2EC2-4709-AF1A-06B739F78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46" y="1742193"/>
                <a:ext cx="176459" cy="369332"/>
              </a:xfrm>
              <a:prstGeom prst="rect">
                <a:avLst/>
              </a:prstGeom>
              <a:blipFill>
                <a:blip r:embed="rId10"/>
                <a:stretch>
                  <a:fillRect l="-37931" r="-37931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B2D7FFF7-1C67-4EF4-A959-8D90DDC446E1}"/>
              </a:ext>
            </a:extLst>
          </p:cNvPr>
          <p:cNvSpPr/>
          <p:nvPr/>
        </p:nvSpPr>
        <p:spPr>
          <a:xfrm>
            <a:off x="2536722" y="2392178"/>
            <a:ext cx="4313736" cy="48577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3EF6F70-7347-4249-BD02-79E19A3AD85B}"/>
                  </a:ext>
                </a:extLst>
              </p:cNvPr>
              <p:cNvSpPr txBox="1"/>
              <p:nvPr/>
            </p:nvSpPr>
            <p:spPr>
              <a:xfrm>
                <a:off x="1344778" y="2450398"/>
                <a:ext cx="103393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[1..8]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53EF6F70-7347-4249-BD02-79E19A3AD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778" y="2450398"/>
                <a:ext cx="1033937" cy="369332"/>
              </a:xfrm>
              <a:prstGeom prst="rect">
                <a:avLst/>
              </a:prstGeom>
              <a:blipFill>
                <a:blip r:embed="rId11"/>
                <a:stretch>
                  <a:fillRect l="-7101" r="-10651" b="-32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6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TW" dirty="0">
                    <a:latin typeface="Times" pitchFamily="2" charset="0"/>
                  </a:rPr>
                  <a:t>O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TW" i="1" dirty="0" err="1" smtClean="0">
                        <a:latin typeface="Cambria Math" panose="02040503050406030204" pitchFamily="18" charset="0"/>
                      </a:rPr>
                      <m:t>𝑚</m:t>
                    </m:r>
                    <m:func>
                      <m:funcPr>
                        <m:ctrlPr>
                          <a:rPr kumimoji="1"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en-US" altLang="zh-TW" dirty="0">
                    <a:latin typeface="Times" pitchFamily="2" charset="0"/>
                  </a:rPr>
                  <a:t>Algorithm</a:t>
                </a:r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16</a:t>
            </a:fld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43BC6AC-583A-4826-817E-958380B8DE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4254"/>
          <a:stretch/>
        </p:blipFill>
        <p:spPr>
          <a:xfrm>
            <a:off x="568548" y="2143710"/>
            <a:ext cx="11054904" cy="16149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0B32E1-648E-4DF3-8517-B9889313C7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1400794"/>
                  </p:ext>
                </p:extLst>
              </p:nvPr>
            </p:nvGraphicFramePr>
            <p:xfrm>
              <a:off x="2536722" y="3886852"/>
              <a:ext cx="4313736" cy="1406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9217">
                      <a:extLst>
                        <a:ext uri="{9D8B030D-6E8A-4147-A177-3AD203B41FA5}">
                          <a16:colId xmlns:a16="http://schemas.microsoft.com/office/drawing/2014/main" val="46029247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477869026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0256560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885898860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037825813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33250125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22903638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873799081"/>
                        </a:ext>
                      </a:extLst>
                    </a:gridCol>
                  </a:tblGrid>
                  <a:tr h="4687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7304278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1920053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6711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0B32E1-648E-4DF3-8517-B9889313C7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1400794"/>
                  </p:ext>
                </p:extLst>
              </p:nvPr>
            </p:nvGraphicFramePr>
            <p:xfrm>
              <a:off x="2536722" y="3886852"/>
              <a:ext cx="4313736" cy="1406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9217">
                      <a:extLst>
                        <a:ext uri="{9D8B030D-6E8A-4147-A177-3AD203B41FA5}">
                          <a16:colId xmlns:a16="http://schemas.microsoft.com/office/drawing/2014/main" val="46029247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477869026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0256560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885898860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037825813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33250125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22903638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873799081"/>
                        </a:ext>
                      </a:extLst>
                    </a:gridCol>
                  </a:tblGrid>
                  <a:tr h="4687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7792" r="-697753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7304278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24" t="-106410" r="-697753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273" t="-106410" r="-605682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6410" r="-498876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4545" t="-106410" r="-203409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7753" t="-106410" r="-101124" b="-125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1920053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67116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0252B34-3DE1-4AD2-B0CE-68DA1A74F7F0}"/>
                  </a:ext>
                </a:extLst>
              </p:cNvPr>
              <p:cNvSpPr txBox="1"/>
              <p:nvPr/>
            </p:nvSpPr>
            <p:spPr>
              <a:xfrm>
                <a:off x="1363437" y="3846109"/>
                <a:ext cx="1009379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P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0252B34-3DE1-4AD2-B0CE-68DA1A74F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437" y="3846109"/>
                <a:ext cx="1009379" cy="490199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9C862BC-2F35-492B-A28D-70334358BCB7}"/>
                  </a:ext>
                </a:extLst>
              </p:cNvPr>
              <p:cNvSpPr txBox="1"/>
              <p:nvPr/>
            </p:nvSpPr>
            <p:spPr>
              <a:xfrm>
                <a:off x="1363437" y="4336308"/>
                <a:ext cx="10152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P</m:t>
                      </m:r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9C862BC-2F35-492B-A28D-70334358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437" y="4336308"/>
                <a:ext cx="1015278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9E995E-25B8-48AF-AD6E-848546EABD48}"/>
                  </a:ext>
                </a:extLst>
              </p:cNvPr>
              <p:cNvSpPr txBox="1"/>
              <p:nvPr/>
            </p:nvSpPr>
            <p:spPr>
              <a:xfrm>
                <a:off x="1645598" y="4849305"/>
                <a:ext cx="4509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b="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9E995E-25B8-48AF-AD6E-848546EA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598" y="4849305"/>
                <a:ext cx="45095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1CFB725E-6DB7-45CA-810B-E5CBD9D2ADA6}"/>
              </a:ext>
            </a:extLst>
          </p:cNvPr>
          <p:cNvSpPr/>
          <p:nvPr/>
        </p:nvSpPr>
        <p:spPr>
          <a:xfrm>
            <a:off x="5788676" y="3861855"/>
            <a:ext cx="511130" cy="983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1AF8344-9FEF-4E5E-925E-5091AE301AFD}"/>
                  </a:ext>
                </a:extLst>
              </p:cNvPr>
              <p:cNvSpPr txBox="1"/>
              <p:nvPr/>
            </p:nvSpPr>
            <p:spPr>
              <a:xfrm>
                <a:off x="1341792" y="5620334"/>
                <a:ext cx="238796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50&lt;29&lt;∞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87&lt;95&lt;∞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1AF8344-9FEF-4E5E-925E-5091AE301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792" y="5620334"/>
                <a:ext cx="2387961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B92BD46-4BD7-4B95-85B6-F2621B96E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169904"/>
              </p:ext>
            </p:extLst>
          </p:nvPr>
        </p:nvGraphicFramePr>
        <p:xfrm>
          <a:off x="2536722" y="1690688"/>
          <a:ext cx="431373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217">
                  <a:extLst>
                    <a:ext uri="{9D8B030D-6E8A-4147-A177-3AD203B41FA5}">
                      <a16:colId xmlns:a16="http://schemas.microsoft.com/office/drawing/2014/main" val="2359330374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1585417070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141694913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2285120425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203722406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882710157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2081012781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272568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5977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1DEBA1A-3520-40E5-A4D0-3C0E7152C12E}"/>
                  </a:ext>
                </a:extLst>
              </p:cNvPr>
              <p:cNvSpPr txBox="1"/>
              <p:nvPr/>
            </p:nvSpPr>
            <p:spPr>
              <a:xfrm>
                <a:off x="1782846" y="1732533"/>
                <a:ext cx="1764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1DEBA1A-3520-40E5-A4D0-3C0E7152C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46" y="1732533"/>
                <a:ext cx="176459" cy="369332"/>
              </a:xfrm>
              <a:prstGeom prst="rect">
                <a:avLst/>
              </a:prstGeom>
              <a:blipFill>
                <a:blip r:embed="rId10"/>
                <a:stretch>
                  <a:fillRect l="-37931" r="-37931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9E91402F-483B-4E66-B966-46824ABDDCD3}"/>
              </a:ext>
            </a:extLst>
          </p:cNvPr>
          <p:cNvSpPr/>
          <p:nvPr/>
        </p:nvSpPr>
        <p:spPr>
          <a:xfrm>
            <a:off x="2536722" y="2382346"/>
            <a:ext cx="4313736" cy="48577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F558C39-2971-4E66-BD6A-685802E8E932}"/>
                  </a:ext>
                </a:extLst>
              </p:cNvPr>
              <p:cNvSpPr txBox="1"/>
              <p:nvPr/>
            </p:nvSpPr>
            <p:spPr>
              <a:xfrm>
                <a:off x="1344778" y="2440566"/>
                <a:ext cx="103393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[1..8]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F558C39-2971-4E66-BD6A-685802E8E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778" y="2440566"/>
                <a:ext cx="1033937" cy="369332"/>
              </a:xfrm>
              <a:prstGeom prst="rect">
                <a:avLst/>
              </a:prstGeom>
              <a:blipFill>
                <a:blip r:embed="rId5"/>
                <a:stretch>
                  <a:fillRect l="-7101" r="-10651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735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TW" dirty="0">
                    <a:latin typeface="Times" pitchFamily="2" charset="0"/>
                  </a:rPr>
                  <a:t>O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TW" i="1" dirty="0" err="1" smtClean="0">
                        <a:latin typeface="Cambria Math" panose="02040503050406030204" pitchFamily="18" charset="0"/>
                      </a:rPr>
                      <m:t>𝑚</m:t>
                    </m:r>
                    <m:func>
                      <m:funcPr>
                        <m:ctrlPr>
                          <a:rPr kumimoji="1"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en-US" altLang="zh-TW" dirty="0">
                    <a:latin typeface="Times" pitchFamily="2" charset="0"/>
                  </a:rPr>
                  <a:t>Algorithm</a:t>
                </a:r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17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0B32E1-648E-4DF3-8517-B9889313C7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380959"/>
                  </p:ext>
                </p:extLst>
              </p:nvPr>
            </p:nvGraphicFramePr>
            <p:xfrm>
              <a:off x="4139383" y="3891030"/>
              <a:ext cx="4313736" cy="1406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9217">
                      <a:extLst>
                        <a:ext uri="{9D8B030D-6E8A-4147-A177-3AD203B41FA5}">
                          <a16:colId xmlns:a16="http://schemas.microsoft.com/office/drawing/2014/main" val="46029247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477869026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0256560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885898860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037825813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33250125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22903638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873799081"/>
                        </a:ext>
                      </a:extLst>
                    </a:gridCol>
                  </a:tblGrid>
                  <a:tr h="4687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7304278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1920053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6711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0B32E1-648E-4DF3-8517-B9889313C7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380959"/>
                  </p:ext>
                </p:extLst>
              </p:nvPr>
            </p:nvGraphicFramePr>
            <p:xfrm>
              <a:off x="4139383" y="3891030"/>
              <a:ext cx="4313736" cy="1406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9217">
                      <a:extLst>
                        <a:ext uri="{9D8B030D-6E8A-4147-A177-3AD203B41FA5}">
                          <a16:colId xmlns:a16="http://schemas.microsoft.com/office/drawing/2014/main" val="46029247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477869026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0256560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885898860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037825813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33250125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22903638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873799081"/>
                        </a:ext>
                      </a:extLst>
                    </a:gridCol>
                  </a:tblGrid>
                  <a:tr h="4687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47" t="-9091" r="-697753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7304278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47" t="-109091" r="-697753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409" t="-109091" r="-605682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24" t="-109091" r="-498876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5682" t="-109091" r="-203409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8876" t="-109091" r="-101124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1920053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67116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0252B34-3DE1-4AD2-B0CE-68DA1A74F7F0}"/>
                  </a:ext>
                </a:extLst>
              </p:cNvPr>
              <p:cNvSpPr txBox="1"/>
              <p:nvPr/>
            </p:nvSpPr>
            <p:spPr>
              <a:xfrm>
                <a:off x="1363437" y="3850287"/>
                <a:ext cx="1009379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P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0252B34-3DE1-4AD2-B0CE-68DA1A74F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437" y="3850287"/>
                <a:ext cx="1009379" cy="490199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9C862BC-2F35-492B-A28D-70334358BCB7}"/>
                  </a:ext>
                </a:extLst>
              </p:cNvPr>
              <p:cNvSpPr txBox="1"/>
              <p:nvPr/>
            </p:nvSpPr>
            <p:spPr>
              <a:xfrm>
                <a:off x="1363437" y="4340486"/>
                <a:ext cx="10152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P</m:t>
                      </m:r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9C862BC-2F35-492B-A28D-70334358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437" y="4340486"/>
                <a:ext cx="1015278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9E995E-25B8-48AF-AD6E-848546EABD48}"/>
                  </a:ext>
                </a:extLst>
              </p:cNvPr>
              <p:cNvSpPr txBox="1"/>
              <p:nvPr/>
            </p:nvSpPr>
            <p:spPr>
              <a:xfrm>
                <a:off x="1645598" y="4853483"/>
                <a:ext cx="4509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b="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9E995E-25B8-48AF-AD6E-848546EA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598" y="4853483"/>
                <a:ext cx="45095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1AF8344-9FEF-4E5E-925E-5091AE301AFD}"/>
                  </a:ext>
                </a:extLst>
              </p:cNvPr>
              <p:cNvSpPr txBox="1"/>
              <p:nvPr/>
            </p:nvSpPr>
            <p:spPr>
              <a:xfrm>
                <a:off x="1341792" y="5624512"/>
                <a:ext cx="247529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24&lt;29&lt;50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42&lt;57&lt;73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1AF8344-9FEF-4E5E-925E-5091AE301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792" y="5624512"/>
                <a:ext cx="2475293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36477C3A-81F4-42F7-A299-E8CEB54EB7BD}"/>
              </a:ext>
            </a:extLst>
          </p:cNvPr>
          <p:cNvGrpSpPr/>
          <p:nvPr/>
        </p:nvGrpSpPr>
        <p:grpSpPr>
          <a:xfrm>
            <a:off x="568548" y="2147888"/>
            <a:ext cx="11054904" cy="1671985"/>
            <a:chOff x="568548" y="1690688"/>
            <a:chExt cx="11054904" cy="167198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F43BC6AC-583A-4826-817E-958380B8D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74254"/>
            <a:stretch/>
          </p:blipFill>
          <p:spPr>
            <a:xfrm>
              <a:off x="568548" y="1690688"/>
              <a:ext cx="11054904" cy="161498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BB993C7-0934-4BAD-BC1C-0712C2315AC4}"/>
                </a:ext>
              </a:extLst>
            </p:cNvPr>
            <p:cNvSpPr/>
            <p:nvPr/>
          </p:nvSpPr>
          <p:spPr>
            <a:xfrm>
              <a:off x="2226700" y="2563450"/>
              <a:ext cx="4623758" cy="7359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DF98D1C8-25E2-4E79-BBE0-8971F9A9A8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6264" t="13046" r="41911" b="73706"/>
            <a:stretch/>
          </p:blipFill>
          <p:spPr>
            <a:xfrm>
              <a:off x="3977010" y="2531677"/>
              <a:ext cx="4623758" cy="830996"/>
            </a:xfrm>
            <a:prstGeom prst="rect">
              <a:avLst/>
            </a:prstGeom>
          </p:spPr>
        </p:pic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3A1BB66C-7A07-42C2-8B99-7C13A5D8FCD7}"/>
              </a:ext>
            </a:extLst>
          </p:cNvPr>
          <p:cNvSpPr/>
          <p:nvPr/>
        </p:nvSpPr>
        <p:spPr>
          <a:xfrm>
            <a:off x="5769012" y="3875865"/>
            <a:ext cx="511130" cy="983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1">
            <a:extLst>
              <a:ext uri="{FF2B5EF4-FFF2-40B4-BE49-F238E27FC236}">
                <a16:creationId xmlns:a16="http://schemas.microsoft.com/office/drawing/2014/main" id="{097497A9-DDBC-424C-8BAE-28ED04DB3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387333"/>
              </p:ext>
            </p:extLst>
          </p:nvPr>
        </p:nvGraphicFramePr>
        <p:xfrm>
          <a:off x="4139383" y="1690688"/>
          <a:ext cx="431373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217">
                  <a:extLst>
                    <a:ext uri="{9D8B030D-6E8A-4147-A177-3AD203B41FA5}">
                      <a16:colId xmlns:a16="http://schemas.microsoft.com/office/drawing/2014/main" val="2359330374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1585417070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141694913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2285120425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203722406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882710157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2081012781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272568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5977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B584833-074E-4435-A30C-2A427272E26F}"/>
                  </a:ext>
                </a:extLst>
              </p:cNvPr>
              <p:cNvSpPr txBox="1"/>
              <p:nvPr/>
            </p:nvSpPr>
            <p:spPr>
              <a:xfrm>
                <a:off x="1782846" y="1732533"/>
                <a:ext cx="1764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B584833-074E-4435-A30C-2A427272E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46" y="1732533"/>
                <a:ext cx="176459" cy="369332"/>
              </a:xfrm>
              <a:prstGeom prst="rect">
                <a:avLst/>
              </a:prstGeom>
              <a:blipFill>
                <a:blip r:embed="rId10"/>
                <a:stretch>
                  <a:fillRect l="-37931" r="-37931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CF259129-3757-41E0-96E6-BB00221858F1}"/>
              </a:ext>
            </a:extLst>
          </p:cNvPr>
          <p:cNvSpPr/>
          <p:nvPr/>
        </p:nvSpPr>
        <p:spPr>
          <a:xfrm>
            <a:off x="4139383" y="2369712"/>
            <a:ext cx="4313736" cy="48577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E80ED2D-1864-4CA4-AD44-061A413310EF}"/>
                  </a:ext>
                </a:extLst>
              </p:cNvPr>
              <p:cNvSpPr txBox="1"/>
              <p:nvPr/>
            </p:nvSpPr>
            <p:spPr>
              <a:xfrm>
                <a:off x="1266198" y="2431669"/>
                <a:ext cx="120385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[4..11]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E80ED2D-1864-4CA4-AD44-061A41331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198" y="2431669"/>
                <a:ext cx="1203856" cy="369332"/>
              </a:xfrm>
              <a:prstGeom prst="rect">
                <a:avLst/>
              </a:prstGeom>
              <a:blipFill>
                <a:blip r:embed="rId11"/>
                <a:stretch>
                  <a:fillRect l="-5584" r="-913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73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TW" dirty="0">
                    <a:latin typeface="Times" pitchFamily="2" charset="0"/>
                  </a:rPr>
                  <a:t>O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TW" i="1" dirty="0" err="1" smtClean="0">
                        <a:latin typeface="Cambria Math" panose="02040503050406030204" pitchFamily="18" charset="0"/>
                      </a:rPr>
                      <m:t>𝑚</m:t>
                    </m:r>
                    <m:func>
                      <m:funcPr>
                        <m:ctrlPr>
                          <a:rPr kumimoji="1"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en-US" altLang="zh-TW" dirty="0">
                    <a:latin typeface="Times" pitchFamily="2" charset="0"/>
                  </a:rPr>
                  <a:t>Algorithm</a:t>
                </a:r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18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0B32E1-648E-4DF3-8517-B9889313C7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3046850"/>
                  </p:ext>
                </p:extLst>
              </p:nvPr>
            </p:nvGraphicFramePr>
            <p:xfrm>
              <a:off x="4146589" y="3891030"/>
              <a:ext cx="4313736" cy="1406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9217">
                      <a:extLst>
                        <a:ext uri="{9D8B030D-6E8A-4147-A177-3AD203B41FA5}">
                          <a16:colId xmlns:a16="http://schemas.microsoft.com/office/drawing/2014/main" val="46029247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477869026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0256560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885898860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037825813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33250125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22903638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873799081"/>
                        </a:ext>
                      </a:extLst>
                    </a:gridCol>
                  </a:tblGrid>
                  <a:tr h="4687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−</m:t>
                                </m:r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7304278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1920053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6711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0B32E1-648E-4DF3-8517-B9889313C7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3046850"/>
                  </p:ext>
                </p:extLst>
              </p:nvPr>
            </p:nvGraphicFramePr>
            <p:xfrm>
              <a:off x="4146589" y="3891030"/>
              <a:ext cx="4313736" cy="1406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9217">
                      <a:extLst>
                        <a:ext uri="{9D8B030D-6E8A-4147-A177-3AD203B41FA5}">
                          <a16:colId xmlns:a16="http://schemas.microsoft.com/office/drawing/2014/main" val="46029247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477869026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02565604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885898860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3037825813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33250125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1822903638"/>
                        </a:ext>
                      </a:extLst>
                    </a:gridCol>
                    <a:gridCol w="539217">
                      <a:extLst>
                        <a:ext uri="{9D8B030D-6E8A-4147-A177-3AD203B41FA5}">
                          <a16:colId xmlns:a16="http://schemas.microsoft.com/office/drawing/2014/main" val="873799081"/>
                        </a:ext>
                      </a:extLst>
                    </a:gridCol>
                  </a:tblGrid>
                  <a:tr h="4687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24" t="-9091" r="-697753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4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7304278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24" t="-109091" r="-697753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273" t="-109091" r="-605682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9091" r="-498876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4545" t="-109091" r="-203409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7753" t="-109091" r="-101124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6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1920053"/>
                      </a:ext>
                    </a:extLst>
                  </a:tr>
                  <a:tr h="4687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3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67116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0252B34-3DE1-4AD2-B0CE-68DA1A74F7F0}"/>
                  </a:ext>
                </a:extLst>
              </p:cNvPr>
              <p:cNvSpPr txBox="1"/>
              <p:nvPr/>
            </p:nvSpPr>
            <p:spPr>
              <a:xfrm>
                <a:off x="1370643" y="3850287"/>
                <a:ext cx="1009379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P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0252B34-3DE1-4AD2-B0CE-68DA1A74F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643" y="3850287"/>
                <a:ext cx="1009379" cy="490199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9C862BC-2F35-492B-A28D-70334358BCB7}"/>
                  </a:ext>
                </a:extLst>
              </p:cNvPr>
              <p:cNvSpPr txBox="1"/>
              <p:nvPr/>
            </p:nvSpPr>
            <p:spPr>
              <a:xfrm>
                <a:off x="1370643" y="4340486"/>
                <a:ext cx="10152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P</m:t>
                      </m:r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9C862BC-2F35-492B-A28D-70334358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643" y="4340486"/>
                <a:ext cx="1015278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9E995E-25B8-48AF-AD6E-848546EABD48}"/>
                  </a:ext>
                </a:extLst>
              </p:cNvPr>
              <p:cNvSpPr txBox="1"/>
              <p:nvPr/>
            </p:nvSpPr>
            <p:spPr>
              <a:xfrm>
                <a:off x="1652804" y="4853483"/>
                <a:ext cx="4509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b="0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3F9E995E-25B8-48AF-AD6E-848546EAB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804" y="4853483"/>
                <a:ext cx="45095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1AF8344-9FEF-4E5E-925E-5091AE301AFD}"/>
                  </a:ext>
                </a:extLst>
              </p:cNvPr>
              <p:cNvSpPr txBox="1"/>
              <p:nvPr/>
            </p:nvSpPr>
            <p:spPr>
              <a:xfrm>
                <a:off x="1348998" y="5624512"/>
                <a:ext cx="245977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50&lt;63&lt;73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73&lt;79&lt;87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1AF8344-9FEF-4E5E-925E-5091AE301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998" y="5624512"/>
                <a:ext cx="2459776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36477C3A-81F4-42F7-A299-E8CEB54EB7BD}"/>
              </a:ext>
            </a:extLst>
          </p:cNvPr>
          <p:cNvGrpSpPr/>
          <p:nvPr/>
        </p:nvGrpSpPr>
        <p:grpSpPr>
          <a:xfrm>
            <a:off x="575754" y="2147888"/>
            <a:ext cx="11054904" cy="1671985"/>
            <a:chOff x="568548" y="1690688"/>
            <a:chExt cx="11054904" cy="167198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F43BC6AC-583A-4826-817E-958380B8D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74254"/>
            <a:stretch/>
          </p:blipFill>
          <p:spPr>
            <a:xfrm>
              <a:off x="568548" y="1690688"/>
              <a:ext cx="11054904" cy="161498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BB993C7-0934-4BAD-BC1C-0712C2315AC4}"/>
                </a:ext>
              </a:extLst>
            </p:cNvPr>
            <p:cNvSpPr/>
            <p:nvPr/>
          </p:nvSpPr>
          <p:spPr>
            <a:xfrm>
              <a:off x="2226700" y="2563450"/>
              <a:ext cx="4623758" cy="7359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DF98D1C8-25E2-4E79-BBE0-8971F9A9A8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6264" t="13046" r="41911" b="73706"/>
            <a:stretch/>
          </p:blipFill>
          <p:spPr>
            <a:xfrm>
              <a:off x="3977010" y="2531677"/>
              <a:ext cx="4623758" cy="830996"/>
            </a:xfrm>
            <a:prstGeom prst="rect">
              <a:avLst/>
            </a:prstGeom>
          </p:spPr>
        </p:pic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3A1BB66C-7A07-42C2-8B99-7C13A5D8FCD7}"/>
              </a:ext>
            </a:extLst>
          </p:cNvPr>
          <p:cNvSpPr/>
          <p:nvPr/>
        </p:nvSpPr>
        <p:spPr>
          <a:xfrm>
            <a:off x="7914380" y="3875865"/>
            <a:ext cx="511130" cy="983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1">
            <a:extLst>
              <a:ext uri="{FF2B5EF4-FFF2-40B4-BE49-F238E27FC236}">
                <a16:creationId xmlns:a16="http://schemas.microsoft.com/office/drawing/2014/main" id="{1BBBC36E-5BAE-4961-87D5-D0E699CC0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745401"/>
              </p:ext>
            </p:extLst>
          </p:nvPr>
        </p:nvGraphicFramePr>
        <p:xfrm>
          <a:off x="4146589" y="1690688"/>
          <a:ext cx="431373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217">
                  <a:extLst>
                    <a:ext uri="{9D8B030D-6E8A-4147-A177-3AD203B41FA5}">
                      <a16:colId xmlns:a16="http://schemas.microsoft.com/office/drawing/2014/main" val="2359330374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1585417070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141694913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2285120425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203722406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882710157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2081012781"/>
                    </a:ext>
                  </a:extLst>
                </a:gridCol>
                <a:gridCol w="539217">
                  <a:extLst>
                    <a:ext uri="{9D8B030D-6E8A-4147-A177-3AD203B41FA5}">
                      <a16:colId xmlns:a16="http://schemas.microsoft.com/office/drawing/2014/main" val="4272568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5977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1181E66-18EB-4288-9FCE-143122CCE9C0}"/>
                  </a:ext>
                </a:extLst>
              </p:cNvPr>
              <p:cNvSpPr txBox="1"/>
              <p:nvPr/>
            </p:nvSpPr>
            <p:spPr>
              <a:xfrm>
                <a:off x="1782846" y="1732533"/>
                <a:ext cx="1764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1181E66-18EB-4288-9FCE-143122CCE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46" y="1732533"/>
                <a:ext cx="176459" cy="369332"/>
              </a:xfrm>
              <a:prstGeom prst="rect">
                <a:avLst/>
              </a:prstGeom>
              <a:blipFill>
                <a:blip r:embed="rId10"/>
                <a:stretch>
                  <a:fillRect l="-37931" r="-37931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D35A02A2-AF13-416A-8C86-30A0A82EFB16}"/>
              </a:ext>
            </a:extLst>
          </p:cNvPr>
          <p:cNvSpPr/>
          <p:nvPr/>
        </p:nvSpPr>
        <p:spPr>
          <a:xfrm>
            <a:off x="4139383" y="2369712"/>
            <a:ext cx="4313736" cy="48577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2C3ED2C-53ED-4284-98B9-958F8AE0B6CE}"/>
                  </a:ext>
                </a:extLst>
              </p:cNvPr>
              <p:cNvSpPr txBox="1"/>
              <p:nvPr/>
            </p:nvSpPr>
            <p:spPr>
              <a:xfrm>
                <a:off x="1266198" y="2431669"/>
                <a:ext cx="120385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[4..11]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2C3ED2C-53ED-4284-98B9-958F8AE0B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198" y="2431669"/>
                <a:ext cx="1203856" cy="369332"/>
              </a:xfrm>
              <a:prstGeom prst="rect">
                <a:avLst/>
              </a:prstGeom>
              <a:blipFill>
                <a:blip r:embed="rId4"/>
                <a:stretch>
                  <a:fillRect l="-5584" r="-9137" b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261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Time Complexity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19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1325443-C856-4A3D-84DB-52C8654481BD}"/>
                  </a:ext>
                </a:extLst>
              </p:cNvPr>
              <p:cNvSpPr txBox="1"/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The nearest neighbor representation: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Failure function: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Text search: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1325443-C856-4A3D-84DB-52C865448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blipFill>
                <a:blip r:embed="rId3"/>
                <a:stretch>
                  <a:fillRect l="-753" t="-4082" b="-112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290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zh-TW" altLang="en-US" i="0" dirty="0">
                    <a:latin typeface="Times" panose="02020603050405020304" pitchFamily="18" charset="0"/>
                    <a:cs typeface="Times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kumimoji="1"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en-US" altLang="zh-TW" dirty="0">
                    <a:latin typeface="Times" pitchFamily="2" charset="0"/>
                  </a:rPr>
                  <a:t>Algorithm for Multiple Patterns</a:t>
                </a:r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20</a:t>
            </a:fld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69868F-315C-4208-891E-AF1369A7B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713" y="2270849"/>
            <a:ext cx="8820571" cy="389163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19C4874-5A24-4845-B64E-242A1BA21EC5}"/>
              </a:ext>
            </a:extLst>
          </p:cNvPr>
          <p:cNvSpPr txBox="1"/>
          <p:nvPr/>
        </p:nvSpPr>
        <p:spPr>
          <a:xfrm>
            <a:off x="955233" y="1691600"/>
            <a:ext cx="5140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Based on the 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Aho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–</a:t>
            </a:r>
            <a:r>
              <a:rPr lang="en-US" altLang="zh-TW" sz="2400" dirty="0" err="1">
                <a:latin typeface="Times" panose="02020603050405020304" pitchFamily="18" charset="0"/>
                <a:cs typeface="Times" panose="02020603050405020304" pitchFamily="18" charset="0"/>
              </a:rPr>
              <a:t>Corasick</a:t>
            </a: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 algorithm</a:t>
            </a:r>
            <a:endParaRPr lang="zh-TW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E6E7F6E-C5E8-4E95-9C17-588DE0F34462}"/>
                  </a:ext>
                </a:extLst>
              </p:cNvPr>
              <p:cNvSpPr txBox="1"/>
              <p:nvPr/>
            </p:nvSpPr>
            <p:spPr>
              <a:xfrm>
                <a:off x="1685713" y="5292546"/>
                <a:ext cx="32056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1, 2, 1, 4, 4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1, 2, 1, 4, 5, 6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1, 2, 3, 4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E6E7F6E-C5E8-4E95-9C17-588DE0F34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713" y="5292546"/>
                <a:ext cx="3205686" cy="1200329"/>
              </a:xfrm>
              <a:prstGeom prst="rect">
                <a:avLst/>
              </a:prstGeom>
              <a:blipFill>
                <a:blip r:embed="rId5"/>
                <a:stretch>
                  <a:fillRect l="-571" b="-2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951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Failure Function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21</a:t>
            </a:fld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3D9E20C-A917-4F0B-BCFC-9744C80A9F51}"/>
              </a:ext>
            </a:extLst>
          </p:cNvPr>
          <p:cNvSpPr txBox="1"/>
          <p:nvPr/>
        </p:nvSpPr>
        <p:spPr>
          <a:xfrm>
            <a:off x="838200" y="1637235"/>
            <a:ext cx="10133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Find the longest proper suffix which is a proper prefix of some pattern.</a:t>
            </a:r>
            <a:endParaRPr lang="zh-TW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1397BA20-C0E4-4017-BEE5-5CF644D4E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713" y="2270849"/>
            <a:ext cx="8820571" cy="38916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A72727F-BABE-40CA-A32D-DCE1D70AEA0F}"/>
                  </a:ext>
                </a:extLst>
              </p:cNvPr>
              <p:cNvSpPr txBox="1"/>
              <p:nvPr/>
            </p:nvSpPr>
            <p:spPr>
              <a:xfrm>
                <a:off x="838200" y="5288399"/>
                <a:ext cx="328634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P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1..2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  <a:cs typeface="Times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3..4</m:t>
                              </m:r>
                            </m:e>
                          </m:d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=(1, 2)</m:t>
                      </m:r>
                    </m:oMath>
                  </m:oMathPara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A72727F-BABE-40CA-A32D-DCE1D70AE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88399"/>
                <a:ext cx="3286349" cy="1200329"/>
              </a:xfrm>
              <a:prstGeom prst="rect">
                <a:avLst/>
              </a:prstGeom>
              <a:blipFill>
                <a:blip r:embed="rId6"/>
                <a:stretch>
                  <a:fillRect l="-557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257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049E2C4F-971C-49A8-B4C1-08C88C65A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713" y="2270849"/>
            <a:ext cx="8820571" cy="389163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Failure Function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22</a:t>
            </a:fld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3D9E20C-A917-4F0B-BCFC-9744C80A9F51}"/>
              </a:ext>
            </a:extLst>
          </p:cNvPr>
          <p:cNvSpPr txBox="1"/>
          <p:nvPr/>
        </p:nvSpPr>
        <p:spPr>
          <a:xfrm>
            <a:off x="838200" y="1637235"/>
            <a:ext cx="10133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" panose="02020603050405020304" pitchFamily="18" charset="0"/>
                <a:cs typeface="Times" panose="02020603050405020304" pitchFamily="18" charset="0"/>
              </a:rPr>
              <a:t>Find the longest proper suffix which is a proper prefix of some pattern.</a:t>
            </a:r>
            <a:endParaRPr lang="zh-TW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A72727F-BABE-40CA-A32D-DCE1D70AEA0F}"/>
                  </a:ext>
                </a:extLst>
              </p:cNvPr>
              <p:cNvSpPr txBox="1"/>
              <p:nvPr/>
            </p:nvSpPr>
            <p:spPr>
              <a:xfrm>
                <a:off x="838800" y="5288400"/>
                <a:ext cx="357008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P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1..3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1, 2, 3</m:t>
                          </m:r>
                        </m:e>
                      </m:d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  <a:cs typeface="Times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" panose="02020603050405020304" pitchFamily="18" charset="0"/>
                                </a:rPr>
                                <m:t>3..5</m:t>
                              </m:r>
                            </m:e>
                          </m:d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=(1, 2, 3)</m:t>
                      </m:r>
                    </m:oMath>
                  </m:oMathPara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A72727F-BABE-40CA-A32D-DCE1D70AE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00" y="5288400"/>
                <a:ext cx="3570080" cy="1200329"/>
              </a:xfrm>
              <a:prstGeom prst="rect">
                <a:avLst/>
              </a:prstGeom>
              <a:blipFill>
                <a:blip r:embed="rId4"/>
                <a:stretch>
                  <a:fillRect l="-513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486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zh-TW" altLang="en-US" i="0" dirty="0">
                    <a:latin typeface="Times" panose="02020603050405020304" pitchFamily="18" charset="0"/>
                    <a:cs typeface="Times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kumimoji="1"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en-US" altLang="zh-TW" dirty="0">
                    <a:latin typeface="Times" pitchFamily="2" charset="0"/>
                  </a:rPr>
                  <a:t>Algorithm for Multiple Patterns</a:t>
                </a:r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305438D-F4BF-BC45-90BC-8CDF5398A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23</a:t>
            </a:fld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69868F-315C-4208-891E-AF1369A7B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713" y="2270849"/>
            <a:ext cx="8820571" cy="38916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E6E7F6E-C5E8-4E95-9C17-588DE0F34462}"/>
                  </a:ext>
                </a:extLst>
              </p:cNvPr>
              <p:cNvSpPr txBox="1"/>
              <p:nvPr/>
            </p:nvSpPr>
            <p:spPr>
              <a:xfrm>
                <a:off x="1685713" y="5175774"/>
                <a:ext cx="32056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1, 2, 1, 4, 4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1, 2, 1, 4, 5, 6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1, 2, 3, 4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E6E7F6E-C5E8-4E95-9C17-588DE0F34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713" y="5175774"/>
                <a:ext cx="3205686" cy="1200329"/>
              </a:xfrm>
              <a:prstGeom prst="rect">
                <a:avLst/>
              </a:prstGeom>
              <a:blipFill>
                <a:blip r:embed="rId5"/>
                <a:stretch>
                  <a:fillRect l="-571" b="-2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2DB596D-B22E-47FD-9C3A-4DE231391FE2}"/>
                  </a:ext>
                </a:extLst>
              </p:cNvPr>
              <p:cNvSpPr txBox="1"/>
              <p:nvPr/>
            </p:nvSpPr>
            <p:spPr>
              <a:xfrm>
                <a:off x="1856856" y="1940456"/>
                <a:ext cx="44112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={12, 47, 11, 15, 10, 32, 41, 46}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2DB596D-B22E-47FD-9C3A-4DE231391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856" y="1940456"/>
                <a:ext cx="4411208" cy="369332"/>
              </a:xfrm>
              <a:prstGeom prst="rect">
                <a:avLst/>
              </a:prstGeom>
              <a:blipFill>
                <a:blip r:embed="rId6"/>
                <a:stretch>
                  <a:fillRect l="-1107" r="-1936" b="-34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32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5438D-F4BF-BC45-90BC-8CDF5398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Time Complexity</a:t>
            </a:r>
            <a:endParaRPr kumimoji="1" lang="zh-TW" altLang="en-US" dirty="0">
              <a:latin typeface="Times" pitchFamily="2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24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A7D3B6-7359-441B-AB5E-314EC32E34DE}"/>
                  </a:ext>
                </a:extLst>
              </p:cNvPr>
              <p:cNvSpPr txBox="1"/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Prefix representation: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Failure function: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Text search: O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" panose="020206030504050203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A7D3B6-7359-441B-AB5E-314EC32E3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1866"/>
                <a:ext cx="10515601" cy="1200329"/>
              </a:xfrm>
              <a:prstGeom prst="rect">
                <a:avLst/>
              </a:prstGeom>
              <a:blipFill>
                <a:blip r:embed="rId3"/>
                <a:stretch>
                  <a:fillRect l="-753" t="-4082" b="-112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344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chenya" id="{B41F7EED-78E0-1445-87EF-5AF1DA6E0F58}" vid="{D32384A1-BBDA-0D4F-B76D-4F110ED0331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6483</TotalTime>
  <Words>1288</Words>
  <Application>Microsoft Office PowerPoint</Application>
  <PresentationFormat>寬螢幕</PresentationFormat>
  <Paragraphs>600</Paragraphs>
  <Slides>24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</vt:lpstr>
      <vt:lpstr>Times New Roman</vt:lpstr>
      <vt:lpstr>Office 佈景主題</vt:lpstr>
      <vt:lpstr>Order-preserving matching</vt:lpstr>
      <vt:lpstr>Abstract(1/2)</vt:lpstr>
      <vt:lpstr>Abstract(2/2)</vt:lpstr>
      <vt:lpstr>Order-Preserving Matching</vt:lpstr>
      <vt:lpstr>Prefix Representation</vt:lpstr>
      <vt:lpstr>Failure Function</vt:lpstr>
      <vt:lpstr>O(n log⁡m) Algorithm</vt:lpstr>
      <vt:lpstr>Time Complexity</vt:lpstr>
      <vt:lpstr>The Nearest Neighbor Representation</vt:lpstr>
      <vt:lpstr>Failure Function</vt:lpstr>
      <vt:lpstr>Failure Function</vt:lpstr>
      <vt:lpstr>Failure Function</vt:lpstr>
      <vt:lpstr>Failure Function</vt:lpstr>
      <vt:lpstr>Failure Function</vt:lpstr>
      <vt:lpstr>O(n+m log⁡m) Algorithm</vt:lpstr>
      <vt:lpstr>O(n+m log⁡m) Algorithm</vt:lpstr>
      <vt:lpstr>O(n+m log⁡m) Algorithm</vt:lpstr>
      <vt:lpstr>O(n+m log⁡m) Algorithm</vt:lpstr>
      <vt:lpstr>Time Complexity</vt:lpstr>
      <vt:lpstr>O(n log⁡m) Algorithm for Multiple Patterns</vt:lpstr>
      <vt:lpstr>Failure Function</vt:lpstr>
      <vt:lpstr>Failure Function</vt:lpstr>
      <vt:lpstr>O(n log⁡m) Algorithm for Multiple Patterns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M113040012</dc:creator>
  <cp:lastModifiedBy>張紋瑜</cp:lastModifiedBy>
  <cp:revision>192</cp:revision>
  <dcterms:created xsi:type="dcterms:W3CDTF">2023-07-01T04:19:29Z</dcterms:created>
  <dcterms:modified xsi:type="dcterms:W3CDTF">2023-08-01T03:08:51Z</dcterms:modified>
</cp:coreProperties>
</file>