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300" r:id="rId4"/>
    <p:sldId id="298" r:id="rId5"/>
    <p:sldId id="307" r:id="rId6"/>
    <p:sldId id="308" r:id="rId7"/>
    <p:sldId id="305" r:id="rId8"/>
    <p:sldId id="315" r:id="rId9"/>
    <p:sldId id="306" r:id="rId10"/>
    <p:sldId id="316" r:id="rId11"/>
    <p:sldId id="317" r:id="rId12"/>
    <p:sldId id="318" r:id="rId13"/>
    <p:sldId id="319" r:id="rId14"/>
    <p:sldId id="303"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82645" autoAdjust="0"/>
  </p:normalViewPr>
  <p:slideViewPr>
    <p:cSldViewPr snapToGrid="0">
      <p:cViewPr varScale="1">
        <p:scale>
          <a:sx n="70" d="100"/>
          <a:sy n="70"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2023/8/1</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2023/8/1</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4A4A4A"/>
                </a:solidFill>
                <a:effectLst/>
                <a:latin typeface="-apple-system"/>
              </a:rPr>
              <a:t>A Star </a:t>
            </a:r>
            <a:r>
              <a:rPr lang="zh-TW" altLang="en-US" b="0" i="0" dirty="0">
                <a:solidFill>
                  <a:srgbClr val="4A4A4A"/>
                </a:solidFill>
                <a:effectLst/>
                <a:latin typeface="-apple-system"/>
              </a:rPr>
              <a:t>算法是一種在遊戲開發過程中很常用的自動尋路算法。它有較好的性能和準確度。</a:t>
            </a:r>
            <a:r>
              <a:rPr lang="en-US" altLang="zh-TW" b="1" i="0" dirty="0">
                <a:solidFill>
                  <a:srgbClr val="4A4A4A"/>
                </a:solidFill>
                <a:effectLst/>
                <a:latin typeface="-apple-system"/>
              </a:rPr>
              <a:t>A * </a:t>
            </a:r>
            <a:r>
              <a:rPr lang="zh-TW" altLang="en-US" b="1" i="0" dirty="0">
                <a:solidFill>
                  <a:srgbClr val="4A4A4A"/>
                </a:solidFill>
                <a:effectLst/>
                <a:latin typeface="-apple-system"/>
              </a:rPr>
              <a:t>搜索算法</a:t>
            </a:r>
            <a:r>
              <a:rPr lang="zh-TW" altLang="en-US" b="0" i="0" dirty="0">
                <a:solidFill>
                  <a:srgbClr val="4A4A4A"/>
                </a:solidFill>
                <a:effectLst/>
                <a:latin typeface="-apple-system"/>
              </a:rPr>
              <a:t>（</a:t>
            </a:r>
            <a:r>
              <a:rPr lang="en-US" altLang="zh-TW" b="0" i="0" dirty="0">
                <a:solidFill>
                  <a:srgbClr val="4A4A4A"/>
                </a:solidFill>
                <a:effectLst/>
                <a:latin typeface="-apple-system"/>
              </a:rPr>
              <a:t>A* search algorithm</a:t>
            </a:r>
            <a:r>
              <a:rPr lang="zh-TW" altLang="en-US" b="0" i="0" dirty="0">
                <a:solidFill>
                  <a:srgbClr val="4A4A4A"/>
                </a:solidFill>
                <a:effectLst/>
                <a:latin typeface="-apple-system"/>
              </a:rPr>
              <a:t>）是一種在圖形平面上，有多個節點的路徑，求出最低通過成本的算法。常用於遊戲中的 </a:t>
            </a:r>
            <a:r>
              <a:rPr lang="en-US" altLang="zh-TW" b="0" i="0" dirty="0">
                <a:solidFill>
                  <a:srgbClr val="4A4A4A"/>
                </a:solidFill>
                <a:effectLst/>
                <a:latin typeface="-apple-system"/>
              </a:rPr>
              <a:t>NPC </a:t>
            </a:r>
            <a:r>
              <a:rPr lang="zh-TW" altLang="en-US" b="0" i="0" dirty="0">
                <a:solidFill>
                  <a:srgbClr val="4A4A4A"/>
                </a:solidFill>
                <a:effectLst/>
                <a:latin typeface="-apple-system"/>
              </a:rPr>
              <a:t>的移動計算，或網絡遊戲的 </a:t>
            </a:r>
            <a:r>
              <a:rPr lang="en-US" altLang="zh-TW" b="0" i="0" dirty="0">
                <a:solidFill>
                  <a:srgbClr val="4A4A4A"/>
                </a:solidFill>
                <a:effectLst/>
                <a:latin typeface="-apple-system"/>
              </a:rPr>
              <a:t>BOT </a:t>
            </a:r>
            <a:r>
              <a:rPr lang="zh-TW" altLang="en-US" b="0" i="0" dirty="0">
                <a:solidFill>
                  <a:srgbClr val="4A4A4A"/>
                </a:solidFill>
                <a:effectLst/>
                <a:latin typeface="-apple-system"/>
              </a:rPr>
              <a:t>的移動計算上。該算法綜合了最佳優先搜索和 </a:t>
            </a:r>
            <a:r>
              <a:rPr lang="en-US" altLang="zh-TW" b="0" i="0" dirty="0">
                <a:solidFill>
                  <a:srgbClr val="4A4A4A"/>
                </a:solidFill>
                <a:effectLst/>
                <a:latin typeface="-apple-system"/>
              </a:rPr>
              <a:t>Dijkstra </a:t>
            </a:r>
            <a:r>
              <a:rPr lang="zh-TW" altLang="en-US" b="0" i="0" dirty="0">
                <a:solidFill>
                  <a:srgbClr val="4A4A4A"/>
                </a:solidFill>
                <a:effectLst/>
                <a:latin typeface="-apple-system"/>
              </a:rPr>
              <a:t>算法的優點：在進行啓發式搜索提高算法效率的同時，可以保證找到一條基於啓發函數的最優路徑</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1332286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2326441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374151"/>
                </a:solidFill>
                <a:effectLst/>
                <a:latin typeface="Söhne"/>
              </a:rPr>
              <a:t>機器人或車輛在二維平面上從一個點到達另一個點的最短轉向路徑。</a:t>
            </a:r>
            <a:endParaRPr lang="en-US" altLang="zh-TW" b="0" i="0" dirty="0">
              <a:solidFill>
                <a:srgbClr val="374151"/>
              </a:solidFill>
              <a:effectLst/>
              <a:latin typeface="Söhne"/>
            </a:endParaRPr>
          </a:p>
          <a:p>
            <a:r>
              <a:rPr lang="zh-TW" altLang="en-US" dirty="0"/>
              <a:t>沒有障礙物的最短路徑</a:t>
            </a:r>
            <a:br>
              <a:rPr lang="en-US" altLang="zh-TW" dirty="0"/>
            </a:br>
            <a:r>
              <a:rPr lang="zh-TW" altLang="en-US" b="0" i="0" dirty="0">
                <a:solidFill>
                  <a:srgbClr val="374151"/>
                </a:solidFill>
                <a:effectLst/>
                <a:latin typeface="Söhne"/>
              </a:rPr>
              <a:t>最短路徑：</a:t>
            </a:r>
            <a:r>
              <a:rPr lang="en-US" altLang="zh-TW" b="0" i="0" dirty="0">
                <a:solidFill>
                  <a:srgbClr val="374151"/>
                </a:solidFill>
                <a:effectLst/>
                <a:latin typeface="Söhne"/>
              </a:rPr>
              <a:t>Reeds-</a:t>
            </a:r>
            <a:r>
              <a:rPr lang="en-US" altLang="zh-TW" b="0" i="0" dirty="0" err="1">
                <a:solidFill>
                  <a:srgbClr val="374151"/>
                </a:solidFill>
                <a:effectLst/>
                <a:latin typeface="Söhne"/>
              </a:rPr>
              <a:t>Shepp</a:t>
            </a:r>
            <a:r>
              <a:rPr lang="zh-TW" altLang="en-US" b="0" i="0" dirty="0">
                <a:solidFill>
                  <a:srgbClr val="374151"/>
                </a:solidFill>
                <a:effectLst/>
                <a:latin typeface="Söhne"/>
              </a:rPr>
              <a:t>曲線是從起點到目標點的最短轉向路徑。這意味著在滿足特定運動約束的前提下，機器人或車輛需要轉彎的次數和角度總和最小化。</a:t>
            </a: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1548201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3888369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1" dirty="0">
                <a:solidFill>
                  <a:srgbClr val="333333"/>
                </a:solidFill>
                <a:effectLst/>
                <a:latin typeface="Georgia" panose="02040502050405020303" pitchFamily="18" charset="0"/>
              </a:rPr>
              <a:t>d </a:t>
            </a:r>
            <a:r>
              <a:rPr lang="en-US" altLang="zh-TW" b="0" i="1" baseline="-25000" dirty="0">
                <a:solidFill>
                  <a:srgbClr val="333333"/>
                </a:solidFill>
                <a:effectLst/>
                <a:latin typeface="Georgia" panose="02040502050405020303" pitchFamily="18" charset="0"/>
              </a:rPr>
              <a:t>1</a:t>
            </a:r>
            <a:r>
              <a:rPr lang="zh-TW" altLang="en-US" b="0" i="0" dirty="0">
                <a:solidFill>
                  <a:srgbClr val="333333"/>
                </a:solidFill>
                <a:effectLst/>
                <a:latin typeface="Georgia" panose="02040502050405020303" pitchFamily="18" charset="0"/>
              </a:rPr>
              <a:t>為當前節點到目標節點的距離，</a:t>
            </a:r>
            <a:r>
              <a:rPr lang="en-US" altLang="zh-TW" b="0" i="1" dirty="0">
                <a:solidFill>
                  <a:srgbClr val="333333"/>
                </a:solidFill>
                <a:effectLst/>
                <a:latin typeface="Georgia" panose="02040502050405020303" pitchFamily="18" charset="0"/>
              </a:rPr>
              <a:t>d </a:t>
            </a:r>
            <a:r>
              <a:rPr lang="en-US" altLang="zh-TW" b="0" i="1" baseline="-25000" dirty="0">
                <a:solidFill>
                  <a:srgbClr val="333333"/>
                </a:solidFill>
                <a:effectLst/>
                <a:latin typeface="Georgia" panose="02040502050405020303" pitchFamily="18" charset="0"/>
              </a:rPr>
              <a:t>2</a:t>
            </a:r>
            <a:r>
              <a:rPr lang="zh-TW" altLang="en-US" b="0" i="0" dirty="0">
                <a:solidFill>
                  <a:srgbClr val="333333"/>
                </a:solidFill>
                <a:effectLst/>
                <a:latin typeface="Georgia" panose="02040502050405020303" pitchFamily="18" charset="0"/>
              </a:rPr>
              <a:t>為起始節點到目標節點的距離</a:t>
            </a:r>
            <a:br>
              <a:rPr lang="en-US" altLang="zh-TW" b="0" i="0" dirty="0">
                <a:solidFill>
                  <a:srgbClr val="333333"/>
                </a:solidFill>
                <a:effectLst/>
                <a:latin typeface="Georgia" panose="02040502050405020303" pitchFamily="18" charset="0"/>
              </a:rPr>
            </a:br>
            <a:r>
              <a:rPr lang="zh-TW" altLang="en-US" b="0" i="0" dirty="0">
                <a:solidFill>
                  <a:srgbClr val="374151"/>
                </a:solidFill>
                <a:effectLst/>
                <a:latin typeface="Söhne"/>
              </a:rPr>
              <a:t>一開始，機器人位於起點，此時對機器人的姿勢要求較低，演算法以最快的速度展開節點的擴展，犧牲了最佳路徑的搜索來獲得更快的搜索速度</a:t>
            </a:r>
            <a:br>
              <a:rPr lang="en-US" altLang="zh-TW" b="0" i="0" dirty="0">
                <a:solidFill>
                  <a:srgbClr val="374151"/>
                </a:solidFill>
                <a:effectLst/>
                <a:latin typeface="Söhne"/>
              </a:rPr>
            </a:br>
            <a:r>
              <a:rPr lang="zh-TW" altLang="en-US" b="0" i="0" dirty="0">
                <a:solidFill>
                  <a:srgbClr val="374151"/>
                </a:solidFill>
                <a:effectLst/>
                <a:latin typeface="Söhne"/>
              </a:rPr>
              <a:t>接近終點時，演算法傾向於選擇最佳路徑，雖然這會導致搜索速度減慢。</a:t>
            </a:r>
            <a:br>
              <a:rPr lang="en-US" altLang="zh-TW" b="0" i="0" dirty="0">
                <a:solidFill>
                  <a:srgbClr val="374151"/>
                </a:solidFill>
                <a:effectLst/>
                <a:latin typeface="Söhne"/>
              </a:rPr>
            </a:br>
            <a:br>
              <a:rPr lang="en-US" altLang="zh-TW" b="0" i="0" dirty="0">
                <a:solidFill>
                  <a:srgbClr val="374151"/>
                </a:solidFill>
                <a:effectLst/>
                <a:latin typeface="Söhne"/>
              </a:rPr>
            </a:br>
            <a:r>
              <a:rPr lang="en-US" altLang="zh-TW" b="0" i="1" dirty="0">
                <a:solidFill>
                  <a:srgbClr val="333333"/>
                </a:solidFill>
                <a:effectLst/>
                <a:latin typeface="Georgia" panose="02040502050405020303" pitchFamily="18" charset="0"/>
              </a:rPr>
              <a:t>X </a:t>
            </a:r>
            <a:r>
              <a:rPr lang="en-US" altLang="zh-TW" b="0" i="1" baseline="-25000" dirty="0" err="1">
                <a:solidFill>
                  <a:srgbClr val="333333"/>
                </a:solidFill>
                <a:effectLst/>
                <a:latin typeface="Georgia" panose="02040502050405020303" pitchFamily="18" charset="0"/>
              </a:rPr>
              <a:t>i</a:t>
            </a:r>
            <a:r>
              <a:rPr lang="zh-TW" altLang="en-US" b="0" i="0" dirty="0">
                <a:solidFill>
                  <a:srgbClr val="333333"/>
                </a:solidFill>
                <a:effectLst/>
                <a:latin typeface="Georgia" panose="02040502050405020303" pitchFamily="18" charset="0"/>
              </a:rPr>
              <a:t>是路徑節點的坐標，</a:t>
            </a:r>
            <a:r>
              <a:rPr lang="en-US" altLang="zh-TW" b="0" i="1" dirty="0">
                <a:solidFill>
                  <a:srgbClr val="333333"/>
                </a:solidFill>
                <a:effectLst/>
                <a:latin typeface="Georgia" panose="02040502050405020303" pitchFamily="18" charset="0"/>
              </a:rPr>
              <a:t>0 </a:t>
            </a:r>
            <a:r>
              <a:rPr lang="en-US" altLang="zh-TW" b="0" i="1" baseline="-25000" dirty="0" err="1">
                <a:solidFill>
                  <a:srgbClr val="333333"/>
                </a:solidFill>
                <a:effectLst/>
                <a:latin typeface="Georgia" panose="02040502050405020303" pitchFamily="18" charset="0"/>
              </a:rPr>
              <a:t>i</a:t>
            </a:r>
            <a:r>
              <a:rPr lang="zh-TW" altLang="en-US" b="0" i="0" dirty="0">
                <a:solidFill>
                  <a:srgbClr val="333333"/>
                </a:solidFill>
                <a:effectLst/>
                <a:latin typeface="Georgia" panose="02040502050405020303" pitchFamily="18" charset="0"/>
              </a:rPr>
              <a:t>是最近障礙物的坐標 </a:t>
            </a:r>
            <a:r>
              <a:rPr lang="en-US" altLang="zh-TW" b="0" i="1" dirty="0">
                <a:solidFill>
                  <a:srgbClr val="333333"/>
                </a:solidFill>
                <a:effectLst/>
                <a:latin typeface="Georgia" panose="02040502050405020303" pitchFamily="18" charset="0"/>
              </a:rPr>
              <a:t>ki</a:t>
            </a:r>
            <a:r>
              <a:rPr lang="zh-TW" altLang="en-US" b="0" i="0" dirty="0">
                <a:solidFill>
                  <a:srgbClr val="333333"/>
                </a:solidFill>
                <a:effectLst/>
                <a:latin typeface="Georgia" panose="02040502050405020303" pitchFamily="18" charset="0"/>
              </a:rPr>
              <a:t>是任意節點的曲率 </a:t>
            </a:r>
            <a:r>
              <a:rPr lang="zh-TW" altLang="en-US" b="0" i="0" u="none" strike="noStrike" dirty="0">
                <a:solidFill>
                  <a:srgbClr val="333333"/>
                </a:solidFill>
                <a:effectLst/>
                <a:latin typeface="MathJax_Math-italic"/>
              </a:rPr>
              <a:t> </a:t>
            </a:r>
            <a:r>
              <a:rPr lang="en-US" altLang="zh-TW" b="0" i="0" u="none" strike="noStrike" dirty="0">
                <a:solidFill>
                  <a:srgbClr val="333333"/>
                </a:solidFill>
                <a:effectLst/>
                <a:latin typeface="MathJax_Math-italic"/>
              </a:rPr>
              <a:t>Xi</a:t>
            </a:r>
            <a:r>
              <a:rPr lang="en-US" altLang="zh-TW" b="0" i="0" u="none" strike="noStrike" dirty="0">
                <a:solidFill>
                  <a:srgbClr val="333333"/>
                </a:solidFill>
                <a:effectLst/>
                <a:latin typeface="MathJax_Main"/>
              </a:rPr>
              <a:t>=</a:t>
            </a:r>
            <a:r>
              <a:rPr lang="en-US" altLang="zh-TW" b="0" i="0" u="none" strike="noStrike" dirty="0">
                <a:solidFill>
                  <a:srgbClr val="333333"/>
                </a:solidFill>
                <a:effectLst/>
                <a:latin typeface="MathJax_Math-italic"/>
              </a:rPr>
              <a:t>Xi</a:t>
            </a:r>
            <a:r>
              <a:rPr lang="en-US" altLang="zh-TW" b="0" i="0" u="none" strike="noStrike" dirty="0">
                <a:solidFill>
                  <a:srgbClr val="333333"/>
                </a:solidFill>
                <a:effectLst/>
                <a:latin typeface="MathJax_Main"/>
              </a:rPr>
              <a:t>−</a:t>
            </a:r>
            <a:r>
              <a:rPr lang="en-US" altLang="zh-TW" b="0" i="0" u="none" strike="noStrike" dirty="0">
                <a:solidFill>
                  <a:srgbClr val="333333"/>
                </a:solidFill>
                <a:effectLst/>
                <a:latin typeface="MathJax_Math-italic"/>
              </a:rPr>
              <a:t>Xi</a:t>
            </a:r>
            <a:r>
              <a:rPr lang="en-US" altLang="zh-TW" b="0" i="0" u="none" strike="noStrike" dirty="0">
                <a:solidFill>
                  <a:srgbClr val="333333"/>
                </a:solidFill>
                <a:effectLst/>
                <a:latin typeface="MathJax_Main"/>
              </a:rPr>
              <a:t>−1</a:t>
            </a:r>
            <a:r>
              <a:rPr lang="zh-TW" altLang="en-US" b="0" i="0" dirty="0">
                <a:solidFill>
                  <a:srgbClr val="333333"/>
                </a:solidFill>
                <a:effectLst/>
                <a:latin typeface="Georgia" panose="02040502050405020303" pitchFamily="18" charset="0"/>
              </a:rPr>
              <a:t>兩個相鄰節點組成的方向向量，通過路徑中所有節點的方向向量變化進行懲罰，從而減少轉向，提高路徑的平滑度。</a:t>
            </a:r>
            <a:br>
              <a:rPr lang="en-US" altLang="zh-TW" dirty="0"/>
            </a:br>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45519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1274507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14</a:t>
            </a:fld>
            <a:endParaRPr lang="zh-TW" altLang="en-US"/>
          </a:p>
        </p:txBody>
      </p:sp>
    </p:spTree>
    <p:extLst>
      <p:ext uri="{BB962C8B-B14F-4D97-AF65-F5344CB8AC3E}">
        <p14:creationId xmlns:p14="http://schemas.microsoft.com/office/powerpoint/2010/main" val="1459800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2023/8/1</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2023/8/1</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2023/8/1</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2023/8/1</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2023/8/1</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2023/8/1</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2023/8/1</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2023/8/1</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2023/8/1</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2023/8/1</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2023/8/1</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2023/8/1</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gif"/><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dirty="0">
                <a:solidFill>
                  <a:srgbClr val="333333"/>
                </a:solidFill>
                <a:latin typeface="Times New Roman" panose="02020603050405020304" pitchFamily="18" charset="0"/>
                <a:cs typeface="Times New Roman" panose="02020603050405020304" pitchFamily="18" charset="0"/>
              </a:rPr>
              <a:t>A Hybrid A* Path Planning Algorithm Based on Multi-objective Constraints</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dirty="0">
                <a:latin typeface="Times New Roman" panose="02020603050405020304" pitchFamily="18" charset="0"/>
                <a:cs typeface="Times New Roman" panose="02020603050405020304" pitchFamily="18" charset="0"/>
              </a:rPr>
              <a:t>Yu Zhao, </a:t>
            </a:r>
            <a:r>
              <a:rPr lang="en-US" altLang="zh-TW" dirty="0" err="1">
                <a:latin typeface="Times New Roman" panose="02020603050405020304" pitchFamily="18" charset="0"/>
                <a:cs typeface="Times New Roman" panose="02020603050405020304" pitchFamily="18" charset="0"/>
              </a:rPr>
              <a:t>Yongqiang</a:t>
            </a:r>
            <a:r>
              <a:rPr lang="en-US" altLang="zh-TW" dirty="0">
                <a:latin typeface="Times New Roman" panose="02020603050405020304" pitchFamily="18" charset="0"/>
                <a:cs typeface="Times New Roman" panose="02020603050405020304" pitchFamily="18" charset="0"/>
              </a:rPr>
              <a:t> Zhu, </a:t>
            </a:r>
            <a:r>
              <a:rPr lang="en-US" altLang="zh-TW" dirty="0" err="1">
                <a:latin typeface="Times New Roman" panose="02020603050405020304" pitchFamily="18" charset="0"/>
                <a:cs typeface="Times New Roman" panose="02020603050405020304" pitchFamily="18" charset="0"/>
              </a:rPr>
              <a:t>Pingxia</a:t>
            </a:r>
            <a:r>
              <a:rPr lang="en-US" altLang="zh-TW" dirty="0">
                <a:latin typeface="Times New Roman" panose="02020603050405020304" pitchFamily="18" charset="0"/>
                <a:cs typeface="Times New Roman" panose="02020603050405020304" pitchFamily="18" charset="0"/>
              </a:rPr>
              <a:t> Zhang, Qi Gao, Xue Han</a:t>
            </a:r>
          </a:p>
          <a:p>
            <a:r>
              <a:rPr lang="en-US" altLang="zh-TW" dirty="0">
                <a:latin typeface="Times New Roman" panose="02020603050405020304" pitchFamily="18" charset="0"/>
                <a:cs typeface="Times New Roman" panose="02020603050405020304" pitchFamily="18" charset="0"/>
              </a:rPr>
              <a:t>(August 2022). 2022 Asia Conference on Advanced Robotics, Automation, and Control Engineering (ARACE). Qingdao, China.</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August</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1</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85000" lnSpcReduction="1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dirty="0">
                <a:solidFill>
                  <a:srgbClr val="333333"/>
                </a:solidFill>
                <a:latin typeface="Times New Roman" panose="02020603050405020304" pitchFamily="18" charset="0"/>
                <a:cs typeface="Times New Roman" panose="02020603050405020304" pitchFamily="18" charset="0"/>
              </a:rPr>
              <a:t> To provide a safe, smooth and efficient global planning path for nonholonomic mobile robots. Aiming at the problems of traditional hybrid A∗ algorithm in path planning, such as approaching obstacles, unnecessary reversing and redundant turning, a multi-objective constraint method based on hybrid A∗ algorithm is proposed. To speed up the path planning, the heuristic function is dynamically weighted and the overall path cost function is designed. The path planning experiments are carried out in ROS (Robot Operation System) simulation environment and actual environment respectively, and the results show that. The hybrid A∗ algorithm with multi-objective constraints increases the minimum distance between the robot and obstacles by more than 50%, reduces the unnecessary times of reversing and turning, and reduces the total running time by 14.2% on average, thus improving the navigation efficiency of the mobile robot.</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3</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A* Algorithm</a:t>
            </a:r>
            <a:endParaRPr lang="zh-TW" altLang="en-US" b="1" dirty="0"/>
          </a:p>
        </p:txBody>
      </p:sp>
      <p:pic>
        <p:nvPicPr>
          <p:cNvPr id="2" name="圖片 1">
            <a:extLst>
              <a:ext uri="{FF2B5EF4-FFF2-40B4-BE49-F238E27FC236}">
                <a16:creationId xmlns:a16="http://schemas.microsoft.com/office/drawing/2014/main" id="{A8020ED0-68C6-692A-D3E2-E10509589508}"/>
              </a:ext>
            </a:extLst>
          </p:cNvPr>
          <p:cNvPicPr>
            <a:picLocks noChangeAspect="1"/>
          </p:cNvPicPr>
          <p:nvPr/>
        </p:nvPicPr>
        <p:blipFill>
          <a:blip r:embed="rId3"/>
          <a:stretch>
            <a:fillRect/>
          </a:stretch>
        </p:blipFill>
        <p:spPr>
          <a:xfrm>
            <a:off x="838200" y="2436190"/>
            <a:ext cx="3039309" cy="743237"/>
          </a:xfrm>
          <a:prstGeom prst="rect">
            <a:avLst/>
          </a:prstGeom>
        </p:spPr>
      </p:pic>
      <p:sp>
        <p:nvSpPr>
          <p:cNvPr id="8" name="內容版面配置區 2">
            <a:extLst>
              <a:ext uri="{FF2B5EF4-FFF2-40B4-BE49-F238E27FC236}">
                <a16:creationId xmlns:a16="http://schemas.microsoft.com/office/drawing/2014/main" id="{F2056930-FDC9-A0BD-1C9E-C8B7CF50EA32}"/>
              </a:ext>
            </a:extLst>
          </p:cNvPr>
          <p:cNvSpPr>
            <a:spLocks noGrp="1"/>
          </p:cNvSpPr>
          <p:nvPr>
            <p:ph idx="1"/>
          </p:nvPr>
        </p:nvSpPr>
        <p:spPr>
          <a:xfrm>
            <a:off x="838200" y="1825625"/>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Search towards the most promising states</a:t>
            </a:r>
          </a:p>
        </p:txBody>
      </p:sp>
      <p:pic>
        <p:nvPicPr>
          <p:cNvPr id="1026" name="Picture 2">
            <a:extLst>
              <a:ext uri="{FF2B5EF4-FFF2-40B4-BE49-F238E27FC236}">
                <a16:creationId xmlns:a16="http://schemas.microsoft.com/office/drawing/2014/main" id="{4551462A-C319-7EB8-F760-C8A89E8919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2229" y="3232712"/>
            <a:ext cx="4434341" cy="31236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7B7E39F-7F4D-279C-FB6A-AF5199A2EA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65489" y="3233952"/>
            <a:ext cx="4354282" cy="3122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7355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Ackermann's Principle</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4</a:t>
            </a:fld>
            <a:endParaRPr lang="zh-TW" altLang="en-US" dirty="0"/>
          </a:p>
        </p:txBody>
      </p:sp>
      <p:pic>
        <p:nvPicPr>
          <p:cNvPr id="2050" name="Picture 2">
            <a:extLst>
              <a:ext uri="{FF2B5EF4-FFF2-40B4-BE49-F238E27FC236}">
                <a16:creationId xmlns:a16="http://schemas.microsoft.com/office/drawing/2014/main" id="{7A0CA9F0-3EE9-D977-D58C-D9E4DE625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2992" y="1621745"/>
            <a:ext cx="5210605" cy="5032375"/>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7">
            <a:extLst>
              <a:ext uri="{FF2B5EF4-FFF2-40B4-BE49-F238E27FC236}">
                <a16:creationId xmlns:a16="http://schemas.microsoft.com/office/drawing/2014/main" id="{808FC727-8FE5-2D83-4750-E8DCE2B4FFE6}"/>
              </a:ext>
            </a:extLst>
          </p:cNvPr>
          <p:cNvPicPr>
            <a:picLocks noChangeAspect="1"/>
          </p:cNvPicPr>
          <p:nvPr/>
        </p:nvPicPr>
        <p:blipFill>
          <a:blip r:embed="rId4"/>
          <a:stretch>
            <a:fillRect/>
          </a:stretch>
        </p:blipFill>
        <p:spPr>
          <a:xfrm>
            <a:off x="1089612" y="1781402"/>
            <a:ext cx="1914792" cy="504895"/>
          </a:xfrm>
          <a:prstGeom prst="rect">
            <a:avLst/>
          </a:prstGeom>
        </p:spPr>
      </p:pic>
      <p:pic>
        <p:nvPicPr>
          <p:cNvPr id="10" name="圖片 9">
            <a:extLst>
              <a:ext uri="{FF2B5EF4-FFF2-40B4-BE49-F238E27FC236}">
                <a16:creationId xmlns:a16="http://schemas.microsoft.com/office/drawing/2014/main" id="{933AB1F7-DA61-769A-1169-697E39378642}"/>
              </a:ext>
            </a:extLst>
          </p:cNvPr>
          <p:cNvPicPr>
            <a:picLocks noChangeAspect="1"/>
          </p:cNvPicPr>
          <p:nvPr/>
        </p:nvPicPr>
        <p:blipFill>
          <a:blip r:embed="rId5"/>
          <a:stretch>
            <a:fillRect/>
          </a:stretch>
        </p:blipFill>
        <p:spPr>
          <a:xfrm>
            <a:off x="1089612" y="2661518"/>
            <a:ext cx="1657581" cy="571580"/>
          </a:xfrm>
          <a:prstGeom prst="rect">
            <a:avLst/>
          </a:prstGeom>
        </p:spPr>
      </p:pic>
    </p:spTree>
    <p:extLst>
      <p:ext uri="{BB962C8B-B14F-4D97-AF65-F5344CB8AC3E}">
        <p14:creationId xmlns:p14="http://schemas.microsoft.com/office/powerpoint/2010/main" val="14157665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Reeds-</a:t>
            </a:r>
            <a:r>
              <a:rPr lang="en-US" altLang="zh-TW" b="1" dirty="0" err="1">
                <a:latin typeface="Times New Roman" panose="02020603050405020304" pitchFamily="18" charset="0"/>
                <a:cs typeface="Times New Roman" panose="02020603050405020304" pitchFamily="18" charset="0"/>
              </a:rPr>
              <a:t>Shepp</a:t>
            </a:r>
            <a:r>
              <a:rPr lang="en-US" altLang="zh-TW" b="1" dirty="0">
                <a:latin typeface="Times New Roman" panose="02020603050405020304" pitchFamily="18" charset="0"/>
                <a:cs typeface="Times New Roman" panose="02020603050405020304" pitchFamily="18" charset="0"/>
              </a:rPr>
              <a:t> Curve</a:t>
            </a: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5</a:t>
            </a:fld>
            <a:endParaRPr lang="zh-TW" altLang="en-US" dirty="0"/>
          </a:p>
        </p:txBody>
      </p:sp>
      <p:sp>
        <p:nvSpPr>
          <p:cNvPr id="3" name="內容版面配置區 2">
            <a:extLst>
              <a:ext uri="{FF2B5EF4-FFF2-40B4-BE49-F238E27FC236}">
                <a16:creationId xmlns:a16="http://schemas.microsoft.com/office/drawing/2014/main" id="{E813CF27-EF53-35BE-FC94-E39167B63AFE}"/>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Shortest path</a:t>
            </a:r>
          </a:p>
          <a:p>
            <a:r>
              <a:rPr lang="en-US" altLang="zh-TW" dirty="0">
                <a:latin typeface="Times New Roman" panose="02020603050405020304" pitchFamily="18" charset="0"/>
                <a:cs typeface="Times New Roman" panose="02020603050405020304" pitchFamily="18" charset="0"/>
              </a:rPr>
              <a:t>Motion constraints</a:t>
            </a:r>
          </a:p>
          <a:p>
            <a:r>
              <a:rPr lang="en-US" altLang="zh-TW" dirty="0">
                <a:latin typeface="Times New Roman" panose="02020603050405020304" pitchFamily="18" charset="0"/>
                <a:cs typeface="Times New Roman" panose="02020603050405020304" pitchFamily="18" charset="0"/>
              </a:rPr>
              <a:t>Composite motions</a:t>
            </a:r>
            <a:endParaRPr lang="zh-TW" altLang="en-US" dirty="0">
              <a:latin typeface="Times New Roman" panose="02020603050405020304" pitchFamily="18" charset="0"/>
              <a:cs typeface="Times New Roman" panose="02020603050405020304" pitchFamily="18" charset="0"/>
            </a:endParaRPr>
          </a:p>
        </p:txBody>
      </p:sp>
      <p:pic>
        <p:nvPicPr>
          <p:cNvPr id="3074" name="Picture 2" descr="在这里插入图片描述">
            <a:extLst>
              <a:ext uri="{FF2B5EF4-FFF2-40B4-BE49-F238E27FC236}">
                <a16:creationId xmlns:a16="http://schemas.microsoft.com/office/drawing/2014/main" id="{110482D4-495C-A3B3-976F-3C59AFA33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4143" y="2058759"/>
            <a:ext cx="5602456" cy="3906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61668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Hybrid A* Algorithm</a:t>
            </a: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6</a:t>
            </a:fld>
            <a:endParaRPr lang="zh-TW" altLang="en-US" dirty="0"/>
          </a:p>
        </p:txBody>
      </p:sp>
      <p:pic>
        <p:nvPicPr>
          <p:cNvPr id="1026" name="Picture 2">
            <a:extLst>
              <a:ext uri="{FF2B5EF4-FFF2-40B4-BE49-F238E27FC236}">
                <a16:creationId xmlns:a16="http://schemas.microsoft.com/office/drawing/2014/main" id="{1390DA0B-75F9-1520-FF0B-FEE883BB2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1690688"/>
            <a:ext cx="7810500" cy="4333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58588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17750E-E021-4243-A064-2A76FA0C35BA}"/>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Improved Hybrid A∗ Algorithm</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7F7AB35-8468-4F03-8E10-22F08A5F34B4}"/>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sp>
        <p:nvSpPr>
          <p:cNvPr id="5" name="內容版面配置區 2">
            <a:extLst>
              <a:ext uri="{FF2B5EF4-FFF2-40B4-BE49-F238E27FC236}">
                <a16:creationId xmlns:a16="http://schemas.microsoft.com/office/drawing/2014/main" id="{1A5D3955-1F56-61BD-364E-0404AD7FBED2}"/>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Multi-objective Constraints</a:t>
            </a:r>
          </a:p>
          <a:p>
            <a:r>
              <a:rPr lang="en-US" altLang="zh-TW" dirty="0">
                <a:latin typeface="Times New Roman" panose="02020603050405020304" pitchFamily="18" charset="0"/>
                <a:cs typeface="Times New Roman" panose="02020603050405020304" pitchFamily="18" charset="0"/>
              </a:rPr>
              <a:t>Heuristic Function</a:t>
            </a:r>
          </a:p>
          <a:p>
            <a:r>
              <a:rPr lang="en-US" altLang="zh-TW" dirty="0">
                <a:latin typeface="Times New Roman" panose="02020603050405020304" pitchFamily="18" charset="0"/>
                <a:cs typeface="Times New Roman" panose="02020603050405020304" pitchFamily="18" charset="0"/>
              </a:rPr>
              <a:t>Path Optimization Post-processing</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0112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149C603-92EC-560A-0560-6A1074243556}"/>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pic>
        <p:nvPicPr>
          <p:cNvPr id="3074" name="Picture 2" descr="Fig. 3. - Flow chart of improved algorithm">
            <a:extLst>
              <a:ext uri="{FF2B5EF4-FFF2-40B4-BE49-F238E27FC236}">
                <a16:creationId xmlns:a16="http://schemas.microsoft.com/office/drawing/2014/main" id="{5E731B12-B786-1A40-21E1-1EF4AA2C05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903" y="0"/>
            <a:ext cx="3687968" cy="6716498"/>
          </a:xfrm>
          <a:prstGeom prst="rect">
            <a:avLst/>
          </a:prstGeom>
          <a:noFill/>
          <a:extLst>
            <a:ext uri="{909E8E84-426E-40DD-AFC4-6F175D3DCCD1}">
              <a14:hiddenFill xmlns:a14="http://schemas.microsoft.com/office/drawing/2010/main">
                <a:solidFill>
                  <a:srgbClr val="FFFFFF"/>
                </a:solidFill>
              </a14:hiddenFill>
            </a:ext>
          </a:extLst>
        </p:spPr>
      </p:pic>
      <p:pic>
        <p:nvPicPr>
          <p:cNvPr id="6" name="圖片 5">
            <a:extLst>
              <a:ext uri="{FF2B5EF4-FFF2-40B4-BE49-F238E27FC236}">
                <a16:creationId xmlns:a16="http://schemas.microsoft.com/office/drawing/2014/main" id="{CC4E0F9F-A4A1-028D-6D94-321358AAFE21}"/>
              </a:ext>
            </a:extLst>
          </p:cNvPr>
          <p:cNvPicPr>
            <a:picLocks noChangeAspect="1"/>
          </p:cNvPicPr>
          <p:nvPr/>
        </p:nvPicPr>
        <p:blipFill>
          <a:blip r:embed="rId4"/>
          <a:stretch>
            <a:fillRect/>
          </a:stretch>
        </p:blipFill>
        <p:spPr>
          <a:xfrm>
            <a:off x="4380484" y="975582"/>
            <a:ext cx="5068007" cy="704948"/>
          </a:xfrm>
          <a:prstGeom prst="rect">
            <a:avLst/>
          </a:prstGeom>
        </p:spPr>
      </p:pic>
      <p:pic>
        <p:nvPicPr>
          <p:cNvPr id="8" name="圖片 7">
            <a:extLst>
              <a:ext uri="{FF2B5EF4-FFF2-40B4-BE49-F238E27FC236}">
                <a16:creationId xmlns:a16="http://schemas.microsoft.com/office/drawing/2014/main" id="{D9EBCA61-AF66-62FE-706B-BA80E16BAD3C}"/>
              </a:ext>
            </a:extLst>
          </p:cNvPr>
          <p:cNvPicPr>
            <a:picLocks noChangeAspect="1"/>
          </p:cNvPicPr>
          <p:nvPr/>
        </p:nvPicPr>
        <p:blipFill>
          <a:blip r:embed="rId5"/>
          <a:stretch>
            <a:fillRect/>
          </a:stretch>
        </p:blipFill>
        <p:spPr>
          <a:xfrm>
            <a:off x="9448491" y="975582"/>
            <a:ext cx="2591162" cy="733527"/>
          </a:xfrm>
          <a:prstGeom prst="rect">
            <a:avLst/>
          </a:prstGeom>
        </p:spPr>
      </p:pic>
      <p:pic>
        <p:nvPicPr>
          <p:cNvPr id="10" name="圖片 9">
            <a:extLst>
              <a:ext uri="{FF2B5EF4-FFF2-40B4-BE49-F238E27FC236}">
                <a16:creationId xmlns:a16="http://schemas.microsoft.com/office/drawing/2014/main" id="{FC40D15C-D5B4-7158-6FDC-ECAD36FB0777}"/>
              </a:ext>
            </a:extLst>
          </p:cNvPr>
          <p:cNvPicPr>
            <a:picLocks noChangeAspect="1"/>
          </p:cNvPicPr>
          <p:nvPr/>
        </p:nvPicPr>
        <p:blipFill>
          <a:blip r:embed="rId6"/>
          <a:stretch>
            <a:fillRect/>
          </a:stretch>
        </p:blipFill>
        <p:spPr>
          <a:xfrm>
            <a:off x="4380484" y="3038420"/>
            <a:ext cx="3753374" cy="781159"/>
          </a:xfrm>
          <a:prstGeom prst="rect">
            <a:avLst/>
          </a:prstGeom>
        </p:spPr>
      </p:pic>
      <p:pic>
        <p:nvPicPr>
          <p:cNvPr id="12" name="圖片 11">
            <a:extLst>
              <a:ext uri="{FF2B5EF4-FFF2-40B4-BE49-F238E27FC236}">
                <a16:creationId xmlns:a16="http://schemas.microsoft.com/office/drawing/2014/main" id="{39E036DE-1D81-D026-7054-76B2D391A9A9}"/>
              </a:ext>
            </a:extLst>
          </p:cNvPr>
          <p:cNvPicPr>
            <a:picLocks noChangeAspect="1"/>
          </p:cNvPicPr>
          <p:nvPr/>
        </p:nvPicPr>
        <p:blipFill>
          <a:blip r:embed="rId7"/>
          <a:stretch>
            <a:fillRect/>
          </a:stretch>
        </p:blipFill>
        <p:spPr>
          <a:xfrm>
            <a:off x="4478710" y="4877798"/>
            <a:ext cx="5449060" cy="762106"/>
          </a:xfrm>
          <a:prstGeom prst="rect">
            <a:avLst/>
          </a:prstGeom>
        </p:spPr>
      </p:pic>
      <p:pic>
        <p:nvPicPr>
          <p:cNvPr id="14" name="圖片 13">
            <a:extLst>
              <a:ext uri="{FF2B5EF4-FFF2-40B4-BE49-F238E27FC236}">
                <a16:creationId xmlns:a16="http://schemas.microsoft.com/office/drawing/2014/main" id="{30C3C052-7F0B-5554-A898-09E34D4816FD}"/>
              </a:ext>
            </a:extLst>
          </p:cNvPr>
          <p:cNvPicPr>
            <a:picLocks noChangeAspect="1"/>
          </p:cNvPicPr>
          <p:nvPr/>
        </p:nvPicPr>
        <p:blipFill>
          <a:blip r:embed="rId8"/>
          <a:stretch>
            <a:fillRect/>
          </a:stretch>
        </p:blipFill>
        <p:spPr>
          <a:xfrm>
            <a:off x="4578501" y="5758129"/>
            <a:ext cx="4563112" cy="762106"/>
          </a:xfrm>
          <a:prstGeom prst="rect">
            <a:avLst/>
          </a:prstGeom>
        </p:spPr>
      </p:pic>
    </p:spTree>
    <p:extLst>
      <p:ext uri="{BB962C8B-B14F-4D97-AF65-F5344CB8AC3E}">
        <p14:creationId xmlns:p14="http://schemas.microsoft.com/office/powerpoint/2010/main" val="448789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Experiment</a:t>
            </a: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9</a:t>
            </a:fld>
            <a:endParaRPr lang="zh-TW" altLang="en-US"/>
          </a:p>
        </p:txBody>
      </p:sp>
      <p:pic>
        <p:nvPicPr>
          <p:cNvPr id="4100" name="Picture 4">
            <a:extLst>
              <a:ext uri="{FF2B5EF4-FFF2-40B4-BE49-F238E27FC236}">
                <a16:creationId xmlns:a16="http://schemas.microsoft.com/office/drawing/2014/main" id="{B6A07457-7B37-89AE-F18F-E503F96432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2028825"/>
            <a:ext cx="7810500" cy="2800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84560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4A4F1AF-55C4-E37B-0378-CDE0F590BC6E}"/>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pic>
        <p:nvPicPr>
          <p:cNvPr id="5122" name="Picture 2">
            <a:extLst>
              <a:ext uri="{FF2B5EF4-FFF2-40B4-BE49-F238E27FC236}">
                <a16:creationId xmlns:a16="http://schemas.microsoft.com/office/drawing/2014/main" id="{F3A98348-2F10-224F-C9C6-6CDDED426C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695" y="504825"/>
            <a:ext cx="6248399" cy="58515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D4608B32-5207-2632-3D1D-B1F417C66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1036" y="4413123"/>
            <a:ext cx="6496049" cy="1790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888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5A3538D-2108-F51A-BF34-FDBF1B62276B}"/>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pic>
        <p:nvPicPr>
          <p:cNvPr id="6146" name="Picture 2">
            <a:extLst>
              <a:ext uri="{FF2B5EF4-FFF2-40B4-BE49-F238E27FC236}">
                <a16:creationId xmlns:a16="http://schemas.microsoft.com/office/drawing/2014/main" id="{A6454109-C704-8C3A-CFEB-41169E7373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14589"/>
            <a:ext cx="5082269" cy="587828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51F7554E-F7C5-6ACB-6F02-D2DED372B7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7121" y="4295117"/>
            <a:ext cx="6898822" cy="2061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177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77AC171-D042-251B-FB24-6D166A97008A}"/>
              </a:ext>
            </a:extLst>
          </p:cNvPr>
          <p:cNvSpPr>
            <a:spLocks noGrp="1"/>
          </p:cNvSpPr>
          <p:nvPr>
            <p:ph type="sldNum" sz="quarter" idx="12"/>
          </p:nvPr>
        </p:nvSpPr>
        <p:spPr/>
        <p:txBody>
          <a:bodyPr/>
          <a:lstStyle/>
          <a:p>
            <a:fld id="{55935506-5D51-4B07-8BDD-18CEF4E05E0A}" type="slidenum">
              <a:rPr lang="zh-TW" altLang="en-US" smtClean="0"/>
              <a:t>12</a:t>
            </a:fld>
            <a:endParaRPr lang="zh-TW" altLang="en-US"/>
          </a:p>
        </p:txBody>
      </p:sp>
      <p:pic>
        <p:nvPicPr>
          <p:cNvPr id="7170" name="Picture 2">
            <a:extLst>
              <a:ext uri="{FF2B5EF4-FFF2-40B4-BE49-F238E27FC236}">
                <a16:creationId xmlns:a16="http://schemas.microsoft.com/office/drawing/2014/main" id="{5BC76071-2DE8-55D4-6821-AD7DAA7A8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2443" y="419401"/>
            <a:ext cx="6847114" cy="5936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334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400E2739-9BFE-8D20-99B6-8DB7B212A176}"/>
              </a:ext>
            </a:extLst>
          </p:cNvPr>
          <p:cNvSpPr>
            <a:spLocks noGrp="1"/>
          </p:cNvSpPr>
          <p:nvPr>
            <p:ph type="sldNum" sz="quarter" idx="12"/>
          </p:nvPr>
        </p:nvSpPr>
        <p:spPr/>
        <p:txBody>
          <a:bodyPr/>
          <a:lstStyle/>
          <a:p>
            <a:fld id="{55935506-5D51-4B07-8BDD-18CEF4E05E0A}" type="slidenum">
              <a:rPr lang="zh-TW" altLang="en-US" smtClean="0"/>
              <a:t>13</a:t>
            </a:fld>
            <a:endParaRPr lang="zh-TW" altLang="en-US"/>
          </a:p>
        </p:txBody>
      </p:sp>
      <p:pic>
        <p:nvPicPr>
          <p:cNvPr id="8194" name="Picture 2">
            <a:extLst>
              <a:ext uri="{FF2B5EF4-FFF2-40B4-BE49-F238E27FC236}">
                <a16:creationId xmlns:a16="http://schemas.microsoft.com/office/drawing/2014/main" id="{C93A7AB5-F7C0-2B57-EAE1-C3FC0819F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032" y="4147457"/>
            <a:ext cx="5761135" cy="208665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B5FEE55-39B7-C05B-6140-9F4C40D815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76035"/>
            <a:ext cx="4419600" cy="5979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0350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The improved hybrid A∗ algorithm tends to be smoother, reduces the number of non-essential turns and reversals, and maintains a suitable distance from obstacles.</a:t>
            </a:r>
          </a:p>
          <a:p>
            <a:r>
              <a:rPr lang="en-US" altLang="zh-TW" sz="2400" dirty="0">
                <a:solidFill>
                  <a:srgbClr val="333333"/>
                </a:solidFill>
                <a:latin typeface="Times New Roman" panose="02020603050405020304" pitchFamily="18" charset="0"/>
                <a:cs typeface="Times New Roman" panose="02020603050405020304" pitchFamily="18" charset="0"/>
              </a:rPr>
              <a:t>Reduces the total running time by 14.2% in three scenarios and improves the efficiency of mobile robot navigation.</a:t>
            </a:r>
          </a:p>
        </p:txBody>
      </p:sp>
    </p:spTree>
    <p:extLst>
      <p:ext uri="{BB962C8B-B14F-4D97-AF65-F5344CB8AC3E}">
        <p14:creationId xmlns:p14="http://schemas.microsoft.com/office/powerpoint/2010/main" val="176499361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2341</TotalTime>
  <Words>661</Words>
  <Application>Microsoft Office PowerPoint</Application>
  <PresentationFormat>寬螢幕</PresentationFormat>
  <Paragraphs>48</Paragraphs>
  <Slides>14</Slides>
  <Notes>9</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14</vt:i4>
      </vt:variant>
    </vt:vector>
  </HeadingPairs>
  <TitlesOfParts>
    <vt:vector size="24" baseType="lpstr">
      <vt:lpstr>-apple-system</vt:lpstr>
      <vt:lpstr>MathJax_Main</vt:lpstr>
      <vt:lpstr>MathJax_Math-italic</vt:lpstr>
      <vt:lpstr>Söhne</vt:lpstr>
      <vt:lpstr>Arial</vt:lpstr>
      <vt:lpstr>Calibri</vt:lpstr>
      <vt:lpstr>Calibri Light</vt:lpstr>
      <vt:lpstr>Georgia</vt:lpstr>
      <vt:lpstr>Times New Roman</vt:lpstr>
      <vt:lpstr>Office 佈景主題</vt:lpstr>
      <vt:lpstr>A Hybrid A* Path Planning Algorithm Based on Multi-objective Constraints</vt:lpstr>
      <vt:lpstr>Abstract</vt:lpstr>
      <vt:lpstr>A* Algorithm</vt:lpstr>
      <vt:lpstr>Ackermann's Principle</vt:lpstr>
      <vt:lpstr>Reeds-Shepp Curve</vt:lpstr>
      <vt:lpstr>Hybrid A* Algorithm</vt:lpstr>
      <vt:lpstr>Improved Hybrid A∗ Algorithm</vt:lpstr>
      <vt:lpstr>PowerPoint 簡報</vt:lpstr>
      <vt:lpstr>Experiment</vt:lpstr>
      <vt:lpstr>PowerPoint 簡報</vt:lpstr>
      <vt:lpstr>PowerPoint 簡報</vt:lpstr>
      <vt:lpstr>PowerPoint 簡報</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鈺宸 林</cp:lastModifiedBy>
  <cp:revision>71</cp:revision>
  <dcterms:created xsi:type="dcterms:W3CDTF">2022-11-14T21:21:39Z</dcterms:created>
  <dcterms:modified xsi:type="dcterms:W3CDTF">2023-08-01T07:42:50Z</dcterms:modified>
</cp:coreProperties>
</file>