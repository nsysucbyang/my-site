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70" r:id="rId4"/>
    <p:sldId id="277" r:id="rId5"/>
    <p:sldId id="276" r:id="rId6"/>
    <p:sldId id="280" r:id="rId7"/>
    <p:sldId id="279" r:id="rId8"/>
    <p:sldId id="281" r:id="rId9"/>
    <p:sldId id="287" r:id="rId10"/>
    <p:sldId id="282" r:id="rId11"/>
    <p:sldId id="283" r:id="rId12"/>
    <p:sldId id="284" r:id="rId13"/>
    <p:sldId id="285" r:id="rId14"/>
    <p:sldId id="286" r:id="rId15"/>
    <p:sldId id="26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57" autoAdjust="0"/>
  </p:normalViewPr>
  <p:slideViewPr>
    <p:cSldViewPr snapToGrid="0">
      <p:cViewPr>
        <p:scale>
          <a:sx n="100" d="100"/>
          <a:sy n="100" d="100"/>
        </p:scale>
        <p:origin x="936"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2023/1/9</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3779728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936027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1469946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186524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4282381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3912449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1297298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11</a:t>
            </a:fld>
            <a:endParaRPr lang="zh-TW" altLang="en-US"/>
          </a:p>
        </p:txBody>
      </p:sp>
    </p:spTree>
    <p:extLst>
      <p:ext uri="{BB962C8B-B14F-4D97-AF65-F5344CB8AC3E}">
        <p14:creationId xmlns:p14="http://schemas.microsoft.com/office/powerpoint/2010/main" val="2025663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12</a:t>
            </a:fld>
            <a:endParaRPr lang="zh-TW" altLang="en-US"/>
          </a:p>
        </p:txBody>
      </p:sp>
    </p:spTree>
    <p:extLst>
      <p:ext uri="{BB962C8B-B14F-4D97-AF65-F5344CB8AC3E}">
        <p14:creationId xmlns:p14="http://schemas.microsoft.com/office/powerpoint/2010/main" val="3009870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13</a:t>
            </a:fld>
            <a:endParaRPr lang="zh-TW" altLang="en-US"/>
          </a:p>
        </p:txBody>
      </p:sp>
    </p:spTree>
    <p:extLst>
      <p:ext uri="{BB962C8B-B14F-4D97-AF65-F5344CB8AC3E}">
        <p14:creationId xmlns:p14="http://schemas.microsoft.com/office/powerpoint/2010/main" val="3944743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14</a:t>
            </a:fld>
            <a:endParaRPr lang="zh-TW" altLang="en-US"/>
          </a:p>
        </p:txBody>
      </p:sp>
    </p:spTree>
    <p:extLst>
      <p:ext uri="{BB962C8B-B14F-4D97-AF65-F5344CB8AC3E}">
        <p14:creationId xmlns:p14="http://schemas.microsoft.com/office/powerpoint/2010/main" val="3357901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15</a:t>
            </a:fld>
            <a:endParaRPr lang="zh-TW" altLang="en-US"/>
          </a:p>
        </p:txBody>
      </p:sp>
    </p:spTree>
    <p:extLst>
      <p:ext uri="{BB962C8B-B14F-4D97-AF65-F5344CB8AC3E}">
        <p14:creationId xmlns:p14="http://schemas.microsoft.com/office/powerpoint/2010/main" val="1284227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4789D7D6-4DD2-469F-BAF4-F8765C021F74}" type="datetimeFigureOut">
              <a:rPr lang="zh-TW" altLang="en-US" smtClean="0"/>
              <a:t>2023/1/9</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89D7D6-4DD2-469F-BAF4-F8765C021F74}" type="datetimeFigureOut">
              <a:rPr lang="zh-TW" altLang="en-US" smtClean="0"/>
              <a:t>2023/1/9</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baike.baidu.hk/item/%CE%BB/11056008"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baike.baidu.hk/item/%CE%BB/11056008"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a:noAutofit/>
          </a:bodyPr>
          <a:lstStyle/>
          <a:p>
            <a:r>
              <a:rPr lang="en-US" altLang="zh-TW" sz="4400" dirty="0">
                <a:latin typeface="Times New Roman" panose="02020603050405020304" pitchFamily="18" charset="0"/>
                <a:cs typeface="Times New Roman" panose="02020603050405020304" pitchFamily="18" charset="0"/>
              </a:rPr>
              <a:t>A Distributed Storage MLCS Algorithm with Time Efficient Upper Bound and Precise Lower Bound</a:t>
            </a:r>
            <a:endParaRPr lang="zh-TW" altLang="en-US"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a:normAutofit/>
          </a:bodyPr>
          <a:lstStyle/>
          <a:p>
            <a:r>
              <a:rPr lang="en-US" altLang="zh-TW" dirty="0" err="1">
                <a:latin typeface="Times New Roman" panose="02020603050405020304" pitchFamily="18" charset="0"/>
                <a:cs typeface="Times New Roman" panose="02020603050405020304" pitchFamily="18" charset="0"/>
              </a:rPr>
              <a:t>Chunyang</a:t>
            </a:r>
            <a:r>
              <a:rPr lang="en-US" altLang="zh-TW" dirty="0">
                <a:latin typeface="Times New Roman" panose="02020603050405020304" pitchFamily="18" charset="0"/>
                <a:cs typeface="Times New Roman" panose="02020603050405020304" pitchFamily="18" charset="0"/>
              </a:rPr>
              <a:t> Wang , </a:t>
            </a:r>
            <a:r>
              <a:rPr lang="en-US" altLang="zh-TW" dirty="0" err="1">
                <a:latin typeface="Times New Roman" panose="02020603050405020304" pitchFamily="18" charset="0"/>
                <a:cs typeface="Times New Roman" panose="02020603050405020304" pitchFamily="18" charset="0"/>
              </a:rPr>
              <a:t>Yuping</a:t>
            </a:r>
            <a:r>
              <a:rPr lang="en-US" altLang="zh-TW" dirty="0">
                <a:latin typeface="Times New Roman" panose="02020603050405020304" pitchFamily="18" charset="0"/>
                <a:cs typeface="Times New Roman" panose="02020603050405020304" pitchFamily="18" charset="0"/>
              </a:rPr>
              <a:t> Wang , </a:t>
            </a:r>
            <a:r>
              <a:rPr lang="en-US" altLang="zh-TW" dirty="0" err="1">
                <a:latin typeface="Times New Roman" panose="02020603050405020304" pitchFamily="18" charset="0"/>
                <a:cs typeface="Times New Roman" panose="02020603050405020304" pitchFamily="18" charset="0"/>
              </a:rPr>
              <a:t>Xiangjuan</a:t>
            </a:r>
            <a:r>
              <a:rPr lang="en-US" altLang="zh-TW" dirty="0">
                <a:latin typeface="Times New Roman" panose="02020603050405020304" pitchFamily="18" charset="0"/>
                <a:cs typeface="Times New Roman" panose="02020603050405020304" pitchFamily="18" charset="0"/>
              </a:rPr>
              <a:t> Wu, </a:t>
            </a:r>
            <a:r>
              <a:rPr lang="en-US" altLang="zh-TW" dirty="0" err="1">
                <a:latin typeface="Times New Roman" panose="02020603050405020304" pitchFamily="18" charset="0"/>
                <a:cs typeface="Times New Roman" panose="02020603050405020304" pitchFamily="18" charset="0"/>
              </a:rPr>
              <a:t>Xiaofang</a:t>
            </a:r>
            <a:r>
              <a:rPr lang="en-US" altLang="zh-TW" dirty="0">
                <a:latin typeface="Times New Roman" panose="02020603050405020304" pitchFamily="18" charset="0"/>
                <a:cs typeface="Times New Roman" panose="02020603050405020304" pitchFamily="18" charset="0"/>
              </a:rPr>
              <a:t> Guo</a:t>
            </a:r>
          </a:p>
          <a:p>
            <a:pPr algn="ctr"/>
            <a:r>
              <a:rPr lang="fr-FR" altLang="zh-TW" sz="2500" dirty="0">
                <a:latin typeface="Times New Roman" panose="02020603050405020304" pitchFamily="18" charset="0"/>
                <a:cs typeface="Times New Roman" panose="02020603050405020304" pitchFamily="18" charset="0"/>
              </a:rPr>
              <a:t>Information Sciences, Volume 618, </a:t>
            </a:r>
            <a:r>
              <a:rPr lang="fr-FR" altLang="zh-TW" sz="2500" dirty="0" err="1">
                <a:latin typeface="Times New Roman" panose="02020603050405020304" pitchFamily="18" charset="0"/>
                <a:cs typeface="Times New Roman" panose="02020603050405020304" pitchFamily="18" charset="0"/>
              </a:rPr>
              <a:t>December</a:t>
            </a:r>
            <a:r>
              <a:rPr lang="fr-FR" altLang="zh-TW" sz="2500" dirty="0">
                <a:latin typeface="Times New Roman" panose="02020603050405020304" pitchFamily="18" charset="0"/>
                <a:cs typeface="Times New Roman" panose="02020603050405020304" pitchFamily="18" charset="0"/>
              </a:rPr>
              <a:t> 2022, pp. 118-135</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Jan. 10,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(1/2)</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a:bodyPr>
          <a:lstStyle/>
          <a:p>
            <a:pPr marL="0" indent="0">
              <a:lnSpc>
                <a:spcPct val="110000"/>
              </a:lnSpc>
              <a:buNone/>
            </a:pPr>
            <a:r>
              <a:rPr kumimoji="1" lang="en-US" altLang="zh-TW" sz="2600" dirty="0">
                <a:latin typeface="Times New Roman" panose="02020603050405020304" pitchFamily="18" charset="0"/>
                <a:cs typeface="Times New Roman" panose="02020603050405020304" pitchFamily="18" charset="0"/>
              </a:rPr>
              <a:t>Finding the longest common subsequence of multiple sequences (i.e., the MLCS problem) is a key issue in data mining, such as pattern recognition of bio-sequences (e.g., DNA and protein sequences), diagnosis of diseases, and deciphering human genetic codes. The length of the longest common subsequence is often used to measure the similarity between sequences. Current state-of-the-art algorithms for the MLCS problem often transform the problem into finding the longest path in a directed acyclic graph (DAG); however, their fatal flaw is that the time cost or constructed DAG is too large. </a:t>
            </a:r>
            <a:endParaRPr kumimoji="1" lang="zh-TW" alt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(2/2)</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a:bodyPr>
          <a:lstStyle/>
          <a:p>
            <a:pPr marL="0" indent="0">
              <a:lnSpc>
                <a:spcPct val="110000"/>
              </a:lnSpc>
              <a:buNone/>
            </a:pPr>
            <a:r>
              <a:rPr kumimoji="1" lang="en-US" altLang="zh-TW" sz="2600" dirty="0">
                <a:latin typeface="Times New Roman" panose="02020603050405020304" pitchFamily="18" charset="0"/>
                <a:cs typeface="Times New Roman" panose="02020603050405020304" pitchFamily="18" charset="0"/>
              </a:rPr>
              <a:t>Aiming at solving the problem of the existing algorithms, this paper proposes a time-efficient upper bound estimation method that can estimate the upper bound for the length of any path through a node in much less time, and then proposes an adaptive lower bound estimation strategy that can estimate the more precise lower bound for the length of the longest common subsequences. This study also describes a distributed storage scheme that stores most parts of the DAG in external devices and only a few parts in memory. A comparison with several state-of-the-art algorithms in the experiments indicates that the proposed algorithm is more efficient and effective.</a:t>
            </a:r>
            <a:endParaRPr kumimoji="1" lang="zh-TW" alt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3</a:t>
            </a:fld>
            <a:endParaRPr lang="zh-TW" altLang="en-US" dirty="0"/>
          </a:p>
        </p:txBody>
      </p:sp>
    </p:spTree>
    <p:extLst>
      <p:ext uri="{BB962C8B-B14F-4D97-AF65-F5344CB8AC3E}">
        <p14:creationId xmlns:p14="http://schemas.microsoft.com/office/powerpoint/2010/main" val="34283008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Step MLCS: </a:t>
            </a:r>
            <a:br>
              <a:rPr kumimoji="1" lang="en-US" altLang="zh-TW" sz="3200" b="1" dirty="0">
                <a:latin typeface="Times New Roman" panose="02020603050405020304" pitchFamily="18" charset="0"/>
                <a:cs typeface="Times New Roman" panose="02020603050405020304" pitchFamily="18" charset="0"/>
              </a:rPr>
            </a:br>
            <a:r>
              <a:rPr kumimoji="1" lang="en-US" altLang="zh-TW" sz="3200" b="1" dirty="0">
                <a:latin typeface="Times New Roman" panose="02020603050405020304" pitchFamily="18" charset="0"/>
                <a:cs typeface="Times New Roman" panose="02020603050405020304" pitchFamily="18" charset="0"/>
              </a:rPr>
              <a:t>A Time Efficient Upper Bound Estimation Strategy  </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a:p>
        </p:txBody>
      </p:sp>
      <p:sp>
        <p:nvSpPr>
          <p:cNvPr id="4" name="Content Placeholder 3">
            <a:extLst>
              <a:ext uri="{FF2B5EF4-FFF2-40B4-BE49-F238E27FC236}">
                <a16:creationId xmlns:a16="http://schemas.microsoft.com/office/drawing/2014/main" id="{B2BD19D7-E612-59BE-C994-76FD6E1B9A6A}"/>
              </a:ext>
            </a:extLst>
          </p:cNvPr>
          <p:cNvSpPr>
            <a:spLocks noGrp="1"/>
          </p:cNvSpPr>
          <p:nvPr>
            <p:ph idx="1"/>
          </p:nvPr>
        </p:nvSpPr>
        <p:spPr>
          <a:xfrm>
            <a:off x="8424996" y="2149064"/>
            <a:ext cx="2370909" cy="1072158"/>
          </a:xfrm>
        </p:spPr>
        <p:txBody>
          <a:bodyPr>
            <a:normAutofit fontScale="77500" lnSpcReduction="20000"/>
          </a:bodyPr>
          <a:lstStyle/>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CAGTT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 C</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GGCT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G</a:t>
            </a:r>
            <a:r>
              <a:rPr kumimoji="1" lang="en-US" altLang="zh-TW" dirty="0">
                <a:solidFill>
                  <a:srgbClr val="FF0000"/>
                </a:solidFill>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CAGTA</a:t>
            </a:r>
          </a:p>
        </p:txBody>
      </p:sp>
      <mc:AlternateContent xmlns:mc="http://schemas.openxmlformats.org/markup-compatibility/2006">
        <mc:Choice xmlns:a14="http://schemas.microsoft.com/office/drawing/2010/main" Requires="a14">
          <p:sp>
            <p:nvSpPr>
              <p:cNvPr id="3" name="Content Placeholder 3">
                <a:extLst>
                  <a:ext uri="{FF2B5EF4-FFF2-40B4-BE49-F238E27FC236}">
                    <a16:creationId xmlns:a16="http://schemas.microsoft.com/office/drawing/2014/main" id="{859E31B8-F623-A947-E784-D05E27F066E1}"/>
                  </a:ext>
                </a:extLst>
              </p:cNvPr>
              <p:cNvSpPr txBox="1">
                <a:spLocks/>
              </p:cNvSpPr>
              <p:nvPr/>
            </p:nvSpPr>
            <p:spPr>
              <a:xfrm>
                <a:off x="7887836" y="3385938"/>
                <a:ext cx="4066902" cy="12170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en-US" altLang="zh-TW" sz="1800" dirty="0">
                    <a:latin typeface="Times New Roman" panose="02020603050405020304" pitchFamily="18" charset="0"/>
                    <a:cs typeface="Times New Roman" panose="02020603050405020304" pitchFamily="18" charset="0"/>
                  </a:rPr>
                  <a:t>key node </a:t>
                </a:r>
                <a14:m>
                  <m:oMath xmlns:m="http://schemas.openxmlformats.org/officeDocument/2006/math">
                    <m:r>
                      <a:rPr kumimoji="1" lang="en-US" altLang="zh-TW" sz="1800" dirty="0" smtClean="0">
                        <a:latin typeface="Cambria Math" panose="02040503050406030204" pitchFamily="18" charset="0"/>
                        <a:cs typeface="Times New Roman" panose="02020603050405020304" pitchFamily="18" charset="0"/>
                      </a:rPr>
                      <m:t>𝑝</m:t>
                    </m:r>
                  </m:oMath>
                </a14:m>
                <a:r>
                  <a:rPr kumimoji="1" lang="en-US" altLang="zh-TW" sz="1800" dirty="0">
                    <a:latin typeface="Times New Roman" panose="02020603050405020304" pitchFamily="18" charset="0"/>
                    <a:cs typeface="Times New Roman" panose="02020603050405020304" pitchFamily="18" charset="0"/>
                  </a:rPr>
                  <a:t>: A(1, 2, 2)</a:t>
                </a:r>
                <a:r>
                  <a:rPr lang="en-US" altLang="zh-TW" sz="1800" dirty="0"/>
                  <a:t> </a:t>
                </a:r>
                <a:endParaRPr kumimoji="1" lang="en-US" altLang="zh-TW" sz="1800" i="1" dirty="0">
                  <a:latin typeface="Cambria Math" panose="02040503050406030204" pitchFamily="18" charset="0"/>
                  <a:cs typeface="Times New Roman" panose="02020603050405020304" pitchFamily="18" charset="0"/>
                </a:endParaRPr>
              </a:p>
              <a:p>
                <a:pPr marL="0" indent="0">
                  <a:buFont typeface="Arial" panose="020B0604020202020204" pitchFamily="34" charset="0"/>
                  <a:buNone/>
                </a:pPr>
                <a14:m>
                  <m:oMath xmlns:m="http://schemas.openxmlformats.org/officeDocument/2006/math">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en-US" altLang="zh-TW" sz="1800" dirty="0">
                            <a:latin typeface="Cambria Math" panose="02040503050406030204" pitchFamily="18" charset="0"/>
                            <a:cs typeface="Times New Roman" panose="02020603050405020304" pitchFamily="18" charset="0"/>
                          </a:rPr>
                          <m:t>1</m:t>
                        </m:r>
                      </m:sub>
                      <m:sup>
                        <m:r>
                          <a:rPr kumimoji="1" lang="en-US" altLang="zh-TW" sz="1800" dirty="0">
                            <a:latin typeface="Cambria Math" panose="02040503050406030204" pitchFamily="18" charset="0"/>
                            <a:cs typeface="Times New Roman" panose="02020603050405020304" pitchFamily="18" charset="0"/>
                          </a:rPr>
                          <m:t>𝑝</m:t>
                        </m:r>
                      </m:sup>
                    </m:sSubSup>
                  </m:oMath>
                </a14:m>
                <a:r>
                  <a:rPr kumimoji="1" lang="en-US" altLang="zh-TW" sz="1800" dirty="0">
                    <a:latin typeface="Times New Roman" panose="02020603050405020304" pitchFamily="18" charset="0"/>
                    <a:cs typeface="Times New Roman" panose="02020603050405020304" pitchFamily="18" charset="0"/>
                  </a:rPr>
                  <a:t>= CAGTT, </a:t>
                </a:r>
                <a14:m>
                  <m:oMath xmlns:m="http://schemas.openxmlformats.org/officeDocument/2006/math">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en-US" altLang="zh-TW" sz="1800" b="0" i="0" dirty="0" smtClean="0">
                            <a:latin typeface="Cambria Math" panose="02040503050406030204" pitchFamily="18" charset="0"/>
                            <a:cs typeface="Times New Roman" panose="02020603050405020304" pitchFamily="18" charset="0"/>
                          </a:rPr>
                          <m:t>2</m:t>
                        </m:r>
                      </m:sub>
                      <m:sup>
                        <m:r>
                          <a:rPr kumimoji="1" lang="en-US" altLang="zh-TW" sz="1800" dirty="0">
                            <a:latin typeface="Cambria Math" panose="02040503050406030204" pitchFamily="18" charset="0"/>
                            <a:cs typeface="Times New Roman" panose="02020603050405020304" pitchFamily="18" charset="0"/>
                          </a:rPr>
                          <m:t>𝑝</m:t>
                        </m:r>
                      </m:sup>
                    </m:sSubSup>
                    <m:r>
                      <a:rPr kumimoji="1" lang="en-US" altLang="zh-TW" sz="1800" i="1" dirty="0">
                        <a:latin typeface="Cambria Math" panose="02040503050406030204" pitchFamily="18" charset="0"/>
                        <a:cs typeface="Times New Roman" panose="02020603050405020304" pitchFamily="18" charset="0"/>
                      </a:rPr>
                      <m:t> </m:t>
                    </m:r>
                  </m:oMath>
                </a14:m>
                <a:r>
                  <a:rPr kumimoji="1" lang="en-US" altLang="zh-TW" sz="1800" dirty="0">
                    <a:latin typeface="Times New Roman" panose="02020603050405020304" pitchFamily="18" charset="0"/>
                    <a:cs typeface="Times New Roman" panose="02020603050405020304" pitchFamily="18" charset="0"/>
                  </a:rPr>
                  <a:t>= GGCT, </a:t>
                </a:r>
                <a14:m>
                  <m:oMath xmlns:m="http://schemas.openxmlformats.org/officeDocument/2006/math">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en-US" altLang="zh-TW" sz="1800" b="0" i="0" dirty="0" smtClean="0">
                            <a:latin typeface="Cambria Math" panose="02040503050406030204" pitchFamily="18" charset="0"/>
                            <a:cs typeface="Times New Roman" panose="02020603050405020304" pitchFamily="18" charset="0"/>
                          </a:rPr>
                          <m:t>3</m:t>
                        </m:r>
                      </m:sub>
                      <m:sup>
                        <m:r>
                          <a:rPr kumimoji="1" lang="en-US" altLang="zh-TW" sz="1800" dirty="0">
                            <a:latin typeface="Cambria Math" panose="02040503050406030204" pitchFamily="18" charset="0"/>
                            <a:cs typeface="Times New Roman" panose="02020603050405020304" pitchFamily="18" charset="0"/>
                          </a:rPr>
                          <m:t>𝑝</m:t>
                        </m:r>
                      </m:sup>
                    </m:sSubSup>
                    <m:r>
                      <a:rPr kumimoji="1" lang="en-US" altLang="zh-TW" sz="1800" i="1" dirty="0">
                        <a:latin typeface="Cambria Math" panose="02040503050406030204" pitchFamily="18" charset="0"/>
                        <a:cs typeface="Times New Roman" panose="02020603050405020304" pitchFamily="18" charset="0"/>
                      </a:rPr>
                      <m:t> </m:t>
                    </m:r>
                  </m:oMath>
                </a14:m>
                <a:r>
                  <a:rPr kumimoji="1" lang="en-US" altLang="zh-TW" sz="1800" dirty="0">
                    <a:latin typeface="Times New Roman" panose="02020603050405020304" pitchFamily="18" charset="0"/>
                    <a:cs typeface="Times New Roman" panose="02020603050405020304" pitchFamily="18" charset="0"/>
                  </a:rPr>
                  <a:t>= CAGTA</a:t>
                </a:r>
              </a:p>
              <a:p>
                <a:pPr marL="0" indent="0">
                  <a:buNone/>
                </a:pPr>
                <a:endParaRPr kumimoji="1" lang="en-US" altLang="zh-TW" sz="1800" dirty="0">
                  <a:latin typeface="Times New Roman" panose="02020603050405020304" pitchFamily="18" charset="0"/>
                  <a:cs typeface="Times New Roman" panose="02020603050405020304" pitchFamily="18" charset="0"/>
                </a:endParaRPr>
              </a:p>
            </p:txBody>
          </p:sp>
        </mc:Choice>
        <mc:Fallback>
          <p:sp>
            <p:nvSpPr>
              <p:cNvPr id="3" name="Content Placeholder 3">
                <a:extLst>
                  <a:ext uri="{FF2B5EF4-FFF2-40B4-BE49-F238E27FC236}">
                    <a16:creationId xmlns:a16="http://schemas.microsoft.com/office/drawing/2014/main" id="{859E31B8-F623-A947-E784-D05E27F066E1}"/>
                  </a:ext>
                </a:extLst>
              </p:cNvPr>
              <p:cNvSpPr txBox="1">
                <a:spLocks noRot="1" noChangeAspect="1" noMove="1" noResize="1" noEditPoints="1" noAdjustHandles="1" noChangeArrowheads="1" noChangeShapeType="1" noTextEdit="1"/>
              </p:cNvSpPr>
              <p:nvPr/>
            </p:nvSpPr>
            <p:spPr>
              <a:xfrm>
                <a:off x="7887836" y="3385938"/>
                <a:ext cx="4066902" cy="1217021"/>
              </a:xfrm>
              <a:prstGeom prst="rect">
                <a:avLst/>
              </a:prstGeom>
              <a:blipFill>
                <a:blip r:embed="rId3"/>
                <a:stretch>
                  <a:fillRect l="-1349" t="-5000"/>
                </a:stretch>
              </a:blipFill>
            </p:spPr>
            <p:txBody>
              <a:bodyPr/>
              <a:lstStyle/>
              <a:p>
                <a:r>
                  <a:rPr lang="zh-TW" altLang="en-US">
                    <a:noFill/>
                  </a:rPr>
                  <a:t> </a:t>
                </a:r>
              </a:p>
            </p:txBody>
          </p:sp>
        </mc:Fallback>
      </mc:AlternateContent>
      <p:cxnSp>
        <p:nvCxnSpPr>
          <p:cNvPr id="8" name="Straight Connector 7">
            <a:extLst>
              <a:ext uri="{FF2B5EF4-FFF2-40B4-BE49-F238E27FC236}">
                <a16:creationId xmlns:a16="http://schemas.microsoft.com/office/drawing/2014/main" id="{BAC09A4C-583B-5309-C1F9-4882599BBC7A}"/>
              </a:ext>
            </a:extLst>
          </p:cNvPr>
          <p:cNvCxnSpPr>
            <a:cxnSpLocks/>
          </p:cNvCxnSpPr>
          <p:nvPr/>
        </p:nvCxnSpPr>
        <p:spPr>
          <a:xfrm>
            <a:off x="9025541" y="2403228"/>
            <a:ext cx="177043"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697E25-42D4-BE64-72A0-BFA2EB2A3F47}"/>
              </a:ext>
            </a:extLst>
          </p:cNvPr>
          <p:cNvCxnSpPr>
            <a:cxnSpLocks/>
          </p:cNvCxnSpPr>
          <p:nvPr/>
        </p:nvCxnSpPr>
        <p:spPr>
          <a:xfrm>
            <a:off x="9095543" y="2798378"/>
            <a:ext cx="336382"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A352A6-D980-5927-B6C3-A1352969FBBB}"/>
              </a:ext>
            </a:extLst>
          </p:cNvPr>
          <p:cNvCxnSpPr>
            <a:cxnSpLocks/>
          </p:cNvCxnSpPr>
          <p:nvPr/>
        </p:nvCxnSpPr>
        <p:spPr>
          <a:xfrm>
            <a:off x="9095543" y="3132385"/>
            <a:ext cx="336382"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FDBA19A-3A3C-D37D-E320-51B850FEA2DA}"/>
              </a:ext>
            </a:extLst>
          </p:cNvPr>
          <p:cNvCxnSpPr>
            <a:cxnSpLocks/>
          </p:cNvCxnSpPr>
          <p:nvPr/>
        </p:nvCxnSpPr>
        <p:spPr>
          <a:xfrm>
            <a:off x="9276798" y="2415118"/>
            <a:ext cx="79112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4B477DE-D365-25C0-78B9-E02A9B8A7334}"/>
              </a:ext>
            </a:extLst>
          </p:cNvPr>
          <p:cNvCxnSpPr>
            <a:cxnSpLocks/>
          </p:cNvCxnSpPr>
          <p:nvPr/>
        </p:nvCxnSpPr>
        <p:spPr>
          <a:xfrm>
            <a:off x="9485409" y="2797766"/>
            <a:ext cx="628505"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34BC508-F80A-841A-1305-6631CC88E701}"/>
              </a:ext>
            </a:extLst>
          </p:cNvPr>
          <p:cNvCxnSpPr>
            <a:cxnSpLocks/>
          </p:cNvCxnSpPr>
          <p:nvPr/>
        </p:nvCxnSpPr>
        <p:spPr>
          <a:xfrm>
            <a:off x="9482640" y="3131773"/>
            <a:ext cx="877294" cy="1"/>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6821531" cy="444309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200" dirty="0">
                    <a:latin typeface="Times New Roman" panose="02020603050405020304" pitchFamily="18" charset="0"/>
                    <a:cs typeface="Times New Roman" panose="02020603050405020304" pitchFamily="18" charset="0"/>
                  </a:rPr>
                  <a:t>Both the Big-MLCS and A*-type algorithms use all subsequences {</a:t>
                </a:r>
                <a14:m>
                  <m:oMath xmlns:m="http://schemas.openxmlformats.org/officeDocument/2006/math">
                    <m:sSubSup>
                      <m:sSubSupPr>
                        <m:ctrlPr>
                          <a:rPr kumimoji="1" lang="en-US" altLang="zh-TW" sz="2200" i="1" dirty="0" smtClean="0">
                            <a:latin typeface="Cambria Math" panose="02040503050406030204" pitchFamily="18" charset="0"/>
                            <a:cs typeface="Times New Roman" panose="02020603050405020304" pitchFamily="18" charset="0"/>
                          </a:rPr>
                        </m:ctrlPr>
                      </m:sSubSupPr>
                      <m:e>
                        <m:r>
                          <a:rPr kumimoji="1" lang="en-US" altLang="zh-TW" sz="2200" dirty="0">
                            <a:latin typeface="Cambria Math" panose="02040503050406030204" pitchFamily="18" charset="0"/>
                            <a:cs typeface="Times New Roman" panose="02020603050405020304" pitchFamily="18" charset="0"/>
                          </a:rPr>
                          <m:t>𝑆</m:t>
                        </m:r>
                      </m:e>
                      <m:sub>
                        <m:r>
                          <a:rPr kumimoji="1" lang="en-US" altLang="zh-TW" sz="2200" dirty="0">
                            <a:latin typeface="Cambria Math" panose="02040503050406030204" pitchFamily="18" charset="0"/>
                            <a:cs typeface="Times New Roman" panose="02020603050405020304" pitchFamily="18" charset="0"/>
                          </a:rPr>
                          <m:t>1</m:t>
                        </m:r>
                      </m:sub>
                      <m:sup>
                        <m:r>
                          <a:rPr kumimoji="1" lang="en-US" altLang="zh-TW" sz="2200" dirty="0">
                            <a:latin typeface="Cambria Math" panose="02040503050406030204" pitchFamily="18" charset="0"/>
                            <a:cs typeface="Times New Roman" panose="02020603050405020304" pitchFamily="18" charset="0"/>
                          </a:rPr>
                          <m:t>𝑝</m:t>
                        </m:r>
                      </m:sup>
                    </m:sSubSup>
                    <m:r>
                      <a:rPr kumimoji="1" lang="en-US" altLang="zh-TW" sz="2200" b="0" i="0" dirty="0" smtClean="0">
                        <a:latin typeface="Cambria Math" panose="02040503050406030204" pitchFamily="18" charset="0"/>
                        <a:cs typeface="Times New Roman" panose="02020603050405020304" pitchFamily="18" charset="0"/>
                      </a:rPr>
                      <m:t>, </m:t>
                    </m:r>
                    <m:sSubSup>
                      <m:sSubSupPr>
                        <m:ctrlPr>
                          <a:rPr kumimoji="1" lang="en-US" altLang="zh-TW" sz="2200" i="1" dirty="0">
                            <a:latin typeface="Cambria Math" panose="02040503050406030204" pitchFamily="18" charset="0"/>
                            <a:cs typeface="Times New Roman" panose="02020603050405020304" pitchFamily="18" charset="0"/>
                          </a:rPr>
                        </m:ctrlPr>
                      </m:sSubSupPr>
                      <m:e>
                        <m:r>
                          <a:rPr kumimoji="1" lang="en-US" altLang="zh-TW" sz="2200" dirty="0">
                            <a:latin typeface="Cambria Math" panose="02040503050406030204" pitchFamily="18" charset="0"/>
                            <a:cs typeface="Times New Roman" panose="02020603050405020304" pitchFamily="18" charset="0"/>
                          </a:rPr>
                          <m:t>𝑆</m:t>
                        </m:r>
                      </m:e>
                      <m:sub>
                        <m:r>
                          <a:rPr kumimoji="1" lang="en-US" altLang="zh-TW" sz="2200" b="0" i="0" dirty="0" smtClean="0">
                            <a:latin typeface="Cambria Math" panose="02040503050406030204" pitchFamily="18" charset="0"/>
                            <a:cs typeface="Times New Roman" panose="02020603050405020304" pitchFamily="18" charset="0"/>
                          </a:rPr>
                          <m:t>2</m:t>
                        </m:r>
                      </m:sub>
                      <m:sup>
                        <m:r>
                          <a:rPr kumimoji="1" lang="en-US" altLang="zh-TW" sz="2200" dirty="0">
                            <a:latin typeface="Cambria Math" panose="02040503050406030204" pitchFamily="18" charset="0"/>
                            <a:cs typeface="Times New Roman" panose="02020603050405020304" pitchFamily="18" charset="0"/>
                          </a:rPr>
                          <m:t>𝑝</m:t>
                        </m:r>
                      </m:sup>
                    </m:sSubSup>
                  </m:oMath>
                </a14:m>
                <a:r>
                  <a:rPr kumimoji="1" lang="en-US" altLang="zh-TW" sz="2200" dirty="0">
                    <a:cs typeface="Times New Roman" panose="02020603050405020304" pitchFamily="18" charset="0"/>
                  </a:rPr>
                  <a:t>, …, </a:t>
                </a:r>
                <a14:m>
                  <m:oMath xmlns:m="http://schemas.openxmlformats.org/officeDocument/2006/math">
                    <m:sSubSup>
                      <m:sSubSupPr>
                        <m:ctrlPr>
                          <a:rPr kumimoji="1" lang="en-US" altLang="zh-TW" sz="2200" i="1" dirty="0">
                            <a:latin typeface="Cambria Math" panose="02040503050406030204" pitchFamily="18" charset="0"/>
                            <a:cs typeface="Times New Roman" panose="02020603050405020304" pitchFamily="18" charset="0"/>
                          </a:rPr>
                        </m:ctrlPr>
                      </m:sSubSupPr>
                      <m:e>
                        <m:r>
                          <a:rPr kumimoji="1" lang="en-US" altLang="zh-TW" sz="2200" dirty="0">
                            <a:latin typeface="Cambria Math" panose="02040503050406030204" pitchFamily="18" charset="0"/>
                            <a:cs typeface="Times New Roman" panose="02020603050405020304" pitchFamily="18" charset="0"/>
                          </a:rPr>
                          <m:t>𝑆</m:t>
                        </m:r>
                      </m:e>
                      <m:sub>
                        <m:r>
                          <m:rPr>
                            <m:sty m:val="p"/>
                          </m:rPr>
                          <a:rPr kumimoji="1" lang="en-US" altLang="zh-TW" sz="2200" b="0" i="0" dirty="0" smtClean="0">
                            <a:latin typeface="Cambria Math" panose="02040503050406030204" pitchFamily="18" charset="0"/>
                            <a:cs typeface="Times New Roman" panose="02020603050405020304" pitchFamily="18" charset="0"/>
                          </a:rPr>
                          <m:t>n</m:t>
                        </m:r>
                      </m:sub>
                      <m:sup>
                        <m:r>
                          <a:rPr kumimoji="1" lang="en-US" altLang="zh-TW" sz="2200" dirty="0">
                            <a:latin typeface="Cambria Math" panose="02040503050406030204" pitchFamily="18" charset="0"/>
                            <a:cs typeface="Times New Roman" panose="02020603050405020304" pitchFamily="18" charset="0"/>
                          </a:rPr>
                          <m:t>𝑝</m:t>
                        </m:r>
                      </m:sup>
                    </m:sSubSup>
                  </m:oMath>
                </a14:m>
                <a:r>
                  <a:rPr kumimoji="1" lang="en-US" altLang="zh-TW" sz="2200" dirty="0">
                    <a:latin typeface="Times New Roman" panose="02020603050405020304" pitchFamily="18" charset="0"/>
                    <a:cs typeface="Times New Roman" panose="02020603050405020304" pitchFamily="18" charset="0"/>
                  </a:rPr>
                  <a:t>} after node P when calculating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U</a:t>
                </a:r>
                <a14:m>
                  <m:oMath xmlns:m="http://schemas.openxmlformats.org/officeDocument/2006/math">
                    <m:r>
                      <a:rPr kumimoji="1" lang="en-US" altLang="zh-TW" sz="2200">
                        <a:latin typeface="Cambria Math" panose="02040503050406030204" pitchFamily="18" charset="0"/>
                        <a:cs typeface="Times New Roman" panose="02020603050405020304" pitchFamily="18" charset="0"/>
                      </a:rPr>
                      <m:t>(</m:t>
                    </m:r>
                    <m:r>
                      <m:rPr>
                        <m:sty m:val="p"/>
                      </m:rPr>
                      <a:rPr kumimoji="1" lang="en-US" altLang="zh-TW" sz="2200">
                        <a:latin typeface="Cambria Math" panose="02040503050406030204" pitchFamily="18" charset="0"/>
                        <a:cs typeface="Times New Roman" panose="02020603050405020304" pitchFamily="18" charset="0"/>
                      </a:rPr>
                      <m:t>P</m:t>
                    </m:r>
                    <m:r>
                      <a:rPr kumimoji="1" lang="en-US" altLang="zh-TW" sz="2200">
                        <a:latin typeface="Cambria Math" panose="02040503050406030204" pitchFamily="18" charset="0"/>
                        <a:cs typeface="Times New Roman" panose="02020603050405020304" pitchFamily="18" charset="0"/>
                      </a:rPr>
                      <m:t>, ∞)</m:t>
                    </m:r>
                  </m:oMath>
                </a14:m>
                <a:endParaRPr kumimoji="1" lang="en-US" altLang="zh-TW" sz="22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sz="2200" i="1" smtClean="0">
                            <a:latin typeface="Cambria Math" panose="02040503050406030204" pitchFamily="18" charset="0"/>
                            <a:cs typeface="Times New Roman" panose="02020603050405020304" pitchFamily="18" charset="0"/>
                          </a:rPr>
                        </m:ctrlPr>
                      </m:sSubPr>
                      <m:e>
                        <m:r>
                          <m:rPr>
                            <m:sty m:val="p"/>
                          </m:rPr>
                          <a:rPr kumimoji="1" lang="en-US" altLang="zh-TW" sz="2200">
                            <a:latin typeface="Cambria Math" panose="02040503050406030204" pitchFamily="18" charset="0"/>
                            <a:cs typeface="Times New Roman" panose="02020603050405020304" pitchFamily="18" charset="0"/>
                          </a:rPr>
                          <m:t>U</m:t>
                        </m:r>
                      </m:e>
                      <m:sub>
                        <m:r>
                          <a:rPr kumimoji="1" lang="en-US" altLang="zh-TW" sz="2200" b="0" i="0" smtClean="0">
                            <a:latin typeface="Cambria Math" panose="02040503050406030204" pitchFamily="18" charset="0"/>
                            <a:cs typeface="Times New Roman" panose="02020603050405020304" pitchFamily="18" charset="0"/>
                          </a:rPr>
                          <m:t>4</m:t>
                        </m:r>
                      </m:sub>
                    </m:sSub>
                    <m:r>
                      <a:rPr kumimoji="1" lang="en-US" altLang="zh-TW" sz="2200">
                        <a:latin typeface="Cambria Math" panose="02040503050406030204" pitchFamily="18" charset="0"/>
                        <a:cs typeface="Times New Roman" panose="02020603050405020304" pitchFamily="18" charset="0"/>
                      </a:rPr>
                      <m:t>(</m:t>
                    </m:r>
                    <m:r>
                      <m:rPr>
                        <m:sty m:val="p"/>
                      </m:rPr>
                      <a:rPr kumimoji="1" lang="en-US" altLang="zh-TW" sz="2200">
                        <a:latin typeface="Cambria Math" panose="02040503050406030204" pitchFamily="18" charset="0"/>
                        <a:cs typeface="Times New Roman" panose="02020603050405020304" pitchFamily="18" charset="0"/>
                      </a:rPr>
                      <m:t>P</m:t>
                    </m:r>
                    <m:r>
                      <a:rPr kumimoji="1" lang="en-US" altLang="zh-TW" sz="2200">
                        <a:latin typeface="Cambria Math" panose="02040503050406030204" pitchFamily="18" charset="0"/>
                        <a:cs typeface="Times New Roman" panose="02020603050405020304" pitchFamily="18" charset="0"/>
                      </a:rPr>
                      <m:t>, ∞)</m:t>
                    </m:r>
                  </m:oMath>
                </a14:m>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Add threshold </a:t>
                </a:r>
                <a:r>
                  <a:rPr kumimoji="1" lang="el-GR" altLang="zh-TW" sz="2200" dirty="0">
                    <a:latin typeface="Times New Roman" panose="02020603050405020304" pitchFamily="18" charset="0"/>
                    <a:cs typeface="Times New Roman" panose="02020603050405020304" pitchFamily="18" charset="0"/>
                  </a:rPr>
                  <a:t>θ</a:t>
                </a:r>
                <a:r>
                  <a:rPr kumimoji="1" lang="en-US" altLang="zh-TW" sz="2200"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kumimoji="1" lang="en-US" altLang="zh-TW" sz="2200" i="1" dirty="0">
                            <a:latin typeface="Cambria Math" panose="02040503050406030204" pitchFamily="18" charset="0"/>
                            <a:cs typeface="Times New Roman" panose="02020603050405020304" pitchFamily="18" charset="0"/>
                          </a:rPr>
                        </m:ctrlPr>
                      </m:sSubSupPr>
                      <m:e>
                        <m:r>
                          <a:rPr kumimoji="1" lang="en-US" altLang="zh-TW" sz="2200" dirty="0">
                            <a:latin typeface="Cambria Math" panose="02040503050406030204" pitchFamily="18" charset="0"/>
                            <a:cs typeface="Times New Roman" panose="02020603050405020304" pitchFamily="18" charset="0"/>
                          </a:rPr>
                          <m:t>𝑆</m:t>
                        </m:r>
                      </m:e>
                      <m:sub>
                        <m:r>
                          <a:rPr kumimoji="1" lang="en-US" altLang="zh-TW" sz="2200" dirty="0">
                            <a:latin typeface="Cambria Math" panose="02040503050406030204" pitchFamily="18" charset="0"/>
                            <a:cs typeface="Times New Roman" panose="02020603050405020304" pitchFamily="18" charset="0"/>
                          </a:rPr>
                          <m:t>1</m:t>
                        </m:r>
                      </m:sub>
                      <m:sup>
                        <m:r>
                          <a:rPr kumimoji="1" lang="en-US" altLang="zh-TW" sz="2200" dirty="0">
                            <a:latin typeface="Cambria Math" panose="02040503050406030204" pitchFamily="18" charset="0"/>
                            <a:cs typeface="Times New Roman" panose="02020603050405020304" pitchFamily="18" charset="0"/>
                          </a:rPr>
                          <m:t>𝑝</m:t>
                        </m:r>
                      </m:sup>
                    </m:sSubSup>
                    <m:r>
                      <a:rPr kumimoji="1" lang="en-US" altLang="zh-TW" sz="2200" dirty="0">
                        <a:latin typeface="Cambria Math" panose="02040503050406030204" pitchFamily="18" charset="0"/>
                        <a:cs typeface="Times New Roman" panose="02020603050405020304" pitchFamily="18" charset="0"/>
                      </a:rPr>
                      <m:t>, </m:t>
                    </m:r>
                    <m:sSubSup>
                      <m:sSubSupPr>
                        <m:ctrlPr>
                          <a:rPr kumimoji="1" lang="en-US" altLang="zh-TW" sz="2200" i="1" dirty="0">
                            <a:latin typeface="Cambria Math" panose="02040503050406030204" pitchFamily="18" charset="0"/>
                            <a:cs typeface="Times New Roman" panose="02020603050405020304" pitchFamily="18" charset="0"/>
                          </a:rPr>
                        </m:ctrlPr>
                      </m:sSubSupPr>
                      <m:e>
                        <m:r>
                          <a:rPr kumimoji="1" lang="en-US" altLang="zh-TW" sz="2200" dirty="0">
                            <a:latin typeface="Cambria Math" panose="02040503050406030204" pitchFamily="18" charset="0"/>
                            <a:cs typeface="Times New Roman" panose="02020603050405020304" pitchFamily="18" charset="0"/>
                          </a:rPr>
                          <m:t>𝑆</m:t>
                        </m:r>
                      </m:e>
                      <m:sub>
                        <m:r>
                          <a:rPr kumimoji="1" lang="en-US" altLang="zh-TW" sz="2200" dirty="0">
                            <a:latin typeface="Cambria Math" panose="02040503050406030204" pitchFamily="18" charset="0"/>
                            <a:cs typeface="Times New Roman" panose="02020603050405020304" pitchFamily="18" charset="0"/>
                          </a:rPr>
                          <m:t>2</m:t>
                        </m:r>
                      </m:sub>
                      <m:sup>
                        <m:r>
                          <a:rPr kumimoji="1" lang="en-US" altLang="zh-TW" sz="2200" dirty="0">
                            <a:latin typeface="Cambria Math" panose="02040503050406030204" pitchFamily="18" charset="0"/>
                            <a:cs typeface="Times New Roman" panose="02020603050405020304" pitchFamily="18" charset="0"/>
                          </a:rPr>
                          <m:t>𝑝</m:t>
                        </m:r>
                      </m:sup>
                    </m:sSubSup>
                  </m:oMath>
                </a14:m>
                <a:r>
                  <a:rPr kumimoji="1" lang="en-US" altLang="zh-TW" sz="2200"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kumimoji="1" lang="en-US" altLang="zh-TW" sz="2200" i="1" dirty="0">
                            <a:latin typeface="Cambria Math" panose="02040503050406030204" pitchFamily="18" charset="0"/>
                            <a:cs typeface="Times New Roman" panose="02020603050405020304" pitchFamily="18" charset="0"/>
                          </a:rPr>
                        </m:ctrlPr>
                      </m:sSubSupPr>
                      <m:e>
                        <m:r>
                          <a:rPr kumimoji="1" lang="en-US" altLang="zh-TW" sz="2200" dirty="0">
                            <a:latin typeface="Cambria Math" panose="02040503050406030204" pitchFamily="18" charset="0"/>
                            <a:cs typeface="Times New Roman" panose="02020603050405020304" pitchFamily="18" charset="0"/>
                          </a:rPr>
                          <m:t>𝑆</m:t>
                        </m:r>
                      </m:e>
                      <m:sub>
                        <m:r>
                          <m:rPr>
                            <m:nor/>
                          </m:rPr>
                          <a:rPr kumimoji="1" lang="el-GR" altLang="zh-TW" sz="2200" dirty="0">
                            <a:latin typeface="Times New Roman" panose="02020603050405020304" pitchFamily="18" charset="0"/>
                            <a:cs typeface="Times New Roman" panose="02020603050405020304" pitchFamily="18" charset="0"/>
                          </a:rPr>
                          <m:t>θ</m:t>
                        </m:r>
                      </m:sub>
                      <m:sup>
                        <m:r>
                          <a:rPr kumimoji="1" lang="en-US" altLang="zh-TW" sz="2200" dirty="0">
                            <a:latin typeface="Cambria Math" panose="02040503050406030204" pitchFamily="18" charset="0"/>
                            <a:cs typeface="Times New Roman" panose="02020603050405020304" pitchFamily="18" charset="0"/>
                          </a:rPr>
                          <m:t>𝑝</m:t>
                        </m:r>
                      </m:sup>
                    </m:sSubSup>
                  </m:oMath>
                </a14:m>
                <a:r>
                  <a:rPr kumimoji="1" lang="en-US" altLang="zh-TW" sz="2200" dirty="0">
                    <a:latin typeface="Times New Roman" panose="02020603050405020304" pitchFamily="18" charset="0"/>
                    <a:cs typeface="Times New Roman" panose="02020603050405020304" pitchFamily="18" charset="0"/>
                  </a:rPr>
                  <a:t>} denote the </a:t>
                </a:r>
                <a:r>
                  <a:rPr kumimoji="1" lang="el-GR" altLang="zh-TW" sz="2200" dirty="0">
                    <a:latin typeface="Times New Roman" panose="02020603050405020304" pitchFamily="18" charset="0"/>
                    <a:cs typeface="Times New Roman" panose="02020603050405020304" pitchFamily="18" charset="0"/>
                  </a:rPr>
                  <a:t>θ</a:t>
                </a:r>
                <a:r>
                  <a:rPr kumimoji="1" lang="en-US" altLang="zh-TW" sz="2200" dirty="0">
                    <a:latin typeface="Times New Roman" panose="02020603050405020304" pitchFamily="18" charset="0"/>
                    <a:cs typeface="Times New Roman" panose="02020603050405020304" pitchFamily="18" charset="0"/>
                  </a:rPr>
                  <a:t> shortest subsequences</a:t>
                </a:r>
              </a:p>
              <a:p>
                <a:pPr lvl="1"/>
                <a:r>
                  <a:rPr kumimoji="1" lang="pt-BR" altLang="zh-TW" sz="2200" dirty="0">
                    <a:latin typeface="Times New Roman" panose="02020603050405020304" pitchFamily="18" charset="0"/>
                    <a:cs typeface="Times New Roman" panose="02020603050405020304" pitchFamily="18" charset="0"/>
                  </a:rPr>
                  <a:t>When </a:t>
                </a:r>
                <a:r>
                  <a:rPr kumimoji="1" lang="en-US" altLang="zh-TW" sz="2200" dirty="0">
                    <a:latin typeface="Times New Roman" panose="02020603050405020304" pitchFamily="18" charset="0"/>
                    <a:cs typeface="Times New Roman" panose="02020603050405020304" pitchFamily="18" charset="0"/>
                  </a:rPr>
                  <a:t>n</a:t>
                </a:r>
                <a:r>
                  <a:rPr kumimoji="1" lang="pt-BR" altLang="zh-TW" sz="2200" dirty="0">
                    <a:latin typeface="Times New Roman" panose="02020603050405020304" pitchFamily="18" charset="0"/>
                    <a:cs typeface="Times New Roman" panose="02020603050405020304" pitchFamily="18" charset="0"/>
                  </a:rPr>
                  <a:t> &lt;= 10; </a:t>
                </a:r>
                <a:r>
                  <a:rPr kumimoji="1" lang="el-GR" altLang="zh-TW" sz="2200" dirty="0">
                    <a:latin typeface="Times New Roman" panose="02020603050405020304" pitchFamily="18" charset="0"/>
                    <a:cs typeface="Times New Roman" panose="02020603050405020304" pitchFamily="18" charset="0"/>
                  </a:rPr>
                  <a:t>θ</a:t>
                </a:r>
                <a:r>
                  <a:rPr kumimoji="1" lang="pt-BR" altLang="zh-TW" sz="2200" dirty="0">
                    <a:latin typeface="Times New Roman" panose="02020603050405020304" pitchFamily="18" charset="0"/>
                    <a:cs typeface="Times New Roman" panose="02020603050405020304" pitchFamily="18" charset="0"/>
                  </a:rPr>
                  <a:t> = </a:t>
                </a:r>
                <a:r>
                  <a:rPr kumimoji="1" lang="zh-TW" altLang="en-US" sz="2200" dirty="0">
                    <a:latin typeface="Times New Roman" panose="02020603050405020304" pitchFamily="18" charset="0"/>
                    <a:cs typeface="Times New Roman" panose="02020603050405020304" pitchFamily="18" charset="0"/>
                  </a:rPr>
                  <a:t>⌈</a:t>
                </a:r>
                <a:r>
                  <a:rPr kumimoji="1" lang="en-US" altLang="zh-TW" sz="2200" dirty="0">
                    <a:latin typeface="Times New Roman" panose="02020603050405020304" pitchFamily="18" charset="0"/>
                    <a:cs typeface="Times New Roman" panose="02020603050405020304" pitchFamily="18" charset="0"/>
                  </a:rPr>
                  <a:t>0.5 * n</a:t>
                </a:r>
                <a:r>
                  <a:rPr kumimoji="1" lang="zh-TW" altLang="en-US" sz="2200" dirty="0">
                    <a:latin typeface="Times New Roman" panose="02020603050405020304" pitchFamily="18" charset="0"/>
                    <a:cs typeface="Times New Roman" panose="02020603050405020304" pitchFamily="18" charset="0"/>
                  </a:rPr>
                  <a:t>⌉</a:t>
                </a:r>
                <a:endParaRPr kumimoji="1" lang="pt-BR" altLang="zh-TW" sz="2200" dirty="0">
                  <a:latin typeface="Times New Roman" panose="02020603050405020304" pitchFamily="18" charset="0"/>
                  <a:cs typeface="Times New Roman" panose="02020603050405020304" pitchFamily="18" charset="0"/>
                </a:endParaRPr>
              </a:p>
              <a:p>
                <a:pPr lvl="1"/>
                <a:r>
                  <a:rPr kumimoji="1" lang="pt-BR" altLang="zh-TW" sz="2200" dirty="0">
                    <a:latin typeface="Times New Roman" panose="02020603050405020304" pitchFamily="18" charset="0"/>
                    <a:cs typeface="Times New Roman" panose="02020603050405020304" pitchFamily="18" charset="0"/>
                  </a:rPr>
                  <a:t>When 10 &lt; n &lt;= 100; </a:t>
                </a:r>
                <a:r>
                  <a:rPr kumimoji="1" lang="zh-TW" altLang="en-US" sz="2200" dirty="0">
                    <a:latin typeface="Times New Roman" panose="02020603050405020304" pitchFamily="18" charset="0"/>
                    <a:cs typeface="Times New Roman" panose="02020603050405020304" pitchFamily="18" charset="0"/>
                  </a:rPr>
                  <a:t>⌈</a:t>
                </a:r>
                <a:r>
                  <a:rPr kumimoji="1" lang="en-US" altLang="zh-TW" sz="2200" dirty="0">
                    <a:latin typeface="Times New Roman" panose="02020603050405020304" pitchFamily="18" charset="0"/>
                    <a:cs typeface="Times New Roman" panose="02020603050405020304" pitchFamily="18" charset="0"/>
                  </a:rPr>
                  <a:t>0.15 * 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&lt;=</a:t>
                </a:r>
                <a:r>
                  <a:rPr kumimoji="1" lang="pt-BR" altLang="zh-TW" sz="2200" dirty="0">
                    <a:latin typeface="Times New Roman" panose="02020603050405020304" pitchFamily="18" charset="0"/>
                    <a:cs typeface="Times New Roman" panose="02020603050405020304" pitchFamily="18" charset="0"/>
                  </a:rPr>
                  <a:t> </a:t>
                </a:r>
                <a:r>
                  <a:rPr kumimoji="1" lang="el-GR" altLang="zh-TW" sz="2200" dirty="0">
                    <a:latin typeface="Times New Roman" panose="02020603050405020304" pitchFamily="18" charset="0"/>
                    <a:cs typeface="Times New Roman" panose="02020603050405020304" pitchFamily="18" charset="0"/>
                  </a:rPr>
                  <a:t>θ</a:t>
                </a:r>
                <a:r>
                  <a:rPr kumimoji="1" lang="pt-BR" altLang="zh-TW" sz="2200" dirty="0">
                    <a:latin typeface="Times New Roman" panose="02020603050405020304" pitchFamily="18" charset="0"/>
                    <a:cs typeface="Times New Roman" panose="02020603050405020304" pitchFamily="18" charset="0"/>
                  </a:rPr>
                  <a:t> &lt; </a:t>
                </a:r>
                <a:r>
                  <a:rPr kumimoji="1" lang="zh-TW" altLang="en-US" sz="2200" dirty="0">
                    <a:latin typeface="Times New Roman" panose="02020603050405020304" pitchFamily="18" charset="0"/>
                    <a:cs typeface="Times New Roman" panose="02020603050405020304" pitchFamily="18" charset="0"/>
                  </a:rPr>
                  <a:t>⌈</a:t>
                </a:r>
                <a:r>
                  <a:rPr kumimoji="1" lang="en-US" altLang="zh-TW" sz="2200" dirty="0">
                    <a:latin typeface="Times New Roman" panose="02020603050405020304" pitchFamily="18" charset="0"/>
                    <a:cs typeface="Times New Roman" panose="02020603050405020304" pitchFamily="18" charset="0"/>
                  </a:rPr>
                  <a:t>0.5 * n</a:t>
                </a:r>
                <a:r>
                  <a:rPr kumimoji="1" lang="zh-TW" altLang="en-US" sz="2200" dirty="0">
                    <a:latin typeface="Times New Roman" panose="02020603050405020304" pitchFamily="18" charset="0"/>
                    <a:cs typeface="Times New Roman" panose="02020603050405020304" pitchFamily="18" charset="0"/>
                  </a:rPr>
                  <a:t>⌉</a:t>
                </a:r>
                <a:endParaRPr kumimoji="1" lang="en-US" altLang="zh-TW" sz="2200" dirty="0">
                  <a:latin typeface="Times New Roman" panose="02020603050405020304" pitchFamily="18" charset="0"/>
                  <a:cs typeface="Times New Roman" panose="02020603050405020304" pitchFamily="18" charset="0"/>
                </a:endParaRPr>
              </a:p>
              <a:p>
                <a:pPr lvl="1"/>
                <a:r>
                  <a:rPr kumimoji="1" lang="pt-BR" altLang="zh-TW" sz="2200" dirty="0">
                    <a:latin typeface="Times New Roman" panose="02020603050405020304" pitchFamily="18" charset="0"/>
                    <a:cs typeface="Times New Roman" panose="02020603050405020304" pitchFamily="18" charset="0"/>
                  </a:rPr>
                  <a:t>When 100 &lt; n &lt;= 1000; </a:t>
                </a:r>
                <a:r>
                  <a:rPr kumimoji="1" lang="zh-TW" altLang="en-US" sz="2200" dirty="0">
                    <a:latin typeface="Times New Roman" panose="02020603050405020304" pitchFamily="18" charset="0"/>
                    <a:cs typeface="Times New Roman" panose="02020603050405020304" pitchFamily="18" charset="0"/>
                  </a:rPr>
                  <a:t>⌈</a:t>
                </a:r>
                <a:r>
                  <a:rPr kumimoji="1" lang="en-US" altLang="zh-TW" sz="2200" dirty="0">
                    <a:latin typeface="Times New Roman" panose="02020603050405020304" pitchFamily="18" charset="0"/>
                    <a:cs typeface="Times New Roman" panose="02020603050405020304" pitchFamily="18" charset="0"/>
                  </a:rPr>
                  <a:t>0.01 * 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&lt;=</a:t>
                </a:r>
                <a:r>
                  <a:rPr kumimoji="1" lang="pt-BR" altLang="zh-TW" sz="2200" dirty="0">
                    <a:latin typeface="Times New Roman" panose="02020603050405020304" pitchFamily="18" charset="0"/>
                    <a:cs typeface="Times New Roman" panose="02020603050405020304" pitchFamily="18" charset="0"/>
                  </a:rPr>
                  <a:t> </a:t>
                </a:r>
                <a:r>
                  <a:rPr kumimoji="1" lang="el-GR" altLang="zh-TW" sz="2200" dirty="0">
                    <a:latin typeface="Times New Roman" panose="02020603050405020304" pitchFamily="18" charset="0"/>
                    <a:cs typeface="Times New Roman" panose="02020603050405020304" pitchFamily="18" charset="0"/>
                  </a:rPr>
                  <a:t>θ</a:t>
                </a:r>
                <a:r>
                  <a:rPr kumimoji="1" lang="pt-BR" altLang="zh-TW" sz="2200" dirty="0">
                    <a:latin typeface="Times New Roman" panose="02020603050405020304" pitchFamily="18" charset="0"/>
                    <a:cs typeface="Times New Roman" panose="02020603050405020304" pitchFamily="18" charset="0"/>
                  </a:rPr>
                  <a:t> &lt; </a:t>
                </a:r>
                <a:r>
                  <a:rPr kumimoji="1" lang="zh-TW" altLang="en-US" sz="2200" dirty="0">
                    <a:latin typeface="Times New Roman" panose="02020603050405020304" pitchFamily="18" charset="0"/>
                    <a:cs typeface="Times New Roman" panose="02020603050405020304" pitchFamily="18" charset="0"/>
                  </a:rPr>
                  <a:t>⌈</a:t>
                </a:r>
                <a:r>
                  <a:rPr kumimoji="1" lang="en-US" altLang="zh-TW" sz="2200" dirty="0">
                    <a:latin typeface="Times New Roman" panose="02020603050405020304" pitchFamily="18" charset="0"/>
                    <a:cs typeface="Times New Roman" panose="02020603050405020304" pitchFamily="18" charset="0"/>
                  </a:rPr>
                  <a:t>0.15 * n</a:t>
                </a:r>
                <a:r>
                  <a:rPr kumimoji="1" lang="zh-TW" altLang="en-US" sz="2200" dirty="0">
                    <a:latin typeface="Times New Roman" panose="02020603050405020304" pitchFamily="18" charset="0"/>
                    <a:cs typeface="Times New Roman" panose="02020603050405020304" pitchFamily="18" charset="0"/>
                  </a:rPr>
                  <a:t>⌉</a:t>
                </a:r>
                <a:endParaRPr kumimoji="1" lang="en-US" altLang="zh-TW" sz="2200" dirty="0">
                  <a:latin typeface="Times New Roman" panose="02020603050405020304" pitchFamily="18" charset="0"/>
                  <a:cs typeface="Times New Roman" panose="02020603050405020304" pitchFamily="18" charset="0"/>
                </a:endParaRPr>
              </a:p>
              <a:p>
                <a:pPr lvl="1"/>
                <a:r>
                  <a:rPr kumimoji="1" lang="en-US" altLang="zh-TW" sz="2200" dirty="0">
                    <a:latin typeface="Times New Roman" panose="02020603050405020304" pitchFamily="18" charset="0"/>
                    <a:cs typeface="Times New Roman" panose="02020603050405020304" pitchFamily="18" charset="0"/>
                  </a:rPr>
                  <a:t>When n &gt; 1000; 5 &lt;= </a:t>
                </a:r>
                <a:r>
                  <a:rPr kumimoji="1" lang="el-GR" altLang="zh-TW" sz="2200" dirty="0">
                    <a:latin typeface="Times New Roman" panose="02020603050405020304" pitchFamily="18" charset="0"/>
                    <a:cs typeface="Times New Roman" panose="02020603050405020304" pitchFamily="18" charset="0"/>
                  </a:rPr>
                  <a:t>θ</a:t>
                </a:r>
                <a:r>
                  <a:rPr kumimoji="1" lang="en-US" altLang="zh-TW" sz="2200" dirty="0">
                    <a:latin typeface="Times New Roman" panose="02020603050405020304" pitchFamily="18" charset="0"/>
                    <a:cs typeface="Times New Roman" panose="02020603050405020304" pitchFamily="18" charset="0"/>
                  </a:rPr>
                  <a:t> &lt; 10</a:t>
                </a:r>
              </a:p>
              <a:p>
                <a:pPr lvl="1"/>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Time complexity: O(|Ʃ|</a:t>
                </a:r>
                <a:r>
                  <a:rPr kumimoji="1" lang="el-GR" altLang="zh-TW" sz="2200" dirty="0">
                    <a:latin typeface="Times New Roman" panose="02020603050405020304" pitchFamily="18" charset="0"/>
                    <a:cs typeface="Times New Roman" panose="02020603050405020304" pitchFamily="18" charset="0"/>
                  </a:rPr>
                  <a:t> θ</a:t>
                </a:r>
                <a:r>
                  <a:rPr kumimoji="1" lang="en-US" altLang="zh-TW" sz="2200" dirty="0">
                    <a:latin typeface="Times New Roman" panose="02020603050405020304" pitchFamily="18" charset="0"/>
                    <a:cs typeface="Times New Roman" panose="02020603050405020304" pitchFamily="18" charset="0"/>
                  </a:rPr>
                  <a:t>)</a:t>
                </a:r>
              </a:p>
              <a:p>
                <a:pPr lvl="1"/>
                <a:endParaRPr kumimoji="1" lang="pt-BR" altLang="zh-TW" sz="2200" dirty="0">
                  <a:latin typeface="Times New Roman" panose="02020603050405020304" pitchFamily="18" charset="0"/>
                  <a:cs typeface="Times New Roman" panose="02020603050405020304" pitchFamily="18" charset="0"/>
                </a:endParaRPr>
              </a:p>
              <a:p>
                <a:pPr lvl="1"/>
                <a:endParaRPr kumimoji="1" lang="pt-BR" altLang="zh-TW" sz="2200" dirty="0">
                  <a:latin typeface="Times New Roman" panose="02020603050405020304" pitchFamily="18" charset="0"/>
                  <a:cs typeface="Times New Roman" panose="02020603050405020304" pitchFamily="18" charset="0"/>
                </a:endParaRPr>
              </a:p>
              <a:p>
                <a:pPr lvl="1"/>
                <a:endParaRPr kumimoji="1" lang="en-US" altLang="zh-TW" sz="2200"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6821531" cy="4443091"/>
              </a:xfrm>
              <a:prstGeom prst="rect">
                <a:avLst/>
              </a:prstGeom>
              <a:blipFill>
                <a:blip r:embed="rId4"/>
                <a:stretch>
                  <a:fillRect l="-1072" t="-2469"/>
                </a:stretch>
              </a:blipFill>
            </p:spPr>
            <p:txBody>
              <a:bodyPr/>
              <a:lstStyle/>
              <a:p>
                <a:r>
                  <a:rPr lang="zh-TW" altLang="en-US">
                    <a:noFill/>
                  </a:rPr>
                  <a:t> </a:t>
                </a:r>
              </a:p>
            </p:txBody>
          </p:sp>
        </mc:Fallback>
      </mc:AlternateContent>
      <p:sp>
        <p:nvSpPr>
          <p:cNvPr id="12" name="Rectangle 11">
            <a:extLst>
              <a:ext uri="{FF2B5EF4-FFF2-40B4-BE49-F238E27FC236}">
                <a16:creationId xmlns:a16="http://schemas.microsoft.com/office/drawing/2014/main" id="{EF589DAE-ACF1-845F-2870-468A2D063F08}"/>
              </a:ext>
            </a:extLst>
          </p:cNvPr>
          <p:cNvSpPr/>
          <p:nvPr/>
        </p:nvSpPr>
        <p:spPr>
          <a:xfrm>
            <a:off x="7659730" y="2024062"/>
            <a:ext cx="4223657" cy="21672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622614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a:t>
            </a:r>
            <a:br>
              <a:rPr kumimoji="1" lang="en-US" altLang="zh-TW" sz="3000" b="1" dirty="0">
                <a:latin typeface="Times New Roman" panose="02020603050405020304" pitchFamily="18" charset="0"/>
                <a:cs typeface="Times New Roman" panose="02020603050405020304" pitchFamily="18" charset="0"/>
              </a:rPr>
            </a:br>
            <a:r>
              <a:rPr kumimoji="1" lang="en-US" altLang="zh-TW" sz="3000" b="1" dirty="0">
                <a:latin typeface="Times New Roman" panose="02020603050405020304" pitchFamily="18" charset="0"/>
                <a:cs typeface="Times New Roman" panose="02020603050405020304" pitchFamily="18" charset="0"/>
              </a:rPr>
              <a:t>Construct Smaller DAG and Estimate Precise Lower Bound</a:t>
            </a:r>
            <a:endParaRPr kumimoji="1" lang="zh-TW" altLang="en-US" sz="30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903972" y="1815689"/>
            <a:ext cx="7034336" cy="4663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200" dirty="0">
                <a:latin typeface="Times New Roman" panose="02020603050405020304" pitchFamily="18" charset="0"/>
                <a:cs typeface="Times New Roman" panose="02020603050405020304" pitchFamily="18" charset="0"/>
              </a:rPr>
              <a:t>Initial path in Big-MLCS: choose the node with the minimum sum of components in each level and record this sum at each level</a:t>
            </a:r>
          </a:p>
          <a:p>
            <a:r>
              <a:rPr kumimoji="1" lang="en-US" altLang="zh-TW" sz="2200" dirty="0">
                <a:latin typeface="Times New Roman" panose="02020603050405020304" pitchFamily="18" charset="0"/>
                <a:cs typeface="Times New Roman" panose="02020603050405020304" pitchFamily="18" charset="0"/>
              </a:rPr>
              <a:t>L</a:t>
            </a:r>
            <a:r>
              <a:rPr kumimoji="1" lang="en-US" altLang="zh-TW" sz="1600" dirty="0">
                <a:latin typeface="Times New Roman" panose="02020603050405020304" pitchFamily="18" charset="0"/>
                <a:cs typeface="Times New Roman" panose="02020603050405020304" pitchFamily="18" charset="0"/>
              </a:rPr>
              <a:t>MLCS</a:t>
            </a:r>
            <a:r>
              <a:rPr kumimoji="1" lang="en-US" altLang="zh-TW" sz="2200" dirty="0">
                <a:latin typeface="Times New Roman" panose="02020603050405020304" pitchFamily="18" charset="0"/>
                <a:cs typeface="Times New Roman" panose="02020603050405020304" pitchFamily="18" charset="0"/>
              </a:rPr>
              <a:t>: length of the path</a:t>
            </a:r>
          </a:p>
          <a:p>
            <a:r>
              <a:rPr kumimoji="1" lang="en-US" altLang="zh-TW" sz="2200" dirty="0">
                <a:latin typeface="Times New Roman" panose="02020603050405020304" pitchFamily="18" charset="0"/>
                <a:cs typeface="Times New Roman" panose="02020603050405020304" pitchFamily="18" charset="0"/>
              </a:rPr>
              <a:t>Sum(1) = 5, Sum(2) = 10, Sum(3) = 17</a:t>
            </a:r>
          </a:p>
        </p:txBody>
      </p:sp>
      <p:pic>
        <p:nvPicPr>
          <p:cNvPr id="28" name="Picture 27">
            <a:extLst>
              <a:ext uri="{FF2B5EF4-FFF2-40B4-BE49-F238E27FC236}">
                <a16:creationId xmlns:a16="http://schemas.microsoft.com/office/drawing/2014/main" id="{C90ACD98-81A1-8703-3FF2-8A57A0847DF1}"/>
              </a:ext>
            </a:extLst>
          </p:cNvPr>
          <p:cNvPicPr>
            <a:picLocks noChangeAspect="1"/>
          </p:cNvPicPr>
          <p:nvPr/>
        </p:nvPicPr>
        <p:blipFill>
          <a:blip r:embed="rId3"/>
          <a:stretch>
            <a:fillRect/>
          </a:stretch>
        </p:blipFill>
        <p:spPr>
          <a:xfrm>
            <a:off x="6296025" y="3128169"/>
            <a:ext cx="5792899" cy="3554874"/>
          </a:xfrm>
          <a:prstGeom prst="rect">
            <a:avLst/>
          </a:prstGeom>
        </p:spPr>
      </p:pic>
      <p:sp>
        <p:nvSpPr>
          <p:cNvPr id="29" name="TextBox 28">
            <a:extLst>
              <a:ext uri="{FF2B5EF4-FFF2-40B4-BE49-F238E27FC236}">
                <a16:creationId xmlns:a16="http://schemas.microsoft.com/office/drawing/2014/main" id="{35F59FC4-5AB8-851C-FF68-00DB0945A736}"/>
              </a:ext>
            </a:extLst>
          </p:cNvPr>
          <p:cNvSpPr txBox="1"/>
          <p:nvPr/>
        </p:nvSpPr>
        <p:spPr>
          <a:xfrm>
            <a:off x="7627374" y="4042944"/>
            <a:ext cx="714347"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5</a:t>
            </a:r>
            <a:endParaRPr lang="zh-TW" altLang="en-US" sz="105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E7F5D319-B60C-F66E-80E1-4F7C7D6AAA3A}"/>
              </a:ext>
            </a:extLst>
          </p:cNvPr>
          <p:cNvSpPr txBox="1"/>
          <p:nvPr/>
        </p:nvSpPr>
        <p:spPr>
          <a:xfrm>
            <a:off x="7627374" y="4666774"/>
            <a:ext cx="631915"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6</a:t>
            </a:r>
            <a:endParaRPr lang="zh-TW" altLang="en-US" sz="105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5BA4B476-4FED-0CAE-4973-E151BA057598}"/>
              </a:ext>
            </a:extLst>
          </p:cNvPr>
          <p:cNvSpPr txBox="1"/>
          <p:nvPr/>
        </p:nvSpPr>
        <p:spPr>
          <a:xfrm>
            <a:off x="7631842" y="5236035"/>
            <a:ext cx="627447"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8</a:t>
            </a:r>
            <a:endParaRPr lang="zh-TW" altLang="en-US" sz="1050"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13503AEF-8D16-695C-B75C-C4C7214E0E83}"/>
              </a:ext>
            </a:extLst>
          </p:cNvPr>
          <p:cNvSpPr txBox="1"/>
          <p:nvPr/>
        </p:nvSpPr>
        <p:spPr>
          <a:xfrm>
            <a:off x="7617849" y="5870681"/>
            <a:ext cx="714347"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17</a:t>
            </a:r>
            <a:endParaRPr lang="zh-TW" altLang="en-US" sz="105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861D6741-9C41-3B17-D281-D73FA6E14242}"/>
              </a:ext>
            </a:extLst>
          </p:cNvPr>
          <p:cNvSpPr txBox="1"/>
          <p:nvPr/>
        </p:nvSpPr>
        <p:spPr>
          <a:xfrm>
            <a:off x="8803824" y="3425395"/>
            <a:ext cx="877381"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12</a:t>
            </a:r>
            <a:endParaRPr lang="zh-TW" altLang="en-US" sz="105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0AD7E5D-B8C9-2AE1-3BD7-40FBC3B483C9}"/>
              </a:ext>
            </a:extLst>
          </p:cNvPr>
          <p:cNvSpPr txBox="1"/>
          <p:nvPr/>
        </p:nvSpPr>
        <p:spPr>
          <a:xfrm>
            <a:off x="8803824" y="4028236"/>
            <a:ext cx="714347"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10</a:t>
            </a:r>
            <a:endParaRPr lang="zh-TW" altLang="en-US" sz="105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0E10D2B8-0EA2-EB6E-1957-82533519829B}"/>
              </a:ext>
            </a:extLst>
          </p:cNvPr>
          <p:cNvSpPr txBox="1"/>
          <p:nvPr/>
        </p:nvSpPr>
        <p:spPr>
          <a:xfrm>
            <a:off x="8803823" y="4622005"/>
            <a:ext cx="714347"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17</a:t>
            </a:r>
            <a:endParaRPr lang="zh-TW" altLang="en-US" sz="105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1BAF06AC-ACF9-D4A5-54DD-23CD2FCA3F30}"/>
              </a:ext>
            </a:extLst>
          </p:cNvPr>
          <p:cNvSpPr txBox="1"/>
          <p:nvPr/>
        </p:nvSpPr>
        <p:spPr>
          <a:xfrm>
            <a:off x="9998284" y="4023054"/>
            <a:ext cx="714347" cy="253916"/>
          </a:xfrm>
          <a:prstGeom prst="rect">
            <a:avLst/>
          </a:prstGeom>
          <a:noFill/>
        </p:spPr>
        <p:txBody>
          <a:bodyPr wrap="square" rtlCol="0">
            <a:spAutoFit/>
          </a:bodyPr>
          <a:lstStyle/>
          <a:p>
            <a:r>
              <a:rPr lang="en-US" altLang="zh-TW" sz="1050" dirty="0">
                <a:latin typeface="Times New Roman" panose="02020603050405020304" pitchFamily="18" charset="0"/>
                <a:cs typeface="Times New Roman" panose="02020603050405020304" pitchFamily="18" charset="0"/>
              </a:rPr>
              <a:t>sum = 17</a:t>
            </a:r>
            <a:endParaRPr lang="zh-TW" altLang="en-US" sz="1050" dirty="0">
              <a:latin typeface="Times New Roman" panose="02020603050405020304" pitchFamily="18" charset="0"/>
              <a:cs typeface="Times New Roman" panose="02020603050405020304" pitchFamily="18" charset="0"/>
            </a:endParaRPr>
          </a:p>
        </p:txBody>
      </p:sp>
      <p:sp>
        <p:nvSpPr>
          <p:cNvPr id="38" name="Content Placeholder 3">
            <a:extLst>
              <a:ext uri="{FF2B5EF4-FFF2-40B4-BE49-F238E27FC236}">
                <a16:creationId xmlns:a16="http://schemas.microsoft.com/office/drawing/2014/main" id="{68BD3718-369A-7086-9915-D635708A226D}"/>
              </a:ext>
            </a:extLst>
          </p:cNvPr>
          <p:cNvSpPr>
            <a:spLocks noGrp="1"/>
          </p:cNvSpPr>
          <p:nvPr>
            <p:ph idx="1"/>
          </p:nvPr>
        </p:nvSpPr>
        <p:spPr>
          <a:xfrm>
            <a:off x="8341722" y="1815689"/>
            <a:ext cx="2370909" cy="1072158"/>
          </a:xfrm>
        </p:spPr>
        <p:txBody>
          <a:bodyPr>
            <a:normAutofit fontScale="77500" lnSpcReduction="20000"/>
          </a:bodyPr>
          <a:lstStyle/>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ACAGTT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 CAGGCT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GACAGTA</a:t>
            </a:r>
          </a:p>
        </p:txBody>
      </p:sp>
      <p:sp>
        <p:nvSpPr>
          <p:cNvPr id="52" name="TextBox 51">
            <a:extLst>
              <a:ext uri="{FF2B5EF4-FFF2-40B4-BE49-F238E27FC236}">
                <a16:creationId xmlns:a16="http://schemas.microsoft.com/office/drawing/2014/main" id="{CEF3231A-24A4-46F5-DBE0-314810E2D8C4}"/>
              </a:ext>
            </a:extLst>
          </p:cNvPr>
          <p:cNvSpPr txBox="1"/>
          <p:nvPr/>
        </p:nvSpPr>
        <p:spPr>
          <a:xfrm>
            <a:off x="9537061" y="5639848"/>
            <a:ext cx="1346997" cy="461665"/>
          </a:xfrm>
          <a:prstGeom prst="rect">
            <a:avLst/>
          </a:prstGeom>
          <a:noFill/>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L</a:t>
            </a:r>
            <a:r>
              <a:rPr kumimoji="1" lang="en-US" altLang="zh-TW" sz="1600" dirty="0">
                <a:latin typeface="Times New Roman" panose="02020603050405020304" pitchFamily="18" charset="0"/>
                <a:cs typeface="Times New Roman" panose="02020603050405020304" pitchFamily="18" charset="0"/>
              </a:rPr>
              <a:t>MLCS</a:t>
            </a:r>
            <a:r>
              <a:rPr kumimoji="1" lang="zh-TW" altLang="en-US" sz="1600" dirty="0">
                <a:latin typeface="Times New Roman" panose="02020603050405020304" pitchFamily="18" charset="0"/>
                <a:cs typeface="Times New Roman" panose="02020603050405020304" pitchFamily="18" charset="0"/>
              </a:rPr>
              <a:t> </a:t>
            </a:r>
            <a:r>
              <a:rPr kumimoji="1" lang="en-US" altLang="zh-TW" sz="1600" dirty="0">
                <a:latin typeface="Times New Roman" panose="02020603050405020304" pitchFamily="18" charset="0"/>
                <a:cs typeface="Times New Roman" panose="02020603050405020304" pitchFamily="18" charset="0"/>
              </a:rPr>
              <a:t>=</a:t>
            </a:r>
            <a:r>
              <a:rPr kumimoji="1" lang="zh-TW" altLang="en-US" sz="1600" dirty="0">
                <a:latin typeface="Times New Roman" panose="02020603050405020304" pitchFamily="18" charset="0"/>
                <a:cs typeface="Times New Roman" panose="02020603050405020304" pitchFamily="18" charset="0"/>
              </a:rPr>
              <a:t> </a:t>
            </a:r>
            <a:r>
              <a:rPr kumimoji="1" lang="en-US" altLang="zh-TW" sz="1600" dirty="0">
                <a:latin typeface="Times New Roman" panose="02020603050405020304" pitchFamily="18" charset="0"/>
                <a:cs typeface="Times New Roman" panose="02020603050405020304" pitchFamily="18" charset="0"/>
              </a:rPr>
              <a:t>3</a:t>
            </a:r>
            <a:endParaRPr lang="zh-TW" altLang="en-US" sz="1600" dirty="0"/>
          </a:p>
        </p:txBody>
      </p:sp>
    </p:spTree>
    <p:extLst>
      <p:ext uri="{BB962C8B-B14F-4D97-AF65-F5344CB8AC3E}">
        <p14:creationId xmlns:p14="http://schemas.microsoft.com/office/powerpoint/2010/main" val="9763144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a:t>
            </a:r>
            <a:br>
              <a:rPr kumimoji="1" lang="en-US" altLang="zh-TW" sz="3000" b="1" dirty="0">
                <a:latin typeface="Times New Roman" panose="02020603050405020304" pitchFamily="18" charset="0"/>
                <a:cs typeface="Times New Roman" panose="02020603050405020304" pitchFamily="18" charset="0"/>
              </a:rPr>
            </a:br>
            <a:r>
              <a:rPr kumimoji="1" lang="en-US" altLang="zh-TW" sz="3000" b="1" dirty="0">
                <a:latin typeface="Times New Roman" panose="02020603050405020304" pitchFamily="18" charset="0"/>
                <a:cs typeface="Times New Roman" panose="02020603050405020304" pitchFamily="18" charset="0"/>
              </a:rPr>
              <a:t>Construct Smaller DAG and Estimate Precise Lower Bound</a:t>
            </a:r>
            <a:endParaRPr kumimoji="1" lang="zh-TW" altLang="en-US" sz="3000" b="1"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903972" y="1815689"/>
            <a:ext cx="7034336" cy="4663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200" dirty="0" err="1">
                <a:latin typeface="Times New Roman" panose="02020603050405020304" pitchFamily="18" charset="0"/>
                <a:cs typeface="Times New Roman" panose="02020603050405020304" pitchFamily="18" charset="0"/>
              </a:rPr>
              <a:t>Suc</a:t>
            </a:r>
            <a:r>
              <a:rPr kumimoji="1" lang="en-US" altLang="zh-TW" sz="2200" dirty="0">
                <a:latin typeface="Times New Roman" panose="02020603050405020304" pitchFamily="18" charset="0"/>
                <a:cs typeface="Times New Roman" panose="02020603050405020304" pitchFamily="18" charset="0"/>
              </a:rPr>
              <a:t>(1) = {A(1, 2, 2), C(2, 1, 3), G(4, 3, 1), T(5, 6, 6)}</a:t>
            </a:r>
          </a:p>
          <a:p>
            <a:pPr marL="0" indent="0">
              <a:buNone/>
            </a:pPr>
            <a:r>
              <a:rPr kumimoji="1" lang="en-US" altLang="zh-TW" sz="2200" dirty="0">
                <a:latin typeface="Times New Roman" panose="02020603050405020304" pitchFamily="18" charset="0"/>
                <a:cs typeface="Times New Roman" panose="02020603050405020304" pitchFamily="18" charset="0"/>
              </a:rPr>
              <a:t>   </a:t>
            </a:r>
            <a:r>
              <a:rPr kumimoji="1" lang="en-US" altLang="zh-TW" sz="2200" dirty="0" err="1">
                <a:latin typeface="Times New Roman" panose="02020603050405020304" pitchFamily="18" charset="0"/>
                <a:cs typeface="Times New Roman" panose="02020603050405020304" pitchFamily="18" charset="0"/>
              </a:rPr>
              <a:t>MinSuc</a:t>
            </a:r>
            <a:r>
              <a:rPr kumimoji="1" lang="en-US" altLang="zh-TW" sz="2200" dirty="0">
                <a:latin typeface="Times New Roman" panose="02020603050405020304" pitchFamily="18" charset="0"/>
                <a:cs typeface="Times New Roman" panose="02020603050405020304" pitchFamily="18" charset="0"/>
              </a:rPr>
              <a:t>(1) = {A(1, 2, 2), C(2, 1, 3), G(4, 3, 1)}</a:t>
            </a:r>
          </a:p>
          <a:p>
            <a:pPr marL="0" indent="0">
              <a:buNone/>
            </a:pPr>
            <a:r>
              <a:rPr kumimoji="1" lang="en-US" altLang="zh-TW" sz="2200" dirty="0">
                <a:latin typeface="Times New Roman" panose="02020603050405020304" pitchFamily="18" charset="0"/>
                <a:cs typeface="Times New Roman" panose="02020603050405020304" pitchFamily="18" charset="0"/>
              </a:rPr>
              <a:t>   L(1)</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{A(1, 2, 2), C(2, 1, 3)} (by branch-and-bound)</a:t>
            </a:r>
          </a:p>
          <a:p>
            <a:r>
              <a:rPr kumimoji="1" lang="en-US" altLang="zh-TW" sz="2200" dirty="0" err="1">
                <a:latin typeface="Times New Roman" panose="02020603050405020304" pitchFamily="18" charset="0"/>
                <a:cs typeface="Times New Roman" panose="02020603050405020304" pitchFamily="18" charset="0"/>
              </a:rPr>
              <a:t>Suc</a:t>
            </a:r>
            <a:r>
              <a:rPr kumimoji="1" lang="en-US" altLang="zh-TW" sz="2200" dirty="0">
                <a:latin typeface="Times New Roman" panose="02020603050405020304" pitchFamily="18" charset="0"/>
                <a:cs typeface="Times New Roman" panose="02020603050405020304" pitchFamily="18" charset="0"/>
              </a:rPr>
              <a:t>(2) = {A(3, 2, 4), C(2, 5, 3), G(4, 3, 5), T(5, 6, 6)}</a:t>
            </a:r>
          </a:p>
          <a:p>
            <a:pPr marL="0" indent="0">
              <a:buNone/>
            </a:pPr>
            <a:r>
              <a:rPr kumimoji="1" lang="en-US" altLang="zh-TW" sz="2200" dirty="0">
                <a:latin typeface="Times New Roman" panose="02020603050405020304" pitchFamily="18" charset="0"/>
                <a:cs typeface="Times New Roman" panose="02020603050405020304" pitchFamily="18" charset="0"/>
              </a:rPr>
              <a:t>   </a:t>
            </a:r>
            <a:r>
              <a:rPr kumimoji="1" lang="en-US" altLang="zh-TW" sz="2200" dirty="0" err="1">
                <a:latin typeface="Times New Roman" panose="02020603050405020304" pitchFamily="18" charset="0"/>
                <a:cs typeface="Times New Roman" panose="02020603050405020304" pitchFamily="18" charset="0"/>
              </a:rPr>
              <a:t>MinSuc</a:t>
            </a:r>
            <a:r>
              <a:rPr kumimoji="1" lang="en-US" altLang="zh-TW" sz="2200" dirty="0">
                <a:latin typeface="Times New Roman" panose="02020603050405020304" pitchFamily="18" charset="0"/>
                <a:cs typeface="Times New Roman" panose="02020603050405020304" pitchFamily="18" charset="0"/>
              </a:rPr>
              <a:t>(2) = {A(3, 2, 4), C(2, 5, 3)}</a:t>
            </a:r>
          </a:p>
          <a:p>
            <a:pPr marL="0" indent="0">
              <a:buNone/>
            </a:pPr>
            <a:r>
              <a:rPr kumimoji="1" lang="en-US" altLang="zh-TW" sz="2200" dirty="0">
                <a:latin typeface="Times New Roman" panose="02020603050405020304" pitchFamily="18" charset="0"/>
                <a:cs typeface="Times New Roman" panose="02020603050405020304" pitchFamily="18" charset="0"/>
              </a:rPr>
              <a:t>   A(3, 2, 4) = 9 &lt; 10 = Sum(2) =&gt; update lower bound</a:t>
            </a:r>
          </a:p>
          <a:p>
            <a:pPr marL="0" indent="0">
              <a:buNone/>
            </a:pPr>
            <a:endParaRPr kumimoji="1" lang="en-US" altLang="zh-TW" sz="2200" dirty="0">
              <a:latin typeface="Times New Roman" panose="02020603050405020304" pitchFamily="18" charset="0"/>
              <a:cs typeface="Times New Roman" panose="02020603050405020304" pitchFamily="18" charset="0"/>
            </a:endParaRPr>
          </a:p>
        </p:txBody>
      </p:sp>
      <p:sp>
        <p:nvSpPr>
          <p:cNvPr id="38" name="Content Placeholder 3">
            <a:extLst>
              <a:ext uri="{FF2B5EF4-FFF2-40B4-BE49-F238E27FC236}">
                <a16:creationId xmlns:a16="http://schemas.microsoft.com/office/drawing/2014/main" id="{68BD3718-369A-7086-9915-D635708A226D}"/>
              </a:ext>
            </a:extLst>
          </p:cNvPr>
          <p:cNvSpPr>
            <a:spLocks noGrp="1"/>
          </p:cNvSpPr>
          <p:nvPr>
            <p:ph idx="1"/>
          </p:nvPr>
        </p:nvSpPr>
        <p:spPr>
          <a:xfrm>
            <a:off x="8341722" y="1815689"/>
            <a:ext cx="2370909" cy="1072158"/>
          </a:xfrm>
        </p:spPr>
        <p:txBody>
          <a:bodyPr>
            <a:normAutofit fontScale="77500" lnSpcReduction="20000"/>
          </a:bodyPr>
          <a:lstStyle/>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ACAGTT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 CAGGCT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GACAGTA</a:t>
            </a:r>
          </a:p>
        </p:txBody>
      </p:sp>
      <p:pic>
        <p:nvPicPr>
          <p:cNvPr id="4" name="Picture 3">
            <a:extLst>
              <a:ext uri="{FF2B5EF4-FFF2-40B4-BE49-F238E27FC236}">
                <a16:creationId xmlns:a16="http://schemas.microsoft.com/office/drawing/2014/main" id="{358D42C8-0221-A0B8-7E52-F0EFF76FC088}"/>
              </a:ext>
            </a:extLst>
          </p:cNvPr>
          <p:cNvPicPr>
            <a:picLocks noChangeAspect="1"/>
          </p:cNvPicPr>
          <p:nvPr/>
        </p:nvPicPr>
        <p:blipFill>
          <a:blip r:embed="rId3"/>
          <a:stretch>
            <a:fillRect/>
          </a:stretch>
        </p:blipFill>
        <p:spPr>
          <a:xfrm>
            <a:off x="7429501" y="3619500"/>
            <a:ext cx="4576392" cy="2399706"/>
          </a:xfrm>
          <a:prstGeom prst="rect">
            <a:avLst/>
          </a:prstGeom>
        </p:spPr>
      </p:pic>
    </p:spTree>
    <p:extLst>
      <p:ext uri="{BB962C8B-B14F-4D97-AF65-F5344CB8AC3E}">
        <p14:creationId xmlns:p14="http://schemas.microsoft.com/office/powerpoint/2010/main" val="20897695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Update Lower Bound (2 Methods)</a:t>
            </a:r>
            <a:endParaRPr kumimoji="1" lang="zh-TW" altLang="en-US" sz="3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903972" y="1687102"/>
                <a:ext cx="7135128" cy="4663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pt-BR" altLang="zh-TW" sz="2200" dirty="0">
                    <a:latin typeface="Times New Roman" panose="02020603050405020304" pitchFamily="18" charset="0"/>
                    <a:cs typeface="Times New Roman" panose="02020603050405020304" pitchFamily="18" charset="0"/>
                  </a:rPr>
                  <a:t>Method 1:</a:t>
                </a:r>
              </a:p>
              <a:p>
                <a:pPr marL="0" indent="0">
                  <a:buNone/>
                </a:pPr>
                <a:r>
                  <a:rPr kumimoji="1" lang="pt-BR" altLang="zh-TW" sz="2200" dirty="0">
                    <a:latin typeface="Times New Roman" panose="02020603050405020304" pitchFamily="18" charset="0"/>
                    <a:cs typeface="Times New Roman" panose="02020603050405020304" pitchFamily="18" charset="0"/>
                  </a:rPr>
                  <a:t>Find successors of level 2, denoted by Suc(3) = {G(4, 3, 5), T(5, 6, 6)}, choose minimal sum</a:t>
                </a:r>
                <a:r>
                  <a:rPr kumimoji="1" lang="zh-TW" altLang="en-US" sz="2200" dirty="0">
                    <a:latin typeface="Times New Roman" panose="02020603050405020304" pitchFamily="18" charset="0"/>
                    <a:cs typeface="Times New Roman" panose="02020603050405020304" pitchFamily="18" charset="0"/>
                  </a:rPr>
                  <a:t> </a:t>
                </a:r>
                <a:r>
                  <a:rPr kumimoji="1" lang="pt-BR" altLang="zh-TW" sz="2200" dirty="0">
                    <a:latin typeface="Times New Roman" panose="02020603050405020304" pitchFamily="18" charset="0"/>
                    <a:cs typeface="Times New Roman" panose="02020603050405020304" pitchFamily="18" charset="0"/>
                  </a:rPr>
                  <a:t>G(4, 3, 5) as next node P at level 3. </a:t>
                </a:r>
              </a:p>
              <a:p>
                <a:r>
                  <a:rPr kumimoji="1" lang="pt-BR" altLang="zh-TW" sz="2200" dirty="0">
                    <a:latin typeface="Times New Roman" panose="02020603050405020304" pitchFamily="18" charset="0"/>
                    <a:cs typeface="Times New Roman" panose="02020603050405020304" pitchFamily="18" charset="0"/>
                  </a:rPr>
                  <a:t>Method 2:</a:t>
                </a:r>
              </a:p>
              <a:p>
                <a:pPr marL="0" indent="0">
                  <a:buNone/>
                </a:pPr>
                <a:r>
                  <a:rPr kumimoji="1" lang="pt-BR" altLang="zh-TW" sz="2200" dirty="0">
                    <a:latin typeface="Times New Roman" panose="02020603050405020304" pitchFamily="18" charset="0"/>
                    <a:cs typeface="Times New Roman" panose="02020603050405020304" pitchFamily="18" charset="0"/>
                  </a:rPr>
                  <a:t>Find successors of level 2, denoted by Suc(3) = {G(4, 3, 5), T(5, 6, 6)}. For each node Q </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err="1">
                    <a:latin typeface="Times New Roman" panose="02020603050405020304" pitchFamily="18" charset="0"/>
                    <a:cs typeface="Times New Roman" panose="02020603050405020304" pitchFamily="18" charset="0"/>
                  </a:rPr>
                  <a:t>Suc</a:t>
                </a:r>
                <a:r>
                  <a:rPr kumimoji="1" lang="en-US" altLang="zh-TW" sz="2200" dirty="0">
                    <a:latin typeface="Times New Roman" panose="02020603050405020304" pitchFamily="18" charset="0"/>
                    <a:cs typeface="Times New Roman" panose="02020603050405020304" pitchFamily="18" charset="0"/>
                  </a:rPr>
                  <a:t>(3), compute </a:t>
                </a:r>
                <a14:m>
                  <m:oMath xmlns:m="http://schemas.openxmlformats.org/officeDocument/2006/math">
                    <m:sSub>
                      <m:sSubPr>
                        <m:ctrlPr>
                          <a:rPr kumimoji="1" lang="en-US" altLang="zh-TW" sz="2200" i="1" smtClean="0">
                            <a:latin typeface="Cambria Math" panose="02040503050406030204" pitchFamily="18" charset="0"/>
                            <a:cs typeface="Times New Roman" panose="02020603050405020304" pitchFamily="18" charset="0"/>
                          </a:rPr>
                        </m:ctrlPr>
                      </m:sSubPr>
                      <m:e>
                        <m:r>
                          <m:rPr>
                            <m:sty m:val="p"/>
                          </m:rPr>
                          <a:rPr kumimoji="1" lang="en-US" altLang="zh-TW" sz="2200">
                            <a:latin typeface="Cambria Math" panose="02040503050406030204" pitchFamily="18" charset="0"/>
                            <a:cs typeface="Times New Roman" panose="02020603050405020304" pitchFamily="18" charset="0"/>
                          </a:rPr>
                          <m:t>U</m:t>
                        </m:r>
                      </m:e>
                      <m:sub>
                        <m:r>
                          <a:rPr kumimoji="1" lang="en-US" altLang="zh-TW" sz="2200" b="0" i="0" smtClean="0">
                            <a:latin typeface="Cambria Math" panose="02040503050406030204" pitchFamily="18" charset="0"/>
                            <a:cs typeface="Times New Roman" panose="02020603050405020304" pitchFamily="18" charset="0"/>
                          </a:rPr>
                          <m:t>4</m:t>
                        </m:r>
                      </m:sub>
                    </m:sSub>
                    <m:r>
                      <a:rPr kumimoji="1" lang="en-US" altLang="zh-TW" sz="2200">
                        <a:latin typeface="Cambria Math" panose="02040503050406030204" pitchFamily="18" charset="0"/>
                        <a:cs typeface="Times New Roman" panose="02020603050405020304" pitchFamily="18" charset="0"/>
                      </a:rPr>
                      <m:t>(</m:t>
                    </m:r>
                    <m:r>
                      <m:rPr>
                        <m:sty m:val="p"/>
                      </m:rPr>
                      <a:rPr kumimoji="1" lang="en-US" altLang="zh-TW" sz="2200" b="0" i="0" smtClean="0">
                        <a:latin typeface="Cambria Math" panose="02040503050406030204" pitchFamily="18" charset="0"/>
                        <a:cs typeface="Times New Roman" panose="02020603050405020304" pitchFamily="18" charset="0"/>
                      </a:rPr>
                      <m:t>Q</m:t>
                    </m:r>
                    <m:r>
                      <a:rPr kumimoji="1" lang="en-US" altLang="zh-TW" sz="2200">
                        <a:latin typeface="Cambria Math" panose="02040503050406030204" pitchFamily="18" charset="0"/>
                        <a:cs typeface="Times New Roman" panose="02020603050405020304" pitchFamily="18" charset="0"/>
                      </a:rPr>
                      <m:t>, ∞)</m:t>
                    </m:r>
                  </m:oMath>
                </a14:m>
                <a:r>
                  <a:rPr kumimoji="1" lang="en-US" altLang="zh-TW" sz="2200" dirty="0">
                    <a:latin typeface="Times New Roman" panose="02020603050405020304" pitchFamily="18" charset="0"/>
                    <a:cs typeface="Times New Roman" panose="02020603050405020304" pitchFamily="18" charset="0"/>
                  </a:rPr>
                  <a:t>, choose maximal </a:t>
                </a:r>
                <a14:m>
                  <m:oMath xmlns:m="http://schemas.openxmlformats.org/officeDocument/2006/math">
                    <m:sSub>
                      <m:sSubPr>
                        <m:ctrlPr>
                          <a:rPr kumimoji="1" lang="en-US" altLang="zh-TW" sz="2200" i="1">
                            <a:latin typeface="Cambria Math" panose="02040503050406030204" pitchFamily="18" charset="0"/>
                            <a:cs typeface="Times New Roman" panose="02020603050405020304" pitchFamily="18" charset="0"/>
                          </a:rPr>
                        </m:ctrlPr>
                      </m:sSubPr>
                      <m:e>
                        <m:r>
                          <m:rPr>
                            <m:sty m:val="p"/>
                          </m:rPr>
                          <a:rPr kumimoji="1" lang="en-US" altLang="zh-TW" sz="2200">
                            <a:latin typeface="Cambria Math" panose="02040503050406030204" pitchFamily="18" charset="0"/>
                            <a:cs typeface="Times New Roman" panose="02020603050405020304" pitchFamily="18" charset="0"/>
                          </a:rPr>
                          <m:t>U</m:t>
                        </m:r>
                      </m:e>
                      <m:sub>
                        <m:r>
                          <a:rPr kumimoji="1" lang="en-US" altLang="zh-TW" sz="2200">
                            <a:latin typeface="Cambria Math" panose="02040503050406030204" pitchFamily="18" charset="0"/>
                            <a:cs typeface="Times New Roman" panose="02020603050405020304" pitchFamily="18" charset="0"/>
                          </a:rPr>
                          <m:t>4</m:t>
                        </m:r>
                      </m:sub>
                    </m:sSub>
                    <m:r>
                      <a:rPr kumimoji="1" lang="en-US" altLang="zh-TW" sz="2200">
                        <a:latin typeface="Cambria Math" panose="02040503050406030204" pitchFamily="18" charset="0"/>
                        <a:cs typeface="Times New Roman" panose="02020603050405020304" pitchFamily="18" charset="0"/>
                      </a:rPr>
                      <m:t>(</m:t>
                    </m:r>
                    <m:sSup>
                      <m:sSupPr>
                        <m:ctrlPr>
                          <a:rPr kumimoji="1" lang="en-US" altLang="zh-TW" sz="2200" i="1" smtClean="0">
                            <a:latin typeface="Cambria Math" panose="02040503050406030204" pitchFamily="18" charset="0"/>
                            <a:cs typeface="Times New Roman" panose="02020603050405020304" pitchFamily="18" charset="0"/>
                          </a:rPr>
                        </m:ctrlPr>
                      </m:sSupPr>
                      <m:e>
                        <m:r>
                          <a:rPr kumimoji="1" lang="en-US" altLang="zh-TW" sz="2200" b="0" i="1" smtClean="0">
                            <a:latin typeface="Cambria Math" panose="02040503050406030204" pitchFamily="18" charset="0"/>
                            <a:cs typeface="Times New Roman" panose="02020603050405020304" pitchFamily="18" charset="0"/>
                          </a:rPr>
                          <m:t>𝑄</m:t>
                        </m:r>
                      </m:e>
                      <m:sup>
                        <m:r>
                          <a:rPr kumimoji="1" lang="en-US" altLang="zh-TW" sz="2200" b="0" i="1" smtClean="0">
                            <a:latin typeface="Cambria Math" panose="02040503050406030204" pitchFamily="18" charset="0"/>
                            <a:cs typeface="Times New Roman" panose="02020603050405020304" pitchFamily="18" charset="0"/>
                          </a:rPr>
                          <m:t>∗</m:t>
                        </m:r>
                      </m:sup>
                    </m:sSup>
                    <m:r>
                      <a:rPr kumimoji="1" lang="en-US" altLang="zh-TW" sz="2200">
                        <a:latin typeface="Cambria Math" panose="02040503050406030204" pitchFamily="18" charset="0"/>
                        <a:cs typeface="Times New Roman" panose="02020603050405020304" pitchFamily="18" charset="0"/>
                      </a:rPr>
                      <m:t>, ∞)</m:t>
                    </m:r>
                  </m:oMath>
                </a14:m>
                <a:r>
                  <a:rPr kumimoji="1" lang="en-US" altLang="zh-TW" sz="2200"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kumimoji="1" lang="en-US" altLang="zh-TW" sz="2200" i="1">
                            <a:latin typeface="Cambria Math" panose="02040503050406030204" pitchFamily="18" charset="0"/>
                            <a:cs typeface="Times New Roman" panose="02020603050405020304" pitchFamily="18" charset="0"/>
                          </a:rPr>
                        </m:ctrlPr>
                      </m:sSupPr>
                      <m:e>
                        <m:r>
                          <a:rPr kumimoji="1" lang="en-US" altLang="zh-TW" sz="2200" i="1">
                            <a:latin typeface="Cambria Math" panose="02040503050406030204" pitchFamily="18" charset="0"/>
                            <a:cs typeface="Times New Roman" panose="02020603050405020304" pitchFamily="18" charset="0"/>
                          </a:rPr>
                          <m:t>𝑄</m:t>
                        </m:r>
                      </m:e>
                      <m:sup>
                        <m:r>
                          <a:rPr kumimoji="1" lang="en-US" altLang="zh-TW" sz="2200" i="1">
                            <a:latin typeface="Cambria Math" panose="02040503050406030204" pitchFamily="18" charset="0"/>
                            <a:cs typeface="Times New Roman" panose="02020603050405020304" pitchFamily="18" charset="0"/>
                          </a:rPr>
                          <m:t>∗</m:t>
                        </m:r>
                      </m:sup>
                    </m:sSup>
                    <m:r>
                      <a:rPr kumimoji="1" lang="en-US" altLang="zh-TW" sz="2200" b="0" i="0" smtClean="0">
                        <a:latin typeface="Cambria Math" panose="02040503050406030204" pitchFamily="18" charset="0"/>
                        <a:cs typeface="Times New Roman" panose="02020603050405020304" pitchFamily="18" charset="0"/>
                      </a:rPr>
                      <m:t> </m:t>
                    </m:r>
                  </m:oMath>
                </a14:m>
                <a:r>
                  <a:rPr kumimoji="1" lang="pt-BR" altLang="zh-TW" sz="2200" dirty="0">
                    <a:latin typeface="Times New Roman" panose="02020603050405020304" pitchFamily="18" charset="0"/>
                    <a:cs typeface="Times New Roman" panose="02020603050405020304" pitchFamily="18" charset="0"/>
                  </a:rPr>
                  <a:t>as next node P at level 3.</a:t>
                </a:r>
              </a:p>
              <a:p>
                <a:pPr marL="0" indent="0">
                  <a:buNone/>
                </a:pPr>
                <a:endParaRPr kumimoji="1" lang="en-US" altLang="zh-TW" sz="2200" dirty="0">
                  <a:latin typeface="Times New Roman" panose="02020603050405020304" pitchFamily="18" charset="0"/>
                  <a:cs typeface="Times New Roman" panose="02020603050405020304" pitchFamily="18" charset="0"/>
                </a:endParaRPr>
              </a:p>
              <a:p>
                <a:pPr marL="0" indent="0">
                  <a:buNone/>
                </a:pPr>
                <a:endParaRPr kumimoji="1" lang="pt-BR" altLang="zh-TW" sz="2200" dirty="0">
                  <a:latin typeface="Times New Roman" panose="02020603050405020304" pitchFamily="18" charset="0"/>
                  <a:cs typeface="Times New Roman" panose="02020603050405020304" pitchFamily="18" charset="0"/>
                </a:endParaRPr>
              </a:p>
              <a:p>
                <a:pPr marL="0" indent="0">
                  <a:buNone/>
                </a:pPr>
                <a:endParaRPr kumimoji="1" lang="en-US" altLang="zh-TW" sz="2200"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903972" y="1687102"/>
                <a:ext cx="7135128" cy="4663754"/>
              </a:xfrm>
              <a:prstGeom prst="rect">
                <a:avLst/>
              </a:prstGeom>
              <a:blipFill>
                <a:blip r:embed="rId3"/>
                <a:stretch>
                  <a:fillRect l="-1110" t="-1569"/>
                </a:stretch>
              </a:blipFill>
            </p:spPr>
            <p:txBody>
              <a:bodyPr/>
              <a:lstStyle/>
              <a:p>
                <a:r>
                  <a:rPr lang="zh-TW" altLang="en-US">
                    <a:noFill/>
                  </a:rPr>
                  <a:t> </a:t>
                </a:r>
              </a:p>
            </p:txBody>
          </p:sp>
        </mc:Fallback>
      </mc:AlternateContent>
      <p:sp>
        <p:nvSpPr>
          <p:cNvPr id="38" name="Content Placeholder 3">
            <a:extLst>
              <a:ext uri="{FF2B5EF4-FFF2-40B4-BE49-F238E27FC236}">
                <a16:creationId xmlns:a16="http://schemas.microsoft.com/office/drawing/2014/main" id="{68BD3718-369A-7086-9915-D635708A226D}"/>
              </a:ext>
            </a:extLst>
          </p:cNvPr>
          <p:cNvSpPr>
            <a:spLocks noGrp="1"/>
          </p:cNvSpPr>
          <p:nvPr>
            <p:ph idx="1"/>
          </p:nvPr>
        </p:nvSpPr>
        <p:spPr>
          <a:xfrm>
            <a:off x="8341722" y="1815689"/>
            <a:ext cx="2370909" cy="1072158"/>
          </a:xfrm>
        </p:spPr>
        <p:txBody>
          <a:bodyPr>
            <a:normAutofit fontScale="77500" lnSpcReduction="20000"/>
          </a:bodyPr>
          <a:lstStyle/>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ACAGTT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 CAGGCT </a:t>
            </a:r>
          </a:p>
          <a:p>
            <a:pPr marL="0" inden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GACAGTA</a:t>
            </a:r>
          </a:p>
        </p:txBody>
      </p:sp>
      <p:pic>
        <p:nvPicPr>
          <p:cNvPr id="13" name="Picture 12">
            <a:extLst>
              <a:ext uri="{FF2B5EF4-FFF2-40B4-BE49-F238E27FC236}">
                <a16:creationId xmlns:a16="http://schemas.microsoft.com/office/drawing/2014/main" id="{441BA8D4-329F-72DC-8081-6FF4F82C2024}"/>
              </a:ext>
            </a:extLst>
          </p:cNvPr>
          <p:cNvPicPr>
            <a:picLocks noChangeAspect="1"/>
          </p:cNvPicPr>
          <p:nvPr/>
        </p:nvPicPr>
        <p:blipFill>
          <a:blip r:embed="rId4"/>
          <a:stretch>
            <a:fillRect/>
          </a:stretch>
        </p:blipFill>
        <p:spPr>
          <a:xfrm>
            <a:off x="8039100" y="3023711"/>
            <a:ext cx="3927447" cy="2059421"/>
          </a:xfrm>
          <a:prstGeom prst="rect">
            <a:avLst/>
          </a:prstGeom>
        </p:spPr>
      </p:pic>
      <mc:AlternateContent xmlns:mc="http://schemas.openxmlformats.org/markup-compatibility/2006">
        <mc:Choice xmlns:a14="http://schemas.microsoft.com/office/drawing/2010/main" Requires="a14">
          <p:sp>
            <p:nvSpPr>
              <p:cNvPr id="14" name="Content Placeholder 3">
                <a:extLst>
                  <a:ext uri="{FF2B5EF4-FFF2-40B4-BE49-F238E27FC236}">
                    <a16:creationId xmlns:a16="http://schemas.microsoft.com/office/drawing/2014/main" id="{61E27145-C94D-F365-5B3C-AC08FC4DB760}"/>
                  </a:ext>
                </a:extLst>
              </p:cNvPr>
              <p:cNvSpPr txBox="1">
                <a:spLocks/>
              </p:cNvSpPr>
              <p:nvPr/>
            </p:nvSpPr>
            <p:spPr>
              <a:xfrm>
                <a:off x="903972" y="4648233"/>
                <a:ext cx="4039504" cy="18446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pt-BR" altLang="zh-TW" sz="2000" dirty="0">
                    <a:latin typeface="Times New Roman" panose="02020603050405020304" pitchFamily="18" charset="0"/>
                    <a:cs typeface="Times New Roman" panose="02020603050405020304" pitchFamily="18" charset="0"/>
                  </a:rPr>
                  <a:t>G(4, 3, 5), </a:t>
                </a:r>
                <a:r>
                  <a:rPr kumimoji="1" lang="en-US" altLang="zh-TW" sz="2000" dirty="0">
                    <a:latin typeface="Times New Roman" panose="02020603050405020304" pitchFamily="18" charset="0"/>
                    <a:cs typeface="Times New Roman" panose="02020603050405020304" pitchFamily="18" charset="0"/>
                  </a:rPr>
                  <a:t>n = 3, </a:t>
                </a:r>
                <a:r>
                  <a:rPr kumimoji="1" lang="el-GR" altLang="zh-TW" sz="2000" dirty="0">
                    <a:latin typeface="Times New Roman" panose="02020603050405020304" pitchFamily="18" charset="0"/>
                    <a:cs typeface="Times New Roman" panose="02020603050405020304" pitchFamily="18" charset="0"/>
                  </a:rPr>
                  <a:t>θ</a:t>
                </a:r>
                <a:r>
                  <a:rPr kumimoji="1" lang="en-US" altLang="zh-TW" sz="2000" dirty="0">
                    <a:latin typeface="Times New Roman" panose="02020603050405020304" pitchFamily="18" charset="0"/>
                    <a:cs typeface="Times New Roman" panose="02020603050405020304" pitchFamily="18" charset="0"/>
                  </a:rPr>
                  <a:t> = </a:t>
                </a:r>
                <a:r>
                  <a:rPr kumimoji="1"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0.5 * 3</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 2</a:t>
                </a:r>
              </a:p>
              <a:p>
                <a:pPr marL="0" indent="0">
                  <a:buNone/>
                </a:pPr>
                <a14:m>
                  <m:oMath xmlns:m="http://schemas.openxmlformats.org/officeDocument/2006/math">
                    <m:sSubSup>
                      <m:sSubSupPr>
                        <m:ctrlPr>
                          <a:rPr kumimoji="1" lang="en-US" altLang="zh-TW" sz="2000" i="1" dirty="0" smtClean="0">
                            <a:latin typeface="Cambria Math" panose="02040503050406030204" pitchFamily="18" charset="0"/>
                            <a:cs typeface="Times New Roman" panose="02020603050405020304" pitchFamily="18" charset="0"/>
                          </a:rPr>
                        </m:ctrlPr>
                      </m:sSubSupPr>
                      <m:e>
                        <m:sSubSup>
                          <m:sSubSupPr>
                            <m:ctrlPr>
                              <a:rPr kumimoji="1" lang="en-US" altLang="zh-TW" sz="2000" i="1" dirty="0">
                                <a:latin typeface="Cambria Math" panose="02040503050406030204" pitchFamily="18" charset="0"/>
                                <a:cs typeface="Times New Roman" panose="02020603050405020304" pitchFamily="18" charset="0"/>
                              </a:rPr>
                            </m:ctrlPr>
                          </m:sSubSupPr>
                          <m:e>
                            <m:r>
                              <a:rPr kumimoji="1" lang="en-US" altLang="zh-TW" sz="2000" dirty="0">
                                <a:latin typeface="Cambria Math" panose="02040503050406030204" pitchFamily="18" charset="0"/>
                                <a:cs typeface="Times New Roman" panose="02020603050405020304" pitchFamily="18" charset="0"/>
                              </a:rPr>
                              <m:t>𝑆</m:t>
                            </m:r>
                          </m:e>
                          <m:sub>
                            <m:r>
                              <a:rPr kumimoji="1" lang="en-US" altLang="zh-TW" sz="2000" b="0" i="1" dirty="0" smtClean="0">
                                <a:latin typeface="Cambria Math" panose="02040503050406030204" pitchFamily="18" charset="0"/>
                                <a:cs typeface="Times New Roman" panose="02020603050405020304" pitchFamily="18" charset="0"/>
                              </a:rPr>
                              <m:t>∗</m:t>
                            </m:r>
                          </m:sub>
                          <m:sup/>
                        </m:sSubSup>
                        <m:r>
                          <a:rPr kumimoji="1" lang="en-US" altLang="zh-TW" sz="2000" b="0" i="0" dirty="0" smtClean="0">
                            <a:latin typeface="Cambria Math" panose="02040503050406030204" pitchFamily="18" charset="0"/>
                            <a:cs typeface="Times New Roman" panose="02020603050405020304" pitchFamily="18" charset="0"/>
                          </a:rPr>
                          <m:t>=</m:t>
                        </m:r>
                        <m:r>
                          <a:rPr kumimoji="1" lang="en-US" altLang="zh-TW" sz="2000" dirty="0">
                            <a:latin typeface="Cambria Math" panose="02040503050406030204" pitchFamily="18" charset="0"/>
                            <a:cs typeface="Times New Roman" panose="02020603050405020304" pitchFamily="18" charset="0"/>
                          </a:rPr>
                          <m:t>𝑆</m:t>
                        </m:r>
                      </m:e>
                      <m:sub>
                        <m:r>
                          <a:rPr kumimoji="1" lang="en-US" altLang="zh-TW" sz="2000" dirty="0" smtClean="0">
                            <a:latin typeface="Cambria Math" panose="02040503050406030204" pitchFamily="18" charset="0"/>
                            <a:cs typeface="Times New Roman" panose="02020603050405020304" pitchFamily="18" charset="0"/>
                          </a:rPr>
                          <m:t>1</m:t>
                        </m:r>
                      </m:sub>
                      <m:sup>
                        <m:r>
                          <a:rPr kumimoji="1" lang="en-US" altLang="zh-TW" sz="2000" dirty="0" smtClean="0">
                            <a:latin typeface="Cambria Math" panose="02040503050406030204" pitchFamily="18" charset="0"/>
                            <a:cs typeface="Times New Roman" panose="02020603050405020304" pitchFamily="18" charset="0"/>
                          </a:rPr>
                          <m:t>𝑝</m:t>
                        </m:r>
                      </m:sup>
                    </m:sSubSup>
                  </m:oMath>
                </a14:m>
                <a:r>
                  <a:rPr kumimoji="1" lang="en-US" altLang="zh-TW" sz="2000" dirty="0">
                    <a:latin typeface="Times New Roman" panose="02020603050405020304" pitchFamily="18" charset="0"/>
                    <a:cs typeface="Times New Roman" panose="02020603050405020304" pitchFamily="18" charset="0"/>
                  </a:rPr>
                  <a:t>= TT, </a:t>
                </a:r>
                <a14:m>
                  <m:oMath xmlns:m="http://schemas.openxmlformats.org/officeDocument/2006/math">
                    <m:sSubSup>
                      <m:sSubSupPr>
                        <m:ctrlPr>
                          <a:rPr kumimoji="1" lang="en-US" altLang="zh-TW" sz="2000" i="1" dirty="0">
                            <a:latin typeface="Cambria Math" panose="02040503050406030204" pitchFamily="18" charset="0"/>
                            <a:cs typeface="Times New Roman" panose="02020603050405020304" pitchFamily="18" charset="0"/>
                          </a:rPr>
                        </m:ctrlPr>
                      </m:sSubSupPr>
                      <m:e>
                        <m:r>
                          <a:rPr kumimoji="1" lang="en-US" altLang="zh-TW" sz="2000" dirty="0">
                            <a:latin typeface="Cambria Math" panose="02040503050406030204" pitchFamily="18" charset="0"/>
                            <a:cs typeface="Times New Roman" panose="02020603050405020304" pitchFamily="18" charset="0"/>
                          </a:rPr>
                          <m:t>𝑆</m:t>
                        </m:r>
                      </m:e>
                      <m:sub>
                        <m:r>
                          <a:rPr kumimoji="1" lang="en-US" altLang="zh-TW" sz="2000" b="0" i="0" dirty="0" smtClean="0">
                            <a:latin typeface="Cambria Math" panose="02040503050406030204" pitchFamily="18" charset="0"/>
                            <a:cs typeface="Times New Roman" panose="02020603050405020304" pitchFamily="18" charset="0"/>
                          </a:rPr>
                          <m:t>3</m:t>
                        </m:r>
                      </m:sub>
                      <m:sup>
                        <m:r>
                          <a:rPr kumimoji="1" lang="en-US" altLang="zh-TW" sz="2000" dirty="0">
                            <a:latin typeface="Cambria Math" panose="02040503050406030204" pitchFamily="18" charset="0"/>
                            <a:cs typeface="Times New Roman" panose="02020603050405020304" pitchFamily="18" charset="0"/>
                          </a:rPr>
                          <m:t>𝑝</m:t>
                        </m:r>
                      </m:sup>
                    </m:sSubSup>
                    <m:r>
                      <a:rPr kumimoji="1" lang="en-US" altLang="zh-TW" sz="2000" i="1" dirty="0">
                        <a:latin typeface="Cambria Math" panose="02040503050406030204" pitchFamily="18" charset="0"/>
                        <a:cs typeface="Times New Roman" panose="02020603050405020304" pitchFamily="18" charset="0"/>
                      </a:rPr>
                      <m:t> </m:t>
                    </m:r>
                  </m:oMath>
                </a14:m>
                <a:r>
                  <a:rPr kumimoji="1" lang="en-US" altLang="zh-TW" sz="2000" dirty="0">
                    <a:latin typeface="Times New Roman" panose="02020603050405020304" pitchFamily="18" charset="0"/>
                    <a:cs typeface="Times New Roman" panose="02020603050405020304" pitchFamily="18" charset="0"/>
                  </a:rPr>
                  <a:t>= TA</a:t>
                </a:r>
              </a:p>
              <a:p>
                <a:pPr marL="0" indent="0">
                  <a:buNone/>
                </a:pPr>
                <a14:m>
                  <m:oMath xmlns:m="http://schemas.openxmlformats.org/officeDocument/2006/math">
                    <m:r>
                      <a:rPr kumimoji="1" lang="en-US" altLang="zh-TW" sz="1800" b="0" i="1" smtClean="0">
                        <a:latin typeface="Cambria Math" panose="02040503050406030204" pitchFamily="18" charset="0"/>
                        <a:cs typeface="Times New Roman" panose="02020603050405020304" pitchFamily="18" charset="0"/>
                      </a:rPr>
                      <m:t>𝑑𝑒𝑣𝑒𝑟𝑠𝑖𝑡𝑦</m:t>
                    </m:r>
                    <m:r>
                      <a:rPr kumimoji="1" lang="en-US" altLang="zh-TW" sz="1800" b="0" i="1" smtClean="0">
                        <a:latin typeface="Cambria Math" panose="02040503050406030204" pitchFamily="18" charset="0"/>
                        <a:cs typeface="Times New Roman" panose="02020603050405020304" pitchFamily="18" charset="0"/>
                      </a:rPr>
                      <m:t>(</m:t>
                    </m:r>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zh-TW" altLang="en-US" sz="1800" i="1" dirty="0">
                            <a:latin typeface="Cambria Math" panose="02040503050406030204" pitchFamily="18" charset="0"/>
                            <a:cs typeface="Times New Roman" panose="02020603050405020304" pitchFamily="18" charset="0"/>
                          </a:rPr>
                          <m:t>∗</m:t>
                        </m:r>
                      </m:sub>
                      <m:sup/>
                    </m:sSubSup>
                  </m:oMath>
                </a14:m>
                <a:r>
                  <a:rPr kumimoji="1" lang="en-US" altLang="zh-TW" sz="1800"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en-US" altLang="zh-TW" sz="1800" b="0" i="1" dirty="0" smtClean="0">
                            <a:latin typeface="Cambria Math" panose="02040503050406030204" pitchFamily="18" charset="0"/>
                            <a:cs typeface="Times New Roman" panose="02020603050405020304" pitchFamily="18" charset="0"/>
                          </a:rPr>
                          <m:t>3</m:t>
                        </m:r>
                      </m:sub>
                      <m:sup>
                        <m:r>
                          <a:rPr kumimoji="1" lang="en-US" altLang="zh-TW" sz="1800" dirty="0">
                            <a:latin typeface="Cambria Math" panose="02040503050406030204" pitchFamily="18" charset="0"/>
                            <a:cs typeface="Times New Roman" panose="02020603050405020304" pitchFamily="18" charset="0"/>
                          </a:rPr>
                          <m:t>𝑝</m:t>
                        </m:r>
                      </m:sup>
                    </m:sSubSup>
                  </m:oMath>
                </a14:m>
                <a:r>
                  <a:rPr kumimoji="1"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kumimoji="1" lang="en-US" altLang="zh-TW" sz="1800" i="1" smtClean="0">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2</m:t>
                        </m:r>
                      </m:den>
                    </m:f>
                    <m:d>
                      <m:dPr>
                        <m:ctrlPr>
                          <a:rPr kumimoji="1" lang="en-US" altLang="zh-TW" sz="1800" b="0" i="1" smtClean="0">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0−1</m:t>
                        </m:r>
                      </m:e>
                    </m:d>
                    <m:r>
                      <a:rPr kumimoji="1" lang="en-US" altLang="zh-TW" sz="1800" b="0" i="1" smtClean="0">
                        <a:latin typeface="Cambria Math" panose="02040503050406030204" pitchFamily="18" charset="0"/>
                        <a:cs typeface="Times New Roman" panose="02020603050405020304" pitchFamily="18" charset="0"/>
                      </a:rPr>
                      <m:t>+</m:t>
                    </m:r>
                  </m:oMath>
                </a14:m>
                <a:r>
                  <a:rPr kumimoji="1" lang="en-US" altLang="zh-TW" sz="1800" dirty="0">
                    <a:cs typeface="Times New Roman" panose="02020603050405020304" pitchFamily="18" charset="0"/>
                  </a:rPr>
                  <a:t> </a:t>
                </a:r>
                <a14:m>
                  <m:oMath xmlns:m="http://schemas.openxmlformats.org/officeDocument/2006/math">
                    <m:f>
                      <m:fPr>
                        <m:ctrlPr>
                          <a:rPr kumimoji="1" lang="en-US" altLang="zh-TW" sz="1800" i="1">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2</m:t>
                        </m:r>
                      </m:num>
                      <m:den>
                        <m:r>
                          <a:rPr kumimoji="1" lang="en-US" altLang="zh-TW" sz="1800" b="0" i="1" smtClean="0">
                            <a:latin typeface="Cambria Math" panose="02040503050406030204" pitchFamily="18" charset="0"/>
                            <a:cs typeface="Times New Roman" panose="02020603050405020304" pitchFamily="18" charset="0"/>
                          </a:rPr>
                          <m:t>2</m:t>
                        </m:r>
                      </m:den>
                    </m:f>
                  </m:oMath>
                </a14:m>
                <a:r>
                  <a:rPr kumimoji="1" lang="en-US" altLang="zh-TW" sz="1800" dirty="0">
                    <a:cs typeface="Times New Roman" panose="02020603050405020304" pitchFamily="18" charset="0"/>
                  </a:rPr>
                  <a:t> </a:t>
                </a:r>
                <a14:m>
                  <m:oMath xmlns:m="http://schemas.openxmlformats.org/officeDocument/2006/math">
                    <m:d>
                      <m:dPr>
                        <m:ctrlPr>
                          <a:rPr kumimoji="1" lang="en-US" altLang="zh-TW" sz="1800" i="1">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2</m:t>
                        </m:r>
                        <m:r>
                          <a:rPr kumimoji="1" lang="en-US" altLang="zh-TW" sz="1800" i="1">
                            <a:latin typeface="Cambria Math" panose="02040503050406030204" pitchFamily="18" charset="0"/>
                            <a:cs typeface="Times New Roman" panose="02020603050405020304" pitchFamily="18" charset="0"/>
                          </a:rPr>
                          <m:t>−1</m:t>
                        </m:r>
                      </m:e>
                    </m:d>
                    <m:r>
                      <a:rPr kumimoji="1" lang="en-US" altLang="zh-TW" sz="1800" i="1">
                        <a:latin typeface="Cambria Math" panose="02040503050406030204" pitchFamily="18" charset="0"/>
                        <a:cs typeface="Times New Roman" panose="02020603050405020304" pitchFamily="18" charset="0"/>
                      </a:rPr>
                      <m:t>+</m:t>
                    </m:r>
                    <m:r>
                      <m:rPr>
                        <m:nor/>
                      </m:rPr>
                      <a:rPr kumimoji="1" lang="en-US" altLang="zh-TW" sz="1800" dirty="0">
                        <a:cs typeface="Times New Roman" panose="02020603050405020304" pitchFamily="18" charset="0"/>
                      </a:rPr>
                      <m:t> </m:t>
                    </m:r>
                    <m:f>
                      <m:fPr>
                        <m:ctrlPr>
                          <a:rPr kumimoji="1" lang="en-US" altLang="zh-TW" sz="1800" i="1">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2</m:t>
                        </m:r>
                      </m:den>
                    </m:f>
                    <m:r>
                      <m:rPr>
                        <m:nor/>
                      </m:rPr>
                      <a:rPr kumimoji="1" lang="en-US" altLang="zh-TW" sz="1800" dirty="0">
                        <a:cs typeface="Times New Roman" panose="02020603050405020304" pitchFamily="18" charset="0"/>
                      </a:rPr>
                      <m:t> </m:t>
                    </m:r>
                    <m:d>
                      <m:dPr>
                        <m:ctrlPr>
                          <a:rPr kumimoji="1" lang="en-US" altLang="zh-TW" sz="1800" i="1">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m:t>
                        </m:r>
                        <m:r>
                          <a:rPr kumimoji="1" lang="en-US" altLang="zh-TW" sz="1800" i="1">
                            <a:latin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cs typeface="Times New Roman" panose="02020603050405020304" pitchFamily="18" charset="0"/>
                          </a:rPr>
                          <m:t>0</m:t>
                        </m:r>
                      </m:e>
                    </m:d>
                  </m:oMath>
                </a14:m>
                <a:r>
                  <a:rPr kumimoji="1" lang="en-US" altLang="zh-TW" sz="1800" dirty="0">
                    <a:cs typeface="Times New Roman" panose="02020603050405020304" pitchFamily="18" charset="0"/>
                  </a:rPr>
                  <a:t> </a:t>
                </a:r>
                <a14:m>
                  <m:oMath xmlns:m="http://schemas.openxmlformats.org/officeDocument/2006/math">
                    <m:r>
                      <a:rPr kumimoji="1" lang="en-US" altLang="zh-TW" sz="1800" i="1">
                        <a:latin typeface="Cambria Math" panose="02040503050406030204" pitchFamily="18" charset="0"/>
                        <a:cs typeface="Times New Roman" panose="02020603050405020304" pitchFamily="18" charset="0"/>
                      </a:rPr>
                      <m:t>+</m:t>
                    </m:r>
                  </m:oMath>
                </a14:m>
                <a:r>
                  <a:rPr kumimoji="1" lang="en-US" altLang="zh-TW" sz="1800" dirty="0">
                    <a:cs typeface="Times New Roman" panose="02020603050405020304" pitchFamily="18" charset="0"/>
                  </a:rPr>
                  <a:t> </a:t>
                </a:r>
                <a14:m>
                  <m:oMath xmlns:m="http://schemas.openxmlformats.org/officeDocument/2006/math">
                    <m:f>
                      <m:fPr>
                        <m:ctrlPr>
                          <a:rPr kumimoji="1" lang="en-US" altLang="zh-TW" sz="1800" i="1" smtClean="0">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2</m:t>
                        </m:r>
                      </m:den>
                    </m:f>
                  </m:oMath>
                </a14:m>
                <a:r>
                  <a:rPr kumimoji="1" lang="en-US" altLang="zh-TW" sz="1800" dirty="0">
                    <a:cs typeface="Times New Roman" panose="02020603050405020304" pitchFamily="18" charset="0"/>
                  </a:rPr>
                  <a:t> </a:t>
                </a:r>
                <a14:m>
                  <m:oMath xmlns:m="http://schemas.openxmlformats.org/officeDocument/2006/math">
                    <m:d>
                      <m:dPr>
                        <m:ctrlPr>
                          <a:rPr kumimoji="1" lang="en-US" altLang="zh-TW" sz="1800" i="1">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m:t>
                        </m:r>
                        <m:r>
                          <a:rPr kumimoji="1" lang="en-US" altLang="zh-TW" sz="1800" i="1">
                            <a:latin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cs typeface="Times New Roman" panose="02020603050405020304" pitchFamily="18" charset="0"/>
                          </a:rPr>
                          <m:t>0</m:t>
                        </m:r>
                      </m:e>
                    </m:d>
                  </m:oMath>
                </a14:m>
                <a:r>
                  <a:rPr kumimoji="1"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sz="1800" i="1" smtClean="0">
                        <a:latin typeface="Cambria Math" panose="02040503050406030204" pitchFamily="18" charset="0"/>
                        <a:cs typeface="Times New Roman" panose="02020603050405020304" pitchFamily="18" charset="0"/>
                      </a:rPr>
                      <m:t>1</m:t>
                    </m:r>
                  </m:oMath>
                </a14:m>
                <a:endParaRPr kumimoji="1" lang="en-US" altLang="zh-TW" sz="1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kumimoji="1" lang="en-US" altLang="zh-TW" u="sng" dirty="0">
                  <a:latin typeface="Times New Roman" panose="02020603050405020304" pitchFamily="18" charset="0"/>
                  <a:cs typeface="Times New Roman" panose="02020603050405020304" pitchFamily="18" charset="0"/>
                </a:endParaRPr>
              </a:p>
            </p:txBody>
          </p:sp>
        </mc:Choice>
        <mc:Fallback>
          <p:sp>
            <p:nvSpPr>
              <p:cNvPr id="14" name="Content Placeholder 3">
                <a:extLst>
                  <a:ext uri="{FF2B5EF4-FFF2-40B4-BE49-F238E27FC236}">
                    <a16:creationId xmlns:a16="http://schemas.microsoft.com/office/drawing/2014/main" id="{61E27145-C94D-F365-5B3C-AC08FC4DB760}"/>
                  </a:ext>
                </a:extLst>
              </p:cNvPr>
              <p:cNvSpPr txBox="1">
                <a:spLocks noRot="1" noChangeAspect="1" noMove="1" noResize="1" noEditPoints="1" noAdjustHandles="1" noChangeArrowheads="1" noChangeShapeType="1" noTextEdit="1"/>
              </p:cNvSpPr>
              <p:nvPr/>
            </p:nvSpPr>
            <p:spPr>
              <a:xfrm>
                <a:off x="903972" y="4648233"/>
                <a:ext cx="4039504" cy="1844642"/>
              </a:xfrm>
              <a:prstGeom prst="rect">
                <a:avLst/>
              </a:prstGeom>
              <a:blipFill>
                <a:blip r:embed="rId5"/>
                <a:stretch>
                  <a:fillRect l="-1508" t="-3974"/>
                </a:stretch>
              </a:blipFill>
            </p:spPr>
            <p:txBody>
              <a:bodyPr/>
              <a:lstStyle/>
              <a:p>
                <a:r>
                  <a:rPr lang="zh-TW" altLang="en-US">
                    <a:noFill/>
                  </a:rPr>
                  <a:t> </a:t>
                </a:r>
              </a:p>
            </p:txBody>
          </p:sp>
        </mc:Fallback>
      </mc:AlternateContent>
      <p:pic>
        <p:nvPicPr>
          <p:cNvPr id="15" name="Picture 14">
            <a:extLst>
              <a:ext uri="{FF2B5EF4-FFF2-40B4-BE49-F238E27FC236}">
                <a16:creationId xmlns:a16="http://schemas.microsoft.com/office/drawing/2014/main" id="{EBE85058-5B47-D6FE-8047-48FCA2D145F0}"/>
              </a:ext>
            </a:extLst>
          </p:cNvPr>
          <p:cNvPicPr>
            <a:picLocks noChangeAspect="1"/>
          </p:cNvPicPr>
          <p:nvPr/>
        </p:nvPicPr>
        <p:blipFill>
          <a:blip r:embed="rId6"/>
          <a:stretch>
            <a:fillRect/>
          </a:stretch>
        </p:blipFill>
        <p:spPr>
          <a:xfrm>
            <a:off x="8792480" y="5867400"/>
            <a:ext cx="2870825" cy="531216"/>
          </a:xfrm>
          <a:prstGeom prst="rect">
            <a:avLst/>
          </a:prstGeom>
        </p:spPr>
      </p:pic>
      <mc:AlternateContent xmlns:mc="http://schemas.openxmlformats.org/markup-compatibility/2006">
        <mc:Choice xmlns:a14="http://schemas.microsoft.com/office/drawing/2010/main" Requires="a14">
          <p:sp>
            <p:nvSpPr>
              <p:cNvPr id="16" name="Content Placeholder 3">
                <a:extLst>
                  <a:ext uri="{FF2B5EF4-FFF2-40B4-BE49-F238E27FC236}">
                    <a16:creationId xmlns:a16="http://schemas.microsoft.com/office/drawing/2014/main" id="{B64E6A5B-8539-0365-1B80-C558A49B13D8}"/>
                  </a:ext>
                </a:extLst>
              </p:cNvPr>
              <p:cNvSpPr txBox="1">
                <a:spLocks/>
              </p:cNvSpPr>
              <p:nvPr/>
            </p:nvSpPr>
            <p:spPr>
              <a:xfrm>
                <a:off x="4752976" y="4648266"/>
                <a:ext cx="4039504" cy="18446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pt-BR" altLang="zh-TW" sz="2000" dirty="0">
                    <a:latin typeface="Times New Roman" panose="02020603050405020304" pitchFamily="18" charset="0"/>
                    <a:cs typeface="Times New Roman" panose="02020603050405020304" pitchFamily="18" charset="0"/>
                  </a:rPr>
                  <a:t>T(5, 6, 6), </a:t>
                </a:r>
                <a:r>
                  <a:rPr kumimoji="1" lang="en-US" altLang="zh-TW" sz="2000" dirty="0">
                    <a:latin typeface="Times New Roman" panose="02020603050405020304" pitchFamily="18" charset="0"/>
                    <a:cs typeface="Times New Roman" panose="02020603050405020304" pitchFamily="18" charset="0"/>
                  </a:rPr>
                  <a:t>n = 3, </a:t>
                </a:r>
                <a:r>
                  <a:rPr kumimoji="1" lang="el-GR" altLang="zh-TW" sz="2000" dirty="0">
                    <a:latin typeface="Times New Roman" panose="02020603050405020304" pitchFamily="18" charset="0"/>
                    <a:cs typeface="Times New Roman" panose="02020603050405020304" pitchFamily="18" charset="0"/>
                  </a:rPr>
                  <a:t>θ</a:t>
                </a:r>
                <a:r>
                  <a:rPr kumimoji="1" lang="en-US" altLang="zh-TW" sz="2000" dirty="0">
                    <a:latin typeface="Times New Roman" panose="02020603050405020304" pitchFamily="18" charset="0"/>
                    <a:cs typeface="Times New Roman" panose="02020603050405020304" pitchFamily="18" charset="0"/>
                  </a:rPr>
                  <a:t> = </a:t>
                </a:r>
                <a:r>
                  <a:rPr kumimoji="1"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0.5 * 3</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 2</a:t>
                </a:r>
              </a:p>
              <a:p>
                <a:pPr marL="0" indent="0">
                  <a:buNone/>
                </a:pPr>
                <a14:m>
                  <m:oMath xmlns:m="http://schemas.openxmlformats.org/officeDocument/2006/math">
                    <m:sSubSup>
                      <m:sSubSupPr>
                        <m:ctrlPr>
                          <a:rPr kumimoji="1" lang="en-US" altLang="zh-TW" sz="2000" i="1" dirty="0" smtClean="0">
                            <a:latin typeface="Cambria Math" panose="02040503050406030204" pitchFamily="18" charset="0"/>
                            <a:cs typeface="Times New Roman" panose="02020603050405020304" pitchFamily="18" charset="0"/>
                          </a:rPr>
                        </m:ctrlPr>
                      </m:sSubSupPr>
                      <m:e>
                        <m:sSubSup>
                          <m:sSubSupPr>
                            <m:ctrlPr>
                              <a:rPr kumimoji="1" lang="en-US" altLang="zh-TW" sz="2000" i="1" dirty="0">
                                <a:latin typeface="Cambria Math" panose="02040503050406030204" pitchFamily="18" charset="0"/>
                                <a:cs typeface="Times New Roman" panose="02020603050405020304" pitchFamily="18" charset="0"/>
                              </a:rPr>
                            </m:ctrlPr>
                          </m:sSubSupPr>
                          <m:e>
                            <m:r>
                              <a:rPr kumimoji="1" lang="en-US" altLang="zh-TW" sz="2000" dirty="0">
                                <a:latin typeface="Cambria Math" panose="02040503050406030204" pitchFamily="18" charset="0"/>
                                <a:cs typeface="Times New Roman" panose="02020603050405020304" pitchFamily="18" charset="0"/>
                              </a:rPr>
                              <m:t>𝑆</m:t>
                            </m:r>
                          </m:e>
                          <m:sub>
                            <m:r>
                              <a:rPr kumimoji="1" lang="en-US" altLang="zh-TW" sz="2000" b="0" i="1" dirty="0" smtClean="0">
                                <a:latin typeface="Cambria Math" panose="02040503050406030204" pitchFamily="18" charset="0"/>
                                <a:cs typeface="Times New Roman" panose="02020603050405020304" pitchFamily="18" charset="0"/>
                              </a:rPr>
                              <m:t>∗</m:t>
                            </m:r>
                          </m:sub>
                          <m:sup/>
                        </m:sSubSup>
                        <m:r>
                          <a:rPr kumimoji="1" lang="en-US" altLang="zh-TW" sz="2000" b="0" i="0" dirty="0" smtClean="0">
                            <a:latin typeface="Cambria Math" panose="02040503050406030204" pitchFamily="18" charset="0"/>
                            <a:cs typeface="Times New Roman" panose="02020603050405020304" pitchFamily="18" charset="0"/>
                          </a:rPr>
                          <m:t>=</m:t>
                        </m:r>
                        <m:r>
                          <a:rPr kumimoji="1" lang="en-US" altLang="zh-TW" sz="2000" dirty="0">
                            <a:latin typeface="Cambria Math" panose="02040503050406030204" pitchFamily="18" charset="0"/>
                            <a:cs typeface="Times New Roman" panose="02020603050405020304" pitchFamily="18" charset="0"/>
                          </a:rPr>
                          <m:t>𝑆</m:t>
                        </m:r>
                      </m:e>
                      <m:sub>
                        <m:r>
                          <a:rPr kumimoji="1" lang="en-US" altLang="zh-TW" sz="2000" b="0" i="0" dirty="0" smtClean="0">
                            <a:latin typeface="Cambria Math" panose="02040503050406030204" pitchFamily="18" charset="0"/>
                            <a:cs typeface="Times New Roman" panose="02020603050405020304" pitchFamily="18" charset="0"/>
                          </a:rPr>
                          <m:t>2</m:t>
                        </m:r>
                      </m:sub>
                      <m:sup>
                        <m:r>
                          <a:rPr kumimoji="1" lang="en-US" altLang="zh-TW" sz="2000" dirty="0" smtClean="0">
                            <a:latin typeface="Cambria Math" panose="02040503050406030204" pitchFamily="18" charset="0"/>
                            <a:cs typeface="Times New Roman" panose="02020603050405020304" pitchFamily="18" charset="0"/>
                          </a:rPr>
                          <m:t>𝑝</m:t>
                        </m:r>
                      </m:sup>
                    </m:sSubSup>
                  </m:oMath>
                </a14:m>
                <a:r>
                  <a:rPr kumimoji="1" lang="en-US" altLang="zh-TW" sz="2000" dirty="0">
                    <a:latin typeface="Times New Roman" panose="02020603050405020304" pitchFamily="18" charset="0"/>
                    <a:cs typeface="Times New Roman" panose="02020603050405020304" pitchFamily="18" charset="0"/>
                  </a:rPr>
                  <a:t>= null, </a:t>
                </a:r>
                <a14:m>
                  <m:oMath xmlns:m="http://schemas.openxmlformats.org/officeDocument/2006/math">
                    <m:sSubSup>
                      <m:sSubSupPr>
                        <m:ctrlPr>
                          <a:rPr kumimoji="1" lang="en-US" altLang="zh-TW" sz="2000" i="1" dirty="0">
                            <a:latin typeface="Cambria Math" panose="02040503050406030204" pitchFamily="18" charset="0"/>
                            <a:cs typeface="Times New Roman" panose="02020603050405020304" pitchFamily="18" charset="0"/>
                          </a:rPr>
                        </m:ctrlPr>
                      </m:sSubSupPr>
                      <m:e>
                        <m:r>
                          <a:rPr kumimoji="1" lang="en-US" altLang="zh-TW" sz="2000" dirty="0">
                            <a:latin typeface="Cambria Math" panose="02040503050406030204" pitchFamily="18" charset="0"/>
                            <a:cs typeface="Times New Roman" panose="02020603050405020304" pitchFamily="18" charset="0"/>
                          </a:rPr>
                          <m:t>𝑆</m:t>
                        </m:r>
                      </m:e>
                      <m:sub>
                        <m:r>
                          <a:rPr kumimoji="1" lang="en-US" altLang="zh-TW" sz="2000" b="0" i="0" dirty="0" smtClean="0">
                            <a:latin typeface="Cambria Math" panose="02040503050406030204" pitchFamily="18" charset="0"/>
                            <a:cs typeface="Times New Roman" panose="02020603050405020304" pitchFamily="18" charset="0"/>
                          </a:rPr>
                          <m:t>1</m:t>
                        </m:r>
                      </m:sub>
                      <m:sup>
                        <m:r>
                          <a:rPr kumimoji="1" lang="en-US" altLang="zh-TW" sz="2000" dirty="0">
                            <a:latin typeface="Cambria Math" panose="02040503050406030204" pitchFamily="18" charset="0"/>
                            <a:cs typeface="Times New Roman" panose="02020603050405020304" pitchFamily="18" charset="0"/>
                          </a:rPr>
                          <m:t>𝑝</m:t>
                        </m:r>
                      </m:sup>
                    </m:sSubSup>
                    <m:r>
                      <a:rPr kumimoji="1" lang="en-US" altLang="zh-TW" sz="2000" i="1" dirty="0">
                        <a:latin typeface="Cambria Math" panose="02040503050406030204" pitchFamily="18" charset="0"/>
                        <a:cs typeface="Times New Roman" panose="02020603050405020304" pitchFamily="18" charset="0"/>
                      </a:rPr>
                      <m:t> </m:t>
                    </m:r>
                  </m:oMath>
                </a14:m>
                <a:r>
                  <a:rPr kumimoji="1" lang="en-US" altLang="zh-TW" sz="2000" dirty="0">
                    <a:latin typeface="Times New Roman" panose="02020603050405020304" pitchFamily="18" charset="0"/>
                    <a:cs typeface="Times New Roman" panose="02020603050405020304" pitchFamily="18" charset="0"/>
                  </a:rPr>
                  <a:t>= T</a:t>
                </a:r>
              </a:p>
              <a:p>
                <a:pPr marL="0" indent="0">
                  <a:buNone/>
                </a:pPr>
                <a14:m>
                  <m:oMath xmlns:m="http://schemas.openxmlformats.org/officeDocument/2006/math">
                    <m:r>
                      <a:rPr kumimoji="1" lang="en-US" altLang="zh-TW" sz="1800" b="0" i="1" smtClean="0">
                        <a:latin typeface="Cambria Math" panose="02040503050406030204" pitchFamily="18" charset="0"/>
                        <a:cs typeface="Times New Roman" panose="02020603050405020304" pitchFamily="18" charset="0"/>
                      </a:rPr>
                      <m:t>𝑑𝑒𝑣𝑒𝑟𝑠𝑖𝑡𝑦</m:t>
                    </m:r>
                    <m:r>
                      <a:rPr kumimoji="1" lang="en-US" altLang="zh-TW" sz="1800" b="0" i="1" smtClean="0">
                        <a:latin typeface="Cambria Math" panose="02040503050406030204" pitchFamily="18" charset="0"/>
                        <a:cs typeface="Times New Roman" panose="02020603050405020304" pitchFamily="18" charset="0"/>
                      </a:rPr>
                      <m:t>(</m:t>
                    </m:r>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zh-TW" altLang="en-US" sz="1800" i="1" dirty="0">
                            <a:latin typeface="Cambria Math" panose="02040503050406030204" pitchFamily="18" charset="0"/>
                            <a:cs typeface="Times New Roman" panose="02020603050405020304" pitchFamily="18" charset="0"/>
                          </a:rPr>
                          <m:t>∗</m:t>
                        </m:r>
                      </m:sub>
                      <m:sup/>
                    </m:sSubSup>
                  </m:oMath>
                </a14:m>
                <a:r>
                  <a:rPr kumimoji="1" lang="en-US" altLang="zh-TW" sz="1800"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kumimoji="1" lang="en-US" altLang="zh-TW" sz="1800" i="1" dirty="0">
                            <a:latin typeface="Cambria Math" panose="02040503050406030204" pitchFamily="18" charset="0"/>
                            <a:cs typeface="Times New Roman" panose="02020603050405020304" pitchFamily="18" charset="0"/>
                          </a:rPr>
                        </m:ctrlPr>
                      </m:sSubSupPr>
                      <m:e>
                        <m:r>
                          <a:rPr kumimoji="1" lang="en-US" altLang="zh-TW" sz="1800" dirty="0">
                            <a:latin typeface="Cambria Math" panose="02040503050406030204" pitchFamily="18" charset="0"/>
                            <a:cs typeface="Times New Roman" panose="02020603050405020304" pitchFamily="18" charset="0"/>
                          </a:rPr>
                          <m:t>𝑆</m:t>
                        </m:r>
                      </m:e>
                      <m:sub>
                        <m:r>
                          <a:rPr kumimoji="1" lang="en-US" altLang="zh-TW" sz="1800" b="0" i="1" dirty="0" smtClean="0">
                            <a:latin typeface="Cambria Math" panose="02040503050406030204" pitchFamily="18" charset="0"/>
                            <a:cs typeface="Times New Roman" panose="02020603050405020304" pitchFamily="18" charset="0"/>
                          </a:rPr>
                          <m:t>3</m:t>
                        </m:r>
                      </m:sub>
                      <m:sup>
                        <m:r>
                          <a:rPr kumimoji="1" lang="en-US" altLang="zh-TW" sz="1800" dirty="0">
                            <a:latin typeface="Cambria Math" panose="02040503050406030204" pitchFamily="18" charset="0"/>
                            <a:cs typeface="Times New Roman" panose="02020603050405020304" pitchFamily="18" charset="0"/>
                          </a:rPr>
                          <m:t>𝑝</m:t>
                        </m:r>
                      </m:sup>
                    </m:sSubSup>
                  </m:oMath>
                </a14:m>
                <a:r>
                  <a:rPr kumimoji="1"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kumimoji="1" lang="en-US" altLang="zh-TW" sz="1800" i="1" smtClean="0">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0</m:t>
                        </m:r>
                      </m:den>
                    </m:f>
                    <m:d>
                      <m:dPr>
                        <m:ctrlPr>
                          <a:rPr kumimoji="1" lang="en-US" altLang="zh-TW" sz="1800" b="0" i="1" smtClean="0">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m:t>
                        </m:r>
                        <m:r>
                          <a:rPr kumimoji="1" lang="en-US" altLang="zh-TW" sz="1800" b="0" i="1" smtClean="0">
                            <a:latin typeface="Cambria Math" panose="02040503050406030204" pitchFamily="18" charset="0"/>
                            <a:cs typeface="Times New Roman" panose="02020603050405020304" pitchFamily="18" charset="0"/>
                          </a:rPr>
                          <m:t>0</m:t>
                        </m:r>
                      </m:e>
                    </m:d>
                    <m:r>
                      <a:rPr kumimoji="1" lang="en-US" altLang="zh-TW" sz="1800" b="0" i="1" smtClean="0">
                        <a:latin typeface="Cambria Math" panose="02040503050406030204" pitchFamily="18" charset="0"/>
                        <a:cs typeface="Times New Roman" panose="02020603050405020304" pitchFamily="18" charset="0"/>
                      </a:rPr>
                      <m:t>+</m:t>
                    </m:r>
                  </m:oMath>
                </a14:m>
                <a:r>
                  <a:rPr kumimoji="1" lang="en-US" altLang="zh-TW" sz="1800" dirty="0">
                    <a:cs typeface="Times New Roman" panose="02020603050405020304" pitchFamily="18" charset="0"/>
                  </a:rPr>
                  <a:t> </a:t>
                </a:r>
                <a14:m>
                  <m:oMath xmlns:m="http://schemas.openxmlformats.org/officeDocument/2006/math">
                    <m:f>
                      <m:fPr>
                        <m:ctrlPr>
                          <a:rPr kumimoji="1" lang="en-US" altLang="zh-TW" sz="1800" i="1">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0</m:t>
                        </m:r>
                      </m:den>
                    </m:f>
                  </m:oMath>
                </a14:m>
                <a:r>
                  <a:rPr kumimoji="1" lang="en-US" altLang="zh-TW" sz="1800" dirty="0">
                    <a:cs typeface="Times New Roman" panose="02020603050405020304" pitchFamily="18" charset="0"/>
                  </a:rPr>
                  <a:t> </a:t>
                </a:r>
                <a14:m>
                  <m:oMath xmlns:m="http://schemas.openxmlformats.org/officeDocument/2006/math">
                    <m:d>
                      <m:dPr>
                        <m:ctrlPr>
                          <a:rPr kumimoji="1" lang="en-US" altLang="zh-TW" sz="1800" i="1">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m:t>
                        </m:r>
                        <m:r>
                          <a:rPr kumimoji="1" lang="en-US" altLang="zh-TW" sz="1800" i="1">
                            <a:latin typeface="Cambria Math" panose="02040503050406030204" pitchFamily="18" charset="0"/>
                            <a:cs typeface="Times New Roman" panose="02020603050405020304" pitchFamily="18" charset="0"/>
                          </a:rPr>
                          <m:t>−1</m:t>
                        </m:r>
                      </m:e>
                    </m:d>
                    <m:r>
                      <a:rPr kumimoji="1" lang="en-US" altLang="zh-TW" sz="1800" i="1">
                        <a:latin typeface="Cambria Math" panose="02040503050406030204" pitchFamily="18" charset="0"/>
                        <a:cs typeface="Times New Roman" panose="02020603050405020304" pitchFamily="18" charset="0"/>
                      </a:rPr>
                      <m:t>+</m:t>
                    </m:r>
                    <m:r>
                      <m:rPr>
                        <m:nor/>
                      </m:rPr>
                      <a:rPr kumimoji="1" lang="en-US" altLang="zh-TW" sz="1800" dirty="0">
                        <a:cs typeface="Times New Roman" panose="02020603050405020304" pitchFamily="18" charset="0"/>
                      </a:rPr>
                      <m:t> </m:t>
                    </m:r>
                    <m:f>
                      <m:fPr>
                        <m:ctrlPr>
                          <a:rPr kumimoji="1" lang="en-US" altLang="zh-TW" sz="1800" i="1" smtClean="0">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0</m:t>
                        </m:r>
                      </m:den>
                    </m:f>
                    <m:r>
                      <m:rPr>
                        <m:nor/>
                      </m:rPr>
                      <a:rPr kumimoji="1" lang="en-US" altLang="zh-TW" sz="1800" dirty="0">
                        <a:cs typeface="Times New Roman" panose="02020603050405020304" pitchFamily="18" charset="0"/>
                      </a:rPr>
                      <m:t> </m:t>
                    </m:r>
                    <m:d>
                      <m:dPr>
                        <m:ctrlPr>
                          <a:rPr kumimoji="1" lang="en-US" altLang="zh-TW" sz="1800" i="1">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m:t>
                        </m:r>
                        <m:r>
                          <a:rPr kumimoji="1" lang="en-US" altLang="zh-TW" sz="1800" i="1">
                            <a:latin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cs typeface="Times New Roman" panose="02020603050405020304" pitchFamily="18" charset="0"/>
                          </a:rPr>
                          <m:t>0</m:t>
                        </m:r>
                      </m:e>
                    </m:d>
                  </m:oMath>
                </a14:m>
                <a:r>
                  <a:rPr kumimoji="1" lang="en-US" altLang="zh-TW" sz="1800" dirty="0">
                    <a:cs typeface="Times New Roman" panose="02020603050405020304" pitchFamily="18" charset="0"/>
                  </a:rPr>
                  <a:t> </a:t>
                </a:r>
                <a14:m>
                  <m:oMath xmlns:m="http://schemas.openxmlformats.org/officeDocument/2006/math">
                    <m:r>
                      <a:rPr kumimoji="1" lang="en-US" altLang="zh-TW" sz="1800" i="1">
                        <a:latin typeface="Cambria Math" panose="02040503050406030204" pitchFamily="18" charset="0"/>
                        <a:cs typeface="Times New Roman" panose="02020603050405020304" pitchFamily="18" charset="0"/>
                      </a:rPr>
                      <m:t>+</m:t>
                    </m:r>
                  </m:oMath>
                </a14:m>
                <a:r>
                  <a:rPr kumimoji="1" lang="en-US" altLang="zh-TW" sz="1800" dirty="0">
                    <a:cs typeface="Times New Roman" panose="02020603050405020304" pitchFamily="18" charset="0"/>
                  </a:rPr>
                  <a:t> </a:t>
                </a:r>
                <a14:m>
                  <m:oMath xmlns:m="http://schemas.openxmlformats.org/officeDocument/2006/math">
                    <m:f>
                      <m:fPr>
                        <m:ctrlPr>
                          <a:rPr kumimoji="1" lang="en-US" altLang="zh-TW" sz="1800" i="1">
                            <a:latin typeface="Cambria Math" panose="02040503050406030204" pitchFamily="18" charset="0"/>
                            <a:cs typeface="Times New Roman" panose="02020603050405020304" pitchFamily="18" charset="0"/>
                          </a:rPr>
                        </m:ctrlPr>
                      </m:fPr>
                      <m:num>
                        <m:r>
                          <a:rPr kumimoji="1" lang="en-US" altLang="zh-TW" sz="1800" b="0" i="1" smtClean="0">
                            <a:latin typeface="Cambria Math" panose="02040503050406030204" pitchFamily="18" charset="0"/>
                            <a:cs typeface="Times New Roman" panose="02020603050405020304" pitchFamily="18" charset="0"/>
                          </a:rPr>
                          <m:t>0</m:t>
                        </m:r>
                      </m:num>
                      <m:den>
                        <m:r>
                          <a:rPr kumimoji="1" lang="en-US" altLang="zh-TW" sz="1800" b="0" i="1" smtClean="0">
                            <a:latin typeface="Cambria Math" panose="02040503050406030204" pitchFamily="18" charset="0"/>
                            <a:cs typeface="Times New Roman" panose="02020603050405020304" pitchFamily="18" charset="0"/>
                          </a:rPr>
                          <m:t>0</m:t>
                        </m:r>
                      </m:den>
                    </m:f>
                  </m:oMath>
                </a14:m>
                <a:r>
                  <a:rPr kumimoji="1" lang="en-US" altLang="zh-TW" sz="1800" dirty="0">
                    <a:cs typeface="Times New Roman" panose="02020603050405020304" pitchFamily="18" charset="0"/>
                  </a:rPr>
                  <a:t> </a:t>
                </a:r>
                <a14:m>
                  <m:oMath xmlns:m="http://schemas.openxmlformats.org/officeDocument/2006/math">
                    <m:d>
                      <m:dPr>
                        <m:ctrlPr>
                          <a:rPr kumimoji="1" lang="en-US" altLang="zh-TW" sz="1800" i="1">
                            <a:latin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cs typeface="Times New Roman" panose="02020603050405020304" pitchFamily="18" charset="0"/>
                          </a:rPr>
                          <m:t>0</m:t>
                        </m:r>
                        <m:r>
                          <a:rPr kumimoji="1" lang="en-US" altLang="zh-TW" sz="1800" i="1">
                            <a:latin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cs typeface="Times New Roman" panose="02020603050405020304" pitchFamily="18" charset="0"/>
                          </a:rPr>
                          <m:t>0</m:t>
                        </m:r>
                      </m:e>
                    </m:d>
                  </m:oMath>
                </a14:m>
                <a:r>
                  <a:rPr kumimoji="1"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sz="1800" i="1" smtClean="0">
                        <a:latin typeface="Cambria Math" panose="02040503050406030204" pitchFamily="18" charset="0"/>
                        <a:cs typeface="Times New Roman" panose="02020603050405020304" pitchFamily="18" charset="0"/>
                      </a:rPr>
                      <m:t>0</m:t>
                    </m:r>
                  </m:oMath>
                </a14:m>
                <a:endParaRPr kumimoji="1" lang="en-US" altLang="zh-TW" sz="1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kumimoji="1" lang="en-US" altLang="zh-TW" u="sng" dirty="0">
                  <a:latin typeface="Times New Roman" panose="02020603050405020304" pitchFamily="18" charset="0"/>
                  <a:cs typeface="Times New Roman" panose="02020603050405020304" pitchFamily="18" charset="0"/>
                </a:endParaRPr>
              </a:p>
            </p:txBody>
          </p:sp>
        </mc:Choice>
        <mc:Fallback>
          <p:sp>
            <p:nvSpPr>
              <p:cNvPr id="16" name="Content Placeholder 3">
                <a:extLst>
                  <a:ext uri="{FF2B5EF4-FFF2-40B4-BE49-F238E27FC236}">
                    <a16:creationId xmlns:a16="http://schemas.microsoft.com/office/drawing/2014/main" id="{B64E6A5B-8539-0365-1B80-C558A49B13D8}"/>
                  </a:ext>
                </a:extLst>
              </p:cNvPr>
              <p:cNvSpPr txBox="1">
                <a:spLocks noRot="1" noChangeAspect="1" noMove="1" noResize="1" noEditPoints="1" noAdjustHandles="1" noChangeArrowheads="1" noChangeShapeType="1" noTextEdit="1"/>
              </p:cNvSpPr>
              <p:nvPr/>
            </p:nvSpPr>
            <p:spPr>
              <a:xfrm>
                <a:off x="4752976" y="4648266"/>
                <a:ext cx="4039504" cy="1844642"/>
              </a:xfrm>
              <a:prstGeom prst="rect">
                <a:avLst/>
              </a:prstGeom>
              <a:blipFill>
                <a:blip r:embed="rId7"/>
                <a:stretch>
                  <a:fillRect l="-1662" t="-3974"/>
                </a:stretch>
              </a:blipFill>
            </p:spPr>
            <p:txBody>
              <a:bodyPr/>
              <a:lstStyle/>
              <a:p>
                <a:r>
                  <a:rPr lang="zh-TW" altLang="en-US">
                    <a:noFill/>
                  </a:rPr>
                  <a:t> </a:t>
                </a:r>
              </a:p>
            </p:txBody>
          </p:sp>
        </mc:Fallback>
      </mc:AlternateContent>
      <p:sp>
        <p:nvSpPr>
          <p:cNvPr id="17" name="Rectangle 16">
            <a:extLst>
              <a:ext uri="{FF2B5EF4-FFF2-40B4-BE49-F238E27FC236}">
                <a16:creationId xmlns:a16="http://schemas.microsoft.com/office/drawing/2014/main" id="{0EB37DD5-1E36-5247-4C58-E543A2CBE2E3}"/>
              </a:ext>
            </a:extLst>
          </p:cNvPr>
          <p:cNvSpPr/>
          <p:nvPr/>
        </p:nvSpPr>
        <p:spPr>
          <a:xfrm>
            <a:off x="4305300" y="5867400"/>
            <a:ext cx="219075" cy="4095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9" name="Straight Connector 18">
            <a:extLst>
              <a:ext uri="{FF2B5EF4-FFF2-40B4-BE49-F238E27FC236}">
                <a16:creationId xmlns:a16="http://schemas.microsoft.com/office/drawing/2014/main" id="{6D1ADB68-9629-4204-E3AF-1755005FBE10}"/>
              </a:ext>
            </a:extLst>
          </p:cNvPr>
          <p:cNvCxnSpPr/>
          <p:nvPr/>
        </p:nvCxnSpPr>
        <p:spPr>
          <a:xfrm>
            <a:off x="4638675" y="4648233"/>
            <a:ext cx="0" cy="1771617"/>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392167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Distributed Storage Scheme</a:t>
            </a:r>
            <a:endParaRPr kumimoji="1" lang="zh-TW" altLang="en-US" sz="3000" b="1"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903972" y="1815689"/>
            <a:ext cx="7034336" cy="4663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l-GR" altLang="zh-TW" sz="2200" dirty="0">
                <a:latin typeface="Times New Roman" panose="02020603050405020304" pitchFamily="18" charset="0"/>
                <a:cs typeface="Times New Roman" panose="02020603050405020304" pitchFamily="18" charset="0"/>
              </a:rPr>
              <a:t>λ</a:t>
            </a:r>
            <a:r>
              <a:rPr kumimoji="1" lang="en-US" altLang="zh-TW" sz="2200" dirty="0">
                <a:latin typeface="Times New Roman" panose="02020603050405020304" pitchFamily="18" charset="0"/>
                <a:cs typeface="Times New Roman" panose="02020603050405020304" pitchFamily="18" charset="0"/>
              </a:rPr>
              <a:t> = 2</a:t>
            </a:r>
            <a:endParaRPr kumimoji="1" lang="el-GR" altLang="zh-TW" sz="22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endParaRPr kumimoji="1" lang="en-US" altLang="zh-TW" sz="2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6C45569-2AFD-8ABF-2702-C5C3F8E97EA6}"/>
              </a:ext>
            </a:extLst>
          </p:cNvPr>
          <p:cNvPicPr>
            <a:picLocks noChangeAspect="1"/>
          </p:cNvPicPr>
          <p:nvPr/>
        </p:nvPicPr>
        <p:blipFill rotWithShape="1">
          <a:blip r:embed="rId4"/>
          <a:srcRect l="1820" t="2752"/>
          <a:stretch/>
        </p:blipFill>
        <p:spPr>
          <a:xfrm>
            <a:off x="994193" y="2440977"/>
            <a:ext cx="5358982" cy="2880984"/>
          </a:xfrm>
          <a:prstGeom prst="rect">
            <a:avLst/>
          </a:prstGeom>
        </p:spPr>
      </p:pic>
      <p:pic>
        <p:nvPicPr>
          <p:cNvPr id="12" name="Content Placeholder 11">
            <a:extLst>
              <a:ext uri="{FF2B5EF4-FFF2-40B4-BE49-F238E27FC236}">
                <a16:creationId xmlns:a16="http://schemas.microsoft.com/office/drawing/2014/main" id="{F14D9DAE-AE81-80D2-3DA3-5761F56E2626}"/>
              </a:ext>
            </a:extLst>
          </p:cNvPr>
          <p:cNvPicPr>
            <a:picLocks noGrp="1" noChangeAspect="1"/>
          </p:cNvPicPr>
          <p:nvPr>
            <p:ph idx="1"/>
          </p:nvPr>
        </p:nvPicPr>
        <p:blipFill>
          <a:blip r:embed="rId5"/>
          <a:stretch>
            <a:fillRect/>
          </a:stretch>
        </p:blipFill>
        <p:spPr>
          <a:xfrm>
            <a:off x="6830205" y="3059287"/>
            <a:ext cx="4624777" cy="1644365"/>
          </a:xfrm>
        </p:spPr>
      </p:pic>
      <p:sp>
        <p:nvSpPr>
          <p:cNvPr id="13" name="Right Brace 12">
            <a:extLst>
              <a:ext uri="{FF2B5EF4-FFF2-40B4-BE49-F238E27FC236}">
                <a16:creationId xmlns:a16="http://schemas.microsoft.com/office/drawing/2014/main" id="{AF558F99-B99A-7BD5-992A-72C0CF01848E}"/>
              </a:ext>
            </a:extLst>
          </p:cNvPr>
          <p:cNvSpPr/>
          <p:nvPr/>
        </p:nvSpPr>
        <p:spPr>
          <a:xfrm rot="5400000">
            <a:off x="3587957" y="4239670"/>
            <a:ext cx="171452" cy="258603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4" name="TextBox 13">
            <a:extLst>
              <a:ext uri="{FF2B5EF4-FFF2-40B4-BE49-F238E27FC236}">
                <a16:creationId xmlns:a16="http://schemas.microsoft.com/office/drawing/2014/main" id="{A9A9FFB6-5D8C-E132-0E61-DA77E3C6DE32}"/>
              </a:ext>
            </a:extLst>
          </p:cNvPr>
          <p:cNvSpPr txBox="1"/>
          <p:nvPr/>
        </p:nvSpPr>
        <p:spPr>
          <a:xfrm>
            <a:off x="1802818" y="5685258"/>
            <a:ext cx="3741730" cy="430887"/>
          </a:xfrm>
          <a:prstGeom prst="rect">
            <a:avLst/>
          </a:prstGeom>
          <a:noFill/>
        </p:spPr>
        <p:txBody>
          <a:bodyPr wrap="none" rtlCol="0">
            <a:spAutoFit/>
          </a:bodyPr>
          <a:lstStyle/>
          <a:p>
            <a:r>
              <a:rPr kumimoji="1" lang="en-US" altLang="zh-TW" sz="2200" dirty="0">
                <a:latin typeface="Times New Roman" panose="02020603050405020304" pitchFamily="18" charset="0"/>
                <a:cs typeface="Times New Roman" panose="02020603050405020304" pitchFamily="18" charset="0"/>
              </a:rPr>
              <a:t>Store in external storage device</a:t>
            </a:r>
            <a:endParaRPr kumimoji="1" lang="zh-TW" altLang="en-US" sz="2200" dirty="0">
              <a:latin typeface="Times New Roman" panose="02020603050405020304" pitchFamily="18" charset="0"/>
              <a:cs typeface="Times New Roman" panose="02020603050405020304" pitchFamily="18" charset="0"/>
            </a:endParaRPr>
          </a:p>
        </p:txBody>
      </p:sp>
      <p:sp>
        <p:nvSpPr>
          <p:cNvPr id="15" name="Right Brace 14">
            <a:extLst>
              <a:ext uri="{FF2B5EF4-FFF2-40B4-BE49-F238E27FC236}">
                <a16:creationId xmlns:a16="http://schemas.microsoft.com/office/drawing/2014/main" id="{B2EE7D51-8187-808D-66E2-FAE4720BEFD4}"/>
              </a:ext>
            </a:extLst>
          </p:cNvPr>
          <p:cNvSpPr/>
          <p:nvPr/>
        </p:nvSpPr>
        <p:spPr>
          <a:xfrm rot="5400000">
            <a:off x="8228533" y="4239670"/>
            <a:ext cx="171452" cy="258603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6" name="TextBox 15">
            <a:extLst>
              <a:ext uri="{FF2B5EF4-FFF2-40B4-BE49-F238E27FC236}">
                <a16:creationId xmlns:a16="http://schemas.microsoft.com/office/drawing/2014/main" id="{65990DC9-EFC6-8A72-DD77-5DC37C740F5F}"/>
              </a:ext>
            </a:extLst>
          </p:cNvPr>
          <p:cNvSpPr txBox="1"/>
          <p:nvPr/>
        </p:nvSpPr>
        <p:spPr>
          <a:xfrm>
            <a:off x="6443394" y="5685258"/>
            <a:ext cx="3741730" cy="430887"/>
          </a:xfrm>
          <a:prstGeom prst="rect">
            <a:avLst/>
          </a:prstGeom>
          <a:noFill/>
        </p:spPr>
        <p:txBody>
          <a:bodyPr wrap="none" rtlCol="0">
            <a:spAutoFit/>
          </a:bodyPr>
          <a:lstStyle/>
          <a:p>
            <a:r>
              <a:rPr kumimoji="1" lang="en-US" altLang="zh-TW" sz="2200" dirty="0">
                <a:latin typeface="Times New Roman" panose="02020603050405020304" pitchFamily="18" charset="0"/>
                <a:cs typeface="Times New Roman" panose="02020603050405020304" pitchFamily="18" charset="0"/>
              </a:rPr>
              <a:t>Store in external storage device</a:t>
            </a:r>
            <a:endParaRPr kumimoji="1" lang="zh-TW"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605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a:t>
            </a:r>
            <a:endParaRPr kumimoji="1" lang="zh-TW" altLang="en-US" sz="3000" b="1"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903972" y="1815689"/>
            <a:ext cx="7034336" cy="4663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l-GR" altLang="zh-TW" sz="22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endParaRPr kumimoji="1" lang="en-US" altLang="zh-TW" sz="22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8C1CEDC-66C4-F482-1D68-F85E89C10EFA}"/>
              </a:ext>
            </a:extLst>
          </p:cNvPr>
          <p:cNvSpPr>
            <a:spLocks noGrp="1"/>
          </p:cNvSpPr>
          <p:nvPr>
            <p:ph idx="1"/>
          </p:nvPr>
        </p:nvSpPr>
        <p:spPr/>
        <p:txBody>
          <a:bodyPr/>
          <a:lstStyle/>
          <a:p>
            <a:endParaRPr lang="zh-TW" altLang="en-US" dirty="0"/>
          </a:p>
        </p:txBody>
      </p:sp>
      <p:pic>
        <p:nvPicPr>
          <p:cNvPr id="8" name="Picture 7">
            <a:extLst>
              <a:ext uri="{FF2B5EF4-FFF2-40B4-BE49-F238E27FC236}">
                <a16:creationId xmlns:a16="http://schemas.microsoft.com/office/drawing/2014/main" id="{9424E2A5-77F5-864D-BE84-2B7456AB7063}"/>
              </a:ext>
            </a:extLst>
          </p:cNvPr>
          <p:cNvPicPr>
            <a:picLocks noChangeAspect="1"/>
          </p:cNvPicPr>
          <p:nvPr/>
        </p:nvPicPr>
        <p:blipFill>
          <a:blip r:embed="rId4"/>
          <a:stretch>
            <a:fillRect/>
          </a:stretch>
        </p:blipFill>
        <p:spPr>
          <a:xfrm>
            <a:off x="1315618" y="2721247"/>
            <a:ext cx="9560763" cy="2488928"/>
          </a:xfrm>
          <a:prstGeom prst="rect">
            <a:avLst/>
          </a:prstGeom>
        </p:spPr>
      </p:pic>
      <p:sp>
        <p:nvSpPr>
          <p:cNvPr id="9" name="Content Placeholder 3">
            <a:extLst>
              <a:ext uri="{FF2B5EF4-FFF2-40B4-BE49-F238E27FC236}">
                <a16:creationId xmlns:a16="http://schemas.microsoft.com/office/drawing/2014/main" id="{7485DAF8-2D18-772F-E3A7-40DA88288FE0}"/>
              </a:ext>
            </a:extLst>
          </p:cNvPr>
          <p:cNvSpPr txBox="1">
            <a:spLocks/>
          </p:cNvSpPr>
          <p:nvPr/>
        </p:nvSpPr>
        <p:spPr>
          <a:xfrm>
            <a:off x="8774924" y="1514152"/>
            <a:ext cx="2370909" cy="107215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ACAGTT </a:t>
            </a:r>
          </a:p>
          <a:p>
            <a:pPr marL="0" indent="0">
              <a:buFont typeface="Arial" panose="020B0604020202020204" pitchFamily="34" charse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 CAGGCT </a:t>
            </a:r>
          </a:p>
          <a:p>
            <a:pPr marL="0" indent="0">
              <a:buFont typeface="Arial" panose="020B0604020202020204" pitchFamily="34" charset="0"/>
              <a:buNone/>
            </a:pPr>
            <a:r>
              <a:rPr kumimoji="1" lang="en-US" altLang="zh-TW" dirty="0">
                <a:latin typeface="Times New Roman" panose="02020603050405020304" pitchFamily="18" charset="0"/>
                <a:cs typeface="Times New Roman" panose="02020603050405020304" pitchFamily="18" charset="0"/>
              </a:rPr>
              <a:t>S</a:t>
            </a:r>
            <a:r>
              <a:rPr kumimoji="1" lang="en-US" altLang="zh-TW" sz="18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GACAGTA</a:t>
            </a:r>
          </a:p>
        </p:txBody>
      </p:sp>
    </p:spTree>
    <p:extLst>
      <p:ext uri="{BB962C8B-B14F-4D97-AF65-F5344CB8AC3E}">
        <p14:creationId xmlns:p14="http://schemas.microsoft.com/office/powerpoint/2010/main" val="263993118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Experiments and Analysis</a:t>
            </a:r>
            <a:endParaRPr kumimoji="1" lang="zh-TW" altLang="en-US" sz="3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Content Placeholder 3">
                <a:extLst>
                  <a:ext uri="{FF2B5EF4-FFF2-40B4-BE49-F238E27FC236}">
                    <a16:creationId xmlns:a16="http://schemas.microsoft.com/office/drawing/2014/main" id="{4713FBC8-36D7-FD47-EE20-5C737A22DF3E}"/>
                  </a:ext>
                </a:extLst>
              </p:cNvPr>
              <p:cNvSpPr>
                <a:spLocks noGrp="1"/>
              </p:cNvSpPr>
              <p:nvPr>
                <p:ph idx="1"/>
              </p:nvPr>
            </p:nvSpPr>
            <p:spPr>
              <a:xfrm>
                <a:off x="838200" y="1606550"/>
                <a:ext cx="10515600" cy="4351338"/>
              </a:xfrm>
            </p:spPr>
            <p:txBody>
              <a:bodyPr/>
              <a:lstStyle/>
              <a:p>
                <a:r>
                  <a:rPr kumimoji="1" lang="en-US" altLang="zh-TW" sz="2200" dirty="0">
                    <a:latin typeface="Times New Roman" panose="02020603050405020304" pitchFamily="18" charset="0"/>
                    <a:cs typeface="Times New Roman" panose="02020603050405020304" pitchFamily="18" charset="0"/>
                  </a:rPr>
                  <a:t>Compared the quality of the upper bounds </a:t>
                </a:r>
                <a14:m>
                  <m:oMath xmlns:m="http://schemas.openxmlformats.org/officeDocument/2006/math">
                    <m:sSub>
                      <m:sSubPr>
                        <m:ctrlPr>
                          <a:rPr kumimoji="1" lang="en-US" altLang="zh-TW" sz="2200">
                            <a:latin typeface="Times New Roman" panose="02020603050405020304" pitchFamily="18" charset="0"/>
                            <a:cs typeface="Times New Roman" panose="02020603050405020304" pitchFamily="18" charset="0"/>
                          </a:rPr>
                        </m:ctrlPr>
                      </m:sSubPr>
                      <m:e>
                        <m:r>
                          <m:rPr>
                            <m:sty m:val="p"/>
                          </m:rPr>
                          <a:rPr kumimoji="1" lang="en-US" altLang="zh-TW" sz="2200">
                            <a:latin typeface="Times New Roman" panose="02020603050405020304" pitchFamily="18" charset="0"/>
                            <a:cs typeface="Times New Roman" panose="02020603050405020304" pitchFamily="18" charset="0"/>
                          </a:rPr>
                          <m:t>U</m:t>
                        </m:r>
                      </m:e>
                      <m:sub>
                        <m:r>
                          <a:rPr kumimoji="1" lang="en-US" altLang="zh-TW" sz="2200">
                            <a:latin typeface="Times New Roman" panose="02020603050405020304" pitchFamily="18" charset="0"/>
                            <a:cs typeface="Times New Roman" panose="02020603050405020304" pitchFamily="18" charset="0"/>
                          </a:rPr>
                          <m:t>1</m:t>
                        </m:r>
                      </m:sub>
                    </m:sSub>
                    <m:r>
                      <a:rPr kumimoji="1" lang="en-US" altLang="zh-TW" sz="2200">
                        <a:latin typeface="Times New Roman" panose="02020603050405020304" pitchFamily="18" charset="0"/>
                        <a:cs typeface="Times New Roman" panose="02020603050405020304" pitchFamily="18" charset="0"/>
                      </a:rPr>
                      <m:t>(</m:t>
                    </m:r>
                    <m:r>
                      <m:rPr>
                        <m:sty m:val="p"/>
                      </m:rPr>
                      <a:rPr kumimoji="1" lang="en-US" altLang="zh-TW" sz="2200">
                        <a:latin typeface="Times New Roman" panose="02020603050405020304" pitchFamily="18" charset="0"/>
                        <a:cs typeface="Times New Roman" panose="02020603050405020304" pitchFamily="18" charset="0"/>
                      </a:rPr>
                      <m:t>P</m:t>
                    </m:r>
                    <m:r>
                      <a:rPr kumimoji="1" lang="en-US" altLang="zh-TW" sz="2200">
                        <a:latin typeface="Times New Roman" panose="02020603050405020304" pitchFamily="18" charset="0"/>
                        <a:cs typeface="Times New Roman" panose="02020603050405020304" pitchFamily="18" charset="0"/>
                      </a:rPr>
                      <m:t>, ∞)</m:t>
                    </m:r>
                  </m:oMath>
                </a14:m>
                <a:r>
                  <a:rPr kumimoji="1" lang="en-US" altLang="zh-TW" sz="2200" dirty="0">
                    <a:latin typeface="Times New Roman" panose="02020603050405020304" pitchFamily="18" charset="0"/>
                    <a:cs typeface="Times New Roman" panose="02020603050405020304" pitchFamily="18" charset="0"/>
                  </a:rPr>
                  <a:t>,</a:t>
                </a:r>
                <a:r>
                  <a:rPr kumimoji="1" lang="en-US" altLang="zh-TW" sz="2200" dirty="0">
                    <a:cs typeface="Times New Roman" panose="02020603050405020304" pitchFamily="18" charset="0"/>
                  </a:rPr>
                  <a:t> </a:t>
                </a:r>
                <a14:m>
                  <m:oMath xmlns:m="http://schemas.openxmlformats.org/officeDocument/2006/math">
                    <m:sSub>
                      <m:sSubPr>
                        <m:ctrlPr>
                          <a:rPr kumimoji="1" lang="en-US" altLang="zh-TW" sz="2200" i="1">
                            <a:latin typeface="Cambria Math" panose="02040503050406030204" pitchFamily="18" charset="0"/>
                            <a:cs typeface="Times New Roman" panose="02020603050405020304" pitchFamily="18" charset="0"/>
                          </a:rPr>
                        </m:ctrlPr>
                      </m:sSubPr>
                      <m:e>
                        <m:r>
                          <m:rPr>
                            <m:sty m:val="p"/>
                          </m:rPr>
                          <a:rPr kumimoji="1" lang="en-US" altLang="zh-TW" sz="2200">
                            <a:latin typeface="Cambria Math" panose="02040503050406030204" pitchFamily="18" charset="0"/>
                            <a:cs typeface="Times New Roman" panose="02020603050405020304" pitchFamily="18" charset="0"/>
                          </a:rPr>
                          <m:t>U</m:t>
                        </m:r>
                      </m:e>
                      <m:sub>
                        <m:r>
                          <a:rPr kumimoji="1" lang="en-US" altLang="zh-TW" sz="2200" b="0" i="0" smtClean="0">
                            <a:latin typeface="Cambria Math" panose="02040503050406030204" pitchFamily="18" charset="0"/>
                            <a:cs typeface="Times New Roman" panose="02020603050405020304" pitchFamily="18" charset="0"/>
                          </a:rPr>
                          <m:t>2</m:t>
                        </m:r>
                      </m:sub>
                    </m:sSub>
                    <m:r>
                      <a:rPr kumimoji="1" lang="en-US" altLang="zh-TW" sz="2200">
                        <a:latin typeface="Cambria Math" panose="02040503050406030204" pitchFamily="18" charset="0"/>
                        <a:cs typeface="Times New Roman" panose="02020603050405020304" pitchFamily="18" charset="0"/>
                      </a:rPr>
                      <m:t>(</m:t>
                    </m:r>
                    <m:r>
                      <m:rPr>
                        <m:sty m:val="p"/>
                      </m:rPr>
                      <a:rPr kumimoji="1" lang="en-US" altLang="zh-TW" sz="2200">
                        <a:latin typeface="Cambria Math" panose="02040503050406030204" pitchFamily="18" charset="0"/>
                        <a:cs typeface="Times New Roman" panose="02020603050405020304" pitchFamily="18" charset="0"/>
                      </a:rPr>
                      <m:t>P</m:t>
                    </m:r>
                    <m:r>
                      <a:rPr kumimoji="1" lang="en-US" altLang="zh-TW" sz="2200">
                        <a:latin typeface="Cambria Math" panose="02040503050406030204" pitchFamily="18" charset="0"/>
                        <a:cs typeface="Times New Roman" panose="02020603050405020304" pitchFamily="18" charset="0"/>
                      </a:rPr>
                      <m:t>, ∞)</m:t>
                    </m:r>
                  </m:oMath>
                </a14:m>
                <a:r>
                  <a:rPr kumimoji="1" lang="en-US" altLang="zh-TW" sz="2200" dirty="0">
                    <a:latin typeface="Times New Roman" panose="02020603050405020304" pitchFamily="18" charset="0"/>
                    <a:cs typeface="Times New Roman" panose="02020603050405020304" pitchFamily="18" charset="0"/>
                  </a:rPr>
                  <a:t>,</a:t>
                </a:r>
                <a:r>
                  <a:rPr kumimoji="1" lang="en-US" altLang="zh-TW" sz="2200" dirty="0">
                    <a:cs typeface="Times New Roman" panose="02020603050405020304" pitchFamily="18" charset="0"/>
                  </a:rPr>
                  <a:t> </a:t>
                </a:r>
                <a14:m>
                  <m:oMath xmlns:m="http://schemas.openxmlformats.org/officeDocument/2006/math">
                    <m:sSub>
                      <m:sSubPr>
                        <m:ctrlPr>
                          <a:rPr kumimoji="1" lang="en-US" altLang="zh-TW" sz="2200" i="1">
                            <a:latin typeface="Cambria Math" panose="02040503050406030204" pitchFamily="18" charset="0"/>
                            <a:cs typeface="Times New Roman" panose="02020603050405020304" pitchFamily="18" charset="0"/>
                          </a:rPr>
                        </m:ctrlPr>
                      </m:sSubPr>
                      <m:e>
                        <m:r>
                          <m:rPr>
                            <m:sty m:val="p"/>
                          </m:rPr>
                          <a:rPr kumimoji="1" lang="en-US" altLang="zh-TW" sz="2200">
                            <a:latin typeface="Cambria Math" panose="02040503050406030204" pitchFamily="18" charset="0"/>
                            <a:cs typeface="Times New Roman" panose="02020603050405020304" pitchFamily="18" charset="0"/>
                          </a:rPr>
                          <m:t>U</m:t>
                        </m:r>
                      </m:e>
                      <m:sub>
                        <m:r>
                          <a:rPr kumimoji="1" lang="en-US" altLang="zh-TW" sz="2200" b="0" i="0" smtClean="0">
                            <a:latin typeface="Cambria Math" panose="02040503050406030204" pitchFamily="18" charset="0"/>
                            <a:cs typeface="Times New Roman" panose="02020603050405020304" pitchFamily="18" charset="0"/>
                          </a:rPr>
                          <m:t>3</m:t>
                        </m:r>
                      </m:sub>
                    </m:sSub>
                    <m:r>
                      <a:rPr kumimoji="1" lang="en-US" altLang="zh-TW" sz="2200">
                        <a:latin typeface="Cambria Math" panose="02040503050406030204" pitchFamily="18" charset="0"/>
                        <a:cs typeface="Times New Roman" panose="02020603050405020304" pitchFamily="18" charset="0"/>
                      </a:rPr>
                      <m:t>(</m:t>
                    </m:r>
                    <m:r>
                      <m:rPr>
                        <m:sty m:val="p"/>
                      </m:rPr>
                      <a:rPr kumimoji="1" lang="en-US" altLang="zh-TW" sz="2200">
                        <a:latin typeface="Cambria Math" panose="02040503050406030204" pitchFamily="18" charset="0"/>
                        <a:cs typeface="Times New Roman" panose="02020603050405020304" pitchFamily="18" charset="0"/>
                      </a:rPr>
                      <m:t>P</m:t>
                    </m:r>
                    <m:r>
                      <a:rPr kumimoji="1" lang="en-US" altLang="zh-TW" sz="2200">
                        <a:latin typeface="Cambria Math" panose="02040503050406030204" pitchFamily="18" charset="0"/>
                        <a:cs typeface="Times New Roman" panose="02020603050405020304" pitchFamily="18" charset="0"/>
                      </a:rPr>
                      <m:t>, ∞)</m:t>
                    </m:r>
                  </m:oMath>
                </a14:m>
                <a:r>
                  <a:rPr kumimoji="1" lang="en-US" altLang="zh-TW" sz="2200" dirty="0">
                    <a:latin typeface="Times New Roman" panose="02020603050405020304" pitchFamily="18" charset="0"/>
                    <a:cs typeface="Times New Roman" panose="02020603050405020304" pitchFamily="18" charset="0"/>
                  </a:rPr>
                  <a:t> used in the A*-type algorithms and our proposed upper bound </a:t>
                </a:r>
                <a14:m>
                  <m:oMath xmlns:m="http://schemas.openxmlformats.org/officeDocument/2006/math">
                    <m:sSub>
                      <m:sSubPr>
                        <m:ctrlPr>
                          <a:rPr kumimoji="1" lang="en-US" altLang="zh-TW" sz="2200" i="1">
                            <a:latin typeface="Cambria Math" panose="02040503050406030204" pitchFamily="18" charset="0"/>
                            <a:cs typeface="Times New Roman" panose="02020603050405020304" pitchFamily="18" charset="0"/>
                          </a:rPr>
                        </m:ctrlPr>
                      </m:sSubPr>
                      <m:e>
                        <m:r>
                          <m:rPr>
                            <m:sty m:val="p"/>
                          </m:rPr>
                          <a:rPr kumimoji="1" lang="en-US" altLang="zh-TW" sz="2200">
                            <a:latin typeface="Cambria Math" panose="02040503050406030204" pitchFamily="18" charset="0"/>
                            <a:cs typeface="Times New Roman" panose="02020603050405020304" pitchFamily="18" charset="0"/>
                          </a:rPr>
                          <m:t>U</m:t>
                        </m:r>
                      </m:e>
                      <m:sub>
                        <m:r>
                          <a:rPr kumimoji="1" lang="en-US" altLang="zh-TW" sz="2200" b="0" i="0" smtClean="0">
                            <a:latin typeface="Cambria Math" panose="02040503050406030204" pitchFamily="18" charset="0"/>
                            <a:cs typeface="Times New Roman" panose="02020603050405020304" pitchFamily="18" charset="0"/>
                          </a:rPr>
                          <m:t>4</m:t>
                        </m:r>
                      </m:sub>
                    </m:sSub>
                    <m:r>
                      <a:rPr kumimoji="1" lang="en-US" altLang="zh-TW" sz="2200">
                        <a:latin typeface="Cambria Math" panose="02040503050406030204" pitchFamily="18" charset="0"/>
                        <a:cs typeface="Times New Roman" panose="02020603050405020304" pitchFamily="18" charset="0"/>
                      </a:rPr>
                      <m:t>(</m:t>
                    </m:r>
                    <m:r>
                      <m:rPr>
                        <m:sty m:val="p"/>
                      </m:rPr>
                      <a:rPr kumimoji="1" lang="en-US" altLang="zh-TW" sz="2200">
                        <a:latin typeface="Cambria Math" panose="02040503050406030204" pitchFamily="18" charset="0"/>
                        <a:cs typeface="Times New Roman" panose="02020603050405020304" pitchFamily="18" charset="0"/>
                      </a:rPr>
                      <m:t>P</m:t>
                    </m:r>
                    <m:r>
                      <a:rPr kumimoji="1" lang="en-US" altLang="zh-TW" sz="2200">
                        <a:latin typeface="Cambria Math" panose="02040503050406030204" pitchFamily="18" charset="0"/>
                        <a:cs typeface="Times New Roman" panose="02020603050405020304" pitchFamily="18" charset="0"/>
                      </a:rPr>
                      <m:t>, ∞)</m:t>
                    </m:r>
                  </m:oMath>
                </a14:m>
                <a:endParaRPr lang="zh-TW" altLang="en-US" dirty="0"/>
              </a:p>
            </p:txBody>
          </p:sp>
        </mc:Choice>
        <mc:Fallback>
          <p:sp>
            <p:nvSpPr>
              <p:cNvPr id="6" name="Content Placeholder 3">
                <a:extLst>
                  <a:ext uri="{FF2B5EF4-FFF2-40B4-BE49-F238E27FC236}">
                    <a16:creationId xmlns:a16="http://schemas.microsoft.com/office/drawing/2014/main" id="{4713FBC8-36D7-FD47-EE20-5C737A22DF3E}"/>
                  </a:ext>
                </a:extLst>
              </p:cNvPr>
              <p:cNvSpPr>
                <a:spLocks noGrp="1" noRot="1" noChangeAspect="1" noMove="1" noResize="1" noEditPoints="1" noAdjustHandles="1" noChangeArrowheads="1" noChangeShapeType="1" noTextEdit="1"/>
              </p:cNvSpPr>
              <p:nvPr>
                <p:ph idx="1"/>
              </p:nvPr>
            </p:nvSpPr>
            <p:spPr>
              <a:xfrm>
                <a:off x="838200" y="1606550"/>
                <a:ext cx="10515600" cy="4351338"/>
              </a:xfrm>
              <a:blipFill>
                <a:blip r:embed="rId3"/>
                <a:stretch>
                  <a:fillRect l="-696" t="-1823"/>
                </a:stretch>
              </a:blipFill>
            </p:spPr>
            <p:txBody>
              <a:bodyPr/>
              <a:lstStyle/>
              <a:p>
                <a:r>
                  <a:rPr lang="zh-TW" altLang="en-US">
                    <a:noFill/>
                  </a:rPr>
                  <a:t> </a:t>
                </a:r>
              </a:p>
            </p:txBody>
          </p:sp>
        </mc:Fallback>
      </mc:AlternateContent>
      <p:pic>
        <p:nvPicPr>
          <p:cNvPr id="9" name="Picture 8">
            <a:extLst>
              <a:ext uri="{FF2B5EF4-FFF2-40B4-BE49-F238E27FC236}">
                <a16:creationId xmlns:a16="http://schemas.microsoft.com/office/drawing/2014/main" id="{CBF9D28D-5E72-030E-D6B9-7C2E05965F9E}"/>
              </a:ext>
            </a:extLst>
          </p:cNvPr>
          <p:cNvPicPr>
            <a:picLocks noChangeAspect="1"/>
          </p:cNvPicPr>
          <p:nvPr/>
        </p:nvPicPr>
        <p:blipFill rotWithShape="1">
          <a:blip r:embed="rId4"/>
          <a:srcRect t="3467"/>
          <a:stretch/>
        </p:blipFill>
        <p:spPr>
          <a:xfrm>
            <a:off x="1900237" y="2609850"/>
            <a:ext cx="8391525" cy="3702050"/>
          </a:xfrm>
          <a:prstGeom prst="rect">
            <a:avLst/>
          </a:prstGeom>
        </p:spPr>
      </p:pic>
    </p:spTree>
    <p:extLst>
      <p:ext uri="{BB962C8B-B14F-4D97-AF65-F5344CB8AC3E}">
        <p14:creationId xmlns:p14="http://schemas.microsoft.com/office/powerpoint/2010/main" val="3242185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Experiments and Analysis</a:t>
            </a:r>
            <a:endParaRPr kumimoji="1" lang="zh-TW" altLang="en-US" sz="3000" b="1"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4713FBC8-36D7-FD47-EE20-5C737A22DF3E}"/>
              </a:ext>
            </a:extLst>
          </p:cNvPr>
          <p:cNvSpPr>
            <a:spLocks noGrp="1"/>
          </p:cNvSpPr>
          <p:nvPr>
            <p:ph idx="1"/>
          </p:nvPr>
        </p:nvSpPr>
        <p:spPr>
          <a:xfrm>
            <a:off x="838200" y="1825625"/>
            <a:ext cx="10515600" cy="4351338"/>
          </a:xfrm>
        </p:spPr>
        <p:txBody>
          <a:bodyPr/>
          <a:lstStyle/>
          <a:p>
            <a:endParaRPr lang="zh-TW" altLang="en-US" dirty="0"/>
          </a:p>
        </p:txBody>
      </p:sp>
      <p:pic>
        <p:nvPicPr>
          <p:cNvPr id="4" name="Picture 3">
            <a:extLst>
              <a:ext uri="{FF2B5EF4-FFF2-40B4-BE49-F238E27FC236}">
                <a16:creationId xmlns:a16="http://schemas.microsoft.com/office/drawing/2014/main" id="{35F93506-FB65-E0A6-76E3-89D97846D0BE}"/>
              </a:ext>
            </a:extLst>
          </p:cNvPr>
          <p:cNvPicPr>
            <a:picLocks noChangeAspect="1"/>
          </p:cNvPicPr>
          <p:nvPr/>
        </p:nvPicPr>
        <p:blipFill rotWithShape="1">
          <a:blip r:embed="rId3"/>
          <a:srcRect t="6161"/>
          <a:stretch/>
        </p:blipFill>
        <p:spPr>
          <a:xfrm>
            <a:off x="1314450" y="2305050"/>
            <a:ext cx="9705975" cy="3630856"/>
          </a:xfrm>
          <a:prstGeom prst="rect">
            <a:avLst/>
          </a:prstGeom>
        </p:spPr>
      </p:pic>
    </p:spTree>
    <p:extLst>
      <p:ext uri="{BB962C8B-B14F-4D97-AF65-F5344CB8AC3E}">
        <p14:creationId xmlns:p14="http://schemas.microsoft.com/office/powerpoint/2010/main" val="40237310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Experiments and Analysis</a:t>
            </a:r>
            <a:endParaRPr kumimoji="1" lang="zh-TW" altLang="en-US" sz="3000" b="1"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4713FBC8-36D7-FD47-EE20-5C737A22DF3E}"/>
              </a:ext>
            </a:extLst>
          </p:cNvPr>
          <p:cNvSpPr>
            <a:spLocks noGrp="1"/>
          </p:cNvSpPr>
          <p:nvPr>
            <p:ph idx="1"/>
          </p:nvPr>
        </p:nvSpPr>
        <p:spPr>
          <a:xfrm>
            <a:off x="838200" y="1568450"/>
            <a:ext cx="10515600" cy="4351338"/>
          </a:xfrm>
        </p:spPr>
        <p:txBody>
          <a:bodyPr/>
          <a:lstStyle/>
          <a:p>
            <a:r>
              <a:rPr kumimoji="1" lang="en-US" altLang="zh-TW" sz="2200" dirty="0">
                <a:latin typeface="Times New Roman" panose="02020603050405020304" pitchFamily="18" charset="0"/>
                <a:cs typeface="Times New Roman" panose="02020603050405020304" pitchFamily="18" charset="0"/>
              </a:rPr>
              <a:t>Scenario 1: The number of sequences remained unchanged at four, and the length of the sequence was gradually increased from 200 to 1000. </a:t>
            </a:r>
            <a:endParaRPr kumimoji="1" lang="zh-TW" alt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7D66ACD-7783-BA13-BE38-215C3AD6FCD8}"/>
              </a:ext>
            </a:extLst>
          </p:cNvPr>
          <p:cNvPicPr>
            <a:picLocks noChangeAspect="1"/>
          </p:cNvPicPr>
          <p:nvPr/>
        </p:nvPicPr>
        <p:blipFill rotWithShape="1">
          <a:blip r:embed="rId3"/>
          <a:srcRect t="4016"/>
          <a:stretch/>
        </p:blipFill>
        <p:spPr>
          <a:xfrm>
            <a:off x="1976437" y="2371725"/>
            <a:ext cx="8239125" cy="4121150"/>
          </a:xfrm>
          <a:prstGeom prst="rect">
            <a:avLst/>
          </a:prstGeom>
        </p:spPr>
      </p:pic>
    </p:spTree>
    <p:extLst>
      <p:ext uri="{BB962C8B-B14F-4D97-AF65-F5344CB8AC3E}">
        <p14:creationId xmlns:p14="http://schemas.microsoft.com/office/powerpoint/2010/main" val="41846960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Experiments and Analysis</a:t>
            </a:r>
            <a:endParaRPr kumimoji="1" lang="zh-TW" altLang="en-US" sz="3000" b="1"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4713FBC8-36D7-FD47-EE20-5C737A22DF3E}"/>
              </a:ext>
            </a:extLst>
          </p:cNvPr>
          <p:cNvSpPr>
            <a:spLocks noGrp="1"/>
          </p:cNvSpPr>
          <p:nvPr>
            <p:ph idx="1"/>
          </p:nvPr>
        </p:nvSpPr>
        <p:spPr>
          <a:xfrm>
            <a:off x="838200" y="1568450"/>
            <a:ext cx="10515600" cy="4351338"/>
          </a:xfrm>
        </p:spPr>
        <p:txBody>
          <a:bodyPr/>
          <a:lstStyle/>
          <a:p>
            <a:r>
              <a:rPr kumimoji="1" lang="en-US" altLang="zh-TW" sz="2200" dirty="0">
                <a:latin typeface="Times New Roman" panose="02020603050405020304" pitchFamily="18" charset="0"/>
                <a:cs typeface="Times New Roman" panose="02020603050405020304" pitchFamily="18" charset="0"/>
              </a:rPr>
              <a:t>Scenario 1: The number of sequences remained unchanged at four, and the length of the sequence was gradually increased from 200 to 1000. </a:t>
            </a:r>
            <a:endParaRPr kumimoji="1" lang="zh-TW" alt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B05CC85-F3E2-1867-3804-7E7EF6F66D52}"/>
              </a:ext>
            </a:extLst>
          </p:cNvPr>
          <p:cNvPicPr>
            <a:picLocks noChangeAspect="1"/>
          </p:cNvPicPr>
          <p:nvPr/>
        </p:nvPicPr>
        <p:blipFill rotWithShape="1">
          <a:blip r:embed="rId3"/>
          <a:srcRect t="3696"/>
          <a:stretch/>
        </p:blipFill>
        <p:spPr>
          <a:xfrm>
            <a:off x="1847850" y="2400300"/>
            <a:ext cx="8496300" cy="4221306"/>
          </a:xfrm>
          <a:prstGeom prst="rect">
            <a:avLst/>
          </a:prstGeom>
        </p:spPr>
      </p:pic>
    </p:spTree>
    <p:extLst>
      <p:ext uri="{BB962C8B-B14F-4D97-AF65-F5344CB8AC3E}">
        <p14:creationId xmlns:p14="http://schemas.microsoft.com/office/powerpoint/2010/main" val="4686947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Autofit/>
          </a:bodyPr>
          <a:lstStyle/>
          <a:p>
            <a:r>
              <a:rPr kumimoji="1" lang="en-US" altLang="zh-TW" sz="3000" b="1" dirty="0">
                <a:latin typeface="Times New Roman" panose="02020603050405020304" pitchFamily="18" charset="0"/>
                <a:cs typeface="Times New Roman" panose="02020603050405020304" pitchFamily="18" charset="0"/>
              </a:rPr>
              <a:t>Step MLCS: Experiments and Analysis</a:t>
            </a:r>
            <a:endParaRPr kumimoji="1" lang="zh-TW" altLang="en-US" sz="3000" b="1"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4713FBC8-36D7-FD47-EE20-5C737A22DF3E}"/>
              </a:ext>
            </a:extLst>
          </p:cNvPr>
          <p:cNvSpPr>
            <a:spLocks noGrp="1"/>
          </p:cNvSpPr>
          <p:nvPr>
            <p:ph idx="1"/>
          </p:nvPr>
        </p:nvSpPr>
        <p:spPr>
          <a:xfrm>
            <a:off x="838200" y="1568450"/>
            <a:ext cx="10515600" cy="4351338"/>
          </a:xfrm>
        </p:spPr>
        <p:txBody>
          <a:bodyPr/>
          <a:lstStyle/>
          <a:p>
            <a:r>
              <a:rPr kumimoji="1" lang="en-US" altLang="zh-TW" sz="2200" dirty="0">
                <a:latin typeface="Times New Roman" panose="02020603050405020304" pitchFamily="18" charset="0"/>
                <a:cs typeface="Times New Roman" panose="02020603050405020304" pitchFamily="18" charset="0"/>
              </a:rPr>
              <a:t>Scenario 2: The length of the sequences remained unchanged at 90, and the number of sequences was gradually increased from 5 to 2000. </a:t>
            </a:r>
            <a:endParaRPr kumimoji="1" lang="zh-TW" alt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B17B438-43D8-B6BA-9362-957E816DA836}"/>
              </a:ext>
            </a:extLst>
          </p:cNvPr>
          <p:cNvPicPr>
            <a:picLocks noChangeAspect="1"/>
          </p:cNvPicPr>
          <p:nvPr/>
        </p:nvPicPr>
        <p:blipFill>
          <a:blip r:embed="rId3"/>
          <a:stretch>
            <a:fillRect/>
          </a:stretch>
        </p:blipFill>
        <p:spPr>
          <a:xfrm>
            <a:off x="2548672" y="2271428"/>
            <a:ext cx="7094655" cy="2228828"/>
          </a:xfrm>
          <a:prstGeom prst="rect">
            <a:avLst/>
          </a:prstGeom>
        </p:spPr>
      </p:pic>
      <p:pic>
        <p:nvPicPr>
          <p:cNvPr id="8" name="Picture 7">
            <a:extLst>
              <a:ext uri="{FF2B5EF4-FFF2-40B4-BE49-F238E27FC236}">
                <a16:creationId xmlns:a16="http://schemas.microsoft.com/office/drawing/2014/main" id="{FCBDC8B2-A25F-0F1E-153A-3CDA79247DB6}"/>
              </a:ext>
            </a:extLst>
          </p:cNvPr>
          <p:cNvPicPr>
            <a:picLocks noChangeAspect="1"/>
          </p:cNvPicPr>
          <p:nvPr/>
        </p:nvPicPr>
        <p:blipFill>
          <a:blip r:embed="rId4"/>
          <a:stretch>
            <a:fillRect/>
          </a:stretch>
        </p:blipFill>
        <p:spPr>
          <a:xfrm>
            <a:off x="2548672" y="4519306"/>
            <a:ext cx="7219950" cy="2246692"/>
          </a:xfrm>
          <a:prstGeom prst="rect">
            <a:avLst/>
          </a:prstGeom>
        </p:spPr>
      </p:pic>
    </p:spTree>
    <p:extLst>
      <p:ext uri="{BB962C8B-B14F-4D97-AF65-F5344CB8AC3E}">
        <p14:creationId xmlns:p14="http://schemas.microsoft.com/office/powerpoint/2010/main" val="38191351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32A-8416-A57A-A55B-17B6957E26ED}"/>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Conclusion</a:t>
            </a:r>
            <a:endParaRPr lang="zh-TW" altLang="en-US" sz="4000" dirty="0"/>
          </a:p>
        </p:txBody>
      </p:sp>
      <p:sp>
        <p:nvSpPr>
          <p:cNvPr id="3" name="Content Placeholder 2">
            <a:extLst>
              <a:ext uri="{FF2B5EF4-FFF2-40B4-BE49-F238E27FC236}">
                <a16:creationId xmlns:a16="http://schemas.microsoft.com/office/drawing/2014/main" id="{09049979-F5A7-6534-10C1-F736244053A9}"/>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Time-efficient upper bound estimation method</a:t>
            </a:r>
          </a:p>
          <a:p>
            <a:r>
              <a:rPr kumimoji="1" lang="en-US" altLang="zh-TW" dirty="0">
                <a:latin typeface="Times New Roman" panose="02020603050405020304" pitchFamily="18" charset="0"/>
                <a:cs typeface="Times New Roman" panose="02020603050405020304" pitchFamily="18" charset="0"/>
              </a:rPr>
              <a:t>Adaptive lower-bound estimation strategy</a:t>
            </a:r>
          </a:p>
          <a:p>
            <a:r>
              <a:rPr kumimoji="1" lang="en-US" altLang="zh-TW" dirty="0">
                <a:latin typeface="Times New Roman" panose="02020603050405020304" pitchFamily="18" charset="0"/>
                <a:cs typeface="Times New Roman" panose="02020603050405020304" pitchFamily="18" charset="0"/>
              </a:rPr>
              <a:t>Distributed storage scheme</a:t>
            </a:r>
          </a:p>
          <a:p>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459289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1714</TotalTime>
  <Words>1187</Words>
  <Application>Microsoft Office PowerPoint</Application>
  <PresentationFormat>Widescreen</PresentationFormat>
  <Paragraphs>105</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 Math</vt:lpstr>
      <vt:lpstr>Times New Roman</vt:lpstr>
      <vt:lpstr>Office Theme</vt:lpstr>
      <vt:lpstr>A Distributed Storage MLCS Algorithm with Time Efficient Upper Bound and Precise Lower Bound</vt:lpstr>
      <vt:lpstr>Abstract (1/2)</vt:lpstr>
      <vt:lpstr>Abstract (2/2)</vt:lpstr>
      <vt:lpstr>Step MLCS:  A Time Efficient Upper Bound Estimation Strategy  </vt:lpstr>
      <vt:lpstr>Step MLCS:  Construct Smaller DAG and Estimate Precise Lower Bound</vt:lpstr>
      <vt:lpstr>Step MLCS:  Construct Smaller DAG and Estimate Precise Lower Bound</vt:lpstr>
      <vt:lpstr>Step MLCS: Update Lower Bound (2 Methods)</vt:lpstr>
      <vt:lpstr>Step MLCS: Distributed Storage Scheme</vt:lpstr>
      <vt:lpstr>Step MLCS</vt:lpstr>
      <vt:lpstr>Step MLCS: Experiments and Analysis</vt:lpstr>
      <vt:lpstr>Step MLCS: Experiments and Analysis</vt:lpstr>
      <vt:lpstr>Step MLCS: Experiments and Analysis</vt:lpstr>
      <vt:lpstr>Step MLCS: Experiments and Analysis</vt:lpstr>
      <vt:lpstr>Step MLCS: Experiments and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Wen Wen Liao</cp:lastModifiedBy>
  <cp:revision>54</cp:revision>
  <dcterms:created xsi:type="dcterms:W3CDTF">2022-10-11T15:33:00Z</dcterms:created>
  <dcterms:modified xsi:type="dcterms:W3CDTF">2023-01-10T07:04:16Z</dcterms:modified>
</cp:coreProperties>
</file>