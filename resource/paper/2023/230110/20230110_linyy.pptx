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647" r:id="rId4"/>
    <p:sldId id="649" r:id="rId5"/>
    <p:sldId id="650" r:id="rId6"/>
    <p:sldId id="685" r:id="rId7"/>
    <p:sldId id="668" r:id="rId8"/>
    <p:sldId id="669" r:id="rId9"/>
    <p:sldId id="670" r:id="rId10"/>
    <p:sldId id="671" r:id="rId11"/>
    <p:sldId id="672" r:id="rId12"/>
    <p:sldId id="673" r:id="rId13"/>
    <p:sldId id="674" r:id="rId14"/>
    <p:sldId id="686" r:id="rId15"/>
    <p:sldId id="677" r:id="rId16"/>
    <p:sldId id="678" r:id="rId17"/>
    <p:sldId id="680" r:id="rId18"/>
    <p:sldId id="681" r:id="rId19"/>
    <p:sldId id="682" r:id="rId20"/>
    <p:sldId id="635" r:id="rId21"/>
    <p:sldId id="684" r:id="rId22"/>
    <p:sldId id="637" r:id="rId23"/>
    <p:sldId id="687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C3"/>
    <a:srgbClr val="6FC282"/>
    <a:srgbClr val="FF6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63"/>
    <p:restoredTop sz="89651"/>
  </p:normalViewPr>
  <p:slideViewPr>
    <p:cSldViewPr snapToGrid="0" snapToObjects="1">
      <p:cViewPr varScale="1">
        <p:scale>
          <a:sx n="145" d="100"/>
          <a:sy n="145" d="100"/>
        </p:scale>
        <p:origin x="1768" y="16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6ACD4-E003-2242-B9CA-E02B5AF3FB40}" type="datetimeFigureOut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3EC9A-E9ED-9349-8355-BBED17A59AE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275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1523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在賽局理論中，如果每個參與者都選擇了自己的策略，並且沒有玩家可以透過改變策略而其他參與者保持不變而獲益，那麼當前的策略選擇的集合及其相應的結果構成了納許均衡。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45874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7238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507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8921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3407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757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62948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7040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2861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6404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6012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8640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6257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1357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1984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16403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8095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83728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45826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619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AEA1F-A529-C543-B122-C79D75A9B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DD9FD8-F935-E844-A72C-FAE789896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C0D9A1-7770-C641-A8C0-606BF98C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BFA9-06E6-D94C-BFAB-00CD3E67D7CA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BCB7AA-EFDA-274E-84A3-EA456969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244F54-1A74-754B-AE80-2EB58A8C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047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4CB43F-26AB-CF45-BC2B-42C35EFC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E32C75-2052-DB40-A461-36210C8B9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B5B8BB-C487-024F-8342-82E120D7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9F56-7251-2A4E-B88C-9FA56DA971A2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DB6457-5B1C-5C43-993D-27829244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62B42F-8467-404B-993B-90C6AB09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63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170811-0E27-3F4A-9FC4-E738C488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E5B833-DE7E-514A-A3BB-498EA25F8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9012DC-A094-0C49-AF63-77A9BC0C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BE05-D7D8-CE48-BED7-FADBCDD058D3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681F3F-8B18-5E4A-B94C-E0F04F6D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F5FF4F-5214-DD4B-855C-6B9371D1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304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882D9-952A-8D49-808D-F9C724C4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B7EE43-F00B-574A-B051-D41906747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37477A-8891-A04E-BAB7-2A9063F3A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D9D3DB-CD12-0D44-BC6B-9E01517E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AEDC-7C8B-3540-9A2F-CC1D71E85B37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F5FDC-A454-3542-889C-DB427845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C0BA6C-365F-7247-8F1F-800FCF56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513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1E6E4-8C26-9845-A608-845A29D9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D56C9F-BAB2-A44F-9FB7-0DD4FABE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49941A-4AF2-DE4C-8872-DB58DD0FD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3D1809-F7A2-1442-945E-4020E7A08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6F2CD3-B24B-3A49-8455-4F00DFEAF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8489589-56C1-5A4B-AFBA-BFF118CF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8F2B-828C-4346-A20E-816C69F070C7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040059-A5AC-E542-9B5A-8610AC2B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ACD37C-461B-F740-AEBD-13A5C588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826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A07EF-BD14-6A4E-9E7A-01112770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516926-65AB-2B43-8956-806D63E4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EDE7-124B-8648-A6E1-0F7BD60577D5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506ED5-ACE4-8543-AB63-CAD9A1CF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7937CF-BB72-C745-9D22-A91A17D4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81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D695AD6-1153-9040-AB1D-B2D44ABA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F867-330B-B940-B03B-359E64A64E91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15C32C-4453-0C45-8886-0FE61DFF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6D8C40-590C-6948-B426-EEC75AA4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486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C40CD-D888-CE44-8EA1-870871B2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717B6F-F2B3-E74B-A6AC-1F8A73FE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026A48-EF1D-AC4D-BBCE-6A5E3F68C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9D3DA3-4F7A-E84C-8D0C-4136384A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C841B-36FA-B747-9C29-B2CC33419BAD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0622E9-EF61-B240-BCA9-ED4FEE18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45D1D9-45C8-2747-A836-4C540ADA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705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F1945-5D1A-FA42-B151-1902F077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AE12B54-DEE8-CD44-80D0-699B3EC76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32D9B0-9463-9A41-950F-9BF96DB3B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17CBBB-F497-3F47-A634-7E1C26A6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11F8-3573-2C4D-942C-15D8B1AFD37A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72FF00-F770-D24D-BC3C-96839028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E96447-76E1-3441-BF93-0AD4F6A3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792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EADACA-591C-894C-8A56-E9039DC8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34F77E-58B2-F642-A872-DFADE8503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DD8E6-742C-0046-98FB-C68B25E9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C2E09-2527-7F4B-A110-6FBD9BD98EA4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1A71D3-388B-514F-8378-18AAC64F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9FA401-5A1D-EB45-897D-9BC4EA39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871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F60141-0602-B742-8666-ECC19E887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AE28AB-9E4D-BC42-8236-186DA1B75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0288D-DAAC-F54F-BFDB-B956C149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37416-B0F7-124A-B838-350974E17640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7B70EB-CA3F-B94B-BE42-35D4ACFD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C76C1B-159C-6448-A7AB-D9F42BF9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621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E7502D-DE5C-784A-9CEB-7BE7BC05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1151CC-D4D4-2743-A29A-CC244CCF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53E478-1C82-2041-9B51-0C1B1A0E5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2B49-F11D-2146-BF8E-8F79505A16F7}" type="datetime1">
              <a:rPr kumimoji="1" lang="zh-TW" altLang="en-US" smtClean="0"/>
              <a:t>2023/1/9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56AFCE-4718-5242-B260-6133B61B1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F70ED3-ECE3-3A4A-A44B-2CD3BC618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0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008" y="1122363"/>
            <a:ext cx="9829800" cy="2387600"/>
          </a:xfrm>
        </p:spPr>
        <p:txBody>
          <a:bodyPr>
            <a:no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Superhuman AI for heads-up no-limit poker: </a:t>
            </a:r>
            <a:r>
              <a:rPr kumimoji="1" lang="en-US" altLang="zh-TW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Libratus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beats top professionals</a:t>
            </a:r>
            <a:endParaRPr kumimoji="1" lang="en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altLang="zh-TW" dirty="0"/>
              <a:t>Noam Brown, </a:t>
            </a:r>
            <a:r>
              <a:rPr lang="en-US" altLang="zh-TW" dirty="0" err="1"/>
              <a:t>Tuomas</a:t>
            </a:r>
            <a:r>
              <a:rPr lang="en-US" altLang="zh-TW" dirty="0"/>
              <a:t> </a:t>
            </a:r>
            <a:r>
              <a:rPr lang="en-US" altLang="zh-TW" dirty="0" err="1"/>
              <a:t>Sandholm</a:t>
            </a:r>
            <a:endParaRPr lang="en-US" altLang="zh-TW" dirty="0"/>
          </a:p>
          <a:p>
            <a:pPr fontAlgn="ctr"/>
            <a:r>
              <a:rPr lang="en-US" altLang="zh-TW" dirty="0">
                <a:latin typeface="Times New Roman"/>
                <a:ea typeface="+mn-lt"/>
                <a:cs typeface="+mn-lt"/>
              </a:rPr>
              <a:t>SCIENCE, December 2017, Vol 359, Issue 6374, pp. 418-424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Ying-Yu Lin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</a:t>
            </a: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456"/>
            <a:ext cx="10863804" cy="510362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No-limit Texas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hold’em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popular form of poker. Despite artificial intelligence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(AI) successes in perfect-information games, the private information and massive game tree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made no-limit poker difficult to tackle. We present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Libratus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AI that, in a 120,000-hand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competition, defeated four top human specialist professionals in heads-up no-limit Texas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hold’em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leading benchmark and long-standing challenge problem in imperfect-information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solving. Our game-theoretic approach features application-independent techniques: an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computing a blueprint for the overall strategy, an algorithm that fleshes out the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the strategy for subgames that are reached during play, and a self-improver algorithm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fixes potential weaknesses that opponents have identified in the blueprint strategy.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/>
              <a:t>Heads-Up No-Limit Texas </a:t>
            </a:r>
            <a:r>
              <a:rPr kumimoji="1" lang="en-US" altLang="zh-TW" sz="4000" b="1" dirty="0" err="1"/>
              <a:t>Hold’em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863804" cy="518528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sz="2400" dirty="0"/>
              <a:t>No-Limit Betting = Continuous Action Space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2400" dirty="0"/>
              <a:t>  - No-limit Texas </a:t>
            </a:r>
            <a:r>
              <a:rPr lang="en-US" altLang="zh-TW" sz="2400" dirty="0" err="1"/>
              <a:t>Hold’em</a:t>
            </a:r>
            <a:r>
              <a:rPr lang="en-US" altLang="zh-TW" sz="2400" dirty="0"/>
              <a:t> : 10</a:t>
            </a:r>
            <a:r>
              <a:rPr lang="en-US" altLang="zh-TW" sz="2400" baseline="30000" dirty="0"/>
              <a:t>161</a:t>
            </a:r>
            <a:r>
              <a:rPr lang="en-US" altLang="zh-TW" sz="2400" dirty="0"/>
              <a:t> decisions</a:t>
            </a:r>
          </a:p>
          <a:p>
            <a:pPr>
              <a:lnSpc>
                <a:spcPct val="120000"/>
              </a:lnSpc>
            </a:pPr>
            <a:r>
              <a:rPr lang="en-US" altLang="zh-TW" sz="2400" dirty="0"/>
              <a:t>No prior AI has been able to beat top humans</a:t>
            </a:r>
          </a:p>
          <a:p>
            <a:pPr>
              <a:lnSpc>
                <a:spcPct val="120000"/>
              </a:lnSpc>
            </a:pPr>
            <a:endParaRPr lang="en-US" altLang="zh-TW" sz="2400" dirty="0"/>
          </a:p>
          <a:p>
            <a:pPr>
              <a:lnSpc>
                <a:spcPct val="120000"/>
              </a:lnSpc>
            </a:pPr>
            <a:endParaRPr lang="en-US" altLang="zh-TW" sz="2400" dirty="0"/>
          </a:p>
          <a:p>
            <a:pPr>
              <a:lnSpc>
                <a:spcPct val="120000"/>
              </a:lnSpc>
            </a:pPr>
            <a:endParaRPr lang="en-US" altLang="zh-TW" sz="2400" dirty="0"/>
          </a:p>
          <a:p>
            <a:pPr>
              <a:lnSpc>
                <a:spcPct val="120000"/>
              </a:lnSpc>
            </a:pPr>
            <a:r>
              <a:rPr lang="en-US" altLang="zh-TW" sz="2400" dirty="0"/>
              <a:t>Because an optimal strategy for a subgame cannot be determined from that subgame alone</a:t>
            </a:r>
          </a:p>
          <a:p>
            <a:pPr>
              <a:lnSpc>
                <a:spcPct val="120000"/>
              </a:lnSpc>
            </a:pPr>
            <a:endParaRPr lang="en-US" altLang="zh-TW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3</a:t>
            </a:fld>
            <a:endParaRPr kumimoji="1"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DC610B0-63F4-014F-83B5-61320A64EBBB}"/>
              </a:ext>
            </a:extLst>
          </p:cNvPr>
          <p:cNvSpPr txBox="1">
            <a:spLocks/>
          </p:cNvSpPr>
          <p:nvPr/>
        </p:nvSpPr>
        <p:spPr>
          <a:xfrm>
            <a:off x="838200" y="36957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sz="4000" b="1" dirty="0"/>
              <a:t>Why are imperfect-information games hard?</a:t>
            </a:r>
            <a:endParaRPr kumimoji="1"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9615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Nash Equilibrium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863804" cy="518528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sz="2400" dirty="0"/>
              <a:t>Nash Equilibrium: a profile of strategies in which no player can improve by deviating.</a:t>
            </a:r>
          </a:p>
          <a:p>
            <a:pPr>
              <a:lnSpc>
                <a:spcPct val="120000"/>
              </a:lnSpc>
            </a:pPr>
            <a:r>
              <a:rPr lang="en-US" altLang="zh-TW" sz="2400" dirty="0"/>
              <a:t>In two-player zero-sum games, playing a Nash equilibrium ensures you will not lose in expectation</a:t>
            </a:r>
          </a:p>
          <a:p>
            <a:pPr>
              <a:lnSpc>
                <a:spcPct val="120000"/>
              </a:lnSpc>
            </a:pPr>
            <a:r>
              <a:rPr lang="en-US" altLang="zh-TW" sz="2400" dirty="0"/>
              <a:t>Exploitability: Distance from a Nash equilibrium</a:t>
            </a:r>
          </a:p>
          <a:p>
            <a:pPr>
              <a:lnSpc>
                <a:spcPct val="120000"/>
              </a:lnSpc>
            </a:pPr>
            <a:endParaRPr lang="en-US" altLang="zh-TW" sz="2400" dirty="0"/>
          </a:p>
          <a:p>
            <a:pPr>
              <a:lnSpc>
                <a:spcPct val="120000"/>
              </a:lnSpc>
            </a:pPr>
            <a:endParaRPr lang="en-US" altLang="zh-TW" sz="2400" dirty="0"/>
          </a:p>
          <a:p>
            <a:pPr>
              <a:lnSpc>
                <a:spcPct val="120000"/>
              </a:lnSpc>
            </a:pPr>
            <a:endParaRPr lang="en-US" altLang="zh-TW" sz="2400" dirty="0"/>
          </a:p>
          <a:p>
            <a:pPr>
              <a:lnSpc>
                <a:spcPct val="120000"/>
              </a:lnSpc>
            </a:pPr>
            <a:r>
              <a:rPr lang="en-US" altLang="zh-TW" sz="2400" dirty="0"/>
              <a:t>Real-world AI must be robust to adversarial adaptation and exploitation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4</a:t>
            </a:fld>
            <a:endParaRPr kumimoji="1"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70F4869-5A00-7D41-A018-EDEA8F8C918D}"/>
              </a:ext>
            </a:extLst>
          </p:cNvPr>
          <p:cNvSpPr txBox="1">
            <a:spLocks/>
          </p:cNvSpPr>
          <p:nvPr/>
        </p:nvSpPr>
        <p:spPr>
          <a:xfrm>
            <a:off x="838200" y="42637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TW" sz="4000" b="1" dirty="0"/>
              <a:t>Why care about exploitability?</a:t>
            </a:r>
          </a:p>
        </p:txBody>
      </p:sp>
    </p:spTree>
    <p:extLst>
      <p:ext uri="{BB962C8B-B14F-4D97-AF65-F5344CB8AC3E}">
        <p14:creationId xmlns:p14="http://schemas.microsoft.com/office/powerpoint/2010/main" val="64013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5</a:t>
            </a:fld>
            <a:endParaRPr kumimoji="1" lang="zh-TW" alt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8C69A0F-51DE-8648-BC39-9D40F91BE5BA}"/>
              </a:ext>
            </a:extLst>
          </p:cNvPr>
          <p:cNvGrpSpPr/>
          <p:nvPr/>
        </p:nvGrpSpPr>
        <p:grpSpPr>
          <a:xfrm>
            <a:off x="3579447" y="1590104"/>
            <a:ext cx="5511621" cy="4212546"/>
            <a:chOff x="4023584" y="1619104"/>
            <a:chExt cx="5511621" cy="4212546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EB81C53-B3B7-BF49-B6C3-9C3D5131F938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9A521992-A784-C641-9492-445A49E0EEA4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92E1D901-76DF-7443-926B-98898FAA3CAA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55625D94-E3D3-3E48-B051-DBDB175669C4}"/>
                </a:ext>
              </a:extLst>
            </p:cNvPr>
            <p:cNvCxnSpPr>
              <a:cxnSpLocks/>
              <a:stCxn id="6" idx="3"/>
              <a:endCxn id="7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10">
              <a:extLst>
                <a:ext uri="{FF2B5EF4-FFF2-40B4-BE49-F238E27FC236}">
                  <a16:creationId xmlns:a16="http://schemas.microsoft.com/office/drawing/2014/main" id="{81718BBC-A0E6-234F-8E94-AA1E77FC6921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B2AD9108-D2FD-8F49-B777-1AF94122BCF6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線單箭頭接點 18">
              <a:extLst>
                <a:ext uri="{FF2B5EF4-FFF2-40B4-BE49-F238E27FC236}">
                  <a16:creationId xmlns:a16="http://schemas.microsoft.com/office/drawing/2014/main" id="{0FDA4B50-C667-B547-8E2C-A000FE4FBC7D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0940A750-1834-A44F-8EBA-FB3EAB2B0A16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線單箭頭接點 27">
              <a:extLst>
                <a:ext uri="{FF2B5EF4-FFF2-40B4-BE49-F238E27FC236}">
                  <a16:creationId xmlns:a16="http://schemas.microsoft.com/office/drawing/2014/main" id="{7F8DD606-E41D-B343-9EDA-6A3FE76A5B82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29">
              <a:extLst>
                <a:ext uri="{FF2B5EF4-FFF2-40B4-BE49-F238E27FC236}">
                  <a16:creationId xmlns:a16="http://schemas.microsoft.com/office/drawing/2014/main" id="{21BF9342-9DA3-9E4F-B0A7-08B112E1C52A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31">
              <a:extLst>
                <a:ext uri="{FF2B5EF4-FFF2-40B4-BE49-F238E27FC236}">
                  <a16:creationId xmlns:a16="http://schemas.microsoft.com/office/drawing/2014/main" id="{12C73531-7B27-1F41-B6A1-C9410155F8AD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42">
              <a:extLst>
                <a:ext uri="{FF2B5EF4-FFF2-40B4-BE49-F238E27FC236}">
                  <a16:creationId xmlns:a16="http://schemas.microsoft.com/office/drawing/2014/main" id="{5CB7E177-57E3-9B4C-BD51-8F3728E822C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44">
              <a:extLst>
                <a:ext uri="{FF2B5EF4-FFF2-40B4-BE49-F238E27FC236}">
                  <a16:creationId xmlns:a16="http://schemas.microsoft.com/office/drawing/2014/main" id="{9F688E33-24A0-1C48-A147-2F4F4509C17F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48">
              <a:extLst>
                <a:ext uri="{FF2B5EF4-FFF2-40B4-BE49-F238E27FC236}">
                  <a16:creationId xmlns:a16="http://schemas.microsoft.com/office/drawing/2014/main" id="{155BB533-7D54-C148-9881-590DBB7A313F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50">
              <a:extLst>
                <a:ext uri="{FF2B5EF4-FFF2-40B4-BE49-F238E27FC236}">
                  <a16:creationId xmlns:a16="http://schemas.microsoft.com/office/drawing/2014/main" id="{05283F95-8AA6-9941-8474-77A6C1BEBA81}"/>
                </a:ext>
              </a:extLst>
            </p:cNvPr>
            <p:cNvCxnSpPr>
              <a:cxnSpLocks/>
              <a:stCxn id="13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A2CA84E-03C9-9745-8817-8EB3360024D0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B544891-AA6D-944D-BD32-8B8D2FF64A7B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44FC031-48B5-C645-BE1C-42828E0AE9A6}"/>
                </a:ext>
              </a:extLst>
            </p:cNvPr>
            <p:cNvSpPr txBox="1"/>
            <p:nvPr/>
          </p:nvSpPr>
          <p:spPr>
            <a:xfrm rot="19288165">
              <a:off x="6920968" y="3122356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32AF16B-5769-9442-8423-D6F6DD4A0DD4}"/>
                </a:ext>
              </a:extLst>
            </p:cNvPr>
            <p:cNvSpPr txBox="1"/>
            <p:nvPr/>
          </p:nvSpPr>
          <p:spPr>
            <a:xfrm rot="2276392">
              <a:off x="5316259" y="315278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58B40199-6F9F-BD49-90A7-956F9C63460E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7EA4EA3-B651-CF4A-B0C9-75F5E7166A9A}"/>
                </a:ext>
              </a:extLst>
            </p:cNvPr>
            <p:cNvSpPr txBox="1"/>
            <p:nvPr/>
          </p:nvSpPr>
          <p:spPr>
            <a:xfrm rot="17482236">
              <a:off x="4847732" y="434134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2B32028-4B3D-A44C-B0B5-87E427EB4981}"/>
                </a:ext>
              </a:extLst>
            </p:cNvPr>
            <p:cNvSpPr txBox="1"/>
            <p:nvPr/>
          </p:nvSpPr>
          <p:spPr>
            <a:xfrm rot="4407779">
              <a:off x="5963773" y="438448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72D7B692-0D13-074A-B2E2-B1CB3BB359F1}"/>
                </a:ext>
              </a:extLst>
            </p:cNvPr>
            <p:cNvSpPr txBox="1"/>
            <p:nvPr/>
          </p:nvSpPr>
          <p:spPr>
            <a:xfrm rot="4200141">
              <a:off x="8777819" y="440320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08959988-1BF2-B94F-9A45-7FEC8C3643AE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E2D9114A-10A7-E84B-ADDF-39D4D6BAE2BE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21CB721F-9C13-494E-BA8C-29D12156AF13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3D285C45-18AD-CE41-A22D-BDDC2EEF6627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A0DD6BB-5BCA-D24D-A3AA-523DD0CD0A16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69A4DED6-2243-2348-847D-2AC78E7490AF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48CB981-3665-8A4B-BA71-58A3EE81E9B3}"/>
              </a:ext>
            </a:extLst>
          </p:cNvPr>
          <p:cNvSpPr txBox="1"/>
          <p:nvPr/>
        </p:nvSpPr>
        <p:spPr>
          <a:xfrm rot="19288165">
            <a:off x="3648186" y="3122582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Sell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3C1077C-31FF-3647-B396-273873029AAB}"/>
              </a:ext>
            </a:extLst>
          </p:cNvPr>
          <p:cNvSpPr txBox="1"/>
          <p:nvPr/>
        </p:nvSpPr>
        <p:spPr>
          <a:xfrm rot="2276392">
            <a:off x="7691699" y="3133534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807D609-D5EB-5D40-B527-7D050AF63D6F}"/>
              </a:ext>
            </a:extLst>
          </p:cNvPr>
          <p:cNvSpPr txBox="1"/>
          <p:nvPr/>
        </p:nvSpPr>
        <p:spPr>
          <a:xfrm rot="17340842">
            <a:off x="7190980" y="435548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270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6</a:t>
            </a:fld>
            <a:endParaRPr kumimoji="1" lang="zh-TW" altLang="en-US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8C69A0F-51DE-8648-BC39-9D40F91BE5BA}"/>
              </a:ext>
            </a:extLst>
          </p:cNvPr>
          <p:cNvGrpSpPr/>
          <p:nvPr/>
        </p:nvGrpSpPr>
        <p:grpSpPr>
          <a:xfrm>
            <a:off x="3579447" y="1590104"/>
            <a:ext cx="5511621" cy="4212546"/>
            <a:chOff x="4023584" y="1619104"/>
            <a:chExt cx="5511621" cy="4212546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EB81C53-B3B7-BF49-B6C3-9C3D5131F938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9A521992-A784-C641-9492-445A49E0EEA4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92E1D901-76DF-7443-926B-98898FAA3CAA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55625D94-E3D3-3E48-B051-DBDB175669C4}"/>
                </a:ext>
              </a:extLst>
            </p:cNvPr>
            <p:cNvCxnSpPr>
              <a:cxnSpLocks/>
              <a:stCxn id="6" idx="3"/>
              <a:endCxn id="7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10">
              <a:extLst>
                <a:ext uri="{FF2B5EF4-FFF2-40B4-BE49-F238E27FC236}">
                  <a16:creationId xmlns:a16="http://schemas.microsoft.com/office/drawing/2014/main" id="{81718BBC-A0E6-234F-8E94-AA1E77FC6921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B2AD9108-D2FD-8F49-B777-1AF94122BCF6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線單箭頭接點 18">
              <a:extLst>
                <a:ext uri="{FF2B5EF4-FFF2-40B4-BE49-F238E27FC236}">
                  <a16:creationId xmlns:a16="http://schemas.microsoft.com/office/drawing/2014/main" id="{0FDA4B50-C667-B547-8E2C-A000FE4FBC7D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0940A750-1834-A44F-8EBA-FB3EAB2B0A16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線單箭頭接點 27">
              <a:extLst>
                <a:ext uri="{FF2B5EF4-FFF2-40B4-BE49-F238E27FC236}">
                  <a16:creationId xmlns:a16="http://schemas.microsoft.com/office/drawing/2014/main" id="{7F8DD606-E41D-B343-9EDA-6A3FE76A5B82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29">
              <a:extLst>
                <a:ext uri="{FF2B5EF4-FFF2-40B4-BE49-F238E27FC236}">
                  <a16:creationId xmlns:a16="http://schemas.microsoft.com/office/drawing/2014/main" id="{21BF9342-9DA3-9E4F-B0A7-08B112E1C52A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31">
              <a:extLst>
                <a:ext uri="{FF2B5EF4-FFF2-40B4-BE49-F238E27FC236}">
                  <a16:creationId xmlns:a16="http://schemas.microsoft.com/office/drawing/2014/main" id="{12C73531-7B27-1F41-B6A1-C9410155F8AD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42">
              <a:extLst>
                <a:ext uri="{FF2B5EF4-FFF2-40B4-BE49-F238E27FC236}">
                  <a16:creationId xmlns:a16="http://schemas.microsoft.com/office/drawing/2014/main" id="{5CB7E177-57E3-9B4C-BD51-8F3728E822C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44">
              <a:extLst>
                <a:ext uri="{FF2B5EF4-FFF2-40B4-BE49-F238E27FC236}">
                  <a16:creationId xmlns:a16="http://schemas.microsoft.com/office/drawing/2014/main" id="{9F688E33-24A0-1C48-A147-2F4F4509C17F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48">
              <a:extLst>
                <a:ext uri="{FF2B5EF4-FFF2-40B4-BE49-F238E27FC236}">
                  <a16:creationId xmlns:a16="http://schemas.microsoft.com/office/drawing/2014/main" id="{155BB533-7D54-C148-9881-590DBB7A313F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50">
              <a:extLst>
                <a:ext uri="{FF2B5EF4-FFF2-40B4-BE49-F238E27FC236}">
                  <a16:creationId xmlns:a16="http://schemas.microsoft.com/office/drawing/2014/main" id="{05283F95-8AA6-9941-8474-77A6C1BEBA81}"/>
                </a:ext>
              </a:extLst>
            </p:cNvPr>
            <p:cNvCxnSpPr>
              <a:cxnSpLocks/>
              <a:stCxn id="13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A2CA84E-03C9-9745-8817-8EB3360024D0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B544891-AA6D-944D-BD32-8B8D2FF64A7B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44FC031-48B5-C645-BE1C-42828E0AE9A6}"/>
                </a:ext>
              </a:extLst>
            </p:cNvPr>
            <p:cNvSpPr txBox="1"/>
            <p:nvPr/>
          </p:nvSpPr>
          <p:spPr>
            <a:xfrm rot="19288165">
              <a:off x="6920968" y="3122356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32AF16B-5769-9442-8423-D6F6DD4A0DD4}"/>
                </a:ext>
              </a:extLst>
            </p:cNvPr>
            <p:cNvSpPr txBox="1"/>
            <p:nvPr/>
          </p:nvSpPr>
          <p:spPr>
            <a:xfrm rot="2276392">
              <a:off x="5316259" y="315278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58B40199-6F9F-BD49-90A7-956F9C63460E}"/>
                </a:ext>
              </a:extLst>
            </p:cNvPr>
            <p:cNvCxnSpPr>
              <a:stCxn id="11" idx="6"/>
              <a:endCxn id="13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7EA4EA3-B651-CF4A-B0C9-75F5E7166A9A}"/>
                </a:ext>
              </a:extLst>
            </p:cNvPr>
            <p:cNvSpPr txBox="1"/>
            <p:nvPr/>
          </p:nvSpPr>
          <p:spPr>
            <a:xfrm rot="17482236">
              <a:off x="4847732" y="434134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2B32028-4B3D-A44C-B0B5-87E427EB4981}"/>
                </a:ext>
              </a:extLst>
            </p:cNvPr>
            <p:cNvSpPr txBox="1"/>
            <p:nvPr/>
          </p:nvSpPr>
          <p:spPr>
            <a:xfrm rot="4407779">
              <a:off x="5963773" y="438448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72D7B692-0D13-074A-B2E2-B1CB3BB359F1}"/>
                </a:ext>
              </a:extLst>
            </p:cNvPr>
            <p:cNvSpPr txBox="1"/>
            <p:nvPr/>
          </p:nvSpPr>
          <p:spPr>
            <a:xfrm rot="4200141">
              <a:off x="8777819" y="440320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08959988-1BF2-B94F-9A45-7FEC8C3643AE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E2D9114A-10A7-E84B-ADDF-39D4D6BAE2BE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21CB721F-9C13-494E-BA8C-29D12156AF13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3D285C45-18AD-CE41-A22D-BDDC2EEF6627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A0DD6BB-5BCA-D24D-A3AA-523DD0CD0A16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69A4DED6-2243-2348-847D-2AC78E7490AF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48CB981-3665-8A4B-BA71-58A3EE81E9B3}"/>
              </a:ext>
            </a:extLst>
          </p:cNvPr>
          <p:cNvSpPr txBox="1"/>
          <p:nvPr/>
        </p:nvSpPr>
        <p:spPr>
          <a:xfrm rot="19288165">
            <a:off x="3648186" y="3122582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Sell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3C1077C-31FF-3647-B396-273873029AAB}"/>
              </a:ext>
            </a:extLst>
          </p:cNvPr>
          <p:cNvSpPr txBox="1"/>
          <p:nvPr/>
        </p:nvSpPr>
        <p:spPr>
          <a:xfrm rot="2276392">
            <a:off x="7691699" y="3133534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807D609-D5EB-5D40-B527-7D050AF63D6F}"/>
              </a:ext>
            </a:extLst>
          </p:cNvPr>
          <p:cNvSpPr txBox="1"/>
          <p:nvPr/>
        </p:nvSpPr>
        <p:spPr>
          <a:xfrm rot="17340842">
            <a:off x="7190980" y="435548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E37646E-7900-3A4B-81C5-3583BC692E29}"/>
              </a:ext>
            </a:extLst>
          </p:cNvPr>
          <p:cNvSpPr/>
          <p:nvPr/>
        </p:nvSpPr>
        <p:spPr>
          <a:xfrm>
            <a:off x="3169521" y="3449637"/>
            <a:ext cx="6402753" cy="265245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8FA2C43-ABAF-0C4E-A0F3-C1E1C73DB9ED}"/>
              </a:ext>
            </a:extLst>
          </p:cNvPr>
          <p:cNvSpPr txBox="1"/>
          <p:nvPr/>
        </p:nvSpPr>
        <p:spPr>
          <a:xfrm>
            <a:off x="6562400" y="6191377"/>
            <a:ext cx="426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FFC000"/>
                </a:solidFill>
              </a:rPr>
              <a:t>Imperfect-Information Subgame</a:t>
            </a:r>
            <a:endParaRPr kumimoji="1" lang="zh-TW" altLang="en-US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7</a:t>
            </a:fld>
            <a:endParaRPr kumimoji="1" lang="zh-TW" altLang="en-US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AF9D3368-5225-D940-B806-5D1C3B24ED64}"/>
              </a:ext>
            </a:extLst>
          </p:cNvPr>
          <p:cNvGrpSpPr/>
          <p:nvPr/>
        </p:nvGrpSpPr>
        <p:grpSpPr>
          <a:xfrm>
            <a:off x="3610565" y="1717075"/>
            <a:ext cx="5537109" cy="4212546"/>
            <a:chOff x="3998096" y="1619104"/>
            <a:chExt cx="5537109" cy="4212546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52EE23F6-1DF6-FA40-978C-5B061E365D6D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C546A0B0-F835-134A-98B2-89F0F81D8C86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51D4EA94-76D2-834C-882A-7288BAE03339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單箭頭接點 8">
              <a:extLst>
                <a:ext uri="{FF2B5EF4-FFF2-40B4-BE49-F238E27FC236}">
                  <a16:creationId xmlns:a16="http://schemas.microsoft.com/office/drawing/2014/main" id="{0CBE6447-4F12-7F47-9998-6B1E3D7384B9}"/>
                </a:ext>
              </a:extLst>
            </p:cNvPr>
            <p:cNvCxnSpPr>
              <a:cxnSpLocks/>
              <a:stCxn id="39" idx="3"/>
              <a:endCxn id="41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10">
              <a:extLst>
                <a:ext uri="{FF2B5EF4-FFF2-40B4-BE49-F238E27FC236}">
                  <a16:creationId xmlns:a16="http://schemas.microsoft.com/office/drawing/2014/main" id="{AD81F0EE-820C-A841-B6B1-E5D94FE54591}"/>
                </a:ext>
              </a:extLst>
            </p:cNvPr>
            <p:cNvCxnSpPr>
              <a:cxnSpLocks/>
              <a:stCxn id="39" idx="5"/>
              <a:endCxn id="42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C5C5E4AF-44C2-FE46-8891-ADC90C71675C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線單箭頭接點 18">
              <a:extLst>
                <a:ext uri="{FF2B5EF4-FFF2-40B4-BE49-F238E27FC236}">
                  <a16:creationId xmlns:a16="http://schemas.microsoft.com/office/drawing/2014/main" id="{E6F79B7E-B6D6-A54A-AF5B-DED50DE8998E}"/>
                </a:ext>
              </a:extLst>
            </p:cNvPr>
            <p:cNvCxnSpPr>
              <a:cxnSpLocks/>
              <a:stCxn id="41" idx="5"/>
              <a:endCxn id="45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9F2C30D0-12F3-584C-BD48-136775BD06C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線單箭頭接點 27">
              <a:extLst>
                <a:ext uri="{FF2B5EF4-FFF2-40B4-BE49-F238E27FC236}">
                  <a16:creationId xmlns:a16="http://schemas.microsoft.com/office/drawing/2014/main" id="{1B0B0C49-923C-3349-809E-9A654B9F3F3F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29">
              <a:extLst>
                <a:ext uri="{FF2B5EF4-FFF2-40B4-BE49-F238E27FC236}">
                  <a16:creationId xmlns:a16="http://schemas.microsoft.com/office/drawing/2014/main" id="{63320617-A8F2-EE45-B1A5-C813D25A4490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1">
              <a:extLst>
                <a:ext uri="{FF2B5EF4-FFF2-40B4-BE49-F238E27FC236}">
                  <a16:creationId xmlns:a16="http://schemas.microsoft.com/office/drawing/2014/main" id="{971194E4-79CF-6641-A7A0-EF961E7562D8}"/>
                </a:ext>
              </a:extLst>
            </p:cNvPr>
            <p:cNvCxnSpPr>
              <a:cxnSpLocks/>
              <a:stCxn id="42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42">
              <a:extLst>
                <a:ext uri="{FF2B5EF4-FFF2-40B4-BE49-F238E27FC236}">
                  <a16:creationId xmlns:a16="http://schemas.microsoft.com/office/drawing/2014/main" id="{92CCB9D4-44A9-2A41-82F6-E4809B5340EB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44">
              <a:extLst>
                <a:ext uri="{FF2B5EF4-FFF2-40B4-BE49-F238E27FC236}">
                  <a16:creationId xmlns:a16="http://schemas.microsoft.com/office/drawing/2014/main" id="{89774A6F-A53B-A343-BF93-B3BB69C49083}"/>
                </a:ext>
              </a:extLst>
            </p:cNvPr>
            <p:cNvCxnSpPr>
              <a:cxnSpLocks/>
              <a:stCxn id="45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48">
              <a:extLst>
                <a:ext uri="{FF2B5EF4-FFF2-40B4-BE49-F238E27FC236}">
                  <a16:creationId xmlns:a16="http://schemas.microsoft.com/office/drawing/2014/main" id="{5DADE774-88B0-6A4A-9D50-90EEED524557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0">
              <a:extLst>
                <a:ext uri="{FF2B5EF4-FFF2-40B4-BE49-F238E27FC236}">
                  <a16:creationId xmlns:a16="http://schemas.microsoft.com/office/drawing/2014/main" id="{0947AEDE-A93F-B843-8C0D-430FAECFFB7B}"/>
                </a:ext>
              </a:extLst>
            </p:cNvPr>
            <p:cNvCxnSpPr>
              <a:cxnSpLocks/>
              <a:stCxn id="47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D5E08CB2-0DED-1F4F-BE94-CDB7D55FE383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CEFFD019-0910-7549-9DA8-77F8C43FD4F4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14B7F449-6247-E441-83BD-448DF4100805}"/>
                </a:ext>
              </a:extLst>
            </p:cNvPr>
            <p:cNvSpPr txBox="1"/>
            <p:nvPr/>
          </p:nvSpPr>
          <p:spPr>
            <a:xfrm rot="19288165">
              <a:off x="3998096" y="303477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61209C1A-4DC8-834B-A7EA-6DEB9F762921}"/>
                </a:ext>
              </a:extLst>
            </p:cNvPr>
            <p:cNvSpPr txBox="1"/>
            <p:nvPr/>
          </p:nvSpPr>
          <p:spPr>
            <a:xfrm rot="19288165">
              <a:off x="6828191" y="302771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F553B785-4F05-4A49-9AC3-BE47B453A63F}"/>
                </a:ext>
              </a:extLst>
            </p:cNvPr>
            <p:cNvSpPr txBox="1"/>
            <p:nvPr/>
          </p:nvSpPr>
          <p:spPr>
            <a:xfrm rot="2276392">
              <a:off x="5411631" y="304457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AA37E75-4558-F24E-8119-9AA4CB83EBD0}"/>
                </a:ext>
              </a:extLst>
            </p:cNvPr>
            <p:cNvSpPr txBox="1"/>
            <p:nvPr/>
          </p:nvSpPr>
          <p:spPr>
            <a:xfrm rot="2276392">
              <a:off x="8222541" y="3057157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C9E8A93A-A2FC-4345-A21D-440ED3B84C09}"/>
                </a:ext>
              </a:extLst>
            </p:cNvPr>
            <p:cNvCxnSpPr>
              <a:stCxn id="45" idx="6"/>
              <a:endCxn id="47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BFF8094-5A7E-5046-ACF3-B90DCFBF36FA}"/>
                </a:ext>
              </a:extLst>
            </p:cNvPr>
            <p:cNvSpPr txBox="1"/>
            <p:nvPr/>
          </p:nvSpPr>
          <p:spPr>
            <a:xfrm rot="17482236">
              <a:off x="4998250" y="4334215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2775ACC0-CB1A-B445-AC6D-ACD292B8343A}"/>
                </a:ext>
              </a:extLst>
            </p:cNvPr>
            <p:cNvSpPr txBox="1"/>
            <p:nvPr/>
          </p:nvSpPr>
          <p:spPr>
            <a:xfrm rot="17340842">
              <a:off x="7766061" y="4360564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E6AA2EF4-EBAE-0845-A2B6-1921AF93948C}"/>
                </a:ext>
              </a:extLst>
            </p:cNvPr>
            <p:cNvSpPr txBox="1"/>
            <p:nvPr/>
          </p:nvSpPr>
          <p:spPr>
            <a:xfrm rot="4407779">
              <a:off x="5816832" y="4356796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F4FBA2E3-FC28-2046-9D42-76CE9F3772F5}"/>
                </a:ext>
              </a:extLst>
            </p:cNvPr>
            <p:cNvSpPr txBox="1"/>
            <p:nvPr/>
          </p:nvSpPr>
          <p:spPr>
            <a:xfrm rot="4200141">
              <a:off x="8602711" y="43790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0A8ECB18-761D-9841-B47C-D10C991BAD98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242C1EB5-3FE4-EE4B-9936-D5AF3E5728CD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282F7932-CC79-9045-967C-66D67BB93A17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20DB3B5-89BC-2B4D-8D6F-B7DE7DB3A0C2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4795B0E1-023B-3A40-92C7-28B74FDAEF3A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21CE2125-7765-F944-BD70-4C7AD6225C64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C4899E63-AD44-894E-94D7-2C4217292054}"/>
              </a:ext>
            </a:extLst>
          </p:cNvPr>
          <p:cNvSpPr txBox="1"/>
          <p:nvPr/>
        </p:nvSpPr>
        <p:spPr>
          <a:xfrm>
            <a:off x="5404637" y="3456006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D2251D8B-4228-324D-B474-D8301BA27A5A}"/>
              </a:ext>
            </a:extLst>
          </p:cNvPr>
          <p:cNvSpPr txBox="1"/>
          <p:nvPr/>
        </p:nvSpPr>
        <p:spPr>
          <a:xfrm>
            <a:off x="8369724" y="3450298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278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8</a:t>
            </a:fld>
            <a:endParaRPr kumimoji="1" lang="zh-TW" altLang="en-US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AF9D3368-5225-D940-B806-5D1C3B24ED64}"/>
              </a:ext>
            </a:extLst>
          </p:cNvPr>
          <p:cNvGrpSpPr/>
          <p:nvPr/>
        </p:nvGrpSpPr>
        <p:grpSpPr>
          <a:xfrm>
            <a:off x="3610565" y="1717075"/>
            <a:ext cx="5537109" cy="4212546"/>
            <a:chOff x="3998096" y="1619104"/>
            <a:chExt cx="5537109" cy="4212546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52EE23F6-1DF6-FA40-978C-5B061E365D6D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C546A0B0-F835-134A-98B2-89F0F81D8C86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51D4EA94-76D2-834C-882A-7288BAE03339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單箭頭接點 8">
              <a:extLst>
                <a:ext uri="{FF2B5EF4-FFF2-40B4-BE49-F238E27FC236}">
                  <a16:creationId xmlns:a16="http://schemas.microsoft.com/office/drawing/2014/main" id="{0CBE6447-4F12-7F47-9998-6B1E3D7384B9}"/>
                </a:ext>
              </a:extLst>
            </p:cNvPr>
            <p:cNvCxnSpPr>
              <a:cxnSpLocks/>
              <a:stCxn id="39" idx="3"/>
              <a:endCxn id="41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10">
              <a:extLst>
                <a:ext uri="{FF2B5EF4-FFF2-40B4-BE49-F238E27FC236}">
                  <a16:creationId xmlns:a16="http://schemas.microsoft.com/office/drawing/2014/main" id="{AD81F0EE-820C-A841-B6B1-E5D94FE54591}"/>
                </a:ext>
              </a:extLst>
            </p:cNvPr>
            <p:cNvCxnSpPr>
              <a:cxnSpLocks/>
              <a:stCxn id="39" idx="5"/>
              <a:endCxn id="42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C5C5E4AF-44C2-FE46-8891-ADC90C71675C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線單箭頭接點 18">
              <a:extLst>
                <a:ext uri="{FF2B5EF4-FFF2-40B4-BE49-F238E27FC236}">
                  <a16:creationId xmlns:a16="http://schemas.microsoft.com/office/drawing/2014/main" id="{E6F79B7E-B6D6-A54A-AF5B-DED50DE8998E}"/>
                </a:ext>
              </a:extLst>
            </p:cNvPr>
            <p:cNvCxnSpPr>
              <a:cxnSpLocks/>
              <a:stCxn id="41" idx="5"/>
              <a:endCxn id="45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9F2C30D0-12F3-584C-BD48-136775BD06C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線單箭頭接點 27">
              <a:extLst>
                <a:ext uri="{FF2B5EF4-FFF2-40B4-BE49-F238E27FC236}">
                  <a16:creationId xmlns:a16="http://schemas.microsoft.com/office/drawing/2014/main" id="{1B0B0C49-923C-3349-809E-9A654B9F3F3F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29">
              <a:extLst>
                <a:ext uri="{FF2B5EF4-FFF2-40B4-BE49-F238E27FC236}">
                  <a16:creationId xmlns:a16="http://schemas.microsoft.com/office/drawing/2014/main" id="{63320617-A8F2-EE45-B1A5-C813D25A4490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1">
              <a:extLst>
                <a:ext uri="{FF2B5EF4-FFF2-40B4-BE49-F238E27FC236}">
                  <a16:creationId xmlns:a16="http://schemas.microsoft.com/office/drawing/2014/main" id="{971194E4-79CF-6641-A7A0-EF961E7562D8}"/>
                </a:ext>
              </a:extLst>
            </p:cNvPr>
            <p:cNvCxnSpPr>
              <a:cxnSpLocks/>
              <a:stCxn id="42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42">
              <a:extLst>
                <a:ext uri="{FF2B5EF4-FFF2-40B4-BE49-F238E27FC236}">
                  <a16:creationId xmlns:a16="http://schemas.microsoft.com/office/drawing/2014/main" id="{92CCB9D4-44A9-2A41-82F6-E4809B5340EB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44">
              <a:extLst>
                <a:ext uri="{FF2B5EF4-FFF2-40B4-BE49-F238E27FC236}">
                  <a16:creationId xmlns:a16="http://schemas.microsoft.com/office/drawing/2014/main" id="{89774A6F-A53B-A343-BF93-B3BB69C49083}"/>
                </a:ext>
              </a:extLst>
            </p:cNvPr>
            <p:cNvCxnSpPr>
              <a:cxnSpLocks/>
              <a:stCxn id="45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48">
              <a:extLst>
                <a:ext uri="{FF2B5EF4-FFF2-40B4-BE49-F238E27FC236}">
                  <a16:creationId xmlns:a16="http://schemas.microsoft.com/office/drawing/2014/main" id="{5DADE774-88B0-6A4A-9D50-90EEED524557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0">
              <a:extLst>
                <a:ext uri="{FF2B5EF4-FFF2-40B4-BE49-F238E27FC236}">
                  <a16:creationId xmlns:a16="http://schemas.microsoft.com/office/drawing/2014/main" id="{0947AEDE-A93F-B843-8C0D-430FAECFFB7B}"/>
                </a:ext>
              </a:extLst>
            </p:cNvPr>
            <p:cNvCxnSpPr>
              <a:cxnSpLocks/>
              <a:stCxn id="47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D5E08CB2-0DED-1F4F-BE94-CDB7D55FE383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CEFFD019-0910-7549-9DA8-77F8C43FD4F4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14B7F449-6247-E441-83BD-448DF4100805}"/>
                </a:ext>
              </a:extLst>
            </p:cNvPr>
            <p:cNvSpPr txBox="1"/>
            <p:nvPr/>
          </p:nvSpPr>
          <p:spPr>
            <a:xfrm rot="19288165">
              <a:off x="3998096" y="303477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61209C1A-4DC8-834B-A7EA-6DEB9F762921}"/>
                </a:ext>
              </a:extLst>
            </p:cNvPr>
            <p:cNvSpPr txBox="1"/>
            <p:nvPr/>
          </p:nvSpPr>
          <p:spPr>
            <a:xfrm rot="19288165">
              <a:off x="6828191" y="302771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F553B785-4F05-4A49-9AC3-BE47B453A63F}"/>
                </a:ext>
              </a:extLst>
            </p:cNvPr>
            <p:cNvSpPr txBox="1"/>
            <p:nvPr/>
          </p:nvSpPr>
          <p:spPr>
            <a:xfrm rot="2276392">
              <a:off x="5411631" y="304457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AA37E75-4558-F24E-8119-9AA4CB83EBD0}"/>
                </a:ext>
              </a:extLst>
            </p:cNvPr>
            <p:cNvSpPr txBox="1"/>
            <p:nvPr/>
          </p:nvSpPr>
          <p:spPr>
            <a:xfrm rot="2276392">
              <a:off x="8222541" y="3057157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C9E8A93A-A2FC-4345-A21D-440ED3B84C09}"/>
                </a:ext>
              </a:extLst>
            </p:cNvPr>
            <p:cNvCxnSpPr>
              <a:stCxn id="45" idx="6"/>
              <a:endCxn id="47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BFF8094-5A7E-5046-ACF3-B90DCFBF36FA}"/>
                </a:ext>
              </a:extLst>
            </p:cNvPr>
            <p:cNvSpPr txBox="1"/>
            <p:nvPr/>
          </p:nvSpPr>
          <p:spPr>
            <a:xfrm rot="17482236">
              <a:off x="4998250" y="4334215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2775ACC0-CB1A-B445-AC6D-ACD292B8343A}"/>
                </a:ext>
              </a:extLst>
            </p:cNvPr>
            <p:cNvSpPr txBox="1"/>
            <p:nvPr/>
          </p:nvSpPr>
          <p:spPr>
            <a:xfrm rot="17340842">
              <a:off x="7766061" y="4360564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E6AA2EF4-EBAE-0845-A2B6-1921AF93948C}"/>
                </a:ext>
              </a:extLst>
            </p:cNvPr>
            <p:cNvSpPr txBox="1"/>
            <p:nvPr/>
          </p:nvSpPr>
          <p:spPr>
            <a:xfrm rot="4407779">
              <a:off x="5816832" y="4356796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F4FBA2E3-FC28-2046-9D42-76CE9F3772F5}"/>
                </a:ext>
              </a:extLst>
            </p:cNvPr>
            <p:cNvSpPr txBox="1"/>
            <p:nvPr/>
          </p:nvSpPr>
          <p:spPr>
            <a:xfrm rot="4200141">
              <a:off x="8602711" y="43790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0A8ECB18-761D-9841-B47C-D10C991BAD98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242C1EB5-3FE4-EE4B-9936-D5AF3E5728CD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282F7932-CC79-9045-967C-66D67BB93A17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20DB3B5-89BC-2B4D-8D6F-B7DE7DB3A0C2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4795B0E1-023B-3A40-92C7-28B74FDAEF3A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21CE2125-7765-F944-BD70-4C7AD6225C64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C4899E63-AD44-894E-94D7-2C4217292054}"/>
              </a:ext>
            </a:extLst>
          </p:cNvPr>
          <p:cNvSpPr txBox="1"/>
          <p:nvPr/>
        </p:nvSpPr>
        <p:spPr>
          <a:xfrm>
            <a:off x="5404637" y="3456006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D2251D8B-4228-324D-B474-D8301BA27A5A}"/>
              </a:ext>
            </a:extLst>
          </p:cNvPr>
          <p:cNvSpPr txBox="1"/>
          <p:nvPr/>
        </p:nvSpPr>
        <p:spPr>
          <a:xfrm>
            <a:off x="8369724" y="3450298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F725FFD3-18B8-8148-B67C-FA3DB888D159}"/>
              </a:ext>
            </a:extLst>
          </p:cNvPr>
          <p:cNvSpPr/>
          <p:nvPr/>
        </p:nvSpPr>
        <p:spPr>
          <a:xfrm>
            <a:off x="3472082" y="3609992"/>
            <a:ext cx="1153505" cy="603570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9FBA304C-02F5-2744-9DC3-EF7DE5554C40}"/>
              </a:ext>
            </a:extLst>
          </p:cNvPr>
          <p:cNvSpPr/>
          <p:nvPr/>
        </p:nvSpPr>
        <p:spPr>
          <a:xfrm>
            <a:off x="8248107" y="3368945"/>
            <a:ext cx="1153505" cy="603570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853CC6-AA8E-B14B-84B5-5F499FCFA1B9}"/>
              </a:ext>
            </a:extLst>
          </p:cNvPr>
          <p:cNvSpPr txBox="1"/>
          <p:nvPr/>
        </p:nvSpPr>
        <p:spPr>
          <a:xfrm>
            <a:off x="1463918" y="3626100"/>
            <a:ext cx="2223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7030A0"/>
                </a:solidFill>
              </a:rPr>
              <a:t>Heads EV = 0.5</a:t>
            </a:r>
          </a:p>
          <a:p>
            <a:r>
              <a:rPr kumimoji="1" lang="en-US" altLang="zh-TW" b="1" dirty="0">
                <a:solidFill>
                  <a:srgbClr val="7030A0"/>
                </a:solidFill>
              </a:rPr>
              <a:t>Tails EV = 1.0</a:t>
            </a:r>
          </a:p>
          <a:p>
            <a:r>
              <a:rPr kumimoji="1" lang="en-US" altLang="zh-TW" b="1" dirty="0">
                <a:solidFill>
                  <a:srgbClr val="7030A0"/>
                </a:solidFill>
              </a:rPr>
              <a:t>Average = 0.75</a:t>
            </a:r>
            <a:endParaRPr kumimoji="1" lang="zh-TW" alt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317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9</a:t>
            </a:fld>
            <a:endParaRPr kumimoji="1" lang="zh-TW" altLang="en-US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AF9D3368-5225-D940-B806-5D1C3B24ED64}"/>
              </a:ext>
            </a:extLst>
          </p:cNvPr>
          <p:cNvGrpSpPr/>
          <p:nvPr/>
        </p:nvGrpSpPr>
        <p:grpSpPr>
          <a:xfrm>
            <a:off x="3610565" y="1717075"/>
            <a:ext cx="5537109" cy="4212546"/>
            <a:chOff x="3998096" y="1619104"/>
            <a:chExt cx="5537109" cy="4212546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52EE23F6-1DF6-FA40-978C-5B061E365D6D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C546A0B0-F835-134A-98B2-89F0F81D8C86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51D4EA94-76D2-834C-882A-7288BAE03339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單箭頭接點 8">
              <a:extLst>
                <a:ext uri="{FF2B5EF4-FFF2-40B4-BE49-F238E27FC236}">
                  <a16:creationId xmlns:a16="http://schemas.microsoft.com/office/drawing/2014/main" id="{0CBE6447-4F12-7F47-9998-6B1E3D7384B9}"/>
                </a:ext>
              </a:extLst>
            </p:cNvPr>
            <p:cNvCxnSpPr>
              <a:cxnSpLocks/>
              <a:stCxn id="39" idx="3"/>
              <a:endCxn id="41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10">
              <a:extLst>
                <a:ext uri="{FF2B5EF4-FFF2-40B4-BE49-F238E27FC236}">
                  <a16:creationId xmlns:a16="http://schemas.microsoft.com/office/drawing/2014/main" id="{AD81F0EE-820C-A841-B6B1-E5D94FE54591}"/>
                </a:ext>
              </a:extLst>
            </p:cNvPr>
            <p:cNvCxnSpPr>
              <a:cxnSpLocks/>
              <a:stCxn id="39" idx="5"/>
              <a:endCxn id="42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C5C5E4AF-44C2-FE46-8891-ADC90C71675C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線單箭頭接點 18">
              <a:extLst>
                <a:ext uri="{FF2B5EF4-FFF2-40B4-BE49-F238E27FC236}">
                  <a16:creationId xmlns:a16="http://schemas.microsoft.com/office/drawing/2014/main" id="{E6F79B7E-B6D6-A54A-AF5B-DED50DE8998E}"/>
                </a:ext>
              </a:extLst>
            </p:cNvPr>
            <p:cNvCxnSpPr>
              <a:cxnSpLocks/>
              <a:stCxn id="41" idx="5"/>
              <a:endCxn id="45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9F2C30D0-12F3-584C-BD48-136775BD06C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線單箭頭接點 27">
              <a:extLst>
                <a:ext uri="{FF2B5EF4-FFF2-40B4-BE49-F238E27FC236}">
                  <a16:creationId xmlns:a16="http://schemas.microsoft.com/office/drawing/2014/main" id="{1B0B0C49-923C-3349-809E-9A654B9F3F3F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29">
              <a:extLst>
                <a:ext uri="{FF2B5EF4-FFF2-40B4-BE49-F238E27FC236}">
                  <a16:creationId xmlns:a16="http://schemas.microsoft.com/office/drawing/2014/main" id="{63320617-A8F2-EE45-B1A5-C813D25A4490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1">
              <a:extLst>
                <a:ext uri="{FF2B5EF4-FFF2-40B4-BE49-F238E27FC236}">
                  <a16:creationId xmlns:a16="http://schemas.microsoft.com/office/drawing/2014/main" id="{971194E4-79CF-6641-A7A0-EF961E7562D8}"/>
                </a:ext>
              </a:extLst>
            </p:cNvPr>
            <p:cNvCxnSpPr>
              <a:cxnSpLocks/>
              <a:stCxn id="42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42">
              <a:extLst>
                <a:ext uri="{FF2B5EF4-FFF2-40B4-BE49-F238E27FC236}">
                  <a16:creationId xmlns:a16="http://schemas.microsoft.com/office/drawing/2014/main" id="{92CCB9D4-44A9-2A41-82F6-E4809B5340EB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44">
              <a:extLst>
                <a:ext uri="{FF2B5EF4-FFF2-40B4-BE49-F238E27FC236}">
                  <a16:creationId xmlns:a16="http://schemas.microsoft.com/office/drawing/2014/main" id="{89774A6F-A53B-A343-BF93-B3BB69C49083}"/>
                </a:ext>
              </a:extLst>
            </p:cNvPr>
            <p:cNvCxnSpPr>
              <a:cxnSpLocks/>
              <a:stCxn id="45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48">
              <a:extLst>
                <a:ext uri="{FF2B5EF4-FFF2-40B4-BE49-F238E27FC236}">
                  <a16:creationId xmlns:a16="http://schemas.microsoft.com/office/drawing/2014/main" id="{5DADE774-88B0-6A4A-9D50-90EEED524557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0">
              <a:extLst>
                <a:ext uri="{FF2B5EF4-FFF2-40B4-BE49-F238E27FC236}">
                  <a16:creationId xmlns:a16="http://schemas.microsoft.com/office/drawing/2014/main" id="{0947AEDE-A93F-B843-8C0D-430FAECFFB7B}"/>
                </a:ext>
              </a:extLst>
            </p:cNvPr>
            <p:cNvCxnSpPr>
              <a:cxnSpLocks/>
              <a:stCxn id="47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D5E08CB2-0DED-1F4F-BE94-CDB7D55FE383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CEFFD019-0910-7549-9DA8-77F8C43FD4F4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14B7F449-6247-E441-83BD-448DF4100805}"/>
                </a:ext>
              </a:extLst>
            </p:cNvPr>
            <p:cNvSpPr txBox="1"/>
            <p:nvPr/>
          </p:nvSpPr>
          <p:spPr>
            <a:xfrm rot="19288165">
              <a:off x="3998096" y="303477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61209C1A-4DC8-834B-A7EA-6DEB9F762921}"/>
                </a:ext>
              </a:extLst>
            </p:cNvPr>
            <p:cNvSpPr txBox="1"/>
            <p:nvPr/>
          </p:nvSpPr>
          <p:spPr>
            <a:xfrm rot="19288165">
              <a:off x="6828191" y="302771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F553B785-4F05-4A49-9AC3-BE47B453A63F}"/>
                </a:ext>
              </a:extLst>
            </p:cNvPr>
            <p:cNvSpPr txBox="1"/>
            <p:nvPr/>
          </p:nvSpPr>
          <p:spPr>
            <a:xfrm rot="2276392">
              <a:off x="5411631" y="304457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AA37E75-4558-F24E-8119-9AA4CB83EBD0}"/>
                </a:ext>
              </a:extLst>
            </p:cNvPr>
            <p:cNvSpPr txBox="1"/>
            <p:nvPr/>
          </p:nvSpPr>
          <p:spPr>
            <a:xfrm rot="2276392">
              <a:off x="8222541" y="3057157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C9E8A93A-A2FC-4345-A21D-440ED3B84C09}"/>
                </a:ext>
              </a:extLst>
            </p:cNvPr>
            <p:cNvCxnSpPr>
              <a:stCxn id="45" idx="6"/>
              <a:endCxn id="47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BFF8094-5A7E-5046-ACF3-B90DCFBF36FA}"/>
                </a:ext>
              </a:extLst>
            </p:cNvPr>
            <p:cNvSpPr txBox="1"/>
            <p:nvPr/>
          </p:nvSpPr>
          <p:spPr>
            <a:xfrm rot="17482236">
              <a:off x="4998250" y="4334215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2775ACC0-CB1A-B445-AC6D-ACD292B8343A}"/>
                </a:ext>
              </a:extLst>
            </p:cNvPr>
            <p:cNvSpPr txBox="1"/>
            <p:nvPr/>
          </p:nvSpPr>
          <p:spPr>
            <a:xfrm rot="17340842">
              <a:off x="7766061" y="4360564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E6AA2EF4-EBAE-0845-A2B6-1921AF93948C}"/>
                </a:ext>
              </a:extLst>
            </p:cNvPr>
            <p:cNvSpPr txBox="1"/>
            <p:nvPr/>
          </p:nvSpPr>
          <p:spPr>
            <a:xfrm rot="4407779">
              <a:off x="5816832" y="4356796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F4FBA2E3-FC28-2046-9D42-76CE9F3772F5}"/>
                </a:ext>
              </a:extLst>
            </p:cNvPr>
            <p:cNvSpPr txBox="1"/>
            <p:nvPr/>
          </p:nvSpPr>
          <p:spPr>
            <a:xfrm rot="4200141">
              <a:off x="8602711" y="43790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0A8ECB18-761D-9841-B47C-D10C991BAD98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242C1EB5-3FE4-EE4B-9936-D5AF3E5728CD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282F7932-CC79-9045-967C-66D67BB93A17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20DB3B5-89BC-2B4D-8D6F-B7DE7DB3A0C2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4795B0E1-023B-3A40-92C7-28B74FDAEF3A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21CE2125-7765-F944-BD70-4C7AD6225C64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C4899E63-AD44-894E-94D7-2C4217292054}"/>
              </a:ext>
            </a:extLst>
          </p:cNvPr>
          <p:cNvSpPr txBox="1"/>
          <p:nvPr/>
        </p:nvSpPr>
        <p:spPr>
          <a:xfrm>
            <a:off x="5404637" y="3456006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D2251D8B-4228-324D-B474-D8301BA27A5A}"/>
              </a:ext>
            </a:extLst>
          </p:cNvPr>
          <p:cNvSpPr txBox="1"/>
          <p:nvPr/>
        </p:nvSpPr>
        <p:spPr>
          <a:xfrm>
            <a:off x="8369724" y="3450298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006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10</a:t>
            </a:fld>
            <a:endParaRPr kumimoji="1" lang="zh-TW" altLang="en-US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AF9D3368-5225-D940-B806-5D1C3B24ED64}"/>
              </a:ext>
            </a:extLst>
          </p:cNvPr>
          <p:cNvGrpSpPr/>
          <p:nvPr/>
        </p:nvGrpSpPr>
        <p:grpSpPr>
          <a:xfrm>
            <a:off x="3610565" y="1717075"/>
            <a:ext cx="5537109" cy="4212546"/>
            <a:chOff x="3998096" y="1619104"/>
            <a:chExt cx="5537109" cy="4212546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52EE23F6-1DF6-FA40-978C-5B061E365D6D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C546A0B0-F835-134A-98B2-89F0F81D8C86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51D4EA94-76D2-834C-882A-7288BAE03339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單箭頭接點 8">
              <a:extLst>
                <a:ext uri="{FF2B5EF4-FFF2-40B4-BE49-F238E27FC236}">
                  <a16:creationId xmlns:a16="http://schemas.microsoft.com/office/drawing/2014/main" id="{0CBE6447-4F12-7F47-9998-6B1E3D7384B9}"/>
                </a:ext>
              </a:extLst>
            </p:cNvPr>
            <p:cNvCxnSpPr>
              <a:cxnSpLocks/>
              <a:stCxn id="39" idx="3"/>
              <a:endCxn id="41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10">
              <a:extLst>
                <a:ext uri="{FF2B5EF4-FFF2-40B4-BE49-F238E27FC236}">
                  <a16:creationId xmlns:a16="http://schemas.microsoft.com/office/drawing/2014/main" id="{AD81F0EE-820C-A841-B6B1-E5D94FE54591}"/>
                </a:ext>
              </a:extLst>
            </p:cNvPr>
            <p:cNvCxnSpPr>
              <a:cxnSpLocks/>
              <a:stCxn id="39" idx="5"/>
              <a:endCxn id="42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C5C5E4AF-44C2-FE46-8891-ADC90C71675C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線單箭頭接點 18">
              <a:extLst>
                <a:ext uri="{FF2B5EF4-FFF2-40B4-BE49-F238E27FC236}">
                  <a16:creationId xmlns:a16="http://schemas.microsoft.com/office/drawing/2014/main" id="{E6F79B7E-B6D6-A54A-AF5B-DED50DE8998E}"/>
                </a:ext>
              </a:extLst>
            </p:cNvPr>
            <p:cNvCxnSpPr>
              <a:cxnSpLocks/>
              <a:stCxn id="41" idx="5"/>
              <a:endCxn id="45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9F2C30D0-12F3-584C-BD48-136775BD06C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線單箭頭接點 27">
              <a:extLst>
                <a:ext uri="{FF2B5EF4-FFF2-40B4-BE49-F238E27FC236}">
                  <a16:creationId xmlns:a16="http://schemas.microsoft.com/office/drawing/2014/main" id="{1B0B0C49-923C-3349-809E-9A654B9F3F3F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29">
              <a:extLst>
                <a:ext uri="{FF2B5EF4-FFF2-40B4-BE49-F238E27FC236}">
                  <a16:creationId xmlns:a16="http://schemas.microsoft.com/office/drawing/2014/main" id="{63320617-A8F2-EE45-B1A5-C813D25A4490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1">
              <a:extLst>
                <a:ext uri="{FF2B5EF4-FFF2-40B4-BE49-F238E27FC236}">
                  <a16:creationId xmlns:a16="http://schemas.microsoft.com/office/drawing/2014/main" id="{971194E4-79CF-6641-A7A0-EF961E7562D8}"/>
                </a:ext>
              </a:extLst>
            </p:cNvPr>
            <p:cNvCxnSpPr>
              <a:cxnSpLocks/>
              <a:stCxn id="42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42">
              <a:extLst>
                <a:ext uri="{FF2B5EF4-FFF2-40B4-BE49-F238E27FC236}">
                  <a16:creationId xmlns:a16="http://schemas.microsoft.com/office/drawing/2014/main" id="{92CCB9D4-44A9-2A41-82F6-E4809B5340EB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44">
              <a:extLst>
                <a:ext uri="{FF2B5EF4-FFF2-40B4-BE49-F238E27FC236}">
                  <a16:creationId xmlns:a16="http://schemas.microsoft.com/office/drawing/2014/main" id="{89774A6F-A53B-A343-BF93-B3BB69C49083}"/>
                </a:ext>
              </a:extLst>
            </p:cNvPr>
            <p:cNvCxnSpPr>
              <a:cxnSpLocks/>
              <a:stCxn id="45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48">
              <a:extLst>
                <a:ext uri="{FF2B5EF4-FFF2-40B4-BE49-F238E27FC236}">
                  <a16:creationId xmlns:a16="http://schemas.microsoft.com/office/drawing/2014/main" id="{5DADE774-88B0-6A4A-9D50-90EEED524557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0">
              <a:extLst>
                <a:ext uri="{FF2B5EF4-FFF2-40B4-BE49-F238E27FC236}">
                  <a16:creationId xmlns:a16="http://schemas.microsoft.com/office/drawing/2014/main" id="{0947AEDE-A93F-B843-8C0D-430FAECFFB7B}"/>
                </a:ext>
              </a:extLst>
            </p:cNvPr>
            <p:cNvCxnSpPr>
              <a:cxnSpLocks/>
              <a:stCxn id="47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D5E08CB2-0DED-1F4F-BE94-CDB7D55FE383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CEFFD019-0910-7549-9DA8-77F8C43FD4F4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14B7F449-6247-E441-83BD-448DF4100805}"/>
                </a:ext>
              </a:extLst>
            </p:cNvPr>
            <p:cNvSpPr txBox="1"/>
            <p:nvPr/>
          </p:nvSpPr>
          <p:spPr>
            <a:xfrm rot="19288165">
              <a:off x="3998096" y="303477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61209C1A-4DC8-834B-A7EA-6DEB9F762921}"/>
                </a:ext>
              </a:extLst>
            </p:cNvPr>
            <p:cNvSpPr txBox="1"/>
            <p:nvPr/>
          </p:nvSpPr>
          <p:spPr>
            <a:xfrm rot="19288165">
              <a:off x="6828191" y="302771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F553B785-4F05-4A49-9AC3-BE47B453A63F}"/>
                </a:ext>
              </a:extLst>
            </p:cNvPr>
            <p:cNvSpPr txBox="1"/>
            <p:nvPr/>
          </p:nvSpPr>
          <p:spPr>
            <a:xfrm rot="2276392">
              <a:off x="5411631" y="304457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AA37E75-4558-F24E-8119-9AA4CB83EBD0}"/>
                </a:ext>
              </a:extLst>
            </p:cNvPr>
            <p:cNvSpPr txBox="1"/>
            <p:nvPr/>
          </p:nvSpPr>
          <p:spPr>
            <a:xfrm rot="2276392">
              <a:off x="8222541" y="3057157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C9E8A93A-A2FC-4345-A21D-440ED3B84C09}"/>
                </a:ext>
              </a:extLst>
            </p:cNvPr>
            <p:cNvCxnSpPr>
              <a:stCxn id="45" idx="6"/>
              <a:endCxn id="47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BFF8094-5A7E-5046-ACF3-B90DCFBF36FA}"/>
                </a:ext>
              </a:extLst>
            </p:cNvPr>
            <p:cNvSpPr txBox="1"/>
            <p:nvPr/>
          </p:nvSpPr>
          <p:spPr>
            <a:xfrm rot="17482236">
              <a:off x="4998250" y="4334215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2775ACC0-CB1A-B445-AC6D-ACD292B8343A}"/>
                </a:ext>
              </a:extLst>
            </p:cNvPr>
            <p:cNvSpPr txBox="1"/>
            <p:nvPr/>
          </p:nvSpPr>
          <p:spPr>
            <a:xfrm rot="17340842">
              <a:off x="7766061" y="4360564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E6AA2EF4-EBAE-0845-A2B6-1921AF93948C}"/>
                </a:ext>
              </a:extLst>
            </p:cNvPr>
            <p:cNvSpPr txBox="1"/>
            <p:nvPr/>
          </p:nvSpPr>
          <p:spPr>
            <a:xfrm rot="4407779">
              <a:off x="5816832" y="4356796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F4FBA2E3-FC28-2046-9D42-76CE9F3772F5}"/>
                </a:ext>
              </a:extLst>
            </p:cNvPr>
            <p:cNvSpPr txBox="1"/>
            <p:nvPr/>
          </p:nvSpPr>
          <p:spPr>
            <a:xfrm rot="4200141">
              <a:off x="8602711" y="43790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0A8ECB18-761D-9841-B47C-D10C991BAD98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242C1EB5-3FE4-EE4B-9936-D5AF3E5728CD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282F7932-CC79-9045-967C-66D67BB93A17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20DB3B5-89BC-2B4D-8D6F-B7DE7DB3A0C2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4795B0E1-023B-3A40-92C7-28B74FDAEF3A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21CE2125-7765-F944-BD70-4C7AD6225C64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C4899E63-AD44-894E-94D7-2C4217292054}"/>
              </a:ext>
            </a:extLst>
          </p:cNvPr>
          <p:cNvSpPr txBox="1"/>
          <p:nvPr/>
        </p:nvSpPr>
        <p:spPr>
          <a:xfrm>
            <a:off x="5404637" y="3456006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D2251D8B-4228-324D-B474-D8301BA27A5A}"/>
              </a:ext>
            </a:extLst>
          </p:cNvPr>
          <p:cNvSpPr txBox="1"/>
          <p:nvPr/>
        </p:nvSpPr>
        <p:spPr>
          <a:xfrm>
            <a:off x="8369724" y="3450298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23413704-8B38-9D4D-BA9B-B3ED867BEB3D}"/>
              </a:ext>
            </a:extLst>
          </p:cNvPr>
          <p:cNvSpPr/>
          <p:nvPr/>
        </p:nvSpPr>
        <p:spPr>
          <a:xfrm>
            <a:off x="5233478" y="3327258"/>
            <a:ext cx="1153505" cy="603570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28424B14-3A70-8847-9865-4AF34E1939A9}"/>
              </a:ext>
            </a:extLst>
          </p:cNvPr>
          <p:cNvSpPr/>
          <p:nvPr/>
        </p:nvSpPr>
        <p:spPr>
          <a:xfrm>
            <a:off x="6268954" y="3621968"/>
            <a:ext cx="1153505" cy="603570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9ED5DA2-7C0C-7E4F-B65A-CBA37183649F}"/>
              </a:ext>
            </a:extLst>
          </p:cNvPr>
          <p:cNvSpPr txBox="1"/>
          <p:nvPr/>
        </p:nvSpPr>
        <p:spPr>
          <a:xfrm>
            <a:off x="1463918" y="3626100"/>
            <a:ext cx="2223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7030A0"/>
                </a:solidFill>
              </a:rPr>
              <a:t>Heads EV = 1.0</a:t>
            </a:r>
          </a:p>
          <a:p>
            <a:r>
              <a:rPr kumimoji="1" lang="en-US" altLang="zh-TW" b="1" dirty="0">
                <a:solidFill>
                  <a:srgbClr val="7030A0"/>
                </a:solidFill>
              </a:rPr>
              <a:t>Tails EV = -0.5</a:t>
            </a:r>
          </a:p>
          <a:p>
            <a:r>
              <a:rPr kumimoji="1" lang="en-US" altLang="zh-TW" b="1" dirty="0">
                <a:solidFill>
                  <a:srgbClr val="7030A0"/>
                </a:solidFill>
              </a:rPr>
              <a:t>Average = 0.25</a:t>
            </a:r>
            <a:endParaRPr kumimoji="1" lang="zh-TW" alt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39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11</a:t>
            </a:fld>
            <a:endParaRPr kumimoji="1" lang="zh-TW" altLang="en-US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AF9D3368-5225-D940-B806-5D1C3B24ED64}"/>
              </a:ext>
            </a:extLst>
          </p:cNvPr>
          <p:cNvGrpSpPr/>
          <p:nvPr/>
        </p:nvGrpSpPr>
        <p:grpSpPr>
          <a:xfrm>
            <a:off x="3610565" y="1717075"/>
            <a:ext cx="5537109" cy="4212546"/>
            <a:chOff x="3998096" y="1619104"/>
            <a:chExt cx="5537109" cy="4212546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52EE23F6-1DF6-FA40-978C-5B061E365D6D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C546A0B0-F835-134A-98B2-89F0F81D8C86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51D4EA94-76D2-834C-882A-7288BAE03339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單箭頭接點 8">
              <a:extLst>
                <a:ext uri="{FF2B5EF4-FFF2-40B4-BE49-F238E27FC236}">
                  <a16:creationId xmlns:a16="http://schemas.microsoft.com/office/drawing/2014/main" id="{0CBE6447-4F12-7F47-9998-6B1E3D7384B9}"/>
                </a:ext>
              </a:extLst>
            </p:cNvPr>
            <p:cNvCxnSpPr>
              <a:cxnSpLocks/>
              <a:stCxn id="39" idx="3"/>
              <a:endCxn id="41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10">
              <a:extLst>
                <a:ext uri="{FF2B5EF4-FFF2-40B4-BE49-F238E27FC236}">
                  <a16:creationId xmlns:a16="http://schemas.microsoft.com/office/drawing/2014/main" id="{AD81F0EE-820C-A841-B6B1-E5D94FE54591}"/>
                </a:ext>
              </a:extLst>
            </p:cNvPr>
            <p:cNvCxnSpPr>
              <a:cxnSpLocks/>
              <a:stCxn id="39" idx="5"/>
              <a:endCxn id="42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C5C5E4AF-44C2-FE46-8891-ADC90C71675C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線單箭頭接點 18">
              <a:extLst>
                <a:ext uri="{FF2B5EF4-FFF2-40B4-BE49-F238E27FC236}">
                  <a16:creationId xmlns:a16="http://schemas.microsoft.com/office/drawing/2014/main" id="{E6F79B7E-B6D6-A54A-AF5B-DED50DE8998E}"/>
                </a:ext>
              </a:extLst>
            </p:cNvPr>
            <p:cNvCxnSpPr>
              <a:cxnSpLocks/>
              <a:stCxn id="41" idx="5"/>
              <a:endCxn id="45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9F2C30D0-12F3-584C-BD48-136775BD06C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線單箭頭接點 27">
              <a:extLst>
                <a:ext uri="{FF2B5EF4-FFF2-40B4-BE49-F238E27FC236}">
                  <a16:creationId xmlns:a16="http://schemas.microsoft.com/office/drawing/2014/main" id="{1B0B0C49-923C-3349-809E-9A654B9F3F3F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29">
              <a:extLst>
                <a:ext uri="{FF2B5EF4-FFF2-40B4-BE49-F238E27FC236}">
                  <a16:creationId xmlns:a16="http://schemas.microsoft.com/office/drawing/2014/main" id="{63320617-A8F2-EE45-B1A5-C813D25A4490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31">
              <a:extLst>
                <a:ext uri="{FF2B5EF4-FFF2-40B4-BE49-F238E27FC236}">
                  <a16:creationId xmlns:a16="http://schemas.microsoft.com/office/drawing/2014/main" id="{971194E4-79CF-6641-A7A0-EF961E7562D8}"/>
                </a:ext>
              </a:extLst>
            </p:cNvPr>
            <p:cNvCxnSpPr>
              <a:cxnSpLocks/>
              <a:stCxn id="42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42">
              <a:extLst>
                <a:ext uri="{FF2B5EF4-FFF2-40B4-BE49-F238E27FC236}">
                  <a16:creationId xmlns:a16="http://schemas.microsoft.com/office/drawing/2014/main" id="{92CCB9D4-44A9-2A41-82F6-E4809B5340EB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44">
              <a:extLst>
                <a:ext uri="{FF2B5EF4-FFF2-40B4-BE49-F238E27FC236}">
                  <a16:creationId xmlns:a16="http://schemas.microsoft.com/office/drawing/2014/main" id="{89774A6F-A53B-A343-BF93-B3BB69C49083}"/>
                </a:ext>
              </a:extLst>
            </p:cNvPr>
            <p:cNvCxnSpPr>
              <a:cxnSpLocks/>
              <a:stCxn id="45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單箭頭接點 48">
              <a:extLst>
                <a:ext uri="{FF2B5EF4-FFF2-40B4-BE49-F238E27FC236}">
                  <a16:creationId xmlns:a16="http://schemas.microsoft.com/office/drawing/2014/main" id="{5DADE774-88B0-6A4A-9D50-90EEED524557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0">
              <a:extLst>
                <a:ext uri="{FF2B5EF4-FFF2-40B4-BE49-F238E27FC236}">
                  <a16:creationId xmlns:a16="http://schemas.microsoft.com/office/drawing/2014/main" id="{0947AEDE-A93F-B843-8C0D-430FAECFFB7B}"/>
                </a:ext>
              </a:extLst>
            </p:cNvPr>
            <p:cNvCxnSpPr>
              <a:cxnSpLocks/>
              <a:stCxn id="47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D5E08CB2-0DED-1F4F-BE94-CDB7D55FE383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CEFFD019-0910-7549-9DA8-77F8C43FD4F4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14B7F449-6247-E441-83BD-448DF4100805}"/>
                </a:ext>
              </a:extLst>
            </p:cNvPr>
            <p:cNvSpPr txBox="1"/>
            <p:nvPr/>
          </p:nvSpPr>
          <p:spPr>
            <a:xfrm rot="19288165">
              <a:off x="3998096" y="303477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61209C1A-4DC8-834B-A7EA-6DEB9F762921}"/>
                </a:ext>
              </a:extLst>
            </p:cNvPr>
            <p:cNvSpPr txBox="1"/>
            <p:nvPr/>
          </p:nvSpPr>
          <p:spPr>
            <a:xfrm rot="19288165">
              <a:off x="6828191" y="302771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F553B785-4F05-4A49-9AC3-BE47B453A63F}"/>
                </a:ext>
              </a:extLst>
            </p:cNvPr>
            <p:cNvSpPr txBox="1"/>
            <p:nvPr/>
          </p:nvSpPr>
          <p:spPr>
            <a:xfrm rot="2276392">
              <a:off x="5411631" y="304457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AA37E75-4558-F24E-8119-9AA4CB83EBD0}"/>
                </a:ext>
              </a:extLst>
            </p:cNvPr>
            <p:cNvSpPr txBox="1"/>
            <p:nvPr/>
          </p:nvSpPr>
          <p:spPr>
            <a:xfrm rot="2276392">
              <a:off x="8222541" y="3057157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C9E8A93A-A2FC-4345-A21D-440ED3B84C09}"/>
                </a:ext>
              </a:extLst>
            </p:cNvPr>
            <p:cNvCxnSpPr>
              <a:stCxn id="45" idx="6"/>
              <a:endCxn id="47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BFF8094-5A7E-5046-ACF3-B90DCFBF36FA}"/>
                </a:ext>
              </a:extLst>
            </p:cNvPr>
            <p:cNvSpPr txBox="1"/>
            <p:nvPr/>
          </p:nvSpPr>
          <p:spPr>
            <a:xfrm rot="17482236">
              <a:off x="4944041" y="4349960"/>
              <a:ext cx="9242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P=0.25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2775ACC0-CB1A-B445-AC6D-ACD292B8343A}"/>
                </a:ext>
              </a:extLst>
            </p:cNvPr>
            <p:cNvSpPr txBox="1"/>
            <p:nvPr/>
          </p:nvSpPr>
          <p:spPr>
            <a:xfrm rot="17340842">
              <a:off x="7707474" y="4374325"/>
              <a:ext cx="9181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P=0.25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E6AA2EF4-EBAE-0845-A2B6-1921AF93948C}"/>
                </a:ext>
              </a:extLst>
            </p:cNvPr>
            <p:cNvSpPr txBox="1"/>
            <p:nvPr/>
          </p:nvSpPr>
          <p:spPr>
            <a:xfrm rot="4407779">
              <a:off x="5768950" y="4373714"/>
              <a:ext cx="9003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P=0.75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F4FBA2E3-FC28-2046-9D42-76CE9F3772F5}"/>
                </a:ext>
              </a:extLst>
            </p:cNvPr>
            <p:cNvSpPr txBox="1"/>
            <p:nvPr/>
          </p:nvSpPr>
          <p:spPr>
            <a:xfrm rot="4200141">
              <a:off x="8548243" y="4402393"/>
              <a:ext cx="962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P=0.75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0A8ECB18-761D-9841-B47C-D10C991BAD98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242C1EB5-3FE4-EE4B-9936-D5AF3E5728CD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282F7932-CC79-9045-967C-66D67BB93A17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920DB3B5-89BC-2B4D-8D6F-B7DE7DB3A0C2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4795B0E1-023B-3A40-92C7-28B74FDAEF3A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21CE2125-7765-F944-BD70-4C7AD6225C64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C4899E63-AD44-894E-94D7-2C4217292054}"/>
              </a:ext>
            </a:extLst>
          </p:cNvPr>
          <p:cNvSpPr txBox="1"/>
          <p:nvPr/>
        </p:nvSpPr>
        <p:spPr>
          <a:xfrm>
            <a:off x="5404637" y="3456006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D2251D8B-4228-324D-B474-D8301BA27A5A}"/>
              </a:ext>
            </a:extLst>
          </p:cNvPr>
          <p:cNvSpPr txBox="1"/>
          <p:nvPr/>
        </p:nvSpPr>
        <p:spPr>
          <a:xfrm>
            <a:off x="8369724" y="3450298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D20D164-EE65-0E4A-AD1D-D2CF3DD81A2C}"/>
              </a:ext>
            </a:extLst>
          </p:cNvPr>
          <p:cNvSpPr txBox="1"/>
          <p:nvPr/>
        </p:nvSpPr>
        <p:spPr>
          <a:xfrm>
            <a:off x="1463918" y="3626100"/>
            <a:ext cx="2223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7030A0"/>
                </a:solidFill>
              </a:rPr>
              <a:t>Heads EV = 0.5</a:t>
            </a:r>
          </a:p>
          <a:p>
            <a:r>
              <a:rPr kumimoji="1" lang="en-US" altLang="zh-TW" b="1" dirty="0">
                <a:solidFill>
                  <a:srgbClr val="7030A0"/>
                </a:solidFill>
              </a:rPr>
              <a:t>Tails EV = -0.5</a:t>
            </a:r>
          </a:p>
          <a:p>
            <a:r>
              <a:rPr kumimoji="1" lang="en-US" altLang="zh-TW" b="1" dirty="0">
                <a:solidFill>
                  <a:srgbClr val="7030A0"/>
                </a:solidFill>
              </a:rPr>
              <a:t>Average = 0</a:t>
            </a:r>
            <a:endParaRPr kumimoji="1" lang="zh-TW" alt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0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game: Coin Toss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12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BCB1170-4B2E-4549-8C23-4682065FDC51}"/>
              </a:ext>
            </a:extLst>
          </p:cNvPr>
          <p:cNvGrpSpPr/>
          <p:nvPr/>
        </p:nvGrpSpPr>
        <p:grpSpPr>
          <a:xfrm>
            <a:off x="3531773" y="2413760"/>
            <a:ext cx="5772256" cy="4212546"/>
            <a:chOff x="3531773" y="1717075"/>
            <a:chExt cx="5772256" cy="4212546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AF9D3368-5225-D940-B806-5D1C3B24ED64}"/>
                </a:ext>
              </a:extLst>
            </p:cNvPr>
            <p:cNvGrpSpPr/>
            <p:nvPr/>
          </p:nvGrpSpPr>
          <p:grpSpPr>
            <a:xfrm>
              <a:off x="3531773" y="1717075"/>
              <a:ext cx="5615901" cy="4212546"/>
              <a:chOff x="3919304" y="1619104"/>
              <a:chExt cx="5615901" cy="4212546"/>
            </a:xfrm>
          </p:grpSpPr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52EE23F6-1DF6-FA40-978C-5B061E365D6D}"/>
                  </a:ext>
                </a:extLst>
              </p:cNvPr>
              <p:cNvSpPr/>
              <p:nvPr/>
            </p:nvSpPr>
            <p:spPr>
              <a:xfrm>
                <a:off x="6092931" y="1619104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C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橢圓 40">
                <a:extLst>
                  <a:ext uri="{FF2B5EF4-FFF2-40B4-BE49-F238E27FC236}">
                    <a16:creationId xmlns:a16="http://schemas.microsoft.com/office/drawing/2014/main" id="{C546A0B0-F835-134A-98B2-89F0F81D8C86}"/>
                  </a:ext>
                </a:extLst>
              </p:cNvPr>
              <p:cNvSpPr/>
              <p:nvPr/>
            </p:nvSpPr>
            <p:spPr>
              <a:xfrm>
                <a:off x="4694299" y="263204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51D4EA94-76D2-834C-882A-7288BAE03339}"/>
                  </a:ext>
                </a:extLst>
              </p:cNvPr>
              <p:cNvSpPr/>
              <p:nvPr/>
            </p:nvSpPr>
            <p:spPr>
              <a:xfrm>
                <a:off x="7491562" y="263204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3" name="直線單箭頭接點 8">
                <a:extLst>
                  <a:ext uri="{FF2B5EF4-FFF2-40B4-BE49-F238E27FC236}">
                    <a16:creationId xmlns:a16="http://schemas.microsoft.com/office/drawing/2014/main" id="{0CBE6447-4F12-7F47-9998-6B1E3D7384B9}"/>
                  </a:ext>
                </a:extLst>
              </p:cNvPr>
              <p:cNvCxnSpPr>
                <a:cxnSpLocks/>
                <a:stCxn id="39" idx="3"/>
                <a:endCxn id="41" idx="7"/>
              </p:cNvCxnSpPr>
              <p:nvPr/>
            </p:nvCxnSpPr>
            <p:spPr>
              <a:xfrm flipH="1">
                <a:off x="5374543" y="2299348"/>
                <a:ext cx="835099" cy="4494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單箭頭接點 10">
                <a:extLst>
                  <a:ext uri="{FF2B5EF4-FFF2-40B4-BE49-F238E27FC236}">
                    <a16:creationId xmlns:a16="http://schemas.microsoft.com/office/drawing/2014/main" id="{AD81F0EE-820C-A841-B6B1-E5D94FE54591}"/>
                  </a:ext>
                </a:extLst>
              </p:cNvPr>
              <p:cNvCxnSpPr>
                <a:cxnSpLocks/>
                <a:stCxn id="39" idx="5"/>
                <a:endCxn id="42" idx="1"/>
              </p:cNvCxnSpPr>
              <p:nvPr/>
            </p:nvCxnSpPr>
            <p:spPr>
              <a:xfrm>
                <a:off x="6773175" y="2299348"/>
                <a:ext cx="835098" cy="4494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C5C5E4AF-44C2-FE46-8891-ADC90C71675C}"/>
                  </a:ext>
                </a:extLst>
              </p:cNvPr>
              <p:cNvSpPr/>
              <p:nvPr/>
            </p:nvSpPr>
            <p:spPr>
              <a:xfrm>
                <a:off x="5416904" y="364498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直線單箭頭接點 18">
                <a:extLst>
                  <a:ext uri="{FF2B5EF4-FFF2-40B4-BE49-F238E27FC236}">
                    <a16:creationId xmlns:a16="http://schemas.microsoft.com/office/drawing/2014/main" id="{E6F79B7E-B6D6-A54A-AF5B-DED50DE8998E}"/>
                  </a:ext>
                </a:extLst>
              </p:cNvPr>
              <p:cNvCxnSpPr>
                <a:cxnSpLocks/>
                <a:stCxn id="41" idx="5"/>
                <a:endCxn id="45" idx="0"/>
              </p:cNvCxnSpPr>
              <p:nvPr/>
            </p:nvCxnSpPr>
            <p:spPr>
              <a:xfrm>
                <a:off x="5374543" y="3312289"/>
                <a:ext cx="440839" cy="3326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9F2C30D0-12F3-584C-BD48-136775BD06CC}"/>
                  </a:ext>
                </a:extLst>
              </p:cNvPr>
              <p:cNvSpPr/>
              <p:nvPr/>
            </p:nvSpPr>
            <p:spPr>
              <a:xfrm>
                <a:off x="8186683" y="364498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直線單箭頭接點 27">
                <a:extLst>
                  <a:ext uri="{FF2B5EF4-FFF2-40B4-BE49-F238E27FC236}">
                    <a16:creationId xmlns:a16="http://schemas.microsoft.com/office/drawing/2014/main" id="{1B0B0C49-923C-3349-809E-9A654B9F3F3F}"/>
                  </a:ext>
                </a:extLst>
              </p:cNvPr>
              <p:cNvCxnSpPr>
                <a:cxnSpLocks/>
                <a:stCxn id="41" idx="3"/>
              </p:cNvCxnSpPr>
              <p:nvPr/>
            </p:nvCxnSpPr>
            <p:spPr>
              <a:xfrm flipH="1">
                <a:off x="4393462" y="3312289"/>
                <a:ext cx="417548" cy="3326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單箭頭接點 29">
                <a:extLst>
                  <a:ext uri="{FF2B5EF4-FFF2-40B4-BE49-F238E27FC236}">
                    <a16:creationId xmlns:a16="http://schemas.microsoft.com/office/drawing/2014/main" id="{63320617-A8F2-EE45-B1A5-C813D25A4490}"/>
                  </a:ext>
                </a:extLst>
              </p:cNvPr>
              <p:cNvCxnSpPr>
                <a:cxnSpLocks/>
                <a:stCxn id="42" idx="3"/>
              </p:cNvCxnSpPr>
              <p:nvPr/>
            </p:nvCxnSpPr>
            <p:spPr>
              <a:xfrm flipH="1">
                <a:off x="7190724" y="3312289"/>
                <a:ext cx="417549" cy="3326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單箭頭接點 31">
                <a:extLst>
                  <a:ext uri="{FF2B5EF4-FFF2-40B4-BE49-F238E27FC236}">
                    <a16:creationId xmlns:a16="http://schemas.microsoft.com/office/drawing/2014/main" id="{971194E4-79CF-6641-A7A0-EF961E7562D8}"/>
                  </a:ext>
                </a:extLst>
              </p:cNvPr>
              <p:cNvCxnSpPr>
                <a:cxnSpLocks/>
                <a:stCxn id="42" idx="5"/>
              </p:cNvCxnSpPr>
              <p:nvPr/>
            </p:nvCxnSpPr>
            <p:spPr>
              <a:xfrm>
                <a:off x="8171806" y="3312289"/>
                <a:ext cx="455694" cy="3326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42">
                <a:extLst>
                  <a:ext uri="{FF2B5EF4-FFF2-40B4-BE49-F238E27FC236}">
                    <a16:creationId xmlns:a16="http://schemas.microsoft.com/office/drawing/2014/main" id="{92CCB9D4-44A9-2A41-82F6-E4809B5340EB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 flipH="1">
                <a:off x="5270385" y="4325229"/>
                <a:ext cx="263230" cy="709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單箭頭接點 44">
                <a:extLst>
                  <a:ext uri="{FF2B5EF4-FFF2-40B4-BE49-F238E27FC236}">
                    <a16:creationId xmlns:a16="http://schemas.microsoft.com/office/drawing/2014/main" id="{89774A6F-A53B-A343-BF93-B3BB69C49083}"/>
                  </a:ext>
                </a:extLst>
              </p:cNvPr>
              <p:cNvCxnSpPr>
                <a:cxnSpLocks/>
                <a:stCxn id="45" idx="5"/>
              </p:cNvCxnSpPr>
              <p:nvPr/>
            </p:nvCxnSpPr>
            <p:spPr>
              <a:xfrm>
                <a:off x="6097148" y="4325229"/>
                <a:ext cx="219481" cy="709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單箭頭接點 48">
                <a:extLst>
                  <a:ext uri="{FF2B5EF4-FFF2-40B4-BE49-F238E27FC236}">
                    <a16:creationId xmlns:a16="http://schemas.microsoft.com/office/drawing/2014/main" id="{5DADE774-88B0-6A4A-9D50-90EEED524557}"/>
                  </a:ext>
                </a:extLst>
              </p:cNvPr>
              <p:cNvCxnSpPr>
                <a:cxnSpLocks/>
                <a:stCxn id="47" idx="3"/>
              </p:cNvCxnSpPr>
              <p:nvPr/>
            </p:nvCxnSpPr>
            <p:spPr>
              <a:xfrm flipH="1">
                <a:off x="8056928" y="4325229"/>
                <a:ext cx="246466" cy="709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單箭頭接點 50">
                <a:extLst>
                  <a:ext uri="{FF2B5EF4-FFF2-40B4-BE49-F238E27FC236}">
                    <a16:creationId xmlns:a16="http://schemas.microsoft.com/office/drawing/2014/main" id="{0947AEDE-A93F-B843-8C0D-430FAECFFB7B}"/>
                  </a:ext>
                </a:extLst>
              </p:cNvPr>
              <p:cNvCxnSpPr>
                <a:cxnSpLocks/>
                <a:stCxn id="47" idx="5"/>
              </p:cNvCxnSpPr>
              <p:nvPr/>
            </p:nvCxnSpPr>
            <p:spPr>
              <a:xfrm>
                <a:off x="8866927" y="4325229"/>
                <a:ext cx="269801" cy="709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D5E08CB2-0DED-1F4F-BE94-CDB7D55FE383}"/>
                  </a:ext>
                </a:extLst>
              </p:cNvPr>
              <p:cNvSpPr txBox="1"/>
              <p:nvPr/>
            </p:nvSpPr>
            <p:spPr>
              <a:xfrm rot="1710687">
                <a:off x="6920967" y="1900481"/>
                <a:ext cx="7969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P=0.5</a:t>
                </a:r>
              </a:p>
              <a:p>
                <a:pPr algn="ctr"/>
                <a:r>
                  <a:rPr lang="en-US" altLang="zh-TW" dirty="0"/>
                  <a:t>Tails</a:t>
                </a:r>
                <a:endParaRPr lang="zh-TW" altLang="en-US" dirty="0"/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CEFFD019-0910-7549-9DA8-77F8C43FD4F4}"/>
                  </a:ext>
                </a:extLst>
              </p:cNvPr>
              <p:cNvSpPr txBox="1"/>
              <p:nvPr/>
            </p:nvSpPr>
            <p:spPr>
              <a:xfrm rot="19915633">
                <a:off x="5269344" y="1893077"/>
                <a:ext cx="7969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P=0.5</a:t>
                </a:r>
              </a:p>
              <a:p>
                <a:pPr algn="ctr"/>
                <a:r>
                  <a:rPr lang="en-US" altLang="zh-TW" dirty="0"/>
                  <a:t>Heads</a:t>
                </a:r>
                <a:endParaRPr lang="zh-TW" altLang="en-US" dirty="0"/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14B7F449-6247-E441-83BD-448DF4100805}"/>
                  </a:ext>
                </a:extLst>
              </p:cNvPr>
              <p:cNvSpPr txBox="1"/>
              <p:nvPr/>
            </p:nvSpPr>
            <p:spPr>
              <a:xfrm rot="19288165">
                <a:off x="3998096" y="3034778"/>
                <a:ext cx="796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Sell</a:t>
                </a:r>
                <a:endParaRPr lang="zh-TW" altLang="en-US" dirty="0"/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61209C1A-4DC8-834B-A7EA-6DEB9F762921}"/>
                  </a:ext>
                </a:extLst>
              </p:cNvPr>
              <p:cNvSpPr txBox="1"/>
              <p:nvPr/>
            </p:nvSpPr>
            <p:spPr>
              <a:xfrm rot="19288165">
                <a:off x="6828191" y="3027718"/>
                <a:ext cx="796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Sell</a:t>
                </a:r>
                <a:endParaRPr lang="zh-TW" altLang="en-US" dirty="0"/>
              </a:p>
            </p:txBody>
          </p: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F553B785-4F05-4A49-9AC3-BE47B453A63F}"/>
                  </a:ext>
                </a:extLst>
              </p:cNvPr>
              <p:cNvSpPr txBox="1"/>
              <p:nvPr/>
            </p:nvSpPr>
            <p:spPr>
              <a:xfrm rot="2276392">
                <a:off x="5411631" y="3044570"/>
                <a:ext cx="796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Play</a:t>
                </a:r>
                <a:endParaRPr lang="zh-TW" altLang="en-US" dirty="0"/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3AA37E75-4558-F24E-8119-9AA4CB83EBD0}"/>
                  </a:ext>
                </a:extLst>
              </p:cNvPr>
              <p:cNvSpPr txBox="1"/>
              <p:nvPr/>
            </p:nvSpPr>
            <p:spPr>
              <a:xfrm rot="2276392">
                <a:off x="8222541" y="3057157"/>
                <a:ext cx="796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Play</a:t>
                </a:r>
                <a:endParaRPr lang="zh-TW" altLang="en-US" dirty="0"/>
              </a:p>
            </p:txBody>
          </p: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C9E8A93A-A2FC-4345-A21D-440ED3B84C09}"/>
                  </a:ext>
                </a:extLst>
              </p:cNvPr>
              <p:cNvCxnSpPr>
                <a:stCxn id="45" idx="6"/>
                <a:endCxn id="47" idx="2"/>
              </p:cNvCxnSpPr>
              <p:nvPr/>
            </p:nvCxnSpPr>
            <p:spPr>
              <a:xfrm>
                <a:off x="6213859" y="4043463"/>
                <a:ext cx="1972824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ABFF8094-5A7E-5046-ACF3-B90DCFBF36FA}"/>
                  </a:ext>
                </a:extLst>
              </p:cNvPr>
              <p:cNvSpPr txBox="1"/>
              <p:nvPr/>
            </p:nvSpPr>
            <p:spPr>
              <a:xfrm rot="17482236">
                <a:off x="4944041" y="4349960"/>
                <a:ext cx="9242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P=0.25</a:t>
                </a:r>
              </a:p>
              <a:p>
                <a:pPr algn="ctr"/>
                <a:r>
                  <a:rPr lang="en-US" altLang="zh-TW" dirty="0"/>
                  <a:t>Heads</a:t>
                </a:r>
                <a:endParaRPr lang="zh-TW" altLang="en-US" dirty="0"/>
              </a:p>
            </p:txBody>
          </p:sp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2775ACC0-CB1A-B445-AC6D-ACD292B8343A}"/>
                  </a:ext>
                </a:extLst>
              </p:cNvPr>
              <p:cNvSpPr txBox="1"/>
              <p:nvPr/>
            </p:nvSpPr>
            <p:spPr>
              <a:xfrm rot="17340842">
                <a:off x="7707474" y="4374325"/>
                <a:ext cx="9181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P=0.25</a:t>
                </a:r>
              </a:p>
              <a:p>
                <a:pPr algn="ctr"/>
                <a:r>
                  <a:rPr lang="en-US" altLang="zh-TW" dirty="0"/>
                  <a:t>Heads</a:t>
                </a:r>
                <a:endParaRPr lang="zh-TW" altLang="en-US" dirty="0"/>
              </a:p>
            </p:txBody>
          </p:sp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E6AA2EF4-EBAE-0845-A2B6-1921AF93948C}"/>
                  </a:ext>
                </a:extLst>
              </p:cNvPr>
              <p:cNvSpPr txBox="1"/>
              <p:nvPr/>
            </p:nvSpPr>
            <p:spPr>
              <a:xfrm rot="4407779">
                <a:off x="5768950" y="4373714"/>
                <a:ext cx="9003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P=0.75</a:t>
                </a:r>
              </a:p>
              <a:p>
                <a:pPr algn="ctr"/>
                <a:r>
                  <a:rPr lang="en-US" altLang="zh-TW" dirty="0"/>
                  <a:t>Tails</a:t>
                </a:r>
                <a:endParaRPr lang="zh-TW" altLang="en-US" dirty="0"/>
              </a:p>
            </p:txBody>
          </p:sp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F4FBA2E3-FC28-2046-9D42-76CE9F3772F5}"/>
                  </a:ext>
                </a:extLst>
              </p:cNvPr>
              <p:cNvSpPr txBox="1"/>
              <p:nvPr/>
            </p:nvSpPr>
            <p:spPr>
              <a:xfrm rot="4200141">
                <a:off x="8548243" y="4402393"/>
                <a:ext cx="962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P=0.75</a:t>
                </a:r>
              </a:p>
              <a:p>
                <a:pPr algn="ctr"/>
                <a:r>
                  <a:rPr lang="en-US" altLang="zh-TW" dirty="0"/>
                  <a:t>Tails</a:t>
                </a:r>
                <a:endParaRPr lang="zh-TW" altLang="en-US" dirty="0"/>
              </a:p>
            </p:txBody>
          </p:sp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0A8ECB18-761D-9841-B47C-D10C991BAD98}"/>
                  </a:ext>
                </a:extLst>
              </p:cNvPr>
              <p:cNvSpPr/>
              <p:nvPr/>
            </p:nvSpPr>
            <p:spPr>
              <a:xfrm>
                <a:off x="4870035" y="503469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-1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242C1EB5-3FE4-EE4B-9936-D5AF3E5728CD}"/>
                  </a:ext>
                </a:extLst>
              </p:cNvPr>
              <p:cNvSpPr/>
              <p:nvPr/>
            </p:nvSpPr>
            <p:spPr>
              <a:xfrm>
                <a:off x="5963772" y="503469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282F7932-CC79-9045-967C-66D67BB93A17}"/>
                  </a:ext>
                </a:extLst>
              </p:cNvPr>
              <p:cNvSpPr/>
              <p:nvPr/>
            </p:nvSpPr>
            <p:spPr>
              <a:xfrm>
                <a:off x="7635116" y="503469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橢圓 68">
                <a:extLst>
                  <a:ext uri="{FF2B5EF4-FFF2-40B4-BE49-F238E27FC236}">
                    <a16:creationId xmlns:a16="http://schemas.microsoft.com/office/drawing/2014/main" id="{920DB3B5-89BC-2B4D-8D6F-B7DE7DB3A0C2}"/>
                  </a:ext>
                </a:extLst>
              </p:cNvPr>
              <p:cNvSpPr/>
              <p:nvPr/>
            </p:nvSpPr>
            <p:spPr>
              <a:xfrm>
                <a:off x="8738250" y="5034695"/>
                <a:ext cx="796955" cy="796955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-1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4795B0E1-023B-3A40-92C7-28B74FDAEF3A}"/>
                  </a:ext>
                </a:extLst>
              </p:cNvPr>
              <p:cNvSpPr txBox="1"/>
              <p:nvPr/>
            </p:nvSpPr>
            <p:spPr>
              <a:xfrm>
                <a:off x="3919304" y="3644985"/>
                <a:ext cx="9757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accent1"/>
                    </a:solidFill>
                  </a:rPr>
                  <a:t>EV=-0.5</a:t>
                </a:r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21CE2125-7765-F944-BD70-4C7AD6225C64}"/>
                  </a:ext>
                </a:extLst>
              </p:cNvPr>
              <p:cNvSpPr txBox="1"/>
              <p:nvPr/>
            </p:nvSpPr>
            <p:spPr>
              <a:xfrm>
                <a:off x="6794875" y="3644985"/>
                <a:ext cx="934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accent1"/>
                    </a:solidFill>
                  </a:rPr>
                  <a:t>EV=0.5</a:t>
                </a:r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C4899E63-AD44-894E-94D7-2C4217292054}"/>
                </a:ext>
              </a:extLst>
            </p:cNvPr>
            <p:cNvSpPr txBox="1"/>
            <p:nvPr/>
          </p:nvSpPr>
          <p:spPr>
            <a:xfrm>
              <a:off x="5404637" y="3456006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D2251D8B-4228-324D-B474-D8301BA27A5A}"/>
                </a:ext>
              </a:extLst>
            </p:cNvPr>
            <p:cNvSpPr txBox="1"/>
            <p:nvPr/>
          </p:nvSpPr>
          <p:spPr>
            <a:xfrm>
              <a:off x="8369724" y="3450298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D20D164-EE65-0E4A-AD1D-D2CF3DD81A2C}"/>
              </a:ext>
            </a:extLst>
          </p:cNvPr>
          <p:cNvSpPr txBox="1"/>
          <p:nvPr/>
        </p:nvSpPr>
        <p:spPr>
          <a:xfrm>
            <a:off x="787227" y="1362541"/>
            <a:ext cx="11103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Determining the optimal strategy in the “Play” subgame requires knowledge of the opponent could receive in other subgames 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3989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whole game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863804" cy="518528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sz="2400" dirty="0"/>
              <a:t>Limited Texas </a:t>
            </a:r>
            <a:r>
              <a:rPr lang="en-US" altLang="zh-TW" sz="2400" dirty="0" err="1"/>
              <a:t>Hold’em</a:t>
            </a:r>
            <a:r>
              <a:rPr lang="en-US" altLang="zh-TW" sz="2400" dirty="0"/>
              <a:t> : 10</a:t>
            </a:r>
            <a:r>
              <a:rPr lang="en-US" altLang="zh-TW" sz="2400" baseline="30000" dirty="0"/>
              <a:t>13</a:t>
            </a:r>
            <a:r>
              <a:rPr lang="en-US" altLang="zh-TW" sz="2400" dirty="0"/>
              <a:t> decisions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2400" dirty="0"/>
              <a:t>   - Essentially solved with Counterfactual Regret Minimization+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2400" dirty="0"/>
              <a:t>   - Required 262TB compressed to 11TB</a:t>
            </a:r>
          </a:p>
          <a:p>
            <a:pPr>
              <a:lnSpc>
                <a:spcPct val="120000"/>
              </a:lnSpc>
            </a:pPr>
            <a:r>
              <a:rPr lang="en-US" altLang="zh-TW" sz="2400" dirty="0"/>
              <a:t>No-limit Texas </a:t>
            </a:r>
            <a:r>
              <a:rPr lang="en-US" altLang="zh-TW" sz="2400" dirty="0" err="1"/>
              <a:t>Hold’em</a:t>
            </a:r>
            <a:r>
              <a:rPr lang="en-US" altLang="zh-TW" sz="2400" dirty="0"/>
              <a:t> : 10</a:t>
            </a:r>
            <a:r>
              <a:rPr lang="en-US" altLang="zh-TW" sz="2400" baseline="30000" dirty="0"/>
              <a:t>161</a:t>
            </a:r>
            <a:r>
              <a:rPr lang="en-US" altLang="zh-TW" sz="2400" dirty="0"/>
              <a:t> decisions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2400" dirty="0"/>
              <a:t>   - Way too big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221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/>
              <a:t>Card abstraction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0792FD8-17B8-C64A-BF4C-0F304B112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67266" y="1459531"/>
            <a:ext cx="6657468" cy="1599183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300DAC-2FDB-C349-8AF8-0DE34514C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4350" y="3424721"/>
            <a:ext cx="2484339" cy="138735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DE557E2-1235-F342-A4E4-AA88A705E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036" y="5151554"/>
            <a:ext cx="2456307" cy="138735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ACD1024-A3A4-E845-967D-AAD591800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5429" y="4037379"/>
            <a:ext cx="2844800" cy="15494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642E286-3383-724B-B59A-FD6EE481757C}"/>
              </a:ext>
            </a:extLst>
          </p:cNvPr>
          <p:cNvSpPr/>
          <p:nvPr/>
        </p:nvSpPr>
        <p:spPr>
          <a:xfrm>
            <a:off x="6785429" y="3940628"/>
            <a:ext cx="2844800" cy="1730829"/>
          </a:xfrm>
          <a:prstGeom prst="rect">
            <a:avLst/>
          </a:prstGeom>
          <a:noFill/>
          <a:ln w="57150">
            <a:solidFill>
              <a:srgbClr val="006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72974A2-8BA3-D943-BE81-1F919DD03159}"/>
              </a:ext>
            </a:extLst>
          </p:cNvPr>
          <p:cNvSpPr txBox="1"/>
          <p:nvPr/>
        </p:nvSpPr>
        <p:spPr>
          <a:xfrm>
            <a:off x="6785429" y="3510267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Best hand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9AB179-D5CC-4848-AE43-A33B114DD788}"/>
              </a:ext>
            </a:extLst>
          </p:cNvPr>
          <p:cNvSpPr/>
          <p:nvPr/>
        </p:nvSpPr>
        <p:spPr>
          <a:xfrm>
            <a:off x="2780328" y="3278777"/>
            <a:ext cx="2701883" cy="3416572"/>
          </a:xfrm>
          <a:prstGeom prst="rect">
            <a:avLst/>
          </a:prstGeom>
          <a:noFill/>
          <a:ln w="57150">
            <a:solidFill>
              <a:srgbClr val="006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46380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Libratus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Abstraction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863804" cy="518528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sz="2400" dirty="0"/>
              <a:t>1</a:t>
            </a:r>
            <a:r>
              <a:rPr lang="en-US" altLang="zh-TW" sz="2400" baseline="30000" dirty="0"/>
              <a:t>st</a:t>
            </a:r>
            <a:r>
              <a:rPr lang="en-US" altLang="zh-TW" sz="2400" dirty="0"/>
              <a:t> and 2</a:t>
            </a:r>
            <a:r>
              <a:rPr lang="en-US" altLang="zh-TW" sz="2400" baseline="30000" dirty="0"/>
              <a:t>nd</a:t>
            </a:r>
            <a:r>
              <a:rPr lang="en-US" altLang="zh-TW" sz="2400" dirty="0"/>
              <a:t> round: no card abstraction, dense action abstraction</a:t>
            </a:r>
          </a:p>
          <a:p>
            <a:pPr>
              <a:lnSpc>
                <a:spcPct val="120000"/>
              </a:lnSpc>
            </a:pPr>
            <a:r>
              <a:rPr lang="en-US" altLang="zh-TW" sz="2400" dirty="0"/>
              <a:t>3</a:t>
            </a:r>
            <a:r>
              <a:rPr lang="en-US" altLang="zh-TW" sz="2400" baseline="30000" dirty="0"/>
              <a:t>rd</a:t>
            </a:r>
            <a:r>
              <a:rPr lang="en-US" altLang="zh-TW" sz="2400" dirty="0"/>
              <a:t> and 4</a:t>
            </a:r>
            <a:r>
              <a:rPr lang="en-US" altLang="zh-TW" sz="2400" baseline="30000" dirty="0"/>
              <a:t>th</a:t>
            </a:r>
            <a:r>
              <a:rPr lang="en-US" altLang="zh-TW" sz="2400" dirty="0"/>
              <a:t> round: card abstraction, sparse action abstraction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2400" dirty="0"/>
              <a:t>  - Helps reduce exponential blowup</a:t>
            </a:r>
          </a:p>
          <a:p>
            <a:pPr>
              <a:lnSpc>
                <a:spcPct val="120000"/>
              </a:lnSpc>
            </a:pPr>
            <a:r>
              <a:rPr lang="en-US" altLang="zh-TW" sz="2400" dirty="0"/>
              <a:t>Total size of abstract strategy: ~50TB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1170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11252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Counterfactual Regret Minimization (MCCFR)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16</a:t>
            </a:fld>
            <a:endParaRPr kumimoji="1" lang="zh-TW" altLang="en-US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A416AEF0-14EB-174C-990A-CFDB408A67DB}"/>
              </a:ext>
            </a:extLst>
          </p:cNvPr>
          <p:cNvGrpSpPr/>
          <p:nvPr/>
        </p:nvGrpSpPr>
        <p:grpSpPr>
          <a:xfrm>
            <a:off x="3971096" y="1873133"/>
            <a:ext cx="3214811" cy="3903731"/>
            <a:chOff x="3949325" y="1590104"/>
            <a:chExt cx="3214811" cy="390373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C8C69A0F-51DE-8648-BC39-9D40F91BE5BA}"/>
                </a:ext>
              </a:extLst>
            </p:cNvPr>
            <p:cNvGrpSpPr/>
            <p:nvPr/>
          </p:nvGrpSpPr>
          <p:grpSpPr>
            <a:xfrm>
              <a:off x="3949325" y="1590104"/>
              <a:ext cx="3214811" cy="3415591"/>
              <a:chOff x="4393462" y="1619104"/>
              <a:chExt cx="3214811" cy="3415591"/>
            </a:xfrm>
          </p:grpSpPr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0EB81C53-B3B7-BF49-B6C3-9C3D5131F938}"/>
                  </a:ext>
                </a:extLst>
              </p:cNvPr>
              <p:cNvSpPr/>
              <p:nvPr/>
            </p:nvSpPr>
            <p:spPr>
              <a:xfrm>
                <a:off x="6092931" y="1619104"/>
                <a:ext cx="796955" cy="796955"/>
              </a:xfrm>
              <a:prstGeom prst="ellipse">
                <a:avLst/>
              </a:prstGeom>
              <a:solidFill>
                <a:srgbClr val="6F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9A521992-A784-C641-9492-445A49E0EEA4}"/>
                  </a:ext>
                </a:extLst>
              </p:cNvPr>
              <p:cNvSpPr/>
              <p:nvPr/>
            </p:nvSpPr>
            <p:spPr>
              <a:xfrm>
                <a:off x="4694299" y="2632045"/>
                <a:ext cx="796955" cy="796955"/>
              </a:xfrm>
              <a:prstGeom prst="ellipse">
                <a:avLst/>
              </a:prstGeom>
              <a:solidFill>
                <a:srgbClr val="FF6F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直線單箭頭接點 8">
                <a:extLst>
                  <a:ext uri="{FF2B5EF4-FFF2-40B4-BE49-F238E27FC236}">
                    <a16:creationId xmlns:a16="http://schemas.microsoft.com/office/drawing/2014/main" id="{55625D94-E3D3-3E48-B051-DBDB175669C4}"/>
                  </a:ext>
                </a:extLst>
              </p:cNvPr>
              <p:cNvCxnSpPr>
                <a:cxnSpLocks/>
                <a:stCxn id="6" idx="3"/>
                <a:endCxn id="7" idx="7"/>
              </p:cNvCxnSpPr>
              <p:nvPr/>
            </p:nvCxnSpPr>
            <p:spPr>
              <a:xfrm flipH="1">
                <a:off x="5374543" y="2299348"/>
                <a:ext cx="835099" cy="449408"/>
              </a:xfrm>
              <a:prstGeom prst="straightConnector1">
                <a:avLst/>
              </a:prstGeom>
              <a:ln w="38100">
                <a:solidFill>
                  <a:srgbClr val="0069C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單箭頭接點 10">
                <a:extLst>
                  <a:ext uri="{FF2B5EF4-FFF2-40B4-BE49-F238E27FC236}">
                    <a16:creationId xmlns:a16="http://schemas.microsoft.com/office/drawing/2014/main" id="{81718BBC-A0E6-234F-8E94-AA1E77FC6921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6773175" y="2299348"/>
                <a:ext cx="835098" cy="4494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B2AD9108-D2FD-8F49-B777-1AF94122BCF6}"/>
                  </a:ext>
                </a:extLst>
              </p:cNvPr>
              <p:cNvSpPr/>
              <p:nvPr/>
            </p:nvSpPr>
            <p:spPr>
              <a:xfrm>
                <a:off x="5416904" y="3644985"/>
                <a:ext cx="796955" cy="796955"/>
              </a:xfrm>
              <a:prstGeom prst="ellipse">
                <a:avLst/>
              </a:prstGeom>
              <a:solidFill>
                <a:srgbClr val="6F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" name="直線單箭頭接點 18">
                <a:extLst>
                  <a:ext uri="{FF2B5EF4-FFF2-40B4-BE49-F238E27FC236}">
                    <a16:creationId xmlns:a16="http://schemas.microsoft.com/office/drawing/2014/main" id="{0FDA4B50-C667-B547-8E2C-A000FE4FBC7D}"/>
                  </a:ext>
                </a:extLst>
              </p:cNvPr>
              <p:cNvCxnSpPr>
                <a:cxnSpLocks/>
                <a:stCxn id="7" idx="5"/>
                <a:endCxn id="11" idx="0"/>
              </p:cNvCxnSpPr>
              <p:nvPr/>
            </p:nvCxnSpPr>
            <p:spPr>
              <a:xfrm>
                <a:off x="5374543" y="3312289"/>
                <a:ext cx="440839" cy="332696"/>
              </a:xfrm>
              <a:prstGeom prst="straightConnector1">
                <a:avLst/>
              </a:prstGeom>
              <a:ln w="38100">
                <a:solidFill>
                  <a:srgbClr val="0069C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單箭頭接點 27">
                <a:extLst>
                  <a:ext uri="{FF2B5EF4-FFF2-40B4-BE49-F238E27FC236}">
                    <a16:creationId xmlns:a16="http://schemas.microsoft.com/office/drawing/2014/main" id="{7F8DD606-E41D-B343-9EDA-6A3FE76A5B82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H="1">
                <a:off x="4393462" y="3312289"/>
                <a:ext cx="417548" cy="3326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42">
                <a:extLst>
                  <a:ext uri="{FF2B5EF4-FFF2-40B4-BE49-F238E27FC236}">
                    <a16:creationId xmlns:a16="http://schemas.microsoft.com/office/drawing/2014/main" id="{5CB7E177-57E3-9B4C-BD51-8F3728E822C4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 flipH="1">
                <a:off x="5270385" y="4325229"/>
                <a:ext cx="263230" cy="709466"/>
              </a:xfrm>
              <a:prstGeom prst="straightConnector1">
                <a:avLst/>
              </a:prstGeom>
              <a:ln w="38100">
                <a:solidFill>
                  <a:srgbClr val="0069C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44">
                <a:extLst>
                  <a:ext uri="{FF2B5EF4-FFF2-40B4-BE49-F238E27FC236}">
                    <a16:creationId xmlns:a16="http://schemas.microsoft.com/office/drawing/2014/main" id="{9F688E33-24A0-1C48-A147-2F4F4509C17F}"/>
                  </a:ext>
                </a:extLst>
              </p:cNvPr>
              <p:cNvCxnSpPr>
                <a:cxnSpLocks/>
                <a:stCxn id="11" idx="5"/>
              </p:cNvCxnSpPr>
              <p:nvPr/>
            </p:nvCxnSpPr>
            <p:spPr>
              <a:xfrm>
                <a:off x="6097148" y="4325229"/>
                <a:ext cx="219481" cy="709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箭頭接點 34">
              <a:extLst>
                <a:ext uri="{FF2B5EF4-FFF2-40B4-BE49-F238E27FC236}">
                  <a16:creationId xmlns:a16="http://schemas.microsoft.com/office/drawing/2014/main" id="{10FAAF19-BAA5-BC46-A8C6-4986D8914F3F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 flipH="1">
              <a:off x="4637314" y="3400000"/>
              <a:ext cx="11326" cy="3664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箭頭接點 36">
              <a:extLst>
                <a:ext uri="{FF2B5EF4-FFF2-40B4-BE49-F238E27FC236}">
                  <a16:creationId xmlns:a16="http://schemas.microsoft.com/office/drawing/2014/main" id="{18A7A13E-FDDC-C34A-851F-093D97E665DD}"/>
                </a:ext>
              </a:extLst>
            </p:cNvPr>
            <p:cNvCxnSpPr>
              <a:cxnSpLocks/>
              <a:stCxn id="11" idx="4"/>
            </p:cNvCxnSpPr>
            <p:nvPr/>
          </p:nvCxnSpPr>
          <p:spPr>
            <a:xfrm>
              <a:off x="5371245" y="4412940"/>
              <a:ext cx="0" cy="6815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20F7A0F5-1CDC-0F43-BFC9-C6CC83237CDA}"/>
                </a:ext>
              </a:extLst>
            </p:cNvPr>
            <p:cNvSpPr txBox="1"/>
            <p:nvPr/>
          </p:nvSpPr>
          <p:spPr>
            <a:xfrm>
              <a:off x="4524376" y="5124503"/>
              <a:ext cx="603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$50</a:t>
              </a:r>
              <a:endParaRPr kumimoji="1" lang="zh-TW" altLang="en-US" dirty="0"/>
            </a:p>
          </p:txBody>
        </p: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E63C9C3-FE4E-134A-8265-2C812D32FB4C}"/>
              </a:ext>
            </a:extLst>
          </p:cNvPr>
          <p:cNvSpPr txBox="1"/>
          <p:nvPr/>
        </p:nvSpPr>
        <p:spPr>
          <a:xfrm>
            <a:off x="3808929" y="2022385"/>
            <a:ext cx="17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Regrets = [0,0]</a:t>
            </a:r>
            <a:endParaRPr kumimoji="1"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ECA2A32-B1B0-6D4B-A61F-C6BF27798ED9}"/>
              </a:ext>
            </a:extLst>
          </p:cNvPr>
          <p:cNvSpPr txBox="1"/>
          <p:nvPr/>
        </p:nvSpPr>
        <p:spPr>
          <a:xfrm>
            <a:off x="3103877" y="4221254"/>
            <a:ext cx="17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Regrets = [0,0,0]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324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11252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Counterfactual Regret Minimization (MCCFR)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17</a:t>
            </a:fld>
            <a:endParaRPr kumimoji="1" lang="zh-TW" altLang="en-US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A416AEF0-14EB-174C-990A-CFDB408A67DB}"/>
              </a:ext>
            </a:extLst>
          </p:cNvPr>
          <p:cNvGrpSpPr/>
          <p:nvPr/>
        </p:nvGrpSpPr>
        <p:grpSpPr>
          <a:xfrm>
            <a:off x="3971096" y="1873133"/>
            <a:ext cx="3214811" cy="3903731"/>
            <a:chOff x="3949325" y="1590104"/>
            <a:chExt cx="3214811" cy="390373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C8C69A0F-51DE-8648-BC39-9D40F91BE5BA}"/>
                </a:ext>
              </a:extLst>
            </p:cNvPr>
            <p:cNvGrpSpPr/>
            <p:nvPr/>
          </p:nvGrpSpPr>
          <p:grpSpPr>
            <a:xfrm>
              <a:off x="3949325" y="1590104"/>
              <a:ext cx="3214811" cy="3415591"/>
              <a:chOff x="4393462" y="1619104"/>
              <a:chExt cx="3214811" cy="3415591"/>
            </a:xfrm>
          </p:grpSpPr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0EB81C53-B3B7-BF49-B6C3-9C3D5131F938}"/>
                  </a:ext>
                </a:extLst>
              </p:cNvPr>
              <p:cNvSpPr/>
              <p:nvPr/>
            </p:nvSpPr>
            <p:spPr>
              <a:xfrm>
                <a:off x="6092931" y="1619104"/>
                <a:ext cx="796955" cy="796955"/>
              </a:xfrm>
              <a:prstGeom prst="ellipse">
                <a:avLst/>
              </a:prstGeom>
              <a:solidFill>
                <a:srgbClr val="6F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9A521992-A784-C641-9492-445A49E0EEA4}"/>
                  </a:ext>
                </a:extLst>
              </p:cNvPr>
              <p:cNvSpPr/>
              <p:nvPr/>
            </p:nvSpPr>
            <p:spPr>
              <a:xfrm>
                <a:off x="4694299" y="2632045"/>
                <a:ext cx="796955" cy="796955"/>
              </a:xfrm>
              <a:prstGeom prst="ellipse">
                <a:avLst/>
              </a:prstGeom>
              <a:solidFill>
                <a:srgbClr val="FF6F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P2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直線單箭頭接點 8">
                <a:extLst>
                  <a:ext uri="{FF2B5EF4-FFF2-40B4-BE49-F238E27FC236}">
                    <a16:creationId xmlns:a16="http://schemas.microsoft.com/office/drawing/2014/main" id="{55625D94-E3D3-3E48-B051-DBDB175669C4}"/>
                  </a:ext>
                </a:extLst>
              </p:cNvPr>
              <p:cNvCxnSpPr>
                <a:cxnSpLocks/>
                <a:stCxn id="6" idx="3"/>
                <a:endCxn id="7" idx="7"/>
              </p:cNvCxnSpPr>
              <p:nvPr/>
            </p:nvCxnSpPr>
            <p:spPr>
              <a:xfrm flipH="1">
                <a:off x="5374543" y="2299348"/>
                <a:ext cx="835099" cy="449408"/>
              </a:xfrm>
              <a:prstGeom prst="straightConnector1">
                <a:avLst/>
              </a:prstGeom>
              <a:ln w="38100">
                <a:solidFill>
                  <a:srgbClr val="0069C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單箭頭接點 10">
                <a:extLst>
                  <a:ext uri="{FF2B5EF4-FFF2-40B4-BE49-F238E27FC236}">
                    <a16:creationId xmlns:a16="http://schemas.microsoft.com/office/drawing/2014/main" id="{81718BBC-A0E6-234F-8E94-AA1E77FC6921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6773175" y="2299348"/>
                <a:ext cx="835098" cy="4494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B2AD9108-D2FD-8F49-B777-1AF94122BCF6}"/>
                  </a:ext>
                </a:extLst>
              </p:cNvPr>
              <p:cNvSpPr/>
              <p:nvPr/>
            </p:nvSpPr>
            <p:spPr>
              <a:xfrm>
                <a:off x="5416904" y="3644985"/>
                <a:ext cx="796955" cy="796955"/>
              </a:xfrm>
              <a:prstGeom prst="ellipse">
                <a:avLst/>
              </a:prstGeom>
              <a:solidFill>
                <a:srgbClr val="6FC2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</a:rPr>
                  <a:t>P1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" name="直線單箭頭接點 18">
                <a:extLst>
                  <a:ext uri="{FF2B5EF4-FFF2-40B4-BE49-F238E27FC236}">
                    <a16:creationId xmlns:a16="http://schemas.microsoft.com/office/drawing/2014/main" id="{0FDA4B50-C667-B547-8E2C-A000FE4FBC7D}"/>
                  </a:ext>
                </a:extLst>
              </p:cNvPr>
              <p:cNvCxnSpPr>
                <a:cxnSpLocks/>
                <a:stCxn id="7" idx="5"/>
                <a:endCxn id="11" idx="0"/>
              </p:cNvCxnSpPr>
              <p:nvPr/>
            </p:nvCxnSpPr>
            <p:spPr>
              <a:xfrm>
                <a:off x="5374543" y="3312289"/>
                <a:ext cx="440839" cy="332696"/>
              </a:xfrm>
              <a:prstGeom prst="straightConnector1">
                <a:avLst/>
              </a:prstGeom>
              <a:ln w="38100">
                <a:solidFill>
                  <a:srgbClr val="0069C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單箭頭接點 27">
                <a:extLst>
                  <a:ext uri="{FF2B5EF4-FFF2-40B4-BE49-F238E27FC236}">
                    <a16:creationId xmlns:a16="http://schemas.microsoft.com/office/drawing/2014/main" id="{7F8DD606-E41D-B343-9EDA-6A3FE76A5B82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H="1">
                <a:off x="4393462" y="3312289"/>
                <a:ext cx="417548" cy="3326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42">
                <a:extLst>
                  <a:ext uri="{FF2B5EF4-FFF2-40B4-BE49-F238E27FC236}">
                    <a16:creationId xmlns:a16="http://schemas.microsoft.com/office/drawing/2014/main" id="{5CB7E177-57E3-9B4C-BD51-8F3728E822C4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 flipH="1">
                <a:off x="5270385" y="4325229"/>
                <a:ext cx="263230" cy="709466"/>
              </a:xfrm>
              <a:prstGeom prst="straightConnector1">
                <a:avLst/>
              </a:prstGeom>
              <a:ln w="38100">
                <a:solidFill>
                  <a:srgbClr val="0069C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44">
                <a:extLst>
                  <a:ext uri="{FF2B5EF4-FFF2-40B4-BE49-F238E27FC236}">
                    <a16:creationId xmlns:a16="http://schemas.microsoft.com/office/drawing/2014/main" id="{9F688E33-24A0-1C48-A147-2F4F4509C17F}"/>
                  </a:ext>
                </a:extLst>
              </p:cNvPr>
              <p:cNvCxnSpPr>
                <a:cxnSpLocks/>
                <a:stCxn id="11" idx="5"/>
              </p:cNvCxnSpPr>
              <p:nvPr/>
            </p:nvCxnSpPr>
            <p:spPr>
              <a:xfrm>
                <a:off x="6097148" y="4325229"/>
                <a:ext cx="219481" cy="709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箭頭接點 34">
              <a:extLst>
                <a:ext uri="{FF2B5EF4-FFF2-40B4-BE49-F238E27FC236}">
                  <a16:creationId xmlns:a16="http://schemas.microsoft.com/office/drawing/2014/main" id="{10FAAF19-BAA5-BC46-A8C6-4986D8914F3F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 flipH="1">
              <a:off x="4637314" y="3400000"/>
              <a:ext cx="11326" cy="3664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箭頭接點 36">
              <a:extLst>
                <a:ext uri="{FF2B5EF4-FFF2-40B4-BE49-F238E27FC236}">
                  <a16:creationId xmlns:a16="http://schemas.microsoft.com/office/drawing/2014/main" id="{18A7A13E-FDDC-C34A-851F-093D97E665DD}"/>
                </a:ext>
              </a:extLst>
            </p:cNvPr>
            <p:cNvCxnSpPr>
              <a:cxnSpLocks/>
              <a:stCxn id="11" idx="4"/>
            </p:cNvCxnSpPr>
            <p:nvPr/>
          </p:nvCxnSpPr>
          <p:spPr>
            <a:xfrm>
              <a:off x="5371245" y="4412940"/>
              <a:ext cx="0" cy="6815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20F7A0F5-1CDC-0F43-BFC9-C6CC83237CDA}"/>
                </a:ext>
              </a:extLst>
            </p:cNvPr>
            <p:cNvSpPr txBox="1"/>
            <p:nvPr/>
          </p:nvSpPr>
          <p:spPr>
            <a:xfrm>
              <a:off x="4524376" y="5124503"/>
              <a:ext cx="603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$50</a:t>
              </a:r>
              <a:endParaRPr kumimoji="1" lang="zh-TW" altLang="en-US" dirty="0"/>
            </a:p>
          </p:txBody>
        </p: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E63C9C3-FE4E-134A-8265-2C812D32FB4C}"/>
              </a:ext>
            </a:extLst>
          </p:cNvPr>
          <p:cNvSpPr txBox="1"/>
          <p:nvPr/>
        </p:nvSpPr>
        <p:spPr>
          <a:xfrm>
            <a:off x="3808929" y="2022385"/>
            <a:ext cx="17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Regrets = [0,0]</a:t>
            </a:r>
            <a:endParaRPr kumimoji="1"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ECA2A32-B1B0-6D4B-A61F-C6BF27798ED9}"/>
              </a:ext>
            </a:extLst>
          </p:cNvPr>
          <p:cNvSpPr txBox="1"/>
          <p:nvPr/>
        </p:nvSpPr>
        <p:spPr>
          <a:xfrm>
            <a:off x="2860766" y="4221254"/>
            <a:ext cx="196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Regrets = [0,-50,50]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6B51DFC-6E44-B24E-B2F8-2292F1EC9BED}"/>
              </a:ext>
            </a:extLst>
          </p:cNvPr>
          <p:cNvSpPr txBox="1"/>
          <p:nvPr/>
        </p:nvSpPr>
        <p:spPr>
          <a:xfrm>
            <a:off x="5199797" y="5407532"/>
            <a:ext cx="60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$0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9F7E506-0FC0-AD49-9961-E6B3CEB097B2}"/>
              </a:ext>
            </a:extLst>
          </p:cNvPr>
          <p:cNvSpPr txBox="1"/>
          <p:nvPr/>
        </p:nvSpPr>
        <p:spPr>
          <a:xfrm>
            <a:off x="5631376" y="5407532"/>
            <a:ext cx="680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$100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1907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11252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Counterfactual Regret Minimization (MCCFR)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18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D1CAE36-4BE3-2145-AE89-7E56FBCE9A52}"/>
              </a:ext>
            </a:extLst>
          </p:cNvPr>
          <p:cNvGrpSpPr/>
          <p:nvPr/>
        </p:nvGrpSpPr>
        <p:grpSpPr>
          <a:xfrm>
            <a:off x="2860766" y="1750524"/>
            <a:ext cx="5700506" cy="4026340"/>
            <a:chOff x="2860766" y="1750524"/>
            <a:chExt cx="5700506" cy="402634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A416AEF0-14EB-174C-990A-CFDB408A67DB}"/>
                </a:ext>
              </a:extLst>
            </p:cNvPr>
            <p:cNvGrpSpPr/>
            <p:nvPr/>
          </p:nvGrpSpPr>
          <p:grpSpPr>
            <a:xfrm>
              <a:off x="3971096" y="1873133"/>
              <a:ext cx="3214811" cy="3903731"/>
              <a:chOff x="3949325" y="1590104"/>
              <a:chExt cx="3214811" cy="3903731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C8C69A0F-51DE-8648-BC39-9D40F91BE5BA}"/>
                  </a:ext>
                </a:extLst>
              </p:cNvPr>
              <p:cNvGrpSpPr/>
              <p:nvPr/>
            </p:nvGrpSpPr>
            <p:grpSpPr>
              <a:xfrm>
                <a:off x="3949325" y="1590104"/>
                <a:ext cx="3214811" cy="3415591"/>
                <a:chOff x="4393462" y="1619104"/>
                <a:chExt cx="3214811" cy="3415591"/>
              </a:xfrm>
            </p:grpSpPr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0EB81C53-B3B7-BF49-B6C3-9C3D5131F938}"/>
                    </a:ext>
                  </a:extLst>
                </p:cNvPr>
                <p:cNvSpPr/>
                <p:nvPr/>
              </p:nvSpPr>
              <p:spPr>
                <a:xfrm>
                  <a:off x="6092931" y="1619104"/>
                  <a:ext cx="796955" cy="796955"/>
                </a:xfrm>
                <a:prstGeom prst="ellipse">
                  <a:avLst/>
                </a:prstGeom>
                <a:solidFill>
                  <a:srgbClr val="6FC2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P1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橢圓 6">
                  <a:extLst>
                    <a:ext uri="{FF2B5EF4-FFF2-40B4-BE49-F238E27FC236}">
                      <a16:creationId xmlns:a16="http://schemas.microsoft.com/office/drawing/2014/main" id="{9A521992-A784-C641-9492-445A49E0EEA4}"/>
                    </a:ext>
                  </a:extLst>
                </p:cNvPr>
                <p:cNvSpPr/>
                <p:nvPr/>
              </p:nvSpPr>
              <p:spPr>
                <a:xfrm>
                  <a:off x="4694299" y="2632045"/>
                  <a:ext cx="796955" cy="796955"/>
                </a:xfrm>
                <a:prstGeom prst="ellipse">
                  <a:avLst/>
                </a:prstGeom>
                <a:solidFill>
                  <a:srgbClr val="FF6F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P2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55625D94-E3D3-3E48-B051-DBDB175669C4}"/>
                    </a:ext>
                  </a:extLst>
                </p:cNvPr>
                <p:cNvCxnSpPr>
                  <a:cxnSpLocks/>
                  <a:stCxn id="6" idx="3"/>
                  <a:endCxn id="7" idx="7"/>
                </p:cNvCxnSpPr>
                <p:nvPr/>
              </p:nvCxnSpPr>
              <p:spPr>
                <a:xfrm flipH="1">
                  <a:off x="5374543" y="2299348"/>
                  <a:ext cx="835099" cy="449408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線單箭頭接點 10">
                  <a:extLst>
                    <a:ext uri="{FF2B5EF4-FFF2-40B4-BE49-F238E27FC236}">
                      <a16:creationId xmlns:a16="http://schemas.microsoft.com/office/drawing/2014/main" id="{81718BBC-A0E6-234F-8E94-AA1E77FC6921}"/>
                    </a:ext>
                  </a:extLst>
                </p:cNvPr>
                <p:cNvCxnSpPr>
                  <a:cxnSpLocks/>
                  <a:stCxn id="6" idx="5"/>
                </p:cNvCxnSpPr>
                <p:nvPr/>
              </p:nvCxnSpPr>
              <p:spPr>
                <a:xfrm>
                  <a:off x="6773175" y="2299348"/>
                  <a:ext cx="835098" cy="449408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橢圓 10">
                  <a:extLst>
                    <a:ext uri="{FF2B5EF4-FFF2-40B4-BE49-F238E27FC236}">
                      <a16:creationId xmlns:a16="http://schemas.microsoft.com/office/drawing/2014/main" id="{B2AD9108-D2FD-8F49-B777-1AF94122BCF6}"/>
                    </a:ext>
                  </a:extLst>
                </p:cNvPr>
                <p:cNvSpPr/>
                <p:nvPr/>
              </p:nvSpPr>
              <p:spPr>
                <a:xfrm>
                  <a:off x="5416904" y="3644985"/>
                  <a:ext cx="796955" cy="796955"/>
                </a:xfrm>
                <a:prstGeom prst="ellipse">
                  <a:avLst/>
                </a:prstGeom>
                <a:solidFill>
                  <a:srgbClr val="6FC2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P1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" name="直線單箭頭接點 18">
                  <a:extLst>
                    <a:ext uri="{FF2B5EF4-FFF2-40B4-BE49-F238E27FC236}">
                      <a16:creationId xmlns:a16="http://schemas.microsoft.com/office/drawing/2014/main" id="{0FDA4B50-C667-B547-8E2C-A000FE4FBC7D}"/>
                    </a:ext>
                  </a:extLst>
                </p:cNvPr>
                <p:cNvCxnSpPr>
                  <a:cxnSpLocks/>
                  <a:stCxn id="7" idx="5"/>
                  <a:endCxn id="11" idx="0"/>
                </p:cNvCxnSpPr>
                <p:nvPr/>
              </p:nvCxnSpPr>
              <p:spPr>
                <a:xfrm>
                  <a:off x="5374543" y="3312289"/>
                  <a:ext cx="440839" cy="332696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線單箭頭接點 27">
                  <a:extLst>
                    <a:ext uri="{FF2B5EF4-FFF2-40B4-BE49-F238E27FC236}">
                      <a16:creationId xmlns:a16="http://schemas.microsoft.com/office/drawing/2014/main" id="{7F8DD606-E41D-B343-9EDA-6A3FE76A5B82}"/>
                    </a:ext>
                  </a:extLst>
                </p:cNvPr>
                <p:cNvCxnSpPr>
                  <a:cxnSpLocks/>
                  <a:stCxn id="7" idx="3"/>
                </p:cNvCxnSpPr>
                <p:nvPr/>
              </p:nvCxnSpPr>
              <p:spPr>
                <a:xfrm flipH="1">
                  <a:off x="4393462" y="3312289"/>
                  <a:ext cx="417548" cy="33269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線單箭頭接點 42">
                  <a:extLst>
                    <a:ext uri="{FF2B5EF4-FFF2-40B4-BE49-F238E27FC236}">
                      <a16:creationId xmlns:a16="http://schemas.microsoft.com/office/drawing/2014/main" id="{5CB7E177-57E3-9B4C-BD51-8F3728E822C4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H="1">
                  <a:off x="5270385" y="4325229"/>
                  <a:ext cx="263230" cy="709466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單箭頭接點 44">
                  <a:extLst>
                    <a:ext uri="{FF2B5EF4-FFF2-40B4-BE49-F238E27FC236}">
                      <a16:creationId xmlns:a16="http://schemas.microsoft.com/office/drawing/2014/main" id="{9F688E33-24A0-1C48-A147-2F4F4509C17F}"/>
                    </a:ext>
                  </a:extLst>
                </p:cNvPr>
                <p:cNvCxnSpPr>
                  <a:cxnSpLocks/>
                  <a:stCxn id="11" idx="5"/>
                </p:cNvCxnSpPr>
                <p:nvPr/>
              </p:nvCxnSpPr>
              <p:spPr>
                <a:xfrm>
                  <a:off x="6097148" y="4325229"/>
                  <a:ext cx="219481" cy="7094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直線箭頭接點 34">
                <a:extLst>
                  <a:ext uri="{FF2B5EF4-FFF2-40B4-BE49-F238E27FC236}">
                    <a16:creationId xmlns:a16="http://schemas.microsoft.com/office/drawing/2014/main" id="{10FAAF19-BAA5-BC46-A8C6-4986D8914F3F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 flipH="1">
                <a:off x="4637314" y="3400000"/>
                <a:ext cx="11326" cy="36645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箭頭接點 36">
                <a:extLst>
                  <a:ext uri="{FF2B5EF4-FFF2-40B4-BE49-F238E27FC236}">
                    <a16:creationId xmlns:a16="http://schemas.microsoft.com/office/drawing/2014/main" id="{18A7A13E-FDDC-C34A-851F-093D97E665DD}"/>
                  </a:ext>
                </a:extLst>
              </p:cNvPr>
              <p:cNvCxnSpPr>
                <a:cxnSpLocks/>
                <a:stCxn id="11" idx="4"/>
              </p:cNvCxnSpPr>
              <p:nvPr/>
            </p:nvCxnSpPr>
            <p:spPr>
              <a:xfrm>
                <a:off x="5371245" y="4412940"/>
                <a:ext cx="0" cy="6815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20F7A0F5-1CDC-0F43-BFC9-C6CC83237CDA}"/>
                  </a:ext>
                </a:extLst>
              </p:cNvPr>
              <p:cNvSpPr txBox="1"/>
              <p:nvPr/>
            </p:nvSpPr>
            <p:spPr>
              <a:xfrm>
                <a:off x="4524376" y="5124503"/>
                <a:ext cx="6037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$50</a:t>
                </a:r>
                <a:endParaRPr kumimoji="1" lang="zh-TW" altLang="en-US" dirty="0"/>
              </a:p>
            </p:txBody>
          </p:sp>
        </p:grp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E63C9C3-FE4E-134A-8265-2C812D32FB4C}"/>
                </a:ext>
              </a:extLst>
            </p:cNvPr>
            <p:cNvSpPr txBox="1"/>
            <p:nvPr/>
          </p:nvSpPr>
          <p:spPr>
            <a:xfrm>
              <a:off x="3748809" y="1750524"/>
              <a:ext cx="1722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Regrets = [0,0]</a:t>
              </a:r>
              <a:endParaRPr kumimoji="1" lang="zh-TW" altLang="en-US" dirty="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0ECA2A32-B1B0-6D4B-A61F-C6BF27798ED9}"/>
                </a:ext>
              </a:extLst>
            </p:cNvPr>
            <p:cNvSpPr txBox="1"/>
            <p:nvPr/>
          </p:nvSpPr>
          <p:spPr>
            <a:xfrm>
              <a:off x="2860766" y="4221254"/>
              <a:ext cx="1966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Regrets = [0,-50,50]</a:t>
              </a:r>
              <a:endParaRPr kumimoji="1" lang="zh-TW" altLang="en-US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96B51DFC-6E44-B24E-B2F8-2292F1EC9BED}"/>
                </a:ext>
              </a:extLst>
            </p:cNvPr>
            <p:cNvSpPr txBox="1"/>
            <p:nvPr/>
          </p:nvSpPr>
          <p:spPr>
            <a:xfrm>
              <a:off x="5199797" y="5407532"/>
              <a:ext cx="603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$0</a:t>
              </a:r>
              <a:endParaRPr kumimoji="1" lang="zh-TW" altLang="en-US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9F7E506-0FC0-AD49-9961-E6B3CEB097B2}"/>
                </a:ext>
              </a:extLst>
            </p:cNvPr>
            <p:cNvSpPr txBox="1"/>
            <p:nvPr/>
          </p:nvSpPr>
          <p:spPr>
            <a:xfrm>
              <a:off x="5631376" y="5407532"/>
              <a:ext cx="6802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$100</a:t>
              </a:r>
              <a:endParaRPr kumimoji="1"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CE61DFE-BF85-794E-95A8-AD738397F611}"/>
                </a:ext>
              </a:extLst>
            </p:cNvPr>
            <p:cNvSpPr txBox="1"/>
            <p:nvPr/>
          </p:nvSpPr>
          <p:spPr>
            <a:xfrm rot="19915633">
              <a:off x="4668910" y="2191623"/>
              <a:ext cx="9861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Reward $50</a:t>
              </a:r>
              <a:endParaRPr lang="zh-TW" altLang="en-US" dirty="0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5B39CECC-360B-6640-B421-C805296F05F9}"/>
                </a:ext>
              </a:extLst>
            </p:cNvPr>
            <p:cNvSpPr/>
            <p:nvPr/>
          </p:nvSpPr>
          <p:spPr>
            <a:xfrm>
              <a:off x="7069196" y="2886074"/>
              <a:ext cx="796955" cy="796955"/>
            </a:xfrm>
            <a:prstGeom prst="ellipse">
              <a:avLst/>
            </a:prstGeom>
            <a:solidFill>
              <a:srgbClr val="FF6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30CDE26-25C6-2142-A2BC-8A7619540B0C}"/>
                </a:ext>
              </a:extLst>
            </p:cNvPr>
            <p:cNvSpPr/>
            <p:nvPr/>
          </p:nvSpPr>
          <p:spPr>
            <a:xfrm>
              <a:off x="7764317" y="3899014"/>
              <a:ext cx="796955" cy="796955"/>
            </a:xfrm>
            <a:prstGeom prst="ellipse">
              <a:avLst/>
            </a:prstGeom>
            <a:solidFill>
              <a:srgbClr val="6FC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直線單箭頭接點 29">
              <a:extLst>
                <a:ext uri="{FF2B5EF4-FFF2-40B4-BE49-F238E27FC236}">
                  <a16:creationId xmlns:a16="http://schemas.microsoft.com/office/drawing/2014/main" id="{99C7EE3D-EFB6-1948-8601-DFAB8DE94BA2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6768358" y="3566318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31">
              <a:extLst>
                <a:ext uri="{FF2B5EF4-FFF2-40B4-BE49-F238E27FC236}">
                  <a16:creationId xmlns:a16="http://schemas.microsoft.com/office/drawing/2014/main" id="{B7A3B8BC-3099-BF4C-B7A9-3B64C5232B89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7749440" y="3566318"/>
              <a:ext cx="455694" cy="332696"/>
            </a:xfrm>
            <a:prstGeom prst="straightConnector1">
              <a:avLst/>
            </a:prstGeom>
            <a:ln w="38100">
              <a:solidFill>
                <a:srgbClr val="0069C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48">
              <a:extLst>
                <a:ext uri="{FF2B5EF4-FFF2-40B4-BE49-F238E27FC236}">
                  <a16:creationId xmlns:a16="http://schemas.microsoft.com/office/drawing/2014/main" id="{1D37817E-DF39-4948-AB96-9DA80D2144F8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7634562" y="4579258"/>
              <a:ext cx="246466" cy="709466"/>
            </a:xfrm>
            <a:prstGeom prst="straightConnector1">
              <a:avLst/>
            </a:prstGeom>
            <a:ln w="38100">
              <a:solidFill>
                <a:srgbClr val="0069C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9C56D01-CF46-544C-B51C-078569CC3F05}"/>
                </a:ext>
              </a:extLst>
            </p:cNvPr>
            <p:cNvSpPr txBox="1"/>
            <p:nvPr/>
          </p:nvSpPr>
          <p:spPr>
            <a:xfrm>
              <a:off x="7209065" y="5407532"/>
              <a:ext cx="759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-$500</a:t>
              </a:r>
              <a:endParaRPr kumimoji="1" lang="zh-TW" altLang="en-US" dirty="0"/>
            </a:p>
          </p:txBody>
        </p:sp>
      </p:grpSp>
      <p:cxnSp>
        <p:nvCxnSpPr>
          <p:cNvPr id="30" name="直線單箭頭接點 50">
            <a:extLst>
              <a:ext uri="{FF2B5EF4-FFF2-40B4-BE49-F238E27FC236}">
                <a16:creationId xmlns:a16="http://schemas.microsoft.com/office/drawing/2014/main" id="{04874E86-D3C1-134C-9217-A4B27A66FCDD}"/>
              </a:ext>
            </a:extLst>
          </p:cNvPr>
          <p:cNvCxnSpPr>
            <a:cxnSpLocks/>
          </p:cNvCxnSpPr>
          <p:nvPr/>
        </p:nvCxnSpPr>
        <p:spPr>
          <a:xfrm>
            <a:off x="8444561" y="4579258"/>
            <a:ext cx="26980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9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11252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Counterfactual Regret Minimization (MCCFR)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7D7E222-40AC-AD4D-BFFA-C06E99EC5475}" type="slidenum">
              <a:rPr kumimoji="1" lang="zh-TW" altLang="en-US" smtClean="0"/>
              <a:t>19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D1CAE36-4BE3-2145-AE89-7E56FBCE9A52}"/>
              </a:ext>
            </a:extLst>
          </p:cNvPr>
          <p:cNvGrpSpPr/>
          <p:nvPr/>
        </p:nvGrpSpPr>
        <p:grpSpPr>
          <a:xfrm>
            <a:off x="2860766" y="1750524"/>
            <a:ext cx="5700506" cy="4026340"/>
            <a:chOff x="2860766" y="1750524"/>
            <a:chExt cx="5700506" cy="402634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A416AEF0-14EB-174C-990A-CFDB408A67DB}"/>
                </a:ext>
              </a:extLst>
            </p:cNvPr>
            <p:cNvGrpSpPr/>
            <p:nvPr/>
          </p:nvGrpSpPr>
          <p:grpSpPr>
            <a:xfrm>
              <a:off x="3971096" y="1873133"/>
              <a:ext cx="3214811" cy="3903731"/>
              <a:chOff x="3949325" y="1590104"/>
              <a:chExt cx="3214811" cy="3903731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C8C69A0F-51DE-8648-BC39-9D40F91BE5BA}"/>
                  </a:ext>
                </a:extLst>
              </p:cNvPr>
              <p:cNvGrpSpPr/>
              <p:nvPr/>
            </p:nvGrpSpPr>
            <p:grpSpPr>
              <a:xfrm>
                <a:off x="3949325" y="1590104"/>
                <a:ext cx="3214811" cy="3415591"/>
                <a:chOff x="4393462" y="1619104"/>
                <a:chExt cx="3214811" cy="3415591"/>
              </a:xfrm>
            </p:grpSpPr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0EB81C53-B3B7-BF49-B6C3-9C3D5131F938}"/>
                    </a:ext>
                  </a:extLst>
                </p:cNvPr>
                <p:cNvSpPr/>
                <p:nvPr/>
              </p:nvSpPr>
              <p:spPr>
                <a:xfrm>
                  <a:off x="6092931" y="1619104"/>
                  <a:ext cx="796955" cy="796955"/>
                </a:xfrm>
                <a:prstGeom prst="ellipse">
                  <a:avLst/>
                </a:prstGeom>
                <a:solidFill>
                  <a:srgbClr val="6FC2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P1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橢圓 6">
                  <a:extLst>
                    <a:ext uri="{FF2B5EF4-FFF2-40B4-BE49-F238E27FC236}">
                      <a16:creationId xmlns:a16="http://schemas.microsoft.com/office/drawing/2014/main" id="{9A521992-A784-C641-9492-445A49E0EEA4}"/>
                    </a:ext>
                  </a:extLst>
                </p:cNvPr>
                <p:cNvSpPr/>
                <p:nvPr/>
              </p:nvSpPr>
              <p:spPr>
                <a:xfrm>
                  <a:off x="4694299" y="2632045"/>
                  <a:ext cx="796955" cy="796955"/>
                </a:xfrm>
                <a:prstGeom prst="ellipse">
                  <a:avLst/>
                </a:prstGeom>
                <a:solidFill>
                  <a:srgbClr val="FF6F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P2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55625D94-E3D3-3E48-B051-DBDB175669C4}"/>
                    </a:ext>
                  </a:extLst>
                </p:cNvPr>
                <p:cNvCxnSpPr>
                  <a:cxnSpLocks/>
                  <a:stCxn id="6" idx="3"/>
                  <a:endCxn id="7" idx="7"/>
                </p:cNvCxnSpPr>
                <p:nvPr/>
              </p:nvCxnSpPr>
              <p:spPr>
                <a:xfrm flipH="1">
                  <a:off x="5374543" y="2299348"/>
                  <a:ext cx="835099" cy="449408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線單箭頭接點 10">
                  <a:extLst>
                    <a:ext uri="{FF2B5EF4-FFF2-40B4-BE49-F238E27FC236}">
                      <a16:creationId xmlns:a16="http://schemas.microsoft.com/office/drawing/2014/main" id="{81718BBC-A0E6-234F-8E94-AA1E77FC6921}"/>
                    </a:ext>
                  </a:extLst>
                </p:cNvPr>
                <p:cNvCxnSpPr>
                  <a:cxnSpLocks/>
                  <a:stCxn id="6" idx="5"/>
                </p:cNvCxnSpPr>
                <p:nvPr/>
              </p:nvCxnSpPr>
              <p:spPr>
                <a:xfrm>
                  <a:off x="6773175" y="2299348"/>
                  <a:ext cx="835098" cy="449408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橢圓 10">
                  <a:extLst>
                    <a:ext uri="{FF2B5EF4-FFF2-40B4-BE49-F238E27FC236}">
                      <a16:creationId xmlns:a16="http://schemas.microsoft.com/office/drawing/2014/main" id="{B2AD9108-D2FD-8F49-B777-1AF94122BCF6}"/>
                    </a:ext>
                  </a:extLst>
                </p:cNvPr>
                <p:cNvSpPr/>
                <p:nvPr/>
              </p:nvSpPr>
              <p:spPr>
                <a:xfrm>
                  <a:off x="5416904" y="3644985"/>
                  <a:ext cx="796955" cy="796955"/>
                </a:xfrm>
                <a:prstGeom prst="ellipse">
                  <a:avLst/>
                </a:prstGeom>
                <a:solidFill>
                  <a:srgbClr val="6FC2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P1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" name="直線單箭頭接點 18">
                  <a:extLst>
                    <a:ext uri="{FF2B5EF4-FFF2-40B4-BE49-F238E27FC236}">
                      <a16:creationId xmlns:a16="http://schemas.microsoft.com/office/drawing/2014/main" id="{0FDA4B50-C667-B547-8E2C-A000FE4FBC7D}"/>
                    </a:ext>
                  </a:extLst>
                </p:cNvPr>
                <p:cNvCxnSpPr>
                  <a:cxnSpLocks/>
                  <a:stCxn id="7" idx="5"/>
                  <a:endCxn id="11" idx="0"/>
                </p:cNvCxnSpPr>
                <p:nvPr/>
              </p:nvCxnSpPr>
              <p:spPr>
                <a:xfrm>
                  <a:off x="5374543" y="3312289"/>
                  <a:ext cx="440839" cy="332696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線單箭頭接點 27">
                  <a:extLst>
                    <a:ext uri="{FF2B5EF4-FFF2-40B4-BE49-F238E27FC236}">
                      <a16:creationId xmlns:a16="http://schemas.microsoft.com/office/drawing/2014/main" id="{7F8DD606-E41D-B343-9EDA-6A3FE76A5B82}"/>
                    </a:ext>
                  </a:extLst>
                </p:cNvPr>
                <p:cNvCxnSpPr>
                  <a:cxnSpLocks/>
                  <a:stCxn id="7" idx="3"/>
                </p:cNvCxnSpPr>
                <p:nvPr/>
              </p:nvCxnSpPr>
              <p:spPr>
                <a:xfrm flipH="1">
                  <a:off x="4393462" y="3312289"/>
                  <a:ext cx="417548" cy="33269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線單箭頭接點 42">
                  <a:extLst>
                    <a:ext uri="{FF2B5EF4-FFF2-40B4-BE49-F238E27FC236}">
                      <a16:creationId xmlns:a16="http://schemas.microsoft.com/office/drawing/2014/main" id="{5CB7E177-57E3-9B4C-BD51-8F3728E822C4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H="1">
                  <a:off x="5270385" y="4325229"/>
                  <a:ext cx="263230" cy="709466"/>
                </a:xfrm>
                <a:prstGeom prst="straightConnector1">
                  <a:avLst/>
                </a:prstGeom>
                <a:ln w="38100">
                  <a:solidFill>
                    <a:srgbClr val="0069C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單箭頭接點 44">
                  <a:extLst>
                    <a:ext uri="{FF2B5EF4-FFF2-40B4-BE49-F238E27FC236}">
                      <a16:creationId xmlns:a16="http://schemas.microsoft.com/office/drawing/2014/main" id="{9F688E33-24A0-1C48-A147-2F4F4509C17F}"/>
                    </a:ext>
                  </a:extLst>
                </p:cNvPr>
                <p:cNvCxnSpPr>
                  <a:cxnSpLocks/>
                  <a:stCxn id="11" idx="5"/>
                </p:cNvCxnSpPr>
                <p:nvPr/>
              </p:nvCxnSpPr>
              <p:spPr>
                <a:xfrm>
                  <a:off x="6097148" y="4325229"/>
                  <a:ext cx="219481" cy="70946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直線箭頭接點 34">
                <a:extLst>
                  <a:ext uri="{FF2B5EF4-FFF2-40B4-BE49-F238E27FC236}">
                    <a16:creationId xmlns:a16="http://schemas.microsoft.com/office/drawing/2014/main" id="{10FAAF19-BAA5-BC46-A8C6-4986D8914F3F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 flipH="1">
                <a:off x="4637314" y="3400000"/>
                <a:ext cx="11326" cy="36645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箭頭接點 36">
                <a:extLst>
                  <a:ext uri="{FF2B5EF4-FFF2-40B4-BE49-F238E27FC236}">
                    <a16:creationId xmlns:a16="http://schemas.microsoft.com/office/drawing/2014/main" id="{18A7A13E-FDDC-C34A-851F-093D97E665DD}"/>
                  </a:ext>
                </a:extLst>
              </p:cNvPr>
              <p:cNvCxnSpPr>
                <a:cxnSpLocks/>
                <a:stCxn id="11" idx="4"/>
              </p:cNvCxnSpPr>
              <p:nvPr/>
            </p:nvCxnSpPr>
            <p:spPr>
              <a:xfrm>
                <a:off x="5371245" y="4412940"/>
                <a:ext cx="0" cy="6815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20F7A0F5-1CDC-0F43-BFC9-C6CC83237CDA}"/>
                  </a:ext>
                </a:extLst>
              </p:cNvPr>
              <p:cNvSpPr txBox="1"/>
              <p:nvPr/>
            </p:nvSpPr>
            <p:spPr>
              <a:xfrm>
                <a:off x="4524376" y="5124503"/>
                <a:ext cx="6037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$50</a:t>
                </a:r>
                <a:endParaRPr kumimoji="1" lang="zh-TW" altLang="en-US" dirty="0"/>
              </a:p>
            </p:txBody>
          </p:sp>
        </p:grp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E63C9C3-FE4E-134A-8265-2C812D32FB4C}"/>
                </a:ext>
              </a:extLst>
            </p:cNvPr>
            <p:cNvSpPr txBox="1"/>
            <p:nvPr/>
          </p:nvSpPr>
          <p:spPr>
            <a:xfrm>
              <a:off x="3748809" y="1750524"/>
              <a:ext cx="1921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Regrets = [0,-550]</a:t>
              </a:r>
              <a:endParaRPr kumimoji="1" lang="zh-TW" altLang="en-US" dirty="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0ECA2A32-B1B0-6D4B-A61F-C6BF27798ED9}"/>
                </a:ext>
              </a:extLst>
            </p:cNvPr>
            <p:cNvSpPr txBox="1"/>
            <p:nvPr/>
          </p:nvSpPr>
          <p:spPr>
            <a:xfrm>
              <a:off x="2860766" y="4221254"/>
              <a:ext cx="1966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Regrets = [0,-50,50]</a:t>
              </a:r>
              <a:endParaRPr kumimoji="1" lang="zh-TW" altLang="en-US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96B51DFC-6E44-B24E-B2F8-2292F1EC9BED}"/>
                </a:ext>
              </a:extLst>
            </p:cNvPr>
            <p:cNvSpPr txBox="1"/>
            <p:nvPr/>
          </p:nvSpPr>
          <p:spPr>
            <a:xfrm>
              <a:off x="5199797" y="5407532"/>
              <a:ext cx="603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$0</a:t>
              </a:r>
              <a:endParaRPr kumimoji="1" lang="zh-TW" altLang="en-US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9F7E506-0FC0-AD49-9961-E6B3CEB097B2}"/>
                </a:ext>
              </a:extLst>
            </p:cNvPr>
            <p:cNvSpPr txBox="1"/>
            <p:nvPr/>
          </p:nvSpPr>
          <p:spPr>
            <a:xfrm>
              <a:off x="5631376" y="5407532"/>
              <a:ext cx="6802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$100</a:t>
              </a:r>
              <a:endParaRPr kumimoji="1"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CE61DFE-BF85-794E-95A8-AD738397F611}"/>
                </a:ext>
              </a:extLst>
            </p:cNvPr>
            <p:cNvSpPr txBox="1"/>
            <p:nvPr/>
          </p:nvSpPr>
          <p:spPr>
            <a:xfrm rot="19915633">
              <a:off x="4668910" y="2191623"/>
              <a:ext cx="9861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Reward $50</a:t>
              </a:r>
              <a:endParaRPr lang="zh-TW" altLang="en-US" dirty="0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5B39CECC-360B-6640-B421-C805296F05F9}"/>
                </a:ext>
              </a:extLst>
            </p:cNvPr>
            <p:cNvSpPr/>
            <p:nvPr/>
          </p:nvSpPr>
          <p:spPr>
            <a:xfrm>
              <a:off x="7069196" y="2886074"/>
              <a:ext cx="796955" cy="796955"/>
            </a:xfrm>
            <a:prstGeom prst="ellipse">
              <a:avLst/>
            </a:prstGeom>
            <a:solidFill>
              <a:srgbClr val="FF6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30CDE26-25C6-2142-A2BC-8A7619540B0C}"/>
                </a:ext>
              </a:extLst>
            </p:cNvPr>
            <p:cNvSpPr/>
            <p:nvPr/>
          </p:nvSpPr>
          <p:spPr>
            <a:xfrm>
              <a:off x="7764317" y="3899014"/>
              <a:ext cx="796955" cy="796955"/>
            </a:xfrm>
            <a:prstGeom prst="ellipse">
              <a:avLst/>
            </a:prstGeom>
            <a:solidFill>
              <a:srgbClr val="6FC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直線單箭頭接點 29">
              <a:extLst>
                <a:ext uri="{FF2B5EF4-FFF2-40B4-BE49-F238E27FC236}">
                  <a16:creationId xmlns:a16="http://schemas.microsoft.com/office/drawing/2014/main" id="{99C7EE3D-EFB6-1948-8601-DFAB8DE94BA2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6768358" y="3566318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31">
              <a:extLst>
                <a:ext uri="{FF2B5EF4-FFF2-40B4-BE49-F238E27FC236}">
                  <a16:creationId xmlns:a16="http://schemas.microsoft.com/office/drawing/2014/main" id="{B7A3B8BC-3099-BF4C-B7A9-3B64C5232B89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7749440" y="3566318"/>
              <a:ext cx="455694" cy="332696"/>
            </a:xfrm>
            <a:prstGeom prst="straightConnector1">
              <a:avLst/>
            </a:prstGeom>
            <a:ln w="38100">
              <a:solidFill>
                <a:srgbClr val="0069C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48">
              <a:extLst>
                <a:ext uri="{FF2B5EF4-FFF2-40B4-BE49-F238E27FC236}">
                  <a16:creationId xmlns:a16="http://schemas.microsoft.com/office/drawing/2014/main" id="{1D37817E-DF39-4948-AB96-9DA80D2144F8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7634562" y="4579258"/>
              <a:ext cx="246466" cy="709466"/>
            </a:xfrm>
            <a:prstGeom prst="straightConnector1">
              <a:avLst/>
            </a:prstGeom>
            <a:ln w="38100">
              <a:solidFill>
                <a:srgbClr val="0069C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9C56D01-CF46-544C-B51C-078569CC3F05}"/>
                </a:ext>
              </a:extLst>
            </p:cNvPr>
            <p:cNvSpPr txBox="1"/>
            <p:nvPr/>
          </p:nvSpPr>
          <p:spPr>
            <a:xfrm>
              <a:off x="7209065" y="5407532"/>
              <a:ext cx="759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-$500</a:t>
              </a:r>
              <a:endParaRPr kumimoji="1" lang="zh-TW" altLang="en-US" dirty="0"/>
            </a:p>
          </p:txBody>
        </p:sp>
      </p:grpSp>
      <p:cxnSp>
        <p:nvCxnSpPr>
          <p:cNvPr id="30" name="直線單箭頭接點 50">
            <a:extLst>
              <a:ext uri="{FF2B5EF4-FFF2-40B4-BE49-F238E27FC236}">
                <a16:creationId xmlns:a16="http://schemas.microsoft.com/office/drawing/2014/main" id="{53BB23CF-55E2-B94E-9082-D3C8D9B368DB}"/>
              </a:ext>
            </a:extLst>
          </p:cNvPr>
          <p:cNvCxnSpPr>
            <a:cxnSpLocks/>
          </p:cNvCxnSpPr>
          <p:nvPr/>
        </p:nvCxnSpPr>
        <p:spPr>
          <a:xfrm>
            <a:off x="8444561" y="4579258"/>
            <a:ext cx="26980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057CE25-CDC0-124A-8C3A-AE587FEF9A0B}"/>
              </a:ext>
            </a:extLst>
          </p:cNvPr>
          <p:cNvSpPr txBox="1"/>
          <p:nvPr/>
        </p:nvSpPr>
        <p:spPr>
          <a:xfrm>
            <a:off x="8405100" y="5407532"/>
            <a:ext cx="75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$100</a:t>
            </a:r>
            <a:endParaRPr kumimoji="1"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9605008-D475-6443-8718-6EC40A24566A}"/>
              </a:ext>
            </a:extLst>
          </p:cNvPr>
          <p:cNvSpPr txBox="1"/>
          <p:nvPr/>
        </p:nvSpPr>
        <p:spPr>
          <a:xfrm>
            <a:off x="8596106" y="3928159"/>
            <a:ext cx="196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Regrets = [0,600]</a:t>
            </a:r>
            <a:endParaRPr kumimoji="1"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B7C9A6D-91E5-C448-A4DC-5126517A4A74}"/>
              </a:ext>
            </a:extLst>
          </p:cNvPr>
          <p:cNvSpPr txBox="1"/>
          <p:nvPr/>
        </p:nvSpPr>
        <p:spPr>
          <a:xfrm rot="1710687">
            <a:off x="6489048" y="2192109"/>
            <a:ext cx="954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Reward -$500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495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Unsafe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20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918336" y="1619104"/>
            <a:ext cx="5537109" cy="4212546"/>
            <a:chOff x="3998096" y="1619104"/>
            <a:chExt cx="5537109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3998096" y="289627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P=0.2</a:t>
              </a:r>
            </a:p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828191" y="288921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P=0.7</a:t>
              </a:r>
            </a:p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411631" y="290607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P=0.8</a:t>
              </a:r>
            </a:p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222541" y="2918658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P=0.3</a:t>
              </a:r>
            </a:p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998250" y="4334215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766061" y="4360564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816832" y="4356796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602711" y="43790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Estimate the opponent’ s strategy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This gives a belief distribution over states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Update beliefs via Bayes Rule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D62B3B-1DFC-404B-D748-3FB4276286C2}"/>
              </a:ext>
            </a:extLst>
          </p:cNvPr>
          <p:cNvSpPr txBox="1"/>
          <p:nvPr/>
        </p:nvSpPr>
        <p:spPr>
          <a:xfrm>
            <a:off x="6117696" y="2001419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50%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A94DE5-70A1-BB35-004E-2DC58CF1419A}"/>
              </a:ext>
            </a:extLst>
          </p:cNvPr>
          <p:cNvSpPr txBox="1"/>
          <p:nvPr/>
        </p:nvSpPr>
        <p:spPr>
          <a:xfrm>
            <a:off x="9791296" y="1964640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50%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2A7D187-F39D-3A66-00C0-952B0CD71988}"/>
              </a:ext>
            </a:extLst>
          </p:cNvPr>
          <p:cNvSpPr txBox="1"/>
          <p:nvPr/>
        </p:nvSpPr>
        <p:spPr>
          <a:xfrm>
            <a:off x="5835264" y="3907136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73%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4B0159-5630-581D-6E99-EFFA69279349}"/>
              </a:ext>
            </a:extLst>
          </p:cNvPr>
          <p:cNvSpPr txBox="1"/>
          <p:nvPr/>
        </p:nvSpPr>
        <p:spPr>
          <a:xfrm>
            <a:off x="10903878" y="3570905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27%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318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Unsafe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21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918336" y="1619104"/>
            <a:ext cx="5537109" cy="4212546"/>
            <a:chOff x="3998096" y="1619104"/>
            <a:chExt cx="5537109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3998096" y="289627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828191" y="288921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411631" y="290607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P=0.0</a:t>
              </a:r>
            </a:p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222541" y="2918658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FF0000"/>
                  </a:solidFill>
                </a:rPr>
                <a:t>P=1.0</a:t>
              </a:r>
            </a:p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998250" y="4334215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766061" y="4360564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816832" y="4356796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602711" y="43790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Estimate the opponent’ s strategy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This gives a belief distribution over states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Update beliefs via Bayes Rule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May result in very high exploitability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D62B3B-1DFC-404B-D748-3FB4276286C2}"/>
              </a:ext>
            </a:extLst>
          </p:cNvPr>
          <p:cNvSpPr txBox="1"/>
          <p:nvPr/>
        </p:nvSpPr>
        <p:spPr>
          <a:xfrm>
            <a:off x="6117696" y="2001419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50%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A94DE5-70A1-BB35-004E-2DC58CF1419A}"/>
              </a:ext>
            </a:extLst>
          </p:cNvPr>
          <p:cNvSpPr txBox="1"/>
          <p:nvPr/>
        </p:nvSpPr>
        <p:spPr>
          <a:xfrm>
            <a:off x="9791296" y="1964640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50%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2A7D187-F39D-3A66-00C0-952B0CD71988}"/>
              </a:ext>
            </a:extLst>
          </p:cNvPr>
          <p:cNvSpPr txBox="1"/>
          <p:nvPr/>
        </p:nvSpPr>
        <p:spPr>
          <a:xfrm>
            <a:off x="5835264" y="3907136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73%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4B0159-5630-581D-6E99-EFFA69279349}"/>
              </a:ext>
            </a:extLst>
          </p:cNvPr>
          <p:cNvSpPr txBox="1"/>
          <p:nvPr/>
        </p:nvSpPr>
        <p:spPr>
          <a:xfrm>
            <a:off x="10903878" y="3570905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27%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86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Safe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22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6009139" y="1619104"/>
            <a:ext cx="5511621" cy="4212546"/>
            <a:chOff x="4023584" y="1619104"/>
            <a:chExt cx="5511621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4105510" y="3143611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892343" y="314858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305753" y="3150637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117464" y="3163416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944549" y="4370867"/>
              <a:ext cx="8756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P=0.75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733935" y="4315513"/>
              <a:ext cx="892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P=0.75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774915" y="4412967"/>
              <a:ext cx="9141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P=0.25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564973" y="4432932"/>
              <a:ext cx="911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P=0.25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90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Estimate what the expected value is for the opponent’ s subgame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Theorem: If subgame estimated values are close to the true values, then subgame solving plays close to a Nash equilibrium strategy.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18FEF7-E60F-B3BF-FDA4-7A1B6D1C7CAC}"/>
              </a:ext>
            </a:extLst>
          </p:cNvPr>
          <p:cNvSpPr txBox="1"/>
          <p:nvPr/>
        </p:nvSpPr>
        <p:spPr>
          <a:xfrm>
            <a:off x="7367266" y="3711880"/>
            <a:ext cx="90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812F481-ED7A-EB5B-F059-9AD6F61170A2}"/>
              </a:ext>
            </a:extLst>
          </p:cNvPr>
          <p:cNvSpPr txBox="1"/>
          <p:nvPr/>
        </p:nvSpPr>
        <p:spPr>
          <a:xfrm>
            <a:off x="10160811" y="3713489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60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23</a:t>
            </a:fld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0AF3755-FD9A-0F42-A665-46946B533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Libratus</a:t>
            </a:r>
            <a:r>
              <a:rPr lang="en-US" altLang="zh-TW" dirty="0"/>
              <a:t> against four of the best heads-up no-limited Texas </a:t>
            </a:r>
            <a:r>
              <a:rPr lang="en-US" altLang="zh-TW" dirty="0" err="1"/>
              <a:t>Hold’em</a:t>
            </a:r>
            <a:r>
              <a:rPr lang="en-US" altLang="zh-TW" dirty="0"/>
              <a:t> pros</a:t>
            </a:r>
          </a:p>
          <a:p>
            <a:r>
              <a:rPr lang="en-US" altLang="zh-TW" dirty="0"/>
              <a:t>120,000 hands over 20 days in 2017</a:t>
            </a:r>
          </a:p>
          <a:p>
            <a:r>
              <a:rPr lang="en-US" altLang="zh-TW" dirty="0"/>
              <a:t>Win $200,000</a:t>
            </a:r>
          </a:p>
          <a:p>
            <a:r>
              <a:rPr lang="en-US" altLang="zh-TW" dirty="0"/>
              <a:t>Each human lost to </a:t>
            </a:r>
            <a:r>
              <a:rPr lang="en-US" altLang="zh-TW" dirty="0" err="1"/>
              <a:t>Libratus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040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15314</TotalTime>
  <Words>1357</Words>
  <Application>Microsoft Macintosh PowerPoint</Application>
  <PresentationFormat>寬螢幕</PresentationFormat>
  <Paragraphs>492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新細明體</vt:lpstr>
      <vt:lpstr>Arial</vt:lpstr>
      <vt:lpstr>Calibri</vt:lpstr>
      <vt:lpstr>Times New Roman</vt:lpstr>
      <vt:lpstr>Office 佈景主題</vt:lpstr>
      <vt:lpstr>Superhuman AI for heads-up no-limit poker: Libratus beats top professionals</vt:lpstr>
      <vt:lpstr>Abstract </vt:lpstr>
      <vt:lpstr>Heads-Up No-Limit Texas Hold’em</vt:lpstr>
      <vt:lpstr>Nash Equilibrium</vt:lpstr>
      <vt:lpstr>Example game: Coin Toss </vt:lpstr>
      <vt:lpstr>Example game: Coin Toss </vt:lpstr>
      <vt:lpstr>Example game: Coin Toss </vt:lpstr>
      <vt:lpstr>Example game: Coin Toss </vt:lpstr>
      <vt:lpstr>Example game: Coin Toss </vt:lpstr>
      <vt:lpstr>Example game: Coin Toss </vt:lpstr>
      <vt:lpstr>Example game: Coin Toss </vt:lpstr>
      <vt:lpstr>Example game: Coin Toss </vt:lpstr>
      <vt:lpstr>Solving the whole game</vt:lpstr>
      <vt:lpstr>Card abstraction</vt:lpstr>
      <vt:lpstr>Libratus Abstraction</vt:lpstr>
      <vt:lpstr>Monte Carlo Counterfactual Regret Minimization (MCCFR)</vt:lpstr>
      <vt:lpstr>Monte Carlo Counterfactual Regret Minimization (MCCFR)</vt:lpstr>
      <vt:lpstr>Monte Carlo Counterfactual Regret Minimization (MCCFR)</vt:lpstr>
      <vt:lpstr>Monte Carlo Counterfactual Regret Minimization (MCCFR)</vt:lpstr>
      <vt:lpstr>Unsafe Subgame Solving</vt:lpstr>
      <vt:lpstr>Unsafe Subgame Solving</vt:lpstr>
      <vt:lpstr>Safe Subgame Solving</vt:lpstr>
      <vt:lpstr>Experiments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Deep Learning based Urban Traffic Incident Detection </dc:title>
  <dc:creator>Microsoft Office User</dc:creator>
  <cp:lastModifiedBy>Microsoft Office User</cp:lastModifiedBy>
  <cp:revision>117</cp:revision>
  <dcterms:created xsi:type="dcterms:W3CDTF">2022-05-15T13:18:58Z</dcterms:created>
  <dcterms:modified xsi:type="dcterms:W3CDTF">2023-01-10T05:31:08Z</dcterms:modified>
</cp:coreProperties>
</file>