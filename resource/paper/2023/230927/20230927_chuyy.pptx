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7" r:id="rId3"/>
    <p:sldId id="286" r:id="rId4"/>
    <p:sldId id="258" r:id="rId5"/>
    <p:sldId id="259" r:id="rId6"/>
    <p:sldId id="260" r:id="rId7"/>
    <p:sldId id="261" r:id="rId8"/>
    <p:sldId id="263" r:id="rId9"/>
    <p:sldId id="264" r:id="rId10"/>
    <p:sldId id="266" r:id="rId11"/>
    <p:sldId id="265"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30"/>
    <p:restoredTop sz="95788"/>
  </p:normalViewPr>
  <p:slideViewPr>
    <p:cSldViewPr snapToGrid="0" snapToObjects="1">
      <p:cViewPr varScale="1">
        <p:scale>
          <a:sx n="70" d="100"/>
          <a:sy n="70" d="100"/>
        </p:scale>
        <p:origin x="94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2023/9/27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2023/9/27</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2023/9/27</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2023/9/27</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2023/9/27</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2023/9/27</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2023/9/27</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2023/9/27</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2023/9/27</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2023/9/27</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2023/9/27</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2023/9/27</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2023/9/27</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lang="en-US" altLang="zh-TW" dirty="0">
                <a:latin typeface="Times New Roman" panose="02020603050405020304" pitchFamily="18" charset="0"/>
                <a:cs typeface="Times New Roman" panose="02020603050405020304" pitchFamily="18" charset="0"/>
              </a:rPr>
              <a:t>Reinforcement Learning in Card Game Environments Using Monte Carlo Methods and Artificial Neural Networks </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a:xfrm>
            <a:off x="1524000" y="3602038"/>
            <a:ext cx="9144000" cy="1961024"/>
          </a:xfrm>
        </p:spPr>
        <p:txBody>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Omer Baykal, </a:t>
            </a:r>
            <a:r>
              <a:rPr kumimoji="1" lang="en-US" altLang="zh-TW" dirty="0" err="1">
                <a:latin typeface="Times New Roman" panose="02020603050405020304" pitchFamily="18" charset="0"/>
                <a:cs typeface="Times New Roman" panose="02020603050405020304" pitchFamily="18" charset="0"/>
              </a:rPr>
              <a:t>Ferda</a:t>
            </a:r>
            <a:r>
              <a:rPr kumimoji="1" lang="en-US" altLang="zh-TW" dirty="0">
                <a:latin typeface="Times New Roman" panose="02020603050405020304" pitchFamily="18" charset="0"/>
                <a:cs typeface="Times New Roman" panose="02020603050405020304" pitchFamily="18" charset="0"/>
              </a:rPr>
              <a:t> Nur Alpaslan,</a:t>
            </a:r>
          </a:p>
          <a:p>
            <a:r>
              <a:rPr kumimoji="1" lang="en-US" altLang="zh-TW" dirty="0">
                <a:latin typeface="Times New Roman" panose="02020603050405020304" pitchFamily="18" charset="0"/>
                <a:cs typeface="Times New Roman" panose="02020603050405020304" pitchFamily="18" charset="0"/>
              </a:rPr>
              <a:t>4th International Conference on Computer Science and Engineering (at Samsun, Turkey), 2019</a:t>
            </a:r>
          </a:p>
          <a:p>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Sept. 27, 2023</a:t>
            </a:r>
          </a:p>
        </p:txBody>
      </p:sp>
    </p:spTree>
    <p:extLst>
      <p:ext uri="{BB962C8B-B14F-4D97-AF65-F5344CB8AC3E}">
        <p14:creationId xmlns:p14="http://schemas.microsoft.com/office/powerpoint/2010/main" val="69428091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Artificial intelligence has wide range of application areas and games are one of the important ones. There are many applications of artificial intelligence methods in game environments. It is very common for game environments to include intelligent agents. Having intelligent agents makes a game more entertaining and challenging for its players. Reinforcement learning methods can be applied to develop artificial intelligence agents that learn to play a game by themselves without any supervision and can play it at a high level of </a:t>
            </a:r>
            <a:r>
              <a:rPr kumimoji="1" lang="en-US" altLang="zh-TW" dirty="0" err="1">
                <a:latin typeface="Times New Roman" panose="02020603050405020304" pitchFamily="18" charset="0"/>
                <a:cs typeface="Times New Roman" panose="02020603050405020304" pitchFamily="18" charset="0"/>
              </a:rPr>
              <a:t>expertize</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Supervised learning methods, on the other hand, can be applied to develop agents that play a game by imitating the supervisor players. The purpose of this study is to develop self-learning agents for a card game, namely Batak, using reinforcement learning combined with supervised learning. Batak is a trick-taking card game popular in Turkey. Results of the study reveal that the developed agents are better at gameplaying and similar at bidding compared to some rule based Batak playing agents.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340990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Batak (card game)</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815685"/>
            <a:ext cx="10691191" cy="5032375"/>
          </a:xfrm>
        </p:spPr>
        <p:txBody>
          <a:bodyPr>
            <a:normAutofit lnSpcReduction="10000"/>
          </a:bodyPr>
          <a:lstStyle/>
          <a:p>
            <a:r>
              <a:rPr kumimoji="1" lang="en-US" altLang="zh-TW" dirty="0">
                <a:latin typeface="Times New Roman" panose="02020603050405020304" pitchFamily="18" charset="0"/>
                <a:cs typeface="Times New Roman" panose="02020603050405020304" pitchFamily="18" charset="0"/>
              </a:rPr>
              <a:t>a trick-taking card game</a:t>
            </a:r>
          </a:p>
          <a:p>
            <a:r>
              <a:rPr kumimoji="1" lang="en-US" altLang="zh-TW" dirty="0">
                <a:latin typeface="Times New Roman" panose="02020603050405020304" pitchFamily="18" charset="0"/>
                <a:cs typeface="Times New Roman" panose="02020603050405020304" pitchFamily="18" charset="0"/>
              </a:rPr>
              <a:t>52 cards</a:t>
            </a:r>
          </a:p>
          <a:p>
            <a:pPr lvl="1"/>
            <a:r>
              <a:rPr kumimoji="1" lang="en-US" altLang="zh-TW" dirty="0">
                <a:latin typeface="Times New Roman" panose="02020603050405020304" pitchFamily="18" charset="0"/>
                <a:cs typeface="Times New Roman" panose="02020603050405020304" pitchFamily="18" charset="0"/>
              </a:rPr>
              <a:t>4 suits (spade, heart, diamond, club)</a:t>
            </a:r>
          </a:p>
          <a:p>
            <a:pPr lvl="1"/>
            <a:r>
              <a:rPr kumimoji="1" lang="en-US" altLang="zh-TW" dirty="0">
                <a:latin typeface="Times New Roman" panose="02020603050405020304" pitchFamily="18" charset="0"/>
                <a:cs typeface="Times New Roman" panose="02020603050405020304" pitchFamily="18" charset="0"/>
              </a:rPr>
              <a:t>card rank relationship: A &gt; K &gt; Q &gt; J &gt; 10 &gt; 9 &gt; 8 &gt; … &gt; 2</a:t>
            </a:r>
          </a:p>
          <a:p>
            <a:pPr lvl="1"/>
            <a:r>
              <a:rPr kumimoji="1" lang="en-US" altLang="zh-TW" dirty="0">
                <a:latin typeface="Times New Roman" panose="02020603050405020304" pitchFamily="18" charset="0"/>
                <a:cs typeface="Times New Roman" panose="02020603050405020304" pitchFamily="18" charset="0"/>
              </a:rPr>
              <a:t>spade as trump (trump is higher than other three suits)</a:t>
            </a:r>
          </a:p>
          <a:p>
            <a:r>
              <a:rPr kumimoji="1" lang="en-US" altLang="zh-TW" dirty="0">
                <a:latin typeface="Times New Roman" panose="02020603050405020304" pitchFamily="18" charset="0"/>
                <a:cs typeface="Times New Roman" panose="02020603050405020304" pitchFamily="18" charset="0"/>
              </a:rPr>
              <a:t>4 players (everyone has 13 cards, and one card is played per round)</a:t>
            </a:r>
          </a:p>
          <a:p>
            <a:r>
              <a:rPr kumimoji="1" lang="en-US" altLang="zh-TW" dirty="0">
                <a:latin typeface="Times New Roman" panose="02020603050405020304" pitchFamily="18" charset="0"/>
                <a:cs typeface="Times New Roman" panose="02020603050405020304" pitchFamily="18" charset="0"/>
              </a:rPr>
              <a:t>bidding</a:t>
            </a:r>
          </a:p>
          <a:p>
            <a:pPr lvl="1"/>
            <a:r>
              <a:rPr kumimoji="1" lang="en-US" altLang="zh-TW" dirty="0">
                <a:latin typeface="Times New Roman" panose="02020603050405020304" pitchFamily="18" charset="0"/>
                <a:cs typeface="Times New Roman" panose="02020603050405020304" pitchFamily="18" charset="0"/>
              </a:rPr>
              <a:t>Each player predicts # of tricks he/she can get.</a:t>
            </a:r>
          </a:p>
          <a:p>
            <a:pPr lvl="1"/>
            <a:r>
              <a:rPr kumimoji="1" lang="en-US" altLang="zh-TW" dirty="0">
                <a:latin typeface="Times New Roman" panose="02020603050405020304" pitchFamily="18" charset="0"/>
                <a:cs typeface="Times New Roman" panose="02020603050405020304" pitchFamily="18" charset="0"/>
              </a:rPr>
              <a:t>If # of predicted tricks is 0, score = </a:t>
            </a:r>
            <a:r>
              <a:rPr kumimoji="1" lang="en-US" altLang="zh-TW" dirty="0">
                <a:solidFill>
                  <a:srgbClr val="FF0000"/>
                </a:solidFill>
                <a:latin typeface="Times New Roman" panose="02020603050405020304" pitchFamily="18" charset="0"/>
                <a:cs typeface="Times New Roman" panose="02020603050405020304" pitchFamily="18" charset="0"/>
              </a:rPr>
              <a:t>50</a:t>
            </a:r>
            <a:r>
              <a:rPr kumimoji="1" lang="en-US" altLang="zh-TW" dirty="0">
                <a:latin typeface="Times New Roman" panose="02020603050405020304" pitchFamily="18" charset="0"/>
                <a:cs typeface="Times New Roman" panose="02020603050405020304" pitchFamily="18" charset="0"/>
              </a:rPr>
              <a:t>/</a:t>
            </a:r>
            <a:r>
              <a:rPr kumimoji="1" lang="en-US" altLang="zh-TW" dirty="0">
                <a:solidFill>
                  <a:srgbClr val="FF0000"/>
                </a:solidFill>
                <a:latin typeface="Times New Roman" panose="02020603050405020304" pitchFamily="18" charset="0"/>
                <a:cs typeface="Times New Roman" panose="02020603050405020304" pitchFamily="18" charset="0"/>
              </a:rPr>
              <a:t>-50</a:t>
            </a:r>
            <a:r>
              <a:rPr kumimoji="1" lang="en-US" altLang="zh-TW" dirty="0">
                <a:latin typeface="Times New Roman" panose="02020603050405020304" pitchFamily="18" charset="0"/>
                <a:cs typeface="Times New Roman" panose="02020603050405020304" pitchFamily="18" charset="0"/>
              </a:rPr>
              <a:t> when # of winning tricks is/isn’t 0.</a:t>
            </a:r>
          </a:p>
          <a:p>
            <a:pPr lvl="1"/>
            <a:r>
              <a:rPr kumimoji="1" lang="en-US" altLang="zh-TW" dirty="0">
                <a:latin typeface="Times New Roman" panose="02020603050405020304" pitchFamily="18" charset="0"/>
                <a:cs typeface="Times New Roman" panose="02020603050405020304" pitchFamily="18" charset="0"/>
              </a:rPr>
              <a:t>If # of winning tricks &gt;= # of predicted tricks, </a:t>
            </a:r>
          </a:p>
          <a:p>
            <a:pPr marL="457200" lvl="1" indent="0">
              <a:buNone/>
            </a:pPr>
            <a:r>
              <a:rPr kumimoji="1" lang="en-US" altLang="zh-TW" dirty="0">
                <a:latin typeface="Times New Roman" panose="02020603050405020304" pitchFamily="18" charset="0"/>
                <a:cs typeface="Times New Roman" panose="02020603050405020304" pitchFamily="18" charset="0"/>
              </a:rPr>
              <a:t>   score = </a:t>
            </a:r>
            <a:r>
              <a:rPr kumimoji="1" lang="en-US" altLang="zh-TW" dirty="0">
                <a:solidFill>
                  <a:srgbClr val="FF0000"/>
                </a:solidFill>
                <a:latin typeface="Times New Roman" panose="02020603050405020304" pitchFamily="18" charset="0"/>
                <a:cs typeface="Times New Roman" panose="02020603050405020304" pitchFamily="18" charset="0"/>
              </a:rPr>
              <a:t>10 * (# of predicted tricks) + (# of winning tricks - # of predicted tricks)</a:t>
            </a:r>
            <a:r>
              <a:rPr kumimoji="1" lang="en-US" altLang="zh-TW" dirty="0">
                <a:latin typeface="Times New Roman" panose="02020603050405020304" pitchFamily="18" charset="0"/>
                <a:cs typeface="Times New Roman" panose="02020603050405020304" pitchFamily="18" charset="0"/>
              </a:rPr>
              <a:t>. </a:t>
            </a:r>
          </a:p>
          <a:p>
            <a:pPr lvl="1"/>
            <a:r>
              <a:rPr kumimoji="1" lang="en-US" altLang="zh-TW" dirty="0">
                <a:latin typeface="Times New Roman" panose="02020603050405020304" pitchFamily="18" charset="0"/>
                <a:cs typeface="Times New Roman" panose="02020603050405020304" pitchFamily="18" charset="0"/>
              </a:rPr>
              <a:t>Otherwise, score = </a:t>
            </a:r>
            <a:r>
              <a:rPr kumimoji="1" lang="en-US" altLang="zh-TW" dirty="0">
                <a:solidFill>
                  <a:srgbClr val="FF0000"/>
                </a:solidFill>
                <a:latin typeface="Times New Roman" panose="02020603050405020304" pitchFamily="18" charset="0"/>
                <a:cs typeface="Times New Roman" panose="02020603050405020304" pitchFamily="18" charset="0"/>
              </a:rPr>
              <a:t>-10 * (# of predicted tricks)</a:t>
            </a:r>
            <a:r>
              <a:rPr kumimoji="1" lang="en-US" altLang="zh-TW" dirty="0">
                <a:latin typeface="Times New Roman" panose="02020603050405020304" pitchFamily="18" charset="0"/>
                <a:cs typeface="Times New Roman" panose="02020603050405020304" pitchFamily="18" charset="0"/>
              </a:rPr>
              <a: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Batak (card game)</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233991" cy="5032375"/>
          </a:xfrm>
        </p:spPr>
        <p:txBody>
          <a:bodyPr/>
          <a:lstStyle/>
          <a:p>
            <a:r>
              <a:rPr kumimoji="1" lang="en-US" altLang="zh-TW" dirty="0">
                <a:latin typeface="Times New Roman" panose="02020603050405020304" pitchFamily="18" charset="0"/>
                <a:cs typeface="Times New Roman" panose="02020603050405020304" pitchFamily="18" charset="0"/>
              </a:rPr>
              <a:t>playing</a:t>
            </a:r>
          </a:p>
          <a:p>
            <a:pPr lvl="1"/>
            <a:r>
              <a:rPr kumimoji="1" lang="en-US" altLang="zh-TW" dirty="0">
                <a:latin typeface="Times New Roman" panose="02020603050405020304" pitchFamily="18" charset="0"/>
                <a:cs typeface="Times New Roman" panose="02020603050405020304" pitchFamily="18" charset="0"/>
              </a:rPr>
              <a:t>The winner of previous round is next round’s first player.</a:t>
            </a:r>
          </a:p>
          <a:p>
            <a:pPr lvl="1"/>
            <a:r>
              <a:rPr kumimoji="1" lang="en-US" altLang="zh-TW" dirty="0">
                <a:latin typeface="Times New Roman" panose="02020603050405020304" pitchFamily="18" charset="0"/>
                <a:cs typeface="Times New Roman" panose="02020603050405020304" pitchFamily="18" charset="0"/>
              </a:rPr>
              <a:t>For each round:</a:t>
            </a:r>
          </a:p>
          <a:p>
            <a:pPr lvl="2"/>
            <a:r>
              <a:rPr kumimoji="1" lang="en-US" altLang="zh-TW" dirty="0">
                <a:latin typeface="Times New Roman" panose="02020603050405020304" pitchFamily="18" charset="0"/>
                <a:cs typeface="Times New Roman" panose="02020603050405020304" pitchFamily="18" charset="0"/>
              </a:rPr>
              <a:t>If a non-trump card is led, the following card has to be “</a:t>
            </a:r>
            <a:r>
              <a:rPr kumimoji="1" lang="en-US" altLang="zh-TW" dirty="0">
                <a:solidFill>
                  <a:srgbClr val="FF0000"/>
                </a:solidFill>
                <a:latin typeface="Times New Roman" panose="02020603050405020304" pitchFamily="18" charset="0"/>
                <a:cs typeface="Times New Roman" panose="02020603050405020304" pitchFamily="18" charset="0"/>
              </a:rPr>
              <a:t>same suit, higher rank</a:t>
            </a:r>
            <a:r>
              <a:rPr kumimoji="1" lang="en-US" altLang="zh-TW"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sym typeface="Wingdings" pitchFamily="2" charset="2"/>
              </a:rPr>
              <a:t> “</a:t>
            </a:r>
            <a:r>
              <a:rPr kumimoji="1" lang="en-US" altLang="zh-TW" dirty="0">
                <a:solidFill>
                  <a:srgbClr val="FF0000"/>
                </a:solidFill>
                <a:latin typeface="Times New Roman" panose="02020603050405020304" pitchFamily="18" charset="0"/>
                <a:cs typeface="Times New Roman" panose="02020603050405020304" pitchFamily="18" charset="0"/>
                <a:sym typeface="Wingdings" pitchFamily="2" charset="2"/>
              </a:rPr>
              <a:t>same suit, lower rank</a:t>
            </a:r>
            <a:r>
              <a:rPr kumimoji="1" lang="en-US" altLang="zh-TW" dirty="0">
                <a:latin typeface="Times New Roman" panose="02020603050405020304" pitchFamily="18" charset="0"/>
                <a:cs typeface="Times New Roman" panose="02020603050405020304" pitchFamily="18" charset="0"/>
                <a:sym typeface="Wingdings" pitchFamily="2" charset="2"/>
              </a:rPr>
              <a:t>”  “</a:t>
            </a:r>
            <a:r>
              <a:rPr kumimoji="1" lang="en-US" altLang="zh-TW" dirty="0">
                <a:solidFill>
                  <a:srgbClr val="FF0000"/>
                </a:solidFill>
                <a:latin typeface="Times New Roman" panose="02020603050405020304" pitchFamily="18" charset="0"/>
                <a:cs typeface="Times New Roman" panose="02020603050405020304" pitchFamily="18" charset="0"/>
                <a:sym typeface="Wingdings" pitchFamily="2" charset="2"/>
              </a:rPr>
              <a:t>trump suit</a:t>
            </a:r>
            <a:r>
              <a:rPr kumimoji="1" lang="en-US" altLang="zh-TW" dirty="0">
                <a:latin typeface="Times New Roman" panose="02020603050405020304" pitchFamily="18" charset="0"/>
                <a:cs typeface="Times New Roman" panose="02020603050405020304" pitchFamily="18" charset="0"/>
                <a:sym typeface="Wingdings" pitchFamily="2" charset="2"/>
              </a:rPr>
              <a:t>”  “</a:t>
            </a:r>
            <a:r>
              <a:rPr kumimoji="1" lang="en-US" altLang="zh-TW" dirty="0">
                <a:solidFill>
                  <a:srgbClr val="FF0000"/>
                </a:solidFill>
                <a:latin typeface="Times New Roman" panose="02020603050405020304" pitchFamily="18" charset="0"/>
                <a:cs typeface="Times New Roman" panose="02020603050405020304" pitchFamily="18" charset="0"/>
                <a:sym typeface="Wingdings" pitchFamily="2" charset="2"/>
              </a:rPr>
              <a:t>any other cards</a:t>
            </a:r>
            <a:r>
              <a:rPr kumimoji="1" lang="en-US" altLang="zh-TW" dirty="0">
                <a:latin typeface="Times New Roman" panose="02020603050405020304" pitchFamily="18" charset="0"/>
                <a:cs typeface="Times New Roman" panose="02020603050405020304" pitchFamily="18" charset="0"/>
                <a:sym typeface="Wingdings" pitchFamily="2" charset="2"/>
              </a:rPr>
              <a:t>”.</a:t>
            </a:r>
          </a:p>
          <a:p>
            <a:pPr lvl="2"/>
            <a:r>
              <a:rPr kumimoji="1" lang="en-US" altLang="zh-TW" dirty="0">
                <a:latin typeface="Times New Roman" panose="02020603050405020304" pitchFamily="18" charset="0"/>
                <a:cs typeface="Times New Roman" panose="02020603050405020304" pitchFamily="18" charset="0"/>
                <a:sym typeface="Wingdings" pitchFamily="2" charset="2"/>
              </a:rPr>
              <a:t>If a non-trump card is led and a trump card is played in same round, the following cards has to be “same suit”  “</a:t>
            </a:r>
            <a:r>
              <a:rPr kumimoji="1" lang="en-US" altLang="zh-TW" dirty="0">
                <a:solidFill>
                  <a:srgbClr val="FF0000"/>
                </a:solidFill>
                <a:latin typeface="Times New Roman" panose="02020603050405020304" pitchFamily="18" charset="0"/>
                <a:cs typeface="Times New Roman" panose="02020603050405020304" pitchFamily="18" charset="0"/>
                <a:sym typeface="Wingdings" pitchFamily="2" charset="2"/>
              </a:rPr>
              <a:t>trump suit, higher rank than highest trump rank</a:t>
            </a:r>
            <a:r>
              <a:rPr kumimoji="1" lang="en-US" altLang="zh-TW" dirty="0">
                <a:latin typeface="Times New Roman" panose="02020603050405020304" pitchFamily="18" charset="0"/>
                <a:cs typeface="Times New Roman" panose="02020603050405020304" pitchFamily="18" charset="0"/>
                <a:sym typeface="Wingdings" pitchFamily="2" charset="2"/>
              </a:rPr>
              <a:t>”  “</a:t>
            </a:r>
            <a:r>
              <a:rPr kumimoji="1" lang="en-US" altLang="zh-TW" dirty="0">
                <a:solidFill>
                  <a:srgbClr val="FF0000"/>
                </a:solidFill>
                <a:latin typeface="Times New Roman" panose="02020603050405020304" pitchFamily="18" charset="0"/>
                <a:cs typeface="Times New Roman" panose="02020603050405020304" pitchFamily="18" charset="0"/>
                <a:sym typeface="Wingdings" pitchFamily="2" charset="2"/>
              </a:rPr>
              <a:t>trump suit, lower rank than highest rank</a:t>
            </a:r>
            <a:r>
              <a:rPr kumimoji="1" lang="en-US" altLang="zh-TW" dirty="0">
                <a:latin typeface="Times New Roman" panose="02020603050405020304" pitchFamily="18" charset="0"/>
                <a:cs typeface="Times New Roman" panose="02020603050405020304" pitchFamily="18" charset="0"/>
                <a:sym typeface="Wingdings" pitchFamily="2" charset="2"/>
              </a:rPr>
              <a:t>”  “</a:t>
            </a:r>
            <a:r>
              <a:rPr kumimoji="1" lang="en-US" altLang="zh-TW" dirty="0">
                <a:solidFill>
                  <a:srgbClr val="FF0000"/>
                </a:solidFill>
                <a:latin typeface="Times New Roman" panose="02020603050405020304" pitchFamily="18" charset="0"/>
                <a:cs typeface="Times New Roman" panose="02020603050405020304" pitchFamily="18" charset="0"/>
                <a:sym typeface="Wingdings" pitchFamily="2" charset="2"/>
              </a:rPr>
              <a:t>any other cards</a:t>
            </a:r>
            <a:r>
              <a:rPr kumimoji="1" lang="en-US" altLang="zh-TW" dirty="0">
                <a:latin typeface="Times New Roman" panose="02020603050405020304" pitchFamily="18" charset="0"/>
                <a:cs typeface="Times New Roman" panose="02020603050405020304" pitchFamily="18" charset="0"/>
                <a:sym typeface="Wingdings" pitchFamily="2" charset="2"/>
              </a:rPr>
              <a:t>”.</a:t>
            </a:r>
          </a:p>
          <a:p>
            <a:pPr lvl="2"/>
            <a:r>
              <a:rPr kumimoji="1" lang="en-US" altLang="zh-TW" dirty="0">
                <a:latin typeface="Times New Roman" panose="02020603050405020304" pitchFamily="18" charset="0"/>
                <a:cs typeface="Times New Roman" panose="02020603050405020304" pitchFamily="18" charset="0"/>
                <a:sym typeface="Wingdings" pitchFamily="2" charset="2"/>
              </a:rPr>
              <a:t>A trump card cannot be lead.</a:t>
            </a:r>
          </a:p>
          <a:p>
            <a:pPr lvl="2"/>
            <a:r>
              <a:rPr kumimoji="1" lang="en-US" altLang="zh-TW" dirty="0">
                <a:latin typeface="Times New Roman" panose="02020603050405020304" pitchFamily="18" charset="0"/>
                <a:cs typeface="Times New Roman" panose="02020603050405020304" pitchFamily="18" charset="0"/>
                <a:sym typeface="Wingdings" pitchFamily="2" charset="2"/>
              </a:rPr>
              <a:t>The card with highest rank wins the trick.</a:t>
            </a:r>
          </a:p>
          <a:p>
            <a:r>
              <a:rPr kumimoji="1" lang="en-US" altLang="zh-TW" dirty="0">
                <a:latin typeface="Times New Roman" panose="02020603050405020304" pitchFamily="18" charset="0"/>
                <a:cs typeface="Times New Roman" panose="02020603050405020304" pitchFamily="18" charset="0"/>
              </a:rPr>
              <a:t>13 times were played per game, and the player with highest total score wins.</a:t>
            </a:r>
          </a:p>
          <a:p>
            <a:endParaRPr kumimoji="1" lang="en-US" altLang="zh-TW"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6403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910454" cy="5032375"/>
          </a:xfrm>
        </p:spPr>
        <p:txBody>
          <a:bodyPr/>
          <a:lstStyle/>
          <a:p>
            <a:r>
              <a:rPr kumimoji="1" lang="en-US" altLang="zh-TW" dirty="0">
                <a:latin typeface="Times New Roman" panose="02020603050405020304" pitchFamily="18" charset="0"/>
                <a:cs typeface="Times New Roman" panose="02020603050405020304" pitchFamily="18" charset="0"/>
              </a:rPr>
              <a:t>bidding agent</a:t>
            </a:r>
          </a:p>
          <a:p>
            <a:pPr lvl="1"/>
            <a:r>
              <a:rPr kumimoji="1" lang="en-US" altLang="zh-TW" dirty="0">
                <a:latin typeface="Times New Roman" panose="02020603050405020304" pitchFamily="18" charset="0"/>
                <a:cs typeface="Times New Roman" panose="02020603050405020304" pitchFamily="18" charset="0"/>
              </a:rPr>
              <a:t>neural network &amp; supervised learning</a:t>
            </a:r>
          </a:p>
          <a:p>
            <a:pPr lvl="1"/>
            <a:r>
              <a:rPr kumimoji="1" lang="en-US" altLang="zh-TW" dirty="0">
                <a:latin typeface="Times New Roman" panose="02020603050405020304" pitchFamily="18" charset="0"/>
                <a:cs typeface="Times New Roman" panose="02020603050405020304" pitchFamily="18" charset="0"/>
              </a:rPr>
              <a:t>Using # of tricks wins after a game as label.</a:t>
            </a:r>
          </a:p>
          <a:p>
            <a:pPr lvl="1"/>
            <a:r>
              <a:rPr kumimoji="1" lang="en-US" altLang="zh-TW" dirty="0">
                <a:latin typeface="Times New Roman" panose="02020603050405020304" pitchFamily="18" charset="0"/>
                <a:cs typeface="Times New Roman" panose="02020603050405020304" pitchFamily="18" charset="0"/>
              </a:rPr>
              <a:t>input: own cards</a:t>
            </a:r>
          </a:p>
          <a:p>
            <a:pPr lvl="1"/>
            <a:r>
              <a:rPr kumimoji="1" lang="en-US" altLang="zh-TW" dirty="0">
                <a:latin typeface="Times New Roman" panose="02020603050405020304" pitchFamily="18" charset="0"/>
                <a:cs typeface="Times New Roman" panose="02020603050405020304" pitchFamily="18" charset="0"/>
              </a:rPr>
              <a:t>output: predicted winning tricks</a:t>
            </a:r>
          </a:p>
          <a:p>
            <a:r>
              <a:rPr kumimoji="1" lang="en-US" altLang="zh-TW" dirty="0">
                <a:latin typeface="Times New Roman" panose="02020603050405020304" pitchFamily="18" charset="0"/>
                <a:cs typeface="Times New Roman" panose="02020603050405020304" pitchFamily="18" charset="0"/>
              </a:rPr>
              <a:t>playing agent</a:t>
            </a:r>
          </a:p>
          <a:p>
            <a:pPr lvl="1"/>
            <a:r>
              <a:rPr kumimoji="1" lang="en-US" altLang="zh-TW" dirty="0">
                <a:latin typeface="Times New Roman" panose="02020603050405020304" pitchFamily="18" charset="0"/>
                <a:cs typeface="Times New Roman" panose="02020603050405020304" pitchFamily="18" charset="0"/>
              </a:rPr>
              <a:t>Monte Carlo reinforcement learning (state-value function estimation)</a:t>
            </a:r>
          </a:p>
          <a:p>
            <a:pPr lvl="1"/>
            <a:r>
              <a:rPr kumimoji="1" lang="en-US" altLang="zh-TW" dirty="0">
                <a:latin typeface="Times New Roman" panose="02020603050405020304" pitchFamily="18" charset="0"/>
                <a:cs typeface="Times New Roman" panose="02020603050405020304" pitchFamily="18" charset="0"/>
              </a:rPr>
              <a:t>Train a neural network to estimate state value.</a:t>
            </a:r>
          </a:p>
          <a:p>
            <a:pPr lvl="1"/>
            <a:r>
              <a:rPr kumimoji="1" lang="en-US" altLang="zh-TW" dirty="0">
                <a:latin typeface="Times New Roman" panose="02020603050405020304" pitchFamily="18" charset="0"/>
                <a:cs typeface="Times New Roman" panose="02020603050405020304" pitchFamily="18" charset="0"/>
              </a:rPr>
              <a:t>input: game state</a:t>
            </a:r>
          </a:p>
          <a:p>
            <a:pPr lvl="1"/>
            <a:r>
              <a:rPr kumimoji="1" lang="en-US" altLang="zh-TW" dirty="0">
                <a:latin typeface="Times New Roman" panose="02020603050405020304" pitchFamily="18" charset="0"/>
                <a:cs typeface="Times New Roman" panose="02020603050405020304" pitchFamily="18" charset="0"/>
              </a:rPr>
              <a:t>output: state value</a:t>
            </a:r>
          </a:p>
          <a:p>
            <a:pPr lvl="1"/>
            <a:r>
              <a:rPr kumimoji="1" lang="en-US" altLang="zh-TW" dirty="0">
                <a:latin typeface="Times New Roman" panose="02020603050405020304" pitchFamily="18" charset="0"/>
                <a:cs typeface="Times New Roman" panose="02020603050405020304" pitchFamily="18" charset="0"/>
              </a:rPr>
              <a:t>2 types: win more &amp; win less.</a:t>
            </a:r>
          </a:p>
          <a:p>
            <a:pPr lvl="1"/>
            <a:endParaRPr kumimoji="1" lang="en-US" altLang="zh-TW" dirty="0">
              <a:latin typeface="Times New Roman" panose="02020603050405020304" pitchFamily="18" charset="0"/>
              <a:cs typeface="Times New Roman" panose="02020603050405020304" pitchFamily="18" charset="0"/>
            </a:endParaRP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7489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game state representation</a:t>
            </a:r>
          </a:p>
          <a:p>
            <a:pPr lvl="1"/>
            <a:r>
              <a:rPr kumimoji="1" lang="en-US" altLang="zh-TW" dirty="0">
                <a:latin typeface="Times New Roman" panose="02020603050405020304" pitchFamily="18" charset="0"/>
                <a:cs typeface="Times New Roman" panose="02020603050405020304" pitchFamily="18" charset="0"/>
              </a:rPr>
              <a:t>Use 52 one hot vectors with length 5 to represent a game state.</a:t>
            </a:r>
          </a:p>
          <a:p>
            <a:pPr lvl="1"/>
            <a:r>
              <a:rPr kumimoji="1" lang="en-US" altLang="zh-TW" dirty="0">
                <a:latin typeface="Times New Roman" panose="02020603050405020304" pitchFamily="18" charset="0"/>
                <a:cs typeface="Times New Roman" panose="02020603050405020304" pitchFamily="18" charset="0"/>
              </a:rPr>
              <a:t>Each vector represents a card.</a:t>
            </a:r>
          </a:p>
          <a:p>
            <a:pPr lvl="1"/>
            <a:r>
              <a:rPr kumimoji="1" lang="en-US" altLang="zh-TW" dirty="0">
                <a:latin typeface="Times New Roman" panose="02020603050405020304" pitchFamily="18" charset="0"/>
                <a:cs typeface="Times New Roman" panose="02020603050405020304" pitchFamily="18" charset="0"/>
              </a:rPr>
              <a:t>[1 0 0 0 0]: the player owns the card.</a:t>
            </a:r>
          </a:p>
          <a:p>
            <a:pPr lvl="1"/>
            <a:r>
              <a:rPr kumimoji="1" lang="en-US" altLang="zh-TW" dirty="0">
                <a:latin typeface="Times New Roman" panose="02020603050405020304" pitchFamily="18" charset="0"/>
                <a:cs typeface="Times New Roman" panose="02020603050405020304" pitchFamily="18" charset="0"/>
              </a:rPr>
              <a:t>[0 1 0 0 0]: another player owns the card.</a:t>
            </a:r>
          </a:p>
          <a:p>
            <a:pPr lvl="1"/>
            <a:r>
              <a:rPr kumimoji="1" lang="en-US" altLang="zh-TW" dirty="0">
                <a:latin typeface="Times New Roman" panose="02020603050405020304" pitchFamily="18" charset="0"/>
                <a:cs typeface="Times New Roman" panose="02020603050405020304" pitchFamily="18" charset="0"/>
              </a:rPr>
              <a:t>[0 0 1 0 0]: the card is played in current round and is owned by the player.</a:t>
            </a:r>
          </a:p>
          <a:p>
            <a:pPr lvl="1"/>
            <a:r>
              <a:rPr kumimoji="1" lang="en-US" altLang="zh-TW" dirty="0">
                <a:latin typeface="Times New Roman" panose="02020603050405020304" pitchFamily="18" charset="0"/>
                <a:cs typeface="Times New Roman" panose="02020603050405020304" pitchFamily="18" charset="0"/>
              </a:rPr>
              <a:t>[0 0 0 1 0]: the card is played in current round and is owned by another player.</a:t>
            </a:r>
          </a:p>
          <a:p>
            <a:pPr lvl="1"/>
            <a:r>
              <a:rPr kumimoji="1" lang="en-US" altLang="zh-TW" dirty="0">
                <a:latin typeface="Times New Roman" panose="02020603050405020304" pitchFamily="18" charset="0"/>
                <a:cs typeface="Times New Roman" panose="02020603050405020304" pitchFamily="18" charset="0"/>
              </a:rPr>
              <a:t>[0 0 0 0 1]: the card was played in previous rounds.</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70290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199" y="1825624"/>
            <a:ext cx="11237844" cy="5032375"/>
          </a:xfrm>
        </p:spPr>
        <p:txBody>
          <a:bodyPr>
            <a:normAutofit/>
          </a:bodyPr>
          <a:lstStyle/>
          <a:p>
            <a:r>
              <a:rPr kumimoji="1" lang="en-US" altLang="zh-TW" dirty="0">
                <a:latin typeface="Times New Roman" panose="02020603050405020304" pitchFamily="18" charset="0"/>
                <a:cs typeface="Times New Roman" panose="02020603050405020304" pitchFamily="18" charset="0"/>
              </a:rPr>
              <a:t>train bidding agent</a:t>
            </a:r>
          </a:p>
          <a:p>
            <a:pPr lvl="1"/>
            <a:r>
              <a:rPr kumimoji="1" lang="en-US" altLang="zh-TW" dirty="0">
                <a:latin typeface="Times New Roman" panose="02020603050405020304" pitchFamily="18" charset="0"/>
                <a:cs typeface="Times New Roman" panose="02020603050405020304" pitchFamily="18" charset="0"/>
              </a:rPr>
              <a:t>Data: gameplaying results from 4 trained playing agents (type of win more).</a:t>
            </a:r>
          </a:p>
          <a:p>
            <a:pPr lvl="1"/>
            <a:r>
              <a:rPr kumimoji="1" lang="en-US" altLang="zh-TW" dirty="0">
                <a:latin typeface="Times New Roman" panose="02020603050405020304" pitchFamily="18" charset="0"/>
                <a:cs typeface="Times New Roman" panose="02020603050405020304" pitchFamily="18" charset="0"/>
              </a:rPr>
              <a:t>Evaluate performance after some of 10,000 games, and 1,000 games were simulated.</a:t>
            </a:r>
          </a:p>
          <a:p>
            <a:r>
              <a:rPr kumimoji="1" lang="en-US" altLang="zh-TW" dirty="0">
                <a:latin typeface="Times New Roman" panose="02020603050405020304" pitchFamily="18" charset="0"/>
                <a:cs typeface="Times New Roman" panose="02020603050405020304" pitchFamily="18" charset="0"/>
              </a:rPr>
              <a:t>train playing agents</a:t>
            </a:r>
          </a:p>
          <a:p>
            <a:pPr lvl="1"/>
            <a:r>
              <a:rPr kumimoji="1" lang="en-US" altLang="zh-TW" dirty="0">
                <a:latin typeface="Times New Roman" panose="02020603050405020304" pitchFamily="18" charset="0"/>
                <a:cs typeface="Times New Roman" panose="02020603050405020304" pitchFamily="18" charset="0"/>
              </a:rPr>
              <a:t>Type of win more: state value = # of winning tricks per game / 13.</a:t>
            </a:r>
          </a:p>
          <a:p>
            <a:pPr lvl="1"/>
            <a:r>
              <a:rPr kumimoji="1" lang="en-US" altLang="zh-TW" dirty="0">
                <a:latin typeface="Times New Roman" panose="02020603050405020304" pitchFamily="18" charset="0"/>
                <a:cs typeface="Times New Roman" panose="02020603050405020304" pitchFamily="18" charset="0"/>
              </a:rPr>
              <a:t>Type of win less: state value = 1 - # of winning tricks per game / 13.</a:t>
            </a:r>
          </a:p>
          <a:p>
            <a:pPr lvl="1"/>
            <a:r>
              <a:rPr kumimoji="1" lang="en-US" altLang="zh-TW" dirty="0">
                <a:latin typeface="Times New Roman" panose="02020603050405020304" pitchFamily="18" charset="0"/>
                <a:cs typeface="Times New Roman" panose="02020603050405020304" pitchFamily="18" charset="0"/>
              </a:rPr>
              <a:t>Increase data by switching suits of heart, diamond, and club, since only suit of spade is the trump. Therefore, 6(= 3!) similar data can use to train neural network with only 1 gameplay simulation.</a:t>
            </a:r>
          </a:p>
          <a:p>
            <a:pPr lvl="1"/>
            <a:r>
              <a:rPr kumimoji="1" lang="en-US" altLang="zh-TW" dirty="0">
                <a:latin typeface="Times New Roman" panose="02020603050405020304" pitchFamily="18" charset="0"/>
                <a:cs typeface="Times New Roman" panose="02020603050405020304" pitchFamily="18" charset="0"/>
              </a:rPr>
              <a:t>Evaluate performance after every 10,000 games, and 1,000 games were simulated.</a:t>
            </a:r>
          </a:p>
          <a:p>
            <a:r>
              <a:rPr kumimoji="1" lang="en-US" altLang="zh-TW" dirty="0">
                <a:latin typeface="Times New Roman" panose="02020603050405020304" pitchFamily="18" charset="0"/>
                <a:cs typeface="Times New Roman" panose="02020603050405020304" pitchFamily="18" charset="0"/>
              </a:rPr>
              <a:t>Compete with 3 rule-based agents.</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14007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10" name="圖片 9">
            <a:extLst>
              <a:ext uri="{FF2B5EF4-FFF2-40B4-BE49-F238E27FC236}">
                <a16:creationId xmlns:a16="http://schemas.microsoft.com/office/drawing/2014/main" id="{8E433C26-BB9D-A044-BA60-BD4D97F94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3044"/>
            <a:ext cx="12192000" cy="4671911"/>
          </a:xfrm>
          <a:prstGeom prst="rect">
            <a:avLst/>
          </a:prstGeom>
        </p:spPr>
      </p:pic>
      <p:sp>
        <p:nvSpPr>
          <p:cNvPr id="11" name="矩形 10">
            <a:extLst>
              <a:ext uri="{FF2B5EF4-FFF2-40B4-BE49-F238E27FC236}">
                <a16:creationId xmlns:a16="http://schemas.microsoft.com/office/drawing/2014/main" id="{00726693-9448-3045-B10E-BCBFCC0ECA05}"/>
              </a:ext>
            </a:extLst>
          </p:cNvPr>
          <p:cNvSpPr/>
          <p:nvPr/>
        </p:nvSpPr>
        <p:spPr>
          <a:xfrm>
            <a:off x="4263887" y="1411357"/>
            <a:ext cx="854765" cy="1987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8" name="矩形 17">
            <a:extLst>
              <a:ext uri="{FF2B5EF4-FFF2-40B4-BE49-F238E27FC236}">
                <a16:creationId xmlns:a16="http://schemas.microsoft.com/office/drawing/2014/main" id="{D4A27D77-F82E-FF43-A341-36D4C33514DF}"/>
              </a:ext>
            </a:extLst>
          </p:cNvPr>
          <p:cNvSpPr/>
          <p:nvPr/>
        </p:nvSpPr>
        <p:spPr>
          <a:xfrm>
            <a:off x="4770783" y="2474843"/>
            <a:ext cx="1033669" cy="4250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0" name="矩形 19">
            <a:extLst>
              <a:ext uri="{FF2B5EF4-FFF2-40B4-BE49-F238E27FC236}">
                <a16:creationId xmlns:a16="http://schemas.microsoft.com/office/drawing/2014/main" id="{598F66BB-3752-F046-9902-CBBE2CE10ABF}"/>
              </a:ext>
            </a:extLst>
          </p:cNvPr>
          <p:cNvSpPr/>
          <p:nvPr/>
        </p:nvSpPr>
        <p:spPr>
          <a:xfrm>
            <a:off x="4770782" y="3114260"/>
            <a:ext cx="1033669" cy="4250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矩形 20">
            <a:extLst>
              <a:ext uri="{FF2B5EF4-FFF2-40B4-BE49-F238E27FC236}">
                <a16:creationId xmlns:a16="http://schemas.microsoft.com/office/drawing/2014/main" id="{4095CE48-07A4-F541-9FA6-A6B579826CF0}"/>
              </a:ext>
            </a:extLst>
          </p:cNvPr>
          <p:cNvSpPr/>
          <p:nvPr/>
        </p:nvSpPr>
        <p:spPr>
          <a:xfrm>
            <a:off x="4770781" y="3754611"/>
            <a:ext cx="1033669" cy="4250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矩形 21">
            <a:extLst>
              <a:ext uri="{FF2B5EF4-FFF2-40B4-BE49-F238E27FC236}">
                <a16:creationId xmlns:a16="http://schemas.microsoft.com/office/drawing/2014/main" id="{7BADE252-6BC6-F944-86E7-4D60791DEFC9}"/>
              </a:ext>
            </a:extLst>
          </p:cNvPr>
          <p:cNvSpPr/>
          <p:nvPr/>
        </p:nvSpPr>
        <p:spPr>
          <a:xfrm>
            <a:off x="4770781" y="4403967"/>
            <a:ext cx="1033669" cy="4250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矩形 22">
            <a:extLst>
              <a:ext uri="{FF2B5EF4-FFF2-40B4-BE49-F238E27FC236}">
                <a16:creationId xmlns:a16="http://schemas.microsoft.com/office/drawing/2014/main" id="{B85550D2-FE4D-C545-80B9-7986985B09B7}"/>
              </a:ext>
            </a:extLst>
          </p:cNvPr>
          <p:cNvSpPr/>
          <p:nvPr/>
        </p:nvSpPr>
        <p:spPr>
          <a:xfrm>
            <a:off x="4770781" y="5053323"/>
            <a:ext cx="1033669" cy="4250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9213036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405F8984-04FB-E24D-A92F-0C761E740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00" y="0"/>
            <a:ext cx="11383200" cy="6858000"/>
          </a:xfrm>
          <a:prstGeom prst="rect">
            <a:avLst/>
          </a:prstGeom>
        </p:spPr>
      </p:pic>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3479F030-0D12-9A4B-9129-C41BE59E69F7}"/>
              </a:ext>
            </a:extLst>
          </p:cNvPr>
          <p:cNvSpPr/>
          <p:nvPr/>
        </p:nvSpPr>
        <p:spPr>
          <a:xfrm>
            <a:off x="3269974" y="268357"/>
            <a:ext cx="2971800" cy="1888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 name="矩形 5">
            <a:extLst>
              <a:ext uri="{FF2B5EF4-FFF2-40B4-BE49-F238E27FC236}">
                <a16:creationId xmlns:a16="http://schemas.microsoft.com/office/drawing/2014/main" id="{ABB520E0-4A34-1849-8EBE-C01269948D69}"/>
              </a:ext>
            </a:extLst>
          </p:cNvPr>
          <p:cNvSpPr/>
          <p:nvPr/>
        </p:nvSpPr>
        <p:spPr>
          <a:xfrm>
            <a:off x="3372678" y="3750367"/>
            <a:ext cx="2799522" cy="1855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48273799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Result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11</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6DBB16AD-E957-7541-8F7D-43E919F45F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6607" y="0"/>
            <a:ext cx="8527193" cy="6858000"/>
          </a:xfrm>
          <a:prstGeom prst="rect">
            <a:avLst/>
          </a:prstGeom>
        </p:spPr>
      </p:pic>
      <p:sp>
        <p:nvSpPr>
          <p:cNvPr id="3" name="文字方塊 2">
            <a:extLst>
              <a:ext uri="{FF2B5EF4-FFF2-40B4-BE49-F238E27FC236}">
                <a16:creationId xmlns:a16="http://schemas.microsoft.com/office/drawing/2014/main" id="{D74457A1-113F-D841-B68F-CF647AC2265A}"/>
              </a:ext>
            </a:extLst>
          </p:cNvPr>
          <p:cNvSpPr txBox="1"/>
          <p:nvPr/>
        </p:nvSpPr>
        <p:spPr>
          <a:xfrm>
            <a:off x="89452" y="2708270"/>
            <a:ext cx="2773017" cy="707886"/>
          </a:xfrm>
          <a:prstGeom prst="rect">
            <a:avLst/>
          </a:prstGeom>
          <a:noFill/>
        </p:spPr>
        <p:txBody>
          <a:bodyPr wrap="square" rtlCol="0">
            <a:spAutoFit/>
          </a:bodyPr>
          <a:lstStyle/>
          <a:p>
            <a:r>
              <a:rPr kumimoji="1" lang="en-US" altLang="zh-TW" sz="2000" dirty="0">
                <a:latin typeface="Times New Roman" panose="02020603050405020304" pitchFamily="18" charset="0"/>
                <a:cs typeface="Times New Roman" panose="02020603050405020304" pitchFamily="18" charset="0"/>
              </a:rPr>
              <a:t>Type of win more: (a), (b)</a:t>
            </a:r>
          </a:p>
          <a:p>
            <a:r>
              <a:rPr kumimoji="1" lang="en-US" altLang="zh-TW" sz="2000" dirty="0">
                <a:latin typeface="Times New Roman" panose="02020603050405020304" pitchFamily="18" charset="0"/>
                <a:cs typeface="Times New Roman" panose="02020603050405020304" pitchFamily="18" charset="0"/>
              </a:rPr>
              <a:t>Type of win less: (c), (d)</a:t>
            </a:r>
            <a:endParaRPr kumimoji="1"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795715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519</TotalTime>
  <Words>863</Words>
  <Application>Microsoft Office PowerPoint</Application>
  <PresentationFormat>寬螢幕</PresentationFormat>
  <Paragraphs>76</Paragraphs>
  <Slides>11</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Reinforcement Learning in Card Game Environments Using Monte Carlo Methods and Artificial Neural Networks </vt:lpstr>
      <vt:lpstr>Abstract</vt:lpstr>
      <vt:lpstr>Abstract (Cont.)</vt:lpstr>
      <vt:lpstr>Batak (card game)</vt:lpstr>
      <vt:lpstr>Batak (card game)</vt:lpstr>
      <vt:lpstr>Model</vt:lpstr>
      <vt:lpstr>Model</vt:lpstr>
      <vt:lpstr>Experiment</vt:lpstr>
      <vt:lpstr>PowerPoint 簡報</vt:lpstr>
      <vt:lpstr>PowerPoint 簡報</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pplab</cp:lastModifiedBy>
  <cp:revision>51</cp:revision>
  <dcterms:created xsi:type="dcterms:W3CDTF">2023-01-02T07:42:35Z</dcterms:created>
  <dcterms:modified xsi:type="dcterms:W3CDTF">2023-09-27T12:32:03Z</dcterms:modified>
</cp:coreProperties>
</file>