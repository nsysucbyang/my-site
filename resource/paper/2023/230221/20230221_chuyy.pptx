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72"/>
    <p:restoredTop sz="95788"/>
  </p:normalViewPr>
  <p:slideViewPr>
    <p:cSldViewPr snapToGrid="0" snapToObjects="1">
      <p:cViewPr varScale="1">
        <p:scale>
          <a:sx n="124" d="100"/>
          <a:sy n="124" d="100"/>
        </p:scale>
        <p:origin x="192"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2023/2/17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2023/2/17</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2023/2/17</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2023/2/17</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2023/2/17</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2023/2/17</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2023/2/17</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2023/2/17</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2023/2/17</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2023/2/17</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2023/2/17</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2023/2/17</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2023/2/17</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AI Enabled Bridge Bidding Supporting Interactive Visualization</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p:txBody>
          <a:bodyPr>
            <a:normAutofit/>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err="1">
                <a:latin typeface="Times New Roman" panose="02020603050405020304" pitchFamily="18" charset="0"/>
                <a:cs typeface="Times New Roman" panose="02020603050405020304" pitchFamily="18" charset="0"/>
              </a:rPr>
              <a:t>Xiaoyu</a:t>
            </a:r>
            <a:r>
              <a:rPr kumimoji="1" lang="en-US" altLang="zh-TW" dirty="0">
                <a:latin typeface="Times New Roman" panose="02020603050405020304" pitchFamily="18" charset="0"/>
                <a:cs typeface="Times New Roman" panose="02020603050405020304" pitchFamily="18" charset="0"/>
              </a:rPr>
              <a:t> Zhang, Wei Liu, </a:t>
            </a:r>
            <a:r>
              <a:rPr kumimoji="1" lang="en-US" altLang="zh-TW" dirty="0" err="1">
                <a:latin typeface="Times New Roman" panose="02020603050405020304" pitchFamily="18" charset="0"/>
                <a:cs typeface="Times New Roman" panose="02020603050405020304" pitchFamily="18" charset="0"/>
              </a:rPr>
              <a:t>Linhui</a:t>
            </a:r>
            <a:r>
              <a:rPr kumimoji="1" lang="en-US" altLang="zh-TW" dirty="0">
                <a:latin typeface="Times New Roman" panose="02020603050405020304" pitchFamily="18" charset="0"/>
                <a:cs typeface="Times New Roman" panose="02020603050405020304" pitchFamily="18" charset="0"/>
              </a:rPr>
              <a:t> Lou, and </a:t>
            </a:r>
            <a:r>
              <a:rPr kumimoji="1" lang="en-US" altLang="zh-TW" dirty="0" err="1">
                <a:latin typeface="Times New Roman" panose="02020603050405020304" pitchFamily="18" charset="0"/>
                <a:cs typeface="Times New Roman" panose="02020603050405020304" pitchFamily="18" charset="0"/>
              </a:rPr>
              <a:t>Fangchun</a:t>
            </a:r>
            <a:r>
              <a:rPr kumimoji="1" lang="en-US" altLang="zh-TW" dirty="0">
                <a:latin typeface="Times New Roman" panose="02020603050405020304" pitchFamily="18" charset="0"/>
                <a:cs typeface="Times New Roman" panose="02020603050405020304" pitchFamily="18" charset="0"/>
              </a:rPr>
              <a:t> Yang</a:t>
            </a:r>
          </a:p>
          <a:p>
            <a:r>
              <a:rPr kumimoji="1" lang="en-US" altLang="zh-TW" dirty="0">
                <a:latin typeface="Times New Roman" panose="02020603050405020304" pitchFamily="18" charset="0"/>
                <a:cs typeface="Times New Roman" panose="02020603050405020304" pitchFamily="18" charset="0"/>
              </a:rPr>
              <a:t>Sensors(published by MDPI), 2022</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Feb. 21, 2023</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4873127"/>
          </a:xfrm>
        </p:spPr>
        <p:txBody>
          <a:bodyPr>
            <a:normAutofit fontScale="92500" lnSpcReduction="10000"/>
          </a:bodyPr>
          <a:lstStyle/>
          <a:p>
            <a:pPr marL="0" indent="0">
              <a:lnSpc>
                <a:spcPct val="100000"/>
              </a:lnSpc>
              <a:buNone/>
            </a:pPr>
            <a:r>
              <a:rPr kumimoji="1" lang="en-US" altLang="zh-TW" dirty="0">
                <a:latin typeface="Times New Roman" panose="02020603050405020304" pitchFamily="18" charset="0"/>
                <a:cs typeface="Times New Roman" panose="02020603050405020304" pitchFamily="18" charset="0"/>
              </a:rPr>
              <a:t>With the fast progress in perfect information game problems such as AI chess and AI Go, researchers have turned to imperfect information game problems, including Texas </a:t>
            </a:r>
            <a:r>
              <a:rPr kumimoji="1" lang="en-US" altLang="zh-TW" dirty="0" err="1">
                <a:latin typeface="Times New Roman" panose="02020603050405020304" pitchFamily="18" charset="0"/>
                <a:cs typeface="Times New Roman" panose="02020603050405020304" pitchFamily="18" charset="0"/>
              </a:rPr>
              <a:t>Hold’em</a:t>
            </a:r>
            <a:r>
              <a:rPr kumimoji="1" lang="en-US" altLang="zh-TW" dirty="0">
                <a:latin typeface="Times New Roman" panose="02020603050405020304" pitchFamily="18" charset="0"/>
                <a:cs typeface="Times New Roman" panose="02020603050405020304" pitchFamily="18" charset="0"/>
              </a:rPr>
              <a:t> and Bridge. Bridge is one of the most challenging card games that have significant research value. Bridge playing is divided into two phases: bidding and playing. This paper focuses on bridge bidding and proposes a bridge bidding service framework using deep neural networks, and supports bidding visualization for the first time. The framework consists of two parts: the bidding model (BM) with a multilayer neural network, and a visualization system. The framework predicts not only reasonable bids from the existing bidding system of humans, but also provides intuitive explanations for decisions to enable human–computer information interaction. Experimental results show that this bidding AI outperforms majority of existing systems.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Train a bridge bidding model (with competition).</a:t>
            </a:r>
          </a:p>
          <a:p>
            <a:r>
              <a:rPr kumimoji="1" lang="en-US" altLang="zh-TW" dirty="0">
                <a:latin typeface="Times New Roman" panose="02020603050405020304" pitchFamily="18" charset="0"/>
                <a:cs typeface="Times New Roman" panose="02020603050405020304" pitchFamily="18" charset="0"/>
              </a:rPr>
              <a:t>Using RNN and MLP(multi-layer perceptron).</a:t>
            </a:r>
          </a:p>
          <a:p>
            <a:r>
              <a:rPr kumimoji="1" lang="en-US" altLang="zh-TW" dirty="0">
                <a:latin typeface="Times New Roman" panose="02020603050405020304" pitchFamily="18" charset="0"/>
                <a:cs typeface="Times New Roman" panose="02020603050405020304" pitchFamily="18" charset="0"/>
              </a:rPr>
              <a:t>A visualization system for human-machine competition.</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921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Bidding 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10515600" cy="4883400"/>
          </a:xfrm>
        </p:spPr>
        <p:txBody>
          <a:bodyPr>
            <a:normAutofit/>
          </a:bodyPr>
          <a:lstStyle/>
          <a:p>
            <a:r>
              <a:rPr kumimoji="1" lang="en-US" altLang="zh-TW" dirty="0">
                <a:latin typeface="Times New Roman" panose="02020603050405020304" pitchFamily="18" charset="0"/>
                <a:cs typeface="Times New Roman" panose="02020603050405020304" pitchFamily="18" charset="0"/>
              </a:rPr>
              <a:t>RNN</a:t>
            </a:r>
          </a:p>
          <a:p>
            <a:pPr lvl="1"/>
            <a:r>
              <a:rPr kumimoji="1" lang="en-US" altLang="zh-TW" dirty="0">
                <a:latin typeface="Times New Roman" panose="02020603050405020304" pitchFamily="18" charset="0"/>
                <a:cs typeface="Times New Roman" panose="02020603050405020304" pitchFamily="18" charset="0"/>
              </a:rPr>
              <a:t>3 hidden layers</a:t>
            </a:r>
          </a:p>
          <a:p>
            <a:pPr lvl="1"/>
            <a:r>
              <a:rPr kumimoji="1" lang="en-US" altLang="zh-TW" dirty="0">
                <a:latin typeface="Times New Roman" panose="02020603050405020304" pitchFamily="18" charset="0"/>
                <a:cs typeface="Times New Roman" panose="02020603050405020304" pitchFamily="18" charset="0"/>
              </a:rPr>
              <a:t>input: bidding action, hand, </a:t>
            </a:r>
          </a:p>
          <a:p>
            <a:pPr marL="457200" lvl="1" indent="0">
              <a:buNone/>
            </a:pPr>
            <a:r>
              <a:rPr kumimoji="1" lang="en-US" altLang="zh-TW" dirty="0">
                <a:latin typeface="Times New Roman" panose="02020603050405020304" pitchFamily="18" charset="0"/>
                <a:cs typeface="Times New Roman" panose="02020603050405020304" pitchFamily="18" charset="0"/>
              </a:rPr>
              <a:t>             vulnerability, position</a:t>
            </a:r>
          </a:p>
          <a:p>
            <a:r>
              <a:rPr kumimoji="1" lang="en-US" altLang="zh-TW" dirty="0">
                <a:latin typeface="Times New Roman" panose="02020603050405020304" pitchFamily="18" charset="0"/>
                <a:cs typeface="Times New Roman" panose="02020603050405020304" pitchFamily="18" charset="0"/>
              </a:rPr>
              <a:t>Multi-Layer Perceptron (MLP)</a:t>
            </a:r>
          </a:p>
          <a:p>
            <a:pPr lvl="1"/>
            <a:r>
              <a:rPr kumimoji="1" lang="en-US" altLang="zh-TW" dirty="0">
                <a:latin typeface="Times New Roman" panose="02020603050405020304" pitchFamily="18" charset="0"/>
                <a:cs typeface="Times New Roman" panose="02020603050405020304" pitchFamily="18" charset="0"/>
              </a:rPr>
              <a:t>a classifier with multi-layer</a:t>
            </a:r>
          </a:p>
          <a:p>
            <a:pPr lvl="1"/>
            <a:r>
              <a:rPr kumimoji="1" lang="en-US" altLang="zh-TW" dirty="0">
                <a:latin typeface="Times New Roman" panose="02020603050405020304" pitchFamily="18" charset="0"/>
                <a:cs typeface="Times New Roman" panose="02020603050405020304" pitchFamily="18" charset="0"/>
              </a:rPr>
              <a:t>4 kinds of MLP (to find the probability distribution)</a:t>
            </a:r>
          </a:p>
          <a:p>
            <a:pPr lvl="1"/>
            <a:r>
              <a:rPr kumimoji="1" lang="en-US" altLang="zh-TW" dirty="0">
                <a:latin typeface="Times New Roman" panose="02020603050405020304" pitchFamily="18" charset="0"/>
                <a:cs typeface="Times New Roman" panose="02020603050405020304" pitchFamily="18" charset="0"/>
              </a:rPr>
              <a:t>MLP of HCP (take RNN’s output as input)</a:t>
            </a:r>
          </a:p>
          <a:p>
            <a:pPr lvl="1"/>
            <a:r>
              <a:rPr kumimoji="1" lang="en-US" altLang="zh-TW" dirty="0">
                <a:latin typeface="Times New Roman" panose="02020603050405020304" pitchFamily="18" charset="0"/>
                <a:cs typeface="Times New Roman" panose="02020603050405020304" pitchFamily="18" charset="0"/>
              </a:rPr>
              <a:t>MLP of card amount of each suit (take RNN’s output as input)</a:t>
            </a:r>
          </a:p>
          <a:p>
            <a:pPr lvl="1"/>
            <a:r>
              <a:rPr kumimoji="1" lang="en-US" altLang="zh-TW" dirty="0">
                <a:latin typeface="Times New Roman" panose="02020603050405020304" pitchFamily="18" charset="0"/>
                <a:cs typeface="Times New Roman" panose="02020603050405020304" pitchFamily="18" charset="0"/>
              </a:rPr>
              <a:t>MLP of each cards (take RNN’s output as input)</a:t>
            </a:r>
          </a:p>
          <a:p>
            <a:pPr lvl="1"/>
            <a:r>
              <a:rPr kumimoji="1" lang="en-US" altLang="zh-TW" dirty="0">
                <a:latin typeface="Times New Roman" panose="02020603050405020304" pitchFamily="18" charset="0"/>
                <a:cs typeface="Times New Roman" panose="02020603050405020304" pitchFamily="18" charset="0"/>
              </a:rPr>
              <a:t>MLP of next bidding action (take RNN’s output and above 3 MLPs as input)</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287104D0-4C1A-D047-87FC-C2CAEE2063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024" y="-1"/>
            <a:ext cx="6186977" cy="4315147"/>
          </a:xfrm>
          <a:prstGeom prst="rect">
            <a:avLst/>
          </a:prstGeom>
        </p:spPr>
      </p:pic>
    </p:spTree>
    <p:extLst>
      <p:ext uri="{BB962C8B-B14F-4D97-AF65-F5344CB8AC3E}">
        <p14:creationId xmlns:p14="http://schemas.microsoft.com/office/powerpoint/2010/main" val="81564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Visualization System</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Represent the prediction results of bidding model.</a:t>
            </a:r>
          </a:p>
          <a:p>
            <a:r>
              <a:rPr kumimoji="1" lang="en-US" altLang="zh-TW" dirty="0">
                <a:latin typeface="Times New Roman" panose="02020603050405020304" pitchFamily="18" charset="0"/>
                <a:cs typeface="Times New Roman" panose="02020603050405020304" pitchFamily="18" charset="0"/>
              </a:rPr>
              <a:t>Let human know what a bidding action means to bidding model.</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24EE640F-D5DD-644A-B7DB-89FE72289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051030"/>
            <a:ext cx="8167254" cy="2118573"/>
          </a:xfrm>
          <a:prstGeom prst="rect">
            <a:avLst/>
          </a:prstGeom>
        </p:spPr>
      </p:pic>
      <p:pic>
        <p:nvPicPr>
          <p:cNvPr id="8" name="圖片 7">
            <a:extLst>
              <a:ext uri="{FF2B5EF4-FFF2-40B4-BE49-F238E27FC236}">
                <a16:creationId xmlns:a16="http://schemas.microsoft.com/office/drawing/2014/main" id="{A3A424AC-9DA1-A54A-AB61-C5CAD8333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169603"/>
            <a:ext cx="12192000" cy="1688397"/>
          </a:xfrm>
          <a:prstGeom prst="rect">
            <a:avLst/>
          </a:prstGeom>
        </p:spPr>
      </p:pic>
    </p:spTree>
    <p:extLst>
      <p:ext uri="{BB962C8B-B14F-4D97-AF65-F5344CB8AC3E}">
        <p14:creationId xmlns:p14="http://schemas.microsoft.com/office/powerpoint/2010/main" val="2668748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746814B8-1F0C-BD42-8888-6EA4A8C19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9900" y="50800"/>
            <a:ext cx="8712200" cy="6807200"/>
          </a:xfrm>
          <a:prstGeom prst="rect">
            <a:avLst/>
          </a:prstGeom>
        </p:spPr>
      </p:pic>
    </p:spTree>
    <p:extLst>
      <p:ext uri="{BB962C8B-B14F-4D97-AF65-F5344CB8AC3E}">
        <p14:creationId xmlns:p14="http://schemas.microsoft.com/office/powerpoint/2010/main" val="164270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304E452B-ED7C-3D41-934A-F16C6E00AC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2424" y="1869977"/>
            <a:ext cx="9830474" cy="3267101"/>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95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normAutofit/>
          </a:bodyPr>
          <a:lstStyle/>
          <a:p>
            <a:r>
              <a:rPr kumimoji="1" lang="en-US" altLang="zh-TW" dirty="0">
                <a:latin typeface="Times New Roman" panose="02020603050405020304" pitchFamily="18" charset="0"/>
                <a:cs typeface="Times New Roman" panose="02020603050405020304" pitchFamily="18" charset="0"/>
              </a:rPr>
              <a:t>data</a:t>
            </a:r>
          </a:p>
          <a:p>
            <a:pPr lvl="1"/>
            <a:r>
              <a:rPr kumimoji="1" lang="en-US" altLang="zh-TW" dirty="0" err="1">
                <a:latin typeface="Times New Roman" panose="02020603050405020304" pitchFamily="18" charset="0"/>
                <a:cs typeface="Times New Roman" panose="02020603050405020304" pitchFamily="18" charset="0"/>
              </a:rPr>
              <a:t>Snyrey</a:t>
            </a:r>
            <a:r>
              <a:rPr kumimoji="1" lang="en-US" altLang="zh-TW" dirty="0">
                <a:latin typeface="Times New Roman" panose="02020603050405020304" pitchFamily="18" charset="0"/>
                <a:cs typeface="Times New Roman" panose="02020603050405020304" pitchFamily="18" charset="0"/>
              </a:rPr>
              <a:t> platform</a:t>
            </a:r>
          </a:p>
          <a:p>
            <a:pPr lvl="1"/>
            <a:r>
              <a:rPr kumimoji="1" lang="en-US" altLang="zh-TW" dirty="0">
                <a:latin typeface="Times New Roman" panose="02020603050405020304" pitchFamily="18" charset="0"/>
                <a:cs typeface="Times New Roman" panose="02020603050405020304" pitchFamily="18" charset="0"/>
              </a:rPr>
              <a:t>4,000,000 data with bidding sequence and double dummy result.</a:t>
            </a:r>
          </a:p>
          <a:p>
            <a:pPr lvl="1"/>
            <a:r>
              <a:rPr kumimoji="1" lang="en-US" altLang="zh-TW" dirty="0">
                <a:latin typeface="Times New Roman" panose="02020603050405020304" pitchFamily="18" charset="0"/>
                <a:cs typeface="Times New Roman" panose="02020603050405020304" pitchFamily="18" charset="0"/>
              </a:rPr>
              <a:t>70% training, 20% validation, 10% testing.</a:t>
            </a:r>
          </a:p>
          <a:p>
            <a:r>
              <a:rPr kumimoji="1" lang="en-US" altLang="zh-TW" dirty="0">
                <a:latin typeface="Times New Roman" panose="02020603050405020304" pitchFamily="18" charset="0"/>
                <a:cs typeface="Times New Roman" panose="02020603050405020304" pitchFamily="18" charset="0"/>
              </a:rPr>
              <a:t>bid and non-bid</a:t>
            </a:r>
          </a:p>
          <a:p>
            <a:pPr lvl="1"/>
            <a:r>
              <a:rPr kumimoji="1" lang="en-US" altLang="zh-TW" dirty="0">
                <a:latin typeface="Times New Roman" panose="02020603050405020304" pitchFamily="18" charset="0"/>
                <a:cs typeface="Times New Roman" panose="02020603050405020304" pitchFamily="18" charset="0"/>
              </a:rPr>
              <a:t>Large passes in a bidding sequence will overestimate the accuracy.</a:t>
            </a:r>
          </a:p>
          <a:p>
            <a:pPr lvl="1"/>
            <a:r>
              <a:rPr kumimoji="1" lang="en-US" altLang="zh-TW" dirty="0">
                <a:latin typeface="Times New Roman" panose="02020603050405020304" pitchFamily="18" charset="0"/>
                <a:cs typeface="Times New Roman" panose="02020603050405020304" pitchFamily="18" charset="0"/>
              </a:rPr>
              <a:t>bid: only compare bidding actions without pass.</a:t>
            </a:r>
          </a:p>
          <a:p>
            <a:pPr lvl="1"/>
            <a:r>
              <a:rPr kumimoji="1" lang="en-US" altLang="zh-TW" dirty="0">
                <a:latin typeface="Times New Roman" panose="02020603050405020304" pitchFamily="18" charset="0"/>
                <a:cs typeface="Times New Roman" panose="02020603050405020304" pitchFamily="18" charset="0"/>
              </a:rPr>
              <a:t>non-bid: compare all bidding actions.</a:t>
            </a:r>
          </a:p>
          <a:p>
            <a:r>
              <a:rPr kumimoji="1" lang="en-US" altLang="zh-TW" dirty="0">
                <a:latin typeface="Times New Roman" panose="02020603050405020304" pitchFamily="18" charset="0"/>
                <a:cs typeface="Times New Roman" panose="02020603050405020304" pitchFamily="18" charset="0"/>
              </a:rPr>
              <a:t>rule of rationality</a:t>
            </a:r>
          </a:p>
          <a:p>
            <a:pPr lvl="1"/>
            <a:r>
              <a:rPr kumimoji="1" lang="en-US" altLang="zh-TW" dirty="0">
                <a:latin typeface="Times New Roman" panose="02020603050405020304" pitchFamily="18" charset="0"/>
                <a:cs typeface="Times New Roman" panose="02020603050405020304" pitchFamily="18" charset="0"/>
              </a:rPr>
              <a:t>to check if a bidding action is rational or not</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44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9</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54C7C627-4833-5949-AB4F-F50A0F974B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895" y="2142962"/>
            <a:ext cx="6921357" cy="3353144"/>
          </a:xfrm>
          <a:prstGeom prst="rect">
            <a:avLst/>
          </a:prstGeom>
        </p:spPr>
      </p:pic>
      <p:pic>
        <p:nvPicPr>
          <p:cNvPr id="6" name="內容版面配置區 5">
            <a:extLst>
              <a:ext uri="{FF2B5EF4-FFF2-40B4-BE49-F238E27FC236}">
                <a16:creationId xmlns:a16="http://schemas.microsoft.com/office/drawing/2014/main" id="{41425B55-664D-DF43-A16F-FE5129D2B3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921267"/>
            <a:ext cx="5486895" cy="3796534"/>
          </a:xfrm>
        </p:spPr>
      </p:pic>
    </p:spTree>
    <p:extLst>
      <p:ext uri="{BB962C8B-B14F-4D97-AF65-F5344CB8AC3E}">
        <p14:creationId xmlns:p14="http://schemas.microsoft.com/office/powerpoint/2010/main" val="3051400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4716463"/>
          </a:xfrm>
        </p:spPr>
        <p:txBody>
          <a:bodyPr>
            <a:normAutofit/>
          </a:bodyPr>
          <a:lstStyle/>
          <a:p>
            <a:r>
              <a:rPr kumimoji="1" lang="en-US" altLang="zh-TW" dirty="0">
                <a:latin typeface="Times New Roman" panose="02020603050405020304" pitchFamily="18" charset="0"/>
                <a:cs typeface="Times New Roman" panose="02020603050405020304" pitchFamily="18" charset="0"/>
              </a:rPr>
              <a:t>Compare with the result in “Automatic Bridge Bidding Using Deep Reinforcement Learning, </a:t>
            </a:r>
            <a:r>
              <a:rPr kumimoji="1" lang="en-US" altLang="zh-TW" dirty="0" err="1">
                <a:latin typeface="Times New Roman" panose="02020603050405020304" pitchFamily="18" charset="0"/>
                <a:cs typeface="Times New Roman" panose="02020603050405020304" pitchFamily="18" charset="0"/>
              </a:rPr>
              <a:t>Yeh</a:t>
            </a:r>
            <a:r>
              <a:rPr kumimoji="1" lang="en-US" altLang="zh-TW" dirty="0">
                <a:latin typeface="Times New Roman" panose="02020603050405020304" pitchFamily="18" charset="0"/>
                <a:cs typeface="Times New Roman" panose="02020603050405020304" pitchFamily="18" charset="0"/>
              </a:rPr>
              <a:t>, Hsieh, and Lin, 2018”.</a:t>
            </a:r>
            <a:endParaRPr kumimoji="1" lang="zh-TW" altLang="en-US"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Compare with Wbridge5.</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10</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B0DFA11-4768-C74B-846E-7AECE1448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350" y="2801642"/>
            <a:ext cx="7983104" cy="1608610"/>
          </a:xfrm>
          <a:prstGeom prst="rect">
            <a:avLst/>
          </a:prstGeom>
        </p:spPr>
      </p:pic>
      <p:pic>
        <p:nvPicPr>
          <p:cNvPr id="8" name="圖片 7">
            <a:extLst>
              <a:ext uri="{FF2B5EF4-FFF2-40B4-BE49-F238E27FC236}">
                <a16:creationId xmlns:a16="http://schemas.microsoft.com/office/drawing/2014/main" id="{7F3C3F45-40D2-0D46-A5DF-5AAB1D777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158" y="5386270"/>
            <a:ext cx="7928296" cy="862411"/>
          </a:xfrm>
          <a:prstGeom prst="rect">
            <a:avLst/>
          </a:prstGeom>
        </p:spPr>
      </p:pic>
    </p:spTree>
    <p:extLst>
      <p:ext uri="{BB962C8B-B14F-4D97-AF65-F5344CB8AC3E}">
        <p14:creationId xmlns:p14="http://schemas.microsoft.com/office/powerpoint/2010/main" val="92130361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4368</TotalTime>
  <Words>434</Words>
  <Application>Microsoft Macintosh PowerPoint</Application>
  <PresentationFormat>寬螢幕</PresentationFormat>
  <Paragraphs>55</Paragraphs>
  <Slides>10</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新細明體</vt:lpstr>
      <vt:lpstr>Arial</vt:lpstr>
      <vt:lpstr>Calibri</vt:lpstr>
      <vt:lpstr>Calibri Light</vt:lpstr>
      <vt:lpstr>Times New Roman</vt:lpstr>
      <vt:lpstr>Office 佈景主題</vt:lpstr>
      <vt:lpstr>AI Enabled Bridge Bidding Supporting Interactive Visualization</vt:lpstr>
      <vt:lpstr>Abstract</vt:lpstr>
      <vt:lpstr>Problem Setup</vt:lpstr>
      <vt:lpstr>Bidding Model</vt:lpstr>
      <vt:lpstr>Visualization System</vt:lpstr>
      <vt:lpstr>PowerPoint 簡報</vt:lpstr>
      <vt:lpstr>PowerPoint 簡報</vt:lpstr>
      <vt:lpstr>Experiment</vt:lpstr>
      <vt:lpstr>Result</vt:lpstr>
      <vt:lpstr>Result</vt:lpstr>
    </vt:vector>
  </TitlesOfParts>
  <Company/>
  <LinksUpToDate>false</LinksUpToDate>
  <SharedDoc>false</SharedDoc>
  <HyperlinksChanged>false</HyperlinksChanged>
  <AppVersion>16.0009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29</cp:revision>
  <dcterms:created xsi:type="dcterms:W3CDTF">2023-01-02T07:42:35Z</dcterms:created>
  <dcterms:modified xsi:type="dcterms:W3CDTF">2023-02-20T08:15:59Z</dcterms:modified>
</cp:coreProperties>
</file>