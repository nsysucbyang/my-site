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68" r:id="rId5"/>
    <p:sldId id="273" r:id="rId6"/>
    <p:sldId id="274" r:id="rId7"/>
    <p:sldId id="275" r:id="rId8"/>
    <p:sldId id="277" r:id="rId9"/>
    <p:sldId id="269" r:id="rId10"/>
    <p:sldId id="278" r:id="rId11"/>
    <p:sldId id="276" r:id="rId12"/>
    <p:sldId id="270" r:id="rId13"/>
    <p:sldId id="257" r:id="rId14"/>
    <p:sldId id="263" r:id="rId15"/>
    <p:sldId id="27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56"/>
    <p:restoredTop sz="95728"/>
  </p:normalViewPr>
  <p:slideViewPr>
    <p:cSldViewPr snapToGrid="0" snapToObjects="1">
      <p:cViewPr varScale="1">
        <p:scale>
          <a:sx n="109" d="100"/>
          <a:sy n="109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393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2023/6/6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800" dirty="0">
                <a:latin typeface="Times" pitchFamily="2" charset="0"/>
              </a:rPr>
              <a:t>All Simulations Are Not Equal</a:t>
            </a:r>
            <a:r>
              <a:rPr kumimoji="1" lang="en-US" altLang="zh-TW" sz="4800" dirty="0">
                <a:latin typeface="Times" pitchFamily="2" charset="0"/>
              </a:rPr>
              <a:t>:</a:t>
            </a:r>
            <a:r>
              <a:rPr kumimoji="1" lang="en" altLang="zh-TW" sz="4800" dirty="0">
                <a:latin typeface="Times" pitchFamily="2" charset="0"/>
              </a:rPr>
              <a:t> Simulation Reweighing for Imperfect Information Games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zh-TW" dirty="0" err="1">
                <a:latin typeface="Times" pitchFamily="2" charset="0"/>
              </a:rPr>
              <a:t>Qucheng</a:t>
            </a:r>
            <a:r>
              <a:rPr lang="en" altLang="zh-TW" dirty="0">
                <a:latin typeface="Times" pitchFamily="2" charset="0"/>
              </a:rPr>
              <a:t> Gong and </a:t>
            </a:r>
            <a:r>
              <a:rPr lang="en" altLang="zh-TW" dirty="0" err="1">
                <a:latin typeface="Times" pitchFamily="2" charset="0"/>
              </a:rPr>
              <a:t>Yuandong</a:t>
            </a:r>
            <a:r>
              <a:rPr lang="en" altLang="zh-TW" dirty="0">
                <a:latin typeface="Times" pitchFamily="2" charset="0"/>
              </a:rPr>
              <a:t> Tian</a:t>
            </a:r>
          </a:p>
          <a:p>
            <a:pPr>
              <a:lnSpc>
                <a:spcPct val="100000"/>
              </a:lnSpc>
            </a:pPr>
            <a:r>
              <a:rPr lang="en" altLang="zh-TW" dirty="0">
                <a:latin typeface="Times" pitchFamily="2" charset="0"/>
              </a:rPr>
              <a:t>International Conference on Learning Representations</a:t>
            </a:r>
            <a:r>
              <a:rPr lang="en-US" altLang="zh-TW" dirty="0">
                <a:latin typeface="Times" pitchFamily="2" charset="0"/>
              </a:rPr>
              <a:t>(</a:t>
            </a:r>
            <a:r>
              <a:rPr lang="en" altLang="zh-TW" dirty="0">
                <a:latin typeface="Times" pitchFamily="2" charset="0"/>
              </a:rPr>
              <a:t>ICLR</a:t>
            </a:r>
            <a:r>
              <a:rPr lang="en-US" altLang="zh-TW" dirty="0">
                <a:latin typeface="Times" pitchFamily="2" charset="0"/>
              </a:rPr>
              <a:t>)</a:t>
            </a:r>
            <a:r>
              <a:rPr lang="en" altLang="zh-TW" dirty="0">
                <a:latin typeface="Times" pitchFamily="2" charset="0"/>
              </a:rPr>
              <a:t>, Millennium Hall, Addis Ababa ETHIOPIA, April 26</a:t>
            </a:r>
            <a:r>
              <a:rPr lang="en-US" altLang="zh-TW" dirty="0">
                <a:latin typeface="Times" pitchFamily="2" charset="0"/>
              </a:rPr>
              <a:t>-</a:t>
            </a:r>
            <a:r>
              <a:rPr lang="en" altLang="zh-TW" dirty="0">
                <a:latin typeface="Times" pitchFamily="2" charset="0"/>
              </a:rPr>
              <a:t>30, 2020</a:t>
            </a:r>
            <a:r>
              <a:rPr lang="en-US" altLang="zh-TW" dirty="0">
                <a:latin typeface="Times" pitchFamily="2" charset="0"/>
              </a:rPr>
              <a:t>.</a:t>
            </a:r>
            <a:endParaRPr lang="en" altLang="zh-TW" dirty="0">
              <a:latin typeface="Times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412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Yun-An Chen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2023/06/06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Abstract(1/2)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" altLang="zh-TW" sz="2400" dirty="0">
                <a:latin typeface="Times" pitchFamily="2" charset="0"/>
              </a:rPr>
              <a:t>Imperfect information games are challenging benchmarks for artificial intelligent systems. To reason and plan under uncertainty is a key towards general AI. Traditionally, large amounts of simulations are used in imperfect information games, and they sometimes perform sub-optimally due to large state and action spaces. In this work, we propose a simulation reweighing mechanism using neural networks.</a:t>
            </a:r>
            <a:r>
              <a:rPr lang="zh-TW" altLang="en-US" sz="2400" dirty="0">
                <a:latin typeface="Times" pitchFamily="2" charset="0"/>
              </a:rPr>
              <a:t> </a:t>
            </a:r>
            <a:r>
              <a:rPr lang="en" altLang="zh-TW" sz="2400" dirty="0">
                <a:latin typeface="Times" pitchFamily="2" charset="0"/>
              </a:rPr>
              <a:t>It performs backwards verification to public previous actions and assign proper belief weights to the simulations from the information set of the current observation, using an incomplete state solver network (ISSN).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Abstract(2/2)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46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" altLang="zh-TW" sz="2400" dirty="0">
                <a:latin typeface="Times" pitchFamily="2" charset="0"/>
              </a:rPr>
              <a:t>We use simulation reweighing in the playing phase of the game contract bridge, and show that it outperforms previous state-of-the-art Monte Carlo simulation based methods, and achieves better play per decision.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063C2-B176-C143-AD15-5E06A3E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413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C97BF8E6-92D8-1C41-88E6-A6DA5ED0C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1" y="1468752"/>
            <a:ext cx="12187799" cy="5024123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FDF01EB-A175-3F4A-8121-EDA3DB5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>
                <a:latin typeface="Times" pitchFamily="2" charset="0"/>
              </a:rPr>
              <a:t>Incomplete State Solver Network (ISSN)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48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C97BF8E6-92D8-1C41-88E6-A6DA5ED0C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4955" t="13177" b="75001"/>
          <a:stretch/>
        </p:blipFill>
        <p:spPr>
          <a:xfrm>
            <a:off x="1799838" y="136525"/>
            <a:ext cx="8592322" cy="92964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/>
          </a:p>
        </p:txBody>
      </p:sp>
      <p:pic>
        <p:nvPicPr>
          <p:cNvPr id="6" name="內容版面配置區 7" descr="一張含有 文字, 螢幕擷取畫面, 遊戲 的圖片&#10;&#10;自動產生的描述">
            <a:extLst>
              <a:ext uri="{FF2B5EF4-FFF2-40B4-BE49-F238E27FC236}">
                <a16:creationId xmlns:a16="http://schemas.microsoft.com/office/drawing/2014/main" id="{9997C9FC-4591-CA4D-A7D9-3B0781DB5C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31"/>
          <a:stretch/>
        </p:blipFill>
        <p:spPr>
          <a:xfrm>
            <a:off x="2786138" y="1066165"/>
            <a:ext cx="6619723" cy="565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5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綠色, 遊戲 的圖片&#10;&#10;自動產生的描述">
            <a:extLst>
              <a:ext uri="{FF2B5EF4-FFF2-40B4-BE49-F238E27FC236}">
                <a16:creationId xmlns:a16="http://schemas.microsoft.com/office/drawing/2014/main" id="{F570E879-97FA-2F45-BAE6-DAF1D6452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05" y="1075448"/>
            <a:ext cx="6662190" cy="565531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936E0F0-F05D-2049-9835-D748A7AD5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05" y="136525"/>
            <a:ext cx="8606790" cy="93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6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C97BF8E6-92D8-1C41-88E6-A6DA5ED0C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5610"/>
          <a:stretch/>
        </p:blipFill>
        <p:spPr>
          <a:xfrm>
            <a:off x="2514600" y="103172"/>
            <a:ext cx="7162800" cy="6651656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8" name="圖片 7" descr="一張含有 文字, 字型, 白色, 設計 的圖片&#10;&#10;自動產生的描述">
            <a:extLst>
              <a:ext uri="{FF2B5EF4-FFF2-40B4-BE49-F238E27FC236}">
                <a16:creationId xmlns:a16="http://schemas.microsoft.com/office/drawing/2014/main" id="{860BE81F-F1BA-284D-82C5-E23C0998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5697869"/>
            <a:ext cx="1988820" cy="84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27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6" name="圖片 5" descr="一張含有 文字, 螢幕擷取畫面, 圖表, 正方形 的圖片&#10;&#10;自動產生的描述">
            <a:extLst>
              <a:ext uri="{FF2B5EF4-FFF2-40B4-BE49-F238E27FC236}">
                <a16:creationId xmlns:a16="http://schemas.microsoft.com/office/drawing/2014/main" id="{7EC161B5-B416-EE4A-BC74-7C4F646F3F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70" r="2649" b="29648"/>
          <a:stretch/>
        </p:blipFill>
        <p:spPr>
          <a:xfrm>
            <a:off x="7680960" y="0"/>
            <a:ext cx="3078480" cy="6755553"/>
          </a:xfrm>
          <a:prstGeom prst="rect">
            <a:avLst/>
          </a:prstGeom>
        </p:spPr>
      </p:pic>
      <p:pic>
        <p:nvPicPr>
          <p:cNvPr id="5" name="圖片 4" descr="一張含有 文字, 螢幕擷取畫面, 圖表, 正方形 的圖片&#10;&#10;自動產生的描述">
            <a:extLst>
              <a:ext uri="{FF2B5EF4-FFF2-40B4-BE49-F238E27FC236}">
                <a16:creationId xmlns:a16="http://schemas.microsoft.com/office/drawing/2014/main" id="{94299307-9EDC-F242-A7A3-167C88B5E8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469" t="70308" r="3884" b="-303"/>
          <a:stretch/>
        </p:blipFill>
        <p:spPr>
          <a:xfrm>
            <a:off x="1432560" y="1735233"/>
            <a:ext cx="4541520" cy="4768596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1B5A8CC9-7F40-EC45-8824-F55E87C60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Sampled</a:t>
            </a:r>
            <a:r>
              <a:rPr kumimoji="1" lang="en" altLang="zh-TW" dirty="0">
                <a:latin typeface="Times" pitchFamily="2" charset="0"/>
              </a:rPr>
              <a:t> states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reweigh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1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3" name="圖片 2" descr="一張含有 文字, 遊戲, 紙牌遊戲, 螢幕擷取畫面 的圖片&#10;&#10;自動產生的描述">
            <a:extLst>
              <a:ext uri="{FF2B5EF4-FFF2-40B4-BE49-F238E27FC236}">
                <a16:creationId xmlns:a16="http://schemas.microsoft.com/office/drawing/2014/main" id="{FC87C142-89C9-0D42-82C8-B5D2E3C49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12" y="1873884"/>
            <a:ext cx="3656375" cy="3110232"/>
          </a:xfrm>
          <a:prstGeom prst="rect">
            <a:avLst/>
          </a:prstGeom>
        </p:spPr>
      </p:pic>
      <p:pic>
        <p:nvPicPr>
          <p:cNvPr id="8" name="圖片 7" descr="一張含有 文字, 遊戲, 室內遊戲和運動, 紙牌遊戲 的圖片&#10;&#10;自動產生的描述">
            <a:extLst>
              <a:ext uri="{FF2B5EF4-FFF2-40B4-BE49-F238E27FC236}">
                <a16:creationId xmlns:a16="http://schemas.microsoft.com/office/drawing/2014/main" id="{4FEEC858-73A6-6E49-A43B-A03E687DB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434" y="1863271"/>
            <a:ext cx="3656375" cy="3120845"/>
          </a:xfrm>
          <a:prstGeom prst="rect">
            <a:avLst/>
          </a:prstGeom>
        </p:spPr>
      </p:pic>
      <p:pic>
        <p:nvPicPr>
          <p:cNvPr id="9" name="內容版面配置區 7" descr="一張含有 文字, 螢幕擷取畫面, 遊戲 的圖片&#10;&#10;自動產生的描述">
            <a:extLst>
              <a:ext uri="{FF2B5EF4-FFF2-40B4-BE49-F238E27FC236}">
                <a16:creationId xmlns:a16="http://schemas.microsoft.com/office/drawing/2014/main" id="{F186CFB5-AAB6-614B-8E98-62ACA87F76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531"/>
          <a:stretch/>
        </p:blipFill>
        <p:spPr>
          <a:xfrm>
            <a:off x="175191" y="1873884"/>
            <a:ext cx="3656375" cy="3123686"/>
          </a:xfrm>
          <a:prstGeom prst="rect">
            <a:avLst/>
          </a:prstGeom>
        </p:spPr>
      </p:pic>
      <p:pic>
        <p:nvPicPr>
          <p:cNvPr id="10" name="圖片 9" descr="一張含有 文字, 螢幕擷取畫面, 圖表, 正方形 的圖片&#10;&#10;自動產生的描述">
            <a:extLst>
              <a:ext uri="{FF2B5EF4-FFF2-40B4-BE49-F238E27FC236}">
                <a16:creationId xmlns:a16="http://schemas.microsoft.com/office/drawing/2014/main" id="{99A606DD-E921-3E4C-AFA7-04FF9D3504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724" t="3276" r="51811" b="80089"/>
          <a:stretch/>
        </p:blipFill>
        <p:spPr>
          <a:xfrm>
            <a:off x="5070173" y="5217663"/>
            <a:ext cx="2051651" cy="113868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C24EA888-C31F-0544-AFC6-162FF4542E80}"/>
              </a:ext>
            </a:extLst>
          </p:cNvPr>
          <p:cNvGrpSpPr/>
          <p:nvPr/>
        </p:nvGrpSpPr>
        <p:grpSpPr>
          <a:xfrm>
            <a:off x="9162795" y="5217663"/>
            <a:ext cx="2051651" cy="1138687"/>
            <a:chOff x="9162795" y="5217663"/>
            <a:chExt cx="2051651" cy="1138687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14BBCFD-953A-2342-981D-DC7C210E8F7A}"/>
                </a:ext>
              </a:extLst>
            </p:cNvPr>
            <p:cNvGrpSpPr/>
            <p:nvPr/>
          </p:nvGrpSpPr>
          <p:grpSpPr>
            <a:xfrm>
              <a:off x="9162795" y="5217663"/>
              <a:ext cx="2051651" cy="1138687"/>
              <a:chOff x="9162795" y="5217663"/>
              <a:chExt cx="2051651" cy="1138687"/>
            </a:xfrm>
          </p:grpSpPr>
          <p:pic>
            <p:nvPicPr>
              <p:cNvPr id="12" name="圖片 11" descr="一張含有 文字, 螢幕擷取畫面, 圖表, 正方形 的圖片&#10;&#10;自動產生的描述">
                <a:extLst>
                  <a:ext uri="{FF2B5EF4-FFF2-40B4-BE49-F238E27FC236}">
                    <a16:creationId xmlns:a16="http://schemas.microsoft.com/office/drawing/2014/main" id="{1ECF38F1-0B92-0541-8401-25612B18BE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0724" t="3276" r="51811" b="80089"/>
              <a:stretch/>
            </p:blipFill>
            <p:spPr>
              <a:xfrm>
                <a:off x="9162795" y="5217663"/>
                <a:ext cx="2051651" cy="1138687"/>
              </a:xfrm>
              <a:prstGeom prst="rect">
                <a:avLst/>
              </a:prstGeom>
            </p:spPr>
          </p:pic>
          <p:pic>
            <p:nvPicPr>
              <p:cNvPr id="11" name="圖片 10" descr="一張含有 文字, 螢幕擷取畫面, 圖表, 正方形 的圖片&#10;&#10;自動產生的描述">
                <a:extLst>
                  <a:ext uri="{FF2B5EF4-FFF2-40B4-BE49-F238E27FC236}">
                    <a16:creationId xmlns:a16="http://schemas.microsoft.com/office/drawing/2014/main" id="{1CC70DB1-1B2E-E44D-8757-532D23BDCC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65045" t="3215" r="26290" b="88322"/>
              <a:stretch/>
            </p:blipFill>
            <p:spPr>
              <a:xfrm>
                <a:off x="9679661" y="5217663"/>
                <a:ext cx="1017918" cy="579289"/>
              </a:xfrm>
              <a:prstGeom prst="rect">
                <a:avLst/>
              </a:prstGeom>
            </p:spPr>
          </p:pic>
        </p:grp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D13161A4-82FC-0E49-AF17-FA85F0F63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37082" y="5956719"/>
              <a:ext cx="572088" cy="312048"/>
            </a:xfrm>
            <a:prstGeom prst="rect">
              <a:avLst/>
            </a:prstGeom>
          </p:spPr>
        </p:pic>
      </p:grpSp>
      <p:sp>
        <p:nvSpPr>
          <p:cNvPr id="25" name="標題 1">
            <a:extLst>
              <a:ext uri="{FF2B5EF4-FFF2-40B4-BE49-F238E27FC236}">
                <a16:creationId xmlns:a16="http://schemas.microsoft.com/office/drawing/2014/main" id="{3351CF30-E918-6848-84DC-117837A3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Sampled</a:t>
            </a:r>
            <a:r>
              <a:rPr kumimoji="1" lang="en" altLang="zh-TW" dirty="0">
                <a:latin typeface="Times" pitchFamily="2" charset="0"/>
              </a:rPr>
              <a:t> states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reweigh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338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A0A8EB2-C5F2-E24B-94D3-91BA9DC8ACD8}"/>
              </a:ext>
            </a:extLst>
          </p:cNvPr>
          <p:cNvGrpSpPr/>
          <p:nvPr/>
        </p:nvGrpSpPr>
        <p:grpSpPr>
          <a:xfrm>
            <a:off x="0" y="776596"/>
            <a:ext cx="11867942" cy="5304808"/>
            <a:chOff x="0" y="1135380"/>
            <a:chExt cx="11867942" cy="5304808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AFEDC49-4BDB-C742-B055-076901CBDDFF}"/>
                </a:ext>
              </a:extLst>
            </p:cNvPr>
            <p:cNvGrpSpPr/>
            <p:nvPr/>
          </p:nvGrpSpPr>
          <p:grpSpPr>
            <a:xfrm>
              <a:off x="0" y="1135380"/>
              <a:ext cx="11867942" cy="5304808"/>
              <a:chOff x="0" y="1135380"/>
              <a:chExt cx="11867942" cy="5304808"/>
            </a:xfrm>
          </p:grpSpPr>
          <p:pic>
            <p:nvPicPr>
              <p:cNvPr id="6" name="圖片 5" descr="一張含有 文字, 螢幕擷取畫面, 圖表, 正方形 的圖片&#10;&#10;自動產生的描述">
                <a:extLst>
                  <a:ext uri="{FF2B5EF4-FFF2-40B4-BE49-F238E27FC236}">
                    <a16:creationId xmlns:a16="http://schemas.microsoft.com/office/drawing/2014/main" id="{7EC161B5-B416-EE4A-BC74-7C4F646F3F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6141" t="44972" r="3168"/>
              <a:stretch/>
            </p:blipFill>
            <p:spPr>
              <a:xfrm>
                <a:off x="324058" y="1135380"/>
                <a:ext cx="11543884" cy="4587240"/>
              </a:xfrm>
              <a:prstGeom prst="rect">
                <a:avLst/>
              </a:prstGeom>
            </p:spPr>
          </p:pic>
          <p:pic>
            <p:nvPicPr>
              <p:cNvPr id="5" name="圖片 4" descr="一張含有 文字, 螢幕擷取畫面, 圖表, 正方形 的圖片&#10;&#10;自動產生的描述">
                <a:extLst>
                  <a:ext uri="{FF2B5EF4-FFF2-40B4-BE49-F238E27FC236}">
                    <a16:creationId xmlns:a16="http://schemas.microsoft.com/office/drawing/2014/main" id="{93448ECB-581A-FF4B-889F-1C6C1C1E87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6141" t="70292" r="54699"/>
              <a:stretch/>
            </p:blipFill>
            <p:spPr>
              <a:xfrm>
                <a:off x="0" y="3230879"/>
                <a:ext cx="5406182" cy="3209309"/>
              </a:xfrm>
              <a:prstGeom prst="rect">
                <a:avLst/>
              </a:prstGeom>
            </p:spPr>
          </p:pic>
        </p:grpSp>
        <p:pic>
          <p:nvPicPr>
            <p:cNvPr id="3" name="圖片 2" descr="一張含有 字型, 白色, 螢幕擷取畫面, 設計 的圖片&#10;&#10;自動產生的描述">
              <a:extLst>
                <a:ext uri="{FF2B5EF4-FFF2-40B4-BE49-F238E27FC236}">
                  <a16:creationId xmlns:a16="http://schemas.microsoft.com/office/drawing/2014/main" id="{EE724039-5462-D941-BD2D-EF3B3D287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4990" y="2075879"/>
              <a:ext cx="2010410" cy="1139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29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E83792F7-A4AE-BA4E-9FD4-BBF176EF3D83}"/>
              </a:ext>
            </a:extLst>
          </p:cNvPr>
          <p:cNvGrpSpPr/>
          <p:nvPr/>
        </p:nvGrpSpPr>
        <p:grpSpPr>
          <a:xfrm>
            <a:off x="222250" y="0"/>
            <a:ext cx="11747500" cy="6845300"/>
            <a:chOff x="222250" y="0"/>
            <a:chExt cx="11747500" cy="6845300"/>
          </a:xfrm>
        </p:grpSpPr>
        <p:pic>
          <p:nvPicPr>
            <p:cNvPr id="6" name="圖片 5" descr="一張含有 文字, 螢幕擷取畫面, 圖表, 正方形 的圖片&#10;&#10;自動產生的描述">
              <a:extLst>
                <a:ext uri="{FF2B5EF4-FFF2-40B4-BE49-F238E27FC236}">
                  <a16:creationId xmlns:a16="http://schemas.microsoft.com/office/drawing/2014/main" id="{7EC161B5-B416-EE4A-BC74-7C4F646F3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50" y="0"/>
              <a:ext cx="11747500" cy="6845300"/>
            </a:xfrm>
            <a:prstGeom prst="rect">
              <a:avLst/>
            </a:prstGeom>
          </p:spPr>
        </p:pic>
        <p:pic>
          <p:nvPicPr>
            <p:cNvPr id="3" name="圖片 2" descr="一張含有 白色, 設計 的圖片&#10;&#10;自動產生的描述">
              <a:extLst>
                <a:ext uri="{FF2B5EF4-FFF2-40B4-BE49-F238E27FC236}">
                  <a16:creationId xmlns:a16="http://schemas.microsoft.com/office/drawing/2014/main" id="{BD7655AC-DF71-CA40-B966-3B1F73EF8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2049" y="4870449"/>
              <a:ext cx="2990117" cy="1851025"/>
            </a:xfrm>
            <a:prstGeom prst="rect">
              <a:avLst/>
            </a:prstGeom>
          </p:spPr>
        </p:pic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5952B65-5568-FC4F-ABCD-C61276E41301}"/>
                  </a:ext>
                </a:extLst>
              </p:cNvPr>
              <p:cNvSpPr txBox="1"/>
              <p:nvPr/>
            </p:nvSpPr>
            <p:spPr>
              <a:xfrm>
                <a:off x="6778790" y="5318201"/>
                <a:ext cx="4006517" cy="10802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" altLang="zh-TW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" altLang="zh-TW" sz="24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1" lang="en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ctrlPr>
                                    <a:rPr kumimoji="1" lang="en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kumimoji="1"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TW" alt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1"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1"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5952B65-5568-FC4F-ABCD-C61276E41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790" y="5318201"/>
                <a:ext cx="4006517" cy="1080296"/>
              </a:xfrm>
              <a:prstGeom prst="rect">
                <a:avLst/>
              </a:prstGeom>
              <a:blipFill>
                <a:blip r:embed="rId4"/>
                <a:stretch>
                  <a:fillRect l="-13880" t="-109195" r="-5363" b="-1632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461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F01EB-A175-3F4A-8121-EDA3DB5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Network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/>
          </a:p>
        </p:txBody>
      </p:sp>
      <p:pic>
        <p:nvPicPr>
          <p:cNvPr id="5" name="內容版面配置區 4" descr="一張含有 文字, 螢幕擷取畫面, 字型, 行 的圖片&#10;&#10;自動產生的描述">
            <a:extLst>
              <a:ext uri="{FF2B5EF4-FFF2-40B4-BE49-F238E27FC236}">
                <a16:creationId xmlns:a16="http://schemas.microsoft.com/office/drawing/2014/main" id="{BB194CD8-8C45-FB4D-AF17-3CD24A563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499" y="3611561"/>
            <a:ext cx="11236760" cy="2927351"/>
          </a:xfr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B2C63CC-53C0-8243-BCBB-A4D254AFEB0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Input: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432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neurons</a:t>
            </a:r>
          </a:p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Hidden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layers: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8</a:t>
            </a:r>
            <a:r>
              <a:rPr kumimoji="1" lang="zh-TW" altLang="en-US" dirty="0">
                <a:latin typeface="Times" pitchFamily="2" charset="0"/>
              </a:rPr>
              <a:t> * </a:t>
            </a:r>
            <a:r>
              <a:rPr kumimoji="1" lang="en-US" altLang="zh-TW" dirty="0">
                <a:latin typeface="Times" pitchFamily="2" charset="0"/>
              </a:rPr>
              <a:t>100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neurons</a:t>
            </a:r>
          </a:p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Output: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52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possibilities</a:t>
            </a:r>
          </a:p>
        </p:txBody>
      </p:sp>
    </p:spTree>
    <p:extLst>
      <p:ext uri="{BB962C8B-B14F-4D97-AF65-F5344CB8AC3E}">
        <p14:creationId xmlns:p14="http://schemas.microsoft.com/office/powerpoint/2010/main" val="169941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Times" pitchFamily="2" charset="0"/>
              </a:rPr>
              <a:t>Problem Setup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C2A638-FB11-BC41-B4C4-91EA30E22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Dataset: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84000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hands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and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2.4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million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positions.</a:t>
            </a:r>
          </a:p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90%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training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set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and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10%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testing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set.</a:t>
            </a:r>
          </a:p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Double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Dummy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Solver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on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all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2.4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million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positions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as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ground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truth.</a:t>
            </a:r>
          </a:p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For each position, we run 50 simulations to compute the baselines and serve as training target of the pretrained network.</a:t>
            </a:r>
          </a:p>
          <a:p>
            <a:pPr marL="0" indent="0">
              <a:lnSpc>
                <a:spcPct val="100000"/>
              </a:lnSpc>
              <a:buNone/>
            </a:pPr>
            <a:endParaRPr kumimoji="1" lang="en-US" altLang="zh-TW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2410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F01EB-A175-3F4A-8121-EDA3DB5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Times" pitchFamily="2" charset="0"/>
              </a:rPr>
              <a:t>Experiment</a:t>
            </a:r>
            <a:r>
              <a:rPr lang="zh-TW" altLang="en-US" dirty="0">
                <a:latin typeface="Times" pitchFamily="2" charset="0"/>
              </a:rPr>
              <a:t> </a:t>
            </a:r>
            <a:r>
              <a:rPr lang="en-US" altLang="zh-TW" dirty="0">
                <a:latin typeface="Times" pitchFamily="2" charset="0"/>
              </a:rPr>
              <a:t>results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14</a:t>
            </a:fld>
            <a:endParaRPr kumimoji="1"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CBCAF137-5D82-7341-8720-A745164D4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-baseline: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trick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4" descr="一張含有 文字, 字型, 螢幕擷取畫面, 數字 的圖片&#10;&#10;自動產生的描述">
            <a:extLst>
              <a:ext uri="{FF2B5EF4-FFF2-40B4-BE49-F238E27FC236}">
                <a16:creationId xmlns:a16="http://schemas.microsoft.com/office/drawing/2014/main" id="{3389FBB5-CD38-F646-97B9-2AE16D9827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8"/>
          <a:stretch/>
        </p:blipFill>
        <p:spPr>
          <a:xfrm>
            <a:off x="1609890" y="3985403"/>
            <a:ext cx="8972220" cy="250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9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15</a:t>
            </a:fld>
            <a:endParaRPr kumimoji="1" lang="zh-TW" altLang="en-US"/>
          </a:p>
        </p:txBody>
      </p:sp>
      <p:pic>
        <p:nvPicPr>
          <p:cNvPr id="8" name="內容版面配置區 7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6C50B7E1-EA3A-EA47-9A3E-7B3A5A1172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869" y="136525"/>
            <a:ext cx="11348261" cy="6357680"/>
          </a:xfrm>
        </p:spPr>
      </p:pic>
    </p:spTree>
    <p:extLst>
      <p:ext uri="{BB962C8B-B14F-4D97-AF65-F5344CB8AC3E}">
        <p14:creationId xmlns:p14="http://schemas.microsoft.com/office/powerpoint/2010/main" val="2297989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3814</TotalTime>
  <Words>317</Words>
  <Application>Microsoft Macintosh PowerPoint</Application>
  <PresentationFormat>寬螢幕</PresentationFormat>
  <Paragraphs>42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Times</vt:lpstr>
      <vt:lpstr>Arial</vt:lpstr>
      <vt:lpstr>Calibri</vt:lpstr>
      <vt:lpstr>Calibri Light</vt:lpstr>
      <vt:lpstr>Cambria Math</vt:lpstr>
      <vt:lpstr>Times New Roman</vt:lpstr>
      <vt:lpstr>Office 佈景主題</vt:lpstr>
      <vt:lpstr>All Simulations Are Not Equal: Simulation Reweighing for Imperfect Information Games</vt:lpstr>
      <vt:lpstr>Abstract(1/2)</vt:lpstr>
      <vt:lpstr>Abstract(2/2)</vt:lpstr>
      <vt:lpstr>Incomplete State Solver Network (ISSN)</vt:lpstr>
      <vt:lpstr>PowerPoint 簡報</vt:lpstr>
      <vt:lpstr>PowerPoint 簡報</vt:lpstr>
      <vt:lpstr>PowerPoint 簡報</vt:lpstr>
      <vt:lpstr>Sampled states reweigh</vt:lpstr>
      <vt:lpstr>Sampled states reweigh</vt:lpstr>
      <vt:lpstr>PowerPoint 簡報</vt:lpstr>
      <vt:lpstr>PowerPoint 簡報</vt:lpstr>
      <vt:lpstr>Network</vt:lpstr>
      <vt:lpstr>Problem Setup</vt:lpstr>
      <vt:lpstr>Experiment results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M113040012</cp:lastModifiedBy>
  <cp:revision>74</cp:revision>
  <dcterms:created xsi:type="dcterms:W3CDTF">2023-06-03T03:26:36Z</dcterms:created>
  <dcterms:modified xsi:type="dcterms:W3CDTF">2023-06-06T07:11:04Z</dcterms:modified>
</cp:coreProperties>
</file>