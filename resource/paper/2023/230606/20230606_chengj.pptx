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Lst>
  <p:sldSz cy="5143500" cx="9144000"/>
  <p:notesSz cx="6858000" cy="9144000"/>
  <p:embeddedFontLst>
    <p:embeddedFont>
      <p:font typeface="Ubuntu"/>
      <p:regular r:id="rId52"/>
      <p:bold r:id="rId53"/>
      <p:italic r:id="rId54"/>
      <p:boldItalic r:id="rId5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D18B5E2-D38E-4A97-9627-7B7FEC67D645}">
  <a:tblStyle styleId="{DD18B5E2-D38E-4A97-9627-7B7FEC67D645}"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font" Target="fonts/Ubuntu-bold.fntdata"/><Relationship Id="rId52" Type="http://schemas.openxmlformats.org/officeDocument/2006/relationships/font" Target="fonts/Ubuntu-regular.fntdata"/><Relationship Id="rId11" Type="http://schemas.openxmlformats.org/officeDocument/2006/relationships/slide" Target="slides/slide5.xml"/><Relationship Id="rId55" Type="http://schemas.openxmlformats.org/officeDocument/2006/relationships/font" Target="fonts/Ubuntu-boldItalic.fntdata"/><Relationship Id="rId10" Type="http://schemas.openxmlformats.org/officeDocument/2006/relationships/slide" Target="slides/slide4.xml"/><Relationship Id="rId54" Type="http://schemas.openxmlformats.org/officeDocument/2006/relationships/font" Target="fonts/Ubuntu-italic.fnt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2269fce0084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2269fce0084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2269fce0084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2269fce0084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24e6330082c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24e6330082c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24e6330082c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24e6330082c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24e6330082c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24e6330082c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24e6330082c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24e6330082c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24e6330082c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24e6330082c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2269fce0084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2269fce0084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橘色是一開始選擇的door 1</a:t>
            </a:r>
            <a:endParaRPr/>
          </a:p>
          <a:p>
            <a:pPr indent="0" lvl="0" marL="0" rtl="0" algn="l">
              <a:spcBef>
                <a:spcPts val="0"/>
              </a:spcBef>
              <a:spcAft>
                <a:spcPts val="0"/>
              </a:spcAft>
              <a:buNone/>
            </a:pPr>
            <a:r>
              <a:rPr lang="zh-TW"/>
              <a:t>藍色是主持人可能打開的門</a:t>
            </a:r>
            <a:endParaRPr/>
          </a:p>
          <a:p>
            <a:pPr indent="0" lvl="0" marL="0" rtl="0" algn="l">
              <a:spcBef>
                <a:spcPts val="0"/>
              </a:spcBef>
              <a:spcAft>
                <a:spcPts val="0"/>
              </a:spcAft>
              <a:buNone/>
            </a:pPr>
            <a:r>
              <a:rPr lang="zh-TW"/>
              <a:t>三分之一是車分別在door 1 2 3的機率</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24e6330082c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24e6330082c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因為在主持人在開門的時候已經受到我們的選擇影響</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24e6330082c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24e6330082c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樹狀圖是選door 1＆都換的情況下</a:t>
            </a:r>
            <a:endParaRPr/>
          </a:p>
          <a:p>
            <a:pPr indent="0" lvl="0" marL="0" rtl="0" algn="l">
              <a:spcBef>
                <a:spcPts val="0"/>
              </a:spcBef>
              <a:spcAft>
                <a:spcPts val="0"/>
              </a:spcAft>
              <a:buNone/>
            </a:pPr>
            <a:r>
              <a:t/>
            </a:r>
            <a:endParaRPr/>
          </a:p>
          <a:p>
            <a:pPr indent="0" lvl="0" marL="0" rtl="0" algn="l">
              <a:spcBef>
                <a:spcPts val="0"/>
              </a:spcBef>
              <a:spcAft>
                <a:spcPts val="0"/>
              </a:spcAft>
              <a:buNone/>
            </a:pPr>
            <a:r>
              <a:rPr lang="zh-TW"/>
              <a:t>換個觀點 可以視為：</a:t>
            </a:r>
            <a:endParaRPr/>
          </a:p>
          <a:p>
            <a:pPr indent="0" lvl="0" marL="0" rtl="0" algn="l">
              <a:spcBef>
                <a:spcPts val="0"/>
              </a:spcBef>
              <a:spcAft>
                <a:spcPts val="0"/>
              </a:spcAft>
              <a:buNone/>
            </a:pPr>
            <a:r>
              <a:rPr lang="zh-TW"/>
              <a:t>一開始如果選到有車的門　必輸</a:t>
            </a:r>
            <a:endParaRPr/>
          </a:p>
          <a:p>
            <a:pPr indent="0" lvl="0" marL="0" rtl="0" algn="l">
              <a:spcBef>
                <a:spcPts val="0"/>
              </a:spcBef>
              <a:spcAft>
                <a:spcPts val="0"/>
              </a:spcAft>
              <a:buNone/>
            </a:pPr>
            <a:r>
              <a:rPr lang="zh-TW"/>
              <a:t>一開始如果選到沒車的門　必贏</a:t>
            </a:r>
            <a:endParaRPr/>
          </a:p>
          <a:p>
            <a:pPr indent="0" lvl="0" marL="0" rtl="0" algn="l">
              <a:spcBef>
                <a:spcPts val="0"/>
              </a:spcBef>
              <a:spcAft>
                <a:spcPts val="0"/>
              </a:spcAft>
              <a:buNone/>
            </a:pPr>
            <a:r>
              <a:rPr lang="zh-TW"/>
              <a:t>所以　拿到車的機率＝一開始選到沒車的門的機率＝三分之二</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24e6330082c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24e6330082c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主持人只能打開藏有羊的最大數字門</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24e6330082c_4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24e6330082c_4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solidFill>
                  <a:schemeClr val="dk1"/>
                </a:solidFill>
              </a:rPr>
              <a:t>＃在一開始選擇門１的情況下</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zh-TW">
                <a:solidFill>
                  <a:schemeClr val="dk1"/>
                </a:solidFill>
              </a:rPr>
              <a:t>不換　一樣是三分之一</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zh-TW">
                <a:solidFill>
                  <a:schemeClr val="dk1"/>
                </a:solidFill>
              </a:rPr>
              <a:t>換：</a:t>
            </a:r>
            <a:endParaRPr>
              <a:solidFill>
                <a:schemeClr val="dk1"/>
              </a:solidFill>
            </a:endParaRPr>
          </a:p>
          <a:p>
            <a:pPr indent="0" lvl="0" marL="0" rtl="0" algn="l">
              <a:spcBef>
                <a:spcPts val="0"/>
              </a:spcBef>
              <a:spcAft>
                <a:spcPts val="0"/>
              </a:spcAft>
              <a:buNone/>
            </a:pPr>
            <a:r>
              <a:rPr lang="zh-TW">
                <a:solidFill>
                  <a:schemeClr val="dk1"/>
                </a:solidFill>
              </a:rPr>
              <a:t>本來可以打開黃色的門　但現在只能打開藍色的</a:t>
            </a:r>
            <a:endParaRPr>
              <a:solidFill>
                <a:schemeClr val="dk1"/>
              </a:solidFill>
            </a:endParaRPr>
          </a:p>
          <a:p>
            <a:pPr indent="0" lvl="0" marL="0" rtl="0" algn="l">
              <a:spcBef>
                <a:spcPts val="0"/>
              </a:spcBef>
              <a:spcAft>
                <a:spcPts val="0"/>
              </a:spcAft>
              <a:buNone/>
            </a:pPr>
            <a:r>
              <a:rPr lang="zh-TW">
                <a:solidFill>
                  <a:schemeClr val="dk1"/>
                </a:solidFill>
              </a:rPr>
              <a:t>如果開了門２，車一定在門３</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zh-TW">
                <a:solidFill>
                  <a:schemeClr val="dk1"/>
                </a:solidFill>
              </a:rPr>
              <a:t>所以如果主持人開了門３，此時換與不換的成功率相同</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24e6330082c_6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24e6330082c_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P(M2) P(C1|M2) = P(C1) P(M2|C1) = P(C1 ⋂ M2)</a:t>
            </a:r>
            <a:endParaRPr/>
          </a:p>
          <a:p>
            <a:pPr indent="0" lvl="0" marL="0" rtl="0" algn="l">
              <a:spcBef>
                <a:spcPts val="0"/>
              </a:spcBef>
              <a:spcAft>
                <a:spcPts val="0"/>
              </a:spcAft>
              <a:buNone/>
            </a:pPr>
            <a:r>
              <a:rPr lang="zh-TW"/>
              <a:t>這邊依舊是選擇門１的前提下</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24e6330082c_6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24e6330082c_6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zh-TW">
                <a:solidFill>
                  <a:schemeClr val="dk1"/>
                </a:solidFill>
              </a:rPr>
              <a:t>這邊依舊是選擇門１的前提下</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24e872ee5b7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24e872ee5b7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zh-TW">
                <a:solidFill>
                  <a:schemeClr val="dk1"/>
                </a:solidFill>
              </a:rPr>
              <a:t>這邊依舊是選擇門１的前提下</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zh-TW">
                <a:solidFill>
                  <a:schemeClr val="dk1"/>
                </a:solidFill>
              </a:rPr>
              <a:t>不換（門１）：三分之一</a:t>
            </a:r>
            <a:endParaRPr>
              <a:solidFill>
                <a:schemeClr val="dk1"/>
              </a:solidFill>
            </a:endParaRPr>
          </a:p>
          <a:p>
            <a:pPr indent="0" lvl="0" marL="0" rtl="0" algn="l">
              <a:spcBef>
                <a:spcPts val="0"/>
              </a:spcBef>
              <a:spcAft>
                <a:spcPts val="0"/>
              </a:spcAft>
              <a:buClr>
                <a:schemeClr val="dk1"/>
              </a:buClr>
              <a:buSzPts val="1100"/>
              <a:buFont typeface="Arial"/>
              <a:buNone/>
            </a:pPr>
            <a:r>
              <a:rPr lang="zh-TW">
                <a:solidFill>
                  <a:schemeClr val="dk1"/>
                </a:solidFill>
              </a:rPr>
              <a:t>換門３：三分之二</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zh-TW">
                <a:solidFill>
                  <a:schemeClr val="dk1"/>
                </a:solidFill>
              </a:rPr>
              <a:t>換較優</a:t>
            </a:r>
            <a:endParaRPr>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24e872ee5b7_2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24e872ee5b7_2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solidFill>
                  <a:schemeClr val="dk1"/>
                </a:solidFill>
              </a:rPr>
              <a:t>這邊依舊是選擇門１的前提下</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zh-TW">
                <a:solidFill>
                  <a:schemeClr val="dk1"/>
                </a:solidFill>
              </a:rPr>
              <a:t>換與不換都是二分之一</a:t>
            </a:r>
            <a:endParaRPr>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24e6330082c_6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24e6330082c_6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主持人打開任意一扇＂非＂我們一開始所選的門（也就是可能打開有車的門）</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24e6330082c_6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24e6330082c_6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結論：換與不換無所謂（在門２打開後是山羊的情況下）</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24ec0fa01b4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24ec0fa01b4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24e6330082c_6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24e6330082c_6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兩個玩家各選一扇門，他們不知道對方選什麼門</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24ef71767d1_4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24ef71767d1_4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如果兩人選同一扇門，主持人可以打開任一扇藏有羊的門（不能打開他們一開始所選的門）</a:t>
            </a:r>
            <a:endParaRPr/>
          </a:p>
          <a:p>
            <a:pPr indent="0" lvl="0" marL="0" rtl="0" algn="l">
              <a:spcBef>
                <a:spcPts val="0"/>
              </a:spcBef>
              <a:spcAft>
                <a:spcPts val="0"/>
              </a:spcAft>
              <a:buNone/>
            </a:pPr>
            <a:r>
              <a:rPr lang="zh-TW"/>
              <a:t>如果兩人選了不同門，主持人打開剩餘的那扇門</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24ef71767d1_4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24ef71767d1_4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在我們一開始選擇門１，且主持人打開門２是羊的情況下，換不換</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24ec0fa01b4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24ec0fa01b4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考慮另一位玩家Ｂ選了什麼讓主持人打開門２</a:t>
            </a:r>
            <a:endParaRPr/>
          </a:p>
          <a:p>
            <a:pPr indent="0" lvl="0" marL="0" rtl="0" algn="l">
              <a:spcBef>
                <a:spcPts val="0"/>
              </a:spcBef>
              <a:spcAft>
                <a:spcPts val="0"/>
              </a:spcAft>
              <a:buNone/>
            </a:pPr>
            <a:r>
              <a:t/>
            </a:r>
            <a:endParaRPr/>
          </a:p>
          <a:p>
            <a:pPr indent="0" lvl="0" marL="0" rtl="0" algn="l">
              <a:spcBef>
                <a:spcPts val="0"/>
              </a:spcBef>
              <a:spcAft>
                <a:spcPts val="0"/>
              </a:spcAft>
              <a:buNone/>
            </a:pPr>
            <a:r>
              <a:rPr lang="zh-TW"/>
              <a:t>Ｂ選門３，主持人被迫打開門２，門２後面是羊的機率</a:t>
            </a:r>
            <a:endParaRPr/>
          </a:p>
          <a:p>
            <a:pPr indent="0" lvl="0" marL="0" rtl="0" algn="l">
              <a:spcBef>
                <a:spcPts val="0"/>
              </a:spcBef>
              <a:spcAft>
                <a:spcPts val="0"/>
              </a:spcAft>
              <a:buNone/>
            </a:pPr>
            <a:r>
              <a:rPr lang="zh-TW"/>
              <a:t>Ｂ選門１</a:t>
            </a:r>
            <a:endParaRPr/>
          </a:p>
          <a:p>
            <a:pPr indent="0" lvl="0" marL="0" rtl="0" algn="l">
              <a:spcBef>
                <a:spcPts val="0"/>
              </a:spcBef>
              <a:spcAft>
                <a:spcPts val="0"/>
              </a:spcAft>
              <a:buNone/>
            </a:pPr>
            <a:r>
              <a:rPr lang="zh-TW"/>
              <a:t>	車在門１，主持人有二分之一的機率打開門２</a:t>
            </a:r>
            <a:endParaRPr/>
          </a:p>
          <a:p>
            <a:pPr indent="0" lvl="0" marL="0" rtl="0" algn="l">
              <a:spcBef>
                <a:spcPts val="0"/>
              </a:spcBef>
              <a:spcAft>
                <a:spcPts val="0"/>
              </a:spcAft>
              <a:buNone/>
            </a:pPr>
            <a:r>
              <a:rPr lang="zh-TW"/>
              <a:t>	車在門３，主持人被迫打開門２</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24ec0fa01b4_1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24ec0fa01b4_1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４</a:t>
            </a:r>
            <a:r>
              <a:rPr lang="zh-TW"/>
              <a:t>／７的機率　Ｂ選門１</a:t>
            </a:r>
            <a:endParaRPr/>
          </a:p>
          <a:p>
            <a:pPr indent="0" lvl="0" marL="0" rtl="0" algn="l">
              <a:spcBef>
                <a:spcPts val="0"/>
              </a:spcBef>
              <a:spcAft>
                <a:spcPts val="0"/>
              </a:spcAft>
              <a:buNone/>
            </a:pPr>
            <a:r>
              <a:rPr lang="zh-TW"/>
              <a:t>３／７的機率　Ｂ選門２</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24ec0fa01b4_1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24ec0fa01b4_1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只要Ｂ選門３　主持人就被迫打開門２</a:t>
            </a:r>
            <a:endParaRPr/>
          </a:p>
          <a:p>
            <a:pPr indent="0" lvl="0" marL="0" rtl="0" algn="l">
              <a:spcBef>
                <a:spcPts val="0"/>
              </a:spcBef>
              <a:spcAft>
                <a:spcPts val="0"/>
              </a:spcAft>
              <a:buNone/>
            </a:pPr>
            <a:r>
              <a:rPr lang="zh-TW"/>
              <a:t>所以Ｐ（３，１）＝Ｐ（３，３）</a:t>
            </a:r>
            <a:endParaRPr/>
          </a:p>
          <a:p>
            <a:pPr indent="0" lvl="0" marL="0" rtl="0" algn="l">
              <a:spcBef>
                <a:spcPts val="0"/>
              </a:spcBef>
              <a:spcAft>
                <a:spcPts val="0"/>
              </a:spcAft>
              <a:buNone/>
            </a:pPr>
            <a:r>
              <a:t/>
            </a:r>
            <a:endParaRPr/>
          </a:p>
          <a:p>
            <a:pPr indent="0" lvl="0" marL="0" rtl="0" algn="l">
              <a:spcBef>
                <a:spcPts val="0"/>
              </a:spcBef>
              <a:spcAft>
                <a:spcPts val="0"/>
              </a:spcAft>
              <a:buNone/>
            </a:pPr>
            <a:r>
              <a:rPr lang="zh-TW"/>
              <a:t>若Ｂ選門１</a:t>
            </a:r>
            <a:endParaRPr/>
          </a:p>
          <a:p>
            <a:pPr indent="0" lvl="0" marL="0" rtl="0" algn="l">
              <a:spcBef>
                <a:spcPts val="0"/>
              </a:spcBef>
              <a:spcAft>
                <a:spcPts val="0"/>
              </a:spcAft>
              <a:buNone/>
            </a:pPr>
            <a:r>
              <a:rPr lang="zh-TW"/>
              <a:t>－車在門１，主持人有二分之一的機率打開門２</a:t>
            </a:r>
            <a:endParaRPr/>
          </a:p>
          <a:p>
            <a:pPr indent="0" lvl="0" marL="0" rtl="0" algn="l">
              <a:spcBef>
                <a:spcPts val="0"/>
              </a:spcBef>
              <a:spcAft>
                <a:spcPts val="0"/>
              </a:spcAft>
              <a:buNone/>
            </a:pPr>
            <a:r>
              <a:rPr lang="zh-TW"/>
              <a:t>－車在門３，主持人被迫打開門２			（１：２　剛好分配掉剩下的３／７）</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24ec0fa01b4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24ec0fa01b4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在我們一開始選了門１，主持人打開門２且是羊的情況下</a:t>
            </a:r>
            <a:endParaRPr/>
          </a:p>
          <a:p>
            <a:pPr indent="0" lvl="0" marL="0" rtl="0" algn="l">
              <a:spcBef>
                <a:spcPts val="0"/>
              </a:spcBef>
              <a:spcAft>
                <a:spcPts val="0"/>
              </a:spcAft>
              <a:buNone/>
            </a:pPr>
            <a:r>
              <a:t/>
            </a:r>
            <a:endParaRPr/>
          </a:p>
          <a:p>
            <a:pPr indent="0" lvl="0" marL="0" rtl="0" algn="l">
              <a:spcBef>
                <a:spcPts val="0"/>
              </a:spcBef>
              <a:spcAft>
                <a:spcPts val="0"/>
              </a:spcAft>
              <a:buNone/>
            </a:pPr>
            <a:r>
              <a:rPr lang="zh-TW"/>
              <a:t>在門１的機率是３／７，在門３的機率是４／７</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24ef71767d1_4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24ef71767d1_4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zh-TW">
                <a:solidFill>
                  <a:schemeClr val="dk1"/>
                </a:solidFill>
              </a:rPr>
              <a:t>ｎ個相同門，門後有ｎ－１隻羊＆１台車</a:t>
            </a:r>
            <a:endParaRPr>
              <a:solidFill>
                <a:schemeClr val="dk1"/>
              </a:solidFill>
            </a:endParaRPr>
          </a:p>
          <a:p>
            <a:pPr indent="0" lvl="0" marL="0" rtl="0" algn="l">
              <a:spcBef>
                <a:spcPts val="0"/>
              </a:spcBef>
              <a:spcAft>
                <a:spcPts val="0"/>
              </a:spcAft>
              <a:buClr>
                <a:schemeClr val="dk1"/>
              </a:buClr>
              <a:buSzPts val="1100"/>
              <a:buFont typeface="Arial"/>
              <a:buNone/>
            </a:pPr>
            <a:r>
              <a:rPr lang="zh-TW">
                <a:solidFill>
                  <a:schemeClr val="dk1"/>
                </a:solidFill>
              </a:rPr>
              <a:t>主持人打開一扇藏有羊的門（不包含我們所選的門），我們可以選擇換或不換</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24ef71767d1_4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24ef71767d1_4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不停執行這個流程，直到剩下２扇門</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24ef71767d1_4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24ef71767d1_4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24ef71767d1_4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24ef71767d1_4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24ef71767d1_4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24ef71767d1_4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24ef71767d1_4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24ef71767d1_4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24ef71767d1_4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24ef71767d1_4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第二列</a:t>
            </a:r>
            <a:endParaRPr/>
          </a:p>
          <a:p>
            <a:pPr indent="457200" lvl="0" marL="0" rtl="0" algn="l">
              <a:spcBef>
                <a:spcPts val="0"/>
              </a:spcBef>
              <a:spcAft>
                <a:spcPts val="0"/>
              </a:spcAft>
              <a:buNone/>
            </a:pPr>
            <a:r>
              <a:rPr lang="zh-TW"/>
              <a:t>第一個</a:t>
            </a:r>
            <a:endParaRPr/>
          </a:p>
          <a:p>
            <a:pPr indent="0" lvl="0" marL="0" rtl="0" algn="l">
              <a:spcBef>
                <a:spcPts val="0"/>
              </a:spcBef>
              <a:spcAft>
                <a:spcPts val="0"/>
              </a:spcAft>
              <a:buNone/>
            </a:pPr>
            <a:r>
              <a:rPr lang="zh-TW"/>
              <a:t>	因為選３　只能開４ｏｒ５</a:t>
            </a:r>
            <a:endParaRPr/>
          </a:p>
          <a:p>
            <a:pPr indent="0" lvl="0" marL="0" rtl="0" algn="l">
              <a:spcBef>
                <a:spcPts val="0"/>
              </a:spcBef>
              <a:spcAft>
                <a:spcPts val="0"/>
              </a:spcAft>
              <a:buNone/>
            </a:pPr>
            <a:r>
              <a:rPr lang="zh-TW"/>
              <a:t>	第二個</a:t>
            </a:r>
            <a:endParaRPr/>
          </a:p>
          <a:p>
            <a:pPr indent="0" lvl="0" marL="0" rtl="0" algn="l">
              <a:spcBef>
                <a:spcPts val="0"/>
              </a:spcBef>
              <a:spcAft>
                <a:spcPts val="0"/>
              </a:spcAft>
              <a:buNone/>
            </a:pPr>
            <a:r>
              <a:rPr lang="zh-TW"/>
              <a:t>	因為選３　只能開１ｏｒ５</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24ef71767d1_4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24ef71767d1_4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有Ｐ（Ｍ５）就能算後面的</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24ef71767d1_4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24ef71767d1_4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代</a:t>
            </a:r>
            <a:r>
              <a:rPr lang="zh-TW"/>
              <a:t>入貝式定理</a:t>
            </a:r>
            <a:endParaRPr/>
          </a:p>
          <a:p>
            <a:pPr indent="0" lvl="0" marL="0" rtl="0" algn="l">
              <a:spcBef>
                <a:spcPts val="0"/>
              </a:spcBef>
              <a:spcAft>
                <a:spcPts val="0"/>
              </a:spcAft>
              <a:buNone/>
            </a:pPr>
            <a:r>
              <a:rPr lang="zh-TW"/>
              <a:t>Ｐ（Ｃ１｜Ｍ５）</a:t>
            </a:r>
            <a:endParaRPr/>
          </a:p>
          <a:p>
            <a:pPr indent="0" lvl="0" marL="0" rtl="0" algn="l">
              <a:spcBef>
                <a:spcPts val="0"/>
              </a:spcBef>
              <a:spcAft>
                <a:spcPts val="0"/>
              </a:spcAft>
              <a:buNone/>
            </a:pPr>
            <a:r>
              <a:rPr lang="zh-TW"/>
              <a:t>Ｐ（Ｃ３｜Ｍ５）</a:t>
            </a:r>
            <a:endParaRPr/>
          </a:p>
          <a:p>
            <a:pPr indent="0" lvl="0" marL="0" rtl="0" algn="l">
              <a:spcBef>
                <a:spcPts val="0"/>
              </a:spcBef>
              <a:spcAft>
                <a:spcPts val="0"/>
              </a:spcAft>
              <a:buNone/>
            </a:pPr>
            <a:r>
              <a:rPr lang="zh-TW"/>
              <a:t>Ｐ（Ｃ４｜Ｍ５）</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24ef71767d1_4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g24ef71767d1_4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a:t>
            </a:r>
            <a:r>
              <a:rPr lang="zh-TW"/>
              <a:t>回到前一步</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24ef71767d1_4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24ef71767d1_4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為什麼門３機率低</a:t>
            </a:r>
            <a:endParaRPr/>
          </a:p>
          <a:p>
            <a:pPr indent="0" lvl="0" marL="0" rtl="0" algn="l">
              <a:spcBef>
                <a:spcPts val="0"/>
              </a:spcBef>
              <a:spcAft>
                <a:spcPts val="0"/>
              </a:spcAft>
              <a:buNone/>
            </a:pPr>
            <a:r>
              <a:t/>
            </a:r>
            <a:endParaRPr/>
          </a:p>
          <a:p>
            <a:pPr indent="0" lvl="0" marL="0" rtl="0" algn="l">
              <a:spcBef>
                <a:spcPts val="0"/>
              </a:spcBef>
              <a:spcAft>
                <a:spcPts val="0"/>
              </a:spcAft>
              <a:buNone/>
            </a:pPr>
            <a:r>
              <a:rPr lang="zh-TW"/>
              <a:t>效果如同４門（１３４５）經典，我們選了門３，開了門１是羊，所以門３（即不換）還是維持著４門時的機率，門４門５（換）</a:t>
            </a:r>
            <a:endParaRPr/>
          </a:p>
          <a:p>
            <a:pPr indent="0" lvl="0" marL="0" rtl="0" algn="l">
              <a:spcBef>
                <a:spcPts val="0"/>
              </a:spcBef>
              <a:spcAft>
                <a:spcPts val="0"/>
              </a:spcAft>
              <a:buNone/>
            </a:pPr>
            <a:r>
              <a:t/>
            </a:r>
            <a:endParaRPr/>
          </a:p>
          <a:p>
            <a:pPr indent="0" lvl="0" marL="0" rtl="0" algn="l">
              <a:lnSpc>
                <a:spcPct val="115000"/>
              </a:lnSpc>
              <a:spcBef>
                <a:spcPts val="0"/>
              </a:spcBef>
              <a:spcAft>
                <a:spcPts val="0"/>
              </a:spcAft>
              <a:buClr>
                <a:schemeClr val="dk1"/>
              </a:buClr>
              <a:buSzPts val="1100"/>
              <a:buFont typeface="Arial"/>
              <a:buNone/>
            </a:pPr>
            <a:r>
              <a:rPr lang="zh-TW" sz="1200">
                <a:solidFill>
                  <a:srgbClr val="D1D5DB"/>
                </a:solidFill>
                <a:highlight>
                  <a:srgbClr val="444654"/>
                </a:highlight>
                <a:latin typeface="Ubuntu"/>
                <a:ea typeface="Ubuntu"/>
                <a:cs typeface="Ubuntu"/>
                <a:sym typeface="Ubuntu"/>
              </a:rPr>
              <a:t>為什麼當蒙提打開第一扇門時，第三扇門的機率下降呢？這一點比較難解釋，但我們的計算結果提供了一種正確的思考方式。如果在我們轉換到第三扇門時，所有四扇門的機率是均等的，那麼我們實際上就是在玩四門經典蒙提遊戲。在這種情況下，我們選擇的門在蒙提打開一扇門後會保持其初始機率。</a:t>
            </a:r>
            <a:endParaRPr sz="1200">
              <a:solidFill>
                <a:srgbClr val="D1D5DB"/>
              </a:solidFill>
              <a:highlight>
                <a:srgbClr val="444654"/>
              </a:highlight>
              <a:latin typeface="Ubuntu"/>
              <a:ea typeface="Ubuntu"/>
              <a:cs typeface="Ubuntu"/>
              <a:sym typeface="Ubuntu"/>
            </a:endParaRPr>
          </a:p>
          <a:p>
            <a:pPr indent="0" lvl="0" marL="0" rtl="0" algn="l">
              <a:lnSpc>
                <a:spcPct val="115000"/>
              </a:lnSpc>
              <a:spcBef>
                <a:spcPts val="1500"/>
              </a:spcBef>
              <a:spcAft>
                <a:spcPts val="0"/>
              </a:spcAft>
              <a:buClr>
                <a:schemeClr val="dk1"/>
              </a:buClr>
              <a:buSzPts val="1100"/>
              <a:buFont typeface="Arial"/>
              <a:buNone/>
            </a:pPr>
            <a:r>
              <a:rPr lang="zh-TW" sz="1200">
                <a:solidFill>
                  <a:srgbClr val="D1D5DB"/>
                </a:solidFill>
                <a:highlight>
                  <a:srgbClr val="444654"/>
                </a:highlight>
                <a:latin typeface="Ubuntu"/>
                <a:ea typeface="Ubuntu"/>
                <a:cs typeface="Ubuntu"/>
                <a:sym typeface="Ubuntu"/>
              </a:rPr>
              <a:t>我們為當前情況計算的機率向量與在玩四門經典蒙提遊戲時所得到的機率向量是相同的。這表明，通過消除第一扇門，蒙提基本上抹去了遊戲的先前歷史。我們現在面對的是在我們選擇之時均等的三扇門，這些門是四門經典蒙提遊戲中的一部分。事實上，第一扇門與其他門的機率不同並不以相關的方式區分我們的情況。</a:t>
            </a:r>
            <a:endParaRPr sz="1200">
              <a:solidFill>
                <a:srgbClr val="D1D5DB"/>
              </a:solidFill>
              <a:highlight>
                <a:srgbClr val="444654"/>
              </a:highlight>
              <a:latin typeface="Ubuntu"/>
              <a:ea typeface="Ubuntu"/>
              <a:cs typeface="Ubuntu"/>
              <a:sym typeface="Ubuntu"/>
            </a:endParaRPr>
          </a:p>
          <a:p>
            <a:pPr indent="0" lvl="0" marL="0" rtl="0" algn="l">
              <a:lnSpc>
                <a:spcPct val="115000"/>
              </a:lnSpc>
              <a:spcBef>
                <a:spcPts val="1500"/>
              </a:spcBef>
              <a:spcAft>
                <a:spcPts val="0"/>
              </a:spcAft>
              <a:buClr>
                <a:schemeClr val="dk1"/>
              </a:buClr>
              <a:buSzPts val="1100"/>
              <a:buFont typeface="Arial"/>
              <a:buNone/>
            </a:pPr>
            <a:r>
              <a:rPr lang="zh-TW" sz="1200">
                <a:solidFill>
                  <a:srgbClr val="D1D5DB"/>
                </a:solidFill>
                <a:highlight>
                  <a:srgbClr val="444654"/>
                </a:highlight>
                <a:latin typeface="Ubuntu"/>
                <a:ea typeface="Ubuntu"/>
                <a:cs typeface="Ubuntu"/>
                <a:sym typeface="Ubuntu"/>
              </a:rPr>
              <a:t>因此，當蒙提打開第一扇門時，它並未提供任何關於第三扇門的新信息。我們重新評估第三扇門的機率是基於我們最初選擇時的均等機率，而不是過去遊戲中第一扇門的機率。</a:t>
            </a:r>
            <a:endParaRPr sz="1200">
              <a:solidFill>
                <a:srgbClr val="D1D5DB"/>
              </a:solidFill>
              <a:highlight>
                <a:srgbClr val="444654"/>
              </a:highlight>
              <a:latin typeface="Ubuntu"/>
              <a:ea typeface="Ubuntu"/>
              <a:cs typeface="Ubuntu"/>
              <a:sym typeface="Ubuntu"/>
            </a:endParaRPr>
          </a:p>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24ef71767d1_4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24ef71767d1_4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如果不具有相同的勝率，意味著車在不同門的機率不對等，進而影響到主持人開此門的機率（因為主持人不能打開有車的門）</a:t>
            </a:r>
            <a:endParaRPr/>
          </a:p>
          <a:p>
            <a:pPr indent="0" lvl="0" marL="0" rtl="0" algn="l">
              <a:spcBef>
                <a:spcPts val="0"/>
              </a:spcBef>
              <a:spcAft>
                <a:spcPts val="0"/>
              </a:spcAft>
              <a:buNone/>
            </a:pPr>
            <a:r>
              <a:t/>
            </a:r>
            <a:endParaRPr/>
          </a:p>
          <a:p>
            <a:pPr indent="0" lvl="0" marL="0" rtl="0" algn="l">
              <a:spcBef>
                <a:spcPts val="0"/>
              </a:spcBef>
              <a:spcAft>
                <a:spcPts val="0"/>
              </a:spcAft>
              <a:buNone/>
            </a:pPr>
            <a:r>
              <a:rPr lang="zh-TW" sz="1200">
                <a:solidFill>
                  <a:srgbClr val="D1D5DB"/>
                </a:solidFill>
                <a:highlight>
                  <a:srgbClr val="444654"/>
                </a:highlight>
                <a:latin typeface="Ubuntu"/>
                <a:ea typeface="Ubuntu"/>
                <a:cs typeface="Ubuntu"/>
                <a:sym typeface="Ubuntu"/>
              </a:rPr>
              <a:t>然而，為什麼其他門具有相等的概率是重要的呢？答案是蒙蒂不打開一道門並不是我們能夠獲得信息的唯一來源。事件「蒙蒂打開X號門」的概率在一定程度上取決於「X號門後藏著汽車」的概率。具體而言，如果一道門更有可能藏著汽車，那麼蒙蒂打開那道門的概率就越低。再次回到我們的案例研究，我們在三號門至五號門具有相等概率並且整體上很有可能藏著汽車的情況下選擇了三號門。蒙蒂打開五號門後，他消除了這個集合中的一個元素。這個結果並不動搖我們對汽車更有可能在三號門至五號門之間而不是在包含一號門的任何三道門集合中的信心。因此，我們將上調我們選擇的門的概率。</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226d7d428a9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4" name="Google Shape;354;g226d7d428a9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226d7d428a9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226d7d428a9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即　</a:t>
            </a:r>
            <a:r>
              <a:rPr lang="zh-TW"/>
              <a:t>機率相同時　變為ｃｌａｓｓｉｃ</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226d7d428a9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2" name="Google Shape;372;g226d7d428a9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226d7d428a9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1" name="Google Shape;381;g226d7d428a9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226d7d428a9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0" name="Google Shape;390;g226d7d428a9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226d7d428a9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7" name="Google Shape;397;g226d7d428a9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zh-TW"/>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8.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8.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2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1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1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1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1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2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2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1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2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1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zh-TW">
                <a:latin typeface="Times New Roman"/>
                <a:ea typeface="Times New Roman"/>
                <a:cs typeface="Times New Roman"/>
                <a:sym typeface="Times New Roman"/>
              </a:rPr>
              <a:t>The Monty Hall Problem, Reconsidered</a:t>
            </a:r>
            <a:endParaRPr>
              <a:latin typeface="Times New Roman"/>
              <a:ea typeface="Times New Roman"/>
              <a:cs typeface="Times New Roman"/>
              <a:sym typeface="Times New Roman"/>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S</a:t>
            </a:r>
            <a:r>
              <a:rPr lang="zh-TW" sz="2400">
                <a:solidFill>
                  <a:schemeClr val="dk1"/>
                </a:solidFill>
                <a:latin typeface="Times New Roman"/>
                <a:ea typeface="Times New Roman"/>
                <a:cs typeface="Times New Roman"/>
                <a:sym typeface="Times New Roman"/>
              </a:rPr>
              <a:t>tephen</a:t>
            </a:r>
            <a:r>
              <a:rPr lang="zh-TW" sz="2400">
                <a:solidFill>
                  <a:schemeClr val="dk1"/>
                </a:solidFill>
                <a:latin typeface="Times New Roman"/>
                <a:ea typeface="Times New Roman"/>
                <a:cs typeface="Times New Roman"/>
                <a:sym typeface="Times New Roman"/>
              </a:rPr>
              <a:t> L</a:t>
            </a:r>
            <a:r>
              <a:rPr lang="zh-TW" sz="2400">
                <a:solidFill>
                  <a:schemeClr val="dk1"/>
                </a:solidFill>
                <a:latin typeface="Times New Roman"/>
                <a:ea typeface="Times New Roman"/>
                <a:cs typeface="Times New Roman"/>
                <a:sym typeface="Times New Roman"/>
              </a:rPr>
              <a:t>ucas</a:t>
            </a:r>
            <a:r>
              <a:rPr lang="zh-TW" sz="2400">
                <a:solidFill>
                  <a:schemeClr val="dk1"/>
                </a:solidFill>
                <a:latin typeface="Times New Roman"/>
                <a:ea typeface="Times New Roman"/>
                <a:cs typeface="Times New Roman"/>
                <a:sym typeface="Times New Roman"/>
              </a:rPr>
              <a:t>, J</a:t>
            </a:r>
            <a:r>
              <a:rPr lang="zh-TW" sz="2400">
                <a:solidFill>
                  <a:schemeClr val="dk1"/>
                </a:solidFill>
                <a:latin typeface="Times New Roman"/>
                <a:ea typeface="Times New Roman"/>
                <a:cs typeface="Times New Roman"/>
                <a:sym typeface="Times New Roman"/>
              </a:rPr>
              <a:t>ason</a:t>
            </a:r>
            <a:r>
              <a:rPr lang="zh-TW" sz="2400">
                <a:solidFill>
                  <a:schemeClr val="dk1"/>
                </a:solidFill>
                <a:latin typeface="Times New Roman"/>
                <a:ea typeface="Times New Roman"/>
                <a:cs typeface="Times New Roman"/>
                <a:sym typeface="Times New Roman"/>
              </a:rPr>
              <a:t> R</a:t>
            </a:r>
            <a:r>
              <a:rPr lang="zh-TW" sz="2400">
                <a:solidFill>
                  <a:schemeClr val="dk1"/>
                </a:solidFill>
                <a:latin typeface="Times New Roman"/>
                <a:ea typeface="Times New Roman"/>
                <a:cs typeface="Times New Roman"/>
                <a:sym typeface="Times New Roman"/>
              </a:rPr>
              <a:t>osenhouse</a:t>
            </a:r>
            <a:r>
              <a:rPr lang="zh-TW" sz="2400">
                <a:solidFill>
                  <a:schemeClr val="dk1"/>
                </a:solidFill>
                <a:latin typeface="Times New Roman"/>
                <a:ea typeface="Times New Roman"/>
                <a:cs typeface="Times New Roman"/>
                <a:sym typeface="Times New Roman"/>
              </a:rPr>
              <a:t>, A</a:t>
            </a:r>
            <a:r>
              <a:rPr lang="zh-TW" sz="2400">
                <a:solidFill>
                  <a:schemeClr val="dk1"/>
                </a:solidFill>
                <a:latin typeface="Times New Roman"/>
                <a:ea typeface="Times New Roman"/>
                <a:cs typeface="Times New Roman"/>
                <a:sym typeface="Times New Roman"/>
              </a:rPr>
              <a:t>ndrew</a:t>
            </a:r>
            <a:r>
              <a:rPr lang="zh-TW" sz="2400">
                <a:solidFill>
                  <a:schemeClr val="dk1"/>
                </a:solidFill>
                <a:latin typeface="Times New Roman"/>
                <a:ea typeface="Times New Roman"/>
                <a:cs typeface="Times New Roman"/>
                <a:sym typeface="Times New Roman"/>
              </a:rPr>
              <a:t> S</a:t>
            </a:r>
            <a:r>
              <a:rPr lang="zh-TW" sz="2400">
                <a:solidFill>
                  <a:schemeClr val="dk1"/>
                </a:solidFill>
                <a:latin typeface="Times New Roman"/>
                <a:ea typeface="Times New Roman"/>
                <a:cs typeface="Times New Roman"/>
                <a:sym typeface="Times New Roman"/>
              </a:rPr>
              <a:t>chepler</a:t>
            </a:r>
            <a:endParaRPr sz="2400">
              <a:solidFill>
                <a:schemeClr val="dk1"/>
              </a:solidFill>
              <a:latin typeface="Times New Roman"/>
              <a:ea typeface="Times New Roman"/>
              <a:cs typeface="Times New Roman"/>
              <a:sym typeface="Times New Roman"/>
            </a:endParaRPr>
          </a:p>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Mathematics Magazine, Vol. 82, No. 5 (2009), pp. 332-342</a:t>
            </a:r>
            <a:endParaRPr sz="2400">
              <a:solidFill>
                <a:schemeClr val="dk1"/>
              </a:solidFill>
              <a:latin typeface="Times New Roman"/>
              <a:ea typeface="Times New Roman"/>
              <a:cs typeface="Times New Roman"/>
              <a:sym typeface="Times New Roman"/>
            </a:endParaRPr>
          </a:p>
        </p:txBody>
      </p:sp>
      <p:sp>
        <p:nvSpPr>
          <p:cNvPr id="56" name="Google Shape;56;p13"/>
          <p:cNvSpPr txBox="1"/>
          <p:nvPr/>
        </p:nvSpPr>
        <p:spPr>
          <a:xfrm>
            <a:off x="4914600" y="4220100"/>
            <a:ext cx="4229400" cy="9234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zh-TW" sz="2400">
                <a:solidFill>
                  <a:schemeClr val="dk1"/>
                </a:solidFill>
                <a:latin typeface="Times New Roman"/>
                <a:ea typeface="Times New Roman"/>
                <a:cs typeface="Times New Roman"/>
                <a:sym typeface="Times New Roman"/>
              </a:rPr>
              <a:t>Presenter: Guan-Jie Chen</a:t>
            </a:r>
            <a:endParaRPr sz="2400">
              <a:solidFill>
                <a:schemeClr val="dk1"/>
              </a:solidFill>
              <a:latin typeface="Times New Roman"/>
              <a:ea typeface="Times New Roman"/>
              <a:cs typeface="Times New Roman"/>
              <a:sym typeface="Times New Roman"/>
            </a:endParaRPr>
          </a:p>
          <a:p>
            <a:pPr indent="0" lvl="0" marL="0" rtl="0" algn="r">
              <a:spcBef>
                <a:spcPts val="0"/>
              </a:spcBef>
              <a:spcAft>
                <a:spcPts val="0"/>
              </a:spcAft>
              <a:buNone/>
            </a:pPr>
            <a:r>
              <a:rPr lang="zh-TW" sz="2400">
                <a:solidFill>
                  <a:schemeClr val="dk1"/>
                </a:solidFill>
                <a:latin typeface="Times New Roman"/>
                <a:ea typeface="Times New Roman"/>
                <a:cs typeface="Times New Roman"/>
                <a:sym typeface="Times New Roman"/>
              </a:rPr>
              <a:t>Date: </a:t>
            </a:r>
            <a:r>
              <a:rPr lang="zh-TW" sz="2400">
                <a:solidFill>
                  <a:schemeClr val="dk1"/>
                </a:solidFill>
                <a:latin typeface="Times New Roman"/>
                <a:ea typeface="Times New Roman"/>
                <a:cs typeface="Times New Roman"/>
                <a:sym typeface="Times New Roman"/>
              </a:rPr>
              <a:t>Jun.</a:t>
            </a:r>
            <a:r>
              <a:rPr lang="zh-TW" sz="2400">
                <a:solidFill>
                  <a:schemeClr val="dk1"/>
                </a:solidFill>
                <a:latin typeface="Times New Roman"/>
                <a:ea typeface="Times New Roman"/>
                <a:cs typeface="Times New Roman"/>
                <a:sym typeface="Times New Roman"/>
              </a:rPr>
              <a:t> </a:t>
            </a:r>
            <a:r>
              <a:rPr lang="zh-TW" sz="2400">
                <a:solidFill>
                  <a:schemeClr val="dk1"/>
                </a:solidFill>
                <a:latin typeface="Times New Roman"/>
                <a:ea typeface="Times New Roman"/>
                <a:cs typeface="Times New Roman"/>
                <a:sym typeface="Times New Roman"/>
              </a:rPr>
              <a:t>6</a:t>
            </a:r>
            <a:r>
              <a:rPr lang="zh-TW" sz="2400">
                <a:solidFill>
                  <a:schemeClr val="dk1"/>
                </a:solidFill>
                <a:latin typeface="Times New Roman"/>
                <a:ea typeface="Times New Roman"/>
                <a:cs typeface="Times New Roman"/>
                <a:sym typeface="Times New Roman"/>
              </a:rPr>
              <a:t>, 2023</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Abstract</a:t>
            </a:r>
            <a:endParaRPr>
              <a:latin typeface="Times New Roman"/>
              <a:ea typeface="Times New Roman"/>
              <a:cs typeface="Times New Roman"/>
              <a:sym typeface="Times New Roman"/>
            </a:endParaRPr>
          </a:p>
        </p:txBody>
      </p:sp>
      <p:sp>
        <p:nvSpPr>
          <p:cNvPr id="62" name="Google Shape;62;p1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zh-TW" sz="2400">
                <a:solidFill>
                  <a:schemeClr val="dk1"/>
                </a:solidFill>
                <a:latin typeface="Times New Roman"/>
                <a:ea typeface="Times New Roman"/>
                <a:cs typeface="Times New Roman"/>
                <a:sym typeface="Times New Roman"/>
              </a:rPr>
              <a:t>The Monty Hall problem is one of the most frustrating brainteasers in all of mathematics. Despite its seemingly simple game-show format, most people, even those with mathematical training, find it very challenging. Part of the difficulty lies in the counter-intuitive nature of conditional probability. We offer an intuitive guide to focusing on what is important in the problem. We then show how to apply this new-found intuition to numerous, increasingly complicated, variations on the basic set-up.</a:t>
            </a:r>
            <a:endParaRPr sz="2400">
              <a:solidFill>
                <a:schemeClr val="dk1"/>
              </a:solidFill>
              <a:latin typeface="Times New Roman"/>
              <a:ea typeface="Times New Roman"/>
              <a:cs typeface="Times New Roman"/>
              <a:sym typeface="Times New Roman"/>
            </a:endParaRPr>
          </a:p>
        </p:txBody>
      </p:sp>
      <p:sp>
        <p:nvSpPr>
          <p:cNvPr id="63" name="Google Shape;63;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Issue</a:t>
            </a:r>
            <a:endParaRPr>
              <a:latin typeface="Times New Roman"/>
              <a:ea typeface="Times New Roman"/>
              <a:cs typeface="Times New Roman"/>
              <a:sym typeface="Times New Roman"/>
            </a:endParaRPr>
          </a:p>
        </p:txBody>
      </p:sp>
      <p:sp>
        <p:nvSpPr>
          <p:cNvPr id="69" name="Google Shape;69;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sz="2400">
                <a:solidFill>
                  <a:schemeClr val="dk1"/>
                </a:solidFill>
                <a:latin typeface="Times New Roman"/>
                <a:ea typeface="Times New Roman"/>
                <a:cs typeface="Times New Roman"/>
                <a:sym typeface="Times New Roman"/>
              </a:rPr>
              <a:t>Version 1. (Classic Monty) You are a player on a game show and are shown three identical doors. Behind one is a car, behind the other two are goats. Monty Hall, the host of the show, asks you to choose one of the doors. You do so, but you do not open your chosen door. Monty, who knows where the car is, now opens one of the doors. He chooses his door in accordance with the following rules: </a:t>
            </a:r>
            <a:endParaRPr sz="2400">
              <a:solidFill>
                <a:schemeClr val="dk1"/>
              </a:solidFill>
              <a:latin typeface="Times New Roman"/>
              <a:ea typeface="Times New Roman"/>
              <a:cs typeface="Times New Roman"/>
              <a:sym typeface="Times New Roman"/>
            </a:endParaRPr>
          </a:p>
        </p:txBody>
      </p:sp>
      <p:sp>
        <p:nvSpPr>
          <p:cNvPr id="70" name="Google Shape;70;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Issue (cont.)</a:t>
            </a:r>
            <a:endParaRPr>
              <a:latin typeface="Times New Roman"/>
              <a:ea typeface="Times New Roman"/>
              <a:cs typeface="Times New Roman"/>
              <a:sym typeface="Times New Roman"/>
            </a:endParaRPr>
          </a:p>
        </p:txBody>
      </p:sp>
      <p:sp>
        <p:nvSpPr>
          <p:cNvPr id="76" name="Google Shape;76;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81000" lvl="0" marL="457200" rtl="0" algn="l">
              <a:spcBef>
                <a:spcPts val="0"/>
              </a:spcBef>
              <a:spcAft>
                <a:spcPts val="0"/>
              </a:spcAft>
              <a:buClr>
                <a:schemeClr val="dk1"/>
              </a:buClr>
              <a:buSzPts val="2400"/>
              <a:buFont typeface="Times New Roman"/>
              <a:buChar char="-"/>
            </a:pPr>
            <a:r>
              <a:rPr lang="zh-TW" sz="2400">
                <a:solidFill>
                  <a:schemeClr val="dk1"/>
                </a:solidFill>
                <a:latin typeface="Times New Roman"/>
                <a:ea typeface="Times New Roman"/>
                <a:cs typeface="Times New Roman"/>
                <a:sym typeface="Times New Roman"/>
              </a:rPr>
              <a:t>Monty always opens a door that conceals a goat. </a:t>
            </a:r>
            <a:endParaRPr sz="2400">
              <a:solidFill>
                <a:schemeClr val="dk1"/>
              </a:solidFill>
              <a:latin typeface="Times New Roman"/>
              <a:ea typeface="Times New Roman"/>
              <a:cs typeface="Times New Roman"/>
              <a:sym typeface="Times New Roman"/>
            </a:endParaRPr>
          </a:p>
          <a:p>
            <a:pPr indent="-381000" lvl="0" marL="457200" rtl="0" algn="l">
              <a:spcBef>
                <a:spcPts val="0"/>
              </a:spcBef>
              <a:spcAft>
                <a:spcPts val="0"/>
              </a:spcAft>
              <a:buClr>
                <a:schemeClr val="dk1"/>
              </a:buClr>
              <a:buSzPts val="2400"/>
              <a:buFont typeface="Times New Roman"/>
              <a:buChar char="-"/>
            </a:pPr>
            <a:r>
              <a:rPr lang="zh-TW" sz="2400">
                <a:solidFill>
                  <a:schemeClr val="dk1"/>
                </a:solidFill>
                <a:latin typeface="Times New Roman"/>
                <a:ea typeface="Times New Roman"/>
                <a:cs typeface="Times New Roman"/>
                <a:sym typeface="Times New Roman"/>
              </a:rPr>
              <a:t>Monty never opens the door you initially chose. </a:t>
            </a:r>
            <a:endParaRPr sz="2400">
              <a:solidFill>
                <a:schemeClr val="dk1"/>
              </a:solidFill>
              <a:latin typeface="Times New Roman"/>
              <a:ea typeface="Times New Roman"/>
              <a:cs typeface="Times New Roman"/>
              <a:sym typeface="Times New Roman"/>
            </a:endParaRPr>
          </a:p>
          <a:p>
            <a:pPr indent="-381000" lvl="0" marL="457200" rtl="0" algn="l">
              <a:spcBef>
                <a:spcPts val="0"/>
              </a:spcBef>
              <a:spcAft>
                <a:spcPts val="0"/>
              </a:spcAft>
              <a:buClr>
                <a:schemeClr val="dk1"/>
              </a:buClr>
              <a:buSzPts val="2400"/>
              <a:buFont typeface="Times New Roman"/>
              <a:buChar char="-"/>
            </a:pPr>
            <a:r>
              <a:rPr lang="zh-TW" sz="2400">
                <a:solidFill>
                  <a:schemeClr val="dk1"/>
                </a:solidFill>
                <a:latin typeface="Times New Roman"/>
                <a:ea typeface="Times New Roman"/>
                <a:cs typeface="Times New Roman"/>
                <a:sym typeface="Times New Roman"/>
              </a:rPr>
              <a:t>If Monty can open more than one door without violating rules one and two, then he chooses his door randomly.</a:t>
            </a:r>
            <a:endParaRPr sz="2400">
              <a:solidFill>
                <a:schemeClr val="dk1"/>
              </a:solidFill>
              <a:latin typeface="Times New Roman"/>
              <a:ea typeface="Times New Roman"/>
              <a:cs typeface="Times New Roman"/>
              <a:sym typeface="Times New Roman"/>
            </a:endParaRPr>
          </a:p>
        </p:txBody>
      </p:sp>
      <p:sp>
        <p:nvSpPr>
          <p:cNvPr id="77" name="Google Shape;77;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Issue (cont.)</a:t>
            </a:r>
            <a:endParaRPr>
              <a:latin typeface="Times New Roman"/>
              <a:ea typeface="Times New Roman"/>
              <a:cs typeface="Times New Roman"/>
              <a:sym typeface="Times New Roman"/>
            </a:endParaRPr>
          </a:p>
        </p:txBody>
      </p:sp>
      <p:sp>
        <p:nvSpPr>
          <p:cNvPr id="83" name="Google Shape;83;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sz="2400">
                <a:solidFill>
                  <a:schemeClr val="dk1"/>
                </a:solidFill>
                <a:latin typeface="Times New Roman"/>
                <a:ea typeface="Times New Roman"/>
                <a:cs typeface="Times New Roman"/>
                <a:sym typeface="Times New Roman"/>
              </a:rPr>
              <a:t>After Monty opens his door, he gives you the choice of sticking with your original choice or switching to the other unopened door. What should you do to maximize your chances of winning the car?</a:t>
            </a:r>
            <a:endParaRPr sz="2400">
              <a:solidFill>
                <a:schemeClr val="dk1"/>
              </a:solidFill>
              <a:latin typeface="Times New Roman"/>
              <a:ea typeface="Times New Roman"/>
              <a:cs typeface="Times New Roman"/>
              <a:sym typeface="Times New Roman"/>
            </a:endParaRPr>
          </a:p>
        </p:txBody>
      </p:sp>
      <p:sp>
        <p:nvSpPr>
          <p:cNvPr id="84" name="Google Shape;84;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Confusion</a:t>
            </a:r>
            <a:endParaRPr>
              <a:latin typeface="Times New Roman"/>
              <a:ea typeface="Times New Roman"/>
              <a:cs typeface="Times New Roman"/>
              <a:sym typeface="Times New Roman"/>
            </a:endParaRPr>
          </a:p>
        </p:txBody>
      </p:sp>
      <p:sp>
        <p:nvSpPr>
          <p:cNvPr id="90" name="Google Shape;90;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81000" lvl="0" marL="457200" rtl="0" algn="l">
              <a:spcBef>
                <a:spcPts val="0"/>
              </a:spcBef>
              <a:spcAft>
                <a:spcPts val="0"/>
              </a:spcAft>
              <a:buClr>
                <a:schemeClr val="dk1"/>
              </a:buClr>
              <a:buSzPts val="2400"/>
              <a:buFont typeface="Times New Roman"/>
              <a:buChar char="-"/>
            </a:pPr>
            <a:r>
              <a:rPr lang="zh-TW" sz="2400">
                <a:solidFill>
                  <a:schemeClr val="dk1"/>
                </a:solidFill>
                <a:latin typeface="Times New Roman"/>
                <a:ea typeface="Times New Roman"/>
                <a:cs typeface="Times New Roman"/>
                <a:sym typeface="Times New Roman"/>
              </a:rPr>
              <a:t>Without</a:t>
            </a:r>
            <a:r>
              <a:rPr lang="zh-TW" sz="2400">
                <a:solidFill>
                  <a:schemeClr val="dk1"/>
                </a:solidFill>
                <a:latin typeface="Times New Roman"/>
                <a:ea typeface="Times New Roman"/>
                <a:cs typeface="Times New Roman"/>
                <a:sym typeface="Times New Roman"/>
              </a:rPr>
              <a:t> switching</a:t>
            </a:r>
            <a:endParaRPr sz="2400">
              <a:solidFill>
                <a:schemeClr val="dk1"/>
              </a:solidFill>
              <a:latin typeface="Times New Roman"/>
              <a:ea typeface="Times New Roman"/>
              <a:cs typeface="Times New Roman"/>
              <a:sym typeface="Times New Roman"/>
            </a:endParaRPr>
          </a:p>
          <a:p>
            <a:pPr indent="0" lvl="0" marL="914400" rtl="0" algn="l">
              <a:spcBef>
                <a:spcPts val="1200"/>
              </a:spcBef>
              <a:spcAft>
                <a:spcPts val="0"/>
              </a:spcAft>
              <a:buNone/>
            </a:pPr>
            <a:r>
              <a:rPr lang="zh-TW" sz="2400">
                <a:solidFill>
                  <a:schemeClr val="dk1"/>
                </a:solidFill>
                <a:latin typeface="Times New Roman"/>
                <a:ea typeface="Times New Roman"/>
                <a:cs typeface="Times New Roman"/>
                <a:sym typeface="Times New Roman"/>
              </a:rPr>
              <a:t>Winning probability = </a:t>
            </a:r>
            <a:r>
              <a:rPr lang="zh-TW" sz="2400">
                <a:solidFill>
                  <a:schemeClr val="dk1"/>
                </a:solidFill>
                <a:latin typeface="Times New Roman"/>
                <a:ea typeface="Times New Roman"/>
                <a:cs typeface="Times New Roman"/>
                <a:sym typeface="Times New Roman"/>
              </a:rPr>
              <a:t>⅓</a:t>
            </a:r>
            <a:endParaRPr sz="2400">
              <a:solidFill>
                <a:schemeClr val="dk1"/>
              </a:solidFill>
              <a:latin typeface="Times New Roman"/>
              <a:ea typeface="Times New Roman"/>
              <a:cs typeface="Times New Roman"/>
              <a:sym typeface="Times New Roman"/>
            </a:endParaRPr>
          </a:p>
          <a:p>
            <a:pPr indent="-381000" lvl="0" marL="457200" rtl="0" algn="l">
              <a:spcBef>
                <a:spcPts val="1200"/>
              </a:spcBef>
              <a:spcAft>
                <a:spcPts val="0"/>
              </a:spcAft>
              <a:buClr>
                <a:schemeClr val="dk1"/>
              </a:buClr>
              <a:buSzPts val="2400"/>
              <a:buFont typeface="Times New Roman"/>
              <a:buChar char="-"/>
            </a:pPr>
            <a:r>
              <a:rPr lang="zh-TW" sz="2400">
                <a:solidFill>
                  <a:schemeClr val="dk1"/>
                </a:solidFill>
                <a:latin typeface="Times New Roman"/>
                <a:ea typeface="Times New Roman"/>
                <a:cs typeface="Times New Roman"/>
                <a:sym typeface="Times New Roman"/>
              </a:rPr>
              <a:t>Switching</a:t>
            </a:r>
            <a:endParaRPr sz="2400">
              <a:solidFill>
                <a:schemeClr val="dk1"/>
              </a:solidFill>
              <a:latin typeface="Times New Roman"/>
              <a:ea typeface="Times New Roman"/>
              <a:cs typeface="Times New Roman"/>
              <a:sym typeface="Times New Roman"/>
            </a:endParaRPr>
          </a:p>
          <a:p>
            <a:pPr indent="0" lvl="0" marL="914400" rtl="0" algn="l">
              <a:spcBef>
                <a:spcPts val="1200"/>
              </a:spcBef>
              <a:spcAft>
                <a:spcPts val="1200"/>
              </a:spcAft>
              <a:buNone/>
            </a:pPr>
            <a:r>
              <a:rPr lang="zh-TW" sz="2400">
                <a:solidFill>
                  <a:schemeClr val="dk1"/>
                </a:solidFill>
                <a:latin typeface="Times New Roman"/>
                <a:ea typeface="Times New Roman"/>
                <a:cs typeface="Times New Roman"/>
                <a:sym typeface="Times New Roman"/>
              </a:rPr>
              <a:t>Winning probability = ½</a:t>
            </a:r>
            <a:endParaRPr sz="2400">
              <a:solidFill>
                <a:srgbClr val="FF0000"/>
              </a:solidFill>
              <a:latin typeface="Times New Roman"/>
              <a:ea typeface="Times New Roman"/>
              <a:cs typeface="Times New Roman"/>
              <a:sym typeface="Times New Roman"/>
            </a:endParaRPr>
          </a:p>
        </p:txBody>
      </p:sp>
      <p:sp>
        <p:nvSpPr>
          <p:cNvPr id="91" name="Google Shape;91;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Confusion</a:t>
            </a:r>
            <a:endParaRPr>
              <a:latin typeface="Times New Roman"/>
              <a:ea typeface="Times New Roman"/>
              <a:cs typeface="Times New Roman"/>
              <a:sym typeface="Times New Roman"/>
            </a:endParaRPr>
          </a:p>
        </p:txBody>
      </p:sp>
      <p:sp>
        <p:nvSpPr>
          <p:cNvPr id="97" name="Google Shape;97;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81000" lvl="0" marL="457200" rtl="0" algn="l">
              <a:spcBef>
                <a:spcPts val="0"/>
              </a:spcBef>
              <a:spcAft>
                <a:spcPts val="0"/>
              </a:spcAft>
              <a:buClr>
                <a:schemeClr val="dk1"/>
              </a:buClr>
              <a:buSzPts val="2400"/>
              <a:buFont typeface="Times New Roman"/>
              <a:buChar char="-"/>
            </a:pPr>
            <a:r>
              <a:rPr lang="zh-TW" sz="2400">
                <a:solidFill>
                  <a:schemeClr val="dk1"/>
                </a:solidFill>
                <a:latin typeface="Times New Roman"/>
                <a:ea typeface="Times New Roman"/>
                <a:cs typeface="Times New Roman"/>
                <a:sym typeface="Times New Roman"/>
              </a:rPr>
              <a:t>Without switching</a:t>
            </a:r>
            <a:endParaRPr sz="2400">
              <a:solidFill>
                <a:schemeClr val="dk1"/>
              </a:solidFill>
              <a:latin typeface="Times New Roman"/>
              <a:ea typeface="Times New Roman"/>
              <a:cs typeface="Times New Roman"/>
              <a:sym typeface="Times New Roman"/>
            </a:endParaRPr>
          </a:p>
          <a:p>
            <a:pPr indent="0" lvl="0" marL="914400" rtl="0" algn="l">
              <a:spcBef>
                <a:spcPts val="1200"/>
              </a:spcBef>
              <a:spcAft>
                <a:spcPts val="0"/>
              </a:spcAft>
              <a:buNone/>
            </a:pPr>
            <a:r>
              <a:rPr lang="zh-TW" sz="2400">
                <a:solidFill>
                  <a:schemeClr val="dk1"/>
                </a:solidFill>
                <a:latin typeface="Times New Roman"/>
                <a:ea typeface="Times New Roman"/>
                <a:cs typeface="Times New Roman"/>
                <a:sym typeface="Times New Roman"/>
              </a:rPr>
              <a:t>Winning probability = ⅓</a:t>
            </a:r>
            <a:endParaRPr sz="2400">
              <a:solidFill>
                <a:schemeClr val="dk1"/>
              </a:solidFill>
              <a:latin typeface="Times New Roman"/>
              <a:ea typeface="Times New Roman"/>
              <a:cs typeface="Times New Roman"/>
              <a:sym typeface="Times New Roman"/>
            </a:endParaRPr>
          </a:p>
          <a:p>
            <a:pPr indent="-381000" lvl="0" marL="457200" rtl="0" algn="l">
              <a:spcBef>
                <a:spcPts val="1200"/>
              </a:spcBef>
              <a:spcAft>
                <a:spcPts val="0"/>
              </a:spcAft>
              <a:buClr>
                <a:schemeClr val="dk1"/>
              </a:buClr>
              <a:buSzPts val="2400"/>
              <a:buFont typeface="Times New Roman"/>
              <a:buChar char="-"/>
            </a:pPr>
            <a:r>
              <a:rPr lang="zh-TW" sz="2400">
                <a:solidFill>
                  <a:schemeClr val="dk1"/>
                </a:solidFill>
                <a:latin typeface="Times New Roman"/>
                <a:ea typeface="Times New Roman"/>
                <a:cs typeface="Times New Roman"/>
                <a:sym typeface="Times New Roman"/>
              </a:rPr>
              <a:t>Switching</a:t>
            </a:r>
            <a:endParaRPr sz="2400">
              <a:solidFill>
                <a:schemeClr val="dk1"/>
              </a:solidFill>
              <a:latin typeface="Times New Roman"/>
              <a:ea typeface="Times New Roman"/>
              <a:cs typeface="Times New Roman"/>
              <a:sym typeface="Times New Roman"/>
            </a:endParaRPr>
          </a:p>
          <a:p>
            <a:pPr indent="0" lvl="0" marL="914400" rtl="0" algn="l">
              <a:spcBef>
                <a:spcPts val="1200"/>
              </a:spcBef>
              <a:spcAft>
                <a:spcPts val="1200"/>
              </a:spcAft>
              <a:buNone/>
            </a:pPr>
            <a:r>
              <a:rPr lang="zh-TW" sz="2400">
                <a:solidFill>
                  <a:schemeClr val="dk1"/>
                </a:solidFill>
                <a:latin typeface="Times New Roman"/>
                <a:ea typeface="Times New Roman"/>
                <a:cs typeface="Times New Roman"/>
                <a:sym typeface="Times New Roman"/>
              </a:rPr>
              <a:t>Winning probability = ½	</a:t>
            </a:r>
            <a:r>
              <a:rPr lang="zh-TW" sz="2400">
                <a:solidFill>
                  <a:srgbClr val="FF0000"/>
                </a:solidFill>
                <a:latin typeface="Times New Roman"/>
                <a:ea typeface="Times New Roman"/>
                <a:cs typeface="Times New Roman"/>
                <a:sym typeface="Times New Roman"/>
              </a:rPr>
              <a:t>(Wrong)</a:t>
            </a:r>
            <a:endParaRPr sz="2400">
              <a:solidFill>
                <a:srgbClr val="FF0000"/>
              </a:solidFill>
              <a:latin typeface="Times New Roman"/>
              <a:ea typeface="Times New Roman"/>
              <a:cs typeface="Times New Roman"/>
              <a:sym typeface="Times New Roman"/>
            </a:endParaRPr>
          </a:p>
        </p:txBody>
      </p:sp>
      <p:sp>
        <p:nvSpPr>
          <p:cNvPr id="98" name="Google Shape;98;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Solution</a:t>
            </a:r>
            <a:endParaRPr>
              <a:latin typeface="Times New Roman"/>
              <a:ea typeface="Times New Roman"/>
              <a:cs typeface="Times New Roman"/>
              <a:sym typeface="Times New Roman"/>
            </a:endParaRPr>
          </a:p>
        </p:txBody>
      </p:sp>
      <p:sp>
        <p:nvSpPr>
          <p:cNvPr id="104" name="Google Shape;104;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sz="2400">
                <a:solidFill>
                  <a:schemeClr val="dk1"/>
                </a:solidFill>
                <a:latin typeface="Times New Roman"/>
                <a:ea typeface="Times New Roman"/>
                <a:cs typeface="Times New Roman"/>
                <a:sym typeface="Times New Roman"/>
              </a:rPr>
              <a:t>If the player initially chooses door one</a:t>
            </a:r>
            <a:endParaRPr sz="2400">
              <a:solidFill>
                <a:schemeClr val="dk1"/>
              </a:solidFill>
              <a:latin typeface="Times New Roman"/>
              <a:ea typeface="Times New Roman"/>
              <a:cs typeface="Times New Roman"/>
              <a:sym typeface="Times New Roman"/>
            </a:endParaRPr>
          </a:p>
          <a:p>
            <a:pPr indent="-381000" lvl="0" marL="457200" rtl="0" algn="l">
              <a:spcBef>
                <a:spcPts val="1200"/>
              </a:spcBef>
              <a:spcAft>
                <a:spcPts val="0"/>
              </a:spcAft>
              <a:buClr>
                <a:schemeClr val="dk1"/>
              </a:buClr>
              <a:buSzPts val="2400"/>
              <a:buFont typeface="Times New Roman"/>
              <a:buChar char="-"/>
            </a:pPr>
            <a:r>
              <a:rPr lang="zh-TW" sz="2400">
                <a:solidFill>
                  <a:schemeClr val="dk1"/>
                </a:solidFill>
                <a:latin typeface="Times New Roman"/>
                <a:ea typeface="Times New Roman"/>
                <a:cs typeface="Times New Roman"/>
                <a:sym typeface="Times New Roman"/>
              </a:rPr>
              <a:t>Without switching</a:t>
            </a:r>
            <a:endParaRPr sz="2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rPr lang="zh-TW" sz="2400">
                <a:solidFill>
                  <a:schemeClr val="dk1"/>
                </a:solidFill>
                <a:latin typeface="Times New Roman"/>
                <a:ea typeface="Times New Roman"/>
                <a:cs typeface="Times New Roman"/>
                <a:sym typeface="Times New Roman"/>
              </a:rPr>
              <a:t>Winning probability = ⅓</a:t>
            </a:r>
            <a:endParaRPr sz="2400">
              <a:solidFill>
                <a:schemeClr val="dk1"/>
              </a:solidFill>
              <a:latin typeface="Times New Roman"/>
              <a:ea typeface="Times New Roman"/>
              <a:cs typeface="Times New Roman"/>
              <a:sym typeface="Times New Roman"/>
            </a:endParaRPr>
          </a:p>
        </p:txBody>
      </p:sp>
      <p:sp>
        <p:nvSpPr>
          <p:cNvPr id="105" name="Google Shape;105;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Solution (cont.)</a:t>
            </a:r>
            <a:endParaRPr>
              <a:latin typeface="Times New Roman"/>
              <a:ea typeface="Times New Roman"/>
              <a:cs typeface="Times New Roman"/>
              <a:sym typeface="Times New Roman"/>
            </a:endParaRPr>
          </a:p>
        </p:txBody>
      </p:sp>
      <p:sp>
        <p:nvSpPr>
          <p:cNvPr id="111" name="Google Shape;111;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sz="2400">
                <a:solidFill>
                  <a:schemeClr val="dk1"/>
                </a:solidFill>
                <a:latin typeface="Times New Roman"/>
                <a:ea typeface="Times New Roman"/>
                <a:cs typeface="Times New Roman"/>
                <a:sym typeface="Times New Roman"/>
              </a:rPr>
              <a:t>If the player initially chooses door one</a:t>
            </a:r>
            <a:endParaRPr sz="2400">
              <a:solidFill>
                <a:schemeClr val="dk1"/>
              </a:solidFill>
              <a:latin typeface="Times New Roman"/>
              <a:ea typeface="Times New Roman"/>
              <a:cs typeface="Times New Roman"/>
              <a:sym typeface="Times New Roman"/>
            </a:endParaRPr>
          </a:p>
          <a:p>
            <a:pPr indent="-381000" lvl="0" marL="457200" rtl="0" algn="l">
              <a:spcBef>
                <a:spcPts val="1200"/>
              </a:spcBef>
              <a:spcAft>
                <a:spcPts val="0"/>
              </a:spcAft>
              <a:buClr>
                <a:schemeClr val="dk1"/>
              </a:buClr>
              <a:buSzPts val="2400"/>
              <a:buFont typeface="Times New Roman"/>
              <a:buChar char="-"/>
            </a:pPr>
            <a:r>
              <a:rPr lang="zh-TW" sz="2400">
                <a:solidFill>
                  <a:schemeClr val="dk1"/>
                </a:solidFill>
                <a:latin typeface="Times New Roman"/>
                <a:ea typeface="Times New Roman"/>
                <a:cs typeface="Times New Roman"/>
                <a:sym typeface="Times New Roman"/>
              </a:rPr>
              <a:t>Switching</a:t>
            </a:r>
            <a:endParaRPr sz="2400">
              <a:solidFill>
                <a:schemeClr val="dk1"/>
              </a:solidFill>
              <a:latin typeface="Times New Roman"/>
              <a:ea typeface="Times New Roman"/>
              <a:cs typeface="Times New Roman"/>
              <a:sym typeface="Times New Roman"/>
            </a:endParaRPr>
          </a:p>
        </p:txBody>
      </p:sp>
      <p:sp>
        <p:nvSpPr>
          <p:cNvPr id="112" name="Google Shape;112;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graphicFrame>
        <p:nvGraphicFramePr>
          <p:cNvPr id="113" name="Google Shape;113;p21"/>
          <p:cNvGraphicFramePr/>
          <p:nvPr/>
        </p:nvGraphicFramePr>
        <p:xfrm>
          <a:off x="311700" y="2468775"/>
          <a:ext cx="3000000" cy="3000000"/>
        </p:xfrm>
        <a:graphic>
          <a:graphicData uri="http://schemas.openxmlformats.org/drawingml/2006/table">
            <a:tbl>
              <a:tblPr>
                <a:noFill/>
                <a:tableStyleId>{DD18B5E2-D38E-4A97-9627-7B7FEC67D645}</a:tableStyleId>
              </a:tblPr>
              <a:tblGrid>
                <a:gridCol w="1085225"/>
                <a:gridCol w="1085225"/>
                <a:gridCol w="1085225"/>
                <a:gridCol w="4905075"/>
              </a:tblGrid>
              <a:tr h="548625">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door 1</a:t>
                      </a:r>
                      <a:endParaRPr sz="2400">
                        <a:solidFill>
                          <a:schemeClr val="dk1"/>
                        </a:solidFill>
                        <a:latin typeface="Times New Roman"/>
                        <a:ea typeface="Times New Roman"/>
                        <a:cs typeface="Times New Roman"/>
                        <a:sym typeface="Times New Roman"/>
                      </a:endParaRPr>
                    </a:p>
                  </a:txBody>
                  <a:tcPr marT="91425" marB="91425" marR="91425" marL="91425">
                    <a:solidFill>
                      <a:schemeClr val="accent4"/>
                    </a:solidFill>
                  </a:tcPr>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door 2</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door 3</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winning probability</a:t>
                      </a:r>
                      <a:endParaRPr sz="2400">
                        <a:solidFill>
                          <a:schemeClr val="dk1"/>
                        </a:solidFill>
                        <a:latin typeface="Times New Roman"/>
                        <a:ea typeface="Times New Roman"/>
                        <a:cs typeface="Times New Roman"/>
                        <a:sym typeface="Times New Roman"/>
                      </a:endParaRPr>
                    </a:p>
                  </a:txBody>
                  <a:tcPr marT="91425" marB="91425" marR="91425" marL="91425"/>
                </a:tc>
              </a:tr>
              <a:tr h="548625">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car</a:t>
                      </a:r>
                      <a:endParaRPr sz="2400">
                        <a:solidFill>
                          <a:schemeClr val="dk1"/>
                        </a:solidFill>
                        <a:latin typeface="Times New Roman"/>
                        <a:ea typeface="Times New Roman"/>
                        <a:cs typeface="Times New Roman"/>
                        <a:sym typeface="Times New Roman"/>
                      </a:endParaRPr>
                    </a:p>
                  </a:txBody>
                  <a:tcPr marT="91425" marB="91425" marR="91425" marL="91425">
                    <a:solidFill>
                      <a:schemeClr val="accent4"/>
                    </a:solidFill>
                  </a:tcPr>
                </a:tc>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solidFill>
                      <a:schemeClr val="accent1"/>
                    </a:solidFill>
                  </a:tcPr>
                </a:tc>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solidFill>
                      <a:schemeClr val="accent1"/>
                    </a:solidFill>
                  </a:tcPr>
                </a:tc>
                <a:tc>
                  <a:txBody>
                    <a:bodyPr/>
                    <a:lstStyle/>
                    <a:p>
                      <a:pPr indent="0" lvl="0" marL="0" rtl="0" algn="ctr">
                        <a:lnSpc>
                          <a:spcPct val="115000"/>
                        </a:lnSpc>
                        <a:spcBef>
                          <a:spcPts val="0"/>
                        </a:spcBef>
                        <a:spcAft>
                          <a:spcPts val="1200"/>
                        </a:spcAft>
                        <a:buClr>
                          <a:schemeClr val="dk1"/>
                        </a:buClr>
                        <a:buSzPts val="1100"/>
                        <a:buFont typeface="Arial"/>
                        <a:buNone/>
                      </a:pPr>
                      <a:r>
                        <a:rPr lang="zh-TW" sz="2400">
                          <a:solidFill>
                            <a:schemeClr val="dk1"/>
                          </a:solidFill>
                          <a:latin typeface="Times New Roman"/>
                          <a:ea typeface="Times New Roman"/>
                          <a:cs typeface="Times New Roman"/>
                          <a:sym typeface="Times New Roman"/>
                        </a:rPr>
                        <a:t>⅓ * 0</a:t>
                      </a:r>
                      <a:endParaRPr sz="2400">
                        <a:solidFill>
                          <a:schemeClr val="dk1"/>
                        </a:solidFill>
                        <a:latin typeface="Times New Roman"/>
                        <a:ea typeface="Times New Roman"/>
                        <a:cs typeface="Times New Roman"/>
                        <a:sym typeface="Times New Roman"/>
                      </a:endParaRPr>
                    </a:p>
                  </a:txBody>
                  <a:tcPr marT="91425" marB="91425" marR="91425" marL="91425"/>
                </a:tc>
              </a:tr>
              <a:tr h="548625">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solidFill>
                      <a:schemeClr val="accent4"/>
                    </a:solidFill>
                  </a:tcPr>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car</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solidFill>
                      <a:schemeClr val="accent1"/>
                    </a:solidFill>
                  </a:tcPr>
                </a:tc>
                <a:tc>
                  <a:txBody>
                    <a:bodyPr/>
                    <a:lstStyle/>
                    <a:p>
                      <a:pPr indent="0" lvl="0" marL="0" rtl="0" algn="ctr">
                        <a:lnSpc>
                          <a:spcPct val="115000"/>
                        </a:lnSpc>
                        <a:spcBef>
                          <a:spcPts val="0"/>
                        </a:spcBef>
                        <a:spcAft>
                          <a:spcPts val="1200"/>
                        </a:spcAft>
                        <a:buClr>
                          <a:schemeClr val="dk1"/>
                        </a:buClr>
                        <a:buSzPts val="1100"/>
                        <a:buFont typeface="Arial"/>
                        <a:buNone/>
                      </a:pPr>
                      <a:r>
                        <a:rPr lang="zh-TW" sz="2400">
                          <a:solidFill>
                            <a:schemeClr val="dk1"/>
                          </a:solidFill>
                          <a:latin typeface="Times New Roman"/>
                          <a:ea typeface="Times New Roman"/>
                          <a:cs typeface="Times New Roman"/>
                          <a:sym typeface="Times New Roman"/>
                        </a:rPr>
                        <a:t>⅓ * </a:t>
                      </a:r>
                      <a:r>
                        <a:rPr lang="zh-TW" sz="2400">
                          <a:solidFill>
                            <a:srgbClr val="FF0000"/>
                          </a:solidFill>
                          <a:latin typeface="Times New Roman"/>
                          <a:ea typeface="Times New Roman"/>
                          <a:cs typeface="Times New Roman"/>
                          <a:sym typeface="Times New Roman"/>
                        </a:rPr>
                        <a:t>1</a:t>
                      </a:r>
                      <a:endParaRPr sz="2400">
                        <a:solidFill>
                          <a:srgbClr val="FF0000"/>
                        </a:solidFill>
                        <a:latin typeface="Times New Roman"/>
                        <a:ea typeface="Times New Roman"/>
                        <a:cs typeface="Times New Roman"/>
                        <a:sym typeface="Times New Roman"/>
                      </a:endParaRPr>
                    </a:p>
                  </a:txBody>
                  <a:tcPr marT="91425" marB="91425" marR="91425" marL="91425"/>
                </a:tc>
              </a:tr>
              <a:tr h="548625">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solidFill>
                      <a:schemeClr val="accent4"/>
                    </a:solidFill>
                  </a:tcPr>
                </a:tc>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solidFill>
                      <a:schemeClr val="accent1"/>
                    </a:solidFill>
                  </a:tcPr>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car</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1200"/>
                        </a:spcAft>
                        <a:buClr>
                          <a:schemeClr val="dk1"/>
                        </a:buClr>
                        <a:buSzPts val="1100"/>
                        <a:buFont typeface="Arial"/>
                        <a:buNone/>
                      </a:pPr>
                      <a:r>
                        <a:rPr lang="zh-TW" sz="2400">
                          <a:solidFill>
                            <a:schemeClr val="dk1"/>
                          </a:solidFill>
                          <a:latin typeface="Times New Roman"/>
                          <a:ea typeface="Times New Roman"/>
                          <a:cs typeface="Times New Roman"/>
                          <a:sym typeface="Times New Roman"/>
                        </a:rPr>
                        <a:t>⅓ * </a:t>
                      </a:r>
                      <a:r>
                        <a:rPr lang="zh-TW" sz="2400">
                          <a:solidFill>
                            <a:srgbClr val="FF0000"/>
                          </a:solidFill>
                          <a:latin typeface="Times New Roman"/>
                          <a:ea typeface="Times New Roman"/>
                          <a:cs typeface="Times New Roman"/>
                          <a:sym typeface="Times New Roman"/>
                        </a:rPr>
                        <a:t>1</a:t>
                      </a:r>
                      <a:endParaRPr sz="2400">
                        <a:solidFill>
                          <a:srgbClr val="FF0000"/>
                        </a:solidFill>
                        <a:latin typeface="Times New Roman"/>
                        <a:ea typeface="Times New Roman"/>
                        <a:cs typeface="Times New Roman"/>
                        <a:sym typeface="Times New Roman"/>
                      </a:endParaRPr>
                    </a:p>
                  </a:txBody>
                  <a:tcPr marT="91425" marB="91425" marR="91425" marL="91425"/>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Solution (cont.)</a:t>
            </a:r>
            <a:endParaRPr>
              <a:latin typeface="Times New Roman"/>
              <a:ea typeface="Times New Roman"/>
              <a:cs typeface="Times New Roman"/>
              <a:sym typeface="Times New Roman"/>
            </a:endParaRPr>
          </a:p>
        </p:txBody>
      </p:sp>
      <p:sp>
        <p:nvSpPr>
          <p:cNvPr id="119" name="Google Shape;119;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sz="2400">
                <a:solidFill>
                  <a:schemeClr val="dk1"/>
                </a:solidFill>
                <a:latin typeface="Times New Roman"/>
                <a:ea typeface="Times New Roman"/>
                <a:cs typeface="Times New Roman"/>
                <a:sym typeface="Times New Roman"/>
              </a:rPr>
              <a:t>If the player initially chooses door one</a:t>
            </a:r>
            <a:endParaRPr sz="2400">
              <a:solidFill>
                <a:schemeClr val="dk1"/>
              </a:solidFill>
              <a:latin typeface="Times New Roman"/>
              <a:ea typeface="Times New Roman"/>
              <a:cs typeface="Times New Roman"/>
              <a:sym typeface="Times New Roman"/>
            </a:endParaRPr>
          </a:p>
          <a:p>
            <a:pPr indent="-381000" lvl="0" marL="457200" rtl="0" algn="l">
              <a:spcBef>
                <a:spcPts val="1200"/>
              </a:spcBef>
              <a:spcAft>
                <a:spcPts val="0"/>
              </a:spcAft>
              <a:buClr>
                <a:schemeClr val="dk1"/>
              </a:buClr>
              <a:buSzPts val="2400"/>
              <a:buFont typeface="Times New Roman"/>
              <a:buChar char="-"/>
            </a:pPr>
            <a:r>
              <a:rPr lang="zh-TW" sz="2400">
                <a:solidFill>
                  <a:schemeClr val="dk1"/>
                </a:solidFill>
                <a:latin typeface="Times New Roman"/>
                <a:ea typeface="Times New Roman"/>
                <a:cs typeface="Times New Roman"/>
                <a:sym typeface="Times New Roman"/>
              </a:rPr>
              <a:t>Switching</a:t>
            </a:r>
            <a:endParaRPr sz="2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rPr lang="zh-TW" sz="2400">
                <a:solidFill>
                  <a:schemeClr val="dk1"/>
                </a:solidFill>
                <a:latin typeface="Times New Roman"/>
                <a:ea typeface="Times New Roman"/>
                <a:cs typeface="Times New Roman"/>
                <a:sym typeface="Times New Roman"/>
              </a:rPr>
              <a:t>Winning probability = </a:t>
            </a:r>
            <a:r>
              <a:rPr lang="zh-TW" sz="2400">
                <a:solidFill>
                  <a:srgbClr val="FF0000"/>
                </a:solidFill>
                <a:latin typeface="Times New Roman"/>
                <a:ea typeface="Times New Roman"/>
                <a:cs typeface="Times New Roman"/>
                <a:sym typeface="Times New Roman"/>
              </a:rPr>
              <a:t>⅔</a:t>
            </a:r>
            <a:endParaRPr sz="2400">
              <a:solidFill>
                <a:srgbClr val="FF0000"/>
              </a:solidFill>
              <a:latin typeface="Times New Roman"/>
              <a:ea typeface="Times New Roman"/>
              <a:cs typeface="Times New Roman"/>
              <a:sym typeface="Times New Roman"/>
            </a:endParaRPr>
          </a:p>
        </p:txBody>
      </p:sp>
      <p:sp>
        <p:nvSpPr>
          <p:cNvPr id="120" name="Google Shape;120;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Solution (cont.)</a:t>
            </a:r>
            <a:endParaRPr>
              <a:latin typeface="Times New Roman"/>
              <a:ea typeface="Times New Roman"/>
              <a:cs typeface="Times New Roman"/>
              <a:sym typeface="Times New Roman"/>
            </a:endParaRPr>
          </a:p>
        </p:txBody>
      </p:sp>
      <p:sp>
        <p:nvSpPr>
          <p:cNvPr id="126" name="Google Shape;126;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a:t> </a:t>
            </a:r>
            <a:endParaRPr/>
          </a:p>
        </p:txBody>
      </p:sp>
      <p:sp>
        <p:nvSpPr>
          <p:cNvPr id="127" name="Google Shape;127;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pic>
        <p:nvPicPr>
          <p:cNvPr id="128" name="Google Shape;128;p23"/>
          <p:cNvPicPr preferRelativeResize="0"/>
          <p:nvPr/>
        </p:nvPicPr>
        <p:blipFill>
          <a:blip r:embed="rId3">
            <a:alphaModFix/>
          </a:blip>
          <a:stretch>
            <a:fillRect/>
          </a:stretch>
        </p:blipFill>
        <p:spPr>
          <a:xfrm>
            <a:off x="1913662" y="926387"/>
            <a:ext cx="5316675" cy="38685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Issue</a:t>
            </a:r>
            <a:endParaRPr>
              <a:latin typeface="Times New Roman"/>
              <a:ea typeface="Times New Roman"/>
              <a:cs typeface="Times New Roman"/>
              <a:sym typeface="Times New Roman"/>
            </a:endParaRPr>
          </a:p>
        </p:txBody>
      </p:sp>
      <p:sp>
        <p:nvSpPr>
          <p:cNvPr id="134" name="Google Shape;134;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sz="2400">
                <a:solidFill>
                  <a:schemeClr val="dk1"/>
                </a:solidFill>
                <a:latin typeface="Times New Roman"/>
                <a:ea typeface="Times New Roman"/>
                <a:cs typeface="Times New Roman"/>
                <a:sym typeface="Times New Roman"/>
              </a:rPr>
              <a:t>Version 2. (High-Numbered Monty) As before, we have three identical doors concealing one car and two goats. The player chooses a door that remains un opened. Monty now opens a door he knows to conceal a goat. This time, however, we stipulate that Monty always opens the highest-numbered door available to him (keeping in mind that Monty will never open the door the player chose.) Will the player gain any advantage by switching doors? </a:t>
            </a:r>
            <a:endParaRPr sz="2400">
              <a:solidFill>
                <a:schemeClr val="dk1"/>
              </a:solidFill>
              <a:latin typeface="Times New Roman"/>
              <a:ea typeface="Times New Roman"/>
              <a:cs typeface="Times New Roman"/>
              <a:sym typeface="Times New Roman"/>
            </a:endParaRPr>
          </a:p>
        </p:txBody>
      </p:sp>
      <p:sp>
        <p:nvSpPr>
          <p:cNvPr id="135" name="Google Shape;135;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Solution</a:t>
            </a:r>
            <a:endParaRPr>
              <a:latin typeface="Times New Roman"/>
              <a:ea typeface="Times New Roman"/>
              <a:cs typeface="Times New Roman"/>
              <a:sym typeface="Times New Roman"/>
            </a:endParaRPr>
          </a:p>
        </p:txBody>
      </p:sp>
      <p:sp>
        <p:nvSpPr>
          <p:cNvPr id="141" name="Google Shape;141;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sz="2400">
                <a:solidFill>
                  <a:schemeClr val="dk1"/>
                </a:solidFill>
                <a:latin typeface="Times New Roman"/>
                <a:ea typeface="Times New Roman"/>
                <a:cs typeface="Times New Roman"/>
                <a:sym typeface="Times New Roman"/>
              </a:rPr>
              <a:t>If the player initially chooses door one</a:t>
            </a:r>
            <a:endParaRPr sz="2400">
              <a:solidFill>
                <a:schemeClr val="dk1"/>
              </a:solidFill>
              <a:latin typeface="Times New Roman"/>
              <a:ea typeface="Times New Roman"/>
              <a:cs typeface="Times New Roman"/>
              <a:sym typeface="Times New Roman"/>
            </a:endParaRPr>
          </a:p>
          <a:p>
            <a:pPr indent="-381000" lvl="0" marL="457200" rtl="0" algn="l">
              <a:spcBef>
                <a:spcPts val="1200"/>
              </a:spcBef>
              <a:spcAft>
                <a:spcPts val="0"/>
              </a:spcAft>
              <a:buClr>
                <a:schemeClr val="dk1"/>
              </a:buClr>
              <a:buSzPts val="2400"/>
              <a:buFont typeface="Times New Roman"/>
              <a:buChar char="-"/>
            </a:pPr>
            <a:r>
              <a:rPr lang="zh-TW" sz="2400">
                <a:solidFill>
                  <a:schemeClr val="dk1"/>
                </a:solidFill>
                <a:latin typeface="Times New Roman"/>
                <a:ea typeface="Times New Roman"/>
                <a:cs typeface="Times New Roman"/>
                <a:sym typeface="Times New Roman"/>
              </a:rPr>
              <a:t>Switching</a:t>
            </a:r>
            <a:endParaRPr sz="2400">
              <a:solidFill>
                <a:schemeClr val="dk1"/>
              </a:solidFill>
              <a:latin typeface="Times New Roman"/>
              <a:ea typeface="Times New Roman"/>
              <a:cs typeface="Times New Roman"/>
              <a:sym typeface="Times New Roman"/>
            </a:endParaRPr>
          </a:p>
        </p:txBody>
      </p:sp>
      <p:sp>
        <p:nvSpPr>
          <p:cNvPr id="142" name="Google Shape;142;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graphicFrame>
        <p:nvGraphicFramePr>
          <p:cNvPr id="143" name="Google Shape;143;p25"/>
          <p:cNvGraphicFramePr/>
          <p:nvPr/>
        </p:nvGraphicFramePr>
        <p:xfrm>
          <a:off x="311700" y="2468775"/>
          <a:ext cx="3000000" cy="3000000"/>
        </p:xfrm>
        <a:graphic>
          <a:graphicData uri="http://schemas.openxmlformats.org/drawingml/2006/table">
            <a:tbl>
              <a:tblPr>
                <a:noFill/>
                <a:tableStyleId>{DD18B5E2-D38E-4A97-9627-7B7FEC67D645}</a:tableStyleId>
              </a:tblPr>
              <a:tblGrid>
                <a:gridCol w="1085225"/>
                <a:gridCol w="1085225"/>
                <a:gridCol w="1085225"/>
                <a:gridCol w="4905075"/>
              </a:tblGrid>
              <a:tr h="548625">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door 1</a:t>
                      </a:r>
                      <a:endParaRPr sz="2400">
                        <a:solidFill>
                          <a:schemeClr val="dk1"/>
                        </a:solidFill>
                        <a:latin typeface="Times New Roman"/>
                        <a:ea typeface="Times New Roman"/>
                        <a:cs typeface="Times New Roman"/>
                        <a:sym typeface="Times New Roman"/>
                      </a:endParaRPr>
                    </a:p>
                  </a:txBody>
                  <a:tcPr marT="91425" marB="91425" marR="91425" marL="91425">
                    <a:solidFill>
                      <a:schemeClr val="accent4"/>
                    </a:solidFill>
                  </a:tcPr>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door 2</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door 3</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winning probability</a:t>
                      </a:r>
                      <a:endParaRPr sz="2400">
                        <a:solidFill>
                          <a:schemeClr val="dk1"/>
                        </a:solidFill>
                        <a:latin typeface="Times New Roman"/>
                        <a:ea typeface="Times New Roman"/>
                        <a:cs typeface="Times New Roman"/>
                        <a:sym typeface="Times New Roman"/>
                      </a:endParaRPr>
                    </a:p>
                  </a:txBody>
                  <a:tcPr marT="91425" marB="91425" marR="91425" marL="91425"/>
                </a:tc>
              </a:tr>
              <a:tr h="548625">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car</a:t>
                      </a:r>
                      <a:endParaRPr sz="2400">
                        <a:solidFill>
                          <a:schemeClr val="dk1"/>
                        </a:solidFill>
                        <a:latin typeface="Times New Roman"/>
                        <a:ea typeface="Times New Roman"/>
                        <a:cs typeface="Times New Roman"/>
                        <a:sym typeface="Times New Roman"/>
                      </a:endParaRPr>
                    </a:p>
                  </a:txBody>
                  <a:tcPr marT="91425" marB="91425" marR="91425" marL="91425">
                    <a:solidFill>
                      <a:schemeClr val="accent4"/>
                    </a:solidFill>
                  </a:tcPr>
                </a:tc>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solidFill>
                      <a:schemeClr val="accent6"/>
                    </a:solidFill>
                  </a:tcPr>
                </a:tc>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solidFill>
                      <a:schemeClr val="accent1"/>
                    </a:solidFill>
                  </a:tcPr>
                </a:tc>
                <a:tc>
                  <a:txBody>
                    <a:bodyPr/>
                    <a:lstStyle/>
                    <a:p>
                      <a:pPr indent="0" lvl="0" marL="0" rtl="0" algn="ctr">
                        <a:lnSpc>
                          <a:spcPct val="115000"/>
                        </a:lnSpc>
                        <a:spcBef>
                          <a:spcPts val="0"/>
                        </a:spcBef>
                        <a:spcAft>
                          <a:spcPts val="1200"/>
                        </a:spcAft>
                        <a:buClr>
                          <a:schemeClr val="dk1"/>
                        </a:buClr>
                        <a:buSzPts val="1100"/>
                        <a:buFont typeface="Arial"/>
                        <a:buNone/>
                      </a:pPr>
                      <a:r>
                        <a:rPr lang="zh-TW" sz="2400">
                          <a:solidFill>
                            <a:schemeClr val="dk1"/>
                          </a:solidFill>
                          <a:latin typeface="Times New Roman"/>
                          <a:ea typeface="Times New Roman"/>
                          <a:cs typeface="Times New Roman"/>
                          <a:sym typeface="Times New Roman"/>
                        </a:rPr>
                        <a:t>⅓ * 0</a:t>
                      </a:r>
                      <a:endParaRPr sz="2400">
                        <a:solidFill>
                          <a:schemeClr val="dk1"/>
                        </a:solidFill>
                        <a:latin typeface="Times New Roman"/>
                        <a:ea typeface="Times New Roman"/>
                        <a:cs typeface="Times New Roman"/>
                        <a:sym typeface="Times New Roman"/>
                      </a:endParaRPr>
                    </a:p>
                  </a:txBody>
                  <a:tcPr marT="91425" marB="91425" marR="91425" marL="91425"/>
                </a:tc>
              </a:tr>
              <a:tr h="548625">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solidFill>
                      <a:schemeClr val="accent4"/>
                    </a:solidFill>
                  </a:tcPr>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car</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solidFill>
                      <a:schemeClr val="accent1"/>
                    </a:solidFill>
                  </a:tcPr>
                </a:tc>
                <a:tc>
                  <a:txBody>
                    <a:bodyPr/>
                    <a:lstStyle/>
                    <a:p>
                      <a:pPr indent="0" lvl="0" marL="0" rtl="0" algn="ctr">
                        <a:lnSpc>
                          <a:spcPct val="115000"/>
                        </a:lnSpc>
                        <a:spcBef>
                          <a:spcPts val="0"/>
                        </a:spcBef>
                        <a:spcAft>
                          <a:spcPts val="1200"/>
                        </a:spcAft>
                        <a:buClr>
                          <a:schemeClr val="dk1"/>
                        </a:buClr>
                        <a:buSzPts val="1100"/>
                        <a:buFont typeface="Arial"/>
                        <a:buNone/>
                      </a:pPr>
                      <a:r>
                        <a:rPr lang="zh-TW" sz="2400">
                          <a:solidFill>
                            <a:schemeClr val="dk1"/>
                          </a:solidFill>
                          <a:latin typeface="Times New Roman"/>
                          <a:ea typeface="Times New Roman"/>
                          <a:cs typeface="Times New Roman"/>
                          <a:sym typeface="Times New Roman"/>
                        </a:rPr>
                        <a:t>⅓ * </a:t>
                      </a:r>
                      <a:r>
                        <a:rPr lang="zh-TW" sz="2400">
                          <a:solidFill>
                            <a:srgbClr val="FF0000"/>
                          </a:solidFill>
                          <a:latin typeface="Times New Roman"/>
                          <a:ea typeface="Times New Roman"/>
                          <a:cs typeface="Times New Roman"/>
                          <a:sym typeface="Times New Roman"/>
                        </a:rPr>
                        <a:t>1</a:t>
                      </a:r>
                      <a:endParaRPr sz="2400">
                        <a:solidFill>
                          <a:srgbClr val="FF0000"/>
                        </a:solidFill>
                        <a:latin typeface="Times New Roman"/>
                        <a:ea typeface="Times New Roman"/>
                        <a:cs typeface="Times New Roman"/>
                        <a:sym typeface="Times New Roman"/>
                      </a:endParaRPr>
                    </a:p>
                  </a:txBody>
                  <a:tcPr marT="91425" marB="91425" marR="91425" marL="91425"/>
                </a:tc>
              </a:tr>
              <a:tr h="548625">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solidFill>
                      <a:schemeClr val="accent4"/>
                    </a:solidFill>
                  </a:tcPr>
                </a:tc>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solidFill>
                      <a:schemeClr val="accent1"/>
                    </a:solidFill>
                  </a:tcPr>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car</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1200"/>
                        </a:spcAft>
                        <a:buClr>
                          <a:schemeClr val="dk1"/>
                        </a:buClr>
                        <a:buSzPts val="1100"/>
                        <a:buFont typeface="Arial"/>
                        <a:buNone/>
                      </a:pPr>
                      <a:r>
                        <a:rPr lang="zh-TW" sz="2400">
                          <a:solidFill>
                            <a:schemeClr val="dk1"/>
                          </a:solidFill>
                          <a:latin typeface="Times New Roman"/>
                          <a:ea typeface="Times New Roman"/>
                          <a:cs typeface="Times New Roman"/>
                          <a:sym typeface="Times New Roman"/>
                        </a:rPr>
                        <a:t>⅓ * </a:t>
                      </a:r>
                      <a:r>
                        <a:rPr lang="zh-TW" sz="2400">
                          <a:solidFill>
                            <a:srgbClr val="FF0000"/>
                          </a:solidFill>
                          <a:latin typeface="Times New Roman"/>
                          <a:ea typeface="Times New Roman"/>
                          <a:cs typeface="Times New Roman"/>
                          <a:sym typeface="Times New Roman"/>
                        </a:rPr>
                        <a:t>1</a:t>
                      </a:r>
                      <a:endParaRPr sz="2400">
                        <a:solidFill>
                          <a:srgbClr val="FF0000"/>
                        </a:solidFill>
                        <a:latin typeface="Times New Roman"/>
                        <a:ea typeface="Times New Roman"/>
                        <a:cs typeface="Times New Roman"/>
                        <a:sym typeface="Times New Roman"/>
                      </a:endParaRPr>
                    </a:p>
                  </a:txBody>
                  <a:tcPr marT="91425" marB="91425" marR="91425" marL="91425"/>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Bayes’ Theorem</a:t>
            </a:r>
            <a:endParaRPr>
              <a:latin typeface="Times New Roman"/>
              <a:ea typeface="Times New Roman"/>
              <a:cs typeface="Times New Roman"/>
              <a:sym typeface="Times New Roman"/>
            </a:endParaRPr>
          </a:p>
        </p:txBody>
      </p:sp>
      <p:sp>
        <p:nvSpPr>
          <p:cNvPr id="149" name="Google Shape;149;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2400">
              <a:solidFill>
                <a:schemeClr val="dk1"/>
              </a:solidFill>
              <a:latin typeface="Times New Roman"/>
              <a:ea typeface="Times New Roman"/>
              <a:cs typeface="Times New Roman"/>
              <a:sym typeface="Times New Roman"/>
            </a:endParaRPr>
          </a:p>
          <a:p>
            <a:pPr indent="457200" lvl="0" marL="0" rtl="0" algn="l">
              <a:spcBef>
                <a:spcPts val="1200"/>
              </a:spcBef>
              <a:spcAft>
                <a:spcPts val="0"/>
              </a:spcAft>
              <a:buNone/>
            </a:pPr>
            <a:r>
              <a:rPr lang="zh-TW" sz="2400">
                <a:solidFill>
                  <a:schemeClr val="dk1"/>
                </a:solidFill>
                <a:latin typeface="Times New Roman"/>
                <a:ea typeface="Times New Roman"/>
                <a:cs typeface="Times New Roman"/>
                <a:sym typeface="Times New Roman"/>
              </a:rPr>
              <a:t>C</a:t>
            </a:r>
            <a:r>
              <a:rPr baseline="-25000" lang="zh-TW" sz="2400">
                <a:solidFill>
                  <a:schemeClr val="dk1"/>
                </a:solidFill>
                <a:latin typeface="Times New Roman"/>
                <a:ea typeface="Times New Roman"/>
                <a:cs typeface="Times New Roman"/>
                <a:sym typeface="Times New Roman"/>
              </a:rPr>
              <a:t>i</a:t>
            </a:r>
            <a:r>
              <a:rPr lang="zh-TW" sz="2400">
                <a:solidFill>
                  <a:schemeClr val="dk1"/>
                </a:solidFill>
                <a:latin typeface="Times New Roman"/>
                <a:ea typeface="Times New Roman"/>
                <a:cs typeface="Times New Roman"/>
                <a:sym typeface="Times New Roman"/>
              </a:rPr>
              <a:t> : the event that the car is behind door i</a:t>
            </a:r>
            <a:endParaRPr sz="2400">
              <a:solidFill>
                <a:schemeClr val="dk1"/>
              </a:solidFill>
              <a:latin typeface="Times New Roman"/>
              <a:ea typeface="Times New Roman"/>
              <a:cs typeface="Times New Roman"/>
              <a:sym typeface="Times New Roman"/>
            </a:endParaRPr>
          </a:p>
          <a:p>
            <a:pPr indent="457200" lvl="0" marL="0" rtl="0" algn="l">
              <a:spcBef>
                <a:spcPts val="1200"/>
              </a:spcBef>
              <a:spcAft>
                <a:spcPts val="1200"/>
              </a:spcAft>
              <a:buNone/>
            </a:pPr>
            <a:r>
              <a:rPr lang="zh-TW" sz="2400">
                <a:solidFill>
                  <a:schemeClr val="dk1"/>
                </a:solidFill>
                <a:latin typeface="Times New Roman"/>
                <a:ea typeface="Times New Roman"/>
                <a:cs typeface="Times New Roman"/>
                <a:sym typeface="Times New Roman"/>
              </a:rPr>
              <a:t>M</a:t>
            </a:r>
            <a:r>
              <a:rPr baseline="-25000" lang="zh-TW" sz="2400">
                <a:solidFill>
                  <a:schemeClr val="dk1"/>
                </a:solidFill>
                <a:latin typeface="Times New Roman"/>
                <a:ea typeface="Times New Roman"/>
                <a:cs typeface="Times New Roman"/>
                <a:sym typeface="Times New Roman"/>
              </a:rPr>
              <a:t>j</a:t>
            </a:r>
            <a:r>
              <a:rPr lang="zh-TW" sz="2400">
                <a:solidFill>
                  <a:schemeClr val="dk1"/>
                </a:solidFill>
                <a:latin typeface="Times New Roman"/>
                <a:ea typeface="Times New Roman"/>
                <a:cs typeface="Times New Roman"/>
                <a:sym typeface="Times New Roman"/>
              </a:rPr>
              <a:t> : the event that Monty opens door j to reveal a goat</a:t>
            </a:r>
            <a:endParaRPr sz="2400">
              <a:solidFill>
                <a:schemeClr val="dk1"/>
              </a:solidFill>
              <a:latin typeface="Times New Roman"/>
              <a:ea typeface="Times New Roman"/>
              <a:cs typeface="Times New Roman"/>
              <a:sym typeface="Times New Roman"/>
            </a:endParaRPr>
          </a:p>
        </p:txBody>
      </p:sp>
      <p:sp>
        <p:nvSpPr>
          <p:cNvPr id="150" name="Google Shape;150;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pic>
        <p:nvPicPr>
          <p:cNvPr id="151" name="Google Shape;151;p26"/>
          <p:cNvPicPr preferRelativeResize="0"/>
          <p:nvPr/>
        </p:nvPicPr>
        <p:blipFill>
          <a:blip r:embed="rId3">
            <a:alphaModFix/>
          </a:blip>
          <a:stretch>
            <a:fillRect/>
          </a:stretch>
        </p:blipFill>
        <p:spPr>
          <a:xfrm>
            <a:off x="2864522" y="1274047"/>
            <a:ext cx="3414950" cy="873925"/>
          </a:xfrm>
          <a:prstGeom prst="rect">
            <a:avLst/>
          </a:prstGeom>
          <a:noFill/>
          <a:ln>
            <a:noFill/>
          </a:ln>
        </p:spPr>
      </p:pic>
      <p:pic>
        <p:nvPicPr>
          <p:cNvPr id="152" name="Google Shape;152;p26"/>
          <p:cNvPicPr preferRelativeResize="0"/>
          <p:nvPr/>
        </p:nvPicPr>
        <p:blipFill>
          <a:blip r:embed="rId4">
            <a:alphaModFix/>
          </a:blip>
          <a:stretch>
            <a:fillRect/>
          </a:stretch>
        </p:blipFill>
        <p:spPr>
          <a:xfrm>
            <a:off x="586175" y="2384099"/>
            <a:ext cx="7971675" cy="9127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Bayes’ Theorem (cont.)</a:t>
            </a:r>
            <a:endParaRPr>
              <a:latin typeface="Times New Roman"/>
              <a:ea typeface="Times New Roman"/>
              <a:cs typeface="Times New Roman"/>
              <a:sym typeface="Times New Roman"/>
            </a:endParaRPr>
          </a:p>
        </p:txBody>
      </p:sp>
      <p:sp>
        <p:nvSpPr>
          <p:cNvPr id="158" name="Google Shape;158;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sz="2400">
                <a:solidFill>
                  <a:schemeClr val="dk1"/>
                </a:solidFill>
                <a:latin typeface="Times New Roman"/>
                <a:ea typeface="Times New Roman"/>
                <a:cs typeface="Times New Roman"/>
                <a:sym typeface="Times New Roman"/>
              </a:rPr>
              <a:t>P(C</a:t>
            </a:r>
            <a:r>
              <a:rPr baseline="-25000" lang="zh-TW" sz="2400">
                <a:solidFill>
                  <a:schemeClr val="dk1"/>
                </a:solidFill>
                <a:latin typeface="Times New Roman"/>
                <a:ea typeface="Times New Roman"/>
                <a:cs typeface="Times New Roman"/>
                <a:sym typeface="Times New Roman"/>
              </a:rPr>
              <a:t>1</a:t>
            </a:r>
            <a:r>
              <a:rPr lang="zh-TW" sz="2400">
                <a:solidFill>
                  <a:schemeClr val="dk1"/>
                </a:solidFill>
                <a:latin typeface="Times New Roman"/>
                <a:ea typeface="Times New Roman"/>
                <a:cs typeface="Times New Roman"/>
                <a:sym typeface="Times New Roman"/>
              </a:rPr>
              <a:t>) = P(C</a:t>
            </a:r>
            <a:r>
              <a:rPr baseline="-25000" lang="zh-TW" sz="2400">
                <a:solidFill>
                  <a:schemeClr val="dk1"/>
                </a:solidFill>
                <a:latin typeface="Times New Roman"/>
                <a:ea typeface="Times New Roman"/>
                <a:cs typeface="Times New Roman"/>
                <a:sym typeface="Times New Roman"/>
              </a:rPr>
              <a:t>2</a:t>
            </a:r>
            <a:r>
              <a:rPr lang="zh-TW" sz="2400">
                <a:solidFill>
                  <a:schemeClr val="dk1"/>
                </a:solidFill>
                <a:latin typeface="Times New Roman"/>
                <a:ea typeface="Times New Roman"/>
                <a:cs typeface="Times New Roman"/>
                <a:sym typeface="Times New Roman"/>
              </a:rPr>
              <a:t>) = P(C</a:t>
            </a:r>
            <a:r>
              <a:rPr baseline="-25000" lang="zh-TW" sz="2400">
                <a:solidFill>
                  <a:schemeClr val="dk1"/>
                </a:solidFill>
                <a:latin typeface="Times New Roman"/>
                <a:ea typeface="Times New Roman"/>
                <a:cs typeface="Times New Roman"/>
                <a:sym typeface="Times New Roman"/>
              </a:rPr>
              <a:t>3</a:t>
            </a:r>
            <a:r>
              <a:rPr lang="zh-TW" sz="2400">
                <a:solidFill>
                  <a:schemeClr val="dk1"/>
                </a:solidFill>
                <a:latin typeface="Times New Roman"/>
                <a:ea typeface="Times New Roman"/>
                <a:cs typeface="Times New Roman"/>
                <a:sym typeface="Times New Roman"/>
              </a:rPr>
              <a:t>) = ⅓</a:t>
            </a:r>
            <a:endParaRPr sz="2400">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rPr lang="zh-TW" sz="2400">
                <a:solidFill>
                  <a:schemeClr val="dk1"/>
                </a:solidFill>
                <a:latin typeface="Times New Roman"/>
                <a:ea typeface="Times New Roman"/>
                <a:cs typeface="Times New Roman"/>
                <a:sym typeface="Times New Roman"/>
              </a:rPr>
              <a:t>P(M</a:t>
            </a:r>
            <a:r>
              <a:rPr baseline="-25000" lang="zh-TW" sz="2400">
                <a:solidFill>
                  <a:schemeClr val="dk1"/>
                </a:solidFill>
                <a:latin typeface="Times New Roman"/>
                <a:ea typeface="Times New Roman"/>
                <a:cs typeface="Times New Roman"/>
                <a:sym typeface="Times New Roman"/>
              </a:rPr>
              <a:t>2</a:t>
            </a:r>
            <a:r>
              <a:rPr lang="zh-TW" sz="2400">
                <a:solidFill>
                  <a:schemeClr val="dk1"/>
                </a:solidFill>
                <a:latin typeface="Times New Roman"/>
                <a:ea typeface="Times New Roman"/>
                <a:cs typeface="Times New Roman"/>
                <a:sym typeface="Times New Roman"/>
              </a:rPr>
              <a:t> </a:t>
            </a:r>
            <a:r>
              <a:rPr lang="zh-TW" sz="2400">
                <a:solidFill>
                  <a:schemeClr val="dk1"/>
                </a:solidFill>
                <a:latin typeface="Times New Roman"/>
                <a:ea typeface="Times New Roman"/>
                <a:cs typeface="Times New Roman"/>
                <a:sym typeface="Times New Roman"/>
              </a:rPr>
              <a:t>| C</a:t>
            </a:r>
            <a:r>
              <a:rPr baseline="-25000" lang="zh-TW" sz="2400">
                <a:solidFill>
                  <a:schemeClr val="dk1"/>
                </a:solidFill>
                <a:latin typeface="Times New Roman"/>
                <a:ea typeface="Times New Roman"/>
                <a:cs typeface="Times New Roman"/>
                <a:sym typeface="Times New Roman"/>
              </a:rPr>
              <a:t>2</a:t>
            </a:r>
            <a:r>
              <a:rPr lang="zh-TW" sz="2400">
                <a:solidFill>
                  <a:schemeClr val="dk1"/>
                </a:solidFill>
                <a:latin typeface="Times New Roman"/>
                <a:ea typeface="Times New Roman"/>
                <a:cs typeface="Times New Roman"/>
                <a:sym typeface="Times New Roman"/>
              </a:rPr>
              <a:t>) = 0</a:t>
            </a:r>
            <a:endParaRPr sz="2400">
              <a:solidFill>
                <a:schemeClr val="dk1"/>
              </a:solidFill>
              <a:latin typeface="Times New Roman"/>
              <a:ea typeface="Times New Roman"/>
              <a:cs typeface="Times New Roman"/>
              <a:sym typeface="Times New Roman"/>
            </a:endParaRPr>
          </a:p>
        </p:txBody>
      </p:sp>
      <p:sp>
        <p:nvSpPr>
          <p:cNvPr id="159" name="Google Shape;159;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pic>
        <p:nvPicPr>
          <p:cNvPr id="160" name="Google Shape;160;p27"/>
          <p:cNvPicPr preferRelativeResize="0"/>
          <p:nvPr/>
        </p:nvPicPr>
        <p:blipFill>
          <a:blip r:embed="rId3">
            <a:alphaModFix/>
          </a:blip>
          <a:stretch>
            <a:fillRect/>
          </a:stretch>
        </p:blipFill>
        <p:spPr>
          <a:xfrm>
            <a:off x="2138088" y="2674063"/>
            <a:ext cx="4867825" cy="9828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Bayes’ Theorem (cont.)</a:t>
            </a:r>
            <a:endParaRPr>
              <a:latin typeface="Times New Roman"/>
              <a:ea typeface="Times New Roman"/>
              <a:cs typeface="Times New Roman"/>
              <a:sym typeface="Times New Roman"/>
            </a:endParaRPr>
          </a:p>
        </p:txBody>
      </p:sp>
      <p:sp>
        <p:nvSpPr>
          <p:cNvPr id="166" name="Google Shape;166;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sz="2400">
                <a:solidFill>
                  <a:schemeClr val="dk1"/>
                </a:solidFill>
                <a:latin typeface="Times New Roman"/>
                <a:ea typeface="Times New Roman"/>
                <a:cs typeface="Times New Roman"/>
                <a:sym typeface="Times New Roman"/>
              </a:rPr>
              <a:t>Classic</a:t>
            </a:r>
            <a:endParaRPr sz="2400">
              <a:solidFill>
                <a:schemeClr val="dk1"/>
              </a:solidFill>
              <a:latin typeface="Times New Roman"/>
              <a:ea typeface="Times New Roman"/>
              <a:cs typeface="Times New Roman"/>
              <a:sym typeface="Times New Roman"/>
            </a:endParaRPr>
          </a:p>
          <a:p>
            <a:pPr indent="0" lvl="0" marL="0" rtl="0" algn="l">
              <a:spcBef>
                <a:spcPts val="1200"/>
              </a:spcBef>
              <a:spcAft>
                <a:spcPts val="0"/>
              </a:spcAft>
              <a:buClr>
                <a:schemeClr val="dk1"/>
              </a:buClr>
              <a:buSzPts val="1100"/>
              <a:buFont typeface="Arial"/>
              <a:buNone/>
            </a:pPr>
            <a:r>
              <a:rPr lang="zh-TW" sz="2400">
                <a:solidFill>
                  <a:schemeClr val="dk1"/>
                </a:solidFill>
                <a:latin typeface="Times New Roman"/>
                <a:ea typeface="Times New Roman"/>
                <a:cs typeface="Times New Roman"/>
                <a:sym typeface="Times New Roman"/>
              </a:rPr>
              <a:t>P(M</a:t>
            </a:r>
            <a:r>
              <a:rPr baseline="-25000" lang="zh-TW" sz="2400">
                <a:solidFill>
                  <a:schemeClr val="dk1"/>
                </a:solidFill>
                <a:latin typeface="Times New Roman"/>
                <a:ea typeface="Times New Roman"/>
                <a:cs typeface="Times New Roman"/>
                <a:sym typeface="Times New Roman"/>
              </a:rPr>
              <a:t>2</a:t>
            </a:r>
            <a:r>
              <a:rPr lang="zh-TW" sz="2400">
                <a:solidFill>
                  <a:schemeClr val="dk1"/>
                </a:solidFill>
                <a:latin typeface="Times New Roman"/>
                <a:ea typeface="Times New Roman"/>
                <a:cs typeface="Times New Roman"/>
                <a:sym typeface="Times New Roman"/>
              </a:rPr>
              <a:t> | C</a:t>
            </a:r>
            <a:r>
              <a:rPr baseline="-25000" lang="zh-TW" sz="2400">
                <a:solidFill>
                  <a:schemeClr val="dk1"/>
                </a:solidFill>
                <a:latin typeface="Times New Roman"/>
                <a:ea typeface="Times New Roman"/>
                <a:cs typeface="Times New Roman"/>
                <a:sym typeface="Times New Roman"/>
              </a:rPr>
              <a:t>1</a:t>
            </a:r>
            <a:r>
              <a:rPr lang="zh-TW" sz="2400">
                <a:solidFill>
                  <a:schemeClr val="dk1"/>
                </a:solidFill>
                <a:latin typeface="Times New Roman"/>
                <a:ea typeface="Times New Roman"/>
                <a:cs typeface="Times New Roman"/>
                <a:sym typeface="Times New Roman"/>
              </a:rPr>
              <a:t>) = ½</a:t>
            </a:r>
            <a:endParaRPr sz="2400">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rPr lang="zh-TW" sz="2400">
                <a:solidFill>
                  <a:schemeClr val="dk1"/>
                </a:solidFill>
                <a:latin typeface="Times New Roman"/>
                <a:ea typeface="Times New Roman"/>
                <a:cs typeface="Times New Roman"/>
                <a:sym typeface="Times New Roman"/>
              </a:rPr>
              <a:t>P(M</a:t>
            </a:r>
            <a:r>
              <a:rPr baseline="-25000" lang="zh-TW" sz="2400">
                <a:solidFill>
                  <a:schemeClr val="dk1"/>
                </a:solidFill>
                <a:latin typeface="Times New Roman"/>
                <a:ea typeface="Times New Roman"/>
                <a:cs typeface="Times New Roman"/>
                <a:sym typeface="Times New Roman"/>
              </a:rPr>
              <a:t>2</a:t>
            </a:r>
            <a:r>
              <a:rPr lang="zh-TW" sz="2400">
                <a:solidFill>
                  <a:schemeClr val="dk1"/>
                </a:solidFill>
                <a:latin typeface="Times New Roman"/>
                <a:ea typeface="Times New Roman"/>
                <a:cs typeface="Times New Roman"/>
                <a:sym typeface="Times New Roman"/>
              </a:rPr>
              <a:t> | C</a:t>
            </a:r>
            <a:r>
              <a:rPr baseline="-25000" lang="zh-TW" sz="2400">
                <a:solidFill>
                  <a:schemeClr val="dk1"/>
                </a:solidFill>
                <a:latin typeface="Times New Roman"/>
                <a:ea typeface="Times New Roman"/>
                <a:cs typeface="Times New Roman"/>
                <a:sym typeface="Times New Roman"/>
              </a:rPr>
              <a:t>3</a:t>
            </a:r>
            <a:r>
              <a:rPr lang="zh-TW" sz="2400">
                <a:solidFill>
                  <a:schemeClr val="dk1"/>
                </a:solidFill>
                <a:latin typeface="Times New Roman"/>
                <a:ea typeface="Times New Roman"/>
                <a:cs typeface="Times New Roman"/>
                <a:sym typeface="Times New Roman"/>
              </a:rPr>
              <a:t>) = 1</a:t>
            </a:r>
            <a:endParaRPr sz="2400">
              <a:solidFill>
                <a:schemeClr val="dk1"/>
              </a:solidFill>
              <a:latin typeface="Times New Roman"/>
              <a:ea typeface="Times New Roman"/>
              <a:cs typeface="Times New Roman"/>
              <a:sym typeface="Times New Roman"/>
            </a:endParaRPr>
          </a:p>
        </p:txBody>
      </p:sp>
      <p:sp>
        <p:nvSpPr>
          <p:cNvPr id="167" name="Google Shape;167;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pic>
        <p:nvPicPr>
          <p:cNvPr id="168" name="Google Shape;168;p28"/>
          <p:cNvPicPr preferRelativeResize="0"/>
          <p:nvPr/>
        </p:nvPicPr>
        <p:blipFill>
          <a:blip r:embed="rId3">
            <a:alphaModFix/>
          </a:blip>
          <a:stretch>
            <a:fillRect/>
          </a:stretch>
        </p:blipFill>
        <p:spPr>
          <a:xfrm>
            <a:off x="2947975" y="2641600"/>
            <a:ext cx="3248025" cy="10477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Bayes’ Theorem (cont.)</a:t>
            </a:r>
            <a:endParaRPr>
              <a:latin typeface="Times New Roman"/>
              <a:ea typeface="Times New Roman"/>
              <a:cs typeface="Times New Roman"/>
              <a:sym typeface="Times New Roman"/>
            </a:endParaRPr>
          </a:p>
        </p:txBody>
      </p:sp>
      <p:sp>
        <p:nvSpPr>
          <p:cNvPr id="174" name="Google Shape;174;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sz="2400">
                <a:solidFill>
                  <a:schemeClr val="dk1"/>
                </a:solidFill>
                <a:latin typeface="Times New Roman"/>
                <a:ea typeface="Times New Roman"/>
                <a:cs typeface="Times New Roman"/>
                <a:sym typeface="Times New Roman"/>
              </a:rPr>
              <a:t>High-numbered</a:t>
            </a:r>
            <a:endParaRPr sz="2400">
              <a:solidFill>
                <a:schemeClr val="dk1"/>
              </a:solidFill>
              <a:latin typeface="Times New Roman"/>
              <a:ea typeface="Times New Roman"/>
              <a:cs typeface="Times New Roman"/>
              <a:sym typeface="Times New Roman"/>
            </a:endParaRPr>
          </a:p>
          <a:p>
            <a:pPr indent="0" lvl="0" marL="0" rtl="0" algn="l">
              <a:spcBef>
                <a:spcPts val="1200"/>
              </a:spcBef>
              <a:spcAft>
                <a:spcPts val="0"/>
              </a:spcAft>
              <a:buClr>
                <a:schemeClr val="dk1"/>
              </a:buClr>
              <a:buSzPts val="1100"/>
              <a:buFont typeface="Arial"/>
              <a:buNone/>
            </a:pPr>
            <a:r>
              <a:rPr lang="zh-TW" sz="2400">
                <a:solidFill>
                  <a:schemeClr val="dk1"/>
                </a:solidFill>
                <a:latin typeface="Times New Roman"/>
                <a:ea typeface="Times New Roman"/>
                <a:cs typeface="Times New Roman"/>
                <a:sym typeface="Times New Roman"/>
              </a:rPr>
              <a:t>P(M</a:t>
            </a:r>
            <a:r>
              <a:rPr baseline="-25000" lang="zh-TW" sz="2400">
                <a:solidFill>
                  <a:schemeClr val="dk1"/>
                </a:solidFill>
                <a:latin typeface="Times New Roman"/>
                <a:ea typeface="Times New Roman"/>
                <a:cs typeface="Times New Roman"/>
                <a:sym typeface="Times New Roman"/>
              </a:rPr>
              <a:t>2</a:t>
            </a:r>
            <a:r>
              <a:rPr lang="zh-TW" sz="2400">
                <a:solidFill>
                  <a:schemeClr val="dk1"/>
                </a:solidFill>
                <a:latin typeface="Times New Roman"/>
                <a:ea typeface="Times New Roman"/>
                <a:cs typeface="Times New Roman"/>
                <a:sym typeface="Times New Roman"/>
              </a:rPr>
              <a:t> | C</a:t>
            </a:r>
            <a:r>
              <a:rPr baseline="-25000" lang="zh-TW" sz="2400">
                <a:solidFill>
                  <a:schemeClr val="dk1"/>
                </a:solidFill>
                <a:latin typeface="Times New Roman"/>
                <a:ea typeface="Times New Roman"/>
                <a:cs typeface="Times New Roman"/>
                <a:sym typeface="Times New Roman"/>
              </a:rPr>
              <a:t>1</a:t>
            </a:r>
            <a:r>
              <a:rPr lang="zh-TW" sz="2400">
                <a:solidFill>
                  <a:schemeClr val="dk1"/>
                </a:solidFill>
                <a:latin typeface="Times New Roman"/>
                <a:ea typeface="Times New Roman"/>
                <a:cs typeface="Times New Roman"/>
                <a:sym typeface="Times New Roman"/>
              </a:rPr>
              <a:t>) = 0</a:t>
            </a:r>
            <a:endParaRPr sz="2400">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rPr lang="zh-TW" sz="2400">
                <a:solidFill>
                  <a:schemeClr val="dk1"/>
                </a:solidFill>
                <a:latin typeface="Times New Roman"/>
                <a:ea typeface="Times New Roman"/>
                <a:cs typeface="Times New Roman"/>
                <a:sym typeface="Times New Roman"/>
              </a:rPr>
              <a:t>P(M</a:t>
            </a:r>
            <a:r>
              <a:rPr baseline="-25000" lang="zh-TW" sz="2400">
                <a:solidFill>
                  <a:schemeClr val="dk1"/>
                </a:solidFill>
                <a:latin typeface="Times New Roman"/>
                <a:ea typeface="Times New Roman"/>
                <a:cs typeface="Times New Roman"/>
                <a:sym typeface="Times New Roman"/>
              </a:rPr>
              <a:t>2</a:t>
            </a:r>
            <a:r>
              <a:rPr lang="zh-TW" sz="2400">
                <a:solidFill>
                  <a:schemeClr val="dk1"/>
                </a:solidFill>
                <a:latin typeface="Times New Roman"/>
                <a:ea typeface="Times New Roman"/>
                <a:cs typeface="Times New Roman"/>
                <a:sym typeface="Times New Roman"/>
              </a:rPr>
              <a:t> | C</a:t>
            </a:r>
            <a:r>
              <a:rPr baseline="-25000" lang="zh-TW" sz="2400">
                <a:solidFill>
                  <a:schemeClr val="dk1"/>
                </a:solidFill>
                <a:latin typeface="Times New Roman"/>
                <a:ea typeface="Times New Roman"/>
                <a:cs typeface="Times New Roman"/>
                <a:sym typeface="Times New Roman"/>
              </a:rPr>
              <a:t>3</a:t>
            </a:r>
            <a:r>
              <a:rPr lang="zh-TW" sz="2400">
                <a:solidFill>
                  <a:schemeClr val="dk1"/>
                </a:solidFill>
                <a:latin typeface="Times New Roman"/>
                <a:ea typeface="Times New Roman"/>
                <a:cs typeface="Times New Roman"/>
                <a:sym typeface="Times New Roman"/>
              </a:rPr>
              <a:t>) = 1</a:t>
            </a:r>
            <a:endParaRPr sz="2400">
              <a:solidFill>
                <a:schemeClr val="dk1"/>
              </a:solidFill>
              <a:latin typeface="Times New Roman"/>
              <a:ea typeface="Times New Roman"/>
              <a:cs typeface="Times New Roman"/>
              <a:sym typeface="Times New Roman"/>
            </a:endParaRPr>
          </a:p>
        </p:txBody>
      </p:sp>
      <p:sp>
        <p:nvSpPr>
          <p:cNvPr id="175" name="Google Shape;175;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pic>
        <p:nvPicPr>
          <p:cNvPr id="176" name="Google Shape;176;p29"/>
          <p:cNvPicPr preferRelativeResize="0"/>
          <p:nvPr/>
        </p:nvPicPr>
        <p:blipFill>
          <a:blip r:embed="rId3">
            <a:alphaModFix/>
          </a:blip>
          <a:stretch>
            <a:fillRect/>
          </a:stretch>
        </p:blipFill>
        <p:spPr>
          <a:xfrm>
            <a:off x="2962900" y="2675750"/>
            <a:ext cx="3218200" cy="9794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Issue</a:t>
            </a:r>
            <a:endParaRPr>
              <a:latin typeface="Times New Roman"/>
              <a:ea typeface="Times New Roman"/>
              <a:cs typeface="Times New Roman"/>
              <a:sym typeface="Times New Roman"/>
            </a:endParaRPr>
          </a:p>
        </p:txBody>
      </p:sp>
      <p:sp>
        <p:nvSpPr>
          <p:cNvPr id="182" name="Google Shape;182;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sz="2400">
                <a:solidFill>
                  <a:schemeClr val="dk1"/>
                </a:solidFill>
                <a:latin typeface="Times New Roman"/>
                <a:ea typeface="Times New Roman"/>
                <a:cs typeface="Times New Roman"/>
                <a:sym typeface="Times New Roman"/>
              </a:rPr>
              <a:t>Version 3. (Random Monty) As always, assume that the player has initially chosen door one and Monty subsequently opened door two to reveal a goat. This time, however, you know that Monty chose his door randomly, subject only to the restriction that he not open the door the player chose. Should we switch?</a:t>
            </a:r>
            <a:endParaRPr sz="2400">
              <a:solidFill>
                <a:schemeClr val="dk1"/>
              </a:solidFill>
              <a:latin typeface="Times New Roman"/>
              <a:ea typeface="Times New Roman"/>
              <a:cs typeface="Times New Roman"/>
              <a:sym typeface="Times New Roman"/>
            </a:endParaRPr>
          </a:p>
        </p:txBody>
      </p:sp>
      <p:sp>
        <p:nvSpPr>
          <p:cNvPr id="183" name="Google Shape;183;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Solution</a:t>
            </a:r>
            <a:endParaRPr>
              <a:latin typeface="Times New Roman"/>
              <a:ea typeface="Times New Roman"/>
              <a:cs typeface="Times New Roman"/>
              <a:sym typeface="Times New Roman"/>
            </a:endParaRPr>
          </a:p>
        </p:txBody>
      </p:sp>
      <p:sp>
        <p:nvSpPr>
          <p:cNvPr id="189" name="Google Shape;189;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a:t> </a:t>
            </a:r>
            <a:endParaRPr/>
          </a:p>
        </p:txBody>
      </p:sp>
      <p:sp>
        <p:nvSpPr>
          <p:cNvPr id="190" name="Google Shape;190;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pic>
        <p:nvPicPr>
          <p:cNvPr id="191" name="Google Shape;191;p31"/>
          <p:cNvPicPr preferRelativeResize="0"/>
          <p:nvPr/>
        </p:nvPicPr>
        <p:blipFill>
          <a:blip r:embed="rId3">
            <a:alphaModFix/>
          </a:blip>
          <a:stretch>
            <a:fillRect/>
          </a:stretch>
        </p:blipFill>
        <p:spPr>
          <a:xfrm>
            <a:off x="2476925" y="1017725"/>
            <a:ext cx="4190150" cy="2489300"/>
          </a:xfrm>
          <a:prstGeom prst="rect">
            <a:avLst/>
          </a:prstGeom>
          <a:noFill/>
          <a:ln>
            <a:noFill/>
          </a:ln>
        </p:spPr>
      </p:pic>
      <p:pic>
        <p:nvPicPr>
          <p:cNvPr id="192" name="Google Shape;192;p31"/>
          <p:cNvPicPr preferRelativeResize="0"/>
          <p:nvPr/>
        </p:nvPicPr>
        <p:blipFill>
          <a:blip r:embed="rId4">
            <a:alphaModFix/>
          </a:blip>
          <a:stretch>
            <a:fillRect/>
          </a:stretch>
        </p:blipFill>
        <p:spPr>
          <a:xfrm>
            <a:off x="1721476" y="3507025"/>
            <a:ext cx="5701024" cy="12505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Solution (cont.)</a:t>
            </a:r>
            <a:endParaRPr>
              <a:latin typeface="Times New Roman"/>
              <a:ea typeface="Times New Roman"/>
              <a:cs typeface="Times New Roman"/>
              <a:sym typeface="Times New Roman"/>
            </a:endParaRPr>
          </a:p>
        </p:txBody>
      </p:sp>
      <p:sp>
        <p:nvSpPr>
          <p:cNvPr id="198" name="Google Shape;198;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a:t> </a:t>
            </a:r>
            <a:endParaRPr/>
          </a:p>
        </p:txBody>
      </p:sp>
      <p:sp>
        <p:nvSpPr>
          <p:cNvPr id="199" name="Google Shape;199;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pic>
        <p:nvPicPr>
          <p:cNvPr id="200" name="Google Shape;200;p32"/>
          <p:cNvPicPr preferRelativeResize="0"/>
          <p:nvPr/>
        </p:nvPicPr>
        <p:blipFill>
          <a:blip r:embed="rId3">
            <a:alphaModFix/>
          </a:blip>
          <a:stretch>
            <a:fillRect/>
          </a:stretch>
        </p:blipFill>
        <p:spPr>
          <a:xfrm>
            <a:off x="2042625" y="892100"/>
            <a:ext cx="5058750" cy="41647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Issue</a:t>
            </a:r>
            <a:endParaRPr>
              <a:latin typeface="Times New Roman"/>
              <a:ea typeface="Times New Roman"/>
              <a:cs typeface="Times New Roman"/>
              <a:sym typeface="Times New Roman"/>
            </a:endParaRPr>
          </a:p>
        </p:txBody>
      </p:sp>
      <p:sp>
        <p:nvSpPr>
          <p:cNvPr id="206" name="Google Shape;206;p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sz="2400">
                <a:solidFill>
                  <a:schemeClr val="dk1"/>
                </a:solidFill>
                <a:latin typeface="Times New Roman"/>
                <a:ea typeface="Times New Roman"/>
                <a:cs typeface="Times New Roman"/>
                <a:sym typeface="Times New Roman"/>
              </a:rPr>
              <a:t>Version 4. (Two-Player Monty) We begin with three identical doors con cealing two goats and one car. There are two players in the game. Each player chooses one of the doors, but does not open it. Each player knows there is another person in the game, but neither knows which door the other player selected. Monty now opens a door according to the following procedure.</a:t>
            </a:r>
            <a:endParaRPr sz="2400">
              <a:solidFill>
                <a:schemeClr val="dk1"/>
              </a:solidFill>
              <a:latin typeface="Times New Roman"/>
              <a:ea typeface="Times New Roman"/>
              <a:cs typeface="Times New Roman"/>
              <a:sym typeface="Times New Roman"/>
            </a:endParaRPr>
          </a:p>
        </p:txBody>
      </p:sp>
      <p:sp>
        <p:nvSpPr>
          <p:cNvPr id="207" name="Google Shape;207;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Issue (cont.)</a:t>
            </a:r>
            <a:endParaRPr>
              <a:latin typeface="Times New Roman"/>
              <a:ea typeface="Times New Roman"/>
              <a:cs typeface="Times New Roman"/>
              <a:sym typeface="Times New Roman"/>
            </a:endParaRPr>
          </a:p>
        </p:txBody>
      </p:sp>
      <p:sp>
        <p:nvSpPr>
          <p:cNvPr id="213" name="Google Shape;213;p3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81000" lvl="0" marL="457200" rtl="0" algn="l">
              <a:spcBef>
                <a:spcPts val="0"/>
              </a:spcBef>
              <a:spcAft>
                <a:spcPts val="0"/>
              </a:spcAft>
              <a:buClr>
                <a:schemeClr val="dk1"/>
              </a:buClr>
              <a:buSzPts val="2400"/>
              <a:buFont typeface="Times New Roman"/>
              <a:buChar char="-"/>
            </a:pPr>
            <a:r>
              <a:rPr lang="zh-TW" sz="2400">
                <a:solidFill>
                  <a:schemeClr val="dk1"/>
                </a:solidFill>
                <a:latin typeface="Times New Roman"/>
                <a:ea typeface="Times New Roman"/>
                <a:cs typeface="Times New Roman"/>
                <a:sym typeface="Times New Roman"/>
              </a:rPr>
              <a:t>If both players selected the same door, then everything proceeds as in the classical game. Monty opens a goat-concealing door, choosing randomly if he has a choice.</a:t>
            </a:r>
            <a:endParaRPr sz="2400">
              <a:solidFill>
                <a:schemeClr val="dk1"/>
              </a:solidFill>
              <a:latin typeface="Times New Roman"/>
              <a:ea typeface="Times New Roman"/>
              <a:cs typeface="Times New Roman"/>
              <a:sym typeface="Times New Roman"/>
            </a:endParaRPr>
          </a:p>
          <a:p>
            <a:pPr indent="-381000" lvl="0" marL="457200" rtl="0" algn="l">
              <a:spcBef>
                <a:spcPts val="0"/>
              </a:spcBef>
              <a:spcAft>
                <a:spcPts val="0"/>
              </a:spcAft>
              <a:buClr>
                <a:schemeClr val="dk1"/>
              </a:buClr>
              <a:buSzPts val="2400"/>
              <a:buFont typeface="Times New Roman"/>
              <a:buChar char="-"/>
            </a:pPr>
            <a:r>
              <a:rPr lang="zh-TW" sz="2400">
                <a:solidFill>
                  <a:schemeClr val="dk1"/>
                </a:solidFill>
                <a:latin typeface="Times New Roman"/>
                <a:ea typeface="Times New Roman"/>
                <a:cs typeface="Times New Roman"/>
                <a:sym typeface="Times New Roman"/>
              </a:rPr>
              <a:t>If the players selected different doors, then Monty opens the one remaining door, regardless of what is behind it. </a:t>
            </a:r>
            <a:endParaRPr sz="2400">
              <a:solidFill>
                <a:schemeClr val="dk1"/>
              </a:solidFill>
              <a:latin typeface="Times New Roman"/>
              <a:ea typeface="Times New Roman"/>
              <a:cs typeface="Times New Roman"/>
              <a:sym typeface="Times New Roman"/>
            </a:endParaRPr>
          </a:p>
        </p:txBody>
      </p:sp>
      <p:sp>
        <p:nvSpPr>
          <p:cNvPr id="214" name="Google Shape;214;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Issue (cont.)</a:t>
            </a:r>
            <a:endParaRPr>
              <a:latin typeface="Times New Roman"/>
              <a:ea typeface="Times New Roman"/>
              <a:cs typeface="Times New Roman"/>
              <a:sym typeface="Times New Roman"/>
            </a:endParaRPr>
          </a:p>
        </p:txBody>
      </p:sp>
      <p:sp>
        <p:nvSpPr>
          <p:cNvPr id="220" name="Google Shape;220;p3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sz="2400">
                <a:solidFill>
                  <a:schemeClr val="dk1"/>
                </a:solidFill>
                <a:latin typeface="Times New Roman"/>
                <a:ea typeface="Times New Roman"/>
                <a:cs typeface="Times New Roman"/>
                <a:sym typeface="Times New Roman"/>
              </a:rPr>
              <a:t>We assume that both players select their initial doors randomly. If you are one of the players and you have just seen Monty open a goat-concealing door, should you switch?</a:t>
            </a:r>
            <a:endParaRPr sz="2400">
              <a:solidFill>
                <a:schemeClr val="dk1"/>
              </a:solidFill>
              <a:latin typeface="Times New Roman"/>
              <a:ea typeface="Times New Roman"/>
              <a:cs typeface="Times New Roman"/>
              <a:sym typeface="Times New Roman"/>
            </a:endParaRPr>
          </a:p>
        </p:txBody>
      </p:sp>
      <p:sp>
        <p:nvSpPr>
          <p:cNvPr id="221" name="Google Shape;221;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Solution</a:t>
            </a:r>
            <a:endParaRPr>
              <a:latin typeface="Times New Roman"/>
              <a:ea typeface="Times New Roman"/>
              <a:cs typeface="Times New Roman"/>
              <a:sym typeface="Times New Roman"/>
            </a:endParaRPr>
          </a:p>
        </p:txBody>
      </p:sp>
      <p:sp>
        <p:nvSpPr>
          <p:cNvPr id="227" name="Google Shape;227;p3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sz="2400">
                <a:solidFill>
                  <a:schemeClr val="dk1"/>
                </a:solidFill>
                <a:latin typeface="Times New Roman"/>
                <a:ea typeface="Times New Roman"/>
                <a:cs typeface="Times New Roman"/>
                <a:sym typeface="Times New Roman"/>
              </a:rPr>
              <a:t>B chooses door 3 &amp; goat is behind door 2: 1/3 * </a:t>
            </a:r>
            <a:r>
              <a:rPr lang="zh-TW" sz="2400">
                <a:solidFill>
                  <a:srgbClr val="FF0000"/>
                </a:solidFill>
                <a:latin typeface="Times New Roman"/>
                <a:ea typeface="Times New Roman"/>
                <a:cs typeface="Times New Roman"/>
                <a:sym typeface="Times New Roman"/>
              </a:rPr>
              <a:t>1</a:t>
            </a:r>
            <a:r>
              <a:rPr lang="zh-TW" sz="2400">
                <a:solidFill>
                  <a:schemeClr val="dk1"/>
                </a:solidFill>
                <a:latin typeface="Times New Roman"/>
                <a:ea typeface="Times New Roman"/>
                <a:cs typeface="Times New Roman"/>
                <a:sym typeface="Times New Roman"/>
              </a:rPr>
              <a:t> * 2/3 = 2/9</a:t>
            </a:r>
            <a:endParaRPr sz="2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zh-TW" sz="2400">
                <a:solidFill>
                  <a:schemeClr val="dk1"/>
                </a:solidFill>
                <a:latin typeface="Times New Roman"/>
                <a:ea typeface="Times New Roman"/>
                <a:cs typeface="Times New Roman"/>
                <a:sym typeface="Times New Roman"/>
              </a:rPr>
              <a:t>B chooses door 1:</a:t>
            </a:r>
            <a:endParaRPr sz="2400">
              <a:solidFill>
                <a:schemeClr val="dk1"/>
              </a:solidFill>
              <a:latin typeface="Times New Roman"/>
              <a:ea typeface="Times New Roman"/>
              <a:cs typeface="Times New Roman"/>
              <a:sym typeface="Times New Roman"/>
            </a:endParaRPr>
          </a:p>
          <a:p>
            <a:pPr indent="-381000" lvl="0" marL="457200" rtl="0" algn="l">
              <a:spcBef>
                <a:spcPts val="1200"/>
              </a:spcBef>
              <a:spcAft>
                <a:spcPts val="0"/>
              </a:spcAft>
              <a:buClr>
                <a:schemeClr val="dk1"/>
              </a:buClr>
              <a:buSzPts val="2400"/>
              <a:buFont typeface="Times New Roman"/>
              <a:buChar char="-"/>
            </a:pPr>
            <a:r>
              <a:rPr lang="zh-TW" sz="2400">
                <a:solidFill>
                  <a:schemeClr val="dk1"/>
                </a:solidFill>
                <a:latin typeface="Times New Roman"/>
                <a:ea typeface="Times New Roman"/>
                <a:cs typeface="Times New Roman"/>
                <a:sym typeface="Times New Roman"/>
              </a:rPr>
              <a:t>Car is behind door 1: 1/3 * </a:t>
            </a:r>
            <a:r>
              <a:rPr lang="zh-TW" sz="2400">
                <a:solidFill>
                  <a:srgbClr val="FF0000"/>
                </a:solidFill>
                <a:latin typeface="Times New Roman"/>
                <a:ea typeface="Times New Roman"/>
                <a:cs typeface="Times New Roman"/>
                <a:sym typeface="Times New Roman"/>
              </a:rPr>
              <a:t>1/2</a:t>
            </a:r>
            <a:r>
              <a:rPr lang="zh-TW" sz="2400">
                <a:solidFill>
                  <a:schemeClr val="dk1"/>
                </a:solidFill>
                <a:latin typeface="Times New Roman"/>
                <a:ea typeface="Times New Roman"/>
                <a:cs typeface="Times New Roman"/>
                <a:sym typeface="Times New Roman"/>
              </a:rPr>
              <a:t> * </a:t>
            </a:r>
            <a:r>
              <a:rPr lang="zh-TW" sz="2400">
                <a:solidFill>
                  <a:schemeClr val="dk1"/>
                </a:solidFill>
                <a:latin typeface="Times New Roman"/>
                <a:ea typeface="Times New Roman"/>
                <a:cs typeface="Times New Roman"/>
                <a:sym typeface="Times New Roman"/>
              </a:rPr>
              <a:t>1/3</a:t>
            </a:r>
            <a:r>
              <a:rPr lang="zh-TW" sz="2400">
                <a:solidFill>
                  <a:schemeClr val="dk1"/>
                </a:solidFill>
                <a:latin typeface="Times New Roman"/>
                <a:ea typeface="Times New Roman"/>
                <a:cs typeface="Times New Roman"/>
                <a:sym typeface="Times New Roman"/>
              </a:rPr>
              <a:t> = 1/18</a:t>
            </a:r>
            <a:endParaRPr sz="2400">
              <a:solidFill>
                <a:schemeClr val="dk1"/>
              </a:solidFill>
              <a:latin typeface="Times New Roman"/>
              <a:ea typeface="Times New Roman"/>
              <a:cs typeface="Times New Roman"/>
              <a:sym typeface="Times New Roman"/>
            </a:endParaRPr>
          </a:p>
          <a:p>
            <a:pPr indent="-381000" lvl="0" marL="457200" rtl="0" algn="l">
              <a:spcBef>
                <a:spcPts val="0"/>
              </a:spcBef>
              <a:spcAft>
                <a:spcPts val="0"/>
              </a:spcAft>
              <a:buClr>
                <a:schemeClr val="dk1"/>
              </a:buClr>
              <a:buSzPts val="2400"/>
              <a:buFont typeface="Times New Roman"/>
              <a:buChar char="-"/>
            </a:pPr>
            <a:r>
              <a:rPr lang="zh-TW" sz="2400">
                <a:solidFill>
                  <a:schemeClr val="dk1"/>
                </a:solidFill>
                <a:latin typeface="Times New Roman"/>
                <a:ea typeface="Times New Roman"/>
                <a:cs typeface="Times New Roman"/>
                <a:sym typeface="Times New Roman"/>
              </a:rPr>
              <a:t>Car is behind door 3: 1/3 * </a:t>
            </a:r>
            <a:r>
              <a:rPr lang="zh-TW" sz="2400">
                <a:solidFill>
                  <a:srgbClr val="FF0000"/>
                </a:solidFill>
                <a:latin typeface="Times New Roman"/>
                <a:ea typeface="Times New Roman"/>
                <a:cs typeface="Times New Roman"/>
                <a:sym typeface="Times New Roman"/>
              </a:rPr>
              <a:t>1</a:t>
            </a:r>
            <a:r>
              <a:rPr lang="zh-TW" sz="2400">
                <a:solidFill>
                  <a:schemeClr val="dk1"/>
                </a:solidFill>
                <a:latin typeface="Times New Roman"/>
                <a:ea typeface="Times New Roman"/>
                <a:cs typeface="Times New Roman"/>
                <a:sym typeface="Times New Roman"/>
              </a:rPr>
              <a:t> * 1/3 = 1/9</a:t>
            </a:r>
            <a:endParaRPr sz="2400">
              <a:solidFill>
                <a:schemeClr val="dk1"/>
              </a:solidFill>
              <a:latin typeface="Times New Roman"/>
              <a:ea typeface="Times New Roman"/>
              <a:cs typeface="Times New Roman"/>
              <a:sym typeface="Times New Roman"/>
            </a:endParaRPr>
          </a:p>
        </p:txBody>
      </p:sp>
      <p:sp>
        <p:nvSpPr>
          <p:cNvPr id="228" name="Google Shape;228;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Solution (cont.)</a:t>
            </a:r>
            <a:endParaRPr>
              <a:latin typeface="Times New Roman"/>
              <a:ea typeface="Times New Roman"/>
              <a:cs typeface="Times New Roman"/>
              <a:sym typeface="Times New Roman"/>
            </a:endParaRPr>
          </a:p>
        </p:txBody>
      </p:sp>
      <p:sp>
        <p:nvSpPr>
          <p:cNvPr id="234" name="Google Shape;234;p3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sz="2400">
                <a:solidFill>
                  <a:schemeClr val="dk1"/>
                </a:solidFill>
                <a:latin typeface="Times New Roman"/>
                <a:ea typeface="Times New Roman"/>
                <a:cs typeface="Times New Roman"/>
                <a:sym typeface="Times New Roman"/>
              </a:rPr>
              <a:t>B’s choice</a:t>
            </a:r>
            <a:endParaRPr sz="2400">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rPr lang="zh-TW" sz="2400">
                <a:solidFill>
                  <a:schemeClr val="dk1"/>
                </a:solidFill>
                <a:latin typeface="Times New Roman"/>
                <a:ea typeface="Times New Roman"/>
                <a:cs typeface="Times New Roman"/>
                <a:sym typeface="Times New Roman"/>
              </a:rPr>
              <a:t>	door 1 : door 3 = 4 : 3</a:t>
            </a:r>
            <a:endParaRPr sz="2400">
              <a:solidFill>
                <a:schemeClr val="dk1"/>
              </a:solidFill>
              <a:latin typeface="Times New Roman"/>
              <a:ea typeface="Times New Roman"/>
              <a:cs typeface="Times New Roman"/>
              <a:sym typeface="Times New Roman"/>
            </a:endParaRPr>
          </a:p>
        </p:txBody>
      </p:sp>
      <p:sp>
        <p:nvSpPr>
          <p:cNvPr id="235" name="Google Shape;235;p3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Solution (cont.)</a:t>
            </a:r>
            <a:endParaRPr>
              <a:latin typeface="Times New Roman"/>
              <a:ea typeface="Times New Roman"/>
              <a:cs typeface="Times New Roman"/>
              <a:sym typeface="Times New Roman"/>
            </a:endParaRPr>
          </a:p>
        </p:txBody>
      </p:sp>
      <p:sp>
        <p:nvSpPr>
          <p:cNvPr id="241" name="Google Shape;241;p3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a:t> </a:t>
            </a:r>
            <a:endParaRPr/>
          </a:p>
        </p:txBody>
      </p:sp>
      <p:sp>
        <p:nvSpPr>
          <p:cNvPr id="242" name="Google Shape;242;p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pic>
        <p:nvPicPr>
          <p:cNvPr id="243" name="Google Shape;243;p38"/>
          <p:cNvPicPr preferRelativeResize="0"/>
          <p:nvPr/>
        </p:nvPicPr>
        <p:blipFill>
          <a:blip r:embed="rId3">
            <a:alphaModFix/>
          </a:blip>
          <a:stretch>
            <a:fillRect/>
          </a:stretch>
        </p:blipFill>
        <p:spPr>
          <a:xfrm>
            <a:off x="311700" y="1152465"/>
            <a:ext cx="8832299" cy="1714560"/>
          </a:xfrm>
          <a:prstGeom prst="rect">
            <a:avLst/>
          </a:prstGeom>
          <a:noFill/>
          <a:ln>
            <a:noFill/>
          </a:ln>
        </p:spPr>
      </p:pic>
      <p:pic>
        <p:nvPicPr>
          <p:cNvPr id="244" name="Google Shape;244;p38"/>
          <p:cNvPicPr preferRelativeResize="0"/>
          <p:nvPr/>
        </p:nvPicPr>
        <p:blipFill>
          <a:blip r:embed="rId4">
            <a:alphaModFix/>
          </a:blip>
          <a:stretch>
            <a:fillRect/>
          </a:stretch>
        </p:blipFill>
        <p:spPr>
          <a:xfrm>
            <a:off x="3314700" y="3001775"/>
            <a:ext cx="2514600" cy="723900"/>
          </a:xfrm>
          <a:prstGeom prst="rect">
            <a:avLst/>
          </a:prstGeom>
          <a:noFill/>
          <a:ln>
            <a:noFill/>
          </a:ln>
        </p:spPr>
      </p:pic>
      <p:pic>
        <p:nvPicPr>
          <p:cNvPr id="245" name="Google Shape;245;p38"/>
          <p:cNvPicPr preferRelativeResize="0"/>
          <p:nvPr/>
        </p:nvPicPr>
        <p:blipFill>
          <a:blip r:embed="rId5">
            <a:alphaModFix/>
          </a:blip>
          <a:stretch>
            <a:fillRect/>
          </a:stretch>
        </p:blipFill>
        <p:spPr>
          <a:xfrm>
            <a:off x="2918100" y="3860413"/>
            <a:ext cx="3619500" cy="7334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Solution (cont.)</a:t>
            </a:r>
            <a:endParaRPr>
              <a:latin typeface="Times New Roman"/>
              <a:ea typeface="Times New Roman"/>
              <a:cs typeface="Times New Roman"/>
              <a:sym typeface="Times New Roman"/>
            </a:endParaRPr>
          </a:p>
        </p:txBody>
      </p:sp>
      <p:sp>
        <p:nvSpPr>
          <p:cNvPr id="251" name="Google Shape;251;p3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sz="2400">
                <a:solidFill>
                  <a:schemeClr val="dk1"/>
                </a:solidFill>
                <a:latin typeface="Times New Roman"/>
                <a:ea typeface="Times New Roman"/>
                <a:cs typeface="Times New Roman"/>
                <a:sym typeface="Times New Roman"/>
              </a:rPr>
              <a:t>Switching is a better choice.</a:t>
            </a:r>
            <a:endParaRPr sz="2400">
              <a:solidFill>
                <a:schemeClr val="dk1"/>
              </a:solidFill>
              <a:latin typeface="Times New Roman"/>
              <a:ea typeface="Times New Roman"/>
              <a:cs typeface="Times New Roman"/>
              <a:sym typeface="Times New Roman"/>
            </a:endParaRPr>
          </a:p>
        </p:txBody>
      </p:sp>
      <p:sp>
        <p:nvSpPr>
          <p:cNvPr id="252" name="Google Shape;252;p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Issue</a:t>
            </a:r>
            <a:endParaRPr>
              <a:latin typeface="Times New Roman"/>
              <a:ea typeface="Times New Roman"/>
              <a:cs typeface="Times New Roman"/>
              <a:sym typeface="Times New Roman"/>
            </a:endParaRPr>
          </a:p>
        </p:txBody>
      </p:sp>
      <p:sp>
        <p:nvSpPr>
          <p:cNvPr id="258" name="Google Shape;258;p4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zh-TW" sz="2400">
                <a:solidFill>
                  <a:schemeClr val="dk1"/>
                </a:solidFill>
                <a:latin typeface="Times New Roman"/>
                <a:ea typeface="Times New Roman"/>
                <a:cs typeface="Times New Roman"/>
                <a:sym typeface="Times New Roman"/>
              </a:rPr>
              <a:t>Version 5. (Progressive Monty) This time there are n identical doors, concealing one car and n - 1 goats. The player chooses a door, but does not open it. Monty now opens a goat-concealing door, choosing randomly from among his options. The player is now given the choice of sticking or switching. The player makes his choice, but again does not open his chosen door. Monty opens another goat-concealing door. </a:t>
            </a:r>
            <a:endParaRPr sz="2400">
              <a:solidFill>
                <a:schemeClr val="dk1"/>
              </a:solidFill>
              <a:latin typeface="Times New Roman"/>
              <a:ea typeface="Times New Roman"/>
              <a:cs typeface="Times New Roman"/>
              <a:sym typeface="Times New Roman"/>
            </a:endParaRPr>
          </a:p>
        </p:txBody>
      </p:sp>
      <p:sp>
        <p:nvSpPr>
          <p:cNvPr id="259" name="Google Shape;259;p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Issue (cont.)</a:t>
            </a:r>
            <a:endParaRPr>
              <a:latin typeface="Times New Roman"/>
              <a:ea typeface="Times New Roman"/>
              <a:cs typeface="Times New Roman"/>
              <a:sym typeface="Times New Roman"/>
            </a:endParaRPr>
          </a:p>
        </p:txBody>
      </p:sp>
      <p:sp>
        <p:nvSpPr>
          <p:cNvPr id="265" name="Google Shape;265;p4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Clr>
                <a:schemeClr val="dk1"/>
              </a:buClr>
              <a:buSzPts val="1100"/>
              <a:buFont typeface="Arial"/>
              <a:buNone/>
            </a:pPr>
            <a:r>
              <a:rPr lang="zh-TW" sz="2400">
                <a:solidFill>
                  <a:schemeClr val="dk1"/>
                </a:solidFill>
                <a:latin typeface="Times New Roman"/>
                <a:ea typeface="Times New Roman"/>
                <a:cs typeface="Times New Roman"/>
                <a:sym typeface="Times New Roman"/>
              </a:rPr>
              <a:t>The player is again given the opportunity to stick or switch. This continues until Monty has opened n - 2 doors. The player makes his final selection, and wins whatever is be hind his door. What strategy will maximize his chances of winning the car? </a:t>
            </a:r>
            <a:endParaRPr/>
          </a:p>
        </p:txBody>
      </p:sp>
      <p:sp>
        <p:nvSpPr>
          <p:cNvPr id="266" name="Google Shape;266;p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Solution</a:t>
            </a:r>
            <a:endParaRPr>
              <a:latin typeface="Times New Roman"/>
              <a:ea typeface="Times New Roman"/>
              <a:cs typeface="Times New Roman"/>
              <a:sym typeface="Times New Roman"/>
            </a:endParaRPr>
          </a:p>
        </p:txBody>
      </p:sp>
      <p:sp>
        <p:nvSpPr>
          <p:cNvPr id="272" name="Google Shape;272;p4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sz="2400">
                <a:solidFill>
                  <a:schemeClr val="dk1"/>
                </a:solidFill>
                <a:latin typeface="Times New Roman"/>
                <a:ea typeface="Times New Roman"/>
                <a:cs typeface="Times New Roman"/>
                <a:sym typeface="Times New Roman"/>
              </a:rPr>
              <a:t>　</a:t>
            </a:r>
            <a:endParaRPr sz="2400">
              <a:solidFill>
                <a:schemeClr val="dk1"/>
              </a:solidFill>
              <a:latin typeface="Times New Roman"/>
              <a:ea typeface="Times New Roman"/>
              <a:cs typeface="Times New Roman"/>
              <a:sym typeface="Times New Roman"/>
            </a:endParaRPr>
          </a:p>
        </p:txBody>
      </p:sp>
      <p:sp>
        <p:nvSpPr>
          <p:cNvPr id="273" name="Google Shape;273;p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pic>
        <p:nvPicPr>
          <p:cNvPr id="274" name="Google Shape;274;p42"/>
          <p:cNvPicPr preferRelativeResize="0"/>
          <p:nvPr/>
        </p:nvPicPr>
        <p:blipFill>
          <a:blip r:embed="rId3">
            <a:alphaModFix/>
          </a:blip>
          <a:stretch>
            <a:fillRect/>
          </a:stretch>
        </p:blipFill>
        <p:spPr>
          <a:xfrm>
            <a:off x="3078725" y="2571775"/>
            <a:ext cx="2986550" cy="1230650"/>
          </a:xfrm>
          <a:prstGeom prst="rect">
            <a:avLst/>
          </a:prstGeom>
          <a:noFill/>
          <a:ln>
            <a:noFill/>
          </a:ln>
        </p:spPr>
      </p:pic>
      <p:sp>
        <p:nvSpPr>
          <p:cNvPr id="275" name="Google Shape;275;p42"/>
          <p:cNvSpPr txBox="1"/>
          <p:nvPr/>
        </p:nvSpPr>
        <p:spPr>
          <a:xfrm>
            <a:off x="2934600" y="1517688"/>
            <a:ext cx="3274800" cy="5541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Clr>
                <a:schemeClr val="dk1"/>
              </a:buClr>
              <a:buSzPts val="1100"/>
              <a:buFont typeface="Arial"/>
              <a:buNone/>
            </a:pPr>
            <a:r>
              <a:rPr lang="zh-TW" sz="2400">
                <a:solidFill>
                  <a:schemeClr val="accent4"/>
                </a:solidFill>
                <a:latin typeface="Times New Roman"/>
                <a:ea typeface="Times New Roman"/>
                <a:cs typeface="Times New Roman"/>
                <a:sym typeface="Times New Roman"/>
              </a:rPr>
              <a:t>１</a:t>
            </a:r>
            <a:r>
              <a:rPr lang="zh-TW" sz="2400">
                <a:solidFill>
                  <a:schemeClr val="dk1"/>
                </a:solidFill>
                <a:latin typeface="Times New Roman"/>
                <a:ea typeface="Times New Roman"/>
                <a:cs typeface="Times New Roman"/>
                <a:sym typeface="Times New Roman"/>
              </a:rPr>
              <a:t>　</a:t>
            </a:r>
            <a:r>
              <a:rPr lang="zh-TW" sz="2400">
                <a:solidFill>
                  <a:schemeClr val="accent1"/>
                </a:solidFill>
                <a:latin typeface="Times New Roman"/>
                <a:ea typeface="Times New Roman"/>
                <a:cs typeface="Times New Roman"/>
                <a:sym typeface="Times New Roman"/>
              </a:rPr>
              <a:t>２</a:t>
            </a:r>
            <a:r>
              <a:rPr lang="zh-TW" sz="2400">
                <a:solidFill>
                  <a:schemeClr val="dk1"/>
                </a:solidFill>
                <a:latin typeface="Times New Roman"/>
                <a:ea typeface="Times New Roman"/>
                <a:cs typeface="Times New Roman"/>
                <a:sym typeface="Times New Roman"/>
              </a:rPr>
              <a:t>　３　４　５</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Solution (cont.)</a:t>
            </a:r>
            <a:endParaRPr>
              <a:latin typeface="Times New Roman"/>
              <a:ea typeface="Times New Roman"/>
              <a:cs typeface="Times New Roman"/>
              <a:sym typeface="Times New Roman"/>
            </a:endParaRPr>
          </a:p>
        </p:txBody>
      </p:sp>
      <p:sp>
        <p:nvSpPr>
          <p:cNvPr id="281" name="Google Shape;281;p4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a:t>　</a:t>
            </a:r>
            <a:endParaRPr/>
          </a:p>
        </p:txBody>
      </p:sp>
      <p:sp>
        <p:nvSpPr>
          <p:cNvPr id="282" name="Google Shape;282;p4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pic>
        <p:nvPicPr>
          <p:cNvPr id="283" name="Google Shape;283;p43"/>
          <p:cNvPicPr preferRelativeResize="0"/>
          <p:nvPr/>
        </p:nvPicPr>
        <p:blipFill>
          <a:blip r:embed="rId3">
            <a:alphaModFix/>
          </a:blip>
          <a:stretch>
            <a:fillRect/>
          </a:stretch>
        </p:blipFill>
        <p:spPr>
          <a:xfrm>
            <a:off x="898800" y="1936702"/>
            <a:ext cx="7346400" cy="1847937"/>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Solution (cont.)</a:t>
            </a:r>
            <a:endParaRPr>
              <a:latin typeface="Times New Roman"/>
              <a:ea typeface="Times New Roman"/>
              <a:cs typeface="Times New Roman"/>
              <a:sym typeface="Times New Roman"/>
            </a:endParaRPr>
          </a:p>
        </p:txBody>
      </p:sp>
      <p:sp>
        <p:nvSpPr>
          <p:cNvPr id="289" name="Google Shape;289;p4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a:t>　</a:t>
            </a:r>
            <a:endParaRPr/>
          </a:p>
        </p:txBody>
      </p:sp>
      <p:sp>
        <p:nvSpPr>
          <p:cNvPr id="290" name="Google Shape;290;p4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
        <p:nvSpPr>
          <p:cNvPr id="291" name="Google Shape;291;p44"/>
          <p:cNvSpPr txBox="1"/>
          <p:nvPr/>
        </p:nvSpPr>
        <p:spPr>
          <a:xfrm>
            <a:off x="2934600" y="1517688"/>
            <a:ext cx="3274800" cy="5541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zh-TW" sz="2400">
                <a:solidFill>
                  <a:schemeClr val="accent4"/>
                </a:solidFill>
                <a:latin typeface="Times New Roman"/>
                <a:ea typeface="Times New Roman"/>
                <a:cs typeface="Times New Roman"/>
                <a:sym typeface="Times New Roman"/>
              </a:rPr>
              <a:t>１</a:t>
            </a:r>
            <a:r>
              <a:rPr lang="zh-TW" sz="2400">
                <a:solidFill>
                  <a:schemeClr val="dk1"/>
                </a:solidFill>
                <a:latin typeface="Times New Roman"/>
                <a:ea typeface="Times New Roman"/>
                <a:cs typeface="Times New Roman"/>
                <a:sym typeface="Times New Roman"/>
              </a:rPr>
              <a:t>　</a:t>
            </a:r>
            <a:r>
              <a:rPr lang="zh-TW" sz="2400">
                <a:solidFill>
                  <a:schemeClr val="accent1"/>
                </a:solidFill>
                <a:latin typeface="Times New Roman"/>
                <a:ea typeface="Times New Roman"/>
                <a:cs typeface="Times New Roman"/>
                <a:sym typeface="Times New Roman"/>
              </a:rPr>
              <a:t>Ｘ</a:t>
            </a:r>
            <a:r>
              <a:rPr lang="zh-TW" sz="2400">
                <a:solidFill>
                  <a:schemeClr val="dk1"/>
                </a:solidFill>
                <a:latin typeface="Times New Roman"/>
                <a:ea typeface="Times New Roman"/>
                <a:cs typeface="Times New Roman"/>
                <a:sym typeface="Times New Roman"/>
              </a:rPr>
              <a:t>　３　４　５</a:t>
            </a:r>
            <a:endParaRPr sz="2400">
              <a:solidFill>
                <a:schemeClr val="dk1"/>
              </a:solidFill>
              <a:latin typeface="Times New Roman"/>
              <a:ea typeface="Times New Roman"/>
              <a:cs typeface="Times New Roman"/>
              <a:sym typeface="Times New Roman"/>
            </a:endParaRPr>
          </a:p>
        </p:txBody>
      </p:sp>
      <p:pic>
        <p:nvPicPr>
          <p:cNvPr id="292" name="Google Shape;292;p44"/>
          <p:cNvPicPr preferRelativeResize="0"/>
          <p:nvPr/>
        </p:nvPicPr>
        <p:blipFill>
          <a:blip r:embed="rId3">
            <a:alphaModFix/>
          </a:blip>
          <a:stretch>
            <a:fillRect/>
          </a:stretch>
        </p:blipFill>
        <p:spPr>
          <a:xfrm>
            <a:off x="2934600" y="2571775"/>
            <a:ext cx="3274800" cy="1043299"/>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Solution (cont.)</a:t>
            </a:r>
            <a:endParaRPr>
              <a:latin typeface="Times New Roman"/>
              <a:ea typeface="Times New Roman"/>
              <a:cs typeface="Times New Roman"/>
              <a:sym typeface="Times New Roman"/>
            </a:endParaRPr>
          </a:p>
        </p:txBody>
      </p:sp>
      <p:sp>
        <p:nvSpPr>
          <p:cNvPr id="298" name="Google Shape;298;p4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a:t>　</a:t>
            </a:r>
            <a:endParaRPr/>
          </a:p>
        </p:txBody>
      </p:sp>
      <p:sp>
        <p:nvSpPr>
          <p:cNvPr id="299" name="Google Shape;299;p4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
        <p:nvSpPr>
          <p:cNvPr id="300" name="Google Shape;300;p45"/>
          <p:cNvSpPr txBox="1"/>
          <p:nvPr/>
        </p:nvSpPr>
        <p:spPr>
          <a:xfrm>
            <a:off x="2934600" y="1517688"/>
            <a:ext cx="3274800" cy="5541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zh-TW" sz="2400">
                <a:solidFill>
                  <a:schemeClr val="dk1"/>
                </a:solidFill>
                <a:latin typeface="Times New Roman"/>
                <a:ea typeface="Times New Roman"/>
                <a:cs typeface="Times New Roman"/>
                <a:sym typeface="Times New Roman"/>
              </a:rPr>
              <a:t>１　Ｘ　</a:t>
            </a:r>
            <a:r>
              <a:rPr lang="zh-TW" sz="2400">
                <a:solidFill>
                  <a:schemeClr val="accent4"/>
                </a:solidFill>
                <a:latin typeface="Times New Roman"/>
                <a:ea typeface="Times New Roman"/>
                <a:cs typeface="Times New Roman"/>
                <a:sym typeface="Times New Roman"/>
              </a:rPr>
              <a:t>３</a:t>
            </a:r>
            <a:r>
              <a:rPr lang="zh-TW" sz="2400">
                <a:solidFill>
                  <a:schemeClr val="dk1"/>
                </a:solidFill>
                <a:latin typeface="Times New Roman"/>
                <a:ea typeface="Times New Roman"/>
                <a:cs typeface="Times New Roman"/>
                <a:sym typeface="Times New Roman"/>
              </a:rPr>
              <a:t>　４　</a:t>
            </a:r>
            <a:r>
              <a:rPr lang="zh-TW" sz="2400">
                <a:solidFill>
                  <a:schemeClr val="accent1"/>
                </a:solidFill>
                <a:latin typeface="Times New Roman"/>
                <a:ea typeface="Times New Roman"/>
                <a:cs typeface="Times New Roman"/>
                <a:sym typeface="Times New Roman"/>
              </a:rPr>
              <a:t>５</a:t>
            </a:r>
            <a:endParaRPr sz="2400">
              <a:solidFill>
                <a:schemeClr val="accent1"/>
              </a:solidFill>
              <a:latin typeface="Times New Roman"/>
              <a:ea typeface="Times New Roman"/>
              <a:cs typeface="Times New Roman"/>
              <a:sym typeface="Times New Roman"/>
            </a:endParaRPr>
          </a:p>
        </p:txBody>
      </p:sp>
      <p:pic>
        <p:nvPicPr>
          <p:cNvPr id="301" name="Google Shape;301;p45"/>
          <p:cNvPicPr preferRelativeResize="0"/>
          <p:nvPr/>
        </p:nvPicPr>
        <p:blipFill>
          <a:blip r:embed="rId3">
            <a:alphaModFix/>
          </a:blip>
          <a:stretch>
            <a:fillRect/>
          </a:stretch>
        </p:blipFill>
        <p:spPr>
          <a:xfrm>
            <a:off x="2934600" y="2571775"/>
            <a:ext cx="3274800" cy="1043299"/>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Solution (cont.)</a:t>
            </a:r>
            <a:endParaRPr>
              <a:latin typeface="Times New Roman"/>
              <a:ea typeface="Times New Roman"/>
              <a:cs typeface="Times New Roman"/>
              <a:sym typeface="Times New Roman"/>
            </a:endParaRPr>
          </a:p>
        </p:txBody>
      </p:sp>
      <p:sp>
        <p:nvSpPr>
          <p:cNvPr id="307" name="Google Shape;307;p4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a:t>　</a:t>
            </a:r>
            <a:endParaRPr/>
          </a:p>
        </p:txBody>
      </p:sp>
      <p:sp>
        <p:nvSpPr>
          <p:cNvPr id="308" name="Google Shape;308;p4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pic>
        <p:nvPicPr>
          <p:cNvPr id="309" name="Google Shape;309;p46"/>
          <p:cNvPicPr preferRelativeResize="0"/>
          <p:nvPr/>
        </p:nvPicPr>
        <p:blipFill>
          <a:blip r:embed="rId3">
            <a:alphaModFix/>
          </a:blip>
          <a:stretch>
            <a:fillRect/>
          </a:stretch>
        </p:blipFill>
        <p:spPr>
          <a:xfrm>
            <a:off x="1909800" y="1479494"/>
            <a:ext cx="5324400" cy="276237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Solution (cont.)</a:t>
            </a:r>
            <a:endParaRPr>
              <a:latin typeface="Times New Roman"/>
              <a:ea typeface="Times New Roman"/>
              <a:cs typeface="Times New Roman"/>
              <a:sym typeface="Times New Roman"/>
            </a:endParaRPr>
          </a:p>
        </p:txBody>
      </p:sp>
      <p:sp>
        <p:nvSpPr>
          <p:cNvPr id="315" name="Google Shape;315;p4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a:t>　</a:t>
            </a:r>
            <a:endParaRPr/>
          </a:p>
        </p:txBody>
      </p:sp>
      <p:sp>
        <p:nvSpPr>
          <p:cNvPr id="316" name="Google Shape;316;p4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pic>
        <p:nvPicPr>
          <p:cNvPr id="317" name="Google Shape;317;p47"/>
          <p:cNvPicPr preferRelativeResize="0"/>
          <p:nvPr/>
        </p:nvPicPr>
        <p:blipFill>
          <a:blip r:embed="rId3">
            <a:alphaModFix/>
          </a:blip>
          <a:stretch>
            <a:fillRect/>
          </a:stretch>
        </p:blipFill>
        <p:spPr>
          <a:xfrm>
            <a:off x="491625" y="2351751"/>
            <a:ext cx="8160750" cy="97745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4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Solution (cont.)</a:t>
            </a:r>
            <a:endParaRPr>
              <a:latin typeface="Times New Roman"/>
              <a:ea typeface="Times New Roman"/>
              <a:cs typeface="Times New Roman"/>
              <a:sym typeface="Times New Roman"/>
            </a:endParaRPr>
          </a:p>
        </p:txBody>
      </p:sp>
      <p:sp>
        <p:nvSpPr>
          <p:cNvPr id="323" name="Google Shape;323;p4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a:t>　</a:t>
            </a:r>
            <a:endParaRPr/>
          </a:p>
        </p:txBody>
      </p:sp>
      <p:sp>
        <p:nvSpPr>
          <p:cNvPr id="324" name="Google Shape;324;p4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
        <p:nvSpPr>
          <p:cNvPr id="325" name="Google Shape;325;p48"/>
          <p:cNvSpPr txBox="1"/>
          <p:nvPr/>
        </p:nvSpPr>
        <p:spPr>
          <a:xfrm>
            <a:off x="2934600" y="1517688"/>
            <a:ext cx="3274800" cy="5541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zh-TW" sz="2400">
                <a:solidFill>
                  <a:schemeClr val="dk1"/>
                </a:solidFill>
                <a:latin typeface="Times New Roman"/>
                <a:ea typeface="Times New Roman"/>
                <a:cs typeface="Times New Roman"/>
                <a:sym typeface="Times New Roman"/>
              </a:rPr>
              <a:t>１　Ｘ　</a:t>
            </a:r>
            <a:r>
              <a:rPr lang="zh-TW" sz="2400">
                <a:solidFill>
                  <a:schemeClr val="accent4"/>
                </a:solidFill>
                <a:latin typeface="Times New Roman"/>
                <a:ea typeface="Times New Roman"/>
                <a:cs typeface="Times New Roman"/>
                <a:sym typeface="Times New Roman"/>
              </a:rPr>
              <a:t>３</a:t>
            </a:r>
            <a:r>
              <a:rPr lang="zh-TW" sz="2400">
                <a:solidFill>
                  <a:schemeClr val="dk1"/>
                </a:solidFill>
                <a:latin typeface="Times New Roman"/>
                <a:ea typeface="Times New Roman"/>
                <a:cs typeface="Times New Roman"/>
                <a:sym typeface="Times New Roman"/>
              </a:rPr>
              <a:t>　４　</a:t>
            </a:r>
            <a:r>
              <a:rPr lang="zh-TW" sz="2400">
                <a:solidFill>
                  <a:schemeClr val="accent1"/>
                </a:solidFill>
                <a:latin typeface="Times New Roman"/>
                <a:ea typeface="Times New Roman"/>
                <a:cs typeface="Times New Roman"/>
                <a:sym typeface="Times New Roman"/>
              </a:rPr>
              <a:t>Ｘ</a:t>
            </a:r>
            <a:endParaRPr sz="2400">
              <a:solidFill>
                <a:schemeClr val="accent1"/>
              </a:solidFill>
              <a:latin typeface="Times New Roman"/>
              <a:ea typeface="Times New Roman"/>
              <a:cs typeface="Times New Roman"/>
              <a:sym typeface="Times New Roman"/>
            </a:endParaRPr>
          </a:p>
        </p:txBody>
      </p:sp>
      <p:pic>
        <p:nvPicPr>
          <p:cNvPr id="326" name="Google Shape;326;p48"/>
          <p:cNvPicPr preferRelativeResize="0"/>
          <p:nvPr/>
        </p:nvPicPr>
        <p:blipFill>
          <a:blip r:embed="rId3">
            <a:alphaModFix/>
          </a:blip>
          <a:stretch>
            <a:fillRect/>
          </a:stretch>
        </p:blipFill>
        <p:spPr>
          <a:xfrm>
            <a:off x="3022251" y="2571775"/>
            <a:ext cx="3099475" cy="109715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4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Solution (cont.)</a:t>
            </a:r>
            <a:endParaRPr>
              <a:latin typeface="Times New Roman"/>
              <a:ea typeface="Times New Roman"/>
              <a:cs typeface="Times New Roman"/>
              <a:sym typeface="Times New Roman"/>
            </a:endParaRPr>
          </a:p>
        </p:txBody>
      </p:sp>
      <p:sp>
        <p:nvSpPr>
          <p:cNvPr id="332" name="Google Shape;332;p4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a:t>　</a:t>
            </a:r>
            <a:endParaRPr/>
          </a:p>
        </p:txBody>
      </p:sp>
      <p:sp>
        <p:nvSpPr>
          <p:cNvPr id="333" name="Google Shape;333;p4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
        <p:nvSpPr>
          <p:cNvPr id="334" name="Google Shape;334;p49"/>
          <p:cNvSpPr txBox="1"/>
          <p:nvPr/>
        </p:nvSpPr>
        <p:spPr>
          <a:xfrm>
            <a:off x="2934600" y="1517688"/>
            <a:ext cx="3274800" cy="5541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zh-TW" sz="2400">
                <a:solidFill>
                  <a:schemeClr val="accent1"/>
                </a:solidFill>
                <a:latin typeface="Times New Roman"/>
                <a:ea typeface="Times New Roman"/>
                <a:cs typeface="Times New Roman"/>
                <a:sym typeface="Times New Roman"/>
              </a:rPr>
              <a:t>１</a:t>
            </a:r>
            <a:r>
              <a:rPr lang="zh-TW" sz="2400">
                <a:solidFill>
                  <a:schemeClr val="dk1"/>
                </a:solidFill>
                <a:latin typeface="Times New Roman"/>
                <a:ea typeface="Times New Roman"/>
                <a:cs typeface="Times New Roman"/>
                <a:sym typeface="Times New Roman"/>
              </a:rPr>
              <a:t>　Ｘ　</a:t>
            </a:r>
            <a:r>
              <a:rPr lang="zh-TW" sz="2400">
                <a:solidFill>
                  <a:schemeClr val="accent4"/>
                </a:solidFill>
                <a:latin typeface="Times New Roman"/>
                <a:ea typeface="Times New Roman"/>
                <a:cs typeface="Times New Roman"/>
                <a:sym typeface="Times New Roman"/>
              </a:rPr>
              <a:t>３</a:t>
            </a:r>
            <a:r>
              <a:rPr lang="zh-TW" sz="2400">
                <a:solidFill>
                  <a:schemeClr val="dk1"/>
                </a:solidFill>
                <a:latin typeface="Times New Roman"/>
                <a:ea typeface="Times New Roman"/>
                <a:cs typeface="Times New Roman"/>
                <a:sym typeface="Times New Roman"/>
              </a:rPr>
              <a:t>　４　５</a:t>
            </a:r>
            <a:endParaRPr sz="2400">
              <a:solidFill>
                <a:schemeClr val="dk1"/>
              </a:solidFill>
              <a:latin typeface="Times New Roman"/>
              <a:ea typeface="Times New Roman"/>
              <a:cs typeface="Times New Roman"/>
              <a:sym typeface="Times New Roman"/>
            </a:endParaRPr>
          </a:p>
        </p:txBody>
      </p:sp>
      <p:pic>
        <p:nvPicPr>
          <p:cNvPr id="335" name="Google Shape;335;p49"/>
          <p:cNvPicPr preferRelativeResize="0"/>
          <p:nvPr/>
        </p:nvPicPr>
        <p:blipFill>
          <a:blip r:embed="rId3">
            <a:alphaModFix/>
          </a:blip>
          <a:stretch>
            <a:fillRect/>
          </a:stretch>
        </p:blipFill>
        <p:spPr>
          <a:xfrm>
            <a:off x="2934600" y="2571775"/>
            <a:ext cx="3274800" cy="1043299"/>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5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Solution (cont.)</a:t>
            </a:r>
            <a:endParaRPr>
              <a:latin typeface="Times New Roman"/>
              <a:ea typeface="Times New Roman"/>
              <a:cs typeface="Times New Roman"/>
              <a:sym typeface="Times New Roman"/>
            </a:endParaRPr>
          </a:p>
        </p:txBody>
      </p:sp>
      <p:sp>
        <p:nvSpPr>
          <p:cNvPr id="341" name="Google Shape;341;p5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a:t>　</a:t>
            </a:r>
            <a:endParaRPr/>
          </a:p>
        </p:txBody>
      </p:sp>
      <p:sp>
        <p:nvSpPr>
          <p:cNvPr id="342" name="Google Shape;342;p5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
        <p:nvSpPr>
          <p:cNvPr id="343" name="Google Shape;343;p50"/>
          <p:cNvSpPr txBox="1"/>
          <p:nvPr/>
        </p:nvSpPr>
        <p:spPr>
          <a:xfrm>
            <a:off x="2934600" y="1517688"/>
            <a:ext cx="3274800" cy="5541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zh-TW" sz="2400">
                <a:solidFill>
                  <a:schemeClr val="accent1"/>
                </a:solidFill>
                <a:latin typeface="Times New Roman"/>
                <a:ea typeface="Times New Roman"/>
                <a:cs typeface="Times New Roman"/>
                <a:sym typeface="Times New Roman"/>
              </a:rPr>
              <a:t>Ｘ</a:t>
            </a:r>
            <a:r>
              <a:rPr lang="zh-TW" sz="2400">
                <a:solidFill>
                  <a:schemeClr val="dk1"/>
                </a:solidFill>
                <a:latin typeface="Times New Roman"/>
                <a:ea typeface="Times New Roman"/>
                <a:cs typeface="Times New Roman"/>
                <a:sym typeface="Times New Roman"/>
              </a:rPr>
              <a:t>　Ｘ　</a:t>
            </a:r>
            <a:r>
              <a:rPr lang="zh-TW" sz="2400">
                <a:solidFill>
                  <a:schemeClr val="accent4"/>
                </a:solidFill>
                <a:latin typeface="Times New Roman"/>
                <a:ea typeface="Times New Roman"/>
                <a:cs typeface="Times New Roman"/>
                <a:sym typeface="Times New Roman"/>
              </a:rPr>
              <a:t>３</a:t>
            </a:r>
            <a:r>
              <a:rPr lang="zh-TW" sz="2400">
                <a:solidFill>
                  <a:schemeClr val="dk1"/>
                </a:solidFill>
                <a:latin typeface="Times New Roman"/>
                <a:ea typeface="Times New Roman"/>
                <a:cs typeface="Times New Roman"/>
                <a:sym typeface="Times New Roman"/>
              </a:rPr>
              <a:t>　４　５</a:t>
            </a:r>
            <a:endParaRPr sz="2400">
              <a:solidFill>
                <a:schemeClr val="dk1"/>
              </a:solidFill>
              <a:latin typeface="Times New Roman"/>
              <a:ea typeface="Times New Roman"/>
              <a:cs typeface="Times New Roman"/>
              <a:sym typeface="Times New Roman"/>
            </a:endParaRPr>
          </a:p>
        </p:txBody>
      </p:sp>
      <p:pic>
        <p:nvPicPr>
          <p:cNvPr id="344" name="Google Shape;344;p50"/>
          <p:cNvPicPr preferRelativeResize="0"/>
          <p:nvPr/>
        </p:nvPicPr>
        <p:blipFill>
          <a:blip r:embed="rId3">
            <a:alphaModFix/>
          </a:blip>
          <a:stretch>
            <a:fillRect/>
          </a:stretch>
        </p:blipFill>
        <p:spPr>
          <a:xfrm>
            <a:off x="3013013" y="2571776"/>
            <a:ext cx="3117975" cy="136205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5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Summary</a:t>
            </a:r>
            <a:endParaRPr>
              <a:latin typeface="Times New Roman"/>
              <a:ea typeface="Times New Roman"/>
              <a:cs typeface="Times New Roman"/>
              <a:sym typeface="Times New Roman"/>
            </a:endParaRPr>
          </a:p>
        </p:txBody>
      </p:sp>
      <p:sp>
        <p:nvSpPr>
          <p:cNvPr id="350" name="Google Shape;350;p5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81000" lvl="0" marL="457200" rtl="0" algn="l">
              <a:spcBef>
                <a:spcPts val="0"/>
              </a:spcBef>
              <a:spcAft>
                <a:spcPts val="0"/>
              </a:spcAft>
              <a:buClr>
                <a:schemeClr val="dk1"/>
              </a:buClr>
              <a:buSzPts val="2400"/>
              <a:buFont typeface="Times New Roman"/>
              <a:buChar char="-"/>
            </a:pPr>
            <a:r>
              <a:rPr lang="zh-TW" sz="2400">
                <a:solidFill>
                  <a:schemeClr val="dk1"/>
                </a:solidFill>
                <a:latin typeface="Times New Roman"/>
                <a:ea typeface="Times New Roman"/>
                <a:cs typeface="Times New Roman"/>
                <a:sym typeface="Times New Roman"/>
              </a:rPr>
              <a:t>Monty</a:t>
            </a:r>
            <a:r>
              <a:rPr lang="zh-TW" sz="2400">
                <a:solidFill>
                  <a:schemeClr val="dk1"/>
                </a:solidFill>
                <a:latin typeface="Times New Roman"/>
                <a:ea typeface="Times New Roman"/>
                <a:cs typeface="Times New Roman"/>
                <a:sym typeface="Times New Roman"/>
              </a:rPr>
              <a:t>打開門時，除了你現在所選的門，其餘門的勝率上升</a:t>
            </a:r>
            <a:endParaRPr sz="2400">
              <a:solidFill>
                <a:schemeClr val="dk1"/>
              </a:solidFill>
              <a:latin typeface="Times New Roman"/>
              <a:ea typeface="Times New Roman"/>
              <a:cs typeface="Times New Roman"/>
              <a:sym typeface="Times New Roman"/>
            </a:endParaRPr>
          </a:p>
          <a:p>
            <a:pPr indent="0" lvl="0" marL="457200" rtl="0" algn="l">
              <a:spcBef>
                <a:spcPts val="1200"/>
              </a:spcBef>
              <a:spcAft>
                <a:spcPts val="0"/>
              </a:spcAft>
              <a:buNone/>
            </a:pPr>
            <a:r>
              <a:t/>
            </a:r>
            <a:endParaRPr sz="2400">
              <a:solidFill>
                <a:schemeClr val="dk1"/>
              </a:solidFill>
              <a:latin typeface="Times New Roman"/>
              <a:ea typeface="Times New Roman"/>
              <a:cs typeface="Times New Roman"/>
              <a:sym typeface="Times New Roman"/>
            </a:endParaRPr>
          </a:p>
          <a:p>
            <a:pPr indent="-381000" lvl="0" marL="457200" rtl="0" algn="l">
              <a:spcBef>
                <a:spcPts val="1200"/>
              </a:spcBef>
              <a:spcAft>
                <a:spcPts val="0"/>
              </a:spcAft>
              <a:buClr>
                <a:schemeClr val="dk1"/>
              </a:buClr>
              <a:buSzPts val="2400"/>
              <a:buFont typeface="Times New Roman"/>
              <a:buChar char="-"/>
            </a:pPr>
            <a:r>
              <a:rPr lang="zh-TW" sz="2400">
                <a:solidFill>
                  <a:schemeClr val="dk1"/>
                </a:solidFill>
                <a:latin typeface="Times New Roman"/>
                <a:ea typeface="Times New Roman"/>
                <a:cs typeface="Times New Roman"/>
                <a:sym typeface="Times New Roman"/>
              </a:rPr>
              <a:t>如果當前選擇不同的門具有相同的勝率，在Monty打開一扇門後，你在Monty開門前所選的門勝率不會改變</a:t>
            </a:r>
            <a:endParaRPr sz="2400">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sz="2400">
              <a:solidFill>
                <a:schemeClr val="dk1"/>
              </a:solidFill>
              <a:latin typeface="Times New Roman"/>
              <a:ea typeface="Times New Roman"/>
              <a:cs typeface="Times New Roman"/>
              <a:sym typeface="Times New Roman"/>
            </a:endParaRPr>
          </a:p>
        </p:txBody>
      </p:sp>
      <p:sp>
        <p:nvSpPr>
          <p:cNvPr id="351" name="Google Shape;351;p5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5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Solution (cont.)</a:t>
            </a:r>
            <a:endParaRPr>
              <a:latin typeface="Times New Roman"/>
              <a:ea typeface="Times New Roman"/>
              <a:cs typeface="Times New Roman"/>
              <a:sym typeface="Times New Roman"/>
            </a:endParaRPr>
          </a:p>
        </p:txBody>
      </p:sp>
      <p:sp>
        <p:nvSpPr>
          <p:cNvPr id="357" name="Google Shape;357;p5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a:t>　</a:t>
            </a:r>
            <a:endParaRPr/>
          </a:p>
        </p:txBody>
      </p:sp>
      <p:sp>
        <p:nvSpPr>
          <p:cNvPr id="358" name="Google Shape;358;p5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
        <p:nvSpPr>
          <p:cNvPr id="359" name="Google Shape;359;p52"/>
          <p:cNvSpPr txBox="1"/>
          <p:nvPr/>
        </p:nvSpPr>
        <p:spPr>
          <a:xfrm>
            <a:off x="2934600" y="1517688"/>
            <a:ext cx="3274800" cy="5541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zh-TW" sz="2400">
                <a:solidFill>
                  <a:schemeClr val="dk1"/>
                </a:solidFill>
                <a:latin typeface="Times New Roman"/>
                <a:ea typeface="Times New Roman"/>
                <a:cs typeface="Times New Roman"/>
                <a:sym typeface="Times New Roman"/>
              </a:rPr>
              <a:t>Ｘ</a:t>
            </a:r>
            <a:r>
              <a:rPr lang="zh-TW" sz="2400">
                <a:solidFill>
                  <a:schemeClr val="dk1"/>
                </a:solidFill>
                <a:latin typeface="Times New Roman"/>
                <a:ea typeface="Times New Roman"/>
                <a:cs typeface="Times New Roman"/>
                <a:sym typeface="Times New Roman"/>
              </a:rPr>
              <a:t>　Ｘ　</a:t>
            </a:r>
            <a:r>
              <a:rPr lang="zh-TW" sz="2400">
                <a:solidFill>
                  <a:schemeClr val="accent1"/>
                </a:solidFill>
                <a:latin typeface="Times New Roman"/>
                <a:ea typeface="Times New Roman"/>
                <a:cs typeface="Times New Roman"/>
                <a:sym typeface="Times New Roman"/>
              </a:rPr>
              <a:t>３</a:t>
            </a:r>
            <a:r>
              <a:rPr lang="zh-TW" sz="2400">
                <a:solidFill>
                  <a:schemeClr val="dk1"/>
                </a:solidFill>
                <a:latin typeface="Times New Roman"/>
                <a:ea typeface="Times New Roman"/>
                <a:cs typeface="Times New Roman"/>
                <a:sym typeface="Times New Roman"/>
              </a:rPr>
              <a:t>　</a:t>
            </a:r>
            <a:r>
              <a:rPr lang="zh-TW" sz="2400">
                <a:solidFill>
                  <a:schemeClr val="accent4"/>
                </a:solidFill>
                <a:latin typeface="Times New Roman"/>
                <a:ea typeface="Times New Roman"/>
                <a:cs typeface="Times New Roman"/>
                <a:sym typeface="Times New Roman"/>
              </a:rPr>
              <a:t>４</a:t>
            </a:r>
            <a:r>
              <a:rPr lang="zh-TW" sz="2400">
                <a:solidFill>
                  <a:schemeClr val="dk1"/>
                </a:solidFill>
                <a:latin typeface="Times New Roman"/>
                <a:ea typeface="Times New Roman"/>
                <a:cs typeface="Times New Roman"/>
                <a:sym typeface="Times New Roman"/>
              </a:rPr>
              <a:t>　５</a:t>
            </a:r>
            <a:endParaRPr sz="2400">
              <a:solidFill>
                <a:schemeClr val="dk1"/>
              </a:solidFill>
              <a:latin typeface="Times New Roman"/>
              <a:ea typeface="Times New Roman"/>
              <a:cs typeface="Times New Roman"/>
              <a:sym typeface="Times New Roman"/>
            </a:endParaRPr>
          </a:p>
        </p:txBody>
      </p:sp>
      <p:pic>
        <p:nvPicPr>
          <p:cNvPr id="360" name="Google Shape;360;p52"/>
          <p:cNvPicPr preferRelativeResize="0"/>
          <p:nvPr/>
        </p:nvPicPr>
        <p:blipFill>
          <a:blip r:embed="rId3">
            <a:alphaModFix/>
          </a:blip>
          <a:stretch>
            <a:fillRect/>
          </a:stretch>
        </p:blipFill>
        <p:spPr>
          <a:xfrm>
            <a:off x="3013013" y="2571776"/>
            <a:ext cx="3117975" cy="136205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5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Solution (cont.)</a:t>
            </a:r>
            <a:endParaRPr>
              <a:latin typeface="Times New Roman"/>
              <a:ea typeface="Times New Roman"/>
              <a:cs typeface="Times New Roman"/>
              <a:sym typeface="Times New Roman"/>
            </a:endParaRPr>
          </a:p>
        </p:txBody>
      </p:sp>
      <p:sp>
        <p:nvSpPr>
          <p:cNvPr id="366" name="Google Shape;366;p5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a:t>　</a:t>
            </a:r>
            <a:endParaRPr/>
          </a:p>
        </p:txBody>
      </p:sp>
      <p:sp>
        <p:nvSpPr>
          <p:cNvPr id="367" name="Google Shape;367;p5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
        <p:nvSpPr>
          <p:cNvPr id="368" name="Google Shape;368;p53"/>
          <p:cNvSpPr txBox="1"/>
          <p:nvPr/>
        </p:nvSpPr>
        <p:spPr>
          <a:xfrm>
            <a:off x="2934600" y="1517688"/>
            <a:ext cx="3274800" cy="5541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zh-TW" sz="2400">
                <a:solidFill>
                  <a:schemeClr val="dk1"/>
                </a:solidFill>
                <a:latin typeface="Times New Roman"/>
                <a:ea typeface="Times New Roman"/>
                <a:cs typeface="Times New Roman"/>
                <a:sym typeface="Times New Roman"/>
              </a:rPr>
              <a:t>Ｘ　Ｘ　</a:t>
            </a:r>
            <a:r>
              <a:rPr lang="zh-TW" sz="2400">
                <a:solidFill>
                  <a:schemeClr val="accent1"/>
                </a:solidFill>
                <a:latin typeface="Times New Roman"/>
                <a:ea typeface="Times New Roman"/>
                <a:cs typeface="Times New Roman"/>
                <a:sym typeface="Times New Roman"/>
              </a:rPr>
              <a:t>Ｘ</a:t>
            </a:r>
            <a:r>
              <a:rPr lang="zh-TW" sz="2400">
                <a:solidFill>
                  <a:schemeClr val="dk1"/>
                </a:solidFill>
                <a:latin typeface="Times New Roman"/>
                <a:ea typeface="Times New Roman"/>
                <a:cs typeface="Times New Roman"/>
                <a:sym typeface="Times New Roman"/>
              </a:rPr>
              <a:t>　</a:t>
            </a:r>
            <a:r>
              <a:rPr lang="zh-TW" sz="2400">
                <a:solidFill>
                  <a:schemeClr val="accent4"/>
                </a:solidFill>
                <a:latin typeface="Times New Roman"/>
                <a:ea typeface="Times New Roman"/>
                <a:cs typeface="Times New Roman"/>
                <a:sym typeface="Times New Roman"/>
              </a:rPr>
              <a:t>４</a:t>
            </a:r>
            <a:r>
              <a:rPr lang="zh-TW" sz="2400">
                <a:solidFill>
                  <a:schemeClr val="dk1"/>
                </a:solidFill>
                <a:latin typeface="Times New Roman"/>
                <a:ea typeface="Times New Roman"/>
                <a:cs typeface="Times New Roman"/>
                <a:sym typeface="Times New Roman"/>
              </a:rPr>
              <a:t>　５</a:t>
            </a:r>
            <a:endParaRPr sz="2400">
              <a:solidFill>
                <a:schemeClr val="dk1"/>
              </a:solidFill>
              <a:latin typeface="Times New Roman"/>
              <a:ea typeface="Times New Roman"/>
              <a:cs typeface="Times New Roman"/>
              <a:sym typeface="Times New Roman"/>
            </a:endParaRPr>
          </a:p>
        </p:txBody>
      </p:sp>
      <p:pic>
        <p:nvPicPr>
          <p:cNvPr id="369" name="Google Shape;369;p53"/>
          <p:cNvPicPr preferRelativeResize="0"/>
          <p:nvPr/>
        </p:nvPicPr>
        <p:blipFill>
          <a:blip r:embed="rId3">
            <a:alphaModFix/>
          </a:blip>
          <a:stretch>
            <a:fillRect/>
          </a:stretch>
        </p:blipFill>
        <p:spPr>
          <a:xfrm>
            <a:off x="3038049" y="2571775"/>
            <a:ext cx="3067900" cy="1314825"/>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5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Solution (cont.)</a:t>
            </a:r>
            <a:endParaRPr>
              <a:latin typeface="Times New Roman"/>
              <a:ea typeface="Times New Roman"/>
              <a:cs typeface="Times New Roman"/>
              <a:sym typeface="Times New Roman"/>
            </a:endParaRPr>
          </a:p>
        </p:txBody>
      </p:sp>
      <p:sp>
        <p:nvSpPr>
          <p:cNvPr id="375" name="Google Shape;375;p5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a:t>　</a:t>
            </a:r>
            <a:endParaRPr/>
          </a:p>
        </p:txBody>
      </p:sp>
      <p:sp>
        <p:nvSpPr>
          <p:cNvPr id="376" name="Google Shape;376;p5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
        <p:nvSpPr>
          <p:cNvPr id="377" name="Google Shape;377;p54"/>
          <p:cNvSpPr txBox="1"/>
          <p:nvPr/>
        </p:nvSpPr>
        <p:spPr>
          <a:xfrm>
            <a:off x="2934600" y="1517688"/>
            <a:ext cx="3274800" cy="5541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zh-TW" sz="2400">
                <a:solidFill>
                  <a:schemeClr val="dk1"/>
                </a:solidFill>
                <a:latin typeface="Times New Roman"/>
                <a:ea typeface="Times New Roman"/>
                <a:cs typeface="Times New Roman"/>
                <a:sym typeface="Times New Roman"/>
              </a:rPr>
              <a:t>Ｘ　Ｘ　３　</a:t>
            </a:r>
            <a:r>
              <a:rPr lang="zh-TW" sz="2400">
                <a:solidFill>
                  <a:schemeClr val="accent4"/>
                </a:solidFill>
                <a:latin typeface="Times New Roman"/>
                <a:ea typeface="Times New Roman"/>
                <a:cs typeface="Times New Roman"/>
                <a:sym typeface="Times New Roman"/>
              </a:rPr>
              <a:t>４</a:t>
            </a:r>
            <a:r>
              <a:rPr lang="zh-TW" sz="2400">
                <a:solidFill>
                  <a:schemeClr val="dk1"/>
                </a:solidFill>
                <a:latin typeface="Times New Roman"/>
                <a:ea typeface="Times New Roman"/>
                <a:cs typeface="Times New Roman"/>
                <a:sym typeface="Times New Roman"/>
              </a:rPr>
              <a:t>　</a:t>
            </a:r>
            <a:r>
              <a:rPr lang="zh-TW" sz="2400">
                <a:solidFill>
                  <a:schemeClr val="accent1"/>
                </a:solidFill>
                <a:latin typeface="Times New Roman"/>
                <a:ea typeface="Times New Roman"/>
                <a:cs typeface="Times New Roman"/>
                <a:sym typeface="Times New Roman"/>
              </a:rPr>
              <a:t>５</a:t>
            </a:r>
            <a:endParaRPr sz="2400">
              <a:solidFill>
                <a:schemeClr val="accent1"/>
              </a:solidFill>
              <a:latin typeface="Times New Roman"/>
              <a:ea typeface="Times New Roman"/>
              <a:cs typeface="Times New Roman"/>
              <a:sym typeface="Times New Roman"/>
            </a:endParaRPr>
          </a:p>
        </p:txBody>
      </p:sp>
      <p:pic>
        <p:nvPicPr>
          <p:cNvPr id="378" name="Google Shape;378;p54"/>
          <p:cNvPicPr preferRelativeResize="0"/>
          <p:nvPr/>
        </p:nvPicPr>
        <p:blipFill>
          <a:blip r:embed="rId3">
            <a:alphaModFix/>
          </a:blip>
          <a:stretch>
            <a:fillRect/>
          </a:stretch>
        </p:blipFill>
        <p:spPr>
          <a:xfrm>
            <a:off x="2973800" y="2571775"/>
            <a:ext cx="3196400" cy="1396309"/>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5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Solution (cont.)</a:t>
            </a:r>
            <a:endParaRPr>
              <a:latin typeface="Times New Roman"/>
              <a:ea typeface="Times New Roman"/>
              <a:cs typeface="Times New Roman"/>
              <a:sym typeface="Times New Roman"/>
            </a:endParaRPr>
          </a:p>
        </p:txBody>
      </p:sp>
      <p:sp>
        <p:nvSpPr>
          <p:cNvPr id="384" name="Google Shape;384;p5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a:t>　</a:t>
            </a:r>
            <a:endParaRPr/>
          </a:p>
        </p:txBody>
      </p:sp>
      <p:sp>
        <p:nvSpPr>
          <p:cNvPr id="385" name="Google Shape;385;p5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
        <p:nvSpPr>
          <p:cNvPr id="386" name="Google Shape;386;p55"/>
          <p:cNvSpPr txBox="1"/>
          <p:nvPr/>
        </p:nvSpPr>
        <p:spPr>
          <a:xfrm>
            <a:off x="2934600" y="1517688"/>
            <a:ext cx="3274800" cy="5541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zh-TW" sz="2400">
                <a:solidFill>
                  <a:schemeClr val="dk1"/>
                </a:solidFill>
                <a:latin typeface="Times New Roman"/>
                <a:ea typeface="Times New Roman"/>
                <a:cs typeface="Times New Roman"/>
                <a:sym typeface="Times New Roman"/>
              </a:rPr>
              <a:t>Ｘ　Ｘ　３　</a:t>
            </a:r>
            <a:r>
              <a:rPr lang="zh-TW" sz="2400">
                <a:solidFill>
                  <a:schemeClr val="accent4"/>
                </a:solidFill>
                <a:latin typeface="Times New Roman"/>
                <a:ea typeface="Times New Roman"/>
                <a:cs typeface="Times New Roman"/>
                <a:sym typeface="Times New Roman"/>
              </a:rPr>
              <a:t>４</a:t>
            </a:r>
            <a:r>
              <a:rPr lang="zh-TW" sz="2400">
                <a:solidFill>
                  <a:schemeClr val="dk1"/>
                </a:solidFill>
                <a:latin typeface="Times New Roman"/>
                <a:ea typeface="Times New Roman"/>
                <a:cs typeface="Times New Roman"/>
                <a:sym typeface="Times New Roman"/>
              </a:rPr>
              <a:t>　</a:t>
            </a:r>
            <a:r>
              <a:rPr lang="zh-TW" sz="2400">
                <a:solidFill>
                  <a:schemeClr val="accent1"/>
                </a:solidFill>
                <a:latin typeface="Times New Roman"/>
                <a:ea typeface="Times New Roman"/>
                <a:cs typeface="Times New Roman"/>
                <a:sym typeface="Times New Roman"/>
              </a:rPr>
              <a:t>Ｘ</a:t>
            </a:r>
            <a:endParaRPr sz="2400">
              <a:solidFill>
                <a:schemeClr val="accent1"/>
              </a:solidFill>
              <a:latin typeface="Times New Roman"/>
              <a:ea typeface="Times New Roman"/>
              <a:cs typeface="Times New Roman"/>
              <a:sym typeface="Times New Roman"/>
            </a:endParaRPr>
          </a:p>
        </p:txBody>
      </p:sp>
      <p:pic>
        <p:nvPicPr>
          <p:cNvPr id="387" name="Google Shape;387;p55"/>
          <p:cNvPicPr preferRelativeResize="0"/>
          <p:nvPr/>
        </p:nvPicPr>
        <p:blipFill>
          <a:blip r:embed="rId3">
            <a:alphaModFix/>
          </a:blip>
          <a:stretch>
            <a:fillRect/>
          </a:stretch>
        </p:blipFill>
        <p:spPr>
          <a:xfrm>
            <a:off x="3071725" y="2571775"/>
            <a:ext cx="3000550" cy="122365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5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Strategy</a:t>
            </a:r>
            <a:endParaRPr>
              <a:latin typeface="Times New Roman"/>
              <a:ea typeface="Times New Roman"/>
              <a:cs typeface="Times New Roman"/>
              <a:sym typeface="Times New Roman"/>
            </a:endParaRPr>
          </a:p>
        </p:txBody>
      </p:sp>
      <p:sp>
        <p:nvSpPr>
          <p:cNvPr id="393" name="Google Shape;393;p5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sz="2400">
                <a:solidFill>
                  <a:schemeClr val="dk1"/>
                </a:solidFill>
                <a:latin typeface="Times New Roman"/>
                <a:ea typeface="Times New Roman"/>
                <a:cs typeface="Times New Roman"/>
                <a:sym typeface="Times New Roman"/>
              </a:rPr>
              <a:t>SLM (Switch at the Last Minute) with n doors</a:t>
            </a:r>
            <a:endParaRPr sz="2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zh-TW" sz="2400">
                <a:solidFill>
                  <a:schemeClr val="dk1"/>
                </a:solidFill>
                <a:latin typeface="Times New Roman"/>
                <a:ea typeface="Times New Roman"/>
                <a:cs typeface="Times New Roman"/>
                <a:sym typeface="Times New Roman"/>
              </a:rPr>
              <a:t>	We stick with our initial choice until only two doors remain.</a:t>
            </a:r>
            <a:endParaRPr sz="2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zh-TW" sz="2400">
                <a:solidFill>
                  <a:schemeClr val="dk1"/>
                </a:solidFill>
                <a:latin typeface="Times New Roman"/>
                <a:ea typeface="Times New Roman"/>
                <a:cs typeface="Times New Roman"/>
                <a:sym typeface="Times New Roman"/>
              </a:rPr>
              <a:t>	(the chosen one, the last remained) = (1 / n, (n - 1) / n)</a:t>
            </a:r>
            <a:endParaRPr sz="2400">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rPr lang="zh-TW" sz="2400">
                <a:solidFill>
                  <a:schemeClr val="dk1"/>
                </a:solidFill>
                <a:latin typeface="Times New Roman"/>
                <a:ea typeface="Times New Roman"/>
                <a:cs typeface="Times New Roman"/>
                <a:sym typeface="Times New Roman"/>
              </a:rPr>
              <a:t>		Winning probability = </a:t>
            </a:r>
            <a:r>
              <a:rPr lang="zh-TW" sz="2400">
                <a:solidFill>
                  <a:srgbClr val="FF0000"/>
                </a:solidFill>
                <a:latin typeface="Times New Roman"/>
                <a:ea typeface="Times New Roman"/>
                <a:cs typeface="Times New Roman"/>
                <a:sym typeface="Times New Roman"/>
              </a:rPr>
              <a:t>(n - 1) / n</a:t>
            </a:r>
            <a:endParaRPr sz="2400">
              <a:solidFill>
                <a:srgbClr val="FF0000"/>
              </a:solidFill>
              <a:latin typeface="Times New Roman"/>
              <a:ea typeface="Times New Roman"/>
              <a:cs typeface="Times New Roman"/>
              <a:sym typeface="Times New Roman"/>
            </a:endParaRPr>
          </a:p>
        </p:txBody>
      </p:sp>
      <p:sp>
        <p:nvSpPr>
          <p:cNvPr id="394" name="Google Shape;394;p5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5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 </a:t>
            </a:r>
            <a:endParaRPr/>
          </a:p>
        </p:txBody>
      </p:sp>
      <p:sp>
        <p:nvSpPr>
          <p:cNvPr id="400" name="Google Shape;400;p57"/>
          <p:cNvSpPr txBox="1"/>
          <p:nvPr>
            <p:ph idx="1" type="body"/>
          </p:nvPr>
        </p:nvSpPr>
        <p:spPr>
          <a:xfrm>
            <a:off x="311700" y="1353325"/>
            <a:ext cx="8520600" cy="10863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lang="zh-TW" sz="4800">
                <a:solidFill>
                  <a:schemeClr val="dk1"/>
                </a:solidFill>
                <a:latin typeface="Times New Roman"/>
                <a:ea typeface="Times New Roman"/>
                <a:cs typeface="Times New Roman"/>
                <a:sym typeface="Times New Roman"/>
              </a:rPr>
              <a:t>Thanks for your patience</a:t>
            </a:r>
            <a:endParaRPr sz="4800">
              <a:solidFill>
                <a:schemeClr val="dk1"/>
              </a:solidFill>
              <a:latin typeface="Times New Roman"/>
              <a:ea typeface="Times New Roman"/>
              <a:cs typeface="Times New Roman"/>
              <a:sym typeface="Times New Roman"/>
            </a:endParaRPr>
          </a:p>
        </p:txBody>
      </p:sp>
      <p:sp>
        <p:nvSpPr>
          <p:cNvPr id="401" name="Google Shape;401;p57"/>
          <p:cNvSpPr/>
          <p:nvPr/>
        </p:nvSpPr>
        <p:spPr>
          <a:xfrm>
            <a:off x="3987600" y="2357825"/>
            <a:ext cx="1168800" cy="1140300"/>
          </a:xfrm>
          <a:prstGeom prst="smileyFace">
            <a:avLst>
              <a:gd fmla="val 4653"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5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