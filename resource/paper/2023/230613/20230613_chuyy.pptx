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56" r:id="rId2"/>
    <p:sldId id="257" r:id="rId3"/>
    <p:sldId id="286" r:id="rId4"/>
    <p:sldId id="258" r:id="rId5"/>
    <p:sldId id="259" r:id="rId6"/>
    <p:sldId id="260" r:id="rId7"/>
    <p:sldId id="261" r:id="rId8"/>
    <p:sldId id="262" r:id="rId9"/>
    <p:sldId id="264" r:id="rId10"/>
    <p:sldId id="263" r:id="rId11"/>
    <p:sldId id="265" r:id="rId12"/>
    <p:sldId id="266" r:id="rId13"/>
    <p:sldId id="267" r:id="rId14"/>
    <p:sldId id="269" r:id="rId15"/>
    <p:sldId id="268"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15"/>
    <p:restoredTop sz="95788"/>
  </p:normalViewPr>
  <p:slideViewPr>
    <p:cSldViewPr snapToGrid="0" snapToObjects="1">
      <p:cViewPr varScale="1">
        <p:scale>
          <a:sx n="70" d="100"/>
          <a:sy n="70" d="100"/>
        </p:scale>
        <p:origin x="90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2023/6/13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2023/6/13</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2023/6/13</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2023/6/13</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2023/6/13</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2023/6/13</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2023/6/13</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2023/6/13</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a:xfrm>
            <a:off x="1524000" y="692410"/>
            <a:ext cx="9144000" cy="2387600"/>
          </a:xfrm>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Faster sorting algorithms discovered using deep reinforcement learning</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a:xfrm>
            <a:off x="1430215" y="3204808"/>
            <a:ext cx="9331569" cy="2358254"/>
          </a:xfrm>
        </p:spPr>
        <p:txBody>
          <a:bodyPr>
            <a:normAutofit/>
          </a:bodyPr>
          <a:lstStyle/>
          <a:p>
            <a:r>
              <a:rPr kumimoji="1" lang="en-US" altLang="zh-TW" sz="2000" dirty="0">
                <a:latin typeface="Times New Roman" panose="02020603050405020304" pitchFamily="18" charset="0"/>
                <a:cs typeface="Times New Roman" panose="02020603050405020304" pitchFamily="18" charset="0"/>
              </a:rPr>
              <a:t>Daniel J. Mankowitz, Andrea Michi, Anton </a:t>
            </a:r>
            <a:r>
              <a:rPr kumimoji="1" lang="en-US" altLang="zh-TW" sz="2000" dirty="0" err="1">
                <a:latin typeface="Times New Roman" panose="02020603050405020304" pitchFamily="18" charset="0"/>
                <a:cs typeface="Times New Roman" panose="02020603050405020304" pitchFamily="18" charset="0"/>
              </a:rPr>
              <a:t>Zhernov</a:t>
            </a:r>
            <a:r>
              <a:rPr kumimoji="1" lang="en-US" altLang="zh-TW" sz="2000" dirty="0">
                <a:latin typeface="Times New Roman" panose="02020603050405020304" pitchFamily="18" charset="0"/>
                <a:cs typeface="Times New Roman" panose="02020603050405020304" pitchFamily="18" charset="0"/>
              </a:rPr>
              <a:t>, Marco </a:t>
            </a:r>
            <a:r>
              <a:rPr kumimoji="1" lang="en-US" altLang="zh-TW" sz="2000" dirty="0" err="1">
                <a:latin typeface="Times New Roman" panose="02020603050405020304" pitchFamily="18" charset="0"/>
                <a:cs typeface="Times New Roman" panose="02020603050405020304" pitchFamily="18" charset="0"/>
              </a:rPr>
              <a:t>Gelmi</a:t>
            </a:r>
            <a:r>
              <a:rPr kumimoji="1" lang="en-US" altLang="zh-TW" sz="2000" dirty="0">
                <a:latin typeface="Times New Roman" panose="02020603050405020304" pitchFamily="18" charset="0"/>
                <a:cs typeface="Times New Roman" panose="02020603050405020304" pitchFamily="18" charset="0"/>
              </a:rPr>
              <a:t>, Marco </a:t>
            </a:r>
            <a:r>
              <a:rPr kumimoji="1" lang="en-US" altLang="zh-TW" sz="2000" dirty="0" err="1">
                <a:latin typeface="Times New Roman" panose="02020603050405020304" pitchFamily="18" charset="0"/>
                <a:cs typeface="Times New Roman" panose="02020603050405020304" pitchFamily="18" charset="0"/>
              </a:rPr>
              <a:t>Selvi</a:t>
            </a:r>
            <a:r>
              <a:rPr kumimoji="1" lang="en-US" altLang="zh-TW" sz="2000" dirty="0">
                <a:latin typeface="Times New Roman" panose="02020603050405020304" pitchFamily="18" charset="0"/>
                <a:cs typeface="Times New Roman" panose="02020603050405020304" pitchFamily="18" charset="0"/>
              </a:rPr>
              <a:t>, Cosmin </a:t>
            </a:r>
            <a:r>
              <a:rPr kumimoji="1" lang="en-US" altLang="zh-TW" sz="2000" dirty="0" err="1">
                <a:latin typeface="Times New Roman" panose="02020603050405020304" pitchFamily="18" charset="0"/>
                <a:cs typeface="Times New Roman" panose="02020603050405020304" pitchFamily="18" charset="0"/>
              </a:rPr>
              <a:t>Paduraru</a:t>
            </a:r>
            <a:r>
              <a:rPr kumimoji="1" lang="en-US" altLang="zh-TW" sz="2000" dirty="0">
                <a:latin typeface="Times New Roman" panose="02020603050405020304" pitchFamily="18" charset="0"/>
                <a:cs typeface="Times New Roman" panose="02020603050405020304" pitchFamily="18" charset="0"/>
              </a:rPr>
              <a:t>, Edouard </a:t>
            </a:r>
            <a:r>
              <a:rPr kumimoji="1" lang="en-US" altLang="zh-TW" sz="2000" dirty="0" err="1">
                <a:latin typeface="Times New Roman" panose="02020603050405020304" pitchFamily="18" charset="0"/>
                <a:cs typeface="Times New Roman" panose="02020603050405020304" pitchFamily="18" charset="0"/>
              </a:rPr>
              <a:t>Leurent</a:t>
            </a:r>
            <a:r>
              <a:rPr kumimoji="1" lang="en-US" altLang="zh-TW" sz="2000" dirty="0">
                <a:latin typeface="Times New Roman" panose="02020603050405020304" pitchFamily="18" charset="0"/>
                <a:cs typeface="Times New Roman" panose="02020603050405020304" pitchFamily="18" charset="0"/>
              </a:rPr>
              <a:t>, Shariq Iqbal, Jean-Baptiste </a:t>
            </a:r>
            <a:r>
              <a:rPr kumimoji="1" lang="en-US" altLang="zh-TW" sz="2000" dirty="0" err="1">
                <a:latin typeface="Times New Roman" panose="02020603050405020304" pitchFamily="18" charset="0"/>
                <a:cs typeface="Times New Roman" panose="02020603050405020304" pitchFamily="18" charset="0"/>
              </a:rPr>
              <a:t>Lespiau</a:t>
            </a:r>
            <a:r>
              <a:rPr kumimoji="1" lang="en-US" altLang="zh-TW" sz="2000" dirty="0">
                <a:latin typeface="Times New Roman" panose="02020603050405020304" pitchFamily="18" charset="0"/>
                <a:cs typeface="Times New Roman" panose="02020603050405020304" pitchFamily="18" charset="0"/>
              </a:rPr>
              <a:t>, Alex Ahern, Thomas </a:t>
            </a:r>
            <a:r>
              <a:rPr kumimoji="1" lang="en-US" altLang="zh-TW" sz="2000" dirty="0" err="1">
                <a:latin typeface="Times New Roman" panose="02020603050405020304" pitchFamily="18" charset="0"/>
                <a:cs typeface="Times New Roman" panose="02020603050405020304" pitchFamily="18" charset="0"/>
              </a:rPr>
              <a:t>Köppe</a:t>
            </a:r>
            <a:r>
              <a:rPr kumimoji="1" lang="en-US" altLang="zh-TW" sz="2000" dirty="0">
                <a:latin typeface="Times New Roman" panose="02020603050405020304" pitchFamily="18" charset="0"/>
                <a:cs typeface="Times New Roman" panose="02020603050405020304" pitchFamily="18" charset="0"/>
              </a:rPr>
              <a:t>, Kevin Millikin, Stephen Gaffney, Sophie </a:t>
            </a:r>
            <a:r>
              <a:rPr kumimoji="1" lang="en-US" altLang="zh-TW" sz="2000" dirty="0" err="1">
                <a:latin typeface="Times New Roman" panose="02020603050405020304" pitchFamily="18" charset="0"/>
                <a:cs typeface="Times New Roman" panose="02020603050405020304" pitchFamily="18" charset="0"/>
              </a:rPr>
              <a:t>Elster</a:t>
            </a:r>
            <a:r>
              <a:rPr kumimoji="1" lang="en-US" altLang="zh-TW" sz="2000" dirty="0">
                <a:latin typeface="Times New Roman" panose="02020603050405020304" pitchFamily="18" charset="0"/>
                <a:cs typeface="Times New Roman" panose="02020603050405020304" pitchFamily="18" charset="0"/>
              </a:rPr>
              <a:t>, Jackson </a:t>
            </a:r>
            <a:r>
              <a:rPr kumimoji="1" lang="en-US" altLang="zh-TW" sz="2000" dirty="0" err="1">
                <a:latin typeface="Times New Roman" panose="02020603050405020304" pitchFamily="18" charset="0"/>
                <a:cs typeface="Times New Roman" panose="02020603050405020304" pitchFamily="18" charset="0"/>
              </a:rPr>
              <a:t>Broshear</a:t>
            </a:r>
            <a:r>
              <a:rPr kumimoji="1" lang="en-US" altLang="zh-TW" sz="2000" dirty="0">
                <a:latin typeface="Times New Roman" panose="02020603050405020304" pitchFamily="18" charset="0"/>
                <a:cs typeface="Times New Roman" panose="02020603050405020304" pitchFamily="18" charset="0"/>
              </a:rPr>
              <a:t>, Chris Gamble, Kieran Milan, Robert Tung, </a:t>
            </a:r>
            <a:r>
              <a:rPr kumimoji="1" lang="en-US" altLang="zh-TW" sz="2000" dirty="0" err="1">
                <a:latin typeface="Times New Roman" panose="02020603050405020304" pitchFamily="18" charset="0"/>
                <a:cs typeface="Times New Roman" panose="02020603050405020304" pitchFamily="18" charset="0"/>
              </a:rPr>
              <a:t>Minjae</a:t>
            </a:r>
            <a:r>
              <a:rPr kumimoji="1" lang="en-US" altLang="zh-TW" sz="2000" dirty="0">
                <a:latin typeface="Times New Roman" panose="02020603050405020304" pitchFamily="18" charset="0"/>
                <a:cs typeface="Times New Roman" panose="02020603050405020304" pitchFamily="18" charset="0"/>
              </a:rPr>
              <a:t> Hwang, Taylan </a:t>
            </a:r>
            <a:r>
              <a:rPr kumimoji="1" lang="en-US" altLang="zh-TW" sz="2000" dirty="0" err="1">
                <a:latin typeface="Times New Roman" panose="02020603050405020304" pitchFamily="18" charset="0"/>
                <a:cs typeface="Times New Roman" panose="02020603050405020304" pitchFamily="18" charset="0"/>
              </a:rPr>
              <a:t>Cemgil</a:t>
            </a:r>
            <a:r>
              <a:rPr kumimoji="1" lang="en-US" altLang="zh-TW" sz="2000" dirty="0">
                <a:latin typeface="Times New Roman" panose="02020603050405020304" pitchFamily="18" charset="0"/>
                <a:cs typeface="Times New Roman" panose="02020603050405020304" pitchFamily="18" charset="0"/>
              </a:rPr>
              <a:t>, </a:t>
            </a:r>
            <a:r>
              <a:rPr kumimoji="1" lang="en-US" altLang="zh-TW" sz="2000" dirty="0" err="1">
                <a:latin typeface="Times New Roman" panose="02020603050405020304" pitchFamily="18" charset="0"/>
                <a:cs typeface="Times New Roman" panose="02020603050405020304" pitchFamily="18" charset="0"/>
              </a:rPr>
              <a:t>Mohammadamin</a:t>
            </a:r>
            <a:r>
              <a:rPr kumimoji="1" lang="en-US" altLang="zh-TW" sz="2000" dirty="0">
                <a:latin typeface="Times New Roman" panose="02020603050405020304" pitchFamily="18" charset="0"/>
                <a:cs typeface="Times New Roman" panose="02020603050405020304" pitchFamily="18" charset="0"/>
              </a:rPr>
              <a:t> </a:t>
            </a:r>
            <a:r>
              <a:rPr kumimoji="1" lang="en-US" altLang="zh-TW" sz="2000" dirty="0" err="1">
                <a:latin typeface="Times New Roman" panose="02020603050405020304" pitchFamily="18" charset="0"/>
                <a:cs typeface="Times New Roman" panose="02020603050405020304" pitchFamily="18" charset="0"/>
              </a:rPr>
              <a:t>Barekatain</a:t>
            </a:r>
            <a:r>
              <a:rPr kumimoji="1" lang="en-US" altLang="zh-TW" sz="2000" dirty="0">
                <a:latin typeface="Times New Roman" panose="02020603050405020304" pitchFamily="18" charset="0"/>
                <a:cs typeface="Times New Roman" panose="02020603050405020304" pitchFamily="18" charset="0"/>
              </a:rPr>
              <a:t>, </a:t>
            </a:r>
            <a:r>
              <a:rPr kumimoji="1" lang="en-US" altLang="zh-TW" sz="2000" dirty="0" err="1">
                <a:latin typeface="Times New Roman" panose="02020603050405020304" pitchFamily="18" charset="0"/>
                <a:cs typeface="Times New Roman" panose="02020603050405020304" pitchFamily="18" charset="0"/>
              </a:rPr>
              <a:t>Yujia</a:t>
            </a:r>
            <a:r>
              <a:rPr kumimoji="1" lang="en-US" altLang="zh-TW" sz="2000" dirty="0">
                <a:latin typeface="Times New Roman" panose="02020603050405020304" pitchFamily="18" charset="0"/>
                <a:cs typeface="Times New Roman" panose="02020603050405020304" pitchFamily="18" charset="0"/>
              </a:rPr>
              <a:t> Li, Amol </a:t>
            </a:r>
            <a:r>
              <a:rPr kumimoji="1" lang="en-US" altLang="zh-TW" sz="2000" dirty="0" err="1">
                <a:latin typeface="Times New Roman" panose="02020603050405020304" pitchFamily="18" charset="0"/>
                <a:cs typeface="Times New Roman" panose="02020603050405020304" pitchFamily="18" charset="0"/>
              </a:rPr>
              <a:t>Mandhane</a:t>
            </a:r>
            <a:r>
              <a:rPr kumimoji="1" lang="en-US" altLang="zh-TW" sz="2000" dirty="0">
                <a:latin typeface="Times New Roman" panose="02020603050405020304" pitchFamily="18" charset="0"/>
                <a:cs typeface="Times New Roman" panose="02020603050405020304" pitchFamily="18" charset="0"/>
              </a:rPr>
              <a:t>, Thomas Hubert, Julian </a:t>
            </a:r>
            <a:r>
              <a:rPr kumimoji="1" lang="en-US" altLang="zh-TW" sz="2000" dirty="0" err="1">
                <a:latin typeface="Times New Roman" panose="02020603050405020304" pitchFamily="18" charset="0"/>
                <a:cs typeface="Times New Roman" panose="02020603050405020304" pitchFamily="18" charset="0"/>
              </a:rPr>
              <a:t>Schrittwieser</a:t>
            </a:r>
            <a:r>
              <a:rPr kumimoji="1" lang="en-US" altLang="zh-TW" sz="2000" dirty="0">
                <a:latin typeface="Times New Roman" panose="02020603050405020304" pitchFamily="18" charset="0"/>
                <a:cs typeface="Times New Roman" panose="02020603050405020304" pitchFamily="18" charset="0"/>
              </a:rPr>
              <a:t>, </a:t>
            </a:r>
            <a:r>
              <a:rPr kumimoji="1" lang="en-US" altLang="zh-TW" sz="2000" dirty="0" err="1">
                <a:latin typeface="Times New Roman" panose="02020603050405020304" pitchFamily="18" charset="0"/>
                <a:cs typeface="Times New Roman" panose="02020603050405020304" pitchFamily="18" charset="0"/>
              </a:rPr>
              <a:t>Demis</a:t>
            </a:r>
            <a:r>
              <a:rPr kumimoji="1" lang="en-US" altLang="zh-TW" sz="2000" dirty="0">
                <a:latin typeface="Times New Roman" panose="02020603050405020304" pitchFamily="18" charset="0"/>
                <a:cs typeface="Times New Roman" panose="02020603050405020304" pitchFamily="18" charset="0"/>
              </a:rPr>
              <a:t> Hassabis, </a:t>
            </a:r>
            <a:r>
              <a:rPr kumimoji="1" lang="en-US" altLang="zh-TW" sz="2000" dirty="0" err="1">
                <a:latin typeface="Times New Roman" panose="02020603050405020304" pitchFamily="18" charset="0"/>
                <a:cs typeface="Times New Roman" panose="02020603050405020304" pitchFamily="18" charset="0"/>
              </a:rPr>
              <a:t>Pushmeet</a:t>
            </a:r>
            <a:r>
              <a:rPr kumimoji="1" lang="en-US" altLang="zh-TW" sz="2000" dirty="0">
                <a:latin typeface="Times New Roman" panose="02020603050405020304" pitchFamily="18" charset="0"/>
                <a:cs typeface="Times New Roman" panose="02020603050405020304" pitchFamily="18" charset="0"/>
              </a:rPr>
              <a:t> Kohli, Martin </a:t>
            </a:r>
            <a:r>
              <a:rPr kumimoji="1" lang="en-US" altLang="zh-TW" sz="2000" dirty="0" err="1">
                <a:latin typeface="Times New Roman" panose="02020603050405020304" pitchFamily="18" charset="0"/>
                <a:cs typeface="Times New Roman" panose="02020603050405020304" pitchFamily="18" charset="0"/>
              </a:rPr>
              <a:t>Riedmiller</a:t>
            </a:r>
            <a:r>
              <a:rPr kumimoji="1" lang="en-US" altLang="zh-TW" sz="2000" dirty="0">
                <a:latin typeface="Times New Roman" panose="02020603050405020304" pitchFamily="18" charset="0"/>
                <a:cs typeface="Times New Roman" panose="02020603050405020304" pitchFamily="18" charset="0"/>
              </a:rPr>
              <a:t>, Oriol </a:t>
            </a:r>
            <a:r>
              <a:rPr kumimoji="1" lang="en-US" altLang="zh-TW" sz="2000" dirty="0" err="1">
                <a:latin typeface="Times New Roman" panose="02020603050405020304" pitchFamily="18" charset="0"/>
                <a:cs typeface="Times New Roman" panose="02020603050405020304" pitchFamily="18" charset="0"/>
              </a:rPr>
              <a:t>Vinyals</a:t>
            </a:r>
            <a:r>
              <a:rPr kumimoji="1" lang="en-US" altLang="zh-TW" sz="2000" dirty="0">
                <a:latin typeface="Times New Roman" panose="02020603050405020304" pitchFamily="18" charset="0"/>
                <a:cs typeface="Times New Roman" panose="02020603050405020304" pitchFamily="18" charset="0"/>
              </a:rPr>
              <a:t> &amp; David Silver </a:t>
            </a:r>
          </a:p>
          <a:p>
            <a:r>
              <a:rPr kumimoji="1" lang="en-US" altLang="zh-TW" sz="2000" dirty="0">
                <a:latin typeface="Times New Roman" panose="02020603050405020304" pitchFamily="18" charset="0"/>
                <a:cs typeface="Times New Roman" panose="02020603050405020304" pitchFamily="18" charset="0"/>
              </a:rPr>
              <a:t>Nature, June, 2023</a:t>
            </a: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a:t>
            </a:r>
            <a:r>
              <a:rPr lang="en-US">
                <a:latin typeface="Times New Roman" panose="02020603050405020304" pitchFamily="18" charset="0"/>
                <a:cs typeface="Times New Roman" panose="02020603050405020304" pitchFamily="18" charset="0"/>
              </a:rPr>
              <a:t>: June </a:t>
            </a:r>
            <a:r>
              <a:rPr lang="en-US" dirty="0">
                <a:latin typeface="Times New Roman" panose="02020603050405020304" pitchFamily="18" charset="0"/>
                <a:cs typeface="Times New Roman" panose="02020603050405020304" pitchFamily="18" charset="0"/>
              </a:rPr>
              <a:t>13, 2023</a:t>
            </a:r>
          </a:p>
        </p:txBody>
      </p:sp>
    </p:spTree>
    <p:extLst>
      <p:ext uri="{BB962C8B-B14F-4D97-AF65-F5344CB8AC3E}">
        <p14:creationId xmlns:p14="http://schemas.microsoft.com/office/powerpoint/2010/main" val="6942809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pPr marL="0" indent="0">
              <a:buNone/>
            </a:pPr>
            <a:r>
              <a:rPr kumimoji="1" lang="en-US" altLang="zh-TW" dirty="0">
                <a:latin typeface="Times New Roman" panose="02020603050405020304" pitchFamily="18" charset="0"/>
                <a:cs typeface="Times New Roman" panose="02020603050405020304" pitchFamily="18" charset="0"/>
              </a:rPr>
              <a:t>Fundamental algorithms such as sorting or hashing are used trillions of times on any given day. As demand for computation grows, it has become critical for these algorithms to be as performant as possible. Whereas remarkable progress has been achieved in the past, making further improvements on the efficiency of these routines has proved challenging for both human scientists and computational approaches. Here we show how artificial intelligence can go beyond the current state of the art by discovering hitherto unknown routines. </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pPr marL="0" indent="0">
              <a:buNone/>
            </a:pPr>
            <a:r>
              <a:rPr kumimoji="1" lang="en-US" altLang="zh-TW" dirty="0">
                <a:latin typeface="Times New Roman" panose="02020603050405020304" pitchFamily="18" charset="0"/>
                <a:cs typeface="Times New Roman" panose="02020603050405020304" pitchFamily="18" charset="0"/>
              </a:rPr>
              <a:t>To realize this, we formulated the task of finding a better sorting routine as a single-player game. We then trained a new deep reinforcement learning agent, </a:t>
            </a:r>
            <a:r>
              <a:rPr kumimoji="1" lang="en-US" altLang="zh-TW" dirty="0" err="1">
                <a:latin typeface="Times New Roman" panose="02020603050405020304" pitchFamily="18" charset="0"/>
                <a:cs typeface="Times New Roman" panose="02020603050405020304" pitchFamily="18" charset="0"/>
              </a:rPr>
              <a:t>AlphaDev</a:t>
            </a:r>
            <a:r>
              <a:rPr kumimoji="1" lang="en-US" altLang="zh-TW" dirty="0">
                <a:latin typeface="Times New Roman" panose="02020603050405020304" pitchFamily="18" charset="0"/>
                <a:cs typeface="Times New Roman" panose="02020603050405020304" pitchFamily="18" charset="0"/>
              </a:rPr>
              <a:t>, to play this game. </a:t>
            </a:r>
            <a:r>
              <a:rPr kumimoji="1" lang="en-US" altLang="zh-TW" dirty="0" err="1">
                <a:latin typeface="Times New Roman" panose="02020603050405020304" pitchFamily="18" charset="0"/>
                <a:cs typeface="Times New Roman" panose="02020603050405020304" pitchFamily="18" charset="0"/>
              </a:rPr>
              <a:t>AlphaDev</a:t>
            </a:r>
            <a:r>
              <a:rPr kumimoji="1" lang="en-US" altLang="zh-TW" dirty="0">
                <a:latin typeface="Times New Roman" panose="02020603050405020304" pitchFamily="18" charset="0"/>
                <a:cs typeface="Times New Roman" panose="02020603050405020304" pitchFamily="18" charset="0"/>
              </a:rPr>
              <a:t> discovered small sorting algorithms from scratch that outperformed previously known human benchmarks. These algorithms have been integrated into the LLVM standard C++ sort library. This change to this part of the sort library represents the replacement of a component with an algorithm that has been automatically discovered using reinforcement learning. We also present results in extra domains, showcasing the generality of the approach.</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1198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10910454" cy="4351338"/>
          </a:xfrm>
        </p:spPr>
        <p:txBody>
          <a:bodyPr/>
          <a:lstStyle/>
          <a:p>
            <a:r>
              <a:rPr kumimoji="1" lang="en-US" altLang="zh-TW" dirty="0">
                <a:latin typeface="Times New Roman" panose="02020603050405020304" pitchFamily="18" charset="0"/>
                <a:cs typeface="Times New Roman" panose="02020603050405020304" pitchFamily="18" charset="0"/>
              </a:rPr>
              <a:t>Goal: optimize the length and latency of the assembly program of sorting.</a:t>
            </a:r>
          </a:p>
          <a:p>
            <a:r>
              <a:rPr kumimoji="1" lang="en-US" altLang="zh-TW" dirty="0" err="1">
                <a:latin typeface="Times New Roman" panose="02020603050405020304" pitchFamily="18" charset="0"/>
                <a:cs typeface="Times New Roman" panose="02020603050405020304" pitchFamily="18" charset="0"/>
              </a:rPr>
              <a:t>AlphaDev</a:t>
            </a:r>
            <a:r>
              <a:rPr kumimoji="1" lang="en-US" altLang="zh-TW" dirty="0">
                <a:latin typeface="Times New Roman" panose="02020603050405020304" pitchFamily="18" charset="0"/>
                <a:cs typeface="Times New Roman" panose="02020603050405020304" pitchFamily="18" charset="0"/>
              </a:rPr>
              <a:t> is a model to play a game to achieve this goal.</a:t>
            </a:r>
          </a:p>
          <a:p>
            <a:r>
              <a:rPr kumimoji="1" lang="en-US" altLang="zh-TW" dirty="0">
                <a:latin typeface="Times New Roman" panose="02020603050405020304" pitchFamily="18" charset="0"/>
                <a:cs typeface="Times New Roman" panose="02020603050405020304" pitchFamily="18" charset="0"/>
              </a:rPr>
              <a:t>Two kinds of sort</a:t>
            </a:r>
          </a:p>
          <a:p>
            <a:pPr lvl="1"/>
            <a:r>
              <a:rPr kumimoji="1" lang="en-US" altLang="zh-TW" dirty="0">
                <a:latin typeface="Times New Roman" panose="02020603050405020304" pitchFamily="18" charset="0"/>
                <a:cs typeface="Times New Roman" panose="02020603050405020304" pitchFamily="18" charset="0"/>
              </a:rPr>
              <a:t>Fixed sort: only sort sequence with a fixed length.</a:t>
            </a:r>
          </a:p>
          <a:p>
            <a:pPr lvl="1"/>
            <a:r>
              <a:rPr kumimoji="1" lang="en-US" altLang="zh-TW" dirty="0">
                <a:latin typeface="Times New Roman" panose="02020603050405020304" pitchFamily="18" charset="0"/>
                <a:cs typeface="Times New Roman" panose="02020603050405020304" pitchFamily="18" charset="0"/>
              </a:rPr>
              <a:t>Variable sort: sort sequence whose length is less than or equal to a number.</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1F59C031-5D13-2F44-BD33-ED812D8985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4711" y="1316538"/>
            <a:ext cx="9591989" cy="3723085"/>
          </a:xfr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 program and Assembly program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7A0B23A6-3B67-0F47-95CE-8D5171659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4359" y="4945240"/>
            <a:ext cx="8872695" cy="1912760"/>
          </a:xfrm>
          <a:prstGeom prst="rect">
            <a:avLst/>
          </a:prstGeom>
        </p:spPr>
      </p:pic>
      <p:sp>
        <p:nvSpPr>
          <p:cNvPr id="9" name="文字方塊 8">
            <a:extLst>
              <a:ext uri="{FF2B5EF4-FFF2-40B4-BE49-F238E27FC236}">
                <a16:creationId xmlns:a16="http://schemas.microsoft.com/office/drawing/2014/main" id="{8A9D0B6B-B385-1A46-978E-75CA61B1C195}"/>
              </a:ext>
            </a:extLst>
          </p:cNvPr>
          <p:cNvSpPr txBox="1"/>
          <p:nvPr/>
        </p:nvSpPr>
        <p:spPr>
          <a:xfrm>
            <a:off x="2883876" y="4575908"/>
            <a:ext cx="1868994"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C++ program</a:t>
            </a:r>
            <a:endParaRPr kumimoji="1"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99189A88-E320-4145-8176-5C0D065EAB9C}"/>
              </a:ext>
            </a:extLst>
          </p:cNvPr>
          <p:cNvSpPr txBox="1"/>
          <p:nvPr/>
        </p:nvSpPr>
        <p:spPr>
          <a:xfrm>
            <a:off x="7970017" y="4575908"/>
            <a:ext cx="2048190"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Assembly program</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AlphaDev</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25625"/>
            <a:ext cx="10830339" cy="4634810"/>
          </a:xfrm>
        </p:spPr>
        <p:txBody>
          <a:bodyPr/>
          <a:lstStyle/>
          <a:p>
            <a:r>
              <a:rPr kumimoji="1" lang="en-US" altLang="zh-TW" dirty="0">
                <a:latin typeface="Times New Roman" panose="02020603050405020304" pitchFamily="18" charset="0"/>
                <a:cs typeface="Times New Roman" panose="02020603050405020304" pitchFamily="18" charset="0"/>
              </a:rPr>
              <a:t>Learning algorithm: Monte Carlo Tree Search with deep neural network.</a:t>
            </a:r>
          </a:p>
          <a:p>
            <a:r>
              <a:rPr kumimoji="1" lang="en-US" altLang="zh-TW" dirty="0">
                <a:latin typeface="Times New Roman" panose="02020603050405020304" pitchFamily="18" charset="0"/>
                <a:cs typeface="Times New Roman" panose="02020603050405020304" pitchFamily="18" charset="0"/>
              </a:rPr>
              <a:t>Input: state S</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={P</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S</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a:t>
            </a:r>
            <a:endParaRPr kumimoji="1" lang="en-US" altLang="zh-TW" baseline="-25000"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P</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the representation of the algorithm structure, encoded by transformer encoder.</a:t>
            </a:r>
          </a:p>
          <a:p>
            <a:pPr lvl="1"/>
            <a:r>
              <a:rPr kumimoji="1" lang="en-US" altLang="zh-TW" dirty="0">
                <a:latin typeface="Times New Roman" panose="02020603050405020304" pitchFamily="18" charset="0"/>
                <a:cs typeface="Times New Roman" panose="02020603050405020304" pitchFamily="18" charset="0"/>
              </a:rPr>
              <a:t>S</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 the dynamics of memory and registers, encoded by CPU state encoder.</a:t>
            </a:r>
          </a:p>
          <a:p>
            <a:r>
              <a:rPr kumimoji="1" lang="en-US" altLang="zh-TW" dirty="0">
                <a:latin typeface="Times New Roman" panose="02020603050405020304" pitchFamily="18" charset="0"/>
                <a:cs typeface="Times New Roman" panose="02020603050405020304" pitchFamily="18" charset="0"/>
              </a:rPr>
              <a:t>Output:</a:t>
            </a:r>
          </a:p>
          <a:p>
            <a:pPr lvl="1"/>
            <a:r>
              <a:rPr kumimoji="1" lang="en-US" altLang="zh-TW" dirty="0">
                <a:latin typeface="Times New Roman" panose="02020603050405020304" pitchFamily="18" charset="0"/>
                <a:cs typeface="Times New Roman" panose="02020603050405020304" pitchFamily="18" charset="0"/>
              </a:rPr>
              <a:t>Policy prediction: probability distribution over actions.</a:t>
            </a:r>
          </a:p>
          <a:p>
            <a:pPr lvl="1"/>
            <a:r>
              <a:rPr kumimoji="1" lang="en-US" altLang="zh-TW" dirty="0">
                <a:latin typeface="Times New Roman" panose="02020603050405020304" pitchFamily="18" charset="0"/>
                <a:cs typeface="Times New Roman" panose="02020603050405020304" pitchFamily="18" charset="0"/>
              </a:rPr>
              <a:t>Value prediction: cumulative return from state S</a:t>
            </a:r>
            <a:r>
              <a:rPr kumimoji="1" lang="en-US" altLang="zh-TW" baseline="-25000" dirty="0">
                <a:latin typeface="Times New Roman" panose="02020603050405020304" pitchFamily="18" charset="0"/>
                <a:cs typeface="Times New Roman" panose="02020603050405020304" pitchFamily="18" charset="0"/>
              </a:rPr>
              <a:t>t</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Action: one of the assembly instruction.</a:t>
            </a:r>
          </a:p>
          <a:p>
            <a:r>
              <a:rPr kumimoji="1" lang="en-US" altLang="zh-TW" dirty="0">
                <a:latin typeface="Times New Roman" panose="02020603050405020304" pitchFamily="18" charset="0"/>
                <a:cs typeface="Times New Roman" panose="02020603050405020304" pitchFamily="18" charset="0"/>
              </a:rPr>
              <a:t>Reward: algorithm correctness and algorithm latency.</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Fixed Sort with 3 elements</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E0918A6F-9CE9-9E47-B711-C29233A581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40963"/>
            <a:ext cx="12192000" cy="4536000"/>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6116084F-99BC-9F40-B8B5-2094A5989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26482"/>
            <a:ext cx="3995530" cy="1950481"/>
          </a:xfrm>
          <a:prstGeom prst="rect">
            <a:avLst/>
          </a:prstGeom>
        </p:spPr>
      </p:pic>
      <p:sp>
        <p:nvSpPr>
          <p:cNvPr id="9" name="橢圓 8">
            <a:extLst>
              <a:ext uri="{FF2B5EF4-FFF2-40B4-BE49-F238E27FC236}">
                <a16:creationId xmlns:a16="http://schemas.microsoft.com/office/drawing/2014/main" id="{4F26EA6C-1B94-634E-BE65-8527B568239C}"/>
              </a:ext>
            </a:extLst>
          </p:cNvPr>
          <p:cNvSpPr/>
          <p:nvPr/>
        </p:nvSpPr>
        <p:spPr>
          <a:xfrm>
            <a:off x="1076739" y="2494721"/>
            <a:ext cx="503583" cy="1292087"/>
          </a:xfrm>
          <a:prstGeom prst="ellipse">
            <a:avLst/>
          </a:prstGeom>
          <a:noFill/>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C5662316-5DAB-754E-81EF-07E4C136955C}"/>
                  </a:ext>
                </a:extLst>
              </p:cNvPr>
              <p:cNvSpPr txBox="1"/>
              <p:nvPr/>
            </p:nvSpPr>
            <p:spPr>
              <a:xfrm>
                <a:off x="897835" y="3784705"/>
                <a:ext cx="8613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TW" i="1" dirty="0" smtClean="0">
                          <a:latin typeface="Cambria Math" panose="02040503050406030204" pitchFamily="18" charset="0"/>
                          <a:cs typeface="Times New Roman" panose="02020603050405020304" pitchFamily="18" charset="0"/>
                        </a:rPr>
                        <m:t>𝐵</m:t>
                      </m:r>
                      <m:r>
                        <a:rPr kumimoji="1" lang="en-US" altLang="zh-TW" i="1" dirty="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dirty="0" smtClean="0">
                          <a:latin typeface="Cambria Math" panose="02040503050406030204" pitchFamily="18" charset="0"/>
                          <a:cs typeface="Times New Roman" panose="02020603050405020304" pitchFamily="18" charset="0"/>
                        </a:rPr>
                        <m:t>𝐶</m:t>
                      </m:r>
                    </m:oMath>
                  </m:oMathPara>
                </a14:m>
                <a:endParaRPr kumimoji="1" lang="zh-TW" altLang="en-US" dirty="0">
                  <a:latin typeface="Times New Roman" panose="02020603050405020304" pitchFamily="18" charset="0"/>
                  <a:cs typeface="Times New Roman" panose="02020603050405020304" pitchFamily="18" charset="0"/>
                </a:endParaRPr>
              </a:p>
            </p:txBody>
          </p:sp>
        </mc:Choice>
        <mc:Fallback xmlns="">
          <p:sp>
            <p:nvSpPr>
              <p:cNvPr id="10" name="文字方塊 9">
                <a:extLst>
                  <a:ext uri="{FF2B5EF4-FFF2-40B4-BE49-F238E27FC236}">
                    <a16:creationId xmlns:a16="http://schemas.microsoft.com/office/drawing/2014/main" id="{C5662316-5DAB-754E-81EF-07E4C136955C}"/>
                  </a:ext>
                </a:extLst>
              </p:cNvPr>
              <p:cNvSpPr txBox="1">
                <a:spLocks noRot="1" noChangeAspect="1" noMove="1" noResize="1" noEditPoints="1" noAdjustHandles="1" noChangeArrowheads="1" noChangeShapeType="1" noTextEdit="1"/>
              </p:cNvSpPr>
              <p:nvPr/>
            </p:nvSpPr>
            <p:spPr>
              <a:xfrm>
                <a:off x="897835" y="3784705"/>
                <a:ext cx="861390" cy="369332"/>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27029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Fixed Sort with 4 elements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10" name="內容版面配置區 9">
            <a:extLst>
              <a:ext uri="{FF2B5EF4-FFF2-40B4-BE49-F238E27FC236}">
                <a16:creationId xmlns:a16="http://schemas.microsoft.com/office/drawing/2014/main" id="{71E5BE4A-2237-C748-BF83-3440D44E3A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233679"/>
            <a:ext cx="12192001" cy="5624321"/>
          </a:xfrm>
        </p:spPr>
      </p:pic>
      <p:sp>
        <p:nvSpPr>
          <p:cNvPr id="11" name="橢圓 10">
            <a:extLst>
              <a:ext uri="{FF2B5EF4-FFF2-40B4-BE49-F238E27FC236}">
                <a16:creationId xmlns:a16="http://schemas.microsoft.com/office/drawing/2014/main" id="{5CDD4285-7F9D-514A-84A6-F6D5A68CB13B}"/>
              </a:ext>
            </a:extLst>
          </p:cNvPr>
          <p:cNvSpPr/>
          <p:nvPr/>
        </p:nvSpPr>
        <p:spPr>
          <a:xfrm>
            <a:off x="745435" y="1560444"/>
            <a:ext cx="1669774" cy="2484782"/>
          </a:xfrm>
          <a:prstGeom prst="ellipse">
            <a:avLst/>
          </a:prstGeom>
          <a:noFill/>
          <a:ln w="190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BCDD93A7-E7E9-2447-823F-D747752F0F44}"/>
                  </a:ext>
                </a:extLst>
              </p:cNvPr>
              <p:cNvSpPr txBox="1"/>
              <p:nvPr/>
            </p:nvSpPr>
            <p:spPr>
              <a:xfrm>
                <a:off x="768627" y="4045226"/>
                <a:ext cx="16233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TW" b="0" i="1" dirty="0" smtClean="0">
                          <a:latin typeface="Cambria Math" panose="02040503050406030204" pitchFamily="18" charset="0"/>
                          <a:cs typeface="Times New Roman" panose="02020603050405020304" pitchFamily="18" charset="0"/>
                        </a:rPr>
                        <m:t>𝐷</m:t>
                      </m:r>
                      <m:r>
                        <a:rPr kumimoji="1" lang="en-US" altLang="zh-TW" i="1" dirty="0">
                          <a:latin typeface="Cambria Math" panose="02040503050406030204" pitchFamily="18" charset="0"/>
                          <a:ea typeface="Cambria Math" panose="02040503050406030204" pitchFamily="18" charset="0"/>
                          <a:cs typeface="Times New Roman" panose="02020603050405020304" pitchFamily="18" charset="0"/>
                        </a:rPr>
                        <m:t>≥</m:t>
                      </m:r>
                      <m:r>
                        <m:rPr>
                          <m:sty m:val="p"/>
                        </m:rPr>
                        <a:rPr kumimoji="1" lang="en-US" altLang="zh-TW" b="0" i="0" dirty="0" smtClean="0">
                          <a:latin typeface="Cambria Math" panose="02040503050406030204" pitchFamily="18" charset="0"/>
                          <a:ea typeface="Cambria Math" panose="02040503050406030204" pitchFamily="18" charset="0"/>
                          <a:cs typeface="Times New Roman" panose="02020603050405020304" pitchFamily="18" charset="0"/>
                        </a:rPr>
                        <m:t>min</m:t>
                      </m:r>
                      <m:r>
                        <a:rPr kumimoji="1"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𝐴</m:t>
                      </m:r>
                      <m:r>
                        <a:rPr kumimoji="1"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dirty="0" smtClean="0">
                          <a:latin typeface="Cambria Math" panose="02040503050406030204" pitchFamily="18" charset="0"/>
                          <a:cs typeface="Times New Roman" panose="02020603050405020304" pitchFamily="18" charset="0"/>
                        </a:rPr>
                        <m:t>𝐶</m:t>
                      </m:r>
                      <m:r>
                        <a:rPr kumimoji="1" lang="en-US" altLang="zh-TW" b="0" i="1" dirty="0" smtClean="0">
                          <a:latin typeface="Cambria Math" panose="02040503050406030204" pitchFamily="18" charset="0"/>
                          <a:cs typeface="Times New Roman" panose="02020603050405020304" pitchFamily="18" charset="0"/>
                        </a:rPr>
                        <m:t>)</m:t>
                      </m:r>
                    </m:oMath>
                  </m:oMathPara>
                </a14:m>
                <a:endParaRPr kumimoji="1" lang="zh-TW" altLang="en-US" dirty="0">
                  <a:latin typeface="Times New Roman" panose="02020603050405020304" pitchFamily="18" charset="0"/>
                  <a:cs typeface="Times New Roman" panose="02020603050405020304" pitchFamily="18" charset="0"/>
                </a:endParaRPr>
              </a:p>
            </p:txBody>
          </p:sp>
        </mc:Choice>
        <mc:Fallback xmlns="">
          <p:sp>
            <p:nvSpPr>
              <p:cNvPr id="12" name="文字方塊 11">
                <a:extLst>
                  <a:ext uri="{FF2B5EF4-FFF2-40B4-BE49-F238E27FC236}">
                    <a16:creationId xmlns:a16="http://schemas.microsoft.com/office/drawing/2014/main" id="{BCDD93A7-E7E9-2447-823F-D747752F0F44}"/>
                  </a:ext>
                </a:extLst>
              </p:cNvPr>
              <p:cNvSpPr txBox="1">
                <a:spLocks noRot="1" noChangeAspect="1" noMove="1" noResize="1" noEditPoints="1" noAdjustHandles="1" noChangeArrowheads="1" noChangeShapeType="1" noTextEdit="1"/>
              </p:cNvSpPr>
              <p:nvPr/>
            </p:nvSpPr>
            <p:spPr>
              <a:xfrm>
                <a:off x="768627" y="4045226"/>
                <a:ext cx="1623390" cy="369332"/>
              </a:xfrm>
              <a:prstGeom prst="rect">
                <a:avLst/>
              </a:prstGeom>
              <a:blipFill>
                <a:blip r:embed="rId3"/>
                <a:stretch>
                  <a:fillRect b="-1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7744186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Variable Sort with 4 elements</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1034AB96-CFE4-DB40-AF05-DF33BE7701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739" y="1825625"/>
            <a:ext cx="10222521" cy="4351338"/>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3036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Comparison with State-of-the-Art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State-of-the-Art: stochastic </a:t>
            </a:r>
            <a:r>
              <a:rPr kumimoji="1" lang="en-US" altLang="zh-TW" dirty="0" err="1">
                <a:latin typeface="Times New Roman" panose="02020603050405020304" pitchFamily="18" charset="0"/>
                <a:cs typeface="Times New Roman" panose="02020603050405020304" pitchFamily="18" charset="0"/>
              </a:rPr>
              <a:t>superoptimization</a:t>
            </a:r>
            <a:r>
              <a:rPr kumimoji="1" lang="en-US" altLang="zh-TW" dirty="0">
                <a:latin typeface="Times New Roman" panose="02020603050405020304" pitchFamily="18" charset="0"/>
                <a:cs typeface="Times New Roman" panose="02020603050405020304" pitchFamily="18" charset="0"/>
              </a:rPr>
              <a:t> approach.</a:t>
            </a:r>
          </a:p>
          <a:p>
            <a:pPr lvl="1"/>
            <a:r>
              <a:rPr kumimoji="1" lang="en-US" altLang="zh-TW" dirty="0" err="1">
                <a:latin typeface="Times New Roman" panose="02020603050405020304" pitchFamily="18" charset="0"/>
                <a:cs typeface="Times New Roman" panose="02020603050405020304" pitchFamily="18" charset="0"/>
              </a:rPr>
              <a:t>Schkufza</a:t>
            </a:r>
            <a:r>
              <a:rPr kumimoji="1" lang="en-US" altLang="zh-TW" dirty="0">
                <a:latin typeface="Times New Roman" panose="02020603050405020304" pitchFamily="18" charset="0"/>
                <a:cs typeface="Times New Roman" panose="02020603050405020304" pitchFamily="18" charset="0"/>
              </a:rPr>
              <a:t>, E., Sharma, R. &amp; Aiken, A., “Stochastic </a:t>
            </a:r>
            <a:r>
              <a:rPr kumimoji="1" lang="en-US" altLang="zh-TW" dirty="0" err="1">
                <a:latin typeface="Times New Roman" panose="02020603050405020304" pitchFamily="18" charset="0"/>
                <a:cs typeface="Times New Roman" panose="02020603050405020304" pitchFamily="18" charset="0"/>
              </a:rPr>
              <a:t>superoptimization</a:t>
            </a:r>
            <a:r>
              <a:rPr kumimoji="1" lang="en-US" altLang="zh-TW" dirty="0">
                <a:latin typeface="Times New Roman" panose="02020603050405020304" pitchFamily="18" charset="0"/>
                <a:cs typeface="Times New Roman" panose="02020603050405020304" pitchFamily="18" charset="0"/>
              </a:rPr>
              <a:t>”, ACM SIGPLAN Notices, 48, 305–315 (2013).</a:t>
            </a:r>
          </a:p>
          <a:p>
            <a:r>
              <a:rPr kumimoji="1" lang="en-US" altLang="zh-TW" dirty="0">
                <a:latin typeface="Times New Roman" panose="02020603050405020304" pitchFamily="18" charset="0"/>
                <a:cs typeface="Times New Roman" panose="02020603050405020304" pitchFamily="18" charset="0"/>
              </a:rPr>
              <a:t>Use stochastic </a:t>
            </a:r>
            <a:r>
              <a:rPr kumimoji="1" lang="en-US" altLang="zh-TW" dirty="0" err="1">
                <a:latin typeface="Times New Roman" panose="02020603050405020304" pitchFamily="18" charset="0"/>
                <a:cs typeface="Times New Roman" panose="02020603050405020304" pitchFamily="18" charset="0"/>
              </a:rPr>
              <a:t>superoptimization</a:t>
            </a:r>
            <a:r>
              <a:rPr kumimoji="1" lang="en-US" altLang="zh-TW" dirty="0">
                <a:latin typeface="Times New Roman" panose="02020603050405020304" pitchFamily="18" charset="0"/>
                <a:cs typeface="Times New Roman" panose="02020603050405020304" pitchFamily="18" charset="0"/>
              </a:rPr>
              <a:t> approach as learning algorithm.</a:t>
            </a:r>
          </a:p>
          <a:p>
            <a:pPr lvl="1"/>
            <a:r>
              <a:rPr kumimoji="1" lang="en-US" altLang="zh-TW" dirty="0" err="1">
                <a:latin typeface="Times New Roman" panose="02020603050405020304" pitchFamily="18" charset="0"/>
                <a:cs typeface="Times New Roman" panose="02020603050405020304" pitchFamily="18" charset="0"/>
              </a:rPr>
              <a:t>AlphaDev</a:t>
            </a:r>
            <a:r>
              <a:rPr kumimoji="1" lang="en-US" altLang="zh-TW" dirty="0">
                <a:latin typeface="Times New Roman" panose="02020603050405020304" pitchFamily="18" charset="0"/>
                <a:cs typeface="Times New Roman" panose="02020603050405020304" pitchFamily="18" charset="0"/>
              </a:rPr>
              <a:t>-S-CS (cold start): start with no program.</a:t>
            </a:r>
          </a:p>
          <a:p>
            <a:pPr lvl="1"/>
            <a:r>
              <a:rPr kumimoji="1" lang="en-US" altLang="zh-TW" dirty="0" err="1">
                <a:latin typeface="Times New Roman" panose="02020603050405020304" pitchFamily="18" charset="0"/>
                <a:cs typeface="Times New Roman" panose="02020603050405020304" pitchFamily="18" charset="0"/>
              </a:rPr>
              <a:t>AlphaDev</a:t>
            </a:r>
            <a:r>
              <a:rPr kumimoji="1" lang="en-US" altLang="zh-TW" dirty="0">
                <a:latin typeface="Times New Roman" panose="02020603050405020304" pitchFamily="18" charset="0"/>
                <a:cs typeface="Times New Roman" panose="02020603050405020304" pitchFamily="18" charset="0"/>
              </a:rPr>
              <a:t>-S-WS (warm start): start with optimal sorting program.</a:t>
            </a:r>
          </a:p>
          <a:p>
            <a:endParaRPr kumimoji="1" lang="en-US" altLang="zh-TW"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4007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Comparison of Fixed Sort</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D499C8B7-4FC1-D040-A9B4-8F5F0BB0FA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2678" y="1576049"/>
            <a:ext cx="5446644" cy="5281951"/>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11</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9571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Comparison of Variable Sort</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B641FFC4-69F0-1347-A9FF-70BB207135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000" y="2060575"/>
            <a:ext cx="10160000" cy="3746500"/>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FC60903F-9E1C-EA48-BE01-C6383C7110D3}"/>
              </a:ext>
            </a:extLst>
          </p:cNvPr>
          <p:cNvSpPr txBox="1"/>
          <p:nvPr/>
        </p:nvSpPr>
        <p:spPr>
          <a:xfrm>
            <a:off x="1630017" y="2060575"/>
            <a:ext cx="4760844"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5</a:t>
            </a:r>
            <a:r>
              <a:rPr kumimoji="1" lang="en-US" altLang="zh-TW" baseline="30000" dirty="0">
                <a:latin typeface="Times New Roman" panose="02020603050405020304" pitchFamily="18" charset="0"/>
                <a:cs typeface="Times New Roman" panose="02020603050405020304" pitchFamily="18" charset="0"/>
              </a:rPr>
              <a:t>th</a:t>
            </a:r>
            <a:r>
              <a:rPr kumimoji="1" lang="en-US" altLang="zh-TW" dirty="0">
                <a:latin typeface="Times New Roman" panose="02020603050405020304" pitchFamily="18" charset="0"/>
                <a:cs typeface="Times New Roman" panose="02020603050405020304" pitchFamily="18" charset="0"/>
              </a:rPr>
              <a:t> percentile among 100 machines’ latencies</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73799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Exploration Hypothesis</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two-dimensional t-stochastic neighbor embedding (t-SNE)</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331EA79A-87FE-F944-91DE-C97E99B7B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935" y="2455004"/>
            <a:ext cx="11082130" cy="3716229"/>
          </a:xfrm>
          <a:prstGeom prst="rect">
            <a:avLst/>
          </a:prstGeom>
        </p:spPr>
      </p:pic>
    </p:spTree>
    <p:extLst>
      <p:ext uri="{BB962C8B-B14F-4D97-AF65-F5344CB8AC3E}">
        <p14:creationId xmlns:p14="http://schemas.microsoft.com/office/powerpoint/2010/main" val="10047681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 Comparison with Human Benchmark</a:t>
            </a:r>
            <a:endParaRPr kumimoji="1"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FB139E17-423C-B646-B6ED-A5A4C19405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7260" y="1598177"/>
            <a:ext cx="6437479" cy="5154566"/>
          </a:xfr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0757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Conclusion</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Sort 3, Sort 4, and Sort 5 have been included in LLVM </a:t>
            </a:r>
            <a:r>
              <a:rPr kumimoji="1" lang="en-US" altLang="zh-TW" dirty="0" err="1">
                <a:latin typeface="Times New Roman" panose="02020603050405020304" pitchFamily="18" charset="0"/>
                <a:cs typeface="Times New Roman" panose="02020603050405020304" pitchFamily="18" charset="0"/>
              </a:rPr>
              <a:t>libc</a:t>
            </a:r>
            <a:r>
              <a:rPr kumimoji="1" lang="en-US" altLang="zh-TW" dirty="0">
                <a:latin typeface="Times New Roman" panose="02020603050405020304" pitchFamily="18" charset="0"/>
                <a:cs typeface="Times New Roman" panose="02020603050405020304" pitchFamily="18" charset="0"/>
              </a:rPr>
              <a:t>++ standard sorting library.</a:t>
            </a:r>
          </a:p>
          <a:p>
            <a:r>
              <a:rPr kumimoji="1" lang="en-US" altLang="zh-TW" dirty="0" err="1">
                <a:latin typeface="Times New Roman" panose="02020603050405020304" pitchFamily="18" charset="0"/>
                <a:cs typeface="Times New Roman" panose="02020603050405020304" pitchFamily="18" charset="0"/>
              </a:rPr>
              <a:t>futurework</a:t>
            </a:r>
            <a:r>
              <a:rPr kumimoji="1" lang="en-US" altLang="zh-TW" dirty="0">
                <a:latin typeface="Times New Roman" panose="02020603050405020304" pitchFamily="18" charset="0"/>
                <a:cs typeface="Times New Roman" panose="02020603050405020304" pitchFamily="18" charset="0"/>
              </a:rPr>
              <a:t> of </a:t>
            </a:r>
            <a:r>
              <a:rPr kumimoji="1" lang="en-US" altLang="zh-TW" dirty="0" err="1">
                <a:latin typeface="Times New Roman" panose="02020603050405020304" pitchFamily="18" charset="0"/>
                <a:cs typeface="Times New Roman" panose="02020603050405020304" pitchFamily="18" charset="0"/>
              </a:rPr>
              <a:t>AlphaDev</a:t>
            </a:r>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Optimize the number of collisions of hash function.</a:t>
            </a:r>
          </a:p>
          <a:p>
            <a:pPr lvl="1"/>
            <a:r>
              <a:rPr kumimoji="1" lang="en-US" altLang="zh-TW" dirty="0">
                <a:latin typeface="Times New Roman" panose="02020603050405020304" pitchFamily="18" charset="0"/>
                <a:cs typeface="Times New Roman" panose="02020603050405020304" pitchFamily="18" charset="0"/>
              </a:rPr>
              <a:t>Optimize the number of logic components of complicated functions.</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6890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TotalTime>
  <Words>648</Words>
  <Application>Microsoft Office PowerPoint</Application>
  <PresentationFormat>寬螢幕</PresentationFormat>
  <Paragraphs>64</Paragraphs>
  <Slides>15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Faster sorting algorithms discovered using deep reinforcement learning</vt:lpstr>
      <vt:lpstr>Abstract</vt:lpstr>
      <vt:lpstr>Abstract (Cont.)</vt:lpstr>
      <vt:lpstr>Problem Setup</vt:lpstr>
      <vt:lpstr>C++ program and Assembly program</vt:lpstr>
      <vt:lpstr>AlphaDev</vt:lpstr>
      <vt:lpstr>Fixed Sort with 3 elements</vt:lpstr>
      <vt:lpstr>Fixed Sort with 4 elements</vt:lpstr>
      <vt:lpstr>Variable Sort with 4 elements</vt:lpstr>
      <vt:lpstr>Comparison with State-of-the-Art</vt:lpstr>
      <vt:lpstr>Comparison of Fixed Sort</vt:lpstr>
      <vt:lpstr>Comparison of Variable Sort</vt:lpstr>
      <vt:lpstr>Exploration Hypothesis</vt:lpstr>
      <vt:lpstr> Comparison with Human Benchmark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pplab</cp:lastModifiedBy>
  <cp:revision>45</cp:revision>
  <dcterms:created xsi:type="dcterms:W3CDTF">2023-01-02T07:42:35Z</dcterms:created>
  <dcterms:modified xsi:type="dcterms:W3CDTF">2023-06-13T07:22:34Z</dcterms:modified>
</cp:coreProperties>
</file>