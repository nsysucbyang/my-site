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78" r:id="rId4"/>
    <p:sldId id="279" r:id="rId5"/>
    <p:sldId id="280" r:id="rId6"/>
    <p:sldId id="281" r:id="rId7"/>
    <p:sldId id="282" r:id="rId8"/>
    <p:sldId id="283" r:id="rId9"/>
    <p:sldId id="286" r:id="rId10"/>
    <p:sldId id="284" r:id="rId11"/>
    <p:sldId id="285" r:id="rId12"/>
    <p:sldId id="287" r:id="rId13"/>
    <p:sldId id="269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594" autoAdjust="0"/>
  </p:normalViewPr>
  <p:slideViewPr>
    <p:cSldViewPr snapToGrid="0">
      <p:cViewPr varScale="1">
        <p:scale>
          <a:sx n="54" d="100"/>
          <a:sy n="54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67DF-ECF2-46EC-8446-7B955A747664}" type="datetimeFigureOut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562F9-E128-4B6E-872C-5F1FFAE335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9557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0929B-4ACD-4AAE-9309-95C05ACE2D4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33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28013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14024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6012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73005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2144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4698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0015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175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effectLst/>
                <a:latin typeface="-apple-system"/>
              </a:rPr>
              <a:t>它可以用來判斷兩個後綴是否有相同的前綴。如果兩個後綴的 </a:t>
            </a:r>
            <a:r>
              <a:rPr lang="en-US" altLang="zh-TW" b="0" i="0" dirty="0">
                <a:effectLst/>
                <a:latin typeface="-apple-system"/>
              </a:rPr>
              <a:t>parent-distance representation </a:t>
            </a:r>
            <a:r>
              <a:rPr lang="zh-TW" altLang="en-US" b="0" i="0" dirty="0">
                <a:effectLst/>
                <a:latin typeface="-apple-system"/>
              </a:rPr>
              <a:t>相同，那麼它們的前綴就是相同的。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31539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="0" i="0" dirty="0">
                <a:effectLst/>
                <a:latin typeface="-apple-system"/>
              </a:rPr>
              <a:t>1. Cartesian suffix tree </a:t>
            </a:r>
            <a:r>
              <a:rPr lang="zh-TW" altLang="en-US" b="0" i="0" dirty="0">
                <a:effectLst/>
                <a:latin typeface="-apple-system"/>
              </a:rPr>
              <a:t>的每個節點都代表了原始字符串的一個後綴，而且這些後綴的長度都是不同的。</a:t>
            </a:r>
            <a:endParaRPr lang="en-US" altLang="zh-TW" b="0" i="0" dirty="0">
              <a:effectLst/>
              <a:latin typeface="-apple-system"/>
            </a:endParaRPr>
          </a:p>
          <a:p>
            <a:r>
              <a:rPr lang="en-US" altLang="zh-TW" b="0" i="0" dirty="0">
                <a:effectLst/>
                <a:latin typeface="-apple-system"/>
              </a:rPr>
              <a:t>2. </a:t>
            </a:r>
            <a:r>
              <a:rPr lang="zh-TW" altLang="en-US" b="0" i="0" dirty="0">
                <a:effectLst/>
                <a:latin typeface="-apple-system"/>
              </a:rPr>
              <a:t>它保證了每個節點都代表了一個唯一的後綴，並且這些後綴之間沒有重疊或包含關係。</a:t>
            </a:r>
            <a:endParaRPr lang="en-US" altLang="zh-TW" b="0" i="0" dirty="0">
              <a:effectLst/>
              <a:latin typeface="-apple-system"/>
            </a:endParaRPr>
          </a:p>
          <a:p>
            <a:r>
              <a:rPr lang="en-US" altLang="zh-TW" dirty="0"/>
              <a:t>3. </a:t>
            </a:r>
            <a:r>
              <a:rPr lang="zh-TW" altLang="en-US" b="0" i="0" dirty="0">
                <a:effectLst/>
                <a:latin typeface="-apple-system"/>
              </a:rPr>
              <a:t>它保證了在構建 </a:t>
            </a:r>
            <a:r>
              <a:rPr lang="en-US" altLang="zh-TW" b="0" i="0" dirty="0">
                <a:effectLst/>
                <a:latin typeface="-apple-system"/>
              </a:rPr>
              <a:t>Cartesian suffix tree </a:t>
            </a:r>
            <a:r>
              <a:rPr lang="zh-TW" altLang="en-US" b="0" i="0" dirty="0">
                <a:effectLst/>
                <a:latin typeface="-apple-system"/>
              </a:rPr>
              <a:t>的過程中，每次插入一個新的後綴時，都可以利用前一個後綴的信息來更新 </a:t>
            </a:r>
            <a:r>
              <a:rPr lang="en-US" altLang="zh-TW" b="0" i="0" dirty="0">
                <a:effectLst/>
                <a:latin typeface="-apple-system"/>
              </a:rPr>
              <a:t>Cartesian suffix tree</a:t>
            </a:r>
            <a:r>
              <a:rPr lang="zh-TW" altLang="en-US" b="0" i="0" dirty="0">
                <a:effectLst/>
                <a:latin typeface="-apple-system"/>
              </a:rPr>
              <a:t>。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42303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562F9-E128-4B6E-872C-5F1FFAE33516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4227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8045-16E7-451C-65FC-B158983ECC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F068A-58AE-8713-2F67-C52F90F86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BA286-7DBB-ABAF-AE2A-AD9DDE775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DD569-BD2D-4D1C-B67A-2A5601E6B3E3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A0D4C-517F-3A75-2138-B35995E6D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1CC6E-1A90-9EBF-3395-DCC19E86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3099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D236-5FFE-A036-B937-040C503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EEFD4-29DF-59B4-50ED-3F42FB6C5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25951-765D-8F13-9483-0B7BC8346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3F9AF4-0F76-4C66-B441-D1B2D7ED3BEC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DCF9E-E6A3-995C-A1B7-97A453CBD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85ECA-E5DF-198A-D862-E85E0172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6363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64931-3342-74A5-5F4A-1ACADB362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ABAD9-77A7-31C2-CE3B-83AB0265A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B3F41-FADE-64E8-94E5-51E3BAD8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A6C79-1DF6-49C7-8CD7-FD6F5B614111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82AA-63C8-C306-BDDF-A523D9F84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83CF1-15A7-D9A0-AB7D-63A9F320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627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4541-876E-1323-86BB-134B34EBF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F7A99-40BB-A978-A62D-456D85CB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6C4AB-2328-C15C-EDBA-A6D98497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785A17-9FA9-28E5-585D-C1967447E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813F3-84C2-4D70-A0DE-40780363C9EE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8A8324-6BD6-434F-B46A-42E288600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986F1-3A6D-B41E-CFB4-7417B1F7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95118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3C63D-C7AF-2A59-F8AD-A038C042A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C0EB9-FD48-3B5F-2543-5658F7F50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5B3736-516F-9579-FACA-DCB21A18E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B03EA5-7849-E5F4-BF87-F3FC863686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31D914-6ED8-D257-6CC2-104C6745C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A8773-F0F7-3DBC-9C59-CA8EF9CF9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FA993-B73B-4E0A-AC46-BDD6B2FA04A9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508DB-1C1C-AFC2-2C1A-1DDBC10F8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C9407E-CED6-F5A6-39DB-82B07C84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342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28DAB-3374-67D6-5EB1-2C3253F55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D7194-F69E-4DA8-89C4-AE8729BF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86ADAD-A8C5-4E4F-97C2-B2F188A7EEC4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8D0780-D9CB-B34D-A2E0-1D14B42F5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A4697E-BF8C-08DA-29D6-3B9ACC5CE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0603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7CFF4D-DBD6-E4FB-30B0-3844F2359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5DE65-CDBA-47B3-8C63-EAD937C328D1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53340C-74EA-761B-F592-FD6C44690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16107-4110-8028-60EF-14E5F2D11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8812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D5481-AD55-0A04-6A16-2FE5FE1FE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FA7E5-F55B-C36B-5945-661CDB1EDF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45507-E0DA-CCE2-C66E-2F29EA6A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0A186-4631-35C9-68C0-298149F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9CB4A-921C-4216-9056-986295B6B351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6AC9F0-1D2E-CD0B-A6B8-A8337FE53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73D3E-1C05-2CFF-6405-4771E57F8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5450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29362-71C4-6CF9-38E0-C4F81738C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231A-174C-8A04-7F37-326E7B3D7B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3C50E-C2ED-00AE-E101-79CFAFB17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4BE7B-D25D-CFE2-B089-BAA86DCFC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2F44B-5705-4772-8785-D8AAB7BCD3BF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0EA70-9CF5-E2A3-4310-0B5FAE7B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4B4A-B942-A3BD-6BA9-01E17E554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809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6AD-5403-1ACC-D4D1-96B39DD8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60034-6B39-C082-088F-72D19BFE1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803D3-C2D4-4034-17A0-8D2928B12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00920-BF4E-4A34-B8B5-5D2BB9836F35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95024-0915-E154-0CBE-65A94D230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7C4D6-1F53-D5A1-0F98-4AF14C84F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947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8714A-61BB-5406-A5DA-BC8910B5CD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4B0A4F-7A22-6245-0B0A-635765A854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23698-D80C-5B02-26C3-B7E0D0209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923D5-CB9E-42C4-A443-74EE43A78F1A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61CDA-4309-2D61-CD40-8DE7FA2E1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DEE89-0D64-3A74-3CEA-425D035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892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9CB272-2800-21BB-F226-6BCB7515B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EA0C83-E1FB-8AAC-CDEA-98C2D15B70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59ED-035C-8CC1-CFE9-73EA26D0C3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CDBA5-E58B-4CB2-961D-91717090BBCB}" type="datetime1">
              <a:rPr lang="zh-TW" altLang="en-US" smtClean="0"/>
              <a:t>2023/6/12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ED3AA-0139-02CF-DF2C-5E6C9CB6C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D16DD-A0C6-441C-56CA-8F27599A8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97B8E6-CB28-4350-9E62-3F3C29E41F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37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901A9-EC42-0349-C42C-1EF1F72BF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3962" y="1122363"/>
            <a:ext cx="9966552" cy="2387600"/>
          </a:xfrm>
        </p:spPr>
        <p:txBody>
          <a:bodyPr>
            <a:noAutofit/>
          </a:bodyPr>
          <a:lstStyle/>
          <a:p>
            <a:r>
              <a:rPr lang="en-US" altLang="zh-TW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 Matching and Indexing</a:t>
            </a:r>
            <a:endParaRPr lang="zh-TW" alt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DBE6CB-9CF8-48E7-B831-C6B10B6C08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6014" y="3928587"/>
            <a:ext cx="10842447" cy="1655762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Sung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Gwan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Amihood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Amir, Gad M. Landau,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Kunsoo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Park, 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arXiv:1905.08974v1 [cs.DS] 22 May 2019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272805CA-C188-EA0E-0232-5E39FC11B582}"/>
              </a:ext>
            </a:extLst>
          </p:cNvPr>
          <p:cNvSpPr txBox="1">
            <a:spLocks/>
          </p:cNvSpPr>
          <p:nvPr/>
        </p:nvSpPr>
        <p:spPr>
          <a:xfrm>
            <a:off x="8322197" y="6002973"/>
            <a:ext cx="3584053" cy="660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Wen-Wen Liao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June 13,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AB76B-0FAF-9711-6F27-1F8F6638E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67857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3735-885C-D762-2A7C-7760F6C5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6866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endParaRPr kumimoji="1" lang="zh-TW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A558-83F5-DC4B-E8C9-3EB0801F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2298"/>
            <a:ext cx="10797330" cy="4697834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introduce a new metric of match, called Cartesian tree matching, which means that two strings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if they have the same Cartesian trees. Based on Cartesian tree matching, we define single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matching for a text of length n and a pattern of length m, and multiple pattern matching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text of length n and k patterns of total length m. We present an O(n + m) time algorithm for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pattern matching, and an O((n + m)log k) deterministic time or O(n + m) randomized time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for multiple pattern matching. We also define an index data structure called Cartesian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suffix tree, and present an O(n) randomized time algorithm to build the Cartesian suffix tree. Our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algorithms for Cartesian tree matching use a representation of the Cartesian tree, called the</a:t>
            </a:r>
          </a:p>
          <a:p>
            <a:pPr marL="0" indent="0">
              <a:lnSpc>
                <a:spcPct val="110000"/>
              </a:lnSpc>
              <a:buNone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parent-distance representation.</a:t>
            </a:r>
            <a:endParaRPr kumimoji="1"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55E3F4-879A-1E75-AEA8-8BFC5FE9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719078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Tree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1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𝑇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= (41, 36, 15, 8, </a:t>
            </a:r>
            <a:r>
              <a:rPr kumimoji="1" lang="en-US" altLang="zh-TW" sz="2400" u="sng" dirty="0">
                <a:latin typeface="Cambria Math" panose="02040503050406030204" pitchFamily="18" charset="0"/>
                <a:cs typeface="Times New Roman" panose="02020603050405020304" pitchFamily="18" charset="0"/>
              </a:rPr>
              <a:t>41, 23, 28, 16, 26, 22, 56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29, 12, 61)</a:t>
            </a:r>
          </a:p>
          <a:p>
            <a:r>
              <a:rPr kumimoji="1" lang="en-US" altLang="zh-TW" sz="2400" i="1" dirty="0">
                <a:latin typeface="Cambria Math" panose="02040503050406030204" pitchFamily="18" charset="0"/>
                <a:cs typeface="Times New Roman" panose="02020603050405020304" pitchFamily="18" charset="0"/>
              </a:rPr>
              <a:t>P 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= (6, 2, 5, 1, 4, 3, 7)</a:t>
            </a: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fr-F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CT(T[5..11]) = CT(P[1..7])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2239A65-C1A2-EF7E-4A2D-3CBDE884C503}"/>
              </a:ext>
            </a:extLst>
          </p:cNvPr>
          <p:cNvSpPr/>
          <p:nvPr/>
        </p:nvSpPr>
        <p:spPr>
          <a:xfrm>
            <a:off x="3167463" y="4005086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E2666A-1C41-8A54-BE48-1CEA2DB63C0C}"/>
              </a:ext>
            </a:extLst>
          </p:cNvPr>
          <p:cNvSpPr txBox="1"/>
          <p:nvPr/>
        </p:nvSpPr>
        <p:spPr>
          <a:xfrm>
            <a:off x="3251629" y="405542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</a:t>
            </a:r>
            <a:endParaRPr lang="zh-TW" alt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3F38C6-B88F-E96F-5B24-6F7FAE300838}"/>
              </a:ext>
            </a:extLst>
          </p:cNvPr>
          <p:cNvSpPr/>
          <p:nvPr/>
        </p:nvSpPr>
        <p:spPr>
          <a:xfrm>
            <a:off x="2507749" y="4875436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EE2BAC-5FF3-6B66-7C89-B01E58767C9E}"/>
              </a:ext>
            </a:extLst>
          </p:cNvPr>
          <p:cNvSpPr txBox="1"/>
          <p:nvPr/>
        </p:nvSpPr>
        <p:spPr>
          <a:xfrm>
            <a:off x="2591915" y="492577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</a:t>
            </a:r>
            <a:endParaRPr lang="zh-TW" alt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43104F-20D4-80FF-3E78-1BDCB9E5ECD2}"/>
              </a:ext>
            </a:extLst>
          </p:cNvPr>
          <p:cNvSpPr/>
          <p:nvPr/>
        </p:nvSpPr>
        <p:spPr>
          <a:xfrm>
            <a:off x="3872492" y="48818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1C6F40-50F5-2C7B-4F3F-8C1A9152029E}"/>
              </a:ext>
            </a:extLst>
          </p:cNvPr>
          <p:cNvSpPr txBox="1"/>
          <p:nvPr/>
        </p:nvSpPr>
        <p:spPr>
          <a:xfrm>
            <a:off x="3956658" y="493221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3</a:t>
            </a:r>
            <a:endParaRPr lang="zh-TW" alt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F45250-BE54-2578-BAFC-C27C795C4073}"/>
              </a:ext>
            </a:extLst>
          </p:cNvPr>
          <p:cNvSpPr/>
          <p:nvPr/>
        </p:nvSpPr>
        <p:spPr>
          <a:xfrm>
            <a:off x="2143260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78AD66-EC29-7653-8285-17E37EA806C3}"/>
              </a:ext>
            </a:extLst>
          </p:cNvPr>
          <p:cNvSpPr txBox="1"/>
          <p:nvPr/>
        </p:nvSpPr>
        <p:spPr>
          <a:xfrm>
            <a:off x="2227426" y="580831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</a:t>
            </a:r>
            <a:endParaRPr lang="zh-TW" alt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44CBD77-9BD2-4023-60C9-07BE339CAF48}"/>
              </a:ext>
            </a:extLst>
          </p:cNvPr>
          <p:cNvSpPr/>
          <p:nvPr/>
        </p:nvSpPr>
        <p:spPr>
          <a:xfrm>
            <a:off x="2848288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251124-E230-35DE-51D9-AF60D3F8490C}"/>
              </a:ext>
            </a:extLst>
          </p:cNvPr>
          <p:cNvSpPr txBox="1"/>
          <p:nvPr/>
        </p:nvSpPr>
        <p:spPr>
          <a:xfrm>
            <a:off x="2932454" y="580831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</a:t>
            </a:r>
            <a:endParaRPr lang="zh-TW" alt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11CA07-E543-2A5B-984A-A153C0F42CFD}"/>
              </a:ext>
            </a:extLst>
          </p:cNvPr>
          <p:cNvSpPr/>
          <p:nvPr/>
        </p:nvSpPr>
        <p:spPr>
          <a:xfrm>
            <a:off x="3553316" y="576372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08A29E-3788-FB58-CC06-44177E31F615}"/>
              </a:ext>
            </a:extLst>
          </p:cNvPr>
          <p:cNvSpPr txBox="1"/>
          <p:nvPr/>
        </p:nvSpPr>
        <p:spPr>
          <a:xfrm>
            <a:off x="3637482" y="581406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7</a:t>
            </a:r>
            <a:endParaRPr lang="zh-TW" alt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261B0F8-0363-B4CE-B096-9721E725A965}"/>
              </a:ext>
            </a:extLst>
          </p:cNvPr>
          <p:cNvSpPr/>
          <p:nvPr/>
        </p:nvSpPr>
        <p:spPr>
          <a:xfrm>
            <a:off x="4258344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0FD628-0981-64EE-0252-37524EAA2655}"/>
              </a:ext>
            </a:extLst>
          </p:cNvPr>
          <p:cNvSpPr txBox="1"/>
          <p:nvPr/>
        </p:nvSpPr>
        <p:spPr>
          <a:xfrm>
            <a:off x="4342510" y="5808316"/>
            <a:ext cx="301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4</a:t>
            </a:r>
            <a:endParaRPr lang="zh-TW" altLang="en-US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C0704F5-39E2-5F57-D986-728F6571C451}"/>
              </a:ext>
            </a:extLst>
          </p:cNvPr>
          <p:cNvCxnSpPr>
            <a:cxnSpLocks/>
            <a:endCxn id="8" idx="0"/>
          </p:cNvCxnSpPr>
          <p:nvPr/>
        </p:nvCxnSpPr>
        <p:spPr>
          <a:xfrm flipH="1">
            <a:off x="2742759" y="4424761"/>
            <a:ext cx="491381" cy="4506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7E12937-DA7A-64FD-64B6-33C5821E26AF}"/>
              </a:ext>
            </a:extLst>
          </p:cNvPr>
          <p:cNvCxnSpPr>
            <a:cxnSpLocks/>
            <a:stCxn id="4" idx="5"/>
            <a:endCxn id="10" idx="0"/>
          </p:cNvCxnSpPr>
          <p:nvPr/>
        </p:nvCxnSpPr>
        <p:spPr>
          <a:xfrm>
            <a:off x="3568649" y="4406272"/>
            <a:ext cx="538853" cy="4756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394AE79-44D8-D1BF-E21E-67AAD2303531}"/>
              </a:ext>
            </a:extLst>
          </p:cNvPr>
          <p:cNvCxnSpPr>
            <a:cxnSpLocks/>
            <a:stCxn id="8" idx="3"/>
            <a:endCxn id="12" idx="0"/>
          </p:cNvCxnSpPr>
          <p:nvPr/>
        </p:nvCxnSpPr>
        <p:spPr>
          <a:xfrm flipH="1">
            <a:off x="2378270" y="5276622"/>
            <a:ext cx="198312" cy="4813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868A32D-C475-5A25-1044-6A7008A2A987}"/>
              </a:ext>
            </a:extLst>
          </p:cNvPr>
          <p:cNvCxnSpPr>
            <a:cxnSpLocks/>
            <a:stCxn id="8" idx="5"/>
            <a:endCxn id="14" idx="0"/>
          </p:cNvCxnSpPr>
          <p:nvPr/>
        </p:nvCxnSpPr>
        <p:spPr>
          <a:xfrm>
            <a:off x="2908935" y="5276622"/>
            <a:ext cx="174363" cy="4813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869E7FE-C6DF-D162-F616-165032D09DAD}"/>
              </a:ext>
            </a:extLst>
          </p:cNvPr>
          <p:cNvCxnSpPr>
            <a:cxnSpLocks/>
            <a:stCxn id="10" idx="5"/>
            <a:endCxn id="21" idx="0"/>
          </p:cNvCxnSpPr>
          <p:nvPr/>
        </p:nvCxnSpPr>
        <p:spPr>
          <a:xfrm>
            <a:off x="4273678" y="5283059"/>
            <a:ext cx="219676" cy="4749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CDAD48A-8818-F850-3558-EBEAE82F183E}"/>
              </a:ext>
            </a:extLst>
          </p:cNvPr>
          <p:cNvCxnSpPr>
            <a:cxnSpLocks/>
            <a:stCxn id="10" idx="3"/>
            <a:endCxn id="19" idx="0"/>
          </p:cNvCxnSpPr>
          <p:nvPr/>
        </p:nvCxnSpPr>
        <p:spPr>
          <a:xfrm flipH="1">
            <a:off x="3788326" y="5283059"/>
            <a:ext cx="152999" cy="4806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41AEEB00-D969-EC2B-B741-BD833202939F}"/>
              </a:ext>
            </a:extLst>
          </p:cNvPr>
          <p:cNvSpPr/>
          <p:nvPr/>
        </p:nvSpPr>
        <p:spPr>
          <a:xfrm>
            <a:off x="7975115" y="4005086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FE2590-0B93-58A9-9893-60625664F670}"/>
              </a:ext>
            </a:extLst>
          </p:cNvPr>
          <p:cNvSpPr txBox="1"/>
          <p:nvPr/>
        </p:nvSpPr>
        <p:spPr>
          <a:xfrm>
            <a:off x="8000772" y="405542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16</a:t>
            </a:r>
            <a:endParaRPr lang="zh-TW" alt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8743BA1-DB30-0AA0-7AD6-18641345A305}"/>
              </a:ext>
            </a:extLst>
          </p:cNvPr>
          <p:cNvSpPr/>
          <p:nvPr/>
        </p:nvSpPr>
        <p:spPr>
          <a:xfrm>
            <a:off x="7315401" y="4875436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840FEF-3677-D9C1-1376-593E4A652BA8}"/>
              </a:ext>
            </a:extLst>
          </p:cNvPr>
          <p:cNvSpPr txBox="1"/>
          <p:nvPr/>
        </p:nvSpPr>
        <p:spPr>
          <a:xfrm>
            <a:off x="7347889" y="49225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23</a:t>
            </a:r>
            <a:endParaRPr lang="zh-TW" alt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575E13E2-837E-9826-DFB3-A16AC45024B4}"/>
              </a:ext>
            </a:extLst>
          </p:cNvPr>
          <p:cNvSpPr/>
          <p:nvPr/>
        </p:nvSpPr>
        <p:spPr>
          <a:xfrm>
            <a:off x="8680144" y="48818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221329-A454-A750-39EB-3B47FCF9CB90}"/>
              </a:ext>
            </a:extLst>
          </p:cNvPr>
          <p:cNvSpPr txBox="1"/>
          <p:nvPr/>
        </p:nvSpPr>
        <p:spPr>
          <a:xfrm>
            <a:off x="8717421" y="4932216"/>
            <a:ext cx="470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22</a:t>
            </a:r>
            <a:endParaRPr lang="zh-TW" alt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55EA1484-7267-006E-DDA0-DC8151BC9DD0}"/>
              </a:ext>
            </a:extLst>
          </p:cNvPr>
          <p:cNvSpPr/>
          <p:nvPr/>
        </p:nvSpPr>
        <p:spPr>
          <a:xfrm>
            <a:off x="6950912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133E1C-D837-3554-7E22-B2EE5317118E}"/>
              </a:ext>
            </a:extLst>
          </p:cNvPr>
          <p:cNvSpPr txBox="1"/>
          <p:nvPr/>
        </p:nvSpPr>
        <p:spPr>
          <a:xfrm>
            <a:off x="6982622" y="58083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41</a:t>
            </a:r>
            <a:endParaRPr lang="zh-TW" altLang="en-US" dirty="0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6945D32-1B88-8827-8EE6-5478F59D2157}"/>
              </a:ext>
            </a:extLst>
          </p:cNvPr>
          <p:cNvSpPr/>
          <p:nvPr/>
        </p:nvSpPr>
        <p:spPr>
          <a:xfrm>
            <a:off x="7655940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61FBC79-0974-34D5-3C04-9458520DAC64}"/>
              </a:ext>
            </a:extLst>
          </p:cNvPr>
          <p:cNvSpPr txBox="1"/>
          <p:nvPr/>
        </p:nvSpPr>
        <p:spPr>
          <a:xfrm>
            <a:off x="7681777" y="5809714"/>
            <a:ext cx="536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28</a:t>
            </a:r>
            <a:endParaRPr lang="zh-TW" altLang="en-US" dirty="0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888D299-9E72-33EB-72E1-0A3B37F93ACA}"/>
              </a:ext>
            </a:extLst>
          </p:cNvPr>
          <p:cNvSpPr/>
          <p:nvPr/>
        </p:nvSpPr>
        <p:spPr>
          <a:xfrm>
            <a:off x="8360968" y="576372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071E24-6797-146B-A7AB-8FD1D0E94178}"/>
              </a:ext>
            </a:extLst>
          </p:cNvPr>
          <p:cNvSpPr txBox="1"/>
          <p:nvPr/>
        </p:nvSpPr>
        <p:spPr>
          <a:xfrm>
            <a:off x="8384097" y="58062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26</a:t>
            </a:r>
            <a:endParaRPr lang="zh-TW" alt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B0C9826-E864-0F06-BDEB-3A31663818CA}"/>
              </a:ext>
            </a:extLst>
          </p:cNvPr>
          <p:cNvSpPr/>
          <p:nvPr/>
        </p:nvSpPr>
        <p:spPr>
          <a:xfrm>
            <a:off x="9065996" y="5757973"/>
            <a:ext cx="470019" cy="470019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F8C2137-B09A-29FB-AB1F-5FE30833EEE8}"/>
              </a:ext>
            </a:extLst>
          </p:cNvPr>
          <p:cNvSpPr txBox="1"/>
          <p:nvPr/>
        </p:nvSpPr>
        <p:spPr>
          <a:xfrm>
            <a:off x="9101426" y="5806222"/>
            <a:ext cx="493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56</a:t>
            </a:r>
            <a:endParaRPr lang="zh-TW" altLang="en-US" dirty="0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65FA3DB-2818-43E5-6861-879C35488563}"/>
              </a:ext>
            </a:extLst>
          </p:cNvPr>
          <p:cNvCxnSpPr>
            <a:cxnSpLocks/>
            <a:endCxn id="45" idx="0"/>
          </p:cNvCxnSpPr>
          <p:nvPr/>
        </p:nvCxnSpPr>
        <p:spPr>
          <a:xfrm flipH="1">
            <a:off x="7550411" y="4424761"/>
            <a:ext cx="491381" cy="4506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24C27DA-E387-4FF5-23D1-D76787A88492}"/>
              </a:ext>
            </a:extLst>
          </p:cNvPr>
          <p:cNvCxnSpPr>
            <a:cxnSpLocks/>
            <a:stCxn id="43" idx="5"/>
            <a:endCxn id="47" idx="0"/>
          </p:cNvCxnSpPr>
          <p:nvPr/>
        </p:nvCxnSpPr>
        <p:spPr>
          <a:xfrm>
            <a:off x="8376301" y="4406272"/>
            <a:ext cx="538853" cy="47560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D4A36A-4CEB-D2A0-D2B0-CFB7F7B08F22}"/>
              </a:ext>
            </a:extLst>
          </p:cNvPr>
          <p:cNvCxnSpPr>
            <a:cxnSpLocks/>
            <a:stCxn id="45" idx="3"/>
            <a:endCxn id="49" idx="0"/>
          </p:cNvCxnSpPr>
          <p:nvPr/>
        </p:nvCxnSpPr>
        <p:spPr>
          <a:xfrm flipH="1">
            <a:off x="7185922" y="5276622"/>
            <a:ext cx="198312" cy="4813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43F497F1-58EF-1239-BB10-967F606388EB}"/>
              </a:ext>
            </a:extLst>
          </p:cNvPr>
          <p:cNvCxnSpPr>
            <a:cxnSpLocks/>
            <a:stCxn id="45" idx="5"/>
            <a:endCxn id="51" idx="0"/>
          </p:cNvCxnSpPr>
          <p:nvPr/>
        </p:nvCxnSpPr>
        <p:spPr>
          <a:xfrm>
            <a:off x="7716587" y="5276622"/>
            <a:ext cx="174363" cy="48135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819B2A3-0098-8F6F-5084-0599D63E72BB}"/>
              </a:ext>
            </a:extLst>
          </p:cNvPr>
          <p:cNvCxnSpPr>
            <a:cxnSpLocks/>
            <a:stCxn id="47" idx="5"/>
            <a:endCxn id="55" idx="0"/>
          </p:cNvCxnSpPr>
          <p:nvPr/>
        </p:nvCxnSpPr>
        <p:spPr>
          <a:xfrm>
            <a:off x="9081330" y="5283059"/>
            <a:ext cx="219676" cy="47491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405AFDA-FCE5-CC4B-4722-913471618421}"/>
              </a:ext>
            </a:extLst>
          </p:cNvPr>
          <p:cNvCxnSpPr>
            <a:cxnSpLocks/>
            <a:stCxn id="47" idx="3"/>
            <a:endCxn id="53" idx="0"/>
          </p:cNvCxnSpPr>
          <p:nvPr/>
        </p:nvCxnSpPr>
        <p:spPr>
          <a:xfrm flipH="1">
            <a:off x="8595978" y="5283059"/>
            <a:ext cx="152999" cy="4806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0571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Parent-distance representation: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表示每個節點與其父節點之間的距離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S1 = (6, 2, 5, 1, 4, 3, 7), S2 = (41, 23, 28, 16, 26, 22, 56)</a:t>
            </a:r>
          </a:p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PD(S1) =(0, 0, 1, 0, 1, 2, 1), PD(S2) = (0, 0, 1, 0, 1, 2, 1)</a:t>
            </a:r>
          </a:p>
          <a:p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=&gt;Two strings S1 and S2 have the same Cartesian trees if and only if S1 and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S2 have the same parent-distance representations.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3A10C8-2075-2F3B-9CAF-B575ED6B6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009" y="2380009"/>
            <a:ext cx="7703718" cy="989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406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Failure function (</a:t>
            </a:r>
            <a:r>
              <a:rPr kumimoji="1" lang="el-G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):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當前字符和某個模式的某個字符不匹配，則可以跳到另一個節點，繼續匹配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 = (5, 7, 4, 6, 1, 3, 2)</a:t>
            </a:r>
          </a:p>
          <a:p>
            <a:r>
              <a:rPr kumimoji="1" lang="el-G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π = (0, 1, 1, 2, </a:t>
            </a:r>
            <a:r>
              <a:rPr kumimoji="1" lang="el-GR" altLang="zh-TW" sz="2400" dirty="0">
                <a:solidFill>
                  <a:srgbClr val="0070C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kumimoji="1" lang="el-G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sz="24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4</a:t>
            </a:r>
            <a:r>
              <a:rPr kumimoji="1" lang="el-GR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, 1)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sz="2200" dirty="0">
                <a:solidFill>
                  <a:srgbClr val="0070C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CT(P[1..3]) = CT(P[3..5]) = (0, 1, 0)</a:t>
            </a:r>
          </a:p>
          <a:p>
            <a:pPr lvl="1"/>
            <a:r>
              <a:rPr kumimoji="1" lang="en-US" altLang="zh-TW" sz="22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CT(P[1..4]) = CT(P[3..6]) = (0, 1, 0, 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C7271B-ACAB-01B3-1990-880B48F62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858" y="2600410"/>
            <a:ext cx="8725256" cy="96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31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complexity: </a:t>
            </a:r>
          </a:p>
          <a:p>
            <a:pPr marL="0" indent="0">
              <a:buNone/>
            </a:pPr>
            <a:r>
              <a:rPr kumimoji="1"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	O(n)(text </a:t>
            </a:r>
            <a:r>
              <a:rPr kumimoji="1" lang="en-US" altLang="zh-TW" sz="26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search</a:t>
            </a:r>
            <a:r>
              <a:rPr kumimoji="1" lang="en-US" altLang="zh-TW" sz="2600" dirty="0" err="1">
                <a:latin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kumimoji="1" lang="en-US" altLang="zh-TW" sz="26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KMP</a:t>
            </a:r>
            <a:r>
              <a:rPr kumimoji="1"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 algorithm) + O(m)(failure function)</a:t>
            </a:r>
          </a:p>
          <a:p>
            <a:pPr marL="0" indent="0">
              <a:buNone/>
            </a:pPr>
            <a:r>
              <a:rPr kumimoji="1"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	 linear time</a:t>
            </a:r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8703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Multiple pattern Cartesian tree matching: 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在一個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text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中匹配多個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pattern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，並且每個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pattern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都是一棵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Cartesian tree</a:t>
            </a: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(4, 2, 3, 1, 5), 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(3, 1, 4, 2), 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(1, 2, 3, 5, 4)</a:t>
            </a:r>
          </a:p>
          <a:p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0, 1, 0, 1), 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0, 1, 2), 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1, 1, 1, 2) </a:t>
            </a: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267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535711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Aho-Corasick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automaton: 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所有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pattern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構建成一棵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Trie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樹，然後在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Trie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樹上構建一個有限狀態自動機，並且使用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failure function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output function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來實現匹配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(4, 2, 3, 1, 5), 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(3, 1, 4, 2), 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 = (1, 2, 3, 5, 4)</a:t>
            </a:r>
          </a:p>
          <a:p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0, 1, 0, 1), 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0, 1, 2), PD(P</a:t>
            </a:r>
            <a:r>
              <a:rPr kumimoji="1" lang="nn-NO" altLang="zh-TW" sz="1600" dirty="0">
                <a:latin typeface="Cambria Math" panose="02040503050406030204" pitchFamily="18" charset="0"/>
                <a:cs typeface="Times New Roman" panose="02020603050405020304" pitchFamily="18" charset="0"/>
              </a:rPr>
              <a:t>3</a:t>
            </a: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) = (0, 1, 1, 1, 2) </a:t>
            </a: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DD7A6-67AD-071E-FB0E-5CB3B156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9151" y="3440444"/>
            <a:ext cx="5651449" cy="3008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006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9</a:t>
            </a:fld>
            <a:endParaRPr lang="zh-TW" alt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DD7A6-67AD-071E-FB0E-5CB3B1560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67" y="2812636"/>
            <a:ext cx="7343658" cy="3908839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F538F2C3-22F2-8931-3D02-55E80444A7C3}"/>
              </a:ext>
            </a:extLst>
          </p:cNvPr>
          <p:cNvSpPr/>
          <p:nvPr/>
        </p:nvSpPr>
        <p:spPr>
          <a:xfrm>
            <a:off x="7111364" y="4737238"/>
            <a:ext cx="564814" cy="5745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1EEC59-E4E2-CB46-839C-64A8C808CFC9}"/>
              </a:ext>
            </a:extLst>
          </p:cNvPr>
          <p:cNvSpPr txBox="1"/>
          <p:nvPr/>
        </p:nvSpPr>
        <p:spPr>
          <a:xfrm>
            <a:off x="7904777" y="4331504"/>
            <a:ext cx="36047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err="1"/>
              <a:t>idx</a:t>
            </a:r>
            <a:r>
              <a:rPr lang="en-US" altLang="zh-TW" sz="2000" dirty="0"/>
              <a:t>[q</a:t>
            </a:r>
            <a:r>
              <a:rPr lang="en-US" altLang="zh-TW" sz="1400" dirty="0"/>
              <a:t>7</a:t>
            </a:r>
            <a:r>
              <a:rPr lang="en-US" altLang="zh-TW" sz="2000" dirty="0"/>
              <a:t>] = 2 and </a:t>
            </a:r>
            <a:r>
              <a:rPr lang="en-US" altLang="zh-TW" sz="2000" dirty="0" err="1"/>
              <a:t>len</a:t>
            </a:r>
            <a:r>
              <a:rPr lang="en-US" altLang="zh-TW" sz="2000" dirty="0"/>
              <a:t>[q</a:t>
            </a:r>
            <a:r>
              <a:rPr lang="en-US" altLang="zh-TW" sz="1400" dirty="0"/>
              <a:t>7</a:t>
            </a:r>
            <a:r>
              <a:rPr lang="en-US" altLang="zh-TW" sz="2000" dirty="0"/>
              <a:t>] = 4</a:t>
            </a:r>
          </a:p>
          <a:p>
            <a:r>
              <a:rPr lang="en-US" altLang="zh-TW" sz="2000" dirty="0">
                <a:sym typeface="Wingdings" panose="05000000000000000000" pitchFamily="2" charset="2"/>
              </a:rPr>
              <a:t></a:t>
            </a:r>
            <a:r>
              <a:rPr lang="en-US" altLang="zh-TW" sz="2000" dirty="0"/>
              <a:t>P</a:t>
            </a:r>
            <a:r>
              <a:rPr lang="en-US" altLang="zh-TW" sz="1400" dirty="0"/>
              <a:t>2</a:t>
            </a:r>
            <a:r>
              <a:rPr lang="en-US" altLang="zh-TW" sz="2000" dirty="0"/>
              <a:t>[1..4]</a:t>
            </a:r>
          </a:p>
          <a:p>
            <a:r>
              <a:rPr lang="en-US" altLang="zh-TW" sz="2000" dirty="0"/>
              <a:t>Failure function: q</a:t>
            </a:r>
            <a:r>
              <a:rPr lang="en-US" altLang="zh-TW" sz="1400" dirty="0"/>
              <a:t>2</a:t>
            </a:r>
            <a:endParaRPr lang="en-US" altLang="zh-TW" sz="2000" dirty="0"/>
          </a:p>
          <a:p>
            <a:r>
              <a:rPr lang="en-US" altLang="zh-TW" sz="2000" dirty="0">
                <a:sym typeface="Wingdings" panose="05000000000000000000" pitchFamily="2" charset="2"/>
              </a:rPr>
              <a:t>PD(P</a:t>
            </a:r>
            <a:r>
              <a:rPr lang="en-US" altLang="zh-TW" sz="1400" dirty="0">
                <a:sym typeface="Wingdings" panose="05000000000000000000" pitchFamily="2" charset="2"/>
              </a:rPr>
              <a:t>2</a:t>
            </a:r>
            <a:r>
              <a:rPr lang="en-US" altLang="zh-TW" sz="2000" dirty="0">
                <a:sym typeface="Wingdings" panose="05000000000000000000" pitchFamily="2" charset="2"/>
              </a:rPr>
              <a:t>[1..2]) = PD(P</a:t>
            </a:r>
            <a:r>
              <a:rPr lang="en-US" altLang="zh-TW" sz="1400" dirty="0">
                <a:sym typeface="Wingdings" panose="05000000000000000000" pitchFamily="2" charset="2"/>
              </a:rPr>
              <a:t>2</a:t>
            </a:r>
            <a:r>
              <a:rPr lang="en-US" altLang="zh-TW" sz="2000" dirty="0">
                <a:sym typeface="Wingdings" panose="05000000000000000000" pitchFamily="2" charset="2"/>
              </a:rPr>
              <a:t>[3..4]) = 0</a:t>
            </a:r>
            <a:endParaRPr lang="zh-TW" altLang="en-U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868171-2998-C763-4A2E-A4A5D2BF2202}"/>
              </a:ext>
            </a:extLst>
          </p:cNvPr>
          <p:cNvSpPr/>
          <p:nvPr/>
        </p:nvSpPr>
        <p:spPr>
          <a:xfrm>
            <a:off x="4324764" y="2906137"/>
            <a:ext cx="277777" cy="7486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F0B6A5-D897-42AB-B104-EC699DC20B14}"/>
              </a:ext>
            </a:extLst>
          </p:cNvPr>
          <p:cNvSpPr txBox="1"/>
          <p:nvPr/>
        </p:nvSpPr>
        <p:spPr>
          <a:xfrm>
            <a:off x="838200" y="1515777"/>
            <a:ext cx="8956957" cy="1262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P1 = (4, 2, 3, 1, 5), P2 = (3, 1, 4, 2), P3 = (1, 2, 3, 5, 4)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PD(P1) = (0, 0, 1, 0, 1), PD(P2) = (0, 0, 1, 2), PD(P3) = (0, 1, 1, 1, 2)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kumimoji="1" lang="nn-NO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Failure function: use BFS 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00177F-8403-C118-169F-979A2E879884}"/>
              </a:ext>
            </a:extLst>
          </p:cNvPr>
          <p:cNvSpPr/>
          <p:nvPr/>
        </p:nvSpPr>
        <p:spPr>
          <a:xfrm>
            <a:off x="8327211" y="3249659"/>
            <a:ext cx="564814" cy="574552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97257A-178B-EE1C-CAFB-1DF06288D25D}"/>
              </a:ext>
            </a:extLst>
          </p:cNvPr>
          <p:cNvSpPr txBox="1"/>
          <p:nvPr/>
        </p:nvSpPr>
        <p:spPr>
          <a:xfrm>
            <a:off x="9009334" y="2642384"/>
            <a:ext cx="31800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err="1"/>
              <a:t>idx</a:t>
            </a:r>
            <a:r>
              <a:rPr lang="en-US" altLang="zh-TW" sz="2000" dirty="0"/>
              <a:t>[q</a:t>
            </a:r>
            <a:r>
              <a:rPr lang="en-US" altLang="zh-TW" sz="1400" dirty="0"/>
              <a:t>9</a:t>
            </a:r>
            <a:r>
              <a:rPr lang="en-US" altLang="zh-TW" sz="2000" dirty="0"/>
              <a:t>] = 1 and </a:t>
            </a:r>
            <a:r>
              <a:rPr lang="en-US" altLang="zh-TW" sz="2000" dirty="0" err="1"/>
              <a:t>len</a:t>
            </a:r>
            <a:r>
              <a:rPr lang="en-US" altLang="zh-TW" sz="2000" dirty="0"/>
              <a:t>[q</a:t>
            </a:r>
            <a:r>
              <a:rPr lang="en-US" altLang="zh-TW" sz="1400" dirty="0"/>
              <a:t>9</a:t>
            </a:r>
            <a:r>
              <a:rPr lang="en-US" altLang="zh-TW" sz="2000" dirty="0"/>
              <a:t>] = 5</a:t>
            </a:r>
          </a:p>
          <a:p>
            <a:r>
              <a:rPr lang="en-US" altLang="zh-TW" sz="2000" dirty="0">
                <a:sym typeface="Wingdings" panose="05000000000000000000" pitchFamily="2" charset="2"/>
              </a:rPr>
              <a:t></a:t>
            </a:r>
            <a:r>
              <a:rPr lang="en-US" altLang="zh-TW" sz="2000" dirty="0"/>
              <a:t>P</a:t>
            </a:r>
            <a:r>
              <a:rPr lang="en-US" altLang="zh-TW" sz="1400" dirty="0"/>
              <a:t>1</a:t>
            </a:r>
            <a:r>
              <a:rPr lang="en-US" altLang="zh-TW" sz="2000" dirty="0"/>
              <a:t>[1..5]</a:t>
            </a:r>
          </a:p>
          <a:p>
            <a:r>
              <a:rPr lang="en-US" altLang="zh-TW" sz="2000" dirty="0"/>
              <a:t>Failure function: q</a:t>
            </a:r>
            <a:r>
              <a:rPr lang="en-US" altLang="zh-TW" sz="1400" dirty="0"/>
              <a:t>4</a:t>
            </a:r>
            <a:endParaRPr lang="en-US" altLang="zh-TW" sz="2000" dirty="0"/>
          </a:p>
          <a:p>
            <a:r>
              <a:rPr lang="en-US" altLang="zh-TW" sz="2000" dirty="0">
                <a:sym typeface="Wingdings" panose="05000000000000000000" pitchFamily="2" charset="2"/>
              </a:rPr>
              <a:t>PD(P</a:t>
            </a:r>
            <a:r>
              <a:rPr lang="en-US" altLang="zh-TW" sz="1400" dirty="0">
                <a:sym typeface="Wingdings" panose="05000000000000000000" pitchFamily="2" charset="2"/>
              </a:rPr>
              <a:t>1</a:t>
            </a:r>
            <a:r>
              <a:rPr lang="en-US" altLang="zh-TW" sz="2000" dirty="0">
                <a:sym typeface="Wingdings" panose="05000000000000000000" pitchFamily="2" charset="2"/>
              </a:rPr>
              <a:t>[1..3]) = PD(P</a:t>
            </a:r>
            <a:r>
              <a:rPr lang="en-US" altLang="zh-TW" sz="1400" dirty="0">
                <a:sym typeface="Wingdings" panose="05000000000000000000" pitchFamily="2" charset="2"/>
              </a:rPr>
              <a:t>1</a:t>
            </a:r>
            <a:r>
              <a:rPr lang="en-US" altLang="zh-TW" sz="2000" dirty="0">
                <a:sym typeface="Wingdings" panose="05000000000000000000" pitchFamily="2" charset="2"/>
              </a:rPr>
              <a:t>[4..5]) = 1</a:t>
            </a:r>
            <a:endParaRPr lang="zh-TW" alt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AF8B3F-FD05-5B13-B832-3F1818F2378D}"/>
              </a:ext>
            </a:extLst>
          </p:cNvPr>
          <p:cNvSpPr/>
          <p:nvPr/>
        </p:nvSpPr>
        <p:spPr>
          <a:xfrm>
            <a:off x="5015101" y="2905129"/>
            <a:ext cx="277777" cy="74869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3140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Pattern Matching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10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sz="2600" dirty="0">
                <a:latin typeface="Cambria Math" panose="02040503050406030204" pitchFamily="18" charset="0"/>
                <a:cs typeface="Times New Roman" panose="02020603050405020304" pitchFamily="18" charset="0"/>
              </a:rPr>
              <a:t>Time complexity:</a:t>
            </a:r>
          </a:p>
          <a:p>
            <a:pPr lvl="1"/>
            <a:r>
              <a:rPr kumimoji="1" lang="pt-BR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O((n + m)log k) </a:t>
            </a:r>
            <a:r>
              <a:rPr kumimoji="1" lang="pt-BR" altLang="zh-TW" sz="2200" dirty="0">
                <a:latin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using a binary search tree</a:t>
            </a:r>
          </a:p>
          <a:p>
            <a:pPr lvl="1"/>
            <a:r>
              <a:rPr kumimoji="1" lang="pt-BR" altLang="zh-TW" sz="2200" dirty="0">
                <a:latin typeface="Cambria Math" panose="020405030504060302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O(n + m) using a hash</a:t>
            </a:r>
            <a:endParaRPr kumimoji="1" lang="nn-NO" altLang="zh-TW" sz="18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555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Suffix Tree 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給定一個字符串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T[1..n]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T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Cartesian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suffix tree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是使用對於每個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1 ≤ 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 ≤ 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（其中特殊字符−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連接到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PD(T[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..n])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的末尾）和字符串（−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）構建的壓縮字典樹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用來判斷兩個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suffix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是否有相同的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prefix</a:t>
            </a:r>
          </a:p>
          <a:p>
            <a:endParaRPr kumimoji="1" lang="en-US" altLang="zh-TW" sz="26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T = (2, 7, 5, 6, 4, 3, 11, 9, 10, 8, 1)</a:t>
            </a:r>
          </a:p>
          <a:p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PD(T) = (0, 1, 2, 1, 4, 5, 1, 2, 1, 4, 0) </a:t>
            </a:r>
          </a:p>
          <a:p>
            <a:r>
              <a:rPr kumimoji="1" lang="en-US" altLang="zh-TW" sz="2200" dirty="0">
                <a:latin typeface="Cambria Math" panose="02040503050406030204" pitchFamily="18" charset="0"/>
                <a:cs typeface="Times New Roman" panose="02020603050405020304" pitchFamily="18" charset="0"/>
              </a:rPr>
              <a:t>PD(T[1..5]) = PD(T[6..10]) = (0, 1, 2, 1, 4)</a:t>
            </a:r>
          </a:p>
          <a:p>
            <a:endParaRPr kumimoji="1" lang="en-US" altLang="zh-TW" sz="22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4B4163-10C6-A14C-04D0-E43553F163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817" y="2669950"/>
            <a:ext cx="4240987" cy="414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3187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84D4-B79E-02DC-7612-4D695D281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59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Suffix Tree </a:t>
            </a:r>
            <a:endParaRPr kumimoji="1" lang="zh-TW" alt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38594-F4A6-3C1E-58EE-082AEA64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2C478-69CB-4CE2-A453-7F649089E273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780754-891B-DA25-D843-19C125C710C6}"/>
              </a:ext>
            </a:extLst>
          </p:cNvPr>
          <p:cNvSpPr txBox="1">
            <a:spLocks/>
          </p:cNvSpPr>
          <p:nvPr/>
        </p:nvSpPr>
        <p:spPr>
          <a:xfrm>
            <a:off x="838200" y="1833884"/>
            <a:ext cx="10796452" cy="44430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後綴集合是一組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個字符串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Cambria Math" panose="02040503050406030204" pitchFamily="18" charset="0"/>
                <a:cs typeface="Times New Roman" panose="02020603050405020304" pitchFamily="18" charset="0"/>
              </a:rPr>
              <a:t>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Cambria Math" panose="02040503050406030204" pitchFamily="18" charset="0"/>
                <a:cs typeface="Times New Roman" panose="02020603050405020304" pitchFamily="18" charset="0"/>
              </a:rPr>
              <a:t>2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...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n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，其中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的長度為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n+ 1−i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。</a:t>
            </a:r>
          </a:p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對於任意不同的字符串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不應該是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的前綴。</a:t>
            </a:r>
          </a:p>
          <a:p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對於任意的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，如果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i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sz="24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 err="1">
                <a:latin typeface="Cambria Math" panose="02040503050406030204" pitchFamily="18" charset="0"/>
                <a:cs typeface="Times New Roman" panose="02020603050405020304" pitchFamily="18" charset="0"/>
              </a:rPr>
              <a:t>j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有長度為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的共同前綴，則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Cambria Math" panose="02040503050406030204" pitchFamily="18" charset="0"/>
                <a:cs typeface="Times New Roman" panose="02020603050405020304" pitchFamily="18" charset="0"/>
              </a:rPr>
              <a:t>i+1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和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s</a:t>
            </a:r>
            <a:r>
              <a:rPr kumimoji="1" lang="en-US" altLang="zh-TW" sz="1800" dirty="0">
                <a:latin typeface="Cambria Math" panose="02040503050406030204" pitchFamily="18" charset="0"/>
                <a:cs typeface="Times New Roman" panose="02020603050405020304" pitchFamily="18" charset="0"/>
              </a:rPr>
              <a:t>j+1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的共同前綴長度至少為</a:t>
            </a:r>
            <a:r>
              <a:rPr kumimoji="1" lang="en-US" altLang="zh-TW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l − 1</a:t>
            </a:r>
            <a:r>
              <a:rPr kumimoji="1" lang="zh-TW" altLang="en-US" sz="2400" dirty="0">
                <a:latin typeface="Cambria Math" panose="02040503050406030204" pitchFamily="18" charset="0"/>
                <a:cs typeface="Times New Roman" panose="02020603050405020304" pitchFamily="18" charset="0"/>
              </a:rPr>
              <a:t>。</a:t>
            </a:r>
            <a:endParaRPr kumimoji="1" lang="en-US" altLang="zh-TW" sz="2400" dirty="0">
              <a:latin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93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E32A-8416-A57A-A55B-17B6957E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49979-F5A7-6534-10C1-F73624405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pattern matching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n+m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pattern matching</a:t>
            </a:r>
          </a:p>
          <a:p>
            <a:pPr lvl="1"/>
            <a:r>
              <a:rPr kumimoji="1"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O((n+m)log k) deterministic time 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n+m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randomized time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suffix tree</a:t>
            </a:r>
          </a:p>
          <a:p>
            <a:pPr lvl="1"/>
            <a:r>
              <a:rPr kumimoji="1" lang="pt-B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O(n) randomized time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1E5CC-1099-B1E7-5DBB-2AD99AD3A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7B8E6-CB28-4350-9E62-3F3C29E41FED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45928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cut/>
      </p:transition>
    </mc:Choice>
    <mc:Fallback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9237</TotalTime>
  <Words>1522</Words>
  <Application>Microsoft Office PowerPoint</Application>
  <PresentationFormat>Widescreen</PresentationFormat>
  <Paragraphs>129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Cambria Math</vt:lpstr>
      <vt:lpstr>Times New Roman</vt:lpstr>
      <vt:lpstr>Office Theme</vt:lpstr>
      <vt:lpstr>Cartesian Tree Matching and Indexing</vt:lpstr>
      <vt:lpstr>Abstract </vt:lpstr>
      <vt:lpstr>Cartesian Tree Matching</vt:lpstr>
      <vt:lpstr>Single Pattern Matching</vt:lpstr>
      <vt:lpstr>Single Pattern Matching</vt:lpstr>
      <vt:lpstr>Single Pattern Matching</vt:lpstr>
      <vt:lpstr>Multiple Pattern Matching</vt:lpstr>
      <vt:lpstr>Multiple Pattern Matching</vt:lpstr>
      <vt:lpstr>Multiple Pattern Matching</vt:lpstr>
      <vt:lpstr>Multiple Pattern Matching</vt:lpstr>
      <vt:lpstr>Cartesian Suffix Tree </vt:lpstr>
      <vt:lpstr>Cartesian Suffix Tree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Substring Inclusion Constraint Longest Common Subsequence Problem Can Be Solved in Quadratic Time</dc:title>
  <dc:creator>Wen Wen Liao</dc:creator>
  <cp:lastModifiedBy>Wen Wen Liao</cp:lastModifiedBy>
  <cp:revision>158</cp:revision>
  <dcterms:created xsi:type="dcterms:W3CDTF">2022-10-11T15:33:00Z</dcterms:created>
  <dcterms:modified xsi:type="dcterms:W3CDTF">2023-06-13T08:46:40Z</dcterms:modified>
</cp:coreProperties>
</file>