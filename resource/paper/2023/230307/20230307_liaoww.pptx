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58" r:id="rId3"/>
    <p:sldId id="277" r:id="rId4"/>
    <p:sldId id="295" r:id="rId5"/>
    <p:sldId id="296" r:id="rId6"/>
    <p:sldId id="297" r:id="rId7"/>
    <p:sldId id="298" r:id="rId8"/>
    <p:sldId id="299" r:id="rId9"/>
    <p:sldId id="300" r:id="rId10"/>
    <p:sldId id="301" r:id="rId11"/>
    <p:sldId id="310" r:id="rId12"/>
    <p:sldId id="309" r:id="rId13"/>
    <p:sldId id="305" r:id="rId14"/>
    <p:sldId id="306" r:id="rId15"/>
    <p:sldId id="307" r:id="rId16"/>
    <p:sldId id="308" r:id="rId17"/>
    <p:sldId id="302" r:id="rId18"/>
    <p:sldId id="303" r:id="rId19"/>
    <p:sldId id="304" r:id="rId20"/>
    <p:sldId id="269" r:id="rId21"/>
    <p:sldId id="311" r:id="rId2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655" autoAdjust="0"/>
  </p:normalViewPr>
  <p:slideViewPr>
    <p:cSldViewPr snapToGrid="0">
      <p:cViewPr>
        <p:scale>
          <a:sx n="75" d="100"/>
          <a:sy n="75" d="100"/>
        </p:scale>
        <p:origin x="284" y="-5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F667DF-ECF2-46EC-8446-7B955A747664}" type="datetimeFigureOut">
              <a:rPr lang="zh-TW" altLang="en-US" smtClean="0"/>
              <a:t>2023/3/7</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562F9-E128-4B6E-872C-5F1FFAE33516}" type="slidenum">
              <a:rPr lang="zh-TW" altLang="en-US" smtClean="0"/>
              <a:t>‹#›</a:t>
            </a:fld>
            <a:endParaRPr lang="zh-TW" altLang="en-US"/>
          </a:p>
        </p:txBody>
      </p:sp>
    </p:spTree>
    <p:extLst>
      <p:ext uri="{BB962C8B-B14F-4D97-AF65-F5344CB8AC3E}">
        <p14:creationId xmlns:p14="http://schemas.microsoft.com/office/powerpoint/2010/main" val="3979557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altLang="en-US" dirty="0"/>
          </a:p>
        </p:txBody>
      </p:sp>
      <p:sp>
        <p:nvSpPr>
          <p:cNvPr id="4" name="Slide Number Placeholder 3"/>
          <p:cNvSpPr>
            <a:spLocks noGrp="1"/>
          </p:cNvSpPr>
          <p:nvPr>
            <p:ph type="sldNum" sz="quarter" idx="5"/>
          </p:nvPr>
        </p:nvSpPr>
        <p:spPr/>
        <p:txBody>
          <a:bodyPr/>
          <a:lstStyle/>
          <a:p>
            <a:fld id="{6EB0929B-4ACD-4AAE-9309-95C05ACE2D43}" type="slidenum">
              <a:rPr lang="zh-TW" altLang="en-US" smtClean="0"/>
              <a:t>1</a:t>
            </a:fld>
            <a:endParaRPr lang="zh-TW" altLang="en-US"/>
          </a:p>
        </p:txBody>
      </p:sp>
    </p:spTree>
    <p:extLst>
      <p:ext uri="{BB962C8B-B14F-4D97-AF65-F5344CB8AC3E}">
        <p14:creationId xmlns:p14="http://schemas.microsoft.com/office/powerpoint/2010/main" val="406393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3</a:t>
            </a:fld>
            <a:endParaRPr lang="zh-TW" altLang="en-US"/>
          </a:p>
        </p:txBody>
      </p:sp>
    </p:spTree>
    <p:extLst>
      <p:ext uri="{BB962C8B-B14F-4D97-AF65-F5344CB8AC3E}">
        <p14:creationId xmlns:p14="http://schemas.microsoft.com/office/powerpoint/2010/main" val="3779728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4</a:t>
            </a:fld>
            <a:endParaRPr lang="zh-TW" altLang="en-US"/>
          </a:p>
        </p:txBody>
      </p:sp>
    </p:spTree>
    <p:extLst>
      <p:ext uri="{BB962C8B-B14F-4D97-AF65-F5344CB8AC3E}">
        <p14:creationId xmlns:p14="http://schemas.microsoft.com/office/powerpoint/2010/main" val="2919763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TW" dirty="0"/>
              <a:t>xπ </a:t>
            </a:r>
            <a:r>
              <a:rPr lang="zh-TW" altLang="en-US" dirty="0"/>
              <a:t>的階序列僅包含等於或小於關係的關係。</a:t>
            </a:r>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5</a:t>
            </a:fld>
            <a:endParaRPr lang="zh-TW" altLang="en-US"/>
          </a:p>
        </p:txBody>
      </p:sp>
    </p:spTree>
    <p:extLst>
      <p:ext uri="{BB962C8B-B14F-4D97-AF65-F5344CB8AC3E}">
        <p14:creationId xmlns:p14="http://schemas.microsoft.com/office/powerpoint/2010/main" val="87605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6</a:t>
            </a:fld>
            <a:endParaRPr lang="zh-TW" altLang="en-US"/>
          </a:p>
        </p:txBody>
      </p:sp>
    </p:spTree>
    <p:extLst>
      <p:ext uri="{BB962C8B-B14F-4D97-AF65-F5344CB8AC3E}">
        <p14:creationId xmlns:p14="http://schemas.microsoft.com/office/powerpoint/2010/main" val="183137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7</a:t>
            </a:fld>
            <a:endParaRPr lang="zh-TW" altLang="en-US"/>
          </a:p>
        </p:txBody>
      </p:sp>
    </p:spTree>
    <p:extLst>
      <p:ext uri="{BB962C8B-B14F-4D97-AF65-F5344CB8AC3E}">
        <p14:creationId xmlns:p14="http://schemas.microsoft.com/office/powerpoint/2010/main" val="4204942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這裡也要先處理相等的情況</a:t>
            </a:r>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8</a:t>
            </a:fld>
            <a:endParaRPr lang="zh-TW" altLang="en-US"/>
          </a:p>
        </p:txBody>
      </p:sp>
    </p:spTree>
    <p:extLst>
      <p:ext uri="{BB962C8B-B14F-4D97-AF65-F5344CB8AC3E}">
        <p14:creationId xmlns:p14="http://schemas.microsoft.com/office/powerpoint/2010/main" val="26200597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9</a:t>
            </a:fld>
            <a:endParaRPr lang="zh-TW" altLang="en-US"/>
          </a:p>
        </p:txBody>
      </p:sp>
    </p:spTree>
    <p:extLst>
      <p:ext uri="{BB962C8B-B14F-4D97-AF65-F5344CB8AC3E}">
        <p14:creationId xmlns:p14="http://schemas.microsoft.com/office/powerpoint/2010/main" val="3478974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10</a:t>
            </a:fld>
            <a:endParaRPr lang="zh-TW" altLang="en-US"/>
          </a:p>
        </p:txBody>
      </p:sp>
    </p:spTree>
    <p:extLst>
      <p:ext uri="{BB962C8B-B14F-4D97-AF65-F5344CB8AC3E}">
        <p14:creationId xmlns:p14="http://schemas.microsoft.com/office/powerpoint/2010/main" val="39575480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11</a:t>
            </a:fld>
            <a:endParaRPr lang="zh-TW" altLang="en-US"/>
          </a:p>
        </p:txBody>
      </p:sp>
    </p:spTree>
    <p:extLst>
      <p:ext uri="{BB962C8B-B14F-4D97-AF65-F5344CB8AC3E}">
        <p14:creationId xmlns:p14="http://schemas.microsoft.com/office/powerpoint/2010/main" val="1151777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12</a:t>
            </a:fld>
            <a:endParaRPr lang="zh-TW" altLang="en-US"/>
          </a:p>
        </p:txBody>
      </p:sp>
    </p:spTree>
    <p:extLst>
      <p:ext uri="{BB962C8B-B14F-4D97-AF65-F5344CB8AC3E}">
        <p14:creationId xmlns:p14="http://schemas.microsoft.com/office/powerpoint/2010/main" val="24125187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13</a:t>
            </a:fld>
            <a:endParaRPr lang="zh-TW" altLang="en-US"/>
          </a:p>
        </p:txBody>
      </p:sp>
    </p:spTree>
    <p:extLst>
      <p:ext uri="{BB962C8B-B14F-4D97-AF65-F5344CB8AC3E}">
        <p14:creationId xmlns:p14="http://schemas.microsoft.com/office/powerpoint/2010/main" val="31601580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14</a:t>
            </a:fld>
            <a:endParaRPr lang="zh-TW" altLang="en-US"/>
          </a:p>
        </p:txBody>
      </p:sp>
    </p:spTree>
    <p:extLst>
      <p:ext uri="{BB962C8B-B14F-4D97-AF65-F5344CB8AC3E}">
        <p14:creationId xmlns:p14="http://schemas.microsoft.com/office/powerpoint/2010/main" val="8672984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15</a:t>
            </a:fld>
            <a:endParaRPr lang="zh-TW" altLang="en-US"/>
          </a:p>
        </p:txBody>
      </p:sp>
    </p:spTree>
    <p:extLst>
      <p:ext uri="{BB962C8B-B14F-4D97-AF65-F5344CB8AC3E}">
        <p14:creationId xmlns:p14="http://schemas.microsoft.com/office/powerpoint/2010/main" val="7469133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16</a:t>
            </a:fld>
            <a:endParaRPr lang="zh-TW" altLang="en-US"/>
          </a:p>
        </p:txBody>
      </p:sp>
    </p:spTree>
    <p:extLst>
      <p:ext uri="{BB962C8B-B14F-4D97-AF65-F5344CB8AC3E}">
        <p14:creationId xmlns:p14="http://schemas.microsoft.com/office/powerpoint/2010/main" val="2584793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17</a:t>
            </a:fld>
            <a:endParaRPr lang="zh-TW" altLang="en-US"/>
          </a:p>
        </p:txBody>
      </p:sp>
    </p:spTree>
    <p:extLst>
      <p:ext uri="{BB962C8B-B14F-4D97-AF65-F5344CB8AC3E}">
        <p14:creationId xmlns:p14="http://schemas.microsoft.com/office/powerpoint/2010/main" val="6430328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18</a:t>
            </a:fld>
            <a:endParaRPr lang="zh-TW" altLang="en-US"/>
          </a:p>
        </p:txBody>
      </p:sp>
    </p:spTree>
    <p:extLst>
      <p:ext uri="{BB962C8B-B14F-4D97-AF65-F5344CB8AC3E}">
        <p14:creationId xmlns:p14="http://schemas.microsoft.com/office/powerpoint/2010/main" val="13049690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TW"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19</a:t>
            </a:fld>
            <a:endParaRPr lang="zh-TW" altLang="en-US"/>
          </a:p>
        </p:txBody>
      </p:sp>
    </p:spTree>
    <p:extLst>
      <p:ext uri="{BB962C8B-B14F-4D97-AF65-F5344CB8AC3E}">
        <p14:creationId xmlns:p14="http://schemas.microsoft.com/office/powerpoint/2010/main" val="4670175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TW" altLang="en-US" dirty="0"/>
          </a:p>
        </p:txBody>
      </p:sp>
      <p:sp>
        <p:nvSpPr>
          <p:cNvPr id="4" name="Slide Number Placeholder 3"/>
          <p:cNvSpPr>
            <a:spLocks noGrp="1"/>
          </p:cNvSpPr>
          <p:nvPr>
            <p:ph type="sldNum" sz="quarter" idx="5"/>
          </p:nvPr>
        </p:nvSpPr>
        <p:spPr/>
        <p:txBody>
          <a:bodyPr/>
          <a:lstStyle/>
          <a:p>
            <a:fld id="{D06562F9-E128-4B6E-872C-5F1FFAE33516}" type="slidenum">
              <a:rPr lang="zh-TW" altLang="en-US" smtClean="0"/>
              <a:t>20</a:t>
            </a:fld>
            <a:endParaRPr lang="zh-TW" altLang="en-US"/>
          </a:p>
        </p:txBody>
      </p:sp>
    </p:spTree>
    <p:extLst>
      <p:ext uri="{BB962C8B-B14F-4D97-AF65-F5344CB8AC3E}">
        <p14:creationId xmlns:p14="http://schemas.microsoft.com/office/powerpoint/2010/main" val="1284227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18045-16E7-451C-65FC-B158983ECC6E}"/>
              </a:ext>
            </a:extLst>
          </p:cNvPr>
          <p:cNvSpPr>
            <a:spLocks noGrp="1"/>
          </p:cNvSpPr>
          <p:nvPr>
            <p:ph type="ctrTitle"/>
          </p:nvPr>
        </p:nvSpPr>
        <p:spPr>
          <a:xfrm>
            <a:off x="1524000" y="1122363"/>
            <a:ext cx="9144000" cy="2387600"/>
          </a:xfrm>
        </p:spPr>
        <p:txBody>
          <a:bodyPr anchor="b"/>
          <a:lstStyle>
            <a:lvl1pPr algn="ctr">
              <a:defRPr sz="6000"/>
            </a:lvl1pPr>
          </a:lstStyle>
          <a:p>
            <a:r>
              <a:rPr lang="en-US" altLang="zh-TW"/>
              <a:t>Click to edit Master title style</a:t>
            </a:r>
            <a:endParaRPr lang="zh-TW" altLang="en-US"/>
          </a:p>
        </p:txBody>
      </p:sp>
      <p:sp>
        <p:nvSpPr>
          <p:cNvPr id="3" name="Subtitle 2">
            <a:extLst>
              <a:ext uri="{FF2B5EF4-FFF2-40B4-BE49-F238E27FC236}">
                <a16:creationId xmlns:a16="http://schemas.microsoft.com/office/drawing/2014/main" id="{58AF068A-58AE-8713-2F67-C52F90F862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a:t>Click to edit Master subtitle style</a:t>
            </a:r>
            <a:endParaRPr lang="zh-TW" altLang="en-US"/>
          </a:p>
        </p:txBody>
      </p:sp>
      <p:sp>
        <p:nvSpPr>
          <p:cNvPr id="4" name="Date Placeholder 3">
            <a:extLst>
              <a:ext uri="{FF2B5EF4-FFF2-40B4-BE49-F238E27FC236}">
                <a16:creationId xmlns:a16="http://schemas.microsoft.com/office/drawing/2014/main" id="{960BA286-7DBB-ABAF-AE2A-AD9DDE775D11}"/>
              </a:ext>
            </a:extLst>
          </p:cNvPr>
          <p:cNvSpPr>
            <a:spLocks noGrp="1"/>
          </p:cNvSpPr>
          <p:nvPr>
            <p:ph type="dt" sz="half" idx="10"/>
          </p:nvPr>
        </p:nvSpPr>
        <p:spPr/>
        <p:txBody>
          <a:bodyPr/>
          <a:lstStyle/>
          <a:p>
            <a:fld id="{701DD569-BD2D-4D1C-B67A-2A5601E6B3E3}" type="datetime1">
              <a:rPr lang="zh-TW" altLang="en-US" smtClean="0"/>
              <a:t>2023/3/7</a:t>
            </a:fld>
            <a:endParaRPr lang="zh-TW" altLang="en-US"/>
          </a:p>
        </p:txBody>
      </p:sp>
      <p:sp>
        <p:nvSpPr>
          <p:cNvPr id="5" name="Footer Placeholder 4">
            <a:extLst>
              <a:ext uri="{FF2B5EF4-FFF2-40B4-BE49-F238E27FC236}">
                <a16:creationId xmlns:a16="http://schemas.microsoft.com/office/drawing/2014/main" id="{136A0D4C-517F-3A75-2138-B35995E6DA6F}"/>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41CC6E-1A90-9EBF-3395-DCC19E86BE6D}"/>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763099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D236-5FFE-A036-B937-040C50348880}"/>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04EEFD4-29DF-59B4-50ED-3F42FB6C5EE7}"/>
              </a:ext>
            </a:extLst>
          </p:cNvPr>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5825951-765D-8F13-9483-0B7BC83461D7}"/>
              </a:ext>
            </a:extLst>
          </p:cNvPr>
          <p:cNvSpPr>
            <a:spLocks noGrp="1"/>
          </p:cNvSpPr>
          <p:nvPr>
            <p:ph type="dt" sz="half" idx="10"/>
          </p:nvPr>
        </p:nvSpPr>
        <p:spPr/>
        <p:txBody>
          <a:bodyPr/>
          <a:lstStyle/>
          <a:p>
            <a:fld id="{613F9AF4-0F76-4C66-B441-D1B2D7ED3BEC}" type="datetime1">
              <a:rPr lang="zh-TW" altLang="en-US" smtClean="0"/>
              <a:t>2023/3/7</a:t>
            </a:fld>
            <a:endParaRPr lang="zh-TW" altLang="en-US"/>
          </a:p>
        </p:txBody>
      </p:sp>
      <p:sp>
        <p:nvSpPr>
          <p:cNvPr id="5" name="Footer Placeholder 4">
            <a:extLst>
              <a:ext uri="{FF2B5EF4-FFF2-40B4-BE49-F238E27FC236}">
                <a16:creationId xmlns:a16="http://schemas.microsoft.com/office/drawing/2014/main" id="{753DCF9E-E6A3-995C-A1B7-97A453CBDACD}"/>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DB585ECA-E5DF-198A-D862-E85E0172760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676363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64931-3342-74A5-5F4A-1ACADB362228}"/>
              </a:ext>
            </a:extLst>
          </p:cNvPr>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1E4ABAD9-77A7-31C2-CE3B-83AB0265A3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TW"/>
              <a:t>Click to edit Master text styles</a:t>
            </a:r>
          </a:p>
        </p:txBody>
      </p:sp>
      <p:sp>
        <p:nvSpPr>
          <p:cNvPr id="4" name="Date Placeholder 3">
            <a:extLst>
              <a:ext uri="{FF2B5EF4-FFF2-40B4-BE49-F238E27FC236}">
                <a16:creationId xmlns:a16="http://schemas.microsoft.com/office/drawing/2014/main" id="{E95B3F41-FADE-64E8-94E5-51E3BAD87B58}"/>
              </a:ext>
            </a:extLst>
          </p:cNvPr>
          <p:cNvSpPr>
            <a:spLocks noGrp="1"/>
          </p:cNvSpPr>
          <p:nvPr>
            <p:ph type="dt" sz="half" idx="10"/>
          </p:nvPr>
        </p:nvSpPr>
        <p:spPr/>
        <p:txBody>
          <a:bodyPr/>
          <a:lstStyle/>
          <a:p>
            <a:fld id="{298A6C79-1DF6-49C7-8CD7-FD6F5B614111}" type="datetime1">
              <a:rPr lang="zh-TW" altLang="en-US" smtClean="0"/>
              <a:t>2023/3/7</a:t>
            </a:fld>
            <a:endParaRPr lang="zh-TW" altLang="en-US"/>
          </a:p>
        </p:txBody>
      </p:sp>
      <p:sp>
        <p:nvSpPr>
          <p:cNvPr id="5" name="Footer Placeholder 4">
            <a:extLst>
              <a:ext uri="{FF2B5EF4-FFF2-40B4-BE49-F238E27FC236}">
                <a16:creationId xmlns:a16="http://schemas.microsoft.com/office/drawing/2014/main" id="{DCCF82AA-63C8-C306-BDDF-A523D9F84AD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2F183CF1-15A7-D9A0-AB7D-63A9F3204F7C}"/>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999627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A4541-876E-1323-86BB-134B34EBFE26}"/>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7C2F7A99-40BB-A978-A62D-456D85CB313F}"/>
              </a:ext>
            </a:extLst>
          </p:cNvPr>
          <p:cNvSpPr>
            <a:spLocks noGrp="1"/>
          </p:cNvSpPr>
          <p:nvPr>
            <p:ph sz="half" idx="1"/>
          </p:nvPr>
        </p:nvSpPr>
        <p:spPr>
          <a:xfrm>
            <a:off x="838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a:extLst>
              <a:ext uri="{FF2B5EF4-FFF2-40B4-BE49-F238E27FC236}">
                <a16:creationId xmlns:a16="http://schemas.microsoft.com/office/drawing/2014/main" id="{0EB6C4AB-2328-C15C-EDBA-A6D9849715E4}"/>
              </a:ext>
            </a:extLst>
          </p:cNvPr>
          <p:cNvSpPr>
            <a:spLocks noGrp="1"/>
          </p:cNvSpPr>
          <p:nvPr>
            <p:ph sz="half" idx="2"/>
          </p:nvPr>
        </p:nvSpPr>
        <p:spPr>
          <a:xfrm>
            <a:off x="6172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a:extLst>
              <a:ext uri="{FF2B5EF4-FFF2-40B4-BE49-F238E27FC236}">
                <a16:creationId xmlns:a16="http://schemas.microsoft.com/office/drawing/2014/main" id="{90785A17-9FA9-28E5-585D-C1967447ECBE}"/>
              </a:ext>
            </a:extLst>
          </p:cNvPr>
          <p:cNvSpPr>
            <a:spLocks noGrp="1"/>
          </p:cNvSpPr>
          <p:nvPr>
            <p:ph type="dt" sz="half" idx="10"/>
          </p:nvPr>
        </p:nvSpPr>
        <p:spPr/>
        <p:txBody>
          <a:bodyPr/>
          <a:lstStyle/>
          <a:p>
            <a:fld id="{D5D813F3-84C2-4D70-A0DE-40780363C9EE}" type="datetime1">
              <a:rPr lang="zh-TW" altLang="en-US" smtClean="0"/>
              <a:t>2023/3/7</a:t>
            </a:fld>
            <a:endParaRPr lang="zh-TW" altLang="en-US"/>
          </a:p>
        </p:txBody>
      </p:sp>
      <p:sp>
        <p:nvSpPr>
          <p:cNvPr id="6" name="Footer Placeholder 5">
            <a:extLst>
              <a:ext uri="{FF2B5EF4-FFF2-40B4-BE49-F238E27FC236}">
                <a16:creationId xmlns:a16="http://schemas.microsoft.com/office/drawing/2014/main" id="{E38A8324-6BD6-434F-B46A-42E288600154}"/>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027986F1-3A6D-B41E-CFB4-7417B1F77B02}"/>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189511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3C63D-C7AF-2A59-F8AD-A038C042ACD5}"/>
              </a:ext>
            </a:extLst>
          </p:cNvPr>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F97C0EB9-FD48-3B5F-2543-5658F7F50A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a:extLst>
              <a:ext uri="{FF2B5EF4-FFF2-40B4-BE49-F238E27FC236}">
                <a16:creationId xmlns:a16="http://schemas.microsoft.com/office/drawing/2014/main" id="{455B3736-516F-9579-FACA-DCB21A18E94D}"/>
              </a:ext>
            </a:extLst>
          </p:cNvPr>
          <p:cNvSpPr>
            <a:spLocks noGrp="1"/>
          </p:cNvSpPr>
          <p:nvPr>
            <p:ph sz="half" idx="2"/>
          </p:nvPr>
        </p:nvSpPr>
        <p:spPr>
          <a:xfrm>
            <a:off x="839788" y="2505075"/>
            <a:ext cx="5157787"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a:extLst>
              <a:ext uri="{FF2B5EF4-FFF2-40B4-BE49-F238E27FC236}">
                <a16:creationId xmlns:a16="http://schemas.microsoft.com/office/drawing/2014/main" id="{86B03EA5-7849-E5F4-BF87-F3FC863686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a:extLst>
              <a:ext uri="{FF2B5EF4-FFF2-40B4-BE49-F238E27FC236}">
                <a16:creationId xmlns:a16="http://schemas.microsoft.com/office/drawing/2014/main" id="{A531D914-6ED8-D257-6CC2-104C6745C03F}"/>
              </a:ext>
            </a:extLst>
          </p:cNvPr>
          <p:cNvSpPr>
            <a:spLocks noGrp="1"/>
          </p:cNvSpPr>
          <p:nvPr>
            <p:ph sz="quarter" idx="4"/>
          </p:nvPr>
        </p:nvSpPr>
        <p:spPr>
          <a:xfrm>
            <a:off x="6172200" y="2505075"/>
            <a:ext cx="5183188"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a:extLst>
              <a:ext uri="{FF2B5EF4-FFF2-40B4-BE49-F238E27FC236}">
                <a16:creationId xmlns:a16="http://schemas.microsoft.com/office/drawing/2014/main" id="{789A8773-F0F7-3DBC-9C59-CA8EF9CF98D7}"/>
              </a:ext>
            </a:extLst>
          </p:cNvPr>
          <p:cNvSpPr>
            <a:spLocks noGrp="1"/>
          </p:cNvSpPr>
          <p:nvPr>
            <p:ph type="dt" sz="half" idx="10"/>
          </p:nvPr>
        </p:nvSpPr>
        <p:spPr/>
        <p:txBody>
          <a:bodyPr/>
          <a:lstStyle/>
          <a:p>
            <a:fld id="{369FA993-B73B-4E0A-AC46-BDD6B2FA04A9}" type="datetime1">
              <a:rPr lang="zh-TW" altLang="en-US" smtClean="0"/>
              <a:t>2023/3/7</a:t>
            </a:fld>
            <a:endParaRPr lang="zh-TW" altLang="en-US"/>
          </a:p>
        </p:txBody>
      </p:sp>
      <p:sp>
        <p:nvSpPr>
          <p:cNvPr id="8" name="Footer Placeholder 7">
            <a:extLst>
              <a:ext uri="{FF2B5EF4-FFF2-40B4-BE49-F238E27FC236}">
                <a16:creationId xmlns:a16="http://schemas.microsoft.com/office/drawing/2014/main" id="{13D508DB-1C1C-AFC2-2C1A-1DDBC10F88E7}"/>
              </a:ext>
            </a:extLst>
          </p:cNvPr>
          <p:cNvSpPr>
            <a:spLocks noGrp="1"/>
          </p:cNvSpPr>
          <p:nvPr>
            <p:ph type="ftr" sz="quarter" idx="11"/>
          </p:nvPr>
        </p:nvSpPr>
        <p:spPr/>
        <p:txBody>
          <a:bodyPr/>
          <a:lstStyle/>
          <a:p>
            <a:endParaRPr lang="zh-TW" altLang="en-US"/>
          </a:p>
        </p:txBody>
      </p:sp>
      <p:sp>
        <p:nvSpPr>
          <p:cNvPr id="9" name="Slide Number Placeholder 8">
            <a:extLst>
              <a:ext uri="{FF2B5EF4-FFF2-40B4-BE49-F238E27FC236}">
                <a16:creationId xmlns:a16="http://schemas.microsoft.com/office/drawing/2014/main" id="{38C9407E-CED6-F5A6-39DB-82B07C84A9D4}"/>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595342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8DAB-3374-67D6-5EB1-2C3253F55250}"/>
              </a:ext>
            </a:extLst>
          </p:cNvPr>
          <p:cNvSpPr>
            <a:spLocks noGrp="1"/>
          </p:cNvSpPr>
          <p:nvPr>
            <p:ph type="title"/>
          </p:nvPr>
        </p:nvSpPr>
        <p:spPr/>
        <p:txBody>
          <a:bodyPr/>
          <a:lstStyle/>
          <a:p>
            <a:r>
              <a:rPr lang="en-US" altLang="zh-TW"/>
              <a:t>Click to edit Master title style</a:t>
            </a:r>
            <a:endParaRPr lang="zh-TW" altLang="en-US"/>
          </a:p>
        </p:txBody>
      </p:sp>
      <p:sp>
        <p:nvSpPr>
          <p:cNvPr id="3" name="Date Placeholder 2">
            <a:extLst>
              <a:ext uri="{FF2B5EF4-FFF2-40B4-BE49-F238E27FC236}">
                <a16:creationId xmlns:a16="http://schemas.microsoft.com/office/drawing/2014/main" id="{080D7194-F69E-4DA8-89C4-AE8729BF6621}"/>
              </a:ext>
            </a:extLst>
          </p:cNvPr>
          <p:cNvSpPr>
            <a:spLocks noGrp="1"/>
          </p:cNvSpPr>
          <p:nvPr>
            <p:ph type="dt" sz="half" idx="10"/>
          </p:nvPr>
        </p:nvSpPr>
        <p:spPr/>
        <p:txBody>
          <a:bodyPr/>
          <a:lstStyle/>
          <a:p>
            <a:fld id="{7986ADAD-A8C5-4E4F-97C2-B2F188A7EEC4}" type="datetime1">
              <a:rPr lang="zh-TW" altLang="en-US" smtClean="0"/>
              <a:t>2023/3/7</a:t>
            </a:fld>
            <a:endParaRPr lang="zh-TW" altLang="en-US"/>
          </a:p>
        </p:txBody>
      </p:sp>
      <p:sp>
        <p:nvSpPr>
          <p:cNvPr id="4" name="Footer Placeholder 3">
            <a:extLst>
              <a:ext uri="{FF2B5EF4-FFF2-40B4-BE49-F238E27FC236}">
                <a16:creationId xmlns:a16="http://schemas.microsoft.com/office/drawing/2014/main" id="{268D0780-D9CB-B34D-A2E0-1D14B42F55C0}"/>
              </a:ext>
            </a:extLst>
          </p:cNvPr>
          <p:cNvSpPr>
            <a:spLocks noGrp="1"/>
          </p:cNvSpPr>
          <p:nvPr>
            <p:ph type="ftr" sz="quarter" idx="11"/>
          </p:nvPr>
        </p:nvSpPr>
        <p:spPr/>
        <p:txBody>
          <a:bodyPr/>
          <a:lstStyle/>
          <a:p>
            <a:endParaRPr lang="zh-TW" altLang="en-US"/>
          </a:p>
        </p:txBody>
      </p:sp>
      <p:sp>
        <p:nvSpPr>
          <p:cNvPr id="5" name="Slide Number Placeholder 4">
            <a:extLst>
              <a:ext uri="{FF2B5EF4-FFF2-40B4-BE49-F238E27FC236}">
                <a16:creationId xmlns:a16="http://schemas.microsoft.com/office/drawing/2014/main" id="{4BA4697E-BF8C-08DA-29D6-3B9ACC5CE078}"/>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421060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CFF4D-DBD6-E4FB-30B0-3844F2359FC9}"/>
              </a:ext>
            </a:extLst>
          </p:cNvPr>
          <p:cNvSpPr>
            <a:spLocks noGrp="1"/>
          </p:cNvSpPr>
          <p:nvPr>
            <p:ph type="dt" sz="half" idx="10"/>
          </p:nvPr>
        </p:nvSpPr>
        <p:spPr/>
        <p:txBody>
          <a:bodyPr/>
          <a:lstStyle/>
          <a:p>
            <a:fld id="{4875DE65-CDBA-47B3-8C63-EAD937C328D1}" type="datetime1">
              <a:rPr lang="zh-TW" altLang="en-US" smtClean="0"/>
              <a:t>2023/3/7</a:t>
            </a:fld>
            <a:endParaRPr lang="zh-TW" altLang="en-US"/>
          </a:p>
        </p:txBody>
      </p:sp>
      <p:sp>
        <p:nvSpPr>
          <p:cNvPr id="3" name="Footer Placeholder 2">
            <a:extLst>
              <a:ext uri="{FF2B5EF4-FFF2-40B4-BE49-F238E27FC236}">
                <a16:creationId xmlns:a16="http://schemas.microsoft.com/office/drawing/2014/main" id="{9E53340C-74EA-761B-F592-FD6C446900E6}"/>
              </a:ext>
            </a:extLst>
          </p:cNvPr>
          <p:cNvSpPr>
            <a:spLocks noGrp="1"/>
          </p:cNvSpPr>
          <p:nvPr>
            <p:ph type="ftr" sz="quarter" idx="11"/>
          </p:nvPr>
        </p:nvSpPr>
        <p:spPr/>
        <p:txBody>
          <a:bodyPr/>
          <a:lstStyle/>
          <a:p>
            <a:endParaRPr lang="zh-TW" altLang="en-US"/>
          </a:p>
        </p:txBody>
      </p:sp>
      <p:sp>
        <p:nvSpPr>
          <p:cNvPr id="4" name="Slide Number Placeholder 3">
            <a:extLst>
              <a:ext uri="{FF2B5EF4-FFF2-40B4-BE49-F238E27FC236}">
                <a16:creationId xmlns:a16="http://schemas.microsoft.com/office/drawing/2014/main" id="{0C816107-4110-8028-60EF-14E5F2D11499}"/>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323881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5481-AD55-0A04-6A16-2FE5FE1FE5E7}"/>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F28FA7E5-F55B-C36B-5945-661CDB1EDF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a:extLst>
              <a:ext uri="{FF2B5EF4-FFF2-40B4-BE49-F238E27FC236}">
                <a16:creationId xmlns:a16="http://schemas.microsoft.com/office/drawing/2014/main" id="{41045507-E0DA-CCE2-C66E-2F29EA6A91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A3D0A186-4631-35C9-68C0-298149FFEDF5}"/>
              </a:ext>
            </a:extLst>
          </p:cNvPr>
          <p:cNvSpPr>
            <a:spLocks noGrp="1"/>
          </p:cNvSpPr>
          <p:nvPr>
            <p:ph type="dt" sz="half" idx="10"/>
          </p:nvPr>
        </p:nvSpPr>
        <p:spPr/>
        <p:txBody>
          <a:bodyPr/>
          <a:lstStyle/>
          <a:p>
            <a:fld id="{02E9CB4A-921C-4216-9056-986295B6B351}" type="datetime1">
              <a:rPr lang="zh-TW" altLang="en-US" smtClean="0"/>
              <a:t>2023/3/7</a:t>
            </a:fld>
            <a:endParaRPr lang="zh-TW" altLang="en-US"/>
          </a:p>
        </p:txBody>
      </p:sp>
      <p:sp>
        <p:nvSpPr>
          <p:cNvPr id="6" name="Footer Placeholder 5">
            <a:extLst>
              <a:ext uri="{FF2B5EF4-FFF2-40B4-BE49-F238E27FC236}">
                <a16:creationId xmlns:a16="http://schemas.microsoft.com/office/drawing/2014/main" id="{5C6AC9F0-1D2E-CD0B-A6B8-A8337FE537DD}"/>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CCC73D3E-1C05-2CFF-6405-4771E57F8216}"/>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89545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29362-71C4-6CF9-38E0-C4F81738C538}"/>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a:extLst>
              <a:ext uri="{FF2B5EF4-FFF2-40B4-BE49-F238E27FC236}">
                <a16:creationId xmlns:a16="http://schemas.microsoft.com/office/drawing/2014/main" id="{D930231A-174C-8A04-7F37-326E7B3D7B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a:extLst>
              <a:ext uri="{FF2B5EF4-FFF2-40B4-BE49-F238E27FC236}">
                <a16:creationId xmlns:a16="http://schemas.microsoft.com/office/drawing/2014/main" id="{1B03C50E-C2ED-00AE-E101-79CFAFB17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74E4BE7B-D25D-CFE2-B089-BAA86DCFC27E}"/>
              </a:ext>
            </a:extLst>
          </p:cNvPr>
          <p:cNvSpPr>
            <a:spLocks noGrp="1"/>
          </p:cNvSpPr>
          <p:nvPr>
            <p:ph type="dt" sz="half" idx="10"/>
          </p:nvPr>
        </p:nvSpPr>
        <p:spPr/>
        <p:txBody>
          <a:bodyPr/>
          <a:lstStyle/>
          <a:p>
            <a:fld id="{16C2F44B-5705-4772-8785-D8AAB7BCD3BF}" type="datetime1">
              <a:rPr lang="zh-TW" altLang="en-US" smtClean="0"/>
              <a:t>2023/3/7</a:t>
            </a:fld>
            <a:endParaRPr lang="zh-TW" altLang="en-US"/>
          </a:p>
        </p:txBody>
      </p:sp>
      <p:sp>
        <p:nvSpPr>
          <p:cNvPr id="6" name="Footer Placeholder 5">
            <a:extLst>
              <a:ext uri="{FF2B5EF4-FFF2-40B4-BE49-F238E27FC236}">
                <a16:creationId xmlns:a16="http://schemas.microsoft.com/office/drawing/2014/main" id="{65D0EA70-9CF5-E2A3-4310-0B5FAE7B7BE1}"/>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AB134B4A-B942-A3BD-6BA9-01E17E554220}"/>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808095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A6AD-5403-1ACC-D4D1-96B39DD846FD}"/>
              </a:ext>
            </a:extLst>
          </p:cNvPr>
          <p:cNvSpPr>
            <a:spLocks noGrp="1"/>
          </p:cNvSpPr>
          <p:nvPr>
            <p:ph type="title"/>
          </p:nvPr>
        </p:nvSpPr>
        <p:spPr/>
        <p:txBody>
          <a:bodyPr/>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82E60034-6B39-C082-088F-72D19BFE1304}"/>
              </a:ext>
            </a:extLst>
          </p:cNvPr>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19F803D3-C2D4-4034-17A0-8D2928B1269D}"/>
              </a:ext>
            </a:extLst>
          </p:cNvPr>
          <p:cNvSpPr>
            <a:spLocks noGrp="1"/>
          </p:cNvSpPr>
          <p:nvPr>
            <p:ph type="dt" sz="half" idx="10"/>
          </p:nvPr>
        </p:nvSpPr>
        <p:spPr/>
        <p:txBody>
          <a:bodyPr/>
          <a:lstStyle/>
          <a:p>
            <a:fld id="{44000920-BF4E-4A34-B8B5-5D2BB9836F35}" type="datetime1">
              <a:rPr lang="zh-TW" altLang="en-US" smtClean="0"/>
              <a:t>2023/3/7</a:t>
            </a:fld>
            <a:endParaRPr lang="zh-TW" altLang="en-US"/>
          </a:p>
        </p:txBody>
      </p:sp>
      <p:sp>
        <p:nvSpPr>
          <p:cNvPr id="5" name="Footer Placeholder 4">
            <a:extLst>
              <a:ext uri="{FF2B5EF4-FFF2-40B4-BE49-F238E27FC236}">
                <a16:creationId xmlns:a16="http://schemas.microsoft.com/office/drawing/2014/main" id="{3F295024-0915-E154-0CBE-65A94D23019C}"/>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70D7C4D6-1F53-D5A1-0F98-4AF14C84F0CA}"/>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56894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C8714A-61BB-5406-A5DA-BC8910B5CD05}"/>
              </a:ext>
            </a:extLst>
          </p:cNvPr>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F04B0A4F-7A22-6245-0B0A-635765A85459}"/>
              </a:ext>
            </a:extLst>
          </p:cNvPr>
          <p:cNvSpPr>
            <a:spLocks noGrp="1"/>
          </p:cNvSpPr>
          <p:nvPr>
            <p:ph type="body" orient="vert" idx="1"/>
          </p:nvPr>
        </p:nvSpPr>
        <p:spPr>
          <a:xfrm>
            <a:off x="838200" y="365125"/>
            <a:ext cx="7734300" cy="5811838"/>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08523698-D80C-5B02-26C3-B7E0D02093A0}"/>
              </a:ext>
            </a:extLst>
          </p:cNvPr>
          <p:cNvSpPr>
            <a:spLocks noGrp="1"/>
          </p:cNvSpPr>
          <p:nvPr>
            <p:ph type="dt" sz="half" idx="10"/>
          </p:nvPr>
        </p:nvSpPr>
        <p:spPr/>
        <p:txBody>
          <a:bodyPr/>
          <a:lstStyle/>
          <a:p>
            <a:fld id="{DD1923D5-CB9E-42C4-A443-74EE43A78F1A}" type="datetime1">
              <a:rPr lang="zh-TW" altLang="en-US" smtClean="0"/>
              <a:t>2023/3/7</a:t>
            </a:fld>
            <a:endParaRPr lang="zh-TW" altLang="en-US"/>
          </a:p>
        </p:txBody>
      </p:sp>
      <p:sp>
        <p:nvSpPr>
          <p:cNvPr id="5" name="Footer Placeholder 4">
            <a:extLst>
              <a:ext uri="{FF2B5EF4-FFF2-40B4-BE49-F238E27FC236}">
                <a16:creationId xmlns:a16="http://schemas.microsoft.com/office/drawing/2014/main" id="{46961CDA-4309-2D61-CD40-8DE7FA2E1253}"/>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BE0DEE89-0D64-3A74-3CEA-425D035B8803}"/>
              </a:ext>
            </a:extLst>
          </p:cNvPr>
          <p:cNvSpPr>
            <a:spLocks noGrp="1"/>
          </p:cNvSpPr>
          <p:nvPr>
            <p:ph type="sldNum" sz="quarter" idx="12"/>
          </p:nvPr>
        </p:nvSpPr>
        <p:spPr/>
        <p:txBody>
          <a:body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538924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9CB272-2800-21BB-F226-6BCB7515BF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80EA0C83-E1FB-8AAC-CDEA-98C2D15B70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290E59ED-035C-8CC1-CFE9-73EA26D0C3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9CDBA5-E58B-4CB2-961D-91717090BBCB}" type="datetime1">
              <a:rPr lang="zh-TW" altLang="en-US" smtClean="0"/>
              <a:t>2023/3/7</a:t>
            </a:fld>
            <a:endParaRPr lang="zh-TW" altLang="en-US"/>
          </a:p>
        </p:txBody>
      </p:sp>
      <p:sp>
        <p:nvSpPr>
          <p:cNvPr id="5" name="Footer Placeholder 4">
            <a:extLst>
              <a:ext uri="{FF2B5EF4-FFF2-40B4-BE49-F238E27FC236}">
                <a16:creationId xmlns:a16="http://schemas.microsoft.com/office/drawing/2014/main" id="{830ED3AA-0139-02CF-DF2C-5E6C9CB6C2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a:extLst>
              <a:ext uri="{FF2B5EF4-FFF2-40B4-BE49-F238E27FC236}">
                <a16:creationId xmlns:a16="http://schemas.microsoft.com/office/drawing/2014/main" id="{2B1D16DD-A0C6-441C-56CA-8F27599A8E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7B8E6-CB28-4350-9E62-3F3C29E41FED}" type="slidenum">
              <a:rPr lang="zh-TW" altLang="en-US" smtClean="0"/>
              <a:t>‹#›</a:t>
            </a:fld>
            <a:endParaRPr lang="zh-TW" altLang="en-US"/>
          </a:p>
        </p:txBody>
      </p:sp>
    </p:spTree>
    <p:extLst>
      <p:ext uri="{BB962C8B-B14F-4D97-AF65-F5344CB8AC3E}">
        <p14:creationId xmlns:p14="http://schemas.microsoft.com/office/powerpoint/2010/main" val="2123377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9.png"/><Relationship Id="rId10"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9.png"/><Relationship Id="rId10"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14.png"/></Relationships>
</file>

<file path=ppt/slides/_rels/slide1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9.png"/><Relationship Id="rId3" Type="http://schemas.openxmlformats.org/officeDocument/2006/relationships/image" Target="../media/image7.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9.png"/><Relationship Id="rId10"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14.png"/></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20.png"/><Relationship Id="rId3" Type="http://schemas.openxmlformats.org/officeDocument/2006/relationships/image" Target="../media/image7.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9.png"/><Relationship Id="rId10"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14.png"/></Relationships>
</file>

<file path=ppt/slides/_rels/slide1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21.png"/><Relationship Id="rId3" Type="http://schemas.openxmlformats.org/officeDocument/2006/relationships/image" Target="../media/image7.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9.png"/><Relationship Id="rId10"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14.png"/></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9.png"/><Relationship Id="rId10"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901A9-EC42-0349-C42C-1EF1F72BF040}"/>
              </a:ext>
            </a:extLst>
          </p:cNvPr>
          <p:cNvSpPr>
            <a:spLocks noGrp="1"/>
          </p:cNvSpPr>
          <p:nvPr>
            <p:ph type="ctrTitle"/>
          </p:nvPr>
        </p:nvSpPr>
        <p:spPr>
          <a:xfrm>
            <a:off x="1223962" y="1122363"/>
            <a:ext cx="9966552" cy="2387600"/>
          </a:xfrm>
        </p:spPr>
        <p:txBody>
          <a:bodyPr>
            <a:noAutofit/>
          </a:bodyPr>
          <a:lstStyle/>
          <a:p>
            <a:r>
              <a:rPr lang="en-US" altLang="zh-TW" sz="4400" b="1" dirty="0">
                <a:latin typeface="Times New Roman" panose="02020603050405020304" pitchFamily="18" charset="0"/>
                <a:cs typeface="Times New Roman" panose="02020603050405020304" pitchFamily="18" charset="0"/>
              </a:rPr>
              <a:t>Order-Preserving Pattern Matching Indeterminate Strings</a:t>
            </a:r>
            <a:endParaRPr lang="zh-TW" altLang="en-US" sz="4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4DBE6CB-9CF8-48E7-B831-C6B10B6C080F}"/>
              </a:ext>
            </a:extLst>
          </p:cNvPr>
          <p:cNvSpPr>
            <a:spLocks noGrp="1"/>
          </p:cNvSpPr>
          <p:nvPr>
            <p:ph type="subTitle" idx="1"/>
          </p:nvPr>
        </p:nvSpPr>
        <p:spPr>
          <a:xfrm>
            <a:off x="786014" y="3928587"/>
            <a:ext cx="10842447" cy="1655762"/>
          </a:xfrm>
        </p:spPr>
        <p:txBody>
          <a:bodyPr>
            <a:normAutofit/>
          </a:bodyPr>
          <a:lstStyle/>
          <a:p>
            <a:r>
              <a:rPr lang="pt-BR" altLang="zh-TW" dirty="0">
                <a:latin typeface="Times New Roman" panose="02020603050405020304" pitchFamily="18" charset="0"/>
                <a:cs typeface="Times New Roman" panose="02020603050405020304" pitchFamily="18" charset="0"/>
              </a:rPr>
              <a:t>Luís M.S. Russo, Diogo Costa, Rui Henriques, </a:t>
            </a:r>
          </a:p>
          <a:p>
            <a:r>
              <a:rPr lang="pt-BR" altLang="zh-TW" dirty="0">
                <a:latin typeface="Times New Roman" panose="02020603050405020304" pitchFamily="18" charset="0"/>
                <a:cs typeface="Times New Roman" panose="02020603050405020304" pitchFamily="18" charset="0"/>
              </a:rPr>
              <a:t>Hideo Bannai, Alexandre P. Francisco</a:t>
            </a:r>
            <a:endParaRPr lang="en-US" altLang="zh-TW" dirty="0">
              <a:latin typeface="Times New Roman" panose="02020603050405020304" pitchFamily="18" charset="0"/>
              <a:cs typeface="Times New Roman" panose="02020603050405020304" pitchFamily="18" charset="0"/>
            </a:endParaRPr>
          </a:p>
          <a:p>
            <a:pPr algn="ctr"/>
            <a:r>
              <a:rPr lang="fr-FR" altLang="zh-TW" sz="2500" dirty="0">
                <a:latin typeface="Times New Roman" panose="02020603050405020304" pitchFamily="18" charset="0"/>
                <a:cs typeface="Times New Roman" panose="02020603050405020304" pitchFamily="18" charset="0"/>
              </a:rPr>
              <a:t>Information and Computation, Volume 289, </a:t>
            </a:r>
            <a:r>
              <a:rPr lang="fr-FR" altLang="zh-TW" sz="2500" dirty="0" err="1">
                <a:latin typeface="Times New Roman" panose="02020603050405020304" pitchFamily="18" charset="0"/>
                <a:cs typeface="Times New Roman" panose="02020603050405020304" pitchFamily="18" charset="0"/>
              </a:rPr>
              <a:t>November</a:t>
            </a:r>
            <a:r>
              <a:rPr lang="fr-FR" altLang="zh-TW" sz="2500" dirty="0">
                <a:latin typeface="Times New Roman" panose="02020603050405020304" pitchFamily="18" charset="0"/>
                <a:cs typeface="Times New Roman" panose="02020603050405020304" pitchFamily="18" charset="0"/>
              </a:rPr>
              <a:t> 2022</a:t>
            </a:r>
            <a:endParaRPr lang="zh-TW" altLang="en-US"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272805CA-C188-EA0E-0232-5E39FC11B582}"/>
              </a:ext>
            </a:extLst>
          </p:cNvPr>
          <p:cNvSpPr txBox="1">
            <a:spLocks/>
          </p:cNvSpPr>
          <p:nvPr/>
        </p:nvSpPr>
        <p:spPr>
          <a:xfrm>
            <a:off x="8322197" y="6002973"/>
            <a:ext cx="3584053" cy="660717"/>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1" lang="en" altLang="zh-TW" dirty="0">
                <a:latin typeface="Times New Roman" panose="02020603050405020304" pitchFamily="18" charset="0"/>
                <a:cs typeface="Times New Roman" panose="02020603050405020304" pitchFamily="18" charset="0"/>
              </a:rPr>
              <a:t>Presenter: Wen-Wen Liao</a:t>
            </a:r>
          </a:p>
          <a:p>
            <a:r>
              <a:rPr kumimoji="1" lang="en" altLang="zh-TW" dirty="0">
                <a:latin typeface="Times New Roman" panose="02020603050405020304" pitchFamily="18" charset="0"/>
                <a:cs typeface="Times New Roman" panose="02020603050405020304" pitchFamily="18" charset="0"/>
              </a:rPr>
              <a:t>Date: Mar. 7, 2023</a:t>
            </a:r>
          </a:p>
        </p:txBody>
      </p:sp>
      <p:sp>
        <p:nvSpPr>
          <p:cNvPr id="5" name="Slide Number Placeholder 4">
            <a:extLst>
              <a:ext uri="{FF2B5EF4-FFF2-40B4-BE49-F238E27FC236}">
                <a16:creationId xmlns:a16="http://schemas.microsoft.com/office/drawing/2014/main" id="{A0AAB76B-0FAF-9711-6F27-1F8F6638EBF6}"/>
              </a:ext>
            </a:extLst>
          </p:cNvPr>
          <p:cNvSpPr>
            <a:spLocks noGrp="1"/>
          </p:cNvSpPr>
          <p:nvPr>
            <p:ph type="sldNum" sz="quarter" idx="12"/>
          </p:nvPr>
        </p:nvSpPr>
        <p:spPr/>
        <p:txBody>
          <a:bodyPr/>
          <a:lstStyle/>
          <a:p>
            <a:fld id="{7FE2C478-69CB-4CE2-A453-7F649089E273}" type="slidenum">
              <a:rPr lang="zh-TW" altLang="en-US" smtClean="0"/>
              <a:t>1</a:t>
            </a:fld>
            <a:endParaRPr lang="zh-TW" altLang="en-US" dirty="0"/>
          </a:p>
        </p:txBody>
      </p:sp>
    </p:spTree>
    <p:extLst>
      <p:ext uri="{BB962C8B-B14F-4D97-AF65-F5344CB8AC3E}">
        <p14:creationId xmlns:p14="http://schemas.microsoft.com/office/powerpoint/2010/main" val="20678574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3735-885C-D762-2A7C-7760F6C51119}"/>
              </a:ext>
            </a:extLst>
          </p:cNvPr>
          <p:cNvSpPr>
            <a:spLocks noGrp="1"/>
          </p:cNvSpPr>
          <p:nvPr>
            <p:ph type="title"/>
          </p:nvPr>
        </p:nvSpPr>
        <p:spPr>
          <a:xfrm>
            <a:off x="838200" y="406866"/>
            <a:ext cx="10515600" cy="1325563"/>
          </a:xfrm>
        </p:spPr>
        <p:txBody>
          <a:bodyPr>
            <a:normAutofit/>
          </a:bodyPr>
          <a:lstStyle/>
          <a:p>
            <a:r>
              <a:rPr kumimoji="1" lang="en-US" altLang="zh-TW" sz="4000" b="1" dirty="0">
                <a:latin typeface="Times New Roman" panose="02020603050405020304" pitchFamily="18" charset="0"/>
                <a:cs typeface="Times New Roman" panose="02020603050405020304" pitchFamily="18" charset="0"/>
              </a:rPr>
              <a:t>Abstract </a:t>
            </a:r>
            <a:endParaRPr kumimoji="1" lang="zh-TW" alt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60A558-83F5-DC4B-E8C9-3EB0801F3EAE}"/>
              </a:ext>
            </a:extLst>
          </p:cNvPr>
          <p:cNvSpPr>
            <a:spLocks noGrp="1"/>
          </p:cNvSpPr>
          <p:nvPr>
            <p:ph idx="1"/>
          </p:nvPr>
        </p:nvSpPr>
        <p:spPr>
          <a:xfrm>
            <a:off x="838200" y="1602298"/>
            <a:ext cx="10797330" cy="4697834"/>
          </a:xfrm>
        </p:spPr>
        <p:txBody>
          <a:bodyPr>
            <a:normAutofit fontScale="92500"/>
          </a:bodyPr>
          <a:lstStyle/>
          <a:p>
            <a:pPr marL="0" indent="0">
              <a:lnSpc>
                <a:spcPct val="110000"/>
              </a:lnSpc>
              <a:buNone/>
            </a:pPr>
            <a:r>
              <a:rPr kumimoji="1" lang="en-US" altLang="zh-TW" sz="2600" dirty="0">
                <a:latin typeface="Times New Roman" panose="02020603050405020304" pitchFamily="18" charset="0"/>
                <a:cs typeface="Times New Roman" panose="02020603050405020304" pitchFamily="18" charset="0"/>
              </a:rPr>
              <a:t>Given a pattern p of size m and a text t, the problem of order-preserving pattern matching (OPPM) is to find all substrings of t that satisfy one of the orderings defined by p. This problem has applications on time series analysis. However given its strict nature this model is unable to deal with indetermination, thus limiting its application to noisy time series. In this paper we introduce indeterminate characters to alleviate this limitation. We then propose two polynomial time algorithms. If the indetermination is limited to p confirming one occurrence can be computed in O(rm lg r) time, where r is a bound on the number of uncertain characters per position. If the indetermination alternates, but does not occur at the same position in t and p, we present an algorithm that requires O(rm(m + lg r)) time. We also show that the general problem is NP-hard and provide a polynomial size </a:t>
            </a:r>
            <a:r>
              <a:rPr kumimoji="1" lang="en-US" altLang="zh-TW" sz="2600" dirty="0" err="1">
                <a:latin typeface="Times New Roman" panose="02020603050405020304" pitchFamily="18" charset="0"/>
                <a:cs typeface="Times New Roman" panose="02020603050405020304" pitchFamily="18" charset="0"/>
              </a:rPr>
              <a:t>boolean</a:t>
            </a:r>
            <a:r>
              <a:rPr kumimoji="1" lang="en-US" altLang="zh-TW" sz="2600" dirty="0">
                <a:latin typeface="Times New Roman" panose="02020603050405020304" pitchFamily="18" charset="0"/>
                <a:cs typeface="Times New Roman" panose="02020603050405020304" pitchFamily="18" charset="0"/>
              </a:rPr>
              <a:t> formula.</a:t>
            </a:r>
            <a:endParaRPr kumimoji="1" lang="zh-TW" altLang="en-US" sz="2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955E3F4-879A-1E75-AEA8-8BFC5FE9B187}"/>
              </a:ext>
            </a:extLst>
          </p:cNvPr>
          <p:cNvSpPr>
            <a:spLocks noGrp="1"/>
          </p:cNvSpPr>
          <p:nvPr>
            <p:ph type="sldNum" sz="quarter" idx="12"/>
          </p:nvPr>
        </p:nvSpPr>
        <p:spPr/>
        <p:txBody>
          <a:bodyPr/>
          <a:lstStyle/>
          <a:p>
            <a:fld id="{7FE2C478-69CB-4CE2-A453-7F649089E273}" type="slidenum">
              <a:rPr lang="zh-TW" altLang="en-US" smtClean="0"/>
              <a:t>2</a:t>
            </a:fld>
            <a:endParaRPr lang="zh-TW" altLang="en-US" dirty="0"/>
          </a:p>
        </p:txBody>
      </p:sp>
    </p:spTree>
    <p:extLst>
      <p:ext uri="{BB962C8B-B14F-4D97-AF65-F5344CB8AC3E}">
        <p14:creationId xmlns:p14="http://schemas.microsoft.com/office/powerpoint/2010/main" val="367190788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Indeterminate Order Preserving Pattern Matching (</a:t>
            </a:r>
            <a:r>
              <a:rPr kumimoji="1" lang="en-US" altLang="zh-TW" sz="3200" b="1" dirty="0" err="1">
                <a:latin typeface="Times New Roman" panose="02020603050405020304" pitchFamily="18" charset="0"/>
                <a:cs typeface="Times New Roman" panose="02020603050405020304" pitchFamily="18" charset="0"/>
              </a:rPr>
              <a:t>μOPPM</a:t>
            </a:r>
            <a:r>
              <a:rPr kumimoji="1" lang="en-US" altLang="zh-TW" sz="3200" b="1" dirty="0">
                <a:latin typeface="Times New Roman" panose="02020603050405020304" pitchFamily="18" charset="0"/>
                <a:cs typeface="Times New Roman" panose="02020603050405020304" pitchFamily="18" charset="0"/>
              </a:rPr>
              <a:t>)</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3</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400" dirty="0">
                <a:latin typeface="Times New Roman" panose="02020603050405020304" pitchFamily="18" charset="0"/>
                <a:cs typeface="Times New Roman" panose="02020603050405020304" pitchFamily="18" charset="0"/>
              </a:rPr>
              <a:t>p = (1, 2|5, 3, 3)</a:t>
            </a:r>
          </a:p>
          <a:p>
            <a:r>
              <a:rPr kumimoji="1" lang="en-US" altLang="zh-TW" sz="2400" dirty="0">
                <a:latin typeface="Times New Roman" panose="02020603050405020304" pitchFamily="18" charset="0"/>
                <a:cs typeface="Times New Roman" panose="02020603050405020304" pitchFamily="18" charset="0"/>
              </a:rPr>
              <a:t>t = (5, 0, 1, 2|1, 2, 5, 2|3, 3|4)</a:t>
            </a:r>
          </a:p>
          <a:p>
            <a:endParaRPr kumimoji="1" lang="en-US" altLang="zh-TW" sz="2400" dirty="0">
              <a:latin typeface="Times New Roman" panose="02020603050405020304" pitchFamily="18" charset="0"/>
              <a:cs typeface="Times New Roman" panose="02020603050405020304" pitchFamily="18" charset="0"/>
            </a:endParaRPr>
          </a:p>
          <a:p>
            <a:r>
              <a:rPr kumimoji="1" lang="en-US" altLang="zh-TW" sz="2400" dirty="0" err="1">
                <a:latin typeface="Times New Roman" panose="02020603050405020304" pitchFamily="18" charset="0"/>
                <a:cs typeface="Times New Roman" panose="02020603050405020304" pitchFamily="18" charset="0"/>
              </a:rPr>
              <a:t>μOPPM</a:t>
            </a:r>
            <a:endParaRPr kumimoji="1" lang="en-US" altLang="zh-TW" sz="2400" dirty="0">
              <a:latin typeface="Times New Roman" panose="02020603050405020304" pitchFamily="18" charset="0"/>
              <a:cs typeface="Times New Roman" panose="02020603050405020304" pitchFamily="18" charset="0"/>
            </a:endParaRPr>
          </a:p>
          <a:p>
            <a:pPr lvl="1"/>
            <a:r>
              <a:rPr kumimoji="1" lang="en-US" altLang="zh-TW" dirty="0">
                <a:latin typeface="Times New Roman" panose="02020603050405020304" pitchFamily="18" charset="0"/>
                <a:cs typeface="Times New Roman" panose="02020603050405020304" pitchFamily="18" charset="0"/>
              </a:rPr>
              <a:t>t[1..4]</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a:t>
            </a:r>
            <a:r>
              <a:rPr kumimoji="1" lang="nn-NO" altLang="zh-TW" dirty="0">
                <a:latin typeface="Times New Roman" panose="02020603050405020304" pitchFamily="18" charset="0"/>
                <a:cs typeface="Times New Roman" panose="02020603050405020304" pitchFamily="18" charset="0"/>
              </a:rPr>
              <a:t>p[0] &lt; p[1] &lt; p[2] = p[3]</a:t>
            </a:r>
            <a:r>
              <a:rPr kumimoji="1" lang="en-US" altLang="zh-TW" dirty="0">
                <a:latin typeface="Times New Roman" panose="02020603050405020304" pitchFamily="18" charset="0"/>
                <a:cs typeface="Times New Roman" panose="02020603050405020304" pitchFamily="18" charset="0"/>
              </a:rPr>
              <a:t>)</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=&gt; (0, 1, 2, 2)</a:t>
            </a:r>
          </a:p>
          <a:p>
            <a:pPr lvl="1"/>
            <a:r>
              <a:rPr kumimoji="1" lang="en-US" altLang="zh-TW" dirty="0">
                <a:latin typeface="Times New Roman" panose="02020603050405020304" pitchFamily="18" charset="0"/>
                <a:cs typeface="Times New Roman" panose="02020603050405020304" pitchFamily="18" charset="0"/>
              </a:rPr>
              <a:t>t[4..7] (</a:t>
            </a:r>
            <a:r>
              <a:rPr kumimoji="1" lang="nn-NO" altLang="zh-TW" dirty="0">
                <a:latin typeface="Times New Roman" panose="02020603050405020304" pitchFamily="18" charset="0"/>
                <a:cs typeface="Times New Roman" panose="02020603050405020304" pitchFamily="18" charset="0"/>
              </a:rPr>
              <a:t>p[0] &lt; p[2] = p[3] &lt; p[1]</a:t>
            </a:r>
            <a:r>
              <a:rPr kumimoji="1" lang="en-US" altLang="zh-TW" dirty="0">
                <a:latin typeface="Times New Roman" panose="02020603050405020304" pitchFamily="18" charset="0"/>
                <a:cs typeface="Times New Roman" panose="02020603050405020304" pitchFamily="18" charset="0"/>
              </a:rPr>
              <a:t>) =&gt; (2, 5, 3, 3)</a:t>
            </a:r>
          </a:p>
          <a:p>
            <a:pPr marL="457200" lvl="1" indent="0">
              <a:buNone/>
            </a:pPr>
            <a:endParaRPr kumimoji="1" lang="en-US" altLang="zh-TW"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226144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rc 15">
            <a:extLst>
              <a:ext uri="{FF2B5EF4-FFF2-40B4-BE49-F238E27FC236}">
                <a16:creationId xmlns:a16="http://schemas.microsoft.com/office/drawing/2014/main" id="{772221C4-0E68-4D71-C4F2-060D0F7B4424}"/>
              </a:ext>
            </a:extLst>
          </p:cNvPr>
          <p:cNvSpPr/>
          <p:nvPr/>
        </p:nvSpPr>
        <p:spPr>
          <a:xfrm rot="6257141">
            <a:off x="3505079" y="976985"/>
            <a:ext cx="3244279" cy="3539046"/>
          </a:xfrm>
          <a:prstGeom prst="arc">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TW" altLang="en-US"/>
          </a:p>
        </p:txBody>
      </p:sp>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err="1">
                <a:latin typeface="Times New Roman" panose="02020603050405020304" pitchFamily="18" charset="0"/>
                <a:cs typeface="Times New Roman" panose="02020603050405020304" pitchFamily="18" charset="0"/>
              </a:rPr>
              <a:t>μOPPM</a:t>
            </a:r>
            <a:r>
              <a:rPr kumimoji="1" lang="en-US" altLang="zh-TW" sz="3200" b="1" dirty="0">
                <a:latin typeface="Times New Roman" panose="02020603050405020304" pitchFamily="18" charset="0"/>
                <a:cs typeface="Times New Roman" panose="02020603050405020304" pitchFamily="18" charset="0"/>
              </a:rPr>
              <a:t> with One Determinate String</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4</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400" dirty="0">
                <a:latin typeface="Times New Roman" panose="02020603050405020304" pitchFamily="18" charset="0"/>
                <a:cs typeface="Times New Roman" panose="02020603050405020304" pitchFamily="18" charset="0"/>
              </a:rPr>
              <a:t>x = (1, 4, 3, 1) </a:t>
            </a:r>
          </a:p>
          <a:p>
            <a:endParaRPr kumimoji="1" lang="en-US" altLang="zh-TW" sz="2400" dirty="0">
              <a:latin typeface="Times New Roman" panose="02020603050405020304" pitchFamily="18" charset="0"/>
              <a:cs typeface="Times New Roman" panose="02020603050405020304" pitchFamily="18" charset="0"/>
            </a:endParaRPr>
          </a:p>
          <a:p>
            <a:endParaRPr kumimoji="1" lang="en-US" altLang="zh-TW" sz="2400" dirty="0">
              <a:latin typeface="Times New Roman" panose="02020603050405020304" pitchFamily="18" charset="0"/>
              <a:cs typeface="Times New Roman" panose="02020603050405020304" pitchFamily="18" charset="0"/>
            </a:endParaRPr>
          </a:p>
          <a:p>
            <a:endParaRPr kumimoji="1" lang="en-US" altLang="zh-TW" sz="2400" dirty="0">
              <a:latin typeface="Times New Roman" panose="02020603050405020304" pitchFamily="18" charset="0"/>
              <a:cs typeface="Times New Roman" panose="02020603050405020304" pitchFamily="18" charset="0"/>
            </a:endParaRPr>
          </a:p>
          <a:p>
            <a:r>
              <a:rPr kumimoji="1" lang="en-US" altLang="zh-TW" sz="2400" dirty="0">
                <a:latin typeface="Times New Roman" panose="02020603050405020304" pitchFamily="18" charset="0"/>
                <a:cs typeface="Times New Roman" panose="02020603050405020304" pitchFamily="18" charset="0"/>
              </a:rPr>
              <a:t>y = (2, 5, 4, 3)</a:t>
            </a:r>
          </a:p>
          <a:p>
            <a:pPr lvl="1"/>
            <a:r>
              <a:rPr kumimoji="1" lang="en-US" altLang="zh-TW" dirty="0">
                <a:latin typeface="Times New Roman" panose="02020603050405020304" pitchFamily="18" charset="0"/>
                <a:cs typeface="Times New Roman" panose="02020603050405020304" pitchFamily="18" charset="0"/>
              </a:rPr>
              <a:t>y[0] </a:t>
            </a:r>
            <a:r>
              <a:rPr kumimoji="1" lang="en-US" altLang="zh-TW" dirty="0">
                <a:solidFill>
                  <a:srgbClr val="FF0000"/>
                </a:solidFill>
                <a:latin typeface="Times New Roman" panose="02020603050405020304" pitchFamily="18" charset="0"/>
                <a:cs typeface="Times New Roman" panose="02020603050405020304" pitchFamily="18" charset="0"/>
              </a:rPr>
              <a:t>&lt;</a:t>
            </a:r>
            <a:r>
              <a:rPr kumimoji="1" lang="en-US" altLang="zh-TW" dirty="0">
                <a:latin typeface="Times New Roman" panose="02020603050405020304" pitchFamily="18" charset="0"/>
                <a:cs typeface="Times New Roman" panose="02020603050405020304" pitchFamily="18" charset="0"/>
              </a:rPr>
              <a:t> y[3] &lt; y[2] &lt; y[1]</a:t>
            </a:r>
            <a:endParaRPr kumimoji="1" lang="zh-TW" altLang="en-US" dirty="0">
              <a:latin typeface="Times New Roman" panose="02020603050405020304" pitchFamily="18" charset="0"/>
              <a:cs typeface="Times New Roman" panose="02020603050405020304" pitchFamily="18" charset="0"/>
            </a:endParaRPr>
          </a:p>
          <a:p>
            <a:pPr lvl="1"/>
            <a:endParaRPr kumimoji="1" lang="en-US" altLang="zh-TW"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3" name="Table 3">
                <a:extLst>
                  <a:ext uri="{FF2B5EF4-FFF2-40B4-BE49-F238E27FC236}">
                    <a16:creationId xmlns:a16="http://schemas.microsoft.com/office/drawing/2014/main" id="{4AF171D8-DF8F-D83D-BCA2-C811CD8C335C}"/>
                  </a:ext>
                </a:extLst>
              </p:cNvPr>
              <p:cNvGraphicFramePr>
                <a:graphicFrameLocks noGrp="1"/>
              </p:cNvGraphicFramePr>
              <p:nvPr>
                <p:extLst>
                  <p:ext uri="{D42A27DB-BD31-4B8C-83A1-F6EECF244321}">
                    <p14:modId xmlns:p14="http://schemas.microsoft.com/office/powerpoint/2010/main" val="2906347707"/>
                  </p:ext>
                </p:extLst>
              </p:nvPr>
            </p:nvGraphicFramePr>
            <p:xfrm>
              <a:off x="1190170" y="2381795"/>
              <a:ext cx="4757785" cy="1188720"/>
            </p:xfrm>
            <a:graphic>
              <a:graphicData uri="http://schemas.openxmlformats.org/drawingml/2006/table">
                <a:tbl>
                  <a:tblPr firstRow="1" bandRow="1">
                    <a:tableStyleId>{5C22544A-7EE6-4342-B048-85BDC9FD1C3A}</a:tableStyleId>
                  </a:tblPr>
                  <a:tblGrid>
                    <a:gridCol w="951557">
                      <a:extLst>
                        <a:ext uri="{9D8B030D-6E8A-4147-A177-3AD203B41FA5}">
                          <a16:colId xmlns:a16="http://schemas.microsoft.com/office/drawing/2014/main" val="3565603148"/>
                        </a:ext>
                      </a:extLst>
                    </a:gridCol>
                    <a:gridCol w="951557">
                      <a:extLst>
                        <a:ext uri="{9D8B030D-6E8A-4147-A177-3AD203B41FA5}">
                          <a16:colId xmlns:a16="http://schemas.microsoft.com/office/drawing/2014/main" val="3201676923"/>
                        </a:ext>
                      </a:extLst>
                    </a:gridCol>
                    <a:gridCol w="951557">
                      <a:extLst>
                        <a:ext uri="{9D8B030D-6E8A-4147-A177-3AD203B41FA5}">
                          <a16:colId xmlns:a16="http://schemas.microsoft.com/office/drawing/2014/main" val="3521555679"/>
                        </a:ext>
                      </a:extLst>
                    </a:gridCol>
                    <a:gridCol w="951557">
                      <a:extLst>
                        <a:ext uri="{9D8B030D-6E8A-4147-A177-3AD203B41FA5}">
                          <a16:colId xmlns:a16="http://schemas.microsoft.com/office/drawing/2014/main" val="1045237709"/>
                        </a:ext>
                      </a:extLst>
                    </a:gridCol>
                    <a:gridCol w="951557">
                      <a:extLst>
                        <a:ext uri="{9D8B030D-6E8A-4147-A177-3AD203B41FA5}">
                          <a16:colId xmlns:a16="http://schemas.microsoft.com/office/drawing/2014/main" val="2318903314"/>
                        </a:ext>
                      </a:extLst>
                    </a:gridCol>
                  </a:tblGrid>
                  <a:tr h="322015">
                    <a:tc>
                      <a:txBody>
                        <a:bodyPr/>
                        <a:lstStyle/>
                        <a:p>
                          <a:pPr marL="0" algn="ctr" defTabSz="914400" rtl="0" eaLnBrk="1" latinLnBrk="0" hangingPunct="1"/>
                          <a:r>
                            <a:rPr kumimoji="1" lang="en-US" altLang="zh-TW" sz="2000" b="0" kern="1200" dirty="0">
                              <a:solidFill>
                                <a:schemeClr val="tx1"/>
                              </a:solidFill>
                              <a:latin typeface="Times New Roman" panose="02020603050405020304" pitchFamily="18" charset="0"/>
                              <a:ea typeface="+mn-ea"/>
                              <a:cs typeface="Times New Roman" panose="02020603050405020304" pitchFamily="18" charset="0"/>
                            </a:rPr>
                            <a:t>x</a:t>
                          </a:r>
                          <a:endParaRPr kumimoji="1" lang="zh-TW" altLang="en-US" sz="20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b="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0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b="0" kern="1200" dirty="0">
                              <a:solidFill>
                                <a:schemeClr val="tx1"/>
                              </a:solidFill>
                              <a:latin typeface="Times New Roman" panose="02020603050405020304" pitchFamily="18" charset="0"/>
                              <a:ea typeface="+mn-ea"/>
                              <a:cs typeface="Times New Roman" panose="02020603050405020304" pitchFamily="18" charset="0"/>
                            </a:rPr>
                            <a:t>4</a:t>
                          </a:r>
                          <a:endParaRPr kumimoji="1" lang="zh-TW" altLang="en-US" sz="20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b="0" kern="1200" dirty="0">
                              <a:solidFill>
                                <a:schemeClr val="tx1"/>
                              </a:solidFill>
                              <a:latin typeface="Times New Roman" panose="02020603050405020304" pitchFamily="18" charset="0"/>
                              <a:ea typeface="+mn-ea"/>
                              <a:cs typeface="Times New Roman" panose="02020603050405020304" pitchFamily="18" charset="0"/>
                            </a:rPr>
                            <a:t>3</a:t>
                          </a:r>
                          <a:endParaRPr kumimoji="1" lang="zh-TW" altLang="en-US" sz="20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b="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0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74181805"/>
                      </a:ext>
                    </a:extLst>
                  </a:tr>
                  <a:tr h="322015">
                    <a:tc>
                      <a:txBody>
                        <a:bodyPr/>
                        <a:lstStyle/>
                        <a:p>
                          <a:pPr marL="0" algn="ctr" defTabSz="914400" rtl="0" eaLnBrk="1" latinLnBrk="0" hangingPunct="1"/>
                          <a:r>
                            <a:rPr kumimoji="1" lang="el-GR" altLang="zh-TW" sz="2000" kern="1200" dirty="0">
                              <a:solidFill>
                                <a:schemeClr val="tx1"/>
                              </a:solidFill>
                              <a:latin typeface="Times New Roman" panose="02020603050405020304" pitchFamily="18" charset="0"/>
                              <a:ea typeface="+mn-ea"/>
                              <a:cs typeface="Times New Roman" panose="02020603050405020304" pitchFamily="18" charset="0"/>
                            </a:rPr>
                            <a:t>π</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kern="1200" dirty="0">
                              <a:solidFill>
                                <a:schemeClr val="tx1"/>
                              </a:solidFill>
                              <a:latin typeface="Times New Roman" panose="02020603050405020304" pitchFamily="18" charset="0"/>
                              <a:ea typeface="+mn-ea"/>
                              <a:cs typeface="Times New Roman" panose="02020603050405020304" pitchFamily="18" charset="0"/>
                            </a:rPr>
                            <a:t>0</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kern="1200" dirty="0">
                              <a:solidFill>
                                <a:schemeClr val="tx1"/>
                              </a:solidFill>
                              <a:latin typeface="Times New Roman" panose="02020603050405020304" pitchFamily="18" charset="0"/>
                              <a:ea typeface="+mn-ea"/>
                              <a:cs typeface="Times New Roman" panose="02020603050405020304" pitchFamily="18" charset="0"/>
                            </a:rPr>
                            <a:t>3</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kern="1200" dirty="0">
                              <a:solidFill>
                                <a:schemeClr val="tx1"/>
                              </a:solidFill>
                              <a:latin typeface="Times New Roman" panose="02020603050405020304" pitchFamily="18" charset="0"/>
                              <a:ea typeface="+mn-ea"/>
                              <a:cs typeface="Times New Roman" panose="02020603050405020304" pitchFamily="18" charset="0"/>
                            </a:rPr>
                            <a:t>2</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2903139"/>
                      </a:ext>
                    </a:extLst>
                  </a:tr>
                  <a:tr h="322015">
                    <a:tc>
                      <a:txBody>
                        <a:bodyPr/>
                        <a:lstStyle/>
                        <a:p>
                          <a:pPr marL="0" algn="ctr" defTabSz="914400" rtl="0" eaLnBrk="1" latinLnBrk="0" hangingPunct="1"/>
                          <a14:m>
                            <m:oMath xmlns:m="http://schemas.openxmlformats.org/officeDocument/2006/math">
                              <m:sSub>
                                <m:sSubPr>
                                  <m:ctrlPr>
                                    <a:rPr kumimoji="1" lang="en-US" altLang="zh-TW" sz="2000" i="1" smtClean="0">
                                      <a:latin typeface="Cambria Math" panose="02040503050406030204" pitchFamily="18" charset="0"/>
                                      <a:cs typeface="Times New Roman" panose="02020603050405020304" pitchFamily="18" charset="0"/>
                                    </a:rPr>
                                  </m:ctrlPr>
                                </m:sSubPr>
                                <m:e>
                                  <m:r>
                                    <a:rPr kumimoji="1" lang="en-US" altLang="zh-TW" sz="2000" b="0" i="1" smtClean="0">
                                      <a:latin typeface="Cambria Math" panose="02040503050406030204" pitchFamily="18" charset="0"/>
                                      <a:cs typeface="Times New Roman" panose="02020603050405020304" pitchFamily="18" charset="0"/>
                                    </a:rPr>
                                    <m:t>𝑥</m:t>
                                  </m:r>
                                </m:e>
                                <m:sub>
                                  <m:r>
                                    <m:rPr>
                                      <m:nor/>
                                    </m:rPr>
                                    <a:rPr kumimoji="1" lang="el-GR" altLang="zh-TW" sz="2000" dirty="0">
                                      <a:latin typeface="Times New Roman" panose="02020603050405020304" pitchFamily="18" charset="0"/>
                                      <a:cs typeface="Times New Roman" panose="02020603050405020304" pitchFamily="18" charset="0"/>
                                    </a:rPr>
                                    <m:t>π</m:t>
                                  </m:r>
                                </m:sub>
                              </m:sSub>
                            </m:oMath>
                          </a14:m>
                          <a:r>
                            <a:rPr kumimoji="1" lang="en-US" altLang="zh-TW" sz="2000" dirty="0">
                              <a:latin typeface="Times New Roman" panose="02020603050405020304" pitchFamily="18" charset="0"/>
                              <a:cs typeface="Times New Roman" panose="02020603050405020304" pitchFamily="18" charset="0"/>
                            </a:rPr>
                            <a:t> </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kern="1200" dirty="0">
                              <a:solidFill>
                                <a:schemeClr val="tx1"/>
                              </a:solidFill>
                              <a:latin typeface="Times New Roman" panose="02020603050405020304" pitchFamily="18" charset="0"/>
                              <a:ea typeface="+mn-ea"/>
                              <a:cs typeface="Times New Roman" panose="02020603050405020304" pitchFamily="18" charset="0"/>
                            </a:rPr>
                            <a:t>3</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kern="1200" dirty="0">
                              <a:solidFill>
                                <a:schemeClr val="tx1"/>
                              </a:solidFill>
                              <a:latin typeface="Times New Roman" panose="02020603050405020304" pitchFamily="18" charset="0"/>
                              <a:ea typeface="+mn-ea"/>
                              <a:cs typeface="Times New Roman" panose="02020603050405020304" pitchFamily="18" charset="0"/>
                            </a:rPr>
                            <a:t>4</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4009771"/>
                      </a:ext>
                    </a:extLst>
                  </a:tr>
                </a:tbl>
              </a:graphicData>
            </a:graphic>
          </p:graphicFrame>
        </mc:Choice>
        <mc:Fallback xmlns="">
          <p:graphicFrame>
            <p:nvGraphicFramePr>
              <p:cNvPr id="3" name="Table 3">
                <a:extLst>
                  <a:ext uri="{FF2B5EF4-FFF2-40B4-BE49-F238E27FC236}">
                    <a16:creationId xmlns:a16="http://schemas.microsoft.com/office/drawing/2014/main" id="{4AF171D8-DF8F-D83D-BCA2-C811CD8C335C}"/>
                  </a:ext>
                </a:extLst>
              </p:cNvPr>
              <p:cNvGraphicFramePr>
                <a:graphicFrameLocks noGrp="1"/>
              </p:cNvGraphicFramePr>
              <p:nvPr>
                <p:extLst>
                  <p:ext uri="{D42A27DB-BD31-4B8C-83A1-F6EECF244321}">
                    <p14:modId xmlns:p14="http://schemas.microsoft.com/office/powerpoint/2010/main" val="2906347707"/>
                  </p:ext>
                </p:extLst>
              </p:nvPr>
            </p:nvGraphicFramePr>
            <p:xfrm>
              <a:off x="1190170" y="2381795"/>
              <a:ext cx="4757785" cy="1188720"/>
            </p:xfrm>
            <a:graphic>
              <a:graphicData uri="http://schemas.openxmlformats.org/drawingml/2006/table">
                <a:tbl>
                  <a:tblPr firstRow="1" bandRow="1">
                    <a:tableStyleId>{5C22544A-7EE6-4342-B048-85BDC9FD1C3A}</a:tableStyleId>
                  </a:tblPr>
                  <a:tblGrid>
                    <a:gridCol w="951557">
                      <a:extLst>
                        <a:ext uri="{9D8B030D-6E8A-4147-A177-3AD203B41FA5}">
                          <a16:colId xmlns:a16="http://schemas.microsoft.com/office/drawing/2014/main" val="3565603148"/>
                        </a:ext>
                      </a:extLst>
                    </a:gridCol>
                    <a:gridCol w="951557">
                      <a:extLst>
                        <a:ext uri="{9D8B030D-6E8A-4147-A177-3AD203B41FA5}">
                          <a16:colId xmlns:a16="http://schemas.microsoft.com/office/drawing/2014/main" val="3201676923"/>
                        </a:ext>
                      </a:extLst>
                    </a:gridCol>
                    <a:gridCol w="951557">
                      <a:extLst>
                        <a:ext uri="{9D8B030D-6E8A-4147-A177-3AD203B41FA5}">
                          <a16:colId xmlns:a16="http://schemas.microsoft.com/office/drawing/2014/main" val="3521555679"/>
                        </a:ext>
                      </a:extLst>
                    </a:gridCol>
                    <a:gridCol w="951557">
                      <a:extLst>
                        <a:ext uri="{9D8B030D-6E8A-4147-A177-3AD203B41FA5}">
                          <a16:colId xmlns:a16="http://schemas.microsoft.com/office/drawing/2014/main" val="1045237709"/>
                        </a:ext>
                      </a:extLst>
                    </a:gridCol>
                    <a:gridCol w="951557">
                      <a:extLst>
                        <a:ext uri="{9D8B030D-6E8A-4147-A177-3AD203B41FA5}">
                          <a16:colId xmlns:a16="http://schemas.microsoft.com/office/drawing/2014/main" val="2318903314"/>
                        </a:ext>
                      </a:extLst>
                    </a:gridCol>
                  </a:tblGrid>
                  <a:tr h="396240">
                    <a:tc>
                      <a:txBody>
                        <a:bodyPr/>
                        <a:lstStyle/>
                        <a:p>
                          <a:pPr marL="0" algn="ctr" defTabSz="914400" rtl="0" eaLnBrk="1" latinLnBrk="0" hangingPunct="1"/>
                          <a:r>
                            <a:rPr kumimoji="1" lang="en-US" altLang="zh-TW" sz="2000" b="0" kern="1200" dirty="0">
                              <a:solidFill>
                                <a:schemeClr val="tx1"/>
                              </a:solidFill>
                              <a:latin typeface="Times New Roman" panose="02020603050405020304" pitchFamily="18" charset="0"/>
                              <a:ea typeface="+mn-ea"/>
                              <a:cs typeface="Times New Roman" panose="02020603050405020304" pitchFamily="18" charset="0"/>
                            </a:rPr>
                            <a:t>x</a:t>
                          </a:r>
                          <a:endParaRPr kumimoji="1" lang="zh-TW" altLang="en-US" sz="20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b="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0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b="0" kern="1200" dirty="0">
                              <a:solidFill>
                                <a:schemeClr val="tx1"/>
                              </a:solidFill>
                              <a:latin typeface="Times New Roman" panose="02020603050405020304" pitchFamily="18" charset="0"/>
                              <a:ea typeface="+mn-ea"/>
                              <a:cs typeface="Times New Roman" panose="02020603050405020304" pitchFamily="18" charset="0"/>
                            </a:rPr>
                            <a:t>4</a:t>
                          </a:r>
                          <a:endParaRPr kumimoji="1" lang="zh-TW" altLang="en-US" sz="20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b="0" kern="1200" dirty="0">
                              <a:solidFill>
                                <a:schemeClr val="tx1"/>
                              </a:solidFill>
                              <a:latin typeface="Times New Roman" panose="02020603050405020304" pitchFamily="18" charset="0"/>
                              <a:ea typeface="+mn-ea"/>
                              <a:cs typeface="Times New Roman" panose="02020603050405020304" pitchFamily="18" charset="0"/>
                            </a:rPr>
                            <a:t>3</a:t>
                          </a:r>
                          <a:endParaRPr kumimoji="1" lang="zh-TW" altLang="en-US" sz="20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b="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0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74181805"/>
                      </a:ext>
                    </a:extLst>
                  </a:tr>
                  <a:tr h="396240">
                    <a:tc>
                      <a:txBody>
                        <a:bodyPr/>
                        <a:lstStyle/>
                        <a:p>
                          <a:pPr marL="0" algn="ctr" defTabSz="914400" rtl="0" eaLnBrk="1" latinLnBrk="0" hangingPunct="1"/>
                          <a:r>
                            <a:rPr kumimoji="1" lang="el-GR" altLang="zh-TW" sz="2000" kern="1200" dirty="0">
                              <a:solidFill>
                                <a:schemeClr val="tx1"/>
                              </a:solidFill>
                              <a:latin typeface="Times New Roman" panose="02020603050405020304" pitchFamily="18" charset="0"/>
                              <a:ea typeface="+mn-ea"/>
                              <a:cs typeface="Times New Roman" panose="02020603050405020304" pitchFamily="18" charset="0"/>
                            </a:rPr>
                            <a:t>π</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kern="1200" dirty="0">
                              <a:solidFill>
                                <a:schemeClr val="tx1"/>
                              </a:solidFill>
                              <a:latin typeface="Times New Roman" panose="02020603050405020304" pitchFamily="18" charset="0"/>
                              <a:ea typeface="+mn-ea"/>
                              <a:cs typeface="Times New Roman" panose="02020603050405020304" pitchFamily="18" charset="0"/>
                            </a:rPr>
                            <a:t>0</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kern="1200" dirty="0">
                              <a:solidFill>
                                <a:schemeClr val="tx1"/>
                              </a:solidFill>
                              <a:latin typeface="Times New Roman" panose="02020603050405020304" pitchFamily="18" charset="0"/>
                              <a:ea typeface="+mn-ea"/>
                              <a:cs typeface="Times New Roman" panose="02020603050405020304" pitchFamily="18" charset="0"/>
                            </a:rPr>
                            <a:t>3</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kern="1200" dirty="0">
                              <a:solidFill>
                                <a:schemeClr val="tx1"/>
                              </a:solidFill>
                              <a:latin typeface="Times New Roman" panose="02020603050405020304" pitchFamily="18" charset="0"/>
                              <a:ea typeface="+mn-ea"/>
                              <a:cs typeface="Times New Roman" panose="02020603050405020304" pitchFamily="18" charset="0"/>
                            </a:rPr>
                            <a:t>2</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2903139"/>
                      </a:ext>
                    </a:extLst>
                  </a:tr>
                  <a:tr h="396240">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41" t="-209231" r="-401923" b="-27692"/>
                          </a:stretch>
                        </a:blipFill>
                      </a:tcPr>
                    </a:tc>
                    <a:tc>
                      <a:txBody>
                        <a:bodyPr/>
                        <a:lstStyle/>
                        <a:p>
                          <a:pPr marL="0" algn="ctr" defTabSz="914400" rtl="0" eaLnBrk="1" latinLnBrk="0" hangingPunct="1"/>
                          <a:r>
                            <a:rPr kumimoji="1" lang="en-US" altLang="zh-TW" sz="200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kern="1200" dirty="0">
                              <a:solidFill>
                                <a:schemeClr val="tx1"/>
                              </a:solidFill>
                              <a:latin typeface="Times New Roman" panose="02020603050405020304" pitchFamily="18" charset="0"/>
                              <a:ea typeface="+mn-ea"/>
                              <a:cs typeface="Times New Roman" panose="02020603050405020304" pitchFamily="18" charset="0"/>
                            </a:rPr>
                            <a:t>3</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kumimoji="1" lang="en-US" altLang="zh-TW" sz="2000" kern="1200" dirty="0">
                              <a:solidFill>
                                <a:schemeClr val="tx1"/>
                              </a:solidFill>
                              <a:latin typeface="Times New Roman" panose="02020603050405020304" pitchFamily="18" charset="0"/>
                              <a:ea typeface="+mn-ea"/>
                              <a:cs typeface="Times New Roman" panose="02020603050405020304" pitchFamily="18" charset="0"/>
                            </a:rPr>
                            <a:t>4</a:t>
                          </a:r>
                          <a:endParaRPr kumimoji="1" lang="zh-TW"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4009771"/>
                      </a:ext>
                    </a:extLst>
                  </a:tr>
                </a:tbl>
              </a:graphicData>
            </a:graphic>
          </p:graphicFrame>
        </mc:Fallback>
      </mc:AlternateContent>
      <p:sp>
        <p:nvSpPr>
          <p:cNvPr id="4" name="TextBox 3">
            <a:extLst>
              <a:ext uri="{FF2B5EF4-FFF2-40B4-BE49-F238E27FC236}">
                <a16:creationId xmlns:a16="http://schemas.microsoft.com/office/drawing/2014/main" id="{4B9F5FD8-5A04-B81A-E2EC-938F6E1EF4F1}"/>
              </a:ext>
            </a:extLst>
          </p:cNvPr>
          <p:cNvSpPr txBox="1"/>
          <p:nvPr/>
        </p:nvSpPr>
        <p:spPr>
          <a:xfrm>
            <a:off x="6420680" y="2749206"/>
            <a:ext cx="3217547" cy="461665"/>
          </a:xfrm>
          <a:prstGeom prst="rect">
            <a:avLst/>
          </a:prstGeom>
          <a:noFill/>
        </p:spPr>
        <p:txBody>
          <a:bodyPr wrap="none" rtlCol="0">
            <a:spAutoFit/>
          </a:bodyPr>
          <a:lstStyle/>
          <a:p>
            <a:r>
              <a:rPr kumimoji="1" lang="en-US" altLang="zh-TW" sz="2400" dirty="0">
                <a:latin typeface="Times New Roman" panose="02020603050405020304" pitchFamily="18" charset="0"/>
                <a:cs typeface="Times New Roman" panose="02020603050405020304" pitchFamily="18" charset="0"/>
              </a:rPr>
              <a:t>x[0] </a:t>
            </a:r>
            <a:r>
              <a:rPr kumimoji="1" lang="en-US" altLang="zh-TW" sz="2400" dirty="0">
                <a:solidFill>
                  <a:srgbClr val="FF0000"/>
                </a:solidFill>
                <a:latin typeface="Times New Roman" panose="02020603050405020304" pitchFamily="18" charset="0"/>
                <a:cs typeface="Times New Roman" panose="02020603050405020304" pitchFamily="18" charset="0"/>
              </a:rPr>
              <a:t>=</a:t>
            </a:r>
            <a:r>
              <a:rPr kumimoji="1" lang="en-US" altLang="zh-TW" sz="2400" dirty="0">
                <a:latin typeface="Times New Roman" panose="02020603050405020304" pitchFamily="18" charset="0"/>
                <a:cs typeface="Times New Roman" panose="02020603050405020304" pitchFamily="18" charset="0"/>
              </a:rPr>
              <a:t> x[3] &lt; x[2] &lt; x[1]</a:t>
            </a:r>
            <a:endParaRPr kumimoji="1" lang="zh-TW" altLang="en-US" sz="2400" dirty="0">
              <a:latin typeface="Times New Roman" panose="02020603050405020304" pitchFamily="18" charset="0"/>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8BE59263-1048-28BA-5AF0-16A3A461BB48}"/>
              </a:ext>
            </a:extLst>
          </p:cNvPr>
          <p:cNvCxnSpPr>
            <a:cxnSpLocks/>
            <a:stCxn id="3" idx="3"/>
            <a:endCxn id="4" idx="1"/>
          </p:cNvCxnSpPr>
          <p:nvPr/>
        </p:nvCxnSpPr>
        <p:spPr>
          <a:xfrm>
            <a:off x="5947955" y="2976155"/>
            <a:ext cx="472725" cy="38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48C42093-B594-CEB0-BA86-11F460D42ABE}"/>
              </a:ext>
            </a:extLst>
          </p:cNvPr>
          <p:cNvSpPr txBox="1"/>
          <p:nvPr/>
        </p:nvSpPr>
        <p:spPr>
          <a:xfrm>
            <a:off x="6000062" y="3881845"/>
            <a:ext cx="322361" cy="400110"/>
          </a:xfrm>
          <a:prstGeom prst="rect">
            <a:avLst/>
          </a:prstGeom>
          <a:solidFill>
            <a:schemeClr val="bg1"/>
          </a:solidFill>
        </p:spPr>
        <p:txBody>
          <a:bodyPr wrap="square" rtlCol="0">
            <a:spAutoFit/>
          </a:bodyPr>
          <a:lstStyle/>
          <a:p>
            <a:r>
              <a:rPr kumimoji="1" lang="zh-TW" alt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47240912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err="1">
                <a:latin typeface="Times New Roman" panose="02020603050405020304" pitchFamily="18" charset="0"/>
                <a:cs typeface="Times New Roman" panose="02020603050405020304" pitchFamily="18" charset="0"/>
              </a:rPr>
              <a:t>μOPPM</a:t>
            </a:r>
            <a:r>
              <a:rPr kumimoji="1" lang="en-US" altLang="zh-TW" sz="3200" b="1" dirty="0">
                <a:latin typeface="Times New Roman" panose="02020603050405020304" pitchFamily="18" charset="0"/>
                <a:cs typeface="Times New Roman" panose="02020603050405020304" pitchFamily="18" charset="0"/>
              </a:rPr>
              <a:t> with One Determinate String</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5</a:t>
            </a:fld>
            <a:endParaRPr lang="zh-TW" altLang="en-US"/>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400" dirty="0">
                    <a:latin typeface="Times New Roman" panose="02020603050405020304" pitchFamily="18" charset="0"/>
                    <a:cs typeface="Times New Roman" panose="02020603050405020304" pitchFamily="18" charset="0"/>
                  </a:rPr>
                  <a:t>x = (4, 1, 4, 2) </a:t>
                </a:r>
              </a:p>
              <a:p>
                <a:pPr lvl="1"/>
                <a:r>
                  <a:rPr kumimoji="1" lang="el-GR" altLang="zh-TW" dirty="0">
                    <a:latin typeface="Times New Roman" panose="02020603050405020304" pitchFamily="18" charset="0"/>
                    <a:cs typeface="Times New Roman" panose="02020603050405020304" pitchFamily="18" charset="0"/>
                  </a:rPr>
                  <a:t>π</a:t>
                </a:r>
                <a:r>
                  <a:rPr kumimoji="1" lang="en-US" altLang="zh-TW" dirty="0">
                    <a:latin typeface="Times New Roman" panose="02020603050405020304" pitchFamily="18" charset="0"/>
                    <a:cs typeface="Times New Roman" panose="02020603050405020304" pitchFamily="18" charset="0"/>
                  </a:rPr>
                  <a:t> = (1, 3, 0, 2)</a:t>
                </a:r>
              </a:p>
              <a:p>
                <a:pPr lvl="1"/>
                <a14:m>
                  <m:oMath xmlns:m="http://schemas.openxmlformats.org/officeDocument/2006/math">
                    <m:sSub>
                      <m:sSubPr>
                        <m:ctrlPr>
                          <a:rPr kumimoji="1" lang="en-US" altLang="zh-TW" i="1">
                            <a:latin typeface="Cambria Math" panose="02040503050406030204" pitchFamily="18" charset="0"/>
                          </a:rPr>
                        </m:ctrlPr>
                      </m:sSubPr>
                      <m:e>
                        <m:r>
                          <a:rPr kumimoji="1" lang="en-US" altLang="zh-TW">
                            <a:latin typeface="Cambria Math" panose="02040503050406030204" pitchFamily="18" charset="0"/>
                          </a:rPr>
                          <m:t>𝑥</m:t>
                        </m:r>
                      </m:e>
                      <m:sub>
                        <m:r>
                          <m:rPr>
                            <m:nor/>
                          </m:rPr>
                          <a:rPr kumimoji="1" lang="el-GR" altLang="zh-TW" dirty="0">
                            <a:latin typeface="Times New Roman" panose="02020603050405020304" pitchFamily="18" charset="0"/>
                            <a:cs typeface="Times New Roman" panose="02020603050405020304" pitchFamily="18" charset="0"/>
                          </a:rPr>
                          <m:t>π</m:t>
                        </m:r>
                      </m:sub>
                    </m:sSub>
                  </m:oMath>
                </a14:m>
                <a:r>
                  <a:rPr kumimoji="1" lang="en-US" altLang="zh-TW" dirty="0">
                    <a:latin typeface="Times New Roman" panose="02020603050405020304" pitchFamily="18" charset="0"/>
                    <a:cs typeface="Times New Roman" panose="02020603050405020304" pitchFamily="18" charset="0"/>
                  </a:rPr>
                  <a:t> = (1, 2, 4, 4)</a:t>
                </a:r>
              </a:p>
              <a:p>
                <a:pPr lvl="1"/>
                <a:r>
                  <a:rPr kumimoji="1" lang="en-US" altLang="zh-TW" dirty="0">
                    <a:latin typeface="Times New Roman" panose="02020603050405020304" pitchFamily="18" charset="0"/>
                    <a:cs typeface="Times New Roman" panose="02020603050405020304" pitchFamily="18" charset="0"/>
                  </a:rPr>
                  <a:t>order sequence for </a:t>
                </a:r>
                <a14:m>
                  <m:oMath xmlns:m="http://schemas.openxmlformats.org/officeDocument/2006/math">
                    <m:sSub>
                      <m:sSubPr>
                        <m:ctrlPr>
                          <a:rPr kumimoji="1" lang="en-US" altLang="zh-TW" i="1">
                            <a:latin typeface="Cambria Math" panose="02040503050406030204" pitchFamily="18" charset="0"/>
                          </a:rPr>
                        </m:ctrlPr>
                      </m:sSubPr>
                      <m:e>
                        <m:r>
                          <a:rPr kumimoji="1" lang="en-US" altLang="zh-TW">
                            <a:latin typeface="Cambria Math" panose="02040503050406030204" pitchFamily="18" charset="0"/>
                          </a:rPr>
                          <m:t>𝑥</m:t>
                        </m:r>
                      </m:e>
                      <m:sub>
                        <m:r>
                          <m:rPr>
                            <m:nor/>
                          </m:rPr>
                          <a:rPr kumimoji="1" lang="el-GR" altLang="zh-TW" dirty="0">
                            <a:latin typeface="Times New Roman" panose="02020603050405020304" pitchFamily="18" charset="0"/>
                            <a:cs typeface="Times New Roman" panose="02020603050405020304" pitchFamily="18" charset="0"/>
                          </a:rPr>
                          <m:t>π</m:t>
                        </m:r>
                      </m:sub>
                    </m:sSub>
                  </m:oMath>
                </a14:m>
                <a:r>
                  <a:rPr kumimoji="1" lang="en-US" altLang="zh-TW" dirty="0">
                    <a:latin typeface="Times New Roman" panose="02020603050405020304" pitchFamily="18" charset="0"/>
                    <a:cs typeface="Times New Roman" panose="02020603050405020304" pitchFamily="18" charset="0"/>
                  </a:rPr>
                  <a:t> = (&lt;, &lt;, =)</a:t>
                </a:r>
              </a:p>
              <a:p>
                <a:pPr marL="457200" lvl="1" indent="0">
                  <a:buNone/>
                </a:pPr>
                <a:r>
                  <a:rPr kumimoji="1" lang="en-US" altLang="zh-TW" sz="2000" dirty="0">
                    <a:latin typeface="Times New Roman" panose="02020603050405020304" pitchFamily="18" charset="0"/>
                    <a:cs typeface="Times New Roman" panose="02020603050405020304" pitchFamily="18" charset="0"/>
                  </a:rPr>
                  <a:t> </a:t>
                </a:r>
              </a:p>
              <a:p>
                <a:r>
                  <a:rPr kumimoji="1" lang="es-ES" altLang="zh-TW" sz="2400" dirty="0">
                    <a:latin typeface="Times New Roman" panose="02020603050405020304" pitchFamily="18" charset="0"/>
                    <a:cs typeface="Times New Roman" panose="02020603050405020304" pitchFamily="18" charset="0"/>
                  </a:rPr>
                  <a:t>y = (2|7, 2, 7|8, 1|4|8)</a:t>
                </a:r>
              </a:p>
              <a:p>
                <a:pPr lvl="1"/>
                <a14:m>
                  <m:oMath xmlns:m="http://schemas.openxmlformats.org/officeDocument/2006/math">
                    <m:sSub>
                      <m:sSubPr>
                        <m:ctrlPr>
                          <a:rPr kumimoji="1" lang="en-US" altLang="zh-TW" i="1">
                            <a:latin typeface="Cambria Math" panose="02040503050406030204" pitchFamily="18" charset="0"/>
                            <a:cs typeface="Times New Roman" panose="02020603050405020304" pitchFamily="18" charset="0"/>
                          </a:rPr>
                        </m:ctrlPr>
                      </m:sSubPr>
                      <m:e>
                        <m:r>
                          <m:rPr>
                            <m:sty m:val="p"/>
                          </m:rPr>
                          <a:rPr kumimoji="1" lang="en-US" altLang="zh-TW">
                            <a:latin typeface="Cambria Math" panose="02040503050406030204" pitchFamily="18" charset="0"/>
                            <a:cs typeface="Times New Roman" panose="02020603050405020304" pitchFamily="18" charset="0"/>
                          </a:rPr>
                          <m:t>y</m:t>
                        </m:r>
                      </m:e>
                      <m:sub>
                        <m:r>
                          <m:rPr>
                            <m:nor/>
                          </m:rPr>
                          <a:rPr kumimoji="1" lang="el-GR" altLang="zh-TW" dirty="0">
                            <a:latin typeface="Times New Roman" panose="02020603050405020304" pitchFamily="18" charset="0"/>
                            <a:cs typeface="Times New Roman" panose="02020603050405020304" pitchFamily="18" charset="0"/>
                          </a:rPr>
                          <m:t>π</m:t>
                        </m:r>
                      </m:sub>
                    </m:sSub>
                  </m:oMath>
                </a14:m>
                <a:r>
                  <a:rPr kumimoji="1" lang="en-US" altLang="zh-TW" dirty="0">
                    <a:latin typeface="Times New Roman" panose="02020603050405020304" pitchFamily="18" charset="0"/>
                    <a:cs typeface="Times New Roman" panose="02020603050405020304" pitchFamily="18" charset="0"/>
                  </a:rPr>
                  <a:t> = (2, 1|4|8, 2|7, 7|8)</a:t>
                </a: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l="-791" t="-1920"/>
                </a:stretch>
              </a:blipFill>
            </p:spPr>
            <p:txBody>
              <a:bodyPr/>
              <a:lstStyle/>
              <a:p>
                <a:r>
                  <a:rPr lang="zh-TW" altLang="en-US">
                    <a:noFill/>
                  </a:rPr>
                  <a:t> </a:t>
                </a:r>
              </a:p>
            </p:txBody>
          </p:sp>
        </mc:Fallback>
      </mc:AlternateContent>
      <p:pic>
        <p:nvPicPr>
          <p:cNvPr id="9" name="Picture 8">
            <a:extLst>
              <a:ext uri="{FF2B5EF4-FFF2-40B4-BE49-F238E27FC236}">
                <a16:creationId xmlns:a16="http://schemas.microsoft.com/office/drawing/2014/main" id="{34923B7A-9994-1CD7-BE89-F48AC2C36E0A}"/>
              </a:ext>
            </a:extLst>
          </p:cNvPr>
          <p:cNvPicPr>
            <a:picLocks noChangeAspect="1"/>
          </p:cNvPicPr>
          <p:nvPr/>
        </p:nvPicPr>
        <p:blipFill>
          <a:blip r:embed="rId4"/>
          <a:stretch>
            <a:fillRect/>
          </a:stretch>
        </p:blipFill>
        <p:spPr>
          <a:xfrm>
            <a:off x="6018711" y="2766969"/>
            <a:ext cx="3674754" cy="3274874"/>
          </a:xfrm>
          <a:prstGeom prst="rect">
            <a:avLst/>
          </a:prstGeom>
        </p:spPr>
      </p:pic>
    </p:spTree>
    <p:extLst>
      <p:ext uri="{BB962C8B-B14F-4D97-AF65-F5344CB8AC3E}">
        <p14:creationId xmlns:p14="http://schemas.microsoft.com/office/powerpoint/2010/main" val="3302980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err="1">
                <a:latin typeface="Times New Roman" panose="02020603050405020304" pitchFamily="18" charset="0"/>
                <a:cs typeface="Times New Roman" panose="02020603050405020304" pitchFamily="18" charset="0"/>
              </a:rPr>
              <a:t>μOPPM</a:t>
            </a:r>
            <a:r>
              <a:rPr kumimoji="1" lang="en-US" altLang="zh-TW" sz="3200" b="1" dirty="0">
                <a:latin typeface="Times New Roman" panose="02020603050405020304" pitchFamily="18" charset="0"/>
                <a:cs typeface="Times New Roman" panose="02020603050405020304" pitchFamily="18" charset="0"/>
              </a:rPr>
              <a:t> with One Determinate String</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6</a:t>
            </a:fld>
            <a:endParaRPr lang="zh-TW" altLang="en-US"/>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sSub>
                      <m:sSubPr>
                        <m:ctrlPr>
                          <a:rPr kumimoji="1" lang="en-US" altLang="zh-TW" sz="2400" i="1" smtClean="0">
                            <a:latin typeface="Cambria Math" panose="02040503050406030204" pitchFamily="18" charset="0"/>
                            <a:cs typeface="Times New Roman" panose="02020603050405020304" pitchFamily="18" charset="0"/>
                          </a:rPr>
                        </m:ctrlPr>
                      </m:sSubPr>
                      <m:e>
                        <m:r>
                          <m:rPr>
                            <m:sty m:val="p"/>
                          </m:rPr>
                          <a:rPr kumimoji="1" lang="en-US" altLang="zh-TW" sz="2400" b="0" i="0" smtClean="0">
                            <a:latin typeface="Cambria Math" panose="02040503050406030204" pitchFamily="18" charset="0"/>
                            <a:cs typeface="Times New Roman" panose="02020603050405020304" pitchFamily="18" charset="0"/>
                          </a:rPr>
                          <m:t>y</m:t>
                        </m:r>
                      </m:e>
                      <m:sub>
                        <m:r>
                          <m:rPr>
                            <m:nor/>
                          </m:rPr>
                          <a:rPr kumimoji="1" lang="el-GR" altLang="zh-TW" sz="2400" dirty="0">
                            <a:latin typeface="Times New Roman" panose="02020603050405020304" pitchFamily="18" charset="0"/>
                            <a:cs typeface="Times New Roman" panose="02020603050405020304" pitchFamily="18" charset="0"/>
                          </a:rPr>
                          <m:t>π</m:t>
                        </m:r>
                      </m:sub>
                    </m:sSub>
                  </m:oMath>
                </a14:m>
                <a:r>
                  <a:rPr kumimoji="1" lang="en-US" altLang="zh-TW" sz="2400" dirty="0">
                    <a:latin typeface="Times New Roman" panose="02020603050405020304" pitchFamily="18" charset="0"/>
                    <a:cs typeface="Times New Roman" panose="02020603050405020304" pitchFamily="18" charset="0"/>
                  </a:rPr>
                  <a:t> = (2, 1|4|8, 2|7, 7|8)</a:t>
                </a:r>
              </a:p>
              <a:p>
                <a:endParaRPr kumimoji="1" lang="en-US" altLang="zh-TW" sz="2400" dirty="0">
                  <a:latin typeface="Times New Roman" panose="02020603050405020304" pitchFamily="18" charset="0"/>
                  <a:cs typeface="Times New Roman" panose="02020603050405020304" pitchFamily="18" charset="0"/>
                </a:endParaRPr>
              </a:p>
              <a:p>
                <a:r>
                  <a:rPr kumimoji="1" lang="en-US" altLang="zh-TW" sz="2400" dirty="0">
                    <a:latin typeface="Times New Roman" panose="02020603050405020304" pitchFamily="18" charset="0"/>
                    <a:cs typeface="Times New Roman" panose="02020603050405020304" pitchFamily="18" charset="0"/>
                  </a:rPr>
                  <a:t>simplify the problem</a:t>
                </a:r>
              </a:p>
              <a:p>
                <a:pPr lvl="1"/>
                <a14:m>
                  <m:oMath xmlns:m="http://schemas.openxmlformats.org/officeDocument/2006/math">
                    <m:sSub>
                      <m:sSubPr>
                        <m:ctrlPr>
                          <a:rPr kumimoji="1" lang="el-GR" altLang="zh-TW" i="1" smtClean="0">
                            <a:latin typeface="Cambria Math" panose="02040503050406030204" pitchFamily="18" charset="0"/>
                            <a:cs typeface="Times New Roman" panose="02020603050405020304" pitchFamily="18" charset="0"/>
                          </a:rPr>
                        </m:ctrlPr>
                      </m:sSubPr>
                      <m:e>
                        <m:sSup>
                          <m:sSupPr>
                            <m:ctrlPr>
                              <a:rPr kumimoji="1" lang="el-GR" altLang="zh-TW" i="1" smtClean="0">
                                <a:latin typeface="Cambria Math" panose="02040503050406030204" pitchFamily="18" charset="0"/>
                                <a:cs typeface="Times New Roman" panose="02020603050405020304" pitchFamily="18" charset="0"/>
                              </a:rPr>
                            </m:ctrlPr>
                          </m:sSupPr>
                          <m:e>
                            <m:r>
                              <a:rPr kumimoji="1" lang="en-US" altLang="zh-TW" b="0" i="1" smtClean="0">
                                <a:latin typeface="Cambria Math" panose="02040503050406030204" pitchFamily="18" charset="0"/>
                                <a:cs typeface="Times New Roman" panose="02020603050405020304" pitchFamily="18" charset="0"/>
                              </a:rPr>
                              <m:t>𝑦</m:t>
                            </m:r>
                          </m:e>
                          <m:sup>
                            <m:r>
                              <a:rPr kumimoji="1" lang="en-US" altLang="zh-TW" b="0" i="1" smtClean="0">
                                <a:latin typeface="Cambria Math" panose="02040503050406030204" pitchFamily="18" charset="0"/>
                                <a:cs typeface="Times New Roman" panose="02020603050405020304" pitchFamily="18" charset="0"/>
                              </a:rPr>
                              <m:t>′</m:t>
                            </m:r>
                          </m:sup>
                        </m:sSup>
                      </m:e>
                      <m:sub>
                        <m:r>
                          <m:rPr>
                            <m:nor/>
                          </m:rPr>
                          <a:rPr kumimoji="1" lang="el-GR" altLang="zh-TW" dirty="0">
                            <a:latin typeface="Times New Roman" panose="02020603050405020304" pitchFamily="18" charset="0"/>
                            <a:cs typeface="Times New Roman" panose="02020603050405020304" pitchFamily="18" charset="0"/>
                          </a:rPr>
                          <m:t>π</m:t>
                        </m:r>
                      </m:sub>
                    </m:sSub>
                  </m:oMath>
                </a14:m>
                <a:r>
                  <a:rPr kumimoji="1" lang="el-GR" altLang="zh-TW" dirty="0">
                    <a:latin typeface="Times New Roman" panose="02020603050405020304" pitchFamily="18" charset="0"/>
                    <a:cs typeface="Times New Roman" panose="02020603050405020304" pitchFamily="18" charset="0"/>
                  </a:rPr>
                  <a:t>[2] = </a:t>
                </a:r>
                <a14:m>
                  <m:oMath xmlns:m="http://schemas.openxmlformats.org/officeDocument/2006/math">
                    <m:sSub>
                      <m:sSubPr>
                        <m:ctrlPr>
                          <a:rPr kumimoji="1" lang="en-US" altLang="zh-TW" i="1">
                            <a:latin typeface="Cambria Math" panose="02040503050406030204" pitchFamily="18" charset="0"/>
                            <a:cs typeface="Times New Roman" panose="02020603050405020304" pitchFamily="18" charset="0"/>
                          </a:rPr>
                        </m:ctrlPr>
                      </m:sSubPr>
                      <m:e>
                        <m:r>
                          <m:rPr>
                            <m:sty m:val="p"/>
                          </m:rPr>
                          <a:rPr kumimoji="1" lang="en-US" altLang="zh-TW">
                            <a:latin typeface="Cambria Math" panose="02040503050406030204" pitchFamily="18" charset="0"/>
                            <a:cs typeface="Times New Roman" panose="02020603050405020304" pitchFamily="18" charset="0"/>
                          </a:rPr>
                          <m:t>y</m:t>
                        </m:r>
                      </m:e>
                      <m:sub>
                        <m:r>
                          <m:rPr>
                            <m:nor/>
                          </m:rPr>
                          <a:rPr kumimoji="1" lang="el-GR" altLang="zh-TW" dirty="0">
                            <a:latin typeface="Times New Roman" panose="02020603050405020304" pitchFamily="18" charset="0"/>
                            <a:cs typeface="Times New Roman" panose="02020603050405020304" pitchFamily="18" charset="0"/>
                          </a:rPr>
                          <m:t>π</m:t>
                        </m:r>
                      </m:sub>
                    </m:sSub>
                  </m:oMath>
                </a14:m>
                <a:r>
                  <a:rPr kumimoji="1" lang="en-US" altLang="zh-TW" dirty="0">
                    <a:latin typeface="Times New Roman" panose="02020603050405020304" pitchFamily="18" charset="0"/>
                    <a:cs typeface="Times New Roman" panose="02020603050405020304" pitchFamily="18" charset="0"/>
                  </a:rPr>
                  <a:t> </a:t>
                </a:r>
                <a:r>
                  <a:rPr kumimoji="1" lang="el-GR" altLang="zh-TW" dirty="0">
                    <a:latin typeface="Times New Roman" panose="02020603050405020304" pitchFamily="18" charset="0"/>
                    <a:cs typeface="Times New Roman" panose="02020603050405020304" pitchFamily="18" charset="0"/>
                  </a:rPr>
                  <a:t>[2] ∩ </a:t>
                </a:r>
                <a14:m>
                  <m:oMath xmlns:m="http://schemas.openxmlformats.org/officeDocument/2006/math">
                    <m:sSub>
                      <m:sSubPr>
                        <m:ctrlPr>
                          <a:rPr kumimoji="1" lang="en-US" altLang="zh-TW" i="1">
                            <a:latin typeface="Cambria Math" panose="02040503050406030204" pitchFamily="18" charset="0"/>
                            <a:cs typeface="Times New Roman" panose="02020603050405020304" pitchFamily="18" charset="0"/>
                          </a:rPr>
                        </m:ctrlPr>
                      </m:sSubPr>
                      <m:e>
                        <m:r>
                          <m:rPr>
                            <m:sty m:val="p"/>
                          </m:rPr>
                          <a:rPr kumimoji="1" lang="en-US" altLang="zh-TW">
                            <a:latin typeface="Cambria Math" panose="02040503050406030204" pitchFamily="18" charset="0"/>
                            <a:cs typeface="Times New Roman" panose="02020603050405020304" pitchFamily="18" charset="0"/>
                          </a:rPr>
                          <m:t>y</m:t>
                        </m:r>
                      </m:e>
                      <m:sub>
                        <m:r>
                          <m:rPr>
                            <m:nor/>
                          </m:rPr>
                          <a:rPr kumimoji="1" lang="el-GR" altLang="zh-TW" dirty="0">
                            <a:latin typeface="Times New Roman" panose="02020603050405020304" pitchFamily="18" charset="0"/>
                            <a:cs typeface="Times New Roman" panose="02020603050405020304" pitchFamily="18" charset="0"/>
                          </a:rPr>
                          <m:t>π</m:t>
                        </m:r>
                      </m:sub>
                    </m:sSub>
                  </m:oMath>
                </a14:m>
                <a:r>
                  <a:rPr kumimoji="1" lang="en-US" altLang="zh-TW" dirty="0">
                    <a:latin typeface="Times New Roman" panose="02020603050405020304" pitchFamily="18" charset="0"/>
                    <a:cs typeface="Times New Roman" panose="02020603050405020304" pitchFamily="18" charset="0"/>
                  </a:rPr>
                  <a:t> </a:t>
                </a:r>
                <a:r>
                  <a:rPr kumimoji="1" lang="el-GR" altLang="zh-TW" dirty="0">
                    <a:latin typeface="Times New Roman" panose="02020603050405020304" pitchFamily="18" charset="0"/>
                    <a:cs typeface="Times New Roman" panose="02020603050405020304" pitchFamily="18" charset="0"/>
                  </a:rPr>
                  <a:t>[3] = {2, 7} ∩ {7, 8} = {7}</a:t>
                </a:r>
                <a:endParaRPr kumimoji="1" lang="en-US" altLang="zh-TW" dirty="0">
                  <a:latin typeface="Times New Roman" panose="02020603050405020304" pitchFamily="18" charset="0"/>
                  <a:cs typeface="Times New Roman" panose="02020603050405020304" pitchFamily="18" charset="0"/>
                </a:endParaRPr>
              </a:p>
              <a:p>
                <a:pPr lvl="1"/>
                <a14:m>
                  <m:oMath xmlns:m="http://schemas.openxmlformats.org/officeDocument/2006/math">
                    <m:sSub>
                      <m:sSubPr>
                        <m:ctrlPr>
                          <a:rPr kumimoji="1" lang="el-GR" altLang="zh-TW" i="1">
                            <a:latin typeface="Cambria Math" panose="02040503050406030204" pitchFamily="18" charset="0"/>
                            <a:cs typeface="Times New Roman" panose="02020603050405020304" pitchFamily="18" charset="0"/>
                          </a:rPr>
                        </m:ctrlPr>
                      </m:sSubPr>
                      <m:e>
                        <m:sSup>
                          <m:sSupPr>
                            <m:ctrlPr>
                              <a:rPr kumimoji="1" lang="el-GR" altLang="zh-TW" i="1">
                                <a:latin typeface="Cambria Math" panose="02040503050406030204" pitchFamily="18" charset="0"/>
                                <a:cs typeface="Times New Roman" panose="02020603050405020304" pitchFamily="18" charset="0"/>
                              </a:rPr>
                            </m:ctrlPr>
                          </m:sSupPr>
                          <m:e>
                            <m:r>
                              <a:rPr kumimoji="1" lang="en-US" altLang="zh-TW">
                                <a:latin typeface="Cambria Math" panose="02040503050406030204" pitchFamily="18" charset="0"/>
                                <a:cs typeface="Times New Roman" panose="02020603050405020304" pitchFamily="18" charset="0"/>
                              </a:rPr>
                              <m:t>𝑦</m:t>
                            </m:r>
                          </m:e>
                          <m:sup>
                            <m:r>
                              <a:rPr kumimoji="1" lang="en-US" altLang="zh-TW">
                                <a:latin typeface="Cambria Math" panose="02040503050406030204" pitchFamily="18" charset="0"/>
                                <a:cs typeface="Times New Roman" panose="02020603050405020304" pitchFamily="18" charset="0"/>
                              </a:rPr>
                              <m:t>′</m:t>
                            </m:r>
                          </m:sup>
                        </m:sSup>
                      </m:e>
                      <m:sub>
                        <m:r>
                          <m:rPr>
                            <m:nor/>
                          </m:rPr>
                          <a:rPr kumimoji="1" lang="el-GR" altLang="zh-TW" dirty="0">
                            <a:latin typeface="Times New Roman" panose="02020603050405020304" pitchFamily="18" charset="0"/>
                            <a:cs typeface="Times New Roman" panose="02020603050405020304" pitchFamily="18" charset="0"/>
                          </a:rPr>
                          <m:t>π</m:t>
                        </m:r>
                      </m:sub>
                    </m:sSub>
                  </m:oMath>
                </a14:m>
                <a:r>
                  <a:rPr kumimoji="1" lang="en-US" altLang="zh-TW" dirty="0">
                    <a:latin typeface="Times New Roman" panose="02020603050405020304" pitchFamily="18" charset="0"/>
                    <a:cs typeface="Times New Roman" panose="02020603050405020304" pitchFamily="18" charset="0"/>
                  </a:rPr>
                  <a:t> = (2, 1|4|8, 7)</a:t>
                </a:r>
              </a:p>
              <a:p>
                <a:pPr marL="0" indent="0">
                  <a:buNone/>
                </a:pPr>
                <a:r>
                  <a:rPr kumimoji="1" lang="en-US" altLang="zh-TW" sz="2400" dirty="0">
                    <a:latin typeface="Times New Roman" panose="02020603050405020304" pitchFamily="18" charset="0"/>
                    <a:cs typeface="Times New Roman" panose="02020603050405020304" pitchFamily="18" charset="0"/>
                  </a:rPr>
                  <a:t>  =&gt; find increasing sequence</a:t>
                </a:r>
              </a:p>
              <a:p>
                <a:pPr marL="457200" lvl="1" indent="0">
                  <a:buNone/>
                </a:pPr>
                <a:endParaRPr kumimoji="1" lang="en-US" altLang="zh-TW" dirty="0">
                  <a:latin typeface="Times New Roman" panose="02020603050405020304" pitchFamily="18" charset="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l="-791" t="-192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6704546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Alternate-</a:t>
            </a:r>
            <a:r>
              <a:rPr kumimoji="1" lang="el-GR" altLang="zh-TW" sz="3200" b="1" dirty="0">
                <a:latin typeface="Times New Roman" panose="02020603050405020304" pitchFamily="18" charset="0"/>
                <a:cs typeface="Times New Roman" panose="02020603050405020304" pitchFamily="18" charset="0"/>
              </a:rPr>
              <a:t>μ</a:t>
            </a:r>
            <a:r>
              <a:rPr kumimoji="1" lang="en-US" altLang="zh-TW" sz="3200" b="1" dirty="0">
                <a:latin typeface="Times New Roman" panose="02020603050405020304" pitchFamily="18" charset="0"/>
                <a:cs typeface="Times New Roman" panose="02020603050405020304" pitchFamily="18" charset="0"/>
              </a:rPr>
              <a:t>OPPM</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7</a:t>
            </a:fld>
            <a:endParaRPr lang="zh-TW" altLang="en-US"/>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400" dirty="0">
                    <a:latin typeface="Times New Roman" panose="02020603050405020304" pitchFamily="18" charset="0"/>
                    <a:cs typeface="Times New Roman" panose="02020603050405020304" pitchFamily="18" charset="0"/>
                  </a:rPr>
                  <a:t>size of both strings are </a:t>
                </a:r>
                <a14:m>
                  <m:oMath xmlns:m="http://schemas.openxmlformats.org/officeDocument/2006/math">
                    <m:r>
                      <a:rPr kumimoji="1" lang="en-US" altLang="zh-TW" sz="2400" b="0" i="1" smtClean="0">
                        <a:latin typeface="Cambria Math" panose="02040503050406030204" pitchFamily="18" charset="0"/>
                        <a:cs typeface="Times New Roman" panose="02020603050405020304" pitchFamily="18" charset="0"/>
                      </a:rPr>
                      <m:t>𝑚</m:t>
                    </m:r>
                  </m:oMath>
                </a14:m>
                <a:endParaRPr kumimoji="1" lang="en-US" altLang="zh-TW" sz="2400" dirty="0">
                  <a:latin typeface="Times New Roman" panose="02020603050405020304" pitchFamily="18" charset="0"/>
                  <a:cs typeface="Times New Roman" panose="02020603050405020304" pitchFamily="18" charset="0"/>
                </a:endParaRPr>
              </a:p>
              <a:p>
                <a:r>
                  <a:rPr kumimoji="1" lang="en-US" altLang="zh-TW" sz="2400" dirty="0">
                    <a:latin typeface="Times New Roman" panose="02020603050405020304" pitchFamily="18" charset="0"/>
                    <a:cs typeface="Times New Roman" panose="02020603050405020304" pitchFamily="18" charset="0"/>
                  </a:rPr>
                  <a:t>both strings have indeterminate characters, but never in the same position</a:t>
                </a:r>
              </a:p>
              <a:p>
                <a:endParaRPr kumimoji="1" lang="en-US" altLang="zh-TW" sz="2400" dirty="0">
                  <a:latin typeface="Times New Roman" panose="02020603050405020304" pitchFamily="18" charset="0"/>
                  <a:cs typeface="Times New Roman" panose="02020603050405020304" pitchFamily="18" charset="0"/>
                </a:endParaRPr>
              </a:p>
              <a:p>
                <a:pPr marL="457200" lvl="1" indent="0">
                  <a:buNone/>
                </a:pPr>
                <a:endParaRPr kumimoji="1" lang="en-US" altLang="zh-TW" dirty="0">
                  <a:latin typeface="Times New Roman" panose="02020603050405020304" pitchFamily="18" charset="0"/>
                  <a:cs typeface="Times New Roman" panose="02020603050405020304" pitchFamily="18" charset="0"/>
                </a:endParaRPr>
              </a:p>
            </p:txBody>
          </p:sp>
        </mc:Choice>
        <mc:Fallback xmlns="">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l="-791" t="-1920"/>
                </a:stretch>
              </a:blipFill>
            </p:spPr>
            <p:txBody>
              <a:bodyPr/>
              <a:lstStyle/>
              <a:p>
                <a:r>
                  <a:rPr lang="zh-TW" altLang="en-US">
                    <a:noFill/>
                  </a:rPr>
                  <a:t> </a:t>
                </a:r>
              </a:p>
            </p:txBody>
          </p:sp>
        </mc:Fallback>
      </mc:AlternateContent>
      <p:pic>
        <p:nvPicPr>
          <p:cNvPr id="4" name="Picture 3">
            <a:extLst>
              <a:ext uri="{FF2B5EF4-FFF2-40B4-BE49-F238E27FC236}">
                <a16:creationId xmlns:a16="http://schemas.microsoft.com/office/drawing/2014/main" id="{0F2BD1F0-48CA-F8E5-0F69-E92C33C49ABC}"/>
              </a:ext>
            </a:extLst>
          </p:cNvPr>
          <p:cNvPicPr>
            <a:picLocks noChangeAspect="1"/>
          </p:cNvPicPr>
          <p:nvPr/>
        </p:nvPicPr>
        <p:blipFill>
          <a:blip r:embed="rId4"/>
          <a:stretch>
            <a:fillRect/>
          </a:stretch>
        </p:blipFill>
        <p:spPr>
          <a:xfrm>
            <a:off x="2050838" y="3102897"/>
            <a:ext cx="8090323" cy="1208899"/>
          </a:xfrm>
          <a:prstGeom prst="rect">
            <a:avLst/>
          </a:prstGeom>
        </p:spPr>
      </p:pic>
    </p:spTree>
    <p:extLst>
      <p:ext uri="{BB962C8B-B14F-4D97-AF65-F5344CB8AC3E}">
        <p14:creationId xmlns:p14="http://schemas.microsoft.com/office/powerpoint/2010/main" val="229591826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Alternate-</a:t>
            </a:r>
            <a:r>
              <a:rPr kumimoji="1" lang="el-GR" altLang="zh-TW" sz="3200" b="1" dirty="0">
                <a:latin typeface="Times New Roman" panose="02020603050405020304" pitchFamily="18" charset="0"/>
                <a:cs typeface="Times New Roman" panose="02020603050405020304" pitchFamily="18" charset="0"/>
              </a:rPr>
              <a:t>μ</a:t>
            </a:r>
            <a:r>
              <a:rPr kumimoji="1" lang="en-US" altLang="zh-TW" sz="3200" b="1" dirty="0">
                <a:latin typeface="Times New Roman" panose="02020603050405020304" pitchFamily="18" charset="0"/>
                <a:cs typeface="Times New Roman" panose="02020603050405020304" pitchFamily="18" charset="0"/>
              </a:rPr>
              <a:t>OPPM</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8</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en-US" altLang="zh-TW" sz="2400" dirty="0">
              <a:latin typeface="Times New Roman" panose="02020603050405020304" pitchFamily="18" charset="0"/>
              <a:cs typeface="Times New Roman" panose="02020603050405020304" pitchFamily="18" charset="0"/>
            </a:endParaRPr>
          </a:p>
          <a:p>
            <a:pPr marL="457200" lvl="1" indent="0">
              <a:buNone/>
            </a:pPr>
            <a:endParaRPr kumimoji="1" lang="en-US" altLang="zh-TW"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AEBA9E3-4433-59C3-553C-DA0DDED4C351}"/>
              </a:ext>
            </a:extLst>
          </p:cNvPr>
          <p:cNvPicPr>
            <a:picLocks noChangeAspect="1"/>
          </p:cNvPicPr>
          <p:nvPr/>
        </p:nvPicPr>
        <p:blipFill>
          <a:blip r:embed="rId3"/>
          <a:stretch>
            <a:fillRect/>
          </a:stretch>
        </p:blipFill>
        <p:spPr>
          <a:xfrm>
            <a:off x="945777" y="4180827"/>
            <a:ext cx="4370294" cy="1252938"/>
          </a:xfrm>
          <a:prstGeom prst="rect">
            <a:avLst/>
          </a:prstGeom>
        </p:spPr>
      </p:pic>
      <p:pic>
        <p:nvPicPr>
          <p:cNvPr id="13" name="Picture 12">
            <a:extLst>
              <a:ext uri="{FF2B5EF4-FFF2-40B4-BE49-F238E27FC236}">
                <a16:creationId xmlns:a16="http://schemas.microsoft.com/office/drawing/2014/main" id="{0B14D93D-B822-5C74-3A0D-D2DE6F11664D}"/>
              </a:ext>
            </a:extLst>
          </p:cNvPr>
          <p:cNvPicPr>
            <a:picLocks noChangeAspect="1"/>
          </p:cNvPicPr>
          <p:nvPr/>
        </p:nvPicPr>
        <p:blipFill>
          <a:blip r:embed="rId4"/>
          <a:stretch>
            <a:fillRect/>
          </a:stretch>
        </p:blipFill>
        <p:spPr>
          <a:xfrm>
            <a:off x="5730951" y="4138872"/>
            <a:ext cx="5358390" cy="1294893"/>
          </a:xfrm>
          <a:prstGeom prst="rect">
            <a:avLst/>
          </a:prstGeom>
        </p:spPr>
      </p:pic>
      <p:pic>
        <p:nvPicPr>
          <p:cNvPr id="15" name="Picture 14">
            <a:extLst>
              <a:ext uri="{FF2B5EF4-FFF2-40B4-BE49-F238E27FC236}">
                <a16:creationId xmlns:a16="http://schemas.microsoft.com/office/drawing/2014/main" id="{A0991815-9171-B17E-BB31-D2C565BA3932}"/>
              </a:ext>
            </a:extLst>
          </p:cNvPr>
          <p:cNvPicPr>
            <a:picLocks noChangeAspect="1"/>
          </p:cNvPicPr>
          <p:nvPr/>
        </p:nvPicPr>
        <p:blipFill>
          <a:blip r:embed="rId5"/>
          <a:stretch>
            <a:fillRect/>
          </a:stretch>
        </p:blipFill>
        <p:spPr>
          <a:xfrm>
            <a:off x="2275942" y="1975352"/>
            <a:ext cx="7640116" cy="1362265"/>
          </a:xfrm>
          <a:prstGeom prst="rect">
            <a:avLst/>
          </a:prstGeom>
        </p:spPr>
      </p:pic>
    </p:spTree>
    <p:extLst>
      <p:ext uri="{BB962C8B-B14F-4D97-AF65-F5344CB8AC3E}">
        <p14:creationId xmlns:p14="http://schemas.microsoft.com/office/powerpoint/2010/main" val="12653051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Alternate-</a:t>
            </a:r>
            <a:r>
              <a:rPr kumimoji="1" lang="el-GR" altLang="zh-TW" sz="3200" b="1" dirty="0">
                <a:latin typeface="Times New Roman" panose="02020603050405020304" pitchFamily="18" charset="0"/>
                <a:cs typeface="Times New Roman" panose="02020603050405020304" pitchFamily="18" charset="0"/>
              </a:rPr>
              <a:t>μ</a:t>
            </a:r>
            <a:r>
              <a:rPr kumimoji="1" lang="en-US" altLang="zh-TW" sz="3200" b="1" dirty="0">
                <a:latin typeface="Times New Roman" panose="02020603050405020304" pitchFamily="18" charset="0"/>
                <a:cs typeface="Times New Roman" panose="02020603050405020304" pitchFamily="18" charset="0"/>
              </a:rPr>
              <a:t>OPPM</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9</a:t>
            </a:fld>
            <a:endParaRPr lang="zh-TW" altLang="en-US"/>
          </a:p>
        </p:txBody>
      </p:sp>
      <mc:AlternateContent xmlns:mc="http://schemas.openxmlformats.org/markup-compatibility/2006">
        <mc:Choice xmlns:a14="http://schemas.microsoft.com/office/drawing/2010/main" Requires="a14">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sSub>
                      <m:sSubPr>
                        <m:ctrlPr>
                          <a:rPr kumimoji="1" lang="en-US" altLang="zh-TW" sz="2400" i="1" smtClean="0">
                            <a:latin typeface="Cambria Math" panose="02040503050406030204" pitchFamily="18" charset="0"/>
                            <a:cs typeface="Times New Roman" panose="02020603050405020304" pitchFamily="18" charset="0"/>
                          </a:rPr>
                        </m:ctrlPr>
                      </m:sSubPr>
                      <m:e>
                        <m:r>
                          <a:rPr kumimoji="1" lang="en-US" altLang="zh-TW" sz="2400">
                            <a:latin typeface="Cambria Math" panose="02040503050406030204" pitchFamily="18" charset="0"/>
                            <a:cs typeface="Times New Roman" panose="02020603050405020304" pitchFamily="18" charset="0"/>
                          </a:rPr>
                          <m:t>𝑚</m:t>
                        </m:r>
                      </m:e>
                      <m:sub>
                        <m:r>
                          <a:rPr kumimoji="1" lang="en-US" altLang="zh-TW" sz="2400">
                            <a:latin typeface="Cambria Math" panose="02040503050406030204" pitchFamily="18" charset="0"/>
                            <a:cs typeface="Times New Roman" panose="02020603050405020304" pitchFamily="18" charset="0"/>
                          </a:rPr>
                          <m:t>𝑝</m:t>
                        </m:r>
                      </m:sub>
                    </m:sSub>
                  </m:oMath>
                </a14:m>
                <a:r>
                  <a:rPr kumimoji="1" lang="en-US" altLang="zh-TW" sz="2400" dirty="0">
                    <a:latin typeface="Times New Roman" panose="02020603050405020304" pitchFamily="18" charset="0"/>
                    <a:cs typeface="Times New Roman" panose="02020603050405020304" pitchFamily="18" charset="0"/>
                  </a:rPr>
                  <a:t> =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a:latin typeface="Cambria Math" panose="02040503050406030204" pitchFamily="18" charset="0"/>
                            <a:cs typeface="Times New Roman" panose="02020603050405020304" pitchFamily="18" charset="0"/>
                          </a:rPr>
                          <m:t>𝑝</m:t>
                        </m:r>
                      </m:e>
                      <m:sub>
                        <m:r>
                          <a:rPr kumimoji="1" lang="en-US" altLang="zh-TW" sz="2400">
                            <a:latin typeface="Cambria Math" panose="02040503050406030204" pitchFamily="18" charset="0"/>
                            <a:cs typeface="Times New Roman" panose="02020603050405020304" pitchFamily="18" charset="0"/>
                          </a:rPr>
                          <m:t>𝑖𝑛𝑑</m:t>
                        </m:r>
                      </m:sub>
                    </m:sSub>
                  </m:oMath>
                </a14:m>
                <a:r>
                  <a:rPr kumimoji="1" lang="en-US" altLang="zh-TW"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a:latin typeface="Cambria Math" panose="02040503050406030204" pitchFamily="18" charset="0"/>
                            <a:cs typeface="Times New Roman" panose="02020603050405020304" pitchFamily="18" charset="0"/>
                          </a:rPr>
                          <m:t>𝑚</m:t>
                        </m:r>
                      </m:e>
                      <m:sub>
                        <m:r>
                          <a:rPr kumimoji="1" lang="en-US" altLang="zh-TW" sz="2400" b="0" i="1" smtClean="0">
                            <a:latin typeface="Cambria Math" panose="02040503050406030204" pitchFamily="18" charset="0"/>
                            <a:cs typeface="Times New Roman" panose="02020603050405020304" pitchFamily="18" charset="0"/>
                          </a:rPr>
                          <m:t>𝑡</m:t>
                        </m:r>
                      </m:sub>
                    </m:sSub>
                  </m:oMath>
                </a14:m>
                <a:r>
                  <a:rPr kumimoji="1" lang="en-US" altLang="zh-TW" sz="2400" dirty="0">
                    <a:latin typeface="Times New Roman" panose="02020603050405020304" pitchFamily="18" charset="0"/>
                    <a:cs typeface="Times New Roman" panose="02020603050405020304" pitchFamily="18" charset="0"/>
                  </a:rPr>
                  <a:t> =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𝑡</m:t>
                        </m:r>
                      </m:e>
                      <m:sub>
                        <m:r>
                          <a:rPr kumimoji="1" lang="en-US" altLang="zh-TW" sz="2400">
                            <a:latin typeface="Cambria Math" panose="02040503050406030204" pitchFamily="18" charset="0"/>
                            <a:cs typeface="Times New Roman" panose="02020603050405020304" pitchFamily="18" charset="0"/>
                          </a:rPr>
                          <m:t>𝑖𝑛𝑑</m:t>
                        </m:r>
                      </m:sub>
                    </m:sSub>
                  </m:oMath>
                </a14:m>
                <a:r>
                  <a:rPr kumimoji="1" lang="en-US" altLang="zh-TW" sz="2400" dirty="0">
                    <a:latin typeface="Times New Roman" panose="02020603050405020304" pitchFamily="18" charset="0"/>
                    <a:cs typeface="Times New Roman" panose="02020603050405020304" pitchFamily="18" charset="0"/>
                  </a:rPr>
                  <a:t>|</a:t>
                </a:r>
              </a:p>
              <a:p>
                <a:r>
                  <a:rPr kumimoji="1" lang="en-US" altLang="zh-TW" sz="2400" dirty="0">
                    <a:latin typeface="Times New Roman" panose="02020603050405020304" pitchFamily="18" charset="0"/>
                    <a:cs typeface="Times New Roman" panose="02020603050405020304" pitchFamily="18" charset="0"/>
                  </a:rPr>
                  <a:t>table T = T[</a:t>
                </a:r>
                <a:r>
                  <a:rPr kumimoji="1" lang="en-US" altLang="zh-TW" sz="2400" dirty="0" err="1">
                    <a:latin typeface="Times New Roman" panose="02020603050405020304" pitchFamily="18" charset="0"/>
                    <a:cs typeface="Times New Roman" panose="02020603050405020304" pitchFamily="18" charset="0"/>
                  </a:rPr>
                  <a:t>mp</a:t>
                </a:r>
                <a:r>
                  <a:rPr kumimoji="1" lang="en-US" altLang="zh-TW" sz="2400" dirty="0">
                    <a:latin typeface="Times New Roman" panose="02020603050405020304" pitchFamily="18" charset="0"/>
                    <a:cs typeface="Times New Roman" panose="02020603050405020304" pitchFamily="18" charset="0"/>
                  </a:rPr>
                  <a:t> + 1,</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mt + 1,</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r, 2]</a:t>
                </a:r>
              </a:p>
              <a:p>
                <a:pPr lvl="1"/>
                <a:r>
                  <a:rPr kumimoji="1" lang="en-US" altLang="zh-TW" dirty="0">
                    <a:latin typeface="Times New Roman" panose="02020603050405020304" pitchFamily="18" charset="0"/>
                    <a:cs typeface="Times New Roman" panose="02020603050405020304" pitchFamily="18" charset="0"/>
                  </a:rPr>
                  <a:t>whether a match of length </a:t>
                </a:r>
                <a:r>
                  <a:rPr kumimoji="1" lang="en-US" altLang="zh-TW"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 j exists, where the first </a:t>
                </a:r>
                <a:r>
                  <a:rPr kumimoji="1" lang="en-US" altLang="zh-TW"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positions of </a:t>
                </a:r>
                <a14:m>
                  <m:oMath xmlns:m="http://schemas.openxmlformats.org/officeDocument/2006/math">
                    <m:sSub>
                      <m:sSubPr>
                        <m:ctrlPr>
                          <a:rPr kumimoji="1" lang="en-US" altLang="zh-TW" sz="2400" i="1" smtClean="0">
                            <a:latin typeface="Cambria Math" panose="02040503050406030204" pitchFamily="18" charset="0"/>
                            <a:cs typeface="Times New Roman" panose="02020603050405020304" pitchFamily="18" charset="0"/>
                          </a:rPr>
                        </m:ctrlPr>
                      </m:sSubPr>
                      <m:e>
                        <m:r>
                          <a:rPr kumimoji="1" lang="en-US" altLang="zh-TW" sz="2400">
                            <a:latin typeface="Cambria Math" panose="02040503050406030204" pitchFamily="18" charset="0"/>
                            <a:cs typeface="Times New Roman" panose="02020603050405020304" pitchFamily="18" charset="0"/>
                          </a:rPr>
                          <m:t>𝑝</m:t>
                        </m:r>
                      </m:e>
                      <m:sub>
                        <m:r>
                          <a:rPr kumimoji="1" lang="en-US" altLang="zh-TW" sz="2400">
                            <a:latin typeface="Cambria Math" panose="02040503050406030204" pitchFamily="18" charset="0"/>
                            <a:cs typeface="Times New Roman" panose="02020603050405020304" pitchFamily="18" charset="0"/>
                          </a:rPr>
                          <m:t>𝑖𝑛𝑑</m:t>
                        </m:r>
                      </m:sub>
                    </m:sSub>
                  </m:oMath>
                </a14:m>
                <a:r>
                  <a:rPr kumimoji="1" lang="en-US" altLang="zh-TW" dirty="0">
                    <a:latin typeface="Times New Roman" panose="02020603050405020304" pitchFamily="18" charset="0"/>
                    <a:cs typeface="Times New Roman" panose="02020603050405020304" pitchFamily="18" charset="0"/>
                  </a:rPr>
                  <a:t> and the first j positions of </a:t>
                </a:r>
                <a14:m>
                  <m:oMath xmlns:m="http://schemas.openxmlformats.org/officeDocument/2006/math">
                    <m:sSub>
                      <m:sSubPr>
                        <m:ctrlPr>
                          <a:rPr kumimoji="1" lang="en-US" altLang="zh-TW" i="1">
                            <a:latin typeface="Cambria Math" panose="02040503050406030204" pitchFamily="18" charset="0"/>
                            <a:cs typeface="Times New Roman" panose="02020603050405020304" pitchFamily="18" charset="0"/>
                          </a:rPr>
                        </m:ctrlPr>
                      </m:sSubPr>
                      <m:e>
                        <m:r>
                          <a:rPr kumimoji="1" lang="en-US" altLang="zh-TW" i="1">
                            <a:latin typeface="Cambria Math" panose="02040503050406030204" pitchFamily="18" charset="0"/>
                            <a:cs typeface="Times New Roman" panose="02020603050405020304" pitchFamily="18" charset="0"/>
                          </a:rPr>
                          <m:t>𝑡</m:t>
                        </m:r>
                      </m:e>
                      <m:sub>
                        <m:r>
                          <a:rPr kumimoji="1" lang="en-US" altLang="zh-TW">
                            <a:latin typeface="Cambria Math" panose="02040503050406030204" pitchFamily="18" charset="0"/>
                            <a:cs typeface="Times New Roman" panose="02020603050405020304" pitchFamily="18" charset="0"/>
                          </a:rPr>
                          <m:t>𝑖𝑛𝑑</m:t>
                        </m:r>
                      </m:sub>
                    </m:sSub>
                  </m:oMath>
                </a14:m>
                <a:r>
                  <a:rPr kumimoji="1" lang="en-US" altLang="zh-TW" dirty="0">
                    <a:latin typeface="Times New Roman" panose="02020603050405020304" pitchFamily="18" charset="0"/>
                    <a:cs typeface="Times New Roman" panose="02020603050405020304" pitchFamily="18" charset="0"/>
                  </a:rPr>
                  <a:t> have been chosen </a:t>
                </a:r>
              </a:p>
            </p:txBody>
          </p:sp>
        </mc:Choice>
        <mc:Fallback>
          <p:sp>
            <p:nvSpPr>
              <p:cNvPr id="5" name="Content Placeholder 3">
                <a:extLst>
                  <a:ext uri="{FF2B5EF4-FFF2-40B4-BE49-F238E27FC236}">
                    <a16:creationId xmlns:a16="http://schemas.microsoft.com/office/drawing/2014/main" id="{D5780754-891B-DA25-D843-19C125C710C6}"/>
                  </a:ext>
                </a:extLst>
              </p:cNvPr>
              <p:cNvSpPr txBox="1">
                <a:spLocks noRot="1" noChangeAspect="1" noMove="1" noResize="1" noEditPoints="1" noAdjustHandles="1" noChangeArrowheads="1" noChangeShapeType="1" noTextEdit="1"/>
              </p:cNvSpPr>
              <p:nvPr/>
            </p:nvSpPr>
            <p:spPr>
              <a:xfrm>
                <a:off x="838200" y="1833884"/>
                <a:ext cx="10796451" cy="4443091"/>
              </a:xfrm>
              <a:prstGeom prst="rect">
                <a:avLst/>
              </a:prstGeom>
              <a:blipFill>
                <a:blip r:embed="rId3"/>
                <a:stretch>
                  <a:fillRect l="-791" t="-178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0297783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Alternate-</a:t>
            </a:r>
            <a:r>
              <a:rPr kumimoji="1" lang="el-GR" altLang="zh-TW" sz="3200" b="1" dirty="0">
                <a:latin typeface="Times New Roman" panose="02020603050405020304" pitchFamily="18" charset="0"/>
                <a:cs typeface="Times New Roman" panose="02020603050405020304" pitchFamily="18" charset="0"/>
              </a:rPr>
              <a:t>μ</a:t>
            </a:r>
            <a:r>
              <a:rPr kumimoji="1" lang="en-US" altLang="zh-TW" sz="3200" b="1" dirty="0">
                <a:latin typeface="Times New Roman" panose="02020603050405020304" pitchFamily="18" charset="0"/>
                <a:cs typeface="Times New Roman" panose="02020603050405020304" pitchFamily="18" charset="0"/>
              </a:rPr>
              <a:t>OPPM</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10</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en-US" altLang="zh-TW"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AEBA9E3-4433-59C3-553C-DA0DDED4C351}"/>
              </a:ext>
            </a:extLst>
          </p:cNvPr>
          <p:cNvPicPr>
            <a:picLocks noChangeAspect="1"/>
          </p:cNvPicPr>
          <p:nvPr/>
        </p:nvPicPr>
        <p:blipFill>
          <a:blip r:embed="rId3"/>
          <a:stretch>
            <a:fillRect/>
          </a:stretch>
        </p:blipFill>
        <p:spPr>
          <a:xfrm>
            <a:off x="5141726" y="1936356"/>
            <a:ext cx="2865267" cy="821456"/>
          </a:xfrm>
          <a:prstGeom prst="rect">
            <a:avLst/>
          </a:prstGeom>
        </p:spPr>
      </p:pic>
      <p:pic>
        <p:nvPicPr>
          <p:cNvPr id="13" name="Picture 12">
            <a:extLst>
              <a:ext uri="{FF2B5EF4-FFF2-40B4-BE49-F238E27FC236}">
                <a16:creationId xmlns:a16="http://schemas.microsoft.com/office/drawing/2014/main" id="{0B14D93D-B822-5C74-3A0D-D2DE6F11664D}"/>
              </a:ext>
            </a:extLst>
          </p:cNvPr>
          <p:cNvPicPr>
            <a:picLocks noChangeAspect="1"/>
          </p:cNvPicPr>
          <p:nvPr/>
        </p:nvPicPr>
        <p:blipFill>
          <a:blip r:embed="rId4"/>
          <a:stretch>
            <a:fillRect/>
          </a:stretch>
        </p:blipFill>
        <p:spPr>
          <a:xfrm>
            <a:off x="8098605" y="1913259"/>
            <a:ext cx="3494839" cy="844553"/>
          </a:xfrm>
          <a:prstGeom prst="rect">
            <a:avLst/>
          </a:prstGeom>
        </p:spPr>
      </p:pic>
      <p:pic>
        <p:nvPicPr>
          <p:cNvPr id="7" name="Picture 6">
            <a:extLst>
              <a:ext uri="{FF2B5EF4-FFF2-40B4-BE49-F238E27FC236}">
                <a16:creationId xmlns:a16="http://schemas.microsoft.com/office/drawing/2014/main" id="{D38C5C16-F473-EE15-1D18-9A7C9CEB5F8C}"/>
              </a:ext>
            </a:extLst>
          </p:cNvPr>
          <p:cNvPicPr>
            <a:picLocks noChangeAspect="1"/>
          </p:cNvPicPr>
          <p:nvPr/>
        </p:nvPicPr>
        <p:blipFill>
          <a:blip r:embed="rId5"/>
          <a:stretch>
            <a:fillRect/>
          </a:stretch>
        </p:blipFill>
        <p:spPr>
          <a:xfrm>
            <a:off x="5901412" y="811623"/>
            <a:ext cx="5733239" cy="1022261"/>
          </a:xfrm>
          <a:prstGeom prst="rect">
            <a:avLst/>
          </a:prstGeom>
        </p:spPr>
      </p:pic>
      <p:pic>
        <p:nvPicPr>
          <p:cNvPr id="4" name="Picture 3">
            <a:extLst>
              <a:ext uri="{FF2B5EF4-FFF2-40B4-BE49-F238E27FC236}">
                <a16:creationId xmlns:a16="http://schemas.microsoft.com/office/drawing/2014/main" id="{DF1F667B-9D11-6E14-CC28-D4F9CFACDB5F}"/>
              </a:ext>
            </a:extLst>
          </p:cNvPr>
          <p:cNvPicPr>
            <a:picLocks noChangeAspect="1"/>
          </p:cNvPicPr>
          <p:nvPr/>
        </p:nvPicPr>
        <p:blipFill>
          <a:blip r:embed="rId6"/>
          <a:stretch>
            <a:fillRect/>
          </a:stretch>
        </p:blipFill>
        <p:spPr>
          <a:xfrm>
            <a:off x="761618" y="3869025"/>
            <a:ext cx="2528705" cy="1945615"/>
          </a:xfrm>
          <a:prstGeom prst="rect">
            <a:avLst/>
          </a:prstGeom>
        </p:spPr>
      </p:pic>
      <p:pic>
        <p:nvPicPr>
          <p:cNvPr id="9" name="Picture 8">
            <a:extLst>
              <a:ext uri="{FF2B5EF4-FFF2-40B4-BE49-F238E27FC236}">
                <a16:creationId xmlns:a16="http://schemas.microsoft.com/office/drawing/2014/main" id="{BB331461-C6AB-FBCF-DF28-D713F1C94E49}"/>
              </a:ext>
            </a:extLst>
          </p:cNvPr>
          <p:cNvPicPr>
            <a:picLocks noChangeAspect="1"/>
          </p:cNvPicPr>
          <p:nvPr/>
        </p:nvPicPr>
        <p:blipFill>
          <a:blip r:embed="rId7"/>
          <a:stretch>
            <a:fillRect/>
          </a:stretch>
        </p:blipFill>
        <p:spPr>
          <a:xfrm>
            <a:off x="3555929" y="3856641"/>
            <a:ext cx="8078722" cy="1945318"/>
          </a:xfrm>
          <a:prstGeom prst="rect">
            <a:avLst/>
          </a:prstGeom>
        </p:spPr>
      </p:pic>
      <p:pic>
        <p:nvPicPr>
          <p:cNvPr id="12" name="Picture 11">
            <a:extLst>
              <a:ext uri="{FF2B5EF4-FFF2-40B4-BE49-F238E27FC236}">
                <a16:creationId xmlns:a16="http://schemas.microsoft.com/office/drawing/2014/main" id="{A500C1E9-76ED-3522-7799-16D2135ED890}"/>
              </a:ext>
            </a:extLst>
          </p:cNvPr>
          <p:cNvPicPr>
            <a:picLocks noChangeAspect="1"/>
          </p:cNvPicPr>
          <p:nvPr/>
        </p:nvPicPr>
        <p:blipFill>
          <a:blip r:embed="rId8"/>
          <a:stretch>
            <a:fillRect/>
          </a:stretch>
        </p:blipFill>
        <p:spPr>
          <a:xfrm>
            <a:off x="1417960" y="3561291"/>
            <a:ext cx="1244558" cy="228359"/>
          </a:xfrm>
          <a:prstGeom prst="rect">
            <a:avLst/>
          </a:prstGeom>
        </p:spPr>
      </p:pic>
      <p:pic>
        <p:nvPicPr>
          <p:cNvPr id="15" name="Picture 14">
            <a:extLst>
              <a:ext uri="{FF2B5EF4-FFF2-40B4-BE49-F238E27FC236}">
                <a16:creationId xmlns:a16="http://schemas.microsoft.com/office/drawing/2014/main" id="{8D6E6934-9A38-92C9-87AD-E18DA78E5A2A}"/>
              </a:ext>
            </a:extLst>
          </p:cNvPr>
          <p:cNvPicPr>
            <a:picLocks noChangeAspect="1"/>
          </p:cNvPicPr>
          <p:nvPr/>
        </p:nvPicPr>
        <p:blipFill>
          <a:blip r:embed="rId9"/>
          <a:stretch>
            <a:fillRect/>
          </a:stretch>
        </p:blipFill>
        <p:spPr>
          <a:xfrm>
            <a:off x="4285272" y="3546204"/>
            <a:ext cx="1244558" cy="258531"/>
          </a:xfrm>
          <a:prstGeom prst="rect">
            <a:avLst/>
          </a:prstGeom>
        </p:spPr>
      </p:pic>
      <p:pic>
        <p:nvPicPr>
          <p:cNvPr id="17" name="Picture 16">
            <a:extLst>
              <a:ext uri="{FF2B5EF4-FFF2-40B4-BE49-F238E27FC236}">
                <a16:creationId xmlns:a16="http://schemas.microsoft.com/office/drawing/2014/main" id="{8242E20B-A8A2-CFB9-7900-6406AAED0444}"/>
              </a:ext>
            </a:extLst>
          </p:cNvPr>
          <p:cNvPicPr>
            <a:picLocks noChangeAspect="1"/>
          </p:cNvPicPr>
          <p:nvPr/>
        </p:nvPicPr>
        <p:blipFill>
          <a:blip r:embed="rId10"/>
          <a:stretch>
            <a:fillRect/>
          </a:stretch>
        </p:blipFill>
        <p:spPr>
          <a:xfrm>
            <a:off x="7029140" y="3546204"/>
            <a:ext cx="1309548" cy="247427"/>
          </a:xfrm>
          <a:prstGeom prst="rect">
            <a:avLst/>
          </a:prstGeom>
        </p:spPr>
      </p:pic>
      <p:pic>
        <p:nvPicPr>
          <p:cNvPr id="19" name="Picture 18">
            <a:extLst>
              <a:ext uri="{FF2B5EF4-FFF2-40B4-BE49-F238E27FC236}">
                <a16:creationId xmlns:a16="http://schemas.microsoft.com/office/drawing/2014/main" id="{91C2785D-7988-6B02-3804-C88314830824}"/>
              </a:ext>
            </a:extLst>
          </p:cNvPr>
          <p:cNvPicPr>
            <a:picLocks noChangeAspect="1"/>
          </p:cNvPicPr>
          <p:nvPr/>
        </p:nvPicPr>
        <p:blipFill>
          <a:blip r:embed="rId11"/>
          <a:stretch>
            <a:fillRect/>
          </a:stretch>
        </p:blipFill>
        <p:spPr>
          <a:xfrm>
            <a:off x="9797800" y="3561291"/>
            <a:ext cx="1244558" cy="246507"/>
          </a:xfrm>
          <a:prstGeom prst="rect">
            <a:avLst/>
          </a:prstGeom>
        </p:spPr>
      </p:pic>
    </p:spTree>
    <p:extLst>
      <p:ext uri="{BB962C8B-B14F-4D97-AF65-F5344CB8AC3E}">
        <p14:creationId xmlns:p14="http://schemas.microsoft.com/office/powerpoint/2010/main" val="276842914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Alternate-</a:t>
            </a:r>
            <a:r>
              <a:rPr kumimoji="1" lang="el-GR" altLang="zh-TW" sz="3200" b="1" dirty="0">
                <a:latin typeface="Times New Roman" panose="02020603050405020304" pitchFamily="18" charset="0"/>
                <a:cs typeface="Times New Roman" panose="02020603050405020304" pitchFamily="18" charset="0"/>
              </a:rPr>
              <a:t>μ</a:t>
            </a:r>
            <a:r>
              <a:rPr kumimoji="1" lang="en-US" altLang="zh-TW" sz="3200" b="1" dirty="0">
                <a:latin typeface="Times New Roman" panose="02020603050405020304" pitchFamily="18" charset="0"/>
                <a:cs typeface="Times New Roman" panose="02020603050405020304" pitchFamily="18" charset="0"/>
              </a:rPr>
              <a:t>OPPM</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11</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en-US" altLang="zh-TW"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F1F667B-9D11-6E14-CC28-D4F9CFACDB5F}"/>
              </a:ext>
            </a:extLst>
          </p:cNvPr>
          <p:cNvPicPr>
            <a:picLocks noChangeAspect="1"/>
          </p:cNvPicPr>
          <p:nvPr/>
        </p:nvPicPr>
        <p:blipFill>
          <a:blip r:embed="rId3"/>
          <a:stretch>
            <a:fillRect/>
          </a:stretch>
        </p:blipFill>
        <p:spPr>
          <a:xfrm>
            <a:off x="761618" y="4137627"/>
            <a:ext cx="2528705" cy="1945615"/>
          </a:xfrm>
          <a:prstGeom prst="rect">
            <a:avLst/>
          </a:prstGeom>
        </p:spPr>
      </p:pic>
      <p:pic>
        <p:nvPicPr>
          <p:cNvPr id="9" name="Picture 8">
            <a:extLst>
              <a:ext uri="{FF2B5EF4-FFF2-40B4-BE49-F238E27FC236}">
                <a16:creationId xmlns:a16="http://schemas.microsoft.com/office/drawing/2014/main" id="{BB331461-C6AB-FBCF-DF28-D713F1C94E49}"/>
              </a:ext>
            </a:extLst>
          </p:cNvPr>
          <p:cNvPicPr>
            <a:picLocks noChangeAspect="1"/>
          </p:cNvPicPr>
          <p:nvPr/>
        </p:nvPicPr>
        <p:blipFill>
          <a:blip r:embed="rId4"/>
          <a:stretch>
            <a:fillRect/>
          </a:stretch>
        </p:blipFill>
        <p:spPr>
          <a:xfrm>
            <a:off x="3555929" y="4125243"/>
            <a:ext cx="8078722" cy="1945318"/>
          </a:xfrm>
          <a:prstGeom prst="rect">
            <a:avLst/>
          </a:prstGeom>
        </p:spPr>
      </p:pic>
      <p:pic>
        <p:nvPicPr>
          <p:cNvPr id="12" name="Picture 11">
            <a:extLst>
              <a:ext uri="{FF2B5EF4-FFF2-40B4-BE49-F238E27FC236}">
                <a16:creationId xmlns:a16="http://schemas.microsoft.com/office/drawing/2014/main" id="{A500C1E9-76ED-3522-7799-16D2135ED890}"/>
              </a:ext>
            </a:extLst>
          </p:cNvPr>
          <p:cNvPicPr>
            <a:picLocks noChangeAspect="1"/>
          </p:cNvPicPr>
          <p:nvPr/>
        </p:nvPicPr>
        <p:blipFill>
          <a:blip r:embed="rId5"/>
          <a:stretch>
            <a:fillRect/>
          </a:stretch>
        </p:blipFill>
        <p:spPr>
          <a:xfrm>
            <a:off x="1417960" y="3829893"/>
            <a:ext cx="1244558" cy="228359"/>
          </a:xfrm>
          <a:prstGeom prst="rect">
            <a:avLst/>
          </a:prstGeom>
        </p:spPr>
      </p:pic>
      <p:pic>
        <p:nvPicPr>
          <p:cNvPr id="15" name="Picture 14">
            <a:extLst>
              <a:ext uri="{FF2B5EF4-FFF2-40B4-BE49-F238E27FC236}">
                <a16:creationId xmlns:a16="http://schemas.microsoft.com/office/drawing/2014/main" id="{8D6E6934-9A38-92C9-87AD-E18DA78E5A2A}"/>
              </a:ext>
            </a:extLst>
          </p:cNvPr>
          <p:cNvPicPr>
            <a:picLocks noChangeAspect="1"/>
          </p:cNvPicPr>
          <p:nvPr/>
        </p:nvPicPr>
        <p:blipFill>
          <a:blip r:embed="rId6"/>
          <a:stretch>
            <a:fillRect/>
          </a:stretch>
        </p:blipFill>
        <p:spPr>
          <a:xfrm>
            <a:off x="4285272" y="3814806"/>
            <a:ext cx="1244558" cy="258531"/>
          </a:xfrm>
          <a:prstGeom prst="rect">
            <a:avLst/>
          </a:prstGeom>
        </p:spPr>
      </p:pic>
      <p:pic>
        <p:nvPicPr>
          <p:cNvPr id="17" name="Picture 16">
            <a:extLst>
              <a:ext uri="{FF2B5EF4-FFF2-40B4-BE49-F238E27FC236}">
                <a16:creationId xmlns:a16="http://schemas.microsoft.com/office/drawing/2014/main" id="{8242E20B-A8A2-CFB9-7900-6406AAED0444}"/>
              </a:ext>
            </a:extLst>
          </p:cNvPr>
          <p:cNvPicPr>
            <a:picLocks noChangeAspect="1"/>
          </p:cNvPicPr>
          <p:nvPr/>
        </p:nvPicPr>
        <p:blipFill>
          <a:blip r:embed="rId7"/>
          <a:stretch>
            <a:fillRect/>
          </a:stretch>
        </p:blipFill>
        <p:spPr>
          <a:xfrm>
            <a:off x="7029140" y="3814806"/>
            <a:ext cx="1309548" cy="247427"/>
          </a:xfrm>
          <a:prstGeom prst="rect">
            <a:avLst/>
          </a:prstGeom>
        </p:spPr>
      </p:pic>
      <p:pic>
        <p:nvPicPr>
          <p:cNvPr id="19" name="Picture 18">
            <a:extLst>
              <a:ext uri="{FF2B5EF4-FFF2-40B4-BE49-F238E27FC236}">
                <a16:creationId xmlns:a16="http://schemas.microsoft.com/office/drawing/2014/main" id="{91C2785D-7988-6B02-3804-C88314830824}"/>
              </a:ext>
            </a:extLst>
          </p:cNvPr>
          <p:cNvPicPr>
            <a:picLocks noChangeAspect="1"/>
          </p:cNvPicPr>
          <p:nvPr/>
        </p:nvPicPr>
        <p:blipFill>
          <a:blip r:embed="rId8"/>
          <a:stretch>
            <a:fillRect/>
          </a:stretch>
        </p:blipFill>
        <p:spPr>
          <a:xfrm>
            <a:off x="9797800" y="3829893"/>
            <a:ext cx="1244558" cy="246507"/>
          </a:xfrm>
          <a:prstGeom prst="rect">
            <a:avLst/>
          </a:prstGeom>
        </p:spPr>
      </p:pic>
      <p:pic>
        <p:nvPicPr>
          <p:cNvPr id="18" name="Picture 17">
            <a:extLst>
              <a:ext uri="{FF2B5EF4-FFF2-40B4-BE49-F238E27FC236}">
                <a16:creationId xmlns:a16="http://schemas.microsoft.com/office/drawing/2014/main" id="{C84074F6-4EF5-8C4B-05FF-086E5D1EC15E}"/>
              </a:ext>
            </a:extLst>
          </p:cNvPr>
          <p:cNvPicPr>
            <a:picLocks noChangeAspect="1"/>
          </p:cNvPicPr>
          <p:nvPr/>
        </p:nvPicPr>
        <p:blipFill>
          <a:blip r:embed="rId9"/>
          <a:stretch>
            <a:fillRect/>
          </a:stretch>
        </p:blipFill>
        <p:spPr>
          <a:xfrm>
            <a:off x="4588856" y="1027906"/>
            <a:ext cx="7045795" cy="2518681"/>
          </a:xfrm>
          <a:prstGeom prst="rect">
            <a:avLst/>
          </a:prstGeom>
        </p:spPr>
      </p:pic>
    </p:spTree>
    <p:extLst>
      <p:ext uri="{BB962C8B-B14F-4D97-AF65-F5344CB8AC3E}">
        <p14:creationId xmlns:p14="http://schemas.microsoft.com/office/powerpoint/2010/main" val="15552425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Alternate-</a:t>
            </a:r>
            <a:r>
              <a:rPr kumimoji="1" lang="el-GR" altLang="zh-TW" sz="3200" b="1" dirty="0">
                <a:latin typeface="Times New Roman" panose="02020603050405020304" pitchFamily="18" charset="0"/>
                <a:cs typeface="Times New Roman" panose="02020603050405020304" pitchFamily="18" charset="0"/>
              </a:rPr>
              <a:t>μ</a:t>
            </a:r>
            <a:r>
              <a:rPr kumimoji="1" lang="en-US" altLang="zh-TW" sz="3200" b="1" dirty="0">
                <a:latin typeface="Times New Roman" panose="02020603050405020304" pitchFamily="18" charset="0"/>
                <a:cs typeface="Times New Roman" panose="02020603050405020304" pitchFamily="18" charset="0"/>
              </a:rPr>
              <a:t>OPPM</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12</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en-US" altLang="zh-TW"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AEBA9E3-4433-59C3-553C-DA0DDED4C351}"/>
              </a:ext>
            </a:extLst>
          </p:cNvPr>
          <p:cNvPicPr>
            <a:picLocks noChangeAspect="1"/>
          </p:cNvPicPr>
          <p:nvPr/>
        </p:nvPicPr>
        <p:blipFill>
          <a:blip r:embed="rId3"/>
          <a:stretch>
            <a:fillRect/>
          </a:stretch>
        </p:blipFill>
        <p:spPr>
          <a:xfrm>
            <a:off x="5141726" y="1685064"/>
            <a:ext cx="2865267" cy="821456"/>
          </a:xfrm>
          <a:prstGeom prst="rect">
            <a:avLst/>
          </a:prstGeom>
        </p:spPr>
      </p:pic>
      <p:pic>
        <p:nvPicPr>
          <p:cNvPr id="13" name="Picture 12">
            <a:extLst>
              <a:ext uri="{FF2B5EF4-FFF2-40B4-BE49-F238E27FC236}">
                <a16:creationId xmlns:a16="http://schemas.microsoft.com/office/drawing/2014/main" id="{0B14D93D-B822-5C74-3A0D-D2DE6F11664D}"/>
              </a:ext>
            </a:extLst>
          </p:cNvPr>
          <p:cNvPicPr>
            <a:picLocks noChangeAspect="1"/>
          </p:cNvPicPr>
          <p:nvPr/>
        </p:nvPicPr>
        <p:blipFill>
          <a:blip r:embed="rId4"/>
          <a:stretch>
            <a:fillRect/>
          </a:stretch>
        </p:blipFill>
        <p:spPr>
          <a:xfrm>
            <a:off x="8098605" y="1661967"/>
            <a:ext cx="3494839" cy="844553"/>
          </a:xfrm>
          <a:prstGeom prst="rect">
            <a:avLst/>
          </a:prstGeom>
        </p:spPr>
      </p:pic>
      <p:pic>
        <p:nvPicPr>
          <p:cNvPr id="7" name="Picture 6">
            <a:extLst>
              <a:ext uri="{FF2B5EF4-FFF2-40B4-BE49-F238E27FC236}">
                <a16:creationId xmlns:a16="http://schemas.microsoft.com/office/drawing/2014/main" id="{D38C5C16-F473-EE15-1D18-9A7C9CEB5F8C}"/>
              </a:ext>
            </a:extLst>
          </p:cNvPr>
          <p:cNvPicPr>
            <a:picLocks noChangeAspect="1"/>
          </p:cNvPicPr>
          <p:nvPr/>
        </p:nvPicPr>
        <p:blipFill>
          <a:blip r:embed="rId5"/>
          <a:stretch>
            <a:fillRect/>
          </a:stretch>
        </p:blipFill>
        <p:spPr>
          <a:xfrm>
            <a:off x="5901412" y="560331"/>
            <a:ext cx="5733239" cy="1022261"/>
          </a:xfrm>
          <a:prstGeom prst="rect">
            <a:avLst/>
          </a:prstGeom>
        </p:spPr>
      </p:pic>
      <p:pic>
        <p:nvPicPr>
          <p:cNvPr id="4" name="Picture 3">
            <a:extLst>
              <a:ext uri="{FF2B5EF4-FFF2-40B4-BE49-F238E27FC236}">
                <a16:creationId xmlns:a16="http://schemas.microsoft.com/office/drawing/2014/main" id="{DF1F667B-9D11-6E14-CC28-D4F9CFACDB5F}"/>
              </a:ext>
            </a:extLst>
          </p:cNvPr>
          <p:cNvPicPr>
            <a:picLocks noChangeAspect="1"/>
          </p:cNvPicPr>
          <p:nvPr/>
        </p:nvPicPr>
        <p:blipFill>
          <a:blip r:embed="rId6"/>
          <a:stretch>
            <a:fillRect/>
          </a:stretch>
        </p:blipFill>
        <p:spPr>
          <a:xfrm>
            <a:off x="761618" y="3628007"/>
            <a:ext cx="2528705" cy="1945615"/>
          </a:xfrm>
          <a:prstGeom prst="rect">
            <a:avLst/>
          </a:prstGeom>
        </p:spPr>
      </p:pic>
      <p:pic>
        <p:nvPicPr>
          <p:cNvPr id="9" name="Picture 8">
            <a:extLst>
              <a:ext uri="{FF2B5EF4-FFF2-40B4-BE49-F238E27FC236}">
                <a16:creationId xmlns:a16="http://schemas.microsoft.com/office/drawing/2014/main" id="{BB331461-C6AB-FBCF-DF28-D713F1C94E49}"/>
              </a:ext>
            </a:extLst>
          </p:cNvPr>
          <p:cNvPicPr>
            <a:picLocks noChangeAspect="1"/>
          </p:cNvPicPr>
          <p:nvPr/>
        </p:nvPicPr>
        <p:blipFill>
          <a:blip r:embed="rId7"/>
          <a:stretch>
            <a:fillRect/>
          </a:stretch>
        </p:blipFill>
        <p:spPr>
          <a:xfrm>
            <a:off x="3555929" y="3615623"/>
            <a:ext cx="8078722" cy="1945318"/>
          </a:xfrm>
          <a:prstGeom prst="rect">
            <a:avLst/>
          </a:prstGeom>
        </p:spPr>
      </p:pic>
      <p:pic>
        <p:nvPicPr>
          <p:cNvPr id="12" name="Picture 11">
            <a:extLst>
              <a:ext uri="{FF2B5EF4-FFF2-40B4-BE49-F238E27FC236}">
                <a16:creationId xmlns:a16="http://schemas.microsoft.com/office/drawing/2014/main" id="{A500C1E9-76ED-3522-7799-16D2135ED890}"/>
              </a:ext>
            </a:extLst>
          </p:cNvPr>
          <p:cNvPicPr>
            <a:picLocks noChangeAspect="1"/>
          </p:cNvPicPr>
          <p:nvPr/>
        </p:nvPicPr>
        <p:blipFill>
          <a:blip r:embed="rId8"/>
          <a:stretch>
            <a:fillRect/>
          </a:stretch>
        </p:blipFill>
        <p:spPr>
          <a:xfrm>
            <a:off x="1417960" y="3320273"/>
            <a:ext cx="1244558" cy="228359"/>
          </a:xfrm>
          <a:prstGeom prst="rect">
            <a:avLst/>
          </a:prstGeom>
        </p:spPr>
      </p:pic>
      <p:pic>
        <p:nvPicPr>
          <p:cNvPr id="15" name="Picture 14">
            <a:extLst>
              <a:ext uri="{FF2B5EF4-FFF2-40B4-BE49-F238E27FC236}">
                <a16:creationId xmlns:a16="http://schemas.microsoft.com/office/drawing/2014/main" id="{8D6E6934-9A38-92C9-87AD-E18DA78E5A2A}"/>
              </a:ext>
            </a:extLst>
          </p:cNvPr>
          <p:cNvPicPr>
            <a:picLocks noChangeAspect="1"/>
          </p:cNvPicPr>
          <p:nvPr/>
        </p:nvPicPr>
        <p:blipFill>
          <a:blip r:embed="rId9"/>
          <a:stretch>
            <a:fillRect/>
          </a:stretch>
        </p:blipFill>
        <p:spPr>
          <a:xfrm>
            <a:off x="4285272" y="3305186"/>
            <a:ext cx="1244558" cy="258531"/>
          </a:xfrm>
          <a:prstGeom prst="rect">
            <a:avLst/>
          </a:prstGeom>
        </p:spPr>
      </p:pic>
      <p:pic>
        <p:nvPicPr>
          <p:cNvPr id="17" name="Picture 16">
            <a:extLst>
              <a:ext uri="{FF2B5EF4-FFF2-40B4-BE49-F238E27FC236}">
                <a16:creationId xmlns:a16="http://schemas.microsoft.com/office/drawing/2014/main" id="{8242E20B-A8A2-CFB9-7900-6406AAED0444}"/>
              </a:ext>
            </a:extLst>
          </p:cNvPr>
          <p:cNvPicPr>
            <a:picLocks noChangeAspect="1"/>
          </p:cNvPicPr>
          <p:nvPr/>
        </p:nvPicPr>
        <p:blipFill>
          <a:blip r:embed="rId10"/>
          <a:stretch>
            <a:fillRect/>
          </a:stretch>
        </p:blipFill>
        <p:spPr>
          <a:xfrm>
            <a:off x="7029140" y="3305186"/>
            <a:ext cx="1309548" cy="247427"/>
          </a:xfrm>
          <a:prstGeom prst="rect">
            <a:avLst/>
          </a:prstGeom>
        </p:spPr>
      </p:pic>
      <p:pic>
        <p:nvPicPr>
          <p:cNvPr id="19" name="Picture 18">
            <a:extLst>
              <a:ext uri="{FF2B5EF4-FFF2-40B4-BE49-F238E27FC236}">
                <a16:creationId xmlns:a16="http://schemas.microsoft.com/office/drawing/2014/main" id="{91C2785D-7988-6B02-3804-C88314830824}"/>
              </a:ext>
            </a:extLst>
          </p:cNvPr>
          <p:cNvPicPr>
            <a:picLocks noChangeAspect="1"/>
          </p:cNvPicPr>
          <p:nvPr/>
        </p:nvPicPr>
        <p:blipFill>
          <a:blip r:embed="rId11"/>
          <a:stretch>
            <a:fillRect/>
          </a:stretch>
        </p:blipFill>
        <p:spPr>
          <a:xfrm>
            <a:off x="9797800" y="3320273"/>
            <a:ext cx="1244558" cy="246507"/>
          </a:xfrm>
          <a:prstGeom prst="rect">
            <a:avLst/>
          </a:prstGeom>
        </p:spPr>
      </p:pic>
      <p:pic>
        <p:nvPicPr>
          <p:cNvPr id="18" name="Picture 17">
            <a:extLst>
              <a:ext uri="{FF2B5EF4-FFF2-40B4-BE49-F238E27FC236}">
                <a16:creationId xmlns:a16="http://schemas.microsoft.com/office/drawing/2014/main" id="{C84074F6-4EF5-8C4B-05FF-086E5D1EC15E}"/>
              </a:ext>
            </a:extLst>
          </p:cNvPr>
          <p:cNvPicPr>
            <a:picLocks noChangeAspect="1"/>
          </p:cNvPicPr>
          <p:nvPr/>
        </p:nvPicPr>
        <p:blipFill>
          <a:blip r:embed="rId12"/>
          <a:stretch>
            <a:fillRect/>
          </a:stretch>
        </p:blipFill>
        <p:spPr>
          <a:xfrm>
            <a:off x="244627" y="1541646"/>
            <a:ext cx="4662370" cy="1666671"/>
          </a:xfrm>
          <a:prstGeom prst="rect">
            <a:avLst/>
          </a:prstGeom>
        </p:spPr>
      </p:pic>
      <p:sp>
        <p:nvSpPr>
          <p:cNvPr id="20" name="Rectangle 19">
            <a:extLst>
              <a:ext uri="{FF2B5EF4-FFF2-40B4-BE49-F238E27FC236}">
                <a16:creationId xmlns:a16="http://schemas.microsoft.com/office/drawing/2014/main" id="{184978D7-70C0-5955-C8D8-70750BDF9DF0}"/>
              </a:ext>
            </a:extLst>
          </p:cNvPr>
          <p:cNvSpPr/>
          <p:nvPr/>
        </p:nvSpPr>
        <p:spPr>
          <a:xfrm>
            <a:off x="2775005" y="5087581"/>
            <a:ext cx="445273" cy="4733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Rectangle 20">
            <a:extLst>
              <a:ext uri="{FF2B5EF4-FFF2-40B4-BE49-F238E27FC236}">
                <a16:creationId xmlns:a16="http://schemas.microsoft.com/office/drawing/2014/main" id="{85488290-ED4C-6C25-E18C-F7D36E7F2907}"/>
              </a:ext>
            </a:extLst>
          </p:cNvPr>
          <p:cNvSpPr/>
          <p:nvPr/>
        </p:nvSpPr>
        <p:spPr>
          <a:xfrm>
            <a:off x="4570699" y="2263291"/>
            <a:ext cx="221143" cy="2350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Rectangle 21">
            <a:extLst>
              <a:ext uri="{FF2B5EF4-FFF2-40B4-BE49-F238E27FC236}">
                <a16:creationId xmlns:a16="http://schemas.microsoft.com/office/drawing/2014/main" id="{C067A3F7-854B-0EA2-59A4-53F06B6E5971}"/>
              </a:ext>
            </a:extLst>
          </p:cNvPr>
          <p:cNvSpPr/>
          <p:nvPr/>
        </p:nvSpPr>
        <p:spPr>
          <a:xfrm>
            <a:off x="7601447" y="2135324"/>
            <a:ext cx="151076" cy="1970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585B170-2B20-5432-9233-924F88DEDED6}"/>
                  </a:ext>
                </a:extLst>
              </p:cNvPr>
              <p:cNvSpPr txBox="1"/>
              <p:nvPr/>
            </p:nvSpPr>
            <p:spPr>
              <a:xfrm>
                <a:off x="5170536" y="2691695"/>
                <a:ext cx="5133397" cy="461665"/>
              </a:xfrm>
              <a:prstGeom prst="rect">
                <a:avLst/>
              </a:prstGeom>
              <a:noFill/>
              <a:ln>
                <a:solidFill>
                  <a:srgbClr val="FF0000"/>
                </a:solidFill>
              </a:ln>
            </p:spPr>
            <p:txBody>
              <a:bodyPr wrap="square" rtlCol="0">
                <a:spAutoFit/>
              </a:bodyPr>
              <a:lstStyle/>
              <a:p>
                <a:r>
                  <a:rPr kumimoji="1" lang="en-US" altLang="zh-TW" sz="2400" dirty="0">
                    <a:latin typeface="Times New Roman" panose="02020603050405020304" pitchFamily="18" charset="0"/>
                    <a:cs typeface="Times New Roman" panose="02020603050405020304" pitchFamily="18" charset="0"/>
                  </a:rPr>
                  <a:t>A[2, 3, </a:t>
                </a:r>
                <a14:m>
                  <m:oMath xmlns:m="http://schemas.openxmlformats.org/officeDocument/2006/math">
                    <m:sSub>
                      <m:sSubPr>
                        <m:ctrlPr>
                          <a:rPr kumimoji="1" lang="en-US" altLang="zh-TW" sz="2400">
                            <a:latin typeface="Times New Roman" panose="02020603050405020304" pitchFamily="18" charset="0"/>
                            <a:cs typeface="Times New Roman" panose="02020603050405020304" pitchFamily="18" charset="0"/>
                          </a:rPr>
                        </m:ctrlPr>
                      </m:sSubPr>
                      <m:e>
                        <m:r>
                          <a:rPr kumimoji="1" lang="en-US" altLang="zh-TW" sz="2400">
                            <a:latin typeface="Times New Roman" panose="02020603050405020304" pitchFamily="18" charset="0"/>
                            <a:cs typeface="Times New Roman" panose="02020603050405020304" pitchFamily="18" charset="0"/>
                          </a:rPr>
                          <m:t>𝑝</m:t>
                        </m:r>
                      </m:e>
                      <m:sub>
                        <m:r>
                          <a:rPr kumimoji="1" lang="en-US" altLang="zh-TW" sz="2400">
                            <a:latin typeface="Times New Roman" panose="02020603050405020304" pitchFamily="18" charset="0"/>
                            <a:cs typeface="Times New Roman" panose="02020603050405020304" pitchFamily="18" charset="0"/>
                          </a:rPr>
                          <m:t>𝑖𝑛𝑑</m:t>
                        </m:r>
                      </m:sub>
                    </m:sSub>
                  </m:oMath>
                </a14:m>
                <a:r>
                  <a:rPr kumimoji="1" lang="en-US" altLang="zh-TW" sz="2400" dirty="0">
                    <a:latin typeface="Times New Roman" panose="02020603050405020304" pitchFamily="18" charset="0"/>
                    <a:cs typeface="Times New Roman" panose="02020603050405020304" pitchFamily="18" charset="0"/>
                  </a:rPr>
                  <a:t>]= 0 =&gt; A[2-1, 3,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a:latin typeface="Cambria Math" panose="02040503050406030204" pitchFamily="18" charset="0"/>
                            <a:cs typeface="Times New Roman" panose="02020603050405020304" pitchFamily="18" charset="0"/>
                          </a:rPr>
                          <m:t>𝑝</m:t>
                        </m:r>
                      </m:e>
                      <m:sub>
                        <m:r>
                          <a:rPr kumimoji="1" lang="en-US" altLang="zh-TW" sz="2400">
                            <a:latin typeface="Cambria Math" panose="02040503050406030204" pitchFamily="18" charset="0"/>
                            <a:cs typeface="Times New Roman" panose="02020603050405020304" pitchFamily="18" charset="0"/>
                          </a:rPr>
                          <m:t>𝑖𝑛𝑑</m:t>
                        </m:r>
                      </m:sub>
                    </m:sSub>
                  </m:oMath>
                </a14:m>
                <a:r>
                  <a:rPr kumimoji="1" lang="en-US" altLang="zh-TW" sz="2400" dirty="0">
                    <a:latin typeface="Times New Roman" panose="02020603050405020304" pitchFamily="18" charset="0"/>
                    <a:cs typeface="Times New Roman" panose="02020603050405020304" pitchFamily="18" charset="0"/>
                  </a:rPr>
                  <a:t>|</a:t>
                </a:r>
                <a:r>
                  <a:rPr kumimoji="1" lang="en-US" altLang="zh-TW" sz="2400" dirty="0">
                    <a:cs typeface="Times New Roman" panose="02020603050405020304" pitchFamily="18" charset="0"/>
                  </a:rPr>
                  <a:t>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𝑡</m:t>
                        </m:r>
                      </m:e>
                      <m:sub>
                        <m:r>
                          <a:rPr kumimoji="1" lang="en-US" altLang="zh-TW" sz="2400">
                            <a:latin typeface="Cambria Math" panose="02040503050406030204" pitchFamily="18" charset="0"/>
                            <a:cs typeface="Times New Roman" panose="02020603050405020304" pitchFamily="18" charset="0"/>
                          </a:rPr>
                          <m:t>𝑖𝑛𝑑</m:t>
                        </m:r>
                      </m:sub>
                    </m:sSub>
                  </m:oMath>
                </a14:m>
                <a:r>
                  <a:rPr kumimoji="1" lang="en-US" altLang="zh-TW" sz="2400" dirty="0">
                    <a:latin typeface="Times New Roman" panose="02020603050405020304" pitchFamily="18" charset="0"/>
                    <a:cs typeface="Times New Roman" panose="02020603050405020304" pitchFamily="18" charset="0"/>
                  </a:rPr>
                  <a:t>]</a:t>
                </a:r>
                <a:endParaRPr kumimoji="1" lang="zh-TW" altLang="en-US" sz="2400" dirty="0">
                  <a:latin typeface="Times New Roman" panose="02020603050405020304" pitchFamily="18" charset="0"/>
                  <a:cs typeface="Times New Roman" panose="02020603050405020304" pitchFamily="18" charset="0"/>
                </a:endParaRPr>
              </a:p>
            </p:txBody>
          </p:sp>
        </mc:Choice>
        <mc:Fallback>
          <p:sp>
            <p:nvSpPr>
              <p:cNvPr id="3" name="TextBox 2">
                <a:extLst>
                  <a:ext uri="{FF2B5EF4-FFF2-40B4-BE49-F238E27FC236}">
                    <a16:creationId xmlns:a16="http://schemas.microsoft.com/office/drawing/2014/main" id="{9585B170-2B20-5432-9233-924F88DEDED6}"/>
                  </a:ext>
                </a:extLst>
              </p:cNvPr>
              <p:cNvSpPr txBox="1">
                <a:spLocks noRot="1" noChangeAspect="1" noMove="1" noResize="1" noEditPoints="1" noAdjustHandles="1" noChangeArrowheads="1" noChangeShapeType="1" noTextEdit="1"/>
              </p:cNvSpPr>
              <p:nvPr/>
            </p:nvSpPr>
            <p:spPr>
              <a:xfrm>
                <a:off x="5170536" y="2691695"/>
                <a:ext cx="5133397" cy="461665"/>
              </a:xfrm>
              <a:prstGeom prst="rect">
                <a:avLst/>
              </a:prstGeom>
              <a:blipFill>
                <a:blip r:embed="rId13"/>
                <a:stretch>
                  <a:fillRect l="-1659" t="-10390" r="-355" b="-27273"/>
                </a:stretch>
              </a:blipFill>
              <a:ln>
                <a:solidFill>
                  <a:srgbClr val="FF0000"/>
                </a:solidFill>
              </a:ln>
            </p:spPr>
            <p:txBody>
              <a:bodyPr/>
              <a:lstStyle/>
              <a:p>
                <a:r>
                  <a:rPr lang="zh-TW" altLang="en-US">
                    <a:noFill/>
                  </a:rPr>
                  <a:t> </a:t>
                </a:r>
              </a:p>
            </p:txBody>
          </p:sp>
        </mc:Fallback>
      </mc:AlternateContent>
    </p:spTree>
    <p:extLst>
      <p:ext uri="{BB962C8B-B14F-4D97-AF65-F5344CB8AC3E}">
        <p14:creationId xmlns:p14="http://schemas.microsoft.com/office/powerpoint/2010/main" val="213116483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Alternate-</a:t>
            </a:r>
            <a:r>
              <a:rPr kumimoji="1" lang="el-GR" altLang="zh-TW" sz="3200" b="1" dirty="0">
                <a:latin typeface="Times New Roman" panose="02020603050405020304" pitchFamily="18" charset="0"/>
                <a:cs typeface="Times New Roman" panose="02020603050405020304" pitchFamily="18" charset="0"/>
              </a:rPr>
              <a:t>μ</a:t>
            </a:r>
            <a:r>
              <a:rPr kumimoji="1" lang="en-US" altLang="zh-TW" sz="3200" b="1" dirty="0">
                <a:latin typeface="Times New Roman" panose="02020603050405020304" pitchFamily="18" charset="0"/>
                <a:cs typeface="Times New Roman" panose="02020603050405020304" pitchFamily="18" charset="0"/>
              </a:rPr>
              <a:t>OPPM</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13</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en-US" altLang="zh-TW"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AEBA9E3-4433-59C3-553C-DA0DDED4C351}"/>
              </a:ext>
            </a:extLst>
          </p:cNvPr>
          <p:cNvPicPr>
            <a:picLocks noChangeAspect="1"/>
          </p:cNvPicPr>
          <p:nvPr/>
        </p:nvPicPr>
        <p:blipFill>
          <a:blip r:embed="rId3"/>
          <a:stretch>
            <a:fillRect/>
          </a:stretch>
        </p:blipFill>
        <p:spPr>
          <a:xfrm>
            <a:off x="5141726" y="1705612"/>
            <a:ext cx="2865267" cy="821456"/>
          </a:xfrm>
          <a:prstGeom prst="rect">
            <a:avLst/>
          </a:prstGeom>
        </p:spPr>
      </p:pic>
      <p:pic>
        <p:nvPicPr>
          <p:cNvPr id="13" name="Picture 12">
            <a:extLst>
              <a:ext uri="{FF2B5EF4-FFF2-40B4-BE49-F238E27FC236}">
                <a16:creationId xmlns:a16="http://schemas.microsoft.com/office/drawing/2014/main" id="{0B14D93D-B822-5C74-3A0D-D2DE6F11664D}"/>
              </a:ext>
            </a:extLst>
          </p:cNvPr>
          <p:cNvPicPr>
            <a:picLocks noChangeAspect="1"/>
          </p:cNvPicPr>
          <p:nvPr/>
        </p:nvPicPr>
        <p:blipFill>
          <a:blip r:embed="rId4"/>
          <a:stretch>
            <a:fillRect/>
          </a:stretch>
        </p:blipFill>
        <p:spPr>
          <a:xfrm>
            <a:off x="8098605" y="1682515"/>
            <a:ext cx="3494839" cy="844553"/>
          </a:xfrm>
          <a:prstGeom prst="rect">
            <a:avLst/>
          </a:prstGeom>
        </p:spPr>
      </p:pic>
      <p:pic>
        <p:nvPicPr>
          <p:cNvPr id="7" name="Picture 6">
            <a:extLst>
              <a:ext uri="{FF2B5EF4-FFF2-40B4-BE49-F238E27FC236}">
                <a16:creationId xmlns:a16="http://schemas.microsoft.com/office/drawing/2014/main" id="{D38C5C16-F473-EE15-1D18-9A7C9CEB5F8C}"/>
              </a:ext>
            </a:extLst>
          </p:cNvPr>
          <p:cNvPicPr>
            <a:picLocks noChangeAspect="1"/>
          </p:cNvPicPr>
          <p:nvPr/>
        </p:nvPicPr>
        <p:blipFill>
          <a:blip r:embed="rId5"/>
          <a:stretch>
            <a:fillRect/>
          </a:stretch>
        </p:blipFill>
        <p:spPr>
          <a:xfrm>
            <a:off x="5901412" y="580879"/>
            <a:ext cx="5733239" cy="1022261"/>
          </a:xfrm>
          <a:prstGeom prst="rect">
            <a:avLst/>
          </a:prstGeom>
        </p:spPr>
      </p:pic>
      <p:pic>
        <p:nvPicPr>
          <p:cNvPr id="4" name="Picture 3">
            <a:extLst>
              <a:ext uri="{FF2B5EF4-FFF2-40B4-BE49-F238E27FC236}">
                <a16:creationId xmlns:a16="http://schemas.microsoft.com/office/drawing/2014/main" id="{DF1F667B-9D11-6E14-CC28-D4F9CFACDB5F}"/>
              </a:ext>
            </a:extLst>
          </p:cNvPr>
          <p:cNvPicPr>
            <a:picLocks noChangeAspect="1"/>
          </p:cNvPicPr>
          <p:nvPr/>
        </p:nvPicPr>
        <p:blipFill>
          <a:blip r:embed="rId6"/>
          <a:stretch>
            <a:fillRect/>
          </a:stretch>
        </p:blipFill>
        <p:spPr>
          <a:xfrm>
            <a:off x="761618" y="3641503"/>
            <a:ext cx="2528705" cy="1945615"/>
          </a:xfrm>
          <a:prstGeom prst="rect">
            <a:avLst/>
          </a:prstGeom>
        </p:spPr>
      </p:pic>
      <p:pic>
        <p:nvPicPr>
          <p:cNvPr id="9" name="Picture 8">
            <a:extLst>
              <a:ext uri="{FF2B5EF4-FFF2-40B4-BE49-F238E27FC236}">
                <a16:creationId xmlns:a16="http://schemas.microsoft.com/office/drawing/2014/main" id="{BB331461-C6AB-FBCF-DF28-D713F1C94E49}"/>
              </a:ext>
            </a:extLst>
          </p:cNvPr>
          <p:cNvPicPr>
            <a:picLocks noChangeAspect="1"/>
          </p:cNvPicPr>
          <p:nvPr/>
        </p:nvPicPr>
        <p:blipFill>
          <a:blip r:embed="rId7"/>
          <a:stretch>
            <a:fillRect/>
          </a:stretch>
        </p:blipFill>
        <p:spPr>
          <a:xfrm>
            <a:off x="3555929" y="3677268"/>
            <a:ext cx="8078722" cy="1945318"/>
          </a:xfrm>
          <a:prstGeom prst="rect">
            <a:avLst/>
          </a:prstGeom>
        </p:spPr>
      </p:pic>
      <p:pic>
        <p:nvPicPr>
          <p:cNvPr id="12" name="Picture 11">
            <a:extLst>
              <a:ext uri="{FF2B5EF4-FFF2-40B4-BE49-F238E27FC236}">
                <a16:creationId xmlns:a16="http://schemas.microsoft.com/office/drawing/2014/main" id="{A500C1E9-76ED-3522-7799-16D2135ED890}"/>
              </a:ext>
            </a:extLst>
          </p:cNvPr>
          <p:cNvPicPr>
            <a:picLocks noChangeAspect="1"/>
          </p:cNvPicPr>
          <p:nvPr/>
        </p:nvPicPr>
        <p:blipFill>
          <a:blip r:embed="rId8"/>
          <a:stretch>
            <a:fillRect/>
          </a:stretch>
        </p:blipFill>
        <p:spPr>
          <a:xfrm>
            <a:off x="1417960" y="3330547"/>
            <a:ext cx="1244558" cy="228359"/>
          </a:xfrm>
          <a:prstGeom prst="rect">
            <a:avLst/>
          </a:prstGeom>
        </p:spPr>
      </p:pic>
      <p:pic>
        <p:nvPicPr>
          <p:cNvPr id="15" name="Picture 14">
            <a:extLst>
              <a:ext uri="{FF2B5EF4-FFF2-40B4-BE49-F238E27FC236}">
                <a16:creationId xmlns:a16="http://schemas.microsoft.com/office/drawing/2014/main" id="{8D6E6934-9A38-92C9-87AD-E18DA78E5A2A}"/>
              </a:ext>
            </a:extLst>
          </p:cNvPr>
          <p:cNvPicPr>
            <a:picLocks noChangeAspect="1"/>
          </p:cNvPicPr>
          <p:nvPr/>
        </p:nvPicPr>
        <p:blipFill>
          <a:blip r:embed="rId9"/>
          <a:stretch>
            <a:fillRect/>
          </a:stretch>
        </p:blipFill>
        <p:spPr>
          <a:xfrm>
            <a:off x="4285272" y="3315460"/>
            <a:ext cx="1244558" cy="258531"/>
          </a:xfrm>
          <a:prstGeom prst="rect">
            <a:avLst/>
          </a:prstGeom>
        </p:spPr>
      </p:pic>
      <p:pic>
        <p:nvPicPr>
          <p:cNvPr id="17" name="Picture 16">
            <a:extLst>
              <a:ext uri="{FF2B5EF4-FFF2-40B4-BE49-F238E27FC236}">
                <a16:creationId xmlns:a16="http://schemas.microsoft.com/office/drawing/2014/main" id="{8242E20B-A8A2-CFB9-7900-6406AAED0444}"/>
              </a:ext>
            </a:extLst>
          </p:cNvPr>
          <p:cNvPicPr>
            <a:picLocks noChangeAspect="1"/>
          </p:cNvPicPr>
          <p:nvPr/>
        </p:nvPicPr>
        <p:blipFill>
          <a:blip r:embed="rId10"/>
          <a:stretch>
            <a:fillRect/>
          </a:stretch>
        </p:blipFill>
        <p:spPr>
          <a:xfrm>
            <a:off x="7029140" y="3315460"/>
            <a:ext cx="1309548" cy="247427"/>
          </a:xfrm>
          <a:prstGeom prst="rect">
            <a:avLst/>
          </a:prstGeom>
        </p:spPr>
      </p:pic>
      <p:pic>
        <p:nvPicPr>
          <p:cNvPr id="19" name="Picture 18">
            <a:extLst>
              <a:ext uri="{FF2B5EF4-FFF2-40B4-BE49-F238E27FC236}">
                <a16:creationId xmlns:a16="http://schemas.microsoft.com/office/drawing/2014/main" id="{91C2785D-7988-6B02-3804-C88314830824}"/>
              </a:ext>
            </a:extLst>
          </p:cNvPr>
          <p:cNvPicPr>
            <a:picLocks noChangeAspect="1"/>
          </p:cNvPicPr>
          <p:nvPr/>
        </p:nvPicPr>
        <p:blipFill>
          <a:blip r:embed="rId11"/>
          <a:stretch>
            <a:fillRect/>
          </a:stretch>
        </p:blipFill>
        <p:spPr>
          <a:xfrm>
            <a:off x="9797800" y="3330547"/>
            <a:ext cx="1244558" cy="246507"/>
          </a:xfrm>
          <a:prstGeom prst="rect">
            <a:avLst/>
          </a:prstGeom>
        </p:spPr>
      </p:pic>
      <p:pic>
        <p:nvPicPr>
          <p:cNvPr id="18" name="Picture 17">
            <a:extLst>
              <a:ext uri="{FF2B5EF4-FFF2-40B4-BE49-F238E27FC236}">
                <a16:creationId xmlns:a16="http://schemas.microsoft.com/office/drawing/2014/main" id="{C84074F6-4EF5-8C4B-05FF-086E5D1EC15E}"/>
              </a:ext>
            </a:extLst>
          </p:cNvPr>
          <p:cNvPicPr>
            <a:picLocks noChangeAspect="1"/>
          </p:cNvPicPr>
          <p:nvPr/>
        </p:nvPicPr>
        <p:blipFill>
          <a:blip r:embed="rId12"/>
          <a:stretch>
            <a:fillRect/>
          </a:stretch>
        </p:blipFill>
        <p:spPr>
          <a:xfrm>
            <a:off x="244627" y="1551920"/>
            <a:ext cx="4662370" cy="1666671"/>
          </a:xfrm>
          <a:prstGeom prst="rect">
            <a:avLst/>
          </a:prstGeom>
        </p:spPr>
      </p:pic>
      <p:sp>
        <p:nvSpPr>
          <p:cNvPr id="20" name="Rectangle 19">
            <a:extLst>
              <a:ext uri="{FF2B5EF4-FFF2-40B4-BE49-F238E27FC236}">
                <a16:creationId xmlns:a16="http://schemas.microsoft.com/office/drawing/2014/main" id="{184978D7-70C0-5955-C8D8-70750BDF9DF0}"/>
              </a:ext>
            </a:extLst>
          </p:cNvPr>
          <p:cNvSpPr/>
          <p:nvPr/>
        </p:nvSpPr>
        <p:spPr>
          <a:xfrm>
            <a:off x="11131163" y="4614310"/>
            <a:ext cx="445273" cy="4733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Rectangle 20">
            <a:extLst>
              <a:ext uri="{FF2B5EF4-FFF2-40B4-BE49-F238E27FC236}">
                <a16:creationId xmlns:a16="http://schemas.microsoft.com/office/drawing/2014/main" id="{85488290-ED4C-6C25-E18C-F7D36E7F2907}"/>
              </a:ext>
            </a:extLst>
          </p:cNvPr>
          <p:cNvSpPr/>
          <p:nvPr/>
        </p:nvSpPr>
        <p:spPr>
          <a:xfrm>
            <a:off x="4586602" y="2841391"/>
            <a:ext cx="221143" cy="2350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Rectangle 21">
            <a:extLst>
              <a:ext uri="{FF2B5EF4-FFF2-40B4-BE49-F238E27FC236}">
                <a16:creationId xmlns:a16="http://schemas.microsoft.com/office/drawing/2014/main" id="{C067A3F7-854B-0EA2-59A4-53F06B6E5971}"/>
              </a:ext>
            </a:extLst>
          </p:cNvPr>
          <p:cNvSpPr/>
          <p:nvPr/>
        </p:nvSpPr>
        <p:spPr>
          <a:xfrm>
            <a:off x="11278261" y="2313748"/>
            <a:ext cx="151076" cy="1970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1876A908-FC44-5438-8BE2-B5348297004B}"/>
                  </a:ext>
                </a:extLst>
              </p:cNvPr>
              <p:cNvSpPr txBox="1"/>
              <p:nvPr/>
            </p:nvSpPr>
            <p:spPr>
              <a:xfrm>
                <a:off x="5170536" y="2691695"/>
                <a:ext cx="5133397" cy="461665"/>
              </a:xfrm>
              <a:prstGeom prst="rect">
                <a:avLst/>
              </a:prstGeom>
              <a:noFill/>
              <a:ln>
                <a:solidFill>
                  <a:srgbClr val="FF0000"/>
                </a:solidFill>
              </a:ln>
            </p:spPr>
            <p:txBody>
              <a:bodyPr wrap="square" rtlCol="0">
                <a:spAutoFit/>
              </a:bodyPr>
              <a:lstStyle/>
              <a:p>
                <a:r>
                  <a:rPr kumimoji="1" lang="en-US" altLang="zh-TW" sz="2400" dirty="0">
                    <a:latin typeface="Times New Roman" panose="02020603050405020304" pitchFamily="18" charset="0"/>
                    <a:cs typeface="Times New Roman" panose="02020603050405020304" pitchFamily="18" charset="0"/>
                  </a:rPr>
                  <a:t>A[1, 3, </a:t>
                </a:r>
                <a14:m>
                  <m:oMath xmlns:m="http://schemas.openxmlformats.org/officeDocument/2006/math">
                    <m:sSub>
                      <m:sSubPr>
                        <m:ctrlPr>
                          <a:rPr kumimoji="1" lang="en-US" altLang="zh-TW" sz="2400">
                            <a:latin typeface="Times New Roman" panose="02020603050405020304" pitchFamily="18" charset="0"/>
                            <a:cs typeface="Times New Roman" panose="02020603050405020304" pitchFamily="18" charset="0"/>
                          </a:rPr>
                        </m:ctrlPr>
                      </m:sSubPr>
                      <m:e>
                        <m:r>
                          <m:rPr>
                            <m:sty m:val="p"/>
                          </m:rPr>
                          <a:rPr kumimoji="1" lang="en-US" altLang="zh-TW" sz="2400" b="0" i="0" smtClean="0">
                            <a:latin typeface="Cambria Math" panose="02040503050406030204" pitchFamily="18" charset="0"/>
                            <a:cs typeface="Times New Roman" panose="02020603050405020304" pitchFamily="18" charset="0"/>
                          </a:rPr>
                          <m:t>t</m:t>
                        </m:r>
                      </m:e>
                      <m:sub>
                        <m:r>
                          <a:rPr kumimoji="1" lang="en-US" altLang="zh-TW" sz="2400">
                            <a:latin typeface="Times New Roman" panose="02020603050405020304" pitchFamily="18" charset="0"/>
                            <a:cs typeface="Times New Roman" panose="02020603050405020304" pitchFamily="18" charset="0"/>
                          </a:rPr>
                          <m:t>𝑖𝑛𝑑</m:t>
                        </m:r>
                      </m:sub>
                    </m:sSub>
                  </m:oMath>
                </a14:m>
                <a:r>
                  <a:rPr kumimoji="1" lang="en-US" altLang="zh-TW" sz="2400" dirty="0">
                    <a:latin typeface="Times New Roman" panose="02020603050405020304" pitchFamily="18" charset="0"/>
                    <a:cs typeface="Times New Roman" panose="02020603050405020304" pitchFamily="18" charset="0"/>
                  </a:rPr>
                  <a:t>]= 0 =&gt; A[1, 3-1,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a:latin typeface="Cambria Math" panose="02040503050406030204" pitchFamily="18" charset="0"/>
                            <a:cs typeface="Times New Roman" panose="02020603050405020304" pitchFamily="18" charset="0"/>
                          </a:rPr>
                          <m:t>𝑝</m:t>
                        </m:r>
                      </m:e>
                      <m:sub>
                        <m:r>
                          <a:rPr kumimoji="1" lang="en-US" altLang="zh-TW" sz="2400">
                            <a:latin typeface="Cambria Math" panose="02040503050406030204" pitchFamily="18" charset="0"/>
                            <a:cs typeface="Times New Roman" panose="02020603050405020304" pitchFamily="18" charset="0"/>
                          </a:rPr>
                          <m:t>𝑖𝑛𝑑</m:t>
                        </m:r>
                      </m:sub>
                    </m:sSub>
                  </m:oMath>
                </a14:m>
                <a:r>
                  <a:rPr kumimoji="1" lang="en-US" altLang="zh-TW" sz="2400" dirty="0">
                    <a:latin typeface="Times New Roman" panose="02020603050405020304" pitchFamily="18" charset="0"/>
                    <a:cs typeface="Times New Roman" panose="02020603050405020304" pitchFamily="18" charset="0"/>
                  </a:rPr>
                  <a:t>|</a:t>
                </a:r>
                <a:r>
                  <a:rPr kumimoji="1" lang="en-US" altLang="zh-TW" sz="2400" dirty="0">
                    <a:cs typeface="Times New Roman" panose="02020603050405020304" pitchFamily="18" charset="0"/>
                  </a:rPr>
                  <a:t>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𝑡</m:t>
                        </m:r>
                      </m:e>
                      <m:sub>
                        <m:r>
                          <a:rPr kumimoji="1" lang="en-US" altLang="zh-TW" sz="2400">
                            <a:latin typeface="Cambria Math" panose="02040503050406030204" pitchFamily="18" charset="0"/>
                            <a:cs typeface="Times New Roman" panose="02020603050405020304" pitchFamily="18" charset="0"/>
                          </a:rPr>
                          <m:t>𝑖𝑛𝑑</m:t>
                        </m:r>
                      </m:sub>
                    </m:sSub>
                  </m:oMath>
                </a14:m>
                <a:r>
                  <a:rPr kumimoji="1" lang="en-US" altLang="zh-TW" sz="2400" dirty="0">
                    <a:latin typeface="Times New Roman" panose="02020603050405020304" pitchFamily="18" charset="0"/>
                    <a:cs typeface="Times New Roman" panose="02020603050405020304" pitchFamily="18" charset="0"/>
                  </a:rPr>
                  <a:t>]</a:t>
                </a:r>
                <a:endParaRPr kumimoji="1" lang="zh-TW" altLang="en-US" sz="2400" dirty="0">
                  <a:latin typeface="Times New Roman" panose="02020603050405020304" pitchFamily="18" charset="0"/>
                  <a:cs typeface="Times New Roman" panose="02020603050405020304" pitchFamily="18" charset="0"/>
                </a:endParaRPr>
              </a:p>
            </p:txBody>
          </p:sp>
        </mc:Choice>
        <mc:Fallback>
          <p:sp>
            <p:nvSpPr>
              <p:cNvPr id="8" name="TextBox 7">
                <a:extLst>
                  <a:ext uri="{FF2B5EF4-FFF2-40B4-BE49-F238E27FC236}">
                    <a16:creationId xmlns:a16="http://schemas.microsoft.com/office/drawing/2014/main" id="{1876A908-FC44-5438-8BE2-B5348297004B}"/>
                  </a:ext>
                </a:extLst>
              </p:cNvPr>
              <p:cNvSpPr txBox="1">
                <a:spLocks noRot="1" noChangeAspect="1" noMove="1" noResize="1" noEditPoints="1" noAdjustHandles="1" noChangeArrowheads="1" noChangeShapeType="1" noTextEdit="1"/>
              </p:cNvSpPr>
              <p:nvPr/>
            </p:nvSpPr>
            <p:spPr>
              <a:xfrm>
                <a:off x="5170536" y="2691695"/>
                <a:ext cx="5133397" cy="461665"/>
              </a:xfrm>
              <a:prstGeom prst="rect">
                <a:avLst/>
              </a:prstGeom>
              <a:blipFill>
                <a:blip r:embed="rId13"/>
                <a:stretch>
                  <a:fillRect l="-1659" t="-10390" b="-27273"/>
                </a:stretch>
              </a:blipFill>
              <a:ln>
                <a:solidFill>
                  <a:srgbClr val="FF0000"/>
                </a:solidFill>
              </a:ln>
            </p:spPr>
            <p:txBody>
              <a:bodyPr/>
              <a:lstStyle/>
              <a:p>
                <a:r>
                  <a:rPr lang="zh-TW" altLang="en-US">
                    <a:noFill/>
                  </a:rPr>
                  <a:t> </a:t>
                </a:r>
              </a:p>
            </p:txBody>
          </p:sp>
        </mc:Fallback>
      </mc:AlternateContent>
    </p:spTree>
    <p:extLst>
      <p:ext uri="{BB962C8B-B14F-4D97-AF65-F5344CB8AC3E}">
        <p14:creationId xmlns:p14="http://schemas.microsoft.com/office/powerpoint/2010/main" val="147435002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Alternate-</a:t>
            </a:r>
            <a:r>
              <a:rPr kumimoji="1" lang="el-GR" altLang="zh-TW" sz="3200" b="1" dirty="0">
                <a:latin typeface="Times New Roman" panose="02020603050405020304" pitchFamily="18" charset="0"/>
                <a:cs typeface="Times New Roman" panose="02020603050405020304" pitchFamily="18" charset="0"/>
              </a:rPr>
              <a:t>μ</a:t>
            </a:r>
            <a:r>
              <a:rPr kumimoji="1" lang="en-US" altLang="zh-TW" sz="3200" b="1" dirty="0">
                <a:latin typeface="Times New Roman" panose="02020603050405020304" pitchFamily="18" charset="0"/>
                <a:cs typeface="Times New Roman" panose="02020603050405020304" pitchFamily="18" charset="0"/>
              </a:rPr>
              <a:t>OPPM</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14</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74980"/>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en-US" altLang="zh-TW"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AEBA9E3-4433-59C3-553C-DA0DDED4C351}"/>
              </a:ext>
            </a:extLst>
          </p:cNvPr>
          <p:cNvPicPr>
            <a:picLocks noChangeAspect="1"/>
          </p:cNvPicPr>
          <p:nvPr/>
        </p:nvPicPr>
        <p:blipFill>
          <a:blip r:embed="rId3"/>
          <a:stretch>
            <a:fillRect/>
          </a:stretch>
        </p:blipFill>
        <p:spPr>
          <a:xfrm>
            <a:off x="5141726" y="1726160"/>
            <a:ext cx="2865267" cy="821456"/>
          </a:xfrm>
          <a:prstGeom prst="rect">
            <a:avLst/>
          </a:prstGeom>
        </p:spPr>
      </p:pic>
      <p:pic>
        <p:nvPicPr>
          <p:cNvPr id="13" name="Picture 12">
            <a:extLst>
              <a:ext uri="{FF2B5EF4-FFF2-40B4-BE49-F238E27FC236}">
                <a16:creationId xmlns:a16="http://schemas.microsoft.com/office/drawing/2014/main" id="{0B14D93D-B822-5C74-3A0D-D2DE6F11664D}"/>
              </a:ext>
            </a:extLst>
          </p:cNvPr>
          <p:cNvPicPr>
            <a:picLocks noChangeAspect="1"/>
          </p:cNvPicPr>
          <p:nvPr/>
        </p:nvPicPr>
        <p:blipFill>
          <a:blip r:embed="rId4"/>
          <a:stretch>
            <a:fillRect/>
          </a:stretch>
        </p:blipFill>
        <p:spPr>
          <a:xfrm>
            <a:off x="8098604" y="1703063"/>
            <a:ext cx="3494839" cy="844553"/>
          </a:xfrm>
          <a:prstGeom prst="rect">
            <a:avLst/>
          </a:prstGeom>
        </p:spPr>
      </p:pic>
      <p:pic>
        <p:nvPicPr>
          <p:cNvPr id="7" name="Picture 6">
            <a:extLst>
              <a:ext uri="{FF2B5EF4-FFF2-40B4-BE49-F238E27FC236}">
                <a16:creationId xmlns:a16="http://schemas.microsoft.com/office/drawing/2014/main" id="{D38C5C16-F473-EE15-1D18-9A7C9CEB5F8C}"/>
              </a:ext>
            </a:extLst>
          </p:cNvPr>
          <p:cNvPicPr>
            <a:picLocks noChangeAspect="1"/>
          </p:cNvPicPr>
          <p:nvPr/>
        </p:nvPicPr>
        <p:blipFill>
          <a:blip r:embed="rId5"/>
          <a:stretch>
            <a:fillRect/>
          </a:stretch>
        </p:blipFill>
        <p:spPr>
          <a:xfrm>
            <a:off x="5901412" y="601427"/>
            <a:ext cx="5733239" cy="1022261"/>
          </a:xfrm>
          <a:prstGeom prst="rect">
            <a:avLst/>
          </a:prstGeom>
        </p:spPr>
      </p:pic>
      <p:pic>
        <p:nvPicPr>
          <p:cNvPr id="4" name="Picture 3">
            <a:extLst>
              <a:ext uri="{FF2B5EF4-FFF2-40B4-BE49-F238E27FC236}">
                <a16:creationId xmlns:a16="http://schemas.microsoft.com/office/drawing/2014/main" id="{DF1F667B-9D11-6E14-CC28-D4F9CFACDB5F}"/>
              </a:ext>
            </a:extLst>
          </p:cNvPr>
          <p:cNvPicPr>
            <a:picLocks noChangeAspect="1"/>
          </p:cNvPicPr>
          <p:nvPr/>
        </p:nvPicPr>
        <p:blipFill>
          <a:blip r:embed="rId6"/>
          <a:stretch>
            <a:fillRect/>
          </a:stretch>
        </p:blipFill>
        <p:spPr>
          <a:xfrm>
            <a:off x="761618" y="3662051"/>
            <a:ext cx="2528705" cy="1945615"/>
          </a:xfrm>
          <a:prstGeom prst="rect">
            <a:avLst/>
          </a:prstGeom>
        </p:spPr>
      </p:pic>
      <p:pic>
        <p:nvPicPr>
          <p:cNvPr id="9" name="Picture 8">
            <a:extLst>
              <a:ext uri="{FF2B5EF4-FFF2-40B4-BE49-F238E27FC236}">
                <a16:creationId xmlns:a16="http://schemas.microsoft.com/office/drawing/2014/main" id="{BB331461-C6AB-FBCF-DF28-D713F1C94E49}"/>
              </a:ext>
            </a:extLst>
          </p:cNvPr>
          <p:cNvPicPr>
            <a:picLocks noChangeAspect="1"/>
          </p:cNvPicPr>
          <p:nvPr/>
        </p:nvPicPr>
        <p:blipFill>
          <a:blip r:embed="rId7"/>
          <a:stretch>
            <a:fillRect/>
          </a:stretch>
        </p:blipFill>
        <p:spPr>
          <a:xfrm>
            <a:off x="3555929" y="3646445"/>
            <a:ext cx="8078722" cy="1945318"/>
          </a:xfrm>
          <a:prstGeom prst="rect">
            <a:avLst/>
          </a:prstGeom>
        </p:spPr>
      </p:pic>
      <p:pic>
        <p:nvPicPr>
          <p:cNvPr id="12" name="Picture 11">
            <a:extLst>
              <a:ext uri="{FF2B5EF4-FFF2-40B4-BE49-F238E27FC236}">
                <a16:creationId xmlns:a16="http://schemas.microsoft.com/office/drawing/2014/main" id="{A500C1E9-76ED-3522-7799-16D2135ED890}"/>
              </a:ext>
            </a:extLst>
          </p:cNvPr>
          <p:cNvPicPr>
            <a:picLocks noChangeAspect="1"/>
          </p:cNvPicPr>
          <p:nvPr/>
        </p:nvPicPr>
        <p:blipFill>
          <a:blip r:embed="rId8"/>
          <a:stretch>
            <a:fillRect/>
          </a:stretch>
        </p:blipFill>
        <p:spPr>
          <a:xfrm>
            <a:off x="1417960" y="3351095"/>
            <a:ext cx="1244558" cy="228359"/>
          </a:xfrm>
          <a:prstGeom prst="rect">
            <a:avLst/>
          </a:prstGeom>
        </p:spPr>
      </p:pic>
      <p:pic>
        <p:nvPicPr>
          <p:cNvPr id="15" name="Picture 14">
            <a:extLst>
              <a:ext uri="{FF2B5EF4-FFF2-40B4-BE49-F238E27FC236}">
                <a16:creationId xmlns:a16="http://schemas.microsoft.com/office/drawing/2014/main" id="{8D6E6934-9A38-92C9-87AD-E18DA78E5A2A}"/>
              </a:ext>
            </a:extLst>
          </p:cNvPr>
          <p:cNvPicPr>
            <a:picLocks noChangeAspect="1"/>
          </p:cNvPicPr>
          <p:nvPr/>
        </p:nvPicPr>
        <p:blipFill>
          <a:blip r:embed="rId9"/>
          <a:stretch>
            <a:fillRect/>
          </a:stretch>
        </p:blipFill>
        <p:spPr>
          <a:xfrm>
            <a:off x="4285272" y="3336008"/>
            <a:ext cx="1244558" cy="258531"/>
          </a:xfrm>
          <a:prstGeom prst="rect">
            <a:avLst/>
          </a:prstGeom>
        </p:spPr>
      </p:pic>
      <p:pic>
        <p:nvPicPr>
          <p:cNvPr id="17" name="Picture 16">
            <a:extLst>
              <a:ext uri="{FF2B5EF4-FFF2-40B4-BE49-F238E27FC236}">
                <a16:creationId xmlns:a16="http://schemas.microsoft.com/office/drawing/2014/main" id="{8242E20B-A8A2-CFB9-7900-6406AAED0444}"/>
              </a:ext>
            </a:extLst>
          </p:cNvPr>
          <p:cNvPicPr>
            <a:picLocks noChangeAspect="1"/>
          </p:cNvPicPr>
          <p:nvPr/>
        </p:nvPicPr>
        <p:blipFill>
          <a:blip r:embed="rId10"/>
          <a:stretch>
            <a:fillRect/>
          </a:stretch>
        </p:blipFill>
        <p:spPr>
          <a:xfrm>
            <a:off x="7029140" y="3336008"/>
            <a:ext cx="1309548" cy="247427"/>
          </a:xfrm>
          <a:prstGeom prst="rect">
            <a:avLst/>
          </a:prstGeom>
        </p:spPr>
      </p:pic>
      <p:pic>
        <p:nvPicPr>
          <p:cNvPr id="19" name="Picture 18">
            <a:extLst>
              <a:ext uri="{FF2B5EF4-FFF2-40B4-BE49-F238E27FC236}">
                <a16:creationId xmlns:a16="http://schemas.microsoft.com/office/drawing/2014/main" id="{91C2785D-7988-6B02-3804-C88314830824}"/>
              </a:ext>
            </a:extLst>
          </p:cNvPr>
          <p:cNvPicPr>
            <a:picLocks noChangeAspect="1"/>
          </p:cNvPicPr>
          <p:nvPr/>
        </p:nvPicPr>
        <p:blipFill>
          <a:blip r:embed="rId11"/>
          <a:stretch>
            <a:fillRect/>
          </a:stretch>
        </p:blipFill>
        <p:spPr>
          <a:xfrm>
            <a:off x="9797800" y="3351095"/>
            <a:ext cx="1244558" cy="246507"/>
          </a:xfrm>
          <a:prstGeom prst="rect">
            <a:avLst/>
          </a:prstGeom>
        </p:spPr>
      </p:pic>
      <p:pic>
        <p:nvPicPr>
          <p:cNvPr id="18" name="Picture 17">
            <a:extLst>
              <a:ext uri="{FF2B5EF4-FFF2-40B4-BE49-F238E27FC236}">
                <a16:creationId xmlns:a16="http://schemas.microsoft.com/office/drawing/2014/main" id="{C84074F6-4EF5-8C4B-05FF-086E5D1EC15E}"/>
              </a:ext>
            </a:extLst>
          </p:cNvPr>
          <p:cNvPicPr>
            <a:picLocks noChangeAspect="1"/>
          </p:cNvPicPr>
          <p:nvPr/>
        </p:nvPicPr>
        <p:blipFill>
          <a:blip r:embed="rId12"/>
          <a:stretch>
            <a:fillRect/>
          </a:stretch>
        </p:blipFill>
        <p:spPr>
          <a:xfrm>
            <a:off x="244627" y="1572468"/>
            <a:ext cx="4662370" cy="1666671"/>
          </a:xfrm>
          <a:prstGeom prst="rect">
            <a:avLst/>
          </a:prstGeom>
        </p:spPr>
      </p:pic>
      <p:sp>
        <p:nvSpPr>
          <p:cNvPr id="20" name="Rectangle 19">
            <a:extLst>
              <a:ext uri="{FF2B5EF4-FFF2-40B4-BE49-F238E27FC236}">
                <a16:creationId xmlns:a16="http://schemas.microsoft.com/office/drawing/2014/main" id="{184978D7-70C0-5955-C8D8-70750BDF9DF0}"/>
              </a:ext>
            </a:extLst>
          </p:cNvPr>
          <p:cNvSpPr/>
          <p:nvPr/>
        </p:nvSpPr>
        <p:spPr>
          <a:xfrm>
            <a:off x="7875968" y="4619104"/>
            <a:ext cx="445273" cy="4733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Rectangle 20">
            <a:extLst>
              <a:ext uri="{FF2B5EF4-FFF2-40B4-BE49-F238E27FC236}">
                <a16:creationId xmlns:a16="http://schemas.microsoft.com/office/drawing/2014/main" id="{85488290-ED4C-6C25-E18C-F7D36E7F2907}"/>
              </a:ext>
            </a:extLst>
          </p:cNvPr>
          <p:cNvSpPr/>
          <p:nvPr/>
        </p:nvSpPr>
        <p:spPr>
          <a:xfrm>
            <a:off x="3624494" y="2152655"/>
            <a:ext cx="221143" cy="2350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Rectangle 21">
            <a:extLst>
              <a:ext uri="{FF2B5EF4-FFF2-40B4-BE49-F238E27FC236}">
                <a16:creationId xmlns:a16="http://schemas.microsoft.com/office/drawing/2014/main" id="{C067A3F7-854B-0EA2-59A4-53F06B6E5971}"/>
              </a:ext>
            </a:extLst>
          </p:cNvPr>
          <p:cNvSpPr/>
          <p:nvPr/>
        </p:nvSpPr>
        <p:spPr>
          <a:xfrm>
            <a:off x="6589598" y="2171667"/>
            <a:ext cx="151076" cy="1970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21D2F4F2-B19E-D22C-F11F-74C78FCAE152}"/>
                  </a:ext>
                </a:extLst>
              </p:cNvPr>
              <p:cNvSpPr txBox="1"/>
              <p:nvPr/>
            </p:nvSpPr>
            <p:spPr>
              <a:xfrm>
                <a:off x="5170536" y="2691695"/>
                <a:ext cx="5133397" cy="461665"/>
              </a:xfrm>
              <a:prstGeom prst="rect">
                <a:avLst/>
              </a:prstGeom>
              <a:noFill/>
              <a:ln>
                <a:solidFill>
                  <a:srgbClr val="FF0000"/>
                </a:solidFill>
              </a:ln>
            </p:spPr>
            <p:txBody>
              <a:bodyPr wrap="square" rtlCol="0">
                <a:spAutoFit/>
              </a:bodyPr>
              <a:lstStyle/>
              <a:p>
                <a:r>
                  <a:rPr kumimoji="1" lang="en-US" altLang="zh-TW" sz="2400" dirty="0">
                    <a:latin typeface="Times New Roman" panose="02020603050405020304" pitchFamily="18" charset="0"/>
                    <a:cs typeface="Times New Roman" panose="02020603050405020304" pitchFamily="18" charset="0"/>
                  </a:rPr>
                  <a:t>A[1, 2, </a:t>
                </a:r>
                <a14:m>
                  <m:oMath xmlns:m="http://schemas.openxmlformats.org/officeDocument/2006/math">
                    <m:sSub>
                      <m:sSubPr>
                        <m:ctrlPr>
                          <a:rPr kumimoji="1" lang="en-US" altLang="zh-TW" sz="2400">
                            <a:latin typeface="Times New Roman" panose="02020603050405020304" pitchFamily="18" charset="0"/>
                            <a:cs typeface="Times New Roman" panose="02020603050405020304" pitchFamily="18" charset="0"/>
                          </a:rPr>
                        </m:ctrlPr>
                      </m:sSubPr>
                      <m:e>
                        <m:r>
                          <m:rPr>
                            <m:sty m:val="p"/>
                          </m:rPr>
                          <a:rPr kumimoji="1" lang="en-US" altLang="zh-TW" sz="2400" b="0" i="0" smtClean="0">
                            <a:latin typeface="Cambria Math" panose="02040503050406030204" pitchFamily="18" charset="0"/>
                            <a:cs typeface="Times New Roman" panose="02020603050405020304" pitchFamily="18" charset="0"/>
                          </a:rPr>
                          <m:t>p</m:t>
                        </m:r>
                      </m:e>
                      <m:sub>
                        <m:r>
                          <a:rPr kumimoji="1" lang="en-US" altLang="zh-TW" sz="2400">
                            <a:latin typeface="Times New Roman" panose="02020603050405020304" pitchFamily="18" charset="0"/>
                            <a:cs typeface="Times New Roman" panose="02020603050405020304" pitchFamily="18" charset="0"/>
                          </a:rPr>
                          <m:t>𝑖𝑛𝑑</m:t>
                        </m:r>
                      </m:sub>
                    </m:sSub>
                  </m:oMath>
                </a14:m>
                <a:r>
                  <a:rPr kumimoji="1" lang="en-US" altLang="zh-TW" sz="2400" dirty="0">
                    <a:latin typeface="Times New Roman" panose="02020603050405020304" pitchFamily="18" charset="0"/>
                    <a:cs typeface="Times New Roman" panose="02020603050405020304" pitchFamily="18" charset="0"/>
                  </a:rPr>
                  <a:t>]= 0 =&gt; A[1-1, 2,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a:latin typeface="Cambria Math" panose="02040503050406030204" pitchFamily="18" charset="0"/>
                            <a:cs typeface="Times New Roman" panose="02020603050405020304" pitchFamily="18" charset="0"/>
                          </a:rPr>
                          <m:t>𝑝</m:t>
                        </m:r>
                      </m:e>
                      <m:sub>
                        <m:r>
                          <a:rPr kumimoji="1" lang="en-US" altLang="zh-TW" sz="2400">
                            <a:latin typeface="Cambria Math" panose="02040503050406030204" pitchFamily="18" charset="0"/>
                            <a:cs typeface="Times New Roman" panose="02020603050405020304" pitchFamily="18" charset="0"/>
                          </a:rPr>
                          <m:t>𝑖𝑛𝑑</m:t>
                        </m:r>
                      </m:sub>
                    </m:sSub>
                  </m:oMath>
                </a14:m>
                <a:r>
                  <a:rPr kumimoji="1" lang="en-US" altLang="zh-TW" sz="2400" dirty="0">
                    <a:latin typeface="Times New Roman" panose="02020603050405020304" pitchFamily="18" charset="0"/>
                    <a:cs typeface="Times New Roman" panose="02020603050405020304" pitchFamily="18" charset="0"/>
                  </a:rPr>
                  <a:t>|</a:t>
                </a:r>
                <a:r>
                  <a:rPr kumimoji="1" lang="en-US" altLang="zh-TW" sz="2400" dirty="0">
                    <a:cs typeface="Times New Roman" panose="02020603050405020304" pitchFamily="18" charset="0"/>
                  </a:rPr>
                  <a:t>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𝑡</m:t>
                        </m:r>
                      </m:e>
                      <m:sub>
                        <m:r>
                          <a:rPr kumimoji="1" lang="en-US" altLang="zh-TW" sz="2400">
                            <a:latin typeface="Cambria Math" panose="02040503050406030204" pitchFamily="18" charset="0"/>
                            <a:cs typeface="Times New Roman" panose="02020603050405020304" pitchFamily="18" charset="0"/>
                          </a:rPr>
                          <m:t>𝑖𝑛𝑑</m:t>
                        </m:r>
                      </m:sub>
                    </m:sSub>
                  </m:oMath>
                </a14:m>
                <a:r>
                  <a:rPr kumimoji="1" lang="en-US" altLang="zh-TW" sz="2400" dirty="0">
                    <a:latin typeface="Times New Roman" panose="02020603050405020304" pitchFamily="18" charset="0"/>
                    <a:cs typeface="Times New Roman" panose="02020603050405020304" pitchFamily="18" charset="0"/>
                  </a:rPr>
                  <a:t>]</a:t>
                </a:r>
                <a:endParaRPr kumimoji="1" lang="zh-TW" altLang="en-US" sz="2400" dirty="0">
                  <a:latin typeface="Times New Roman" panose="02020603050405020304" pitchFamily="18" charset="0"/>
                  <a:cs typeface="Times New Roman" panose="02020603050405020304" pitchFamily="18" charset="0"/>
                </a:endParaRPr>
              </a:p>
            </p:txBody>
          </p:sp>
        </mc:Choice>
        <mc:Fallback>
          <p:sp>
            <p:nvSpPr>
              <p:cNvPr id="8" name="TextBox 7">
                <a:extLst>
                  <a:ext uri="{FF2B5EF4-FFF2-40B4-BE49-F238E27FC236}">
                    <a16:creationId xmlns:a16="http://schemas.microsoft.com/office/drawing/2014/main" id="{21D2F4F2-B19E-D22C-F11F-74C78FCAE152}"/>
                  </a:ext>
                </a:extLst>
              </p:cNvPr>
              <p:cNvSpPr txBox="1">
                <a:spLocks noRot="1" noChangeAspect="1" noMove="1" noResize="1" noEditPoints="1" noAdjustHandles="1" noChangeArrowheads="1" noChangeShapeType="1" noTextEdit="1"/>
              </p:cNvSpPr>
              <p:nvPr/>
            </p:nvSpPr>
            <p:spPr>
              <a:xfrm>
                <a:off x="5170536" y="2691695"/>
                <a:ext cx="5133397" cy="461665"/>
              </a:xfrm>
              <a:prstGeom prst="rect">
                <a:avLst/>
              </a:prstGeom>
              <a:blipFill>
                <a:blip r:embed="rId13"/>
                <a:stretch>
                  <a:fillRect l="-1659" t="-10390" r="-474" b="-27273"/>
                </a:stretch>
              </a:blipFill>
              <a:ln>
                <a:solidFill>
                  <a:srgbClr val="FF0000"/>
                </a:solidFill>
              </a:ln>
            </p:spPr>
            <p:txBody>
              <a:bodyPr/>
              <a:lstStyle/>
              <a:p>
                <a:r>
                  <a:rPr lang="zh-TW" altLang="en-US">
                    <a:noFill/>
                  </a:rPr>
                  <a:t> </a:t>
                </a:r>
              </a:p>
            </p:txBody>
          </p:sp>
        </mc:Fallback>
      </mc:AlternateContent>
    </p:spTree>
    <p:extLst>
      <p:ext uri="{BB962C8B-B14F-4D97-AF65-F5344CB8AC3E}">
        <p14:creationId xmlns:p14="http://schemas.microsoft.com/office/powerpoint/2010/main" val="88086303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Alternate-</a:t>
            </a:r>
            <a:r>
              <a:rPr kumimoji="1" lang="el-GR" altLang="zh-TW" sz="3200" b="1" dirty="0">
                <a:latin typeface="Times New Roman" panose="02020603050405020304" pitchFamily="18" charset="0"/>
                <a:cs typeface="Times New Roman" panose="02020603050405020304" pitchFamily="18" charset="0"/>
              </a:rPr>
              <a:t>μ</a:t>
            </a:r>
            <a:r>
              <a:rPr kumimoji="1" lang="en-US" altLang="zh-TW" sz="3200" b="1" dirty="0">
                <a:latin typeface="Times New Roman" panose="02020603050405020304" pitchFamily="18" charset="0"/>
                <a:cs typeface="Times New Roman" panose="02020603050405020304" pitchFamily="18" charset="0"/>
              </a:rPr>
              <a:t>OPPM</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15</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203936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en-US" altLang="zh-TW"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AEBA9E3-4433-59C3-553C-DA0DDED4C351}"/>
              </a:ext>
            </a:extLst>
          </p:cNvPr>
          <p:cNvPicPr>
            <a:picLocks noChangeAspect="1"/>
          </p:cNvPicPr>
          <p:nvPr/>
        </p:nvPicPr>
        <p:blipFill>
          <a:blip r:embed="rId3"/>
          <a:stretch>
            <a:fillRect/>
          </a:stretch>
        </p:blipFill>
        <p:spPr>
          <a:xfrm>
            <a:off x="5141726" y="1695338"/>
            <a:ext cx="2865267" cy="821456"/>
          </a:xfrm>
          <a:prstGeom prst="rect">
            <a:avLst/>
          </a:prstGeom>
        </p:spPr>
      </p:pic>
      <p:pic>
        <p:nvPicPr>
          <p:cNvPr id="13" name="Picture 12">
            <a:extLst>
              <a:ext uri="{FF2B5EF4-FFF2-40B4-BE49-F238E27FC236}">
                <a16:creationId xmlns:a16="http://schemas.microsoft.com/office/drawing/2014/main" id="{0B14D93D-B822-5C74-3A0D-D2DE6F11664D}"/>
              </a:ext>
            </a:extLst>
          </p:cNvPr>
          <p:cNvPicPr>
            <a:picLocks noChangeAspect="1"/>
          </p:cNvPicPr>
          <p:nvPr/>
        </p:nvPicPr>
        <p:blipFill>
          <a:blip r:embed="rId4"/>
          <a:stretch>
            <a:fillRect/>
          </a:stretch>
        </p:blipFill>
        <p:spPr>
          <a:xfrm>
            <a:off x="8098604" y="1672241"/>
            <a:ext cx="3494839" cy="844553"/>
          </a:xfrm>
          <a:prstGeom prst="rect">
            <a:avLst/>
          </a:prstGeom>
        </p:spPr>
      </p:pic>
      <p:pic>
        <p:nvPicPr>
          <p:cNvPr id="7" name="Picture 6">
            <a:extLst>
              <a:ext uri="{FF2B5EF4-FFF2-40B4-BE49-F238E27FC236}">
                <a16:creationId xmlns:a16="http://schemas.microsoft.com/office/drawing/2014/main" id="{D38C5C16-F473-EE15-1D18-9A7C9CEB5F8C}"/>
              </a:ext>
            </a:extLst>
          </p:cNvPr>
          <p:cNvPicPr>
            <a:picLocks noChangeAspect="1"/>
          </p:cNvPicPr>
          <p:nvPr/>
        </p:nvPicPr>
        <p:blipFill>
          <a:blip r:embed="rId5"/>
          <a:stretch>
            <a:fillRect/>
          </a:stretch>
        </p:blipFill>
        <p:spPr>
          <a:xfrm>
            <a:off x="5901412" y="570605"/>
            <a:ext cx="5733239" cy="1022261"/>
          </a:xfrm>
          <a:prstGeom prst="rect">
            <a:avLst/>
          </a:prstGeom>
        </p:spPr>
      </p:pic>
      <p:pic>
        <p:nvPicPr>
          <p:cNvPr id="4" name="Picture 3">
            <a:extLst>
              <a:ext uri="{FF2B5EF4-FFF2-40B4-BE49-F238E27FC236}">
                <a16:creationId xmlns:a16="http://schemas.microsoft.com/office/drawing/2014/main" id="{DF1F667B-9D11-6E14-CC28-D4F9CFACDB5F}"/>
              </a:ext>
            </a:extLst>
          </p:cNvPr>
          <p:cNvPicPr>
            <a:picLocks noChangeAspect="1"/>
          </p:cNvPicPr>
          <p:nvPr/>
        </p:nvPicPr>
        <p:blipFill>
          <a:blip r:embed="rId6"/>
          <a:stretch>
            <a:fillRect/>
          </a:stretch>
        </p:blipFill>
        <p:spPr>
          <a:xfrm>
            <a:off x="761618" y="3631229"/>
            <a:ext cx="2528705" cy="1945615"/>
          </a:xfrm>
          <a:prstGeom prst="rect">
            <a:avLst/>
          </a:prstGeom>
        </p:spPr>
      </p:pic>
      <p:pic>
        <p:nvPicPr>
          <p:cNvPr id="9" name="Picture 8">
            <a:extLst>
              <a:ext uri="{FF2B5EF4-FFF2-40B4-BE49-F238E27FC236}">
                <a16:creationId xmlns:a16="http://schemas.microsoft.com/office/drawing/2014/main" id="{BB331461-C6AB-FBCF-DF28-D713F1C94E49}"/>
              </a:ext>
            </a:extLst>
          </p:cNvPr>
          <p:cNvPicPr>
            <a:picLocks noChangeAspect="1"/>
          </p:cNvPicPr>
          <p:nvPr/>
        </p:nvPicPr>
        <p:blipFill>
          <a:blip r:embed="rId7"/>
          <a:stretch>
            <a:fillRect/>
          </a:stretch>
        </p:blipFill>
        <p:spPr>
          <a:xfrm>
            <a:off x="3555929" y="3615623"/>
            <a:ext cx="8078722" cy="1945318"/>
          </a:xfrm>
          <a:prstGeom prst="rect">
            <a:avLst/>
          </a:prstGeom>
        </p:spPr>
      </p:pic>
      <p:pic>
        <p:nvPicPr>
          <p:cNvPr id="12" name="Picture 11">
            <a:extLst>
              <a:ext uri="{FF2B5EF4-FFF2-40B4-BE49-F238E27FC236}">
                <a16:creationId xmlns:a16="http://schemas.microsoft.com/office/drawing/2014/main" id="{A500C1E9-76ED-3522-7799-16D2135ED890}"/>
              </a:ext>
            </a:extLst>
          </p:cNvPr>
          <p:cNvPicPr>
            <a:picLocks noChangeAspect="1"/>
          </p:cNvPicPr>
          <p:nvPr/>
        </p:nvPicPr>
        <p:blipFill>
          <a:blip r:embed="rId8"/>
          <a:stretch>
            <a:fillRect/>
          </a:stretch>
        </p:blipFill>
        <p:spPr>
          <a:xfrm>
            <a:off x="1417960" y="3320273"/>
            <a:ext cx="1244558" cy="228359"/>
          </a:xfrm>
          <a:prstGeom prst="rect">
            <a:avLst/>
          </a:prstGeom>
        </p:spPr>
      </p:pic>
      <p:pic>
        <p:nvPicPr>
          <p:cNvPr id="15" name="Picture 14">
            <a:extLst>
              <a:ext uri="{FF2B5EF4-FFF2-40B4-BE49-F238E27FC236}">
                <a16:creationId xmlns:a16="http://schemas.microsoft.com/office/drawing/2014/main" id="{8D6E6934-9A38-92C9-87AD-E18DA78E5A2A}"/>
              </a:ext>
            </a:extLst>
          </p:cNvPr>
          <p:cNvPicPr>
            <a:picLocks noChangeAspect="1"/>
          </p:cNvPicPr>
          <p:nvPr/>
        </p:nvPicPr>
        <p:blipFill>
          <a:blip r:embed="rId9"/>
          <a:stretch>
            <a:fillRect/>
          </a:stretch>
        </p:blipFill>
        <p:spPr>
          <a:xfrm>
            <a:off x="4285272" y="3305186"/>
            <a:ext cx="1244558" cy="258531"/>
          </a:xfrm>
          <a:prstGeom prst="rect">
            <a:avLst/>
          </a:prstGeom>
        </p:spPr>
      </p:pic>
      <p:pic>
        <p:nvPicPr>
          <p:cNvPr id="17" name="Picture 16">
            <a:extLst>
              <a:ext uri="{FF2B5EF4-FFF2-40B4-BE49-F238E27FC236}">
                <a16:creationId xmlns:a16="http://schemas.microsoft.com/office/drawing/2014/main" id="{8242E20B-A8A2-CFB9-7900-6406AAED0444}"/>
              </a:ext>
            </a:extLst>
          </p:cNvPr>
          <p:cNvPicPr>
            <a:picLocks noChangeAspect="1"/>
          </p:cNvPicPr>
          <p:nvPr/>
        </p:nvPicPr>
        <p:blipFill>
          <a:blip r:embed="rId10"/>
          <a:stretch>
            <a:fillRect/>
          </a:stretch>
        </p:blipFill>
        <p:spPr>
          <a:xfrm>
            <a:off x="7029140" y="3305186"/>
            <a:ext cx="1309548" cy="247427"/>
          </a:xfrm>
          <a:prstGeom prst="rect">
            <a:avLst/>
          </a:prstGeom>
        </p:spPr>
      </p:pic>
      <p:pic>
        <p:nvPicPr>
          <p:cNvPr id="19" name="Picture 18">
            <a:extLst>
              <a:ext uri="{FF2B5EF4-FFF2-40B4-BE49-F238E27FC236}">
                <a16:creationId xmlns:a16="http://schemas.microsoft.com/office/drawing/2014/main" id="{91C2785D-7988-6B02-3804-C88314830824}"/>
              </a:ext>
            </a:extLst>
          </p:cNvPr>
          <p:cNvPicPr>
            <a:picLocks noChangeAspect="1"/>
          </p:cNvPicPr>
          <p:nvPr/>
        </p:nvPicPr>
        <p:blipFill>
          <a:blip r:embed="rId11"/>
          <a:stretch>
            <a:fillRect/>
          </a:stretch>
        </p:blipFill>
        <p:spPr>
          <a:xfrm>
            <a:off x="9797800" y="3320273"/>
            <a:ext cx="1244558" cy="246507"/>
          </a:xfrm>
          <a:prstGeom prst="rect">
            <a:avLst/>
          </a:prstGeom>
        </p:spPr>
      </p:pic>
      <p:pic>
        <p:nvPicPr>
          <p:cNvPr id="18" name="Picture 17">
            <a:extLst>
              <a:ext uri="{FF2B5EF4-FFF2-40B4-BE49-F238E27FC236}">
                <a16:creationId xmlns:a16="http://schemas.microsoft.com/office/drawing/2014/main" id="{C84074F6-4EF5-8C4B-05FF-086E5D1EC15E}"/>
              </a:ext>
            </a:extLst>
          </p:cNvPr>
          <p:cNvPicPr>
            <a:picLocks noChangeAspect="1"/>
          </p:cNvPicPr>
          <p:nvPr/>
        </p:nvPicPr>
        <p:blipFill>
          <a:blip r:embed="rId12"/>
          <a:stretch>
            <a:fillRect/>
          </a:stretch>
        </p:blipFill>
        <p:spPr>
          <a:xfrm>
            <a:off x="244627" y="1541646"/>
            <a:ext cx="4662370" cy="1666671"/>
          </a:xfrm>
          <a:prstGeom prst="rect">
            <a:avLst/>
          </a:prstGeom>
        </p:spPr>
      </p:pic>
      <p:sp>
        <p:nvSpPr>
          <p:cNvPr id="20" name="Rectangle 19">
            <a:extLst>
              <a:ext uri="{FF2B5EF4-FFF2-40B4-BE49-F238E27FC236}">
                <a16:creationId xmlns:a16="http://schemas.microsoft.com/office/drawing/2014/main" id="{184978D7-70C0-5955-C8D8-70750BDF9DF0}"/>
              </a:ext>
            </a:extLst>
          </p:cNvPr>
          <p:cNvSpPr/>
          <p:nvPr/>
        </p:nvSpPr>
        <p:spPr>
          <a:xfrm>
            <a:off x="5080782" y="4093053"/>
            <a:ext cx="445273" cy="4733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Rectangle 20">
            <a:extLst>
              <a:ext uri="{FF2B5EF4-FFF2-40B4-BE49-F238E27FC236}">
                <a16:creationId xmlns:a16="http://schemas.microsoft.com/office/drawing/2014/main" id="{85488290-ED4C-6C25-E18C-F7D36E7F2907}"/>
              </a:ext>
            </a:extLst>
          </p:cNvPr>
          <p:cNvSpPr/>
          <p:nvPr/>
        </p:nvSpPr>
        <p:spPr>
          <a:xfrm>
            <a:off x="3569037" y="2713571"/>
            <a:ext cx="221143" cy="2350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Rectangle 21">
            <a:extLst>
              <a:ext uri="{FF2B5EF4-FFF2-40B4-BE49-F238E27FC236}">
                <a16:creationId xmlns:a16="http://schemas.microsoft.com/office/drawing/2014/main" id="{C067A3F7-854B-0EA2-59A4-53F06B6E5971}"/>
              </a:ext>
            </a:extLst>
          </p:cNvPr>
          <p:cNvSpPr/>
          <p:nvPr/>
        </p:nvSpPr>
        <p:spPr>
          <a:xfrm>
            <a:off x="10119978" y="2297811"/>
            <a:ext cx="151076" cy="1970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B30FDCDF-1F86-DDA6-059F-74FF28CEA0ED}"/>
                  </a:ext>
                </a:extLst>
              </p:cNvPr>
              <p:cNvSpPr txBox="1"/>
              <p:nvPr/>
            </p:nvSpPr>
            <p:spPr>
              <a:xfrm>
                <a:off x="5170536" y="2691695"/>
                <a:ext cx="5133397" cy="461665"/>
              </a:xfrm>
              <a:prstGeom prst="rect">
                <a:avLst/>
              </a:prstGeom>
              <a:noFill/>
              <a:ln>
                <a:solidFill>
                  <a:srgbClr val="FF0000"/>
                </a:solidFill>
              </a:ln>
            </p:spPr>
            <p:txBody>
              <a:bodyPr wrap="square" rtlCol="0">
                <a:spAutoFit/>
              </a:bodyPr>
              <a:lstStyle/>
              <a:p>
                <a:r>
                  <a:rPr kumimoji="1" lang="en-US" altLang="zh-TW" sz="2400" dirty="0">
                    <a:latin typeface="Times New Roman" panose="02020603050405020304" pitchFamily="18" charset="0"/>
                    <a:cs typeface="Times New Roman" panose="02020603050405020304" pitchFamily="18" charset="0"/>
                  </a:rPr>
                  <a:t>A[0, 2, </a:t>
                </a:r>
                <a14:m>
                  <m:oMath xmlns:m="http://schemas.openxmlformats.org/officeDocument/2006/math">
                    <m:sSub>
                      <m:sSubPr>
                        <m:ctrlPr>
                          <a:rPr kumimoji="1" lang="en-US" altLang="zh-TW" sz="2400">
                            <a:latin typeface="Times New Roman" panose="02020603050405020304" pitchFamily="18" charset="0"/>
                            <a:cs typeface="Times New Roman" panose="02020603050405020304" pitchFamily="18" charset="0"/>
                          </a:rPr>
                        </m:ctrlPr>
                      </m:sSubPr>
                      <m:e>
                        <m:r>
                          <m:rPr>
                            <m:sty m:val="p"/>
                          </m:rPr>
                          <a:rPr kumimoji="1" lang="en-US" altLang="zh-TW" sz="2400" b="0" i="0" smtClean="0">
                            <a:latin typeface="Cambria Math" panose="02040503050406030204" pitchFamily="18" charset="0"/>
                            <a:cs typeface="Times New Roman" panose="02020603050405020304" pitchFamily="18" charset="0"/>
                          </a:rPr>
                          <m:t>t</m:t>
                        </m:r>
                      </m:e>
                      <m:sub>
                        <m:r>
                          <a:rPr kumimoji="1" lang="en-US" altLang="zh-TW" sz="2400">
                            <a:latin typeface="Times New Roman" panose="02020603050405020304" pitchFamily="18" charset="0"/>
                            <a:cs typeface="Times New Roman" panose="02020603050405020304" pitchFamily="18" charset="0"/>
                          </a:rPr>
                          <m:t>𝑖𝑛𝑑</m:t>
                        </m:r>
                      </m:sub>
                    </m:sSub>
                  </m:oMath>
                </a14:m>
                <a:r>
                  <a:rPr kumimoji="1" lang="en-US" altLang="zh-TW" sz="2400" dirty="0">
                    <a:latin typeface="Times New Roman" panose="02020603050405020304" pitchFamily="18" charset="0"/>
                    <a:cs typeface="Times New Roman" panose="02020603050405020304" pitchFamily="18" charset="0"/>
                  </a:rPr>
                  <a:t>]= 0 =&gt; A[0, 2-1,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a:latin typeface="Cambria Math" panose="02040503050406030204" pitchFamily="18" charset="0"/>
                            <a:cs typeface="Times New Roman" panose="02020603050405020304" pitchFamily="18" charset="0"/>
                          </a:rPr>
                          <m:t>𝑝</m:t>
                        </m:r>
                      </m:e>
                      <m:sub>
                        <m:r>
                          <a:rPr kumimoji="1" lang="en-US" altLang="zh-TW" sz="2400">
                            <a:latin typeface="Cambria Math" panose="02040503050406030204" pitchFamily="18" charset="0"/>
                            <a:cs typeface="Times New Roman" panose="02020603050405020304" pitchFamily="18" charset="0"/>
                          </a:rPr>
                          <m:t>𝑖𝑛𝑑</m:t>
                        </m:r>
                      </m:sub>
                    </m:sSub>
                  </m:oMath>
                </a14:m>
                <a:r>
                  <a:rPr kumimoji="1" lang="en-US" altLang="zh-TW" sz="2400" dirty="0">
                    <a:latin typeface="Times New Roman" panose="02020603050405020304" pitchFamily="18" charset="0"/>
                    <a:cs typeface="Times New Roman" panose="02020603050405020304" pitchFamily="18" charset="0"/>
                  </a:rPr>
                  <a:t>|</a:t>
                </a:r>
                <a:r>
                  <a:rPr kumimoji="1" lang="en-US" altLang="zh-TW" sz="2400" dirty="0">
                    <a:cs typeface="Times New Roman" panose="02020603050405020304" pitchFamily="18" charset="0"/>
                  </a:rPr>
                  <a:t>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𝑡</m:t>
                        </m:r>
                      </m:e>
                      <m:sub>
                        <m:r>
                          <a:rPr kumimoji="1" lang="en-US" altLang="zh-TW" sz="2400">
                            <a:latin typeface="Cambria Math" panose="02040503050406030204" pitchFamily="18" charset="0"/>
                            <a:cs typeface="Times New Roman" panose="02020603050405020304" pitchFamily="18" charset="0"/>
                          </a:rPr>
                          <m:t>𝑖𝑛𝑑</m:t>
                        </m:r>
                      </m:sub>
                    </m:sSub>
                  </m:oMath>
                </a14:m>
                <a:r>
                  <a:rPr kumimoji="1" lang="en-US" altLang="zh-TW" sz="2400" dirty="0">
                    <a:latin typeface="Times New Roman" panose="02020603050405020304" pitchFamily="18" charset="0"/>
                    <a:cs typeface="Times New Roman" panose="02020603050405020304" pitchFamily="18" charset="0"/>
                  </a:rPr>
                  <a:t>]</a:t>
                </a:r>
                <a:endParaRPr kumimoji="1" lang="zh-TW" altLang="en-US" sz="2400" dirty="0">
                  <a:latin typeface="Times New Roman" panose="02020603050405020304" pitchFamily="18" charset="0"/>
                  <a:cs typeface="Times New Roman" panose="02020603050405020304" pitchFamily="18" charset="0"/>
                </a:endParaRPr>
              </a:p>
            </p:txBody>
          </p:sp>
        </mc:Choice>
        <mc:Fallback>
          <p:sp>
            <p:nvSpPr>
              <p:cNvPr id="3" name="TextBox 2">
                <a:extLst>
                  <a:ext uri="{FF2B5EF4-FFF2-40B4-BE49-F238E27FC236}">
                    <a16:creationId xmlns:a16="http://schemas.microsoft.com/office/drawing/2014/main" id="{B30FDCDF-1F86-DDA6-059F-74FF28CEA0ED}"/>
                  </a:ext>
                </a:extLst>
              </p:cNvPr>
              <p:cNvSpPr txBox="1">
                <a:spLocks noRot="1" noChangeAspect="1" noMove="1" noResize="1" noEditPoints="1" noAdjustHandles="1" noChangeArrowheads="1" noChangeShapeType="1" noTextEdit="1"/>
              </p:cNvSpPr>
              <p:nvPr/>
            </p:nvSpPr>
            <p:spPr>
              <a:xfrm>
                <a:off x="5170536" y="2691695"/>
                <a:ext cx="5133397" cy="461665"/>
              </a:xfrm>
              <a:prstGeom prst="rect">
                <a:avLst/>
              </a:prstGeom>
              <a:blipFill>
                <a:blip r:embed="rId13"/>
                <a:stretch>
                  <a:fillRect l="-1659" t="-10390" b="-27273"/>
                </a:stretch>
              </a:blipFill>
              <a:ln>
                <a:solidFill>
                  <a:srgbClr val="FF0000"/>
                </a:solidFill>
              </a:ln>
            </p:spPr>
            <p:txBody>
              <a:bodyPr/>
              <a:lstStyle/>
              <a:p>
                <a:r>
                  <a:rPr lang="zh-TW" altLang="en-US">
                    <a:noFill/>
                  </a:rPr>
                  <a:t> </a:t>
                </a:r>
              </a:p>
            </p:txBody>
          </p:sp>
        </mc:Fallback>
      </mc:AlternateContent>
    </p:spTree>
    <p:extLst>
      <p:ext uri="{BB962C8B-B14F-4D97-AF65-F5344CB8AC3E}">
        <p14:creationId xmlns:p14="http://schemas.microsoft.com/office/powerpoint/2010/main" val="350847903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Alternate-</a:t>
            </a:r>
            <a:r>
              <a:rPr kumimoji="1" lang="el-GR" altLang="zh-TW" sz="3200" b="1" dirty="0">
                <a:latin typeface="Times New Roman" panose="02020603050405020304" pitchFamily="18" charset="0"/>
                <a:cs typeface="Times New Roman" panose="02020603050405020304" pitchFamily="18" charset="0"/>
              </a:rPr>
              <a:t>μ</a:t>
            </a:r>
            <a:r>
              <a:rPr kumimoji="1" lang="en-US" altLang="zh-TW" sz="3200" b="1" dirty="0">
                <a:latin typeface="Times New Roman" panose="02020603050405020304" pitchFamily="18" charset="0"/>
                <a:cs typeface="Times New Roman" panose="02020603050405020304" pitchFamily="18" charset="0"/>
              </a:rPr>
              <a:t>OPPM</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16</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en-US" altLang="zh-TW"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AEBA9E3-4433-59C3-553C-DA0DDED4C351}"/>
              </a:ext>
            </a:extLst>
          </p:cNvPr>
          <p:cNvPicPr>
            <a:picLocks noChangeAspect="1"/>
          </p:cNvPicPr>
          <p:nvPr/>
        </p:nvPicPr>
        <p:blipFill>
          <a:blip r:embed="rId3"/>
          <a:stretch>
            <a:fillRect/>
          </a:stretch>
        </p:blipFill>
        <p:spPr>
          <a:xfrm>
            <a:off x="5141726" y="1695338"/>
            <a:ext cx="2865267" cy="821456"/>
          </a:xfrm>
          <a:prstGeom prst="rect">
            <a:avLst/>
          </a:prstGeom>
        </p:spPr>
      </p:pic>
      <p:pic>
        <p:nvPicPr>
          <p:cNvPr id="13" name="Picture 12">
            <a:extLst>
              <a:ext uri="{FF2B5EF4-FFF2-40B4-BE49-F238E27FC236}">
                <a16:creationId xmlns:a16="http://schemas.microsoft.com/office/drawing/2014/main" id="{0B14D93D-B822-5C74-3A0D-D2DE6F11664D}"/>
              </a:ext>
            </a:extLst>
          </p:cNvPr>
          <p:cNvPicPr>
            <a:picLocks noChangeAspect="1"/>
          </p:cNvPicPr>
          <p:nvPr/>
        </p:nvPicPr>
        <p:blipFill>
          <a:blip r:embed="rId4"/>
          <a:stretch>
            <a:fillRect/>
          </a:stretch>
        </p:blipFill>
        <p:spPr>
          <a:xfrm>
            <a:off x="8098604" y="1672241"/>
            <a:ext cx="3494839" cy="844553"/>
          </a:xfrm>
          <a:prstGeom prst="rect">
            <a:avLst/>
          </a:prstGeom>
        </p:spPr>
      </p:pic>
      <p:pic>
        <p:nvPicPr>
          <p:cNvPr id="7" name="Picture 6">
            <a:extLst>
              <a:ext uri="{FF2B5EF4-FFF2-40B4-BE49-F238E27FC236}">
                <a16:creationId xmlns:a16="http://schemas.microsoft.com/office/drawing/2014/main" id="{D38C5C16-F473-EE15-1D18-9A7C9CEB5F8C}"/>
              </a:ext>
            </a:extLst>
          </p:cNvPr>
          <p:cNvPicPr>
            <a:picLocks noChangeAspect="1"/>
          </p:cNvPicPr>
          <p:nvPr/>
        </p:nvPicPr>
        <p:blipFill>
          <a:blip r:embed="rId5"/>
          <a:stretch>
            <a:fillRect/>
          </a:stretch>
        </p:blipFill>
        <p:spPr>
          <a:xfrm>
            <a:off x="5901412" y="570605"/>
            <a:ext cx="5733239" cy="1022261"/>
          </a:xfrm>
          <a:prstGeom prst="rect">
            <a:avLst/>
          </a:prstGeom>
        </p:spPr>
      </p:pic>
      <p:pic>
        <p:nvPicPr>
          <p:cNvPr id="4" name="Picture 3">
            <a:extLst>
              <a:ext uri="{FF2B5EF4-FFF2-40B4-BE49-F238E27FC236}">
                <a16:creationId xmlns:a16="http://schemas.microsoft.com/office/drawing/2014/main" id="{DF1F667B-9D11-6E14-CC28-D4F9CFACDB5F}"/>
              </a:ext>
            </a:extLst>
          </p:cNvPr>
          <p:cNvPicPr>
            <a:picLocks noChangeAspect="1"/>
          </p:cNvPicPr>
          <p:nvPr/>
        </p:nvPicPr>
        <p:blipFill>
          <a:blip r:embed="rId6"/>
          <a:stretch>
            <a:fillRect/>
          </a:stretch>
        </p:blipFill>
        <p:spPr>
          <a:xfrm>
            <a:off x="761618" y="3631229"/>
            <a:ext cx="2528705" cy="1945615"/>
          </a:xfrm>
          <a:prstGeom prst="rect">
            <a:avLst/>
          </a:prstGeom>
        </p:spPr>
      </p:pic>
      <p:pic>
        <p:nvPicPr>
          <p:cNvPr id="9" name="Picture 8">
            <a:extLst>
              <a:ext uri="{FF2B5EF4-FFF2-40B4-BE49-F238E27FC236}">
                <a16:creationId xmlns:a16="http://schemas.microsoft.com/office/drawing/2014/main" id="{BB331461-C6AB-FBCF-DF28-D713F1C94E49}"/>
              </a:ext>
            </a:extLst>
          </p:cNvPr>
          <p:cNvPicPr>
            <a:picLocks noChangeAspect="1"/>
          </p:cNvPicPr>
          <p:nvPr/>
        </p:nvPicPr>
        <p:blipFill>
          <a:blip r:embed="rId7"/>
          <a:stretch>
            <a:fillRect/>
          </a:stretch>
        </p:blipFill>
        <p:spPr>
          <a:xfrm>
            <a:off x="3555929" y="3615623"/>
            <a:ext cx="8078722" cy="1945318"/>
          </a:xfrm>
          <a:prstGeom prst="rect">
            <a:avLst/>
          </a:prstGeom>
        </p:spPr>
      </p:pic>
      <p:pic>
        <p:nvPicPr>
          <p:cNvPr id="12" name="Picture 11">
            <a:extLst>
              <a:ext uri="{FF2B5EF4-FFF2-40B4-BE49-F238E27FC236}">
                <a16:creationId xmlns:a16="http://schemas.microsoft.com/office/drawing/2014/main" id="{A500C1E9-76ED-3522-7799-16D2135ED890}"/>
              </a:ext>
            </a:extLst>
          </p:cNvPr>
          <p:cNvPicPr>
            <a:picLocks noChangeAspect="1"/>
          </p:cNvPicPr>
          <p:nvPr/>
        </p:nvPicPr>
        <p:blipFill>
          <a:blip r:embed="rId8"/>
          <a:stretch>
            <a:fillRect/>
          </a:stretch>
        </p:blipFill>
        <p:spPr>
          <a:xfrm>
            <a:off x="1417960" y="3320273"/>
            <a:ext cx="1244558" cy="228359"/>
          </a:xfrm>
          <a:prstGeom prst="rect">
            <a:avLst/>
          </a:prstGeom>
        </p:spPr>
      </p:pic>
      <p:pic>
        <p:nvPicPr>
          <p:cNvPr id="15" name="Picture 14">
            <a:extLst>
              <a:ext uri="{FF2B5EF4-FFF2-40B4-BE49-F238E27FC236}">
                <a16:creationId xmlns:a16="http://schemas.microsoft.com/office/drawing/2014/main" id="{8D6E6934-9A38-92C9-87AD-E18DA78E5A2A}"/>
              </a:ext>
            </a:extLst>
          </p:cNvPr>
          <p:cNvPicPr>
            <a:picLocks noChangeAspect="1"/>
          </p:cNvPicPr>
          <p:nvPr/>
        </p:nvPicPr>
        <p:blipFill>
          <a:blip r:embed="rId9"/>
          <a:stretch>
            <a:fillRect/>
          </a:stretch>
        </p:blipFill>
        <p:spPr>
          <a:xfrm>
            <a:off x="4285272" y="3305186"/>
            <a:ext cx="1244558" cy="258531"/>
          </a:xfrm>
          <a:prstGeom prst="rect">
            <a:avLst/>
          </a:prstGeom>
        </p:spPr>
      </p:pic>
      <p:pic>
        <p:nvPicPr>
          <p:cNvPr id="17" name="Picture 16">
            <a:extLst>
              <a:ext uri="{FF2B5EF4-FFF2-40B4-BE49-F238E27FC236}">
                <a16:creationId xmlns:a16="http://schemas.microsoft.com/office/drawing/2014/main" id="{8242E20B-A8A2-CFB9-7900-6406AAED0444}"/>
              </a:ext>
            </a:extLst>
          </p:cNvPr>
          <p:cNvPicPr>
            <a:picLocks noChangeAspect="1"/>
          </p:cNvPicPr>
          <p:nvPr/>
        </p:nvPicPr>
        <p:blipFill>
          <a:blip r:embed="rId10"/>
          <a:stretch>
            <a:fillRect/>
          </a:stretch>
        </p:blipFill>
        <p:spPr>
          <a:xfrm>
            <a:off x="7029140" y="3305186"/>
            <a:ext cx="1309548" cy="247427"/>
          </a:xfrm>
          <a:prstGeom prst="rect">
            <a:avLst/>
          </a:prstGeom>
        </p:spPr>
      </p:pic>
      <p:pic>
        <p:nvPicPr>
          <p:cNvPr id="19" name="Picture 18">
            <a:extLst>
              <a:ext uri="{FF2B5EF4-FFF2-40B4-BE49-F238E27FC236}">
                <a16:creationId xmlns:a16="http://schemas.microsoft.com/office/drawing/2014/main" id="{91C2785D-7988-6B02-3804-C88314830824}"/>
              </a:ext>
            </a:extLst>
          </p:cNvPr>
          <p:cNvPicPr>
            <a:picLocks noChangeAspect="1"/>
          </p:cNvPicPr>
          <p:nvPr/>
        </p:nvPicPr>
        <p:blipFill>
          <a:blip r:embed="rId11"/>
          <a:stretch>
            <a:fillRect/>
          </a:stretch>
        </p:blipFill>
        <p:spPr>
          <a:xfrm>
            <a:off x="9797800" y="3320273"/>
            <a:ext cx="1244558" cy="246507"/>
          </a:xfrm>
          <a:prstGeom prst="rect">
            <a:avLst/>
          </a:prstGeom>
        </p:spPr>
      </p:pic>
      <p:pic>
        <p:nvPicPr>
          <p:cNvPr id="18" name="Picture 17">
            <a:extLst>
              <a:ext uri="{FF2B5EF4-FFF2-40B4-BE49-F238E27FC236}">
                <a16:creationId xmlns:a16="http://schemas.microsoft.com/office/drawing/2014/main" id="{C84074F6-4EF5-8C4B-05FF-086E5D1EC15E}"/>
              </a:ext>
            </a:extLst>
          </p:cNvPr>
          <p:cNvPicPr>
            <a:picLocks noChangeAspect="1"/>
          </p:cNvPicPr>
          <p:nvPr/>
        </p:nvPicPr>
        <p:blipFill>
          <a:blip r:embed="rId12"/>
          <a:stretch>
            <a:fillRect/>
          </a:stretch>
        </p:blipFill>
        <p:spPr>
          <a:xfrm>
            <a:off x="244627" y="1541646"/>
            <a:ext cx="4662370" cy="1666671"/>
          </a:xfrm>
          <a:prstGeom prst="rect">
            <a:avLst/>
          </a:prstGeom>
        </p:spPr>
      </p:pic>
      <p:sp>
        <p:nvSpPr>
          <p:cNvPr id="20" name="Rectangle 19">
            <a:extLst>
              <a:ext uri="{FF2B5EF4-FFF2-40B4-BE49-F238E27FC236}">
                <a16:creationId xmlns:a16="http://schemas.microsoft.com/office/drawing/2014/main" id="{184978D7-70C0-5955-C8D8-70750BDF9DF0}"/>
              </a:ext>
            </a:extLst>
          </p:cNvPr>
          <p:cNvSpPr/>
          <p:nvPr/>
        </p:nvSpPr>
        <p:spPr>
          <a:xfrm>
            <a:off x="4619607" y="4114922"/>
            <a:ext cx="445273" cy="4733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Rectangle 20">
            <a:extLst>
              <a:ext uri="{FF2B5EF4-FFF2-40B4-BE49-F238E27FC236}">
                <a16:creationId xmlns:a16="http://schemas.microsoft.com/office/drawing/2014/main" id="{85488290-ED4C-6C25-E18C-F7D36E7F2907}"/>
              </a:ext>
            </a:extLst>
          </p:cNvPr>
          <p:cNvSpPr/>
          <p:nvPr/>
        </p:nvSpPr>
        <p:spPr>
          <a:xfrm>
            <a:off x="2581171" y="2703471"/>
            <a:ext cx="221143" cy="2350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Rectangle 21">
            <a:extLst>
              <a:ext uri="{FF2B5EF4-FFF2-40B4-BE49-F238E27FC236}">
                <a16:creationId xmlns:a16="http://schemas.microsoft.com/office/drawing/2014/main" id="{C067A3F7-854B-0EA2-59A4-53F06B6E5971}"/>
              </a:ext>
            </a:extLst>
          </p:cNvPr>
          <p:cNvSpPr/>
          <p:nvPr/>
        </p:nvSpPr>
        <p:spPr>
          <a:xfrm>
            <a:off x="9102212" y="2319726"/>
            <a:ext cx="151076" cy="1970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BFBDCD6-0B6E-71E5-C9C4-C3A6CDCAD5AC}"/>
                  </a:ext>
                </a:extLst>
              </p:cNvPr>
              <p:cNvSpPr txBox="1"/>
              <p:nvPr/>
            </p:nvSpPr>
            <p:spPr>
              <a:xfrm>
                <a:off x="5170536" y="2691695"/>
                <a:ext cx="5133397" cy="461665"/>
              </a:xfrm>
              <a:prstGeom prst="rect">
                <a:avLst/>
              </a:prstGeom>
              <a:noFill/>
              <a:ln>
                <a:solidFill>
                  <a:srgbClr val="FF0000"/>
                </a:solidFill>
              </a:ln>
            </p:spPr>
            <p:txBody>
              <a:bodyPr wrap="square" rtlCol="0">
                <a:spAutoFit/>
              </a:bodyPr>
              <a:lstStyle/>
              <a:p>
                <a:r>
                  <a:rPr kumimoji="1" lang="en-US" altLang="zh-TW" sz="2400" dirty="0">
                    <a:latin typeface="Times New Roman" panose="02020603050405020304" pitchFamily="18" charset="0"/>
                    <a:cs typeface="Times New Roman" panose="02020603050405020304" pitchFamily="18" charset="0"/>
                  </a:rPr>
                  <a:t>A[0, 1, </a:t>
                </a:r>
                <a14:m>
                  <m:oMath xmlns:m="http://schemas.openxmlformats.org/officeDocument/2006/math">
                    <m:sSub>
                      <m:sSubPr>
                        <m:ctrlPr>
                          <a:rPr kumimoji="1" lang="en-US" altLang="zh-TW" sz="2400">
                            <a:latin typeface="Times New Roman" panose="02020603050405020304" pitchFamily="18" charset="0"/>
                            <a:cs typeface="Times New Roman" panose="02020603050405020304" pitchFamily="18" charset="0"/>
                          </a:rPr>
                        </m:ctrlPr>
                      </m:sSubPr>
                      <m:e>
                        <m:r>
                          <m:rPr>
                            <m:sty m:val="p"/>
                          </m:rPr>
                          <a:rPr kumimoji="1" lang="en-US" altLang="zh-TW" sz="2400" b="0" i="0" smtClean="0">
                            <a:latin typeface="Cambria Math" panose="02040503050406030204" pitchFamily="18" charset="0"/>
                            <a:cs typeface="Times New Roman" panose="02020603050405020304" pitchFamily="18" charset="0"/>
                          </a:rPr>
                          <m:t>t</m:t>
                        </m:r>
                      </m:e>
                      <m:sub>
                        <m:r>
                          <a:rPr kumimoji="1" lang="en-US" altLang="zh-TW" sz="2400">
                            <a:latin typeface="Times New Roman" panose="02020603050405020304" pitchFamily="18" charset="0"/>
                            <a:cs typeface="Times New Roman" panose="02020603050405020304" pitchFamily="18" charset="0"/>
                          </a:rPr>
                          <m:t>𝑖𝑛𝑑</m:t>
                        </m:r>
                      </m:sub>
                    </m:sSub>
                  </m:oMath>
                </a14:m>
                <a:r>
                  <a:rPr kumimoji="1" lang="en-US" altLang="zh-TW" sz="2400" dirty="0">
                    <a:latin typeface="Times New Roman" panose="02020603050405020304" pitchFamily="18" charset="0"/>
                    <a:cs typeface="Times New Roman" panose="02020603050405020304" pitchFamily="18" charset="0"/>
                  </a:rPr>
                  <a:t>]= 0 =&gt; A[0, 1-1,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a:latin typeface="Cambria Math" panose="02040503050406030204" pitchFamily="18" charset="0"/>
                            <a:cs typeface="Times New Roman" panose="02020603050405020304" pitchFamily="18" charset="0"/>
                          </a:rPr>
                          <m:t>𝑝</m:t>
                        </m:r>
                      </m:e>
                      <m:sub>
                        <m:r>
                          <a:rPr kumimoji="1" lang="en-US" altLang="zh-TW" sz="2400">
                            <a:latin typeface="Cambria Math" panose="02040503050406030204" pitchFamily="18" charset="0"/>
                            <a:cs typeface="Times New Roman" panose="02020603050405020304" pitchFamily="18" charset="0"/>
                          </a:rPr>
                          <m:t>𝑖𝑛𝑑</m:t>
                        </m:r>
                      </m:sub>
                    </m:sSub>
                  </m:oMath>
                </a14:m>
                <a:r>
                  <a:rPr kumimoji="1" lang="en-US" altLang="zh-TW" sz="2400" dirty="0">
                    <a:latin typeface="Times New Roman" panose="02020603050405020304" pitchFamily="18" charset="0"/>
                    <a:cs typeface="Times New Roman" panose="02020603050405020304" pitchFamily="18" charset="0"/>
                  </a:rPr>
                  <a:t>|</a:t>
                </a:r>
                <a:r>
                  <a:rPr kumimoji="1" lang="en-US" altLang="zh-TW" sz="2400" dirty="0">
                    <a:cs typeface="Times New Roman" panose="02020603050405020304" pitchFamily="18" charset="0"/>
                  </a:rPr>
                  <a:t> </a:t>
                </a:r>
                <a14:m>
                  <m:oMath xmlns:m="http://schemas.openxmlformats.org/officeDocument/2006/math">
                    <m:sSub>
                      <m:sSubPr>
                        <m:ctrlPr>
                          <a:rPr kumimoji="1" lang="en-US" altLang="zh-TW" sz="2400" i="1">
                            <a:latin typeface="Cambria Math" panose="02040503050406030204" pitchFamily="18" charset="0"/>
                            <a:cs typeface="Times New Roman" panose="02020603050405020304" pitchFamily="18" charset="0"/>
                          </a:rPr>
                        </m:ctrlPr>
                      </m:sSubPr>
                      <m:e>
                        <m:r>
                          <a:rPr kumimoji="1" lang="en-US" altLang="zh-TW" sz="2400" b="0" i="1" smtClean="0">
                            <a:latin typeface="Cambria Math" panose="02040503050406030204" pitchFamily="18" charset="0"/>
                            <a:cs typeface="Times New Roman" panose="02020603050405020304" pitchFamily="18" charset="0"/>
                          </a:rPr>
                          <m:t>𝑡</m:t>
                        </m:r>
                      </m:e>
                      <m:sub>
                        <m:r>
                          <a:rPr kumimoji="1" lang="en-US" altLang="zh-TW" sz="2400">
                            <a:latin typeface="Cambria Math" panose="02040503050406030204" pitchFamily="18" charset="0"/>
                            <a:cs typeface="Times New Roman" panose="02020603050405020304" pitchFamily="18" charset="0"/>
                          </a:rPr>
                          <m:t>𝑖𝑛𝑑</m:t>
                        </m:r>
                      </m:sub>
                    </m:sSub>
                  </m:oMath>
                </a14:m>
                <a:r>
                  <a:rPr kumimoji="1" lang="en-US" altLang="zh-TW" sz="2400" dirty="0">
                    <a:latin typeface="Times New Roman" panose="02020603050405020304" pitchFamily="18" charset="0"/>
                    <a:cs typeface="Times New Roman" panose="02020603050405020304" pitchFamily="18" charset="0"/>
                  </a:rPr>
                  <a:t>]</a:t>
                </a:r>
                <a:endParaRPr kumimoji="1" lang="zh-TW" altLang="en-US" sz="2400" dirty="0">
                  <a:latin typeface="Times New Roman" panose="02020603050405020304" pitchFamily="18" charset="0"/>
                  <a:cs typeface="Times New Roman" panose="02020603050405020304" pitchFamily="18" charset="0"/>
                </a:endParaRPr>
              </a:p>
            </p:txBody>
          </p:sp>
        </mc:Choice>
        <mc:Fallback>
          <p:sp>
            <p:nvSpPr>
              <p:cNvPr id="3" name="TextBox 2">
                <a:extLst>
                  <a:ext uri="{FF2B5EF4-FFF2-40B4-BE49-F238E27FC236}">
                    <a16:creationId xmlns:a16="http://schemas.microsoft.com/office/drawing/2014/main" id="{9BFBDCD6-0B6E-71E5-C9C4-C3A6CDCAD5AC}"/>
                  </a:ext>
                </a:extLst>
              </p:cNvPr>
              <p:cNvSpPr txBox="1">
                <a:spLocks noRot="1" noChangeAspect="1" noMove="1" noResize="1" noEditPoints="1" noAdjustHandles="1" noChangeArrowheads="1" noChangeShapeType="1" noTextEdit="1"/>
              </p:cNvSpPr>
              <p:nvPr/>
            </p:nvSpPr>
            <p:spPr>
              <a:xfrm>
                <a:off x="5170536" y="2691695"/>
                <a:ext cx="5133397" cy="461665"/>
              </a:xfrm>
              <a:prstGeom prst="rect">
                <a:avLst/>
              </a:prstGeom>
              <a:blipFill>
                <a:blip r:embed="rId13"/>
                <a:stretch>
                  <a:fillRect l="-1659" t="-10390" b="-27273"/>
                </a:stretch>
              </a:blipFill>
              <a:ln>
                <a:solidFill>
                  <a:srgbClr val="FF0000"/>
                </a:solidFill>
              </a:ln>
            </p:spPr>
            <p:txBody>
              <a:bodyPr/>
              <a:lstStyle/>
              <a:p>
                <a:r>
                  <a:rPr lang="zh-TW" altLang="en-US">
                    <a:noFill/>
                  </a:rPr>
                  <a:t> </a:t>
                </a:r>
              </a:p>
            </p:txBody>
          </p:sp>
        </mc:Fallback>
      </mc:AlternateContent>
    </p:spTree>
    <p:extLst>
      <p:ext uri="{BB962C8B-B14F-4D97-AF65-F5344CB8AC3E}">
        <p14:creationId xmlns:p14="http://schemas.microsoft.com/office/powerpoint/2010/main" val="357761744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Alternate-</a:t>
            </a:r>
            <a:r>
              <a:rPr kumimoji="1" lang="el-GR" altLang="zh-TW" sz="3200" b="1" dirty="0">
                <a:latin typeface="Times New Roman" panose="02020603050405020304" pitchFamily="18" charset="0"/>
                <a:cs typeface="Times New Roman" panose="02020603050405020304" pitchFamily="18" charset="0"/>
              </a:rPr>
              <a:t>μ</a:t>
            </a:r>
            <a:r>
              <a:rPr kumimoji="1" lang="en-US" altLang="zh-TW" sz="3200" b="1" dirty="0">
                <a:latin typeface="Times New Roman" panose="02020603050405020304" pitchFamily="18" charset="0"/>
                <a:cs typeface="Times New Roman" panose="02020603050405020304" pitchFamily="18" charset="0"/>
              </a:rPr>
              <a:t>OPPM</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17</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kumimoji="1" lang="en-US" altLang="zh-TW"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C65958D-F1C9-C889-9BC9-E98BBDBD64FC}"/>
              </a:ext>
            </a:extLst>
          </p:cNvPr>
          <p:cNvPicPr>
            <a:picLocks noChangeAspect="1"/>
          </p:cNvPicPr>
          <p:nvPr/>
        </p:nvPicPr>
        <p:blipFill>
          <a:blip r:embed="rId3"/>
          <a:stretch>
            <a:fillRect/>
          </a:stretch>
        </p:blipFill>
        <p:spPr>
          <a:xfrm>
            <a:off x="1819488" y="2807958"/>
            <a:ext cx="8553023" cy="1247471"/>
          </a:xfrm>
          <a:prstGeom prst="rect">
            <a:avLst/>
          </a:prstGeom>
        </p:spPr>
      </p:pic>
    </p:spTree>
    <p:extLst>
      <p:ext uri="{BB962C8B-B14F-4D97-AF65-F5344CB8AC3E}">
        <p14:creationId xmlns:p14="http://schemas.microsoft.com/office/powerpoint/2010/main" val="165426050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Handling Larger Texts</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18</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400" dirty="0">
                <a:latin typeface="Times New Roman" panose="02020603050405020304" pitchFamily="18" charset="0"/>
                <a:cs typeface="Times New Roman" panose="02020603050405020304" pitchFamily="18" charset="0"/>
              </a:rPr>
              <a:t>use filtration techniques</a:t>
            </a:r>
          </a:p>
          <a:p>
            <a:pPr lvl="1"/>
            <a:r>
              <a:rPr kumimoji="1" lang="en-US" altLang="zh-TW" sz="2000" dirty="0">
                <a:latin typeface="Times New Roman" panose="02020603050405020304" pitchFamily="18" charset="0"/>
                <a:cs typeface="Times New Roman" panose="02020603050405020304" pitchFamily="18" charset="0"/>
              </a:rPr>
              <a:t>x [</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 = 1 if max(x[</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 &lt; min(x[</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 + 1])</a:t>
            </a:r>
          </a:p>
          <a:p>
            <a:pPr lvl="1"/>
            <a:r>
              <a:rPr kumimoji="1" lang="en-US" altLang="zh-TW" sz="2000" dirty="0">
                <a:latin typeface="Times New Roman" panose="02020603050405020304" pitchFamily="18" charset="0"/>
                <a:cs typeface="Times New Roman" panose="02020603050405020304" pitchFamily="18" charset="0"/>
              </a:rPr>
              <a:t>x [</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 = 0 if min(x[</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 ≥ max(x[</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 + 1])</a:t>
            </a:r>
          </a:p>
          <a:p>
            <a:pPr lvl="1"/>
            <a:r>
              <a:rPr kumimoji="1" lang="en-US" altLang="zh-TW" sz="2000" dirty="0">
                <a:latin typeface="Times New Roman" panose="02020603050405020304" pitchFamily="18" charset="0"/>
                <a:cs typeface="Times New Roman" panose="02020603050405020304" pitchFamily="18" charset="0"/>
              </a:rPr>
              <a:t>x [</a:t>
            </a:r>
            <a:r>
              <a:rPr kumimoji="1" lang="en-US" altLang="zh-TW" sz="2000" dirty="0" err="1">
                <a:latin typeface="Times New Roman" panose="02020603050405020304" pitchFamily="18" charset="0"/>
                <a:cs typeface="Times New Roman" panose="02020603050405020304" pitchFamily="18" charset="0"/>
              </a:rPr>
              <a:t>i</a:t>
            </a:r>
            <a:r>
              <a:rPr kumimoji="1" lang="en-US" altLang="zh-TW" sz="2000" dirty="0">
                <a:latin typeface="Times New Roman" panose="02020603050405020304" pitchFamily="18" charset="0"/>
                <a:cs typeface="Times New Roman" panose="02020603050405020304" pitchFamily="18" charset="0"/>
              </a:rPr>
              <a:t>] = ∗ otherwise</a:t>
            </a:r>
          </a:p>
          <a:p>
            <a:pPr lvl="1"/>
            <a:endParaRPr kumimoji="1" lang="en-US" altLang="zh-TW" sz="2000" dirty="0">
              <a:latin typeface="Times New Roman" panose="02020603050405020304" pitchFamily="18" charset="0"/>
              <a:cs typeface="Times New Roman" panose="02020603050405020304" pitchFamily="18" charset="0"/>
            </a:endParaRPr>
          </a:p>
          <a:p>
            <a:r>
              <a:rPr kumimoji="1" lang="en-US" altLang="zh-TW" sz="2400" dirty="0">
                <a:latin typeface="Times New Roman" panose="02020603050405020304" pitchFamily="18" charset="0"/>
                <a:cs typeface="Times New Roman" panose="02020603050405020304" pitchFamily="18" charset="0"/>
              </a:rPr>
              <a:t>p = (6, 2|3, 5)</a:t>
            </a:r>
          </a:p>
          <a:p>
            <a:r>
              <a:rPr kumimoji="1" lang="en-US" altLang="zh-TW" sz="2400" dirty="0">
                <a:latin typeface="Times New Roman" panose="02020603050405020304" pitchFamily="18" charset="0"/>
                <a:cs typeface="Times New Roman" panose="02020603050405020304" pitchFamily="18" charset="0"/>
              </a:rPr>
              <a:t>t = (3|4, 5, 6|8, 6|7, 3, 5, 4|6, 7|8, 4)</a:t>
            </a:r>
          </a:p>
        </p:txBody>
      </p:sp>
      <p:graphicFrame>
        <p:nvGraphicFramePr>
          <p:cNvPr id="3" name="Table 3">
            <a:extLst>
              <a:ext uri="{FF2B5EF4-FFF2-40B4-BE49-F238E27FC236}">
                <a16:creationId xmlns:a16="http://schemas.microsoft.com/office/drawing/2014/main" id="{FB7E220F-05A7-4272-BBF2-8B529B2D56E3}"/>
              </a:ext>
            </a:extLst>
          </p:cNvPr>
          <p:cNvGraphicFramePr>
            <a:graphicFrameLocks noGrp="1"/>
          </p:cNvGraphicFramePr>
          <p:nvPr>
            <p:extLst>
              <p:ext uri="{D42A27DB-BD31-4B8C-83A1-F6EECF244321}">
                <p14:modId xmlns:p14="http://schemas.microsoft.com/office/powerpoint/2010/main" val="979025083"/>
              </p:ext>
            </p:extLst>
          </p:nvPr>
        </p:nvGraphicFramePr>
        <p:xfrm>
          <a:off x="1084731" y="4968936"/>
          <a:ext cx="2572869" cy="974664"/>
        </p:xfrm>
        <a:graphic>
          <a:graphicData uri="http://schemas.openxmlformats.org/drawingml/2006/table">
            <a:tbl>
              <a:tblPr firstRow="1" bandRow="1">
                <a:tableStyleId>{5C22544A-7EE6-4342-B048-85BDC9FD1C3A}</a:tableStyleId>
              </a:tblPr>
              <a:tblGrid>
                <a:gridCol w="640020">
                  <a:extLst>
                    <a:ext uri="{9D8B030D-6E8A-4147-A177-3AD203B41FA5}">
                      <a16:colId xmlns:a16="http://schemas.microsoft.com/office/drawing/2014/main" val="2381288429"/>
                    </a:ext>
                  </a:extLst>
                </a:gridCol>
                <a:gridCol w="644283">
                  <a:extLst>
                    <a:ext uri="{9D8B030D-6E8A-4147-A177-3AD203B41FA5}">
                      <a16:colId xmlns:a16="http://schemas.microsoft.com/office/drawing/2014/main" val="909891903"/>
                    </a:ext>
                  </a:extLst>
                </a:gridCol>
                <a:gridCol w="644283">
                  <a:extLst>
                    <a:ext uri="{9D8B030D-6E8A-4147-A177-3AD203B41FA5}">
                      <a16:colId xmlns:a16="http://schemas.microsoft.com/office/drawing/2014/main" val="2660719626"/>
                    </a:ext>
                  </a:extLst>
                </a:gridCol>
                <a:gridCol w="644283">
                  <a:extLst>
                    <a:ext uri="{9D8B030D-6E8A-4147-A177-3AD203B41FA5}">
                      <a16:colId xmlns:a16="http://schemas.microsoft.com/office/drawing/2014/main" val="869371359"/>
                    </a:ext>
                  </a:extLst>
                </a:gridCol>
              </a:tblGrid>
              <a:tr h="487332">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p</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6</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2|3</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5</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30773172"/>
                  </a:ext>
                </a:extLst>
              </a:tr>
              <a:tr h="487332">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p’</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0</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2943900"/>
                  </a:ext>
                </a:extLst>
              </a:tr>
            </a:tbl>
          </a:graphicData>
        </a:graphic>
      </p:graphicFrame>
      <p:graphicFrame>
        <p:nvGraphicFramePr>
          <p:cNvPr id="7" name="Table 8">
            <a:extLst>
              <a:ext uri="{FF2B5EF4-FFF2-40B4-BE49-F238E27FC236}">
                <a16:creationId xmlns:a16="http://schemas.microsoft.com/office/drawing/2014/main" id="{2FAA1A1C-3E6D-C232-0595-793B568720F1}"/>
              </a:ext>
            </a:extLst>
          </p:cNvPr>
          <p:cNvGraphicFramePr>
            <a:graphicFrameLocks noGrp="1"/>
          </p:cNvGraphicFramePr>
          <p:nvPr>
            <p:extLst>
              <p:ext uri="{D42A27DB-BD31-4B8C-83A1-F6EECF244321}">
                <p14:modId xmlns:p14="http://schemas.microsoft.com/office/powerpoint/2010/main" val="3119012564"/>
              </p:ext>
            </p:extLst>
          </p:nvPr>
        </p:nvGraphicFramePr>
        <p:xfrm>
          <a:off x="4096871" y="4968936"/>
          <a:ext cx="6804210" cy="974664"/>
        </p:xfrm>
        <a:graphic>
          <a:graphicData uri="http://schemas.openxmlformats.org/drawingml/2006/table">
            <a:tbl>
              <a:tblPr firstRow="1" bandRow="1">
                <a:tableStyleId>{5C22544A-7EE6-4342-B048-85BDC9FD1C3A}</a:tableStyleId>
              </a:tblPr>
              <a:tblGrid>
                <a:gridCol w="680421">
                  <a:extLst>
                    <a:ext uri="{9D8B030D-6E8A-4147-A177-3AD203B41FA5}">
                      <a16:colId xmlns:a16="http://schemas.microsoft.com/office/drawing/2014/main" val="3599931994"/>
                    </a:ext>
                  </a:extLst>
                </a:gridCol>
                <a:gridCol w="680421">
                  <a:extLst>
                    <a:ext uri="{9D8B030D-6E8A-4147-A177-3AD203B41FA5}">
                      <a16:colId xmlns:a16="http://schemas.microsoft.com/office/drawing/2014/main" val="2578693444"/>
                    </a:ext>
                  </a:extLst>
                </a:gridCol>
                <a:gridCol w="680421">
                  <a:extLst>
                    <a:ext uri="{9D8B030D-6E8A-4147-A177-3AD203B41FA5}">
                      <a16:colId xmlns:a16="http://schemas.microsoft.com/office/drawing/2014/main" val="1809454374"/>
                    </a:ext>
                  </a:extLst>
                </a:gridCol>
                <a:gridCol w="680421">
                  <a:extLst>
                    <a:ext uri="{9D8B030D-6E8A-4147-A177-3AD203B41FA5}">
                      <a16:colId xmlns:a16="http://schemas.microsoft.com/office/drawing/2014/main" val="4007354176"/>
                    </a:ext>
                  </a:extLst>
                </a:gridCol>
                <a:gridCol w="680421">
                  <a:extLst>
                    <a:ext uri="{9D8B030D-6E8A-4147-A177-3AD203B41FA5}">
                      <a16:colId xmlns:a16="http://schemas.microsoft.com/office/drawing/2014/main" val="767666505"/>
                    </a:ext>
                  </a:extLst>
                </a:gridCol>
                <a:gridCol w="680421">
                  <a:extLst>
                    <a:ext uri="{9D8B030D-6E8A-4147-A177-3AD203B41FA5}">
                      <a16:colId xmlns:a16="http://schemas.microsoft.com/office/drawing/2014/main" val="3485296039"/>
                    </a:ext>
                  </a:extLst>
                </a:gridCol>
                <a:gridCol w="680421">
                  <a:extLst>
                    <a:ext uri="{9D8B030D-6E8A-4147-A177-3AD203B41FA5}">
                      <a16:colId xmlns:a16="http://schemas.microsoft.com/office/drawing/2014/main" val="4253749652"/>
                    </a:ext>
                  </a:extLst>
                </a:gridCol>
                <a:gridCol w="680421">
                  <a:extLst>
                    <a:ext uri="{9D8B030D-6E8A-4147-A177-3AD203B41FA5}">
                      <a16:colId xmlns:a16="http://schemas.microsoft.com/office/drawing/2014/main" val="2084102113"/>
                    </a:ext>
                  </a:extLst>
                </a:gridCol>
                <a:gridCol w="680421">
                  <a:extLst>
                    <a:ext uri="{9D8B030D-6E8A-4147-A177-3AD203B41FA5}">
                      <a16:colId xmlns:a16="http://schemas.microsoft.com/office/drawing/2014/main" val="833592028"/>
                    </a:ext>
                  </a:extLst>
                </a:gridCol>
                <a:gridCol w="680421">
                  <a:extLst>
                    <a:ext uri="{9D8B030D-6E8A-4147-A177-3AD203B41FA5}">
                      <a16:colId xmlns:a16="http://schemas.microsoft.com/office/drawing/2014/main" val="4126110180"/>
                    </a:ext>
                  </a:extLst>
                </a:gridCol>
              </a:tblGrid>
              <a:tr h="487332">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t</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3|4</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5</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6|8</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6|7</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3</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5</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4|6</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7|8</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4</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3491072"/>
                  </a:ext>
                </a:extLst>
              </a:tr>
              <a:tr h="487332">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t’</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0</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0</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87134937"/>
                  </a:ext>
                </a:extLst>
              </a:tr>
            </a:tbl>
          </a:graphicData>
        </a:graphic>
      </p:graphicFrame>
    </p:spTree>
    <p:extLst>
      <p:ext uri="{BB962C8B-B14F-4D97-AF65-F5344CB8AC3E}">
        <p14:creationId xmlns:p14="http://schemas.microsoft.com/office/powerpoint/2010/main" val="42176556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4D4-B79E-02DC-7612-4D695D281EA3}"/>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Handling Larger Texts</a:t>
            </a:r>
            <a:endParaRPr kumimoji="1" lang="zh-TW" altLang="en-US" sz="3200" b="1"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CE38594-F4A6-3C1E-58EE-082AEA6445B4}"/>
              </a:ext>
            </a:extLst>
          </p:cNvPr>
          <p:cNvSpPr>
            <a:spLocks noGrp="1"/>
          </p:cNvSpPr>
          <p:nvPr>
            <p:ph type="sldNum" sz="quarter" idx="12"/>
          </p:nvPr>
        </p:nvSpPr>
        <p:spPr/>
        <p:txBody>
          <a:bodyPr/>
          <a:lstStyle/>
          <a:p>
            <a:fld id="{7FE2C478-69CB-4CE2-A453-7F649089E273}" type="slidenum">
              <a:rPr lang="zh-TW" altLang="en-US" smtClean="0"/>
              <a:t>19</a:t>
            </a:fld>
            <a:endParaRPr lang="zh-TW" altLang="en-US"/>
          </a:p>
        </p:txBody>
      </p:sp>
      <p:sp>
        <p:nvSpPr>
          <p:cNvPr id="5" name="Content Placeholder 3">
            <a:extLst>
              <a:ext uri="{FF2B5EF4-FFF2-40B4-BE49-F238E27FC236}">
                <a16:creationId xmlns:a16="http://schemas.microsoft.com/office/drawing/2014/main" id="{D5780754-891B-DA25-D843-19C125C710C6}"/>
              </a:ext>
            </a:extLst>
          </p:cNvPr>
          <p:cNvSpPr txBox="1">
            <a:spLocks/>
          </p:cNvSpPr>
          <p:nvPr/>
        </p:nvSpPr>
        <p:spPr>
          <a:xfrm>
            <a:off x="838200" y="1833884"/>
            <a:ext cx="10796451" cy="4443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sz="2400" dirty="0">
                <a:latin typeface="Times New Roman" panose="02020603050405020304" pitchFamily="18" charset="0"/>
                <a:cs typeface="Times New Roman" panose="02020603050405020304" pitchFamily="18" charset="0"/>
              </a:rPr>
              <a:t>p = (6, 2|3, 5)</a:t>
            </a:r>
          </a:p>
          <a:p>
            <a:r>
              <a:rPr kumimoji="1" lang="en-US" altLang="zh-TW" sz="2400" dirty="0">
                <a:latin typeface="Times New Roman" panose="02020603050405020304" pitchFamily="18" charset="0"/>
                <a:cs typeface="Times New Roman" panose="02020603050405020304" pitchFamily="18" charset="0"/>
              </a:rPr>
              <a:t>t = (3|4, 5, 6|8, 6|7, 3, 5, 4|6, 7|8, 4)</a:t>
            </a:r>
          </a:p>
          <a:p>
            <a:endParaRPr kumimoji="1" lang="en-US" altLang="zh-TW" sz="2400" dirty="0">
              <a:latin typeface="Times New Roman" panose="02020603050405020304" pitchFamily="18" charset="0"/>
              <a:cs typeface="Times New Roman" panose="02020603050405020304" pitchFamily="18" charset="0"/>
            </a:endParaRPr>
          </a:p>
          <a:p>
            <a:endParaRPr kumimoji="1" lang="en-US" altLang="zh-TW" sz="2400" dirty="0">
              <a:latin typeface="Times New Roman" panose="02020603050405020304" pitchFamily="18" charset="0"/>
              <a:cs typeface="Times New Roman" panose="02020603050405020304" pitchFamily="18" charset="0"/>
            </a:endParaRPr>
          </a:p>
          <a:p>
            <a:endParaRPr kumimoji="1" lang="en-US" altLang="zh-TW" sz="2400" dirty="0">
              <a:latin typeface="Times New Roman" panose="02020603050405020304" pitchFamily="18" charset="0"/>
              <a:cs typeface="Times New Roman" panose="02020603050405020304" pitchFamily="18" charset="0"/>
            </a:endParaRPr>
          </a:p>
          <a:p>
            <a:endParaRPr kumimoji="1" lang="en-US" altLang="zh-TW" sz="2400" dirty="0">
              <a:latin typeface="Times New Roman" panose="02020603050405020304" pitchFamily="18" charset="0"/>
              <a:cs typeface="Times New Roman" panose="02020603050405020304" pitchFamily="18" charset="0"/>
            </a:endParaRPr>
          </a:p>
          <a:p>
            <a:r>
              <a:rPr kumimoji="1" lang="en-US" altLang="zh-TW" sz="2400" dirty="0">
                <a:latin typeface="Times New Roman" panose="02020603050405020304" pitchFamily="18" charset="0"/>
                <a:cs typeface="Times New Roman" panose="02020603050405020304" pitchFamily="18" charset="0"/>
              </a:rPr>
              <a:t>one true match t[3..5]</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 (6, 3, 5) </a:t>
            </a:r>
          </a:p>
          <a:p>
            <a:r>
              <a:rPr kumimoji="1" lang="en-US" altLang="zh-TW" sz="2400" dirty="0">
                <a:latin typeface="Times New Roman" panose="02020603050405020304" pitchFamily="18" charset="0"/>
                <a:cs typeface="Times New Roman" panose="02020603050405020304" pitchFamily="18" charset="0"/>
              </a:rPr>
              <a:t>one spurious match t[5..7]</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(5, 4, 7) or (5, 4, 8)</a:t>
            </a:r>
          </a:p>
        </p:txBody>
      </p:sp>
      <p:graphicFrame>
        <p:nvGraphicFramePr>
          <p:cNvPr id="3" name="Table 3">
            <a:extLst>
              <a:ext uri="{FF2B5EF4-FFF2-40B4-BE49-F238E27FC236}">
                <a16:creationId xmlns:a16="http://schemas.microsoft.com/office/drawing/2014/main" id="{FB7E220F-05A7-4272-BBF2-8B529B2D56E3}"/>
              </a:ext>
            </a:extLst>
          </p:cNvPr>
          <p:cNvGraphicFramePr>
            <a:graphicFrameLocks noGrp="1"/>
          </p:cNvGraphicFramePr>
          <p:nvPr>
            <p:extLst>
              <p:ext uri="{D42A27DB-BD31-4B8C-83A1-F6EECF244321}">
                <p14:modId xmlns:p14="http://schemas.microsoft.com/office/powerpoint/2010/main" val="2743002853"/>
              </p:ext>
            </p:extLst>
          </p:nvPr>
        </p:nvGraphicFramePr>
        <p:xfrm>
          <a:off x="1120590" y="3068418"/>
          <a:ext cx="2572869" cy="974664"/>
        </p:xfrm>
        <a:graphic>
          <a:graphicData uri="http://schemas.openxmlformats.org/drawingml/2006/table">
            <a:tbl>
              <a:tblPr firstRow="1" bandRow="1">
                <a:tableStyleId>{5C22544A-7EE6-4342-B048-85BDC9FD1C3A}</a:tableStyleId>
              </a:tblPr>
              <a:tblGrid>
                <a:gridCol w="640020">
                  <a:extLst>
                    <a:ext uri="{9D8B030D-6E8A-4147-A177-3AD203B41FA5}">
                      <a16:colId xmlns:a16="http://schemas.microsoft.com/office/drawing/2014/main" val="2381288429"/>
                    </a:ext>
                  </a:extLst>
                </a:gridCol>
                <a:gridCol w="644283">
                  <a:extLst>
                    <a:ext uri="{9D8B030D-6E8A-4147-A177-3AD203B41FA5}">
                      <a16:colId xmlns:a16="http://schemas.microsoft.com/office/drawing/2014/main" val="909891903"/>
                    </a:ext>
                  </a:extLst>
                </a:gridCol>
                <a:gridCol w="644283">
                  <a:extLst>
                    <a:ext uri="{9D8B030D-6E8A-4147-A177-3AD203B41FA5}">
                      <a16:colId xmlns:a16="http://schemas.microsoft.com/office/drawing/2014/main" val="2660719626"/>
                    </a:ext>
                  </a:extLst>
                </a:gridCol>
                <a:gridCol w="644283">
                  <a:extLst>
                    <a:ext uri="{9D8B030D-6E8A-4147-A177-3AD203B41FA5}">
                      <a16:colId xmlns:a16="http://schemas.microsoft.com/office/drawing/2014/main" val="869371359"/>
                    </a:ext>
                  </a:extLst>
                </a:gridCol>
              </a:tblGrid>
              <a:tr h="487332">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p</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6</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2|3</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5</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30773172"/>
                  </a:ext>
                </a:extLst>
              </a:tr>
              <a:tr h="487332">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p’</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0</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2943900"/>
                  </a:ext>
                </a:extLst>
              </a:tr>
            </a:tbl>
          </a:graphicData>
        </a:graphic>
      </p:graphicFrame>
      <p:graphicFrame>
        <p:nvGraphicFramePr>
          <p:cNvPr id="7" name="Table 8">
            <a:extLst>
              <a:ext uri="{FF2B5EF4-FFF2-40B4-BE49-F238E27FC236}">
                <a16:creationId xmlns:a16="http://schemas.microsoft.com/office/drawing/2014/main" id="{2FAA1A1C-3E6D-C232-0595-793B568720F1}"/>
              </a:ext>
            </a:extLst>
          </p:cNvPr>
          <p:cNvGraphicFramePr>
            <a:graphicFrameLocks noGrp="1"/>
          </p:cNvGraphicFramePr>
          <p:nvPr>
            <p:extLst>
              <p:ext uri="{D42A27DB-BD31-4B8C-83A1-F6EECF244321}">
                <p14:modId xmlns:p14="http://schemas.microsoft.com/office/powerpoint/2010/main" val="2657169949"/>
              </p:ext>
            </p:extLst>
          </p:nvPr>
        </p:nvGraphicFramePr>
        <p:xfrm>
          <a:off x="4132730" y="3068418"/>
          <a:ext cx="6804210" cy="974664"/>
        </p:xfrm>
        <a:graphic>
          <a:graphicData uri="http://schemas.openxmlformats.org/drawingml/2006/table">
            <a:tbl>
              <a:tblPr firstRow="1" bandRow="1">
                <a:tableStyleId>{5C22544A-7EE6-4342-B048-85BDC9FD1C3A}</a:tableStyleId>
              </a:tblPr>
              <a:tblGrid>
                <a:gridCol w="680421">
                  <a:extLst>
                    <a:ext uri="{9D8B030D-6E8A-4147-A177-3AD203B41FA5}">
                      <a16:colId xmlns:a16="http://schemas.microsoft.com/office/drawing/2014/main" val="3599931994"/>
                    </a:ext>
                  </a:extLst>
                </a:gridCol>
                <a:gridCol w="680421">
                  <a:extLst>
                    <a:ext uri="{9D8B030D-6E8A-4147-A177-3AD203B41FA5}">
                      <a16:colId xmlns:a16="http://schemas.microsoft.com/office/drawing/2014/main" val="2578693444"/>
                    </a:ext>
                  </a:extLst>
                </a:gridCol>
                <a:gridCol w="680421">
                  <a:extLst>
                    <a:ext uri="{9D8B030D-6E8A-4147-A177-3AD203B41FA5}">
                      <a16:colId xmlns:a16="http://schemas.microsoft.com/office/drawing/2014/main" val="1809454374"/>
                    </a:ext>
                  </a:extLst>
                </a:gridCol>
                <a:gridCol w="680421">
                  <a:extLst>
                    <a:ext uri="{9D8B030D-6E8A-4147-A177-3AD203B41FA5}">
                      <a16:colId xmlns:a16="http://schemas.microsoft.com/office/drawing/2014/main" val="4007354176"/>
                    </a:ext>
                  </a:extLst>
                </a:gridCol>
                <a:gridCol w="680421">
                  <a:extLst>
                    <a:ext uri="{9D8B030D-6E8A-4147-A177-3AD203B41FA5}">
                      <a16:colId xmlns:a16="http://schemas.microsoft.com/office/drawing/2014/main" val="767666505"/>
                    </a:ext>
                  </a:extLst>
                </a:gridCol>
                <a:gridCol w="680421">
                  <a:extLst>
                    <a:ext uri="{9D8B030D-6E8A-4147-A177-3AD203B41FA5}">
                      <a16:colId xmlns:a16="http://schemas.microsoft.com/office/drawing/2014/main" val="3485296039"/>
                    </a:ext>
                  </a:extLst>
                </a:gridCol>
                <a:gridCol w="680421">
                  <a:extLst>
                    <a:ext uri="{9D8B030D-6E8A-4147-A177-3AD203B41FA5}">
                      <a16:colId xmlns:a16="http://schemas.microsoft.com/office/drawing/2014/main" val="4253749652"/>
                    </a:ext>
                  </a:extLst>
                </a:gridCol>
                <a:gridCol w="680421">
                  <a:extLst>
                    <a:ext uri="{9D8B030D-6E8A-4147-A177-3AD203B41FA5}">
                      <a16:colId xmlns:a16="http://schemas.microsoft.com/office/drawing/2014/main" val="2084102113"/>
                    </a:ext>
                  </a:extLst>
                </a:gridCol>
                <a:gridCol w="680421">
                  <a:extLst>
                    <a:ext uri="{9D8B030D-6E8A-4147-A177-3AD203B41FA5}">
                      <a16:colId xmlns:a16="http://schemas.microsoft.com/office/drawing/2014/main" val="833592028"/>
                    </a:ext>
                  </a:extLst>
                </a:gridCol>
                <a:gridCol w="680421">
                  <a:extLst>
                    <a:ext uri="{9D8B030D-6E8A-4147-A177-3AD203B41FA5}">
                      <a16:colId xmlns:a16="http://schemas.microsoft.com/office/drawing/2014/main" val="4126110180"/>
                    </a:ext>
                  </a:extLst>
                </a:gridCol>
              </a:tblGrid>
              <a:tr h="487332">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t</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3|4</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5</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6|8</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rgbClr val="FF0000"/>
                          </a:solidFill>
                          <a:latin typeface="Times New Roman" panose="02020603050405020304" pitchFamily="18" charset="0"/>
                          <a:ea typeface="+mn-ea"/>
                          <a:cs typeface="Times New Roman" panose="02020603050405020304" pitchFamily="18" charset="0"/>
                        </a:rPr>
                        <a:t>6</a:t>
                      </a: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|7</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rgbClr val="FF0000"/>
                          </a:solidFill>
                          <a:latin typeface="Times New Roman" panose="02020603050405020304" pitchFamily="18" charset="0"/>
                          <a:ea typeface="+mn-ea"/>
                          <a:cs typeface="Times New Roman" panose="02020603050405020304" pitchFamily="18" charset="0"/>
                        </a:rPr>
                        <a:t>3</a:t>
                      </a:r>
                      <a:endParaRPr kumimoji="1" lang="zh-TW" altLang="en-US" sz="2400" b="0" kern="1200" dirty="0">
                        <a:solidFill>
                          <a:srgbClr val="FF0000"/>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rgbClr val="FF0000"/>
                          </a:solidFill>
                          <a:latin typeface="Times New Roman" panose="02020603050405020304" pitchFamily="18" charset="0"/>
                          <a:ea typeface="+mn-ea"/>
                          <a:cs typeface="Times New Roman" panose="02020603050405020304" pitchFamily="18" charset="0"/>
                        </a:rPr>
                        <a:t>5</a:t>
                      </a:r>
                      <a:endParaRPr kumimoji="1" lang="zh-TW" altLang="en-US" sz="2400" b="0" kern="1200" dirty="0">
                        <a:solidFill>
                          <a:srgbClr val="FF0000"/>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rgbClr val="00B050"/>
                          </a:solidFill>
                          <a:latin typeface="Times New Roman" panose="02020603050405020304" pitchFamily="18" charset="0"/>
                          <a:ea typeface="+mn-ea"/>
                          <a:cs typeface="Times New Roman" panose="02020603050405020304" pitchFamily="18" charset="0"/>
                        </a:rPr>
                        <a:t>4</a:t>
                      </a: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|6</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rgbClr val="00B050"/>
                          </a:solidFill>
                          <a:latin typeface="Times New Roman" panose="02020603050405020304" pitchFamily="18" charset="0"/>
                          <a:ea typeface="+mn-ea"/>
                          <a:cs typeface="Times New Roman" panose="02020603050405020304" pitchFamily="18" charset="0"/>
                        </a:rPr>
                        <a:t>7</a:t>
                      </a: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a:t>
                      </a:r>
                      <a:r>
                        <a:rPr kumimoji="1" lang="en-US" altLang="zh-TW" sz="2400" b="0" kern="1200" dirty="0">
                          <a:solidFill>
                            <a:srgbClr val="00B050"/>
                          </a:solidFill>
                          <a:latin typeface="Times New Roman" panose="02020603050405020304" pitchFamily="18" charset="0"/>
                          <a:ea typeface="+mn-ea"/>
                          <a:cs typeface="Times New Roman" panose="02020603050405020304" pitchFamily="18" charset="0"/>
                        </a:rPr>
                        <a:t>8</a:t>
                      </a:r>
                      <a:endParaRPr kumimoji="1" lang="zh-TW" altLang="en-US" sz="2400" b="0" kern="1200" dirty="0">
                        <a:solidFill>
                          <a:srgbClr val="00B050"/>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b="0" kern="1200" dirty="0">
                          <a:solidFill>
                            <a:schemeClr val="tx1"/>
                          </a:solidFill>
                          <a:latin typeface="Times New Roman" panose="02020603050405020304" pitchFamily="18" charset="0"/>
                          <a:ea typeface="+mn-ea"/>
                          <a:cs typeface="Times New Roman" panose="02020603050405020304" pitchFamily="18" charset="0"/>
                        </a:rPr>
                        <a:t>4</a:t>
                      </a:r>
                      <a:endParaRPr kumimoji="1" lang="zh-TW" altLang="en-US" sz="2400" b="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3491072"/>
                  </a:ext>
                </a:extLst>
              </a:tr>
              <a:tr h="487332">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t’</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0</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1</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zh-TW" sz="2400" kern="1200" dirty="0">
                          <a:solidFill>
                            <a:schemeClr val="tx1"/>
                          </a:solidFill>
                          <a:latin typeface="Times New Roman" panose="02020603050405020304" pitchFamily="18" charset="0"/>
                          <a:ea typeface="+mn-ea"/>
                          <a:cs typeface="Times New Roman" panose="02020603050405020304" pitchFamily="18" charset="0"/>
                        </a:rPr>
                        <a:t>0</a:t>
                      </a: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zh-TW" altLang="en-US" sz="2400" kern="1200" dirty="0">
                        <a:solidFill>
                          <a:schemeClr val="tx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87134937"/>
                  </a:ext>
                </a:extLst>
              </a:tr>
            </a:tbl>
          </a:graphicData>
        </a:graphic>
      </p:graphicFrame>
    </p:spTree>
    <p:extLst>
      <p:ext uri="{BB962C8B-B14F-4D97-AF65-F5344CB8AC3E}">
        <p14:creationId xmlns:p14="http://schemas.microsoft.com/office/powerpoint/2010/main" val="164240056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4E32A-8416-A57A-A55B-17B6957E26ED}"/>
              </a:ext>
            </a:extLst>
          </p:cNvPr>
          <p:cNvSpPr>
            <a:spLocks noGrp="1"/>
          </p:cNvSpPr>
          <p:nvPr>
            <p:ph type="title"/>
          </p:nvPr>
        </p:nvSpPr>
        <p:spPr/>
        <p:txBody>
          <a:bodyPr>
            <a:normAutofit/>
          </a:bodyPr>
          <a:lstStyle/>
          <a:p>
            <a:r>
              <a:rPr kumimoji="1" lang="en-US" altLang="zh-TW" sz="3200" b="1" dirty="0">
                <a:latin typeface="Times New Roman" panose="02020603050405020304" pitchFamily="18" charset="0"/>
                <a:cs typeface="Times New Roman" panose="02020603050405020304" pitchFamily="18" charset="0"/>
              </a:rPr>
              <a:t>Conclusion</a:t>
            </a:r>
            <a:endParaRPr lang="zh-TW" altLang="en-US"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049979-F5A7-6534-10C1-F736244053A9}"/>
                  </a:ext>
                </a:extLst>
              </p:cNvPr>
              <p:cNvSpPr>
                <a:spLocks noGrp="1"/>
              </p:cNvSpPr>
              <p:nvPr>
                <p:ph idx="1"/>
              </p:nvPr>
            </p:nvSpPr>
            <p:spPr/>
            <p:txBody>
              <a:bodyPr/>
              <a:lstStyle/>
              <a:p>
                <a:r>
                  <a:rPr kumimoji="1" lang="en-US" altLang="zh-TW" sz="2400" dirty="0" err="1">
                    <a:latin typeface="Times New Roman" panose="02020603050405020304" pitchFamily="18" charset="0"/>
                    <a:cs typeface="Times New Roman" panose="02020603050405020304" pitchFamily="18" charset="0"/>
                  </a:rPr>
                  <a:t>μOPPM</a:t>
                </a:r>
                <a:r>
                  <a:rPr kumimoji="1" lang="en-US" altLang="zh-TW" sz="2400" dirty="0">
                    <a:latin typeface="Times New Roman" panose="02020603050405020304" pitchFamily="18" charset="0"/>
                    <a:cs typeface="Times New Roman" panose="02020603050405020304" pitchFamily="18" charset="0"/>
                  </a:rPr>
                  <a:t> with One Determinate String</a:t>
                </a:r>
              </a:p>
              <a:p>
                <a:pPr lvl="1"/>
                <a:r>
                  <a:rPr kumimoji="1" lang="en-US" altLang="zh-TW" dirty="0">
                    <a:latin typeface="Times New Roman" panose="02020603050405020304" pitchFamily="18" charset="0"/>
                    <a:cs typeface="Times New Roman" panose="02020603050405020304" pitchFamily="18" charset="0"/>
                  </a:rPr>
                  <a:t>Time complexity: </a:t>
                </a:r>
                <a14:m>
                  <m:oMath xmlns:m="http://schemas.openxmlformats.org/officeDocument/2006/math">
                    <m:r>
                      <a:rPr kumimoji="1" lang="en-US" altLang="zh-TW" b="0" i="1" smtClean="0">
                        <a:latin typeface="Cambria Math" panose="02040503050406030204" pitchFamily="18" charset="0"/>
                        <a:cs typeface="Times New Roman" panose="02020603050405020304" pitchFamily="18" charset="0"/>
                      </a:rPr>
                      <m:t>𝑂</m:t>
                    </m:r>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𝑚𝑟</m:t>
                    </m:r>
                    <m:func>
                      <m:funcPr>
                        <m:ctrlPr>
                          <a:rPr kumimoji="1" lang="en-US" altLang="zh-TW" b="0" i="1" smtClean="0">
                            <a:latin typeface="Cambria Math" panose="02040503050406030204" pitchFamily="18" charset="0"/>
                            <a:cs typeface="Times New Roman" panose="02020603050405020304" pitchFamily="18" charset="0"/>
                          </a:rPr>
                        </m:ctrlPr>
                      </m:funcPr>
                      <m:fName>
                        <m:r>
                          <m:rPr>
                            <m:sty m:val="p"/>
                          </m:rPr>
                          <a:rPr kumimoji="1" lang="en-US" altLang="zh-TW" b="0" i="0" smtClean="0">
                            <a:latin typeface="Cambria Math" panose="02040503050406030204" pitchFamily="18" charset="0"/>
                            <a:cs typeface="Times New Roman" panose="02020603050405020304" pitchFamily="18" charset="0"/>
                          </a:rPr>
                          <m:t>lg</m:t>
                        </m:r>
                      </m:fName>
                      <m:e>
                        <m:r>
                          <a:rPr kumimoji="1" lang="en-US" altLang="zh-TW" b="0" i="1" smtClean="0">
                            <a:latin typeface="Cambria Math" panose="02040503050406030204" pitchFamily="18" charset="0"/>
                            <a:cs typeface="Times New Roman" panose="02020603050405020304" pitchFamily="18" charset="0"/>
                          </a:rPr>
                          <m:t>𝑟</m:t>
                        </m:r>
                      </m:e>
                    </m:func>
                    <m:r>
                      <a:rPr kumimoji="1" lang="en-US" altLang="zh-TW" b="0" i="0" smtClean="0">
                        <a:latin typeface="Cambria Math" panose="02040503050406030204" pitchFamily="18" charset="0"/>
                        <a:cs typeface="Times New Roman" panose="02020603050405020304" pitchFamily="18" charset="0"/>
                      </a:rPr>
                      <m:t>)</m:t>
                    </m:r>
                  </m:oMath>
                </a14:m>
                <a:endParaRPr kumimoji="1" lang="en-US" altLang="zh-TW" b="0" dirty="0">
                  <a:latin typeface="Times New Roman" panose="02020603050405020304" pitchFamily="18" charset="0"/>
                  <a:cs typeface="Times New Roman" panose="02020603050405020304" pitchFamily="18" charset="0"/>
                </a:endParaRPr>
              </a:p>
              <a:p>
                <a:pPr lvl="1"/>
                <a:r>
                  <a:rPr kumimoji="1" lang="en-US" altLang="zh-TW" dirty="0">
                    <a:latin typeface="Times New Roman" panose="02020603050405020304" pitchFamily="18" charset="0"/>
                    <a:cs typeface="Times New Roman" panose="02020603050405020304" pitchFamily="18" charset="0"/>
                  </a:rPr>
                  <a:t>Space complexity: </a:t>
                </a:r>
                <a14:m>
                  <m:oMath xmlns:m="http://schemas.openxmlformats.org/officeDocument/2006/math">
                    <m:r>
                      <a:rPr kumimoji="1" lang="en-US" altLang="zh-TW" b="0" i="1" smtClean="0">
                        <a:latin typeface="Cambria Math" panose="02040503050406030204" pitchFamily="18" charset="0"/>
                        <a:cs typeface="Times New Roman" panose="02020603050405020304" pitchFamily="18" charset="0"/>
                      </a:rPr>
                      <m:t>𝑂</m:t>
                    </m:r>
                    <m:d>
                      <m:dPr>
                        <m:ctrlPr>
                          <a:rPr kumimoji="1" lang="en-US" altLang="zh-TW" b="0" i="1" smtClean="0">
                            <a:latin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cs typeface="Times New Roman" panose="02020603050405020304" pitchFamily="18" charset="0"/>
                          </a:rPr>
                          <m:t>𝑚𝑟</m:t>
                        </m:r>
                      </m:e>
                    </m:d>
                  </m:oMath>
                </a14:m>
                <a:endParaRPr kumimoji="1" lang="en-US" altLang="zh-TW" sz="2000" dirty="0">
                  <a:latin typeface="Times New Roman" panose="02020603050405020304" pitchFamily="18" charset="0"/>
                  <a:cs typeface="Times New Roman" panose="02020603050405020304" pitchFamily="18" charset="0"/>
                </a:endParaRPr>
              </a:p>
              <a:p>
                <a:pPr lvl="1"/>
                <a:endParaRPr kumimoji="1" lang="en-US" altLang="zh-TW" b="0" dirty="0">
                  <a:latin typeface="Times New Roman" panose="02020603050405020304" pitchFamily="18" charset="0"/>
                  <a:cs typeface="Times New Roman" panose="02020603050405020304" pitchFamily="18" charset="0"/>
                </a:endParaRPr>
              </a:p>
              <a:p>
                <a:r>
                  <a:rPr kumimoji="1" lang="en-US" altLang="zh-TW" sz="2400" dirty="0">
                    <a:latin typeface="Times New Roman" panose="02020603050405020304" pitchFamily="18" charset="0"/>
                    <a:cs typeface="Times New Roman" panose="02020603050405020304" pitchFamily="18" charset="0"/>
                  </a:rPr>
                  <a:t>alternate-</a:t>
                </a:r>
                <a:r>
                  <a:rPr kumimoji="1" lang="el-GR" altLang="zh-TW" sz="2400" dirty="0">
                    <a:latin typeface="Times New Roman" panose="02020603050405020304" pitchFamily="18" charset="0"/>
                    <a:cs typeface="Times New Roman" panose="02020603050405020304" pitchFamily="18" charset="0"/>
                  </a:rPr>
                  <a:t>μ</a:t>
                </a:r>
                <a:r>
                  <a:rPr kumimoji="1" lang="en-US" altLang="zh-TW" sz="2400" dirty="0">
                    <a:latin typeface="Times New Roman" panose="02020603050405020304" pitchFamily="18" charset="0"/>
                    <a:cs typeface="Times New Roman" panose="02020603050405020304" pitchFamily="18" charset="0"/>
                  </a:rPr>
                  <a:t>OPPM</a:t>
                </a:r>
              </a:p>
              <a:p>
                <a:pPr lvl="1"/>
                <a:r>
                  <a:rPr kumimoji="1" lang="en-US" altLang="zh-TW" dirty="0">
                    <a:latin typeface="Times New Roman" panose="02020603050405020304" pitchFamily="18" charset="0"/>
                    <a:cs typeface="Times New Roman" panose="02020603050405020304" pitchFamily="18" charset="0"/>
                  </a:rPr>
                  <a:t>Time complexity: </a:t>
                </a:r>
                <a14:m>
                  <m:oMath xmlns:m="http://schemas.openxmlformats.org/officeDocument/2006/math">
                    <m:r>
                      <a:rPr kumimoji="1" lang="en-US" altLang="zh-TW" b="0" i="1" smtClean="0">
                        <a:latin typeface="Cambria Math" panose="02040503050406030204" pitchFamily="18" charset="0"/>
                        <a:cs typeface="Times New Roman" panose="02020603050405020304" pitchFamily="18" charset="0"/>
                      </a:rPr>
                      <m:t>𝑂</m:t>
                    </m:r>
                    <m:d>
                      <m:dPr>
                        <m:ctrlPr>
                          <a:rPr kumimoji="1" lang="en-US" altLang="zh-TW" b="0" i="1" smtClean="0">
                            <a:latin typeface="Cambria Math" panose="02040503050406030204" pitchFamily="18" charset="0"/>
                            <a:cs typeface="Times New Roman" panose="02020603050405020304" pitchFamily="18" charset="0"/>
                          </a:rPr>
                        </m:ctrlPr>
                      </m:dPr>
                      <m:e>
                        <m:r>
                          <a:rPr kumimoji="1" lang="en-US" altLang="zh-TW" b="0" i="1" smtClean="0">
                            <a:latin typeface="Cambria Math" panose="02040503050406030204" pitchFamily="18" charset="0"/>
                            <a:cs typeface="Times New Roman" panose="02020603050405020304" pitchFamily="18" charset="0"/>
                          </a:rPr>
                          <m:t>𝑟𝑚</m:t>
                        </m:r>
                        <m:r>
                          <a:rPr kumimoji="1" lang="en-US" altLang="zh-TW" b="0" i="1" smtClean="0">
                            <a:latin typeface="Cambria Math" panose="02040503050406030204" pitchFamily="18" charset="0"/>
                            <a:cs typeface="Times New Roman" panose="02020603050405020304" pitchFamily="18" charset="0"/>
                          </a:rPr>
                          <m:t>(</m:t>
                        </m:r>
                        <m:r>
                          <a:rPr kumimoji="1" lang="en-US" altLang="zh-TW" b="0" i="1" smtClean="0">
                            <a:latin typeface="Cambria Math" panose="02040503050406030204" pitchFamily="18" charset="0"/>
                            <a:cs typeface="Times New Roman" panose="02020603050405020304" pitchFamily="18" charset="0"/>
                          </a:rPr>
                          <m:t>𝑚</m:t>
                        </m:r>
                        <m:r>
                          <a:rPr kumimoji="1" lang="en-US" altLang="zh-TW" b="0" i="1" smtClean="0">
                            <a:latin typeface="Cambria Math" panose="02040503050406030204" pitchFamily="18" charset="0"/>
                            <a:cs typeface="Times New Roman" panose="02020603050405020304" pitchFamily="18" charset="0"/>
                          </a:rPr>
                          <m:t>+</m:t>
                        </m:r>
                        <m:func>
                          <m:funcPr>
                            <m:ctrlPr>
                              <a:rPr kumimoji="1" lang="en-US" altLang="zh-TW" b="0" i="1" smtClean="0">
                                <a:latin typeface="Cambria Math" panose="02040503050406030204" pitchFamily="18" charset="0"/>
                                <a:cs typeface="Times New Roman" panose="02020603050405020304" pitchFamily="18" charset="0"/>
                              </a:rPr>
                            </m:ctrlPr>
                          </m:funcPr>
                          <m:fName>
                            <m:r>
                              <m:rPr>
                                <m:sty m:val="p"/>
                              </m:rPr>
                              <a:rPr kumimoji="1" lang="en-US" altLang="zh-TW" b="0" i="0" smtClean="0">
                                <a:latin typeface="Cambria Math" panose="02040503050406030204" pitchFamily="18" charset="0"/>
                                <a:cs typeface="Times New Roman" panose="02020603050405020304" pitchFamily="18" charset="0"/>
                              </a:rPr>
                              <m:t>lg</m:t>
                            </m:r>
                          </m:fName>
                          <m:e>
                            <m:r>
                              <a:rPr kumimoji="1" lang="en-US" altLang="zh-TW" b="0" i="1" smtClean="0">
                                <a:latin typeface="Cambria Math" panose="02040503050406030204" pitchFamily="18" charset="0"/>
                                <a:cs typeface="Times New Roman" panose="02020603050405020304" pitchFamily="18" charset="0"/>
                              </a:rPr>
                              <m:t>𝑟</m:t>
                            </m:r>
                            <m:r>
                              <a:rPr kumimoji="1" lang="en-US" altLang="zh-TW" b="0" i="1" smtClean="0">
                                <a:latin typeface="Cambria Math" panose="02040503050406030204" pitchFamily="18" charset="0"/>
                                <a:cs typeface="Times New Roman" panose="02020603050405020304" pitchFamily="18" charset="0"/>
                              </a:rPr>
                              <m:t>)</m:t>
                            </m:r>
                          </m:e>
                        </m:func>
                      </m:e>
                    </m:d>
                  </m:oMath>
                </a14:m>
                <a:endParaRPr kumimoji="1" lang="en-US" altLang="zh-TW" dirty="0">
                  <a:latin typeface="Times New Roman" panose="02020603050405020304" pitchFamily="18" charset="0"/>
                  <a:cs typeface="Times New Roman" panose="02020603050405020304" pitchFamily="18" charset="0"/>
                </a:endParaRPr>
              </a:p>
              <a:p>
                <a:pPr lvl="1"/>
                <a:r>
                  <a:rPr kumimoji="1" lang="en-US" altLang="zh-TW" dirty="0">
                    <a:latin typeface="Times New Roman" panose="02020603050405020304" pitchFamily="18" charset="0"/>
                    <a:cs typeface="Times New Roman" panose="02020603050405020304" pitchFamily="18" charset="0"/>
                  </a:rPr>
                  <a:t>Space complexity: </a:t>
                </a:r>
                <a14:m>
                  <m:oMath xmlns:m="http://schemas.openxmlformats.org/officeDocument/2006/math">
                    <m:r>
                      <a:rPr kumimoji="1" lang="en-US" altLang="zh-TW" b="0" i="1" smtClean="0">
                        <a:latin typeface="Cambria Math" panose="02040503050406030204" pitchFamily="18" charset="0"/>
                        <a:cs typeface="Times New Roman" panose="02020603050405020304" pitchFamily="18" charset="0"/>
                      </a:rPr>
                      <m:t>𝑂</m:t>
                    </m:r>
                    <m:d>
                      <m:dPr>
                        <m:ctrlPr>
                          <a:rPr kumimoji="1" lang="en-US" altLang="zh-TW" b="0" i="1" smtClean="0">
                            <a:latin typeface="Cambria Math" panose="02040503050406030204" pitchFamily="18" charset="0"/>
                            <a:cs typeface="Times New Roman" panose="02020603050405020304" pitchFamily="18" charset="0"/>
                          </a:rPr>
                        </m:ctrlPr>
                      </m:dPr>
                      <m:e>
                        <m:sSup>
                          <m:sSupPr>
                            <m:ctrlPr>
                              <a:rPr kumimoji="1" lang="en-US" altLang="zh-TW" b="0" i="1" smtClean="0">
                                <a:latin typeface="Cambria Math" panose="02040503050406030204" pitchFamily="18" charset="0"/>
                                <a:cs typeface="Times New Roman" panose="02020603050405020304" pitchFamily="18" charset="0"/>
                              </a:rPr>
                            </m:ctrlPr>
                          </m:sSupPr>
                          <m:e>
                            <m:r>
                              <a:rPr kumimoji="1" lang="en-US" altLang="zh-TW" b="0" i="1" smtClean="0">
                                <a:latin typeface="Cambria Math" panose="02040503050406030204" pitchFamily="18" charset="0"/>
                                <a:cs typeface="Times New Roman" panose="02020603050405020304" pitchFamily="18" charset="0"/>
                              </a:rPr>
                              <m:t>𝑚</m:t>
                            </m:r>
                          </m:e>
                          <m:sup>
                            <m:r>
                              <a:rPr kumimoji="1" lang="en-US" altLang="zh-TW" b="0" i="1" smtClean="0">
                                <a:latin typeface="Cambria Math" panose="02040503050406030204" pitchFamily="18" charset="0"/>
                                <a:cs typeface="Times New Roman" panose="02020603050405020304" pitchFamily="18" charset="0"/>
                              </a:rPr>
                              <m:t>2</m:t>
                            </m:r>
                          </m:sup>
                        </m:sSup>
                      </m:e>
                    </m:d>
                  </m:oMath>
                </a14:m>
                <a:endParaRPr kumimoji="1" lang="en-US" altLang="zh-TW" sz="20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9049979-F5A7-6534-10C1-F736244053A9}"/>
                  </a:ext>
                </a:extLst>
              </p:cNvPr>
              <p:cNvSpPr>
                <a:spLocks noGrp="1" noRot="1" noChangeAspect="1" noMove="1" noResize="1" noEditPoints="1" noAdjustHandles="1" noChangeArrowheads="1" noChangeShapeType="1" noTextEdit="1"/>
              </p:cNvSpPr>
              <p:nvPr>
                <p:ph idx="1"/>
              </p:nvPr>
            </p:nvSpPr>
            <p:spPr>
              <a:blipFill>
                <a:blip r:embed="rId3"/>
                <a:stretch>
                  <a:fillRect l="-812" t="-1961"/>
                </a:stretch>
              </a:blipFill>
            </p:spPr>
            <p:txBody>
              <a:bodyPr/>
              <a:lstStyle/>
              <a:p>
                <a:r>
                  <a:rPr lang="zh-TW" altLang="en-US">
                    <a:noFill/>
                  </a:rPr>
                  <a:t> </a:t>
                </a:r>
              </a:p>
            </p:txBody>
          </p:sp>
        </mc:Fallback>
      </mc:AlternateContent>
      <p:sp>
        <p:nvSpPr>
          <p:cNvPr id="4" name="Slide Number Placeholder 3">
            <a:extLst>
              <a:ext uri="{FF2B5EF4-FFF2-40B4-BE49-F238E27FC236}">
                <a16:creationId xmlns:a16="http://schemas.microsoft.com/office/drawing/2014/main" id="{74D1E5CC-1099-B1E7-5DBB-2AD99AD3ABBE}"/>
              </a:ext>
            </a:extLst>
          </p:cNvPr>
          <p:cNvSpPr>
            <a:spLocks noGrp="1"/>
          </p:cNvSpPr>
          <p:nvPr>
            <p:ph type="sldNum" sz="quarter" idx="12"/>
          </p:nvPr>
        </p:nvSpPr>
        <p:spPr/>
        <p:txBody>
          <a:bodyPr/>
          <a:lstStyle/>
          <a:p>
            <a:fld id="{C497B8E6-CB28-4350-9E62-3F3C29E41FED}" type="slidenum">
              <a:rPr lang="zh-TW" altLang="en-US" smtClean="0"/>
              <a:t>20</a:t>
            </a:fld>
            <a:endParaRPr lang="zh-TW" altLang="en-US"/>
          </a:p>
        </p:txBody>
      </p:sp>
    </p:spTree>
    <p:extLst>
      <p:ext uri="{BB962C8B-B14F-4D97-AF65-F5344CB8AC3E}">
        <p14:creationId xmlns:p14="http://schemas.microsoft.com/office/powerpoint/2010/main" val="366459289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7D114-1DBA-A601-39EC-33E8BBDD8E36}"/>
              </a:ext>
            </a:extLst>
          </p:cNvPr>
          <p:cNvSpPr>
            <a:spLocks noGrp="1"/>
          </p:cNvSpPr>
          <p:nvPr>
            <p:ph type="title"/>
          </p:nvPr>
        </p:nvSpPr>
        <p:spPr/>
        <p:txBody>
          <a:bodyPr/>
          <a:lstStyle/>
          <a:p>
            <a:endParaRPr lang="zh-TW" altLang="en-US"/>
          </a:p>
        </p:txBody>
      </p:sp>
      <p:sp>
        <p:nvSpPr>
          <p:cNvPr id="3" name="Content Placeholder 2">
            <a:extLst>
              <a:ext uri="{FF2B5EF4-FFF2-40B4-BE49-F238E27FC236}">
                <a16:creationId xmlns:a16="http://schemas.microsoft.com/office/drawing/2014/main" id="{1C96E714-D85E-5B17-4E87-CB568909E774}"/>
              </a:ext>
            </a:extLst>
          </p:cNvPr>
          <p:cNvSpPr>
            <a:spLocks noGrp="1"/>
          </p:cNvSpPr>
          <p:nvPr>
            <p:ph idx="1"/>
          </p:nvPr>
        </p:nvSpPr>
        <p:spPr/>
        <p:txBody>
          <a:bodyPr/>
          <a:lstStyle/>
          <a:p>
            <a:endParaRPr lang="zh-TW" altLang="en-US" dirty="0"/>
          </a:p>
        </p:txBody>
      </p:sp>
      <p:sp>
        <p:nvSpPr>
          <p:cNvPr id="4" name="Slide Number Placeholder 3">
            <a:extLst>
              <a:ext uri="{FF2B5EF4-FFF2-40B4-BE49-F238E27FC236}">
                <a16:creationId xmlns:a16="http://schemas.microsoft.com/office/drawing/2014/main" id="{6ACDA9C4-304E-C0B4-344C-741155B7848C}"/>
              </a:ext>
            </a:extLst>
          </p:cNvPr>
          <p:cNvSpPr>
            <a:spLocks noGrp="1"/>
          </p:cNvSpPr>
          <p:nvPr>
            <p:ph type="sldNum" sz="quarter" idx="12"/>
          </p:nvPr>
        </p:nvSpPr>
        <p:spPr/>
        <p:txBody>
          <a:bodyPr/>
          <a:lstStyle/>
          <a:p>
            <a:fld id="{C497B8E6-CB28-4350-9E62-3F3C29E41FED}" type="slidenum">
              <a:rPr lang="zh-TW" altLang="en-US" smtClean="0"/>
              <a:t>21</a:t>
            </a:fld>
            <a:endParaRPr lang="zh-TW" altLang="en-US"/>
          </a:p>
        </p:txBody>
      </p:sp>
      <p:pic>
        <p:nvPicPr>
          <p:cNvPr id="1026" name="Picture 2">
            <a:extLst>
              <a:ext uri="{FF2B5EF4-FFF2-40B4-BE49-F238E27FC236}">
                <a16:creationId xmlns:a16="http://schemas.microsoft.com/office/drawing/2014/main" id="{806D7B5A-4E72-393C-646B-236759D657D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0987"/>
          <a:stretch/>
        </p:blipFill>
        <p:spPr bwMode="auto">
          <a:xfrm>
            <a:off x="1691481" y="681037"/>
            <a:ext cx="8809037" cy="5418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5190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3498</TotalTime>
  <Words>1076</Words>
  <Application>Microsoft Office PowerPoint</Application>
  <PresentationFormat>Widescreen</PresentationFormat>
  <Paragraphs>194</Paragraphs>
  <Slides>21</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Cambria Math</vt:lpstr>
      <vt:lpstr>Times New Roman</vt:lpstr>
      <vt:lpstr>Office Theme</vt:lpstr>
      <vt:lpstr>Order-Preserving Pattern Matching Indeterminate Strings</vt:lpstr>
      <vt:lpstr>Abstract </vt:lpstr>
      <vt:lpstr>Indeterminate Order Preserving Pattern Matching (μOPPM)</vt:lpstr>
      <vt:lpstr>μOPPM with One Determinate String</vt:lpstr>
      <vt:lpstr>μOPPM with One Determinate String</vt:lpstr>
      <vt:lpstr>μOPPM with One Determinate String</vt:lpstr>
      <vt:lpstr>Alternate-μOPPM</vt:lpstr>
      <vt:lpstr>Alternate-μOPPM</vt:lpstr>
      <vt:lpstr>Alternate-μOPPM</vt:lpstr>
      <vt:lpstr>Alternate-μOPPM</vt:lpstr>
      <vt:lpstr>Alternate-μOPPM</vt:lpstr>
      <vt:lpstr>Alternate-μOPPM</vt:lpstr>
      <vt:lpstr>Alternate-μOPPM</vt:lpstr>
      <vt:lpstr>Alternate-μOPPM</vt:lpstr>
      <vt:lpstr>Alternate-μOPPM</vt:lpstr>
      <vt:lpstr>Alternate-μOPPM</vt:lpstr>
      <vt:lpstr>Alternate-μOPPM</vt:lpstr>
      <vt:lpstr>Handling Larger Texts</vt:lpstr>
      <vt:lpstr>Handling Larger Texts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Substring Inclusion Constraint Longest Common Subsequence Problem Can Be Solved in Quadratic Time</dc:title>
  <dc:creator>Wen Wen Liao</dc:creator>
  <cp:lastModifiedBy>Wen Wen Liao</cp:lastModifiedBy>
  <cp:revision>82</cp:revision>
  <dcterms:created xsi:type="dcterms:W3CDTF">2022-10-11T15:33:00Z</dcterms:created>
  <dcterms:modified xsi:type="dcterms:W3CDTF">2023-03-07T11:15:11Z</dcterms:modified>
</cp:coreProperties>
</file>