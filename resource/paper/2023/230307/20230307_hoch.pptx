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354" r:id="rId3"/>
    <p:sldId id="291" r:id="rId4"/>
    <p:sldId id="258" r:id="rId5"/>
    <p:sldId id="347" r:id="rId6"/>
    <p:sldId id="348" r:id="rId7"/>
    <p:sldId id="359" r:id="rId8"/>
    <p:sldId id="349" r:id="rId9"/>
    <p:sldId id="355" r:id="rId10"/>
    <p:sldId id="360" r:id="rId11"/>
    <p:sldId id="357" r:id="rId12"/>
    <p:sldId id="358" r:id="rId13"/>
    <p:sldId id="352"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8B1032C-EA38-4F05-BA0D-38AFFFC7BED3}" styleName="淺色樣式 3 - 輔色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8D230F3-CF80-4859-8CE7-A43EE81993B5}" styleName="淺色樣式 1 - 輔色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249" autoAdjust="0"/>
    <p:restoredTop sz="92275" autoAdjust="0"/>
  </p:normalViewPr>
  <p:slideViewPr>
    <p:cSldViewPr snapToGrid="0">
      <p:cViewPr varScale="1">
        <p:scale>
          <a:sx n="70" d="100"/>
          <a:sy n="70" d="100"/>
        </p:scale>
        <p:origin x="69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D3D1E1DC-9B0B-4445-BE92-0FA02D7ED6E3}" type="datetimeFigureOut">
              <a:rPr lang="zh-TW" altLang="en-US" smtClean="0"/>
              <a:t>2023/3/7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2095354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D3D1E1DC-9B0B-4445-BE92-0FA02D7ED6E3}" type="datetimeFigureOut">
              <a:rPr lang="zh-TW" altLang="en-US" smtClean="0"/>
              <a:t>2023/3/7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3194708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D3D1E1DC-9B0B-4445-BE92-0FA02D7ED6E3}" type="datetimeFigureOut">
              <a:rPr lang="zh-TW" altLang="en-US" smtClean="0"/>
              <a:t>2023/3/7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2734290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D3D1E1DC-9B0B-4445-BE92-0FA02D7ED6E3}" type="datetimeFigureOut">
              <a:rPr lang="zh-TW" altLang="en-US" smtClean="0"/>
              <a:t>2023/3/7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2988131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D3D1E1DC-9B0B-4445-BE92-0FA02D7ED6E3}" type="datetimeFigureOut">
              <a:rPr lang="zh-TW" altLang="en-US" smtClean="0"/>
              <a:t>2023/3/7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4266146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D3D1E1DC-9B0B-4445-BE92-0FA02D7ED6E3}" type="datetimeFigureOut">
              <a:rPr lang="zh-TW" altLang="en-US" smtClean="0"/>
              <a:t>2023/3/7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3478512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D3D1E1DC-9B0B-4445-BE92-0FA02D7ED6E3}" type="datetimeFigureOut">
              <a:rPr lang="zh-TW" altLang="en-US" smtClean="0"/>
              <a:t>2023/3/7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1595289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D3D1E1DC-9B0B-4445-BE92-0FA02D7ED6E3}" type="datetimeFigureOut">
              <a:rPr lang="zh-TW" altLang="en-US" smtClean="0"/>
              <a:t>2023/3/7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28211108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D3D1E1DC-9B0B-4445-BE92-0FA02D7ED6E3}" type="datetimeFigureOut">
              <a:rPr lang="zh-TW" altLang="en-US" smtClean="0"/>
              <a:t>2023/3/7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1559348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D3D1E1DC-9B0B-4445-BE92-0FA02D7ED6E3}" type="datetimeFigureOut">
              <a:rPr lang="zh-TW" altLang="en-US" smtClean="0"/>
              <a:t>2023/3/7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1457136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D3D1E1DC-9B0B-4445-BE92-0FA02D7ED6E3}" type="datetimeFigureOut">
              <a:rPr lang="zh-TW" altLang="en-US" smtClean="0"/>
              <a:t>2023/3/7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3118025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D1E1DC-9B0B-4445-BE92-0FA02D7ED6E3}" type="datetimeFigureOut">
              <a:rPr lang="zh-TW" altLang="en-US" smtClean="0"/>
              <a:t>2023/3/7</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5784273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192924" y="1398793"/>
            <a:ext cx="9806152" cy="1299561"/>
          </a:xfrm>
        </p:spPr>
        <p:txBody>
          <a:bodyPr>
            <a:normAutofit fontScale="90000"/>
          </a:bodyPr>
          <a:lstStyle/>
          <a:p>
            <a:r>
              <a:rPr lang="en-US" altLang="zh-TW" sz="4800" dirty="0">
                <a:latin typeface="Times New Roman" panose="02020603050405020304" pitchFamily="18" charset="0"/>
                <a:cs typeface="Times New Roman" panose="02020603050405020304" pitchFamily="18" charset="0"/>
              </a:rPr>
              <a:t>A New Linear-Time "On-Line" Algorithm for Finding the </a:t>
            </a:r>
            <a:br>
              <a:rPr lang="en-US" altLang="zh-TW" sz="4800" dirty="0">
                <a:latin typeface="Times New Roman" panose="02020603050405020304" pitchFamily="18" charset="0"/>
                <a:cs typeface="Times New Roman" panose="02020603050405020304" pitchFamily="18" charset="0"/>
              </a:rPr>
            </a:br>
            <a:r>
              <a:rPr lang="en-US" altLang="zh-TW" sz="4800" dirty="0">
                <a:latin typeface="Times New Roman" panose="02020603050405020304" pitchFamily="18" charset="0"/>
                <a:cs typeface="Times New Roman" panose="02020603050405020304" pitchFamily="18" charset="0"/>
              </a:rPr>
              <a:t>Smallest Initial Palindrome of a String</a:t>
            </a:r>
          </a:p>
        </p:txBody>
      </p:sp>
      <p:sp>
        <p:nvSpPr>
          <p:cNvPr id="4" name="副標題 2"/>
          <p:cNvSpPr>
            <a:spLocks noGrp="1"/>
          </p:cNvSpPr>
          <p:nvPr>
            <p:ph type="subTitle" idx="1"/>
          </p:nvPr>
        </p:nvSpPr>
        <p:spPr>
          <a:xfrm>
            <a:off x="1524000" y="3602038"/>
            <a:ext cx="9144000" cy="1655762"/>
          </a:xfrm>
        </p:spPr>
        <p:txBody>
          <a:bodyPr>
            <a:normAutofit/>
          </a:bodyPr>
          <a:lstStyle/>
          <a:p>
            <a:r>
              <a:rPr lang="fr-FR" altLang="zh-TW" sz="2800" dirty="0">
                <a:latin typeface="Times New Roman" panose="02020603050405020304" pitchFamily="18" charset="0"/>
                <a:cs typeface="Times New Roman" panose="02020603050405020304" pitchFamily="18" charset="0"/>
              </a:rPr>
              <a:t>Glenn Manacher</a:t>
            </a:r>
          </a:p>
          <a:p>
            <a:r>
              <a:rPr lang="en-US" altLang="zh-TW" sz="2800" dirty="0">
                <a:latin typeface="Times New Roman" panose="02020603050405020304" pitchFamily="18" charset="0"/>
                <a:cs typeface="Times New Roman" panose="02020603050405020304" pitchFamily="18" charset="0"/>
              </a:rPr>
              <a:t>Journal of the ACM 22(1975) 346-351</a:t>
            </a:r>
          </a:p>
        </p:txBody>
      </p:sp>
      <p:sp>
        <p:nvSpPr>
          <p:cNvPr id="5" name="矩形 1"/>
          <p:cNvSpPr>
            <a:spLocks noChangeArrowheads="1"/>
          </p:cNvSpPr>
          <p:nvPr/>
        </p:nvSpPr>
        <p:spPr bwMode="auto">
          <a:xfrm>
            <a:off x="8883004" y="5876925"/>
            <a:ext cx="288858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lnSpc>
                <a:spcPct val="90000"/>
              </a:lnSpc>
              <a:spcBef>
                <a:spcPct val="0"/>
              </a:spcBef>
              <a:buNone/>
            </a:pPr>
            <a:r>
              <a:rPr lang="en-US" altLang="zh-TW" sz="2000" dirty="0">
                <a:latin typeface="Times New Roman" panose="02020603050405020304" pitchFamily="18" charset="0"/>
                <a:cs typeface="Times New Roman" panose="02020603050405020304" pitchFamily="18" charset="0"/>
              </a:rPr>
              <a:t>Presenter: Cheng-Han Ho</a:t>
            </a:r>
          </a:p>
          <a:p>
            <a:pPr>
              <a:lnSpc>
                <a:spcPct val="90000"/>
              </a:lnSpc>
              <a:spcBef>
                <a:spcPct val="0"/>
              </a:spcBef>
              <a:buNone/>
            </a:pPr>
            <a:r>
              <a:rPr lang="en-US" altLang="zh-TW" sz="2000" dirty="0">
                <a:latin typeface="Times New Roman" panose="02020603050405020304" pitchFamily="18" charset="0"/>
                <a:cs typeface="Times New Roman" panose="02020603050405020304" pitchFamily="18" charset="0"/>
              </a:rPr>
              <a:t>Date: Mar. 7, 2023</a:t>
            </a:r>
          </a:p>
        </p:txBody>
      </p:sp>
    </p:spTree>
    <p:extLst>
      <p:ext uri="{BB962C8B-B14F-4D97-AF65-F5344CB8AC3E}">
        <p14:creationId xmlns:p14="http://schemas.microsoft.com/office/powerpoint/2010/main" val="366250506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ED0E71-14AD-4E62-972C-221C5E865D7B}"/>
              </a:ext>
            </a:extLst>
          </p:cNvPr>
          <p:cNvSpPr>
            <a:spLocks noGrp="1"/>
          </p:cNvSpPr>
          <p:nvPr>
            <p:ph type="title"/>
          </p:nvPr>
        </p:nvSpPr>
        <p:spPr>
          <a:xfrm>
            <a:off x="838200" y="0"/>
            <a:ext cx="10515600" cy="1382395"/>
          </a:xfrm>
        </p:spPr>
        <p:txBody>
          <a:bodyPr/>
          <a:lstStyle/>
          <a:p>
            <a:r>
              <a:rPr lang="en-US" altLang="zh-TW" dirty="0">
                <a:latin typeface="Times New Roman" panose="02020603050405020304" pitchFamily="18" charset="0"/>
                <a:cs typeface="Times New Roman" panose="02020603050405020304" pitchFamily="18" charset="0"/>
              </a:rPr>
              <a:t>Abstract (1/2) </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02A93AAD-D6B7-4CD4-AC92-2D3922F8C487}"/>
              </a:ext>
            </a:extLst>
          </p:cNvPr>
          <p:cNvSpPr>
            <a:spLocks noGrp="1"/>
          </p:cNvSpPr>
          <p:nvPr>
            <p:ph idx="1"/>
          </p:nvPr>
        </p:nvSpPr>
        <p:spPr>
          <a:xfrm>
            <a:off x="477077" y="1176793"/>
            <a:ext cx="11211339" cy="5597717"/>
          </a:xfrm>
        </p:spPr>
        <p:txBody>
          <a:bodyPr>
            <a:normAutofit/>
          </a:bodyPr>
          <a:lstStyle/>
          <a:p>
            <a:r>
              <a:rPr lang="en-US" altLang="zh-TW" sz="3200" dirty="0">
                <a:latin typeface="Times New Roman" panose="02020603050405020304" pitchFamily="18" charset="0"/>
                <a:cs typeface="Times New Roman" panose="02020603050405020304" pitchFamily="18" charset="0"/>
              </a:rPr>
              <a:t>Despite significant advances in linear-time scanning algorithms, particularly those based wholly or in part on either Cook's linear-time simulation of two-way deterministic pushdown automata or Weiner's algorithm, the problem of recognizing the initial leftmost nonvoid palindrome of a string in time proportional to the length N of the palindrome, examining no symbols other than those in the palindrome, has remained open. The present algorithm solves this problem, assuming that addition of two integers less than or equal to N may be performed in a single operation. </a:t>
            </a:r>
          </a:p>
        </p:txBody>
      </p:sp>
    </p:spTree>
    <p:extLst>
      <p:ext uri="{BB962C8B-B14F-4D97-AF65-F5344CB8AC3E}">
        <p14:creationId xmlns:p14="http://schemas.microsoft.com/office/powerpoint/2010/main" val="86195610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ED0E71-14AD-4E62-972C-221C5E865D7B}"/>
              </a:ext>
            </a:extLst>
          </p:cNvPr>
          <p:cNvSpPr>
            <a:spLocks noGrp="1"/>
          </p:cNvSpPr>
          <p:nvPr>
            <p:ph type="title"/>
          </p:nvPr>
        </p:nvSpPr>
        <p:spPr>
          <a:xfrm>
            <a:off x="838200" y="0"/>
            <a:ext cx="10515600" cy="1382395"/>
          </a:xfrm>
        </p:spPr>
        <p:txBody>
          <a:bodyPr/>
          <a:lstStyle/>
          <a:p>
            <a:r>
              <a:rPr lang="en-US" altLang="zh-TW" dirty="0">
                <a:latin typeface="Times New Roman" panose="02020603050405020304" pitchFamily="18" charset="0"/>
                <a:cs typeface="Times New Roman" panose="02020603050405020304" pitchFamily="18" charset="0"/>
              </a:rPr>
              <a:t>Abstract (2/2)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02A93AAD-D6B7-4CD4-AC92-2D3922F8C487}"/>
              </a:ext>
            </a:extLst>
          </p:cNvPr>
          <p:cNvSpPr>
            <a:spLocks noGrp="1"/>
          </p:cNvSpPr>
          <p:nvPr>
            <p:ph idx="1"/>
          </p:nvPr>
        </p:nvSpPr>
        <p:spPr>
          <a:xfrm>
            <a:off x="477077" y="1176793"/>
            <a:ext cx="11211339" cy="5597717"/>
          </a:xfrm>
        </p:spPr>
        <p:txBody>
          <a:bodyPr>
            <a:normAutofit/>
          </a:bodyPr>
          <a:lstStyle/>
          <a:p>
            <a:r>
              <a:rPr lang="en-US" altLang="zh-TW" sz="3200" dirty="0">
                <a:latin typeface="Times New Roman" panose="02020603050405020304" pitchFamily="18" charset="0"/>
                <a:cs typeface="Times New Roman" panose="02020603050405020304" pitchFamily="18" charset="0"/>
              </a:rPr>
              <a:t>Like the Knuth-Morris-Pratt algorithm, it runs in time independent of the size of the input alphabet. The algorithm as presented finds only even palindromes. However, an extension allows one to recognize the initial odd or even palindrome of length 2 or greater. Other easy extensions permit the recognition of strings (</a:t>
            </a:r>
            <a:r>
              <a:rPr lang="en-US" altLang="zh-TW" sz="3200" dirty="0" err="1">
                <a:latin typeface="Times New Roman" panose="02020603050405020304" pitchFamily="18" charset="0"/>
                <a:cs typeface="Times New Roman" panose="02020603050405020304" pitchFamily="18" charset="0"/>
              </a:rPr>
              <a:t>ww</a:t>
            </a:r>
            <a:r>
              <a:rPr lang="en-US" altLang="zh-TW" sz="3200" baseline="30000" dirty="0" err="1">
                <a:latin typeface="Times New Roman" panose="02020603050405020304" pitchFamily="18" charset="0"/>
                <a:cs typeface="Times New Roman" panose="02020603050405020304" pitchFamily="18" charset="0"/>
              </a:rPr>
              <a:t>R</a:t>
            </a:r>
            <a:r>
              <a:rPr lang="en-US" altLang="zh-TW" sz="3200" dirty="0">
                <a:latin typeface="Times New Roman" panose="02020603050405020304" pitchFamily="18" charset="0"/>
                <a:cs typeface="Times New Roman" panose="02020603050405020304" pitchFamily="18" charset="0"/>
              </a:rPr>
              <a:t>)* of even palindromes and of all the initial palindromes. It appears possible that further extension may be used to show that (</a:t>
            </a:r>
            <a:r>
              <a:rPr lang="en-US" altLang="zh-TW" sz="3200" dirty="0" err="1">
                <a:latin typeface="Times New Roman" panose="02020603050405020304" pitchFamily="18" charset="0"/>
                <a:cs typeface="Times New Roman" panose="02020603050405020304" pitchFamily="18" charset="0"/>
              </a:rPr>
              <a:t>ww</a:t>
            </a:r>
            <a:r>
              <a:rPr lang="en-US" altLang="zh-TW" sz="3200" baseline="30000" dirty="0" err="1">
                <a:latin typeface="Times New Roman" panose="02020603050405020304" pitchFamily="18" charset="0"/>
                <a:cs typeface="Times New Roman" panose="02020603050405020304" pitchFamily="18" charset="0"/>
              </a:rPr>
              <a:t>R</a:t>
            </a:r>
            <a:r>
              <a:rPr lang="en-US" altLang="zh-TW" sz="3200" dirty="0">
                <a:latin typeface="Times New Roman" panose="02020603050405020304" pitchFamily="18" charset="0"/>
                <a:cs typeface="Times New Roman" panose="02020603050405020304" pitchFamily="18" charset="0"/>
              </a:rPr>
              <a:t>) * is in a sense recognizable in real time on a reasonably defined random access machine. </a:t>
            </a:r>
          </a:p>
        </p:txBody>
      </p:sp>
    </p:spTree>
    <p:extLst>
      <p:ext uri="{BB962C8B-B14F-4D97-AF65-F5344CB8AC3E}">
        <p14:creationId xmlns:p14="http://schemas.microsoft.com/office/powerpoint/2010/main" val="134767827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pc="-1" dirty="0">
                <a:solidFill>
                  <a:srgbClr val="000000"/>
                </a:solidFill>
                <a:latin typeface="Times New Roman" pitchFamily="18" charset="0"/>
                <a:cs typeface="Times New Roman" pitchFamily="18" charset="0"/>
              </a:rPr>
              <a:t>Palindrome</a:t>
            </a: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200" y="1825625"/>
                <a:ext cx="10515600" cy="4351338"/>
              </a:xfrm>
            </p:spPr>
            <p:txBody>
              <a:bodyPr>
                <a:normAutofit/>
              </a:bodyPr>
              <a:lstStyle/>
              <a:p>
                <a:pPr marL="457560" indent="-457200">
                  <a:spcBef>
                    <a:spcPts val="561"/>
                  </a:spcBef>
                  <a:buClr>
                    <a:srgbClr val="000000"/>
                  </a:buClr>
                </a:pPr>
                <a14:m>
                  <m:oMath xmlns:m="http://schemas.openxmlformats.org/officeDocument/2006/math">
                    <m:r>
                      <a:rPr lang="en-US" altLang="zh-TW" i="1" spc="-1" smtClean="0">
                        <a:solidFill>
                          <a:srgbClr val="000000"/>
                        </a:solidFill>
                        <a:latin typeface="Cambria Math" panose="02040503050406030204" pitchFamily="18" charset="0"/>
                      </a:rPr>
                      <m:t>𝑤</m:t>
                    </m:r>
                  </m:oMath>
                </a14:m>
                <a:r>
                  <a:rPr lang="en-US" altLang="zh-TW" spc="-1" dirty="0">
                    <a:solidFill>
                      <a:srgbClr val="000000"/>
                    </a:solidFill>
                    <a:latin typeface="Times New Roman"/>
                  </a:rPr>
                  <a:t> = </a:t>
                </a:r>
                <a:r>
                  <a:rPr lang="en-US" altLang="zh-TW" spc="-1" dirty="0" err="1">
                    <a:solidFill>
                      <a:srgbClr val="000000"/>
                    </a:solidFill>
                    <a:latin typeface="Times New Roman"/>
                  </a:rPr>
                  <a:t>aabaa</a:t>
                </a:r>
                <a:endParaRPr lang="en-US" altLang="zh-TW" spc="-1" dirty="0">
                  <a:solidFill>
                    <a:srgbClr val="000000"/>
                  </a:solidFill>
                  <a:latin typeface="Times New Roman"/>
                </a:endParaRPr>
              </a:p>
              <a:p>
                <a:pPr marL="457560" indent="-457200">
                  <a:spcBef>
                    <a:spcPts val="561"/>
                  </a:spcBef>
                  <a:buClr>
                    <a:srgbClr val="000000"/>
                  </a:buClr>
                </a:pPr>
                <a:endParaRPr lang="en-US" altLang="zh-TW" spc="-1" dirty="0">
                  <a:solidFill>
                    <a:srgbClr val="000000"/>
                  </a:solidFill>
                  <a:latin typeface="Times New Roman"/>
                </a:endParaRPr>
              </a:p>
              <a:p>
                <a:pPr marL="360">
                  <a:spcBef>
                    <a:spcPts val="561"/>
                  </a:spcBef>
                  <a:buClr>
                    <a:srgbClr val="000000"/>
                  </a:buClr>
                </a:pPr>
                <a14:m>
                  <m:oMath xmlns:m="http://schemas.openxmlformats.org/officeDocument/2006/math">
                    <m:r>
                      <a:rPr lang="en-US" altLang="zh-TW" b="0" i="0" spc="-1" dirty="0" smtClean="0">
                        <a:solidFill>
                          <a:srgbClr val="000000"/>
                        </a:solidFill>
                        <a:latin typeface="Cambria Math" panose="02040503050406030204" pitchFamily="18" charset="0"/>
                      </a:rPr>
                      <m:t>   </m:t>
                    </m:r>
                    <m:acc>
                      <m:accPr>
                        <m:chr m:val="̃"/>
                        <m:ctrlPr>
                          <a:rPr lang="en-US" altLang="zh-TW" i="1" spc="-1" dirty="0" smtClean="0">
                            <a:solidFill>
                              <a:srgbClr val="000000"/>
                            </a:solidFill>
                            <a:latin typeface="Cambria Math" panose="02040503050406030204" pitchFamily="18" charset="0"/>
                          </a:rPr>
                        </m:ctrlPr>
                      </m:accPr>
                      <m:e>
                        <m:r>
                          <a:rPr lang="en-US" altLang="zh-TW" i="1" spc="-1" dirty="0">
                            <a:solidFill>
                              <a:srgbClr val="000000"/>
                            </a:solidFill>
                            <a:latin typeface="Cambria Math" panose="02040503050406030204" pitchFamily="18" charset="0"/>
                          </a:rPr>
                          <m:t>𝑤</m:t>
                        </m:r>
                      </m:e>
                    </m:acc>
                  </m:oMath>
                </a14:m>
                <a:r>
                  <a:rPr lang="en-US" altLang="zh-TW" spc="-1" dirty="0">
                    <a:solidFill>
                      <a:srgbClr val="000000"/>
                    </a:solidFill>
                    <a:latin typeface="Times New Roman"/>
                  </a:rPr>
                  <a:t> = </a:t>
                </a:r>
                <a:r>
                  <a:rPr lang="en-US" altLang="zh-TW" spc="-1" dirty="0" err="1">
                    <a:solidFill>
                      <a:srgbClr val="000000"/>
                    </a:solidFill>
                    <a:latin typeface="Times New Roman"/>
                  </a:rPr>
                  <a:t>aabaa</a:t>
                </a:r>
                <a:endParaRPr lang="en-US" altLang="zh-TW" spc="-1" dirty="0">
                  <a:solidFill>
                    <a:srgbClr val="000000"/>
                  </a:solidFill>
                  <a:latin typeface="Times New Roman"/>
                </a:endParaRPr>
              </a:p>
              <a:p>
                <a:pPr marL="360">
                  <a:spcBef>
                    <a:spcPts val="561"/>
                  </a:spcBef>
                  <a:buClr>
                    <a:srgbClr val="000000"/>
                  </a:buClr>
                </a:pPr>
                <a:endParaRPr lang="en-US" altLang="zh-TW" spc="-1" dirty="0">
                  <a:solidFill>
                    <a:srgbClr val="000000"/>
                  </a:solidFill>
                  <a:latin typeface="Times New Roman"/>
                </a:endParaRPr>
              </a:p>
              <a:p>
                <a:pPr marL="343080" indent="-342720">
                  <a:spcBef>
                    <a:spcPts val="561"/>
                  </a:spcBef>
                  <a:buClr>
                    <a:srgbClr val="000000"/>
                  </a:buClr>
                  <a:buFont typeface="Arial"/>
                  <a:buChar char="•"/>
                </a:pPr>
                <a:r>
                  <a:rPr lang="en-US" altLang="zh-TW" spc="-1" dirty="0">
                    <a:solidFill>
                      <a:srgbClr val="000000"/>
                    </a:solidFill>
                  </a:rPr>
                  <a:t> </a:t>
                </a:r>
                <a14:m>
                  <m:oMath xmlns:m="http://schemas.openxmlformats.org/officeDocument/2006/math">
                    <m:r>
                      <a:rPr lang="en-US" altLang="zh-TW" i="1" spc="-1" smtClean="0">
                        <a:solidFill>
                          <a:srgbClr val="000000"/>
                        </a:solidFill>
                        <a:latin typeface="Cambria Math" panose="02040503050406030204" pitchFamily="18" charset="0"/>
                      </a:rPr>
                      <m:t>𝑤</m:t>
                    </m:r>
                  </m:oMath>
                </a14:m>
                <a:r>
                  <a:rPr lang="en-US" altLang="zh-TW" dirty="0">
                    <a:latin typeface="Times New Roman" panose="02020603050405020304" pitchFamily="18" charset="0"/>
                  </a:rPr>
                  <a:t> = </a:t>
                </a:r>
                <a14:m>
                  <m:oMath xmlns:m="http://schemas.openxmlformats.org/officeDocument/2006/math">
                    <m:acc>
                      <m:accPr>
                        <m:chr m:val="̃"/>
                        <m:ctrlPr>
                          <a:rPr lang="en-US" altLang="zh-TW" i="1" spc="-1" dirty="0">
                            <a:solidFill>
                              <a:srgbClr val="000000"/>
                            </a:solidFill>
                            <a:latin typeface="Cambria Math" panose="02040503050406030204" pitchFamily="18" charset="0"/>
                          </a:rPr>
                        </m:ctrlPr>
                      </m:accPr>
                      <m:e>
                        <m:r>
                          <a:rPr lang="en-US" altLang="zh-TW" i="1" spc="-1" dirty="0">
                            <a:solidFill>
                              <a:srgbClr val="000000"/>
                            </a:solidFill>
                            <a:latin typeface="Cambria Math" panose="02040503050406030204" pitchFamily="18" charset="0"/>
                          </a:rPr>
                          <m:t>𝑤</m:t>
                        </m:r>
                      </m:e>
                    </m:acc>
                  </m:oMath>
                </a14:m>
                <a:r>
                  <a:rPr lang="en-US" altLang="zh-TW" dirty="0">
                    <a:latin typeface="Times New Roman" panose="02020603050405020304" pitchFamily="18" charset="0"/>
                  </a:rPr>
                  <a:t> </a:t>
                </a:r>
                <a:r>
                  <a:rPr lang="zh-TW" altLang="en-US" dirty="0">
                    <a:latin typeface="Times New Roman" panose="02020603050405020304" pitchFamily="18" charset="0"/>
                  </a:rPr>
                  <a:t>，</a:t>
                </a:r>
                <a:r>
                  <a:rPr lang="en-US" altLang="zh-TW" dirty="0">
                    <a:latin typeface="Times New Roman" panose="02020603050405020304" pitchFamily="18" charset="0"/>
                  </a:rPr>
                  <a:t>w is a p</a:t>
                </a:r>
                <a:r>
                  <a:rPr lang="en-US" altLang="zh-TW" spc="-1" dirty="0">
                    <a:solidFill>
                      <a:srgbClr val="000000"/>
                    </a:solidFill>
                    <a:latin typeface="Times New Roman" pitchFamily="18" charset="0"/>
                    <a:cs typeface="Times New Roman" pitchFamily="18" charset="0"/>
                  </a:rPr>
                  <a:t>alindrome</a:t>
                </a:r>
                <a:endParaRPr lang="en-US" altLang="zh-TW" dirty="0">
                  <a:latin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200" y="1825625"/>
                <a:ext cx="10515600" cy="4351338"/>
              </a:xfrm>
              <a:blipFill>
                <a:blip r:embed="rId2"/>
                <a:stretch>
                  <a:fillRect l="-1043" t="-238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 name="內容版面配置區 2">
                <a:extLst>
                  <a:ext uri="{FF2B5EF4-FFF2-40B4-BE49-F238E27FC236}">
                    <a16:creationId xmlns:a16="http://schemas.microsoft.com/office/drawing/2014/main" id="{909050E6-A5DF-8F91-EF60-CDF300E9A6F6}"/>
                  </a:ext>
                </a:extLst>
              </p:cNvPr>
              <p:cNvSpPr txBox="1">
                <a:spLocks/>
              </p:cNvSpPr>
              <p:nvPr/>
            </p:nvSpPr>
            <p:spPr>
              <a:xfrm>
                <a:off x="6397487" y="1825625"/>
                <a:ext cx="508600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560" indent="-457200">
                  <a:spcBef>
                    <a:spcPts val="561"/>
                  </a:spcBef>
                  <a:buClr>
                    <a:srgbClr val="000000"/>
                  </a:buClr>
                </a:pPr>
                <a14:m>
                  <m:oMath xmlns:m="http://schemas.openxmlformats.org/officeDocument/2006/math">
                    <m:r>
                      <a:rPr lang="en-US" altLang="zh-TW" i="1" spc="-1" smtClean="0">
                        <a:solidFill>
                          <a:srgbClr val="000000"/>
                        </a:solidFill>
                        <a:latin typeface="Cambria Math" panose="02040503050406030204" pitchFamily="18" charset="0"/>
                      </a:rPr>
                      <m:t>𝑤</m:t>
                    </m:r>
                  </m:oMath>
                </a14:m>
                <a:r>
                  <a:rPr lang="en-US" altLang="zh-TW" spc="-1" dirty="0">
                    <a:solidFill>
                      <a:srgbClr val="000000"/>
                    </a:solidFill>
                    <a:latin typeface="Times New Roman"/>
                  </a:rPr>
                  <a:t> = </a:t>
                </a:r>
                <a:r>
                  <a:rPr lang="en-US" altLang="zh-TW" spc="-1" dirty="0" err="1">
                    <a:solidFill>
                      <a:srgbClr val="000000"/>
                    </a:solidFill>
                    <a:latin typeface="Times New Roman"/>
                  </a:rPr>
                  <a:t>aabbaa</a:t>
                </a:r>
                <a:endParaRPr lang="en-US" altLang="zh-TW" spc="-1" dirty="0">
                  <a:solidFill>
                    <a:srgbClr val="000000"/>
                  </a:solidFill>
                  <a:latin typeface="Times New Roman"/>
                </a:endParaRPr>
              </a:p>
              <a:p>
                <a:pPr marL="457560" indent="-457200">
                  <a:spcBef>
                    <a:spcPts val="561"/>
                  </a:spcBef>
                  <a:buClr>
                    <a:srgbClr val="000000"/>
                  </a:buClr>
                </a:pPr>
                <a:endParaRPr lang="en-US" altLang="zh-TW" spc="-1" dirty="0">
                  <a:solidFill>
                    <a:srgbClr val="000000"/>
                  </a:solidFill>
                  <a:latin typeface="Times New Roman"/>
                </a:endParaRPr>
              </a:p>
              <a:p>
                <a:pPr marL="360">
                  <a:spcBef>
                    <a:spcPts val="561"/>
                  </a:spcBef>
                  <a:buClr>
                    <a:srgbClr val="000000"/>
                  </a:buClr>
                </a:pPr>
                <a14:m>
                  <m:oMath xmlns:m="http://schemas.openxmlformats.org/officeDocument/2006/math">
                    <m:r>
                      <a:rPr lang="en-US" altLang="zh-TW" spc="-1" dirty="0" smtClean="0">
                        <a:solidFill>
                          <a:srgbClr val="000000"/>
                        </a:solidFill>
                        <a:latin typeface="Cambria Math" panose="02040503050406030204" pitchFamily="18" charset="0"/>
                      </a:rPr>
                      <m:t>   </m:t>
                    </m:r>
                    <m:acc>
                      <m:accPr>
                        <m:chr m:val="̃"/>
                        <m:ctrlPr>
                          <a:rPr lang="en-US" altLang="zh-TW" i="1" spc="-1" dirty="0" smtClean="0">
                            <a:solidFill>
                              <a:srgbClr val="000000"/>
                            </a:solidFill>
                            <a:latin typeface="Cambria Math" panose="02040503050406030204" pitchFamily="18" charset="0"/>
                          </a:rPr>
                        </m:ctrlPr>
                      </m:accPr>
                      <m:e>
                        <m:r>
                          <a:rPr lang="en-US" altLang="zh-TW" i="1" spc="-1" dirty="0">
                            <a:solidFill>
                              <a:srgbClr val="000000"/>
                            </a:solidFill>
                            <a:latin typeface="Cambria Math" panose="02040503050406030204" pitchFamily="18" charset="0"/>
                          </a:rPr>
                          <m:t>𝑤</m:t>
                        </m:r>
                      </m:e>
                    </m:acc>
                  </m:oMath>
                </a14:m>
                <a:r>
                  <a:rPr lang="en-US" altLang="zh-TW" spc="-1" dirty="0">
                    <a:solidFill>
                      <a:srgbClr val="000000"/>
                    </a:solidFill>
                    <a:latin typeface="Times New Roman"/>
                  </a:rPr>
                  <a:t> = </a:t>
                </a:r>
                <a:r>
                  <a:rPr lang="en-US" altLang="zh-TW" spc="-1" dirty="0" err="1">
                    <a:solidFill>
                      <a:srgbClr val="000000"/>
                    </a:solidFill>
                    <a:latin typeface="Times New Roman"/>
                  </a:rPr>
                  <a:t>aabbaa</a:t>
                </a:r>
                <a:endParaRPr lang="en-US" altLang="zh-TW" spc="-1" dirty="0">
                  <a:solidFill>
                    <a:srgbClr val="000000"/>
                  </a:solidFill>
                  <a:latin typeface="Times New Roman"/>
                </a:endParaRPr>
              </a:p>
              <a:p>
                <a:pPr marL="360">
                  <a:spcBef>
                    <a:spcPts val="561"/>
                  </a:spcBef>
                  <a:buClr>
                    <a:srgbClr val="000000"/>
                  </a:buClr>
                </a:pPr>
                <a:endParaRPr lang="en-US" altLang="zh-TW" spc="-1" dirty="0">
                  <a:solidFill>
                    <a:srgbClr val="000000"/>
                  </a:solidFill>
                  <a:latin typeface="Times New Roman"/>
                </a:endParaRPr>
              </a:p>
              <a:p>
                <a:pPr marL="343080" indent="-342720">
                  <a:spcBef>
                    <a:spcPts val="561"/>
                  </a:spcBef>
                  <a:buClr>
                    <a:srgbClr val="000000"/>
                  </a:buClr>
                  <a:buFont typeface="Arial"/>
                  <a:buChar char="•"/>
                </a:pPr>
                <a:r>
                  <a:rPr lang="en-US" altLang="zh-TW" spc="-1" dirty="0">
                    <a:solidFill>
                      <a:srgbClr val="000000"/>
                    </a:solidFill>
                  </a:rPr>
                  <a:t> </a:t>
                </a:r>
                <a14:m>
                  <m:oMath xmlns:m="http://schemas.openxmlformats.org/officeDocument/2006/math">
                    <m:r>
                      <a:rPr lang="en-US" altLang="zh-TW" i="1" spc="-1" smtClean="0">
                        <a:solidFill>
                          <a:srgbClr val="000000"/>
                        </a:solidFill>
                        <a:latin typeface="Cambria Math" panose="02040503050406030204" pitchFamily="18" charset="0"/>
                      </a:rPr>
                      <m:t>𝑤</m:t>
                    </m:r>
                  </m:oMath>
                </a14:m>
                <a:r>
                  <a:rPr lang="en-US" altLang="zh-TW" dirty="0">
                    <a:latin typeface="Times New Roman" panose="02020603050405020304" pitchFamily="18" charset="0"/>
                  </a:rPr>
                  <a:t> = </a:t>
                </a:r>
                <a14:m>
                  <m:oMath xmlns:m="http://schemas.openxmlformats.org/officeDocument/2006/math">
                    <m:acc>
                      <m:accPr>
                        <m:chr m:val="̃"/>
                        <m:ctrlPr>
                          <a:rPr lang="en-US" altLang="zh-TW" i="1" spc="-1" dirty="0">
                            <a:solidFill>
                              <a:srgbClr val="000000"/>
                            </a:solidFill>
                            <a:latin typeface="Cambria Math" panose="02040503050406030204" pitchFamily="18" charset="0"/>
                          </a:rPr>
                        </m:ctrlPr>
                      </m:accPr>
                      <m:e>
                        <m:r>
                          <a:rPr lang="en-US" altLang="zh-TW" i="1" spc="-1" dirty="0">
                            <a:solidFill>
                              <a:srgbClr val="000000"/>
                            </a:solidFill>
                            <a:latin typeface="Cambria Math" panose="02040503050406030204" pitchFamily="18" charset="0"/>
                          </a:rPr>
                          <m:t>𝑤</m:t>
                        </m:r>
                      </m:e>
                    </m:acc>
                  </m:oMath>
                </a14:m>
                <a:r>
                  <a:rPr lang="en-US" altLang="zh-TW" dirty="0">
                    <a:latin typeface="Times New Roman" panose="02020603050405020304" pitchFamily="18" charset="0"/>
                  </a:rPr>
                  <a:t> </a:t>
                </a:r>
                <a:r>
                  <a:rPr lang="zh-TW" altLang="en-US" dirty="0">
                    <a:latin typeface="Times New Roman" panose="02020603050405020304" pitchFamily="18" charset="0"/>
                  </a:rPr>
                  <a:t>，</a:t>
                </a:r>
                <a:r>
                  <a:rPr lang="en-US" altLang="zh-TW" dirty="0">
                    <a:latin typeface="Times New Roman" panose="02020603050405020304" pitchFamily="18" charset="0"/>
                  </a:rPr>
                  <a:t>w is a p</a:t>
                </a:r>
                <a:r>
                  <a:rPr lang="en-US" altLang="zh-TW" spc="-1" dirty="0">
                    <a:solidFill>
                      <a:srgbClr val="000000"/>
                    </a:solidFill>
                    <a:latin typeface="Times New Roman" pitchFamily="18" charset="0"/>
                    <a:cs typeface="Times New Roman" pitchFamily="18" charset="0"/>
                  </a:rPr>
                  <a:t>alindrome</a:t>
                </a:r>
                <a:endParaRPr lang="en-US" altLang="zh-TW" dirty="0">
                  <a:latin typeface="Times New Roman" panose="02020603050405020304" pitchFamily="18" charset="0"/>
                </a:endParaRPr>
              </a:p>
            </p:txBody>
          </p:sp>
        </mc:Choice>
        <mc:Fallback xmlns="">
          <p:sp>
            <p:nvSpPr>
              <p:cNvPr id="4" name="內容版面配置區 2">
                <a:extLst>
                  <a:ext uri="{FF2B5EF4-FFF2-40B4-BE49-F238E27FC236}">
                    <a16:creationId xmlns:a16="http://schemas.microsoft.com/office/drawing/2014/main" id="{909050E6-A5DF-8F91-EF60-CDF300E9A6F6}"/>
                  </a:ext>
                </a:extLst>
              </p:cNvPr>
              <p:cNvSpPr txBox="1">
                <a:spLocks noRot="1" noChangeAspect="1" noMove="1" noResize="1" noEditPoints="1" noAdjustHandles="1" noChangeArrowheads="1" noChangeShapeType="1" noTextEdit="1"/>
              </p:cNvSpPr>
              <p:nvPr/>
            </p:nvSpPr>
            <p:spPr>
              <a:xfrm>
                <a:off x="6397487" y="1825625"/>
                <a:ext cx="5086004" cy="4351338"/>
              </a:xfrm>
              <a:prstGeom prst="rect">
                <a:avLst/>
              </a:prstGeom>
              <a:blipFill>
                <a:blip r:embed="rId3"/>
                <a:stretch>
                  <a:fillRect l="-2156" t="-238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77790442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pc="-1" dirty="0">
                <a:solidFill>
                  <a:srgbClr val="000000"/>
                </a:solidFill>
                <a:latin typeface="Times New Roman" pitchFamily="18" charset="0"/>
                <a:cs typeface="Times New Roman" pitchFamily="18" charset="0"/>
              </a:rPr>
              <a:t>O(n</a:t>
            </a:r>
            <a:r>
              <a:rPr lang="en-US" altLang="zh-TW" spc="-1" baseline="30000" dirty="0">
                <a:solidFill>
                  <a:srgbClr val="000000"/>
                </a:solidFill>
                <a:latin typeface="Times New Roman" pitchFamily="18" charset="0"/>
                <a:cs typeface="Times New Roman" pitchFamily="18" charset="0"/>
              </a:rPr>
              <a:t>2</a:t>
            </a:r>
            <a:r>
              <a:rPr lang="en-US" altLang="zh-TW" spc="-1" dirty="0">
                <a:solidFill>
                  <a:srgbClr val="000000"/>
                </a:solidFill>
                <a:latin typeface="Times New Roman" pitchFamily="18" charset="0"/>
                <a:cs typeface="Times New Roman" pitchFamily="18" charset="0"/>
              </a:rPr>
              <a:t>) algorithm</a:t>
            </a: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200" y="1825625"/>
                <a:ext cx="10515600" cy="4351338"/>
              </a:xfrm>
            </p:spPr>
            <p:txBody>
              <a:bodyPr>
                <a:normAutofit/>
              </a:bodyPr>
              <a:lstStyle/>
              <a:p>
                <a:pPr marL="457560" indent="-457200">
                  <a:spcBef>
                    <a:spcPts val="561"/>
                  </a:spcBef>
                  <a:buClr>
                    <a:srgbClr val="000000"/>
                  </a:buClr>
                </a:pPr>
                <a14:m>
                  <m:oMath xmlns:m="http://schemas.openxmlformats.org/officeDocument/2006/math">
                    <m:r>
                      <a:rPr lang="en-US" altLang="zh-TW" i="1" spc="-1" smtClean="0">
                        <a:solidFill>
                          <a:srgbClr val="000000"/>
                        </a:solidFill>
                        <a:latin typeface="Cambria Math" panose="02040503050406030204" pitchFamily="18" charset="0"/>
                      </a:rPr>
                      <m:t>𝑤</m:t>
                    </m:r>
                  </m:oMath>
                </a14:m>
                <a:r>
                  <a:rPr lang="en-US" altLang="zh-TW" spc="-1" dirty="0">
                    <a:solidFill>
                      <a:srgbClr val="000000"/>
                    </a:solidFill>
                    <a:latin typeface="Times New Roman"/>
                  </a:rPr>
                  <a:t> = </a:t>
                </a:r>
                <a:r>
                  <a:rPr lang="en-US" altLang="zh-TW" spc="-1" dirty="0" err="1">
                    <a:solidFill>
                      <a:srgbClr val="000000"/>
                    </a:solidFill>
                  </a:rPr>
                  <a:t>abbabaababa</a:t>
                </a:r>
                <a:endParaRPr lang="en-US" altLang="zh-TW" spc="-1" dirty="0">
                  <a:solidFill>
                    <a:srgbClr val="000000"/>
                  </a:solidFill>
                </a:endParaRPr>
              </a:p>
              <a:p>
                <a:pPr marL="457560" indent="-457200">
                  <a:spcBef>
                    <a:spcPts val="561"/>
                  </a:spcBef>
                  <a:buClr>
                    <a:srgbClr val="000000"/>
                  </a:buClr>
                </a:pPr>
                <a:endParaRPr lang="en-US" altLang="zh-TW" spc="-1" dirty="0">
                  <a:solidFill>
                    <a:srgbClr val="000000"/>
                  </a:solidFill>
                </a:endParaRPr>
              </a:p>
              <a:p>
                <a:pPr marL="457560" indent="-457200">
                  <a:spcBef>
                    <a:spcPts val="561"/>
                  </a:spcBef>
                  <a:buClr>
                    <a:srgbClr val="000000"/>
                  </a:buClr>
                </a:pPr>
                <a14:m>
                  <m:oMath xmlns:m="http://schemas.openxmlformats.org/officeDocument/2006/math">
                    <m:r>
                      <a:rPr lang="en-US" altLang="zh-TW" i="1" spc="-1" smtClean="0">
                        <a:solidFill>
                          <a:srgbClr val="000000"/>
                        </a:solidFill>
                        <a:latin typeface="Cambria Math" panose="02040503050406030204" pitchFamily="18" charset="0"/>
                      </a:rPr>
                      <m:t>𝑤</m:t>
                    </m:r>
                    <m:r>
                      <a:rPr lang="en-US" altLang="zh-TW" b="0" i="1" spc="-1" smtClean="0">
                        <a:solidFill>
                          <a:srgbClr val="000000"/>
                        </a:solidFill>
                        <a:latin typeface="Cambria Math" panose="02040503050406030204" pitchFamily="18" charset="0"/>
                      </a:rPr>
                      <m:t>′</m:t>
                    </m:r>
                  </m:oMath>
                </a14:m>
                <a:r>
                  <a:rPr lang="en-US" altLang="zh-TW" spc="-1" dirty="0">
                    <a:solidFill>
                      <a:srgbClr val="000000"/>
                    </a:solidFill>
                    <a:latin typeface="Times New Roman"/>
                  </a:rPr>
                  <a:t> = </a:t>
                </a:r>
                <a:r>
                  <a:rPr lang="en-US" altLang="zh-TW" spc="-1" dirty="0">
                    <a:solidFill>
                      <a:srgbClr val="000000"/>
                    </a:solidFill>
                  </a:rPr>
                  <a:t>a-b-b-a-b-a-a-b-a-b-a</a:t>
                </a:r>
              </a:p>
              <a:p>
                <a:pPr marL="360" indent="0">
                  <a:spcBef>
                    <a:spcPts val="561"/>
                  </a:spcBef>
                  <a:buClr>
                    <a:srgbClr val="000000"/>
                  </a:buClr>
                  <a:buNone/>
                </a:pPr>
                <a:endParaRPr lang="en-US" altLang="zh-TW" spc="-1" dirty="0">
                  <a:solidFill>
                    <a:srgbClr val="000000"/>
                  </a:solidFill>
                </a:endParaRPr>
              </a:p>
              <a:p>
                <a:pPr marL="457560" indent="-457200">
                  <a:spcBef>
                    <a:spcPts val="561"/>
                  </a:spcBef>
                  <a:buClr>
                    <a:srgbClr val="000000"/>
                  </a:buClr>
                </a:pPr>
                <a:r>
                  <a:rPr lang="zh-TW" altLang="en-US" spc="-1" dirty="0">
                    <a:solidFill>
                      <a:srgbClr val="000000"/>
                    </a:solidFill>
                  </a:rPr>
                  <a:t>每個位置當中心點擴展</a:t>
                </a:r>
                <a:endParaRPr lang="en-US" altLang="zh-TW" spc="-1" dirty="0">
                  <a:solidFill>
                    <a:srgbClr val="000000"/>
                  </a:solidFill>
                </a:endParaRPr>
              </a:p>
              <a:p>
                <a:pPr marL="457560" indent="-457200">
                  <a:spcBef>
                    <a:spcPts val="561"/>
                  </a:spcBef>
                  <a:buClr>
                    <a:srgbClr val="000000"/>
                  </a:buClr>
                </a:pPr>
                <a:endParaRPr lang="en-US" altLang="zh-TW" spc="-1" dirty="0">
                  <a:solidFill>
                    <a:srgbClr val="000000"/>
                  </a:solidFill>
                  <a:latin typeface="Times New Roman"/>
                </a:endParaRPr>
              </a:p>
              <a:p>
                <a:pPr marL="457560" indent="-457200">
                  <a:spcBef>
                    <a:spcPts val="561"/>
                  </a:spcBef>
                  <a:buClr>
                    <a:srgbClr val="000000"/>
                  </a:buClr>
                </a:pPr>
                <a:r>
                  <a:rPr lang="en-US" altLang="zh-TW" spc="-1" dirty="0">
                    <a:solidFill>
                      <a:srgbClr val="000000"/>
                    </a:solidFill>
                    <a:latin typeface="Times New Roman" pitchFamily="18" charset="0"/>
                    <a:cs typeface="Times New Roman" pitchFamily="18" charset="0"/>
                  </a:rPr>
                  <a:t>O(n</a:t>
                </a:r>
                <a:r>
                  <a:rPr lang="en-US" altLang="zh-TW" spc="-1" baseline="30000" dirty="0">
                    <a:solidFill>
                      <a:srgbClr val="000000"/>
                    </a:solidFill>
                    <a:latin typeface="Times New Roman" pitchFamily="18" charset="0"/>
                    <a:cs typeface="Times New Roman" pitchFamily="18" charset="0"/>
                  </a:rPr>
                  <a:t>2</a:t>
                </a:r>
                <a:r>
                  <a:rPr lang="en-US" altLang="zh-TW" spc="-1" dirty="0">
                    <a:solidFill>
                      <a:srgbClr val="000000"/>
                    </a:solidFill>
                    <a:latin typeface="Times New Roman" pitchFamily="18" charset="0"/>
                    <a:cs typeface="Times New Roman" pitchFamily="18" charset="0"/>
                  </a:rPr>
                  <a:t>)</a:t>
                </a:r>
                <a:endParaRPr lang="en-US" altLang="zh-TW" spc="-1" dirty="0">
                  <a:solidFill>
                    <a:srgbClr val="000000"/>
                  </a:solidFill>
                  <a:latin typeface="Times New Roman"/>
                </a:endParaRPr>
              </a:p>
              <a:p>
                <a:pPr marL="457560" indent="-457200">
                  <a:spcBef>
                    <a:spcPts val="561"/>
                  </a:spcBef>
                  <a:buClr>
                    <a:srgbClr val="000000"/>
                  </a:buClr>
                </a:pPr>
                <a:endParaRPr lang="en-US" altLang="zh-TW" spc="-1" dirty="0">
                  <a:solidFill>
                    <a:srgbClr val="000000"/>
                  </a:solidFill>
                  <a:latin typeface="Times New Roman"/>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200" y="1825625"/>
                <a:ext cx="10515600" cy="4351338"/>
              </a:xfrm>
              <a:blipFill>
                <a:blip r:embed="rId2"/>
                <a:stretch>
                  <a:fillRect l="-1043" t="-238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4364002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pc="-1" dirty="0" err="1">
                <a:solidFill>
                  <a:srgbClr val="000000"/>
                </a:solidFill>
                <a:latin typeface="Times New Roman" pitchFamily="18" charset="0"/>
                <a:cs typeface="Times New Roman" pitchFamily="18" charset="0"/>
              </a:rPr>
              <a:t>Manacher’s</a:t>
            </a:r>
            <a:r>
              <a:rPr lang="en-US" altLang="zh-TW" spc="-1" dirty="0">
                <a:solidFill>
                  <a:srgbClr val="000000"/>
                </a:solidFill>
                <a:latin typeface="Times New Roman" pitchFamily="18" charset="0"/>
                <a:cs typeface="Times New Roman" pitchFamily="18" charset="0"/>
              </a:rPr>
              <a:t> Algorithm (1/7)</a:t>
            </a:r>
          </a:p>
        </p:txBody>
      </p:sp>
      <p:sp>
        <p:nvSpPr>
          <p:cNvPr id="3" name="內容版面配置區 2"/>
          <p:cNvSpPr>
            <a:spLocks noGrp="1"/>
          </p:cNvSpPr>
          <p:nvPr>
            <p:ph idx="1"/>
          </p:nvPr>
        </p:nvSpPr>
        <p:spPr>
          <a:xfrm>
            <a:off x="838200" y="1825624"/>
            <a:ext cx="10515600" cy="5032376"/>
          </a:xfrm>
        </p:spPr>
        <p:txBody>
          <a:bodyPr>
            <a:normAutofit/>
          </a:bodyPr>
          <a:lstStyle/>
          <a:p>
            <a:pPr marL="457560" indent="-457200">
              <a:spcBef>
                <a:spcPts val="561"/>
              </a:spcBef>
              <a:buClr>
                <a:srgbClr val="000000"/>
              </a:buClr>
            </a:pPr>
            <a:r>
              <a:rPr lang="zh-TW" altLang="en-US" sz="2800" b="0" dirty="0"/>
              <a:t>根據回文的對稱性，可忽略</a:t>
            </a:r>
            <a:r>
              <a:rPr lang="zh-TW" altLang="en-US" dirty="0"/>
              <a:t>一</a:t>
            </a:r>
            <a:r>
              <a:rPr lang="zh-TW" altLang="en-US" sz="2800" b="0" dirty="0"/>
              <a:t>些計算</a:t>
            </a:r>
            <a:endParaRPr lang="en-US" altLang="zh-TW" sz="2800" b="0" dirty="0"/>
          </a:p>
          <a:p>
            <a:pPr marL="457560" indent="-457200">
              <a:spcBef>
                <a:spcPts val="561"/>
              </a:spcBef>
              <a:buClr>
                <a:srgbClr val="000000"/>
              </a:buClr>
            </a:pPr>
            <a:endParaRPr lang="en-US" altLang="zh-TW" sz="2800" b="0" dirty="0"/>
          </a:p>
          <a:p>
            <a:pPr marL="457560" indent="-457200">
              <a:spcBef>
                <a:spcPts val="561"/>
              </a:spcBef>
              <a:buClr>
                <a:srgbClr val="000000"/>
              </a:buClr>
            </a:pPr>
            <a:r>
              <a:rPr lang="zh-TW" altLang="en-US" dirty="0"/>
              <a:t>已知 </a:t>
            </a:r>
            <a:r>
              <a:rPr lang="en-US" altLang="zh-TW" dirty="0" err="1"/>
              <a:t>c~</a:t>
            </a:r>
            <a:r>
              <a:rPr lang="en-US" altLang="zh-TW" dirty="0" err="1">
                <a:solidFill>
                  <a:srgbClr val="FF0000"/>
                </a:solidFill>
              </a:rPr>
              <a:t>x</a:t>
            </a:r>
            <a:r>
              <a:rPr lang="zh-TW" altLang="en-US" dirty="0"/>
              <a:t> 當中心點的回文半徑，找以 </a:t>
            </a:r>
            <a:r>
              <a:rPr lang="en-US" altLang="zh-TW" dirty="0">
                <a:solidFill>
                  <a:schemeClr val="accent5"/>
                </a:solidFill>
              </a:rPr>
              <a:t>a</a:t>
            </a:r>
            <a:r>
              <a:rPr lang="zh-TW" altLang="en-US" dirty="0">
                <a:solidFill>
                  <a:schemeClr val="accent5"/>
                </a:solidFill>
              </a:rPr>
              <a:t> </a:t>
            </a:r>
            <a:r>
              <a:rPr lang="zh-TW" altLang="en-US" dirty="0"/>
              <a:t>當中心點的回文半徑 </a:t>
            </a:r>
            <a:r>
              <a:rPr lang="en-US" altLang="zh-TW" dirty="0"/>
              <a:t>r</a:t>
            </a:r>
          </a:p>
          <a:p>
            <a:pPr marL="457560" indent="-457200">
              <a:spcBef>
                <a:spcPts val="561"/>
              </a:spcBef>
              <a:buClr>
                <a:srgbClr val="000000"/>
              </a:buClr>
            </a:pPr>
            <a:endParaRPr lang="en-US" altLang="zh-TW" dirty="0"/>
          </a:p>
          <a:p>
            <a:pPr marL="457560" indent="-457200">
              <a:spcBef>
                <a:spcPts val="561"/>
              </a:spcBef>
              <a:buClr>
                <a:srgbClr val="000000"/>
              </a:buClr>
            </a:pPr>
            <a:r>
              <a:rPr lang="zh-TW" altLang="en-US" dirty="0"/>
              <a:t>可分成 </a:t>
            </a:r>
            <a:r>
              <a:rPr lang="en-US" altLang="zh-TW" dirty="0"/>
              <a:t>3</a:t>
            </a:r>
            <a:r>
              <a:rPr lang="zh-TW" altLang="en-US" dirty="0"/>
              <a:t> 種情況</a:t>
            </a:r>
            <a:endParaRPr lang="en-US" altLang="zh-TW" dirty="0"/>
          </a:p>
          <a:p>
            <a:pPr marL="457560" indent="-457200">
              <a:spcBef>
                <a:spcPts val="561"/>
              </a:spcBef>
              <a:buClr>
                <a:srgbClr val="000000"/>
              </a:buClr>
            </a:pPr>
            <a:endParaRPr lang="en-US" altLang="zh-TW" sz="2800" b="0" dirty="0"/>
          </a:p>
          <a:p>
            <a:pPr marL="971910" lvl="1" indent="-514350">
              <a:spcBef>
                <a:spcPts val="561"/>
              </a:spcBef>
              <a:buClr>
                <a:srgbClr val="000000"/>
              </a:buClr>
              <a:buFont typeface="+mj-lt"/>
              <a:buAutoNum type="arabicPeriod"/>
            </a:pPr>
            <a:r>
              <a:rPr lang="en-US" altLang="zh-TW" dirty="0"/>
              <a:t>&lt; x </a:t>
            </a:r>
            <a:r>
              <a:rPr lang="zh-TW" altLang="en-US" dirty="0"/>
              <a:t>的邊界</a:t>
            </a:r>
            <a:r>
              <a:rPr lang="en-US" altLang="zh-TW" dirty="0"/>
              <a:t>:</a:t>
            </a:r>
            <a:r>
              <a:rPr lang="zh-TW" altLang="en-US" dirty="0"/>
              <a:t> </a:t>
            </a:r>
            <a:r>
              <a:rPr lang="en-US" altLang="zh-TW" dirty="0" err="1"/>
              <a:t>c</a:t>
            </a:r>
            <a:r>
              <a:rPr lang="en-US" altLang="zh-TW" u="sng" dirty="0" err="1"/>
              <a:t>bab</a:t>
            </a:r>
            <a:r>
              <a:rPr lang="en-US" altLang="zh-TW" dirty="0" err="1">
                <a:solidFill>
                  <a:srgbClr val="FF0000"/>
                </a:solidFill>
              </a:rPr>
              <a:t>x</a:t>
            </a:r>
            <a:r>
              <a:rPr lang="en-US" altLang="zh-TW" dirty="0" err="1"/>
              <a:t>b</a:t>
            </a:r>
            <a:r>
              <a:rPr lang="en-US" altLang="zh-TW" dirty="0" err="1">
                <a:solidFill>
                  <a:schemeClr val="accent5"/>
                </a:solidFill>
              </a:rPr>
              <a:t>a</a:t>
            </a:r>
            <a:r>
              <a:rPr lang="en-US" altLang="zh-TW" dirty="0" err="1"/>
              <a:t>bc</a:t>
            </a:r>
            <a:endParaRPr lang="en-US" altLang="zh-TW" dirty="0"/>
          </a:p>
          <a:p>
            <a:pPr marL="971910" lvl="1" indent="-514350">
              <a:spcBef>
                <a:spcPts val="561"/>
              </a:spcBef>
              <a:buClr>
                <a:srgbClr val="000000"/>
              </a:buClr>
              <a:buFont typeface="+mj-lt"/>
              <a:buAutoNum type="arabicPeriod"/>
            </a:pPr>
            <a:endParaRPr lang="en-US" altLang="zh-TW" dirty="0"/>
          </a:p>
          <a:p>
            <a:pPr marL="971910" lvl="1" indent="-514350">
              <a:spcBef>
                <a:spcPts val="561"/>
              </a:spcBef>
              <a:buClr>
                <a:srgbClr val="000000"/>
              </a:buClr>
              <a:buFont typeface="+mj-lt"/>
              <a:buAutoNum type="arabicPeriod"/>
            </a:pPr>
            <a:r>
              <a:rPr lang="en-US" altLang="zh-TW" dirty="0"/>
              <a:t>&gt; x </a:t>
            </a:r>
            <a:r>
              <a:rPr lang="zh-TW" altLang="en-US" dirty="0"/>
              <a:t>的邊界</a:t>
            </a:r>
            <a:r>
              <a:rPr lang="en-US" altLang="zh-TW" dirty="0"/>
              <a:t>:</a:t>
            </a:r>
            <a:r>
              <a:rPr lang="zh-TW" altLang="en-US" dirty="0"/>
              <a:t> </a:t>
            </a:r>
            <a:r>
              <a:rPr lang="en-US" altLang="zh-TW" u="sng" spc="-1" dirty="0" err="1">
                <a:latin typeface="Times New Roman"/>
              </a:rPr>
              <a:t>cbabc</a:t>
            </a:r>
            <a:r>
              <a:rPr lang="en-US" altLang="zh-TW" spc="-1" dirty="0" err="1">
                <a:solidFill>
                  <a:srgbClr val="FF0000"/>
                </a:solidFill>
                <a:latin typeface="Times New Roman"/>
              </a:rPr>
              <a:t>x</a:t>
            </a:r>
            <a:r>
              <a:rPr lang="en-US" altLang="zh-TW" spc="-1" dirty="0" err="1">
                <a:latin typeface="Times New Roman"/>
              </a:rPr>
              <a:t>cb</a:t>
            </a:r>
            <a:r>
              <a:rPr lang="en-US" altLang="zh-TW" spc="-1" dirty="0" err="1">
                <a:solidFill>
                  <a:schemeClr val="accent5"/>
                </a:solidFill>
                <a:latin typeface="Times New Roman"/>
              </a:rPr>
              <a:t>a</a:t>
            </a:r>
            <a:r>
              <a:rPr lang="en-US" altLang="zh-TW" spc="-1" dirty="0" err="1">
                <a:latin typeface="Times New Roman"/>
              </a:rPr>
              <a:t>b</a:t>
            </a:r>
            <a:r>
              <a:rPr lang="en-US" altLang="zh-TW" spc="-1" dirty="0" err="1">
                <a:solidFill>
                  <a:srgbClr val="000000"/>
                </a:solidFill>
                <a:latin typeface="Times New Roman"/>
              </a:rPr>
              <a:t>e</a:t>
            </a:r>
            <a:r>
              <a:rPr lang="zh-TW" altLang="en-US" spc="-1" dirty="0">
                <a:solidFill>
                  <a:srgbClr val="000000"/>
                </a:solidFill>
                <a:latin typeface="Times New Roman"/>
              </a:rPr>
              <a:t>                    </a:t>
            </a:r>
            <a:r>
              <a:rPr lang="en-US" altLang="zh-TW" spc="-1" dirty="0">
                <a:solidFill>
                  <a:srgbClr val="000000"/>
                </a:solidFill>
                <a:latin typeface="Times New Roman"/>
              </a:rPr>
              <a:t> </a:t>
            </a:r>
          </a:p>
          <a:p>
            <a:pPr marL="971910" lvl="1" indent="-514350">
              <a:spcBef>
                <a:spcPts val="561"/>
              </a:spcBef>
              <a:buClr>
                <a:srgbClr val="000000"/>
              </a:buClr>
              <a:buFont typeface="+mj-lt"/>
              <a:buAutoNum type="arabicPeriod"/>
            </a:pPr>
            <a:endParaRPr lang="en-US" altLang="zh-TW" spc="-1" dirty="0">
              <a:solidFill>
                <a:srgbClr val="000000"/>
              </a:solidFill>
              <a:latin typeface="Times New Roman"/>
            </a:endParaRPr>
          </a:p>
          <a:p>
            <a:pPr marL="971910" lvl="1" indent="-514350">
              <a:spcBef>
                <a:spcPts val="561"/>
              </a:spcBef>
              <a:buClr>
                <a:srgbClr val="000000"/>
              </a:buClr>
              <a:buFont typeface="+mj-lt"/>
              <a:buAutoNum type="arabicPeriod"/>
            </a:pPr>
            <a:r>
              <a:rPr lang="en-US" altLang="zh-TW" dirty="0"/>
              <a:t>= x </a:t>
            </a:r>
            <a:r>
              <a:rPr lang="zh-TW" altLang="en-US" dirty="0"/>
              <a:t>的邊界</a:t>
            </a:r>
            <a:r>
              <a:rPr lang="en-US" altLang="zh-TW" dirty="0"/>
              <a:t>:</a:t>
            </a:r>
            <a:r>
              <a:rPr lang="zh-TW" altLang="en-US" dirty="0"/>
              <a:t> </a:t>
            </a:r>
            <a:r>
              <a:rPr lang="en-US" altLang="zh-TW" spc="-1" dirty="0" err="1">
                <a:solidFill>
                  <a:srgbClr val="000000"/>
                </a:solidFill>
              </a:rPr>
              <a:t>c</a:t>
            </a:r>
            <a:r>
              <a:rPr lang="en-US" altLang="zh-TW" u="sng" spc="-1" dirty="0" err="1">
                <a:solidFill>
                  <a:srgbClr val="000000"/>
                </a:solidFill>
              </a:rPr>
              <a:t>bab</a:t>
            </a:r>
            <a:r>
              <a:rPr lang="en-US" altLang="zh-TW" spc="-1" dirty="0" err="1">
                <a:solidFill>
                  <a:srgbClr val="FF0000"/>
                </a:solidFill>
              </a:rPr>
              <a:t>x</a:t>
            </a:r>
            <a:r>
              <a:rPr lang="en-US" altLang="zh-TW" spc="-1" dirty="0" err="1">
                <a:solidFill>
                  <a:srgbClr val="000000"/>
                </a:solidFill>
              </a:rPr>
              <a:t>b</a:t>
            </a:r>
            <a:r>
              <a:rPr lang="en-US" altLang="zh-TW" spc="-1" dirty="0" err="1">
                <a:solidFill>
                  <a:schemeClr val="accent5"/>
                </a:solidFill>
              </a:rPr>
              <a:t>a</a:t>
            </a:r>
            <a:r>
              <a:rPr lang="en-US" altLang="zh-TW" spc="-1" dirty="0" err="1">
                <a:solidFill>
                  <a:srgbClr val="000000"/>
                </a:solidFill>
              </a:rPr>
              <a:t>bxbac</a:t>
            </a:r>
            <a:endParaRPr lang="en-US" altLang="zh-TW" dirty="0"/>
          </a:p>
          <a:p>
            <a:pPr marL="457560" indent="-457200">
              <a:spcBef>
                <a:spcPts val="561"/>
              </a:spcBef>
              <a:buClr>
                <a:srgbClr val="000000"/>
              </a:buClr>
            </a:pPr>
            <a:endParaRPr lang="en-US" altLang="zh-TW" sz="2800" b="0" dirty="0"/>
          </a:p>
          <a:p>
            <a:pPr marL="457560" indent="-457200">
              <a:spcBef>
                <a:spcPts val="561"/>
              </a:spcBef>
              <a:buClr>
                <a:srgbClr val="000000"/>
              </a:buClr>
            </a:pPr>
            <a:endParaRPr lang="en-US" altLang="zh-TW" spc="-1" dirty="0">
              <a:solidFill>
                <a:srgbClr val="000000"/>
              </a:solidFill>
              <a:latin typeface="Times New Roman"/>
            </a:endParaRPr>
          </a:p>
        </p:txBody>
      </p:sp>
      <p:sp>
        <p:nvSpPr>
          <p:cNvPr id="5" name="左中括弧 4">
            <a:extLst>
              <a:ext uri="{FF2B5EF4-FFF2-40B4-BE49-F238E27FC236}">
                <a16:creationId xmlns:a16="http://schemas.microsoft.com/office/drawing/2014/main" id="{531C1C10-EDCA-2A8D-C985-9D7586D9D75F}"/>
              </a:ext>
            </a:extLst>
          </p:cNvPr>
          <p:cNvSpPr/>
          <p:nvPr/>
        </p:nvSpPr>
        <p:spPr>
          <a:xfrm rot="5400000">
            <a:off x="4044993" y="3981383"/>
            <a:ext cx="117079" cy="1191376"/>
          </a:xfrm>
          <a:prstGeom prst="leftBracket">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8" name="左中括弧 7">
            <a:extLst>
              <a:ext uri="{FF2B5EF4-FFF2-40B4-BE49-F238E27FC236}">
                <a16:creationId xmlns:a16="http://schemas.microsoft.com/office/drawing/2014/main" id="{579AE131-EC23-3199-696D-6533C35A9331}"/>
              </a:ext>
            </a:extLst>
          </p:cNvPr>
          <p:cNvSpPr/>
          <p:nvPr/>
        </p:nvSpPr>
        <p:spPr>
          <a:xfrm rot="5400000">
            <a:off x="4164260" y="4761935"/>
            <a:ext cx="117079" cy="1191376"/>
          </a:xfrm>
          <a:prstGeom prst="leftBracket">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9" name="左中括弧 8">
            <a:extLst>
              <a:ext uri="{FF2B5EF4-FFF2-40B4-BE49-F238E27FC236}">
                <a16:creationId xmlns:a16="http://schemas.microsoft.com/office/drawing/2014/main" id="{042D0A8B-6B82-9DC9-C860-9B54D4B4D51E}"/>
              </a:ext>
            </a:extLst>
          </p:cNvPr>
          <p:cNvSpPr/>
          <p:nvPr/>
        </p:nvSpPr>
        <p:spPr>
          <a:xfrm rot="5400000">
            <a:off x="4017161" y="5769101"/>
            <a:ext cx="117082" cy="865377"/>
          </a:xfrm>
          <a:prstGeom prst="leftBracket">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2" name="內容版面配置區 2">
            <a:extLst>
              <a:ext uri="{FF2B5EF4-FFF2-40B4-BE49-F238E27FC236}">
                <a16:creationId xmlns:a16="http://schemas.microsoft.com/office/drawing/2014/main" id="{C228F1F9-5FE9-0FE8-A094-506AAC3AA206}"/>
              </a:ext>
            </a:extLst>
          </p:cNvPr>
          <p:cNvSpPr txBox="1">
            <a:spLocks/>
          </p:cNvSpPr>
          <p:nvPr/>
        </p:nvSpPr>
        <p:spPr>
          <a:xfrm>
            <a:off x="6096000" y="4518530"/>
            <a:ext cx="5857875" cy="23394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 indent="0">
              <a:spcBef>
                <a:spcPts val="561"/>
              </a:spcBef>
              <a:buClr>
                <a:srgbClr val="000000"/>
              </a:buClr>
              <a:buNone/>
            </a:pPr>
            <a:endParaRPr lang="en-US" altLang="zh-TW" dirty="0"/>
          </a:p>
          <a:p>
            <a:pPr marL="457560" indent="-457200">
              <a:spcBef>
                <a:spcPts val="561"/>
              </a:spcBef>
              <a:buClr>
                <a:srgbClr val="000000"/>
              </a:buClr>
            </a:pPr>
            <a:endParaRPr lang="en-US" altLang="zh-TW" spc="-1" dirty="0">
              <a:solidFill>
                <a:srgbClr val="000000"/>
              </a:solidFill>
              <a:latin typeface="Times New Roman"/>
            </a:endParaRPr>
          </a:p>
        </p:txBody>
      </p:sp>
      <p:sp>
        <p:nvSpPr>
          <p:cNvPr id="13" name="文字方塊 12">
            <a:extLst>
              <a:ext uri="{FF2B5EF4-FFF2-40B4-BE49-F238E27FC236}">
                <a16:creationId xmlns:a16="http://schemas.microsoft.com/office/drawing/2014/main" id="{F78BF8FC-FA87-7196-85A3-1656B3645502}"/>
              </a:ext>
            </a:extLst>
          </p:cNvPr>
          <p:cNvSpPr txBox="1"/>
          <p:nvPr/>
        </p:nvSpPr>
        <p:spPr>
          <a:xfrm>
            <a:off x="5869098" y="4504550"/>
            <a:ext cx="3667125" cy="2062103"/>
          </a:xfrm>
          <a:prstGeom prst="rect">
            <a:avLst/>
          </a:prstGeom>
          <a:noFill/>
        </p:spPr>
        <p:txBody>
          <a:bodyPr wrap="square" rtlCol="0">
            <a:spAutoFit/>
          </a:bodyPr>
          <a:lstStyle/>
          <a:p>
            <a:r>
              <a:rPr lang="en-US" altLang="zh-TW" sz="2400" dirty="0"/>
              <a:t>r = </a:t>
            </a:r>
            <a:r>
              <a:rPr lang="zh-TW" altLang="en-US" sz="2400" dirty="0"/>
              <a:t>對稱位置的半徑</a:t>
            </a:r>
            <a:endParaRPr lang="en-US" altLang="zh-TW" sz="2400" dirty="0"/>
          </a:p>
          <a:p>
            <a:endParaRPr lang="en-US" altLang="zh-TW" sz="2400" dirty="0"/>
          </a:p>
          <a:p>
            <a:endParaRPr lang="en-US" altLang="zh-TW" sz="200" dirty="0"/>
          </a:p>
          <a:p>
            <a:r>
              <a:rPr lang="en-US" altLang="zh-TW" sz="2400" dirty="0"/>
              <a:t>r = </a:t>
            </a:r>
            <a:r>
              <a:rPr lang="zh-TW" altLang="en-US" sz="2400" dirty="0"/>
              <a:t>自己到 </a:t>
            </a:r>
            <a:r>
              <a:rPr lang="en-US" altLang="zh-TW" sz="2400" dirty="0"/>
              <a:t>x</a:t>
            </a:r>
            <a:r>
              <a:rPr lang="zh-TW" altLang="en-US" sz="2400" dirty="0"/>
              <a:t> 的右邊界 </a:t>
            </a:r>
            <a:endParaRPr lang="en-US" altLang="zh-TW" sz="2400" dirty="0"/>
          </a:p>
          <a:p>
            <a:endParaRPr lang="en-US" altLang="zh-TW" sz="1200" dirty="0"/>
          </a:p>
          <a:p>
            <a:endParaRPr lang="en-US" altLang="zh-TW" sz="400" dirty="0"/>
          </a:p>
          <a:p>
            <a:endParaRPr lang="en-US" altLang="zh-TW" sz="1200" dirty="0"/>
          </a:p>
          <a:p>
            <a:r>
              <a:rPr lang="en-US" altLang="zh-TW" sz="2400" dirty="0"/>
              <a:t>r</a:t>
            </a:r>
            <a:r>
              <a:rPr lang="zh-TW" altLang="en-US" sz="2400" dirty="0"/>
              <a:t> ≧ 對稱位置的半徑</a:t>
            </a:r>
            <a:endParaRPr lang="en-US" altLang="zh-TW" sz="2400" dirty="0"/>
          </a:p>
        </p:txBody>
      </p:sp>
    </p:spTree>
    <p:extLst>
      <p:ext uri="{BB962C8B-B14F-4D97-AF65-F5344CB8AC3E}">
        <p14:creationId xmlns:p14="http://schemas.microsoft.com/office/powerpoint/2010/main" val="33047210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pc="-1" dirty="0" err="1">
                <a:solidFill>
                  <a:srgbClr val="000000"/>
                </a:solidFill>
                <a:latin typeface="Times New Roman" pitchFamily="18" charset="0"/>
                <a:cs typeface="Times New Roman" pitchFamily="18" charset="0"/>
              </a:rPr>
              <a:t>Manacher’s</a:t>
            </a:r>
            <a:r>
              <a:rPr lang="en-US" altLang="zh-TW" spc="-1" dirty="0">
                <a:solidFill>
                  <a:srgbClr val="000000"/>
                </a:solidFill>
                <a:latin typeface="Times New Roman" pitchFamily="18" charset="0"/>
                <a:cs typeface="Times New Roman" pitchFamily="18" charset="0"/>
              </a:rPr>
              <a:t> Algorithm (2/7)</a:t>
            </a: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200" y="1825625"/>
                <a:ext cx="10515600" cy="4351338"/>
              </a:xfrm>
            </p:spPr>
            <p:txBody>
              <a:bodyPr>
                <a:normAutofit/>
              </a:bodyPr>
              <a:lstStyle/>
              <a:p>
                <a:pPr marL="457560" indent="-457200">
                  <a:spcBef>
                    <a:spcPts val="561"/>
                  </a:spcBef>
                  <a:buClr>
                    <a:srgbClr val="000000"/>
                  </a:buClr>
                </a:pPr>
                <a14:m>
                  <m:oMath xmlns:m="http://schemas.openxmlformats.org/officeDocument/2006/math">
                    <m:r>
                      <a:rPr lang="en-US" altLang="zh-TW" i="1" spc="-1" smtClean="0">
                        <a:solidFill>
                          <a:srgbClr val="000000"/>
                        </a:solidFill>
                        <a:latin typeface="Cambria Math" panose="02040503050406030204" pitchFamily="18" charset="0"/>
                      </a:rPr>
                      <m:t>𝑤</m:t>
                    </m:r>
                  </m:oMath>
                </a14:m>
                <a:r>
                  <a:rPr lang="en-US" altLang="zh-TW" spc="-1" dirty="0">
                    <a:solidFill>
                      <a:srgbClr val="000000"/>
                    </a:solidFill>
                    <a:latin typeface="Times New Roman"/>
                  </a:rPr>
                  <a:t> = </a:t>
                </a:r>
                <a:r>
                  <a:rPr lang="en-US" altLang="zh-TW" spc="-1" dirty="0" err="1"/>
                  <a:t>cbabxbabxbac</a:t>
                </a:r>
                <a:endParaRPr lang="en-US" altLang="zh-TW" spc="-1" dirty="0"/>
              </a:p>
              <a:p>
                <a:pPr marL="360" indent="0">
                  <a:spcBef>
                    <a:spcPts val="561"/>
                  </a:spcBef>
                  <a:buClr>
                    <a:srgbClr val="000000"/>
                  </a:buClr>
                  <a:buNone/>
                </a:pPr>
                <a:endParaRPr lang="en-US" altLang="zh-TW" spc="-1" dirty="0">
                  <a:solidFill>
                    <a:srgbClr val="000000"/>
                  </a:solidFill>
                  <a:latin typeface="Times New Roman"/>
                </a:endParaRPr>
              </a:p>
              <a:p>
                <a:pPr marL="360" indent="0">
                  <a:spcBef>
                    <a:spcPts val="561"/>
                  </a:spcBef>
                  <a:buClr>
                    <a:srgbClr val="000000"/>
                  </a:buClr>
                  <a:buNone/>
                </a:pPr>
                <a:endParaRPr lang="en-US" altLang="zh-TW" spc="-1" dirty="0">
                  <a:solidFill>
                    <a:srgbClr val="000000"/>
                  </a:solidFill>
                  <a:latin typeface="Times New Roman"/>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200" y="1825625"/>
                <a:ext cx="10515600" cy="4351338"/>
              </a:xfrm>
              <a:blipFill>
                <a:blip r:embed="rId2"/>
                <a:stretch>
                  <a:fillRect t="-2381"/>
                </a:stretch>
              </a:blipFill>
            </p:spPr>
            <p:txBody>
              <a:bodyPr/>
              <a:lstStyle/>
              <a:p>
                <a:r>
                  <a:rPr lang="zh-TW" altLang="en-US">
                    <a:noFill/>
                  </a:rPr>
                  <a:t> </a:t>
                </a:r>
              </a:p>
            </p:txBody>
          </p:sp>
        </mc:Fallback>
      </mc:AlternateContent>
      <p:graphicFrame>
        <p:nvGraphicFramePr>
          <p:cNvPr id="4" name="表格 4">
            <a:extLst>
              <a:ext uri="{FF2B5EF4-FFF2-40B4-BE49-F238E27FC236}">
                <a16:creationId xmlns:a16="http://schemas.microsoft.com/office/drawing/2014/main" id="{318AF3AC-BA55-DD3A-E640-E854684713E7}"/>
              </a:ext>
            </a:extLst>
          </p:cNvPr>
          <p:cNvGraphicFramePr>
            <a:graphicFrameLocks noGrp="1"/>
          </p:cNvGraphicFramePr>
          <p:nvPr>
            <p:extLst>
              <p:ext uri="{D42A27DB-BD31-4B8C-83A1-F6EECF244321}">
                <p14:modId xmlns:p14="http://schemas.microsoft.com/office/powerpoint/2010/main" val="419114951"/>
              </p:ext>
            </p:extLst>
          </p:nvPr>
        </p:nvGraphicFramePr>
        <p:xfrm>
          <a:off x="144444" y="3675290"/>
          <a:ext cx="11903112" cy="1572570"/>
        </p:xfrm>
        <a:graphic>
          <a:graphicData uri="http://schemas.openxmlformats.org/drawingml/2006/table">
            <a:tbl>
              <a:tblPr firstRow="1" bandRow="1">
                <a:tableStyleId>{E8B1032C-EA38-4F05-BA0D-38AFFFC7BED3}</a:tableStyleId>
              </a:tblPr>
              <a:tblGrid>
                <a:gridCol w="495963">
                  <a:extLst>
                    <a:ext uri="{9D8B030D-6E8A-4147-A177-3AD203B41FA5}">
                      <a16:colId xmlns:a16="http://schemas.microsoft.com/office/drawing/2014/main" val="3687563117"/>
                    </a:ext>
                  </a:extLst>
                </a:gridCol>
                <a:gridCol w="495963">
                  <a:extLst>
                    <a:ext uri="{9D8B030D-6E8A-4147-A177-3AD203B41FA5}">
                      <a16:colId xmlns:a16="http://schemas.microsoft.com/office/drawing/2014/main" val="3458925501"/>
                    </a:ext>
                  </a:extLst>
                </a:gridCol>
                <a:gridCol w="495963">
                  <a:extLst>
                    <a:ext uri="{9D8B030D-6E8A-4147-A177-3AD203B41FA5}">
                      <a16:colId xmlns:a16="http://schemas.microsoft.com/office/drawing/2014/main" val="4030832065"/>
                    </a:ext>
                  </a:extLst>
                </a:gridCol>
                <a:gridCol w="495963">
                  <a:extLst>
                    <a:ext uri="{9D8B030D-6E8A-4147-A177-3AD203B41FA5}">
                      <a16:colId xmlns:a16="http://schemas.microsoft.com/office/drawing/2014/main" val="1724438594"/>
                    </a:ext>
                  </a:extLst>
                </a:gridCol>
                <a:gridCol w="495963">
                  <a:extLst>
                    <a:ext uri="{9D8B030D-6E8A-4147-A177-3AD203B41FA5}">
                      <a16:colId xmlns:a16="http://schemas.microsoft.com/office/drawing/2014/main" val="4209229924"/>
                    </a:ext>
                  </a:extLst>
                </a:gridCol>
                <a:gridCol w="495963">
                  <a:extLst>
                    <a:ext uri="{9D8B030D-6E8A-4147-A177-3AD203B41FA5}">
                      <a16:colId xmlns:a16="http://schemas.microsoft.com/office/drawing/2014/main" val="2908390315"/>
                    </a:ext>
                  </a:extLst>
                </a:gridCol>
                <a:gridCol w="495963">
                  <a:extLst>
                    <a:ext uri="{9D8B030D-6E8A-4147-A177-3AD203B41FA5}">
                      <a16:colId xmlns:a16="http://schemas.microsoft.com/office/drawing/2014/main" val="1002060645"/>
                    </a:ext>
                  </a:extLst>
                </a:gridCol>
                <a:gridCol w="495963">
                  <a:extLst>
                    <a:ext uri="{9D8B030D-6E8A-4147-A177-3AD203B41FA5}">
                      <a16:colId xmlns:a16="http://schemas.microsoft.com/office/drawing/2014/main" val="2341577556"/>
                    </a:ext>
                  </a:extLst>
                </a:gridCol>
                <a:gridCol w="495963">
                  <a:extLst>
                    <a:ext uri="{9D8B030D-6E8A-4147-A177-3AD203B41FA5}">
                      <a16:colId xmlns:a16="http://schemas.microsoft.com/office/drawing/2014/main" val="476296480"/>
                    </a:ext>
                  </a:extLst>
                </a:gridCol>
                <a:gridCol w="495963">
                  <a:extLst>
                    <a:ext uri="{9D8B030D-6E8A-4147-A177-3AD203B41FA5}">
                      <a16:colId xmlns:a16="http://schemas.microsoft.com/office/drawing/2014/main" val="1461677071"/>
                    </a:ext>
                  </a:extLst>
                </a:gridCol>
                <a:gridCol w="495963">
                  <a:extLst>
                    <a:ext uri="{9D8B030D-6E8A-4147-A177-3AD203B41FA5}">
                      <a16:colId xmlns:a16="http://schemas.microsoft.com/office/drawing/2014/main" val="2307505867"/>
                    </a:ext>
                  </a:extLst>
                </a:gridCol>
                <a:gridCol w="495963">
                  <a:extLst>
                    <a:ext uri="{9D8B030D-6E8A-4147-A177-3AD203B41FA5}">
                      <a16:colId xmlns:a16="http://schemas.microsoft.com/office/drawing/2014/main" val="886355715"/>
                    </a:ext>
                  </a:extLst>
                </a:gridCol>
                <a:gridCol w="495963">
                  <a:extLst>
                    <a:ext uri="{9D8B030D-6E8A-4147-A177-3AD203B41FA5}">
                      <a16:colId xmlns:a16="http://schemas.microsoft.com/office/drawing/2014/main" val="2723366198"/>
                    </a:ext>
                  </a:extLst>
                </a:gridCol>
                <a:gridCol w="495963">
                  <a:extLst>
                    <a:ext uri="{9D8B030D-6E8A-4147-A177-3AD203B41FA5}">
                      <a16:colId xmlns:a16="http://schemas.microsoft.com/office/drawing/2014/main" val="2787038888"/>
                    </a:ext>
                  </a:extLst>
                </a:gridCol>
                <a:gridCol w="495963">
                  <a:extLst>
                    <a:ext uri="{9D8B030D-6E8A-4147-A177-3AD203B41FA5}">
                      <a16:colId xmlns:a16="http://schemas.microsoft.com/office/drawing/2014/main" val="2588476093"/>
                    </a:ext>
                  </a:extLst>
                </a:gridCol>
                <a:gridCol w="495963">
                  <a:extLst>
                    <a:ext uri="{9D8B030D-6E8A-4147-A177-3AD203B41FA5}">
                      <a16:colId xmlns:a16="http://schemas.microsoft.com/office/drawing/2014/main" val="4087603699"/>
                    </a:ext>
                  </a:extLst>
                </a:gridCol>
                <a:gridCol w="495963">
                  <a:extLst>
                    <a:ext uri="{9D8B030D-6E8A-4147-A177-3AD203B41FA5}">
                      <a16:colId xmlns:a16="http://schemas.microsoft.com/office/drawing/2014/main" val="2550113863"/>
                    </a:ext>
                  </a:extLst>
                </a:gridCol>
                <a:gridCol w="495963">
                  <a:extLst>
                    <a:ext uri="{9D8B030D-6E8A-4147-A177-3AD203B41FA5}">
                      <a16:colId xmlns:a16="http://schemas.microsoft.com/office/drawing/2014/main" val="977347673"/>
                    </a:ext>
                  </a:extLst>
                </a:gridCol>
                <a:gridCol w="495963">
                  <a:extLst>
                    <a:ext uri="{9D8B030D-6E8A-4147-A177-3AD203B41FA5}">
                      <a16:colId xmlns:a16="http://schemas.microsoft.com/office/drawing/2014/main" val="3240576578"/>
                    </a:ext>
                  </a:extLst>
                </a:gridCol>
                <a:gridCol w="495963">
                  <a:extLst>
                    <a:ext uri="{9D8B030D-6E8A-4147-A177-3AD203B41FA5}">
                      <a16:colId xmlns:a16="http://schemas.microsoft.com/office/drawing/2014/main" val="4183886762"/>
                    </a:ext>
                  </a:extLst>
                </a:gridCol>
                <a:gridCol w="495963">
                  <a:extLst>
                    <a:ext uri="{9D8B030D-6E8A-4147-A177-3AD203B41FA5}">
                      <a16:colId xmlns:a16="http://schemas.microsoft.com/office/drawing/2014/main" val="748801735"/>
                    </a:ext>
                  </a:extLst>
                </a:gridCol>
                <a:gridCol w="495963">
                  <a:extLst>
                    <a:ext uri="{9D8B030D-6E8A-4147-A177-3AD203B41FA5}">
                      <a16:colId xmlns:a16="http://schemas.microsoft.com/office/drawing/2014/main" val="2312860317"/>
                    </a:ext>
                  </a:extLst>
                </a:gridCol>
                <a:gridCol w="495963">
                  <a:extLst>
                    <a:ext uri="{9D8B030D-6E8A-4147-A177-3AD203B41FA5}">
                      <a16:colId xmlns:a16="http://schemas.microsoft.com/office/drawing/2014/main" val="4232901803"/>
                    </a:ext>
                  </a:extLst>
                </a:gridCol>
                <a:gridCol w="495963">
                  <a:extLst>
                    <a:ext uri="{9D8B030D-6E8A-4147-A177-3AD203B41FA5}">
                      <a16:colId xmlns:a16="http://schemas.microsoft.com/office/drawing/2014/main" val="1893531490"/>
                    </a:ext>
                  </a:extLst>
                </a:gridCol>
              </a:tblGrid>
              <a:tr h="524190">
                <a:tc>
                  <a:txBody>
                    <a:bodyPr/>
                    <a:lstStyle/>
                    <a:p>
                      <a:pPr algn="ctr"/>
                      <a:r>
                        <a:rPr lang="en-US" altLang="zh-TW" sz="2400" b="0" dirty="0" err="1"/>
                        <a:t>i</a:t>
                      </a:r>
                      <a:endParaRPr lang="zh-TW" altLang="en-US" sz="2400" b="0" dirty="0"/>
                    </a:p>
                  </a:txBody>
                  <a:tcPr>
                    <a:solidFill>
                      <a:schemeClr val="bg2"/>
                    </a:solidFill>
                  </a:tcPr>
                </a:tc>
                <a:tc>
                  <a:txBody>
                    <a:bodyPr/>
                    <a:lstStyle/>
                    <a:p>
                      <a:pPr algn="ctr"/>
                      <a:r>
                        <a:rPr lang="en-US" altLang="zh-TW" sz="2400" b="0" dirty="0"/>
                        <a:t>1</a:t>
                      </a:r>
                      <a:endParaRPr lang="zh-TW" altLang="en-US" sz="2400" b="0" dirty="0"/>
                    </a:p>
                  </a:txBody>
                  <a:tcPr>
                    <a:solidFill>
                      <a:schemeClr val="bg2"/>
                    </a:solidFill>
                  </a:tcPr>
                </a:tc>
                <a:tc>
                  <a:txBody>
                    <a:bodyPr/>
                    <a:lstStyle/>
                    <a:p>
                      <a:pPr algn="ctr"/>
                      <a:r>
                        <a:rPr lang="en-US" altLang="zh-TW" sz="2400" b="0" dirty="0"/>
                        <a:t>2</a:t>
                      </a:r>
                      <a:endParaRPr lang="zh-TW" altLang="en-US" sz="2400" b="0" dirty="0"/>
                    </a:p>
                  </a:txBody>
                  <a:tcPr>
                    <a:solidFill>
                      <a:schemeClr val="bg2"/>
                    </a:solidFill>
                  </a:tcPr>
                </a:tc>
                <a:tc>
                  <a:txBody>
                    <a:bodyPr/>
                    <a:lstStyle/>
                    <a:p>
                      <a:pPr algn="ctr"/>
                      <a:r>
                        <a:rPr lang="en-US" altLang="zh-TW" sz="2400" b="0" dirty="0"/>
                        <a:t>3</a:t>
                      </a:r>
                      <a:endParaRPr lang="zh-TW" altLang="en-US" sz="2400" b="0" dirty="0"/>
                    </a:p>
                  </a:txBody>
                  <a:tcPr>
                    <a:solidFill>
                      <a:schemeClr val="bg2"/>
                    </a:solidFill>
                  </a:tcPr>
                </a:tc>
                <a:tc>
                  <a:txBody>
                    <a:bodyPr/>
                    <a:lstStyle/>
                    <a:p>
                      <a:pPr algn="ctr"/>
                      <a:r>
                        <a:rPr lang="en-US" altLang="zh-TW" sz="2400" b="0" dirty="0"/>
                        <a:t>4</a:t>
                      </a:r>
                      <a:endParaRPr lang="zh-TW" altLang="en-US" sz="2400" b="0" dirty="0"/>
                    </a:p>
                  </a:txBody>
                  <a:tcPr>
                    <a:solidFill>
                      <a:schemeClr val="bg2"/>
                    </a:solidFill>
                  </a:tcPr>
                </a:tc>
                <a:tc>
                  <a:txBody>
                    <a:bodyPr/>
                    <a:lstStyle/>
                    <a:p>
                      <a:pPr algn="ctr"/>
                      <a:r>
                        <a:rPr lang="en-US" altLang="zh-TW" sz="2400" b="0" dirty="0"/>
                        <a:t>5</a:t>
                      </a:r>
                      <a:endParaRPr lang="zh-TW" altLang="en-US" sz="2400" b="0" dirty="0"/>
                    </a:p>
                  </a:txBody>
                  <a:tcPr>
                    <a:solidFill>
                      <a:schemeClr val="bg2"/>
                    </a:solidFill>
                  </a:tcPr>
                </a:tc>
                <a:tc>
                  <a:txBody>
                    <a:bodyPr/>
                    <a:lstStyle/>
                    <a:p>
                      <a:pPr algn="ctr"/>
                      <a:r>
                        <a:rPr lang="en-US" altLang="zh-TW" sz="2400" b="0" dirty="0"/>
                        <a:t>6</a:t>
                      </a:r>
                      <a:endParaRPr lang="zh-TW" altLang="en-US" sz="2400" b="0" dirty="0"/>
                    </a:p>
                  </a:txBody>
                  <a:tcPr>
                    <a:solidFill>
                      <a:schemeClr val="bg2"/>
                    </a:solidFill>
                  </a:tcPr>
                </a:tc>
                <a:tc>
                  <a:txBody>
                    <a:bodyPr/>
                    <a:lstStyle/>
                    <a:p>
                      <a:pPr algn="ctr"/>
                      <a:r>
                        <a:rPr lang="en-US" altLang="zh-TW" sz="2400" b="0" dirty="0"/>
                        <a:t>7</a:t>
                      </a:r>
                      <a:endParaRPr lang="zh-TW" altLang="en-US" sz="2400" b="0" dirty="0"/>
                    </a:p>
                  </a:txBody>
                  <a:tcPr>
                    <a:solidFill>
                      <a:schemeClr val="bg2"/>
                    </a:solidFill>
                  </a:tcPr>
                </a:tc>
                <a:tc>
                  <a:txBody>
                    <a:bodyPr/>
                    <a:lstStyle/>
                    <a:p>
                      <a:pPr algn="ctr"/>
                      <a:r>
                        <a:rPr lang="en-US" altLang="zh-TW" sz="2400" b="0" dirty="0"/>
                        <a:t>8</a:t>
                      </a:r>
                      <a:endParaRPr lang="zh-TW" altLang="en-US" sz="2400" b="0" dirty="0"/>
                    </a:p>
                  </a:txBody>
                  <a:tcPr>
                    <a:solidFill>
                      <a:schemeClr val="bg2"/>
                    </a:solidFill>
                  </a:tcPr>
                </a:tc>
                <a:tc>
                  <a:txBody>
                    <a:bodyPr/>
                    <a:lstStyle/>
                    <a:p>
                      <a:pPr algn="ctr"/>
                      <a:r>
                        <a:rPr lang="en-US" altLang="zh-TW" sz="2400" b="0" dirty="0"/>
                        <a:t>9</a:t>
                      </a:r>
                      <a:endParaRPr lang="zh-TW" altLang="en-US" sz="2400" b="0" dirty="0"/>
                    </a:p>
                  </a:txBody>
                  <a:tcPr>
                    <a:solidFill>
                      <a:schemeClr val="bg2"/>
                    </a:solidFill>
                  </a:tcPr>
                </a:tc>
                <a:tc>
                  <a:txBody>
                    <a:bodyPr/>
                    <a:lstStyle/>
                    <a:p>
                      <a:pPr algn="ctr"/>
                      <a:r>
                        <a:rPr lang="en-US" altLang="zh-TW" sz="2400" b="0" dirty="0"/>
                        <a:t>10</a:t>
                      </a:r>
                      <a:endParaRPr lang="zh-TW" altLang="en-US" sz="2400" b="0" dirty="0"/>
                    </a:p>
                  </a:txBody>
                  <a:tcPr>
                    <a:solidFill>
                      <a:schemeClr val="bg2"/>
                    </a:solidFill>
                  </a:tcPr>
                </a:tc>
                <a:tc>
                  <a:txBody>
                    <a:bodyPr/>
                    <a:lstStyle/>
                    <a:p>
                      <a:pPr algn="ctr"/>
                      <a:r>
                        <a:rPr lang="en-US" altLang="zh-TW" sz="2400" b="0" dirty="0"/>
                        <a:t>11</a:t>
                      </a:r>
                      <a:endParaRPr lang="zh-TW" altLang="en-US" sz="2400" b="0" dirty="0"/>
                    </a:p>
                  </a:txBody>
                  <a:tcPr>
                    <a:solidFill>
                      <a:schemeClr val="bg2"/>
                    </a:solidFill>
                  </a:tcPr>
                </a:tc>
                <a:tc>
                  <a:txBody>
                    <a:bodyPr/>
                    <a:lstStyle/>
                    <a:p>
                      <a:pPr algn="ctr"/>
                      <a:r>
                        <a:rPr lang="en-US" altLang="zh-TW" sz="2400" b="0" dirty="0"/>
                        <a:t>12</a:t>
                      </a:r>
                      <a:endParaRPr lang="zh-TW" altLang="en-US" sz="2400" b="0" dirty="0"/>
                    </a:p>
                  </a:txBody>
                  <a:tcPr>
                    <a:solidFill>
                      <a:schemeClr val="bg2"/>
                    </a:solidFill>
                  </a:tcPr>
                </a:tc>
                <a:tc>
                  <a:txBody>
                    <a:bodyPr/>
                    <a:lstStyle/>
                    <a:p>
                      <a:pPr algn="ctr"/>
                      <a:r>
                        <a:rPr lang="en-US" altLang="zh-TW" sz="2400" b="0" dirty="0"/>
                        <a:t>13</a:t>
                      </a:r>
                      <a:endParaRPr lang="zh-TW" altLang="en-US" sz="2400" b="0" dirty="0"/>
                    </a:p>
                  </a:txBody>
                  <a:tcPr>
                    <a:solidFill>
                      <a:schemeClr val="bg2"/>
                    </a:solidFill>
                  </a:tcPr>
                </a:tc>
                <a:tc>
                  <a:txBody>
                    <a:bodyPr/>
                    <a:lstStyle/>
                    <a:p>
                      <a:pPr algn="ctr"/>
                      <a:r>
                        <a:rPr lang="en-US" altLang="zh-TW" sz="2400" b="0" dirty="0"/>
                        <a:t>14</a:t>
                      </a:r>
                      <a:endParaRPr lang="zh-TW" altLang="en-US" sz="2400" b="0" dirty="0"/>
                    </a:p>
                  </a:txBody>
                  <a:tcPr>
                    <a:solidFill>
                      <a:schemeClr val="bg2"/>
                    </a:solidFill>
                  </a:tcPr>
                </a:tc>
                <a:tc>
                  <a:txBody>
                    <a:bodyPr/>
                    <a:lstStyle/>
                    <a:p>
                      <a:pPr algn="ctr"/>
                      <a:r>
                        <a:rPr lang="en-US" altLang="zh-TW" sz="2400" b="0" dirty="0"/>
                        <a:t>15</a:t>
                      </a:r>
                      <a:endParaRPr lang="zh-TW" altLang="en-US" sz="2400" b="0" dirty="0"/>
                    </a:p>
                  </a:txBody>
                  <a:tcPr>
                    <a:solidFill>
                      <a:schemeClr val="bg2"/>
                    </a:solidFill>
                  </a:tcPr>
                </a:tc>
                <a:tc>
                  <a:txBody>
                    <a:bodyPr/>
                    <a:lstStyle/>
                    <a:p>
                      <a:pPr algn="ctr"/>
                      <a:r>
                        <a:rPr lang="en-US" altLang="zh-TW" sz="2400" b="0" dirty="0"/>
                        <a:t>16</a:t>
                      </a:r>
                      <a:endParaRPr lang="zh-TW" altLang="en-US" sz="2400" b="0" dirty="0"/>
                    </a:p>
                  </a:txBody>
                  <a:tcPr>
                    <a:solidFill>
                      <a:schemeClr val="bg2"/>
                    </a:solidFill>
                  </a:tcPr>
                </a:tc>
                <a:tc>
                  <a:txBody>
                    <a:bodyPr/>
                    <a:lstStyle/>
                    <a:p>
                      <a:pPr algn="ctr"/>
                      <a:r>
                        <a:rPr lang="en-US" altLang="zh-TW" sz="2400" b="0" dirty="0"/>
                        <a:t>17</a:t>
                      </a:r>
                      <a:endParaRPr lang="zh-TW" altLang="en-US" sz="2400" b="0" dirty="0"/>
                    </a:p>
                  </a:txBody>
                  <a:tcPr>
                    <a:solidFill>
                      <a:schemeClr val="bg2"/>
                    </a:solidFill>
                  </a:tcPr>
                </a:tc>
                <a:tc>
                  <a:txBody>
                    <a:bodyPr/>
                    <a:lstStyle/>
                    <a:p>
                      <a:pPr algn="ctr"/>
                      <a:r>
                        <a:rPr lang="en-US" altLang="zh-TW" sz="2400" b="0" dirty="0"/>
                        <a:t>18</a:t>
                      </a:r>
                      <a:endParaRPr lang="zh-TW" altLang="en-US" sz="2400" b="0" dirty="0"/>
                    </a:p>
                  </a:txBody>
                  <a:tcPr>
                    <a:solidFill>
                      <a:schemeClr val="bg2"/>
                    </a:solidFill>
                  </a:tcPr>
                </a:tc>
                <a:tc>
                  <a:txBody>
                    <a:bodyPr/>
                    <a:lstStyle/>
                    <a:p>
                      <a:pPr algn="ctr"/>
                      <a:r>
                        <a:rPr lang="en-US" altLang="zh-TW" sz="2400" b="0" dirty="0"/>
                        <a:t>19</a:t>
                      </a:r>
                      <a:endParaRPr lang="zh-TW" altLang="en-US" sz="2400" b="0" dirty="0"/>
                    </a:p>
                  </a:txBody>
                  <a:tcPr>
                    <a:solidFill>
                      <a:schemeClr val="bg2"/>
                    </a:solidFill>
                  </a:tcPr>
                </a:tc>
                <a:tc>
                  <a:txBody>
                    <a:bodyPr/>
                    <a:lstStyle/>
                    <a:p>
                      <a:pPr algn="ctr"/>
                      <a:r>
                        <a:rPr lang="en-US" altLang="zh-TW" sz="2400" b="0" dirty="0"/>
                        <a:t>20</a:t>
                      </a:r>
                      <a:endParaRPr lang="zh-TW" altLang="en-US" sz="2400" b="0" dirty="0"/>
                    </a:p>
                  </a:txBody>
                  <a:tcPr>
                    <a:solidFill>
                      <a:schemeClr val="bg2"/>
                    </a:solidFill>
                  </a:tcPr>
                </a:tc>
                <a:tc>
                  <a:txBody>
                    <a:bodyPr/>
                    <a:lstStyle/>
                    <a:p>
                      <a:pPr algn="ctr"/>
                      <a:r>
                        <a:rPr lang="en-US" altLang="zh-TW" sz="2400" b="0" dirty="0"/>
                        <a:t>21</a:t>
                      </a:r>
                      <a:endParaRPr lang="zh-TW" altLang="en-US" sz="2400" b="0" dirty="0"/>
                    </a:p>
                  </a:txBody>
                  <a:tcPr>
                    <a:solidFill>
                      <a:schemeClr val="bg2"/>
                    </a:solidFill>
                  </a:tcPr>
                </a:tc>
                <a:tc>
                  <a:txBody>
                    <a:bodyPr/>
                    <a:lstStyle/>
                    <a:p>
                      <a:pPr algn="ctr"/>
                      <a:r>
                        <a:rPr lang="en-US" altLang="zh-TW" sz="2400" b="0" dirty="0"/>
                        <a:t>22</a:t>
                      </a:r>
                      <a:endParaRPr lang="zh-TW" altLang="en-US" sz="2400" b="0" dirty="0"/>
                    </a:p>
                  </a:txBody>
                  <a:tcPr>
                    <a:solidFill>
                      <a:schemeClr val="bg2"/>
                    </a:solidFill>
                  </a:tcPr>
                </a:tc>
                <a:tc>
                  <a:txBody>
                    <a:bodyPr/>
                    <a:lstStyle/>
                    <a:p>
                      <a:pPr algn="ctr"/>
                      <a:r>
                        <a:rPr lang="en-US" altLang="zh-TW" sz="2400" b="0" dirty="0"/>
                        <a:t>23</a:t>
                      </a:r>
                      <a:endParaRPr lang="zh-TW" altLang="en-US" sz="2400" b="0" dirty="0"/>
                    </a:p>
                  </a:txBody>
                  <a:tcPr>
                    <a:solidFill>
                      <a:schemeClr val="bg2"/>
                    </a:solidFill>
                  </a:tcPr>
                </a:tc>
                <a:extLst>
                  <a:ext uri="{0D108BD9-81ED-4DB2-BD59-A6C34878D82A}">
                    <a16:rowId xmlns:a16="http://schemas.microsoft.com/office/drawing/2014/main" val="4195531117"/>
                  </a:ext>
                </a:extLst>
              </a:tr>
              <a:tr h="524190">
                <a:tc>
                  <a:txBody>
                    <a:bodyPr/>
                    <a:lstStyle/>
                    <a:p>
                      <a:pPr algn="ctr"/>
                      <a:r>
                        <a:rPr lang="en-US" altLang="zh-TW" sz="2400" b="0" dirty="0"/>
                        <a:t>w</a:t>
                      </a:r>
                      <a:endParaRPr lang="zh-TW" altLang="en-US" sz="2400" b="0" dirty="0"/>
                    </a:p>
                  </a:txBody>
                  <a:tcPr>
                    <a:solidFill>
                      <a:schemeClr val="bg2"/>
                    </a:solidFill>
                  </a:tcPr>
                </a:tc>
                <a:tc>
                  <a:txBody>
                    <a:bodyPr/>
                    <a:lstStyle/>
                    <a:p>
                      <a:pPr algn="ctr"/>
                      <a:r>
                        <a:rPr lang="en-US" altLang="zh-TW" sz="2400" b="0" dirty="0"/>
                        <a:t>c</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solidFill>
                            <a:schemeClr val="tx1"/>
                          </a:solidFill>
                        </a:rPr>
                        <a:t>a</a:t>
                      </a:r>
                      <a:endParaRPr lang="zh-TW" altLang="en-US" sz="2400" b="0" dirty="0">
                        <a:solidFill>
                          <a:schemeClr val="tx1"/>
                        </a:solidFill>
                      </a:endParaRPr>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x</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a</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x</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a</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c</a:t>
                      </a:r>
                      <a:endParaRPr lang="zh-TW" altLang="en-US" sz="2400" b="0" dirty="0"/>
                    </a:p>
                  </a:txBody>
                  <a:tcPr>
                    <a:noFill/>
                  </a:tcPr>
                </a:tc>
                <a:extLst>
                  <a:ext uri="{0D108BD9-81ED-4DB2-BD59-A6C34878D82A}">
                    <a16:rowId xmlns:a16="http://schemas.microsoft.com/office/drawing/2014/main" val="3474810379"/>
                  </a:ext>
                </a:extLst>
              </a:tr>
              <a:tr h="524190">
                <a:tc>
                  <a:txBody>
                    <a:bodyPr/>
                    <a:lstStyle/>
                    <a:p>
                      <a:pPr algn="ctr"/>
                      <a:r>
                        <a:rPr lang="en-US" altLang="zh-TW" sz="2400" b="0" dirty="0"/>
                        <a:t>r</a:t>
                      </a:r>
                      <a:endParaRPr lang="zh-TW" altLang="en-US" sz="2400" b="0" dirty="0"/>
                    </a:p>
                  </a:txBody>
                  <a:tcPr>
                    <a:solidFill>
                      <a:schemeClr val="bg2"/>
                    </a:solidFill>
                  </a:tcPr>
                </a:tc>
                <a:tc>
                  <a:txBody>
                    <a:bodyPr/>
                    <a:lstStyle/>
                    <a:p>
                      <a:pPr algn="ctr"/>
                      <a:r>
                        <a:rPr lang="en-US" altLang="zh-TW" sz="2400" b="0" dirty="0"/>
                        <a:t>1</a:t>
                      </a:r>
                      <a:endParaRPr lang="zh-TW" altLang="en-US" sz="2400" b="0" dirty="0"/>
                    </a:p>
                  </a:txBody>
                  <a:tcPr>
                    <a:noFill/>
                  </a:tcPr>
                </a:tc>
                <a:tc>
                  <a:txBody>
                    <a:bodyPr/>
                    <a:lstStyle/>
                    <a:p>
                      <a:pPr algn="ctr"/>
                      <a:r>
                        <a:rPr lang="en-US" altLang="zh-TW" sz="2400" b="0" dirty="0"/>
                        <a:t>1</a:t>
                      </a:r>
                      <a:endParaRPr lang="zh-TW" altLang="en-US" sz="2400" b="0" dirty="0"/>
                    </a:p>
                  </a:txBody>
                  <a:tcPr>
                    <a:noFill/>
                  </a:tcPr>
                </a:tc>
                <a:tc>
                  <a:txBody>
                    <a:bodyPr/>
                    <a:lstStyle/>
                    <a:p>
                      <a:pPr algn="ctr"/>
                      <a:r>
                        <a:rPr lang="en-US" altLang="zh-TW" sz="2400" b="0" dirty="0"/>
                        <a:t>2</a:t>
                      </a:r>
                      <a:endParaRPr lang="zh-TW" altLang="en-US" sz="2400" b="0" dirty="0"/>
                    </a:p>
                  </a:txBody>
                  <a:tcPr>
                    <a:noFill/>
                  </a:tcPr>
                </a:tc>
                <a:tc>
                  <a:txBody>
                    <a:bodyPr/>
                    <a:lstStyle/>
                    <a:p>
                      <a:pPr algn="ctr"/>
                      <a:r>
                        <a:rPr lang="en-US" altLang="zh-TW" sz="2400" b="0" dirty="0"/>
                        <a:t>1</a:t>
                      </a:r>
                      <a:endParaRPr lang="zh-TW" altLang="en-US" sz="2400" b="0" dirty="0"/>
                    </a:p>
                  </a:txBody>
                  <a:tcPr>
                    <a:noFill/>
                  </a:tcPr>
                </a:tc>
                <a:tc>
                  <a:txBody>
                    <a:bodyPr/>
                    <a:lstStyle/>
                    <a:p>
                      <a:pPr algn="ctr"/>
                      <a:r>
                        <a:rPr lang="en-US" altLang="zh-TW" sz="2400" b="0" dirty="0">
                          <a:solidFill>
                            <a:schemeClr val="tx1"/>
                          </a:solidFill>
                        </a:rPr>
                        <a:t>4</a:t>
                      </a:r>
                      <a:endParaRPr lang="zh-TW" altLang="en-US" sz="2400" b="0" dirty="0">
                        <a:solidFill>
                          <a:schemeClr val="tx1"/>
                        </a:solidFill>
                      </a:endParaRPr>
                    </a:p>
                  </a:txBody>
                  <a:tcPr>
                    <a:noFill/>
                  </a:tcPr>
                </a:tc>
                <a:tc>
                  <a:txBody>
                    <a:bodyPr/>
                    <a:lstStyle/>
                    <a:p>
                      <a:pPr algn="ctr"/>
                      <a:endParaRPr lang="zh-TW" altLang="en-US" sz="2400" b="0" u="none" dirty="0">
                        <a:solidFill>
                          <a:srgbClr val="FF0000"/>
                        </a:solidFill>
                      </a:endParaRPr>
                    </a:p>
                  </a:txBody>
                  <a:tcPr>
                    <a:noFill/>
                  </a:tcPr>
                </a:tc>
                <a:tc>
                  <a:txBody>
                    <a:bodyPr/>
                    <a:lstStyle/>
                    <a:p>
                      <a:pPr algn="ctr"/>
                      <a:endParaRPr lang="zh-TW" altLang="en-US" sz="2400" b="0" u="none" dirty="0">
                        <a:solidFill>
                          <a:srgbClr val="FF0000"/>
                        </a:solidFill>
                      </a:endParaRPr>
                    </a:p>
                  </a:txBody>
                  <a:tcPr>
                    <a:noFill/>
                  </a:tcPr>
                </a:tc>
                <a:tc>
                  <a:txBody>
                    <a:bodyPr/>
                    <a:lstStyle/>
                    <a:p>
                      <a:pPr algn="ctr"/>
                      <a:endParaRPr lang="zh-TW" altLang="en-US" sz="2400" b="0" u="none" dirty="0">
                        <a:solidFill>
                          <a:srgbClr val="FF0000"/>
                        </a:solidFill>
                      </a:endParaRPr>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extLst>
                  <a:ext uri="{0D108BD9-81ED-4DB2-BD59-A6C34878D82A}">
                    <a16:rowId xmlns:a16="http://schemas.microsoft.com/office/drawing/2014/main" val="2333122955"/>
                  </a:ext>
                </a:extLst>
              </a:tr>
            </a:tbl>
          </a:graphicData>
        </a:graphic>
      </p:graphicFrame>
    </p:spTree>
    <p:extLst>
      <p:ext uri="{BB962C8B-B14F-4D97-AF65-F5344CB8AC3E}">
        <p14:creationId xmlns:p14="http://schemas.microsoft.com/office/powerpoint/2010/main" val="357331560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pc="-1" dirty="0" err="1">
                <a:solidFill>
                  <a:srgbClr val="000000"/>
                </a:solidFill>
                <a:latin typeface="Times New Roman" pitchFamily="18" charset="0"/>
                <a:cs typeface="Times New Roman" pitchFamily="18" charset="0"/>
              </a:rPr>
              <a:t>Manacher’s</a:t>
            </a:r>
            <a:r>
              <a:rPr lang="en-US" altLang="zh-TW" spc="-1" dirty="0">
                <a:solidFill>
                  <a:srgbClr val="000000"/>
                </a:solidFill>
                <a:latin typeface="Times New Roman" pitchFamily="18" charset="0"/>
                <a:cs typeface="Times New Roman" pitchFamily="18" charset="0"/>
              </a:rPr>
              <a:t> Algorithm (3/7)</a:t>
            </a: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200" y="1825625"/>
                <a:ext cx="10515600" cy="4351338"/>
              </a:xfrm>
            </p:spPr>
            <p:txBody>
              <a:bodyPr>
                <a:normAutofit/>
              </a:bodyPr>
              <a:lstStyle/>
              <a:p>
                <a:pPr marL="457560" indent="-457200">
                  <a:spcBef>
                    <a:spcPts val="561"/>
                  </a:spcBef>
                  <a:buClr>
                    <a:srgbClr val="000000"/>
                  </a:buClr>
                </a:pPr>
                <a14:m>
                  <m:oMath xmlns:m="http://schemas.openxmlformats.org/officeDocument/2006/math">
                    <m:r>
                      <a:rPr lang="en-US" altLang="zh-TW" i="1" spc="-1" smtClean="0">
                        <a:solidFill>
                          <a:srgbClr val="000000"/>
                        </a:solidFill>
                        <a:latin typeface="Cambria Math" panose="02040503050406030204" pitchFamily="18" charset="0"/>
                      </a:rPr>
                      <m:t>𝑤</m:t>
                    </m:r>
                  </m:oMath>
                </a14:m>
                <a:r>
                  <a:rPr lang="en-US" altLang="zh-TW" spc="-1" dirty="0">
                    <a:solidFill>
                      <a:srgbClr val="000000"/>
                    </a:solidFill>
                    <a:latin typeface="Times New Roman"/>
                  </a:rPr>
                  <a:t> = </a:t>
                </a:r>
                <a:r>
                  <a:rPr lang="en-US" altLang="zh-TW" spc="-1" dirty="0" err="1"/>
                  <a:t>cbabxbabxbac</a:t>
                </a:r>
                <a:endParaRPr lang="en-US" altLang="zh-TW" spc="-1" dirty="0"/>
              </a:p>
              <a:p>
                <a:pPr marL="360" indent="0">
                  <a:spcBef>
                    <a:spcPts val="561"/>
                  </a:spcBef>
                  <a:buClr>
                    <a:srgbClr val="000000"/>
                  </a:buClr>
                  <a:buNone/>
                </a:pPr>
                <a:endParaRPr lang="en-US" altLang="zh-TW" spc="-1" dirty="0">
                  <a:solidFill>
                    <a:srgbClr val="000000"/>
                  </a:solidFill>
                  <a:latin typeface="Times New Roman"/>
                </a:endParaRPr>
              </a:p>
              <a:p>
                <a:pPr marL="360" indent="0">
                  <a:spcBef>
                    <a:spcPts val="561"/>
                  </a:spcBef>
                  <a:buClr>
                    <a:srgbClr val="000000"/>
                  </a:buClr>
                  <a:buNone/>
                </a:pPr>
                <a:endParaRPr lang="en-US" altLang="zh-TW" spc="-1" dirty="0">
                  <a:solidFill>
                    <a:srgbClr val="000000"/>
                  </a:solidFill>
                  <a:latin typeface="Times New Roman"/>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200" y="1825625"/>
                <a:ext cx="10515600" cy="4351338"/>
              </a:xfrm>
              <a:blipFill>
                <a:blip r:embed="rId2"/>
                <a:stretch>
                  <a:fillRect t="-2381"/>
                </a:stretch>
              </a:blipFill>
            </p:spPr>
            <p:txBody>
              <a:bodyPr/>
              <a:lstStyle/>
              <a:p>
                <a:r>
                  <a:rPr lang="zh-TW" altLang="en-US">
                    <a:noFill/>
                  </a:rPr>
                  <a:t> </a:t>
                </a:r>
              </a:p>
            </p:txBody>
          </p:sp>
        </mc:Fallback>
      </mc:AlternateContent>
      <p:graphicFrame>
        <p:nvGraphicFramePr>
          <p:cNvPr id="4" name="表格 4">
            <a:extLst>
              <a:ext uri="{FF2B5EF4-FFF2-40B4-BE49-F238E27FC236}">
                <a16:creationId xmlns:a16="http://schemas.microsoft.com/office/drawing/2014/main" id="{318AF3AC-BA55-DD3A-E640-E854684713E7}"/>
              </a:ext>
            </a:extLst>
          </p:cNvPr>
          <p:cNvGraphicFramePr>
            <a:graphicFrameLocks noGrp="1"/>
          </p:cNvGraphicFramePr>
          <p:nvPr>
            <p:extLst>
              <p:ext uri="{D42A27DB-BD31-4B8C-83A1-F6EECF244321}">
                <p14:modId xmlns:p14="http://schemas.microsoft.com/office/powerpoint/2010/main" val="83552398"/>
              </p:ext>
            </p:extLst>
          </p:nvPr>
        </p:nvGraphicFramePr>
        <p:xfrm>
          <a:off x="144444" y="3675290"/>
          <a:ext cx="11903112" cy="1572570"/>
        </p:xfrm>
        <a:graphic>
          <a:graphicData uri="http://schemas.openxmlformats.org/drawingml/2006/table">
            <a:tbl>
              <a:tblPr firstRow="1" bandRow="1">
                <a:tableStyleId>{E8B1032C-EA38-4F05-BA0D-38AFFFC7BED3}</a:tableStyleId>
              </a:tblPr>
              <a:tblGrid>
                <a:gridCol w="495963">
                  <a:extLst>
                    <a:ext uri="{9D8B030D-6E8A-4147-A177-3AD203B41FA5}">
                      <a16:colId xmlns:a16="http://schemas.microsoft.com/office/drawing/2014/main" val="3687563117"/>
                    </a:ext>
                  </a:extLst>
                </a:gridCol>
                <a:gridCol w="495963">
                  <a:extLst>
                    <a:ext uri="{9D8B030D-6E8A-4147-A177-3AD203B41FA5}">
                      <a16:colId xmlns:a16="http://schemas.microsoft.com/office/drawing/2014/main" val="3458925501"/>
                    </a:ext>
                  </a:extLst>
                </a:gridCol>
                <a:gridCol w="495963">
                  <a:extLst>
                    <a:ext uri="{9D8B030D-6E8A-4147-A177-3AD203B41FA5}">
                      <a16:colId xmlns:a16="http://schemas.microsoft.com/office/drawing/2014/main" val="4030832065"/>
                    </a:ext>
                  </a:extLst>
                </a:gridCol>
                <a:gridCol w="495963">
                  <a:extLst>
                    <a:ext uri="{9D8B030D-6E8A-4147-A177-3AD203B41FA5}">
                      <a16:colId xmlns:a16="http://schemas.microsoft.com/office/drawing/2014/main" val="1724438594"/>
                    </a:ext>
                  </a:extLst>
                </a:gridCol>
                <a:gridCol w="495963">
                  <a:extLst>
                    <a:ext uri="{9D8B030D-6E8A-4147-A177-3AD203B41FA5}">
                      <a16:colId xmlns:a16="http://schemas.microsoft.com/office/drawing/2014/main" val="4209229924"/>
                    </a:ext>
                  </a:extLst>
                </a:gridCol>
                <a:gridCol w="495963">
                  <a:extLst>
                    <a:ext uri="{9D8B030D-6E8A-4147-A177-3AD203B41FA5}">
                      <a16:colId xmlns:a16="http://schemas.microsoft.com/office/drawing/2014/main" val="2908390315"/>
                    </a:ext>
                  </a:extLst>
                </a:gridCol>
                <a:gridCol w="495963">
                  <a:extLst>
                    <a:ext uri="{9D8B030D-6E8A-4147-A177-3AD203B41FA5}">
                      <a16:colId xmlns:a16="http://schemas.microsoft.com/office/drawing/2014/main" val="1002060645"/>
                    </a:ext>
                  </a:extLst>
                </a:gridCol>
                <a:gridCol w="495963">
                  <a:extLst>
                    <a:ext uri="{9D8B030D-6E8A-4147-A177-3AD203B41FA5}">
                      <a16:colId xmlns:a16="http://schemas.microsoft.com/office/drawing/2014/main" val="2341577556"/>
                    </a:ext>
                  </a:extLst>
                </a:gridCol>
                <a:gridCol w="495963">
                  <a:extLst>
                    <a:ext uri="{9D8B030D-6E8A-4147-A177-3AD203B41FA5}">
                      <a16:colId xmlns:a16="http://schemas.microsoft.com/office/drawing/2014/main" val="476296480"/>
                    </a:ext>
                  </a:extLst>
                </a:gridCol>
                <a:gridCol w="495963">
                  <a:extLst>
                    <a:ext uri="{9D8B030D-6E8A-4147-A177-3AD203B41FA5}">
                      <a16:colId xmlns:a16="http://schemas.microsoft.com/office/drawing/2014/main" val="1461677071"/>
                    </a:ext>
                  </a:extLst>
                </a:gridCol>
                <a:gridCol w="495963">
                  <a:extLst>
                    <a:ext uri="{9D8B030D-6E8A-4147-A177-3AD203B41FA5}">
                      <a16:colId xmlns:a16="http://schemas.microsoft.com/office/drawing/2014/main" val="2307505867"/>
                    </a:ext>
                  </a:extLst>
                </a:gridCol>
                <a:gridCol w="495963">
                  <a:extLst>
                    <a:ext uri="{9D8B030D-6E8A-4147-A177-3AD203B41FA5}">
                      <a16:colId xmlns:a16="http://schemas.microsoft.com/office/drawing/2014/main" val="886355715"/>
                    </a:ext>
                  </a:extLst>
                </a:gridCol>
                <a:gridCol w="495963">
                  <a:extLst>
                    <a:ext uri="{9D8B030D-6E8A-4147-A177-3AD203B41FA5}">
                      <a16:colId xmlns:a16="http://schemas.microsoft.com/office/drawing/2014/main" val="2723366198"/>
                    </a:ext>
                  </a:extLst>
                </a:gridCol>
                <a:gridCol w="495963">
                  <a:extLst>
                    <a:ext uri="{9D8B030D-6E8A-4147-A177-3AD203B41FA5}">
                      <a16:colId xmlns:a16="http://schemas.microsoft.com/office/drawing/2014/main" val="2787038888"/>
                    </a:ext>
                  </a:extLst>
                </a:gridCol>
                <a:gridCol w="495963">
                  <a:extLst>
                    <a:ext uri="{9D8B030D-6E8A-4147-A177-3AD203B41FA5}">
                      <a16:colId xmlns:a16="http://schemas.microsoft.com/office/drawing/2014/main" val="2588476093"/>
                    </a:ext>
                  </a:extLst>
                </a:gridCol>
                <a:gridCol w="495963">
                  <a:extLst>
                    <a:ext uri="{9D8B030D-6E8A-4147-A177-3AD203B41FA5}">
                      <a16:colId xmlns:a16="http://schemas.microsoft.com/office/drawing/2014/main" val="4087603699"/>
                    </a:ext>
                  </a:extLst>
                </a:gridCol>
                <a:gridCol w="495963">
                  <a:extLst>
                    <a:ext uri="{9D8B030D-6E8A-4147-A177-3AD203B41FA5}">
                      <a16:colId xmlns:a16="http://schemas.microsoft.com/office/drawing/2014/main" val="2550113863"/>
                    </a:ext>
                  </a:extLst>
                </a:gridCol>
                <a:gridCol w="495963">
                  <a:extLst>
                    <a:ext uri="{9D8B030D-6E8A-4147-A177-3AD203B41FA5}">
                      <a16:colId xmlns:a16="http://schemas.microsoft.com/office/drawing/2014/main" val="977347673"/>
                    </a:ext>
                  </a:extLst>
                </a:gridCol>
                <a:gridCol w="495963">
                  <a:extLst>
                    <a:ext uri="{9D8B030D-6E8A-4147-A177-3AD203B41FA5}">
                      <a16:colId xmlns:a16="http://schemas.microsoft.com/office/drawing/2014/main" val="3240576578"/>
                    </a:ext>
                  </a:extLst>
                </a:gridCol>
                <a:gridCol w="495963">
                  <a:extLst>
                    <a:ext uri="{9D8B030D-6E8A-4147-A177-3AD203B41FA5}">
                      <a16:colId xmlns:a16="http://schemas.microsoft.com/office/drawing/2014/main" val="4183886762"/>
                    </a:ext>
                  </a:extLst>
                </a:gridCol>
                <a:gridCol w="495963">
                  <a:extLst>
                    <a:ext uri="{9D8B030D-6E8A-4147-A177-3AD203B41FA5}">
                      <a16:colId xmlns:a16="http://schemas.microsoft.com/office/drawing/2014/main" val="748801735"/>
                    </a:ext>
                  </a:extLst>
                </a:gridCol>
                <a:gridCol w="495963">
                  <a:extLst>
                    <a:ext uri="{9D8B030D-6E8A-4147-A177-3AD203B41FA5}">
                      <a16:colId xmlns:a16="http://schemas.microsoft.com/office/drawing/2014/main" val="2312860317"/>
                    </a:ext>
                  </a:extLst>
                </a:gridCol>
                <a:gridCol w="495963">
                  <a:extLst>
                    <a:ext uri="{9D8B030D-6E8A-4147-A177-3AD203B41FA5}">
                      <a16:colId xmlns:a16="http://schemas.microsoft.com/office/drawing/2014/main" val="4232901803"/>
                    </a:ext>
                  </a:extLst>
                </a:gridCol>
                <a:gridCol w="495963">
                  <a:extLst>
                    <a:ext uri="{9D8B030D-6E8A-4147-A177-3AD203B41FA5}">
                      <a16:colId xmlns:a16="http://schemas.microsoft.com/office/drawing/2014/main" val="1893531490"/>
                    </a:ext>
                  </a:extLst>
                </a:gridCol>
              </a:tblGrid>
              <a:tr h="524190">
                <a:tc>
                  <a:txBody>
                    <a:bodyPr/>
                    <a:lstStyle/>
                    <a:p>
                      <a:pPr algn="ctr"/>
                      <a:r>
                        <a:rPr lang="en-US" altLang="zh-TW" sz="2400" b="0" dirty="0" err="1"/>
                        <a:t>i</a:t>
                      </a:r>
                      <a:endParaRPr lang="zh-TW" altLang="en-US" sz="2400" b="0" dirty="0"/>
                    </a:p>
                  </a:txBody>
                  <a:tcPr>
                    <a:solidFill>
                      <a:schemeClr val="bg2"/>
                    </a:solidFill>
                  </a:tcPr>
                </a:tc>
                <a:tc>
                  <a:txBody>
                    <a:bodyPr/>
                    <a:lstStyle/>
                    <a:p>
                      <a:pPr algn="ctr"/>
                      <a:r>
                        <a:rPr lang="en-US" altLang="zh-TW" sz="2400" b="0" dirty="0"/>
                        <a:t>1</a:t>
                      </a:r>
                      <a:endParaRPr lang="zh-TW" altLang="en-US" sz="2400" b="0" dirty="0"/>
                    </a:p>
                  </a:txBody>
                  <a:tcPr>
                    <a:solidFill>
                      <a:schemeClr val="bg2"/>
                    </a:solidFill>
                  </a:tcPr>
                </a:tc>
                <a:tc>
                  <a:txBody>
                    <a:bodyPr/>
                    <a:lstStyle/>
                    <a:p>
                      <a:pPr algn="ctr"/>
                      <a:r>
                        <a:rPr lang="en-US" altLang="zh-TW" sz="2400" b="0" dirty="0"/>
                        <a:t>2</a:t>
                      </a:r>
                      <a:endParaRPr lang="zh-TW" altLang="en-US" sz="2400" b="0" dirty="0"/>
                    </a:p>
                  </a:txBody>
                  <a:tcPr>
                    <a:solidFill>
                      <a:schemeClr val="bg2"/>
                    </a:solidFill>
                  </a:tcPr>
                </a:tc>
                <a:tc>
                  <a:txBody>
                    <a:bodyPr/>
                    <a:lstStyle/>
                    <a:p>
                      <a:pPr algn="ctr"/>
                      <a:r>
                        <a:rPr lang="en-US" altLang="zh-TW" sz="2400" b="0" dirty="0"/>
                        <a:t>3</a:t>
                      </a:r>
                      <a:endParaRPr lang="zh-TW" altLang="en-US" sz="2400" b="0" dirty="0"/>
                    </a:p>
                  </a:txBody>
                  <a:tcPr>
                    <a:solidFill>
                      <a:schemeClr val="bg2"/>
                    </a:solidFill>
                  </a:tcPr>
                </a:tc>
                <a:tc>
                  <a:txBody>
                    <a:bodyPr/>
                    <a:lstStyle/>
                    <a:p>
                      <a:pPr algn="ctr"/>
                      <a:r>
                        <a:rPr lang="en-US" altLang="zh-TW" sz="2400" b="0" dirty="0"/>
                        <a:t>4</a:t>
                      </a:r>
                      <a:endParaRPr lang="zh-TW" altLang="en-US" sz="2400" b="0" dirty="0"/>
                    </a:p>
                  </a:txBody>
                  <a:tcPr>
                    <a:solidFill>
                      <a:schemeClr val="bg2"/>
                    </a:solidFill>
                  </a:tcPr>
                </a:tc>
                <a:tc>
                  <a:txBody>
                    <a:bodyPr/>
                    <a:lstStyle/>
                    <a:p>
                      <a:pPr algn="ctr"/>
                      <a:r>
                        <a:rPr lang="en-US" altLang="zh-TW" sz="2400" b="0" dirty="0"/>
                        <a:t>5</a:t>
                      </a:r>
                      <a:endParaRPr lang="zh-TW" altLang="en-US" sz="2400" b="0" dirty="0"/>
                    </a:p>
                  </a:txBody>
                  <a:tcPr>
                    <a:solidFill>
                      <a:schemeClr val="bg2"/>
                    </a:solidFill>
                  </a:tcPr>
                </a:tc>
                <a:tc>
                  <a:txBody>
                    <a:bodyPr/>
                    <a:lstStyle/>
                    <a:p>
                      <a:pPr algn="ctr"/>
                      <a:r>
                        <a:rPr lang="en-US" altLang="zh-TW" sz="2400" b="0" dirty="0"/>
                        <a:t>6</a:t>
                      </a:r>
                      <a:endParaRPr lang="zh-TW" altLang="en-US" sz="2400" b="0" dirty="0"/>
                    </a:p>
                  </a:txBody>
                  <a:tcPr>
                    <a:solidFill>
                      <a:schemeClr val="bg2"/>
                    </a:solidFill>
                  </a:tcPr>
                </a:tc>
                <a:tc>
                  <a:txBody>
                    <a:bodyPr/>
                    <a:lstStyle/>
                    <a:p>
                      <a:pPr algn="ctr"/>
                      <a:r>
                        <a:rPr lang="en-US" altLang="zh-TW" sz="2400" b="0" dirty="0"/>
                        <a:t>7</a:t>
                      </a:r>
                      <a:endParaRPr lang="zh-TW" altLang="en-US" sz="2400" b="0" dirty="0"/>
                    </a:p>
                  </a:txBody>
                  <a:tcPr>
                    <a:solidFill>
                      <a:schemeClr val="bg2"/>
                    </a:solidFill>
                  </a:tcPr>
                </a:tc>
                <a:tc>
                  <a:txBody>
                    <a:bodyPr/>
                    <a:lstStyle/>
                    <a:p>
                      <a:pPr algn="ctr"/>
                      <a:r>
                        <a:rPr lang="en-US" altLang="zh-TW" sz="2400" b="0" dirty="0"/>
                        <a:t>8</a:t>
                      </a:r>
                      <a:endParaRPr lang="zh-TW" altLang="en-US" sz="2400" b="0" dirty="0"/>
                    </a:p>
                  </a:txBody>
                  <a:tcPr>
                    <a:solidFill>
                      <a:schemeClr val="bg2"/>
                    </a:solidFill>
                  </a:tcPr>
                </a:tc>
                <a:tc>
                  <a:txBody>
                    <a:bodyPr/>
                    <a:lstStyle/>
                    <a:p>
                      <a:pPr algn="ctr"/>
                      <a:r>
                        <a:rPr lang="en-US" altLang="zh-TW" sz="2400" b="0" dirty="0"/>
                        <a:t>9</a:t>
                      </a:r>
                      <a:endParaRPr lang="zh-TW" altLang="en-US" sz="2400" b="0" dirty="0"/>
                    </a:p>
                  </a:txBody>
                  <a:tcPr>
                    <a:solidFill>
                      <a:schemeClr val="bg2"/>
                    </a:solidFill>
                  </a:tcPr>
                </a:tc>
                <a:tc>
                  <a:txBody>
                    <a:bodyPr/>
                    <a:lstStyle/>
                    <a:p>
                      <a:pPr algn="ctr"/>
                      <a:r>
                        <a:rPr lang="en-US" altLang="zh-TW" sz="2400" b="0" dirty="0"/>
                        <a:t>10</a:t>
                      </a:r>
                      <a:endParaRPr lang="zh-TW" altLang="en-US" sz="2400" b="0" dirty="0"/>
                    </a:p>
                  </a:txBody>
                  <a:tcPr>
                    <a:solidFill>
                      <a:schemeClr val="bg2"/>
                    </a:solidFill>
                  </a:tcPr>
                </a:tc>
                <a:tc>
                  <a:txBody>
                    <a:bodyPr/>
                    <a:lstStyle/>
                    <a:p>
                      <a:pPr algn="ctr"/>
                      <a:r>
                        <a:rPr lang="en-US" altLang="zh-TW" sz="2400" b="0" dirty="0"/>
                        <a:t>11</a:t>
                      </a:r>
                      <a:endParaRPr lang="zh-TW" altLang="en-US" sz="2400" b="0" dirty="0"/>
                    </a:p>
                  </a:txBody>
                  <a:tcPr>
                    <a:solidFill>
                      <a:schemeClr val="bg2"/>
                    </a:solidFill>
                  </a:tcPr>
                </a:tc>
                <a:tc>
                  <a:txBody>
                    <a:bodyPr/>
                    <a:lstStyle/>
                    <a:p>
                      <a:pPr algn="ctr"/>
                      <a:r>
                        <a:rPr lang="en-US" altLang="zh-TW" sz="2400" b="0" dirty="0"/>
                        <a:t>12</a:t>
                      </a:r>
                      <a:endParaRPr lang="zh-TW" altLang="en-US" sz="2400" b="0" dirty="0"/>
                    </a:p>
                  </a:txBody>
                  <a:tcPr>
                    <a:solidFill>
                      <a:schemeClr val="bg2"/>
                    </a:solidFill>
                  </a:tcPr>
                </a:tc>
                <a:tc>
                  <a:txBody>
                    <a:bodyPr/>
                    <a:lstStyle/>
                    <a:p>
                      <a:pPr algn="ctr"/>
                      <a:r>
                        <a:rPr lang="en-US" altLang="zh-TW" sz="2400" b="0" dirty="0"/>
                        <a:t>13</a:t>
                      </a:r>
                      <a:endParaRPr lang="zh-TW" altLang="en-US" sz="2400" b="0" dirty="0"/>
                    </a:p>
                  </a:txBody>
                  <a:tcPr>
                    <a:solidFill>
                      <a:schemeClr val="bg2"/>
                    </a:solidFill>
                  </a:tcPr>
                </a:tc>
                <a:tc>
                  <a:txBody>
                    <a:bodyPr/>
                    <a:lstStyle/>
                    <a:p>
                      <a:pPr algn="ctr"/>
                      <a:r>
                        <a:rPr lang="en-US" altLang="zh-TW" sz="2400" b="0" dirty="0"/>
                        <a:t>14</a:t>
                      </a:r>
                      <a:endParaRPr lang="zh-TW" altLang="en-US" sz="2400" b="0" dirty="0"/>
                    </a:p>
                  </a:txBody>
                  <a:tcPr>
                    <a:solidFill>
                      <a:schemeClr val="bg2"/>
                    </a:solidFill>
                  </a:tcPr>
                </a:tc>
                <a:tc>
                  <a:txBody>
                    <a:bodyPr/>
                    <a:lstStyle/>
                    <a:p>
                      <a:pPr algn="ctr"/>
                      <a:r>
                        <a:rPr lang="en-US" altLang="zh-TW" sz="2400" b="0" dirty="0"/>
                        <a:t>15</a:t>
                      </a:r>
                      <a:endParaRPr lang="zh-TW" altLang="en-US" sz="2400" b="0" dirty="0"/>
                    </a:p>
                  </a:txBody>
                  <a:tcPr>
                    <a:solidFill>
                      <a:schemeClr val="bg2"/>
                    </a:solidFill>
                  </a:tcPr>
                </a:tc>
                <a:tc>
                  <a:txBody>
                    <a:bodyPr/>
                    <a:lstStyle/>
                    <a:p>
                      <a:pPr algn="ctr"/>
                      <a:r>
                        <a:rPr lang="en-US" altLang="zh-TW" sz="2400" b="0" dirty="0"/>
                        <a:t>16</a:t>
                      </a:r>
                      <a:endParaRPr lang="zh-TW" altLang="en-US" sz="2400" b="0" dirty="0"/>
                    </a:p>
                  </a:txBody>
                  <a:tcPr>
                    <a:solidFill>
                      <a:schemeClr val="bg2"/>
                    </a:solidFill>
                  </a:tcPr>
                </a:tc>
                <a:tc>
                  <a:txBody>
                    <a:bodyPr/>
                    <a:lstStyle/>
                    <a:p>
                      <a:pPr algn="ctr"/>
                      <a:r>
                        <a:rPr lang="en-US" altLang="zh-TW" sz="2400" b="0" dirty="0"/>
                        <a:t>17</a:t>
                      </a:r>
                      <a:endParaRPr lang="zh-TW" altLang="en-US" sz="2400" b="0" dirty="0"/>
                    </a:p>
                  </a:txBody>
                  <a:tcPr>
                    <a:solidFill>
                      <a:schemeClr val="bg2"/>
                    </a:solidFill>
                  </a:tcPr>
                </a:tc>
                <a:tc>
                  <a:txBody>
                    <a:bodyPr/>
                    <a:lstStyle/>
                    <a:p>
                      <a:pPr algn="ctr"/>
                      <a:r>
                        <a:rPr lang="en-US" altLang="zh-TW" sz="2400" b="0" dirty="0"/>
                        <a:t>18</a:t>
                      </a:r>
                      <a:endParaRPr lang="zh-TW" altLang="en-US" sz="2400" b="0" dirty="0"/>
                    </a:p>
                  </a:txBody>
                  <a:tcPr>
                    <a:solidFill>
                      <a:schemeClr val="bg2"/>
                    </a:solidFill>
                  </a:tcPr>
                </a:tc>
                <a:tc>
                  <a:txBody>
                    <a:bodyPr/>
                    <a:lstStyle/>
                    <a:p>
                      <a:pPr algn="ctr"/>
                      <a:r>
                        <a:rPr lang="en-US" altLang="zh-TW" sz="2400" b="0" dirty="0"/>
                        <a:t>19</a:t>
                      </a:r>
                      <a:endParaRPr lang="zh-TW" altLang="en-US" sz="2400" b="0" dirty="0"/>
                    </a:p>
                  </a:txBody>
                  <a:tcPr>
                    <a:solidFill>
                      <a:schemeClr val="bg2"/>
                    </a:solidFill>
                  </a:tcPr>
                </a:tc>
                <a:tc>
                  <a:txBody>
                    <a:bodyPr/>
                    <a:lstStyle/>
                    <a:p>
                      <a:pPr algn="ctr"/>
                      <a:r>
                        <a:rPr lang="en-US" altLang="zh-TW" sz="2400" b="0" dirty="0"/>
                        <a:t>20</a:t>
                      </a:r>
                      <a:endParaRPr lang="zh-TW" altLang="en-US" sz="2400" b="0" dirty="0"/>
                    </a:p>
                  </a:txBody>
                  <a:tcPr>
                    <a:solidFill>
                      <a:schemeClr val="bg2"/>
                    </a:solidFill>
                  </a:tcPr>
                </a:tc>
                <a:tc>
                  <a:txBody>
                    <a:bodyPr/>
                    <a:lstStyle/>
                    <a:p>
                      <a:pPr algn="ctr"/>
                      <a:r>
                        <a:rPr lang="en-US" altLang="zh-TW" sz="2400" b="0" dirty="0"/>
                        <a:t>21</a:t>
                      </a:r>
                      <a:endParaRPr lang="zh-TW" altLang="en-US" sz="2400" b="0" dirty="0"/>
                    </a:p>
                  </a:txBody>
                  <a:tcPr>
                    <a:solidFill>
                      <a:schemeClr val="bg2"/>
                    </a:solidFill>
                  </a:tcPr>
                </a:tc>
                <a:tc>
                  <a:txBody>
                    <a:bodyPr/>
                    <a:lstStyle/>
                    <a:p>
                      <a:pPr algn="ctr"/>
                      <a:r>
                        <a:rPr lang="en-US" altLang="zh-TW" sz="2400" b="0" dirty="0"/>
                        <a:t>22</a:t>
                      </a:r>
                      <a:endParaRPr lang="zh-TW" altLang="en-US" sz="2400" b="0" dirty="0"/>
                    </a:p>
                  </a:txBody>
                  <a:tcPr>
                    <a:solidFill>
                      <a:schemeClr val="bg2"/>
                    </a:solidFill>
                  </a:tcPr>
                </a:tc>
                <a:tc>
                  <a:txBody>
                    <a:bodyPr/>
                    <a:lstStyle/>
                    <a:p>
                      <a:pPr algn="ctr"/>
                      <a:r>
                        <a:rPr lang="en-US" altLang="zh-TW" sz="2400" b="0" dirty="0"/>
                        <a:t>23</a:t>
                      </a:r>
                      <a:endParaRPr lang="zh-TW" altLang="en-US" sz="2400" b="0" dirty="0"/>
                    </a:p>
                  </a:txBody>
                  <a:tcPr>
                    <a:solidFill>
                      <a:schemeClr val="bg2"/>
                    </a:solidFill>
                  </a:tcPr>
                </a:tc>
                <a:extLst>
                  <a:ext uri="{0D108BD9-81ED-4DB2-BD59-A6C34878D82A}">
                    <a16:rowId xmlns:a16="http://schemas.microsoft.com/office/drawing/2014/main" val="4195531117"/>
                  </a:ext>
                </a:extLst>
              </a:tr>
              <a:tr h="524190">
                <a:tc>
                  <a:txBody>
                    <a:bodyPr/>
                    <a:lstStyle/>
                    <a:p>
                      <a:pPr algn="ctr"/>
                      <a:r>
                        <a:rPr lang="en-US" altLang="zh-TW" sz="2400" b="0" dirty="0"/>
                        <a:t>w</a:t>
                      </a:r>
                      <a:endParaRPr lang="zh-TW" altLang="en-US" sz="2400" b="0" dirty="0"/>
                    </a:p>
                  </a:txBody>
                  <a:tcPr>
                    <a:solidFill>
                      <a:schemeClr val="bg2"/>
                    </a:solidFill>
                  </a:tcPr>
                </a:tc>
                <a:tc>
                  <a:txBody>
                    <a:bodyPr/>
                    <a:lstStyle/>
                    <a:p>
                      <a:pPr algn="ctr"/>
                      <a:r>
                        <a:rPr lang="en-US" altLang="zh-TW" sz="2400" b="0" dirty="0"/>
                        <a:t>c</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solidFill>
                            <a:schemeClr val="tx1"/>
                          </a:solidFill>
                        </a:rPr>
                        <a:t>a</a:t>
                      </a:r>
                      <a:endParaRPr lang="zh-TW" altLang="en-US" sz="2400" b="0" dirty="0">
                        <a:solidFill>
                          <a:schemeClr val="tx1"/>
                        </a:solidFill>
                      </a:endParaRPr>
                    </a:p>
                  </a:txBody>
                  <a:tcPr>
                    <a:solidFill>
                      <a:schemeClr val="accent1"/>
                    </a:solid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x</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a</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x</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a</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c</a:t>
                      </a:r>
                      <a:endParaRPr lang="zh-TW" altLang="en-US" sz="2400" b="0" dirty="0"/>
                    </a:p>
                  </a:txBody>
                  <a:tcPr>
                    <a:noFill/>
                  </a:tcPr>
                </a:tc>
                <a:extLst>
                  <a:ext uri="{0D108BD9-81ED-4DB2-BD59-A6C34878D82A}">
                    <a16:rowId xmlns:a16="http://schemas.microsoft.com/office/drawing/2014/main" val="3474810379"/>
                  </a:ext>
                </a:extLst>
              </a:tr>
              <a:tr h="524190">
                <a:tc>
                  <a:txBody>
                    <a:bodyPr/>
                    <a:lstStyle/>
                    <a:p>
                      <a:pPr algn="ctr"/>
                      <a:r>
                        <a:rPr lang="en-US" altLang="zh-TW" sz="2400" b="0" dirty="0"/>
                        <a:t>r</a:t>
                      </a:r>
                      <a:endParaRPr lang="zh-TW" altLang="en-US" sz="2400" b="0" dirty="0"/>
                    </a:p>
                  </a:txBody>
                  <a:tcPr>
                    <a:solidFill>
                      <a:schemeClr val="bg2"/>
                    </a:solidFill>
                  </a:tcPr>
                </a:tc>
                <a:tc>
                  <a:txBody>
                    <a:bodyPr/>
                    <a:lstStyle/>
                    <a:p>
                      <a:pPr algn="ctr"/>
                      <a:r>
                        <a:rPr lang="en-US" altLang="zh-TW" sz="2400" b="0" dirty="0"/>
                        <a:t>1</a:t>
                      </a:r>
                      <a:endParaRPr lang="zh-TW" altLang="en-US" sz="2400" b="0" dirty="0"/>
                    </a:p>
                  </a:txBody>
                  <a:tcPr>
                    <a:noFill/>
                  </a:tcPr>
                </a:tc>
                <a:tc>
                  <a:txBody>
                    <a:bodyPr/>
                    <a:lstStyle/>
                    <a:p>
                      <a:pPr algn="ctr"/>
                      <a:r>
                        <a:rPr lang="en-US" altLang="zh-TW" sz="2400" b="0" dirty="0"/>
                        <a:t>1</a:t>
                      </a:r>
                      <a:endParaRPr lang="zh-TW" altLang="en-US" sz="2400" b="0" dirty="0"/>
                    </a:p>
                  </a:txBody>
                  <a:tcPr>
                    <a:noFill/>
                  </a:tcPr>
                </a:tc>
                <a:tc>
                  <a:txBody>
                    <a:bodyPr/>
                    <a:lstStyle/>
                    <a:p>
                      <a:pPr algn="ctr"/>
                      <a:r>
                        <a:rPr lang="en-US" altLang="zh-TW" sz="2400" b="0" dirty="0"/>
                        <a:t>2</a:t>
                      </a:r>
                      <a:endParaRPr lang="zh-TW" altLang="en-US" sz="2400" b="0" dirty="0"/>
                    </a:p>
                  </a:txBody>
                  <a:tcPr>
                    <a:noFill/>
                  </a:tcPr>
                </a:tc>
                <a:tc>
                  <a:txBody>
                    <a:bodyPr/>
                    <a:lstStyle/>
                    <a:p>
                      <a:pPr algn="ctr"/>
                      <a:r>
                        <a:rPr lang="en-US" altLang="zh-TW" sz="2400" b="0" dirty="0"/>
                        <a:t>1</a:t>
                      </a:r>
                      <a:endParaRPr lang="zh-TW" altLang="en-US" sz="2400" b="0" dirty="0"/>
                    </a:p>
                  </a:txBody>
                  <a:tcPr>
                    <a:noFill/>
                  </a:tcPr>
                </a:tc>
                <a:tc>
                  <a:txBody>
                    <a:bodyPr/>
                    <a:lstStyle/>
                    <a:p>
                      <a:pPr algn="ctr"/>
                      <a:r>
                        <a:rPr lang="en-US" altLang="zh-TW" sz="2400" b="0" dirty="0">
                          <a:solidFill>
                            <a:schemeClr val="tx1"/>
                          </a:solidFill>
                        </a:rPr>
                        <a:t>4</a:t>
                      </a:r>
                      <a:endParaRPr lang="zh-TW" altLang="en-US" sz="2400" b="0" dirty="0">
                        <a:solidFill>
                          <a:schemeClr val="tx1"/>
                        </a:solidFill>
                      </a:endParaRPr>
                    </a:p>
                  </a:txBody>
                  <a:tcPr>
                    <a:noFill/>
                  </a:tcPr>
                </a:tc>
                <a:tc>
                  <a:txBody>
                    <a:bodyPr/>
                    <a:lstStyle/>
                    <a:p>
                      <a:pPr algn="ctr"/>
                      <a:r>
                        <a:rPr lang="en-US" altLang="zh-TW" sz="2400" b="0" u="none" dirty="0">
                          <a:solidFill>
                            <a:srgbClr val="FF0000"/>
                          </a:solidFill>
                        </a:rPr>
                        <a:t>1</a:t>
                      </a:r>
                      <a:endParaRPr lang="zh-TW" altLang="en-US" sz="2400" b="0" u="none" dirty="0">
                        <a:solidFill>
                          <a:srgbClr val="FF0000"/>
                        </a:solidFill>
                      </a:endParaRPr>
                    </a:p>
                  </a:txBody>
                  <a:tcPr>
                    <a:noFill/>
                  </a:tcPr>
                </a:tc>
                <a:tc>
                  <a:txBody>
                    <a:bodyPr/>
                    <a:lstStyle/>
                    <a:p>
                      <a:pPr algn="ctr"/>
                      <a:r>
                        <a:rPr lang="en-US" altLang="zh-TW" sz="2400" b="0" u="none" dirty="0">
                          <a:solidFill>
                            <a:srgbClr val="FF0000"/>
                          </a:solidFill>
                        </a:rPr>
                        <a:t>2</a:t>
                      </a:r>
                      <a:endParaRPr lang="zh-TW" altLang="en-US" sz="2400" b="0" u="none" dirty="0">
                        <a:solidFill>
                          <a:srgbClr val="FF0000"/>
                        </a:solidFill>
                      </a:endParaRPr>
                    </a:p>
                  </a:txBody>
                  <a:tcPr>
                    <a:noFill/>
                  </a:tcPr>
                </a:tc>
                <a:tc>
                  <a:txBody>
                    <a:bodyPr/>
                    <a:lstStyle/>
                    <a:p>
                      <a:pPr algn="ctr"/>
                      <a:r>
                        <a:rPr lang="en-US" altLang="zh-TW" sz="2400" b="0" u="none" dirty="0">
                          <a:solidFill>
                            <a:srgbClr val="FF0000"/>
                          </a:solidFill>
                        </a:rPr>
                        <a:t>1</a:t>
                      </a:r>
                      <a:endParaRPr lang="zh-TW" altLang="en-US" sz="2400" b="0" u="none" dirty="0">
                        <a:solidFill>
                          <a:srgbClr val="FF0000"/>
                        </a:solidFill>
                      </a:endParaRPr>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extLst>
                  <a:ext uri="{0D108BD9-81ED-4DB2-BD59-A6C34878D82A}">
                    <a16:rowId xmlns:a16="http://schemas.microsoft.com/office/drawing/2014/main" val="2333122955"/>
                  </a:ext>
                </a:extLst>
              </a:tr>
            </a:tbl>
          </a:graphicData>
        </a:graphic>
      </p:graphicFrame>
      <p:sp>
        <p:nvSpPr>
          <p:cNvPr id="7" name="左中括弧 6">
            <a:extLst>
              <a:ext uri="{FF2B5EF4-FFF2-40B4-BE49-F238E27FC236}">
                <a16:creationId xmlns:a16="http://schemas.microsoft.com/office/drawing/2014/main" id="{48493296-D013-D649-8E1E-C9FE6BB89093}"/>
              </a:ext>
            </a:extLst>
          </p:cNvPr>
          <p:cNvSpPr/>
          <p:nvPr/>
        </p:nvSpPr>
        <p:spPr>
          <a:xfrm rot="5400000">
            <a:off x="2688282" y="1807713"/>
            <a:ext cx="357643" cy="3107637"/>
          </a:xfrm>
          <a:prstGeom prst="leftBracket">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Tree>
    <p:extLst>
      <p:ext uri="{BB962C8B-B14F-4D97-AF65-F5344CB8AC3E}">
        <p14:creationId xmlns:p14="http://schemas.microsoft.com/office/powerpoint/2010/main" val="274934182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pc="-1" dirty="0" err="1">
                <a:solidFill>
                  <a:srgbClr val="000000"/>
                </a:solidFill>
                <a:latin typeface="Times New Roman" pitchFamily="18" charset="0"/>
                <a:cs typeface="Times New Roman" pitchFamily="18" charset="0"/>
              </a:rPr>
              <a:t>Manacher’s</a:t>
            </a:r>
            <a:r>
              <a:rPr lang="en-US" altLang="zh-TW" spc="-1" dirty="0">
                <a:solidFill>
                  <a:srgbClr val="000000"/>
                </a:solidFill>
                <a:latin typeface="Times New Roman" pitchFamily="18" charset="0"/>
                <a:cs typeface="Times New Roman" pitchFamily="18" charset="0"/>
              </a:rPr>
              <a:t> Algorithm (4/7)</a:t>
            </a: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200" y="1825625"/>
                <a:ext cx="10515600" cy="4351338"/>
              </a:xfrm>
            </p:spPr>
            <p:txBody>
              <a:bodyPr>
                <a:normAutofit/>
              </a:bodyPr>
              <a:lstStyle/>
              <a:p>
                <a:pPr marL="457560" indent="-457200">
                  <a:spcBef>
                    <a:spcPts val="561"/>
                  </a:spcBef>
                  <a:buClr>
                    <a:srgbClr val="000000"/>
                  </a:buClr>
                </a:pPr>
                <a14:m>
                  <m:oMath xmlns:m="http://schemas.openxmlformats.org/officeDocument/2006/math">
                    <m:r>
                      <a:rPr lang="en-US" altLang="zh-TW" i="1" spc="-1" smtClean="0">
                        <a:solidFill>
                          <a:srgbClr val="000000"/>
                        </a:solidFill>
                        <a:latin typeface="Cambria Math" panose="02040503050406030204" pitchFamily="18" charset="0"/>
                      </a:rPr>
                      <m:t>𝑤</m:t>
                    </m:r>
                  </m:oMath>
                </a14:m>
                <a:r>
                  <a:rPr lang="en-US" altLang="zh-TW" spc="-1" dirty="0">
                    <a:solidFill>
                      <a:srgbClr val="000000"/>
                    </a:solidFill>
                    <a:latin typeface="Times New Roman"/>
                  </a:rPr>
                  <a:t> = </a:t>
                </a:r>
                <a:r>
                  <a:rPr lang="en-US" altLang="zh-TW" spc="-1" dirty="0" err="1"/>
                  <a:t>cbabxbabxbac</a:t>
                </a:r>
                <a:endParaRPr lang="en-US" altLang="zh-TW" spc="-1" dirty="0"/>
              </a:p>
              <a:p>
                <a:pPr marL="360" indent="0">
                  <a:spcBef>
                    <a:spcPts val="561"/>
                  </a:spcBef>
                  <a:buClr>
                    <a:srgbClr val="000000"/>
                  </a:buClr>
                  <a:buNone/>
                </a:pPr>
                <a:endParaRPr lang="en-US" altLang="zh-TW" spc="-1" dirty="0">
                  <a:solidFill>
                    <a:srgbClr val="000000"/>
                  </a:solidFill>
                  <a:latin typeface="Times New Roman"/>
                </a:endParaRPr>
              </a:p>
              <a:p>
                <a:pPr marL="360" indent="0">
                  <a:spcBef>
                    <a:spcPts val="561"/>
                  </a:spcBef>
                  <a:buClr>
                    <a:srgbClr val="000000"/>
                  </a:buClr>
                  <a:buNone/>
                </a:pPr>
                <a:endParaRPr lang="en-US" altLang="zh-TW" spc="-1" dirty="0">
                  <a:solidFill>
                    <a:srgbClr val="000000"/>
                  </a:solidFill>
                  <a:latin typeface="Times New Roman"/>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200" y="1825625"/>
                <a:ext cx="10515600" cy="4351338"/>
              </a:xfrm>
              <a:blipFill>
                <a:blip r:embed="rId2"/>
                <a:stretch>
                  <a:fillRect t="-2381"/>
                </a:stretch>
              </a:blipFill>
            </p:spPr>
            <p:txBody>
              <a:bodyPr/>
              <a:lstStyle/>
              <a:p>
                <a:r>
                  <a:rPr lang="zh-TW" altLang="en-US">
                    <a:noFill/>
                  </a:rPr>
                  <a:t> </a:t>
                </a:r>
              </a:p>
            </p:txBody>
          </p:sp>
        </mc:Fallback>
      </mc:AlternateContent>
      <p:graphicFrame>
        <p:nvGraphicFramePr>
          <p:cNvPr id="4" name="表格 4">
            <a:extLst>
              <a:ext uri="{FF2B5EF4-FFF2-40B4-BE49-F238E27FC236}">
                <a16:creationId xmlns:a16="http://schemas.microsoft.com/office/drawing/2014/main" id="{318AF3AC-BA55-DD3A-E640-E854684713E7}"/>
              </a:ext>
            </a:extLst>
          </p:cNvPr>
          <p:cNvGraphicFramePr>
            <a:graphicFrameLocks noGrp="1"/>
          </p:cNvGraphicFramePr>
          <p:nvPr>
            <p:extLst>
              <p:ext uri="{D42A27DB-BD31-4B8C-83A1-F6EECF244321}">
                <p14:modId xmlns:p14="http://schemas.microsoft.com/office/powerpoint/2010/main" val="988071012"/>
              </p:ext>
            </p:extLst>
          </p:nvPr>
        </p:nvGraphicFramePr>
        <p:xfrm>
          <a:off x="144444" y="3675290"/>
          <a:ext cx="11903112" cy="1572570"/>
        </p:xfrm>
        <a:graphic>
          <a:graphicData uri="http://schemas.openxmlformats.org/drawingml/2006/table">
            <a:tbl>
              <a:tblPr firstRow="1" bandRow="1">
                <a:tableStyleId>{E8B1032C-EA38-4F05-BA0D-38AFFFC7BED3}</a:tableStyleId>
              </a:tblPr>
              <a:tblGrid>
                <a:gridCol w="495963">
                  <a:extLst>
                    <a:ext uri="{9D8B030D-6E8A-4147-A177-3AD203B41FA5}">
                      <a16:colId xmlns:a16="http://schemas.microsoft.com/office/drawing/2014/main" val="3687563117"/>
                    </a:ext>
                  </a:extLst>
                </a:gridCol>
                <a:gridCol w="495963">
                  <a:extLst>
                    <a:ext uri="{9D8B030D-6E8A-4147-A177-3AD203B41FA5}">
                      <a16:colId xmlns:a16="http://schemas.microsoft.com/office/drawing/2014/main" val="3458925501"/>
                    </a:ext>
                  </a:extLst>
                </a:gridCol>
                <a:gridCol w="495963">
                  <a:extLst>
                    <a:ext uri="{9D8B030D-6E8A-4147-A177-3AD203B41FA5}">
                      <a16:colId xmlns:a16="http://schemas.microsoft.com/office/drawing/2014/main" val="4030832065"/>
                    </a:ext>
                  </a:extLst>
                </a:gridCol>
                <a:gridCol w="495963">
                  <a:extLst>
                    <a:ext uri="{9D8B030D-6E8A-4147-A177-3AD203B41FA5}">
                      <a16:colId xmlns:a16="http://schemas.microsoft.com/office/drawing/2014/main" val="1724438594"/>
                    </a:ext>
                  </a:extLst>
                </a:gridCol>
                <a:gridCol w="495963">
                  <a:extLst>
                    <a:ext uri="{9D8B030D-6E8A-4147-A177-3AD203B41FA5}">
                      <a16:colId xmlns:a16="http://schemas.microsoft.com/office/drawing/2014/main" val="4209229924"/>
                    </a:ext>
                  </a:extLst>
                </a:gridCol>
                <a:gridCol w="495963">
                  <a:extLst>
                    <a:ext uri="{9D8B030D-6E8A-4147-A177-3AD203B41FA5}">
                      <a16:colId xmlns:a16="http://schemas.microsoft.com/office/drawing/2014/main" val="2908390315"/>
                    </a:ext>
                  </a:extLst>
                </a:gridCol>
                <a:gridCol w="495963">
                  <a:extLst>
                    <a:ext uri="{9D8B030D-6E8A-4147-A177-3AD203B41FA5}">
                      <a16:colId xmlns:a16="http://schemas.microsoft.com/office/drawing/2014/main" val="1002060645"/>
                    </a:ext>
                  </a:extLst>
                </a:gridCol>
                <a:gridCol w="495963">
                  <a:extLst>
                    <a:ext uri="{9D8B030D-6E8A-4147-A177-3AD203B41FA5}">
                      <a16:colId xmlns:a16="http://schemas.microsoft.com/office/drawing/2014/main" val="2341577556"/>
                    </a:ext>
                  </a:extLst>
                </a:gridCol>
                <a:gridCol w="495963">
                  <a:extLst>
                    <a:ext uri="{9D8B030D-6E8A-4147-A177-3AD203B41FA5}">
                      <a16:colId xmlns:a16="http://schemas.microsoft.com/office/drawing/2014/main" val="476296480"/>
                    </a:ext>
                  </a:extLst>
                </a:gridCol>
                <a:gridCol w="495963">
                  <a:extLst>
                    <a:ext uri="{9D8B030D-6E8A-4147-A177-3AD203B41FA5}">
                      <a16:colId xmlns:a16="http://schemas.microsoft.com/office/drawing/2014/main" val="1461677071"/>
                    </a:ext>
                  </a:extLst>
                </a:gridCol>
                <a:gridCol w="495963">
                  <a:extLst>
                    <a:ext uri="{9D8B030D-6E8A-4147-A177-3AD203B41FA5}">
                      <a16:colId xmlns:a16="http://schemas.microsoft.com/office/drawing/2014/main" val="2307505867"/>
                    </a:ext>
                  </a:extLst>
                </a:gridCol>
                <a:gridCol w="495963">
                  <a:extLst>
                    <a:ext uri="{9D8B030D-6E8A-4147-A177-3AD203B41FA5}">
                      <a16:colId xmlns:a16="http://schemas.microsoft.com/office/drawing/2014/main" val="886355715"/>
                    </a:ext>
                  </a:extLst>
                </a:gridCol>
                <a:gridCol w="495963">
                  <a:extLst>
                    <a:ext uri="{9D8B030D-6E8A-4147-A177-3AD203B41FA5}">
                      <a16:colId xmlns:a16="http://schemas.microsoft.com/office/drawing/2014/main" val="2723366198"/>
                    </a:ext>
                  </a:extLst>
                </a:gridCol>
                <a:gridCol w="495963">
                  <a:extLst>
                    <a:ext uri="{9D8B030D-6E8A-4147-A177-3AD203B41FA5}">
                      <a16:colId xmlns:a16="http://schemas.microsoft.com/office/drawing/2014/main" val="2787038888"/>
                    </a:ext>
                  </a:extLst>
                </a:gridCol>
                <a:gridCol w="495963">
                  <a:extLst>
                    <a:ext uri="{9D8B030D-6E8A-4147-A177-3AD203B41FA5}">
                      <a16:colId xmlns:a16="http://schemas.microsoft.com/office/drawing/2014/main" val="2588476093"/>
                    </a:ext>
                  </a:extLst>
                </a:gridCol>
                <a:gridCol w="495963">
                  <a:extLst>
                    <a:ext uri="{9D8B030D-6E8A-4147-A177-3AD203B41FA5}">
                      <a16:colId xmlns:a16="http://schemas.microsoft.com/office/drawing/2014/main" val="4087603699"/>
                    </a:ext>
                  </a:extLst>
                </a:gridCol>
                <a:gridCol w="495963">
                  <a:extLst>
                    <a:ext uri="{9D8B030D-6E8A-4147-A177-3AD203B41FA5}">
                      <a16:colId xmlns:a16="http://schemas.microsoft.com/office/drawing/2014/main" val="2550113863"/>
                    </a:ext>
                  </a:extLst>
                </a:gridCol>
                <a:gridCol w="495963">
                  <a:extLst>
                    <a:ext uri="{9D8B030D-6E8A-4147-A177-3AD203B41FA5}">
                      <a16:colId xmlns:a16="http://schemas.microsoft.com/office/drawing/2014/main" val="977347673"/>
                    </a:ext>
                  </a:extLst>
                </a:gridCol>
                <a:gridCol w="495963">
                  <a:extLst>
                    <a:ext uri="{9D8B030D-6E8A-4147-A177-3AD203B41FA5}">
                      <a16:colId xmlns:a16="http://schemas.microsoft.com/office/drawing/2014/main" val="3240576578"/>
                    </a:ext>
                  </a:extLst>
                </a:gridCol>
                <a:gridCol w="495963">
                  <a:extLst>
                    <a:ext uri="{9D8B030D-6E8A-4147-A177-3AD203B41FA5}">
                      <a16:colId xmlns:a16="http://schemas.microsoft.com/office/drawing/2014/main" val="4183886762"/>
                    </a:ext>
                  </a:extLst>
                </a:gridCol>
                <a:gridCol w="495963">
                  <a:extLst>
                    <a:ext uri="{9D8B030D-6E8A-4147-A177-3AD203B41FA5}">
                      <a16:colId xmlns:a16="http://schemas.microsoft.com/office/drawing/2014/main" val="748801735"/>
                    </a:ext>
                  </a:extLst>
                </a:gridCol>
                <a:gridCol w="495963">
                  <a:extLst>
                    <a:ext uri="{9D8B030D-6E8A-4147-A177-3AD203B41FA5}">
                      <a16:colId xmlns:a16="http://schemas.microsoft.com/office/drawing/2014/main" val="2312860317"/>
                    </a:ext>
                  </a:extLst>
                </a:gridCol>
                <a:gridCol w="495963">
                  <a:extLst>
                    <a:ext uri="{9D8B030D-6E8A-4147-A177-3AD203B41FA5}">
                      <a16:colId xmlns:a16="http://schemas.microsoft.com/office/drawing/2014/main" val="4232901803"/>
                    </a:ext>
                  </a:extLst>
                </a:gridCol>
                <a:gridCol w="495963">
                  <a:extLst>
                    <a:ext uri="{9D8B030D-6E8A-4147-A177-3AD203B41FA5}">
                      <a16:colId xmlns:a16="http://schemas.microsoft.com/office/drawing/2014/main" val="1893531490"/>
                    </a:ext>
                  </a:extLst>
                </a:gridCol>
              </a:tblGrid>
              <a:tr h="524190">
                <a:tc>
                  <a:txBody>
                    <a:bodyPr/>
                    <a:lstStyle/>
                    <a:p>
                      <a:pPr algn="ctr"/>
                      <a:r>
                        <a:rPr lang="en-US" altLang="zh-TW" sz="2400" b="0" dirty="0" err="1"/>
                        <a:t>i</a:t>
                      </a:r>
                      <a:endParaRPr lang="zh-TW" altLang="en-US" sz="2400" b="0" dirty="0"/>
                    </a:p>
                  </a:txBody>
                  <a:tcPr>
                    <a:solidFill>
                      <a:schemeClr val="bg2"/>
                    </a:solidFill>
                  </a:tcPr>
                </a:tc>
                <a:tc>
                  <a:txBody>
                    <a:bodyPr/>
                    <a:lstStyle/>
                    <a:p>
                      <a:pPr algn="ctr"/>
                      <a:r>
                        <a:rPr lang="en-US" altLang="zh-TW" sz="2400" b="0" dirty="0"/>
                        <a:t>1</a:t>
                      </a:r>
                      <a:endParaRPr lang="zh-TW" altLang="en-US" sz="2400" b="0" dirty="0"/>
                    </a:p>
                  </a:txBody>
                  <a:tcPr>
                    <a:solidFill>
                      <a:schemeClr val="bg2"/>
                    </a:solidFill>
                  </a:tcPr>
                </a:tc>
                <a:tc>
                  <a:txBody>
                    <a:bodyPr/>
                    <a:lstStyle/>
                    <a:p>
                      <a:pPr algn="ctr"/>
                      <a:r>
                        <a:rPr lang="en-US" altLang="zh-TW" sz="2400" b="0" dirty="0"/>
                        <a:t>2</a:t>
                      </a:r>
                      <a:endParaRPr lang="zh-TW" altLang="en-US" sz="2400" b="0" dirty="0"/>
                    </a:p>
                  </a:txBody>
                  <a:tcPr>
                    <a:solidFill>
                      <a:schemeClr val="bg2"/>
                    </a:solidFill>
                  </a:tcPr>
                </a:tc>
                <a:tc>
                  <a:txBody>
                    <a:bodyPr/>
                    <a:lstStyle/>
                    <a:p>
                      <a:pPr algn="ctr"/>
                      <a:r>
                        <a:rPr lang="en-US" altLang="zh-TW" sz="2400" b="0" dirty="0"/>
                        <a:t>3</a:t>
                      </a:r>
                      <a:endParaRPr lang="zh-TW" altLang="en-US" sz="2400" b="0" dirty="0"/>
                    </a:p>
                  </a:txBody>
                  <a:tcPr>
                    <a:solidFill>
                      <a:schemeClr val="bg2"/>
                    </a:solidFill>
                  </a:tcPr>
                </a:tc>
                <a:tc>
                  <a:txBody>
                    <a:bodyPr/>
                    <a:lstStyle/>
                    <a:p>
                      <a:pPr algn="ctr"/>
                      <a:r>
                        <a:rPr lang="en-US" altLang="zh-TW" sz="2400" b="0" dirty="0"/>
                        <a:t>4</a:t>
                      </a:r>
                      <a:endParaRPr lang="zh-TW" altLang="en-US" sz="2400" b="0" dirty="0"/>
                    </a:p>
                  </a:txBody>
                  <a:tcPr>
                    <a:solidFill>
                      <a:schemeClr val="bg2"/>
                    </a:solidFill>
                  </a:tcPr>
                </a:tc>
                <a:tc>
                  <a:txBody>
                    <a:bodyPr/>
                    <a:lstStyle/>
                    <a:p>
                      <a:pPr algn="ctr"/>
                      <a:r>
                        <a:rPr lang="en-US" altLang="zh-TW" sz="2400" b="0" dirty="0"/>
                        <a:t>5</a:t>
                      </a:r>
                      <a:endParaRPr lang="zh-TW" altLang="en-US" sz="2400" b="0" dirty="0"/>
                    </a:p>
                  </a:txBody>
                  <a:tcPr>
                    <a:solidFill>
                      <a:schemeClr val="bg2"/>
                    </a:solidFill>
                  </a:tcPr>
                </a:tc>
                <a:tc>
                  <a:txBody>
                    <a:bodyPr/>
                    <a:lstStyle/>
                    <a:p>
                      <a:pPr algn="ctr"/>
                      <a:r>
                        <a:rPr lang="en-US" altLang="zh-TW" sz="2400" b="0" dirty="0"/>
                        <a:t>6</a:t>
                      </a:r>
                      <a:endParaRPr lang="zh-TW" altLang="en-US" sz="2400" b="0" dirty="0"/>
                    </a:p>
                  </a:txBody>
                  <a:tcPr>
                    <a:solidFill>
                      <a:schemeClr val="bg2"/>
                    </a:solidFill>
                  </a:tcPr>
                </a:tc>
                <a:tc>
                  <a:txBody>
                    <a:bodyPr/>
                    <a:lstStyle/>
                    <a:p>
                      <a:pPr algn="ctr"/>
                      <a:r>
                        <a:rPr lang="en-US" altLang="zh-TW" sz="2400" b="0" dirty="0"/>
                        <a:t>7</a:t>
                      </a:r>
                      <a:endParaRPr lang="zh-TW" altLang="en-US" sz="2400" b="0" dirty="0"/>
                    </a:p>
                  </a:txBody>
                  <a:tcPr>
                    <a:solidFill>
                      <a:schemeClr val="bg2"/>
                    </a:solidFill>
                  </a:tcPr>
                </a:tc>
                <a:tc>
                  <a:txBody>
                    <a:bodyPr/>
                    <a:lstStyle/>
                    <a:p>
                      <a:pPr algn="ctr"/>
                      <a:r>
                        <a:rPr lang="en-US" altLang="zh-TW" sz="2400" b="0" dirty="0"/>
                        <a:t>8</a:t>
                      </a:r>
                      <a:endParaRPr lang="zh-TW" altLang="en-US" sz="2400" b="0" dirty="0"/>
                    </a:p>
                  </a:txBody>
                  <a:tcPr>
                    <a:solidFill>
                      <a:schemeClr val="bg2"/>
                    </a:solidFill>
                  </a:tcPr>
                </a:tc>
                <a:tc>
                  <a:txBody>
                    <a:bodyPr/>
                    <a:lstStyle/>
                    <a:p>
                      <a:pPr algn="ctr"/>
                      <a:r>
                        <a:rPr lang="en-US" altLang="zh-TW" sz="2400" b="0" dirty="0"/>
                        <a:t>9</a:t>
                      </a:r>
                      <a:endParaRPr lang="zh-TW" altLang="en-US" sz="2400" b="0" dirty="0"/>
                    </a:p>
                  </a:txBody>
                  <a:tcPr>
                    <a:solidFill>
                      <a:schemeClr val="bg2"/>
                    </a:solidFill>
                  </a:tcPr>
                </a:tc>
                <a:tc>
                  <a:txBody>
                    <a:bodyPr/>
                    <a:lstStyle/>
                    <a:p>
                      <a:pPr algn="ctr"/>
                      <a:r>
                        <a:rPr lang="en-US" altLang="zh-TW" sz="2400" b="0" dirty="0"/>
                        <a:t>10</a:t>
                      </a:r>
                      <a:endParaRPr lang="zh-TW" altLang="en-US" sz="2400" b="0" dirty="0"/>
                    </a:p>
                  </a:txBody>
                  <a:tcPr>
                    <a:solidFill>
                      <a:schemeClr val="bg2"/>
                    </a:solidFill>
                  </a:tcPr>
                </a:tc>
                <a:tc>
                  <a:txBody>
                    <a:bodyPr/>
                    <a:lstStyle/>
                    <a:p>
                      <a:pPr algn="ctr"/>
                      <a:r>
                        <a:rPr lang="en-US" altLang="zh-TW" sz="2400" b="0" dirty="0"/>
                        <a:t>11</a:t>
                      </a:r>
                      <a:endParaRPr lang="zh-TW" altLang="en-US" sz="2400" b="0" dirty="0"/>
                    </a:p>
                  </a:txBody>
                  <a:tcPr>
                    <a:solidFill>
                      <a:schemeClr val="bg2"/>
                    </a:solidFill>
                  </a:tcPr>
                </a:tc>
                <a:tc>
                  <a:txBody>
                    <a:bodyPr/>
                    <a:lstStyle/>
                    <a:p>
                      <a:pPr algn="ctr"/>
                      <a:r>
                        <a:rPr lang="en-US" altLang="zh-TW" sz="2400" b="0" dirty="0"/>
                        <a:t>12</a:t>
                      </a:r>
                      <a:endParaRPr lang="zh-TW" altLang="en-US" sz="2400" b="0" dirty="0"/>
                    </a:p>
                  </a:txBody>
                  <a:tcPr>
                    <a:solidFill>
                      <a:schemeClr val="bg2"/>
                    </a:solidFill>
                  </a:tcPr>
                </a:tc>
                <a:tc>
                  <a:txBody>
                    <a:bodyPr/>
                    <a:lstStyle/>
                    <a:p>
                      <a:pPr algn="ctr"/>
                      <a:r>
                        <a:rPr lang="en-US" altLang="zh-TW" sz="2400" b="0" dirty="0"/>
                        <a:t>13</a:t>
                      </a:r>
                      <a:endParaRPr lang="zh-TW" altLang="en-US" sz="2400" b="0" dirty="0"/>
                    </a:p>
                  </a:txBody>
                  <a:tcPr>
                    <a:solidFill>
                      <a:schemeClr val="bg2"/>
                    </a:solidFill>
                  </a:tcPr>
                </a:tc>
                <a:tc>
                  <a:txBody>
                    <a:bodyPr/>
                    <a:lstStyle/>
                    <a:p>
                      <a:pPr algn="ctr"/>
                      <a:r>
                        <a:rPr lang="en-US" altLang="zh-TW" sz="2400" b="0" dirty="0"/>
                        <a:t>14</a:t>
                      </a:r>
                      <a:endParaRPr lang="zh-TW" altLang="en-US" sz="2400" b="0" dirty="0"/>
                    </a:p>
                  </a:txBody>
                  <a:tcPr>
                    <a:solidFill>
                      <a:schemeClr val="bg2"/>
                    </a:solidFill>
                  </a:tcPr>
                </a:tc>
                <a:tc>
                  <a:txBody>
                    <a:bodyPr/>
                    <a:lstStyle/>
                    <a:p>
                      <a:pPr algn="ctr"/>
                      <a:r>
                        <a:rPr lang="en-US" altLang="zh-TW" sz="2400" b="0" dirty="0"/>
                        <a:t>15</a:t>
                      </a:r>
                      <a:endParaRPr lang="zh-TW" altLang="en-US" sz="2400" b="0" dirty="0"/>
                    </a:p>
                  </a:txBody>
                  <a:tcPr>
                    <a:solidFill>
                      <a:schemeClr val="bg2"/>
                    </a:solidFill>
                  </a:tcPr>
                </a:tc>
                <a:tc>
                  <a:txBody>
                    <a:bodyPr/>
                    <a:lstStyle/>
                    <a:p>
                      <a:pPr algn="ctr"/>
                      <a:r>
                        <a:rPr lang="en-US" altLang="zh-TW" sz="2400" b="0" dirty="0"/>
                        <a:t>16</a:t>
                      </a:r>
                      <a:endParaRPr lang="zh-TW" altLang="en-US" sz="2400" b="0" dirty="0"/>
                    </a:p>
                  </a:txBody>
                  <a:tcPr>
                    <a:solidFill>
                      <a:schemeClr val="bg2"/>
                    </a:solidFill>
                  </a:tcPr>
                </a:tc>
                <a:tc>
                  <a:txBody>
                    <a:bodyPr/>
                    <a:lstStyle/>
                    <a:p>
                      <a:pPr algn="ctr"/>
                      <a:r>
                        <a:rPr lang="en-US" altLang="zh-TW" sz="2400" b="0" dirty="0"/>
                        <a:t>17</a:t>
                      </a:r>
                      <a:endParaRPr lang="zh-TW" altLang="en-US" sz="2400" b="0" dirty="0"/>
                    </a:p>
                  </a:txBody>
                  <a:tcPr>
                    <a:solidFill>
                      <a:schemeClr val="bg2"/>
                    </a:solidFill>
                  </a:tcPr>
                </a:tc>
                <a:tc>
                  <a:txBody>
                    <a:bodyPr/>
                    <a:lstStyle/>
                    <a:p>
                      <a:pPr algn="ctr"/>
                      <a:r>
                        <a:rPr lang="en-US" altLang="zh-TW" sz="2400" b="0" dirty="0"/>
                        <a:t>18</a:t>
                      </a:r>
                      <a:endParaRPr lang="zh-TW" altLang="en-US" sz="2400" b="0" dirty="0"/>
                    </a:p>
                  </a:txBody>
                  <a:tcPr>
                    <a:solidFill>
                      <a:schemeClr val="bg2"/>
                    </a:solidFill>
                  </a:tcPr>
                </a:tc>
                <a:tc>
                  <a:txBody>
                    <a:bodyPr/>
                    <a:lstStyle/>
                    <a:p>
                      <a:pPr algn="ctr"/>
                      <a:r>
                        <a:rPr lang="en-US" altLang="zh-TW" sz="2400" b="0" dirty="0"/>
                        <a:t>19</a:t>
                      </a:r>
                      <a:endParaRPr lang="zh-TW" altLang="en-US" sz="2400" b="0" dirty="0"/>
                    </a:p>
                  </a:txBody>
                  <a:tcPr>
                    <a:solidFill>
                      <a:schemeClr val="bg2"/>
                    </a:solidFill>
                  </a:tcPr>
                </a:tc>
                <a:tc>
                  <a:txBody>
                    <a:bodyPr/>
                    <a:lstStyle/>
                    <a:p>
                      <a:pPr algn="ctr"/>
                      <a:r>
                        <a:rPr lang="en-US" altLang="zh-TW" sz="2400" b="0" dirty="0"/>
                        <a:t>20</a:t>
                      </a:r>
                      <a:endParaRPr lang="zh-TW" altLang="en-US" sz="2400" b="0" dirty="0"/>
                    </a:p>
                  </a:txBody>
                  <a:tcPr>
                    <a:solidFill>
                      <a:schemeClr val="bg2"/>
                    </a:solidFill>
                  </a:tcPr>
                </a:tc>
                <a:tc>
                  <a:txBody>
                    <a:bodyPr/>
                    <a:lstStyle/>
                    <a:p>
                      <a:pPr algn="ctr"/>
                      <a:r>
                        <a:rPr lang="en-US" altLang="zh-TW" sz="2400" b="0" dirty="0"/>
                        <a:t>21</a:t>
                      </a:r>
                      <a:endParaRPr lang="zh-TW" altLang="en-US" sz="2400" b="0" dirty="0"/>
                    </a:p>
                  </a:txBody>
                  <a:tcPr>
                    <a:solidFill>
                      <a:schemeClr val="bg2"/>
                    </a:solidFill>
                  </a:tcPr>
                </a:tc>
                <a:tc>
                  <a:txBody>
                    <a:bodyPr/>
                    <a:lstStyle/>
                    <a:p>
                      <a:pPr algn="ctr"/>
                      <a:r>
                        <a:rPr lang="en-US" altLang="zh-TW" sz="2400" b="0" dirty="0"/>
                        <a:t>22</a:t>
                      </a:r>
                      <a:endParaRPr lang="zh-TW" altLang="en-US" sz="2400" b="0" dirty="0"/>
                    </a:p>
                  </a:txBody>
                  <a:tcPr>
                    <a:solidFill>
                      <a:schemeClr val="bg2"/>
                    </a:solidFill>
                  </a:tcPr>
                </a:tc>
                <a:tc>
                  <a:txBody>
                    <a:bodyPr/>
                    <a:lstStyle/>
                    <a:p>
                      <a:pPr algn="ctr"/>
                      <a:r>
                        <a:rPr lang="en-US" altLang="zh-TW" sz="2400" b="0" dirty="0"/>
                        <a:t>23</a:t>
                      </a:r>
                      <a:endParaRPr lang="zh-TW" altLang="en-US" sz="2400" b="0" dirty="0"/>
                    </a:p>
                  </a:txBody>
                  <a:tcPr>
                    <a:solidFill>
                      <a:schemeClr val="bg2"/>
                    </a:solidFill>
                  </a:tcPr>
                </a:tc>
                <a:extLst>
                  <a:ext uri="{0D108BD9-81ED-4DB2-BD59-A6C34878D82A}">
                    <a16:rowId xmlns:a16="http://schemas.microsoft.com/office/drawing/2014/main" val="4195531117"/>
                  </a:ext>
                </a:extLst>
              </a:tr>
              <a:tr h="524190">
                <a:tc>
                  <a:txBody>
                    <a:bodyPr/>
                    <a:lstStyle/>
                    <a:p>
                      <a:pPr algn="ctr"/>
                      <a:r>
                        <a:rPr lang="en-US" altLang="zh-TW" sz="2400" b="0" dirty="0"/>
                        <a:t>w</a:t>
                      </a:r>
                      <a:endParaRPr lang="zh-TW" altLang="en-US" sz="2400" b="0" dirty="0"/>
                    </a:p>
                  </a:txBody>
                  <a:tcPr>
                    <a:solidFill>
                      <a:schemeClr val="bg2"/>
                    </a:solidFill>
                  </a:tcPr>
                </a:tc>
                <a:tc>
                  <a:txBody>
                    <a:bodyPr/>
                    <a:lstStyle/>
                    <a:p>
                      <a:pPr algn="ctr"/>
                      <a:r>
                        <a:rPr lang="en-US" altLang="zh-TW" sz="2400" b="0" dirty="0"/>
                        <a:t>c</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a</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x</a:t>
                      </a:r>
                      <a:endParaRPr lang="zh-TW" altLang="en-US" sz="2400" b="0" dirty="0"/>
                    </a:p>
                  </a:txBody>
                  <a:tcPr>
                    <a:solidFill>
                      <a:schemeClr val="accent1"/>
                    </a:solid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a</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x</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a</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c</a:t>
                      </a:r>
                      <a:endParaRPr lang="zh-TW" altLang="en-US" sz="2400" b="0" dirty="0"/>
                    </a:p>
                  </a:txBody>
                  <a:tcPr>
                    <a:noFill/>
                  </a:tcPr>
                </a:tc>
                <a:extLst>
                  <a:ext uri="{0D108BD9-81ED-4DB2-BD59-A6C34878D82A}">
                    <a16:rowId xmlns:a16="http://schemas.microsoft.com/office/drawing/2014/main" val="3474810379"/>
                  </a:ext>
                </a:extLst>
              </a:tr>
              <a:tr h="524190">
                <a:tc>
                  <a:txBody>
                    <a:bodyPr/>
                    <a:lstStyle/>
                    <a:p>
                      <a:pPr algn="ctr"/>
                      <a:r>
                        <a:rPr lang="en-US" altLang="zh-TW" sz="2400" b="0" dirty="0"/>
                        <a:t>r</a:t>
                      </a:r>
                      <a:endParaRPr lang="zh-TW" altLang="en-US" sz="2400" b="0" dirty="0"/>
                    </a:p>
                  </a:txBody>
                  <a:tcPr>
                    <a:solidFill>
                      <a:schemeClr val="bg2"/>
                    </a:solidFill>
                  </a:tcPr>
                </a:tc>
                <a:tc>
                  <a:txBody>
                    <a:bodyPr/>
                    <a:lstStyle/>
                    <a:p>
                      <a:pPr algn="ctr"/>
                      <a:r>
                        <a:rPr lang="en-US" altLang="zh-TW" sz="2400" b="0" dirty="0"/>
                        <a:t>1</a:t>
                      </a:r>
                      <a:endParaRPr lang="zh-TW" altLang="en-US" sz="2400" b="0" dirty="0"/>
                    </a:p>
                  </a:txBody>
                  <a:tcPr>
                    <a:noFill/>
                  </a:tcPr>
                </a:tc>
                <a:tc>
                  <a:txBody>
                    <a:bodyPr/>
                    <a:lstStyle/>
                    <a:p>
                      <a:pPr algn="ctr"/>
                      <a:r>
                        <a:rPr lang="en-US" altLang="zh-TW" sz="2400" b="0" dirty="0"/>
                        <a:t>1</a:t>
                      </a:r>
                      <a:endParaRPr lang="zh-TW" altLang="en-US" sz="2400" b="0" dirty="0"/>
                    </a:p>
                  </a:txBody>
                  <a:tcPr>
                    <a:noFill/>
                  </a:tcPr>
                </a:tc>
                <a:tc>
                  <a:txBody>
                    <a:bodyPr/>
                    <a:lstStyle/>
                    <a:p>
                      <a:pPr algn="ctr"/>
                      <a:r>
                        <a:rPr lang="en-US" altLang="zh-TW" sz="2400" b="0" dirty="0"/>
                        <a:t>2</a:t>
                      </a:r>
                      <a:endParaRPr lang="zh-TW" altLang="en-US" sz="2400" b="0" dirty="0"/>
                    </a:p>
                  </a:txBody>
                  <a:tcPr>
                    <a:noFill/>
                  </a:tcPr>
                </a:tc>
                <a:tc>
                  <a:txBody>
                    <a:bodyPr/>
                    <a:lstStyle/>
                    <a:p>
                      <a:pPr algn="ctr"/>
                      <a:r>
                        <a:rPr lang="en-US" altLang="zh-TW" sz="2400" b="0" dirty="0"/>
                        <a:t>1</a:t>
                      </a:r>
                      <a:endParaRPr lang="zh-TW" altLang="en-US" sz="2400" b="0" dirty="0"/>
                    </a:p>
                  </a:txBody>
                  <a:tcPr>
                    <a:noFill/>
                  </a:tcPr>
                </a:tc>
                <a:tc>
                  <a:txBody>
                    <a:bodyPr/>
                    <a:lstStyle/>
                    <a:p>
                      <a:pPr algn="ctr"/>
                      <a:r>
                        <a:rPr lang="en-US" altLang="zh-TW" sz="2400" b="0" dirty="0"/>
                        <a:t>4</a:t>
                      </a:r>
                      <a:endParaRPr lang="zh-TW" altLang="en-US" sz="2400" b="0" dirty="0"/>
                    </a:p>
                  </a:txBody>
                  <a:tcPr>
                    <a:noFill/>
                  </a:tcPr>
                </a:tc>
                <a:tc>
                  <a:txBody>
                    <a:bodyPr/>
                    <a:lstStyle/>
                    <a:p>
                      <a:pPr algn="ctr"/>
                      <a:r>
                        <a:rPr lang="en-US" altLang="zh-TW" sz="2400" b="0" dirty="0"/>
                        <a:t>1</a:t>
                      </a:r>
                      <a:endParaRPr lang="zh-TW" altLang="en-US" sz="2400" b="0" dirty="0"/>
                    </a:p>
                  </a:txBody>
                  <a:tcPr>
                    <a:noFill/>
                  </a:tcPr>
                </a:tc>
                <a:tc>
                  <a:txBody>
                    <a:bodyPr/>
                    <a:lstStyle/>
                    <a:p>
                      <a:pPr algn="ctr"/>
                      <a:r>
                        <a:rPr lang="en-US" altLang="zh-TW" sz="2400" b="0" dirty="0"/>
                        <a:t>2</a:t>
                      </a:r>
                      <a:endParaRPr lang="zh-TW" altLang="en-US" sz="2400" b="0" dirty="0"/>
                    </a:p>
                  </a:txBody>
                  <a:tcPr>
                    <a:noFill/>
                  </a:tcPr>
                </a:tc>
                <a:tc>
                  <a:txBody>
                    <a:bodyPr/>
                    <a:lstStyle/>
                    <a:p>
                      <a:pPr algn="ctr"/>
                      <a:r>
                        <a:rPr lang="en-US" altLang="zh-TW" sz="2400" b="0" dirty="0"/>
                        <a:t>1</a:t>
                      </a:r>
                      <a:endParaRPr lang="zh-TW" altLang="en-US" sz="2400" b="0" dirty="0"/>
                    </a:p>
                  </a:txBody>
                  <a:tcPr>
                    <a:noFill/>
                  </a:tcPr>
                </a:tc>
                <a:tc>
                  <a:txBody>
                    <a:bodyPr/>
                    <a:lstStyle/>
                    <a:p>
                      <a:pPr algn="ctr"/>
                      <a:r>
                        <a:rPr lang="en-US" altLang="zh-TW" sz="2400" b="0" dirty="0">
                          <a:solidFill>
                            <a:srgbClr val="FF0000"/>
                          </a:solidFill>
                        </a:rPr>
                        <a:t>8</a:t>
                      </a:r>
                      <a:endParaRPr lang="zh-TW" altLang="en-US" sz="2400" b="0" dirty="0">
                        <a:solidFill>
                          <a:srgbClr val="FF0000"/>
                        </a:solidFill>
                      </a:endParaRPr>
                    </a:p>
                  </a:txBody>
                  <a:tcPr>
                    <a:noFill/>
                  </a:tcPr>
                </a:tc>
                <a:tc>
                  <a:txBody>
                    <a:bodyPr/>
                    <a:lstStyle/>
                    <a:p>
                      <a:pPr algn="ctr"/>
                      <a:endParaRPr lang="zh-TW" altLang="en-US" sz="2400" b="0" dirty="0">
                        <a:solidFill>
                          <a:srgbClr val="FF0000"/>
                        </a:solidFill>
                      </a:endParaRPr>
                    </a:p>
                  </a:txBody>
                  <a:tcPr>
                    <a:noFill/>
                  </a:tcPr>
                </a:tc>
                <a:tc>
                  <a:txBody>
                    <a:bodyPr/>
                    <a:lstStyle/>
                    <a:p>
                      <a:pPr algn="ctr"/>
                      <a:endParaRPr lang="zh-TW" altLang="en-US" sz="2400" b="0" dirty="0">
                        <a:solidFill>
                          <a:srgbClr val="FF0000"/>
                        </a:solidFill>
                      </a:endParaRPr>
                    </a:p>
                  </a:txBody>
                  <a:tcPr>
                    <a:noFill/>
                  </a:tcPr>
                </a:tc>
                <a:tc>
                  <a:txBody>
                    <a:bodyPr/>
                    <a:lstStyle/>
                    <a:p>
                      <a:pPr algn="ctr"/>
                      <a:endParaRPr lang="zh-TW" altLang="en-US" sz="2400" b="0" dirty="0">
                        <a:solidFill>
                          <a:srgbClr val="FF0000"/>
                        </a:solidFill>
                      </a:endParaRPr>
                    </a:p>
                  </a:txBody>
                  <a:tcPr>
                    <a:noFill/>
                  </a:tcPr>
                </a:tc>
                <a:tc>
                  <a:txBody>
                    <a:bodyPr/>
                    <a:lstStyle/>
                    <a:p>
                      <a:pPr algn="ctr"/>
                      <a:endParaRPr lang="zh-TW" altLang="en-US" sz="2400" b="0" dirty="0">
                        <a:solidFill>
                          <a:srgbClr val="FF0000"/>
                        </a:solidFill>
                      </a:endParaRPr>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extLst>
                  <a:ext uri="{0D108BD9-81ED-4DB2-BD59-A6C34878D82A}">
                    <a16:rowId xmlns:a16="http://schemas.microsoft.com/office/drawing/2014/main" val="2333122955"/>
                  </a:ext>
                </a:extLst>
              </a:tr>
            </a:tbl>
          </a:graphicData>
        </a:graphic>
      </p:graphicFrame>
      <p:sp>
        <p:nvSpPr>
          <p:cNvPr id="5" name="左中括弧 4">
            <a:extLst>
              <a:ext uri="{FF2B5EF4-FFF2-40B4-BE49-F238E27FC236}">
                <a16:creationId xmlns:a16="http://schemas.microsoft.com/office/drawing/2014/main" id="{478D00DF-11F0-08AF-2597-A593BBC698F9}"/>
              </a:ext>
            </a:extLst>
          </p:cNvPr>
          <p:cNvSpPr/>
          <p:nvPr/>
        </p:nvSpPr>
        <p:spPr>
          <a:xfrm rot="5400000">
            <a:off x="4636351" y="-124455"/>
            <a:ext cx="357643" cy="6971974"/>
          </a:xfrm>
          <a:prstGeom prst="leftBracket">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Tree>
    <p:extLst>
      <p:ext uri="{BB962C8B-B14F-4D97-AF65-F5344CB8AC3E}">
        <p14:creationId xmlns:p14="http://schemas.microsoft.com/office/powerpoint/2010/main" val="252604599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pc="-1" dirty="0" err="1">
                <a:solidFill>
                  <a:srgbClr val="000000"/>
                </a:solidFill>
                <a:latin typeface="Times New Roman" pitchFamily="18" charset="0"/>
                <a:cs typeface="Times New Roman" pitchFamily="18" charset="0"/>
              </a:rPr>
              <a:t>Manacher’s</a:t>
            </a:r>
            <a:r>
              <a:rPr lang="en-US" altLang="zh-TW" spc="-1" dirty="0">
                <a:solidFill>
                  <a:srgbClr val="000000"/>
                </a:solidFill>
                <a:latin typeface="Times New Roman" pitchFamily="18" charset="0"/>
                <a:cs typeface="Times New Roman" pitchFamily="18" charset="0"/>
              </a:rPr>
              <a:t> Algorithm (5/7)</a:t>
            </a: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200" y="1825625"/>
                <a:ext cx="10515600" cy="4351338"/>
              </a:xfrm>
            </p:spPr>
            <p:txBody>
              <a:bodyPr>
                <a:normAutofit/>
              </a:bodyPr>
              <a:lstStyle/>
              <a:p>
                <a:pPr marL="457560" indent="-457200">
                  <a:spcBef>
                    <a:spcPts val="561"/>
                  </a:spcBef>
                  <a:buClr>
                    <a:srgbClr val="000000"/>
                  </a:buClr>
                </a:pPr>
                <a14:m>
                  <m:oMath xmlns:m="http://schemas.openxmlformats.org/officeDocument/2006/math">
                    <m:r>
                      <a:rPr lang="en-US" altLang="zh-TW" i="1" spc="-1" smtClean="0">
                        <a:solidFill>
                          <a:srgbClr val="000000"/>
                        </a:solidFill>
                        <a:latin typeface="Cambria Math" panose="02040503050406030204" pitchFamily="18" charset="0"/>
                      </a:rPr>
                      <m:t>𝑤</m:t>
                    </m:r>
                  </m:oMath>
                </a14:m>
                <a:r>
                  <a:rPr lang="en-US" altLang="zh-TW" spc="-1" dirty="0">
                    <a:solidFill>
                      <a:srgbClr val="000000"/>
                    </a:solidFill>
                    <a:latin typeface="Times New Roman"/>
                  </a:rPr>
                  <a:t> = </a:t>
                </a:r>
                <a:r>
                  <a:rPr lang="en-US" altLang="zh-TW" spc="-1" dirty="0" err="1"/>
                  <a:t>cbabxbabxbac</a:t>
                </a:r>
                <a:endParaRPr lang="en-US" altLang="zh-TW" spc="-1" dirty="0"/>
              </a:p>
              <a:p>
                <a:pPr marL="360" indent="0">
                  <a:spcBef>
                    <a:spcPts val="561"/>
                  </a:spcBef>
                  <a:buClr>
                    <a:srgbClr val="000000"/>
                  </a:buClr>
                  <a:buNone/>
                </a:pPr>
                <a:endParaRPr lang="en-US" altLang="zh-TW" spc="-1" dirty="0">
                  <a:solidFill>
                    <a:srgbClr val="000000"/>
                  </a:solidFill>
                  <a:latin typeface="Times New Roman"/>
                </a:endParaRPr>
              </a:p>
              <a:p>
                <a:pPr marL="360" indent="0">
                  <a:spcBef>
                    <a:spcPts val="561"/>
                  </a:spcBef>
                  <a:buClr>
                    <a:srgbClr val="000000"/>
                  </a:buClr>
                  <a:buNone/>
                </a:pPr>
                <a:endParaRPr lang="en-US" altLang="zh-TW" spc="-1" dirty="0">
                  <a:solidFill>
                    <a:srgbClr val="000000"/>
                  </a:solidFill>
                  <a:latin typeface="Times New Roman"/>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200" y="1825625"/>
                <a:ext cx="10515600" cy="4351338"/>
              </a:xfrm>
              <a:blipFill>
                <a:blip r:embed="rId2"/>
                <a:stretch>
                  <a:fillRect t="-2381"/>
                </a:stretch>
              </a:blipFill>
            </p:spPr>
            <p:txBody>
              <a:bodyPr/>
              <a:lstStyle/>
              <a:p>
                <a:r>
                  <a:rPr lang="zh-TW" altLang="en-US">
                    <a:noFill/>
                  </a:rPr>
                  <a:t> </a:t>
                </a:r>
              </a:p>
            </p:txBody>
          </p:sp>
        </mc:Fallback>
      </mc:AlternateContent>
      <p:graphicFrame>
        <p:nvGraphicFramePr>
          <p:cNvPr id="4" name="表格 4">
            <a:extLst>
              <a:ext uri="{FF2B5EF4-FFF2-40B4-BE49-F238E27FC236}">
                <a16:creationId xmlns:a16="http://schemas.microsoft.com/office/drawing/2014/main" id="{318AF3AC-BA55-DD3A-E640-E854684713E7}"/>
              </a:ext>
            </a:extLst>
          </p:cNvPr>
          <p:cNvGraphicFramePr>
            <a:graphicFrameLocks noGrp="1"/>
          </p:cNvGraphicFramePr>
          <p:nvPr/>
        </p:nvGraphicFramePr>
        <p:xfrm>
          <a:off x="144444" y="3675290"/>
          <a:ext cx="11903112" cy="1572570"/>
        </p:xfrm>
        <a:graphic>
          <a:graphicData uri="http://schemas.openxmlformats.org/drawingml/2006/table">
            <a:tbl>
              <a:tblPr firstRow="1" bandRow="1">
                <a:tableStyleId>{E8B1032C-EA38-4F05-BA0D-38AFFFC7BED3}</a:tableStyleId>
              </a:tblPr>
              <a:tblGrid>
                <a:gridCol w="495963">
                  <a:extLst>
                    <a:ext uri="{9D8B030D-6E8A-4147-A177-3AD203B41FA5}">
                      <a16:colId xmlns:a16="http://schemas.microsoft.com/office/drawing/2014/main" val="3687563117"/>
                    </a:ext>
                  </a:extLst>
                </a:gridCol>
                <a:gridCol w="495963">
                  <a:extLst>
                    <a:ext uri="{9D8B030D-6E8A-4147-A177-3AD203B41FA5}">
                      <a16:colId xmlns:a16="http://schemas.microsoft.com/office/drawing/2014/main" val="3458925501"/>
                    </a:ext>
                  </a:extLst>
                </a:gridCol>
                <a:gridCol w="495963">
                  <a:extLst>
                    <a:ext uri="{9D8B030D-6E8A-4147-A177-3AD203B41FA5}">
                      <a16:colId xmlns:a16="http://schemas.microsoft.com/office/drawing/2014/main" val="4030832065"/>
                    </a:ext>
                  </a:extLst>
                </a:gridCol>
                <a:gridCol w="495963">
                  <a:extLst>
                    <a:ext uri="{9D8B030D-6E8A-4147-A177-3AD203B41FA5}">
                      <a16:colId xmlns:a16="http://schemas.microsoft.com/office/drawing/2014/main" val="1724438594"/>
                    </a:ext>
                  </a:extLst>
                </a:gridCol>
                <a:gridCol w="495963">
                  <a:extLst>
                    <a:ext uri="{9D8B030D-6E8A-4147-A177-3AD203B41FA5}">
                      <a16:colId xmlns:a16="http://schemas.microsoft.com/office/drawing/2014/main" val="4209229924"/>
                    </a:ext>
                  </a:extLst>
                </a:gridCol>
                <a:gridCol w="495963">
                  <a:extLst>
                    <a:ext uri="{9D8B030D-6E8A-4147-A177-3AD203B41FA5}">
                      <a16:colId xmlns:a16="http://schemas.microsoft.com/office/drawing/2014/main" val="2908390315"/>
                    </a:ext>
                  </a:extLst>
                </a:gridCol>
                <a:gridCol w="495963">
                  <a:extLst>
                    <a:ext uri="{9D8B030D-6E8A-4147-A177-3AD203B41FA5}">
                      <a16:colId xmlns:a16="http://schemas.microsoft.com/office/drawing/2014/main" val="1002060645"/>
                    </a:ext>
                  </a:extLst>
                </a:gridCol>
                <a:gridCol w="495963">
                  <a:extLst>
                    <a:ext uri="{9D8B030D-6E8A-4147-A177-3AD203B41FA5}">
                      <a16:colId xmlns:a16="http://schemas.microsoft.com/office/drawing/2014/main" val="2341577556"/>
                    </a:ext>
                  </a:extLst>
                </a:gridCol>
                <a:gridCol w="495963">
                  <a:extLst>
                    <a:ext uri="{9D8B030D-6E8A-4147-A177-3AD203B41FA5}">
                      <a16:colId xmlns:a16="http://schemas.microsoft.com/office/drawing/2014/main" val="476296480"/>
                    </a:ext>
                  </a:extLst>
                </a:gridCol>
                <a:gridCol w="495963">
                  <a:extLst>
                    <a:ext uri="{9D8B030D-6E8A-4147-A177-3AD203B41FA5}">
                      <a16:colId xmlns:a16="http://schemas.microsoft.com/office/drawing/2014/main" val="1461677071"/>
                    </a:ext>
                  </a:extLst>
                </a:gridCol>
                <a:gridCol w="495963">
                  <a:extLst>
                    <a:ext uri="{9D8B030D-6E8A-4147-A177-3AD203B41FA5}">
                      <a16:colId xmlns:a16="http://schemas.microsoft.com/office/drawing/2014/main" val="2307505867"/>
                    </a:ext>
                  </a:extLst>
                </a:gridCol>
                <a:gridCol w="495963">
                  <a:extLst>
                    <a:ext uri="{9D8B030D-6E8A-4147-A177-3AD203B41FA5}">
                      <a16:colId xmlns:a16="http://schemas.microsoft.com/office/drawing/2014/main" val="886355715"/>
                    </a:ext>
                  </a:extLst>
                </a:gridCol>
                <a:gridCol w="495963">
                  <a:extLst>
                    <a:ext uri="{9D8B030D-6E8A-4147-A177-3AD203B41FA5}">
                      <a16:colId xmlns:a16="http://schemas.microsoft.com/office/drawing/2014/main" val="2723366198"/>
                    </a:ext>
                  </a:extLst>
                </a:gridCol>
                <a:gridCol w="495963">
                  <a:extLst>
                    <a:ext uri="{9D8B030D-6E8A-4147-A177-3AD203B41FA5}">
                      <a16:colId xmlns:a16="http://schemas.microsoft.com/office/drawing/2014/main" val="2787038888"/>
                    </a:ext>
                  </a:extLst>
                </a:gridCol>
                <a:gridCol w="495963">
                  <a:extLst>
                    <a:ext uri="{9D8B030D-6E8A-4147-A177-3AD203B41FA5}">
                      <a16:colId xmlns:a16="http://schemas.microsoft.com/office/drawing/2014/main" val="2588476093"/>
                    </a:ext>
                  </a:extLst>
                </a:gridCol>
                <a:gridCol w="495963">
                  <a:extLst>
                    <a:ext uri="{9D8B030D-6E8A-4147-A177-3AD203B41FA5}">
                      <a16:colId xmlns:a16="http://schemas.microsoft.com/office/drawing/2014/main" val="4087603699"/>
                    </a:ext>
                  </a:extLst>
                </a:gridCol>
                <a:gridCol w="495963">
                  <a:extLst>
                    <a:ext uri="{9D8B030D-6E8A-4147-A177-3AD203B41FA5}">
                      <a16:colId xmlns:a16="http://schemas.microsoft.com/office/drawing/2014/main" val="2550113863"/>
                    </a:ext>
                  </a:extLst>
                </a:gridCol>
                <a:gridCol w="495963">
                  <a:extLst>
                    <a:ext uri="{9D8B030D-6E8A-4147-A177-3AD203B41FA5}">
                      <a16:colId xmlns:a16="http://schemas.microsoft.com/office/drawing/2014/main" val="977347673"/>
                    </a:ext>
                  </a:extLst>
                </a:gridCol>
                <a:gridCol w="495963">
                  <a:extLst>
                    <a:ext uri="{9D8B030D-6E8A-4147-A177-3AD203B41FA5}">
                      <a16:colId xmlns:a16="http://schemas.microsoft.com/office/drawing/2014/main" val="3240576578"/>
                    </a:ext>
                  </a:extLst>
                </a:gridCol>
                <a:gridCol w="495963">
                  <a:extLst>
                    <a:ext uri="{9D8B030D-6E8A-4147-A177-3AD203B41FA5}">
                      <a16:colId xmlns:a16="http://schemas.microsoft.com/office/drawing/2014/main" val="4183886762"/>
                    </a:ext>
                  </a:extLst>
                </a:gridCol>
                <a:gridCol w="495963">
                  <a:extLst>
                    <a:ext uri="{9D8B030D-6E8A-4147-A177-3AD203B41FA5}">
                      <a16:colId xmlns:a16="http://schemas.microsoft.com/office/drawing/2014/main" val="748801735"/>
                    </a:ext>
                  </a:extLst>
                </a:gridCol>
                <a:gridCol w="495963">
                  <a:extLst>
                    <a:ext uri="{9D8B030D-6E8A-4147-A177-3AD203B41FA5}">
                      <a16:colId xmlns:a16="http://schemas.microsoft.com/office/drawing/2014/main" val="2312860317"/>
                    </a:ext>
                  </a:extLst>
                </a:gridCol>
                <a:gridCol w="495963">
                  <a:extLst>
                    <a:ext uri="{9D8B030D-6E8A-4147-A177-3AD203B41FA5}">
                      <a16:colId xmlns:a16="http://schemas.microsoft.com/office/drawing/2014/main" val="4232901803"/>
                    </a:ext>
                  </a:extLst>
                </a:gridCol>
                <a:gridCol w="495963">
                  <a:extLst>
                    <a:ext uri="{9D8B030D-6E8A-4147-A177-3AD203B41FA5}">
                      <a16:colId xmlns:a16="http://schemas.microsoft.com/office/drawing/2014/main" val="1893531490"/>
                    </a:ext>
                  </a:extLst>
                </a:gridCol>
              </a:tblGrid>
              <a:tr h="524190">
                <a:tc>
                  <a:txBody>
                    <a:bodyPr/>
                    <a:lstStyle/>
                    <a:p>
                      <a:pPr algn="ctr"/>
                      <a:r>
                        <a:rPr lang="en-US" altLang="zh-TW" sz="2400" b="0" dirty="0" err="1"/>
                        <a:t>i</a:t>
                      </a:r>
                      <a:endParaRPr lang="zh-TW" altLang="en-US" sz="2400" b="0" dirty="0"/>
                    </a:p>
                  </a:txBody>
                  <a:tcPr>
                    <a:solidFill>
                      <a:schemeClr val="bg2"/>
                    </a:solidFill>
                  </a:tcPr>
                </a:tc>
                <a:tc>
                  <a:txBody>
                    <a:bodyPr/>
                    <a:lstStyle/>
                    <a:p>
                      <a:pPr algn="ctr"/>
                      <a:r>
                        <a:rPr lang="en-US" altLang="zh-TW" sz="2400" b="0" dirty="0"/>
                        <a:t>1</a:t>
                      </a:r>
                      <a:endParaRPr lang="zh-TW" altLang="en-US" sz="2400" b="0" dirty="0"/>
                    </a:p>
                  </a:txBody>
                  <a:tcPr>
                    <a:solidFill>
                      <a:schemeClr val="bg2"/>
                    </a:solidFill>
                  </a:tcPr>
                </a:tc>
                <a:tc>
                  <a:txBody>
                    <a:bodyPr/>
                    <a:lstStyle/>
                    <a:p>
                      <a:pPr algn="ctr"/>
                      <a:r>
                        <a:rPr lang="en-US" altLang="zh-TW" sz="2400" b="0" dirty="0"/>
                        <a:t>2</a:t>
                      </a:r>
                      <a:endParaRPr lang="zh-TW" altLang="en-US" sz="2400" b="0" dirty="0"/>
                    </a:p>
                  </a:txBody>
                  <a:tcPr>
                    <a:solidFill>
                      <a:schemeClr val="bg2"/>
                    </a:solidFill>
                  </a:tcPr>
                </a:tc>
                <a:tc>
                  <a:txBody>
                    <a:bodyPr/>
                    <a:lstStyle/>
                    <a:p>
                      <a:pPr algn="ctr"/>
                      <a:r>
                        <a:rPr lang="en-US" altLang="zh-TW" sz="2400" b="0" dirty="0"/>
                        <a:t>3</a:t>
                      </a:r>
                      <a:endParaRPr lang="zh-TW" altLang="en-US" sz="2400" b="0" dirty="0"/>
                    </a:p>
                  </a:txBody>
                  <a:tcPr>
                    <a:solidFill>
                      <a:schemeClr val="bg2"/>
                    </a:solidFill>
                  </a:tcPr>
                </a:tc>
                <a:tc>
                  <a:txBody>
                    <a:bodyPr/>
                    <a:lstStyle/>
                    <a:p>
                      <a:pPr algn="ctr"/>
                      <a:r>
                        <a:rPr lang="en-US" altLang="zh-TW" sz="2400" b="0" dirty="0"/>
                        <a:t>4</a:t>
                      </a:r>
                      <a:endParaRPr lang="zh-TW" altLang="en-US" sz="2400" b="0" dirty="0"/>
                    </a:p>
                  </a:txBody>
                  <a:tcPr>
                    <a:solidFill>
                      <a:schemeClr val="bg2"/>
                    </a:solidFill>
                  </a:tcPr>
                </a:tc>
                <a:tc>
                  <a:txBody>
                    <a:bodyPr/>
                    <a:lstStyle/>
                    <a:p>
                      <a:pPr algn="ctr"/>
                      <a:r>
                        <a:rPr lang="en-US" altLang="zh-TW" sz="2400" b="0" dirty="0"/>
                        <a:t>5</a:t>
                      </a:r>
                      <a:endParaRPr lang="zh-TW" altLang="en-US" sz="2400" b="0" dirty="0"/>
                    </a:p>
                  </a:txBody>
                  <a:tcPr>
                    <a:solidFill>
                      <a:schemeClr val="bg2"/>
                    </a:solidFill>
                  </a:tcPr>
                </a:tc>
                <a:tc>
                  <a:txBody>
                    <a:bodyPr/>
                    <a:lstStyle/>
                    <a:p>
                      <a:pPr algn="ctr"/>
                      <a:r>
                        <a:rPr lang="en-US" altLang="zh-TW" sz="2400" b="0" dirty="0"/>
                        <a:t>6</a:t>
                      </a:r>
                      <a:endParaRPr lang="zh-TW" altLang="en-US" sz="2400" b="0" dirty="0"/>
                    </a:p>
                  </a:txBody>
                  <a:tcPr>
                    <a:solidFill>
                      <a:schemeClr val="bg2"/>
                    </a:solidFill>
                  </a:tcPr>
                </a:tc>
                <a:tc>
                  <a:txBody>
                    <a:bodyPr/>
                    <a:lstStyle/>
                    <a:p>
                      <a:pPr algn="ctr"/>
                      <a:r>
                        <a:rPr lang="en-US" altLang="zh-TW" sz="2400" b="0" dirty="0"/>
                        <a:t>7</a:t>
                      </a:r>
                      <a:endParaRPr lang="zh-TW" altLang="en-US" sz="2400" b="0" dirty="0"/>
                    </a:p>
                  </a:txBody>
                  <a:tcPr>
                    <a:solidFill>
                      <a:schemeClr val="bg2"/>
                    </a:solidFill>
                  </a:tcPr>
                </a:tc>
                <a:tc>
                  <a:txBody>
                    <a:bodyPr/>
                    <a:lstStyle/>
                    <a:p>
                      <a:pPr algn="ctr"/>
                      <a:r>
                        <a:rPr lang="en-US" altLang="zh-TW" sz="2400" b="0" dirty="0"/>
                        <a:t>8</a:t>
                      </a:r>
                      <a:endParaRPr lang="zh-TW" altLang="en-US" sz="2400" b="0" dirty="0"/>
                    </a:p>
                  </a:txBody>
                  <a:tcPr>
                    <a:solidFill>
                      <a:schemeClr val="bg2"/>
                    </a:solidFill>
                  </a:tcPr>
                </a:tc>
                <a:tc>
                  <a:txBody>
                    <a:bodyPr/>
                    <a:lstStyle/>
                    <a:p>
                      <a:pPr algn="ctr"/>
                      <a:r>
                        <a:rPr lang="en-US" altLang="zh-TW" sz="2400" b="0" dirty="0"/>
                        <a:t>9</a:t>
                      </a:r>
                      <a:endParaRPr lang="zh-TW" altLang="en-US" sz="2400" b="0" dirty="0"/>
                    </a:p>
                  </a:txBody>
                  <a:tcPr>
                    <a:solidFill>
                      <a:schemeClr val="bg2"/>
                    </a:solidFill>
                  </a:tcPr>
                </a:tc>
                <a:tc>
                  <a:txBody>
                    <a:bodyPr/>
                    <a:lstStyle/>
                    <a:p>
                      <a:pPr algn="ctr"/>
                      <a:r>
                        <a:rPr lang="en-US" altLang="zh-TW" sz="2400" b="0" dirty="0"/>
                        <a:t>10</a:t>
                      </a:r>
                      <a:endParaRPr lang="zh-TW" altLang="en-US" sz="2400" b="0" dirty="0"/>
                    </a:p>
                  </a:txBody>
                  <a:tcPr>
                    <a:solidFill>
                      <a:schemeClr val="bg2"/>
                    </a:solidFill>
                  </a:tcPr>
                </a:tc>
                <a:tc>
                  <a:txBody>
                    <a:bodyPr/>
                    <a:lstStyle/>
                    <a:p>
                      <a:pPr algn="ctr"/>
                      <a:r>
                        <a:rPr lang="en-US" altLang="zh-TW" sz="2400" b="0" dirty="0"/>
                        <a:t>11</a:t>
                      </a:r>
                      <a:endParaRPr lang="zh-TW" altLang="en-US" sz="2400" b="0" dirty="0"/>
                    </a:p>
                  </a:txBody>
                  <a:tcPr>
                    <a:solidFill>
                      <a:schemeClr val="bg2"/>
                    </a:solidFill>
                  </a:tcPr>
                </a:tc>
                <a:tc>
                  <a:txBody>
                    <a:bodyPr/>
                    <a:lstStyle/>
                    <a:p>
                      <a:pPr algn="ctr"/>
                      <a:r>
                        <a:rPr lang="en-US" altLang="zh-TW" sz="2400" b="0" dirty="0"/>
                        <a:t>12</a:t>
                      </a:r>
                      <a:endParaRPr lang="zh-TW" altLang="en-US" sz="2400" b="0" dirty="0"/>
                    </a:p>
                  </a:txBody>
                  <a:tcPr>
                    <a:solidFill>
                      <a:schemeClr val="bg2"/>
                    </a:solidFill>
                  </a:tcPr>
                </a:tc>
                <a:tc>
                  <a:txBody>
                    <a:bodyPr/>
                    <a:lstStyle/>
                    <a:p>
                      <a:pPr algn="ctr"/>
                      <a:r>
                        <a:rPr lang="en-US" altLang="zh-TW" sz="2400" b="0" dirty="0"/>
                        <a:t>13</a:t>
                      </a:r>
                      <a:endParaRPr lang="zh-TW" altLang="en-US" sz="2400" b="0" dirty="0"/>
                    </a:p>
                  </a:txBody>
                  <a:tcPr>
                    <a:solidFill>
                      <a:schemeClr val="bg2"/>
                    </a:solidFill>
                  </a:tcPr>
                </a:tc>
                <a:tc>
                  <a:txBody>
                    <a:bodyPr/>
                    <a:lstStyle/>
                    <a:p>
                      <a:pPr algn="ctr"/>
                      <a:r>
                        <a:rPr lang="en-US" altLang="zh-TW" sz="2400" b="0" dirty="0"/>
                        <a:t>14</a:t>
                      </a:r>
                      <a:endParaRPr lang="zh-TW" altLang="en-US" sz="2400" b="0" dirty="0"/>
                    </a:p>
                  </a:txBody>
                  <a:tcPr>
                    <a:solidFill>
                      <a:schemeClr val="bg2"/>
                    </a:solidFill>
                  </a:tcPr>
                </a:tc>
                <a:tc>
                  <a:txBody>
                    <a:bodyPr/>
                    <a:lstStyle/>
                    <a:p>
                      <a:pPr algn="ctr"/>
                      <a:r>
                        <a:rPr lang="en-US" altLang="zh-TW" sz="2400" b="0" dirty="0"/>
                        <a:t>15</a:t>
                      </a:r>
                      <a:endParaRPr lang="zh-TW" altLang="en-US" sz="2400" b="0" dirty="0"/>
                    </a:p>
                  </a:txBody>
                  <a:tcPr>
                    <a:solidFill>
                      <a:schemeClr val="bg2"/>
                    </a:solidFill>
                  </a:tcPr>
                </a:tc>
                <a:tc>
                  <a:txBody>
                    <a:bodyPr/>
                    <a:lstStyle/>
                    <a:p>
                      <a:pPr algn="ctr"/>
                      <a:r>
                        <a:rPr lang="en-US" altLang="zh-TW" sz="2400" b="0" dirty="0"/>
                        <a:t>16</a:t>
                      </a:r>
                      <a:endParaRPr lang="zh-TW" altLang="en-US" sz="2400" b="0" dirty="0"/>
                    </a:p>
                  </a:txBody>
                  <a:tcPr>
                    <a:solidFill>
                      <a:schemeClr val="bg2"/>
                    </a:solidFill>
                  </a:tcPr>
                </a:tc>
                <a:tc>
                  <a:txBody>
                    <a:bodyPr/>
                    <a:lstStyle/>
                    <a:p>
                      <a:pPr algn="ctr"/>
                      <a:r>
                        <a:rPr lang="en-US" altLang="zh-TW" sz="2400" b="0" dirty="0"/>
                        <a:t>17</a:t>
                      </a:r>
                      <a:endParaRPr lang="zh-TW" altLang="en-US" sz="2400" b="0" dirty="0"/>
                    </a:p>
                  </a:txBody>
                  <a:tcPr>
                    <a:solidFill>
                      <a:schemeClr val="bg2"/>
                    </a:solidFill>
                  </a:tcPr>
                </a:tc>
                <a:tc>
                  <a:txBody>
                    <a:bodyPr/>
                    <a:lstStyle/>
                    <a:p>
                      <a:pPr algn="ctr"/>
                      <a:r>
                        <a:rPr lang="en-US" altLang="zh-TW" sz="2400" b="0" dirty="0"/>
                        <a:t>18</a:t>
                      </a:r>
                      <a:endParaRPr lang="zh-TW" altLang="en-US" sz="2400" b="0" dirty="0"/>
                    </a:p>
                  </a:txBody>
                  <a:tcPr>
                    <a:solidFill>
                      <a:schemeClr val="bg2"/>
                    </a:solidFill>
                  </a:tcPr>
                </a:tc>
                <a:tc>
                  <a:txBody>
                    <a:bodyPr/>
                    <a:lstStyle/>
                    <a:p>
                      <a:pPr algn="ctr"/>
                      <a:r>
                        <a:rPr lang="en-US" altLang="zh-TW" sz="2400" b="0" dirty="0"/>
                        <a:t>19</a:t>
                      </a:r>
                      <a:endParaRPr lang="zh-TW" altLang="en-US" sz="2400" b="0" dirty="0"/>
                    </a:p>
                  </a:txBody>
                  <a:tcPr>
                    <a:solidFill>
                      <a:schemeClr val="bg2"/>
                    </a:solidFill>
                  </a:tcPr>
                </a:tc>
                <a:tc>
                  <a:txBody>
                    <a:bodyPr/>
                    <a:lstStyle/>
                    <a:p>
                      <a:pPr algn="ctr"/>
                      <a:r>
                        <a:rPr lang="en-US" altLang="zh-TW" sz="2400" b="0" dirty="0"/>
                        <a:t>20</a:t>
                      </a:r>
                      <a:endParaRPr lang="zh-TW" altLang="en-US" sz="2400" b="0" dirty="0"/>
                    </a:p>
                  </a:txBody>
                  <a:tcPr>
                    <a:solidFill>
                      <a:schemeClr val="bg2"/>
                    </a:solidFill>
                  </a:tcPr>
                </a:tc>
                <a:tc>
                  <a:txBody>
                    <a:bodyPr/>
                    <a:lstStyle/>
                    <a:p>
                      <a:pPr algn="ctr"/>
                      <a:r>
                        <a:rPr lang="en-US" altLang="zh-TW" sz="2400" b="0" dirty="0"/>
                        <a:t>21</a:t>
                      </a:r>
                      <a:endParaRPr lang="zh-TW" altLang="en-US" sz="2400" b="0" dirty="0"/>
                    </a:p>
                  </a:txBody>
                  <a:tcPr>
                    <a:solidFill>
                      <a:schemeClr val="bg2"/>
                    </a:solidFill>
                  </a:tcPr>
                </a:tc>
                <a:tc>
                  <a:txBody>
                    <a:bodyPr/>
                    <a:lstStyle/>
                    <a:p>
                      <a:pPr algn="ctr"/>
                      <a:r>
                        <a:rPr lang="en-US" altLang="zh-TW" sz="2400" b="0" dirty="0"/>
                        <a:t>22</a:t>
                      </a:r>
                      <a:endParaRPr lang="zh-TW" altLang="en-US" sz="2400" b="0" dirty="0"/>
                    </a:p>
                  </a:txBody>
                  <a:tcPr>
                    <a:solidFill>
                      <a:schemeClr val="bg2"/>
                    </a:solidFill>
                  </a:tcPr>
                </a:tc>
                <a:tc>
                  <a:txBody>
                    <a:bodyPr/>
                    <a:lstStyle/>
                    <a:p>
                      <a:pPr algn="ctr"/>
                      <a:r>
                        <a:rPr lang="en-US" altLang="zh-TW" sz="2400" b="0" dirty="0"/>
                        <a:t>23</a:t>
                      </a:r>
                      <a:endParaRPr lang="zh-TW" altLang="en-US" sz="2400" b="0" dirty="0"/>
                    </a:p>
                  </a:txBody>
                  <a:tcPr>
                    <a:solidFill>
                      <a:schemeClr val="bg2"/>
                    </a:solidFill>
                  </a:tcPr>
                </a:tc>
                <a:extLst>
                  <a:ext uri="{0D108BD9-81ED-4DB2-BD59-A6C34878D82A}">
                    <a16:rowId xmlns:a16="http://schemas.microsoft.com/office/drawing/2014/main" val="4195531117"/>
                  </a:ext>
                </a:extLst>
              </a:tr>
              <a:tr h="524190">
                <a:tc>
                  <a:txBody>
                    <a:bodyPr/>
                    <a:lstStyle/>
                    <a:p>
                      <a:pPr algn="ctr"/>
                      <a:r>
                        <a:rPr lang="en-US" altLang="zh-TW" sz="2400" b="0" dirty="0"/>
                        <a:t>w</a:t>
                      </a:r>
                      <a:endParaRPr lang="zh-TW" altLang="en-US" sz="2400" b="0" dirty="0"/>
                    </a:p>
                  </a:txBody>
                  <a:tcPr>
                    <a:solidFill>
                      <a:schemeClr val="bg2"/>
                    </a:solidFill>
                  </a:tcPr>
                </a:tc>
                <a:tc>
                  <a:txBody>
                    <a:bodyPr/>
                    <a:lstStyle/>
                    <a:p>
                      <a:pPr algn="ctr"/>
                      <a:r>
                        <a:rPr lang="en-US" altLang="zh-TW" sz="2400" b="0" dirty="0"/>
                        <a:t>c</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a</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x</a:t>
                      </a:r>
                      <a:endParaRPr lang="zh-TW" altLang="en-US" sz="2400" b="0" dirty="0"/>
                    </a:p>
                  </a:txBody>
                  <a:tcPr>
                    <a:solidFill>
                      <a:schemeClr val="accent1"/>
                    </a:solid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a</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x</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a</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c</a:t>
                      </a:r>
                      <a:endParaRPr lang="zh-TW" altLang="en-US" sz="2400" b="0" dirty="0"/>
                    </a:p>
                  </a:txBody>
                  <a:tcPr>
                    <a:noFill/>
                  </a:tcPr>
                </a:tc>
                <a:extLst>
                  <a:ext uri="{0D108BD9-81ED-4DB2-BD59-A6C34878D82A}">
                    <a16:rowId xmlns:a16="http://schemas.microsoft.com/office/drawing/2014/main" val="3474810379"/>
                  </a:ext>
                </a:extLst>
              </a:tr>
              <a:tr h="524190">
                <a:tc>
                  <a:txBody>
                    <a:bodyPr/>
                    <a:lstStyle/>
                    <a:p>
                      <a:pPr algn="ctr"/>
                      <a:r>
                        <a:rPr lang="en-US" altLang="zh-TW" sz="2400" b="0" dirty="0"/>
                        <a:t>r</a:t>
                      </a:r>
                      <a:endParaRPr lang="zh-TW" altLang="en-US" sz="2400" b="0" dirty="0"/>
                    </a:p>
                  </a:txBody>
                  <a:tcPr>
                    <a:solidFill>
                      <a:schemeClr val="bg2"/>
                    </a:solidFill>
                  </a:tcPr>
                </a:tc>
                <a:tc>
                  <a:txBody>
                    <a:bodyPr/>
                    <a:lstStyle/>
                    <a:p>
                      <a:pPr algn="ctr"/>
                      <a:r>
                        <a:rPr lang="en-US" altLang="zh-TW" sz="2400" b="0" dirty="0"/>
                        <a:t>1</a:t>
                      </a:r>
                      <a:endParaRPr lang="zh-TW" altLang="en-US" sz="2400" b="0" dirty="0"/>
                    </a:p>
                  </a:txBody>
                  <a:tcPr>
                    <a:noFill/>
                  </a:tcPr>
                </a:tc>
                <a:tc>
                  <a:txBody>
                    <a:bodyPr/>
                    <a:lstStyle/>
                    <a:p>
                      <a:pPr algn="ctr"/>
                      <a:r>
                        <a:rPr lang="en-US" altLang="zh-TW" sz="2400" b="0" dirty="0"/>
                        <a:t>1</a:t>
                      </a:r>
                      <a:endParaRPr lang="zh-TW" altLang="en-US" sz="2400" b="0" dirty="0"/>
                    </a:p>
                  </a:txBody>
                  <a:tcPr>
                    <a:noFill/>
                  </a:tcPr>
                </a:tc>
                <a:tc>
                  <a:txBody>
                    <a:bodyPr/>
                    <a:lstStyle/>
                    <a:p>
                      <a:pPr algn="ctr"/>
                      <a:r>
                        <a:rPr lang="en-US" altLang="zh-TW" sz="2400" b="0" dirty="0"/>
                        <a:t>2</a:t>
                      </a:r>
                      <a:endParaRPr lang="zh-TW" altLang="en-US" sz="2400" b="0" dirty="0"/>
                    </a:p>
                  </a:txBody>
                  <a:tcPr>
                    <a:noFill/>
                  </a:tcPr>
                </a:tc>
                <a:tc>
                  <a:txBody>
                    <a:bodyPr/>
                    <a:lstStyle/>
                    <a:p>
                      <a:pPr algn="ctr"/>
                      <a:r>
                        <a:rPr lang="en-US" altLang="zh-TW" sz="2400" b="0" dirty="0"/>
                        <a:t>1</a:t>
                      </a:r>
                      <a:endParaRPr lang="zh-TW" altLang="en-US" sz="2400" b="0" dirty="0"/>
                    </a:p>
                  </a:txBody>
                  <a:tcPr>
                    <a:noFill/>
                  </a:tcPr>
                </a:tc>
                <a:tc>
                  <a:txBody>
                    <a:bodyPr/>
                    <a:lstStyle/>
                    <a:p>
                      <a:pPr algn="ctr"/>
                      <a:r>
                        <a:rPr lang="en-US" altLang="zh-TW" sz="2400" b="0" dirty="0"/>
                        <a:t>4</a:t>
                      </a:r>
                      <a:endParaRPr lang="zh-TW" altLang="en-US" sz="2400" b="0" dirty="0"/>
                    </a:p>
                  </a:txBody>
                  <a:tcPr>
                    <a:noFill/>
                  </a:tcPr>
                </a:tc>
                <a:tc>
                  <a:txBody>
                    <a:bodyPr/>
                    <a:lstStyle/>
                    <a:p>
                      <a:pPr algn="ctr"/>
                      <a:r>
                        <a:rPr lang="en-US" altLang="zh-TW" sz="2400" b="0" dirty="0"/>
                        <a:t>1</a:t>
                      </a:r>
                      <a:endParaRPr lang="zh-TW" altLang="en-US" sz="2400" b="0" dirty="0"/>
                    </a:p>
                  </a:txBody>
                  <a:tcPr>
                    <a:noFill/>
                  </a:tcPr>
                </a:tc>
                <a:tc>
                  <a:txBody>
                    <a:bodyPr/>
                    <a:lstStyle/>
                    <a:p>
                      <a:pPr algn="ctr"/>
                      <a:r>
                        <a:rPr lang="en-US" altLang="zh-TW" sz="2400" b="0" dirty="0"/>
                        <a:t>2</a:t>
                      </a:r>
                      <a:endParaRPr lang="zh-TW" altLang="en-US" sz="2400" b="0" dirty="0"/>
                    </a:p>
                  </a:txBody>
                  <a:tcPr>
                    <a:noFill/>
                  </a:tcPr>
                </a:tc>
                <a:tc>
                  <a:txBody>
                    <a:bodyPr/>
                    <a:lstStyle/>
                    <a:p>
                      <a:pPr algn="ctr"/>
                      <a:r>
                        <a:rPr lang="en-US" altLang="zh-TW" sz="2400" b="0" dirty="0"/>
                        <a:t>1</a:t>
                      </a:r>
                      <a:endParaRPr lang="zh-TW" altLang="en-US" sz="2400" b="0" dirty="0"/>
                    </a:p>
                  </a:txBody>
                  <a:tcPr>
                    <a:noFill/>
                  </a:tcPr>
                </a:tc>
                <a:tc>
                  <a:txBody>
                    <a:bodyPr/>
                    <a:lstStyle/>
                    <a:p>
                      <a:pPr algn="ctr"/>
                      <a:r>
                        <a:rPr lang="en-US" altLang="zh-TW" sz="2400" b="0" dirty="0">
                          <a:solidFill>
                            <a:schemeClr val="tx1"/>
                          </a:solidFill>
                        </a:rPr>
                        <a:t>8</a:t>
                      </a:r>
                      <a:endParaRPr lang="zh-TW" altLang="en-US" sz="2400" b="0" dirty="0">
                        <a:solidFill>
                          <a:schemeClr val="tx1"/>
                        </a:solidFill>
                      </a:endParaRPr>
                    </a:p>
                  </a:txBody>
                  <a:tcPr>
                    <a:noFill/>
                  </a:tcPr>
                </a:tc>
                <a:tc>
                  <a:txBody>
                    <a:bodyPr/>
                    <a:lstStyle/>
                    <a:p>
                      <a:pPr algn="ctr"/>
                      <a:r>
                        <a:rPr lang="en-US" altLang="zh-TW" sz="2400" b="0" dirty="0">
                          <a:solidFill>
                            <a:srgbClr val="FF0000"/>
                          </a:solidFill>
                        </a:rPr>
                        <a:t>1</a:t>
                      </a:r>
                      <a:endParaRPr lang="zh-TW" altLang="en-US" sz="2400" b="0" dirty="0">
                        <a:solidFill>
                          <a:srgbClr val="FF0000"/>
                        </a:solidFill>
                      </a:endParaRPr>
                    </a:p>
                  </a:txBody>
                  <a:tcPr>
                    <a:noFill/>
                  </a:tcPr>
                </a:tc>
                <a:tc>
                  <a:txBody>
                    <a:bodyPr/>
                    <a:lstStyle/>
                    <a:p>
                      <a:pPr algn="ctr"/>
                      <a:r>
                        <a:rPr lang="en-US" altLang="zh-TW" sz="2400" b="0" dirty="0">
                          <a:solidFill>
                            <a:srgbClr val="FF0000"/>
                          </a:solidFill>
                        </a:rPr>
                        <a:t>2</a:t>
                      </a:r>
                      <a:endParaRPr lang="zh-TW" altLang="en-US" sz="2400" b="0" dirty="0">
                        <a:solidFill>
                          <a:srgbClr val="FF0000"/>
                        </a:solidFill>
                      </a:endParaRPr>
                    </a:p>
                  </a:txBody>
                  <a:tcPr>
                    <a:noFill/>
                  </a:tcPr>
                </a:tc>
                <a:tc>
                  <a:txBody>
                    <a:bodyPr/>
                    <a:lstStyle/>
                    <a:p>
                      <a:pPr algn="ctr"/>
                      <a:r>
                        <a:rPr lang="en-US" altLang="zh-TW" sz="2400" b="0" dirty="0">
                          <a:solidFill>
                            <a:srgbClr val="FF0000"/>
                          </a:solidFill>
                        </a:rPr>
                        <a:t>1</a:t>
                      </a:r>
                      <a:endParaRPr lang="zh-TW" altLang="en-US" sz="2400" b="0" dirty="0">
                        <a:solidFill>
                          <a:srgbClr val="FF0000"/>
                        </a:solidFill>
                      </a:endParaRPr>
                    </a:p>
                  </a:txBody>
                  <a:tcPr>
                    <a:noFill/>
                  </a:tcPr>
                </a:tc>
                <a:tc>
                  <a:txBody>
                    <a:bodyPr/>
                    <a:lstStyle/>
                    <a:p>
                      <a:pPr algn="ctr"/>
                      <a:r>
                        <a:rPr lang="en-US" altLang="zh-TW" sz="2400" b="0" dirty="0">
                          <a:solidFill>
                            <a:srgbClr val="FF0000"/>
                          </a:solidFill>
                        </a:rPr>
                        <a:t>10</a:t>
                      </a:r>
                      <a:endParaRPr lang="zh-TW" altLang="en-US" sz="2400" b="0" dirty="0">
                        <a:solidFill>
                          <a:srgbClr val="FF0000"/>
                        </a:solidFill>
                      </a:endParaRPr>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tc>
                  <a:txBody>
                    <a:bodyPr/>
                    <a:lstStyle/>
                    <a:p>
                      <a:pPr algn="ctr"/>
                      <a:endParaRPr lang="zh-TW" altLang="en-US" sz="2400" b="0" dirty="0"/>
                    </a:p>
                  </a:txBody>
                  <a:tcPr>
                    <a:noFill/>
                  </a:tcPr>
                </a:tc>
                <a:extLst>
                  <a:ext uri="{0D108BD9-81ED-4DB2-BD59-A6C34878D82A}">
                    <a16:rowId xmlns:a16="http://schemas.microsoft.com/office/drawing/2014/main" val="2333122955"/>
                  </a:ext>
                </a:extLst>
              </a:tr>
            </a:tbl>
          </a:graphicData>
        </a:graphic>
      </p:graphicFrame>
      <p:sp>
        <p:nvSpPr>
          <p:cNvPr id="5" name="左中括弧 4">
            <a:extLst>
              <a:ext uri="{FF2B5EF4-FFF2-40B4-BE49-F238E27FC236}">
                <a16:creationId xmlns:a16="http://schemas.microsoft.com/office/drawing/2014/main" id="{478D00DF-11F0-08AF-2597-A593BBC698F9}"/>
              </a:ext>
            </a:extLst>
          </p:cNvPr>
          <p:cNvSpPr/>
          <p:nvPr/>
        </p:nvSpPr>
        <p:spPr>
          <a:xfrm rot="5400000">
            <a:off x="4636351" y="-124455"/>
            <a:ext cx="357643" cy="6971974"/>
          </a:xfrm>
          <a:prstGeom prst="leftBracket">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Tree>
    <p:extLst>
      <p:ext uri="{BB962C8B-B14F-4D97-AF65-F5344CB8AC3E}">
        <p14:creationId xmlns:p14="http://schemas.microsoft.com/office/powerpoint/2010/main" val="423902650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pc="-1" dirty="0" err="1">
                <a:solidFill>
                  <a:srgbClr val="000000"/>
                </a:solidFill>
                <a:latin typeface="Times New Roman" pitchFamily="18" charset="0"/>
                <a:cs typeface="Times New Roman" pitchFamily="18" charset="0"/>
              </a:rPr>
              <a:t>Manacher’s</a:t>
            </a:r>
            <a:r>
              <a:rPr lang="en-US" altLang="zh-TW" spc="-1" dirty="0">
                <a:solidFill>
                  <a:srgbClr val="000000"/>
                </a:solidFill>
                <a:latin typeface="Times New Roman" pitchFamily="18" charset="0"/>
                <a:cs typeface="Times New Roman" pitchFamily="18" charset="0"/>
              </a:rPr>
              <a:t> Algorithm (6/7)</a:t>
            </a: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200" y="1825625"/>
                <a:ext cx="10515600" cy="4351338"/>
              </a:xfrm>
            </p:spPr>
            <p:txBody>
              <a:bodyPr>
                <a:normAutofit/>
              </a:bodyPr>
              <a:lstStyle/>
              <a:p>
                <a:pPr marL="457560" indent="-457200">
                  <a:spcBef>
                    <a:spcPts val="561"/>
                  </a:spcBef>
                  <a:buClr>
                    <a:srgbClr val="000000"/>
                  </a:buClr>
                </a:pPr>
                <a14:m>
                  <m:oMath xmlns:m="http://schemas.openxmlformats.org/officeDocument/2006/math">
                    <m:r>
                      <a:rPr lang="en-US" altLang="zh-TW" i="1" spc="-1" smtClean="0">
                        <a:solidFill>
                          <a:srgbClr val="000000"/>
                        </a:solidFill>
                        <a:latin typeface="Cambria Math" panose="02040503050406030204" pitchFamily="18" charset="0"/>
                      </a:rPr>
                      <m:t>𝑤</m:t>
                    </m:r>
                  </m:oMath>
                </a14:m>
                <a:r>
                  <a:rPr lang="en-US" altLang="zh-TW" spc="-1" dirty="0">
                    <a:solidFill>
                      <a:srgbClr val="000000"/>
                    </a:solidFill>
                    <a:latin typeface="Times New Roman"/>
                  </a:rPr>
                  <a:t> = </a:t>
                </a:r>
                <a:r>
                  <a:rPr lang="en-US" altLang="zh-TW" spc="-1" dirty="0" err="1"/>
                  <a:t>cbabxbabxbac</a:t>
                </a:r>
                <a:endParaRPr lang="en-US" altLang="zh-TW" spc="-1" dirty="0"/>
              </a:p>
              <a:p>
                <a:pPr marL="360" indent="0">
                  <a:spcBef>
                    <a:spcPts val="561"/>
                  </a:spcBef>
                  <a:buClr>
                    <a:srgbClr val="000000"/>
                  </a:buClr>
                  <a:buNone/>
                </a:pPr>
                <a:endParaRPr lang="en-US" altLang="zh-TW" spc="-1" dirty="0">
                  <a:solidFill>
                    <a:srgbClr val="000000"/>
                  </a:solidFill>
                  <a:latin typeface="Times New Roman"/>
                </a:endParaRPr>
              </a:p>
              <a:p>
                <a:pPr marL="360" indent="0">
                  <a:spcBef>
                    <a:spcPts val="561"/>
                  </a:spcBef>
                  <a:buClr>
                    <a:srgbClr val="000000"/>
                  </a:buClr>
                  <a:buNone/>
                </a:pPr>
                <a:endParaRPr lang="en-US" altLang="zh-TW" spc="-1" dirty="0">
                  <a:solidFill>
                    <a:srgbClr val="000000"/>
                  </a:solidFill>
                  <a:latin typeface="Times New Roman"/>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200" y="1825625"/>
                <a:ext cx="10515600" cy="4351338"/>
              </a:xfrm>
              <a:blipFill>
                <a:blip r:embed="rId2"/>
                <a:stretch>
                  <a:fillRect t="-2381"/>
                </a:stretch>
              </a:blipFill>
            </p:spPr>
            <p:txBody>
              <a:bodyPr/>
              <a:lstStyle/>
              <a:p>
                <a:r>
                  <a:rPr lang="zh-TW" altLang="en-US">
                    <a:noFill/>
                  </a:rPr>
                  <a:t> </a:t>
                </a:r>
              </a:p>
            </p:txBody>
          </p:sp>
        </mc:Fallback>
      </mc:AlternateContent>
      <p:graphicFrame>
        <p:nvGraphicFramePr>
          <p:cNvPr id="4" name="表格 4">
            <a:extLst>
              <a:ext uri="{FF2B5EF4-FFF2-40B4-BE49-F238E27FC236}">
                <a16:creationId xmlns:a16="http://schemas.microsoft.com/office/drawing/2014/main" id="{318AF3AC-BA55-DD3A-E640-E854684713E7}"/>
              </a:ext>
            </a:extLst>
          </p:cNvPr>
          <p:cNvGraphicFramePr>
            <a:graphicFrameLocks noGrp="1"/>
          </p:cNvGraphicFramePr>
          <p:nvPr>
            <p:extLst>
              <p:ext uri="{D42A27DB-BD31-4B8C-83A1-F6EECF244321}">
                <p14:modId xmlns:p14="http://schemas.microsoft.com/office/powerpoint/2010/main" val="3449216431"/>
              </p:ext>
            </p:extLst>
          </p:nvPr>
        </p:nvGraphicFramePr>
        <p:xfrm>
          <a:off x="144444" y="3675290"/>
          <a:ext cx="11903112" cy="1572570"/>
        </p:xfrm>
        <a:graphic>
          <a:graphicData uri="http://schemas.openxmlformats.org/drawingml/2006/table">
            <a:tbl>
              <a:tblPr firstRow="1" bandRow="1">
                <a:tableStyleId>{E8B1032C-EA38-4F05-BA0D-38AFFFC7BED3}</a:tableStyleId>
              </a:tblPr>
              <a:tblGrid>
                <a:gridCol w="495963">
                  <a:extLst>
                    <a:ext uri="{9D8B030D-6E8A-4147-A177-3AD203B41FA5}">
                      <a16:colId xmlns:a16="http://schemas.microsoft.com/office/drawing/2014/main" val="3687563117"/>
                    </a:ext>
                  </a:extLst>
                </a:gridCol>
                <a:gridCol w="495963">
                  <a:extLst>
                    <a:ext uri="{9D8B030D-6E8A-4147-A177-3AD203B41FA5}">
                      <a16:colId xmlns:a16="http://schemas.microsoft.com/office/drawing/2014/main" val="3458925501"/>
                    </a:ext>
                  </a:extLst>
                </a:gridCol>
                <a:gridCol w="495963">
                  <a:extLst>
                    <a:ext uri="{9D8B030D-6E8A-4147-A177-3AD203B41FA5}">
                      <a16:colId xmlns:a16="http://schemas.microsoft.com/office/drawing/2014/main" val="4030832065"/>
                    </a:ext>
                  </a:extLst>
                </a:gridCol>
                <a:gridCol w="495963">
                  <a:extLst>
                    <a:ext uri="{9D8B030D-6E8A-4147-A177-3AD203B41FA5}">
                      <a16:colId xmlns:a16="http://schemas.microsoft.com/office/drawing/2014/main" val="1724438594"/>
                    </a:ext>
                  </a:extLst>
                </a:gridCol>
                <a:gridCol w="495963">
                  <a:extLst>
                    <a:ext uri="{9D8B030D-6E8A-4147-A177-3AD203B41FA5}">
                      <a16:colId xmlns:a16="http://schemas.microsoft.com/office/drawing/2014/main" val="4209229924"/>
                    </a:ext>
                  </a:extLst>
                </a:gridCol>
                <a:gridCol w="495963">
                  <a:extLst>
                    <a:ext uri="{9D8B030D-6E8A-4147-A177-3AD203B41FA5}">
                      <a16:colId xmlns:a16="http://schemas.microsoft.com/office/drawing/2014/main" val="2908390315"/>
                    </a:ext>
                  </a:extLst>
                </a:gridCol>
                <a:gridCol w="495963">
                  <a:extLst>
                    <a:ext uri="{9D8B030D-6E8A-4147-A177-3AD203B41FA5}">
                      <a16:colId xmlns:a16="http://schemas.microsoft.com/office/drawing/2014/main" val="1002060645"/>
                    </a:ext>
                  </a:extLst>
                </a:gridCol>
                <a:gridCol w="495963">
                  <a:extLst>
                    <a:ext uri="{9D8B030D-6E8A-4147-A177-3AD203B41FA5}">
                      <a16:colId xmlns:a16="http://schemas.microsoft.com/office/drawing/2014/main" val="2341577556"/>
                    </a:ext>
                  </a:extLst>
                </a:gridCol>
                <a:gridCol w="495963">
                  <a:extLst>
                    <a:ext uri="{9D8B030D-6E8A-4147-A177-3AD203B41FA5}">
                      <a16:colId xmlns:a16="http://schemas.microsoft.com/office/drawing/2014/main" val="476296480"/>
                    </a:ext>
                  </a:extLst>
                </a:gridCol>
                <a:gridCol w="495963">
                  <a:extLst>
                    <a:ext uri="{9D8B030D-6E8A-4147-A177-3AD203B41FA5}">
                      <a16:colId xmlns:a16="http://schemas.microsoft.com/office/drawing/2014/main" val="1461677071"/>
                    </a:ext>
                  </a:extLst>
                </a:gridCol>
                <a:gridCol w="495963">
                  <a:extLst>
                    <a:ext uri="{9D8B030D-6E8A-4147-A177-3AD203B41FA5}">
                      <a16:colId xmlns:a16="http://schemas.microsoft.com/office/drawing/2014/main" val="2307505867"/>
                    </a:ext>
                  </a:extLst>
                </a:gridCol>
                <a:gridCol w="495963">
                  <a:extLst>
                    <a:ext uri="{9D8B030D-6E8A-4147-A177-3AD203B41FA5}">
                      <a16:colId xmlns:a16="http://schemas.microsoft.com/office/drawing/2014/main" val="886355715"/>
                    </a:ext>
                  </a:extLst>
                </a:gridCol>
                <a:gridCol w="495963">
                  <a:extLst>
                    <a:ext uri="{9D8B030D-6E8A-4147-A177-3AD203B41FA5}">
                      <a16:colId xmlns:a16="http://schemas.microsoft.com/office/drawing/2014/main" val="2723366198"/>
                    </a:ext>
                  </a:extLst>
                </a:gridCol>
                <a:gridCol w="495963">
                  <a:extLst>
                    <a:ext uri="{9D8B030D-6E8A-4147-A177-3AD203B41FA5}">
                      <a16:colId xmlns:a16="http://schemas.microsoft.com/office/drawing/2014/main" val="2787038888"/>
                    </a:ext>
                  </a:extLst>
                </a:gridCol>
                <a:gridCol w="495963">
                  <a:extLst>
                    <a:ext uri="{9D8B030D-6E8A-4147-A177-3AD203B41FA5}">
                      <a16:colId xmlns:a16="http://schemas.microsoft.com/office/drawing/2014/main" val="2588476093"/>
                    </a:ext>
                  </a:extLst>
                </a:gridCol>
                <a:gridCol w="495963">
                  <a:extLst>
                    <a:ext uri="{9D8B030D-6E8A-4147-A177-3AD203B41FA5}">
                      <a16:colId xmlns:a16="http://schemas.microsoft.com/office/drawing/2014/main" val="4087603699"/>
                    </a:ext>
                  </a:extLst>
                </a:gridCol>
                <a:gridCol w="495963">
                  <a:extLst>
                    <a:ext uri="{9D8B030D-6E8A-4147-A177-3AD203B41FA5}">
                      <a16:colId xmlns:a16="http://schemas.microsoft.com/office/drawing/2014/main" val="2550113863"/>
                    </a:ext>
                  </a:extLst>
                </a:gridCol>
                <a:gridCol w="495963">
                  <a:extLst>
                    <a:ext uri="{9D8B030D-6E8A-4147-A177-3AD203B41FA5}">
                      <a16:colId xmlns:a16="http://schemas.microsoft.com/office/drawing/2014/main" val="977347673"/>
                    </a:ext>
                  </a:extLst>
                </a:gridCol>
                <a:gridCol w="495963">
                  <a:extLst>
                    <a:ext uri="{9D8B030D-6E8A-4147-A177-3AD203B41FA5}">
                      <a16:colId xmlns:a16="http://schemas.microsoft.com/office/drawing/2014/main" val="3240576578"/>
                    </a:ext>
                  </a:extLst>
                </a:gridCol>
                <a:gridCol w="495963">
                  <a:extLst>
                    <a:ext uri="{9D8B030D-6E8A-4147-A177-3AD203B41FA5}">
                      <a16:colId xmlns:a16="http://schemas.microsoft.com/office/drawing/2014/main" val="4183886762"/>
                    </a:ext>
                  </a:extLst>
                </a:gridCol>
                <a:gridCol w="495963">
                  <a:extLst>
                    <a:ext uri="{9D8B030D-6E8A-4147-A177-3AD203B41FA5}">
                      <a16:colId xmlns:a16="http://schemas.microsoft.com/office/drawing/2014/main" val="748801735"/>
                    </a:ext>
                  </a:extLst>
                </a:gridCol>
                <a:gridCol w="495963">
                  <a:extLst>
                    <a:ext uri="{9D8B030D-6E8A-4147-A177-3AD203B41FA5}">
                      <a16:colId xmlns:a16="http://schemas.microsoft.com/office/drawing/2014/main" val="2312860317"/>
                    </a:ext>
                  </a:extLst>
                </a:gridCol>
                <a:gridCol w="495963">
                  <a:extLst>
                    <a:ext uri="{9D8B030D-6E8A-4147-A177-3AD203B41FA5}">
                      <a16:colId xmlns:a16="http://schemas.microsoft.com/office/drawing/2014/main" val="4232901803"/>
                    </a:ext>
                  </a:extLst>
                </a:gridCol>
                <a:gridCol w="495963">
                  <a:extLst>
                    <a:ext uri="{9D8B030D-6E8A-4147-A177-3AD203B41FA5}">
                      <a16:colId xmlns:a16="http://schemas.microsoft.com/office/drawing/2014/main" val="1893531490"/>
                    </a:ext>
                  </a:extLst>
                </a:gridCol>
              </a:tblGrid>
              <a:tr h="524190">
                <a:tc>
                  <a:txBody>
                    <a:bodyPr/>
                    <a:lstStyle/>
                    <a:p>
                      <a:pPr algn="ctr"/>
                      <a:r>
                        <a:rPr lang="en-US" altLang="zh-TW" sz="2400" b="0" dirty="0" err="1"/>
                        <a:t>i</a:t>
                      </a:r>
                      <a:endParaRPr lang="zh-TW" altLang="en-US" sz="2400" b="0" dirty="0"/>
                    </a:p>
                  </a:txBody>
                  <a:tcPr>
                    <a:solidFill>
                      <a:schemeClr val="bg2"/>
                    </a:solidFill>
                  </a:tcPr>
                </a:tc>
                <a:tc>
                  <a:txBody>
                    <a:bodyPr/>
                    <a:lstStyle/>
                    <a:p>
                      <a:pPr algn="ctr"/>
                      <a:r>
                        <a:rPr lang="en-US" altLang="zh-TW" sz="2400" b="0" dirty="0"/>
                        <a:t>1</a:t>
                      </a:r>
                      <a:endParaRPr lang="zh-TW" altLang="en-US" sz="2400" b="0" dirty="0"/>
                    </a:p>
                  </a:txBody>
                  <a:tcPr>
                    <a:solidFill>
                      <a:schemeClr val="bg2"/>
                    </a:solidFill>
                  </a:tcPr>
                </a:tc>
                <a:tc>
                  <a:txBody>
                    <a:bodyPr/>
                    <a:lstStyle/>
                    <a:p>
                      <a:pPr algn="ctr"/>
                      <a:r>
                        <a:rPr lang="en-US" altLang="zh-TW" sz="2400" b="0" dirty="0"/>
                        <a:t>2</a:t>
                      </a:r>
                      <a:endParaRPr lang="zh-TW" altLang="en-US" sz="2400" b="0" dirty="0"/>
                    </a:p>
                  </a:txBody>
                  <a:tcPr>
                    <a:solidFill>
                      <a:schemeClr val="bg2"/>
                    </a:solidFill>
                  </a:tcPr>
                </a:tc>
                <a:tc>
                  <a:txBody>
                    <a:bodyPr/>
                    <a:lstStyle/>
                    <a:p>
                      <a:pPr algn="ctr"/>
                      <a:r>
                        <a:rPr lang="en-US" altLang="zh-TW" sz="2400" b="0" dirty="0"/>
                        <a:t>3</a:t>
                      </a:r>
                      <a:endParaRPr lang="zh-TW" altLang="en-US" sz="2400" b="0" dirty="0"/>
                    </a:p>
                  </a:txBody>
                  <a:tcPr>
                    <a:solidFill>
                      <a:schemeClr val="bg2"/>
                    </a:solidFill>
                  </a:tcPr>
                </a:tc>
                <a:tc>
                  <a:txBody>
                    <a:bodyPr/>
                    <a:lstStyle/>
                    <a:p>
                      <a:pPr algn="ctr"/>
                      <a:r>
                        <a:rPr lang="en-US" altLang="zh-TW" sz="2400" b="0" dirty="0"/>
                        <a:t>4</a:t>
                      </a:r>
                      <a:endParaRPr lang="zh-TW" altLang="en-US" sz="2400" b="0" dirty="0"/>
                    </a:p>
                  </a:txBody>
                  <a:tcPr>
                    <a:solidFill>
                      <a:schemeClr val="bg2"/>
                    </a:solidFill>
                  </a:tcPr>
                </a:tc>
                <a:tc>
                  <a:txBody>
                    <a:bodyPr/>
                    <a:lstStyle/>
                    <a:p>
                      <a:pPr algn="ctr"/>
                      <a:r>
                        <a:rPr lang="en-US" altLang="zh-TW" sz="2400" b="0" dirty="0"/>
                        <a:t>5</a:t>
                      </a:r>
                      <a:endParaRPr lang="zh-TW" altLang="en-US" sz="2400" b="0" dirty="0"/>
                    </a:p>
                  </a:txBody>
                  <a:tcPr>
                    <a:solidFill>
                      <a:schemeClr val="bg2"/>
                    </a:solidFill>
                  </a:tcPr>
                </a:tc>
                <a:tc>
                  <a:txBody>
                    <a:bodyPr/>
                    <a:lstStyle/>
                    <a:p>
                      <a:pPr algn="ctr"/>
                      <a:r>
                        <a:rPr lang="en-US" altLang="zh-TW" sz="2400" b="0" dirty="0"/>
                        <a:t>6</a:t>
                      </a:r>
                      <a:endParaRPr lang="zh-TW" altLang="en-US" sz="2400" b="0" dirty="0"/>
                    </a:p>
                  </a:txBody>
                  <a:tcPr>
                    <a:solidFill>
                      <a:schemeClr val="bg2"/>
                    </a:solidFill>
                  </a:tcPr>
                </a:tc>
                <a:tc>
                  <a:txBody>
                    <a:bodyPr/>
                    <a:lstStyle/>
                    <a:p>
                      <a:pPr algn="ctr"/>
                      <a:r>
                        <a:rPr lang="en-US" altLang="zh-TW" sz="2400" b="0" dirty="0"/>
                        <a:t>7</a:t>
                      </a:r>
                      <a:endParaRPr lang="zh-TW" altLang="en-US" sz="2400" b="0" dirty="0"/>
                    </a:p>
                  </a:txBody>
                  <a:tcPr>
                    <a:solidFill>
                      <a:schemeClr val="bg2"/>
                    </a:solidFill>
                  </a:tcPr>
                </a:tc>
                <a:tc>
                  <a:txBody>
                    <a:bodyPr/>
                    <a:lstStyle/>
                    <a:p>
                      <a:pPr algn="ctr"/>
                      <a:r>
                        <a:rPr lang="en-US" altLang="zh-TW" sz="2400" b="0" dirty="0"/>
                        <a:t>8</a:t>
                      </a:r>
                      <a:endParaRPr lang="zh-TW" altLang="en-US" sz="2400" b="0" dirty="0"/>
                    </a:p>
                  </a:txBody>
                  <a:tcPr>
                    <a:solidFill>
                      <a:schemeClr val="bg2"/>
                    </a:solidFill>
                  </a:tcPr>
                </a:tc>
                <a:tc>
                  <a:txBody>
                    <a:bodyPr/>
                    <a:lstStyle/>
                    <a:p>
                      <a:pPr algn="ctr"/>
                      <a:r>
                        <a:rPr lang="en-US" altLang="zh-TW" sz="2400" b="0" dirty="0"/>
                        <a:t>9</a:t>
                      </a:r>
                      <a:endParaRPr lang="zh-TW" altLang="en-US" sz="2400" b="0" dirty="0"/>
                    </a:p>
                  </a:txBody>
                  <a:tcPr>
                    <a:solidFill>
                      <a:schemeClr val="bg2"/>
                    </a:solidFill>
                  </a:tcPr>
                </a:tc>
                <a:tc>
                  <a:txBody>
                    <a:bodyPr/>
                    <a:lstStyle/>
                    <a:p>
                      <a:pPr algn="ctr"/>
                      <a:r>
                        <a:rPr lang="en-US" altLang="zh-TW" sz="2400" b="0" dirty="0"/>
                        <a:t>10</a:t>
                      </a:r>
                      <a:endParaRPr lang="zh-TW" altLang="en-US" sz="2400" b="0" dirty="0"/>
                    </a:p>
                  </a:txBody>
                  <a:tcPr>
                    <a:solidFill>
                      <a:schemeClr val="bg2"/>
                    </a:solidFill>
                  </a:tcPr>
                </a:tc>
                <a:tc>
                  <a:txBody>
                    <a:bodyPr/>
                    <a:lstStyle/>
                    <a:p>
                      <a:pPr algn="ctr"/>
                      <a:r>
                        <a:rPr lang="en-US" altLang="zh-TW" sz="2400" b="0" dirty="0"/>
                        <a:t>11</a:t>
                      </a:r>
                      <a:endParaRPr lang="zh-TW" altLang="en-US" sz="2400" b="0" dirty="0"/>
                    </a:p>
                  </a:txBody>
                  <a:tcPr>
                    <a:solidFill>
                      <a:schemeClr val="bg2"/>
                    </a:solidFill>
                  </a:tcPr>
                </a:tc>
                <a:tc>
                  <a:txBody>
                    <a:bodyPr/>
                    <a:lstStyle/>
                    <a:p>
                      <a:pPr algn="ctr"/>
                      <a:r>
                        <a:rPr lang="en-US" altLang="zh-TW" sz="2400" b="0" dirty="0"/>
                        <a:t>12</a:t>
                      </a:r>
                      <a:endParaRPr lang="zh-TW" altLang="en-US" sz="2400" b="0" dirty="0"/>
                    </a:p>
                  </a:txBody>
                  <a:tcPr>
                    <a:solidFill>
                      <a:schemeClr val="bg2"/>
                    </a:solidFill>
                  </a:tcPr>
                </a:tc>
                <a:tc>
                  <a:txBody>
                    <a:bodyPr/>
                    <a:lstStyle/>
                    <a:p>
                      <a:pPr algn="ctr"/>
                      <a:r>
                        <a:rPr lang="en-US" altLang="zh-TW" sz="2400" b="0" dirty="0"/>
                        <a:t>13</a:t>
                      </a:r>
                      <a:endParaRPr lang="zh-TW" altLang="en-US" sz="2400" b="0" dirty="0"/>
                    </a:p>
                  </a:txBody>
                  <a:tcPr>
                    <a:solidFill>
                      <a:schemeClr val="bg2"/>
                    </a:solidFill>
                  </a:tcPr>
                </a:tc>
                <a:tc>
                  <a:txBody>
                    <a:bodyPr/>
                    <a:lstStyle/>
                    <a:p>
                      <a:pPr algn="ctr"/>
                      <a:r>
                        <a:rPr lang="en-US" altLang="zh-TW" sz="2400" b="0" dirty="0"/>
                        <a:t>14</a:t>
                      </a:r>
                      <a:endParaRPr lang="zh-TW" altLang="en-US" sz="2400" b="0" dirty="0"/>
                    </a:p>
                  </a:txBody>
                  <a:tcPr>
                    <a:solidFill>
                      <a:schemeClr val="bg2"/>
                    </a:solidFill>
                  </a:tcPr>
                </a:tc>
                <a:tc>
                  <a:txBody>
                    <a:bodyPr/>
                    <a:lstStyle/>
                    <a:p>
                      <a:pPr algn="ctr"/>
                      <a:r>
                        <a:rPr lang="en-US" altLang="zh-TW" sz="2400" b="0" dirty="0"/>
                        <a:t>15</a:t>
                      </a:r>
                      <a:endParaRPr lang="zh-TW" altLang="en-US" sz="2400" b="0" dirty="0"/>
                    </a:p>
                  </a:txBody>
                  <a:tcPr>
                    <a:solidFill>
                      <a:schemeClr val="bg2"/>
                    </a:solidFill>
                  </a:tcPr>
                </a:tc>
                <a:tc>
                  <a:txBody>
                    <a:bodyPr/>
                    <a:lstStyle/>
                    <a:p>
                      <a:pPr algn="ctr"/>
                      <a:r>
                        <a:rPr lang="en-US" altLang="zh-TW" sz="2400" b="0" dirty="0"/>
                        <a:t>16</a:t>
                      </a:r>
                      <a:endParaRPr lang="zh-TW" altLang="en-US" sz="2400" b="0" dirty="0"/>
                    </a:p>
                  </a:txBody>
                  <a:tcPr>
                    <a:solidFill>
                      <a:schemeClr val="bg2"/>
                    </a:solidFill>
                  </a:tcPr>
                </a:tc>
                <a:tc>
                  <a:txBody>
                    <a:bodyPr/>
                    <a:lstStyle/>
                    <a:p>
                      <a:pPr algn="ctr"/>
                      <a:r>
                        <a:rPr lang="en-US" altLang="zh-TW" sz="2400" b="0" dirty="0"/>
                        <a:t>17</a:t>
                      </a:r>
                      <a:endParaRPr lang="zh-TW" altLang="en-US" sz="2400" b="0" dirty="0"/>
                    </a:p>
                  </a:txBody>
                  <a:tcPr>
                    <a:solidFill>
                      <a:schemeClr val="bg2"/>
                    </a:solidFill>
                  </a:tcPr>
                </a:tc>
                <a:tc>
                  <a:txBody>
                    <a:bodyPr/>
                    <a:lstStyle/>
                    <a:p>
                      <a:pPr algn="ctr"/>
                      <a:r>
                        <a:rPr lang="en-US" altLang="zh-TW" sz="2400" b="0" dirty="0"/>
                        <a:t>18</a:t>
                      </a:r>
                      <a:endParaRPr lang="zh-TW" altLang="en-US" sz="2400" b="0" dirty="0"/>
                    </a:p>
                  </a:txBody>
                  <a:tcPr>
                    <a:solidFill>
                      <a:schemeClr val="bg2"/>
                    </a:solidFill>
                  </a:tcPr>
                </a:tc>
                <a:tc>
                  <a:txBody>
                    <a:bodyPr/>
                    <a:lstStyle/>
                    <a:p>
                      <a:pPr algn="ctr"/>
                      <a:r>
                        <a:rPr lang="en-US" altLang="zh-TW" sz="2400" b="0" dirty="0"/>
                        <a:t>19</a:t>
                      </a:r>
                      <a:endParaRPr lang="zh-TW" altLang="en-US" sz="2400" b="0" dirty="0"/>
                    </a:p>
                  </a:txBody>
                  <a:tcPr>
                    <a:solidFill>
                      <a:schemeClr val="bg2"/>
                    </a:solidFill>
                  </a:tcPr>
                </a:tc>
                <a:tc>
                  <a:txBody>
                    <a:bodyPr/>
                    <a:lstStyle/>
                    <a:p>
                      <a:pPr algn="ctr"/>
                      <a:r>
                        <a:rPr lang="en-US" altLang="zh-TW" sz="2400" b="0" dirty="0"/>
                        <a:t>20</a:t>
                      </a:r>
                      <a:endParaRPr lang="zh-TW" altLang="en-US" sz="2400" b="0" dirty="0"/>
                    </a:p>
                  </a:txBody>
                  <a:tcPr>
                    <a:solidFill>
                      <a:schemeClr val="bg2"/>
                    </a:solidFill>
                  </a:tcPr>
                </a:tc>
                <a:tc>
                  <a:txBody>
                    <a:bodyPr/>
                    <a:lstStyle/>
                    <a:p>
                      <a:pPr algn="ctr"/>
                      <a:r>
                        <a:rPr lang="en-US" altLang="zh-TW" sz="2400" b="0" dirty="0"/>
                        <a:t>21</a:t>
                      </a:r>
                      <a:endParaRPr lang="zh-TW" altLang="en-US" sz="2400" b="0" dirty="0"/>
                    </a:p>
                  </a:txBody>
                  <a:tcPr>
                    <a:solidFill>
                      <a:schemeClr val="bg2"/>
                    </a:solidFill>
                  </a:tcPr>
                </a:tc>
                <a:tc>
                  <a:txBody>
                    <a:bodyPr/>
                    <a:lstStyle/>
                    <a:p>
                      <a:pPr algn="ctr"/>
                      <a:r>
                        <a:rPr lang="en-US" altLang="zh-TW" sz="2400" b="0" dirty="0"/>
                        <a:t>22</a:t>
                      </a:r>
                      <a:endParaRPr lang="zh-TW" altLang="en-US" sz="2400" b="0" dirty="0"/>
                    </a:p>
                  </a:txBody>
                  <a:tcPr>
                    <a:solidFill>
                      <a:schemeClr val="bg2"/>
                    </a:solidFill>
                  </a:tcPr>
                </a:tc>
                <a:tc>
                  <a:txBody>
                    <a:bodyPr/>
                    <a:lstStyle/>
                    <a:p>
                      <a:pPr algn="ctr"/>
                      <a:r>
                        <a:rPr lang="en-US" altLang="zh-TW" sz="2400" b="0" dirty="0"/>
                        <a:t>23</a:t>
                      </a:r>
                      <a:endParaRPr lang="zh-TW" altLang="en-US" sz="2400" b="0" dirty="0"/>
                    </a:p>
                  </a:txBody>
                  <a:tcPr>
                    <a:solidFill>
                      <a:schemeClr val="bg2"/>
                    </a:solidFill>
                  </a:tcPr>
                </a:tc>
                <a:extLst>
                  <a:ext uri="{0D108BD9-81ED-4DB2-BD59-A6C34878D82A}">
                    <a16:rowId xmlns:a16="http://schemas.microsoft.com/office/drawing/2014/main" val="4195531117"/>
                  </a:ext>
                </a:extLst>
              </a:tr>
              <a:tr h="524190">
                <a:tc>
                  <a:txBody>
                    <a:bodyPr/>
                    <a:lstStyle/>
                    <a:p>
                      <a:pPr algn="ctr"/>
                      <a:r>
                        <a:rPr lang="en-US" altLang="zh-TW" sz="2400" b="0" dirty="0"/>
                        <a:t>w</a:t>
                      </a:r>
                      <a:endParaRPr lang="zh-TW" altLang="en-US" sz="2400" b="0" dirty="0"/>
                    </a:p>
                  </a:txBody>
                  <a:tcPr>
                    <a:solidFill>
                      <a:schemeClr val="bg2"/>
                    </a:solidFill>
                  </a:tcPr>
                </a:tc>
                <a:tc>
                  <a:txBody>
                    <a:bodyPr/>
                    <a:lstStyle/>
                    <a:p>
                      <a:pPr algn="ctr"/>
                      <a:r>
                        <a:rPr lang="en-US" altLang="zh-TW" sz="2400" b="0" dirty="0"/>
                        <a:t>c</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a</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x</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a</a:t>
                      </a:r>
                      <a:endParaRPr lang="zh-TW" altLang="en-US" sz="2400" b="0" dirty="0"/>
                    </a:p>
                  </a:txBody>
                  <a:tcPr>
                    <a:solidFill>
                      <a:schemeClr val="accent1"/>
                    </a:solid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x</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a</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c</a:t>
                      </a:r>
                      <a:endParaRPr lang="zh-TW" altLang="en-US" sz="2400" b="0" dirty="0"/>
                    </a:p>
                  </a:txBody>
                  <a:tcPr>
                    <a:noFill/>
                  </a:tcPr>
                </a:tc>
                <a:extLst>
                  <a:ext uri="{0D108BD9-81ED-4DB2-BD59-A6C34878D82A}">
                    <a16:rowId xmlns:a16="http://schemas.microsoft.com/office/drawing/2014/main" val="3474810379"/>
                  </a:ext>
                </a:extLst>
              </a:tr>
              <a:tr h="524190">
                <a:tc>
                  <a:txBody>
                    <a:bodyPr/>
                    <a:lstStyle/>
                    <a:p>
                      <a:pPr algn="ctr"/>
                      <a:r>
                        <a:rPr lang="en-US" altLang="zh-TW" sz="2400" b="0" dirty="0"/>
                        <a:t>r</a:t>
                      </a:r>
                      <a:endParaRPr lang="zh-TW" altLang="en-US" sz="2400" b="0" dirty="0"/>
                    </a:p>
                  </a:txBody>
                  <a:tcPr>
                    <a:solidFill>
                      <a:schemeClr val="bg2"/>
                    </a:solidFill>
                  </a:tcPr>
                </a:tc>
                <a:tc>
                  <a:txBody>
                    <a:bodyPr/>
                    <a:lstStyle/>
                    <a:p>
                      <a:pPr algn="ctr"/>
                      <a:r>
                        <a:rPr lang="en-US" altLang="zh-TW" sz="2400" b="0" dirty="0"/>
                        <a:t>1</a:t>
                      </a:r>
                      <a:endParaRPr lang="zh-TW" altLang="en-US" sz="2400" b="0" dirty="0"/>
                    </a:p>
                  </a:txBody>
                  <a:tcPr>
                    <a:noFill/>
                  </a:tcPr>
                </a:tc>
                <a:tc>
                  <a:txBody>
                    <a:bodyPr/>
                    <a:lstStyle/>
                    <a:p>
                      <a:pPr algn="ctr"/>
                      <a:r>
                        <a:rPr lang="en-US" altLang="zh-TW" sz="2400" b="0" dirty="0"/>
                        <a:t>1</a:t>
                      </a:r>
                      <a:endParaRPr lang="zh-TW" altLang="en-US" sz="2400" b="0" dirty="0"/>
                    </a:p>
                  </a:txBody>
                  <a:tcPr>
                    <a:noFill/>
                  </a:tcPr>
                </a:tc>
                <a:tc>
                  <a:txBody>
                    <a:bodyPr/>
                    <a:lstStyle/>
                    <a:p>
                      <a:pPr algn="ctr"/>
                      <a:r>
                        <a:rPr lang="en-US" altLang="zh-TW" sz="2400" b="0" dirty="0"/>
                        <a:t>2</a:t>
                      </a:r>
                      <a:endParaRPr lang="zh-TW" altLang="en-US" sz="2400" b="0" dirty="0"/>
                    </a:p>
                  </a:txBody>
                  <a:tcPr>
                    <a:noFill/>
                  </a:tcPr>
                </a:tc>
                <a:tc>
                  <a:txBody>
                    <a:bodyPr/>
                    <a:lstStyle/>
                    <a:p>
                      <a:pPr algn="ctr"/>
                      <a:r>
                        <a:rPr lang="en-US" altLang="zh-TW" sz="2400" b="0" dirty="0"/>
                        <a:t>1</a:t>
                      </a:r>
                      <a:endParaRPr lang="zh-TW" altLang="en-US" sz="2400" b="0" dirty="0"/>
                    </a:p>
                  </a:txBody>
                  <a:tcPr>
                    <a:noFill/>
                  </a:tcPr>
                </a:tc>
                <a:tc>
                  <a:txBody>
                    <a:bodyPr/>
                    <a:lstStyle/>
                    <a:p>
                      <a:pPr algn="ctr"/>
                      <a:r>
                        <a:rPr lang="en-US" altLang="zh-TW" sz="2400" b="0" dirty="0"/>
                        <a:t>4</a:t>
                      </a:r>
                      <a:endParaRPr lang="zh-TW" altLang="en-US" sz="2400" b="0" dirty="0"/>
                    </a:p>
                  </a:txBody>
                  <a:tcPr>
                    <a:noFill/>
                  </a:tcPr>
                </a:tc>
                <a:tc>
                  <a:txBody>
                    <a:bodyPr/>
                    <a:lstStyle/>
                    <a:p>
                      <a:pPr algn="ctr"/>
                      <a:r>
                        <a:rPr lang="en-US" altLang="zh-TW" sz="2400" b="0" dirty="0"/>
                        <a:t>1</a:t>
                      </a:r>
                      <a:endParaRPr lang="zh-TW" altLang="en-US" sz="2400" b="0" dirty="0"/>
                    </a:p>
                  </a:txBody>
                  <a:tcPr>
                    <a:noFill/>
                  </a:tcPr>
                </a:tc>
                <a:tc>
                  <a:txBody>
                    <a:bodyPr/>
                    <a:lstStyle/>
                    <a:p>
                      <a:pPr algn="ctr"/>
                      <a:r>
                        <a:rPr lang="en-US" altLang="zh-TW" sz="2400" b="0" dirty="0"/>
                        <a:t>2</a:t>
                      </a:r>
                      <a:endParaRPr lang="zh-TW" altLang="en-US" sz="2400" b="0" dirty="0"/>
                    </a:p>
                  </a:txBody>
                  <a:tcPr>
                    <a:noFill/>
                  </a:tcPr>
                </a:tc>
                <a:tc>
                  <a:txBody>
                    <a:bodyPr/>
                    <a:lstStyle/>
                    <a:p>
                      <a:pPr algn="ctr"/>
                      <a:r>
                        <a:rPr lang="en-US" altLang="zh-TW" sz="2400" b="0" dirty="0"/>
                        <a:t>1</a:t>
                      </a:r>
                      <a:endParaRPr lang="zh-TW" altLang="en-US" sz="2400" b="0" dirty="0"/>
                    </a:p>
                  </a:txBody>
                  <a:tcPr>
                    <a:noFill/>
                  </a:tcPr>
                </a:tc>
                <a:tc>
                  <a:txBody>
                    <a:bodyPr/>
                    <a:lstStyle/>
                    <a:p>
                      <a:pPr algn="ctr"/>
                      <a:r>
                        <a:rPr lang="en-US" altLang="zh-TW" sz="2400" b="0" dirty="0"/>
                        <a:t>8</a:t>
                      </a:r>
                      <a:endParaRPr lang="zh-TW" altLang="en-US" sz="2400" b="0" dirty="0"/>
                    </a:p>
                  </a:txBody>
                  <a:tcPr>
                    <a:noFill/>
                  </a:tcPr>
                </a:tc>
                <a:tc>
                  <a:txBody>
                    <a:bodyPr/>
                    <a:lstStyle/>
                    <a:p>
                      <a:pPr algn="ctr"/>
                      <a:r>
                        <a:rPr lang="en-US" altLang="zh-TW" sz="2400" b="0" dirty="0"/>
                        <a:t>1</a:t>
                      </a:r>
                      <a:endParaRPr lang="zh-TW" altLang="en-US" sz="2400" b="0" dirty="0"/>
                    </a:p>
                  </a:txBody>
                  <a:tcPr>
                    <a:noFill/>
                  </a:tcPr>
                </a:tc>
                <a:tc>
                  <a:txBody>
                    <a:bodyPr/>
                    <a:lstStyle/>
                    <a:p>
                      <a:pPr algn="ctr"/>
                      <a:r>
                        <a:rPr lang="en-US" altLang="zh-TW" sz="2400" b="0" dirty="0"/>
                        <a:t>2</a:t>
                      </a:r>
                      <a:endParaRPr lang="zh-TW" altLang="en-US" sz="2400" b="0" dirty="0"/>
                    </a:p>
                  </a:txBody>
                  <a:tcPr>
                    <a:noFill/>
                  </a:tcPr>
                </a:tc>
                <a:tc>
                  <a:txBody>
                    <a:bodyPr/>
                    <a:lstStyle/>
                    <a:p>
                      <a:pPr algn="ctr"/>
                      <a:r>
                        <a:rPr lang="en-US" altLang="zh-TW" sz="2400" b="0" dirty="0"/>
                        <a:t>1</a:t>
                      </a:r>
                      <a:endParaRPr lang="zh-TW" altLang="en-US" sz="2400" b="0" dirty="0"/>
                    </a:p>
                  </a:txBody>
                  <a:tcPr>
                    <a:noFill/>
                  </a:tcPr>
                </a:tc>
                <a:tc>
                  <a:txBody>
                    <a:bodyPr/>
                    <a:lstStyle/>
                    <a:p>
                      <a:pPr algn="ctr"/>
                      <a:r>
                        <a:rPr lang="en-US" altLang="zh-TW" sz="2400" b="0" dirty="0">
                          <a:solidFill>
                            <a:schemeClr val="tx1"/>
                          </a:solidFill>
                        </a:rPr>
                        <a:t>10</a:t>
                      </a:r>
                      <a:endParaRPr lang="zh-TW" altLang="en-US" sz="2400" b="0" dirty="0">
                        <a:solidFill>
                          <a:schemeClr val="tx1"/>
                        </a:solidFill>
                      </a:endParaRPr>
                    </a:p>
                  </a:txBody>
                  <a:tcPr>
                    <a:noFill/>
                  </a:tcPr>
                </a:tc>
                <a:tc>
                  <a:txBody>
                    <a:bodyPr/>
                    <a:lstStyle/>
                    <a:p>
                      <a:pPr algn="ctr"/>
                      <a:r>
                        <a:rPr lang="en-US" altLang="zh-TW" sz="2400" b="0" dirty="0">
                          <a:solidFill>
                            <a:srgbClr val="FF0000"/>
                          </a:solidFill>
                        </a:rPr>
                        <a:t>1</a:t>
                      </a:r>
                      <a:endParaRPr lang="zh-TW" altLang="en-US" sz="2400" b="0" dirty="0">
                        <a:solidFill>
                          <a:srgbClr val="FF0000"/>
                        </a:solidFill>
                      </a:endParaRPr>
                    </a:p>
                  </a:txBody>
                  <a:tcPr>
                    <a:noFill/>
                  </a:tcPr>
                </a:tc>
                <a:tc>
                  <a:txBody>
                    <a:bodyPr/>
                    <a:lstStyle/>
                    <a:p>
                      <a:pPr algn="ctr"/>
                      <a:r>
                        <a:rPr lang="en-US" altLang="zh-TW" sz="2400" b="0" dirty="0">
                          <a:solidFill>
                            <a:srgbClr val="FF0000"/>
                          </a:solidFill>
                        </a:rPr>
                        <a:t>2</a:t>
                      </a:r>
                      <a:endParaRPr lang="zh-TW" altLang="en-US" sz="2400" b="0" dirty="0">
                        <a:solidFill>
                          <a:srgbClr val="FF0000"/>
                        </a:solidFill>
                      </a:endParaRPr>
                    </a:p>
                  </a:txBody>
                  <a:tcPr>
                    <a:noFill/>
                  </a:tcPr>
                </a:tc>
                <a:tc>
                  <a:txBody>
                    <a:bodyPr/>
                    <a:lstStyle/>
                    <a:p>
                      <a:pPr algn="ctr"/>
                      <a:r>
                        <a:rPr lang="en-US" altLang="zh-TW" sz="2400" b="0" dirty="0">
                          <a:solidFill>
                            <a:srgbClr val="FF0000"/>
                          </a:solidFill>
                        </a:rPr>
                        <a:t>1</a:t>
                      </a:r>
                      <a:endParaRPr lang="zh-TW" altLang="en-US" sz="2400" b="0" dirty="0">
                        <a:solidFill>
                          <a:srgbClr val="FF0000"/>
                        </a:solidFill>
                      </a:endParaRPr>
                    </a:p>
                  </a:txBody>
                  <a:tcPr>
                    <a:noFill/>
                  </a:tcPr>
                </a:tc>
                <a:tc>
                  <a:txBody>
                    <a:bodyPr/>
                    <a:lstStyle/>
                    <a:p>
                      <a:pPr algn="ctr"/>
                      <a:r>
                        <a:rPr lang="en-US" altLang="zh-TW" sz="2400" b="0" dirty="0">
                          <a:solidFill>
                            <a:srgbClr val="FF0000"/>
                          </a:solidFill>
                        </a:rPr>
                        <a:t>6</a:t>
                      </a:r>
                      <a:endParaRPr lang="zh-TW" altLang="en-US" sz="2400" b="0" dirty="0">
                        <a:solidFill>
                          <a:srgbClr val="FF0000"/>
                        </a:solidFill>
                      </a:endParaRPr>
                    </a:p>
                  </a:txBody>
                  <a:tcPr>
                    <a:noFill/>
                  </a:tcPr>
                </a:tc>
                <a:tc>
                  <a:txBody>
                    <a:bodyPr/>
                    <a:lstStyle/>
                    <a:p>
                      <a:pPr algn="ctr"/>
                      <a:endParaRPr lang="zh-TW" altLang="en-US" sz="2400" b="0" dirty="0">
                        <a:solidFill>
                          <a:srgbClr val="FF0000"/>
                        </a:solidFill>
                      </a:endParaRPr>
                    </a:p>
                  </a:txBody>
                  <a:tcPr>
                    <a:noFill/>
                  </a:tcPr>
                </a:tc>
                <a:tc>
                  <a:txBody>
                    <a:bodyPr/>
                    <a:lstStyle/>
                    <a:p>
                      <a:pPr algn="ctr"/>
                      <a:endParaRPr lang="zh-TW" altLang="en-US" sz="2400" b="0" dirty="0">
                        <a:solidFill>
                          <a:srgbClr val="FF0000"/>
                        </a:solidFill>
                      </a:endParaRPr>
                    </a:p>
                  </a:txBody>
                  <a:tcPr>
                    <a:noFill/>
                  </a:tcPr>
                </a:tc>
                <a:tc>
                  <a:txBody>
                    <a:bodyPr/>
                    <a:lstStyle/>
                    <a:p>
                      <a:pPr algn="ctr"/>
                      <a:endParaRPr lang="zh-TW" altLang="en-US" sz="2400" b="0" dirty="0">
                        <a:solidFill>
                          <a:srgbClr val="FF0000"/>
                        </a:solidFill>
                      </a:endParaRPr>
                    </a:p>
                  </a:txBody>
                  <a:tcPr>
                    <a:noFill/>
                  </a:tcPr>
                </a:tc>
                <a:tc>
                  <a:txBody>
                    <a:bodyPr/>
                    <a:lstStyle/>
                    <a:p>
                      <a:pPr algn="ctr"/>
                      <a:endParaRPr lang="zh-TW" altLang="en-US" sz="2400" b="0" dirty="0">
                        <a:solidFill>
                          <a:srgbClr val="FF0000"/>
                        </a:solidFill>
                      </a:endParaRPr>
                    </a:p>
                  </a:txBody>
                  <a:tcPr>
                    <a:noFill/>
                  </a:tcPr>
                </a:tc>
                <a:tc>
                  <a:txBody>
                    <a:bodyPr/>
                    <a:lstStyle/>
                    <a:p>
                      <a:pPr algn="ctr"/>
                      <a:endParaRPr lang="zh-TW" altLang="en-US" sz="2400" b="0" dirty="0">
                        <a:solidFill>
                          <a:srgbClr val="FF0000"/>
                        </a:solidFill>
                      </a:endParaRPr>
                    </a:p>
                  </a:txBody>
                  <a:tcPr>
                    <a:noFill/>
                  </a:tcPr>
                </a:tc>
                <a:tc>
                  <a:txBody>
                    <a:bodyPr/>
                    <a:lstStyle/>
                    <a:p>
                      <a:pPr algn="ctr"/>
                      <a:endParaRPr lang="zh-TW" altLang="en-US" sz="2400" b="0" dirty="0">
                        <a:solidFill>
                          <a:srgbClr val="FF0000"/>
                        </a:solidFill>
                      </a:endParaRPr>
                    </a:p>
                  </a:txBody>
                  <a:tcPr>
                    <a:noFill/>
                  </a:tcPr>
                </a:tc>
                <a:extLst>
                  <a:ext uri="{0D108BD9-81ED-4DB2-BD59-A6C34878D82A}">
                    <a16:rowId xmlns:a16="http://schemas.microsoft.com/office/drawing/2014/main" val="2333122955"/>
                  </a:ext>
                </a:extLst>
              </a:tr>
            </a:tbl>
          </a:graphicData>
        </a:graphic>
      </p:graphicFrame>
      <p:sp>
        <p:nvSpPr>
          <p:cNvPr id="5" name="左中括弧 4">
            <a:extLst>
              <a:ext uri="{FF2B5EF4-FFF2-40B4-BE49-F238E27FC236}">
                <a16:creationId xmlns:a16="http://schemas.microsoft.com/office/drawing/2014/main" id="{8DB5BBE8-B068-AA1F-B62C-FB40565F2BA7}"/>
              </a:ext>
            </a:extLst>
          </p:cNvPr>
          <p:cNvSpPr/>
          <p:nvPr/>
        </p:nvSpPr>
        <p:spPr>
          <a:xfrm rot="5400000">
            <a:off x="6597113" y="-1121577"/>
            <a:ext cx="357643" cy="8966222"/>
          </a:xfrm>
          <a:prstGeom prst="leftBracket">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Tree>
    <p:extLst>
      <p:ext uri="{BB962C8B-B14F-4D97-AF65-F5344CB8AC3E}">
        <p14:creationId xmlns:p14="http://schemas.microsoft.com/office/powerpoint/2010/main" val="124604219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pc="-1" dirty="0" err="1">
                <a:solidFill>
                  <a:srgbClr val="000000"/>
                </a:solidFill>
                <a:latin typeface="Times New Roman" pitchFamily="18" charset="0"/>
                <a:cs typeface="Times New Roman" pitchFamily="18" charset="0"/>
              </a:rPr>
              <a:t>Manacher’s</a:t>
            </a:r>
            <a:r>
              <a:rPr lang="en-US" altLang="zh-TW" spc="-1" dirty="0">
                <a:solidFill>
                  <a:srgbClr val="000000"/>
                </a:solidFill>
                <a:latin typeface="Times New Roman" pitchFamily="18" charset="0"/>
                <a:cs typeface="Times New Roman" pitchFamily="18" charset="0"/>
              </a:rPr>
              <a:t> Algorithm (7/7)</a:t>
            </a: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200" y="1825625"/>
                <a:ext cx="10515600" cy="4351338"/>
              </a:xfrm>
            </p:spPr>
            <p:txBody>
              <a:bodyPr>
                <a:normAutofit/>
              </a:bodyPr>
              <a:lstStyle/>
              <a:p>
                <a:pPr marL="457560" indent="-457200">
                  <a:spcBef>
                    <a:spcPts val="561"/>
                  </a:spcBef>
                  <a:buClr>
                    <a:srgbClr val="000000"/>
                  </a:buClr>
                </a:pPr>
                <a14:m>
                  <m:oMath xmlns:m="http://schemas.openxmlformats.org/officeDocument/2006/math">
                    <m:r>
                      <a:rPr lang="en-US" altLang="zh-TW" i="1" spc="-1" smtClean="0">
                        <a:solidFill>
                          <a:srgbClr val="000000"/>
                        </a:solidFill>
                        <a:latin typeface="Cambria Math" panose="02040503050406030204" pitchFamily="18" charset="0"/>
                      </a:rPr>
                      <m:t>𝑤</m:t>
                    </m:r>
                  </m:oMath>
                </a14:m>
                <a:r>
                  <a:rPr lang="en-US" altLang="zh-TW" spc="-1" dirty="0">
                    <a:solidFill>
                      <a:srgbClr val="000000"/>
                    </a:solidFill>
                    <a:latin typeface="Times New Roman"/>
                  </a:rPr>
                  <a:t> = </a:t>
                </a:r>
                <a:r>
                  <a:rPr lang="en-US" altLang="zh-TW" spc="-1" dirty="0" err="1"/>
                  <a:t>cbabxbabxbac</a:t>
                </a:r>
                <a:endParaRPr lang="en-US" altLang="zh-TW" spc="-1" dirty="0"/>
              </a:p>
              <a:p>
                <a:pPr marL="360" indent="0">
                  <a:spcBef>
                    <a:spcPts val="561"/>
                  </a:spcBef>
                  <a:buClr>
                    <a:srgbClr val="000000"/>
                  </a:buClr>
                  <a:buNone/>
                </a:pPr>
                <a:endParaRPr lang="en-US" altLang="zh-TW" spc="-1" dirty="0">
                  <a:solidFill>
                    <a:srgbClr val="000000"/>
                  </a:solidFill>
                  <a:latin typeface="Times New Roman"/>
                </a:endParaRPr>
              </a:p>
              <a:p>
                <a:pPr marL="360" indent="0">
                  <a:spcBef>
                    <a:spcPts val="561"/>
                  </a:spcBef>
                  <a:buClr>
                    <a:srgbClr val="000000"/>
                  </a:buClr>
                  <a:buNone/>
                </a:pPr>
                <a:endParaRPr lang="en-US" altLang="zh-TW" spc="-1" dirty="0">
                  <a:solidFill>
                    <a:srgbClr val="000000"/>
                  </a:solidFill>
                  <a:latin typeface="Times New Roman"/>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200" y="1825625"/>
                <a:ext cx="10515600" cy="4351338"/>
              </a:xfrm>
              <a:blipFill>
                <a:blip r:embed="rId2"/>
                <a:stretch>
                  <a:fillRect t="-2381"/>
                </a:stretch>
              </a:blipFill>
            </p:spPr>
            <p:txBody>
              <a:bodyPr/>
              <a:lstStyle/>
              <a:p>
                <a:r>
                  <a:rPr lang="zh-TW" altLang="en-US">
                    <a:noFill/>
                  </a:rPr>
                  <a:t> </a:t>
                </a:r>
              </a:p>
            </p:txBody>
          </p:sp>
        </mc:Fallback>
      </mc:AlternateContent>
      <p:graphicFrame>
        <p:nvGraphicFramePr>
          <p:cNvPr id="4" name="表格 4">
            <a:extLst>
              <a:ext uri="{FF2B5EF4-FFF2-40B4-BE49-F238E27FC236}">
                <a16:creationId xmlns:a16="http://schemas.microsoft.com/office/drawing/2014/main" id="{318AF3AC-BA55-DD3A-E640-E854684713E7}"/>
              </a:ext>
            </a:extLst>
          </p:cNvPr>
          <p:cNvGraphicFramePr>
            <a:graphicFrameLocks noGrp="1"/>
          </p:cNvGraphicFramePr>
          <p:nvPr>
            <p:extLst>
              <p:ext uri="{D42A27DB-BD31-4B8C-83A1-F6EECF244321}">
                <p14:modId xmlns:p14="http://schemas.microsoft.com/office/powerpoint/2010/main" val="1143637623"/>
              </p:ext>
            </p:extLst>
          </p:nvPr>
        </p:nvGraphicFramePr>
        <p:xfrm>
          <a:off x="144444" y="3675290"/>
          <a:ext cx="11903112" cy="1572570"/>
        </p:xfrm>
        <a:graphic>
          <a:graphicData uri="http://schemas.openxmlformats.org/drawingml/2006/table">
            <a:tbl>
              <a:tblPr firstRow="1" bandRow="1">
                <a:tableStyleId>{E8B1032C-EA38-4F05-BA0D-38AFFFC7BED3}</a:tableStyleId>
              </a:tblPr>
              <a:tblGrid>
                <a:gridCol w="495963">
                  <a:extLst>
                    <a:ext uri="{9D8B030D-6E8A-4147-A177-3AD203B41FA5}">
                      <a16:colId xmlns:a16="http://schemas.microsoft.com/office/drawing/2014/main" val="3687563117"/>
                    </a:ext>
                  </a:extLst>
                </a:gridCol>
                <a:gridCol w="495963">
                  <a:extLst>
                    <a:ext uri="{9D8B030D-6E8A-4147-A177-3AD203B41FA5}">
                      <a16:colId xmlns:a16="http://schemas.microsoft.com/office/drawing/2014/main" val="3458925501"/>
                    </a:ext>
                  </a:extLst>
                </a:gridCol>
                <a:gridCol w="495963">
                  <a:extLst>
                    <a:ext uri="{9D8B030D-6E8A-4147-A177-3AD203B41FA5}">
                      <a16:colId xmlns:a16="http://schemas.microsoft.com/office/drawing/2014/main" val="4030832065"/>
                    </a:ext>
                  </a:extLst>
                </a:gridCol>
                <a:gridCol w="495963">
                  <a:extLst>
                    <a:ext uri="{9D8B030D-6E8A-4147-A177-3AD203B41FA5}">
                      <a16:colId xmlns:a16="http://schemas.microsoft.com/office/drawing/2014/main" val="1724438594"/>
                    </a:ext>
                  </a:extLst>
                </a:gridCol>
                <a:gridCol w="495963">
                  <a:extLst>
                    <a:ext uri="{9D8B030D-6E8A-4147-A177-3AD203B41FA5}">
                      <a16:colId xmlns:a16="http://schemas.microsoft.com/office/drawing/2014/main" val="4209229924"/>
                    </a:ext>
                  </a:extLst>
                </a:gridCol>
                <a:gridCol w="495963">
                  <a:extLst>
                    <a:ext uri="{9D8B030D-6E8A-4147-A177-3AD203B41FA5}">
                      <a16:colId xmlns:a16="http://schemas.microsoft.com/office/drawing/2014/main" val="2908390315"/>
                    </a:ext>
                  </a:extLst>
                </a:gridCol>
                <a:gridCol w="495963">
                  <a:extLst>
                    <a:ext uri="{9D8B030D-6E8A-4147-A177-3AD203B41FA5}">
                      <a16:colId xmlns:a16="http://schemas.microsoft.com/office/drawing/2014/main" val="1002060645"/>
                    </a:ext>
                  </a:extLst>
                </a:gridCol>
                <a:gridCol w="495963">
                  <a:extLst>
                    <a:ext uri="{9D8B030D-6E8A-4147-A177-3AD203B41FA5}">
                      <a16:colId xmlns:a16="http://schemas.microsoft.com/office/drawing/2014/main" val="2341577556"/>
                    </a:ext>
                  </a:extLst>
                </a:gridCol>
                <a:gridCol w="495963">
                  <a:extLst>
                    <a:ext uri="{9D8B030D-6E8A-4147-A177-3AD203B41FA5}">
                      <a16:colId xmlns:a16="http://schemas.microsoft.com/office/drawing/2014/main" val="476296480"/>
                    </a:ext>
                  </a:extLst>
                </a:gridCol>
                <a:gridCol w="495963">
                  <a:extLst>
                    <a:ext uri="{9D8B030D-6E8A-4147-A177-3AD203B41FA5}">
                      <a16:colId xmlns:a16="http://schemas.microsoft.com/office/drawing/2014/main" val="1461677071"/>
                    </a:ext>
                  </a:extLst>
                </a:gridCol>
                <a:gridCol w="495963">
                  <a:extLst>
                    <a:ext uri="{9D8B030D-6E8A-4147-A177-3AD203B41FA5}">
                      <a16:colId xmlns:a16="http://schemas.microsoft.com/office/drawing/2014/main" val="2307505867"/>
                    </a:ext>
                  </a:extLst>
                </a:gridCol>
                <a:gridCol w="495963">
                  <a:extLst>
                    <a:ext uri="{9D8B030D-6E8A-4147-A177-3AD203B41FA5}">
                      <a16:colId xmlns:a16="http://schemas.microsoft.com/office/drawing/2014/main" val="886355715"/>
                    </a:ext>
                  </a:extLst>
                </a:gridCol>
                <a:gridCol w="495963">
                  <a:extLst>
                    <a:ext uri="{9D8B030D-6E8A-4147-A177-3AD203B41FA5}">
                      <a16:colId xmlns:a16="http://schemas.microsoft.com/office/drawing/2014/main" val="2723366198"/>
                    </a:ext>
                  </a:extLst>
                </a:gridCol>
                <a:gridCol w="495963">
                  <a:extLst>
                    <a:ext uri="{9D8B030D-6E8A-4147-A177-3AD203B41FA5}">
                      <a16:colId xmlns:a16="http://schemas.microsoft.com/office/drawing/2014/main" val="2787038888"/>
                    </a:ext>
                  </a:extLst>
                </a:gridCol>
                <a:gridCol w="495963">
                  <a:extLst>
                    <a:ext uri="{9D8B030D-6E8A-4147-A177-3AD203B41FA5}">
                      <a16:colId xmlns:a16="http://schemas.microsoft.com/office/drawing/2014/main" val="2588476093"/>
                    </a:ext>
                  </a:extLst>
                </a:gridCol>
                <a:gridCol w="495963">
                  <a:extLst>
                    <a:ext uri="{9D8B030D-6E8A-4147-A177-3AD203B41FA5}">
                      <a16:colId xmlns:a16="http://schemas.microsoft.com/office/drawing/2014/main" val="4087603699"/>
                    </a:ext>
                  </a:extLst>
                </a:gridCol>
                <a:gridCol w="495963">
                  <a:extLst>
                    <a:ext uri="{9D8B030D-6E8A-4147-A177-3AD203B41FA5}">
                      <a16:colId xmlns:a16="http://schemas.microsoft.com/office/drawing/2014/main" val="2550113863"/>
                    </a:ext>
                  </a:extLst>
                </a:gridCol>
                <a:gridCol w="495963">
                  <a:extLst>
                    <a:ext uri="{9D8B030D-6E8A-4147-A177-3AD203B41FA5}">
                      <a16:colId xmlns:a16="http://schemas.microsoft.com/office/drawing/2014/main" val="977347673"/>
                    </a:ext>
                  </a:extLst>
                </a:gridCol>
                <a:gridCol w="495963">
                  <a:extLst>
                    <a:ext uri="{9D8B030D-6E8A-4147-A177-3AD203B41FA5}">
                      <a16:colId xmlns:a16="http://schemas.microsoft.com/office/drawing/2014/main" val="3240576578"/>
                    </a:ext>
                  </a:extLst>
                </a:gridCol>
                <a:gridCol w="495963">
                  <a:extLst>
                    <a:ext uri="{9D8B030D-6E8A-4147-A177-3AD203B41FA5}">
                      <a16:colId xmlns:a16="http://schemas.microsoft.com/office/drawing/2014/main" val="4183886762"/>
                    </a:ext>
                  </a:extLst>
                </a:gridCol>
                <a:gridCol w="495963">
                  <a:extLst>
                    <a:ext uri="{9D8B030D-6E8A-4147-A177-3AD203B41FA5}">
                      <a16:colId xmlns:a16="http://schemas.microsoft.com/office/drawing/2014/main" val="748801735"/>
                    </a:ext>
                  </a:extLst>
                </a:gridCol>
                <a:gridCol w="495963">
                  <a:extLst>
                    <a:ext uri="{9D8B030D-6E8A-4147-A177-3AD203B41FA5}">
                      <a16:colId xmlns:a16="http://schemas.microsoft.com/office/drawing/2014/main" val="2312860317"/>
                    </a:ext>
                  </a:extLst>
                </a:gridCol>
                <a:gridCol w="495963">
                  <a:extLst>
                    <a:ext uri="{9D8B030D-6E8A-4147-A177-3AD203B41FA5}">
                      <a16:colId xmlns:a16="http://schemas.microsoft.com/office/drawing/2014/main" val="4232901803"/>
                    </a:ext>
                  </a:extLst>
                </a:gridCol>
                <a:gridCol w="495963">
                  <a:extLst>
                    <a:ext uri="{9D8B030D-6E8A-4147-A177-3AD203B41FA5}">
                      <a16:colId xmlns:a16="http://schemas.microsoft.com/office/drawing/2014/main" val="1893531490"/>
                    </a:ext>
                  </a:extLst>
                </a:gridCol>
              </a:tblGrid>
              <a:tr h="524190">
                <a:tc>
                  <a:txBody>
                    <a:bodyPr/>
                    <a:lstStyle/>
                    <a:p>
                      <a:pPr algn="ctr"/>
                      <a:r>
                        <a:rPr lang="en-US" altLang="zh-TW" sz="2400" b="0" dirty="0" err="1"/>
                        <a:t>i</a:t>
                      </a:r>
                      <a:endParaRPr lang="zh-TW" altLang="en-US" sz="2400" b="0" dirty="0"/>
                    </a:p>
                  </a:txBody>
                  <a:tcPr>
                    <a:solidFill>
                      <a:schemeClr val="bg2"/>
                    </a:solidFill>
                  </a:tcPr>
                </a:tc>
                <a:tc>
                  <a:txBody>
                    <a:bodyPr/>
                    <a:lstStyle/>
                    <a:p>
                      <a:pPr algn="ctr"/>
                      <a:r>
                        <a:rPr lang="en-US" altLang="zh-TW" sz="2400" b="0" dirty="0"/>
                        <a:t>1</a:t>
                      </a:r>
                      <a:endParaRPr lang="zh-TW" altLang="en-US" sz="2400" b="0" dirty="0"/>
                    </a:p>
                  </a:txBody>
                  <a:tcPr>
                    <a:solidFill>
                      <a:schemeClr val="bg2"/>
                    </a:solidFill>
                  </a:tcPr>
                </a:tc>
                <a:tc>
                  <a:txBody>
                    <a:bodyPr/>
                    <a:lstStyle/>
                    <a:p>
                      <a:pPr algn="ctr"/>
                      <a:r>
                        <a:rPr lang="en-US" altLang="zh-TW" sz="2400" b="0" dirty="0"/>
                        <a:t>2</a:t>
                      </a:r>
                      <a:endParaRPr lang="zh-TW" altLang="en-US" sz="2400" b="0" dirty="0"/>
                    </a:p>
                  </a:txBody>
                  <a:tcPr>
                    <a:solidFill>
                      <a:schemeClr val="bg2"/>
                    </a:solidFill>
                  </a:tcPr>
                </a:tc>
                <a:tc>
                  <a:txBody>
                    <a:bodyPr/>
                    <a:lstStyle/>
                    <a:p>
                      <a:pPr algn="ctr"/>
                      <a:r>
                        <a:rPr lang="en-US" altLang="zh-TW" sz="2400" b="0" dirty="0"/>
                        <a:t>3</a:t>
                      </a:r>
                      <a:endParaRPr lang="zh-TW" altLang="en-US" sz="2400" b="0" dirty="0"/>
                    </a:p>
                  </a:txBody>
                  <a:tcPr>
                    <a:solidFill>
                      <a:schemeClr val="bg2"/>
                    </a:solidFill>
                  </a:tcPr>
                </a:tc>
                <a:tc>
                  <a:txBody>
                    <a:bodyPr/>
                    <a:lstStyle/>
                    <a:p>
                      <a:pPr algn="ctr"/>
                      <a:r>
                        <a:rPr lang="en-US" altLang="zh-TW" sz="2400" b="0" dirty="0"/>
                        <a:t>4</a:t>
                      </a:r>
                      <a:endParaRPr lang="zh-TW" altLang="en-US" sz="2400" b="0" dirty="0"/>
                    </a:p>
                  </a:txBody>
                  <a:tcPr>
                    <a:solidFill>
                      <a:schemeClr val="bg2"/>
                    </a:solidFill>
                  </a:tcPr>
                </a:tc>
                <a:tc>
                  <a:txBody>
                    <a:bodyPr/>
                    <a:lstStyle/>
                    <a:p>
                      <a:pPr algn="ctr"/>
                      <a:r>
                        <a:rPr lang="en-US" altLang="zh-TW" sz="2400" b="0" dirty="0"/>
                        <a:t>5</a:t>
                      </a:r>
                      <a:endParaRPr lang="zh-TW" altLang="en-US" sz="2400" b="0" dirty="0"/>
                    </a:p>
                  </a:txBody>
                  <a:tcPr>
                    <a:solidFill>
                      <a:schemeClr val="bg2"/>
                    </a:solidFill>
                  </a:tcPr>
                </a:tc>
                <a:tc>
                  <a:txBody>
                    <a:bodyPr/>
                    <a:lstStyle/>
                    <a:p>
                      <a:pPr algn="ctr"/>
                      <a:r>
                        <a:rPr lang="en-US" altLang="zh-TW" sz="2400" b="0" dirty="0"/>
                        <a:t>6</a:t>
                      </a:r>
                      <a:endParaRPr lang="zh-TW" altLang="en-US" sz="2400" b="0" dirty="0"/>
                    </a:p>
                  </a:txBody>
                  <a:tcPr>
                    <a:solidFill>
                      <a:schemeClr val="bg2"/>
                    </a:solidFill>
                  </a:tcPr>
                </a:tc>
                <a:tc>
                  <a:txBody>
                    <a:bodyPr/>
                    <a:lstStyle/>
                    <a:p>
                      <a:pPr algn="ctr"/>
                      <a:r>
                        <a:rPr lang="en-US" altLang="zh-TW" sz="2400" b="0" dirty="0"/>
                        <a:t>7</a:t>
                      </a:r>
                      <a:endParaRPr lang="zh-TW" altLang="en-US" sz="2400" b="0" dirty="0"/>
                    </a:p>
                  </a:txBody>
                  <a:tcPr>
                    <a:solidFill>
                      <a:schemeClr val="bg2"/>
                    </a:solidFill>
                  </a:tcPr>
                </a:tc>
                <a:tc>
                  <a:txBody>
                    <a:bodyPr/>
                    <a:lstStyle/>
                    <a:p>
                      <a:pPr algn="ctr"/>
                      <a:r>
                        <a:rPr lang="en-US" altLang="zh-TW" sz="2400" b="0" dirty="0"/>
                        <a:t>8</a:t>
                      </a:r>
                      <a:endParaRPr lang="zh-TW" altLang="en-US" sz="2400" b="0" dirty="0"/>
                    </a:p>
                  </a:txBody>
                  <a:tcPr>
                    <a:solidFill>
                      <a:schemeClr val="bg2"/>
                    </a:solidFill>
                  </a:tcPr>
                </a:tc>
                <a:tc>
                  <a:txBody>
                    <a:bodyPr/>
                    <a:lstStyle/>
                    <a:p>
                      <a:pPr algn="ctr"/>
                      <a:r>
                        <a:rPr lang="en-US" altLang="zh-TW" sz="2400" b="0" dirty="0"/>
                        <a:t>9</a:t>
                      </a:r>
                      <a:endParaRPr lang="zh-TW" altLang="en-US" sz="2400" b="0" dirty="0"/>
                    </a:p>
                  </a:txBody>
                  <a:tcPr>
                    <a:solidFill>
                      <a:schemeClr val="bg2"/>
                    </a:solidFill>
                  </a:tcPr>
                </a:tc>
                <a:tc>
                  <a:txBody>
                    <a:bodyPr/>
                    <a:lstStyle/>
                    <a:p>
                      <a:pPr algn="ctr"/>
                      <a:r>
                        <a:rPr lang="en-US" altLang="zh-TW" sz="2400" b="0" dirty="0"/>
                        <a:t>10</a:t>
                      </a:r>
                      <a:endParaRPr lang="zh-TW" altLang="en-US" sz="2400" b="0" dirty="0"/>
                    </a:p>
                  </a:txBody>
                  <a:tcPr>
                    <a:solidFill>
                      <a:schemeClr val="bg2"/>
                    </a:solidFill>
                  </a:tcPr>
                </a:tc>
                <a:tc>
                  <a:txBody>
                    <a:bodyPr/>
                    <a:lstStyle/>
                    <a:p>
                      <a:pPr algn="ctr"/>
                      <a:r>
                        <a:rPr lang="en-US" altLang="zh-TW" sz="2400" b="0" dirty="0"/>
                        <a:t>11</a:t>
                      </a:r>
                      <a:endParaRPr lang="zh-TW" altLang="en-US" sz="2400" b="0" dirty="0"/>
                    </a:p>
                  </a:txBody>
                  <a:tcPr>
                    <a:solidFill>
                      <a:schemeClr val="bg2"/>
                    </a:solidFill>
                  </a:tcPr>
                </a:tc>
                <a:tc>
                  <a:txBody>
                    <a:bodyPr/>
                    <a:lstStyle/>
                    <a:p>
                      <a:pPr algn="ctr"/>
                      <a:r>
                        <a:rPr lang="en-US" altLang="zh-TW" sz="2400" b="0" dirty="0"/>
                        <a:t>12</a:t>
                      </a:r>
                      <a:endParaRPr lang="zh-TW" altLang="en-US" sz="2400" b="0" dirty="0"/>
                    </a:p>
                  </a:txBody>
                  <a:tcPr>
                    <a:solidFill>
                      <a:schemeClr val="bg2"/>
                    </a:solidFill>
                  </a:tcPr>
                </a:tc>
                <a:tc>
                  <a:txBody>
                    <a:bodyPr/>
                    <a:lstStyle/>
                    <a:p>
                      <a:pPr algn="ctr"/>
                      <a:r>
                        <a:rPr lang="en-US" altLang="zh-TW" sz="2400" b="0" dirty="0"/>
                        <a:t>13</a:t>
                      </a:r>
                      <a:endParaRPr lang="zh-TW" altLang="en-US" sz="2400" b="0" dirty="0"/>
                    </a:p>
                  </a:txBody>
                  <a:tcPr>
                    <a:solidFill>
                      <a:schemeClr val="bg2"/>
                    </a:solidFill>
                  </a:tcPr>
                </a:tc>
                <a:tc>
                  <a:txBody>
                    <a:bodyPr/>
                    <a:lstStyle/>
                    <a:p>
                      <a:pPr algn="ctr"/>
                      <a:r>
                        <a:rPr lang="en-US" altLang="zh-TW" sz="2400" b="0" dirty="0"/>
                        <a:t>14</a:t>
                      </a:r>
                      <a:endParaRPr lang="zh-TW" altLang="en-US" sz="2400" b="0" dirty="0"/>
                    </a:p>
                  </a:txBody>
                  <a:tcPr>
                    <a:solidFill>
                      <a:schemeClr val="bg2"/>
                    </a:solidFill>
                  </a:tcPr>
                </a:tc>
                <a:tc>
                  <a:txBody>
                    <a:bodyPr/>
                    <a:lstStyle/>
                    <a:p>
                      <a:pPr algn="ctr"/>
                      <a:r>
                        <a:rPr lang="en-US" altLang="zh-TW" sz="2400" b="0" dirty="0"/>
                        <a:t>15</a:t>
                      </a:r>
                      <a:endParaRPr lang="zh-TW" altLang="en-US" sz="2400" b="0" dirty="0"/>
                    </a:p>
                  </a:txBody>
                  <a:tcPr>
                    <a:solidFill>
                      <a:schemeClr val="bg2"/>
                    </a:solidFill>
                  </a:tcPr>
                </a:tc>
                <a:tc>
                  <a:txBody>
                    <a:bodyPr/>
                    <a:lstStyle/>
                    <a:p>
                      <a:pPr algn="ctr"/>
                      <a:r>
                        <a:rPr lang="en-US" altLang="zh-TW" sz="2400" b="0" dirty="0"/>
                        <a:t>16</a:t>
                      </a:r>
                      <a:endParaRPr lang="zh-TW" altLang="en-US" sz="2400" b="0" dirty="0"/>
                    </a:p>
                  </a:txBody>
                  <a:tcPr>
                    <a:solidFill>
                      <a:schemeClr val="bg2"/>
                    </a:solidFill>
                  </a:tcPr>
                </a:tc>
                <a:tc>
                  <a:txBody>
                    <a:bodyPr/>
                    <a:lstStyle/>
                    <a:p>
                      <a:pPr algn="ctr"/>
                      <a:r>
                        <a:rPr lang="en-US" altLang="zh-TW" sz="2400" b="0" dirty="0"/>
                        <a:t>17</a:t>
                      </a:r>
                      <a:endParaRPr lang="zh-TW" altLang="en-US" sz="2400" b="0" dirty="0"/>
                    </a:p>
                  </a:txBody>
                  <a:tcPr>
                    <a:solidFill>
                      <a:schemeClr val="bg2"/>
                    </a:solidFill>
                  </a:tcPr>
                </a:tc>
                <a:tc>
                  <a:txBody>
                    <a:bodyPr/>
                    <a:lstStyle/>
                    <a:p>
                      <a:pPr algn="ctr"/>
                      <a:r>
                        <a:rPr lang="en-US" altLang="zh-TW" sz="2400" b="0" dirty="0"/>
                        <a:t>18</a:t>
                      </a:r>
                      <a:endParaRPr lang="zh-TW" altLang="en-US" sz="2400" b="0" dirty="0"/>
                    </a:p>
                  </a:txBody>
                  <a:tcPr>
                    <a:solidFill>
                      <a:schemeClr val="bg2"/>
                    </a:solidFill>
                  </a:tcPr>
                </a:tc>
                <a:tc>
                  <a:txBody>
                    <a:bodyPr/>
                    <a:lstStyle/>
                    <a:p>
                      <a:pPr algn="ctr"/>
                      <a:r>
                        <a:rPr lang="en-US" altLang="zh-TW" sz="2400" b="0" dirty="0"/>
                        <a:t>19</a:t>
                      </a:r>
                      <a:endParaRPr lang="zh-TW" altLang="en-US" sz="2400" b="0" dirty="0"/>
                    </a:p>
                  </a:txBody>
                  <a:tcPr>
                    <a:solidFill>
                      <a:schemeClr val="bg2"/>
                    </a:solidFill>
                  </a:tcPr>
                </a:tc>
                <a:tc>
                  <a:txBody>
                    <a:bodyPr/>
                    <a:lstStyle/>
                    <a:p>
                      <a:pPr algn="ctr"/>
                      <a:r>
                        <a:rPr lang="en-US" altLang="zh-TW" sz="2400" b="0" dirty="0"/>
                        <a:t>20</a:t>
                      </a:r>
                      <a:endParaRPr lang="zh-TW" altLang="en-US" sz="2400" b="0" dirty="0"/>
                    </a:p>
                  </a:txBody>
                  <a:tcPr>
                    <a:solidFill>
                      <a:schemeClr val="bg2"/>
                    </a:solidFill>
                  </a:tcPr>
                </a:tc>
                <a:tc>
                  <a:txBody>
                    <a:bodyPr/>
                    <a:lstStyle/>
                    <a:p>
                      <a:pPr algn="ctr"/>
                      <a:r>
                        <a:rPr lang="en-US" altLang="zh-TW" sz="2400" b="0" dirty="0"/>
                        <a:t>21</a:t>
                      </a:r>
                      <a:endParaRPr lang="zh-TW" altLang="en-US" sz="2400" b="0" dirty="0"/>
                    </a:p>
                  </a:txBody>
                  <a:tcPr>
                    <a:solidFill>
                      <a:schemeClr val="bg2"/>
                    </a:solidFill>
                  </a:tcPr>
                </a:tc>
                <a:tc>
                  <a:txBody>
                    <a:bodyPr/>
                    <a:lstStyle/>
                    <a:p>
                      <a:pPr algn="ctr"/>
                      <a:r>
                        <a:rPr lang="en-US" altLang="zh-TW" sz="2400" b="0" dirty="0"/>
                        <a:t>22</a:t>
                      </a:r>
                      <a:endParaRPr lang="zh-TW" altLang="en-US" sz="2400" b="0" dirty="0"/>
                    </a:p>
                  </a:txBody>
                  <a:tcPr>
                    <a:solidFill>
                      <a:schemeClr val="bg2"/>
                    </a:solidFill>
                  </a:tcPr>
                </a:tc>
                <a:tc>
                  <a:txBody>
                    <a:bodyPr/>
                    <a:lstStyle/>
                    <a:p>
                      <a:pPr algn="ctr"/>
                      <a:r>
                        <a:rPr lang="en-US" altLang="zh-TW" sz="2400" b="0" dirty="0"/>
                        <a:t>23</a:t>
                      </a:r>
                      <a:endParaRPr lang="zh-TW" altLang="en-US" sz="2400" b="0" dirty="0"/>
                    </a:p>
                  </a:txBody>
                  <a:tcPr>
                    <a:solidFill>
                      <a:schemeClr val="bg2"/>
                    </a:solidFill>
                  </a:tcPr>
                </a:tc>
                <a:extLst>
                  <a:ext uri="{0D108BD9-81ED-4DB2-BD59-A6C34878D82A}">
                    <a16:rowId xmlns:a16="http://schemas.microsoft.com/office/drawing/2014/main" val="4195531117"/>
                  </a:ext>
                </a:extLst>
              </a:tr>
              <a:tr h="524190">
                <a:tc>
                  <a:txBody>
                    <a:bodyPr/>
                    <a:lstStyle/>
                    <a:p>
                      <a:pPr algn="ctr"/>
                      <a:r>
                        <a:rPr lang="en-US" altLang="zh-TW" sz="2400" b="0" dirty="0"/>
                        <a:t>w</a:t>
                      </a:r>
                      <a:endParaRPr lang="zh-TW" altLang="en-US" sz="2400" b="0" dirty="0"/>
                    </a:p>
                  </a:txBody>
                  <a:tcPr>
                    <a:solidFill>
                      <a:schemeClr val="bg2"/>
                    </a:solidFill>
                  </a:tcPr>
                </a:tc>
                <a:tc>
                  <a:txBody>
                    <a:bodyPr/>
                    <a:lstStyle/>
                    <a:p>
                      <a:pPr algn="ctr"/>
                      <a:r>
                        <a:rPr lang="en-US" altLang="zh-TW" sz="2400" b="0" dirty="0"/>
                        <a:t>c</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a</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x</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a</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x</a:t>
                      </a:r>
                      <a:endParaRPr lang="zh-TW" altLang="en-US" sz="2400" b="0" dirty="0"/>
                    </a:p>
                  </a:txBody>
                  <a:tcPr>
                    <a:solidFill>
                      <a:schemeClr val="accent1"/>
                    </a:solid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a</a:t>
                      </a:r>
                      <a:endParaRPr lang="zh-TW" altLang="en-US" sz="2400" b="0" dirty="0"/>
                    </a:p>
                  </a:txBody>
                  <a:tcPr>
                    <a:noFill/>
                  </a:tcPr>
                </a:tc>
                <a:tc>
                  <a:txBody>
                    <a:bodyPr/>
                    <a:lstStyle/>
                    <a:p>
                      <a:pPr algn="ctr"/>
                      <a:r>
                        <a:rPr lang="en-US" altLang="zh-TW" sz="2400" b="0" dirty="0"/>
                        <a:t>-</a:t>
                      </a:r>
                      <a:endParaRPr lang="zh-TW" altLang="en-US" sz="2400" b="0" dirty="0"/>
                    </a:p>
                  </a:txBody>
                  <a:tcPr>
                    <a:noFill/>
                  </a:tcPr>
                </a:tc>
                <a:tc>
                  <a:txBody>
                    <a:bodyPr/>
                    <a:lstStyle/>
                    <a:p>
                      <a:pPr algn="ctr"/>
                      <a:r>
                        <a:rPr lang="en-US" altLang="zh-TW" sz="2400" b="0" dirty="0"/>
                        <a:t>c</a:t>
                      </a:r>
                      <a:endParaRPr lang="zh-TW" altLang="en-US" sz="2400" b="0" dirty="0"/>
                    </a:p>
                  </a:txBody>
                  <a:tcPr>
                    <a:noFill/>
                  </a:tcPr>
                </a:tc>
                <a:extLst>
                  <a:ext uri="{0D108BD9-81ED-4DB2-BD59-A6C34878D82A}">
                    <a16:rowId xmlns:a16="http://schemas.microsoft.com/office/drawing/2014/main" val="3474810379"/>
                  </a:ext>
                </a:extLst>
              </a:tr>
              <a:tr h="524190">
                <a:tc>
                  <a:txBody>
                    <a:bodyPr/>
                    <a:lstStyle/>
                    <a:p>
                      <a:pPr algn="ctr"/>
                      <a:r>
                        <a:rPr lang="en-US" altLang="zh-TW" sz="2400" b="0" dirty="0"/>
                        <a:t>r</a:t>
                      </a:r>
                      <a:endParaRPr lang="zh-TW" altLang="en-US" sz="2400" b="0" dirty="0"/>
                    </a:p>
                  </a:txBody>
                  <a:tcPr>
                    <a:solidFill>
                      <a:schemeClr val="bg2"/>
                    </a:solidFill>
                  </a:tcPr>
                </a:tc>
                <a:tc>
                  <a:txBody>
                    <a:bodyPr/>
                    <a:lstStyle/>
                    <a:p>
                      <a:pPr algn="ctr"/>
                      <a:r>
                        <a:rPr lang="en-US" altLang="zh-TW" sz="2400" b="0" dirty="0"/>
                        <a:t>1</a:t>
                      </a:r>
                      <a:endParaRPr lang="zh-TW" altLang="en-US" sz="2400" b="0" dirty="0"/>
                    </a:p>
                  </a:txBody>
                  <a:tcPr>
                    <a:noFill/>
                  </a:tcPr>
                </a:tc>
                <a:tc>
                  <a:txBody>
                    <a:bodyPr/>
                    <a:lstStyle/>
                    <a:p>
                      <a:pPr algn="ctr"/>
                      <a:r>
                        <a:rPr lang="en-US" altLang="zh-TW" sz="2400" b="0" dirty="0"/>
                        <a:t>1</a:t>
                      </a:r>
                      <a:endParaRPr lang="zh-TW" altLang="en-US" sz="2400" b="0" dirty="0"/>
                    </a:p>
                  </a:txBody>
                  <a:tcPr>
                    <a:noFill/>
                  </a:tcPr>
                </a:tc>
                <a:tc>
                  <a:txBody>
                    <a:bodyPr/>
                    <a:lstStyle/>
                    <a:p>
                      <a:pPr algn="ctr"/>
                      <a:r>
                        <a:rPr lang="en-US" altLang="zh-TW" sz="2400" b="0" dirty="0"/>
                        <a:t>2</a:t>
                      </a:r>
                      <a:endParaRPr lang="zh-TW" altLang="en-US" sz="2400" b="0" dirty="0"/>
                    </a:p>
                  </a:txBody>
                  <a:tcPr>
                    <a:noFill/>
                  </a:tcPr>
                </a:tc>
                <a:tc>
                  <a:txBody>
                    <a:bodyPr/>
                    <a:lstStyle/>
                    <a:p>
                      <a:pPr algn="ctr"/>
                      <a:r>
                        <a:rPr lang="en-US" altLang="zh-TW" sz="2400" b="0" dirty="0"/>
                        <a:t>1</a:t>
                      </a:r>
                      <a:endParaRPr lang="zh-TW" altLang="en-US" sz="2400" b="0" dirty="0"/>
                    </a:p>
                  </a:txBody>
                  <a:tcPr>
                    <a:noFill/>
                  </a:tcPr>
                </a:tc>
                <a:tc>
                  <a:txBody>
                    <a:bodyPr/>
                    <a:lstStyle/>
                    <a:p>
                      <a:pPr algn="ctr"/>
                      <a:r>
                        <a:rPr lang="en-US" altLang="zh-TW" sz="2400" b="0" dirty="0"/>
                        <a:t>4</a:t>
                      </a:r>
                      <a:endParaRPr lang="zh-TW" altLang="en-US" sz="2400" b="0" dirty="0"/>
                    </a:p>
                  </a:txBody>
                  <a:tcPr>
                    <a:noFill/>
                  </a:tcPr>
                </a:tc>
                <a:tc>
                  <a:txBody>
                    <a:bodyPr/>
                    <a:lstStyle/>
                    <a:p>
                      <a:pPr algn="ctr"/>
                      <a:r>
                        <a:rPr lang="en-US" altLang="zh-TW" sz="2400" b="0" dirty="0"/>
                        <a:t>1</a:t>
                      </a:r>
                      <a:endParaRPr lang="zh-TW" altLang="en-US" sz="2400" b="0" dirty="0"/>
                    </a:p>
                  </a:txBody>
                  <a:tcPr>
                    <a:noFill/>
                  </a:tcPr>
                </a:tc>
                <a:tc>
                  <a:txBody>
                    <a:bodyPr/>
                    <a:lstStyle/>
                    <a:p>
                      <a:pPr algn="ctr"/>
                      <a:r>
                        <a:rPr lang="en-US" altLang="zh-TW" sz="2400" b="0" dirty="0"/>
                        <a:t>2</a:t>
                      </a:r>
                      <a:endParaRPr lang="zh-TW" altLang="en-US" sz="2400" b="0" dirty="0"/>
                    </a:p>
                  </a:txBody>
                  <a:tcPr>
                    <a:noFill/>
                  </a:tcPr>
                </a:tc>
                <a:tc>
                  <a:txBody>
                    <a:bodyPr/>
                    <a:lstStyle/>
                    <a:p>
                      <a:pPr algn="ctr"/>
                      <a:r>
                        <a:rPr lang="en-US" altLang="zh-TW" sz="2400" b="0" dirty="0"/>
                        <a:t>1</a:t>
                      </a:r>
                      <a:endParaRPr lang="zh-TW" altLang="en-US" sz="2400" b="0" dirty="0"/>
                    </a:p>
                  </a:txBody>
                  <a:tcPr>
                    <a:noFill/>
                  </a:tcPr>
                </a:tc>
                <a:tc>
                  <a:txBody>
                    <a:bodyPr/>
                    <a:lstStyle/>
                    <a:p>
                      <a:pPr algn="ctr"/>
                      <a:r>
                        <a:rPr lang="en-US" altLang="zh-TW" sz="2400" b="0" dirty="0"/>
                        <a:t>8</a:t>
                      </a:r>
                      <a:endParaRPr lang="zh-TW" altLang="en-US" sz="2400" b="0" dirty="0"/>
                    </a:p>
                  </a:txBody>
                  <a:tcPr>
                    <a:noFill/>
                  </a:tcPr>
                </a:tc>
                <a:tc>
                  <a:txBody>
                    <a:bodyPr/>
                    <a:lstStyle/>
                    <a:p>
                      <a:pPr algn="ctr"/>
                      <a:r>
                        <a:rPr lang="en-US" altLang="zh-TW" sz="2400" b="0" dirty="0"/>
                        <a:t>1</a:t>
                      </a:r>
                      <a:endParaRPr lang="zh-TW" altLang="en-US" sz="2400" b="0" dirty="0"/>
                    </a:p>
                  </a:txBody>
                  <a:tcPr>
                    <a:noFill/>
                  </a:tcPr>
                </a:tc>
                <a:tc>
                  <a:txBody>
                    <a:bodyPr/>
                    <a:lstStyle/>
                    <a:p>
                      <a:pPr algn="ctr"/>
                      <a:r>
                        <a:rPr lang="en-US" altLang="zh-TW" sz="2400" b="0" dirty="0"/>
                        <a:t>2</a:t>
                      </a:r>
                      <a:endParaRPr lang="zh-TW" altLang="en-US" sz="2400" b="0" dirty="0"/>
                    </a:p>
                  </a:txBody>
                  <a:tcPr>
                    <a:noFill/>
                  </a:tcPr>
                </a:tc>
                <a:tc>
                  <a:txBody>
                    <a:bodyPr/>
                    <a:lstStyle/>
                    <a:p>
                      <a:pPr algn="ctr"/>
                      <a:r>
                        <a:rPr lang="en-US" altLang="zh-TW" sz="2400" b="0" dirty="0"/>
                        <a:t>1</a:t>
                      </a:r>
                      <a:endParaRPr lang="zh-TW" altLang="en-US" sz="2400" b="0" dirty="0"/>
                    </a:p>
                  </a:txBody>
                  <a:tcPr>
                    <a:noFill/>
                  </a:tcPr>
                </a:tc>
                <a:tc>
                  <a:txBody>
                    <a:bodyPr/>
                    <a:lstStyle/>
                    <a:p>
                      <a:pPr algn="ctr"/>
                      <a:r>
                        <a:rPr lang="en-US" altLang="zh-TW" sz="2400" b="0" dirty="0"/>
                        <a:t>10</a:t>
                      </a:r>
                      <a:endParaRPr lang="zh-TW" altLang="en-US" sz="2400" b="0" dirty="0"/>
                    </a:p>
                  </a:txBody>
                  <a:tcPr>
                    <a:noFill/>
                  </a:tcPr>
                </a:tc>
                <a:tc>
                  <a:txBody>
                    <a:bodyPr/>
                    <a:lstStyle/>
                    <a:p>
                      <a:pPr algn="ctr"/>
                      <a:r>
                        <a:rPr lang="en-US" altLang="zh-TW" sz="2400" b="0" dirty="0"/>
                        <a:t>1</a:t>
                      </a:r>
                      <a:endParaRPr lang="zh-TW" altLang="en-US" sz="2400" b="0" dirty="0"/>
                    </a:p>
                  </a:txBody>
                  <a:tcPr>
                    <a:noFill/>
                  </a:tcPr>
                </a:tc>
                <a:tc>
                  <a:txBody>
                    <a:bodyPr/>
                    <a:lstStyle/>
                    <a:p>
                      <a:pPr algn="ctr"/>
                      <a:r>
                        <a:rPr lang="en-US" altLang="zh-TW" sz="2400" b="0" dirty="0"/>
                        <a:t>2</a:t>
                      </a:r>
                      <a:endParaRPr lang="zh-TW" altLang="en-US" sz="2400" b="0" dirty="0"/>
                    </a:p>
                  </a:txBody>
                  <a:tcPr>
                    <a:noFill/>
                  </a:tcPr>
                </a:tc>
                <a:tc>
                  <a:txBody>
                    <a:bodyPr/>
                    <a:lstStyle/>
                    <a:p>
                      <a:pPr algn="ctr"/>
                      <a:r>
                        <a:rPr lang="en-US" altLang="zh-TW" sz="2400" b="0" dirty="0"/>
                        <a:t>1</a:t>
                      </a:r>
                      <a:endParaRPr lang="zh-TW" altLang="en-US" sz="2400" b="0" dirty="0"/>
                    </a:p>
                  </a:txBody>
                  <a:tcPr>
                    <a:noFill/>
                  </a:tcPr>
                </a:tc>
                <a:tc>
                  <a:txBody>
                    <a:bodyPr/>
                    <a:lstStyle/>
                    <a:p>
                      <a:pPr algn="ctr"/>
                      <a:r>
                        <a:rPr lang="en-US" altLang="zh-TW" sz="2400" b="0" dirty="0"/>
                        <a:t>6</a:t>
                      </a:r>
                      <a:endParaRPr lang="zh-TW" altLang="en-US" sz="2400" b="0" dirty="0"/>
                    </a:p>
                  </a:txBody>
                  <a:tcPr>
                    <a:noFill/>
                  </a:tcPr>
                </a:tc>
                <a:tc>
                  <a:txBody>
                    <a:bodyPr/>
                    <a:lstStyle/>
                    <a:p>
                      <a:pPr algn="ctr"/>
                      <a:r>
                        <a:rPr lang="en-US" altLang="zh-TW" sz="2400" b="0" dirty="0">
                          <a:solidFill>
                            <a:srgbClr val="FF0000"/>
                          </a:solidFill>
                        </a:rPr>
                        <a:t>1</a:t>
                      </a:r>
                      <a:endParaRPr lang="zh-TW" altLang="en-US" sz="2400" b="0" dirty="0">
                        <a:solidFill>
                          <a:srgbClr val="FF0000"/>
                        </a:solidFill>
                      </a:endParaRPr>
                    </a:p>
                  </a:txBody>
                  <a:tcPr>
                    <a:noFill/>
                  </a:tcPr>
                </a:tc>
                <a:tc>
                  <a:txBody>
                    <a:bodyPr/>
                    <a:lstStyle/>
                    <a:p>
                      <a:pPr algn="ctr"/>
                      <a:r>
                        <a:rPr lang="en-US" altLang="zh-TW" sz="2400" b="0" dirty="0">
                          <a:solidFill>
                            <a:srgbClr val="FF0000"/>
                          </a:solidFill>
                        </a:rPr>
                        <a:t>2</a:t>
                      </a:r>
                      <a:endParaRPr lang="zh-TW" altLang="en-US" sz="2400" b="0" dirty="0">
                        <a:solidFill>
                          <a:srgbClr val="FF0000"/>
                        </a:solidFill>
                      </a:endParaRPr>
                    </a:p>
                  </a:txBody>
                  <a:tcPr>
                    <a:noFill/>
                  </a:tcPr>
                </a:tc>
                <a:tc>
                  <a:txBody>
                    <a:bodyPr/>
                    <a:lstStyle/>
                    <a:p>
                      <a:pPr algn="ctr"/>
                      <a:r>
                        <a:rPr lang="en-US" altLang="zh-TW" sz="2400" b="0" dirty="0">
                          <a:solidFill>
                            <a:srgbClr val="FF0000"/>
                          </a:solidFill>
                        </a:rPr>
                        <a:t>1</a:t>
                      </a:r>
                      <a:endParaRPr lang="zh-TW" altLang="en-US" sz="2400" b="0" dirty="0">
                        <a:solidFill>
                          <a:srgbClr val="FF0000"/>
                        </a:solidFill>
                      </a:endParaRPr>
                    </a:p>
                  </a:txBody>
                  <a:tcPr>
                    <a:noFill/>
                  </a:tcPr>
                </a:tc>
                <a:tc>
                  <a:txBody>
                    <a:bodyPr/>
                    <a:lstStyle/>
                    <a:p>
                      <a:pPr algn="ctr"/>
                      <a:r>
                        <a:rPr lang="en-US" altLang="zh-TW" sz="2400" b="0" dirty="0">
                          <a:solidFill>
                            <a:srgbClr val="FF0000"/>
                          </a:solidFill>
                        </a:rPr>
                        <a:t>1</a:t>
                      </a:r>
                      <a:endParaRPr lang="zh-TW" altLang="en-US" sz="2400" b="0" dirty="0">
                        <a:solidFill>
                          <a:srgbClr val="FF0000"/>
                        </a:solidFill>
                      </a:endParaRPr>
                    </a:p>
                  </a:txBody>
                  <a:tcPr>
                    <a:noFill/>
                  </a:tcPr>
                </a:tc>
                <a:tc>
                  <a:txBody>
                    <a:bodyPr/>
                    <a:lstStyle/>
                    <a:p>
                      <a:pPr algn="ctr"/>
                      <a:r>
                        <a:rPr lang="en-US" altLang="zh-TW" sz="2400" b="0" dirty="0">
                          <a:solidFill>
                            <a:srgbClr val="FF0000"/>
                          </a:solidFill>
                        </a:rPr>
                        <a:t>1</a:t>
                      </a:r>
                      <a:endParaRPr lang="zh-TW" altLang="en-US" sz="2400" b="0" dirty="0">
                        <a:solidFill>
                          <a:srgbClr val="FF0000"/>
                        </a:solidFill>
                      </a:endParaRPr>
                    </a:p>
                  </a:txBody>
                  <a:tcPr>
                    <a:noFill/>
                  </a:tcPr>
                </a:tc>
                <a:tc>
                  <a:txBody>
                    <a:bodyPr/>
                    <a:lstStyle/>
                    <a:p>
                      <a:pPr algn="ctr"/>
                      <a:r>
                        <a:rPr lang="en-US" altLang="zh-TW" sz="2400" b="0" dirty="0">
                          <a:solidFill>
                            <a:srgbClr val="FF0000"/>
                          </a:solidFill>
                        </a:rPr>
                        <a:t>1</a:t>
                      </a:r>
                      <a:endParaRPr lang="zh-TW" altLang="en-US" sz="2400" b="0" dirty="0">
                        <a:solidFill>
                          <a:srgbClr val="FF0000"/>
                        </a:solidFill>
                      </a:endParaRPr>
                    </a:p>
                  </a:txBody>
                  <a:tcPr>
                    <a:noFill/>
                  </a:tcPr>
                </a:tc>
                <a:extLst>
                  <a:ext uri="{0D108BD9-81ED-4DB2-BD59-A6C34878D82A}">
                    <a16:rowId xmlns:a16="http://schemas.microsoft.com/office/drawing/2014/main" val="2333122955"/>
                  </a:ext>
                </a:extLst>
              </a:tr>
            </a:tbl>
          </a:graphicData>
        </a:graphic>
      </p:graphicFrame>
      <p:sp>
        <p:nvSpPr>
          <p:cNvPr id="5" name="左中括弧 4">
            <a:extLst>
              <a:ext uri="{FF2B5EF4-FFF2-40B4-BE49-F238E27FC236}">
                <a16:creationId xmlns:a16="http://schemas.microsoft.com/office/drawing/2014/main" id="{DF7D4C1D-221B-EE76-A928-03BE5BFBA5D9}"/>
              </a:ext>
            </a:extLst>
          </p:cNvPr>
          <p:cNvSpPr/>
          <p:nvPr/>
        </p:nvSpPr>
        <p:spPr>
          <a:xfrm rot="5400000">
            <a:off x="8673440" y="843397"/>
            <a:ext cx="246290" cy="4924921"/>
          </a:xfrm>
          <a:prstGeom prst="leftBracket">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Tree>
    <p:extLst>
      <p:ext uri="{BB962C8B-B14F-4D97-AF65-F5344CB8AC3E}">
        <p14:creationId xmlns:p14="http://schemas.microsoft.com/office/powerpoint/2010/main" val="374438255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pc="-1" dirty="0">
                <a:solidFill>
                  <a:srgbClr val="000000"/>
                </a:solidFill>
                <a:latin typeface="Times New Roman" pitchFamily="18" charset="0"/>
                <a:cs typeface="Times New Roman" pitchFamily="18" charset="0"/>
              </a:rPr>
              <a:t>Complexity</a:t>
            </a:r>
          </a:p>
        </p:txBody>
      </p:sp>
      <p:sp>
        <p:nvSpPr>
          <p:cNvPr id="3" name="內容版面配置區 2"/>
          <p:cNvSpPr>
            <a:spLocks noGrp="1"/>
          </p:cNvSpPr>
          <p:nvPr>
            <p:ph idx="1"/>
          </p:nvPr>
        </p:nvSpPr>
        <p:spPr>
          <a:xfrm>
            <a:off x="838200" y="2242269"/>
            <a:ext cx="10515600" cy="3934694"/>
          </a:xfrm>
        </p:spPr>
        <p:txBody>
          <a:bodyPr>
            <a:normAutofit/>
          </a:bodyPr>
          <a:lstStyle/>
          <a:p>
            <a:pPr marL="457560" indent="-457200">
              <a:spcBef>
                <a:spcPts val="561"/>
              </a:spcBef>
              <a:buClr>
                <a:srgbClr val="000000"/>
              </a:buClr>
            </a:pPr>
            <a:r>
              <a:rPr lang="en-US" altLang="zh-TW" spc="-1" dirty="0">
                <a:latin typeface="Times New Roman"/>
              </a:rPr>
              <a:t>n: </a:t>
            </a:r>
            <a:r>
              <a:rPr lang="zh-TW" altLang="en-US" spc="-1" dirty="0">
                <a:latin typeface="Times New Roman"/>
              </a:rPr>
              <a:t>字串長度</a:t>
            </a:r>
            <a:endParaRPr lang="en-US" altLang="zh-TW" spc="-1" dirty="0">
              <a:latin typeface="Times New Roman"/>
            </a:endParaRPr>
          </a:p>
          <a:p>
            <a:pPr marL="457560" indent="-457200">
              <a:spcBef>
                <a:spcPts val="561"/>
              </a:spcBef>
              <a:buClr>
                <a:srgbClr val="000000"/>
              </a:buClr>
            </a:pPr>
            <a:r>
              <a:rPr lang="en-US" altLang="zh-TW" spc="-1" dirty="0">
                <a:latin typeface="Times New Roman"/>
              </a:rPr>
              <a:t>m: </a:t>
            </a:r>
            <a:r>
              <a:rPr lang="zh-TW" altLang="en-US" spc="-1" dirty="0">
                <a:latin typeface="Times New Roman"/>
              </a:rPr>
              <a:t>每次能找到的回文長度</a:t>
            </a:r>
            <a:endParaRPr lang="en-US" altLang="zh-TW" spc="-1" dirty="0">
              <a:latin typeface="Times New Roman"/>
            </a:endParaRPr>
          </a:p>
          <a:p>
            <a:pPr marL="457560" indent="-457200">
              <a:spcBef>
                <a:spcPts val="561"/>
              </a:spcBef>
              <a:buClr>
                <a:srgbClr val="000000"/>
              </a:buClr>
            </a:pPr>
            <a:endParaRPr lang="en-US" altLang="zh-TW" spc="-1" dirty="0">
              <a:latin typeface="Times New Roman"/>
            </a:endParaRPr>
          </a:p>
          <a:p>
            <a:pPr marL="457560" indent="-457200">
              <a:spcBef>
                <a:spcPts val="561"/>
              </a:spcBef>
              <a:buClr>
                <a:srgbClr val="000000"/>
              </a:buClr>
            </a:pPr>
            <a:r>
              <a:rPr lang="en-US" altLang="zh-TW" spc="-1" dirty="0">
                <a:latin typeface="Times New Roman"/>
              </a:rPr>
              <a:t>time complexity = O(n / m) * m</a:t>
            </a:r>
          </a:p>
          <a:p>
            <a:pPr marL="360" indent="0">
              <a:spcBef>
                <a:spcPts val="561"/>
              </a:spcBef>
              <a:buClr>
                <a:srgbClr val="000000"/>
              </a:buClr>
              <a:buNone/>
            </a:pPr>
            <a:r>
              <a:rPr lang="en-US" altLang="zh-TW" spc="-1" dirty="0">
                <a:latin typeface="Times New Roman"/>
              </a:rPr>
              <a:t>                       </a:t>
            </a:r>
            <a:r>
              <a:rPr lang="en-US" altLang="zh-TW" spc="-1" baseline="-25000" dirty="0">
                <a:latin typeface="Times New Roman"/>
              </a:rPr>
              <a:t>     </a:t>
            </a:r>
            <a:r>
              <a:rPr lang="en-US" altLang="zh-TW" spc="-1" dirty="0">
                <a:latin typeface="Times New Roman"/>
              </a:rPr>
              <a:t>      = O(n)</a:t>
            </a:r>
          </a:p>
        </p:txBody>
      </p:sp>
    </p:spTree>
    <p:extLst>
      <p:ext uri="{BB962C8B-B14F-4D97-AF65-F5344CB8AC3E}">
        <p14:creationId xmlns:p14="http://schemas.microsoft.com/office/powerpoint/2010/main" val="377461683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訂 1">
      <a:majorFont>
        <a:latin typeface="Times New Roman"/>
        <a:ea typeface="微軟正黑體"/>
        <a:cs typeface=""/>
      </a:majorFont>
      <a:minorFont>
        <a:latin typeface="Times New Roman"/>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10824</TotalTime>
  <Words>818</Words>
  <Application>Microsoft Office PowerPoint</Application>
  <PresentationFormat>寬螢幕</PresentationFormat>
  <Paragraphs>435</Paragraphs>
  <Slides>13</Slides>
  <Notes>0</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13</vt:i4>
      </vt:variant>
    </vt:vector>
  </HeadingPairs>
  <TitlesOfParts>
    <vt:vector size="17" baseType="lpstr">
      <vt:lpstr>Arial</vt:lpstr>
      <vt:lpstr>Cambria Math</vt:lpstr>
      <vt:lpstr>Times New Roman</vt:lpstr>
      <vt:lpstr>Office 佈景主題</vt:lpstr>
      <vt:lpstr>A New Linear-Time "On-Line" Algorithm for Finding the  Smallest Initial Palindrome of a String</vt:lpstr>
      <vt:lpstr>Abstract (1/2) </vt:lpstr>
      <vt:lpstr>Abstract (2/2)</vt:lpstr>
      <vt:lpstr>Palindrome</vt:lpstr>
      <vt:lpstr>O(n2) algorithm</vt:lpstr>
      <vt:lpstr>Manacher’s Algorithm (1/7)</vt:lpstr>
      <vt:lpstr>Manacher’s Algorithm (2/7)</vt:lpstr>
      <vt:lpstr>Manacher’s Algorithm (3/7)</vt:lpstr>
      <vt:lpstr>Manacher’s Algorithm (4/7)</vt:lpstr>
      <vt:lpstr>Manacher’s Algorithm (5/7)</vt:lpstr>
      <vt:lpstr>Manacher’s Algorithm (6/7)</vt:lpstr>
      <vt:lpstr>Manacher’s Algorithm (7/7)</vt:lpstr>
      <vt:lpstr>Complexity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Alex</dc:creator>
  <cp:lastModifiedBy>pplab</cp:lastModifiedBy>
  <cp:revision>420</cp:revision>
  <dcterms:created xsi:type="dcterms:W3CDTF">2021-01-03T09:53:04Z</dcterms:created>
  <dcterms:modified xsi:type="dcterms:W3CDTF">2023-03-07T11:06:23Z</dcterms:modified>
</cp:coreProperties>
</file>