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58" r:id="rId3"/>
    <p:sldId id="278" r:id="rId4"/>
    <p:sldId id="290" r:id="rId5"/>
    <p:sldId id="291" r:id="rId6"/>
    <p:sldId id="292" r:id="rId7"/>
    <p:sldId id="293" r:id="rId8"/>
    <p:sldId id="294" r:id="rId9"/>
    <p:sldId id="295" r:id="rId10"/>
    <p:sldId id="296" r:id="rId11"/>
    <p:sldId id="297" r:id="rId12"/>
    <p:sldId id="298" r:id="rId13"/>
    <p:sldId id="301" r:id="rId14"/>
    <p:sldId id="302" r:id="rId15"/>
    <p:sldId id="304" r:id="rId16"/>
    <p:sldId id="305" r:id="rId17"/>
    <p:sldId id="306" r:id="rId18"/>
    <p:sldId id="307" r:id="rId19"/>
    <p:sldId id="308" r:id="rId20"/>
    <p:sldId id="309" r:id="rId21"/>
    <p:sldId id="269" r:id="rId22"/>
    <p:sldId id="303" r:id="rId2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4594" autoAdjust="0"/>
  </p:normalViewPr>
  <p:slideViewPr>
    <p:cSldViewPr snapToGrid="0">
      <p:cViewPr varScale="1">
        <p:scale>
          <a:sx n="70" d="100"/>
          <a:sy n="70" d="100"/>
        </p:scale>
        <p:origin x="73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667DF-ECF2-46EC-8446-7B955A747664}" type="datetimeFigureOut">
              <a:rPr lang="zh-TW" altLang="en-US" smtClean="0"/>
              <a:t>2023/7/18</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562F9-E128-4B6E-872C-5F1FFAE33516}" type="slidenum">
              <a:rPr lang="zh-TW" altLang="en-US" smtClean="0"/>
              <a:t>‹#›</a:t>
            </a:fld>
            <a:endParaRPr lang="zh-TW" altLang="en-US"/>
          </a:p>
        </p:txBody>
      </p:sp>
    </p:spTree>
    <p:extLst>
      <p:ext uri="{BB962C8B-B14F-4D97-AF65-F5344CB8AC3E}">
        <p14:creationId xmlns:p14="http://schemas.microsoft.com/office/powerpoint/2010/main" val="397955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6EB0929B-4ACD-4AAE-9309-95C05ACE2D43}" type="slidenum">
              <a:rPr lang="zh-TW" altLang="en-US" smtClean="0"/>
              <a:t>1</a:t>
            </a:fld>
            <a:endParaRPr lang="zh-TW" altLang="en-US"/>
          </a:p>
        </p:txBody>
      </p:sp>
    </p:spTree>
    <p:extLst>
      <p:ext uri="{BB962C8B-B14F-4D97-AF65-F5344CB8AC3E}">
        <p14:creationId xmlns:p14="http://schemas.microsoft.com/office/powerpoint/2010/main" val="4063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3</a:t>
            </a:fld>
            <a:endParaRPr lang="zh-TW" altLang="en-US"/>
          </a:p>
        </p:txBody>
      </p:sp>
    </p:spTree>
    <p:extLst>
      <p:ext uri="{BB962C8B-B14F-4D97-AF65-F5344CB8AC3E}">
        <p14:creationId xmlns:p14="http://schemas.microsoft.com/office/powerpoint/2010/main" val="542801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4</a:t>
            </a:fld>
            <a:endParaRPr lang="zh-TW" altLang="en-US"/>
          </a:p>
        </p:txBody>
      </p:sp>
    </p:spTree>
    <p:extLst>
      <p:ext uri="{BB962C8B-B14F-4D97-AF65-F5344CB8AC3E}">
        <p14:creationId xmlns:p14="http://schemas.microsoft.com/office/powerpoint/2010/main" val="430881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5</a:t>
            </a:fld>
            <a:endParaRPr lang="zh-TW" altLang="en-US"/>
          </a:p>
        </p:txBody>
      </p:sp>
    </p:spTree>
    <p:extLst>
      <p:ext uri="{BB962C8B-B14F-4D97-AF65-F5344CB8AC3E}">
        <p14:creationId xmlns:p14="http://schemas.microsoft.com/office/powerpoint/2010/main" val="4018180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6</a:t>
            </a:fld>
            <a:endParaRPr lang="zh-TW" altLang="en-US"/>
          </a:p>
        </p:txBody>
      </p:sp>
    </p:spTree>
    <p:extLst>
      <p:ext uri="{BB962C8B-B14F-4D97-AF65-F5344CB8AC3E}">
        <p14:creationId xmlns:p14="http://schemas.microsoft.com/office/powerpoint/2010/main" val="1022299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7</a:t>
            </a:fld>
            <a:endParaRPr lang="zh-TW" altLang="en-US"/>
          </a:p>
        </p:txBody>
      </p:sp>
    </p:spTree>
    <p:extLst>
      <p:ext uri="{BB962C8B-B14F-4D97-AF65-F5344CB8AC3E}">
        <p14:creationId xmlns:p14="http://schemas.microsoft.com/office/powerpoint/2010/main" val="2118309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8</a:t>
            </a:fld>
            <a:endParaRPr lang="zh-TW" altLang="en-US"/>
          </a:p>
        </p:txBody>
      </p:sp>
    </p:spTree>
    <p:extLst>
      <p:ext uri="{BB962C8B-B14F-4D97-AF65-F5344CB8AC3E}">
        <p14:creationId xmlns:p14="http://schemas.microsoft.com/office/powerpoint/2010/main" val="2185706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9</a:t>
            </a:fld>
            <a:endParaRPr lang="zh-TW" altLang="en-US"/>
          </a:p>
        </p:txBody>
      </p:sp>
    </p:spTree>
    <p:extLst>
      <p:ext uri="{BB962C8B-B14F-4D97-AF65-F5344CB8AC3E}">
        <p14:creationId xmlns:p14="http://schemas.microsoft.com/office/powerpoint/2010/main" val="3428404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10</a:t>
            </a:fld>
            <a:endParaRPr lang="zh-TW" altLang="en-US"/>
          </a:p>
        </p:txBody>
      </p:sp>
    </p:spTree>
    <p:extLst>
      <p:ext uri="{BB962C8B-B14F-4D97-AF65-F5344CB8AC3E}">
        <p14:creationId xmlns:p14="http://schemas.microsoft.com/office/powerpoint/2010/main" val="1528767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11</a:t>
            </a:fld>
            <a:endParaRPr lang="zh-TW" altLang="en-US"/>
          </a:p>
        </p:txBody>
      </p:sp>
    </p:spTree>
    <p:extLst>
      <p:ext uri="{BB962C8B-B14F-4D97-AF65-F5344CB8AC3E}">
        <p14:creationId xmlns:p14="http://schemas.microsoft.com/office/powerpoint/2010/main" val="957807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12</a:t>
            </a:fld>
            <a:endParaRPr lang="zh-TW" altLang="en-US"/>
          </a:p>
        </p:txBody>
      </p:sp>
    </p:spTree>
    <p:extLst>
      <p:ext uri="{BB962C8B-B14F-4D97-AF65-F5344CB8AC3E}">
        <p14:creationId xmlns:p14="http://schemas.microsoft.com/office/powerpoint/2010/main" val="23889682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13</a:t>
            </a:fld>
            <a:endParaRPr lang="zh-TW" altLang="en-US"/>
          </a:p>
        </p:txBody>
      </p:sp>
    </p:spTree>
    <p:extLst>
      <p:ext uri="{BB962C8B-B14F-4D97-AF65-F5344CB8AC3E}">
        <p14:creationId xmlns:p14="http://schemas.microsoft.com/office/powerpoint/2010/main" val="4142888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14</a:t>
            </a:fld>
            <a:endParaRPr lang="zh-TW" altLang="en-US"/>
          </a:p>
        </p:txBody>
      </p:sp>
    </p:spTree>
    <p:extLst>
      <p:ext uri="{BB962C8B-B14F-4D97-AF65-F5344CB8AC3E}">
        <p14:creationId xmlns:p14="http://schemas.microsoft.com/office/powerpoint/2010/main" val="348206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15</a:t>
            </a:fld>
            <a:endParaRPr lang="zh-TW" altLang="en-US"/>
          </a:p>
        </p:txBody>
      </p:sp>
    </p:spTree>
    <p:extLst>
      <p:ext uri="{BB962C8B-B14F-4D97-AF65-F5344CB8AC3E}">
        <p14:creationId xmlns:p14="http://schemas.microsoft.com/office/powerpoint/2010/main" val="69203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16</a:t>
            </a:fld>
            <a:endParaRPr lang="zh-TW" altLang="en-US"/>
          </a:p>
        </p:txBody>
      </p:sp>
    </p:spTree>
    <p:extLst>
      <p:ext uri="{BB962C8B-B14F-4D97-AF65-F5344CB8AC3E}">
        <p14:creationId xmlns:p14="http://schemas.microsoft.com/office/powerpoint/2010/main" val="9999675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17</a:t>
            </a:fld>
            <a:endParaRPr lang="zh-TW" altLang="en-US"/>
          </a:p>
        </p:txBody>
      </p:sp>
    </p:spTree>
    <p:extLst>
      <p:ext uri="{BB962C8B-B14F-4D97-AF65-F5344CB8AC3E}">
        <p14:creationId xmlns:p14="http://schemas.microsoft.com/office/powerpoint/2010/main" val="36250169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18</a:t>
            </a:fld>
            <a:endParaRPr lang="zh-TW" altLang="en-US"/>
          </a:p>
        </p:txBody>
      </p:sp>
    </p:spTree>
    <p:extLst>
      <p:ext uri="{BB962C8B-B14F-4D97-AF65-F5344CB8AC3E}">
        <p14:creationId xmlns:p14="http://schemas.microsoft.com/office/powerpoint/2010/main" val="40928309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19</a:t>
            </a:fld>
            <a:endParaRPr lang="zh-TW" altLang="en-US"/>
          </a:p>
        </p:txBody>
      </p:sp>
    </p:spTree>
    <p:extLst>
      <p:ext uri="{BB962C8B-B14F-4D97-AF65-F5344CB8AC3E}">
        <p14:creationId xmlns:p14="http://schemas.microsoft.com/office/powerpoint/2010/main" val="17720442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20</a:t>
            </a:fld>
            <a:endParaRPr lang="zh-TW" altLang="en-US"/>
          </a:p>
        </p:txBody>
      </p:sp>
    </p:spTree>
    <p:extLst>
      <p:ext uri="{BB962C8B-B14F-4D97-AF65-F5344CB8AC3E}">
        <p14:creationId xmlns:p14="http://schemas.microsoft.com/office/powerpoint/2010/main" val="102258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21</a:t>
            </a:fld>
            <a:endParaRPr lang="zh-TW" altLang="en-US"/>
          </a:p>
        </p:txBody>
      </p:sp>
    </p:spTree>
    <p:extLst>
      <p:ext uri="{BB962C8B-B14F-4D97-AF65-F5344CB8AC3E}">
        <p14:creationId xmlns:p14="http://schemas.microsoft.com/office/powerpoint/2010/main" val="12842276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22</a:t>
            </a:fld>
            <a:endParaRPr lang="zh-TW" altLang="en-US"/>
          </a:p>
        </p:txBody>
      </p:sp>
    </p:spTree>
    <p:extLst>
      <p:ext uri="{BB962C8B-B14F-4D97-AF65-F5344CB8AC3E}">
        <p14:creationId xmlns:p14="http://schemas.microsoft.com/office/powerpoint/2010/main" val="1073176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8045-16E7-451C-65FC-B158983ECC6E}"/>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58AF068A-58AE-8713-2F67-C52F90F86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960BA286-7DBB-ABAF-AE2A-AD9DDE775D11}"/>
              </a:ext>
            </a:extLst>
          </p:cNvPr>
          <p:cNvSpPr>
            <a:spLocks noGrp="1"/>
          </p:cNvSpPr>
          <p:nvPr>
            <p:ph type="dt" sz="half" idx="10"/>
          </p:nvPr>
        </p:nvSpPr>
        <p:spPr/>
        <p:txBody>
          <a:bodyPr/>
          <a:lstStyle/>
          <a:p>
            <a:fld id="{701DD569-BD2D-4D1C-B67A-2A5601E6B3E3}" type="datetime1">
              <a:rPr lang="zh-TW" altLang="en-US" smtClean="0"/>
              <a:t>2023/7/18</a:t>
            </a:fld>
            <a:endParaRPr lang="zh-TW" altLang="en-US"/>
          </a:p>
        </p:txBody>
      </p:sp>
      <p:sp>
        <p:nvSpPr>
          <p:cNvPr id="5" name="Footer Placeholder 4">
            <a:extLst>
              <a:ext uri="{FF2B5EF4-FFF2-40B4-BE49-F238E27FC236}">
                <a16:creationId xmlns:a16="http://schemas.microsoft.com/office/drawing/2014/main" id="{136A0D4C-517F-3A75-2138-B35995E6DA6F}"/>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41CC6E-1A90-9EBF-3395-DCC19E86BE6D}"/>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763099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D236-5FFE-A036-B937-040C50348880}"/>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04EEFD4-29DF-59B4-50ED-3F42FB6C5EE7}"/>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5825951-765D-8F13-9483-0B7BC83461D7}"/>
              </a:ext>
            </a:extLst>
          </p:cNvPr>
          <p:cNvSpPr>
            <a:spLocks noGrp="1"/>
          </p:cNvSpPr>
          <p:nvPr>
            <p:ph type="dt" sz="half" idx="10"/>
          </p:nvPr>
        </p:nvSpPr>
        <p:spPr/>
        <p:txBody>
          <a:bodyPr/>
          <a:lstStyle/>
          <a:p>
            <a:fld id="{613F9AF4-0F76-4C66-B441-D1B2D7ED3BEC}" type="datetime1">
              <a:rPr lang="zh-TW" altLang="en-US" smtClean="0"/>
              <a:t>2023/7/18</a:t>
            </a:fld>
            <a:endParaRPr lang="zh-TW" altLang="en-US"/>
          </a:p>
        </p:txBody>
      </p:sp>
      <p:sp>
        <p:nvSpPr>
          <p:cNvPr id="5" name="Footer Placeholder 4">
            <a:extLst>
              <a:ext uri="{FF2B5EF4-FFF2-40B4-BE49-F238E27FC236}">
                <a16:creationId xmlns:a16="http://schemas.microsoft.com/office/drawing/2014/main" id="{753DCF9E-E6A3-995C-A1B7-97A453CBDACD}"/>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B585ECA-E5DF-198A-D862-E85E0172760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676363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4931-3342-74A5-5F4A-1ACADB362228}"/>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1E4ABAD9-77A7-31C2-CE3B-83AB0265A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E95B3F41-FADE-64E8-94E5-51E3BAD87B58}"/>
              </a:ext>
            </a:extLst>
          </p:cNvPr>
          <p:cNvSpPr>
            <a:spLocks noGrp="1"/>
          </p:cNvSpPr>
          <p:nvPr>
            <p:ph type="dt" sz="half" idx="10"/>
          </p:nvPr>
        </p:nvSpPr>
        <p:spPr/>
        <p:txBody>
          <a:bodyPr/>
          <a:lstStyle/>
          <a:p>
            <a:fld id="{298A6C79-1DF6-49C7-8CD7-FD6F5B614111}" type="datetime1">
              <a:rPr lang="zh-TW" altLang="en-US" smtClean="0"/>
              <a:t>2023/7/18</a:t>
            </a:fld>
            <a:endParaRPr lang="zh-TW" altLang="en-US"/>
          </a:p>
        </p:txBody>
      </p:sp>
      <p:sp>
        <p:nvSpPr>
          <p:cNvPr id="5" name="Footer Placeholder 4">
            <a:extLst>
              <a:ext uri="{FF2B5EF4-FFF2-40B4-BE49-F238E27FC236}">
                <a16:creationId xmlns:a16="http://schemas.microsoft.com/office/drawing/2014/main" id="{DCCF82AA-63C8-C306-BDDF-A523D9F84AD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2F183CF1-15A7-D9A0-AB7D-63A9F3204F7C}"/>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99962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4541-876E-1323-86BB-134B34EBFE26}"/>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C2F7A99-40BB-A978-A62D-456D85CB313F}"/>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0EB6C4AB-2328-C15C-EDBA-A6D9849715E4}"/>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90785A17-9FA9-28E5-585D-C1967447ECBE}"/>
              </a:ext>
            </a:extLst>
          </p:cNvPr>
          <p:cNvSpPr>
            <a:spLocks noGrp="1"/>
          </p:cNvSpPr>
          <p:nvPr>
            <p:ph type="dt" sz="half" idx="10"/>
          </p:nvPr>
        </p:nvSpPr>
        <p:spPr/>
        <p:txBody>
          <a:bodyPr/>
          <a:lstStyle/>
          <a:p>
            <a:fld id="{D5D813F3-84C2-4D70-A0DE-40780363C9EE}" type="datetime1">
              <a:rPr lang="zh-TW" altLang="en-US" smtClean="0"/>
              <a:t>2023/7/18</a:t>
            </a:fld>
            <a:endParaRPr lang="zh-TW" altLang="en-US"/>
          </a:p>
        </p:txBody>
      </p:sp>
      <p:sp>
        <p:nvSpPr>
          <p:cNvPr id="6" name="Footer Placeholder 5">
            <a:extLst>
              <a:ext uri="{FF2B5EF4-FFF2-40B4-BE49-F238E27FC236}">
                <a16:creationId xmlns:a16="http://schemas.microsoft.com/office/drawing/2014/main" id="{E38A8324-6BD6-434F-B46A-42E288600154}"/>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027986F1-3A6D-B41E-CFB4-7417B1F77B02}"/>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8951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3C63D-C7AF-2A59-F8AD-A038C042ACD5}"/>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F97C0EB9-FD48-3B5F-2543-5658F7F50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455B3736-516F-9579-FACA-DCB21A18E94D}"/>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86B03EA5-7849-E5F4-BF87-F3FC86368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A531D914-6ED8-D257-6CC2-104C6745C03F}"/>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789A8773-F0F7-3DBC-9C59-CA8EF9CF98D7}"/>
              </a:ext>
            </a:extLst>
          </p:cNvPr>
          <p:cNvSpPr>
            <a:spLocks noGrp="1"/>
          </p:cNvSpPr>
          <p:nvPr>
            <p:ph type="dt" sz="half" idx="10"/>
          </p:nvPr>
        </p:nvSpPr>
        <p:spPr/>
        <p:txBody>
          <a:bodyPr/>
          <a:lstStyle/>
          <a:p>
            <a:fld id="{369FA993-B73B-4E0A-AC46-BDD6B2FA04A9}" type="datetime1">
              <a:rPr lang="zh-TW" altLang="en-US" smtClean="0"/>
              <a:t>2023/7/18</a:t>
            </a:fld>
            <a:endParaRPr lang="zh-TW" altLang="en-US"/>
          </a:p>
        </p:txBody>
      </p:sp>
      <p:sp>
        <p:nvSpPr>
          <p:cNvPr id="8" name="Footer Placeholder 7">
            <a:extLst>
              <a:ext uri="{FF2B5EF4-FFF2-40B4-BE49-F238E27FC236}">
                <a16:creationId xmlns:a16="http://schemas.microsoft.com/office/drawing/2014/main" id="{13D508DB-1C1C-AFC2-2C1A-1DDBC10F88E7}"/>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38C9407E-CED6-F5A6-39DB-82B07C84A9D4}"/>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59534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8DAB-3374-67D6-5EB1-2C3253F55250}"/>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080D7194-F69E-4DA8-89C4-AE8729BF6621}"/>
              </a:ext>
            </a:extLst>
          </p:cNvPr>
          <p:cNvSpPr>
            <a:spLocks noGrp="1"/>
          </p:cNvSpPr>
          <p:nvPr>
            <p:ph type="dt" sz="half" idx="10"/>
          </p:nvPr>
        </p:nvSpPr>
        <p:spPr/>
        <p:txBody>
          <a:bodyPr/>
          <a:lstStyle/>
          <a:p>
            <a:fld id="{7986ADAD-A8C5-4E4F-97C2-B2F188A7EEC4}" type="datetime1">
              <a:rPr lang="zh-TW" altLang="en-US" smtClean="0"/>
              <a:t>2023/7/18</a:t>
            </a:fld>
            <a:endParaRPr lang="zh-TW" altLang="en-US"/>
          </a:p>
        </p:txBody>
      </p:sp>
      <p:sp>
        <p:nvSpPr>
          <p:cNvPr id="4" name="Footer Placeholder 3">
            <a:extLst>
              <a:ext uri="{FF2B5EF4-FFF2-40B4-BE49-F238E27FC236}">
                <a16:creationId xmlns:a16="http://schemas.microsoft.com/office/drawing/2014/main" id="{268D0780-D9CB-B34D-A2E0-1D14B42F55C0}"/>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4BA4697E-BF8C-08DA-29D6-3B9ACC5CE078}"/>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421060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CFF4D-DBD6-E4FB-30B0-3844F2359FC9}"/>
              </a:ext>
            </a:extLst>
          </p:cNvPr>
          <p:cNvSpPr>
            <a:spLocks noGrp="1"/>
          </p:cNvSpPr>
          <p:nvPr>
            <p:ph type="dt" sz="half" idx="10"/>
          </p:nvPr>
        </p:nvSpPr>
        <p:spPr/>
        <p:txBody>
          <a:bodyPr/>
          <a:lstStyle/>
          <a:p>
            <a:fld id="{4875DE65-CDBA-47B3-8C63-EAD937C328D1}" type="datetime1">
              <a:rPr lang="zh-TW" altLang="en-US" smtClean="0"/>
              <a:t>2023/7/18</a:t>
            </a:fld>
            <a:endParaRPr lang="zh-TW" altLang="en-US"/>
          </a:p>
        </p:txBody>
      </p:sp>
      <p:sp>
        <p:nvSpPr>
          <p:cNvPr id="3" name="Footer Placeholder 2">
            <a:extLst>
              <a:ext uri="{FF2B5EF4-FFF2-40B4-BE49-F238E27FC236}">
                <a16:creationId xmlns:a16="http://schemas.microsoft.com/office/drawing/2014/main" id="{9E53340C-74EA-761B-F592-FD6C446900E6}"/>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0C816107-4110-8028-60EF-14E5F2D11499}"/>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2388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5481-AD55-0A04-6A16-2FE5FE1FE5E7}"/>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28FA7E5-F55B-C36B-5945-661CDB1EDF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41045507-E0DA-CCE2-C66E-2F29EA6A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A3D0A186-4631-35C9-68C0-298149FFEDF5}"/>
              </a:ext>
            </a:extLst>
          </p:cNvPr>
          <p:cNvSpPr>
            <a:spLocks noGrp="1"/>
          </p:cNvSpPr>
          <p:nvPr>
            <p:ph type="dt" sz="half" idx="10"/>
          </p:nvPr>
        </p:nvSpPr>
        <p:spPr/>
        <p:txBody>
          <a:bodyPr/>
          <a:lstStyle/>
          <a:p>
            <a:fld id="{02E9CB4A-921C-4216-9056-986295B6B351}" type="datetime1">
              <a:rPr lang="zh-TW" altLang="en-US" smtClean="0"/>
              <a:t>2023/7/18</a:t>
            </a:fld>
            <a:endParaRPr lang="zh-TW" altLang="en-US"/>
          </a:p>
        </p:txBody>
      </p:sp>
      <p:sp>
        <p:nvSpPr>
          <p:cNvPr id="6" name="Footer Placeholder 5">
            <a:extLst>
              <a:ext uri="{FF2B5EF4-FFF2-40B4-BE49-F238E27FC236}">
                <a16:creationId xmlns:a16="http://schemas.microsoft.com/office/drawing/2014/main" id="{5C6AC9F0-1D2E-CD0B-A6B8-A8337FE537DD}"/>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CCC73D3E-1C05-2CFF-6405-4771E57F8216}"/>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89545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9362-71C4-6CF9-38E0-C4F81738C538}"/>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D930231A-174C-8A04-7F37-326E7B3D7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1B03C50E-C2ED-00AE-E101-79CFAFB17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74E4BE7B-D25D-CFE2-B089-BAA86DCFC27E}"/>
              </a:ext>
            </a:extLst>
          </p:cNvPr>
          <p:cNvSpPr>
            <a:spLocks noGrp="1"/>
          </p:cNvSpPr>
          <p:nvPr>
            <p:ph type="dt" sz="half" idx="10"/>
          </p:nvPr>
        </p:nvSpPr>
        <p:spPr/>
        <p:txBody>
          <a:bodyPr/>
          <a:lstStyle/>
          <a:p>
            <a:fld id="{16C2F44B-5705-4772-8785-D8AAB7BCD3BF}" type="datetime1">
              <a:rPr lang="zh-TW" altLang="en-US" smtClean="0"/>
              <a:t>2023/7/18</a:t>
            </a:fld>
            <a:endParaRPr lang="zh-TW" altLang="en-US"/>
          </a:p>
        </p:txBody>
      </p:sp>
      <p:sp>
        <p:nvSpPr>
          <p:cNvPr id="6" name="Footer Placeholder 5">
            <a:extLst>
              <a:ext uri="{FF2B5EF4-FFF2-40B4-BE49-F238E27FC236}">
                <a16:creationId xmlns:a16="http://schemas.microsoft.com/office/drawing/2014/main" id="{65D0EA70-9CF5-E2A3-4310-0B5FAE7B7BE1}"/>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AB134B4A-B942-A3BD-6BA9-01E17E554220}"/>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808095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A6AD-5403-1ACC-D4D1-96B39DD846FD}"/>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82E60034-6B39-C082-088F-72D19BFE1304}"/>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9F803D3-C2D4-4034-17A0-8D2928B1269D}"/>
              </a:ext>
            </a:extLst>
          </p:cNvPr>
          <p:cNvSpPr>
            <a:spLocks noGrp="1"/>
          </p:cNvSpPr>
          <p:nvPr>
            <p:ph type="dt" sz="half" idx="10"/>
          </p:nvPr>
        </p:nvSpPr>
        <p:spPr/>
        <p:txBody>
          <a:bodyPr/>
          <a:lstStyle/>
          <a:p>
            <a:fld id="{44000920-BF4E-4A34-B8B5-5D2BB9836F35}" type="datetime1">
              <a:rPr lang="zh-TW" altLang="en-US" smtClean="0"/>
              <a:t>2023/7/18</a:t>
            </a:fld>
            <a:endParaRPr lang="zh-TW" altLang="en-US"/>
          </a:p>
        </p:txBody>
      </p:sp>
      <p:sp>
        <p:nvSpPr>
          <p:cNvPr id="5" name="Footer Placeholder 4">
            <a:extLst>
              <a:ext uri="{FF2B5EF4-FFF2-40B4-BE49-F238E27FC236}">
                <a16:creationId xmlns:a16="http://schemas.microsoft.com/office/drawing/2014/main" id="{3F295024-0915-E154-0CBE-65A94D23019C}"/>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D7C4D6-1F53-D5A1-0F98-4AF14C84F0C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56894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8714A-61BB-5406-A5DA-BC8910B5CD05}"/>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F04B0A4F-7A22-6245-0B0A-635765A85459}"/>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08523698-D80C-5B02-26C3-B7E0D02093A0}"/>
              </a:ext>
            </a:extLst>
          </p:cNvPr>
          <p:cNvSpPr>
            <a:spLocks noGrp="1"/>
          </p:cNvSpPr>
          <p:nvPr>
            <p:ph type="dt" sz="half" idx="10"/>
          </p:nvPr>
        </p:nvSpPr>
        <p:spPr/>
        <p:txBody>
          <a:bodyPr/>
          <a:lstStyle/>
          <a:p>
            <a:fld id="{DD1923D5-CB9E-42C4-A443-74EE43A78F1A}" type="datetime1">
              <a:rPr lang="zh-TW" altLang="en-US" smtClean="0"/>
              <a:t>2023/7/18</a:t>
            </a:fld>
            <a:endParaRPr lang="zh-TW" altLang="en-US"/>
          </a:p>
        </p:txBody>
      </p:sp>
      <p:sp>
        <p:nvSpPr>
          <p:cNvPr id="5" name="Footer Placeholder 4">
            <a:extLst>
              <a:ext uri="{FF2B5EF4-FFF2-40B4-BE49-F238E27FC236}">
                <a16:creationId xmlns:a16="http://schemas.microsoft.com/office/drawing/2014/main" id="{46961CDA-4309-2D61-CD40-8DE7FA2E125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BE0DEE89-0D64-3A74-3CEA-425D035B8803}"/>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538924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CB272-2800-21BB-F226-6BCB7515B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80EA0C83-E1FB-8AAC-CDEA-98C2D15B7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290E59ED-035C-8CC1-CFE9-73EA26D0C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9CDBA5-E58B-4CB2-961D-91717090BBCB}" type="datetime1">
              <a:rPr lang="zh-TW" altLang="en-US" smtClean="0"/>
              <a:t>2023/7/18</a:t>
            </a:fld>
            <a:endParaRPr lang="zh-TW" altLang="en-US"/>
          </a:p>
        </p:txBody>
      </p:sp>
      <p:sp>
        <p:nvSpPr>
          <p:cNvPr id="5" name="Footer Placeholder 4">
            <a:extLst>
              <a:ext uri="{FF2B5EF4-FFF2-40B4-BE49-F238E27FC236}">
                <a16:creationId xmlns:a16="http://schemas.microsoft.com/office/drawing/2014/main" id="{830ED3AA-0139-02CF-DF2C-5E6C9CB6C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a:extLst>
              <a:ext uri="{FF2B5EF4-FFF2-40B4-BE49-F238E27FC236}">
                <a16:creationId xmlns:a16="http://schemas.microsoft.com/office/drawing/2014/main" id="{2B1D16DD-A0C6-441C-56CA-8F27599A8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123377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1223962" y="1122363"/>
            <a:ext cx="9966552" cy="2387600"/>
          </a:xfrm>
        </p:spPr>
        <p:txBody>
          <a:bodyPr>
            <a:noAutofit/>
          </a:bodyPr>
          <a:lstStyle/>
          <a:p>
            <a:r>
              <a:rPr lang="en-US" altLang="zh-TW" sz="4400" b="1" dirty="0">
                <a:latin typeface="Times New Roman" panose="02020603050405020304" pitchFamily="18" charset="0"/>
                <a:cs typeface="Times New Roman" panose="02020603050405020304" pitchFamily="18" charset="0"/>
              </a:rPr>
              <a:t>Efficient Algorithms for the Order Preserving</a:t>
            </a:r>
            <a:r>
              <a:rPr lang="zh-TW" altLang="en-US" sz="4400" b="1" dirty="0">
                <a:latin typeface="Times New Roman" panose="02020603050405020304" pitchFamily="18" charset="0"/>
                <a:cs typeface="Times New Roman" panose="02020603050405020304" pitchFamily="18" charset="0"/>
              </a:rPr>
              <a:t> </a:t>
            </a:r>
            <a:r>
              <a:rPr lang="en-US" altLang="zh-TW" sz="4400" b="1" dirty="0">
                <a:latin typeface="Times New Roman" panose="02020603050405020304" pitchFamily="18" charset="0"/>
                <a:cs typeface="Times New Roman" panose="02020603050405020304" pitchFamily="18" charset="0"/>
              </a:rPr>
              <a:t>Pattern Matching Problem</a:t>
            </a: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786014" y="3928587"/>
            <a:ext cx="10842447" cy="1655762"/>
          </a:xfrm>
        </p:spPr>
        <p:txBody>
          <a:bodyPr>
            <a:normAutofit/>
          </a:bodyPr>
          <a:lstStyle/>
          <a:p>
            <a:r>
              <a:rPr lang="en-US" altLang="zh-TW" dirty="0">
                <a:latin typeface="Times New Roman" panose="02020603050405020304" pitchFamily="18" charset="0"/>
                <a:cs typeface="Times New Roman" panose="02020603050405020304" pitchFamily="18" charset="0"/>
              </a:rPr>
              <a:t>Simone Faro and M. </a:t>
            </a:r>
            <a:r>
              <a:rPr lang="en-US" altLang="zh-TW" dirty="0" err="1">
                <a:latin typeface="Times New Roman" panose="02020603050405020304" pitchFamily="18" charset="0"/>
                <a:cs typeface="Times New Roman" panose="02020603050405020304" pitchFamily="18" charset="0"/>
              </a:rPr>
              <a:t>Oğuzhan</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Külekci</a:t>
            </a:r>
            <a:r>
              <a:rPr lang="en-US" altLang="zh-TW" dirty="0">
                <a:latin typeface="Times New Roman" panose="02020603050405020304" pitchFamily="18" charset="0"/>
                <a:cs typeface="Times New Roman" panose="02020603050405020304" pitchFamily="18" charset="0"/>
              </a:rPr>
              <a:t>, </a:t>
            </a:r>
          </a:p>
          <a:p>
            <a:r>
              <a:rPr lang="en-US" altLang="zh-TW" dirty="0">
                <a:latin typeface="Times New Roman" panose="02020603050405020304" pitchFamily="18" charset="0"/>
                <a:cs typeface="Times New Roman" panose="02020603050405020304" pitchFamily="18" charset="0"/>
              </a:rPr>
              <a:t>Algorithmic Aspects in Information and Management, 2016, pp. 185–196</a:t>
            </a:r>
            <a:endParaRPr lang="zh-TW" altLang="en-US"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02973"/>
            <a:ext cx="3584053" cy="660717"/>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panose="02020603050405020304" pitchFamily="18" charset="0"/>
                <a:cs typeface="Times New Roman" panose="02020603050405020304" pitchFamily="18" charset="0"/>
              </a:rPr>
              <a:t>Presenter: Wen-Wen Liao</a:t>
            </a:r>
          </a:p>
          <a:p>
            <a:r>
              <a:rPr kumimoji="1" lang="en" altLang="zh-TW" dirty="0">
                <a:latin typeface="Times New Roman" panose="02020603050405020304" pitchFamily="18" charset="0"/>
                <a:cs typeface="Times New Roman" panose="02020603050405020304" pitchFamily="18" charset="0"/>
              </a:rPr>
              <a:t>Date: July 1</a:t>
            </a:r>
            <a:r>
              <a:rPr kumimoji="1" lang="en-US" altLang="zh-TW" dirty="0">
                <a:latin typeface="Times New Roman" panose="02020603050405020304" pitchFamily="18" charset="0"/>
                <a:cs typeface="Times New Roman" panose="02020603050405020304" pitchFamily="18" charset="0"/>
              </a:rPr>
              <a:t>8</a:t>
            </a:r>
            <a:r>
              <a:rPr kumimoji="1" lang="en" altLang="zh-TW" dirty="0">
                <a:latin typeface="Times New Roman" panose="02020603050405020304" pitchFamily="18" charset="0"/>
                <a:cs typeface="Times New Roman" panose="02020603050405020304" pitchFamily="18" charset="0"/>
              </a:rPr>
              <a:t>, 2023</a:t>
            </a: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fld id="{7FE2C478-69CB-4CE2-A453-7F649089E273}" type="slidenum">
              <a:rPr lang="zh-TW" altLang="en-US" smtClean="0"/>
              <a:t>1</a:t>
            </a:fld>
            <a:endParaRPr lang="zh-TW" altLang="en-US" dirty="0"/>
          </a:p>
        </p:txBody>
      </p:sp>
    </p:spTree>
    <p:extLst>
      <p:ext uri="{BB962C8B-B14F-4D97-AF65-F5344CB8AC3E}">
        <p14:creationId xmlns:p14="http://schemas.microsoft.com/office/powerpoint/2010/main" val="20678574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 </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a:normAutofit fontScale="92500" lnSpcReduction="20000"/>
          </a:bodyPr>
          <a:lstStyle/>
          <a:p>
            <a:pPr marL="0" indent="0">
              <a:lnSpc>
                <a:spcPct val="150000"/>
              </a:lnSpc>
              <a:buNone/>
            </a:pPr>
            <a:r>
              <a:rPr kumimoji="1" lang="en-US" altLang="zh-TW" sz="2400" dirty="0">
                <a:latin typeface="Times New Roman" panose="02020603050405020304" pitchFamily="18" charset="0"/>
                <a:cs typeface="Times New Roman" panose="02020603050405020304" pitchFamily="18" charset="0"/>
              </a:rPr>
              <a:t>Given a pattern </a:t>
            </a:r>
            <a:r>
              <a:rPr kumimoji="1" lang="en-US" altLang="zh-TW" sz="2400" i="1" dirty="0">
                <a:latin typeface="Times New Roman" panose="02020603050405020304" pitchFamily="18" charset="0"/>
                <a:cs typeface="Times New Roman" panose="02020603050405020304" pitchFamily="18" charset="0"/>
              </a:rPr>
              <a:t>x</a:t>
            </a:r>
            <a:r>
              <a:rPr kumimoji="1" lang="en-US" altLang="zh-TW" sz="2400" dirty="0">
                <a:latin typeface="Times New Roman" panose="02020603050405020304" pitchFamily="18" charset="0"/>
                <a:cs typeface="Times New Roman" panose="02020603050405020304" pitchFamily="18" charset="0"/>
              </a:rPr>
              <a:t> of length </a:t>
            </a:r>
            <a:r>
              <a:rPr kumimoji="1" lang="en-US" altLang="zh-TW" sz="2400" i="1" dirty="0">
                <a:latin typeface="Times New Roman" panose="02020603050405020304" pitchFamily="18" charset="0"/>
                <a:cs typeface="Times New Roman" panose="02020603050405020304" pitchFamily="18" charset="0"/>
              </a:rPr>
              <a:t>m</a:t>
            </a:r>
            <a:r>
              <a:rPr kumimoji="1" lang="en-US" altLang="zh-TW" sz="2400" dirty="0">
                <a:latin typeface="Times New Roman" panose="02020603050405020304" pitchFamily="18" charset="0"/>
                <a:cs typeface="Times New Roman" panose="02020603050405020304" pitchFamily="18" charset="0"/>
              </a:rPr>
              <a:t> and a text </a:t>
            </a:r>
            <a:r>
              <a:rPr kumimoji="1" lang="en-US" altLang="zh-TW" sz="2400" i="1" dirty="0">
                <a:latin typeface="Times New Roman" panose="02020603050405020304" pitchFamily="18" charset="0"/>
                <a:cs typeface="Times New Roman" panose="02020603050405020304" pitchFamily="18" charset="0"/>
              </a:rPr>
              <a:t>y</a:t>
            </a:r>
            <a:r>
              <a:rPr kumimoji="1" lang="en-US" altLang="zh-TW" sz="2400" dirty="0">
                <a:latin typeface="Times New Roman" panose="02020603050405020304" pitchFamily="18" charset="0"/>
                <a:cs typeface="Times New Roman" panose="02020603050405020304" pitchFamily="18" charset="0"/>
              </a:rPr>
              <a:t> of length </a:t>
            </a:r>
            <a:r>
              <a:rPr kumimoji="1" lang="en-US" altLang="zh-TW" sz="2400" i="1" dirty="0">
                <a:latin typeface="Times New Roman" panose="02020603050405020304" pitchFamily="18" charset="0"/>
                <a:cs typeface="Times New Roman" panose="02020603050405020304" pitchFamily="18" charset="0"/>
              </a:rPr>
              <a:t>n</a:t>
            </a:r>
            <a:r>
              <a:rPr kumimoji="1" lang="en-US" altLang="zh-TW" sz="2400" dirty="0">
                <a:latin typeface="Times New Roman" panose="02020603050405020304" pitchFamily="18" charset="0"/>
                <a:cs typeface="Times New Roman" panose="02020603050405020304" pitchFamily="18" charset="0"/>
              </a:rPr>
              <a:t>, both over an ordered alphabet, the order-preserving pattern matching problem consists in finding all substrings of the text with the same relative order as the pattern. The OPPM, which might be viewed as an approximate variant of the well known exact pattern matching problem, has gained attention in recent years. This interesting problem finds applications in a lot of fields as from time series analysis, like share prices on stock markets or weather data analysis, to musical melody matching. In this paper we present two new filtering approaches which turn out to be much more effective in practice than the previously presented methods by reducing the number of false positives up to 99%. From our experimental results it turns out that our proposed solutions are up to 2 times faster than the previous solutions.</a:t>
            </a: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2</a:t>
            </a:fld>
            <a:endParaRPr lang="zh-TW" altLang="en-US" dirty="0"/>
          </a:p>
        </p:txBody>
      </p:sp>
    </p:spTree>
    <p:extLst>
      <p:ext uri="{BB962C8B-B14F-4D97-AF65-F5344CB8AC3E}">
        <p14:creationId xmlns:p14="http://schemas.microsoft.com/office/powerpoint/2010/main" val="367190788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Order-Preserving Pattern Matching (OPPM)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3</a:t>
            </a:fld>
            <a:endParaRPr lang="zh-TW" altLang="en-US" dirty="0"/>
          </a:p>
        </p:txBody>
      </p:sp>
      <mc:AlternateContent xmlns:mc="http://schemas.openxmlformats.org/markup-compatibility/2006">
        <mc:Choice xmlns:a14="http://schemas.microsoft.com/office/drawing/2010/main"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a:t>
                </a:r>
                <a:r>
                  <a:rPr kumimoji="1" lang="en-US" altLang="zh-TW" sz="2400" i="1" dirty="0">
                    <a:latin typeface="Times New Roman" panose="02020603050405020304" pitchFamily="18" charset="0"/>
                    <a:cs typeface="Times New Roman" panose="02020603050405020304" pitchFamily="18" charset="0"/>
                  </a:rPr>
                  <a:t>x</a:t>
                </a:r>
                <a:r>
                  <a:rPr kumimoji="1" lang="en-US" altLang="zh-TW" sz="2400" dirty="0">
                    <a:latin typeface="Cambria Math" panose="02040503050406030204" pitchFamily="18" charset="0"/>
                    <a:cs typeface="Times New Roman" panose="02020603050405020304" pitchFamily="18" charset="0"/>
                  </a:rPr>
                  <a:t>= &lt;6, 5, 8, 4, 7&gt;</a:t>
                </a:r>
              </a:p>
              <a:p>
                <a14:m>
                  <m:oMath xmlns:m="http://schemas.openxmlformats.org/officeDocument/2006/math">
                    <m:r>
                      <a:rPr kumimoji="1" lang="es-ES" altLang="zh-TW" sz="2400" i="1" dirty="0" smtClean="0">
                        <a:latin typeface="Cambria Math" panose="02040503050406030204" pitchFamily="18" charset="0"/>
                        <a:cs typeface="Times New Roman" panose="02020603050405020304" pitchFamily="18" charset="0"/>
                      </a:rPr>
                      <m:t>𝑦</m:t>
                    </m:r>
                  </m:oMath>
                </a14:m>
                <a:r>
                  <a:rPr kumimoji="1" lang="es-ES" altLang="zh-TW" sz="2400" dirty="0">
                    <a:latin typeface="Cambria Math" panose="02040503050406030204" pitchFamily="18" charset="0"/>
                    <a:cs typeface="Times New Roman" panose="02020603050405020304" pitchFamily="18" charset="0"/>
                  </a:rPr>
                  <a:t> = &lt;8, 11, 10, 16, 15, 20, 13, 17, 14, 18, 20, 18, 25, 17, 20, 25, 26&gt;</a:t>
                </a:r>
              </a:p>
              <a:p>
                <a:endParaRPr kumimoji="1" lang="es-ES" altLang="zh-TW" sz="2400" dirty="0">
                  <a:latin typeface="Cambria Math" panose="02040503050406030204" pitchFamily="18" charset="0"/>
                  <a:cs typeface="Times New Roman" panose="02020603050405020304" pitchFamily="18" charset="0"/>
                </a:endParaRPr>
              </a:p>
              <a:p>
                <a:r>
                  <a:rPr kumimoji="1" lang="es-ES" altLang="zh-TW" sz="2400" dirty="0">
                    <a:latin typeface="Times New Roman" panose="02020603050405020304" pitchFamily="18" charset="0"/>
                    <a:cs typeface="Times New Roman" panose="02020603050405020304" pitchFamily="18" charset="0"/>
                  </a:rPr>
                  <a:t>Relative </a:t>
                </a:r>
                <a:r>
                  <a:rPr kumimoji="1" lang="es-ES" altLang="zh-TW" sz="2400" dirty="0" err="1">
                    <a:latin typeface="Times New Roman" panose="02020603050405020304" pitchFamily="18" charset="0"/>
                    <a:cs typeface="Times New Roman" panose="02020603050405020304" pitchFamily="18" charset="0"/>
                  </a:rPr>
                  <a:t>order</a:t>
                </a:r>
                <a:r>
                  <a:rPr kumimoji="1" lang="es-ES" altLang="zh-TW" sz="2400" dirty="0">
                    <a:latin typeface="Times New Roman" panose="02020603050405020304" pitchFamily="18" charset="0"/>
                    <a:cs typeface="Times New Roman" panose="02020603050405020304" pitchFamily="18" charset="0"/>
                  </a:rPr>
                  <a:t> of </a:t>
                </a:r>
                <a:r>
                  <a:rPr kumimoji="1" lang="es-ES" altLang="zh-TW" sz="2400" dirty="0" err="1">
                    <a:latin typeface="Times New Roman" panose="02020603050405020304" pitchFamily="18" charset="0"/>
                    <a:cs typeface="Times New Roman" panose="02020603050405020304" pitchFamily="18" charset="0"/>
                  </a:rPr>
                  <a:t>the</a:t>
                </a:r>
                <a:r>
                  <a:rPr kumimoji="1" lang="es-ES" altLang="zh-TW" sz="2400" dirty="0">
                    <a:latin typeface="Times New Roman" panose="02020603050405020304" pitchFamily="18" charset="0"/>
                    <a:cs typeface="Times New Roman" panose="02020603050405020304" pitchFamily="18" charset="0"/>
                  </a:rPr>
                  <a:t> </a:t>
                </a:r>
                <a:r>
                  <a:rPr kumimoji="1" lang="es-ES" altLang="zh-TW" sz="2400" dirty="0" err="1">
                    <a:latin typeface="Times New Roman" panose="02020603050405020304" pitchFamily="18" charset="0"/>
                    <a:cs typeface="Times New Roman" panose="02020603050405020304" pitchFamily="18" charset="0"/>
                  </a:rPr>
                  <a:t>sequence</a:t>
                </a:r>
                <a:r>
                  <a:rPr kumimoji="1" lang="es-ES" altLang="zh-TW" sz="2400" dirty="0">
                    <a:latin typeface="Times New Roman" panose="02020603050405020304" pitchFamily="18" charset="0"/>
                    <a:cs typeface="Times New Roman" panose="02020603050405020304" pitchFamily="18" charset="0"/>
                  </a:rPr>
                  <a:t> </a:t>
                </a:r>
                <a14:m>
                  <m:oMath xmlns:m="http://schemas.openxmlformats.org/officeDocument/2006/math">
                    <m:r>
                      <a:rPr kumimoji="1" lang="es-E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&lt;3, 1, 0, 4, 2&gt;</a:t>
                </a:r>
              </a:p>
              <a:p>
                <a:endParaRPr kumimoji="1" lang="en-US" altLang="zh-TW" sz="2400" dirty="0">
                  <a:latin typeface="Cambria Math" panose="02040503050406030204" pitchFamily="18" charset="0"/>
                  <a:cs typeface="Times New Roman" panose="02020603050405020304" pitchFamily="18" charset="0"/>
                </a:endParaRPr>
              </a:p>
              <a:p>
                <a:pPr marL="0" indent="0">
                  <a:buNone/>
                </a:pPr>
                <a:endParaRPr kumimoji="1" lang="en-US" altLang="zh-TW" sz="2600" dirty="0">
                  <a:latin typeface="Cambria Math" panose="02040503050406030204" pitchFamily="18" charset="0"/>
                  <a:cs typeface="Times New Roman" panose="02020603050405020304" pitchFamily="18" charset="0"/>
                </a:endParaRPr>
              </a:p>
            </p:txBody>
          </p:sp>
        </mc:Choice>
        <mc:Fallback>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l="-791" t="-2058"/>
                </a:stretch>
              </a:blipFill>
            </p:spPr>
            <p:txBody>
              <a:bodyPr/>
              <a:lstStyle/>
              <a:p>
                <a:r>
                  <a:rPr lang="zh-TW" altLang="en-US">
                    <a:noFill/>
                  </a:rPr>
                  <a:t> </a:t>
                </a:r>
              </a:p>
            </p:txBody>
          </p:sp>
        </mc:Fallback>
      </mc:AlternateContent>
      <p:pic>
        <p:nvPicPr>
          <p:cNvPr id="4" name="Picture 3">
            <a:extLst>
              <a:ext uri="{FF2B5EF4-FFF2-40B4-BE49-F238E27FC236}">
                <a16:creationId xmlns:a16="http://schemas.microsoft.com/office/drawing/2014/main" id="{B538F987-4496-79A2-D3F1-F30E374FB1F2}"/>
              </a:ext>
            </a:extLst>
          </p:cNvPr>
          <p:cNvPicPr>
            <a:picLocks noChangeAspect="1"/>
          </p:cNvPicPr>
          <p:nvPr/>
        </p:nvPicPr>
        <p:blipFill>
          <a:blip r:embed="rId4"/>
          <a:stretch>
            <a:fillRect/>
          </a:stretch>
        </p:blipFill>
        <p:spPr>
          <a:xfrm>
            <a:off x="3005328" y="3928253"/>
            <a:ext cx="6462193" cy="2115879"/>
          </a:xfrm>
          <a:prstGeom prst="rect">
            <a:avLst/>
          </a:prstGeom>
        </p:spPr>
      </p:pic>
    </p:spTree>
    <p:extLst>
      <p:ext uri="{BB962C8B-B14F-4D97-AF65-F5344CB8AC3E}">
        <p14:creationId xmlns:p14="http://schemas.microsoft.com/office/powerpoint/2010/main" val="298405716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Order-isomorphism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4</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&lt;6, 3, 8, 3, 10, 7, 10&gt;</a:t>
                </a:r>
              </a:p>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𝑦</m:t>
                    </m:r>
                  </m:oMath>
                </a14:m>
                <a:r>
                  <a:rPr kumimoji="1" lang="en-US" altLang="zh-TW" sz="2400" dirty="0">
                    <a:latin typeface="Cambria Math" panose="02040503050406030204" pitchFamily="18" charset="0"/>
                    <a:cs typeface="Times New Roman" panose="02020603050405020304" pitchFamily="18" charset="0"/>
                  </a:rPr>
                  <a:t> = &lt;2, 1, 4, 1, 5, 3, 5&gt;</a:t>
                </a:r>
              </a:p>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𝑧</m:t>
                    </m:r>
                  </m:oMath>
                </a14:m>
                <a:r>
                  <a:rPr kumimoji="1" lang="en-US" altLang="zh-TW" sz="2400" dirty="0">
                    <a:latin typeface="Cambria Math" panose="02040503050406030204" pitchFamily="18" charset="0"/>
                    <a:cs typeface="Times New Roman" panose="02020603050405020304" pitchFamily="18" charset="0"/>
                  </a:rPr>
                  <a:t> = &lt;6, 3, 8, 4, 9, 7, 10&gt;</a:t>
                </a:r>
              </a:p>
              <a:p>
                <a:endParaRPr kumimoji="1" lang="es-ES" altLang="zh-TW" sz="2400" dirty="0">
                  <a:latin typeface="Times New Roman" panose="02020603050405020304" pitchFamily="18" charset="0"/>
                  <a:cs typeface="Times New Roman" panose="02020603050405020304" pitchFamily="18" charset="0"/>
                </a:endParaRPr>
              </a:p>
              <a:p>
                <a:r>
                  <a:rPr kumimoji="1" lang="es-ES" altLang="zh-TW" sz="2400" dirty="0">
                    <a:latin typeface="Times New Roman" panose="02020603050405020304" pitchFamily="18" charset="0"/>
                    <a:cs typeface="Times New Roman" panose="02020603050405020304" pitchFamily="18" charset="0"/>
                  </a:rPr>
                  <a:t>Rank </a:t>
                </a:r>
                <a:r>
                  <a:rPr kumimoji="1" lang="es-ES" altLang="zh-TW" sz="2400" dirty="0" err="1">
                    <a:latin typeface="Times New Roman" panose="02020603050405020304" pitchFamily="18" charset="0"/>
                    <a:cs typeface="Times New Roman" panose="02020603050405020304" pitchFamily="18" charset="0"/>
                  </a:rPr>
                  <a:t>function</a:t>
                </a:r>
                <a:endParaRPr kumimoji="1" lang="es-ES" altLang="zh-TW" sz="2400"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kumimoji="1" lang="en-US" altLang="zh-TW" sz="240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𝑟𝑘</m:t>
                        </m:r>
                      </m:e>
                      <m:sub>
                        <m:r>
                          <a:rPr kumimoji="1" lang="en-US" altLang="zh-TW" sz="2400" b="0" i="1" smtClean="0">
                            <a:latin typeface="Cambria Math" panose="02040503050406030204" pitchFamily="18" charset="0"/>
                            <a:cs typeface="Times New Roman" panose="02020603050405020304" pitchFamily="18" charset="0"/>
                          </a:rPr>
                          <m:t>𝑥</m:t>
                        </m:r>
                      </m:sub>
                    </m:sSub>
                  </m:oMath>
                </a14:m>
                <a:r>
                  <a:rPr kumimoji="1" lang="en-US" altLang="zh-TW" sz="2400" dirty="0">
                    <a:latin typeface="Cambria Math" panose="02040503050406030204" pitchFamily="18" charset="0"/>
                    <a:cs typeface="Times New Roman" panose="02020603050405020304" pitchFamily="18" charset="0"/>
                  </a:rPr>
                  <a:t> =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𝑟𝑘</m:t>
                        </m:r>
                      </m:e>
                      <m:sub>
                        <m:r>
                          <a:rPr kumimoji="1" lang="en-US" altLang="zh-TW" sz="2400" b="0" i="1" smtClean="0">
                            <a:latin typeface="Cambria Math" panose="02040503050406030204" pitchFamily="18" charset="0"/>
                            <a:cs typeface="Times New Roman" panose="02020603050405020304" pitchFamily="18" charset="0"/>
                          </a:rPr>
                          <m:t>𝑦</m:t>
                        </m:r>
                      </m:sub>
                    </m:sSub>
                    <m:r>
                      <a:rPr kumimoji="1" lang="en-US" altLang="zh-TW" sz="2400" i="1">
                        <a:latin typeface="Cambria Math" panose="02040503050406030204" pitchFamily="18" charset="0"/>
                        <a:cs typeface="Times New Roman" panose="02020603050405020304" pitchFamily="18" charset="0"/>
                      </a:rPr>
                      <m:t> </m:t>
                    </m:r>
                  </m:oMath>
                </a14:m>
                <a:r>
                  <a:rPr kumimoji="1" lang="en-US" altLang="zh-TW" sz="2400" dirty="0">
                    <a:latin typeface="Cambria Math" panose="02040503050406030204" pitchFamily="18" charset="0"/>
                    <a:cs typeface="Times New Roman" panose="02020603050405020304" pitchFamily="18" charset="0"/>
                  </a:rPr>
                  <a:t>=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𝑟𝑘</m:t>
                        </m:r>
                      </m:e>
                      <m:sub>
                        <m:r>
                          <a:rPr kumimoji="1" lang="en-US" altLang="zh-TW" sz="2400" b="0" i="1" smtClean="0">
                            <a:latin typeface="Cambria Math" panose="02040503050406030204" pitchFamily="18" charset="0"/>
                            <a:cs typeface="Times New Roman" panose="02020603050405020304" pitchFamily="18" charset="0"/>
                          </a:rPr>
                          <m:t>𝑧</m:t>
                        </m:r>
                      </m:sub>
                    </m:sSub>
                    <m:r>
                      <a:rPr kumimoji="1" lang="en-US" altLang="zh-TW" sz="2400" i="1">
                        <a:latin typeface="Cambria Math" panose="02040503050406030204" pitchFamily="18" charset="0"/>
                        <a:cs typeface="Times New Roman" panose="02020603050405020304" pitchFamily="18" charset="0"/>
                      </a:rPr>
                      <m:t> </m:t>
                    </m:r>
                  </m:oMath>
                </a14:m>
                <a:r>
                  <a:rPr kumimoji="1" lang="en-US" altLang="zh-TW" sz="2400" b="1" dirty="0">
                    <a:latin typeface="Cambria Math" panose="02040503050406030204" pitchFamily="18" charset="0"/>
                    <a:cs typeface="Times New Roman" panose="02020603050405020304" pitchFamily="18" charset="0"/>
                  </a:rPr>
                  <a:t>= </a:t>
                </a:r>
                <a:r>
                  <a:rPr kumimoji="1" lang="en-US" altLang="zh-TW" sz="2400" dirty="0">
                    <a:latin typeface="Cambria Math" panose="02040503050406030204" pitchFamily="18" charset="0"/>
                    <a:cs typeface="Times New Roman" panose="02020603050405020304" pitchFamily="18" charset="0"/>
                  </a:rPr>
                  <a:t>&lt;2, 0, 4, 1, 5, 3, 6&gt;</a:t>
                </a:r>
                <a:endParaRPr kumimoji="1" lang="es-ES" altLang="zh-TW" sz="2400" dirty="0">
                  <a:latin typeface="Times New Roman" panose="02020603050405020304" pitchFamily="18" charset="0"/>
                  <a:cs typeface="Times New Roman" panose="02020603050405020304" pitchFamily="18" charset="0"/>
                </a:endParaRPr>
              </a:p>
              <a:p>
                <a:r>
                  <a:rPr kumimoji="1" lang="es-ES" altLang="zh-TW" sz="2400" dirty="0" err="1">
                    <a:latin typeface="Times New Roman" panose="02020603050405020304" pitchFamily="18" charset="0"/>
                    <a:cs typeface="Times New Roman" panose="02020603050405020304" pitchFamily="18" charset="0"/>
                  </a:rPr>
                  <a:t>Equality</a:t>
                </a:r>
                <a:r>
                  <a:rPr kumimoji="1" lang="es-ES" altLang="zh-TW" sz="2400" dirty="0">
                    <a:latin typeface="Times New Roman" panose="02020603050405020304" pitchFamily="18" charset="0"/>
                    <a:cs typeface="Times New Roman" panose="02020603050405020304" pitchFamily="18" charset="0"/>
                  </a:rPr>
                  <a:t> </a:t>
                </a:r>
                <a:r>
                  <a:rPr kumimoji="1" lang="es-ES" altLang="zh-TW" sz="2400" dirty="0" err="1">
                    <a:latin typeface="Times New Roman" panose="02020603050405020304" pitchFamily="18" charset="0"/>
                    <a:cs typeface="Times New Roman" panose="02020603050405020304" pitchFamily="18" charset="0"/>
                  </a:rPr>
                  <a:t>function</a:t>
                </a:r>
                <a:endParaRPr kumimoji="1" lang="es-ES" altLang="zh-TW" sz="2400"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kumimoji="1" lang="en-US" altLang="zh-TW" sz="240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𝑒𝑞</m:t>
                        </m:r>
                      </m:e>
                      <m:sub>
                        <m:r>
                          <a:rPr kumimoji="1" lang="en-US" altLang="zh-TW" sz="2400" b="0" i="1" smtClean="0">
                            <a:latin typeface="Cambria Math" panose="02040503050406030204" pitchFamily="18" charset="0"/>
                            <a:cs typeface="Times New Roman" panose="02020603050405020304" pitchFamily="18" charset="0"/>
                          </a:rPr>
                          <m:t>𝑥</m:t>
                        </m:r>
                      </m:sub>
                    </m:sSub>
                  </m:oMath>
                </a14:m>
                <a:r>
                  <a:rPr kumimoji="1" lang="en-US" altLang="zh-TW" sz="2400" dirty="0">
                    <a:latin typeface="Cambria Math" panose="02040503050406030204" pitchFamily="18" charset="0"/>
                    <a:cs typeface="Times New Roman" panose="02020603050405020304" pitchFamily="18" charset="0"/>
                  </a:rPr>
                  <a:t> =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𝑒𝑞</m:t>
                        </m:r>
                      </m:e>
                      <m:sub>
                        <m:r>
                          <a:rPr kumimoji="1" lang="en-US" altLang="zh-TW" sz="2400" b="0" i="1" smtClean="0">
                            <a:latin typeface="Cambria Math" panose="02040503050406030204" pitchFamily="18" charset="0"/>
                            <a:cs typeface="Times New Roman" panose="02020603050405020304" pitchFamily="18" charset="0"/>
                          </a:rPr>
                          <m:t>𝑦</m:t>
                        </m:r>
                      </m:sub>
                    </m:sSub>
                    <m:r>
                      <a:rPr kumimoji="1" lang="en-US" altLang="zh-TW" sz="2400" i="1">
                        <a:latin typeface="Cambria Math" panose="02040503050406030204" pitchFamily="18" charset="0"/>
                        <a:cs typeface="Times New Roman" panose="02020603050405020304" pitchFamily="18" charset="0"/>
                      </a:rPr>
                      <m:t> </m:t>
                    </m:r>
                  </m:oMath>
                </a14:m>
                <a:r>
                  <a:rPr kumimoji="1" lang="en-US" altLang="zh-TW" sz="2400" b="1" dirty="0">
                    <a:latin typeface="Cambria Math" panose="02040503050406030204" pitchFamily="18" charset="0"/>
                    <a:cs typeface="Times New Roman" panose="02020603050405020304" pitchFamily="18" charset="0"/>
                  </a:rPr>
                  <a:t>= </a:t>
                </a:r>
                <a:r>
                  <a:rPr kumimoji="1" lang="en-US" altLang="zh-TW" sz="2400" dirty="0">
                    <a:latin typeface="Cambria Math" panose="02040503050406030204" pitchFamily="18" charset="0"/>
                    <a:cs typeface="Times New Roman" panose="02020603050405020304" pitchFamily="18" charset="0"/>
                  </a:rPr>
                  <a:t>&lt;1, 0, 0, 0, 0, 1&gt;,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𝑒𝑞</m:t>
                        </m:r>
                      </m:e>
                      <m:sub>
                        <m:r>
                          <a:rPr kumimoji="1" lang="en-US" altLang="zh-TW" sz="2400" b="0" i="1" smtClean="0">
                            <a:latin typeface="Cambria Math" panose="02040503050406030204" pitchFamily="18" charset="0"/>
                            <a:cs typeface="Times New Roman" panose="02020603050405020304" pitchFamily="18" charset="0"/>
                          </a:rPr>
                          <m:t>𝑧</m:t>
                        </m:r>
                      </m:sub>
                    </m:sSub>
                  </m:oMath>
                </a14:m>
                <a:r>
                  <a:rPr kumimoji="1" lang="en-US" altLang="zh-TW" sz="2400" dirty="0">
                    <a:latin typeface="Cambria Math" panose="02040503050406030204" pitchFamily="18" charset="0"/>
                    <a:cs typeface="Times New Roman" panose="02020603050405020304" pitchFamily="18" charset="0"/>
                  </a:rPr>
                  <a:t> </a:t>
                </a:r>
                <a:r>
                  <a:rPr kumimoji="1" lang="en-US" altLang="zh-TW" sz="2400" b="1" dirty="0">
                    <a:latin typeface="Cambria Math" panose="02040503050406030204" pitchFamily="18" charset="0"/>
                    <a:cs typeface="Times New Roman" panose="02020603050405020304" pitchFamily="18" charset="0"/>
                  </a:rPr>
                  <a:t>= </a:t>
                </a:r>
                <a:r>
                  <a:rPr kumimoji="1" lang="en-US" altLang="zh-TW" sz="2400" dirty="0">
                    <a:latin typeface="Cambria Math" panose="02040503050406030204" pitchFamily="18" charset="0"/>
                    <a:cs typeface="Times New Roman" panose="02020603050405020304" pitchFamily="18" charset="0"/>
                  </a:rPr>
                  <a:t>&lt;0, 0, 0, 0, 0, 0&gt;</a:t>
                </a:r>
              </a:p>
              <a:p>
                <a:endParaRPr kumimoji="1" lang="en-US" altLang="zh-TW" sz="2400" dirty="0">
                  <a:latin typeface="Cambria Math" panose="02040503050406030204" pitchFamily="18" charset="0"/>
                  <a:cs typeface="Times New Roman" panose="02020603050405020304" pitchFamily="18" charset="0"/>
                </a:endParaRPr>
              </a:p>
              <a:p>
                <a:endParaRPr kumimoji="1" lang="es-ES" altLang="zh-TW" sz="2400"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l="-791" t="-192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0604741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Order-isomorphism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5</a:t>
            </a:fld>
            <a:endParaRPr lang="zh-TW" altLang="en-US" dirty="0"/>
          </a:p>
        </p:txBody>
      </p:sp>
      <mc:AlternateContent xmlns:mc="http://schemas.openxmlformats.org/markup-compatibility/2006">
        <mc:Choice xmlns:a14="http://schemas.microsoft.com/office/drawing/2010/main"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b="0" i="1" smtClean="0">
                        <a:latin typeface="Cambria Math" panose="02040503050406030204" pitchFamily="18" charset="0"/>
                        <a:cs typeface="Times New Roman" panose="02020603050405020304" pitchFamily="18" charset="0"/>
                      </a:rPr>
                      <m:t>𝑥</m:t>
                    </m:r>
                    <m:r>
                      <a:rPr kumimoji="1"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𝑦</m:t>
                    </m:r>
                  </m:oMath>
                </a14:m>
                <a:r>
                  <a:rPr kumimoji="1" lang="en-US" altLang="zh-TW" sz="2400" dirty="0">
                    <a:latin typeface="Cambria Math" panose="02040503050406030204" pitchFamily="18" charset="0"/>
                    <a:cs typeface="Times New Roman" panose="02020603050405020304" pitchFamily="18" charset="0"/>
                  </a:rPr>
                  <a:t>, if and only if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𝑟𝑘</m:t>
                        </m:r>
                      </m:e>
                      <m:sub>
                        <m:r>
                          <a:rPr kumimoji="1" lang="en-US" altLang="zh-TW" sz="2400" i="1">
                            <a:latin typeface="Cambria Math" panose="02040503050406030204" pitchFamily="18" charset="0"/>
                            <a:cs typeface="Times New Roman" panose="02020603050405020304" pitchFamily="18" charset="0"/>
                          </a:rPr>
                          <m:t>𝑥</m:t>
                        </m:r>
                      </m:sub>
                    </m:sSub>
                  </m:oMath>
                </a14:m>
                <a:r>
                  <a:rPr kumimoji="1" lang="en-US" altLang="zh-TW" sz="2400" dirty="0">
                    <a:latin typeface="Cambria Math" panose="02040503050406030204" pitchFamily="18" charset="0"/>
                    <a:cs typeface="Times New Roman" panose="02020603050405020304" pitchFamily="18" charset="0"/>
                  </a:rPr>
                  <a:t> =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𝑟𝑘</m:t>
                        </m:r>
                      </m:e>
                      <m:sub>
                        <m:r>
                          <a:rPr kumimoji="1" lang="en-US" altLang="zh-TW" sz="2400" i="1">
                            <a:latin typeface="Cambria Math" panose="02040503050406030204" pitchFamily="18" charset="0"/>
                            <a:cs typeface="Times New Roman" panose="02020603050405020304" pitchFamily="18" charset="0"/>
                          </a:rPr>
                          <m:t>𝑦</m:t>
                        </m:r>
                      </m:sub>
                    </m:sSub>
                    <m:r>
                      <a:rPr kumimoji="1" lang="en-US" altLang="zh-TW" sz="2400" i="1">
                        <a:latin typeface="Cambria Math" panose="02040503050406030204" pitchFamily="18" charset="0"/>
                        <a:cs typeface="Times New Roman" panose="02020603050405020304" pitchFamily="18" charset="0"/>
                      </a:rPr>
                      <m:t> </m:t>
                    </m:r>
                  </m:oMath>
                </a14:m>
                <a:r>
                  <a:rPr kumimoji="1" lang="en-US" altLang="zh-TW" sz="2400" dirty="0">
                    <a:latin typeface="Cambria Math" panose="02040503050406030204" pitchFamily="18" charset="0"/>
                    <a:cs typeface="Times New Roman" panose="02020603050405020304" pitchFamily="18" charset="0"/>
                  </a:rPr>
                  <a:t>and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𝑒𝑞</m:t>
                        </m:r>
                      </m:e>
                      <m:sub>
                        <m:r>
                          <a:rPr kumimoji="1" lang="en-US" altLang="zh-TW" sz="2400" i="1">
                            <a:latin typeface="Cambria Math" panose="02040503050406030204" pitchFamily="18" charset="0"/>
                            <a:cs typeface="Times New Roman" panose="02020603050405020304" pitchFamily="18" charset="0"/>
                          </a:rPr>
                          <m:t>𝑥</m:t>
                        </m:r>
                      </m:sub>
                    </m:sSub>
                  </m:oMath>
                </a14:m>
                <a:r>
                  <a:rPr kumimoji="1" lang="en-US" altLang="zh-TW" sz="2400" dirty="0">
                    <a:latin typeface="Cambria Math" panose="02040503050406030204" pitchFamily="18" charset="0"/>
                    <a:cs typeface="Times New Roman" panose="02020603050405020304" pitchFamily="18" charset="0"/>
                  </a:rPr>
                  <a:t> =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𝑒𝑞</m:t>
                        </m:r>
                      </m:e>
                      <m:sub>
                        <m:r>
                          <a:rPr kumimoji="1" lang="en-US" altLang="zh-TW" sz="2400" i="1">
                            <a:latin typeface="Cambria Math" panose="02040503050406030204" pitchFamily="18" charset="0"/>
                            <a:cs typeface="Times New Roman" panose="02020603050405020304" pitchFamily="18" charset="0"/>
                          </a:rPr>
                          <m:t>𝑦</m:t>
                        </m:r>
                      </m:sub>
                    </m:sSub>
                  </m:oMath>
                </a14:m>
                <a:r>
                  <a:rPr kumimoji="1" lang="en-US" altLang="zh-TW" sz="2400" i="1" dirty="0">
                    <a:latin typeface="Cambria Math" panose="02040503050406030204" pitchFamily="18" charset="0"/>
                    <a:cs typeface="Times New Roman" panose="02020603050405020304" pitchFamily="18" charset="0"/>
                  </a:rPr>
                  <a:t>.</a:t>
                </a:r>
              </a:p>
              <a:p>
                <a:pPr marL="0" indent="0">
                  <a:buNone/>
                </a:pPr>
                <a:endParaRPr kumimoji="1" lang="en-US" altLang="zh-TW" sz="2400" dirty="0">
                  <a:latin typeface="Cambria Math" panose="02040503050406030204" pitchFamily="18" charset="0"/>
                  <a:cs typeface="Times New Roman" panose="02020603050405020304" pitchFamily="18" charset="0"/>
                </a:endParaRPr>
              </a:p>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&lt;6, 3, 8, 3, 10, 7, 10&gt;</a:t>
                </a:r>
              </a:p>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𝑦</m:t>
                    </m:r>
                  </m:oMath>
                </a14:m>
                <a:r>
                  <a:rPr kumimoji="1" lang="en-US" altLang="zh-TW" sz="2400" dirty="0">
                    <a:latin typeface="Cambria Math" panose="02040503050406030204" pitchFamily="18" charset="0"/>
                    <a:cs typeface="Times New Roman" panose="02020603050405020304" pitchFamily="18" charset="0"/>
                  </a:rPr>
                  <a:t> = &lt;2, 1, 4, 1, 5, 3, 5&gt;</a:t>
                </a:r>
              </a:p>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𝑧</m:t>
                    </m:r>
                  </m:oMath>
                </a14:m>
                <a:r>
                  <a:rPr kumimoji="1" lang="en-US" altLang="zh-TW" sz="2400" dirty="0">
                    <a:latin typeface="Cambria Math" panose="02040503050406030204" pitchFamily="18" charset="0"/>
                    <a:cs typeface="Times New Roman" panose="02020603050405020304" pitchFamily="18" charset="0"/>
                  </a:rPr>
                  <a:t> = &lt;6, 3, 8, 4, 9, 7, 10&gt;</a:t>
                </a:r>
              </a:p>
              <a:p>
                <a14:m>
                  <m:oMath xmlns:m="http://schemas.openxmlformats.org/officeDocument/2006/math">
                    <m:sSub>
                      <m:sSubPr>
                        <m:ctrlPr>
                          <a:rPr kumimoji="1" lang="en-US" altLang="zh-TW" sz="240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𝑟𝑘</m:t>
                        </m:r>
                      </m:e>
                      <m:sub>
                        <m:r>
                          <a:rPr kumimoji="1" lang="en-US" altLang="zh-TW" sz="2400" b="0" i="1" smtClean="0">
                            <a:latin typeface="Cambria Math" panose="02040503050406030204" pitchFamily="18" charset="0"/>
                            <a:cs typeface="Times New Roman" panose="02020603050405020304" pitchFamily="18" charset="0"/>
                          </a:rPr>
                          <m:t>𝑥</m:t>
                        </m:r>
                      </m:sub>
                    </m:sSub>
                  </m:oMath>
                </a14:m>
                <a:r>
                  <a:rPr kumimoji="1" lang="en-US" altLang="zh-TW" sz="2400" dirty="0">
                    <a:latin typeface="Cambria Math" panose="02040503050406030204" pitchFamily="18" charset="0"/>
                    <a:cs typeface="Times New Roman" panose="02020603050405020304" pitchFamily="18" charset="0"/>
                  </a:rPr>
                  <a:t> =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𝑟𝑘</m:t>
                        </m:r>
                      </m:e>
                      <m:sub>
                        <m:r>
                          <a:rPr kumimoji="1" lang="en-US" altLang="zh-TW" sz="2400" b="0" i="1" smtClean="0">
                            <a:latin typeface="Cambria Math" panose="02040503050406030204" pitchFamily="18" charset="0"/>
                            <a:cs typeface="Times New Roman" panose="02020603050405020304" pitchFamily="18" charset="0"/>
                          </a:rPr>
                          <m:t>𝑦</m:t>
                        </m:r>
                      </m:sub>
                    </m:sSub>
                    <m:r>
                      <a:rPr kumimoji="1" lang="en-US" altLang="zh-TW" sz="2400" i="1">
                        <a:latin typeface="Cambria Math" panose="02040503050406030204" pitchFamily="18" charset="0"/>
                        <a:cs typeface="Times New Roman" panose="02020603050405020304" pitchFamily="18" charset="0"/>
                      </a:rPr>
                      <m:t> </m:t>
                    </m:r>
                  </m:oMath>
                </a14:m>
                <a:r>
                  <a:rPr kumimoji="1" lang="en-US" altLang="zh-TW" sz="2400" dirty="0">
                    <a:latin typeface="Cambria Math" panose="02040503050406030204" pitchFamily="18" charset="0"/>
                    <a:cs typeface="Times New Roman" panose="02020603050405020304" pitchFamily="18" charset="0"/>
                  </a:rPr>
                  <a:t>=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𝑟𝑘</m:t>
                        </m:r>
                      </m:e>
                      <m:sub>
                        <m:r>
                          <a:rPr kumimoji="1" lang="en-US" altLang="zh-TW" sz="2400" b="0" i="1" smtClean="0">
                            <a:latin typeface="Cambria Math" panose="02040503050406030204" pitchFamily="18" charset="0"/>
                            <a:cs typeface="Times New Roman" panose="02020603050405020304" pitchFamily="18" charset="0"/>
                          </a:rPr>
                          <m:t>𝑧</m:t>
                        </m:r>
                      </m:sub>
                    </m:sSub>
                    <m:r>
                      <a:rPr kumimoji="1" lang="en-US" altLang="zh-TW" sz="2400" i="1">
                        <a:latin typeface="Cambria Math" panose="02040503050406030204" pitchFamily="18" charset="0"/>
                        <a:cs typeface="Times New Roman" panose="02020603050405020304" pitchFamily="18" charset="0"/>
                      </a:rPr>
                      <m:t> </m:t>
                    </m:r>
                  </m:oMath>
                </a14:m>
                <a:r>
                  <a:rPr kumimoji="1" lang="en-US" altLang="zh-TW" sz="2400" b="1" dirty="0">
                    <a:latin typeface="Cambria Math" panose="02040503050406030204" pitchFamily="18" charset="0"/>
                    <a:cs typeface="Times New Roman" panose="02020603050405020304" pitchFamily="18" charset="0"/>
                  </a:rPr>
                  <a:t>= </a:t>
                </a:r>
                <a:r>
                  <a:rPr kumimoji="1" lang="en-US" altLang="zh-TW" sz="2400" dirty="0">
                    <a:latin typeface="Cambria Math" panose="02040503050406030204" pitchFamily="18" charset="0"/>
                    <a:cs typeface="Times New Roman" panose="02020603050405020304" pitchFamily="18" charset="0"/>
                  </a:rPr>
                  <a:t>&lt;2, 0, 4, 1, 5, 3, 6&gt;</a:t>
                </a:r>
              </a:p>
              <a:p>
                <a14:m>
                  <m:oMath xmlns:m="http://schemas.openxmlformats.org/officeDocument/2006/math">
                    <m:sSub>
                      <m:sSubPr>
                        <m:ctrlPr>
                          <a:rPr kumimoji="1" lang="en-US" altLang="zh-TW" sz="240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𝑒𝑞</m:t>
                        </m:r>
                      </m:e>
                      <m:sub>
                        <m:r>
                          <a:rPr kumimoji="1" lang="en-US" altLang="zh-TW" sz="2400" b="0" i="1" smtClean="0">
                            <a:latin typeface="Cambria Math" panose="02040503050406030204" pitchFamily="18" charset="0"/>
                            <a:cs typeface="Times New Roman" panose="02020603050405020304" pitchFamily="18" charset="0"/>
                          </a:rPr>
                          <m:t>𝑥</m:t>
                        </m:r>
                      </m:sub>
                    </m:sSub>
                  </m:oMath>
                </a14:m>
                <a:r>
                  <a:rPr kumimoji="1" lang="en-US" altLang="zh-TW" sz="2400" dirty="0">
                    <a:latin typeface="Cambria Math" panose="02040503050406030204" pitchFamily="18" charset="0"/>
                    <a:cs typeface="Times New Roman" panose="02020603050405020304" pitchFamily="18" charset="0"/>
                  </a:rPr>
                  <a:t> =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𝑒𝑞</m:t>
                        </m:r>
                      </m:e>
                      <m:sub>
                        <m:r>
                          <a:rPr kumimoji="1" lang="en-US" altLang="zh-TW" sz="2400" b="0" i="1" smtClean="0">
                            <a:latin typeface="Cambria Math" panose="02040503050406030204" pitchFamily="18" charset="0"/>
                            <a:cs typeface="Times New Roman" panose="02020603050405020304" pitchFamily="18" charset="0"/>
                          </a:rPr>
                          <m:t>𝑦</m:t>
                        </m:r>
                      </m:sub>
                    </m:sSub>
                    <m:r>
                      <a:rPr kumimoji="1" lang="en-US" altLang="zh-TW" sz="2400" i="1">
                        <a:latin typeface="Cambria Math" panose="02040503050406030204" pitchFamily="18" charset="0"/>
                        <a:cs typeface="Times New Roman" panose="02020603050405020304" pitchFamily="18" charset="0"/>
                      </a:rPr>
                      <m:t> </m:t>
                    </m:r>
                  </m:oMath>
                </a14:m>
                <a:r>
                  <a:rPr kumimoji="1" lang="en-US" altLang="zh-TW" sz="2400" b="1" dirty="0">
                    <a:latin typeface="Cambria Math" panose="02040503050406030204" pitchFamily="18" charset="0"/>
                    <a:cs typeface="Times New Roman" panose="02020603050405020304" pitchFamily="18" charset="0"/>
                  </a:rPr>
                  <a:t>= </a:t>
                </a:r>
                <a:r>
                  <a:rPr kumimoji="1" lang="en-US" altLang="zh-TW" sz="2400" dirty="0">
                    <a:latin typeface="Cambria Math" panose="02040503050406030204" pitchFamily="18" charset="0"/>
                    <a:cs typeface="Times New Roman" panose="02020603050405020304" pitchFamily="18" charset="0"/>
                  </a:rPr>
                  <a:t>&lt;1, 0, 0, 0, 0, 1&gt;,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𝑒𝑞</m:t>
                        </m:r>
                      </m:e>
                      <m:sub>
                        <m:r>
                          <a:rPr kumimoji="1" lang="en-US" altLang="zh-TW" sz="2400" b="0" i="1" smtClean="0">
                            <a:latin typeface="Cambria Math" panose="02040503050406030204" pitchFamily="18" charset="0"/>
                            <a:cs typeface="Times New Roman" panose="02020603050405020304" pitchFamily="18" charset="0"/>
                          </a:rPr>
                          <m:t>𝑧</m:t>
                        </m:r>
                      </m:sub>
                    </m:sSub>
                  </m:oMath>
                </a14:m>
                <a:r>
                  <a:rPr kumimoji="1" lang="en-US" altLang="zh-TW" sz="2400" dirty="0">
                    <a:latin typeface="Cambria Math" panose="02040503050406030204" pitchFamily="18" charset="0"/>
                    <a:cs typeface="Times New Roman" panose="02020603050405020304" pitchFamily="18" charset="0"/>
                  </a:rPr>
                  <a:t> </a:t>
                </a:r>
                <a:r>
                  <a:rPr kumimoji="1" lang="en-US" altLang="zh-TW" sz="2400" b="1" dirty="0">
                    <a:latin typeface="Cambria Math" panose="02040503050406030204" pitchFamily="18" charset="0"/>
                    <a:cs typeface="Times New Roman" panose="02020603050405020304" pitchFamily="18" charset="0"/>
                  </a:rPr>
                  <a:t>= </a:t>
                </a:r>
                <a:r>
                  <a:rPr kumimoji="1" lang="en-US" altLang="zh-TW" sz="2400" dirty="0">
                    <a:latin typeface="Cambria Math" panose="02040503050406030204" pitchFamily="18" charset="0"/>
                    <a:cs typeface="Times New Roman" panose="02020603050405020304" pitchFamily="18" charset="0"/>
                  </a:rPr>
                  <a:t>&lt;0, 0, 0, 0, 0, 0&gt;</a:t>
                </a:r>
              </a:p>
              <a:p>
                <a:endParaRPr kumimoji="1" lang="en-US" altLang="zh-TW" sz="2400" dirty="0">
                  <a:latin typeface="Cambria Math" panose="02040503050406030204" pitchFamily="18" charset="0"/>
                  <a:cs typeface="Times New Roman" panose="02020603050405020304" pitchFamily="18" charset="0"/>
                </a:endParaRPr>
              </a:p>
              <a:p>
                <a14:m>
                  <m:oMath xmlns:m="http://schemas.openxmlformats.org/officeDocument/2006/math">
                    <m:r>
                      <a:rPr kumimoji="1" lang="en-US" altLang="zh-TW" sz="2400" b="0" i="1" smtClean="0">
                        <a:latin typeface="Cambria Math" panose="02040503050406030204" pitchFamily="18" charset="0"/>
                        <a:cs typeface="Times New Roman" panose="02020603050405020304" pitchFamily="18" charset="0"/>
                      </a:rPr>
                      <m:t>𝑥</m:t>
                    </m:r>
                    <m:r>
                      <a:rPr kumimoji="1"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m:t>
                    </m:r>
                    <m:r>
                      <m:rPr>
                        <m:nor/>
                      </m:rPr>
                      <a:rPr kumimoji="1"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 </m:t>
                    </m:r>
                    <m:r>
                      <m:rPr>
                        <m:nor/>
                      </m:rPr>
                      <a:rPr kumimoji="1"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but</m:t>
                    </m:r>
                    <m:r>
                      <a:rPr kumimoji="1"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 </m:t>
                    </m:r>
                    <m:r>
                      <a:rPr kumimoji="1"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𝑥</m:t>
                    </m:r>
                    <m:r>
                      <a:rPr kumimoji="1"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𝑧</m:t>
                    </m:r>
                  </m:oMath>
                </a14:m>
                <a:r>
                  <a:rPr kumimoji="1" lang="en-US" altLang="zh-TW" sz="2400" dirty="0">
                    <a:latin typeface="Cambria Math" panose="02040503050406030204" pitchFamily="18" charset="0"/>
                    <a:cs typeface="Times New Roman" panose="02020603050405020304" pitchFamily="18" charset="0"/>
                  </a:rPr>
                  <a:t> </a:t>
                </a:r>
                <a:endParaRPr kumimoji="1" lang="es-ES" altLang="zh-TW" sz="2400" dirty="0">
                  <a:latin typeface="Times New Roman" panose="020206030504050203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s-ES" altLang="zh-TW" sz="2400" dirty="0">
                  <a:latin typeface="Times New Roman" panose="02020603050405020304" pitchFamily="18" charset="0"/>
                  <a:cs typeface="Times New Roman" panose="02020603050405020304" pitchFamily="18" charset="0"/>
                </a:endParaRPr>
              </a:p>
            </p:txBody>
          </p:sp>
        </mc:Choice>
        <mc:Fallback>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l="-791" t="-192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1779974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Ranking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6</a:t>
            </a:fld>
            <a:endParaRPr lang="zh-TW" altLang="en-US" dirty="0"/>
          </a:p>
        </p:txBody>
      </p:sp>
      <mc:AlternateContent xmlns:mc="http://schemas.openxmlformats.org/markup-compatibility/2006">
        <mc:Choice xmlns:a14="http://schemas.microsoft.com/office/drawing/2010/main"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49474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400" i="1" dirty="0">
                    <a:latin typeface="Cambria Math" panose="02040503050406030204" pitchFamily="18" charset="0"/>
                    <a:cs typeface="Times New Roman" panose="02020603050405020304" pitchFamily="18" charset="0"/>
                  </a:rPr>
                  <a:t>q</a:t>
                </a:r>
                <a:r>
                  <a:rPr kumimoji="1" lang="en-US" altLang="zh-TW" sz="2400" dirty="0">
                    <a:latin typeface="Cambria Math" panose="02040503050406030204" pitchFamily="18" charset="0"/>
                    <a:cs typeface="Times New Roman" panose="02020603050405020304" pitchFamily="18" charset="0"/>
                  </a:rPr>
                  <a:t>-neighborhood ranking sequences (table is 3-neighborhood)</a:t>
                </a: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14:m>
                  <m:oMath xmlns:m="http://schemas.openxmlformats.org/officeDocument/2006/math">
                    <m:sSup>
                      <m:sSupPr>
                        <m:ctrlPr>
                          <a:rPr kumimoji="1" lang="en-US"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2</m:t>
                        </m:r>
                      </m:e>
                      <m:sup>
                        <m:r>
                          <a:rPr kumimoji="1" lang="en-US" altLang="zh-TW" sz="2400" b="0" i="1" smtClean="0">
                            <a:latin typeface="Cambria Math" panose="02040503050406030204" pitchFamily="18" charset="0"/>
                            <a:cs typeface="Times New Roman" panose="02020603050405020304" pitchFamily="18" charset="0"/>
                          </a:rPr>
                          <m:t>𝑞</m:t>
                        </m:r>
                      </m:sup>
                    </m:sSup>
                  </m:oMath>
                </a14:m>
                <a:r>
                  <a:rPr kumimoji="1" lang="en-US" altLang="zh-TW" sz="2400" dirty="0">
                    <a:latin typeface="Cambria Math" panose="02040503050406030204" pitchFamily="18" charset="0"/>
                    <a:cs typeface="Times New Roman" panose="02020603050405020304" pitchFamily="18" charset="0"/>
                  </a:rPr>
                  <a:t>possible</a:t>
                </a:r>
              </a:p>
              <a:p>
                <a:endParaRPr kumimoji="1" lang="es-ES" altLang="zh-TW" sz="2400" dirty="0">
                  <a:latin typeface="Times New Roman" panose="02020603050405020304" pitchFamily="18" charset="0"/>
                  <a:cs typeface="Times New Roman" panose="02020603050405020304" pitchFamily="18" charset="0"/>
                </a:endParaRPr>
              </a:p>
            </p:txBody>
          </p:sp>
        </mc:Choice>
        <mc:Fallback>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4947413"/>
              </a:xfrm>
              <a:prstGeom prst="rect">
                <a:avLst/>
              </a:prstGeom>
              <a:blipFill>
                <a:blip r:embed="rId3"/>
                <a:stretch>
                  <a:fillRect l="-791" t="-1724"/>
                </a:stretch>
              </a:blipFill>
            </p:spPr>
            <p:txBody>
              <a:bodyPr/>
              <a:lstStyle/>
              <a:p>
                <a:r>
                  <a:rPr lang="zh-TW" altLang="en-US">
                    <a:noFill/>
                  </a:rPr>
                  <a:t> </a:t>
                </a:r>
              </a:p>
            </p:txBody>
          </p:sp>
        </mc:Fallback>
      </mc:AlternateContent>
      <p:pic>
        <p:nvPicPr>
          <p:cNvPr id="4" name="Picture 3">
            <a:extLst>
              <a:ext uri="{FF2B5EF4-FFF2-40B4-BE49-F238E27FC236}">
                <a16:creationId xmlns:a16="http://schemas.microsoft.com/office/drawing/2014/main" id="{F6D3520F-E3DE-9811-4551-7EE5A8D54017}"/>
              </a:ext>
            </a:extLst>
          </p:cNvPr>
          <p:cNvPicPr>
            <a:picLocks noChangeAspect="1"/>
          </p:cNvPicPr>
          <p:nvPr/>
        </p:nvPicPr>
        <p:blipFill>
          <a:blip r:embed="rId4"/>
          <a:stretch>
            <a:fillRect/>
          </a:stretch>
        </p:blipFill>
        <p:spPr>
          <a:xfrm>
            <a:off x="2175674" y="2236237"/>
            <a:ext cx="8121501" cy="3547658"/>
          </a:xfrm>
          <a:prstGeom prst="rect">
            <a:avLst/>
          </a:prstGeom>
        </p:spPr>
      </p:pic>
      <p:pic>
        <p:nvPicPr>
          <p:cNvPr id="8" name="Picture 7">
            <a:extLst>
              <a:ext uri="{FF2B5EF4-FFF2-40B4-BE49-F238E27FC236}">
                <a16:creationId xmlns:a16="http://schemas.microsoft.com/office/drawing/2014/main" id="{B31F5D95-B9C4-05A9-E446-46A09C08D385}"/>
              </a:ext>
            </a:extLst>
          </p:cNvPr>
          <p:cNvPicPr>
            <a:picLocks noChangeAspect="1"/>
          </p:cNvPicPr>
          <p:nvPr/>
        </p:nvPicPr>
        <p:blipFill>
          <a:blip r:embed="rId5"/>
          <a:stretch>
            <a:fillRect/>
          </a:stretch>
        </p:blipFill>
        <p:spPr>
          <a:xfrm>
            <a:off x="6659487" y="6172651"/>
            <a:ext cx="2723794" cy="548824"/>
          </a:xfrm>
          <a:prstGeom prst="rect">
            <a:avLst/>
          </a:prstGeom>
        </p:spPr>
      </p:pic>
      <p:cxnSp>
        <p:nvCxnSpPr>
          <p:cNvPr id="10" name="Straight Arrow Connector 9">
            <a:extLst>
              <a:ext uri="{FF2B5EF4-FFF2-40B4-BE49-F238E27FC236}">
                <a16:creationId xmlns:a16="http://schemas.microsoft.com/office/drawing/2014/main" id="{60F2725A-EAB3-5EE3-7C63-D6FF9C37D0B7}"/>
              </a:ext>
            </a:extLst>
          </p:cNvPr>
          <p:cNvCxnSpPr>
            <a:cxnSpLocks/>
          </p:cNvCxnSpPr>
          <p:nvPr/>
        </p:nvCxnSpPr>
        <p:spPr>
          <a:xfrm>
            <a:off x="8678966" y="5783895"/>
            <a:ext cx="0" cy="32634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1498305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Ranking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7</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49474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&lt;5, 6, 3, 8, 10, 7, 1, 9, 10, 8&gt;</a:t>
                </a:r>
              </a:p>
              <a:p>
                <a:r>
                  <a:rPr kumimoji="1" lang="en-US" altLang="zh-TW" sz="2400" dirty="0">
                    <a:latin typeface="Cambria Math" panose="02040503050406030204" pitchFamily="18" charset="0"/>
                    <a:cs typeface="Times New Roman" panose="02020603050405020304" pitchFamily="18" charset="0"/>
                  </a:rPr>
                  <a:t>4-neighborhood </a:t>
                </a: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4947413"/>
              </a:xfrm>
              <a:prstGeom prst="rect">
                <a:avLst/>
              </a:prstGeom>
              <a:blipFill>
                <a:blip r:embed="rId3"/>
                <a:stretch>
                  <a:fillRect l="-791" t="-17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238614387"/>
                  </p:ext>
                </p:extLst>
              </p:nvPr>
            </p:nvGraphicFramePr>
            <p:xfrm>
              <a:off x="2032000" y="2908737"/>
              <a:ext cx="8127998" cy="2966720"/>
            </p:xfrm>
            <a:graphic>
              <a:graphicData uri="http://schemas.openxmlformats.org/drawingml/2006/table">
                <a:tbl>
                  <a:tblPr firstRow="1" bandRow="1">
                    <a:tableStyleId>{073A0DAA-6AF3-43AB-8588-CEC1D06C72B9}</a:tableStyleId>
                  </a:tblPr>
                  <a:tblGrid>
                    <a:gridCol w="1061578">
                      <a:extLst>
                        <a:ext uri="{9D8B030D-6E8A-4147-A177-3AD203B41FA5}">
                          <a16:colId xmlns:a16="http://schemas.microsoft.com/office/drawing/2014/main" val="1185931014"/>
                        </a:ext>
                      </a:extLst>
                    </a:gridCol>
                    <a:gridCol w="706642">
                      <a:extLst>
                        <a:ext uri="{9D8B030D-6E8A-4147-A177-3AD203B41FA5}">
                          <a16:colId xmlns:a16="http://schemas.microsoft.com/office/drawing/2014/main" val="505441001"/>
                        </a:ext>
                      </a:extLst>
                    </a:gridCol>
                    <a:gridCol w="706642">
                      <a:extLst>
                        <a:ext uri="{9D8B030D-6E8A-4147-A177-3AD203B41FA5}">
                          <a16:colId xmlns:a16="http://schemas.microsoft.com/office/drawing/2014/main" val="3690279265"/>
                        </a:ext>
                      </a:extLst>
                    </a:gridCol>
                    <a:gridCol w="706642">
                      <a:extLst>
                        <a:ext uri="{9D8B030D-6E8A-4147-A177-3AD203B41FA5}">
                          <a16:colId xmlns:a16="http://schemas.microsoft.com/office/drawing/2014/main" val="765263179"/>
                        </a:ext>
                      </a:extLst>
                    </a:gridCol>
                    <a:gridCol w="706642">
                      <a:extLst>
                        <a:ext uri="{9D8B030D-6E8A-4147-A177-3AD203B41FA5}">
                          <a16:colId xmlns:a16="http://schemas.microsoft.com/office/drawing/2014/main" val="3633760631"/>
                        </a:ext>
                      </a:extLst>
                    </a:gridCol>
                    <a:gridCol w="706642">
                      <a:extLst>
                        <a:ext uri="{9D8B030D-6E8A-4147-A177-3AD203B41FA5}">
                          <a16:colId xmlns:a16="http://schemas.microsoft.com/office/drawing/2014/main" val="2836098945"/>
                        </a:ext>
                      </a:extLst>
                    </a:gridCol>
                    <a:gridCol w="706642">
                      <a:extLst>
                        <a:ext uri="{9D8B030D-6E8A-4147-A177-3AD203B41FA5}">
                          <a16:colId xmlns:a16="http://schemas.microsoft.com/office/drawing/2014/main" val="1932905895"/>
                        </a:ext>
                      </a:extLst>
                    </a:gridCol>
                    <a:gridCol w="706642">
                      <a:extLst>
                        <a:ext uri="{9D8B030D-6E8A-4147-A177-3AD203B41FA5}">
                          <a16:colId xmlns:a16="http://schemas.microsoft.com/office/drawing/2014/main" val="459705465"/>
                        </a:ext>
                      </a:extLst>
                    </a:gridCol>
                    <a:gridCol w="706642">
                      <a:extLst>
                        <a:ext uri="{9D8B030D-6E8A-4147-A177-3AD203B41FA5}">
                          <a16:colId xmlns:a16="http://schemas.microsoft.com/office/drawing/2014/main" val="4190017673"/>
                        </a:ext>
                      </a:extLst>
                    </a:gridCol>
                    <a:gridCol w="706642">
                      <a:extLst>
                        <a:ext uri="{9D8B030D-6E8A-4147-A177-3AD203B41FA5}">
                          <a16:colId xmlns:a16="http://schemas.microsoft.com/office/drawing/2014/main" val="1619006230"/>
                        </a:ext>
                      </a:extLst>
                    </a:gridCol>
                    <a:gridCol w="706642">
                      <a:extLst>
                        <a:ext uri="{9D8B030D-6E8A-4147-A177-3AD203B41FA5}">
                          <a16:colId xmlns:a16="http://schemas.microsoft.com/office/drawing/2014/main" val="3313798939"/>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solidFill>
                                      <a:schemeClr val="tx1"/>
                                    </a:solidFill>
                                    <a:latin typeface="Cambria Math" panose="02040503050406030204" pitchFamily="18" charset="0"/>
                                  </a:rPr>
                                  <m:t>𝑥</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𝑁</m:t>
                                </m:r>
                                <m:r>
                                  <m:rPr>
                                    <m:sty m:val="p"/>
                                  </m:rPr>
                                  <a:rPr lang="en-US" altLang="zh-TW" b="0" i="1" smtClean="0">
                                    <a:solidFill>
                                      <a:schemeClr val="tx1"/>
                                    </a:solidFill>
                                    <a:latin typeface="Cambria Math" panose="02040503050406030204" pitchFamily="18" charset="0"/>
                                    <a:cs typeface="Times New Roman" panose="02020603050405020304" pitchFamily="18" charset="0"/>
                                  </a:rPr>
                                  <m:t>R</m:t>
                                </m:r>
                                <m:r>
                                  <a:rPr lang="en-US" altLang="zh-TW" i="1" smtClean="0">
                                    <a:solidFill>
                                      <a:schemeClr val="tx1"/>
                                    </a:solidFill>
                                    <a:latin typeface="Cambria Math" panose="02040503050406030204" pitchFamily="18" charset="0"/>
                                    <a:cs typeface="Times New Roman" panose="02020603050405020304" pitchFamily="18" charset="0"/>
                                  </a:rPr>
                                  <m:t> </m:t>
                                </m:r>
                                <m:r>
                                  <m:rPr>
                                    <m:sty m:val="p"/>
                                  </m:rPr>
                                  <a:rPr lang="en-US" altLang="zh-TW" i="1" smtClean="0">
                                    <a:solidFill>
                                      <a:schemeClr val="tx1"/>
                                    </a:solidFill>
                                    <a:latin typeface="Cambria Math" panose="02040503050406030204" pitchFamily="18" charset="0"/>
                                    <a:cs typeface="Times New Roman" panose="02020603050405020304" pitchFamily="18" charset="0"/>
                                  </a:rPr>
                                  <m:t>SEQ</m:t>
                                </m:r>
                                <m:r>
                                  <a:rPr lang="en-US" altLang="zh-TW" i="1" smtClean="0">
                                    <a:solidFill>
                                      <a:schemeClr val="tx1"/>
                                    </a:solidFill>
                                    <a:latin typeface="Cambria Math" panose="02040503050406030204" pitchFamily="18" charset="0"/>
                                    <a:cs typeface="Times New Roman" panose="02020603050405020304" pitchFamily="18" charset="0"/>
                                  </a:rPr>
                                  <m:t>.</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(1,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(2,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(3,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(4,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(5,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bl>
              </a:graphicData>
            </a:graphic>
          </p:graphicFrame>
        </mc:Choice>
        <mc:Fallback xmlns="">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238614387"/>
                  </p:ext>
                </p:extLst>
              </p:nvPr>
            </p:nvGraphicFramePr>
            <p:xfrm>
              <a:off x="2032000" y="2908737"/>
              <a:ext cx="8127998" cy="2966720"/>
            </p:xfrm>
            <a:graphic>
              <a:graphicData uri="http://schemas.openxmlformats.org/drawingml/2006/table">
                <a:tbl>
                  <a:tblPr firstRow="1" bandRow="1">
                    <a:tableStyleId>{073A0DAA-6AF3-43AB-8588-CEC1D06C72B9}</a:tableStyleId>
                  </a:tblPr>
                  <a:tblGrid>
                    <a:gridCol w="1061578">
                      <a:extLst>
                        <a:ext uri="{9D8B030D-6E8A-4147-A177-3AD203B41FA5}">
                          <a16:colId xmlns:a16="http://schemas.microsoft.com/office/drawing/2014/main" val="1185931014"/>
                        </a:ext>
                      </a:extLst>
                    </a:gridCol>
                    <a:gridCol w="706642">
                      <a:extLst>
                        <a:ext uri="{9D8B030D-6E8A-4147-A177-3AD203B41FA5}">
                          <a16:colId xmlns:a16="http://schemas.microsoft.com/office/drawing/2014/main" val="505441001"/>
                        </a:ext>
                      </a:extLst>
                    </a:gridCol>
                    <a:gridCol w="706642">
                      <a:extLst>
                        <a:ext uri="{9D8B030D-6E8A-4147-A177-3AD203B41FA5}">
                          <a16:colId xmlns:a16="http://schemas.microsoft.com/office/drawing/2014/main" val="3690279265"/>
                        </a:ext>
                      </a:extLst>
                    </a:gridCol>
                    <a:gridCol w="706642">
                      <a:extLst>
                        <a:ext uri="{9D8B030D-6E8A-4147-A177-3AD203B41FA5}">
                          <a16:colId xmlns:a16="http://schemas.microsoft.com/office/drawing/2014/main" val="765263179"/>
                        </a:ext>
                      </a:extLst>
                    </a:gridCol>
                    <a:gridCol w="706642">
                      <a:extLst>
                        <a:ext uri="{9D8B030D-6E8A-4147-A177-3AD203B41FA5}">
                          <a16:colId xmlns:a16="http://schemas.microsoft.com/office/drawing/2014/main" val="3633760631"/>
                        </a:ext>
                      </a:extLst>
                    </a:gridCol>
                    <a:gridCol w="706642">
                      <a:extLst>
                        <a:ext uri="{9D8B030D-6E8A-4147-A177-3AD203B41FA5}">
                          <a16:colId xmlns:a16="http://schemas.microsoft.com/office/drawing/2014/main" val="2836098945"/>
                        </a:ext>
                      </a:extLst>
                    </a:gridCol>
                    <a:gridCol w="706642">
                      <a:extLst>
                        <a:ext uri="{9D8B030D-6E8A-4147-A177-3AD203B41FA5}">
                          <a16:colId xmlns:a16="http://schemas.microsoft.com/office/drawing/2014/main" val="1932905895"/>
                        </a:ext>
                      </a:extLst>
                    </a:gridCol>
                    <a:gridCol w="706642">
                      <a:extLst>
                        <a:ext uri="{9D8B030D-6E8A-4147-A177-3AD203B41FA5}">
                          <a16:colId xmlns:a16="http://schemas.microsoft.com/office/drawing/2014/main" val="459705465"/>
                        </a:ext>
                      </a:extLst>
                    </a:gridCol>
                    <a:gridCol w="706642">
                      <a:extLst>
                        <a:ext uri="{9D8B030D-6E8A-4147-A177-3AD203B41FA5}">
                          <a16:colId xmlns:a16="http://schemas.microsoft.com/office/drawing/2014/main" val="4190017673"/>
                        </a:ext>
                      </a:extLst>
                    </a:gridCol>
                    <a:gridCol w="706642">
                      <a:extLst>
                        <a:ext uri="{9D8B030D-6E8A-4147-A177-3AD203B41FA5}">
                          <a16:colId xmlns:a16="http://schemas.microsoft.com/office/drawing/2014/main" val="1619006230"/>
                        </a:ext>
                      </a:extLst>
                    </a:gridCol>
                    <a:gridCol w="706642">
                      <a:extLst>
                        <a:ext uri="{9D8B030D-6E8A-4147-A177-3AD203B41FA5}">
                          <a16:colId xmlns:a16="http://schemas.microsoft.com/office/drawing/2014/main" val="3313798939"/>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75" t="-108197" r="-667816" b="-601639"/>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6">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75" t="-34795" r="-667816" b="-548"/>
                          </a:stretch>
                        </a:blip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(1,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(2,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(3,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(4,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(5,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bl>
              </a:graphicData>
            </a:graphic>
          </p:graphicFrame>
        </mc:Fallback>
      </mc:AlternateContent>
      <p:sp>
        <p:nvSpPr>
          <p:cNvPr id="7" name="Rectangle 6">
            <a:extLst>
              <a:ext uri="{FF2B5EF4-FFF2-40B4-BE49-F238E27FC236}">
                <a16:creationId xmlns:a16="http://schemas.microsoft.com/office/drawing/2014/main" id="{779EFA87-091B-B606-645D-325337DC6E8D}"/>
              </a:ext>
            </a:extLst>
          </p:cNvPr>
          <p:cNvSpPr/>
          <p:nvPr/>
        </p:nvSpPr>
        <p:spPr>
          <a:xfrm>
            <a:off x="3067940" y="3258085"/>
            <a:ext cx="3580688" cy="41019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8" name="Picture 7">
            <a:extLst>
              <a:ext uri="{FF2B5EF4-FFF2-40B4-BE49-F238E27FC236}">
                <a16:creationId xmlns:a16="http://schemas.microsoft.com/office/drawing/2014/main" id="{89CE8A7A-2C31-4D34-5D0A-4F7736A81FD8}"/>
              </a:ext>
            </a:extLst>
          </p:cNvPr>
          <p:cNvPicPr>
            <a:picLocks noChangeAspect="1"/>
          </p:cNvPicPr>
          <p:nvPr/>
        </p:nvPicPr>
        <p:blipFill>
          <a:blip r:embed="rId5"/>
          <a:stretch>
            <a:fillRect/>
          </a:stretch>
        </p:blipFill>
        <p:spPr>
          <a:xfrm>
            <a:off x="7911818" y="2119467"/>
            <a:ext cx="2723794" cy="548824"/>
          </a:xfrm>
          <a:prstGeom prst="rect">
            <a:avLst/>
          </a:prstGeom>
        </p:spPr>
      </p:pic>
    </p:spTree>
    <p:extLst>
      <p:ext uri="{BB962C8B-B14F-4D97-AF65-F5344CB8AC3E}">
        <p14:creationId xmlns:p14="http://schemas.microsoft.com/office/powerpoint/2010/main" val="83300630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Ranking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8</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49474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&lt;5, 6, 3, 8, 10, 7, 1, 9, 10, 8&gt;</a:t>
                </a:r>
              </a:p>
              <a:p>
                <a:r>
                  <a:rPr kumimoji="1" lang="en-US" altLang="zh-TW" sz="2400" dirty="0">
                    <a:latin typeface="Cambria Math" panose="02040503050406030204" pitchFamily="18" charset="0"/>
                    <a:cs typeface="Times New Roman" panose="02020603050405020304" pitchFamily="18" charset="0"/>
                  </a:rPr>
                  <a:t>4-neighborhood </a:t>
                </a: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4947413"/>
              </a:xfrm>
              <a:prstGeom prst="rect">
                <a:avLst/>
              </a:prstGeom>
              <a:blipFill>
                <a:blip r:embed="rId3"/>
                <a:stretch>
                  <a:fillRect l="-791" t="-17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588658252"/>
                  </p:ext>
                </p:extLst>
              </p:nvPr>
            </p:nvGraphicFramePr>
            <p:xfrm>
              <a:off x="2032000" y="2908737"/>
              <a:ext cx="8127998" cy="2966720"/>
            </p:xfrm>
            <a:graphic>
              <a:graphicData uri="http://schemas.openxmlformats.org/drawingml/2006/table">
                <a:tbl>
                  <a:tblPr firstRow="1" bandRow="1">
                    <a:tableStyleId>{073A0DAA-6AF3-43AB-8588-CEC1D06C72B9}</a:tableStyleId>
                  </a:tblPr>
                  <a:tblGrid>
                    <a:gridCol w="1061578">
                      <a:extLst>
                        <a:ext uri="{9D8B030D-6E8A-4147-A177-3AD203B41FA5}">
                          <a16:colId xmlns:a16="http://schemas.microsoft.com/office/drawing/2014/main" val="1185931014"/>
                        </a:ext>
                      </a:extLst>
                    </a:gridCol>
                    <a:gridCol w="706642">
                      <a:extLst>
                        <a:ext uri="{9D8B030D-6E8A-4147-A177-3AD203B41FA5}">
                          <a16:colId xmlns:a16="http://schemas.microsoft.com/office/drawing/2014/main" val="505441001"/>
                        </a:ext>
                      </a:extLst>
                    </a:gridCol>
                    <a:gridCol w="706642">
                      <a:extLst>
                        <a:ext uri="{9D8B030D-6E8A-4147-A177-3AD203B41FA5}">
                          <a16:colId xmlns:a16="http://schemas.microsoft.com/office/drawing/2014/main" val="3690279265"/>
                        </a:ext>
                      </a:extLst>
                    </a:gridCol>
                    <a:gridCol w="706642">
                      <a:extLst>
                        <a:ext uri="{9D8B030D-6E8A-4147-A177-3AD203B41FA5}">
                          <a16:colId xmlns:a16="http://schemas.microsoft.com/office/drawing/2014/main" val="765263179"/>
                        </a:ext>
                      </a:extLst>
                    </a:gridCol>
                    <a:gridCol w="706642">
                      <a:extLst>
                        <a:ext uri="{9D8B030D-6E8A-4147-A177-3AD203B41FA5}">
                          <a16:colId xmlns:a16="http://schemas.microsoft.com/office/drawing/2014/main" val="3633760631"/>
                        </a:ext>
                      </a:extLst>
                    </a:gridCol>
                    <a:gridCol w="706642">
                      <a:extLst>
                        <a:ext uri="{9D8B030D-6E8A-4147-A177-3AD203B41FA5}">
                          <a16:colId xmlns:a16="http://schemas.microsoft.com/office/drawing/2014/main" val="2836098945"/>
                        </a:ext>
                      </a:extLst>
                    </a:gridCol>
                    <a:gridCol w="706642">
                      <a:extLst>
                        <a:ext uri="{9D8B030D-6E8A-4147-A177-3AD203B41FA5}">
                          <a16:colId xmlns:a16="http://schemas.microsoft.com/office/drawing/2014/main" val="1932905895"/>
                        </a:ext>
                      </a:extLst>
                    </a:gridCol>
                    <a:gridCol w="706642">
                      <a:extLst>
                        <a:ext uri="{9D8B030D-6E8A-4147-A177-3AD203B41FA5}">
                          <a16:colId xmlns:a16="http://schemas.microsoft.com/office/drawing/2014/main" val="459705465"/>
                        </a:ext>
                      </a:extLst>
                    </a:gridCol>
                    <a:gridCol w="706642">
                      <a:extLst>
                        <a:ext uri="{9D8B030D-6E8A-4147-A177-3AD203B41FA5}">
                          <a16:colId xmlns:a16="http://schemas.microsoft.com/office/drawing/2014/main" val="4190017673"/>
                        </a:ext>
                      </a:extLst>
                    </a:gridCol>
                    <a:gridCol w="706642">
                      <a:extLst>
                        <a:ext uri="{9D8B030D-6E8A-4147-A177-3AD203B41FA5}">
                          <a16:colId xmlns:a16="http://schemas.microsoft.com/office/drawing/2014/main" val="1619006230"/>
                        </a:ext>
                      </a:extLst>
                    </a:gridCol>
                    <a:gridCol w="706642">
                      <a:extLst>
                        <a:ext uri="{9D8B030D-6E8A-4147-A177-3AD203B41FA5}">
                          <a16:colId xmlns:a16="http://schemas.microsoft.com/office/drawing/2014/main" val="3313798939"/>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solidFill>
                                      <a:schemeClr val="tx1"/>
                                    </a:solidFill>
                                    <a:latin typeface="Cambria Math" panose="02040503050406030204" pitchFamily="18" charset="0"/>
                                  </a:rPr>
                                  <m:t>𝑥</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𝑁</m:t>
                                </m:r>
                                <m:r>
                                  <m:rPr>
                                    <m:sty m:val="p"/>
                                  </m:rPr>
                                  <a:rPr lang="en-US" altLang="zh-TW" b="0" i="1" smtClean="0">
                                    <a:solidFill>
                                      <a:schemeClr val="tx1"/>
                                    </a:solidFill>
                                    <a:latin typeface="Cambria Math" panose="02040503050406030204" pitchFamily="18" charset="0"/>
                                    <a:cs typeface="Times New Roman" panose="02020603050405020304" pitchFamily="18" charset="0"/>
                                  </a:rPr>
                                  <m:t>R</m:t>
                                </m:r>
                                <m:r>
                                  <a:rPr lang="en-US" altLang="zh-TW" i="1" smtClean="0">
                                    <a:solidFill>
                                      <a:schemeClr val="tx1"/>
                                    </a:solidFill>
                                    <a:latin typeface="Cambria Math" panose="02040503050406030204" pitchFamily="18" charset="0"/>
                                    <a:cs typeface="Times New Roman" panose="02020603050405020304" pitchFamily="18" charset="0"/>
                                  </a:rPr>
                                  <m:t> </m:t>
                                </m:r>
                                <m:r>
                                  <m:rPr>
                                    <m:sty m:val="p"/>
                                  </m:rPr>
                                  <a:rPr lang="en-US" altLang="zh-TW" i="1" smtClean="0">
                                    <a:solidFill>
                                      <a:schemeClr val="tx1"/>
                                    </a:solidFill>
                                    <a:latin typeface="Cambria Math" panose="02040503050406030204" pitchFamily="18" charset="0"/>
                                    <a:cs typeface="Times New Roman" panose="02020603050405020304" pitchFamily="18" charset="0"/>
                                  </a:rPr>
                                  <m:t>SEQ</m:t>
                                </m:r>
                                <m:r>
                                  <a:rPr lang="en-US" altLang="zh-TW" i="1" smtClean="0">
                                    <a:solidFill>
                                      <a:schemeClr val="tx1"/>
                                    </a:solidFill>
                                    <a:latin typeface="Cambria Math" panose="02040503050406030204" pitchFamily="18" charset="0"/>
                                    <a:cs typeface="Times New Roman" panose="02020603050405020304" pitchFamily="18" charset="0"/>
                                  </a:rPr>
                                  <m:t>.</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(1,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(2,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(3,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(4,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(5,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bl>
              </a:graphicData>
            </a:graphic>
          </p:graphicFrame>
        </mc:Choice>
        <mc:Fallback xmlns="">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588658252"/>
                  </p:ext>
                </p:extLst>
              </p:nvPr>
            </p:nvGraphicFramePr>
            <p:xfrm>
              <a:off x="2032000" y="2908737"/>
              <a:ext cx="8127998" cy="2966720"/>
            </p:xfrm>
            <a:graphic>
              <a:graphicData uri="http://schemas.openxmlformats.org/drawingml/2006/table">
                <a:tbl>
                  <a:tblPr firstRow="1" bandRow="1">
                    <a:tableStyleId>{073A0DAA-6AF3-43AB-8588-CEC1D06C72B9}</a:tableStyleId>
                  </a:tblPr>
                  <a:tblGrid>
                    <a:gridCol w="1061578">
                      <a:extLst>
                        <a:ext uri="{9D8B030D-6E8A-4147-A177-3AD203B41FA5}">
                          <a16:colId xmlns:a16="http://schemas.microsoft.com/office/drawing/2014/main" val="1185931014"/>
                        </a:ext>
                      </a:extLst>
                    </a:gridCol>
                    <a:gridCol w="706642">
                      <a:extLst>
                        <a:ext uri="{9D8B030D-6E8A-4147-A177-3AD203B41FA5}">
                          <a16:colId xmlns:a16="http://schemas.microsoft.com/office/drawing/2014/main" val="505441001"/>
                        </a:ext>
                      </a:extLst>
                    </a:gridCol>
                    <a:gridCol w="706642">
                      <a:extLst>
                        <a:ext uri="{9D8B030D-6E8A-4147-A177-3AD203B41FA5}">
                          <a16:colId xmlns:a16="http://schemas.microsoft.com/office/drawing/2014/main" val="3690279265"/>
                        </a:ext>
                      </a:extLst>
                    </a:gridCol>
                    <a:gridCol w="706642">
                      <a:extLst>
                        <a:ext uri="{9D8B030D-6E8A-4147-A177-3AD203B41FA5}">
                          <a16:colId xmlns:a16="http://schemas.microsoft.com/office/drawing/2014/main" val="765263179"/>
                        </a:ext>
                      </a:extLst>
                    </a:gridCol>
                    <a:gridCol w="706642">
                      <a:extLst>
                        <a:ext uri="{9D8B030D-6E8A-4147-A177-3AD203B41FA5}">
                          <a16:colId xmlns:a16="http://schemas.microsoft.com/office/drawing/2014/main" val="3633760631"/>
                        </a:ext>
                      </a:extLst>
                    </a:gridCol>
                    <a:gridCol w="706642">
                      <a:extLst>
                        <a:ext uri="{9D8B030D-6E8A-4147-A177-3AD203B41FA5}">
                          <a16:colId xmlns:a16="http://schemas.microsoft.com/office/drawing/2014/main" val="2836098945"/>
                        </a:ext>
                      </a:extLst>
                    </a:gridCol>
                    <a:gridCol w="706642">
                      <a:extLst>
                        <a:ext uri="{9D8B030D-6E8A-4147-A177-3AD203B41FA5}">
                          <a16:colId xmlns:a16="http://schemas.microsoft.com/office/drawing/2014/main" val="1932905895"/>
                        </a:ext>
                      </a:extLst>
                    </a:gridCol>
                    <a:gridCol w="706642">
                      <a:extLst>
                        <a:ext uri="{9D8B030D-6E8A-4147-A177-3AD203B41FA5}">
                          <a16:colId xmlns:a16="http://schemas.microsoft.com/office/drawing/2014/main" val="459705465"/>
                        </a:ext>
                      </a:extLst>
                    </a:gridCol>
                    <a:gridCol w="706642">
                      <a:extLst>
                        <a:ext uri="{9D8B030D-6E8A-4147-A177-3AD203B41FA5}">
                          <a16:colId xmlns:a16="http://schemas.microsoft.com/office/drawing/2014/main" val="4190017673"/>
                        </a:ext>
                      </a:extLst>
                    </a:gridCol>
                    <a:gridCol w="706642">
                      <a:extLst>
                        <a:ext uri="{9D8B030D-6E8A-4147-A177-3AD203B41FA5}">
                          <a16:colId xmlns:a16="http://schemas.microsoft.com/office/drawing/2014/main" val="1619006230"/>
                        </a:ext>
                      </a:extLst>
                    </a:gridCol>
                    <a:gridCol w="706642">
                      <a:extLst>
                        <a:ext uri="{9D8B030D-6E8A-4147-A177-3AD203B41FA5}">
                          <a16:colId xmlns:a16="http://schemas.microsoft.com/office/drawing/2014/main" val="3313798939"/>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75" t="-108197" r="-667816" b="-601639"/>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6">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75" t="-34795" r="-667816" b="-548"/>
                          </a:stretch>
                        </a:blip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(1,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(2,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(3,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(4,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(5,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bl>
              </a:graphicData>
            </a:graphic>
          </p:graphicFrame>
        </mc:Fallback>
      </mc:AlternateContent>
      <p:sp>
        <p:nvSpPr>
          <p:cNvPr id="7" name="Rectangle 6">
            <a:extLst>
              <a:ext uri="{FF2B5EF4-FFF2-40B4-BE49-F238E27FC236}">
                <a16:creationId xmlns:a16="http://schemas.microsoft.com/office/drawing/2014/main" id="{779EFA87-091B-B606-645D-325337DC6E8D}"/>
              </a:ext>
            </a:extLst>
          </p:cNvPr>
          <p:cNvSpPr/>
          <p:nvPr/>
        </p:nvSpPr>
        <p:spPr>
          <a:xfrm>
            <a:off x="3768695" y="3258085"/>
            <a:ext cx="3580688" cy="41019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 name="Picture 3">
            <a:extLst>
              <a:ext uri="{FF2B5EF4-FFF2-40B4-BE49-F238E27FC236}">
                <a16:creationId xmlns:a16="http://schemas.microsoft.com/office/drawing/2014/main" id="{14F7015A-7C34-6B23-FD91-D8A4ECC7FD23}"/>
              </a:ext>
            </a:extLst>
          </p:cNvPr>
          <p:cNvPicPr>
            <a:picLocks noChangeAspect="1"/>
          </p:cNvPicPr>
          <p:nvPr/>
        </p:nvPicPr>
        <p:blipFill>
          <a:blip r:embed="rId5"/>
          <a:stretch>
            <a:fillRect/>
          </a:stretch>
        </p:blipFill>
        <p:spPr>
          <a:xfrm>
            <a:off x="7911818" y="2119467"/>
            <a:ext cx="2723794" cy="548824"/>
          </a:xfrm>
          <a:prstGeom prst="rect">
            <a:avLst/>
          </a:prstGeom>
        </p:spPr>
      </p:pic>
    </p:spTree>
    <p:extLst>
      <p:ext uri="{BB962C8B-B14F-4D97-AF65-F5344CB8AC3E}">
        <p14:creationId xmlns:p14="http://schemas.microsoft.com/office/powerpoint/2010/main" val="365409529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Ranking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9</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49474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&lt;5, 6, 3, 8, 10, 7, 1, 9, 10, 8&gt;</a:t>
                </a:r>
              </a:p>
              <a:p>
                <a:r>
                  <a:rPr kumimoji="1" lang="en-US" altLang="zh-TW" sz="2400" dirty="0">
                    <a:latin typeface="Cambria Math" panose="02040503050406030204" pitchFamily="18" charset="0"/>
                    <a:cs typeface="Times New Roman" panose="02020603050405020304" pitchFamily="18" charset="0"/>
                  </a:rPr>
                  <a:t>4-neighborhood </a:t>
                </a: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4947413"/>
              </a:xfrm>
              <a:prstGeom prst="rect">
                <a:avLst/>
              </a:prstGeom>
              <a:blipFill>
                <a:blip r:embed="rId3"/>
                <a:stretch>
                  <a:fillRect l="-791" t="-17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1258168659"/>
                  </p:ext>
                </p:extLst>
              </p:nvPr>
            </p:nvGraphicFramePr>
            <p:xfrm>
              <a:off x="2032000" y="2908737"/>
              <a:ext cx="8127998" cy="2966720"/>
            </p:xfrm>
            <a:graphic>
              <a:graphicData uri="http://schemas.openxmlformats.org/drawingml/2006/table">
                <a:tbl>
                  <a:tblPr firstRow="1" bandRow="1">
                    <a:tableStyleId>{073A0DAA-6AF3-43AB-8588-CEC1D06C72B9}</a:tableStyleId>
                  </a:tblPr>
                  <a:tblGrid>
                    <a:gridCol w="1061578">
                      <a:extLst>
                        <a:ext uri="{9D8B030D-6E8A-4147-A177-3AD203B41FA5}">
                          <a16:colId xmlns:a16="http://schemas.microsoft.com/office/drawing/2014/main" val="1185931014"/>
                        </a:ext>
                      </a:extLst>
                    </a:gridCol>
                    <a:gridCol w="706642">
                      <a:extLst>
                        <a:ext uri="{9D8B030D-6E8A-4147-A177-3AD203B41FA5}">
                          <a16:colId xmlns:a16="http://schemas.microsoft.com/office/drawing/2014/main" val="505441001"/>
                        </a:ext>
                      </a:extLst>
                    </a:gridCol>
                    <a:gridCol w="706642">
                      <a:extLst>
                        <a:ext uri="{9D8B030D-6E8A-4147-A177-3AD203B41FA5}">
                          <a16:colId xmlns:a16="http://schemas.microsoft.com/office/drawing/2014/main" val="3690279265"/>
                        </a:ext>
                      </a:extLst>
                    </a:gridCol>
                    <a:gridCol w="706642">
                      <a:extLst>
                        <a:ext uri="{9D8B030D-6E8A-4147-A177-3AD203B41FA5}">
                          <a16:colId xmlns:a16="http://schemas.microsoft.com/office/drawing/2014/main" val="765263179"/>
                        </a:ext>
                      </a:extLst>
                    </a:gridCol>
                    <a:gridCol w="706642">
                      <a:extLst>
                        <a:ext uri="{9D8B030D-6E8A-4147-A177-3AD203B41FA5}">
                          <a16:colId xmlns:a16="http://schemas.microsoft.com/office/drawing/2014/main" val="3633760631"/>
                        </a:ext>
                      </a:extLst>
                    </a:gridCol>
                    <a:gridCol w="706642">
                      <a:extLst>
                        <a:ext uri="{9D8B030D-6E8A-4147-A177-3AD203B41FA5}">
                          <a16:colId xmlns:a16="http://schemas.microsoft.com/office/drawing/2014/main" val="2836098945"/>
                        </a:ext>
                      </a:extLst>
                    </a:gridCol>
                    <a:gridCol w="706642">
                      <a:extLst>
                        <a:ext uri="{9D8B030D-6E8A-4147-A177-3AD203B41FA5}">
                          <a16:colId xmlns:a16="http://schemas.microsoft.com/office/drawing/2014/main" val="1932905895"/>
                        </a:ext>
                      </a:extLst>
                    </a:gridCol>
                    <a:gridCol w="706642">
                      <a:extLst>
                        <a:ext uri="{9D8B030D-6E8A-4147-A177-3AD203B41FA5}">
                          <a16:colId xmlns:a16="http://schemas.microsoft.com/office/drawing/2014/main" val="459705465"/>
                        </a:ext>
                      </a:extLst>
                    </a:gridCol>
                    <a:gridCol w="706642">
                      <a:extLst>
                        <a:ext uri="{9D8B030D-6E8A-4147-A177-3AD203B41FA5}">
                          <a16:colId xmlns:a16="http://schemas.microsoft.com/office/drawing/2014/main" val="4190017673"/>
                        </a:ext>
                      </a:extLst>
                    </a:gridCol>
                    <a:gridCol w="706642">
                      <a:extLst>
                        <a:ext uri="{9D8B030D-6E8A-4147-A177-3AD203B41FA5}">
                          <a16:colId xmlns:a16="http://schemas.microsoft.com/office/drawing/2014/main" val="1619006230"/>
                        </a:ext>
                      </a:extLst>
                    </a:gridCol>
                    <a:gridCol w="706642">
                      <a:extLst>
                        <a:ext uri="{9D8B030D-6E8A-4147-A177-3AD203B41FA5}">
                          <a16:colId xmlns:a16="http://schemas.microsoft.com/office/drawing/2014/main" val="3313798939"/>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solidFill>
                                      <a:schemeClr val="tx1"/>
                                    </a:solidFill>
                                    <a:latin typeface="Cambria Math" panose="02040503050406030204" pitchFamily="18" charset="0"/>
                                  </a:rPr>
                                  <m:t>𝑥</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𝑁</m:t>
                                </m:r>
                                <m:r>
                                  <m:rPr>
                                    <m:sty m:val="p"/>
                                  </m:rPr>
                                  <a:rPr lang="en-US" altLang="zh-TW" b="0" i="1" smtClean="0">
                                    <a:solidFill>
                                      <a:schemeClr val="tx1"/>
                                    </a:solidFill>
                                    <a:latin typeface="Cambria Math" panose="02040503050406030204" pitchFamily="18" charset="0"/>
                                    <a:cs typeface="Times New Roman" panose="02020603050405020304" pitchFamily="18" charset="0"/>
                                  </a:rPr>
                                  <m:t>R</m:t>
                                </m:r>
                                <m:r>
                                  <a:rPr lang="en-US" altLang="zh-TW" i="1" smtClean="0">
                                    <a:solidFill>
                                      <a:schemeClr val="tx1"/>
                                    </a:solidFill>
                                    <a:latin typeface="Cambria Math" panose="02040503050406030204" pitchFamily="18" charset="0"/>
                                    <a:cs typeface="Times New Roman" panose="02020603050405020304" pitchFamily="18" charset="0"/>
                                  </a:rPr>
                                  <m:t> </m:t>
                                </m:r>
                                <m:r>
                                  <m:rPr>
                                    <m:sty m:val="p"/>
                                  </m:rPr>
                                  <a:rPr lang="en-US" altLang="zh-TW" i="1" smtClean="0">
                                    <a:solidFill>
                                      <a:schemeClr val="tx1"/>
                                    </a:solidFill>
                                    <a:latin typeface="Cambria Math" panose="02040503050406030204" pitchFamily="18" charset="0"/>
                                    <a:cs typeface="Times New Roman" panose="02020603050405020304" pitchFamily="18" charset="0"/>
                                  </a:rPr>
                                  <m:t>SEQ</m:t>
                                </m:r>
                                <m:r>
                                  <a:rPr lang="en-US" altLang="zh-TW" i="1" smtClean="0">
                                    <a:solidFill>
                                      <a:schemeClr val="tx1"/>
                                    </a:solidFill>
                                    <a:latin typeface="Cambria Math" panose="02040503050406030204" pitchFamily="18" charset="0"/>
                                    <a:cs typeface="Times New Roman" panose="02020603050405020304" pitchFamily="18" charset="0"/>
                                  </a:rPr>
                                  <m:t>.</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(1,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(2,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(3,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(4,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(5,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bl>
              </a:graphicData>
            </a:graphic>
          </p:graphicFrame>
        </mc:Choice>
        <mc:Fallback xmlns="">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1258168659"/>
                  </p:ext>
                </p:extLst>
              </p:nvPr>
            </p:nvGraphicFramePr>
            <p:xfrm>
              <a:off x="2032000" y="2908737"/>
              <a:ext cx="8127998" cy="2966720"/>
            </p:xfrm>
            <a:graphic>
              <a:graphicData uri="http://schemas.openxmlformats.org/drawingml/2006/table">
                <a:tbl>
                  <a:tblPr firstRow="1" bandRow="1">
                    <a:tableStyleId>{073A0DAA-6AF3-43AB-8588-CEC1D06C72B9}</a:tableStyleId>
                  </a:tblPr>
                  <a:tblGrid>
                    <a:gridCol w="1061578">
                      <a:extLst>
                        <a:ext uri="{9D8B030D-6E8A-4147-A177-3AD203B41FA5}">
                          <a16:colId xmlns:a16="http://schemas.microsoft.com/office/drawing/2014/main" val="1185931014"/>
                        </a:ext>
                      </a:extLst>
                    </a:gridCol>
                    <a:gridCol w="706642">
                      <a:extLst>
                        <a:ext uri="{9D8B030D-6E8A-4147-A177-3AD203B41FA5}">
                          <a16:colId xmlns:a16="http://schemas.microsoft.com/office/drawing/2014/main" val="505441001"/>
                        </a:ext>
                      </a:extLst>
                    </a:gridCol>
                    <a:gridCol w="706642">
                      <a:extLst>
                        <a:ext uri="{9D8B030D-6E8A-4147-A177-3AD203B41FA5}">
                          <a16:colId xmlns:a16="http://schemas.microsoft.com/office/drawing/2014/main" val="3690279265"/>
                        </a:ext>
                      </a:extLst>
                    </a:gridCol>
                    <a:gridCol w="706642">
                      <a:extLst>
                        <a:ext uri="{9D8B030D-6E8A-4147-A177-3AD203B41FA5}">
                          <a16:colId xmlns:a16="http://schemas.microsoft.com/office/drawing/2014/main" val="765263179"/>
                        </a:ext>
                      </a:extLst>
                    </a:gridCol>
                    <a:gridCol w="706642">
                      <a:extLst>
                        <a:ext uri="{9D8B030D-6E8A-4147-A177-3AD203B41FA5}">
                          <a16:colId xmlns:a16="http://schemas.microsoft.com/office/drawing/2014/main" val="3633760631"/>
                        </a:ext>
                      </a:extLst>
                    </a:gridCol>
                    <a:gridCol w="706642">
                      <a:extLst>
                        <a:ext uri="{9D8B030D-6E8A-4147-A177-3AD203B41FA5}">
                          <a16:colId xmlns:a16="http://schemas.microsoft.com/office/drawing/2014/main" val="2836098945"/>
                        </a:ext>
                      </a:extLst>
                    </a:gridCol>
                    <a:gridCol w="706642">
                      <a:extLst>
                        <a:ext uri="{9D8B030D-6E8A-4147-A177-3AD203B41FA5}">
                          <a16:colId xmlns:a16="http://schemas.microsoft.com/office/drawing/2014/main" val="1932905895"/>
                        </a:ext>
                      </a:extLst>
                    </a:gridCol>
                    <a:gridCol w="706642">
                      <a:extLst>
                        <a:ext uri="{9D8B030D-6E8A-4147-A177-3AD203B41FA5}">
                          <a16:colId xmlns:a16="http://schemas.microsoft.com/office/drawing/2014/main" val="459705465"/>
                        </a:ext>
                      </a:extLst>
                    </a:gridCol>
                    <a:gridCol w="706642">
                      <a:extLst>
                        <a:ext uri="{9D8B030D-6E8A-4147-A177-3AD203B41FA5}">
                          <a16:colId xmlns:a16="http://schemas.microsoft.com/office/drawing/2014/main" val="4190017673"/>
                        </a:ext>
                      </a:extLst>
                    </a:gridCol>
                    <a:gridCol w="706642">
                      <a:extLst>
                        <a:ext uri="{9D8B030D-6E8A-4147-A177-3AD203B41FA5}">
                          <a16:colId xmlns:a16="http://schemas.microsoft.com/office/drawing/2014/main" val="1619006230"/>
                        </a:ext>
                      </a:extLst>
                    </a:gridCol>
                    <a:gridCol w="706642">
                      <a:extLst>
                        <a:ext uri="{9D8B030D-6E8A-4147-A177-3AD203B41FA5}">
                          <a16:colId xmlns:a16="http://schemas.microsoft.com/office/drawing/2014/main" val="3313798939"/>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75" t="-108197" r="-667816" b="-601639"/>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6">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75" t="-34795" r="-667816" b="-548"/>
                          </a:stretch>
                        </a:blip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(1,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(2,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(3,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(4,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(5,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bl>
              </a:graphicData>
            </a:graphic>
          </p:graphicFrame>
        </mc:Fallback>
      </mc:AlternateContent>
      <p:sp>
        <p:nvSpPr>
          <p:cNvPr id="7" name="Rectangle 6">
            <a:extLst>
              <a:ext uri="{FF2B5EF4-FFF2-40B4-BE49-F238E27FC236}">
                <a16:creationId xmlns:a16="http://schemas.microsoft.com/office/drawing/2014/main" id="{779EFA87-091B-B606-645D-325337DC6E8D}"/>
              </a:ext>
            </a:extLst>
          </p:cNvPr>
          <p:cNvSpPr/>
          <p:nvPr/>
        </p:nvSpPr>
        <p:spPr>
          <a:xfrm>
            <a:off x="4480265" y="3258085"/>
            <a:ext cx="3580688" cy="41019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 name="Picture 3">
            <a:extLst>
              <a:ext uri="{FF2B5EF4-FFF2-40B4-BE49-F238E27FC236}">
                <a16:creationId xmlns:a16="http://schemas.microsoft.com/office/drawing/2014/main" id="{E6BC1C76-6A9C-6AFC-2B5C-365D08BB0627}"/>
              </a:ext>
            </a:extLst>
          </p:cNvPr>
          <p:cNvPicPr>
            <a:picLocks noChangeAspect="1"/>
          </p:cNvPicPr>
          <p:nvPr/>
        </p:nvPicPr>
        <p:blipFill>
          <a:blip r:embed="rId5"/>
          <a:stretch>
            <a:fillRect/>
          </a:stretch>
        </p:blipFill>
        <p:spPr>
          <a:xfrm>
            <a:off x="7911818" y="2119467"/>
            <a:ext cx="2723794" cy="548824"/>
          </a:xfrm>
          <a:prstGeom prst="rect">
            <a:avLst/>
          </a:prstGeom>
        </p:spPr>
      </p:pic>
    </p:spTree>
    <p:extLst>
      <p:ext uri="{BB962C8B-B14F-4D97-AF65-F5344CB8AC3E}">
        <p14:creationId xmlns:p14="http://schemas.microsoft.com/office/powerpoint/2010/main" val="374603406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Ranking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10</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49474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&lt;5, 6, 3, 8, 10, 7, 1, 9, 10, 8&gt;</a:t>
                </a:r>
              </a:p>
              <a:p>
                <a:r>
                  <a:rPr kumimoji="1" lang="en-US" altLang="zh-TW" sz="2400" dirty="0">
                    <a:latin typeface="Cambria Math" panose="02040503050406030204" pitchFamily="18" charset="0"/>
                    <a:cs typeface="Times New Roman" panose="02020603050405020304" pitchFamily="18" charset="0"/>
                  </a:rPr>
                  <a:t>4-neighborhood </a:t>
                </a: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4947413"/>
              </a:xfrm>
              <a:prstGeom prst="rect">
                <a:avLst/>
              </a:prstGeom>
              <a:blipFill>
                <a:blip r:embed="rId3"/>
                <a:stretch>
                  <a:fillRect l="-791" t="-17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3602300226"/>
                  </p:ext>
                </p:extLst>
              </p:nvPr>
            </p:nvGraphicFramePr>
            <p:xfrm>
              <a:off x="2032000" y="2908737"/>
              <a:ext cx="8127998" cy="2966720"/>
            </p:xfrm>
            <a:graphic>
              <a:graphicData uri="http://schemas.openxmlformats.org/drawingml/2006/table">
                <a:tbl>
                  <a:tblPr firstRow="1" bandRow="1">
                    <a:tableStyleId>{073A0DAA-6AF3-43AB-8588-CEC1D06C72B9}</a:tableStyleId>
                  </a:tblPr>
                  <a:tblGrid>
                    <a:gridCol w="1061578">
                      <a:extLst>
                        <a:ext uri="{9D8B030D-6E8A-4147-A177-3AD203B41FA5}">
                          <a16:colId xmlns:a16="http://schemas.microsoft.com/office/drawing/2014/main" val="1185931014"/>
                        </a:ext>
                      </a:extLst>
                    </a:gridCol>
                    <a:gridCol w="706642">
                      <a:extLst>
                        <a:ext uri="{9D8B030D-6E8A-4147-A177-3AD203B41FA5}">
                          <a16:colId xmlns:a16="http://schemas.microsoft.com/office/drawing/2014/main" val="505441001"/>
                        </a:ext>
                      </a:extLst>
                    </a:gridCol>
                    <a:gridCol w="706642">
                      <a:extLst>
                        <a:ext uri="{9D8B030D-6E8A-4147-A177-3AD203B41FA5}">
                          <a16:colId xmlns:a16="http://schemas.microsoft.com/office/drawing/2014/main" val="3690279265"/>
                        </a:ext>
                      </a:extLst>
                    </a:gridCol>
                    <a:gridCol w="706642">
                      <a:extLst>
                        <a:ext uri="{9D8B030D-6E8A-4147-A177-3AD203B41FA5}">
                          <a16:colId xmlns:a16="http://schemas.microsoft.com/office/drawing/2014/main" val="765263179"/>
                        </a:ext>
                      </a:extLst>
                    </a:gridCol>
                    <a:gridCol w="706642">
                      <a:extLst>
                        <a:ext uri="{9D8B030D-6E8A-4147-A177-3AD203B41FA5}">
                          <a16:colId xmlns:a16="http://schemas.microsoft.com/office/drawing/2014/main" val="3633760631"/>
                        </a:ext>
                      </a:extLst>
                    </a:gridCol>
                    <a:gridCol w="706642">
                      <a:extLst>
                        <a:ext uri="{9D8B030D-6E8A-4147-A177-3AD203B41FA5}">
                          <a16:colId xmlns:a16="http://schemas.microsoft.com/office/drawing/2014/main" val="2836098945"/>
                        </a:ext>
                      </a:extLst>
                    </a:gridCol>
                    <a:gridCol w="706642">
                      <a:extLst>
                        <a:ext uri="{9D8B030D-6E8A-4147-A177-3AD203B41FA5}">
                          <a16:colId xmlns:a16="http://schemas.microsoft.com/office/drawing/2014/main" val="1932905895"/>
                        </a:ext>
                      </a:extLst>
                    </a:gridCol>
                    <a:gridCol w="706642">
                      <a:extLst>
                        <a:ext uri="{9D8B030D-6E8A-4147-A177-3AD203B41FA5}">
                          <a16:colId xmlns:a16="http://schemas.microsoft.com/office/drawing/2014/main" val="459705465"/>
                        </a:ext>
                      </a:extLst>
                    </a:gridCol>
                    <a:gridCol w="706642">
                      <a:extLst>
                        <a:ext uri="{9D8B030D-6E8A-4147-A177-3AD203B41FA5}">
                          <a16:colId xmlns:a16="http://schemas.microsoft.com/office/drawing/2014/main" val="4190017673"/>
                        </a:ext>
                      </a:extLst>
                    </a:gridCol>
                    <a:gridCol w="706642">
                      <a:extLst>
                        <a:ext uri="{9D8B030D-6E8A-4147-A177-3AD203B41FA5}">
                          <a16:colId xmlns:a16="http://schemas.microsoft.com/office/drawing/2014/main" val="1619006230"/>
                        </a:ext>
                      </a:extLst>
                    </a:gridCol>
                    <a:gridCol w="706642">
                      <a:extLst>
                        <a:ext uri="{9D8B030D-6E8A-4147-A177-3AD203B41FA5}">
                          <a16:colId xmlns:a16="http://schemas.microsoft.com/office/drawing/2014/main" val="3313798939"/>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solidFill>
                                      <a:schemeClr val="tx1"/>
                                    </a:solidFill>
                                    <a:latin typeface="Cambria Math" panose="02040503050406030204" pitchFamily="18" charset="0"/>
                                  </a:rPr>
                                  <m:t>𝑥</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𝑁</m:t>
                                </m:r>
                                <m:r>
                                  <m:rPr>
                                    <m:sty m:val="p"/>
                                  </m:rPr>
                                  <a:rPr lang="en-US" altLang="zh-TW" b="0" i="1" smtClean="0">
                                    <a:solidFill>
                                      <a:schemeClr val="tx1"/>
                                    </a:solidFill>
                                    <a:latin typeface="Cambria Math" panose="02040503050406030204" pitchFamily="18" charset="0"/>
                                    <a:cs typeface="Times New Roman" panose="02020603050405020304" pitchFamily="18" charset="0"/>
                                  </a:rPr>
                                  <m:t>R</m:t>
                                </m:r>
                                <m:r>
                                  <a:rPr lang="en-US" altLang="zh-TW" i="1" smtClean="0">
                                    <a:solidFill>
                                      <a:schemeClr val="tx1"/>
                                    </a:solidFill>
                                    <a:latin typeface="Cambria Math" panose="02040503050406030204" pitchFamily="18" charset="0"/>
                                    <a:cs typeface="Times New Roman" panose="02020603050405020304" pitchFamily="18" charset="0"/>
                                  </a:rPr>
                                  <m:t> </m:t>
                                </m:r>
                                <m:r>
                                  <m:rPr>
                                    <m:sty m:val="p"/>
                                  </m:rPr>
                                  <a:rPr lang="en-US" altLang="zh-TW" i="1" smtClean="0">
                                    <a:solidFill>
                                      <a:schemeClr val="tx1"/>
                                    </a:solidFill>
                                    <a:latin typeface="Cambria Math" panose="02040503050406030204" pitchFamily="18" charset="0"/>
                                    <a:cs typeface="Times New Roman" panose="02020603050405020304" pitchFamily="18" charset="0"/>
                                  </a:rPr>
                                  <m:t>SEQ</m:t>
                                </m:r>
                                <m:r>
                                  <a:rPr lang="en-US" altLang="zh-TW" i="1" smtClean="0">
                                    <a:solidFill>
                                      <a:schemeClr val="tx1"/>
                                    </a:solidFill>
                                    <a:latin typeface="Cambria Math" panose="02040503050406030204" pitchFamily="18" charset="0"/>
                                    <a:cs typeface="Times New Roman" panose="02020603050405020304" pitchFamily="18" charset="0"/>
                                  </a:rPr>
                                  <m:t>.</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(1,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(2,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(3,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(4,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(5,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bl>
              </a:graphicData>
            </a:graphic>
          </p:graphicFrame>
        </mc:Choice>
        <mc:Fallback xmlns="">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3602300226"/>
                  </p:ext>
                </p:extLst>
              </p:nvPr>
            </p:nvGraphicFramePr>
            <p:xfrm>
              <a:off x="2032000" y="2908737"/>
              <a:ext cx="8127998" cy="2966720"/>
            </p:xfrm>
            <a:graphic>
              <a:graphicData uri="http://schemas.openxmlformats.org/drawingml/2006/table">
                <a:tbl>
                  <a:tblPr firstRow="1" bandRow="1">
                    <a:tableStyleId>{073A0DAA-6AF3-43AB-8588-CEC1D06C72B9}</a:tableStyleId>
                  </a:tblPr>
                  <a:tblGrid>
                    <a:gridCol w="1061578">
                      <a:extLst>
                        <a:ext uri="{9D8B030D-6E8A-4147-A177-3AD203B41FA5}">
                          <a16:colId xmlns:a16="http://schemas.microsoft.com/office/drawing/2014/main" val="1185931014"/>
                        </a:ext>
                      </a:extLst>
                    </a:gridCol>
                    <a:gridCol w="706642">
                      <a:extLst>
                        <a:ext uri="{9D8B030D-6E8A-4147-A177-3AD203B41FA5}">
                          <a16:colId xmlns:a16="http://schemas.microsoft.com/office/drawing/2014/main" val="505441001"/>
                        </a:ext>
                      </a:extLst>
                    </a:gridCol>
                    <a:gridCol w="706642">
                      <a:extLst>
                        <a:ext uri="{9D8B030D-6E8A-4147-A177-3AD203B41FA5}">
                          <a16:colId xmlns:a16="http://schemas.microsoft.com/office/drawing/2014/main" val="3690279265"/>
                        </a:ext>
                      </a:extLst>
                    </a:gridCol>
                    <a:gridCol w="706642">
                      <a:extLst>
                        <a:ext uri="{9D8B030D-6E8A-4147-A177-3AD203B41FA5}">
                          <a16:colId xmlns:a16="http://schemas.microsoft.com/office/drawing/2014/main" val="765263179"/>
                        </a:ext>
                      </a:extLst>
                    </a:gridCol>
                    <a:gridCol w="706642">
                      <a:extLst>
                        <a:ext uri="{9D8B030D-6E8A-4147-A177-3AD203B41FA5}">
                          <a16:colId xmlns:a16="http://schemas.microsoft.com/office/drawing/2014/main" val="3633760631"/>
                        </a:ext>
                      </a:extLst>
                    </a:gridCol>
                    <a:gridCol w="706642">
                      <a:extLst>
                        <a:ext uri="{9D8B030D-6E8A-4147-A177-3AD203B41FA5}">
                          <a16:colId xmlns:a16="http://schemas.microsoft.com/office/drawing/2014/main" val="2836098945"/>
                        </a:ext>
                      </a:extLst>
                    </a:gridCol>
                    <a:gridCol w="706642">
                      <a:extLst>
                        <a:ext uri="{9D8B030D-6E8A-4147-A177-3AD203B41FA5}">
                          <a16:colId xmlns:a16="http://schemas.microsoft.com/office/drawing/2014/main" val="1932905895"/>
                        </a:ext>
                      </a:extLst>
                    </a:gridCol>
                    <a:gridCol w="706642">
                      <a:extLst>
                        <a:ext uri="{9D8B030D-6E8A-4147-A177-3AD203B41FA5}">
                          <a16:colId xmlns:a16="http://schemas.microsoft.com/office/drawing/2014/main" val="459705465"/>
                        </a:ext>
                      </a:extLst>
                    </a:gridCol>
                    <a:gridCol w="706642">
                      <a:extLst>
                        <a:ext uri="{9D8B030D-6E8A-4147-A177-3AD203B41FA5}">
                          <a16:colId xmlns:a16="http://schemas.microsoft.com/office/drawing/2014/main" val="4190017673"/>
                        </a:ext>
                      </a:extLst>
                    </a:gridCol>
                    <a:gridCol w="706642">
                      <a:extLst>
                        <a:ext uri="{9D8B030D-6E8A-4147-A177-3AD203B41FA5}">
                          <a16:colId xmlns:a16="http://schemas.microsoft.com/office/drawing/2014/main" val="1619006230"/>
                        </a:ext>
                      </a:extLst>
                    </a:gridCol>
                    <a:gridCol w="706642">
                      <a:extLst>
                        <a:ext uri="{9D8B030D-6E8A-4147-A177-3AD203B41FA5}">
                          <a16:colId xmlns:a16="http://schemas.microsoft.com/office/drawing/2014/main" val="3313798939"/>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75" t="-108197" r="-667816" b="-601639"/>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6">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75" t="-34795" r="-667816" b="-548"/>
                          </a:stretch>
                        </a:blip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(1,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(2,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(3,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(4,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(5,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bl>
              </a:graphicData>
            </a:graphic>
          </p:graphicFrame>
        </mc:Fallback>
      </mc:AlternateContent>
      <p:sp>
        <p:nvSpPr>
          <p:cNvPr id="7" name="Rectangle 6">
            <a:extLst>
              <a:ext uri="{FF2B5EF4-FFF2-40B4-BE49-F238E27FC236}">
                <a16:creationId xmlns:a16="http://schemas.microsoft.com/office/drawing/2014/main" id="{779EFA87-091B-B606-645D-325337DC6E8D}"/>
              </a:ext>
            </a:extLst>
          </p:cNvPr>
          <p:cNvSpPr/>
          <p:nvPr/>
        </p:nvSpPr>
        <p:spPr>
          <a:xfrm>
            <a:off x="5189564" y="3258085"/>
            <a:ext cx="3580688" cy="41019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 name="Picture 3">
            <a:extLst>
              <a:ext uri="{FF2B5EF4-FFF2-40B4-BE49-F238E27FC236}">
                <a16:creationId xmlns:a16="http://schemas.microsoft.com/office/drawing/2014/main" id="{A5CD45CA-2F40-90CE-F1EA-FFE4FEEDA02D}"/>
              </a:ext>
            </a:extLst>
          </p:cNvPr>
          <p:cNvPicPr>
            <a:picLocks noChangeAspect="1"/>
          </p:cNvPicPr>
          <p:nvPr/>
        </p:nvPicPr>
        <p:blipFill>
          <a:blip r:embed="rId5"/>
          <a:stretch>
            <a:fillRect/>
          </a:stretch>
        </p:blipFill>
        <p:spPr>
          <a:xfrm>
            <a:off x="7911818" y="2119467"/>
            <a:ext cx="2723794" cy="548824"/>
          </a:xfrm>
          <a:prstGeom prst="rect">
            <a:avLst/>
          </a:prstGeom>
        </p:spPr>
      </p:pic>
    </p:spTree>
    <p:extLst>
      <p:ext uri="{BB962C8B-B14F-4D97-AF65-F5344CB8AC3E}">
        <p14:creationId xmlns:p14="http://schemas.microsoft.com/office/powerpoint/2010/main" val="146413507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Ranking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11</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49474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&lt;5, 6, 3, 8, 10, 7, 1, 9, 10, 8&gt;</a:t>
                </a:r>
              </a:p>
              <a:p>
                <a:r>
                  <a:rPr kumimoji="1" lang="en-US" altLang="zh-TW" sz="2400" dirty="0">
                    <a:latin typeface="Cambria Math" panose="02040503050406030204" pitchFamily="18" charset="0"/>
                    <a:cs typeface="Times New Roman" panose="02020603050405020304" pitchFamily="18" charset="0"/>
                  </a:rPr>
                  <a:t>4-neighborhood </a:t>
                </a: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4947413"/>
              </a:xfrm>
              <a:prstGeom prst="rect">
                <a:avLst/>
              </a:prstGeom>
              <a:blipFill>
                <a:blip r:embed="rId3"/>
                <a:stretch>
                  <a:fillRect l="-791" t="-17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3867358940"/>
                  </p:ext>
                </p:extLst>
              </p:nvPr>
            </p:nvGraphicFramePr>
            <p:xfrm>
              <a:off x="2032000" y="2908737"/>
              <a:ext cx="8127998" cy="2966720"/>
            </p:xfrm>
            <a:graphic>
              <a:graphicData uri="http://schemas.openxmlformats.org/drawingml/2006/table">
                <a:tbl>
                  <a:tblPr firstRow="1" bandRow="1">
                    <a:tableStyleId>{073A0DAA-6AF3-43AB-8588-CEC1D06C72B9}</a:tableStyleId>
                  </a:tblPr>
                  <a:tblGrid>
                    <a:gridCol w="1061578">
                      <a:extLst>
                        <a:ext uri="{9D8B030D-6E8A-4147-A177-3AD203B41FA5}">
                          <a16:colId xmlns:a16="http://schemas.microsoft.com/office/drawing/2014/main" val="1185931014"/>
                        </a:ext>
                      </a:extLst>
                    </a:gridCol>
                    <a:gridCol w="706642">
                      <a:extLst>
                        <a:ext uri="{9D8B030D-6E8A-4147-A177-3AD203B41FA5}">
                          <a16:colId xmlns:a16="http://schemas.microsoft.com/office/drawing/2014/main" val="505441001"/>
                        </a:ext>
                      </a:extLst>
                    </a:gridCol>
                    <a:gridCol w="706642">
                      <a:extLst>
                        <a:ext uri="{9D8B030D-6E8A-4147-A177-3AD203B41FA5}">
                          <a16:colId xmlns:a16="http://schemas.microsoft.com/office/drawing/2014/main" val="3690279265"/>
                        </a:ext>
                      </a:extLst>
                    </a:gridCol>
                    <a:gridCol w="706642">
                      <a:extLst>
                        <a:ext uri="{9D8B030D-6E8A-4147-A177-3AD203B41FA5}">
                          <a16:colId xmlns:a16="http://schemas.microsoft.com/office/drawing/2014/main" val="765263179"/>
                        </a:ext>
                      </a:extLst>
                    </a:gridCol>
                    <a:gridCol w="706642">
                      <a:extLst>
                        <a:ext uri="{9D8B030D-6E8A-4147-A177-3AD203B41FA5}">
                          <a16:colId xmlns:a16="http://schemas.microsoft.com/office/drawing/2014/main" val="3633760631"/>
                        </a:ext>
                      </a:extLst>
                    </a:gridCol>
                    <a:gridCol w="706642">
                      <a:extLst>
                        <a:ext uri="{9D8B030D-6E8A-4147-A177-3AD203B41FA5}">
                          <a16:colId xmlns:a16="http://schemas.microsoft.com/office/drawing/2014/main" val="2836098945"/>
                        </a:ext>
                      </a:extLst>
                    </a:gridCol>
                    <a:gridCol w="706642">
                      <a:extLst>
                        <a:ext uri="{9D8B030D-6E8A-4147-A177-3AD203B41FA5}">
                          <a16:colId xmlns:a16="http://schemas.microsoft.com/office/drawing/2014/main" val="1932905895"/>
                        </a:ext>
                      </a:extLst>
                    </a:gridCol>
                    <a:gridCol w="706642">
                      <a:extLst>
                        <a:ext uri="{9D8B030D-6E8A-4147-A177-3AD203B41FA5}">
                          <a16:colId xmlns:a16="http://schemas.microsoft.com/office/drawing/2014/main" val="459705465"/>
                        </a:ext>
                      </a:extLst>
                    </a:gridCol>
                    <a:gridCol w="706642">
                      <a:extLst>
                        <a:ext uri="{9D8B030D-6E8A-4147-A177-3AD203B41FA5}">
                          <a16:colId xmlns:a16="http://schemas.microsoft.com/office/drawing/2014/main" val="4190017673"/>
                        </a:ext>
                      </a:extLst>
                    </a:gridCol>
                    <a:gridCol w="706642">
                      <a:extLst>
                        <a:ext uri="{9D8B030D-6E8A-4147-A177-3AD203B41FA5}">
                          <a16:colId xmlns:a16="http://schemas.microsoft.com/office/drawing/2014/main" val="1619006230"/>
                        </a:ext>
                      </a:extLst>
                    </a:gridCol>
                    <a:gridCol w="706642">
                      <a:extLst>
                        <a:ext uri="{9D8B030D-6E8A-4147-A177-3AD203B41FA5}">
                          <a16:colId xmlns:a16="http://schemas.microsoft.com/office/drawing/2014/main" val="3313798939"/>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solidFill>
                                      <a:schemeClr val="tx1"/>
                                    </a:solidFill>
                                    <a:latin typeface="Cambria Math" panose="02040503050406030204" pitchFamily="18" charset="0"/>
                                  </a:rPr>
                                  <m:t>𝑥</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𝑁</m:t>
                                </m:r>
                                <m:r>
                                  <m:rPr>
                                    <m:sty m:val="p"/>
                                  </m:rPr>
                                  <a:rPr lang="en-US" altLang="zh-TW" b="0" i="1" smtClean="0">
                                    <a:solidFill>
                                      <a:schemeClr val="tx1"/>
                                    </a:solidFill>
                                    <a:latin typeface="Cambria Math" panose="02040503050406030204" pitchFamily="18" charset="0"/>
                                    <a:cs typeface="Times New Roman" panose="02020603050405020304" pitchFamily="18" charset="0"/>
                                  </a:rPr>
                                  <m:t>R</m:t>
                                </m:r>
                                <m:r>
                                  <a:rPr lang="en-US" altLang="zh-TW" i="1" smtClean="0">
                                    <a:solidFill>
                                      <a:schemeClr val="tx1"/>
                                    </a:solidFill>
                                    <a:latin typeface="Cambria Math" panose="02040503050406030204" pitchFamily="18" charset="0"/>
                                    <a:cs typeface="Times New Roman" panose="02020603050405020304" pitchFamily="18" charset="0"/>
                                  </a:rPr>
                                  <m:t> </m:t>
                                </m:r>
                                <m:r>
                                  <m:rPr>
                                    <m:sty m:val="p"/>
                                  </m:rPr>
                                  <a:rPr lang="en-US" altLang="zh-TW" i="1" smtClean="0">
                                    <a:solidFill>
                                      <a:schemeClr val="tx1"/>
                                    </a:solidFill>
                                    <a:latin typeface="Cambria Math" panose="02040503050406030204" pitchFamily="18" charset="0"/>
                                    <a:cs typeface="Times New Roman" panose="02020603050405020304" pitchFamily="18" charset="0"/>
                                  </a:rPr>
                                  <m:t>SEQ</m:t>
                                </m:r>
                                <m:r>
                                  <a:rPr lang="en-US" altLang="zh-TW" i="1" smtClean="0">
                                    <a:solidFill>
                                      <a:schemeClr val="tx1"/>
                                    </a:solidFill>
                                    <a:latin typeface="Cambria Math" panose="02040503050406030204" pitchFamily="18" charset="0"/>
                                    <a:cs typeface="Times New Roman" panose="02020603050405020304" pitchFamily="18" charset="0"/>
                                  </a:rPr>
                                  <m:t>.</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(1,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(2,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(3,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(4,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(5,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bl>
              </a:graphicData>
            </a:graphic>
          </p:graphicFrame>
        </mc:Choice>
        <mc:Fallback xmlns="">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3867358940"/>
                  </p:ext>
                </p:extLst>
              </p:nvPr>
            </p:nvGraphicFramePr>
            <p:xfrm>
              <a:off x="2032000" y="2908737"/>
              <a:ext cx="8127998" cy="2966720"/>
            </p:xfrm>
            <a:graphic>
              <a:graphicData uri="http://schemas.openxmlformats.org/drawingml/2006/table">
                <a:tbl>
                  <a:tblPr firstRow="1" bandRow="1">
                    <a:tableStyleId>{073A0DAA-6AF3-43AB-8588-CEC1D06C72B9}</a:tableStyleId>
                  </a:tblPr>
                  <a:tblGrid>
                    <a:gridCol w="1061578">
                      <a:extLst>
                        <a:ext uri="{9D8B030D-6E8A-4147-A177-3AD203B41FA5}">
                          <a16:colId xmlns:a16="http://schemas.microsoft.com/office/drawing/2014/main" val="1185931014"/>
                        </a:ext>
                      </a:extLst>
                    </a:gridCol>
                    <a:gridCol w="706642">
                      <a:extLst>
                        <a:ext uri="{9D8B030D-6E8A-4147-A177-3AD203B41FA5}">
                          <a16:colId xmlns:a16="http://schemas.microsoft.com/office/drawing/2014/main" val="505441001"/>
                        </a:ext>
                      </a:extLst>
                    </a:gridCol>
                    <a:gridCol w="706642">
                      <a:extLst>
                        <a:ext uri="{9D8B030D-6E8A-4147-A177-3AD203B41FA5}">
                          <a16:colId xmlns:a16="http://schemas.microsoft.com/office/drawing/2014/main" val="3690279265"/>
                        </a:ext>
                      </a:extLst>
                    </a:gridCol>
                    <a:gridCol w="706642">
                      <a:extLst>
                        <a:ext uri="{9D8B030D-6E8A-4147-A177-3AD203B41FA5}">
                          <a16:colId xmlns:a16="http://schemas.microsoft.com/office/drawing/2014/main" val="765263179"/>
                        </a:ext>
                      </a:extLst>
                    </a:gridCol>
                    <a:gridCol w="706642">
                      <a:extLst>
                        <a:ext uri="{9D8B030D-6E8A-4147-A177-3AD203B41FA5}">
                          <a16:colId xmlns:a16="http://schemas.microsoft.com/office/drawing/2014/main" val="3633760631"/>
                        </a:ext>
                      </a:extLst>
                    </a:gridCol>
                    <a:gridCol w="706642">
                      <a:extLst>
                        <a:ext uri="{9D8B030D-6E8A-4147-A177-3AD203B41FA5}">
                          <a16:colId xmlns:a16="http://schemas.microsoft.com/office/drawing/2014/main" val="2836098945"/>
                        </a:ext>
                      </a:extLst>
                    </a:gridCol>
                    <a:gridCol w="706642">
                      <a:extLst>
                        <a:ext uri="{9D8B030D-6E8A-4147-A177-3AD203B41FA5}">
                          <a16:colId xmlns:a16="http://schemas.microsoft.com/office/drawing/2014/main" val="1932905895"/>
                        </a:ext>
                      </a:extLst>
                    </a:gridCol>
                    <a:gridCol w="706642">
                      <a:extLst>
                        <a:ext uri="{9D8B030D-6E8A-4147-A177-3AD203B41FA5}">
                          <a16:colId xmlns:a16="http://schemas.microsoft.com/office/drawing/2014/main" val="459705465"/>
                        </a:ext>
                      </a:extLst>
                    </a:gridCol>
                    <a:gridCol w="706642">
                      <a:extLst>
                        <a:ext uri="{9D8B030D-6E8A-4147-A177-3AD203B41FA5}">
                          <a16:colId xmlns:a16="http://schemas.microsoft.com/office/drawing/2014/main" val="4190017673"/>
                        </a:ext>
                      </a:extLst>
                    </a:gridCol>
                    <a:gridCol w="706642">
                      <a:extLst>
                        <a:ext uri="{9D8B030D-6E8A-4147-A177-3AD203B41FA5}">
                          <a16:colId xmlns:a16="http://schemas.microsoft.com/office/drawing/2014/main" val="1619006230"/>
                        </a:ext>
                      </a:extLst>
                    </a:gridCol>
                    <a:gridCol w="706642">
                      <a:extLst>
                        <a:ext uri="{9D8B030D-6E8A-4147-A177-3AD203B41FA5}">
                          <a16:colId xmlns:a16="http://schemas.microsoft.com/office/drawing/2014/main" val="3313798939"/>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75" t="-108197" r="-667816" b="-601639"/>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6">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75" t="-34795" r="-667816" b="-548"/>
                          </a:stretch>
                        </a:blip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(1,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(2,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(3,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(4,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(5,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bl>
              </a:graphicData>
            </a:graphic>
          </p:graphicFrame>
        </mc:Fallback>
      </mc:AlternateContent>
      <p:sp>
        <p:nvSpPr>
          <p:cNvPr id="7" name="Rectangle 6">
            <a:extLst>
              <a:ext uri="{FF2B5EF4-FFF2-40B4-BE49-F238E27FC236}">
                <a16:creationId xmlns:a16="http://schemas.microsoft.com/office/drawing/2014/main" id="{779EFA87-091B-B606-645D-325337DC6E8D}"/>
              </a:ext>
            </a:extLst>
          </p:cNvPr>
          <p:cNvSpPr/>
          <p:nvPr/>
        </p:nvSpPr>
        <p:spPr>
          <a:xfrm>
            <a:off x="5898868" y="3258085"/>
            <a:ext cx="3580688" cy="41019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 name="Picture 3">
            <a:extLst>
              <a:ext uri="{FF2B5EF4-FFF2-40B4-BE49-F238E27FC236}">
                <a16:creationId xmlns:a16="http://schemas.microsoft.com/office/drawing/2014/main" id="{BBB6F435-C73A-69C7-24FF-ABDF650FD5E2}"/>
              </a:ext>
            </a:extLst>
          </p:cNvPr>
          <p:cNvPicPr>
            <a:picLocks noChangeAspect="1"/>
          </p:cNvPicPr>
          <p:nvPr/>
        </p:nvPicPr>
        <p:blipFill>
          <a:blip r:embed="rId5"/>
          <a:stretch>
            <a:fillRect/>
          </a:stretch>
        </p:blipFill>
        <p:spPr>
          <a:xfrm>
            <a:off x="7911818" y="2119467"/>
            <a:ext cx="2723794" cy="548824"/>
          </a:xfrm>
          <a:prstGeom prst="rect">
            <a:avLst/>
          </a:prstGeom>
        </p:spPr>
      </p:pic>
    </p:spTree>
    <p:extLst>
      <p:ext uri="{BB962C8B-B14F-4D97-AF65-F5344CB8AC3E}">
        <p14:creationId xmlns:p14="http://schemas.microsoft.com/office/powerpoint/2010/main" val="54427085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Ranking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12</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494741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&lt;5, 6, 3, 8, 10, 7, 1, 9, 10, 8&gt;</a:t>
                </a:r>
              </a:p>
              <a:p>
                <a:r>
                  <a:rPr kumimoji="1" lang="en-US" altLang="zh-TW" sz="2400" dirty="0">
                    <a:latin typeface="Cambria Math" panose="02040503050406030204" pitchFamily="18" charset="0"/>
                    <a:cs typeface="Times New Roman" panose="02020603050405020304" pitchFamily="18" charset="0"/>
                  </a:rPr>
                  <a:t>4-neighborhood</a:t>
                </a: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pPr marL="0" indent="0">
                  <a:buNone/>
                </a:pPr>
                <a:endParaRPr kumimoji="1" lang="en-US" altLang="zh-TW" sz="2400" dirty="0">
                  <a:latin typeface="Cambria Math" panose="02040503050406030204" pitchFamily="18" charset="0"/>
                  <a:cs typeface="Times New Roman" panose="02020603050405020304" pitchFamily="18" charset="0"/>
                </a:endParaRPr>
              </a:p>
              <a:p>
                <a:pPr marL="0" indent="0">
                  <a:buNone/>
                </a:pPr>
                <a:endParaRPr kumimoji="1" lang="en-US" altLang="zh-TW" sz="2400" dirty="0">
                  <a:latin typeface="Cambria Math" panose="02040503050406030204" pitchFamily="18" charset="0"/>
                  <a:cs typeface="Times New Roman" panose="02020603050405020304" pitchFamily="18" charset="0"/>
                </a:endParaRPr>
              </a:p>
              <a:p>
                <a:pPr marL="0" indent="0">
                  <a:buNone/>
                </a:pPr>
                <a:endParaRPr kumimoji="1" lang="en-US" altLang="zh-TW" sz="2400" dirty="0">
                  <a:latin typeface="Cambria Math" panose="02040503050406030204" pitchFamily="18" charset="0"/>
                  <a:cs typeface="Times New Roman" panose="02020603050405020304" pitchFamily="18" charset="0"/>
                </a:endParaRPr>
              </a:p>
              <a:p>
                <a14:m>
                  <m:oMath xmlns:m="http://schemas.openxmlformats.org/officeDocument/2006/math">
                    <m:sSubSup>
                      <m:sSubSupPr>
                        <m:ctrlPr>
                          <a:rPr kumimoji="1" lang="en-US" altLang="zh-TW" sz="2400" i="1" smtClean="0">
                            <a:latin typeface="Cambria Math" panose="02040503050406030204" pitchFamily="18" charset="0"/>
                            <a:cs typeface="Times New Roman" panose="02020603050405020304" pitchFamily="18" charset="0"/>
                          </a:rPr>
                        </m:ctrlPr>
                      </m:sSubSupPr>
                      <m:e>
                        <m:r>
                          <m:rPr>
                            <m:sty m:val="p"/>
                          </m:rPr>
                          <a:rPr kumimoji="1" lang="el-GR" altLang="zh-TW" sz="2400" i="1" smtClean="0">
                            <a:latin typeface="Cambria Math" panose="02040503050406030204" pitchFamily="18" charset="0"/>
                            <a:cs typeface="Times New Roman" panose="02020603050405020304" pitchFamily="18" charset="0"/>
                          </a:rPr>
                          <m:t>χ</m:t>
                        </m:r>
                      </m:e>
                      <m:sub>
                        <m:r>
                          <a:rPr kumimoji="1" lang="en-US" altLang="zh-TW" sz="2400" b="0" i="1" smtClean="0">
                            <a:latin typeface="Cambria Math" panose="02040503050406030204" pitchFamily="18" charset="0"/>
                            <a:cs typeface="Times New Roman" panose="02020603050405020304" pitchFamily="18" charset="0"/>
                          </a:rPr>
                          <m:t>𝑥</m:t>
                        </m:r>
                      </m:sub>
                      <m:sup>
                        <m:r>
                          <a:rPr kumimoji="1" lang="en-US" altLang="zh-TW" sz="2400" b="0" i="1" smtClean="0">
                            <a:latin typeface="Cambria Math" panose="02040503050406030204" pitchFamily="18" charset="0"/>
                            <a:cs typeface="Times New Roman" panose="02020603050405020304" pitchFamily="18" charset="0"/>
                          </a:rPr>
                          <m:t>4</m:t>
                        </m:r>
                      </m:sup>
                    </m:sSubSup>
                  </m:oMath>
                </a14:m>
                <a:r>
                  <a:rPr kumimoji="1" lang="en-US" altLang="zh-TW" sz="2400" dirty="0">
                    <a:latin typeface="Cambria Math" panose="02040503050406030204" pitchFamily="18" charset="0"/>
                    <a:cs typeface="Times New Roman" panose="02020603050405020304" pitchFamily="18" charset="0"/>
                  </a:rPr>
                  <a:t>  = &lt;4, 8, 1, 6, 15, 8&gt;</a:t>
                </a:r>
              </a:p>
              <a:p>
                <a:pPr marL="0" indent="0">
                  <a:buNone/>
                </a:pPr>
                <a:endParaRPr kumimoji="1" lang="en-US" altLang="zh-TW" sz="2400" dirty="0">
                  <a:latin typeface="Cambria Math" panose="020405030504060302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4947413"/>
              </a:xfrm>
              <a:prstGeom prst="rect">
                <a:avLst/>
              </a:prstGeom>
              <a:blipFill>
                <a:blip r:embed="rId3"/>
                <a:stretch>
                  <a:fillRect l="-791" t="-246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8363318"/>
                  </p:ext>
                </p:extLst>
              </p:nvPr>
            </p:nvGraphicFramePr>
            <p:xfrm>
              <a:off x="2032000" y="2809347"/>
              <a:ext cx="8127998" cy="2966720"/>
            </p:xfrm>
            <a:graphic>
              <a:graphicData uri="http://schemas.openxmlformats.org/drawingml/2006/table">
                <a:tbl>
                  <a:tblPr firstRow="1" bandRow="1">
                    <a:tableStyleId>{073A0DAA-6AF3-43AB-8588-CEC1D06C72B9}</a:tableStyleId>
                  </a:tblPr>
                  <a:tblGrid>
                    <a:gridCol w="1061578">
                      <a:extLst>
                        <a:ext uri="{9D8B030D-6E8A-4147-A177-3AD203B41FA5}">
                          <a16:colId xmlns:a16="http://schemas.microsoft.com/office/drawing/2014/main" val="1185931014"/>
                        </a:ext>
                      </a:extLst>
                    </a:gridCol>
                    <a:gridCol w="706642">
                      <a:extLst>
                        <a:ext uri="{9D8B030D-6E8A-4147-A177-3AD203B41FA5}">
                          <a16:colId xmlns:a16="http://schemas.microsoft.com/office/drawing/2014/main" val="505441001"/>
                        </a:ext>
                      </a:extLst>
                    </a:gridCol>
                    <a:gridCol w="706642">
                      <a:extLst>
                        <a:ext uri="{9D8B030D-6E8A-4147-A177-3AD203B41FA5}">
                          <a16:colId xmlns:a16="http://schemas.microsoft.com/office/drawing/2014/main" val="3690279265"/>
                        </a:ext>
                      </a:extLst>
                    </a:gridCol>
                    <a:gridCol w="706642">
                      <a:extLst>
                        <a:ext uri="{9D8B030D-6E8A-4147-A177-3AD203B41FA5}">
                          <a16:colId xmlns:a16="http://schemas.microsoft.com/office/drawing/2014/main" val="765263179"/>
                        </a:ext>
                      </a:extLst>
                    </a:gridCol>
                    <a:gridCol w="706642">
                      <a:extLst>
                        <a:ext uri="{9D8B030D-6E8A-4147-A177-3AD203B41FA5}">
                          <a16:colId xmlns:a16="http://schemas.microsoft.com/office/drawing/2014/main" val="3633760631"/>
                        </a:ext>
                      </a:extLst>
                    </a:gridCol>
                    <a:gridCol w="706642">
                      <a:extLst>
                        <a:ext uri="{9D8B030D-6E8A-4147-A177-3AD203B41FA5}">
                          <a16:colId xmlns:a16="http://schemas.microsoft.com/office/drawing/2014/main" val="2836098945"/>
                        </a:ext>
                      </a:extLst>
                    </a:gridCol>
                    <a:gridCol w="706642">
                      <a:extLst>
                        <a:ext uri="{9D8B030D-6E8A-4147-A177-3AD203B41FA5}">
                          <a16:colId xmlns:a16="http://schemas.microsoft.com/office/drawing/2014/main" val="1932905895"/>
                        </a:ext>
                      </a:extLst>
                    </a:gridCol>
                    <a:gridCol w="706642">
                      <a:extLst>
                        <a:ext uri="{9D8B030D-6E8A-4147-A177-3AD203B41FA5}">
                          <a16:colId xmlns:a16="http://schemas.microsoft.com/office/drawing/2014/main" val="459705465"/>
                        </a:ext>
                      </a:extLst>
                    </a:gridCol>
                    <a:gridCol w="706642">
                      <a:extLst>
                        <a:ext uri="{9D8B030D-6E8A-4147-A177-3AD203B41FA5}">
                          <a16:colId xmlns:a16="http://schemas.microsoft.com/office/drawing/2014/main" val="4190017673"/>
                        </a:ext>
                      </a:extLst>
                    </a:gridCol>
                    <a:gridCol w="706642">
                      <a:extLst>
                        <a:ext uri="{9D8B030D-6E8A-4147-A177-3AD203B41FA5}">
                          <a16:colId xmlns:a16="http://schemas.microsoft.com/office/drawing/2014/main" val="1619006230"/>
                        </a:ext>
                      </a:extLst>
                    </a:gridCol>
                    <a:gridCol w="706642">
                      <a:extLst>
                        <a:ext uri="{9D8B030D-6E8A-4147-A177-3AD203B41FA5}">
                          <a16:colId xmlns:a16="http://schemas.microsoft.com/office/drawing/2014/main" val="3313798939"/>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solidFill>
                                      <a:schemeClr val="tx1"/>
                                    </a:solidFill>
                                    <a:latin typeface="Cambria Math" panose="02040503050406030204" pitchFamily="18" charset="0"/>
                                  </a:rPr>
                                  <m:t>𝑥</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𝑁</m:t>
                                </m:r>
                                <m:r>
                                  <m:rPr>
                                    <m:sty m:val="p"/>
                                  </m:rPr>
                                  <a:rPr lang="en-US" altLang="zh-TW" b="0" i="1" smtClean="0">
                                    <a:solidFill>
                                      <a:schemeClr val="tx1"/>
                                    </a:solidFill>
                                    <a:latin typeface="Cambria Math" panose="02040503050406030204" pitchFamily="18" charset="0"/>
                                    <a:cs typeface="Times New Roman" panose="02020603050405020304" pitchFamily="18" charset="0"/>
                                  </a:rPr>
                                  <m:t>R</m:t>
                                </m:r>
                                <m:r>
                                  <a:rPr lang="en-US" altLang="zh-TW" i="1" smtClean="0">
                                    <a:solidFill>
                                      <a:schemeClr val="tx1"/>
                                    </a:solidFill>
                                    <a:latin typeface="Cambria Math" panose="02040503050406030204" pitchFamily="18" charset="0"/>
                                    <a:cs typeface="Times New Roman" panose="02020603050405020304" pitchFamily="18" charset="0"/>
                                  </a:rPr>
                                  <m:t> </m:t>
                                </m:r>
                                <m:r>
                                  <m:rPr>
                                    <m:sty m:val="p"/>
                                  </m:rPr>
                                  <a:rPr lang="en-US" altLang="zh-TW" i="1" smtClean="0">
                                    <a:solidFill>
                                      <a:schemeClr val="tx1"/>
                                    </a:solidFill>
                                    <a:latin typeface="Cambria Math" panose="02040503050406030204" pitchFamily="18" charset="0"/>
                                    <a:cs typeface="Times New Roman" panose="02020603050405020304" pitchFamily="18" charset="0"/>
                                  </a:rPr>
                                  <m:t>SEQ</m:t>
                                </m:r>
                                <m:r>
                                  <a:rPr lang="en-US" altLang="zh-TW" i="1" smtClean="0">
                                    <a:solidFill>
                                      <a:schemeClr val="tx1"/>
                                    </a:solidFill>
                                    <a:latin typeface="Cambria Math" panose="02040503050406030204" pitchFamily="18" charset="0"/>
                                    <a:cs typeface="Times New Roman" panose="02020603050405020304" pitchFamily="18" charset="0"/>
                                  </a:rPr>
                                  <m:t>.</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(1,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(2,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(3,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(4,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(5,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bl>
              </a:graphicData>
            </a:graphic>
          </p:graphicFrame>
        </mc:Choice>
        <mc:Fallback xmlns="">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8363318"/>
                  </p:ext>
                </p:extLst>
              </p:nvPr>
            </p:nvGraphicFramePr>
            <p:xfrm>
              <a:off x="2032000" y="2809347"/>
              <a:ext cx="8127998" cy="2966720"/>
            </p:xfrm>
            <a:graphic>
              <a:graphicData uri="http://schemas.openxmlformats.org/drawingml/2006/table">
                <a:tbl>
                  <a:tblPr firstRow="1" bandRow="1">
                    <a:tableStyleId>{073A0DAA-6AF3-43AB-8588-CEC1D06C72B9}</a:tableStyleId>
                  </a:tblPr>
                  <a:tblGrid>
                    <a:gridCol w="1061578">
                      <a:extLst>
                        <a:ext uri="{9D8B030D-6E8A-4147-A177-3AD203B41FA5}">
                          <a16:colId xmlns:a16="http://schemas.microsoft.com/office/drawing/2014/main" val="1185931014"/>
                        </a:ext>
                      </a:extLst>
                    </a:gridCol>
                    <a:gridCol w="706642">
                      <a:extLst>
                        <a:ext uri="{9D8B030D-6E8A-4147-A177-3AD203B41FA5}">
                          <a16:colId xmlns:a16="http://schemas.microsoft.com/office/drawing/2014/main" val="505441001"/>
                        </a:ext>
                      </a:extLst>
                    </a:gridCol>
                    <a:gridCol w="706642">
                      <a:extLst>
                        <a:ext uri="{9D8B030D-6E8A-4147-A177-3AD203B41FA5}">
                          <a16:colId xmlns:a16="http://schemas.microsoft.com/office/drawing/2014/main" val="3690279265"/>
                        </a:ext>
                      </a:extLst>
                    </a:gridCol>
                    <a:gridCol w="706642">
                      <a:extLst>
                        <a:ext uri="{9D8B030D-6E8A-4147-A177-3AD203B41FA5}">
                          <a16:colId xmlns:a16="http://schemas.microsoft.com/office/drawing/2014/main" val="765263179"/>
                        </a:ext>
                      </a:extLst>
                    </a:gridCol>
                    <a:gridCol w="706642">
                      <a:extLst>
                        <a:ext uri="{9D8B030D-6E8A-4147-A177-3AD203B41FA5}">
                          <a16:colId xmlns:a16="http://schemas.microsoft.com/office/drawing/2014/main" val="3633760631"/>
                        </a:ext>
                      </a:extLst>
                    </a:gridCol>
                    <a:gridCol w="706642">
                      <a:extLst>
                        <a:ext uri="{9D8B030D-6E8A-4147-A177-3AD203B41FA5}">
                          <a16:colId xmlns:a16="http://schemas.microsoft.com/office/drawing/2014/main" val="2836098945"/>
                        </a:ext>
                      </a:extLst>
                    </a:gridCol>
                    <a:gridCol w="706642">
                      <a:extLst>
                        <a:ext uri="{9D8B030D-6E8A-4147-A177-3AD203B41FA5}">
                          <a16:colId xmlns:a16="http://schemas.microsoft.com/office/drawing/2014/main" val="1932905895"/>
                        </a:ext>
                      </a:extLst>
                    </a:gridCol>
                    <a:gridCol w="706642">
                      <a:extLst>
                        <a:ext uri="{9D8B030D-6E8A-4147-A177-3AD203B41FA5}">
                          <a16:colId xmlns:a16="http://schemas.microsoft.com/office/drawing/2014/main" val="459705465"/>
                        </a:ext>
                      </a:extLst>
                    </a:gridCol>
                    <a:gridCol w="706642">
                      <a:extLst>
                        <a:ext uri="{9D8B030D-6E8A-4147-A177-3AD203B41FA5}">
                          <a16:colId xmlns:a16="http://schemas.microsoft.com/office/drawing/2014/main" val="4190017673"/>
                        </a:ext>
                      </a:extLst>
                    </a:gridCol>
                    <a:gridCol w="706642">
                      <a:extLst>
                        <a:ext uri="{9D8B030D-6E8A-4147-A177-3AD203B41FA5}">
                          <a16:colId xmlns:a16="http://schemas.microsoft.com/office/drawing/2014/main" val="1619006230"/>
                        </a:ext>
                      </a:extLst>
                    </a:gridCol>
                    <a:gridCol w="706642">
                      <a:extLst>
                        <a:ext uri="{9D8B030D-6E8A-4147-A177-3AD203B41FA5}">
                          <a16:colId xmlns:a16="http://schemas.microsoft.com/office/drawing/2014/main" val="3313798939"/>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75" t="-108197" r="-667816" b="-624590"/>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6">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75" t="-34699" r="-667816" b="-4098"/>
                          </a:stretch>
                        </a:blip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(1,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(2,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(3,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(4,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xmlns:a14="http://schemas.microsoft.com/office/drawing/2010/main">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i="1" smtClean="0">
                                      <a:solidFill>
                                        <a:schemeClr val="tx1"/>
                                      </a:solidFill>
                                      <a:latin typeface="Cambria Math" panose="02040503050406030204" pitchFamily="18" charset="0"/>
                                      <a:cs typeface="Times New Roman" panose="02020603050405020304" pitchFamily="18" charset="0"/>
                                    </a:rPr>
                                    <m:t>𝛽</m:t>
                                  </m:r>
                                </m:e>
                                <m:sub>
                                  <m:r>
                                    <a:rPr lang="en-US" altLang="zh-TW" b="0" i="1" smtClean="0">
                                      <a:solidFill>
                                        <a:schemeClr val="tx1"/>
                                      </a:solidFill>
                                      <a:latin typeface="Cambria Math" panose="02040503050406030204" pitchFamily="18" charset="0"/>
                                      <a:cs typeface="Times New Roman" panose="02020603050405020304" pitchFamily="18" charset="0"/>
                                    </a:rPr>
                                    <m:t>𝑥</m:t>
                                  </m:r>
                                </m:sub>
                              </m:sSub>
                            </m:oMath>
                          </a14:m>
                          <a:r>
                            <a:rPr lang="en-US" altLang="zh-TW" dirty="0">
                              <a:solidFill>
                                <a:schemeClr val="tx1"/>
                              </a:solidFill>
                              <a:latin typeface="Times New Roman" panose="02020603050405020304" pitchFamily="18" charset="0"/>
                              <a:cs typeface="Times New Roman" panose="02020603050405020304" pitchFamily="18" charset="0"/>
                            </a:rPr>
                            <a:t>(5, </a:t>
                          </a:r>
                          <a:r>
                            <a:rPr lang="en-US" altLang="zh-TW" dirty="0" err="1">
                              <a:solidFill>
                                <a:schemeClr val="tx1"/>
                              </a:solidFill>
                              <a:latin typeface="Times New Roman" panose="02020603050405020304" pitchFamily="18" charset="0"/>
                              <a:cs typeface="Times New Roman" panose="02020603050405020304" pitchFamily="18" charset="0"/>
                            </a:rPr>
                            <a:t>i</a:t>
                          </a:r>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bl>
              </a:graphicData>
            </a:graphic>
          </p:graphicFrame>
        </mc:Fallback>
      </mc:AlternateContent>
      <p:sp>
        <p:nvSpPr>
          <p:cNvPr id="7" name="Rectangle 6">
            <a:extLst>
              <a:ext uri="{FF2B5EF4-FFF2-40B4-BE49-F238E27FC236}">
                <a16:creationId xmlns:a16="http://schemas.microsoft.com/office/drawing/2014/main" id="{779EFA87-091B-B606-645D-325337DC6E8D}"/>
              </a:ext>
            </a:extLst>
          </p:cNvPr>
          <p:cNvSpPr/>
          <p:nvPr/>
        </p:nvSpPr>
        <p:spPr>
          <a:xfrm>
            <a:off x="6599625" y="3158695"/>
            <a:ext cx="3580688" cy="41019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 name="Picture 3">
            <a:extLst>
              <a:ext uri="{FF2B5EF4-FFF2-40B4-BE49-F238E27FC236}">
                <a16:creationId xmlns:a16="http://schemas.microsoft.com/office/drawing/2014/main" id="{AAB268DB-D338-A12C-9B42-056154A3D688}"/>
              </a:ext>
            </a:extLst>
          </p:cNvPr>
          <p:cNvPicPr>
            <a:picLocks noChangeAspect="1"/>
          </p:cNvPicPr>
          <p:nvPr/>
        </p:nvPicPr>
        <p:blipFill>
          <a:blip r:embed="rId5"/>
          <a:stretch>
            <a:fillRect/>
          </a:stretch>
        </p:blipFill>
        <p:spPr>
          <a:xfrm>
            <a:off x="7911818" y="2119467"/>
            <a:ext cx="2723794" cy="548824"/>
          </a:xfrm>
          <a:prstGeom prst="rect">
            <a:avLst/>
          </a:prstGeom>
        </p:spPr>
      </p:pic>
    </p:spTree>
    <p:extLst>
      <p:ext uri="{BB962C8B-B14F-4D97-AF65-F5344CB8AC3E}">
        <p14:creationId xmlns:p14="http://schemas.microsoft.com/office/powerpoint/2010/main" val="69866782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Ordering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13</a:t>
            </a:fld>
            <a:endParaRPr lang="zh-TW" altLang="en-US" dirty="0"/>
          </a:p>
        </p:txBody>
      </p:sp>
      <mc:AlternateContent xmlns:mc="http://schemas.openxmlformats.org/markup-compatibility/2006">
        <mc:Choice xmlns:a14="http://schemas.microsoft.com/office/drawing/2010/main"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49474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400" i="1" dirty="0">
                    <a:latin typeface="Cambria Math" panose="02040503050406030204" pitchFamily="18" charset="0"/>
                    <a:cs typeface="Times New Roman" panose="02020603050405020304" pitchFamily="18" charset="0"/>
                  </a:rPr>
                  <a:t>q</a:t>
                </a:r>
                <a:r>
                  <a:rPr kumimoji="1" lang="en-US" altLang="zh-TW" sz="2400" dirty="0">
                    <a:latin typeface="Cambria Math" panose="02040503050406030204" pitchFamily="18" charset="0"/>
                    <a:cs typeface="Times New Roman" panose="02020603050405020304" pitchFamily="18" charset="0"/>
                  </a:rPr>
                  <a:t>-neighborhood ordering sequences (table is 2-neighborhood)</a:t>
                </a: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14:m>
                  <m:oMath xmlns:m="http://schemas.openxmlformats.org/officeDocument/2006/math">
                    <m:d>
                      <m:dPr>
                        <m:ctrlPr>
                          <a:rPr kumimoji="1" lang="en-US" altLang="zh-TW" sz="2400" b="0" i="1" smtClean="0">
                            <a:latin typeface="Cambria Math" panose="02040503050406030204" pitchFamily="18" charset="0"/>
                            <a:cs typeface="Times New Roman" panose="02020603050405020304" pitchFamily="18" charset="0"/>
                          </a:rPr>
                        </m:ctrlPr>
                      </m:dPr>
                      <m:e>
                        <m:r>
                          <a:rPr kumimoji="1" lang="en-US" altLang="zh-TW" sz="2400" i="1" smtClean="0">
                            <a:latin typeface="Cambria Math" panose="02040503050406030204" pitchFamily="18" charset="0"/>
                            <a:cs typeface="Times New Roman" panose="02020603050405020304" pitchFamily="18" charset="0"/>
                          </a:rPr>
                          <m:t>𝑞</m:t>
                        </m:r>
                        <m:r>
                          <a:rPr kumimoji="1" lang="en-US" altLang="zh-TW" sz="2400" b="0" i="1" smtClean="0">
                            <a:latin typeface="Cambria Math" panose="02040503050406030204" pitchFamily="18" charset="0"/>
                            <a:cs typeface="Times New Roman" panose="02020603050405020304" pitchFamily="18" charset="0"/>
                          </a:rPr>
                          <m:t>+1</m:t>
                        </m:r>
                      </m:e>
                    </m:d>
                    <m:r>
                      <a:rPr kumimoji="1" lang="en-US" altLang="zh-TW" sz="2400" b="0" i="1" smtClean="0">
                        <a:latin typeface="Cambria Math" panose="02040503050406030204" pitchFamily="18" charset="0"/>
                        <a:cs typeface="Times New Roman" panose="02020603050405020304" pitchFamily="18" charset="0"/>
                      </a:rPr>
                      <m:t>!</m:t>
                    </m:r>
                  </m:oMath>
                </a14:m>
                <a:r>
                  <a:rPr kumimoji="1" lang="en-US" altLang="zh-TW" sz="2400" dirty="0">
                    <a:latin typeface="Cambria Math" panose="02040503050406030204" pitchFamily="18" charset="0"/>
                    <a:cs typeface="Times New Roman" panose="02020603050405020304" pitchFamily="18" charset="0"/>
                  </a:rPr>
                  <a:t> possible</a:t>
                </a:r>
              </a:p>
              <a:p>
                <a:endParaRPr kumimoji="1" lang="es-ES" altLang="zh-TW" sz="2400" dirty="0">
                  <a:latin typeface="Times New Roman" panose="02020603050405020304" pitchFamily="18" charset="0"/>
                  <a:cs typeface="Times New Roman" panose="02020603050405020304" pitchFamily="18" charset="0"/>
                </a:endParaRPr>
              </a:p>
            </p:txBody>
          </p:sp>
        </mc:Choice>
        <mc:Fallback>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4947413"/>
              </a:xfrm>
              <a:prstGeom prst="rect">
                <a:avLst/>
              </a:prstGeom>
              <a:blipFill>
                <a:blip r:embed="rId3"/>
                <a:stretch>
                  <a:fillRect l="-791" t="-1724"/>
                </a:stretch>
              </a:blipFill>
            </p:spPr>
            <p:txBody>
              <a:bodyPr/>
              <a:lstStyle/>
              <a:p>
                <a:r>
                  <a:rPr lang="zh-TW" altLang="en-US">
                    <a:noFill/>
                  </a:rPr>
                  <a:t> </a:t>
                </a:r>
              </a:p>
            </p:txBody>
          </p:sp>
        </mc:Fallback>
      </mc:AlternateContent>
      <p:pic>
        <p:nvPicPr>
          <p:cNvPr id="8" name="Picture 7">
            <a:extLst>
              <a:ext uri="{FF2B5EF4-FFF2-40B4-BE49-F238E27FC236}">
                <a16:creationId xmlns:a16="http://schemas.microsoft.com/office/drawing/2014/main" id="{B31F5D95-B9C4-05A9-E446-46A09C08D385}"/>
              </a:ext>
            </a:extLst>
          </p:cNvPr>
          <p:cNvPicPr>
            <a:picLocks noChangeAspect="1"/>
          </p:cNvPicPr>
          <p:nvPr/>
        </p:nvPicPr>
        <p:blipFill>
          <a:blip r:embed="rId4"/>
          <a:stretch>
            <a:fillRect/>
          </a:stretch>
        </p:blipFill>
        <p:spPr>
          <a:xfrm>
            <a:off x="6702216" y="5607775"/>
            <a:ext cx="2723794" cy="548824"/>
          </a:xfrm>
          <a:prstGeom prst="rect">
            <a:avLst/>
          </a:prstGeom>
        </p:spPr>
      </p:pic>
      <p:pic>
        <p:nvPicPr>
          <p:cNvPr id="7" name="Picture 6">
            <a:extLst>
              <a:ext uri="{FF2B5EF4-FFF2-40B4-BE49-F238E27FC236}">
                <a16:creationId xmlns:a16="http://schemas.microsoft.com/office/drawing/2014/main" id="{EC8311D1-C162-8B96-C4F9-4D65BB2CF2AB}"/>
              </a:ext>
            </a:extLst>
          </p:cNvPr>
          <p:cNvPicPr>
            <a:picLocks noChangeAspect="1"/>
          </p:cNvPicPr>
          <p:nvPr/>
        </p:nvPicPr>
        <p:blipFill>
          <a:blip r:embed="rId5"/>
          <a:stretch>
            <a:fillRect/>
          </a:stretch>
        </p:blipFill>
        <p:spPr>
          <a:xfrm>
            <a:off x="1697129" y="2362058"/>
            <a:ext cx="9078592" cy="3038899"/>
          </a:xfrm>
          <a:prstGeom prst="rect">
            <a:avLst/>
          </a:prstGeom>
        </p:spPr>
      </p:pic>
    </p:spTree>
    <p:extLst>
      <p:ext uri="{BB962C8B-B14F-4D97-AF65-F5344CB8AC3E}">
        <p14:creationId xmlns:p14="http://schemas.microsoft.com/office/powerpoint/2010/main" val="137379303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Ordering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14</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49474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&lt;5, 6, 3, 8, 10, 7, 1, 9, 10, 8&gt;</a:t>
                </a:r>
              </a:p>
              <a:p>
                <a:r>
                  <a:rPr kumimoji="1" lang="en-US" altLang="zh-TW" sz="2400" dirty="0">
                    <a:latin typeface="Cambria Math" panose="02040503050406030204" pitchFamily="18" charset="0"/>
                    <a:cs typeface="Times New Roman" panose="02020603050405020304" pitchFamily="18" charset="0"/>
                  </a:rPr>
                  <a:t>3-neighborhood </a:t>
                </a: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4947413"/>
              </a:xfrm>
              <a:prstGeom prst="rect">
                <a:avLst/>
              </a:prstGeom>
              <a:blipFill>
                <a:blip r:embed="rId3"/>
                <a:stretch>
                  <a:fillRect l="-791" t="-17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2933277315"/>
                  </p:ext>
                </p:extLst>
              </p:nvPr>
            </p:nvGraphicFramePr>
            <p:xfrm>
              <a:off x="1745241" y="2773046"/>
              <a:ext cx="8701517" cy="3337560"/>
            </p:xfrm>
            <a:graphic>
              <a:graphicData uri="http://schemas.openxmlformats.org/drawingml/2006/table">
                <a:tbl>
                  <a:tblPr firstRow="1" bandRow="1">
                    <a:tableStyleId>{073A0DAA-6AF3-43AB-8588-CEC1D06C72B9}</a:tableStyleId>
                  </a:tblPr>
                  <a:tblGrid>
                    <a:gridCol w="901387">
                      <a:extLst>
                        <a:ext uri="{9D8B030D-6E8A-4147-A177-3AD203B41FA5}">
                          <a16:colId xmlns:a16="http://schemas.microsoft.com/office/drawing/2014/main" val="1185931014"/>
                        </a:ext>
                      </a:extLst>
                    </a:gridCol>
                    <a:gridCol w="600010">
                      <a:extLst>
                        <a:ext uri="{9D8B030D-6E8A-4147-A177-3AD203B41FA5}">
                          <a16:colId xmlns:a16="http://schemas.microsoft.com/office/drawing/2014/main" val="505441001"/>
                        </a:ext>
                      </a:extLst>
                    </a:gridCol>
                    <a:gridCol w="600010">
                      <a:extLst>
                        <a:ext uri="{9D8B030D-6E8A-4147-A177-3AD203B41FA5}">
                          <a16:colId xmlns:a16="http://schemas.microsoft.com/office/drawing/2014/main" val="3690279265"/>
                        </a:ext>
                      </a:extLst>
                    </a:gridCol>
                    <a:gridCol w="600010">
                      <a:extLst>
                        <a:ext uri="{9D8B030D-6E8A-4147-A177-3AD203B41FA5}">
                          <a16:colId xmlns:a16="http://schemas.microsoft.com/office/drawing/2014/main" val="765263179"/>
                        </a:ext>
                      </a:extLst>
                    </a:gridCol>
                    <a:gridCol w="600010">
                      <a:extLst>
                        <a:ext uri="{9D8B030D-6E8A-4147-A177-3AD203B41FA5}">
                          <a16:colId xmlns:a16="http://schemas.microsoft.com/office/drawing/2014/main" val="3633760631"/>
                        </a:ext>
                      </a:extLst>
                    </a:gridCol>
                    <a:gridCol w="600010">
                      <a:extLst>
                        <a:ext uri="{9D8B030D-6E8A-4147-A177-3AD203B41FA5}">
                          <a16:colId xmlns:a16="http://schemas.microsoft.com/office/drawing/2014/main" val="2836098945"/>
                        </a:ext>
                      </a:extLst>
                    </a:gridCol>
                    <a:gridCol w="600010">
                      <a:extLst>
                        <a:ext uri="{9D8B030D-6E8A-4147-A177-3AD203B41FA5}">
                          <a16:colId xmlns:a16="http://schemas.microsoft.com/office/drawing/2014/main" val="1932905895"/>
                        </a:ext>
                      </a:extLst>
                    </a:gridCol>
                    <a:gridCol w="600010">
                      <a:extLst>
                        <a:ext uri="{9D8B030D-6E8A-4147-A177-3AD203B41FA5}">
                          <a16:colId xmlns:a16="http://schemas.microsoft.com/office/drawing/2014/main" val="459705465"/>
                        </a:ext>
                      </a:extLst>
                    </a:gridCol>
                    <a:gridCol w="600010">
                      <a:extLst>
                        <a:ext uri="{9D8B030D-6E8A-4147-A177-3AD203B41FA5}">
                          <a16:colId xmlns:a16="http://schemas.microsoft.com/office/drawing/2014/main" val="4190017673"/>
                        </a:ext>
                      </a:extLst>
                    </a:gridCol>
                    <a:gridCol w="600010">
                      <a:extLst>
                        <a:ext uri="{9D8B030D-6E8A-4147-A177-3AD203B41FA5}">
                          <a16:colId xmlns:a16="http://schemas.microsoft.com/office/drawing/2014/main" val="1619006230"/>
                        </a:ext>
                      </a:extLst>
                    </a:gridCol>
                    <a:gridCol w="600010">
                      <a:extLst>
                        <a:ext uri="{9D8B030D-6E8A-4147-A177-3AD203B41FA5}">
                          <a16:colId xmlns:a16="http://schemas.microsoft.com/office/drawing/2014/main" val="3313798939"/>
                        </a:ext>
                      </a:extLst>
                    </a:gridCol>
                    <a:gridCol w="600010">
                      <a:extLst>
                        <a:ext uri="{9D8B030D-6E8A-4147-A177-3AD203B41FA5}">
                          <a16:colId xmlns:a16="http://schemas.microsoft.com/office/drawing/2014/main" val="3438485447"/>
                        </a:ext>
                      </a:extLst>
                    </a:gridCol>
                    <a:gridCol w="600010">
                      <a:extLst>
                        <a:ext uri="{9D8B030D-6E8A-4147-A177-3AD203B41FA5}">
                          <a16:colId xmlns:a16="http://schemas.microsoft.com/office/drawing/2014/main" val="3243484835"/>
                        </a:ext>
                      </a:extLst>
                    </a:gridCol>
                    <a:gridCol w="600010">
                      <a:extLst>
                        <a:ext uri="{9D8B030D-6E8A-4147-A177-3AD203B41FA5}">
                          <a16:colId xmlns:a16="http://schemas.microsoft.com/office/drawing/2014/main" val="3779994107"/>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solidFill>
                                      <a:schemeClr val="tx1"/>
                                    </a:solidFill>
                                    <a:latin typeface="Cambria Math" panose="02040503050406030204" pitchFamily="18" charset="0"/>
                                  </a:rPr>
                                  <m:t>𝑥</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𝑁𝑂</m:t>
                                </m:r>
                                <m:r>
                                  <a:rPr lang="en-US" altLang="zh-TW" i="1" smtClean="0">
                                    <a:solidFill>
                                      <a:schemeClr val="tx1"/>
                                    </a:solidFill>
                                    <a:latin typeface="Cambria Math" panose="02040503050406030204" pitchFamily="18" charset="0"/>
                                    <a:cs typeface="Times New Roman" panose="02020603050405020304" pitchFamily="18" charset="0"/>
                                  </a:rPr>
                                  <m:t> </m:t>
                                </m:r>
                                <m:r>
                                  <m:rPr>
                                    <m:sty m:val="p"/>
                                  </m:rPr>
                                  <a:rPr lang="en-US" altLang="zh-TW" i="1" smtClean="0">
                                    <a:solidFill>
                                      <a:schemeClr val="tx1"/>
                                    </a:solidFill>
                                    <a:latin typeface="Cambria Math" panose="02040503050406030204" pitchFamily="18" charset="0"/>
                                    <a:cs typeface="Times New Roman" panose="02020603050405020304" pitchFamily="18" charset="0"/>
                                  </a:rPr>
                                  <m:t>SEQ</m:t>
                                </m:r>
                                <m:r>
                                  <a:rPr lang="en-US" altLang="zh-TW" i="1" smtClean="0">
                                    <a:solidFill>
                                      <a:schemeClr val="tx1"/>
                                    </a:solidFill>
                                    <a:latin typeface="Cambria Math" panose="02040503050406030204" pitchFamily="18" charset="0"/>
                                    <a:cs typeface="Times New Roman" panose="02020603050405020304" pitchFamily="18" charset="0"/>
                                  </a:rPr>
                                  <m:t>.</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5207175"/>
                      </a:ext>
                    </a:extLst>
                  </a:tr>
                </a:tbl>
              </a:graphicData>
            </a:graphic>
          </p:graphicFrame>
        </mc:Choice>
        <mc:Fallback xmlns="">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2933277315"/>
                  </p:ext>
                </p:extLst>
              </p:nvPr>
            </p:nvGraphicFramePr>
            <p:xfrm>
              <a:off x="1745241" y="2773046"/>
              <a:ext cx="8701517" cy="3337560"/>
            </p:xfrm>
            <a:graphic>
              <a:graphicData uri="http://schemas.openxmlformats.org/drawingml/2006/table">
                <a:tbl>
                  <a:tblPr firstRow="1" bandRow="1">
                    <a:tableStyleId>{073A0DAA-6AF3-43AB-8588-CEC1D06C72B9}</a:tableStyleId>
                  </a:tblPr>
                  <a:tblGrid>
                    <a:gridCol w="901387">
                      <a:extLst>
                        <a:ext uri="{9D8B030D-6E8A-4147-A177-3AD203B41FA5}">
                          <a16:colId xmlns:a16="http://schemas.microsoft.com/office/drawing/2014/main" val="1185931014"/>
                        </a:ext>
                      </a:extLst>
                    </a:gridCol>
                    <a:gridCol w="600010">
                      <a:extLst>
                        <a:ext uri="{9D8B030D-6E8A-4147-A177-3AD203B41FA5}">
                          <a16:colId xmlns:a16="http://schemas.microsoft.com/office/drawing/2014/main" val="505441001"/>
                        </a:ext>
                      </a:extLst>
                    </a:gridCol>
                    <a:gridCol w="600010">
                      <a:extLst>
                        <a:ext uri="{9D8B030D-6E8A-4147-A177-3AD203B41FA5}">
                          <a16:colId xmlns:a16="http://schemas.microsoft.com/office/drawing/2014/main" val="3690279265"/>
                        </a:ext>
                      </a:extLst>
                    </a:gridCol>
                    <a:gridCol w="600010">
                      <a:extLst>
                        <a:ext uri="{9D8B030D-6E8A-4147-A177-3AD203B41FA5}">
                          <a16:colId xmlns:a16="http://schemas.microsoft.com/office/drawing/2014/main" val="765263179"/>
                        </a:ext>
                      </a:extLst>
                    </a:gridCol>
                    <a:gridCol w="600010">
                      <a:extLst>
                        <a:ext uri="{9D8B030D-6E8A-4147-A177-3AD203B41FA5}">
                          <a16:colId xmlns:a16="http://schemas.microsoft.com/office/drawing/2014/main" val="3633760631"/>
                        </a:ext>
                      </a:extLst>
                    </a:gridCol>
                    <a:gridCol w="600010">
                      <a:extLst>
                        <a:ext uri="{9D8B030D-6E8A-4147-A177-3AD203B41FA5}">
                          <a16:colId xmlns:a16="http://schemas.microsoft.com/office/drawing/2014/main" val="2836098945"/>
                        </a:ext>
                      </a:extLst>
                    </a:gridCol>
                    <a:gridCol w="600010">
                      <a:extLst>
                        <a:ext uri="{9D8B030D-6E8A-4147-A177-3AD203B41FA5}">
                          <a16:colId xmlns:a16="http://schemas.microsoft.com/office/drawing/2014/main" val="1932905895"/>
                        </a:ext>
                      </a:extLst>
                    </a:gridCol>
                    <a:gridCol w="600010">
                      <a:extLst>
                        <a:ext uri="{9D8B030D-6E8A-4147-A177-3AD203B41FA5}">
                          <a16:colId xmlns:a16="http://schemas.microsoft.com/office/drawing/2014/main" val="459705465"/>
                        </a:ext>
                      </a:extLst>
                    </a:gridCol>
                    <a:gridCol w="600010">
                      <a:extLst>
                        <a:ext uri="{9D8B030D-6E8A-4147-A177-3AD203B41FA5}">
                          <a16:colId xmlns:a16="http://schemas.microsoft.com/office/drawing/2014/main" val="4190017673"/>
                        </a:ext>
                      </a:extLst>
                    </a:gridCol>
                    <a:gridCol w="600010">
                      <a:extLst>
                        <a:ext uri="{9D8B030D-6E8A-4147-A177-3AD203B41FA5}">
                          <a16:colId xmlns:a16="http://schemas.microsoft.com/office/drawing/2014/main" val="1619006230"/>
                        </a:ext>
                      </a:extLst>
                    </a:gridCol>
                    <a:gridCol w="600010">
                      <a:extLst>
                        <a:ext uri="{9D8B030D-6E8A-4147-A177-3AD203B41FA5}">
                          <a16:colId xmlns:a16="http://schemas.microsoft.com/office/drawing/2014/main" val="3313798939"/>
                        </a:ext>
                      </a:extLst>
                    </a:gridCol>
                    <a:gridCol w="600010">
                      <a:extLst>
                        <a:ext uri="{9D8B030D-6E8A-4147-A177-3AD203B41FA5}">
                          <a16:colId xmlns:a16="http://schemas.microsoft.com/office/drawing/2014/main" val="3438485447"/>
                        </a:ext>
                      </a:extLst>
                    </a:gridCol>
                    <a:gridCol w="600010">
                      <a:extLst>
                        <a:ext uri="{9D8B030D-6E8A-4147-A177-3AD203B41FA5}">
                          <a16:colId xmlns:a16="http://schemas.microsoft.com/office/drawing/2014/main" val="3243484835"/>
                        </a:ext>
                      </a:extLst>
                    </a:gridCol>
                    <a:gridCol w="600010">
                      <a:extLst>
                        <a:ext uri="{9D8B030D-6E8A-4147-A177-3AD203B41FA5}">
                          <a16:colId xmlns:a16="http://schemas.microsoft.com/office/drawing/2014/main" val="3779994107"/>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6" t="-108197" r="-866216" b="-703279"/>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7">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6" t="-29742" r="-866216" b="-468"/>
                          </a:stretch>
                        </a:blip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5207175"/>
                      </a:ext>
                    </a:extLst>
                  </a:tr>
                </a:tbl>
              </a:graphicData>
            </a:graphic>
          </p:graphicFrame>
        </mc:Fallback>
      </mc:AlternateContent>
      <p:sp>
        <p:nvSpPr>
          <p:cNvPr id="7" name="Rectangle 6">
            <a:extLst>
              <a:ext uri="{FF2B5EF4-FFF2-40B4-BE49-F238E27FC236}">
                <a16:creationId xmlns:a16="http://schemas.microsoft.com/office/drawing/2014/main" id="{779EFA87-091B-B606-645D-325337DC6E8D}"/>
              </a:ext>
            </a:extLst>
          </p:cNvPr>
          <p:cNvSpPr/>
          <p:nvPr/>
        </p:nvSpPr>
        <p:spPr>
          <a:xfrm>
            <a:off x="2639595" y="3129898"/>
            <a:ext cx="2428061" cy="41019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 name="Picture 3">
            <a:extLst>
              <a:ext uri="{FF2B5EF4-FFF2-40B4-BE49-F238E27FC236}">
                <a16:creationId xmlns:a16="http://schemas.microsoft.com/office/drawing/2014/main" id="{F42B1E15-8477-5676-01DE-5E8C50094582}"/>
              </a:ext>
            </a:extLst>
          </p:cNvPr>
          <p:cNvPicPr>
            <a:picLocks noChangeAspect="1"/>
          </p:cNvPicPr>
          <p:nvPr/>
        </p:nvPicPr>
        <p:blipFill>
          <a:blip r:embed="rId5"/>
          <a:stretch>
            <a:fillRect/>
          </a:stretch>
        </p:blipFill>
        <p:spPr>
          <a:xfrm>
            <a:off x="7911818" y="2119467"/>
            <a:ext cx="2723794" cy="548824"/>
          </a:xfrm>
          <a:prstGeom prst="rect">
            <a:avLst/>
          </a:prstGeom>
        </p:spPr>
      </p:pic>
    </p:spTree>
    <p:extLst>
      <p:ext uri="{BB962C8B-B14F-4D97-AF65-F5344CB8AC3E}">
        <p14:creationId xmlns:p14="http://schemas.microsoft.com/office/powerpoint/2010/main" val="265848273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Ordering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15</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49474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&lt;5, 6, 3, 8, 10, 7, 1, 9, 10, 8&gt;</a:t>
                </a:r>
              </a:p>
              <a:p>
                <a:r>
                  <a:rPr kumimoji="1" lang="en-US" altLang="zh-TW" sz="2400" dirty="0">
                    <a:latin typeface="Cambria Math" panose="02040503050406030204" pitchFamily="18" charset="0"/>
                    <a:cs typeface="Times New Roman" panose="02020603050405020304" pitchFamily="18" charset="0"/>
                  </a:rPr>
                  <a:t>3-neighborhood </a:t>
                </a: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4947413"/>
              </a:xfrm>
              <a:prstGeom prst="rect">
                <a:avLst/>
              </a:prstGeom>
              <a:blipFill>
                <a:blip r:embed="rId3"/>
                <a:stretch>
                  <a:fillRect l="-791" t="-17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1219088712"/>
                  </p:ext>
                </p:extLst>
              </p:nvPr>
            </p:nvGraphicFramePr>
            <p:xfrm>
              <a:off x="1745241" y="2773046"/>
              <a:ext cx="8701517" cy="3337560"/>
            </p:xfrm>
            <a:graphic>
              <a:graphicData uri="http://schemas.openxmlformats.org/drawingml/2006/table">
                <a:tbl>
                  <a:tblPr firstRow="1" bandRow="1">
                    <a:tableStyleId>{073A0DAA-6AF3-43AB-8588-CEC1D06C72B9}</a:tableStyleId>
                  </a:tblPr>
                  <a:tblGrid>
                    <a:gridCol w="901387">
                      <a:extLst>
                        <a:ext uri="{9D8B030D-6E8A-4147-A177-3AD203B41FA5}">
                          <a16:colId xmlns:a16="http://schemas.microsoft.com/office/drawing/2014/main" val="1185931014"/>
                        </a:ext>
                      </a:extLst>
                    </a:gridCol>
                    <a:gridCol w="600010">
                      <a:extLst>
                        <a:ext uri="{9D8B030D-6E8A-4147-A177-3AD203B41FA5}">
                          <a16:colId xmlns:a16="http://schemas.microsoft.com/office/drawing/2014/main" val="505441001"/>
                        </a:ext>
                      </a:extLst>
                    </a:gridCol>
                    <a:gridCol w="600010">
                      <a:extLst>
                        <a:ext uri="{9D8B030D-6E8A-4147-A177-3AD203B41FA5}">
                          <a16:colId xmlns:a16="http://schemas.microsoft.com/office/drawing/2014/main" val="3690279265"/>
                        </a:ext>
                      </a:extLst>
                    </a:gridCol>
                    <a:gridCol w="600010">
                      <a:extLst>
                        <a:ext uri="{9D8B030D-6E8A-4147-A177-3AD203B41FA5}">
                          <a16:colId xmlns:a16="http://schemas.microsoft.com/office/drawing/2014/main" val="765263179"/>
                        </a:ext>
                      </a:extLst>
                    </a:gridCol>
                    <a:gridCol w="600010">
                      <a:extLst>
                        <a:ext uri="{9D8B030D-6E8A-4147-A177-3AD203B41FA5}">
                          <a16:colId xmlns:a16="http://schemas.microsoft.com/office/drawing/2014/main" val="3633760631"/>
                        </a:ext>
                      </a:extLst>
                    </a:gridCol>
                    <a:gridCol w="600010">
                      <a:extLst>
                        <a:ext uri="{9D8B030D-6E8A-4147-A177-3AD203B41FA5}">
                          <a16:colId xmlns:a16="http://schemas.microsoft.com/office/drawing/2014/main" val="2836098945"/>
                        </a:ext>
                      </a:extLst>
                    </a:gridCol>
                    <a:gridCol w="600010">
                      <a:extLst>
                        <a:ext uri="{9D8B030D-6E8A-4147-A177-3AD203B41FA5}">
                          <a16:colId xmlns:a16="http://schemas.microsoft.com/office/drawing/2014/main" val="1932905895"/>
                        </a:ext>
                      </a:extLst>
                    </a:gridCol>
                    <a:gridCol w="600010">
                      <a:extLst>
                        <a:ext uri="{9D8B030D-6E8A-4147-A177-3AD203B41FA5}">
                          <a16:colId xmlns:a16="http://schemas.microsoft.com/office/drawing/2014/main" val="459705465"/>
                        </a:ext>
                      </a:extLst>
                    </a:gridCol>
                    <a:gridCol w="600010">
                      <a:extLst>
                        <a:ext uri="{9D8B030D-6E8A-4147-A177-3AD203B41FA5}">
                          <a16:colId xmlns:a16="http://schemas.microsoft.com/office/drawing/2014/main" val="4190017673"/>
                        </a:ext>
                      </a:extLst>
                    </a:gridCol>
                    <a:gridCol w="600010">
                      <a:extLst>
                        <a:ext uri="{9D8B030D-6E8A-4147-A177-3AD203B41FA5}">
                          <a16:colId xmlns:a16="http://schemas.microsoft.com/office/drawing/2014/main" val="1619006230"/>
                        </a:ext>
                      </a:extLst>
                    </a:gridCol>
                    <a:gridCol w="600010">
                      <a:extLst>
                        <a:ext uri="{9D8B030D-6E8A-4147-A177-3AD203B41FA5}">
                          <a16:colId xmlns:a16="http://schemas.microsoft.com/office/drawing/2014/main" val="3313798939"/>
                        </a:ext>
                      </a:extLst>
                    </a:gridCol>
                    <a:gridCol w="600010">
                      <a:extLst>
                        <a:ext uri="{9D8B030D-6E8A-4147-A177-3AD203B41FA5}">
                          <a16:colId xmlns:a16="http://schemas.microsoft.com/office/drawing/2014/main" val="3438485447"/>
                        </a:ext>
                      </a:extLst>
                    </a:gridCol>
                    <a:gridCol w="600010">
                      <a:extLst>
                        <a:ext uri="{9D8B030D-6E8A-4147-A177-3AD203B41FA5}">
                          <a16:colId xmlns:a16="http://schemas.microsoft.com/office/drawing/2014/main" val="3243484835"/>
                        </a:ext>
                      </a:extLst>
                    </a:gridCol>
                    <a:gridCol w="600010">
                      <a:extLst>
                        <a:ext uri="{9D8B030D-6E8A-4147-A177-3AD203B41FA5}">
                          <a16:colId xmlns:a16="http://schemas.microsoft.com/office/drawing/2014/main" val="3779994107"/>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solidFill>
                                      <a:schemeClr val="tx1"/>
                                    </a:solidFill>
                                    <a:latin typeface="Cambria Math" panose="02040503050406030204" pitchFamily="18" charset="0"/>
                                  </a:rPr>
                                  <m:t>𝑥</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𝑁𝑂</m:t>
                                </m:r>
                                <m:r>
                                  <a:rPr lang="en-US" altLang="zh-TW" i="1" smtClean="0">
                                    <a:solidFill>
                                      <a:schemeClr val="tx1"/>
                                    </a:solidFill>
                                    <a:latin typeface="Cambria Math" panose="02040503050406030204" pitchFamily="18" charset="0"/>
                                    <a:cs typeface="Times New Roman" panose="02020603050405020304" pitchFamily="18" charset="0"/>
                                  </a:rPr>
                                  <m:t> </m:t>
                                </m:r>
                                <m:r>
                                  <m:rPr>
                                    <m:sty m:val="p"/>
                                  </m:rPr>
                                  <a:rPr lang="en-US" altLang="zh-TW" i="1" smtClean="0">
                                    <a:solidFill>
                                      <a:schemeClr val="tx1"/>
                                    </a:solidFill>
                                    <a:latin typeface="Cambria Math" panose="02040503050406030204" pitchFamily="18" charset="0"/>
                                    <a:cs typeface="Times New Roman" panose="02020603050405020304" pitchFamily="18" charset="0"/>
                                  </a:rPr>
                                  <m:t>SEQ</m:t>
                                </m:r>
                                <m:r>
                                  <a:rPr lang="en-US" altLang="zh-TW" i="1" smtClean="0">
                                    <a:solidFill>
                                      <a:schemeClr val="tx1"/>
                                    </a:solidFill>
                                    <a:latin typeface="Cambria Math" panose="02040503050406030204" pitchFamily="18" charset="0"/>
                                    <a:cs typeface="Times New Roman" panose="02020603050405020304" pitchFamily="18" charset="0"/>
                                  </a:rPr>
                                  <m:t>.</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5207175"/>
                      </a:ext>
                    </a:extLst>
                  </a:tr>
                </a:tbl>
              </a:graphicData>
            </a:graphic>
          </p:graphicFrame>
        </mc:Choice>
        <mc:Fallback xmlns="">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1219088712"/>
                  </p:ext>
                </p:extLst>
              </p:nvPr>
            </p:nvGraphicFramePr>
            <p:xfrm>
              <a:off x="1745241" y="2773046"/>
              <a:ext cx="8701517" cy="3337560"/>
            </p:xfrm>
            <a:graphic>
              <a:graphicData uri="http://schemas.openxmlformats.org/drawingml/2006/table">
                <a:tbl>
                  <a:tblPr firstRow="1" bandRow="1">
                    <a:tableStyleId>{073A0DAA-6AF3-43AB-8588-CEC1D06C72B9}</a:tableStyleId>
                  </a:tblPr>
                  <a:tblGrid>
                    <a:gridCol w="901387">
                      <a:extLst>
                        <a:ext uri="{9D8B030D-6E8A-4147-A177-3AD203B41FA5}">
                          <a16:colId xmlns:a16="http://schemas.microsoft.com/office/drawing/2014/main" val="1185931014"/>
                        </a:ext>
                      </a:extLst>
                    </a:gridCol>
                    <a:gridCol w="600010">
                      <a:extLst>
                        <a:ext uri="{9D8B030D-6E8A-4147-A177-3AD203B41FA5}">
                          <a16:colId xmlns:a16="http://schemas.microsoft.com/office/drawing/2014/main" val="505441001"/>
                        </a:ext>
                      </a:extLst>
                    </a:gridCol>
                    <a:gridCol w="600010">
                      <a:extLst>
                        <a:ext uri="{9D8B030D-6E8A-4147-A177-3AD203B41FA5}">
                          <a16:colId xmlns:a16="http://schemas.microsoft.com/office/drawing/2014/main" val="3690279265"/>
                        </a:ext>
                      </a:extLst>
                    </a:gridCol>
                    <a:gridCol w="600010">
                      <a:extLst>
                        <a:ext uri="{9D8B030D-6E8A-4147-A177-3AD203B41FA5}">
                          <a16:colId xmlns:a16="http://schemas.microsoft.com/office/drawing/2014/main" val="765263179"/>
                        </a:ext>
                      </a:extLst>
                    </a:gridCol>
                    <a:gridCol w="600010">
                      <a:extLst>
                        <a:ext uri="{9D8B030D-6E8A-4147-A177-3AD203B41FA5}">
                          <a16:colId xmlns:a16="http://schemas.microsoft.com/office/drawing/2014/main" val="3633760631"/>
                        </a:ext>
                      </a:extLst>
                    </a:gridCol>
                    <a:gridCol w="600010">
                      <a:extLst>
                        <a:ext uri="{9D8B030D-6E8A-4147-A177-3AD203B41FA5}">
                          <a16:colId xmlns:a16="http://schemas.microsoft.com/office/drawing/2014/main" val="2836098945"/>
                        </a:ext>
                      </a:extLst>
                    </a:gridCol>
                    <a:gridCol w="600010">
                      <a:extLst>
                        <a:ext uri="{9D8B030D-6E8A-4147-A177-3AD203B41FA5}">
                          <a16:colId xmlns:a16="http://schemas.microsoft.com/office/drawing/2014/main" val="1932905895"/>
                        </a:ext>
                      </a:extLst>
                    </a:gridCol>
                    <a:gridCol w="600010">
                      <a:extLst>
                        <a:ext uri="{9D8B030D-6E8A-4147-A177-3AD203B41FA5}">
                          <a16:colId xmlns:a16="http://schemas.microsoft.com/office/drawing/2014/main" val="459705465"/>
                        </a:ext>
                      </a:extLst>
                    </a:gridCol>
                    <a:gridCol w="600010">
                      <a:extLst>
                        <a:ext uri="{9D8B030D-6E8A-4147-A177-3AD203B41FA5}">
                          <a16:colId xmlns:a16="http://schemas.microsoft.com/office/drawing/2014/main" val="4190017673"/>
                        </a:ext>
                      </a:extLst>
                    </a:gridCol>
                    <a:gridCol w="600010">
                      <a:extLst>
                        <a:ext uri="{9D8B030D-6E8A-4147-A177-3AD203B41FA5}">
                          <a16:colId xmlns:a16="http://schemas.microsoft.com/office/drawing/2014/main" val="1619006230"/>
                        </a:ext>
                      </a:extLst>
                    </a:gridCol>
                    <a:gridCol w="600010">
                      <a:extLst>
                        <a:ext uri="{9D8B030D-6E8A-4147-A177-3AD203B41FA5}">
                          <a16:colId xmlns:a16="http://schemas.microsoft.com/office/drawing/2014/main" val="3313798939"/>
                        </a:ext>
                      </a:extLst>
                    </a:gridCol>
                    <a:gridCol w="600010">
                      <a:extLst>
                        <a:ext uri="{9D8B030D-6E8A-4147-A177-3AD203B41FA5}">
                          <a16:colId xmlns:a16="http://schemas.microsoft.com/office/drawing/2014/main" val="3438485447"/>
                        </a:ext>
                      </a:extLst>
                    </a:gridCol>
                    <a:gridCol w="600010">
                      <a:extLst>
                        <a:ext uri="{9D8B030D-6E8A-4147-A177-3AD203B41FA5}">
                          <a16:colId xmlns:a16="http://schemas.microsoft.com/office/drawing/2014/main" val="3243484835"/>
                        </a:ext>
                      </a:extLst>
                    </a:gridCol>
                    <a:gridCol w="600010">
                      <a:extLst>
                        <a:ext uri="{9D8B030D-6E8A-4147-A177-3AD203B41FA5}">
                          <a16:colId xmlns:a16="http://schemas.microsoft.com/office/drawing/2014/main" val="3779994107"/>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6" t="-108197" r="-866216" b="-703279"/>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7">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6" t="-29742" r="-866216" b="-468"/>
                          </a:stretch>
                        </a:blip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5207175"/>
                      </a:ext>
                    </a:extLst>
                  </a:tr>
                </a:tbl>
              </a:graphicData>
            </a:graphic>
          </p:graphicFrame>
        </mc:Fallback>
      </mc:AlternateContent>
      <p:sp>
        <p:nvSpPr>
          <p:cNvPr id="7" name="Rectangle 6">
            <a:extLst>
              <a:ext uri="{FF2B5EF4-FFF2-40B4-BE49-F238E27FC236}">
                <a16:creationId xmlns:a16="http://schemas.microsoft.com/office/drawing/2014/main" id="{779EFA87-091B-B606-645D-325337DC6E8D}"/>
              </a:ext>
            </a:extLst>
          </p:cNvPr>
          <p:cNvSpPr/>
          <p:nvPr/>
        </p:nvSpPr>
        <p:spPr>
          <a:xfrm>
            <a:off x="3229256" y="3129898"/>
            <a:ext cx="2428061" cy="41019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 name="Picture 3">
            <a:extLst>
              <a:ext uri="{FF2B5EF4-FFF2-40B4-BE49-F238E27FC236}">
                <a16:creationId xmlns:a16="http://schemas.microsoft.com/office/drawing/2014/main" id="{0D1900D7-A2E1-ECE3-B7EA-44D7B9C14A29}"/>
              </a:ext>
            </a:extLst>
          </p:cNvPr>
          <p:cNvPicPr>
            <a:picLocks noChangeAspect="1"/>
          </p:cNvPicPr>
          <p:nvPr/>
        </p:nvPicPr>
        <p:blipFill>
          <a:blip r:embed="rId5"/>
          <a:stretch>
            <a:fillRect/>
          </a:stretch>
        </p:blipFill>
        <p:spPr>
          <a:xfrm>
            <a:off x="7911818" y="2119467"/>
            <a:ext cx="2723794" cy="548824"/>
          </a:xfrm>
          <a:prstGeom prst="rect">
            <a:avLst/>
          </a:prstGeom>
        </p:spPr>
      </p:pic>
    </p:spTree>
    <p:extLst>
      <p:ext uri="{BB962C8B-B14F-4D97-AF65-F5344CB8AC3E}">
        <p14:creationId xmlns:p14="http://schemas.microsoft.com/office/powerpoint/2010/main" val="387946316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Ordering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16</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49474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&lt;5, 6, 3, 8, 10, 7, 1, 9, 10, 8&gt;</a:t>
                </a:r>
              </a:p>
              <a:p>
                <a:r>
                  <a:rPr kumimoji="1" lang="en-US" altLang="zh-TW" sz="2400" dirty="0">
                    <a:latin typeface="Cambria Math" panose="02040503050406030204" pitchFamily="18" charset="0"/>
                    <a:cs typeface="Times New Roman" panose="02020603050405020304" pitchFamily="18" charset="0"/>
                  </a:rPr>
                  <a:t>3-neighborhood </a:t>
                </a: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4947413"/>
              </a:xfrm>
              <a:prstGeom prst="rect">
                <a:avLst/>
              </a:prstGeom>
              <a:blipFill>
                <a:blip r:embed="rId3"/>
                <a:stretch>
                  <a:fillRect l="-791" t="-17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2647724501"/>
                  </p:ext>
                </p:extLst>
              </p:nvPr>
            </p:nvGraphicFramePr>
            <p:xfrm>
              <a:off x="1745241" y="2773046"/>
              <a:ext cx="8701517" cy="3337560"/>
            </p:xfrm>
            <a:graphic>
              <a:graphicData uri="http://schemas.openxmlformats.org/drawingml/2006/table">
                <a:tbl>
                  <a:tblPr firstRow="1" bandRow="1">
                    <a:tableStyleId>{073A0DAA-6AF3-43AB-8588-CEC1D06C72B9}</a:tableStyleId>
                  </a:tblPr>
                  <a:tblGrid>
                    <a:gridCol w="901387">
                      <a:extLst>
                        <a:ext uri="{9D8B030D-6E8A-4147-A177-3AD203B41FA5}">
                          <a16:colId xmlns:a16="http://schemas.microsoft.com/office/drawing/2014/main" val="1185931014"/>
                        </a:ext>
                      </a:extLst>
                    </a:gridCol>
                    <a:gridCol w="600010">
                      <a:extLst>
                        <a:ext uri="{9D8B030D-6E8A-4147-A177-3AD203B41FA5}">
                          <a16:colId xmlns:a16="http://schemas.microsoft.com/office/drawing/2014/main" val="505441001"/>
                        </a:ext>
                      </a:extLst>
                    </a:gridCol>
                    <a:gridCol w="600010">
                      <a:extLst>
                        <a:ext uri="{9D8B030D-6E8A-4147-A177-3AD203B41FA5}">
                          <a16:colId xmlns:a16="http://schemas.microsoft.com/office/drawing/2014/main" val="3690279265"/>
                        </a:ext>
                      </a:extLst>
                    </a:gridCol>
                    <a:gridCol w="600010">
                      <a:extLst>
                        <a:ext uri="{9D8B030D-6E8A-4147-A177-3AD203B41FA5}">
                          <a16:colId xmlns:a16="http://schemas.microsoft.com/office/drawing/2014/main" val="765263179"/>
                        </a:ext>
                      </a:extLst>
                    </a:gridCol>
                    <a:gridCol w="600010">
                      <a:extLst>
                        <a:ext uri="{9D8B030D-6E8A-4147-A177-3AD203B41FA5}">
                          <a16:colId xmlns:a16="http://schemas.microsoft.com/office/drawing/2014/main" val="3633760631"/>
                        </a:ext>
                      </a:extLst>
                    </a:gridCol>
                    <a:gridCol w="600010">
                      <a:extLst>
                        <a:ext uri="{9D8B030D-6E8A-4147-A177-3AD203B41FA5}">
                          <a16:colId xmlns:a16="http://schemas.microsoft.com/office/drawing/2014/main" val="2836098945"/>
                        </a:ext>
                      </a:extLst>
                    </a:gridCol>
                    <a:gridCol w="600010">
                      <a:extLst>
                        <a:ext uri="{9D8B030D-6E8A-4147-A177-3AD203B41FA5}">
                          <a16:colId xmlns:a16="http://schemas.microsoft.com/office/drawing/2014/main" val="1932905895"/>
                        </a:ext>
                      </a:extLst>
                    </a:gridCol>
                    <a:gridCol w="600010">
                      <a:extLst>
                        <a:ext uri="{9D8B030D-6E8A-4147-A177-3AD203B41FA5}">
                          <a16:colId xmlns:a16="http://schemas.microsoft.com/office/drawing/2014/main" val="459705465"/>
                        </a:ext>
                      </a:extLst>
                    </a:gridCol>
                    <a:gridCol w="600010">
                      <a:extLst>
                        <a:ext uri="{9D8B030D-6E8A-4147-A177-3AD203B41FA5}">
                          <a16:colId xmlns:a16="http://schemas.microsoft.com/office/drawing/2014/main" val="4190017673"/>
                        </a:ext>
                      </a:extLst>
                    </a:gridCol>
                    <a:gridCol w="600010">
                      <a:extLst>
                        <a:ext uri="{9D8B030D-6E8A-4147-A177-3AD203B41FA5}">
                          <a16:colId xmlns:a16="http://schemas.microsoft.com/office/drawing/2014/main" val="1619006230"/>
                        </a:ext>
                      </a:extLst>
                    </a:gridCol>
                    <a:gridCol w="600010">
                      <a:extLst>
                        <a:ext uri="{9D8B030D-6E8A-4147-A177-3AD203B41FA5}">
                          <a16:colId xmlns:a16="http://schemas.microsoft.com/office/drawing/2014/main" val="3313798939"/>
                        </a:ext>
                      </a:extLst>
                    </a:gridCol>
                    <a:gridCol w="600010">
                      <a:extLst>
                        <a:ext uri="{9D8B030D-6E8A-4147-A177-3AD203B41FA5}">
                          <a16:colId xmlns:a16="http://schemas.microsoft.com/office/drawing/2014/main" val="3438485447"/>
                        </a:ext>
                      </a:extLst>
                    </a:gridCol>
                    <a:gridCol w="600010">
                      <a:extLst>
                        <a:ext uri="{9D8B030D-6E8A-4147-A177-3AD203B41FA5}">
                          <a16:colId xmlns:a16="http://schemas.microsoft.com/office/drawing/2014/main" val="3243484835"/>
                        </a:ext>
                      </a:extLst>
                    </a:gridCol>
                    <a:gridCol w="600010">
                      <a:extLst>
                        <a:ext uri="{9D8B030D-6E8A-4147-A177-3AD203B41FA5}">
                          <a16:colId xmlns:a16="http://schemas.microsoft.com/office/drawing/2014/main" val="3779994107"/>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solidFill>
                                      <a:schemeClr val="tx1"/>
                                    </a:solidFill>
                                    <a:latin typeface="Cambria Math" panose="02040503050406030204" pitchFamily="18" charset="0"/>
                                  </a:rPr>
                                  <m:t>𝑥</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𝑁𝑂</m:t>
                                </m:r>
                                <m:r>
                                  <a:rPr lang="en-US" altLang="zh-TW" i="1" smtClean="0">
                                    <a:solidFill>
                                      <a:schemeClr val="tx1"/>
                                    </a:solidFill>
                                    <a:latin typeface="Cambria Math" panose="02040503050406030204" pitchFamily="18" charset="0"/>
                                    <a:cs typeface="Times New Roman" panose="02020603050405020304" pitchFamily="18" charset="0"/>
                                  </a:rPr>
                                  <m:t> </m:t>
                                </m:r>
                                <m:r>
                                  <m:rPr>
                                    <m:sty m:val="p"/>
                                  </m:rPr>
                                  <a:rPr lang="en-US" altLang="zh-TW" i="1" smtClean="0">
                                    <a:solidFill>
                                      <a:schemeClr val="tx1"/>
                                    </a:solidFill>
                                    <a:latin typeface="Cambria Math" panose="02040503050406030204" pitchFamily="18" charset="0"/>
                                    <a:cs typeface="Times New Roman" panose="02020603050405020304" pitchFamily="18" charset="0"/>
                                  </a:rPr>
                                  <m:t>SEQ</m:t>
                                </m:r>
                                <m:r>
                                  <a:rPr lang="en-US" altLang="zh-TW" i="1" smtClean="0">
                                    <a:solidFill>
                                      <a:schemeClr val="tx1"/>
                                    </a:solidFill>
                                    <a:latin typeface="Cambria Math" panose="02040503050406030204" pitchFamily="18" charset="0"/>
                                    <a:cs typeface="Times New Roman" panose="02020603050405020304" pitchFamily="18" charset="0"/>
                                  </a:rPr>
                                  <m:t>.</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5207175"/>
                      </a:ext>
                    </a:extLst>
                  </a:tr>
                </a:tbl>
              </a:graphicData>
            </a:graphic>
          </p:graphicFrame>
        </mc:Choice>
        <mc:Fallback xmlns="">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2647724501"/>
                  </p:ext>
                </p:extLst>
              </p:nvPr>
            </p:nvGraphicFramePr>
            <p:xfrm>
              <a:off x="1745241" y="2773046"/>
              <a:ext cx="8701517" cy="3337560"/>
            </p:xfrm>
            <a:graphic>
              <a:graphicData uri="http://schemas.openxmlformats.org/drawingml/2006/table">
                <a:tbl>
                  <a:tblPr firstRow="1" bandRow="1">
                    <a:tableStyleId>{073A0DAA-6AF3-43AB-8588-CEC1D06C72B9}</a:tableStyleId>
                  </a:tblPr>
                  <a:tblGrid>
                    <a:gridCol w="901387">
                      <a:extLst>
                        <a:ext uri="{9D8B030D-6E8A-4147-A177-3AD203B41FA5}">
                          <a16:colId xmlns:a16="http://schemas.microsoft.com/office/drawing/2014/main" val="1185931014"/>
                        </a:ext>
                      </a:extLst>
                    </a:gridCol>
                    <a:gridCol w="600010">
                      <a:extLst>
                        <a:ext uri="{9D8B030D-6E8A-4147-A177-3AD203B41FA5}">
                          <a16:colId xmlns:a16="http://schemas.microsoft.com/office/drawing/2014/main" val="505441001"/>
                        </a:ext>
                      </a:extLst>
                    </a:gridCol>
                    <a:gridCol w="600010">
                      <a:extLst>
                        <a:ext uri="{9D8B030D-6E8A-4147-A177-3AD203B41FA5}">
                          <a16:colId xmlns:a16="http://schemas.microsoft.com/office/drawing/2014/main" val="3690279265"/>
                        </a:ext>
                      </a:extLst>
                    </a:gridCol>
                    <a:gridCol w="600010">
                      <a:extLst>
                        <a:ext uri="{9D8B030D-6E8A-4147-A177-3AD203B41FA5}">
                          <a16:colId xmlns:a16="http://schemas.microsoft.com/office/drawing/2014/main" val="765263179"/>
                        </a:ext>
                      </a:extLst>
                    </a:gridCol>
                    <a:gridCol w="600010">
                      <a:extLst>
                        <a:ext uri="{9D8B030D-6E8A-4147-A177-3AD203B41FA5}">
                          <a16:colId xmlns:a16="http://schemas.microsoft.com/office/drawing/2014/main" val="3633760631"/>
                        </a:ext>
                      </a:extLst>
                    </a:gridCol>
                    <a:gridCol w="600010">
                      <a:extLst>
                        <a:ext uri="{9D8B030D-6E8A-4147-A177-3AD203B41FA5}">
                          <a16:colId xmlns:a16="http://schemas.microsoft.com/office/drawing/2014/main" val="2836098945"/>
                        </a:ext>
                      </a:extLst>
                    </a:gridCol>
                    <a:gridCol w="600010">
                      <a:extLst>
                        <a:ext uri="{9D8B030D-6E8A-4147-A177-3AD203B41FA5}">
                          <a16:colId xmlns:a16="http://schemas.microsoft.com/office/drawing/2014/main" val="1932905895"/>
                        </a:ext>
                      </a:extLst>
                    </a:gridCol>
                    <a:gridCol w="600010">
                      <a:extLst>
                        <a:ext uri="{9D8B030D-6E8A-4147-A177-3AD203B41FA5}">
                          <a16:colId xmlns:a16="http://schemas.microsoft.com/office/drawing/2014/main" val="459705465"/>
                        </a:ext>
                      </a:extLst>
                    </a:gridCol>
                    <a:gridCol w="600010">
                      <a:extLst>
                        <a:ext uri="{9D8B030D-6E8A-4147-A177-3AD203B41FA5}">
                          <a16:colId xmlns:a16="http://schemas.microsoft.com/office/drawing/2014/main" val="4190017673"/>
                        </a:ext>
                      </a:extLst>
                    </a:gridCol>
                    <a:gridCol w="600010">
                      <a:extLst>
                        <a:ext uri="{9D8B030D-6E8A-4147-A177-3AD203B41FA5}">
                          <a16:colId xmlns:a16="http://schemas.microsoft.com/office/drawing/2014/main" val="1619006230"/>
                        </a:ext>
                      </a:extLst>
                    </a:gridCol>
                    <a:gridCol w="600010">
                      <a:extLst>
                        <a:ext uri="{9D8B030D-6E8A-4147-A177-3AD203B41FA5}">
                          <a16:colId xmlns:a16="http://schemas.microsoft.com/office/drawing/2014/main" val="3313798939"/>
                        </a:ext>
                      </a:extLst>
                    </a:gridCol>
                    <a:gridCol w="600010">
                      <a:extLst>
                        <a:ext uri="{9D8B030D-6E8A-4147-A177-3AD203B41FA5}">
                          <a16:colId xmlns:a16="http://schemas.microsoft.com/office/drawing/2014/main" val="3438485447"/>
                        </a:ext>
                      </a:extLst>
                    </a:gridCol>
                    <a:gridCol w="600010">
                      <a:extLst>
                        <a:ext uri="{9D8B030D-6E8A-4147-A177-3AD203B41FA5}">
                          <a16:colId xmlns:a16="http://schemas.microsoft.com/office/drawing/2014/main" val="3243484835"/>
                        </a:ext>
                      </a:extLst>
                    </a:gridCol>
                    <a:gridCol w="600010">
                      <a:extLst>
                        <a:ext uri="{9D8B030D-6E8A-4147-A177-3AD203B41FA5}">
                          <a16:colId xmlns:a16="http://schemas.microsoft.com/office/drawing/2014/main" val="3779994107"/>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6" t="-108197" r="-866216" b="-703279"/>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7">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6" t="-29742" r="-866216" b="-468"/>
                          </a:stretch>
                        </a:blip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5207175"/>
                      </a:ext>
                    </a:extLst>
                  </a:tr>
                </a:tbl>
              </a:graphicData>
            </a:graphic>
          </p:graphicFrame>
        </mc:Fallback>
      </mc:AlternateContent>
      <p:sp>
        <p:nvSpPr>
          <p:cNvPr id="7" name="Rectangle 6">
            <a:extLst>
              <a:ext uri="{FF2B5EF4-FFF2-40B4-BE49-F238E27FC236}">
                <a16:creationId xmlns:a16="http://schemas.microsoft.com/office/drawing/2014/main" id="{779EFA87-091B-B606-645D-325337DC6E8D}"/>
              </a:ext>
            </a:extLst>
          </p:cNvPr>
          <p:cNvSpPr/>
          <p:nvPr/>
        </p:nvSpPr>
        <p:spPr>
          <a:xfrm>
            <a:off x="3836008" y="3129898"/>
            <a:ext cx="2428061" cy="41019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 name="Picture 3">
            <a:extLst>
              <a:ext uri="{FF2B5EF4-FFF2-40B4-BE49-F238E27FC236}">
                <a16:creationId xmlns:a16="http://schemas.microsoft.com/office/drawing/2014/main" id="{A997EC99-C9C4-1E85-CE4B-1E4CFB726E8A}"/>
              </a:ext>
            </a:extLst>
          </p:cNvPr>
          <p:cNvPicPr>
            <a:picLocks noChangeAspect="1"/>
          </p:cNvPicPr>
          <p:nvPr/>
        </p:nvPicPr>
        <p:blipFill>
          <a:blip r:embed="rId5"/>
          <a:stretch>
            <a:fillRect/>
          </a:stretch>
        </p:blipFill>
        <p:spPr>
          <a:xfrm>
            <a:off x="7911818" y="2119467"/>
            <a:ext cx="2723794" cy="548824"/>
          </a:xfrm>
          <a:prstGeom prst="rect">
            <a:avLst/>
          </a:prstGeom>
        </p:spPr>
      </p:pic>
    </p:spTree>
    <p:extLst>
      <p:ext uri="{BB962C8B-B14F-4D97-AF65-F5344CB8AC3E}">
        <p14:creationId xmlns:p14="http://schemas.microsoft.com/office/powerpoint/2010/main" val="361259054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Ordering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17</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49474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&lt;5, 6, 3, 8, 10, 7, 1, 9, 10, 8&gt;</a:t>
                </a:r>
              </a:p>
              <a:p>
                <a:r>
                  <a:rPr kumimoji="1" lang="en-US" altLang="zh-TW" sz="2400" dirty="0">
                    <a:latin typeface="Cambria Math" panose="02040503050406030204" pitchFamily="18" charset="0"/>
                    <a:cs typeface="Times New Roman" panose="02020603050405020304" pitchFamily="18" charset="0"/>
                  </a:rPr>
                  <a:t>3-neighborhood </a:t>
                </a: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4947413"/>
              </a:xfrm>
              <a:prstGeom prst="rect">
                <a:avLst/>
              </a:prstGeom>
              <a:blipFill>
                <a:blip r:embed="rId3"/>
                <a:stretch>
                  <a:fillRect l="-791" t="-17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3591132285"/>
                  </p:ext>
                </p:extLst>
              </p:nvPr>
            </p:nvGraphicFramePr>
            <p:xfrm>
              <a:off x="1745241" y="2773046"/>
              <a:ext cx="8701517" cy="3337560"/>
            </p:xfrm>
            <a:graphic>
              <a:graphicData uri="http://schemas.openxmlformats.org/drawingml/2006/table">
                <a:tbl>
                  <a:tblPr firstRow="1" bandRow="1">
                    <a:tableStyleId>{073A0DAA-6AF3-43AB-8588-CEC1D06C72B9}</a:tableStyleId>
                  </a:tblPr>
                  <a:tblGrid>
                    <a:gridCol w="901387">
                      <a:extLst>
                        <a:ext uri="{9D8B030D-6E8A-4147-A177-3AD203B41FA5}">
                          <a16:colId xmlns:a16="http://schemas.microsoft.com/office/drawing/2014/main" val="1185931014"/>
                        </a:ext>
                      </a:extLst>
                    </a:gridCol>
                    <a:gridCol w="600010">
                      <a:extLst>
                        <a:ext uri="{9D8B030D-6E8A-4147-A177-3AD203B41FA5}">
                          <a16:colId xmlns:a16="http://schemas.microsoft.com/office/drawing/2014/main" val="505441001"/>
                        </a:ext>
                      </a:extLst>
                    </a:gridCol>
                    <a:gridCol w="600010">
                      <a:extLst>
                        <a:ext uri="{9D8B030D-6E8A-4147-A177-3AD203B41FA5}">
                          <a16:colId xmlns:a16="http://schemas.microsoft.com/office/drawing/2014/main" val="3690279265"/>
                        </a:ext>
                      </a:extLst>
                    </a:gridCol>
                    <a:gridCol w="600010">
                      <a:extLst>
                        <a:ext uri="{9D8B030D-6E8A-4147-A177-3AD203B41FA5}">
                          <a16:colId xmlns:a16="http://schemas.microsoft.com/office/drawing/2014/main" val="765263179"/>
                        </a:ext>
                      </a:extLst>
                    </a:gridCol>
                    <a:gridCol w="600010">
                      <a:extLst>
                        <a:ext uri="{9D8B030D-6E8A-4147-A177-3AD203B41FA5}">
                          <a16:colId xmlns:a16="http://schemas.microsoft.com/office/drawing/2014/main" val="3633760631"/>
                        </a:ext>
                      </a:extLst>
                    </a:gridCol>
                    <a:gridCol w="600010">
                      <a:extLst>
                        <a:ext uri="{9D8B030D-6E8A-4147-A177-3AD203B41FA5}">
                          <a16:colId xmlns:a16="http://schemas.microsoft.com/office/drawing/2014/main" val="2836098945"/>
                        </a:ext>
                      </a:extLst>
                    </a:gridCol>
                    <a:gridCol w="600010">
                      <a:extLst>
                        <a:ext uri="{9D8B030D-6E8A-4147-A177-3AD203B41FA5}">
                          <a16:colId xmlns:a16="http://schemas.microsoft.com/office/drawing/2014/main" val="1932905895"/>
                        </a:ext>
                      </a:extLst>
                    </a:gridCol>
                    <a:gridCol w="600010">
                      <a:extLst>
                        <a:ext uri="{9D8B030D-6E8A-4147-A177-3AD203B41FA5}">
                          <a16:colId xmlns:a16="http://schemas.microsoft.com/office/drawing/2014/main" val="459705465"/>
                        </a:ext>
                      </a:extLst>
                    </a:gridCol>
                    <a:gridCol w="600010">
                      <a:extLst>
                        <a:ext uri="{9D8B030D-6E8A-4147-A177-3AD203B41FA5}">
                          <a16:colId xmlns:a16="http://schemas.microsoft.com/office/drawing/2014/main" val="4190017673"/>
                        </a:ext>
                      </a:extLst>
                    </a:gridCol>
                    <a:gridCol w="600010">
                      <a:extLst>
                        <a:ext uri="{9D8B030D-6E8A-4147-A177-3AD203B41FA5}">
                          <a16:colId xmlns:a16="http://schemas.microsoft.com/office/drawing/2014/main" val="1619006230"/>
                        </a:ext>
                      </a:extLst>
                    </a:gridCol>
                    <a:gridCol w="600010">
                      <a:extLst>
                        <a:ext uri="{9D8B030D-6E8A-4147-A177-3AD203B41FA5}">
                          <a16:colId xmlns:a16="http://schemas.microsoft.com/office/drawing/2014/main" val="3313798939"/>
                        </a:ext>
                      </a:extLst>
                    </a:gridCol>
                    <a:gridCol w="600010">
                      <a:extLst>
                        <a:ext uri="{9D8B030D-6E8A-4147-A177-3AD203B41FA5}">
                          <a16:colId xmlns:a16="http://schemas.microsoft.com/office/drawing/2014/main" val="3438485447"/>
                        </a:ext>
                      </a:extLst>
                    </a:gridCol>
                    <a:gridCol w="600010">
                      <a:extLst>
                        <a:ext uri="{9D8B030D-6E8A-4147-A177-3AD203B41FA5}">
                          <a16:colId xmlns:a16="http://schemas.microsoft.com/office/drawing/2014/main" val="3243484835"/>
                        </a:ext>
                      </a:extLst>
                    </a:gridCol>
                    <a:gridCol w="600010">
                      <a:extLst>
                        <a:ext uri="{9D8B030D-6E8A-4147-A177-3AD203B41FA5}">
                          <a16:colId xmlns:a16="http://schemas.microsoft.com/office/drawing/2014/main" val="3779994107"/>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solidFill>
                                      <a:schemeClr val="tx1"/>
                                    </a:solidFill>
                                    <a:latin typeface="Cambria Math" panose="02040503050406030204" pitchFamily="18" charset="0"/>
                                  </a:rPr>
                                  <m:t>𝑥</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𝑁𝑂</m:t>
                                </m:r>
                                <m:r>
                                  <a:rPr lang="en-US" altLang="zh-TW" i="1" smtClean="0">
                                    <a:solidFill>
                                      <a:schemeClr val="tx1"/>
                                    </a:solidFill>
                                    <a:latin typeface="Cambria Math" panose="02040503050406030204" pitchFamily="18" charset="0"/>
                                    <a:cs typeface="Times New Roman" panose="02020603050405020304" pitchFamily="18" charset="0"/>
                                  </a:rPr>
                                  <m:t> </m:t>
                                </m:r>
                                <m:r>
                                  <m:rPr>
                                    <m:sty m:val="p"/>
                                  </m:rPr>
                                  <a:rPr lang="en-US" altLang="zh-TW" i="1" smtClean="0">
                                    <a:solidFill>
                                      <a:schemeClr val="tx1"/>
                                    </a:solidFill>
                                    <a:latin typeface="Cambria Math" panose="02040503050406030204" pitchFamily="18" charset="0"/>
                                    <a:cs typeface="Times New Roman" panose="02020603050405020304" pitchFamily="18" charset="0"/>
                                  </a:rPr>
                                  <m:t>SEQ</m:t>
                                </m:r>
                                <m:r>
                                  <a:rPr lang="en-US" altLang="zh-TW" i="1" smtClean="0">
                                    <a:solidFill>
                                      <a:schemeClr val="tx1"/>
                                    </a:solidFill>
                                    <a:latin typeface="Cambria Math" panose="02040503050406030204" pitchFamily="18" charset="0"/>
                                    <a:cs typeface="Times New Roman" panose="02020603050405020304" pitchFamily="18" charset="0"/>
                                  </a:rPr>
                                  <m:t>.</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5207175"/>
                      </a:ext>
                    </a:extLst>
                  </a:tr>
                </a:tbl>
              </a:graphicData>
            </a:graphic>
          </p:graphicFrame>
        </mc:Choice>
        <mc:Fallback xmlns="">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3591132285"/>
                  </p:ext>
                </p:extLst>
              </p:nvPr>
            </p:nvGraphicFramePr>
            <p:xfrm>
              <a:off x="1745241" y="2773046"/>
              <a:ext cx="8701517" cy="3337560"/>
            </p:xfrm>
            <a:graphic>
              <a:graphicData uri="http://schemas.openxmlformats.org/drawingml/2006/table">
                <a:tbl>
                  <a:tblPr firstRow="1" bandRow="1">
                    <a:tableStyleId>{073A0DAA-6AF3-43AB-8588-CEC1D06C72B9}</a:tableStyleId>
                  </a:tblPr>
                  <a:tblGrid>
                    <a:gridCol w="901387">
                      <a:extLst>
                        <a:ext uri="{9D8B030D-6E8A-4147-A177-3AD203B41FA5}">
                          <a16:colId xmlns:a16="http://schemas.microsoft.com/office/drawing/2014/main" val="1185931014"/>
                        </a:ext>
                      </a:extLst>
                    </a:gridCol>
                    <a:gridCol w="600010">
                      <a:extLst>
                        <a:ext uri="{9D8B030D-6E8A-4147-A177-3AD203B41FA5}">
                          <a16:colId xmlns:a16="http://schemas.microsoft.com/office/drawing/2014/main" val="505441001"/>
                        </a:ext>
                      </a:extLst>
                    </a:gridCol>
                    <a:gridCol w="600010">
                      <a:extLst>
                        <a:ext uri="{9D8B030D-6E8A-4147-A177-3AD203B41FA5}">
                          <a16:colId xmlns:a16="http://schemas.microsoft.com/office/drawing/2014/main" val="3690279265"/>
                        </a:ext>
                      </a:extLst>
                    </a:gridCol>
                    <a:gridCol w="600010">
                      <a:extLst>
                        <a:ext uri="{9D8B030D-6E8A-4147-A177-3AD203B41FA5}">
                          <a16:colId xmlns:a16="http://schemas.microsoft.com/office/drawing/2014/main" val="765263179"/>
                        </a:ext>
                      </a:extLst>
                    </a:gridCol>
                    <a:gridCol w="600010">
                      <a:extLst>
                        <a:ext uri="{9D8B030D-6E8A-4147-A177-3AD203B41FA5}">
                          <a16:colId xmlns:a16="http://schemas.microsoft.com/office/drawing/2014/main" val="3633760631"/>
                        </a:ext>
                      </a:extLst>
                    </a:gridCol>
                    <a:gridCol w="600010">
                      <a:extLst>
                        <a:ext uri="{9D8B030D-6E8A-4147-A177-3AD203B41FA5}">
                          <a16:colId xmlns:a16="http://schemas.microsoft.com/office/drawing/2014/main" val="2836098945"/>
                        </a:ext>
                      </a:extLst>
                    </a:gridCol>
                    <a:gridCol w="600010">
                      <a:extLst>
                        <a:ext uri="{9D8B030D-6E8A-4147-A177-3AD203B41FA5}">
                          <a16:colId xmlns:a16="http://schemas.microsoft.com/office/drawing/2014/main" val="1932905895"/>
                        </a:ext>
                      </a:extLst>
                    </a:gridCol>
                    <a:gridCol w="600010">
                      <a:extLst>
                        <a:ext uri="{9D8B030D-6E8A-4147-A177-3AD203B41FA5}">
                          <a16:colId xmlns:a16="http://schemas.microsoft.com/office/drawing/2014/main" val="459705465"/>
                        </a:ext>
                      </a:extLst>
                    </a:gridCol>
                    <a:gridCol w="600010">
                      <a:extLst>
                        <a:ext uri="{9D8B030D-6E8A-4147-A177-3AD203B41FA5}">
                          <a16:colId xmlns:a16="http://schemas.microsoft.com/office/drawing/2014/main" val="4190017673"/>
                        </a:ext>
                      </a:extLst>
                    </a:gridCol>
                    <a:gridCol w="600010">
                      <a:extLst>
                        <a:ext uri="{9D8B030D-6E8A-4147-A177-3AD203B41FA5}">
                          <a16:colId xmlns:a16="http://schemas.microsoft.com/office/drawing/2014/main" val="1619006230"/>
                        </a:ext>
                      </a:extLst>
                    </a:gridCol>
                    <a:gridCol w="600010">
                      <a:extLst>
                        <a:ext uri="{9D8B030D-6E8A-4147-A177-3AD203B41FA5}">
                          <a16:colId xmlns:a16="http://schemas.microsoft.com/office/drawing/2014/main" val="3313798939"/>
                        </a:ext>
                      </a:extLst>
                    </a:gridCol>
                    <a:gridCol w="600010">
                      <a:extLst>
                        <a:ext uri="{9D8B030D-6E8A-4147-A177-3AD203B41FA5}">
                          <a16:colId xmlns:a16="http://schemas.microsoft.com/office/drawing/2014/main" val="3438485447"/>
                        </a:ext>
                      </a:extLst>
                    </a:gridCol>
                    <a:gridCol w="600010">
                      <a:extLst>
                        <a:ext uri="{9D8B030D-6E8A-4147-A177-3AD203B41FA5}">
                          <a16:colId xmlns:a16="http://schemas.microsoft.com/office/drawing/2014/main" val="3243484835"/>
                        </a:ext>
                      </a:extLst>
                    </a:gridCol>
                    <a:gridCol w="600010">
                      <a:extLst>
                        <a:ext uri="{9D8B030D-6E8A-4147-A177-3AD203B41FA5}">
                          <a16:colId xmlns:a16="http://schemas.microsoft.com/office/drawing/2014/main" val="3779994107"/>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6" t="-108197" r="-866216" b="-703279"/>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7">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6" t="-29742" r="-866216" b="-468"/>
                          </a:stretch>
                        </a:blip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5207175"/>
                      </a:ext>
                    </a:extLst>
                  </a:tr>
                </a:tbl>
              </a:graphicData>
            </a:graphic>
          </p:graphicFrame>
        </mc:Fallback>
      </mc:AlternateContent>
      <p:sp>
        <p:nvSpPr>
          <p:cNvPr id="7" name="Rectangle 6">
            <a:extLst>
              <a:ext uri="{FF2B5EF4-FFF2-40B4-BE49-F238E27FC236}">
                <a16:creationId xmlns:a16="http://schemas.microsoft.com/office/drawing/2014/main" id="{779EFA87-091B-B606-645D-325337DC6E8D}"/>
              </a:ext>
            </a:extLst>
          </p:cNvPr>
          <p:cNvSpPr/>
          <p:nvPr/>
        </p:nvSpPr>
        <p:spPr>
          <a:xfrm>
            <a:off x="4434213" y="3129898"/>
            <a:ext cx="2428061" cy="41019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 name="Picture 3">
            <a:extLst>
              <a:ext uri="{FF2B5EF4-FFF2-40B4-BE49-F238E27FC236}">
                <a16:creationId xmlns:a16="http://schemas.microsoft.com/office/drawing/2014/main" id="{93A98FE0-7E24-3BD8-0F81-38FB08672ADD}"/>
              </a:ext>
            </a:extLst>
          </p:cNvPr>
          <p:cNvPicPr>
            <a:picLocks noChangeAspect="1"/>
          </p:cNvPicPr>
          <p:nvPr/>
        </p:nvPicPr>
        <p:blipFill>
          <a:blip r:embed="rId5"/>
          <a:stretch>
            <a:fillRect/>
          </a:stretch>
        </p:blipFill>
        <p:spPr>
          <a:xfrm>
            <a:off x="7911818" y="2119467"/>
            <a:ext cx="2723794" cy="548824"/>
          </a:xfrm>
          <a:prstGeom prst="rect">
            <a:avLst/>
          </a:prstGeom>
        </p:spPr>
      </p:pic>
    </p:spTree>
    <p:extLst>
      <p:ext uri="{BB962C8B-B14F-4D97-AF65-F5344CB8AC3E}">
        <p14:creationId xmlns:p14="http://schemas.microsoft.com/office/powerpoint/2010/main" val="307195586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Ordering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18</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49474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&lt;5, 6, 3, 8, 10, 7, 1, 9, 10, 8&gt;</a:t>
                </a:r>
              </a:p>
              <a:p>
                <a:r>
                  <a:rPr kumimoji="1" lang="en-US" altLang="zh-TW" sz="2400" dirty="0">
                    <a:latin typeface="Cambria Math" panose="02040503050406030204" pitchFamily="18" charset="0"/>
                    <a:cs typeface="Times New Roman" panose="02020603050405020304" pitchFamily="18" charset="0"/>
                  </a:rPr>
                  <a:t>3-neighborhood </a:t>
                </a: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4947413"/>
              </a:xfrm>
              <a:prstGeom prst="rect">
                <a:avLst/>
              </a:prstGeom>
              <a:blipFill>
                <a:blip r:embed="rId3"/>
                <a:stretch>
                  <a:fillRect l="-791" t="-17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386095815"/>
                  </p:ext>
                </p:extLst>
              </p:nvPr>
            </p:nvGraphicFramePr>
            <p:xfrm>
              <a:off x="1745241" y="2773046"/>
              <a:ext cx="8701517" cy="3337560"/>
            </p:xfrm>
            <a:graphic>
              <a:graphicData uri="http://schemas.openxmlformats.org/drawingml/2006/table">
                <a:tbl>
                  <a:tblPr firstRow="1" bandRow="1">
                    <a:tableStyleId>{073A0DAA-6AF3-43AB-8588-CEC1D06C72B9}</a:tableStyleId>
                  </a:tblPr>
                  <a:tblGrid>
                    <a:gridCol w="901387">
                      <a:extLst>
                        <a:ext uri="{9D8B030D-6E8A-4147-A177-3AD203B41FA5}">
                          <a16:colId xmlns:a16="http://schemas.microsoft.com/office/drawing/2014/main" val="1185931014"/>
                        </a:ext>
                      </a:extLst>
                    </a:gridCol>
                    <a:gridCol w="600010">
                      <a:extLst>
                        <a:ext uri="{9D8B030D-6E8A-4147-A177-3AD203B41FA5}">
                          <a16:colId xmlns:a16="http://schemas.microsoft.com/office/drawing/2014/main" val="505441001"/>
                        </a:ext>
                      </a:extLst>
                    </a:gridCol>
                    <a:gridCol w="600010">
                      <a:extLst>
                        <a:ext uri="{9D8B030D-6E8A-4147-A177-3AD203B41FA5}">
                          <a16:colId xmlns:a16="http://schemas.microsoft.com/office/drawing/2014/main" val="3690279265"/>
                        </a:ext>
                      </a:extLst>
                    </a:gridCol>
                    <a:gridCol w="600010">
                      <a:extLst>
                        <a:ext uri="{9D8B030D-6E8A-4147-A177-3AD203B41FA5}">
                          <a16:colId xmlns:a16="http://schemas.microsoft.com/office/drawing/2014/main" val="765263179"/>
                        </a:ext>
                      </a:extLst>
                    </a:gridCol>
                    <a:gridCol w="600010">
                      <a:extLst>
                        <a:ext uri="{9D8B030D-6E8A-4147-A177-3AD203B41FA5}">
                          <a16:colId xmlns:a16="http://schemas.microsoft.com/office/drawing/2014/main" val="3633760631"/>
                        </a:ext>
                      </a:extLst>
                    </a:gridCol>
                    <a:gridCol w="600010">
                      <a:extLst>
                        <a:ext uri="{9D8B030D-6E8A-4147-A177-3AD203B41FA5}">
                          <a16:colId xmlns:a16="http://schemas.microsoft.com/office/drawing/2014/main" val="2836098945"/>
                        </a:ext>
                      </a:extLst>
                    </a:gridCol>
                    <a:gridCol w="600010">
                      <a:extLst>
                        <a:ext uri="{9D8B030D-6E8A-4147-A177-3AD203B41FA5}">
                          <a16:colId xmlns:a16="http://schemas.microsoft.com/office/drawing/2014/main" val="1932905895"/>
                        </a:ext>
                      </a:extLst>
                    </a:gridCol>
                    <a:gridCol w="600010">
                      <a:extLst>
                        <a:ext uri="{9D8B030D-6E8A-4147-A177-3AD203B41FA5}">
                          <a16:colId xmlns:a16="http://schemas.microsoft.com/office/drawing/2014/main" val="459705465"/>
                        </a:ext>
                      </a:extLst>
                    </a:gridCol>
                    <a:gridCol w="600010">
                      <a:extLst>
                        <a:ext uri="{9D8B030D-6E8A-4147-A177-3AD203B41FA5}">
                          <a16:colId xmlns:a16="http://schemas.microsoft.com/office/drawing/2014/main" val="4190017673"/>
                        </a:ext>
                      </a:extLst>
                    </a:gridCol>
                    <a:gridCol w="600010">
                      <a:extLst>
                        <a:ext uri="{9D8B030D-6E8A-4147-A177-3AD203B41FA5}">
                          <a16:colId xmlns:a16="http://schemas.microsoft.com/office/drawing/2014/main" val="1619006230"/>
                        </a:ext>
                      </a:extLst>
                    </a:gridCol>
                    <a:gridCol w="600010">
                      <a:extLst>
                        <a:ext uri="{9D8B030D-6E8A-4147-A177-3AD203B41FA5}">
                          <a16:colId xmlns:a16="http://schemas.microsoft.com/office/drawing/2014/main" val="3313798939"/>
                        </a:ext>
                      </a:extLst>
                    </a:gridCol>
                    <a:gridCol w="600010">
                      <a:extLst>
                        <a:ext uri="{9D8B030D-6E8A-4147-A177-3AD203B41FA5}">
                          <a16:colId xmlns:a16="http://schemas.microsoft.com/office/drawing/2014/main" val="3438485447"/>
                        </a:ext>
                      </a:extLst>
                    </a:gridCol>
                    <a:gridCol w="600010">
                      <a:extLst>
                        <a:ext uri="{9D8B030D-6E8A-4147-A177-3AD203B41FA5}">
                          <a16:colId xmlns:a16="http://schemas.microsoft.com/office/drawing/2014/main" val="3243484835"/>
                        </a:ext>
                      </a:extLst>
                    </a:gridCol>
                    <a:gridCol w="600010">
                      <a:extLst>
                        <a:ext uri="{9D8B030D-6E8A-4147-A177-3AD203B41FA5}">
                          <a16:colId xmlns:a16="http://schemas.microsoft.com/office/drawing/2014/main" val="3779994107"/>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solidFill>
                                      <a:schemeClr val="tx1"/>
                                    </a:solidFill>
                                    <a:latin typeface="Cambria Math" panose="02040503050406030204" pitchFamily="18" charset="0"/>
                                  </a:rPr>
                                  <m:t>𝑥</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𝑁𝑂</m:t>
                                </m:r>
                                <m:r>
                                  <a:rPr lang="en-US" altLang="zh-TW" i="1" smtClean="0">
                                    <a:solidFill>
                                      <a:schemeClr val="tx1"/>
                                    </a:solidFill>
                                    <a:latin typeface="Cambria Math" panose="02040503050406030204" pitchFamily="18" charset="0"/>
                                    <a:cs typeface="Times New Roman" panose="02020603050405020304" pitchFamily="18" charset="0"/>
                                  </a:rPr>
                                  <m:t> </m:t>
                                </m:r>
                                <m:r>
                                  <m:rPr>
                                    <m:sty m:val="p"/>
                                  </m:rPr>
                                  <a:rPr lang="en-US" altLang="zh-TW" i="1" smtClean="0">
                                    <a:solidFill>
                                      <a:schemeClr val="tx1"/>
                                    </a:solidFill>
                                    <a:latin typeface="Cambria Math" panose="02040503050406030204" pitchFamily="18" charset="0"/>
                                    <a:cs typeface="Times New Roman" panose="02020603050405020304" pitchFamily="18" charset="0"/>
                                  </a:rPr>
                                  <m:t>SEQ</m:t>
                                </m:r>
                                <m:r>
                                  <a:rPr lang="en-US" altLang="zh-TW" i="1" smtClean="0">
                                    <a:solidFill>
                                      <a:schemeClr val="tx1"/>
                                    </a:solidFill>
                                    <a:latin typeface="Cambria Math" panose="02040503050406030204" pitchFamily="18" charset="0"/>
                                    <a:cs typeface="Times New Roman" panose="02020603050405020304" pitchFamily="18" charset="0"/>
                                  </a:rPr>
                                  <m:t>.</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5207175"/>
                      </a:ext>
                    </a:extLst>
                  </a:tr>
                </a:tbl>
              </a:graphicData>
            </a:graphic>
          </p:graphicFrame>
        </mc:Choice>
        <mc:Fallback xmlns="">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386095815"/>
                  </p:ext>
                </p:extLst>
              </p:nvPr>
            </p:nvGraphicFramePr>
            <p:xfrm>
              <a:off x="1745241" y="2773046"/>
              <a:ext cx="8701517" cy="3337560"/>
            </p:xfrm>
            <a:graphic>
              <a:graphicData uri="http://schemas.openxmlformats.org/drawingml/2006/table">
                <a:tbl>
                  <a:tblPr firstRow="1" bandRow="1">
                    <a:tableStyleId>{073A0DAA-6AF3-43AB-8588-CEC1D06C72B9}</a:tableStyleId>
                  </a:tblPr>
                  <a:tblGrid>
                    <a:gridCol w="901387">
                      <a:extLst>
                        <a:ext uri="{9D8B030D-6E8A-4147-A177-3AD203B41FA5}">
                          <a16:colId xmlns:a16="http://schemas.microsoft.com/office/drawing/2014/main" val="1185931014"/>
                        </a:ext>
                      </a:extLst>
                    </a:gridCol>
                    <a:gridCol w="600010">
                      <a:extLst>
                        <a:ext uri="{9D8B030D-6E8A-4147-A177-3AD203B41FA5}">
                          <a16:colId xmlns:a16="http://schemas.microsoft.com/office/drawing/2014/main" val="505441001"/>
                        </a:ext>
                      </a:extLst>
                    </a:gridCol>
                    <a:gridCol w="600010">
                      <a:extLst>
                        <a:ext uri="{9D8B030D-6E8A-4147-A177-3AD203B41FA5}">
                          <a16:colId xmlns:a16="http://schemas.microsoft.com/office/drawing/2014/main" val="3690279265"/>
                        </a:ext>
                      </a:extLst>
                    </a:gridCol>
                    <a:gridCol w="600010">
                      <a:extLst>
                        <a:ext uri="{9D8B030D-6E8A-4147-A177-3AD203B41FA5}">
                          <a16:colId xmlns:a16="http://schemas.microsoft.com/office/drawing/2014/main" val="765263179"/>
                        </a:ext>
                      </a:extLst>
                    </a:gridCol>
                    <a:gridCol w="600010">
                      <a:extLst>
                        <a:ext uri="{9D8B030D-6E8A-4147-A177-3AD203B41FA5}">
                          <a16:colId xmlns:a16="http://schemas.microsoft.com/office/drawing/2014/main" val="3633760631"/>
                        </a:ext>
                      </a:extLst>
                    </a:gridCol>
                    <a:gridCol w="600010">
                      <a:extLst>
                        <a:ext uri="{9D8B030D-6E8A-4147-A177-3AD203B41FA5}">
                          <a16:colId xmlns:a16="http://schemas.microsoft.com/office/drawing/2014/main" val="2836098945"/>
                        </a:ext>
                      </a:extLst>
                    </a:gridCol>
                    <a:gridCol w="600010">
                      <a:extLst>
                        <a:ext uri="{9D8B030D-6E8A-4147-A177-3AD203B41FA5}">
                          <a16:colId xmlns:a16="http://schemas.microsoft.com/office/drawing/2014/main" val="1932905895"/>
                        </a:ext>
                      </a:extLst>
                    </a:gridCol>
                    <a:gridCol w="600010">
                      <a:extLst>
                        <a:ext uri="{9D8B030D-6E8A-4147-A177-3AD203B41FA5}">
                          <a16:colId xmlns:a16="http://schemas.microsoft.com/office/drawing/2014/main" val="459705465"/>
                        </a:ext>
                      </a:extLst>
                    </a:gridCol>
                    <a:gridCol w="600010">
                      <a:extLst>
                        <a:ext uri="{9D8B030D-6E8A-4147-A177-3AD203B41FA5}">
                          <a16:colId xmlns:a16="http://schemas.microsoft.com/office/drawing/2014/main" val="4190017673"/>
                        </a:ext>
                      </a:extLst>
                    </a:gridCol>
                    <a:gridCol w="600010">
                      <a:extLst>
                        <a:ext uri="{9D8B030D-6E8A-4147-A177-3AD203B41FA5}">
                          <a16:colId xmlns:a16="http://schemas.microsoft.com/office/drawing/2014/main" val="1619006230"/>
                        </a:ext>
                      </a:extLst>
                    </a:gridCol>
                    <a:gridCol w="600010">
                      <a:extLst>
                        <a:ext uri="{9D8B030D-6E8A-4147-A177-3AD203B41FA5}">
                          <a16:colId xmlns:a16="http://schemas.microsoft.com/office/drawing/2014/main" val="3313798939"/>
                        </a:ext>
                      </a:extLst>
                    </a:gridCol>
                    <a:gridCol w="600010">
                      <a:extLst>
                        <a:ext uri="{9D8B030D-6E8A-4147-A177-3AD203B41FA5}">
                          <a16:colId xmlns:a16="http://schemas.microsoft.com/office/drawing/2014/main" val="3438485447"/>
                        </a:ext>
                      </a:extLst>
                    </a:gridCol>
                    <a:gridCol w="600010">
                      <a:extLst>
                        <a:ext uri="{9D8B030D-6E8A-4147-A177-3AD203B41FA5}">
                          <a16:colId xmlns:a16="http://schemas.microsoft.com/office/drawing/2014/main" val="3243484835"/>
                        </a:ext>
                      </a:extLst>
                    </a:gridCol>
                    <a:gridCol w="600010">
                      <a:extLst>
                        <a:ext uri="{9D8B030D-6E8A-4147-A177-3AD203B41FA5}">
                          <a16:colId xmlns:a16="http://schemas.microsoft.com/office/drawing/2014/main" val="3779994107"/>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6" t="-108197" r="-866216" b="-703279"/>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7">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6" t="-29742" r="-866216" b="-468"/>
                          </a:stretch>
                        </a:blip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5207175"/>
                      </a:ext>
                    </a:extLst>
                  </a:tr>
                </a:tbl>
              </a:graphicData>
            </a:graphic>
          </p:graphicFrame>
        </mc:Fallback>
      </mc:AlternateContent>
      <p:sp>
        <p:nvSpPr>
          <p:cNvPr id="7" name="Rectangle 6">
            <a:extLst>
              <a:ext uri="{FF2B5EF4-FFF2-40B4-BE49-F238E27FC236}">
                <a16:creationId xmlns:a16="http://schemas.microsoft.com/office/drawing/2014/main" id="{779EFA87-091B-B606-645D-325337DC6E8D}"/>
              </a:ext>
            </a:extLst>
          </p:cNvPr>
          <p:cNvSpPr/>
          <p:nvPr/>
        </p:nvSpPr>
        <p:spPr>
          <a:xfrm>
            <a:off x="5032421" y="3129898"/>
            <a:ext cx="2428061" cy="41019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 name="Picture 3">
            <a:extLst>
              <a:ext uri="{FF2B5EF4-FFF2-40B4-BE49-F238E27FC236}">
                <a16:creationId xmlns:a16="http://schemas.microsoft.com/office/drawing/2014/main" id="{4492BC3A-E3EB-332C-34A6-A4FBE483DA03}"/>
              </a:ext>
            </a:extLst>
          </p:cNvPr>
          <p:cNvPicPr>
            <a:picLocks noChangeAspect="1"/>
          </p:cNvPicPr>
          <p:nvPr/>
        </p:nvPicPr>
        <p:blipFill>
          <a:blip r:embed="rId5"/>
          <a:stretch>
            <a:fillRect/>
          </a:stretch>
        </p:blipFill>
        <p:spPr>
          <a:xfrm>
            <a:off x="7911818" y="2119467"/>
            <a:ext cx="2723794" cy="548824"/>
          </a:xfrm>
          <a:prstGeom prst="rect">
            <a:avLst/>
          </a:prstGeom>
        </p:spPr>
      </p:pic>
    </p:spTree>
    <p:extLst>
      <p:ext uri="{BB962C8B-B14F-4D97-AF65-F5344CB8AC3E}">
        <p14:creationId xmlns:p14="http://schemas.microsoft.com/office/powerpoint/2010/main" val="383625853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Ordering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19</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49474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&lt;5, 6, 3, 8, 10, 7, 1, 9, 10, 8&gt;</a:t>
                </a:r>
              </a:p>
              <a:p>
                <a:r>
                  <a:rPr kumimoji="1" lang="en-US" altLang="zh-TW" sz="2400" dirty="0">
                    <a:latin typeface="Cambria Math" panose="02040503050406030204" pitchFamily="18" charset="0"/>
                    <a:cs typeface="Times New Roman" panose="02020603050405020304" pitchFamily="18" charset="0"/>
                  </a:rPr>
                  <a:t>3-neighborhood </a:t>
                </a: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4947413"/>
              </a:xfrm>
              <a:prstGeom prst="rect">
                <a:avLst/>
              </a:prstGeom>
              <a:blipFill>
                <a:blip r:embed="rId3"/>
                <a:stretch>
                  <a:fillRect l="-791" t="-17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2637856920"/>
                  </p:ext>
                </p:extLst>
              </p:nvPr>
            </p:nvGraphicFramePr>
            <p:xfrm>
              <a:off x="1745241" y="2773046"/>
              <a:ext cx="8701517" cy="3337560"/>
            </p:xfrm>
            <a:graphic>
              <a:graphicData uri="http://schemas.openxmlformats.org/drawingml/2006/table">
                <a:tbl>
                  <a:tblPr firstRow="1" bandRow="1">
                    <a:tableStyleId>{073A0DAA-6AF3-43AB-8588-CEC1D06C72B9}</a:tableStyleId>
                  </a:tblPr>
                  <a:tblGrid>
                    <a:gridCol w="901387">
                      <a:extLst>
                        <a:ext uri="{9D8B030D-6E8A-4147-A177-3AD203B41FA5}">
                          <a16:colId xmlns:a16="http://schemas.microsoft.com/office/drawing/2014/main" val="1185931014"/>
                        </a:ext>
                      </a:extLst>
                    </a:gridCol>
                    <a:gridCol w="600010">
                      <a:extLst>
                        <a:ext uri="{9D8B030D-6E8A-4147-A177-3AD203B41FA5}">
                          <a16:colId xmlns:a16="http://schemas.microsoft.com/office/drawing/2014/main" val="505441001"/>
                        </a:ext>
                      </a:extLst>
                    </a:gridCol>
                    <a:gridCol w="600010">
                      <a:extLst>
                        <a:ext uri="{9D8B030D-6E8A-4147-A177-3AD203B41FA5}">
                          <a16:colId xmlns:a16="http://schemas.microsoft.com/office/drawing/2014/main" val="3690279265"/>
                        </a:ext>
                      </a:extLst>
                    </a:gridCol>
                    <a:gridCol w="600010">
                      <a:extLst>
                        <a:ext uri="{9D8B030D-6E8A-4147-A177-3AD203B41FA5}">
                          <a16:colId xmlns:a16="http://schemas.microsoft.com/office/drawing/2014/main" val="765263179"/>
                        </a:ext>
                      </a:extLst>
                    </a:gridCol>
                    <a:gridCol w="600010">
                      <a:extLst>
                        <a:ext uri="{9D8B030D-6E8A-4147-A177-3AD203B41FA5}">
                          <a16:colId xmlns:a16="http://schemas.microsoft.com/office/drawing/2014/main" val="3633760631"/>
                        </a:ext>
                      </a:extLst>
                    </a:gridCol>
                    <a:gridCol w="600010">
                      <a:extLst>
                        <a:ext uri="{9D8B030D-6E8A-4147-A177-3AD203B41FA5}">
                          <a16:colId xmlns:a16="http://schemas.microsoft.com/office/drawing/2014/main" val="2836098945"/>
                        </a:ext>
                      </a:extLst>
                    </a:gridCol>
                    <a:gridCol w="600010">
                      <a:extLst>
                        <a:ext uri="{9D8B030D-6E8A-4147-A177-3AD203B41FA5}">
                          <a16:colId xmlns:a16="http://schemas.microsoft.com/office/drawing/2014/main" val="1932905895"/>
                        </a:ext>
                      </a:extLst>
                    </a:gridCol>
                    <a:gridCol w="600010">
                      <a:extLst>
                        <a:ext uri="{9D8B030D-6E8A-4147-A177-3AD203B41FA5}">
                          <a16:colId xmlns:a16="http://schemas.microsoft.com/office/drawing/2014/main" val="459705465"/>
                        </a:ext>
                      </a:extLst>
                    </a:gridCol>
                    <a:gridCol w="600010">
                      <a:extLst>
                        <a:ext uri="{9D8B030D-6E8A-4147-A177-3AD203B41FA5}">
                          <a16:colId xmlns:a16="http://schemas.microsoft.com/office/drawing/2014/main" val="4190017673"/>
                        </a:ext>
                      </a:extLst>
                    </a:gridCol>
                    <a:gridCol w="600010">
                      <a:extLst>
                        <a:ext uri="{9D8B030D-6E8A-4147-A177-3AD203B41FA5}">
                          <a16:colId xmlns:a16="http://schemas.microsoft.com/office/drawing/2014/main" val="1619006230"/>
                        </a:ext>
                      </a:extLst>
                    </a:gridCol>
                    <a:gridCol w="600010">
                      <a:extLst>
                        <a:ext uri="{9D8B030D-6E8A-4147-A177-3AD203B41FA5}">
                          <a16:colId xmlns:a16="http://schemas.microsoft.com/office/drawing/2014/main" val="3313798939"/>
                        </a:ext>
                      </a:extLst>
                    </a:gridCol>
                    <a:gridCol w="600010">
                      <a:extLst>
                        <a:ext uri="{9D8B030D-6E8A-4147-A177-3AD203B41FA5}">
                          <a16:colId xmlns:a16="http://schemas.microsoft.com/office/drawing/2014/main" val="3438485447"/>
                        </a:ext>
                      </a:extLst>
                    </a:gridCol>
                    <a:gridCol w="600010">
                      <a:extLst>
                        <a:ext uri="{9D8B030D-6E8A-4147-A177-3AD203B41FA5}">
                          <a16:colId xmlns:a16="http://schemas.microsoft.com/office/drawing/2014/main" val="3243484835"/>
                        </a:ext>
                      </a:extLst>
                    </a:gridCol>
                    <a:gridCol w="600010">
                      <a:extLst>
                        <a:ext uri="{9D8B030D-6E8A-4147-A177-3AD203B41FA5}">
                          <a16:colId xmlns:a16="http://schemas.microsoft.com/office/drawing/2014/main" val="3779994107"/>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solidFill>
                                      <a:schemeClr val="tx1"/>
                                    </a:solidFill>
                                    <a:latin typeface="Cambria Math" panose="02040503050406030204" pitchFamily="18" charset="0"/>
                                  </a:rPr>
                                  <m:t>𝑥</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𝑁𝑂</m:t>
                                </m:r>
                                <m:r>
                                  <a:rPr lang="en-US" altLang="zh-TW" i="1" smtClean="0">
                                    <a:solidFill>
                                      <a:schemeClr val="tx1"/>
                                    </a:solidFill>
                                    <a:latin typeface="Cambria Math" panose="02040503050406030204" pitchFamily="18" charset="0"/>
                                    <a:cs typeface="Times New Roman" panose="02020603050405020304" pitchFamily="18" charset="0"/>
                                  </a:rPr>
                                  <m:t> </m:t>
                                </m:r>
                                <m:r>
                                  <m:rPr>
                                    <m:sty m:val="p"/>
                                  </m:rPr>
                                  <a:rPr lang="en-US" altLang="zh-TW" i="1" smtClean="0">
                                    <a:solidFill>
                                      <a:schemeClr val="tx1"/>
                                    </a:solidFill>
                                    <a:latin typeface="Cambria Math" panose="02040503050406030204" pitchFamily="18" charset="0"/>
                                    <a:cs typeface="Times New Roman" panose="02020603050405020304" pitchFamily="18" charset="0"/>
                                  </a:rPr>
                                  <m:t>SEQ</m:t>
                                </m:r>
                                <m:r>
                                  <a:rPr lang="en-US" altLang="zh-TW" i="1" smtClean="0">
                                    <a:solidFill>
                                      <a:schemeClr val="tx1"/>
                                    </a:solidFill>
                                    <a:latin typeface="Cambria Math" panose="02040503050406030204" pitchFamily="18" charset="0"/>
                                    <a:cs typeface="Times New Roman" panose="02020603050405020304" pitchFamily="18" charset="0"/>
                                  </a:rPr>
                                  <m:t>.</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5207175"/>
                      </a:ext>
                    </a:extLst>
                  </a:tr>
                </a:tbl>
              </a:graphicData>
            </a:graphic>
          </p:graphicFrame>
        </mc:Choice>
        <mc:Fallback xmlns="">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2637856920"/>
                  </p:ext>
                </p:extLst>
              </p:nvPr>
            </p:nvGraphicFramePr>
            <p:xfrm>
              <a:off x="1745241" y="2773046"/>
              <a:ext cx="8701517" cy="3337560"/>
            </p:xfrm>
            <a:graphic>
              <a:graphicData uri="http://schemas.openxmlformats.org/drawingml/2006/table">
                <a:tbl>
                  <a:tblPr firstRow="1" bandRow="1">
                    <a:tableStyleId>{073A0DAA-6AF3-43AB-8588-CEC1D06C72B9}</a:tableStyleId>
                  </a:tblPr>
                  <a:tblGrid>
                    <a:gridCol w="901387">
                      <a:extLst>
                        <a:ext uri="{9D8B030D-6E8A-4147-A177-3AD203B41FA5}">
                          <a16:colId xmlns:a16="http://schemas.microsoft.com/office/drawing/2014/main" val="1185931014"/>
                        </a:ext>
                      </a:extLst>
                    </a:gridCol>
                    <a:gridCol w="600010">
                      <a:extLst>
                        <a:ext uri="{9D8B030D-6E8A-4147-A177-3AD203B41FA5}">
                          <a16:colId xmlns:a16="http://schemas.microsoft.com/office/drawing/2014/main" val="505441001"/>
                        </a:ext>
                      </a:extLst>
                    </a:gridCol>
                    <a:gridCol w="600010">
                      <a:extLst>
                        <a:ext uri="{9D8B030D-6E8A-4147-A177-3AD203B41FA5}">
                          <a16:colId xmlns:a16="http://schemas.microsoft.com/office/drawing/2014/main" val="3690279265"/>
                        </a:ext>
                      </a:extLst>
                    </a:gridCol>
                    <a:gridCol w="600010">
                      <a:extLst>
                        <a:ext uri="{9D8B030D-6E8A-4147-A177-3AD203B41FA5}">
                          <a16:colId xmlns:a16="http://schemas.microsoft.com/office/drawing/2014/main" val="765263179"/>
                        </a:ext>
                      </a:extLst>
                    </a:gridCol>
                    <a:gridCol w="600010">
                      <a:extLst>
                        <a:ext uri="{9D8B030D-6E8A-4147-A177-3AD203B41FA5}">
                          <a16:colId xmlns:a16="http://schemas.microsoft.com/office/drawing/2014/main" val="3633760631"/>
                        </a:ext>
                      </a:extLst>
                    </a:gridCol>
                    <a:gridCol w="600010">
                      <a:extLst>
                        <a:ext uri="{9D8B030D-6E8A-4147-A177-3AD203B41FA5}">
                          <a16:colId xmlns:a16="http://schemas.microsoft.com/office/drawing/2014/main" val="2836098945"/>
                        </a:ext>
                      </a:extLst>
                    </a:gridCol>
                    <a:gridCol w="600010">
                      <a:extLst>
                        <a:ext uri="{9D8B030D-6E8A-4147-A177-3AD203B41FA5}">
                          <a16:colId xmlns:a16="http://schemas.microsoft.com/office/drawing/2014/main" val="1932905895"/>
                        </a:ext>
                      </a:extLst>
                    </a:gridCol>
                    <a:gridCol w="600010">
                      <a:extLst>
                        <a:ext uri="{9D8B030D-6E8A-4147-A177-3AD203B41FA5}">
                          <a16:colId xmlns:a16="http://schemas.microsoft.com/office/drawing/2014/main" val="459705465"/>
                        </a:ext>
                      </a:extLst>
                    </a:gridCol>
                    <a:gridCol w="600010">
                      <a:extLst>
                        <a:ext uri="{9D8B030D-6E8A-4147-A177-3AD203B41FA5}">
                          <a16:colId xmlns:a16="http://schemas.microsoft.com/office/drawing/2014/main" val="4190017673"/>
                        </a:ext>
                      </a:extLst>
                    </a:gridCol>
                    <a:gridCol w="600010">
                      <a:extLst>
                        <a:ext uri="{9D8B030D-6E8A-4147-A177-3AD203B41FA5}">
                          <a16:colId xmlns:a16="http://schemas.microsoft.com/office/drawing/2014/main" val="1619006230"/>
                        </a:ext>
                      </a:extLst>
                    </a:gridCol>
                    <a:gridCol w="600010">
                      <a:extLst>
                        <a:ext uri="{9D8B030D-6E8A-4147-A177-3AD203B41FA5}">
                          <a16:colId xmlns:a16="http://schemas.microsoft.com/office/drawing/2014/main" val="3313798939"/>
                        </a:ext>
                      </a:extLst>
                    </a:gridCol>
                    <a:gridCol w="600010">
                      <a:extLst>
                        <a:ext uri="{9D8B030D-6E8A-4147-A177-3AD203B41FA5}">
                          <a16:colId xmlns:a16="http://schemas.microsoft.com/office/drawing/2014/main" val="3438485447"/>
                        </a:ext>
                      </a:extLst>
                    </a:gridCol>
                    <a:gridCol w="600010">
                      <a:extLst>
                        <a:ext uri="{9D8B030D-6E8A-4147-A177-3AD203B41FA5}">
                          <a16:colId xmlns:a16="http://schemas.microsoft.com/office/drawing/2014/main" val="3243484835"/>
                        </a:ext>
                      </a:extLst>
                    </a:gridCol>
                    <a:gridCol w="600010">
                      <a:extLst>
                        <a:ext uri="{9D8B030D-6E8A-4147-A177-3AD203B41FA5}">
                          <a16:colId xmlns:a16="http://schemas.microsoft.com/office/drawing/2014/main" val="3779994107"/>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6" t="-108197" r="-866216" b="-703279"/>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7">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6" t="-29742" r="-866216" b="-468"/>
                          </a:stretch>
                        </a:blip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5207175"/>
                      </a:ext>
                    </a:extLst>
                  </a:tr>
                </a:tbl>
              </a:graphicData>
            </a:graphic>
          </p:graphicFrame>
        </mc:Fallback>
      </mc:AlternateContent>
      <p:sp>
        <p:nvSpPr>
          <p:cNvPr id="7" name="Rectangle 6">
            <a:extLst>
              <a:ext uri="{FF2B5EF4-FFF2-40B4-BE49-F238E27FC236}">
                <a16:creationId xmlns:a16="http://schemas.microsoft.com/office/drawing/2014/main" id="{779EFA87-091B-B606-645D-325337DC6E8D}"/>
              </a:ext>
            </a:extLst>
          </p:cNvPr>
          <p:cNvSpPr/>
          <p:nvPr/>
        </p:nvSpPr>
        <p:spPr>
          <a:xfrm>
            <a:off x="5639173" y="3129898"/>
            <a:ext cx="2428061" cy="41019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 name="Picture 3">
            <a:extLst>
              <a:ext uri="{FF2B5EF4-FFF2-40B4-BE49-F238E27FC236}">
                <a16:creationId xmlns:a16="http://schemas.microsoft.com/office/drawing/2014/main" id="{DC1A2BC4-47D5-2818-A0DB-B1DC07DB18EA}"/>
              </a:ext>
            </a:extLst>
          </p:cNvPr>
          <p:cNvPicPr>
            <a:picLocks noChangeAspect="1"/>
          </p:cNvPicPr>
          <p:nvPr/>
        </p:nvPicPr>
        <p:blipFill>
          <a:blip r:embed="rId5"/>
          <a:stretch>
            <a:fillRect/>
          </a:stretch>
        </p:blipFill>
        <p:spPr>
          <a:xfrm>
            <a:off x="7911818" y="2119467"/>
            <a:ext cx="2723794" cy="548824"/>
          </a:xfrm>
          <a:prstGeom prst="rect">
            <a:avLst/>
          </a:prstGeom>
        </p:spPr>
      </p:pic>
    </p:spTree>
    <p:extLst>
      <p:ext uri="{BB962C8B-B14F-4D97-AF65-F5344CB8AC3E}">
        <p14:creationId xmlns:p14="http://schemas.microsoft.com/office/powerpoint/2010/main" val="412905044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The Neighborhood Ordering Approach</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20</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74062"/>
                <a:ext cx="10796451" cy="50839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400" i="1" dirty="0" smtClean="0">
                        <a:latin typeface="Cambria Math" panose="02040503050406030204" pitchFamily="18" charset="0"/>
                        <a:cs typeface="Times New Roman" panose="02020603050405020304" pitchFamily="18" charset="0"/>
                      </a:rPr>
                      <m:t>𝑥</m:t>
                    </m:r>
                  </m:oMath>
                </a14:m>
                <a:r>
                  <a:rPr kumimoji="1" lang="en-US" altLang="zh-TW" sz="2400" dirty="0">
                    <a:latin typeface="Cambria Math" panose="02040503050406030204" pitchFamily="18" charset="0"/>
                    <a:cs typeface="Times New Roman" panose="02020603050405020304" pitchFamily="18" charset="0"/>
                  </a:rPr>
                  <a:t> = &lt;5, 6, 3, 8, 10, 7, 1, 9, 10, 8&gt;</a:t>
                </a:r>
              </a:p>
              <a:p>
                <a:r>
                  <a:rPr kumimoji="1" lang="en-US" altLang="zh-TW" sz="2400" dirty="0">
                    <a:latin typeface="Cambria Math" panose="02040503050406030204" pitchFamily="18" charset="0"/>
                    <a:cs typeface="Times New Roman" panose="02020603050405020304" pitchFamily="18" charset="0"/>
                  </a:rPr>
                  <a:t>3-neighborhood</a:t>
                </a: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endParaRPr kumimoji="1" lang="en-US" altLang="zh-TW" sz="2400" dirty="0">
                  <a:latin typeface="Cambria Math" panose="02040503050406030204" pitchFamily="18" charset="0"/>
                  <a:cs typeface="Times New Roman" panose="02020603050405020304" pitchFamily="18" charset="0"/>
                </a:endParaRPr>
              </a:p>
              <a:p>
                <a:r>
                  <a:rPr kumimoji="1" lang="en-US" altLang="zh-TW" sz="2400" dirty="0">
                    <a:latin typeface="Cambria Math" panose="02040503050406030204" pitchFamily="18" charset="0"/>
                    <a:cs typeface="Times New Roman" panose="02020603050405020304" pitchFamily="18" charset="0"/>
                  </a:rPr>
                  <a:t> </a:t>
                </a:r>
                <a14:m>
                  <m:oMath xmlns:m="http://schemas.openxmlformats.org/officeDocument/2006/math">
                    <m:sSubSup>
                      <m:sSubSupPr>
                        <m:ctrlPr>
                          <a:rPr kumimoji="1" lang="en-US" altLang="zh-TW" sz="2400" i="1" smtClean="0">
                            <a:latin typeface="Cambria Math" panose="02040503050406030204" pitchFamily="18" charset="0"/>
                            <a:cs typeface="Times New Roman" panose="02020603050405020304" pitchFamily="18" charset="0"/>
                          </a:rPr>
                        </m:ctrlPr>
                      </m:sSubSupPr>
                      <m:e>
                        <m:r>
                          <a:rPr kumimoji="1" lang="el-GR" altLang="zh-TW" sz="2400" i="1">
                            <a:latin typeface="Cambria Math" panose="02040503050406030204" pitchFamily="18" charset="0"/>
                            <a:ea typeface="Cambria Math" panose="02040503050406030204" pitchFamily="18" charset="0"/>
                            <a:cs typeface="Times New Roman" panose="02020603050405020304" pitchFamily="18" charset="0"/>
                          </a:rPr>
                          <m:t>𝜑</m:t>
                        </m:r>
                      </m:e>
                      <m:sub>
                        <m:r>
                          <a:rPr kumimoji="1" lang="en-US" altLang="zh-TW" sz="2400" b="0" i="1" smtClean="0">
                            <a:latin typeface="Cambria Math" panose="02040503050406030204" pitchFamily="18" charset="0"/>
                            <a:cs typeface="Times New Roman" panose="02020603050405020304" pitchFamily="18" charset="0"/>
                          </a:rPr>
                          <m:t>𝑥</m:t>
                        </m:r>
                      </m:sub>
                      <m:sup>
                        <m:r>
                          <a:rPr kumimoji="1" lang="en-US" altLang="zh-TW" sz="2400" b="0" i="1" smtClean="0">
                            <a:latin typeface="Cambria Math" panose="02040503050406030204" pitchFamily="18" charset="0"/>
                            <a:cs typeface="Times New Roman" panose="02020603050405020304" pitchFamily="18" charset="0"/>
                          </a:rPr>
                          <m:t>4</m:t>
                        </m:r>
                      </m:sup>
                    </m:sSubSup>
                  </m:oMath>
                </a14:m>
                <a:r>
                  <a:rPr kumimoji="1" lang="en-US" altLang="zh-TW" sz="2400" dirty="0">
                    <a:latin typeface="Cambria Math" panose="02040503050406030204" pitchFamily="18" charset="0"/>
                    <a:cs typeface="Times New Roman" panose="02020603050405020304" pitchFamily="18" charset="0"/>
                  </a:rPr>
                  <a:t>  = &lt;20, 32, 3, 31, 60, 32, 3&gt;</a:t>
                </a: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74062"/>
                <a:ext cx="10796451" cy="5083938"/>
              </a:xfrm>
              <a:prstGeom prst="rect">
                <a:avLst/>
              </a:prstGeom>
              <a:blipFill>
                <a:blip r:embed="rId3"/>
                <a:stretch>
                  <a:fillRect l="-791" t="-1679" b="-71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653973930"/>
                  </p:ext>
                </p:extLst>
              </p:nvPr>
            </p:nvGraphicFramePr>
            <p:xfrm>
              <a:off x="1745241" y="2773046"/>
              <a:ext cx="8701517" cy="3337560"/>
            </p:xfrm>
            <a:graphic>
              <a:graphicData uri="http://schemas.openxmlformats.org/drawingml/2006/table">
                <a:tbl>
                  <a:tblPr firstRow="1" bandRow="1">
                    <a:tableStyleId>{073A0DAA-6AF3-43AB-8588-CEC1D06C72B9}</a:tableStyleId>
                  </a:tblPr>
                  <a:tblGrid>
                    <a:gridCol w="901387">
                      <a:extLst>
                        <a:ext uri="{9D8B030D-6E8A-4147-A177-3AD203B41FA5}">
                          <a16:colId xmlns:a16="http://schemas.microsoft.com/office/drawing/2014/main" val="1185931014"/>
                        </a:ext>
                      </a:extLst>
                    </a:gridCol>
                    <a:gridCol w="600010">
                      <a:extLst>
                        <a:ext uri="{9D8B030D-6E8A-4147-A177-3AD203B41FA5}">
                          <a16:colId xmlns:a16="http://schemas.microsoft.com/office/drawing/2014/main" val="505441001"/>
                        </a:ext>
                      </a:extLst>
                    </a:gridCol>
                    <a:gridCol w="600010">
                      <a:extLst>
                        <a:ext uri="{9D8B030D-6E8A-4147-A177-3AD203B41FA5}">
                          <a16:colId xmlns:a16="http://schemas.microsoft.com/office/drawing/2014/main" val="3690279265"/>
                        </a:ext>
                      </a:extLst>
                    </a:gridCol>
                    <a:gridCol w="600010">
                      <a:extLst>
                        <a:ext uri="{9D8B030D-6E8A-4147-A177-3AD203B41FA5}">
                          <a16:colId xmlns:a16="http://schemas.microsoft.com/office/drawing/2014/main" val="765263179"/>
                        </a:ext>
                      </a:extLst>
                    </a:gridCol>
                    <a:gridCol w="600010">
                      <a:extLst>
                        <a:ext uri="{9D8B030D-6E8A-4147-A177-3AD203B41FA5}">
                          <a16:colId xmlns:a16="http://schemas.microsoft.com/office/drawing/2014/main" val="3633760631"/>
                        </a:ext>
                      </a:extLst>
                    </a:gridCol>
                    <a:gridCol w="600010">
                      <a:extLst>
                        <a:ext uri="{9D8B030D-6E8A-4147-A177-3AD203B41FA5}">
                          <a16:colId xmlns:a16="http://schemas.microsoft.com/office/drawing/2014/main" val="2836098945"/>
                        </a:ext>
                      </a:extLst>
                    </a:gridCol>
                    <a:gridCol w="600010">
                      <a:extLst>
                        <a:ext uri="{9D8B030D-6E8A-4147-A177-3AD203B41FA5}">
                          <a16:colId xmlns:a16="http://schemas.microsoft.com/office/drawing/2014/main" val="1932905895"/>
                        </a:ext>
                      </a:extLst>
                    </a:gridCol>
                    <a:gridCol w="600010">
                      <a:extLst>
                        <a:ext uri="{9D8B030D-6E8A-4147-A177-3AD203B41FA5}">
                          <a16:colId xmlns:a16="http://schemas.microsoft.com/office/drawing/2014/main" val="459705465"/>
                        </a:ext>
                      </a:extLst>
                    </a:gridCol>
                    <a:gridCol w="600010">
                      <a:extLst>
                        <a:ext uri="{9D8B030D-6E8A-4147-A177-3AD203B41FA5}">
                          <a16:colId xmlns:a16="http://schemas.microsoft.com/office/drawing/2014/main" val="4190017673"/>
                        </a:ext>
                      </a:extLst>
                    </a:gridCol>
                    <a:gridCol w="600010">
                      <a:extLst>
                        <a:ext uri="{9D8B030D-6E8A-4147-A177-3AD203B41FA5}">
                          <a16:colId xmlns:a16="http://schemas.microsoft.com/office/drawing/2014/main" val="1619006230"/>
                        </a:ext>
                      </a:extLst>
                    </a:gridCol>
                    <a:gridCol w="600010">
                      <a:extLst>
                        <a:ext uri="{9D8B030D-6E8A-4147-A177-3AD203B41FA5}">
                          <a16:colId xmlns:a16="http://schemas.microsoft.com/office/drawing/2014/main" val="3313798939"/>
                        </a:ext>
                      </a:extLst>
                    </a:gridCol>
                    <a:gridCol w="600010">
                      <a:extLst>
                        <a:ext uri="{9D8B030D-6E8A-4147-A177-3AD203B41FA5}">
                          <a16:colId xmlns:a16="http://schemas.microsoft.com/office/drawing/2014/main" val="3438485447"/>
                        </a:ext>
                      </a:extLst>
                    </a:gridCol>
                    <a:gridCol w="600010">
                      <a:extLst>
                        <a:ext uri="{9D8B030D-6E8A-4147-A177-3AD203B41FA5}">
                          <a16:colId xmlns:a16="http://schemas.microsoft.com/office/drawing/2014/main" val="3243484835"/>
                        </a:ext>
                      </a:extLst>
                    </a:gridCol>
                    <a:gridCol w="600010">
                      <a:extLst>
                        <a:ext uri="{9D8B030D-6E8A-4147-A177-3AD203B41FA5}">
                          <a16:colId xmlns:a16="http://schemas.microsoft.com/office/drawing/2014/main" val="3779994107"/>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solidFill>
                                      <a:schemeClr val="tx1"/>
                                    </a:solidFill>
                                    <a:latin typeface="Cambria Math" panose="02040503050406030204" pitchFamily="18" charset="0"/>
                                  </a:rPr>
                                  <m:t>𝑥</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𝑁𝑂</m:t>
                                </m:r>
                                <m:r>
                                  <a:rPr lang="en-US" altLang="zh-TW" i="1" smtClean="0">
                                    <a:solidFill>
                                      <a:schemeClr val="tx1"/>
                                    </a:solidFill>
                                    <a:latin typeface="Cambria Math" panose="02040503050406030204" pitchFamily="18" charset="0"/>
                                    <a:cs typeface="Times New Roman" panose="02020603050405020304" pitchFamily="18" charset="0"/>
                                  </a:rPr>
                                  <m:t> </m:t>
                                </m:r>
                                <m:r>
                                  <m:rPr>
                                    <m:sty m:val="p"/>
                                  </m:rPr>
                                  <a:rPr lang="en-US" altLang="zh-TW" i="1" smtClean="0">
                                    <a:solidFill>
                                      <a:schemeClr val="tx1"/>
                                    </a:solidFill>
                                    <a:latin typeface="Cambria Math" panose="02040503050406030204" pitchFamily="18" charset="0"/>
                                    <a:cs typeface="Times New Roman" panose="02020603050405020304" pitchFamily="18" charset="0"/>
                                  </a:rPr>
                                  <m:t>SEQ</m:t>
                                </m:r>
                                <m:r>
                                  <a:rPr lang="en-US" altLang="zh-TW" i="1" smtClean="0">
                                    <a:solidFill>
                                      <a:schemeClr val="tx1"/>
                                    </a:solidFill>
                                    <a:latin typeface="Cambria Math" panose="02040503050406030204" pitchFamily="18" charset="0"/>
                                    <a:cs typeface="Times New Roman" panose="02020603050405020304" pitchFamily="18" charset="0"/>
                                  </a:rPr>
                                  <m:t>.</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5207175"/>
                      </a:ext>
                    </a:extLst>
                  </a:tr>
                </a:tbl>
              </a:graphicData>
            </a:graphic>
          </p:graphicFrame>
        </mc:Choice>
        <mc:Fallback xmlns="">
          <p:graphicFrame>
            <p:nvGraphicFramePr>
              <p:cNvPr id="3" name="Table 6">
                <a:extLst>
                  <a:ext uri="{FF2B5EF4-FFF2-40B4-BE49-F238E27FC236}">
                    <a16:creationId xmlns:a16="http://schemas.microsoft.com/office/drawing/2014/main" id="{E667B1BE-BAF6-19DA-CD22-886807CF5326}"/>
                  </a:ext>
                </a:extLst>
              </p:cNvPr>
              <p:cNvGraphicFramePr>
                <a:graphicFrameLocks noGrp="1"/>
              </p:cNvGraphicFramePr>
              <p:nvPr>
                <p:extLst>
                  <p:ext uri="{D42A27DB-BD31-4B8C-83A1-F6EECF244321}">
                    <p14:modId xmlns:p14="http://schemas.microsoft.com/office/powerpoint/2010/main" val="653973930"/>
                  </p:ext>
                </p:extLst>
              </p:nvPr>
            </p:nvGraphicFramePr>
            <p:xfrm>
              <a:off x="1745241" y="2773046"/>
              <a:ext cx="8701517" cy="3337560"/>
            </p:xfrm>
            <a:graphic>
              <a:graphicData uri="http://schemas.openxmlformats.org/drawingml/2006/table">
                <a:tbl>
                  <a:tblPr firstRow="1" bandRow="1">
                    <a:tableStyleId>{073A0DAA-6AF3-43AB-8588-CEC1D06C72B9}</a:tableStyleId>
                  </a:tblPr>
                  <a:tblGrid>
                    <a:gridCol w="901387">
                      <a:extLst>
                        <a:ext uri="{9D8B030D-6E8A-4147-A177-3AD203B41FA5}">
                          <a16:colId xmlns:a16="http://schemas.microsoft.com/office/drawing/2014/main" val="1185931014"/>
                        </a:ext>
                      </a:extLst>
                    </a:gridCol>
                    <a:gridCol w="600010">
                      <a:extLst>
                        <a:ext uri="{9D8B030D-6E8A-4147-A177-3AD203B41FA5}">
                          <a16:colId xmlns:a16="http://schemas.microsoft.com/office/drawing/2014/main" val="505441001"/>
                        </a:ext>
                      </a:extLst>
                    </a:gridCol>
                    <a:gridCol w="600010">
                      <a:extLst>
                        <a:ext uri="{9D8B030D-6E8A-4147-A177-3AD203B41FA5}">
                          <a16:colId xmlns:a16="http://schemas.microsoft.com/office/drawing/2014/main" val="3690279265"/>
                        </a:ext>
                      </a:extLst>
                    </a:gridCol>
                    <a:gridCol w="600010">
                      <a:extLst>
                        <a:ext uri="{9D8B030D-6E8A-4147-A177-3AD203B41FA5}">
                          <a16:colId xmlns:a16="http://schemas.microsoft.com/office/drawing/2014/main" val="765263179"/>
                        </a:ext>
                      </a:extLst>
                    </a:gridCol>
                    <a:gridCol w="600010">
                      <a:extLst>
                        <a:ext uri="{9D8B030D-6E8A-4147-A177-3AD203B41FA5}">
                          <a16:colId xmlns:a16="http://schemas.microsoft.com/office/drawing/2014/main" val="3633760631"/>
                        </a:ext>
                      </a:extLst>
                    </a:gridCol>
                    <a:gridCol w="600010">
                      <a:extLst>
                        <a:ext uri="{9D8B030D-6E8A-4147-A177-3AD203B41FA5}">
                          <a16:colId xmlns:a16="http://schemas.microsoft.com/office/drawing/2014/main" val="2836098945"/>
                        </a:ext>
                      </a:extLst>
                    </a:gridCol>
                    <a:gridCol w="600010">
                      <a:extLst>
                        <a:ext uri="{9D8B030D-6E8A-4147-A177-3AD203B41FA5}">
                          <a16:colId xmlns:a16="http://schemas.microsoft.com/office/drawing/2014/main" val="1932905895"/>
                        </a:ext>
                      </a:extLst>
                    </a:gridCol>
                    <a:gridCol w="600010">
                      <a:extLst>
                        <a:ext uri="{9D8B030D-6E8A-4147-A177-3AD203B41FA5}">
                          <a16:colId xmlns:a16="http://schemas.microsoft.com/office/drawing/2014/main" val="459705465"/>
                        </a:ext>
                      </a:extLst>
                    </a:gridCol>
                    <a:gridCol w="600010">
                      <a:extLst>
                        <a:ext uri="{9D8B030D-6E8A-4147-A177-3AD203B41FA5}">
                          <a16:colId xmlns:a16="http://schemas.microsoft.com/office/drawing/2014/main" val="4190017673"/>
                        </a:ext>
                      </a:extLst>
                    </a:gridCol>
                    <a:gridCol w="600010">
                      <a:extLst>
                        <a:ext uri="{9D8B030D-6E8A-4147-A177-3AD203B41FA5}">
                          <a16:colId xmlns:a16="http://schemas.microsoft.com/office/drawing/2014/main" val="1619006230"/>
                        </a:ext>
                      </a:extLst>
                    </a:gridCol>
                    <a:gridCol w="600010">
                      <a:extLst>
                        <a:ext uri="{9D8B030D-6E8A-4147-A177-3AD203B41FA5}">
                          <a16:colId xmlns:a16="http://schemas.microsoft.com/office/drawing/2014/main" val="3313798939"/>
                        </a:ext>
                      </a:extLst>
                    </a:gridCol>
                    <a:gridCol w="600010">
                      <a:extLst>
                        <a:ext uri="{9D8B030D-6E8A-4147-A177-3AD203B41FA5}">
                          <a16:colId xmlns:a16="http://schemas.microsoft.com/office/drawing/2014/main" val="3438485447"/>
                        </a:ext>
                      </a:extLst>
                    </a:gridCol>
                    <a:gridCol w="600010">
                      <a:extLst>
                        <a:ext uri="{9D8B030D-6E8A-4147-A177-3AD203B41FA5}">
                          <a16:colId xmlns:a16="http://schemas.microsoft.com/office/drawing/2014/main" val="3243484835"/>
                        </a:ext>
                      </a:extLst>
                    </a:gridCol>
                    <a:gridCol w="600010">
                      <a:extLst>
                        <a:ext uri="{9D8B030D-6E8A-4147-A177-3AD203B41FA5}">
                          <a16:colId xmlns:a16="http://schemas.microsoft.com/office/drawing/2014/main" val="3779994107"/>
                        </a:ext>
                      </a:extLst>
                    </a:gridCol>
                  </a:tblGrid>
                  <a:tr h="370840">
                    <a:tc>
                      <a:txBody>
                        <a:bodyPr/>
                        <a:lstStyle/>
                        <a:p>
                          <a:pPr algn="ctr"/>
                          <a:r>
                            <a:rPr lang="en-US" altLang="zh-TW" b="0" dirty="0" err="1">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33094"/>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6" t="-108197" r="-866216" b="-724590"/>
                          </a:stretch>
                        </a:blip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432507"/>
                      </a:ext>
                    </a:extLst>
                  </a:tr>
                  <a:tr h="370840">
                    <a:tc rowSpan="7">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6" t="-29742" r="-866216" b="-3513"/>
                          </a:stretch>
                        </a:blip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626366"/>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8130012"/>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19837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488554"/>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45739"/>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3248583"/>
                      </a:ext>
                    </a:extLst>
                  </a:tr>
                  <a:tr h="3708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5207175"/>
                      </a:ext>
                    </a:extLst>
                  </a:tr>
                </a:tbl>
              </a:graphicData>
            </a:graphic>
          </p:graphicFrame>
        </mc:Fallback>
      </mc:AlternateContent>
      <p:sp>
        <p:nvSpPr>
          <p:cNvPr id="7" name="Rectangle 6">
            <a:extLst>
              <a:ext uri="{FF2B5EF4-FFF2-40B4-BE49-F238E27FC236}">
                <a16:creationId xmlns:a16="http://schemas.microsoft.com/office/drawing/2014/main" id="{779EFA87-091B-B606-645D-325337DC6E8D}"/>
              </a:ext>
            </a:extLst>
          </p:cNvPr>
          <p:cNvSpPr/>
          <p:nvPr/>
        </p:nvSpPr>
        <p:spPr>
          <a:xfrm>
            <a:off x="6228834" y="3129898"/>
            <a:ext cx="2428061" cy="41019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 name="Picture 3">
            <a:extLst>
              <a:ext uri="{FF2B5EF4-FFF2-40B4-BE49-F238E27FC236}">
                <a16:creationId xmlns:a16="http://schemas.microsoft.com/office/drawing/2014/main" id="{BEBA290C-B09A-44DD-BFB4-51491B385E1A}"/>
              </a:ext>
            </a:extLst>
          </p:cNvPr>
          <p:cNvPicPr>
            <a:picLocks noChangeAspect="1"/>
          </p:cNvPicPr>
          <p:nvPr/>
        </p:nvPicPr>
        <p:blipFill>
          <a:blip r:embed="rId5"/>
          <a:stretch>
            <a:fillRect/>
          </a:stretch>
        </p:blipFill>
        <p:spPr>
          <a:xfrm>
            <a:off x="7911818" y="2119467"/>
            <a:ext cx="2723794" cy="548824"/>
          </a:xfrm>
          <a:prstGeom prst="rect">
            <a:avLst/>
          </a:prstGeom>
        </p:spPr>
      </p:pic>
    </p:spTree>
    <p:extLst>
      <p:ext uri="{BB962C8B-B14F-4D97-AF65-F5344CB8AC3E}">
        <p14:creationId xmlns:p14="http://schemas.microsoft.com/office/powerpoint/2010/main" val="66136533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4E32A-8416-A57A-A55B-17B6957E26ED}"/>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 Experimental Evaluations</a:t>
            </a:r>
            <a:endParaRPr lang="zh-TW" altLang="en-US" sz="3200" dirty="0"/>
          </a:p>
        </p:txBody>
      </p:sp>
      <p:sp>
        <p:nvSpPr>
          <p:cNvPr id="3" name="Content Placeholder 2">
            <a:extLst>
              <a:ext uri="{FF2B5EF4-FFF2-40B4-BE49-F238E27FC236}">
                <a16:creationId xmlns:a16="http://schemas.microsoft.com/office/drawing/2014/main" id="{09049979-F5A7-6534-10C1-F736244053A9}"/>
              </a:ext>
            </a:extLst>
          </p:cNvPr>
          <p:cNvSpPr>
            <a:spLocks noGrp="1"/>
          </p:cNvSpPr>
          <p:nvPr>
            <p:ph idx="1"/>
          </p:nvPr>
        </p:nvSpPr>
        <p:spPr/>
        <p:txBody>
          <a:bodyPr>
            <a:normAutofit/>
          </a:bodyPr>
          <a:lstStyle/>
          <a:p>
            <a:endParaRPr kumimoji="1" lang="en-US" altLang="zh-TW" sz="2000" dirty="0">
              <a:latin typeface="Times New Roman" panose="02020603050405020304" pitchFamily="18" charset="0"/>
              <a:cs typeface="Times New Roman" panose="02020603050405020304" pitchFamily="18" charset="0"/>
            </a:endParaRPr>
          </a:p>
          <a:p>
            <a:pPr marL="457200" lvl="1" indent="0">
              <a:buNone/>
            </a:pPr>
            <a:endParaRPr kumimoji="1" lang="en-US" altLang="zh-TW"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4D1E5CC-1099-B1E7-5DBB-2AD99AD3ABBE}"/>
              </a:ext>
            </a:extLst>
          </p:cNvPr>
          <p:cNvSpPr>
            <a:spLocks noGrp="1"/>
          </p:cNvSpPr>
          <p:nvPr>
            <p:ph type="sldNum" sz="quarter" idx="12"/>
          </p:nvPr>
        </p:nvSpPr>
        <p:spPr/>
        <p:txBody>
          <a:bodyPr/>
          <a:lstStyle/>
          <a:p>
            <a:fld id="{C497B8E6-CB28-4350-9E62-3F3C29E41FED}" type="slidenum">
              <a:rPr lang="zh-TW" altLang="en-US" smtClean="0"/>
              <a:t>21</a:t>
            </a:fld>
            <a:endParaRPr lang="zh-TW" altLang="en-US"/>
          </a:p>
        </p:txBody>
      </p:sp>
      <p:pic>
        <p:nvPicPr>
          <p:cNvPr id="6" name="Picture 5">
            <a:extLst>
              <a:ext uri="{FF2B5EF4-FFF2-40B4-BE49-F238E27FC236}">
                <a16:creationId xmlns:a16="http://schemas.microsoft.com/office/drawing/2014/main" id="{9DE61FF2-CA4B-27E0-120E-66DFC7EB9EE6}"/>
              </a:ext>
            </a:extLst>
          </p:cNvPr>
          <p:cNvPicPr>
            <a:picLocks noChangeAspect="1"/>
          </p:cNvPicPr>
          <p:nvPr/>
        </p:nvPicPr>
        <p:blipFill>
          <a:blip r:embed="rId3"/>
          <a:stretch>
            <a:fillRect/>
          </a:stretch>
        </p:blipFill>
        <p:spPr>
          <a:xfrm>
            <a:off x="2194195" y="1216798"/>
            <a:ext cx="7803609" cy="5384828"/>
          </a:xfrm>
          <a:prstGeom prst="rect">
            <a:avLst/>
          </a:prstGeom>
        </p:spPr>
      </p:pic>
    </p:spTree>
    <p:extLst>
      <p:ext uri="{BB962C8B-B14F-4D97-AF65-F5344CB8AC3E}">
        <p14:creationId xmlns:p14="http://schemas.microsoft.com/office/powerpoint/2010/main" val="366459289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4E32A-8416-A57A-A55B-17B6957E26ED}"/>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 Experimental Evaluations</a:t>
            </a:r>
            <a:endParaRPr lang="zh-TW" altLang="en-US" sz="3200" dirty="0"/>
          </a:p>
        </p:txBody>
      </p:sp>
      <p:sp>
        <p:nvSpPr>
          <p:cNvPr id="3" name="Content Placeholder 2">
            <a:extLst>
              <a:ext uri="{FF2B5EF4-FFF2-40B4-BE49-F238E27FC236}">
                <a16:creationId xmlns:a16="http://schemas.microsoft.com/office/drawing/2014/main" id="{09049979-F5A7-6534-10C1-F736244053A9}"/>
              </a:ext>
            </a:extLst>
          </p:cNvPr>
          <p:cNvSpPr>
            <a:spLocks noGrp="1"/>
          </p:cNvSpPr>
          <p:nvPr>
            <p:ph idx="1"/>
          </p:nvPr>
        </p:nvSpPr>
        <p:spPr/>
        <p:txBody>
          <a:bodyPr>
            <a:normAutofit/>
          </a:bodyPr>
          <a:lstStyle/>
          <a:p>
            <a:endParaRPr kumimoji="1" lang="en-US" altLang="zh-TW" sz="2000" dirty="0">
              <a:latin typeface="Times New Roman" panose="02020603050405020304" pitchFamily="18" charset="0"/>
              <a:cs typeface="Times New Roman" panose="02020603050405020304" pitchFamily="18" charset="0"/>
            </a:endParaRPr>
          </a:p>
          <a:p>
            <a:pPr marL="457200" lvl="1" indent="0">
              <a:buNone/>
            </a:pPr>
            <a:endParaRPr kumimoji="1" lang="en-US" altLang="zh-TW"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4D1E5CC-1099-B1E7-5DBB-2AD99AD3ABBE}"/>
              </a:ext>
            </a:extLst>
          </p:cNvPr>
          <p:cNvSpPr>
            <a:spLocks noGrp="1"/>
          </p:cNvSpPr>
          <p:nvPr>
            <p:ph type="sldNum" sz="quarter" idx="12"/>
          </p:nvPr>
        </p:nvSpPr>
        <p:spPr/>
        <p:txBody>
          <a:bodyPr/>
          <a:lstStyle/>
          <a:p>
            <a:fld id="{C497B8E6-CB28-4350-9E62-3F3C29E41FED}" type="slidenum">
              <a:rPr lang="zh-TW" altLang="en-US" smtClean="0"/>
              <a:t>22</a:t>
            </a:fld>
            <a:endParaRPr lang="zh-TW" altLang="en-US"/>
          </a:p>
        </p:txBody>
      </p:sp>
      <p:pic>
        <p:nvPicPr>
          <p:cNvPr id="6" name="Picture 5">
            <a:extLst>
              <a:ext uri="{FF2B5EF4-FFF2-40B4-BE49-F238E27FC236}">
                <a16:creationId xmlns:a16="http://schemas.microsoft.com/office/drawing/2014/main" id="{9DE61FF2-CA4B-27E0-120E-66DFC7EB9EE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194195" y="1222280"/>
            <a:ext cx="7803609" cy="5373864"/>
          </a:xfrm>
          <a:prstGeom prst="rect">
            <a:avLst/>
          </a:prstGeom>
        </p:spPr>
      </p:pic>
    </p:spTree>
    <p:extLst>
      <p:ext uri="{BB962C8B-B14F-4D97-AF65-F5344CB8AC3E}">
        <p14:creationId xmlns:p14="http://schemas.microsoft.com/office/powerpoint/2010/main" val="311412247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20975</TotalTime>
  <Words>1571</Words>
  <Application>Microsoft Office PowerPoint</Application>
  <PresentationFormat>寬螢幕</PresentationFormat>
  <Paragraphs>707</Paragraphs>
  <Slides>22</Slides>
  <Notes>21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22</vt:i4>
      </vt:variant>
    </vt:vector>
  </HeadingPairs>
  <TitlesOfParts>
    <vt:vector size="28" baseType="lpstr">
      <vt:lpstr>Arial</vt:lpstr>
      <vt:lpstr>Calibri</vt:lpstr>
      <vt:lpstr>Calibri Light</vt:lpstr>
      <vt:lpstr>Cambria Math</vt:lpstr>
      <vt:lpstr>Times New Roman</vt:lpstr>
      <vt:lpstr>Office Theme</vt:lpstr>
      <vt:lpstr>Efficient Algorithms for the Order Preserving Pattern Matching Problem</vt:lpstr>
      <vt:lpstr>Abstract </vt:lpstr>
      <vt:lpstr>Order-Preserving Pattern Matching (OPPM)</vt:lpstr>
      <vt:lpstr>Order-isomorphism</vt:lpstr>
      <vt:lpstr>Order-isomorphism</vt:lpstr>
      <vt:lpstr>The Neighborhood Ranking Approach</vt:lpstr>
      <vt:lpstr>The Neighborhood Ranking Approach</vt:lpstr>
      <vt:lpstr>The Neighborhood Ranking Approach</vt:lpstr>
      <vt:lpstr>The Neighborhood Ranking Approach</vt:lpstr>
      <vt:lpstr>The Neighborhood Ranking Approach</vt:lpstr>
      <vt:lpstr>The Neighborhood Ranking Approach</vt:lpstr>
      <vt:lpstr>The Neighborhood Ranking Approach</vt:lpstr>
      <vt:lpstr>The Neighborhood Ordering Approach</vt:lpstr>
      <vt:lpstr>The Neighborhood Ordering Approach</vt:lpstr>
      <vt:lpstr>The Neighborhood Ordering Approach</vt:lpstr>
      <vt:lpstr>The Neighborhood Ordering Approach</vt:lpstr>
      <vt:lpstr>The Neighborhood Ordering Approach</vt:lpstr>
      <vt:lpstr>The Neighborhood Ordering Approach</vt:lpstr>
      <vt:lpstr>The Neighborhood Ordering Approach</vt:lpstr>
      <vt:lpstr>The Neighborhood Ordering Approach</vt:lpstr>
      <vt:lpstr> Experimental Evaluations</vt:lpstr>
      <vt:lpstr> Experimental Evaluations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Substring Inclusion Constraint Longest Common Subsequence Problem Can Be Solved in Quadratic Time</dc:title>
  <dc:creator>Wen Wen Liao</dc:creator>
  <cp:lastModifiedBy>pplab</cp:lastModifiedBy>
  <cp:revision>182</cp:revision>
  <dcterms:created xsi:type="dcterms:W3CDTF">2022-10-11T15:33:00Z</dcterms:created>
  <dcterms:modified xsi:type="dcterms:W3CDTF">2023-07-18T07:41:38Z</dcterms:modified>
</cp:coreProperties>
</file>