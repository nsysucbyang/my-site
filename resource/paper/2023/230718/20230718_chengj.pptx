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936"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5985455af0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5985455af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59a1978679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59a197867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59a1978679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59a1978679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ｈ：ｈｏｏｋ　ｌｅｎｇｔｈ</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59a1978679_4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59a1978679_4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符合ＳＹＴ且ｓｈａｐｅ如上圖，ｏｒｄｅｒ＝９的</a:t>
            </a:r>
            <a:endParaRPr/>
          </a:p>
          <a:p>
            <a:pPr marL="0" lvl="0" indent="0" algn="l" rtl="0">
              <a:spcBef>
                <a:spcPts val="0"/>
              </a:spcBef>
              <a:spcAft>
                <a:spcPts val="0"/>
              </a:spcAft>
              <a:buNone/>
            </a:pPr>
            <a:r>
              <a:rPr lang="zh-TW"/>
              <a:t>ａｒｒａｎｇｅｍｅｎｔ有１６８種</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59a1978679_4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59a1978679_4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ｒｏｗ－ｍａｊｏｒ</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59a1978679_4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59a1978679_4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59a1978679_4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59a1978679_4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ｃｏｌｕｍｎ－ｍａｊｏｒ</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59a1978679_4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59a1978679_4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59812748b8_7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59812748b8_7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ＬＩＳ長度＝３</a:t>
            </a:r>
            <a:endParaRPr/>
          </a:p>
          <a:p>
            <a:pPr marL="0" lvl="0" indent="0" algn="l" rtl="0">
              <a:spcBef>
                <a:spcPts val="0"/>
              </a:spcBef>
              <a:spcAft>
                <a:spcPts val="0"/>
              </a:spcAft>
              <a:buNone/>
            </a:pPr>
            <a:r>
              <a:rPr lang="zh-TW"/>
              <a:t>ＬＤＳ長度＝３</a:t>
            </a:r>
            <a:endParaRPr/>
          </a:p>
          <a:p>
            <a:pPr marL="0" lvl="0" indent="0" algn="l" rtl="0">
              <a:spcBef>
                <a:spcPts val="0"/>
              </a:spcBef>
              <a:spcAft>
                <a:spcPts val="0"/>
              </a:spcAft>
              <a:buNone/>
            </a:pPr>
            <a:r>
              <a:rPr lang="zh-TW"/>
              <a:t>ｃｏｌｕｍｎ數為ＬＩＳ長度</a:t>
            </a:r>
            <a:endParaRPr/>
          </a:p>
          <a:p>
            <a:pPr marL="0" lvl="0" indent="0" algn="l" rtl="0">
              <a:spcBef>
                <a:spcPts val="0"/>
              </a:spcBef>
              <a:spcAft>
                <a:spcPts val="0"/>
              </a:spcAft>
              <a:buNone/>
            </a:pPr>
            <a:r>
              <a:rPr lang="zh-TW"/>
              <a:t>ｒｏｗ數為ＬＤＳ長度</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59a273822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59a273822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solidFill>
                  <a:schemeClr val="dk1"/>
                </a:solidFill>
              </a:rPr>
              <a:t>目的：先證ｙ最大，ｘ最大，Ｎ最大（ｘ、ｙ皆不是最大），便涵蓋所有ｃａｓｅ</a:t>
            </a:r>
            <a:endParaRPr>
              <a:solidFill>
                <a:schemeClr val="dk1"/>
              </a:solidFill>
            </a:endParaRPr>
          </a:p>
          <a:p>
            <a:pPr marL="0" lvl="0" indent="0" algn="l" rtl="0">
              <a:spcBef>
                <a:spcPts val="0"/>
              </a:spcBef>
              <a:spcAft>
                <a:spcPts val="0"/>
              </a:spcAft>
              <a:buClr>
                <a:schemeClr val="dk1"/>
              </a:buClr>
              <a:buSzPts val="1100"/>
              <a:buFont typeface="Arial"/>
              <a:buNone/>
            </a:pPr>
            <a:r>
              <a:rPr lang="zh-TW">
                <a:solidFill>
                  <a:schemeClr val="dk1"/>
                </a:solidFill>
              </a:rPr>
              <a:t>ｘ’是被推出來的ｐａｒｔ</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259a2738220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259a273822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9a27381ab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9a27381a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還有第３種ｃａｓｅ：ｘ在左下</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59a27381ab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59a27381a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ｘ最大略，證明方法同ｙ最大</a:t>
            </a:r>
            <a:endParaRPr/>
          </a:p>
          <a:p>
            <a:pPr marL="0" lvl="0" indent="0" algn="l" rtl="0">
              <a:spcBef>
                <a:spcPts val="0"/>
              </a:spcBef>
              <a:spcAft>
                <a:spcPts val="0"/>
              </a:spcAft>
              <a:buNone/>
            </a:pPr>
            <a:endParaRPr/>
          </a:p>
          <a:p>
            <a:pPr marL="0" lvl="0" indent="0" algn="l" rtl="0">
              <a:spcBef>
                <a:spcPts val="0"/>
              </a:spcBef>
              <a:spcAft>
                <a:spcPts val="0"/>
              </a:spcAft>
              <a:buNone/>
            </a:pPr>
            <a:r>
              <a:rPr lang="zh-TW"/>
              <a:t>此處用數學歸納法</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59a27381ab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59a27381a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Ｎ只會落在紅色部分（其ｒｏｗ＆ｃｏｌｕｍｎ的尾巴）</a:t>
            </a:r>
            <a:endParaRPr/>
          </a:p>
          <a:p>
            <a:pPr marL="0" lvl="0" indent="0" algn="l" rtl="0">
              <a:spcBef>
                <a:spcPts val="0"/>
              </a:spcBef>
              <a:spcAft>
                <a:spcPts val="0"/>
              </a:spcAft>
              <a:buNone/>
            </a:pPr>
            <a:r>
              <a:rPr lang="zh-TW"/>
              <a:t>移除Ｎ不影響剩餘的ｓｈａｐｅ</a:t>
            </a:r>
            <a:endParaRPr/>
          </a:p>
          <a:p>
            <a:pPr marL="0" lvl="0" indent="0" algn="l" rtl="0">
              <a:spcBef>
                <a:spcPts val="0"/>
              </a:spcBef>
              <a:spcAft>
                <a:spcPts val="0"/>
              </a:spcAft>
              <a:buNone/>
            </a:pPr>
            <a:endParaRPr/>
          </a:p>
          <a:p>
            <a:pPr marL="0" lvl="0" indent="0" algn="l" rtl="0">
              <a:spcBef>
                <a:spcPts val="0"/>
              </a:spcBef>
              <a:spcAft>
                <a:spcPts val="0"/>
              </a:spcAft>
              <a:buNone/>
            </a:pPr>
            <a:r>
              <a:rPr lang="zh-TW"/>
              <a:t>也就是說</a:t>
            </a:r>
            <a:endParaRPr/>
          </a:p>
          <a:p>
            <a:pPr marL="0" lvl="0" indent="0" algn="l" rtl="0">
              <a:spcBef>
                <a:spcPts val="0"/>
              </a:spcBef>
              <a:spcAft>
                <a:spcPts val="0"/>
              </a:spcAft>
              <a:buNone/>
            </a:pPr>
            <a:r>
              <a:rPr lang="zh-TW"/>
              <a:t>從Ｓ’到Ｓ（加入Ｎ）不會影響到原先ｓｈａｐｅ裡面元素的位置，也不會影響到ｘ’與ｙ’</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59812748b8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59812748b8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ｂｙ　ａｓｓｕｍｐｔｉｏｎ</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59812748b8_5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59812748b8_5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加入Ｎ成為Ｓ後，依然成立</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59812748b8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59812748b8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取代了陰影部分</a:t>
            </a:r>
            <a:endParaRPr/>
          </a:p>
          <a:p>
            <a:pPr marL="0" lvl="0" indent="0" algn="l" rtl="0">
              <a:spcBef>
                <a:spcPts val="0"/>
              </a:spcBef>
              <a:spcAft>
                <a:spcPts val="0"/>
              </a:spcAft>
              <a:buNone/>
            </a:pPr>
            <a:r>
              <a:rPr lang="zh-TW"/>
              <a:t>ｘ在取代過程中會越來越往右上跑</a:t>
            </a:r>
            <a:endParaRPr/>
          </a:p>
          <a:p>
            <a:pPr marL="0" lvl="0" indent="0" algn="l" rtl="0">
              <a:spcBef>
                <a:spcPts val="0"/>
              </a:spcBef>
              <a:spcAft>
                <a:spcPts val="0"/>
              </a:spcAft>
              <a:buNone/>
            </a:pPr>
            <a:r>
              <a:rPr lang="zh-TW"/>
              <a:t>ｙ在取代過程中會越來越往左下跑</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59812748b8_6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59812748b8_6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ｘ’　ｙ’</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59812748b8_6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59812748b8_6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ｙ’</a:t>
            </a:r>
            <a:endParaRPr/>
          </a:p>
          <a:p>
            <a:pPr marL="0" lvl="0" indent="0" algn="l" rtl="0">
              <a:spcBef>
                <a:spcPts val="0"/>
              </a:spcBef>
              <a:spcAft>
                <a:spcPts val="0"/>
              </a:spcAft>
              <a:buNone/>
            </a:pPr>
            <a:r>
              <a:rPr lang="zh-TW"/>
              <a:t>ｘ’</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59812748b8_7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59812748b8_7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Ｓ部分</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59812748b8_7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59812748b8_7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59812748b8_7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59812748b8_7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5985455af0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5985455af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59812748b8_7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59812748b8_7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5985455af0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5985455af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59812748b8_9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259812748b8_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599cabf912_3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599cabf912_3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599cabf912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599cabf912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599cabf91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599cabf91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TW">
                <a:latin typeface="Times New Roman"/>
                <a:ea typeface="Times New Roman"/>
                <a:cs typeface="Times New Roman"/>
                <a:sym typeface="Times New Roman"/>
              </a:rPr>
              <a:t>Longest Increasing and Decreasing Subsequences</a:t>
            </a:r>
            <a:endParaRPr>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C. Schensted</a:t>
            </a:r>
            <a:endParaRPr sz="24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Canadian Journal of Mathematics, Volume 13, 1961, pp. 179 - 191</a:t>
            </a: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400">
                <a:solidFill>
                  <a:srgbClr val="000000"/>
                </a:solidFill>
                <a:latin typeface="Times New Roman"/>
                <a:ea typeface="Times New Roman"/>
                <a:cs typeface="Times New Roman"/>
                <a:sym typeface="Times New Roman"/>
              </a:rPr>
              <a:t>Presenter: Guan-Jie Chen</a:t>
            </a:r>
            <a:endParaRPr sz="2400">
              <a:solidFill>
                <a:srgbClr val="000000"/>
              </a:solidFill>
              <a:latin typeface="Times New Roman"/>
              <a:ea typeface="Times New Roman"/>
              <a:cs typeface="Times New Roman"/>
              <a:sym typeface="Times New Roman"/>
            </a:endParaRPr>
          </a:p>
          <a:p>
            <a:pPr marL="0" lvl="0" indent="0" algn="r" rtl="0">
              <a:spcBef>
                <a:spcPts val="0"/>
              </a:spcBef>
              <a:spcAft>
                <a:spcPts val="0"/>
              </a:spcAft>
              <a:buNone/>
            </a:pPr>
            <a:r>
              <a:rPr lang="zh-TW" sz="2400">
                <a:solidFill>
                  <a:srgbClr val="000000"/>
                </a:solidFill>
                <a:latin typeface="Times New Roman"/>
                <a:ea typeface="Times New Roman"/>
                <a:cs typeface="Times New Roman"/>
                <a:sym typeface="Times New Roman"/>
              </a:rPr>
              <a:t>Date: July </a:t>
            </a:r>
            <a:r>
              <a:rPr lang="zh-TW" sz="2400">
                <a:latin typeface="Times New Roman"/>
                <a:ea typeface="Times New Roman"/>
                <a:cs typeface="Times New Roman"/>
                <a:sym typeface="Times New Roman"/>
              </a:rPr>
              <a:t>18</a:t>
            </a:r>
            <a:r>
              <a:rPr lang="zh-TW" sz="2400">
                <a:solidFill>
                  <a:srgbClr val="000000"/>
                </a:solidFill>
                <a:latin typeface="Times New Roman"/>
                <a:ea typeface="Times New Roman"/>
                <a:cs typeface="Times New Roman"/>
                <a:sym typeface="Times New Roman"/>
              </a:rPr>
              <a:t>, 2023</a:t>
            </a:r>
            <a:endParaRPr sz="240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This paper deals with finite sequences of integers. Typical of the problems we shall treat is the determination of the number of sequences of length n, consisting of the integers 1, 2, … , m, which have a longest increasing subsequence of length α. Throughout the first part of the paper we will deal only with sequences in which no numbers are repeated. In the second part we will extend the results to include the possibility of repetition. Our results will be stated in terms of standard Young tableaux.</a:t>
            </a:r>
            <a:endParaRPr sz="240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a:t>
            </a:r>
            <a:endParaRPr>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The numbers in each row / column form increasing sequences</a:t>
            </a:r>
            <a:endParaRPr sz="240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a:t>
            </a:fld>
            <a:endParaRPr/>
          </a:p>
        </p:txBody>
      </p:sp>
      <p:pic>
        <p:nvPicPr>
          <p:cNvPr id="71" name="Google Shape;71;p15"/>
          <p:cNvPicPr preferRelativeResize="0"/>
          <p:nvPr/>
        </p:nvPicPr>
        <p:blipFill>
          <a:blip r:embed="rId3">
            <a:alphaModFix/>
          </a:blip>
          <a:stretch>
            <a:fillRect/>
          </a:stretch>
        </p:blipFill>
        <p:spPr>
          <a:xfrm>
            <a:off x="2609750" y="2346475"/>
            <a:ext cx="1005840" cy="1257300"/>
          </a:xfrm>
          <a:prstGeom prst="rect">
            <a:avLst/>
          </a:prstGeom>
          <a:noFill/>
          <a:ln>
            <a:noFill/>
          </a:ln>
        </p:spPr>
      </p:pic>
      <p:pic>
        <p:nvPicPr>
          <p:cNvPr id="72" name="Google Shape;72;p15"/>
          <p:cNvPicPr preferRelativeResize="0"/>
          <p:nvPr/>
        </p:nvPicPr>
        <p:blipFill>
          <a:blip r:embed="rId4">
            <a:alphaModFix/>
          </a:blip>
          <a:stretch>
            <a:fillRect/>
          </a:stretch>
        </p:blipFill>
        <p:spPr>
          <a:xfrm>
            <a:off x="5528402" y="2259088"/>
            <a:ext cx="1312735" cy="1432075"/>
          </a:xfrm>
          <a:prstGeom prst="rect">
            <a:avLst/>
          </a:prstGeom>
          <a:noFill/>
          <a:ln>
            <a:noFill/>
          </a:ln>
        </p:spPr>
      </p:pic>
      <p:sp>
        <p:nvSpPr>
          <p:cNvPr id="73" name="Google Shape;73;p15"/>
          <p:cNvSpPr txBox="1"/>
          <p:nvPr/>
        </p:nvSpPr>
        <p:spPr>
          <a:xfrm>
            <a:off x="3615600" y="4175275"/>
            <a:ext cx="19128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order = 7</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79" name="Google Shape;79;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The number of standard tableaux of a given shape containing the integers 1, 2, ..., n</a:t>
            </a:r>
            <a:endParaRPr sz="2400">
              <a:solidFill>
                <a:schemeClr val="dk1"/>
              </a:solidFill>
              <a:latin typeface="Times New Roman"/>
              <a:ea typeface="Times New Roman"/>
              <a:cs typeface="Times New Roman"/>
              <a:sym typeface="Times New Roman"/>
            </a:endParaRPr>
          </a:p>
        </p:txBody>
      </p:sp>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a:t>
            </a:fld>
            <a:endParaRPr/>
          </a:p>
        </p:txBody>
      </p:sp>
      <p:pic>
        <p:nvPicPr>
          <p:cNvPr id="81" name="Google Shape;81;p16"/>
          <p:cNvPicPr preferRelativeResize="0"/>
          <p:nvPr/>
        </p:nvPicPr>
        <p:blipFill>
          <a:blip r:embed="rId3">
            <a:alphaModFix/>
          </a:blip>
          <a:stretch>
            <a:fillRect/>
          </a:stretch>
        </p:blipFill>
        <p:spPr>
          <a:xfrm>
            <a:off x="3728375" y="2133850"/>
            <a:ext cx="1687250" cy="14536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87" name="Google Shape;87;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a:t>
            </a:fld>
            <a:endParaRPr/>
          </a:p>
        </p:txBody>
      </p:sp>
      <p:pic>
        <p:nvPicPr>
          <p:cNvPr id="89" name="Google Shape;89;p17"/>
          <p:cNvPicPr preferRelativeResize="0"/>
          <p:nvPr/>
        </p:nvPicPr>
        <p:blipFill>
          <a:blip r:embed="rId3">
            <a:alphaModFix/>
          </a:blip>
          <a:stretch>
            <a:fillRect/>
          </a:stretch>
        </p:blipFill>
        <p:spPr>
          <a:xfrm>
            <a:off x="2531537" y="1793301"/>
            <a:ext cx="4080925" cy="1556900"/>
          </a:xfrm>
          <a:prstGeom prst="rect">
            <a:avLst/>
          </a:prstGeom>
          <a:noFill/>
          <a:ln>
            <a:noFill/>
          </a:ln>
        </p:spPr>
      </p:pic>
      <p:pic>
        <p:nvPicPr>
          <p:cNvPr id="90" name="Google Shape;90;p17"/>
          <p:cNvPicPr preferRelativeResize="0"/>
          <p:nvPr/>
        </p:nvPicPr>
        <p:blipFill>
          <a:blip r:embed="rId4">
            <a:alphaModFix/>
          </a:blip>
          <a:stretch>
            <a:fillRect/>
          </a:stretch>
        </p:blipFill>
        <p:spPr>
          <a:xfrm>
            <a:off x="2385400" y="3563878"/>
            <a:ext cx="4373200" cy="10993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6</a:t>
            </a:fld>
            <a:endParaRPr/>
          </a:p>
        </p:txBody>
      </p:sp>
      <p:pic>
        <p:nvPicPr>
          <p:cNvPr id="97" name="Google Shape;97;p18"/>
          <p:cNvPicPr preferRelativeResize="0"/>
          <p:nvPr/>
        </p:nvPicPr>
        <p:blipFill>
          <a:blip r:embed="rId3">
            <a:alphaModFix/>
          </a:blip>
          <a:stretch>
            <a:fillRect/>
          </a:stretch>
        </p:blipFill>
        <p:spPr>
          <a:xfrm>
            <a:off x="3619225" y="1830700"/>
            <a:ext cx="1905550" cy="1482100"/>
          </a:xfrm>
          <a:prstGeom prst="rect">
            <a:avLst/>
          </a:prstGeom>
          <a:noFill/>
          <a:ln>
            <a:noFill/>
          </a:ln>
        </p:spPr>
      </p:pic>
      <p:sp>
        <p:nvSpPr>
          <p:cNvPr id="98" name="Google Shape;98;p18"/>
          <p:cNvSpPr txBox="1"/>
          <p:nvPr/>
        </p:nvSpPr>
        <p:spPr>
          <a:xfrm>
            <a:off x="3568950" y="4125775"/>
            <a:ext cx="2006100" cy="47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S </a:t>
            </a:r>
            <a:r>
              <a:rPr lang="zh-TW" sz="2400">
                <a:solidFill>
                  <a:srgbClr val="FF0000"/>
                </a:solidFill>
                <a:latin typeface="Times New Roman"/>
                <a:ea typeface="Times New Roman"/>
                <a:cs typeface="Times New Roman"/>
                <a:sym typeface="Times New Roman"/>
              </a:rPr>
              <a:t>←</a:t>
            </a:r>
            <a:r>
              <a:rPr lang="zh-TW" sz="2400">
                <a:solidFill>
                  <a:schemeClr val="dk1"/>
                </a:solidFill>
                <a:latin typeface="Times New Roman"/>
                <a:ea typeface="Times New Roman"/>
                <a:cs typeface="Times New Roman"/>
                <a:sym typeface="Times New Roman"/>
              </a:rPr>
              <a:t> 6</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7</a:t>
            </a:fld>
            <a:endParaRPr/>
          </a:p>
        </p:txBody>
      </p:sp>
      <p:pic>
        <p:nvPicPr>
          <p:cNvPr id="105" name="Google Shape;105;p19"/>
          <p:cNvPicPr preferRelativeResize="0"/>
          <p:nvPr/>
        </p:nvPicPr>
        <p:blipFill>
          <a:blip r:embed="rId3">
            <a:alphaModFix/>
          </a:blip>
          <a:stretch>
            <a:fillRect/>
          </a:stretch>
        </p:blipFill>
        <p:spPr>
          <a:xfrm>
            <a:off x="3249238" y="1679788"/>
            <a:ext cx="2645525" cy="178392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8</a:t>
            </a:fld>
            <a:endParaRPr/>
          </a:p>
        </p:txBody>
      </p:sp>
      <p:pic>
        <p:nvPicPr>
          <p:cNvPr id="112" name="Google Shape;112;p20"/>
          <p:cNvPicPr preferRelativeResize="0"/>
          <p:nvPr/>
        </p:nvPicPr>
        <p:blipFill>
          <a:blip r:embed="rId3">
            <a:alphaModFix/>
          </a:blip>
          <a:stretch>
            <a:fillRect/>
          </a:stretch>
        </p:blipFill>
        <p:spPr>
          <a:xfrm>
            <a:off x="3619225" y="1830700"/>
            <a:ext cx="1905550" cy="1482100"/>
          </a:xfrm>
          <a:prstGeom prst="rect">
            <a:avLst/>
          </a:prstGeom>
          <a:noFill/>
          <a:ln>
            <a:noFill/>
          </a:ln>
        </p:spPr>
      </p:pic>
      <p:sp>
        <p:nvSpPr>
          <p:cNvPr id="113" name="Google Shape;113;p20"/>
          <p:cNvSpPr txBox="1"/>
          <p:nvPr/>
        </p:nvSpPr>
        <p:spPr>
          <a:xfrm>
            <a:off x="3568950" y="4125775"/>
            <a:ext cx="2006100" cy="47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6 </a:t>
            </a:r>
            <a:r>
              <a:rPr lang="zh-TW" sz="2400">
                <a:solidFill>
                  <a:srgbClr val="FF0000"/>
                </a:solidFill>
                <a:latin typeface="Times New Roman"/>
                <a:ea typeface="Times New Roman"/>
                <a:cs typeface="Times New Roman"/>
                <a:sym typeface="Times New Roman"/>
              </a:rPr>
              <a:t>→</a:t>
            </a:r>
            <a:r>
              <a:rPr lang="zh-TW" sz="2400">
                <a:solidFill>
                  <a:schemeClr val="dk1"/>
                </a:solidFill>
                <a:latin typeface="Times New Roman"/>
                <a:ea typeface="Times New Roman"/>
                <a:cs typeface="Times New Roman"/>
                <a:sym typeface="Times New Roman"/>
              </a:rPr>
              <a:t> S</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latin typeface="Times New Roman"/>
              <a:ea typeface="Times New Roman"/>
              <a:cs typeface="Times New Roman"/>
              <a:sym typeface="Times New Roman"/>
            </a:endParaRPr>
          </a:p>
        </p:txBody>
      </p:sp>
      <p:sp>
        <p:nvSpPr>
          <p:cNvPr id="119" name="Google Shape;119;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9</a:t>
            </a:fld>
            <a:endParaRPr/>
          </a:p>
        </p:txBody>
      </p:sp>
      <p:pic>
        <p:nvPicPr>
          <p:cNvPr id="120" name="Google Shape;120;p21"/>
          <p:cNvPicPr preferRelativeResize="0"/>
          <p:nvPr/>
        </p:nvPicPr>
        <p:blipFill>
          <a:blip r:embed="rId3">
            <a:alphaModFix/>
          </a:blip>
          <a:stretch>
            <a:fillRect/>
          </a:stretch>
        </p:blipFill>
        <p:spPr>
          <a:xfrm>
            <a:off x="3309887" y="1661575"/>
            <a:ext cx="2524225" cy="182035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Standard Young Tableau (cont.)</a:t>
            </a:r>
            <a:endParaRPr/>
          </a:p>
        </p:txBody>
      </p:sp>
      <p:sp>
        <p:nvSpPr>
          <p:cNvPr id="126" name="Google Shape;12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dirty="0">
                <a:solidFill>
                  <a:schemeClr val="dk1"/>
                </a:solidFill>
                <a:latin typeface="Times New Roman"/>
                <a:ea typeface="Times New Roman"/>
                <a:cs typeface="Times New Roman"/>
                <a:sym typeface="Times New Roman"/>
              </a:rPr>
              <a:t>A = 3 5 4 9 8 2 7			B = 7 2 8 9 4 5 3</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dirty="0">
                <a:solidFill>
                  <a:schemeClr val="dk1"/>
                </a:solidFill>
                <a:latin typeface="Times New Roman"/>
                <a:ea typeface="Times New Roman"/>
                <a:cs typeface="Times New Roman"/>
                <a:sym typeface="Times New Roman"/>
              </a:rPr>
              <a:t>	2 4 7						2 3 5</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dirty="0">
                <a:solidFill>
                  <a:schemeClr val="dk1"/>
                </a:solidFill>
                <a:latin typeface="Times New Roman"/>
                <a:ea typeface="Times New Roman"/>
                <a:cs typeface="Times New Roman"/>
                <a:sym typeface="Times New Roman"/>
              </a:rPr>
              <a:t>	3 8						4 8 9</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zh-TW" sz="2400" dirty="0">
                <a:solidFill>
                  <a:schemeClr val="dk1"/>
                </a:solidFill>
                <a:latin typeface="Times New Roman"/>
                <a:ea typeface="Times New Roman"/>
                <a:cs typeface="Times New Roman"/>
                <a:sym typeface="Times New Roman"/>
              </a:rPr>
              <a:t>	5 9						7</a:t>
            </a:r>
            <a:endParaRPr sz="2400" dirty="0">
              <a:solidFill>
                <a:schemeClr val="dk1"/>
              </a:solidFill>
              <a:latin typeface="Times New Roman"/>
              <a:ea typeface="Times New Roman"/>
              <a:cs typeface="Times New Roman"/>
              <a:sym typeface="Times New Roman"/>
            </a:endParaRPr>
          </a:p>
        </p:txBody>
      </p:sp>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10</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a:t>
            </a:r>
            <a:endParaRPr>
              <a:latin typeface="Times New Roman"/>
              <a:ea typeface="Times New Roman"/>
              <a:cs typeface="Times New Roman"/>
              <a:sym typeface="Times New Roman"/>
            </a:endParaRPr>
          </a:p>
        </p:txBody>
      </p:sp>
      <p:sp>
        <p:nvSpPr>
          <p:cNvPr id="133" name="Google Shape;13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y is the largest</a:t>
            </a:r>
            <a:endParaRPr/>
          </a:p>
          <a:p>
            <a:pPr marL="0" lvl="0" indent="0" algn="l" rtl="0">
              <a:spcBef>
                <a:spcPts val="1200"/>
              </a:spcBef>
              <a:spcAft>
                <a:spcPts val="1200"/>
              </a:spcAft>
              <a:buNone/>
            </a:pPr>
            <a:r>
              <a:rPr lang="zh-TW"/>
              <a:t> </a:t>
            </a: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11</a:t>
            </a:fld>
            <a:endParaRPr/>
          </a:p>
        </p:txBody>
      </p:sp>
      <p:pic>
        <p:nvPicPr>
          <p:cNvPr id="135" name="Google Shape;135;p23"/>
          <p:cNvPicPr preferRelativeResize="0"/>
          <p:nvPr/>
        </p:nvPicPr>
        <p:blipFill>
          <a:blip r:embed="rId3">
            <a:alphaModFix/>
          </a:blip>
          <a:stretch>
            <a:fillRect/>
          </a:stretch>
        </p:blipFill>
        <p:spPr>
          <a:xfrm>
            <a:off x="3348038" y="1774825"/>
            <a:ext cx="2447925" cy="2171700"/>
          </a:xfrm>
          <a:prstGeom prst="rect">
            <a:avLst/>
          </a:prstGeom>
          <a:noFill/>
          <a:ln>
            <a:noFill/>
          </a:ln>
        </p:spPr>
      </p:pic>
      <p:pic>
        <p:nvPicPr>
          <p:cNvPr id="136" name="Google Shape;136;p23"/>
          <p:cNvPicPr preferRelativeResize="0"/>
          <p:nvPr/>
        </p:nvPicPr>
        <p:blipFill>
          <a:blip r:embed="rId4">
            <a:alphaModFix/>
          </a:blip>
          <a:stretch>
            <a:fillRect/>
          </a:stretch>
        </p:blipFill>
        <p:spPr>
          <a:xfrm>
            <a:off x="6348363" y="1779588"/>
            <a:ext cx="2124075" cy="2162175"/>
          </a:xfrm>
          <a:prstGeom prst="rect">
            <a:avLst/>
          </a:prstGeom>
          <a:noFill/>
          <a:ln>
            <a:noFill/>
          </a:ln>
        </p:spPr>
      </p:pic>
      <p:pic>
        <p:nvPicPr>
          <p:cNvPr id="137" name="Google Shape;137;p23"/>
          <p:cNvPicPr preferRelativeResize="0"/>
          <p:nvPr/>
        </p:nvPicPr>
        <p:blipFill>
          <a:blip r:embed="rId5">
            <a:alphaModFix/>
          </a:blip>
          <a:stretch>
            <a:fillRect/>
          </a:stretch>
        </p:blipFill>
        <p:spPr>
          <a:xfrm>
            <a:off x="311700" y="1779588"/>
            <a:ext cx="2190750" cy="2162175"/>
          </a:xfrm>
          <a:prstGeom prst="rect">
            <a:avLst/>
          </a:prstGeom>
          <a:noFill/>
          <a:ln>
            <a:noFill/>
          </a:ln>
        </p:spPr>
      </p:pic>
      <p:sp>
        <p:nvSpPr>
          <p:cNvPr id="138" name="Google Shape;138;p23"/>
          <p:cNvSpPr txBox="1"/>
          <p:nvPr/>
        </p:nvSpPr>
        <p:spPr>
          <a:xfrm>
            <a:off x="1092225" y="3998425"/>
            <a:ext cx="629700" cy="6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S</a:t>
            </a:r>
            <a:endParaRPr sz="2400">
              <a:solidFill>
                <a:schemeClr val="dk1"/>
              </a:solidFill>
              <a:latin typeface="Times New Roman"/>
              <a:ea typeface="Times New Roman"/>
              <a:cs typeface="Times New Roman"/>
              <a:sym typeface="Times New Roman"/>
            </a:endParaRPr>
          </a:p>
        </p:txBody>
      </p:sp>
      <p:sp>
        <p:nvSpPr>
          <p:cNvPr id="139" name="Google Shape;139;p23"/>
          <p:cNvSpPr txBox="1"/>
          <p:nvPr/>
        </p:nvSpPr>
        <p:spPr>
          <a:xfrm>
            <a:off x="4257150" y="3998425"/>
            <a:ext cx="629700" cy="6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
        <p:nvSpPr>
          <p:cNvPr id="140" name="Google Shape;140;p23"/>
          <p:cNvSpPr txBox="1"/>
          <p:nvPr/>
        </p:nvSpPr>
        <p:spPr>
          <a:xfrm>
            <a:off x="7095563" y="3998425"/>
            <a:ext cx="629700" cy="6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46" name="Google Shape;146;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y is the largest</a:t>
            </a:r>
            <a:endParaRPr/>
          </a:p>
        </p:txBody>
      </p:sp>
      <p:sp>
        <p:nvSpPr>
          <p:cNvPr id="147" name="Google Shape;147;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12</a:t>
            </a:fld>
            <a:endParaRPr/>
          </a:p>
        </p:txBody>
      </p:sp>
      <p:pic>
        <p:nvPicPr>
          <p:cNvPr id="148" name="Google Shape;148;p24"/>
          <p:cNvPicPr preferRelativeResize="0"/>
          <p:nvPr/>
        </p:nvPicPr>
        <p:blipFill>
          <a:blip r:embed="rId3">
            <a:alphaModFix/>
          </a:blip>
          <a:stretch>
            <a:fillRect/>
          </a:stretch>
        </p:blipFill>
        <p:spPr>
          <a:xfrm>
            <a:off x="1941500" y="1903039"/>
            <a:ext cx="5261000" cy="1915261"/>
          </a:xfrm>
          <a:prstGeom prst="rect">
            <a:avLst/>
          </a:prstGeom>
          <a:noFill/>
          <a:ln>
            <a:noFill/>
          </a:ln>
        </p:spPr>
      </p:pic>
      <p:sp>
        <p:nvSpPr>
          <p:cNvPr id="149" name="Google Shape;149;p24"/>
          <p:cNvSpPr txBox="1"/>
          <p:nvPr/>
        </p:nvSpPr>
        <p:spPr>
          <a:xfrm>
            <a:off x="4257150" y="3998425"/>
            <a:ext cx="629700" cy="6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55" name="Google Shape;155;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y is the largest</a:t>
            </a:r>
            <a:endParaRPr/>
          </a:p>
        </p:txBody>
      </p:sp>
      <p:sp>
        <p:nvSpPr>
          <p:cNvPr id="156" name="Google Shape;156;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13</a:t>
            </a:fld>
            <a:endParaRPr/>
          </a:p>
        </p:txBody>
      </p:sp>
      <p:pic>
        <p:nvPicPr>
          <p:cNvPr id="157" name="Google Shape;157;p25"/>
          <p:cNvPicPr preferRelativeResize="0"/>
          <p:nvPr/>
        </p:nvPicPr>
        <p:blipFill>
          <a:blip r:embed="rId3">
            <a:alphaModFix/>
          </a:blip>
          <a:stretch>
            <a:fillRect/>
          </a:stretch>
        </p:blipFill>
        <p:spPr>
          <a:xfrm>
            <a:off x="1941500" y="1939063"/>
            <a:ext cx="5261001" cy="1843225"/>
          </a:xfrm>
          <a:prstGeom prst="rect">
            <a:avLst/>
          </a:prstGeom>
          <a:noFill/>
          <a:ln>
            <a:noFill/>
          </a:ln>
        </p:spPr>
      </p:pic>
      <p:sp>
        <p:nvSpPr>
          <p:cNvPr id="158" name="Google Shape;158;p25"/>
          <p:cNvSpPr txBox="1"/>
          <p:nvPr/>
        </p:nvSpPr>
        <p:spPr>
          <a:xfrm>
            <a:off x="4257150" y="3998425"/>
            <a:ext cx="629700" cy="6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64" name="Google Shape;164;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Step. 1: Equality is established when S is of order 0, 1, or 2</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a:solidFill>
                  <a:schemeClr val="dk1"/>
                </a:solidFill>
                <a:latin typeface="Times New Roman"/>
                <a:ea typeface="Times New Roman"/>
                <a:cs typeface="Times New Roman"/>
                <a:sym typeface="Times New Roman"/>
              </a:rPr>
              <a:t>Step. 2: Assuming the lemma true for S of order n</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zh-TW" sz="2400">
                <a:solidFill>
                  <a:schemeClr val="dk1"/>
                </a:solidFill>
                <a:latin typeface="Times New Roman"/>
                <a:ea typeface="Times New Roman"/>
                <a:cs typeface="Times New Roman"/>
                <a:sym typeface="Times New Roman"/>
              </a:rPr>
              <a:t>Step. 3: Proving the lemma true for S of order n + 1</a:t>
            </a:r>
            <a:endParaRPr sz="2400">
              <a:solidFill>
                <a:schemeClr val="dk1"/>
              </a:solidFill>
              <a:latin typeface="Times New Roman"/>
              <a:ea typeface="Times New Roman"/>
              <a:cs typeface="Times New Roman"/>
              <a:sym typeface="Times New Roman"/>
            </a:endParaRPr>
          </a:p>
        </p:txBody>
      </p:sp>
      <p:sp>
        <p:nvSpPr>
          <p:cNvPr id="165" name="Google Shape;165;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14</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71" name="Google Shape;17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N is the largest number in S</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 is of order n + 1</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S’ (remove N from S) is of order n</a:t>
            </a:r>
            <a:endParaRPr sz="2400">
              <a:solidFill>
                <a:schemeClr val="dk1"/>
              </a:solidFill>
              <a:latin typeface="Times New Roman"/>
              <a:ea typeface="Times New Roman"/>
              <a:cs typeface="Times New Roman"/>
              <a:sym typeface="Times New Roman"/>
            </a:endParaRPr>
          </a:p>
        </p:txBody>
      </p:sp>
      <p:sp>
        <p:nvSpPr>
          <p:cNvPr id="172" name="Google Shape;172;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15</a:t>
            </a:fld>
            <a:endParaRPr/>
          </a:p>
        </p:txBody>
      </p:sp>
      <p:pic>
        <p:nvPicPr>
          <p:cNvPr id="173" name="Google Shape;173;p27"/>
          <p:cNvPicPr preferRelativeResize="0"/>
          <p:nvPr/>
        </p:nvPicPr>
        <p:blipFill>
          <a:blip r:embed="rId3">
            <a:alphaModFix/>
          </a:blip>
          <a:stretch>
            <a:fillRect/>
          </a:stretch>
        </p:blipFill>
        <p:spPr>
          <a:xfrm>
            <a:off x="3533775" y="2520088"/>
            <a:ext cx="2076450" cy="2143125"/>
          </a:xfrm>
          <a:prstGeom prst="rect">
            <a:avLst/>
          </a:prstGeom>
          <a:noFill/>
          <a:ln>
            <a:noFill/>
          </a:ln>
        </p:spPr>
      </p:pic>
      <p:sp>
        <p:nvSpPr>
          <p:cNvPr id="174" name="Google Shape;174;p27"/>
          <p:cNvSpPr txBox="1"/>
          <p:nvPr/>
        </p:nvSpPr>
        <p:spPr>
          <a:xfrm>
            <a:off x="5227275" y="2891550"/>
            <a:ext cx="331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rgbClr val="FF0000"/>
                </a:solidFill>
                <a:latin typeface="Times New Roman"/>
                <a:ea typeface="Times New Roman"/>
                <a:cs typeface="Times New Roman"/>
                <a:sym typeface="Times New Roman"/>
              </a:rPr>
              <a:t>N</a:t>
            </a:r>
            <a:endParaRPr sz="1800" b="1">
              <a:solidFill>
                <a:srgbClr val="FF0000"/>
              </a:solidFill>
              <a:latin typeface="Times New Roman"/>
              <a:ea typeface="Times New Roman"/>
              <a:cs typeface="Times New Roman"/>
              <a:sym typeface="Times New Roman"/>
            </a:endParaRPr>
          </a:p>
        </p:txBody>
      </p:sp>
      <p:sp>
        <p:nvSpPr>
          <p:cNvPr id="175" name="Google Shape;175;p27"/>
          <p:cNvSpPr txBox="1"/>
          <p:nvPr/>
        </p:nvSpPr>
        <p:spPr>
          <a:xfrm>
            <a:off x="4572000" y="3551050"/>
            <a:ext cx="331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rgbClr val="FF0000"/>
                </a:solidFill>
                <a:latin typeface="Times New Roman"/>
                <a:ea typeface="Times New Roman"/>
                <a:cs typeface="Times New Roman"/>
                <a:sym typeface="Times New Roman"/>
              </a:rPr>
              <a:t>N</a:t>
            </a:r>
            <a:endParaRPr sz="1800" b="1">
              <a:solidFill>
                <a:srgbClr val="FF0000"/>
              </a:solidFill>
              <a:latin typeface="Times New Roman"/>
              <a:ea typeface="Times New Roman"/>
              <a:cs typeface="Times New Roman"/>
              <a:sym typeface="Times New Roman"/>
            </a:endParaRPr>
          </a:p>
        </p:txBody>
      </p:sp>
      <p:sp>
        <p:nvSpPr>
          <p:cNvPr id="176" name="Google Shape;176;p27"/>
          <p:cNvSpPr txBox="1"/>
          <p:nvPr/>
        </p:nvSpPr>
        <p:spPr>
          <a:xfrm>
            <a:off x="3948700" y="4175275"/>
            <a:ext cx="331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rgbClr val="FF0000"/>
                </a:solidFill>
                <a:latin typeface="Times New Roman"/>
                <a:ea typeface="Times New Roman"/>
                <a:cs typeface="Times New Roman"/>
                <a:sym typeface="Times New Roman"/>
              </a:rPr>
              <a:t>N</a:t>
            </a:r>
            <a:endParaRPr sz="1800" b="1">
              <a:solidFill>
                <a:srgbClr val="FF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82" name="Google Shape;182;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x’ and y’ do not fall into the same square</a:t>
            </a:r>
            <a:endParaRPr sz="2400">
              <a:solidFill>
                <a:schemeClr val="dk1"/>
              </a:solidFill>
              <a:latin typeface="Times New Roman"/>
              <a:ea typeface="Times New Roman"/>
              <a:cs typeface="Times New Roman"/>
              <a:sym typeface="Times New Roman"/>
            </a:endParaRPr>
          </a:p>
        </p:txBody>
      </p:sp>
      <p:sp>
        <p:nvSpPr>
          <p:cNvPr id="183" name="Google Shape;183;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16</a:t>
            </a:fld>
            <a:endParaRPr/>
          </a:p>
        </p:txBody>
      </p:sp>
      <p:pic>
        <p:nvPicPr>
          <p:cNvPr id="184" name="Google Shape;184;p28"/>
          <p:cNvPicPr preferRelativeResize="0"/>
          <p:nvPr/>
        </p:nvPicPr>
        <p:blipFill>
          <a:blip r:embed="rId3">
            <a:alphaModFix/>
          </a:blip>
          <a:stretch>
            <a:fillRect/>
          </a:stretch>
        </p:blipFill>
        <p:spPr>
          <a:xfrm>
            <a:off x="1190625" y="1803400"/>
            <a:ext cx="6762750" cy="2114550"/>
          </a:xfrm>
          <a:prstGeom prst="rect">
            <a:avLst/>
          </a:prstGeom>
          <a:noFill/>
          <a:ln>
            <a:noFill/>
          </a:ln>
        </p:spPr>
      </p:pic>
      <p:sp>
        <p:nvSpPr>
          <p:cNvPr id="185" name="Google Shape;185;p28"/>
          <p:cNvSpPr txBox="1"/>
          <p:nvPr/>
        </p:nvSpPr>
        <p:spPr>
          <a:xfrm>
            <a:off x="1053300" y="4059775"/>
            <a:ext cx="7037400" cy="50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S’						x → S’				S’ ← y		</a:t>
            </a:r>
            <a:endParaRPr sz="2400">
              <a:solidFill>
                <a:schemeClr val="dk1"/>
              </a:solidFill>
              <a:latin typeface="Times New Roman"/>
              <a:ea typeface="Times New Roman"/>
              <a:cs typeface="Times New Roman"/>
              <a:sym typeface="Times New Roman"/>
            </a:endParaRPr>
          </a:p>
        </p:txBody>
      </p:sp>
      <p:sp>
        <p:nvSpPr>
          <p:cNvPr id="186" name="Google Shape;186;p28"/>
          <p:cNvSpPr/>
          <p:nvPr/>
        </p:nvSpPr>
        <p:spPr>
          <a:xfrm>
            <a:off x="6631650" y="3265250"/>
            <a:ext cx="216600" cy="223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8"/>
          <p:cNvSpPr txBox="1"/>
          <p:nvPr/>
        </p:nvSpPr>
        <p:spPr>
          <a:xfrm>
            <a:off x="6566975" y="3095450"/>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y’</a:t>
            </a:r>
            <a:endParaRPr sz="18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193" name="Google Shape;19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x’ and y’ do not fall into the same square</a:t>
            </a:r>
            <a:endParaRPr sz="2400">
              <a:solidFill>
                <a:schemeClr val="dk1"/>
              </a:solidFill>
              <a:latin typeface="Times New Roman"/>
              <a:ea typeface="Times New Roman"/>
              <a:cs typeface="Times New Roman"/>
              <a:sym typeface="Times New Roman"/>
            </a:endParaRPr>
          </a:p>
        </p:txBody>
      </p:sp>
      <p:sp>
        <p:nvSpPr>
          <p:cNvPr id="194" name="Google Shape;194;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17</a:t>
            </a:fld>
            <a:endParaRPr/>
          </a:p>
        </p:txBody>
      </p:sp>
      <p:sp>
        <p:nvSpPr>
          <p:cNvPr id="195" name="Google Shape;195;p29"/>
          <p:cNvSpPr txBox="1"/>
          <p:nvPr/>
        </p:nvSpPr>
        <p:spPr>
          <a:xfrm>
            <a:off x="5648325" y="2938550"/>
            <a:ext cx="2291400" cy="5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 x → (S’ ← y)</a:t>
            </a:r>
            <a:endParaRPr sz="2400">
              <a:solidFill>
                <a:schemeClr val="dk1"/>
              </a:solidFill>
              <a:latin typeface="Times New Roman"/>
              <a:ea typeface="Times New Roman"/>
              <a:cs typeface="Times New Roman"/>
              <a:sym typeface="Times New Roman"/>
            </a:endParaRPr>
          </a:p>
        </p:txBody>
      </p:sp>
      <p:pic>
        <p:nvPicPr>
          <p:cNvPr id="196" name="Google Shape;196;p29"/>
          <p:cNvPicPr preferRelativeResize="0"/>
          <p:nvPr/>
        </p:nvPicPr>
        <p:blipFill>
          <a:blip r:embed="rId3">
            <a:alphaModFix/>
          </a:blip>
          <a:stretch>
            <a:fillRect/>
          </a:stretch>
        </p:blipFill>
        <p:spPr>
          <a:xfrm>
            <a:off x="3495675" y="2103438"/>
            <a:ext cx="2152650" cy="2124075"/>
          </a:xfrm>
          <a:prstGeom prst="rect">
            <a:avLst/>
          </a:prstGeom>
          <a:noFill/>
          <a:ln>
            <a:noFill/>
          </a:ln>
        </p:spPr>
      </p:pic>
      <p:sp>
        <p:nvSpPr>
          <p:cNvPr id="197" name="Google Shape;197;p29"/>
          <p:cNvSpPr txBox="1"/>
          <p:nvPr/>
        </p:nvSpPr>
        <p:spPr>
          <a:xfrm>
            <a:off x="1272375" y="2910950"/>
            <a:ext cx="22233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(x → S’) ← y =</a:t>
            </a:r>
            <a:endParaRPr sz="2400">
              <a:solidFill>
                <a:schemeClr val="dk1"/>
              </a:solidFill>
              <a:latin typeface="Times New Roman"/>
              <a:ea typeface="Times New Roman"/>
              <a:cs typeface="Times New Roman"/>
              <a:sym typeface="Times New Roman"/>
            </a:endParaRPr>
          </a:p>
        </p:txBody>
      </p:sp>
      <p:sp>
        <p:nvSpPr>
          <p:cNvPr id="198" name="Google Shape;198;p29"/>
          <p:cNvSpPr txBox="1"/>
          <p:nvPr/>
        </p:nvSpPr>
        <p:spPr>
          <a:xfrm>
            <a:off x="4902800" y="2777825"/>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x’</a:t>
            </a:r>
            <a:endParaRPr sz="1800" b="1">
              <a:solidFill>
                <a:schemeClr val="dk1"/>
              </a:solidFill>
              <a:latin typeface="Times New Roman"/>
              <a:ea typeface="Times New Roman"/>
              <a:cs typeface="Times New Roman"/>
              <a:sym typeface="Times New Roman"/>
            </a:endParaRPr>
          </a:p>
        </p:txBody>
      </p:sp>
      <p:sp>
        <p:nvSpPr>
          <p:cNvPr id="199" name="Google Shape;199;p29"/>
          <p:cNvSpPr txBox="1"/>
          <p:nvPr/>
        </p:nvSpPr>
        <p:spPr>
          <a:xfrm>
            <a:off x="4267775" y="3419925"/>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y’</a:t>
            </a:r>
            <a:endParaRPr sz="18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205" name="Google Shape;205;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x’ and y’ fall into the same square</a:t>
            </a:r>
            <a:endParaRPr sz="2400">
              <a:solidFill>
                <a:schemeClr val="dk1"/>
              </a:solidFill>
              <a:latin typeface="Times New Roman"/>
              <a:ea typeface="Times New Roman"/>
              <a:cs typeface="Times New Roman"/>
              <a:sym typeface="Times New Roman"/>
            </a:endParaRPr>
          </a:p>
        </p:txBody>
      </p:sp>
      <p:sp>
        <p:nvSpPr>
          <p:cNvPr id="206" name="Google Shape;20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18</a:t>
            </a:fld>
            <a:endParaRPr/>
          </a:p>
        </p:txBody>
      </p:sp>
      <p:pic>
        <p:nvPicPr>
          <p:cNvPr id="207" name="Google Shape;207;p30"/>
          <p:cNvPicPr preferRelativeResize="0"/>
          <p:nvPr/>
        </p:nvPicPr>
        <p:blipFill>
          <a:blip r:embed="rId3">
            <a:alphaModFix/>
          </a:blip>
          <a:stretch>
            <a:fillRect/>
          </a:stretch>
        </p:blipFill>
        <p:spPr>
          <a:xfrm>
            <a:off x="1057275" y="1779575"/>
            <a:ext cx="7029450" cy="2162175"/>
          </a:xfrm>
          <a:prstGeom prst="rect">
            <a:avLst/>
          </a:prstGeom>
          <a:noFill/>
          <a:ln>
            <a:noFill/>
          </a:ln>
        </p:spPr>
      </p:pic>
      <p:sp>
        <p:nvSpPr>
          <p:cNvPr id="208" name="Google Shape;208;p30"/>
          <p:cNvSpPr txBox="1"/>
          <p:nvPr/>
        </p:nvSpPr>
        <p:spPr>
          <a:xfrm>
            <a:off x="1053300" y="4059775"/>
            <a:ext cx="7037400" cy="50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S’						x → S’				S’ ← y		</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214" name="Google Shape;214;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x’ and y’ fall into the same square</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x’ &lt; y’</a:t>
            </a:r>
            <a:endParaRPr sz="2400">
              <a:solidFill>
                <a:schemeClr val="dk1"/>
              </a:solidFill>
              <a:latin typeface="Times New Roman"/>
              <a:ea typeface="Times New Roman"/>
              <a:cs typeface="Times New Roman"/>
              <a:sym typeface="Times New Roman"/>
            </a:endParaRPr>
          </a:p>
        </p:txBody>
      </p:sp>
      <p:sp>
        <p:nvSpPr>
          <p:cNvPr id="215" name="Google Shape;21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19</a:t>
            </a:fld>
            <a:endParaRPr/>
          </a:p>
        </p:txBody>
      </p:sp>
      <p:pic>
        <p:nvPicPr>
          <p:cNvPr id="216" name="Google Shape;216;p31"/>
          <p:cNvPicPr preferRelativeResize="0"/>
          <p:nvPr/>
        </p:nvPicPr>
        <p:blipFill>
          <a:blip r:embed="rId3">
            <a:alphaModFix/>
          </a:blip>
          <a:stretch>
            <a:fillRect/>
          </a:stretch>
        </p:blipFill>
        <p:spPr>
          <a:xfrm>
            <a:off x="3490900" y="1774825"/>
            <a:ext cx="2162175" cy="2171700"/>
          </a:xfrm>
          <a:prstGeom prst="rect">
            <a:avLst/>
          </a:prstGeom>
          <a:noFill/>
          <a:ln>
            <a:noFill/>
          </a:ln>
        </p:spPr>
      </p:pic>
      <p:sp>
        <p:nvSpPr>
          <p:cNvPr id="217" name="Google Shape;217;p31"/>
          <p:cNvSpPr txBox="1"/>
          <p:nvPr/>
        </p:nvSpPr>
        <p:spPr>
          <a:xfrm>
            <a:off x="5648325" y="2633750"/>
            <a:ext cx="2291400" cy="5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 x → (S’ ← y)</a:t>
            </a:r>
            <a:endParaRPr sz="2400">
              <a:solidFill>
                <a:schemeClr val="dk1"/>
              </a:solidFill>
              <a:latin typeface="Times New Roman"/>
              <a:ea typeface="Times New Roman"/>
              <a:cs typeface="Times New Roman"/>
              <a:sym typeface="Times New Roman"/>
            </a:endParaRPr>
          </a:p>
        </p:txBody>
      </p:sp>
      <p:sp>
        <p:nvSpPr>
          <p:cNvPr id="218" name="Google Shape;218;p31"/>
          <p:cNvSpPr txBox="1"/>
          <p:nvPr/>
        </p:nvSpPr>
        <p:spPr>
          <a:xfrm>
            <a:off x="1272375" y="2606150"/>
            <a:ext cx="22233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(x → S’) ← y =</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224" name="Google Shape;224;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x’ and y’ fall into the same square</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x’ &gt; y’</a:t>
            </a:r>
            <a:endParaRPr sz="2400">
              <a:solidFill>
                <a:schemeClr val="dk1"/>
              </a:solidFill>
              <a:latin typeface="Times New Roman"/>
              <a:ea typeface="Times New Roman"/>
              <a:cs typeface="Times New Roman"/>
              <a:sym typeface="Times New Roman"/>
            </a:endParaRPr>
          </a:p>
        </p:txBody>
      </p:sp>
      <p:sp>
        <p:nvSpPr>
          <p:cNvPr id="225" name="Google Shape;22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20</a:t>
            </a:fld>
            <a:endParaRPr/>
          </a:p>
        </p:txBody>
      </p:sp>
      <p:pic>
        <p:nvPicPr>
          <p:cNvPr id="226" name="Google Shape;226;p32"/>
          <p:cNvPicPr preferRelativeResize="0"/>
          <p:nvPr/>
        </p:nvPicPr>
        <p:blipFill>
          <a:blip r:embed="rId3">
            <a:alphaModFix/>
          </a:blip>
          <a:stretch>
            <a:fillRect/>
          </a:stretch>
        </p:blipFill>
        <p:spPr>
          <a:xfrm>
            <a:off x="3538525" y="1812925"/>
            <a:ext cx="2066925" cy="2095500"/>
          </a:xfrm>
          <a:prstGeom prst="rect">
            <a:avLst/>
          </a:prstGeom>
          <a:noFill/>
          <a:ln>
            <a:noFill/>
          </a:ln>
        </p:spPr>
      </p:pic>
      <p:sp>
        <p:nvSpPr>
          <p:cNvPr id="227" name="Google Shape;227;p32"/>
          <p:cNvSpPr txBox="1"/>
          <p:nvPr/>
        </p:nvSpPr>
        <p:spPr>
          <a:xfrm>
            <a:off x="5648325" y="2633750"/>
            <a:ext cx="2291400" cy="51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 x → (S’ ← y)</a:t>
            </a:r>
            <a:endParaRPr sz="2400">
              <a:solidFill>
                <a:schemeClr val="dk1"/>
              </a:solidFill>
              <a:latin typeface="Times New Roman"/>
              <a:ea typeface="Times New Roman"/>
              <a:cs typeface="Times New Roman"/>
              <a:sym typeface="Times New Roman"/>
            </a:endParaRPr>
          </a:p>
        </p:txBody>
      </p:sp>
      <p:sp>
        <p:nvSpPr>
          <p:cNvPr id="228" name="Google Shape;228;p32"/>
          <p:cNvSpPr txBox="1"/>
          <p:nvPr/>
        </p:nvSpPr>
        <p:spPr>
          <a:xfrm>
            <a:off x="1272375" y="2606150"/>
            <a:ext cx="22233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(x → S’) ← y =</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latin typeface="Times New Roman"/>
              <a:ea typeface="Times New Roman"/>
              <a:cs typeface="Times New Roman"/>
              <a:sym typeface="Times New Roman"/>
            </a:endParaRPr>
          </a:p>
        </p:txBody>
      </p:sp>
      <p:sp>
        <p:nvSpPr>
          <p:cNvPr id="234" name="Google Shape;234;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 does not coincide with either x’ or y’</a:t>
            </a:r>
            <a:endParaRPr sz="2400">
              <a:solidFill>
                <a:schemeClr val="dk1"/>
              </a:solidFill>
              <a:latin typeface="Times New Roman"/>
              <a:ea typeface="Times New Roman"/>
              <a:cs typeface="Times New Roman"/>
              <a:sym typeface="Times New Roman"/>
            </a:endParaRPr>
          </a:p>
        </p:txBody>
      </p:sp>
      <p:sp>
        <p:nvSpPr>
          <p:cNvPr id="235" name="Google Shape;235;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21</a:t>
            </a:fld>
            <a:endParaRPr/>
          </a:p>
        </p:txBody>
      </p:sp>
      <p:pic>
        <p:nvPicPr>
          <p:cNvPr id="236" name="Google Shape;236;p33"/>
          <p:cNvPicPr preferRelativeResize="0"/>
          <p:nvPr/>
        </p:nvPicPr>
        <p:blipFill>
          <a:blip r:embed="rId3">
            <a:alphaModFix/>
          </a:blip>
          <a:stretch>
            <a:fillRect/>
          </a:stretch>
        </p:blipFill>
        <p:spPr>
          <a:xfrm>
            <a:off x="3538525" y="1808150"/>
            <a:ext cx="2066925" cy="2105025"/>
          </a:xfrm>
          <a:prstGeom prst="rect">
            <a:avLst/>
          </a:prstGeom>
          <a:noFill/>
          <a:ln>
            <a:noFill/>
          </a:ln>
        </p:spPr>
      </p:pic>
      <p:sp>
        <p:nvSpPr>
          <p:cNvPr id="237" name="Google Shape;237;p33"/>
          <p:cNvSpPr txBox="1"/>
          <p:nvPr/>
        </p:nvSpPr>
        <p:spPr>
          <a:xfrm>
            <a:off x="4572000" y="2836975"/>
            <a:ext cx="331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rgbClr val="FF0000"/>
                </a:solidFill>
                <a:latin typeface="Times New Roman"/>
                <a:ea typeface="Times New Roman"/>
                <a:cs typeface="Times New Roman"/>
                <a:sym typeface="Times New Roman"/>
              </a:rPr>
              <a:t>N</a:t>
            </a:r>
            <a:endParaRPr sz="1800" b="1">
              <a:solidFill>
                <a:srgbClr val="FF0000"/>
              </a:solidFill>
              <a:latin typeface="Times New Roman"/>
              <a:ea typeface="Times New Roman"/>
              <a:cs typeface="Times New Roman"/>
              <a:sym typeface="Times New Roman"/>
            </a:endParaRPr>
          </a:p>
        </p:txBody>
      </p:sp>
      <p:sp>
        <p:nvSpPr>
          <p:cNvPr id="238" name="Google Shape;238;p33"/>
          <p:cNvSpPr txBox="1"/>
          <p:nvPr/>
        </p:nvSpPr>
        <p:spPr>
          <a:xfrm>
            <a:off x="4251225" y="3105725"/>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x’</a:t>
            </a:r>
            <a:endParaRPr sz="1800" b="1">
              <a:solidFill>
                <a:schemeClr val="dk1"/>
              </a:solidFill>
              <a:latin typeface="Times New Roman"/>
              <a:ea typeface="Times New Roman"/>
              <a:cs typeface="Times New Roman"/>
              <a:sym typeface="Times New Roman"/>
            </a:endParaRPr>
          </a:p>
        </p:txBody>
      </p:sp>
      <p:sp>
        <p:nvSpPr>
          <p:cNvPr id="239" name="Google Shape;239;p33"/>
          <p:cNvSpPr txBox="1"/>
          <p:nvPr/>
        </p:nvSpPr>
        <p:spPr>
          <a:xfrm>
            <a:off x="4903200" y="2443375"/>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y’</a:t>
            </a:r>
            <a:endParaRPr sz="18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p>
        </p:txBody>
      </p:sp>
      <p:sp>
        <p:nvSpPr>
          <p:cNvPr id="245" name="Google Shape;24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 coincides with x’ (at right side)</a:t>
            </a:r>
            <a:endParaRPr sz="2400">
              <a:solidFill>
                <a:schemeClr val="dk1"/>
              </a:solidFill>
              <a:latin typeface="Times New Roman"/>
              <a:ea typeface="Times New Roman"/>
              <a:cs typeface="Times New Roman"/>
              <a:sym typeface="Times New Roman"/>
            </a:endParaRPr>
          </a:p>
        </p:txBody>
      </p:sp>
      <p:sp>
        <p:nvSpPr>
          <p:cNvPr id="246" name="Google Shape;246;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22</a:t>
            </a:fld>
            <a:endParaRPr/>
          </a:p>
        </p:txBody>
      </p:sp>
      <p:pic>
        <p:nvPicPr>
          <p:cNvPr id="247" name="Google Shape;247;p34"/>
          <p:cNvPicPr preferRelativeResize="0"/>
          <p:nvPr/>
        </p:nvPicPr>
        <p:blipFill>
          <a:blip r:embed="rId3">
            <a:alphaModFix/>
          </a:blip>
          <a:stretch>
            <a:fillRect/>
          </a:stretch>
        </p:blipFill>
        <p:spPr>
          <a:xfrm>
            <a:off x="1794027" y="1727100"/>
            <a:ext cx="5555933" cy="3416400"/>
          </a:xfrm>
          <a:prstGeom prst="rect">
            <a:avLst/>
          </a:prstGeom>
          <a:noFill/>
          <a:ln>
            <a:noFill/>
          </a:ln>
        </p:spPr>
      </p:pic>
      <p:pic>
        <p:nvPicPr>
          <p:cNvPr id="248" name="Google Shape;248;p34"/>
          <p:cNvPicPr preferRelativeResize="0"/>
          <p:nvPr/>
        </p:nvPicPr>
        <p:blipFill>
          <a:blip r:embed="rId4">
            <a:alphaModFix/>
          </a:blip>
          <a:stretch>
            <a:fillRect/>
          </a:stretch>
        </p:blipFill>
        <p:spPr>
          <a:xfrm>
            <a:off x="6810075" y="-9"/>
            <a:ext cx="2333925" cy="172710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p>
        </p:txBody>
      </p:sp>
      <p:sp>
        <p:nvSpPr>
          <p:cNvPr id="254" name="Google Shape;254;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 coincides with x’ (at right side)</a:t>
            </a:r>
            <a:endParaRPr sz="2400">
              <a:solidFill>
                <a:schemeClr val="dk1"/>
              </a:solidFill>
              <a:latin typeface="Times New Roman"/>
              <a:ea typeface="Times New Roman"/>
              <a:cs typeface="Times New Roman"/>
              <a:sym typeface="Times New Roman"/>
            </a:endParaRPr>
          </a:p>
        </p:txBody>
      </p:sp>
      <p:sp>
        <p:nvSpPr>
          <p:cNvPr id="255" name="Google Shape;255;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23</a:t>
            </a:fld>
            <a:endParaRPr/>
          </a:p>
        </p:txBody>
      </p:sp>
      <p:pic>
        <p:nvPicPr>
          <p:cNvPr id="256" name="Google Shape;256;p35"/>
          <p:cNvPicPr preferRelativeResize="0"/>
          <p:nvPr/>
        </p:nvPicPr>
        <p:blipFill>
          <a:blip r:embed="rId3">
            <a:alphaModFix/>
          </a:blip>
          <a:stretch>
            <a:fillRect/>
          </a:stretch>
        </p:blipFill>
        <p:spPr>
          <a:xfrm>
            <a:off x="1176338" y="1708150"/>
            <a:ext cx="6791325" cy="2305050"/>
          </a:xfrm>
          <a:prstGeom prst="rect">
            <a:avLst/>
          </a:prstGeom>
          <a:noFill/>
          <a:ln>
            <a:noFill/>
          </a:ln>
        </p:spPr>
      </p:pic>
      <p:sp>
        <p:nvSpPr>
          <p:cNvPr id="257" name="Google Shape;257;p35"/>
          <p:cNvSpPr txBox="1"/>
          <p:nvPr/>
        </p:nvSpPr>
        <p:spPr>
          <a:xfrm>
            <a:off x="4758325" y="2474425"/>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x’</a:t>
            </a:r>
            <a:endParaRPr sz="1800" b="1">
              <a:solidFill>
                <a:schemeClr val="dk1"/>
              </a:solidFill>
              <a:latin typeface="Times New Roman"/>
              <a:ea typeface="Times New Roman"/>
              <a:cs typeface="Times New Roman"/>
              <a:sym typeface="Times New Roman"/>
            </a:endParaRPr>
          </a:p>
        </p:txBody>
      </p:sp>
      <p:sp>
        <p:nvSpPr>
          <p:cNvPr id="258" name="Google Shape;258;p35"/>
          <p:cNvSpPr txBox="1"/>
          <p:nvPr/>
        </p:nvSpPr>
        <p:spPr>
          <a:xfrm>
            <a:off x="4153800" y="3099150"/>
            <a:ext cx="418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b="1">
                <a:solidFill>
                  <a:schemeClr val="dk1"/>
                </a:solidFill>
                <a:latin typeface="Times New Roman"/>
                <a:ea typeface="Times New Roman"/>
                <a:cs typeface="Times New Roman"/>
                <a:sym typeface="Times New Roman"/>
              </a:rPr>
              <a:t>y’</a:t>
            </a:r>
            <a:endParaRPr sz="1800" b="1">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p>
        </p:txBody>
      </p:sp>
      <p:sp>
        <p:nvSpPr>
          <p:cNvPr id="264" name="Google Shape;264;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 coincides with x’ (at left side) </a:t>
            </a:r>
            <a:endParaRPr sz="2400">
              <a:solidFill>
                <a:schemeClr val="dk1"/>
              </a:solidFill>
              <a:latin typeface="Times New Roman"/>
              <a:ea typeface="Times New Roman"/>
              <a:cs typeface="Times New Roman"/>
              <a:sym typeface="Times New Roman"/>
            </a:endParaRPr>
          </a:p>
        </p:txBody>
      </p:sp>
      <p:sp>
        <p:nvSpPr>
          <p:cNvPr id="265" name="Google Shape;265;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24</a:t>
            </a:fld>
            <a:endParaRPr/>
          </a:p>
        </p:txBody>
      </p:sp>
      <p:pic>
        <p:nvPicPr>
          <p:cNvPr id="266" name="Google Shape;266;p36"/>
          <p:cNvPicPr preferRelativeResize="0"/>
          <p:nvPr/>
        </p:nvPicPr>
        <p:blipFill>
          <a:blip r:embed="rId3">
            <a:alphaModFix/>
          </a:blip>
          <a:stretch>
            <a:fillRect/>
          </a:stretch>
        </p:blipFill>
        <p:spPr>
          <a:xfrm>
            <a:off x="2246663" y="1727096"/>
            <a:ext cx="4650669" cy="3416400"/>
          </a:xfrm>
          <a:prstGeom prst="rect">
            <a:avLst/>
          </a:prstGeom>
          <a:noFill/>
          <a:ln>
            <a:noFill/>
          </a:ln>
        </p:spPr>
      </p:pic>
      <p:pic>
        <p:nvPicPr>
          <p:cNvPr id="267" name="Google Shape;267;p36"/>
          <p:cNvPicPr preferRelativeResize="0"/>
          <p:nvPr/>
        </p:nvPicPr>
        <p:blipFill>
          <a:blip r:embed="rId4">
            <a:alphaModFix/>
          </a:blip>
          <a:stretch>
            <a:fillRect/>
          </a:stretch>
        </p:blipFill>
        <p:spPr>
          <a:xfrm>
            <a:off x="7095924" y="-1"/>
            <a:ext cx="2048075" cy="192907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(x → S) ← y = x → (S ← y) (cont.)</a:t>
            </a:r>
            <a:endParaRPr/>
          </a:p>
        </p:txBody>
      </p:sp>
      <p:sp>
        <p:nvSpPr>
          <p:cNvPr id="273" name="Google Shape;273;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N coincides with x’ (at left side) </a:t>
            </a:r>
            <a:endParaRPr sz="2400">
              <a:solidFill>
                <a:schemeClr val="dk1"/>
              </a:solidFill>
              <a:latin typeface="Times New Roman"/>
              <a:ea typeface="Times New Roman"/>
              <a:cs typeface="Times New Roman"/>
              <a:sym typeface="Times New Roman"/>
            </a:endParaRPr>
          </a:p>
        </p:txBody>
      </p:sp>
      <p:sp>
        <p:nvSpPr>
          <p:cNvPr id="274" name="Google Shape;274;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25</a:t>
            </a:fld>
            <a:endParaRPr/>
          </a:p>
        </p:txBody>
      </p:sp>
      <p:pic>
        <p:nvPicPr>
          <p:cNvPr id="275" name="Google Shape;275;p37"/>
          <p:cNvPicPr preferRelativeResize="0"/>
          <p:nvPr/>
        </p:nvPicPr>
        <p:blipFill>
          <a:blip r:embed="rId3">
            <a:alphaModFix/>
          </a:blip>
          <a:stretch>
            <a:fillRect/>
          </a:stretch>
        </p:blipFill>
        <p:spPr>
          <a:xfrm>
            <a:off x="1404925" y="1665275"/>
            <a:ext cx="6334125" cy="239077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　</a:t>
            </a:r>
            <a:endParaRPr/>
          </a:p>
        </p:txBody>
      </p:sp>
      <p:sp>
        <p:nvSpPr>
          <p:cNvPr id="281" name="Google Shape;281;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a:t>　</a:t>
            </a:r>
            <a:endParaRPr/>
          </a:p>
        </p:txBody>
      </p:sp>
      <p:sp>
        <p:nvSpPr>
          <p:cNvPr id="282" name="Google Shape;28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26</a:t>
            </a:fld>
            <a:endParaRPr/>
          </a:p>
        </p:txBody>
      </p:sp>
      <p:pic>
        <p:nvPicPr>
          <p:cNvPr id="283" name="Google Shape;283;p38"/>
          <p:cNvPicPr preferRelativeResize="0"/>
          <p:nvPr/>
        </p:nvPicPr>
        <p:blipFill>
          <a:blip r:embed="rId3">
            <a:alphaModFix/>
          </a:blip>
          <a:stretch>
            <a:fillRect/>
          </a:stretch>
        </p:blipFill>
        <p:spPr>
          <a:xfrm>
            <a:off x="1066800" y="1143000"/>
            <a:ext cx="7010400" cy="2857500"/>
          </a:xfrm>
          <a:prstGeom prst="rect">
            <a:avLst/>
          </a:prstGeom>
          <a:noFill/>
          <a:ln>
            <a:noFill/>
          </a:ln>
        </p:spPr>
      </p:pic>
      <p:sp>
        <p:nvSpPr>
          <p:cNvPr id="284" name="Google Shape;284;p38"/>
          <p:cNvSpPr txBox="1"/>
          <p:nvPr/>
        </p:nvSpPr>
        <p:spPr>
          <a:xfrm>
            <a:off x="719025" y="670450"/>
            <a:ext cx="4606200" cy="686700"/>
          </a:xfrm>
          <a:prstGeom prst="rect">
            <a:avLst/>
          </a:prstGeom>
          <a:noFill/>
          <a:ln>
            <a:noFill/>
          </a:ln>
        </p:spPr>
        <p:txBody>
          <a:bodyPr spcFirstLastPara="1" wrap="square" lIns="91425" tIns="91425" rIns="91425" bIns="91425" anchor="t" anchorCtr="0">
            <a:noAutofit/>
          </a:bodyPr>
          <a:lstStyle/>
          <a:p>
            <a:pPr marL="0" lvl="0" indent="457200" algn="l" rtl="0">
              <a:spcBef>
                <a:spcPts val="0"/>
              </a:spcBef>
              <a:spcAft>
                <a:spcPts val="0"/>
              </a:spcAft>
              <a:buNone/>
            </a:pPr>
            <a:r>
              <a:rPr lang="zh-TW" sz="2400">
                <a:solidFill>
                  <a:srgbClr val="FF0000"/>
                </a:solidFill>
                <a:latin typeface="Times New Roman"/>
                <a:ea typeface="Times New Roman"/>
                <a:cs typeface="Times New Roman"/>
                <a:sym typeface="Times New Roman"/>
              </a:rPr>
              <a:t>((x</a:t>
            </a:r>
            <a:r>
              <a:rPr lang="zh-TW" sz="2400" baseline="-25000">
                <a:solidFill>
                  <a:srgbClr val="FF0000"/>
                </a:solidFill>
                <a:latin typeface="Times New Roman"/>
                <a:ea typeface="Times New Roman"/>
                <a:cs typeface="Times New Roman"/>
                <a:sym typeface="Times New Roman"/>
              </a:rPr>
              <a:t>1</a:t>
            </a:r>
            <a:r>
              <a:rPr lang="zh-TW" sz="2400">
                <a:solidFill>
                  <a:srgbClr val="FF0000"/>
                </a:solidFill>
                <a:latin typeface="Times New Roman"/>
                <a:ea typeface="Times New Roman"/>
                <a:cs typeface="Times New Roman"/>
                <a:sym typeface="Times New Roman"/>
              </a:rPr>
              <a:t> ← x</a:t>
            </a:r>
            <a:r>
              <a:rPr lang="zh-TW" sz="2400" baseline="-25000">
                <a:solidFill>
                  <a:srgbClr val="FF0000"/>
                </a:solidFill>
                <a:latin typeface="Times New Roman"/>
                <a:ea typeface="Times New Roman"/>
                <a:cs typeface="Times New Roman"/>
                <a:sym typeface="Times New Roman"/>
              </a:rPr>
              <a:t>2</a:t>
            </a:r>
            <a:r>
              <a:rPr lang="zh-TW" sz="2400">
                <a:solidFill>
                  <a:srgbClr val="FF0000"/>
                </a:solidFill>
                <a:latin typeface="Times New Roman"/>
                <a:ea typeface="Times New Roman"/>
                <a:cs typeface="Times New Roman"/>
                <a:sym typeface="Times New Roman"/>
              </a:rPr>
              <a:t>) ← x</a:t>
            </a:r>
            <a:r>
              <a:rPr lang="zh-TW" sz="2400" baseline="-25000">
                <a:solidFill>
                  <a:srgbClr val="FF0000"/>
                </a:solidFill>
                <a:latin typeface="Times New Roman"/>
                <a:ea typeface="Times New Roman"/>
                <a:cs typeface="Times New Roman"/>
                <a:sym typeface="Times New Roman"/>
              </a:rPr>
              <a:t>3</a:t>
            </a:r>
            <a:r>
              <a:rPr lang="zh-TW" sz="2400">
                <a:solidFill>
                  <a:srgbClr val="FF0000"/>
                </a:solidFill>
                <a:latin typeface="Times New Roman"/>
                <a:ea typeface="Times New Roman"/>
                <a:cs typeface="Times New Roman"/>
                <a:sym typeface="Times New Roman"/>
              </a:rPr>
              <a:t>) ← … ← x</a:t>
            </a:r>
            <a:r>
              <a:rPr lang="zh-TW" sz="2400" baseline="-25000">
                <a:solidFill>
                  <a:srgbClr val="FF0000"/>
                </a:solidFill>
                <a:latin typeface="Times New Roman"/>
                <a:ea typeface="Times New Roman"/>
                <a:cs typeface="Times New Roman"/>
                <a:sym typeface="Times New Roman"/>
              </a:rPr>
              <a:t>n+1</a:t>
            </a:r>
            <a:endParaRPr sz="2400">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r>
              <a:rPr lang="zh-TW" sz="2400">
                <a:solidFill>
                  <a:srgbClr val="FF0000"/>
                </a:solidFill>
                <a:latin typeface="Times New Roman"/>
                <a:ea typeface="Times New Roman"/>
                <a:cs typeface="Times New Roman"/>
                <a:sym typeface="Times New Roman"/>
              </a:rPr>
              <a:t>=</a:t>
            </a:r>
            <a:endParaRPr sz="2400">
              <a:solidFill>
                <a:srgbClr val="FF0000"/>
              </a:solidFill>
              <a:latin typeface="Times New Roman"/>
              <a:ea typeface="Times New Roman"/>
              <a:cs typeface="Times New Roman"/>
              <a:sym typeface="Times New Roman"/>
            </a:endParaRPr>
          </a:p>
        </p:txBody>
      </p:sp>
      <p:sp>
        <p:nvSpPr>
          <p:cNvPr id="285" name="Google Shape;285;p38"/>
          <p:cNvSpPr txBox="1"/>
          <p:nvPr/>
        </p:nvSpPr>
        <p:spPr>
          <a:xfrm>
            <a:off x="3534975" y="3882175"/>
            <a:ext cx="5065800" cy="686700"/>
          </a:xfrm>
          <a:prstGeom prst="rect">
            <a:avLst/>
          </a:prstGeom>
          <a:noFill/>
          <a:ln>
            <a:noFill/>
          </a:ln>
        </p:spPr>
        <p:txBody>
          <a:bodyPr spcFirstLastPara="1" wrap="square" lIns="91425" tIns="91425" rIns="91425" bIns="91425" anchor="t" anchorCtr="0">
            <a:noAutofit/>
          </a:bodyPr>
          <a:lstStyle/>
          <a:p>
            <a:pPr marL="0" lvl="0" indent="457200" algn="l" rtl="0">
              <a:spcBef>
                <a:spcPts val="0"/>
              </a:spcBef>
              <a:spcAft>
                <a:spcPts val="0"/>
              </a:spcAft>
              <a:buNone/>
            </a:pPr>
            <a:r>
              <a:rPr lang="zh-TW" sz="2400">
                <a:solidFill>
                  <a:srgbClr val="FF0000"/>
                </a:solidFill>
                <a:latin typeface="Times New Roman"/>
                <a:ea typeface="Times New Roman"/>
                <a:cs typeface="Times New Roman"/>
                <a:sym typeface="Times New Roman"/>
              </a:rPr>
              <a:t>= x</a:t>
            </a:r>
            <a:r>
              <a:rPr lang="zh-TW" sz="2400" baseline="-25000">
                <a:solidFill>
                  <a:srgbClr val="FF0000"/>
                </a:solidFill>
                <a:latin typeface="Times New Roman"/>
                <a:ea typeface="Times New Roman"/>
                <a:cs typeface="Times New Roman"/>
                <a:sym typeface="Times New Roman"/>
              </a:rPr>
              <a:t>1</a:t>
            </a:r>
            <a:r>
              <a:rPr lang="zh-TW" sz="2400">
                <a:solidFill>
                  <a:srgbClr val="FF0000"/>
                </a:solidFill>
                <a:latin typeface="Times New Roman"/>
                <a:ea typeface="Times New Roman"/>
                <a:cs typeface="Times New Roman"/>
                <a:sym typeface="Times New Roman"/>
              </a:rPr>
              <a:t> → … → (x</a:t>
            </a:r>
            <a:r>
              <a:rPr lang="zh-TW" sz="2400" baseline="-25000">
                <a:solidFill>
                  <a:srgbClr val="FF0000"/>
                </a:solidFill>
                <a:latin typeface="Times New Roman"/>
                <a:ea typeface="Times New Roman"/>
                <a:cs typeface="Times New Roman"/>
                <a:sym typeface="Times New Roman"/>
              </a:rPr>
              <a:t>n-1</a:t>
            </a:r>
            <a:r>
              <a:rPr lang="zh-TW" sz="2400">
                <a:solidFill>
                  <a:srgbClr val="FF0000"/>
                </a:solidFill>
                <a:latin typeface="Times New Roman"/>
                <a:ea typeface="Times New Roman"/>
                <a:cs typeface="Times New Roman"/>
                <a:sym typeface="Times New Roman"/>
              </a:rPr>
              <a:t> → (x</a:t>
            </a:r>
            <a:r>
              <a:rPr lang="zh-TW" sz="2400" baseline="-25000">
                <a:solidFill>
                  <a:srgbClr val="FF0000"/>
                </a:solidFill>
                <a:latin typeface="Times New Roman"/>
                <a:ea typeface="Times New Roman"/>
                <a:cs typeface="Times New Roman"/>
                <a:sym typeface="Times New Roman"/>
              </a:rPr>
              <a:t>n</a:t>
            </a:r>
            <a:r>
              <a:rPr lang="zh-TW" sz="2400">
                <a:solidFill>
                  <a:srgbClr val="FF0000"/>
                </a:solidFill>
                <a:latin typeface="Times New Roman"/>
                <a:ea typeface="Times New Roman"/>
                <a:cs typeface="Times New Roman"/>
                <a:sym typeface="Times New Roman"/>
              </a:rPr>
              <a:t> → x</a:t>
            </a:r>
            <a:r>
              <a:rPr lang="zh-TW" sz="2400" baseline="-25000">
                <a:solidFill>
                  <a:srgbClr val="FF0000"/>
                </a:solidFill>
                <a:latin typeface="Times New Roman"/>
                <a:ea typeface="Times New Roman"/>
                <a:cs typeface="Times New Roman"/>
                <a:sym typeface="Times New Roman"/>
              </a:rPr>
              <a:t>n+1</a:t>
            </a:r>
            <a:r>
              <a:rPr lang="zh-TW" sz="2400">
                <a:solidFill>
                  <a:srgbClr val="FF0000"/>
                </a:solidFill>
                <a:latin typeface="Times New Roman"/>
                <a:ea typeface="Times New Roman"/>
                <a:cs typeface="Times New Roman"/>
                <a:sym typeface="Times New Roman"/>
              </a:rPr>
              <a:t>))</a:t>
            </a:r>
            <a:endParaRPr sz="2400">
              <a:solidFill>
                <a:srgbClr val="FF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p:txBody>
      </p:sp>
      <p:sp>
        <p:nvSpPr>
          <p:cNvPr id="291" name="Google Shape;291;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To find the number of permutations of 1 to 25 having </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zh-TW" sz="2400">
                <a:solidFill>
                  <a:schemeClr val="dk1"/>
                </a:solidFill>
                <a:latin typeface="Times New Roman"/>
                <a:ea typeface="Times New Roman"/>
                <a:cs typeface="Times New Roman"/>
                <a:sym typeface="Times New Roman"/>
              </a:rPr>
              <a:t>LIS length = 21 and LDS length = 3</a:t>
            </a:r>
            <a:endParaRPr sz="2400">
              <a:solidFill>
                <a:schemeClr val="dk1"/>
              </a:solidFill>
              <a:latin typeface="Times New Roman"/>
              <a:ea typeface="Times New Roman"/>
              <a:cs typeface="Times New Roman"/>
              <a:sym typeface="Times New Roman"/>
            </a:endParaRPr>
          </a:p>
        </p:txBody>
      </p:sp>
      <p:sp>
        <p:nvSpPr>
          <p:cNvPr id="292" name="Google Shape;292;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27</a:t>
            </a:fld>
            <a:endParaRPr/>
          </a:p>
        </p:txBody>
      </p:sp>
      <p:pic>
        <p:nvPicPr>
          <p:cNvPr id="293" name="Google Shape;293;p39"/>
          <p:cNvPicPr preferRelativeResize="0"/>
          <p:nvPr/>
        </p:nvPicPr>
        <p:blipFill>
          <a:blip r:embed="rId3">
            <a:alphaModFix/>
          </a:blip>
          <a:stretch>
            <a:fillRect/>
          </a:stretch>
        </p:blipFill>
        <p:spPr>
          <a:xfrm>
            <a:off x="311700" y="2666100"/>
            <a:ext cx="5196837" cy="1997125"/>
          </a:xfrm>
          <a:prstGeom prst="rect">
            <a:avLst/>
          </a:prstGeom>
          <a:noFill/>
          <a:ln>
            <a:noFill/>
          </a:ln>
        </p:spPr>
      </p:pic>
      <p:sp>
        <p:nvSpPr>
          <p:cNvPr id="294" name="Google Shape;294;p39"/>
          <p:cNvSpPr txBox="1"/>
          <p:nvPr/>
        </p:nvSpPr>
        <p:spPr>
          <a:xfrm>
            <a:off x="5641975" y="1955525"/>
            <a:ext cx="2752500" cy="162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2400" dirty="0">
                <a:solidFill>
                  <a:schemeClr val="dk1"/>
                </a:solidFill>
                <a:latin typeface="Times New Roman"/>
                <a:ea typeface="Times New Roman"/>
                <a:cs typeface="Times New Roman"/>
                <a:sym typeface="Times New Roman"/>
              </a:rPr>
              <a:t>number of tableaux</a:t>
            </a:r>
            <a:endParaRPr sz="24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zh-TW" sz="2400" dirty="0">
                <a:solidFill>
                  <a:schemeClr val="dk1"/>
                </a:solidFill>
                <a:latin typeface="Times New Roman"/>
                <a:ea typeface="Times New Roman"/>
                <a:cs typeface="Times New Roman"/>
                <a:sym typeface="Times New Roman"/>
              </a:rPr>
              <a:t>21000</a:t>
            </a:r>
            <a:endParaRPr sz="24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zh-TW" sz="2400" dirty="0">
                <a:solidFill>
                  <a:schemeClr val="dk1"/>
                </a:solidFill>
                <a:latin typeface="Times New Roman"/>
                <a:ea typeface="Times New Roman"/>
                <a:cs typeface="Times New Roman"/>
                <a:sym typeface="Times New Roman"/>
              </a:rPr>
              <a:t>31350</a:t>
            </a:r>
            <a:endParaRPr sz="2400" dirty="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Sequences with Repeated Numbers</a:t>
            </a:r>
            <a:endParaRPr>
              <a:latin typeface="Times New Roman"/>
              <a:ea typeface="Times New Roman"/>
              <a:cs typeface="Times New Roman"/>
              <a:sym typeface="Times New Roman"/>
            </a:endParaRPr>
          </a:p>
        </p:txBody>
      </p:sp>
      <p:sp>
        <p:nvSpPr>
          <p:cNvPr id="300" name="Google Shape;300;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zh-TW" sz="2400" dirty="0">
                <a:solidFill>
                  <a:schemeClr val="dk1"/>
                </a:solidFill>
                <a:latin typeface="Times New Roman"/>
                <a:ea typeface="Times New Roman"/>
                <a:cs typeface="Times New Roman"/>
                <a:sym typeface="Times New Roman"/>
              </a:rPr>
              <a:t>A = 3 3 2 3 4 1</a:t>
            </a:r>
            <a:endParaRPr sz="2400" dirty="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chemeClr val="dk1"/>
              </a:buClr>
              <a:buSzPts val="2400"/>
              <a:buFont typeface="Times New Roman"/>
              <a:buChar char="-"/>
            </a:pPr>
            <a:r>
              <a:rPr lang="zh-TW" sz="2400" dirty="0">
                <a:solidFill>
                  <a:schemeClr val="dk1"/>
                </a:solidFill>
                <a:latin typeface="Times New Roman"/>
                <a:ea typeface="Times New Roman"/>
                <a:cs typeface="Times New Roman"/>
                <a:sym typeface="Times New Roman"/>
              </a:rPr>
              <a:t>We replace 1 by 1, 2 by 2, the three 3's by 3, 4, 5, and 4 by 6</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dirty="0">
                <a:solidFill>
                  <a:schemeClr val="dk1"/>
                </a:solidFill>
                <a:latin typeface="Times New Roman"/>
                <a:ea typeface="Times New Roman"/>
                <a:cs typeface="Times New Roman"/>
                <a:sym typeface="Times New Roman"/>
              </a:rPr>
              <a:t>B = 3 4 2 5 6 1</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dirty="0">
                <a:solidFill>
                  <a:schemeClr val="dk1"/>
                </a:solidFill>
                <a:latin typeface="Times New Roman"/>
                <a:ea typeface="Times New Roman"/>
                <a:cs typeface="Times New Roman"/>
                <a:sym typeface="Times New Roman"/>
              </a:rPr>
              <a:t>	tableau of B:	1 4 5 6</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dirty="0">
                <a:solidFill>
                  <a:schemeClr val="dk1"/>
                </a:solidFill>
                <a:latin typeface="Times New Roman"/>
                <a:ea typeface="Times New Roman"/>
                <a:cs typeface="Times New Roman"/>
                <a:sym typeface="Times New Roman"/>
              </a:rPr>
              <a:t>			2</a:t>
            </a:r>
            <a:endParaRPr sz="2400" dirty="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zh-TW" sz="2400" dirty="0">
                <a:solidFill>
                  <a:schemeClr val="dk1"/>
                </a:solidFill>
                <a:latin typeface="Times New Roman"/>
                <a:ea typeface="Times New Roman"/>
                <a:cs typeface="Times New Roman"/>
                <a:sym typeface="Times New Roman"/>
              </a:rPr>
              <a:t>			3</a:t>
            </a:r>
            <a:endParaRPr sz="2400" dirty="0">
              <a:solidFill>
                <a:schemeClr val="dk1"/>
              </a:solidFill>
              <a:latin typeface="Times New Roman"/>
              <a:ea typeface="Times New Roman"/>
              <a:cs typeface="Times New Roman"/>
              <a:sym typeface="Times New Roman"/>
            </a:endParaRPr>
          </a:p>
        </p:txBody>
      </p:sp>
      <p:sp>
        <p:nvSpPr>
          <p:cNvPr id="301" name="Google Shape;30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28</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latin typeface="Times New Roman"/>
                <a:ea typeface="Times New Roman"/>
                <a:cs typeface="Times New Roman"/>
                <a:sym typeface="Times New Roman"/>
              </a:rPr>
              <a:t>Sequences with Repeated Numbers (cont.)</a:t>
            </a:r>
            <a:endParaRPr/>
          </a:p>
        </p:txBody>
      </p:sp>
      <p:sp>
        <p:nvSpPr>
          <p:cNvPr id="307" name="Google Shape;307;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B</a:t>
            </a:r>
            <a:endParaRPr sz="240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LIS length = 4</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LDS length = 3</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Longest non-decreasing subsequence length = 4</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LDS length = 3</a:t>
            </a:r>
            <a:endParaRPr sz="2400">
              <a:solidFill>
                <a:schemeClr val="dk1"/>
              </a:solidFill>
              <a:latin typeface="Times New Roman"/>
              <a:ea typeface="Times New Roman"/>
              <a:cs typeface="Times New Roman"/>
              <a:sym typeface="Times New Roman"/>
            </a:endParaRPr>
          </a:p>
        </p:txBody>
      </p:sp>
      <p:sp>
        <p:nvSpPr>
          <p:cNvPr id="308" name="Google Shape;30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29</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 </a:t>
            </a:r>
            <a:endParaRPr/>
          </a:p>
        </p:txBody>
      </p:sp>
      <p:sp>
        <p:nvSpPr>
          <p:cNvPr id="314" name="Google Shape;314;p42"/>
          <p:cNvSpPr txBox="1">
            <a:spLocks noGrp="1"/>
          </p:cNvSpPr>
          <p:nvPr>
            <p:ph type="body" idx="1"/>
          </p:nvPr>
        </p:nvSpPr>
        <p:spPr>
          <a:xfrm>
            <a:off x="311700" y="1353325"/>
            <a:ext cx="8520600" cy="10863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315" name="Google Shape;315;p42"/>
          <p:cNvSpPr/>
          <p:nvPr/>
        </p:nvSpPr>
        <p:spPr>
          <a:xfrm>
            <a:off x="3987600" y="2357825"/>
            <a:ext cx="1168800" cy="11403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30</a:t>
            </a:fld>
            <a:endParaRPr/>
          </a:p>
        </p:txBody>
      </p:sp>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1258</Words>
  <Application>Microsoft Office PowerPoint</Application>
  <PresentationFormat>如螢幕大小 (16:9)</PresentationFormat>
  <Paragraphs>174</Paragraphs>
  <Slides>30</Slides>
  <Notes>30</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30</vt:i4>
      </vt:variant>
    </vt:vector>
  </HeadingPairs>
  <TitlesOfParts>
    <vt:vector size="33" baseType="lpstr">
      <vt:lpstr>Arial</vt:lpstr>
      <vt:lpstr>Times New Roman</vt:lpstr>
      <vt:lpstr>Simple Light</vt:lpstr>
      <vt:lpstr>Longest Increasing and Decreasing Subsequences</vt:lpstr>
      <vt:lpstr>Abstract</vt:lpstr>
      <vt:lpstr>Standard Young Tableau</vt:lpstr>
      <vt:lpstr>Standard Young Tableau (cont.)</vt:lpstr>
      <vt:lpstr>Standard Young Tableau (cont.)</vt:lpstr>
      <vt:lpstr>Standard Young Tableau (cont.)</vt:lpstr>
      <vt:lpstr>Standard Young Tableau (cont.)</vt:lpstr>
      <vt:lpstr>Standard Young Tableau (cont.)</vt:lpstr>
      <vt:lpstr>Standard Young Tableau (cont.)</vt:lpstr>
      <vt:lpstr>Standard Young Tableau (cont.)</vt:lpstr>
      <vt:lpstr>(x → S) ← y = x → (S ← y)</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(x → S) ← y = x → (S ← y) (cont.)</vt:lpstr>
      <vt:lpstr>　</vt:lpstr>
      <vt:lpstr>Example</vt:lpstr>
      <vt:lpstr>Sequences with Repeated Numbers</vt:lpstr>
      <vt:lpstr>Sequences with Repeated Numbers (cont.)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Increasing and Decreasing Subsequences</dc:title>
  <cp:lastModifiedBy>pplab</cp:lastModifiedBy>
  <cp:revision>1</cp:revision>
  <dcterms:modified xsi:type="dcterms:W3CDTF">2023-07-18T08:29:06Z</dcterms:modified>
</cp:coreProperties>
</file>