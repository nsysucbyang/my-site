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B1854F-1F2E-479B-B672-39A21517EE4A}">
  <a:tblStyle styleId="{59B1854F-1F2E-479B-B672-39A21517EE4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1059" autoAdjust="0"/>
  </p:normalViewPr>
  <p:slideViewPr>
    <p:cSldViewPr snapToGrid="0">
      <p:cViewPr varScale="1">
        <p:scale>
          <a:sx n="107" d="100"/>
          <a:sy n="107" d="100"/>
        </p:scale>
        <p:origin x="1734" y="9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23c4aa500d9_2_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23c4aa500d9_2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23c4f0191fc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23c4f0191fc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zh-TW" dirty="0"/>
              <a:t>100</a:t>
            </a:r>
            <a:r>
              <a:rPr lang="zh-TW" altLang="en-US" dirty="0"/>
              <a:t>人的錢包被放進</a:t>
            </a:r>
            <a:r>
              <a:rPr lang="en-US" altLang="zh-TW" dirty="0"/>
              <a:t>100</a:t>
            </a:r>
            <a:r>
              <a:rPr lang="zh-TW" altLang="en-US" dirty="0"/>
              <a:t>個櫃子裡，一個櫃子一個錢包。</a:t>
            </a:r>
          </a:p>
          <a:p>
            <a:pPr marL="0" lvl="0" indent="0" algn="l" rtl="0">
              <a:spcBef>
                <a:spcPts val="0"/>
              </a:spcBef>
              <a:spcAft>
                <a:spcPts val="0"/>
              </a:spcAft>
              <a:buNone/>
            </a:pPr>
            <a:r>
              <a:rPr lang="zh-TW" altLang="en-US" dirty="0"/>
              <a:t>在遊戲開始前可以討論，遊戲開始後不能交流。</a:t>
            </a:r>
          </a:p>
          <a:p>
            <a:pPr marL="0" lvl="0" indent="0" algn="l" rtl="0">
              <a:spcBef>
                <a:spcPts val="0"/>
              </a:spcBef>
              <a:spcAft>
                <a:spcPts val="0"/>
              </a:spcAft>
              <a:buNone/>
            </a:pPr>
            <a:r>
              <a:rPr lang="en-US" altLang="zh-TW" dirty="0"/>
              <a:t>100</a:t>
            </a:r>
            <a:r>
              <a:rPr lang="zh-TW" altLang="en-US" dirty="0"/>
              <a:t>個人依序進入，每個人可以檢查</a:t>
            </a:r>
            <a:r>
              <a:rPr lang="en-US" altLang="zh-TW" dirty="0"/>
              <a:t>50</a:t>
            </a:r>
            <a:r>
              <a:rPr lang="zh-TW" altLang="en-US" dirty="0"/>
              <a:t>個櫃子，離開前還原現場。</a:t>
            </a:r>
          </a:p>
          <a:p>
            <a:pPr marL="0" lvl="0" indent="0" algn="l" rtl="0">
              <a:spcBef>
                <a:spcPts val="0"/>
              </a:spcBef>
              <a:spcAft>
                <a:spcPts val="0"/>
              </a:spcAft>
              <a:buNone/>
            </a:pPr>
            <a:r>
              <a:rPr lang="zh-TW" altLang="en-US" dirty="0"/>
              <a:t>若所有人都找到自己的錢包，則成功。</a:t>
            </a:r>
          </a:p>
          <a:p>
            <a:pPr marL="0" lvl="0" indent="0" algn="l" rtl="0">
              <a:spcBef>
                <a:spcPts val="0"/>
              </a:spcBef>
              <a:spcAft>
                <a:spcPts val="0"/>
              </a:spcAft>
              <a:buNone/>
            </a:pPr>
            <a:r>
              <a:rPr lang="zh-TW" altLang="en-US"/>
              <a:t>若只要有人沒找到自己的錢包，則失敗。</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23c4f0191fc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23c4f0191fc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zh-TW" dirty="0"/>
              <a:t>100</a:t>
            </a:r>
            <a:r>
              <a:rPr lang="zh-TW" altLang="en-US" dirty="0"/>
              <a:t>人的錢包被放進</a:t>
            </a:r>
            <a:r>
              <a:rPr lang="en-US" altLang="zh-TW" dirty="0"/>
              <a:t>100</a:t>
            </a:r>
            <a:r>
              <a:rPr lang="zh-TW" altLang="en-US" dirty="0"/>
              <a:t>個櫃子裡，一個櫃子一個錢包。</a:t>
            </a:r>
            <a:endParaRPr lang="en-US" altLang="zh-TW" dirty="0"/>
          </a:p>
          <a:p>
            <a:pPr marL="0" lvl="0" indent="0" algn="l" rtl="0">
              <a:spcBef>
                <a:spcPts val="0"/>
              </a:spcBef>
              <a:spcAft>
                <a:spcPts val="0"/>
              </a:spcAft>
              <a:buNone/>
            </a:pPr>
            <a:r>
              <a:rPr lang="zh-TW" altLang="en-US" dirty="0"/>
              <a:t>在遊戲開始前可以討論，遊戲開始後不能交流。</a:t>
            </a:r>
            <a:endParaRPr lang="en-US" altLang="zh-TW" dirty="0"/>
          </a:p>
          <a:p>
            <a:pPr marL="0" lvl="0" indent="0" algn="l" rtl="0">
              <a:spcBef>
                <a:spcPts val="0"/>
              </a:spcBef>
              <a:spcAft>
                <a:spcPts val="0"/>
              </a:spcAft>
              <a:buNone/>
            </a:pPr>
            <a:r>
              <a:rPr lang="en-US" altLang="zh-TW" dirty="0"/>
              <a:t>100</a:t>
            </a:r>
            <a:r>
              <a:rPr lang="zh-TW" altLang="en-US" dirty="0"/>
              <a:t>個人依序進入，每個人可以檢查</a:t>
            </a:r>
            <a:r>
              <a:rPr lang="en-US" altLang="zh-TW" dirty="0"/>
              <a:t>50</a:t>
            </a:r>
            <a:r>
              <a:rPr lang="zh-TW" altLang="en-US" dirty="0"/>
              <a:t>個櫃子，離開前還原現場。</a:t>
            </a:r>
            <a:endParaRPr lang="en-US" altLang="zh-TW" dirty="0"/>
          </a:p>
          <a:p>
            <a:pPr marL="0" lvl="0" indent="0" algn="l" rtl="0">
              <a:spcBef>
                <a:spcPts val="0"/>
              </a:spcBef>
              <a:spcAft>
                <a:spcPts val="0"/>
              </a:spcAft>
              <a:buNone/>
            </a:pPr>
            <a:r>
              <a:rPr lang="zh-TW" altLang="en-US" dirty="0"/>
              <a:t>若所有人都找到自己的錢包，則成功。</a:t>
            </a:r>
            <a:endParaRPr lang="en-US" altLang="zh-TW" dirty="0"/>
          </a:p>
          <a:p>
            <a:pPr marL="0" lvl="0" indent="0" algn="l" rtl="0">
              <a:spcBef>
                <a:spcPts val="0"/>
              </a:spcBef>
              <a:spcAft>
                <a:spcPts val="0"/>
              </a:spcAft>
              <a:buNone/>
            </a:pPr>
            <a:r>
              <a:rPr lang="zh-TW" altLang="en-US" dirty="0"/>
              <a:t>若只要有人沒找到自己的錢包，則失敗。</a:t>
            </a: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23c4f0191fc_0_4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23c4f0191fc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23c4f0191fc_0_5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g23c4f0191fc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23c4aa500d9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23c4aa500d9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23c4f0191fc_1_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23c4f0191fc_1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23c4aa500d9_1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23c4aa500d9_1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23c4f0191fc_1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 name="Google Shape;104;g23c4f0191fc_1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23c4f0191fc_1_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23c4f0191fc_1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g23c4f0191fc_2_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 name="Google Shape;117;g23c4f0191fc_2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23c4f0191fc_2_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23c4f0191fc_2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t>５！是因為環狀排列：６！／６</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23c8077671d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23c8077671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23c8077671d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23c8077671d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23c8077671d_1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23c8077671d_1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23c8077671d_1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23c8077671d_1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t>ｌｎ是以ｅ為底</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23c4aa500d9_2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9" name="Google Shape;159;g23c4aa500d9_2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zh-TW"/>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zh-TW">
                <a:latin typeface="Times New Roman"/>
                <a:ea typeface="Times New Roman"/>
                <a:cs typeface="Times New Roman"/>
                <a:sym typeface="Times New Roman"/>
              </a:rPr>
              <a:t>The Locker Puzzle</a:t>
            </a:r>
            <a:endParaRPr>
              <a:latin typeface="Times New Roman"/>
              <a:ea typeface="Times New Roman"/>
              <a:cs typeface="Times New Roman"/>
              <a:sym typeface="Times New Roman"/>
            </a:endParaRPr>
          </a:p>
        </p:txBody>
      </p:sp>
      <p:sp>
        <p:nvSpPr>
          <p:cNvPr id="55" name="Google Shape;55;p13"/>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zh-TW" sz="2400">
                <a:solidFill>
                  <a:schemeClr val="dk1"/>
                </a:solidFill>
                <a:latin typeface="Times New Roman"/>
                <a:ea typeface="Times New Roman"/>
                <a:cs typeface="Times New Roman"/>
                <a:sym typeface="Times New Roman"/>
              </a:rPr>
              <a:t>Eugene Curtin, Max Warshauer</a:t>
            </a:r>
            <a:endParaRPr sz="2400">
              <a:solidFill>
                <a:schemeClr val="dk1"/>
              </a:solidFill>
              <a:latin typeface="Times New Roman"/>
              <a:ea typeface="Times New Roman"/>
              <a:cs typeface="Times New Roman"/>
              <a:sym typeface="Times New Roman"/>
            </a:endParaRPr>
          </a:p>
          <a:p>
            <a:pPr marL="0" lvl="0" indent="0" algn="ctr" rtl="0">
              <a:spcBef>
                <a:spcPts val="0"/>
              </a:spcBef>
              <a:spcAft>
                <a:spcPts val="0"/>
              </a:spcAft>
              <a:buClr>
                <a:schemeClr val="dk1"/>
              </a:buClr>
              <a:buSzPts val="1100"/>
              <a:buFont typeface="Arial"/>
              <a:buNone/>
            </a:pPr>
            <a:r>
              <a:rPr lang="zh-TW" sz="2400">
                <a:solidFill>
                  <a:schemeClr val="dk1"/>
                </a:solidFill>
                <a:latin typeface="Times New Roman"/>
                <a:ea typeface="Times New Roman"/>
                <a:cs typeface="Times New Roman"/>
                <a:sym typeface="Times New Roman"/>
              </a:rPr>
              <a:t>The Mathematical Intelligencer, Volume 28, Issue 1, December 2006, Pages 28-31</a:t>
            </a:r>
            <a:endParaRPr sz="2400">
              <a:solidFill>
                <a:schemeClr val="dk1"/>
              </a:solidFill>
              <a:latin typeface="Times New Roman"/>
              <a:ea typeface="Times New Roman"/>
              <a:cs typeface="Times New Roman"/>
              <a:sym typeface="Times New Roman"/>
            </a:endParaRPr>
          </a:p>
          <a:p>
            <a:pPr marL="0" lvl="0" indent="0" algn="ctr" rtl="0">
              <a:spcBef>
                <a:spcPts val="0"/>
              </a:spcBef>
              <a:spcAft>
                <a:spcPts val="0"/>
              </a:spcAft>
              <a:buNone/>
            </a:pPr>
            <a:endParaRPr sz="2400">
              <a:solidFill>
                <a:schemeClr val="dk1"/>
              </a:solidFill>
              <a:latin typeface="Times New Roman"/>
              <a:ea typeface="Times New Roman"/>
              <a:cs typeface="Times New Roman"/>
              <a:sym typeface="Times New Roman"/>
            </a:endParaRPr>
          </a:p>
        </p:txBody>
      </p:sp>
      <p:sp>
        <p:nvSpPr>
          <p:cNvPr id="56" name="Google Shape;56;p13"/>
          <p:cNvSpPr txBox="1"/>
          <p:nvPr/>
        </p:nvSpPr>
        <p:spPr>
          <a:xfrm>
            <a:off x="4914600" y="4220100"/>
            <a:ext cx="4229400" cy="9234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zh-TW" sz="2400">
                <a:solidFill>
                  <a:schemeClr val="dk1"/>
                </a:solidFill>
                <a:latin typeface="Times New Roman"/>
                <a:ea typeface="Times New Roman"/>
                <a:cs typeface="Times New Roman"/>
                <a:sym typeface="Times New Roman"/>
              </a:rPr>
              <a:t>Presenter: Guan-Jie Chen</a:t>
            </a:r>
            <a:endParaRPr sz="2400">
              <a:solidFill>
                <a:schemeClr val="dk1"/>
              </a:solidFill>
              <a:latin typeface="Times New Roman"/>
              <a:ea typeface="Times New Roman"/>
              <a:cs typeface="Times New Roman"/>
              <a:sym typeface="Times New Roman"/>
            </a:endParaRPr>
          </a:p>
          <a:p>
            <a:pPr marL="0" lvl="0" indent="0" algn="r" rtl="0">
              <a:spcBef>
                <a:spcPts val="0"/>
              </a:spcBef>
              <a:spcAft>
                <a:spcPts val="0"/>
              </a:spcAft>
              <a:buNone/>
            </a:pPr>
            <a:r>
              <a:rPr lang="zh-TW" sz="2400">
                <a:solidFill>
                  <a:schemeClr val="dk1"/>
                </a:solidFill>
                <a:latin typeface="Times New Roman"/>
                <a:ea typeface="Times New Roman"/>
                <a:cs typeface="Times New Roman"/>
                <a:sym typeface="Times New Roman"/>
              </a:rPr>
              <a:t>Date: May. 9, 2023</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zh-TW" sz="2500">
                <a:latin typeface="Times New Roman"/>
                <a:ea typeface="Times New Roman"/>
                <a:cs typeface="Times New Roman"/>
                <a:sym typeface="Times New Roman"/>
              </a:rPr>
              <a:t>Issue (1 / 2)</a:t>
            </a:r>
            <a:endParaRPr sz="2500">
              <a:latin typeface="Times New Roman"/>
              <a:ea typeface="Times New Roman"/>
              <a:cs typeface="Times New Roman"/>
              <a:sym typeface="Times New Roman"/>
            </a:endParaRPr>
          </a:p>
        </p:txBody>
      </p:sp>
      <p:sp>
        <p:nvSpPr>
          <p:cNvPr id="62" name="Google Shape;62;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zh-TW" sz="2400">
                <a:solidFill>
                  <a:schemeClr val="dk1"/>
                </a:solidFill>
                <a:latin typeface="Times New Roman"/>
                <a:ea typeface="Times New Roman"/>
                <a:cs typeface="Times New Roman"/>
                <a:sym typeface="Times New Roman"/>
              </a:rPr>
              <a:t>Suppose I take the wallets from you and ninety-nine of your closest friends. We play the following game with them: I randomly place the wallets inside one hundred lockers in a locker room, one wallet in each locker, and then I let you and your friends inside, one at a time. Each of you is allowed to open and look inside of up to fifty of the lockers. You may inspect the wallets you find there, even checking the driver's license to see whose it is, in an attempt to find your wallet.</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zh-TW" sz="2500">
                <a:latin typeface="Times New Roman"/>
                <a:ea typeface="Times New Roman"/>
                <a:cs typeface="Times New Roman"/>
                <a:sym typeface="Times New Roman"/>
              </a:rPr>
              <a:t>Issue (2 / 2)</a:t>
            </a:r>
            <a:endParaRPr sz="2500">
              <a:latin typeface="Times New Roman"/>
              <a:ea typeface="Times New Roman"/>
              <a:cs typeface="Times New Roman"/>
              <a:sym typeface="Times New Roman"/>
            </a:endParaRPr>
          </a:p>
        </p:txBody>
      </p:sp>
      <p:sp>
        <p:nvSpPr>
          <p:cNvPr id="68" name="Google Shape;68;p1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zh-TW" sz="2400">
                <a:solidFill>
                  <a:schemeClr val="dk1"/>
                </a:solidFill>
                <a:latin typeface="Times New Roman"/>
                <a:ea typeface="Times New Roman"/>
                <a:cs typeface="Times New Roman"/>
                <a:sym typeface="Times New Roman"/>
              </a:rPr>
              <a:t>Whether you succeed or not, you leave all hundred wallets exactly where you found them, and leave all hundred lockers closed, just as they were when you entered the room. You exit through a different door, and never communicate in any way with the other people waiting to enter the room. Your team of 100 players wins only if every team member finds his or her own wallet. If you discuss your strategy beforehand, can you win with a probability that isn't vanishingly small?</a:t>
            </a:r>
            <a:endParaRPr sz="2400">
              <a:solidFill>
                <a:schemeClr val="dk1"/>
              </a:solidFill>
              <a:latin typeface="Times New Roman"/>
              <a:ea typeface="Times New Roman"/>
              <a:cs typeface="Times New Roman"/>
              <a:sym typeface="Times New Roman"/>
            </a:endParaRPr>
          </a:p>
          <a:p>
            <a:pPr marL="0" lvl="0" indent="0" algn="l" rtl="0">
              <a:spcBef>
                <a:spcPts val="1200"/>
              </a:spcBef>
              <a:spcAft>
                <a:spcPts val="1200"/>
              </a:spcAft>
              <a:buNone/>
            </a:pP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zh-TW" sz="2500">
                <a:latin typeface="Times New Roman"/>
                <a:ea typeface="Times New Roman"/>
                <a:cs typeface="Times New Roman"/>
                <a:sym typeface="Times New Roman"/>
              </a:rPr>
              <a:t>Probability of Success with Random Guessing</a:t>
            </a:r>
            <a:endParaRPr sz="2500">
              <a:latin typeface="Times New Roman"/>
              <a:ea typeface="Times New Roman"/>
              <a:cs typeface="Times New Roman"/>
              <a:sym typeface="Times New Roman"/>
            </a:endParaRPr>
          </a:p>
        </p:txBody>
      </p:sp>
      <p:sp>
        <p:nvSpPr>
          <p:cNvPr id="74" name="Google Shape;74;p1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zh-TW"/>
              <a:t> </a:t>
            </a:r>
            <a:endParaRPr/>
          </a:p>
        </p:txBody>
      </p:sp>
      <p:pic>
        <p:nvPicPr>
          <p:cNvPr id="75" name="Google Shape;75;p16"/>
          <p:cNvPicPr preferRelativeResize="0"/>
          <p:nvPr/>
        </p:nvPicPr>
        <p:blipFill>
          <a:blip r:embed="rId3">
            <a:alphaModFix/>
          </a:blip>
          <a:stretch>
            <a:fillRect/>
          </a:stretch>
        </p:blipFill>
        <p:spPr>
          <a:xfrm>
            <a:off x="3700463" y="2162175"/>
            <a:ext cx="1743075" cy="8191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p>
            <a:pPr marL="0" marR="38100" lvl="0" indent="0" algn="l" rtl="0">
              <a:lnSpc>
                <a:spcPct val="128571"/>
              </a:lnSpc>
              <a:spcBef>
                <a:spcPts val="0"/>
              </a:spcBef>
              <a:spcAft>
                <a:spcPts val="0"/>
              </a:spcAft>
              <a:buNone/>
            </a:pPr>
            <a:r>
              <a:rPr lang="zh-TW" sz="2500">
                <a:latin typeface="Times New Roman"/>
                <a:ea typeface="Times New Roman"/>
                <a:cs typeface="Times New Roman"/>
                <a:sym typeface="Times New Roman"/>
              </a:rPr>
              <a:t>Predigestion</a:t>
            </a:r>
            <a:endParaRPr sz="2500">
              <a:latin typeface="Times New Roman"/>
              <a:ea typeface="Times New Roman"/>
              <a:cs typeface="Times New Roman"/>
              <a:sym typeface="Times New Roman"/>
            </a:endParaRPr>
          </a:p>
        </p:txBody>
      </p:sp>
      <p:sp>
        <p:nvSpPr>
          <p:cNvPr id="81" name="Google Shape;81;p1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81000" algn="l" rtl="0">
              <a:spcBef>
                <a:spcPts val="0"/>
              </a:spcBef>
              <a:spcAft>
                <a:spcPts val="0"/>
              </a:spcAft>
              <a:buClr>
                <a:schemeClr val="dk1"/>
              </a:buClr>
              <a:buSzPts val="2400"/>
              <a:buFont typeface="Times New Roman"/>
              <a:buChar char="-"/>
            </a:pPr>
            <a:r>
              <a:rPr lang="zh-TW" sz="2400">
                <a:solidFill>
                  <a:schemeClr val="dk1"/>
                </a:solidFill>
                <a:latin typeface="Times New Roman"/>
                <a:ea typeface="Times New Roman"/>
                <a:cs typeface="Times New Roman"/>
                <a:sym typeface="Times New Roman"/>
              </a:rPr>
              <a:t>10 players, each one can examine 5 out of 10 lockers</a:t>
            </a:r>
            <a:endParaRPr sz="2400">
              <a:solidFill>
                <a:schemeClr val="dk1"/>
              </a:solidFill>
              <a:latin typeface="Times New Roman"/>
              <a:ea typeface="Times New Roman"/>
              <a:cs typeface="Times New Roman"/>
              <a:sym typeface="Times New Roman"/>
            </a:endParaRPr>
          </a:p>
          <a:p>
            <a:pPr marL="457200" lvl="0" indent="-381000" algn="l" rtl="0">
              <a:spcBef>
                <a:spcPts val="0"/>
              </a:spcBef>
              <a:spcAft>
                <a:spcPts val="0"/>
              </a:spcAft>
              <a:buClr>
                <a:schemeClr val="dk1"/>
              </a:buClr>
              <a:buSzPts val="2400"/>
              <a:buFont typeface="Times New Roman"/>
              <a:buChar char="-"/>
            </a:pPr>
            <a:r>
              <a:rPr lang="zh-TW" sz="2400">
                <a:solidFill>
                  <a:schemeClr val="dk1"/>
                </a:solidFill>
                <a:latin typeface="Times New Roman"/>
                <a:ea typeface="Times New Roman"/>
                <a:cs typeface="Times New Roman"/>
                <a:sym typeface="Times New Roman"/>
              </a:rPr>
              <a:t>wallet ⇀ number</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zh-TW" sz="2500">
                <a:latin typeface="Times New Roman"/>
                <a:ea typeface="Times New Roman"/>
                <a:cs typeface="Times New Roman"/>
                <a:sym typeface="Times New Roman"/>
              </a:rPr>
              <a:t>Probability of Success with Random Guessing</a:t>
            </a:r>
            <a:endParaRPr sz="2500">
              <a:latin typeface="Times New Roman"/>
              <a:ea typeface="Times New Roman"/>
              <a:cs typeface="Times New Roman"/>
              <a:sym typeface="Times New Roman"/>
            </a:endParaRPr>
          </a:p>
        </p:txBody>
      </p:sp>
      <p:sp>
        <p:nvSpPr>
          <p:cNvPr id="87" name="Google Shape;87;p1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zh-TW"/>
              <a:t> </a:t>
            </a:r>
            <a:endParaRPr/>
          </a:p>
        </p:txBody>
      </p:sp>
      <p:pic>
        <p:nvPicPr>
          <p:cNvPr id="88" name="Google Shape;88;p18"/>
          <p:cNvPicPr preferRelativeResize="0"/>
          <p:nvPr/>
        </p:nvPicPr>
        <p:blipFill>
          <a:blip r:embed="rId3">
            <a:alphaModFix/>
          </a:blip>
          <a:stretch>
            <a:fillRect/>
          </a:stretch>
        </p:blipFill>
        <p:spPr>
          <a:xfrm>
            <a:off x="3211438" y="2184800"/>
            <a:ext cx="2721125" cy="7739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zh-TW" sz="2500">
                <a:latin typeface="Times New Roman"/>
                <a:ea typeface="Times New Roman"/>
                <a:cs typeface="Times New Roman"/>
                <a:sym typeface="Times New Roman"/>
              </a:rPr>
              <a:t>Improvement</a:t>
            </a:r>
            <a:endParaRPr sz="2500">
              <a:latin typeface="Times New Roman"/>
              <a:ea typeface="Times New Roman"/>
              <a:cs typeface="Times New Roman"/>
              <a:sym typeface="Times New Roman"/>
            </a:endParaRPr>
          </a:p>
        </p:txBody>
      </p:sp>
      <p:sp>
        <p:nvSpPr>
          <p:cNvPr id="94" name="Google Shape;94;p1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81000" algn="l" rtl="0">
              <a:spcBef>
                <a:spcPts val="0"/>
              </a:spcBef>
              <a:spcAft>
                <a:spcPts val="0"/>
              </a:spcAft>
              <a:buClr>
                <a:schemeClr val="dk1"/>
              </a:buClr>
              <a:buSzPts val="2400"/>
              <a:buFont typeface="Times New Roman"/>
              <a:buChar char="-"/>
            </a:pPr>
            <a:r>
              <a:rPr lang="zh-TW" sz="2400">
                <a:solidFill>
                  <a:schemeClr val="dk1"/>
                </a:solidFill>
                <a:latin typeface="Times New Roman"/>
                <a:ea typeface="Times New Roman"/>
                <a:cs typeface="Times New Roman"/>
                <a:sym typeface="Times New Roman"/>
              </a:rPr>
              <a:t>Players 1-5 examine lockers 1-5</a:t>
            </a:r>
            <a:endParaRPr sz="2400">
              <a:solidFill>
                <a:schemeClr val="dk1"/>
              </a:solidFill>
              <a:latin typeface="Times New Roman"/>
              <a:ea typeface="Times New Roman"/>
              <a:cs typeface="Times New Roman"/>
              <a:sym typeface="Times New Roman"/>
            </a:endParaRPr>
          </a:p>
          <a:p>
            <a:pPr marL="457200" lvl="0" indent="-381000" algn="l" rtl="0">
              <a:spcBef>
                <a:spcPts val="0"/>
              </a:spcBef>
              <a:spcAft>
                <a:spcPts val="0"/>
              </a:spcAft>
              <a:buClr>
                <a:schemeClr val="dk1"/>
              </a:buClr>
              <a:buSzPts val="2400"/>
              <a:buFont typeface="Times New Roman"/>
              <a:buChar char="-"/>
            </a:pPr>
            <a:r>
              <a:rPr lang="zh-TW" sz="2400">
                <a:solidFill>
                  <a:schemeClr val="dk1"/>
                </a:solidFill>
                <a:latin typeface="Times New Roman"/>
                <a:ea typeface="Times New Roman"/>
                <a:cs typeface="Times New Roman"/>
                <a:sym typeface="Times New Roman"/>
              </a:rPr>
              <a:t>Players 6-10 examine lockers 6-10</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zh-TW" sz="2500">
                <a:latin typeface="Times New Roman"/>
                <a:ea typeface="Times New Roman"/>
                <a:cs typeface="Times New Roman"/>
                <a:sym typeface="Times New Roman"/>
              </a:rPr>
              <a:t>Probability of Success with Improvement</a:t>
            </a:r>
            <a:endParaRPr sz="2500">
              <a:latin typeface="Times New Roman"/>
              <a:ea typeface="Times New Roman"/>
              <a:cs typeface="Times New Roman"/>
              <a:sym typeface="Times New Roman"/>
            </a:endParaRPr>
          </a:p>
        </p:txBody>
      </p:sp>
      <p:sp>
        <p:nvSpPr>
          <p:cNvPr id="100" name="Google Shape;100;p2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zh-TW"/>
              <a:t> </a:t>
            </a:r>
            <a:endParaRPr/>
          </a:p>
        </p:txBody>
      </p:sp>
      <p:pic>
        <p:nvPicPr>
          <p:cNvPr id="101" name="Google Shape;101;p20"/>
          <p:cNvPicPr preferRelativeResize="0"/>
          <p:nvPr/>
        </p:nvPicPr>
        <p:blipFill>
          <a:blip r:embed="rId3">
            <a:alphaModFix/>
          </a:blip>
          <a:stretch>
            <a:fillRect/>
          </a:stretch>
        </p:blipFill>
        <p:spPr>
          <a:xfrm>
            <a:off x="2533650" y="2024063"/>
            <a:ext cx="4076700" cy="10953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2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zh-TW" sz="2500">
                <a:latin typeface="Times New Roman"/>
                <a:ea typeface="Times New Roman"/>
                <a:cs typeface="Times New Roman"/>
                <a:sym typeface="Times New Roman"/>
              </a:rPr>
              <a:t>Strategy</a:t>
            </a:r>
            <a:endParaRPr sz="2500">
              <a:latin typeface="Times New Roman"/>
              <a:ea typeface="Times New Roman"/>
              <a:cs typeface="Times New Roman"/>
              <a:sym typeface="Times New Roman"/>
            </a:endParaRPr>
          </a:p>
        </p:txBody>
      </p:sp>
      <p:sp>
        <p:nvSpPr>
          <p:cNvPr id="107" name="Google Shape;107;p2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sz="2400">
                <a:solidFill>
                  <a:schemeClr val="dk1"/>
                </a:solidFill>
                <a:latin typeface="Times New Roman"/>
                <a:ea typeface="Times New Roman"/>
                <a:cs typeface="Times New Roman"/>
                <a:sym typeface="Times New Roman"/>
              </a:rPr>
              <a:t>Player </a:t>
            </a:r>
            <a:r>
              <a:rPr lang="zh-TW" sz="2400">
                <a:solidFill>
                  <a:schemeClr val="accent1"/>
                </a:solidFill>
                <a:latin typeface="Times New Roman"/>
                <a:ea typeface="Times New Roman"/>
                <a:cs typeface="Times New Roman"/>
                <a:sym typeface="Times New Roman"/>
              </a:rPr>
              <a:t>i</a:t>
            </a:r>
            <a:r>
              <a:rPr lang="zh-TW" sz="2400">
                <a:solidFill>
                  <a:schemeClr val="dk1"/>
                </a:solidFill>
                <a:latin typeface="Times New Roman"/>
                <a:ea typeface="Times New Roman"/>
                <a:cs typeface="Times New Roman"/>
                <a:sym typeface="Times New Roman"/>
              </a:rPr>
              <a:t> opens locker </a:t>
            </a:r>
            <a:r>
              <a:rPr lang="zh-TW" sz="2400">
                <a:solidFill>
                  <a:schemeClr val="accent4"/>
                </a:solidFill>
                <a:latin typeface="Times New Roman"/>
                <a:ea typeface="Times New Roman"/>
                <a:cs typeface="Times New Roman"/>
                <a:sym typeface="Times New Roman"/>
              </a:rPr>
              <a:t>i</a:t>
            </a:r>
            <a:r>
              <a:rPr lang="zh-TW" sz="2400">
                <a:solidFill>
                  <a:schemeClr val="dk1"/>
                </a:solidFill>
                <a:latin typeface="Times New Roman"/>
                <a:ea typeface="Times New Roman"/>
                <a:cs typeface="Times New Roman"/>
                <a:sym typeface="Times New Roman"/>
              </a:rPr>
              <a:t> first</a:t>
            </a:r>
            <a:endParaRPr sz="2400">
              <a:solidFill>
                <a:schemeClr val="dk1"/>
              </a:solidFill>
              <a:latin typeface="Times New Roman"/>
              <a:ea typeface="Times New Roman"/>
              <a:cs typeface="Times New Roman"/>
              <a:sym typeface="Times New Roman"/>
            </a:endParaRPr>
          </a:p>
          <a:p>
            <a:pPr marL="457200" lvl="0" indent="-381000" algn="l" rtl="0">
              <a:spcBef>
                <a:spcPts val="1200"/>
              </a:spcBef>
              <a:spcAft>
                <a:spcPts val="0"/>
              </a:spcAft>
              <a:buClr>
                <a:schemeClr val="dk1"/>
              </a:buClr>
              <a:buSzPts val="2400"/>
              <a:buFont typeface="Times New Roman"/>
              <a:buChar char="-"/>
            </a:pPr>
            <a:r>
              <a:rPr lang="zh-TW" sz="2400">
                <a:solidFill>
                  <a:schemeClr val="dk1"/>
                </a:solidFill>
                <a:latin typeface="Times New Roman"/>
                <a:ea typeface="Times New Roman"/>
                <a:cs typeface="Times New Roman"/>
                <a:sym typeface="Times New Roman"/>
              </a:rPr>
              <a:t>finds number </a:t>
            </a:r>
            <a:r>
              <a:rPr lang="zh-TW" sz="2400">
                <a:solidFill>
                  <a:srgbClr val="FF0000"/>
                </a:solidFill>
                <a:latin typeface="Times New Roman"/>
                <a:ea typeface="Times New Roman"/>
                <a:cs typeface="Times New Roman"/>
                <a:sym typeface="Times New Roman"/>
              </a:rPr>
              <a:t>i</a:t>
            </a:r>
            <a:r>
              <a:rPr lang="zh-TW" sz="2400">
                <a:solidFill>
                  <a:schemeClr val="dk1"/>
                </a:solidFill>
                <a:latin typeface="Times New Roman"/>
                <a:ea typeface="Times New Roman"/>
                <a:cs typeface="Times New Roman"/>
                <a:sym typeface="Times New Roman"/>
              </a:rPr>
              <a:t> in locker </a:t>
            </a:r>
            <a:r>
              <a:rPr lang="zh-TW" sz="2400">
                <a:solidFill>
                  <a:schemeClr val="accent4"/>
                </a:solidFill>
                <a:latin typeface="Times New Roman"/>
                <a:ea typeface="Times New Roman"/>
                <a:cs typeface="Times New Roman"/>
                <a:sym typeface="Times New Roman"/>
              </a:rPr>
              <a:t>i</a:t>
            </a:r>
            <a:r>
              <a:rPr lang="zh-TW" sz="2400">
                <a:solidFill>
                  <a:schemeClr val="dk1"/>
                </a:solidFill>
                <a:latin typeface="Times New Roman"/>
                <a:ea typeface="Times New Roman"/>
                <a:cs typeface="Times New Roman"/>
                <a:sym typeface="Times New Roman"/>
              </a:rPr>
              <a:t>, </a:t>
            </a:r>
            <a:r>
              <a:rPr lang="zh-TW" sz="2400">
                <a:solidFill>
                  <a:srgbClr val="FF0000"/>
                </a:solidFill>
                <a:latin typeface="Times New Roman"/>
                <a:ea typeface="Times New Roman"/>
                <a:cs typeface="Times New Roman"/>
                <a:sym typeface="Times New Roman"/>
              </a:rPr>
              <a:t>i</a:t>
            </a:r>
            <a:r>
              <a:rPr lang="zh-TW" sz="2400">
                <a:solidFill>
                  <a:schemeClr val="dk1"/>
                </a:solidFill>
                <a:latin typeface="Times New Roman"/>
                <a:ea typeface="Times New Roman"/>
                <a:cs typeface="Times New Roman"/>
                <a:sym typeface="Times New Roman"/>
              </a:rPr>
              <a:t> = </a:t>
            </a:r>
            <a:r>
              <a:rPr lang="zh-TW" sz="2400">
                <a:solidFill>
                  <a:schemeClr val="accent1"/>
                </a:solidFill>
                <a:latin typeface="Times New Roman"/>
                <a:ea typeface="Times New Roman"/>
                <a:cs typeface="Times New Roman"/>
                <a:sym typeface="Times New Roman"/>
              </a:rPr>
              <a:t>i</a:t>
            </a:r>
            <a:r>
              <a:rPr lang="zh-TW" sz="2400">
                <a:solidFill>
                  <a:schemeClr val="dk1"/>
                </a:solidFill>
                <a:latin typeface="Times New Roman"/>
                <a:ea typeface="Times New Roman"/>
                <a:cs typeface="Times New Roman"/>
                <a:sym typeface="Times New Roman"/>
              </a:rPr>
              <a:t>, success</a:t>
            </a:r>
            <a:endParaRPr sz="2400">
              <a:solidFill>
                <a:schemeClr val="dk1"/>
              </a:solidFill>
              <a:latin typeface="Times New Roman"/>
              <a:ea typeface="Times New Roman"/>
              <a:cs typeface="Times New Roman"/>
              <a:sym typeface="Times New Roman"/>
            </a:endParaRPr>
          </a:p>
          <a:p>
            <a:pPr marL="457200" lvl="0" indent="-381000" algn="l" rtl="0">
              <a:spcBef>
                <a:spcPts val="0"/>
              </a:spcBef>
              <a:spcAft>
                <a:spcPts val="0"/>
              </a:spcAft>
              <a:buClr>
                <a:schemeClr val="dk1"/>
              </a:buClr>
              <a:buSzPts val="2400"/>
              <a:buFont typeface="Times New Roman"/>
              <a:buChar char="-"/>
            </a:pPr>
            <a:r>
              <a:rPr lang="zh-TW" sz="2400">
                <a:solidFill>
                  <a:schemeClr val="dk1"/>
                </a:solidFill>
                <a:latin typeface="Times New Roman"/>
                <a:ea typeface="Times New Roman"/>
                <a:cs typeface="Times New Roman"/>
                <a:sym typeface="Times New Roman"/>
              </a:rPr>
              <a:t>finds number </a:t>
            </a:r>
            <a:r>
              <a:rPr lang="zh-TW" sz="2400">
                <a:solidFill>
                  <a:srgbClr val="FF0000"/>
                </a:solidFill>
                <a:latin typeface="Times New Roman"/>
                <a:ea typeface="Times New Roman"/>
                <a:cs typeface="Times New Roman"/>
                <a:sym typeface="Times New Roman"/>
              </a:rPr>
              <a:t>k</a:t>
            </a:r>
            <a:r>
              <a:rPr lang="zh-TW" sz="2400">
                <a:solidFill>
                  <a:schemeClr val="dk1"/>
                </a:solidFill>
                <a:latin typeface="Times New Roman"/>
                <a:ea typeface="Times New Roman"/>
                <a:cs typeface="Times New Roman"/>
                <a:sym typeface="Times New Roman"/>
              </a:rPr>
              <a:t> in locker </a:t>
            </a:r>
            <a:r>
              <a:rPr lang="zh-TW" sz="2400">
                <a:solidFill>
                  <a:schemeClr val="accent4"/>
                </a:solidFill>
                <a:latin typeface="Times New Roman"/>
                <a:ea typeface="Times New Roman"/>
                <a:cs typeface="Times New Roman"/>
                <a:sym typeface="Times New Roman"/>
              </a:rPr>
              <a:t>i</a:t>
            </a:r>
            <a:r>
              <a:rPr lang="zh-TW" sz="2400">
                <a:solidFill>
                  <a:schemeClr val="dk1"/>
                </a:solidFill>
                <a:latin typeface="Times New Roman"/>
                <a:ea typeface="Times New Roman"/>
                <a:cs typeface="Times New Roman"/>
                <a:sym typeface="Times New Roman"/>
              </a:rPr>
              <a:t>, </a:t>
            </a:r>
            <a:r>
              <a:rPr lang="zh-TW" sz="2400">
                <a:solidFill>
                  <a:srgbClr val="FF0000"/>
                </a:solidFill>
                <a:latin typeface="Times New Roman"/>
                <a:ea typeface="Times New Roman"/>
                <a:cs typeface="Times New Roman"/>
                <a:sym typeface="Times New Roman"/>
              </a:rPr>
              <a:t>k</a:t>
            </a:r>
            <a:r>
              <a:rPr lang="zh-TW" sz="2400">
                <a:solidFill>
                  <a:schemeClr val="dk1"/>
                </a:solidFill>
                <a:latin typeface="Times New Roman"/>
                <a:ea typeface="Times New Roman"/>
                <a:cs typeface="Times New Roman"/>
                <a:sym typeface="Times New Roman"/>
              </a:rPr>
              <a:t> ≠ </a:t>
            </a:r>
            <a:r>
              <a:rPr lang="zh-TW" sz="2400">
                <a:solidFill>
                  <a:schemeClr val="accent1"/>
                </a:solidFill>
                <a:latin typeface="Times New Roman"/>
                <a:ea typeface="Times New Roman"/>
                <a:cs typeface="Times New Roman"/>
                <a:sym typeface="Times New Roman"/>
              </a:rPr>
              <a:t>i</a:t>
            </a:r>
            <a:endParaRPr sz="2400">
              <a:solidFill>
                <a:schemeClr val="dk1"/>
              </a:solidFill>
              <a:latin typeface="Times New Roman"/>
              <a:ea typeface="Times New Roman"/>
              <a:cs typeface="Times New Roman"/>
              <a:sym typeface="Times New Roman"/>
            </a:endParaRPr>
          </a:p>
          <a:p>
            <a:pPr marL="457200" lvl="0" indent="0" algn="l" rtl="0">
              <a:spcBef>
                <a:spcPts val="1200"/>
              </a:spcBef>
              <a:spcAft>
                <a:spcPts val="1200"/>
              </a:spcAft>
              <a:buNone/>
            </a:pPr>
            <a:r>
              <a:rPr lang="zh-TW" sz="2400">
                <a:solidFill>
                  <a:schemeClr val="dk1"/>
                </a:solidFill>
                <a:latin typeface="Times New Roman"/>
                <a:ea typeface="Times New Roman"/>
                <a:cs typeface="Times New Roman"/>
                <a:sym typeface="Times New Roman"/>
              </a:rPr>
              <a:t>then opens locker </a:t>
            </a:r>
            <a:r>
              <a:rPr lang="zh-TW" sz="2400">
                <a:solidFill>
                  <a:schemeClr val="accent4"/>
                </a:solidFill>
                <a:latin typeface="Times New Roman"/>
                <a:ea typeface="Times New Roman"/>
                <a:cs typeface="Times New Roman"/>
                <a:sym typeface="Times New Roman"/>
              </a:rPr>
              <a:t>k</a:t>
            </a:r>
            <a:r>
              <a:rPr lang="zh-TW" sz="2400">
                <a:solidFill>
                  <a:schemeClr val="dk1"/>
                </a:solidFill>
                <a:latin typeface="Times New Roman"/>
                <a:ea typeface="Times New Roman"/>
                <a:cs typeface="Times New Roman"/>
                <a:sym typeface="Times New Roman"/>
              </a:rPr>
              <a:t> &amp; checks whether the number in locker </a:t>
            </a:r>
            <a:r>
              <a:rPr lang="zh-TW" sz="2400">
                <a:solidFill>
                  <a:schemeClr val="accent4"/>
                </a:solidFill>
                <a:latin typeface="Times New Roman"/>
                <a:ea typeface="Times New Roman"/>
                <a:cs typeface="Times New Roman"/>
                <a:sym typeface="Times New Roman"/>
              </a:rPr>
              <a:t>k</a:t>
            </a:r>
            <a:r>
              <a:rPr lang="zh-TW" sz="2400">
                <a:solidFill>
                  <a:schemeClr val="dk1"/>
                </a:solidFill>
                <a:latin typeface="Times New Roman"/>
                <a:ea typeface="Times New Roman"/>
                <a:cs typeface="Times New Roman"/>
                <a:sym typeface="Times New Roman"/>
              </a:rPr>
              <a:t> is equal to </a:t>
            </a:r>
            <a:r>
              <a:rPr lang="zh-TW" sz="2400">
                <a:solidFill>
                  <a:schemeClr val="accent1"/>
                </a:solidFill>
                <a:latin typeface="Times New Roman"/>
                <a:ea typeface="Times New Roman"/>
                <a:cs typeface="Times New Roman"/>
                <a:sym typeface="Times New Roman"/>
              </a:rPr>
              <a:t>i</a:t>
            </a:r>
            <a:r>
              <a:rPr lang="zh-TW" sz="2400">
                <a:solidFill>
                  <a:schemeClr val="dk1"/>
                </a:solidFill>
                <a:latin typeface="Times New Roman"/>
                <a:ea typeface="Times New Roman"/>
                <a:cs typeface="Times New Roman"/>
                <a:sym typeface="Times New Roman"/>
              </a:rPr>
              <a:t>, recursively</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2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zh-TW" sz="2500">
                <a:latin typeface="Times New Roman"/>
                <a:ea typeface="Times New Roman"/>
                <a:cs typeface="Times New Roman"/>
                <a:sym typeface="Times New Roman"/>
              </a:rPr>
              <a:t>Example (1 / 2)</a:t>
            </a:r>
            <a:endParaRPr sz="2500">
              <a:latin typeface="Times New Roman"/>
              <a:ea typeface="Times New Roman"/>
              <a:cs typeface="Times New Roman"/>
              <a:sym typeface="Times New Roman"/>
            </a:endParaRPr>
          </a:p>
        </p:txBody>
      </p:sp>
      <p:sp>
        <p:nvSpPr>
          <p:cNvPr id="113" name="Google Shape;113;p2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zh-TW" sz="2400">
                <a:solidFill>
                  <a:schemeClr val="dk1"/>
                </a:solidFill>
                <a:latin typeface="Times New Roman"/>
                <a:ea typeface="Times New Roman"/>
                <a:cs typeface="Times New Roman"/>
                <a:sym typeface="Times New Roman"/>
              </a:rPr>
              <a:t>6, 8, 9, 7, 2, 4, 1, 5, 10, 3</a:t>
            </a:r>
            <a:endParaRPr sz="2400">
              <a:solidFill>
                <a:schemeClr val="dk1"/>
              </a:solidFill>
              <a:latin typeface="Times New Roman"/>
              <a:ea typeface="Times New Roman"/>
              <a:cs typeface="Times New Roman"/>
              <a:sym typeface="Times New Roman"/>
            </a:endParaRPr>
          </a:p>
          <a:p>
            <a:pPr marL="0" lvl="0" indent="0" algn="l" rtl="0">
              <a:spcBef>
                <a:spcPts val="1200"/>
              </a:spcBef>
              <a:spcAft>
                <a:spcPts val="0"/>
              </a:spcAft>
              <a:buNone/>
            </a:pPr>
            <a:endParaRPr sz="2400">
              <a:solidFill>
                <a:schemeClr val="dk1"/>
              </a:solidFill>
              <a:latin typeface="Times New Roman"/>
              <a:ea typeface="Times New Roman"/>
              <a:cs typeface="Times New Roman"/>
              <a:sym typeface="Times New Roman"/>
            </a:endParaRPr>
          </a:p>
          <a:p>
            <a:pPr marL="0" lvl="0" indent="0" algn="l" rtl="0">
              <a:spcBef>
                <a:spcPts val="1200"/>
              </a:spcBef>
              <a:spcAft>
                <a:spcPts val="0"/>
              </a:spcAft>
              <a:buNone/>
            </a:pPr>
            <a:endParaRPr sz="2400">
              <a:solidFill>
                <a:schemeClr val="dk1"/>
              </a:solidFill>
              <a:latin typeface="Times New Roman"/>
              <a:ea typeface="Times New Roman"/>
              <a:cs typeface="Times New Roman"/>
              <a:sym typeface="Times New Roman"/>
            </a:endParaRPr>
          </a:p>
          <a:p>
            <a:pPr marL="0" lvl="0" indent="0" algn="l" rtl="0">
              <a:spcBef>
                <a:spcPts val="1200"/>
              </a:spcBef>
              <a:spcAft>
                <a:spcPts val="0"/>
              </a:spcAft>
              <a:buNone/>
            </a:pPr>
            <a:endParaRPr sz="2400">
              <a:solidFill>
                <a:schemeClr val="dk1"/>
              </a:solidFill>
              <a:latin typeface="Times New Roman"/>
              <a:ea typeface="Times New Roman"/>
              <a:cs typeface="Times New Roman"/>
              <a:sym typeface="Times New Roman"/>
            </a:endParaRPr>
          </a:p>
          <a:p>
            <a:pPr marL="0" lvl="0" indent="0" algn="l" rtl="0">
              <a:spcBef>
                <a:spcPts val="1200"/>
              </a:spcBef>
              <a:spcAft>
                <a:spcPts val="0"/>
              </a:spcAft>
              <a:buNone/>
            </a:pPr>
            <a:r>
              <a:rPr lang="zh-TW" sz="2400">
                <a:solidFill>
                  <a:schemeClr val="dk1"/>
                </a:solidFill>
                <a:latin typeface="Times New Roman"/>
                <a:ea typeface="Times New Roman"/>
                <a:cs typeface="Times New Roman"/>
                <a:sym typeface="Times New Roman"/>
              </a:rPr>
              <a:t>Player 4, player 6, player 7 are in the same cyclic order (4 tries)</a:t>
            </a:r>
            <a:endParaRPr sz="2400">
              <a:solidFill>
                <a:schemeClr val="dk1"/>
              </a:solidFill>
              <a:latin typeface="Times New Roman"/>
              <a:ea typeface="Times New Roman"/>
              <a:cs typeface="Times New Roman"/>
              <a:sym typeface="Times New Roman"/>
            </a:endParaRPr>
          </a:p>
          <a:p>
            <a:pPr marL="0" lvl="0" indent="0" algn="l" rtl="0">
              <a:spcBef>
                <a:spcPts val="1200"/>
              </a:spcBef>
              <a:spcAft>
                <a:spcPts val="1200"/>
              </a:spcAft>
              <a:buNone/>
            </a:pPr>
            <a:r>
              <a:rPr lang="zh-TW" sz="2400">
                <a:solidFill>
                  <a:schemeClr val="dk1"/>
                </a:solidFill>
                <a:latin typeface="Times New Roman"/>
                <a:ea typeface="Times New Roman"/>
                <a:cs typeface="Times New Roman"/>
                <a:sym typeface="Times New Roman"/>
              </a:rPr>
              <a:t>None of the other players will waste any tries on these lockers</a:t>
            </a:r>
            <a:endParaRPr sz="2400">
              <a:solidFill>
                <a:schemeClr val="dk1"/>
              </a:solidFill>
              <a:latin typeface="Times New Roman"/>
              <a:ea typeface="Times New Roman"/>
              <a:cs typeface="Times New Roman"/>
              <a:sym typeface="Times New Roman"/>
            </a:endParaRPr>
          </a:p>
        </p:txBody>
      </p:sp>
      <p:graphicFrame>
        <p:nvGraphicFramePr>
          <p:cNvPr id="114" name="Google Shape;114;p22"/>
          <p:cNvGraphicFramePr/>
          <p:nvPr/>
        </p:nvGraphicFramePr>
        <p:xfrm>
          <a:off x="923838" y="2023138"/>
          <a:ext cx="3000000" cy="3000000"/>
        </p:xfrm>
        <a:graphic>
          <a:graphicData uri="http://schemas.openxmlformats.org/drawingml/2006/table">
            <a:tbl>
              <a:tblPr>
                <a:noFill/>
                <a:tableStyleId>{59B1854F-1F2E-479B-B672-39A21517EE4A}</a:tableStyleId>
              </a:tblPr>
              <a:tblGrid>
                <a:gridCol w="1216050">
                  <a:extLst>
                    <a:ext uri="{9D8B030D-6E8A-4147-A177-3AD203B41FA5}">
                      <a16:colId xmlns:a16="http://schemas.microsoft.com/office/drawing/2014/main" val="20000"/>
                    </a:ext>
                  </a:extLst>
                </a:gridCol>
                <a:gridCol w="1216050">
                  <a:extLst>
                    <a:ext uri="{9D8B030D-6E8A-4147-A177-3AD203B41FA5}">
                      <a16:colId xmlns:a16="http://schemas.microsoft.com/office/drawing/2014/main" val="20001"/>
                    </a:ext>
                  </a:extLst>
                </a:gridCol>
                <a:gridCol w="1216050">
                  <a:extLst>
                    <a:ext uri="{9D8B030D-6E8A-4147-A177-3AD203B41FA5}">
                      <a16:colId xmlns:a16="http://schemas.microsoft.com/office/drawing/2014/main" val="20002"/>
                    </a:ext>
                  </a:extLst>
                </a:gridCol>
                <a:gridCol w="1216050">
                  <a:extLst>
                    <a:ext uri="{9D8B030D-6E8A-4147-A177-3AD203B41FA5}">
                      <a16:colId xmlns:a16="http://schemas.microsoft.com/office/drawing/2014/main" val="20003"/>
                    </a:ext>
                  </a:extLst>
                </a:gridCol>
                <a:gridCol w="1216050">
                  <a:extLst>
                    <a:ext uri="{9D8B030D-6E8A-4147-A177-3AD203B41FA5}">
                      <a16:colId xmlns:a16="http://schemas.microsoft.com/office/drawing/2014/main" val="20004"/>
                    </a:ext>
                  </a:extLst>
                </a:gridCol>
                <a:gridCol w="1216050">
                  <a:extLst>
                    <a:ext uri="{9D8B030D-6E8A-4147-A177-3AD203B41FA5}">
                      <a16:colId xmlns:a16="http://schemas.microsoft.com/office/drawing/2014/main" val="20005"/>
                    </a:ext>
                  </a:extLst>
                </a:gridCol>
              </a:tblGrid>
              <a:tr h="325375">
                <a:tc rowSpan="2">
                  <a:txBody>
                    <a:bodyPr/>
                    <a:lstStyle/>
                    <a:p>
                      <a:pPr marL="0" lvl="0" indent="0" algn="ctr" rtl="0">
                        <a:lnSpc>
                          <a:spcPct val="115000"/>
                        </a:lnSpc>
                        <a:spcBef>
                          <a:spcPts val="0"/>
                        </a:spcBef>
                        <a:spcAft>
                          <a:spcPts val="1200"/>
                        </a:spcAft>
                        <a:buNone/>
                      </a:pPr>
                      <a:r>
                        <a:rPr lang="zh-TW" sz="2400">
                          <a:solidFill>
                            <a:schemeClr val="dk1"/>
                          </a:solidFill>
                          <a:latin typeface="Times New Roman"/>
                          <a:ea typeface="Times New Roman"/>
                          <a:cs typeface="Times New Roman"/>
                          <a:sym typeface="Times New Roman"/>
                        </a:rPr>
                        <a:t>Player </a:t>
                      </a:r>
                      <a:r>
                        <a:rPr lang="zh-TW" sz="2400">
                          <a:solidFill>
                            <a:schemeClr val="accent1"/>
                          </a:solidFill>
                          <a:latin typeface="Times New Roman"/>
                          <a:ea typeface="Times New Roman"/>
                          <a:cs typeface="Times New Roman"/>
                          <a:sym typeface="Times New Roman"/>
                        </a:rPr>
                        <a:t>1</a:t>
                      </a:r>
                      <a:endParaRPr sz="2400">
                        <a:solidFill>
                          <a:schemeClr val="accent1"/>
                        </a:solidFill>
                        <a:latin typeface="Times New Roman"/>
                        <a:ea typeface="Times New Roman"/>
                        <a:cs typeface="Times New Roman"/>
                        <a:sym typeface="Times New Roman"/>
                      </a:endParaRPr>
                    </a:p>
                  </a:txBody>
                  <a:tcPr marL="91425" marR="91425" marT="91425" marB="91425"/>
                </a:tc>
                <a:tc>
                  <a:txBody>
                    <a:bodyPr/>
                    <a:lstStyle/>
                    <a:p>
                      <a:pPr marL="0" lvl="0" indent="0" algn="ctr" rtl="0">
                        <a:spcBef>
                          <a:spcPts val="0"/>
                        </a:spcBef>
                        <a:spcAft>
                          <a:spcPts val="0"/>
                        </a:spcAft>
                        <a:buNone/>
                      </a:pPr>
                      <a:r>
                        <a:rPr lang="zh-TW" sz="2400">
                          <a:solidFill>
                            <a:schemeClr val="dk1"/>
                          </a:solidFill>
                          <a:latin typeface="Times New Roman"/>
                          <a:ea typeface="Times New Roman"/>
                          <a:cs typeface="Times New Roman"/>
                          <a:sym typeface="Times New Roman"/>
                        </a:rPr>
                        <a:t>Locker</a:t>
                      </a:r>
                      <a:endParaRPr sz="2400">
                        <a:solidFill>
                          <a:schemeClr val="dk1"/>
                        </a:solidFill>
                        <a:latin typeface="Times New Roman"/>
                        <a:ea typeface="Times New Roman"/>
                        <a:cs typeface="Times New Roman"/>
                        <a:sym typeface="Times New Roman"/>
                      </a:endParaRPr>
                    </a:p>
                  </a:txBody>
                  <a:tcPr marL="91425" marR="91425" marT="91425" marB="91425"/>
                </a:tc>
                <a:tc>
                  <a:txBody>
                    <a:bodyPr/>
                    <a:lstStyle/>
                    <a:p>
                      <a:pPr marL="0" lvl="0" indent="0" algn="ctr" rtl="0">
                        <a:spcBef>
                          <a:spcPts val="0"/>
                        </a:spcBef>
                        <a:spcAft>
                          <a:spcPts val="0"/>
                        </a:spcAft>
                        <a:buNone/>
                      </a:pPr>
                      <a:r>
                        <a:rPr lang="zh-TW" sz="2400">
                          <a:solidFill>
                            <a:schemeClr val="accent4"/>
                          </a:solidFill>
                          <a:latin typeface="Times New Roman"/>
                          <a:ea typeface="Times New Roman"/>
                          <a:cs typeface="Times New Roman"/>
                          <a:sym typeface="Times New Roman"/>
                        </a:rPr>
                        <a:t>1</a:t>
                      </a:r>
                      <a:endParaRPr sz="2400">
                        <a:solidFill>
                          <a:schemeClr val="accent4"/>
                        </a:solidFill>
                        <a:latin typeface="Times New Roman"/>
                        <a:ea typeface="Times New Roman"/>
                        <a:cs typeface="Times New Roman"/>
                        <a:sym typeface="Times New Roman"/>
                      </a:endParaRPr>
                    </a:p>
                  </a:txBody>
                  <a:tcPr marL="91425" marR="91425" marT="91425" marB="91425"/>
                </a:tc>
                <a:tc>
                  <a:txBody>
                    <a:bodyPr/>
                    <a:lstStyle/>
                    <a:p>
                      <a:pPr marL="0" lvl="0" indent="0" algn="ctr" rtl="0">
                        <a:spcBef>
                          <a:spcPts val="0"/>
                        </a:spcBef>
                        <a:spcAft>
                          <a:spcPts val="0"/>
                        </a:spcAft>
                        <a:buNone/>
                      </a:pPr>
                      <a:r>
                        <a:rPr lang="zh-TW" sz="2400">
                          <a:solidFill>
                            <a:schemeClr val="accent4"/>
                          </a:solidFill>
                          <a:latin typeface="Times New Roman"/>
                          <a:ea typeface="Times New Roman"/>
                          <a:cs typeface="Times New Roman"/>
                          <a:sym typeface="Times New Roman"/>
                        </a:rPr>
                        <a:t>6</a:t>
                      </a:r>
                      <a:endParaRPr sz="2400">
                        <a:solidFill>
                          <a:schemeClr val="accent4"/>
                        </a:solidFill>
                        <a:latin typeface="Times New Roman"/>
                        <a:ea typeface="Times New Roman"/>
                        <a:cs typeface="Times New Roman"/>
                        <a:sym typeface="Times New Roman"/>
                      </a:endParaRPr>
                    </a:p>
                  </a:txBody>
                  <a:tcPr marL="91425" marR="91425" marT="91425" marB="91425"/>
                </a:tc>
                <a:tc>
                  <a:txBody>
                    <a:bodyPr/>
                    <a:lstStyle/>
                    <a:p>
                      <a:pPr marL="0" lvl="0" indent="0" algn="ctr" rtl="0">
                        <a:spcBef>
                          <a:spcPts val="0"/>
                        </a:spcBef>
                        <a:spcAft>
                          <a:spcPts val="0"/>
                        </a:spcAft>
                        <a:buNone/>
                      </a:pPr>
                      <a:r>
                        <a:rPr lang="zh-TW" sz="2400">
                          <a:solidFill>
                            <a:schemeClr val="accent4"/>
                          </a:solidFill>
                          <a:latin typeface="Times New Roman"/>
                          <a:ea typeface="Times New Roman"/>
                          <a:cs typeface="Times New Roman"/>
                          <a:sym typeface="Times New Roman"/>
                        </a:rPr>
                        <a:t>4</a:t>
                      </a:r>
                      <a:endParaRPr sz="2400">
                        <a:solidFill>
                          <a:schemeClr val="accent4"/>
                        </a:solidFill>
                        <a:latin typeface="Times New Roman"/>
                        <a:ea typeface="Times New Roman"/>
                        <a:cs typeface="Times New Roman"/>
                        <a:sym typeface="Times New Roman"/>
                      </a:endParaRPr>
                    </a:p>
                  </a:txBody>
                  <a:tcPr marL="91425" marR="91425" marT="91425" marB="91425"/>
                </a:tc>
                <a:tc>
                  <a:txBody>
                    <a:bodyPr/>
                    <a:lstStyle/>
                    <a:p>
                      <a:pPr marL="0" lvl="0" indent="0" algn="ctr" rtl="0">
                        <a:spcBef>
                          <a:spcPts val="0"/>
                        </a:spcBef>
                        <a:spcAft>
                          <a:spcPts val="0"/>
                        </a:spcAft>
                        <a:buNone/>
                      </a:pPr>
                      <a:r>
                        <a:rPr lang="zh-TW" sz="2400">
                          <a:solidFill>
                            <a:schemeClr val="accent4"/>
                          </a:solidFill>
                          <a:latin typeface="Times New Roman"/>
                          <a:ea typeface="Times New Roman"/>
                          <a:cs typeface="Times New Roman"/>
                          <a:sym typeface="Times New Roman"/>
                        </a:rPr>
                        <a:t>7</a:t>
                      </a:r>
                      <a:endParaRPr sz="2400">
                        <a:solidFill>
                          <a:schemeClr val="accent4"/>
                        </a:solidFill>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0"/>
                  </a:ext>
                </a:extLst>
              </a:tr>
              <a:tr h="325375">
                <a:tc vMerge="1">
                  <a:txBody>
                    <a:bodyPr/>
                    <a:lstStyle/>
                    <a:p>
                      <a:endParaRPr lang="zh-TW"/>
                    </a:p>
                  </a:txBody>
                  <a:tcPr/>
                </a:tc>
                <a:tc>
                  <a:txBody>
                    <a:bodyPr/>
                    <a:lstStyle/>
                    <a:p>
                      <a:pPr marL="0" lvl="0" indent="0" algn="ctr" rtl="0">
                        <a:spcBef>
                          <a:spcPts val="0"/>
                        </a:spcBef>
                        <a:spcAft>
                          <a:spcPts val="0"/>
                        </a:spcAft>
                        <a:buNone/>
                      </a:pPr>
                      <a:r>
                        <a:rPr lang="zh-TW" sz="2400">
                          <a:solidFill>
                            <a:schemeClr val="dk1"/>
                          </a:solidFill>
                          <a:latin typeface="Times New Roman"/>
                          <a:ea typeface="Times New Roman"/>
                          <a:cs typeface="Times New Roman"/>
                          <a:sym typeface="Times New Roman"/>
                        </a:rPr>
                        <a:t>Number</a:t>
                      </a:r>
                      <a:endParaRPr sz="2400">
                        <a:solidFill>
                          <a:schemeClr val="dk1"/>
                        </a:solidFill>
                        <a:latin typeface="Times New Roman"/>
                        <a:ea typeface="Times New Roman"/>
                        <a:cs typeface="Times New Roman"/>
                        <a:sym typeface="Times New Roman"/>
                      </a:endParaRPr>
                    </a:p>
                  </a:txBody>
                  <a:tcPr marL="91425" marR="91425" marT="91425" marB="91425"/>
                </a:tc>
                <a:tc>
                  <a:txBody>
                    <a:bodyPr/>
                    <a:lstStyle/>
                    <a:p>
                      <a:pPr marL="0" lvl="0" indent="0" algn="ctr" rtl="0">
                        <a:spcBef>
                          <a:spcPts val="0"/>
                        </a:spcBef>
                        <a:spcAft>
                          <a:spcPts val="0"/>
                        </a:spcAft>
                        <a:buNone/>
                      </a:pPr>
                      <a:r>
                        <a:rPr lang="zh-TW" sz="2400">
                          <a:solidFill>
                            <a:srgbClr val="FF0000"/>
                          </a:solidFill>
                          <a:latin typeface="Times New Roman"/>
                          <a:ea typeface="Times New Roman"/>
                          <a:cs typeface="Times New Roman"/>
                          <a:sym typeface="Times New Roman"/>
                        </a:rPr>
                        <a:t>6</a:t>
                      </a:r>
                      <a:endParaRPr sz="2400">
                        <a:solidFill>
                          <a:srgbClr val="FF0000"/>
                        </a:solidFill>
                        <a:latin typeface="Times New Roman"/>
                        <a:ea typeface="Times New Roman"/>
                        <a:cs typeface="Times New Roman"/>
                        <a:sym typeface="Times New Roman"/>
                      </a:endParaRPr>
                    </a:p>
                  </a:txBody>
                  <a:tcPr marL="91425" marR="91425" marT="91425" marB="91425"/>
                </a:tc>
                <a:tc>
                  <a:txBody>
                    <a:bodyPr/>
                    <a:lstStyle/>
                    <a:p>
                      <a:pPr marL="0" lvl="0" indent="0" algn="ctr" rtl="0">
                        <a:spcBef>
                          <a:spcPts val="0"/>
                        </a:spcBef>
                        <a:spcAft>
                          <a:spcPts val="0"/>
                        </a:spcAft>
                        <a:buNone/>
                      </a:pPr>
                      <a:r>
                        <a:rPr lang="zh-TW" sz="2400">
                          <a:solidFill>
                            <a:srgbClr val="FF0000"/>
                          </a:solidFill>
                          <a:latin typeface="Times New Roman"/>
                          <a:ea typeface="Times New Roman"/>
                          <a:cs typeface="Times New Roman"/>
                          <a:sym typeface="Times New Roman"/>
                        </a:rPr>
                        <a:t>4</a:t>
                      </a:r>
                      <a:endParaRPr sz="2400">
                        <a:solidFill>
                          <a:srgbClr val="FF0000"/>
                        </a:solidFill>
                        <a:latin typeface="Times New Roman"/>
                        <a:ea typeface="Times New Roman"/>
                        <a:cs typeface="Times New Roman"/>
                        <a:sym typeface="Times New Roman"/>
                      </a:endParaRPr>
                    </a:p>
                  </a:txBody>
                  <a:tcPr marL="91425" marR="91425" marT="91425" marB="91425"/>
                </a:tc>
                <a:tc>
                  <a:txBody>
                    <a:bodyPr/>
                    <a:lstStyle/>
                    <a:p>
                      <a:pPr marL="0" lvl="0" indent="0" algn="ctr" rtl="0">
                        <a:spcBef>
                          <a:spcPts val="0"/>
                        </a:spcBef>
                        <a:spcAft>
                          <a:spcPts val="0"/>
                        </a:spcAft>
                        <a:buNone/>
                      </a:pPr>
                      <a:r>
                        <a:rPr lang="zh-TW" sz="2400">
                          <a:solidFill>
                            <a:srgbClr val="FF0000"/>
                          </a:solidFill>
                          <a:latin typeface="Times New Roman"/>
                          <a:ea typeface="Times New Roman"/>
                          <a:cs typeface="Times New Roman"/>
                          <a:sym typeface="Times New Roman"/>
                        </a:rPr>
                        <a:t>7</a:t>
                      </a:r>
                      <a:endParaRPr sz="2400">
                        <a:solidFill>
                          <a:srgbClr val="FF0000"/>
                        </a:solidFill>
                        <a:latin typeface="Times New Roman"/>
                        <a:ea typeface="Times New Roman"/>
                        <a:cs typeface="Times New Roman"/>
                        <a:sym typeface="Times New Roman"/>
                      </a:endParaRPr>
                    </a:p>
                  </a:txBody>
                  <a:tcPr marL="91425" marR="91425" marT="91425" marB="91425"/>
                </a:tc>
                <a:tc>
                  <a:txBody>
                    <a:bodyPr/>
                    <a:lstStyle/>
                    <a:p>
                      <a:pPr marL="0" lvl="0" indent="0" algn="ctr" rtl="0">
                        <a:spcBef>
                          <a:spcPts val="0"/>
                        </a:spcBef>
                        <a:spcAft>
                          <a:spcPts val="0"/>
                        </a:spcAft>
                        <a:buNone/>
                      </a:pPr>
                      <a:r>
                        <a:rPr lang="zh-TW" sz="2400">
                          <a:solidFill>
                            <a:srgbClr val="FF0000"/>
                          </a:solidFill>
                          <a:latin typeface="Times New Roman"/>
                          <a:ea typeface="Times New Roman"/>
                          <a:cs typeface="Times New Roman"/>
                          <a:sym typeface="Times New Roman"/>
                        </a:rPr>
                        <a:t>1</a:t>
                      </a:r>
                      <a:endParaRPr sz="2400">
                        <a:solidFill>
                          <a:srgbClr val="FF0000"/>
                        </a:solidFill>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1"/>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2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zh-TW" sz="2500">
                <a:latin typeface="Times New Roman"/>
                <a:ea typeface="Times New Roman"/>
                <a:cs typeface="Times New Roman"/>
                <a:sym typeface="Times New Roman"/>
              </a:rPr>
              <a:t>Example (2 / 2)</a:t>
            </a:r>
            <a:endParaRPr sz="2500">
              <a:latin typeface="Times New Roman"/>
              <a:ea typeface="Times New Roman"/>
              <a:cs typeface="Times New Roman"/>
              <a:sym typeface="Times New Roman"/>
            </a:endParaRPr>
          </a:p>
        </p:txBody>
      </p:sp>
      <p:sp>
        <p:nvSpPr>
          <p:cNvPr id="120" name="Google Shape;120;p2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zh-TW" sz="2400">
                <a:solidFill>
                  <a:schemeClr val="dk1"/>
                </a:solidFill>
                <a:latin typeface="Times New Roman"/>
                <a:ea typeface="Times New Roman"/>
                <a:cs typeface="Times New Roman"/>
                <a:sym typeface="Times New Roman"/>
              </a:rPr>
              <a:t>6, 8, 9, 7, 2, 4, 1, 5, 10, 3</a:t>
            </a:r>
            <a:endParaRPr sz="2400">
              <a:solidFill>
                <a:schemeClr val="dk1"/>
              </a:solidFill>
              <a:latin typeface="Times New Roman"/>
              <a:ea typeface="Times New Roman"/>
              <a:cs typeface="Times New Roman"/>
              <a:sym typeface="Times New Roman"/>
            </a:endParaRPr>
          </a:p>
          <a:p>
            <a:pPr marL="0" lvl="0" indent="0" algn="l" rtl="0">
              <a:spcBef>
                <a:spcPts val="1200"/>
              </a:spcBef>
              <a:spcAft>
                <a:spcPts val="0"/>
              </a:spcAft>
              <a:buNone/>
            </a:pPr>
            <a:endParaRPr sz="2400">
              <a:solidFill>
                <a:schemeClr val="dk1"/>
              </a:solidFill>
              <a:latin typeface="Times New Roman"/>
              <a:ea typeface="Times New Roman"/>
              <a:cs typeface="Times New Roman"/>
              <a:sym typeface="Times New Roman"/>
            </a:endParaRPr>
          </a:p>
          <a:p>
            <a:pPr marL="457200" lvl="0" indent="-381000" algn="l" rtl="0">
              <a:spcBef>
                <a:spcPts val="1200"/>
              </a:spcBef>
              <a:spcAft>
                <a:spcPts val="0"/>
              </a:spcAft>
              <a:buClr>
                <a:schemeClr val="dk1"/>
              </a:buClr>
              <a:buSzPts val="2400"/>
              <a:buFont typeface="Times New Roman"/>
              <a:buChar char="-"/>
            </a:pPr>
            <a:r>
              <a:rPr lang="zh-TW" sz="2400">
                <a:solidFill>
                  <a:schemeClr val="dk1"/>
                </a:solidFill>
                <a:latin typeface="Times New Roman"/>
                <a:ea typeface="Times New Roman"/>
                <a:cs typeface="Times New Roman"/>
                <a:sym typeface="Times New Roman"/>
              </a:rPr>
              <a:t>If the cycles are (6, 4, 7, l), (8, 5, 2), (9, 10, 3)	success</a:t>
            </a:r>
            <a:endParaRPr sz="2400">
              <a:solidFill>
                <a:schemeClr val="dk1"/>
              </a:solidFill>
              <a:latin typeface="Times New Roman"/>
              <a:ea typeface="Times New Roman"/>
              <a:cs typeface="Times New Roman"/>
              <a:sym typeface="Times New Roman"/>
            </a:endParaRPr>
          </a:p>
          <a:p>
            <a:pPr marL="457200" lvl="0" indent="0" algn="l" rtl="0">
              <a:spcBef>
                <a:spcPts val="1200"/>
              </a:spcBef>
              <a:spcAft>
                <a:spcPts val="0"/>
              </a:spcAft>
              <a:buNone/>
            </a:pPr>
            <a:endParaRPr sz="2400">
              <a:solidFill>
                <a:schemeClr val="dk1"/>
              </a:solidFill>
              <a:latin typeface="Times New Roman"/>
              <a:ea typeface="Times New Roman"/>
              <a:cs typeface="Times New Roman"/>
              <a:sym typeface="Times New Roman"/>
            </a:endParaRPr>
          </a:p>
          <a:p>
            <a:pPr marL="457200" lvl="0" indent="-381000" algn="l" rtl="0">
              <a:spcBef>
                <a:spcPts val="1200"/>
              </a:spcBef>
              <a:spcAft>
                <a:spcPts val="0"/>
              </a:spcAft>
              <a:buClr>
                <a:srgbClr val="FF0000"/>
              </a:buClr>
              <a:buSzPts val="2400"/>
              <a:buFont typeface="Times New Roman"/>
              <a:buChar char="-"/>
            </a:pPr>
            <a:r>
              <a:rPr lang="zh-TW" sz="2400">
                <a:solidFill>
                  <a:srgbClr val="FF0000"/>
                </a:solidFill>
                <a:latin typeface="Times New Roman"/>
                <a:ea typeface="Times New Roman"/>
                <a:cs typeface="Times New Roman"/>
                <a:sym typeface="Times New Roman"/>
              </a:rPr>
              <a:t>If there exists a cycle with 6 or more elements	failure</a:t>
            </a:r>
            <a:endParaRPr sz="2400">
              <a:solidFill>
                <a:srgbClr val="FF0000"/>
              </a:solidFill>
              <a:latin typeface="Times New Roman"/>
              <a:ea typeface="Times New Roman"/>
              <a:cs typeface="Times New Roman"/>
              <a:sym typeface="Times New Roman"/>
            </a:endParaRPr>
          </a:p>
          <a:p>
            <a:pPr marL="0" lvl="0" indent="0" algn="l" rtl="0">
              <a:spcBef>
                <a:spcPts val="1200"/>
              </a:spcBef>
              <a:spcAft>
                <a:spcPts val="1200"/>
              </a:spcAft>
              <a:buNone/>
            </a:pP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2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zh-TW" sz="2500">
                <a:latin typeface="Times New Roman"/>
                <a:ea typeface="Times New Roman"/>
                <a:cs typeface="Times New Roman"/>
                <a:sym typeface="Times New Roman"/>
              </a:rPr>
              <a:t>Probability of Success with the Strategy (1 / 5)</a:t>
            </a:r>
            <a:endParaRPr sz="2500">
              <a:latin typeface="Times New Roman"/>
              <a:ea typeface="Times New Roman"/>
              <a:cs typeface="Times New Roman"/>
              <a:sym typeface="Times New Roman"/>
            </a:endParaRPr>
          </a:p>
        </p:txBody>
      </p:sp>
      <p:sp>
        <p:nvSpPr>
          <p:cNvPr id="126" name="Google Shape;126;p2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81000" algn="l" rtl="0">
              <a:spcBef>
                <a:spcPts val="0"/>
              </a:spcBef>
              <a:spcAft>
                <a:spcPts val="0"/>
              </a:spcAft>
              <a:buClr>
                <a:schemeClr val="dk1"/>
              </a:buClr>
              <a:buSzPts val="2400"/>
              <a:buFont typeface="Times New Roman"/>
              <a:buChar char="-"/>
            </a:pPr>
            <a:r>
              <a:rPr lang="zh-TW" sz="2400">
                <a:solidFill>
                  <a:schemeClr val="dk1"/>
                </a:solidFill>
                <a:latin typeface="Times New Roman"/>
                <a:ea typeface="Times New Roman"/>
                <a:cs typeface="Times New Roman"/>
                <a:sym typeface="Times New Roman"/>
              </a:rPr>
              <a:t>a cycle with 6 elements</a:t>
            </a:r>
            <a:endParaRPr sz="2400">
              <a:solidFill>
                <a:schemeClr val="dk1"/>
              </a:solidFill>
              <a:latin typeface="Times New Roman"/>
              <a:ea typeface="Times New Roman"/>
              <a:cs typeface="Times New Roman"/>
              <a:sym typeface="Times New Roman"/>
            </a:endParaRPr>
          </a:p>
        </p:txBody>
      </p:sp>
      <p:pic>
        <p:nvPicPr>
          <p:cNvPr id="127" name="Google Shape;127;p24"/>
          <p:cNvPicPr preferRelativeResize="0"/>
          <p:nvPr/>
        </p:nvPicPr>
        <p:blipFill>
          <a:blip r:embed="rId3">
            <a:alphaModFix/>
          </a:blip>
          <a:stretch>
            <a:fillRect/>
          </a:stretch>
        </p:blipFill>
        <p:spPr>
          <a:xfrm>
            <a:off x="2401163" y="2334413"/>
            <a:ext cx="4341675" cy="10525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2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zh-TW" sz="2500">
                <a:latin typeface="Times New Roman"/>
                <a:ea typeface="Times New Roman"/>
                <a:cs typeface="Times New Roman"/>
                <a:sym typeface="Times New Roman"/>
              </a:rPr>
              <a:t>Probability of Success with the Strategy (2 / 5)</a:t>
            </a:r>
            <a:endParaRPr sz="2500">
              <a:latin typeface="Times New Roman"/>
              <a:ea typeface="Times New Roman"/>
              <a:cs typeface="Times New Roman"/>
              <a:sym typeface="Times New Roman"/>
            </a:endParaRPr>
          </a:p>
        </p:txBody>
      </p:sp>
      <p:sp>
        <p:nvSpPr>
          <p:cNvPr id="133" name="Google Shape;133;p2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81000" algn="l" rtl="0">
              <a:spcBef>
                <a:spcPts val="0"/>
              </a:spcBef>
              <a:spcAft>
                <a:spcPts val="0"/>
              </a:spcAft>
              <a:buClr>
                <a:schemeClr val="dk1"/>
              </a:buClr>
              <a:buSzPts val="2400"/>
              <a:buFont typeface="Times New Roman"/>
              <a:buChar char="-"/>
            </a:pPr>
            <a:r>
              <a:rPr lang="zh-TW" sz="2400">
                <a:solidFill>
                  <a:schemeClr val="dk1"/>
                </a:solidFill>
                <a:latin typeface="Times New Roman"/>
                <a:ea typeface="Times New Roman"/>
                <a:cs typeface="Times New Roman"/>
                <a:sym typeface="Times New Roman"/>
              </a:rPr>
              <a:t>a cycle with 7 elements</a:t>
            </a:r>
            <a:endParaRPr sz="2400">
              <a:solidFill>
                <a:schemeClr val="dk1"/>
              </a:solidFill>
              <a:latin typeface="Times New Roman"/>
              <a:ea typeface="Times New Roman"/>
              <a:cs typeface="Times New Roman"/>
              <a:sym typeface="Times New Roman"/>
            </a:endParaRPr>
          </a:p>
        </p:txBody>
      </p:sp>
      <p:pic>
        <p:nvPicPr>
          <p:cNvPr id="134" name="Google Shape;134;p25"/>
          <p:cNvPicPr preferRelativeResize="0"/>
          <p:nvPr/>
        </p:nvPicPr>
        <p:blipFill>
          <a:blip r:embed="rId3">
            <a:alphaModFix/>
          </a:blip>
          <a:stretch>
            <a:fillRect/>
          </a:stretch>
        </p:blipFill>
        <p:spPr>
          <a:xfrm>
            <a:off x="2386475" y="2330850"/>
            <a:ext cx="4371050" cy="10596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2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zh-TW" sz="2500">
                <a:latin typeface="Times New Roman"/>
                <a:ea typeface="Times New Roman"/>
                <a:cs typeface="Times New Roman"/>
                <a:sym typeface="Times New Roman"/>
              </a:rPr>
              <a:t>Probability of Success with the Strategy (3 / 5)</a:t>
            </a:r>
            <a:endParaRPr sz="2500">
              <a:latin typeface="Times New Roman"/>
              <a:ea typeface="Times New Roman"/>
              <a:cs typeface="Times New Roman"/>
              <a:sym typeface="Times New Roman"/>
            </a:endParaRPr>
          </a:p>
        </p:txBody>
      </p:sp>
      <p:sp>
        <p:nvSpPr>
          <p:cNvPr id="140" name="Google Shape;140;p2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zh-TW" sz="2400">
                <a:solidFill>
                  <a:schemeClr val="dk1"/>
                </a:solidFill>
                <a:latin typeface="Times New Roman"/>
                <a:ea typeface="Times New Roman"/>
                <a:cs typeface="Times New Roman"/>
                <a:sym typeface="Times New Roman"/>
              </a:rPr>
              <a:t>10 players:</a:t>
            </a:r>
            <a:endParaRPr sz="2400">
              <a:solidFill>
                <a:schemeClr val="dk1"/>
              </a:solidFill>
              <a:latin typeface="Times New Roman"/>
              <a:ea typeface="Times New Roman"/>
              <a:cs typeface="Times New Roman"/>
              <a:sym typeface="Times New Roman"/>
            </a:endParaRPr>
          </a:p>
        </p:txBody>
      </p:sp>
      <p:pic>
        <p:nvPicPr>
          <p:cNvPr id="141" name="Google Shape;141;p26"/>
          <p:cNvPicPr preferRelativeResize="0"/>
          <p:nvPr/>
        </p:nvPicPr>
        <p:blipFill>
          <a:blip r:embed="rId3">
            <a:alphaModFix/>
          </a:blip>
          <a:stretch>
            <a:fillRect/>
          </a:stretch>
        </p:blipFill>
        <p:spPr>
          <a:xfrm>
            <a:off x="1121550" y="2285600"/>
            <a:ext cx="6900900" cy="11501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zh-TW" sz="2500">
                <a:latin typeface="Times New Roman"/>
                <a:ea typeface="Times New Roman"/>
                <a:cs typeface="Times New Roman"/>
                <a:sym typeface="Times New Roman"/>
              </a:rPr>
              <a:t>Probability of Success with the Strategy (4 / 5)</a:t>
            </a:r>
            <a:endParaRPr sz="2500">
              <a:latin typeface="Times New Roman"/>
              <a:ea typeface="Times New Roman"/>
              <a:cs typeface="Times New Roman"/>
              <a:sym typeface="Times New Roman"/>
            </a:endParaRPr>
          </a:p>
        </p:txBody>
      </p:sp>
      <p:sp>
        <p:nvSpPr>
          <p:cNvPr id="147" name="Google Shape;147;p2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zh-TW" sz="2400">
                <a:solidFill>
                  <a:schemeClr val="dk1"/>
                </a:solidFill>
                <a:latin typeface="Times New Roman"/>
                <a:ea typeface="Times New Roman"/>
                <a:cs typeface="Times New Roman"/>
                <a:sym typeface="Times New Roman"/>
              </a:rPr>
              <a:t>100 players:　</a:t>
            </a:r>
            <a:endParaRPr sz="2400">
              <a:solidFill>
                <a:schemeClr val="dk1"/>
              </a:solidFill>
              <a:latin typeface="Times New Roman"/>
              <a:ea typeface="Times New Roman"/>
              <a:cs typeface="Times New Roman"/>
              <a:sym typeface="Times New Roman"/>
            </a:endParaRPr>
          </a:p>
        </p:txBody>
      </p:sp>
      <p:pic>
        <p:nvPicPr>
          <p:cNvPr id="148" name="Google Shape;148;p27"/>
          <p:cNvPicPr preferRelativeResize="0"/>
          <p:nvPr/>
        </p:nvPicPr>
        <p:blipFill>
          <a:blip r:embed="rId3">
            <a:alphaModFix/>
          </a:blip>
          <a:stretch>
            <a:fillRect/>
          </a:stretch>
        </p:blipFill>
        <p:spPr>
          <a:xfrm>
            <a:off x="1309124" y="2278450"/>
            <a:ext cx="6525750" cy="11644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2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zh-TW" sz="2500">
                <a:latin typeface="Times New Roman"/>
                <a:ea typeface="Times New Roman"/>
                <a:cs typeface="Times New Roman"/>
                <a:sym typeface="Times New Roman"/>
              </a:rPr>
              <a:t>Probability of Success with the Strategy (5 / 5)</a:t>
            </a:r>
            <a:endParaRPr sz="2500">
              <a:latin typeface="Times New Roman"/>
              <a:ea typeface="Times New Roman"/>
              <a:cs typeface="Times New Roman"/>
              <a:sym typeface="Times New Roman"/>
            </a:endParaRPr>
          </a:p>
        </p:txBody>
      </p:sp>
      <p:sp>
        <p:nvSpPr>
          <p:cNvPr id="154" name="Google Shape;154;p2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zh-TW" sz="2400">
                <a:solidFill>
                  <a:schemeClr val="dk1"/>
                </a:solidFill>
                <a:latin typeface="Times New Roman"/>
                <a:ea typeface="Times New Roman"/>
                <a:cs typeface="Times New Roman"/>
                <a:sym typeface="Times New Roman"/>
              </a:rPr>
              <a:t>2N players:　</a:t>
            </a:r>
            <a:endParaRPr sz="2400">
              <a:solidFill>
                <a:schemeClr val="dk1"/>
              </a:solidFill>
              <a:latin typeface="Times New Roman"/>
              <a:ea typeface="Times New Roman"/>
              <a:cs typeface="Times New Roman"/>
              <a:sym typeface="Times New Roman"/>
            </a:endParaRPr>
          </a:p>
        </p:txBody>
      </p:sp>
      <p:pic>
        <p:nvPicPr>
          <p:cNvPr id="155" name="Google Shape;155;p28"/>
          <p:cNvPicPr preferRelativeResize="0"/>
          <p:nvPr/>
        </p:nvPicPr>
        <p:blipFill>
          <a:blip r:embed="rId3">
            <a:alphaModFix/>
          </a:blip>
          <a:stretch>
            <a:fillRect/>
          </a:stretch>
        </p:blipFill>
        <p:spPr>
          <a:xfrm>
            <a:off x="616113" y="2401103"/>
            <a:ext cx="7911775" cy="919150"/>
          </a:xfrm>
          <a:prstGeom prst="rect">
            <a:avLst/>
          </a:prstGeom>
          <a:noFill/>
          <a:ln>
            <a:noFill/>
          </a:ln>
        </p:spPr>
      </p:pic>
      <p:sp>
        <p:nvSpPr>
          <p:cNvPr id="156" name="Google Shape;156;p28"/>
          <p:cNvSpPr txBox="1"/>
          <p:nvPr/>
        </p:nvSpPr>
        <p:spPr>
          <a:xfrm>
            <a:off x="2514600" y="4014775"/>
            <a:ext cx="4114800" cy="554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zh-TW" sz="2400">
                <a:solidFill>
                  <a:schemeClr val="dk1"/>
                </a:solidFill>
                <a:latin typeface="Times New Roman"/>
                <a:ea typeface="Times New Roman"/>
                <a:cs typeface="Times New Roman"/>
                <a:sym typeface="Times New Roman"/>
              </a:rPr>
              <a:t> 1 - </a:t>
            </a:r>
            <a:r>
              <a:rPr lang="zh-TW" sz="2400" i="1">
                <a:solidFill>
                  <a:schemeClr val="dk1"/>
                </a:solidFill>
                <a:latin typeface="Times New Roman"/>
                <a:ea typeface="Times New Roman"/>
                <a:cs typeface="Times New Roman"/>
                <a:sym typeface="Times New Roman"/>
              </a:rPr>
              <a:t>ln</a:t>
            </a:r>
            <a:r>
              <a:rPr lang="zh-TW" sz="2400">
                <a:solidFill>
                  <a:schemeClr val="dk1"/>
                </a:solidFill>
                <a:latin typeface="Times New Roman"/>
                <a:ea typeface="Times New Roman"/>
                <a:cs typeface="Times New Roman"/>
                <a:sym typeface="Times New Roman"/>
              </a:rPr>
              <a:t> 2 ≌ 0.306853</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2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t> </a:t>
            </a:r>
            <a:endParaRPr/>
          </a:p>
        </p:txBody>
      </p:sp>
      <p:sp>
        <p:nvSpPr>
          <p:cNvPr id="162" name="Google Shape;162;p29"/>
          <p:cNvSpPr txBox="1">
            <a:spLocks noGrp="1"/>
          </p:cNvSpPr>
          <p:nvPr>
            <p:ph type="body" idx="1"/>
          </p:nvPr>
        </p:nvSpPr>
        <p:spPr>
          <a:xfrm>
            <a:off x="311700" y="1353325"/>
            <a:ext cx="8520600" cy="1086300"/>
          </a:xfrm>
          <a:prstGeom prst="rect">
            <a:avLst/>
          </a:prstGeom>
        </p:spPr>
        <p:txBody>
          <a:bodyPr spcFirstLastPara="1" wrap="square" lIns="91425" tIns="91425" rIns="91425" bIns="91425" anchor="t" anchorCtr="0">
            <a:normAutofit/>
          </a:bodyPr>
          <a:lstStyle/>
          <a:p>
            <a:pPr marL="0" lvl="0" indent="0" algn="ctr" rtl="0">
              <a:spcBef>
                <a:spcPts val="0"/>
              </a:spcBef>
              <a:spcAft>
                <a:spcPts val="1200"/>
              </a:spcAft>
              <a:buNone/>
            </a:pPr>
            <a:r>
              <a:rPr lang="zh-TW" sz="4800">
                <a:solidFill>
                  <a:schemeClr val="dk1"/>
                </a:solidFill>
                <a:latin typeface="Times New Roman"/>
                <a:ea typeface="Times New Roman"/>
                <a:cs typeface="Times New Roman"/>
                <a:sym typeface="Times New Roman"/>
              </a:rPr>
              <a:t>Thanks for your patience</a:t>
            </a:r>
            <a:endParaRPr sz="4800">
              <a:solidFill>
                <a:schemeClr val="dk1"/>
              </a:solidFill>
              <a:latin typeface="Times New Roman"/>
              <a:ea typeface="Times New Roman"/>
              <a:cs typeface="Times New Roman"/>
              <a:sym typeface="Times New Roman"/>
            </a:endParaRPr>
          </a:p>
        </p:txBody>
      </p:sp>
      <p:sp>
        <p:nvSpPr>
          <p:cNvPr id="163" name="Google Shape;163;p29"/>
          <p:cNvSpPr/>
          <p:nvPr/>
        </p:nvSpPr>
        <p:spPr>
          <a:xfrm>
            <a:off x="3987600" y="2357825"/>
            <a:ext cx="1168800" cy="1140300"/>
          </a:xfrm>
          <a:prstGeom prst="smileyFace">
            <a:avLst>
              <a:gd name="adj" fmla="val 4653"/>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2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17</a:t>
            </a:fld>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719</Words>
  <Application>Microsoft Office PowerPoint</Application>
  <PresentationFormat>如螢幕大小 (16:9)</PresentationFormat>
  <Paragraphs>76</Paragraphs>
  <Slides>17</Slides>
  <Notes>17</Notes>
  <HiddenSlides>0</HiddenSlides>
  <MMClips>0</MMClips>
  <ScaleCrop>false</ScaleCrop>
  <HeadingPairs>
    <vt:vector size="6" baseType="variant">
      <vt:variant>
        <vt:lpstr>使用字型</vt:lpstr>
      </vt:variant>
      <vt:variant>
        <vt:i4>2</vt:i4>
      </vt:variant>
      <vt:variant>
        <vt:lpstr>佈景主題</vt:lpstr>
      </vt:variant>
      <vt:variant>
        <vt:i4>1</vt:i4>
      </vt:variant>
      <vt:variant>
        <vt:lpstr>投影片標題</vt:lpstr>
      </vt:variant>
      <vt:variant>
        <vt:i4>17</vt:i4>
      </vt:variant>
    </vt:vector>
  </HeadingPairs>
  <TitlesOfParts>
    <vt:vector size="20" baseType="lpstr">
      <vt:lpstr>Arial</vt:lpstr>
      <vt:lpstr>Times New Roman</vt:lpstr>
      <vt:lpstr>Simple Light</vt:lpstr>
      <vt:lpstr>The Locker Puzzle</vt:lpstr>
      <vt:lpstr>Issue (1 / 2)</vt:lpstr>
      <vt:lpstr>Issue (2 / 2)</vt:lpstr>
      <vt:lpstr>Probability of Success with Random Guessing</vt:lpstr>
      <vt:lpstr>Predigestion</vt:lpstr>
      <vt:lpstr>Probability of Success with Random Guessing</vt:lpstr>
      <vt:lpstr>Improvement</vt:lpstr>
      <vt:lpstr>Probability of Success with Improvement</vt:lpstr>
      <vt:lpstr>Strategy</vt:lpstr>
      <vt:lpstr>Example (1 / 2)</vt:lpstr>
      <vt:lpstr>Example (2 / 2)</vt:lpstr>
      <vt:lpstr>Probability of Success with the Strategy (1 / 5)</vt:lpstr>
      <vt:lpstr>Probability of Success with the Strategy (2 / 5)</vt:lpstr>
      <vt:lpstr>Probability of Success with the Strategy (3 / 5)</vt:lpstr>
      <vt:lpstr>Probability of Success with the Strategy (4 / 5)</vt:lpstr>
      <vt:lpstr>Probability of Success with the Strategy (5 / 5)</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Locker Puzzle</dc:title>
  <cp:lastModifiedBy>M113040073</cp:lastModifiedBy>
  <cp:revision>12</cp:revision>
  <dcterms:modified xsi:type="dcterms:W3CDTF">2023-05-09T10:11:47Z</dcterms:modified>
</cp:coreProperties>
</file>