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69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594" autoAdjust="0"/>
  </p:normalViewPr>
  <p:slideViewPr>
    <p:cSldViewPr snapToGrid="0">
      <p:cViewPr varScale="1">
        <p:scale>
          <a:sx n="60" d="100"/>
          <a:sy n="60" d="100"/>
        </p:scale>
        <p:origin x="11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67DF-ECF2-46EC-8446-7B955A747664}" type="datetimeFigureOut">
              <a:rPr lang="zh-TW" altLang="en-US" smtClean="0"/>
              <a:t>2023/6/27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562F9-E128-4B6E-872C-5F1FFAE335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55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33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801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6361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4543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108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488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0246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1381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492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5652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822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4671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8272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4227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8045-16E7-451C-65FC-B158983EC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068A-58AE-8713-2F67-C52F90F86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A286-7DBB-ABAF-AE2A-AD9DDE77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D569-BD2D-4D1C-B67A-2A5601E6B3E3}" type="datetime1">
              <a:rPr lang="zh-TW" altLang="en-US" smtClean="0"/>
              <a:t>2023/6/27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0D4C-517F-3A75-2138-B35995E6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CC6E-1A90-9EBF-3395-DCC19E8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0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D236-5FFE-A036-B937-040C503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EFD4-29DF-59B4-50ED-3F42FB6C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5951-765D-8F13-9483-0B7BC834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F9AF4-0F76-4C66-B441-D1B2D7ED3BEC}" type="datetime1">
              <a:rPr lang="zh-TW" altLang="en-US" smtClean="0"/>
              <a:t>2023/6/27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CF9E-E6A3-995C-A1B7-97A453CB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5ECA-E5DF-198A-D862-E85E0172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36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4931-3342-74A5-5F4A-1ACADB36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ABAD9-77A7-31C2-CE3B-83AB0265A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3F41-FADE-64E8-94E5-51E3BAD8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6C79-1DF6-49C7-8CD7-FD6F5B614111}" type="datetime1">
              <a:rPr lang="zh-TW" altLang="en-US" smtClean="0"/>
              <a:t>2023/6/27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82AA-63C8-C306-BDDF-A523D9F8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3CF1-15A7-D9A0-AB7D-63A9F320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6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4541-876E-1323-86BB-134B34E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7A99-40BB-A978-A62D-456D85CB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C4AB-2328-C15C-EDBA-A6D98497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5A17-9FA9-28E5-585D-C1967447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13F3-84C2-4D70-A0DE-40780363C9EE}" type="datetime1">
              <a:rPr lang="zh-TW" altLang="en-US" smtClean="0"/>
              <a:t>2023/6/27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A8324-6BD6-434F-B46A-42E28860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86F1-3A6D-B41E-CFB4-7417B1F7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1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C63D-C7AF-2A59-F8AD-A038C042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C0EB9-FD48-3B5F-2543-5658F7F5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B3736-516F-9579-FACA-DCB21A18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3EA5-7849-E5F4-BF87-F3FC86368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1D914-6ED8-D257-6CC2-104C6745C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A8773-F0F7-3DBC-9C59-CA8EF9CF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FA993-B73B-4E0A-AC46-BDD6B2FA04A9}" type="datetime1">
              <a:rPr lang="zh-TW" altLang="en-US" smtClean="0"/>
              <a:t>2023/6/27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508DB-1C1C-AFC2-2C1A-1DDBC10F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9407E-CED6-F5A6-39DB-82B07C8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34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8DAB-3374-67D6-5EB1-2C3253F5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D7194-F69E-4DA8-89C4-AE8729BF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ADAD-A8C5-4E4F-97C2-B2F188A7EEC4}" type="datetime1">
              <a:rPr lang="zh-TW" altLang="en-US" smtClean="0"/>
              <a:t>2023/6/27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D0780-D9CB-B34D-A2E0-1D14B42F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4697E-BF8C-08DA-29D6-3B9ACC5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60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CFF4D-DBD6-E4FB-30B0-3844F235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DE65-CDBA-47B3-8C63-EAD937C328D1}" type="datetime1">
              <a:rPr lang="zh-TW" altLang="en-US" smtClean="0"/>
              <a:t>2023/6/27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3340C-74EA-761B-F592-FD6C4469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16107-4110-8028-60EF-14E5F2D1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81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481-AD55-0A04-6A16-2FE5FE1F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A7E5-F55B-C36B-5945-661CDB1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45507-E0DA-CCE2-C66E-2F29EA6A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0A186-4631-35C9-68C0-298149F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9CB4A-921C-4216-9056-986295B6B351}" type="datetime1">
              <a:rPr lang="zh-TW" altLang="en-US" smtClean="0"/>
              <a:t>2023/6/27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C9F0-1D2E-CD0B-A6B8-A8337FE5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3D3E-1C05-2CFF-6405-4771E57F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5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9362-71C4-6CF9-38E0-C4F81738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231A-174C-8A04-7F37-326E7B3D7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3C50E-C2ED-00AE-E101-79CFAFB17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4BE7B-D25D-CFE2-B089-BAA86DC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2F44B-5705-4772-8785-D8AAB7BCD3BF}" type="datetime1">
              <a:rPr lang="zh-TW" altLang="en-US" smtClean="0"/>
              <a:t>2023/6/27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EA70-9CF5-E2A3-4310-0B5FAE7B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4B4A-B942-A3BD-6BA9-01E17E55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0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6AD-5403-1ACC-D4D1-96B39DD8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60034-6B39-C082-088F-72D19BFE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03D3-C2D4-4034-17A0-8D2928B1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920-BF4E-4A34-B8B5-5D2BB9836F35}" type="datetime1">
              <a:rPr lang="zh-TW" altLang="en-US" smtClean="0"/>
              <a:t>2023/6/27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5024-0915-E154-0CBE-65A94D23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C4D6-1F53-D5A1-0F98-4AF14C84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9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8714A-61BB-5406-A5DA-BC8910B5C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0A4F-7A22-6245-0B0A-635765A85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23698-D80C-5B02-26C3-B7E0D020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23D5-CB9E-42C4-A443-74EE43A78F1A}" type="datetime1">
              <a:rPr lang="zh-TW" altLang="en-US" smtClean="0"/>
              <a:t>2023/6/27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1CDA-4309-2D61-CD40-8DE7FA2E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EE89-0D64-3A74-3CEA-425D035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92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B272-2800-21BB-F226-6BCB7515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A0C83-E1FB-8AAC-CDEA-98C2D15B7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59ED-035C-8CC1-CFE9-73EA26D0C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CDBA5-E58B-4CB2-961D-91717090BBCB}" type="datetime1">
              <a:rPr lang="zh-TW" altLang="en-US" smtClean="0"/>
              <a:t>2023/6/27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D3AA-0139-02CF-DF2C-5E6C9CB6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16DD-A0C6-441C-56CA-8F27599A8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3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01A9-EC42-0349-C42C-1EF1F72BF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3962" y="1122363"/>
            <a:ext cx="9966552" cy="2387600"/>
          </a:xfrm>
        </p:spPr>
        <p:txBody>
          <a:bodyPr>
            <a:noAutofit/>
          </a:bodyPr>
          <a:lstStyle/>
          <a:p>
            <a:r>
              <a:rPr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Order-Preserving Multiple Pattern Matching in Parallel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BE6CB-9CF8-48E7-B831-C6B10B6C0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014" y="3928587"/>
            <a:ext cx="10842447" cy="1655762"/>
          </a:xfrm>
        </p:spPr>
        <p:txBody>
          <a:bodyPr>
            <a:norm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Somin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Jinhyeok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Youngho Kim and Jeong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Seop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Sim,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Sciences. 2023, Vol. 13 Issue 8, pp. 5142-5151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272805CA-C188-EA0E-0232-5E39FC11B582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Wen-Wen Liao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June 27,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AB76B-0FAF-9711-6F27-1F8F6638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785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3735-885C-D762-2A7C-7760F6C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866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A558-83F5-DC4B-E8C9-3EB0801F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298"/>
            <a:ext cx="10797330" cy="469783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order-preserving multiple pattern matching problem is to find all substrings of T whose relative orders are the same for any pattern in a set of patterns. Various sequential algorithms have been studied for the order-preserving multiple pattern matching problems. In this paper, we propose two parallel algorithms, each of which uses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Aho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Corasick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automata and fingerprint tables, respectively. We also present experimental results of comparing the execution times of each parallel algorithm on various types of time-series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5E3F4-879A-1E75-AEA8-8BFC5FE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190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Order-Preserving Multiple Pattern Matching (OPMPM)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To find all substrings of T that are order-isomorphic to any P</a:t>
            </a:r>
            <a:r>
              <a:rPr kumimoji="1" lang="en-US" altLang="zh-TW" sz="1800" dirty="0">
                <a:latin typeface="Cambria Math" panose="020405030504060302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(1 ≤ a ≤ k) in </a:t>
            </a:r>
            <a:r>
              <a:rPr kumimoji="1" lang="en-US" altLang="zh-TW" sz="2400" i="1" dirty="0">
                <a:latin typeface="Castellar" panose="020A0402060406010301" pitchFamily="18" charset="0"/>
                <a:cs typeface="Times New Roman" panose="02020603050405020304" pitchFamily="18" charset="0"/>
              </a:rPr>
              <a:t>P</a:t>
            </a:r>
          </a:p>
          <a:p>
            <a:endParaRPr kumimoji="1" lang="en-US" altLang="zh-TW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𝑇 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= (41, 36, 15, 8, </a:t>
            </a:r>
            <a:r>
              <a:rPr kumimoji="1" lang="en-US" altLang="zh-TW" sz="2400" u="sng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41, 23, 28, </a:t>
            </a:r>
            <a:r>
              <a:rPr kumimoji="1" lang="en-US" altLang="zh-TW" sz="2400" u="sng" dirty="0">
                <a:solidFill>
                  <a:srgbClr val="0070C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16, 26, 22, 56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, 29, 12, 61)</a:t>
            </a:r>
          </a:p>
          <a:p>
            <a:r>
              <a:rPr kumimoji="1" lang="en-US" altLang="zh-TW" sz="2400" i="1" dirty="0">
                <a:latin typeface="Castellar" panose="020A0402060406010301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400" i="1" dirty="0">
                <a:latin typeface="Cambria Math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= {(</a:t>
            </a:r>
            <a:r>
              <a:rPr kumimoji="1" lang="en-US" altLang="zh-TW" sz="24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6, 3, 5, 1, 4, 2, 7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), (</a:t>
            </a:r>
            <a:r>
              <a:rPr kumimoji="1" lang="en-US" altLang="zh-TW" sz="2400" dirty="0">
                <a:solidFill>
                  <a:srgbClr val="0070C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1, 3, 2, 5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)}</a:t>
            </a:r>
          </a:p>
          <a:p>
            <a:endParaRPr kumimoji="1" lang="en-US" altLang="zh-TW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TW" sz="2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05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Order-Preserving Multiple Pattern Matching (OPMPM)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4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Prefix table: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zh-TW" alt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[</a:t>
                </a:r>
                <a:r>
                  <a:rPr kumimoji="1" lang="en-US" altLang="zh-TW" sz="2400" dirty="0" err="1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] represents the number of characters that are smaller than x[</a:t>
                </a:r>
                <a:r>
                  <a:rPr kumimoji="1" lang="en-US" altLang="zh-TW" sz="2400" dirty="0" err="1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] in x[1..i].</a:t>
                </a:r>
              </a:p>
              <a:p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Position table: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𝑃𝑂𝑆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[</a:t>
                </a:r>
                <a:r>
                  <a:rPr kumimoji="1" lang="en-US" altLang="zh-TW" sz="2400" dirty="0" err="1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] is the index of the </a:t>
                </a:r>
                <a:r>
                  <a:rPr kumimoji="1" lang="en-US" altLang="zh-TW" sz="2400" dirty="0" err="1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i-th</a:t>
                </a:r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smallest character in x.</a:t>
                </a:r>
              </a:p>
              <a:p>
                <a:pPr marL="0" indent="0">
                  <a:buNone/>
                </a:pPr>
                <a:endParaRPr kumimoji="1" lang="en-U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x = (23, 29, 20, 57, 59)</a:t>
                </a:r>
              </a:p>
              <a:p>
                <a:pPr marL="0" indent="0">
                  <a:buNone/>
                </a:pPr>
                <a:endParaRPr kumimoji="1" lang="en-US" altLang="zh-TW" sz="26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1920" r="-10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B6CBC69-EDC9-8E1F-3672-32C491184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678" y="4299269"/>
            <a:ext cx="8916644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3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OPMPM Algorithm Using the </a:t>
            </a:r>
            <a:r>
              <a:rPr kumimoji="1" lang="en-US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Aho</a:t>
            </a:r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1" lang="en-US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Corasick</a:t>
            </a:r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Automaton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5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Preprocessing:  create prefix tables using O(M) threads in O(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time.</a:t>
                </a:r>
                <a:endParaRPr kumimoji="1" lang="en-US" altLang="zh-TW" sz="26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19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173464B-4AFA-0DD9-9F0F-6A8509CB6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351" y="2773933"/>
            <a:ext cx="4931449" cy="25629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B39D13-2484-3714-6778-13C5537AC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6" y="2432350"/>
            <a:ext cx="4820323" cy="26768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8896F0-0B1E-D362-7E3C-3524B2447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6239" y="2559982"/>
            <a:ext cx="1634136" cy="25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41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OPMPM Algorithm Using the </a:t>
            </a:r>
            <a:r>
              <a:rPr kumimoji="1" lang="en-US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Aho</a:t>
            </a:r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1" lang="en-US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Corasick</a:t>
            </a:r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Automaton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6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Searching:  T is divided into b blocks and each block is searched in parallel using b threads</a:t>
                </a:r>
              </a:p>
              <a:p>
                <a:endParaRPr kumimoji="1" lang="en-U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kumimoji="1" lang="en-U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kumimoji="1" lang="en-U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kumimoji="1" lang="en-U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kumimoji="1" lang="en-U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kumimoji="1" lang="en-U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Block size: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kumimoji="1"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acc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 and insertion, deletion, and rank in order-statistics tree need O(log</a:t>
                </a:r>
                <a:r>
                  <a:rPr kumimoji="1"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</a:t>
                </a:r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→ O((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kumimoji="1"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acc>
                    <m:r>
                      <a:rPr kumimoji="1"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log</a:t>
                </a:r>
                <a:r>
                  <a:rPr kumimoji="1"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→</a:t>
                </a:r>
                <a14:m>
                  <m:oMath xmlns:m="http://schemas.openxmlformats.org/officeDocument/2006/math">
                    <m:r>
                      <a:rPr kumimoji="1"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∴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kumimoji="1"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acc>
                          <m:accPr>
                            <m:chr m:val="̅"/>
                            <m:ctrlP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</m:acc>
                      </m:e>
                    </m:d>
                  </m:oMath>
                </a14:m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 ∵ </a:t>
                </a:r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O(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log</a:t>
                </a:r>
                <a:r>
                  <a:rPr kumimoji="1"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1920" r="-14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D1D5F5EF-9D91-8D9C-57F1-15EF04880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2006" y="2945386"/>
            <a:ext cx="8068838" cy="19462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C999B4-9977-156B-E3F5-C1C8597B01DC}"/>
                  </a:ext>
                </a:extLst>
              </p:cNvPr>
              <p:cNvSpPr txBox="1"/>
              <p:nvPr/>
            </p:nvSpPr>
            <p:spPr>
              <a:xfrm>
                <a:off x="3048000" y="257605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order-isomorphic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occur across two adjacent blocks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C999B4-9977-156B-E3F5-C1C8597B0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576054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l="-800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DC7230A7-88B1-C92D-108A-E8739548C991}"/>
              </a:ext>
            </a:extLst>
          </p:cNvPr>
          <p:cNvSpPr/>
          <p:nvPr/>
        </p:nvSpPr>
        <p:spPr>
          <a:xfrm>
            <a:off x="4490720" y="3760789"/>
            <a:ext cx="487680" cy="5907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CED459-CF33-FD80-4863-1F2C776F68EE}"/>
              </a:ext>
            </a:extLst>
          </p:cNvPr>
          <p:cNvCxnSpPr>
            <a:stCxn id="13" idx="2"/>
          </p:cNvCxnSpPr>
          <p:nvPr/>
        </p:nvCxnSpPr>
        <p:spPr>
          <a:xfrm flipH="1">
            <a:off x="4978400" y="2945386"/>
            <a:ext cx="1117600" cy="7360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41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OPMPM Algorithm Using the Fingerprint Table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7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Preprocessing:  create position tables using O(M) threads in O(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time and the fingerprint table can be calculated in O(q) time using O(</a:t>
                </a:r>
                <a:r>
                  <a:rPr kumimoji="1" lang="en-US" altLang="zh-TW" sz="2400" dirty="0" err="1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kq</a:t>
                </a:r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threads.</a:t>
                </a:r>
              </a:p>
              <a:p>
                <a:pPr marL="0" indent="0">
                  <a:buNone/>
                </a:pPr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→O(M) threads in O(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time </a:t>
                </a:r>
                <a:endParaRPr kumimoji="1" lang="en-US" altLang="zh-TW" sz="26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1920" r="-2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5F50F08-5E18-CFCB-E884-88B1702E3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111" y="3251200"/>
            <a:ext cx="5430068" cy="286886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B4F0665-571D-4760-00CC-F29D246404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179" y="5616455"/>
            <a:ext cx="4620270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OPMPM Algorithm Using the Fingerprint Table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Searching :  </a:t>
            </a:r>
            <a:r>
              <a:rPr kumimoji="1" lang="pt-BR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calculates f(T[i + m − q..i + m − 1]) and compare with FP</a:t>
            </a:r>
          </a:p>
          <a:p>
            <a:pPr marL="0" indent="0">
              <a:buNone/>
            </a:pPr>
            <a:r>
              <a:rPr kumimoji="1" lang="pt-BR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	→O(M) time using O(n) threads</a:t>
            </a:r>
            <a:endParaRPr kumimoji="1" lang="en-US" altLang="zh-TW" sz="2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5137F7-043C-BA6E-F5F0-7904FEACA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758" y="3429000"/>
            <a:ext cx="8061849" cy="26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188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Data</a:t>
            </a:r>
          </a:p>
          <a:p>
            <a:pPr lvl="1"/>
            <a:r>
              <a:rPr kumimoji="1" lang="en-US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Randomly generated strings</a:t>
            </a:r>
          </a:p>
          <a:p>
            <a:pPr lvl="1"/>
            <a:r>
              <a:rPr kumimoji="1" lang="en-US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Dow Jones Index</a:t>
            </a:r>
          </a:p>
          <a:p>
            <a:pPr lvl="1"/>
            <a:r>
              <a:rPr kumimoji="1" lang="en-US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Electrocardiogram data</a:t>
            </a:r>
          </a:p>
        </p:txBody>
      </p:sp>
    </p:spTree>
    <p:extLst>
      <p:ext uri="{BB962C8B-B14F-4D97-AF65-F5344CB8AC3E}">
        <p14:creationId xmlns:p14="http://schemas.microsoft.com/office/powerpoint/2010/main" val="256456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Comparison of execution times of AC and 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pAC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 for randomly generated strings.</a:t>
            </a:r>
            <a:endParaRPr kumimoji="1" lang="en-US" altLang="zh-TW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1CDE0C-4F5A-0599-67F2-B8407D659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534" y="2742552"/>
            <a:ext cx="4547449" cy="27034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EE3DE1-4D4A-5720-90D0-EFA28151F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42551"/>
            <a:ext cx="4478984" cy="27034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A5DFB6-0272-6D3F-F652-8F5A2AE2EEBF}"/>
              </a:ext>
            </a:extLst>
          </p:cNvPr>
          <p:cNvSpPr txBox="1"/>
          <p:nvPr/>
        </p:nvSpPr>
        <p:spPr>
          <a:xfrm>
            <a:off x="1444744" y="5445978"/>
            <a:ext cx="4226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Comparison of execution times of AC and </a:t>
            </a:r>
            <a:r>
              <a:rPr lang="en-US" altLang="zh-TW" sz="1600" dirty="0" err="1"/>
              <a:t>pAC</a:t>
            </a:r>
            <a:r>
              <a:rPr lang="en-US" altLang="zh-TW" sz="1600" dirty="0"/>
              <a:t> varying n for randomly generated strings when m = 9 and k = 100.</a:t>
            </a:r>
            <a:endParaRPr lang="zh-TW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7C3FB5-E04A-D46E-1754-C37A3497D47E}"/>
              </a:ext>
            </a:extLst>
          </p:cNvPr>
          <p:cNvSpPr txBox="1"/>
          <p:nvPr/>
        </p:nvSpPr>
        <p:spPr>
          <a:xfrm>
            <a:off x="6414019" y="5445978"/>
            <a:ext cx="40538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Comparison of execution times of AC and </a:t>
            </a:r>
            <a:r>
              <a:rPr lang="en-US" altLang="zh-TW" sz="1600" dirty="0" err="1"/>
              <a:t>pAC</a:t>
            </a:r>
            <a:r>
              <a:rPr lang="en-US" altLang="zh-TW" sz="1600" dirty="0"/>
              <a:t> varying k for randomly generated strings when n = 100,000 and m = 9.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73569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Comparison of execution times of FT and 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pFT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 for randomly generated strings.</a:t>
            </a:r>
            <a:endParaRPr kumimoji="1" lang="en-US" altLang="zh-TW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1CDE0C-4F5A-0599-67F2-B8407D659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0534" y="2750306"/>
            <a:ext cx="4547449" cy="26879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EE3DE1-4D4A-5720-90D0-EFA28151F3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2754028"/>
            <a:ext cx="4478984" cy="26804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A5DFB6-0272-6D3F-F652-8F5A2AE2EEBF}"/>
              </a:ext>
            </a:extLst>
          </p:cNvPr>
          <p:cNvSpPr txBox="1"/>
          <p:nvPr/>
        </p:nvSpPr>
        <p:spPr>
          <a:xfrm>
            <a:off x="1444744" y="5445978"/>
            <a:ext cx="4226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Comparison of execution times of FT and </a:t>
            </a:r>
            <a:r>
              <a:rPr lang="en-US" altLang="zh-TW" sz="1600" dirty="0" err="1"/>
              <a:t>pFT</a:t>
            </a:r>
            <a:r>
              <a:rPr lang="en-US" altLang="zh-TW" sz="1600" dirty="0"/>
              <a:t> according to n for randomly generated</a:t>
            </a:r>
          </a:p>
          <a:p>
            <a:r>
              <a:rPr lang="en-US" altLang="zh-TW" sz="1600" dirty="0"/>
              <a:t>strings when m = 9 and k = 100.</a:t>
            </a:r>
            <a:endParaRPr lang="zh-TW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7C3FB5-E04A-D46E-1754-C37A3497D47E}"/>
              </a:ext>
            </a:extLst>
          </p:cNvPr>
          <p:cNvSpPr txBox="1"/>
          <p:nvPr/>
        </p:nvSpPr>
        <p:spPr>
          <a:xfrm>
            <a:off x="6414019" y="5445978"/>
            <a:ext cx="40538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Comparison of execution times of FT and </a:t>
            </a:r>
            <a:r>
              <a:rPr lang="en-US" altLang="zh-TW" sz="1600" dirty="0" err="1"/>
              <a:t>pFT</a:t>
            </a:r>
            <a:r>
              <a:rPr lang="en-US" altLang="zh-TW" sz="1600" dirty="0"/>
              <a:t> according to k for randomly generated</a:t>
            </a:r>
          </a:p>
          <a:p>
            <a:r>
              <a:rPr lang="en-US" altLang="zh-TW" sz="1600" dirty="0"/>
              <a:t>strings when n = 100,000 and m = 9.</a:t>
            </a:r>
          </a:p>
        </p:txBody>
      </p:sp>
    </p:spTree>
    <p:extLst>
      <p:ext uri="{BB962C8B-B14F-4D97-AF65-F5344CB8AC3E}">
        <p14:creationId xmlns:p14="http://schemas.microsoft.com/office/powerpoint/2010/main" val="418081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Comparison of execution times of 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pKR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pAC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, and 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pFT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.</a:t>
            </a:r>
            <a:endParaRPr kumimoji="1" lang="en-US" altLang="zh-TW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CAFB88-BFBC-4040-8086-6BBC2F2D9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914" y="2541425"/>
            <a:ext cx="6016171" cy="30280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1F340D-87D0-65E9-879E-274C13CECB1B}"/>
              </a:ext>
            </a:extLst>
          </p:cNvPr>
          <p:cNvSpPr txBox="1"/>
          <p:nvPr/>
        </p:nvSpPr>
        <p:spPr>
          <a:xfrm>
            <a:off x="3296193" y="5769315"/>
            <a:ext cx="55996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Comparison of execution times of </a:t>
            </a:r>
            <a:r>
              <a:rPr lang="en-US" altLang="zh-TW" sz="1400" dirty="0" err="1"/>
              <a:t>pAC</a:t>
            </a:r>
            <a:r>
              <a:rPr lang="en-US" altLang="zh-TW" sz="1400" dirty="0"/>
              <a:t>, </a:t>
            </a:r>
            <a:r>
              <a:rPr lang="en-US" altLang="zh-TW" sz="1400" dirty="0" err="1"/>
              <a:t>pKR</a:t>
            </a:r>
            <a:r>
              <a:rPr lang="en-US" altLang="zh-TW" sz="1400" dirty="0"/>
              <a:t>, and </a:t>
            </a:r>
            <a:r>
              <a:rPr lang="en-US" altLang="zh-TW" sz="1400" dirty="0" err="1"/>
              <a:t>pFT</a:t>
            </a:r>
            <a:r>
              <a:rPr lang="en-US" altLang="zh-TW" sz="1400" dirty="0"/>
              <a:t> for random strings.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1677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Comparison of execution times of 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pKR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pAC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, and 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pFT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.</a:t>
            </a:r>
            <a:endParaRPr kumimoji="1" lang="en-US" altLang="zh-TW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CAFB88-BFBC-4040-8086-6BBC2F2D9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0283" y="2541425"/>
            <a:ext cx="5971432" cy="30280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1F340D-87D0-65E9-879E-274C13CECB1B}"/>
              </a:ext>
            </a:extLst>
          </p:cNvPr>
          <p:cNvSpPr txBox="1"/>
          <p:nvPr/>
        </p:nvSpPr>
        <p:spPr>
          <a:xfrm>
            <a:off x="3110283" y="5769315"/>
            <a:ext cx="5971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Comparison of execution times of </a:t>
            </a:r>
            <a:r>
              <a:rPr lang="en-US" altLang="zh-TW" sz="1400" dirty="0" err="1"/>
              <a:t>pAC</a:t>
            </a:r>
            <a:r>
              <a:rPr lang="en-US" altLang="zh-TW" sz="1400" dirty="0"/>
              <a:t>, </a:t>
            </a:r>
            <a:r>
              <a:rPr lang="en-US" altLang="zh-TW" sz="1400" dirty="0" err="1"/>
              <a:t>pKR</a:t>
            </a:r>
            <a:r>
              <a:rPr lang="en-US" altLang="zh-TW" sz="1400" dirty="0"/>
              <a:t>, and </a:t>
            </a:r>
            <a:r>
              <a:rPr lang="en-US" altLang="zh-TW" sz="1400" dirty="0" err="1"/>
              <a:t>pFT</a:t>
            </a:r>
            <a:r>
              <a:rPr lang="en-US" altLang="zh-TW" sz="1400" dirty="0"/>
              <a:t> for Dow Jones Index data.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598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Comparison of execution times of 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pKR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pAC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, and 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pFT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.</a:t>
            </a:r>
            <a:endParaRPr kumimoji="1" lang="en-US" altLang="zh-TW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CAFB88-BFBC-4040-8086-6BBC2F2D9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0283" y="2637853"/>
            <a:ext cx="5971432" cy="28351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1F340D-87D0-65E9-879E-274C13CECB1B}"/>
              </a:ext>
            </a:extLst>
          </p:cNvPr>
          <p:cNvSpPr txBox="1"/>
          <p:nvPr/>
        </p:nvSpPr>
        <p:spPr>
          <a:xfrm>
            <a:off x="3506523" y="5721101"/>
            <a:ext cx="5971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Comparison of execution times of </a:t>
            </a:r>
            <a:r>
              <a:rPr lang="en-US" altLang="zh-TW" sz="1400" dirty="0" err="1"/>
              <a:t>pAC</a:t>
            </a:r>
            <a:r>
              <a:rPr lang="en-US" altLang="zh-TW" sz="1400" dirty="0"/>
              <a:t>, </a:t>
            </a:r>
            <a:r>
              <a:rPr lang="en-US" altLang="zh-TW" sz="1400" dirty="0" err="1"/>
              <a:t>pKR</a:t>
            </a:r>
            <a:r>
              <a:rPr lang="en-US" altLang="zh-TW" sz="1400" dirty="0"/>
              <a:t>, and </a:t>
            </a:r>
            <a:r>
              <a:rPr lang="en-US" altLang="zh-TW" sz="1400" dirty="0" err="1"/>
              <a:t>pFT</a:t>
            </a:r>
            <a:r>
              <a:rPr lang="en-US" altLang="zh-TW" sz="1400" dirty="0"/>
              <a:t> for ECG data.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8514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E32A-8416-A57A-A55B-17B6957E2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49979-F5A7-6534-10C1-F73624405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OPMPM Algorithm Using the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Aho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Corasick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Automaton</a:t>
            </a:r>
          </a:p>
          <a:p>
            <a:pPr lvl="1"/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2.12 times faster than the sequential algorithm</a:t>
            </a: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OPMPM Algorithm Using the Fingerprint Table</a:t>
            </a:r>
          </a:p>
          <a:p>
            <a:pPr lvl="1"/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1.6 times faster than the sequential algorithm</a:t>
            </a:r>
          </a:p>
          <a:p>
            <a:pPr marL="457200" lvl="1" indent="0">
              <a:buNone/>
            </a:pPr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1E5CC-1099-B1E7-5DBB-2AD99AD3A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459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9978</TotalTime>
  <Words>780</Words>
  <Application>Microsoft Office PowerPoint</Application>
  <PresentationFormat>寬螢幕</PresentationFormat>
  <Paragraphs>93</Paragraphs>
  <Slides>15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Castellar</vt:lpstr>
      <vt:lpstr>Times New Roman</vt:lpstr>
      <vt:lpstr>Office Theme</vt:lpstr>
      <vt:lpstr>Order-Preserving Multiple Pattern Matching in Parallel</vt:lpstr>
      <vt:lpstr>Abstract </vt:lpstr>
      <vt:lpstr>Order-Preserving Multiple Pattern Matching (OPMPM)</vt:lpstr>
      <vt:lpstr>Order-Preserving Multiple Pattern Matching (OPMPM)</vt:lpstr>
      <vt:lpstr>Parallel OPMPM Algorithm Using the Aho–Corasick Automaton</vt:lpstr>
      <vt:lpstr>Parallel OPMPM Algorithm Using the Aho–Corasick Automaton</vt:lpstr>
      <vt:lpstr>Parallel OPMPM Algorithm Using the Fingerprint Table</vt:lpstr>
      <vt:lpstr>Parallel OPMPM Algorithm Using the Fingerprint Table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Substring Inclusion Constraint Longest Common Subsequence Problem Can Be Solved in Quadratic Time</dc:title>
  <dc:creator>Wen Wen Liao</dc:creator>
  <cp:lastModifiedBy>Wen Wen Liao</cp:lastModifiedBy>
  <cp:revision>170</cp:revision>
  <dcterms:created xsi:type="dcterms:W3CDTF">2022-10-11T15:33:00Z</dcterms:created>
  <dcterms:modified xsi:type="dcterms:W3CDTF">2023-06-27T06:47:34Z</dcterms:modified>
</cp:coreProperties>
</file>