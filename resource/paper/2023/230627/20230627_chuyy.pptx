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
  </p:notesMasterIdLst>
  <p:sldIdLst>
    <p:sldId id="256" r:id="rId2"/>
    <p:sldId id="257" r:id="rId3"/>
    <p:sldId id="286" r:id="rId4"/>
    <p:sldId id="258" r:id="rId5"/>
    <p:sldId id="261" r:id="rId6"/>
    <p:sldId id="262" r:id="rId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777"/>
    <p:restoredTop sz="95788"/>
  </p:normalViewPr>
  <p:slideViewPr>
    <p:cSldViewPr snapToGrid="0" snapToObjects="1">
      <p:cViewPr varScale="1">
        <p:scale>
          <a:sx n="70" d="100"/>
          <a:sy n="70" d="100"/>
        </p:scale>
        <p:origin x="87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685761-BC47-1640-B177-90544C5C7DE3}" type="datetimeFigureOut">
              <a:rPr kumimoji="1" lang="zh-TW" altLang="en-US" smtClean="0"/>
              <a:t>2023/6/27</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DF88BA-E6E4-4543-BA48-BA0FF57EDFDD}" type="slidenum">
              <a:rPr kumimoji="1" lang="zh-TW" altLang="en-US" smtClean="0"/>
              <a:t>‹#›</a:t>
            </a:fld>
            <a:endParaRPr kumimoji="1" lang="zh-TW" altLang="en-US"/>
          </a:p>
        </p:txBody>
      </p:sp>
    </p:spTree>
    <p:extLst>
      <p:ext uri="{BB962C8B-B14F-4D97-AF65-F5344CB8AC3E}">
        <p14:creationId xmlns:p14="http://schemas.microsoft.com/office/powerpoint/2010/main" val="129180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8AFC48-3333-9D44-9A46-EBD28493A784}"/>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2FDEA52E-50C8-2B46-853E-68D8E0AC5B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按一下以編輯母片副標題樣式</a:t>
            </a:r>
          </a:p>
        </p:txBody>
      </p:sp>
      <p:sp>
        <p:nvSpPr>
          <p:cNvPr id="4" name="日期版面配置區 3">
            <a:extLst>
              <a:ext uri="{FF2B5EF4-FFF2-40B4-BE49-F238E27FC236}">
                <a16:creationId xmlns:a16="http://schemas.microsoft.com/office/drawing/2014/main" id="{99949C8A-F130-D646-AB33-6ACF0EC20126}"/>
              </a:ext>
            </a:extLst>
          </p:cNvPr>
          <p:cNvSpPr>
            <a:spLocks noGrp="1"/>
          </p:cNvSpPr>
          <p:nvPr>
            <p:ph type="dt" sz="half" idx="10"/>
          </p:nvPr>
        </p:nvSpPr>
        <p:spPr/>
        <p:txBody>
          <a:bodyPr/>
          <a:lstStyle/>
          <a:p>
            <a:fld id="{1D559227-5104-0D4E-AE2B-CFC6EF24DF26}" type="datetime1">
              <a:rPr kumimoji="1" lang="zh-TW" altLang="en-US" smtClean="0"/>
              <a:t>2023/6/27</a:t>
            </a:fld>
            <a:endParaRPr kumimoji="1" lang="zh-TW" altLang="en-US"/>
          </a:p>
        </p:txBody>
      </p:sp>
      <p:sp>
        <p:nvSpPr>
          <p:cNvPr id="5" name="頁尾版面配置區 4">
            <a:extLst>
              <a:ext uri="{FF2B5EF4-FFF2-40B4-BE49-F238E27FC236}">
                <a16:creationId xmlns:a16="http://schemas.microsoft.com/office/drawing/2014/main" id="{E450D42D-775A-2146-B8BB-C9CE9A382E72}"/>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1E502A-64F7-7C4E-B509-954BE6D3A0A2}"/>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5589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580369-97FF-B548-BB55-CB8DCE6B862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573028B2-5CCA-8C4B-A152-A6977DB014FE}"/>
              </a:ext>
            </a:extLst>
          </p:cNvPr>
          <p:cNvSpPr>
            <a:spLocks noGrp="1"/>
          </p:cNvSpPr>
          <p:nvPr>
            <p:ph idx="1"/>
          </p:nvPr>
        </p:nvSpPr>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2B847DA-2EF1-9E49-8F1B-E3D7D56E3B97}"/>
              </a:ext>
            </a:extLst>
          </p:cNvPr>
          <p:cNvSpPr>
            <a:spLocks noGrp="1"/>
          </p:cNvSpPr>
          <p:nvPr>
            <p:ph type="dt" sz="half" idx="10"/>
          </p:nvPr>
        </p:nvSpPr>
        <p:spPr/>
        <p:txBody>
          <a:bodyPr/>
          <a:lstStyle/>
          <a:p>
            <a:fld id="{6B7B55EC-044C-AD45-985E-A0F6561D9028}" type="datetime1">
              <a:rPr kumimoji="1" lang="zh-TW" altLang="en-US" smtClean="0"/>
              <a:t>2023/6/27</a:t>
            </a:fld>
            <a:endParaRPr kumimoji="1" lang="zh-TW" altLang="en-US"/>
          </a:p>
        </p:txBody>
      </p:sp>
      <p:sp>
        <p:nvSpPr>
          <p:cNvPr id="5" name="頁尾版面配置區 4">
            <a:extLst>
              <a:ext uri="{FF2B5EF4-FFF2-40B4-BE49-F238E27FC236}">
                <a16:creationId xmlns:a16="http://schemas.microsoft.com/office/drawing/2014/main" id="{6F09B162-6F92-BD4C-A01A-413E3321E0F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6743639-9C98-CC43-9A7E-7827356595CB}"/>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996406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07A748-F79F-F346-8961-AA8DB18739C9}"/>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3E6C14E7-8AB9-AE4F-8AB3-D0046CEF4C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編輯母片文字樣式</a:t>
            </a:r>
          </a:p>
        </p:txBody>
      </p:sp>
      <p:sp>
        <p:nvSpPr>
          <p:cNvPr id="4" name="日期版面配置區 3">
            <a:extLst>
              <a:ext uri="{FF2B5EF4-FFF2-40B4-BE49-F238E27FC236}">
                <a16:creationId xmlns:a16="http://schemas.microsoft.com/office/drawing/2014/main" id="{17A4DA8E-2AC4-874C-948B-4FEBEEDEF653}"/>
              </a:ext>
            </a:extLst>
          </p:cNvPr>
          <p:cNvSpPr>
            <a:spLocks noGrp="1"/>
          </p:cNvSpPr>
          <p:nvPr>
            <p:ph type="dt" sz="half" idx="10"/>
          </p:nvPr>
        </p:nvSpPr>
        <p:spPr/>
        <p:txBody>
          <a:bodyPr/>
          <a:lstStyle/>
          <a:p>
            <a:fld id="{1BE45051-DBAB-7C4D-ADA4-56271E2E2BD3}" type="datetime1">
              <a:rPr kumimoji="1" lang="zh-TW" altLang="en-US" smtClean="0"/>
              <a:t>2023/6/27</a:t>
            </a:fld>
            <a:endParaRPr kumimoji="1" lang="zh-TW" altLang="en-US"/>
          </a:p>
        </p:txBody>
      </p:sp>
      <p:sp>
        <p:nvSpPr>
          <p:cNvPr id="5" name="頁尾版面配置區 4">
            <a:extLst>
              <a:ext uri="{FF2B5EF4-FFF2-40B4-BE49-F238E27FC236}">
                <a16:creationId xmlns:a16="http://schemas.microsoft.com/office/drawing/2014/main" id="{98E82387-02E0-C34C-8788-958DE14FAF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904864AD-726D-904D-9686-9656A2465A6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07744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51106A-DE42-B644-B664-A92563662205}"/>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E99A4BD2-86D7-EF4D-8B1D-D7A873433A35}"/>
              </a:ext>
            </a:extLst>
          </p:cNvPr>
          <p:cNvSpPr>
            <a:spLocks noGrp="1"/>
          </p:cNvSpPr>
          <p:nvPr>
            <p:ph sz="half" idx="1"/>
          </p:nvPr>
        </p:nvSpPr>
        <p:spPr>
          <a:xfrm>
            <a:off x="838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697BFE0C-75E1-374C-A1BE-B0F7AB5B1191}"/>
              </a:ext>
            </a:extLst>
          </p:cNvPr>
          <p:cNvSpPr>
            <a:spLocks noGrp="1"/>
          </p:cNvSpPr>
          <p:nvPr>
            <p:ph sz="half" idx="2"/>
          </p:nvPr>
        </p:nvSpPr>
        <p:spPr>
          <a:xfrm>
            <a:off x="6172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A42632B-169D-B247-A46A-487B2CEEEE45}"/>
              </a:ext>
            </a:extLst>
          </p:cNvPr>
          <p:cNvSpPr>
            <a:spLocks noGrp="1"/>
          </p:cNvSpPr>
          <p:nvPr>
            <p:ph type="dt" sz="half" idx="10"/>
          </p:nvPr>
        </p:nvSpPr>
        <p:spPr/>
        <p:txBody>
          <a:bodyPr/>
          <a:lstStyle/>
          <a:p>
            <a:fld id="{C1EF0564-7FFB-CA45-9BCE-B6282CFC5BC4}" type="datetime1">
              <a:rPr kumimoji="1" lang="zh-TW" altLang="en-US" smtClean="0"/>
              <a:t>2023/6/27</a:t>
            </a:fld>
            <a:endParaRPr kumimoji="1" lang="zh-TW" altLang="en-US"/>
          </a:p>
        </p:txBody>
      </p:sp>
      <p:sp>
        <p:nvSpPr>
          <p:cNvPr id="6" name="頁尾版面配置區 5">
            <a:extLst>
              <a:ext uri="{FF2B5EF4-FFF2-40B4-BE49-F238E27FC236}">
                <a16:creationId xmlns:a16="http://schemas.microsoft.com/office/drawing/2014/main" id="{E5B42995-7EC8-AD4B-B91A-DB5FDC9376BF}"/>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35303DE2-E496-1F41-A7FE-CF2E2D9DD903}"/>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00202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83B446-AFD9-BC43-8D50-6C488C6FF28E}"/>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572EBCA2-C8A4-8C43-8427-BBA9B59598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4" name="內容版面配置區 3">
            <a:extLst>
              <a:ext uri="{FF2B5EF4-FFF2-40B4-BE49-F238E27FC236}">
                <a16:creationId xmlns:a16="http://schemas.microsoft.com/office/drawing/2014/main" id="{AA4AB07E-104F-1546-A76D-27C9172D2012}"/>
              </a:ext>
            </a:extLst>
          </p:cNvPr>
          <p:cNvSpPr>
            <a:spLocks noGrp="1"/>
          </p:cNvSpPr>
          <p:nvPr>
            <p:ph sz="half" idx="2"/>
          </p:nvPr>
        </p:nvSpPr>
        <p:spPr>
          <a:xfrm>
            <a:off x="839788" y="2505075"/>
            <a:ext cx="5157787"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4EDA1436-7B7F-424E-BDF6-9B2679D978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6" name="內容版面配置區 5">
            <a:extLst>
              <a:ext uri="{FF2B5EF4-FFF2-40B4-BE49-F238E27FC236}">
                <a16:creationId xmlns:a16="http://schemas.microsoft.com/office/drawing/2014/main" id="{5EE7DA3D-69F7-CE40-B4D5-8558AC0D6BA6}"/>
              </a:ext>
            </a:extLst>
          </p:cNvPr>
          <p:cNvSpPr>
            <a:spLocks noGrp="1"/>
          </p:cNvSpPr>
          <p:nvPr>
            <p:ph sz="quarter" idx="4"/>
          </p:nvPr>
        </p:nvSpPr>
        <p:spPr>
          <a:xfrm>
            <a:off x="6172200" y="2505075"/>
            <a:ext cx="5183188"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F204E6A0-241E-D240-ACC4-4197BB01AB8C}"/>
              </a:ext>
            </a:extLst>
          </p:cNvPr>
          <p:cNvSpPr>
            <a:spLocks noGrp="1"/>
          </p:cNvSpPr>
          <p:nvPr>
            <p:ph type="dt" sz="half" idx="10"/>
          </p:nvPr>
        </p:nvSpPr>
        <p:spPr/>
        <p:txBody>
          <a:bodyPr/>
          <a:lstStyle/>
          <a:p>
            <a:fld id="{F8B6BB58-657F-9B42-8F63-CE29A2D5959E}" type="datetime1">
              <a:rPr kumimoji="1" lang="zh-TW" altLang="en-US" smtClean="0"/>
              <a:t>2023/6/27</a:t>
            </a:fld>
            <a:endParaRPr kumimoji="1" lang="zh-TW" altLang="en-US"/>
          </a:p>
        </p:txBody>
      </p:sp>
      <p:sp>
        <p:nvSpPr>
          <p:cNvPr id="8" name="頁尾版面配置區 7">
            <a:extLst>
              <a:ext uri="{FF2B5EF4-FFF2-40B4-BE49-F238E27FC236}">
                <a16:creationId xmlns:a16="http://schemas.microsoft.com/office/drawing/2014/main" id="{D3B801A1-AF0A-B84E-96F6-29CFB5435F43}"/>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9600253E-5D94-6E45-8290-370C15F5989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87426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57E884-9D25-2945-A655-164A32436AEF}"/>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06A303C2-B14E-C04F-B1CE-D8018834AF75}"/>
              </a:ext>
            </a:extLst>
          </p:cNvPr>
          <p:cNvSpPr>
            <a:spLocks noGrp="1"/>
          </p:cNvSpPr>
          <p:nvPr>
            <p:ph type="dt" sz="half" idx="10"/>
          </p:nvPr>
        </p:nvSpPr>
        <p:spPr/>
        <p:txBody>
          <a:bodyPr/>
          <a:lstStyle/>
          <a:p>
            <a:fld id="{CDFA12DD-F92E-F841-AEA2-DD2F0B8AC128}" type="datetime1">
              <a:rPr kumimoji="1" lang="zh-TW" altLang="en-US" smtClean="0"/>
              <a:t>2023/6/27</a:t>
            </a:fld>
            <a:endParaRPr kumimoji="1" lang="zh-TW" altLang="en-US"/>
          </a:p>
        </p:txBody>
      </p:sp>
      <p:sp>
        <p:nvSpPr>
          <p:cNvPr id="4" name="頁尾版面配置區 3">
            <a:extLst>
              <a:ext uri="{FF2B5EF4-FFF2-40B4-BE49-F238E27FC236}">
                <a16:creationId xmlns:a16="http://schemas.microsoft.com/office/drawing/2014/main" id="{251ACB14-3C83-BF40-A08D-8B6551FEB45D}"/>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A5C06E59-8A0C-3B42-90EE-5E614E092B18}"/>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77431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CB7FD22-44BD-D04C-B395-F3F22D97C84F}"/>
              </a:ext>
            </a:extLst>
          </p:cNvPr>
          <p:cNvSpPr>
            <a:spLocks noGrp="1"/>
          </p:cNvSpPr>
          <p:nvPr>
            <p:ph type="dt" sz="half" idx="10"/>
          </p:nvPr>
        </p:nvSpPr>
        <p:spPr/>
        <p:txBody>
          <a:bodyPr/>
          <a:lstStyle/>
          <a:p>
            <a:fld id="{1E4BAC9C-27AF-0445-AD50-816FC8B10FDD}" type="datetime1">
              <a:rPr kumimoji="1" lang="zh-TW" altLang="en-US" smtClean="0"/>
              <a:t>2023/6/27</a:t>
            </a:fld>
            <a:endParaRPr kumimoji="1" lang="zh-TW" altLang="en-US"/>
          </a:p>
        </p:txBody>
      </p:sp>
      <p:sp>
        <p:nvSpPr>
          <p:cNvPr id="3" name="頁尾版面配置區 2">
            <a:extLst>
              <a:ext uri="{FF2B5EF4-FFF2-40B4-BE49-F238E27FC236}">
                <a16:creationId xmlns:a16="http://schemas.microsoft.com/office/drawing/2014/main" id="{C444FE38-2187-8248-97D1-6F5606FAB126}"/>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65EF3BE3-3845-844D-A07F-F27C144C5EF4}"/>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14009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B493A6-EA88-8A46-9A8B-F872E6DC3C28}"/>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704C30A-146C-C947-844C-AAE8B3BE79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36B48693-0DB2-B84A-9B17-AABB613BF7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CB4F527B-2D7C-E546-8E6E-59F97AC0B7A5}"/>
              </a:ext>
            </a:extLst>
          </p:cNvPr>
          <p:cNvSpPr>
            <a:spLocks noGrp="1"/>
          </p:cNvSpPr>
          <p:nvPr>
            <p:ph type="dt" sz="half" idx="10"/>
          </p:nvPr>
        </p:nvSpPr>
        <p:spPr/>
        <p:txBody>
          <a:bodyPr/>
          <a:lstStyle/>
          <a:p>
            <a:fld id="{37BB5826-6582-C149-8E57-B0E656F33930}" type="datetime1">
              <a:rPr kumimoji="1" lang="zh-TW" altLang="en-US" smtClean="0"/>
              <a:t>2023/6/27</a:t>
            </a:fld>
            <a:endParaRPr kumimoji="1" lang="zh-TW" altLang="en-US"/>
          </a:p>
        </p:txBody>
      </p:sp>
      <p:sp>
        <p:nvSpPr>
          <p:cNvPr id="6" name="頁尾版面配置區 5">
            <a:extLst>
              <a:ext uri="{FF2B5EF4-FFF2-40B4-BE49-F238E27FC236}">
                <a16:creationId xmlns:a16="http://schemas.microsoft.com/office/drawing/2014/main" id="{FBCBFEFC-0A9F-9B4C-A6C0-4A2E0277AC1B}"/>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794B559-2406-764E-A4B9-D824C5231CC6}"/>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1499344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E627F2-C5A6-0D4A-B798-19DCE18B44BA}"/>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080398C8-8B1E-B547-A326-BD1E129C8D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C07516E8-147F-294D-8085-25893538C3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DD3358FF-DC99-1441-8DAF-FDDE3326FAD0}"/>
              </a:ext>
            </a:extLst>
          </p:cNvPr>
          <p:cNvSpPr>
            <a:spLocks noGrp="1"/>
          </p:cNvSpPr>
          <p:nvPr>
            <p:ph type="dt" sz="half" idx="10"/>
          </p:nvPr>
        </p:nvSpPr>
        <p:spPr/>
        <p:txBody>
          <a:bodyPr/>
          <a:lstStyle/>
          <a:p>
            <a:fld id="{CE3E1583-6ED2-5448-8362-DC2E2DF96F6E}" type="datetime1">
              <a:rPr kumimoji="1" lang="zh-TW" altLang="en-US" smtClean="0"/>
              <a:t>2023/6/27</a:t>
            </a:fld>
            <a:endParaRPr kumimoji="1" lang="zh-TW" altLang="en-US"/>
          </a:p>
        </p:txBody>
      </p:sp>
      <p:sp>
        <p:nvSpPr>
          <p:cNvPr id="6" name="頁尾版面配置區 5">
            <a:extLst>
              <a:ext uri="{FF2B5EF4-FFF2-40B4-BE49-F238E27FC236}">
                <a16:creationId xmlns:a16="http://schemas.microsoft.com/office/drawing/2014/main" id="{CCCD27CE-99AA-6E4E-9DBE-E31E2907AD9D}"/>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455623A4-40DB-5648-A636-5C55E052F991}"/>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9642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4E152E-7F75-8942-9848-51F47CBDB059}"/>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3B8AA00-30B6-A94A-B2F0-94FCA9255E94}"/>
              </a:ext>
            </a:extLst>
          </p:cNvPr>
          <p:cNvSpPr>
            <a:spLocks noGrp="1"/>
          </p:cNvSpPr>
          <p:nvPr>
            <p:ph type="body" orient="vert" idx="1"/>
          </p:nvPr>
        </p:nvSpPr>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E95A9F1C-7E4C-884D-9A90-EDF2A6DBD779}"/>
              </a:ext>
            </a:extLst>
          </p:cNvPr>
          <p:cNvSpPr>
            <a:spLocks noGrp="1"/>
          </p:cNvSpPr>
          <p:nvPr>
            <p:ph type="dt" sz="half" idx="10"/>
          </p:nvPr>
        </p:nvSpPr>
        <p:spPr/>
        <p:txBody>
          <a:bodyPr/>
          <a:lstStyle/>
          <a:p>
            <a:fld id="{3CB91D62-DF39-2B4A-9C96-DAA8DA866A30}" type="datetime1">
              <a:rPr kumimoji="1" lang="zh-TW" altLang="en-US" smtClean="0"/>
              <a:t>2023/6/27</a:t>
            </a:fld>
            <a:endParaRPr kumimoji="1" lang="zh-TW" altLang="en-US"/>
          </a:p>
        </p:txBody>
      </p:sp>
      <p:sp>
        <p:nvSpPr>
          <p:cNvPr id="5" name="頁尾版面配置區 4">
            <a:extLst>
              <a:ext uri="{FF2B5EF4-FFF2-40B4-BE49-F238E27FC236}">
                <a16:creationId xmlns:a16="http://schemas.microsoft.com/office/drawing/2014/main" id="{EF12E854-2582-9F4E-8CFD-4D7ED3138D6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FE4CB08D-2F0B-CA45-8F57-E6B71AE4662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725235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垂直標題 1">
            <a:extLst>
              <a:ext uri="{FF2B5EF4-FFF2-40B4-BE49-F238E27FC236}">
                <a16:creationId xmlns:a16="http://schemas.microsoft.com/office/drawing/2014/main" id="{9E14D04E-8318-224B-9272-AC5E0B731C3B}"/>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7D28947-C772-8143-9FC4-F0D4A51E2484}"/>
              </a:ext>
            </a:extLst>
          </p:cNvPr>
          <p:cNvSpPr>
            <a:spLocks noGrp="1"/>
          </p:cNvSpPr>
          <p:nvPr>
            <p:ph type="body" orient="vert" idx="1"/>
          </p:nvPr>
        </p:nvSpPr>
        <p:spPr>
          <a:xfrm>
            <a:off x="838200" y="365125"/>
            <a:ext cx="7734300" cy="5811838"/>
          </a:xfrm>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6C72D5E-B0ED-5047-A7FA-B2E657286FB5}"/>
              </a:ext>
            </a:extLst>
          </p:cNvPr>
          <p:cNvSpPr>
            <a:spLocks noGrp="1"/>
          </p:cNvSpPr>
          <p:nvPr>
            <p:ph type="dt" sz="half" idx="10"/>
          </p:nvPr>
        </p:nvSpPr>
        <p:spPr/>
        <p:txBody>
          <a:bodyPr/>
          <a:lstStyle/>
          <a:p>
            <a:fld id="{1C3AF8DB-CCF4-7A48-8850-2685985A08ED}" type="datetime1">
              <a:rPr kumimoji="1" lang="zh-TW" altLang="en-US" smtClean="0"/>
              <a:t>2023/6/27</a:t>
            </a:fld>
            <a:endParaRPr kumimoji="1" lang="zh-TW" altLang="en-US"/>
          </a:p>
        </p:txBody>
      </p:sp>
      <p:sp>
        <p:nvSpPr>
          <p:cNvPr id="5" name="頁尾版面配置區 4">
            <a:extLst>
              <a:ext uri="{FF2B5EF4-FFF2-40B4-BE49-F238E27FC236}">
                <a16:creationId xmlns:a16="http://schemas.microsoft.com/office/drawing/2014/main" id="{A4FA687B-D6E8-124C-B1FC-998BBF54F0A7}"/>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2D20F1B-4E62-4C4C-82A7-85B5304901D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961686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05A8D0E-8330-F341-A098-517F99E9BF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117BF3-AF8D-E34D-9885-6A7A5C8DB2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4A2835D4-A14D-3A48-918A-80F589AD20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06BF9D-945A-9644-8C98-6072299715AD}" type="datetime1">
              <a:rPr kumimoji="1" lang="zh-TW" altLang="en-US" smtClean="0"/>
              <a:t>2023/6/27</a:t>
            </a:fld>
            <a:endParaRPr kumimoji="1" lang="zh-TW" altLang="en-US"/>
          </a:p>
        </p:txBody>
      </p:sp>
      <p:sp>
        <p:nvSpPr>
          <p:cNvPr id="5" name="頁尾版面配置區 4">
            <a:extLst>
              <a:ext uri="{FF2B5EF4-FFF2-40B4-BE49-F238E27FC236}">
                <a16:creationId xmlns:a16="http://schemas.microsoft.com/office/drawing/2014/main" id="{C74DF0F1-03B3-874C-95C1-565A03256B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31932831-0323-6F4F-B891-00A63D552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299926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5F607E-C288-1D47-8A1C-E7C69ED95BEB}"/>
              </a:ext>
            </a:extLst>
          </p:cNvPr>
          <p:cNvSpPr>
            <a:spLocks noGrp="1"/>
          </p:cNvSpPr>
          <p:nvPr>
            <p:ph type="ctrTitle"/>
          </p:nvPr>
        </p:nvSpPr>
        <p:spPr/>
        <p:txBody>
          <a:bodyPr>
            <a:normAutofit fontScale="90000"/>
          </a:bodyPr>
          <a:lstStyle/>
          <a:p>
            <a:r>
              <a:rPr kumimoji="1" lang="en-US" altLang="zh-TW" dirty="0">
                <a:latin typeface="Times New Roman" panose="02020603050405020304" pitchFamily="18" charset="0"/>
                <a:cs typeface="Times New Roman" panose="02020603050405020304" pitchFamily="18" charset="0"/>
              </a:rPr>
              <a:t>The optimization and improvement of bridge game system</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8435B96C-9974-DE4C-8462-F823C1E2256B}"/>
              </a:ext>
            </a:extLst>
          </p:cNvPr>
          <p:cNvSpPr>
            <a:spLocks noGrp="1"/>
          </p:cNvSpPr>
          <p:nvPr>
            <p:ph type="subTitle" idx="1"/>
          </p:nvPr>
        </p:nvSpPr>
        <p:spPr/>
        <p:txBody>
          <a:bodyPr/>
          <a:lstStyle/>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Y. Song, H. </a:t>
            </a:r>
            <a:r>
              <a:rPr kumimoji="1" lang="en-US" altLang="zh-TW" dirty="0" err="1">
                <a:latin typeface="Times New Roman" panose="02020603050405020304" pitchFamily="18" charset="0"/>
                <a:cs typeface="Times New Roman" panose="02020603050405020304" pitchFamily="18" charset="0"/>
              </a:rPr>
              <a:t>Qiu</a:t>
            </a:r>
            <a:r>
              <a:rPr kumimoji="1" lang="en-US" altLang="zh-TW" dirty="0">
                <a:latin typeface="Times New Roman" panose="02020603050405020304" pitchFamily="18" charset="0"/>
                <a:cs typeface="Times New Roman" panose="02020603050405020304" pitchFamily="18" charset="0"/>
              </a:rPr>
              <a:t>, Y. Wang, X. Zheng,</a:t>
            </a:r>
          </a:p>
          <a:p>
            <a:r>
              <a:rPr kumimoji="1" lang="en-US" altLang="zh-TW" dirty="0">
                <a:latin typeface="Times New Roman" panose="02020603050405020304" pitchFamily="18" charset="0"/>
                <a:cs typeface="Times New Roman" panose="02020603050405020304" pitchFamily="18" charset="0"/>
              </a:rPr>
              <a:t>33rd Chinese Control and Decision Conference, 2021</a:t>
            </a:r>
            <a:endParaRPr kumimoji="1" lang="zh-TW" alt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22A5DE4-40CC-5144-89F0-861870F17BD1}"/>
              </a:ext>
            </a:extLst>
          </p:cNvPr>
          <p:cNvSpPr txBox="1"/>
          <p:nvPr/>
        </p:nvSpPr>
        <p:spPr>
          <a:xfrm>
            <a:off x="9043219" y="5563062"/>
            <a:ext cx="2352375" cy="646331"/>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Presenter: Yu-Yen Chu</a:t>
            </a:r>
          </a:p>
          <a:p>
            <a:r>
              <a:rPr lang="en-US" dirty="0">
                <a:latin typeface="Times New Roman" panose="02020603050405020304" pitchFamily="18" charset="0"/>
                <a:cs typeface="Times New Roman" panose="02020603050405020304" pitchFamily="18" charset="0"/>
              </a:rPr>
              <a:t>Date: June</a:t>
            </a:r>
            <a:r>
              <a:rPr lang="zh-TW" altLang="en-US">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27</a:t>
            </a:r>
            <a:r>
              <a:rPr lang="en-US" dirty="0">
                <a:latin typeface="Times New Roman" panose="02020603050405020304" pitchFamily="18" charset="0"/>
                <a:cs typeface="Times New Roman" panose="02020603050405020304" pitchFamily="18" charset="0"/>
              </a:rPr>
              <a:t>, 2023</a:t>
            </a:r>
          </a:p>
        </p:txBody>
      </p:sp>
    </p:spTree>
    <p:extLst>
      <p:ext uri="{BB962C8B-B14F-4D97-AF65-F5344CB8AC3E}">
        <p14:creationId xmlns:p14="http://schemas.microsoft.com/office/powerpoint/2010/main" val="69428091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This article from the background of the bridge, improving the system analysis, experimental test three perspective, based on the idea of reinforcement learning, from two aspects of contract and scoring ability, through a large number of calculations and the original program and every time a new system of winning IMP value level to achieve the agreed order, accumulate experience, design a set of good rewards and punishment mechanism, greatly improve the efficiency of the bridge to play CARDS and intelligence, thus the bridge game system was optimized and improved.</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2</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11111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 (Cont.)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In addition, the traditional methods need to manually extract the features of poor expansibility, this paper combined with reinforcement learning algorithm, the ideas of game devised a new system, under the condition of different effective play the computer, the program has also reached a higher level of the game structure design, for the incomplete information game theory provides a reasonable method, application creates opportunities to people living in the future.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3</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265128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Problem Setup</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Neural Network can only deal with accurate data (known information).</a:t>
            </a:r>
          </a:p>
          <a:p>
            <a:r>
              <a:rPr kumimoji="1" lang="en-US" altLang="zh-TW" dirty="0">
                <a:latin typeface="Times New Roman" panose="02020603050405020304" pitchFamily="18" charset="0"/>
                <a:cs typeface="Times New Roman" panose="02020603050405020304" pitchFamily="18" charset="0"/>
              </a:rPr>
              <a:t>Reinforcement Learning can set “reward” and “punishment”.</a:t>
            </a:r>
          </a:p>
          <a:p>
            <a:r>
              <a:rPr kumimoji="1" lang="en-US" altLang="zh-TW" dirty="0">
                <a:latin typeface="Times New Roman" panose="02020603050405020304" pitchFamily="18" charset="0"/>
                <a:cs typeface="Times New Roman" panose="02020603050405020304" pitchFamily="18" charset="0"/>
              </a:rPr>
              <a:t>Original program: Neural Network.</a:t>
            </a:r>
          </a:p>
          <a:p>
            <a:r>
              <a:rPr kumimoji="1" lang="en-US" altLang="zh-TW" dirty="0">
                <a:latin typeface="Times New Roman" panose="02020603050405020304" pitchFamily="18" charset="0"/>
                <a:cs typeface="Times New Roman" panose="02020603050405020304" pitchFamily="18" charset="0"/>
              </a:rPr>
              <a:t>Improved program: Deep Reinforcement Learning (Neural Network + Reinforcement Learning).</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4</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392123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Experimental Result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the bidding level of original program and improved program</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5</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7030EFA9-9099-F740-87D1-300C46D210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3035" y="2382625"/>
            <a:ext cx="3452446" cy="4159463"/>
          </a:xfrm>
          <a:prstGeom prst="rect">
            <a:avLst/>
          </a:prstGeom>
        </p:spPr>
      </p:pic>
      <p:pic>
        <p:nvPicPr>
          <p:cNvPr id="8" name="圖片 7">
            <a:extLst>
              <a:ext uri="{FF2B5EF4-FFF2-40B4-BE49-F238E27FC236}">
                <a16:creationId xmlns:a16="http://schemas.microsoft.com/office/drawing/2014/main" id="{FA555B04-72F4-964E-A488-F800017F63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0316" y="2382625"/>
            <a:ext cx="3343685" cy="4159463"/>
          </a:xfrm>
          <a:prstGeom prst="rect">
            <a:avLst/>
          </a:prstGeom>
        </p:spPr>
      </p:pic>
    </p:spTree>
    <p:extLst>
      <p:ext uri="{BB962C8B-B14F-4D97-AF65-F5344CB8AC3E}">
        <p14:creationId xmlns:p14="http://schemas.microsoft.com/office/powerpoint/2010/main" val="164270290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Experimental Result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5"/>
            <a:ext cx="4768780" cy="4351338"/>
          </a:xfrm>
        </p:spPr>
        <p:txBody>
          <a:bodyPr/>
          <a:lstStyle/>
          <a:p>
            <a:r>
              <a:rPr kumimoji="1" lang="en-US" altLang="zh-TW" dirty="0">
                <a:latin typeface="Times New Roman" panose="02020603050405020304" pitchFamily="18" charset="0"/>
                <a:cs typeface="Times New Roman" panose="02020603050405020304" pitchFamily="18" charset="0"/>
              </a:rPr>
              <a:t>the score of original program and improved program</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6</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84606CC0-EA3C-8546-8FC7-78D902FF19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0"/>
            <a:ext cx="3623514" cy="6858000"/>
          </a:xfrm>
          <a:prstGeom prst="rect">
            <a:avLst/>
          </a:prstGeom>
        </p:spPr>
      </p:pic>
    </p:spTree>
    <p:extLst>
      <p:ext uri="{BB962C8B-B14F-4D97-AF65-F5344CB8AC3E}">
        <p14:creationId xmlns:p14="http://schemas.microsoft.com/office/powerpoint/2010/main" val="307744186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TotalTime>
  <Words>294</Words>
  <Application>Microsoft Office PowerPoint</Application>
  <PresentationFormat>寬螢幕</PresentationFormat>
  <Paragraphs>24</Paragraphs>
  <Slides>6</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6</vt:i4>
      </vt:variant>
    </vt:vector>
  </HeadingPairs>
  <TitlesOfParts>
    <vt:vector size="11" baseType="lpstr">
      <vt:lpstr>Arial</vt:lpstr>
      <vt:lpstr>Calibri</vt:lpstr>
      <vt:lpstr>Calibri Light</vt:lpstr>
      <vt:lpstr>Times New Roman</vt:lpstr>
      <vt:lpstr>Office 佈景主題</vt:lpstr>
      <vt:lpstr>The optimization and improvement of bridge game system</vt:lpstr>
      <vt:lpstr>Abstract</vt:lpstr>
      <vt:lpstr>Abstract (Cont.)</vt:lpstr>
      <vt:lpstr>Problem Setup</vt:lpstr>
      <vt:lpstr>Experimental Result</vt:lpstr>
      <vt:lpstr>Experimental Result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Microsoft Office 使用者</dc:creator>
  <cp:lastModifiedBy>pplab</cp:lastModifiedBy>
  <cp:revision>21</cp:revision>
  <dcterms:created xsi:type="dcterms:W3CDTF">2023-01-02T07:42:35Z</dcterms:created>
  <dcterms:modified xsi:type="dcterms:W3CDTF">2023-06-27T07:16:20Z</dcterms:modified>
</cp:coreProperties>
</file>