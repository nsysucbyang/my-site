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notesSlides/notesSlide4.xml" ContentType="application/vnd.openxmlformats-officedocument.presentationml.notesSlide+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notesSlides/notesSlide5.xml" ContentType="application/vnd.openxmlformats-officedocument.presentationml.notesSlide+xml"/>
  <Override PartName="/ppt/ink/ink19.xml" ContentType="application/inkml+xml"/>
  <Override PartName="/ppt/ink/ink20.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7" r:id="rId2"/>
    <p:sldId id="258" r:id="rId3"/>
    <p:sldId id="278" r:id="rId4"/>
    <p:sldId id="288" r:id="rId5"/>
    <p:sldId id="291" r:id="rId6"/>
    <p:sldId id="290" r:id="rId7"/>
    <p:sldId id="293" r:id="rId8"/>
    <p:sldId id="294" r:id="rId9"/>
    <p:sldId id="296" r:id="rId10"/>
    <p:sldId id="295"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896" autoAdjust="0"/>
  </p:normalViewPr>
  <p:slideViewPr>
    <p:cSldViewPr snapToGrid="0">
      <p:cViewPr varScale="1">
        <p:scale>
          <a:sx n="63" d="100"/>
          <a:sy n="63" d="100"/>
        </p:scale>
        <p:origin x="10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9-12T11:38:48.393"/>
    </inkml:context>
    <inkml:brush xml:id="br0">
      <inkml:brushProperty name="width" value="0.08819" units="cm"/>
      <inkml:brushProperty name="height" value="0.35278" units="cm"/>
      <inkml:brushProperty name="color" value="#C00000"/>
      <inkml:brushProperty name="tip" value="rectangle"/>
      <inkml:brushProperty name="rasterOp" value="maskPen"/>
    </inkml:brush>
  </inkml:definitions>
  <inkml:trace contextRef="#ctx0" brushRef="#br0">16867 7689 0,'25'0'15,"49"0"17,100 0-1,74 0 0,-124 0 0,-25-24 1</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9-12T11:38:50.885"/>
    </inkml:context>
    <inkml:brush xml:id="br0">
      <inkml:brushProperty name="width" value="0.08819" units="cm"/>
      <inkml:brushProperty name="height" value="0.35278" units="cm"/>
      <inkml:brushProperty name="color" value="#C00000"/>
      <inkml:brushProperty name="tip" value="rectangle"/>
      <inkml:brushProperty name="rasterOp" value="maskPen"/>
    </inkml:brush>
  </inkml:definitions>
  <inkml:trace contextRef="#ctx0" brushRef="#br0">17264 7293 0,'0'0'0,"25"74"31,-25-24-15,0 98 15,0-24-15,0 50-1,-75 49 16,-24 1 1,50-150 15</inkml:trace>
</inkml:ink>
</file>

<file path=ppt/ink/ink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9-12T11:38:51.319"/>
    </inkml:context>
    <inkml:brush xml:id="br0">
      <inkml:brushProperty name="width" value="0.08819" units="cm"/>
      <inkml:brushProperty name="height" value="0.35278" units="cm"/>
      <inkml:brushProperty name="color" value="#C00000"/>
      <inkml:brushProperty name="tip" value="rectangle"/>
      <inkml:brushProperty name="rasterOp" value="maskPen"/>
    </inkml:brush>
  </inkml:definitions>
  <inkml:trace contextRef="#ctx0" brushRef="#br0">17314 8086 0,'24'-24'31,"76"73"0,24 26 1,49-26-1,125-49 0,-224 0-15</inkml:trace>
</inkml:ink>
</file>

<file path=ppt/ink/ink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9-12T11:38:52.186"/>
    </inkml:context>
    <inkml:brush xml:id="br0">
      <inkml:brushProperty name="width" value="0.08819" units="cm"/>
      <inkml:brushProperty name="height" value="0.35278" units="cm"/>
      <inkml:brushProperty name="color" value="#C00000"/>
      <inkml:brushProperty name="tip" value="rectangle"/>
      <inkml:brushProperty name="rasterOp" value="maskPen"/>
    </inkml:brush>
  </inkml:definitions>
  <inkml:trace contextRef="#ctx0" brushRef="#br0">18852 5060 0,'0'75'32,"0"24"-17,0 347 1,0-322-1,0-99 1,-25 0 0,-124-75 62,75-123-47,74 148-31</inkml:trace>
</inkml:ink>
</file>

<file path=ppt/ink/ink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9-12T11:38:52.369"/>
    </inkml:context>
    <inkml:brush xml:id="br0">
      <inkml:brushProperty name="width" value="0.08819" units="cm"/>
      <inkml:brushProperty name="height" value="0.35278" units="cm"/>
      <inkml:brushProperty name="color" value="#C00000"/>
      <inkml:brushProperty name="tip" value="rectangle"/>
      <inkml:brushProperty name="rasterOp" value="maskPen"/>
    </inkml:brush>
  </inkml:definitions>
  <inkml:trace contextRef="#ctx0" brushRef="#br0">18604 5606 0,'-25'0'15,"25"25"32,0-1-31</inkml:trace>
</inkml:ink>
</file>

<file path=ppt/ink/ink6.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9-12T11:38:53.111"/>
    </inkml:context>
    <inkml:brush xml:id="br0">
      <inkml:brushProperty name="width" value="0.08819" units="cm"/>
      <inkml:brushProperty name="height" value="0.35278" units="cm"/>
      <inkml:brushProperty name="color" value="#C00000"/>
      <inkml:brushProperty name="tip" value="rectangle"/>
      <inkml:brushProperty name="rasterOp" value="maskPen"/>
    </inkml:brush>
  </inkml:definitions>
  <inkml:trace contextRef="#ctx0" brushRef="#br0">19695 5432 0</inkml:trace>
</inkml:ink>
</file>

<file path=ppt/ink/ink7.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9-12T11:38:59.621"/>
    </inkml:context>
    <inkml:brush xml:id="br0">
      <inkml:brushProperty name="width" value="0.08819" units="cm"/>
      <inkml:brushProperty name="height" value="0.35278" units="cm"/>
      <inkml:brushProperty name="color" value="#C00000"/>
      <inkml:brushProperty name="tip" value="rectangle"/>
      <inkml:brushProperty name="rasterOp" value="maskPen"/>
    </inkml:brush>
  </inkml:definitions>
  <inkml:trace contextRef="#ctx0" brushRef="#br0">19496 5308 0,'0'25'31,"25"0"-15,25 24 15,-50-24-15,25 0-1,24 124 17,-24-75-1,-25-49-15,0 0-1,25 0 1,0-1 15,-25 1-15,0 0-1,0 0 1,0 0 0</inkml:trace>
</inkml:ink>
</file>

<file path=ppt/ink/ink8.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9-12T11:39:27.288"/>
    </inkml:context>
    <inkml:brush xml:id="br0">
      <inkml:brushProperty name="width" value="0.08819" units="cm"/>
      <inkml:brushProperty name="height" value="0.35278" units="cm"/>
      <inkml:brushProperty name="color" value="#C00000"/>
      <inkml:brushProperty name="tip" value="rectangle"/>
      <inkml:brushProperty name="rasterOp" value="maskPen"/>
    </inkml:brush>
  </inkml:definitions>
  <inkml:trace contextRef="#ctx0" brushRef="#br0">11584 14635 0,'49'-25'93,"1"25"-61,49 0-17,199-50 17,-149 1-1,-100 49 31,-24 0-15</inkml:trace>
</inkml:ink>
</file>

<file path=ppt/ink/ink9.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9-12T11:39:30.478"/>
    </inkml:context>
    <inkml:brush xml:id="br0">
      <inkml:brushProperty name="width" value="0.08819" units="cm"/>
      <inkml:brushProperty name="height" value="0.35278" units="cm"/>
      <inkml:brushProperty name="color" value="#C00000"/>
      <inkml:brushProperty name="tip" value="rectangle"/>
      <inkml:brushProperty name="rasterOp" value="maskPen"/>
    </inkml:brush>
  </inkml:definitions>
  <inkml:trace contextRef="#ctx0" brushRef="#br0">13791 14635 0,'100'0'47,"-26"0"-32,-49 0-15,24 0 31,-24 0 1,25 0-1,-25 0-15,24 0-1,-24 0 16,0 0-31,0 0 16,-1 0 62,1 0-62,0 0-1,0 0 1,25 0 0,-26 0-1</inkml:trace>
</inkml:ink>
</file>

<file path=ppt/ink/ink10.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9-12T11:39:37.799"/>
    </inkml:context>
    <inkml:brush xml:id="br0">
      <inkml:brushProperty name="width" value="0.08819" units="cm"/>
      <inkml:brushProperty name="height" value="0.35278" units="cm"/>
      <inkml:brushProperty name="color" value="#C00000"/>
      <inkml:brushProperty name="tip" value="rectangle"/>
      <inkml:brushProperty name="rasterOp" value="maskPen"/>
    </inkml:brush>
  </inkml:definitions>
  <inkml:trace contextRef="#ctx0" brushRef="#br0">11633 14436 0,'25'0'62,"273"0"-46,0 0 0,-50 25-1,198 0 16,-198-25 1,-173 0-17,-1 25 1,-49-25 0,99 0-1,-25 49 1,0-49-1,0 0 1,50 0 0,-50 0-1,25 25 17,-49-25-17,-1 25 1,1 0-1,-50-25 1,24 0-16,-24 0 16,25 0-1,-1 0 1,-24 0 0,0 0 15</inkml:trace>
</inkml:ink>
</file>

<file path=ppt/ink/ink1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9-12T11:39:39.011"/>
    </inkml:context>
    <inkml:brush xml:id="br0">
      <inkml:brushProperty name="width" value="0.08819" units="cm"/>
      <inkml:brushProperty name="height" value="0.35278" units="cm"/>
      <inkml:brushProperty name="color" value="#C00000"/>
      <inkml:brushProperty name="tip" value="rectangle"/>
      <inkml:brushProperty name="rasterOp" value="maskPen"/>
    </inkml:brush>
  </inkml:definitions>
  <inkml:trace contextRef="#ctx0" brushRef="#br0">15875 14486 0,'50'0'46,"74"0"-30,124 0 0,-50 0-1,-24 0-15,49 0 16,968 0 15,-546 0 0,-571 0-15,-49 0 0,49 0-1,-24 0 17,-25 0-17,49 50 1,-24-50-1,-26 0 1,51 0 0,-1 0-1,1 0 1,24 0 0,-25 0-1,-49 0 1,25 0-1</inkml:trace>
</inkml:ink>
</file>

<file path=ppt/ink/ink1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9-12T11:39:41.984"/>
    </inkml:context>
    <inkml:brush xml:id="br0">
      <inkml:brushProperty name="width" value="0.08819" units="cm"/>
      <inkml:brushProperty name="height" value="0.35278" units="cm"/>
      <inkml:brushProperty name="color" value="#C00000"/>
      <inkml:brushProperty name="tip" value="rectangle"/>
      <inkml:brushProperty name="rasterOp" value="maskPen"/>
    </inkml:brush>
  </inkml:definitions>
  <inkml:trace contextRef="#ctx0" brushRef="#br0">18777 16966 0,'-49'0'16,"24"0"15,25 25-15,-25 25 15,-25 24 16,50 1-16,0-26-15,0-24-16,0 0 15,0 99 1,0-50 0,25 26-1,50-51 1,-26 1 0,-24-25-1,0-25 1,24 0-1,-24 0 17,50 0-17,-1 0 1,-24 0 0,-26-50-1,-24 0 1,0-49-1,0-50 1,0 50 0,0 49-1,0 1 1,-49 24 0</inkml:trace>
</inkml:ink>
</file>

<file path=ppt/ink/ink1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9-12T11:47:13.740"/>
    </inkml:context>
    <inkml:brush xml:id="br0">
      <inkml:brushProperty name="width" value="0.08819" units="cm"/>
      <inkml:brushProperty name="height" value="0.35278" units="cm"/>
      <inkml:brushProperty name="color" value="#C00000"/>
      <inkml:brushProperty name="tip" value="rectangle"/>
      <inkml:brushProperty name="rasterOp" value="maskPen"/>
    </inkml:brush>
  </inkml:definitions>
  <inkml:trace contextRef="#ctx0" brushRef="#br0">8657 11237 0,'-25'-50'31,"0"0"1,0 50-1,-49-49 0,0 49-15,24 0-1,-24 0 32,24 74-31,-24 50 0,74-49-1,-25-1 1,25-24-1,0-26 1,0 26 0,49-50 46,75-25-31,-24-74 1,-76 99-1,1-25 0,0 0-15,25 1-1,-1-1 1,1 0 15,-1 0 1,-24 0-17,-25 1 16,0-1-15,25 25 125,-25 25-126,25 24 1,-25 1 0,25-1-1,-1-24 1,1 25-1,0-1 17,0-24-17,-25 0 1,25-25 0,-25 25-1,24 0 1,1-25 15,0 24 0</inkml:trace>
</inkml:ink>
</file>

<file path=ppt/ink/ink1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9-12T11:47:24.106"/>
    </inkml:context>
    <inkml:brush xml:id="br0">
      <inkml:brushProperty name="width" value="0.08819" units="cm"/>
      <inkml:brushProperty name="height" value="0.35278" units="cm"/>
      <inkml:brushProperty name="color" value="#C00000"/>
      <inkml:brushProperty name="tip" value="rectangle"/>
      <inkml:brushProperty name="rasterOp" value="maskPen"/>
    </inkml:brush>
  </inkml:definitions>
  <inkml:trace contextRef="#ctx0" brushRef="#br0">5060 11088 0,'-25'0'94,"1"0"-63,-51 0 0,26 0 1,24 24-1,-25 26-15,50-25 15,-25 25-16,0-26 1,25 26 0,0-25-1,0 24 1,0-24 0,0 25-1,0-25 1,0-1 15,25 1 0,0 0-15,0 0 0,25 0 15,-1-1 0,26 26-15,-51-50-1,26 25 1,0-25 0,-26 0-1,1 0 1,0 0-1,0 0-15,0 0 16,-1 0 0,-24-25-1,25 25 17,0-25-1,-25 0-16,25 25 17,0-24-1,-1 24-15</inkml:trace>
</inkml:ink>
</file>

<file path=ppt/ink/ink1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9-12T11:47:33.850"/>
    </inkml:context>
    <inkml:brush xml:id="br0">
      <inkml:brushProperty name="width" value="0.08819" units="cm"/>
      <inkml:brushProperty name="height" value="0.35278" units="cm"/>
      <inkml:brushProperty name="color" value="#C00000"/>
      <inkml:brushProperty name="tip" value="rectangle"/>
      <inkml:brushProperty name="rasterOp" value="maskPen"/>
    </inkml:brush>
  </inkml:definitions>
  <inkml:trace contextRef="#ctx0" brushRef="#br0">5011 13221 0,'-25'-25'110,"25"-25"-79,-25 50 0,0 0 0,-49 0 1,49 0-17,0 0 1,-25 50-1,50-25 1,-24 0 0,-1 24 15,0-24-15,25 0-1,-25 0 1,25 24-1,-25-49 1,25 50 0,0 0-1,0-1 1,0-24 15,0 0-15,0 0-1,0-1 1,25 1 31,25 0-16,-25-25 0,-1 0-15,26 0 0,-25 0-1,25 0 1,-1 0 0,-24 0-1,49-25 1,-24 25-16,24-25 15,1 25 1,-26-49 15,1 49-15,-50-25 0,25 25-1,-25-25 1</inkml:trace>
</inkml:ink>
</file>

<file path=ppt/ink/ink16.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9-12T11:49:43.815"/>
    </inkml:context>
    <inkml:brush xml:id="br0">
      <inkml:brushProperty name="width" value="0.08819" units="cm"/>
      <inkml:brushProperty name="height" value="0.35278" units="cm"/>
      <inkml:brushProperty name="color" value="#C00000"/>
      <inkml:brushProperty name="tip" value="rectangle"/>
      <inkml:brushProperty name="rasterOp" value="maskPen"/>
    </inkml:brush>
  </inkml:definitions>
  <inkml:trace contextRef="#ctx0" brushRef="#br0">3076 8210 0,'99'0'141,"372"0"-110,100 0 0,-100 0 0,124 0 1,-223 0-17,1 0 1,-76 0-1,1 0 1,-100 0 0,50 50-1,25-50 1,-149 0-16,50 0 16,-50 0-16,49 0 15,200 0 1,-101 0-1,-73 0 1,-26 25 15,-24-25-15,50 0 0,-26 0-1,26 0 1,-50 0-1,-1 0 1,26 0 0,-124 0-16,24 0 15,75 0 1,-75 0 0,1 0-1,24 0 1,0 0-1,100 0 1,-26 0 15,51 0-15,-76-25 0,125-25-1,-74 26 1,-100-1-16,50 25 15,223 0 1,-99 0 0,-1 0-1,51 0 1,-50 0 0,24 0-1,1 0 1,99 0-1,-25 0 17,-74 0-17,49 0 1,-223 0-16,74 0 16,398 0-1,-249 0 1,-49 0-1,-75 0 1,124 0 0,-49 0-1,-1 0 1,76 0 0,-26 0-1,149 0 1,0 0-1,-223 0 1,0 0-16,496 0 31,-224 0-15,-49 0 0,-74 0-1,74 0 1,-99 0-1,-25 0 1,0 0 0,-24 0-1,24 0 1,-50 0 0,-99 0-16,-74 0 15,347 0 1,-124 0-1,25 0 17,-50 0-17,-148 0 1,-100 0 0,0 0-1,-74 0 1,0 0 140,0 0-125,0 0 1,-1 0-1,26 0-31,-25 0 31,49 0 0,1 0 1,-26 0 14</inkml:trace>
</inkml:ink>
</file>

<file path=ppt/ink/ink17.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9-12T11:49:47.198"/>
    </inkml:context>
    <inkml:brush xml:id="br0">
      <inkml:brushProperty name="width" value="0.08819" units="cm"/>
      <inkml:brushProperty name="height" value="0.35278" units="cm"/>
      <inkml:brushProperty name="color" value="#C00000"/>
      <inkml:brushProperty name="tip" value="rectangle"/>
      <inkml:brushProperty name="rasterOp" value="maskPen"/>
    </inkml:brush>
  </inkml:definitions>
  <inkml:trace contextRef="#ctx0" brushRef="#br0">3026 8235 0,'0'-49'62,"25"-175"-30,74 26-1,-24 99-15,-1-273-1,-24-25 32,-50 322-31,24 50-1,-24 1 95,100 24-63,-76 24-32,200 101 1,98-76 15,50 1-15,149-25-1,0-25 1,25 0 0,-100 0-1,26 24 1,24-24-1,99 0 1,-49 0 0,49 0-1,-223 0-15,-74 0 16,644 0 0,-322 0-1,-49 0 1,24 0 15,25 0-15,-74 0-1,0 0 1,-50 0 0,-50 0-1,1 0 1,-50 0-1,-174 0-15,-49 0 16,272 0 0,-74 0-1,0 0 1,-49 0 0,73 0-1,101 0 1,-1 0-1,49 0 17,26 0-17,-1 0 1,-49 0 0,-273 0-16,-24 0 15,346 0 1,-347 0-1,25 0 1,75 0 0,24 0-1,-49 0 1,74 0 0,-174 0-1,25 0-15,150 0 16,-101 0-1,-48 0 17,-51 0-17,-73 0-15,73 0 16,50-74 0,25 24-1,0 1 1,1 49-1,-26-50 1,-74 50 0,-1 0-1,-123 0 1,50 0 0,-51 0-16,1 0 15,50 0 1,-51 0-16,76 0 15,-1 0 17,-74 0-17,0 0 1,-1 0 31,26 75-16,74 173 16,-124-224-47,99 150 16,-74-50-1,25 25 1,-1-75 15,-49 25-15,25-49-1,0-25 1,-25 0 31,0-1-16,0 1-15</inkml:trace>
</inkml:ink>
</file>

<file path=ppt/ink/ink18.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9-12T11:50:23.044"/>
    </inkml:context>
    <inkml:brush xml:id="br0">
      <inkml:brushProperty name="width" value="0.08819" units="cm"/>
      <inkml:brushProperty name="height" value="0.35278" units="cm"/>
      <inkml:brushProperty name="color" value="#C00000"/>
      <inkml:brushProperty name="tip" value="rectangle"/>
      <inkml:brushProperty name="rasterOp" value="maskPen"/>
    </inkml:brush>
  </inkml:definitions>
  <inkml:trace contextRef="#ctx0" brushRef="#br0">14734 8706 0,'-25'0'15,"-49"0"16,24 0 1,-49 0-1,-75 0 0,-148 25 0,74 25-15,25 24 0,-75 25-1,99-49 1,51 25-16,24-51 16,-298 76-1,99-1 1,-73 0-1,-150-25 1,149 1 0,75 49-1,-26-50 1,125-24 15,99-1-15,-99 1-1,-25 49 1,173-74-16,-98 25 16,-249 74-1,75-50 1,74-24 0,25-1-1,0-24 1,25-25-1,-1 0 1,51 0 0,24 0-1,50 0 1,49 0 15,25 0-31,0 0 16,1 0-1,-1 0 1,0 0 0,0 0 77</inkml:trace>
</inkml:ink>
</file>

<file path=ppt/ink/ink19.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9-12T11:58:31.283"/>
    </inkml:context>
    <inkml:brush xml:id="br0">
      <inkml:brushProperty name="width" value="0.08819" units="cm"/>
      <inkml:brushProperty name="height" value="0.35278" units="cm"/>
      <inkml:brushProperty name="color" value="#C00000"/>
      <inkml:brushProperty name="tip" value="rectangle"/>
      <inkml:brushProperty name="rasterOp" value="maskPen"/>
    </inkml:brush>
  </inkml:definitions>
  <inkml:trace contextRef="#ctx0" brushRef="#br0">25226 9699 0,'0'24'32,"100"-98"-1,-1-75-16,-25 50 1,-24-75 0,74-74 15,-25 25 0,-74 124-15,49-25-1,-74 99 1,0 0 156,0 0-94,-74 50 0,-1 0-62,-49 49 15,50-24-15,24-25-1,1 24 1,49-24 0,-25 0-1</inkml:trace>
</inkml:ink>
</file>

<file path=ppt/ink/ink20.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9-12T11:58:31.943"/>
    </inkml:context>
    <inkml:brush xml:id="br0">
      <inkml:brushProperty name="width" value="0.08819" units="cm"/>
      <inkml:brushProperty name="height" value="0.35278" units="cm"/>
      <inkml:brushProperty name="color" value="#C00000"/>
      <inkml:brushProperty name="tip" value="rectangle"/>
      <inkml:brushProperty name="rasterOp" value="maskPen"/>
    </inkml:brush>
  </inkml:definitions>
  <inkml:trace contextRef="#ctx0" brushRef="#br0">25822 8458 0,'0'0'0,"49"50"15,1 0 16,24 49 1,26 50-1,-100-125-15,24 51-1,26-50 16,-50 24-15,25-24 0,0 25-16,-25-25 31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F667DF-ECF2-46EC-8446-7B955A747664}" type="datetimeFigureOut">
              <a:rPr lang="zh-TW" altLang="en-US" smtClean="0"/>
              <a:t>2023/9/12</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562F9-E128-4B6E-872C-5F1FFAE33516}" type="slidenum">
              <a:rPr lang="zh-TW" altLang="en-US" smtClean="0"/>
              <a:t>‹#›</a:t>
            </a:fld>
            <a:endParaRPr lang="zh-TW" altLang="en-US"/>
          </a:p>
        </p:txBody>
      </p:sp>
    </p:spTree>
    <p:extLst>
      <p:ext uri="{BB962C8B-B14F-4D97-AF65-F5344CB8AC3E}">
        <p14:creationId xmlns:p14="http://schemas.microsoft.com/office/powerpoint/2010/main" val="3979557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b="0" i="0" dirty="0">
                <a:solidFill>
                  <a:srgbClr val="E8EAED"/>
                </a:solidFill>
                <a:effectLst/>
                <a:latin typeface="Google Sans"/>
              </a:rPr>
              <a:t>特拉維夫市</a:t>
            </a:r>
            <a:r>
              <a:rPr lang="zh-TW" altLang="en-US" b="0" i="0" dirty="0">
                <a:solidFill>
                  <a:srgbClr val="BDC1C6"/>
                </a:solidFill>
                <a:effectLst/>
                <a:latin typeface="arial" panose="020B0604020202020204" pitchFamily="34" charset="0"/>
              </a:rPr>
              <a:t>以色列</a:t>
            </a:r>
            <a:endParaRPr lang="zh-TW" altLang="en-US" dirty="0"/>
          </a:p>
        </p:txBody>
      </p:sp>
      <p:sp>
        <p:nvSpPr>
          <p:cNvPr id="4" name="Slide Number Placeholder 3"/>
          <p:cNvSpPr>
            <a:spLocks noGrp="1"/>
          </p:cNvSpPr>
          <p:nvPr>
            <p:ph type="sldNum" sz="quarter" idx="5"/>
          </p:nvPr>
        </p:nvSpPr>
        <p:spPr/>
        <p:txBody>
          <a:bodyPr/>
          <a:lstStyle/>
          <a:p>
            <a:fld id="{6EB0929B-4ACD-4AAE-9309-95C05ACE2D43}" type="slidenum">
              <a:rPr lang="zh-TW" altLang="en-US" smtClean="0"/>
              <a:t>1</a:t>
            </a:fld>
            <a:endParaRPr lang="zh-TW" altLang="en-US"/>
          </a:p>
        </p:txBody>
      </p:sp>
    </p:spTree>
    <p:extLst>
      <p:ext uri="{BB962C8B-B14F-4D97-AF65-F5344CB8AC3E}">
        <p14:creationId xmlns:p14="http://schemas.microsoft.com/office/powerpoint/2010/main" val="4063933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3</a:t>
            </a:fld>
            <a:endParaRPr lang="zh-TW" altLang="en-US"/>
          </a:p>
        </p:txBody>
      </p:sp>
    </p:spTree>
    <p:extLst>
      <p:ext uri="{BB962C8B-B14F-4D97-AF65-F5344CB8AC3E}">
        <p14:creationId xmlns:p14="http://schemas.microsoft.com/office/powerpoint/2010/main" val="542801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4</a:t>
            </a:fld>
            <a:endParaRPr lang="zh-TW" altLang="en-US"/>
          </a:p>
        </p:txBody>
      </p:sp>
    </p:spTree>
    <p:extLst>
      <p:ext uri="{BB962C8B-B14F-4D97-AF65-F5344CB8AC3E}">
        <p14:creationId xmlns:p14="http://schemas.microsoft.com/office/powerpoint/2010/main" val="34371870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5</a:t>
            </a:fld>
            <a:endParaRPr lang="zh-TW" altLang="en-US"/>
          </a:p>
        </p:txBody>
      </p:sp>
    </p:spTree>
    <p:extLst>
      <p:ext uri="{BB962C8B-B14F-4D97-AF65-F5344CB8AC3E}">
        <p14:creationId xmlns:p14="http://schemas.microsoft.com/office/powerpoint/2010/main" val="23598761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6</a:t>
            </a:fld>
            <a:endParaRPr lang="zh-TW" altLang="en-US"/>
          </a:p>
        </p:txBody>
      </p:sp>
    </p:spTree>
    <p:extLst>
      <p:ext uri="{BB962C8B-B14F-4D97-AF65-F5344CB8AC3E}">
        <p14:creationId xmlns:p14="http://schemas.microsoft.com/office/powerpoint/2010/main" val="2769006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7</a:t>
            </a:fld>
            <a:endParaRPr lang="zh-TW" altLang="en-US"/>
          </a:p>
        </p:txBody>
      </p:sp>
    </p:spTree>
    <p:extLst>
      <p:ext uri="{BB962C8B-B14F-4D97-AF65-F5344CB8AC3E}">
        <p14:creationId xmlns:p14="http://schemas.microsoft.com/office/powerpoint/2010/main" val="34145998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8</a:t>
            </a:fld>
            <a:endParaRPr lang="zh-TW" altLang="en-US"/>
          </a:p>
        </p:txBody>
      </p:sp>
    </p:spTree>
    <p:extLst>
      <p:ext uri="{BB962C8B-B14F-4D97-AF65-F5344CB8AC3E}">
        <p14:creationId xmlns:p14="http://schemas.microsoft.com/office/powerpoint/2010/main" val="33922592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9</a:t>
            </a:fld>
            <a:endParaRPr lang="zh-TW" altLang="en-US"/>
          </a:p>
        </p:txBody>
      </p:sp>
    </p:spTree>
    <p:extLst>
      <p:ext uri="{BB962C8B-B14F-4D97-AF65-F5344CB8AC3E}">
        <p14:creationId xmlns:p14="http://schemas.microsoft.com/office/powerpoint/2010/main" val="15111142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10</a:t>
            </a:fld>
            <a:endParaRPr lang="zh-TW" altLang="en-US"/>
          </a:p>
        </p:txBody>
      </p:sp>
    </p:spTree>
    <p:extLst>
      <p:ext uri="{BB962C8B-B14F-4D97-AF65-F5344CB8AC3E}">
        <p14:creationId xmlns:p14="http://schemas.microsoft.com/office/powerpoint/2010/main" val="3470653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18045-16E7-451C-65FC-B158983ECC6E}"/>
              </a:ext>
            </a:extLst>
          </p:cNvPr>
          <p:cNvSpPr>
            <a:spLocks noGrp="1"/>
          </p:cNvSpPr>
          <p:nvPr>
            <p:ph type="ctrTitle"/>
          </p:nvPr>
        </p:nvSpPr>
        <p:spPr>
          <a:xfrm>
            <a:off x="1524000" y="1122363"/>
            <a:ext cx="9144000" cy="2387600"/>
          </a:xfrm>
        </p:spPr>
        <p:txBody>
          <a:bodyPr anchor="b"/>
          <a:lstStyle>
            <a:lvl1pPr algn="ctr">
              <a:defRPr sz="6000"/>
            </a:lvl1pPr>
          </a:lstStyle>
          <a:p>
            <a:r>
              <a:rPr lang="en-US" altLang="zh-TW"/>
              <a:t>Click to edit Master title style</a:t>
            </a:r>
            <a:endParaRPr lang="zh-TW" altLang="en-US"/>
          </a:p>
        </p:txBody>
      </p:sp>
      <p:sp>
        <p:nvSpPr>
          <p:cNvPr id="3" name="Subtitle 2">
            <a:extLst>
              <a:ext uri="{FF2B5EF4-FFF2-40B4-BE49-F238E27FC236}">
                <a16:creationId xmlns:a16="http://schemas.microsoft.com/office/drawing/2014/main" id="{58AF068A-58AE-8713-2F67-C52F90F862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TW"/>
              <a:t>Click to edit Master subtitle style</a:t>
            </a:r>
            <a:endParaRPr lang="zh-TW" altLang="en-US"/>
          </a:p>
        </p:txBody>
      </p:sp>
      <p:sp>
        <p:nvSpPr>
          <p:cNvPr id="4" name="Date Placeholder 3">
            <a:extLst>
              <a:ext uri="{FF2B5EF4-FFF2-40B4-BE49-F238E27FC236}">
                <a16:creationId xmlns:a16="http://schemas.microsoft.com/office/drawing/2014/main" id="{960BA286-7DBB-ABAF-AE2A-AD9DDE775D11}"/>
              </a:ext>
            </a:extLst>
          </p:cNvPr>
          <p:cNvSpPr>
            <a:spLocks noGrp="1"/>
          </p:cNvSpPr>
          <p:nvPr>
            <p:ph type="dt" sz="half" idx="10"/>
          </p:nvPr>
        </p:nvSpPr>
        <p:spPr/>
        <p:txBody>
          <a:bodyPr/>
          <a:lstStyle/>
          <a:p>
            <a:fld id="{701DD569-BD2D-4D1C-B67A-2A5601E6B3E3}" type="datetime1">
              <a:rPr lang="zh-TW" altLang="en-US" smtClean="0"/>
              <a:t>2023/9/12</a:t>
            </a:fld>
            <a:endParaRPr lang="zh-TW" altLang="en-US"/>
          </a:p>
        </p:txBody>
      </p:sp>
      <p:sp>
        <p:nvSpPr>
          <p:cNvPr id="5" name="Footer Placeholder 4">
            <a:extLst>
              <a:ext uri="{FF2B5EF4-FFF2-40B4-BE49-F238E27FC236}">
                <a16:creationId xmlns:a16="http://schemas.microsoft.com/office/drawing/2014/main" id="{136A0D4C-517F-3A75-2138-B35995E6DA6F}"/>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7041CC6E-1A90-9EBF-3395-DCC19E86BE6D}"/>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763099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5D236-5FFE-A036-B937-040C50348880}"/>
              </a:ext>
            </a:extLst>
          </p:cNvPr>
          <p:cNvSpPr>
            <a:spLocks noGrp="1"/>
          </p:cNvSpPr>
          <p:nvPr>
            <p:ph type="title"/>
          </p:nvPr>
        </p:nvSpPr>
        <p:spPr/>
        <p:txBody>
          <a:body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F04EEFD4-29DF-59B4-50ED-3F42FB6C5EE7}"/>
              </a:ext>
            </a:extLst>
          </p:cNvPr>
          <p:cNvSpPr>
            <a:spLocks noGrp="1"/>
          </p:cNvSpPr>
          <p:nvPr>
            <p:ph idx="1"/>
          </p:nvPr>
        </p:nvSpPr>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15825951-765D-8F13-9483-0B7BC83461D7}"/>
              </a:ext>
            </a:extLst>
          </p:cNvPr>
          <p:cNvSpPr>
            <a:spLocks noGrp="1"/>
          </p:cNvSpPr>
          <p:nvPr>
            <p:ph type="dt" sz="half" idx="10"/>
          </p:nvPr>
        </p:nvSpPr>
        <p:spPr/>
        <p:txBody>
          <a:bodyPr/>
          <a:lstStyle/>
          <a:p>
            <a:fld id="{613F9AF4-0F76-4C66-B441-D1B2D7ED3BEC}" type="datetime1">
              <a:rPr lang="zh-TW" altLang="en-US" smtClean="0"/>
              <a:t>2023/9/12</a:t>
            </a:fld>
            <a:endParaRPr lang="zh-TW" altLang="en-US"/>
          </a:p>
        </p:txBody>
      </p:sp>
      <p:sp>
        <p:nvSpPr>
          <p:cNvPr id="5" name="Footer Placeholder 4">
            <a:extLst>
              <a:ext uri="{FF2B5EF4-FFF2-40B4-BE49-F238E27FC236}">
                <a16:creationId xmlns:a16="http://schemas.microsoft.com/office/drawing/2014/main" id="{753DCF9E-E6A3-995C-A1B7-97A453CBDACD}"/>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DB585ECA-E5DF-198A-D862-E85E0172760A}"/>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1676363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64931-3342-74A5-5F4A-1ACADB362228}"/>
              </a:ext>
            </a:extLst>
          </p:cNvPr>
          <p:cNvSpPr>
            <a:spLocks noGrp="1"/>
          </p:cNvSpPr>
          <p:nvPr>
            <p:ph type="title"/>
          </p:nvPr>
        </p:nvSpPr>
        <p:spPr>
          <a:xfrm>
            <a:off x="831850" y="1709738"/>
            <a:ext cx="10515600" cy="2852737"/>
          </a:xfrm>
        </p:spPr>
        <p:txBody>
          <a:bodyPr anchor="b"/>
          <a:lstStyle>
            <a:lvl1pPr>
              <a:defRPr sz="6000"/>
            </a:lvl1p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1E4ABAD9-77A7-31C2-CE3B-83AB0265A3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TW"/>
              <a:t>Click to edit Master text styles</a:t>
            </a:r>
          </a:p>
        </p:txBody>
      </p:sp>
      <p:sp>
        <p:nvSpPr>
          <p:cNvPr id="4" name="Date Placeholder 3">
            <a:extLst>
              <a:ext uri="{FF2B5EF4-FFF2-40B4-BE49-F238E27FC236}">
                <a16:creationId xmlns:a16="http://schemas.microsoft.com/office/drawing/2014/main" id="{E95B3F41-FADE-64E8-94E5-51E3BAD87B58}"/>
              </a:ext>
            </a:extLst>
          </p:cNvPr>
          <p:cNvSpPr>
            <a:spLocks noGrp="1"/>
          </p:cNvSpPr>
          <p:nvPr>
            <p:ph type="dt" sz="half" idx="10"/>
          </p:nvPr>
        </p:nvSpPr>
        <p:spPr/>
        <p:txBody>
          <a:bodyPr/>
          <a:lstStyle/>
          <a:p>
            <a:fld id="{298A6C79-1DF6-49C7-8CD7-FD6F5B614111}" type="datetime1">
              <a:rPr lang="zh-TW" altLang="en-US" smtClean="0"/>
              <a:t>2023/9/12</a:t>
            </a:fld>
            <a:endParaRPr lang="zh-TW" altLang="en-US"/>
          </a:p>
        </p:txBody>
      </p:sp>
      <p:sp>
        <p:nvSpPr>
          <p:cNvPr id="5" name="Footer Placeholder 4">
            <a:extLst>
              <a:ext uri="{FF2B5EF4-FFF2-40B4-BE49-F238E27FC236}">
                <a16:creationId xmlns:a16="http://schemas.microsoft.com/office/drawing/2014/main" id="{DCCF82AA-63C8-C306-BDDF-A523D9F84AD3}"/>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2F183CF1-15A7-D9A0-AB7D-63A9F3204F7C}"/>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9996279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A4541-876E-1323-86BB-134B34EBFE26}"/>
              </a:ext>
            </a:extLst>
          </p:cNvPr>
          <p:cNvSpPr>
            <a:spLocks noGrp="1"/>
          </p:cNvSpPr>
          <p:nvPr>
            <p:ph type="title"/>
          </p:nvPr>
        </p:nvSpPr>
        <p:spPr/>
        <p:txBody>
          <a:body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7C2F7A99-40BB-A978-A62D-456D85CB313F}"/>
              </a:ext>
            </a:extLst>
          </p:cNvPr>
          <p:cNvSpPr>
            <a:spLocks noGrp="1"/>
          </p:cNvSpPr>
          <p:nvPr>
            <p:ph sz="half" idx="1"/>
          </p:nvPr>
        </p:nvSpPr>
        <p:spPr>
          <a:xfrm>
            <a:off x="838200" y="1825625"/>
            <a:ext cx="5181600" cy="435133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Content Placeholder 3">
            <a:extLst>
              <a:ext uri="{FF2B5EF4-FFF2-40B4-BE49-F238E27FC236}">
                <a16:creationId xmlns:a16="http://schemas.microsoft.com/office/drawing/2014/main" id="{0EB6C4AB-2328-C15C-EDBA-A6D9849715E4}"/>
              </a:ext>
            </a:extLst>
          </p:cNvPr>
          <p:cNvSpPr>
            <a:spLocks noGrp="1"/>
          </p:cNvSpPr>
          <p:nvPr>
            <p:ph sz="half" idx="2"/>
          </p:nvPr>
        </p:nvSpPr>
        <p:spPr>
          <a:xfrm>
            <a:off x="6172200" y="1825625"/>
            <a:ext cx="5181600" cy="435133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Date Placeholder 4">
            <a:extLst>
              <a:ext uri="{FF2B5EF4-FFF2-40B4-BE49-F238E27FC236}">
                <a16:creationId xmlns:a16="http://schemas.microsoft.com/office/drawing/2014/main" id="{90785A17-9FA9-28E5-585D-C1967447ECBE}"/>
              </a:ext>
            </a:extLst>
          </p:cNvPr>
          <p:cNvSpPr>
            <a:spLocks noGrp="1"/>
          </p:cNvSpPr>
          <p:nvPr>
            <p:ph type="dt" sz="half" idx="10"/>
          </p:nvPr>
        </p:nvSpPr>
        <p:spPr/>
        <p:txBody>
          <a:bodyPr/>
          <a:lstStyle/>
          <a:p>
            <a:fld id="{D5D813F3-84C2-4D70-A0DE-40780363C9EE}" type="datetime1">
              <a:rPr lang="zh-TW" altLang="en-US" smtClean="0"/>
              <a:t>2023/9/12</a:t>
            </a:fld>
            <a:endParaRPr lang="zh-TW" altLang="en-US"/>
          </a:p>
        </p:txBody>
      </p:sp>
      <p:sp>
        <p:nvSpPr>
          <p:cNvPr id="6" name="Footer Placeholder 5">
            <a:extLst>
              <a:ext uri="{FF2B5EF4-FFF2-40B4-BE49-F238E27FC236}">
                <a16:creationId xmlns:a16="http://schemas.microsoft.com/office/drawing/2014/main" id="{E38A8324-6BD6-434F-B46A-42E288600154}"/>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027986F1-3A6D-B41E-CFB4-7417B1F77B02}"/>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1895118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3C63D-C7AF-2A59-F8AD-A038C042ACD5}"/>
              </a:ext>
            </a:extLst>
          </p:cNvPr>
          <p:cNvSpPr>
            <a:spLocks noGrp="1"/>
          </p:cNvSpPr>
          <p:nvPr>
            <p:ph type="title"/>
          </p:nvPr>
        </p:nvSpPr>
        <p:spPr>
          <a:xfrm>
            <a:off x="839788" y="365125"/>
            <a:ext cx="10515600" cy="1325563"/>
          </a:xfrm>
        </p:spPr>
        <p:txBody>
          <a:body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F97C0EB9-FD48-3B5F-2543-5658F7F50A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4" name="Content Placeholder 3">
            <a:extLst>
              <a:ext uri="{FF2B5EF4-FFF2-40B4-BE49-F238E27FC236}">
                <a16:creationId xmlns:a16="http://schemas.microsoft.com/office/drawing/2014/main" id="{455B3736-516F-9579-FACA-DCB21A18E94D}"/>
              </a:ext>
            </a:extLst>
          </p:cNvPr>
          <p:cNvSpPr>
            <a:spLocks noGrp="1"/>
          </p:cNvSpPr>
          <p:nvPr>
            <p:ph sz="half" idx="2"/>
          </p:nvPr>
        </p:nvSpPr>
        <p:spPr>
          <a:xfrm>
            <a:off x="839788" y="2505075"/>
            <a:ext cx="5157787" cy="368458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Text Placeholder 4">
            <a:extLst>
              <a:ext uri="{FF2B5EF4-FFF2-40B4-BE49-F238E27FC236}">
                <a16:creationId xmlns:a16="http://schemas.microsoft.com/office/drawing/2014/main" id="{86B03EA5-7849-E5F4-BF87-F3FC863686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6" name="Content Placeholder 5">
            <a:extLst>
              <a:ext uri="{FF2B5EF4-FFF2-40B4-BE49-F238E27FC236}">
                <a16:creationId xmlns:a16="http://schemas.microsoft.com/office/drawing/2014/main" id="{A531D914-6ED8-D257-6CC2-104C6745C03F}"/>
              </a:ext>
            </a:extLst>
          </p:cNvPr>
          <p:cNvSpPr>
            <a:spLocks noGrp="1"/>
          </p:cNvSpPr>
          <p:nvPr>
            <p:ph sz="quarter" idx="4"/>
          </p:nvPr>
        </p:nvSpPr>
        <p:spPr>
          <a:xfrm>
            <a:off x="6172200" y="2505075"/>
            <a:ext cx="5183188" cy="368458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Date Placeholder 6">
            <a:extLst>
              <a:ext uri="{FF2B5EF4-FFF2-40B4-BE49-F238E27FC236}">
                <a16:creationId xmlns:a16="http://schemas.microsoft.com/office/drawing/2014/main" id="{789A8773-F0F7-3DBC-9C59-CA8EF9CF98D7}"/>
              </a:ext>
            </a:extLst>
          </p:cNvPr>
          <p:cNvSpPr>
            <a:spLocks noGrp="1"/>
          </p:cNvSpPr>
          <p:nvPr>
            <p:ph type="dt" sz="half" idx="10"/>
          </p:nvPr>
        </p:nvSpPr>
        <p:spPr/>
        <p:txBody>
          <a:bodyPr/>
          <a:lstStyle/>
          <a:p>
            <a:fld id="{369FA993-B73B-4E0A-AC46-BDD6B2FA04A9}" type="datetime1">
              <a:rPr lang="zh-TW" altLang="en-US" smtClean="0"/>
              <a:t>2023/9/12</a:t>
            </a:fld>
            <a:endParaRPr lang="zh-TW" altLang="en-US"/>
          </a:p>
        </p:txBody>
      </p:sp>
      <p:sp>
        <p:nvSpPr>
          <p:cNvPr id="8" name="Footer Placeholder 7">
            <a:extLst>
              <a:ext uri="{FF2B5EF4-FFF2-40B4-BE49-F238E27FC236}">
                <a16:creationId xmlns:a16="http://schemas.microsoft.com/office/drawing/2014/main" id="{13D508DB-1C1C-AFC2-2C1A-1DDBC10F88E7}"/>
              </a:ext>
            </a:extLst>
          </p:cNvPr>
          <p:cNvSpPr>
            <a:spLocks noGrp="1"/>
          </p:cNvSpPr>
          <p:nvPr>
            <p:ph type="ftr" sz="quarter" idx="11"/>
          </p:nvPr>
        </p:nvSpPr>
        <p:spPr/>
        <p:txBody>
          <a:bodyPr/>
          <a:lstStyle/>
          <a:p>
            <a:endParaRPr lang="zh-TW" altLang="en-US"/>
          </a:p>
        </p:txBody>
      </p:sp>
      <p:sp>
        <p:nvSpPr>
          <p:cNvPr id="9" name="Slide Number Placeholder 8">
            <a:extLst>
              <a:ext uri="{FF2B5EF4-FFF2-40B4-BE49-F238E27FC236}">
                <a16:creationId xmlns:a16="http://schemas.microsoft.com/office/drawing/2014/main" id="{38C9407E-CED6-F5A6-39DB-82B07C84A9D4}"/>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3595342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28DAB-3374-67D6-5EB1-2C3253F55250}"/>
              </a:ext>
            </a:extLst>
          </p:cNvPr>
          <p:cNvSpPr>
            <a:spLocks noGrp="1"/>
          </p:cNvSpPr>
          <p:nvPr>
            <p:ph type="title"/>
          </p:nvPr>
        </p:nvSpPr>
        <p:spPr/>
        <p:txBody>
          <a:bodyPr/>
          <a:lstStyle/>
          <a:p>
            <a:r>
              <a:rPr lang="en-US" altLang="zh-TW"/>
              <a:t>Click to edit Master title style</a:t>
            </a:r>
            <a:endParaRPr lang="zh-TW" altLang="en-US"/>
          </a:p>
        </p:txBody>
      </p:sp>
      <p:sp>
        <p:nvSpPr>
          <p:cNvPr id="3" name="Date Placeholder 2">
            <a:extLst>
              <a:ext uri="{FF2B5EF4-FFF2-40B4-BE49-F238E27FC236}">
                <a16:creationId xmlns:a16="http://schemas.microsoft.com/office/drawing/2014/main" id="{080D7194-F69E-4DA8-89C4-AE8729BF6621}"/>
              </a:ext>
            </a:extLst>
          </p:cNvPr>
          <p:cNvSpPr>
            <a:spLocks noGrp="1"/>
          </p:cNvSpPr>
          <p:nvPr>
            <p:ph type="dt" sz="half" idx="10"/>
          </p:nvPr>
        </p:nvSpPr>
        <p:spPr/>
        <p:txBody>
          <a:bodyPr/>
          <a:lstStyle/>
          <a:p>
            <a:fld id="{7986ADAD-A8C5-4E4F-97C2-B2F188A7EEC4}" type="datetime1">
              <a:rPr lang="zh-TW" altLang="en-US" smtClean="0"/>
              <a:t>2023/9/12</a:t>
            </a:fld>
            <a:endParaRPr lang="zh-TW" altLang="en-US"/>
          </a:p>
        </p:txBody>
      </p:sp>
      <p:sp>
        <p:nvSpPr>
          <p:cNvPr id="4" name="Footer Placeholder 3">
            <a:extLst>
              <a:ext uri="{FF2B5EF4-FFF2-40B4-BE49-F238E27FC236}">
                <a16:creationId xmlns:a16="http://schemas.microsoft.com/office/drawing/2014/main" id="{268D0780-D9CB-B34D-A2E0-1D14B42F55C0}"/>
              </a:ext>
            </a:extLst>
          </p:cNvPr>
          <p:cNvSpPr>
            <a:spLocks noGrp="1"/>
          </p:cNvSpPr>
          <p:nvPr>
            <p:ph type="ftr" sz="quarter" idx="11"/>
          </p:nvPr>
        </p:nvSpPr>
        <p:spPr/>
        <p:txBody>
          <a:bodyPr/>
          <a:lstStyle/>
          <a:p>
            <a:endParaRPr lang="zh-TW" altLang="en-US"/>
          </a:p>
        </p:txBody>
      </p:sp>
      <p:sp>
        <p:nvSpPr>
          <p:cNvPr id="5" name="Slide Number Placeholder 4">
            <a:extLst>
              <a:ext uri="{FF2B5EF4-FFF2-40B4-BE49-F238E27FC236}">
                <a16:creationId xmlns:a16="http://schemas.microsoft.com/office/drawing/2014/main" id="{4BA4697E-BF8C-08DA-29D6-3B9ACC5CE078}"/>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4210603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7CFF4D-DBD6-E4FB-30B0-3844F2359FC9}"/>
              </a:ext>
            </a:extLst>
          </p:cNvPr>
          <p:cNvSpPr>
            <a:spLocks noGrp="1"/>
          </p:cNvSpPr>
          <p:nvPr>
            <p:ph type="dt" sz="half" idx="10"/>
          </p:nvPr>
        </p:nvSpPr>
        <p:spPr/>
        <p:txBody>
          <a:bodyPr/>
          <a:lstStyle/>
          <a:p>
            <a:fld id="{4875DE65-CDBA-47B3-8C63-EAD937C328D1}" type="datetime1">
              <a:rPr lang="zh-TW" altLang="en-US" smtClean="0"/>
              <a:t>2023/9/12</a:t>
            </a:fld>
            <a:endParaRPr lang="zh-TW" altLang="en-US"/>
          </a:p>
        </p:txBody>
      </p:sp>
      <p:sp>
        <p:nvSpPr>
          <p:cNvPr id="3" name="Footer Placeholder 2">
            <a:extLst>
              <a:ext uri="{FF2B5EF4-FFF2-40B4-BE49-F238E27FC236}">
                <a16:creationId xmlns:a16="http://schemas.microsoft.com/office/drawing/2014/main" id="{9E53340C-74EA-761B-F592-FD6C446900E6}"/>
              </a:ext>
            </a:extLst>
          </p:cNvPr>
          <p:cNvSpPr>
            <a:spLocks noGrp="1"/>
          </p:cNvSpPr>
          <p:nvPr>
            <p:ph type="ftr" sz="quarter" idx="11"/>
          </p:nvPr>
        </p:nvSpPr>
        <p:spPr/>
        <p:txBody>
          <a:bodyPr/>
          <a:lstStyle/>
          <a:p>
            <a:endParaRPr lang="zh-TW" altLang="en-US"/>
          </a:p>
        </p:txBody>
      </p:sp>
      <p:sp>
        <p:nvSpPr>
          <p:cNvPr id="4" name="Slide Number Placeholder 3">
            <a:extLst>
              <a:ext uri="{FF2B5EF4-FFF2-40B4-BE49-F238E27FC236}">
                <a16:creationId xmlns:a16="http://schemas.microsoft.com/office/drawing/2014/main" id="{0C816107-4110-8028-60EF-14E5F2D11499}"/>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3238812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D5481-AD55-0A04-6A16-2FE5FE1FE5E7}"/>
              </a:ext>
            </a:extLst>
          </p:cNvPr>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F28FA7E5-F55B-C36B-5945-661CDB1EDF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Text Placeholder 3">
            <a:extLst>
              <a:ext uri="{FF2B5EF4-FFF2-40B4-BE49-F238E27FC236}">
                <a16:creationId xmlns:a16="http://schemas.microsoft.com/office/drawing/2014/main" id="{41045507-E0DA-CCE2-C66E-2F29EA6A91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Click to edit Master text styles</a:t>
            </a:r>
          </a:p>
        </p:txBody>
      </p:sp>
      <p:sp>
        <p:nvSpPr>
          <p:cNvPr id="5" name="Date Placeholder 4">
            <a:extLst>
              <a:ext uri="{FF2B5EF4-FFF2-40B4-BE49-F238E27FC236}">
                <a16:creationId xmlns:a16="http://schemas.microsoft.com/office/drawing/2014/main" id="{A3D0A186-4631-35C9-68C0-298149FFEDF5}"/>
              </a:ext>
            </a:extLst>
          </p:cNvPr>
          <p:cNvSpPr>
            <a:spLocks noGrp="1"/>
          </p:cNvSpPr>
          <p:nvPr>
            <p:ph type="dt" sz="half" idx="10"/>
          </p:nvPr>
        </p:nvSpPr>
        <p:spPr/>
        <p:txBody>
          <a:bodyPr/>
          <a:lstStyle/>
          <a:p>
            <a:fld id="{02E9CB4A-921C-4216-9056-986295B6B351}" type="datetime1">
              <a:rPr lang="zh-TW" altLang="en-US" smtClean="0"/>
              <a:t>2023/9/12</a:t>
            </a:fld>
            <a:endParaRPr lang="zh-TW" altLang="en-US"/>
          </a:p>
        </p:txBody>
      </p:sp>
      <p:sp>
        <p:nvSpPr>
          <p:cNvPr id="6" name="Footer Placeholder 5">
            <a:extLst>
              <a:ext uri="{FF2B5EF4-FFF2-40B4-BE49-F238E27FC236}">
                <a16:creationId xmlns:a16="http://schemas.microsoft.com/office/drawing/2014/main" id="{5C6AC9F0-1D2E-CD0B-A6B8-A8337FE537DD}"/>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CCC73D3E-1C05-2CFF-6405-4771E57F8216}"/>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895450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29362-71C4-6CF9-38E0-C4F81738C538}"/>
              </a:ext>
            </a:extLst>
          </p:cNvPr>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Picture Placeholder 2">
            <a:extLst>
              <a:ext uri="{FF2B5EF4-FFF2-40B4-BE49-F238E27FC236}">
                <a16:creationId xmlns:a16="http://schemas.microsoft.com/office/drawing/2014/main" id="{D930231A-174C-8A04-7F37-326E7B3D7B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Text Placeholder 3">
            <a:extLst>
              <a:ext uri="{FF2B5EF4-FFF2-40B4-BE49-F238E27FC236}">
                <a16:creationId xmlns:a16="http://schemas.microsoft.com/office/drawing/2014/main" id="{1B03C50E-C2ED-00AE-E101-79CFAFB17C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Click to edit Master text styles</a:t>
            </a:r>
          </a:p>
        </p:txBody>
      </p:sp>
      <p:sp>
        <p:nvSpPr>
          <p:cNvPr id="5" name="Date Placeholder 4">
            <a:extLst>
              <a:ext uri="{FF2B5EF4-FFF2-40B4-BE49-F238E27FC236}">
                <a16:creationId xmlns:a16="http://schemas.microsoft.com/office/drawing/2014/main" id="{74E4BE7B-D25D-CFE2-B089-BAA86DCFC27E}"/>
              </a:ext>
            </a:extLst>
          </p:cNvPr>
          <p:cNvSpPr>
            <a:spLocks noGrp="1"/>
          </p:cNvSpPr>
          <p:nvPr>
            <p:ph type="dt" sz="half" idx="10"/>
          </p:nvPr>
        </p:nvSpPr>
        <p:spPr/>
        <p:txBody>
          <a:bodyPr/>
          <a:lstStyle/>
          <a:p>
            <a:fld id="{16C2F44B-5705-4772-8785-D8AAB7BCD3BF}" type="datetime1">
              <a:rPr lang="zh-TW" altLang="en-US" smtClean="0"/>
              <a:t>2023/9/12</a:t>
            </a:fld>
            <a:endParaRPr lang="zh-TW" altLang="en-US"/>
          </a:p>
        </p:txBody>
      </p:sp>
      <p:sp>
        <p:nvSpPr>
          <p:cNvPr id="6" name="Footer Placeholder 5">
            <a:extLst>
              <a:ext uri="{FF2B5EF4-FFF2-40B4-BE49-F238E27FC236}">
                <a16:creationId xmlns:a16="http://schemas.microsoft.com/office/drawing/2014/main" id="{65D0EA70-9CF5-E2A3-4310-0B5FAE7B7BE1}"/>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AB134B4A-B942-A3BD-6BA9-01E17E554220}"/>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808095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8A6AD-5403-1ACC-D4D1-96B39DD846FD}"/>
              </a:ext>
            </a:extLst>
          </p:cNvPr>
          <p:cNvSpPr>
            <a:spLocks noGrp="1"/>
          </p:cNvSpPr>
          <p:nvPr>
            <p:ph type="title"/>
          </p:nvPr>
        </p:nvSpPr>
        <p:spPr/>
        <p:txBody>
          <a:bodyPr/>
          <a:lstStyle/>
          <a:p>
            <a:r>
              <a:rPr lang="en-US" altLang="zh-TW"/>
              <a:t>Click to edit Master title style</a:t>
            </a:r>
            <a:endParaRPr lang="zh-TW" altLang="en-US"/>
          </a:p>
        </p:txBody>
      </p:sp>
      <p:sp>
        <p:nvSpPr>
          <p:cNvPr id="3" name="Vertical Text Placeholder 2">
            <a:extLst>
              <a:ext uri="{FF2B5EF4-FFF2-40B4-BE49-F238E27FC236}">
                <a16:creationId xmlns:a16="http://schemas.microsoft.com/office/drawing/2014/main" id="{82E60034-6B39-C082-088F-72D19BFE1304}"/>
              </a:ext>
            </a:extLst>
          </p:cNvPr>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19F803D3-C2D4-4034-17A0-8D2928B1269D}"/>
              </a:ext>
            </a:extLst>
          </p:cNvPr>
          <p:cNvSpPr>
            <a:spLocks noGrp="1"/>
          </p:cNvSpPr>
          <p:nvPr>
            <p:ph type="dt" sz="half" idx="10"/>
          </p:nvPr>
        </p:nvSpPr>
        <p:spPr/>
        <p:txBody>
          <a:bodyPr/>
          <a:lstStyle/>
          <a:p>
            <a:fld id="{44000920-BF4E-4A34-B8B5-5D2BB9836F35}" type="datetime1">
              <a:rPr lang="zh-TW" altLang="en-US" smtClean="0"/>
              <a:t>2023/9/12</a:t>
            </a:fld>
            <a:endParaRPr lang="zh-TW" altLang="en-US"/>
          </a:p>
        </p:txBody>
      </p:sp>
      <p:sp>
        <p:nvSpPr>
          <p:cNvPr id="5" name="Footer Placeholder 4">
            <a:extLst>
              <a:ext uri="{FF2B5EF4-FFF2-40B4-BE49-F238E27FC236}">
                <a16:creationId xmlns:a16="http://schemas.microsoft.com/office/drawing/2014/main" id="{3F295024-0915-E154-0CBE-65A94D23019C}"/>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70D7C4D6-1F53-D5A1-0F98-4AF14C84F0CA}"/>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568947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C8714A-61BB-5406-A5DA-BC8910B5CD05}"/>
              </a:ext>
            </a:extLst>
          </p:cNvPr>
          <p:cNvSpPr>
            <a:spLocks noGrp="1"/>
          </p:cNvSpPr>
          <p:nvPr>
            <p:ph type="title" orient="vert"/>
          </p:nvPr>
        </p:nvSpPr>
        <p:spPr>
          <a:xfrm>
            <a:off x="8724900" y="365125"/>
            <a:ext cx="2628900" cy="5811838"/>
          </a:xfrm>
        </p:spPr>
        <p:txBody>
          <a:bodyPr vert="eaVert"/>
          <a:lstStyle/>
          <a:p>
            <a:r>
              <a:rPr lang="en-US" altLang="zh-TW"/>
              <a:t>Click to edit Master title style</a:t>
            </a:r>
            <a:endParaRPr lang="zh-TW" altLang="en-US"/>
          </a:p>
        </p:txBody>
      </p:sp>
      <p:sp>
        <p:nvSpPr>
          <p:cNvPr id="3" name="Vertical Text Placeholder 2">
            <a:extLst>
              <a:ext uri="{FF2B5EF4-FFF2-40B4-BE49-F238E27FC236}">
                <a16:creationId xmlns:a16="http://schemas.microsoft.com/office/drawing/2014/main" id="{F04B0A4F-7A22-6245-0B0A-635765A85459}"/>
              </a:ext>
            </a:extLst>
          </p:cNvPr>
          <p:cNvSpPr>
            <a:spLocks noGrp="1"/>
          </p:cNvSpPr>
          <p:nvPr>
            <p:ph type="body" orient="vert" idx="1"/>
          </p:nvPr>
        </p:nvSpPr>
        <p:spPr>
          <a:xfrm>
            <a:off x="838200" y="365125"/>
            <a:ext cx="7734300" cy="5811838"/>
          </a:xfrm>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08523698-D80C-5B02-26C3-B7E0D02093A0}"/>
              </a:ext>
            </a:extLst>
          </p:cNvPr>
          <p:cNvSpPr>
            <a:spLocks noGrp="1"/>
          </p:cNvSpPr>
          <p:nvPr>
            <p:ph type="dt" sz="half" idx="10"/>
          </p:nvPr>
        </p:nvSpPr>
        <p:spPr/>
        <p:txBody>
          <a:bodyPr/>
          <a:lstStyle/>
          <a:p>
            <a:fld id="{DD1923D5-CB9E-42C4-A443-74EE43A78F1A}" type="datetime1">
              <a:rPr lang="zh-TW" altLang="en-US" smtClean="0"/>
              <a:t>2023/9/12</a:t>
            </a:fld>
            <a:endParaRPr lang="zh-TW" altLang="en-US"/>
          </a:p>
        </p:txBody>
      </p:sp>
      <p:sp>
        <p:nvSpPr>
          <p:cNvPr id="5" name="Footer Placeholder 4">
            <a:extLst>
              <a:ext uri="{FF2B5EF4-FFF2-40B4-BE49-F238E27FC236}">
                <a16:creationId xmlns:a16="http://schemas.microsoft.com/office/drawing/2014/main" id="{46961CDA-4309-2D61-CD40-8DE7FA2E1253}"/>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BE0DEE89-0D64-3A74-3CEA-425D035B8803}"/>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538924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9CB272-2800-21BB-F226-6BCB7515BF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80EA0C83-E1FB-8AAC-CDEA-98C2D15B70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290E59ED-035C-8CC1-CFE9-73EA26D0C3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9CDBA5-E58B-4CB2-961D-91717090BBCB}" type="datetime1">
              <a:rPr lang="zh-TW" altLang="en-US" smtClean="0"/>
              <a:t>2023/9/12</a:t>
            </a:fld>
            <a:endParaRPr lang="zh-TW" altLang="en-US"/>
          </a:p>
        </p:txBody>
      </p:sp>
      <p:sp>
        <p:nvSpPr>
          <p:cNvPr id="5" name="Footer Placeholder 4">
            <a:extLst>
              <a:ext uri="{FF2B5EF4-FFF2-40B4-BE49-F238E27FC236}">
                <a16:creationId xmlns:a16="http://schemas.microsoft.com/office/drawing/2014/main" id="{830ED3AA-0139-02CF-DF2C-5E6C9CB6C2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a:extLst>
              <a:ext uri="{FF2B5EF4-FFF2-40B4-BE49-F238E27FC236}">
                <a16:creationId xmlns:a16="http://schemas.microsoft.com/office/drawing/2014/main" id="{2B1D16DD-A0C6-441C-56CA-8F27599A8E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1233770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customXml" Target="../ink/ink5.xml"/><Relationship Id="rId18" Type="http://schemas.openxmlformats.org/officeDocument/2006/relationships/image" Target="../media/image10.png"/><Relationship Id="rId26" Type="http://schemas.openxmlformats.org/officeDocument/2006/relationships/image" Target="../media/image14.png"/><Relationship Id="rId3" Type="http://schemas.openxmlformats.org/officeDocument/2006/relationships/image" Target="../media/image2.png"/><Relationship Id="rId21" Type="http://schemas.openxmlformats.org/officeDocument/2006/relationships/customXml" Target="../ink/ink9.xml"/><Relationship Id="rId7" Type="http://schemas.openxmlformats.org/officeDocument/2006/relationships/customXml" Target="../ink/ink2.xml"/><Relationship Id="rId12" Type="http://schemas.openxmlformats.org/officeDocument/2006/relationships/image" Target="../media/image7.png"/><Relationship Id="rId17" Type="http://schemas.openxmlformats.org/officeDocument/2006/relationships/customXml" Target="../ink/ink7.xml"/><Relationship Id="rId25" Type="http://schemas.openxmlformats.org/officeDocument/2006/relationships/customXml" Target="../ink/ink11.xml"/><Relationship Id="rId2" Type="http://schemas.openxmlformats.org/officeDocument/2006/relationships/notesSlide" Target="../notesSlides/notesSlide3.xml"/><Relationship Id="rId16" Type="http://schemas.openxmlformats.org/officeDocument/2006/relationships/image" Target="../media/image9.png"/><Relationship Id="rId20"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customXml" Target="../ink/ink4.xml"/><Relationship Id="rId24" Type="http://schemas.openxmlformats.org/officeDocument/2006/relationships/image" Target="../media/image13.png"/><Relationship Id="rId5" Type="http://schemas.openxmlformats.org/officeDocument/2006/relationships/customXml" Target="../ink/ink1.xml"/><Relationship Id="rId15" Type="http://schemas.openxmlformats.org/officeDocument/2006/relationships/customXml" Target="../ink/ink6.xml"/><Relationship Id="rId23" Type="http://schemas.openxmlformats.org/officeDocument/2006/relationships/customXml" Target="../ink/ink10.xml"/><Relationship Id="rId28" Type="http://schemas.openxmlformats.org/officeDocument/2006/relationships/image" Target="../media/image15.png"/><Relationship Id="rId10" Type="http://schemas.openxmlformats.org/officeDocument/2006/relationships/image" Target="../media/image6.png"/><Relationship Id="rId19" Type="http://schemas.openxmlformats.org/officeDocument/2006/relationships/customXml" Target="../ink/ink8.xml"/><Relationship Id="rId4" Type="http://schemas.openxmlformats.org/officeDocument/2006/relationships/image" Target="../media/image3.png"/><Relationship Id="rId9" Type="http://schemas.openxmlformats.org/officeDocument/2006/relationships/customXml" Target="../ink/ink3.xml"/><Relationship Id="rId14" Type="http://schemas.openxmlformats.org/officeDocument/2006/relationships/image" Target="../media/image8.png"/><Relationship Id="rId22" Type="http://schemas.openxmlformats.org/officeDocument/2006/relationships/image" Target="../media/image12.png"/><Relationship Id="rId27" Type="http://schemas.openxmlformats.org/officeDocument/2006/relationships/customXml" Target="../ink/ink12.xml"/></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customXml" Target="../ink/ink18.xml"/><Relationship Id="rId3" Type="http://schemas.openxmlformats.org/officeDocument/2006/relationships/customXml" Target="../ink/ink13.xml"/><Relationship Id="rId7" Type="http://schemas.openxmlformats.org/officeDocument/2006/relationships/customXml" Target="../ink/ink15.xml"/><Relationship Id="rId12"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customXml" Target="../ink/ink17.xml"/><Relationship Id="rId5" Type="http://schemas.openxmlformats.org/officeDocument/2006/relationships/customXml" Target="../ink/ink14.xml"/><Relationship Id="rId10" Type="http://schemas.openxmlformats.org/officeDocument/2006/relationships/image" Target="../media/image19.png"/><Relationship Id="rId4" Type="http://schemas.openxmlformats.org/officeDocument/2006/relationships/image" Target="../media/image16.png"/><Relationship Id="rId9" Type="http://schemas.openxmlformats.org/officeDocument/2006/relationships/customXml" Target="../ink/ink16.xml"/><Relationship Id="rId14" Type="http://schemas.openxmlformats.org/officeDocument/2006/relationships/image" Target="../media/image21.png"/></Relationships>
</file>

<file path=ppt/slides/_rels/slide6.xml.rels><?xml version="1.0" encoding="UTF-8" standalone="yes"?>
<Relationships xmlns="http://schemas.openxmlformats.org/package/2006/relationships"><Relationship Id="rId8" Type="http://schemas.openxmlformats.org/officeDocument/2006/relationships/customXml" Target="../ink/ink20.xml"/><Relationship Id="rId3" Type="http://schemas.openxmlformats.org/officeDocument/2006/relationships/image" Target="../media/image22.png"/><Relationship Id="rId7"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customXml" Target="../ink/ink19.xml"/><Relationship Id="rId5" Type="http://schemas.openxmlformats.org/officeDocument/2006/relationships/image" Target="../media/image60.png"/><Relationship Id="rId4" Type="http://schemas.openxmlformats.org/officeDocument/2006/relationships/image" Target="../media/image23.png"/><Relationship Id="rId9"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901A9-EC42-0349-C42C-1EF1F72BF040}"/>
              </a:ext>
            </a:extLst>
          </p:cNvPr>
          <p:cNvSpPr>
            <a:spLocks noGrp="1"/>
          </p:cNvSpPr>
          <p:nvPr>
            <p:ph type="ctrTitle"/>
          </p:nvPr>
        </p:nvSpPr>
        <p:spPr>
          <a:xfrm>
            <a:off x="953224" y="1122363"/>
            <a:ext cx="10285551" cy="2387600"/>
          </a:xfrm>
        </p:spPr>
        <p:txBody>
          <a:bodyPr>
            <a:noAutofit/>
          </a:bodyPr>
          <a:lstStyle/>
          <a:p>
            <a:r>
              <a:rPr lang="en-US" altLang="zh-TW" sz="4000" b="1" dirty="0">
                <a:latin typeface="Times New Roman" panose="02020603050405020304" pitchFamily="18" charset="0"/>
                <a:cs typeface="Times New Roman" panose="02020603050405020304" pitchFamily="18" charset="0"/>
              </a:rPr>
              <a:t>A fast algorithm for order-preserving pattern matching</a:t>
            </a:r>
          </a:p>
        </p:txBody>
      </p:sp>
      <p:sp>
        <p:nvSpPr>
          <p:cNvPr id="3" name="Subtitle 2">
            <a:extLst>
              <a:ext uri="{FF2B5EF4-FFF2-40B4-BE49-F238E27FC236}">
                <a16:creationId xmlns:a16="http://schemas.microsoft.com/office/drawing/2014/main" id="{54DBE6CB-9CF8-48E7-B831-C6B10B6C080F}"/>
              </a:ext>
            </a:extLst>
          </p:cNvPr>
          <p:cNvSpPr>
            <a:spLocks noGrp="1"/>
          </p:cNvSpPr>
          <p:nvPr>
            <p:ph type="subTitle" idx="1"/>
          </p:nvPr>
        </p:nvSpPr>
        <p:spPr>
          <a:xfrm>
            <a:off x="521050" y="3928587"/>
            <a:ext cx="11149897" cy="1655762"/>
          </a:xfrm>
        </p:spPr>
        <p:txBody>
          <a:bodyPr>
            <a:normAutofit/>
          </a:bodyPr>
          <a:lstStyle/>
          <a:p>
            <a:r>
              <a:rPr lang="en-US" altLang="zh-TW" dirty="0">
                <a:latin typeface="Times New Roman" panose="02020603050405020304" pitchFamily="18" charset="0"/>
                <a:cs typeface="Times New Roman" panose="02020603050405020304" pitchFamily="18" charset="0"/>
              </a:rPr>
              <a:t>Sukhyeun Cho, </a:t>
            </a:r>
            <a:r>
              <a:rPr lang="en-US" altLang="zh-TW" dirty="0" err="1">
                <a:latin typeface="Times New Roman" panose="02020603050405020304" pitchFamily="18" charset="0"/>
                <a:cs typeface="Times New Roman" panose="02020603050405020304" pitchFamily="18" charset="0"/>
              </a:rPr>
              <a:t>Joong</a:t>
            </a:r>
            <a:r>
              <a:rPr lang="en-US" altLang="zh-TW" dirty="0">
                <a:latin typeface="Times New Roman" panose="02020603050405020304" pitchFamily="18" charset="0"/>
                <a:cs typeface="Times New Roman" panose="02020603050405020304" pitchFamily="18" charset="0"/>
              </a:rPr>
              <a:t> Chae Na, </a:t>
            </a:r>
            <a:r>
              <a:rPr lang="en-US" altLang="zh-TW" dirty="0" err="1">
                <a:latin typeface="Times New Roman" panose="02020603050405020304" pitchFamily="18" charset="0"/>
                <a:cs typeface="Times New Roman" panose="02020603050405020304" pitchFamily="18" charset="0"/>
              </a:rPr>
              <a:t>Kunsoo</a:t>
            </a:r>
            <a:r>
              <a:rPr lang="en-US" altLang="zh-TW" dirty="0">
                <a:latin typeface="Times New Roman" panose="02020603050405020304" pitchFamily="18" charset="0"/>
                <a:cs typeface="Times New Roman" panose="02020603050405020304" pitchFamily="18" charset="0"/>
              </a:rPr>
              <a:t> Park, Jeong </a:t>
            </a:r>
            <a:r>
              <a:rPr lang="en-US" altLang="zh-TW" dirty="0" err="1">
                <a:latin typeface="Times New Roman" panose="02020603050405020304" pitchFamily="18" charset="0"/>
                <a:cs typeface="Times New Roman" panose="02020603050405020304" pitchFamily="18" charset="0"/>
              </a:rPr>
              <a:t>Seop</a:t>
            </a:r>
            <a:r>
              <a:rPr lang="en-US" altLang="zh-TW" dirty="0">
                <a:latin typeface="Times New Roman" panose="02020603050405020304" pitchFamily="18" charset="0"/>
                <a:cs typeface="Times New Roman" panose="02020603050405020304" pitchFamily="18" charset="0"/>
              </a:rPr>
              <a:t> Sim,</a:t>
            </a:r>
          </a:p>
          <a:p>
            <a:r>
              <a:rPr lang="en-US" altLang="zh-TW" dirty="0">
                <a:latin typeface="Times New Roman" panose="02020603050405020304" pitchFamily="18" charset="0"/>
                <a:cs typeface="Times New Roman" panose="02020603050405020304" pitchFamily="18" charset="0"/>
              </a:rPr>
              <a:t>Information Processing Letters</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(2015), pp. 397-402</a:t>
            </a:r>
            <a:endParaRPr lang="zh-TW" altLang="en-US"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272805CA-C188-EA0E-0232-5E39FC11B582}"/>
              </a:ext>
            </a:extLst>
          </p:cNvPr>
          <p:cNvSpPr txBox="1">
            <a:spLocks/>
          </p:cNvSpPr>
          <p:nvPr/>
        </p:nvSpPr>
        <p:spPr>
          <a:xfrm>
            <a:off x="8322197" y="6002973"/>
            <a:ext cx="3584053" cy="660717"/>
          </a:xfrm>
          <a:prstGeom prst="rect">
            <a:avLst/>
          </a:prstGeom>
        </p:spPr>
        <p:txBody>
          <a:bodyPr vert="horz" lIns="91440" tIns="45720" rIns="91440" bIns="45720" rtlCol="0">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kumimoji="1" lang="en" altLang="zh-TW" dirty="0">
                <a:latin typeface="Times New Roman" panose="02020603050405020304" pitchFamily="18" charset="0"/>
                <a:cs typeface="Times New Roman" panose="02020603050405020304" pitchFamily="18" charset="0"/>
              </a:rPr>
              <a:t>Presenter: Wen-Wen Liao</a:t>
            </a:r>
          </a:p>
          <a:p>
            <a:r>
              <a:rPr kumimoji="1" lang="en" altLang="zh-TW" dirty="0">
                <a:latin typeface="Times New Roman" panose="02020603050405020304" pitchFamily="18" charset="0"/>
                <a:cs typeface="Times New Roman" panose="02020603050405020304" pitchFamily="18" charset="0"/>
              </a:rPr>
              <a:t>Date: </a:t>
            </a:r>
            <a:r>
              <a:rPr kumimoji="1" lang="en-US" altLang="zh-TW" dirty="0">
                <a:latin typeface="Times New Roman" panose="02020603050405020304" pitchFamily="18" charset="0"/>
                <a:cs typeface="Times New Roman" panose="02020603050405020304" pitchFamily="18" charset="0"/>
              </a:rPr>
              <a:t>Sept.</a:t>
            </a:r>
            <a:r>
              <a:rPr kumimoji="1" lang="en" altLang="zh-TW" dirty="0">
                <a:latin typeface="Times New Roman" panose="02020603050405020304" pitchFamily="18" charset="0"/>
                <a:cs typeface="Times New Roman" panose="02020603050405020304" pitchFamily="18" charset="0"/>
              </a:rPr>
              <a:t> 12, 2023</a:t>
            </a:r>
          </a:p>
        </p:txBody>
      </p:sp>
      <p:sp>
        <p:nvSpPr>
          <p:cNvPr id="5" name="Slide Number Placeholder 4">
            <a:extLst>
              <a:ext uri="{FF2B5EF4-FFF2-40B4-BE49-F238E27FC236}">
                <a16:creationId xmlns:a16="http://schemas.microsoft.com/office/drawing/2014/main" id="{A0AAB76B-0FAF-9711-6F27-1F8F6638EBF6}"/>
              </a:ext>
            </a:extLst>
          </p:cNvPr>
          <p:cNvSpPr>
            <a:spLocks noGrp="1"/>
          </p:cNvSpPr>
          <p:nvPr>
            <p:ph type="sldNum" sz="quarter" idx="12"/>
          </p:nvPr>
        </p:nvSpPr>
        <p:spPr/>
        <p:txBody>
          <a:bodyPr/>
          <a:lstStyle/>
          <a:p>
            <a:fld id="{7FE2C478-69CB-4CE2-A453-7F649089E273}" type="slidenum">
              <a:rPr lang="zh-TW" altLang="en-US" smtClean="0"/>
              <a:pPr/>
              <a:t>1</a:t>
            </a:fld>
            <a:endParaRPr lang="zh-TW" altLang="en-US" dirty="0"/>
          </a:p>
        </p:txBody>
      </p:sp>
    </p:spTree>
    <p:extLst>
      <p:ext uri="{BB962C8B-B14F-4D97-AF65-F5344CB8AC3E}">
        <p14:creationId xmlns:p14="http://schemas.microsoft.com/office/powerpoint/2010/main" val="206785747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A3735-885C-D762-2A7C-7760F6C51119}"/>
              </a:ext>
            </a:extLst>
          </p:cNvPr>
          <p:cNvSpPr>
            <a:spLocks noGrp="1"/>
          </p:cNvSpPr>
          <p:nvPr>
            <p:ph type="title"/>
          </p:nvPr>
        </p:nvSpPr>
        <p:spPr>
          <a:xfrm>
            <a:off x="838200" y="406866"/>
            <a:ext cx="10515600" cy="1325563"/>
          </a:xfrm>
        </p:spPr>
        <p:txBody>
          <a:bodyPr>
            <a:normAutofit/>
          </a:bodyPr>
          <a:lstStyle/>
          <a:p>
            <a:r>
              <a:rPr kumimoji="1" lang="en-US" altLang="zh-TW" sz="4000" b="1" dirty="0">
                <a:latin typeface="Times New Roman" panose="02020603050405020304" pitchFamily="18" charset="0"/>
                <a:cs typeface="Times New Roman" panose="02020603050405020304" pitchFamily="18" charset="0"/>
              </a:rPr>
              <a:t>Abstract </a:t>
            </a:r>
            <a:endParaRPr kumimoji="1" lang="zh-TW" altLang="en-US"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E60A558-83F5-DC4B-E8C9-3EB0801F3EAE}"/>
              </a:ext>
            </a:extLst>
          </p:cNvPr>
          <p:cNvSpPr>
            <a:spLocks noGrp="1"/>
          </p:cNvSpPr>
          <p:nvPr>
            <p:ph idx="1"/>
          </p:nvPr>
        </p:nvSpPr>
        <p:spPr>
          <a:xfrm>
            <a:off x="838200" y="1602298"/>
            <a:ext cx="10797330" cy="4697834"/>
          </a:xfrm>
        </p:spPr>
        <p:txBody>
          <a:bodyPr>
            <a:normAutofit fontScale="92500" lnSpcReduction="20000"/>
          </a:bodyPr>
          <a:lstStyle/>
          <a:p>
            <a:pPr marL="0" indent="0">
              <a:lnSpc>
                <a:spcPct val="150000"/>
              </a:lnSpc>
              <a:buNone/>
            </a:pPr>
            <a:r>
              <a:rPr kumimoji="1" lang="en-US" altLang="zh-TW" sz="2400" dirty="0">
                <a:latin typeface="Times New Roman" panose="02020603050405020304" pitchFamily="18" charset="0"/>
                <a:cs typeface="Times New Roman" panose="02020603050405020304" pitchFamily="18" charset="0"/>
              </a:rPr>
              <a:t>Given a text T and a pattern P, the order-preserving pattern matching (OPPM) problem is to find all substrings in T which have the same relative orders as P. The OPPM has been studied in the fields of finding some patterns affected by relative orders, not by their absolute values. In this paper, we present a method of deciding the order-isomorphism between two strings even when there are same characters. Then, we show that the bad character rule of the </a:t>
            </a:r>
            <a:r>
              <a:rPr kumimoji="1" lang="en-US" altLang="zh-TW" sz="2400" dirty="0" err="1">
                <a:latin typeface="Times New Roman" panose="02020603050405020304" pitchFamily="18" charset="0"/>
                <a:cs typeface="Times New Roman" panose="02020603050405020304" pitchFamily="18" charset="0"/>
              </a:rPr>
              <a:t>Horspool</a:t>
            </a:r>
            <a:r>
              <a:rPr kumimoji="1" lang="en-US" altLang="zh-TW" sz="2400" dirty="0">
                <a:latin typeface="Times New Roman" panose="02020603050405020304" pitchFamily="18" charset="0"/>
                <a:cs typeface="Times New Roman" panose="02020603050405020304" pitchFamily="18" charset="0"/>
              </a:rPr>
              <a:t> algorithm for generic pattern matching problems can be applied to the OPPM problem and we present a space-efficient algorithm for computing shift tables for text search. Finally, we combine our bad character rule with the KMP-based algorithm to improve the worst-case running time. We give experimental results to show that our algorithm is about 2 to 6 times faster than the KMP-based algorithm in reasonable cases.</a:t>
            </a:r>
          </a:p>
        </p:txBody>
      </p:sp>
      <p:sp>
        <p:nvSpPr>
          <p:cNvPr id="4" name="Slide Number Placeholder 3">
            <a:extLst>
              <a:ext uri="{FF2B5EF4-FFF2-40B4-BE49-F238E27FC236}">
                <a16:creationId xmlns:a16="http://schemas.microsoft.com/office/drawing/2014/main" id="{7955E3F4-879A-1E75-AEA8-8BFC5FE9B187}"/>
              </a:ext>
            </a:extLst>
          </p:cNvPr>
          <p:cNvSpPr>
            <a:spLocks noGrp="1"/>
          </p:cNvSpPr>
          <p:nvPr>
            <p:ph type="sldNum" sz="quarter" idx="12"/>
          </p:nvPr>
        </p:nvSpPr>
        <p:spPr/>
        <p:txBody>
          <a:bodyPr/>
          <a:lstStyle/>
          <a:p>
            <a:fld id="{7FE2C478-69CB-4CE2-A453-7F649089E273}" type="slidenum">
              <a:rPr lang="zh-TW" altLang="en-US" smtClean="0"/>
              <a:t>2</a:t>
            </a:fld>
            <a:endParaRPr lang="zh-TW" altLang="en-US" dirty="0"/>
          </a:p>
        </p:txBody>
      </p:sp>
    </p:spTree>
    <p:extLst>
      <p:ext uri="{BB962C8B-B14F-4D97-AF65-F5344CB8AC3E}">
        <p14:creationId xmlns:p14="http://schemas.microsoft.com/office/powerpoint/2010/main" val="367190788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Order preserving pattern matching</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3</a:t>
            </a:fld>
            <a:endParaRPr lang="zh-TW" altLang="en-US" dirty="0"/>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65100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fr-FR" altLang="zh-TW" sz="2400" i="1" dirty="0">
                <a:latin typeface="Times New Roman" panose="02020603050405020304" pitchFamily="18" charset="0"/>
                <a:cs typeface="Times New Roman" panose="02020603050405020304" pitchFamily="18" charset="0"/>
              </a:rPr>
              <a:t>P = </a:t>
            </a:r>
            <a:r>
              <a:rPr kumimoji="1" lang="fr-FR" altLang="zh-TW" sz="2400" dirty="0">
                <a:latin typeface="Times New Roman" panose="02020603050405020304" pitchFamily="18" charset="0"/>
                <a:cs typeface="Times New Roman" panose="02020603050405020304" pitchFamily="18" charset="0"/>
              </a:rPr>
              <a:t>(35, 40, 23, 40, 40, 28, 30)</a:t>
            </a:r>
          </a:p>
          <a:p>
            <a:r>
              <a:rPr kumimoji="1" lang="pt-BR" altLang="zh-TW" sz="2400" i="1" dirty="0">
                <a:latin typeface="Times New Roman" panose="02020603050405020304" pitchFamily="18" charset="0"/>
                <a:cs typeface="Times New Roman" panose="02020603050405020304" pitchFamily="18" charset="0"/>
              </a:rPr>
              <a:t>T = </a:t>
            </a:r>
            <a:r>
              <a:rPr kumimoji="1" lang="pt-BR" altLang="zh-TW" sz="2400" dirty="0">
                <a:latin typeface="Times New Roman" panose="02020603050405020304" pitchFamily="18" charset="0"/>
                <a:cs typeface="Times New Roman" panose="02020603050405020304" pitchFamily="18" charset="0"/>
              </a:rPr>
              <a:t>(10, 20, 15, 28, 32, 12, 32, 32, 20, 25, 15, 25)</a:t>
            </a:r>
          </a:p>
          <a:p>
            <a:endParaRPr kumimoji="1" lang="pt-BR" altLang="zh-TW" sz="2400" dirty="0">
              <a:latin typeface="Times New Roman" panose="02020603050405020304" pitchFamily="18" charset="0"/>
              <a:cs typeface="Times New Roman" panose="02020603050405020304" pitchFamily="18" charset="0"/>
            </a:endParaRPr>
          </a:p>
          <a:p>
            <a:r>
              <a:rPr kumimoji="1" lang="en-US" altLang="zh-TW" sz="2400" i="1" dirty="0">
                <a:latin typeface="Times New Roman" panose="02020603050405020304" pitchFamily="18" charset="0"/>
                <a:cs typeface="Times New Roman" panose="02020603050405020304" pitchFamily="18" charset="0"/>
              </a:rPr>
              <a:t>T’ </a:t>
            </a:r>
            <a:r>
              <a:rPr kumimoji="1" lang="en-US" altLang="zh-TW" sz="2400" dirty="0">
                <a:latin typeface="Times New Roman" panose="02020603050405020304" pitchFamily="18" charset="0"/>
                <a:cs typeface="Times New Roman" panose="02020603050405020304" pitchFamily="18" charset="0"/>
              </a:rPr>
              <a:t>= (28, 32, 12, 32, 32, 20, 25)</a:t>
            </a:r>
          </a:p>
        </p:txBody>
      </p:sp>
      <p:pic>
        <p:nvPicPr>
          <p:cNvPr id="4" name="Picture 3">
            <a:extLst>
              <a:ext uri="{FF2B5EF4-FFF2-40B4-BE49-F238E27FC236}">
                <a16:creationId xmlns:a16="http://schemas.microsoft.com/office/drawing/2014/main" id="{00BD018F-0D2F-4360-8721-6E4BC4FD49B1}"/>
              </a:ext>
            </a:extLst>
          </p:cNvPr>
          <p:cNvPicPr>
            <a:picLocks noChangeAspect="1"/>
          </p:cNvPicPr>
          <p:nvPr/>
        </p:nvPicPr>
        <p:blipFill>
          <a:blip r:embed="rId3"/>
          <a:stretch>
            <a:fillRect/>
          </a:stretch>
        </p:blipFill>
        <p:spPr>
          <a:xfrm>
            <a:off x="2642705" y="3730239"/>
            <a:ext cx="6906589" cy="2762636"/>
          </a:xfrm>
          <a:prstGeom prst="rect">
            <a:avLst/>
          </a:prstGeom>
        </p:spPr>
      </p:pic>
    </p:spTree>
    <p:extLst>
      <p:ext uri="{BB962C8B-B14F-4D97-AF65-F5344CB8AC3E}">
        <p14:creationId xmlns:p14="http://schemas.microsoft.com/office/powerpoint/2010/main" val="298405716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Order preserving pattern matching</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4</a:t>
            </a:fld>
            <a:endParaRPr lang="zh-TW" altLang="en-US" dirty="0"/>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586996"/>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sSub>
                      <m:sSubPr>
                        <m:ctrlPr>
                          <a:rPr kumimoji="1" lang="pt-BR" altLang="zh-TW" sz="2000" i="1" smtClean="0">
                            <a:latin typeface="Cambria Math" panose="02040503050406030204" pitchFamily="18" charset="0"/>
                            <a:cs typeface="Times New Roman" panose="02020603050405020304" pitchFamily="18" charset="0"/>
                          </a:rPr>
                        </m:ctrlPr>
                      </m:sSubPr>
                      <m:e>
                        <m:r>
                          <a:rPr kumimoji="1" lang="zh-TW" altLang="pt-BR" sz="2000" i="1" smtClean="0">
                            <a:latin typeface="Cambria Math" panose="02040503050406030204" pitchFamily="18" charset="0"/>
                            <a:cs typeface="Times New Roman" panose="02020603050405020304" pitchFamily="18" charset="0"/>
                          </a:rPr>
                          <m:t>𝜇</m:t>
                        </m:r>
                      </m:e>
                      <m:sub>
                        <m:r>
                          <a:rPr kumimoji="1" lang="en-US" altLang="zh-TW" sz="2000" b="0" i="1" smtClean="0">
                            <a:latin typeface="Cambria Math" panose="02040503050406030204" pitchFamily="18" charset="0"/>
                            <a:cs typeface="Times New Roman" panose="02020603050405020304" pitchFamily="18" charset="0"/>
                          </a:rPr>
                          <m:t>𝑃</m:t>
                        </m:r>
                      </m:sub>
                    </m:sSub>
                    <m:r>
                      <a:rPr kumimoji="1" lang="en-US" altLang="zh-TW" sz="2000" b="0" i="1" smtClean="0">
                        <a:latin typeface="Cambria Math" panose="02040503050406030204" pitchFamily="18" charset="0"/>
                        <a:cs typeface="Times New Roman" panose="02020603050405020304" pitchFamily="18" charset="0"/>
                      </a:rPr>
                      <m:t>[</m:t>
                    </m:r>
                    <m:r>
                      <a:rPr kumimoji="1" lang="en-US" altLang="zh-TW" sz="2000" b="0" i="1" smtClean="0">
                        <a:latin typeface="Cambria Math" panose="02040503050406030204" pitchFamily="18" charset="0"/>
                        <a:cs typeface="Times New Roman" panose="02020603050405020304" pitchFamily="18" charset="0"/>
                      </a:rPr>
                      <m:t>𝑖</m:t>
                    </m:r>
                    <m:r>
                      <a:rPr kumimoji="1" lang="en-US" altLang="zh-TW" sz="2000" b="0" i="1" smtClean="0">
                        <a:latin typeface="Cambria Math" panose="02040503050406030204" pitchFamily="18" charset="0"/>
                        <a:cs typeface="Times New Roman" panose="02020603050405020304" pitchFamily="18" charset="0"/>
                      </a:rPr>
                      <m:t>]</m:t>
                    </m:r>
                  </m:oMath>
                </a14:m>
                <a:r>
                  <a:rPr kumimoji="1" lang="pt-BR" altLang="zh-TW" sz="2000" dirty="0">
                    <a:latin typeface="Times New Roman" panose="02020603050405020304" pitchFamily="18" charset="0"/>
                    <a:cs typeface="Times New Roman" panose="02020603050405020304" pitchFamily="18" charset="0"/>
                  </a:rPr>
                  <a:t>: prefix table, </a:t>
                </a:r>
                <a:r>
                  <a:rPr kumimoji="1" lang="zh-TW" altLang="en-US" sz="2000" dirty="0">
                    <a:latin typeface="標楷體" panose="03000509000000000000" pitchFamily="65" charset="-120"/>
                    <a:ea typeface="標楷體" panose="03000509000000000000" pitchFamily="65" charset="-120"/>
                    <a:cs typeface="Times New Roman" panose="02020603050405020304" pitchFamily="18" charset="0"/>
                  </a:rPr>
                  <a:t>比</a:t>
                </a:r>
                <a:r>
                  <a:rPr kumimoji="1" lang="en-US" altLang="zh-TW" sz="2000" dirty="0">
                    <a:latin typeface="Times New Roman" panose="02020603050405020304" pitchFamily="18" charset="0"/>
                    <a:cs typeface="Times New Roman" panose="02020603050405020304" pitchFamily="18" charset="0"/>
                  </a:rPr>
                  <a:t>P[</a:t>
                </a:r>
                <a:r>
                  <a:rPr kumimoji="1" lang="en-US" altLang="zh-TW" sz="2000" dirty="0" err="1">
                    <a:latin typeface="Times New Roman" panose="02020603050405020304" pitchFamily="18" charset="0"/>
                    <a:cs typeface="Times New Roman" panose="02020603050405020304" pitchFamily="18" charset="0"/>
                  </a:rPr>
                  <a:t>i</a:t>
                </a:r>
                <a:r>
                  <a:rPr kumimoji="1" lang="en-US" altLang="zh-TW" sz="2000" dirty="0">
                    <a:latin typeface="Times New Roman" panose="02020603050405020304" pitchFamily="18" charset="0"/>
                    <a:cs typeface="Times New Roman" panose="02020603050405020304" pitchFamily="18" charset="0"/>
                  </a:rPr>
                  <a:t>]</a:t>
                </a:r>
                <a:r>
                  <a:rPr kumimoji="1" lang="zh-TW" altLang="en-US" sz="2000" dirty="0">
                    <a:latin typeface="標楷體" panose="03000509000000000000" pitchFamily="65" charset="-120"/>
                    <a:ea typeface="標楷體" panose="03000509000000000000" pitchFamily="65" charset="-120"/>
                    <a:cs typeface="Times New Roman" panose="02020603050405020304" pitchFamily="18" charset="0"/>
                  </a:rPr>
                  <a:t>小的數量</a:t>
                </a:r>
                <a:endParaRPr kumimoji="1" lang="en-US" altLang="zh-TW" sz="2000" dirty="0">
                  <a:latin typeface="標楷體" panose="03000509000000000000" pitchFamily="65" charset="-120"/>
                  <a:ea typeface="標楷體" panose="03000509000000000000" pitchFamily="65" charset="-120"/>
                  <a:cs typeface="Times New Roman" panose="02020603050405020304" pitchFamily="18" charset="0"/>
                </a:endParaRPr>
              </a:p>
              <a:p>
                <a14:m>
                  <m:oMath xmlns:m="http://schemas.openxmlformats.org/officeDocument/2006/math">
                    <m:sSub>
                      <m:sSubPr>
                        <m:ctrlPr>
                          <a:rPr kumimoji="1" lang="pt-BR" altLang="zh-TW" sz="2000" i="1" smtClean="0">
                            <a:latin typeface="Cambria Math" panose="02040503050406030204" pitchFamily="18" charset="0"/>
                            <a:ea typeface="標楷體" panose="03000509000000000000" pitchFamily="65" charset="-120"/>
                            <a:cs typeface="Times New Roman" panose="02020603050405020304" pitchFamily="18" charset="0"/>
                          </a:rPr>
                        </m:ctrlPr>
                      </m:sSubPr>
                      <m:e>
                        <m:r>
                          <a:rPr kumimoji="1"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t>𝐿𝑀𝑎𝑥</m:t>
                        </m:r>
                      </m:e>
                      <m:sub>
                        <m:r>
                          <a:rPr kumimoji="1"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t>𝑃</m:t>
                        </m:r>
                      </m:sub>
                    </m:sSub>
                    <m:r>
                      <a:rPr kumimoji="1"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t>[</m:t>
                    </m:r>
                    <m:r>
                      <a:rPr kumimoji="1"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t>𝑖</m:t>
                    </m:r>
                    <m:r>
                      <a:rPr kumimoji="1"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t>]</m:t>
                    </m:r>
                  </m:oMath>
                </a14:m>
                <a:r>
                  <a:rPr kumimoji="1" lang="pt-BR" altLang="zh-TW" sz="2000" dirty="0">
                    <a:latin typeface="標楷體" panose="03000509000000000000" pitchFamily="65" charset="-120"/>
                    <a:ea typeface="標楷體" panose="03000509000000000000" pitchFamily="65" charset="-120"/>
                    <a:cs typeface="Times New Roman" panose="02020603050405020304" pitchFamily="18" charset="0"/>
                  </a:rPr>
                  <a:t>:</a:t>
                </a:r>
                <a:r>
                  <a:rPr kumimoji="1" lang="pt-BR" altLang="zh-TW" sz="2000" dirty="0">
                    <a:latin typeface="Times New Roman" panose="02020603050405020304" pitchFamily="18" charset="0"/>
                    <a:ea typeface="標楷體" panose="03000509000000000000" pitchFamily="65" charset="-120"/>
                    <a:cs typeface="Times New Roman" panose="02020603050405020304" pitchFamily="18" charset="0"/>
                  </a:rPr>
                  <a:t>Predecessor </a:t>
                </a:r>
                <a:r>
                  <a:rPr kumimoji="1"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r>
                  <a:rPr kumimoji="1" lang="pt-BR" altLang="zh-TW" sz="2000" dirty="0">
                    <a:latin typeface="Times New Roman" panose="02020603050405020304" pitchFamily="18" charset="0"/>
                    <a:ea typeface="標楷體" panose="03000509000000000000" pitchFamily="65" charset="-120"/>
                    <a:cs typeface="Times New Roman" panose="02020603050405020304" pitchFamily="18" charset="0"/>
                  </a:rPr>
                  <a:t>prefix</a:t>
                </a:r>
                <a:r>
                  <a:rPr kumimoji="1" lang="zh-TW" altLang="en-US" sz="2000" dirty="0">
                    <a:latin typeface="Times New Roman" panose="02020603050405020304" pitchFamily="18" charset="0"/>
                    <a:ea typeface="標楷體" panose="03000509000000000000" pitchFamily="65" charset="-120"/>
                    <a:cs typeface="Times New Roman" panose="02020603050405020304" pitchFamily="18" charset="0"/>
                  </a:rPr>
                  <a:t>裡比不比</a:t>
                </a:r>
                <a:r>
                  <a:rPr kumimoji="1" lang="en-US" altLang="zh-TW" sz="2000" dirty="0">
                    <a:latin typeface="Times New Roman" panose="02020603050405020304" pitchFamily="18" charset="0"/>
                    <a:cs typeface="Times New Roman" panose="02020603050405020304" pitchFamily="18" charset="0"/>
                  </a:rPr>
                  <a:t>P[</a:t>
                </a:r>
                <a:r>
                  <a:rPr kumimoji="1" lang="en-US" altLang="zh-TW" sz="2000" dirty="0" err="1">
                    <a:latin typeface="Times New Roman" panose="02020603050405020304" pitchFamily="18" charset="0"/>
                    <a:cs typeface="Times New Roman" panose="02020603050405020304" pitchFamily="18" charset="0"/>
                  </a:rPr>
                  <a:t>i</a:t>
                </a:r>
                <a:r>
                  <a:rPr kumimoji="1" lang="en-US" altLang="zh-TW" sz="2000" dirty="0">
                    <a:latin typeface="Times New Roman" panose="02020603050405020304" pitchFamily="18" charset="0"/>
                    <a:cs typeface="Times New Roman" panose="02020603050405020304" pitchFamily="18" charset="0"/>
                  </a:rPr>
                  <a:t>]</a:t>
                </a:r>
                <a:r>
                  <a:rPr kumimoji="1" lang="zh-TW" altLang="en-US" sz="2000" dirty="0">
                    <a:latin typeface="標楷體" panose="03000509000000000000" pitchFamily="65" charset="-120"/>
                    <a:ea typeface="標楷體" panose="03000509000000000000" pitchFamily="65" charset="-120"/>
                    <a:cs typeface="Times New Roman" panose="02020603050405020304" pitchFamily="18" charset="0"/>
                  </a:rPr>
                  <a:t>大中最大的</a:t>
                </a:r>
                <a:r>
                  <a:rPr kumimoji="1"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endParaRPr kumimoji="1" lang="pt-BR" altLang="zh-TW" sz="2000" dirty="0">
                  <a:latin typeface="Times New Roman" panose="02020603050405020304" pitchFamily="18" charset="0"/>
                  <a:ea typeface="標楷體" panose="03000509000000000000" pitchFamily="65" charset="-120"/>
                  <a:cs typeface="Times New Roman" panose="02020603050405020304" pitchFamily="18" charset="0"/>
                </a:endParaRPr>
              </a:p>
              <a:p>
                <a14:m>
                  <m:oMath xmlns:m="http://schemas.openxmlformats.org/officeDocument/2006/math">
                    <m:sSub>
                      <m:sSubPr>
                        <m:ctrlPr>
                          <a:rPr kumimoji="1" lang="pt-BR" altLang="zh-TW" sz="2000" i="1" smtClean="0">
                            <a:latin typeface="Cambria Math" panose="02040503050406030204" pitchFamily="18" charset="0"/>
                            <a:ea typeface="標楷體" panose="03000509000000000000" pitchFamily="65" charset="-120"/>
                            <a:cs typeface="Times New Roman" panose="02020603050405020304" pitchFamily="18" charset="0"/>
                          </a:rPr>
                        </m:ctrlPr>
                      </m:sSubPr>
                      <m:e>
                        <m:r>
                          <a:rPr kumimoji="1"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t>𝐿𝑀𝑖𝑛</m:t>
                        </m:r>
                      </m:e>
                      <m:sub>
                        <m:r>
                          <a:rPr kumimoji="1"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t>𝑃</m:t>
                        </m:r>
                      </m:sub>
                    </m:sSub>
                    <m:r>
                      <a:rPr kumimoji="1"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t>[</m:t>
                    </m:r>
                    <m:r>
                      <a:rPr kumimoji="1"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t>𝑖</m:t>
                    </m:r>
                    <m:r>
                      <a:rPr kumimoji="1"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t>]</m:t>
                    </m:r>
                  </m:oMath>
                </a14:m>
                <a:r>
                  <a:rPr kumimoji="1" lang="pt-BR" altLang="zh-TW" sz="2000" dirty="0">
                    <a:latin typeface="標楷體" panose="03000509000000000000" pitchFamily="65" charset="-120"/>
                    <a:ea typeface="標楷體" panose="03000509000000000000" pitchFamily="65" charset="-120"/>
                    <a:cs typeface="Times New Roman" panose="02020603050405020304" pitchFamily="18" charset="0"/>
                  </a:rPr>
                  <a:t>:</a:t>
                </a:r>
                <a:r>
                  <a:rPr kumimoji="1" lang="pt-BR" altLang="zh-TW" sz="2000" dirty="0">
                    <a:latin typeface="Times New Roman" panose="02020603050405020304" pitchFamily="18" charset="0"/>
                    <a:ea typeface="標楷體" panose="03000509000000000000" pitchFamily="65" charset="-120"/>
                    <a:cs typeface="Times New Roman" panose="02020603050405020304" pitchFamily="18" charset="0"/>
                  </a:rPr>
                  <a:t>Sucessor </a:t>
                </a:r>
                <a:r>
                  <a:rPr kumimoji="1"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r>
                  <a:rPr kumimoji="1" lang="pt-BR" altLang="zh-TW" sz="2000" dirty="0">
                    <a:latin typeface="Times New Roman" panose="02020603050405020304" pitchFamily="18" charset="0"/>
                    <a:ea typeface="標楷體" panose="03000509000000000000" pitchFamily="65" charset="-120"/>
                    <a:cs typeface="Times New Roman" panose="02020603050405020304" pitchFamily="18" charset="0"/>
                  </a:rPr>
                  <a:t>prefix</a:t>
                </a:r>
                <a:r>
                  <a:rPr kumimoji="1" lang="zh-TW" altLang="en-US" sz="2000" dirty="0">
                    <a:latin typeface="Times New Roman" panose="02020603050405020304" pitchFamily="18" charset="0"/>
                    <a:ea typeface="標楷體" panose="03000509000000000000" pitchFamily="65" charset="-120"/>
                    <a:cs typeface="Times New Roman" panose="02020603050405020304" pitchFamily="18" charset="0"/>
                  </a:rPr>
                  <a:t>裡比不比</a:t>
                </a:r>
                <a:r>
                  <a:rPr kumimoji="1" lang="en-US" altLang="zh-TW" sz="2000" dirty="0">
                    <a:latin typeface="Times New Roman" panose="02020603050405020304" pitchFamily="18" charset="0"/>
                    <a:cs typeface="Times New Roman" panose="02020603050405020304" pitchFamily="18" charset="0"/>
                  </a:rPr>
                  <a:t>P[</a:t>
                </a:r>
                <a:r>
                  <a:rPr kumimoji="1" lang="en-US" altLang="zh-TW" sz="2000" dirty="0" err="1">
                    <a:latin typeface="Times New Roman" panose="02020603050405020304" pitchFamily="18" charset="0"/>
                    <a:cs typeface="Times New Roman" panose="02020603050405020304" pitchFamily="18" charset="0"/>
                  </a:rPr>
                  <a:t>i</a:t>
                </a:r>
                <a:r>
                  <a:rPr kumimoji="1" lang="en-US" altLang="zh-TW" sz="2000" dirty="0">
                    <a:latin typeface="Times New Roman" panose="02020603050405020304" pitchFamily="18" charset="0"/>
                    <a:cs typeface="Times New Roman" panose="02020603050405020304" pitchFamily="18" charset="0"/>
                  </a:rPr>
                  <a:t>]</a:t>
                </a:r>
                <a:r>
                  <a:rPr kumimoji="1" lang="zh-TW" altLang="en-US" sz="2000" dirty="0">
                    <a:latin typeface="標楷體" panose="03000509000000000000" pitchFamily="65" charset="-120"/>
                    <a:ea typeface="標楷體" panose="03000509000000000000" pitchFamily="65" charset="-120"/>
                    <a:cs typeface="Times New Roman" panose="02020603050405020304" pitchFamily="18" charset="0"/>
                  </a:rPr>
                  <a:t>小中最小的</a:t>
                </a:r>
                <a:r>
                  <a:rPr kumimoji="1"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p>
              <a:p>
                <a14:m>
                  <m:oMath xmlns:m="http://schemas.openxmlformats.org/officeDocument/2006/math">
                    <m:sSub>
                      <m:sSubPr>
                        <m:ctrlPr>
                          <a:rPr kumimoji="1" lang="pt-BR" altLang="zh-TW" sz="2000" i="1" smtClean="0">
                            <a:latin typeface="Cambria Math" panose="02040503050406030204" pitchFamily="18" charset="0"/>
                            <a:cs typeface="Times New Roman" panose="02020603050405020304" pitchFamily="18" charset="0"/>
                          </a:rPr>
                        </m:ctrlPr>
                      </m:sSubPr>
                      <m:e>
                        <m:r>
                          <m:rPr>
                            <m:sty m:val="p"/>
                          </m:rPr>
                          <a:rPr kumimoji="1" lang="el-GR" altLang="zh-TW" sz="2000" i="1" smtClean="0">
                            <a:latin typeface="Cambria Math" panose="02040503050406030204" pitchFamily="18" charset="0"/>
                            <a:ea typeface="Cambria Math" panose="02040503050406030204" pitchFamily="18" charset="0"/>
                            <a:cs typeface="Times New Roman" panose="02020603050405020304" pitchFamily="18" charset="0"/>
                          </a:rPr>
                          <m:t>π</m:t>
                        </m:r>
                      </m:e>
                      <m:sub>
                        <m:r>
                          <a:rPr kumimoji="1" lang="en-US" altLang="zh-TW" sz="2000" b="0" i="1" smtClean="0">
                            <a:latin typeface="Cambria Math" panose="02040503050406030204" pitchFamily="18" charset="0"/>
                            <a:cs typeface="Times New Roman" panose="02020603050405020304" pitchFamily="18" charset="0"/>
                          </a:rPr>
                          <m:t>𝑃</m:t>
                        </m:r>
                      </m:sub>
                    </m:sSub>
                    <m:r>
                      <a:rPr kumimoji="1" lang="en-US" altLang="zh-TW" sz="2000" b="0" i="1" smtClean="0">
                        <a:latin typeface="Cambria Math" panose="02040503050406030204" pitchFamily="18" charset="0"/>
                        <a:cs typeface="Times New Roman" panose="02020603050405020304" pitchFamily="18" charset="0"/>
                      </a:rPr>
                      <m:t>[</m:t>
                    </m:r>
                    <m:r>
                      <a:rPr kumimoji="1" lang="en-US" altLang="zh-TW" sz="2000" b="0" i="1" smtClean="0">
                        <a:latin typeface="Cambria Math" panose="02040503050406030204" pitchFamily="18" charset="0"/>
                        <a:cs typeface="Times New Roman" panose="02020603050405020304" pitchFamily="18" charset="0"/>
                      </a:rPr>
                      <m:t>𝑖</m:t>
                    </m:r>
                    <m:r>
                      <a:rPr kumimoji="1" lang="en-US" altLang="zh-TW" sz="2000" b="0" i="1" smtClean="0">
                        <a:latin typeface="Cambria Math" panose="02040503050406030204" pitchFamily="18" charset="0"/>
                        <a:cs typeface="Times New Roman" panose="02020603050405020304" pitchFamily="18" charset="0"/>
                      </a:rPr>
                      <m:t>]</m:t>
                    </m:r>
                  </m:oMath>
                </a14:m>
                <a:r>
                  <a:rPr kumimoji="1" lang="pt-BR" altLang="zh-TW" sz="2000" dirty="0">
                    <a:latin typeface="Times New Roman" panose="02020603050405020304" pitchFamily="18" charset="0"/>
                    <a:cs typeface="Times New Roman" panose="02020603050405020304" pitchFamily="18" charset="0"/>
                  </a:rPr>
                  <a:t>: failure function</a:t>
                </a:r>
              </a:p>
              <a:p>
                <a14:m>
                  <m:oMath xmlns:m="http://schemas.openxmlformats.org/officeDocument/2006/math">
                    <m:r>
                      <a:rPr kumimoji="1"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𝑥</m:t>
                    </m:r>
                    <m:r>
                      <a:rPr kumimoji="1" lang="pt-BR" altLang="zh-TW" sz="2000" i="1" smtClean="0">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𝑦</m:t>
                    </m:r>
                  </m:oMath>
                </a14:m>
                <a:endParaRPr kumimoji="1" lang="pt-BR"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lvl="1"/>
                <a14:m>
                  <m:oMath xmlns:m="http://schemas.openxmlformats.org/officeDocument/2006/math">
                    <m:r>
                      <a:rPr kumimoji="1" lang="en-US" altLang="zh-TW" sz="1800" b="0" i="1" smtClean="0">
                        <a:latin typeface="Cambria Math" panose="02040503050406030204" pitchFamily="18" charset="0"/>
                        <a:ea typeface="標楷體" panose="03000509000000000000" pitchFamily="65" charset="-120"/>
                        <a:cs typeface="Times New Roman" panose="02020603050405020304" pitchFamily="18" charset="0"/>
                      </a:rPr>
                      <m:t>𝑥</m:t>
                    </m:r>
                    <m:d>
                      <m:dPr>
                        <m:begChr m:val="["/>
                        <m:endChr m:val="]"/>
                        <m:ctrlPr>
                          <a:rPr kumimoji="1" lang="en-US" altLang="zh-TW" sz="1800" b="0" i="1" smtClean="0">
                            <a:latin typeface="Cambria Math" panose="02040503050406030204" pitchFamily="18" charset="0"/>
                            <a:ea typeface="標楷體" panose="03000509000000000000" pitchFamily="65" charset="-120"/>
                            <a:cs typeface="Times New Roman" panose="02020603050405020304" pitchFamily="18" charset="0"/>
                          </a:rPr>
                        </m:ctrlPr>
                      </m:dPr>
                      <m:e>
                        <m:r>
                          <a:rPr kumimoji="1" lang="en-US" altLang="zh-TW" sz="1800" b="0" i="1" smtClean="0">
                            <a:latin typeface="Cambria Math" panose="02040503050406030204" pitchFamily="18" charset="0"/>
                            <a:ea typeface="標楷體" panose="03000509000000000000" pitchFamily="65" charset="-120"/>
                            <a:cs typeface="Times New Roman" panose="02020603050405020304" pitchFamily="18" charset="0"/>
                          </a:rPr>
                          <m:t>𝑖</m:t>
                        </m:r>
                      </m:e>
                    </m:d>
                    <m:r>
                      <a:rPr kumimoji="1" lang="en-US" altLang="zh-TW" sz="1800" b="0" i="1" smtClean="0">
                        <a:latin typeface="Cambria Math" panose="02040503050406030204" pitchFamily="18" charset="0"/>
                        <a:ea typeface="標楷體" panose="03000509000000000000" pitchFamily="65" charset="-120"/>
                        <a:cs typeface="Times New Roman" panose="02020603050405020304" pitchFamily="18" charset="0"/>
                      </a:rPr>
                      <m:t>≤</m:t>
                    </m:r>
                    <m:r>
                      <a:rPr kumimoji="1" lang="en-US" altLang="zh-TW" sz="1800" b="0" i="1" smtClean="0">
                        <a:latin typeface="Cambria Math" panose="02040503050406030204" pitchFamily="18" charset="0"/>
                        <a:ea typeface="標楷體" panose="03000509000000000000" pitchFamily="65" charset="-120"/>
                        <a:cs typeface="Times New Roman" panose="02020603050405020304" pitchFamily="18" charset="0"/>
                      </a:rPr>
                      <m:t>𝑥</m:t>
                    </m:r>
                    <m:d>
                      <m:dPr>
                        <m:begChr m:val="["/>
                        <m:endChr m:val="]"/>
                        <m:ctrlPr>
                          <a:rPr kumimoji="1" lang="en-US" altLang="zh-TW" sz="1800" b="0" i="1" smtClean="0">
                            <a:latin typeface="Cambria Math" panose="02040503050406030204" pitchFamily="18" charset="0"/>
                            <a:ea typeface="標楷體" panose="03000509000000000000" pitchFamily="65" charset="-120"/>
                            <a:cs typeface="Times New Roman" panose="02020603050405020304" pitchFamily="18" charset="0"/>
                          </a:rPr>
                        </m:ctrlPr>
                      </m:dPr>
                      <m:e>
                        <m:r>
                          <a:rPr kumimoji="1" lang="en-US" altLang="zh-TW" sz="1800" b="0" i="1" smtClean="0">
                            <a:latin typeface="Cambria Math" panose="02040503050406030204" pitchFamily="18" charset="0"/>
                            <a:ea typeface="標楷體" panose="03000509000000000000" pitchFamily="65" charset="-120"/>
                            <a:cs typeface="Times New Roman" panose="02020603050405020304" pitchFamily="18" charset="0"/>
                          </a:rPr>
                          <m:t>𝑗</m:t>
                        </m:r>
                      </m:e>
                    </m:d>
                    <m:r>
                      <a:rPr kumimoji="1" lang="en-US" altLang="zh-TW" sz="1800" b="0" i="1" smtClean="0">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sz="1800" b="0" i="1" smtClean="0">
                        <a:latin typeface="Cambria Math" panose="02040503050406030204" pitchFamily="18" charset="0"/>
                        <a:ea typeface="Cambria Math" panose="02040503050406030204" pitchFamily="18" charset="0"/>
                        <a:cs typeface="Times New Roman" panose="02020603050405020304" pitchFamily="18" charset="0"/>
                      </a:rPr>
                      <m:t>𝑦</m:t>
                    </m:r>
                    <m:d>
                      <m:dPr>
                        <m:begChr m:val="["/>
                        <m:endChr m:val="]"/>
                        <m:ctrlPr>
                          <a:rPr kumimoji="1" lang="en-US" altLang="zh-TW" sz="1800" b="0" i="1" smtClean="0">
                            <a:latin typeface="Cambria Math" panose="02040503050406030204" pitchFamily="18" charset="0"/>
                            <a:ea typeface="Cambria Math" panose="02040503050406030204" pitchFamily="18" charset="0"/>
                            <a:cs typeface="Times New Roman" panose="02020603050405020304" pitchFamily="18" charset="0"/>
                          </a:rPr>
                        </m:ctrlPr>
                      </m:dPr>
                      <m:e>
                        <m:r>
                          <a:rPr kumimoji="1" lang="en-US" altLang="zh-TW" sz="1800" b="0" i="1" smtClean="0">
                            <a:latin typeface="Cambria Math" panose="02040503050406030204" pitchFamily="18" charset="0"/>
                            <a:ea typeface="Cambria Math" panose="02040503050406030204" pitchFamily="18" charset="0"/>
                            <a:cs typeface="Times New Roman" panose="02020603050405020304" pitchFamily="18" charset="0"/>
                          </a:rPr>
                          <m:t>𝑖</m:t>
                        </m:r>
                      </m:e>
                    </m:d>
                    <m:r>
                      <a:rPr kumimoji="1" lang="en-US" altLang="zh-TW" sz="1800" b="0" i="1" smtClean="0">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sz="1800" b="0" i="1" smtClean="0">
                        <a:latin typeface="Cambria Math" panose="02040503050406030204" pitchFamily="18" charset="0"/>
                        <a:ea typeface="Cambria Math" panose="02040503050406030204" pitchFamily="18" charset="0"/>
                        <a:cs typeface="Times New Roman" panose="02020603050405020304" pitchFamily="18" charset="0"/>
                      </a:rPr>
                      <m:t>𝑦</m:t>
                    </m:r>
                    <m:d>
                      <m:dPr>
                        <m:begChr m:val="["/>
                        <m:endChr m:val="]"/>
                        <m:ctrlPr>
                          <a:rPr kumimoji="1" lang="en-US" altLang="zh-TW" sz="1800" b="0" i="1" smtClean="0">
                            <a:latin typeface="Cambria Math" panose="02040503050406030204" pitchFamily="18" charset="0"/>
                            <a:ea typeface="Cambria Math" panose="02040503050406030204" pitchFamily="18" charset="0"/>
                            <a:cs typeface="Times New Roman" panose="02020603050405020304" pitchFamily="18" charset="0"/>
                          </a:rPr>
                        </m:ctrlPr>
                      </m:dPr>
                      <m:e>
                        <m:r>
                          <a:rPr kumimoji="1" lang="en-US" altLang="zh-TW" sz="1800" b="0" i="1" smtClean="0">
                            <a:latin typeface="Cambria Math" panose="02040503050406030204" pitchFamily="18" charset="0"/>
                            <a:ea typeface="Cambria Math" panose="02040503050406030204" pitchFamily="18" charset="0"/>
                            <a:cs typeface="Times New Roman" panose="02020603050405020304" pitchFamily="18" charset="0"/>
                          </a:rPr>
                          <m:t>𝑗</m:t>
                        </m:r>
                      </m:e>
                    </m:d>
                  </m:oMath>
                </a14:m>
                <a:endParaRPr kumimoji="1" lang="en-US" altLang="zh-TW" sz="1800" b="0" dirty="0">
                  <a:latin typeface="Times New Roman" panose="02020603050405020304" pitchFamily="18" charset="0"/>
                  <a:ea typeface="Cambria Math" panose="02040503050406030204" pitchFamily="18" charset="0"/>
                  <a:cs typeface="Times New Roman" panose="02020603050405020304" pitchFamily="18" charset="0"/>
                </a:endParaRPr>
              </a:p>
              <a:p>
                <a:pPr lvl="1"/>
                <a14:m>
                  <m:oMath xmlns:m="http://schemas.openxmlformats.org/officeDocument/2006/math">
                    <m:sSub>
                      <m:sSubPr>
                        <m:ctrlPr>
                          <a:rPr kumimoji="1" lang="pt-BR" altLang="zh-TW" sz="1800" i="1" smtClean="0">
                            <a:latin typeface="Cambria Math" panose="02040503050406030204" pitchFamily="18" charset="0"/>
                            <a:cs typeface="Times New Roman" panose="02020603050405020304" pitchFamily="18" charset="0"/>
                          </a:rPr>
                        </m:ctrlPr>
                      </m:sSubPr>
                      <m:e>
                        <m:r>
                          <a:rPr kumimoji="1" lang="zh-TW" altLang="pt-BR" sz="1800" i="1" smtClean="0">
                            <a:latin typeface="Cambria Math" panose="02040503050406030204" pitchFamily="18" charset="0"/>
                            <a:cs typeface="Times New Roman" panose="02020603050405020304" pitchFamily="18" charset="0"/>
                          </a:rPr>
                          <m:t>𝜇</m:t>
                        </m:r>
                      </m:e>
                      <m:sub>
                        <m:r>
                          <a:rPr kumimoji="1" lang="en-US" altLang="zh-TW" sz="1800" b="0" i="1" smtClean="0">
                            <a:latin typeface="Cambria Math" panose="02040503050406030204" pitchFamily="18" charset="0"/>
                            <a:cs typeface="Times New Roman" panose="02020603050405020304" pitchFamily="18" charset="0"/>
                          </a:rPr>
                          <m:t>𝑥</m:t>
                        </m:r>
                      </m:sub>
                    </m:sSub>
                    <m:r>
                      <a:rPr kumimoji="1" lang="en-US" altLang="zh-TW" sz="1800" b="0" i="1" smtClean="0">
                        <a:latin typeface="Cambria Math" panose="02040503050406030204" pitchFamily="18" charset="0"/>
                        <a:cs typeface="Times New Roman" panose="02020603050405020304" pitchFamily="18" charset="0"/>
                      </a:rPr>
                      <m:t>=</m:t>
                    </m:r>
                    <m:sSub>
                      <m:sSubPr>
                        <m:ctrlPr>
                          <a:rPr kumimoji="1" lang="pt-BR" altLang="zh-TW" sz="1800" i="1">
                            <a:latin typeface="Cambria Math" panose="02040503050406030204" pitchFamily="18" charset="0"/>
                            <a:cs typeface="Times New Roman" panose="02020603050405020304" pitchFamily="18" charset="0"/>
                          </a:rPr>
                        </m:ctrlPr>
                      </m:sSubPr>
                      <m:e>
                        <m:r>
                          <a:rPr kumimoji="1" lang="zh-TW" altLang="pt-BR" sz="1800" i="1">
                            <a:latin typeface="Cambria Math" panose="02040503050406030204" pitchFamily="18" charset="0"/>
                            <a:cs typeface="Times New Roman" panose="02020603050405020304" pitchFamily="18" charset="0"/>
                          </a:rPr>
                          <m:t>𝜇</m:t>
                        </m:r>
                      </m:e>
                      <m:sub>
                        <m:r>
                          <a:rPr kumimoji="1" lang="en-US" altLang="zh-TW" sz="1800" b="0" i="1" smtClean="0">
                            <a:latin typeface="Cambria Math" panose="02040503050406030204" pitchFamily="18" charset="0"/>
                            <a:cs typeface="Times New Roman" panose="02020603050405020304" pitchFamily="18" charset="0"/>
                          </a:rPr>
                          <m:t>𝑦</m:t>
                        </m:r>
                      </m:sub>
                    </m:sSub>
                  </m:oMath>
                </a14:m>
                <a:endParaRPr kumimoji="1" lang="pt-BR" altLang="zh-TW" sz="1800" dirty="0">
                  <a:latin typeface="Times New Roman" panose="02020603050405020304" pitchFamily="18" charset="0"/>
                  <a:ea typeface="標楷體" panose="03000509000000000000" pitchFamily="65" charset="-120"/>
                  <a:cs typeface="Times New Roman" panose="02020603050405020304" pitchFamily="18" charset="0"/>
                </a:endParaRPr>
              </a:p>
              <a:p>
                <a:endParaRPr kumimoji="1" lang="pt-BR" altLang="zh-TW" sz="2000" dirty="0">
                  <a:latin typeface="標楷體" panose="03000509000000000000" pitchFamily="65" charset="-120"/>
                  <a:ea typeface="標楷體" panose="03000509000000000000" pitchFamily="65" charset="-120"/>
                  <a:cs typeface="Times New Roman" panose="02020603050405020304" pitchFamily="18" charset="0"/>
                </a:endParaRPr>
              </a:p>
            </p:txBody>
          </p:sp>
        </mc:Choice>
        <mc:Fallback xmlns="">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586996"/>
                <a:ext cx="10796451" cy="4443091"/>
              </a:xfrm>
              <a:prstGeom prst="rect">
                <a:avLst/>
              </a:prstGeom>
              <a:blipFill>
                <a:blip r:embed="rId3"/>
                <a:stretch>
                  <a:fillRect l="-508" t="-1372"/>
                </a:stretch>
              </a:blipFill>
            </p:spPr>
            <p:txBody>
              <a:bodyPr/>
              <a:lstStyle/>
              <a:p>
                <a:r>
                  <a:rPr lang="zh-TW" altLang="en-US">
                    <a:noFill/>
                  </a:rPr>
                  <a:t> </a:t>
                </a:r>
              </a:p>
            </p:txBody>
          </p:sp>
        </mc:Fallback>
      </mc:AlternateContent>
      <p:pic>
        <p:nvPicPr>
          <p:cNvPr id="7" name="Picture 6">
            <a:extLst>
              <a:ext uri="{FF2B5EF4-FFF2-40B4-BE49-F238E27FC236}">
                <a16:creationId xmlns:a16="http://schemas.microsoft.com/office/drawing/2014/main" id="{34A70F7A-A533-AA59-86D2-068E4A2AC9D6}"/>
              </a:ext>
            </a:extLst>
          </p:cNvPr>
          <p:cNvPicPr>
            <a:picLocks noChangeAspect="1"/>
          </p:cNvPicPr>
          <p:nvPr/>
        </p:nvPicPr>
        <p:blipFill>
          <a:blip r:embed="rId4"/>
          <a:stretch>
            <a:fillRect/>
          </a:stretch>
        </p:blipFill>
        <p:spPr>
          <a:xfrm>
            <a:off x="2490284" y="4492346"/>
            <a:ext cx="7211431" cy="2000529"/>
          </a:xfrm>
          <a:prstGeom prst="rect">
            <a:avLst/>
          </a:prstGeom>
        </p:spPr>
      </p:pic>
      <mc:AlternateContent xmlns:mc="http://schemas.openxmlformats.org/markup-compatibility/2006">
        <mc:Choice xmlns:p14="http://schemas.microsoft.com/office/powerpoint/2010/main" Requires="p14">
          <p:contentPart p14:bwMode="auto" r:id="rId5">
            <p14:nvContentPartPr>
              <p14:cNvPr id="3" name="筆跡 2">
                <a:extLst>
                  <a:ext uri="{FF2B5EF4-FFF2-40B4-BE49-F238E27FC236}">
                    <a16:creationId xmlns:a16="http://schemas.microsoft.com/office/drawing/2014/main" id="{5F4F239E-5B53-CC48-074D-B4685E00C859}"/>
                  </a:ext>
                </a:extLst>
              </p14:cNvPr>
              <p14:cNvContentPartPr/>
              <p14:nvPr/>
            </p14:nvContentPartPr>
            <p14:xfrm>
              <a:off x="6072120" y="2759400"/>
              <a:ext cx="268200" cy="9000"/>
            </p14:xfrm>
          </p:contentPart>
        </mc:Choice>
        <mc:Fallback>
          <p:pic>
            <p:nvPicPr>
              <p:cNvPr id="3" name="筆跡 2">
                <a:extLst>
                  <a:ext uri="{FF2B5EF4-FFF2-40B4-BE49-F238E27FC236}">
                    <a16:creationId xmlns:a16="http://schemas.microsoft.com/office/drawing/2014/main" id="{5F4F239E-5B53-CC48-074D-B4685E00C859}"/>
                  </a:ext>
                </a:extLst>
              </p:cNvPr>
              <p:cNvPicPr/>
              <p:nvPr/>
            </p:nvPicPr>
            <p:blipFill>
              <a:blip r:embed="rId6"/>
              <a:stretch>
                <a:fillRect/>
              </a:stretch>
            </p:blipFill>
            <p:spPr>
              <a:xfrm>
                <a:off x="6056280" y="2696040"/>
                <a:ext cx="29952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4" name="筆跡 3">
                <a:extLst>
                  <a:ext uri="{FF2B5EF4-FFF2-40B4-BE49-F238E27FC236}">
                    <a16:creationId xmlns:a16="http://schemas.microsoft.com/office/drawing/2014/main" id="{D089996F-823A-2319-C46E-353ED07AA6CA}"/>
                  </a:ext>
                </a:extLst>
              </p14:cNvPr>
              <p14:cNvContentPartPr/>
              <p14:nvPr/>
            </p14:nvContentPartPr>
            <p14:xfrm>
              <a:off x="6143760" y="2625480"/>
              <a:ext cx="80640" cy="393120"/>
            </p14:xfrm>
          </p:contentPart>
        </mc:Choice>
        <mc:Fallback>
          <p:pic>
            <p:nvPicPr>
              <p:cNvPr id="4" name="筆跡 3">
                <a:extLst>
                  <a:ext uri="{FF2B5EF4-FFF2-40B4-BE49-F238E27FC236}">
                    <a16:creationId xmlns:a16="http://schemas.microsoft.com/office/drawing/2014/main" id="{D089996F-823A-2319-C46E-353ED07AA6CA}"/>
                  </a:ext>
                </a:extLst>
              </p:cNvPr>
              <p:cNvPicPr/>
              <p:nvPr/>
            </p:nvPicPr>
            <p:blipFill>
              <a:blip r:embed="rId8"/>
              <a:stretch>
                <a:fillRect/>
              </a:stretch>
            </p:blipFill>
            <p:spPr>
              <a:xfrm>
                <a:off x="6127920" y="2562120"/>
                <a:ext cx="111960" cy="5198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8" name="筆跡 7">
                <a:extLst>
                  <a:ext uri="{FF2B5EF4-FFF2-40B4-BE49-F238E27FC236}">
                    <a16:creationId xmlns:a16="http://schemas.microsoft.com/office/drawing/2014/main" id="{7864A5DC-90BD-619E-97A5-9880817685F8}"/>
                  </a:ext>
                </a:extLst>
              </p14:cNvPr>
              <p14:cNvContentPartPr/>
              <p14:nvPr/>
            </p14:nvContentPartPr>
            <p14:xfrm>
              <a:off x="6233040" y="2902320"/>
              <a:ext cx="285840" cy="62640"/>
            </p14:xfrm>
          </p:contentPart>
        </mc:Choice>
        <mc:Fallback>
          <p:pic>
            <p:nvPicPr>
              <p:cNvPr id="8" name="筆跡 7">
                <a:extLst>
                  <a:ext uri="{FF2B5EF4-FFF2-40B4-BE49-F238E27FC236}">
                    <a16:creationId xmlns:a16="http://schemas.microsoft.com/office/drawing/2014/main" id="{7864A5DC-90BD-619E-97A5-9880817685F8}"/>
                  </a:ext>
                </a:extLst>
              </p:cNvPr>
              <p:cNvPicPr/>
              <p:nvPr/>
            </p:nvPicPr>
            <p:blipFill>
              <a:blip r:embed="rId10"/>
              <a:stretch>
                <a:fillRect/>
              </a:stretch>
            </p:blipFill>
            <p:spPr>
              <a:xfrm>
                <a:off x="6217200" y="2838960"/>
                <a:ext cx="317160" cy="18936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9" name="筆跡 8">
                <a:extLst>
                  <a:ext uri="{FF2B5EF4-FFF2-40B4-BE49-F238E27FC236}">
                    <a16:creationId xmlns:a16="http://schemas.microsoft.com/office/drawing/2014/main" id="{E276FF4D-CA62-32B9-F32B-DF37BDE6E315}"/>
                  </a:ext>
                </a:extLst>
              </p14:cNvPr>
              <p14:cNvContentPartPr/>
              <p14:nvPr/>
            </p14:nvContentPartPr>
            <p14:xfrm>
              <a:off x="6697440" y="1821600"/>
              <a:ext cx="89640" cy="286200"/>
            </p14:xfrm>
          </p:contentPart>
        </mc:Choice>
        <mc:Fallback>
          <p:pic>
            <p:nvPicPr>
              <p:cNvPr id="9" name="筆跡 8">
                <a:extLst>
                  <a:ext uri="{FF2B5EF4-FFF2-40B4-BE49-F238E27FC236}">
                    <a16:creationId xmlns:a16="http://schemas.microsoft.com/office/drawing/2014/main" id="{E276FF4D-CA62-32B9-F32B-DF37BDE6E315}"/>
                  </a:ext>
                </a:extLst>
              </p:cNvPr>
              <p:cNvPicPr/>
              <p:nvPr/>
            </p:nvPicPr>
            <p:blipFill>
              <a:blip r:embed="rId12"/>
              <a:stretch>
                <a:fillRect/>
              </a:stretch>
            </p:blipFill>
            <p:spPr>
              <a:xfrm>
                <a:off x="6681600" y="1758240"/>
                <a:ext cx="120960" cy="4129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0" name="筆跡 9">
                <a:extLst>
                  <a:ext uri="{FF2B5EF4-FFF2-40B4-BE49-F238E27FC236}">
                    <a16:creationId xmlns:a16="http://schemas.microsoft.com/office/drawing/2014/main" id="{F3FAD2BD-10D5-CB72-32AB-74275C2A7CAF}"/>
                  </a:ext>
                </a:extLst>
              </p14:cNvPr>
              <p14:cNvContentPartPr/>
              <p14:nvPr/>
            </p14:nvContentPartPr>
            <p14:xfrm>
              <a:off x="6688440" y="2018160"/>
              <a:ext cx="9360" cy="18000"/>
            </p14:xfrm>
          </p:contentPart>
        </mc:Choice>
        <mc:Fallback>
          <p:pic>
            <p:nvPicPr>
              <p:cNvPr id="10" name="筆跡 9">
                <a:extLst>
                  <a:ext uri="{FF2B5EF4-FFF2-40B4-BE49-F238E27FC236}">
                    <a16:creationId xmlns:a16="http://schemas.microsoft.com/office/drawing/2014/main" id="{F3FAD2BD-10D5-CB72-32AB-74275C2A7CAF}"/>
                  </a:ext>
                </a:extLst>
              </p:cNvPr>
              <p:cNvPicPr/>
              <p:nvPr/>
            </p:nvPicPr>
            <p:blipFill>
              <a:blip r:embed="rId14"/>
              <a:stretch>
                <a:fillRect/>
              </a:stretch>
            </p:blipFill>
            <p:spPr>
              <a:xfrm>
                <a:off x="6672600" y="1954800"/>
                <a:ext cx="40680" cy="1447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1" name="筆跡 10">
                <a:extLst>
                  <a:ext uri="{FF2B5EF4-FFF2-40B4-BE49-F238E27FC236}">
                    <a16:creationId xmlns:a16="http://schemas.microsoft.com/office/drawing/2014/main" id="{4E9DB3E3-A5FA-FDD6-38D6-786475B071D8}"/>
                  </a:ext>
                </a:extLst>
              </p14:cNvPr>
              <p14:cNvContentPartPr/>
              <p14:nvPr/>
            </p14:nvContentPartPr>
            <p14:xfrm>
              <a:off x="7090200" y="1955520"/>
              <a:ext cx="360" cy="360"/>
            </p14:xfrm>
          </p:contentPart>
        </mc:Choice>
        <mc:Fallback>
          <p:pic>
            <p:nvPicPr>
              <p:cNvPr id="11" name="筆跡 10">
                <a:extLst>
                  <a:ext uri="{FF2B5EF4-FFF2-40B4-BE49-F238E27FC236}">
                    <a16:creationId xmlns:a16="http://schemas.microsoft.com/office/drawing/2014/main" id="{4E9DB3E3-A5FA-FDD6-38D6-786475B071D8}"/>
                  </a:ext>
                </a:extLst>
              </p:cNvPr>
              <p:cNvPicPr/>
              <p:nvPr/>
            </p:nvPicPr>
            <p:blipFill>
              <a:blip r:embed="rId16"/>
              <a:stretch>
                <a:fillRect/>
              </a:stretch>
            </p:blipFill>
            <p:spPr>
              <a:xfrm>
                <a:off x="7074360" y="1892160"/>
                <a:ext cx="3168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2" name="筆跡 11">
                <a:extLst>
                  <a:ext uri="{FF2B5EF4-FFF2-40B4-BE49-F238E27FC236}">
                    <a16:creationId xmlns:a16="http://schemas.microsoft.com/office/drawing/2014/main" id="{439197BD-1A66-DFBE-07AE-E21ADB04E0C1}"/>
                  </a:ext>
                </a:extLst>
              </p14:cNvPr>
              <p14:cNvContentPartPr/>
              <p14:nvPr/>
            </p14:nvContentPartPr>
            <p14:xfrm>
              <a:off x="7018560" y="1910880"/>
              <a:ext cx="81000" cy="205920"/>
            </p14:xfrm>
          </p:contentPart>
        </mc:Choice>
        <mc:Fallback>
          <p:pic>
            <p:nvPicPr>
              <p:cNvPr id="12" name="筆跡 11">
                <a:extLst>
                  <a:ext uri="{FF2B5EF4-FFF2-40B4-BE49-F238E27FC236}">
                    <a16:creationId xmlns:a16="http://schemas.microsoft.com/office/drawing/2014/main" id="{439197BD-1A66-DFBE-07AE-E21ADB04E0C1}"/>
                  </a:ext>
                </a:extLst>
              </p:cNvPr>
              <p:cNvPicPr/>
              <p:nvPr/>
            </p:nvPicPr>
            <p:blipFill>
              <a:blip r:embed="rId18"/>
              <a:stretch>
                <a:fillRect/>
              </a:stretch>
            </p:blipFill>
            <p:spPr>
              <a:xfrm>
                <a:off x="7002720" y="1847520"/>
                <a:ext cx="112320" cy="33264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3" name="筆跡 12">
                <a:extLst>
                  <a:ext uri="{FF2B5EF4-FFF2-40B4-BE49-F238E27FC236}">
                    <a16:creationId xmlns:a16="http://schemas.microsoft.com/office/drawing/2014/main" id="{0247908E-8F44-7B20-1EC3-6151C488B142}"/>
                  </a:ext>
                </a:extLst>
              </p14:cNvPr>
              <p14:cNvContentPartPr/>
              <p14:nvPr/>
            </p14:nvContentPartPr>
            <p14:xfrm>
              <a:off x="4170240" y="5223960"/>
              <a:ext cx="259200" cy="45000"/>
            </p14:xfrm>
          </p:contentPart>
        </mc:Choice>
        <mc:Fallback>
          <p:pic>
            <p:nvPicPr>
              <p:cNvPr id="13" name="筆跡 12">
                <a:extLst>
                  <a:ext uri="{FF2B5EF4-FFF2-40B4-BE49-F238E27FC236}">
                    <a16:creationId xmlns:a16="http://schemas.microsoft.com/office/drawing/2014/main" id="{0247908E-8F44-7B20-1EC3-6151C488B142}"/>
                  </a:ext>
                </a:extLst>
              </p:cNvPr>
              <p:cNvPicPr/>
              <p:nvPr/>
            </p:nvPicPr>
            <p:blipFill>
              <a:blip r:embed="rId20"/>
              <a:stretch>
                <a:fillRect/>
              </a:stretch>
            </p:blipFill>
            <p:spPr>
              <a:xfrm>
                <a:off x="4154400" y="5160600"/>
                <a:ext cx="29052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4" name="筆跡 13">
                <a:extLst>
                  <a:ext uri="{FF2B5EF4-FFF2-40B4-BE49-F238E27FC236}">
                    <a16:creationId xmlns:a16="http://schemas.microsoft.com/office/drawing/2014/main" id="{3F120953-42E8-6FB2-740C-E1013F4BD9B6}"/>
                  </a:ext>
                </a:extLst>
              </p14:cNvPr>
              <p14:cNvContentPartPr/>
              <p14:nvPr/>
            </p14:nvContentPartPr>
            <p14:xfrm>
              <a:off x="4964760" y="5268600"/>
              <a:ext cx="232560" cy="360"/>
            </p14:xfrm>
          </p:contentPart>
        </mc:Choice>
        <mc:Fallback>
          <p:pic>
            <p:nvPicPr>
              <p:cNvPr id="14" name="筆跡 13">
                <a:extLst>
                  <a:ext uri="{FF2B5EF4-FFF2-40B4-BE49-F238E27FC236}">
                    <a16:creationId xmlns:a16="http://schemas.microsoft.com/office/drawing/2014/main" id="{3F120953-42E8-6FB2-740C-E1013F4BD9B6}"/>
                  </a:ext>
                </a:extLst>
              </p:cNvPr>
              <p:cNvPicPr/>
              <p:nvPr/>
            </p:nvPicPr>
            <p:blipFill>
              <a:blip r:embed="rId22"/>
              <a:stretch>
                <a:fillRect/>
              </a:stretch>
            </p:blipFill>
            <p:spPr>
              <a:xfrm>
                <a:off x="4948920" y="5205240"/>
                <a:ext cx="26388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5" name="筆跡 14">
                <a:extLst>
                  <a:ext uri="{FF2B5EF4-FFF2-40B4-BE49-F238E27FC236}">
                    <a16:creationId xmlns:a16="http://schemas.microsoft.com/office/drawing/2014/main" id="{84333E45-414B-590E-5D53-9E00408AD8A9}"/>
                  </a:ext>
                </a:extLst>
              </p14:cNvPr>
              <p14:cNvContentPartPr/>
              <p14:nvPr/>
            </p14:nvContentPartPr>
            <p14:xfrm>
              <a:off x="4187880" y="5196960"/>
              <a:ext cx="1081080" cy="72000"/>
            </p14:xfrm>
          </p:contentPart>
        </mc:Choice>
        <mc:Fallback>
          <p:pic>
            <p:nvPicPr>
              <p:cNvPr id="15" name="筆跡 14">
                <a:extLst>
                  <a:ext uri="{FF2B5EF4-FFF2-40B4-BE49-F238E27FC236}">
                    <a16:creationId xmlns:a16="http://schemas.microsoft.com/office/drawing/2014/main" id="{84333E45-414B-590E-5D53-9E00408AD8A9}"/>
                  </a:ext>
                </a:extLst>
              </p:cNvPr>
              <p:cNvPicPr/>
              <p:nvPr/>
            </p:nvPicPr>
            <p:blipFill>
              <a:blip r:embed="rId24"/>
              <a:stretch>
                <a:fillRect/>
              </a:stretch>
            </p:blipFill>
            <p:spPr>
              <a:xfrm>
                <a:off x="4172040" y="5133600"/>
                <a:ext cx="1112400" cy="19872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6" name="筆跡 15">
                <a:extLst>
                  <a:ext uri="{FF2B5EF4-FFF2-40B4-BE49-F238E27FC236}">
                    <a16:creationId xmlns:a16="http://schemas.microsoft.com/office/drawing/2014/main" id="{7B1B9B51-ADA4-C57E-F7FD-456E74C19190}"/>
                  </a:ext>
                </a:extLst>
              </p14:cNvPr>
              <p14:cNvContentPartPr/>
              <p14:nvPr/>
            </p14:nvContentPartPr>
            <p14:xfrm>
              <a:off x="5715000" y="5214960"/>
              <a:ext cx="1339920" cy="18360"/>
            </p14:xfrm>
          </p:contentPart>
        </mc:Choice>
        <mc:Fallback>
          <p:pic>
            <p:nvPicPr>
              <p:cNvPr id="16" name="筆跡 15">
                <a:extLst>
                  <a:ext uri="{FF2B5EF4-FFF2-40B4-BE49-F238E27FC236}">
                    <a16:creationId xmlns:a16="http://schemas.microsoft.com/office/drawing/2014/main" id="{7B1B9B51-ADA4-C57E-F7FD-456E74C19190}"/>
                  </a:ext>
                </a:extLst>
              </p:cNvPr>
              <p:cNvPicPr/>
              <p:nvPr/>
            </p:nvPicPr>
            <p:blipFill>
              <a:blip r:embed="rId26"/>
              <a:stretch>
                <a:fillRect/>
              </a:stretch>
            </p:blipFill>
            <p:spPr>
              <a:xfrm>
                <a:off x="5699160" y="5151600"/>
                <a:ext cx="1371240" cy="14508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7" name="筆跡 16">
                <a:extLst>
                  <a:ext uri="{FF2B5EF4-FFF2-40B4-BE49-F238E27FC236}">
                    <a16:creationId xmlns:a16="http://schemas.microsoft.com/office/drawing/2014/main" id="{FCC75458-0C83-74E8-11DC-37F9EA567DDA}"/>
                  </a:ext>
                </a:extLst>
              </p14:cNvPr>
              <p14:cNvContentPartPr/>
              <p14:nvPr/>
            </p14:nvContentPartPr>
            <p14:xfrm>
              <a:off x="6706080" y="6107760"/>
              <a:ext cx="178920" cy="268560"/>
            </p14:xfrm>
          </p:contentPart>
        </mc:Choice>
        <mc:Fallback>
          <p:pic>
            <p:nvPicPr>
              <p:cNvPr id="17" name="筆跡 16">
                <a:extLst>
                  <a:ext uri="{FF2B5EF4-FFF2-40B4-BE49-F238E27FC236}">
                    <a16:creationId xmlns:a16="http://schemas.microsoft.com/office/drawing/2014/main" id="{FCC75458-0C83-74E8-11DC-37F9EA567DDA}"/>
                  </a:ext>
                </a:extLst>
              </p:cNvPr>
              <p:cNvPicPr/>
              <p:nvPr/>
            </p:nvPicPr>
            <p:blipFill>
              <a:blip r:embed="rId28"/>
              <a:stretch>
                <a:fillRect/>
              </a:stretch>
            </p:blipFill>
            <p:spPr>
              <a:xfrm>
                <a:off x="6690240" y="6044400"/>
                <a:ext cx="210240" cy="395280"/>
              </a:xfrm>
              <a:prstGeom prst="rect">
                <a:avLst/>
              </a:prstGeom>
            </p:spPr>
          </p:pic>
        </mc:Fallback>
      </mc:AlternateContent>
    </p:spTree>
    <p:extLst>
      <p:ext uri="{BB962C8B-B14F-4D97-AF65-F5344CB8AC3E}">
        <p14:creationId xmlns:p14="http://schemas.microsoft.com/office/powerpoint/2010/main" val="276712694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err="1">
                <a:latin typeface="Times New Roman" panose="02020603050405020304" pitchFamily="18" charset="0"/>
                <a:cs typeface="Times New Roman" panose="02020603050405020304" pitchFamily="18" charset="0"/>
              </a:rPr>
              <a:t>Horspool</a:t>
            </a:r>
            <a:r>
              <a:rPr kumimoji="1" lang="en-US" altLang="zh-TW" sz="3200" b="1" dirty="0">
                <a:latin typeface="Times New Roman" panose="02020603050405020304" pitchFamily="18" charset="0"/>
                <a:cs typeface="Times New Roman" panose="02020603050405020304" pitchFamily="18" charset="0"/>
              </a:rPr>
              <a:t> algorithm</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5</a:t>
            </a:fld>
            <a:endParaRPr lang="zh-TW" altLang="en-US" dirty="0"/>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pt-BR" altLang="zh-TW" sz="2000" dirty="0">
              <a:latin typeface="標楷體" panose="03000509000000000000" pitchFamily="65" charset="-120"/>
              <a:ea typeface="標楷體" panose="03000509000000000000" pitchFamily="65" charset="-120"/>
              <a:cs typeface="Times New Roman" panose="02020603050405020304" pitchFamily="18" charset="0"/>
            </a:endParaRPr>
          </a:p>
        </p:txBody>
      </p:sp>
      <p:sp>
        <p:nvSpPr>
          <p:cNvPr id="3" name="Content Placeholder 2">
            <a:extLst>
              <a:ext uri="{FF2B5EF4-FFF2-40B4-BE49-F238E27FC236}">
                <a16:creationId xmlns:a16="http://schemas.microsoft.com/office/drawing/2014/main" id="{6E85C3A0-FE62-05A3-EC88-BD367C6B2476}"/>
              </a:ext>
            </a:extLst>
          </p:cNvPr>
          <p:cNvSpPr>
            <a:spLocks noGrp="1"/>
          </p:cNvSpPr>
          <p:nvPr>
            <p:ph idx="1"/>
          </p:nvPr>
        </p:nvSpPr>
        <p:spPr>
          <a:xfrm>
            <a:off x="838200" y="1602298"/>
            <a:ext cx="10797330" cy="4697834"/>
          </a:xfrm>
        </p:spPr>
        <p:txBody>
          <a:bodyPr>
            <a:normAutofit/>
          </a:bodyPr>
          <a:lstStyle/>
          <a:p>
            <a:r>
              <a:rPr kumimoji="1" lang="en-US" altLang="zh-TW" sz="2400" i="1" dirty="0">
                <a:latin typeface="Times New Roman" panose="02020603050405020304" pitchFamily="18" charset="0"/>
                <a:cs typeface="Times New Roman" panose="02020603050405020304" pitchFamily="18" charset="0"/>
              </a:rPr>
              <a:t>P</a:t>
            </a:r>
            <a:r>
              <a:rPr kumimoji="1" lang="en-US" altLang="zh-TW" sz="2400" dirty="0">
                <a:latin typeface="Times New Roman" panose="02020603050405020304" pitchFamily="18" charset="0"/>
                <a:cs typeface="Times New Roman" panose="02020603050405020304" pitchFamily="18" charset="0"/>
              </a:rPr>
              <a:t> = </a:t>
            </a:r>
            <a:r>
              <a:rPr kumimoji="1" lang="en-US" altLang="zh-TW" sz="2400" dirty="0" err="1">
                <a:latin typeface="Times New Roman" panose="02020603050405020304" pitchFamily="18" charset="0"/>
                <a:cs typeface="Times New Roman" panose="02020603050405020304" pitchFamily="18" charset="0"/>
              </a:rPr>
              <a:t>cbcac</a:t>
            </a:r>
            <a:endParaRPr kumimoji="1" lang="en-US" altLang="zh-TW" sz="2400" dirty="0">
              <a:latin typeface="Times New Roman" panose="02020603050405020304" pitchFamily="18" charset="0"/>
              <a:cs typeface="Times New Roman" panose="02020603050405020304" pitchFamily="18" charset="0"/>
            </a:endParaRPr>
          </a:p>
          <a:p>
            <a:r>
              <a:rPr kumimoji="1" lang="en-US" altLang="zh-TW" sz="2400" i="1" dirty="0">
                <a:latin typeface="Times New Roman" panose="02020603050405020304" pitchFamily="18" charset="0"/>
                <a:cs typeface="Times New Roman" panose="02020603050405020304" pitchFamily="18" charset="0"/>
              </a:rPr>
              <a:t>T</a:t>
            </a:r>
            <a:r>
              <a:rPr kumimoji="1" lang="en-US" altLang="zh-TW" sz="2400" dirty="0">
                <a:latin typeface="Times New Roman" panose="02020603050405020304" pitchFamily="18" charset="0"/>
                <a:cs typeface="Times New Roman" panose="02020603050405020304" pitchFamily="18" charset="0"/>
              </a:rPr>
              <a:t> = </a:t>
            </a:r>
            <a:r>
              <a:rPr kumimoji="1" lang="en-US" altLang="zh-TW" sz="2400" dirty="0" err="1">
                <a:latin typeface="Times New Roman" panose="02020603050405020304" pitchFamily="18" charset="0"/>
                <a:cs typeface="Times New Roman" panose="02020603050405020304" pitchFamily="18" charset="0"/>
              </a:rPr>
              <a:t>abcbcsdfibaccbcac</a:t>
            </a:r>
            <a:endParaRPr kumimoji="1" lang="en-US" altLang="zh-TW" sz="2400" dirty="0">
              <a:latin typeface="Times New Roman" panose="02020603050405020304" pitchFamily="18" charset="0"/>
              <a:cs typeface="Times New Roman" panose="02020603050405020304" pitchFamily="18" charset="0"/>
            </a:endParaRPr>
          </a:p>
          <a:p>
            <a:r>
              <a:rPr kumimoji="1" lang="en-US" altLang="zh-TW" sz="2000" dirty="0">
                <a:latin typeface="Times New Roman" panose="02020603050405020304" pitchFamily="18" charset="0"/>
                <a:ea typeface="標楷體" panose="03000509000000000000" pitchFamily="65" charset="-120"/>
                <a:cs typeface="Times New Roman" panose="02020603050405020304" pitchFamily="18" charset="0"/>
              </a:rPr>
              <a:t>pattern</a:t>
            </a:r>
            <a:r>
              <a:rPr kumimoji="1" lang="zh-TW" altLang="en-US" sz="2000" dirty="0">
                <a:latin typeface="標楷體" panose="03000509000000000000" pitchFamily="65" charset="-120"/>
                <a:ea typeface="標楷體" panose="03000509000000000000" pitchFamily="65" charset="-120"/>
                <a:cs typeface="Times New Roman" panose="02020603050405020304" pitchFamily="18" charset="0"/>
              </a:rPr>
              <a:t>後</a:t>
            </a:r>
            <a:r>
              <a:rPr kumimoji="1" lang="zh-CN" altLang="en-US" sz="2000" dirty="0">
                <a:latin typeface="標楷體" panose="03000509000000000000" pitchFamily="65" charset="-120"/>
                <a:ea typeface="標楷體" panose="03000509000000000000" pitchFamily="65" charset="-120"/>
                <a:cs typeface="Times New Roman" panose="02020603050405020304" pitchFamily="18" charset="0"/>
              </a:rPr>
              <a:t>移位</a:t>
            </a:r>
            <a:r>
              <a:rPr kumimoji="1" lang="zh-TW" altLang="en-US" sz="2000" dirty="0">
                <a:latin typeface="標楷體" panose="03000509000000000000" pitchFamily="65" charset="-120"/>
                <a:ea typeface="標楷體" panose="03000509000000000000" pitchFamily="65" charset="-120"/>
                <a:cs typeface="Times New Roman" panose="02020603050405020304" pitchFamily="18" charset="0"/>
              </a:rPr>
              <a:t>數 </a:t>
            </a:r>
            <a:r>
              <a:rPr kumimoji="1" lang="en-US" altLang="zh-CN" sz="2000" dirty="0">
                <a:latin typeface="標楷體" panose="03000509000000000000" pitchFamily="65" charset="-120"/>
                <a:ea typeface="標楷體" panose="03000509000000000000" pitchFamily="65" charset="-120"/>
                <a:cs typeface="Times New Roman" panose="02020603050405020304" pitchFamily="18" charset="0"/>
              </a:rPr>
              <a:t>= </a:t>
            </a:r>
            <a:r>
              <a:rPr kumimoji="1" lang="zh-TW" altLang="en-US" sz="2000" dirty="0">
                <a:latin typeface="標楷體" panose="03000509000000000000" pitchFamily="65" charset="-120"/>
                <a:ea typeface="標楷體" panose="03000509000000000000" pitchFamily="65" charset="-120"/>
                <a:cs typeface="Times New Roman" panose="02020603050405020304" pitchFamily="18" charset="0"/>
              </a:rPr>
              <a:t>沒有匹配的</a:t>
            </a:r>
            <a:r>
              <a:rPr kumimoji="1" lang="en-US" altLang="zh-TW" sz="2000" dirty="0">
                <a:latin typeface="Times New Roman" panose="02020603050405020304" pitchFamily="18" charset="0"/>
                <a:ea typeface="標楷體" panose="03000509000000000000" pitchFamily="65" charset="-120"/>
                <a:cs typeface="Times New Roman" panose="02020603050405020304" pitchFamily="18" charset="0"/>
              </a:rPr>
              <a:t>pattern</a:t>
            </a:r>
            <a:r>
              <a:rPr kumimoji="1" lang="zh-CN" altLang="en-US" sz="2000" dirty="0">
                <a:latin typeface="標楷體" panose="03000509000000000000" pitchFamily="65" charset="-120"/>
                <a:ea typeface="標楷體" panose="03000509000000000000" pitchFamily="65" charset="-120"/>
                <a:cs typeface="Times New Roman" panose="02020603050405020304" pitchFamily="18" charset="0"/>
              </a:rPr>
              <a:t>位置 </a:t>
            </a:r>
            <a:r>
              <a:rPr kumimoji="1" lang="en-US" altLang="zh-CN" sz="2000" dirty="0">
                <a:latin typeface="標楷體" panose="03000509000000000000" pitchFamily="65" charset="-120"/>
                <a:ea typeface="標楷體" panose="03000509000000000000" pitchFamily="65" charset="-120"/>
                <a:cs typeface="Times New Roman" panose="02020603050405020304" pitchFamily="18" charset="0"/>
              </a:rPr>
              <a:t>- </a:t>
            </a:r>
            <a:r>
              <a:rPr kumimoji="1" lang="zh-TW" altLang="en-US" sz="2000" dirty="0">
                <a:latin typeface="標楷體" panose="03000509000000000000" pitchFamily="65" charset="-120"/>
                <a:ea typeface="標楷體" panose="03000509000000000000" pitchFamily="65" charset="-120"/>
                <a:cs typeface="Times New Roman" panose="02020603050405020304" pitchFamily="18" charset="0"/>
              </a:rPr>
              <a:t>沒有匹配的</a:t>
            </a:r>
            <a:r>
              <a:rPr kumimoji="1" lang="en-US" altLang="zh-TW" sz="2000" dirty="0">
                <a:latin typeface="Times New Roman" panose="02020603050405020304" pitchFamily="18" charset="0"/>
                <a:ea typeface="標楷體" panose="03000509000000000000" pitchFamily="65" charset="-120"/>
                <a:cs typeface="Times New Roman" panose="02020603050405020304" pitchFamily="18" charset="0"/>
              </a:rPr>
              <a:t>pattern</a:t>
            </a:r>
            <a:r>
              <a:rPr kumimoji="1" lang="zh-CN" altLang="en-US" sz="2000" dirty="0">
                <a:latin typeface="標楷體" panose="03000509000000000000" pitchFamily="65" charset="-120"/>
                <a:ea typeface="標楷體" panose="03000509000000000000" pitchFamily="65" charset="-120"/>
                <a:cs typeface="Times New Roman" panose="02020603050405020304" pitchFamily="18" charset="0"/>
              </a:rPr>
              <a:t>上一次出</a:t>
            </a:r>
            <a:r>
              <a:rPr kumimoji="1" lang="zh-TW" altLang="en-US" sz="2000" dirty="0">
                <a:latin typeface="標楷體" panose="03000509000000000000" pitchFamily="65" charset="-120"/>
                <a:ea typeface="標楷體" panose="03000509000000000000" pitchFamily="65" charset="-120"/>
                <a:cs typeface="Times New Roman" panose="02020603050405020304" pitchFamily="18" charset="0"/>
              </a:rPr>
              <a:t>現</a:t>
            </a:r>
            <a:r>
              <a:rPr kumimoji="1" lang="zh-CN" altLang="en-US" sz="2000" dirty="0">
                <a:latin typeface="標楷體" panose="03000509000000000000" pitchFamily="65" charset="-120"/>
                <a:ea typeface="標楷體" panose="03000509000000000000" pitchFamily="65" charset="-120"/>
                <a:cs typeface="Times New Roman" panose="02020603050405020304" pitchFamily="18" charset="0"/>
              </a:rPr>
              <a:t>的位置</a:t>
            </a:r>
            <a:endParaRPr kumimoji="1" lang="en-US" altLang="zh-CN" sz="2000" dirty="0">
              <a:latin typeface="標楷體" panose="03000509000000000000" pitchFamily="65" charset="-120"/>
              <a:ea typeface="標楷體" panose="03000509000000000000" pitchFamily="65" charset="-120"/>
              <a:cs typeface="Times New Roman" panose="02020603050405020304" pitchFamily="18" charset="0"/>
            </a:endParaRPr>
          </a:p>
          <a:p>
            <a:r>
              <a:rPr kumimoji="1" lang="en-US" altLang="zh-TW" sz="2000" dirty="0">
                <a:latin typeface="Times New Roman" panose="02020603050405020304" pitchFamily="18" charset="0"/>
                <a:ea typeface="標楷體" panose="03000509000000000000" pitchFamily="65" charset="-120"/>
                <a:cs typeface="Times New Roman" panose="02020603050405020304" pitchFamily="18" charset="0"/>
              </a:rPr>
              <a:t>shift table</a:t>
            </a:r>
          </a:p>
          <a:p>
            <a:endParaRPr kumimoji="1" lang="en-US" altLang="zh-TW" sz="2400" dirty="0">
              <a:latin typeface="Times New Roman" panose="02020603050405020304" pitchFamily="18" charset="0"/>
              <a:cs typeface="Times New Roman" panose="02020603050405020304" pitchFamily="18" charset="0"/>
            </a:endParaRPr>
          </a:p>
        </p:txBody>
      </p:sp>
      <p:graphicFrame>
        <p:nvGraphicFramePr>
          <p:cNvPr id="4" name="Table 6">
            <a:extLst>
              <a:ext uri="{FF2B5EF4-FFF2-40B4-BE49-F238E27FC236}">
                <a16:creationId xmlns:a16="http://schemas.microsoft.com/office/drawing/2014/main" id="{721CDAB9-3F6C-BCB2-896E-4713921B59EB}"/>
              </a:ext>
            </a:extLst>
          </p:cNvPr>
          <p:cNvGraphicFramePr>
            <a:graphicFrameLocks noGrp="1"/>
          </p:cNvGraphicFramePr>
          <p:nvPr>
            <p:extLst>
              <p:ext uri="{D42A27DB-BD31-4B8C-83A1-F6EECF244321}">
                <p14:modId xmlns:p14="http://schemas.microsoft.com/office/powerpoint/2010/main" val="3179179280"/>
              </p:ext>
            </p:extLst>
          </p:nvPr>
        </p:nvGraphicFramePr>
        <p:xfrm>
          <a:off x="837321" y="3881046"/>
          <a:ext cx="10516472" cy="2595880"/>
        </p:xfrm>
        <a:graphic>
          <a:graphicData uri="http://schemas.openxmlformats.org/drawingml/2006/table">
            <a:tbl>
              <a:tblPr firstRow="1" bandRow="1">
                <a:tableStyleId>{5940675A-B579-460E-94D1-54222C63F5DA}</a:tableStyleId>
              </a:tblPr>
              <a:tblGrid>
                <a:gridCol w="618616">
                  <a:extLst>
                    <a:ext uri="{9D8B030D-6E8A-4147-A177-3AD203B41FA5}">
                      <a16:colId xmlns:a16="http://schemas.microsoft.com/office/drawing/2014/main" val="2050289547"/>
                    </a:ext>
                  </a:extLst>
                </a:gridCol>
                <a:gridCol w="618616">
                  <a:extLst>
                    <a:ext uri="{9D8B030D-6E8A-4147-A177-3AD203B41FA5}">
                      <a16:colId xmlns:a16="http://schemas.microsoft.com/office/drawing/2014/main" val="2388437635"/>
                    </a:ext>
                  </a:extLst>
                </a:gridCol>
                <a:gridCol w="618616">
                  <a:extLst>
                    <a:ext uri="{9D8B030D-6E8A-4147-A177-3AD203B41FA5}">
                      <a16:colId xmlns:a16="http://schemas.microsoft.com/office/drawing/2014/main" val="3865575999"/>
                    </a:ext>
                  </a:extLst>
                </a:gridCol>
                <a:gridCol w="618616">
                  <a:extLst>
                    <a:ext uri="{9D8B030D-6E8A-4147-A177-3AD203B41FA5}">
                      <a16:colId xmlns:a16="http://schemas.microsoft.com/office/drawing/2014/main" val="1094081543"/>
                    </a:ext>
                  </a:extLst>
                </a:gridCol>
                <a:gridCol w="618616">
                  <a:extLst>
                    <a:ext uri="{9D8B030D-6E8A-4147-A177-3AD203B41FA5}">
                      <a16:colId xmlns:a16="http://schemas.microsoft.com/office/drawing/2014/main" val="1424401961"/>
                    </a:ext>
                  </a:extLst>
                </a:gridCol>
                <a:gridCol w="618616">
                  <a:extLst>
                    <a:ext uri="{9D8B030D-6E8A-4147-A177-3AD203B41FA5}">
                      <a16:colId xmlns:a16="http://schemas.microsoft.com/office/drawing/2014/main" val="4117157328"/>
                    </a:ext>
                  </a:extLst>
                </a:gridCol>
                <a:gridCol w="618616">
                  <a:extLst>
                    <a:ext uri="{9D8B030D-6E8A-4147-A177-3AD203B41FA5}">
                      <a16:colId xmlns:a16="http://schemas.microsoft.com/office/drawing/2014/main" val="539846712"/>
                    </a:ext>
                  </a:extLst>
                </a:gridCol>
                <a:gridCol w="618616">
                  <a:extLst>
                    <a:ext uri="{9D8B030D-6E8A-4147-A177-3AD203B41FA5}">
                      <a16:colId xmlns:a16="http://schemas.microsoft.com/office/drawing/2014/main" val="592652770"/>
                    </a:ext>
                  </a:extLst>
                </a:gridCol>
                <a:gridCol w="618616">
                  <a:extLst>
                    <a:ext uri="{9D8B030D-6E8A-4147-A177-3AD203B41FA5}">
                      <a16:colId xmlns:a16="http://schemas.microsoft.com/office/drawing/2014/main" val="2852605408"/>
                    </a:ext>
                  </a:extLst>
                </a:gridCol>
                <a:gridCol w="618616">
                  <a:extLst>
                    <a:ext uri="{9D8B030D-6E8A-4147-A177-3AD203B41FA5}">
                      <a16:colId xmlns:a16="http://schemas.microsoft.com/office/drawing/2014/main" val="2142543297"/>
                    </a:ext>
                  </a:extLst>
                </a:gridCol>
                <a:gridCol w="618616">
                  <a:extLst>
                    <a:ext uri="{9D8B030D-6E8A-4147-A177-3AD203B41FA5}">
                      <a16:colId xmlns:a16="http://schemas.microsoft.com/office/drawing/2014/main" val="645001328"/>
                    </a:ext>
                  </a:extLst>
                </a:gridCol>
                <a:gridCol w="618616">
                  <a:extLst>
                    <a:ext uri="{9D8B030D-6E8A-4147-A177-3AD203B41FA5}">
                      <a16:colId xmlns:a16="http://schemas.microsoft.com/office/drawing/2014/main" val="2070083570"/>
                    </a:ext>
                  </a:extLst>
                </a:gridCol>
                <a:gridCol w="618616">
                  <a:extLst>
                    <a:ext uri="{9D8B030D-6E8A-4147-A177-3AD203B41FA5}">
                      <a16:colId xmlns:a16="http://schemas.microsoft.com/office/drawing/2014/main" val="3974946249"/>
                    </a:ext>
                  </a:extLst>
                </a:gridCol>
                <a:gridCol w="618616">
                  <a:extLst>
                    <a:ext uri="{9D8B030D-6E8A-4147-A177-3AD203B41FA5}">
                      <a16:colId xmlns:a16="http://schemas.microsoft.com/office/drawing/2014/main" val="2662558898"/>
                    </a:ext>
                  </a:extLst>
                </a:gridCol>
                <a:gridCol w="618616">
                  <a:extLst>
                    <a:ext uri="{9D8B030D-6E8A-4147-A177-3AD203B41FA5}">
                      <a16:colId xmlns:a16="http://schemas.microsoft.com/office/drawing/2014/main" val="1982292528"/>
                    </a:ext>
                  </a:extLst>
                </a:gridCol>
                <a:gridCol w="618616">
                  <a:extLst>
                    <a:ext uri="{9D8B030D-6E8A-4147-A177-3AD203B41FA5}">
                      <a16:colId xmlns:a16="http://schemas.microsoft.com/office/drawing/2014/main" val="885279469"/>
                    </a:ext>
                  </a:extLst>
                </a:gridCol>
                <a:gridCol w="618616">
                  <a:extLst>
                    <a:ext uri="{9D8B030D-6E8A-4147-A177-3AD203B41FA5}">
                      <a16:colId xmlns:a16="http://schemas.microsoft.com/office/drawing/2014/main" val="18582042"/>
                    </a:ext>
                  </a:extLst>
                </a:gridCol>
              </a:tblGrid>
              <a:tr h="370840">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u="sng" dirty="0">
                          <a:latin typeface="Times New Roman" panose="02020603050405020304" pitchFamily="18" charset="0"/>
                          <a:cs typeface="Times New Roman" panose="02020603050405020304" pitchFamily="18" charset="0"/>
                        </a:rPr>
                        <a:t>b</a:t>
                      </a:r>
                      <a:endParaRPr lang="zh-TW" altLang="en-US" u="sng"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s</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u="sng" dirty="0">
                          <a:latin typeface="Times New Roman" panose="02020603050405020304" pitchFamily="18" charset="0"/>
                          <a:cs typeface="Times New Roman" panose="02020603050405020304" pitchFamily="18" charset="0"/>
                        </a:rPr>
                        <a:t>d</a:t>
                      </a:r>
                      <a:endParaRPr lang="zh-TW" altLang="en-US" u="sng"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f</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err="1">
                          <a:latin typeface="Times New Roman" panose="02020603050405020304" pitchFamily="18" charset="0"/>
                          <a:cs typeface="Times New Roman" panose="02020603050405020304" pitchFamily="18" charset="0"/>
                        </a:rPr>
                        <a:t>i</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u="sng" dirty="0">
                          <a:latin typeface="Times New Roman" panose="02020603050405020304" pitchFamily="18" charset="0"/>
                          <a:cs typeface="Times New Roman" panose="02020603050405020304" pitchFamily="18" charset="0"/>
                        </a:rPr>
                        <a:t>b</a:t>
                      </a:r>
                      <a:endParaRPr lang="zh-TW" altLang="en-US" u="sng"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u="sng" dirty="0">
                          <a:latin typeface="Times New Roman" panose="02020603050405020304" pitchFamily="18" charset="0"/>
                          <a:cs typeface="Times New Roman" panose="02020603050405020304" pitchFamily="18" charset="0"/>
                        </a:rPr>
                        <a:t>c</a:t>
                      </a:r>
                      <a:endParaRPr lang="zh-TW" altLang="en-US" u="sng"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u="sng" dirty="0">
                          <a:latin typeface="Times New Roman" panose="02020603050405020304" pitchFamily="18" charset="0"/>
                          <a:cs typeface="Times New Roman" panose="02020603050405020304" pitchFamily="18" charset="0"/>
                        </a:rPr>
                        <a:t>b</a:t>
                      </a:r>
                      <a:endParaRPr lang="zh-TW" altLang="en-US" u="sng"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79119589"/>
                  </a:ext>
                </a:extLst>
              </a:tr>
              <a:tr h="370840">
                <a:tc>
                  <a:txBody>
                    <a:bodyPr/>
                    <a:lstStyle/>
                    <a:p>
                      <a:pPr algn="ctr"/>
                      <a:r>
                        <a:rPr lang="en-US" altLang="zh-TW" dirty="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a</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00B050"/>
                          </a:solidFill>
                          <a:latin typeface="Times New Roman" panose="02020603050405020304" pitchFamily="18" charset="0"/>
                          <a:cs typeface="Times New Roman" panose="02020603050405020304" pitchFamily="18" charset="0"/>
                        </a:rPr>
                        <a:t>c</a:t>
                      </a:r>
                      <a:endParaRPr lang="zh-TW" altLang="en-US" dirty="0">
                        <a:solidFill>
                          <a:srgbClr val="00B050"/>
                        </a:solidFill>
                        <a:latin typeface="Times New Roman" panose="02020603050405020304" pitchFamily="18" charset="0"/>
                        <a:cs typeface="Times New Roman" panose="02020603050405020304" pitchFamily="18" charset="0"/>
                      </a:endParaRPr>
                    </a:p>
                  </a:txBody>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8139551"/>
                  </a:ext>
                </a:extLst>
              </a:tr>
              <a:tr h="370840">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a</a:t>
                      </a:r>
                      <a:endParaRPr lang="zh-TW" altLang="en-US"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c</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72972121"/>
                  </a:ext>
                </a:extLst>
              </a:tr>
              <a:tr h="370840">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c</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00B050"/>
                          </a:solidFill>
                          <a:latin typeface="Times New Roman" panose="02020603050405020304" pitchFamily="18" charset="0"/>
                          <a:cs typeface="Times New Roman" panose="02020603050405020304" pitchFamily="18" charset="0"/>
                        </a:rPr>
                        <a:t>a</a:t>
                      </a:r>
                      <a:endParaRPr lang="zh-TW" altLang="en-US" dirty="0">
                        <a:solidFill>
                          <a:srgbClr val="00B05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00B050"/>
                          </a:solidFill>
                          <a:latin typeface="Times New Roman" panose="02020603050405020304" pitchFamily="18" charset="0"/>
                          <a:cs typeface="Times New Roman" panose="02020603050405020304" pitchFamily="18" charset="0"/>
                        </a:rPr>
                        <a:t>c</a:t>
                      </a:r>
                      <a:endParaRPr lang="zh-TW" altLang="en-US" dirty="0">
                        <a:solidFill>
                          <a:srgbClr val="00B050"/>
                        </a:solidFill>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81012885"/>
                  </a:ext>
                </a:extLst>
              </a:tr>
              <a:tr h="370840">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c</a:t>
                      </a:r>
                      <a:endParaRPr lang="zh-TW" altLang="en-US"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a</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00B050"/>
                          </a:solidFill>
                          <a:latin typeface="Times New Roman" panose="02020603050405020304" pitchFamily="18" charset="0"/>
                          <a:cs typeface="Times New Roman" panose="02020603050405020304" pitchFamily="18" charset="0"/>
                        </a:rPr>
                        <a:t>c</a:t>
                      </a:r>
                      <a:endParaRPr lang="zh-TW" altLang="en-US" dirty="0">
                        <a:solidFill>
                          <a:srgbClr val="00B050"/>
                        </a:solidFill>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25346883"/>
                  </a:ext>
                </a:extLst>
              </a:tr>
              <a:tr h="370840">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c</a:t>
                      </a:r>
                      <a:endParaRPr lang="zh-TW" altLang="en-US"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a</a:t>
                      </a:r>
                      <a:endParaRPr lang="zh-TW" altLang="en-US"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c</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73467265"/>
                  </a:ext>
                </a:extLst>
              </a:tr>
              <a:tr h="370840">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endParaRPr lang="zh-TW" altLang="en-US">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00B050"/>
                          </a:solidFill>
                          <a:latin typeface="Times New Roman" panose="02020603050405020304" pitchFamily="18" charset="0"/>
                          <a:cs typeface="Times New Roman" panose="02020603050405020304" pitchFamily="18" charset="0"/>
                        </a:rPr>
                        <a:t>c</a:t>
                      </a:r>
                      <a:endParaRPr lang="zh-TW" altLang="en-US" dirty="0">
                        <a:solidFill>
                          <a:srgbClr val="00B05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00B050"/>
                          </a:solidFill>
                          <a:latin typeface="Times New Roman" panose="02020603050405020304" pitchFamily="18" charset="0"/>
                          <a:cs typeface="Times New Roman" panose="02020603050405020304" pitchFamily="18" charset="0"/>
                        </a:rPr>
                        <a:t>b</a:t>
                      </a:r>
                      <a:endParaRPr lang="zh-TW" altLang="en-US" dirty="0">
                        <a:solidFill>
                          <a:srgbClr val="00B05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00B050"/>
                          </a:solidFill>
                          <a:latin typeface="Times New Roman" panose="02020603050405020304" pitchFamily="18" charset="0"/>
                          <a:cs typeface="Times New Roman" panose="02020603050405020304" pitchFamily="18" charset="0"/>
                        </a:rPr>
                        <a:t>c</a:t>
                      </a:r>
                      <a:endParaRPr lang="zh-TW" altLang="en-US" dirty="0">
                        <a:solidFill>
                          <a:srgbClr val="00B05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00B050"/>
                          </a:solidFill>
                          <a:latin typeface="Times New Roman" panose="02020603050405020304" pitchFamily="18" charset="0"/>
                          <a:cs typeface="Times New Roman" panose="02020603050405020304" pitchFamily="18" charset="0"/>
                        </a:rPr>
                        <a:t>a</a:t>
                      </a:r>
                      <a:endParaRPr lang="zh-TW" altLang="en-US" dirty="0">
                        <a:solidFill>
                          <a:srgbClr val="00B05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00B050"/>
                          </a:solidFill>
                          <a:latin typeface="Times New Roman" panose="02020603050405020304" pitchFamily="18" charset="0"/>
                          <a:cs typeface="Times New Roman" panose="02020603050405020304" pitchFamily="18" charset="0"/>
                        </a:rPr>
                        <a:t>c</a:t>
                      </a:r>
                      <a:endParaRPr lang="zh-TW" altLang="en-US" dirty="0">
                        <a:solidFill>
                          <a:srgbClr val="00B05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96013663"/>
                  </a:ext>
                </a:extLst>
              </a:tr>
            </a:tbl>
          </a:graphicData>
        </a:graphic>
      </p:graphicFrame>
      <p:graphicFrame>
        <p:nvGraphicFramePr>
          <p:cNvPr id="7" name="Table 7">
            <a:extLst>
              <a:ext uri="{FF2B5EF4-FFF2-40B4-BE49-F238E27FC236}">
                <a16:creationId xmlns:a16="http://schemas.microsoft.com/office/drawing/2014/main" id="{B46C5A7D-0C8E-0682-232F-B1956DFDD70F}"/>
              </a:ext>
            </a:extLst>
          </p:cNvPr>
          <p:cNvGraphicFramePr>
            <a:graphicFrameLocks noGrp="1"/>
          </p:cNvGraphicFramePr>
          <p:nvPr>
            <p:extLst>
              <p:ext uri="{D42A27DB-BD31-4B8C-83A1-F6EECF244321}">
                <p14:modId xmlns:p14="http://schemas.microsoft.com/office/powerpoint/2010/main" val="1019368766"/>
              </p:ext>
            </p:extLst>
          </p:nvPr>
        </p:nvGraphicFramePr>
        <p:xfrm>
          <a:off x="2340347" y="3023573"/>
          <a:ext cx="2646324" cy="741680"/>
        </p:xfrm>
        <a:graphic>
          <a:graphicData uri="http://schemas.openxmlformats.org/drawingml/2006/table">
            <a:tbl>
              <a:tblPr firstRow="1" bandRow="1">
                <a:tableStyleId>{5940675A-B579-460E-94D1-54222C63F5DA}</a:tableStyleId>
              </a:tblPr>
              <a:tblGrid>
                <a:gridCol w="661581">
                  <a:extLst>
                    <a:ext uri="{9D8B030D-6E8A-4147-A177-3AD203B41FA5}">
                      <a16:colId xmlns:a16="http://schemas.microsoft.com/office/drawing/2014/main" val="612823083"/>
                    </a:ext>
                  </a:extLst>
                </a:gridCol>
                <a:gridCol w="661581">
                  <a:extLst>
                    <a:ext uri="{9D8B030D-6E8A-4147-A177-3AD203B41FA5}">
                      <a16:colId xmlns:a16="http://schemas.microsoft.com/office/drawing/2014/main" val="1437208091"/>
                    </a:ext>
                  </a:extLst>
                </a:gridCol>
                <a:gridCol w="661581">
                  <a:extLst>
                    <a:ext uri="{9D8B030D-6E8A-4147-A177-3AD203B41FA5}">
                      <a16:colId xmlns:a16="http://schemas.microsoft.com/office/drawing/2014/main" val="2203732386"/>
                    </a:ext>
                  </a:extLst>
                </a:gridCol>
                <a:gridCol w="661581">
                  <a:extLst>
                    <a:ext uri="{9D8B030D-6E8A-4147-A177-3AD203B41FA5}">
                      <a16:colId xmlns:a16="http://schemas.microsoft.com/office/drawing/2014/main" val="3980753595"/>
                    </a:ext>
                  </a:extLst>
                </a:gridCol>
              </a:tblGrid>
              <a:tr h="370840">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else</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90106427"/>
                  </a:ext>
                </a:extLst>
              </a:tr>
              <a:tr h="370840">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52079866"/>
                  </a:ext>
                </a:extLst>
              </a:tr>
            </a:tbl>
          </a:graphicData>
        </a:graphic>
      </p:graphicFrame>
      <mc:AlternateContent xmlns:mc="http://schemas.openxmlformats.org/markup-compatibility/2006">
        <mc:Choice xmlns:p14="http://schemas.microsoft.com/office/powerpoint/2010/main" Requires="p14">
          <p:contentPart p14:bwMode="auto" r:id="rId3">
            <p14:nvContentPartPr>
              <p14:cNvPr id="8" name="筆跡 7">
                <a:extLst>
                  <a:ext uri="{FF2B5EF4-FFF2-40B4-BE49-F238E27FC236}">
                    <a16:creationId xmlns:a16="http://schemas.microsoft.com/office/drawing/2014/main" id="{81DBC193-036B-C640-C475-DC6606078BFB}"/>
                  </a:ext>
                </a:extLst>
              </p14:cNvPr>
              <p14:cNvContentPartPr/>
              <p14:nvPr/>
            </p14:nvContentPartPr>
            <p14:xfrm>
              <a:off x="2937960" y="3991680"/>
              <a:ext cx="303840" cy="196560"/>
            </p14:xfrm>
          </p:contentPart>
        </mc:Choice>
        <mc:Fallback>
          <p:pic>
            <p:nvPicPr>
              <p:cNvPr id="8" name="筆跡 7">
                <a:extLst>
                  <a:ext uri="{FF2B5EF4-FFF2-40B4-BE49-F238E27FC236}">
                    <a16:creationId xmlns:a16="http://schemas.microsoft.com/office/drawing/2014/main" id="{81DBC193-036B-C640-C475-DC6606078BFB}"/>
                  </a:ext>
                </a:extLst>
              </p:cNvPr>
              <p:cNvPicPr/>
              <p:nvPr/>
            </p:nvPicPr>
            <p:blipFill>
              <a:blip r:embed="rId4"/>
              <a:stretch>
                <a:fillRect/>
              </a:stretch>
            </p:blipFill>
            <p:spPr>
              <a:xfrm>
                <a:off x="2922120" y="3928320"/>
                <a:ext cx="335160" cy="3232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9" name="筆跡 8">
                <a:extLst>
                  <a:ext uri="{FF2B5EF4-FFF2-40B4-BE49-F238E27FC236}">
                    <a16:creationId xmlns:a16="http://schemas.microsoft.com/office/drawing/2014/main" id="{026C7EF2-D412-7DC9-DA36-67781283D63E}"/>
                  </a:ext>
                </a:extLst>
              </p14:cNvPr>
              <p14:cNvContentPartPr/>
              <p14:nvPr/>
            </p14:nvContentPartPr>
            <p14:xfrm>
              <a:off x="1714320" y="3991680"/>
              <a:ext cx="232560" cy="223560"/>
            </p14:xfrm>
          </p:contentPart>
        </mc:Choice>
        <mc:Fallback>
          <p:pic>
            <p:nvPicPr>
              <p:cNvPr id="9" name="筆跡 8">
                <a:extLst>
                  <a:ext uri="{FF2B5EF4-FFF2-40B4-BE49-F238E27FC236}">
                    <a16:creationId xmlns:a16="http://schemas.microsoft.com/office/drawing/2014/main" id="{026C7EF2-D412-7DC9-DA36-67781283D63E}"/>
                  </a:ext>
                </a:extLst>
              </p:cNvPr>
              <p:cNvPicPr/>
              <p:nvPr/>
            </p:nvPicPr>
            <p:blipFill>
              <a:blip r:embed="rId6"/>
              <a:stretch>
                <a:fillRect/>
              </a:stretch>
            </p:blipFill>
            <p:spPr>
              <a:xfrm>
                <a:off x="1698480" y="3928320"/>
                <a:ext cx="263880" cy="3502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0" name="筆跡 9">
                <a:extLst>
                  <a:ext uri="{FF2B5EF4-FFF2-40B4-BE49-F238E27FC236}">
                    <a16:creationId xmlns:a16="http://schemas.microsoft.com/office/drawing/2014/main" id="{ED70FDF6-7FA9-7D9D-8958-F6F6E4C7D3C0}"/>
                  </a:ext>
                </a:extLst>
              </p14:cNvPr>
              <p14:cNvContentPartPr/>
              <p14:nvPr/>
            </p14:nvContentPartPr>
            <p14:xfrm>
              <a:off x="1669680" y="4732560"/>
              <a:ext cx="259560" cy="205920"/>
            </p14:xfrm>
          </p:contentPart>
        </mc:Choice>
        <mc:Fallback>
          <p:pic>
            <p:nvPicPr>
              <p:cNvPr id="10" name="筆跡 9">
                <a:extLst>
                  <a:ext uri="{FF2B5EF4-FFF2-40B4-BE49-F238E27FC236}">
                    <a16:creationId xmlns:a16="http://schemas.microsoft.com/office/drawing/2014/main" id="{ED70FDF6-7FA9-7D9D-8958-F6F6E4C7D3C0}"/>
                  </a:ext>
                </a:extLst>
              </p:cNvPr>
              <p:cNvPicPr/>
              <p:nvPr/>
            </p:nvPicPr>
            <p:blipFill>
              <a:blip r:embed="rId8"/>
              <a:stretch>
                <a:fillRect/>
              </a:stretch>
            </p:blipFill>
            <p:spPr>
              <a:xfrm>
                <a:off x="1653840" y="4669200"/>
                <a:ext cx="290880" cy="3326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1" name="筆跡 10">
                <a:extLst>
                  <a:ext uri="{FF2B5EF4-FFF2-40B4-BE49-F238E27FC236}">
                    <a16:creationId xmlns:a16="http://schemas.microsoft.com/office/drawing/2014/main" id="{CCD4E6A8-91FD-7032-9D3F-2A93B5CB8009}"/>
                  </a:ext>
                </a:extLst>
              </p14:cNvPr>
              <p14:cNvContentPartPr/>
              <p14:nvPr/>
            </p14:nvContentPartPr>
            <p14:xfrm>
              <a:off x="1107360" y="2937960"/>
              <a:ext cx="9126360" cy="45000"/>
            </p14:xfrm>
          </p:contentPart>
        </mc:Choice>
        <mc:Fallback>
          <p:pic>
            <p:nvPicPr>
              <p:cNvPr id="11" name="筆跡 10">
                <a:extLst>
                  <a:ext uri="{FF2B5EF4-FFF2-40B4-BE49-F238E27FC236}">
                    <a16:creationId xmlns:a16="http://schemas.microsoft.com/office/drawing/2014/main" id="{CCD4E6A8-91FD-7032-9D3F-2A93B5CB8009}"/>
                  </a:ext>
                </a:extLst>
              </p:cNvPr>
              <p:cNvPicPr/>
              <p:nvPr/>
            </p:nvPicPr>
            <p:blipFill>
              <a:blip r:embed="rId10"/>
              <a:stretch>
                <a:fillRect/>
              </a:stretch>
            </p:blipFill>
            <p:spPr>
              <a:xfrm>
                <a:off x="1091520" y="2874600"/>
                <a:ext cx="915768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2" name="筆跡 11">
                <a:extLst>
                  <a:ext uri="{FF2B5EF4-FFF2-40B4-BE49-F238E27FC236}">
                    <a16:creationId xmlns:a16="http://schemas.microsoft.com/office/drawing/2014/main" id="{C5F1BB1F-5818-19E9-4813-F6D6A5AB1D7E}"/>
                  </a:ext>
                </a:extLst>
              </p14:cNvPr>
              <p14:cNvContentPartPr/>
              <p14:nvPr/>
            </p14:nvContentPartPr>
            <p14:xfrm>
              <a:off x="1089360" y="2437920"/>
              <a:ext cx="9207000" cy="527040"/>
            </p14:xfrm>
          </p:contentPart>
        </mc:Choice>
        <mc:Fallback>
          <p:pic>
            <p:nvPicPr>
              <p:cNvPr id="12" name="筆跡 11">
                <a:extLst>
                  <a:ext uri="{FF2B5EF4-FFF2-40B4-BE49-F238E27FC236}">
                    <a16:creationId xmlns:a16="http://schemas.microsoft.com/office/drawing/2014/main" id="{C5F1BB1F-5818-19E9-4813-F6D6A5AB1D7E}"/>
                  </a:ext>
                </a:extLst>
              </p:cNvPr>
              <p:cNvPicPr/>
              <p:nvPr/>
            </p:nvPicPr>
            <p:blipFill>
              <a:blip r:embed="rId12"/>
              <a:stretch>
                <a:fillRect/>
              </a:stretch>
            </p:blipFill>
            <p:spPr>
              <a:xfrm>
                <a:off x="1073520" y="2374560"/>
                <a:ext cx="9238320" cy="6537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3" name="筆跡 12">
                <a:extLst>
                  <a:ext uri="{FF2B5EF4-FFF2-40B4-BE49-F238E27FC236}">
                    <a16:creationId xmlns:a16="http://schemas.microsoft.com/office/drawing/2014/main" id="{E42C2204-1067-9E44-6677-DCA67635441A}"/>
                  </a:ext>
                </a:extLst>
              </p14:cNvPr>
              <p14:cNvContentPartPr/>
              <p14:nvPr/>
            </p14:nvContentPartPr>
            <p14:xfrm>
              <a:off x="2277000" y="3134160"/>
              <a:ext cx="3027600" cy="607680"/>
            </p14:xfrm>
          </p:contentPart>
        </mc:Choice>
        <mc:Fallback>
          <p:pic>
            <p:nvPicPr>
              <p:cNvPr id="13" name="筆跡 12">
                <a:extLst>
                  <a:ext uri="{FF2B5EF4-FFF2-40B4-BE49-F238E27FC236}">
                    <a16:creationId xmlns:a16="http://schemas.microsoft.com/office/drawing/2014/main" id="{E42C2204-1067-9E44-6677-DCA67635441A}"/>
                  </a:ext>
                </a:extLst>
              </p:cNvPr>
              <p:cNvPicPr/>
              <p:nvPr/>
            </p:nvPicPr>
            <p:blipFill>
              <a:blip r:embed="rId14"/>
              <a:stretch>
                <a:fillRect/>
              </a:stretch>
            </p:blipFill>
            <p:spPr>
              <a:xfrm>
                <a:off x="2261160" y="3070800"/>
                <a:ext cx="3058920" cy="734400"/>
              </a:xfrm>
              <a:prstGeom prst="rect">
                <a:avLst/>
              </a:prstGeom>
            </p:spPr>
          </p:pic>
        </mc:Fallback>
      </mc:AlternateContent>
    </p:spTree>
    <p:extLst>
      <p:ext uri="{BB962C8B-B14F-4D97-AF65-F5344CB8AC3E}">
        <p14:creationId xmlns:p14="http://schemas.microsoft.com/office/powerpoint/2010/main" val="56477295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q-grams</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6</a:t>
            </a:fld>
            <a:endParaRPr lang="zh-TW" altLang="en-US" dirty="0"/>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fr-FR" altLang="zh-TW" sz="2000" i="1" dirty="0">
                <a:latin typeface="Times New Roman" panose="02020603050405020304" pitchFamily="18" charset="0"/>
                <a:cs typeface="Times New Roman" panose="02020603050405020304" pitchFamily="18" charset="0"/>
              </a:rPr>
              <a:t>P = </a:t>
            </a:r>
            <a:r>
              <a:rPr kumimoji="1" lang="fr-FR" altLang="zh-TW" sz="2000" dirty="0">
                <a:latin typeface="Times New Roman" panose="02020603050405020304" pitchFamily="18" charset="0"/>
                <a:cs typeface="Times New Roman" panose="02020603050405020304" pitchFamily="18" charset="0"/>
              </a:rPr>
              <a:t>(35, 40, 23, 40, 40, 28, 30)</a:t>
            </a:r>
          </a:p>
          <a:p>
            <a:r>
              <a:rPr kumimoji="1" lang="pt-BR" altLang="zh-TW" sz="2000" i="1" dirty="0">
                <a:latin typeface="Times New Roman" panose="02020603050405020304" pitchFamily="18" charset="0"/>
                <a:cs typeface="Times New Roman" panose="02020603050405020304" pitchFamily="18" charset="0"/>
              </a:rPr>
              <a:t>T = </a:t>
            </a:r>
            <a:r>
              <a:rPr kumimoji="1" lang="pt-BR" altLang="zh-TW" sz="2000" dirty="0">
                <a:latin typeface="Times New Roman" panose="02020603050405020304" pitchFamily="18" charset="0"/>
                <a:cs typeface="Times New Roman" panose="02020603050405020304" pitchFamily="18" charset="0"/>
              </a:rPr>
              <a:t>(10, 20, 15, 28, 32, 12, 32, 32, 20, 25, 15, 25)</a:t>
            </a:r>
          </a:p>
          <a:p>
            <a:r>
              <a:rPr kumimoji="1" lang="pt-BR" altLang="zh-TW" sz="2000" dirty="0">
                <a:latin typeface="Times New Roman" panose="02020603050405020304" pitchFamily="18" charset="0"/>
                <a:cs typeface="Times New Roman" panose="02020603050405020304" pitchFamily="18" charset="0"/>
              </a:rPr>
              <a:t>Ex. 3-grams</a:t>
            </a:r>
          </a:p>
          <a:p>
            <a:endParaRPr kumimoji="1" lang="pt-BR" altLang="zh-TW" sz="2000" dirty="0">
              <a:latin typeface="標楷體" panose="03000509000000000000" pitchFamily="65" charset="-120"/>
              <a:ea typeface="標楷體" panose="03000509000000000000" pitchFamily="65" charset="-120"/>
              <a:cs typeface="Times New Roman" panose="02020603050405020304" pitchFamily="18" charset="0"/>
            </a:endParaRPr>
          </a:p>
        </p:txBody>
      </p:sp>
      <p:pic>
        <p:nvPicPr>
          <p:cNvPr id="12" name="Picture 11">
            <a:extLst>
              <a:ext uri="{FF2B5EF4-FFF2-40B4-BE49-F238E27FC236}">
                <a16:creationId xmlns:a16="http://schemas.microsoft.com/office/drawing/2014/main" id="{2E6A93D5-85F7-8C53-DD8E-05DCEA1F3842}"/>
              </a:ext>
            </a:extLst>
          </p:cNvPr>
          <p:cNvPicPr>
            <a:picLocks noChangeAspect="1"/>
          </p:cNvPicPr>
          <p:nvPr/>
        </p:nvPicPr>
        <p:blipFill rotWithShape="1">
          <a:blip r:embed="rId3"/>
          <a:srcRect b="38536"/>
          <a:stretch/>
        </p:blipFill>
        <p:spPr>
          <a:xfrm>
            <a:off x="838200" y="3775921"/>
            <a:ext cx="6787896" cy="1454869"/>
          </a:xfrm>
          <a:prstGeom prst="rect">
            <a:avLst/>
          </a:prstGeom>
        </p:spPr>
      </p:pic>
      <p:pic>
        <p:nvPicPr>
          <p:cNvPr id="18" name="Picture 17">
            <a:extLst>
              <a:ext uri="{FF2B5EF4-FFF2-40B4-BE49-F238E27FC236}">
                <a16:creationId xmlns:a16="http://schemas.microsoft.com/office/drawing/2014/main" id="{77D63CA1-991D-DD91-685F-031A73CB6DD5}"/>
              </a:ext>
            </a:extLst>
          </p:cNvPr>
          <p:cNvPicPr>
            <a:picLocks noChangeAspect="1"/>
          </p:cNvPicPr>
          <p:nvPr/>
        </p:nvPicPr>
        <p:blipFill>
          <a:blip r:embed="rId4"/>
          <a:stretch>
            <a:fillRect/>
          </a:stretch>
        </p:blipFill>
        <p:spPr>
          <a:xfrm>
            <a:off x="8105067" y="3949804"/>
            <a:ext cx="2203704" cy="871795"/>
          </a:xfrm>
          <a:prstGeom prst="rect">
            <a:avLst/>
          </a:prstGeom>
        </p:spPr>
      </p:pic>
      <p:sp>
        <p:nvSpPr>
          <p:cNvPr id="20" name="TextBox 19">
            <a:extLst>
              <a:ext uri="{FF2B5EF4-FFF2-40B4-BE49-F238E27FC236}">
                <a16:creationId xmlns:a16="http://schemas.microsoft.com/office/drawing/2014/main" id="{3B698CCC-505F-32F0-4267-273FF51521C7}"/>
              </a:ext>
            </a:extLst>
          </p:cNvPr>
          <p:cNvSpPr txBox="1"/>
          <p:nvPr/>
        </p:nvSpPr>
        <p:spPr>
          <a:xfrm>
            <a:off x="7739307" y="3462240"/>
            <a:ext cx="4114800" cy="2246769"/>
          </a:xfrm>
          <a:prstGeom prst="rect">
            <a:avLst/>
          </a:prstGeom>
          <a:noFill/>
        </p:spPr>
        <p:txBody>
          <a:bodyPr wrap="square">
            <a:spAutoFit/>
          </a:bodyPr>
          <a:lstStyle/>
          <a:p>
            <a:pPr marL="285750" indent="-285750">
              <a:buFont typeface="Arial" panose="020B0604020202020204" pitchFamily="34" charset="0"/>
              <a:buChar char="•"/>
            </a:pPr>
            <a:r>
              <a:rPr kumimoji="1" lang="pt-BR" altLang="zh-TW" sz="2000" dirty="0">
                <a:latin typeface="Times New Roman" panose="02020603050405020304" pitchFamily="18" charset="0"/>
                <a:cs typeface="Times New Roman" panose="02020603050405020304" pitchFamily="18" charset="0"/>
              </a:rPr>
              <a:t>fingerprint</a:t>
            </a:r>
          </a:p>
          <a:p>
            <a:pPr marL="285750" indent="-285750">
              <a:buFont typeface="Arial" panose="020B0604020202020204" pitchFamily="34" charset="0"/>
              <a:buChar char="•"/>
            </a:pPr>
            <a:endParaRPr kumimoji="1" lang="pt-BR" altLang="zh-TW"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kumimoji="1" lang="pt-BR" altLang="zh-TW"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kumimoji="1" lang="pt-BR" altLang="zh-TW"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kumimoji="1" lang="pt-BR" altLang="zh-TW"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kumimoji="1" lang="en-US" altLang="zh-TW" sz="2000" i="1" dirty="0">
                <a:latin typeface="Times New Roman" panose="02020603050405020304" pitchFamily="18" charset="0"/>
                <a:cs typeface="Times New Roman" panose="02020603050405020304" pitchFamily="18" charset="0"/>
              </a:rPr>
              <a:t>f</a:t>
            </a:r>
            <a:r>
              <a:rPr kumimoji="1" lang="en-US" altLang="zh-TW" sz="2000" dirty="0">
                <a:latin typeface="Times New Roman" panose="02020603050405020304" pitchFamily="18" charset="0"/>
                <a:cs typeface="Times New Roman" panose="02020603050405020304" pitchFamily="18" charset="0"/>
              </a:rPr>
              <a:t>(</a:t>
            </a:r>
            <a:r>
              <a:rPr kumimoji="1" lang="en-US" altLang="zh-TW" sz="2000" i="1" dirty="0">
                <a:latin typeface="Times New Roman" panose="02020603050405020304" pitchFamily="18" charset="0"/>
                <a:cs typeface="Times New Roman" panose="02020603050405020304" pitchFamily="18" charset="0"/>
              </a:rPr>
              <a:t>T</a:t>
            </a:r>
            <a:r>
              <a:rPr kumimoji="1" lang="en-US" altLang="zh-TW" sz="2000" dirty="0">
                <a:latin typeface="Times New Roman" panose="02020603050405020304" pitchFamily="18" charset="0"/>
                <a:cs typeface="Times New Roman" panose="02020603050405020304" pitchFamily="18" charset="0"/>
              </a:rPr>
              <a:t>[4..6]) = 0</a:t>
            </a:r>
            <a:r>
              <a:rPr kumimoji="1" lang="zh-TW" altLang="en-US" sz="2000" dirty="0">
                <a:latin typeface="Times New Roman" panose="02020603050405020304" pitchFamily="18" charset="0"/>
                <a:cs typeface="Times New Roman" panose="02020603050405020304" pitchFamily="18" charset="0"/>
              </a:rPr>
              <a:t>*</a:t>
            </a:r>
            <a:r>
              <a:rPr kumimoji="1" lang="en-US" altLang="zh-TW" sz="2000" dirty="0">
                <a:latin typeface="Times New Roman" panose="02020603050405020304" pitchFamily="18" charset="0"/>
                <a:cs typeface="Times New Roman" panose="02020603050405020304" pitchFamily="18" charset="0"/>
              </a:rPr>
              <a:t>0! + 0*1! + 2*2! = 4</a:t>
            </a:r>
          </a:p>
          <a:p>
            <a:pPr marL="285750" indent="-285750">
              <a:buFont typeface="Arial" panose="020B0604020202020204" pitchFamily="34" charset="0"/>
              <a:buChar char="•"/>
            </a:pPr>
            <a:r>
              <a:rPr kumimoji="1" lang="en-US" altLang="zh-TW" sz="2000" i="1" dirty="0">
                <a:latin typeface="Times New Roman" panose="02020603050405020304" pitchFamily="18" charset="0"/>
                <a:cs typeface="Times New Roman" panose="02020603050405020304" pitchFamily="18" charset="0"/>
              </a:rPr>
              <a:t>f</a:t>
            </a:r>
            <a:r>
              <a:rPr kumimoji="1" lang="en-US" altLang="zh-TW" sz="2000" dirty="0">
                <a:latin typeface="Times New Roman" panose="02020603050405020304" pitchFamily="18" charset="0"/>
                <a:cs typeface="Times New Roman" panose="02020603050405020304" pitchFamily="18" charset="0"/>
              </a:rPr>
              <a:t>(</a:t>
            </a:r>
            <a:r>
              <a:rPr kumimoji="1" lang="en-US" altLang="zh-TW" sz="2000" i="1" dirty="0">
                <a:latin typeface="Times New Roman" panose="02020603050405020304" pitchFamily="18" charset="0"/>
                <a:cs typeface="Times New Roman" panose="02020603050405020304" pitchFamily="18" charset="0"/>
              </a:rPr>
              <a:t>P</a:t>
            </a:r>
            <a:r>
              <a:rPr kumimoji="1" lang="en-US" altLang="zh-TW" sz="2000" dirty="0">
                <a:latin typeface="Times New Roman" panose="02020603050405020304" pitchFamily="18" charset="0"/>
                <a:cs typeface="Times New Roman" panose="02020603050405020304" pitchFamily="18" charset="0"/>
              </a:rPr>
              <a:t>[4..6]) = 0</a:t>
            </a:r>
            <a:r>
              <a:rPr kumimoji="1" lang="zh-TW" altLang="en-US" sz="2000" dirty="0">
                <a:latin typeface="Times New Roman" panose="02020603050405020304" pitchFamily="18" charset="0"/>
                <a:cs typeface="Times New Roman" panose="02020603050405020304" pitchFamily="18" charset="0"/>
              </a:rPr>
              <a:t>*</a:t>
            </a:r>
            <a:r>
              <a:rPr kumimoji="1" lang="en-US" altLang="zh-TW" sz="2000" dirty="0">
                <a:latin typeface="Times New Roman" panose="02020603050405020304" pitchFamily="18" charset="0"/>
                <a:cs typeface="Times New Roman" panose="02020603050405020304" pitchFamily="18" charset="0"/>
              </a:rPr>
              <a:t>0! + 0*1! + 1*2! = 2</a:t>
            </a:r>
          </a:p>
        </p:txBody>
      </p:sp>
      <mc:AlternateContent xmlns:mc="http://schemas.openxmlformats.org/markup-compatibility/2006" xmlns:a14="http://schemas.microsoft.com/office/drawing/2010/main">
        <mc:Choice Requires="a14">
          <p:graphicFrame>
            <p:nvGraphicFramePr>
              <p:cNvPr id="24" name="Table 23">
                <a:extLst>
                  <a:ext uri="{FF2B5EF4-FFF2-40B4-BE49-F238E27FC236}">
                    <a16:creationId xmlns:a16="http://schemas.microsoft.com/office/drawing/2014/main" id="{EB0A8732-EDA2-13D7-DB97-5EC6D92F33F4}"/>
                  </a:ext>
                </a:extLst>
              </p:cNvPr>
              <p:cNvGraphicFramePr>
                <a:graphicFrameLocks noGrp="1"/>
              </p:cNvGraphicFramePr>
              <p:nvPr>
                <p:extLst>
                  <p:ext uri="{D42A27DB-BD31-4B8C-83A1-F6EECF244321}">
                    <p14:modId xmlns:p14="http://schemas.microsoft.com/office/powerpoint/2010/main" val="2466293168"/>
                  </p:ext>
                </p:extLst>
              </p:nvPr>
            </p:nvGraphicFramePr>
            <p:xfrm>
              <a:off x="7886918" y="1099236"/>
              <a:ext cx="3319272" cy="1854200"/>
            </p:xfrm>
            <a:graphic>
              <a:graphicData uri="http://schemas.openxmlformats.org/drawingml/2006/table">
                <a:tbl>
                  <a:tblPr firstRow="1" bandRow="1">
                    <a:tableStyleId>{5940675A-B579-460E-94D1-54222C63F5DA}</a:tableStyleId>
                  </a:tblPr>
                  <a:tblGrid>
                    <a:gridCol w="829818">
                      <a:extLst>
                        <a:ext uri="{9D8B030D-6E8A-4147-A177-3AD203B41FA5}">
                          <a16:colId xmlns:a16="http://schemas.microsoft.com/office/drawing/2014/main" val="1657116828"/>
                        </a:ext>
                      </a:extLst>
                    </a:gridCol>
                    <a:gridCol w="829818">
                      <a:extLst>
                        <a:ext uri="{9D8B030D-6E8A-4147-A177-3AD203B41FA5}">
                          <a16:colId xmlns:a16="http://schemas.microsoft.com/office/drawing/2014/main" val="648684938"/>
                        </a:ext>
                      </a:extLst>
                    </a:gridCol>
                    <a:gridCol w="829818">
                      <a:extLst>
                        <a:ext uri="{9D8B030D-6E8A-4147-A177-3AD203B41FA5}">
                          <a16:colId xmlns:a16="http://schemas.microsoft.com/office/drawing/2014/main" val="124047690"/>
                        </a:ext>
                      </a:extLst>
                    </a:gridCol>
                    <a:gridCol w="829818">
                      <a:extLst>
                        <a:ext uri="{9D8B030D-6E8A-4147-A177-3AD203B41FA5}">
                          <a16:colId xmlns:a16="http://schemas.microsoft.com/office/drawing/2014/main" val="2625874733"/>
                        </a:ext>
                      </a:extLst>
                    </a:gridCol>
                  </a:tblGrid>
                  <a:tr h="370840">
                    <a:tc>
                      <a:txBody>
                        <a:bodyPr/>
                        <a:lstStyle/>
                        <a:p>
                          <a:pPr algn="ctr"/>
                          <a:r>
                            <a:rPr lang="en-US" altLang="zh-TW" b="0" dirty="0" err="1">
                              <a:latin typeface="Times New Roman" panose="02020603050405020304" pitchFamily="18" charset="0"/>
                              <a:cs typeface="Times New Roman" panose="02020603050405020304" pitchFamily="18" charset="0"/>
                            </a:rPr>
                            <a:t>i</a:t>
                          </a:r>
                          <a:endParaRPr lang="zh-TW" altLang="en-US" b="0" dirty="0">
                            <a:latin typeface="Times New Roman" panose="02020603050405020304" pitchFamily="18" charset="0"/>
                            <a:cs typeface="Times New Roman" panose="02020603050405020304" pitchFamily="18" charset="0"/>
                          </a:endParaRPr>
                        </a:p>
                      </a:txBody>
                      <a:tcPr/>
                    </a:tc>
                    <a:tc>
                      <a:txBody>
                        <a:bodyPr/>
                        <a:lstStyle/>
                        <a:p>
                          <a:pPr algn="ctr"/>
                          <a:r>
                            <a:rPr lang="en-US" altLang="zh-TW" b="0" dirty="0">
                              <a:latin typeface="Times New Roman" panose="02020603050405020304" pitchFamily="18" charset="0"/>
                              <a:cs typeface="Times New Roman" panose="02020603050405020304" pitchFamily="18" charset="0"/>
                            </a:rPr>
                            <a:t>4</a:t>
                          </a:r>
                          <a:endParaRPr lang="zh-TW" altLang="en-US" b="0" dirty="0">
                            <a:latin typeface="Times New Roman" panose="02020603050405020304" pitchFamily="18" charset="0"/>
                            <a:cs typeface="Times New Roman" panose="02020603050405020304" pitchFamily="18" charset="0"/>
                          </a:endParaRPr>
                        </a:p>
                      </a:txBody>
                      <a:tcPr/>
                    </a:tc>
                    <a:tc>
                      <a:txBody>
                        <a:bodyPr/>
                        <a:lstStyle/>
                        <a:p>
                          <a:pPr algn="ctr"/>
                          <a:r>
                            <a:rPr lang="en-US" altLang="zh-TW" b="0" dirty="0">
                              <a:latin typeface="Times New Roman" panose="02020603050405020304" pitchFamily="18" charset="0"/>
                              <a:cs typeface="Times New Roman" panose="02020603050405020304" pitchFamily="18" charset="0"/>
                            </a:rPr>
                            <a:t>5</a:t>
                          </a:r>
                          <a:endParaRPr lang="zh-TW" altLang="en-US" b="0" dirty="0">
                            <a:latin typeface="Times New Roman" panose="02020603050405020304" pitchFamily="18" charset="0"/>
                            <a:cs typeface="Times New Roman" panose="02020603050405020304" pitchFamily="18" charset="0"/>
                          </a:endParaRPr>
                        </a:p>
                      </a:txBody>
                      <a:tcPr/>
                    </a:tc>
                    <a:tc>
                      <a:txBody>
                        <a:bodyPr/>
                        <a:lstStyle/>
                        <a:p>
                          <a:pPr algn="ctr"/>
                          <a:r>
                            <a:rPr lang="en-US" altLang="zh-TW" b="0" dirty="0">
                              <a:latin typeface="Times New Roman" panose="02020603050405020304" pitchFamily="18" charset="0"/>
                              <a:cs typeface="Times New Roman" panose="02020603050405020304" pitchFamily="18" charset="0"/>
                            </a:rPr>
                            <a:t>6</a:t>
                          </a:r>
                          <a:endParaRPr lang="zh-TW" altLang="en-US"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63404415"/>
                      </a:ext>
                    </a:extLst>
                  </a:tr>
                  <a:tr h="370840">
                    <a:tc>
                      <a:txBody>
                        <a:bodyPr/>
                        <a:lstStyle/>
                        <a:p>
                          <a:pPr algn="ctr"/>
                          <a:r>
                            <a:rPr lang="en-US" altLang="zh-TW" b="0" i="1" dirty="0">
                              <a:latin typeface="Times New Roman" panose="02020603050405020304" pitchFamily="18" charset="0"/>
                              <a:cs typeface="Times New Roman" panose="02020603050405020304" pitchFamily="18" charset="0"/>
                            </a:rPr>
                            <a:t>T</a:t>
                          </a:r>
                          <a:r>
                            <a:rPr lang="en-US" altLang="zh-TW" b="0" i="0" dirty="0">
                              <a:latin typeface="Times New Roman" panose="02020603050405020304" pitchFamily="18" charset="0"/>
                              <a:cs typeface="Times New Roman" panose="02020603050405020304" pitchFamily="18" charset="0"/>
                            </a:rPr>
                            <a:t>[</a:t>
                          </a:r>
                          <a:r>
                            <a:rPr lang="en-US" altLang="zh-TW" b="0" i="1" dirty="0" err="1">
                              <a:latin typeface="Times New Roman" panose="02020603050405020304" pitchFamily="18" charset="0"/>
                              <a:cs typeface="Times New Roman" panose="02020603050405020304" pitchFamily="18" charset="0"/>
                            </a:rPr>
                            <a:t>i</a:t>
                          </a:r>
                          <a:r>
                            <a:rPr lang="en-US" altLang="zh-TW" b="0" i="0" dirty="0">
                              <a:latin typeface="Times New Roman" panose="02020603050405020304" pitchFamily="18" charset="0"/>
                              <a:cs typeface="Times New Roman" panose="02020603050405020304" pitchFamily="18" charset="0"/>
                            </a:rPr>
                            <a:t>]</a:t>
                          </a:r>
                          <a:endParaRPr lang="zh-TW" altLang="en-US" b="0" i="0" dirty="0">
                            <a:latin typeface="Times New Roman" panose="02020603050405020304" pitchFamily="18" charset="0"/>
                            <a:cs typeface="Times New Roman" panose="02020603050405020304" pitchFamily="18" charset="0"/>
                          </a:endParaRPr>
                        </a:p>
                      </a:txBody>
                      <a:tcPr/>
                    </a:tc>
                    <a:tc>
                      <a:txBody>
                        <a:bodyPr/>
                        <a:lstStyle/>
                        <a:p>
                          <a:pPr algn="ctr"/>
                          <a:r>
                            <a:rPr lang="en-US" altLang="zh-TW" b="0" dirty="0">
                              <a:latin typeface="Times New Roman" panose="02020603050405020304" pitchFamily="18" charset="0"/>
                              <a:cs typeface="Times New Roman" panose="02020603050405020304" pitchFamily="18" charset="0"/>
                            </a:rPr>
                            <a:t>32</a:t>
                          </a:r>
                          <a:endParaRPr lang="zh-TW" altLang="en-US" b="0" dirty="0">
                            <a:latin typeface="Times New Roman" panose="02020603050405020304" pitchFamily="18" charset="0"/>
                            <a:cs typeface="Times New Roman" panose="02020603050405020304" pitchFamily="18" charset="0"/>
                          </a:endParaRPr>
                        </a:p>
                      </a:txBody>
                      <a:tcPr/>
                    </a:tc>
                    <a:tc>
                      <a:txBody>
                        <a:bodyPr/>
                        <a:lstStyle/>
                        <a:p>
                          <a:pPr algn="ctr"/>
                          <a:r>
                            <a:rPr lang="en-US" altLang="zh-TW" b="0" dirty="0">
                              <a:latin typeface="Times New Roman" panose="02020603050405020304" pitchFamily="18" charset="0"/>
                              <a:cs typeface="Times New Roman" panose="02020603050405020304" pitchFamily="18" charset="0"/>
                            </a:rPr>
                            <a:t>12</a:t>
                          </a:r>
                          <a:endParaRPr lang="zh-TW" altLang="en-US" b="0" dirty="0">
                            <a:latin typeface="Times New Roman" panose="02020603050405020304" pitchFamily="18" charset="0"/>
                            <a:cs typeface="Times New Roman" panose="02020603050405020304" pitchFamily="18" charset="0"/>
                          </a:endParaRPr>
                        </a:p>
                      </a:txBody>
                      <a:tcPr/>
                    </a:tc>
                    <a:tc>
                      <a:txBody>
                        <a:bodyPr/>
                        <a:lstStyle/>
                        <a:p>
                          <a:pPr algn="ctr"/>
                          <a:r>
                            <a:rPr lang="en-US" altLang="zh-TW" b="0" dirty="0">
                              <a:latin typeface="Times New Roman" panose="02020603050405020304" pitchFamily="18" charset="0"/>
                              <a:cs typeface="Times New Roman" panose="02020603050405020304" pitchFamily="18" charset="0"/>
                            </a:rPr>
                            <a:t>32</a:t>
                          </a:r>
                          <a:endParaRPr lang="zh-TW" altLang="en-US"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6742959"/>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1" lang="pt-BR" altLang="zh-TW" sz="1800" i="1" smtClean="0">
                                        <a:latin typeface="Cambria Math" panose="02040503050406030204" pitchFamily="18" charset="0"/>
                                        <a:cs typeface="Times New Roman" panose="02020603050405020304" pitchFamily="18" charset="0"/>
                                      </a:rPr>
                                    </m:ctrlPr>
                                  </m:sSubPr>
                                  <m:e>
                                    <m:r>
                                      <a:rPr kumimoji="1" lang="zh-TW" altLang="pt-BR" sz="1800" i="1" smtClean="0">
                                        <a:latin typeface="Cambria Math" panose="02040503050406030204" pitchFamily="18" charset="0"/>
                                        <a:cs typeface="Times New Roman" panose="02020603050405020304" pitchFamily="18" charset="0"/>
                                      </a:rPr>
                                      <m:t>𝜇</m:t>
                                    </m:r>
                                  </m:e>
                                  <m:sub>
                                    <m:r>
                                      <a:rPr kumimoji="1" lang="en-US" altLang="zh-TW" sz="1800" b="0" i="1" smtClean="0">
                                        <a:latin typeface="Cambria Math" panose="02040503050406030204" pitchFamily="18" charset="0"/>
                                        <a:cs typeface="Times New Roman" panose="02020603050405020304" pitchFamily="18" charset="0"/>
                                      </a:rPr>
                                      <m:t>𝑇</m:t>
                                    </m:r>
                                  </m:sub>
                                </m:sSub>
                                <m:r>
                                  <a:rPr kumimoji="1" lang="en-US" altLang="zh-TW" sz="1800" b="0" i="1" smtClean="0">
                                    <a:latin typeface="Cambria Math" panose="02040503050406030204" pitchFamily="18" charset="0"/>
                                    <a:cs typeface="Times New Roman" panose="02020603050405020304" pitchFamily="18" charset="0"/>
                                  </a:rPr>
                                  <m:t>[</m:t>
                                </m:r>
                                <m:r>
                                  <a:rPr kumimoji="1" lang="en-US" altLang="zh-TW" sz="1800" b="0" i="1" smtClean="0">
                                    <a:latin typeface="Cambria Math" panose="02040503050406030204" pitchFamily="18" charset="0"/>
                                    <a:cs typeface="Times New Roman" panose="02020603050405020304" pitchFamily="18" charset="0"/>
                                  </a:rPr>
                                  <m:t>𝑖</m:t>
                                </m:r>
                                <m:r>
                                  <a:rPr kumimoji="1" lang="en-US" altLang="zh-TW" sz="1800" b="0" i="1" smtClean="0">
                                    <a:latin typeface="Cambria Math" panose="02040503050406030204" pitchFamily="18" charset="0"/>
                                    <a:cs typeface="Times New Roman" panose="02020603050405020304" pitchFamily="18" charset="0"/>
                                  </a:rPr>
                                  <m:t>]</m:t>
                                </m:r>
                              </m:oMath>
                            </m:oMathPara>
                          </a14:m>
                          <a:endParaRPr lang="zh-TW" altLang="en-US" b="0" dirty="0">
                            <a:latin typeface="Times New Roman" panose="02020603050405020304" pitchFamily="18" charset="0"/>
                            <a:cs typeface="Times New Roman" panose="02020603050405020304" pitchFamily="18" charset="0"/>
                          </a:endParaRPr>
                        </a:p>
                      </a:txBody>
                      <a:tcPr/>
                    </a:tc>
                    <a:tc>
                      <a:txBody>
                        <a:bodyPr/>
                        <a:lstStyle/>
                        <a:p>
                          <a:pPr algn="ctr"/>
                          <a:r>
                            <a:rPr lang="en-US" altLang="zh-TW" b="0" dirty="0">
                              <a:latin typeface="Times New Roman" panose="02020603050405020304" pitchFamily="18" charset="0"/>
                              <a:cs typeface="Times New Roman" panose="02020603050405020304" pitchFamily="18" charset="0"/>
                            </a:rPr>
                            <a:t>0</a:t>
                          </a:r>
                          <a:endParaRPr lang="zh-TW" altLang="en-US" b="0" dirty="0">
                            <a:latin typeface="Times New Roman" panose="02020603050405020304" pitchFamily="18" charset="0"/>
                            <a:cs typeface="Times New Roman" panose="02020603050405020304" pitchFamily="18" charset="0"/>
                          </a:endParaRPr>
                        </a:p>
                      </a:txBody>
                      <a:tcPr/>
                    </a:tc>
                    <a:tc>
                      <a:txBody>
                        <a:bodyPr/>
                        <a:lstStyle/>
                        <a:p>
                          <a:pPr algn="ctr"/>
                          <a:r>
                            <a:rPr lang="en-US" altLang="zh-TW" b="0" dirty="0">
                              <a:latin typeface="Times New Roman" panose="02020603050405020304" pitchFamily="18" charset="0"/>
                              <a:cs typeface="Times New Roman" panose="02020603050405020304" pitchFamily="18" charset="0"/>
                            </a:rPr>
                            <a:t>0</a:t>
                          </a:r>
                          <a:endParaRPr lang="zh-TW" altLang="en-US" b="0" dirty="0">
                            <a:latin typeface="Times New Roman" panose="02020603050405020304" pitchFamily="18" charset="0"/>
                            <a:cs typeface="Times New Roman" panose="02020603050405020304" pitchFamily="18" charset="0"/>
                          </a:endParaRPr>
                        </a:p>
                      </a:txBody>
                      <a:tcPr/>
                    </a:tc>
                    <a:tc>
                      <a:txBody>
                        <a:bodyPr/>
                        <a:lstStyle/>
                        <a:p>
                          <a:pPr algn="ctr"/>
                          <a:r>
                            <a:rPr lang="en-US" altLang="zh-TW" b="0" dirty="0">
                              <a:latin typeface="Times New Roman" panose="02020603050405020304" pitchFamily="18" charset="0"/>
                              <a:cs typeface="Times New Roman" panose="02020603050405020304" pitchFamily="18" charset="0"/>
                            </a:rPr>
                            <a:t>2</a:t>
                          </a:r>
                        </a:p>
                      </a:txBody>
                      <a:tcPr/>
                    </a:tc>
                    <a:extLst>
                      <a:ext uri="{0D108BD9-81ED-4DB2-BD59-A6C34878D82A}">
                        <a16:rowId xmlns:a16="http://schemas.microsoft.com/office/drawing/2014/main" val="4094970844"/>
                      </a:ext>
                    </a:extLst>
                  </a:tr>
                  <a:tr h="370840">
                    <a:tc>
                      <a:txBody>
                        <a:bodyPr/>
                        <a:lstStyle/>
                        <a:p>
                          <a:pPr algn="ctr"/>
                          <a:r>
                            <a:rPr lang="en-US" altLang="zh-TW" b="0" i="1" dirty="0">
                              <a:latin typeface="Times New Roman" panose="02020603050405020304" pitchFamily="18" charset="0"/>
                              <a:cs typeface="Times New Roman" panose="02020603050405020304" pitchFamily="18" charset="0"/>
                            </a:rPr>
                            <a:t>P</a:t>
                          </a:r>
                          <a:r>
                            <a:rPr lang="en-US" altLang="zh-TW" b="0" i="0" dirty="0">
                              <a:latin typeface="Times New Roman" panose="02020603050405020304" pitchFamily="18" charset="0"/>
                              <a:cs typeface="Times New Roman" panose="02020603050405020304" pitchFamily="18" charset="0"/>
                            </a:rPr>
                            <a:t>[</a:t>
                          </a:r>
                          <a:r>
                            <a:rPr lang="en-US" altLang="zh-TW" b="0" i="1" dirty="0" err="1">
                              <a:latin typeface="Times New Roman" panose="02020603050405020304" pitchFamily="18" charset="0"/>
                              <a:cs typeface="Times New Roman" panose="02020603050405020304" pitchFamily="18" charset="0"/>
                            </a:rPr>
                            <a:t>i</a:t>
                          </a:r>
                          <a:r>
                            <a:rPr lang="en-US" altLang="zh-TW" b="0" i="0" dirty="0">
                              <a:latin typeface="Times New Roman" panose="02020603050405020304" pitchFamily="18" charset="0"/>
                              <a:cs typeface="Times New Roman" panose="02020603050405020304" pitchFamily="18" charset="0"/>
                            </a:rPr>
                            <a:t>]</a:t>
                          </a:r>
                          <a:endParaRPr lang="zh-TW" altLang="en-US" b="0" i="0" dirty="0">
                            <a:latin typeface="Times New Roman" panose="02020603050405020304" pitchFamily="18" charset="0"/>
                            <a:cs typeface="Times New Roman" panose="02020603050405020304" pitchFamily="18" charset="0"/>
                          </a:endParaRPr>
                        </a:p>
                      </a:txBody>
                      <a:tcPr/>
                    </a:tc>
                    <a:tc>
                      <a:txBody>
                        <a:bodyPr/>
                        <a:lstStyle/>
                        <a:p>
                          <a:pPr algn="ctr"/>
                          <a:r>
                            <a:rPr lang="en-US" altLang="zh-TW" b="0" dirty="0">
                              <a:latin typeface="Times New Roman" panose="02020603050405020304" pitchFamily="18" charset="0"/>
                              <a:cs typeface="Times New Roman" panose="02020603050405020304" pitchFamily="18" charset="0"/>
                            </a:rPr>
                            <a:t>40</a:t>
                          </a:r>
                          <a:endParaRPr lang="zh-TW" altLang="en-US" b="0" dirty="0">
                            <a:latin typeface="Times New Roman" panose="02020603050405020304" pitchFamily="18" charset="0"/>
                            <a:cs typeface="Times New Roman" panose="02020603050405020304" pitchFamily="18" charset="0"/>
                          </a:endParaRPr>
                        </a:p>
                      </a:txBody>
                      <a:tcPr/>
                    </a:tc>
                    <a:tc>
                      <a:txBody>
                        <a:bodyPr/>
                        <a:lstStyle/>
                        <a:p>
                          <a:pPr algn="ctr"/>
                          <a:r>
                            <a:rPr lang="en-US" altLang="zh-TW" b="0" dirty="0">
                              <a:latin typeface="Times New Roman" panose="02020603050405020304" pitchFamily="18" charset="0"/>
                              <a:cs typeface="Times New Roman" panose="02020603050405020304" pitchFamily="18" charset="0"/>
                            </a:rPr>
                            <a:t>28</a:t>
                          </a:r>
                          <a:endParaRPr lang="zh-TW" altLang="en-US" b="0" dirty="0">
                            <a:latin typeface="Times New Roman" panose="02020603050405020304" pitchFamily="18" charset="0"/>
                            <a:cs typeface="Times New Roman" panose="02020603050405020304" pitchFamily="18" charset="0"/>
                          </a:endParaRPr>
                        </a:p>
                      </a:txBody>
                      <a:tcPr/>
                    </a:tc>
                    <a:tc>
                      <a:txBody>
                        <a:bodyPr/>
                        <a:lstStyle/>
                        <a:p>
                          <a:pPr algn="ctr"/>
                          <a:r>
                            <a:rPr lang="en-US" altLang="zh-TW" b="0" dirty="0">
                              <a:latin typeface="Times New Roman" panose="02020603050405020304" pitchFamily="18" charset="0"/>
                              <a:cs typeface="Times New Roman" panose="02020603050405020304" pitchFamily="18" charset="0"/>
                            </a:rPr>
                            <a:t>30</a:t>
                          </a:r>
                          <a:endParaRPr lang="zh-TW" altLang="en-US"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05832946"/>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1" lang="pt-BR" altLang="zh-TW" sz="1800" i="1" smtClean="0">
                                        <a:latin typeface="Cambria Math" panose="02040503050406030204" pitchFamily="18" charset="0"/>
                                        <a:cs typeface="Times New Roman" panose="02020603050405020304" pitchFamily="18" charset="0"/>
                                      </a:rPr>
                                    </m:ctrlPr>
                                  </m:sSubPr>
                                  <m:e>
                                    <m:r>
                                      <a:rPr kumimoji="1" lang="zh-TW" altLang="pt-BR" sz="1800" i="1" smtClean="0">
                                        <a:latin typeface="Cambria Math" panose="02040503050406030204" pitchFamily="18" charset="0"/>
                                        <a:cs typeface="Times New Roman" panose="02020603050405020304" pitchFamily="18" charset="0"/>
                                      </a:rPr>
                                      <m:t>𝜇</m:t>
                                    </m:r>
                                  </m:e>
                                  <m:sub>
                                    <m:r>
                                      <a:rPr kumimoji="1" lang="en-US" altLang="zh-TW" sz="1800" b="0" i="1" smtClean="0">
                                        <a:latin typeface="Cambria Math" panose="02040503050406030204" pitchFamily="18" charset="0"/>
                                        <a:cs typeface="Times New Roman" panose="02020603050405020304" pitchFamily="18" charset="0"/>
                                      </a:rPr>
                                      <m:t>𝑃</m:t>
                                    </m:r>
                                  </m:sub>
                                </m:sSub>
                                <m:r>
                                  <a:rPr kumimoji="1" lang="en-US" altLang="zh-TW" sz="1800" b="0" i="1" smtClean="0">
                                    <a:latin typeface="Cambria Math" panose="02040503050406030204" pitchFamily="18" charset="0"/>
                                    <a:cs typeface="Times New Roman" panose="02020603050405020304" pitchFamily="18" charset="0"/>
                                  </a:rPr>
                                  <m:t>[</m:t>
                                </m:r>
                                <m:r>
                                  <a:rPr kumimoji="1" lang="en-US" altLang="zh-TW" sz="1800" b="0" i="1" smtClean="0">
                                    <a:latin typeface="Cambria Math" panose="02040503050406030204" pitchFamily="18" charset="0"/>
                                    <a:cs typeface="Times New Roman" panose="02020603050405020304" pitchFamily="18" charset="0"/>
                                  </a:rPr>
                                  <m:t>𝑖</m:t>
                                </m:r>
                                <m:r>
                                  <a:rPr kumimoji="1" lang="en-US" altLang="zh-TW" sz="1800" b="0" i="1" smtClean="0">
                                    <a:latin typeface="Cambria Math" panose="02040503050406030204" pitchFamily="18" charset="0"/>
                                    <a:cs typeface="Times New Roman" panose="02020603050405020304" pitchFamily="18" charset="0"/>
                                  </a:rPr>
                                  <m:t>]</m:t>
                                </m:r>
                              </m:oMath>
                            </m:oMathPara>
                          </a14:m>
                          <a:endParaRPr lang="zh-TW" altLang="en-US" b="0" dirty="0">
                            <a:latin typeface="Times New Roman" panose="02020603050405020304" pitchFamily="18" charset="0"/>
                            <a:cs typeface="Times New Roman" panose="02020603050405020304" pitchFamily="18" charset="0"/>
                          </a:endParaRPr>
                        </a:p>
                      </a:txBody>
                      <a:tcPr/>
                    </a:tc>
                    <a:tc>
                      <a:txBody>
                        <a:bodyPr/>
                        <a:lstStyle/>
                        <a:p>
                          <a:pPr algn="ctr"/>
                          <a:r>
                            <a:rPr lang="en-US" altLang="zh-TW" b="0" dirty="0">
                              <a:latin typeface="Times New Roman" panose="02020603050405020304" pitchFamily="18" charset="0"/>
                              <a:cs typeface="Times New Roman" panose="02020603050405020304" pitchFamily="18" charset="0"/>
                            </a:rPr>
                            <a:t>0</a:t>
                          </a:r>
                          <a:endParaRPr lang="zh-TW" altLang="en-US" b="0" dirty="0">
                            <a:latin typeface="Times New Roman" panose="02020603050405020304" pitchFamily="18" charset="0"/>
                            <a:cs typeface="Times New Roman" panose="02020603050405020304" pitchFamily="18" charset="0"/>
                          </a:endParaRPr>
                        </a:p>
                      </a:txBody>
                      <a:tcPr/>
                    </a:tc>
                    <a:tc>
                      <a:txBody>
                        <a:bodyPr/>
                        <a:lstStyle/>
                        <a:p>
                          <a:pPr algn="ctr"/>
                          <a:r>
                            <a:rPr lang="en-US" altLang="zh-TW" b="0" dirty="0">
                              <a:latin typeface="Times New Roman" panose="02020603050405020304" pitchFamily="18" charset="0"/>
                              <a:cs typeface="Times New Roman" panose="02020603050405020304" pitchFamily="18" charset="0"/>
                            </a:rPr>
                            <a:t>0</a:t>
                          </a:r>
                          <a:endParaRPr lang="zh-TW" altLang="en-US" b="0" dirty="0">
                            <a:latin typeface="Times New Roman" panose="02020603050405020304" pitchFamily="18" charset="0"/>
                            <a:cs typeface="Times New Roman" panose="02020603050405020304" pitchFamily="18" charset="0"/>
                          </a:endParaRPr>
                        </a:p>
                      </a:txBody>
                      <a:tcPr/>
                    </a:tc>
                    <a:tc>
                      <a:txBody>
                        <a:bodyPr/>
                        <a:lstStyle/>
                        <a:p>
                          <a:pPr algn="ctr"/>
                          <a:r>
                            <a:rPr lang="en-US" altLang="zh-TW" b="0" dirty="0">
                              <a:latin typeface="Times New Roman" panose="02020603050405020304" pitchFamily="18" charset="0"/>
                              <a:cs typeface="Times New Roman" panose="02020603050405020304" pitchFamily="18" charset="0"/>
                            </a:rPr>
                            <a:t>1</a:t>
                          </a:r>
                          <a:endParaRPr lang="zh-TW" altLang="en-US"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96106356"/>
                      </a:ext>
                    </a:extLst>
                  </a:tr>
                </a:tbl>
              </a:graphicData>
            </a:graphic>
          </p:graphicFrame>
        </mc:Choice>
        <mc:Fallback xmlns="">
          <p:graphicFrame>
            <p:nvGraphicFramePr>
              <p:cNvPr id="24" name="Table 23">
                <a:extLst>
                  <a:ext uri="{FF2B5EF4-FFF2-40B4-BE49-F238E27FC236}">
                    <a16:creationId xmlns:a16="http://schemas.microsoft.com/office/drawing/2014/main" id="{EB0A8732-EDA2-13D7-DB97-5EC6D92F33F4}"/>
                  </a:ext>
                </a:extLst>
              </p:cNvPr>
              <p:cNvGraphicFramePr>
                <a:graphicFrameLocks noGrp="1"/>
              </p:cNvGraphicFramePr>
              <p:nvPr>
                <p:extLst>
                  <p:ext uri="{D42A27DB-BD31-4B8C-83A1-F6EECF244321}">
                    <p14:modId xmlns:p14="http://schemas.microsoft.com/office/powerpoint/2010/main" val="2466293168"/>
                  </p:ext>
                </p:extLst>
              </p:nvPr>
            </p:nvGraphicFramePr>
            <p:xfrm>
              <a:off x="7886918" y="1099236"/>
              <a:ext cx="3319272" cy="1854200"/>
            </p:xfrm>
            <a:graphic>
              <a:graphicData uri="http://schemas.openxmlformats.org/drawingml/2006/table">
                <a:tbl>
                  <a:tblPr firstRow="1" bandRow="1">
                    <a:tableStyleId>{5940675A-B579-460E-94D1-54222C63F5DA}</a:tableStyleId>
                  </a:tblPr>
                  <a:tblGrid>
                    <a:gridCol w="829818">
                      <a:extLst>
                        <a:ext uri="{9D8B030D-6E8A-4147-A177-3AD203B41FA5}">
                          <a16:colId xmlns:a16="http://schemas.microsoft.com/office/drawing/2014/main" val="1657116828"/>
                        </a:ext>
                      </a:extLst>
                    </a:gridCol>
                    <a:gridCol w="829818">
                      <a:extLst>
                        <a:ext uri="{9D8B030D-6E8A-4147-A177-3AD203B41FA5}">
                          <a16:colId xmlns:a16="http://schemas.microsoft.com/office/drawing/2014/main" val="648684938"/>
                        </a:ext>
                      </a:extLst>
                    </a:gridCol>
                    <a:gridCol w="829818">
                      <a:extLst>
                        <a:ext uri="{9D8B030D-6E8A-4147-A177-3AD203B41FA5}">
                          <a16:colId xmlns:a16="http://schemas.microsoft.com/office/drawing/2014/main" val="124047690"/>
                        </a:ext>
                      </a:extLst>
                    </a:gridCol>
                    <a:gridCol w="829818">
                      <a:extLst>
                        <a:ext uri="{9D8B030D-6E8A-4147-A177-3AD203B41FA5}">
                          <a16:colId xmlns:a16="http://schemas.microsoft.com/office/drawing/2014/main" val="2625874733"/>
                        </a:ext>
                      </a:extLst>
                    </a:gridCol>
                  </a:tblGrid>
                  <a:tr h="370840">
                    <a:tc>
                      <a:txBody>
                        <a:bodyPr/>
                        <a:lstStyle/>
                        <a:p>
                          <a:pPr algn="ctr"/>
                          <a:r>
                            <a:rPr lang="en-US" altLang="zh-TW" b="0" dirty="0" err="1">
                              <a:latin typeface="Times New Roman" panose="02020603050405020304" pitchFamily="18" charset="0"/>
                              <a:cs typeface="Times New Roman" panose="02020603050405020304" pitchFamily="18" charset="0"/>
                            </a:rPr>
                            <a:t>i</a:t>
                          </a:r>
                          <a:endParaRPr lang="zh-TW" altLang="en-US" b="0" dirty="0">
                            <a:latin typeface="Times New Roman" panose="02020603050405020304" pitchFamily="18" charset="0"/>
                            <a:cs typeface="Times New Roman" panose="02020603050405020304" pitchFamily="18" charset="0"/>
                          </a:endParaRPr>
                        </a:p>
                      </a:txBody>
                      <a:tcPr/>
                    </a:tc>
                    <a:tc>
                      <a:txBody>
                        <a:bodyPr/>
                        <a:lstStyle/>
                        <a:p>
                          <a:pPr algn="ctr"/>
                          <a:r>
                            <a:rPr lang="en-US" altLang="zh-TW" b="0" dirty="0">
                              <a:latin typeface="Times New Roman" panose="02020603050405020304" pitchFamily="18" charset="0"/>
                              <a:cs typeface="Times New Roman" panose="02020603050405020304" pitchFamily="18" charset="0"/>
                            </a:rPr>
                            <a:t>4</a:t>
                          </a:r>
                          <a:endParaRPr lang="zh-TW" altLang="en-US" b="0" dirty="0">
                            <a:latin typeface="Times New Roman" panose="02020603050405020304" pitchFamily="18" charset="0"/>
                            <a:cs typeface="Times New Roman" panose="02020603050405020304" pitchFamily="18" charset="0"/>
                          </a:endParaRPr>
                        </a:p>
                      </a:txBody>
                      <a:tcPr/>
                    </a:tc>
                    <a:tc>
                      <a:txBody>
                        <a:bodyPr/>
                        <a:lstStyle/>
                        <a:p>
                          <a:pPr algn="ctr"/>
                          <a:r>
                            <a:rPr lang="en-US" altLang="zh-TW" b="0" dirty="0">
                              <a:latin typeface="Times New Roman" panose="02020603050405020304" pitchFamily="18" charset="0"/>
                              <a:cs typeface="Times New Roman" panose="02020603050405020304" pitchFamily="18" charset="0"/>
                            </a:rPr>
                            <a:t>5</a:t>
                          </a:r>
                          <a:endParaRPr lang="zh-TW" altLang="en-US" b="0" dirty="0">
                            <a:latin typeface="Times New Roman" panose="02020603050405020304" pitchFamily="18" charset="0"/>
                            <a:cs typeface="Times New Roman" panose="02020603050405020304" pitchFamily="18" charset="0"/>
                          </a:endParaRPr>
                        </a:p>
                      </a:txBody>
                      <a:tcPr/>
                    </a:tc>
                    <a:tc>
                      <a:txBody>
                        <a:bodyPr/>
                        <a:lstStyle/>
                        <a:p>
                          <a:pPr algn="ctr"/>
                          <a:r>
                            <a:rPr lang="en-US" altLang="zh-TW" b="0" dirty="0">
                              <a:latin typeface="Times New Roman" panose="02020603050405020304" pitchFamily="18" charset="0"/>
                              <a:cs typeface="Times New Roman" panose="02020603050405020304" pitchFamily="18" charset="0"/>
                            </a:rPr>
                            <a:t>6</a:t>
                          </a:r>
                          <a:endParaRPr lang="zh-TW" altLang="en-US"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63404415"/>
                      </a:ext>
                    </a:extLst>
                  </a:tr>
                  <a:tr h="370840">
                    <a:tc>
                      <a:txBody>
                        <a:bodyPr/>
                        <a:lstStyle/>
                        <a:p>
                          <a:pPr algn="ctr"/>
                          <a:r>
                            <a:rPr lang="en-US" altLang="zh-TW" b="0" i="1" dirty="0">
                              <a:latin typeface="Times New Roman" panose="02020603050405020304" pitchFamily="18" charset="0"/>
                              <a:cs typeface="Times New Roman" panose="02020603050405020304" pitchFamily="18" charset="0"/>
                            </a:rPr>
                            <a:t>T</a:t>
                          </a:r>
                          <a:r>
                            <a:rPr lang="en-US" altLang="zh-TW" b="0" i="0" dirty="0">
                              <a:latin typeface="Times New Roman" panose="02020603050405020304" pitchFamily="18" charset="0"/>
                              <a:cs typeface="Times New Roman" panose="02020603050405020304" pitchFamily="18" charset="0"/>
                            </a:rPr>
                            <a:t>[</a:t>
                          </a:r>
                          <a:r>
                            <a:rPr lang="en-US" altLang="zh-TW" b="0" i="1" dirty="0" err="1">
                              <a:latin typeface="Times New Roman" panose="02020603050405020304" pitchFamily="18" charset="0"/>
                              <a:cs typeface="Times New Roman" panose="02020603050405020304" pitchFamily="18" charset="0"/>
                            </a:rPr>
                            <a:t>i</a:t>
                          </a:r>
                          <a:r>
                            <a:rPr lang="en-US" altLang="zh-TW" b="0" i="0" dirty="0">
                              <a:latin typeface="Times New Roman" panose="02020603050405020304" pitchFamily="18" charset="0"/>
                              <a:cs typeface="Times New Roman" panose="02020603050405020304" pitchFamily="18" charset="0"/>
                            </a:rPr>
                            <a:t>]</a:t>
                          </a:r>
                          <a:endParaRPr lang="zh-TW" altLang="en-US" b="0" i="0" dirty="0">
                            <a:latin typeface="Times New Roman" panose="02020603050405020304" pitchFamily="18" charset="0"/>
                            <a:cs typeface="Times New Roman" panose="02020603050405020304" pitchFamily="18" charset="0"/>
                          </a:endParaRPr>
                        </a:p>
                      </a:txBody>
                      <a:tcPr/>
                    </a:tc>
                    <a:tc>
                      <a:txBody>
                        <a:bodyPr/>
                        <a:lstStyle/>
                        <a:p>
                          <a:pPr algn="ctr"/>
                          <a:r>
                            <a:rPr lang="en-US" altLang="zh-TW" b="0" dirty="0">
                              <a:latin typeface="Times New Roman" panose="02020603050405020304" pitchFamily="18" charset="0"/>
                              <a:cs typeface="Times New Roman" panose="02020603050405020304" pitchFamily="18" charset="0"/>
                            </a:rPr>
                            <a:t>32</a:t>
                          </a:r>
                          <a:endParaRPr lang="zh-TW" altLang="en-US" b="0" dirty="0">
                            <a:latin typeface="Times New Roman" panose="02020603050405020304" pitchFamily="18" charset="0"/>
                            <a:cs typeface="Times New Roman" panose="02020603050405020304" pitchFamily="18" charset="0"/>
                          </a:endParaRPr>
                        </a:p>
                      </a:txBody>
                      <a:tcPr/>
                    </a:tc>
                    <a:tc>
                      <a:txBody>
                        <a:bodyPr/>
                        <a:lstStyle/>
                        <a:p>
                          <a:pPr algn="ctr"/>
                          <a:r>
                            <a:rPr lang="en-US" altLang="zh-TW" b="0" dirty="0">
                              <a:latin typeface="Times New Roman" panose="02020603050405020304" pitchFamily="18" charset="0"/>
                              <a:cs typeface="Times New Roman" panose="02020603050405020304" pitchFamily="18" charset="0"/>
                            </a:rPr>
                            <a:t>12</a:t>
                          </a:r>
                          <a:endParaRPr lang="zh-TW" altLang="en-US" b="0" dirty="0">
                            <a:latin typeface="Times New Roman" panose="02020603050405020304" pitchFamily="18" charset="0"/>
                            <a:cs typeface="Times New Roman" panose="02020603050405020304" pitchFamily="18" charset="0"/>
                          </a:endParaRPr>
                        </a:p>
                      </a:txBody>
                      <a:tcPr/>
                    </a:tc>
                    <a:tc>
                      <a:txBody>
                        <a:bodyPr/>
                        <a:lstStyle/>
                        <a:p>
                          <a:pPr algn="ctr"/>
                          <a:r>
                            <a:rPr lang="en-US" altLang="zh-TW" b="0" dirty="0">
                              <a:latin typeface="Times New Roman" panose="02020603050405020304" pitchFamily="18" charset="0"/>
                              <a:cs typeface="Times New Roman" panose="02020603050405020304" pitchFamily="18" charset="0"/>
                            </a:rPr>
                            <a:t>32</a:t>
                          </a:r>
                          <a:endParaRPr lang="zh-TW" altLang="en-US"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6742959"/>
                      </a:ext>
                    </a:extLst>
                  </a:tr>
                  <a:tr h="370840">
                    <a:tc>
                      <a:txBody>
                        <a:bodyPr/>
                        <a:lstStyle/>
                        <a:p>
                          <a:endParaRPr lang="zh-TW"/>
                        </a:p>
                      </a:txBody>
                      <a:tcPr>
                        <a:blipFill>
                          <a:blip r:embed="rId5"/>
                          <a:stretch>
                            <a:fillRect l="-730" t="-208197" r="-300000" b="-224590"/>
                          </a:stretch>
                        </a:blipFill>
                      </a:tcPr>
                    </a:tc>
                    <a:tc>
                      <a:txBody>
                        <a:bodyPr/>
                        <a:lstStyle/>
                        <a:p>
                          <a:pPr algn="ctr"/>
                          <a:r>
                            <a:rPr lang="en-US" altLang="zh-TW" b="0" dirty="0">
                              <a:latin typeface="Times New Roman" panose="02020603050405020304" pitchFamily="18" charset="0"/>
                              <a:cs typeface="Times New Roman" panose="02020603050405020304" pitchFamily="18" charset="0"/>
                            </a:rPr>
                            <a:t>0</a:t>
                          </a:r>
                          <a:endParaRPr lang="zh-TW" altLang="en-US" b="0" dirty="0">
                            <a:latin typeface="Times New Roman" panose="02020603050405020304" pitchFamily="18" charset="0"/>
                            <a:cs typeface="Times New Roman" panose="02020603050405020304" pitchFamily="18" charset="0"/>
                          </a:endParaRPr>
                        </a:p>
                      </a:txBody>
                      <a:tcPr/>
                    </a:tc>
                    <a:tc>
                      <a:txBody>
                        <a:bodyPr/>
                        <a:lstStyle/>
                        <a:p>
                          <a:pPr algn="ctr"/>
                          <a:r>
                            <a:rPr lang="en-US" altLang="zh-TW" b="0" dirty="0">
                              <a:latin typeface="Times New Roman" panose="02020603050405020304" pitchFamily="18" charset="0"/>
                              <a:cs typeface="Times New Roman" panose="02020603050405020304" pitchFamily="18" charset="0"/>
                            </a:rPr>
                            <a:t>0</a:t>
                          </a:r>
                          <a:endParaRPr lang="zh-TW" altLang="en-US" b="0" dirty="0">
                            <a:latin typeface="Times New Roman" panose="02020603050405020304" pitchFamily="18" charset="0"/>
                            <a:cs typeface="Times New Roman" panose="02020603050405020304" pitchFamily="18" charset="0"/>
                          </a:endParaRPr>
                        </a:p>
                      </a:txBody>
                      <a:tcPr/>
                    </a:tc>
                    <a:tc>
                      <a:txBody>
                        <a:bodyPr/>
                        <a:lstStyle/>
                        <a:p>
                          <a:pPr algn="ctr"/>
                          <a:r>
                            <a:rPr lang="en-US" altLang="zh-TW" b="0" dirty="0">
                              <a:latin typeface="Times New Roman" panose="02020603050405020304" pitchFamily="18" charset="0"/>
                              <a:cs typeface="Times New Roman" panose="02020603050405020304" pitchFamily="18" charset="0"/>
                            </a:rPr>
                            <a:t>2</a:t>
                          </a:r>
                        </a:p>
                      </a:txBody>
                      <a:tcPr/>
                    </a:tc>
                    <a:extLst>
                      <a:ext uri="{0D108BD9-81ED-4DB2-BD59-A6C34878D82A}">
                        <a16:rowId xmlns:a16="http://schemas.microsoft.com/office/drawing/2014/main" val="4094970844"/>
                      </a:ext>
                    </a:extLst>
                  </a:tr>
                  <a:tr h="370840">
                    <a:tc>
                      <a:txBody>
                        <a:bodyPr/>
                        <a:lstStyle/>
                        <a:p>
                          <a:pPr algn="ctr"/>
                          <a:r>
                            <a:rPr lang="en-US" altLang="zh-TW" b="0" i="1" dirty="0">
                              <a:latin typeface="Times New Roman" panose="02020603050405020304" pitchFamily="18" charset="0"/>
                              <a:cs typeface="Times New Roman" panose="02020603050405020304" pitchFamily="18" charset="0"/>
                            </a:rPr>
                            <a:t>P</a:t>
                          </a:r>
                          <a:r>
                            <a:rPr lang="en-US" altLang="zh-TW" b="0" i="0" dirty="0">
                              <a:latin typeface="Times New Roman" panose="02020603050405020304" pitchFamily="18" charset="0"/>
                              <a:cs typeface="Times New Roman" panose="02020603050405020304" pitchFamily="18" charset="0"/>
                            </a:rPr>
                            <a:t>[</a:t>
                          </a:r>
                          <a:r>
                            <a:rPr lang="en-US" altLang="zh-TW" b="0" i="1" dirty="0" err="1">
                              <a:latin typeface="Times New Roman" panose="02020603050405020304" pitchFamily="18" charset="0"/>
                              <a:cs typeface="Times New Roman" panose="02020603050405020304" pitchFamily="18" charset="0"/>
                            </a:rPr>
                            <a:t>i</a:t>
                          </a:r>
                          <a:r>
                            <a:rPr lang="en-US" altLang="zh-TW" b="0" i="0" dirty="0">
                              <a:latin typeface="Times New Roman" panose="02020603050405020304" pitchFamily="18" charset="0"/>
                              <a:cs typeface="Times New Roman" panose="02020603050405020304" pitchFamily="18" charset="0"/>
                            </a:rPr>
                            <a:t>]</a:t>
                          </a:r>
                          <a:endParaRPr lang="zh-TW" altLang="en-US" b="0" i="0" dirty="0">
                            <a:latin typeface="Times New Roman" panose="02020603050405020304" pitchFamily="18" charset="0"/>
                            <a:cs typeface="Times New Roman" panose="02020603050405020304" pitchFamily="18" charset="0"/>
                          </a:endParaRPr>
                        </a:p>
                      </a:txBody>
                      <a:tcPr/>
                    </a:tc>
                    <a:tc>
                      <a:txBody>
                        <a:bodyPr/>
                        <a:lstStyle/>
                        <a:p>
                          <a:pPr algn="ctr"/>
                          <a:r>
                            <a:rPr lang="en-US" altLang="zh-TW" b="0" dirty="0">
                              <a:latin typeface="Times New Roman" panose="02020603050405020304" pitchFamily="18" charset="0"/>
                              <a:cs typeface="Times New Roman" panose="02020603050405020304" pitchFamily="18" charset="0"/>
                            </a:rPr>
                            <a:t>40</a:t>
                          </a:r>
                          <a:endParaRPr lang="zh-TW" altLang="en-US" b="0" dirty="0">
                            <a:latin typeface="Times New Roman" panose="02020603050405020304" pitchFamily="18" charset="0"/>
                            <a:cs typeface="Times New Roman" panose="02020603050405020304" pitchFamily="18" charset="0"/>
                          </a:endParaRPr>
                        </a:p>
                      </a:txBody>
                      <a:tcPr/>
                    </a:tc>
                    <a:tc>
                      <a:txBody>
                        <a:bodyPr/>
                        <a:lstStyle/>
                        <a:p>
                          <a:pPr algn="ctr"/>
                          <a:r>
                            <a:rPr lang="en-US" altLang="zh-TW" b="0" dirty="0">
                              <a:latin typeface="Times New Roman" panose="02020603050405020304" pitchFamily="18" charset="0"/>
                              <a:cs typeface="Times New Roman" panose="02020603050405020304" pitchFamily="18" charset="0"/>
                            </a:rPr>
                            <a:t>28</a:t>
                          </a:r>
                          <a:endParaRPr lang="zh-TW" altLang="en-US" b="0" dirty="0">
                            <a:latin typeface="Times New Roman" panose="02020603050405020304" pitchFamily="18" charset="0"/>
                            <a:cs typeface="Times New Roman" panose="02020603050405020304" pitchFamily="18" charset="0"/>
                          </a:endParaRPr>
                        </a:p>
                      </a:txBody>
                      <a:tcPr/>
                    </a:tc>
                    <a:tc>
                      <a:txBody>
                        <a:bodyPr/>
                        <a:lstStyle/>
                        <a:p>
                          <a:pPr algn="ctr"/>
                          <a:r>
                            <a:rPr lang="en-US" altLang="zh-TW" b="0" dirty="0">
                              <a:latin typeface="Times New Roman" panose="02020603050405020304" pitchFamily="18" charset="0"/>
                              <a:cs typeface="Times New Roman" panose="02020603050405020304" pitchFamily="18" charset="0"/>
                            </a:rPr>
                            <a:t>30</a:t>
                          </a:r>
                          <a:endParaRPr lang="zh-TW" altLang="en-US"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05832946"/>
                      </a:ext>
                    </a:extLst>
                  </a:tr>
                  <a:tr h="370840">
                    <a:tc>
                      <a:txBody>
                        <a:bodyPr/>
                        <a:lstStyle/>
                        <a:p>
                          <a:endParaRPr lang="zh-TW"/>
                        </a:p>
                      </a:txBody>
                      <a:tcPr>
                        <a:blipFill>
                          <a:blip r:embed="rId5"/>
                          <a:stretch>
                            <a:fillRect l="-730" t="-408197" r="-300000" b="-24590"/>
                          </a:stretch>
                        </a:blipFill>
                      </a:tcPr>
                    </a:tc>
                    <a:tc>
                      <a:txBody>
                        <a:bodyPr/>
                        <a:lstStyle/>
                        <a:p>
                          <a:pPr algn="ctr"/>
                          <a:r>
                            <a:rPr lang="en-US" altLang="zh-TW" b="0" dirty="0">
                              <a:latin typeface="Times New Roman" panose="02020603050405020304" pitchFamily="18" charset="0"/>
                              <a:cs typeface="Times New Roman" panose="02020603050405020304" pitchFamily="18" charset="0"/>
                            </a:rPr>
                            <a:t>0</a:t>
                          </a:r>
                          <a:endParaRPr lang="zh-TW" altLang="en-US" b="0" dirty="0">
                            <a:latin typeface="Times New Roman" panose="02020603050405020304" pitchFamily="18" charset="0"/>
                            <a:cs typeface="Times New Roman" panose="02020603050405020304" pitchFamily="18" charset="0"/>
                          </a:endParaRPr>
                        </a:p>
                      </a:txBody>
                      <a:tcPr/>
                    </a:tc>
                    <a:tc>
                      <a:txBody>
                        <a:bodyPr/>
                        <a:lstStyle/>
                        <a:p>
                          <a:pPr algn="ctr"/>
                          <a:r>
                            <a:rPr lang="en-US" altLang="zh-TW" b="0" dirty="0">
                              <a:latin typeface="Times New Roman" panose="02020603050405020304" pitchFamily="18" charset="0"/>
                              <a:cs typeface="Times New Roman" panose="02020603050405020304" pitchFamily="18" charset="0"/>
                            </a:rPr>
                            <a:t>0</a:t>
                          </a:r>
                          <a:endParaRPr lang="zh-TW" altLang="en-US" b="0" dirty="0">
                            <a:latin typeface="Times New Roman" panose="02020603050405020304" pitchFamily="18" charset="0"/>
                            <a:cs typeface="Times New Roman" panose="02020603050405020304" pitchFamily="18" charset="0"/>
                          </a:endParaRPr>
                        </a:p>
                      </a:txBody>
                      <a:tcPr/>
                    </a:tc>
                    <a:tc>
                      <a:txBody>
                        <a:bodyPr/>
                        <a:lstStyle/>
                        <a:p>
                          <a:pPr algn="ctr"/>
                          <a:r>
                            <a:rPr lang="en-US" altLang="zh-TW" b="0" dirty="0">
                              <a:latin typeface="Times New Roman" panose="02020603050405020304" pitchFamily="18" charset="0"/>
                              <a:cs typeface="Times New Roman" panose="02020603050405020304" pitchFamily="18" charset="0"/>
                            </a:rPr>
                            <a:t>1</a:t>
                          </a:r>
                          <a:endParaRPr lang="zh-TW" altLang="en-US"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96106356"/>
                      </a:ext>
                    </a:extLst>
                  </a:tr>
                </a:tbl>
              </a:graphicData>
            </a:graphic>
          </p:graphicFrame>
        </mc:Fallback>
      </mc:AlternateContent>
      <p:sp>
        <p:nvSpPr>
          <p:cNvPr id="25" name="Rectangle 24">
            <a:extLst>
              <a:ext uri="{FF2B5EF4-FFF2-40B4-BE49-F238E27FC236}">
                <a16:creationId xmlns:a16="http://schemas.microsoft.com/office/drawing/2014/main" id="{0717FB78-6CD5-7A60-EA1E-13DE0631EEDB}"/>
              </a:ext>
            </a:extLst>
          </p:cNvPr>
          <p:cNvSpPr/>
          <p:nvPr/>
        </p:nvSpPr>
        <p:spPr>
          <a:xfrm>
            <a:off x="7707521" y="1800534"/>
            <a:ext cx="3614493" cy="464498"/>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Rectangle 25">
            <a:extLst>
              <a:ext uri="{FF2B5EF4-FFF2-40B4-BE49-F238E27FC236}">
                <a16:creationId xmlns:a16="http://schemas.microsoft.com/office/drawing/2014/main" id="{2F55C639-3E87-E99A-74C8-BB6469D84A1B}"/>
              </a:ext>
            </a:extLst>
          </p:cNvPr>
          <p:cNvSpPr/>
          <p:nvPr/>
        </p:nvSpPr>
        <p:spPr>
          <a:xfrm>
            <a:off x="7739307" y="2548099"/>
            <a:ext cx="3614493" cy="464498"/>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p14="http://schemas.microsoft.com/office/powerpoint/2010/main" Requires="p14">
          <p:contentPart p14:bwMode="auto" r:id="rId6">
            <p14:nvContentPartPr>
              <p14:cNvPr id="3" name="筆跡 2">
                <a:extLst>
                  <a:ext uri="{FF2B5EF4-FFF2-40B4-BE49-F238E27FC236}">
                    <a16:creationId xmlns:a16="http://schemas.microsoft.com/office/drawing/2014/main" id="{AE063531-7BDC-4953-F20B-9A4D0244B74C}"/>
                  </a:ext>
                </a:extLst>
              </p14:cNvPr>
              <p14:cNvContentPartPr/>
              <p14:nvPr/>
            </p14:nvContentPartPr>
            <p14:xfrm>
              <a:off x="9081360" y="3044880"/>
              <a:ext cx="232560" cy="455760"/>
            </p14:xfrm>
          </p:contentPart>
        </mc:Choice>
        <mc:Fallback>
          <p:pic>
            <p:nvPicPr>
              <p:cNvPr id="3" name="筆跡 2">
                <a:extLst>
                  <a:ext uri="{FF2B5EF4-FFF2-40B4-BE49-F238E27FC236}">
                    <a16:creationId xmlns:a16="http://schemas.microsoft.com/office/drawing/2014/main" id="{AE063531-7BDC-4953-F20B-9A4D0244B74C}"/>
                  </a:ext>
                </a:extLst>
              </p:cNvPr>
              <p:cNvPicPr/>
              <p:nvPr/>
            </p:nvPicPr>
            <p:blipFill>
              <a:blip r:embed="rId7"/>
              <a:stretch>
                <a:fillRect/>
              </a:stretch>
            </p:blipFill>
            <p:spPr>
              <a:xfrm>
                <a:off x="9065520" y="2981520"/>
                <a:ext cx="263880" cy="5824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4" name="筆跡 3">
                <a:extLst>
                  <a:ext uri="{FF2B5EF4-FFF2-40B4-BE49-F238E27FC236}">
                    <a16:creationId xmlns:a16="http://schemas.microsoft.com/office/drawing/2014/main" id="{004ED90F-C30F-35EF-2087-CA231BC8FC00}"/>
                  </a:ext>
                </a:extLst>
              </p14:cNvPr>
              <p14:cNvContentPartPr/>
              <p14:nvPr/>
            </p14:nvContentPartPr>
            <p14:xfrm>
              <a:off x="9295920" y="3044880"/>
              <a:ext cx="143280" cy="223920"/>
            </p14:xfrm>
          </p:contentPart>
        </mc:Choice>
        <mc:Fallback>
          <p:pic>
            <p:nvPicPr>
              <p:cNvPr id="4" name="筆跡 3">
                <a:extLst>
                  <a:ext uri="{FF2B5EF4-FFF2-40B4-BE49-F238E27FC236}">
                    <a16:creationId xmlns:a16="http://schemas.microsoft.com/office/drawing/2014/main" id="{004ED90F-C30F-35EF-2087-CA231BC8FC00}"/>
                  </a:ext>
                </a:extLst>
              </p:cNvPr>
              <p:cNvPicPr/>
              <p:nvPr/>
            </p:nvPicPr>
            <p:blipFill>
              <a:blip r:embed="rId9"/>
              <a:stretch>
                <a:fillRect/>
              </a:stretch>
            </p:blipFill>
            <p:spPr>
              <a:xfrm>
                <a:off x="9280080" y="2981520"/>
                <a:ext cx="174600" cy="350640"/>
              </a:xfrm>
              <a:prstGeom prst="rect">
                <a:avLst/>
              </a:prstGeom>
            </p:spPr>
          </p:pic>
        </mc:Fallback>
      </mc:AlternateContent>
    </p:spTree>
    <p:extLst>
      <p:ext uri="{BB962C8B-B14F-4D97-AF65-F5344CB8AC3E}">
        <p14:creationId xmlns:p14="http://schemas.microsoft.com/office/powerpoint/2010/main" val="390838372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q-grams</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7</a:t>
            </a:fld>
            <a:endParaRPr lang="zh-TW" altLang="en-US" dirty="0"/>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fr-FR" altLang="zh-TW" sz="2000" i="1" dirty="0">
                <a:latin typeface="Times New Roman" panose="02020603050405020304" pitchFamily="18" charset="0"/>
                <a:cs typeface="Times New Roman" panose="02020603050405020304" pitchFamily="18" charset="0"/>
              </a:rPr>
              <a:t>P = </a:t>
            </a:r>
            <a:r>
              <a:rPr kumimoji="1" lang="fr-FR" altLang="zh-TW" sz="2000" dirty="0">
                <a:latin typeface="Times New Roman" panose="02020603050405020304" pitchFamily="18" charset="0"/>
                <a:cs typeface="Times New Roman" panose="02020603050405020304" pitchFamily="18" charset="0"/>
              </a:rPr>
              <a:t>(35, 40, 23, 40, 40, 28, 30)</a:t>
            </a:r>
          </a:p>
          <a:p>
            <a:r>
              <a:rPr kumimoji="1" lang="pt-BR" altLang="zh-TW" sz="2000" i="1" dirty="0">
                <a:latin typeface="Times New Roman" panose="02020603050405020304" pitchFamily="18" charset="0"/>
                <a:cs typeface="Times New Roman" panose="02020603050405020304" pitchFamily="18" charset="0"/>
              </a:rPr>
              <a:t>T = </a:t>
            </a:r>
            <a:r>
              <a:rPr kumimoji="1" lang="pt-BR" altLang="zh-TW" sz="2000" dirty="0">
                <a:latin typeface="Times New Roman" panose="02020603050405020304" pitchFamily="18" charset="0"/>
                <a:cs typeface="Times New Roman" panose="02020603050405020304" pitchFamily="18" charset="0"/>
              </a:rPr>
              <a:t>(10, 20, 15, 28, 32, 12, 32, 32, 20, 25, 15, 25)</a:t>
            </a:r>
          </a:p>
          <a:p>
            <a:r>
              <a:rPr kumimoji="1" lang="pt-BR" altLang="zh-TW" sz="2000" dirty="0">
                <a:latin typeface="Times New Roman" panose="02020603050405020304" pitchFamily="18" charset="0"/>
                <a:cs typeface="Times New Roman" panose="02020603050405020304" pitchFamily="18" charset="0"/>
              </a:rPr>
              <a:t>Ex. 3-grams</a:t>
            </a:r>
          </a:p>
          <a:p>
            <a:endParaRPr kumimoji="1" lang="pt-BR" altLang="zh-TW" sz="2000" dirty="0">
              <a:latin typeface="標楷體" panose="03000509000000000000" pitchFamily="65" charset="-120"/>
              <a:ea typeface="標楷體" panose="03000509000000000000" pitchFamily="65" charset="-120"/>
              <a:cs typeface="Times New Roman" panose="02020603050405020304" pitchFamily="18" charset="0"/>
            </a:endParaRPr>
          </a:p>
        </p:txBody>
      </p:sp>
      <p:pic>
        <p:nvPicPr>
          <p:cNvPr id="12" name="Picture 11">
            <a:extLst>
              <a:ext uri="{FF2B5EF4-FFF2-40B4-BE49-F238E27FC236}">
                <a16:creationId xmlns:a16="http://schemas.microsoft.com/office/drawing/2014/main" id="{2E6A93D5-85F7-8C53-DD8E-05DCEA1F3842}"/>
              </a:ext>
            </a:extLst>
          </p:cNvPr>
          <p:cNvPicPr>
            <a:picLocks noChangeAspect="1"/>
          </p:cNvPicPr>
          <p:nvPr/>
        </p:nvPicPr>
        <p:blipFill rotWithShape="1">
          <a:blip r:embed="rId3"/>
          <a:srcRect t="1" b="-78"/>
          <a:stretch/>
        </p:blipFill>
        <p:spPr>
          <a:xfrm>
            <a:off x="838200" y="3065376"/>
            <a:ext cx="6787896" cy="2368847"/>
          </a:xfrm>
          <a:prstGeom prst="rect">
            <a:avLst/>
          </a:prstGeom>
        </p:spPr>
      </p:pic>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B698CCC-505F-32F0-4267-273FF51521C7}"/>
                  </a:ext>
                </a:extLst>
              </p:cNvPr>
              <p:cNvSpPr txBox="1"/>
              <p:nvPr/>
            </p:nvSpPr>
            <p:spPr>
              <a:xfrm>
                <a:off x="6642027" y="4392996"/>
                <a:ext cx="5040957" cy="2352375"/>
              </a:xfrm>
              <a:prstGeom prst="rect">
                <a:avLst/>
              </a:prstGeom>
              <a:noFill/>
            </p:spPr>
            <p:txBody>
              <a:bodyPr wrap="square">
                <a:spAutoFit/>
              </a:bodyPr>
              <a:lstStyle/>
              <a:p>
                <a:pPr marL="285750" indent="-285750">
                  <a:buFont typeface="Arial" panose="020B0604020202020204" pitchFamily="34" charset="0"/>
                  <a:buChar char="•"/>
                </a:pPr>
                <a:r>
                  <a:rPr kumimoji="1" lang="pt-BR" altLang="zh-TW" sz="2000" dirty="0">
                    <a:latin typeface="Times New Roman" panose="02020603050405020304" pitchFamily="18" charset="0"/>
                    <a:cs typeface="Times New Roman" panose="02020603050405020304" pitchFamily="18" charset="0"/>
                  </a:rPr>
                  <a:t>shift</a:t>
                </a:r>
              </a:p>
              <a:p>
                <a:pPr/>
                <a14:m>
                  <m:oMathPara xmlns:m="http://schemas.openxmlformats.org/officeDocument/2006/math">
                    <m:oMathParaPr>
                      <m:jc m:val="centerGroup"/>
                    </m:oMathParaPr>
                    <m:oMath xmlns:m="http://schemas.openxmlformats.org/officeDocument/2006/math">
                      <m:r>
                        <a:rPr kumimoji="1" lang="en-US" altLang="zh-TW" sz="2400" b="0" i="1" smtClean="0">
                          <a:latin typeface="Cambria Math" panose="02040503050406030204" pitchFamily="18" charset="0"/>
                          <a:cs typeface="Times New Roman" panose="02020603050405020304" pitchFamily="18" charset="0"/>
                        </a:rPr>
                        <m:t>𝐷</m:t>
                      </m:r>
                      <m:d>
                        <m:dPr>
                          <m:begChr m:val="["/>
                          <m:endChr m:val="]"/>
                          <m:ctrlPr>
                            <a:rPr kumimoji="1" lang="en-US" altLang="zh-TW" sz="2400" b="0" i="1" smtClean="0">
                              <a:latin typeface="Cambria Math" panose="02040503050406030204" pitchFamily="18" charset="0"/>
                              <a:cs typeface="Times New Roman" panose="02020603050405020304" pitchFamily="18" charset="0"/>
                            </a:rPr>
                          </m:ctrlPr>
                        </m:dPr>
                        <m:e>
                          <m:r>
                            <a:rPr kumimoji="1" lang="en-US" altLang="zh-TW" sz="2400" b="0" i="1" smtClean="0">
                              <a:latin typeface="Cambria Math" panose="02040503050406030204" pitchFamily="18" charset="0"/>
                              <a:cs typeface="Times New Roman" panose="02020603050405020304" pitchFamily="18" charset="0"/>
                            </a:rPr>
                            <m:t>𝑓</m:t>
                          </m:r>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𝑥</m:t>
                          </m:r>
                          <m:r>
                            <a:rPr kumimoji="1" lang="en-US" altLang="zh-TW" sz="2400" b="0" i="1" smtClean="0">
                              <a:latin typeface="Cambria Math" panose="02040503050406030204" pitchFamily="18" charset="0"/>
                              <a:cs typeface="Times New Roman" panose="02020603050405020304" pitchFamily="18" charset="0"/>
                            </a:rPr>
                            <m:t>)</m:t>
                          </m:r>
                        </m:e>
                      </m:d>
                      <m:r>
                        <a:rPr kumimoji="1" lang="en-US" altLang="zh-TW" sz="2400" b="0" i="1" smtClean="0">
                          <a:latin typeface="Cambria Math" panose="02040503050406030204" pitchFamily="18" charset="0"/>
                          <a:cs typeface="Times New Roman" panose="02020603050405020304" pitchFamily="18" charset="0"/>
                        </a:rPr>
                        <m:t>=</m:t>
                      </m:r>
                      <m:r>
                        <m:rPr>
                          <m:sty m:val="p"/>
                        </m:rPr>
                        <a:rPr kumimoji="1" lang="en-US" altLang="zh-TW" sz="2400" b="0" i="0" smtClean="0">
                          <a:latin typeface="Cambria Math" panose="02040503050406030204" pitchFamily="18" charset="0"/>
                          <a:cs typeface="Times New Roman" panose="02020603050405020304" pitchFamily="18" charset="0"/>
                        </a:rPr>
                        <m:t>min</m:t>
                      </m:r>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𝑚</m:t>
                      </m:r>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𝑞</m:t>
                      </m:r>
                      <m:r>
                        <a:rPr kumimoji="1" lang="en-US" altLang="zh-TW" sz="2400" b="0" i="1" smtClean="0">
                          <a:latin typeface="Cambria Math" panose="02040503050406030204" pitchFamily="18" charset="0"/>
                          <a:cs typeface="Times New Roman" panose="02020603050405020304" pitchFamily="18" charset="0"/>
                        </a:rPr>
                        <m:t>+1, </m:t>
                      </m:r>
                      <m:r>
                        <a:rPr kumimoji="1" lang="en-US" altLang="zh-TW" sz="2400" b="0" i="1" smtClean="0">
                          <a:latin typeface="Cambria Math" panose="02040503050406030204" pitchFamily="18" charset="0"/>
                          <a:cs typeface="Times New Roman" panose="02020603050405020304" pitchFamily="18" charset="0"/>
                        </a:rPr>
                        <m:t>𝑚</m:t>
                      </m:r>
                      <m:r>
                        <a:rPr kumimoji="1" lang="en-US" altLang="zh-TW" sz="2400" b="0" i="1" smtClean="0">
                          <a:latin typeface="Cambria Math" panose="02040503050406030204" pitchFamily="18" charset="0"/>
                          <a:cs typeface="Times New Roman" panose="02020603050405020304" pitchFamily="18" charset="0"/>
                        </a:rPr>
                        <m:t>−</m:t>
                      </m:r>
                      <m:sSub>
                        <m:sSubPr>
                          <m:ctrlPr>
                            <a:rPr kumimoji="1" lang="en-US" altLang="zh-TW" sz="2400" b="0" i="1" smtClean="0">
                              <a:latin typeface="Cambria Math" panose="02040503050406030204" pitchFamily="18" charset="0"/>
                              <a:cs typeface="Times New Roman" panose="02020603050405020304" pitchFamily="18" charset="0"/>
                            </a:rPr>
                          </m:ctrlPr>
                        </m:sSubPr>
                        <m:e>
                          <m:r>
                            <a:rPr kumimoji="1" lang="en-US" altLang="zh-TW" sz="2400" b="0" i="1" smtClean="0">
                              <a:latin typeface="Cambria Math" panose="02040503050406030204" pitchFamily="18" charset="0"/>
                              <a:cs typeface="Times New Roman" panose="02020603050405020304" pitchFamily="18" charset="0"/>
                            </a:rPr>
                            <m:t>𝐿𝑚𝑎𝑥</m:t>
                          </m:r>
                        </m:e>
                        <m:sub>
                          <m:r>
                            <a:rPr kumimoji="1" lang="en-US" altLang="zh-TW" sz="2400" b="0" i="1" smtClean="0">
                              <a:latin typeface="Cambria Math" panose="02040503050406030204" pitchFamily="18" charset="0"/>
                              <a:cs typeface="Times New Roman" panose="02020603050405020304" pitchFamily="18" charset="0"/>
                            </a:rPr>
                            <m:t>𝑝</m:t>
                          </m:r>
                        </m:sub>
                      </m:sSub>
                      <m:r>
                        <a:rPr kumimoji="1" lang="en-US" altLang="zh-TW" sz="2400" b="0" i="1" smtClean="0">
                          <a:latin typeface="Cambria Math" panose="02040503050406030204" pitchFamily="18" charset="0"/>
                          <a:cs typeface="Times New Roman" panose="02020603050405020304" pitchFamily="18" charset="0"/>
                        </a:rPr>
                        <m:t>)</m:t>
                      </m:r>
                    </m:oMath>
                  </m:oMathPara>
                </a14:m>
                <a:endParaRPr kumimoji="1" lang="pt-BR" altLang="zh-TW"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kumimoji="1" lang="en-US" altLang="zh-TW" sz="2000" b="0" i="1" dirty="0">
                  <a:latin typeface="Cambria Math" panose="02040503050406030204" pitchFamily="18" charset="0"/>
                  <a:cs typeface="Times New Roman" panose="02020603050405020304" pitchFamily="18" charset="0"/>
                </a:endParaRPr>
              </a:p>
              <a:p>
                <a:pPr marL="285750" indent="-285750">
                  <a:buFont typeface="Arial" panose="020B0604020202020204" pitchFamily="34" charset="0"/>
                  <a:buChar char="•"/>
                </a:pPr>
                <a14:m>
                  <m:oMath xmlns:m="http://schemas.openxmlformats.org/officeDocument/2006/math">
                    <m:r>
                      <a:rPr kumimoji="1" lang="en-US" altLang="zh-TW" sz="2000" b="0" i="1" smtClean="0">
                        <a:latin typeface="Cambria Math" panose="02040503050406030204" pitchFamily="18" charset="0"/>
                        <a:cs typeface="Times New Roman" panose="02020603050405020304" pitchFamily="18" charset="0"/>
                      </a:rPr>
                      <m:t>𝐷</m:t>
                    </m:r>
                    <m:r>
                      <a:rPr kumimoji="1" lang="en-US" altLang="zh-TW" sz="2000" b="0" i="1" smtClean="0">
                        <a:latin typeface="Cambria Math" panose="02040503050406030204" pitchFamily="18" charset="0"/>
                        <a:cs typeface="Times New Roman" panose="02020603050405020304" pitchFamily="18" charset="0"/>
                      </a:rPr>
                      <m:t>[</m:t>
                    </m:r>
                    <m:r>
                      <a:rPr kumimoji="1" lang="en-US" altLang="zh-TW" sz="2000" b="0" i="1" smtClean="0">
                        <a:latin typeface="Cambria Math" panose="02040503050406030204" pitchFamily="18" charset="0"/>
                        <a:cs typeface="Times New Roman" panose="02020603050405020304" pitchFamily="18" charset="0"/>
                      </a:rPr>
                      <m:t>𝑓</m:t>
                    </m:r>
                    <m:d>
                      <m:dPr>
                        <m:endChr m:val="]"/>
                        <m:ctrlPr>
                          <a:rPr kumimoji="1" lang="en-US" altLang="zh-TW" sz="2000" b="0" i="1" smtClean="0">
                            <a:latin typeface="Cambria Math" panose="02040503050406030204" pitchFamily="18" charset="0"/>
                            <a:cs typeface="Times New Roman" panose="02020603050405020304" pitchFamily="18" charset="0"/>
                          </a:rPr>
                        </m:ctrlPr>
                      </m:dPr>
                      <m:e>
                        <m:r>
                          <a:rPr kumimoji="1" lang="en-US" altLang="zh-TW" sz="2000" b="0" i="1" smtClean="0">
                            <a:latin typeface="Cambria Math" panose="02040503050406030204" pitchFamily="18" charset="0"/>
                            <a:cs typeface="Times New Roman" panose="02020603050405020304" pitchFamily="18" charset="0"/>
                          </a:rPr>
                          <m:t>𝑇</m:t>
                        </m:r>
                        <m:r>
                          <a:rPr kumimoji="1" lang="en-US" altLang="zh-TW" sz="2000" b="0" i="1" smtClean="0">
                            <a:latin typeface="Cambria Math" panose="02040503050406030204" pitchFamily="18" charset="0"/>
                            <a:cs typeface="Times New Roman" panose="02020603050405020304" pitchFamily="18" charset="0"/>
                          </a:rPr>
                          <m:t>[4..6</m:t>
                        </m:r>
                      </m:e>
                    </m:d>
                    <m:r>
                      <a:rPr kumimoji="1" lang="en-US" altLang="zh-TW" sz="2000" b="0" i="1" smtClean="0">
                        <a:latin typeface="Cambria Math" panose="02040503050406030204" pitchFamily="18" charset="0"/>
                        <a:cs typeface="Times New Roman" panose="02020603050405020304" pitchFamily="18" charset="0"/>
                      </a:rPr>
                      <m:t>)]=</m:t>
                    </m:r>
                    <m:r>
                      <a:rPr kumimoji="1" lang="en-US" altLang="zh-TW" sz="2000" b="0" i="1" smtClean="0">
                        <a:latin typeface="Cambria Math" panose="02040503050406030204" pitchFamily="18" charset="0"/>
                        <a:cs typeface="Times New Roman" panose="02020603050405020304" pitchFamily="18" charset="0"/>
                      </a:rPr>
                      <m:t>𝐷</m:t>
                    </m:r>
                    <m:r>
                      <a:rPr kumimoji="1" lang="en-US" altLang="zh-TW" sz="2000" b="0" i="1" smtClean="0">
                        <a:latin typeface="Cambria Math" panose="02040503050406030204" pitchFamily="18" charset="0"/>
                        <a:cs typeface="Times New Roman" panose="02020603050405020304" pitchFamily="18" charset="0"/>
                      </a:rPr>
                      <m:t>[4]</m:t>
                    </m:r>
                    <m:r>
                      <a:rPr kumimoji="1" lang="en-US" altLang="zh-TW" sz="2000" b="0" i="0" smtClean="0">
                        <a:latin typeface="Cambria Math" panose="02040503050406030204" pitchFamily="18" charset="0"/>
                        <a:cs typeface="Times New Roman" panose="02020603050405020304" pitchFamily="18" charset="0"/>
                      </a:rPr>
                      <m:t>=</m:t>
                    </m:r>
                    <m:r>
                      <m:rPr>
                        <m:sty m:val="p"/>
                      </m:rPr>
                      <a:rPr kumimoji="1" lang="en-US" altLang="zh-TW" sz="2000" b="0" i="0" smtClean="0">
                        <a:latin typeface="Cambria Math" panose="02040503050406030204" pitchFamily="18" charset="0"/>
                        <a:cs typeface="Times New Roman" panose="02020603050405020304" pitchFamily="18" charset="0"/>
                      </a:rPr>
                      <m:t>min</m:t>
                    </m:r>
                    <m:r>
                      <a:rPr kumimoji="1" lang="en-US" altLang="zh-TW" sz="2000" b="0" i="0" smtClean="0">
                        <a:latin typeface="Cambria Math" panose="02040503050406030204" pitchFamily="18" charset="0"/>
                        <a:cs typeface="Times New Roman" panose="02020603050405020304" pitchFamily="18" charset="0"/>
                      </a:rPr>
                      <m:t>(7−3+1,  7−4)=3</m:t>
                    </m:r>
                  </m:oMath>
                </a14:m>
                <a:endParaRPr kumimoji="1" lang="pt-BR" altLang="zh-TW"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kumimoji="1" lang="pt-BR" altLang="zh-TW" sz="1800" dirty="0">
                  <a:latin typeface="Times New Roman" panose="02020603050405020304" pitchFamily="18" charset="0"/>
                  <a:cs typeface="Times New Roman" panose="02020603050405020304" pitchFamily="18" charset="0"/>
                </a:endParaRPr>
              </a:p>
            </p:txBody>
          </p:sp>
        </mc:Choice>
        <mc:Fallback xmlns="">
          <p:sp>
            <p:nvSpPr>
              <p:cNvPr id="20" name="TextBox 19">
                <a:extLst>
                  <a:ext uri="{FF2B5EF4-FFF2-40B4-BE49-F238E27FC236}">
                    <a16:creationId xmlns:a16="http://schemas.microsoft.com/office/drawing/2014/main" id="{3B698CCC-505F-32F0-4267-273FF51521C7}"/>
                  </a:ext>
                </a:extLst>
              </p:cNvPr>
              <p:cNvSpPr txBox="1">
                <a:spLocks noRot="1" noChangeAspect="1" noMove="1" noResize="1" noEditPoints="1" noAdjustHandles="1" noChangeArrowheads="1" noChangeShapeType="1" noTextEdit="1"/>
              </p:cNvSpPr>
              <p:nvPr/>
            </p:nvSpPr>
            <p:spPr>
              <a:xfrm>
                <a:off x="6642027" y="4392996"/>
                <a:ext cx="5040957" cy="2352375"/>
              </a:xfrm>
              <a:prstGeom prst="rect">
                <a:avLst/>
              </a:prstGeom>
              <a:blipFill>
                <a:blip r:embed="rId4"/>
                <a:stretch>
                  <a:fillRect l="-1088" t="-155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72442448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Time complexity</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8</a:t>
            </a:fld>
            <a:endParaRPr lang="zh-TW" altLang="en-US" dirty="0"/>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690688"/>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kumimoji="1" lang="pt-BR" altLang="zh-TW" sz="2400" dirty="0">
                <a:latin typeface="Times New Roman" panose="02020603050405020304" pitchFamily="18" charset="0"/>
                <a:cs typeface="Times New Roman" panose="02020603050405020304" pitchFamily="18" charset="0"/>
              </a:rPr>
              <a:t>Preprocessing</a:t>
            </a:r>
          </a:p>
          <a:p>
            <a:r>
              <a:rPr kumimoji="1" lang="pt-BR" altLang="zh-TW" sz="2400" dirty="0">
                <a:latin typeface="Times New Roman" panose="02020603050405020304" pitchFamily="18" charset="0"/>
                <a:cs typeface="Times New Roman" panose="02020603050405020304" pitchFamily="18" charset="0"/>
              </a:rPr>
              <a:t>Location tables</a:t>
            </a:r>
          </a:p>
          <a:p>
            <a:pPr lvl="1"/>
            <a:r>
              <a:rPr kumimoji="1" lang="pt-BR" altLang="zh-TW" sz="2000" dirty="0">
                <a:latin typeface="Times New Roman" panose="02020603050405020304" pitchFamily="18" charset="0"/>
                <a:cs typeface="Times New Roman" panose="02020603050405020304" pitchFamily="18" charset="0"/>
              </a:rPr>
              <a:t>O(</a:t>
            </a:r>
            <a:r>
              <a:rPr kumimoji="1" lang="pt-BR" altLang="zh-TW" sz="2000" i="1" dirty="0">
                <a:latin typeface="Times New Roman" panose="02020603050405020304" pitchFamily="18" charset="0"/>
                <a:cs typeface="Times New Roman" panose="02020603050405020304" pitchFamily="18" charset="0"/>
              </a:rPr>
              <a:t>m</a:t>
            </a:r>
            <a:r>
              <a:rPr kumimoji="1" lang="pt-BR" altLang="zh-TW" sz="2000" dirty="0">
                <a:latin typeface="Times New Roman" panose="02020603050405020304" pitchFamily="18" charset="0"/>
                <a:cs typeface="Times New Roman" panose="02020603050405020304" pitchFamily="18" charset="0"/>
              </a:rPr>
              <a:t>log</a:t>
            </a:r>
            <a:r>
              <a:rPr kumimoji="1" lang="pt-BR" altLang="zh-TW" sz="2000" i="1" dirty="0">
                <a:latin typeface="Times New Roman" panose="02020603050405020304" pitchFamily="18" charset="0"/>
                <a:cs typeface="Times New Roman" panose="02020603050405020304" pitchFamily="18" charset="0"/>
              </a:rPr>
              <a:t>m</a:t>
            </a:r>
            <a:r>
              <a:rPr kumimoji="1" lang="en-US" altLang="zh-TW" sz="2000" dirty="0">
                <a:latin typeface="Times New Roman" panose="02020603050405020304" pitchFamily="18" charset="0"/>
                <a:cs typeface="Times New Roman" panose="02020603050405020304" pitchFamily="18" charset="0"/>
              </a:rPr>
              <a:t>)</a:t>
            </a:r>
            <a:endParaRPr kumimoji="1" lang="pt-BR" altLang="zh-TW" sz="2000" dirty="0">
              <a:latin typeface="Times New Roman" panose="02020603050405020304" pitchFamily="18" charset="0"/>
              <a:cs typeface="Times New Roman" panose="02020603050405020304" pitchFamily="18" charset="0"/>
            </a:endParaRPr>
          </a:p>
          <a:p>
            <a:r>
              <a:rPr kumimoji="1" lang="pt-BR" altLang="zh-TW" sz="2400" dirty="0">
                <a:latin typeface="Times New Roman" panose="02020603050405020304" pitchFamily="18" charset="0"/>
                <a:ea typeface="標楷體" panose="03000509000000000000" pitchFamily="65" charset="-120"/>
                <a:cs typeface="Times New Roman" panose="02020603050405020304" pitchFamily="18" charset="0"/>
              </a:rPr>
              <a:t>Prefix table</a:t>
            </a:r>
          </a:p>
          <a:p>
            <a:pPr lvl="1"/>
            <a:r>
              <a:rPr kumimoji="1" lang="pt-BR" altLang="zh-TW" sz="2000" dirty="0">
                <a:latin typeface="Times New Roman" panose="02020603050405020304" pitchFamily="18" charset="0"/>
                <a:ea typeface="標楷體" panose="03000509000000000000" pitchFamily="65" charset="-120"/>
                <a:cs typeface="Times New Roman" panose="02020603050405020304" pitchFamily="18" charset="0"/>
              </a:rPr>
              <a:t>O(</a:t>
            </a:r>
            <a:r>
              <a:rPr kumimoji="1" lang="pt-BR" altLang="zh-TW" sz="2000" i="1" dirty="0">
                <a:latin typeface="Times New Roman" panose="02020603050405020304" pitchFamily="18" charset="0"/>
                <a:ea typeface="標楷體" panose="03000509000000000000" pitchFamily="65" charset="-120"/>
                <a:cs typeface="Times New Roman" panose="02020603050405020304" pitchFamily="18" charset="0"/>
              </a:rPr>
              <a:t>mq</a:t>
            </a:r>
            <a:r>
              <a:rPr kumimoji="1" lang="pt-BR" altLang="zh-TW" sz="2000" dirty="0">
                <a:latin typeface="Times New Roman" panose="02020603050405020304" pitchFamily="18" charset="0"/>
                <a:ea typeface="標楷體" panose="03000509000000000000" pitchFamily="65" charset="-120"/>
                <a:cs typeface="Times New Roman" panose="02020603050405020304" pitchFamily="18" charset="0"/>
              </a:rPr>
              <a:t>log</a:t>
            </a:r>
            <a:r>
              <a:rPr kumimoji="1" lang="pt-BR" altLang="zh-TW" sz="2000" i="1" dirty="0">
                <a:latin typeface="Times New Roman" panose="02020603050405020304" pitchFamily="18" charset="0"/>
                <a:ea typeface="標楷體" panose="03000509000000000000" pitchFamily="65" charset="-120"/>
                <a:cs typeface="Times New Roman" panose="02020603050405020304" pitchFamily="18" charset="0"/>
              </a:rPr>
              <a:t>q</a:t>
            </a:r>
            <a:r>
              <a:rPr kumimoji="1" lang="pt-BR" altLang="zh-TW" sz="2000" dirty="0">
                <a:latin typeface="Times New Roman" panose="02020603050405020304" pitchFamily="18" charset="0"/>
                <a:ea typeface="標楷體" panose="03000509000000000000" pitchFamily="65" charset="-120"/>
                <a:cs typeface="Times New Roman" panose="02020603050405020304" pitchFamily="18" charset="0"/>
              </a:rPr>
              <a:t>)</a:t>
            </a:r>
          </a:p>
          <a:p>
            <a:r>
              <a:rPr kumimoji="1" lang="pt-BR" altLang="zh-TW" sz="2400" dirty="0">
                <a:latin typeface="Times New Roman" panose="02020603050405020304" pitchFamily="18" charset="0"/>
                <a:ea typeface="標楷體" panose="03000509000000000000" pitchFamily="65" charset="-120"/>
                <a:cs typeface="Times New Roman" panose="02020603050405020304" pitchFamily="18" charset="0"/>
              </a:rPr>
              <a:t>Shift table</a:t>
            </a:r>
          </a:p>
          <a:p>
            <a:pPr lvl="1"/>
            <a:r>
              <a:rPr kumimoji="1" lang="pt-BR" altLang="zh-TW" sz="2000" dirty="0">
                <a:latin typeface="Times New Roman" panose="02020603050405020304" pitchFamily="18" charset="0"/>
                <a:ea typeface="標楷體" panose="03000509000000000000" pitchFamily="65" charset="-120"/>
                <a:cs typeface="Times New Roman" panose="02020603050405020304" pitchFamily="18" charset="0"/>
              </a:rPr>
              <a:t>O(</a:t>
            </a:r>
            <a:r>
              <a:rPr kumimoji="1" lang="pt-BR" altLang="zh-TW" sz="2000" i="1" dirty="0">
                <a:latin typeface="Times New Roman" panose="02020603050405020304" pitchFamily="18" charset="0"/>
                <a:ea typeface="標楷體" panose="03000509000000000000" pitchFamily="65" charset="-120"/>
                <a:cs typeface="Times New Roman" panose="02020603050405020304" pitchFamily="18" charset="0"/>
              </a:rPr>
              <a:t>q</a:t>
            </a:r>
            <a:r>
              <a:rPr kumimoji="1" lang="en-US" altLang="zh-TW" sz="2000" dirty="0">
                <a:latin typeface="Times New Roman" panose="02020603050405020304" pitchFamily="18" charset="0"/>
                <a:ea typeface="標楷體" panose="03000509000000000000" pitchFamily="65" charset="-120"/>
                <a:cs typeface="Times New Roman" panose="02020603050405020304" pitchFamily="18" charset="0"/>
              </a:rPr>
              <a:t>! + </a:t>
            </a:r>
            <a:r>
              <a:rPr kumimoji="1" lang="en-US" altLang="zh-TW" sz="2000" i="1" dirty="0" err="1">
                <a:latin typeface="Times New Roman" panose="02020603050405020304" pitchFamily="18" charset="0"/>
                <a:ea typeface="標楷體" panose="03000509000000000000" pitchFamily="65" charset="-120"/>
                <a:cs typeface="Times New Roman" panose="02020603050405020304" pitchFamily="18" charset="0"/>
              </a:rPr>
              <a:t>mq</a:t>
            </a:r>
            <a:r>
              <a:rPr kumimoji="1"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log</a:t>
            </a:r>
            <a:r>
              <a:rPr kumimoji="1" lang="en-US" altLang="zh-TW" sz="2000" i="1" dirty="0" err="1">
                <a:latin typeface="Times New Roman" panose="02020603050405020304" pitchFamily="18" charset="0"/>
                <a:ea typeface="標楷體" panose="03000509000000000000" pitchFamily="65" charset="-120"/>
                <a:cs typeface="Times New Roman" panose="02020603050405020304" pitchFamily="18" charset="0"/>
              </a:rPr>
              <a:t>q</a:t>
            </a:r>
            <a:r>
              <a:rPr kumimoji="1"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p>
          <a:p>
            <a:pPr marL="0" indent="0">
              <a:buNone/>
            </a:pPr>
            <a:r>
              <a:rPr kumimoji="1" lang="en-US" altLang="zh-TW" sz="2400" dirty="0">
                <a:latin typeface="Times New Roman" panose="02020603050405020304" pitchFamily="18" charset="0"/>
                <a:ea typeface="標楷體" panose="03000509000000000000" pitchFamily="65" charset="-120"/>
                <a:cs typeface="Times New Roman" panose="02020603050405020304" pitchFamily="18" charset="0"/>
              </a:rPr>
              <a:t>Compare</a:t>
            </a:r>
          </a:p>
          <a:p>
            <a:pPr lvl="1"/>
            <a:r>
              <a:rPr kumimoji="1" lang="en-US" altLang="zh-TW" sz="2000" dirty="0">
                <a:latin typeface="Times New Roman" panose="02020603050405020304" pitchFamily="18" charset="0"/>
                <a:ea typeface="標楷體" panose="03000509000000000000" pitchFamily="65" charset="-120"/>
                <a:cs typeface="Times New Roman" panose="02020603050405020304" pitchFamily="18" charset="0"/>
              </a:rPr>
              <a:t>O(</a:t>
            </a:r>
            <a:r>
              <a:rPr kumimoji="1" lang="en-US" altLang="zh-TW" sz="2000" i="1" dirty="0" err="1">
                <a:latin typeface="Times New Roman" panose="02020603050405020304" pitchFamily="18" charset="0"/>
                <a:ea typeface="標楷體" panose="03000509000000000000" pitchFamily="65" charset="-120"/>
                <a:cs typeface="Times New Roman" panose="02020603050405020304" pitchFamily="18" charset="0"/>
              </a:rPr>
              <a:t>nm</a:t>
            </a:r>
            <a:r>
              <a:rPr kumimoji="1"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a:t>
            </a:r>
            <a:r>
              <a:rPr kumimoji="1" lang="en-US" altLang="zh-TW" sz="2000" i="1" dirty="0" err="1">
                <a:latin typeface="Times New Roman" panose="02020603050405020304" pitchFamily="18" charset="0"/>
                <a:ea typeface="標楷體" panose="03000509000000000000" pitchFamily="65" charset="-120"/>
                <a:cs typeface="Times New Roman" panose="02020603050405020304" pitchFamily="18" charset="0"/>
              </a:rPr>
              <a:t>nq</a:t>
            </a:r>
            <a:r>
              <a:rPr kumimoji="1"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log</a:t>
            </a:r>
            <a:r>
              <a:rPr kumimoji="1" lang="en-US" altLang="zh-TW" sz="2000" i="1" dirty="0" err="1">
                <a:latin typeface="Times New Roman" panose="02020603050405020304" pitchFamily="18" charset="0"/>
                <a:ea typeface="標楷體" panose="03000509000000000000" pitchFamily="65" charset="-120"/>
                <a:cs typeface="Times New Roman" panose="02020603050405020304" pitchFamily="18" charset="0"/>
              </a:rPr>
              <a:t>q</a:t>
            </a:r>
            <a:r>
              <a:rPr kumimoji="1"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p>
          <a:p>
            <a:pPr marL="0" indent="0">
              <a:buNone/>
            </a:pPr>
            <a:r>
              <a:rPr kumimoji="1" lang="en-US" altLang="zh-TW" sz="2400" dirty="0">
                <a:latin typeface="Times New Roman" panose="02020603050405020304" pitchFamily="18" charset="0"/>
                <a:ea typeface="標楷體" panose="03000509000000000000" pitchFamily="65" charset="-120"/>
                <a:cs typeface="Times New Roman" panose="02020603050405020304" pitchFamily="18" charset="0"/>
              </a:rPr>
              <a:t>Sum</a:t>
            </a:r>
          </a:p>
          <a:p>
            <a:pPr lvl="1"/>
            <a:r>
              <a:rPr kumimoji="1" lang="en-US" altLang="zh-TW" sz="2000" dirty="0">
                <a:latin typeface="Times New Roman" panose="02020603050405020304" pitchFamily="18" charset="0"/>
                <a:ea typeface="標楷體" panose="03000509000000000000" pitchFamily="65" charset="-120"/>
                <a:cs typeface="Times New Roman" panose="02020603050405020304" pitchFamily="18" charset="0"/>
              </a:rPr>
              <a:t>O(</a:t>
            </a:r>
            <a:r>
              <a:rPr kumimoji="1" lang="en-US" altLang="zh-TW" sz="2000" i="1" dirty="0" err="1">
                <a:latin typeface="Times New Roman" panose="02020603050405020304" pitchFamily="18" charset="0"/>
                <a:ea typeface="標楷體" panose="03000509000000000000" pitchFamily="65" charset="-120"/>
                <a:cs typeface="Times New Roman" panose="02020603050405020304" pitchFamily="18" charset="0"/>
              </a:rPr>
              <a:t>nm</a:t>
            </a:r>
            <a:r>
              <a:rPr kumimoji="1"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a:t>
            </a:r>
            <a:r>
              <a:rPr kumimoji="1" lang="en-US" altLang="zh-TW" sz="2000" i="1" dirty="0" err="1">
                <a:latin typeface="Times New Roman" panose="02020603050405020304" pitchFamily="18" charset="0"/>
                <a:ea typeface="標楷體" panose="03000509000000000000" pitchFamily="65" charset="-120"/>
                <a:cs typeface="Times New Roman" panose="02020603050405020304" pitchFamily="18" charset="0"/>
              </a:rPr>
              <a:t>nq</a:t>
            </a:r>
            <a:r>
              <a:rPr kumimoji="1"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a:t>
            </a:r>
            <a:r>
              <a:rPr kumimoji="1" lang="en-US" altLang="zh-TW" sz="2000" i="1" dirty="0" err="1">
                <a:latin typeface="Times New Roman" panose="02020603050405020304" pitchFamily="18" charset="0"/>
                <a:ea typeface="標楷體" panose="03000509000000000000" pitchFamily="65" charset="-120"/>
                <a:cs typeface="Times New Roman" panose="02020603050405020304" pitchFamily="18" charset="0"/>
              </a:rPr>
              <a:t>q</a:t>
            </a:r>
            <a:r>
              <a:rPr kumimoji="1"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endParaRPr kumimoji="1" lang="pt-BR" altLang="zh-TW" sz="2000"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22391014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Improving the worst-case complexity</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9</a:t>
            </a:fld>
            <a:endParaRPr lang="zh-TW" altLang="en-US" dirty="0"/>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TW" sz="2400" dirty="0">
                <a:latin typeface="Times New Roman" panose="02020603050405020304" pitchFamily="18" charset="0"/>
                <a:cs typeface="Times New Roman" panose="02020603050405020304" pitchFamily="18" charset="0"/>
              </a:rPr>
              <a:t>Combined with KMP algorithm</a:t>
            </a:r>
          </a:p>
          <a:p>
            <a:endParaRPr kumimoji="1" lang="en-US" altLang="zh-TW" sz="2400" dirty="0">
              <a:latin typeface="Times New Roman" panose="02020603050405020304" pitchFamily="18" charset="0"/>
              <a:cs typeface="Times New Roman" panose="02020603050405020304" pitchFamily="18" charset="0"/>
            </a:endParaRPr>
          </a:p>
          <a:p>
            <a:pPr marL="0" indent="0">
              <a:buNone/>
            </a:pPr>
            <a:r>
              <a:rPr kumimoji="1" lang="en-US" altLang="zh-TW" sz="2400" dirty="0">
                <a:latin typeface="Times New Roman" panose="02020603050405020304" pitchFamily="18" charset="0"/>
                <a:cs typeface="Times New Roman" panose="02020603050405020304" pitchFamily="18" charset="0"/>
              </a:rPr>
              <a:t>Time complexity</a:t>
            </a:r>
          </a:p>
          <a:p>
            <a:r>
              <a:rPr kumimoji="1" lang="en-US" altLang="zh-TW" sz="2400" dirty="0">
                <a:latin typeface="Times New Roman" panose="02020603050405020304" pitchFamily="18" charset="0"/>
                <a:cs typeface="Times New Roman" panose="02020603050405020304" pitchFamily="18" charset="0"/>
              </a:rPr>
              <a:t>Preprocessing</a:t>
            </a:r>
          </a:p>
          <a:p>
            <a:pPr lvl="1"/>
            <a:r>
              <a:rPr kumimoji="1" lang="pt-BR" altLang="zh-TW" sz="2000" dirty="0">
                <a:latin typeface="Times New Roman" panose="02020603050405020304" pitchFamily="18" charset="0"/>
                <a:cs typeface="Times New Roman" panose="02020603050405020304" pitchFamily="18" charset="0"/>
              </a:rPr>
              <a:t>O(</a:t>
            </a:r>
            <a:r>
              <a:rPr kumimoji="1" lang="pt-BR" altLang="zh-TW" sz="2000" i="1" dirty="0">
                <a:latin typeface="Times New Roman" panose="02020603050405020304" pitchFamily="18" charset="0"/>
                <a:cs typeface="Times New Roman" panose="02020603050405020304" pitchFamily="18" charset="0"/>
              </a:rPr>
              <a:t>q</a:t>
            </a:r>
            <a:r>
              <a:rPr kumimoji="1" lang="pt-BR" altLang="zh-TW" sz="2000" dirty="0">
                <a:latin typeface="Times New Roman" panose="02020603050405020304" pitchFamily="18" charset="0"/>
                <a:cs typeface="Times New Roman" panose="02020603050405020304" pitchFamily="18" charset="0"/>
              </a:rPr>
              <a:t>! + </a:t>
            </a:r>
            <a:r>
              <a:rPr kumimoji="1" lang="pt-BR" altLang="zh-TW" sz="2000" i="1" dirty="0">
                <a:latin typeface="Times New Roman" panose="02020603050405020304" pitchFamily="18" charset="0"/>
                <a:cs typeface="Times New Roman" panose="02020603050405020304" pitchFamily="18" charset="0"/>
              </a:rPr>
              <a:t>mq</a:t>
            </a:r>
            <a:r>
              <a:rPr kumimoji="1" lang="pt-BR" altLang="zh-TW" sz="2000" dirty="0">
                <a:latin typeface="Times New Roman" panose="02020603050405020304" pitchFamily="18" charset="0"/>
                <a:cs typeface="Times New Roman" panose="02020603050405020304" pitchFamily="18" charset="0"/>
              </a:rPr>
              <a:t>log</a:t>
            </a:r>
            <a:r>
              <a:rPr kumimoji="1" lang="pt-BR" altLang="zh-TW" sz="2000" i="1" dirty="0">
                <a:latin typeface="Times New Roman" panose="02020603050405020304" pitchFamily="18" charset="0"/>
                <a:cs typeface="Times New Roman" panose="02020603050405020304" pitchFamily="18" charset="0"/>
              </a:rPr>
              <a:t>q</a:t>
            </a:r>
            <a:r>
              <a:rPr kumimoji="1" lang="pt-BR" altLang="zh-TW" sz="2000" dirty="0">
                <a:latin typeface="Times New Roman" panose="02020603050405020304" pitchFamily="18" charset="0"/>
                <a:cs typeface="Times New Roman" panose="02020603050405020304" pitchFamily="18" charset="0"/>
              </a:rPr>
              <a:t> + </a:t>
            </a:r>
            <a:r>
              <a:rPr kumimoji="1" lang="pt-BR" altLang="zh-TW" sz="2000" i="1" dirty="0">
                <a:latin typeface="Times New Roman" panose="02020603050405020304" pitchFamily="18" charset="0"/>
                <a:cs typeface="Times New Roman" panose="02020603050405020304" pitchFamily="18" charset="0"/>
              </a:rPr>
              <a:t>m</a:t>
            </a:r>
            <a:r>
              <a:rPr kumimoji="1" lang="pt-BR" altLang="zh-TW" sz="2000" dirty="0">
                <a:latin typeface="Times New Roman" panose="02020603050405020304" pitchFamily="18" charset="0"/>
                <a:cs typeface="Times New Roman" panose="02020603050405020304" pitchFamily="18" charset="0"/>
              </a:rPr>
              <a:t>log</a:t>
            </a:r>
            <a:r>
              <a:rPr kumimoji="1" lang="pt-BR" altLang="zh-TW" sz="2000" i="1" dirty="0">
                <a:latin typeface="Times New Roman" panose="02020603050405020304" pitchFamily="18" charset="0"/>
                <a:cs typeface="Times New Roman" panose="02020603050405020304" pitchFamily="18" charset="0"/>
              </a:rPr>
              <a:t>m</a:t>
            </a:r>
            <a:r>
              <a:rPr kumimoji="1" lang="pt-BR" altLang="zh-TW" sz="2000" dirty="0">
                <a:latin typeface="Times New Roman" panose="02020603050405020304" pitchFamily="18" charset="0"/>
                <a:cs typeface="Times New Roman" panose="02020603050405020304" pitchFamily="18" charset="0"/>
              </a:rPr>
              <a:t>)</a:t>
            </a:r>
          </a:p>
          <a:p>
            <a:r>
              <a:rPr kumimoji="1" lang="pt-BR" altLang="zh-TW" sz="2400" dirty="0">
                <a:latin typeface="Times New Roman" panose="02020603050405020304" pitchFamily="18" charset="0"/>
                <a:cs typeface="Times New Roman" panose="02020603050405020304" pitchFamily="18" charset="0"/>
              </a:rPr>
              <a:t>Horspool algorithm</a:t>
            </a:r>
          </a:p>
          <a:p>
            <a:pPr lvl="1"/>
            <a:r>
              <a:rPr kumimoji="1" lang="pt-BR" altLang="zh-TW" sz="2000" dirty="0">
                <a:latin typeface="Times New Roman" panose="02020603050405020304" pitchFamily="18" charset="0"/>
                <a:cs typeface="Times New Roman" panose="02020603050405020304" pitchFamily="18" charset="0"/>
              </a:rPr>
              <a:t>O(</a:t>
            </a:r>
            <a:r>
              <a:rPr kumimoji="1" lang="pt-BR" altLang="zh-TW" sz="2000" i="1" dirty="0">
                <a:latin typeface="Times New Roman" panose="02020603050405020304" pitchFamily="18" charset="0"/>
                <a:cs typeface="Times New Roman" panose="02020603050405020304" pitchFamily="18" charset="0"/>
              </a:rPr>
              <a:t>nq</a:t>
            </a:r>
            <a:r>
              <a:rPr kumimoji="1" lang="pt-BR" altLang="zh-TW" sz="2000" dirty="0">
                <a:latin typeface="Times New Roman" panose="02020603050405020304" pitchFamily="18" charset="0"/>
                <a:cs typeface="Times New Roman" panose="02020603050405020304" pitchFamily="18" charset="0"/>
              </a:rPr>
              <a:t>log</a:t>
            </a:r>
            <a:r>
              <a:rPr kumimoji="1" lang="pt-BR" altLang="zh-TW" sz="2000" i="1" dirty="0">
                <a:latin typeface="Times New Roman" panose="02020603050405020304" pitchFamily="18" charset="0"/>
                <a:cs typeface="Times New Roman" panose="02020603050405020304" pitchFamily="18" charset="0"/>
              </a:rPr>
              <a:t>q</a:t>
            </a:r>
            <a:r>
              <a:rPr kumimoji="1" lang="pt-BR" altLang="zh-TW" sz="2000" dirty="0">
                <a:latin typeface="Times New Roman" panose="02020603050405020304" pitchFamily="18" charset="0"/>
                <a:cs typeface="Times New Roman" panose="02020603050405020304" pitchFamily="18" charset="0"/>
              </a:rPr>
              <a:t>)</a:t>
            </a:r>
          </a:p>
          <a:p>
            <a:r>
              <a:rPr kumimoji="1" lang="pt-BR" altLang="zh-TW" sz="2400" dirty="0">
                <a:latin typeface="Times New Roman" panose="02020603050405020304" pitchFamily="18" charset="0"/>
                <a:cs typeface="Times New Roman" panose="02020603050405020304" pitchFamily="18" charset="0"/>
              </a:rPr>
              <a:t>KMP algorithm</a:t>
            </a:r>
          </a:p>
          <a:p>
            <a:pPr lvl="1"/>
            <a:r>
              <a:rPr kumimoji="1" lang="pt-BR" altLang="zh-TW" sz="2000" dirty="0">
                <a:latin typeface="Times New Roman" panose="02020603050405020304" pitchFamily="18" charset="0"/>
                <a:cs typeface="Times New Roman" panose="02020603050405020304" pitchFamily="18" charset="0"/>
              </a:rPr>
              <a:t>O(</a:t>
            </a:r>
            <a:r>
              <a:rPr kumimoji="1" lang="pt-BR" altLang="zh-TW" sz="2000" i="1" dirty="0">
                <a:latin typeface="Times New Roman" panose="02020603050405020304" pitchFamily="18" charset="0"/>
                <a:cs typeface="Times New Roman" panose="02020603050405020304" pitchFamily="18" charset="0"/>
              </a:rPr>
              <a:t>n</a:t>
            </a:r>
            <a:r>
              <a:rPr kumimoji="1" lang="pt-BR" altLang="zh-TW" sz="2000" dirty="0">
                <a:latin typeface="Times New Roman" panose="02020603050405020304" pitchFamily="18" charset="0"/>
                <a:cs typeface="Times New Roman" panose="02020603050405020304" pitchFamily="18" charset="0"/>
              </a:rPr>
              <a:t> + </a:t>
            </a:r>
            <a:r>
              <a:rPr kumimoji="1" lang="pt-BR" altLang="zh-TW" sz="2000" i="1" dirty="0">
                <a:latin typeface="Times New Roman" panose="02020603050405020304" pitchFamily="18" charset="0"/>
                <a:cs typeface="Times New Roman" panose="02020603050405020304" pitchFamily="18" charset="0"/>
              </a:rPr>
              <a:t>m</a:t>
            </a:r>
            <a:r>
              <a:rPr kumimoji="1" lang="pt-BR" altLang="zh-TW" sz="2000" dirty="0">
                <a:latin typeface="Times New Roman" panose="02020603050405020304" pitchFamily="18" charset="0"/>
                <a:cs typeface="Times New Roman" panose="02020603050405020304" pitchFamily="18" charset="0"/>
              </a:rPr>
              <a:t>log</a:t>
            </a:r>
            <a:r>
              <a:rPr kumimoji="1" lang="pt-BR" altLang="zh-TW" sz="2000" i="1" dirty="0">
                <a:latin typeface="Times New Roman" panose="02020603050405020304" pitchFamily="18" charset="0"/>
                <a:cs typeface="Times New Roman" panose="02020603050405020304" pitchFamily="18" charset="0"/>
              </a:rPr>
              <a:t>m</a:t>
            </a:r>
            <a:r>
              <a:rPr kumimoji="1" lang="pt-BR" altLang="zh-TW" sz="2000" dirty="0">
                <a:latin typeface="Times New Roman" panose="02020603050405020304" pitchFamily="18" charset="0"/>
                <a:cs typeface="Times New Roman" panose="02020603050405020304" pitchFamily="18" charset="0"/>
              </a:rPr>
              <a:t>)</a:t>
            </a:r>
          </a:p>
          <a:p>
            <a:r>
              <a:rPr kumimoji="1" lang="pt-BR" altLang="zh-TW" sz="2400" dirty="0">
                <a:latin typeface="Times New Roman" panose="02020603050405020304" pitchFamily="18" charset="0"/>
                <a:cs typeface="Times New Roman" panose="02020603050405020304" pitchFamily="18" charset="0"/>
              </a:rPr>
              <a:t>Sum</a:t>
            </a:r>
          </a:p>
          <a:p>
            <a:pPr lvl="1"/>
            <a:r>
              <a:rPr kumimoji="1" lang="pt-BR" altLang="zh-TW" sz="2000" dirty="0">
                <a:latin typeface="Times New Roman" panose="02020603050405020304" pitchFamily="18" charset="0"/>
                <a:cs typeface="Times New Roman" panose="02020603050405020304" pitchFamily="18" charset="0"/>
              </a:rPr>
              <a:t>O((</a:t>
            </a:r>
            <a:r>
              <a:rPr kumimoji="1" lang="pt-BR" altLang="zh-TW" sz="2000" i="1" dirty="0">
                <a:latin typeface="Times New Roman" panose="02020603050405020304" pitchFamily="18" charset="0"/>
                <a:cs typeface="Times New Roman" panose="02020603050405020304" pitchFamily="18" charset="0"/>
              </a:rPr>
              <a:t>m</a:t>
            </a:r>
            <a:r>
              <a:rPr kumimoji="1" lang="pt-BR" altLang="zh-TW" sz="2000" dirty="0">
                <a:latin typeface="Times New Roman" panose="02020603050405020304" pitchFamily="18" charset="0"/>
                <a:cs typeface="Times New Roman" panose="02020603050405020304" pitchFamily="18" charset="0"/>
              </a:rPr>
              <a:t> + </a:t>
            </a:r>
            <a:r>
              <a:rPr kumimoji="1" lang="pt-BR" altLang="zh-TW" sz="2000" i="1" dirty="0">
                <a:latin typeface="Times New Roman" panose="02020603050405020304" pitchFamily="18" charset="0"/>
                <a:cs typeface="Times New Roman" panose="02020603050405020304" pitchFamily="18" charset="0"/>
              </a:rPr>
              <a:t>n</a:t>
            </a:r>
            <a:r>
              <a:rPr kumimoji="1" lang="pt-BR" altLang="zh-TW" sz="2000" dirty="0">
                <a:latin typeface="Times New Roman" panose="02020603050405020304" pitchFamily="18" charset="0"/>
                <a:cs typeface="Times New Roman" panose="02020603050405020304" pitchFamily="18" charset="0"/>
              </a:rPr>
              <a:t>) </a:t>
            </a:r>
            <a:r>
              <a:rPr kumimoji="1" lang="pt-BR" altLang="zh-TW" sz="2000" i="1" dirty="0">
                <a:latin typeface="Times New Roman" panose="02020603050405020304" pitchFamily="18" charset="0"/>
                <a:cs typeface="Times New Roman" panose="02020603050405020304" pitchFamily="18" charset="0"/>
              </a:rPr>
              <a:t>q</a:t>
            </a:r>
            <a:r>
              <a:rPr kumimoji="1" lang="pt-BR" altLang="zh-TW" sz="2000" dirty="0">
                <a:latin typeface="Times New Roman" panose="02020603050405020304" pitchFamily="18" charset="0"/>
                <a:cs typeface="Times New Roman" panose="02020603050405020304" pitchFamily="18" charset="0"/>
              </a:rPr>
              <a:t> + </a:t>
            </a:r>
            <a:r>
              <a:rPr kumimoji="1" lang="pt-BR" altLang="zh-TW" sz="2000" i="1" dirty="0">
                <a:latin typeface="Times New Roman" panose="02020603050405020304" pitchFamily="18" charset="0"/>
                <a:cs typeface="Times New Roman" panose="02020603050405020304" pitchFamily="18" charset="0"/>
              </a:rPr>
              <a:t>q</a:t>
            </a:r>
            <a:r>
              <a:rPr kumimoji="1" lang="pt-BR" altLang="zh-TW" sz="2000" dirty="0">
                <a:latin typeface="Times New Roman" panose="02020603050405020304" pitchFamily="18" charset="0"/>
                <a:cs typeface="Times New Roman" panose="02020603050405020304" pitchFamily="18" charset="0"/>
              </a:rPr>
              <a:t>!)</a:t>
            </a:r>
            <a:endParaRPr kumimoji="1" lang="en-US" altLang="zh-TW" sz="2000" dirty="0">
              <a:latin typeface="Times New Roman" panose="02020603050405020304" pitchFamily="18" charset="0"/>
              <a:cs typeface="Times New Roman" panose="02020603050405020304" pitchFamily="18" charset="0"/>
            </a:endParaRPr>
          </a:p>
          <a:p>
            <a:endParaRPr kumimoji="1" lang="pt-BR" altLang="zh-TW" sz="2000" dirty="0">
              <a:latin typeface="Times New Roman" panose="02020603050405020304" pitchFamily="18" charset="0"/>
              <a:cs typeface="Times New Roman" panose="02020603050405020304" pitchFamily="18" charset="0"/>
            </a:endParaRPr>
          </a:p>
          <a:p>
            <a:endParaRPr kumimoji="1" lang="pt-BR" altLang="zh-TW" sz="2000" dirty="0">
              <a:latin typeface="標楷體" panose="03000509000000000000" pitchFamily="65" charset="-12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289874916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Experimental result</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10</a:t>
            </a:fld>
            <a:endParaRPr lang="zh-TW" altLang="en-US" dirty="0"/>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690688"/>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pt-BR" altLang="zh-TW" sz="1800"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4" name="Picture 3">
            <a:extLst>
              <a:ext uri="{FF2B5EF4-FFF2-40B4-BE49-F238E27FC236}">
                <a16:creationId xmlns:a16="http://schemas.microsoft.com/office/drawing/2014/main" id="{D8D12A24-135A-E867-87F0-4A90807F099E}"/>
              </a:ext>
            </a:extLst>
          </p:cNvPr>
          <p:cNvPicPr>
            <a:picLocks noChangeAspect="1"/>
          </p:cNvPicPr>
          <p:nvPr/>
        </p:nvPicPr>
        <p:blipFill>
          <a:blip r:embed="rId3"/>
          <a:stretch>
            <a:fillRect/>
          </a:stretch>
        </p:blipFill>
        <p:spPr>
          <a:xfrm>
            <a:off x="725162" y="1538730"/>
            <a:ext cx="11022526" cy="3780539"/>
          </a:xfrm>
          <a:prstGeom prst="rect">
            <a:avLst/>
          </a:prstGeom>
        </p:spPr>
      </p:pic>
    </p:spTree>
    <p:extLst>
      <p:ext uri="{BB962C8B-B14F-4D97-AF65-F5344CB8AC3E}">
        <p14:creationId xmlns:p14="http://schemas.microsoft.com/office/powerpoint/2010/main" val="238933617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25728</TotalTime>
  <Words>757</Words>
  <Application>Microsoft Office PowerPoint</Application>
  <PresentationFormat>寬螢幕</PresentationFormat>
  <Paragraphs>164</Paragraphs>
  <Slides>10</Slides>
  <Notes>9</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10</vt:i4>
      </vt:variant>
    </vt:vector>
  </HeadingPairs>
  <TitlesOfParts>
    <vt:vector size="19" baseType="lpstr">
      <vt:lpstr>Google Sans</vt:lpstr>
      <vt:lpstr>標楷體</vt:lpstr>
      <vt:lpstr>Arial</vt:lpstr>
      <vt:lpstr>Arial</vt:lpstr>
      <vt:lpstr>Calibri</vt:lpstr>
      <vt:lpstr>Calibri Light</vt:lpstr>
      <vt:lpstr>Cambria Math</vt:lpstr>
      <vt:lpstr>Times New Roman</vt:lpstr>
      <vt:lpstr>Office Theme</vt:lpstr>
      <vt:lpstr>A fast algorithm for order-preserving pattern matching</vt:lpstr>
      <vt:lpstr>Abstract </vt:lpstr>
      <vt:lpstr>Order preserving pattern matching</vt:lpstr>
      <vt:lpstr>Order preserving pattern matching</vt:lpstr>
      <vt:lpstr>Horspool algorithm</vt:lpstr>
      <vt:lpstr>q-grams</vt:lpstr>
      <vt:lpstr>q-grams</vt:lpstr>
      <vt:lpstr>Time complexity</vt:lpstr>
      <vt:lpstr>Improving the worst-case complexity</vt:lpstr>
      <vt:lpstr>Experimental result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Substring Inclusion Constraint Longest Common Subsequence Problem Can Be Solved in Quadratic Time</dc:title>
  <dc:creator>Wen Wen Liao</dc:creator>
  <cp:lastModifiedBy>pplab</cp:lastModifiedBy>
  <cp:revision>229</cp:revision>
  <dcterms:created xsi:type="dcterms:W3CDTF">2022-10-11T15:33:00Z</dcterms:created>
  <dcterms:modified xsi:type="dcterms:W3CDTF">2023-09-12T12:04:29Z</dcterms:modified>
</cp:coreProperties>
</file>