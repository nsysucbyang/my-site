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 id="261" r:id="rId6"/>
    <p:sldId id="264" r:id="rId7"/>
    <p:sldId id="279" r:id="rId8"/>
    <p:sldId id="271" r:id="rId9"/>
    <p:sldId id="272" r:id="rId10"/>
    <p:sldId id="270" r:id="rId11"/>
    <p:sldId id="273" r:id="rId12"/>
    <p:sldId id="267" r:id="rId13"/>
    <p:sldId id="276" r:id="rId14"/>
    <p:sldId id="275" r:id="rId15"/>
    <p:sldId id="277" r:id="rId16"/>
    <p:sldId id="278" r:id="rId17"/>
    <p:sldId id="266" r:id="rId18"/>
    <p:sldId id="269"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6" d="100"/>
          <a:sy n="86" d="100"/>
        </p:scale>
        <p:origin x="47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0C6C96-9558-5AB5-D1F9-BCC335655A0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DFA7C56-9105-1E14-A17F-8A26FE9B3E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5C84251-D4BA-53DC-3BEF-977567CB82AB}"/>
              </a:ext>
            </a:extLst>
          </p:cNvPr>
          <p:cNvSpPr>
            <a:spLocks noGrp="1"/>
          </p:cNvSpPr>
          <p:nvPr>
            <p:ph type="dt" sz="half" idx="10"/>
          </p:nvPr>
        </p:nvSpPr>
        <p:spPr/>
        <p:txBody>
          <a:bodyPr/>
          <a:lstStyle/>
          <a:p>
            <a:fld id="{AE8FA09A-F947-43F2-8408-C126057DFBFB}" type="datetimeFigureOut">
              <a:rPr lang="zh-TW" altLang="en-US" smtClean="0"/>
              <a:t>2023/9/11</a:t>
            </a:fld>
            <a:endParaRPr lang="zh-TW" altLang="en-US"/>
          </a:p>
        </p:txBody>
      </p:sp>
      <p:sp>
        <p:nvSpPr>
          <p:cNvPr id="5" name="頁尾版面配置區 4">
            <a:extLst>
              <a:ext uri="{FF2B5EF4-FFF2-40B4-BE49-F238E27FC236}">
                <a16:creationId xmlns:a16="http://schemas.microsoft.com/office/drawing/2014/main" id="{64D25A00-DB5F-6575-598E-1BDA96E3230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C1AD27D-3D20-5E6D-7527-6A46BDF3ED17}"/>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677338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1BFF06-C706-AE49-8BDC-162AE3DCC49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6BB920A-B9BC-CE2C-E727-40FC0B9BE257}"/>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AEF194-C880-0ED0-C3B1-F5AA4AC7963D}"/>
              </a:ext>
            </a:extLst>
          </p:cNvPr>
          <p:cNvSpPr>
            <a:spLocks noGrp="1"/>
          </p:cNvSpPr>
          <p:nvPr>
            <p:ph type="dt" sz="half" idx="10"/>
          </p:nvPr>
        </p:nvSpPr>
        <p:spPr/>
        <p:txBody>
          <a:bodyPr/>
          <a:lstStyle/>
          <a:p>
            <a:fld id="{AE8FA09A-F947-43F2-8408-C126057DFBFB}" type="datetimeFigureOut">
              <a:rPr lang="zh-TW" altLang="en-US" smtClean="0"/>
              <a:t>2023/9/11</a:t>
            </a:fld>
            <a:endParaRPr lang="zh-TW" altLang="en-US"/>
          </a:p>
        </p:txBody>
      </p:sp>
      <p:sp>
        <p:nvSpPr>
          <p:cNvPr id="5" name="頁尾版面配置區 4">
            <a:extLst>
              <a:ext uri="{FF2B5EF4-FFF2-40B4-BE49-F238E27FC236}">
                <a16:creationId xmlns:a16="http://schemas.microsoft.com/office/drawing/2014/main" id="{ACAB75C9-C024-B558-D45F-7857708774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5F45A64-F99E-C099-B11A-50A95E098FEF}"/>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38568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37508B-BEB1-C8F9-B516-0922DF72FB6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803A960-423A-63C2-DE35-5ECFB4DE1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49DDC9D-F9A5-2607-75C3-0D12FFEC815E}"/>
              </a:ext>
            </a:extLst>
          </p:cNvPr>
          <p:cNvSpPr>
            <a:spLocks noGrp="1"/>
          </p:cNvSpPr>
          <p:nvPr>
            <p:ph type="dt" sz="half" idx="10"/>
          </p:nvPr>
        </p:nvSpPr>
        <p:spPr/>
        <p:txBody>
          <a:bodyPr/>
          <a:lstStyle/>
          <a:p>
            <a:fld id="{AE8FA09A-F947-43F2-8408-C126057DFBFB}" type="datetimeFigureOut">
              <a:rPr lang="zh-TW" altLang="en-US" smtClean="0"/>
              <a:t>2023/9/11</a:t>
            </a:fld>
            <a:endParaRPr lang="zh-TW" altLang="en-US"/>
          </a:p>
        </p:txBody>
      </p:sp>
      <p:sp>
        <p:nvSpPr>
          <p:cNvPr id="5" name="頁尾版面配置區 4">
            <a:extLst>
              <a:ext uri="{FF2B5EF4-FFF2-40B4-BE49-F238E27FC236}">
                <a16:creationId xmlns:a16="http://schemas.microsoft.com/office/drawing/2014/main" id="{51737579-99A5-787F-A156-A914AC2691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DCF7EE7-94C2-1869-DD60-727D9699176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689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D93191-4D6D-0ABD-4FD0-D3DAEBA57E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01ED2BA-D421-7A64-DC46-93172086D23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A07B58A-5369-F605-DA10-8BA9C02942F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069A846-5B55-BD04-2DAB-0D2726E962A7}"/>
              </a:ext>
            </a:extLst>
          </p:cNvPr>
          <p:cNvSpPr>
            <a:spLocks noGrp="1"/>
          </p:cNvSpPr>
          <p:nvPr>
            <p:ph type="dt" sz="half" idx="10"/>
          </p:nvPr>
        </p:nvSpPr>
        <p:spPr/>
        <p:txBody>
          <a:bodyPr/>
          <a:lstStyle/>
          <a:p>
            <a:fld id="{AE8FA09A-F947-43F2-8408-C126057DFBFB}" type="datetimeFigureOut">
              <a:rPr lang="zh-TW" altLang="en-US" smtClean="0"/>
              <a:t>2023/9/11</a:t>
            </a:fld>
            <a:endParaRPr lang="zh-TW" altLang="en-US"/>
          </a:p>
        </p:txBody>
      </p:sp>
      <p:sp>
        <p:nvSpPr>
          <p:cNvPr id="6" name="頁尾版面配置區 5">
            <a:extLst>
              <a:ext uri="{FF2B5EF4-FFF2-40B4-BE49-F238E27FC236}">
                <a16:creationId xmlns:a16="http://schemas.microsoft.com/office/drawing/2014/main" id="{1502D24C-E889-D7B0-44D9-CE81B159E9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06439EF-16EE-FA12-79F3-B87E3982803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898087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6F3233-C6E5-0B44-D100-310DB38E5811}"/>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ED436CD-1CD4-D11C-BEAA-C417119007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1A8C39C-C632-D3AD-5AEA-87AD3CE7E47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A78D980-ADEE-0381-3898-A79271B830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4163D17-2951-4369-D786-C80C0E0AC83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D1A71428-24ED-C03C-2120-A1D148D10B70}"/>
              </a:ext>
            </a:extLst>
          </p:cNvPr>
          <p:cNvSpPr>
            <a:spLocks noGrp="1"/>
          </p:cNvSpPr>
          <p:nvPr>
            <p:ph type="dt" sz="half" idx="10"/>
          </p:nvPr>
        </p:nvSpPr>
        <p:spPr/>
        <p:txBody>
          <a:bodyPr/>
          <a:lstStyle/>
          <a:p>
            <a:fld id="{AE8FA09A-F947-43F2-8408-C126057DFBFB}" type="datetimeFigureOut">
              <a:rPr lang="zh-TW" altLang="en-US" smtClean="0"/>
              <a:t>2023/9/11</a:t>
            </a:fld>
            <a:endParaRPr lang="zh-TW" altLang="en-US"/>
          </a:p>
        </p:txBody>
      </p:sp>
      <p:sp>
        <p:nvSpPr>
          <p:cNvPr id="8" name="頁尾版面配置區 7">
            <a:extLst>
              <a:ext uri="{FF2B5EF4-FFF2-40B4-BE49-F238E27FC236}">
                <a16:creationId xmlns:a16="http://schemas.microsoft.com/office/drawing/2014/main" id="{82E1BEDD-6B2B-9839-FD27-D8A7C04DBCC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D55D63F-D8D7-440D-968C-FBBBB351775C}"/>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60010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201DAD-B1A7-6913-F8C4-3128A369DFE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EEEE96D-DCE2-0290-7CB8-E2A347F5FB2E}"/>
              </a:ext>
            </a:extLst>
          </p:cNvPr>
          <p:cNvSpPr>
            <a:spLocks noGrp="1"/>
          </p:cNvSpPr>
          <p:nvPr>
            <p:ph type="dt" sz="half" idx="10"/>
          </p:nvPr>
        </p:nvSpPr>
        <p:spPr/>
        <p:txBody>
          <a:bodyPr/>
          <a:lstStyle/>
          <a:p>
            <a:fld id="{AE8FA09A-F947-43F2-8408-C126057DFBFB}" type="datetimeFigureOut">
              <a:rPr lang="zh-TW" altLang="en-US" smtClean="0"/>
              <a:t>2023/9/11</a:t>
            </a:fld>
            <a:endParaRPr lang="zh-TW" altLang="en-US"/>
          </a:p>
        </p:txBody>
      </p:sp>
      <p:sp>
        <p:nvSpPr>
          <p:cNvPr id="4" name="頁尾版面配置區 3">
            <a:extLst>
              <a:ext uri="{FF2B5EF4-FFF2-40B4-BE49-F238E27FC236}">
                <a16:creationId xmlns:a16="http://schemas.microsoft.com/office/drawing/2014/main" id="{27DFB4F6-EB62-78FE-A3B6-22330318018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2C0C14C-28CD-EC7E-4309-732F432A8E7A}"/>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58946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58279C0-CD55-F003-AC5E-186052697790}"/>
              </a:ext>
            </a:extLst>
          </p:cNvPr>
          <p:cNvSpPr>
            <a:spLocks noGrp="1"/>
          </p:cNvSpPr>
          <p:nvPr>
            <p:ph type="dt" sz="half" idx="10"/>
          </p:nvPr>
        </p:nvSpPr>
        <p:spPr/>
        <p:txBody>
          <a:bodyPr/>
          <a:lstStyle/>
          <a:p>
            <a:fld id="{AE8FA09A-F947-43F2-8408-C126057DFBFB}" type="datetimeFigureOut">
              <a:rPr lang="zh-TW" altLang="en-US" smtClean="0"/>
              <a:t>2023/9/11</a:t>
            </a:fld>
            <a:endParaRPr lang="zh-TW" altLang="en-US"/>
          </a:p>
        </p:txBody>
      </p:sp>
      <p:sp>
        <p:nvSpPr>
          <p:cNvPr id="3" name="頁尾版面配置區 2">
            <a:extLst>
              <a:ext uri="{FF2B5EF4-FFF2-40B4-BE49-F238E27FC236}">
                <a16:creationId xmlns:a16="http://schemas.microsoft.com/office/drawing/2014/main" id="{36E7F1EF-FFA4-134D-A4B0-3774C78AC96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6AFB60E8-5211-F688-2F76-36E5498719CE}"/>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49558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D1827A-CB14-C4D4-25E3-41710BF6EA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C3446C2-058B-FE7C-C4EA-39142F7D7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2B9FA26-62A1-F41D-42AE-4B9FA400E1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701A1DA-69F3-C87D-CD25-E5F434BE3BE3}"/>
              </a:ext>
            </a:extLst>
          </p:cNvPr>
          <p:cNvSpPr>
            <a:spLocks noGrp="1"/>
          </p:cNvSpPr>
          <p:nvPr>
            <p:ph type="dt" sz="half" idx="10"/>
          </p:nvPr>
        </p:nvSpPr>
        <p:spPr/>
        <p:txBody>
          <a:bodyPr/>
          <a:lstStyle/>
          <a:p>
            <a:fld id="{AE8FA09A-F947-43F2-8408-C126057DFBFB}" type="datetimeFigureOut">
              <a:rPr lang="zh-TW" altLang="en-US" smtClean="0"/>
              <a:t>2023/9/11</a:t>
            </a:fld>
            <a:endParaRPr lang="zh-TW" altLang="en-US"/>
          </a:p>
        </p:txBody>
      </p:sp>
      <p:sp>
        <p:nvSpPr>
          <p:cNvPr id="6" name="頁尾版面配置區 5">
            <a:extLst>
              <a:ext uri="{FF2B5EF4-FFF2-40B4-BE49-F238E27FC236}">
                <a16:creationId xmlns:a16="http://schemas.microsoft.com/office/drawing/2014/main" id="{BE909FB9-26BE-EFF1-A2A0-2EDEAD11E9C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80F42F7-4924-ACAA-4B7E-81847CCAE6B1}"/>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6170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F3A632-06E7-2518-793D-34E8E6D78B2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659DF59-8B59-165B-FC2D-788F2972E7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81BBEC0-7FEE-EE4F-6278-6FC2F230D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F0A4099-AD40-6407-4A6E-440F0C9ED57D}"/>
              </a:ext>
            </a:extLst>
          </p:cNvPr>
          <p:cNvSpPr>
            <a:spLocks noGrp="1"/>
          </p:cNvSpPr>
          <p:nvPr>
            <p:ph type="dt" sz="half" idx="10"/>
          </p:nvPr>
        </p:nvSpPr>
        <p:spPr/>
        <p:txBody>
          <a:bodyPr/>
          <a:lstStyle/>
          <a:p>
            <a:fld id="{AE8FA09A-F947-43F2-8408-C126057DFBFB}" type="datetimeFigureOut">
              <a:rPr lang="zh-TW" altLang="en-US" smtClean="0"/>
              <a:t>2023/9/11</a:t>
            </a:fld>
            <a:endParaRPr lang="zh-TW" altLang="en-US"/>
          </a:p>
        </p:txBody>
      </p:sp>
      <p:sp>
        <p:nvSpPr>
          <p:cNvPr id="6" name="頁尾版面配置區 5">
            <a:extLst>
              <a:ext uri="{FF2B5EF4-FFF2-40B4-BE49-F238E27FC236}">
                <a16:creationId xmlns:a16="http://schemas.microsoft.com/office/drawing/2014/main" id="{F165FF51-855C-82B4-240E-D1AF0254030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02CF40C-AF6C-C9FF-89A1-58A1B03B6C4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496780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E39347-557F-B5D8-678D-276F907F4FD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8EED0EF-2EFC-0A2C-A1A1-566E81CDA31F}"/>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A42852E-12ED-C0F2-A102-7A6CE771DF50}"/>
              </a:ext>
            </a:extLst>
          </p:cNvPr>
          <p:cNvSpPr>
            <a:spLocks noGrp="1"/>
          </p:cNvSpPr>
          <p:nvPr>
            <p:ph type="dt" sz="half" idx="10"/>
          </p:nvPr>
        </p:nvSpPr>
        <p:spPr/>
        <p:txBody>
          <a:bodyPr/>
          <a:lstStyle/>
          <a:p>
            <a:fld id="{AE8FA09A-F947-43F2-8408-C126057DFBFB}" type="datetimeFigureOut">
              <a:rPr lang="zh-TW" altLang="en-US" smtClean="0"/>
              <a:t>2023/9/11</a:t>
            </a:fld>
            <a:endParaRPr lang="zh-TW" altLang="en-US"/>
          </a:p>
        </p:txBody>
      </p:sp>
      <p:sp>
        <p:nvSpPr>
          <p:cNvPr id="5" name="頁尾版面配置區 4">
            <a:extLst>
              <a:ext uri="{FF2B5EF4-FFF2-40B4-BE49-F238E27FC236}">
                <a16:creationId xmlns:a16="http://schemas.microsoft.com/office/drawing/2014/main" id="{1D930DA9-725C-5B7A-5BFB-0B94FF48611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B92A56-D44A-B10D-C20D-AC8706D7822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991004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B36CFAD-7B1A-4F41-7AA1-3F5865D1345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A3AE268-50FA-2DB3-85DF-75AC97871EF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969F98A-EAB9-3D3B-7A32-3741EF289F77}"/>
              </a:ext>
            </a:extLst>
          </p:cNvPr>
          <p:cNvSpPr>
            <a:spLocks noGrp="1"/>
          </p:cNvSpPr>
          <p:nvPr>
            <p:ph type="dt" sz="half" idx="10"/>
          </p:nvPr>
        </p:nvSpPr>
        <p:spPr/>
        <p:txBody>
          <a:bodyPr/>
          <a:lstStyle/>
          <a:p>
            <a:fld id="{AE8FA09A-F947-43F2-8408-C126057DFBFB}" type="datetimeFigureOut">
              <a:rPr lang="zh-TW" altLang="en-US" smtClean="0"/>
              <a:t>2023/9/11</a:t>
            </a:fld>
            <a:endParaRPr lang="zh-TW" altLang="en-US"/>
          </a:p>
        </p:txBody>
      </p:sp>
      <p:sp>
        <p:nvSpPr>
          <p:cNvPr id="5" name="頁尾版面配置區 4">
            <a:extLst>
              <a:ext uri="{FF2B5EF4-FFF2-40B4-BE49-F238E27FC236}">
                <a16:creationId xmlns:a16="http://schemas.microsoft.com/office/drawing/2014/main" id="{AB6F795B-0E4E-9263-5414-6CF7A28738E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952AC5-C821-BDC5-2B56-1AC08DD08A64}"/>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91923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A69BABF-6143-6E99-0B49-97D885BD74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B1DF635-42A0-B056-4EB4-97F7B309A0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7B49324-9375-D069-B743-3683D64388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8FA09A-F947-43F2-8408-C126057DFBFB}" type="datetimeFigureOut">
              <a:rPr lang="zh-TW" altLang="en-US" smtClean="0"/>
              <a:t>2023/9/11</a:t>
            </a:fld>
            <a:endParaRPr lang="zh-TW" altLang="en-US"/>
          </a:p>
        </p:txBody>
      </p:sp>
      <p:sp>
        <p:nvSpPr>
          <p:cNvPr id="5" name="頁尾版面配置區 4">
            <a:extLst>
              <a:ext uri="{FF2B5EF4-FFF2-40B4-BE49-F238E27FC236}">
                <a16:creationId xmlns:a16="http://schemas.microsoft.com/office/drawing/2014/main" id="{28584CA7-762E-3A5A-304E-1EAAB6D16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EA5B41FD-5E7A-AF87-9639-CB9054602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289768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D6ECA-8C9F-6ADC-F8D7-2A82572058E8}"/>
              </a:ext>
            </a:extLst>
          </p:cNvPr>
          <p:cNvSpPr>
            <a:spLocks noGrp="1"/>
          </p:cNvSpPr>
          <p:nvPr>
            <p:ph type="ctrTitle"/>
          </p:nvPr>
        </p:nvSpPr>
        <p:spPr>
          <a:xfrm>
            <a:off x="667910" y="1122363"/>
            <a:ext cx="10829676" cy="2387600"/>
          </a:xfrm>
        </p:spPr>
        <p:txBody>
          <a:bodyPr>
            <a:noAutofit/>
          </a:bodyPr>
          <a:lstStyle/>
          <a:p>
            <a:r>
              <a:rPr lang="en-US" altLang="zh-TW" sz="4800" dirty="0">
                <a:latin typeface="Times New Roman" panose="02020603050405020304" pitchFamily="18" charset="0"/>
                <a:cs typeface="Times New Roman" panose="02020603050405020304" pitchFamily="18" charset="0"/>
              </a:rPr>
              <a:t>Stock Prediction Based on Genetic Algorithm Feature Selection and Long Short-Term Memory Neural Network </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B6739F88-A29A-4C56-52FA-D407B32738E9}"/>
              </a:ext>
            </a:extLst>
          </p:cNvPr>
          <p:cNvSpPr>
            <a:spLocks noGrp="1"/>
          </p:cNvSpPr>
          <p:nvPr>
            <p:ph type="subTitle" idx="1"/>
          </p:nvPr>
        </p:nvSpPr>
        <p:spPr>
          <a:xfrm>
            <a:off x="1524000" y="3728333"/>
            <a:ext cx="9144000" cy="1655762"/>
          </a:xfrm>
        </p:spPr>
        <p:txBody>
          <a:bodyPr/>
          <a:lstStyle/>
          <a:p>
            <a:r>
              <a:rPr lang="en-US" altLang="zh-TW" dirty="0">
                <a:latin typeface="Times New Roman" panose="02020603050405020304" pitchFamily="18" charset="0"/>
                <a:cs typeface="Times New Roman" panose="02020603050405020304" pitchFamily="18" charset="0"/>
              </a:rPr>
              <a:t>SHILE CHEN(</a:t>
            </a:r>
            <a:r>
              <a:rPr lang="zh-TW" altLang="en-US" dirty="0">
                <a:latin typeface="標楷體" panose="03000509000000000000" pitchFamily="65" charset="-120"/>
                <a:ea typeface="標楷體" panose="03000509000000000000" pitchFamily="65" charset="-120"/>
                <a:cs typeface="Times New Roman" panose="02020603050405020304" pitchFamily="18" charset="0"/>
              </a:rPr>
              <a:t>陳詩樂</a:t>
            </a:r>
            <a:r>
              <a:rPr lang="en-US" altLang="zh-TW" dirty="0">
                <a:latin typeface="Times New Roman" panose="02020603050405020304" pitchFamily="18" charset="0"/>
                <a:cs typeface="Times New Roman" panose="02020603050405020304" pitchFamily="18" charset="0"/>
              </a:rPr>
              <a:t>), CHANGJUN ZHOU(</a:t>
            </a:r>
            <a:r>
              <a:rPr lang="zh-TW" altLang="en-US" dirty="0">
                <a:latin typeface="標楷體" panose="03000509000000000000" pitchFamily="65" charset="-120"/>
                <a:ea typeface="標楷體" panose="03000509000000000000" pitchFamily="65" charset="-120"/>
                <a:cs typeface="Times New Roman" panose="02020603050405020304" pitchFamily="18" charset="0"/>
              </a:rPr>
              <a:t>周昌軍</a:t>
            </a:r>
            <a:r>
              <a:rPr lang="en-US" altLang="zh-TW" dirty="0">
                <a:latin typeface="Times New Roman" panose="02020603050405020304" pitchFamily="18" charset="0"/>
                <a:cs typeface="Times New Roman" panose="02020603050405020304" pitchFamily="18" charset="0"/>
              </a:rPr>
              <a:t>)</a:t>
            </a:r>
          </a:p>
          <a:p>
            <a:r>
              <a:rPr lang="en-US" altLang="zh-TW" dirty="0">
                <a:solidFill>
                  <a:srgbClr val="333333"/>
                </a:solidFill>
                <a:latin typeface="Times New Roman" panose="02020603050405020304" pitchFamily="18" charset="0"/>
                <a:cs typeface="Times New Roman" panose="02020603050405020304" pitchFamily="18" charset="0"/>
              </a:rPr>
              <a:t>IEEE Access, Volume 9, </a:t>
            </a:r>
            <a:r>
              <a:rPr lang="en-US" altLang="zh-TW" b="0" i="0" dirty="0">
                <a:solidFill>
                  <a:srgbClr val="333333"/>
                </a:solidFill>
                <a:effectLst/>
                <a:latin typeface="Times New Roman" panose="02020603050405020304" pitchFamily="18" charset="0"/>
                <a:cs typeface="Times New Roman" panose="02020603050405020304" pitchFamily="18" charset="0"/>
              </a:rPr>
              <a:t>24 December 2020, Page : 9066 - 9072</a:t>
            </a:r>
            <a:endParaRPr lang="en-US" altLang="zh-TW" dirty="0">
              <a:latin typeface="Times New Roman" panose="02020603050405020304" pitchFamily="18" charset="0"/>
              <a:cs typeface="Times New Roman" panose="02020603050405020304" pitchFamily="18" charset="0"/>
            </a:endParaRPr>
          </a:p>
          <a:p>
            <a:endParaRPr lang="zh-TW" altLang="en-US" dirty="0"/>
          </a:p>
        </p:txBody>
      </p:sp>
      <p:sp>
        <p:nvSpPr>
          <p:cNvPr id="4" name="文字方塊 3">
            <a:extLst>
              <a:ext uri="{FF2B5EF4-FFF2-40B4-BE49-F238E27FC236}">
                <a16:creationId xmlns:a16="http://schemas.microsoft.com/office/drawing/2014/main" id="{D6BC2F8A-F57D-93E1-25E0-DACED7728107}"/>
              </a:ext>
            </a:extLst>
          </p:cNvPr>
          <p:cNvSpPr txBox="1"/>
          <p:nvPr/>
        </p:nvSpPr>
        <p:spPr>
          <a:xfrm>
            <a:off x="8410112" y="5913844"/>
            <a:ext cx="3657600" cy="830997"/>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Presenter : Jing-</a:t>
            </a:r>
            <a:r>
              <a:rPr lang="en-US" altLang="zh-TW" sz="2400" dirty="0" err="1">
                <a:latin typeface="Times New Roman" panose="02020603050405020304" pitchFamily="18" charset="0"/>
                <a:cs typeface="Times New Roman" panose="02020603050405020304" pitchFamily="18" charset="0"/>
              </a:rPr>
              <a:t>Xiang.Yang</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Data : </a:t>
            </a:r>
            <a:r>
              <a:rPr lang="en-US" altLang="zh-TW" sz="2400" b="0" i="0" dirty="0">
                <a:solidFill>
                  <a:srgbClr val="202124"/>
                </a:solidFill>
                <a:effectLst/>
                <a:latin typeface="Times New Roman" panose="02020603050405020304" pitchFamily="18" charset="0"/>
                <a:cs typeface="Times New Roman" panose="02020603050405020304" pitchFamily="18" charset="0"/>
              </a:rPr>
              <a:t>SEP.8,</a:t>
            </a:r>
            <a:r>
              <a:rPr lang="en-US" altLang="zh-TW" sz="2400" dirty="0">
                <a:latin typeface="Times New Roman" panose="02020603050405020304" pitchFamily="18" charset="0"/>
                <a:cs typeface="Times New Roman" panose="02020603050405020304" pitchFamily="18" charset="0"/>
              </a:rPr>
              <a:t>2023</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461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lstStyle/>
          <a:p>
            <a:pPr algn="ctr"/>
            <a:r>
              <a:rPr lang="en-US" altLang="zh-TW" sz="4800" dirty="0">
                <a:latin typeface="Times New Roman" panose="02020603050405020304" pitchFamily="18" charset="0"/>
                <a:cs typeface="Times New Roman" panose="02020603050405020304" pitchFamily="18" charset="0"/>
              </a:rPr>
              <a:t>ABSTRACT(1/2)</a:t>
            </a:r>
            <a:endParaRPr lang="zh-TW" altLang="en-US" sz="48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295AD0F-78B0-3EC9-0878-946F93F0535E}"/>
              </a:ext>
            </a:extLst>
          </p:cNvPr>
          <p:cNvSpPr>
            <a:spLocks noGrp="1"/>
          </p:cNvSpPr>
          <p:nvPr>
            <p:ph idx="1"/>
          </p:nvPr>
        </p:nvSpPr>
        <p:spPr>
          <a:xfrm>
            <a:off x="838200" y="1626843"/>
            <a:ext cx="10515600" cy="4351338"/>
          </a:xfrm>
        </p:spPr>
        <p:txBody>
          <a:bodyPr>
            <a:noAutofit/>
          </a:bodyPr>
          <a:lstStyle/>
          <a:p>
            <a:pPr marL="0" indent="0" algn="just">
              <a:buNone/>
            </a:pPr>
            <a:r>
              <a:rPr lang="en-US" altLang="zh-TW" sz="3200" dirty="0">
                <a:latin typeface="Times New Roman" panose="02020603050405020304" pitchFamily="18" charset="0"/>
                <a:cs typeface="Times New Roman" panose="02020603050405020304" pitchFamily="18" charset="0"/>
              </a:rPr>
              <a:t>	</a:t>
            </a:r>
            <a:r>
              <a:rPr lang="en-US" altLang="zh-TW" sz="3000" dirty="0">
                <a:latin typeface="Times New Roman" panose="02020603050405020304" pitchFamily="18" charset="0"/>
                <a:cs typeface="Times New Roman" panose="02020603050405020304" pitchFamily="18" charset="0"/>
              </a:rPr>
              <a:t>In the financial market, there are a large number of indicators used to describe the change of stock price, which provides a good data basis for our stock price forecast. Different stocks are affected by different factors due to their different industry types and regions. Therefore, it is very important to find a multi factor combination suitable for a particular stock to predict the price of the stock. This paper proposes to use Genetic Algorithm(GA) for feature selection and develop an optimized Long Short-Term Memory(LSTM) neural network stock prediction model.</a:t>
            </a:r>
            <a:endParaRPr lang="zh-TW"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2369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lstStyle/>
          <a:p>
            <a:pPr algn="ctr"/>
            <a:r>
              <a:rPr lang="en-US" altLang="zh-TW" sz="4800" dirty="0">
                <a:latin typeface="Times New Roman" panose="02020603050405020304" pitchFamily="18" charset="0"/>
                <a:cs typeface="Times New Roman" panose="02020603050405020304" pitchFamily="18" charset="0"/>
              </a:rPr>
              <a:t>ABSTRACT(2/2)</a:t>
            </a:r>
            <a:endParaRPr lang="zh-TW" altLang="en-US" sz="48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295AD0F-78B0-3EC9-0878-946F93F0535E}"/>
              </a:ext>
            </a:extLst>
          </p:cNvPr>
          <p:cNvSpPr>
            <a:spLocks noGrp="1"/>
          </p:cNvSpPr>
          <p:nvPr>
            <p:ph idx="1"/>
          </p:nvPr>
        </p:nvSpPr>
        <p:spPr>
          <a:xfrm>
            <a:off x="838200" y="1690688"/>
            <a:ext cx="10515600" cy="4351338"/>
          </a:xfrm>
        </p:spPr>
        <p:txBody>
          <a:bodyPr/>
          <a:lstStyle/>
          <a:p>
            <a:pPr marL="0" indent="0" algn="just">
              <a:buNone/>
            </a:pPr>
            <a:r>
              <a:rPr lang="en-US" altLang="zh-TW" sz="3000" dirty="0">
                <a:latin typeface="Times New Roman" panose="02020603050405020304" pitchFamily="18" charset="0"/>
                <a:cs typeface="Times New Roman" panose="02020603050405020304" pitchFamily="18" charset="0"/>
              </a:rPr>
              <a:t>	Firstly, we use the GA to obtain a factors importance ranking. Then, the optimal combination of factors is obtained from this ranking with the method of trial and error. Finally, we use the combination of optimal factors and LSTM model for stock prediction. Thorough empirical studies based upon the China construction bank dataset and the CSI 300 stock dataset demonstrate that the GA-LSTM model can outperform all baseline models for time series prediction. </a:t>
            </a:r>
            <a:endParaRPr lang="zh-TW"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2404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Paper Proposed Method</a:t>
            </a:r>
            <a:endParaRPr lang="zh-TW" altLang="en-US" sz="4800" dirty="0"/>
          </a:p>
        </p:txBody>
      </p:sp>
      <p:sp>
        <p:nvSpPr>
          <p:cNvPr id="3" name="內容版面配置區 2">
            <a:extLst>
              <a:ext uri="{FF2B5EF4-FFF2-40B4-BE49-F238E27FC236}">
                <a16:creationId xmlns:a16="http://schemas.microsoft.com/office/drawing/2014/main" id="{E295AD0F-78B0-3EC9-0878-946F93F0535E}"/>
              </a:ext>
            </a:extLst>
          </p:cNvPr>
          <p:cNvSpPr>
            <a:spLocks noGrp="1"/>
          </p:cNvSpPr>
          <p:nvPr>
            <p:ph idx="1"/>
          </p:nvPr>
        </p:nvSpPr>
        <p:spPr/>
        <p:txBody>
          <a:bodyPr>
            <a:normAutofit/>
          </a:bodyPr>
          <a:lstStyle/>
          <a:p>
            <a:pPr marL="0" indent="0">
              <a:buNone/>
            </a:pPr>
            <a:r>
              <a:rPr lang="en-US" altLang="zh-TW" sz="4000" dirty="0" err="1">
                <a:latin typeface="Times New Roman" panose="02020603050405020304" pitchFamily="18" charset="0"/>
                <a:cs typeface="Times New Roman" panose="02020603050405020304" pitchFamily="18" charset="0"/>
              </a:rPr>
              <a:t>DataSet</a:t>
            </a:r>
            <a:endParaRPr lang="en-US" altLang="zh-TW" sz="4000" dirty="0">
              <a:latin typeface="Times New Roman" panose="02020603050405020304" pitchFamily="18" charset="0"/>
              <a:cs typeface="Times New Roman" panose="02020603050405020304" pitchFamily="18" charset="0"/>
            </a:endParaRPr>
          </a:p>
          <a:p>
            <a:r>
              <a:rPr lang="en-US" altLang="zh-TW" sz="2800" dirty="0">
                <a:latin typeface="Times New Roman" panose="02020603050405020304" pitchFamily="18" charset="0"/>
                <a:cs typeface="Times New Roman" panose="02020603050405020304" pitchFamily="18" charset="0"/>
              </a:rPr>
              <a:t>China construction bank  ( </a:t>
            </a:r>
            <a:r>
              <a:rPr lang="en-US" altLang="zh-TW" sz="2800" dirty="0">
                <a:solidFill>
                  <a:srgbClr val="FF0000"/>
                </a:solidFill>
                <a:latin typeface="Times New Roman" panose="02020603050405020304" pitchFamily="18" charset="0"/>
                <a:cs typeface="Times New Roman" panose="02020603050405020304" pitchFamily="18" charset="0"/>
              </a:rPr>
              <a:t>2490</a:t>
            </a:r>
            <a:r>
              <a:rPr lang="en-US" altLang="zh-TW" sz="28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pieces of historical data </a:t>
            </a:r>
            <a:r>
              <a:rPr lang="en-US" altLang="zh-TW" sz="2800" dirty="0">
                <a:latin typeface="Times New Roman" panose="02020603050405020304" pitchFamily="18" charset="0"/>
                <a:cs typeface="Times New Roman" panose="02020603050405020304" pitchFamily="18" charset="0"/>
              </a:rPr>
              <a:t>)</a:t>
            </a:r>
            <a:endParaRPr lang="en-US" altLang="zh-TW" sz="4000" dirty="0">
              <a:latin typeface="Times New Roman" panose="02020603050405020304" pitchFamily="18" charset="0"/>
              <a:cs typeface="Times New Roman" panose="02020603050405020304" pitchFamily="18" charset="0"/>
            </a:endParaRPr>
          </a:p>
          <a:p>
            <a:r>
              <a:rPr lang="en-US" altLang="zh-TW" sz="2800" dirty="0">
                <a:latin typeface="Times New Roman" panose="02020603050405020304" pitchFamily="18" charset="0"/>
                <a:cs typeface="Times New Roman" panose="02020603050405020304" pitchFamily="18" charset="0"/>
              </a:rPr>
              <a:t>CSI 300(</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滬深</a:t>
            </a:r>
            <a:r>
              <a:rPr lang="en-US" altLang="zh-TW" b="0" i="0" dirty="0">
                <a:solidFill>
                  <a:srgbClr val="202124"/>
                </a:solidFill>
                <a:effectLst/>
                <a:latin typeface="Times New Roman" panose="02020603050405020304" pitchFamily="18" charset="0"/>
                <a:cs typeface="Times New Roman" panose="02020603050405020304" pitchFamily="18" charset="0"/>
              </a:rPr>
              <a:t>300</a:t>
            </a:r>
            <a:r>
              <a:rPr lang="en-US" altLang="zh-TW" sz="2800"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January 1, 2010 </a:t>
            </a:r>
            <a:r>
              <a:rPr lang="en-US" altLang="zh-TW" dirty="0">
                <a:latin typeface="Times New Roman" panose="02020603050405020304" pitchFamily="18" charset="0"/>
                <a:cs typeface="Times New Roman" panose="02020603050405020304" pitchFamily="18" charset="0"/>
              </a:rPr>
              <a:t>to </a:t>
            </a:r>
            <a:r>
              <a:rPr lang="en-US" altLang="zh-TW" dirty="0">
                <a:solidFill>
                  <a:srgbClr val="FF0000"/>
                </a:solidFill>
                <a:latin typeface="Times New Roman" panose="02020603050405020304" pitchFamily="18" charset="0"/>
                <a:cs typeface="Times New Roman" panose="02020603050405020304" pitchFamily="18" charset="0"/>
              </a:rPr>
              <a:t>April 1, 2020</a:t>
            </a:r>
            <a:r>
              <a:rPr lang="en-US" altLang="zh-TW" sz="2800"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Use </a:t>
            </a:r>
            <a:r>
              <a:rPr lang="en-US" altLang="zh-TW" dirty="0">
                <a:solidFill>
                  <a:srgbClr val="FF0000"/>
                </a:solidFill>
                <a:latin typeface="Times New Roman" panose="02020603050405020304" pitchFamily="18" charset="0"/>
                <a:cs typeface="Times New Roman" panose="02020603050405020304" pitchFamily="18" charset="0"/>
              </a:rPr>
              <a:t>40</a:t>
            </a:r>
            <a:r>
              <a:rPr lang="en-US" altLang="zh-TW" dirty="0">
                <a:latin typeface="Times New Roman" panose="02020603050405020304" pitchFamily="18" charset="0"/>
                <a:cs typeface="Times New Roman" panose="02020603050405020304" pitchFamily="18" charset="0"/>
              </a:rPr>
              <a:t> stock factor as feature candidate</a:t>
            </a:r>
          </a:p>
          <a:p>
            <a:endParaRPr lang="zh-TW" alt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3029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Paper Proposed Method</a:t>
            </a:r>
            <a:endParaRPr lang="zh-TW" altLang="en-US" sz="4800" dirty="0"/>
          </a:p>
        </p:txBody>
      </p:sp>
      <p:sp>
        <p:nvSpPr>
          <p:cNvPr id="3" name="內容版面配置區 2">
            <a:extLst>
              <a:ext uri="{FF2B5EF4-FFF2-40B4-BE49-F238E27FC236}">
                <a16:creationId xmlns:a16="http://schemas.microsoft.com/office/drawing/2014/main" id="{E295AD0F-78B0-3EC9-0878-946F93F0535E}"/>
              </a:ext>
            </a:extLst>
          </p:cNvPr>
          <p:cNvSpPr>
            <a:spLocks noGrp="1"/>
          </p:cNvSpPr>
          <p:nvPr>
            <p:ph idx="1"/>
          </p:nvPr>
        </p:nvSpPr>
        <p:spPr/>
        <p:txBody>
          <a:bodyPr>
            <a:normAutofit/>
          </a:bodyPr>
          <a:lstStyle/>
          <a:p>
            <a:pPr marL="0" indent="0">
              <a:buNone/>
            </a:pPr>
            <a:r>
              <a:rPr lang="en-US" altLang="zh-TW" sz="4000" dirty="0" err="1">
                <a:latin typeface="Times New Roman" panose="02020603050405020304" pitchFamily="18" charset="0"/>
                <a:cs typeface="Times New Roman" panose="02020603050405020304" pitchFamily="18" charset="0"/>
              </a:rPr>
              <a:t>WorkFlow</a:t>
            </a:r>
            <a:endParaRPr lang="en-US" altLang="zh-TW" sz="4000" dirty="0">
              <a:latin typeface="Times New Roman" panose="02020603050405020304" pitchFamily="18" charset="0"/>
              <a:cs typeface="Times New Roman" panose="02020603050405020304" pitchFamily="18" charset="0"/>
            </a:endParaRPr>
          </a:p>
          <a:p>
            <a:pPr marL="0" indent="0">
              <a:buNone/>
            </a:pPr>
            <a:endParaRPr lang="en-US" altLang="zh-TW" sz="4000" dirty="0">
              <a:latin typeface="Times New Roman" panose="02020603050405020304" pitchFamily="18" charset="0"/>
              <a:cs typeface="Times New Roman" panose="02020603050405020304" pitchFamily="18" charset="0"/>
            </a:endParaRPr>
          </a:p>
          <a:p>
            <a:pPr marL="0" indent="0">
              <a:buNone/>
            </a:pPr>
            <a:endParaRPr lang="zh-TW" altLang="en-US" sz="4000" dirty="0">
              <a:latin typeface="Times New Roman" panose="02020603050405020304" pitchFamily="18" charset="0"/>
              <a:cs typeface="Times New Roman" panose="02020603050405020304" pitchFamily="18" charset="0"/>
            </a:endParaRPr>
          </a:p>
        </p:txBody>
      </p:sp>
      <p:sp>
        <p:nvSpPr>
          <p:cNvPr id="4" name="矩形: 圓角 3">
            <a:extLst>
              <a:ext uri="{FF2B5EF4-FFF2-40B4-BE49-F238E27FC236}">
                <a16:creationId xmlns:a16="http://schemas.microsoft.com/office/drawing/2014/main" id="{0DAF2ADE-BE18-8A4C-F780-182BBE008F1A}"/>
              </a:ext>
            </a:extLst>
          </p:cNvPr>
          <p:cNvSpPr/>
          <p:nvPr/>
        </p:nvSpPr>
        <p:spPr>
          <a:xfrm>
            <a:off x="1687667" y="3266546"/>
            <a:ext cx="3520443" cy="146920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C0D16BCD-1FA2-6E65-9843-1172CD6E9E69}"/>
              </a:ext>
            </a:extLst>
          </p:cNvPr>
          <p:cNvSpPr txBox="1"/>
          <p:nvPr/>
        </p:nvSpPr>
        <p:spPr>
          <a:xfrm>
            <a:off x="2842591" y="2694351"/>
            <a:ext cx="1932167"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Stage1</a:t>
            </a:r>
            <a:endParaRPr lang="zh-TW" altLang="en-US" sz="28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D6791314-BBFC-6734-2ACB-81A39FCF775E}"/>
              </a:ext>
            </a:extLst>
          </p:cNvPr>
          <p:cNvSpPr txBox="1"/>
          <p:nvPr/>
        </p:nvSpPr>
        <p:spPr>
          <a:xfrm>
            <a:off x="7971182" y="2708552"/>
            <a:ext cx="1932167"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Stage2</a:t>
            </a:r>
            <a:endParaRPr lang="zh-TW" altLang="en-US" sz="28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547E10AB-31A8-FDBD-6058-E147AF720D67}"/>
              </a:ext>
            </a:extLst>
          </p:cNvPr>
          <p:cNvSpPr txBox="1"/>
          <p:nvPr/>
        </p:nvSpPr>
        <p:spPr>
          <a:xfrm>
            <a:off x="2002735" y="3482991"/>
            <a:ext cx="3010231" cy="830997"/>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Use GA to sort importance of factor </a:t>
            </a:r>
            <a:endParaRPr lang="zh-TW" altLang="en-US" sz="2400" dirty="0">
              <a:latin typeface="Times New Roman" panose="02020603050405020304" pitchFamily="18" charset="0"/>
              <a:cs typeface="Times New Roman" panose="02020603050405020304" pitchFamily="18" charset="0"/>
            </a:endParaRPr>
          </a:p>
        </p:txBody>
      </p:sp>
      <p:sp>
        <p:nvSpPr>
          <p:cNvPr id="9" name="矩形: 圓角 8">
            <a:extLst>
              <a:ext uri="{FF2B5EF4-FFF2-40B4-BE49-F238E27FC236}">
                <a16:creationId xmlns:a16="http://schemas.microsoft.com/office/drawing/2014/main" id="{F6B0AFA7-747D-873A-B443-204EA0018D67}"/>
              </a:ext>
            </a:extLst>
          </p:cNvPr>
          <p:cNvSpPr/>
          <p:nvPr/>
        </p:nvSpPr>
        <p:spPr>
          <a:xfrm>
            <a:off x="6768543" y="3266546"/>
            <a:ext cx="3674835" cy="146920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622F3EDC-5776-9631-217E-40EC3077B2A2}"/>
              </a:ext>
            </a:extLst>
          </p:cNvPr>
          <p:cNvSpPr txBox="1"/>
          <p:nvPr/>
        </p:nvSpPr>
        <p:spPr>
          <a:xfrm>
            <a:off x="6705593" y="3336094"/>
            <a:ext cx="3798740" cy="1200329"/>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top 40, 30, 20, 10 and 5 factors were taken as input </a:t>
            </a:r>
            <a:r>
              <a:rPr lang="en-US" altLang="zh-TW" sz="2400" dirty="0"/>
              <a:t>features of the LSTM model</a:t>
            </a:r>
            <a:endParaRPr lang="zh-TW" altLang="en-US" sz="2400" dirty="0">
              <a:latin typeface="Times New Roman" panose="02020603050405020304" pitchFamily="18" charset="0"/>
              <a:cs typeface="Times New Roman" panose="02020603050405020304" pitchFamily="18" charset="0"/>
            </a:endParaRPr>
          </a:p>
        </p:txBody>
      </p:sp>
      <p:cxnSp>
        <p:nvCxnSpPr>
          <p:cNvPr id="12" name="直線單箭頭接點 11">
            <a:extLst>
              <a:ext uri="{FF2B5EF4-FFF2-40B4-BE49-F238E27FC236}">
                <a16:creationId xmlns:a16="http://schemas.microsoft.com/office/drawing/2014/main" id="{0556E668-9E74-4AB7-516F-CDFF3E2FAFEB}"/>
              </a:ext>
            </a:extLst>
          </p:cNvPr>
          <p:cNvCxnSpPr>
            <a:cxnSpLocks/>
          </p:cNvCxnSpPr>
          <p:nvPr/>
        </p:nvCxnSpPr>
        <p:spPr>
          <a:xfrm>
            <a:off x="3808674" y="4829500"/>
            <a:ext cx="1668848" cy="755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D03964D2-7AC0-2490-1E6C-180092EE7A5B}"/>
              </a:ext>
            </a:extLst>
          </p:cNvPr>
          <p:cNvCxnSpPr>
            <a:cxnSpLocks/>
          </p:cNvCxnSpPr>
          <p:nvPr/>
        </p:nvCxnSpPr>
        <p:spPr>
          <a:xfrm flipH="1">
            <a:off x="5685183" y="4770524"/>
            <a:ext cx="1542553" cy="814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90A3D340-D123-632F-E06A-F3631283E0C4}"/>
              </a:ext>
            </a:extLst>
          </p:cNvPr>
          <p:cNvSpPr txBox="1"/>
          <p:nvPr/>
        </p:nvSpPr>
        <p:spPr>
          <a:xfrm>
            <a:off x="2719345" y="5540876"/>
            <a:ext cx="6313336" cy="492443"/>
          </a:xfrm>
          <a:prstGeom prst="rect">
            <a:avLst/>
          </a:prstGeom>
          <a:noFill/>
        </p:spPr>
        <p:txBody>
          <a:bodyPr wrap="square" rtlCol="0">
            <a:spAutoFit/>
          </a:bodyPr>
          <a:lstStyle/>
          <a:p>
            <a:r>
              <a:rPr lang="en-US" altLang="zh-TW" sz="2600" dirty="0">
                <a:latin typeface="Times New Roman" panose="02020603050405020304" pitchFamily="18" charset="0"/>
                <a:cs typeface="Times New Roman" panose="02020603050405020304" pitchFamily="18" charset="0"/>
              </a:rPr>
              <a:t>Optimal factor combination is determined !</a:t>
            </a:r>
            <a:endParaRPr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861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lstStyle/>
          <a:p>
            <a:pPr algn="ctr"/>
            <a:endParaRPr lang="zh-TW" altLang="en-US" sz="4800"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D4935E78-0127-BA07-A77A-CF3681633E9F}"/>
              </a:ext>
            </a:extLst>
          </p:cNvPr>
          <p:cNvPicPr>
            <a:picLocks noGrp="1" noChangeAspect="1"/>
          </p:cNvPicPr>
          <p:nvPr>
            <p:ph idx="1"/>
          </p:nvPr>
        </p:nvPicPr>
        <p:blipFill>
          <a:blip r:embed="rId2"/>
          <a:stretch>
            <a:fillRect/>
          </a:stretch>
        </p:blipFill>
        <p:spPr>
          <a:xfrm>
            <a:off x="1908130" y="2006083"/>
            <a:ext cx="8375740" cy="3405958"/>
          </a:xfrm>
        </p:spPr>
      </p:pic>
      <p:sp>
        <p:nvSpPr>
          <p:cNvPr id="6" name="橢圓 5">
            <a:extLst>
              <a:ext uri="{FF2B5EF4-FFF2-40B4-BE49-F238E27FC236}">
                <a16:creationId xmlns:a16="http://schemas.microsoft.com/office/drawing/2014/main" id="{71C8EEEB-7A87-ACA6-37B3-C2B59EC05175}"/>
              </a:ext>
            </a:extLst>
          </p:cNvPr>
          <p:cNvSpPr/>
          <p:nvPr/>
        </p:nvSpPr>
        <p:spPr>
          <a:xfrm>
            <a:off x="1908130" y="2006083"/>
            <a:ext cx="695111" cy="998374"/>
          </a:xfrm>
          <a:prstGeom prst="ellipse">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a:extLst>
              <a:ext uri="{FF2B5EF4-FFF2-40B4-BE49-F238E27FC236}">
                <a16:creationId xmlns:a16="http://schemas.microsoft.com/office/drawing/2014/main" id="{1810E295-809F-9658-61B1-BA965037EACF}"/>
              </a:ext>
            </a:extLst>
          </p:cNvPr>
          <p:cNvSpPr/>
          <p:nvPr/>
        </p:nvSpPr>
        <p:spPr>
          <a:xfrm>
            <a:off x="9067819" y="4491136"/>
            <a:ext cx="695111" cy="998374"/>
          </a:xfrm>
          <a:prstGeom prst="ellipse">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3CA87779-11AC-75D8-E0F5-654914624427}"/>
              </a:ext>
            </a:extLst>
          </p:cNvPr>
          <p:cNvSpPr txBox="1"/>
          <p:nvPr/>
        </p:nvSpPr>
        <p:spPr>
          <a:xfrm>
            <a:off x="2472612" y="1697781"/>
            <a:ext cx="1934221" cy="461665"/>
          </a:xfrm>
          <a:prstGeom prst="rect">
            <a:avLst/>
          </a:prstGeom>
          <a:noFill/>
        </p:spPr>
        <p:txBody>
          <a:bodyPr wrap="square" rtlCol="0">
            <a:spAutoFit/>
          </a:bodyPr>
          <a:lstStyle/>
          <a:p>
            <a:r>
              <a:rPr lang="en-US" altLang="zh-TW" sz="2400" dirty="0">
                <a:solidFill>
                  <a:srgbClr val="FF0000"/>
                </a:solidFill>
                <a:latin typeface="Times New Roman" panose="02020603050405020304" pitchFamily="18" charset="0"/>
                <a:cs typeface="Times New Roman" panose="02020603050405020304" pitchFamily="18" charset="0"/>
              </a:rPr>
              <a:t>Stock Factor</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10002AC3-AD1F-7708-585E-182082C17613}"/>
              </a:ext>
            </a:extLst>
          </p:cNvPr>
          <p:cNvSpPr txBox="1"/>
          <p:nvPr/>
        </p:nvSpPr>
        <p:spPr>
          <a:xfrm>
            <a:off x="9577230" y="5412041"/>
            <a:ext cx="2198003" cy="461665"/>
          </a:xfrm>
          <a:prstGeom prst="rect">
            <a:avLst/>
          </a:prstGeom>
          <a:noFill/>
        </p:spPr>
        <p:txBody>
          <a:bodyPr wrap="square" rtlCol="0">
            <a:spAutoFit/>
          </a:bodyPr>
          <a:lstStyle/>
          <a:p>
            <a:r>
              <a:rPr lang="en-US" altLang="zh-TW" sz="2400" dirty="0">
                <a:solidFill>
                  <a:srgbClr val="FF0000"/>
                </a:solidFill>
                <a:latin typeface="Times New Roman" panose="02020603050405020304" pitchFamily="18" charset="0"/>
                <a:cs typeface="Times New Roman" panose="02020603050405020304" pitchFamily="18" charset="0"/>
              </a:rPr>
              <a:t>Predict Output</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619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8089DC-80FC-DC06-8DAA-5FF7FCA85747}"/>
              </a:ext>
            </a:extLst>
          </p:cNvPr>
          <p:cNvSpPr txBox="1">
            <a:spLocks/>
          </p:cNvSpPr>
          <p:nvPr/>
        </p:nvSpPr>
        <p:spPr>
          <a:xfrm>
            <a:off x="3975714" y="0"/>
            <a:ext cx="9144000" cy="11396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5300" dirty="0">
                <a:latin typeface="Times New Roman" panose="02020603050405020304" pitchFamily="18" charset="0"/>
                <a:cs typeface="Times New Roman" panose="02020603050405020304" pitchFamily="18" charset="0"/>
              </a:rPr>
              <a:t>GA  Procedure</a:t>
            </a:r>
            <a:endParaRPr lang="zh-TW" altLang="en-US" sz="5300" dirty="0">
              <a:latin typeface="Times New Roman" panose="02020603050405020304" pitchFamily="18" charset="0"/>
              <a:cs typeface="Times New Roman" panose="02020603050405020304" pitchFamily="18" charset="0"/>
            </a:endParaRPr>
          </a:p>
        </p:txBody>
      </p:sp>
      <p:sp>
        <p:nvSpPr>
          <p:cNvPr id="3" name="矩形: 圓角 2">
            <a:extLst>
              <a:ext uri="{FF2B5EF4-FFF2-40B4-BE49-F238E27FC236}">
                <a16:creationId xmlns:a16="http://schemas.microsoft.com/office/drawing/2014/main" id="{BA38FC74-C8F8-B833-A86B-0603AFCF8912}"/>
              </a:ext>
            </a:extLst>
          </p:cNvPr>
          <p:cNvSpPr/>
          <p:nvPr/>
        </p:nvSpPr>
        <p:spPr>
          <a:xfrm>
            <a:off x="4492100" y="1227257"/>
            <a:ext cx="3207799" cy="383800"/>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菱形 12">
            <a:extLst>
              <a:ext uri="{FF2B5EF4-FFF2-40B4-BE49-F238E27FC236}">
                <a16:creationId xmlns:a16="http://schemas.microsoft.com/office/drawing/2014/main" id="{4033EE61-E114-5080-81A1-475D5158C542}"/>
              </a:ext>
            </a:extLst>
          </p:cNvPr>
          <p:cNvSpPr/>
          <p:nvPr/>
        </p:nvSpPr>
        <p:spPr>
          <a:xfrm>
            <a:off x="5320677" y="4311840"/>
            <a:ext cx="1550638" cy="1546212"/>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圓角 13">
            <a:extLst>
              <a:ext uri="{FF2B5EF4-FFF2-40B4-BE49-F238E27FC236}">
                <a16:creationId xmlns:a16="http://schemas.microsoft.com/office/drawing/2014/main" id="{DBCC9CE6-989F-215D-B0DD-4F58EFF337AB}"/>
              </a:ext>
            </a:extLst>
          </p:cNvPr>
          <p:cNvSpPr/>
          <p:nvPr/>
        </p:nvSpPr>
        <p:spPr>
          <a:xfrm>
            <a:off x="4492099" y="2001308"/>
            <a:ext cx="3207799" cy="383800"/>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圓角 14">
            <a:extLst>
              <a:ext uri="{FF2B5EF4-FFF2-40B4-BE49-F238E27FC236}">
                <a16:creationId xmlns:a16="http://schemas.microsoft.com/office/drawing/2014/main" id="{1446D257-62C5-6FA7-947C-98766AD820A1}"/>
              </a:ext>
            </a:extLst>
          </p:cNvPr>
          <p:cNvSpPr/>
          <p:nvPr/>
        </p:nvSpPr>
        <p:spPr>
          <a:xfrm>
            <a:off x="4492099" y="2756609"/>
            <a:ext cx="3207799" cy="383800"/>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圓角 15">
            <a:extLst>
              <a:ext uri="{FF2B5EF4-FFF2-40B4-BE49-F238E27FC236}">
                <a16:creationId xmlns:a16="http://schemas.microsoft.com/office/drawing/2014/main" id="{363708E8-8304-4FD9-C5D0-8A7606159F3E}"/>
              </a:ext>
            </a:extLst>
          </p:cNvPr>
          <p:cNvSpPr/>
          <p:nvPr/>
        </p:nvSpPr>
        <p:spPr>
          <a:xfrm>
            <a:off x="4492098" y="3495054"/>
            <a:ext cx="3207799" cy="383800"/>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圓角 16">
            <a:extLst>
              <a:ext uri="{FF2B5EF4-FFF2-40B4-BE49-F238E27FC236}">
                <a16:creationId xmlns:a16="http://schemas.microsoft.com/office/drawing/2014/main" id="{87F70DC1-C54A-BFE3-512A-7AEF360C205B}"/>
              </a:ext>
            </a:extLst>
          </p:cNvPr>
          <p:cNvSpPr/>
          <p:nvPr/>
        </p:nvSpPr>
        <p:spPr>
          <a:xfrm>
            <a:off x="4508376" y="6221436"/>
            <a:ext cx="3207799" cy="383800"/>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id="{C2542B86-B37D-63EB-2B55-0E9C71800162}"/>
              </a:ext>
            </a:extLst>
          </p:cNvPr>
          <p:cNvSpPr txBox="1"/>
          <p:nvPr/>
        </p:nvSpPr>
        <p:spPr>
          <a:xfrm>
            <a:off x="4943380" y="1170580"/>
            <a:ext cx="338831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Initial Population</a:t>
            </a:r>
            <a:endParaRPr lang="zh-TW" altLang="en-US" sz="2400"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699BCA44-90F4-51E3-3DEF-FED0F1905ADB}"/>
              </a:ext>
            </a:extLst>
          </p:cNvPr>
          <p:cNvSpPr txBox="1"/>
          <p:nvPr/>
        </p:nvSpPr>
        <p:spPr>
          <a:xfrm>
            <a:off x="5402455" y="4854113"/>
            <a:ext cx="1932167"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Terminate</a:t>
            </a:r>
            <a:endParaRPr lang="zh-TW" altLang="en-US" sz="2400"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DF6420CC-E8A1-6D2E-386C-DCB461CFDA0C}"/>
              </a:ext>
            </a:extLst>
          </p:cNvPr>
          <p:cNvSpPr txBox="1"/>
          <p:nvPr/>
        </p:nvSpPr>
        <p:spPr>
          <a:xfrm>
            <a:off x="4645977" y="3429000"/>
            <a:ext cx="376472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Crossover &amp; Mutation</a:t>
            </a:r>
            <a:endParaRPr lang="zh-TW" altLang="en-US" sz="24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5C114668-595E-298C-CBAA-A67964718AA2}"/>
              </a:ext>
            </a:extLst>
          </p:cNvPr>
          <p:cNvSpPr txBox="1"/>
          <p:nvPr/>
        </p:nvSpPr>
        <p:spPr>
          <a:xfrm>
            <a:off x="5473477" y="2708362"/>
            <a:ext cx="1932167"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Selection</a:t>
            </a:r>
            <a:endParaRPr lang="zh-TW" altLang="en-US" sz="2400"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6253762C-309E-5EB7-8999-423D518E8C83}"/>
              </a:ext>
            </a:extLst>
          </p:cNvPr>
          <p:cNvSpPr txBox="1"/>
          <p:nvPr/>
        </p:nvSpPr>
        <p:spPr>
          <a:xfrm>
            <a:off x="4832409" y="1948842"/>
            <a:ext cx="416067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Fitness </a:t>
            </a:r>
            <a:r>
              <a:rPr lang="en-US" altLang="zh-TW" sz="2400" dirty="0" err="1">
                <a:latin typeface="Times New Roman" panose="02020603050405020304" pitchFamily="18" charset="0"/>
                <a:cs typeface="Times New Roman" panose="02020603050405020304" pitchFamily="18" charset="0"/>
              </a:rPr>
              <a:t>Compulation</a:t>
            </a:r>
            <a:endParaRPr lang="zh-TW" altLang="en-US" sz="2400" dirty="0">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30BA6B13-8B77-6FFB-BF60-ED6C8E3445C5}"/>
              </a:ext>
            </a:extLst>
          </p:cNvPr>
          <p:cNvSpPr txBox="1"/>
          <p:nvPr/>
        </p:nvSpPr>
        <p:spPr>
          <a:xfrm>
            <a:off x="4832409" y="6143571"/>
            <a:ext cx="338831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Optimal Population</a:t>
            </a:r>
            <a:endParaRPr lang="zh-TW" altLang="en-US" sz="2400" dirty="0">
              <a:latin typeface="Times New Roman" panose="02020603050405020304" pitchFamily="18" charset="0"/>
              <a:cs typeface="Times New Roman" panose="02020603050405020304" pitchFamily="18" charset="0"/>
            </a:endParaRPr>
          </a:p>
        </p:txBody>
      </p:sp>
      <p:sp>
        <p:nvSpPr>
          <p:cNvPr id="25" name="箭號: 向下 24">
            <a:extLst>
              <a:ext uri="{FF2B5EF4-FFF2-40B4-BE49-F238E27FC236}">
                <a16:creationId xmlns:a16="http://schemas.microsoft.com/office/drawing/2014/main" id="{08807B13-C323-A995-7D7F-D2848B5E84BD}"/>
              </a:ext>
            </a:extLst>
          </p:cNvPr>
          <p:cNvSpPr/>
          <p:nvPr/>
        </p:nvSpPr>
        <p:spPr>
          <a:xfrm>
            <a:off x="5983550" y="1695635"/>
            <a:ext cx="257452" cy="2532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箭號: 向下 25">
            <a:extLst>
              <a:ext uri="{FF2B5EF4-FFF2-40B4-BE49-F238E27FC236}">
                <a16:creationId xmlns:a16="http://schemas.microsoft.com/office/drawing/2014/main" id="{3FB69A35-6EC3-1659-266B-09054ED58AC4}"/>
              </a:ext>
            </a:extLst>
          </p:cNvPr>
          <p:cNvSpPr/>
          <p:nvPr/>
        </p:nvSpPr>
        <p:spPr>
          <a:xfrm>
            <a:off x="5967270" y="2462364"/>
            <a:ext cx="257452" cy="2532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箭號: 向下 26">
            <a:extLst>
              <a:ext uri="{FF2B5EF4-FFF2-40B4-BE49-F238E27FC236}">
                <a16:creationId xmlns:a16="http://schemas.microsoft.com/office/drawing/2014/main" id="{5F040A73-FEC5-8EA0-E566-4A4287E92FF4}"/>
              </a:ext>
            </a:extLst>
          </p:cNvPr>
          <p:cNvSpPr/>
          <p:nvPr/>
        </p:nvSpPr>
        <p:spPr>
          <a:xfrm>
            <a:off x="5983550" y="3951621"/>
            <a:ext cx="257452" cy="2532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箭號: 向下 27">
            <a:extLst>
              <a:ext uri="{FF2B5EF4-FFF2-40B4-BE49-F238E27FC236}">
                <a16:creationId xmlns:a16="http://schemas.microsoft.com/office/drawing/2014/main" id="{DA518973-15B9-7BCB-1CC0-FB80E7662DC1}"/>
              </a:ext>
            </a:extLst>
          </p:cNvPr>
          <p:cNvSpPr/>
          <p:nvPr/>
        </p:nvSpPr>
        <p:spPr>
          <a:xfrm>
            <a:off x="5967270" y="3191772"/>
            <a:ext cx="257452" cy="2532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箭號: 向下 28">
            <a:extLst>
              <a:ext uri="{FF2B5EF4-FFF2-40B4-BE49-F238E27FC236}">
                <a16:creationId xmlns:a16="http://schemas.microsoft.com/office/drawing/2014/main" id="{3008DAC8-1CCA-F42E-0E10-73FD1A195C32}"/>
              </a:ext>
            </a:extLst>
          </p:cNvPr>
          <p:cNvSpPr/>
          <p:nvPr/>
        </p:nvSpPr>
        <p:spPr>
          <a:xfrm>
            <a:off x="5962830" y="5935917"/>
            <a:ext cx="257452" cy="2532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0" name="直線接點 39">
            <a:extLst>
              <a:ext uri="{FF2B5EF4-FFF2-40B4-BE49-F238E27FC236}">
                <a16:creationId xmlns:a16="http://schemas.microsoft.com/office/drawing/2014/main" id="{44A7269E-B4E4-94FF-9DB7-90FE44CAEA4B}"/>
              </a:ext>
            </a:extLst>
          </p:cNvPr>
          <p:cNvCxnSpPr/>
          <p:nvPr/>
        </p:nvCxnSpPr>
        <p:spPr>
          <a:xfrm flipH="1">
            <a:off x="2805344" y="5084945"/>
            <a:ext cx="23081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1470F56E-51F7-1F6D-2812-A1F84D677E4A}"/>
              </a:ext>
            </a:extLst>
          </p:cNvPr>
          <p:cNvCxnSpPr/>
          <p:nvPr/>
        </p:nvCxnSpPr>
        <p:spPr>
          <a:xfrm flipV="1">
            <a:off x="2831977" y="2179674"/>
            <a:ext cx="0" cy="2905271"/>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F589AA8C-B3AF-4185-F04A-33E7623660E0}"/>
              </a:ext>
            </a:extLst>
          </p:cNvPr>
          <p:cNvCxnSpPr/>
          <p:nvPr/>
        </p:nvCxnSpPr>
        <p:spPr>
          <a:xfrm>
            <a:off x="2805344" y="2179674"/>
            <a:ext cx="14293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文字方塊 44">
            <a:extLst>
              <a:ext uri="{FF2B5EF4-FFF2-40B4-BE49-F238E27FC236}">
                <a16:creationId xmlns:a16="http://schemas.microsoft.com/office/drawing/2014/main" id="{95DAC454-8169-A2DC-CC2A-198F548736D1}"/>
              </a:ext>
            </a:extLst>
          </p:cNvPr>
          <p:cNvSpPr txBox="1"/>
          <p:nvPr/>
        </p:nvSpPr>
        <p:spPr>
          <a:xfrm>
            <a:off x="4832409" y="4677927"/>
            <a:ext cx="3388314" cy="461665"/>
          </a:xfrm>
          <a:prstGeom prst="rect">
            <a:avLst/>
          </a:prstGeom>
          <a:noFill/>
        </p:spPr>
        <p:txBody>
          <a:bodyPr wrap="square" rtlCol="0">
            <a:spAutoFit/>
          </a:bodyPr>
          <a:lstStyle/>
          <a:p>
            <a:r>
              <a:rPr lang="en-US" altLang="zh-TW" sz="2400" dirty="0">
                <a:solidFill>
                  <a:schemeClr val="accent6"/>
                </a:solidFill>
                <a:latin typeface="Times New Roman" panose="02020603050405020304" pitchFamily="18" charset="0"/>
                <a:cs typeface="Times New Roman" panose="02020603050405020304" pitchFamily="18" charset="0"/>
              </a:rPr>
              <a:t>N</a:t>
            </a:r>
            <a:endParaRPr lang="zh-TW" altLang="en-US" sz="2400" dirty="0">
              <a:solidFill>
                <a:schemeClr val="accent6"/>
              </a:solidFill>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B8602E90-03C5-521A-BA2C-2D50BF1DDEAC}"/>
              </a:ext>
            </a:extLst>
          </p:cNvPr>
          <p:cNvSpPr txBox="1"/>
          <p:nvPr/>
        </p:nvSpPr>
        <p:spPr>
          <a:xfrm>
            <a:off x="6220282" y="5696021"/>
            <a:ext cx="3388314" cy="461665"/>
          </a:xfrm>
          <a:prstGeom prst="rect">
            <a:avLst/>
          </a:prstGeom>
          <a:noFill/>
        </p:spPr>
        <p:txBody>
          <a:bodyPr wrap="square" rtlCol="0">
            <a:spAutoFit/>
          </a:bodyPr>
          <a:lstStyle/>
          <a:p>
            <a:r>
              <a:rPr lang="en-US" altLang="zh-TW" sz="2400" dirty="0">
                <a:solidFill>
                  <a:srgbClr val="FF0000"/>
                </a:solidFill>
                <a:latin typeface="Times New Roman" panose="02020603050405020304" pitchFamily="18" charset="0"/>
                <a:cs typeface="Times New Roman" panose="02020603050405020304" pitchFamily="18" charset="0"/>
              </a:rPr>
              <a:t>Y</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2964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8866DD-DCCA-1790-1842-2298A8A5B429}"/>
              </a:ext>
            </a:extLst>
          </p:cNvPr>
          <p:cNvSpPr>
            <a:spLocks noGrp="1"/>
          </p:cNvSpPr>
          <p:nvPr>
            <p:ph type="ctrTitle"/>
          </p:nvPr>
        </p:nvSpPr>
        <p:spPr>
          <a:xfrm>
            <a:off x="1524000" y="283022"/>
            <a:ext cx="9144000" cy="1139625"/>
          </a:xfrm>
        </p:spPr>
        <p:txBody>
          <a:bodyPr/>
          <a:lstStyle/>
          <a:p>
            <a:r>
              <a:rPr lang="en-US" altLang="zh-TW" sz="5300" dirty="0">
                <a:latin typeface="Times New Roman" panose="02020603050405020304" pitchFamily="18" charset="0"/>
                <a:cs typeface="Times New Roman" panose="02020603050405020304" pitchFamily="18" charset="0"/>
              </a:rPr>
              <a:t>Parameters of GA</a:t>
            </a:r>
            <a:endParaRPr lang="zh-TW" altLang="en-US" sz="53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E3828ED7-0DDF-3B73-85A5-218E9247AB6D}"/>
              </a:ext>
            </a:extLst>
          </p:cNvPr>
          <p:cNvSpPr>
            <a:spLocks noGrp="1"/>
          </p:cNvSpPr>
          <p:nvPr>
            <p:ph type="subTitle" idx="1"/>
          </p:nvPr>
        </p:nvSpPr>
        <p:spPr/>
        <p:txBody>
          <a:bodyPr/>
          <a:lstStyle/>
          <a:p>
            <a:endParaRPr lang="zh-TW" altLang="en-US" dirty="0"/>
          </a:p>
        </p:txBody>
      </p:sp>
      <p:pic>
        <p:nvPicPr>
          <p:cNvPr id="7" name="圖片 6">
            <a:extLst>
              <a:ext uri="{FF2B5EF4-FFF2-40B4-BE49-F238E27FC236}">
                <a16:creationId xmlns:a16="http://schemas.microsoft.com/office/drawing/2014/main" id="{8FCC8CA4-5ED1-DD4F-59EA-44C258B98A0F}"/>
              </a:ext>
            </a:extLst>
          </p:cNvPr>
          <p:cNvPicPr>
            <a:picLocks noChangeAspect="1"/>
          </p:cNvPicPr>
          <p:nvPr/>
        </p:nvPicPr>
        <p:blipFill>
          <a:blip r:embed="rId2"/>
          <a:stretch>
            <a:fillRect/>
          </a:stretch>
        </p:blipFill>
        <p:spPr>
          <a:xfrm>
            <a:off x="2027005" y="2461926"/>
            <a:ext cx="8137990" cy="2795874"/>
          </a:xfrm>
          <a:prstGeom prst="rect">
            <a:avLst/>
          </a:prstGeom>
        </p:spPr>
      </p:pic>
    </p:spTree>
    <p:extLst>
      <p:ext uri="{BB962C8B-B14F-4D97-AF65-F5344CB8AC3E}">
        <p14:creationId xmlns:p14="http://schemas.microsoft.com/office/powerpoint/2010/main" val="3613270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8866DD-DCCA-1790-1842-2298A8A5B429}"/>
              </a:ext>
            </a:extLst>
          </p:cNvPr>
          <p:cNvSpPr>
            <a:spLocks noGrp="1"/>
          </p:cNvSpPr>
          <p:nvPr>
            <p:ph type="ctrTitle"/>
          </p:nvPr>
        </p:nvSpPr>
        <p:spPr/>
        <p:txBody>
          <a:bodyPr/>
          <a:lstStyle/>
          <a:p>
            <a:endParaRPr lang="zh-TW" altLang="en-US" dirty="0"/>
          </a:p>
        </p:txBody>
      </p:sp>
      <p:sp>
        <p:nvSpPr>
          <p:cNvPr id="3" name="副標題 2">
            <a:extLst>
              <a:ext uri="{FF2B5EF4-FFF2-40B4-BE49-F238E27FC236}">
                <a16:creationId xmlns:a16="http://schemas.microsoft.com/office/drawing/2014/main" id="{E3828ED7-0DDF-3B73-85A5-218E9247AB6D}"/>
              </a:ext>
            </a:extLst>
          </p:cNvPr>
          <p:cNvSpPr>
            <a:spLocks noGrp="1"/>
          </p:cNvSpPr>
          <p:nvPr>
            <p:ph type="subTitle" idx="1"/>
          </p:nvPr>
        </p:nvSpPr>
        <p:spPr/>
        <p:txBody>
          <a:bodyPr/>
          <a:lstStyle/>
          <a:p>
            <a:endParaRPr lang="zh-TW" altLang="en-US" dirty="0"/>
          </a:p>
        </p:txBody>
      </p:sp>
      <p:pic>
        <p:nvPicPr>
          <p:cNvPr id="5" name="圖片 4">
            <a:extLst>
              <a:ext uri="{FF2B5EF4-FFF2-40B4-BE49-F238E27FC236}">
                <a16:creationId xmlns:a16="http://schemas.microsoft.com/office/drawing/2014/main" id="{FD4B8C8B-0187-095E-3AFF-869CD83670EB}"/>
              </a:ext>
            </a:extLst>
          </p:cNvPr>
          <p:cNvPicPr>
            <a:picLocks noChangeAspect="1"/>
          </p:cNvPicPr>
          <p:nvPr/>
        </p:nvPicPr>
        <p:blipFill>
          <a:blip r:embed="rId2"/>
          <a:stretch>
            <a:fillRect/>
          </a:stretch>
        </p:blipFill>
        <p:spPr>
          <a:xfrm>
            <a:off x="2567827" y="2432177"/>
            <a:ext cx="7056345" cy="2387600"/>
          </a:xfrm>
          <a:prstGeom prst="rect">
            <a:avLst/>
          </a:prstGeom>
        </p:spPr>
      </p:pic>
      <p:sp>
        <p:nvSpPr>
          <p:cNvPr id="13" name="橢圓 12">
            <a:extLst>
              <a:ext uri="{FF2B5EF4-FFF2-40B4-BE49-F238E27FC236}">
                <a16:creationId xmlns:a16="http://schemas.microsoft.com/office/drawing/2014/main" id="{776E785D-CA44-FC2F-0124-E09CC2339624}"/>
              </a:ext>
            </a:extLst>
          </p:cNvPr>
          <p:cNvSpPr/>
          <p:nvPr/>
        </p:nvSpPr>
        <p:spPr>
          <a:xfrm>
            <a:off x="3959440" y="2668770"/>
            <a:ext cx="5140171" cy="55021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接點: 弧形 14">
            <a:extLst>
              <a:ext uri="{FF2B5EF4-FFF2-40B4-BE49-F238E27FC236}">
                <a16:creationId xmlns:a16="http://schemas.microsoft.com/office/drawing/2014/main" id="{34262C90-40C3-37C4-49D0-6044E3B55A80}"/>
              </a:ext>
            </a:extLst>
          </p:cNvPr>
          <p:cNvCxnSpPr/>
          <p:nvPr/>
        </p:nvCxnSpPr>
        <p:spPr>
          <a:xfrm flipV="1">
            <a:off x="5411253" y="1280758"/>
            <a:ext cx="1961965" cy="129593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3E6022B6-D606-59FF-5F9F-EEE6FBC6B316}"/>
              </a:ext>
            </a:extLst>
          </p:cNvPr>
          <p:cNvSpPr txBox="1"/>
          <p:nvPr/>
        </p:nvSpPr>
        <p:spPr>
          <a:xfrm>
            <a:off x="7364221" y="1049925"/>
            <a:ext cx="318708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Chromosome</a:t>
            </a:r>
            <a:endParaRPr lang="zh-TW" altLang="en-US" sz="2400" dirty="0">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DC961AC3-AB59-DD21-03A3-DA0CF17DAD54}"/>
              </a:ext>
            </a:extLst>
          </p:cNvPr>
          <p:cNvSpPr txBox="1"/>
          <p:nvPr/>
        </p:nvSpPr>
        <p:spPr>
          <a:xfrm>
            <a:off x="2567827" y="1089278"/>
            <a:ext cx="5264459" cy="830997"/>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m : 100</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k  : 40</a:t>
            </a:r>
          </a:p>
        </p:txBody>
      </p:sp>
    </p:spTree>
    <p:extLst>
      <p:ext uri="{BB962C8B-B14F-4D97-AF65-F5344CB8AC3E}">
        <p14:creationId xmlns:p14="http://schemas.microsoft.com/office/powerpoint/2010/main" val="3527522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8866DD-DCCA-1790-1842-2298A8A5B429}"/>
              </a:ext>
            </a:extLst>
          </p:cNvPr>
          <p:cNvSpPr>
            <a:spLocks noGrp="1"/>
          </p:cNvSpPr>
          <p:nvPr>
            <p:ph type="ctrTitle"/>
          </p:nvPr>
        </p:nvSpPr>
        <p:spPr>
          <a:xfrm>
            <a:off x="1491448" y="563070"/>
            <a:ext cx="9209103" cy="1655762"/>
          </a:xfrm>
        </p:spPr>
        <p:txBody>
          <a:bodyPr>
            <a:normAutofit fontScale="90000"/>
          </a:bodyPr>
          <a:lstStyle/>
          <a:p>
            <a:br>
              <a:rPr lang="zh-TW" altLang="en-US" sz="6000" dirty="0">
                <a:latin typeface="Times New Roman" panose="02020603050405020304" pitchFamily="18" charset="0"/>
                <a:cs typeface="Times New Roman" panose="02020603050405020304" pitchFamily="18" charset="0"/>
              </a:rPr>
            </a:br>
            <a:endParaRPr lang="zh-TW" altLang="en-US" dirty="0"/>
          </a:p>
        </p:txBody>
      </p:sp>
      <p:sp>
        <p:nvSpPr>
          <p:cNvPr id="3" name="副標題 2">
            <a:extLst>
              <a:ext uri="{FF2B5EF4-FFF2-40B4-BE49-F238E27FC236}">
                <a16:creationId xmlns:a16="http://schemas.microsoft.com/office/drawing/2014/main" id="{E3828ED7-0DDF-3B73-85A5-218E9247AB6D}"/>
              </a:ext>
            </a:extLst>
          </p:cNvPr>
          <p:cNvSpPr>
            <a:spLocks noGrp="1"/>
          </p:cNvSpPr>
          <p:nvPr>
            <p:ph type="subTitle" idx="1"/>
          </p:nvPr>
        </p:nvSpPr>
        <p:spPr>
          <a:xfrm>
            <a:off x="1448539" y="1009212"/>
            <a:ext cx="9144000" cy="1655762"/>
          </a:xfrm>
        </p:spPr>
        <p:txBody>
          <a:bodyPr>
            <a:normAutofit/>
          </a:bodyPr>
          <a:lstStyle/>
          <a:p>
            <a:pPr marL="342900" indent="-342900" algn="l">
              <a:buFont typeface="Arial" panose="020B0604020202020204" pitchFamily="34" charset="0"/>
              <a:buChar char="•"/>
            </a:pPr>
            <a:r>
              <a:rPr lang="en-US" altLang="zh-TW" sz="3000" dirty="0">
                <a:latin typeface="Times New Roman" panose="02020603050405020304" pitchFamily="18" charset="0"/>
                <a:cs typeface="Times New Roman" panose="02020603050405020304" pitchFamily="18" charset="0"/>
              </a:rPr>
              <a:t>Each gene represents different stock-related factors</a:t>
            </a:r>
          </a:p>
          <a:p>
            <a:pPr marL="342900" indent="-342900" algn="l">
              <a:buFont typeface="Arial" panose="020B0604020202020204" pitchFamily="34" charset="0"/>
              <a:buChar char="•"/>
            </a:pPr>
            <a:r>
              <a:rPr lang="en-US" altLang="zh-TW" sz="3000" dirty="0">
                <a:latin typeface="Times New Roman" panose="02020603050405020304" pitchFamily="18" charset="0"/>
                <a:cs typeface="Times New Roman" panose="02020603050405020304" pitchFamily="18" charset="0"/>
              </a:rPr>
              <a:t>Gene is represented as binary form (0/1)</a:t>
            </a:r>
          </a:p>
          <a:p>
            <a:pPr marL="342900" indent="-342900" algn="l">
              <a:buFont typeface="Arial" panose="020B0604020202020204" pitchFamily="34" charset="0"/>
              <a:buChar char="•"/>
            </a:pPr>
            <a:endParaRPr lang="en-US" altLang="zh-TW" sz="30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E20A8219-0EC1-CD1E-92E7-CA31135F2EB6}"/>
              </a:ext>
            </a:extLst>
          </p:cNvPr>
          <p:cNvSpPr txBox="1"/>
          <p:nvPr/>
        </p:nvSpPr>
        <p:spPr>
          <a:xfrm>
            <a:off x="2670328" y="3233799"/>
            <a:ext cx="7312980" cy="646331"/>
          </a:xfrm>
          <a:prstGeom prst="rect">
            <a:avLst/>
          </a:prstGeom>
          <a:noFill/>
        </p:spPr>
        <p:txBody>
          <a:bodyPr wrap="square">
            <a:spAutoFit/>
          </a:bodyPr>
          <a:lstStyle/>
          <a:p>
            <a:r>
              <a:rPr lang="en-US" altLang="zh-TW" sz="1800" dirty="0">
                <a:solidFill>
                  <a:schemeClr val="accent2"/>
                </a:solidFill>
                <a:latin typeface="Times New Roman" panose="02020603050405020304" pitchFamily="18" charset="0"/>
                <a:cs typeface="Times New Roman" panose="02020603050405020304" pitchFamily="18" charset="0"/>
              </a:rPr>
              <a:t>OSC   MASS  UDL  DKK  EMA  MACD  SMA  OBV  DIF1 …… AMO</a:t>
            </a:r>
          </a:p>
          <a:p>
            <a:r>
              <a:rPr lang="en-US" altLang="zh-TW" sz="1800" dirty="0">
                <a:latin typeface="Times New Roman" panose="02020603050405020304" pitchFamily="18" charset="0"/>
                <a:cs typeface="Times New Roman" panose="02020603050405020304" pitchFamily="18" charset="0"/>
              </a:rPr>
              <a:t>   </a:t>
            </a:r>
            <a:r>
              <a:rPr lang="en-US" altLang="zh-TW" sz="1800" dirty="0">
                <a:solidFill>
                  <a:schemeClr val="accent1"/>
                </a:solidFill>
                <a:latin typeface="Times New Roman" panose="02020603050405020304" pitchFamily="18" charset="0"/>
                <a:cs typeface="Times New Roman" panose="02020603050405020304" pitchFamily="18" charset="0"/>
              </a:rPr>
              <a:t>0           1         1        0        1           0          1        0         0                 1</a:t>
            </a:r>
            <a:endParaRPr lang="zh-TW" altLang="en-US" sz="1800" dirty="0">
              <a:solidFill>
                <a:schemeClr val="accent1"/>
              </a:solidFill>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6E4185AA-8D62-E47B-68C2-E11EAF281B08}"/>
              </a:ext>
            </a:extLst>
          </p:cNvPr>
          <p:cNvSpPr/>
          <p:nvPr/>
        </p:nvSpPr>
        <p:spPr>
          <a:xfrm>
            <a:off x="2509421" y="3115048"/>
            <a:ext cx="7173158" cy="883835"/>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AD73F416-BDB4-1516-39C8-6F7EA76C6609}"/>
              </a:ext>
            </a:extLst>
          </p:cNvPr>
          <p:cNvSpPr txBox="1"/>
          <p:nvPr/>
        </p:nvSpPr>
        <p:spPr>
          <a:xfrm>
            <a:off x="5097261" y="3998881"/>
            <a:ext cx="245911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chromosome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7943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8866DD-DCCA-1790-1842-2298A8A5B429}"/>
              </a:ext>
            </a:extLst>
          </p:cNvPr>
          <p:cNvSpPr>
            <a:spLocks noGrp="1"/>
          </p:cNvSpPr>
          <p:nvPr>
            <p:ph type="ctrTitle"/>
          </p:nvPr>
        </p:nvSpPr>
        <p:spPr>
          <a:xfrm>
            <a:off x="1524000" y="198215"/>
            <a:ext cx="9144000" cy="1139625"/>
          </a:xfrm>
        </p:spPr>
        <p:txBody>
          <a:bodyPr/>
          <a:lstStyle/>
          <a:p>
            <a:r>
              <a:rPr lang="en-US" altLang="zh-TW" sz="5300" dirty="0">
                <a:latin typeface="Times New Roman" panose="02020603050405020304" pitchFamily="18" charset="0"/>
                <a:cs typeface="Times New Roman" panose="02020603050405020304" pitchFamily="18" charset="0"/>
              </a:rPr>
              <a:t>Fitness Function</a:t>
            </a:r>
            <a:endParaRPr lang="zh-TW" altLang="en-US" sz="53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E3828ED7-0DDF-3B73-85A5-218E9247AB6D}"/>
              </a:ext>
            </a:extLst>
          </p:cNvPr>
          <p:cNvSpPr>
            <a:spLocks noGrp="1"/>
          </p:cNvSpPr>
          <p:nvPr>
            <p:ph type="subTitle" idx="1"/>
          </p:nvPr>
        </p:nvSpPr>
        <p:spPr>
          <a:xfrm>
            <a:off x="902563" y="1773238"/>
            <a:ext cx="9144000" cy="1655762"/>
          </a:xfrm>
        </p:spPr>
        <p:txBody>
          <a:bodyPr/>
          <a:lstStyle/>
          <a:p>
            <a:pPr algn="l"/>
            <a:r>
              <a:rPr lang="en-US" altLang="zh-TW" sz="4000" dirty="0">
                <a:latin typeface="Times New Roman" panose="02020603050405020304" pitchFamily="18" charset="0"/>
                <a:cs typeface="Times New Roman" panose="02020603050405020304" pitchFamily="18" charset="0"/>
              </a:rPr>
              <a:t>Determination coefficient</a:t>
            </a:r>
            <a:endParaRPr lang="zh-TW" altLang="en-US" sz="40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0BCA71C7-DDA1-84FC-2CFF-67BDC3854444}"/>
              </a:ext>
            </a:extLst>
          </p:cNvPr>
          <p:cNvPicPr>
            <a:picLocks noChangeAspect="1"/>
          </p:cNvPicPr>
          <p:nvPr/>
        </p:nvPicPr>
        <p:blipFill>
          <a:blip r:embed="rId2"/>
          <a:stretch>
            <a:fillRect/>
          </a:stretch>
        </p:blipFill>
        <p:spPr>
          <a:xfrm>
            <a:off x="3643197" y="2601119"/>
            <a:ext cx="4905606" cy="2271113"/>
          </a:xfrm>
          <a:prstGeom prst="rect">
            <a:avLst/>
          </a:prstGeom>
        </p:spPr>
      </p:pic>
      <p:sp>
        <p:nvSpPr>
          <p:cNvPr id="6" name="文字方塊 5">
            <a:extLst>
              <a:ext uri="{FF2B5EF4-FFF2-40B4-BE49-F238E27FC236}">
                <a16:creationId xmlns:a16="http://schemas.microsoft.com/office/drawing/2014/main" id="{581AA316-5A94-4ABD-72A8-610CF9BA7348}"/>
              </a:ext>
            </a:extLst>
          </p:cNvPr>
          <p:cNvSpPr txBox="1"/>
          <p:nvPr/>
        </p:nvSpPr>
        <p:spPr>
          <a:xfrm>
            <a:off x="902563" y="4542478"/>
            <a:ext cx="3838113" cy="2154436"/>
          </a:xfrm>
          <a:prstGeom prst="rect">
            <a:avLst/>
          </a:prstGeom>
          <a:noFill/>
        </p:spPr>
        <p:txBody>
          <a:bodyPr wrap="square" rtlCol="0">
            <a:spAutoFit/>
          </a:bodyPr>
          <a:lstStyle/>
          <a:p>
            <a:pPr marL="457200" indent="-457200">
              <a:buFont typeface="Arial" panose="020B0604020202020204" pitchFamily="34" charset="0"/>
              <a:buChar char="•"/>
            </a:pPr>
            <a:r>
              <a:rPr lang="en-US" altLang="zh-TW" sz="2600" dirty="0">
                <a:latin typeface="Times New Roman" panose="02020603050405020304" pitchFamily="18" charset="0"/>
                <a:cs typeface="Times New Roman" panose="02020603050405020304" pitchFamily="18" charset="0"/>
              </a:rPr>
              <a:t>y : label value</a:t>
            </a:r>
          </a:p>
          <a:p>
            <a:pPr marL="457200" indent="-457200">
              <a:buFont typeface="Arial" panose="020B0604020202020204" pitchFamily="34" charset="0"/>
              <a:buChar char="•"/>
            </a:pPr>
            <a:r>
              <a:rPr lang="en-US" altLang="zh-TW" sz="2600" dirty="0">
                <a:latin typeface="Times New Roman" panose="02020603050405020304" pitchFamily="18" charset="0"/>
                <a:cs typeface="Times New Roman" panose="02020603050405020304" pitchFamily="18" charset="0"/>
              </a:rPr>
              <a:t>ȳ : average value</a:t>
            </a:r>
          </a:p>
          <a:p>
            <a:pPr marL="457200" indent="-457200">
              <a:buFont typeface="Arial" panose="020B0604020202020204" pitchFamily="34" charset="0"/>
              <a:buChar char="•"/>
            </a:pPr>
            <a:r>
              <a:rPr lang="cy-GB" altLang="zh-TW" sz="2600" dirty="0">
                <a:latin typeface="Times New Roman" panose="02020603050405020304" pitchFamily="18" charset="0"/>
                <a:cs typeface="Times New Roman" panose="02020603050405020304" pitchFamily="18" charset="0"/>
              </a:rPr>
              <a:t>ŷ</a:t>
            </a:r>
            <a:r>
              <a:rPr lang="en-US" altLang="zh-TW" sz="2600" dirty="0">
                <a:latin typeface="Times New Roman" panose="02020603050405020304" pitchFamily="18" charset="0"/>
                <a:cs typeface="Times New Roman" panose="02020603050405020304" pitchFamily="18" charset="0"/>
              </a:rPr>
              <a:t> : predicted value</a:t>
            </a:r>
          </a:p>
          <a:p>
            <a:pPr marL="457200" indent="-457200">
              <a:buFont typeface="Arial" panose="020B0604020202020204" pitchFamily="34" charset="0"/>
              <a:buChar char="•"/>
            </a:pPr>
            <a:r>
              <a:rPr lang="nl-NL" altLang="zh-TW" sz="2600" dirty="0">
                <a:latin typeface="Times New Roman" panose="02020603050405020304" pitchFamily="18" charset="0"/>
                <a:cs typeface="Times New Roman" panose="02020603050405020304" pitchFamily="18" charset="0"/>
              </a:rPr>
              <a:t>Range of r2 is [0, 1]</a:t>
            </a:r>
            <a:endParaRPr lang="en-US" altLang="zh-TW" sz="2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zh-TW"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7166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圓角 1">
            <a:extLst>
              <a:ext uri="{FF2B5EF4-FFF2-40B4-BE49-F238E27FC236}">
                <a16:creationId xmlns:a16="http://schemas.microsoft.com/office/drawing/2014/main" id="{6D424461-8AC6-467D-6016-D19B387E7302}"/>
              </a:ext>
            </a:extLst>
          </p:cNvPr>
          <p:cNvSpPr/>
          <p:nvPr/>
        </p:nvSpPr>
        <p:spPr>
          <a:xfrm>
            <a:off x="1704508" y="1126666"/>
            <a:ext cx="3879541" cy="10830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圓角 4">
            <a:extLst>
              <a:ext uri="{FF2B5EF4-FFF2-40B4-BE49-F238E27FC236}">
                <a16:creationId xmlns:a16="http://schemas.microsoft.com/office/drawing/2014/main" id="{D8939343-D278-37DE-3081-73DA0F3AF29F}"/>
              </a:ext>
            </a:extLst>
          </p:cNvPr>
          <p:cNvSpPr/>
          <p:nvPr/>
        </p:nvSpPr>
        <p:spPr>
          <a:xfrm>
            <a:off x="1704508" y="2992855"/>
            <a:ext cx="3879541" cy="10830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圓角 5">
            <a:extLst>
              <a:ext uri="{FF2B5EF4-FFF2-40B4-BE49-F238E27FC236}">
                <a16:creationId xmlns:a16="http://schemas.microsoft.com/office/drawing/2014/main" id="{B3AD0831-7FD4-462C-14B7-4144D87DD109}"/>
              </a:ext>
            </a:extLst>
          </p:cNvPr>
          <p:cNvSpPr/>
          <p:nvPr/>
        </p:nvSpPr>
        <p:spPr>
          <a:xfrm>
            <a:off x="1704507" y="4863360"/>
            <a:ext cx="3879541" cy="10830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箭號: 向下 6">
            <a:extLst>
              <a:ext uri="{FF2B5EF4-FFF2-40B4-BE49-F238E27FC236}">
                <a16:creationId xmlns:a16="http://schemas.microsoft.com/office/drawing/2014/main" id="{5937E5F1-27F9-9F88-BF63-3A0F4BD68D7F}"/>
              </a:ext>
            </a:extLst>
          </p:cNvPr>
          <p:cNvSpPr/>
          <p:nvPr/>
        </p:nvSpPr>
        <p:spPr>
          <a:xfrm>
            <a:off x="3515557" y="2290240"/>
            <a:ext cx="417250" cy="60368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箭號: 向下 7">
            <a:extLst>
              <a:ext uri="{FF2B5EF4-FFF2-40B4-BE49-F238E27FC236}">
                <a16:creationId xmlns:a16="http://schemas.microsoft.com/office/drawing/2014/main" id="{C244A692-FA96-F7C5-0442-0AD80E7A8009}"/>
              </a:ext>
            </a:extLst>
          </p:cNvPr>
          <p:cNvSpPr/>
          <p:nvPr/>
        </p:nvSpPr>
        <p:spPr>
          <a:xfrm>
            <a:off x="3515557" y="4174863"/>
            <a:ext cx="417250" cy="60368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095A2D33-4E17-13CF-CCC6-9C5BE820610F}"/>
              </a:ext>
            </a:extLst>
          </p:cNvPr>
          <p:cNvSpPr txBox="1"/>
          <p:nvPr/>
        </p:nvSpPr>
        <p:spPr>
          <a:xfrm>
            <a:off x="2836415" y="1332299"/>
            <a:ext cx="2192784" cy="553998"/>
          </a:xfrm>
          <a:prstGeom prst="rect">
            <a:avLst/>
          </a:prstGeom>
          <a:noFill/>
        </p:spPr>
        <p:txBody>
          <a:bodyPr wrap="square" rtlCol="0">
            <a:spAutoFit/>
          </a:bodyPr>
          <a:lstStyle/>
          <a:p>
            <a:r>
              <a:rPr lang="en-US" altLang="zh-TW" sz="3000" dirty="0">
                <a:latin typeface="Times New Roman" panose="02020603050405020304" pitchFamily="18" charset="0"/>
                <a:cs typeface="Times New Roman" panose="02020603050405020304" pitchFamily="18" charset="0"/>
              </a:rPr>
              <a:t>Selection</a:t>
            </a:r>
            <a:endParaRPr lang="zh-TW" altLang="en-US" sz="30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EC60723B-9331-A9B1-55A6-BB5E2E7AAC4C}"/>
              </a:ext>
            </a:extLst>
          </p:cNvPr>
          <p:cNvSpPr txBox="1"/>
          <p:nvPr/>
        </p:nvSpPr>
        <p:spPr>
          <a:xfrm>
            <a:off x="2836415" y="3152001"/>
            <a:ext cx="2192784" cy="553998"/>
          </a:xfrm>
          <a:prstGeom prst="rect">
            <a:avLst/>
          </a:prstGeom>
          <a:noFill/>
        </p:spPr>
        <p:txBody>
          <a:bodyPr wrap="square" rtlCol="0">
            <a:spAutoFit/>
          </a:bodyPr>
          <a:lstStyle/>
          <a:p>
            <a:r>
              <a:rPr lang="en-US" altLang="zh-TW" sz="3000" dirty="0">
                <a:latin typeface="Times New Roman" panose="02020603050405020304" pitchFamily="18" charset="0"/>
                <a:cs typeface="Times New Roman" panose="02020603050405020304" pitchFamily="18" charset="0"/>
              </a:rPr>
              <a:t>Crossover</a:t>
            </a:r>
            <a:endParaRPr lang="zh-TW" altLang="en-US" sz="30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11F1B739-CC06-9229-628D-92B71663C8E6}"/>
              </a:ext>
            </a:extLst>
          </p:cNvPr>
          <p:cNvSpPr txBox="1"/>
          <p:nvPr/>
        </p:nvSpPr>
        <p:spPr>
          <a:xfrm>
            <a:off x="2836415" y="5011977"/>
            <a:ext cx="2192784" cy="553998"/>
          </a:xfrm>
          <a:prstGeom prst="rect">
            <a:avLst/>
          </a:prstGeom>
          <a:noFill/>
        </p:spPr>
        <p:txBody>
          <a:bodyPr wrap="square" rtlCol="0">
            <a:spAutoFit/>
          </a:bodyPr>
          <a:lstStyle/>
          <a:p>
            <a:r>
              <a:rPr lang="en-US" altLang="zh-TW" sz="3000" dirty="0">
                <a:latin typeface="Times New Roman" panose="02020603050405020304" pitchFamily="18" charset="0"/>
                <a:cs typeface="Times New Roman" panose="02020603050405020304" pitchFamily="18" charset="0"/>
              </a:rPr>
              <a:t>Mutation</a:t>
            </a:r>
            <a:endParaRPr lang="zh-TW" altLang="en-US" sz="30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B950AA92-8072-2003-72FA-B704A2A8613C}"/>
              </a:ext>
            </a:extLst>
          </p:cNvPr>
          <p:cNvSpPr txBox="1"/>
          <p:nvPr/>
        </p:nvSpPr>
        <p:spPr>
          <a:xfrm>
            <a:off x="5970232" y="1296550"/>
            <a:ext cx="3630967" cy="492443"/>
          </a:xfrm>
          <a:prstGeom prst="rect">
            <a:avLst/>
          </a:prstGeom>
          <a:noFill/>
        </p:spPr>
        <p:txBody>
          <a:bodyPr wrap="square" rtlCol="0">
            <a:spAutoFit/>
          </a:bodyPr>
          <a:lstStyle/>
          <a:p>
            <a:r>
              <a:rPr lang="en-US" altLang="zh-TW" sz="2600" dirty="0">
                <a:latin typeface="Times New Roman" panose="02020603050405020304" pitchFamily="18" charset="0"/>
                <a:cs typeface="Times New Roman" panose="02020603050405020304" pitchFamily="18" charset="0"/>
              </a:rPr>
              <a:t>Taking roulette method</a:t>
            </a:r>
            <a:endParaRPr lang="zh-TW" altLang="en-US" sz="26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4FBD410F-DF92-0BD0-9323-8598EF752861}"/>
              </a:ext>
            </a:extLst>
          </p:cNvPr>
          <p:cNvSpPr txBox="1"/>
          <p:nvPr/>
        </p:nvSpPr>
        <p:spPr>
          <a:xfrm>
            <a:off x="5970231" y="2912758"/>
            <a:ext cx="3630967" cy="1292662"/>
          </a:xfrm>
          <a:prstGeom prst="rect">
            <a:avLst/>
          </a:prstGeom>
          <a:noFill/>
        </p:spPr>
        <p:txBody>
          <a:bodyPr wrap="square" rtlCol="0">
            <a:spAutoFit/>
          </a:bodyPr>
          <a:lstStyle/>
          <a:p>
            <a:r>
              <a:rPr lang="en-US" altLang="zh-TW" sz="2600" dirty="0">
                <a:latin typeface="Times New Roman" panose="02020603050405020304" pitchFamily="18" charset="0"/>
                <a:cs typeface="Times New Roman" panose="02020603050405020304" pitchFamily="18" charset="0"/>
              </a:rPr>
              <a:t>Multi-point intersection (80% crossover between each chromosome)</a:t>
            </a:r>
            <a:endParaRPr lang="zh-TW" altLang="en-US" sz="2600"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940690CE-76F4-4D34-99C0-AD6D4DC513BC}"/>
              </a:ext>
            </a:extLst>
          </p:cNvPr>
          <p:cNvSpPr txBox="1"/>
          <p:nvPr/>
        </p:nvSpPr>
        <p:spPr>
          <a:xfrm>
            <a:off x="5970231" y="4882909"/>
            <a:ext cx="4740674" cy="892552"/>
          </a:xfrm>
          <a:prstGeom prst="rect">
            <a:avLst/>
          </a:prstGeom>
          <a:noFill/>
        </p:spPr>
        <p:txBody>
          <a:bodyPr wrap="square" rtlCol="0">
            <a:spAutoFit/>
          </a:bodyPr>
          <a:lstStyle/>
          <a:p>
            <a:r>
              <a:rPr lang="en-US" altLang="zh-TW" sz="2600" dirty="0">
                <a:latin typeface="Times New Roman" panose="02020603050405020304" pitchFamily="18" charset="0"/>
                <a:cs typeface="Times New Roman" panose="02020603050405020304" pitchFamily="18" charset="0"/>
              </a:rPr>
              <a:t>Every gene is altered with a small probability(0.003)</a:t>
            </a:r>
            <a:endParaRPr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1174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After 100 iterations</a:t>
            </a:r>
            <a:endParaRPr lang="zh-TW" altLang="en-US" sz="4800" dirty="0"/>
          </a:p>
        </p:txBody>
      </p:sp>
      <p:sp>
        <p:nvSpPr>
          <p:cNvPr id="5" name="文字方塊 4">
            <a:extLst>
              <a:ext uri="{FF2B5EF4-FFF2-40B4-BE49-F238E27FC236}">
                <a16:creationId xmlns:a16="http://schemas.microsoft.com/office/drawing/2014/main" id="{3C709306-D34B-C214-D420-E4A86F64016D}"/>
              </a:ext>
            </a:extLst>
          </p:cNvPr>
          <p:cNvSpPr txBox="1"/>
          <p:nvPr/>
        </p:nvSpPr>
        <p:spPr>
          <a:xfrm>
            <a:off x="1322772" y="1690688"/>
            <a:ext cx="8753383" cy="2277547"/>
          </a:xfrm>
          <a:prstGeom prst="rect">
            <a:avLst/>
          </a:prstGeom>
          <a:noFill/>
        </p:spPr>
        <p:txBody>
          <a:bodyPr wrap="square" rtlCol="0">
            <a:spAutoFit/>
          </a:bodyPr>
          <a:lstStyle/>
          <a:p>
            <a:pPr marL="457200" indent="-457200">
              <a:buFont typeface="Arial" panose="020B0604020202020204" pitchFamily="34" charset="0"/>
              <a:buChar char="•"/>
            </a:pPr>
            <a:endParaRPr lang="en-US" altLang="zh-TW" sz="3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zh-TW" sz="2600" dirty="0" err="1">
                <a:latin typeface="Times New Roman" panose="02020603050405020304" pitchFamily="18" charset="0"/>
                <a:cs typeface="Times New Roman" panose="02020603050405020304" pitchFamily="18" charset="0"/>
              </a:rPr>
              <a:t>Caculate</a:t>
            </a:r>
            <a:r>
              <a:rPr lang="en-US" altLang="zh-TW" sz="2600" dirty="0">
                <a:latin typeface="Times New Roman" panose="02020603050405020304" pitchFamily="18" charset="0"/>
                <a:cs typeface="Times New Roman" panose="02020603050405020304" pitchFamily="18" charset="0"/>
              </a:rPr>
              <a:t> the frequency of each factor in the population</a:t>
            </a:r>
          </a:p>
          <a:p>
            <a:pPr marL="457200" indent="-457200">
              <a:buFont typeface="Arial" panose="020B0604020202020204" pitchFamily="34" charset="0"/>
              <a:buChar char="•"/>
            </a:pPr>
            <a:r>
              <a:rPr lang="en-US" altLang="zh-TW" sz="2600" dirty="0">
                <a:latin typeface="Times New Roman" panose="02020603050405020304" pitchFamily="18" charset="0"/>
                <a:cs typeface="Times New Roman" panose="02020603050405020304" pitchFamily="18" charset="0"/>
              </a:rPr>
              <a:t>Obtain a factors importance ranking</a:t>
            </a:r>
          </a:p>
          <a:p>
            <a:pPr marL="457200" indent="-457200">
              <a:buFont typeface="Arial" panose="020B0604020202020204" pitchFamily="34" charset="0"/>
              <a:buChar char="•"/>
            </a:pPr>
            <a:endParaRPr lang="en-US" altLang="zh-TW" sz="3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zh-TW" altLang="en-US" sz="30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7A71FDC5-607A-0634-5697-17F6886D185C}"/>
              </a:ext>
            </a:extLst>
          </p:cNvPr>
          <p:cNvSpPr txBox="1"/>
          <p:nvPr/>
        </p:nvSpPr>
        <p:spPr>
          <a:xfrm>
            <a:off x="4156228" y="3429000"/>
            <a:ext cx="9294920" cy="2677656"/>
          </a:xfrm>
          <a:prstGeom prst="rect">
            <a:avLst/>
          </a:prstGeom>
          <a:noFill/>
        </p:spPr>
        <p:txBody>
          <a:bodyPr wrap="square" rtlCol="0">
            <a:spAutoFit/>
          </a:bodyPr>
          <a:lstStyle/>
          <a:p>
            <a:r>
              <a:rPr lang="en-US" altLang="zh-TW" sz="2400" dirty="0">
                <a:solidFill>
                  <a:schemeClr val="accent2"/>
                </a:solidFill>
                <a:latin typeface="Times New Roman" panose="02020603050405020304" pitchFamily="18" charset="0"/>
                <a:cs typeface="Times New Roman" panose="02020603050405020304" pitchFamily="18" charset="0"/>
              </a:rPr>
              <a:t>OSC   MASS  UDL  DKK  </a:t>
            </a:r>
          </a:p>
          <a:p>
            <a:r>
              <a:rPr lang="en-US" altLang="zh-TW" sz="2400" dirty="0">
                <a:latin typeface="Times New Roman" panose="02020603050405020304" pitchFamily="18" charset="0"/>
                <a:cs typeface="Times New Roman" panose="02020603050405020304" pitchFamily="18" charset="0"/>
              </a:rPr>
              <a:t>   </a:t>
            </a:r>
            <a:r>
              <a:rPr lang="en-US" altLang="zh-TW" sz="2400" dirty="0">
                <a:solidFill>
                  <a:schemeClr val="accent1"/>
                </a:solidFill>
                <a:latin typeface="Times New Roman" panose="02020603050405020304" pitchFamily="18" charset="0"/>
                <a:cs typeface="Times New Roman" panose="02020603050405020304" pitchFamily="18" charset="0"/>
              </a:rPr>
              <a:t>0           1         1        0        </a:t>
            </a:r>
          </a:p>
          <a:p>
            <a:r>
              <a:rPr lang="en-US" altLang="zh-TW" sz="2400" dirty="0">
                <a:solidFill>
                  <a:schemeClr val="accent1"/>
                </a:solidFill>
                <a:latin typeface="Times New Roman" panose="02020603050405020304" pitchFamily="18" charset="0"/>
                <a:cs typeface="Times New Roman" panose="02020603050405020304" pitchFamily="18" charset="0"/>
              </a:rPr>
              <a:t>   0           1         0        1        </a:t>
            </a:r>
          </a:p>
          <a:p>
            <a:r>
              <a:rPr lang="en-US" altLang="zh-TW" sz="2400" dirty="0">
                <a:solidFill>
                  <a:schemeClr val="accent1"/>
                </a:solidFill>
                <a:latin typeface="Times New Roman" panose="02020603050405020304" pitchFamily="18" charset="0"/>
                <a:cs typeface="Times New Roman" panose="02020603050405020304" pitchFamily="18" charset="0"/>
              </a:rPr>
              <a:t>   0           1         1        0</a:t>
            </a:r>
          </a:p>
          <a:p>
            <a:endParaRPr lang="en-US" altLang="zh-TW" sz="2400" dirty="0">
              <a:solidFill>
                <a:schemeClr val="accent1"/>
              </a:solidFill>
              <a:latin typeface="Times New Roman" panose="02020603050405020304" pitchFamily="18" charset="0"/>
              <a:cs typeface="Times New Roman" panose="02020603050405020304" pitchFamily="18" charset="0"/>
            </a:endParaRPr>
          </a:p>
          <a:p>
            <a:r>
              <a:rPr lang="en-US" altLang="zh-TW" sz="2400" dirty="0">
                <a:solidFill>
                  <a:schemeClr val="accent1"/>
                </a:solidFill>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R4        R1       R2     R3      </a:t>
            </a:r>
          </a:p>
          <a:p>
            <a:r>
              <a:rPr lang="en-US" altLang="zh-TW" sz="2400" dirty="0">
                <a:solidFill>
                  <a:schemeClr val="accent1"/>
                </a:solidFill>
                <a:latin typeface="Times New Roman" panose="02020603050405020304" pitchFamily="18" charset="0"/>
                <a:cs typeface="Times New Roman" panose="02020603050405020304" pitchFamily="18" charset="0"/>
              </a:rPr>
              <a:t>   </a:t>
            </a:r>
            <a:endParaRPr lang="zh-TW" altLang="en-US" sz="2400"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0882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標題 2">
            <a:extLst>
              <a:ext uri="{FF2B5EF4-FFF2-40B4-BE49-F238E27FC236}">
                <a16:creationId xmlns:a16="http://schemas.microsoft.com/office/drawing/2014/main" id="{E3828ED7-0DDF-3B73-85A5-218E9247AB6D}"/>
              </a:ext>
            </a:extLst>
          </p:cNvPr>
          <p:cNvSpPr>
            <a:spLocks noGrp="1"/>
          </p:cNvSpPr>
          <p:nvPr>
            <p:ph type="subTitle" idx="1"/>
          </p:nvPr>
        </p:nvSpPr>
        <p:spPr>
          <a:xfrm>
            <a:off x="902563" y="1773238"/>
            <a:ext cx="9144000" cy="1655762"/>
          </a:xfrm>
        </p:spPr>
        <p:txBody>
          <a:bodyPr/>
          <a:lstStyle/>
          <a:p>
            <a:pPr algn="l"/>
            <a:endParaRPr lang="zh-TW" altLang="en-US" sz="40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581AA316-5A94-4ABD-72A8-610CF9BA7348}"/>
              </a:ext>
            </a:extLst>
          </p:cNvPr>
          <p:cNvSpPr txBox="1"/>
          <p:nvPr/>
        </p:nvSpPr>
        <p:spPr>
          <a:xfrm>
            <a:off x="902563" y="4542478"/>
            <a:ext cx="3838113" cy="553998"/>
          </a:xfrm>
          <a:prstGeom prst="rect">
            <a:avLst/>
          </a:prstGeom>
          <a:noFill/>
        </p:spPr>
        <p:txBody>
          <a:bodyPr wrap="square" rtlCol="0">
            <a:spAutoFit/>
          </a:bodyPr>
          <a:lstStyle/>
          <a:p>
            <a:endParaRPr lang="zh-TW" altLang="en-US" sz="3000" dirty="0">
              <a:latin typeface="Times New Roman" panose="02020603050405020304" pitchFamily="18" charset="0"/>
              <a:cs typeface="Times New Roman" panose="02020603050405020304" pitchFamily="18" charset="0"/>
            </a:endParaRPr>
          </a:p>
        </p:txBody>
      </p:sp>
      <p:sp>
        <p:nvSpPr>
          <p:cNvPr id="7" name="標題 6">
            <a:extLst>
              <a:ext uri="{FF2B5EF4-FFF2-40B4-BE49-F238E27FC236}">
                <a16:creationId xmlns:a16="http://schemas.microsoft.com/office/drawing/2014/main" id="{7B5A4988-A0CB-736A-193B-282A4F454670}"/>
              </a:ext>
            </a:extLst>
          </p:cNvPr>
          <p:cNvSpPr>
            <a:spLocks noGrp="1"/>
          </p:cNvSpPr>
          <p:nvPr>
            <p:ph type="ctrTitle"/>
          </p:nvPr>
        </p:nvSpPr>
        <p:spPr/>
        <p:txBody>
          <a:bodyPr/>
          <a:lstStyle/>
          <a:p>
            <a:endParaRPr lang="zh-TW" altLang="en-US" dirty="0"/>
          </a:p>
        </p:txBody>
      </p:sp>
      <p:pic>
        <p:nvPicPr>
          <p:cNvPr id="4" name="圖片 3">
            <a:extLst>
              <a:ext uri="{FF2B5EF4-FFF2-40B4-BE49-F238E27FC236}">
                <a16:creationId xmlns:a16="http://schemas.microsoft.com/office/drawing/2014/main" id="{F7DBEDC9-F876-1DFD-4558-2607A9A90037}"/>
              </a:ext>
            </a:extLst>
          </p:cNvPr>
          <p:cNvPicPr>
            <a:picLocks noChangeAspect="1"/>
          </p:cNvPicPr>
          <p:nvPr/>
        </p:nvPicPr>
        <p:blipFill>
          <a:blip r:embed="rId2"/>
          <a:stretch>
            <a:fillRect/>
          </a:stretch>
        </p:blipFill>
        <p:spPr>
          <a:xfrm>
            <a:off x="304795" y="433999"/>
            <a:ext cx="11582409" cy="5475095"/>
          </a:xfrm>
          <a:prstGeom prst="rect">
            <a:avLst/>
          </a:prstGeom>
        </p:spPr>
      </p:pic>
    </p:spTree>
    <p:extLst>
      <p:ext uri="{BB962C8B-B14F-4D97-AF65-F5344CB8AC3E}">
        <p14:creationId xmlns:p14="http://schemas.microsoft.com/office/powerpoint/2010/main" val="2033645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8866DD-DCCA-1790-1842-2298A8A5B429}"/>
              </a:ext>
            </a:extLst>
          </p:cNvPr>
          <p:cNvSpPr>
            <a:spLocks noGrp="1"/>
          </p:cNvSpPr>
          <p:nvPr>
            <p:ph type="ctrTitle"/>
          </p:nvPr>
        </p:nvSpPr>
        <p:spPr>
          <a:xfrm>
            <a:off x="1524000" y="283022"/>
            <a:ext cx="9144000" cy="1139625"/>
          </a:xfrm>
        </p:spPr>
        <p:txBody>
          <a:bodyPr/>
          <a:lstStyle/>
          <a:p>
            <a:r>
              <a:rPr lang="en-US" altLang="zh-TW" sz="5300" dirty="0">
                <a:latin typeface="Times New Roman" panose="02020603050405020304" pitchFamily="18" charset="0"/>
                <a:cs typeface="Times New Roman" panose="02020603050405020304" pitchFamily="18" charset="0"/>
              </a:rPr>
              <a:t>Parameters of LSTM</a:t>
            </a:r>
            <a:endParaRPr lang="zh-TW" altLang="en-US" sz="53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E3828ED7-0DDF-3B73-85A5-218E9247AB6D}"/>
              </a:ext>
            </a:extLst>
          </p:cNvPr>
          <p:cNvSpPr>
            <a:spLocks noGrp="1"/>
          </p:cNvSpPr>
          <p:nvPr>
            <p:ph type="subTitle" idx="1"/>
          </p:nvPr>
        </p:nvSpPr>
        <p:spPr/>
        <p:txBody>
          <a:bodyPr/>
          <a:lstStyle/>
          <a:p>
            <a:endParaRPr lang="zh-TW" altLang="en-US" dirty="0"/>
          </a:p>
        </p:txBody>
      </p:sp>
      <p:pic>
        <p:nvPicPr>
          <p:cNvPr id="5" name="圖片 4">
            <a:extLst>
              <a:ext uri="{FF2B5EF4-FFF2-40B4-BE49-F238E27FC236}">
                <a16:creationId xmlns:a16="http://schemas.microsoft.com/office/drawing/2014/main" id="{1F9F17A8-56E6-7BE9-73CE-1E568205410C}"/>
              </a:ext>
            </a:extLst>
          </p:cNvPr>
          <p:cNvPicPr>
            <a:picLocks noChangeAspect="1"/>
          </p:cNvPicPr>
          <p:nvPr/>
        </p:nvPicPr>
        <p:blipFill>
          <a:blip r:embed="rId2"/>
          <a:stretch>
            <a:fillRect/>
          </a:stretch>
        </p:blipFill>
        <p:spPr>
          <a:xfrm>
            <a:off x="2139385" y="1874688"/>
            <a:ext cx="7913230" cy="3789265"/>
          </a:xfrm>
          <a:prstGeom prst="rect">
            <a:avLst/>
          </a:prstGeom>
        </p:spPr>
      </p:pic>
    </p:spTree>
    <p:extLst>
      <p:ext uri="{BB962C8B-B14F-4D97-AF65-F5344CB8AC3E}">
        <p14:creationId xmlns:p14="http://schemas.microsoft.com/office/powerpoint/2010/main" val="3438081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標題 2">
            <a:extLst>
              <a:ext uri="{FF2B5EF4-FFF2-40B4-BE49-F238E27FC236}">
                <a16:creationId xmlns:a16="http://schemas.microsoft.com/office/drawing/2014/main" id="{E3828ED7-0DDF-3B73-85A5-218E9247AB6D}"/>
              </a:ext>
            </a:extLst>
          </p:cNvPr>
          <p:cNvSpPr>
            <a:spLocks noGrp="1"/>
          </p:cNvSpPr>
          <p:nvPr>
            <p:ph type="subTitle" idx="1"/>
          </p:nvPr>
        </p:nvSpPr>
        <p:spPr>
          <a:xfrm>
            <a:off x="1044606" y="1072966"/>
            <a:ext cx="9144000" cy="1655762"/>
          </a:xfrm>
        </p:spPr>
        <p:txBody>
          <a:bodyPr>
            <a:normAutofit/>
          </a:bodyPr>
          <a:lstStyle/>
          <a:p>
            <a:pPr marL="342900" indent="-342900" algn="l">
              <a:buFont typeface="Arial" panose="020B0604020202020204" pitchFamily="34" charset="0"/>
              <a:buChar char="•"/>
            </a:pPr>
            <a:r>
              <a:rPr lang="en-US" altLang="zh-TW" sz="2600" dirty="0">
                <a:latin typeface="Times New Roman" panose="02020603050405020304" pitchFamily="18" charset="0"/>
                <a:cs typeface="Times New Roman" panose="02020603050405020304" pitchFamily="18" charset="0"/>
              </a:rPr>
              <a:t>The LSTM network time step is set to 5</a:t>
            </a:r>
          </a:p>
          <a:p>
            <a:pPr marL="342900" indent="-342900" algn="l">
              <a:buFont typeface="Arial" panose="020B0604020202020204" pitchFamily="34" charset="0"/>
              <a:buChar char="•"/>
            </a:pPr>
            <a:r>
              <a:rPr lang="en-US" altLang="zh-TW" sz="2600" dirty="0">
                <a:latin typeface="Times New Roman" panose="02020603050405020304" pitchFamily="18" charset="0"/>
                <a:cs typeface="Times New Roman" panose="02020603050405020304" pitchFamily="18" charset="0"/>
              </a:rPr>
              <a:t>Trial and error to obtain optimal combination of factors</a:t>
            </a:r>
          </a:p>
          <a:p>
            <a:pPr algn="l"/>
            <a:r>
              <a:rPr lang="en-US" altLang="zh-TW" sz="2600" dirty="0">
                <a:latin typeface="Times New Roman" panose="02020603050405020304" pitchFamily="18" charset="0"/>
                <a:cs typeface="Times New Roman" panose="02020603050405020304" pitchFamily="18" charset="0"/>
              </a:rPr>
              <a:t>    (K5, K10, K20, K30)</a:t>
            </a:r>
          </a:p>
          <a:p>
            <a:pPr algn="l"/>
            <a:endParaRPr lang="zh-TW" altLang="en-US" sz="26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044A9B48-D893-44FD-1875-143252812E30}"/>
              </a:ext>
            </a:extLst>
          </p:cNvPr>
          <p:cNvPicPr>
            <a:picLocks noChangeAspect="1"/>
          </p:cNvPicPr>
          <p:nvPr/>
        </p:nvPicPr>
        <p:blipFill>
          <a:blip r:embed="rId2"/>
          <a:stretch>
            <a:fillRect/>
          </a:stretch>
        </p:blipFill>
        <p:spPr>
          <a:xfrm>
            <a:off x="2396464" y="2728728"/>
            <a:ext cx="7399071" cy="3216009"/>
          </a:xfrm>
          <a:prstGeom prst="rect">
            <a:avLst/>
          </a:prstGeom>
        </p:spPr>
      </p:pic>
      <p:sp>
        <p:nvSpPr>
          <p:cNvPr id="7" name="橢圓 6">
            <a:extLst>
              <a:ext uri="{FF2B5EF4-FFF2-40B4-BE49-F238E27FC236}">
                <a16:creationId xmlns:a16="http://schemas.microsoft.com/office/drawing/2014/main" id="{717B9575-E53C-11C2-CC3A-F19B0C121BD3}"/>
              </a:ext>
            </a:extLst>
          </p:cNvPr>
          <p:cNvSpPr/>
          <p:nvPr/>
        </p:nvSpPr>
        <p:spPr>
          <a:xfrm>
            <a:off x="4812923" y="5157926"/>
            <a:ext cx="1310936" cy="26633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a:extLst>
              <a:ext uri="{FF2B5EF4-FFF2-40B4-BE49-F238E27FC236}">
                <a16:creationId xmlns:a16="http://schemas.microsoft.com/office/drawing/2014/main" id="{A9BE1201-372D-4302-FE14-06E8EEF93827}"/>
              </a:ext>
            </a:extLst>
          </p:cNvPr>
          <p:cNvSpPr/>
          <p:nvPr/>
        </p:nvSpPr>
        <p:spPr>
          <a:xfrm>
            <a:off x="6997083" y="4891596"/>
            <a:ext cx="1310936" cy="26633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462453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DB4D57B0-313E-8E3D-9057-7A4D55009D6E}"/>
              </a:ext>
            </a:extLst>
          </p:cNvPr>
          <p:cNvPicPr>
            <a:picLocks noChangeAspect="1"/>
          </p:cNvPicPr>
          <p:nvPr/>
        </p:nvPicPr>
        <p:blipFill>
          <a:blip r:embed="rId2"/>
          <a:stretch>
            <a:fillRect/>
          </a:stretch>
        </p:blipFill>
        <p:spPr>
          <a:xfrm>
            <a:off x="183573" y="1764932"/>
            <a:ext cx="5679512" cy="3055644"/>
          </a:xfrm>
          <a:prstGeom prst="rect">
            <a:avLst/>
          </a:prstGeom>
        </p:spPr>
      </p:pic>
      <p:pic>
        <p:nvPicPr>
          <p:cNvPr id="5" name="圖片 4">
            <a:extLst>
              <a:ext uri="{FF2B5EF4-FFF2-40B4-BE49-F238E27FC236}">
                <a16:creationId xmlns:a16="http://schemas.microsoft.com/office/drawing/2014/main" id="{180B1A74-C6A5-22AE-C98F-9E4A6244ED18}"/>
              </a:ext>
            </a:extLst>
          </p:cNvPr>
          <p:cNvPicPr>
            <a:picLocks noChangeAspect="1"/>
          </p:cNvPicPr>
          <p:nvPr/>
        </p:nvPicPr>
        <p:blipFill>
          <a:blip r:embed="rId3"/>
          <a:stretch>
            <a:fillRect/>
          </a:stretch>
        </p:blipFill>
        <p:spPr>
          <a:xfrm>
            <a:off x="6022883" y="1717959"/>
            <a:ext cx="5679512" cy="3102617"/>
          </a:xfrm>
          <a:prstGeom prst="rect">
            <a:avLst/>
          </a:prstGeom>
        </p:spPr>
      </p:pic>
    </p:spTree>
    <p:extLst>
      <p:ext uri="{BB962C8B-B14F-4D97-AF65-F5344CB8AC3E}">
        <p14:creationId xmlns:p14="http://schemas.microsoft.com/office/powerpoint/2010/main" val="1568918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994B9074-FFE2-64E5-A801-528B60039244}"/>
              </a:ext>
            </a:extLst>
          </p:cNvPr>
          <p:cNvSpPr txBox="1"/>
          <p:nvPr/>
        </p:nvSpPr>
        <p:spPr>
          <a:xfrm>
            <a:off x="4500980" y="2228671"/>
            <a:ext cx="8416031" cy="1200329"/>
          </a:xfrm>
          <a:prstGeom prst="rect">
            <a:avLst/>
          </a:prstGeom>
          <a:noFill/>
        </p:spPr>
        <p:txBody>
          <a:bodyPr wrap="square" rtlCol="0">
            <a:spAutoFit/>
          </a:bodyPr>
          <a:lstStyle/>
          <a:p>
            <a:r>
              <a:rPr lang="en-US" altLang="zh-TW" sz="7200" dirty="0">
                <a:latin typeface="Times New Roman" panose="02020603050405020304" pitchFamily="18" charset="0"/>
                <a:ea typeface="+mj-ea"/>
                <a:cs typeface="Times New Roman" panose="02020603050405020304" pitchFamily="18" charset="0"/>
              </a:rPr>
              <a:t>Thanks</a:t>
            </a:r>
            <a:endParaRPr lang="zh-TW" altLang="en-US" sz="720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81990533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973</TotalTime>
  <Words>516</Words>
  <Application>Microsoft Office PowerPoint</Application>
  <PresentationFormat>寬螢幕</PresentationFormat>
  <Paragraphs>70</Paragraphs>
  <Slides>18</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18</vt:i4>
      </vt:variant>
    </vt:vector>
  </HeadingPairs>
  <TitlesOfParts>
    <vt:vector size="24" baseType="lpstr">
      <vt:lpstr>標楷體</vt:lpstr>
      <vt:lpstr>Arial</vt:lpstr>
      <vt:lpstr>Calibri</vt:lpstr>
      <vt:lpstr>Calibri Light</vt:lpstr>
      <vt:lpstr>Times New Roman</vt:lpstr>
      <vt:lpstr>Office 佈景主題</vt:lpstr>
      <vt:lpstr>Stock Prediction Based on Genetic Algorithm Feature Selection and Long Short-Term Memory Neural Network </vt:lpstr>
      <vt:lpstr>ABSTRACT(1/2)</vt:lpstr>
      <vt:lpstr>ABSTRACT(2/2)</vt:lpstr>
      <vt:lpstr>Paper Proposed Method</vt:lpstr>
      <vt:lpstr>Paper Proposed Method</vt:lpstr>
      <vt:lpstr>PowerPoint 簡報</vt:lpstr>
      <vt:lpstr>PowerPoint 簡報</vt:lpstr>
      <vt:lpstr>Parameters of GA</vt:lpstr>
      <vt:lpstr>PowerPoint 簡報</vt:lpstr>
      <vt:lpstr> </vt:lpstr>
      <vt:lpstr>Fitness Function</vt:lpstr>
      <vt:lpstr>PowerPoint 簡報</vt:lpstr>
      <vt:lpstr>After 100 iterations</vt:lpstr>
      <vt:lpstr>PowerPoint 簡報</vt:lpstr>
      <vt:lpstr>Parameters of LSTM</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Prediction Based on Genetic Algorithm Feature Selection and Long Short-Term Memory Neural Network </dc:title>
  <dc:creator>楊景翔</dc:creator>
  <cp:lastModifiedBy>楊景翔</cp:lastModifiedBy>
  <cp:revision>9</cp:revision>
  <dcterms:created xsi:type="dcterms:W3CDTF">2023-09-05T08:57:34Z</dcterms:created>
  <dcterms:modified xsi:type="dcterms:W3CDTF">2023-09-11T17:12:15Z</dcterms:modified>
</cp:coreProperties>
</file>