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78" r:id="rId4"/>
    <p:sldId id="311" r:id="rId5"/>
    <p:sldId id="295" r:id="rId6"/>
    <p:sldId id="303" r:id="rId7"/>
    <p:sldId id="298" r:id="rId8"/>
    <p:sldId id="304" r:id="rId9"/>
    <p:sldId id="299" r:id="rId10"/>
    <p:sldId id="305" r:id="rId11"/>
    <p:sldId id="301" r:id="rId12"/>
    <p:sldId id="306" r:id="rId13"/>
    <p:sldId id="302" r:id="rId14"/>
    <p:sldId id="307" r:id="rId15"/>
    <p:sldId id="308" r:id="rId16"/>
    <p:sldId id="309" r:id="rId17"/>
    <p:sldId id="310" r:id="rId18"/>
    <p:sldId id="297" r:id="rId19"/>
    <p:sldId id="294"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896" autoAdjust="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2023/11/7</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b="0" i="0" dirty="0">
                <a:solidFill>
                  <a:srgbClr val="E8EAED"/>
                </a:solidFill>
                <a:effectLst/>
                <a:latin typeface="Google Sans"/>
              </a:rPr>
              <a:t>特拉維夫市</a:t>
            </a:r>
            <a:r>
              <a:rPr lang="zh-TW" altLang="en-US" b="0" i="0" dirty="0">
                <a:solidFill>
                  <a:srgbClr val="BDC1C6"/>
                </a:solidFill>
                <a:effectLst/>
                <a:latin typeface="arial" panose="020B0604020202020204" pitchFamily="34" charset="0"/>
              </a:rPr>
              <a:t>以色列</a:t>
            </a:r>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5428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2454272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132689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2050567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2038490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3882897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1966963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224423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2228597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3919068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3785095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2977035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15</a:t>
            </a:fld>
            <a:endParaRPr lang="zh-TW" altLang="en-US"/>
          </a:p>
        </p:txBody>
      </p:sp>
    </p:spTree>
    <p:extLst>
      <p:ext uri="{BB962C8B-B14F-4D97-AF65-F5344CB8AC3E}">
        <p14:creationId xmlns:p14="http://schemas.microsoft.com/office/powerpoint/2010/main" val="3980987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16</a:t>
            </a:fld>
            <a:endParaRPr lang="zh-TW" altLang="en-US"/>
          </a:p>
        </p:txBody>
      </p:sp>
    </p:spTree>
    <p:extLst>
      <p:ext uri="{BB962C8B-B14F-4D97-AF65-F5344CB8AC3E}">
        <p14:creationId xmlns:p14="http://schemas.microsoft.com/office/powerpoint/2010/main" val="606921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17</a:t>
            </a:fld>
            <a:endParaRPr lang="zh-TW" altLang="en-US"/>
          </a:p>
        </p:txBody>
      </p:sp>
    </p:spTree>
    <p:extLst>
      <p:ext uri="{BB962C8B-B14F-4D97-AF65-F5344CB8AC3E}">
        <p14:creationId xmlns:p14="http://schemas.microsoft.com/office/powerpoint/2010/main" val="289672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18</a:t>
            </a:fld>
            <a:endParaRPr lang="zh-TW" altLang="en-US"/>
          </a:p>
        </p:txBody>
      </p:sp>
    </p:spTree>
    <p:extLst>
      <p:ext uri="{BB962C8B-B14F-4D97-AF65-F5344CB8AC3E}">
        <p14:creationId xmlns:p14="http://schemas.microsoft.com/office/powerpoint/2010/main" val="2500463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19</a:t>
            </a:fld>
            <a:endParaRPr lang="zh-TW" altLang="en-US"/>
          </a:p>
        </p:txBody>
      </p:sp>
    </p:spTree>
    <p:extLst>
      <p:ext uri="{BB962C8B-B14F-4D97-AF65-F5344CB8AC3E}">
        <p14:creationId xmlns:p14="http://schemas.microsoft.com/office/powerpoint/2010/main" val="339225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2023/11/7</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2023/11/7</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2023/11/7</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2023/11/7</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2023/11/7</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2023/11/7</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2023/11/7</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953224" y="1122363"/>
            <a:ext cx="10285551" cy="2387600"/>
          </a:xfrm>
        </p:spPr>
        <p:txBody>
          <a:bodyPr>
            <a:noAutofit/>
          </a:bodyPr>
          <a:lstStyle/>
          <a:p>
            <a:r>
              <a:rPr lang="en-US" altLang="zh-TW" sz="4000" b="1" dirty="0">
                <a:latin typeface="Times New Roman" panose="02020603050405020304" pitchFamily="18" charset="0"/>
                <a:cs typeface="Times New Roman" panose="02020603050405020304" pitchFamily="18" charset="0"/>
              </a:rPr>
              <a:t>An Algorithm for Finding the Longest Common</a:t>
            </a:r>
            <a:r>
              <a:rPr lang="zh-TW" altLang="en-US" sz="4000" b="1" dirty="0">
                <a:latin typeface="Times New Roman" panose="02020603050405020304" pitchFamily="18" charset="0"/>
                <a:cs typeface="Times New Roman" panose="02020603050405020304" pitchFamily="18" charset="0"/>
              </a:rPr>
              <a:t> </a:t>
            </a:r>
            <a:r>
              <a:rPr lang="en-US" altLang="zh-TW" sz="4000" b="1" dirty="0">
                <a:latin typeface="Times New Roman" panose="02020603050405020304" pitchFamily="18" charset="0"/>
                <a:cs typeface="Times New Roman" panose="02020603050405020304" pitchFamily="18" charset="0"/>
              </a:rPr>
              <a:t>Almost Wave Subsequence with the Trend</a:t>
            </a: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521050" y="3928587"/>
            <a:ext cx="11149897" cy="1655762"/>
          </a:xfrm>
        </p:spPr>
        <p:txBody>
          <a:bodyPr>
            <a:normAutofit/>
          </a:bodyPr>
          <a:lstStyle/>
          <a:p>
            <a:r>
              <a:rPr lang="en-US" altLang="zh-TW" dirty="0">
                <a:latin typeface="Times New Roman" panose="02020603050405020304" pitchFamily="18" charset="0"/>
                <a:cs typeface="Times New Roman" panose="02020603050405020304" pitchFamily="18" charset="0"/>
              </a:rPr>
              <a:t>Tsung-Lin Lu, Kuo-Si Huang and Chang-</a:t>
            </a:r>
            <a:r>
              <a:rPr lang="en-US" altLang="zh-TW" dirty="0" err="1">
                <a:latin typeface="Times New Roman" panose="02020603050405020304" pitchFamily="18" charset="0"/>
                <a:cs typeface="Times New Roman" panose="02020603050405020304" pitchFamily="18" charset="0"/>
              </a:rPr>
              <a:t>Biau</a:t>
            </a:r>
            <a:r>
              <a:rPr lang="en-US" altLang="zh-TW" dirty="0">
                <a:latin typeface="Times New Roman" panose="02020603050405020304" pitchFamily="18" charset="0"/>
                <a:cs typeface="Times New Roman" panose="02020603050405020304" pitchFamily="18" charset="0"/>
              </a:rPr>
              <a:t> Yang,14th IIAI International Congress on Advanced Applied Informatics (IIAI-AAI 2023), pp. 424-429, Koriyama City, Fukushima ken, Japan, July 2023</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a:t>
            </a:r>
            <a:r>
              <a:rPr kumimoji="1" lang="en-US" altLang="zh-TW" dirty="0">
                <a:latin typeface="Times New Roman" panose="02020603050405020304" pitchFamily="18" charset="0"/>
                <a:cs typeface="Times New Roman" panose="02020603050405020304" pitchFamily="18" charset="0"/>
              </a:rPr>
              <a:t>Nov.</a:t>
            </a:r>
            <a:r>
              <a:rPr kumimoji="1" lang="en"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7</a:t>
            </a:r>
            <a:r>
              <a:rPr kumimoji="1" lang="en" altLang="zh-TW" dirty="0">
                <a:latin typeface="Times New Roman" panose="02020603050405020304" pitchFamily="18" charset="0"/>
                <a:cs typeface="Times New Roman" panose="02020603050405020304" pitchFamily="18" charset="0"/>
              </a:rPr>
              <a:t>,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pPr/>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lnSpcReduction="10000"/>
          </a:bodyPr>
          <a:lstStyle/>
          <a:p>
            <a:pPr marL="0" indent="0">
              <a:lnSpc>
                <a:spcPct val="150000"/>
              </a:lnSpc>
              <a:buNone/>
            </a:pPr>
            <a:r>
              <a:rPr kumimoji="1" lang="en-US" altLang="zh-TW" sz="2400" dirty="0">
                <a:latin typeface="Times New Roman" panose="02020603050405020304" pitchFamily="18" charset="0"/>
                <a:cs typeface="Times New Roman" panose="02020603050405020304" pitchFamily="18" charset="0"/>
              </a:rPr>
              <a:t>Numeric sequences often exhibit similar behaviors or trends, such as fluctuations in electrocardiograms and stock values that resemble waves. This paper attempts to find the longest common almost wave subsequence with the trend (</a:t>
            </a:r>
            <a:r>
              <a:rPr kumimoji="1" lang="en-US" altLang="zh-TW" sz="2400" dirty="0" err="1">
                <a:latin typeface="Times New Roman" panose="02020603050405020304" pitchFamily="18" charset="0"/>
                <a:cs typeface="Times New Roman" panose="02020603050405020304" pitchFamily="18" charset="0"/>
              </a:rPr>
              <a:t>LCaWSt</a:t>
            </a:r>
            <a:r>
              <a:rPr kumimoji="1" lang="en-US" altLang="zh-TW" sz="2400" dirty="0">
                <a:latin typeface="Times New Roman" panose="02020603050405020304" pitchFamily="18" charset="0"/>
                <a:cs typeface="Times New Roman" panose="02020603050405020304" pitchFamily="18" charset="0"/>
              </a:rPr>
              <a:t>) between two numeric sequences </a:t>
            </a:r>
            <a:r>
              <a:rPr kumimoji="1" lang="en-US" altLang="zh-TW" sz="2400" i="1" dirty="0">
                <a:latin typeface="Times New Roman" panose="02020603050405020304" pitchFamily="18" charset="0"/>
                <a:cs typeface="Times New Roman" panose="02020603050405020304" pitchFamily="18" charset="0"/>
              </a:rPr>
              <a:t>A</a:t>
            </a:r>
            <a:r>
              <a:rPr kumimoji="1" lang="en-US" altLang="zh-TW" sz="2400" dirty="0">
                <a:latin typeface="Times New Roman" panose="02020603050405020304" pitchFamily="18" charset="0"/>
                <a:cs typeface="Times New Roman" panose="02020603050405020304" pitchFamily="18" charset="0"/>
              </a:rPr>
              <a:t> and </a:t>
            </a:r>
            <a:r>
              <a:rPr kumimoji="1" lang="en-US" altLang="zh-TW" sz="2400" i="1" dirty="0">
                <a:latin typeface="Times New Roman" panose="02020603050405020304" pitchFamily="18" charset="0"/>
                <a:cs typeface="Times New Roman" panose="02020603050405020304" pitchFamily="18" charset="0"/>
              </a:rPr>
              <a:t>B</a:t>
            </a:r>
            <a:r>
              <a:rPr kumimoji="1" lang="en-US" altLang="zh-TW" sz="2400" dirty="0">
                <a:latin typeface="Times New Roman" panose="02020603050405020304" pitchFamily="18" charset="0"/>
                <a:cs typeface="Times New Roman" panose="02020603050405020304" pitchFamily="18" charset="0"/>
              </a:rPr>
              <a:t>, given a wave trend </a:t>
            </a:r>
            <a:r>
              <a:rPr kumimoji="1" lang="en-US" altLang="zh-TW" sz="2400" i="1" dirty="0">
                <a:latin typeface="Times New Roman" panose="02020603050405020304" pitchFamily="18" charset="0"/>
                <a:cs typeface="Times New Roman" panose="02020603050405020304" pitchFamily="18" charset="0"/>
              </a:rPr>
              <a:t>T</a:t>
            </a:r>
            <a:r>
              <a:rPr kumimoji="1" lang="en-US" altLang="zh-TW" sz="2400" dirty="0">
                <a:latin typeface="Times New Roman" panose="02020603050405020304" pitchFamily="18" charset="0"/>
                <a:cs typeface="Times New Roman" panose="02020603050405020304" pitchFamily="18" charset="0"/>
              </a:rPr>
              <a:t> and a certain tolerance constant </a:t>
            </a:r>
            <a:r>
              <a:rPr kumimoji="1" lang="en-US" altLang="zh-TW" sz="2400" i="1" dirty="0">
                <a:latin typeface="Times New Roman" panose="02020603050405020304" pitchFamily="18" charset="0"/>
                <a:cs typeface="Times New Roman" panose="02020603050405020304" pitchFamily="18" charset="0"/>
              </a:rPr>
              <a:t>c</a:t>
            </a:r>
            <a:r>
              <a:rPr kumimoji="1" lang="en-US" altLang="zh-TW" sz="2400" dirty="0">
                <a:latin typeface="Times New Roman" panose="02020603050405020304" pitchFamily="18" charset="0"/>
                <a:cs typeface="Times New Roman" panose="02020603050405020304" pitchFamily="18" charset="0"/>
              </a:rPr>
              <a:t>. The </a:t>
            </a:r>
            <a:r>
              <a:rPr kumimoji="1" lang="en-US" altLang="zh-TW" sz="2400" dirty="0" err="1">
                <a:latin typeface="Times New Roman" panose="02020603050405020304" pitchFamily="18" charset="0"/>
                <a:cs typeface="Times New Roman" panose="02020603050405020304" pitchFamily="18" charset="0"/>
              </a:rPr>
              <a:t>LCaWSt</a:t>
            </a:r>
            <a:r>
              <a:rPr kumimoji="1" lang="en-US" altLang="zh-TW" sz="2400" dirty="0">
                <a:latin typeface="Times New Roman" panose="02020603050405020304" pitchFamily="18" charset="0"/>
                <a:cs typeface="Times New Roman" panose="02020603050405020304" pitchFamily="18" charset="0"/>
              </a:rPr>
              <a:t> problem aims to find the longest common subsequence of </a:t>
            </a:r>
            <a:r>
              <a:rPr kumimoji="1" lang="en-US" altLang="zh-TW" sz="2400" i="1" dirty="0">
                <a:latin typeface="Times New Roman" panose="02020603050405020304" pitchFamily="18" charset="0"/>
                <a:cs typeface="Times New Roman" panose="02020603050405020304" pitchFamily="18" charset="0"/>
              </a:rPr>
              <a:t>A</a:t>
            </a:r>
            <a:r>
              <a:rPr kumimoji="1" lang="en-US" altLang="zh-TW" sz="2400" dirty="0">
                <a:latin typeface="Times New Roman" panose="02020603050405020304" pitchFamily="18" charset="0"/>
                <a:cs typeface="Times New Roman" panose="02020603050405020304" pitchFamily="18" charset="0"/>
              </a:rPr>
              <a:t> and </a:t>
            </a:r>
            <a:r>
              <a:rPr kumimoji="1" lang="en-US" altLang="zh-TW" sz="2400" i="1" dirty="0">
                <a:latin typeface="Times New Roman" panose="02020603050405020304" pitchFamily="18" charset="0"/>
                <a:cs typeface="Times New Roman" panose="02020603050405020304" pitchFamily="18" charset="0"/>
              </a:rPr>
              <a:t>B</a:t>
            </a:r>
            <a:r>
              <a:rPr kumimoji="1" lang="en-US" altLang="zh-TW" sz="2400" dirty="0">
                <a:latin typeface="Times New Roman" panose="02020603050405020304" pitchFamily="18" charset="0"/>
                <a:cs typeface="Times New Roman" panose="02020603050405020304" pitchFamily="18" charset="0"/>
              </a:rPr>
              <a:t>, consisting of the almost increasing and decreasing segments alternatively, whose trend follows the prefix of </a:t>
            </a:r>
            <a:r>
              <a:rPr kumimoji="1" lang="en-US" altLang="zh-TW" sz="2400" i="1" dirty="0">
                <a:latin typeface="Times New Roman" panose="02020603050405020304" pitchFamily="18" charset="0"/>
                <a:cs typeface="Times New Roman" panose="02020603050405020304" pitchFamily="18" charset="0"/>
              </a:rPr>
              <a:t>T</a:t>
            </a:r>
            <a:r>
              <a:rPr kumimoji="1" lang="en-US" altLang="zh-TW" sz="2400" dirty="0">
                <a:latin typeface="Times New Roman" panose="02020603050405020304" pitchFamily="18" charset="0"/>
                <a:cs typeface="Times New Roman" panose="02020603050405020304" pitchFamily="18" charset="0"/>
              </a:rPr>
              <a:t>. We propose an algorithm for finding the </a:t>
            </a:r>
            <a:r>
              <a:rPr kumimoji="1" lang="en-US" altLang="zh-TW" sz="2400" dirty="0" err="1">
                <a:latin typeface="Times New Roman" panose="02020603050405020304" pitchFamily="18" charset="0"/>
                <a:cs typeface="Times New Roman" panose="02020603050405020304" pitchFamily="18" charset="0"/>
              </a:rPr>
              <a:t>LCaWSt</a:t>
            </a:r>
            <a:r>
              <a:rPr kumimoji="1" lang="en-US" altLang="zh-TW" sz="2400" dirty="0">
                <a:latin typeface="Times New Roman" panose="02020603050405020304" pitchFamily="18" charset="0"/>
                <a:cs typeface="Times New Roman" panose="02020603050405020304" pitchFamily="18" charset="0"/>
              </a:rPr>
              <a:t> in O(</a:t>
            </a:r>
            <a:r>
              <a:rPr kumimoji="1" lang="en-US" altLang="zh-TW" sz="2400" i="1" dirty="0" err="1">
                <a:latin typeface="Times New Roman" panose="02020603050405020304" pitchFamily="18" charset="0"/>
                <a:cs typeface="Times New Roman" panose="02020603050405020304" pitchFamily="18" charset="0"/>
              </a:rPr>
              <a:t>mnc</a:t>
            </a:r>
            <a:r>
              <a:rPr kumimoji="1" lang="en-US" altLang="zh-TW" sz="2400" dirty="0">
                <a:latin typeface="Times New Roman" panose="02020603050405020304" pitchFamily="18" charset="0"/>
                <a:cs typeface="Times New Roman" panose="02020603050405020304" pitchFamily="18" charset="0"/>
              </a:rPr>
              <a:t>) time and O(</a:t>
            </a:r>
            <a:r>
              <a:rPr kumimoji="1" lang="en-US" altLang="zh-TW" sz="2400" i="1" dirty="0" err="1">
                <a:latin typeface="Times New Roman" panose="02020603050405020304" pitchFamily="18" charset="0"/>
                <a:cs typeface="Times New Roman" panose="02020603050405020304" pitchFamily="18" charset="0"/>
              </a:rPr>
              <a:t>nc</a:t>
            </a:r>
            <a:r>
              <a:rPr kumimoji="1" lang="en-US" altLang="zh-TW" sz="2400" dirty="0">
                <a:latin typeface="Times New Roman" panose="02020603050405020304" pitchFamily="18" charset="0"/>
                <a:cs typeface="Times New Roman" panose="02020603050405020304" pitchFamily="18" charset="0"/>
              </a:rPr>
              <a:t>) space, where </a:t>
            </a:r>
            <a:r>
              <a:rPr kumimoji="1" lang="en-US" altLang="zh-TW" sz="2400" i="1" dirty="0">
                <a:latin typeface="Times New Roman" panose="02020603050405020304" pitchFamily="18" charset="0"/>
                <a:cs typeface="Times New Roman" panose="02020603050405020304" pitchFamily="18" charset="0"/>
              </a:rPr>
              <a:t>m</a:t>
            </a:r>
            <a:r>
              <a:rPr kumimoji="1" lang="en-US" altLang="zh-TW" sz="2400" dirty="0">
                <a:latin typeface="Times New Roman" panose="02020603050405020304" pitchFamily="18" charset="0"/>
                <a:cs typeface="Times New Roman" panose="02020603050405020304" pitchFamily="18" charset="0"/>
              </a:rPr>
              <a:t> and </a:t>
            </a:r>
            <a:r>
              <a:rPr kumimoji="1" lang="en-US" altLang="zh-TW" sz="2400" i="1" dirty="0">
                <a:latin typeface="Times New Roman" panose="02020603050405020304" pitchFamily="18" charset="0"/>
                <a:cs typeface="Times New Roman" panose="02020603050405020304" pitchFamily="18" charset="0"/>
              </a:rPr>
              <a:t>n</a:t>
            </a:r>
            <a:r>
              <a:rPr kumimoji="1" lang="en-US" altLang="zh-TW" sz="2400" dirty="0">
                <a:latin typeface="Times New Roman" panose="02020603050405020304" pitchFamily="18" charset="0"/>
                <a:cs typeface="Times New Roman" panose="02020603050405020304" pitchFamily="18" charset="0"/>
              </a:rPr>
              <a:t> denote the lengths of </a:t>
            </a:r>
            <a:r>
              <a:rPr kumimoji="1" lang="en-US" altLang="zh-TW" sz="2400" i="1" dirty="0">
                <a:latin typeface="Times New Roman" panose="02020603050405020304" pitchFamily="18" charset="0"/>
                <a:cs typeface="Times New Roman" panose="02020603050405020304" pitchFamily="18" charset="0"/>
              </a:rPr>
              <a:t>A</a:t>
            </a:r>
            <a:r>
              <a:rPr kumimoji="1" lang="en-US" altLang="zh-TW" sz="2400" dirty="0">
                <a:latin typeface="Times New Roman" panose="02020603050405020304" pitchFamily="18" charset="0"/>
                <a:cs typeface="Times New Roman" panose="02020603050405020304" pitchFamily="18" charset="0"/>
              </a:rPr>
              <a:t> and </a:t>
            </a:r>
            <a:r>
              <a:rPr kumimoji="1" lang="en-US" altLang="zh-TW" sz="2400" i="1" dirty="0">
                <a:latin typeface="Times New Roman" panose="02020603050405020304" pitchFamily="18" charset="0"/>
                <a:cs typeface="Times New Roman" panose="02020603050405020304" pitchFamily="18" charset="0"/>
              </a:rPr>
              <a:t>B</a:t>
            </a:r>
            <a:r>
              <a:rPr kumimoji="1" lang="en-US" altLang="zh-TW" sz="2400" dirty="0">
                <a:latin typeface="Times New Roman" panose="02020603050405020304" pitchFamily="18" charset="0"/>
                <a:cs typeface="Times New Roman" panose="02020603050405020304" pitchFamily="18" charset="0"/>
              </a:rPr>
              <a:t>, respectively, </a:t>
            </a:r>
            <a:r>
              <a:rPr kumimoji="1" lang="en-US" altLang="zh-TW" sz="2400" i="1" dirty="0">
                <a:latin typeface="Times New Roman" panose="02020603050405020304" pitchFamily="18" charset="0"/>
                <a:cs typeface="Times New Roman" panose="02020603050405020304" pitchFamily="18" charset="0"/>
              </a:rPr>
              <a:t>m</a:t>
            </a:r>
            <a:r>
              <a:rPr kumimoji="1" lang="en-US" altLang="zh-TW" sz="2400" dirty="0">
                <a:latin typeface="Times New Roman" panose="02020603050405020304" pitchFamily="18" charset="0"/>
                <a:cs typeface="Times New Roman" panose="02020603050405020304" pitchFamily="18" charset="0"/>
              </a:rPr>
              <a:t> ≥ </a:t>
            </a:r>
            <a:r>
              <a:rPr kumimoji="1" lang="en-US" altLang="zh-TW" sz="2400" i="1" dirty="0">
                <a:latin typeface="Times New Roman" panose="02020603050405020304" pitchFamily="18" charset="0"/>
                <a:cs typeface="Times New Roman" panose="02020603050405020304" pitchFamily="18" charset="0"/>
              </a:rPr>
              <a:t>n</a:t>
            </a:r>
            <a:r>
              <a:rPr kumimoji="1" lang="en-US" altLang="zh-TW" sz="2400"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Preliminaries</a:t>
            </a:r>
            <a:endParaRPr kumimoji="1" lang="zh-TW" altLang="en-US" sz="3200" b="1" i="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dirty="0">
                <a:latin typeface="Times New Roman" panose="02020603050405020304" pitchFamily="18" charset="0"/>
                <a:cs typeface="Times New Roman" panose="02020603050405020304" pitchFamily="18" charset="0"/>
              </a:rPr>
              <a:t>almost increasing/ decreasing (</a:t>
            </a:r>
            <a:r>
              <a:rPr kumimoji="1" lang="fr-FR" altLang="zh-TW" sz="2400" i="1" dirty="0">
                <a:latin typeface="Times New Roman" panose="02020603050405020304" pitchFamily="18" charset="0"/>
                <a:cs typeface="Times New Roman" panose="02020603050405020304" pitchFamily="18" charset="0"/>
              </a:rPr>
              <a:t>c</a:t>
            </a:r>
            <a:r>
              <a:rPr kumimoji="1" lang="fr-FR" altLang="zh-TW" sz="2400" dirty="0">
                <a:latin typeface="Times New Roman" panose="02020603050405020304" pitchFamily="18" charset="0"/>
                <a:cs typeface="Times New Roman" panose="02020603050405020304" pitchFamily="18" charset="0"/>
              </a:rPr>
              <a:t>=3)</a:t>
            </a:r>
          </a:p>
          <a:p>
            <a:pPr lvl="1"/>
            <a:r>
              <a:rPr kumimoji="1" lang="fr-FR" altLang="zh-TW" sz="2000" dirty="0">
                <a:latin typeface="Times New Roman" panose="02020603050405020304" pitchFamily="18" charset="0"/>
                <a:cs typeface="Times New Roman" panose="02020603050405020304" pitchFamily="18" charset="0"/>
              </a:rPr>
              <a:t>LaIS(</a:t>
            </a:r>
            <a:r>
              <a:rPr kumimoji="1" lang="fr-FR" altLang="zh-TW" sz="2000" i="1" dirty="0">
                <a:latin typeface="Times New Roman" panose="02020603050405020304" pitchFamily="18" charset="0"/>
                <a:cs typeface="Times New Roman" panose="02020603050405020304" pitchFamily="18" charset="0"/>
              </a:rPr>
              <a:t>A</a:t>
            </a:r>
            <a:r>
              <a:rPr kumimoji="1" lang="fr-FR" altLang="zh-TW" sz="2000" dirty="0">
                <a:latin typeface="Times New Roman" panose="02020603050405020304" pitchFamily="18" charset="0"/>
                <a:cs typeface="Times New Roman" panose="02020603050405020304" pitchFamily="18" charset="0"/>
              </a:rPr>
              <a:t>) = &lt;3, 2, 4, 2, 8&gt;</a:t>
            </a:r>
          </a:p>
          <a:p>
            <a:r>
              <a:rPr kumimoji="1" lang="fr-FR" altLang="zh-TW" sz="2400" dirty="0">
                <a:latin typeface="Times New Roman" panose="02020603050405020304" pitchFamily="18" charset="0"/>
                <a:cs typeface="Times New Roman" panose="02020603050405020304" pitchFamily="18" charset="0"/>
              </a:rPr>
              <a:t>trend sequence</a:t>
            </a:r>
          </a:p>
          <a:p>
            <a:pPr lvl="1"/>
            <a:r>
              <a:rPr kumimoji="1" lang="fr-FR" altLang="zh-TW" sz="2000" i="1" dirty="0">
                <a:latin typeface="Times New Roman" panose="02020603050405020304" pitchFamily="18" charset="0"/>
                <a:cs typeface="Times New Roman" panose="02020603050405020304" pitchFamily="18" charset="0"/>
              </a:rPr>
              <a:t>T = </a:t>
            </a:r>
            <a:r>
              <a:rPr kumimoji="1" lang="fr-FR" altLang="zh-TW" sz="2000" dirty="0">
                <a:latin typeface="Times New Roman" panose="02020603050405020304" pitchFamily="18" charset="0"/>
                <a:cs typeface="Times New Roman" panose="02020603050405020304" pitchFamily="18" charset="0"/>
              </a:rPr>
              <a:t>&lt;0, 1, 0, 1, 0, 1&gt;</a:t>
            </a:r>
          </a:p>
          <a:p>
            <a:endParaRPr kumimoji="1"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40571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err="1">
                <a:latin typeface="Times New Roman" panose="02020603050405020304" pitchFamily="18" charset="0"/>
                <a:cs typeface="Times New Roman" panose="02020603050405020304" pitchFamily="18" charset="0"/>
              </a:rPr>
              <a:t>LCaWSt</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1, 0, 0, 1, 1&gt;</a:t>
            </a:r>
          </a:p>
          <a:p>
            <a:r>
              <a:rPr kumimoji="1" lang="fr-FR" altLang="zh-TW" sz="2400" i="1" dirty="0">
                <a:latin typeface="Times New Roman" panose="02020603050405020304" pitchFamily="18" charset="0"/>
                <a:cs typeface="Times New Roman" panose="02020603050405020304" pitchFamily="18" charset="0"/>
              </a:rPr>
              <a:t>c</a:t>
            </a:r>
            <a:r>
              <a:rPr kumimoji="1" lang="fr-FR" altLang="zh-TW" sz="2400" dirty="0">
                <a:latin typeface="Times New Roman" panose="02020603050405020304" pitchFamily="18" charset="0"/>
                <a:cs typeface="Times New Roman" panose="02020603050405020304" pitchFamily="18" charset="0"/>
              </a:rPr>
              <a:t> = 3</a:t>
            </a:r>
          </a:p>
        </p:txBody>
      </p:sp>
      <p:pic>
        <p:nvPicPr>
          <p:cNvPr id="4" name="Picture 3">
            <a:extLst>
              <a:ext uri="{FF2B5EF4-FFF2-40B4-BE49-F238E27FC236}">
                <a16:creationId xmlns:a16="http://schemas.microsoft.com/office/drawing/2014/main" id="{F9285636-A822-124B-31FC-46F12DC7FF20}"/>
              </a:ext>
            </a:extLst>
          </p:cNvPr>
          <p:cNvPicPr>
            <a:picLocks noChangeAspect="1"/>
          </p:cNvPicPr>
          <p:nvPr/>
        </p:nvPicPr>
        <p:blipFill>
          <a:blip r:embed="rId3"/>
          <a:stretch>
            <a:fillRect/>
          </a:stretch>
        </p:blipFill>
        <p:spPr>
          <a:xfrm>
            <a:off x="665992" y="3568215"/>
            <a:ext cx="5430008" cy="2372056"/>
          </a:xfrm>
          <a:prstGeom prst="rect">
            <a:avLst/>
          </a:prstGeom>
        </p:spPr>
      </p:pic>
      <p:pic>
        <p:nvPicPr>
          <p:cNvPr id="8" name="Picture 7">
            <a:extLst>
              <a:ext uri="{FF2B5EF4-FFF2-40B4-BE49-F238E27FC236}">
                <a16:creationId xmlns:a16="http://schemas.microsoft.com/office/drawing/2014/main" id="{154B9482-8EC7-9FF8-0C44-B716D3A26637}"/>
              </a:ext>
            </a:extLst>
          </p:cNvPr>
          <p:cNvPicPr>
            <a:picLocks noChangeAspect="1"/>
          </p:cNvPicPr>
          <p:nvPr/>
        </p:nvPicPr>
        <p:blipFill>
          <a:blip r:embed="rId4"/>
          <a:stretch>
            <a:fillRect/>
          </a:stretch>
        </p:blipFill>
        <p:spPr>
          <a:xfrm>
            <a:off x="7308299" y="893131"/>
            <a:ext cx="3219899" cy="1686160"/>
          </a:xfrm>
          <a:prstGeom prst="rect">
            <a:avLst/>
          </a:prstGeom>
        </p:spPr>
      </p:pic>
      <p:pic>
        <p:nvPicPr>
          <p:cNvPr id="10" name="Picture 9">
            <a:extLst>
              <a:ext uri="{FF2B5EF4-FFF2-40B4-BE49-F238E27FC236}">
                <a16:creationId xmlns:a16="http://schemas.microsoft.com/office/drawing/2014/main" id="{559BA07B-CBB4-5A35-6C41-45FEBB85B039}"/>
              </a:ext>
            </a:extLst>
          </p:cNvPr>
          <p:cNvPicPr>
            <a:picLocks noChangeAspect="1"/>
          </p:cNvPicPr>
          <p:nvPr/>
        </p:nvPicPr>
        <p:blipFill>
          <a:blip r:embed="rId5"/>
          <a:stretch>
            <a:fillRect/>
          </a:stretch>
        </p:blipFill>
        <p:spPr>
          <a:xfrm>
            <a:off x="7817957" y="2579291"/>
            <a:ext cx="2200582" cy="1676634"/>
          </a:xfrm>
          <a:prstGeom prst="rect">
            <a:avLst/>
          </a:prstGeom>
        </p:spPr>
      </p:pic>
      <p:pic>
        <p:nvPicPr>
          <p:cNvPr id="12" name="Picture 11">
            <a:extLst>
              <a:ext uri="{FF2B5EF4-FFF2-40B4-BE49-F238E27FC236}">
                <a16:creationId xmlns:a16="http://schemas.microsoft.com/office/drawing/2014/main" id="{1CD7A8F4-B29E-E56E-DC1D-8AA10FE058A9}"/>
              </a:ext>
            </a:extLst>
          </p:cNvPr>
          <p:cNvPicPr>
            <a:picLocks noChangeAspect="1"/>
          </p:cNvPicPr>
          <p:nvPr/>
        </p:nvPicPr>
        <p:blipFill>
          <a:blip r:embed="rId6"/>
          <a:stretch>
            <a:fillRect/>
          </a:stretch>
        </p:blipFill>
        <p:spPr>
          <a:xfrm>
            <a:off x="7603614" y="4284223"/>
            <a:ext cx="2629267" cy="1638529"/>
          </a:xfrm>
          <a:prstGeom prst="rect">
            <a:avLst/>
          </a:prstGeom>
        </p:spPr>
      </p:pic>
    </p:spTree>
    <p:extLst>
      <p:ext uri="{BB962C8B-B14F-4D97-AF65-F5344CB8AC3E}">
        <p14:creationId xmlns:p14="http://schemas.microsoft.com/office/powerpoint/2010/main" val="37906163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a:t>
            </a:r>
            <a:r>
              <a:rPr kumimoji="1" lang="fr-FR" altLang="zh-TW" sz="2400" dirty="0">
                <a:solidFill>
                  <a:srgbClr val="FF0000"/>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1,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6206067" y="1921933"/>
            <a:ext cx="812800" cy="4741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55D0A476-6FB7-9318-1341-CDF4D286DC53}"/>
              </a:ext>
            </a:extLst>
          </p:cNvPr>
          <p:cNvCxnSpPr/>
          <p:nvPr/>
        </p:nvCxnSpPr>
        <p:spPr>
          <a:xfrm>
            <a:off x="2125134" y="2912533"/>
            <a:ext cx="211666"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F00FCE24-1666-182B-F40D-3A7E4369DF81}"/>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46622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a:latin typeface="Times New Roman" panose="02020603050405020304" pitchFamily="18" charset="0"/>
                    <a:cs typeface="Times New Roman" panose="02020603050405020304" pitchFamily="18" charset="0"/>
                  </a:rPr>
                  <a:t>LCaWSt = &lt;3, 2, 7, 5, 2&gt;</a:t>
                </a:r>
              </a:p>
              <a:p>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fr-FR" altLang="zh-TW" sz="24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651004"/>
                <a:ext cx="10796451" cy="4443091"/>
              </a:xfrm>
              <a:prstGeom prst="rect">
                <a:avLst/>
              </a:prstGeom>
              <a:blipFill>
                <a:blip r:embed="rId3"/>
                <a:stretch>
                  <a:fillRect l="-734" t="-2469"/>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4"/>
          <a:stretch>
            <a:fillRect/>
          </a:stretch>
        </p:blipFill>
        <p:spPr>
          <a:xfrm>
            <a:off x="6417419" y="3606456"/>
            <a:ext cx="4860182" cy="2749894"/>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7568886" y="4216781"/>
            <a:ext cx="499533" cy="3007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Picture 6">
            <a:extLst>
              <a:ext uri="{FF2B5EF4-FFF2-40B4-BE49-F238E27FC236}">
                <a16:creationId xmlns:a16="http://schemas.microsoft.com/office/drawing/2014/main" id="{9AF82E44-DCA2-D5C9-4E7D-E7989E71B1B9}"/>
              </a:ext>
            </a:extLst>
          </p:cNvPr>
          <p:cNvPicPr>
            <a:picLocks noChangeAspect="1"/>
          </p:cNvPicPr>
          <p:nvPr/>
        </p:nvPicPr>
        <p:blipFill>
          <a:blip r:embed="rId5"/>
          <a:stretch>
            <a:fillRect/>
          </a:stretch>
        </p:blipFill>
        <p:spPr>
          <a:xfrm>
            <a:off x="6096000" y="309230"/>
            <a:ext cx="5257800" cy="3122631"/>
          </a:xfrm>
          <a:prstGeom prst="rect">
            <a:avLst/>
          </a:prstGeom>
        </p:spPr>
      </p:pic>
      <p:cxnSp>
        <p:nvCxnSpPr>
          <p:cNvPr id="10" name="直線單箭頭接點 9">
            <a:extLst>
              <a:ext uri="{FF2B5EF4-FFF2-40B4-BE49-F238E27FC236}">
                <a16:creationId xmlns:a16="http://schemas.microsoft.com/office/drawing/2014/main" id="{919E5817-3C9A-B39E-DF0A-C477BEBB038B}"/>
              </a:ext>
            </a:extLst>
          </p:cNvPr>
          <p:cNvCxnSpPr/>
          <p:nvPr/>
        </p:nvCxnSpPr>
        <p:spPr>
          <a:xfrm>
            <a:off x="5774267" y="821267"/>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B5F7C68-9239-32A4-101A-9D7D3413D96C}"/>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8" name="TextBox 7">
                <a:extLst>
                  <a:ext uri="{FF2B5EF4-FFF2-40B4-BE49-F238E27FC236}">
                    <a16:creationId xmlns:a16="http://schemas.microsoft.com/office/drawing/2014/main" id="{5B5F7C68-9239-32A4-101A-9D7D3413D96C}"/>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39662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7602132" y="2345267"/>
            <a:ext cx="812800" cy="47413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D37410C9-89EA-C8C4-C0A4-568CC7353AD3}"/>
                  </a:ext>
                </a:extLst>
              </p:cNvPr>
              <p:cNvSpPr txBox="1"/>
              <p:nvPr/>
            </p:nvSpPr>
            <p:spPr>
              <a:xfrm>
                <a:off x="7823200" y="1181323"/>
                <a:ext cx="193136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en-US" altLang="zh-TW" sz="1600" b="0" i="1" smtClean="0">
                              <a:latin typeface="Cambria Math" panose="02040503050406030204" pitchFamily="18" charset="0"/>
                            </a:rPr>
                            <m:t>𝑎</m:t>
                          </m:r>
                        </m:e>
                        <m:sub>
                          <m:r>
                            <a:rPr lang="en-US" altLang="zh-TW" sz="1600" b="0" i="1" smtClean="0">
                              <a:latin typeface="Cambria Math" panose="02040503050406030204" pitchFamily="18" charset="0"/>
                            </a:rPr>
                            <m:t>2</m:t>
                          </m:r>
                        </m:sub>
                      </m:sSub>
                      <m:r>
                        <a:rPr lang="en-US" altLang="zh-TW" sz="1600" b="0" i="1" smtClean="0">
                          <a:latin typeface="Cambria Math" panose="02040503050406030204" pitchFamily="18" charset="0"/>
                        </a:rPr>
                        <m:t>=2&lt;3&lt;2+</m:t>
                      </m:r>
                      <m:r>
                        <a:rPr lang="en-US" altLang="zh-TW" sz="1600" b="0" i="1" smtClean="0">
                          <a:latin typeface="Cambria Math" panose="02040503050406030204" pitchFamily="18" charset="0"/>
                        </a:rPr>
                        <m:t>𝑐</m:t>
                      </m:r>
                    </m:oMath>
                  </m:oMathPara>
                </a14:m>
                <a:endParaRPr lang="zh-TW" altLang="en-US" sz="1600" dirty="0"/>
              </a:p>
            </p:txBody>
          </p:sp>
        </mc:Choice>
        <mc:Fallback xmlns="">
          <p:sp>
            <p:nvSpPr>
              <p:cNvPr id="8" name="文字方塊 7">
                <a:extLst>
                  <a:ext uri="{FF2B5EF4-FFF2-40B4-BE49-F238E27FC236}">
                    <a16:creationId xmlns:a16="http://schemas.microsoft.com/office/drawing/2014/main" id="{D37410C9-89EA-C8C4-C0A4-568CC7353AD3}"/>
                  </a:ext>
                </a:extLst>
              </p:cNvPr>
              <p:cNvSpPr txBox="1">
                <a:spLocks noRot="1" noChangeAspect="1" noMove="1" noResize="1" noEditPoints="1" noAdjustHandles="1" noChangeArrowheads="1" noChangeShapeType="1" noTextEdit="1"/>
              </p:cNvSpPr>
              <p:nvPr/>
            </p:nvSpPr>
            <p:spPr>
              <a:xfrm>
                <a:off x="7823200" y="1181323"/>
                <a:ext cx="1931362" cy="338554"/>
              </a:xfrm>
              <a:prstGeom prst="rect">
                <a:avLst/>
              </a:prstGeom>
              <a:blipFill>
                <a:blip r:embed="rId4"/>
                <a:stretch>
                  <a:fillRect/>
                </a:stretch>
              </a:blipFill>
            </p:spPr>
            <p:txBody>
              <a:bodyPr/>
              <a:lstStyle/>
              <a:p>
                <a:r>
                  <a:rPr lang="zh-TW" altLang="en-US">
                    <a:noFill/>
                  </a:rPr>
                  <a:t> </a:t>
                </a:r>
              </a:p>
            </p:txBody>
          </p:sp>
        </mc:Fallback>
      </mc:AlternateContent>
      <p:sp>
        <p:nvSpPr>
          <p:cNvPr id="4" name="TextBox 3">
            <a:extLst>
              <a:ext uri="{FF2B5EF4-FFF2-40B4-BE49-F238E27FC236}">
                <a16:creationId xmlns:a16="http://schemas.microsoft.com/office/drawing/2014/main" id="{2CB748BD-27A3-3C5F-CB17-05FEEE8A737C}"/>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2643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dirty="0"/>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a:p>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651004"/>
                <a:ext cx="10796451" cy="4443091"/>
              </a:xfrm>
              <a:prstGeom prst="rect">
                <a:avLst/>
              </a:prstGeom>
              <a:blipFill>
                <a:blip r:embed="rId3"/>
                <a:stretch>
                  <a:fillRect l="-734" t="-2469"/>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4"/>
          <a:stretch>
            <a:fillRect/>
          </a:stretch>
        </p:blipFill>
        <p:spPr>
          <a:xfrm>
            <a:off x="6046512" y="3539504"/>
            <a:ext cx="5061756" cy="2863944"/>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7271181" y="4408605"/>
            <a:ext cx="612171" cy="34140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5FAE3B-7E3D-7E69-3D94-FB422B18728A}"/>
              </a:ext>
            </a:extLst>
          </p:cNvPr>
          <p:cNvSpPr/>
          <p:nvPr/>
        </p:nvSpPr>
        <p:spPr>
          <a:xfrm>
            <a:off x="8304514" y="4434804"/>
            <a:ext cx="612171" cy="34140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pic>
        <p:nvPicPr>
          <p:cNvPr id="8" name="Picture 6">
            <a:extLst>
              <a:ext uri="{FF2B5EF4-FFF2-40B4-BE49-F238E27FC236}">
                <a16:creationId xmlns:a16="http://schemas.microsoft.com/office/drawing/2014/main" id="{CBD2977A-7EDC-3E5A-7304-514D97C59FBF}"/>
              </a:ext>
            </a:extLst>
          </p:cNvPr>
          <p:cNvPicPr>
            <a:picLocks noChangeAspect="1"/>
          </p:cNvPicPr>
          <p:nvPr/>
        </p:nvPicPr>
        <p:blipFill>
          <a:blip r:embed="rId5"/>
          <a:stretch>
            <a:fillRect/>
          </a:stretch>
        </p:blipFill>
        <p:spPr>
          <a:xfrm>
            <a:off x="6036733" y="446311"/>
            <a:ext cx="5071535" cy="3012007"/>
          </a:xfrm>
          <a:prstGeom prst="rect">
            <a:avLst/>
          </a:prstGeom>
        </p:spPr>
      </p:pic>
      <p:cxnSp>
        <p:nvCxnSpPr>
          <p:cNvPr id="9" name="直線單箭頭接點 8">
            <a:extLst>
              <a:ext uri="{FF2B5EF4-FFF2-40B4-BE49-F238E27FC236}">
                <a16:creationId xmlns:a16="http://schemas.microsoft.com/office/drawing/2014/main" id="{47A1C01A-B064-3A89-3929-7ECB9AE64704}"/>
              </a:ext>
            </a:extLst>
          </p:cNvPr>
          <p:cNvCxnSpPr/>
          <p:nvPr/>
        </p:nvCxnSpPr>
        <p:spPr>
          <a:xfrm>
            <a:off x="5528734" y="1388534"/>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158C2D7-4517-A287-1C1E-4B4CE53A9283}"/>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7158C2D7-4517-A287-1C1E-4B4CE53A9283}"/>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091246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8355666" y="2959632"/>
            <a:ext cx="737534" cy="2370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57A18031-CD41-743F-19BC-E8FA780CC9EE}"/>
              </a:ext>
            </a:extLst>
          </p:cNvPr>
          <p:cNvCxnSpPr/>
          <p:nvPr/>
        </p:nvCxnSpPr>
        <p:spPr>
          <a:xfrm>
            <a:off x="2717800" y="2904067"/>
            <a:ext cx="237067" cy="0"/>
          </a:xfrm>
          <a:prstGeom prst="line">
            <a:avLst/>
          </a:prstGeom>
          <a:ln w="12700"/>
        </p:spPr>
        <p:style>
          <a:lnRef idx="1">
            <a:schemeClr val="accent6"/>
          </a:lnRef>
          <a:fillRef idx="0">
            <a:schemeClr val="accent6"/>
          </a:fillRef>
          <a:effectRef idx="0">
            <a:schemeClr val="accent6"/>
          </a:effectRef>
          <a:fontRef idx="minor">
            <a:schemeClr val="tx1"/>
          </a:fontRef>
        </p:style>
      </p:cxnSp>
      <p:sp>
        <p:nvSpPr>
          <p:cNvPr id="9" name="矩形 8">
            <a:extLst>
              <a:ext uri="{FF2B5EF4-FFF2-40B4-BE49-F238E27FC236}">
                <a16:creationId xmlns:a16="http://schemas.microsoft.com/office/drawing/2014/main" id="{F20BDB62-5AA5-79A4-6A15-422D65E39D11}"/>
              </a:ext>
            </a:extLst>
          </p:cNvPr>
          <p:cNvSpPr/>
          <p:nvPr/>
        </p:nvSpPr>
        <p:spPr>
          <a:xfrm>
            <a:off x="8397999" y="3166153"/>
            <a:ext cx="737534" cy="237067"/>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TextBox 3">
            <a:extLst>
              <a:ext uri="{FF2B5EF4-FFF2-40B4-BE49-F238E27FC236}">
                <a16:creationId xmlns:a16="http://schemas.microsoft.com/office/drawing/2014/main" id="{C33C48F8-3C98-1D7E-163D-A11CDA85960A}"/>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13206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10</a:t>
            </a:fld>
            <a:endParaRPr lang="zh-TW" altLang="en-US" dirty="0"/>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95851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4"/>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0, 1, 1&gt;</a:t>
                </a:r>
              </a:p>
              <a:p>
                <a:r>
                  <a:rPr kumimoji="1" lang="fr-FR" altLang="zh-TW" sz="2400" dirty="0">
                    <a:latin typeface="Times New Roman" panose="02020603050405020304" pitchFamily="18" charset="0"/>
                    <a:cs typeface="Times New Roman" panose="02020603050405020304" pitchFamily="18" charset="0"/>
                  </a:rPr>
                  <a:t>LCaWSt = &lt;3, 2, 7, 5, 2&gt;</a:t>
                </a: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en-US" altLang="zh-TW" sz="2400" b="0" dirty="0">
                  <a:latin typeface="Times New Roman" panose="02020603050405020304" pitchFamily="18" charset="0"/>
                  <a:cs typeface="Times New Roman" panose="02020603050405020304" pitchFamily="18" charset="0"/>
                </a:endParaRPr>
              </a:p>
              <a:p>
                <a:pPr marL="0" indent="0">
                  <a:buNone/>
                </a:pPr>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minimal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651004"/>
                <a:ext cx="10796451" cy="4958518"/>
              </a:xfrm>
              <a:prstGeom prst="rect">
                <a:avLst/>
              </a:prstGeom>
              <a:blipFill>
                <a:blip r:embed="rId3"/>
                <a:stretch>
                  <a:fillRect l="-621" t="-2460"/>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4"/>
          <a:stretch>
            <a:fillRect/>
          </a:stretch>
        </p:blipFill>
        <p:spPr>
          <a:xfrm>
            <a:off x="5971877" y="3530112"/>
            <a:ext cx="5037981" cy="2850493"/>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7096238" y="4773635"/>
            <a:ext cx="682351" cy="2618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5FAE3B-7E3D-7E69-3D94-FB422B18728A}"/>
              </a:ext>
            </a:extLst>
          </p:cNvPr>
          <p:cNvSpPr/>
          <p:nvPr/>
        </p:nvSpPr>
        <p:spPr>
          <a:xfrm>
            <a:off x="8181800" y="4747777"/>
            <a:ext cx="682351" cy="26181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8" name="矩形 7">
            <a:extLst>
              <a:ext uri="{FF2B5EF4-FFF2-40B4-BE49-F238E27FC236}">
                <a16:creationId xmlns:a16="http://schemas.microsoft.com/office/drawing/2014/main" id="{31F4AF7E-A9AC-6B8B-653F-B32F396CDEAD}"/>
              </a:ext>
            </a:extLst>
          </p:cNvPr>
          <p:cNvSpPr/>
          <p:nvPr/>
        </p:nvSpPr>
        <p:spPr>
          <a:xfrm>
            <a:off x="8780086" y="4921043"/>
            <a:ext cx="682351" cy="261819"/>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pic>
        <p:nvPicPr>
          <p:cNvPr id="9" name="Picture 6">
            <a:extLst>
              <a:ext uri="{FF2B5EF4-FFF2-40B4-BE49-F238E27FC236}">
                <a16:creationId xmlns:a16="http://schemas.microsoft.com/office/drawing/2014/main" id="{7241CAC0-2729-5826-27B9-FBC7D87B1079}"/>
              </a:ext>
            </a:extLst>
          </p:cNvPr>
          <p:cNvPicPr>
            <a:picLocks noChangeAspect="1"/>
          </p:cNvPicPr>
          <p:nvPr/>
        </p:nvPicPr>
        <p:blipFill>
          <a:blip r:embed="rId5"/>
          <a:stretch>
            <a:fillRect/>
          </a:stretch>
        </p:blipFill>
        <p:spPr>
          <a:xfrm>
            <a:off x="5971877" y="470534"/>
            <a:ext cx="5080316" cy="3017222"/>
          </a:xfrm>
          <a:prstGeom prst="rect">
            <a:avLst/>
          </a:prstGeom>
        </p:spPr>
      </p:pic>
      <p:cxnSp>
        <p:nvCxnSpPr>
          <p:cNvPr id="10" name="直線單箭頭接點 9">
            <a:extLst>
              <a:ext uri="{FF2B5EF4-FFF2-40B4-BE49-F238E27FC236}">
                <a16:creationId xmlns:a16="http://schemas.microsoft.com/office/drawing/2014/main" id="{342A47F4-5B0B-6EA9-0553-D5CC52C18F77}"/>
              </a:ext>
            </a:extLst>
          </p:cNvPr>
          <p:cNvCxnSpPr/>
          <p:nvPr/>
        </p:nvCxnSpPr>
        <p:spPr>
          <a:xfrm>
            <a:off x="5650144" y="1724555"/>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F47B4E2-1E31-90B6-FEB8-C42248BC1E8B}"/>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0F47B4E2-1E31-90B6-FEB8-C42248BC1E8B}"/>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291884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11</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9075332" y="3347203"/>
            <a:ext cx="737534" cy="2370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20BDB62-5AA5-79A4-6A15-422D65E39D11}"/>
              </a:ext>
            </a:extLst>
          </p:cNvPr>
          <p:cNvSpPr/>
          <p:nvPr/>
        </p:nvSpPr>
        <p:spPr>
          <a:xfrm>
            <a:off x="9107735" y="3565622"/>
            <a:ext cx="737534" cy="237067"/>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TextBox 3">
            <a:extLst>
              <a:ext uri="{FF2B5EF4-FFF2-40B4-BE49-F238E27FC236}">
                <a16:creationId xmlns:a16="http://schemas.microsoft.com/office/drawing/2014/main" id="{602932A9-05BF-32B0-E938-4BDABFC4307B}"/>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261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12</a:t>
            </a:fld>
            <a:endParaRPr lang="zh-TW" altLang="en-US" dirty="0"/>
          </a:p>
        </p:txBody>
      </p:sp>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3"/>
          <a:stretch>
            <a:fillRect/>
          </a:stretch>
        </p:blipFill>
        <p:spPr>
          <a:xfrm>
            <a:off x="5875867" y="3515438"/>
            <a:ext cx="5021049" cy="2840912"/>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7008191" y="5106259"/>
            <a:ext cx="644032" cy="24711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5FAE3B-7E3D-7E69-3D94-FB422B18728A}"/>
              </a:ext>
            </a:extLst>
          </p:cNvPr>
          <p:cNvSpPr/>
          <p:nvPr/>
        </p:nvSpPr>
        <p:spPr>
          <a:xfrm>
            <a:off x="8129266" y="5106259"/>
            <a:ext cx="644032" cy="24711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8" name="矩形 7">
            <a:extLst>
              <a:ext uri="{FF2B5EF4-FFF2-40B4-BE49-F238E27FC236}">
                <a16:creationId xmlns:a16="http://schemas.microsoft.com/office/drawing/2014/main" id="{31F4AF7E-A9AC-6B8B-653F-B32F396CDEAD}"/>
              </a:ext>
            </a:extLst>
          </p:cNvPr>
          <p:cNvSpPr/>
          <p:nvPr/>
        </p:nvSpPr>
        <p:spPr>
          <a:xfrm>
            <a:off x="8610600" y="5271620"/>
            <a:ext cx="644032" cy="2471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9" name="矩形 8">
            <a:extLst>
              <a:ext uri="{FF2B5EF4-FFF2-40B4-BE49-F238E27FC236}">
                <a16:creationId xmlns:a16="http://schemas.microsoft.com/office/drawing/2014/main" id="{AD7C7FE5-5741-7B49-505C-0013D03DE9F7}"/>
              </a:ext>
            </a:extLst>
          </p:cNvPr>
          <p:cNvSpPr/>
          <p:nvPr/>
        </p:nvSpPr>
        <p:spPr>
          <a:xfrm>
            <a:off x="9250341" y="5229817"/>
            <a:ext cx="644032" cy="33072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1">
                  <a:lumMod val="60000"/>
                  <a:lumOff val="40000"/>
                </a:schemeClr>
              </a:solidFill>
            </a:endParaRPr>
          </a:p>
        </p:txBody>
      </p:sp>
      <p:pic>
        <p:nvPicPr>
          <p:cNvPr id="10" name="Picture 6">
            <a:extLst>
              <a:ext uri="{FF2B5EF4-FFF2-40B4-BE49-F238E27FC236}">
                <a16:creationId xmlns:a16="http://schemas.microsoft.com/office/drawing/2014/main" id="{995E4D83-4587-6BF3-E596-3ECC3F0201FC}"/>
              </a:ext>
            </a:extLst>
          </p:cNvPr>
          <p:cNvPicPr>
            <a:picLocks noChangeAspect="1"/>
          </p:cNvPicPr>
          <p:nvPr/>
        </p:nvPicPr>
        <p:blipFill>
          <a:blip r:embed="rId4"/>
          <a:stretch>
            <a:fillRect/>
          </a:stretch>
        </p:blipFill>
        <p:spPr>
          <a:xfrm>
            <a:off x="5875867" y="400852"/>
            <a:ext cx="5080316" cy="3017222"/>
          </a:xfrm>
          <a:prstGeom prst="rect">
            <a:avLst/>
          </a:prstGeom>
        </p:spPr>
      </p:pic>
      <p:cxnSp>
        <p:nvCxnSpPr>
          <p:cNvPr id="11" name="直線單箭頭接點 10">
            <a:extLst>
              <a:ext uri="{FF2B5EF4-FFF2-40B4-BE49-F238E27FC236}">
                <a16:creationId xmlns:a16="http://schemas.microsoft.com/office/drawing/2014/main" id="{C63F5948-DCC4-39B7-5AB4-D83B79289405}"/>
              </a:ext>
            </a:extLst>
          </p:cNvPr>
          <p:cNvCxnSpPr/>
          <p:nvPr/>
        </p:nvCxnSpPr>
        <p:spPr>
          <a:xfrm>
            <a:off x="5455411" y="1987021"/>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ontent Placeholder 3">
                <a:extLst>
                  <a:ext uri="{FF2B5EF4-FFF2-40B4-BE49-F238E27FC236}">
                    <a16:creationId xmlns:a16="http://schemas.microsoft.com/office/drawing/2014/main" id="{C4336A51-7568-8AF5-EAD6-13D74361BE75}"/>
                  </a:ext>
                </a:extLst>
              </p:cNvPr>
              <p:cNvSpPr txBox="1">
                <a:spLocks/>
              </p:cNvSpPr>
              <p:nvPr/>
            </p:nvSpPr>
            <p:spPr>
              <a:xfrm>
                <a:off x="838200" y="1651004"/>
                <a:ext cx="10796451" cy="495851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4"/>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1"/>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1, 1&gt;</a:t>
                </a:r>
              </a:p>
              <a:p>
                <a:r>
                  <a:rPr kumimoji="1" lang="fr-FR" altLang="zh-TW" sz="2400" dirty="0">
                    <a:latin typeface="Times New Roman" panose="02020603050405020304" pitchFamily="18" charset="0"/>
                    <a:cs typeface="Times New Roman" panose="02020603050405020304" pitchFamily="18" charset="0"/>
                  </a:rPr>
                  <a:t>LCaWSt = &lt;3, 2, 7, 5, 2&gt;</a:t>
                </a: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en-US" altLang="zh-TW" sz="2400" b="0" dirty="0">
                  <a:latin typeface="Times New Roman" panose="02020603050405020304" pitchFamily="18" charset="0"/>
                  <a:cs typeface="Times New Roman" panose="02020603050405020304" pitchFamily="18" charset="0"/>
                </a:endParaRPr>
              </a:p>
              <a:p>
                <a:pPr marL="0" indent="0">
                  <a:buNone/>
                </a:pPr>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minimal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p:txBody>
          </p:sp>
        </mc:Choice>
        <mc:Fallback>
          <p:sp>
            <p:nvSpPr>
              <p:cNvPr id="12" name="Content Placeholder 3">
                <a:extLst>
                  <a:ext uri="{FF2B5EF4-FFF2-40B4-BE49-F238E27FC236}">
                    <a16:creationId xmlns:a16="http://schemas.microsoft.com/office/drawing/2014/main" id="{C4336A51-7568-8AF5-EAD6-13D74361BE75}"/>
                  </a:ext>
                </a:extLst>
              </p:cNvPr>
              <p:cNvSpPr txBox="1">
                <a:spLocks noRot="1" noChangeAspect="1" noMove="1" noResize="1" noEditPoints="1" noAdjustHandles="1" noChangeArrowheads="1" noChangeShapeType="1" noTextEdit="1"/>
              </p:cNvSpPr>
              <p:nvPr/>
            </p:nvSpPr>
            <p:spPr>
              <a:xfrm>
                <a:off x="838200" y="1651004"/>
                <a:ext cx="10796451" cy="4958518"/>
              </a:xfrm>
              <a:prstGeom prst="rect">
                <a:avLst/>
              </a:prstGeom>
              <a:blipFill>
                <a:blip r:embed="rId5"/>
                <a:stretch>
                  <a:fillRect l="-621" t="-246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9AD6998-A71C-A86E-C963-F41021D5B578}"/>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E9AD6998-A71C-A86E-C963-F41021D5B578}"/>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719893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13</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9828335" y="3816151"/>
            <a:ext cx="737534" cy="2370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20BDB62-5AA5-79A4-6A15-422D65E39D11}"/>
              </a:ext>
            </a:extLst>
          </p:cNvPr>
          <p:cNvSpPr/>
          <p:nvPr/>
        </p:nvSpPr>
        <p:spPr>
          <a:xfrm>
            <a:off x="9768135" y="4032294"/>
            <a:ext cx="737534" cy="41270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251AEB80-3F8F-115E-F576-44C9B9303B8A}"/>
              </a:ext>
            </a:extLst>
          </p:cNvPr>
          <p:cNvCxnSpPr/>
          <p:nvPr/>
        </p:nvCxnSpPr>
        <p:spPr>
          <a:xfrm>
            <a:off x="3005666" y="2937934"/>
            <a:ext cx="575733" cy="0"/>
          </a:xfrm>
          <a:prstGeom prst="line">
            <a:avLst/>
          </a:prstGeom>
          <a:ln w="19050"/>
        </p:spPr>
        <p:style>
          <a:lnRef idx="1">
            <a:schemeClr val="accent6"/>
          </a:lnRef>
          <a:fillRef idx="0">
            <a:schemeClr val="accent6"/>
          </a:fillRef>
          <a:effectRef idx="0">
            <a:schemeClr val="accent6"/>
          </a:effectRef>
          <a:fontRef idx="minor">
            <a:schemeClr val="tx1"/>
          </a:fontRef>
        </p:style>
      </p:cxnSp>
      <p:cxnSp>
        <p:nvCxnSpPr>
          <p:cNvPr id="11" name="直線接點 10">
            <a:extLst>
              <a:ext uri="{FF2B5EF4-FFF2-40B4-BE49-F238E27FC236}">
                <a16:creationId xmlns:a16="http://schemas.microsoft.com/office/drawing/2014/main" id="{62EF7E12-5FD7-46F8-3CA1-D01EE8100651}"/>
              </a:ext>
            </a:extLst>
          </p:cNvPr>
          <p:cNvCxnSpPr/>
          <p:nvPr/>
        </p:nvCxnSpPr>
        <p:spPr>
          <a:xfrm>
            <a:off x="3005666" y="2988736"/>
            <a:ext cx="279401"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F42BF123-8EA0-FE79-DB24-FC4030BB32F4}"/>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285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14</a:t>
            </a:fld>
            <a:endParaRPr lang="zh-TW" altLang="en-US" dirty="0"/>
          </a:p>
        </p:txBody>
      </p:sp>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3"/>
          <a:stretch>
            <a:fillRect/>
          </a:stretch>
        </p:blipFill>
        <p:spPr>
          <a:xfrm>
            <a:off x="5892923" y="3481905"/>
            <a:ext cx="5080316" cy="2874446"/>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7079391" y="5553928"/>
            <a:ext cx="626657" cy="24044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5FAE3B-7E3D-7E69-3D94-FB422B18728A}"/>
              </a:ext>
            </a:extLst>
          </p:cNvPr>
          <p:cNvSpPr/>
          <p:nvPr/>
        </p:nvSpPr>
        <p:spPr>
          <a:xfrm>
            <a:off x="8149385" y="5591391"/>
            <a:ext cx="626657" cy="32180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8" name="矩形 7">
            <a:extLst>
              <a:ext uri="{FF2B5EF4-FFF2-40B4-BE49-F238E27FC236}">
                <a16:creationId xmlns:a16="http://schemas.microsoft.com/office/drawing/2014/main" id="{31F4AF7E-A9AC-6B8B-653F-B32F396CDEAD}"/>
              </a:ext>
            </a:extLst>
          </p:cNvPr>
          <p:cNvSpPr/>
          <p:nvPr/>
        </p:nvSpPr>
        <p:spPr>
          <a:xfrm>
            <a:off x="8707977" y="5853646"/>
            <a:ext cx="626657" cy="240449"/>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9" name="矩形 8">
            <a:extLst>
              <a:ext uri="{FF2B5EF4-FFF2-40B4-BE49-F238E27FC236}">
                <a16:creationId xmlns:a16="http://schemas.microsoft.com/office/drawing/2014/main" id="{AD7C7FE5-5741-7B49-505C-0013D03DE9F7}"/>
              </a:ext>
            </a:extLst>
          </p:cNvPr>
          <p:cNvSpPr/>
          <p:nvPr/>
        </p:nvSpPr>
        <p:spPr>
          <a:xfrm>
            <a:off x="9287808" y="5853646"/>
            <a:ext cx="626657" cy="24044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1">
                  <a:lumMod val="60000"/>
                  <a:lumOff val="40000"/>
                </a:schemeClr>
              </a:solidFill>
            </a:endParaRPr>
          </a:p>
        </p:txBody>
      </p:sp>
      <p:pic>
        <p:nvPicPr>
          <p:cNvPr id="10" name="Picture 6">
            <a:extLst>
              <a:ext uri="{FF2B5EF4-FFF2-40B4-BE49-F238E27FC236}">
                <a16:creationId xmlns:a16="http://schemas.microsoft.com/office/drawing/2014/main" id="{9CABC4D4-C56D-1787-6E13-560D3AE3BC5F}"/>
              </a:ext>
            </a:extLst>
          </p:cNvPr>
          <p:cNvPicPr>
            <a:picLocks noChangeAspect="1"/>
          </p:cNvPicPr>
          <p:nvPr/>
        </p:nvPicPr>
        <p:blipFill>
          <a:blip r:embed="rId4"/>
          <a:stretch>
            <a:fillRect/>
          </a:stretch>
        </p:blipFill>
        <p:spPr>
          <a:xfrm>
            <a:off x="5875867" y="400852"/>
            <a:ext cx="5080316" cy="3017222"/>
          </a:xfrm>
          <a:prstGeom prst="rect">
            <a:avLst/>
          </a:prstGeom>
        </p:spPr>
      </p:pic>
      <p:cxnSp>
        <p:nvCxnSpPr>
          <p:cNvPr id="11" name="直線單箭頭接點 10">
            <a:extLst>
              <a:ext uri="{FF2B5EF4-FFF2-40B4-BE49-F238E27FC236}">
                <a16:creationId xmlns:a16="http://schemas.microsoft.com/office/drawing/2014/main" id="{ECC48A50-1AD4-858B-9B20-603C7BB3A863}"/>
              </a:ext>
            </a:extLst>
          </p:cNvPr>
          <p:cNvCxnSpPr/>
          <p:nvPr/>
        </p:nvCxnSpPr>
        <p:spPr>
          <a:xfrm>
            <a:off x="5480811" y="2410355"/>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ontent Placeholder 3">
                <a:extLst>
                  <a:ext uri="{FF2B5EF4-FFF2-40B4-BE49-F238E27FC236}">
                    <a16:creationId xmlns:a16="http://schemas.microsoft.com/office/drawing/2014/main" id="{67F6DFAE-E73C-513A-10CC-BA2BB8F09498}"/>
                  </a:ext>
                </a:extLst>
              </p:cNvPr>
              <p:cNvSpPr txBox="1">
                <a:spLocks/>
              </p:cNvSpPr>
              <p:nvPr/>
            </p:nvSpPr>
            <p:spPr>
              <a:xfrm>
                <a:off x="838200" y="1651004"/>
                <a:ext cx="10796451" cy="495851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4"/>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1"/>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1, 1&gt;</a:t>
                </a:r>
              </a:p>
              <a:p>
                <a:r>
                  <a:rPr kumimoji="1" lang="fr-FR" altLang="zh-TW" sz="2400" dirty="0">
                    <a:latin typeface="Times New Roman" panose="02020603050405020304" pitchFamily="18" charset="0"/>
                    <a:cs typeface="Times New Roman" panose="02020603050405020304" pitchFamily="18" charset="0"/>
                  </a:rPr>
                  <a:t>LCaWSt = &lt;3, 2, 7, 5, 2&gt;</a:t>
                </a: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en-US" altLang="zh-TW" sz="2400" b="0" dirty="0">
                  <a:latin typeface="Times New Roman" panose="02020603050405020304" pitchFamily="18" charset="0"/>
                  <a:cs typeface="Times New Roman" panose="02020603050405020304" pitchFamily="18" charset="0"/>
                </a:endParaRPr>
              </a:p>
              <a:p>
                <a:pPr marL="0" indent="0">
                  <a:buNone/>
                </a:pPr>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minimal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p:txBody>
          </p:sp>
        </mc:Choice>
        <mc:Fallback>
          <p:sp>
            <p:nvSpPr>
              <p:cNvPr id="12" name="Content Placeholder 3">
                <a:extLst>
                  <a:ext uri="{FF2B5EF4-FFF2-40B4-BE49-F238E27FC236}">
                    <a16:creationId xmlns:a16="http://schemas.microsoft.com/office/drawing/2014/main" id="{67F6DFAE-E73C-513A-10CC-BA2BB8F09498}"/>
                  </a:ext>
                </a:extLst>
              </p:cNvPr>
              <p:cNvSpPr txBox="1">
                <a:spLocks noRot="1" noChangeAspect="1" noMove="1" noResize="1" noEditPoints="1" noAdjustHandles="1" noChangeArrowheads="1" noChangeShapeType="1" noTextEdit="1"/>
              </p:cNvSpPr>
              <p:nvPr/>
            </p:nvSpPr>
            <p:spPr>
              <a:xfrm>
                <a:off x="838200" y="1651004"/>
                <a:ext cx="10796451" cy="4958518"/>
              </a:xfrm>
              <a:prstGeom prst="rect">
                <a:avLst/>
              </a:prstGeom>
              <a:blipFill>
                <a:blip r:embed="rId5"/>
                <a:stretch>
                  <a:fillRect l="-621" t="-246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6637517-E0E8-398C-780A-03FD190E301F}"/>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06637517-E0E8-398C-780A-03FD190E301F}"/>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88194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15</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10505669" y="4370153"/>
            <a:ext cx="737534" cy="41270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F20BDB62-5AA5-79A4-6A15-422D65E39D11}"/>
              </a:ext>
            </a:extLst>
          </p:cNvPr>
          <p:cNvSpPr/>
          <p:nvPr/>
        </p:nvSpPr>
        <p:spPr>
          <a:xfrm>
            <a:off x="10440864" y="4759985"/>
            <a:ext cx="737534" cy="252283"/>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 name="直線接點 7">
            <a:extLst>
              <a:ext uri="{FF2B5EF4-FFF2-40B4-BE49-F238E27FC236}">
                <a16:creationId xmlns:a16="http://schemas.microsoft.com/office/drawing/2014/main" id="{251AEB80-3F8F-115E-F576-44C9B9303B8A}"/>
              </a:ext>
            </a:extLst>
          </p:cNvPr>
          <p:cNvCxnSpPr>
            <a:cxnSpLocks/>
          </p:cNvCxnSpPr>
          <p:nvPr/>
        </p:nvCxnSpPr>
        <p:spPr>
          <a:xfrm>
            <a:off x="3005666" y="2937934"/>
            <a:ext cx="279401" cy="0"/>
          </a:xfrm>
          <a:prstGeom prst="line">
            <a:avLst/>
          </a:prstGeom>
          <a:ln w="19050"/>
        </p:spPr>
        <p:style>
          <a:lnRef idx="1">
            <a:schemeClr val="accent6"/>
          </a:lnRef>
          <a:fillRef idx="0">
            <a:schemeClr val="accent6"/>
          </a:fillRef>
          <a:effectRef idx="0">
            <a:schemeClr val="accent6"/>
          </a:effectRef>
          <a:fontRef idx="minor">
            <a:schemeClr val="tx1"/>
          </a:fontRef>
        </p:style>
      </p:cxnSp>
      <p:cxnSp>
        <p:nvCxnSpPr>
          <p:cNvPr id="11" name="直線接點 10">
            <a:extLst>
              <a:ext uri="{FF2B5EF4-FFF2-40B4-BE49-F238E27FC236}">
                <a16:creationId xmlns:a16="http://schemas.microsoft.com/office/drawing/2014/main" id="{62EF7E12-5FD7-46F8-3CA1-D01EE8100651}"/>
              </a:ext>
            </a:extLst>
          </p:cNvPr>
          <p:cNvCxnSpPr>
            <a:cxnSpLocks/>
          </p:cNvCxnSpPr>
          <p:nvPr/>
        </p:nvCxnSpPr>
        <p:spPr>
          <a:xfrm>
            <a:off x="3005666" y="2988736"/>
            <a:ext cx="279401"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0" name="直線接點 9">
            <a:extLst>
              <a:ext uri="{FF2B5EF4-FFF2-40B4-BE49-F238E27FC236}">
                <a16:creationId xmlns:a16="http://schemas.microsoft.com/office/drawing/2014/main" id="{5ABB2F3B-AADB-2E47-2B19-BBD9E82559A2}"/>
              </a:ext>
            </a:extLst>
          </p:cNvPr>
          <p:cNvCxnSpPr>
            <a:cxnSpLocks/>
          </p:cNvCxnSpPr>
          <p:nvPr/>
        </p:nvCxnSpPr>
        <p:spPr>
          <a:xfrm>
            <a:off x="2099732" y="2988736"/>
            <a:ext cx="279401"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69ECD2FF-5860-AB23-0F85-C538607160B2}"/>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28722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β</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16</a:t>
            </a:fld>
            <a:endParaRPr lang="zh-TW" altLang="en-US" dirty="0"/>
          </a:p>
        </p:txBody>
      </p:sp>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3"/>
          <a:stretch>
            <a:fillRect/>
          </a:stretch>
        </p:blipFill>
        <p:spPr>
          <a:xfrm>
            <a:off x="5867401" y="3429000"/>
            <a:ext cx="4995332" cy="2826362"/>
          </a:xfrm>
          <a:prstGeom prst="rect">
            <a:avLst/>
          </a:prstGeom>
        </p:spPr>
      </p:pic>
      <p:sp>
        <p:nvSpPr>
          <p:cNvPr id="3" name="矩形 2">
            <a:extLst>
              <a:ext uri="{FF2B5EF4-FFF2-40B4-BE49-F238E27FC236}">
                <a16:creationId xmlns:a16="http://schemas.microsoft.com/office/drawing/2014/main" id="{AAB5D10B-EACA-9854-FA71-261C863899E6}"/>
              </a:ext>
            </a:extLst>
          </p:cNvPr>
          <p:cNvSpPr/>
          <p:nvPr/>
        </p:nvSpPr>
        <p:spPr>
          <a:xfrm>
            <a:off x="6993686" y="5908390"/>
            <a:ext cx="628829" cy="2412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5FAE3B-7E3D-7E69-3D94-FB422B18728A}"/>
              </a:ext>
            </a:extLst>
          </p:cNvPr>
          <p:cNvSpPr/>
          <p:nvPr/>
        </p:nvSpPr>
        <p:spPr>
          <a:xfrm>
            <a:off x="8082320" y="5916065"/>
            <a:ext cx="628829" cy="23259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8" name="矩形 7">
            <a:extLst>
              <a:ext uri="{FF2B5EF4-FFF2-40B4-BE49-F238E27FC236}">
                <a16:creationId xmlns:a16="http://schemas.microsoft.com/office/drawing/2014/main" id="{31F4AF7E-A9AC-6B8B-653F-B32F396CDEAD}"/>
              </a:ext>
            </a:extLst>
          </p:cNvPr>
          <p:cNvSpPr/>
          <p:nvPr/>
        </p:nvSpPr>
        <p:spPr>
          <a:xfrm>
            <a:off x="8607989" y="6048652"/>
            <a:ext cx="628829" cy="241282"/>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00B050"/>
              </a:solidFill>
            </a:endParaRPr>
          </a:p>
        </p:txBody>
      </p:sp>
      <p:sp>
        <p:nvSpPr>
          <p:cNvPr id="9" name="矩形 8">
            <a:extLst>
              <a:ext uri="{FF2B5EF4-FFF2-40B4-BE49-F238E27FC236}">
                <a16:creationId xmlns:a16="http://schemas.microsoft.com/office/drawing/2014/main" id="{AD7C7FE5-5741-7B49-505C-0013D03DE9F7}"/>
              </a:ext>
            </a:extLst>
          </p:cNvPr>
          <p:cNvSpPr/>
          <p:nvPr/>
        </p:nvSpPr>
        <p:spPr>
          <a:xfrm>
            <a:off x="9684719" y="5903253"/>
            <a:ext cx="628829" cy="24128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accent1">
                  <a:lumMod val="60000"/>
                  <a:lumOff val="40000"/>
                </a:schemeClr>
              </a:solidFill>
            </a:endParaRPr>
          </a:p>
        </p:txBody>
      </p:sp>
      <p:pic>
        <p:nvPicPr>
          <p:cNvPr id="10" name="Picture 6">
            <a:extLst>
              <a:ext uri="{FF2B5EF4-FFF2-40B4-BE49-F238E27FC236}">
                <a16:creationId xmlns:a16="http://schemas.microsoft.com/office/drawing/2014/main" id="{30CEFA45-30C9-39DE-EBA1-5A7A11C6FE8B}"/>
              </a:ext>
            </a:extLst>
          </p:cNvPr>
          <p:cNvPicPr>
            <a:picLocks noChangeAspect="1"/>
          </p:cNvPicPr>
          <p:nvPr/>
        </p:nvPicPr>
        <p:blipFill>
          <a:blip r:embed="rId4"/>
          <a:stretch>
            <a:fillRect/>
          </a:stretch>
        </p:blipFill>
        <p:spPr>
          <a:xfrm>
            <a:off x="5875867" y="400852"/>
            <a:ext cx="5080316" cy="3017222"/>
          </a:xfrm>
          <a:prstGeom prst="rect">
            <a:avLst/>
          </a:prstGeom>
        </p:spPr>
      </p:pic>
      <p:cxnSp>
        <p:nvCxnSpPr>
          <p:cNvPr id="11" name="直線單箭頭接點 10">
            <a:extLst>
              <a:ext uri="{FF2B5EF4-FFF2-40B4-BE49-F238E27FC236}">
                <a16:creationId xmlns:a16="http://schemas.microsoft.com/office/drawing/2014/main" id="{71937C3D-9A15-E646-0134-CA6C7B3CFEAA}"/>
              </a:ext>
            </a:extLst>
          </p:cNvPr>
          <p:cNvCxnSpPr/>
          <p:nvPr/>
        </p:nvCxnSpPr>
        <p:spPr>
          <a:xfrm>
            <a:off x="5480811" y="2816755"/>
            <a:ext cx="32173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ontent Placeholder 3">
                <a:extLst>
                  <a:ext uri="{FF2B5EF4-FFF2-40B4-BE49-F238E27FC236}">
                    <a16:creationId xmlns:a16="http://schemas.microsoft.com/office/drawing/2014/main" id="{7DE7D0A2-84D9-37FA-637E-28C781C0ADA6}"/>
                  </a:ext>
                </a:extLst>
              </p:cNvPr>
              <p:cNvSpPr txBox="1">
                <a:spLocks/>
              </p:cNvSpPr>
              <p:nvPr/>
            </p:nvSpPr>
            <p:spPr>
              <a:xfrm>
                <a:off x="838200" y="1651004"/>
                <a:ext cx="10796451" cy="495851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rgbClr val="00B05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a:t>
                </a:r>
                <a:r>
                  <a:rPr kumimoji="1" lang="fr-FR" altLang="zh-TW" sz="2400" dirty="0">
                    <a:solidFill>
                      <a:schemeClr val="accent4"/>
                    </a:solidFill>
                    <a:latin typeface="Times New Roman" panose="02020603050405020304" pitchFamily="18" charset="0"/>
                    <a:cs typeface="Times New Roman" panose="02020603050405020304" pitchFamily="18" charset="0"/>
                  </a:rPr>
                  <a:t>0</a:t>
                </a:r>
                <a:r>
                  <a:rPr kumimoji="1" lang="fr-FR" altLang="zh-TW" sz="2400" dirty="0">
                    <a:latin typeface="Times New Roman" panose="02020603050405020304" pitchFamily="18" charset="0"/>
                    <a:cs typeface="Times New Roman" panose="02020603050405020304" pitchFamily="18" charset="0"/>
                  </a:rPr>
                  <a:t>, 0, </a:t>
                </a:r>
                <a:r>
                  <a:rPr kumimoji="1" lang="fr-FR" altLang="zh-TW" sz="2400" dirty="0">
                    <a:solidFill>
                      <a:schemeClr val="accent1"/>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1&gt;</a:t>
                </a:r>
              </a:p>
              <a:p>
                <a:r>
                  <a:rPr kumimoji="1" lang="fr-FR" altLang="zh-TW" sz="2400" dirty="0">
                    <a:latin typeface="Times New Roman" panose="02020603050405020304" pitchFamily="18" charset="0"/>
                    <a:cs typeface="Times New Roman" panose="02020603050405020304" pitchFamily="18" charset="0"/>
                  </a:rPr>
                  <a:t>LCaWSt = &lt;3, 2, 7, 5, 2&gt;</a:t>
                </a:r>
              </a:p>
              <a:p>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maximal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oMath>
                </a14:m>
                <a:endParaRPr kumimoji="1" lang="en-US" altLang="zh-TW" sz="2400" b="0" dirty="0">
                  <a:latin typeface="Times New Roman" panose="02020603050405020304" pitchFamily="18" charset="0"/>
                  <a:cs typeface="Times New Roman" panose="02020603050405020304" pitchFamily="18" charset="0"/>
                </a:endParaRPr>
              </a:p>
              <a:p>
                <a:pPr marL="0" indent="0">
                  <a:buNone/>
                </a:pPr>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1. The minimal length from </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base ≥ </a:t>
                </a:r>
                <a14:m>
                  <m:oMath xmlns:m="http://schemas.openxmlformats.org/officeDocument/2006/math">
                    <m:sSub>
                      <m:sSubPr>
                        <m:ctrlPr>
                          <a:rPr kumimoji="1" lang="fr-FR" altLang="zh-TW" sz="2400" i="1" smtClean="0">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𝑎</m:t>
                        </m:r>
                      </m:e>
                      <m:sub>
                        <m:r>
                          <a:rPr kumimoji="1" lang="en-US" altLang="zh-TW" sz="2400" b="0" i="1" smtClean="0">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pPr marL="0" indent="0">
                  <a:buNone/>
                </a:pPr>
                <a:r>
                  <a:rPr kumimoji="1" lang="fr-FR" altLang="zh-TW" sz="2400" dirty="0">
                    <a:latin typeface="Times New Roman" panose="02020603050405020304" pitchFamily="18" charset="0"/>
                    <a:cs typeface="Times New Roman" panose="02020603050405020304" pitchFamily="18" charset="0"/>
                  </a:rPr>
                  <a:t>2. Collect the dominant from</a:t>
                </a:r>
              </a:p>
              <a:p>
                <a:pPr marL="0" indent="0">
                  <a:buNone/>
                </a:pPr>
                <a14:m>
                  <m:oMath xmlns:m="http://schemas.openxmlformats.org/officeDocument/2006/math">
                    <m:sSup>
                      <m:sSupPr>
                        <m:ctrlPr>
                          <a:rPr kumimoji="1" lang="fr-FR" altLang="zh-TW" sz="2400" i="1" smtClean="0">
                            <a:latin typeface="Cambria Math" panose="02040503050406030204" pitchFamily="18" charset="0"/>
                            <a:cs typeface="Times New Roman" panose="02020603050405020304" pitchFamily="18" charset="0"/>
                          </a:rPr>
                        </m:ctrlPr>
                      </m:sSupPr>
                      <m:e>
                        <m:r>
                          <a:rPr kumimoji="1" lang="en-US" altLang="zh-TW" sz="2400" b="0" i="1" smtClean="0">
                            <a:latin typeface="Cambria Math" panose="02040503050406030204" pitchFamily="18" charset="0"/>
                            <a:cs typeface="Times New Roman" panose="02020603050405020304" pitchFamily="18" charset="0"/>
                          </a:rPr>
                          <m:t>𝐿</m:t>
                        </m:r>
                      </m:e>
                      <m:sup>
                        <m:r>
                          <a:rPr kumimoji="1" lang="en-US" altLang="zh-TW" sz="2400" b="0" i="1" smtClean="0">
                            <a:latin typeface="Cambria Math" panose="02040503050406030204" pitchFamily="18" charset="0"/>
                            <a:cs typeface="Times New Roman" panose="02020603050405020304" pitchFamily="18" charset="0"/>
                          </a:rPr>
                          <m:t>−</m:t>
                        </m:r>
                      </m:sup>
                    </m:sSup>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𝑖</m:t>
                    </m:r>
                    <m:r>
                      <a:rPr kumimoji="1" lang="en-US" altLang="zh-TW" sz="2400" b="0" i="1" smtClean="0">
                        <a:latin typeface="Cambria Math" panose="02040503050406030204" pitchFamily="18" charset="0"/>
                        <a:cs typeface="Times New Roman" panose="02020603050405020304" pitchFamily="18" charset="0"/>
                      </a:rPr>
                      <m:t>−1, </m:t>
                    </m:r>
                    <m:r>
                      <a:rPr kumimoji="1" lang="en-US" altLang="zh-TW" sz="2400" b="0" i="1" smtClean="0">
                        <a:latin typeface="Cambria Math" panose="02040503050406030204" pitchFamily="18" charset="0"/>
                        <a:cs typeface="Times New Roman" panose="02020603050405020304" pitchFamily="18" charset="0"/>
                      </a:rPr>
                      <m:t>𝑗</m:t>
                    </m:r>
                    <m:r>
                      <a:rPr kumimoji="1" lang="en-US" altLang="zh-TW" sz="2400" b="0" i="1" smtClean="0">
                        <a:latin typeface="Cambria Math" panose="02040503050406030204" pitchFamily="18" charset="0"/>
                        <a:cs typeface="Times New Roman" panose="02020603050405020304" pitchFamily="18" charset="0"/>
                      </a:rPr>
                      <m:t>′)</m:t>
                    </m:r>
                  </m:oMath>
                </a14:m>
                <a:r>
                  <a:rPr kumimoji="1" lang="fr-FR" altLang="zh-TW" sz="2400" dirty="0">
                    <a:latin typeface="Times New Roman" panose="02020603050405020304" pitchFamily="18" charset="0"/>
                    <a:cs typeface="Times New Roman" panose="02020603050405020304" pitchFamily="18" charset="0"/>
                  </a:rPr>
                  <a:t> with </a:t>
                </a:r>
                <a14:m>
                  <m:oMath xmlns:m="http://schemas.openxmlformats.org/officeDocument/2006/math">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r>
                      <a:rPr kumimoji="1" lang="en-US" altLang="zh-TW" sz="2400" b="0" i="1" smtClean="0">
                        <a:latin typeface="Cambria Math" panose="02040503050406030204" pitchFamily="18" charset="0"/>
                        <a:cs typeface="Times New Roman" panose="02020603050405020304" pitchFamily="18" charset="0"/>
                      </a:rPr>
                      <m:t>−</m:t>
                    </m:r>
                    <m:r>
                      <a:rPr kumimoji="1" lang="en-US" altLang="zh-TW" sz="2400" b="0" i="1" smtClean="0">
                        <a:latin typeface="Cambria Math" panose="02040503050406030204" pitchFamily="18" charset="0"/>
                        <a:cs typeface="Times New Roman" panose="02020603050405020304" pitchFamily="18" charset="0"/>
                      </a:rPr>
                      <m:t>𝑐</m:t>
                    </m:r>
                    <m:r>
                      <a:rPr kumimoji="1" lang="en-US" altLang="zh-TW" sz="2400" b="0" i="1" smtClean="0">
                        <a:latin typeface="Cambria Math" panose="02040503050406030204" pitchFamily="18" charset="0"/>
                        <a:cs typeface="Times New Roman" panose="02020603050405020304" pitchFamily="18" charset="0"/>
                      </a:rPr>
                      <m:t>&lt;</m:t>
                    </m:r>
                    <m:r>
                      <a:rPr kumimoji="1" lang="en-US" altLang="zh-TW" sz="2400" b="0" i="1" smtClean="0">
                        <a:latin typeface="Cambria Math" panose="02040503050406030204" pitchFamily="18" charset="0"/>
                        <a:cs typeface="Times New Roman" panose="02020603050405020304" pitchFamily="18" charset="0"/>
                      </a:rPr>
                      <m:t>𝑏𝑎𝑠𝑒</m:t>
                    </m:r>
                    <m:r>
                      <a:rPr kumimoji="1" lang="en-US" altLang="zh-TW" sz="2400" b="0" i="1" smtClean="0">
                        <a:latin typeface="Cambria Math" panose="02040503050406030204" pitchFamily="18" charset="0"/>
                        <a:cs typeface="Times New Roman" panose="02020603050405020304" pitchFamily="18" charset="0"/>
                      </a:rPr>
                      <m:t>&lt;</m:t>
                    </m:r>
                    <m:sSub>
                      <m:sSubPr>
                        <m:ctrlPr>
                          <a:rPr kumimoji="1" lang="fr-FR" altLang="zh-TW" sz="2400" i="1">
                            <a:latin typeface="Cambria Math" panose="02040503050406030204" pitchFamily="18" charset="0"/>
                            <a:cs typeface="Times New Roman" panose="02020603050405020304" pitchFamily="18" charset="0"/>
                          </a:rPr>
                        </m:ctrlPr>
                      </m:sSubPr>
                      <m:e>
                        <m:r>
                          <a:rPr kumimoji="1" lang="en-US" altLang="zh-TW" sz="2400" i="1">
                            <a:latin typeface="Cambria Math" panose="02040503050406030204" pitchFamily="18" charset="0"/>
                            <a:cs typeface="Times New Roman" panose="02020603050405020304" pitchFamily="18" charset="0"/>
                          </a:rPr>
                          <m:t>𝑎</m:t>
                        </m:r>
                      </m:e>
                      <m:sub>
                        <m:r>
                          <a:rPr kumimoji="1" lang="en-US" altLang="zh-TW" sz="2400" i="1">
                            <a:latin typeface="Cambria Math" panose="02040503050406030204" pitchFamily="18" charset="0"/>
                            <a:cs typeface="Times New Roman" panose="02020603050405020304" pitchFamily="18" charset="0"/>
                          </a:rPr>
                          <m:t>𝑖</m:t>
                        </m:r>
                      </m:sub>
                    </m:sSub>
                  </m:oMath>
                </a14:m>
                <a:endParaRPr kumimoji="1" lang="fr-FR" altLang="zh-TW" sz="2400" dirty="0">
                  <a:latin typeface="Times New Roman" panose="02020603050405020304" pitchFamily="18" charset="0"/>
                  <a:cs typeface="Times New Roman" panose="02020603050405020304" pitchFamily="18" charset="0"/>
                </a:endParaRPr>
              </a:p>
              <a:p>
                <a:endParaRPr kumimoji="1" lang="fr-FR" altLang="zh-TW" sz="2400" dirty="0">
                  <a:latin typeface="Times New Roman" panose="02020603050405020304" pitchFamily="18" charset="0"/>
                  <a:cs typeface="Times New Roman" panose="02020603050405020304" pitchFamily="18" charset="0"/>
                </a:endParaRPr>
              </a:p>
            </p:txBody>
          </p:sp>
        </mc:Choice>
        <mc:Fallback>
          <p:sp>
            <p:nvSpPr>
              <p:cNvPr id="12" name="Content Placeholder 3">
                <a:extLst>
                  <a:ext uri="{FF2B5EF4-FFF2-40B4-BE49-F238E27FC236}">
                    <a16:creationId xmlns:a16="http://schemas.microsoft.com/office/drawing/2014/main" id="{7DE7D0A2-84D9-37FA-637E-28C781C0ADA6}"/>
                  </a:ext>
                </a:extLst>
              </p:cNvPr>
              <p:cNvSpPr txBox="1">
                <a:spLocks noRot="1" noChangeAspect="1" noMove="1" noResize="1" noEditPoints="1" noAdjustHandles="1" noChangeArrowheads="1" noChangeShapeType="1" noTextEdit="1"/>
              </p:cNvSpPr>
              <p:nvPr/>
            </p:nvSpPr>
            <p:spPr>
              <a:xfrm>
                <a:off x="838200" y="1651004"/>
                <a:ext cx="10796451" cy="4958518"/>
              </a:xfrm>
              <a:prstGeom prst="rect">
                <a:avLst/>
              </a:prstGeom>
              <a:blipFill>
                <a:blip r:embed="rId5"/>
                <a:stretch>
                  <a:fillRect l="-621" t="-246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DC40AD8-2862-2235-A0C5-52CCED736E76}"/>
                  </a:ext>
                </a:extLst>
              </p:cNvPr>
              <p:cNvSpPr txBox="1"/>
              <p:nvPr/>
            </p:nvSpPr>
            <p:spPr>
              <a:xfrm>
                <a:off x="3011557" y="823399"/>
                <a:ext cx="1173013"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oMath>
                </a14:m>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EDC40AD8-2862-2235-A0C5-52CCED736E76}"/>
                  </a:ext>
                </a:extLst>
              </p:cNvPr>
              <p:cNvSpPr txBox="1">
                <a:spLocks noRot="1" noChangeAspect="1" noMove="1" noResize="1" noEditPoints="1" noAdjustHandles="1" noChangeArrowheads="1" noChangeShapeType="1" noTextEdit="1"/>
              </p:cNvSpPr>
              <p:nvPr/>
            </p:nvSpPr>
            <p:spPr>
              <a:xfrm>
                <a:off x="3011557" y="823399"/>
                <a:ext cx="1173013" cy="369332"/>
              </a:xfrm>
              <a:prstGeom prst="rect">
                <a:avLst/>
              </a:prstGeom>
              <a:blipFill>
                <a:blip r:embed="rId6"/>
                <a:stretch>
                  <a:fillRect l="-4167" t="-8197" r="-416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602785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i="1" dirty="0">
                <a:latin typeface="Times New Roman" panose="02020603050405020304" pitchFamily="18" charset="0"/>
                <a:cs typeface="Times New Roman" panose="02020603050405020304" pitchFamily="18" charset="0"/>
              </a:rPr>
              <a:t>L</a:t>
            </a:r>
            <a:r>
              <a:rPr kumimoji="1" lang="en-US" altLang="zh-TW" sz="3200" b="1" dirty="0">
                <a:latin typeface="Times New Roman" panose="02020603050405020304" pitchFamily="18" charset="0"/>
                <a:cs typeface="Times New Roman" panose="02020603050405020304" pitchFamily="18" charset="0"/>
              </a:rPr>
              <a:t>-TABLE</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17</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a:t>
            </a:r>
            <a:r>
              <a:rPr kumimoji="1" lang="fr-FR" altLang="zh-TW" sz="2400" dirty="0">
                <a:solidFill>
                  <a:srgbClr val="FF0000"/>
                </a:solidFill>
                <a:latin typeface="Times New Roman" panose="02020603050405020304" pitchFamily="18" charset="0"/>
                <a:cs typeface="Times New Roman" panose="02020603050405020304" pitchFamily="18" charset="0"/>
              </a:rPr>
              <a:t>1</a:t>
            </a:r>
            <a:r>
              <a:rPr kumimoji="1" lang="fr-FR" altLang="zh-TW" sz="2400" dirty="0">
                <a:latin typeface="Times New Roman" panose="02020603050405020304" pitchFamily="18" charset="0"/>
                <a:cs typeface="Times New Roman" panose="02020603050405020304" pitchFamily="18" charset="0"/>
              </a:rPr>
              <a:t>,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7" name="Picture 6">
            <a:extLst>
              <a:ext uri="{FF2B5EF4-FFF2-40B4-BE49-F238E27FC236}">
                <a16:creationId xmlns:a16="http://schemas.microsoft.com/office/drawing/2014/main" id="{3C018C7C-DBAC-34D5-8F88-F4048F3257E4}"/>
              </a:ext>
            </a:extLst>
          </p:cNvPr>
          <p:cNvPicPr>
            <a:picLocks noChangeAspect="1"/>
          </p:cNvPicPr>
          <p:nvPr/>
        </p:nvPicPr>
        <p:blipFill>
          <a:blip r:embed="rId3"/>
          <a:stretch>
            <a:fillRect/>
          </a:stretch>
        </p:blipFill>
        <p:spPr>
          <a:xfrm>
            <a:off x="4677267" y="1551118"/>
            <a:ext cx="6611728" cy="3926735"/>
          </a:xfrm>
          <a:prstGeom prst="rect">
            <a:avLst/>
          </a:prstGeom>
        </p:spPr>
      </p:pic>
      <p:sp>
        <p:nvSpPr>
          <p:cNvPr id="3" name="矩形 2">
            <a:extLst>
              <a:ext uri="{FF2B5EF4-FFF2-40B4-BE49-F238E27FC236}">
                <a16:creationId xmlns:a16="http://schemas.microsoft.com/office/drawing/2014/main" id="{2D039CA6-5A13-34B2-17FC-F0E591828566}"/>
              </a:ext>
            </a:extLst>
          </p:cNvPr>
          <p:cNvSpPr/>
          <p:nvPr/>
        </p:nvSpPr>
        <p:spPr>
          <a:xfrm>
            <a:off x="6958136" y="4989922"/>
            <a:ext cx="737534" cy="2522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TextBox 3">
            <a:extLst>
              <a:ext uri="{FF2B5EF4-FFF2-40B4-BE49-F238E27FC236}">
                <a16:creationId xmlns:a16="http://schemas.microsoft.com/office/drawing/2014/main" id="{2B791AFE-C195-D686-E41D-0A96403088F8}"/>
              </a:ext>
            </a:extLst>
          </p:cNvPr>
          <p:cNvSpPr txBox="1"/>
          <p:nvPr/>
        </p:nvSpPr>
        <p:spPr>
          <a:xfrm>
            <a:off x="3011557" y="823399"/>
            <a:ext cx="1253869"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&lt;base, </a:t>
            </a:r>
            <a:r>
              <a:rPr lang="en-US" altLang="zh-TW" dirty="0" err="1">
                <a:latin typeface="Times New Roman" panose="02020603050405020304" pitchFamily="18" charset="0"/>
                <a:cs typeface="Times New Roman" panose="02020603050405020304" pitchFamily="18" charset="0"/>
              </a:rPr>
              <a:t>len</a:t>
            </a:r>
            <a:r>
              <a:rPr lang="en-US" altLang="zh-TW" dirty="0">
                <a:latin typeface="Times New Roman" panose="02020603050405020304" pitchFamily="18" charset="0"/>
                <a:cs typeface="Times New Roman" panose="02020603050405020304" pitchFamily="18" charset="0"/>
              </a:rPr>
              <a:t>&gt;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6305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a:latin typeface="Times New Roman" panose="02020603050405020304" pitchFamily="18" charset="0"/>
                <a:cs typeface="Times New Roman" panose="02020603050405020304" pitchFamily="18" charset="0"/>
              </a:rPr>
              <a:t>LCaSWt</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18</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5100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fr-FR" altLang="zh-TW" sz="2400" i="1" dirty="0">
                <a:latin typeface="Times New Roman" panose="02020603050405020304" pitchFamily="18" charset="0"/>
                <a:cs typeface="Times New Roman" panose="02020603050405020304" pitchFamily="18" charset="0"/>
              </a:rPr>
              <a:t>A = </a:t>
            </a:r>
            <a:r>
              <a:rPr kumimoji="1" lang="fr-FR" altLang="zh-TW" sz="2400" dirty="0">
                <a:latin typeface="Times New Roman" panose="02020603050405020304" pitchFamily="18" charset="0"/>
                <a:cs typeface="Times New Roman" panose="02020603050405020304" pitchFamily="18" charset="0"/>
              </a:rPr>
              <a:t>&lt;3, 2, 7, 4, 5, 2, 8&gt; </a:t>
            </a:r>
          </a:p>
          <a:p>
            <a:r>
              <a:rPr kumimoji="1" lang="fr-FR" altLang="zh-TW" sz="2400" i="1" dirty="0">
                <a:latin typeface="Times New Roman" panose="02020603050405020304" pitchFamily="18" charset="0"/>
                <a:cs typeface="Times New Roman" panose="02020603050405020304" pitchFamily="18" charset="0"/>
              </a:rPr>
              <a:t>B = </a:t>
            </a:r>
            <a:r>
              <a:rPr kumimoji="1" lang="fr-FR" altLang="zh-TW" sz="2400" dirty="0">
                <a:latin typeface="Times New Roman" panose="02020603050405020304" pitchFamily="18" charset="0"/>
                <a:cs typeface="Times New Roman" panose="02020603050405020304" pitchFamily="18" charset="0"/>
              </a:rPr>
              <a:t>&lt;3, 8, 2, 7, 4, 5, 2&gt;</a:t>
            </a:r>
          </a:p>
          <a:p>
            <a:r>
              <a:rPr kumimoji="1" lang="fr-FR" altLang="zh-TW" sz="2400" i="1" dirty="0">
                <a:latin typeface="Times New Roman" panose="02020603050405020304" pitchFamily="18" charset="0"/>
                <a:cs typeface="Times New Roman" panose="02020603050405020304" pitchFamily="18" charset="0"/>
              </a:rPr>
              <a:t>T = </a:t>
            </a:r>
            <a:r>
              <a:rPr kumimoji="1" lang="fr-FR" altLang="zh-TW" sz="2400" dirty="0">
                <a:latin typeface="Times New Roman" panose="02020603050405020304" pitchFamily="18" charset="0"/>
                <a:cs typeface="Times New Roman" panose="02020603050405020304" pitchFamily="18" charset="0"/>
              </a:rPr>
              <a:t>&lt;0, 1, 1, 0, 0, 1, 1&gt;</a:t>
            </a:r>
          </a:p>
          <a:p>
            <a:endParaRPr kumimoji="1" lang="fr-FR" altLang="zh-TW" sz="2400" dirty="0">
              <a:latin typeface="Times New Roman" panose="02020603050405020304" pitchFamily="18" charset="0"/>
              <a:cs typeface="Times New Roman" panose="02020603050405020304" pitchFamily="18" charset="0"/>
            </a:endParaRPr>
          </a:p>
          <a:p>
            <a:r>
              <a:rPr kumimoji="1" lang="fr-FR" altLang="zh-TW" sz="2400" dirty="0" err="1">
                <a:latin typeface="Times New Roman" panose="02020603050405020304" pitchFamily="18" charset="0"/>
                <a:cs typeface="Times New Roman" panose="02020603050405020304" pitchFamily="18" charset="0"/>
              </a:rPr>
              <a:t>LCaWSt</a:t>
            </a:r>
            <a:r>
              <a:rPr kumimoji="1" lang="fr-FR" altLang="zh-TW" sz="2400" dirty="0">
                <a:latin typeface="Times New Roman" panose="02020603050405020304" pitchFamily="18" charset="0"/>
                <a:cs typeface="Times New Roman" panose="02020603050405020304" pitchFamily="18" charset="0"/>
              </a:rPr>
              <a:t> = &lt;3, 2, 7, 5, 2&gt;</a:t>
            </a:r>
          </a:p>
        </p:txBody>
      </p:sp>
      <p:pic>
        <p:nvPicPr>
          <p:cNvPr id="4" name="Picture 3">
            <a:extLst>
              <a:ext uri="{FF2B5EF4-FFF2-40B4-BE49-F238E27FC236}">
                <a16:creationId xmlns:a16="http://schemas.microsoft.com/office/drawing/2014/main" id="{028608CC-C1AC-81FD-EDBA-BA303F77307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546146" y="1858508"/>
            <a:ext cx="7187107" cy="3653529"/>
          </a:xfrm>
          <a:prstGeom prst="rect">
            <a:avLst/>
          </a:prstGeom>
        </p:spPr>
      </p:pic>
    </p:spTree>
    <p:extLst>
      <p:ext uri="{BB962C8B-B14F-4D97-AF65-F5344CB8AC3E}">
        <p14:creationId xmlns:p14="http://schemas.microsoft.com/office/powerpoint/2010/main" val="11376379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Conclusion</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19</a:t>
            </a:fld>
            <a:endParaRPr lang="zh-TW" altLang="en-US" dirty="0"/>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690688"/>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Time complexity</a:t>
            </a:r>
          </a:p>
          <a:p>
            <a:pPr lvl="1"/>
            <a:r>
              <a:rPr kumimoji="1" lang="en-US" altLang="zh-TW" sz="2000" dirty="0">
                <a:latin typeface="Times New Roman" panose="02020603050405020304" pitchFamily="18" charset="0"/>
                <a:cs typeface="Times New Roman" panose="02020603050405020304" pitchFamily="18" charset="0"/>
              </a:rPr>
              <a:t>O(</a:t>
            </a:r>
            <a:r>
              <a:rPr kumimoji="1" lang="en-US" altLang="zh-TW" sz="2000" i="1" dirty="0" err="1">
                <a:latin typeface="Times New Roman" panose="02020603050405020304" pitchFamily="18" charset="0"/>
                <a:cs typeface="Times New Roman" panose="02020603050405020304" pitchFamily="18" charset="0"/>
              </a:rPr>
              <a:t>mnc</a:t>
            </a:r>
            <a:r>
              <a:rPr kumimoji="1" lang="en-US" altLang="zh-TW" sz="2000" dirty="0">
                <a:latin typeface="Times New Roman" panose="02020603050405020304" pitchFamily="18" charset="0"/>
                <a:cs typeface="Times New Roman" panose="02020603050405020304" pitchFamily="18" charset="0"/>
              </a:rPr>
              <a:t>)</a:t>
            </a:r>
          </a:p>
          <a:p>
            <a:r>
              <a:rPr kumimoji="1" lang="en-US" altLang="zh-TW" sz="2400" dirty="0">
                <a:latin typeface="Times New Roman" panose="02020603050405020304" pitchFamily="18" charset="0"/>
                <a:cs typeface="Times New Roman" panose="02020603050405020304" pitchFamily="18" charset="0"/>
              </a:rPr>
              <a:t>Space complexity</a:t>
            </a:r>
          </a:p>
          <a:p>
            <a:pPr lvl="1"/>
            <a:r>
              <a:rPr kumimoji="1" lang="en-US" altLang="zh-TW" sz="2000" dirty="0">
                <a:latin typeface="Times New Roman" panose="02020603050405020304" pitchFamily="18" charset="0"/>
                <a:cs typeface="Times New Roman" panose="02020603050405020304" pitchFamily="18" charset="0"/>
              </a:rPr>
              <a:t>O(</a:t>
            </a:r>
            <a:r>
              <a:rPr kumimoji="1" lang="en-US" altLang="zh-TW" sz="2000" i="1" dirty="0" err="1">
                <a:latin typeface="Times New Roman" panose="02020603050405020304" pitchFamily="18" charset="0"/>
                <a:cs typeface="Times New Roman" panose="02020603050405020304" pitchFamily="18" charset="0"/>
              </a:rPr>
              <a:t>nc</a:t>
            </a:r>
            <a:r>
              <a:rPr kumimoji="1" lang="en-US" altLang="zh-TW"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39101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32758</TotalTime>
  <Words>1743</Words>
  <Application>Microsoft Office PowerPoint</Application>
  <PresentationFormat>Widescreen</PresentationFormat>
  <Paragraphs>206</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Google Sans</vt:lpstr>
      <vt:lpstr>Arial</vt:lpstr>
      <vt:lpstr>Arial</vt:lpstr>
      <vt:lpstr>Calibri</vt:lpstr>
      <vt:lpstr>Calibri Light</vt:lpstr>
      <vt:lpstr>Cambria Math</vt:lpstr>
      <vt:lpstr>Times New Roman</vt:lpstr>
      <vt:lpstr>Office Theme</vt:lpstr>
      <vt:lpstr>An Algorithm for Finding the Longest Common Almost Wave Subsequence with the Trend</vt:lpstr>
      <vt:lpstr>Abstract </vt:lpstr>
      <vt:lpstr>Preliminaries</vt:lpstr>
      <vt:lpstr>LCaWSt</vt:lpstr>
      <vt:lpstr>L-TABLE</vt:lpstr>
      <vt:lpstr>β-TABLE</vt:lpstr>
      <vt:lpstr>L-TABLE</vt:lpstr>
      <vt:lpstr>β-TABLE</vt:lpstr>
      <vt:lpstr>L-TABLE</vt:lpstr>
      <vt:lpstr>β-TABLE</vt:lpstr>
      <vt:lpstr>L-TABLE</vt:lpstr>
      <vt:lpstr>β-TABLE</vt:lpstr>
      <vt:lpstr>L-TABLE</vt:lpstr>
      <vt:lpstr>β-TABLE</vt:lpstr>
      <vt:lpstr>L-TABLE</vt:lpstr>
      <vt:lpstr>β-TABLE</vt:lpstr>
      <vt:lpstr>L-TABLE</vt:lpstr>
      <vt:lpstr>LCaSWt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Wen Wen Liao</cp:lastModifiedBy>
  <cp:revision>258</cp:revision>
  <dcterms:created xsi:type="dcterms:W3CDTF">2022-10-11T15:33:00Z</dcterms:created>
  <dcterms:modified xsi:type="dcterms:W3CDTF">2023-11-07T11:01:07Z</dcterms:modified>
</cp:coreProperties>
</file>