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99" r:id="rId5"/>
    <p:sldId id="265" r:id="rId6"/>
    <p:sldId id="280" r:id="rId7"/>
    <p:sldId id="282" r:id="rId8"/>
    <p:sldId id="287" r:id="rId9"/>
    <p:sldId id="283" r:id="rId10"/>
    <p:sldId id="286" r:id="rId11"/>
    <p:sldId id="288" r:id="rId12"/>
    <p:sldId id="289" r:id="rId13"/>
    <p:sldId id="300" r:id="rId14"/>
    <p:sldId id="290" r:id="rId15"/>
    <p:sldId id="291" r:id="rId16"/>
    <p:sldId id="295" r:id="rId17"/>
    <p:sldId id="292" r:id="rId18"/>
    <p:sldId id="296" r:id="rId19"/>
    <p:sldId id="297" r:id="rId20"/>
    <p:sldId id="298" r:id="rId21"/>
    <p:sldId id="293" r:id="rId22"/>
    <p:sldId id="301" r:id="rId23"/>
    <p:sldId id="269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BF28-E50E-4388-A3E5-4D39E480B765}" type="datetimeFigureOut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711A4-5F0E-4DF4-937D-81F030A1E9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4259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0C6C96-9558-5AB5-D1F9-BCC335655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FA7C56-9105-1E14-A17F-8A26FE9B3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C84251-D4BA-53DC-3BEF-977567CB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AC1E3-A6AB-47A3-8E64-C9F1D5D81A55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D25A00-DB5F-6575-598E-1BDA96E3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1AD27D-3D20-5E6D-7527-6A46BDF3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33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BFF06-C706-AE49-8BDC-162AE3D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BB920A-B9BC-CE2C-E727-40FC0B9B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AEF194-C880-0ED0-C3B1-F5AA4AC7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8941-C9FC-4970-9D6F-BA72DC037752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AB75C9-C024-B558-D45F-78577087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F45A64-F99E-C099-B11A-50A95E09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56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37508B-BEB1-C8F9-B516-0922DF72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03A960-423A-63C2-DE35-5ECFB4DE1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9DDC9D-F9A5-2607-75C3-0D12FFEC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AE5F-5202-44CB-B5B5-2322DF70600B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737579-99A5-787F-A156-A914AC26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F7EE7-94C2-1869-DD60-727D9699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9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93191-4D6D-0ABD-4FD0-D3DAEBA5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1ED2BA-D421-7A64-DC46-93172086D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07B58A-5369-F605-DA10-8BA9C0294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69A846-5B55-BD04-2DAB-0D2726E9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42C7-36FE-4BA7-9A3F-4A6D1DADBE08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02D24C-E889-D7B0-44D9-CE81B159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6439EF-16EE-FA12-79F3-B87E3982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808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6F3233-C6E5-0B44-D100-310DB38E5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D436CD-1CD4-D11C-BEAA-C41711900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A8C39C-C632-D3AD-5AEA-87AD3CE7E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A78D980-ADEE-0381-3898-A79271B83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4163D17-2951-4369-D786-C80C0E0AC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A71428-24ED-C03C-2120-A1D148D1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B4E3-C1A0-407D-A8C4-223029942A11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1BEDD-6B2B-9839-FD27-D8A7C04D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D55D63F-D8D7-440D-968C-FBBBB351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10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01DAD-B1A7-6913-F8C4-3128A369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EEE96D-DCE2-0290-7CB8-E2A347F5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27EF-4BCA-4B2D-96BC-800DE09072A1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DFB4F6-EB62-78FE-A3B6-22330318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C0C14C-28CD-EC7E-4309-732F432A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94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58279C0-CD55-F003-AC5E-18605269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79947-85DC-4C95-80F0-0C9A313E1A00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6E7F1EF-FFA4-134D-A4B0-3774C78A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FB60E8-5211-F688-2F76-36E54987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58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1827A-CB14-C4D4-25E3-41710BF6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3446C2-058B-FE7C-C4EA-39142F7D7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B9FA26-62A1-F41D-42AE-4B9FA400E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01A1DA-69F3-C87D-CD25-E5F434BE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4CBE8-F2E5-4D8C-86BB-4F11DA33B21D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909FB9-26BE-EFF1-A2A0-2EDEAD11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0F42F7-4924-ACAA-4B7E-81847CCA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70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3A632-06E7-2518-793D-34E8E6D7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59DF59-8B59-165B-FC2D-788F2972E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1BBEC0-7FEE-EE4F-6278-6FC2F230D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0A4099-AD40-6407-4A6E-440F0C9E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B16DB-9686-447D-9D68-9652B275986F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65FF51-855C-82B4-240E-D1AF0254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2CF40C-AF6C-C9FF-89A1-58A1B03B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678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39347-557F-B5D8-678D-276F907F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EED0EF-2EFC-0A2C-A1A1-566E81CDA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42852E-12ED-C0F2-A102-7A6CE771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E588-B95B-4AB0-81F5-2FBB811781EB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930DA9-725C-5B7A-5BFB-0B94FF48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B92A56-D44A-B10D-C20D-AC8706D7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00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36CFAD-7B1A-4F41-7AA1-3F5865D13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A3AE268-50FA-2DB3-85DF-75AC97871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69F98A-EAB9-3D3B-7A32-3741EF28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11F3-4FA6-41B2-81A4-6CC88E543A04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6F795B-0E4E-9263-5414-6CF7A287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952AC5-C821-BDC5-2B56-1AC08DD0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92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A69BABF-6143-6E99-0B49-97D885BD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1DF635-42A0-B056-4EB4-97F7B309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B49324-9375-D069-B743-3683D6438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CC5AE-261C-4E50-A59B-D2A2B1270A69}" type="datetime1">
              <a:rPr lang="zh-TW" altLang="en-US" smtClean="0"/>
              <a:t>2023/11/7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584CA7-762E-3A5A-304E-1EAAB6D1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5B41FD-5E7A-AF87-9639-CB9054602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76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oosting-in-machine-learning-boosting-and-adaboos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ih-sheng-huang821.medium.com/%E6%A9%9F%E5%99%A8%E5%AD%B8%E7%BF%92-ensemble-learning%E4%B9%8Bbagging-boosting%E5%92%8Cadaboost-af031229ebc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D6ECA-8C9F-6ADC-F8D7-2A8257205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910" y="1122363"/>
            <a:ext cx="10829676" cy="2387600"/>
          </a:xfrm>
        </p:spPr>
        <p:txBody>
          <a:bodyPr>
            <a:no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FUNCTION APPROXIMATION: A GRADIENT BOOSTING MACHINE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739F88-A29A-4C56-52FA-D407B3273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28333"/>
            <a:ext cx="9144000" cy="1655762"/>
          </a:xfrm>
        </p:spPr>
        <p:txBody>
          <a:bodyPr/>
          <a:lstStyle/>
          <a:p>
            <a:r>
              <a:rPr lang="en-US" altLang="zh-TW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Jerome H. Friedman</a:t>
            </a:r>
          </a:p>
          <a:p>
            <a:r>
              <a:rPr lang="en-US" altLang="zh-TW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Annals of Statistics 2001, Vol. 29, No. 5, 1189–1232</a:t>
            </a:r>
            <a:endParaRPr lang="zh-TW" altLang="en-US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6BC2F8A-F57D-93E1-25E0-DACED7728107}"/>
              </a:ext>
            </a:extLst>
          </p:cNvPr>
          <p:cNvSpPr txBox="1"/>
          <p:nvPr/>
        </p:nvSpPr>
        <p:spPr>
          <a:xfrm>
            <a:off x="8410112" y="5913844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Jing-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Xiang.Yang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</a:t>
            </a:r>
            <a:r>
              <a:rPr lang="en-US" altLang="zh-TW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Nov. </a:t>
            </a:r>
            <a:r>
              <a:rPr lang="en-US" altLang="zh-TW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E74A8C-340A-9F93-5512-3E18A247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61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84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Function estimation</a:t>
            </a: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is viewed from the perspective of numerical optimization in function space, rather than parameter space. A connection is made between stagewise additive expansions and steepest descent minimization. A general gradient descent “boosting” paradigm is developed for additive expansions based on any fitting criterion. Specific algorithms are presented for least-squares, least absolute deviation, and Huber-M loss functions for regression, and multiclass logistic likelihood for classification.</a:t>
            </a:r>
            <a:endParaRPr lang="zh-TW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1EABE3-FE2B-DB6E-974D-8180EF68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36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000" dirty="0"/>
              <a:t>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enhancements are derived for the particular case where the individual additive components are regression trees, and tools for interpreting such “</a:t>
            </a:r>
            <a:r>
              <a:rPr lang="en-US" altLang="zh-TW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TreeBoost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models are presented. Gradient boosting of</a:t>
            </a: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trees produces competitive, highly robust, interpretable procedures for both regression and classification, especially appropriate for mining less than clean data. Connections between this approach and the boosting methods of</a:t>
            </a:r>
            <a:r>
              <a:rPr lang="zh-TW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Freund and </a:t>
            </a:r>
            <a:r>
              <a:rPr lang="en-US" altLang="zh-TW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Shapire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Friedman, Hastie and </a:t>
            </a:r>
            <a:r>
              <a:rPr lang="en-US" altLang="zh-TW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discussed</a:t>
            </a:r>
            <a:endParaRPr lang="zh-TW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BF8A31-1063-F892-3745-6893E721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40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strong model from the number of weak model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三個臭皮匠勝過一個諸葛亮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83179E-22C4-4236-E2D4-6F81ADB2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690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kind of a method 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Learning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weak classifier sequentially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reduces the error of the previous one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DAB15E-35F6-8043-BBD4-4D8A08F7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02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5DB7022-EBC6-FBD8-D97C-7670F2809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11" y="637727"/>
            <a:ext cx="9838895" cy="524816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98EBA68-031B-9504-BE16-C6113ACD9539}"/>
              </a:ext>
            </a:extLst>
          </p:cNvPr>
          <p:cNvSpPr txBox="1"/>
          <p:nvPr/>
        </p:nvSpPr>
        <p:spPr>
          <a:xfrm>
            <a:off x="5850385" y="5701228"/>
            <a:ext cx="8389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參考網址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FAE96B-7813-5C85-FDE2-C79DF102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75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endParaRPr lang="zh-TW" altLang="en-US" sz="48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32115A5-0039-9C07-10D4-B031A82B6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695" y="2095018"/>
            <a:ext cx="10302536" cy="4065822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392F8EF-8DE6-F044-D0A4-F090217E86F8}"/>
              </a:ext>
            </a:extLst>
          </p:cNvPr>
          <p:cNvSpPr txBox="1"/>
          <p:nvPr/>
        </p:nvSpPr>
        <p:spPr>
          <a:xfrm>
            <a:off x="5871839" y="5976174"/>
            <a:ext cx="1000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參考網址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1B5102-CACD-3DEE-577C-C29FA51D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04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endParaRPr lang="zh-TW" altLang="en-US" sz="4800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F9C88C3-4E65-A1B5-3C1E-1E553879D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6217"/>
            <a:ext cx="10515600" cy="4351338"/>
          </a:xfrm>
        </p:spPr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Gradient Descent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newly weak classifier based on the negative gradient of the current model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different Loss Function, it can handle different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31A1BD-28A5-79E4-2399-958B746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548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endParaRPr lang="zh-TW" altLang="en-US" sz="48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15CFFFE-02A8-874A-1B8A-15D4068F7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027" y="1985558"/>
            <a:ext cx="7487695" cy="3515216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1E8D73E-1AD5-DFCE-98EF-06F08C893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00007"/>
            <a:ext cx="2619741" cy="952633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664A9E84-095B-72AF-7E01-C83286D1303B}"/>
              </a:ext>
            </a:extLst>
          </p:cNvPr>
          <p:cNvSpPr/>
          <p:nvPr/>
        </p:nvSpPr>
        <p:spPr>
          <a:xfrm>
            <a:off x="6320901" y="2942947"/>
            <a:ext cx="603681" cy="61255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E8B9CBA-616C-B148-D8E0-C4B5ED72232C}"/>
              </a:ext>
            </a:extLst>
          </p:cNvPr>
          <p:cNvSpPr txBox="1"/>
          <p:nvPr/>
        </p:nvSpPr>
        <p:spPr>
          <a:xfrm>
            <a:off x="6924582" y="2826690"/>
            <a:ext cx="1908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資料個數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BA22705-6767-EFEB-7C4C-C32FEE27BF7B}"/>
              </a:ext>
            </a:extLst>
          </p:cNvPr>
          <p:cNvCxnSpPr/>
          <p:nvPr/>
        </p:nvCxnSpPr>
        <p:spPr>
          <a:xfrm>
            <a:off x="6622741" y="3858375"/>
            <a:ext cx="1376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E5E19E-9A63-B081-4864-D0CB8DE4B160}"/>
              </a:ext>
            </a:extLst>
          </p:cNvPr>
          <p:cNvSpPr txBox="1"/>
          <p:nvPr/>
        </p:nvSpPr>
        <p:spPr>
          <a:xfrm>
            <a:off x="7998780" y="3673709"/>
            <a:ext cx="329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利用負梯度來訓練新的小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E553A1E-F2CF-E69E-931B-2B88AD6D8A86}"/>
              </a:ext>
            </a:extLst>
          </p:cNvPr>
          <p:cNvCxnSpPr/>
          <p:nvPr/>
        </p:nvCxnSpPr>
        <p:spPr>
          <a:xfrm>
            <a:off x="8123068" y="4341181"/>
            <a:ext cx="710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B38ECF8-5A0F-C295-CC54-4A5D01499ECB}"/>
              </a:ext>
            </a:extLst>
          </p:cNvPr>
          <p:cNvSpPr txBox="1"/>
          <p:nvPr/>
        </p:nvSpPr>
        <p:spPr>
          <a:xfrm>
            <a:off x="8899124" y="4162492"/>
            <a:ext cx="329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求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Learning Rate</a:t>
            </a:r>
            <a:endParaRPr lang="zh-TW" altLang="en-US" sz="18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89BDEF67-0424-09E8-AB91-4082D78B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 Decision Tree(GBDT)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Decision Tree as weak classifier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Least-squares regression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 :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5E66C5-CCD1-7817-490D-325C909B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446" y="2793514"/>
            <a:ext cx="3143689" cy="54300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F989DA-0816-54F1-D950-D32878CD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201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44594-B80D-5286-703E-B939CAF6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3D1ED48-406F-D9E3-5580-0A5F60A04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0577" y="1164554"/>
            <a:ext cx="4330845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A0E8AD1-0E82-44A3-76A6-10D4566A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101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44594-B80D-5286-703E-B939CAF6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first model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641E1C-E8A9-2CA6-4FE1-D681A8C3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Calculate the average weight as first model predict value  </a:t>
            </a:r>
            <a:endParaRPr lang="zh-TW" altLang="en-US" dirty="0"/>
          </a:p>
        </p:txBody>
      </p:sp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1534AACF-56F2-820B-D956-15613FF90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41" y="2430761"/>
            <a:ext cx="3713096" cy="373066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38284CE-296C-A90C-B755-F0A12F3D3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743" y="-96"/>
            <a:ext cx="2133898" cy="136226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261D8A7-0C96-9548-9BCD-B34E823C1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296" y="2923586"/>
            <a:ext cx="7386622" cy="25183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6FD927F-A13F-B946-A5D1-F9A1E7912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71" y="4079680"/>
            <a:ext cx="2133898" cy="13622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C3CD1A4-4C79-7A66-83BF-429A0FAD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13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3100B94-7244-C7D6-DA54-23D2565B4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97" y="2907366"/>
            <a:ext cx="2210108" cy="76210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99F3FE0-1DF6-C6EE-77EB-954DD7B6F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762" y="2861820"/>
            <a:ext cx="5087060" cy="76210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8421749-4B75-B7FB-86FD-4C01D55CD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817" y="3077565"/>
            <a:ext cx="352474" cy="447737"/>
          </a:xfrm>
          <a:prstGeom prst="rect">
            <a:avLst/>
          </a:prstGeom>
        </p:spPr>
      </p:pic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726122E5-E0B5-05D0-C8EA-157308101574}"/>
              </a:ext>
            </a:extLst>
          </p:cNvPr>
          <p:cNvSpPr/>
          <p:nvPr/>
        </p:nvSpPr>
        <p:spPr>
          <a:xfrm>
            <a:off x="2772012" y="3189200"/>
            <a:ext cx="601798" cy="2242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0D2A9AA8-DA0C-8901-087B-211C4C44CBA9}"/>
              </a:ext>
            </a:extLst>
          </p:cNvPr>
          <p:cNvSpPr/>
          <p:nvPr/>
        </p:nvSpPr>
        <p:spPr>
          <a:xfrm>
            <a:off x="9309293" y="3176288"/>
            <a:ext cx="601798" cy="2242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B6D4024-0268-AA30-E724-487FAD6A44F3}"/>
              </a:ext>
            </a:extLst>
          </p:cNvPr>
          <p:cNvSpPr txBox="1"/>
          <p:nvPr/>
        </p:nvSpPr>
        <p:spPr>
          <a:xfrm>
            <a:off x="10075562" y="2981263"/>
            <a:ext cx="217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0B4258D3-EC76-02F4-242F-E2860D5E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275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44594-B80D-5286-703E-B939CAF6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E10C8BC-B257-7323-9369-3CF48D79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708"/>
            <a:ext cx="5873982" cy="4675362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D79FD329-E1EE-2D1A-A890-59A2DC86EAA9}"/>
              </a:ext>
            </a:extLst>
          </p:cNvPr>
          <p:cNvSpPr/>
          <p:nvPr/>
        </p:nvSpPr>
        <p:spPr>
          <a:xfrm>
            <a:off x="5575177" y="2352583"/>
            <a:ext cx="1038687" cy="5736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接點: 弧形 10">
            <a:extLst>
              <a:ext uri="{FF2B5EF4-FFF2-40B4-BE49-F238E27FC236}">
                <a16:creationId xmlns:a16="http://schemas.microsoft.com/office/drawing/2014/main" id="{AA80BF86-4850-4822-D236-6AC98B399B3D}"/>
              </a:ext>
            </a:extLst>
          </p:cNvPr>
          <p:cNvCxnSpPr/>
          <p:nvPr/>
        </p:nvCxnSpPr>
        <p:spPr>
          <a:xfrm>
            <a:off x="6613864" y="2626727"/>
            <a:ext cx="1287262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B4DFFAD-7A96-6164-8A45-DCC39B928B34}"/>
              </a:ext>
            </a:extLst>
          </p:cNvPr>
          <p:cNvSpPr txBox="1"/>
          <p:nvPr/>
        </p:nvSpPr>
        <p:spPr>
          <a:xfrm>
            <a:off x="8047237" y="2402244"/>
            <a:ext cx="158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 –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71.2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75966543-9C62-E8A2-2BD8-0E7B6E3D8ACE}"/>
              </a:ext>
            </a:extLst>
          </p:cNvPr>
          <p:cNvCxnSpPr/>
          <p:nvPr/>
        </p:nvCxnSpPr>
        <p:spPr>
          <a:xfrm>
            <a:off x="6613864" y="3296984"/>
            <a:ext cx="1287262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BBBA8D02-EC6A-59AB-F0B4-9D1C3AB526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047237" y="3150733"/>
            <a:ext cx="418656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 –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71.2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64ECBAE-1B64-5988-556C-1D35F091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562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6FE36D-C634-BF8C-C77A-20EADFD4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77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 : Build another tree based on residual from the first tree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D83A313-258F-27A9-FE37-09A011378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2" y="1928876"/>
            <a:ext cx="6212238" cy="316004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ED2E180-7950-93ED-1B56-CBD65746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780" y="2059619"/>
            <a:ext cx="5544324" cy="322259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6D870DD-7D68-9788-F7A7-1AF578D3A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03" y="2590682"/>
            <a:ext cx="1262760" cy="838317"/>
          </a:xfrm>
          <a:prstGeom prst="rect">
            <a:avLst/>
          </a:prstGeom>
        </p:spPr>
      </p:pic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2B4B9E1F-F845-CF44-1157-9DD3DC61C38B}"/>
              </a:ext>
            </a:extLst>
          </p:cNvPr>
          <p:cNvSpPr/>
          <p:nvPr/>
        </p:nvSpPr>
        <p:spPr>
          <a:xfrm>
            <a:off x="6260007" y="3320511"/>
            <a:ext cx="648070" cy="49715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FC347CB-7AB3-CDFF-9CBB-0B1B0CAA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3069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62372AD-3C35-C757-BF62-A5779E32C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759" y="1318918"/>
            <a:ext cx="6001588" cy="422016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EA11BD2-63EE-747C-353F-F1D50721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777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2C78665-8371-2644-9866-C9116AE7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64" y="1482571"/>
            <a:ext cx="11190271" cy="358692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8B6F1F-6A36-7C15-19F7-9136E87F4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958" y="3009841"/>
            <a:ext cx="1262760" cy="83831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961647D-F51B-CC5C-7390-D8B00E31E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829" y="3848158"/>
            <a:ext cx="2079889" cy="13807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4377829-F5E7-9F94-C6B1-5E55B36C6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308" y="2617626"/>
            <a:ext cx="1262760" cy="838317"/>
          </a:xfrm>
          <a:prstGeom prst="rect">
            <a:avLst/>
          </a:prstGeom>
        </p:spPr>
      </p:pic>
      <p:sp>
        <p:nvSpPr>
          <p:cNvPr id="10" name="橢圓 9">
            <a:extLst>
              <a:ext uri="{FF2B5EF4-FFF2-40B4-BE49-F238E27FC236}">
                <a16:creationId xmlns:a16="http://schemas.microsoft.com/office/drawing/2014/main" id="{151D9FC7-886E-E3BE-C771-DC0D50BE2B38}"/>
              </a:ext>
            </a:extLst>
          </p:cNvPr>
          <p:cNvSpPr/>
          <p:nvPr/>
        </p:nvSpPr>
        <p:spPr>
          <a:xfrm>
            <a:off x="4518734" y="1997476"/>
            <a:ext cx="1003177" cy="838317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接點: 弧形 12">
            <a:extLst>
              <a:ext uri="{FF2B5EF4-FFF2-40B4-BE49-F238E27FC236}">
                <a16:creationId xmlns:a16="http://schemas.microsoft.com/office/drawing/2014/main" id="{6257910C-B327-21DC-0026-21E144402C1B}"/>
              </a:ext>
            </a:extLst>
          </p:cNvPr>
          <p:cNvCxnSpPr/>
          <p:nvPr/>
        </p:nvCxnSpPr>
        <p:spPr>
          <a:xfrm flipV="1">
            <a:off x="5020322" y="728313"/>
            <a:ext cx="1606859" cy="11896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D95A2AB-ECA8-A059-8603-86964D062CAA}"/>
              </a:ext>
            </a:extLst>
          </p:cNvPr>
          <p:cNvSpPr txBox="1"/>
          <p:nvPr/>
        </p:nvSpPr>
        <p:spPr>
          <a:xfrm>
            <a:off x="6637900" y="497480"/>
            <a:ext cx="2974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B8CFDC9-44A1-23CC-4EE2-2B5566131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168" y="5107077"/>
            <a:ext cx="5849166" cy="582567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4C5E5E1-B30C-555E-04B0-0DC7BF12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557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3C64F99-40F7-6700-0C63-64906188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238" y="471074"/>
            <a:ext cx="9754961" cy="591585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3A7AB0D-8DBA-1FD0-C546-3E6630934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322" y="3327840"/>
            <a:ext cx="3960188" cy="2629077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A63B97-EAC2-A17A-887B-84186969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13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圓角 4">
            <a:extLst>
              <a:ext uri="{FF2B5EF4-FFF2-40B4-BE49-F238E27FC236}">
                <a16:creationId xmlns:a16="http://schemas.microsoft.com/office/drawing/2014/main" id="{E1C14EB3-7DF8-CF6C-5EAB-D80C596548FB}"/>
              </a:ext>
            </a:extLst>
          </p:cNvPr>
          <p:cNvSpPr/>
          <p:nvPr/>
        </p:nvSpPr>
        <p:spPr>
          <a:xfrm>
            <a:off x="1988598" y="3860308"/>
            <a:ext cx="1660124" cy="6569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8E871D0-E5BC-CDBF-D557-F00972B78CFB}"/>
              </a:ext>
            </a:extLst>
          </p:cNvPr>
          <p:cNvSpPr/>
          <p:nvPr/>
        </p:nvSpPr>
        <p:spPr>
          <a:xfrm>
            <a:off x="4049697" y="3860308"/>
            <a:ext cx="1276905" cy="6569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E5C9358-5106-021B-D615-0796B0673C22}"/>
              </a:ext>
            </a:extLst>
          </p:cNvPr>
          <p:cNvSpPr/>
          <p:nvPr/>
        </p:nvSpPr>
        <p:spPr>
          <a:xfrm>
            <a:off x="6203274" y="3860307"/>
            <a:ext cx="1324252" cy="6569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4121C46-9F7E-7B11-DE7B-7589BCC71F54}"/>
              </a:ext>
            </a:extLst>
          </p:cNvPr>
          <p:cNvSpPr/>
          <p:nvPr/>
        </p:nvSpPr>
        <p:spPr>
          <a:xfrm>
            <a:off x="7763524" y="3860306"/>
            <a:ext cx="1324252" cy="6569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05C038F-BE5E-56AB-6A91-375476E6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184" y="1332316"/>
            <a:ext cx="5732618" cy="242293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5CA04712-82BE-7564-E91C-BEA200F93D88}"/>
              </a:ext>
            </a:extLst>
          </p:cNvPr>
          <p:cNvSpPr txBox="1"/>
          <p:nvPr/>
        </p:nvSpPr>
        <p:spPr>
          <a:xfrm>
            <a:off x="2099569" y="4004115"/>
            <a:ext cx="1438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-12.7, -13.7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4C5F8B9-808A-D563-74F2-2FB3E3525AAF}"/>
              </a:ext>
            </a:extLst>
          </p:cNvPr>
          <p:cNvSpPr txBox="1"/>
          <p:nvPr/>
        </p:nvSpPr>
        <p:spPr>
          <a:xfrm>
            <a:off x="4394582" y="3988724"/>
            <a:ext cx="1491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B76D58-F9D9-FA85-6D83-6D1DB10BE3F9}"/>
              </a:ext>
            </a:extLst>
          </p:cNvPr>
          <p:cNvSpPr txBox="1"/>
          <p:nvPr/>
        </p:nvSpPr>
        <p:spPr>
          <a:xfrm>
            <a:off x="6382309" y="3971253"/>
            <a:ext cx="1438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1.4, 5.4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5B0FE5C-DD08-0606-423E-3A06C4E76E69}"/>
              </a:ext>
            </a:extLst>
          </p:cNvPr>
          <p:cNvSpPr txBox="1"/>
          <p:nvPr/>
        </p:nvSpPr>
        <p:spPr>
          <a:xfrm>
            <a:off x="8056489" y="3962661"/>
            <a:ext cx="1491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15.1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0BE73D-01AA-B54C-F038-8D459F76C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165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1E1CC1A-5288-B880-645B-95C038844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1" y="490127"/>
            <a:ext cx="10621857" cy="587774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B7413C8-EDEC-6E29-ACB9-784B789F2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603" y="4721634"/>
            <a:ext cx="3692280" cy="24512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ABEA2C-7281-F590-50E0-8443D1C3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482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44594-B80D-5286-703E-B939CAF6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 Application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16A43E-480D-B39D-1883-89AB18D04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(2016),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(2018),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(2017)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algorithms are frequent champions in Kaggle competitions.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8D6AED-08AB-8826-340C-64E0A14C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0988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44594-B80D-5286-703E-B939CAF6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16A43E-480D-B39D-1883-89AB18D04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https://www.youtube.com/watch?v=2xudPOBz-vs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8D6AED-08AB-8826-340C-64E0A14C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0606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94B9074-FFE2-64E5-A801-528B60039244}"/>
              </a:ext>
            </a:extLst>
          </p:cNvPr>
          <p:cNvSpPr txBox="1"/>
          <p:nvPr/>
        </p:nvSpPr>
        <p:spPr>
          <a:xfrm>
            <a:off x="4500980" y="2228671"/>
            <a:ext cx="8416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Thanks</a:t>
            </a:r>
            <a:endParaRPr lang="zh-TW" altLang="en-US" sz="7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088EC-5D8D-9A95-DC6D-2DD90021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90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</TotalTime>
  <Words>422</Words>
  <Application>Microsoft Office PowerPoint</Application>
  <PresentationFormat>寬螢幕</PresentationFormat>
  <Paragraphs>71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標楷體</vt:lpstr>
      <vt:lpstr>Arial</vt:lpstr>
      <vt:lpstr>Calibri</vt:lpstr>
      <vt:lpstr>Calibri Light</vt:lpstr>
      <vt:lpstr>Times New Roman</vt:lpstr>
      <vt:lpstr>Office 佈景主題</vt:lpstr>
      <vt:lpstr>GREEDY FUNCTION APPROXIMATION: A GRADIENT BOOSTING MACHINE</vt:lpstr>
      <vt:lpstr>ABSTRACT(1/2)</vt:lpstr>
      <vt:lpstr>ABSTRACT(2/2)</vt:lpstr>
      <vt:lpstr>Ensemble Learning</vt:lpstr>
      <vt:lpstr>Boosting</vt:lpstr>
      <vt:lpstr>PowerPoint 簡報</vt:lpstr>
      <vt:lpstr>Bagging</vt:lpstr>
      <vt:lpstr>Gradient Boosting</vt:lpstr>
      <vt:lpstr>Gradient Boosting</vt:lpstr>
      <vt:lpstr>Gradient Boost Decision Tree(GBDT)</vt:lpstr>
      <vt:lpstr>PowerPoint 簡報</vt:lpstr>
      <vt:lpstr>Find the first model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GBDT Application</vt:lpstr>
      <vt:lpstr>Reference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Prediction Based on Genetic Algorithm Feature Selection and Long Short-Term Memory Neural Network </dc:title>
  <dc:creator>楊景翔</dc:creator>
  <cp:lastModifiedBy>楊景翔</cp:lastModifiedBy>
  <cp:revision>15</cp:revision>
  <dcterms:created xsi:type="dcterms:W3CDTF">2023-09-05T08:57:34Z</dcterms:created>
  <dcterms:modified xsi:type="dcterms:W3CDTF">2023-11-07T09:45:06Z</dcterms:modified>
</cp:coreProperties>
</file>