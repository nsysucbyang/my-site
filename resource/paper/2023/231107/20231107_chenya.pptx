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4"/>
  </p:notesMasterIdLst>
  <p:sldIdLst>
    <p:sldId id="256" r:id="rId2"/>
    <p:sldId id="265" r:id="rId3"/>
    <p:sldId id="266" r:id="rId4"/>
    <p:sldId id="267" r:id="rId5"/>
    <p:sldId id="263" r:id="rId6"/>
    <p:sldId id="273" r:id="rId7"/>
    <p:sldId id="268" r:id="rId8"/>
    <p:sldId id="274" r:id="rId9"/>
    <p:sldId id="269" r:id="rId10"/>
    <p:sldId id="270" r:id="rId11"/>
    <p:sldId id="271" r:id="rId12"/>
    <p:sldId id="272"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70"/>
    <p:restoredTop sz="95728"/>
  </p:normalViewPr>
  <p:slideViewPr>
    <p:cSldViewPr snapToGrid="0" snapToObjects="1">
      <p:cViewPr varScale="1">
        <p:scale>
          <a:sx n="109" d="100"/>
          <a:sy n="109" d="100"/>
        </p:scale>
        <p:origin x="44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C87B1E-D7BB-234A-BB61-4186E7CB5889}" type="datetimeFigureOut">
              <a:rPr kumimoji="1" lang="zh-TW" altLang="en-US" smtClean="0"/>
              <a:t>2023/11/7</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A56A01-BB7F-2749-98D2-EC6EAA37179B}" type="slidenum">
              <a:rPr kumimoji="1" lang="zh-TW" altLang="en-US" smtClean="0"/>
              <a:t>‹#›</a:t>
            </a:fld>
            <a:endParaRPr kumimoji="1" lang="zh-TW" altLang="en-US"/>
          </a:p>
        </p:txBody>
      </p:sp>
    </p:spTree>
    <p:extLst>
      <p:ext uri="{BB962C8B-B14F-4D97-AF65-F5344CB8AC3E}">
        <p14:creationId xmlns:p14="http://schemas.microsoft.com/office/powerpoint/2010/main" val="139445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32A56A01-BB7F-2749-98D2-EC6EAA37179B}" type="slidenum">
              <a:rPr kumimoji="1" lang="zh-TW" altLang="en-US" smtClean="0"/>
              <a:t>4</a:t>
            </a:fld>
            <a:endParaRPr kumimoji="1" lang="zh-TW" altLang="en-US"/>
          </a:p>
        </p:txBody>
      </p:sp>
    </p:spTree>
    <p:extLst>
      <p:ext uri="{BB962C8B-B14F-4D97-AF65-F5344CB8AC3E}">
        <p14:creationId xmlns:p14="http://schemas.microsoft.com/office/powerpoint/2010/main" val="1595367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D501DD-7617-CF45-952C-148738FE8509}"/>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0349E178-73AA-644C-8223-66BF713642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B653253A-849A-4D45-A3E7-4D1991E4C901}"/>
              </a:ext>
            </a:extLst>
          </p:cNvPr>
          <p:cNvSpPr>
            <a:spLocks noGrp="1"/>
          </p:cNvSpPr>
          <p:nvPr>
            <p:ph type="dt" sz="half" idx="10"/>
          </p:nvPr>
        </p:nvSpPr>
        <p:spPr/>
        <p:txBody>
          <a:bodyPr/>
          <a:lstStyle/>
          <a:p>
            <a:fld id="{A2F653D5-883A-5840-B916-BEC4DF4506D5}"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A6ECDC78-3D4D-404B-AFA4-5B8A4BFDC68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B6C002C-0479-C74D-9FB3-84645C0AAB3D}"/>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05809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A464A-FDF4-3341-B07B-24B820E47B20}"/>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4FA333E2-9D9C-8C49-8592-A408903CFAD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75D6F474-7FB1-5646-B2F2-525F8D173137}"/>
              </a:ext>
            </a:extLst>
          </p:cNvPr>
          <p:cNvSpPr>
            <a:spLocks noGrp="1"/>
          </p:cNvSpPr>
          <p:nvPr>
            <p:ph type="dt" sz="half" idx="10"/>
          </p:nvPr>
        </p:nvSpPr>
        <p:spPr/>
        <p:txBody>
          <a:bodyPr/>
          <a:lstStyle/>
          <a:p>
            <a:fld id="{252429E5-98E1-4140-9D90-8AD9B393DC63}"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4534CE80-A870-164A-A65F-809FC9C002C8}"/>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E5BB9FA6-21BE-FF46-A0DD-80A4E3E45C48}"/>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238567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A6485C0-58BA-C248-AFEC-796DBE7A28BC}"/>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80E020E7-FE89-E04B-A373-97BD15E9BA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1132D52-ED19-E540-984A-CB07B5F73432}"/>
              </a:ext>
            </a:extLst>
          </p:cNvPr>
          <p:cNvSpPr>
            <a:spLocks noGrp="1"/>
          </p:cNvSpPr>
          <p:nvPr>
            <p:ph type="dt" sz="half" idx="10"/>
          </p:nvPr>
        </p:nvSpPr>
        <p:spPr/>
        <p:txBody>
          <a:bodyPr/>
          <a:lstStyle/>
          <a:p>
            <a:fld id="{0D40C34D-36C3-F34E-AF6E-5E7D513EECD1}"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7A6BDAE5-6429-1646-BE72-C577966D27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1FD161E-0E50-D549-9D79-396E6719964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480730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C827E9-DFE9-224C-9899-DD344BC7F31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BF56C89-BB60-5D4A-B951-F0C1C7545877}"/>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16C126F-4174-1949-9558-B4C272D36FDA}"/>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04765A31-2149-0648-8A59-90D896183FFF}"/>
              </a:ext>
            </a:extLst>
          </p:cNvPr>
          <p:cNvSpPr>
            <a:spLocks noGrp="1"/>
          </p:cNvSpPr>
          <p:nvPr>
            <p:ph type="dt" sz="half" idx="10"/>
          </p:nvPr>
        </p:nvSpPr>
        <p:spPr/>
        <p:txBody>
          <a:bodyPr/>
          <a:lstStyle/>
          <a:p>
            <a:fld id="{82B76D90-58FA-0641-BF29-5E2687B5D06E}" type="datetime1">
              <a:rPr kumimoji="1" lang="zh-TW" altLang="en-US" smtClean="0"/>
              <a:t>2023/11/7</a:t>
            </a:fld>
            <a:endParaRPr kumimoji="1" lang="zh-TW" altLang="en-US"/>
          </a:p>
        </p:txBody>
      </p:sp>
      <p:sp>
        <p:nvSpPr>
          <p:cNvPr id="6" name="頁尾版面配置區 5">
            <a:extLst>
              <a:ext uri="{FF2B5EF4-FFF2-40B4-BE49-F238E27FC236}">
                <a16:creationId xmlns:a16="http://schemas.microsoft.com/office/drawing/2014/main" id="{EEC8BAB3-FB47-3344-B999-5CB7AACA707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B979C4-5F59-314A-943B-7732149E643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3479980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675BCB-A32E-984F-994B-6AD69C183376}"/>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EF3BBA48-11AB-EA42-B26E-97C56E55B8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C045D110-23DF-BA43-8D13-0E9505DCCED9}"/>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B0FA7828-C650-A046-B918-8845F0B6A8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D2DE3B6E-6238-D149-9212-48351BD8A3BD}"/>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4A5BA387-FB25-3242-BD50-C95AE8C57586}"/>
              </a:ext>
            </a:extLst>
          </p:cNvPr>
          <p:cNvSpPr>
            <a:spLocks noGrp="1"/>
          </p:cNvSpPr>
          <p:nvPr>
            <p:ph type="dt" sz="half" idx="10"/>
          </p:nvPr>
        </p:nvSpPr>
        <p:spPr/>
        <p:txBody>
          <a:bodyPr/>
          <a:lstStyle/>
          <a:p>
            <a:fld id="{65C3B0E6-B8C8-474E-B122-D8F5DE0AFAD2}" type="datetime1">
              <a:rPr kumimoji="1" lang="zh-TW" altLang="en-US" smtClean="0"/>
              <a:t>2023/11/7</a:t>
            </a:fld>
            <a:endParaRPr kumimoji="1" lang="zh-TW" altLang="en-US"/>
          </a:p>
        </p:txBody>
      </p:sp>
      <p:sp>
        <p:nvSpPr>
          <p:cNvPr id="8" name="頁尾版面配置區 7">
            <a:extLst>
              <a:ext uri="{FF2B5EF4-FFF2-40B4-BE49-F238E27FC236}">
                <a16:creationId xmlns:a16="http://schemas.microsoft.com/office/drawing/2014/main" id="{DEDC4116-BEB6-7E4E-A4A7-D2553343B24F}"/>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CD0F097C-57D7-B44E-A73C-8373F218B190}"/>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07589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114667-755C-594C-B649-0C584C797C69}"/>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3ABF655D-EEC9-1849-AFE9-30359B4DAFF8}"/>
              </a:ext>
            </a:extLst>
          </p:cNvPr>
          <p:cNvSpPr>
            <a:spLocks noGrp="1"/>
          </p:cNvSpPr>
          <p:nvPr>
            <p:ph type="dt" sz="half" idx="10"/>
          </p:nvPr>
        </p:nvSpPr>
        <p:spPr/>
        <p:txBody>
          <a:bodyPr/>
          <a:lstStyle/>
          <a:p>
            <a:fld id="{8869937B-9027-774A-B9FD-9279ACD255BD}" type="datetime1">
              <a:rPr kumimoji="1" lang="zh-TW" altLang="en-US" smtClean="0"/>
              <a:t>2023/11/7</a:t>
            </a:fld>
            <a:endParaRPr kumimoji="1" lang="zh-TW" altLang="en-US"/>
          </a:p>
        </p:txBody>
      </p:sp>
      <p:sp>
        <p:nvSpPr>
          <p:cNvPr id="4" name="頁尾版面配置區 3">
            <a:extLst>
              <a:ext uri="{FF2B5EF4-FFF2-40B4-BE49-F238E27FC236}">
                <a16:creationId xmlns:a16="http://schemas.microsoft.com/office/drawing/2014/main" id="{135848DC-EF7E-5E45-97D5-BB002916150F}"/>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EF47D0D-FB63-C04A-88AA-4663F56A5B0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244298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30D0DAB-E3AB-C542-BAF1-FA0813FFFB56}"/>
              </a:ext>
            </a:extLst>
          </p:cNvPr>
          <p:cNvSpPr>
            <a:spLocks noGrp="1"/>
          </p:cNvSpPr>
          <p:nvPr>
            <p:ph type="dt" sz="half" idx="10"/>
          </p:nvPr>
        </p:nvSpPr>
        <p:spPr/>
        <p:txBody>
          <a:bodyPr/>
          <a:lstStyle/>
          <a:p>
            <a:fld id="{6C319104-FA4D-834B-9033-B46E2F34E77F}" type="datetime1">
              <a:rPr kumimoji="1" lang="zh-TW" altLang="en-US" smtClean="0"/>
              <a:t>2023/11/7</a:t>
            </a:fld>
            <a:endParaRPr kumimoji="1" lang="zh-TW" altLang="en-US"/>
          </a:p>
        </p:txBody>
      </p:sp>
      <p:sp>
        <p:nvSpPr>
          <p:cNvPr id="3" name="頁尾版面配置區 2">
            <a:extLst>
              <a:ext uri="{FF2B5EF4-FFF2-40B4-BE49-F238E27FC236}">
                <a16:creationId xmlns:a16="http://schemas.microsoft.com/office/drawing/2014/main" id="{A44257D8-EC9E-534F-9065-715A4574FDC7}"/>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F0029C47-757A-114F-A178-225027BD7FDF}"/>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1786642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96441E4-4620-9244-B66E-26EC9ECBAE2B}"/>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6E2631A-AADB-4344-B902-B53FE9F513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9D2930E1-81A7-6848-925D-24DF95107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34A1FEB3-ECC3-AD41-BEA6-44C6F60FF1DE}"/>
              </a:ext>
            </a:extLst>
          </p:cNvPr>
          <p:cNvSpPr>
            <a:spLocks noGrp="1"/>
          </p:cNvSpPr>
          <p:nvPr>
            <p:ph type="dt" sz="half" idx="10"/>
          </p:nvPr>
        </p:nvSpPr>
        <p:spPr/>
        <p:txBody>
          <a:bodyPr/>
          <a:lstStyle/>
          <a:p>
            <a:fld id="{BAC173C6-1BDC-EF4C-9138-1B867971D82A}" type="datetime1">
              <a:rPr kumimoji="1" lang="zh-TW" altLang="en-US" smtClean="0"/>
              <a:t>2023/11/7</a:t>
            </a:fld>
            <a:endParaRPr kumimoji="1" lang="zh-TW" altLang="en-US"/>
          </a:p>
        </p:txBody>
      </p:sp>
      <p:sp>
        <p:nvSpPr>
          <p:cNvPr id="6" name="頁尾版面配置區 5">
            <a:extLst>
              <a:ext uri="{FF2B5EF4-FFF2-40B4-BE49-F238E27FC236}">
                <a16:creationId xmlns:a16="http://schemas.microsoft.com/office/drawing/2014/main" id="{42CC6D6D-32D3-0F46-8645-9348CDCC2DA1}"/>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A0AFE86A-1C31-4A46-A584-5E4CEF4AEA2B}"/>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8033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1D89C4-8B50-834A-81C5-869F9DC9C0F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D5534F9E-8511-5F4A-A82F-05692527D3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zh-TW" altLang="en-US"/>
              <a:t>按一下圖示以新增圖片</a:t>
            </a:r>
          </a:p>
        </p:txBody>
      </p:sp>
      <p:sp>
        <p:nvSpPr>
          <p:cNvPr id="4" name="文字版面配置區 3">
            <a:extLst>
              <a:ext uri="{FF2B5EF4-FFF2-40B4-BE49-F238E27FC236}">
                <a16:creationId xmlns:a16="http://schemas.microsoft.com/office/drawing/2014/main" id="{AB5567A0-F6B9-9340-A872-76C4D30942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9579205F-B98C-E943-92A5-27963140F3C8}"/>
              </a:ext>
            </a:extLst>
          </p:cNvPr>
          <p:cNvSpPr>
            <a:spLocks noGrp="1"/>
          </p:cNvSpPr>
          <p:nvPr>
            <p:ph type="dt" sz="half" idx="10"/>
          </p:nvPr>
        </p:nvSpPr>
        <p:spPr/>
        <p:txBody>
          <a:bodyPr/>
          <a:lstStyle/>
          <a:p>
            <a:fld id="{5708567F-5EDC-4F4F-93AF-7C8D00AA37FD}" type="datetime1">
              <a:rPr kumimoji="1" lang="zh-TW" altLang="en-US" smtClean="0"/>
              <a:t>2023/11/7</a:t>
            </a:fld>
            <a:endParaRPr kumimoji="1" lang="zh-TW" altLang="en-US"/>
          </a:p>
        </p:txBody>
      </p:sp>
      <p:sp>
        <p:nvSpPr>
          <p:cNvPr id="6" name="頁尾版面配置區 5">
            <a:extLst>
              <a:ext uri="{FF2B5EF4-FFF2-40B4-BE49-F238E27FC236}">
                <a16:creationId xmlns:a16="http://schemas.microsoft.com/office/drawing/2014/main" id="{30A25F96-ED76-8549-9FD6-2B59D2856A98}"/>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0696D537-3F67-CD44-B755-194C465EDB54}"/>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313491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D6AB28-6653-9C49-A992-A4247978B7D2}"/>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F6E57488-2CEC-AB48-B522-A9BF17B67ED1}"/>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F9DC675-96A7-5740-944C-CAFED91F8875}"/>
              </a:ext>
            </a:extLst>
          </p:cNvPr>
          <p:cNvSpPr>
            <a:spLocks noGrp="1"/>
          </p:cNvSpPr>
          <p:nvPr>
            <p:ph type="dt" sz="half" idx="10"/>
          </p:nvPr>
        </p:nvSpPr>
        <p:spPr/>
        <p:txBody>
          <a:bodyPr/>
          <a:lstStyle/>
          <a:p>
            <a:fld id="{419ABB45-072B-E944-9661-5DAAF6BF234C}"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EE19B60E-DE36-CE48-92C7-29C904047F0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8A11CB14-7E7D-DA4F-95BF-F4F6A71A702C}"/>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413784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D3137A97-13EF-684A-A0A9-0B2C4B915BF7}"/>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C14D9E75-6CF5-DE45-9FA4-3A5D546C876F}"/>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B9846D7A-FDC0-584E-83DF-7CFDFE86ADAC}"/>
              </a:ext>
            </a:extLst>
          </p:cNvPr>
          <p:cNvSpPr>
            <a:spLocks noGrp="1"/>
          </p:cNvSpPr>
          <p:nvPr>
            <p:ph type="dt" sz="half" idx="10"/>
          </p:nvPr>
        </p:nvSpPr>
        <p:spPr/>
        <p:txBody>
          <a:bodyPr/>
          <a:lstStyle/>
          <a:p>
            <a:fld id="{FA3D0E93-5293-2E45-810C-52C7374A43E9}"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B05227D2-8B70-D046-B3FE-419A3723BF4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0C29F65E-93FE-3541-912C-7DF85AF21685}"/>
              </a:ext>
            </a:extLst>
          </p:cNvPr>
          <p:cNvSpPr>
            <a:spLocks noGrp="1"/>
          </p:cNvSpPr>
          <p:nvPr>
            <p:ph type="sldNum" sz="quarter" idx="12"/>
          </p:nvPr>
        </p:nvSpPr>
        <p:spPr/>
        <p:txBody>
          <a:body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285396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5422299C-DADF-924C-A256-3B359ECFB5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7C0D55-55DC-8A4F-8D1C-054CD64B8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D4F6F637-18F3-BD4C-908D-9F4BD7CEC2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2D2FFB-DAFA-B349-908F-41F05A7F02F7}" type="datetime1">
              <a:rPr kumimoji="1" lang="zh-TW" altLang="en-US" smtClean="0"/>
              <a:t>2023/11/7</a:t>
            </a:fld>
            <a:endParaRPr kumimoji="1" lang="zh-TW" altLang="en-US"/>
          </a:p>
        </p:txBody>
      </p:sp>
      <p:sp>
        <p:nvSpPr>
          <p:cNvPr id="5" name="頁尾版面配置區 4">
            <a:extLst>
              <a:ext uri="{FF2B5EF4-FFF2-40B4-BE49-F238E27FC236}">
                <a16:creationId xmlns:a16="http://schemas.microsoft.com/office/drawing/2014/main" id="{8189E3A8-AF3F-CA42-A297-2EE032B20F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CD309E7D-F646-F04E-B26F-BEF4E72885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03F21-0339-114F-A835-EDFAC68AEBBB}" type="slidenum">
              <a:rPr kumimoji="1" lang="zh-TW" altLang="en-US" smtClean="0"/>
              <a:t>‹#›</a:t>
            </a:fld>
            <a:endParaRPr kumimoji="1" lang="zh-TW" altLang="en-US"/>
          </a:p>
        </p:txBody>
      </p:sp>
    </p:spTree>
    <p:extLst>
      <p:ext uri="{BB962C8B-B14F-4D97-AF65-F5344CB8AC3E}">
        <p14:creationId xmlns:p14="http://schemas.microsoft.com/office/powerpoint/2010/main" val="396518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5C7C8A-452E-D943-890A-99D101A85538}"/>
              </a:ext>
            </a:extLst>
          </p:cNvPr>
          <p:cNvSpPr>
            <a:spLocks noGrp="1"/>
          </p:cNvSpPr>
          <p:nvPr>
            <p:ph type="ctrTitle"/>
          </p:nvPr>
        </p:nvSpPr>
        <p:spPr/>
        <p:txBody>
          <a:bodyPr>
            <a:normAutofit/>
          </a:bodyPr>
          <a:lstStyle/>
          <a:p>
            <a:r>
              <a:rPr kumimoji="1" lang="en" altLang="zh-TW" sz="4800" dirty="0">
                <a:latin typeface="Times" pitchFamily="2" charset="0"/>
              </a:rPr>
              <a:t>BridgeHand2Vec</a:t>
            </a:r>
            <a:br>
              <a:rPr kumimoji="1" lang="en" altLang="zh-TW" sz="4800" dirty="0">
                <a:latin typeface="Times" pitchFamily="2" charset="0"/>
              </a:rPr>
            </a:br>
            <a:r>
              <a:rPr kumimoji="1" lang="en" altLang="zh-TW" sz="4800" dirty="0">
                <a:latin typeface="Times" pitchFamily="2" charset="0"/>
              </a:rPr>
              <a:t>Bridge Hand Representation</a:t>
            </a:r>
            <a:endParaRPr kumimoji="1" lang="zh-TW" altLang="en-US" sz="4800" dirty="0">
              <a:latin typeface="Times" pitchFamily="2" charset="0"/>
            </a:endParaRPr>
          </a:p>
        </p:txBody>
      </p:sp>
      <p:sp>
        <p:nvSpPr>
          <p:cNvPr id="3" name="副標題 2">
            <a:extLst>
              <a:ext uri="{FF2B5EF4-FFF2-40B4-BE49-F238E27FC236}">
                <a16:creationId xmlns:a16="http://schemas.microsoft.com/office/drawing/2014/main" id="{AA9CE59C-0A7C-3340-9871-01BB9F00CC93}"/>
              </a:ext>
            </a:extLst>
          </p:cNvPr>
          <p:cNvSpPr>
            <a:spLocks noGrp="1"/>
          </p:cNvSpPr>
          <p:nvPr>
            <p:ph type="subTitle" idx="1"/>
          </p:nvPr>
        </p:nvSpPr>
        <p:spPr/>
        <p:txBody>
          <a:bodyPr>
            <a:normAutofit/>
          </a:bodyPr>
          <a:lstStyle/>
          <a:p>
            <a:pPr>
              <a:lnSpc>
                <a:spcPct val="100000"/>
              </a:lnSpc>
            </a:pPr>
            <a:r>
              <a:rPr lang="en" altLang="zh-TW" dirty="0" err="1">
                <a:latin typeface="Times" pitchFamily="2" charset="0"/>
              </a:rPr>
              <a:t>Sztyber-Betley</a:t>
            </a:r>
            <a:r>
              <a:rPr lang="en" altLang="zh-TW" dirty="0">
                <a:latin typeface="Times" pitchFamily="2" charset="0"/>
              </a:rPr>
              <a:t>, A., </a:t>
            </a:r>
            <a:r>
              <a:rPr lang="en" altLang="zh-TW" dirty="0" err="1">
                <a:latin typeface="Times" pitchFamily="2" charset="0"/>
              </a:rPr>
              <a:t>Kołodziej</a:t>
            </a:r>
            <a:r>
              <a:rPr lang="en" altLang="zh-TW" dirty="0">
                <a:latin typeface="Times" pitchFamily="2" charset="0"/>
              </a:rPr>
              <a:t>, F., </a:t>
            </a:r>
            <a:r>
              <a:rPr lang="en" altLang="zh-TW" dirty="0" err="1">
                <a:latin typeface="Times" pitchFamily="2" charset="0"/>
              </a:rPr>
              <a:t>Betley</a:t>
            </a:r>
            <a:r>
              <a:rPr lang="en" altLang="zh-TW" dirty="0">
                <a:latin typeface="Times" pitchFamily="2" charset="0"/>
              </a:rPr>
              <a:t>, J., &amp; </a:t>
            </a:r>
            <a:r>
              <a:rPr lang="en" altLang="zh-TW" dirty="0" err="1">
                <a:latin typeface="Times" pitchFamily="2" charset="0"/>
              </a:rPr>
              <a:t>Duszak</a:t>
            </a:r>
            <a:r>
              <a:rPr lang="en" altLang="zh-TW" dirty="0">
                <a:latin typeface="Times" pitchFamily="2" charset="0"/>
              </a:rPr>
              <a:t>, P.</a:t>
            </a:r>
          </a:p>
          <a:p>
            <a:pPr>
              <a:lnSpc>
                <a:spcPct val="100000"/>
              </a:lnSpc>
            </a:pPr>
            <a:r>
              <a:rPr lang="en" altLang="zh-TW" dirty="0">
                <a:latin typeface="Times" pitchFamily="2" charset="0"/>
              </a:rPr>
              <a:t>arXiv:2310.06624</a:t>
            </a:r>
            <a:r>
              <a:rPr lang="en-US" altLang="zh-TW" dirty="0">
                <a:latin typeface="Times" pitchFamily="2" charset="0"/>
              </a:rPr>
              <a:t>,</a:t>
            </a:r>
            <a:r>
              <a:rPr lang="zh-TW" altLang="en-US" dirty="0">
                <a:latin typeface="Times" pitchFamily="2" charset="0"/>
              </a:rPr>
              <a:t> </a:t>
            </a:r>
            <a:r>
              <a:rPr lang="en-US" altLang="zh-TW" dirty="0">
                <a:latin typeface="Times" pitchFamily="2" charset="0"/>
              </a:rPr>
              <a:t>2023.</a:t>
            </a:r>
            <a:endParaRPr lang="en" altLang="zh-TW" dirty="0">
              <a:latin typeface="Times" pitchFamily="2" charset="0"/>
            </a:endParaRPr>
          </a:p>
        </p:txBody>
      </p:sp>
      <p:sp>
        <p:nvSpPr>
          <p:cNvPr id="4" name="文字方塊 3">
            <a:extLst>
              <a:ext uri="{FF2B5EF4-FFF2-40B4-BE49-F238E27FC236}">
                <a16:creationId xmlns:a16="http://schemas.microsoft.com/office/drawing/2014/main" id="{66ED1160-6DCB-BA45-A8E3-C0A533D93526}"/>
              </a:ext>
            </a:extLst>
          </p:cNvPr>
          <p:cNvSpPr txBox="1"/>
          <p:nvPr/>
        </p:nvSpPr>
        <p:spPr>
          <a:xfrm>
            <a:off x="9461868" y="5993027"/>
            <a:ext cx="2412263" cy="646331"/>
          </a:xfrm>
          <a:prstGeom prst="rect">
            <a:avLst/>
          </a:prstGeom>
          <a:noFill/>
        </p:spPr>
        <p:txBody>
          <a:bodyPr wrap="none" rtlCol="0">
            <a:spAutoFit/>
          </a:bodyPr>
          <a:lstStyle/>
          <a:p>
            <a:r>
              <a:rPr kumimoji="1" lang="en-US" altLang="zh-TW" dirty="0">
                <a:latin typeface="Times" pitchFamily="2" charset="0"/>
              </a:rPr>
              <a:t>Presenter: Yun-An Chen</a:t>
            </a:r>
          </a:p>
          <a:p>
            <a:r>
              <a:rPr kumimoji="1" lang="en-US" altLang="zh-TW" dirty="0">
                <a:latin typeface="Times" pitchFamily="2" charset="0"/>
              </a:rPr>
              <a:t>Date:</a:t>
            </a:r>
            <a:r>
              <a:rPr kumimoji="1" lang="zh-TW" altLang="en-US" dirty="0">
                <a:latin typeface="Times" pitchFamily="2" charset="0"/>
              </a:rPr>
              <a:t> </a:t>
            </a:r>
            <a:r>
              <a:rPr kumimoji="1" lang="en-US" altLang="zh-TW" dirty="0">
                <a:latin typeface="Times" pitchFamily="2" charset="0"/>
              </a:rPr>
              <a:t>Nov.</a:t>
            </a:r>
            <a:r>
              <a:rPr kumimoji="1" lang="zh-TW" altLang="en-US" dirty="0">
                <a:latin typeface="Times" pitchFamily="2" charset="0"/>
              </a:rPr>
              <a:t> </a:t>
            </a:r>
            <a:r>
              <a:rPr kumimoji="1" lang="en-US" altLang="zh-TW" dirty="0">
                <a:latin typeface="Times" pitchFamily="2" charset="0"/>
              </a:rPr>
              <a:t>7,</a:t>
            </a:r>
            <a:r>
              <a:rPr kumimoji="1" lang="zh-TW" altLang="en-US" dirty="0">
                <a:latin typeface="Times" pitchFamily="2" charset="0"/>
              </a:rPr>
              <a:t> </a:t>
            </a:r>
            <a:r>
              <a:rPr kumimoji="1" lang="en-US" altLang="zh-TW" dirty="0">
                <a:latin typeface="Times" pitchFamily="2" charset="0"/>
              </a:rPr>
              <a:t>2023</a:t>
            </a:r>
            <a:r>
              <a:rPr kumimoji="1" lang="zh-TW" altLang="en-US" dirty="0">
                <a:latin typeface="Times" pitchFamily="2" charset="0"/>
              </a:rPr>
              <a:t> </a:t>
            </a:r>
          </a:p>
        </p:txBody>
      </p:sp>
    </p:spTree>
    <p:extLst>
      <p:ext uri="{BB962C8B-B14F-4D97-AF65-F5344CB8AC3E}">
        <p14:creationId xmlns:p14="http://schemas.microsoft.com/office/powerpoint/2010/main" val="3994279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Abstract(1/2)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825624"/>
            <a:ext cx="10515600" cy="4530726"/>
          </a:xfrm>
        </p:spPr>
        <p:txBody>
          <a:bodyPr>
            <a:normAutofit/>
          </a:bodyPr>
          <a:lstStyle/>
          <a:p>
            <a:pPr marL="0" indent="0" algn="just">
              <a:lnSpc>
                <a:spcPct val="150000"/>
              </a:lnSpc>
              <a:buNone/>
            </a:pPr>
            <a:r>
              <a:rPr lang="en" altLang="zh-TW" sz="2400" dirty="0">
                <a:latin typeface="Times" pitchFamily="2" charset="0"/>
              </a:rPr>
              <a:t>Contract bridge is a game characterized by incomplete information, posing an exciting challenge for artificial intelligence methods. This paper proposes the BridgeHand2Vec approach, which leverages a neural network to embed a bridge player’s hand (consisting of 13 cards) into a vector space. The resulting representation reflects the strength of the hand in the game and enables interpretable distances to be determined between different hands. This representation is derived by training a neural network to estimate the number of tricks that a pair of players can take.</a:t>
            </a:r>
          </a:p>
        </p:txBody>
      </p:sp>
      <p:sp>
        <p:nvSpPr>
          <p:cNvPr id="4" name="投影片編號版面配置區 3">
            <a:extLst>
              <a:ext uri="{FF2B5EF4-FFF2-40B4-BE49-F238E27FC236}">
                <a16:creationId xmlns:a16="http://schemas.microsoft.com/office/drawing/2014/main" id="{60FFF1FB-1064-484B-B5D3-305DF5596F8C}"/>
              </a:ext>
            </a:extLst>
          </p:cNvPr>
          <p:cNvSpPr>
            <a:spLocks noGrp="1"/>
          </p:cNvSpPr>
          <p:nvPr>
            <p:ph type="sldNum" sz="quarter" idx="12"/>
          </p:nvPr>
        </p:nvSpPr>
        <p:spPr/>
        <p:txBody>
          <a:bodyPr/>
          <a:lstStyle/>
          <a:p>
            <a:fld id="{D1303F21-0339-114F-A835-EDFAC68AEBBB}" type="slidenum">
              <a:rPr kumimoji="1" lang="zh-TW" altLang="en-US" smtClean="0"/>
              <a:t>2</a:t>
            </a:fld>
            <a:endParaRPr kumimoji="1" lang="zh-TW" altLang="en-US"/>
          </a:p>
        </p:txBody>
      </p:sp>
    </p:spTree>
    <p:extLst>
      <p:ext uri="{BB962C8B-B14F-4D97-AF65-F5344CB8AC3E}">
        <p14:creationId xmlns:p14="http://schemas.microsoft.com/office/powerpoint/2010/main" val="4069224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67C017-EEF6-AF41-82FB-650CB4935125}"/>
              </a:ext>
            </a:extLst>
          </p:cNvPr>
          <p:cNvSpPr>
            <a:spLocks noGrp="1"/>
          </p:cNvSpPr>
          <p:nvPr>
            <p:ph type="title"/>
          </p:nvPr>
        </p:nvSpPr>
        <p:spPr/>
        <p:txBody>
          <a:bodyPr/>
          <a:lstStyle/>
          <a:p>
            <a:r>
              <a:rPr kumimoji="1" lang="en-US" altLang="zh-TW" dirty="0">
                <a:latin typeface="Times" pitchFamily="2" charset="0"/>
              </a:rPr>
              <a:t>Abstract(2/2)</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8D09F5D7-A24C-7540-ADEE-E8D83623F3F0}"/>
              </a:ext>
            </a:extLst>
          </p:cNvPr>
          <p:cNvSpPr>
            <a:spLocks noGrp="1"/>
          </p:cNvSpPr>
          <p:nvPr>
            <p:ph idx="1"/>
          </p:nvPr>
        </p:nvSpPr>
        <p:spPr>
          <a:xfrm>
            <a:off x="838200" y="1690688"/>
            <a:ext cx="10515600" cy="4546600"/>
          </a:xfrm>
        </p:spPr>
        <p:txBody>
          <a:bodyPr>
            <a:noAutofit/>
          </a:bodyPr>
          <a:lstStyle/>
          <a:p>
            <a:pPr marL="0" indent="0" algn="just">
              <a:lnSpc>
                <a:spcPct val="150000"/>
              </a:lnSpc>
              <a:buNone/>
            </a:pPr>
            <a:r>
              <a:rPr lang="en" altLang="zh-TW" sz="2400" dirty="0">
                <a:latin typeface="Times" pitchFamily="2" charset="0"/>
              </a:rPr>
              <a:t>In the remainder of this paper, we analyze the properties of the resulting vector space and provide examples of its application in reinforcement learning, and opening bid classification. Although this was not our main goal, the neural network used for the vectorization achieves SOTA results on the DDBP2 problem (estimating the number of tricks for two given hands).</a:t>
            </a:r>
          </a:p>
        </p:txBody>
      </p:sp>
      <p:sp>
        <p:nvSpPr>
          <p:cNvPr id="4" name="投影片編號版面配置區 3">
            <a:extLst>
              <a:ext uri="{FF2B5EF4-FFF2-40B4-BE49-F238E27FC236}">
                <a16:creationId xmlns:a16="http://schemas.microsoft.com/office/drawing/2014/main" id="{D30063C2-B176-C143-AD15-5E06A3E64C16}"/>
              </a:ext>
            </a:extLst>
          </p:cNvPr>
          <p:cNvSpPr>
            <a:spLocks noGrp="1"/>
          </p:cNvSpPr>
          <p:nvPr>
            <p:ph type="sldNum" sz="quarter" idx="12"/>
          </p:nvPr>
        </p:nvSpPr>
        <p:spPr/>
        <p:txBody>
          <a:bodyPr/>
          <a:lstStyle/>
          <a:p>
            <a:fld id="{D1303F21-0339-114F-A835-EDFAC68AEBBB}" type="slidenum">
              <a:rPr kumimoji="1" lang="zh-TW" altLang="en-US" smtClean="0"/>
              <a:t>3</a:t>
            </a:fld>
            <a:endParaRPr kumimoji="1" lang="zh-TW" altLang="en-US"/>
          </a:p>
        </p:txBody>
      </p:sp>
    </p:spTree>
    <p:extLst>
      <p:ext uri="{BB962C8B-B14F-4D97-AF65-F5344CB8AC3E}">
        <p14:creationId xmlns:p14="http://schemas.microsoft.com/office/powerpoint/2010/main" val="1604132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05438D-F4BF-BC45-90BC-8CDF5398A9FA}"/>
              </a:ext>
            </a:extLst>
          </p:cNvPr>
          <p:cNvSpPr>
            <a:spLocks noGrp="1"/>
          </p:cNvSpPr>
          <p:nvPr>
            <p:ph type="title"/>
          </p:nvPr>
        </p:nvSpPr>
        <p:spPr/>
        <p:txBody>
          <a:bodyPr/>
          <a:lstStyle/>
          <a:p>
            <a:r>
              <a:rPr kumimoji="1" lang="en" altLang="zh-TW" dirty="0">
                <a:latin typeface="Times" pitchFamily="2" charset="0"/>
              </a:rPr>
              <a:t>Neural network training for DDBP</a:t>
            </a:r>
            <a:endParaRPr kumimoji="1" lang="zh-TW" altLang="en-US" dirty="0">
              <a:latin typeface="Times" pitchFamily="2" charset="0"/>
            </a:endParaRPr>
          </a:p>
        </p:txBody>
      </p:sp>
      <p:sp>
        <p:nvSpPr>
          <p:cNvPr id="3" name="內容版面配置區 2">
            <a:extLst>
              <a:ext uri="{FF2B5EF4-FFF2-40B4-BE49-F238E27FC236}">
                <a16:creationId xmlns:a16="http://schemas.microsoft.com/office/drawing/2014/main" id="{AEC2A638-FB11-BC41-B4C4-91EA30E22F7F}"/>
              </a:ext>
            </a:extLst>
          </p:cNvPr>
          <p:cNvSpPr>
            <a:spLocks noGrp="1"/>
          </p:cNvSpPr>
          <p:nvPr>
            <p:ph idx="1"/>
          </p:nvPr>
        </p:nvSpPr>
        <p:spPr/>
        <p:txBody>
          <a:bodyPr>
            <a:normAutofit/>
          </a:bodyPr>
          <a:lstStyle/>
          <a:p>
            <a:pPr>
              <a:lnSpc>
                <a:spcPct val="100000"/>
              </a:lnSpc>
            </a:pPr>
            <a:r>
              <a:rPr kumimoji="1" lang="en-US" altLang="zh-TW" sz="2400" dirty="0">
                <a:latin typeface="Times" pitchFamily="2" charset="0"/>
              </a:rPr>
              <a:t>BridgeHand2Vec: vector-based representation of a bridge hand.</a:t>
            </a:r>
          </a:p>
          <a:p>
            <a:pPr>
              <a:lnSpc>
                <a:spcPct val="100000"/>
              </a:lnSpc>
            </a:pPr>
            <a:r>
              <a:rPr kumimoji="1" lang="en-US" altLang="zh-TW" sz="2400" dirty="0">
                <a:latin typeface="Times" pitchFamily="2" charset="0"/>
              </a:rPr>
              <a:t>400,000 hands were generated</a:t>
            </a:r>
            <a:r>
              <a:rPr kumimoji="1" lang="zh-TW" altLang="en-US" sz="2400" dirty="0">
                <a:latin typeface="Times" pitchFamily="2" charset="0"/>
              </a:rPr>
              <a:t> </a:t>
            </a:r>
            <a:r>
              <a:rPr kumimoji="1" lang="en-US" altLang="zh-TW" sz="2400" dirty="0">
                <a:latin typeface="Times" pitchFamily="2" charset="0"/>
              </a:rPr>
              <a:t>for</a:t>
            </a:r>
            <a:r>
              <a:rPr kumimoji="1" lang="zh-TW" altLang="en-US" sz="2400" dirty="0">
                <a:latin typeface="Times" pitchFamily="2" charset="0"/>
              </a:rPr>
              <a:t> </a:t>
            </a:r>
            <a:r>
              <a:rPr kumimoji="1" lang="en-US" altLang="zh-TW" sz="2400" dirty="0">
                <a:latin typeface="Times" pitchFamily="2" charset="0"/>
              </a:rPr>
              <a:t>training.</a:t>
            </a:r>
          </a:p>
          <a:p>
            <a:pPr>
              <a:lnSpc>
                <a:spcPct val="100000"/>
              </a:lnSpc>
            </a:pPr>
            <a:r>
              <a:rPr kumimoji="1" lang="en-US" altLang="zh-TW" sz="2400" dirty="0">
                <a:latin typeface="Times" pitchFamily="2" charset="0"/>
              </a:rPr>
              <a:t>The</a:t>
            </a:r>
            <a:r>
              <a:rPr kumimoji="1" lang="zh-TW" altLang="en-US" sz="2400" dirty="0">
                <a:latin typeface="Times" pitchFamily="2" charset="0"/>
              </a:rPr>
              <a:t> </a:t>
            </a:r>
            <a:r>
              <a:rPr kumimoji="1" lang="en-US" altLang="zh-TW" sz="2400" dirty="0">
                <a:latin typeface="Times" pitchFamily="2" charset="0"/>
              </a:rPr>
              <a:t>training data were generated using Bridge Calculator.</a:t>
            </a:r>
          </a:p>
          <a:p>
            <a:pPr>
              <a:lnSpc>
                <a:spcPct val="100000"/>
              </a:lnSpc>
            </a:pPr>
            <a:r>
              <a:rPr kumimoji="1" lang="en-US" altLang="zh-TW" sz="2400" dirty="0">
                <a:latin typeface="Times" pitchFamily="2" charset="0"/>
              </a:rPr>
              <a:t>For each NS hand, 10 EW hands were generated, and the results obtained from the DDS were averaged.</a:t>
            </a:r>
          </a:p>
        </p:txBody>
      </p:sp>
      <p:sp>
        <p:nvSpPr>
          <p:cNvPr id="4" name="投影片編號版面配置區 3">
            <a:extLst>
              <a:ext uri="{FF2B5EF4-FFF2-40B4-BE49-F238E27FC236}">
                <a16:creationId xmlns:a16="http://schemas.microsoft.com/office/drawing/2014/main" id="{5E299CBE-E30D-E949-B1C5-1571BD060E01}"/>
              </a:ext>
            </a:extLst>
          </p:cNvPr>
          <p:cNvSpPr>
            <a:spLocks noGrp="1"/>
          </p:cNvSpPr>
          <p:nvPr>
            <p:ph type="sldNum" sz="quarter" idx="12"/>
          </p:nvPr>
        </p:nvSpPr>
        <p:spPr/>
        <p:txBody>
          <a:bodyPr/>
          <a:lstStyle/>
          <a:p>
            <a:fld id="{D1303F21-0339-114F-A835-EDFAC68AEBBB}" type="slidenum">
              <a:rPr kumimoji="1" lang="zh-TW" altLang="en-US" smtClean="0"/>
              <a:t>4</a:t>
            </a:fld>
            <a:endParaRPr kumimoji="1" lang="zh-TW" altLang="en-US" dirty="0"/>
          </a:p>
        </p:txBody>
      </p:sp>
      <p:pic>
        <p:nvPicPr>
          <p:cNvPr id="6" name="圖片 5">
            <a:extLst>
              <a:ext uri="{FF2B5EF4-FFF2-40B4-BE49-F238E27FC236}">
                <a16:creationId xmlns:a16="http://schemas.microsoft.com/office/drawing/2014/main" id="{99E61DD9-71BA-1445-816B-AF431E2052DB}"/>
              </a:ext>
            </a:extLst>
          </p:cNvPr>
          <p:cNvPicPr>
            <a:picLocks noChangeAspect="1"/>
          </p:cNvPicPr>
          <p:nvPr/>
        </p:nvPicPr>
        <p:blipFill>
          <a:blip r:embed="rId3"/>
          <a:stretch>
            <a:fillRect/>
          </a:stretch>
        </p:blipFill>
        <p:spPr>
          <a:xfrm>
            <a:off x="143885" y="4751174"/>
            <a:ext cx="11904229" cy="1010322"/>
          </a:xfrm>
          <a:prstGeom prst="rect">
            <a:avLst/>
          </a:prstGeom>
        </p:spPr>
      </p:pic>
    </p:spTree>
    <p:extLst>
      <p:ext uri="{BB962C8B-B14F-4D97-AF65-F5344CB8AC3E}">
        <p14:creationId xmlns:p14="http://schemas.microsoft.com/office/powerpoint/2010/main" val="15468958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掛物工具 的圖片&#10;&#10;自動產生的描述">
            <a:extLst>
              <a:ext uri="{FF2B5EF4-FFF2-40B4-BE49-F238E27FC236}">
                <a16:creationId xmlns:a16="http://schemas.microsoft.com/office/drawing/2014/main" id="{551C9AEF-90AF-2E4F-87F1-E3F327CBEB1B}"/>
              </a:ext>
            </a:extLst>
          </p:cNvPr>
          <p:cNvPicPr>
            <a:picLocks noGrp="1" noChangeAspect="1"/>
          </p:cNvPicPr>
          <p:nvPr>
            <p:ph idx="1"/>
          </p:nvPr>
        </p:nvPicPr>
        <p:blipFill>
          <a:blip r:embed="rId2"/>
          <a:stretch>
            <a:fillRect/>
          </a:stretch>
        </p:blipFill>
        <p:spPr>
          <a:xfrm>
            <a:off x="5520433" y="2375851"/>
            <a:ext cx="6162431" cy="3861437"/>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Network</a:t>
            </a:r>
            <a:r>
              <a:rPr lang="en" altLang="zh-TW" dirty="0">
                <a:latin typeface="Times" pitchFamily="2" charset="0"/>
              </a:rPr>
              <a:t> structure</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5</a:t>
            </a:fld>
            <a:endParaRPr kumimoji="1" lang="zh-TW" altLang="en-US"/>
          </a:p>
        </p:txBody>
      </p:sp>
      <p:sp>
        <p:nvSpPr>
          <p:cNvPr id="15" name="內容版面配置區 2">
            <a:extLst>
              <a:ext uri="{FF2B5EF4-FFF2-40B4-BE49-F238E27FC236}">
                <a16:creationId xmlns:a16="http://schemas.microsoft.com/office/drawing/2014/main" id="{F21A328B-B889-B045-B1B1-C24172CBC207}"/>
              </a:ext>
            </a:extLst>
          </p:cNvPr>
          <p:cNvSpPr txBox="1">
            <a:spLocks/>
          </p:cNvSpPr>
          <p:nvPr/>
        </p:nvSpPr>
        <p:spPr>
          <a:xfrm>
            <a:off x="838200" y="1690688"/>
            <a:ext cx="10515600" cy="45466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 altLang="zh-TW" sz="2400" dirty="0">
                <a:effectLst/>
                <a:latin typeface="Times New Roman" panose="02020603050405020304" pitchFamily="18" charset="0"/>
                <a:cs typeface="Times New Roman" panose="02020603050405020304" pitchFamily="18" charset="0"/>
              </a:rPr>
              <a:t>BridgeHand2Vec</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embedding:</a:t>
            </a:r>
            <a:r>
              <a:rPr lang="zh-TW" altLang="en-US" sz="2400" dirty="0">
                <a:effectLst/>
                <a:latin typeface="Times New Roman" panose="02020603050405020304" pitchFamily="18" charset="0"/>
                <a:cs typeface="Times New Roman" panose="02020603050405020304" pitchFamily="18" charset="0"/>
              </a:rPr>
              <a:t> </a:t>
            </a:r>
            <a:r>
              <a:rPr lang="en-US" altLang="zh-TW" sz="2400" dirty="0">
                <a:effectLst/>
                <a:latin typeface="Times New Roman" panose="02020603050405020304" pitchFamily="18" charset="0"/>
                <a:cs typeface="Times New Roman" panose="02020603050405020304" pitchFamily="18" charset="0"/>
              </a:rPr>
              <a:t>a</a:t>
            </a:r>
            <a:r>
              <a:rPr lang="en" altLang="zh-TW" sz="2400" dirty="0">
                <a:effectLst/>
                <a:latin typeface="Times New Roman" panose="02020603050405020304" pitchFamily="18" charset="0"/>
                <a:cs typeface="Times New Roman" panose="02020603050405020304" pitchFamily="18" charset="0"/>
              </a:rPr>
              <a:t> vector with 8 elements representing the hand</a:t>
            </a:r>
            <a:r>
              <a:rPr lang="en-US" altLang="zh-TW" sz="2400" dirty="0">
                <a:effectLst/>
                <a:latin typeface="Times New Roman" panose="02020603050405020304" pitchFamily="18" charset="0"/>
                <a:cs typeface="Times New Roman" panose="02020603050405020304" pitchFamily="18" charset="0"/>
              </a:rPr>
              <a:t>.</a:t>
            </a:r>
            <a:endParaRPr lang="en" altLang="zh-TW" sz="2400" dirty="0">
              <a:latin typeface="Times New Roman" panose="02020603050405020304" pitchFamily="18" charset="0"/>
              <a:cs typeface="Times New Roman" panose="02020603050405020304" pitchFamily="18" charset="0"/>
            </a:endParaRPr>
          </a:p>
        </p:txBody>
      </p:sp>
      <p:pic>
        <p:nvPicPr>
          <p:cNvPr id="12" name="圖片 11" descr="一張含有 文字 的圖片&#10;&#10;自動產生的描述">
            <a:extLst>
              <a:ext uri="{FF2B5EF4-FFF2-40B4-BE49-F238E27FC236}">
                <a16:creationId xmlns:a16="http://schemas.microsoft.com/office/drawing/2014/main" id="{3B9877F1-D282-D443-90ED-5760E6E2A07A}"/>
              </a:ext>
            </a:extLst>
          </p:cNvPr>
          <p:cNvPicPr>
            <a:picLocks noChangeAspect="1"/>
          </p:cNvPicPr>
          <p:nvPr/>
        </p:nvPicPr>
        <p:blipFill>
          <a:blip r:embed="rId3"/>
          <a:stretch>
            <a:fillRect/>
          </a:stretch>
        </p:blipFill>
        <p:spPr>
          <a:xfrm>
            <a:off x="281354" y="3016251"/>
            <a:ext cx="5082985" cy="2888962"/>
          </a:xfrm>
          <a:prstGeom prst="rect">
            <a:avLst/>
          </a:prstGeom>
        </p:spPr>
      </p:pic>
    </p:spTree>
    <p:extLst>
      <p:ext uri="{BB962C8B-B14F-4D97-AF65-F5344CB8AC3E}">
        <p14:creationId xmlns:p14="http://schemas.microsoft.com/office/powerpoint/2010/main" val="1836791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kumimoji="1" lang="en-US" altLang="zh-TW" dirty="0">
                <a:latin typeface="Times" pitchFamily="2" charset="0"/>
              </a:rPr>
              <a:t>Experiment:</a:t>
            </a:r>
            <a:r>
              <a:rPr kumimoji="1" lang="zh-TW" altLang="en-US" dirty="0">
                <a:latin typeface="Times" pitchFamily="2" charset="0"/>
              </a:rPr>
              <a:t> </a:t>
            </a:r>
            <a:r>
              <a:rPr kumimoji="1" lang="en-US" altLang="zh-TW" dirty="0">
                <a:latin typeface="Times" pitchFamily="2" charset="0"/>
              </a:rPr>
              <a:t>trick</a:t>
            </a:r>
            <a:r>
              <a:rPr kumimoji="1" lang="zh-TW" altLang="en-US" dirty="0">
                <a:latin typeface="Times" pitchFamily="2" charset="0"/>
              </a:rPr>
              <a:t> </a:t>
            </a:r>
            <a:r>
              <a:rPr kumimoji="1" lang="en-US" altLang="zh-TW" dirty="0">
                <a:latin typeface="Times" pitchFamily="2" charset="0"/>
              </a:rPr>
              <a:t>error</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6</a:t>
            </a:fld>
            <a:endParaRPr kumimoji="1" lang="zh-TW" altLang="en-US"/>
          </a:p>
        </p:txBody>
      </p:sp>
      <p:pic>
        <p:nvPicPr>
          <p:cNvPr id="8" name="內容版面配置區 7" descr="一張含有 文字, 螢幕擷取畫面, 字型, 數字 的圖片&#10;&#10;自動產生的描述">
            <a:extLst>
              <a:ext uri="{FF2B5EF4-FFF2-40B4-BE49-F238E27FC236}">
                <a16:creationId xmlns:a16="http://schemas.microsoft.com/office/drawing/2014/main" id="{DF706189-E349-C14E-8FA9-20A051D51C85}"/>
              </a:ext>
            </a:extLst>
          </p:cNvPr>
          <p:cNvPicPr>
            <a:picLocks noGrp="1" noChangeAspect="1"/>
          </p:cNvPicPr>
          <p:nvPr>
            <p:ph idx="1"/>
          </p:nvPr>
        </p:nvPicPr>
        <p:blipFill>
          <a:blip r:embed="rId2"/>
          <a:stretch>
            <a:fillRect/>
          </a:stretch>
        </p:blipFill>
        <p:spPr>
          <a:xfrm>
            <a:off x="2432783" y="1514269"/>
            <a:ext cx="7326433" cy="5024643"/>
          </a:xfrm>
        </p:spPr>
      </p:pic>
      <p:sp>
        <p:nvSpPr>
          <p:cNvPr id="15" name="圓角矩形 14">
            <a:extLst>
              <a:ext uri="{FF2B5EF4-FFF2-40B4-BE49-F238E27FC236}">
                <a16:creationId xmlns:a16="http://schemas.microsoft.com/office/drawing/2014/main" id="{827ABDB4-0978-EC48-948F-EDC38400D9AA}"/>
              </a:ext>
            </a:extLst>
          </p:cNvPr>
          <p:cNvSpPr/>
          <p:nvPr/>
        </p:nvSpPr>
        <p:spPr>
          <a:xfrm>
            <a:off x="2432783" y="1813560"/>
            <a:ext cx="7326433" cy="28956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16" name="圓角矩形 15">
            <a:extLst>
              <a:ext uri="{FF2B5EF4-FFF2-40B4-BE49-F238E27FC236}">
                <a16:creationId xmlns:a16="http://schemas.microsoft.com/office/drawing/2014/main" id="{231212FD-2300-4B4C-966D-944E0F9D0193}"/>
              </a:ext>
            </a:extLst>
          </p:cNvPr>
          <p:cNvSpPr/>
          <p:nvPr/>
        </p:nvSpPr>
        <p:spPr>
          <a:xfrm>
            <a:off x="2432783" y="4130516"/>
            <a:ext cx="7326433" cy="28956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783052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r>
              <a:rPr lang="en" altLang="zh-TW" dirty="0">
                <a:latin typeface="Times New Roman" panose="02020603050405020304" pitchFamily="18" charset="0"/>
                <a:cs typeface="Times New Roman" panose="02020603050405020304" pitchFamily="18" charset="0"/>
              </a:rPr>
              <a:t>By searching for hands with vector representation closest to the zero vector, we obtain the following: </a:t>
            </a:r>
            <a:r>
              <a:rPr lang="en" altLang="zh-TW" sz="2400" dirty="0">
                <a:latin typeface="Times New Roman" panose="02020603050405020304" pitchFamily="18" charset="0"/>
                <a:cs typeface="Times New Roman" panose="02020603050405020304" pitchFamily="18" charset="0"/>
              </a:rPr>
              <a:t>A72.K432.JT9.Q96, QT6.A432.Q95.Q94, QT6.Q95.K432.A32, A62.K432.Q86.Q96.</a:t>
            </a:r>
            <a:endParaRPr lang="en-US" altLang="zh-TW" sz="2400"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BridgeHand2Vec properties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7</a:t>
            </a:fld>
            <a:endParaRPr kumimoji="1" lang="zh-TW" altLang="en-US"/>
          </a:p>
        </p:txBody>
      </p:sp>
      <p:pic>
        <p:nvPicPr>
          <p:cNvPr id="5" name="圖片 4" descr="一張含有 文字, 字型, 螢幕擷取畫面, 白色 的圖片&#10;&#10;自動產生的描述">
            <a:extLst>
              <a:ext uri="{FF2B5EF4-FFF2-40B4-BE49-F238E27FC236}">
                <a16:creationId xmlns:a16="http://schemas.microsoft.com/office/drawing/2014/main" id="{8021FBAA-7826-464B-ACC1-D8A21B4FE93C}"/>
              </a:ext>
            </a:extLst>
          </p:cNvPr>
          <p:cNvPicPr>
            <a:picLocks noChangeAspect="1"/>
          </p:cNvPicPr>
          <p:nvPr/>
        </p:nvPicPr>
        <p:blipFill>
          <a:blip r:embed="rId2"/>
          <a:stretch>
            <a:fillRect/>
          </a:stretch>
        </p:blipFill>
        <p:spPr>
          <a:xfrm>
            <a:off x="2315308" y="3189148"/>
            <a:ext cx="7561384" cy="3444404"/>
          </a:xfrm>
          <a:prstGeom prst="rect">
            <a:avLst/>
          </a:prstGeom>
        </p:spPr>
      </p:pic>
    </p:spTree>
    <p:extLst>
      <p:ext uri="{BB962C8B-B14F-4D97-AF65-F5344CB8AC3E}">
        <p14:creationId xmlns:p14="http://schemas.microsoft.com/office/powerpoint/2010/main" val="323477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內容版面配置區 8">
            <a:extLst>
              <a:ext uri="{FF2B5EF4-FFF2-40B4-BE49-F238E27FC236}">
                <a16:creationId xmlns:a16="http://schemas.microsoft.com/office/drawing/2014/main" id="{A3A38B33-2923-9945-B577-DEFA17DFA4C0}"/>
              </a:ext>
            </a:extLst>
          </p:cNvPr>
          <p:cNvSpPr>
            <a:spLocks noGrp="1"/>
          </p:cNvSpPr>
          <p:nvPr>
            <p:ph idx="1"/>
          </p:nvPr>
        </p:nvSpPr>
        <p:spPr>
          <a:xfrm>
            <a:off x="838200" y="1825625"/>
            <a:ext cx="10515600" cy="4351338"/>
          </a:xfrm>
        </p:spPr>
        <p:txBody>
          <a:bodyPr/>
          <a:lstStyle/>
          <a:p>
            <a:r>
              <a:rPr lang="en-US" altLang="zh-TW" dirty="0">
                <a:latin typeface="Times New Roman" panose="02020603050405020304" pitchFamily="18" charset="0"/>
                <a:cs typeface="Times New Roman" panose="02020603050405020304" pitchFamily="18" charset="0"/>
              </a:rPr>
              <a:t>T</a:t>
            </a:r>
            <a:r>
              <a:rPr lang="en" altLang="zh-TW" dirty="0">
                <a:latin typeface="Times New Roman" panose="02020603050405020304" pitchFamily="18" charset="0"/>
                <a:cs typeface="Times New Roman" panose="02020603050405020304" pitchFamily="18" charset="0"/>
              </a:rPr>
              <a:t>he property of word embeddings</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woman + (king − man) = queen</a:t>
            </a:r>
            <a:endParaRPr lang="en-US" altLang="zh-TW"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BridgeHand2Vec properties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8</a:t>
            </a:fld>
            <a:endParaRPr kumimoji="1" lang="zh-TW" altLang="en-US"/>
          </a:p>
        </p:txBody>
      </p:sp>
      <p:pic>
        <p:nvPicPr>
          <p:cNvPr id="8" name="圖片 7" descr="一張含有 文字, 螢幕擷取畫面, 字型, 數字 的圖片&#10;&#10;自動產生的描述">
            <a:extLst>
              <a:ext uri="{FF2B5EF4-FFF2-40B4-BE49-F238E27FC236}">
                <a16:creationId xmlns:a16="http://schemas.microsoft.com/office/drawing/2014/main" id="{D1EBFD17-B5B5-234F-906D-1586FF983796}"/>
              </a:ext>
            </a:extLst>
          </p:cNvPr>
          <p:cNvPicPr>
            <a:picLocks noChangeAspect="1"/>
          </p:cNvPicPr>
          <p:nvPr/>
        </p:nvPicPr>
        <p:blipFill>
          <a:blip r:embed="rId2"/>
          <a:stretch>
            <a:fillRect/>
          </a:stretch>
        </p:blipFill>
        <p:spPr>
          <a:xfrm>
            <a:off x="4413963" y="2663860"/>
            <a:ext cx="6054520" cy="3648040"/>
          </a:xfrm>
          <a:prstGeom prst="rect">
            <a:avLst/>
          </a:prstGeom>
        </p:spPr>
      </p:pic>
      <p:sp>
        <p:nvSpPr>
          <p:cNvPr id="12" name="文字方塊 11">
            <a:extLst>
              <a:ext uri="{FF2B5EF4-FFF2-40B4-BE49-F238E27FC236}">
                <a16:creationId xmlns:a16="http://schemas.microsoft.com/office/drawing/2014/main" id="{677610D2-AEC2-EF4A-88E8-4F69CFE9019E}"/>
              </a:ext>
            </a:extLst>
          </p:cNvPr>
          <p:cNvSpPr txBox="1"/>
          <p:nvPr/>
        </p:nvSpPr>
        <p:spPr>
          <a:xfrm>
            <a:off x="1148974" y="3293408"/>
            <a:ext cx="2954215" cy="707886"/>
          </a:xfrm>
          <a:prstGeom prst="rect">
            <a:avLst/>
          </a:prstGeom>
          <a:noFill/>
        </p:spPr>
        <p:txBody>
          <a:bodyPr wrap="square">
            <a:spAutoFit/>
          </a:bodyPr>
          <a:lstStyle/>
          <a:p>
            <a:r>
              <a:rPr lang="en" altLang="zh-TW" sz="2000" dirty="0">
                <a:effectLst/>
                <a:latin typeface="Times New Roman" panose="02020603050405020304" pitchFamily="18" charset="0"/>
                <a:cs typeface="Times New Roman" panose="02020603050405020304" pitchFamily="18" charset="0"/>
              </a:rPr>
              <a:t>H1 = A82.A7643.Q62.Q5 H2 = A82.Q764.Q62.Q53 </a:t>
            </a:r>
            <a:endParaRPr lang="en" altLang="zh-TW"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0494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 opening bid classification</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9</a:t>
            </a:fld>
            <a:endParaRPr kumimoji="1" lang="zh-TW" altLang="en-US"/>
          </a:p>
        </p:txBody>
      </p:sp>
      <p:pic>
        <p:nvPicPr>
          <p:cNvPr id="7" name="內容版面配置區 4" descr="一張含有 螢幕擷取畫面, 鮮豔, 圖表, 文字 的圖片&#10;&#10;自動產生的描述">
            <a:extLst>
              <a:ext uri="{FF2B5EF4-FFF2-40B4-BE49-F238E27FC236}">
                <a16:creationId xmlns:a16="http://schemas.microsoft.com/office/drawing/2014/main" id="{0222CBD2-4E48-6D4E-97F4-623B4621764C}"/>
              </a:ext>
            </a:extLst>
          </p:cNvPr>
          <p:cNvPicPr>
            <a:picLocks noChangeAspect="1"/>
          </p:cNvPicPr>
          <p:nvPr/>
        </p:nvPicPr>
        <p:blipFill>
          <a:blip r:embed="rId2"/>
          <a:stretch>
            <a:fillRect/>
          </a:stretch>
        </p:blipFill>
        <p:spPr>
          <a:xfrm>
            <a:off x="6992815" y="1482063"/>
            <a:ext cx="4765431" cy="4874287"/>
          </a:xfrm>
          <a:prstGeom prst="rect">
            <a:avLst/>
          </a:prstGeom>
        </p:spPr>
      </p:pic>
      <p:sp>
        <p:nvSpPr>
          <p:cNvPr id="8" name="內容版面配置區 7">
            <a:extLst>
              <a:ext uri="{FF2B5EF4-FFF2-40B4-BE49-F238E27FC236}">
                <a16:creationId xmlns:a16="http://schemas.microsoft.com/office/drawing/2014/main" id="{3879732F-2CD7-4C4E-BBA6-72D888F790EE}"/>
              </a:ext>
            </a:extLst>
          </p:cNvPr>
          <p:cNvSpPr>
            <a:spLocks noGrp="1"/>
          </p:cNvSpPr>
          <p:nvPr>
            <p:ph idx="1"/>
          </p:nvPr>
        </p:nvSpPr>
        <p:spPr>
          <a:xfrm>
            <a:off x="838199" y="1825625"/>
            <a:ext cx="5926015" cy="4351338"/>
          </a:xfrm>
        </p:spPr>
        <p:txBody>
          <a:bodyPr>
            <a:normAutofit/>
          </a:bodyPr>
          <a:lstStyle/>
          <a:p>
            <a:r>
              <a:rPr lang="en" altLang="zh-TW" dirty="0">
                <a:latin typeface="Times New Roman" panose="02020603050405020304" pitchFamily="18" charset="0"/>
                <a:cs typeface="Times New Roman" panose="02020603050405020304" pitchFamily="18" charset="0"/>
              </a:rPr>
              <a:t>7 skilled bridge players determined the best opening bid for 1213 hands.</a:t>
            </a:r>
          </a:p>
          <a:p>
            <a:r>
              <a:rPr lang="en-US" altLang="zh-TW" dirty="0">
                <a:latin typeface="Times New Roman" panose="02020603050405020304" pitchFamily="18" charset="0"/>
                <a:cs typeface="Times New Roman" panose="02020603050405020304" pitchFamily="18" charset="0"/>
              </a:rPr>
              <a:t>System:</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Polish</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club</a:t>
            </a:r>
          </a:p>
          <a:p>
            <a:endParaRPr lang="en" altLang="zh-TW" dirty="0">
              <a:latin typeface="Times New Roman" panose="02020603050405020304" pitchFamily="18" charset="0"/>
              <a:cs typeface="Times New Roman" panose="02020603050405020304" pitchFamily="18" charset="0"/>
            </a:endParaRPr>
          </a:p>
          <a:p>
            <a:r>
              <a:rPr lang="en" altLang="zh-TW" dirty="0">
                <a:latin typeface="Times New Roman" panose="02020603050405020304" pitchFamily="18" charset="0"/>
                <a:cs typeface="Times New Roman" panose="02020603050405020304" pitchFamily="18" charset="0"/>
              </a:rPr>
              <a:t>BridgeHand2Vec dimensions are related to features used in human bidding systems</a:t>
            </a:r>
            <a:r>
              <a:rPr lang="en-US" altLang="zh-TW" dirty="0">
                <a:latin typeface="Times New Roman" panose="02020603050405020304" pitchFamily="18" charset="0"/>
                <a:cs typeface="Times New Roman" panose="02020603050405020304" pitchFamily="18" charset="0"/>
              </a:rPr>
              <a:t>:</a:t>
            </a:r>
          </a:p>
          <a:p>
            <a:pPr lvl="1"/>
            <a:r>
              <a:rPr lang="en" altLang="zh-TW" dirty="0">
                <a:latin typeface="Times New Roman" panose="02020603050405020304" pitchFamily="18" charset="0"/>
                <a:cs typeface="Times New Roman" panose="02020603050405020304" pitchFamily="18" charset="0"/>
              </a:rPr>
              <a:t>Strong</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openings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(1</a:t>
            </a:r>
            <a:r>
              <a:rPr lang="en-US" altLang="zh-TW" dirty="0">
                <a:latin typeface="Times New Roman" panose="02020603050405020304" pitchFamily="18" charset="0"/>
                <a:cs typeface="Times New Roman" panose="02020603050405020304" pitchFamily="18" charset="0"/>
              </a:rPr>
              <a:t>C</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and</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1NT)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are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close</a:t>
            </a:r>
          </a:p>
          <a:p>
            <a:pPr lvl="1"/>
            <a:r>
              <a:rPr lang="en" altLang="zh-TW" dirty="0">
                <a:latin typeface="Times New Roman" panose="02020603050405020304" pitchFamily="18" charset="0"/>
                <a:cs typeface="Times New Roman" panose="02020603050405020304" pitchFamily="18" charset="0"/>
              </a:rPr>
              <a:t>Weak</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openings</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(2</a:t>
            </a:r>
            <a:r>
              <a:rPr lang="en-US" altLang="zh-TW" dirty="0">
                <a:latin typeface="Times New Roman" panose="02020603050405020304" pitchFamily="18" charset="0"/>
                <a:cs typeface="Times New Roman" panose="02020603050405020304" pitchFamily="18" charset="0"/>
              </a:rPr>
              <a:t>S</a:t>
            </a:r>
            <a:r>
              <a:rPr lang="en"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are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close</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to</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PASS</a:t>
            </a:r>
          </a:p>
          <a:p>
            <a:pPr lvl="1"/>
            <a:endParaRPr lang="en"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2568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內容版面配置區 8">
            <a:extLst>
              <a:ext uri="{FF2B5EF4-FFF2-40B4-BE49-F238E27FC236}">
                <a16:creationId xmlns:a16="http://schemas.microsoft.com/office/drawing/2014/main" id="{64A77833-0447-604F-BD78-7E7ACC94FC82}"/>
              </a:ext>
            </a:extLst>
          </p:cNvPr>
          <p:cNvSpPr>
            <a:spLocks noGrp="1"/>
          </p:cNvSpPr>
          <p:nvPr>
            <p:ph idx="1"/>
          </p:nvPr>
        </p:nvSpPr>
        <p:spPr/>
        <p:txBody>
          <a:bodyPr/>
          <a:lstStyle/>
          <a:p>
            <a:r>
              <a:rPr lang="en-US" altLang="zh-TW" dirty="0">
                <a:latin typeface="Times New Roman" panose="02020603050405020304" pitchFamily="18" charset="0"/>
                <a:cs typeface="Times New Roman" panose="02020603050405020304" pitchFamily="18" charset="0"/>
              </a:rPr>
              <a:t>BridgeHand2Vec KNN classifier</a:t>
            </a:r>
          </a:p>
          <a:p>
            <a:r>
              <a:rPr lang="en-US" altLang="zh-TW" dirty="0">
                <a:latin typeface="Times New Roman" panose="02020603050405020304" pitchFamily="18" charset="0"/>
                <a:cs typeface="Times New Roman" panose="02020603050405020304" pitchFamily="18" charset="0"/>
              </a:rPr>
              <a:t>Four</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models which did not use vectorization</a:t>
            </a:r>
            <a:r>
              <a:rPr lang="zh-TW" altLang="en-US" dirty="0">
                <a:latin typeface="Times New Roman" panose="02020603050405020304" pitchFamily="18" charset="0"/>
                <a:cs typeface="Times New Roman" panose="02020603050405020304" pitchFamily="18" charset="0"/>
              </a:rPr>
              <a:t> </a:t>
            </a:r>
            <a:r>
              <a:rPr lang="en" altLang="zh-TW" dirty="0">
                <a:latin typeface="Times New Roman" panose="02020603050405020304" pitchFamily="18" charset="0"/>
                <a:cs typeface="Times New Roman" panose="02020603050405020304" pitchFamily="18" charset="0"/>
              </a:rPr>
              <a:t>for comparison</a:t>
            </a:r>
          </a:p>
          <a:p>
            <a:pPr lvl="1"/>
            <a:r>
              <a:rPr lang="en" altLang="zh-TW" sz="2200" dirty="0">
                <a:latin typeface="Times New Roman" panose="02020603050405020304" pitchFamily="18" charset="0"/>
                <a:cs typeface="Times New Roman" panose="02020603050405020304" pitchFamily="18" charset="0"/>
              </a:rPr>
              <a:t>Expert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Model</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Polish Club bidding system.</a:t>
            </a:r>
          </a:p>
          <a:p>
            <a:pPr lvl="1"/>
            <a:r>
              <a:rPr lang="en" altLang="zh-TW" sz="2200" dirty="0">
                <a:latin typeface="Times New Roman" panose="02020603050405020304" pitchFamily="18" charset="0"/>
                <a:cs typeface="Times New Roman" panose="02020603050405020304" pitchFamily="18" charset="0"/>
              </a:rPr>
              <a:t>Raw</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Model</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only</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information</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about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the</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player’s</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cards</a:t>
            </a:r>
            <a:r>
              <a:rPr lang="en-US" altLang="zh-TW" sz="2200" dirty="0">
                <a:latin typeface="Times New Roman" panose="02020603050405020304" pitchFamily="18" charset="0"/>
                <a:cs typeface="Times New Roman" panose="02020603050405020304" pitchFamily="18" charset="0"/>
              </a:rPr>
              <a:t>.</a:t>
            </a:r>
            <a:endParaRPr lang="en" altLang="zh-TW" sz="2200" dirty="0">
              <a:latin typeface="Times New Roman" panose="02020603050405020304" pitchFamily="18" charset="0"/>
              <a:cs typeface="Times New Roman" panose="02020603050405020304" pitchFamily="18" charset="0"/>
            </a:endParaRPr>
          </a:p>
          <a:p>
            <a:pPr lvl="1"/>
            <a:r>
              <a:rPr lang="en" altLang="zh-TW" sz="2200" dirty="0">
                <a:latin typeface="Times New Roman" panose="02020603050405020304" pitchFamily="18" charset="0"/>
                <a:cs typeface="Times New Roman" panose="02020603050405020304" pitchFamily="18" charset="0"/>
              </a:rPr>
              <a:t>Heuristic</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Model</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HCP, distribution of all suits</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typical information</a:t>
            </a:r>
            <a:r>
              <a:rPr lang="en-US" altLang="zh-TW" sz="2200" dirty="0">
                <a:latin typeface="Times New Roman" panose="02020603050405020304" pitchFamily="18" charset="0"/>
                <a:cs typeface="Times New Roman" panose="02020603050405020304" pitchFamily="18" charset="0"/>
              </a:rPr>
              <a:t>.</a:t>
            </a:r>
            <a:endParaRPr lang="en" altLang="zh-TW" sz="2200" dirty="0">
              <a:latin typeface="Times New Roman" panose="02020603050405020304" pitchFamily="18" charset="0"/>
              <a:cs typeface="Times New Roman" panose="02020603050405020304" pitchFamily="18" charset="0"/>
            </a:endParaRPr>
          </a:p>
          <a:p>
            <a:pPr lvl="1"/>
            <a:r>
              <a:rPr lang="en" altLang="zh-TW" sz="2200" dirty="0">
                <a:latin typeface="Times New Roman" panose="02020603050405020304" pitchFamily="18" charset="0"/>
                <a:cs typeface="Times New Roman" panose="02020603050405020304" pitchFamily="18" charset="0"/>
              </a:rPr>
              <a:t>Combined</a:t>
            </a:r>
            <a:r>
              <a:rPr lang="zh-TW" altLang="en-US" sz="2200" dirty="0">
                <a:latin typeface="Times New Roman" panose="02020603050405020304" pitchFamily="18" charset="0"/>
                <a:cs typeface="Times New Roman" panose="02020603050405020304" pitchFamily="18" charset="0"/>
              </a:rPr>
              <a:t> </a:t>
            </a:r>
            <a:r>
              <a:rPr lang="en" altLang="zh-TW" sz="2200" dirty="0">
                <a:latin typeface="Times New Roman" panose="02020603050405020304" pitchFamily="18" charset="0"/>
                <a:cs typeface="Times New Roman" panose="02020603050405020304" pitchFamily="18" charset="0"/>
              </a:rPr>
              <a:t>Model</a:t>
            </a:r>
            <a:r>
              <a:rPr lang="en-US" altLang="zh-TW" sz="2200" dirty="0">
                <a:latin typeface="Times New Roman" panose="02020603050405020304" pitchFamily="18" charset="0"/>
                <a:cs typeface="Times New Roman" panose="02020603050405020304" pitchFamily="18" charset="0"/>
              </a:rPr>
              <a:t>(Raw</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a:t>
            </a:r>
            <a:r>
              <a:rPr lang="zh-TW" altLang="en-US" sz="2200" dirty="0">
                <a:latin typeface="Times New Roman" panose="02020603050405020304" pitchFamily="18" charset="0"/>
                <a:cs typeface="Times New Roman" panose="02020603050405020304" pitchFamily="18" charset="0"/>
              </a:rPr>
              <a:t> </a:t>
            </a:r>
            <a:r>
              <a:rPr lang="en-US" altLang="zh-TW" sz="2200" dirty="0">
                <a:latin typeface="Times New Roman" panose="02020603050405020304" pitchFamily="18" charset="0"/>
                <a:cs typeface="Times New Roman" panose="02020603050405020304" pitchFamily="18" charset="0"/>
              </a:rPr>
              <a:t>Heuristic)</a:t>
            </a:r>
            <a:endParaRPr lang="zh-TW" altLang="en-US" sz="2200" dirty="0">
              <a:latin typeface="Times New Roman" panose="02020603050405020304" pitchFamily="18" charset="0"/>
              <a:cs typeface="Times New Roman" panose="02020603050405020304" pitchFamily="18" charset="0"/>
            </a:endParaRPr>
          </a:p>
        </p:txBody>
      </p:sp>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a:t>
            </a:r>
            <a:r>
              <a:rPr lang="en-US" altLang="zh-TW" dirty="0">
                <a:latin typeface="Times" pitchFamily="2" charset="0"/>
              </a:rPr>
              <a:t>:</a:t>
            </a:r>
            <a:r>
              <a:rPr lang="zh-TW" altLang="en-US" dirty="0">
                <a:latin typeface="Times" pitchFamily="2" charset="0"/>
              </a:rPr>
              <a:t> </a:t>
            </a:r>
            <a:r>
              <a:rPr lang="en" altLang="zh-TW" dirty="0">
                <a:latin typeface="Times" pitchFamily="2" charset="0"/>
              </a:rPr>
              <a:t>opening bid classifiers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10</a:t>
            </a:fld>
            <a:endParaRPr kumimoji="1" lang="zh-TW" altLang="en-US"/>
          </a:p>
        </p:txBody>
      </p:sp>
      <p:pic>
        <p:nvPicPr>
          <p:cNvPr id="5" name="圖片 4" descr="一張含有 文字, 字型, 白色, 數字 的圖片&#10;&#10;自動產生的描述">
            <a:extLst>
              <a:ext uri="{FF2B5EF4-FFF2-40B4-BE49-F238E27FC236}">
                <a16:creationId xmlns:a16="http://schemas.microsoft.com/office/drawing/2014/main" id="{7435397D-79FD-FE4D-9A55-EB3820B08813}"/>
              </a:ext>
            </a:extLst>
          </p:cNvPr>
          <p:cNvPicPr>
            <a:picLocks noChangeAspect="1"/>
          </p:cNvPicPr>
          <p:nvPr/>
        </p:nvPicPr>
        <p:blipFill>
          <a:blip r:embed="rId2"/>
          <a:stretch>
            <a:fillRect/>
          </a:stretch>
        </p:blipFill>
        <p:spPr>
          <a:xfrm>
            <a:off x="6096000" y="4276661"/>
            <a:ext cx="4709454" cy="2216214"/>
          </a:xfrm>
          <a:prstGeom prst="rect">
            <a:avLst/>
          </a:prstGeom>
        </p:spPr>
      </p:pic>
      <p:sp>
        <p:nvSpPr>
          <p:cNvPr id="6" name="圓角矩形 5">
            <a:extLst>
              <a:ext uri="{FF2B5EF4-FFF2-40B4-BE49-F238E27FC236}">
                <a16:creationId xmlns:a16="http://schemas.microsoft.com/office/drawing/2014/main" id="{CDE4B17B-617E-D74F-94E7-ABF2737AF09D}"/>
              </a:ext>
            </a:extLst>
          </p:cNvPr>
          <p:cNvSpPr/>
          <p:nvPr/>
        </p:nvSpPr>
        <p:spPr>
          <a:xfrm>
            <a:off x="6236677" y="4661322"/>
            <a:ext cx="4568777" cy="34443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2397388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內容版面配置區 4" descr="一張含有 文字, 螢幕擷取畫面, 字型, 數字 的圖片&#10;&#10;自動產生的描述">
            <a:extLst>
              <a:ext uri="{FF2B5EF4-FFF2-40B4-BE49-F238E27FC236}">
                <a16:creationId xmlns:a16="http://schemas.microsoft.com/office/drawing/2014/main" id="{A5DB289A-A46A-2241-BE2F-CB79790EFCD6}"/>
              </a:ext>
            </a:extLst>
          </p:cNvPr>
          <p:cNvPicPr>
            <a:picLocks noGrp="1" noChangeAspect="1"/>
          </p:cNvPicPr>
          <p:nvPr>
            <p:ph idx="1"/>
          </p:nvPr>
        </p:nvPicPr>
        <p:blipFill>
          <a:blip r:embed="rId2"/>
          <a:stretch>
            <a:fillRect/>
          </a:stretch>
        </p:blipFill>
        <p:spPr>
          <a:xfrm>
            <a:off x="2268019" y="1510376"/>
            <a:ext cx="7655962" cy="5348259"/>
          </a:xfrm>
        </p:spPr>
      </p:pic>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US" altLang="zh-TW" dirty="0">
                <a:latin typeface="Times" pitchFamily="2" charset="0"/>
              </a:rPr>
              <a:t>Experiment:</a:t>
            </a:r>
            <a:r>
              <a:rPr lang="zh-TW" altLang="en-US" dirty="0">
                <a:latin typeface="Times" pitchFamily="2" charset="0"/>
              </a:rPr>
              <a:t> </a:t>
            </a:r>
            <a:r>
              <a:rPr lang="en-US" altLang="zh-TW" dirty="0">
                <a:latin typeface="Times" pitchFamily="2" charset="0"/>
              </a:rPr>
              <a:t>controversial</a:t>
            </a:r>
            <a:r>
              <a:rPr lang="en" altLang="zh-TW" dirty="0">
                <a:latin typeface="Times" pitchFamily="2" charset="0"/>
              </a:rPr>
              <a:t> hand</a:t>
            </a:r>
            <a:r>
              <a:rPr lang="en-US" altLang="zh-TW" dirty="0">
                <a:latin typeface="Times" pitchFamily="2" charset="0"/>
              </a:rPr>
              <a:t>s</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11</a:t>
            </a:fld>
            <a:endParaRPr kumimoji="1" lang="zh-TW" altLang="en-US"/>
          </a:p>
        </p:txBody>
      </p:sp>
      <p:sp>
        <p:nvSpPr>
          <p:cNvPr id="3" name="文字方塊 2">
            <a:extLst>
              <a:ext uri="{FF2B5EF4-FFF2-40B4-BE49-F238E27FC236}">
                <a16:creationId xmlns:a16="http://schemas.microsoft.com/office/drawing/2014/main" id="{56A2B4A2-69ED-FB43-897F-8D54EAF5CBBA}"/>
              </a:ext>
            </a:extLst>
          </p:cNvPr>
          <p:cNvSpPr txBox="1"/>
          <p:nvPr/>
        </p:nvSpPr>
        <p:spPr>
          <a:xfrm>
            <a:off x="3077593" y="2435829"/>
            <a:ext cx="968535" cy="400110"/>
          </a:xfrm>
          <a:prstGeom prst="rect">
            <a:avLst/>
          </a:prstGeom>
          <a:noFill/>
        </p:spPr>
        <p:txBody>
          <a:bodyPr wrap="non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1S</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2D</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6" name="文字方塊 5">
            <a:extLst>
              <a:ext uri="{FF2B5EF4-FFF2-40B4-BE49-F238E27FC236}">
                <a16:creationId xmlns:a16="http://schemas.microsoft.com/office/drawing/2014/main" id="{96797669-B5AC-174E-A4AA-1BD79A8C5AB5}"/>
              </a:ext>
            </a:extLst>
          </p:cNvPr>
          <p:cNvSpPr txBox="1"/>
          <p:nvPr/>
        </p:nvSpPr>
        <p:spPr>
          <a:xfrm>
            <a:off x="3077592" y="3593481"/>
            <a:ext cx="1011815" cy="400110"/>
          </a:xfrm>
          <a:prstGeom prst="rect">
            <a:avLst/>
          </a:prstGeom>
          <a:noFill/>
        </p:spPr>
        <p:txBody>
          <a:bodyPr wrap="non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1H</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1N</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80DB7649-A12B-3A40-A6B4-B73F53944D7E}"/>
              </a:ext>
            </a:extLst>
          </p:cNvPr>
          <p:cNvSpPr txBox="1"/>
          <p:nvPr/>
        </p:nvSpPr>
        <p:spPr>
          <a:xfrm>
            <a:off x="3077592" y="4738732"/>
            <a:ext cx="982961" cy="400110"/>
          </a:xfrm>
          <a:prstGeom prst="rect">
            <a:avLst/>
          </a:prstGeom>
          <a:noFill/>
        </p:spPr>
        <p:txBody>
          <a:bodyPr wrap="non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1C</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2C</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
        <p:nvSpPr>
          <p:cNvPr id="8" name="文字方塊 7">
            <a:extLst>
              <a:ext uri="{FF2B5EF4-FFF2-40B4-BE49-F238E27FC236}">
                <a16:creationId xmlns:a16="http://schemas.microsoft.com/office/drawing/2014/main" id="{800E9CD5-7DA5-EB48-8E94-C39A3336F087}"/>
              </a:ext>
            </a:extLst>
          </p:cNvPr>
          <p:cNvSpPr txBox="1"/>
          <p:nvPr/>
        </p:nvSpPr>
        <p:spPr>
          <a:xfrm>
            <a:off x="3106446" y="5896384"/>
            <a:ext cx="997389" cy="400110"/>
          </a:xfrm>
          <a:prstGeom prst="rect">
            <a:avLst/>
          </a:prstGeom>
          <a:noFill/>
        </p:spPr>
        <p:txBody>
          <a:bodyPr wrap="none" rtlCol="0">
            <a:spAutoFit/>
          </a:bodyPr>
          <a:lstStyle/>
          <a:p>
            <a:r>
              <a:rPr kumimoji="1" lang="en-US" altLang="zh-TW" sz="2000" dirty="0">
                <a:solidFill>
                  <a:srgbClr val="FF0000"/>
                </a:solidFill>
                <a:latin typeface="Times New Roman" panose="02020603050405020304" pitchFamily="18" charset="0"/>
                <a:cs typeface="Times New Roman" panose="02020603050405020304" pitchFamily="18" charset="0"/>
              </a:rPr>
              <a:t>1C</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a:t>
            </a:r>
            <a:r>
              <a:rPr kumimoji="1" lang="zh-TW" altLang="en-US" sz="2000" dirty="0">
                <a:solidFill>
                  <a:srgbClr val="FF0000"/>
                </a:solidFill>
                <a:latin typeface="Times New Roman" panose="02020603050405020304" pitchFamily="18" charset="0"/>
                <a:cs typeface="Times New Roman" panose="02020603050405020304" pitchFamily="18" charset="0"/>
              </a:rPr>
              <a:t> </a:t>
            </a:r>
            <a:r>
              <a:rPr kumimoji="1" lang="en-US" altLang="zh-TW" sz="2000" dirty="0">
                <a:solidFill>
                  <a:srgbClr val="FF0000"/>
                </a:solidFill>
                <a:latin typeface="Times New Roman" panose="02020603050405020304" pitchFamily="18" charset="0"/>
                <a:cs typeface="Times New Roman" panose="02020603050405020304" pitchFamily="18" charset="0"/>
              </a:rPr>
              <a:t>1D</a:t>
            </a:r>
            <a:endParaRPr kumimoji="1" lang="zh-TW" altLang="en-US" sz="20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7921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DF01EB-A175-3F4A-8121-EDA3DB55ADBC}"/>
              </a:ext>
            </a:extLst>
          </p:cNvPr>
          <p:cNvSpPr>
            <a:spLocks noGrp="1"/>
          </p:cNvSpPr>
          <p:nvPr>
            <p:ph type="title"/>
          </p:nvPr>
        </p:nvSpPr>
        <p:spPr/>
        <p:txBody>
          <a:bodyPr/>
          <a:lstStyle/>
          <a:p>
            <a:r>
              <a:rPr lang="en" altLang="zh-TW" dirty="0">
                <a:latin typeface="Times" pitchFamily="2" charset="0"/>
              </a:rPr>
              <a:t>Experiment: RL learning for opening bid</a:t>
            </a:r>
            <a:endParaRPr kumimoji="1" lang="zh-TW" altLang="en-US" dirty="0">
              <a:latin typeface="Times" pitchFamily="2" charset="0"/>
            </a:endParaRPr>
          </a:p>
        </p:txBody>
      </p:sp>
      <p:sp>
        <p:nvSpPr>
          <p:cNvPr id="4" name="投影片編號版面配置區 3">
            <a:extLst>
              <a:ext uri="{FF2B5EF4-FFF2-40B4-BE49-F238E27FC236}">
                <a16:creationId xmlns:a16="http://schemas.microsoft.com/office/drawing/2014/main" id="{377FCF81-02B4-6F41-9CE5-6049E5082CA5}"/>
              </a:ext>
            </a:extLst>
          </p:cNvPr>
          <p:cNvSpPr>
            <a:spLocks noGrp="1"/>
          </p:cNvSpPr>
          <p:nvPr>
            <p:ph type="sldNum" sz="quarter" idx="12"/>
          </p:nvPr>
        </p:nvSpPr>
        <p:spPr/>
        <p:txBody>
          <a:bodyPr/>
          <a:lstStyle/>
          <a:p>
            <a:fld id="{D1303F21-0339-114F-A835-EDFAC68AEBBB}" type="slidenum">
              <a:rPr kumimoji="1" lang="zh-TW" altLang="en-US" smtClean="0"/>
              <a:t>12</a:t>
            </a:fld>
            <a:endParaRPr kumimoji="1" lang="zh-TW" altLang="en-US"/>
          </a:p>
        </p:txBody>
      </p:sp>
      <p:pic>
        <p:nvPicPr>
          <p:cNvPr id="10" name="圖片 9" descr="一張含有 文字, 行, 圖表, 繪圖 的圖片&#10;&#10;自動產生的描述">
            <a:extLst>
              <a:ext uri="{FF2B5EF4-FFF2-40B4-BE49-F238E27FC236}">
                <a16:creationId xmlns:a16="http://schemas.microsoft.com/office/drawing/2014/main" id="{F7A8D0A0-B044-2B4C-B9C9-E9C05886D4FC}"/>
              </a:ext>
            </a:extLst>
          </p:cNvPr>
          <p:cNvPicPr>
            <a:picLocks noChangeAspect="1"/>
          </p:cNvPicPr>
          <p:nvPr/>
        </p:nvPicPr>
        <p:blipFill>
          <a:blip r:embed="rId2"/>
          <a:stretch>
            <a:fillRect/>
          </a:stretch>
        </p:blipFill>
        <p:spPr>
          <a:xfrm>
            <a:off x="6694831" y="1888507"/>
            <a:ext cx="5052290" cy="3850423"/>
          </a:xfrm>
          <a:prstGeom prst="rect">
            <a:avLst/>
          </a:prstGeom>
        </p:spPr>
      </p:pic>
      <p:pic>
        <p:nvPicPr>
          <p:cNvPr id="17" name="內容版面配置區 16" descr="一張含有 文字, 字型, 螢幕擷取畫面, 數字 的圖片&#10;&#10;自動產生的描述">
            <a:extLst>
              <a:ext uri="{FF2B5EF4-FFF2-40B4-BE49-F238E27FC236}">
                <a16:creationId xmlns:a16="http://schemas.microsoft.com/office/drawing/2014/main" id="{A9CADF13-01D4-6646-874C-F0D722524D85}"/>
              </a:ext>
            </a:extLst>
          </p:cNvPr>
          <p:cNvPicPr>
            <a:picLocks noGrp="1" noChangeAspect="1"/>
          </p:cNvPicPr>
          <p:nvPr>
            <p:ph idx="1"/>
          </p:nvPr>
        </p:nvPicPr>
        <p:blipFill>
          <a:blip r:embed="rId3"/>
          <a:stretch>
            <a:fillRect/>
          </a:stretch>
        </p:blipFill>
        <p:spPr>
          <a:xfrm>
            <a:off x="349103" y="1888507"/>
            <a:ext cx="6345728" cy="3586163"/>
          </a:xfrm>
        </p:spPr>
      </p:pic>
      <p:sp>
        <p:nvSpPr>
          <p:cNvPr id="7" name="文字方塊 6">
            <a:extLst>
              <a:ext uri="{FF2B5EF4-FFF2-40B4-BE49-F238E27FC236}">
                <a16:creationId xmlns:a16="http://schemas.microsoft.com/office/drawing/2014/main" id="{1BF98A39-CA3F-3D4B-9AD6-4ECC411218F0}"/>
              </a:ext>
            </a:extLst>
          </p:cNvPr>
          <p:cNvSpPr txBox="1"/>
          <p:nvPr/>
        </p:nvSpPr>
        <p:spPr>
          <a:xfrm>
            <a:off x="646882" y="5672489"/>
            <a:ext cx="5750169" cy="923330"/>
          </a:xfrm>
          <a:prstGeom prst="rect">
            <a:avLst/>
          </a:prstGeom>
          <a:noFill/>
        </p:spPr>
        <p:txBody>
          <a:bodyPr wrap="square">
            <a:spAutoFit/>
          </a:bodyPr>
          <a:lstStyle/>
          <a:p>
            <a:r>
              <a:rPr lang="en-US" altLang="zh-TW" sz="1800" dirty="0">
                <a:effectLst/>
                <a:latin typeface="Times New Roman" panose="02020603050405020304" pitchFamily="18" charset="0"/>
                <a:cs typeface="Times New Roman" panose="02020603050405020304" pitchFamily="18" charset="0"/>
              </a:rPr>
              <a:t>Sc:</a:t>
            </a:r>
            <a:r>
              <a:rPr lang="zh-TW" altLang="en-US" sz="1800" dirty="0">
                <a:effectLst/>
                <a:latin typeface="Times New Roman" panose="02020603050405020304" pitchFamily="18" charset="0"/>
                <a:cs typeface="Times New Roman" panose="02020603050405020304" pitchFamily="18" charset="0"/>
              </a:rPr>
              <a:t> </a:t>
            </a:r>
            <a:r>
              <a:rPr lang="en" altLang="zh-TW" sz="1800" dirty="0">
                <a:effectLst/>
                <a:latin typeface="Times New Roman" panose="02020603050405020304" pitchFamily="18" charset="0"/>
                <a:cs typeface="Times New Roman" panose="02020603050405020304" pitchFamily="18" charset="0"/>
              </a:rPr>
              <a:t>EW hands are dealt 10 times. </a:t>
            </a:r>
            <a:r>
              <a:rPr lang="en-US" altLang="zh-TW" dirty="0">
                <a:latin typeface="Times New Roman" panose="02020603050405020304" pitchFamily="18" charset="0"/>
                <a:cs typeface="Times New Roman" panose="02020603050405020304" pitchFamily="18" charset="0"/>
              </a:rPr>
              <a:t>Calculate</a:t>
            </a:r>
            <a:r>
              <a:rPr lang="en" altLang="zh-TW" sz="1800" dirty="0">
                <a:effectLst/>
                <a:latin typeface="Times New Roman" panose="02020603050405020304" pitchFamily="18" charset="0"/>
                <a:cs typeface="Times New Roman" panose="02020603050405020304" pitchFamily="18" charset="0"/>
              </a:rPr>
              <a:t> the best possible bridge score for NS</a:t>
            </a:r>
            <a:r>
              <a:rPr lang="zh-TW" altLang="en-US" sz="1800" dirty="0">
                <a:effectLst/>
                <a:latin typeface="Times New Roman" panose="02020603050405020304" pitchFamily="18" charset="0"/>
                <a:cs typeface="Times New Roman" panose="02020603050405020304" pitchFamily="18" charset="0"/>
              </a:rPr>
              <a:t> </a:t>
            </a:r>
            <a:r>
              <a:rPr lang="en" altLang="zh-TW" sz="1800" dirty="0">
                <a:effectLst/>
                <a:latin typeface="Times New Roman" panose="02020603050405020304" pitchFamily="18" charset="0"/>
                <a:cs typeface="Times New Roman" panose="02020603050405020304" pitchFamily="18" charset="0"/>
              </a:rPr>
              <a:t>for the guessed contract</a:t>
            </a:r>
            <a:r>
              <a:rPr lang="en-US" altLang="zh-TW" sz="1800" dirty="0">
                <a:effectLst/>
                <a:latin typeface="Times New Roman" panose="02020603050405020304" pitchFamily="18" charset="0"/>
                <a:cs typeface="Times New Roman" panose="02020603050405020304" pitchFamily="18" charset="0"/>
              </a:rPr>
              <a:t>.</a:t>
            </a:r>
            <a:endParaRPr lang="en" altLang="zh-TW" sz="1800" dirty="0">
              <a:effectLst/>
              <a:latin typeface="Times New Roman" panose="02020603050405020304" pitchFamily="18" charset="0"/>
              <a:cs typeface="Times New Roman" panose="02020603050405020304" pitchFamily="18" charset="0"/>
            </a:endParaRPr>
          </a:p>
          <a:p>
            <a:endParaRPr lang="en" altLang="zh-TW" sz="180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812539"/>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3_chenya" id="{B41F7EED-78E0-1445-87EF-5AF1DA6E0F58}" vid="{D32384A1-BBDA-0D4F-B76D-4F110ED0331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佈景主題</Template>
  <TotalTime>3072</TotalTime>
  <Words>529</Words>
  <Application>Microsoft Macintosh PowerPoint</Application>
  <PresentationFormat>寬螢幕</PresentationFormat>
  <Paragraphs>55</Paragraphs>
  <Slides>12</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Times</vt:lpstr>
      <vt:lpstr>Arial</vt:lpstr>
      <vt:lpstr>Calibri</vt:lpstr>
      <vt:lpstr>Calibri Light</vt:lpstr>
      <vt:lpstr>Times New Roman</vt:lpstr>
      <vt:lpstr>Office 佈景主題</vt:lpstr>
      <vt:lpstr>BridgeHand2Vec Bridge Hand Representation</vt:lpstr>
      <vt:lpstr>Abstract(1/2)</vt:lpstr>
      <vt:lpstr>Abstract(2/2)</vt:lpstr>
      <vt:lpstr>Neural network training for DDBP</vt:lpstr>
      <vt:lpstr>Network structure</vt:lpstr>
      <vt:lpstr>Experiment: trick error</vt:lpstr>
      <vt:lpstr>BridgeHand2Vec properties</vt:lpstr>
      <vt:lpstr>BridgeHand2Vec properties</vt:lpstr>
      <vt:lpstr>Experiment: opening bid classification</vt:lpstr>
      <vt:lpstr>Experiment: opening bid classifiers</vt:lpstr>
      <vt:lpstr>Experiment: controversial hands</vt:lpstr>
      <vt:lpstr>Experiment: RL learning for opening bid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BridgeHand2Vec Bridge Hand Representation</dc:title>
  <dc:creator>M113040012</dc:creator>
  <cp:lastModifiedBy>M113040012</cp:lastModifiedBy>
  <cp:revision>149</cp:revision>
  <dcterms:created xsi:type="dcterms:W3CDTF">2023-11-04T06:12:36Z</dcterms:created>
  <dcterms:modified xsi:type="dcterms:W3CDTF">2023-11-07T09:58:36Z</dcterms:modified>
</cp:coreProperties>
</file>