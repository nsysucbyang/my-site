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handoutMasterIdLst>
    <p:handoutMasterId r:id="rId13"/>
  </p:handoutMasterIdLst>
  <p:sldIdLst>
    <p:sldId id="256" r:id="rId2"/>
    <p:sldId id="257" r:id="rId3"/>
    <p:sldId id="259" r:id="rId4"/>
    <p:sldId id="296" r:id="rId5"/>
    <p:sldId id="288" r:id="rId6"/>
    <p:sldId id="289" r:id="rId7"/>
    <p:sldId id="297" r:id="rId8"/>
    <p:sldId id="299" r:id="rId9"/>
    <p:sldId id="298" r:id="rId10"/>
    <p:sldId id="269"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2645" autoAdjust="0"/>
  </p:normalViewPr>
  <p:slideViewPr>
    <p:cSldViewPr snapToGrid="0">
      <p:cViewPr varScale="1">
        <p:scale>
          <a:sx n="71" d="100"/>
          <a:sy n="71" d="100"/>
        </p:scale>
        <p:origin x="113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B2B1B951-C510-4522-AF93-ADB85ED09AE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629B89B7-9CDA-4AA8-9698-7B71FD1985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70CF6B-A307-4891-9A3F-3BDEA15122F4}" type="datetimeFigureOut">
              <a:rPr lang="zh-TW" altLang="en-US" smtClean="0"/>
              <a:t>2023/4/25</a:t>
            </a:fld>
            <a:endParaRPr lang="zh-TW" altLang="en-US"/>
          </a:p>
        </p:txBody>
      </p:sp>
      <p:sp>
        <p:nvSpPr>
          <p:cNvPr id="4" name="頁尾版面配置區 3">
            <a:extLst>
              <a:ext uri="{FF2B5EF4-FFF2-40B4-BE49-F238E27FC236}">
                <a16:creationId xmlns:a16="http://schemas.microsoft.com/office/drawing/2014/main" id="{94AA06BA-A144-429D-9036-05EAC36F36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5D362C06-5F0E-4E9C-8F96-54694C2D615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00C0899-C804-4EB6-B155-7732788E8AAF}" type="slidenum">
              <a:rPr lang="zh-TW" altLang="en-US" smtClean="0"/>
              <a:t>‹#›</a:t>
            </a:fld>
            <a:endParaRPr lang="zh-TW" altLang="en-US"/>
          </a:p>
        </p:txBody>
      </p:sp>
    </p:spTree>
    <p:extLst>
      <p:ext uri="{BB962C8B-B14F-4D97-AF65-F5344CB8AC3E}">
        <p14:creationId xmlns:p14="http://schemas.microsoft.com/office/powerpoint/2010/main" val="2370685796"/>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5T08:30:39.938"/>
    </inkml:context>
    <inkml:brush xml:id="br0">
      <inkml:brushProperty name="width" value="0.05" units="cm"/>
      <inkml:brushProperty name="height" value="0.05" units="cm"/>
      <inkml:brushProperty name="color" value="#E71224"/>
    </inkml:brush>
  </inkml:definitions>
  <inkml:trace contextRef="#ctx0" brushRef="#br0">33 4 24575,'35'-2'0,"-19"1"0,1 1 0,-1 0 0,17 3 0,-29-2 0,0-1 0,0 1 0,-1 0 0,1 1 0,0-1 0,0 1 0,-1-1 0,1 1 0,-1 0 0,1 1 0,-1-1 0,0 0 0,0 1 0,0 0 0,0 0 0,0 0 0,2 3 0,15 23 0,-5-8 0,0 1 0,20 43 0,-32-59 0,0 0 0,-1 1 0,0-1 0,0 1 0,0 0 0,-1-1 0,0 1 0,-1 0 0,1 0 0,-1 0 0,-1 0 0,1 0 0,-1 0 0,0-1 0,-4 13 0,2-14 0,0 0 0,0-1 0,0 0 0,-1 1 0,1-1 0,-1 0 0,0-1 0,0 1 0,-1-1 0,1 1 0,-1-1 0,1-1 0,-1 1 0,0-1 0,0 1 0,-7 1 0,-2 1 0,0-1 0,0 0 0,0-1 0,0 0 0,-16 0 0,-102-4 0,721 1-1365,-572 0-5461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5T08:30:45.683"/>
    </inkml:context>
    <inkml:brush xml:id="br0">
      <inkml:brushProperty name="width" value="0.05" units="cm"/>
      <inkml:brushProperty name="height" value="0.05" units="cm"/>
      <inkml:brushProperty name="color" value="#E71224"/>
    </inkml:brush>
  </inkml:definitions>
  <inkml:trace contextRef="#ctx0" brushRef="#br0">21 2 24575,'84'-1'0,"91"3"0,-172-2 0,0 1 0,0-1 0,0 1 0,0 0 0,0 0 0,0 1 0,0-1 0,0 0 0,0 1 0,-1 0 0,1-1 0,0 1 0,-1 0 0,0 1 0,1-1 0,-1 0 0,0 1 0,0-1 0,0 1 0,0-1 0,-1 1 0,1 0 0,-1 0 0,0 0 0,0 0 0,0 0 0,0 0 0,0 0 0,-1 0 0,1 0 0,-1 1 0,0-1 0,0 0 0,0 0 0,-1 4 0,1-1 0,0 0 0,-1 0 0,0 0 0,0 0 0,0 0 0,-1 0 0,0-1 0,0 1 0,0 0 0,-1-1 0,0 0 0,0 0 0,0 0 0,-1 0 0,1 0 0,-1-1 0,0 1 0,-7 5 0,-22 13 0,26-17 0,0 0 0,-1-1 0,1 0 0,-1-1 0,0 0 0,0 0 0,-13 4 0,34-8 0,0 0 0,0 1 0,0 0 0,0 1 0,0 1 0,-1 0 0,1 0 0,0 1 0,-1 1 0,16 9 0,-21-9 0,0 0 0,-1 1 0,0 0 0,0 0 0,-1 0 0,1 1 0,-1 0 0,-1 0 0,1 1 0,-1-1 0,-1 1 0,1 0 0,-1-1 0,-1 2 0,1-1 0,-2 0 0,1 0 0,-1 1 0,0-1 0,-1 1 0,1-1 0,-2 1 0,1-1 0,-1 1 0,-1-1 0,-4 17 0,4-21 0,1 1 0,-1-1 0,0 0 0,-1 1 0,1-1 0,-1 0 0,1 0 0,-1-1 0,0 1 0,-1-1 0,1 1 0,-1-1 0,1 0 0,-8 4 0,-5 3 0,-1-2 0,-25 11 0,15-8 0,9-3 0,0-1 0,-1-1 0,-33 6 0,44-10 0,-1-1 0,1 0 0,0 0 0,-1-1 0,1 0 0,-1-1 0,1 0 0,0 0 0,-1-1 0,1 0 0,-10-4 0,14 3-72,1 0 1,-1-1-1,0 1 0,1-1 0,0 0 0,0 0 0,0 0 0,0 0 1,1-1-1,0 1 0,0-1 0,0 1 0,0-1 0,1 0 0,-1 0 1,1 1-1,0-1 0,0-9 0,-1-4-6754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5T08:30:48.729"/>
    </inkml:context>
    <inkml:brush xml:id="br0">
      <inkml:brushProperty name="width" value="0.05" units="cm"/>
      <inkml:brushProperty name="height" value="0.05" units="cm"/>
      <inkml:brushProperty name="color" value="#E71224"/>
    </inkml:brush>
  </inkml:definitions>
  <inkml:trace contextRef="#ctx0" brushRef="#br0">0 0 24575,'1'71'0,"14"98"0,10 48 0,-25-214-57,0 1 0,0-1 1,1 1-1,-1-1 0,1 1 0,0-1 0,0 1 0,0-1 0,0 1 0,0-1 0,1 0 1,-1 0-1,1 1 0,0-1 0,0 0 0,0-1 0,1 1 0,-1 0 0,1-1 1,-1 1-1,1-1 0,0 0 0,5 3 0,5-1-6769</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5T08:30:54.003"/>
    </inkml:context>
    <inkml:brush xml:id="br0">
      <inkml:brushProperty name="width" value="0.05" units="cm"/>
      <inkml:brushProperty name="height" value="0.05" units="cm"/>
      <inkml:brushProperty name="color" value="#E71224"/>
    </inkml:brush>
  </inkml:definitions>
  <inkml:trace contextRef="#ctx0" brushRef="#br0">242 0 24575,'-5'2'0,"1"0"0,-1 0 0,1 1 0,0 0 0,0-1 0,0 1 0,0 1 0,0-1 0,1 0 0,0 1 0,-7 8 0,0-1 0,-17 19 0,2 1 0,-30 46 0,-9 14 0,63-91 0,0 1 0,1 0 0,-1-1 0,1 1 0,-1 0 0,1-1 0,0 1 0,-1 0 0,1 0 0,-1-1 0,1 1 0,0 0 0,0 0 0,0 0 0,-1-1 0,1 1 0,0 0 0,0 0 0,0 0 0,0 0 0,0-1 0,0 1 0,1 0 0,-1 0 0,0 0 0,0 0 0,1 1 0,0-1 0,0 0 0,1 0 0,-1 1 0,0-1 0,1 0 0,-1 0 0,0 0 0,1 0 0,-1 0 0,1-1 0,0 1 0,-1 0 0,3 0 0,64 11 0,-53-10 0,56 4 0,131-6 0,-81-3 0,-103 2-97,-13 1-1,0-1 1,0 1-1,0 0 1,-1 0-1,1 0 1,0 1-1,0-1 1,-1 1-1,1 0 1,0 1-1,-1-1 0,5 3 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5T08:30:55.019"/>
    </inkml:context>
    <inkml:brush xml:id="br0">
      <inkml:brushProperty name="width" value="0.05" units="cm"/>
      <inkml:brushProperty name="height" value="0.05" units="cm"/>
      <inkml:brushProperty name="color" value="#E71224"/>
    </inkml:brush>
  </inkml:definitions>
  <inkml:trace contextRef="#ctx0" brushRef="#br0">81 1 24575,'-1'0'0,"0"0"0,0 1 0,0 0 0,0-1 0,0 1 0,0-1 0,0 1 0,0 0 0,1 0 0,-1-1 0,0 1 0,1 0 0,-1 0 0,0 0 0,1 0 0,-1 0 0,1 0 0,-1 0 0,1 0 0,0 0 0,0 0 0,-1 2 0,-9 32 0,7-22 0,-1 7 0,0 0 0,1 0 0,1 1 0,1-1 0,1 25 0,1-22 0,-1 0 0,-1-1 0,-8 42 0,-6 40 0,6-33 0,5-17-1365,3-37-5461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5T08:31:02.150"/>
    </inkml:context>
    <inkml:brush xml:id="br0">
      <inkml:brushProperty name="width" value="0.05" units="cm"/>
      <inkml:brushProperty name="height" value="0.05" units="cm"/>
      <inkml:brushProperty name="color" value="#E71224"/>
    </inkml:brush>
  </inkml:definitions>
  <inkml:trace contextRef="#ctx0" brushRef="#br0">32 1 24575,'14'0'0,"0"0"0,1 1 0,-1 1 0,0 1 0,0 0 0,0 1 0,19 7 0,-26-8 0,-1 1 0,1-1 0,-1 1 0,0 0 0,0 0 0,-1 1 0,1-1 0,-1 1 0,0 1 0,0-1 0,-1 1 0,1 0 0,-1 0 0,0 0 0,-1 0 0,4 9 0,-3-4 0,-1 0 0,0 0 0,0 1 0,-1-1 0,-1 1 0,0-1 0,0 1 0,-1 0 0,0 0 0,-1-1 0,-5 23 0,4-28 0,1 1 0,-1-1 0,-1 0 0,1 0 0,-1 0 0,0 0 0,0 0 0,-1-1 0,0 1 0,0-1 0,0 0 0,-1 0 0,1 0 0,-1-1 0,0 0 0,0 0 0,-1 0 0,1 0 0,-1-1 0,0 0 0,0 0 0,-8 2 0,-130 50 0,124-46 0,26-6 0,38-3 0,-27-1 0,2 0 0,0-1 0,0-2 0,36-9 0,-36 7 0,0 1 0,1 1 0,33-2 0,50-4 105,-67 6-840,43-1 0,-62 5-6091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5T08:31:12.036"/>
    </inkml:context>
    <inkml:brush xml:id="br0">
      <inkml:brushProperty name="width" value="0.05" units="cm"/>
      <inkml:brushProperty name="height" value="0.05" units="cm"/>
      <inkml:brushProperty name="color" value="#E71224"/>
    </inkml:brush>
  </inkml:definitions>
  <inkml:trace contextRef="#ctx0" brushRef="#br0">78 0 24575,'-1'8'0,"0"-1"0,0 1 0,0-1 0,-1 0 0,0 0 0,0 0 0,-5 9 0,-7 24 0,13-38 0,1-1 0,0 1 0,-1-1 0,1 1 0,0 0 0,0-1 0,0 1 0,0 0 0,1-1 0,-1 1 0,0-1 0,1 1 0,-1 0 0,1-1 0,-1 1 0,1-1 0,0 1 0,-1-1 0,1 0 0,0 1 0,0-1 0,0 0 0,0 1 0,1-1 0,-1 0 0,0 0 0,0 0 0,1 0 0,-1 0 0,2 0 0,5 4 0,1-2 0,0 1 0,0-1 0,14 3 0,23 9 0,-40-11 0,-1 1 0,1 0 0,-1 0 0,0 0 0,-1 0 0,1 1 0,-1 0 0,0 0 0,-1 0 0,1 0 0,-1 1 0,-1-1 0,1 1 0,-1 0 0,0-1 0,0 1 0,-1 0 0,0 0 0,0 9 0,-1-12 0,1 0 0,-1 0 0,0 0 0,0 0 0,0-1 0,-1 1 0,0 0 0,1 0 0,-1 0 0,-1-1 0,1 1 0,0 0 0,-1-1 0,0 0 0,0 1 0,0-1 0,0 0 0,0 0 0,-1 0 0,1 0 0,-1 0 0,0 0 0,0-1 0,0 0 0,0 1 0,-1-1 0,1 0 0,0-1 0,-1 1 0,1 0 0,-1-1 0,0 0 0,1 0 0,-1 0 0,-7 0 0,6 0-62,-71 3 252,71-4-314,0 0-1,0 0 1,0-1-1,0 1 1,0-1-1,0 0 1,1-1 0,-1 1-1,0-1 1,0 0-1,-8-5 1,5-2-6702</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5T08:31:13.192"/>
    </inkml:context>
    <inkml:brush xml:id="br0">
      <inkml:brushProperty name="width" value="0.05" units="cm"/>
      <inkml:brushProperty name="height" value="0.05" units="cm"/>
      <inkml:brushProperty name="color" value="#E71224"/>
    </inkml:brush>
  </inkml:definitions>
  <inkml:trace contextRef="#ctx0" brushRef="#br0">1 0 24575,'3'0'0,"5"0"0,4 0 0,4 0 0,-1 4 0,0 0 0,1 0 0,1 0 0,2-2 0,-4 3 0,0 0 0,-2 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0286B5-03C6-41D4-B2DC-EA76AD58808D}" type="datetimeFigureOut">
              <a:rPr lang="zh-TW" altLang="en-US" smtClean="0"/>
              <a:t>2023/4/25</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BB21A4-C6D0-470A-943D-BE54FF210D33}" type="slidenum">
              <a:rPr lang="zh-TW" altLang="en-US" smtClean="0"/>
              <a:t>‹#›</a:t>
            </a:fld>
            <a:endParaRPr lang="zh-TW" altLang="en-US"/>
          </a:p>
        </p:txBody>
      </p:sp>
    </p:spTree>
    <p:extLst>
      <p:ext uri="{BB962C8B-B14F-4D97-AF65-F5344CB8AC3E}">
        <p14:creationId xmlns:p14="http://schemas.microsoft.com/office/powerpoint/2010/main" val="291950288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a:t>
            </a:fld>
            <a:endParaRPr lang="zh-TW" altLang="en-US"/>
          </a:p>
        </p:txBody>
      </p:sp>
    </p:spTree>
    <p:extLst>
      <p:ext uri="{BB962C8B-B14F-4D97-AF65-F5344CB8AC3E}">
        <p14:creationId xmlns:p14="http://schemas.microsoft.com/office/powerpoint/2010/main" val="21281374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374151"/>
                </a:solidFill>
                <a:effectLst/>
                <a:latin typeface="Söhne"/>
              </a:rPr>
              <a:t>這篇論文探討了在狹窄的空間走廊中，如何控制多個機器人子群體的移動以實現高效率的通過。</a:t>
            </a:r>
            <a:endParaRPr lang="zh-TW" altLang="en-US" dirty="0"/>
          </a:p>
        </p:txBody>
      </p:sp>
      <p:sp>
        <p:nvSpPr>
          <p:cNvPr id="5" name="投影片編號版面配置區 4">
            <a:extLst>
              <a:ext uri="{FF2B5EF4-FFF2-40B4-BE49-F238E27FC236}">
                <a16:creationId xmlns:a16="http://schemas.microsoft.com/office/drawing/2014/main" id="{78AC45AD-CBA5-47FD-BD77-3A8869F528CF}"/>
              </a:ext>
            </a:extLst>
          </p:cNvPr>
          <p:cNvSpPr>
            <a:spLocks noGrp="1"/>
          </p:cNvSpPr>
          <p:nvPr>
            <p:ph type="sldNum" sz="quarter" idx="5"/>
          </p:nvPr>
        </p:nvSpPr>
        <p:spPr/>
        <p:txBody>
          <a:bodyPr/>
          <a:lstStyle/>
          <a:p>
            <a:fld id="{74BB21A4-C6D0-470A-943D-BE54FF210D33}" type="slidenum">
              <a:rPr lang="zh-TW" altLang="en-US" smtClean="0"/>
              <a:t>2</a:t>
            </a:fld>
            <a:endParaRPr lang="zh-TW" altLang="en-US"/>
          </a:p>
        </p:txBody>
      </p:sp>
    </p:spTree>
    <p:extLst>
      <p:ext uri="{BB962C8B-B14F-4D97-AF65-F5344CB8AC3E}">
        <p14:creationId xmlns:p14="http://schemas.microsoft.com/office/powerpoint/2010/main" val="9532371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3</a:t>
            </a:fld>
            <a:endParaRPr lang="zh-TW" altLang="en-US"/>
          </a:p>
        </p:txBody>
      </p:sp>
    </p:spTree>
    <p:extLst>
      <p:ext uri="{BB962C8B-B14F-4D97-AF65-F5344CB8AC3E}">
        <p14:creationId xmlns:p14="http://schemas.microsoft.com/office/powerpoint/2010/main" val="34709127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333333"/>
                </a:solidFill>
                <a:effectLst/>
                <a:latin typeface="Georgia" panose="02040502050405020303" pitchFamily="18" charset="0"/>
              </a:rPr>
              <a:t>這樣的問題可以不被視為 </a:t>
            </a:r>
            <a:r>
              <a:rPr lang="en-US" altLang="zh-TW" b="0" i="0" dirty="0">
                <a:solidFill>
                  <a:srgbClr val="333333"/>
                </a:solidFill>
                <a:effectLst/>
                <a:latin typeface="Georgia" panose="02040502050405020303" pitchFamily="18" charset="0"/>
              </a:rPr>
              <a:t>3D </a:t>
            </a:r>
            <a:r>
              <a:rPr lang="zh-TW" altLang="en-US" b="0" i="0" dirty="0">
                <a:solidFill>
                  <a:srgbClr val="333333"/>
                </a:solidFill>
                <a:effectLst/>
                <a:latin typeface="Georgia" panose="02040502050405020303" pitchFamily="18" charset="0"/>
              </a:rPr>
              <a:t>任務，而是兩個 </a:t>
            </a:r>
            <a:r>
              <a:rPr lang="en-US" altLang="zh-TW" b="0" i="0" dirty="0">
                <a:solidFill>
                  <a:srgbClr val="333333"/>
                </a:solidFill>
                <a:effectLst/>
                <a:latin typeface="Georgia" panose="02040502050405020303" pitchFamily="18" charset="0"/>
              </a:rPr>
              <a:t>2D TSP </a:t>
            </a:r>
            <a:r>
              <a:rPr lang="zh-TW" altLang="en-US" b="0" i="0" dirty="0">
                <a:solidFill>
                  <a:srgbClr val="333333"/>
                </a:solidFill>
                <a:effectLst/>
                <a:latin typeface="Georgia" panose="02040502050405020303" pitchFamily="18" charset="0"/>
              </a:rPr>
              <a:t>任務的組合：分別在該走廊的左垂直平面和右垂直平面上。</a:t>
            </a:r>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4</a:t>
            </a:fld>
            <a:endParaRPr lang="zh-TW" altLang="en-US"/>
          </a:p>
        </p:txBody>
      </p:sp>
    </p:spTree>
    <p:extLst>
      <p:ext uri="{BB962C8B-B14F-4D97-AF65-F5344CB8AC3E}">
        <p14:creationId xmlns:p14="http://schemas.microsoft.com/office/powerpoint/2010/main" val="18102727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5</a:t>
            </a:fld>
            <a:endParaRPr lang="zh-TW" altLang="en-US"/>
          </a:p>
        </p:txBody>
      </p:sp>
    </p:spTree>
    <p:extLst>
      <p:ext uri="{BB962C8B-B14F-4D97-AF65-F5344CB8AC3E}">
        <p14:creationId xmlns:p14="http://schemas.microsoft.com/office/powerpoint/2010/main" val="24790902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374151"/>
                </a:solidFill>
                <a:effectLst/>
                <a:latin typeface="Söhne"/>
              </a:rPr>
              <a:t>它是一種反饋神經網路，通過連接矩陣來建模，每個神經元在不同時間步上的狀態由其自身和與其他神經元之間的連接權重共同決定。</a:t>
            </a:r>
            <a:endParaRPr lang="en-US" altLang="zh-TW" b="0" i="0" dirty="0">
              <a:solidFill>
                <a:srgbClr val="374151"/>
              </a:solidFill>
              <a:effectLst/>
              <a:latin typeface="Söhne"/>
            </a:endParaRPr>
          </a:p>
          <a:p>
            <a:r>
              <a:rPr lang="zh-TW" altLang="en-US" b="0" i="0" dirty="0">
                <a:solidFill>
                  <a:srgbClr val="374151"/>
                </a:solidFill>
                <a:effectLst/>
                <a:latin typeface="Söhne"/>
              </a:rPr>
              <a:t>基本模型可以表示為一個由</a:t>
            </a:r>
            <a:r>
              <a:rPr lang="en-US" altLang="zh-TW" b="0" i="0" dirty="0">
                <a:solidFill>
                  <a:srgbClr val="374151"/>
                </a:solidFill>
                <a:effectLst/>
                <a:latin typeface="Söhne"/>
              </a:rPr>
              <a:t>N</a:t>
            </a:r>
            <a:r>
              <a:rPr lang="zh-TW" altLang="en-US" b="0" i="0" dirty="0">
                <a:solidFill>
                  <a:srgbClr val="374151"/>
                </a:solidFill>
                <a:effectLst/>
                <a:latin typeface="Söhne"/>
              </a:rPr>
              <a:t>個神經元組成的系統，每個神經元的狀態可以是</a:t>
            </a:r>
            <a:r>
              <a:rPr lang="en-US" altLang="zh-TW" b="0" i="0" dirty="0">
                <a:solidFill>
                  <a:srgbClr val="374151"/>
                </a:solidFill>
                <a:effectLst/>
                <a:latin typeface="Söhne"/>
              </a:rPr>
              <a:t>1</a:t>
            </a:r>
            <a:r>
              <a:rPr lang="zh-TW" altLang="en-US" b="0" i="0" dirty="0">
                <a:solidFill>
                  <a:srgbClr val="374151"/>
                </a:solidFill>
                <a:effectLst/>
                <a:latin typeface="Söhne"/>
              </a:rPr>
              <a:t>或</a:t>
            </a:r>
            <a:r>
              <a:rPr lang="en-US" altLang="zh-TW" b="0" i="0" dirty="0">
                <a:solidFill>
                  <a:srgbClr val="374151"/>
                </a:solidFill>
                <a:effectLst/>
                <a:latin typeface="Söhne"/>
              </a:rPr>
              <a:t>0</a:t>
            </a:r>
            <a:r>
              <a:rPr lang="zh-TW" altLang="en-US" b="0" i="0" dirty="0">
                <a:solidFill>
                  <a:srgbClr val="374151"/>
                </a:solidFill>
                <a:effectLst/>
                <a:latin typeface="Söhne"/>
              </a:rPr>
              <a:t>。每個神經元都與其他神經元相連，其中每個連接的權重由矩陣</a:t>
            </a:r>
            <a:r>
              <a:rPr lang="en-US" altLang="zh-TW" b="0" i="0" dirty="0">
                <a:solidFill>
                  <a:srgbClr val="374151"/>
                </a:solidFill>
                <a:effectLst/>
                <a:latin typeface="Söhne"/>
              </a:rPr>
              <a:t>W</a:t>
            </a:r>
            <a:r>
              <a:rPr lang="zh-TW" altLang="en-US" b="0" i="0" dirty="0">
                <a:solidFill>
                  <a:srgbClr val="374151"/>
                </a:solidFill>
                <a:effectLst/>
                <a:latin typeface="Söhne"/>
              </a:rPr>
              <a:t>表示。</a:t>
            </a:r>
            <a:r>
              <a:rPr lang="en-US" altLang="zh-TW" b="0" i="0" dirty="0">
                <a:solidFill>
                  <a:srgbClr val="374151"/>
                </a:solidFill>
                <a:effectLst/>
                <a:latin typeface="Söhne"/>
              </a:rPr>
              <a:t>Hopfield</a:t>
            </a:r>
            <a:r>
              <a:rPr lang="zh-TW" altLang="en-US" b="0" i="0" dirty="0">
                <a:solidFill>
                  <a:srgbClr val="374151"/>
                </a:solidFill>
                <a:effectLst/>
                <a:latin typeface="Söhne"/>
              </a:rPr>
              <a:t>神經網路的狀態可以在離散時間步上更新，並根據能量函數進行調整。</a:t>
            </a:r>
            <a:endParaRPr lang="en-US" altLang="zh-TW" b="0" i="0" dirty="0">
              <a:solidFill>
                <a:srgbClr val="374151"/>
              </a:solidFill>
              <a:effectLst/>
              <a:latin typeface="Söhne"/>
            </a:endParaRPr>
          </a:p>
          <a:p>
            <a:r>
              <a:rPr lang="en-US" altLang="zh-TW" sz="1200" b="0" i="0" kern="1200" dirty="0">
                <a:solidFill>
                  <a:schemeClr val="tx1"/>
                </a:solidFill>
                <a:effectLst/>
                <a:latin typeface="+mn-lt"/>
                <a:ea typeface="+mn-ea"/>
                <a:cs typeface="+mn-cs"/>
              </a:rPr>
              <a:t>Hopfield</a:t>
            </a:r>
            <a:r>
              <a:rPr lang="zh-TW" altLang="en-US" sz="1200" b="0" i="0" kern="1200" dirty="0">
                <a:solidFill>
                  <a:schemeClr val="tx1"/>
                </a:solidFill>
                <a:effectLst/>
                <a:latin typeface="+mn-lt"/>
                <a:ea typeface="+mn-ea"/>
                <a:cs typeface="+mn-cs"/>
              </a:rPr>
              <a:t>其中最重要的應用之一是解決結合問題。結合問題通常是指在某些限制條件下，尋找一個能夠滿足這些條件的最小化或最大化的解。</a:t>
            </a:r>
            <a:r>
              <a:rPr lang="en-US" altLang="zh-TW" sz="1200" b="0" i="0" kern="1200" dirty="0">
                <a:solidFill>
                  <a:schemeClr val="tx1"/>
                </a:solidFill>
                <a:effectLst/>
                <a:latin typeface="+mn-lt"/>
                <a:ea typeface="+mn-ea"/>
                <a:cs typeface="+mn-cs"/>
              </a:rPr>
              <a:t>Hopfield</a:t>
            </a:r>
            <a:r>
              <a:rPr lang="zh-TW" altLang="en-US" sz="1200" b="0" i="0" kern="1200" dirty="0">
                <a:solidFill>
                  <a:schemeClr val="tx1"/>
                </a:solidFill>
                <a:effectLst/>
                <a:latin typeface="+mn-lt"/>
                <a:ea typeface="+mn-ea"/>
                <a:cs typeface="+mn-cs"/>
              </a:rPr>
              <a:t>神經網路可以在多個變量之間構建相互作用，然後利用狀態反饋來尋找最佳解決方案。</a:t>
            </a:r>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6</a:t>
            </a:fld>
            <a:endParaRPr lang="zh-TW" altLang="en-US"/>
          </a:p>
        </p:txBody>
      </p:sp>
    </p:spTree>
    <p:extLst>
      <p:ext uri="{BB962C8B-B14F-4D97-AF65-F5344CB8AC3E}">
        <p14:creationId xmlns:p14="http://schemas.microsoft.com/office/powerpoint/2010/main" val="32609824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CN" b="0" i="0" dirty="0">
                <a:solidFill>
                  <a:srgbClr val="374151"/>
                </a:solidFill>
                <a:effectLst/>
                <a:latin typeface="Söhne"/>
              </a:rPr>
              <a:t>Hopfield </a:t>
            </a:r>
            <a:r>
              <a:rPr lang="zh-CN" altLang="en-US" b="0" i="0" dirty="0">
                <a:solidFill>
                  <a:srgbClr val="374151"/>
                </a:solidFill>
                <a:effectLst/>
                <a:latin typeface="Söhne"/>
              </a:rPr>
              <a:t>网络可以将 </a:t>
            </a:r>
            <a:r>
              <a:rPr lang="en-US" altLang="zh-CN" b="0" i="0" dirty="0">
                <a:solidFill>
                  <a:srgbClr val="374151"/>
                </a:solidFill>
                <a:effectLst/>
                <a:latin typeface="Söhne"/>
              </a:rPr>
              <a:t>TSP </a:t>
            </a:r>
            <a:r>
              <a:rPr lang="zh-CN" altLang="en-US" b="0" i="0" dirty="0">
                <a:solidFill>
                  <a:srgbClr val="374151"/>
                </a:solidFill>
                <a:effectLst/>
                <a:latin typeface="Söhne"/>
              </a:rPr>
              <a:t>问题转化为一个能量最小化问题。具体来说，每个城市被视为一个神经元，神经元的状态表示这个城市是否在当前路径中。每个神经元之间存在一个连接权值，表示两个城市之间的距离。将神经元的状态和连接权值带入能量函数中，可以得到当前路径的能量值。能量函数越小，表示路径越短。</a:t>
            </a:r>
            <a:endParaRPr lang="en-US" altLang="zh-CN" b="0" i="0" dirty="0">
              <a:solidFill>
                <a:srgbClr val="374151"/>
              </a:solidFill>
              <a:effectLst/>
              <a:latin typeface="Söhne"/>
            </a:endParaRPr>
          </a:p>
          <a:p>
            <a:r>
              <a:rPr lang="zh-TW" altLang="en-US" b="0" i="0" dirty="0">
                <a:solidFill>
                  <a:srgbClr val="374151"/>
                </a:solidFill>
                <a:effectLst/>
                <a:latin typeface="Söhne"/>
              </a:rPr>
              <a:t>然後我們通過將神經元的狀態設置為隨機值來初始化網絡，並運行網絡直到它收斂到穩定狀態。網絡的穩定狀態對應一個哈密頓循環，是</a:t>
            </a:r>
            <a:r>
              <a:rPr lang="en-US" altLang="zh-TW" b="0" i="0" dirty="0">
                <a:solidFill>
                  <a:srgbClr val="374151"/>
                </a:solidFill>
                <a:effectLst/>
                <a:latin typeface="Söhne"/>
              </a:rPr>
              <a:t>TSP</a:t>
            </a:r>
            <a:r>
              <a:rPr lang="zh-TW" altLang="en-US" b="0" i="0" dirty="0">
                <a:solidFill>
                  <a:srgbClr val="374151"/>
                </a:solidFill>
                <a:effectLst/>
                <a:latin typeface="Söhne"/>
              </a:rPr>
              <a:t>問題的最優解。</a:t>
            </a:r>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7</a:t>
            </a:fld>
            <a:endParaRPr lang="zh-TW" altLang="en-US"/>
          </a:p>
        </p:txBody>
      </p:sp>
    </p:spTree>
    <p:extLst>
      <p:ext uri="{BB962C8B-B14F-4D97-AF65-F5344CB8AC3E}">
        <p14:creationId xmlns:p14="http://schemas.microsoft.com/office/powerpoint/2010/main" val="37570634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333333"/>
                </a:solidFill>
                <a:effectLst/>
                <a:latin typeface="Georgia" panose="02040502050405020303" pitchFamily="18" charset="0"/>
              </a:rPr>
              <a:t>這樣的問題可以不被視為 </a:t>
            </a:r>
            <a:r>
              <a:rPr lang="en-US" altLang="zh-TW" b="0" i="0" dirty="0">
                <a:solidFill>
                  <a:srgbClr val="333333"/>
                </a:solidFill>
                <a:effectLst/>
                <a:latin typeface="Georgia" panose="02040502050405020303" pitchFamily="18" charset="0"/>
              </a:rPr>
              <a:t>3D </a:t>
            </a:r>
            <a:r>
              <a:rPr lang="zh-TW" altLang="en-US" b="0" i="0" dirty="0">
                <a:solidFill>
                  <a:srgbClr val="333333"/>
                </a:solidFill>
                <a:effectLst/>
                <a:latin typeface="Georgia" panose="02040502050405020303" pitchFamily="18" charset="0"/>
              </a:rPr>
              <a:t>任務，而是兩個 </a:t>
            </a:r>
            <a:r>
              <a:rPr lang="en-US" altLang="zh-TW" b="0" i="0" dirty="0">
                <a:solidFill>
                  <a:srgbClr val="333333"/>
                </a:solidFill>
                <a:effectLst/>
                <a:latin typeface="Georgia" panose="02040502050405020303" pitchFamily="18" charset="0"/>
              </a:rPr>
              <a:t>2D TSP </a:t>
            </a:r>
            <a:r>
              <a:rPr lang="zh-TW" altLang="en-US" b="0" i="0" dirty="0">
                <a:solidFill>
                  <a:srgbClr val="333333"/>
                </a:solidFill>
                <a:effectLst/>
                <a:latin typeface="Georgia" panose="02040502050405020303" pitchFamily="18" charset="0"/>
              </a:rPr>
              <a:t>任務的組合：分別在該走廊的左垂直平面和右垂直平面上。</a:t>
            </a:r>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8</a:t>
            </a:fld>
            <a:endParaRPr lang="zh-TW" altLang="en-US"/>
          </a:p>
        </p:txBody>
      </p:sp>
    </p:spTree>
    <p:extLst>
      <p:ext uri="{BB962C8B-B14F-4D97-AF65-F5344CB8AC3E}">
        <p14:creationId xmlns:p14="http://schemas.microsoft.com/office/powerpoint/2010/main" val="1000738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333333"/>
                </a:solidFill>
                <a:effectLst/>
                <a:latin typeface="Georgia" panose="02040502050405020303" pitchFamily="18" charset="0"/>
              </a:rPr>
              <a:t>這樣的問題可以不被視為 </a:t>
            </a:r>
            <a:r>
              <a:rPr lang="en-US" altLang="zh-TW" b="0" i="0" dirty="0">
                <a:solidFill>
                  <a:srgbClr val="333333"/>
                </a:solidFill>
                <a:effectLst/>
                <a:latin typeface="Georgia" panose="02040502050405020303" pitchFamily="18" charset="0"/>
              </a:rPr>
              <a:t>3D </a:t>
            </a:r>
            <a:r>
              <a:rPr lang="zh-TW" altLang="en-US" b="0" i="0" dirty="0">
                <a:solidFill>
                  <a:srgbClr val="333333"/>
                </a:solidFill>
                <a:effectLst/>
                <a:latin typeface="Georgia" panose="02040502050405020303" pitchFamily="18" charset="0"/>
              </a:rPr>
              <a:t>任務，而是兩個 </a:t>
            </a:r>
            <a:r>
              <a:rPr lang="en-US" altLang="zh-TW" b="0" i="0" dirty="0">
                <a:solidFill>
                  <a:srgbClr val="333333"/>
                </a:solidFill>
                <a:effectLst/>
                <a:latin typeface="Georgia" panose="02040502050405020303" pitchFamily="18" charset="0"/>
              </a:rPr>
              <a:t>2D TSP </a:t>
            </a:r>
            <a:r>
              <a:rPr lang="zh-TW" altLang="en-US" b="0" i="0" dirty="0">
                <a:solidFill>
                  <a:srgbClr val="333333"/>
                </a:solidFill>
                <a:effectLst/>
                <a:latin typeface="Georgia" panose="02040502050405020303" pitchFamily="18" charset="0"/>
              </a:rPr>
              <a:t>任務的組合：分別在該走廊的左垂直平面和右垂直平面上。</a:t>
            </a:r>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9</a:t>
            </a:fld>
            <a:endParaRPr lang="zh-TW" altLang="en-US"/>
          </a:p>
        </p:txBody>
      </p:sp>
    </p:spTree>
    <p:extLst>
      <p:ext uri="{BB962C8B-B14F-4D97-AF65-F5344CB8AC3E}">
        <p14:creationId xmlns:p14="http://schemas.microsoft.com/office/powerpoint/2010/main" val="23264412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10</a:t>
            </a:fld>
            <a:endParaRPr lang="zh-TW" altLang="en-US"/>
          </a:p>
        </p:txBody>
      </p:sp>
    </p:spTree>
    <p:extLst>
      <p:ext uri="{BB962C8B-B14F-4D97-AF65-F5344CB8AC3E}">
        <p14:creationId xmlns:p14="http://schemas.microsoft.com/office/powerpoint/2010/main" val="14872512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6AED7B-3AC0-43C0-BDB3-2C4AFA9F7389}"/>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D559334D-3BE1-454D-9C46-049A5FE3D8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DF7A35ED-A91A-418B-8EEF-606731AB7C7E}"/>
              </a:ext>
            </a:extLst>
          </p:cNvPr>
          <p:cNvSpPr>
            <a:spLocks noGrp="1"/>
          </p:cNvSpPr>
          <p:nvPr>
            <p:ph type="dt" sz="half" idx="10"/>
          </p:nvPr>
        </p:nvSpPr>
        <p:spPr/>
        <p:txBody>
          <a:bodyPr/>
          <a:lstStyle/>
          <a:p>
            <a:fld id="{E34719EE-CC92-45A1-848A-E62A6F69E5FD}" type="datetime1">
              <a:rPr lang="zh-TW" altLang="en-US" smtClean="0"/>
              <a:t>2023/4/25</a:t>
            </a:fld>
            <a:endParaRPr lang="zh-TW" altLang="en-US"/>
          </a:p>
        </p:txBody>
      </p:sp>
      <p:sp>
        <p:nvSpPr>
          <p:cNvPr id="5" name="頁尾版面配置區 4">
            <a:extLst>
              <a:ext uri="{FF2B5EF4-FFF2-40B4-BE49-F238E27FC236}">
                <a16:creationId xmlns:a16="http://schemas.microsoft.com/office/drawing/2014/main" id="{8F23CF94-5147-4E2D-94FA-D156783F202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FF78306-98C1-4A20-8451-B89524CEFC32}"/>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2788649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630CE7C-B11A-4592-99DC-9295D556CFC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43C089F3-337E-4191-A36B-B85915E374DF}"/>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41B5F5D-1566-460B-B7A8-7789F4ADD5CE}"/>
              </a:ext>
            </a:extLst>
          </p:cNvPr>
          <p:cNvSpPr>
            <a:spLocks noGrp="1"/>
          </p:cNvSpPr>
          <p:nvPr>
            <p:ph type="dt" sz="half" idx="10"/>
          </p:nvPr>
        </p:nvSpPr>
        <p:spPr/>
        <p:txBody>
          <a:bodyPr/>
          <a:lstStyle/>
          <a:p>
            <a:fld id="{2410B330-CB06-4033-8D67-C4343070258D}" type="datetime1">
              <a:rPr lang="zh-TW" altLang="en-US" smtClean="0"/>
              <a:t>2023/4/25</a:t>
            </a:fld>
            <a:endParaRPr lang="zh-TW" altLang="en-US"/>
          </a:p>
        </p:txBody>
      </p:sp>
      <p:sp>
        <p:nvSpPr>
          <p:cNvPr id="5" name="頁尾版面配置區 4">
            <a:extLst>
              <a:ext uri="{FF2B5EF4-FFF2-40B4-BE49-F238E27FC236}">
                <a16:creationId xmlns:a16="http://schemas.microsoft.com/office/drawing/2014/main" id="{8351E327-56EF-4EB4-9B53-5A579EBE194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08C7FCE-3342-4CB2-A64D-A352D2C2821E}"/>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184112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E3A202-ECCD-4387-858D-619D6A0C10A1}"/>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0207F5F8-0D71-4C88-AF0D-4F91124A42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822F8C89-B173-48C4-AA79-F8D0D1713FE4}"/>
              </a:ext>
            </a:extLst>
          </p:cNvPr>
          <p:cNvSpPr>
            <a:spLocks noGrp="1"/>
          </p:cNvSpPr>
          <p:nvPr>
            <p:ph type="dt" sz="half" idx="10"/>
          </p:nvPr>
        </p:nvSpPr>
        <p:spPr/>
        <p:txBody>
          <a:bodyPr/>
          <a:lstStyle/>
          <a:p>
            <a:fld id="{57DE7F20-22FE-4AC5-BB9E-06EA31EBF516}" type="datetime1">
              <a:rPr lang="zh-TW" altLang="en-US" smtClean="0"/>
              <a:t>2023/4/25</a:t>
            </a:fld>
            <a:endParaRPr lang="zh-TW" altLang="en-US"/>
          </a:p>
        </p:txBody>
      </p:sp>
      <p:sp>
        <p:nvSpPr>
          <p:cNvPr id="5" name="頁尾版面配置區 4">
            <a:extLst>
              <a:ext uri="{FF2B5EF4-FFF2-40B4-BE49-F238E27FC236}">
                <a16:creationId xmlns:a16="http://schemas.microsoft.com/office/drawing/2014/main" id="{841A0F6C-077B-4EE8-B87C-AE9C8921202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05D9F22-282D-4976-8BB0-765254681B9C}"/>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409795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9DB818-75A8-4B63-9429-11BAB3087F9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AAE8C4E-C2D1-40BD-80F2-198479EE78DF}"/>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15A9DCA7-BAC7-4C10-B29E-195D85461210}"/>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FA48D530-75DC-40E5-8EF8-661ECE2D38CE}"/>
              </a:ext>
            </a:extLst>
          </p:cNvPr>
          <p:cNvSpPr>
            <a:spLocks noGrp="1"/>
          </p:cNvSpPr>
          <p:nvPr>
            <p:ph type="dt" sz="half" idx="10"/>
          </p:nvPr>
        </p:nvSpPr>
        <p:spPr/>
        <p:txBody>
          <a:bodyPr/>
          <a:lstStyle/>
          <a:p>
            <a:fld id="{E17CD23D-B9C5-4883-A841-45C28286401F}" type="datetime1">
              <a:rPr lang="zh-TW" altLang="en-US" smtClean="0"/>
              <a:t>2023/4/25</a:t>
            </a:fld>
            <a:endParaRPr lang="zh-TW" altLang="en-US"/>
          </a:p>
        </p:txBody>
      </p:sp>
      <p:sp>
        <p:nvSpPr>
          <p:cNvPr id="6" name="頁尾版面配置區 5">
            <a:extLst>
              <a:ext uri="{FF2B5EF4-FFF2-40B4-BE49-F238E27FC236}">
                <a16:creationId xmlns:a16="http://schemas.microsoft.com/office/drawing/2014/main" id="{CC4826B8-E693-43BF-95C5-22E21059581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8AF8187-80C0-4C29-ADB6-DA00CA1DC0CE}"/>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035293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66C6E3-92E0-4351-B2DC-E52F39BD89B2}"/>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618CC00D-5393-41C3-AF1B-041CAF3F1B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B74B4B1B-E61B-46D8-9A90-03280E45DE8E}"/>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3F04706E-A3A2-4316-93FC-42B46B8BA6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A73F1D73-774D-45EB-9450-3CB0C9304736}"/>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4CAC80A6-81BA-47AA-AA43-42EC35F8FAF9}"/>
              </a:ext>
            </a:extLst>
          </p:cNvPr>
          <p:cNvSpPr>
            <a:spLocks noGrp="1"/>
          </p:cNvSpPr>
          <p:nvPr>
            <p:ph type="dt" sz="half" idx="10"/>
          </p:nvPr>
        </p:nvSpPr>
        <p:spPr/>
        <p:txBody>
          <a:bodyPr/>
          <a:lstStyle/>
          <a:p>
            <a:fld id="{0808FB18-E334-40DF-8913-297E53BF38F7}" type="datetime1">
              <a:rPr lang="zh-TW" altLang="en-US" smtClean="0"/>
              <a:t>2023/4/25</a:t>
            </a:fld>
            <a:endParaRPr lang="zh-TW" altLang="en-US"/>
          </a:p>
        </p:txBody>
      </p:sp>
      <p:sp>
        <p:nvSpPr>
          <p:cNvPr id="8" name="頁尾版面配置區 7">
            <a:extLst>
              <a:ext uri="{FF2B5EF4-FFF2-40B4-BE49-F238E27FC236}">
                <a16:creationId xmlns:a16="http://schemas.microsoft.com/office/drawing/2014/main" id="{AE74EAC2-C744-4AE5-AE34-F47FC14CB449}"/>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34328309-436C-45EA-A6EE-D4EF01A3CE95}"/>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9973667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768319E-7001-4D86-9C66-59FF95494D8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94526E76-6DDF-423C-840E-0C29F12161F7}"/>
              </a:ext>
            </a:extLst>
          </p:cNvPr>
          <p:cNvSpPr>
            <a:spLocks noGrp="1"/>
          </p:cNvSpPr>
          <p:nvPr>
            <p:ph type="dt" sz="half" idx="10"/>
          </p:nvPr>
        </p:nvSpPr>
        <p:spPr/>
        <p:txBody>
          <a:bodyPr/>
          <a:lstStyle/>
          <a:p>
            <a:fld id="{8468BF0B-4931-43DB-AFF9-ECAB917261FB}" type="datetime1">
              <a:rPr lang="zh-TW" altLang="en-US" smtClean="0"/>
              <a:t>2023/4/25</a:t>
            </a:fld>
            <a:endParaRPr lang="zh-TW" altLang="en-US"/>
          </a:p>
        </p:txBody>
      </p:sp>
      <p:sp>
        <p:nvSpPr>
          <p:cNvPr id="4" name="頁尾版面配置區 3">
            <a:extLst>
              <a:ext uri="{FF2B5EF4-FFF2-40B4-BE49-F238E27FC236}">
                <a16:creationId xmlns:a16="http://schemas.microsoft.com/office/drawing/2014/main" id="{DD9D2800-CEBA-4036-A26B-CE8FB2EA1AFE}"/>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098B8CC3-87C3-4792-B025-86FEA6CB961B}"/>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2471133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58F7A8DF-7CAF-40EA-A813-9D70AD0E3DE5}"/>
              </a:ext>
            </a:extLst>
          </p:cNvPr>
          <p:cNvSpPr>
            <a:spLocks noGrp="1"/>
          </p:cNvSpPr>
          <p:nvPr>
            <p:ph type="dt" sz="half" idx="10"/>
          </p:nvPr>
        </p:nvSpPr>
        <p:spPr/>
        <p:txBody>
          <a:bodyPr/>
          <a:lstStyle/>
          <a:p>
            <a:fld id="{C30401FB-DC53-4A39-AB71-3E05DF9680A5}" type="datetime1">
              <a:rPr lang="zh-TW" altLang="en-US" smtClean="0"/>
              <a:t>2023/4/25</a:t>
            </a:fld>
            <a:endParaRPr lang="zh-TW" altLang="en-US"/>
          </a:p>
        </p:txBody>
      </p:sp>
      <p:sp>
        <p:nvSpPr>
          <p:cNvPr id="3" name="頁尾版面配置區 2">
            <a:extLst>
              <a:ext uri="{FF2B5EF4-FFF2-40B4-BE49-F238E27FC236}">
                <a16:creationId xmlns:a16="http://schemas.microsoft.com/office/drawing/2014/main" id="{5719E78A-F621-4136-9BC3-87E7F8B2497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45EFECFB-C447-487D-B43B-1B5B71697FBC}"/>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21541828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CCC23B8-75A5-4019-B628-F1C82E5382B2}"/>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199A34CC-502A-423E-932E-39CE4BC555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85DBAFA7-CF5D-40EC-82C2-AC3D0C4C26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69C2E307-A73A-4F80-B550-AE2F641E85EB}"/>
              </a:ext>
            </a:extLst>
          </p:cNvPr>
          <p:cNvSpPr>
            <a:spLocks noGrp="1"/>
          </p:cNvSpPr>
          <p:nvPr>
            <p:ph type="dt" sz="half" idx="10"/>
          </p:nvPr>
        </p:nvSpPr>
        <p:spPr/>
        <p:txBody>
          <a:bodyPr/>
          <a:lstStyle/>
          <a:p>
            <a:fld id="{D3DC3587-5ABE-4311-A519-7F8CF83C098B}" type="datetime1">
              <a:rPr lang="zh-TW" altLang="en-US" smtClean="0"/>
              <a:t>2023/4/25</a:t>
            </a:fld>
            <a:endParaRPr lang="zh-TW" altLang="en-US"/>
          </a:p>
        </p:txBody>
      </p:sp>
      <p:sp>
        <p:nvSpPr>
          <p:cNvPr id="6" name="頁尾版面配置區 5">
            <a:extLst>
              <a:ext uri="{FF2B5EF4-FFF2-40B4-BE49-F238E27FC236}">
                <a16:creationId xmlns:a16="http://schemas.microsoft.com/office/drawing/2014/main" id="{0A3A147B-79C1-412A-B2FF-8D32DF46510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AA629CE-B57F-4520-A533-B44C6A2C8BA5}"/>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796774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7D55816-64E8-462B-A3D7-4453B003379C}"/>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240DF5AE-4B4C-4B45-AC23-AA4CFC3055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F4118706-CAE1-4FEA-B01D-7CE0654D45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2AF1CF92-18B7-4CB0-8C56-AF0B883E3B7B}"/>
              </a:ext>
            </a:extLst>
          </p:cNvPr>
          <p:cNvSpPr>
            <a:spLocks noGrp="1"/>
          </p:cNvSpPr>
          <p:nvPr>
            <p:ph type="dt" sz="half" idx="10"/>
          </p:nvPr>
        </p:nvSpPr>
        <p:spPr/>
        <p:txBody>
          <a:bodyPr/>
          <a:lstStyle/>
          <a:p>
            <a:fld id="{D2DA342B-0A8F-45F2-921C-3FDF514126B7}" type="datetime1">
              <a:rPr lang="zh-TW" altLang="en-US" smtClean="0"/>
              <a:t>2023/4/25</a:t>
            </a:fld>
            <a:endParaRPr lang="zh-TW" altLang="en-US"/>
          </a:p>
        </p:txBody>
      </p:sp>
      <p:sp>
        <p:nvSpPr>
          <p:cNvPr id="6" name="頁尾版面配置區 5">
            <a:extLst>
              <a:ext uri="{FF2B5EF4-FFF2-40B4-BE49-F238E27FC236}">
                <a16:creationId xmlns:a16="http://schemas.microsoft.com/office/drawing/2014/main" id="{2ADBC973-241B-4503-ADCE-06D35A39F1A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1B66D3F1-4059-4827-95C2-E95F79F4187F}"/>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078461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A9D1DF3-8597-4AC3-9592-591615E93AE3}"/>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75D238C8-B4FB-46C1-B87B-DC663D229B15}"/>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D766127-E315-4D91-8EF2-B008095B6E77}"/>
              </a:ext>
            </a:extLst>
          </p:cNvPr>
          <p:cNvSpPr>
            <a:spLocks noGrp="1"/>
          </p:cNvSpPr>
          <p:nvPr>
            <p:ph type="dt" sz="half" idx="10"/>
          </p:nvPr>
        </p:nvSpPr>
        <p:spPr/>
        <p:txBody>
          <a:bodyPr/>
          <a:lstStyle/>
          <a:p>
            <a:fld id="{A6AD3143-C9CF-4834-9DEF-9BC47245ADD3}" type="datetime1">
              <a:rPr lang="zh-TW" altLang="en-US" smtClean="0"/>
              <a:t>2023/4/25</a:t>
            </a:fld>
            <a:endParaRPr lang="zh-TW" altLang="en-US"/>
          </a:p>
        </p:txBody>
      </p:sp>
      <p:sp>
        <p:nvSpPr>
          <p:cNvPr id="5" name="頁尾版面配置區 4">
            <a:extLst>
              <a:ext uri="{FF2B5EF4-FFF2-40B4-BE49-F238E27FC236}">
                <a16:creationId xmlns:a16="http://schemas.microsoft.com/office/drawing/2014/main" id="{8B76B946-7EAB-42DF-A2F5-EACCC43DE19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00A8436-D093-407E-A6F6-4CF3FE749A6B}"/>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1528449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A79C0EB2-FDD9-45F9-BD56-C202BA6F85CC}"/>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2A5302A6-36E0-4F61-95D0-FFF22F355FC8}"/>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FB54F25-B1AD-4B0D-B783-5F7604B3BEA1}"/>
              </a:ext>
            </a:extLst>
          </p:cNvPr>
          <p:cNvSpPr>
            <a:spLocks noGrp="1"/>
          </p:cNvSpPr>
          <p:nvPr>
            <p:ph type="dt" sz="half" idx="10"/>
          </p:nvPr>
        </p:nvSpPr>
        <p:spPr/>
        <p:txBody>
          <a:bodyPr/>
          <a:lstStyle/>
          <a:p>
            <a:fld id="{2FEA573D-32C6-443E-A69A-182A1B82649D}" type="datetime1">
              <a:rPr lang="zh-TW" altLang="en-US" smtClean="0"/>
              <a:t>2023/4/25</a:t>
            </a:fld>
            <a:endParaRPr lang="zh-TW" altLang="en-US"/>
          </a:p>
        </p:txBody>
      </p:sp>
      <p:sp>
        <p:nvSpPr>
          <p:cNvPr id="5" name="頁尾版面配置區 4">
            <a:extLst>
              <a:ext uri="{FF2B5EF4-FFF2-40B4-BE49-F238E27FC236}">
                <a16:creationId xmlns:a16="http://schemas.microsoft.com/office/drawing/2014/main" id="{458B8143-DD91-4913-9BBC-F47FA1D7AE9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827F965-69A7-40AE-AB34-F6BB6055C539}"/>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40276443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7FA6E97-504F-4D83-A00A-ACFAB093FB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C835DDF6-3759-49B7-9B87-FFD02FD5AA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E763631-A33B-462D-B65B-99A0817F5D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735890-F13E-4E65-8362-5C488D5B0D04}" type="datetime1">
              <a:rPr lang="zh-TW" altLang="en-US" smtClean="0"/>
              <a:t>2023/4/25</a:t>
            </a:fld>
            <a:endParaRPr lang="zh-TW" altLang="en-US"/>
          </a:p>
        </p:txBody>
      </p:sp>
      <p:sp>
        <p:nvSpPr>
          <p:cNvPr id="5" name="頁尾版面配置區 4">
            <a:extLst>
              <a:ext uri="{FF2B5EF4-FFF2-40B4-BE49-F238E27FC236}">
                <a16:creationId xmlns:a16="http://schemas.microsoft.com/office/drawing/2014/main" id="{B01C28F1-D551-4915-B007-99BD38614E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B8AB29E7-4E9B-4190-8484-4F45F88BC0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855475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customXml" Target="../ink/ink2.xml"/><Relationship Id="rId13" Type="http://schemas.openxmlformats.org/officeDocument/2006/relationships/image" Target="../media/image10.png"/><Relationship Id="rId18" Type="http://schemas.openxmlformats.org/officeDocument/2006/relationships/customXml" Target="../ink/ink7.xml"/><Relationship Id="rId3" Type="http://schemas.openxmlformats.org/officeDocument/2006/relationships/image" Target="../media/image4.png"/><Relationship Id="rId21" Type="http://schemas.openxmlformats.org/officeDocument/2006/relationships/image" Target="../media/image14.png"/><Relationship Id="rId7" Type="http://schemas.openxmlformats.org/officeDocument/2006/relationships/image" Target="../media/image7.png"/><Relationship Id="rId12" Type="http://schemas.openxmlformats.org/officeDocument/2006/relationships/customXml" Target="../ink/ink4.xml"/><Relationship Id="rId17" Type="http://schemas.openxmlformats.org/officeDocument/2006/relationships/image" Target="../media/image12.png"/><Relationship Id="rId2" Type="http://schemas.openxmlformats.org/officeDocument/2006/relationships/notesSlide" Target="../notesSlides/notesSlide7.xml"/><Relationship Id="rId16" Type="http://schemas.openxmlformats.org/officeDocument/2006/relationships/customXml" Target="../ink/ink6.xml"/><Relationship Id="rId20" Type="http://schemas.openxmlformats.org/officeDocument/2006/relationships/customXml" Target="../ink/ink8.xml"/><Relationship Id="rId1" Type="http://schemas.openxmlformats.org/officeDocument/2006/relationships/slideLayout" Target="../slideLayouts/slideLayout2.xml"/><Relationship Id="rId6" Type="http://schemas.openxmlformats.org/officeDocument/2006/relationships/customXml" Target="../ink/ink1.xml"/><Relationship Id="rId11" Type="http://schemas.openxmlformats.org/officeDocument/2006/relationships/image" Target="../media/image9.png"/><Relationship Id="rId5" Type="http://schemas.openxmlformats.org/officeDocument/2006/relationships/image" Target="../media/image6.png"/><Relationship Id="rId15" Type="http://schemas.openxmlformats.org/officeDocument/2006/relationships/image" Target="../media/image11.png"/><Relationship Id="rId10" Type="http://schemas.openxmlformats.org/officeDocument/2006/relationships/customXml" Target="../ink/ink3.xml"/><Relationship Id="rId19" Type="http://schemas.openxmlformats.org/officeDocument/2006/relationships/image" Target="../media/image13.png"/><Relationship Id="rId4" Type="http://schemas.openxmlformats.org/officeDocument/2006/relationships/image" Target="../media/image5.png"/><Relationship Id="rId9" Type="http://schemas.openxmlformats.org/officeDocument/2006/relationships/image" Target="../media/image8.png"/><Relationship Id="rId14" Type="http://schemas.openxmlformats.org/officeDocument/2006/relationships/customXml" Target="../ink/ink5.xml"/></Relationships>
</file>

<file path=ppt/slides/_rels/slide8.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8B35EA8-3B84-42D5-BAD0-9B2BE5F58BE1}"/>
              </a:ext>
            </a:extLst>
          </p:cNvPr>
          <p:cNvSpPr>
            <a:spLocks noGrp="1"/>
          </p:cNvSpPr>
          <p:nvPr>
            <p:ph type="ctrTitle"/>
          </p:nvPr>
        </p:nvSpPr>
        <p:spPr>
          <a:xfrm>
            <a:off x="1524000" y="932954"/>
            <a:ext cx="9144000" cy="2387600"/>
          </a:xfrm>
        </p:spPr>
        <p:txBody>
          <a:bodyPr>
            <a:noAutofit/>
          </a:bodyPr>
          <a:lstStyle/>
          <a:p>
            <a:r>
              <a:rPr lang="en-US" altLang="zh-TW" sz="4400" b="1" i="0" dirty="0">
                <a:solidFill>
                  <a:srgbClr val="333333"/>
                </a:solidFill>
                <a:effectLst/>
                <a:latin typeface="Times New Roman" panose="02020603050405020304" pitchFamily="18" charset="0"/>
                <a:cs typeface="Times New Roman" panose="02020603050405020304" pitchFamily="18" charset="0"/>
              </a:rPr>
              <a:t>Simulation the </a:t>
            </a:r>
            <a:r>
              <a:rPr lang="en-US" altLang="zh-TW" sz="4400" b="1" dirty="0">
                <a:solidFill>
                  <a:srgbClr val="333333"/>
                </a:solidFill>
                <a:latin typeface="Times New Roman" panose="02020603050405020304" pitchFamily="18" charset="0"/>
                <a:cs typeface="Times New Roman" panose="02020603050405020304" pitchFamily="18" charset="0"/>
              </a:rPr>
              <a:t>B</a:t>
            </a:r>
            <a:r>
              <a:rPr lang="en-US" altLang="zh-TW" sz="4400" b="1" i="0" dirty="0">
                <a:solidFill>
                  <a:srgbClr val="333333"/>
                </a:solidFill>
                <a:effectLst/>
                <a:latin typeface="Times New Roman" panose="02020603050405020304" pitchFamily="18" charset="0"/>
                <a:cs typeface="Times New Roman" panose="02020603050405020304" pitchFamily="18" charset="0"/>
              </a:rPr>
              <a:t>ehavior of Robot </a:t>
            </a:r>
            <a:r>
              <a:rPr lang="en-US" altLang="zh-TW" sz="4400" b="1" dirty="0">
                <a:solidFill>
                  <a:srgbClr val="333333"/>
                </a:solidFill>
                <a:latin typeface="Times New Roman" panose="02020603050405020304" pitchFamily="18" charset="0"/>
                <a:cs typeface="Times New Roman" panose="02020603050405020304" pitchFamily="18" charset="0"/>
              </a:rPr>
              <a:t>S</a:t>
            </a:r>
            <a:r>
              <a:rPr lang="en-US" altLang="zh-TW" sz="4400" b="1" i="0" dirty="0">
                <a:solidFill>
                  <a:srgbClr val="333333"/>
                </a:solidFill>
                <a:effectLst/>
                <a:latin typeface="Times New Roman" panose="02020603050405020304" pitchFamily="18" charset="0"/>
                <a:cs typeface="Times New Roman" panose="02020603050405020304" pitchFamily="18" charset="0"/>
              </a:rPr>
              <a:t>ub-Swarm in Spatial </a:t>
            </a:r>
            <a:r>
              <a:rPr lang="en-US" altLang="zh-TW" sz="4400" b="1" dirty="0">
                <a:solidFill>
                  <a:srgbClr val="333333"/>
                </a:solidFill>
                <a:latin typeface="Times New Roman" panose="02020603050405020304" pitchFamily="18" charset="0"/>
                <a:cs typeface="Times New Roman" panose="02020603050405020304" pitchFamily="18" charset="0"/>
              </a:rPr>
              <a:t>C</a:t>
            </a:r>
            <a:r>
              <a:rPr lang="en-US" altLang="zh-TW" sz="4400" b="1" i="0" dirty="0">
                <a:solidFill>
                  <a:srgbClr val="333333"/>
                </a:solidFill>
                <a:effectLst/>
                <a:latin typeface="Times New Roman" panose="02020603050405020304" pitchFamily="18" charset="0"/>
                <a:cs typeface="Times New Roman" panose="02020603050405020304" pitchFamily="18" charset="0"/>
              </a:rPr>
              <a:t>orridors</a:t>
            </a:r>
          </a:p>
        </p:txBody>
      </p:sp>
      <p:sp>
        <p:nvSpPr>
          <p:cNvPr id="3" name="副標題 2">
            <a:extLst>
              <a:ext uri="{FF2B5EF4-FFF2-40B4-BE49-F238E27FC236}">
                <a16:creationId xmlns:a16="http://schemas.microsoft.com/office/drawing/2014/main" id="{4E6F3D17-E5C7-4A7C-946D-5608813E8227}"/>
              </a:ext>
            </a:extLst>
          </p:cNvPr>
          <p:cNvSpPr>
            <a:spLocks noGrp="1"/>
          </p:cNvSpPr>
          <p:nvPr>
            <p:ph type="subTitle" idx="1"/>
          </p:nvPr>
        </p:nvSpPr>
        <p:spPr>
          <a:xfrm>
            <a:off x="1524000" y="3858821"/>
            <a:ext cx="9144000" cy="1655762"/>
          </a:xfrm>
        </p:spPr>
        <p:txBody>
          <a:bodyPr/>
          <a:lstStyle/>
          <a:p>
            <a:r>
              <a:rPr lang="fi-FI" altLang="zh-TW" b="0" i="0" u="none" strike="noStrike" dirty="0">
                <a:effectLst/>
                <a:latin typeface="Times New Roman" panose="02020603050405020304" pitchFamily="18" charset="0"/>
                <a:cs typeface="Times New Roman" panose="02020603050405020304" pitchFamily="18" charset="0"/>
              </a:rPr>
              <a:t>M. P. Musiyenko, I. M. Zhuravska, I. V. Kulakovska, A. V. Kulakovska</a:t>
            </a:r>
          </a:p>
          <a:p>
            <a:r>
              <a:rPr lang="en-US" altLang="zh-TW" b="0" i="0" u="none" strike="noStrike" dirty="0">
                <a:effectLst/>
                <a:latin typeface="Times New Roman" panose="02020603050405020304" pitchFamily="18" charset="0"/>
                <a:cs typeface="Times New Roman" panose="02020603050405020304" pitchFamily="18" charset="0"/>
              </a:rPr>
              <a:t>2016 IEEE 36th International Conference on Electronics and Nanotechnology (ELNANO). IEEE, 2016.</a:t>
            </a:r>
            <a:endParaRPr lang="zh-TW" altLang="en-US" dirty="0">
              <a:latin typeface="Times New Roman" panose="02020603050405020304" pitchFamily="18" charset="0"/>
              <a:cs typeface="Times New Roman" panose="02020603050405020304" pitchFamily="18" charset="0"/>
            </a:endParaRPr>
          </a:p>
        </p:txBody>
      </p:sp>
      <p:sp>
        <p:nvSpPr>
          <p:cNvPr id="4" name="Google Shape;56;p13">
            <a:extLst>
              <a:ext uri="{FF2B5EF4-FFF2-40B4-BE49-F238E27FC236}">
                <a16:creationId xmlns:a16="http://schemas.microsoft.com/office/drawing/2014/main" id="{06C1D35A-D785-485D-9332-2BCA50B420B3}"/>
              </a:ext>
            </a:extLst>
          </p:cNvPr>
          <p:cNvSpPr txBox="1"/>
          <p:nvPr/>
        </p:nvSpPr>
        <p:spPr>
          <a:xfrm>
            <a:off x="7904957" y="5834548"/>
            <a:ext cx="3920100" cy="800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zh-TW" sz="2000" dirty="0">
                <a:latin typeface="Times New Roman"/>
                <a:ea typeface="Times New Roman"/>
                <a:cs typeface="Times New Roman"/>
                <a:sym typeface="Times New Roman"/>
              </a:rPr>
              <a:t>Presenter: </a:t>
            </a:r>
            <a:r>
              <a:rPr lang="en-US" altLang="zh-TW" sz="2000" dirty="0">
                <a:latin typeface="Times New Roman"/>
                <a:ea typeface="Times New Roman"/>
                <a:cs typeface="Times New Roman"/>
                <a:sym typeface="Times New Roman"/>
              </a:rPr>
              <a:t>Yu-Chen Lin</a:t>
            </a:r>
            <a:endParaRPr sz="2000" dirty="0">
              <a:latin typeface="Times New Roman"/>
              <a:ea typeface="Times New Roman"/>
              <a:cs typeface="Times New Roman"/>
              <a:sym typeface="Times New Roman"/>
            </a:endParaRPr>
          </a:p>
          <a:p>
            <a:pPr marL="0" lvl="0" indent="0" algn="r" rtl="0">
              <a:spcBef>
                <a:spcPts val="0"/>
              </a:spcBef>
              <a:spcAft>
                <a:spcPts val="0"/>
              </a:spcAft>
              <a:buNone/>
            </a:pPr>
            <a:r>
              <a:rPr lang="zh-TW" sz="2000" dirty="0">
                <a:latin typeface="Times New Roman"/>
                <a:ea typeface="Times New Roman"/>
                <a:cs typeface="Times New Roman"/>
                <a:sym typeface="Times New Roman"/>
              </a:rPr>
              <a:t>Date: </a:t>
            </a:r>
            <a:r>
              <a:rPr lang="en-US" altLang="zh-TW" sz="2000" dirty="0">
                <a:latin typeface="Times New Roman"/>
                <a:ea typeface="Times New Roman"/>
                <a:cs typeface="Times New Roman"/>
                <a:sym typeface="Times New Roman"/>
              </a:rPr>
              <a:t>Apr.</a:t>
            </a:r>
            <a:r>
              <a:rPr lang="zh-TW" sz="2000" dirty="0">
                <a:latin typeface="Times New Roman"/>
                <a:ea typeface="Times New Roman"/>
                <a:cs typeface="Times New Roman"/>
                <a:sym typeface="Times New Roman"/>
              </a:rPr>
              <a:t> </a:t>
            </a:r>
            <a:r>
              <a:rPr lang="en-US" altLang="zh-TW" sz="2000" dirty="0">
                <a:latin typeface="Times New Roman"/>
                <a:ea typeface="Times New Roman"/>
                <a:cs typeface="Times New Roman"/>
                <a:sym typeface="Times New Roman"/>
              </a:rPr>
              <a:t>25</a:t>
            </a:r>
            <a:r>
              <a:rPr lang="zh-TW" sz="2000" dirty="0">
                <a:latin typeface="Times New Roman"/>
                <a:ea typeface="Times New Roman"/>
                <a:cs typeface="Times New Roman"/>
                <a:sym typeface="Times New Roman"/>
              </a:rPr>
              <a:t>, 202</a:t>
            </a:r>
            <a:r>
              <a:rPr lang="en-US" altLang="zh-TW" sz="2000" dirty="0">
                <a:latin typeface="Times New Roman"/>
                <a:ea typeface="Times New Roman"/>
                <a:cs typeface="Times New Roman"/>
                <a:sym typeface="Times New Roman"/>
              </a:rPr>
              <a:t>3</a:t>
            </a:r>
            <a:endParaRPr sz="20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2988558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DA6C9D-47B3-4859-86BB-23AC7F205200}"/>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Abstract</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838200" y="1825625"/>
            <a:ext cx="10515600" cy="4351338"/>
          </a:xfrm>
        </p:spPr>
        <p:txBody>
          <a:bodyPr>
            <a:normAutofit fontScale="92500" lnSpcReduction="10000"/>
          </a:bodyPr>
          <a:lstStyle/>
          <a:p>
            <a:pPr marL="0" indent="0">
              <a:buNone/>
            </a:pPr>
            <a:r>
              <a:rPr lang="en-US" altLang="zh-TW" sz="2400" dirty="0">
                <a:latin typeface="Times New Roman" panose="02020603050405020304" pitchFamily="18" charset="0"/>
                <a:cs typeface="Times New Roman" panose="02020603050405020304" pitchFamily="18" charset="0"/>
              </a:rPr>
              <a:t>	</a:t>
            </a:r>
            <a:r>
              <a:rPr lang="en-US" altLang="zh-TW" sz="3100" b="0" i="0" dirty="0">
                <a:solidFill>
                  <a:srgbClr val="333333"/>
                </a:solidFill>
                <a:effectLst/>
                <a:latin typeface="Times New Roman" panose="02020603050405020304" pitchFamily="18" charset="0"/>
                <a:cs typeface="Times New Roman" panose="02020603050405020304" pitchFamily="18" charset="0"/>
              </a:rPr>
              <a:t>The article presents simulation of the robot swarm behavior, taking into consideration the model of robots dividing into sub-swarms to perform similar tasks within a limited spatial corridor. To avoid robots crashing with each other, the authors propose to use the three-dimensional (3D) bodies (sphere) instead of spatial points in the traveling salesman problem (TSP) solution. For simplifying the solution of such problem, it is proposed to solve 3D problem via concatenation of solving two 2D problems of moving sphere, as "salesmen" move in planes, limiting the spatial corridors. The sphere in this case moves on the vertical plane notwithstanding the spatial corridors. The proposed simulation model of the swarm robots behavior is described as dynamic smart system.</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EA17709-B430-4C39-BA3E-3B197A236ABD}"/>
              </a:ext>
            </a:extLst>
          </p:cNvPr>
          <p:cNvSpPr>
            <a:spLocks noGrp="1"/>
          </p:cNvSpPr>
          <p:nvPr>
            <p:ph type="sldNum" sz="quarter" idx="12"/>
          </p:nvPr>
        </p:nvSpPr>
        <p:spPr/>
        <p:txBody>
          <a:bodyPr/>
          <a:lstStyle/>
          <a:p>
            <a:fld id="{9DF9D401-8BA7-4D7F-85FE-8907E913F1E1}" type="slidenum">
              <a:rPr lang="zh-TW" altLang="en-US" smtClean="0"/>
              <a:t>2</a:t>
            </a:fld>
            <a:endParaRPr lang="zh-TW" altLang="en-US"/>
          </a:p>
        </p:txBody>
      </p:sp>
    </p:spTree>
    <p:extLst>
      <p:ext uri="{BB962C8B-B14F-4D97-AF65-F5344CB8AC3E}">
        <p14:creationId xmlns:p14="http://schemas.microsoft.com/office/powerpoint/2010/main" val="21023506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862583-AD7A-491F-998B-578B9E28D947}"/>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Problem Description</a:t>
            </a:r>
            <a:endParaRPr lang="zh-TW" altLang="en-US" b="1" dirty="0"/>
          </a:p>
        </p:txBody>
      </p:sp>
      <p:sp>
        <p:nvSpPr>
          <p:cNvPr id="4" name="投影片編號版面配置區 3">
            <a:extLst>
              <a:ext uri="{FF2B5EF4-FFF2-40B4-BE49-F238E27FC236}">
                <a16:creationId xmlns:a16="http://schemas.microsoft.com/office/drawing/2014/main" id="{7B6922FD-7BA3-4D6A-91BC-84CAB032E319}"/>
              </a:ext>
            </a:extLst>
          </p:cNvPr>
          <p:cNvSpPr>
            <a:spLocks noGrp="1"/>
          </p:cNvSpPr>
          <p:nvPr>
            <p:ph type="sldNum" sz="quarter" idx="12"/>
          </p:nvPr>
        </p:nvSpPr>
        <p:spPr/>
        <p:txBody>
          <a:bodyPr/>
          <a:lstStyle/>
          <a:p>
            <a:fld id="{55935506-5D51-4B07-8BDD-18CEF4E05E0A}" type="slidenum">
              <a:rPr lang="zh-TW" altLang="en-US" smtClean="0"/>
              <a:t>3</a:t>
            </a:fld>
            <a:endParaRPr lang="zh-TW" altLang="en-US" dirty="0"/>
          </a:p>
        </p:txBody>
      </p:sp>
      <p:pic>
        <p:nvPicPr>
          <p:cNvPr id="1026" name="Picture 2">
            <a:extLst>
              <a:ext uri="{FF2B5EF4-FFF2-40B4-BE49-F238E27FC236}">
                <a16:creationId xmlns:a16="http://schemas.microsoft.com/office/drawing/2014/main" id="{39CF7FF4-1111-F987-47EE-3F8ACBD9F0D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 r="-232" b="50363"/>
          <a:stretch/>
        </p:blipFill>
        <p:spPr bwMode="auto">
          <a:xfrm>
            <a:off x="2572342" y="2000250"/>
            <a:ext cx="7047316" cy="43560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6939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862583-AD7A-491F-998B-578B9E28D947}"/>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Problem Description</a:t>
            </a:r>
            <a:endParaRPr lang="zh-TW" altLang="en-US" b="1" dirty="0"/>
          </a:p>
        </p:txBody>
      </p:sp>
      <p:sp>
        <p:nvSpPr>
          <p:cNvPr id="4" name="投影片編號版面配置區 3">
            <a:extLst>
              <a:ext uri="{FF2B5EF4-FFF2-40B4-BE49-F238E27FC236}">
                <a16:creationId xmlns:a16="http://schemas.microsoft.com/office/drawing/2014/main" id="{7B6922FD-7BA3-4D6A-91BC-84CAB032E319}"/>
              </a:ext>
            </a:extLst>
          </p:cNvPr>
          <p:cNvSpPr>
            <a:spLocks noGrp="1"/>
          </p:cNvSpPr>
          <p:nvPr>
            <p:ph type="sldNum" sz="quarter" idx="12"/>
          </p:nvPr>
        </p:nvSpPr>
        <p:spPr/>
        <p:txBody>
          <a:bodyPr/>
          <a:lstStyle/>
          <a:p>
            <a:fld id="{55935506-5D51-4B07-8BDD-18CEF4E05E0A}" type="slidenum">
              <a:rPr lang="zh-TW" altLang="en-US" smtClean="0"/>
              <a:t>4</a:t>
            </a:fld>
            <a:endParaRPr lang="zh-TW" altLang="en-US" dirty="0"/>
          </a:p>
        </p:txBody>
      </p:sp>
      <p:pic>
        <p:nvPicPr>
          <p:cNvPr id="1026" name="Picture 2">
            <a:extLst>
              <a:ext uri="{FF2B5EF4-FFF2-40B4-BE49-F238E27FC236}">
                <a16:creationId xmlns:a16="http://schemas.microsoft.com/office/drawing/2014/main" id="{39CF7FF4-1111-F987-47EE-3F8ACBD9F0D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4" t="50364" r="-114" b="-1556"/>
          <a:stretch/>
        </p:blipFill>
        <p:spPr bwMode="auto">
          <a:xfrm>
            <a:off x="2572342" y="1935957"/>
            <a:ext cx="7047316" cy="44926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32258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1D73AE85-C521-0826-01B5-B5F417C00900}"/>
              </a:ext>
            </a:extLst>
          </p:cNvPr>
          <p:cNvSpPr>
            <a:spLocks noGrp="1"/>
          </p:cNvSpPr>
          <p:nvPr>
            <p:ph type="sldNum" sz="quarter" idx="12"/>
          </p:nvPr>
        </p:nvSpPr>
        <p:spPr/>
        <p:txBody>
          <a:bodyPr/>
          <a:lstStyle/>
          <a:p>
            <a:fld id="{55935506-5D51-4B07-8BDD-18CEF4E05E0A}" type="slidenum">
              <a:rPr lang="zh-TW" altLang="en-US" smtClean="0"/>
              <a:t>5</a:t>
            </a:fld>
            <a:endParaRPr lang="zh-TW" altLang="en-US"/>
          </a:p>
        </p:txBody>
      </p:sp>
      <p:pic>
        <p:nvPicPr>
          <p:cNvPr id="2050" name="Picture 2">
            <a:extLst>
              <a:ext uri="{FF2B5EF4-FFF2-40B4-BE49-F238E27FC236}">
                <a16:creationId xmlns:a16="http://schemas.microsoft.com/office/drawing/2014/main" id="{31075D07-8F71-64E4-84B2-B247C95A61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0750" y="895350"/>
            <a:ext cx="7810500" cy="5067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01215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1D73AE85-C521-0826-01B5-B5F417C00900}"/>
              </a:ext>
            </a:extLst>
          </p:cNvPr>
          <p:cNvSpPr>
            <a:spLocks noGrp="1"/>
          </p:cNvSpPr>
          <p:nvPr>
            <p:ph type="sldNum" sz="quarter" idx="12"/>
          </p:nvPr>
        </p:nvSpPr>
        <p:spPr/>
        <p:txBody>
          <a:bodyPr/>
          <a:lstStyle/>
          <a:p>
            <a:fld id="{55935506-5D51-4B07-8BDD-18CEF4E05E0A}" type="slidenum">
              <a:rPr lang="zh-TW" altLang="en-US" smtClean="0"/>
              <a:t>6</a:t>
            </a:fld>
            <a:endParaRPr lang="zh-TW" altLang="en-US"/>
          </a:p>
        </p:txBody>
      </p:sp>
      <p:sp>
        <p:nvSpPr>
          <p:cNvPr id="5" name="標題 1">
            <a:extLst>
              <a:ext uri="{FF2B5EF4-FFF2-40B4-BE49-F238E27FC236}">
                <a16:creationId xmlns:a16="http://schemas.microsoft.com/office/drawing/2014/main" id="{76273D17-AB1E-9B06-228A-2C20729A2299}"/>
              </a:ext>
            </a:extLst>
          </p:cNvPr>
          <p:cNvSpPr>
            <a:spLocks noGrp="1"/>
          </p:cNvSpPr>
          <p:nvPr>
            <p:ph type="title"/>
          </p:nvPr>
        </p:nvSpPr>
        <p:spPr>
          <a:xfrm>
            <a:off x="838200" y="365125"/>
            <a:ext cx="10515600" cy="1325563"/>
          </a:xfrm>
        </p:spPr>
        <p:txBody>
          <a:bodyPr/>
          <a:lstStyle/>
          <a:p>
            <a:pPr algn="ctr"/>
            <a:r>
              <a:rPr lang="en-US" altLang="zh-TW" b="1" dirty="0">
                <a:solidFill>
                  <a:srgbClr val="292929"/>
                </a:solidFill>
                <a:latin typeface="Times New Roman" panose="02020603050405020304" pitchFamily="18" charset="0"/>
                <a:cs typeface="Times New Roman" panose="02020603050405020304" pitchFamily="18" charset="0"/>
              </a:rPr>
              <a:t>Hopfield</a:t>
            </a:r>
            <a:endParaRPr lang="zh-TW" altLang="en-US" dirty="0">
              <a:latin typeface="Times New Roman" panose="02020603050405020304" pitchFamily="18" charset="0"/>
              <a:cs typeface="Times New Roman" panose="02020603050405020304" pitchFamily="18" charset="0"/>
            </a:endParaRPr>
          </a:p>
        </p:txBody>
      </p:sp>
      <p:sp>
        <p:nvSpPr>
          <p:cNvPr id="2" name="內容版面配置區 2">
            <a:extLst>
              <a:ext uri="{FF2B5EF4-FFF2-40B4-BE49-F238E27FC236}">
                <a16:creationId xmlns:a16="http://schemas.microsoft.com/office/drawing/2014/main" id="{E0590FA1-63CC-5AAA-611D-C83573D32D79}"/>
              </a:ext>
            </a:extLst>
          </p:cNvPr>
          <p:cNvSpPr>
            <a:spLocks noGrp="1"/>
          </p:cNvSpPr>
          <p:nvPr>
            <p:ph idx="1"/>
          </p:nvPr>
        </p:nvSpPr>
        <p:spPr>
          <a:xfrm>
            <a:off x="838200" y="1825625"/>
            <a:ext cx="10515600" cy="4351338"/>
          </a:xfrm>
        </p:spPr>
        <p:txBody>
          <a:bodyPr>
            <a:normAutofit/>
          </a:bodyPr>
          <a:lstStyle/>
          <a:p>
            <a:pPr algn="l"/>
            <a:r>
              <a:rPr lang="en-US" altLang="zh-TW" sz="2400" dirty="0">
                <a:solidFill>
                  <a:srgbClr val="333333"/>
                </a:solidFill>
                <a:latin typeface="Times New Roman" panose="02020603050405020304" pitchFamily="18" charset="0"/>
                <a:cs typeface="Times New Roman" panose="02020603050405020304" pitchFamily="18" charset="0"/>
              </a:rPr>
              <a:t>A form of recurrent artificial neural network</a:t>
            </a:r>
          </a:p>
          <a:p>
            <a:pPr algn="l"/>
            <a:r>
              <a:rPr lang="en-US" altLang="zh-TW" sz="2400" dirty="0">
                <a:solidFill>
                  <a:srgbClr val="333333"/>
                </a:solidFill>
                <a:latin typeface="Times New Roman" panose="02020603050405020304" pitchFamily="18" charset="0"/>
                <a:cs typeface="Times New Roman" panose="02020603050405020304" pitchFamily="18" charset="0"/>
              </a:rPr>
              <a:t>Can be used for optimization and pattern recognition tasks.</a:t>
            </a:r>
          </a:p>
        </p:txBody>
      </p:sp>
      <p:pic>
        <p:nvPicPr>
          <p:cNvPr id="5124" name="Picture 4" descr="不明確的">
            <a:extLst>
              <a:ext uri="{FF2B5EF4-FFF2-40B4-BE49-F238E27FC236}">
                <a16:creationId xmlns:a16="http://schemas.microsoft.com/office/drawing/2014/main" id="{AF19C4EB-DF6A-EA8C-2FE0-5BC58E4F31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90891" y="2907505"/>
            <a:ext cx="3410217" cy="39004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0476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2E813E27-961A-849F-1355-6002D655EF64}"/>
              </a:ext>
            </a:extLst>
          </p:cNvPr>
          <p:cNvSpPr>
            <a:spLocks noGrp="1"/>
          </p:cNvSpPr>
          <p:nvPr>
            <p:ph type="sldNum" sz="quarter" idx="12"/>
          </p:nvPr>
        </p:nvSpPr>
        <p:spPr/>
        <p:txBody>
          <a:bodyPr/>
          <a:lstStyle/>
          <a:p>
            <a:fld id="{55935506-5D51-4B07-8BDD-18CEF4E05E0A}" type="slidenum">
              <a:rPr lang="zh-TW" altLang="en-US" smtClean="0"/>
              <a:t>7</a:t>
            </a:fld>
            <a:endParaRPr lang="zh-TW" altLang="en-US"/>
          </a:p>
        </p:txBody>
      </p:sp>
      <p:pic>
        <p:nvPicPr>
          <p:cNvPr id="6146" name="Picture 2" descr="Optimization Using Hopfield Network">
            <a:extLst>
              <a:ext uri="{FF2B5EF4-FFF2-40B4-BE49-F238E27FC236}">
                <a16:creationId xmlns:a16="http://schemas.microsoft.com/office/drawing/2014/main" id="{6A1719E3-179E-40AA-CF11-64B1FF39FE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840" y="516681"/>
            <a:ext cx="3274219" cy="2655144"/>
          </a:xfrm>
          <a:prstGeom prst="rect">
            <a:avLst/>
          </a:prstGeom>
          <a:noFill/>
          <a:extLst>
            <a:ext uri="{909E8E84-426E-40DD-AFC4-6F175D3DCCD1}">
              <a14:hiddenFill xmlns:a14="http://schemas.microsoft.com/office/drawing/2010/main">
                <a:solidFill>
                  <a:srgbClr val="FFFFFF"/>
                </a:solidFill>
              </a14:hiddenFill>
            </a:ext>
          </a:extLst>
        </p:spPr>
      </p:pic>
      <p:pic>
        <p:nvPicPr>
          <p:cNvPr id="6" name="圖片 5">
            <a:extLst>
              <a:ext uri="{FF2B5EF4-FFF2-40B4-BE49-F238E27FC236}">
                <a16:creationId xmlns:a16="http://schemas.microsoft.com/office/drawing/2014/main" id="{212E9535-5B01-9C1F-1405-E5F1CCC8BF77}"/>
              </a:ext>
            </a:extLst>
          </p:cNvPr>
          <p:cNvPicPr>
            <a:picLocks noChangeAspect="1"/>
          </p:cNvPicPr>
          <p:nvPr/>
        </p:nvPicPr>
        <p:blipFill>
          <a:blip r:embed="rId4"/>
          <a:stretch>
            <a:fillRect/>
          </a:stretch>
        </p:blipFill>
        <p:spPr>
          <a:xfrm>
            <a:off x="962024" y="3686176"/>
            <a:ext cx="2609850" cy="447675"/>
          </a:xfrm>
          <a:prstGeom prst="rect">
            <a:avLst/>
          </a:prstGeom>
        </p:spPr>
      </p:pic>
      <p:pic>
        <p:nvPicPr>
          <p:cNvPr id="10" name="圖片 9">
            <a:extLst>
              <a:ext uri="{FF2B5EF4-FFF2-40B4-BE49-F238E27FC236}">
                <a16:creationId xmlns:a16="http://schemas.microsoft.com/office/drawing/2014/main" id="{95E960BA-6056-018D-17C0-3D6ACA707B7C}"/>
              </a:ext>
            </a:extLst>
          </p:cNvPr>
          <p:cNvPicPr>
            <a:picLocks noChangeAspect="1"/>
          </p:cNvPicPr>
          <p:nvPr/>
        </p:nvPicPr>
        <p:blipFill>
          <a:blip r:embed="rId5"/>
          <a:stretch>
            <a:fillRect/>
          </a:stretch>
        </p:blipFill>
        <p:spPr>
          <a:xfrm>
            <a:off x="846534" y="4536282"/>
            <a:ext cx="3057525" cy="1885950"/>
          </a:xfrm>
          <a:prstGeom prst="rect">
            <a:avLst/>
          </a:prstGeom>
        </p:spPr>
      </p:pic>
      <mc:AlternateContent xmlns:mc="http://schemas.openxmlformats.org/markup-compatibility/2006" xmlns:p14="http://schemas.microsoft.com/office/powerpoint/2010/main">
        <mc:Choice Requires="p14">
          <p:contentPart p14:bwMode="auto" r:id="rId6">
            <p14:nvContentPartPr>
              <p14:cNvPr id="22" name="筆跡 21">
                <a:extLst>
                  <a:ext uri="{FF2B5EF4-FFF2-40B4-BE49-F238E27FC236}">
                    <a16:creationId xmlns:a16="http://schemas.microsoft.com/office/drawing/2014/main" id="{5603DACE-3BA7-4F20-A3AF-CCB68C2ACB9D}"/>
                  </a:ext>
                </a:extLst>
              </p14:cNvPr>
              <p14:cNvContentPartPr/>
              <p14:nvPr/>
            </p14:nvContentPartPr>
            <p14:xfrm>
              <a:off x="2088360" y="848565"/>
              <a:ext cx="218520" cy="137520"/>
            </p14:xfrm>
          </p:contentPart>
        </mc:Choice>
        <mc:Fallback xmlns="">
          <p:pic>
            <p:nvPicPr>
              <p:cNvPr id="22" name="筆跡 21">
                <a:extLst>
                  <a:ext uri="{FF2B5EF4-FFF2-40B4-BE49-F238E27FC236}">
                    <a16:creationId xmlns:a16="http://schemas.microsoft.com/office/drawing/2014/main" id="{5603DACE-3BA7-4F20-A3AF-CCB68C2ACB9D}"/>
                  </a:ext>
                </a:extLst>
              </p:cNvPr>
              <p:cNvPicPr/>
              <p:nvPr/>
            </p:nvPicPr>
            <p:blipFill>
              <a:blip r:embed="rId7"/>
              <a:stretch>
                <a:fillRect/>
              </a:stretch>
            </p:blipFill>
            <p:spPr>
              <a:xfrm>
                <a:off x="2079360" y="839925"/>
                <a:ext cx="236160" cy="1551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4" name="筆跡 23">
                <a:extLst>
                  <a:ext uri="{FF2B5EF4-FFF2-40B4-BE49-F238E27FC236}">
                    <a16:creationId xmlns:a16="http://schemas.microsoft.com/office/drawing/2014/main" id="{F3EDCEF9-C8E4-BFCB-5DFA-9B8479D77F69}"/>
                  </a:ext>
                </a:extLst>
              </p14:cNvPr>
              <p14:cNvContentPartPr/>
              <p14:nvPr/>
            </p14:nvContentPartPr>
            <p14:xfrm>
              <a:off x="1864080" y="1349325"/>
              <a:ext cx="153000" cy="238320"/>
            </p14:xfrm>
          </p:contentPart>
        </mc:Choice>
        <mc:Fallback xmlns="">
          <p:pic>
            <p:nvPicPr>
              <p:cNvPr id="24" name="筆跡 23">
                <a:extLst>
                  <a:ext uri="{FF2B5EF4-FFF2-40B4-BE49-F238E27FC236}">
                    <a16:creationId xmlns:a16="http://schemas.microsoft.com/office/drawing/2014/main" id="{F3EDCEF9-C8E4-BFCB-5DFA-9B8479D77F69}"/>
                  </a:ext>
                </a:extLst>
              </p:cNvPr>
              <p:cNvPicPr/>
              <p:nvPr/>
            </p:nvPicPr>
            <p:blipFill>
              <a:blip r:embed="rId9"/>
              <a:stretch>
                <a:fillRect/>
              </a:stretch>
            </p:blipFill>
            <p:spPr>
              <a:xfrm>
                <a:off x="1855080" y="1340685"/>
                <a:ext cx="170640" cy="2559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5" name="筆跡 24">
                <a:extLst>
                  <a:ext uri="{FF2B5EF4-FFF2-40B4-BE49-F238E27FC236}">
                    <a16:creationId xmlns:a16="http://schemas.microsoft.com/office/drawing/2014/main" id="{B89C5302-1A7E-B2D3-39F8-D5E731CC3C18}"/>
                  </a:ext>
                </a:extLst>
              </p14:cNvPr>
              <p14:cNvContentPartPr/>
              <p14:nvPr/>
            </p14:nvContentPartPr>
            <p14:xfrm>
              <a:off x="1078560" y="1792845"/>
              <a:ext cx="34560" cy="193680"/>
            </p14:xfrm>
          </p:contentPart>
        </mc:Choice>
        <mc:Fallback xmlns="">
          <p:pic>
            <p:nvPicPr>
              <p:cNvPr id="25" name="筆跡 24">
                <a:extLst>
                  <a:ext uri="{FF2B5EF4-FFF2-40B4-BE49-F238E27FC236}">
                    <a16:creationId xmlns:a16="http://schemas.microsoft.com/office/drawing/2014/main" id="{B89C5302-1A7E-B2D3-39F8-D5E731CC3C18}"/>
                  </a:ext>
                </a:extLst>
              </p:cNvPr>
              <p:cNvPicPr/>
              <p:nvPr/>
            </p:nvPicPr>
            <p:blipFill>
              <a:blip r:embed="rId11"/>
              <a:stretch>
                <a:fillRect/>
              </a:stretch>
            </p:blipFill>
            <p:spPr>
              <a:xfrm>
                <a:off x="1069560" y="1783845"/>
                <a:ext cx="52200" cy="211320"/>
              </a:xfrm>
              <a:prstGeom prst="rect">
                <a:avLst/>
              </a:prstGeom>
            </p:spPr>
          </p:pic>
        </mc:Fallback>
      </mc:AlternateContent>
      <p:grpSp>
        <p:nvGrpSpPr>
          <p:cNvPr id="29" name="群組 28">
            <a:extLst>
              <a:ext uri="{FF2B5EF4-FFF2-40B4-BE49-F238E27FC236}">
                <a16:creationId xmlns:a16="http://schemas.microsoft.com/office/drawing/2014/main" id="{14748C2B-23FA-FCF2-DC0C-6FE63E836DCE}"/>
              </a:ext>
            </a:extLst>
          </p:cNvPr>
          <p:cNvGrpSpPr/>
          <p:nvPr/>
        </p:nvGrpSpPr>
        <p:grpSpPr>
          <a:xfrm>
            <a:off x="3370320" y="1742805"/>
            <a:ext cx="210960" cy="213480"/>
            <a:chOff x="3370320" y="1742805"/>
            <a:chExt cx="210960" cy="213480"/>
          </a:xfrm>
        </p:grpSpPr>
        <mc:AlternateContent xmlns:mc="http://schemas.openxmlformats.org/markup-compatibility/2006" xmlns:p14="http://schemas.microsoft.com/office/powerpoint/2010/main">
          <mc:Choice Requires="p14">
            <p:contentPart p14:bwMode="auto" r:id="rId12">
              <p14:nvContentPartPr>
                <p14:cNvPr id="27" name="筆跡 26">
                  <a:extLst>
                    <a:ext uri="{FF2B5EF4-FFF2-40B4-BE49-F238E27FC236}">
                      <a16:creationId xmlns:a16="http://schemas.microsoft.com/office/drawing/2014/main" id="{5E06DD83-C680-838C-08EA-1F1009EE5935}"/>
                    </a:ext>
                  </a:extLst>
                </p14:cNvPr>
                <p14:cNvContentPartPr/>
                <p14:nvPr/>
              </p14:nvContentPartPr>
              <p14:xfrm>
                <a:off x="3370320" y="1757205"/>
                <a:ext cx="210960" cy="124560"/>
              </p14:xfrm>
            </p:contentPart>
          </mc:Choice>
          <mc:Fallback xmlns="">
            <p:pic>
              <p:nvPicPr>
                <p:cNvPr id="27" name="筆跡 26">
                  <a:extLst>
                    <a:ext uri="{FF2B5EF4-FFF2-40B4-BE49-F238E27FC236}">
                      <a16:creationId xmlns:a16="http://schemas.microsoft.com/office/drawing/2014/main" id="{5E06DD83-C680-838C-08EA-1F1009EE5935}"/>
                    </a:ext>
                  </a:extLst>
                </p:cNvPr>
                <p:cNvPicPr/>
                <p:nvPr/>
              </p:nvPicPr>
              <p:blipFill>
                <a:blip r:embed="rId13"/>
                <a:stretch>
                  <a:fillRect/>
                </a:stretch>
              </p:blipFill>
              <p:spPr>
                <a:xfrm>
                  <a:off x="3361320" y="1748205"/>
                  <a:ext cx="22860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8" name="筆跡 27">
                  <a:extLst>
                    <a:ext uri="{FF2B5EF4-FFF2-40B4-BE49-F238E27FC236}">
                      <a16:creationId xmlns:a16="http://schemas.microsoft.com/office/drawing/2014/main" id="{F4BDDDC2-7066-1749-8091-F19848293A43}"/>
                    </a:ext>
                  </a:extLst>
                </p14:cNvPr>
                <p14:cNvContentPartPr/>
                <p14:nvPr/>
              </p14:nvContentPartPr>
              <p14:xfrm>
                <a:off x="3464280" y="1742805"/>
                <a:ext cx="29160" cy="213480"/>
              </p14:xfrm>
            </p:contentPart>
          </mc:Choice>
          <mc:Fallback xmlns="">
            <p:pic>
              <p:nvPicPr>
                <p:cNvPr id="28" name="筆跡 27">
                  <a:extLst>
                    <a:ext uri="{FF2B5EF4-FFF2-40B4-BE49-F238E27FC236}">
                      <a16:creationId xmlns:a16="http://schemas.microsoft.com/office/drawing/2014/main" id="{F4BDDDC2-7066-1749-8091-F19848293A43}"/>
                    </a:ext>
                  </a:extLst>
                </p:cNvPr>
                <p:cNvPicPr/>
                <p:nvPr/>
              </p:nvPicPr>
              <p:blipFill>
                <a:blip r:embed="rId15"/>
                <a:stretch>
                  <a:fillRect/>
                </a:stretch>
              </p:blipFill>
              <p:spPr>
                <a:xfrm>
                  <a:off x="3455280" y="1734165"/>
                  <a:ext cx="46800" cy="231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
            <p14:nvContentPartPr>
              <p14:cNvPr id="6144" name="筆跡 6143">
                <a:extLst>
                  <a:ext uri="{FF2B5EF4-FFF2-40B4-BE49-F238E27FC236}">
                    <a16:creationId xmlns:a16="http://schemas.microsoft.com/office/drawing/2014/main" id="{F43A6808-5AED-55A1-8542-9859AB583090}"/>
                  </a:ext>
                </a:extLst>
              </p14:cNvPr>
              <p14:cNvContentPartPr/>
              <p14:nvPr/>
            </p14:nvContentPartPr>
            <p14:xfrm>
              <a:off x="2131560" y="2300085"/>
              <a:ext cx="189360" cy="165240"/>
            </p14:xfrm>
          </p:contentPart>
        </mc:Choice>
        <mc:Fallback xmlns="">
          <p:pic>
            <p:nvPicPr>
              <p:cNvPr id="6144" name="筆跡 6143">
                <a:extLst>
                  <a:ext uri="{FF2B5EF4-FFF2-40B4-BE49-F238E27FC236}">
                    <a16:creationId xmlns:a16="http://schemas.microsoft.com/office/drawing/2014/main" id="{F43A6808-5AED-55A1-8542-9859AB583090}"/>
                  </a:ext>
                </a:extLst>
              </p:cNvPr>
              <p:cNvPicPr/>
              <p:nvPr/>
            </p:nvPicPr>
            <p:blipFill>
              <a:blip r:embed="rId17"/>
              <a:stretch>
                <a:fillRect/>
              </a:stretch>
            </p:blipFill>
            <p:spPr>
              <a:xfrm>
                <a:off x="2122560" y="2291445"/>
                <a:ext cx="207000" cy="182880"/>
              </a:xfrm>
              <a:prstGeom prst="rect">
                <a:avLst/>
              </a:prstGeom>
            </p:spPr>
          </p:pic>
        </mc:Fallback>
      </mc:AlternateContent>
      <p:grpSp>
        <p:nvGrpSpPr>
          <p:cNvPr id="6149" name="群組 6148">
            <a:extLst>
              <a:ext uri="{FF2B5EF4-FFF2-40B4-BE49-F238E27FC236}">
                <a16:creationId xmlns:a16="http://schemas.microsoft.com/office/drawing/2014/main" id="{378C5979-43BE-FAAE-DB5E-7A4AEE1ACDE8}"/>
              </a:ext>
            </a:extLst>
          </p:cNvPr>
          <p:cNvGrpSpPr/>
          <p:nvPr/>
        </p:nvGrpSpPr>
        <p:grpSpPr>
          <a:xfrm>
            <a:off x="2536560" y="1350045"/>
            <a:ext cx="108360" cy="166680"/>
            <a:chOff x="2536560" y="1350045"/>
            <a:chExt cx="108360" cy="166680"/>
          </a:xfrm>
        </p:grpSpPr>
        <mc:AlternateContent xmlns:mc="http://schemas.openxmlformats.org/markup-compatibility/2006" xmlns:p14="http://schemas.microsoft.com/office/powerpoint/2010/main">
          <mc:Choice Requires="p14">
            <p:contentPart p14:bwMode="auto" r:id="rId18">
              <p14:nvContentPartPr>
                <p14:cNvPr id="6147" name="筆跡 6146">
                  <a:extLst>
                    <a:ext uri="{FF2B5EF4-FFF2-40B4-BE49-F238E27FC236}">
                      <a16:creationId xmlns:a16="http://schemas.microsoft.com/office/drawing/2014/main" id="{BD372BDA-A272-E9F4-3EE8-73B583D7B032}"/>
                    </a:ext>
                  </a:extLst>
                </p14:cNvPr>
                <p14:cNvContentPartPr/>
                <p14:nvPr/>
              </p14:nvContentPartPr>
              <p14:xfrm>
                <a:off x="2536560" y="1364085"/>
                <a:ext cx="86040" cy="152640"/>
              </p14:xfrm>
            </p:contentPart>
          </mc:Choice>
          <mc:Fallback xmlns="">
            <p:pic>
              <p:nvPicPr>
                <p:cNvPr id="6147" name="筆跡 6146">
                  <a:extLst>
                    <a:ext uri="{FF2B5EF4-FFF2-40B4-BE49-F238E27FC236}">
                      <a16:creationId xmlns:a16="http://schemas.microsoft.com/office/drawing/2014/main" id="{BD372BDA-A272-E9F4-3EE8-73B583D7B032}"/>
                    </a:ext>
                  </a:extLst>
                </p:cNvPr>
                <p:cNvPicPr/>
                <p:nvPr/>
              </p:nvPicPr>
              <p:blipFill>
                <a:blip r:embed="rId19"/>
                <a:stretch>
                  <a:fillRect/>
                </a:stretch>
              </p:blipFill>
              <p:spPr>
                <a:xfrm>
                  <a:off x="2527920" y="1355085"/>
                  <a:ext cx="10368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6148" name="筆跡 6147">
                  <a:extLst>
                    <a:ext uri="{FF2B5EF4-FFF2-40B4-BE49-F238E27FC236}">
                      <a16:creationId xmlns:a16="http://schemas.microsoft.com/office/drawing/2014/main" id="{51595371-88C5-C1BA-9AD3-A3DAA9CF87D0}"/>
                    </a:ext>
                  </a:extLst>
                </p14:cNvPr>
                <p14:cNvContentPartPr/>
                <p14:nvPr/>
              </p14:nvContentPartPr>
              <p14:xfrm>
                <a:off x="2585520" y="1350045"/>
                <a:ext cx="59400" cy="11880"/>
              </p14:xfrm>
            </p:contentPart>
          </mc:Choice>
          <mc:Fallback xmlns="">
            <p:pic>
              <p:nvPicPr>
                <p:cNvPr id="6148" name="筆跡 6147">
                  <a:extLst>
                    <a:ext uri="{FF2B5EF4-FFF2-40B4-BE49-F238E27FC236}">
                      <a16:creationId xmlns:a16="http://schemas.microsoft.com/office/drawing/2014/main" id="{51595371-88C5-C1BA-9AD3-A3DAA9CF87D0}"/>
                    </a:ext>
                  </a:extLst>
                </p:cNvPr>
                <p:cNvPicPr/>
                <p:nvPr/>
              </p:nvPicPr>
              <p:blipFill>
                <a:blip r:embed="rId21"/>
                <a:stretch>
                  <a:fillRect/>
                </a:stretch>
              </p:blipFill>
              <p:spPr>
                <a:xfrm>
                  <a:off x="2576880" y="1341045"/>
                  <a:ext cx="77040" cy="29520"/>
                </a:xfrm>
                <a:prstGeom prst="rect">
                  <a:avLst/>
                </a:prstGeom>
              </p:spPr>
            </p:pic>
          </mc:Fallback>
        </mc:AlternateContent>
      </p:grpSp>
      <p:sp>
        <p:nvSpPr>
          <p:cNvPr id="6150" name="文字方塊 6149">
            <a:extLst>
              <a:ext uri="{FF2B5EF4-FFF2-40B4-BE49-F238E27FC236}">
                <a16:creationId xmlns:a16="http://schemas.microsoft.com/office/drawing/2014/main" id="{FF5D1332-E3DA-9876-05B7-1771581D8988}"/>
              </a:ext>
            </a:extLst>
          </p:cNvPr>
          <p:cNvSpPr txBox="1"/>
          <p:nvPr/>
        </p:nvSpPr>
        <p:spPr>
          <a:xfrm>
            <a:off x="4900612" y="592931"/>
            <a:ext cx="6661547" cy="5078313"/>
          </a:xfrm>
          <a:prstGeom prst="rect">
            <a:avLst/>
          </a:prstGeom>
          <a:noFill/>
        </p:spPr>
        <p:txBody>
          <a:bodyPr wrap="square" rtlCol="0">
            <a:spAutoFit/>
          </a:bodyPr>
          <a:lstStyle/>
          <a:p>
            <a:pPr algn="l">
              <a:buFont typeface="Arial" panose="020B0604020202020204" pitchFamily="34" charset="0"/>
              <a:buChar char="•"/>
            </a:pPr>
            <a:r>
              <a:rPr lang="en-US" altLang="zh-TW" b="0" i="0" dirty="0">
                <a:solidFill>
                  <a:srgbClr val="374151"/>
                </a:solidFill>
                <a:effectLst/>
                <a:latin typeface="Söhne"/>
              </a:rPr>
              <a:t>City A: </a:t>
            </a:r>
            <a:r>
              <a:rPr lang="en-US" altLang="zh-TW" b="0" i="0" dirty="0" err="1">
                <a:solidFill>
                  <a:srgbClr val="374151"/>
                </a:solidFill>
                <a:effectLst/>
                <a:latin typeface="Söhne"/>
              </a:rPr>
              <a:t>xA</a:t>
            </a:r>
            <a:r>
              <a:rPr lang="en-US" altLang="zh-TW" b="0" i="0" dirty="0">
                <a:solidFill>
                  <a:srgbClr val="374151"/>
                </a:solidFill>
                <a:effectLst/>
                <a:latin typeface="Söhne"/>
              </a:rPr>
              <a:t> = 1, </a:t>
            </a:r>
            <a:r>
              <a:rPr lang="en-US" altLang="zh-TW" b="0" i="0" dirty="0" err="1">
                <a:solidFill>
                  <a:srgbClr val="374151"/>
                </a:solidFill>
                <a:effectLst/>
                <a:latin typeface="Söhne"/>
              </a:rPr>
              <a:t>xB</a:t>
            </a:r>
            <a:r>
              <a:rPr lang="en-US" altLang="zh-TW" b="0" i="0" dirty="0">
                <a:solidFill>
                  <a:srgbClr val="374151"/>
                </a:solidFill>
                <a:effectLst/>
                <a:latin typeface="Söhne"/>
              </a:rPr>
              <a:t> = </a:t>
            </a:r>
            <a:r>
              <a:rPr lang="en-US" altLang="zh-TW" b="0" i="0" dirty="0" err="1">
                <a:solidFill>
                  <a:srgbClr val="374151"/>
                </a:solidFill>
                <a:effectLst/>
                <a:latin typeface="Söhne"/>
              </a:rPr>
              <a:t>xC</a:t>
            </a:r>
            <a:r>
              <a:rPr lang="en-US" altLang="zh-TW" b="0" i="0" dirty="0">
                <a:solidFill>
                  <a:srgbClr val="374151"/>
                </a:solidFill>
                <a:effectLst/>
                <a:latin typeface="Söhne"/>
              </a:rPr>
              <a:t> = </a:t>
            </a:r>
            <a:r>
              <a:rPr lang="en-US" altLang="zh-TW" b="0" i="0" dirty="0" err="1">
                <a:solidFill>
                  <a:srgbClr val="374151"/>
                </a:solidFill>
                <a:effectLst/>
                <a:latin typeface="Söhne"/>
              </a:rPr>
              <a:t>xD</a:t>
            </a:r>
            <a:r>
              <a:rPr lang="en-US" altLang="zh-TW" b="0" i="0" dirty="0">
                <a:solidFill>
                  <a:srgbClr val="374151"/>
                </a:solidFill>
                <a:effectLst/>
                <a:latin typeface="Söhne"/>
              </a:rPr>
              <a:t> = 0</a:t>
            </a:r>
          </a:p>
          <a:p>
            <a:pPr algn="l">
              <a:buFont typeface="Arial" panose="020B0604020202020204" pitchFamily="34" charset="0"/>
              <a:buChar char="•"/>
            </a:pPr>
            <a:r>
              <a:rPr lang="en-US" altLang="zh-TW" b="0" i="0" dirty="0">
                <a:solidFill>
                  <a:srgbClr val="374151"/>
                </a:solidFill>
                <a:effectLst/>
                <a:latin typeface="Söhne"/>
              </a:rPr>
              <a:t>City B: </a:t>
            </a:r>
            <a:r>
              <a:rPr lang="en-US" altLang="zh-TW" b="0" i="0" dirty="0" err="1">
                <a:solidFill>
                  <a:srgbClr val="374151"/>
                </a:solidFill>
                <a:effectLst/>
                <a:latin typeface="Söhne"/>
              </a:rPr>
              <a:t>xB</a:t>
            </a:r>
            <a:r>
              <a:rPr lang="en-US" altLang="zh-TW" b="0" i="0" dirty="0">
                <a:solidFill>
                  <a:srgbClr val="374151"/>
                </a:solidFill>
                <a:effectLst/>
                <a:latin typeface="Söhne"/>
              </a:rPr>
              <a:t> = 1, </a:t>
            </a:r>
            <a:r>
              <a:rPr lang="en-US" altLang="zh-TW" b="0" i="0" dirty="0" err="1">
                <a:solidFill>
                  <a:srgbClr val="374151"/>
                </a:solidFill>
                <a:effectLst/>
                <a:latin typeface="Söhne"/>
              </a:rPr>
              <a:t>xA</a:t>
            </a:r>
            <a:r>
              <a:rPr lang="en-US" altLang="zh-TW" b="0" i="0" dirty="0">
                <a:solidFill>
                  <a:srgbClr val="374151"/>
                </a:solidFill>
                <a:effectLst/>
                <a:latin typeface="Söhne"/>
              </a:rPr>
              <a:t> = </a:t>
            </a:r>
            <a:r>
              <a:rPr lang="en-US" altLang="zh-TW" b="0" i="0" dirty="0" err="1">
                <a:solidFill>
                  <a:srgbClr val="374151"/>
                </a:solidFill>
                <a:effectLst/>
                <a:latin typeface="Söhne"/>
              </a:rPr>
              <a:t>xC</a:t>
            </a:r>
            <a:r>
              <a:rPr lang="en-US" altLang="zh-TW" b="0" i="0" dirty="0">
                <a:solidFill>
                  <a:srgbClr val="374151"/>
                </a:solidFill>
                <a:effectLst/>
                <a:latin typeface="Söhne"/>
              </a:rPr>
              <a:t> = </a:t>
            </a:r>
            <a:r>
              <a:rPr lang="en-US" altLang="zh-TW" b="0" i="0" dirty="0" err="1">
                <a:solidFill>
                  <a:srgbClr val="374151"/>
                </a:solidFill>
                <a:effectLst/>
                <a:latin typeface="Söhne"/>
              </a:rPr>
              <a:t>xD</a:t>
            </a:r>
            <a:r>
              <a:rPr lang="en-US" altLang="zh-TW" b="0" i="0" dirty="0">
                <a:solidFill>
                  <a:srgbClr val="374151"/>
                </a:solidFill>
                <a:effectLst/>
                <a:latin typeface="Söhne"/>
              </a:rPr>
              <a:t> = 0</a:t>
            </a:r>
          </a:p>
          <a:p>
            <a:pPr algn="l">
              <a:buFont typeface="Arial" panose="020B0604020202020204" pitchFamily="34" charset="0"/>
              <a:buChar char="•"/>
            </a:pPr>
            <a:r>
              <a:rPr lang="en-US" altLang="zh-TW" b="0" i="0" dirty="0">
                <a:solidFill>
                  <a:srgbClr val="374151"/>
                </a:solidFill>
                <a:effectLst/>
                <a:latin typeface="Söhne"/>
              </a:rPr>
              <a:t>City C: </a:t>
            </a:r>
            <a:r>
              <a:rPr lang="en-US" altLang="zh-TW" b="0" i="0" dirty="0" err="1">
                <a:solidFill>
                  <a:srgbClr val="374151"/>
                </a:solidFill>
                <a:effectLst/>
                <a:latin typeface="Söhne"/>
              </a:rPr>
              <a:t>xC</a:t>
            </a:r>
            <a:r>
              <a:rPr lang="en-US" altLang="zh-TW" b="0" i="0" dirty="0">
                <a:solidFill>
                  <a:srgbClr val="374151"/>
                </a:solidFill>
                <a:effectLst/>
                <a:latin typeface="Söhne"/>
              </a:rPr>
              <a:t> = 1, </a:t>
            </a:r>
            <a:r>
              <a:rPr lang="en-US" altLang="zh-TW" b="0" i="0" dirty="0" err="1">
                <a:solidFill>
                  <a:srgbClr val="374151"/>
                </a:solidFill>
                <a:effectLst/>
                <a:latin typeface="Söhne"/>
              </a:rPr>
              <a:t>xA</a:t>
            </a:r>
            <a:r>
              <a:rPr lang="en-US" altLang="zh-TW" b="0" i="0" dirty="0">
                <a:solidFill>
                  <a:srgbClr val="374151"/>
                </a:solidFill>
                <a:effectLst/>
                <a:latin typeface="Söhne"/>
              </a:rPr>
              <a:t> = </a:t>
            </a:r>
            <a:r>
              <a:rPr lang="en-US" altLang="zh-TW" b="0" i="0" dirty="0" err="1">
                <a:solidFill>
                  <a:srgbClr val="374151"/>
                </a:solidFill>
                <a:effectLst/>
                <a:latin typeface="Söhne"/>
              </a:rPr>
              <a:t>xB</a:t>
            </a:r>
            <a:r>
              <a:rPr lang="en-US" altLang="zh-TW" b="0" i="0" dirty="0">
                <a:solidFill>
                  <a:srgbClr val="374151"/>
                </a:solidFill>
                <a:effectLst/>
                <a:latin typeface="Söhne"/>
              </a:rPr>
              <a:t> = </a:t>
            </a:r>
            <a:r>
              <a:rPr lang="en-US" altLang="zh-TW" b="0" i="0" dirty="0" err="1">
                <a:solidFill>
                  <a:srgbClr val="374151"/>
                </a:solidFill>
                <a:effectLst/>
                <a:latin typeface="Söhne"/>
              </a:rPr>
              <a:t>xD</a:t>
            </a:r>
            <a:r>
              <a:rPr lang="en-US" altLang="zh-TW" b="0" i="0" dirty="0">
                <a:solidFill>
                  <a:srgbClr val="374151"/>
                </a:solidFill>
                <a:effectLst/>
                <a:latin typeface="Söhne"/>
              </a:rPr>
              <a:t> = 0</a:t>
            </a:r>
          </a:p>
          <a:p>
            <a:pPr algn="l">
              <a:buFont typeface="Arial" panose="020B0604020202020204" pitchFamily="34" charset="0"/>
              <a:buChar char="•"/>
            </a:pPr>
            <a:r>
              <a:rPr lang="en-US" altLang="zh-TW" b="0" i="0" dirty="0">
                <a:solidFill>
                  <a:srgbClr val="374151"/>
                </a:solidFill>
                <a:effectLst/>
                <a:latin typeface="Söhne"/>
              </a:rPr>
              <a:t>City D: </a:t>
            </a:r>
            <a:r>
              <a:rPr lang="en-US" altLang="zh-TW" b="0" i="0" dirty="0" err="1">
                <a:solidFill>
                  <a:srgbClr val="374151"/>
                </a:solidFill>
                <a:effectLst/>
                <a:latin typeface="Söhne"/>
              </a:rPr>
              <a:t>xD</a:t>
            </a:r>
            <a:r>
              <a:rPr lang="en-US" altLang="zh-TW" b="0" i="0" dirty="0">
                <a:solidFill>
                  <a:srgbClr val="374151"/>
                </a:solidFill>
                <a:effectLst/>
                <a:latin typeface="Söhne"/>
              </a:rPr>
              <a:t> = 1, </a:t>
            </a:r>
            <a:r>
              <a:rPr lang="en-US" altLang="zh-TW" b="0" i="0" dirty="0" err="1">
                <a:solidFill>
                  <a:srgbClr val="374151"/>
                </a:solidFill>
                <a:effectLst/>
                <a:latin typeface="Söhne"/>
              </a:rPr>
              <a:t>xA</a:t>
            </a:r>
            <a:r>
              <a:rPr lang="en-US" altLang="zh-TW" b="0" i="0" dirty="0">
                <a:solidFill>
                  <a:srgbClr val="374151"/>
                </a:solidFill>
                <a:effectLst/>
                <a:latin typeface="Söhne"/>
              </a:rPr>
              <a:t> = </a:t>
            </a:r>
            <a:r>
              <a:rPr lang="en-US" altLang="zh-TW" b="0" i="0" dirty="0" err="1">
                <a:solidFill>
                  <a:srgbClr val="374151"/>
                </a:solidFill>
                <a:effectLst/>
                <a:latin typeface="Söhne"/>
              </a:rPr>
              <a:t>xB</a:t>
            </a:r>
            <a:r>
              <a:rPr lang="en-US" altLang="zh-TW" b="0" i="0" dirty="0">
                <a:solidFill>
                  <a:srgbClr val="374151"/>
                </a:solidFill>
                <a:effectLst/>
                <a:latin typeface="Söhne"/>
              </a:rPr>
              <a:t> = </a:t>
            </a:r>
            <a:r>
              <a:rPr lang="en-US" altLang="zh-TW" b="0" i="0" dirty="0" err="1">
                <a:solidFill>
                  <a:srgbClr val="374151"/>
                </a:solidFill>
                <a:effectLst/>
                <a:latin typeface="Söhne"/>
              </a:rPr>
              <a:t>xC</a:t>
            </a:r>
            <a:r>
              <a:rPr lang="en-US" altLang="zh-TW" b="0" i="0" dirty="0">
                <a:solidFill>
                  <a:srgbClr val="374151"/>
                </a:solidFill>
                <a:effectLst/>
                <a:latin typeface="Söhne"/>
              </a:rPr>
              <a:t> = 0</a:t>
            </a:r>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pPr algn="l">
              <a:buFont typeface="Arial" panose="020B0604020202020204" pitchFamily="34" charset="0"/>
              <a:buChar char="•"/>
            </a:pPr>
            <a:r>
              <a:rPr lang="en-US" altLang="zh-TW" b="0" i="0" dirty="0">
                <a:solidFill>
                  <a:srgbClr val="374151"/>
                </a:solidFill>
                <a:effectLst/>
                <a:latin typeface="Söhne"/>
              </a:rPr>
              <a:t>City A: </a:t>
            </a:r>
            <a:r>
              <a:rPr lang="en-US" altLang="zh-TW" b="0" i="0" dirty="0" err="1">
                <a:solidFill>
                  <a:srgbClr val="374151"/>
                </a:solidFill>
                <a:effectLst/>
                <a:latin typeface="Söhne"/>
              </a:rPr>
              <a:t>xA</a:t>
            </a:r>
            <a:r>
              <a:rPr lang="en-US" altLang="zh-TW" b="0" i="0" dirty="0">
                <a:solidFill>
                  <a:srgbClr val="374151"/>
                </a:solidFill>
                <a:effectLst/>
                <a:latin typeface="Söhne"/>
              </a:rPr>
              <a:t> = 0, </a:t>
            </a:r>
            <a:r>
              <a:rPr lang="en-US" altLang="zh-TW" b="0" i="0" dirty="0" err="1">
                <a:solidFill>
                  <a:srgbClr val="374151"/>
                </a:solidFill>
                <a:effectLst/>
                <a:latin typeface="Söhne"/>
              </a:rPr>
              <a:t>xB</a:t>
            </a:r>
            <a:r>
              <a:rPr lang="en-US" altLang="zh-TW" b="0" i="0" dirty="0">
                <a:solidFill>
                  <a:srgbClr val="374151"/>
                </a:solidFill>
                <a:effectLst/>
                <a:latin typeface="Söhne"/>
              </a:rPr>
              <a:t> = 0, </a:t>
            </a:r>
            <a:r>
              <a:rPr lang="en-US" altLang="zh-TW" b="0" i="0" dirty="0" err="1">
                <a:solidFill>
                  <a:srgbClr val="374151"/>
                </a:solidFill>
                <a:effectLst/>
                <a:latin typeface="Söhne"/>
              </a:rPr>
              <a:t>xC</a:t>
            </a:r>
            <a:r>
              <a:rPr lang="en-US" altLang="zh-TW" b="0" i="0" dirty="0">
                <a:solidFill>
                  <a:srgbClr val="374151"/>
                </a:solidFill>
                <a:effectLst/>
                <a:latin typeface="Söhne"/>
              </a:rPr>
              <a:t> = 0, </a:t>
            </a:r>
            <a:r>
              <a:rPr lang="en-US" altLang="zh-TW" b="0" i="0" dirty="0" err="1">
                <a:solidFill>
                  <a:srgbClr val="374151"/>
                </a:solidFill>
                <a:effectLst/>
                <a:latin typeface="Söhne"/>
              </a:rPr>
              <a:t>xD</a:t>
            </a:r>
            <a:r>
              <a:rPr lang="en-US" altLang="zh-TW" b="0" i="0" dirty="0">
                <a:solidFill>
                  <a:srgbClr val="374151"/>
                </a:solidFill>
                <a:effectLst/>
                <a:latin typeface="Söhne"/>
              </a:rPr>
              <a:t> = 1</a:t>
            </a:r>
          </a:p>
          <a:p>
            <a:pPr algn="l">
              <a:buFont typeface="Arial" panose="020B0604020202020204" pitchFamily="34" charset="0"/>
              <a:buChar char="•"/>
            </a:pPr>
            <a:r>
              <a:rPr lang="en-US" altLang="zh-TW" b="0" i="0" dirty="0">
                <a:solidFill>
                  <a:srgbClr val="374151"/>
                </a:solidFill>
                <a:effectLst/>
                <a:latin typeface="Söhne"/>
              </a:rPr>
              <a:t>City B: </a:t>
            </a:r>
            <a:r>
              <a:rPr lang="en-US" altLang="zh-TW" b="0" i="0" dirty="0" err="1">
                <a:solidFill>
                  <a:srgbClr val="374151"/>
                </a:solidFill>
                <a:effectLst/>
                <a:latin typeface="Söhne"/>
              </a:rPr>
              <a:t>xA</a:t>
            </a:r>
            <a:r>
              <a:rPr lang="en-US" altLang="zh-TW" b="0" i="0" dirty="0">
                <a:solidFill>
                  <a:srgbClr val="374151"/>
                </a:solidFill>
                <a:effectLst/>
                <a:latin typeface="Söhne"/>
              </a:rPr>
              <a:t> = 1, </a:t>
            </a:r>
            <a:r>
              <a:rPr lang="en-US" altLang="zh-TW" b="0" i="0" dirty="0" err="1">
                <a:solidFill>
                  <a:srgbClr val="374151"/>
                </a:solidFill>
                <a:effectLst/>
                <a:latin typeface="Söhne"/>
              </a:rPr>
              <a:t>xB</a:t>
            </a:r>
            <a:r>
              <a:rPr lang="en-US" altLang="zh-TW" b="0" i="0" dirty="0">
                <a:solidFill>
                  <a:srgbClr val="374151"/>
                </a:solidFill>
                <a:effectLst/>
                <a:latin typeface="Söhne"/>
              </a:rPr>
              <a:t> = 0, </a:t>
            </a:r>
            <a:r>
              <a:rPr lang="en-US" altLang="zh-TW" b="0" i="0" dirty="0" err="1">
                <a:solidFill>
                  <a:srgbClr val="374151"/>
                </a:solidFill>
                <a:effectLst/>
                <a:latin typeface="Söhne"/>
              </a:rPr>
              <a:t>xC</a:t>
            </a:r>
            <a:r>
              <a:rPr lang="en-US" altLang="zh-TW" b="0" i="0" dirty="0">
                <a:solidFill>
                  <a:srgbClr val="374151"/>
                </a:solidFill>
                <a:effectLst/>
                <a:latin typeface="Söhne"/>
              </a:rPr>
              <a:t> = 0, </a:t>
            </a:r>
            <a:r>
              <a:rPr lang="en-US" altLang="zh-TW" b="0" i="0" dirty="0" err="1">
                <a:solidFill>
                  <a:srgbClr val="374151"/>
                </a:solidFill>
                <a:effectLst/>
                <a:latin typeface="Söhne"/>
              </a:rPr>
              <a:t>xD</a:t>
            </a:r>
            <a:r>
              <a:rPr lang="en-US" altLang="zh-TW" b="0" i="0" dirty="0">
                <a:solidFill>
                  <a:srgbClr val="374151"/>
                </a:solidFill>
                <a:effectLst/>
                <a:latin typeface="Söhne"/>
              </a:rPr>
              <a:t> = 0</a:t>
            </a:r>
          </a:p>
          <a:p>
            <a:pPr algn="l">
              <a:buFont typeface="Arial" panose="020B0604020202020204" pitchFamily="34" charset="0"/>
              <a:buChar char="•"/>
            </a:pPr>
            <a:r>
              <a:rPr lang="en-US" altLang="zh-TW" b="0" i="0" dirty="0">
                <a:solidFill>
                  <a:srgbClr val="374151"/>
                </a:solidFill>
                <a:effectLst/>
                <a:latin typeface="Söhne"/>
              </a:rPr>
              <a:t>City C: </a:t>
            </a:r>
            <a:r>
              <a:rPr lang="en-US" altLang="zh-TW" b="0" i="0" dirty="0" err="1">
                <a:solidFill>
                  <a:srgbClr val="374151"/>
                </a:solidFill>
                <a:effectLst/>
                <a:latin typeface="Söhne"/>
              </a:rPr>
              <a:t>xA</a:t>
            </a:r>
            <a:r>
              <a:rPr lang="en-US" altLang="zh-TW" b="0" i="0" dirty="0">
                <a:solidFill>
                  <a:srgbClr val="374151"/>
                </a:solidFill>
                <a:effectLst/>
                <a:latin typeface="Söhne"/>
              </a:rPr>
              <a:t> = 0, </a:t>
            </a:r>
            <a:r>
              <a:rPr lang="en-US" altLang="zh-TW" b="0" i="0" dirty="0" err="1">
                <a:solidFill>
                  <a:srgbClr val="374151"/>
                </a:solidFill>
                <a:effectLst/>
                <a:latin typeface="Söhne"/>
              </a:rPr>
              <a:t>xB</a:t>
            </a:r>
            <a:r>
              <a:rPr lang="en-US" altLang="zh-TW" b="0" i="0" dirty="0">
                <a:solidFill>
                  <a:srgbClr val="374151"/>
                </a:solidFill>
                <a:effectLst/>
                <a:latin typeface="Söhne"/>
              </a:rPr>
              <a:t> = 1, </a:t>
            </a:r>
            <a:r>
              <a:rPr lang="en-US" altLang="zh-TW" b="0" i="0" dirty="0" err="1">
                <a:solidFill>
                  <a:srgbClr val="374151"/>
                </a:solidFill>
                <a:effectLst/>
                <a:latin typeface="Söhne"/>
              </a:rPr>
              <a:t>xC</a:t>
            </a:r>
            <a:r>
              <a:rPr lang="en-US" altLang="zh-TW" b="0" i="0" dirty="0">
                <a:solidFill>
                  <a:srgbClr val="374151"/>
                </a:solidFill>
                <a:effectLst/>
                <a:latin typeface="Söhne"/>
              </a:rPr>
              <a:t> = 0, </a:t>
            </a:r>
            <a:r>
              <a:rPr lang="en-US" altLang="zh-TW" b="0" i="0" dirty="0" err="1">
                <a:solidFill>
                  <a:srgbClr val="374151"/>
                </a:solidFill>
                <a:effectLst/>
                <a:latin typeface="Söhne"/>
              </a:rPr>
              <a:t>xD</a:t>
            </a:r>
            <a:r>
              <a:rPr lang="en-US" altLang="zh-TW" b="0" i="0" dirty="0">
                <a:solidFill>
                  <a:srgbClr val="374151"/>
                </a:solidFill>
                <a:effectLst/>
                <a:latin typeface="Söhne"/>
              </a:rPr>
              <a:t> = 0</a:t>
            </a:r>
          </a:p>
          <a:p>
            <a:pPr algn="l">
              <a:buFont typeface="Arial" panose="020B0604020202020204" pitchFamily="34" charset="0"/>
              <a:buChar char="•"/>
            </a:pPr>
            <a:r>
              <a:rPr lang="en-US" altLang="zh-TW" b="0" i="0" dirty="0">
                <a:solidFill>
                  <a:srgbClr val="374151"/>
                </a:solidFill>
                <a:effectLst/>
                <a:latin typeface="Söhne"/>
              </a:rPr>
              <a:t>City D: </a:t>
            </a:r>
            <a:r>
              <a:rPr lang="en-US" altLang="zh-TW" b="0" i="0" dirty="0" err="1">
                <a:solidFill>
                  <a:srgbClr val="374151"/>
                </a:solidFill>
                <a:effectLst/>
                <a:latin typeface="Söhne"/>
              </a:rPr>
              <a:t>xA</a:t>
            </a:r>
            <a:r>
              <a:rPr lang="en-US" altLang="zh-TW" b="0" i="0" dirty="0">
                <a:solidFill>
                  <a:srgbClr val="374151"/>
                </a:solidFill>
                <a:effectLst/>
                <a:latin typeface="Söhne"/>
              </a:rPr>
              <a:t> = 0, </a:t>
            </a:r>
            <a:r>
              <a:rPr lang="en-US" altLang="zh-TW" b="0" i="0" dirty="0" err="1">
                <a:solidFill>
                  <a:srgbClr val="374151"/>
                </a:solidFill>
                <a:effectLst/>
                <a:latin typeface="Söhne"/>
              </a:rPr>
              <a:t>xB</a:t>
            </a:r>
            <a:r>
              <a:rPr lang="en-US" altLang="zh-TW" b="0" i="0" dirty="0">
                <a:solidFill>
                  <a:srgbClr val="374151"/>
                </a:solidFill>
                <a:effectLst/>
                <a:latin typeface="Söhne"/>
              </a:rPr>
              <a:t> = 0, </a:t>
            </a:r>
            <a:r>
              <a:rPr lang="en-US" altLang="zh-TW" b="0" i="0" dirty="0" err="1">
                <a:solidFill>
                  <a:srgbClr val="374151"/>
                </a:solidFill>
                <a:effectLst/>
                <a:latin typeface="Söhne"/>
              </a:rPr>
              <a:t>xC</a:t>
            </a:r>
            <a:r>
              <a:rPr lang="en-US" altLang="zh-TW" b="0" i="0" dirty="0">
                <a:solidFill>
                  <a:srgbClr val="374151"/>
                </a:solidFill>
                <a:effectLst/>
                <a:latin typeface="Söhne"/>
              </a:rPr>
              <a:t> = 1, </a:t>
            </a:r>
            <a:r>
              <a:rPr lang="en-US" altLang="zh-TW" b="0" i="0" dirty="0" err="1">
                <a:solidFill>
                  <a:srgbClr val="374151"/>
                </a:solidFill>
                <a:effectLst/>
                <a:latin typeface="Söhne"/>
              </a:rPr>
              <a:t>xD</a:t>
            </a:r>
            <a:r>
              <a:rPr lang="en-US" altLang="zh-TW" b="0" i="0" dirty="0">
                <a:solidFill>
                  <a:srgbClr val="374151"/>
                </a:solidFill>
                <a:effectLst/>
                <a:latin typeface="Söhne"/>
              </a:rPr>
              <a:t> = 0</a:t>
            </a:r>
          </a:p>
          <a:p>
            <a:endParaRPr lang="en-US" altLang="zh-TW" dirty="0"/>
          </a:p>
          <a:p>
            <a:r>
              <a:rPr lang="en-US" altLang="zh-TW" b="0" i="0" dirty="0">
                <a:solidFill>
                  <a:srgbClr val="374151"/>
                </a:solidFill>
                <a:effectLst/>
                <a:latin typeface="Söhne"/>
              </a:rPr>
              <a:t>This corresponds to the Hamiltonian cycle A -&gt; D -&gt; C -&gt; B -&gt; A</a:t>
            </a:r>
          </a:p>
          <a:p>
            <a:r>
              <a:rPr lang="en-US" altLang="zh-TW" dirty="0">
                <a:solidFill>
                  <a:srgbClr val="374151"/>
                </a:solidFill>
                <a:latin typeface="Söhne"/>
              </a:rPr>
              <a:t>It</a:t>
            </a:r>
            <a:r>
              <a:rPr lang="en-US" altLang="zh-TW" b="0" i="0" dirty="0">
                <a:solidFill>
                  <a:srgbClr val="374151"/>
                </a:solidFill>
                <a:effectLst/>
                <a:latin typeface="Söhne"/>
              </a:rPr>
              <a:t> has a total distance of 10 units, and is the optimal solution to the TSP problem.</a:t>
            </a:r>
            <a:endParaRPr lang="zh-TW" altLang="en-US" dirty="0"/>
          </a:p>
        </p:txBody>
      </p:sp>
    </p:spTree>
    <p:extLst>
      <p:ext uri="{BB962C8B-B14F-4D97-AF65-F5344CB8AC3E}">
        <p14:creationId xmlns:p14="http://schemas.microsoft.com/office/powerpoint/2010/main" val="24845419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862583-AD7A-491F-998B-578B9E28D947}"/>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Experiment</a:t>
            </a:r>
            <a:endParaRPr lang="zh-TW" altLang="en-US" b="1" dirty="0"/>
          </a:p>
        </p:txBody>
      </p:sp>
      <p:sp>
        <p:nvSpPr>
          <p:cNvPr id="4" name="投影片編號版面配置區 3">
            <a:extLst>
              <a:ext uri="{FF2B5EF4-FFF2-40B4-BE49-F238E27FC236}">
                <a16:creationId xmlns:a16="http://schemas.microsoft.com/office/drawing/2014/main" id="{7B6922FD-7BA3-4D6A-91BC-84CAB032E319}"/>
              </a:ext>
            </a:extLst>
          </p:cNvPr>
          <p:cNvSpPr>
            <a:spLocks noGrp="1"/>
          </p:cNvSpPr>
          <p:nvPr>
            <p:ph type="sldNum" sz="quarter" idx="12"/>
          </p:nvPr>
        </p:nvSpPr>
        <p:spPr/>
        <p:txBody>
          <a:bodyPr/>
          <a:lstStyle/>
          <a:p>
            <a:fld id="{55935506-5D51-4B07-8BDD-18CEF4E05E0A}" type="slidenum">
              <a:rPr lang="zh-TW" altLang="en-US" smtClean="0"/>
              <a:t>8</a:t>
            </a:fld>
            <a:endParaRPr lang="zh-TW" altLang="en-US" dirty="0"/>
          </a:p>
        </p:txBody>
      </p:sp>
      <p:pic>
        <p:nvPicPr>
          <p:cNvPr id="7172" name="Picture 4">
            <a:extLst>
              <a:ext uri="{FF2B5EF4-FFF2-40B4-BE49-F238E27FC236}">
                <a16:creationId xmlns:a16="http://schemas.microsoft.com/office/drawing/2014/main" id="{2AD990E0-252F-3A32-C4FD-D05078155E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0750" y="1690688"/>
            <a:ext cx="7810500"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01348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862583-AD7A-491F-998B-578B9E28D947}"/>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Experiment</a:t>
            </a:r>
            <a:endParaRPr lang="zh-TW" altLang="en-US" b="1" dirty="0"/>
          </a:p>
        </p:txBody>
      </p:sp>
      <p:sp>
        <p:nvSpPr>
          <p:cNvPr id="4" name="投影片編號版面配置區 3">
            <a:extLst>
              <a:ext uri="{FF2B5EF4-FFF2-40B4-BE49-F238E27FC236}">
                <a16:creationId xmlns:a16="http://schemas.microsoft.com/office/drawing/2014/main" id="{7B6922FD-7BA3-4D6A-91BC-84CAB032E319}"/>
              </a:ext>
            </a:extLst>
          </p:cNvPr>
          <p:cNvSpPr>
            <a:spLocks noGrp="1"/>
          </p:cNvSpPr>
          <p:nvPr>
            <p:ph type="sldNum" sz="quarter" idx="12"/>
          </p:nvPr>
        </p:nvSpPr>
        <p:spPr/>
        <p:txBody>
          <a:bodyPr/>
          <a:lstStyle/>
          <a:p>
            <a:fld id="{55935506-5D51-4B07-8BDD-18CEF4E05E0A}" type="slidenum">
              <a:rPr lang="zh-TW" altLang="en-US" smtClean="0"/>
              <a:t>9</a:t>
            </a:fld>
            <a:endParaRPr lang="zh-TW" altLang="en-US" dirty="0"/>
          </a:p>
        </p:txBody>
      </p:sp>
      <p:pic>
        <p:nvPicPr>
          <p:cNvPr id="8194" name="Picture 2">
            <a:extLst>
              <a:ext uri="{FF2B5EF4-FFF2-40B4-BE49-F238E27FC236}">
                <a16:creationId xmlns:a16="http://schemas.microsoft.com/office/drawing/2014/main" id="{A7A6A26F-7353-270F-C970-AC03F7747AC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6250"/>
          <a:stretch/>
        </p:blipFill>
        <p:spPr bwMode="auto">
          <a:xfrm>
            <a:off x="1716088" y="2669778"/>
            <a:ext cx="3894094" cy="2707481"/>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a:extLst>
              <a:ext uri="{FF2B5EF4-FFF2-40B4-BE49-F238E27FC236}">
                <a16:creationId xmlns:a16="http://schemas.microsoft.com/office/drawing/2014/main" id="{3F9F3168-43AB-F218-0ACB-AE2F7FE6305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3750"/>
          <a:stretch/>
        </p:blipFill>
        <p:spPr bwMode="auto">
          <a:xfrm>
            <a:off x="6821489" y="1751806"/>
            <a:ext cx="3328987" cy="4543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57665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A57DAF-1727-4845-BD2A-A164A69A7C0F}"/>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Conclusion</a:t>
            </a:r>
            <a:endParaRPr lang="zh-TW" altLang="en-US" dirty="0"/>
          </a:p>
        </p:txBody>
      </p:sp>
      <p:sp>
        <p:nvSpPr>
          <p:cNvPr id="3" name="內容版面配置區 2">
            <a:extLst>
              <a:ext uri="{FF2B5EF4-FFF2-40B4-BE49-F238E27FC236}">
                <a16:creationId xmlns:a16="http://schemas.microsoft.com/office/drawing/2014/main" id="{3D6AEC88-211A-4C79-873B-599FBDE52DDC}"/>
              </a:ext>
            </a:extLst>
          </p:cNvPr>
          <p:cNvSpPr>
            <a:spLocks noGrp="1"/>
          </p:cNvSpPr>
          <p:nvPr>
            <p:ph idx="1"/>
          </p:nvPr>
        </p:nvSpPr>
        <p:spPr/>
        <p:txBody>
          <a:bodyPr>
            <a:normAutofit/>
          </a:bodyPr>
          <a:lstStyle/>
          <a:p>
            <a:pPr algn="l"/>
            <a:r>
              <a:rPr lang="en-US" altLang="zh-TW" sz="2400" dirty="0">
                <a:solidFill>
                  <a:srgbClr val="333333"/>
                </a:solidFill>
                <a:latin typeface="Times New Roman" panose="02020603050405020304" pitchFamily="18" charset="0"/>
                <a:cs typeface="Times New Roman" panose="02020603050405020304" pitchFamily="18" charset="0"/>
              </a:rPr>
              <a:t>Turn 3D TSP problem into 2 2D</a:t>
            </a:r>
            <a:r>
              <a:rPr lang="zh-TW" altLang="en-US" sz="2400" dirty="0">
                <a:solidFill>
                  <a:srgbClr val="333333"/>
                </a:solidFill>
                <a:latin typeface="Times New Roman" panose="02020603050405020304" pitchFamily="18" charset="0"/>
                <a:cs typeface="Times New Roman" panose="02020603050405020304" pitchFamily="18" charset="0"/>
              </a:rPr>
              <a:t> </a:t>
            </a:r>
            <a:r>
              <a:rPr lang="en-US" altLang="zh-TW" sz="2400" dirty="0">
                <a:solidFill>
                  <a:srgbClr val="333333"/>
                </a:solidFill>
                <a:latin typeface="Times New Roman" panose="02020603050405020304" pitchFamily="18" charset="0"/>
                <a:cs typeface="Times New Roman" panose="02020603050405020304" pitchFamily="18" charset="0"/>
              </a:rPr>
              <a:t>TSP problem.</a:t>
            </a:r>
          </a:p>
          <a:p>
            <a:pPr algn="l"/>
            <a:r>
              <a:rPr lang="en-US" altLang="zh-TW" sz="2400" dirty="0">
                <a:solidFill>
                  <a:srgbClr val="333333"/>
                </a:solidFill>
                <a:latin typeface="Times New Roman" panose="02020603050405020304" pitchFamily="18" charset="0"/>
                <a:cs typeface="Times New Roman" panose="02020603050405020304" pitchFamily="18" charset="0"/>
              </a:rPr>
              <a:t>Solved TSP problem by using </a:t>
            </a:r>
            <a:r>
              <a:rPr lang="en-US" altLang="zh-TW" sz="2400">
                <a:solidFill>
                  <a:srgbClr val="333333"/>
                </a:solidFill>
                <a:latin typeface="Times New Roman" panose="02020603050405020304" pitchFamily="18" charset="0"/>
                <a:cs typeface="Times New Roman" panose="02020603050405020304" pitchFamily="18" charset="0"/>
              </a:rPr>
              <a:t>Hopfield.</a:t>
            </a:r>
            <a:endParaRPr lang="en-US" altLang="zh-TW" sz="2400" dirty="0">
              <a:solidFill>
                <a:srgbClr val="333333"/>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8872834"/>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1974</TotalTime>
  <Words>879</Words>
  <Application>Microsoft Office PowerPoint</Application>
  <PresentationFormat>寬螢幕</PresentationFormat>
  <Paragraphs>61</Paragraphs>
  <Slides>10</Slides>
  <Notes>10</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10</vt:i4>
      </vt:variant>
    </vt:vector>
  </HeadingPairs>
  <TitlesOfParts>
    <vt:vector size="19" baseType="lpstr">
      <vt:lpstr>等线</vt:lpstr>
      <vt:lpstr>Söhne</vt:lpstr>
      <vt:lpstr>新細明體</vt:lpstr>
      <vt:lpstr>Arial</vt:lpstr>
      <vt:lpstr>Calibri</vt:lpstr>
      <vt:lpstr>Calibri Light</vt:lpstr>
      <vt:lpstr>Georgia</vt:lpstr>
      <vt:lpstr>Times New Roman</vt:lpstr>
      <vt:lpstr>Office 佈景主題</vt:lpstr>
      <vt:lpstr>Simulation the Behavior of Robot Sub-Swarm in Spatial Corridors</vt:lpstr>
      <vt:lpstr>Abstract</vt:lpstr>
      <vt:lpstr>Problem Description</vt:lpstr>
      <vt:lpstr>Problem Description</vt:lpstr>
      <vt:lpstr>PowerPoint 簡報</vt:lpstr>
      <vt:lpstr>Hopfield</vt:lpstr>
      <vt:lpstr>PowerPoint 簡報</vt:lpstr>
      <vt:lpstr>Experiment</vt:lpstr>
      <vt:lpstr>Experiment</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Parallel Local Alignment Algorithm for Multiple Sequences on Heterogeneous Cluster Systems</dc:title>
  <dc:creator>師老爸</dc:creator>
  <cp:lastModifiedBy>師老爸</cp:lastModifiedBy>
  <cp:revision>54</cp:revision>
  <dcterms:created xsi:type="dcterms:W3CDTF">2022-11-14T21:21:39Z</dcterms:created>
  <dcterms:modified xsi:type="dcterms:W3CDTF">2023-04-25T10:29:45Z</dcterms:modified>
</cp:coreProperties>
</file>