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1" r:id="rId3"/>
    <p:sldId id="292" r:id="rId4"/>
    <p:sldId id="306" r:id="rId5"/>
    <p:sldId id="308" r:id="rId6"/>
    <p:sldId id="318" r:id="rId7"/>
    <p:sldId id="314" r:id="rId8"/>
    <p:sldId id="315" r:id="rId9"/>
    <p:sldId id="317" r:id="rId10"/>
    <p:sldId id="312" r:id="rId11"/>
    <p:sldId id="310" r:id="rId12"/>
    <p:sldId id="290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2023/4/25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35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2023/4/25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0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2023/4/25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2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2023/4/25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1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2023/4/25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14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2023/4/25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2023/4/25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28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2023/4/25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2023/4/25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4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2023/4/25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3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2023/4/25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2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1E1DC-9B0B-4445-BE92-0FA02D7ED6E3}" type="datetimeFigureOut">
              <a:rPr lang="zh-TW" altLang="en-US" smtClean="0"/>
              <a:t>2023/4/25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33475" y="769938"/>
            <a:ext cx="9925050" cy="1299561"/>
          </a:xfrm>
        </p:spPr>
        <p:txBody>
          <a:bodyPr anchor="ctr">
            <a:normAutofit fontScale="90000"/>
          </a:bodyPr>
          <a:lstStyle/>
          <a:p>
            <a:r>
              <a:rPr lang="it-IT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STR-IC-LCS Computation via RLE</a:t>
            </a:r>
            <a:endParaRPr lang="en-US" altLang="zh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Keita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Kuboi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Yuta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Fujishige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Shunsuke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Inenaga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Hideo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Bannai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Masayuki Takeda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28th Annual Symposium on Combinatorial Pattern Matching 4-6 July 2017, Warsaw, Poland.</a:t>
            </a:r>
          </a:p>
          <a:p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6463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Ho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Apr. 25, 2023</a:t>
            </a:r>
          </a:p>
        </p:txBody>
      </p:sp>
    </p:spTree>
    <p:extLst>
      <p:ext uri="{BB962C8B-B14F-4D97-AF65-F5344CB8AC3E}">
        <p14:creationId xmlns:p14="http://schemas.microsoft.com/office/powerpoint/2010/main" val="366250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constrained LCS problem asks one to ﬁnd a longest common subsequence of two input strings A and B with some constraints. The STR-IC-LCS problem is a variant of the constrained LCS problem, where the solution must include a given constraint string C as a substring. Given two strings A and B of respective lengths M and N, and a constraint string C of length at most min{M, N}, the best known algorithm for the STR-IC-LCS problem, proposed by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Deorowicz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[02] runs in O(MN) time. </a:t>
            </a:r>
          </a:p>
        </p:txBody>
      </p:sp>
    </p:spTree>
    <p:extLst>
      <p:ext uri="{BB962C8B-B14F-4D97-AF65-F5344CB8AC3E}">
        <p14:creationId xmlns:p14="http://schemas.microsoft.com/office/powerpoint/2010/main" val="134767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917CB-E866-4639-B43C-F8CAC9CBC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A89037-A1F3-4D32-B1B1-AAEC724AD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work, we present an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)-time solution to the STR-IC-LCS problem, where m and n denote the sizes of the run-length encodings of A and B, respectively. Since m ≤ M and n ≤ N always hold, our algorithm is always as fast as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Deorowicz’s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algorithm, and is faster when input strings are compressible via RLE.</a:t>
            </a:r>
          </a:p>
        </p:txBody>
      </p:sp>
    </p:spTree>
    <p:extLst>
      <p:ext uri="{BB962C8B-B14F-4D97-AF65-F5344CB8AC3E}">
        <p14:creationId xmlns:p14="http://schemas.microsoft.com/office/powerpoint/2010/main" val="181787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STR-IC-LCS  (Substring Inclusion LCS)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A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baabbaaaaba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B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aabbbaaabba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C = aba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it-IT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STR-IC-LCS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(A, B, C)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pc="-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aba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aaba</a:t>
            </a:r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7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STR-IC-LCS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0925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A :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ba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|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ab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 </a:t>
            </a:r>
            <a:r>
              <a:rPr lang="en-US" altLang="zh-TW" spc="-1" dirty="0">
                <a:latin typeface="Times New Roman"/>
              </a:rPr>
              <a:t>|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aaaba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  /  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baabbaaa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|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aba </a:t>
            </a:r>
            <a:r>
              <a:rPr lang="en-US" altLang="zh-TW" spc="-1" dirty="0">
                <a:latin typeface="Times New Roman"/>
              </a:rPr>
              <a:t>|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B : a | </a:t>
            </a:r>
            <a:r>
              <a:rPr lang="en-US" altLang="zh-TW" spc="-1" dirty="0" err="1">
                <a:solidFill>
                  <a:srgbClr val="FF0000"/>
                </a:solidFill>
                <a:latin typeface="Times New Roman"/>
              </a:rPr>
              <a:t>ab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bb</a:t>
            </a:r>
            <a:r>
              <a:rPr lang="en-US" altLang="zh-TW" spc="-1" dirty="0" err="1">
                <a:solidFill>
                  <a:srgbClr val="FF0000"/>
                </a:solidFill>
                <a:latin typeface="Times New Roman"/>
              </a:rPr>
              <a:t>a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 </a:t>
            </a:r>
            <a:r>
              <a:rPr lang="en-US" altLang="zh-TW" spc="-1" dirty="0">
                <a:latin typeface="Times New Roman"/>
              </a:rPr>
              <a:t>|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aabba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  / 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aabbbaa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|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ab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 </a:t>
            </a:r>
            <a:r>
              <a:rPr lang="en-US" altLang="zh-TW" spc="-1" dirty="0">
                <a:latin typeface="Times New Roman"/>
              </a:rPr>
              <a:t>|</a:t>
            </a:r>
          </a:p>
          <a:p>
            <a:pPr marL="0" indent="0">
              <a:buNone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C = aba</a:t>
            </a:r>
          </a:p>
          <a:p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41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STR-IC-LCS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0925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A :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ba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|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ab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 </a:t>
            </a:r>
            <a:r>
              <a:rPr lang="en-US" altLang="zh-TW" spc="-1" dirty="0">
                <a:latin typeface="Times New Roman"/>
              </a:rPr>
              <a:t>|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aaaba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  /  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baabbaaa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|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aba </a:t>
            </a:r>
            <a:r>
              <a:rPr lang="en-US" altLang="zh-TW" spc="-1" dirty="0">
                <a:latin typeface="Times New Roman"/>
              </a:rPr>
              <a:t>|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B : a | </a:t>
            </a:r>
            <a:r>
              <a:rPr lang="en-US" altLang="zh-TW" spc="-1" dirty="0" err="1">
                <a:solidFill>
                  <a:srgbClr val="FF0000"/>
                </a:solidFill>
                <a:latin typeface="Times New Roman"/>
              </a:rPr>
              <a:t>ab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bb</a:t>
            </a:r>
            <a:r>
              <a:rPr lang="en-US" altLang="zh-TW" spc="-1" dirty="0" err="1">
                <a:solidFill>
                  <a:srgbClr val="FF0000"/>
                </a:solidFill>
                <a:latin typeface="Times New Roman"/>
              </a:rPr>
              <a:t>a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 </a:t>
            </a:r>
            <a:r>
              <a:rPr lang="en-US" altLang="zh-TW" spc="-1" dirty="0">
                <a:latin typeface="Times New Roman"/>
              </a:rPr>
              <a:t>|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aabba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  / 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aabbbaa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|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ab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 </a:t>
            </a:r>
            <a:r>
              <a:rPr lang="en-US" altLang="zh-TW" spc="-1" dirty="0">
                <a:latin typeface="Times New Roman"/>
              </a:rPr>
              <a:t>|</a:t>
            </a:r>
          </a:p>
          <a:p>
            <a:pPr marL="0" indent="0">
              <a:buNone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aabbbaa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|C| + Reverse-LCS(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aaaba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it-IT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TimeComplexity = O(|A||B|) 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it-IT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it-IT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O(MN)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971FC95-76E7-3B9D-48E7-27CE880E71E9}"/>
              </a:ext>
            </a:extLst>
          </p:cNvPr>
          <p:cNvCxnSpPr>
            <a:cxnSpLocks/>
          </p:cNvCxnSpPr>
          <p:nvPr/>
        </p:nvCxnSpPr>
        <p:spPr>
          <a:xfrm>
            <a:off x="2914650" y="2247900"/>
            <a:ext cx="2752725" cy="542925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223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STR-IC-LCS via RLE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it-IT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Run-length encoding (RLE)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A = </a:t>
            </a:r>
            <a:r>
              <a:rPr lang="en-US" altLang="zh-TW" spc="-1" dirty="0" err="1">
                <a:latin typeface="Times New Roman"/>
              </a:rPr>
              <a:t>baabbaaaaba</a:t>
            </a:r>
            <a:r>
              <a:rPr lang="en-US" altLang="zh-TW" spc="-1" dirty="0">
                <a:latin typeface="Times New Roman"/>
              </a:rPr>
              <a:t> ;       RLE(A) = 1b2a2b4a1b1a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B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pc="-1" dirty="0" err="1">
                <a:latin typeface="Times New Roman"/>
              </a:rPr>
              <a:t>abbbaa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abba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;       RLE(B) = 2a3b3a2b1a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C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aaba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             ;       RLE(C) = 2a1b1a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011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 DP table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A = </a:t>
            </a:r>
            <a:r>
              <a:rPr lang="en-US" altLang="zh-TW" spc="-1" dirty="0" err="1">
                <a:latin typeface="Times New Roman"/>
              </a:rPr>
              <a:t>baabbaaaaba</a:t>
            </a:r>
            <a:r>
              <a:rPr lang="en-US" altLang="zh-TW" spc="-1" dirty="0">
                <a:latin typeface="Times New Roman"/>
              </a:rPr>
              <a:t> ; RLE(A) = 1b2a2b4a1b1a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B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pc="-1" dirty="0" err="1">
                <a:latin typeface="Times New Roman"/>
              </a:rPr>
              <a:t>abbbaa</a:t>
            </a:r>
            <a:r>
              <a:rPr lang="en-US" altLang="zh-TW" spc="-1" dirty="0" err="1">
                <a:solidFill>
                  <a:srgbClr val="000000"/>
                </a:solidFill>
                <a:latin typeface="Times New Roman"/>
              </a:rPr>
              <a:t>abba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; RLE(B) = 2a3b3a2b1a</a:t>
            </a:r>
          </a:p>
          <a:p>
            <a:pPr marL="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B6FAFC14-CEA6-6303-DCB9-14C1BE4C1FDF}"/>
              </a:ext>
            </a:extLst>
          </p:cNvPr>
          <p:cNvGraphicFramePr>
            <a:graphicFrameLocks/>
          </p:cNvGraphicFramePr>
          <p:nvPr/>
        </p:nvGraphicFramePr>
        <p:xfrm>
          <a:off x="1482728" y="3566795"/>
          <a:ext cx="54863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18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18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18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18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18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18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18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184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18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CC7B6D11-1DEE-4650-F5C2-73C2DCCA138E}"/>
              </a:ext>
            </a:extLst>
          </p:cNvPr>
          <p:cNvGraphicFramePr>
            <a:graphicFrameLocks/>
          </p:cNvGraphicFramePr>
          <p:nvPr/>
        </p:nvGraphicFramePr>
        <p:xfrm>
          <a:off x="8700294" y="1887538"/>
          <a:ext cx="3009103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9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95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95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8A31E7AB-A168-5A55-C50C-26B2DBD342D9}"/>
              </a:ext>
            </a:extLst>
          </p:cNvPr>
          <p:cNvSpPr txBox="1"/>
          <p:nvPr/>
        </p:nvSpPr>
        <p:spPr>
          <a:xfrm>
            <a:off x="314334" y="3539629"/>
            <a:ext cx="111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spc="-1" dirty="0">
                <a:latin typeface="Times New Roman"/>
              </a:rPr>
              <a:t>RLE(A)</a:t>
            </a:r>
            <a:endParaRPr lang="zh-TW" altLang="en-US" sz="2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A3F2E6-ACD6-A7C2-60CD-F3C94C07C1F5}"/>
              </a:ext>
            </a:extLst>
          </p:cNvPr>
          <p:cNvSpPr txBox="1"/>
          <p:nvPr/>
        </p:nvSpPr>
        <p:spPr>
          <a:xfrm>
            <a:off x="8624887" y="1355706"/>
            <a:ext cx="111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spc="-1" dirty="0">
                <a:latin typeface="Times New Roman"/>
              </a:rPr>
              <a:t>RLE(B)</a:t>
            </a:r>
            <a:endParaRPr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31C5000-387C-6183-D1BB-169C4EC9D737}"/>
              </a:ext>
            </a:extLst>
          </p:cNvPr>
          <p:cNvSpPr txBox="1"/>
          <p:nvPr/>
        </p:nvSpPr>
        <p:spPr>
          <a:xfrm>
            <a:off x="1482728" y="3077964"/>
            <a:ext cx="111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spc="-1" dirty="0">
                <a:latin typeface="Times New Roman"/>
              </a:rPr>
              <a:t>A</a:t>
            </a:r>
            <a:endParaRPr lang="zh-TW" altLang="en-US" sz="2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CDB166-09B7-526C-6F52-659667584DDD}"/>
              </a:ext>
            </a:extLst>
          </p:cNvPr>
          <p:cNvSpPr txBox="1"/>
          <p:nvPr/>
        </p:nvSpPr>
        <p:spPr>
          <a:xfrm>
            <a:off x="8285956" y="1825625"/>
            <a:ext cx="414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spc="-1" dirty="0">
                <a:latin typeface="Times New Roman"/>
              </a:rPr>
              <a:t>B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27226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B6FAFC14-CEA6-6303-DCB9-14C1BE4C1F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2261006"/>
              </p:ext>
            </p:extLst>
          </p:nvPr>
        </p:nvGraphicFramePr>
        <p:xfrm>
          <a:off x="164306" y="4218177"/>
          <a:ext cx="512063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7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37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37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37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37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37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37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849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CC7B6D11-1DEE-4650-F5C2-73C2DCCA13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7442689"/>
              </p:ext>
            </p:extLst>
          </p:nvPr>
        </p:nvGraphicFramePr>
        <p:xfrm>
          <a:off x="4269104" y="21353"/>
          <a:ext cx="2834641" cy="4114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6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6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46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46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462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16523"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BD0EFEFD-0413-C54B-36CF-195A604CDF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6861936"/>
              </p:ext>
            </p:extLst>
          </p:nvPr>
        </p:nvGraphicFramePr>
        <p:xfrm>
          <a:off x="7455698" y="2206503"/>
          <a:ext cx="4571996" cy="4480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15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15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15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15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15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15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15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15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15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44658"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標題 1">
            <a:extLst>
              <a:ext uri="{FF2B5EF4-FFF2-40B4-BE49-F238E27FC236}">
                <a16:creationId xmlns:a16="http://schemas.microsoft.com/office/drawing/2014/main" id="{CFA73F55-6280-B72C-7352-C747ECB1A672}"/>
              </a:ext>
            </a:extLst>
          </p:cNvPr>
          <p:cNvSpPr txBox="1">
            <a:spLocks/>
          </p:cNvSpPr>
          <p:nvPr/>
        </p:nvSpPr>
        <p:spPr>
          <a:xfrm>
            <a:off x="428625" y="33090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pc="-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RLE LCS Table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箭號: 向下 13">
            <a:extLst>
              <a:ext uri="{FF2B5EF4-FFF2-40B4-BE49-F238E27FC236}">
                <a16:creationId xmlns:a16="http://schemas.microsoft.com/office/drawing/2014/main" id="{FD607E93-B380-97EE-7B11-9288B6E57967}"/>
              </a:ext>
            </a:extLst>
          </p:cNvPr>
          <p:cNvSpPr/>
          <p:nvPr/>
        </p:nvSpPr>
        <p:spPr>
          <a:xfrm rot="18686528">
            <a:off x="7695491" y="907286"/>
            <a:ext cx="262490" cy="135742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547A9207-7127-8492-3AD6-13D6B747C63C}"/>
              </a:ext>
            </a:extLst>
          </p:cNvPr>
          <p:cNvSpPr/>
          <p:nvPr/>
        </p:nvSpPr>
        <p:spPr>
          <a:xfrm rot="16200000">
            <a:off x="6293667" y="4491827"/>
            <a:ext cx="239123" cy="163572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897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zh-TW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|RLE(C)| &gt; 1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758950"/>
            <a:ext cx="10515600" cy="4965700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|RLE(X)| = m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|RLE(Y)| = n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Interval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O(m)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O(n)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find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STR-IC-LCS: O(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0D12DAB-F5EA-DA0D-3693-73E9BF4A4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295392"/>
              </p:ext>
            </p:extLst>
          </p:nvPr>
        </p:nvGraphicFramePr>
        <p:xfrm>
          <a:off x="2085806" y="2458085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52E422D-DC95-57FC-32C5-C514D951A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94112"/>
              </p:ext>
            </p:extLst>
          </p:nvPr>
        </p:nvGraphicFramePr>
        <p:xfrm>
          <a:off x="2085806" y="3798729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816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-244475"/>
            <a:ext cx="10515600" cy="1325563"/>
          </a:xfrm>
        </p:spPr>
        <p:txBody>
          <a:bodyPr/>
          <a:lstStyle/>
          <a:p>
            <a:r>
              <a:rPr lang="it-IT" altLang="zh-TW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|RLE(C)| = 1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4800" y="962025"/>
            <a:ext cx="11791950" cy="5791200"/>
          </a:xfrm>
        </p:spPr>
        <p:txBody>
          <a:bodyPr>
            <a:norm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>
                <a:latin typeface="Times New Roman" panose="02020603050405020304" pitchFamily="18" charset="0"/>
              </a:rPr>
              <a:t>A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>
                <a:latin typeface="Times New Roman" panose="02020603050405020304" pitchFamily="18" charset="0"/>
              </a:rPr>
              <a:t>B</a:t>
            </a: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lvl="1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STR-IC-LCS: O(</a:t>
            </a:r>
            <a:r>
              <a:rPr lang="it-IT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Mn + mN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36269AAB-CD80-5A32-29D3-669339BD7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372422"/>
              </p:ext>
            </p:extLst>
          </p:nvPr>
        </p:nvGraphicFramePr>
        <p:xfrm>
          <a:off x="1187450" y="1465263"/>
          <a:ext cx="7450663" cy="18542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970090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7542276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019528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2612409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36093531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276455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406333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692175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8845146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517005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127783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62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7774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55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3824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81F5111-9529-52BD-501E-698530A5D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61637"/>
              </p:ext>
            </p:extLst>
          </p:nvPr>
        </p:nvGraphicFramePr>
        <p:xfrm>
          <a:off x="1187450" y="4181475"/>
          <a:ext cx="7450663" cy="18542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970090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7542276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019528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2612409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36093531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276455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406333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692175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8845146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517005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127783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62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7774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55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3824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22C364E1-5940-ABE1-315F-ADA9832EDBFE}"/>
              </a:ext>
            </a:extLst>
          </p:cNvPr>
          <p:cNvSpPr txBox="1"/>
          <p:nvPr/>
        </p:nvSpPr>
        <p:spPr>
          <a:xfrm>
            <a:off x="8920843" y="1410801"/>
            <a:ext cx="29663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{[3, 6], [3, 7]}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{[6, 8]}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{[7, 10]}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G’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{[1, 6], [2, 7]}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G’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{[6, 8], [7, 9]}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712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838200" y="1825624"/>
            <a:ext cx="10515600" cy="4556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LCS table = O(|A| * |RLE(B)| + |B| * |RLE(A)|)</a:t>
            </a:r>
          </a:p>
          <a:p>
            <a:pPr marL="0" indent="0">
              <a:buNone/>
            </a:pPr>
            <a:r>
              <a:rPr lang="it-IT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=  O(Mn + </a:t>
            </a:r>
            <a:r>
              <a:rPr lang="it-IT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it-IT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</a:p>
          <a:p>
            <a:endParaRPr lang="it-IT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find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STR-IC-LCS: 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|RLE(C)| &gt; 1: O(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|RLE(C)| = 1: O(Mn +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endParaRPr lang="it-IT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it-IT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</a:t>
            </a:r>
            <a:r>
              <a:rPr lang="it-IT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O(Mn + mN)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5E39D8A-01A8-9A8B-9A83-F99F6C985EA3}"/>
              </a:ext>
            </a:extLst>
          </p:cNvPr>
          <p:cNvSpPr txBox="1"/>
          <p:nvPr/>
        </p:nvSpPr>
        <p:spPr>
          <a:xfrm>
            <a:off x="6781799" y="3705225"/>
            <a:ext cx="2905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TW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≧ </a:t>
            </a:r>
            <a:r>
              <a:rPr lang="en-US" altLang="zh-TW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m; N </a:t>
            </a:r>
            <a:r>
              <a:rPr lang="zh-TW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≧</a:t>
            </a:r>
            <a:r>
              <a:rPr lang="en-US" altLang="zh-TW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endParaRPr lang="zh-TW" alt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67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2225</TotalTime>
  <Words>1241</Words>
  <Application>Microsoft Office PowerPoint</Application>
  <PresentationFormat>寬螢幕</PresentationFormat>
  <Paragraphs>741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佈景主題</vt:lpstr>
      <vt:lpstr>Faster STR-IC-LCS Computation via RLE</vt:lpstr>
      <vt:lpstr>Abstract(1/2)</vt:lpstr>
      <vt:lpstr>Abstract(2/2)</vt:lpstr>
      <vt:lpstr>STR-IC-LCS  (Substring Inclusion LCS)</vt:lpstr>
      <vt:lpstr>STR-IC-LCS</vt:lpstr>
      <vt:lpstr>STR-IC-LCS</vt:lpstr>
      <vt:lpstr>STR-IC-LCS via RLE</vt:lpstr>
      <vt:lpstr>compressed DP table</vt:lpstr>
      <vt:lpstr>PowerPoint 簡報</vt:lpstr>
      <vt:lpstr>|RLE(C)| &gt; 1</vt:lpstr>
      <vt:lpstr>|RLE(C)| = 1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pplab</cp:lastModifiedBy>
  <cp:revision>194</cp:revision>
  <dcterms:created xsi:type="dcterms:W3CDTF">2021-01-03T09:53:04Z</dcterms:created>
  <dcterms:modified xsi:type="dcterms:W3CDTF">2023-04-25T12:31:32Z</dcterms:modified>
</cp:coreProperties>
</file>