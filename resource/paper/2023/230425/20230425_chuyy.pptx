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
  </p:notesMasterIdLst>
  <p:sldIdLst>
    <p:sldId id="256" r:id="rId2"/>
    <p:sldId id="257" r:id="rId3"/>
    <p:sldId id="258" r:id="rId4"/>
    <p:sldId id="259" r:id="rId5"/>
    <p:sldId id="261" r:id="rId6"/>
    <p:sldId id="260" r:id="rId7"/>
    <p:sldId id="265" r:id="rId8"/>
    <p:sldId id="262" r:id="rId9"/>
    <p:sldId id="263" r:id="rId10"/>
    <p:sldId id="264"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488"/>
    <p:restoredTop sz="95788"/>
  </p:normalViewPr>
  <p:slideViewPr>
    <p:cSldViewPr snapToGrid="0" snapToObjects="1">
      <p:cViewPr varScale="1">
        <p:scale>
          <a:sx n="129" d="100"/>
          <a:sy n="129" d="100"/>
        </p:scale>
        <p:origin x="23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685761-BC47-1640-B177-90544C5C7DE3}" type="datetimeFigureOut">
              <a:rPr kumimoji="1" lang="zh-TW" altLang="en-US" smtClean="0"/>
              <a:t>2023/4/25</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DF88BA-E6E4-4543-BA48-BA0FF57EDFDD}" type="slidenum">
              <a:rPr kumimoji="1" lang="zh-TW" altLang="en-US" smtClean="0"/>
              <a:t>‹#›</a:t>
            </a:fld>
            <a:endParaRPr kumimoji="1" lang="zh-TW" altLang="en-US"/>
          </a:p>
        </p:txBody>
      </p:sp>
    </p:spTree>
    <p:extLst>
      <p:ext uri="{BB962C8B-B14F-4D97-AF65-F5344CB8AC3E}">
        <p14:creationId xmlns:p14="http://schemas.microsoft.com/office/powerpoint/2010/main" val="129180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8AFC48-3333-9D44-9A46-EBD28493A784}"/>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2FDEA52E-50C8-2B46-853E-68D8E0AC5B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按一下以編輯母片副標題樣式</a:t>
            </a:r>
          </a:p>
        </p:txBody>
      </p:sp>
      <p:sp>
        <p:nvSpPr>
          <p:cNvPr id="4" name="日期版面配置區 3">
            <a:extLst>
              <a:ext uri="{FF2B5EF4-FFF2-40B4-BE49-F238E27FC236}">
                <a16:creationId xmlns:a16="http://schemas.microsoft.com/office/drawing/2014/main" id="{99949C8A-F130-D646-AB33-6ACF0EC20126}"/>
              </a:ext>
            </a:extLst>
          </p:cNvPr>
          <p:cNvSpPr>
            <a:spLocks noGrp="1"/>
          </p:cNvSpPr>
          <p:nvPr>
            <p:ph type="dt" sz="half" idx="10"/>
          </p:nvPr>
        </p:nvSpPr>
        <p:spPr/>
        <p:txBody>
          <a:bodyPr/>
          <a:lstStyle/>
          <a:p>
            <a:fld id="{1D559227-5104-0D4E-AE2B-CFC6EF24DF26}" type="datetime1">
              <a:rPr kumimoji="1" lang="zh-TW" altLang="en-US" smtClean="0"/>
              <a:t>2023/4/25</a:t>
            </a:fld>
            <a:endParaRPr kumimoji="1" lang="zh-TW" altLang="en-US"/>
          </a:p>
        </p:txBody>
      </p:sp>
      <p:sp>
        <p:nvSpPr>
          <p:cNvPr id="5" name="頁尾版面配置區 4">
            <a:extLst>
              <a:ext uri="{FF2B5EF4-FFF2-40B4-BE49-F238E27FC236}">
                <a16:creationId xmlns:a16="http://schemas.microsoft.com/office/drawing/2014/main" id="{E450D42D-775A-2146-B8BB-C9CE9A382E72}"/>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1E502A-64F7-7C4E-B509-954BE6D3A0A2}"/>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125589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580369-97FF-B548-BB55-CB8DCE6B862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573028B2-5CCA-8C4B-A152-A6977DB014FE}"/>
              </a:ext>
            </a:extLst>
          </p:cNvPr>
          <p:cNvSpPr>
            <a:spLocks noGrp="1"/>
          </p:cNvSpPr>
          <p:nvPr>
            <p:ph idx="1"/>
          </p:nvPr>
        </p:nvSpPr>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2B847DA-2EF1-9E49-8F1B-E3D7D56E3B97}"/>
              </a:ext>
            </a:extLst>
          </p:cNvPr>
          <p:cNvSpPr>
            <a:spLocks noGrp="1"/>
          </p:cNvSpPr>
          <p:nvPr>
            <p:ph type="dt" sz="half" idx="10"/>
          </p:nvPr>
        </p:nvSpPr>
        <p:spPr/>
        <p:txBody>
          <a:bodyPr/>
          <a:lstStyle/>
          <a:p>
            <a:fld id="{6B7B55EC-044C-AD45-985E-A0F6561D9028}" type="datetime1">
              <a:rPr kumimoji="1" lang="zh-TW" altLang="en-US" smtClean="0"/>
              <a:t>2023/4/25</a:t>
            </a:fld>
            <a:endParaRPr kumimoji="1" lang="zh-TW" altLang="en-US"/>
          </a:p>
        </p:txBody>
      </p:sp>
      <p:sp>
        <p:nvSpPr>
          <p:cNvPr id="5" name="頁尾版面配置區 4">
            <a:extLst>
              <a:ext uri="{FF2B5EF4-FFF2-40B4-BE49-F238E27FC236}">
                <a16:creationId xmlns:a16="http://schemas.microsoft.com/office/drawing/2014/main" id="{6F09B162-6F92-BD4C-A01A-413E3321E0F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C6743639-9C98-CC43-9A7E-7827356595CB}"/>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996406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07A748-F79F-F346-8961-AA8DB18739C9}"/>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3E6C14E7-8AB9-AE4F-8AB3-D0046CEF4C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編輯母片文字樣式</a:t>
            </a:r>
          </a:p>
        </p:txBody>
      </p:sp>
      <p:sp>
        <p:nvSpPr>
          <p:cNvPr id="4" name="日期版面配置區 3">
            <a:extLst>
              <a:ext uri="{FF2B5EF4-FFF2-40B4-BE49-F238E27FC236}">
                <a16:creationId xmlns:a16="http://schemas.microsoft.com/office/drawing/2014/main" id="{17A4DA8E-2AC4-874C-948B-4FEBEEDEF653}"/>
              </a:ext>
            </a:extLst>
          </p:cNvPr>
          <p:cNvSpPr>
            <a:spLocks noGrp="1"/>
          </p:cNvSpPr>
          <p:nvPr>
            <p:ph type="dt" sz="half" idx="10"/>
          </p:nvPr>
        </p:nvSpPr>
        <p:spPr/>
        <p:txBody>
          <a:bodyPr/>
          <a:lstStyle/>
          <a:p>
            <a:fld id="{1BE45051-DBAB-7C4D-ADA4-56271E2E2BD3}" type="datetime1">
              <a:rPr kumimoji="1" lang="zh-TW" altLang="en-US" smtClean="0"/>
              <a:t>2023/4/25</a:t>
            </a:fld>
            <a:endParaRPr kumimoji="1" lang="zh-TW" altLang="en-US"/>
          </a:p>
        </p:txBody>
      </p:sp>
      <p:sp>
        <p:nvSpPr>
          <p:cNvPr id="5" name="頁尾版面配置區 4">
            <a:extLst>
              <a:ext uri="{FF2B5EF4-FFF2-40B4-BE49-F238E27FC236}">
                <a16:creationId xmlns:a16="http://schemas.microsoft.com/office/drawing/2014/main" id="{98E82387-02E0-C34C-8788-958DE14FAF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904864AD-726D-904D-9686-9656A2465A6A}"/>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507744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51106A-DE42-B644-B664-A92563662205}"/>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E99A4BD2-86D7-EF4D-8B1D-D7A873433A35}"/>
              </a:ext>
            </a:extLst>
          </p:cNvPr>
          <p:cNvSpPr>
            <a:spLocks noGrp="1"/>
          </p:cNvSpPr>
          <p:nvPr>
            <p:ph sz="half" idx="1"/>
          </p:nvPr>
        </p:nvSpPr>
        <p:spPr>
          <a:xfrm>
            <a:off x="838200" y="1825625"/>
            <a:ext cx="5181600" cy="435133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697BFE0C-75E1-374C-A1BE-B0F7AB5B1191}"/>
              </a:ext>
            </a:extLst>
          </p:cNvPr>
          <p:cNvSpPr>
            <a:spLocks noGrp="1"/>
          </p:cNvSpPr>
          <p:nvPr>
            <p:ph sz="half" idx="2"/>
          </p:nvPr>
        </p:nvSpPr>
        <p:spPr>
          <a:xfrm>
            <a:off x="6172200" y="1825625"/>
            <a:ext cx="5181600" cy="435133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A42632B-169D-B247-A46A-487B2CEEEE45}"/>
              </a:ext>
            </a:extLst>
          </p:cNvPr>
          <p:cNvSpPr>
            <a:spLocks noGrp="1"/>
          </p:cNvSpPr>
          <p:nvPr>
            <p:ph type="dt" sz="half" idx="10"/>
          </p:nvPr>
        </p:nvSpPr>
        <p:spPr/>
        <p:txBody>
          <a:bodyPr/>
          <a:lstStyle/>
          <a:p>
            <a:fld id="{C1EF0564-7FFB-CA45-9BCE-B6282CFC5BC4}" type="datetime1">
              <a:rPr kumimoji="1" lang="zh-TW" altLang="en-US" smtClean="0"/>
              <a:t>2023/4/25</a:t>
            </a:fld>
            <a:endParaRPr kumimoji="1" lang="zh-TW" altLang="en-US"/>
          </a:p>
        </p:txBody>
      </p:sp>
      <p:sp>
        <p:nvSpPr>
          <p:cNvPr id="6" name="頁尾版面配置區 5">
            <a:extLst>
              <a:ext uri="{FF2B5EF4-FFF2-40B4-BE49-F238E27FC236}">
                <a16:creationId xmlns:a16="http://schemas.microsoft.com/office/drawing/2014/main" id="{E5B42995-7EC8-AD4B-B91A-DB5FDC9376BF}"/>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35303DE2-E496-1F41-A7FE-CF2E2D9DD903}"/>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2400202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83B446-AFD9-BC43-8D50-6C488C6FF28E}"/>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572EBCA2-C8A4-8C43-8427-BBA9B59598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編輯母片文字樣式</a:t>
            </a:r>
          </a:p>
        </p:txBody>
      </p:sp>
      <p:sp>
        <p:nvSpPr>
          <p:cNvPr id="4" name="內容版面配置區 3">
            <a:extLst>
              <a:ext uri="{FF2B5EF4-FFF2-40B4-BE49-F238E27FC236}">
                <a16:creationId xmlns:a16="http://schemas.microsoft.com/office/drawing/2014/main" id="{AA4AB07E-104F-1546-A76D-27C9172D2012}"/>
              </a:ext>
            </a:extLst>
          </p:cNvPr>
          <p:cNvSpPr>
            <a:spLocks noGrp="1"/>
          </p:cNvSpPr>
          <p:nvPr>
            <p:ph sz="half" idx="2"/>
          </p:nvPr>
        </p:nvSpPr>
        <p:spPr>
          <a:xfrm>
            <a:off x="839788" y="2505075"/>
            <a:ext cx="5157787" cy="368458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4EDA1436-7B7F-424E-BDF6-9B2679D978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編輯母片文字樣式</a:t>
            </a:r>
          </a:p>
        </p:txBody>
      </p:sp>
      <p:sp>
        <p:nvSpPr>
          <p:cNvPr id="6" name="內容版面配置區 5">
            <a:extLst>
              <a:ext uri="{FF2B5EF4-FFF2-40B4-BE49-F238E27FC236}">
                <a16:creationId xmlns:a16="http://schemas.microsoft.com/office/drawing/2014/main" id="{5EE7DA3D-69F7-CE40-B4D5-8558AC0D6BA6}"/>
              </a:ext>
            </a:extLst>
          </p:cNvPr>
          <p:cNvSpPr>
            <a:spLocks noGrp="1"/>
          </p:cNvSpPr>
          <p:nvPr>
            <p:ph sz="quarter" idx="4"/>
          </p:nvPr>
        </p:nvSpPr>
        <p:spPr>
          <a:xfrm>
            <a:off x="6172200" y="2505075"/>
            <a:ext cx="5183188" cy="368458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F204E6A0-241E-D240-ACC4-4197BB01AB8C}"/>
              </a:ext>
            </a:extLst>
          </p:cNvPr>
          <p:cNvSpPr>
            <a:spLocks noGrp="1"/>
          </p:cNvSpPr>
          <p:nvPr>
            <p:ph type="dt" sz="half" idx="10"/>
          </p:nvPr>
        </p:nvSpPr>
        <p:spPr/>
        <p:txBody>
          <a:bodyPr/>
          <a:lstStyle/>
          <a:p>
            <a:fld id="{F8B6BB58-657F-9B42-8F63-CE29A2D5959E}" type="datetime1">
              <a:rPr kumimoji="1" lang="zh-TW" altLang="en-US" smtClean="0"/>
              <a:t>2023/4/25</a:t>
            </a:fld>
            <a:endParaRPr kumimoji="1" lang="zh-TW" altLang="en-US"/>
          </a:p>
        </p:txBody>
      </p:sp>
      <p:sp>
        <p:nvSpPr>
          <p:cNvPr id="8" name="頁尾版面配置區 7">
            <a:extLst>
              <a:ext uri="{FF2B5EF4-FFF2-40B4-BE49-F238E27FC236}">
                <a16:creationId xmlns:a16="http://schemas.microsoft.com/office/drawing/2014/main" id="{D3B801A1-AF0A-B84E-96F6-29CFB5435F43}"/>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9600253E-5D94-6E45-8290-370C15F59897}"/>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87426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57E884-9D25-2945-A655-164A32436AEF}"/>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06A303C2-B14E-C04F-B1CE-D8018834AF75}"/>
              </a:ext>
            </a:extLst>
          </p:cNvPr>
          <p:cNvSpPr>
            <a:spLocks noGrp="1"/>
          </p:cNvSpPr>
          <p:nvPr>
            <p:ph type="dt" sz="half" idx="10"/>
          </p:nvPr>
        </p:nvSpPr>
        <p:spPr/>
        <p:txBody>
          <a:bodyPr/>
          <a:lstStyle/>
          <a:p>
            <a:fld id="{CDFA12DD-F92E-F841-AEA2-DD2F0B8AC128}" type="datetime1">
              <a:rPr kumimoji="1" lang="zh-TW" altLang="en-US" smtClean="0"/>
              <a:t>2023/4/25</a:t>
            </a:fld>
            <a:endParaRPr kumimoji="1" lang="zh-TW" altLang="en-US"/>
          </a:p>
        </p:txBody>
      </p:sp>
      <p:sp>
        <p:nvSpPr>
          <p:cNvPr id="4" name="頁尾版面配置區 3">
            <a:extLst>
              <a:ext uri="{FF2B5EF4-FFF2-40B4-BE49-F238E27FC236}">
                <a16:creationId xmlns:a16="http://schemas.microsoft.com/office/drawing/2014/main" id="{251ACB14-3C83-BF40-A08D-8B6551FEB45D}"/>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A5C06E59-8A0C-3B42-90EE-5E614E092B18}"/>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2477431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CB7FD22-44BD-D04C-B395-F3F22D97C84F}"/>
              </a:ext>
            </a:extLst>
          </p:cNvPr>
          <p:cNvSpPr>
            <a:spLocks noGrp="1"/>
          </p:cNvSpPr>
          <p:nvPr>
            <p:ph type="dt" sz="half" idx="10"/>
          </p:nvPr>
        </p:nvSpPr>
        <p:spPr/>
        <p:txBody>
          <a:bodyPr/>
          <a:lstStyle/>
          <a:p>
            <a:fld id="{1E4BAC9C-27AF-0445-AD50-816FC8B10FDD}" type="datetime1">
              <a:rPr kumimoji="1" lang="zh-TW" altLang="en-US" smtClean="0"/>
              <a:t>2023/4/25</a:t>
            </a:fld>
            <a:endParaRPr kumimoji="1" lang="zh-TW" altLang="en-US"/>
          </a:p>
        </p:txBody>
      </p:sp>
      <p:sp>
        <p:nvSpPr>
          <p:cNvPr id="3" name="頁尾版面配置區 2">
            <a:extLst>
              <a:ext uri="{FF2B5EF4-FFF2-40B4-BE49-F238E27FC236}">
                <a16:creationId xmlns:a16="http://schemas.microsoft.com/office/drawing/2014/main" id="{C444FE38-2187-8248-97D1-6F5606FAB126}"/>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65EF3BE3-3845-844D-A07F-F27C144C5EF4}"/>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514009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B493A6-EA88-8A46-9A8B-F872E6DC3C28}"/>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704C30A-146C-C947-844C-AAE8B3BE79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36B48693-0DB2-B84A-9B17-AABB613BF7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編輯母片文字樣式</a:t>
            </a:r>
          </a:p>
        </p:txBody>
      </p:sp>
      <p:sp>
        <p:nvSpPr>
          <p:cNvPr id="5" name="日期版面配置區 4">
            <a:extLst>
              <a:ext uri="{FF2B5EF4-FFF2-40B4-BE49-F238E27FC236}">
                <a16:creationId xmlns:a16="http://schemas.microsoft.com/office/drawing/2014/main" id="{CB4F527B-2D7C-E546-8E6E-59F97AC0B7A5}"/>
              </a:ext>
            </a:extLst>
          </p:cNvPr>
          <p:cNvSpPr>
            <a:spLocks noGrp="1"/>
          </p:cNvSpPr>
          <p:nvPr>
            <p:ph type="dt" sz="half" idx="10"/>
          </p:nvPr>
        </p:nvSpPr>
        <p:spPr/>
        <p:txBody>
          <a:bodyPr/>
          <a:lstStyle/>
          <a:p>
            <a:fld id="{37BB5826-6582-C149-8E57-B0E656F33930}" type="datetime1">
              <a:rPr kumimoji="1" lang="zh-TW" altLang="en-US" smtClean="0"/>
              <a:t>2023/4/25</a:t>
            </a:fld>
            <a:endParaRPr kumimoji="1" lang="zh-TW" altLang="en-US"/>
          </a:p>
        </p:txBody>
      </p:sp>
      <p:sp>
        <p:nvSpPr>
          <p:cNvPr id="6" name="頁尾版面配置區 5">
            <a:extLst>
              <a:ext uri="{FF2B5EF4-FFF2-40B4-BE49-F238E27FC236}">
                <a16:creationId xmlns:a16="http://schemas.microsoft.com/office/drawing/2014/main" id="{FBCBFEFC-0A9F-9B4C-A6C0-4A2E0277AC1B}"/>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794B559-2406-764E-A4B9-D824C5231CC6}"/>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1499344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E627F2-C5A6-0D4A-B798-19DCE18B44BA}"/>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080398C8-8B1E-B547-A326-BD1E129C8D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C07516E8-147F-294D-8085-25893538C3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編輯母片文字樣式</a:t>
            </a:r>
          </a:p>
        </p:txBody>
      </p:sp>
      <p:sp>
        <p:nvSpPr>
          <p:cNvPr id="5" name="日期版面配置區 4">
            <a:extLst>
              <a:ext uri="{FF2B5EF4-FFF2-40B4-BE49-F238E27FC236}">
                <a16:creationId xmlns:a16="http://schemas.microsoft.com/office/drawing/2014/main" id="{DD3358FF-DC99-1441-8DAF-FDDE3326FAD0}"/>
              </a:ext>
            </a:extLst>
          </p:cNvPr>
          <p:cNvSpPr>
            <a:spLocks noGrp="1"/>
          </p:cNvSpPr>
          <p:nvPr>
            <p:ph type="dt" sz="half" idx="10"/>
          </p:nvPr>
        </p:nvSpPr>
        <p:spPr/>
        <p:txBody>
          <a:bodyPr/>
          <a:lstStyle/>
          <a:p>
            <a:fld id="{CE3E1583-6ED2-5448-8362-DC2E2DF96F6E}" type="datetime1">
              <a:rPr kumimoji="1" lang="zh-TW" altLang="en-US" smtClean="0"/>
              <a:t>2023/4/25</a:t>
            </a:fld>
            <a:endParaRPr kumimoji="1" lang="zh-TW" altLang="en-US"/>
          </a:p>
        </p:txBody>
      </p:sp>
      <p:sp>
        <p:nvSpPr>
          <p:cNvPr id="6" name="頁尾版面配置區 5">
            <a:extLst>
              <a:ext uri="{FF2B5EF4-FFF2-40B4-BE49-F238E27FC236}">
                <a16:creationId xmlns:a16="http://schemas.microsoft.com/office/drawing/2014/main" id="{CCCD27CE-99AA-6E4E-9DBE-E31E2907AD9D}"/>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455623A4-40DB-5648-A636-5C55E052F991}"/>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129642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4E152E-7F75-8942-9848-51F47CBDB059}"/>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3B8AA00-30B6-A94A-B2F0-94FCA9255E94}"/>
              </a:ext>
            </a:extLst>
          </p:cNvPr>
          <p:cNvSpPr>
            <a:spLocks noGrp="1"/>
          </p:cNvSpPr>
          <p:nvPr>
            <p:ph type="body" orient="vert" idx="1"/>
          </p:nvPr>
        </p:nvSpPr>
        <p:spPr/>
        <p:txBody>
          <a:bodyPr vert="eaVert"/>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E95A9F1C-7E4C-884D-9A90-EDF2A6DBD779}"/>
              </a:ext>
            </a:extLst>
          </p:cNvPr>
          <p:cNvSpPr>
            <a:spLocks noGrp="1"/>
          </p:cNvSpPr>
          <p:nvPr>
            <p:ph type="dt" sz="half" idx="10"/>
          </p:nvPr>
        </p:nvSpPr>
        <p:spPr/>
        <p:txBody>
          <a:bodyPr/>
          <a:lstStyle/>
          <a:p>
            <a:fld id="{3CB91D62-DF39-2B4A-9C96-DAA8DA866A30}" type="datetime1">
              <a:rPr kumimoji="1" lang="zh-TW" altLang="en-US" smtClean="0"/>
              <a:t>2023/4/25</a:t>
            </a:fld>
            <a:endParaRPr kumimoji="1" lang="zh-TW" altLang="en-US"/>
          </a:p>
        </p:txBody>
      </p:sp>
      <p:sp>
        <p:nvSpPr>
          <p:cNvPr id="5" name="頁尾版面配置區 4">
            <a:extLst>
              <a:ext uri="{FF2B5EF4-FFF2-40B4-BE49-F238E27FC236}">
                <a16:creationId xmlns:a16="http://schemas.microsoft.com/office/drawing/2014/main" id="{EF12E854-2582-9F4E-8CFD-4D7ED3138D6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FE4CB08D-2F0B-CA45-8F57-E6B71AE4662A}"/>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725235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垂直標題 1">
            <a:extLst>
              <a:ext uri="{FF2B5EF4-FFF2-40B4-BE49-F238E27FC236}">
                <a16:creationId xmlns:a16="http://schemas.microsoft.com/office/drawing/2014/main" id="{9E14D04E-8318-224B-9272-AC5E0B731C3B}"/>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7D28947-C772-8143-9FC4-F0D4A51E2484}"/>
              </a:ext>
            </a:extLst>
          </p:cNvPr>
          <p:cNvSpPr>
            <a:spLocks noGrp="1"/>
          </p:cNvSpPr>
          <p:nvPr>
            <p:ph type="body" orient="vert" idx="1"/>
          </p:nvPr>
        </p:nvSpPr>
        <p:spPr>
          <a:xfrm>
            <a:off x="838200" y="365125"/>
            <a:ext cx="7734300" cy="5811838"/>
          </a:xfrm>
        </p:spPr>
        <p:txBody>
          <a:bodyPr vert="eaVert"/>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6C72D5E-B0ED-5047-A7FA-B2E657286FB5}"/>
              </a:ext>
            </a:extLst>
          </p:cNvPr>
          <p:cNvSpPr>
            <a:spLocks noGrp="1"/>
          </p:cNvSpPr>
          <p:nvPr>
            <p:ph type="dt" sz="half" idx="10"/>
          </p:nvPr>
        </p:nvSpPr>
        <p:spPr/>
        <p:txBody>
          <a:bodyPr/>
          <a:lstStyle/>
          <a:p>
            <a:fld id="{1C3AF8DB-CCF4-7A48-8850-2685985A08ED}" type="datetime1">
              <a:rPr kumimoji="1" lang="zh-TW" altLang="en-US" smtClean="0"/>
              <a:t>2023/4/25</a:t>
            </a:fld>
            <a:endParaRPr kumimoji="1" lang="zh-TW" altLang="en-US"/>
          </a:p>
        </p:txBody>
      </p:sp>
      <p:sp>
        <p:nvSpPr>
          <p:cNvPr id="5" name="頁尾版面配置區 4">
            <a:extLst>
              <a:ext uri="{FF2B5EF4-FFF2-40B4-BE49-F238E27FC236}">
                <a16:creationId xmlns:a16="http://schemas.microsoft.com/office/drawing/2014/main" id="{A4FA687B-D6E8-124C-B1FC-998BBF54F0A7}"/>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2D20F1B-4E62-4C4C-82A7-85B5304901D7}"/>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961686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05A8D0E-8330-F341-A098-517F99E9BF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117BF3-AF8D-E34D-9885-6A7A5C8DB2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4A2835D4-A14D-3A48-918A-80F589AD20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06BF9D-945A-9644-8C98-6072299715AD}" type="datetime1">
              <a:rPr kumimoji="1" lang="zh-TW" altLang="en-US" smtClean="0"/>
              <a:t>2023/4/25</a:t>
            </a:fld>
            <a:endParaRPr kumimoji="1" lang="zh-TW" altLang="en-US"/>
          </a:p>
        </p:txBody>
      </p:sp>
      <p:sp>
        <p:nvSpPr>
          <p:cNvPr id="5" name="頁尾版面配置區 4">
            <a:extLst>
              <a:ext uri="{FF2B5EF4-FFF2-40B4-BE49-F238E27FC236}">
                <a16:creationId xmlns:a16="http://schemas.microsoft.com/office/drawing/2014/main" id="{C74DF0F1-03B3-874C-95C1-565A03256B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31932831-0323-6F4F-B891-00A63D5522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299926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5F607E-C288-1D47-8A1C-E7C69ED95BEB}"/>
              </a:ext>
            </a:extLst>
          </p:cNvPr>
          <p:cNvSpPr>
            <a:spLocks noGrp="1"/>
          </p:cNvSpPr>
          <p:nvPr>
            <p:ph type="ctrTitle"/>
          </p:nvPr>
        </p:nvSpPr>
        <p:spPr/>
        <p:txBody>
          <a:bodyPr>
            <a:normAutofit fontScale="90000"/>
          </a:bodyPr>
          <a:lstStyle/>
          <a:p>
            <a:r>
              <a:rPr kumimoji="1" lang="en-US" altLang="zh-TW" dirty="0">
                <a:latin typeface="Times New Roman" panose="02020603050405020304" pitchFamily="18" charset="0"/>
                <a:cs typeface="Times New Roman" panose="02020603050405020304" pitchFamily="18" charset="0"/>
              </a:rPr>
              <a:t>Benchmark Instances and Branch-and-Cut Algorithm for the </a:t>
            </a:r>
            <a:r>
              <a:rPr kumimoji="1" lang="en-US" altLang="zh-TW" dirty="0" err="1">
                <a:latin typeface="Times New Roman" panose="02020603050405020304" pitchFamily="18" charset="0"/>
                <a:cs typeface="Times New Roman" panose="02020603050405020304" pitchFamily="18" charset="0"/>
              </a:rPr>
              <a:t>Hashiwokakero</a:t>
            </a:r>
            <a:r>
              <a:rPr kumimoji="1" lang="en-US" altLang="zh-TW" dirty="0">
                <a:latin typeface="Times New Roman" panose="02020603050405020304" pitchFamily="18" charset="0"/>
                <a:cs typeface="Times New Roman" panose="02020603050405020304" pitchFamily="18" charset="0"/>
              </a:rPr>
              <a:t> Puzzle</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8435B96C-9974-DE4C-8462-F823C1E2256B}"/>
              </a:ext>
            </a:extLst>
          </p:cNvPr>
          <p:cNvSpPr>
            <a:spLocks noGrp="1"/>
          </p:cNvSpPr>
          <p:nvPr>
            <p:ph type="subTitle" idx="1"/>
          </p:nvPr>
        </p:nvSpPr>
        <p:spPr/>
        <p:txBody>
          <a:bodyPr/>
          <a:lstStyle/>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Leandro C. Coelho, Gilbert </a:t>
            </a:r>
            <a:r>
              <a:rPr kumimoji="1" lang="en-US" altLang="zh-TW" dirty="0" err="1">
                <a:latin typeface="Times New Roman" panose="02020603050405020304" pitchFamily="18" charset="0"/>
                <a:cs typeface="Times New Roman" panose="02020603050405020304" pitchFamily="18" charset="0"/>
              </a:rPr>
              <a:t>Laporte</a:t>
            </a:r>
            <a:r>
              <a:rPr kumimoji="1" lang="en-US" altLang="zh-TW" dirty="0">
                <a:latin typeface="Times New Roman" panose="02020603050405020304" pitchFamily="18" charset="0"/>
                <a:cs typeface="Times New Roman" panose="02020603050405020304" pitchFamily="18" charset="0"/>
              </a:rPr>
              <a:t>, </a:t>
            </a:r>
            <a:r>
              <a:rPr kumimoji="1" lang="en-US" altLang="zh-TW" dirty="0" err="1">
                <a:latin typeface="Times New Roman" panose="02020603050405020304" pitchFamily="18" charset="0"/>
                <a:cs typeface="Times New Roman" panose="02020603050405020304" pitchFamily="18" charset="0"/>
              </a:rPr>
              <a:t>Arinei</a:t>
            </a:r>
            <a:r>
              <a:rPr kumimoji="1" lang="en-US" altLang="zh-TW" dirty="0">
                <a:latin typeface="Times New Roman" panose="02020603050405020304" pitchFamily="18" charset="0"/>
                <a:cs typeface="Times New Roman" panose="02020603050405020304" pitchFamily="18" charset="0"/>
              </a:rPr>
              <a:t> </a:t>
            </a:r>
            <a:r>
              <a:rPr kumimoji="1" lang="en-US" altLang="zh-TW" dirty="0" err="1">
                <a:latin typeface="Times New Roman" panose="02020603050405020304" pitchFamily="18" charset="0"/>
                <a:cs typeface="Times New Roman" panose="02020603050405020304" pitchFamily="18" charset="0"/>
              </a:rPr>
              <a:t>Lindbeck</a:t>
            </a:r>
            <a:r>
              <a:rPr kumimoji="1" lang="en-US" altLang="zh-TW" dirty="0">
                <a:latin typeface="Times New Roman" panose="02020603050405020304" pitchFamily="18" charset="0"/>
                <a:cs typeface="Times New Roman" panose="02020603050405020304" pitchFamily="18" charset="0"/>
              </a:rPr>
              <a:t>, Thibaut Vidal</a:t>
            </a:r>
          </a:p>
          <a:p>
            <a:r>
              <a:rPr kumimoji="1" lang="en-US" altLang="zh-TW" dirty="0" err="1">
                <a:latin typeface="Times New Roman" panose="02020603050405020304" pitchFamily="18" charset="0"/>
                <a:cs typeface="Times New Roman" panose="02020603050405020304" pitchFamily="18" charset="0"/>
              </a:rPr>
              <a:t>arXiv</a:t>
            </a:r>
            <a:r>
              <a:rPr kumimoji="1" lang="en-US" altLang="zh-TW" dirty="0">
                <a:latin typeface="Times New Roman" panose="02020603050405020304" pitchFamily="18" charset="0"/>
                <a:cs typeface="Times New Roman" panose="02020603050405020304" pitchFamily="18" charset="0"/>
              </a:rPr>
              <a:t>, 2019</a:t>
            </a:r>
            <a:endParaRPr kumimoji="1" lang="zh-TW" alt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22A5DE4-40CC-5144-89F0-861870F17BD1}"/>
              </a:ext>
            </a:extLst>
          </p:cNvPr>
          <p:cNvSpPr txBox="1"/>
          <p:nvPr/>
        </p:nvSpPr>
        <p:spPr>
          <a:xfrm>
            <a:off x="9043219" y="5563062"/>
            <a:ext cx="2352375" cy="646331"/>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Presenter: Yu-Yen, Chu</a:t>
            </a:r>
          </a:p>
          <a:p>
            <a:r>
              <a:rPr lang="en-US" dirty="0">
                <a:latin typeface="Times New Roman" panose="02020603050405020304" pitchFamily="18" charset="0"/>
                <a:cs typeface="Times New Roman" panose="02020603050405020304" pitchFamily="18" charset="0"/>
              </a:rPr>
              <a:t>Date: Apr. 25, 2023 </a:t>
            </a:r>
          </a:p>
        </p:txBody>
      </p:sp>
    </p:spTree>
    <p:extLst>
      <p:ext uri="{BB962C8B-B14F-4D97-AF65-F5344CB8AC3E}">
        <p14:creationId xmlns:p14="http://schemas.microsoft.com/office/powerpoint/2010/main" val="694280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normAutofit/>
          </a:bodyPr>
          <a:lstStyle/>
          <a:p>
            <a:pPr marL="0" indent="0">
              <a:buNone/>
            </a:pPr>
            <a:r>
              <a:rPr kumimoji="1" lang="en-US" altLang="zh-TW" dirty="0" err="1">
                <a:latin typeface="Times New Roman" panose="02020603050405020304" pitchFamily="18" charset="0"/>
                <a:cs typeface="Times New Roman" panose="02020603050405020304" pitchFamily="18" charset="0"/>
              </a:rPr>
              <a:t>Hashiwokakero</a:t>
            </a:r>
            <a:r>
              <a:rPr kumimoji="1" lang="en-US" altLang="zh-TW" dirty="0">
                <a:latin typeface="Times New Roman" panose="02020603050405020304" pitchFamily="18" charset="0"/>
                <a:cs typeface="Times New Roman" panose="02020603050405020304" pitchFamily="18" charset="0"/>
              </a:rPr>
              <a:t>, or simply </a:t>
            </a:r>
            <a:r>
              <a:rPr kumimoji="1" lang="en-US" altLang="zh-TW" dirty="0" err="1">
                <a:latin typeface="Times New Roman" panose="02020603050405020304" pitchFamily="18" charset="0"/>
                <a:cs typeface="Times New Roman" panose="02020603050405020304" pitchFamily="18" charset="0"/>
              </a:rPr>
              <a:t>Hashi</a:t>
            </a:r>
            <a:r>
              <a:rPr kumimoji="1" lang="en-US" altLang="zh-TW" dirty="0">
                <a:latin typeface="Times New Roman" panose="02020603050405020304" pitchFamily="18" charset="0"/>
                <a:cs typeface="Times New Roman" panose="02020603050405020304" pitchFamily="18" charset="0"/>
              </a:rPr>
              <a:t>, is a Japanese single-player puzzle played on a rectangular grid with no standard size. Some cells of the grid contain a circle, called island, with a number inside it ranging from one to eight. The remaining positions of the grid are empty. The player must connect all of the islands by drawing a series of horizontal or vertical bridges between them, respecting a series of rules: the number of bridges incident to an island equals the number indicated in the circle, at most two bridges are incident to any side of an island, bridges cannot cross each other or pass through islands, and each island must eventually be reachable from any other island.</a:t>
            </a: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2</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111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 (Cont.)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pPr marL="0" indent="0">
              <a:buNone/>
            </a:pPr>
            <a:r>
              <a:rPr kumimoji="1" lang="en-US" altLang="zh-TW" dirty="0">
                <a:latin typeface="Times New Roman" panose="02020603050405020304" pitchFamily="18" charset="0"/>
                <a:cs typeface="Times New Roman" panose="02020603050405020304" pitchFamily="18" charset="0"/>
              </a:rPr>
              <a:t>In this paper, we present some complexity results and relationships between </a:t>
            </a:r>
            <a:r>
              <a:rPr kumimoji="1" lang="en-US" altLang="zh-TW" dirty="0" err="1">
                <a:latin typeface="Times New Roman" panose="02020603050405020304" pitchFamily="18" charset="0"/>
                <a:cs typeface="Times New Roman" panose="02020603050405020304" pitchFamily="18" charset="0"/>
              </a:rPr>
              <a:t>Hashi</a:t>
            </a:r>
            <a:r>
              <a:rPr kumimoji="1" lang="en-US" altLang="zh-TW" dirty="0">
                <a:latin typeface="Times New Roman" panose="02020603050405020304" pitchFamily="18" charset="0"/>
                <a:cs typeface="Times New Roman" panose="02020603050405020304" pitchFamily="18" charset="0"/>
              </a:rPr>
              <a:t> and well-known graph theory problems. We give a formulation of the problem by means of an integer linear mathematical programming model, and apply a branch-and-cut algorithm to solve the model in which connectivity constraints are dynamically generated. We also develop a puzzle generator. Our experiments on 1440 </a:t>
            </a:r>
            <a:r>
              <a:rPr kumimoji="1" lang="en-US" altLang="zh-TW" dirty="0" err="1">
                <a:latin typeface="Times New Roman" panose="02020603050405020304" pitchFamily="18" charset="0"/>
                <a:cs typeface="Times New Roman" panose="02020603050405020304" pitchFamily="18" charset="0"/>
              </a:rPr>
              <a:t>Hashi</a:t>
            </a:r>
            <a:r>
              <a:rPr kumimoji="1" lang="en-US" altLang="zh-TW" dirty="0">
                <a:latin typeface="Times New Roman" panose="02020603050405020304" pitchFamily="18" charset="0"/>
                <a:cs typeface="Times New Roman" panose="02020603050405020304" pitchFamily="18" charset="0"/>
              </a:rPr>
              <a:t> puzzles show that the algorithm can consistently solve hard puzzles with up to 400 islands.</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3</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3921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7C14ED40-7F15-0548-B264-DDB8AC5435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9296" y="154238"/>
            <a:ext cx="6372315" cy="3610653"/>
          </a:xfrm>
          <a:prstGeom prst="rect">
            <a:avLst/>
          </a:prstGeom>
        </p:spPr>
      </p:pic>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err="1">
                <a:latin typeface="Times New Roman" panose="02020603050405020304" pitchFamily="18" charset="0"/>
                <a:cs typeface="Times New Roman" panose="02020603050405020304" pitchFamily="18" charset="0"/>
              </a:rPr>
              <a:t>Hashi</a:t>
            </a:r>
            <a:r>
              <a:rPr kumimoji="1" lang="en-US" altLang="zh-TW" dirty="0">
                <a:latin typeface="Times New Roman" panose="02020603050405020304" pitchFamily="18" charset="0"/>
                <a:cs typeface="Times New Roman" panose="02020603050405020304" pitchFamily="18" charset="0"/>
              </a:rPr>
              <a:t> Puzzle</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335194" y="3764891"/>
            <a:ext cx="7370852" cy="2777197"/>
          </a:xfrm>
        </p:spPr>
        <p:txBody>
          <a:bodyPr>
            <a:normAutofit fontScale="85000" lnSpcReduction="10000"/>
          </a:bodyPr>
          <a:lstStyle/>
          <a:p>
            <a:pPr marL="514350" indent="-514350">
              <a:buAutoNum type="arabicPeriod"/>
            </a:pPr>
            <a:r>
              <a:rPr kumimoji="1" lang="en-US" altLang="zh-TW" dirty="0">
                <a:latin typeface="Times New Roman" panose="02020603050405020304" pitchFamily="18" charset="0"/>
                <a:cs typeface="Times New Roman" panose="02020603050405020304" pitchFamily="18" charset="0"/>
              </a:rPr>
              <a:t>The bridges must begin and end at distinct islands.</a:t>
            </a:r>
          </a:p>
          <a:p>
            <a:pPr marL="514350" indent="-514350">
              <a:buAutoNum type="arabicPeriod"/>
            </a:pPr>
            <a:r>
              <a:rPr kumimoji="1" lang="en-US" altLang="zh-TW" dirty="0">
                <a:latin typeface="Times New Roman" panose="02020603050405020304" pitchFamily="18" charset="0"/>
                <a:cs typeface="Times New Roman" panose="02020603050405020304" pitchFamily="18" charset="0"/>
              </a:rPr>
              <a:t>They must not cross any other bridges or islands.</a:t>
            </a:r>
          </a:p>
          <a:p>
            <a:pPr marL="514350" indent="-514350">
              <a:buAutoNum type="arabicPeriod"/>
            </a:pPr>
            <a:r>
              <a:rPr kumimoji="1" lang="en-US" altLang="zh-TW" dirty="0">
                <a:latin typeface="Times New Roman" panose="02020603050405020304" pitchFamily="18" charset="0"/>
                <a:cs typeface="Times New Roman" panose="02020603050405020304" pitchFamily="18" charset="0"/>
              </a:rPr>
              <a:t>They may only run horizontally or vertically.</a:t>
            </a:r>
          </a:p>
          <a:p>
            <a:pPr marL="514350" indent="-514350">
              <a:buAutoNum type="arabicPeriod"/>
            </a:pPr>
            <a:r>
              <a:rPr kumimoji="1" lang="en-US" altLang="zh-TW" dirty="0">
                <a:latin typeface="Times New Roman" panose="02020603050405020304" pitchFamily="18" charset="0"/>
                <a:cs typeface="Times New Roman" panose="02020603050405020304" pitchFamily="18" charset="0"/>
              </a:rPr>
              <a:t>At most two bridges may connect any pair of islands.</a:t>
            </a:r>
          </a:p>
          <a:p>
            <a:pPr marL="514350" indent="-514350">
              <a:buAutoNum type="arabicPeriod"/>
            </a:pPr>
            <a:r>
              <a:rPr kumimoji="1" lang="en-US" altLang="zh-TW" dirty="0">
                <a:latin typeface="Times New Roman" panose="02020603050405020304" pitchFamily="18" charset="0"/>
                <a:cs typeface="Times New Roman" panose="02020603050405020304" pitchFamily="18" charset="0"/>
              </a:rPr>
              <a:t>The number of bridges connected to each island must be equal to the number inscribed in the circle.</a:t>
            </a:r>
          </a:p>
          <a:p>
            <a:pPr marL="514350" indent="-514350">
              <a:buAutoNum type="arabicPeriod"/>
            </a:pPr>
            <a:r>
              <a:rPr kumimoji="1" lang="en-US" altLang="zh-TW" dirty="0">
                <a:solidFill>
                  <a:srgbClr val="FF0000"/>
                </a:solidFill>
                <a:latin typeface="Times New Roman" panose="02020603050405020304" pitchFamily="18" charset="0"/>
                <a:cs typeface="Times New Roman" panose="02020603050405020304" pitchFamily="18" charset="0"/>
              </a:rPr>
              <a:t>Each island must be reachable from any other island.</a:t>
            </a:r>
          </a:p>
          <a:p>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4</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5640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Problem Setup</a:t>
            </a:r>
            <a:endParaRPr kumimoji="1"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Linear Programming</a:t>
                </a:r>
              </a:p>
              <a:p>
                <a:r>
                  <a:rPr kumimoji="1" lang="en-US" altLang="zh-TW" dirty="0">
                    <a:latin typeface="Times New Roman" panose="02020603050405020304" pitchFamily="18" charset="0"/>
                    <a:cs typeface="Times New Roman" panose="02020603050405020304" pitchFamily="18" charset="0"/>
                  </a:rPr>
                  <a:t>Branch-and-Cut</a:t>
                </a:r>
              </a:p>
              <a:p>
                <a:pPr lvl="1"/>
                <a:r>
                  <a:rPr kumimoji="1" lang="en-US" altLang="zh-TW" dirty="0">
                    <a:latin typeface="Times New Roman" panose="02020603050405020304" pitchFamily="18" charset="0"/>
                    <a:cs typeface="Times New Roman" panose="02020603050405020304" pitchFamily="18" charset="0"/>
                  </a:rPr>
                  <a:t>Constraint</a:t>
                </a:r>
              </a:p>
              <a:p>
                <a:pPr lvl="1"/>
                <a:r>
                  <a:rPr kumimoji="1" lang="en-US" altLang="zh-TW" dirty="0">
                    <a:latin typeface="Times New Roman" panose="02020603050405020304" pitchFamily="18" charset="0"/>
                    <a:cs typeface="Times New Roman" panose="02020603050405020304" pitchFamily="18" charset="0"/>
                  </a:rPr>
                  <a:t>strong connectivity  </a:t>
                </a:r>
                <a14:m>
                  <m:oMath xmlns:m="http://schemas.openxmlformats.org/officeDocument/2006/math">
                    <m:groupChr>
                      <m:groupChrPr>
                        <m:chr m:val="→"/>
                        <m:vertJc m:val="bot"/>
                        <m:ctrlPr>
                          <a:rPr kumimoji="1" lang="en-US" altLang="zh-TW" sz="2000" i="1" smtClean="0">
                            <a:latin typeface="Cambria Math" panose="02040503050406030204" pitchFamily="18" charset="0"/>
                            <a:cs typeface="Times New Roman" panose="02020603050405020304" pitchFamily="18" charset="0"/>
                          </a:rPr>
                        </m:ctrlPr>
                      </m:groupChrPr>
                      <m:e>
                        <m:r>
                          <m:rPr>
                            <m:brk m:alnAt="2"/>
                          </m:rPr>
                          <a:rPr kumimoji="1" lang="en-US" altLang="zh-TW" sz="2000" b="0" i="1" smtClean="0">
                            <a:latin typeface="Cambria Math" panose="02040503050406030204" pitchFamily="18" charset="0"/>
                            <a:cs typeface="Times New Roman" panose="02020603050405020304" pitchFamily="18" charset="0"/>
                          </a:rPr>
                          <m:t>𝑟</m:t>
                        </m:r>
                        <m:r>
                          <a:rPr kumimoji="1" lang="en-US" altLang="zh-TW" sz="2000" b="0" i="1" smtClean="0">
                            <a:latin typeface="Cambria Math" panose="02040503050406030204" pitchFamily="18" charset="0"/>
                            <a:cs typeface="Times New Roman" panose="02020603050405020304" pitchFamily="18" charset="0"/>
                          </a:rPr>
                          <m:t>𝑒𝑙𝑎𝑥𝑎𝑡𝑖𝑜𝑛</m:t>
                        </m:r>
                      </m:e>
                    </m:groupChr>
                  </m:oMath>
                </a14:m>
                <a:r>
                  <a:rPr kumimoji="1" lang="en-US" altLang="zh-TW" dirty="0">
                    <a:latin typeface="Times New Roman" panose="02020603050405020304" pitchFamily="18" charset="0"/>
                    <a:cs typeface="Times New Roman" panose="02020603050405020304" pitchFamily="18" charset="0"/>
                  </a:rPr>
                  <a:t>  weak connectivity</a:t>
                </a:r>
              </a:p>
              <a:p>
                <a:pPr lvl="1"/>
                <a:r>
                  <a:rPr kumimoji="1" lang="en-US" altLang="zh-TW" dirty="0">
                    <a:latin typeface="Times New Roman" panose="02020603050405020304" pitchFamily="18" charset="0"/>
                    <a:cs typeface="Times New Roman" panose="02020603050405020304" pitchFamily="18" charset="0"/>
                  </a:rPr>
                  <a:t>If a solution violates weak connectivity, then cut that branch.</a:t>
                </a:r>
              </a:p>
              <a:p>
                <a:r>
                  <a:rPr kumimoji="1" lang="en-US" altLang="zh-TW" dirty="0">
                    <a:latin typeface="Times New Roman" panose="02020603050405020304" pitchFamily="18" charset="0"/>
                    <a:cs typeface="Times New Roman" panose="02020603050405020304" pitchFamily="18" charset="0"/>
                  </a:rPr>
                  <a:t>Puzzle Generator</a:t>
                </a:r>
              </a:p>
              <a:p>
                <a:r>
                  <a:rPr kumimoji="1" lang="en-US" altLang="zh-TW" dirty="0">
                    <a:latin typeface="Times New Roman" panose="02020603050405020304" pitchFamily="18" charset="0"/>
                    <a:cs typeface="Times New Roman" panose="02020603050405020304" pitchFamily="18" charset="0"/>
                  </a:rPr>
                  <a:t>Experiment &amp; Result</a:t>
                </a:r>
                <a:endParaRPr kumimoji="1" lang="zh-TW" altLang="en-US" dirty="0">
                  <a:latin typeface="Times New Roman" panose="02020603050405020304" pitchFamily="18" charset="0"/>
                  <a:cs typeface="Times New Roman" panose="02020603050405020304" pitchFamily="18" charset="0"/>
                </a:endParaRPr>
              </a:p>
            </p:txBody>
          </p:sp>
        </mc:Choice>
        <mc:Fallback>
          <p:sp>
            <p:nvSpPr>
              <p:cNvPr id="3" name="內容版面配置區 2">
                <a:extLst>
                  <a:ext uri="{FF2B5EF4-FFF2-40B4-BE49-F238E27FC236}">
                    <a16:creationId xmlns:a16="http://schemas.microsoft.com/office/drawing/2014/main" id="{FDBA7692-A0C6-5C4A-A230-F72A3B531FB3}"/>
                  </a:ext>
                </a:extLst>
              </p:cNvPr>
              <p:cNvSpPr>
                <a:spLocks noGrp="1" noRot="1" noChangeAspect="1" noMove="1" noResize="1" noEditPoints="1" noAdjustHandles="1" noChangeArrowheads="1" noChangeShapeType="1" noTextEdit="1"/>
              </p:cNvSpPr>
              <p:nvPr>
                <p:ph idx="1"/>
              </p:nvPr>
            </p:nvSpPr>
            <p:spPr>
              <a:blipFill>
                <a:blip r:embed="rId2"/>
                <a:stretch>
                  <a:fillRect l="-965" t="-2632"/>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5</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2702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Constraint</a:t>
            </a:r>
            <a:endParaRPr kumimoji="1"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199" y="1618769"/>
                <a:ext cx="10515601" cy="5032376"/>
              </a:xfrm>
            </p:spPr>
            <p:txBody>
              <a:bodyPr>
                <a:normAutofit fontScale="92500"/>
              </a:bodyPr>
              <a:lstStyle/>
              <a:p>
                <a:pPr marL="0" indent="0">
                  <a:buNone/>
                </a:pPr>
                <a:r>
                  <a:rPr kumimoji="1" lang="en-US" altLang="zh-TW" sz="2000" dirty="0">
                    <a:latin typeface="Cambria Math" panose="02040503050406030204" pitchFamily="18" charset="0"/>
                    <a:cs typeface="Times New Roman" panose="02020603050405020304" pitchFamily="18" charset="0"/>
                  </a:rPr>
                  <a:t>G = (V, E), |V| = </a:t>
                </a:r>
                <a:r>
                  <a:rPr kumimoji="1" lang="en-US" altLang="zh-TW" sz="2000" dirty="0">
                    <a:latin typeface="Times New Roman" panose="02020603050405020304" pitchFamily="18" charset="0"/>
                    <a:cs typeface="Times New Roman" panose="02020603050405020304" pitchFamily="18" charset="0"/>
                  </a:rPr>
                  <a:t>n</a:t>
                </a:r>
                <a:r>
                  <a:rPr kumimoji="1" lang="en-US" altLang="zh-TW" sz="2000" dirty="0">
                    <a:latin typeface="Cambria Math" panose="02040503050406030204" pitchFamily="18" charset="0"/>
                    <a:cs typeface="Times New Roman" panose="02020603050405020304" pitchFamily="18" charset="0"/>
                  </a:rPr>
                  <a:t>. </a:t>
                </a:r>
                <a14:m>
                  <m:oMath xmlns:m="http://schemas.openxmlformats.org/officeDocument/2006/math">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𝑖</m:t>
                    </m:r>
                  </m:oMath>
                </a14:m>
                <a:r>
                  <a:rPr kumimoji="1" lang="en-US" altLang="zh-TW" sz="2000" dirty="0">
                    <a:latin typeface="Cambria Math" panose="020405030504060302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and</a:t>
                </a:r>
                <a:r>
                  <a:rPr kumimoji="1" lang="en-US" altLang="zh-TW" sz="2000" dirty="0">
                    <a:latin typeface="Cambria Math" panose="02040503050406030204" pitchFamily="18" charset="0"/>
                    <a:cs typeface="Times New Roman" panose="02020603050405020304" pitchFamily="18" charset="0"/>
                  </a:rPr>
                  <a:t> </a:t>
                </a:r>
                <a14:m>
                  <m:oMath xmlns:m="http://schemas.openxmlformats.org/officeDocument/2006/math">
                    <m:r>
                      <a:rPr kumimoji="1"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𝑗</m:t>
                    </m:r>
                  </m:oMath>
                </a14:m>
                <a:r>
                  <a:rPr kumimoji="1" lang="en-US" altLang="zh-TW" sz="2000" dirty="0">
                    <a:latin typeface="Cambria Math" panose="020405030504060302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a:t>
                </a:r>
                <a14:m>
                  <m:oMath xmlns:m="http://schemas.openxmlformats.org/officeDocument/2006/math">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𝑖</m:t>
                    </m:r>
                    <m:r>
                      <a:rPr kumimoji="1" lang="en-US" altLang="zh-TW" sz="2000">
                        <a:latin typeface="Cambria Math" panose="02040503050406030204" pitchFamily="18" charset="0"/>
                        <a:ea typeface="Cambria Math" panose="02040503050406030204" pitchFamily="18" charset="0"/>
                        <a:cs typeface="Times New Roman" panose="02020603050405020304" pitchFamily="18" charset="0"/>
                      </a:rPr>
                      <m:t>&lt;</m:t>
                    </m:r>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𝑗</m:t>
                    </m:r>
                  </m:oMath>
                </a14:m>
                <a:r>
                  <a:rPr kumimoji="1" lang="en-US" altLang="zh-TW" sz="2000" dirty="0">
                    <a:latin typeface="Times New Roman" panose="02020603050405020304" pitchFamily="18" charset="0"/>
                    <a:cs typeface="Times New Roman" panose="02020603050405020304" pitchFamily="18" charset="0"/>
                  </a:rPr>
                  <a:t>) are two adjacent </a:t>
                </a:r>
                <a:r>
                  <a:rPr kumimoji="1" lang="en-US" altLang="zh-TW" sz="2100" dirty="0">
                    <a:latin typeface="Times New Roman" panose="02020603050405020304" pitchFamily="18" charset="0"/>
                    <a:cs typeface="Times New Roman" panose="02020603050405020304" pitchFamily="18" charset="0"/>
                  </a:rPr>
                  <a:t>nodes, same as (𝑖,𝑗) ∈ 𝐸.</a:t>
                </a:r>
              </a:p>
              <a:p>
                <a:pPr marL="0" indent="0">
                  <a:buNone/>
                </a:pPr>
                <a14:m>
                  <m:oMath xmlns:m="http://schemas.openxmlformats.org/officeDocument/2006/math">
                    <m:r>
                      <a:rPr kumimoji="1" lang="en-US" altLang="zh-TW" sz="2000" i="1">
                        <a:latin typeface="Cambria Math" panose="02040503050406030204" pitchFamily="18" charset="0"/>
                        <a:cs typeface="Times New Roman" panose="02020603050405020304" pitchFamily="18" charset="0"/>
                      </a:rPr>
                      <m:t>𝑑</m:t>
                    </m:r>
                    <m:r>
                      <a:rPr kumimoji="1" lang="en-US" altLang="zh-TW" sz="2000" b="0" i="1" baseline="-25000" smtClean="0">
                        <a:latin typeface="Cambria Math" panose="02040503050406030204" pitchFamily="18" charset="0"/>
                        <a:cs typeface="Times New Roman" panose="02020603050405020304" pitchFamily="18" charset="0"/>
                      </a:rPr>
                      <m:t>𝑖</m:t>
                    </m:r>
                  </m:oMath>
                </a14:m>
                <a:r>
                  <a:rPr kumimoji="1" lang="en-US" altLang="zh-TW" sz="2000" dirty="0">
                    <a:latin typeface="Times New Roman" panose="02020603050405020304" pitchFamily="18" charset="0"/>
                    <a:cs typeface="Times New Roman" panose="02020603050405020304" pitchFamily="18" charset="0"/>
                  </a:rPr>
                  <a:t>: # of bridges connect to </a:t>
                </a:r>
                <a14:m>
                  <m:oMath xmlns:m="http://schemas.openxmlformats.org/officeDocument/2006/math">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𝑖</m:t>
                    </m:r>
                  </m:oMath>
                </a14:m>
                <a:r>
                  <a:rPr kumimoji="1" lang="en-US" altLang="zh-TW" sz="2000" dirty="0">
                    <a:latin typeface="Times New Roman" panose="02020603050405020304" pitchFamily="18" charset="0"/>
                    <a:cs typeface="Times New Roman" panose="02020603050405020304" pitchFamily="18" charset="0"/>
                  </a:rPr>
                  <a:t>, </a:t>
                </a:r>
                <a:r>
                  <a:rPr kumimoji="1" lang="en-US" altLang="zh-TW" sz="2000" dirty="0">
                    <a:latin typeface="Cambria Math" panose="02040503050406030204" pitchFamily="18" charset="0"/>
                    <a:cs typeface="Times New Roman" panose="02020603050405020304" pitchFamily="18" charset="0"/>
                  </a:rPr>
                  <a:t> </a:t>
                </a:r>
                <a14:m>
                  <m:oMath xmlns:m="http://schemas.openxmlformats.org/officeDocument/2006/math">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𝑥</m:t>
                    </m:r>
                    <m:r>
                      <a:rPr kumimoji="1" lang="en-US" altLang="zh-TW" sz="2000" i="1" baseline="-25000">
                        <a:latin typeface="Cambria Math" panose="02040503050406030204" pitchFamily="18" charset="0"/>
                        <a:ea typeface="Cambria Math" panose="02040503050406030204" pitchFamily="18" charset="0"/>
                        <a:cs typeface="Times New Roman" panose="02020603050405020304" pitchFamily="18" charset="0"/>
                      </a:rPr>
                      <m:t>𝑖𝑗</m:t>
                    </m:r>
                  </m:oMath>
                </a14:m>
                <a:r>
                  <a:rPr kumimoji="1" lang="en-US" altLang="zh-TW" sz="2000" dirty="0">
                    <a:latin typeface="Times New Roman" panose="02020603050405020304" pitchFamily="18" charset="0"/>
                    <a:cs typeface="Times New Roman" panose="02020603050405020304" pitchFamily="18" charset="0"/>
                  </a:rPr>
                  <a:t>: # of bridges between </a:t>
                </a:r>
                <a14:m>
                  <m:oMath xmlns:m="http://schemas.openxmlformats.org/officeDocument/2006/math">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𝑖</m:t>
                    </m:r>
                  </m:oMath>
                </a14:m>
                <a:r>
                  <a:rPr kumimoji="1" lang="en-US" altLang="zh-TW" sz="2000" dirty="0">
                    <a:latin typeface="Cambria Math" panose="020405030504060302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and</a:t>
                </a:r>
                <a:r>
                  <a:rPr kumimoji="1" lang="en-US" altLang="zh-TW" sz="2000" dirty="0">
                    <a:latin typeface="Cambria Math" panose="02040503050406030204" pitchFamily="18" charset="0"/>
                    <a:cs typeface="Times New Roman" panose="02020603050405020304" pitchFamily="18" charset="0"/>
                  </a:rPr>
                  <a:t> </a:t>
                </a:r>
                <a14:m>
                  <m:oMath xmlns:m="http://schemas.openxmlformats.org/officeDocument/2006/math">
                    <m:r>
                      <a:rPr kumimoji="1" lang="en-US" altLang="zh-TW" sz="2000" b="0" i="1" smtClean="0">
                        <a:latin typeface="Cambria Math" panose="02040503050406030204" pitchFamily="18" charset="0"/>
                        <a:cs typeface="Times New Roman" panose="02020603050405020304" pitchFamily="18" charset="0"/>
                      </a:rPr>
                      <m:t>𝑗</m:t>
                    </m:r>
                  </m:oMath>
                </a14:m>
                <a:r>
                  <a:rPr kumimoji="1" lang="en-US" altLang="zh-TW" sz="2000" dirty="0">
                    <a:latin typeface="Cambria Math" panose="02040503050406030204" pitchFamily="18" charset="0"/>
                    <a:cs typeface="Times New Roman" panose="02020603050405020304" pitchFamily="18" charset="0"/>
                  </a:rPr>
                  <a:t>,  </a:t>
                </a:r>
                <a14:m>
                  <m:oMath xmlns:m="http://schemas.openxmlformats.org/officeDocument/2006/math">
                    <m:r>
                      <a:rPr kumimoji="1" lang="en-US" altLang="zh-TW" sz="2000" i="1">
                        <a:latin typeface="Cambria Math" panose="02040503050406030204" pitchFamily="18" charset="0"/>
                        <a:cs typeface="Times New Roman" panose="02020603050405020304" pitchFamily="18" charset="0"/>
                      </a:rPr>
                      <m:t>𝑦</m:t>
                    </m:r>
                    <m:r>
                      <a:rPr kumimoji="1" lang="en-US" altLang="zh-TW" sz="2000" i="1" baseline="-25000">
                        <a:latin typeface="Cambria Math" panose="02040503050406030204" pitchFamily="18" charset="0"/>
                        <a:cs typeface="Times New Roman" panose="02020603050405020304" pitchFamily="18" charset="0"/>
                      </a:rPr>
                      <m:t>𝑖𝑗</m:t>
                    </m:r>
                  </m:oMath>
                </a14:m>
                <a:r>
                  <a:rPr kumimoji="1" lang="en-US" altLang="zh-TW" sz="2000" dirty="0">
                    <a:latin typeface="Times New Roman" panose="02020603050405020304" pitchFamily="18" charset="0"/>
                    <a:cs typeface="Times New Roman" panose="02020603050405020304" pitchFamily="18" charset="0"/>
                  </a:rPr>
                  <a:t>: binary variable if </a:t>
                </a:r>
                <a14:m>
                  <m:oMath xmlns:m="http://schemas.openxmlformats.org/officeDocument/2006/math">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𝑖</m:t>
                    </m:r>
                  </m:oMath>
                </a14:m>
                <a:r>
                  <a:rPr kumimoji="1" lang="en-US" altLang="zh-TW" sz="2000" dirty="0">
                    <a:latin typeface="Cambria Math" panose="020405030504060302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and</a:t>
                </a:r>
                <a:r>
                  <a:rPr kumimoji="1" lang="en-US" altLang="zh-TW" sz="2000" dirty="0">
                    <a:latin typeface="Cambria Math" panose="02040503050406030204" pitchFamily="18" charset="0"/>
                    <a:cs typeface="Times New Roman" panose="02020603050405020304" pitchFamily="18" charset="0"/>
                  </a:rPr>
                  <a:t> </a:t>
                </a:r>
                <a14:m>
                  <m:oMath xmlns:m="http://schemas.openxmlformats.org/officeDocument/2006/math">
                    <m:r>
                      <a:rPr kumimoji="1"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𝑗</m:t>
                    </m:r>
                  </m:oMath>
                </a14:m>
                <a:r>
                  <a:rPr kumimoji="1" lang="en-US" altLang="zh-TW" sz="2000" dirty="0">
                    <a:latin typeface="Cambria Math" panose="020405030504060302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are connected,  </a:t>
                </a:r>
                <a14:m>
                  <m:oMath xmlns:m="http://schemas.openxmlformats.org/officeDocument/2006/math">
                    <m:r>
                      <m:rPr>
                        <m:brk m:alnAt="7"/>
                      </m:rP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𝛿</m:t>
                    </m:r>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𝑖</m:t>
                    </m:r>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m:t>
                    </m:r>
                  </m:oMath>
                </a14:m>
                <a:r>
                  <a:rPr kumimoji="1" lang="en-US" altLang="zh-TW" sz="2000" dirty="0">
                    <a:latin typeface="Times New Roman" panose="02020603050405020304" pitchFamily="18" charset="0"/>
                    <a:cs typeface="Times New Roman" panose="02020603050405020304" pitchFamily="18" charset="0"/>
                  </a:rPr>
                  <a:t>: the set of nodes adjacent to </a:t>
                </a:r>
                <a14:m>
                  <m:oMath xmlns:m="http://schemas.openxmlformats.org/officeDocument/2006/math">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𝑖</m:t>
                    </m:r>
                  </m:oMath>
                </a14:m>
                <a:r>
                  <a:rPr kumimoji="1" lang="en-US" altLang="zh-TW" sz="2000" dirty="0">
                    <a:latin typeface="Cambria Math" panose="02040503050406030204" pitchFamily="18" charset="0"/>
                    <a:cs typeface="Times New Roman" panose="02020603050405020304" pitchFamily="18" charset="0"/>
                  </a:rPr>
                  <a:t>,  </a:t>
                </a:r>
                <a14:m>
                  <m:oMath xmlns:m="http://schemas.openxmlformats.org/officeDocument/2006/math">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m:t>
                    </m:r>
                  </m:oMath>
                </a14:m>
                <a:r>
                  <a:rPr kumimoji="1" lang="en-US" altLang="zh-TW" sz="2000" dirty="0">
                    <a:latin typeface="Times New Roman" panose="02020603050405020304" pitchFamily="18" charset="0"/>
                    <a:cs typeface="Times New Roman" panose="02020603050405020304" pitchFamily="18" charset="0"/>
                  </a:rPr>
                  <a:t>: the set of intersecting edge pairs.</a:t>
                </a:r>
                <a:endParaRPr kumimoji="1" lang="en-US" altLang="zh-TW" sz="2000" i="1" dirty="0">
                  <a:latin typeface="Times New Roman" panose="02020603050405020304" pitchFamily="18" charset="0"/>
                  <a:cs typeface="Times New Roman" panose="02020603050405020304" pitchFamily="18" charset="0"/>
                </a:endParaRPr>
              </a:p>
              <a:p>
                <a:pPr marL="0" indent="0">
                  <a:buNone/>
                </a:pPr>
                <a:endParaRPr kumimoji="1" lang="en-US" altLang="zh-TW" sz="2200" i="1" dirty="0">
                  <a:latin typeface="Cambria Math" panose="02040503050406030204" pitchFamily="18" charset="0"/>
                  <a:cs typeface="Times New Roman" panose="02020603050405020304" pitchFamily="18" charset="0"/>
                </a:endParaRPr>
              </a:p>
              <a:p>
                <a:pPr marL="0" indent="0">
                  <a:buNone/>
                </a:pPr>
                <a14:m>
                  <m:oMath xmlns:m="http://schemas.openxmlformats.org/officeDocument/2006/math">
                    <m:nary>
                      <m:naryPr>
                        <m:chr m:val="∑"/>
                        <m:supHide m:val="on"/>
                        <m:ctrlPr>
                          <a:rPr kumimoji="1" lang="en-US" altLang="zh-TW" i="1" smtClean="0">
                            <a:latin typeface="Cambria Math" panose="02040503050406030204" pitchFamily="18" charset="0"/>
                            <a:cs typeface="Times New Roman" panose="02020603050405020304" pitchFamily="18" charset="0"/>
                          </a:rPr>
                        </m:ctrlPr>
                      </m:naryPr>
                      <m:sub>
                        <m:r>
                          <m:rPr>
                            <m:brk m:alnAt="7"/>
                          </m:rPr>
                          <a:rPr kumimoji="1" lang="en-US" altLang="zh-TW" b="0" i="1" smtClean="0">
                            <a:latin typeface="Cambria Math" panose="02040503050406030204" pitchFamily="18" charset="0"/>
                            <a:cs typeface="Times New Roman" panose="02020603050405020304" pitchFamily="18" charset="0"/>
                          </a:rPr>
                          <m:t>𝑖</m:t>
                        </m:r>
                        <m:r>
                          <a:rPr kumimoji="1" lang="en-US" altLang="zh-TW" b="0" i="1" smtClean="0">
                            <a:latin typeface="Cambria Math" panose="02040503050406030204" pitchFamily="18" charset="0"/>
                            <a:cs typeface="Times New Roman" panose="02020603050405020304" pitchFamily="18" charset="0"/>
                          </a:rPr>
                          <m:t>&lt;</m:t>
                        </m:r>
                        <m:r>
                          <a:rPr kumimoji="1" lang="en-US" altLang="zh-TW" b="0" i="1" smtClean="0">
                            <a:latin typeface="Cambria Math" panose="02040503050406030204" pitchFamily="18" charset="0"/>
                            <a:cs typeface="Times New Roman" panose="02020603050405020304" pitchFamily="18" charset="0"/>
                          </a:rPr>
                          <m:t>𝑘</m:t>
                        </m:r>
                        <m:r>
                          <a:rPr kumimoji="1" lang="en-US" altLang="zh-TW" b="0" i="1" smtClean="0">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cs typeface="Times New Roman" panose="02020603050405020304" pitchFamily="18" charset="0"/>
                          </a:rPr>
                          <m:t>𝑖</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𝛿</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𝑘</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ub>
                      <m:sup/>
                      <m:e>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 </m:t>
                        </m:r>
                        <m:r>
                          <a:rPr kumimoji="1" lang="en-US" altLang="zh-TW" b="0" i="1" smtClean="0">
                            <a:latin typeface="Cambria Math" panose="02040503050406030204" pitchFamily="18" charset="0"/>
                            <a:cs typeface="Times New Roman" panose="02020603050405020304" pitchFamily="18" charset="0"/>
                          </a:rPr>
                          <m:t>𝑥</m:t>
                        </m:r>
                        <m:r>
                          <a:rPr kumimoji="1" lang="en-US" altLang="zh-TW" i="1" baseline="-25000">
                            <a:latin typeface="Cambria Math" panose="02040503050406030204" pitchFamily="18" charset="0"/>
                            <a:cs typeface="Times New Roman" panose="02020603050405020304" pitchFamily="18" charset="0"/>
                          </a:rPr>
                          <m:t>𝑖</m:t>
                        </m:r>
                        <m:r>
                          <a:rPr kumimoji="1" lang="en-US" altLang="zh-TW" b="0" i="1" baseline="-25000" smtClean="0">
                            <a:latin typeface="Cambria Math" panose="02040503050406030204" pitchFamily="18" charset="0"/>
                            <a:cs typeface="Times New Roman" panose="02020603050405020304" pitchFamily="18" charset="0"/>
                          </a:rPr>
                          <m:t>𝑘</m:t>
                        </m:r>
                      </m:e>
                    </m:nary>
                  </m:oMath>
                </a14:m>
                <a:r>
                  <a:rPr kumimoji="1" lang="en-US" altLang="zh-TW" dirty="0">
                    <a:latin typeface="Times New Roman" panose="02020603050405020304" pitchFamily="18" charset="0"/>
                    <a:cs typeface="Times New Roman" panose="02020603050405020304" pitchFamily="18" charset="0"/>
                  </a:rPr>
                  <a:t> + </a:t>
                </a:r>
                <a14:m>
                  <m:oMath xmlns:m="http://schemas.openxmlformats.org/officeDocument/2006/math">
                    <m:nary>
                      <m:naryPr>
                        <m:chr m:val="∑"/>
                        <m:supHide m:val="on"/>
                        <m:ctrlPr>
                          <a:rPr kumimoji="1" lang="en-US" altLang="zh-TW" i="1">
                            <a:latin typeface="Cambria Math" panose="02040503050406030204" pitchFamily="18" charset="0"/>
                            <a:cs typeface="Times New Roman" panose="02020603050405020304" pitchFamily="18" charset="0"/>
                          </a:rPr>
                        </m:ctrlPr>
                      </m:naryPr>
                      <m:sub>
                        <m:r>
                          <a:rPr kumimoji="1" lang="en-US" altLang="zh-TW" b="0" i="1" smtClean="0">
                            <a:latin typeface="Cambria Math" panose="02040503050406030204" pitchFamily="18" charset="0"/>
                            <a:cs typeface="Times New Roman" panose="02020603050405020304" pitchFamily="18" charset="0"/>
                          </a:rPr>
                          <m:t>𝑗</m:t>
                        </m:r>
                        <m:r>
                          <a:rPr kumimoji="1" lang="en-US" altLang="zh-TW" b="0" i="1" smtClean="0">
                            <a:latin typeface="Cambria Math" panose="02040503050406030204" pitchFamily="18" charset="0"/>
                            <a:cs typeface="Times New Roman" panose="02020603050405020304" pitchFamily="18" charset="0"/>
                          </a:rPr>
                          <m:t>&gt;</m:t>
                        </m:r>
                        <m:r>
                          <a:rPr kumimoji="1" lang="en-US" altLang="zh-TW" i="1">
                            <a:latin typeface="Cambria Math" panose="02040503050406030204" pitchFamily="18" charset="0"/>
                            <a:cs typeface="Times New Roman" panose="02020603050405020304" pitchFamily="18" charset="0"/>
                          </a:rPr>
                          <m:t>𝑘</m:t>
                        </m:r>
                        <m:r>
                          <a:rPr kumimoji="1" lang="en-US" altLang="zh-TW" i="1">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cs typeface="Times New Roman" panose="02020603050405020304" pitchFamily="18" charset="0"/>
                          </a:rPr>
                          <m:t>𝑗</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𝛿</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𝑘</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m:t>
                        </m:r>
                      </m:sub>
                      <m:sup/>
                      <m:e>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 </m:t>
                        </m:r>
                        <m:r>
                          <a:rPr kumimoji="1" lang="en-US" altLang="zh-TW" i="1">
                            <a:latin typeface="Cambria Math" panose="02040503050406030204" pitchFamily="18" charset="0"/>
                            <a:cs typeface="Times New Roman" panose="02020603050405020304" pitchFamily="18" charset="0"/>
                          </a:rPr>
                          <m:t>𝑥</m:t>
                        </m:r>
                        <m:r>
                          <a:rPr kumimoji="1" lang="en-US" altLang="zh-TW" b="0" i="1" baseline="-25000" smtClean="0">
                            <a:latin typeface="Cambria Math" panose="02040503050406030204" pitchFamily="18" charset="0"/>
                            <a:cs typeface="Times New Roman" panose="02020603050405020304" pitchFamily="18" charset="0"/>
                          </a:rPr>
                          <m:t>𝑘</m:t>
                        </m:r>
                        <m:r>
                          <a:rPr kumimoji="1" lang="en-US" altLang="zh-TW" i="1" baseline="-25000">
                            <a:latin typeface="Cambria Math" panose="02040503050406030204" pitchFamily="18" charset="0"/>
                            <a:cs typeface="Times New Roman" panose="02020603050405020304" pitchFamily="18" charset="0"/>
                          </a:rPr>
                          <m:t>𝑗</m:t>
                        </m:r>
                      </m:e>
                    </m:nary>
                  </m:oMath>
                </a14:m>
                <a:r>
                  <a:rPr kumimoji="1" lang="en-US" altLang="zh-TW" dirty="0">
                    <a:latin typeface="Times New Roman" panose="02020603050405020304" pitchFamily="18" charset="0"/>
                    <a:cs typeface="Times New Roman" panose="02020603050405020304" pitchFamily="18" charset="0"/>
                  </a:rPr>
                  <a:t> = </a:t>
                </a:r>
                <a14:m>
                  <m:oMath xmlns:m="http://schemas.openxmlformats.org/officeDocument/2006/math">
                    <m:r>
                      <a:rPr kumimoji="1" lang="en-US" altLang="zh-TW" b="0" i="1" smtClean="0">
                        <a:latin typeface="Cambria Math" panose="02040503050406030204" pitchFamily="18" charset="0"/>
                        <a:cs typeface="Times New Roman" panose="02020603050405020304" pitchFamily="18" charset="0"/>
                      </a:rPr>
                      <m:t>𝑑</m:t>
                    </m:r>
                    <m:r>
                      <a:rPr kumimoji="1" lang="en-US" altLang="zh-TW" b="0" i="1" baseline="-25000" smtClean="0">
                        <a:latin typeface="Cambria Math" panose="02040503050406030204" pitchFamily="18" charset="0"/>
                        <a:cs typeface="Times New Roman" panose="02020603050405020304" pitchFamily="18" charset="0"/>
                      </a:rPr>
                      <m:t>𝑘</m:t>
                    </m:r>
                  </m:oMath>
                </a14:m>
                <a:r>
                  <a:rPr kumimoji="1" lang="en-US" altLang="zh-TW" dirty="0">
                    <a:latin typeface="Times New Roman" panose="02020603050405020304" pitchFamily="18" charset="0"/>
                    <a:cs typeface="Times New Roman" panose="02020603050405020304" pitchFamily="18" charset="0"/>
                  </a:rPr>
                  <a:t> , </a:t>
                </a:r>
                <a14:m>
                  <m:oMath xmlns:m="http://schemas.openxmlformats.org/officeDocument/2006/math">
                    <m:r>
                      <a:rPr kumimoji="1" lang="en-US" altLang="zh-TW" b="0" i="1" smtClean="0">
                        <a:latin typeface="Cambria Math" panose="02040503050406030204" pitchFamily="18" charset="0"/>
                        <a:cs typeface="Times New Roman" panose="02020603050405020304" pitchFamily="18" charset="0"/>
                      </a:rPr>
                      <m:t>𝑘</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𝑉</m:t>
                    </m:r>
                  </m:oMath>
                </a14:m>
                <a:r>
                  <a:rPr kumimoji="1" lang="en-US" altLang="zh-TW" baseline="-25000"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                                               (1)</a:t>
                </a:r>
                <a:endParaRPr kumimoji="1" lang="en-US" altLang="zh-TW" baseline="-25000" dirty="0">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r>
                      <a:rPr kumimoji="1" lang="en-US" altLang="zh-TW" b="0" i="1" smtClean="0">
                        <a:latin typeface="Cambria Math" panose="02040503050406030204" pitchFamily="18" charset="0"/>
                        <a:cs typeface="Times New Roman" panose="02020603050405020304" pitchFamily="18" charset="0"/>
                      </a:rPr>
                      <m:t>𝑦</m:t>
                    </m:r>
                    <m:r>
                      <a:rPr kumimoji="1" lang="en-US" altLang="zh-TW" b="0" i="1" baseline="-25000" smtClean="0">
                        <a:latin typeface="Cambria Math" panose="02040503050406030204" pitchFamily="18" charset="0"/>
                        <a:cs typeface="Times New Roman" panose="02020603050405020304" pitchFamily="18" charset="0"/>
                      </a:rPr>
                      <m:t>𝑖𝑗</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i="1">
                        <a:latin typeface="Cambria Math" panose="02040503050406030204" pitchFamily="18" charset="0"/>
                        <a:cs typeface="Times New Roman" panose="02020603050405020304" pitchFamily="18" charset="0"/>
                      </a:rPr>
                      <m:t>𝑥</m:t>
                    </m:r>
                    <m:r>
                      <a:rPr kumimoji="1" lang="en-US" altLang="zh-TW" i="1" baseline="-25000">
                        <a:latin typeface="Cambria Math" panose="02040503050406030204" pitchFamily="18" charset="0"/>
                        <a:cs typeface="Times New Roman" panose="02020603050405020304" pitchFamily="18" charset="0"/>
                      </a:rPr>
                      <m:t>𝑖𝑗</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≤2</m:t>
                    </m:r>
                    <m:r>
                      <a:rPr kumimoji="1" lang="en-US" altLang="zh-TW" b="0" i="1" smtClean="0">
                        <a:latin typeface="Cambria Math" panose="02040503050406030204" pitchFamily="18" charset="0"/>
                        <a:cs typeface="Times New Roman" panose="02020603050405020304" pitchFamily="18" charset="0"/>
                      </a:rPr>
                      <m:t>𝑦</m:t>
                    </m:r>
                    <m:r>
                      <a:rPr kumimoji="1" lang="en-US" altLang="zh-TW" i="1" baseline="-25000">
                        <a:latin typeface="Cambria Math" panose="02040503050406030204" pitchFamily="18" charset="0"/>
                        <a:cs typeface="Times New Roman" panose="02020603050405020304" pitchFamily="18" charset="0"/>
                      </a:rPr>
                      <m:t>𝑖𝑗</m:t>
                    </m:r>
                  </m:oMath>
                </a14:m>
                <a:r>
                  <a:rPr kumimoji="1" lang="en-US" altLang="zh-TW" dirty="0">
                    <a:latin typeface="Times New Roman" panose="02020603050405020304" pitchFamily="18" charset="0"/>
                    <a:cs typeface="Times New Roman" panose="02020603050405020304" pitchFamily="18" charset="0"/>
                  </a:rPr>
                  <a:t>, </a:t>
                </a:r>
                <a14:m>
                  <m:oMath xmlns:m="http://schemas.openxmlformats.org/officeDocument/2006/math">
                    <m:r>
                      <a:rPr kumimoji="1" lang="en-US" altLang="zh-TW" b="0" i="1" smtClean="0">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cs typeface="Times New Roman" panose="02020603050405020304" pitchFamily="18" charset="0"/>
                      </a:rPr>
                      <m:t>𝑖</m:t>
                    </m:r>
                    <m:r>
                      <a:rPr kumimoji="1" lang="en-US" altLang="zh-TW" b="0" i="1" smtClean="0">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cs typeface="Times New Roman" panose="02020603050405020304" pitchFamily="18" charset="0"/>
                      </a:rPr>
                      <m:t>𝑗</m:t>
                    </m:r>
                    <m:r>
                      <a:rPr kumimoji="1" lang="en-US" altLang="zh-TW" b="0" i="1" smtClean="0">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𝐸</m:t>
                    </m:r>
                  </m:oMath>
                </a14:m>
                <a:r>
                  <a:rPr kumimoji="1" lang="en-US" altLang="zh-TW" baseline="-25000"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                                                                              (2)</a:t>
                </a:r>
                <a:endParaRPr kumimoji="1" lang="en-US" altLang="zh-TW" baseline="-25000" dirty="0">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r>
                      <a:rPr kumimoji="1" lang="en-US" altLang="zh-TW" i="1">
                        <a:latin typeface="Cambria Math" panose="02040503050406030204" pitchFamily="18" charset="0"/>
                        <a:cs typeface="Times New Roman" panose="02020603050405020304" pitchFamily="18" charset="0"/>
                      </a:rPr>
                      <m:t>𝑦</m:t>
                    </m:r>
                    <m:r>
                      <a:rPr kumimoji="1" lang="en-US" altLang="zh-TW" i="1" baseline="-25000">
                        <a:latin typeface="Cambria Math" panose="02040503050406030204" pitchFamily="18" charset="0"/>
                        <a:cs typeface="Times New Roman" panose="02020603050405020304" pitchFamily="18" charset="0"/>
                      </a:rPr>
                      <m:t>𝑖𝑗</m:t>
                    </m:r>
                    <m:r>
                      <a:rPr kumimoji="1" lang="en-US" altLang="zh-TW" b="0" i="1" smtClean="0">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𝑦</m:t>
                    </m:r>
                    <m:r>
                      <a:rPr kumimoji="1" lang="en-US" altLang="zh-TW" b="0" i="1" baseline="-25000" smtClean="0">
                        <a:latin typeface="Cambria Math" panose="02040503050406030204" pitchFamily="18" charset="0"/>
                        <a:ea typeface="Cambria Math" panose="02040503050406030204" pitchFamily="18" charset="0"/>
                        <a:cs typeface="Times New Roman" panose="02020603050405020304" pitchFamily="18" charset="0"/>
                      </a:rPr>
                      <m:t>𝑘𝑙</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oMath>
                </a14:m>
                <a:r>
                  <a:rPr kumimoji="1" lang="en-US" altLang="zh-TW" dirty="0">
                    <a:latin typeface="Times New Roman" panose="02020603050405020304" pitchFamily="18" charset="0"/>
                    <a:cs typeface="Times New Roman" panose="02020603050405020304" pitchFamily="18" charset="0"/>
                  </a:rPr>
                  <a:t> , </a:t>
                </a:r>
                <a14:m>
                  <m:oMath xmlns:m="http://schemas.openxmlformats.org/officeDocument/2006/math">
                    <m:r>
                      <a:rPr kumimoji="1" lang="en-US" altLang="zh-TW" b="0" i="0" smtClean="0">
                        <a:latin typeface="Cambria Math" panose="02040503050406030204" pitchFamily="18" charset="0"/>
                        <a:cs typeface="Times New Roman" panose="02020603050405020304" pitchFamily="18" charset="0"/>
                      </a:rPr>
                      <m:t>{</m:t>
                    </m:r>
                    <m:d>
                      <m:dPr>
                        <m:ctrlPr>
                          <a:rPr kumimoji="1" lang="en-US" altLang="zh-TW" i="1">
                            <a:latin typeface="Cambria Math" panose="02040503050406030204" pitchFamily="18" charset="0"/>
                            <a:cs typeface="Times New Roman" panose="02020603050405020304" pitchFamily="18" charset="0"/>
                          </a:rPr>
                        </m:ctrlPr>
                      </m:dPr>
                      <m:e>
                        <m:r>
                          <a:rPr kumimoji="1" lang="en-US" altLang="zh-TW" i="1">
                            <a:latin typeface="Cambria Math" panose="02040503050406030204" pitchFamily="18" charset="0"/>
                            <a:cs typeface="Times New Roman" panose="02020603050405020304" pitchFamily="18" charset="0"/>
                          </a:rPr>
                          <m:t>𝑖</m:t>
                        </m:r>
                        <m:r>
                          <a:rPr kumimoji="1" lang="en-US" altLang="zh-TW" i="1">
                            <a:latin typeface="Cambria Math" panose="02040503050406030204" pitchFamily="18" charset="0"/>
                            <a:cs typeface="Times New Roman" panose="02020603050405020304" pitchFamily="18" charset="0"/>
                          </a:rPr>
                          <m:t>,</m:t>
                        </m:r>
                        <m:r>
                          <a:rPr kumimoji="1" lang="en-US" altLang="zh-TW" i="1">
                            <a:latin typeface="Cambria Math" panose="02040503050406030204" pitchFamily="18" charset="0"/>
                            <a:cs typeface="Times New Roman" panose="02020603050405020304" pitchFamily="18" charset="0"/>
                          </a:rPr>
                          <m:t>𝑗</m:t>
                        </m:r>
                      </m:e>
                    </m:d>
                    <m:r>
                      <a:rPr kumimoji="1" lang="en-US" altLang="zh-TW" b="0" i="1" smtClean="0">
                        <a:latin typeface="Cambria Math" panose="02040503050406030204" pitchFamily="18" charset="0"/>
                        <a:cs typeface="Times New Roman" panose="02020603050405020304" pitchFamily="18" charset="0"/>
                      </a:rPr>
                      <m:t>,</m:t>
                    </m:r>
                    <m:d>
                      <m:dPr>
                        <m:ctrlPr>
                          <a:rPr kumimoji="1" lang="en-US" altLang="zh-TW" b="0" i="1" smtClean="0">
                            <a:latin typeface="Cambria Math" panose="02040503050406030204" pitchFamily="18" charset="0"/>
                            <a:cs typeface="Times New Roman" panose="02020603050405020304" pitchFamily="18" charset="0"/>
                          </a:rPr>
                        </m:ctrlPr>
                      </m:dPr>
                      <m:e>
                        <m:r>
                          <a:rPr kumimoji="1" lang="en-US" altLang="zh-TW" b="0" i="1" smtClean="0">
                            <a:latin typeface="Cambria Math" panose="02040503050406030204" pitchFamily="18" charset="0"/>
                            <a:cs typeface="Times New Roman" panose="02020603050405020304" pitchFamily="18" charset="0"/>
                          </a:rPr>
                          <m:t>𝑘</m:t>
                        </m:r>
                        <m:r>
                          <a:rPr kumimoji="1" lang="en-US" altLang="zh-TW" b="0" i="1" smtClean="0">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cs typeface="Times New Roman" panose="02020603050405020304" pitchFamily="18" charset="0"/>
                          </a:rPr>
                          <m:t>𝑙</m:t>
                        </m:r>
                      </m:e>
                    </m:d>
                    <m:r>
                      <a:rPr kumimoji="1" lang="en-US" altLang="zh-TW" b="0" i="1" smtClean="0">
                        <a:latin typeface="Cambria Math" panose="02040503050406030204" pitchFamily="18" charset="0"/>
                        <a:cs typeface="Times New Roman" panose="02020603050405020304" pitchFamily="18" charset="0"/>
                      </a:rPr>
                      <m:t>}</m:t>
                    </m:r>
                    <m:r>
                      <a:rPr kumimoji="1" lang="en-US" altLang="zh-TW" i="1">
                        <a:latin typeface="Cambria Math" panose="02040503050406030204" pitchFamily="18" charset="0"/>
                        <a:cs typeface="Times New Roman" panose="02020603050405020304" pitchFamily="18" charset="0"/>
                      </a:rPr>
                      <m:t>∈</m:t>
                    </m:r>
                    <m:r>
                      <a:rPr kumimoji="1"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oMath>
                </a14:m>
                <a:r>
                  <a:rPr kumimoji="1" lang="en-US" altLang="zh-TW" baseline="-25000"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                                                                    (3)</a:t>
                </a:r>
                <a:endParaRPr kumimoji="1" lang="en-US" altLang="zh-TW" baseline="-25000" dirty="0">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nary>
                      <m:naryPr>
                        <m:chr m:val="∑"/>
                        <m:supHide m:val="on"/>
                        <m:ctrlPr>
                          <a:rPr kumimoji="1" lang="en-US" altLang="zh-TW" i="1" smtClean="0">
                            <a:solidFill>
                              <a:srgbClr val="FF0000"/>
                            </a:solidFill>
                            <a:latin typeface="Cambria Math" panose="02040503050406030204" pitchFamily="18" charset="0"/>
                            <a:cs typeface="Times New Roman" panose="02020603050405020304" pitchFamily="18" charset="0"/>
                          </a:rPr>
                        </m:ctrlPr>
                      </m:naryPr>
                      <m:sub>
                        <m:r>
                          <a:rPr kumimoji="1" lang="en-US" altLang="zh-TW" i="1">
                            <a:solidFill>
                              <a:srgbClr val="FF0000"/>
                            </a:solidFill>
                            <a:latin typeface="Cambria Math" panose="02040503050406030204" pitchFamily="18" charset="0"/>
                            <a:cs typeface="Times New Roman" panose="02020603050405020304" pitchFamily="18" charset="0"/>
                          </a:rPr>
                          <m:t>𝑖</m:t>
                        </m:r>
                        <m:r>
                          <a:rPr kumimoji="1" lang="en-US" altLang="zh-TW"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𝑆</m:t>
                        </m:r>
                        <m:r>
                          <a:rPr kumimoji="1"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𝑗</m:t>
                        </m:r>
                        <m:r>
                          <a:rPr kumimoji="1" lang="en-US" altLang="zh-TW"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𝑉</m:t>
                        </m:r>
                        <m:r>
                          <a:rPr kumimoji="1"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𝑆</m:t>
                        </m:r>
                        <m:r>
                          <a:rPr kumimoji="1"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m:t>
                        </m:r>
                        <m:r>
                          <a:rPr kumimoji="1"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𝑜𝑟</m:t>
                        </m:r>
                        <m:r>
                          <a:rPr kumimoji="1"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m:t>
                        </m:r>
                        <m:r>
                          <a:rPr kumimoji="1"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𝑗</m:t>
                        </m:r>
                        <m:r>
                          <a:rPr kumimoji="1" lang="en-US" altLang="zh-TW"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𝑆</m:t>
                        </m:r>
                        <m:r>
                          <a:rPr kumimoji="1" lang="en-US" altLang="zh-TW"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𝑖</m:t>
                        </m:r>
                        <m:r>
                          <a:rPr kumimoji="1" lang="en-US" altLang="zh-TW"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𝑉</m:t>
                        </m:r>
                        <m:r>
                          <a:rPr kumimoji="1" lang="en-US" altLang="zh-TW"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𝑆</m:t>
                        </m:r>
                      </m:sub>
                      <m:sup/>
                      <m:e>
                        <m:r>
                          <a:rPr kumimoji="1" lang="en-US" altLang="zh-TW" i="1">
                            <a:solidFill>
                              <a:srgbClr val="FF0000"/>
                            </a:solidFill>
                            <a:latin typeface="Cambria Math" panose="02040503050406030204" pitchFamily="18" charset="0"/>
                            <a:cs typeface="Times New Roman" panose="02020603050405020304" pitchFamily="18" charset="0"/>
                          </a:rPr>
                          <m:t> </m:t>
                        </m:r>
                        <m:r>
                          <a:rPr kumimoji="1" lang="en-US" altLang="zh-TW" b="0" i="1" smtClean="0">
                            <a:solidFill>
                              <a:srgbClr val="FF0000"/>
                            </a:solidFill>
                            <a:latin typeface="Cambria Math" panose="02040503050406030204" pitchFamily="18" charset="0"/>
                            <a:cs typeface="Times New Roman" panose="02020603050405020304" pitchFamily="18" charset="0"/>
                          </a:rPr>
                          <m:t>𝑦</m:t>
                        </m:r>
                        <m:r>
                          <a:rPr kumimoji="1" lang="en-US" altLang="zh-TW" b="0" i="1" baseline="-25000" smtClean="0">
                            <a:solidFill>
                              <a:srgbClr val="FF0000"/>
                            </a:solidFill>
                            <a:latin typeface="Cambria Math" panose="02040503050406030204" pitchFamily="18" charset="0"/>
                            <a:cs typeface="Times New Roman" panose="02020603050405020304" pitchFamily="18" charset="0"/>
                          </a:rPr>
                          <m:t>𝑖𝑗</m:t>
                        </m:r>
                      </m:e>
                    </m:nary>
                    <m:r>
                      <a:rPr kumimoji="1" lang="en-US" altLang="zh-TW" b="0" i="1" baseline="-25000" smtClean="0">
                        <a:solidFill>
                          <a:srgbClr val="FF0000"/>
                        </a:solidFill>
                        <a:latin typeface="Cambria Math" panose="02040503050406030204" pitchFamily="18" charset="0"/>
                        <a:cs typeface="Times New Roman" panose="02020603050405020304" pitchFamily="18" charset="0"/>
                      </a:rPr>
                      <m:t> </m:t>
                    </m:r>
                    <m:r>
                      <a:rPr kumimoji="1"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≥1</m:t>
                    </m:r>
                  </m:oMath>
                </a14:m>
                <a:r>
                  <a:rPr kumimoji="1" lang="en-US" altLang="zh-TW" dirty="0">
                    <a:solidFill>
                      <a:srgbClr val="FF0000"/>
                    </a:solidFill>
                    <a:latin typeface="Times New Roman" panose="02020603050405020304" pitchFamily="18" charset="0"/>
                    <a:cs typeface="Times New Roman" panose="02020603050405020304" pitchFamily="18" charset="0"/>
                  </a:rPr>
                  <a:t>, </a:t>
                </a:r>
                <a14:m>
                  <m:oMath xmlns:m="http://schemas.openxmlformats.org/officeDocument/2006/math">
                    <m:r>
                      <a:rPr kumimoji="1"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𝑆</m:t>
                    </m:r>
                    <m:r>
                      <a:rPr kumimoji="1" lang="en-US" altLang="zh-TW"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𝑉</m:t>
                    </m:r>
                    <m:r>
                      <a:rPr kumimoji="1"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1≤</m:t>
                    </m:r>
                    <m:d>
                      <m:dPr>
                        <m:begChr m:val="|"/>
                        <m:endChr m:val="|"/>
                        <m:ctrlPr>
                          <a:rPr kumimoji="1"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dPr>
                      <m:e>
                        <m:r>
                          <a:rPr kumimoji="1"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𝑆</m:t>
                        </m:r>
                      </m:e>
                    </m:d>
                    <m:r>
                      <a:rPr kumimoji="1"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𝑛</m:t>
                    </m:r>
                    <m:r>
                      <a:rPr kumimoji="1"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−1</m:t>
                    </m:r>
                  </m:oMath>
                </a14:m>
                <a:r>
                  <a:rPr kumimoji="1" lang="en-US" altLang="zh-TW" baseline="-25000" dirty="0">
                    <a:solidFill>
                      <a:srgbClr val="FF0000"/>
                    </a:solidFill>
                    <a:latin typeface="Times New Roman" panose="02020603050405020304" pitchFamily="18" charset="0"/>
                    <a:cs typeface="Times New Roman" panose="02020603050405020304" pitchFamily="18" charset="0"/>
                  </a:rPr>
                  <a:t> </a:t>
                </a:r>
                <a:r>
                  <a:rPr kumimoji="1" lang="en-US" altLang="zh-TW" dirty="0">
                    <a:solidFill>
                      <a:srgbClr val="FF0000"/>
                    </a:solidFill>
                    <a:latin typeface="Times New Roman" panose="02020603050405020304" pitchFamily="18" charset="0"/>
                    <a:cs typeface="Times New Roman" panose="02020603050405020304" pitchFamily="18" charset="0"/>
                  </a:rPr>
                  <a:t>      </a:t>
                </a:r>
                <a:r>
                  <a:rPr kumimoji="1" lang="en-US" altLang="zh-TW" sz="2200" dirty="0">
                    <a:solidFill>
                      <a:srgbClr val="FF0000"/>
                    </a:solidFill>
                    <a:latin typeface="Times New Roman" panose="02020603050405020304" pitchFamily="18" charset="0"/>
                    <a:cs typeface="Times New Roman" panose="02020603050405020304" pitchFamily="18" charset="0"/>
                  </a:rPr>
                  <a:t>strong connectivity</a:t>
                </a:r>
                <a:r>
                  <a:rPr kumimoji="1" lang="en-US" altLang="zh-TW" dirty="0">
                    <a:solidFill>
                      <a:srgbClr val="FF0000"/>
                    </a:solidFill>
                    <a:latin typeface="Times New Roman" panose="02020603050405020304" pitchFamily="18" charset="0"/>
                    <a:cs typeface="Times New Roman" panose="02020603050405020304" pitchFamily="18" charset="0"/>
                  </a:rPr>
                  <a:t> (4)</a:t>
                </a:r>
                <a:endParaRPr kumimoji="1" lang="en-US" altLang="zh-TW" baseline="-25000" dirty="0">
                  <a:solidFill>
                    <a:srgbClr val="FF0000"/>
                  </a:solidFill>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𝑥</m:t>
                    </m:r>
                    <m:r>
                      <a:rPr kumimoji="1" lang="en-US" altLang="zh-TW" i="1" baseline="-25000">
                        <a:latin typeface="Cambria Math" panose="02040503050406030204" pitchFamily="18" charset="0"/>
                        <a:ea typeface="Cambria Math" panose="02040503050406030204" pitchFamily="18" charset="0"/>
                        <a:cs typeface="Times New Roman" panose="02020603050405020304" pitchFamily="18" charset="0"/>
                      </a:rPr>
                      <m:t>𝑖𝑗</m:t>
                    </m:r>
                    <m:r>
                      <a:rPr kumimoji="1" lang="en-US" altLang="zh-TW" i="1">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cs typeface="Times New Roman" panose="02020603050405020304" pitchFamily="18" charset="0"/>
                      </a:rPr>
                      <m:t>{0, 1, 2}</m:t>
                    </m:r>
                  </m:oMath>
                </a14:m>
                <a:r>
                  <a:rPr kumimoji="1" lang="en-US" altLang="zh-TW" dirty="0">
                    <a:latin typeface="Times New Roman" panose="02020603050405020304" pitchFamily="18" charset="0"/>
                    <a:cs typeface="Times New Roman" panose="02020603050405020304" pitchFamily="18" charset="0"/>
                  </a:rPr>
                  <a:t> , </a:t>
                </a:r>
                <a14:m>
                  <m:oMath xmlns:m="http://schemas.openxmlformats.org/officeDocument/2006/math">
                    <m:r>
                      <a:rPr kumimoji="1" lang="en-US" altLang="zh-TW" i="1">
                        <a:latin typeface="Cambria Math" panose="02040503050406030204" pitchFamily="18" charset="0"/>
                        <a:cs typeface="Times New Roman" panose="02020603050405020304" pitchFamily="18" charset="0"/>
                      </a:rPr>
                      <m:t>(</m:t>
                    </m:r>
                    <m:r>
                      <a:rPr kumimoji="1" lang="en-US" altLang="zh-TW" i="1">
                        <a:latin typeface="Cambria Math" panose="02040503050406030204" pitchFamily="18" charset="0"/>
                        <a:cs typeface="Times New Roman" panose="02020603050405020304" pitchFamily="18" charset="0"/>
                      </a:rPr>
                      <m:t>𝑖</m:t>
                    </m:r>
                    <m:r>
                      <a:rPr kumimoji="1" lang="en-US" altLang="zh-TW" i="1">
                        <a:latin typeface="Cambria Math" panose="02040503050406030204" pitchFamily="18" charset="0"/>
                        <a:cs typeface="Times New Roman" panose="02020603050405020304" pitchFamily="18" charset="0"/>
                      </a:rPr>
                      <m:t>,</m:t>
                    </m:r>
                    <m:r>
                      <a:rPr kumimoji="1" lang="en-US" altLang="zh-TW" i="1">
                        <a:latin typeface="Cambria Math" panose="02040503050406030204" pitchFamily="18" charset="0"/>
                        <a:cs typeface="Times New Roman" panose="02020603050405020304" pitchFamily="18" charset="0"/>
                      </a:rPr>
                      <m:t>𝑗</m:t>
                    </m:r>
                    <m:r>
                      <a:rPr kumimoji="1" lang="en-US" altLang="zh-TW" i="1">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cs typeface="Times New Roman" panose="02020603050405020304" pitchFamily="18" charset="0"/>
                      </a:rPr>
                      <m:t>𝐸</m:t>
                    </m:r>
                  </m:oMath>
                </a14:m>
                <a:r>
                  <a:rPr kumimoji="1" lang="en-US" altLang="zh-TW" baseline="-25000"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                                                                                 (5)</a:t>
                </a:r>
                <a:endParaRPr kumimoji="1" lang="en-US" altLang="zh-TW" baseline="-25000" dirty="0">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𝑦</m:t>
                    </m:r>
                    <m:r>
                      <a:rPr kumimoji="1" lang="en-US" altLang="zh-TW" i="1" baseline="-25000">
                        <a:latin typeface="Cambria Math" panose="02040503050406030204" pitchFamily="18" charset="0"/>
                        <a:ea typeface="Cambria Math" panose="02040503050406030204" pitchFamily="18" charset="0"/>
                        <a:cs typeface="Times New Roman" panose="02020603050405020304" pitchFamily="18" charset="0"/>
                      </a:rPr>
                      <m:t>𝑖𝑗</m:t>
                    </m:r>
                    <m:r>
                      <a:rPr kumimoji="1" lang="en-US" altLang="zh-TW" i="1">
                        <a:latin typeface="Cambria Math" panose="02040503050406030204" pitchFamily="18" charset="0"/>
                        <a:cs typeface="Times New Roman" panose="02020603050405020304" pitchFamily="18" charset="0"/>
                      </a:rPr>
                      <m:t>∈{0, 1}</m:t>
                    </m:r>
                  </m:oMath>
                </a14:m>
                <a:r>
                  <a:rPr kumimoji="1" lang="en-US" altLang="zh-TW" dirty="0">
                    <a:latin typeface="Times New Roman" panose="02020603050405020304" pitchFamily="18" charset="0"/>
                    <a:cs typeface="Times New Roman" panose="02020603050405020304" pitchFamily="18" charset="0"/>
                  </a:rPr>
                  <a:t> , </a:t>
                </a:r>
                <a14:m>
                  <m:oMath xmlns:m="http://schemas.openxmlformats.org/officeDocument/2006/math">
                    <m:r>
                      <a:rPr kumimoji="1" lang="en-US" altLang="zh-TW" i="1">
                        <a:latin typeface="Cambria Math" panose="02040503050406030204" pitchFamily="18" charset="0"/>
                        <a:cs typeface="Times New Roman" panose="02020603050405020304" pitchFamily="18" charset="0"/>
                      </a:rPr>
                      <m:t>(</m:t>
                    </m:r>
                    <m:r>
                      <a:rPr kumimoji="1" lang="en-US" altLang="zh-TW" i="1">
                        <a:latin typeface="Cambria Math" panose="02040503050406030204" pitchFamily="18" charset="0"/>
                        <a:cs typeface="Times New Roman" panose="02020603050405020304" pitchFamily="18" charset="0"/>
                      </a:rPr>
                      <m:t>𝑖</m:t>
                    </m:r>
                    <m:r>
                      <a:rPr kumimoji="1" lang="en-US" altLang="zh-TW" i="1">
                        <a:latin typeface="Cambria Math" panose="02040503050406030204" pitchFamily="18" charset="0"/>
                        <a:cs typeface="Times New Roman" panose="02020603050405020304" pitchFamily="18" charset="0"/>
                      </a:rPr>
                      <m:t>,</m:t>
                    </m:r>
                    <m:r>
                      <a:rPr kumimoji="1" lang="en-US" altLang="zh-TW" i="1">
                        <a:latin typeface="Cambria Math" panose="02040503050406030204" pitchFamily="18" charset="0"/>
                        <a:cs typeface="Times New Roman" panose="02020603050405020304" pitchFamily="18" charset="0"/>
                      </a:rPr>
                      <m:t>𝑗</m:t>
                    </m:r>
                    <m:r>
                      <a:rPr kumimoji="1" lang="en-US" altLang="zh-TW" i="1">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cs typeface="Times New Roman" panose="02020603050405020304" pitchFamily="18" charset="0"/>
                      </a:rPr>
                      <m:t>𝐸</m:t>
                    </m:r>
                  </m:oMath>
                </a14:m>
                <a:r>
                  <a:rPr kumimoji="1" lang="en-US" altLang="zh-TW" baseline="-25000"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                                                                                     (6)</a:t>
                </a:r>
                <a:endParaRPr kumimoji="1" lang="en-US" altLang="zh-TW" baseline="-25000" dirty="0">
                  <a:latin typeface="Times New Roman" panose="02020603050405020304" pitchFamily="18" charset="0"/>
                  <a:cs typeface="Times New Roman" panose="02020603050405020304" pitchFamily="18" charset="0"/>
                </a:endParaRPr>
              </a:p>
              <a:p>
                <a:pPr marL="0" indent="0">
                  <a:buNone/>
                </a:pPr>
                <a14:m>
                  <m:oMath xmlns:m="http://schemas.openxmlformats.org/officeDocument/2006/math">
                    <m:nary>
                      <m:naryPr>
                        <m:chr m:val="∑"/>
                        <m:supHide m:val="on"/>
                        <m:ctrlPr>
                          <a:rPr kumimoji="1" lang="en-US" altLang="zh-TW" i="1" smtClean="0">
                            <a:solidFill>
                              <a:srgbClr val="FF0000"/>
                            </a:solidFill>
                            <a:latin typeface="Cambria Math" panose="02040503050406030204" pitchFamily="18" charset="0"/>
                            <a:cs typeface="Times New Roman" panose="02020603050405020304" pitchFamily="18" charset="0"/>
                          </a:rPr>
                        </m:ctrlPr>
                      </m:naryPr>
                      <m:sub>
                        <m:r>
                          <a:rPr kumimoji="1" lang="en-US" altLang="zh-TW" b="0" i="1" smtClean="0">
                            <a:solidFill>
                              <a:srgbClr val="FF0000"/>
                            </a:solidFill>
                            <a:latin typeface="Cambria Math" panose="02040503050406030204" pitchFamily="18" charset="0"/>
                            <a:cs typeface="Times New Roman" panose="02020603050405020304" pitchFamily="18" charset="0"/>
                          </a:rPr>
                          <m:t>(</m:t>
                        </m:r>
                        <m:r>
                          <a:rPr kumimoji="1" lang="en-US" altLang="zh-TW" b="0" i="1" smtClean="0">
                            <a:solidFill>
                              <a:srgbClr val="FF0000"/>
                            </a:solidFill>
                            <a:latin typeface="Cambria Math" panose="02040503050406030204" pitchFamily="18" charset="0"/>
                            <a:cs typeface="Times New Roman" panose="02020603050405020304" pitchFamily="18" charset="0"/>
                          </a:rPr>
                          <m:t>𝑖</m:t>
                        </m:r>
                        <m:r>
                          <a:rPr kumimoji="1" lang="en-US" altLang="zh-TW" b="0" i="1" smtClean="0">
                            <a:solidFill>
                              <a:srgbClr val="FF0000"/>
                            </a:solidFill>
                            <a:latin typeface="Cambria Math" panose="02040503050406030204" pitchFamily="18" charset="0"/>
                            <a:cs typeface="Times New Roman" panose="02020603050405020304" pitchFamily="18" charset="0"/>
                          </a:rPr>
                          <m:t>,</m:t>
                        </m:r>
                        <m:r>
                          <a:rPr kumimoji="1" lang="en-US" altLang="zh-TW" b="0" i="1" smtClean="0">
                            <a:solidFill>
                              <a:srgbClr val="FF0000"/>
                            </a:solidFill>
                            <a:latin typeface="Cambria Math" panose="02040503050406030204" pitchFamily="18" charset="0"/>
                            <a:cs typeface="Times New Roman" panose="02020603050405020304" pitchFamily="18" charset="0"/>
                          </a:rPr>
                          <m:t>𝑗</m:t>
                        </m:r>
                        <m:r>
                          <a:rPr kumimoji="1" lang="en-US" altLang="zh-TW" b="0" i="1" smtClean="0">
                            <a:solidFill>
                              <a:srgbClr val="FF0000"/>
                            </a:solidFill>
                            <a:latin typeface="Cambria Math" panose="02040503050406030204" pitchFamily="18" charset="0"/>
                            <a:cs typeface="Times New Roman" panose="02020603050405020304" pitchFamily="18" charset="0"/>
                          </a:rPr>
                          <m:t>)∈</m:t>
                        </m:r>
                        <m:r>
                          <a:rPr kumimoji="1"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𝐸</m:t>
                        </m:r>
                      </m:sub>
                      <m:sup/>
                      <m:e>
                        <m:r>
                          <a:rPr kumimoji="1"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m:t>
                        </m:r>
                        <m:r>
                          <a:rPr kumimoji="1" lang="en-US" altLang="zh-TW" i="1" smtClean="0">
                            <a:solidFill>
                              <a:srgbClr val="FF0000"/>
                            </a:solidFill>
                            <a:latin typeface="Cambria Math" panose="02040503050406030204" pitchFamily="18" charset="0"/>
                            <a:cs typeface="Times New Roman" panose="02020603050405020304" pitchFamily="18" charset="0"/>
                          </a:rPr>
                          <m:t>𝑦</m:t>
                        </m:r>
                        <m:r>
                          <a:rPr kumimoji="1" lang="en-US" altLang="zh-TW" i="1" baseline="-25000">
                            <a:solidFill>
                              <a:srgbClr val="FF0000"/>
                            </a:solidFill>
                            <a:latin typeface="Cambria Math" panose="02040503050406030204" pitchFamily="18" charset="0"/>
                            <a:cs typeface="Times New Roman" panose="02020603050405020304" pitchFamily="18" charset="0"/>
                          </a:rPr>
                          <m:t>𝑖𝑗</m:t>
                        </m:r>
                      </m:e>
                    </m:nary>
                    <m:r>
                      <a:rPr kumimoji="1" lang="en-US" altLang="zh-TW" i="1" baseline="-25000">
                        <a:solidFill>
                          <a:srgbClr val="FF0000"/>
                        </a:solidFill>
                        <a:latin typeface="Cambria Math" panose="02040503050406030204" pitchFamily="18" charset="0"/>
                        <a:cs typeface="Times New Roman" panose="02020603050405020304" pitchFamily="18" charset="0"/>
                      </a:rPr>
                      <m:t> </m:t>
                    </m:r>
                    <m:r>
                      <a:rPr kumimoji="1" lang="en-US" altLang="zh-TW"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𝑛</m:t>
                    </m:r>
                    <m:r>
                      <a:rPr kumimoji="1" lang="en-US" altLang="zh-TW"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−1</m:t>
                    </m:r>
                  </m:oMath>
                </a14:m>
                <a:r>
                  <a:rPr kumimoji="1" lang="en-US" altLang="zh-TW" baseline="-25000" dirty="0">
                    <a:solidFill>
                      <a:srgbClr val="FF0000"/>
                    </a:solidFill>
                    <a:latin typeface="Times New Roman" panose="02020603050405020304" pitchFamily="18" charset="0"/>
                    <a:cs typeface="Times New Roman" panose="02020603050405020304" pitchFamily="18" charset="0"/>
                  </a:rPr>
                  <a:t> </a:t>
                </a:r>
                <a:r>
                  <a:rPr kumimoji="1" lang="en-US" altLang="zh-TW" dirty="0">
                    <a:solidFill>
                      <a:srgbClr val="FF0000"/>
                    </a:solidFill>
                    <a:latin typeface="Times New Roman" panose="02020603050405020304" pitchFamily="18" charset="0"/>
                    <a:cs typeface="Times New Roman" panose="02020603050405020304" pitchFamily="18" charset="0"/>
                  </a:rPr>
                  <a:t>                                                                </a:t>
                </a:r>
                <a:r>
                  <a:rPr kumimoji="1" lang="en-US" altLang="zh-TW" sz="2200" dirty="0">
                    <a:solidFill>
                      <a:srgbClr val="FF0000"/>
                    </a:solidFill>
                    <a:latin typeface="Times New Roman" panose="02020603050405020304" pitchFamily="18" charset="0"/>
                    <a:cs typeface="Times New Roman" panose="02020603050405020304" pitchFamily="18" charset="0"/>
                  </a:rPr>
                  <a:t>weak connectivity</a:t>
                </a:r>
                <a:r>
                  <a:rPr kumimoji="1" lang="en-US" altLang="zh-TW" dirty="0">
                    <a:solidFill>
                      <a:srgbClr val="FF0000"/>
                    </a:solidFill>
                    <a:latin typeface="Times New Roman" panose="02020603050405020304" pitchFamily="18" charset="0"/>
                    <a:cs typeface="Times New Roman" panose="02020603050405020304" pitchFamily="18" charset="0"/>
                  </a:rPr>
                  <a:t> (7)</a:t>
                </a:r>
                <a:endParaRPr kumimoji="1" lang="en-US" altLang="zh-TW" baseline="-25000" dirty="0">
                  <a:solidFill>
                    <a:srgbClr val="FF0000"/>
                  </a:solidFill>
                  <a:latin typeface="Times New Roman" panose="02020603050405020304" pitchFamily="18" charset="0"/>
                  <a:cs typeface="Times New Roman" panose="02020603050405020304" pitchFamily="18" charset="0"/>
                </a:endParaRPr>
              </a:p>
            </p:txBody>
          </p:sp>
        </mc:Choice>
        <mc:Fallback>
          <p:sp>
            <p:nvSpPr>
              <p:cNvPr id="3" name="內容版面配置區 2">
                <a:extLst>
                  <a:ext uri="{FF2B5EF4-FFF2-40B4-BE49-F238E27FC236}">
                    <a16:creationId xmlns:a16="http://schemas.microsoft.com/office/drawing/2014/main" id="{FDBA7692-A0C6-5C4A-A230-F72A3B531FB3}"/>
                  </a:ext>
                </a:extLst>
              </p:cNvPr>
              <p:cNvSpPr>
                <a:spLocks noGrp="1" noRot="1" noChangeAspect="1" noMove="1" noResize="1" noEditPoints="1" noAdjustHandles="1" noChangeArrowheads="1" noChangeShapeType="1" noTextEdit="1"/>
              </p:cNvSpPr>
              <p:nvPr>
                <p:ph idx="1"/>
              </p:nvPr>
            </p:nvSpPr>
            <p:spPr>
              <a:xfrm>
                <a:off x="838199" y="1618769"/>
                <a:ext cx="10515601" cy="5032376"/>
              </a:xfrm>
              <a:blipFill>
                <a:blip r:embed="rId2"/>
                <a:stretch>
                  <a:fillRect l="-4946" t="-1005" r="-2051" b="-16834"/>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6</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8748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7</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7296CFFE-7ABA-E04C-A58A-45EA7DE10D17}"/>
                  </a:ext>
                </a:extLst>
              </p:cNvPr>
              <p:cNvGraphicFramePr>
                <a:graphicFrameLocks noGrp="1"/>
              </p:cNvGraphicFramePr>
              <p:nvPr>
                <p:extLst>
                  <p:ext uri="{D42A27DB-BD31-4B8C-83A1-F6EECF244321}">
                    <p14:modId xmlns:p14="http://schemas.microsoft.com/office/powerpoint/2010/main" val="493859253"/>
                  </p:ext>
                </p:extLst>
              </p:nvPr>
            </p:nvGraphicFramePr>
            <p:xfrm>
              <a:off x="8007561" y="160512"/>
              <a:ext cx="3385122" cy="6522720"/>
            </p:xfrm>
            <a:graphic>
              <a:graphicData uri="http://schemas.openxmlformats.org/drawingml/2006/table">
                <a:tbl>
                  <a:tblPr firstRow="1" bandRow="1">
                    <a:tableStyleId>{5C22544A-7EE6-4342-B048-85BDC9FD1C3A}</a:tableStyleId>
                  </a:tblPr>
                  <a:tblGrid>
                    <a:gridCol w="394990">
                      <a:extLst>
                        <a:ext uri="{9D8B030D-6E8A-4147-A177-3AD203B41FA5}">
                          <a16:colId xmlns:a16="http://schemas.microsoft.com/office/drawing/2014/main" val="2569613048"/>
                        </a:ext>
                      </a:extLst>
                    </a:gridCol>
                    <a:gridCol w="2990132">
                      <a:extLst>
                        <a:ext uri="{9D8B030D-6E8A-4147-A177-3AD203B41FA5}">
                          <a16:colId xmlns:a16="http://schemas.microsoft.com/office/drawing/2014/main" val="3907760758"/>
                        </a:ext>
                      </a:extLst>
                    </a:gridCol>
                  </a:tblGrid>
                  <a:tr h="370840">
                    <a:tc>
                      <a:txBody>
                        <a:bodyPr/>
                        <a:lstStyle/>
                        <a:p>
                          <a:pPr algn="ctr"/>
                          <a:endParaRPr lang="zh-TW" altLang="en-US"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2000" b="0" dirty="0">
                              <a:solidFill>
                                <a:schemeClr val="tx1"/>
                              </a:solidFill>
                              <a:latin typeface="Times New Roman" panose="02020603050405020304" pitchFamily="18" charset="0"/>
                              <a:cs typeface="Times New Roman" panose="02020603050405020304" pitchFamily="18" charset="0"/>
                            </a:rPr>
                            <a:t>constraint</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5322513"/>
                      </a:ext>
                    </a:extLst>
                  </a:tr>
                  <a:tr h="370840">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14:m>
                            <m:oMathPara xmlns:m="http://schemas.openxmlformats.org/officeDocument/2006/math">
                              <m:oMathParaPr>
                                <m:jc m:val="left"/>
                              </m:oMathParaPr>
                              <m:oMath xmlns:m="http://schemas.openxmlformats.org/officeDocument/2006/math">
                                <m:r>
                                  <a:rPr kumimoji="1" lang="en-US" altLang="zh-TW" sz="2000" i="1" smtClean="0">
                                    <a:latin typeface="Cambria Math" panose="02040503050406030204" pitchFamily="18" charset="0"/>
                                    <a:cs typeface="Times New Roman" panose="02020603050405020304" pitchFamily="18" charset="0"/>
                                  </a:rPr>
                                  <m:t>𝑥</m:t>
                                </m:r>
                                <m:r>
                                  <a:rPr kumimoji="1" lang="en-US" altLang="zh-TW" sz="2000" i="1" baseline="-25000">
                                    <a:latin typeface="Cambria Math" panose="02040503050406030204" pitchFamily="18" charset="0"/>
                                    <a:cs typeface="Times New Roman" panose="02020603050405020304" pitchFamily="18" charset="0"/>
                                  </a:rPr>
                                  <m:t>01</m:t>
                                </m:r>
                                <m:r>
                                  <a:rPr kumimoji="1" lang="en-US" altLang="zh-TW" sz="2000" i="1">
                                    <a:latin typeface="Cambria Math" panose="02040503050406030204" pitchFamily="18" charset="0"/>
                                    <a:cs typeface="Times New Roman" panose="02020603050405020304" pitchFamily="18" charset="0"/>
                                  </a:rPr>
                                  <m:t>+</m:t>
                                </m:r>
                                <m:r>
                                  <a:rPr kumimoji="1" lang="en-US" altLang="zh-TW" sz="2000" i="1">
                                    <a:latin typeface="Cambria Math" panose="02040503050406030204" pitchFamily="18" charset="0"/>
                                    <a:cs typeface="Times New Roman" panose="02020603050405020304" pitchFamily="18" charset="0"/>
                                  </a:rPr>
                                  <m:t>𝑥</m:t>
                                </m:r>
                                <m:r>
                                  <a:rPr kumimoji="1" lang="en-US" altLang="zh-TW" sz="2000" i="1" baseline="-25000">
                                    <a:latin typeface="Cambria Math" panose="02040503050406030204" pitchFamily="18" charset="0"/>
                                    <a:cs typeface="Times New Roman" panose="02020603050405020304" pitchFamily="18" charset="0"/>
                                  </a:rPr>
                                  <m:t>02</m:t>
                                </m:r>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=1</m:t>
                                </m:r>
                              </m:oMath>
                            </m:oMathPara>
                          </a14:m>
                          <a:endParaRPr kumimoji="1" lang="en-US" altLang="zh-TW" sz="2000" dirty="0">
                            <a:latin typeface="Times New Roman" panose="02020603050405020304" pitchFamily="18" charset="0"/>
                            <a:cs typeface="Times New Roman" panose="02020603050405020304" pitchFamily="18" charset="0"/>
                          </a:endParaRPr>
                        </a:p>
                        <a:p>
                          <a:pPr marL="0" indent="0" algn="l">
                            <a:buNone/>
                          </a:pPr>
                          <a14:m>
                            <m:oMathPara xmlns:m="http://schemas.openxmlformats.org/officeDocument/2006/math">
                              <m:oMathParaPr>
                                <m:jc m:val="left"/>
                              </m:oMathParaPr>
                              <m:oMath xmlns:m="http://schemas.openxmlformats.org/officeDocument/2006/math">
                                <m:r>
                                  <a:rPr kumimoji="1" lang="en-US" altLang="zh-TW" sz="2000" i="1">
                                    <a:latin typeface="Cambria Math" panose="02040503050406030204" pitchFamily="18" charset="0"/>
                                    <a:cs typeface="Times New Roman" panose="02020603050405020304" pitchFamily="18" charset="0"/>
                                  </a:rPr>
                                  <m:t>𝑥</m:t>
                                </m:r>
                                <m:r>
                                  <a:rPr kumimoji="1" lang="en-US" altLang="zh-TW" sz="2000" i="1" baseline="-25000">
                                    <a:latin typeface="Cambria Math" panose="02040503050406030204" pitchFamily="18" charset="0"/>
                                    <a:cs typeface="Times New Roman" panose="02020603050405020304" pitchFamily="18" charset="0"/>
                                  </a:rPr>
                                  <m:t>01</m:t>
                                </m:r>
                                <m:r>
                                  <a:rPr kumimoji="1" lang="en-US" altLang="zh-TW" sz="2000" i="1">
                                    <a:latin typeface="Cambria Math" panose="02040503050406030204" pitchFamily="18" charset="0"/>
                                    <a:cs typeface="Times New Roman" panose="02020603050405020304" pitchFamily="18" charset="0"/>
                                  </a:rPr>
                                  <m:t>+</m:t>
                                </m:r>
                                <m:r>
                                  <a:rPr kumimoji="1" lang="en-US" altLang="zh-TW" sz="2000" i="1">
                                    <a:latin typeface="Cambria Math" panose="02040503050406030204" pitchFamily="18" charset="0"/>
                                    <a:cs typeface="Times New Roman" panose="02020603050405020304" pitchFamily="18" charset="0"/>
                                  </a:rPr>
                                  <m:t>𝑥</m:t>
                                </m:r>
                                <m:r>
                                  <a:rPr kumimoji="1" lang="en-US" altLang="zh-TW" sz="2000" b="0" i="1" baseline="-25000" smtClean="0">
                                    <a:latin typeface="Cambria Math" panose="02040503050406030204" pitchFamily="18" charset="0"/>
                                    <a:cs typeface="Times New Roman" panose="02020603050405020304" pitchFamily="18" charset="0"/>
                                  </a:rPr>
                                  <m:t>13</m:t>
                                </m:r>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2</m:t>
                                </m:r>
                              </m:oMath>
                            </m:oMathPara>
                          </a14:m>
                          <a:endParaRPr kumimoji="1" lang="en-US" altLang="zh-TW" sz="2000" dirty="0">
                            <a:latin typeface="Times New Roman" panose="02020603050405020304" pitchFamily="18" charset="0"/>
                            <a:cs typeface="Times New Roman" panose="02020603050405020304" pitchFamily="18" charset="0"/>
                          </a:endParaRPr>
                        </a:p>
                        <a:p>
                          <a:pPr marL="0" indent="0" algn="l">
                            <a:buNone/>
                          </a:pPr>
                          <a14:m>
                            <m:oMathPara xmlns:m="http://schemas.openxmlformats.org/officeDocument/2006/math">
                              <m:oMathParaPr>
                                <m:jc m:val="left"/>
                              </m:oMathParaPr>
                              <m:oMath xmlns:m="http://schemas.openxmlformats.org/officeDocument/2006/math">
                                <m:r>
                                  <a:rPr kumimoji="1" lang="en-US" altLang="zh-TW" sz="2000" i="1">
                                    <a:latin typeface="Cambria Math" panose="02040503050406030204" pitchFamily="18" charset="0"/>
                                    <a:cs typeface="Times New Roman" panose="02020603050405020304" pitchFamily="18" charset="0"/>
                                  </a:rPr>
                                  <m:t>𝑥</m:t>
                                </m:r>
                                <m:r>
                                  <a:rPr kumimoji="1" lang="en-US" altLang="zh-TW" sz="2000" i="1" baseline="-25000">
                                    <a:latin typeface="Cambria Math" panose="02040503050406030204" pitchFamily="18" charset="0"/>
                                    <a:cs typeface="Times New Roman" panose="02020603050405020304" pitchFamily="18" charset="0"/>
                                  </a:rPr>
                                  <m:t>0</m:t>
                                </m:r>
                                <m:r>
                                  <a:rPr kumimoji="1" lang="en-US" altLang="zh-TW" sz="2000" b="0" i="1" baseline="-25000" smtClean="0">
                                    <a:latin typeface="Cambria Math" panose="02040503050406030204" pitchFamily="18" charset="0"/>
                                    <a:cs typeface="Times New Roman" panose="02020603050405020304" pitchFamily="18" charset="0"/>
                                  </a:rPr>
                                  <m:t>2</m:t>
                                </m:r>
                                <m:r>
                                  <a:rPr kumimoji="1" lang="en-US" altLang="zh-TW" sz="2000" i="1">
                                    <a:latin typeface="Cambria Math" panose="02040503050406030204" pitchFamily="18" charset="0"/>
                                    <a:cs typeface="Times New Roman" panose="02020603050405020304" pitchFamily="18" charset="0"/>
                                  </a:rPr>
                                  <m:t>+</m:t>
                                </m:r>
                                <m:r>
                                  <a:rPr kumimoji="1" lang="en-US" altLang="zh-TW" sz="2000" i="1">
                                    <a:latin typeface="Cambria Math" panose="02040503050406030204" pitchFamily="18" charset="0"/>
                                    <a:cs typeface="Times New Roman" panose="02020603050405020304" pitchFamily="18" charset="0"/>
                                  </a:rPr>
                                  <m:t>𝑥</m:t>
                                </m:r>
                                <m:r>
                                  <a:rPr kumimoji="1" lang="en-US" altLang="zh-TW" sz="2000" i="1" baseline="-25000">
                                    <a:latin typeface="Cambria Math" panose="02040503050406030204" pitchFamily="18" charset="0"/>
                                    <a:cs typeface="Times New Roman" panose="02020603050405020304" pitchFamily="18" charset="0"/>
                                  </a:rPr>
                                  <m:t>2</m:t>
                                </m:r>
                                <m:r>
                                  <a:rPr kumimoji="1" lang="en-US" altLang="zh-TW" sz="2000" b="0" i="1" baseline="-25000" smtClean="0">
                                    <a:latin typeface="Cambria Math" panose="02040503050406030204" pitchFamily="18" charset="0"/>
                                    <a:cs typeface="Times New Roman" panose="02020603050405020304" pitchFamily="18" charset="0"/>
                                  </a:rPr>
                                  <m:t>3</m:t>
                                </m:r>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=1</m:t>
                                </m:r>
                              </m:oMath>
                            </m:oMathPara>
                          </a14:m>
                          <a:endParaRPr kumimoji="1" lang="en-US" altLang="zh-TW" sz="2000" dirty="0">
                            <a:latin typeface="Times New Roman" panose="02020603050405020304" pitchFamily="18" charset="0"/>
                            <a:cs typeface="Times New Roman" panose="02020603050405020304" pitchFamily="18" charset="0"/>
                          </a:endParaRPr>
                        </a:p>
                        <a:p>
                          <a:pPr marL="0" indent="0" algn="l">
                            <a:buNone/>
                          </a:pPr>
                          <a14:m>
                            <m:oMathPara xmlns:m="http://schemas.openxmlformats.org/officeDocument/2006/math">
                              <m:oMathParaPr>
                                <m:jc m:val="left"/>
                              </m:oMathParaPr>
                              <m:oMath xmlns:m="http://schemas.openxmlformats.org/officeDocument/2006/math">
                                <m:r>
                                  <a:rPr kumimoji="1" lang="en-US" altLang="zh-TW" sz="2000" i="1">
                                    <a:latin typeface="Cambria Math" panose="02040503050406030204" pitchFamily="18" charset="0"/>
                                    <a:cs typeface="Times New Roman" panose="02020603050405020304" pitchFamily="18" charset="0"/>
                                  </a:rPr>
                                  <m:t>𝑥</m:t>
                                </m:r>
                                <m:r>
                                  <a:rPr kumimoji="1" lang="en-US" altLang="zh-TW" sz="2000" i="1" baseline="-25000">
                                    <a:latin typeface="Cambria Math" panose="02040503050406030204" pitchFamily="18" charset="0"/>
                                    <a:cs typeface="Times New Roman" panose="02020603050405020304" pitchFamily="18" charset="0"/>
                                  </a:rPr>
                                  <m:t>1</m:t>
                                </m:r>
                                <m:r>
                                  <a:rPr kumimoji="1" lang="en-US" altLang="zh-TW" sz="2000" b="0" i="1" baseline="-25000" smtClean="0">
                                    <a:latin typeface="Cambria Math" panose="02040503050406030204" pitchFamily="18" charset="0"/>
                                    <a:cs typeface="Times New Roman" panose="02020603050405020304" pitchFamily="18" charset="0"/>
                                  </a:rPr>
                                  <m:t>3</m:t>
                                </m:r>
                                <m:r>
                                  <a:rPr kumimoji="1" lang="en-US" altLang="zh-TW" sz="2000" i="1">
                                    <a:latin typeface="Cambria Math" panose="02040503050406030204" pitchFamily="18" charset="0"/>
                                    <a:cs typeface="Times New Roman" panose="02020603050405020304" pitchFamily="18" charset="0"/>
                                  </a:rPr>
                                  <m:t>+</m:t>
                                </m:r>
                                <m:r>
                                  <a:rPr kumimoji="1" lang="en-US" altLang="zh-TW" sz="2000" i="1">
                                    <a:latin typeface="Cambria Math" panose="02040503050406030204" pitchFamily="18" charset="0"/>
                                    <a:cs typeface="Times New Roman" panose="02020603050405020304" pitchFamily="18" charset="0"/>
                                  </a:rPr>
                                  <m:t>𝑥</m:t>
                                </m:r>
                                <m:r>
                                  <a:rPr kumimoji="1" lang="en-US" altLang="zh-TW" sz="2000" i="1" baseline="-25000">
                                    <a:latin typeface="Cambria Math" panose="02040503050406030204" pitchFamily="18" charset="0"/>
                                    <a:cs typeface="Times New Roman" panose="02020603050405020304" pitchFamily="18" charset="0"/>
                                  </a:rPr>
                                  <m:t>2</m:t>
                                </m:r>
                                <m:r>
                                  <a:rPr kumimoji="1" lang="en-US" altLang="zh-TW" sz="2000" b="0" i="1" baseline="-25000" smtClean="0">
                                    <a:latin typeface="Cambria Math" panose="02040503050406030204" pitchFamily="18" charset="0"/>
                                    <a:cs typeface="Times New Roman" panose="02020603050405020304" pitchFamily="18" charset="0"/>
                                  </a:rPr>
                                  <m:t>3</m:t>
                                </m:r>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2</m:t>
                                </m:r>
                              </m:oMath>
                            </m:oMathPara>
                          </a14:m>
                          <a:endParaRPr kumimoji="1" lang="en-US" altLang="zh-TW"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5675910"/>
                      </a:ext>
                    </a:extLst>
                  </a:tr>
                  <a:tr h="370840">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14:m>
                            <m:oMath xmlns:m="http://schemas.openxmlformats.org/officeDocument/2006/math">
                              <m:r>
                                <a:rPr kumimoji="1" lang="en-US" altLang="zh-TW" sz="2000" i="1" smtClean="0">
                                  <a:latin typeface="Cambria Math" panose="02040503050406030204" pitchFamily="18" charset="0"/>
                                  <a:cs typeface="Times New Roman" panose="02020603050405020304" pitchFamily="18" charset="0"/>
                                </a:rPr>
                                <m:t>𝑦</m:t>
                              </m:r>
                              <m:r>
                                <a:rPr kumimoji="1" lang="en-US" altLang="zh-TW" sz="2000" b="0" i="1" baseline="-25000" smtClean="0">
                                  <a:latin typeface="Cambria Math" panose="02040503050406030204" pitchFamily="18" charset="0"/>
                                  <a:cs typeface="Times New Roman" panose="02020603050405020304" pitchFamily="18" charset="0"/>
                                </a:rPr>
                                <m:t>01</m:t>
                              </m:r>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sz="2000" i="1">
                                  <a:latin typeface="Cambria Math" panose="02040503050406030204" pitchFamily="18" charset="0"/>
                                  <a:cs typeface="Times New Roman" panose="02020603050405020304" pitchFamily="18" charset="0"/>
                                </a:rPr>
                                <m:t>𝑥</m:t>
                              </m:r>
                              <m:r>
                                <a:rPr kumimoji="1" lang="en-US" altLang="zh-TW" sz="2000" b="0" i="1" baseline="-25000" smtClean="0">
                                  <a:latin typeface="Cambria Math" panose="02040503050406030204" pitchFamily="18" charset="0"/>
                                  <a:cs typeface="Times New Roman" panose="02020603050405020304" pitchFamily="18" charset="0"/>
                                </a:rPr>
                                <m:t>01</m:t>
                              </m:r>
                            </m:oMath>
                          </a14:m>
                          <a:r>
                            <a:rPr kumimoji="1" lang="en-US" altLang="zh-TW" sz="2000" dirty="0">
                              <a:latin typeface="Times New Roman" panose="02020603050405020304" pitchFamily="18" charset="0"/>
                              <a:cs typeface="Times New Roman" panose="02020603050405020304" pitchFamily="18" charset="0"/>
                            </a:rPr>
                            <a:t>, </a:t>
                          </a:r>
                          <a14:m>
                            <m:oMath xmlns:m="http://schemas.openxmlformats.org/officeDocument/2006/math">
                              <m:r>
                                <a:rPr kumimoji="1" lang="en-US" altLang="zh-TW" sz="2000" i="1">
                                  <a:latin typeface="Cambria Math" panose="02040503050406030204" pitchFamily="18" charset="0"/>
                                  <a:cs typeface="Times New Roman" panose="02020603050405020304" pitchFamily="18" charset="0"/>
                                </a:rPr>
                                <m:t>𝑥</m:t>
                              </m:r>
                              <m:r>
                                <a:rPr kumimoji="1" lang="en-US" altLang="zh-TW" sz="2000" b="0" i="1" baseline="-25000" smtClean="0">
                                  <a:latin typeface="Cambria Math" panose="02040503050406030204" pitchFamily="18" charset="0"/>
                                  <a:cs typeface="Times New Roman" panose="02020603050405020304" pitchFamily="18" charset="0"/>
                                </a:rPr>
                                <m:t>01</m:t>
                              </m:r>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≤2</m:t>
                              </m:r>
                              <m:r>
                                <a:rPr kumimoji="1" lang="en-US" altLang="zh-TW" sz="2000" i="1">
                                  <a:latin typeface="Cambria Math" panose="02040503050406030204" pitchFamily="18" charset="0"/>
                                  <a:cs typeface="Times New Roman" panose="02020603050405020304" pitchFamily="18" charset="0"/>
                                </a:rPr>
                                <m:t>𝑦</m:t>
                              </m:r>
                              <m:r>
                                <a:rPr kumimoji="1" lang="en-US" altLang="zh-TW" sz="2000" b="0" i="1" baseline="-25000" smtClean="0">
                                  <a:latin typeface="Cambria Math" panose="02040503050406030204" pitchFamily="18" charset="0"/>
                                  <a:cs typeface="Times New Roman" panose="02020603050405020304" pitchFamily="18" charset="0"/>
                                </a:rPr>
                                <m:t>01</m:t>
                              </m:r>
                            </m:oMath>
                          </a14:m>
                          <a:endParaRPr kumimoji="1" lang="en-US" altLang="zh-TW" sz="2000" dirty="0">
                            <a:latin typeface="Times New Roman" panose="02020603050405020304" pitchFamily="18" charset="0"/>
                            <a:cs typeface="Times New Roman" panose="02020603050405020304" pitchFamily="18" charset="0"/>
                          </a:endParaRPr>
                        </a:p>
                        <a:p>
                          <a:pPr marL="0" indent="0" algn="l">
                            <a:buNone/>
                          </a:pPr>
                          <a14:m>
                            <m:oMath xmlns:m="http://schemas.openxmlformats.org/officeDocument/2006/math">
                              <m:r>
                                <a:rPr kumimoji="1" lang="en-US" altLang="zh-TW" sz="2000" i="1">
                                  <a:latin typeface="Cambria Math" panose="02040503050406030204" pitchFamily="18" charset="0"/>
                                  <a:cs typeface="Times New Roman" panose="02020603050405020304" pitchFamily="18" charset="0"/>
                                </a:rPr>
                                <m:t>𝑦</m:t>
                              </m:r>
                              <m:r>
                                <a:rPr kumimoji="1" lang="en-US" altLang="zh-TW" sz="2000" i="1" baseline="-25000">
                                  <a:latin typeface="Cambria Math" panose="02040503050406030204" pitchFamily="18" charset="0"/>
                                  <a:cs typeface="Times New Roman" panose="02020603050405020304" pitchFamily="18" charset="0"/>
                                </a:rPr>
                                <m:t>0</m:t>
                              </m:r>
                              <m:r>
                                <a:rPr kumimoji="1" lang="en-US" altLang="zh-TW" sz="2000" b="0" i="1" baseline="-25000" smtClean="0">
                                  <a:latin typeface="Cambria Math" panose="02040503050406030204" pitchFamily="18" charset="0"/>
                                  <a:cs typeface="Times New Roman" panose="02020603050405020304" pitchFamily="18" charset="0"/>
                                </a:rPr>
                                <m:t>2</m:t>
                              </m:r>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sz="2000" i="1">
                                  <a:latin typeface="Cambria Math" panose="02040503050406030204" pitchFamily="18" charset="0"/>
                                  <a:cs typeface="Times New Roman" panose="02020603050405020304" pitchFamily="18" charset="0"/>
                                </a:rPr>
                                <m:t>𝑥</m:t>
                              </m:r>
                              <m:r>
                                <a:rPr kumimoji="1" lang="en-US" altLang="zh-TW" sz="2000" i="1" baseline="-25000">
                                  <a:latin typeface="Cambria Math" panose="02040503050406030204" pitchFamily="18" charset="0"/>
                                  <a:cs typeface="Times New Roman" panose="02020603050405020304" pitchFamily="18" charset="0"/>
                                </a:rPr>
                                <m:t>0</m:t>
                              </m:r>
                              <m:r>
                                <a:rPr kumimoji="1" lang="en-US" altLang="zh-TW" sz="2000" b="0" i="1" baseline="-25000" smtClean="0">
                                  <a:latin typeface="Cambria Math" panose="02040503050406030204" pitchFamily="18" charset="0"/>
                                  <a:cs typeface="Times New Roman" panose="02020603050405020304" pitchFamily="18" charset="0"/>
                                </a:rPr>
                                <m:t>2</m:t>
                              </m:r>
                            </m:oMath>
                          </a14:m>
                          <a:r>
                            <a:rPr kumimoji="1" lang="en-US" altLang="zh-TW" sz="2000" dirty="0">
                              <a:latin typeface="Times New Roman" panose="02020603050405020304" pitchFamily="18" charset="0"/>
                              <a:cs typeface="Times New Roman" panose="02020603050405020304" pitchFamily="18" charset="0"/>
                            </a:rPr>
                            <a:t>, </a:t>
                          </a:r>
                          <a14:m>
                            <m:oMath xmlns:m="http://schemas.openxmlformats.org/officeDocument/2006/math">
                              <m:r>
                                <a:rPr kumimoji="1" lang="en-US" altLang="zh-TW" sz="2000" i="1">
                                  <a:latin typeface="Cambria Math" panose="02040503050406030204" pitchFamily="18" charset="0"/>
                                  <a:cs typeface="Times New Roman" panose="02020603050405020304" pitchFamily="18" charset="0"/>
                                </a:rPr>
                                <m:t>𝑥</m:t>
                              </m:r>
                              <m:r>
                                <a:rPr kumimoji="1" lang="en-US" altLang="zh-TW" sz="2000" i="1" baseline="-25000">
                                  <a:latin typeface="Cambria Math" panose="02040503050406030204" pitchFamily="18" charset="0"/>
                                  <a:cs typeface="Times New Roman" panose="02020603050405020304" pitchFamily="18" charset="0"/>
                                </a:rPr>
                                <m:t>0</m:t>
                              </m:r>
                              <m:r>
                                <a:rPr kumimoji="1" lang="en-US" altLang="zh-TW" sz="2000" b="0" i="1" baseline="-25000" smtClean="0">
                                  <a:latin typeface="Cambria Math" panose="02040503050406030204" pitchFamily="18" charset="0"/>
                                  <a:cs typeface="Times New Roman" panose="02020603050405020304" pitchFamily="18" charset="0"/>
                                </a:rPr>
                                <m:t>2</m:t>
                              </m:r>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≤2</m:t>
                              </m:r>
                              <m:r>
                                <a:rPr kumimoji="1" lang="en-US" altLang="zh-TW" sz="2000" i="1">
                                  <a:latin typeface="Cambria Math" panose="02040503050406030204" pitchFamily="18" charset="0"/>
                                  <a:cs typeface="Times New Roman" panose="02020603050405020304" pitchFamily="18" charset="0"/>
                                </a:rPr>
                                <m:t>𝑦</m:t>
                              </m:r>
                              <m:r>
                                <a:rPr kumimoji="1" lang="en-US" altLang="zh-TW" sz="2000" i="1" baseline="-25000">
                                  <a:latin typeface="Cambria Math" panose="02040503050406030204" pitchFamily="18" charset="0"/>
                                  <a:cs typeface="Times New Roman" panose="02020603050405020304" pitchFamily="18" charset="0"/>
                                </a:rPr>
                                <m:t>0</m:t>
                              </m:r>
                              <m:r>
                                <a:rPr kumimoji="1" lang="en-US" altLang="zh-TW" sz="2000" b="0" i="1" baseline="-25000" smtClean="0">
                                  <a:latin typeface="Cambria Math" panose="02040503050406030204" pitchFamily="18" charset="0"/>
                                  <a:cs typeface="Times New Roman" panose="02020603050405020304" pitchFamily="18" charset="0"/>
                                </a:rPr>
                                <m:t>2</m:t>
                              </m:r>
                            </m:oMath>
                          </a14:m>
                          <a:endParaRPr kumimoji="1" lang="en-US" altLang="zh-TW" sz="2000" dirty="0">
                            <a:latin typeface="Times New Roman" panose="02020603050405020304" pitchFamily="18" charset="0"/>
                            <a:cs typeface="Times New Roman" panose="02020603050405020304" pitchFamily="18" charset="0"/>
                          </a:endParaRPr>
                        </a:p>
                        <a:p>
                          <a:pPr marL="0" indent="0" algn="l">
                            <a:buNone/>
                          </a:pPr>
                          <a14:m>
                            <m:oMath xmlns:m="http://schemas.openxmlformats.org/officeDocument/2006/math">
                              <m:r>
                                <a:rPr kumimoji="1" lang="en-US" altLang="zh-TW" sz="2000" i="1">
                                  <a:latin typeface="Cambria Math" panose="02040503050406030204" pitchFamily="18" charset="0"/>
                                  <a:cs typeface="Times New Roman" panose="02020603050405020304" pitchFamily="18" charset="0"/>
                                </a:rPr>
                                <m:t>𝑦</m:t>
                              </m:r>
                              <m:r>
                                <a:rPr kumimoji="1" lang="en-US" altLang="zh-TW" sz="2000" i="1" baseline="-25000">
                                  <a:latin typeface="Cambria Math" panose="02040503050406030204" pitchFamily="18" charset="0"/>
                                  <a:cs typeface="Times New Roman" panose="02020603050405020304" pitchFamily="18" charset="0"/>
                                </a:rPr>
                                <m:t>1</m:t>
                              </m:r>
                              <m:r>
                                <a:rPr kumimoji="1" lang="en-US" altLang="zh-TW" sz="2000" b="0" i="1" baseline="-25000" smtClean="0">
                                  <a:latin typeface="Cambria Math" panose="02040503050406030204" pitchFamily="18" charset="0"/>
                                  <a:cs typeface="Times New Roman" panose="02020603050405020304" pitchFamily="18" charset="0"/>
                                </a:rPr>
                                <m:t>3</m:t>
                              </m:r>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sz="2000" i="1">
                                  <a:latin typeface="Cambria Math" panose="02040503050406030204" pitchFamily="18" charset="0"/>
                                  <a:cs typeface="Times New Roman" panose="02020603050405020304" pitchFamily="18" charset="0"/>
                                </a:rPr>
                                <m:t>𝑥</m:t>
                              </m:r>
                              <m:r>
                                <a:rPr kumimoji="1" lang="en-US" altLang="zh-TW" sz="2000" i="1" baseline="-25000">
                                  <a:latin typeface="Cambria Math" panose="02040503050406030204" pitchFamily="18" charset="0"/>
                                  <a:cs typeface="Times New Roman" panose="02020603050405020304" pitchFamily="18" charset="0"/>
                                </a:rPr>
                                <m:t>1</m:t>
                              </m:r>
                              <m:r>
                                <a:rPr kumimoji="1" lang="en-US" altLang="zh-TW" sz="2000" b="0" i="1" baseline="-25000" smtClean="0">
                                  <a:latin typeface="Cambria Math" panose="02040503050406030204" pitchFamily="18" charset="0"/>
                                  <a:cs typeface="Times New Roman" panose="02020603050405020304" pitchFamily="18" charset="0"/>
                                </a:rPr>
                                <m:t>3</m:t>
                              </m:r>
                            </m:oMath>
                          </a14:m>
                          <a:r>
                            <a:rPr kumimoji="1" lang="en-US" altLang="zh-TW" sz="2000" dirty="0">
                              <a:latin typeface="Times New Roman" panose="02020603050405020304" pitchFamily="18" charset="0"/>
                              <a:cs typeface="Times New Roman" panose="02020603050405020304" pitchFamily="18" charset="0"/>
                            </a:rPr>
                            <a:t>, </a:t>
                          </a:r>
                          <a14:m>
                            <m:oMath xmlns:m="http://schemas.openxmlformats.org/officeDocument/2006/math">
                              <m:r>
                                <a:rPr kumimoji="1" lang="en-US" altLang="zh-TW" sz="2000" i="1">
                                  <a:latin typeface="Cambria Math" panose="02040503050406030204" pitchFamily="18" charset="0"/>
                                  <a:cs typeface="Times New Roman" panose="02020603050405020304" pitchFamily="18" charset="0"/>
                                </a:rPr>
                                <m:t>𝑥</m:t>
                              </m:r>
                              <m:r>
                                <a:rPr kumimoji="1" lang="en-US" altLang="zh-TW" sz="2000" i="1" baseline="-25000">
                                  <a:latin typeface="Cambria Math" panose="02040503050406030204" pitchFamily="18" charset="0"/>
                                  <a:cs typeface="Times New Roman" panose="02020603050405020304" pitchFamily="18" charset="0"/>
                                </a:rPr>
                                <m:t>1</m:t>
                              </m:r>
                              <m:r>
                                <a:rPr kumimoji="1" lang="en-US" altLang="zh-TW" sz="2000" b="0" i="1" baseline="-25000" smtClean="0">
                                  <a:latin typeface="Cambria Math" panose="02040503050406030204" pitchFamily="18" charset="0"/>
                                  <a:cs typeface="Times New Roman" panose="02020603050405020304" pitchFamily="18" charset="0"/>
                                </a:rPr>
                                <m:t>3</m:t>
                              </m:r>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≤2</m:t>
                              </m:r>
                              <m:r>
                                <a:rPr kumimoji="1" lang="en-US" altLang="zh-TW" sz="2000" i="1">
                                  <a:latin typeface="Cambria Math" panose="02040503050406030204" pitchFamily="18" charset="0"/>
                                  <a:cs typeface="Times New Roman" panose="02020603050405020304" pitchFamily="18" charset="0"/>
                                </a:rPr>
                                <m:t>𝑦</m:t>
                              </m:r>
                              <m:r>
                                <a:rPr kumimoji="1" lang="en-US" altLang="zh-TW" sz="2000" i="1" baseline="-25000">
                                  <a:latin typeface="Cambria Math" panose="02040503050406030204" pitchFamily="18" charset="0"/>
                                  <a:cs typeface="Times New Roman" panose="02020603050405020304" pitchFamily="18" charset="0"/>
                                </a:rPr>
                                <m:t>1</m:t>
                              </m:r>
                              <m:r>
                                <a:rPr kumimoji="1" lang="en-US" altLang="zh-TW" sz="2000" b="0" i="1" baseline="-25000" smtClean="0">
                                  <a:latin typeface="Cambria Math" panose="02040503050406030204" pitchFamily="18" charset="0"/>
                                  <a:cs typeface="Times New Roman" panose="02020603050405020304" pitchFamily="18" charset="0"/>
                                </a:rPr>
                                <m:t>3</m:t>
                              </m:r>
                            </m:oMath>
                          </a14:m>
                          <a:endParaRPr kumimoji="1" lang="en-US" altLang="zh-TW" sz="2000" dirty="0">
                            <a:latin typeface="Times New Roman" panose="02020603050405020304" pitchFamily="18" charset="0"/>
                            <a:cs typeface="Times New Roman" panose="02020603050405020304" pitchFamily="18" charset="0"/>
                          </a:endParaRPr>
                        </a:p>
                        <a:p>
                          <a:pPr marL="0" indent="0" algn="l">
                            <a:buNone/>
                          </a:pPr>
                          <a14:m>
                            <m:oMath xmlns:m="http://schemas.openxmlformats.org/officeDocument/2006/math">
                              <m:r>
                                <a:rPr kumimoji="1" lang="en-US" altLang="zh-TW" sz="2000" i="1">
                                  <a:latin typeface="Cambria Math" panose="02040503050406030204" pitchFamily="18" charset="0"/>
                                  <a:cs typeface="Times New Roman" panose="02020603050405020304" pitchFamily="18" charset="0"/>
                                </a:rPr>
                                <m:t>𝑦</m:t>
                              </m:r>
                              <m:r>
                                <a:rPr kumimoji="1" lang="en-US" altLang="zh-TW" sz="2000" b="0" i="1" baseline="-25000" smtClean="0">
                                  <a:latin typeface="Cambria Math" panose="02040503050406030204" pitchFamily="18" charset="0"/>
                                  <a:cs typeface="Times New Roman" panose="02020603050405020304" pitchFamily="18" charset="0"/>
                                </a:rPr>
                                <m:t>23</m:t>
                              </m:r>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sz="2000" i="1">
                                  <a:latin typeface="Cambria Math" panose="02040503050406030204" pitchFamily="18" charset="0"/>
                                  <a:cs typeface="Times New Roman" panose="02020603050405020304" pitchFamily="18" charset="0"/>
                                </a:rPr>
                                <m:t>𝑥</m:t>
                              </m:r>
                              <m:r>
                                <a:rPr kumimoji="1" lang="en-US" altLang="zh-TW" sz="2000" b="0" i="1" baseline="-25000" smtClean="0">
                                  <a:latin typeface="Cambria Math" panose="02040503050406030204" pitchFamily="18" charset="0"/>
                                  <a:cs typeface="Times New Roman" panose="02020603050405020304" pitchFamily="18" charset="0"/>
                                </a:rPr>
                                <m:t>23</m:t>
                              </m:r>
                            </m:oMath>
                          </a14:m>
                          <a:r>
                            <a:rPr kumimoji="1" lang="en-US" altLang="zh-TW" sz="2000" dirty="0">
                              <a:latin typeface="Times New Roman" panose="02020603050405020304" pitchFamily="18" charset="0"/>
                              <a:cs typeface="Times New Roman" panose="02020603050405020304" pitchFamily="18" charset="0"/>
                            </a:rPr>
                            <a:t>, </a:t>
                          </a:r>
                          <a14:m>
                            <m:oMath xmlns:m="http://schemas.openxmlformats.org/officeDocument/2006/math">
                              <m:r>
                                <a:rPr kumimoji="1" lang="en-US" altLang="zh-TW" sz="2000" i="1">
                                  <a:latin typeface="Cambria Math" panose="02040503050406030204" pitchFamily="18" charset="0"/>
                                  <a:cs typeface="Times New Roman" panose="02020603050405020304" pitchFamily="18" charset="0"/>
                                </a:rPr>
                                <m:t>𝑥</m:t>
                              </m:r>
                              <m:r>
                                <a:rPr kumimoji="1" lang="en-US" altLang="zh-TW" sz="2000" b="0" i="1" baseline="-25000" smtClean="0">
                                  <a:latin typeface="Cambria Math" panose="02040503050406030204" pitchFamily="18" charset="0"/>
                                  <a:cs typeface="Times New Roman" panose="02020603050405020304" pitchFamily="18" charset="0"/>
                                </a:rPr>
                                <m:t>23</m:t>
                              </m:r>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≤2</m:t>
                              </m:r>
                              <m:r>
                                <a:rPr kumimoji="1" lang="en-US" altLang="zh-TW" sz="2000" i="1">
                                  <a:latin typeface="Cambria Math" panose="02040503050406030204" pitchFamily="18" charset="0"/>
                                  <a:cs typeface="Times New Roman" panose="02020603050405020304" pitchFamily="18" charset="0"/>
                                </a:rPr>
                                <m:t>𝑦</m:t>
                              </m:r>
                              <m:r>
                                <a:rPr kumimoji="1" lang="en-US" altLang="zh-TW" sz="2000" b="0" i="1" baseline="-25000" smtClean="0">
                                  <a:latin typeface="Cambria Math" panose="02040503050406030204" pitchFamily="18" charset="0"/>
                                  <a:cs typeface="Times New Roman" panose="02020603050405020304" pitchFamily="18" charset="0"/>
                                </a:rPr>
                                <m:t>23</m:t>
                              </m:r>
                            </m:oMath>
                          </a14:m>
                          <a:endParaRPr kumimoji="1" lang="en-US" altLang="zh-TW"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0438140"/>
                      </a:ext>
                    </a:extLst>
                  </a:tr>
                  <a:tr h="370840">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2000" dirty="0">
                              <a:solidFill>
                                <a:schemeClr val="tx1"/>
                              </a:solidFill>
                              <a:latin typeface="Times New Roman" panose="02020603050405020304" pitchFamily="18" charset="0"/>
                              <a:cs typeface="Times New Roman" panose="02020603050405020304" pitchFamily="18" charset="0"/>
                            </a:rPr>
                            <a:t>None</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9683726"/>
                      </a:ext>
                    </a:extLst>
                  </a:tr>
                  <a:tr h="370840">
                    <a:tc>
                      <a:txBody>
                        <a:bodyPr/>
                        <a:lstStyle/>
                        <a:p>
                          <a:pPr algn="ctr"/>
                          <a:r>
                            <a:rPr lang="en-US" altLang="zh-TW" sz="2000" dirty="0">
                              <a:solidFill>
                                <a:srgbClr val="FF0000"/>
                              </a:solidFill>
                              <a:latin typeface="Times New Roman" panose="02020603050405020304" pitchFamily="18" charset="0"/>
                              <a:cs typeface="Times New Roman" panose="02020603050405020304" pitchFamily="18" charset="0"/>
                            </a:rPr>
                            <a:t>(4)</a:t>
                          </a:r>
                          <a:endParaRPr lang="zh-TW" alt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buNone/>
                          </a:pPr>
                          <a14:m>
                            <m:oMathPara xmlns:m="http://schemas.openxmlformats.org/officeDocument/2006/math">
                              <m:oMathParaPr>
                                <m:jc m:val="left"/>
                              </m:oMathParaPr>
                              <m:oMath xmlns:m="http://schemas.openxmlformats.org/officeDocument/2006/math">
                                <m:r>
                                  <a:rPr kumimoji="1" lang="en-US" altLang="zh-TW" sz="2000" i="1" smtClean="0">
                                    <a:solidFill>
                                      <a:srgbClr val="FF0000"/>
                                    </a:solidFill>
                                    <a:latin typeface="Cambria Math" panose="02040503050406030204" pitchFamily="18" charset="0"/>
                                    <a:cs typeface="Times New Roman" panose="02020603050405020304" pitchFamily="18" charset="0"/>
                                  </a:rPr>
                                  <m:t>𝑦</m:t>
                                </m:r>
                                <m:r>
                                  <a:rPr kumimoji="1" lang="en-US" altLang="zh-TW" sz="2000" b="0" i="1" baseline="-25000" smtClean="0">
                                    <a:solidFill>
                                      <a:srgbClr val="FF0000"/>
                                    </a:solidFill>
                                    <a:latin typeface="Cambria Math" panose="02040503050406030204" pitchFamily="18" charset="0"/>
                                    <a:cs typeface="Times New Roman" panose="02020603050405020304" pitchFamily="18" charset="0"/>
                                  </a:rPr>
                                  <m:t>01</m:t>
                                </m:r>
                                <m:r>
                                  <a:rPr kumimoji="1" lang="en-US" altLang="zh-TW" sz="2000" b="0" i="1" smtClean="0">
                                    <a:solidFill>
                                      <a:srgbClr val="FF0000"/>
                                    </a:solidFill>
                                    <a:latin typeface="Cambria Math" panose="02040503050406030204" pitchFamily="18" charset="0"/>
                                    <a:cs typeface="Times New Roman" panose="02020603050405020304" pitchFamily="18" charset="0"/>
                                  </a:rPr>
                                  <m:t>+</m:t>
                                </m:r>
                                <m:r>
                                  <a:rPr kumimoji="1" lang="en-US" altLang="zh-TW" sz="2000" i="1">
                                    <a:solidFill>
                                      <a:srgbClr val="FF0000"/>
                                    </a:solidFill>
                                    <a:latin typeface="Cambria Math" panose="02040503050406030204" pitchFamily="18" charset="0"/>
                                    <a:cs typeface="Times New Roman" panose="02020603050405020304" pitchFamily="18" charset="0"/>
                                  </a:rPr>
                                  <m:t>𝑦</m:t>
                                </m:r>
                                <m:r>
                                  <a:rPr kumimoji="1" lang="en-US" altLang="zh-TW" sz="2000" b="0" i="1" baseline="-25000" smtClean="0">
                                    <a:solidFill>
                                      <a:srgbClr val="FF0000"/>
                                    </a:solidFill>
                                    <a:latin typeface="Cambria Math" panose="02040503050406030204" pitchFamily="18" charset="0"/>
                                    <a:cs typeface="Times New Roman" panose="02020603050405020304" pitchFamily="18" charset="0"/>
                                  </a:rPr>
                                  <m:t>02</m:t>
                                </m:r>
                                <m:r>
                                  <a:rPr kumimoji="1" lang="en-US" altLang="zh-TW" sz="20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≥1</m:t>
                                </m:r>
                              </m:oMath>
                            </m:oMathPara>
                          </a14:m>
                          <a:endParaRPr kumimoji="1" lang="en-US" altLang="zh-TW" sz="2000" dirty="0">
                            <a:solidFill>
                              <a:srgbClr val="FF0000"/>
                            </a:solidFill>
                            <a:latin typeface="Times New Roman" panose="02020603050405020304" pitchFamily="18" charset="0"/>
                            <a:cs typeface="Times New Roman" panose="02020603050405020304" pitchFamily="18" charset="0"/>
                          </a:endParaRPr>
                        </a:p>
                        <a:p>
                          <a:pPr marL="0" indent="0" algn="l">
                            <a:buNone/>
                          </a:pPr>
                          <a14:m>
                            <m:oMathPara xmlns:m="http://schemas.openxmlformats.org/officeDocument/2006/math">
                              <m:oMathParaPr>
                                <m:jc m:val="left"/>
                              </m:oMathParaPr>
                              <m:oMath xmlns:m="http://schemas.openxmlformats.org/officeDocument/2006/math">
                                <m:r>
                                  <a:rPr kumimoji="1" lang="en-US" altLang="zh-TW" sz="2000" i="1">
                                    <a:solidFill>
                                      <a:srgbClr val="FF0000"/>
                                    </a:solidFill>
                                    <a:latin typeface="Cambria Math" panose="02040503050406030204" pitchFamily="18" charset="0"/>
                                    <a:cs typeface="Times New Roman" panose="02020603050405020304" pitchFamily="18" charset="0"/>
                                  </a:rPr>
                                  <m:t>𝑦</m:t>
                                </m:r>
                                <m:r>
                                  <a:rPr kumimoji="1" lang="en-US" altLang="zh-TW" sz="2000" i="1" baseline="-25000">
                                    <a:solidFill>
                                      <a:srgbClr val="FF0000"/>
                                    </a:solidFill>
                                    <a:latin typeface="Cambria Math" panose="02040503050406030204" pitchFamily="18" charset="0"/>
                                    <a:cs typeface="Times New Roman" panose="02020603050405020304" pitchFamily="18" charset="0"/>
                                  </a:rPr>
                                  <m:t>01</m:t>
                                </m:r>
                                <m:r>
                                  <a:rPr kumimoji="1" lang="en-US" altLang="zh-TW" sz="2000" i="1">
                                    <a:solidFill>
                                      <a:srgbClr val="FF0000"/>
                                    </a:solidFill>
                                    <a:latin typeface="Cambria Math" panose="02040503050406030204" pitchFamily="18" charset="0"/>
                                    <a:cs typeface="Times New Roman" panose="02020603050405020304" pitchFamily="18" charset="0"/>
                                  </a:rPr>
                                  <m:t>+</m:t>
                                </m:r>
                                <m:r>
                                  <a:rPr kumimoji="1" lang="en-US" altLang="zh-TW" sz="2000" i="1">
                                    <a:solidFill>
                                      <a:srgbClr val="FF0000"/>
                                    </a:solidFill>
                                    <a:latin typeface="Cambria Math" panose="02040503050406030204" pitchFamily="18" charset="0"/>
                                    <a:cs typeface="Times New Roman" panose="02020603050405020304" pitchFamily="18" charset="0"/>
                                  </a:rPr>
                                  <m:t>𝑦</m:t>
                                </m:r>
                                <m:r>
                                  <a:rPr kumimoji="1" lang="en-US" altLang="zh-TW" sz="2000" b="0" i="1" baseline="-25000" smtClean="0">
                                    <a:solidFill>
                                      <a:srgbClr val="FF0000"/>
                                    </a:solidFill>
                                    <a:latin typeface="Cambria Math" panose="02040503050406030204" pitchFamily="18" charset="0"/>
                                    <a:cs typeface="Times New Roman" panose="02020603050405020304" pitchFamily="18" charset="0"/>
                                  </a:rPr>
                                  <m:t>13</m:t>
                                </m:r>
                                <m:r>
                                  <a:rPr kumimoji="1" lang="en-US" altLang="zh-TW" sz="20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≥1</m:t>
                                </m:r>
                              </m:oMath>
                            </m:oMathPara>
                          </a14:m>
                          <a:endParaRPr kumimoji="1" lang="en-US" altLang="zh-TW" sz="2000" dirty="0">
                            <a:solidFill>
                              <a:srgbClr val="FF0000"/>
                            </a:solidFill>
                            <a:latin typeface="Times New Roman" panose="02020603050405020304" pitchFamily="18" charset="0"/>
                            <a:cs typeface="Times New Roman" panose="02020603050405020304" pitchFamily="18" charset="0"/>
                          </a:endParaRPr>
                        </a:p>
                        <a:p>
                          <a:pPr marL="0" indent="0" algn="l">
                            <a:buNone/>
                          </a:pPr>
                          <a14:m>
                            <m:oMathPara xmlns:m="http://schemas.openxmlformats.org/officeDocument/2006/math">
                              <m:oMathParaPr>
                                <m:jc m:val="left"/>
                              </m:oMathParaPr>
                              <m:oMath xmlns:m="http://schemas.openxmlformats.org/officeDocument/2006/math">
                                <m:r>
                                  <a:rPr kumimoji="1" lang="en-US" altLang="zh-TW" sz="2000" i="1">
                                    <a:solidFill>
                                      <a:srgbClr val="FF0000"/>
                                    </a:solidFill>
                                    <a:latin typeface="Cambria Math" panose="02040503050406030204" pitchFamily="18" charset="0"/>
                                    <a:cs typeface="Times New Roman" panose="02020603050405020304" pitchFamily="18" charset="0"/>
                                  </a:rPr>
                                  <m:t>𝑦</m:t>
                                </m:r>
                                <m:r>
                                  <a:rPr kumimoji="1" lang="en-US" altLang="zh-TW" sz="2000" i="1" baseline="-25000">
                                    <a:solidFill>
                                      <a:srgbClr val="FF0000"/>
                                    </a:solidFill>
                                    <a:latin typeface="Cambria Math" panose="02040503050406030204" pitchFamily="18" charset="0"/>
                                    <a:cs typeface="Times New Roman" panose="02020603050405020304" pitchFamily="18" charset="0"/>
                                  </a:rPr>
                                  <m:t>0</m:t>
                                </m:r>
                                <m:r>
                                  <a:rPr kumimoji="1" lang="en-US" altLang="zh-TW" sz="2000" b="0" i="1" baseline="-25000" smtClean="0">
                                    <a:solidFill>
                                      <a:srgbClr val="FF0000"/>
                                    </a:solidFill>
                                    <a:latin typeface="Cambria Math" panose="02040503050406030204" pitchFamily="18" charset="0"/>
                                    <a:cs typeface="Times New Roman" panose="02020603050405020304" pitchFamily="18" charset="0"/>
                                  </a:rPr>
                                  <m:t>2</m:t>
                                </m:r>
                                <m:r>
                                  <a:rPr kumimoji="1" lang="en-US" altLang="zh-TW" sz="2000" i="1">
                                    <a:solidFill>
                                      <a:srgbClr val="FF0000"/>
                                    </a:solidFill>
                                    <a:latin typeface="Cambria Math" panose="02040503050406030204" pitchFamily="18" charset="0"/>
                                    <a:cs typeface="Times New Roman" panose="02020603050405020304" pitchFamily="18" charset="0"/>
                                  </a:rPr>
                                  <m:t>+</m:t>
                                </m:r>
                                <m:r>
                                  <a:rPr kumimoji="1" lang="en-US" altLang="zh-TW" sz="2000" i="1">
                                    <a:solidFill>
                                      <a:srgbClr val="FF0000"/>
                                    </a:solidFill>
                                    <a:latin typeface="Cambria Math" panose="02040503050406030204" pitchFamily="18" charset="0"/>
                                    <a:cs typeface="Times New Roman" panose="02020603050405020304" pitchFamily="18" charset="0"/>
                                  </a:rPr>
                                  <m:t>𝑦</m:t>
                                </m:r>
                                <m:r>
                                  <a:rPr kumimoji="1" lang="en-US" altLang="zh-TW" sz="2000" i="1" baseline="-25000">
                                    <a:solidFill>
                                      <a:srgbClr val="FF0000"/>
                                    </a:solidFill>
                                    <a:latin typeface="Cambria Math" panose="02040503050406030204" pitchFamily="18" charset="0"/>
                                    <a:cs typeface="Times New Roman" panose="02020603050405020304" pitchFamily="18" charset="0"/>
                                  </a:rPr>
                                  <m:t>2</m:t>
                                </m:r>
                                <m:r>
                                  <a:rPr kumimoji="1" lang="en-US" altLang="zh-TW" sz="2000" b="0" i="1" baseline="-25000" smtClean="0">
                                    <a:solidFill>
                                      <a:srgbClr val="FF0000"/>
                                    </a:solidFill>
                                    <a:latin typeface="Cambria Math" panose="02040503050406030204" pitchFamily="18" charset="0"/>
                                    <a:cs typeface="Times New Roman" panose="02020603050405020304" pitchFamily="18" charset="0"/>
                                  </a:rPr>
                                  <m:t>3</m:t>
                                </m:r>
                                <m:r>
                                  <a:rPr kumimoji="1" lang="en-US" altLang="zh-TW" sz="20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≥1</m:t>
                                </m:r>
                              </m:oMath>
                            </m:oMathPara>
                          </a14:m>
                          <a:endParaRPr kumimoji="1" lang="en-US" altLang="zh-TW" sz="2000" dirty="0">
                            <a:solidFill>
                              <a:srgbClr val="FF0000"/>
                            </a:solidFill>
                            <a:latin typeface="Times New Roman" panose="02020603050405020304" pitchFamily="18" charset="0"/>
                            <a:cs typeface="Times New Roman" panose="02020603050405020304" pitchFamily="18" charset="0"/>
                          </a:endParaRPr>
                        </a:p>
                        <a:p>
                          <a:pPr marL="0" indent="0" algn="l">
                            <a:buNone/>
                          </a:pPr>
                          <a14:m>
                            <m:oMathPara xmlns:m="http://schemas.openxmlformats.org/officeDocument/2006/math">
                              <m:oMathParaPr>
                                <m:jc m:val="left"/>
                              </m:oMathParaPr>
                              <m:oMath xmlns:m="http://schemas.openxmlformats.org/officeDocument/2006/math">
                                <m:r>
                                  <a:rPr kumimoji="1" lang="en-US" altLang="zh-TW" sz="2000" i="1">
                                    <a:solidFill>
                                      <a:srgbClr val="FF0000"/>
                                    </a:solidFill>
                                    <a:latin typeface="Cambria Math" panose="02040503050406030204" pitchFamily="18" charset="0"/>
                                    <a:cs typeface="Times New Roman" panose="02020603050405020304" pitchFamily="18" charset="0"/>
                                  </a:rPr>
                                  <m:t>𝑦</m:t>
                                </m:r>
                                <m:r>
                                  <a:rPr kumimoji="1" lang="en-US" altLang="zh-TW" sz="2000" i="1" baseline="-25000">
                                    <a:solidFill>
                                      <a:srgbClr val="FF0000"/>
                                    </a:solidFill>
                                    <a:latin typeface="Cambria Math" panose="02040503050406030204" pitchFamily="18" charset="0"/>
                                    <a:cs typeface="Times New Roman" panose="02020603050405020304" pitchFamily="18" charset="0"/>
                                  </a:rPr>
                                  <m:t>1</m:t>
                                </m:r>
                                <m:r>
                                  <a:rPr kumimoji="1" lang="en-US" altLang="zh-TW" sz="2000" b="0" i="1" baseline="-25000" smtClean="0">
                                    <a:solidFill>
                                      <a:srgbClr val="FF0000"/>
                                    </a:solidFill>
                                    <a:latin typeface="Cambria Math" panose="02040503050406030204" pitchFamily="18" charset="0"/>
                                    <a:cs typeface="Times New Roman" panose="02020603050405020304" pitchFamily="18" charset="0"/>
                                  </a:rPr>
                                  <m:t>3</m:t>
                                </m:r>
                                <m:r>
                                  <a:rPr kumimoji="1" lang="en-US" altLang="zh-TW" sz="2000" i="1">
                                    <a:solidFill>
                                      <a:srgbClr val="FF0000"/>
                                    </a:solidFill>
                                    <a:latin typeface="Cambria Math" panose="02040503050406030204" pitchFamily="18" charset="0"/>
                                    <a:cs typeface="Times New Roman" panose="02020603050405020304" pitchFamily="18" charset="0"/>
                                  </a:rPr>
                                  <m:t>+</m:t>
                                </m:r>
                                <m:r>
                                  <a:rPr kumimoji="1" lang="en-US" altLang="zh-TW" sz="2000" i="1">
                                    <a:solidFill>
                                      <a:srgbClr val="FF0000"/>
                                    </a:solidFill>
                                    <a:latin typeface="Cambria Math" panose="02040503050406030204" pitchFamily="18" charset="0"/>
                                    <a:cs typeface="Times New Roman" panose="02020603050405020304" pitchFamily="18" charset="0"/>
                                  </a:rPr>
                                  <m:t>𝑦</m:t>
                                </m:r>
                                <m:r>
                                  <a:rPr kumimoji="1" lang="en-US" altLang="zh-TW" sz="2000" i="1" baseline="-25000">
                                    <a:solidFill>
                                      <a:srgbClr val="FF0000"/>
                                    </a:solidFill>
                                    <a:latin typeface="Cambria Math" panose="02040503050406030204" pitchFamily="18" charset="0"/>
                                    <a:cs typeface="Times New Roman" panose="02020603050405020304" pitchFamily="18" charset="0"/>
                                  </a:rPr>
                                  <m:t>2</m:t>
                                </m:r>
                                <m:r>
                                  <a:rPr kumimoji="1" lang="en-US" altLang="zh-TW" sz="2000" b="0" i="1" baseline="-25000" smtClean="0">
                                    <a:solidFill>
                                      <a:srgbClr val="FF0000"/>
                                    </a:solidFill>
                                    <a:latin typeface="Cambria Math" panose="02040503050406030204" pitchFamily="18" charset="0"/>
                                    <a:cs typeface="Times New Roman" panose="02020603050405020304" pitchFamily="18" charset="0"/>
                                  </a:rPr>
                                  <m:t>3</m:t>
                                </m:r>
                                <m:r>
                                  <a:rPr kumimoji="1" lang="en-US" altLang="zh-TW" sz="20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≥1</m:t>
                                </m:r>
                              </m:oMath>
                            </m:oMathPara>
                          </a14:m>
                          <a:endParaRPr kumimoji="1" lang="en-US" altLang="zh-TW" sz="2000" dirty="0">
                            <a:solidFill>
                              <a:srgbClr val="FF0000"/>
                            </a:solidFill>
                            <a:latin typeface="Times New Roman" panose="02020603050405020304" pitchFamily="18" charset="0"/>
                            <a:cs typeface="Times New Roman" panose="02020603050405020304" pitchFamily="18" charset="0"/>
                          </a:endParaRPr>
                        </a:p>
                        <a:p>
                          <a:pPr marL="0" indent="0" algn="l">
                            <a:buNone/>
                          </a:pPr>
                          <a14:m>
                            <m:oMathPara xmlns:m="http://schemas.openxmlformats.org/officeDocument/2006/math">
                              <m:oMathParaPr>
                                <m:jc m:val="left"/>
                              </m:oMathParaPr>
                              <m:oMath xmlns:m="http://schemas.openxmlformats.org/officeDocument/2006/math">
                                <m:r>
                                  <a:rPr kumimoji="1" lang="en-US" altLang="zh-TW" sz="2000" i="1">
                                    <a:solidFill>
                                      <a:srgbClr val="FF0000"/>
                                    </a:solidFill>
                                    <a:latin typeface="Cambria Math" panose="02040503050406030204" pitchFamily="18" charset="0"/>
                                    <a:cs typeface="Times New Roman" panose="02020603050405020304" pitchFamily="18" charset="0"/>
                                  </a:rPr>
                                  <m:t>𝑦</m:t>
                                </m:r>
                                <m:r>
                                  <a:rPr kumimoji="1" lang="en-US" altLang="zh-TW" sz="2000" i="1" baseline="-25000">
                                    <a:solidFill>
                                      <a:srgbClr val="FF0000"/>
                                    </a:solidFill>
                                    <a:latin typeface="Cambria Math" panose="02040503050406030204" pitchFamily="18" charset="0"/>
                                    <a:cs typeface="Times New Roman" panose="02020603050405020304" pitchFamily="18" charset="0"/>
                                  </a:rPr>
                                  <m:t>01</m:t>
                                </m:r>
                                <m:r>
                                  <a:rPr kumimoji="1" lang="en-US" altLang="zh-TW" sz="2000" i="1">
                                    <a:solidFill>
                                      <a:srgbClr val="FF0000"/>
                                    </a:solidFill>
                                    <a:latin typeface="Cambria Math" panose="02040503050406030204" pitchFamily="18" charset="0"/>
                                    <a:cs typeface="Times New Roman" panose="02020603050405020304" pitchFamily="18" charset="0"/>
                                  </a:rPr>
                                  <m:t>+</m:t>
                                </m:r>
                                <m:r>
                                  <a:rPr kumimoji="1" lang="en-US" altLang="zh-TW" sz="2000" i="1">
                                    <a:solidFill>
                                      <a:srgbClr val="FF0000"/>
                                    </a:solidFill>
                                    <a:latin typeface="Cambria Math" panose="02040503050406030204" pitchFamily="18" charset="0"/>
                                    <a:cs typeface="Times New Roman" panose="02020603050405020304" pitchFamily="18" charset="0"/>
                                  </a:rPr>
                                  <m:t>𝑦</m:t>
                                </m:r>
                                <m:r>
                                  <a:rPr kumimoji="1" lang="en-US" altLang="zh-TW" sz="2000" i="1" baseline="-25000">
                                    <a:solidFill>
                                      <a:srgbClr val="FF0000"/>
                                    </a:solidFill>
                                    <a:latin typeface="Cambria Math" panose="02040503050406030204" pitchFamily="18" charset="0"/>
                                    <a:cs typeface="Times New Roman" panose="02020603050405020304" pitchFamily="18" charset="0"/>
                                  </a:rPr>
                                  <m:t>2</m:t>
                                </m:r>
                                <m:r>
                                  <a:rPr kumimoji="1" lang="en-US" altLang="zh-TW" sz="2000" b="0" i="1" baseline="-25000" smtClean="0">
                                    <a:solidFill>
                                      <a:srgbClr val="FF0000"/>
                                    </a:solidFill>
                                    <a:latin typeface="Cambria Math" panose="02040503050406030204" pitchFamily="18" charset="0"/>
                                    <a:cs typeface="Times New Roman" panose="02020603050405020304" pitchFamily="18" charset="0"/>
                                  </a:rPr>
                                  <m:t>3</m:t>
                                </m:r>
                                <m:r>
                                  <a:rPr kumimoji="1" lang="en-US" altLang="zh-TW" sz="20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≥1</m:t>
                                </m:r>
                              </m:oMath>
                            </m:oMathPara>
                          </a14:m>
                          <a:endParaRPr kumimoji="1" lang="en-US" altLang="zh-TW" sz="2000" dirty="0">
                            <a:solidFill>
                              <a:srgbClr val="FF0000"/>
                            </a:solidFill>
                            <a:latin typeface="Times New Roman" panose="02020603050405020304" pitchFamily="18" charset="0"/>
                            <a:cs typeface="Times New Roman" panose="02020603050405020304" pitchFamily="18" charset="0"/>
                          </a:endParaRPr>
                        </a:p>
                        <a:p>
                          <a:pPr marL="0" indent="0" algn="l">
                            <a:buNone/>
                          </a:pPr>
                          <a14:m>
                            <m:oMathPara xmlns:m="http://schemas.openxmlformats.org/officeDocument/2006/math">
                              <m:oMathParaPr>
                                <m:jc m:val="left"/>
                              </m:oMathParaPr>
                              <m:oMath xmlns:m="http://schemas.openxmlformats.org/officeDocument/2006/math">
                                <m:r>
                                  <a:rPr kumimoji="1" lang="en-US" altLang="zh-TW" sz="2000" i="1">
                                    <a:solidFill>
                                      <a:srgbClr val="FF0000"/>
                                    </a:solidFill>
                                    <a:latin typeface="Cambria Math" panose="02040503050406030204" pitchFamily="18" charset="0"/>
                                    <a:cs typeface="Times New Roman" panose="02020603050405020304" pitchFamily="18" charset="0"/>
                                  </a:rPr>
                                  <m:t>𝑦</m:t>
                                </m:r>
                                <m:r>
                                  <a:rPr kumimoji="1" lang="en-US" altLang="zh-TW" sz="2000" i="1" baseline="-25000">
                                    <a:solidFill>
                                      <a:srgbClr val="FF0000"/>
                                    </a:solidFill>
                                    <a:latin typeface="Cambria Math" panose="02040503050406030204" pitchFamily="18" charset="0"/>
                                    <a:cs typeface="Times New Roman" panose="02020603050405020304" pitchFamily="18" charset="0"/>
                                  </a:rPr>
                                  <m:t>0</m:t>
                                </m:r>
                                <m:r>
                                  <a:rPr kumimoji="1" lang="en-US" altLang="zh-TW" sz="2000" b="0" i="1" baseline="-25000" smtClean="0">
                                    <a:solidFill>
                                      <a:srgbClr val="FF0000"/>
                                    </a:solidFill>
                                    <a:latin typeface="Cambria Math" panose="02040503050406030204" pitchFamily="18" charset="0"/>
                                    <a:cs typeface="Times New Roman" panose="02020603050405020304" pitchFamily="18" charset="0"/>
                                  </a:rPr>
                                  <m:t>2</m:t>
                                </m:r>
                                <m:r>
                                  <a:rPr kumimoji="1" lang="en-US" altLang="zh-TW" sz="2000" i="1">
                                    <a:solidFill>
                                      <a:srgbClr val="FF0000"/>
                                    </a:solidFill>
                                    <a:latin typeface="Cambria Math" panose="02040503050406030204" pitchFamily="18" charset="0"/>
                                    <a:cs typeface="Times New Roman" panose="02020603050405020304" pitchFamily="18" charset="0"/>
                                  </a:rPr>
                                  <m:t>+</m:t>
                                </m:r>
                                <m:r>
                                  <a:rPr kumimoji="1" lang="en-US" altLang="zh-TW" sz="2000" i="1">
                                    <a:solidFill>
                                      <a:srgbClr val="FF0000"/>
                                    </a:solidFill>
                                    <a:latin typeface="Cambria Math" panose="02040503050406030204" pitchFamily="18" charset="0"/>
                                    <a:cs typeface="Times New Roman" panose="02020603050405020304" pitchFamily="18" charset="0"/>
                                  </a:rPr>
                                  <m:t>𝑦</m:t>
                                </m:r>
                                <m:r>
                                  <a:rPr kumimoji="1" lang="en-US" altLang="zh-TW" sz="2000" b="0" i="1" baseline="-25000" smtClean="0">
                                    <a:solidFill>
                                      <a:srgbClr val="FF0000"/>
                                    </a:solidFill>
                                    <a:latin typeface="Cambria Math" panose="02040503050406030204" pitchFamily="18" charset="0"/>
                                    <a:cs typeface="Times New Roman" panose="02020603050405020304" pitchFamily="18" charset="0"/>
                                  </a:rPr>
                                  <m:t>13</m:t>
                                </m:r>
                                <m:r>
                                  <a:rPr kumimoji="1" lang="en-US" altLang="zh-TW" sz="20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≥1</m:t>
                                </m:r>
                              </m:oMath>
                            </m:oMathPara>
                          </a14:m>
                          <a:endParaRPr kumimoji="1" lang="en-US" altLang="zh-TW"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3789942"/>
                      </a:ext>
                    </a:extLst>
                  </a:tr>
                  <a:tr h="370840">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(5)</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1" lang="en-US" altLang="zh-TW" sz="2000" i="1" smtClean="0">
                                  <a:latin typeface="Cambria Math" panose="02040503050406030204" pitchFamily="18" charset="0"/>
                                  <a:ea typeface="Cambria Math" panose="02040503050406030204" pitchFamily="18" charset="0"/>
                                  <a:cs typeface="Times New Roman" panose="02020603050405020304" pitchFamily="18" charset="0"/>
                                </a:rPr>
                                <m:t>𝑥</m:t>
                              </m:r>
                              <m:r>
                                <a:rPr kumimoji="1" lang="en-US" altLang="zh-TW" sz="2000" i="1" baseline="-25000">
                                  <a:latin typeface="Cambria Math" panose="02040503050406030204" pitchFamily="18" charset="0"/>
                                  <a:ea typeface="Cambria Math" panose="02040503050406030204" pitchFamily="18" charset="0"/>
                                  <a:cs typeface="Times New Roman" panose="02020603050405020304" pitchFamily="18" charset="0"/>
                                </a:rPr>
                                <m:t>01</m:t>
                              </m:r>
                            </m:oMath>
                          </a14:m>
                          <a:r>
                            <a:rPr kumimoji="1" lang="en-US" altLang="zh-TW" sz="2000" dirty="0">
                              <a:ea typeface="Cambria Math" panose="02040503050406030204" pitchFamily="18" charset="0"/>
                              <a:cs typeface="Times New Roman" panose="02020603050405020304" pitchFamily="18" charset="0"/>
                            </a:rPr>
                            <a:t>, </a:t>
                          </a:r>
                          <a14:m>
                            <m:oMath xmlns:m="http://schemas.openxmlformats.org/officeDocument/2006/math">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𝑥</m:t>
                              </m:r>
                              <m:r>
                                <a:rPr kumimoji="1" lang="en-US" altLang="zh-TW" sz="2000" i="1" baseline="-25000">
                                  <a:latin typeface="Cambria Math" panose="02040503050406030204" pitchFamily="18" charset="0"/>
                                  <a:ea typeface="Cambria Math" panose="02040503050406030204" pitchFamily="18" charset="0"/>
                                  <a:cs typeface="Times New Roman" panose="02020603050405020304" pitchFamily="18" charset="0"/>
                                </a:rPr>
                                <m:t>0</m:t>
                              </m:r>
                              <m:r>
                                <a:rPr kumimoji="1" lang="en-US" altLang="zh-TW" sz="2000" b="0" i="1" baseline="-25000" smtClean="0">
                                  <a:latin typeface="Cambria Math" panose="02040503050406030204" pitchFamily="18" charset="0"/>
                                  <a:ea typeface="Cambria Math" panose="02040503050406030204" pitchFamily="18" charset="0"/>
                                  <a:cs typeface="Times New Roman" panose="02020603050405020304" pitchFamily="18" charset="0"/>
                                </a:rPr>
                                <m:t>2</m:t>
                              </m:r>
                            </m:oMath>
                          </a14:m>
                          <a:r>
                            <a:rPr kumimoji="1" lang="en-US" altLang="zh-TW" sz="2000" dirty="0">
                              <a:ea typeface="Cambria Math" panose="02040503050406030204" pitchFamily="18" charset="0"/>
                              <a:cs typeface="Times New Roman" panose="02020603050405020304" pitchFamily="18" charset="0"/>
                            </a:rPr>
                            <a:t>, </a:t>
                          </a:r>
                          <a14:m>
                            <m:oMath xmlns:m="http://schemas.openxmlformats.org/officeDocument/2006/math">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𝑥</m:t>
                              </m:r>
                              <m:r>
                                <a:rPr kumimoji="1" lang="en-US" altLang="zh-TW" sz="2000" i="1" baseline="-25000">
                                  <a:latin typeface="Cambria Math" panose="02040503050406030204" pitchFamily="18" charset="0"/>
                                  <a:ea typeface="Cambria Math" panose="02040503050406030204" pitchFamily="18" charset="0"/>
                                  <a:cs typeface="Times New Roman" panose="02020603050405020304" pitchFamily="18" charset="0"/>
                                </a:rPr>
                                <m:t>1</m:t>
                              </m:r>
                              <m:r>
                                <a:rPr kumimoji="1" lang="en-US" altLang="zh-TW" sz="2000" b="0" i="1" baseline="-25000" smtClean="0">
                                  <a:latin typeface="Cambria Math" panose="02040503050406030204" pitchFamily="18" charset="0"/>
                                  <a:ea typeface="Cambria Math" panose="02040503050406030204" pitchFamily="18" charset="0"/>
                                  <a:cs typeface="Times New Roman" panose="02020603050405020304" pitchFamily="18" charset="0"/>
                                </a:rPr>
                                <m:t>3</m:t>
                              </m:r>
                            </m:oMath>
                          </a14:m>
                          <a:r>
                            <a:rPr kumimoji="1" lang="en-US" altLang="zh-TW" sz="2000" dirty="0">
                              <a:ea typeface="Cambria Math" panose="02040503050406030204" pitchFamily="18" charset="0"/>
                              <a:cs typeface="Times New Roman" panose="02020603050405020304" pitchFamily="18" charset="0"/>
                            </a:rPr>
                            <a:t>, </a:t>
                          </a:r>
                          <a14:m>
                            <m:oMath xmlns:m="http://schemas.openxmlformats.org/officeDocument/2006/math">
                              <m:r>
                                <a:rPr kumimoji="1" lang="en-US" altLang="zh-TW" sz="2000" i="1">
                                  <a:latin typeface="Cambria Math" panose="02040503050406030204" pitchFamily="18" charset="0"/>
                                  <a:ea typeface="Cambria Math" panose="02040503050406030204" pitchFamily="18" charset="0"/>
                                  <a:cs typeface="Times New Roman" panose="02020603050405020304" pitchFamily="18" charset="0"/>
                                </a:rPr>
                                <m:t>𝑥</m:t>
                              </m:r>
                              <m:r>
                                <a:rPr kumimoji="1" lang="en-US" altLang="zh-TW" sz="2000" b="0" i="1" baseline="-25000" smtClean="0">
                                  <a:latin typeface="Cambria Math" panose="02040503050406030204" pitchFamily="18" charset="0"/>
                                  <a:ea typeface="Cambria Math" panose="02040503050406030204" pitchFamily="18" charset="0"/>
                                  <a:cs typeface="Times New Roman" panose="02020603050405020304" pitchFamily="18" charset="0"/>
                                </a:rPr>
                                <m:t>23</m:t>
                              </m:r>
                              <m:r>
                                <a:rPr kumimoji="1" lang="en-US" altLang="zh-TW" sz="2000" i="1">
                                  <a:latin typeface="Cambria Math" panose="02040503050406030204" pitchFamily="18" charset="0"/>
                                  <a:cs typeface="Times New Roman" panose="02020603050405020304" pitchFamily="18" charset="0"/>
                                </a:rPr>
                                <m:t>∈{0, 1, 2}</m:t>
                              </m:r>
                            </m:oMath>
                          </a14:m>
                          <a:endParaRPr kumimoji="1" lang="en-US" altLang="zh-TW" sz="2000" baseline="-25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1145778"/>
                      </a:ext>
                    </a:extLst>
                  </a:tr>
                  <a:tr h="370840">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(6)</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1"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𝑦</m:t>
                              </m:r>
                              <m:r>
                                <a:rPr kumimoji="1" lang="en-US" altLang="zh-TW" sz="2000" i="1" baseline="-25000">
                                  <a:latin typeface="Cambria Math" panose="02040503050406030204" pitchFamily="18" charset="0"/>
                                  <a:ea typeface="Cambria Math" panose="02040503050406030204" pitchFamily="18" charset="0"/>
                                  <a:cs typeface="Times New Roman" panose="02020603050405020304" pitchFamily="18" charset="0"/>
                                </a:rPr>
                                <m:t>01</m:t>
                              </m:r>
                            </m:oMath>
                          </a14:m>
                          <a:r>
                            <a:rPr kumimoji="1" lang="en-US" altLang="zh-TW" sz="2000" dirty="0">
                              <a:ea typeface="Cambria Math" panose="02040503050406030204" pitchFamily="18" charset="0"/>
                              <a:cs typeface="Times New Roman" panose="02020603050405020304" pitchFamily="18" charset="0"/>
                            </a:rPr>
                            <a:t>, </a:t>
                          </a:r>
                          <a14:m>
                            <m:oMath xmlns:m="http://schemas.openxmlformats.org/officeDocument/2006/math">
                              <m:r>
                                <a:rPr kumimoji="1"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𝑦</m:t>
                              </m:r>
                              <m:r>
                                <a:rPr kumimoji="1" lang="en-US" altLang="zh-TW" sz="2000" i="1" baseline="-25000">
                                  <a:latin typeface="Cambria Math" panose="02040503050406030204" pitchFamily="18" charset="0"/>
                                  <a:ea typeface="Cambria Math" panose="02040503050406030204" pitchFamily="18" charset="0"/>
                                  <a:cs typeface="Times New Roman" panose="02020603050405020304" pitchFamily="18" charset="0"/>
                                </a:rPr>
                                <m:t>02</m:t>
                              </m:r>
                            </m:oMath>
                          </a14:m>
                          <a:r>
                            <a:rPr kumimoji="1" lang="en-US" altLang="zh-TW" sz="2000" dirty="0">
                              <a:ea typeface="Cambria Math" panose="02040503050406030204" pitchFamily="18" charset="0"/>
                              <a:cs typeface="Times New Roman" panose="02020603050405020304" pitchFamily="18" charset="0"/>
                            </a:rPr>
                            <a:t>, </a:t>
                          </a:r>
                          <a14:m>
                            <m:oMath xmlns:m="http://schemas.openxmlformats.org/officeDocument/2006/math">
                              <m:r>
                                <a:rPr kumimoji="1"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𝑦</m:t>
                              </m:r>
                              <m:r>
                                <a:rPr kumimoji="1" lang="en-US" altLang="zh-TW" sz="2000" i="1" baseline="-25000">
                                  <a:latin typeface="Cambria Math" panose="02040503050406030204" pitchFamily="18" charset="0"/>
                                  <a:ea typeface="Cambria Math" panose="02040503050406030204" pitchFamily="18" charset="0"/>
                                  <a:cs typeface="Times New Roman" panose="02020603050405020304" pitchFamily="18" charset="0"/>
                                </a:rPr>
                                <m:t>13</m:t>
                              </m:r>
                            </m:oMath>
                          </a14:m>
                          <a:r>
                            <a:rPr kumimoji="1" lang="en-US" altLang="zh-TW" sz="2000" dirty="0">
                              <a:ea typeface="Cambria Math" panose="02040503050406030204" pitchFamily="18" charset="0"/>
                              <a:cs typeface="Times New Roman" panose="02020603050405020304" pitchFamily="18" charset="0"/>
                            </a:rPr>
                            <a:t>, </a:t>
                          </a:r>
                          <a14:m>
                            <m:oMath xmlns:m="http://schemas.openxmlformats.org/officeDocument/2006/math">
                              <m:r>
                                <a:rPr kumimoji="1" lang="en-US" altLang="zh-TW" sz="2000" b="0" i="1" smtClean="0">
                                  <a:latin typeface="Cambria Math" panose="02040503050406030204" pitchFamily="18" charset="0"/>
                                  <a:ea typeface="Cambria Math" panose="02040503050406030204" pitchFamily="18" charset="0"/>
                                  <a:cs typeface="Times New Roman" panose="02020603050405020304" pitchFamily="18" charset="0"/>
                                </a:rPr>
                                <m:t>𝑦</m:t>
                              </m:r>
                              <m:r>
                                <a:rPr kumimoji="1" lang="en-US" altLang="zh-TW" sz="2000" i="1" baseline="-25000">
                                  <a:latin typeface="Cambria Math" panose="02040503050406030204" pitchFamily="18" charset="0"/>
                                  <a:ea typeface="Cambria Math" panose="02040503050406030204" pitchFamily="18" charset="0"/>
                                  <a:cs typeface="Times New Roman" panose="02020603050405020304" pitchFamily="18" charset="0"/>
                                </a:rPr>
                                <m:t>23</m:t>
                              </m:r>
                              <m:r>
                                <a:rPr kumimoji="1" lang="en-US" altLang="zh-TW" sz="2000" i="1">
                                  <a:latin typeface="Cambria Math" panose="02040503050406030204" pitchFamily="18" charset="0"/>
                                  <a:cs typeface="Times New Roman" panose="02020603050405020304" pitchFamily="18" charset="0"/>
                                </a:rPr>
                                <m:t>∈{0, 1}</m:t>
                              </m:r>
                            </m:oMath>
                          </a14:m>
                          <a:endParaRPr kumimoji="1" lang="en-US" altLang="zh-TW" sz="2000" baseline="-25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991161"/>
                      </a:ext>
                    </a:extLst>
                  </a:tr>
                  <a:tr h="0">
                    <a:tc>
                      <a:txBody>
                        <a:bodyPr/>
                        <a:lstStyle/>
                        <a:p>
                          <a:pPr algn="ctr"/>
                          <a:r>
                            <a:rPr lang="en-US" altLang="zh-TW" sz="2000" dirty="0">
                              <a:solidFill>
                                <a:srgbClr val="FF0000"/>
                              </a:solidFill>
                              <a:latin typeface="Times New Roman" panose="02020603050405020304" pitchFamily="18" charset="0"/>
                              <a:cs typeface="Times New Roman" panose="02020603050405020304" pitchFamily="18" charset="0"/>
                            </a:rPr>
                            <a:t>(7)</a:t>
                          </a:r>
                          <a:endParaRPr lang="zh-TW" alt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1" lang="en-US" altLang="zh-TW" sz="20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𝑦</m:t>
                                </m:r>
                                <m:r>
                                  <a:rPr kumimoji="1" lang="en-US" altLang="zh-TW" sz="2000" i="1" baseline="-250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01</m:t>
                                </m:r>
                                <m:r>
                                  <a:rPr kumimoji="1" lang="en-US" altLang="zh-TW" sz="2000" b="0" i="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sz="20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𝑦</m:t>
                                </m:r>
                                <m:r>
                                  <a:rPr kumimoji="1" lang="en-US" altLang="zh-TW" sz="2000" i="1" baseline="-250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02</m:t>
                                </m:r>
                                <m:r>
                                  <a:rPr kumimoji="1" lang="en-US" altLang="zh-TW" sz="2000" b="0" i="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sz="20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𝑦</m:t>
                                </m:r>
                                <m:r>
                                  <a:rPr kumimoji="1" lang="en-US" altLang="zh-TW" sz="2000" i="1" baseline="-250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13</m:t>
                                </m:r>
                                <m:r>
                                  <a:rPr kumimoji="1" lang="en-US" altLang="zh-TW" sz="2000" b="0" i="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sz="20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𝑦</m:t>
                                </m:r>
                                <m:r>
                                  <a:rPr kumimoji="1" lang="en-US" altLang="zh-TW" sz="2000" i="1" baseline="-250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23</m:t>
                                </m:r>
                                <m:r>
                                  <a:rPr kumimoji="1" lang="en-US" altLang="zh-TW" sz="20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sz="20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3</m:t>
                                </m:r>
                              </m:oMath>
                            </m:oMathPara>
                          </a14:m>
                          <a:endParaRPr kumimoji="1" lang="en-US" altLang="zh-TW" sz="2000" baseline="-25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9429531"/>
                      </a:ext>
                    </a:extLst>
                  </a:tr>
                </a:tbl>
              </a:graphicData>
            </a:graphic>
          </p:graphicFrame>
        </mc:Choice>
        <mc:Fallback xmlns="">
          <p:graphicFrame>
            <p:nvGraphicFramePr>
              <p:cNvPr id="5" name="表格 4">
                <a:extLst>
                  <a:ext uri="{FF2B5EF4-FFF2-40B4-BE49-F238E27FC236}">
                    <a16:creationId xmlns:a16="http://schemas.microsoft.com/office/drawing/2014/main" id="{7296CFFE-7ABA-E04C-A58A-45EA7DE10D17}"/>
                  </a:ext>
                </a:extLst>
              </p:cNvPr>
              <p:cNvGraphicFramePr>
                <a:graphicFrameLocks noGrp="1"/>
              </p:cNvGraphicFramePr>
              <p:nvPr>
                <p:extLst>
                  <p:ext uri="{D42A27DB-BD31-4B8C-83A1-F6EECF244321}">
                    <p14:modId xmlns:p14="http://schemas.microsoft.com/office/powerpoint/2010/main" val="493859253"/>
                  </p:ext>
                </p:extLst>
              </p:nvPr>
            </p:nvGraphicFramePr>
            <p:xfrm>
              <a:off x="8007561" y="160512"/>
              <a:ext cx="3385122" cy="6522720"/>
            </p:xfrm>
            <a:graphic>
              <a:graphicData uri="http://schemas.openxmlformats.org/drawingml/2006/table">
                <a:tbl>
                  <a:tblPr firstRow="1" bandRow="1">
                    <a:tableStyleId>{5C22544A-7EE6-4342-B048-85BDC9FD1C3A}</a:tableStyleId>
                  </a:tblPr>
                  <a:tblGrid>
                    <a:gridCol w="394990">
                      <a:extLst>
                        <a:ext uri="{9D8B030D-6E8A-4147-A177-3AD203B41FA5}">
                          <a16:colId xmlns:a16="http://schemas.microsoft.com/office/drawing/2014/main" val="2569613048"/>
                        </a:ext>
                      </a:extLst>
                    </a:gridCol>
                    <a:gridCol w="2990132">
                      <a:extLst>
                        <a:ext uri="{9D8B030D-6E8A-4147-A177-3AD203B41FA5}">
                          <a16:colId xmlns:a16="http://schemas.microsoft.com/office/drawing/2014/main" val="3907760758"/>
                        </a:ext>
                      </a:extLst>
                    </a:gridCol>
                  </a:tblGrid>
                  <a:tr h="396240">
                    <a:tc>
                      <a:txBody>
                        <a:bodyPr/>
                        <a:lstStyle/>
                        <a:p>
                          <a:pPr algn="ctr"/>
                          <a:endParaRPr lang="zh-TW" altLang="en-US"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2000" b="0" dirty="0">
                              <a:solidFill>
                                <a:schemeClr val="tx1"/>
                              </a:solidFill>
                              <a:latin typeface="Times New Roman" panose="02020603050405020304" pitchFamily="18" charset="0"/>
                              <a:cs typeface="Times New Roman" panose="02020603050405020304" pitchFamily="18" charset="0"/>
                            </a:rPr>
                            <a:t>constraint</a:t>
                          </a:r>
                          <a:endParaRPr lang="zh-TW" altLang="en-US" sz="20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5322513"/>
                      </a:ext>
                    </a:extLst>
                  </a:tr>
                  <a:tr h="1310640">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(1)</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502" t="-31731" b="-372115"/>
                          </a:stretch>
                        </a:blipFill>
                      </a:tcPr>
                    </a:tc>
                    <a:extLst>
                      <a:ext uri="{0D108BD9-81ED-4DB2-BD59-A6C34878D82A}">
                        <a16:rowId xmlns:a16="http://schemas.microsoft.com/office/drawing/2014/main" val="3855675910"/>
                      </a:ext>
                    </a:extLst>
                  </a:tr>
                  <a:tr h="1310640">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(2)</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502" t="-133010" b="-275728"/>
                          </a:stretch>
                        </a:blipFill>
                      </a:tcPr>
                    </a:tc>
                    <a:extLst>
                      <a:ext uri="{0D108BD9-81ED-4DB2-BD59-A6C34878D82A}">
                        <a16:rowId xmlns:a16="http://schemas.microsoft.com/office/drawing/2014/main" val="1720438140"/>
                      </a:ext>
                    </a:extLst>
                  </a:tr>
                  <a:tr h="396240">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(3)</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sz="2000" dirty="0">
                              <a:solidFill>
                                <a:schemeClr val="tx1"/>
                              </a:solidFill>
                              <a:latin typeface="Times New Roman" panose="02020603050405020304" pitchFamily="18" charset="0"/>
                              <a:cs typeface="Times New Roman" panose="02020603050405020304" pitchFamily="18" charset="0"/>
                            </a:rPr>
                            <a:t>None</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9683726"/>
                      </a:ext>
                    </a:extLst>
                  </a:tr>
                  <a:tr h="1920240">
                    <a:tc>
                      <a:txBody>
                        <a:bodyPr/>
                        <a:lstStyle/>
                        <a:p>
                          <a:pPr algn="ctr"/>
                          <a:r>
                            <a:rPr lang="en-US" altLang="zh-TW" sz="2000" dirty="0">
                              <a:solidFill>
                                <a:srgbClr val="FF0000"/>
                              </a:solidFill>
                              <a:latin typeface="Times New Roman" panose="02020603050405020304" pitchFamily="18" charset="0"/>
                              <a:cs typeface="Times New Roman" panose="02020603050405020304" pitchFamily="18" charset="0"/>
                            </a:rPr>
                            <a:t>(4)</a:t>
                          </a:r>
                          <a:endParaRPr lang="zh-TW" alt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502" t="-180132" b="-66887"/>
                          </a:stretch>
                        </a:blipFill>
                      </a:tcPr>
                    </a:tc>
                    <a:extLst>
                      <a:ext uri="{0D108BD9-81ED-4DB2-BD59-A6C34878D82A}">
                        <a16:rowId xmlns:a16="http://schemas.microsoft.com/office/drawing/2014/main" val="1773789942"/>
                      </a:ext>
                    </a:extLst>
                  </a:tr>
                  <a:tr h="396240">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(5)</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502" t="-1364516" b="-225806"/>
                          </a:stretch>
                        </a:blipFill>
                      </a:tcPr>
                    </a:tc>
                    <a:extLst>
                      <a:ext uri="{0D108BD9-81ED-4DB2-BD59-A6C34878D82A}">
                        <a16:rowId xmlns:a16="http://schemas.microsoft.com/office/drawing/2014/main" val="2721145778"/>
                      </a:ext>
                    </a:extLst>
                  </a:tr>
                  <a:tr h="396240">
                    <a:tc>
                      <a:txBody>
                        <a:bodyPr/>
                        <a:lstStyle/>
                        <a:p>
                          <a:pPr algn="ctr"/>
                          <a:r>
                            <a:rPr lang="en-US" altLang="zh-TW" sz="2000" dirty="0">
                              <a:solidFill>
                                <a:schemeClr val="tx1"/>
                              </a:solidFill>
                              <a:latin typeface="Times New Roman" panose="02020603050405020304" pitchFamily="18" charset="0"/>
                              <a:cs typeface="Times New Roman" panose="02020603050405020304" pitchFamily="18" charset="0"/>
                            </a:rPr>
                            <a:t>(6)</a:t>
                          </a:r>
                          <a:endParaRPr lang="zh-TW" altLang="en-US" sz="20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502" t="-1418750" b="-118750"/>
                          </a:stretch>
                        </a:blipFill>
                      </a:tcPr>
                    </a:tc>
                    <a:extLst>
                      <a:ext uri="{0D108BD9-81ED-4DB2-BD59-A6C34878D82A}">
                        <a16:rowId xmlns:a16="http://schemas.microsoft.com/office/drawing/2014/main" val="242991161"/>
                      </a:ext>
                    </a:extLst>
                  </a:tr>
                  <a:tr h="396240">
                    <a:tc>
                      <a:txBody>
                        <a:bodyPr/>
                        <a:lstStyle/>
                        <a:p>
                          <a:pPr algn="ctr"/>
                          <a:r>
                            <a:rPr lang="en-US" altLang="zh-TW" sz="2000" dirty="0">
                              <a:solidFill>
                                <a:srgbClr val="FF0000"/>
                              </a:solidFill>
                              <a:latin typeface="Times New Roman" panose="02020603050405020304" pitchFamily="18" charset="0"/>
                              <a:cs typeface="Times New Roman" panose="02020603050405020304" pitchFamily="18" charset="0"/>
                            </a:rPr>
                            <a:t>(7)</a:t>
                          </a:r>
                          <a:endParaRPr lang="zh-TW" alt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502" t="-1567742" b="-22581"/>
                          </a:stretch>
                        </a:blipFill>
                      </a:tcPr>
                    </a:tc>
                    <a:extLst>
                      <a:ext uri="{0D108BD9-81ED-4DB2-BD59-A6C34878D82A}">
                        <a16:rowId xmlns:a16="http://schemas.microsoft.com/office/drawing/2014/main" val="3699429531"/>
                      </a:ext>
                    </a:extLst>
                  </a:tr>
                </a:tbl>
              </a:graphicData>
            </a:graphic>
          </p:graphicFrame>
        </mc:Fallback>
      </mc:AlternateContent>
      <p:sp>
        <p:nvSpPr>
          <p:cNvPr id="8" name="標題 1">
            <a:extLst>
              <a:ext uri="{FF2B5EF4-FFF2-40B4-BE49-F238E27FC236}">
                <a16:creationId xmlns:a16="http://schemas.microsoft.com/office/drawing/2014/main" id="{82288309-0D75-7344-9AF2-F20339DD19B1}"/>
              </a:ext>
            </a:extLst>
          </p:cNvPr>
          <p:cNvSpPr>
            <a:spLocks noGrp="1"/>
          </p:cNvSpPr>
          <p:nvPr>
            <p:ph type="title"/>
          </p:nvPr>
        </p:nvSpPr>
        <p:spPr>
          <a:xfrm>
            <a:off x="838200" y="365125"/>
            <a:ext cx="10515600" cy="1325563"/>
          </a:xfrm>
        </p:spPr>
        <p:txBody>
          <a:bodyPr/>
          <a:lstStyle/>
          <a:p>
            <a:r>
              <a:rPr kumimoji="1" lang="en-US" altLang="zh-TW" dirty="0">
                <a:latin typeface="Times New Roman" panose="02020603050405020304" pitchFamily="18" charset="0"/>
                <a:cs typeface="Times New Roman" panose="02020603050405020304" pitchFamily="18" charset="0"/>
              </a:rPr>
              <a:t>Branch-and-Cut</a:t>
            </a:r>
            <a:endParaRPr kumimoji="1" lang="zh-TW" altLang="en-US" dirty="0">
              <a:latin typeface="Times New Roman" panose="02020603050405020304" pitchFamily="18" charset="0"/>
              <a:cs typeface="Times New Roman" panose="02020603050405020304" pitchFamily="18" charset="0"/>
            </a:endParaRPr>
          </a:p>
        </p:txBody>
      </p:sp>
      <p:grpSp>
        <p:nvGrpSpPr>
          <p:cNvPr id="24" name="群組 23">
            <a:extLst>
              <a:ext uri="{FF2B5EF4-FFF2-40B4-BE49-F238E27FC236}">
                <a16:creationId xmlns:a16="http://schemas.microsoft.com/office/drawing/2014/main" id="{BA11F4D9-EA35-6340-838C-4F6EA1F6D39C}"/>
              </a:ext>
            </a:extLst>
          </p:cNvPr>
          <p:cNvGrpSpPr/>
          <p:nvPr/>
        </p:nvGrpSpPr>
        <p:grpSpPr>
          <a:xfrm>
            <a:off x="5738190" y="854764"/>
            <a:ext cx="515314" cy="584342"/>
            <a:chOff x="5738190" y="854764"/>
            <a:chExt cx="515314" cy="584342"/>
          </a:xfrm>
        </p:grpSpPr>
        <p:grpSp>
          <p:nvGrpSpPr>
            <p:cNvPr id="13" name="群組 12">
              <a:extLst>
                <a:ext uri="{FF2B5EF4-FFF2-40B4-BE49-F238E27FC236}">
                  <a16:creationId xmlns:a16="http://schemas.microsoft.com/office/drawing/2014/main" id="{BA5EA553-D4DF-C444-B49E-31F1B6979745}"/>
                </a:ext>
              </a:extLst>
            </p:cNvPr>
            <p:cNvGrpSpPr/>
            <p:nvPr/>
          </p:nvGrpSpPr>
          <p:grpSpPr>
            <a:xfrm>
              <a:off x="5738190" y="854764"/>
              <a:ext cx="357810" cy="369332"/>
              <a:chOff x="6166124" y="817601"/>
              <a:chExt cx="357810" cy="369332"/>
            </a:xfrm>
          </p:grpSpPr>
          <p:sp>
            <p:nvSpPr>
              <p:cNvPr id="11" name="文字方塊 10">
                <a:extLst>
                  <a:ext uri="{FF2B5EF4-FFF2-40B4-BE49-F238E27FC236}">
                    <a16:creationId xmlns:a16="http://schemas.microsoft.com/office/drawing/2014/main" id="{84F54C6E-7EC5-A74E-8159-44F7C53C366E}"/>
                  </a:ext>
                </a:extLst>
              </p:cNvPr>
              <p:cNvSpPr txBox="1"/>
              <p:nvPr/>
            </p:nvSpPr>
            <p:spPr>
              <a:xfrm>
                <a:off x="6166124" y="817601"/>
                <a:ext cx="357809" cy="369332"/>
              </a:xfrm>
              <a:prstGeom prst="rect">
                <a:avLst/>
              </a:prstGeom>
              <a:noFill/>
            </p:spPr>
            <p:txBody>
              <a:bodyPr wrap="square" rtlCol="0">
                <a:spAutoFit/>
              </a:bodyPr>
              <a:lstStyle/>
              <a:p>
                <a:pPr algn="ctr"/>
                <a:r>
                  <a:rPr kumimoji="1" lang="en-US" altLang="zh-TW" dirty="0">
                    <a:latin typeface="Times New Roman" panose="02020603050405020304" pitchFamily="18" charset="0"/>
                    <a:cs typeface="Times New Roman" panose="02020603050405020304" pitchFamily="18" charset="0"/>
                  </a:rPr>
                  <a:t>1</a:t>
                </a:r>
                <a:endParaRPr kumimoji="1" lang="zh-TW" altLang="en-US" dirty="0">
                  <a:latin typeface="Times New Roman" panose="02020603050405020304" pitchFamily="18" charset="0"/>
                  <a:cs typeface="Times New Roman" panose="02020603050405020304" pitchFamily="18" charset="0"/>
                </a:endParaRPr>
              </a:p>
            </p:txBody>
          </p:sp>
          <p:sp>
            <p:nvSpPr>
              <p:cNvPr id="12" name="橢圓 11">
                <a:extLst>
                  <a:ext uri="{FF2B5EF4-FFF2-40B4-BE49-F238E27FC236}">
                    <a16:creationId xmlns:a16="http://schemas.microsoft.com/office/drawing/2014/main" id="{A25688C7-F750-7046-87D1-F1FDE9618D18}"/>
                  </a:ext>
                </a:extLst>
              </p:cNvPr>
              <p:cNvSpPr/>
              <p:nvPr/>
            </p:nvSpPr>
            <p:spPr>
              <a:xfrm>
                <a:off x="6166125" y="829125"/>
                <a:ext cx="357809" cy="35780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23" name="文字方塊 22">
              <a:extLst>
                <a:ext uri="{FF2B5EF4-FFF2-40B4-BE49-F238E27FC236}">
                  <a16:creationId xmlns:a16="http://schemas.microsoft.com/office/drawing/2014/main" id="{60AB2059-D54D-A94A-893F-61DAD114033F}"/>
                </a:ext>
              </a:extLst>
            </p:cNvPr>
            <p:cNvSpPr txBox="1"/>
            <p:nvPr/>
          </p:nvSpPr>
          <p:spPr>
            <a:xfrm>
              <a:off x="5988459" y="1131329"/>
              <a:ext cx="265045" cy="307777"/>
            </a:xfrm>
            <a:prstGeom prst="rect">
              <a:avLst/>
            </a:prstGeom>
            <a:noFill/>
          </p:spPr>
          <p:txBody>
            <a:bodyPr wrap="square" rtlCol="0">
              <a:spAutoFit/>
            </a:bodyPr>
            <a:lstStyle/>
            <a:p>
              <a:pPr algn="ctr"/>
              <a:r>
                <a:rPr kumimoji="1" lang="en-US" altLang="zh-TW" sz="1400" dirty="0">
                  <a:latin typeface="Times New Roman" panose="02020603050405020304" pitchFamily="18" charset="0"/>
                  <a:cs typeface="Times New Roman" panose="02020603050405020304" pitchFamily="18" charset="0"/>
                </a:rPr>
                <a:t>0</a:t>
              </a:r>
              <a:endParaRPr kumimoji="1" lang="zh-TW" altLang="en-US" dirty="0">
                <a:latin typeface="Times New Roman" panose="02020603050405020304" pitchFamily="18" charset="0"/>
                <a:cs typeface="Times New Roman" panose="02020603050405020304" pitchFamily="18" charset="0"/>
              </a:endParaRPr>
            </a:p>
          </p:txBody>
        </p:sp>
      </p:grpSp>
      <p:grpSp>
        <p:nvGrpSpPr>
          <p:cNvPr id="25" name="群組 24">
            <a:extLst>
              <a:ext uri="{FF2B5EF4-FFF2-40B4-BE49-F238E27FC236}">
                <a16:creationId xmlns:a16="http://schemas.microsoft.com/office/drawing/2014/main" id="{849E24A0-5DD1-A442-AC1A-80A0682002C1}"/>
              </a:ext>
            </a:extLst>
          </p:cNvPr>
          <p:cNvGrpSpPr/>
          <p:nvPr/>
        </p:nvGrpSpPr>
        <p:grpSpPr>
          <a:xfrm>
            <a:off x="6576046" y="854764"/>
            <a:ext cx="515314" cy="584342"/>
            <a:chOff x="5738190" y="854764"/>
            <a:chExt cx="515314" cy="584342"/>
          </a:xfrm>
        </p:grpSpPr>
        <p:grpSp>
          <p:nvGrpSpPr>
            <p:cNvPr id="26" name="群組 25">
              <a:extLst>
                <a:ext uri="{FF2B5EF4-FFF2-40B4-BE49-F238E27FC236}">
                  <a16:creationId xmlns:a16="http://schemas.microsoft.com/office/drawing/2014/main" id="{C97C5CA0-65FF-5D44-8C5A-977BBA76BBB3}"/>
                </a:ext>
              </a:extLst>
            </p:cNvPr>
            <p:cNvGrpSpPr/>
            <p:nvPr/>
          </p:nvGrpSpPr>
          <p:grpSpPr>
            <a:xfrm>
              <a:off x="5738190" y="854764"/>
              <a:ext cx="357810" cy="369332"/>
              <a:chOff x="6166124" y="817601"/>
              <a:chExt cx="357810" cy="369332"/>
            </a:xfrm>
          </p:grpSpPr>
          <p:sp>
            <p:nvSpPr>
              <p:cNvPr id="28" name="文字方塊 27">
                <a:extLst>
                  <a:ext uri="{FF2B5EF4-FFF2-40B4-BE49-F238E27FC236}">
                    <a16:creationId xmlns:a16="http://schemas.microsoft.com/office/drawing/2014/main" id="{6AE7E606-1478-9D40-930F-D88F463BA805}"/>
                  </a:ext>
                </a:extLst>
              </p:cNvPr>
              <p:cNvSpPr txBox="1"/>
              <p:nvPr/>
            </p:nvSpPr>
            <p:spPr>
              <a:xfrm>
                <a:off x="6166124" y="817601"/>
                <a:ext cx="357809" cy="369332"/>
              </a:xfrm>
              <a:prstGeom prst="rect">
                <a:avLst/>
              </a:prstGeom>
              <a:noFill/>
            </p:spPr>
            <p:txBody>
              <a:bodyPr wrap="square" rtlCol="0">
                <a:spAutoFit/>
              </a:bodyPr>
              <a:lstStyle/>
              <a:p>
                <a:pPr algn="ctr"/>
                <a:r>
                  <a:rPr kumimoji="1" lang="en-US" altLang="zh-TW" dirty="0">
                    <a:latin typeface="Times New Roman" panose="02020603050405020304" pitchFamily="18" charset="0"/>
                    <a:cs typeface="Times New Roman" panose="02020603050405020304" pitchFamily="18" charset="0"/>
                  </a:rPr>
                  <a:t>2</a:t>
                </a:r>
                <a:endParaRPr kumimoji="1" lang="zh-TW" altLang="en-US" dirty="0">
                  <a:latin typeface="Times New Roman" panose="02020603050405020304" pitchFamily="18" charset="0"/>
                  <a:cs typeface="Times New Roman" panose="02020603050405020304" pitchFamily="18" charset="0"/>
                </a:endParaRPr>
              </a:p>
            </p:txBody>
          </p:sp>
          <p:sp>
            <p:nvSpPr>
              <p:cNvPr id="29" name="橢圓 28">
                <a:extLst>
                  <a:ext uri="{FF2B5EF4-FFF2-40B4-BE49-F238E27FC236}">
                    <a16:creationId xmlns:a16="http://schemas.microsoft.com/office/drawing/2014/main" id="{48AF8F5D-4915-6246-8853-6E7260BF7E9E}"/>
                  </a:ext>
                </a:extLst>
              </p:cNvPr>
              <p:cNvSpPr/>
              <p:nvPr/>
            </p:nvSpPr>
            <p:spPr>
              <a:xfrm>
                <a:off x="6166125" y="829125"/>
                <a:ext cx="357809" cy="35780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27" name="文字方塊 26">
              <a:extLst>
                <a:ext uri="{FF2B5EF4-FFF2-40B4-BE49-F238E27FC236}">
                  <a16:creationId xmlns:a16="http://schemas.microsoft.com/office/drawing/2014/main" id="{16689A9A-B4DB-2B40-86AC-CAD9DBC8A050}"/>
                </a:ext>
              </a:extLst>
            </p:cNvPr>
            <p:cNvSpPr txBox="1"/>
            <p:nvPr/>
          </p:nvSpPr>
          <p:spPr>
            <a:xfrm>
              <a:off x="5988459" y="1131329"/>
              <a:ext cx="265045" cy="307777"/>
            </a:xfrm>
            <a:prstGeom prst="rect">
              <a:avLst/>
            </a:prstGeom>
            <a:noFill/>
          </p:spPr>
          <p:txBody>
            <a:bodyPr wrap="square" rtlCol="0">
              <a:spAutoFit/>
            </a:bodyPr>
            <a:lstStyle/>
            <a:p>
              <a:pPr algn="ctr"/>
              <a:r>
                <a:rPr kumimoji="1" lang="en-US" altLang="zh-TW" sz="1400" dirty="0">
                  <a:latin typeface="Times New Roman" panose="02020603050405020304" pitchFamily="18" charset="0"/>
                  <a:cs typeface="Times New Roman" panose="02020603050405020304" pitchFamily="18" charset="0"/>
                </a:rPr>
                <a:t>1</a:t>
              </a:r>
              <a:endParaRPr kumimoji="1" lang="zh-TW" altLang="en-US" dirty="0">
                <a:latin typeface="Times New Roman" panose="02020603050405020304" pitchFamily="18" charset="0"/>
                <a:cs typeface="Times New Roman" panose="02020603050405020304" pitchFamily="18" charset="0"/>
              </a:endParaRPr>
            </a:p>
          </p:txBody>
        </p:sp>
      </p:grpSp>
      <p:grpSp>
        <p:nvGrpSpPr>
          <p:cNvPr id="30" name="群組 29">
            <a:extLst>
              <a:ext uri="{FF2B5EF4-FFF2-40B4-BE49-F238E27FC236}">
                <a16:creationId xmlns:a16="http://schemas.microsoft.com/office/drawing/2014/main" id="{2606752F-CD50-B544-995B-A55B6B37A0B8}"/>
              </a:ext>
            </a:extLst>
          </p:cNvPr>
          <p:cNvGrpSpPr/>
          <p:nvPr/>
        </p:nvGrpSpPr>
        <p:grpSpPr>
          <a:xfrm>
            <a:off x="5738190" y="1725259"/>
            <a:ext cx="515314" cy="584342"/>
            <a:chOff x="5738190" y="854764"/>
            <a:chExt cx="515314" cy="584342"/>
          </a:xfrm>
        </p:grpSpPr>
        <p:grpSp>
          <p:nvGrpSpPr>
            <p:cNvPr id="31" name="群組 30">
              <a:extLst>
                <a:ext uri="{FF2B5EF4-FFF2-40B4-BE49-F238E27FC236}">
                  <a16:creationId xmlns:a16="http://schemas.microsoft.com/office/drawing/2014/main" id="{2F255C05-EE41-C84E-A330-8E9A402465EA}"/>
                </a:ext>
              </a:extLst>
            </p:cNvPr>
            <p:cNvGrpSpPr/>
            <p:nvPr/>
          </p:nvGrpSpPr>
          <p:grpSpPr>
            <a:xfrm>
              <a:off x="5738190" y="854764"/>
              <a:ext cx="357810" cy="369332"/>
              <a:chOff x="6166124" y="817601"/>
              <a:chExt cx="357810" cy="369332"/>
            </a:xfrm>
          </p:grpSpPr>
          <p:sp>
            <p:nvSpPr>
              <p:cNvPr id="33" name="文字方塊 32">
                <a:extLst>
                  <a:ext uri="{FF2B5EF4-FFF2-40B4-BE49-F238E27FC236}">
                    <a16:creationId xmlns:a16="http://schemas.microsoft.com/office/drawing/2014/main" id="{C2FE5C50-1962-474C-B17B-F9B389B747B0}"/>
                  </a:ext>
                </a:extLst>
              </p:cNvPr>
              <p:cNvSpPr txBox="1"/>
              <p:nvPr/>
            </p:nvSpPr>
            <p:spPr>
              <a:xfrm>
                <a:off x="6166124" y="817601"/>
                <a:ext cx="357809" cy="369332"/>
              </a:xfrm>
              <a:prstGeom prst="rect">
                <a:avLst/>
              </a:prstGeom>
              <a:noFill/>
            </p:spPr>
            <p:txBody>
              <a:bodyPr wrap="square" rtlCol="0">
                <a:spAutoFit/>
              </a:bodyPr>
              <a:lstStyle/>
              <a:p>
                <a:pPr algn="ctr"/>
                <a:r>
                  <a:rPr kumimoji="1" lang="en-US" altLang="zh-TW" dirty="0">
                    <a:latin typeface="Times New Roman" panose="02020603050405020304" pitchFamily="18" charset="0"/>
                    <a:cs typeface="Times New Roman" panose="02020603050405020304" pitchFamily="18" charset="0"/>
                  </a:rPr>
                  <a:t>1</a:t>
                </a:r>
                <a:endParaRPr kumimoji="1" lang="zh-TW" altLang="en-US" dirty="0">
                  <a:latin typeface="Times New Roman" panose="02020603050405020304" pitchFamily="18" charset="0"/>
                  <a:cs typeface="Times New Roman" panose="02020603050405020304" pitchFamily="18" charset="0"/>
                </a:endParaRPr>
              </a:p>
            </p:txBody>
          </p:sp>
          <p:sp>
            <p:nvSpPr>
              <p:cNvPr id="34" name="橢圓 33">
                <a:extLst>
                  <a:ext uri="{FF2B5EF4-FFF2-40B4-BE49-F238E27FC236}">
                    <a16:creationId xmlns:a16="http://schemas.microsoft.com/office/drawing/2014/main" id="{4ECE2001-82D8-E549-8A7B-32BF685C52D7}"/>
                  </a:ext>
                </a:extLst>
              </p:cNvPr>
              <p:cNvSpPr/>
              <p:nvPr/>
            </p:nvSpPr>
            <p:spPr>
              <a:xfrm>
                <a:off x="6166125" y="829125"/>
                <a:ext cx="357809" cy="35780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32" name="文字方塊 31">
              <a:extLst>
                <a:ext uri="{FF2B5EF4-FFF2-40B4-BE49-F238E27FC236}">
                  <a16:creationId xmlns:a16="http://schemas.microsoft.com/office/drawing/2014/main" id="{C24BB19A-872B-E648-802F-949A44FAED23}"/>
                </a:ext>
              </a:extLst>
            </p:cNvPr>
            <p:cNvSpPr txBox="1"/>
            <p:nvPr/>
          </p:nvSpPr>
          <p:spPr>
            <a:xfrm>
              <a:off x="5988459" y="1131329"/>
              <a:ext cx="265045" cy="307777"/>
            </a:xfrm>
            <a:prstGeom prst="rect">
              <a:avLst/>
            </a:prstGeom>
            <a:noFill/>
          </p:spPr>
          <p:txBody>
            <a:bodyPr wrap="square" rtlCol="0">
              <a:spAutoFit/>
            </a:bodyPr>
            <a:lstStyle/>
            <a:p>
              <a:pPr algn="ctr"/>
              <a:r>
                <a:rPr kumimoji="1" lang="en-US" altLang="zh-TW" sz="1400" dirty="0">
                  <a:latin typeface="Times New Roman" panose="02020603050405020304" pitchFamily="18" charset="0"/>
                  <a:cs typeface="Times New Roman" panose="02020603050405020304" pitchFamily="18" charset="0"/>
                </a:rPr>
                <a:t>2</a:t>
              </a:r>
              <a:endParaRPr kumimoji="1" lang="zh-TW" altLang="en-US" dirty="0">
                <a:latin typeface="Times New Roman" panose="02020603050405020304" pitchFamily="18" charset="0"/>
                <a:cs typeface="Times New Roman" panose="02020603050405020304" pitchFamily="18" charset="0"/>
              </a:endParaRPr>
            </a:p>
          </p:txBody>
        </p:sp>
      </p:grpSp>
      <p:grpSp>
        <p:nvGrpSpPr>
          <p:cNvPr id="35" name="群組 34">
            <a:extLst>
              <a:ext uri="{FF2B5EF4-FFF2-40B4-BE49-F238E27FC236}">
                <a16:creationId xmlns:a16="http://schemas.microsoft.com/office/drawing/2014/main" id="{B4B05364-D348-9A45-8120-A76C6DDB39E3}"/>
              </a:ext>
            </a:extLst>
          </p:cNvPr>
          <p:cNvGrpSpPr/>
          <p:nvPr/>
        </p:nvGrpSpPr>
        <p:grpSpPr>
          <a:xfrm>
            <a:off x="6576046" y="1725259"/>
            <a:ext cx="515314" cy="584342"/>
            <a:chOff x="5738190" y="854764"/>
            <a:chExt cx="515314" cy="584342"/>
          </a:xfrm>
        </p:grpSpPr>
        <p:grpSp>
          <p:nvGrpSpPr>
            <p:cNvPr id="36" name="群組 35">
              <a:extLst>
                <a:ext uri="{FF2B5EF4-FFF2-40B4-BE49-F238E27FC236}">
                  <a16:creationId xmlns:a16="http://schemas.microsoft.com/office/drawing/2014/main" id="{71BB1356-B22A-FE41-AE4C-394FB22986A0}"/>
                </a:ext>
              </a:extLst>
            </p:cNvPr>
            <p:cNvGrpSpPr/>
            <p:nvPr/>
          </p:nvGrpSpPr>
          <p:grpSpPr>
            <a:xfrm>
              <a:off x="5738190" y="854764"/>
              <a:ext cx="357810" cy="369332"/>
              <a:chOff x="6166124" y="817601"/>
              <a:chExt cx="357810" cy="369332"/>
            </a:xfrm>
          </p:grpSpPr>
          <p:sp>
            <p:nvSpPr>
              <p:cNvPr id="38" name="文字方塊 37">
                <a:extLst>
                  <a:ext uri="{FF2B5EF4-FFF2-40B4-BE49-F238E27FC236}">
                    <a16:creationId xmlns:a16="http://schemas.microsoft.com/office/drawing/2014/main" id="{09AB0BFF-9D03-0948-80D1-1BA569B01128}"/>
                  </a:ext>
                </a:extLst>
              </p:cNvPr>
              <p:cNvSpPr txBox="1"/>
              <p:nvPr/>
            </p:nvSpPr>
            <p:spPr>
              <a:xfrm>
                <a:off x="6166124" y="817601"/>
                <a:ext cx="357809" cy="369332"/>
              </a:xfrm>
              <a:prstGeom prst="rect">
                <a:avLst/>
              </a:prstGeom>
              <a:noFill/>
            </p:spPr>
            <p:txBody>
              <a:bodyPr wrap="square" rtlCol="0">
                <a:spAutoFit/>
              </a:bodyPr>
              <a:lstStyle/>
              <a:p>
                <a:pPr algn="ctr"/>
                <a:r>
                  <a:rPr kumimoji="1" lang="en-US" altLang="zh-TW" dirty="0">
                    <a:latin typeface="Times New Roman" panose="02020603050405020304" pitchFamily="18" charset="0"/>
                    <a:cs typeface="Times New Roman" panose="02020603050405020304" pitchFamily="18" charset="0"/>
                  </a:rPr>
                  <a:t>2</a:t>
                </a:r>
                <a:endParaRPr kumimoji="1" lang="zh-TW" altLang="en-US" dirty="0">
                  <a:latin typeface="Times New Roman" panose="02020603050405020304" pitchFamily="18" charset="0"/>
                  <a:cs typeface="Times New Roman" panose="02020603050405020304" pitchFamily="18" charset="0"/>
                </a:endParaRPr>
              </a:p>
            </p:txBody>
          </p:sp>
          <p:sp>
            <p:nvSpPr>
              <p:cNvPr id="39" name="橢圓 38">
                <a:extLst>
                  <a:ext uri="{FF2B5EF4-FFF2-40B4-BE49-F238E27FC236}">
                    <a16:creationId xmlns:a16="http://schemas.microsoft.com/office/drawing/2014/main" id="{CD544355-F24A-E948-AC2A-02E25174FC01}"/>
                  </a:ext>
                </a:extLst>
              </p:cNvPr>
              <p:cNvSpPr/>
              <p:nvPr/>
            </p:nvSpPr>
            <p:spPr>
              <a:xfrm>
                <a:off x="6166125" y="829125"/>
                <a:ext cx="357809" cy="35780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37" name="文字方塊 36">
              <a:extLst>
                <a:ext uri="{FF2B5EF4-FFF2-40B4-BE49-F238E27FC236}">
                  <a16:creationId xmlns:a16="http://schemas.microsoft.com/office/drawing/2014/main" id="{5C1961FF-459C-D74F-BC62-F1DE2F1F7DDA}"/>
                </a:ext>
              </a:extLst>
            </p:cNvPr>
            <p:cNvSpPr txBox="1"/>
            <p:nvPr/>
          </p:nvSpPr>
          <p:spPr>
            <a:xfrm>
              <a:off x="5988459" y="1131329"/>
              <a:ext cx="265045" cy="307777"/>
            </a:xfrm>
            <a:prstGeom prst="rect">
              <a:avLst/>
            </a:prstGeom>
            <a:noFill/>
          </p:spPr>
          <p:txBody>
            <a:bodyPr wrap="square" rtlCol="0">
              <a:spAutoFit/>
            </a:bodyPr>
            <a:lstStyle/>
            <a:p>
              <a:pPr algn="ctr"/>
              <a:r>
                <a:rPr kumimoji="1" lang="en-US" altLang="zh-TW" sz="1400" dirty="0">
                  <a:latin typeface="Times New Roman" panose="02020603050405020304" pitchFamily="18" charset="0"/>
                  <a:cs typeface="Times New Roman" panose="02020603050405020304" pitchFamily="18" charset="0"/>
                </a:rPr>
                <a:t>3</a:t>
              </a:r>
              <a:endParaRPr kumimoji="1" lang="zh-TW" altLang="en-US" dirty="0">
                <a:latin typeface="Times New Roman" panose="02020603050405020304" pitchFamily="18" charset="0"/>
                <a:cs typeface="Times New Roman" panose="02020603050405020304" pitchFamily="18" charset="0"/>
              </a:endParaRPr>
            </a:p>
          </p:txBody>
        </p:sp>
      </p:grpSp>
      <p:grpSp>
        <p:nvGrpSpPr>
          <p:cNvPr id="132" name="群組 131">
            <a:extLst>
              <a:ext uri="{FF2B5EF4-FFF2-40B4-BE49-F238E27FC236}">
                <a16:creationId xmlns:a16="http://schemas.microsoft.com/office/drawing/2014/main" id="{A5FCFDC5-868A-DA4D-A2DA-D07E692FB456}"/>
              </a:ext>
            </a:extLst>
          </p:cNvPr>
          <p:cNvGrpSpPr/>
          <p:nvPr/>
        </p:nvGrpSpPr>
        <p:grpSpPr>
          <a:xfrm>
            <a:off x="-61894" y="2222191"/>
            <a:ext cx="7569297" cy="3690248"/>
            <a:chOff x="-61894" y="2222191"/>
            <a:chExt cx="7569297" cy="3690248"/>
          </a:xfrm>
        </p:grpSpPr>
        <mc:AlternateContent xmlns:mc="http://schemas.openxmlformats.org/markup-compatibility/2006" xmlns:a14="http://schemas.microsoft.com/office/drawing/2010/main">
          <mc:Choice Requires="a14">
            <p:sp>
              <p:nvSpPr>
                <p:cNvPr id="40" name="文字方塊 39">
                  <a:extLst>
                    <a:ext uri="{FF2B5EF4-FFF2-40B4-BE49-F238E27FC236}">
                      <a16:creationId xmlns:a16="http://schemas.microsoft.com/office/drawing/2014/main" id="{DCC92A5F-62D0-E544-B290-CB43A6AD5352}"/>
                    </a:ext>
                  </a:extLst>
                </p:cNvPr>
                <p:cNvSpPr txBox="1"/>
                <p:nvPr/>
              </p:nvSpPr>
              <p:spPr>
                <a:xfrm>
                  <a:off x="-61893" y="3058565"/>
                  <a:ext cx="17194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𝑦</m:t>
                            </m:r>
                            <m:r>
                              <a:rPr kumimoji="1" lang="en-US" altLang="zh-TW" i="1" baseline="-25000">
                                <a:latin typeface="Cambria Math" panose="02040503050406030204" pitchFamily="18" charset="0"/>
                                <a:ea typeface="Cambria Math" panose="02040503050406030204" pitchFamily="18" charset="0"/>
                                <a:cs typeface="Times New Roman" panose="02020603050405020304" pitchFamily="18" charset="0"/>
                              </a:rPr>
                              <m:t>01</m:t>
                            </m:r>
                            <m:r>
                              <a:rPr kumimoji="1" lang="en-US" altLang="zh-TW" b="0" i="0" smtClean="0">
                                <a:latin typeface="Cambria Math" panose="02040503050406030204" pitchFamily="18" charset="0"/>
                                <a:ea typeface="Cambria Math" panose="02040503050406030204" pitchFamily="18" charset="0"/>
                                <a:cs typeface="Times New Roman" panose="02020603050405020304" pitchFamily="18" charset="0"/>
                              </a:rPr>
                              <m:t>, </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𝑦</m:t>
                            </m:r>
                            <m:r>
                              <a:rPr kumimoji="1" lang="en-US" altLang="zh-TW" i="1" baseline="-25000">
                                <a:latin typeface="Cambria Math" panose="02040503050406030204" pitchFamily="18" charset="0"/>
                                <a:ea typeface="Cambria Math" panose="02040503050406030204" pitchFamily="18" charset="0"/>
                                <a:cs typeface="Times New Roman" panose="02020603050405020304" pitchFamily="18" charset="0"/>
                              </a:rPr>
                              <m:t>02</m:t>
                            </m:r>
                            <m:r>
                              <a:rPr kumimoji="1" lang="en-US" altLang="zh-TW" b="0" i="0"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𝑦</m:t>
                            </m:r>
                            <m:r>
                              <a:rPr kumimoji="1" lang="en-US" altLang="zh-TW" i="1" baseline="-25000">
                                <a:latin typeface="Cambria Math" panose="02040503050406030204" pitchFamily="18" charset="0"/>
                                <a:ea typeface="Cambria Math" panose="02040503050406030204" pitchFamily="18" charset="0"/>
                                <a:cs typeface="Times New Roman" panose="02020603050405020304" pitchFamily="18" charset="0"/>
                              </a:rPr>
                              <m:t>13</m:t>
                            </m:r>
                            <m:r>
                              <a:rPr kumimoji="1" lang="en-US" altLang="zh-TW" b="0" i="0"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𝑦</m:t>
                            </m:r>
                            <m:r>
                              <a:rPr kumimoji="1" lang="en-US" altLang="zh-TW" i="1" baseline="-25000">
                                <a:latin typeface="Cambria Math" panose="02040503050406030204" pitchFamily="18" charset="0"/>
                                <a:ea typeface="Cambria Math" panose="02040503050406030204" pitchFamily="18" charset="0"/>
                                <a:cs typeface="Times New Roman" panose="02020603050405020304" pitchFamily="18" charset="0"/>
                              </a:rPr>
                              <m:t>23</m:t>
                            </m:r>
                          </m:e>
                        </m:d>
                      </m:oMath>
                    </m:oMathPara>
                  </a14:m>
                  <a:endParaRPr kumimoji="1" lang="zh-TW" altLang="en-US" dirty="0"/>
                </a:p>
              </p:txBody>
            </p:sp>
          </mc:Choice>
          <mc:Fallback xmlns="">
            <p:sp>
              <p:nvSpPr>
                <p:cNvPr id="40" name="文字方塊 39">
                  <a:extLst>
                    <a:ext uri="{FF2B5EF4-FFF2-40B4-BE49-F238E27FC236}">
                      <a16:creationId xmlns:a16="http://schemas.microsoft.com/office/drawing/2014/main" id="{DCC92A5F-62D0-E544-B290-CB43A6AD5352}"/>
                    </a:ext>
                  </a:extLst>
                </p:cNvPr>
                <p:cNvSpPr txBox="1">
                  <a:spLocks noRot="1" noChangeAspect="1" noMove="1" noResize="1" noEditPoints="1" noAdjustHandles="1" noChangeArrowheads="1" noChangeShapeType="1" noTextEdit="1"/>
                </p:cNvSpPr>
                <p:nvPr/>
              </p:nvSpPr>
              <p:spPr>
                <a:xfrm>
                  <a:off x="-61893" y="3058565"/>
                  <a:ext cx="1719469" cy="369332"/>
                </a:xfrm>
                <a:prstGeom prst="rect">
                  <a:avLst/>
                </a:prstGeom>
                <a:blipFill>
                  <a:blip r:embed="rId3"/>
                  <a:stretch>
                    <a:fillRect b="-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61809CF8-723F-2448-9775-31D87AEBA6D1}"/>
                    </a:ext>
                  </a:extLst>
                </p:cNvPr>
                <p:cNvSpPr txBox="1"/>
                <p:nvPr/>
              </p:nvSpPr>
              <p:spPr>
                <a:xfrm>
                  <a:off x="3699589" y="3052540"/>
                  <a:ext cx="10108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0,1,1,1</m:t>
                            </m:r>
                          </m:e>
                        </m:d>
                      </m:oMath>
                    </m:oMathPara>
                  </a14:m>
                  <a:endParaRPr kumimoji="1" lang="zh-TW" altLang="en-US" dirty="0"/>
                </a:p>
              </p:txBody>
            </p:sp>
          </mc:Choice>
          <mc:Fallback xmlns="">
            <p:sp>
              <p:nvSpPr>
                <p:cNvPr id="41" name="文字方塊 40">
                  <a:extLst>
                    <a:ext uri="{FF2B5EF4-FFF2-40B4-BE49-F238E27FC236}">
                      <a16:creationId xmlns:a16="http://schemas.microsoft.com/office/drawing/2014/main" id="{61809CF8-723F-2448-9775-31D87AEBA6D1}"/>
                    </a:ext>
                  </a:extLst>
                </p:cNvPr>
                <p:cNvSpPr txBox="1">
                  <a:spLocks noRot="1" noChangeAspect="1" noMove="1" noResize="1" noEditPoints="1" noAdjustHandles="1" noChangeArrowheads="1" noChangeShapeType="1" noTextEdit="1"/>
                </p:cNvSpPr>
                <p:nvPr/>
              </p:nvSpPr>
              <p:spPr>
                <a:xfrm>
                  <a:off x="3699589" y="3052540"/>
                  <a:ext cx="1010895" cy="369332"/>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FD47B38C-71D0-E649-A109-7119F18D1D92}"/>
                    </a:ext>
                  </a:extLst>
                </p:cNvPr>
                <p:cNvSpPr txBox="1"/>
                <p:nvPr/>
              </p:nvSpPr>
              <p:spPr>
                <a:xfrm>
                  <a:off x="2773361" y="3052540"/>
                  <a:ext cx="10108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1,1,1,1</m:t>
                            </m:r>
                          </m:e>
                        </m:d>
                      </m:oMath>
                    </m:oMathPara>
                  </a14:m>
                  <a:endParaRPr kumimoji="1" lang="zh-TW" altLang="en-US" dirty="0"/>
                </a:p>
              </p:txBody>
            </p:sp>
          </mc:Choice>
          <mc:Fallback xmlns="">
            <p:sp>
              <p:nvSpPr>
                <p:cNvPr id="42" name="文字方塊 41">
                  <a:extLst>
                    <a:ext uri="{FF2B5EF4-FFF2-40B4-BE49-F238E27FC236}">
                      <a16:creationId xmlns:a16="http://schemas.microsoft.com/office/drawing/2014/main" id="{FD47B38C-71D0-E649-A109-7119F18D1D92}"/>
                    </a:ext>
                  </a:extLst>
                </p:cNvPr>
                <p:cNvSpPr txBox="1">
                  <a:spLocks noRot="1" noChangeAspect="1" noMove="1" noResize="1" noEditPoints="1" noAdjustHandles="1" noChangeArrowheads="1" noChangeShapeType="1" noTextEdit="1"/>
                </p:cNvSpPr>
                <p:nvPr/>
              </p:nvSpPr>
              <p:spPr>
                <a:xfrm>
                  <a:off x="2773361" y="3052540"/>
                  <a:ext cx="1010895" cy="369332"/>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E576212C-9978-0A4C-9F47-5416834DCD67}"/>
                    </a:ext>
                  </a:extLst>
                </p:cNvPr>
                <p:cNvSpPr txBox="1"/>
                <p:nvPr/>
              </p:nvSpPr>
              <p:spPr>
                <a:xfrm>
                  <a:off x="4626232" y="3052540"/>
                  <a:ext cx="10108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1,0,1,1</m:t>
                            </m:r>
                          </m:e>
                        </m:d>
                      </m:oMath>
                    </m:oMathPara>
                  </a14:m>
                  <a:endParaRPr kumimoji="1" lang="zh-TW" altLang="en-US" dirty="0"/>
                </a:p>
              </p:txBody>
            </p:sp>
          </mc:Choice>
          <mc:Fallback xmlns="">
            <p:sp>
              <p:nvSpPr>
                <p:cNvPr id="43" name="文字方塊 42">
                  <a:extLst>
                    <a:ext uri="{FF2B5EF4-FFF2-40B4-BE49-F238E27FC236}">
                      <a16:creationId xmlns:a16="http://schemas.microsoft.com/office/drawing/2014/main" id="{E576212C-9978-0A4C-9F47-5416834DCD67}"/>
                    </a:ext>
                  </a:extLst>
                </p:cNvPr>
                <p:cNvSpPr txBox="1">
                  <a:spLocks noRot="1" noChangeAspect="1" noMove="1" noResize="1" noEditPoints="1" noAdjustHandles="1" noChangeArrowheads="1" noChangeShapeType="1" noTextEdit="1"/>
                </p:cNvSpPr>
                <p:nvPr/>
              </p:nvSpPr>
              <p:spPr>
                <a:xfrm>
                  <a:off x="4626232" y="3052540"/>
                  <a:ext cx="1010895" cy="369332"/>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文字方塊 43">
                  <a:extLst>
                    <a:ext uri="{FF2B5EF4-FFF2-40B4-BE49-F238E27FC236}">
                      <a16:creationId xmlns:a16="http://schemas.microsoft.com/office/drawing/2014/main" id="{5410DA5A-4FFF-EF47-8A1F-E742D5097892}"/>
                    </a:ext>
                  </a:extLst>
                </p:cNvPr>
                <p:cNvSpPr txBox="1"/>
                <p:nvPr/>
              </p:nvSpPr>
              <p:spPr>
                <a:xfrm>
                  <a:off x="5562738" y="3052540"/>
                  <a:ext cx="10108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1,1,0,1</m:t>
                            </m:r>
                          </m:e>
                        </m:d>
                      </m:oMath>
                    </m:oMathPara>
                  </a14:m>
                  <a:endParaRPr kumimoji="1" lang="zh-TW" altLang="en-US" dirty="0"/>
                </a:p>
              </p:txBody>
            </p:sp>
          </mc:Choice>
          <mc:Fallback xmlns="">
            <p:sp>
              <p:nvSpPr>
                <p:cNvPr id="44" name="文字方塊 43">
                  <a:extLst>
                    <a:ext uri="{FF2B5EF4-FFF2-40B4-BE49-F238E27FC236}">
                      <a16:creationId xmlns:a16="http://schemas.microsoft.com/office/drawing/2014/main" id="{5410DA5A-4FFF-EF47-8A1F-E742D5097892}"/>
                    </a:ext>
                  </a:extLst>
                </p:cNvPr>
                <p:cNvSpPr txBox="1">
                  <a:spLocks noRot="1" noChangeAspect="1" noMove="1" noResize="1" noEditPoints="1" noAdjustHandles="1" noChangeArrowheads="1" noChangeShapeType="1" noTextEdit="1"/>
                </p:cNvSpPr>
                <p:nvPr/>
              </p:nvSpPr>
              <p:spPr>
                <a:xfrm>
                  <a:off x="5562738" y="3052540"/>
                  <a:ext cx="1010895" cy="369332"/>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文字方塊 44">
                  <a:extLst>
                    <a:ext uri="{FF2B5EF4-FFF2-40B4-BE49-F238E27FC236}">
                      <a16:creationId xmlns:a16="http://schemas.microsoft.com/office/drawing/2014/main" id="{48AF62C8-0989-3A4E-84D6-55B9E284A1F7}"/>
                    </a:ext>
                  </a:extLst>
                </p:cNvPr>
                <p:cNvSpPr txBox="1"/>
                <p:nvPr/>
              </p:nvSpPr>
              <p:spPr>
                <a:xfrm>
                  <a:off x="6496508" y="3052540"/>
                  <a:ext cx="10108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1,1,1,0</m:t>
                            </m:r>
                          </m:e>
                        </m:d>
                      </m:oMath>
                    </m:oMathPara>
                  </a14:m>
                  <a:endParaRPr kumimoji="1" lang="zh-TW" altLang="en-US" dirty="0"/>
                </a:p>
              </p:txBody>
            </p:sp>
          </mc:Choice>
          <mc:Fallback xmlns="">
            <p:sp>
              <p:nvSpPr>
                <p:cNvPr id="45" name="文字方塊 44">
                  <a:extLst>
                    <a:ext uri="{FF2B5EF4-FFF2-40B4-BE49-F238E27FC236}">
                      <a16:creationId xmlns:a16="http://schemas.microsoft.com/office/drawing/2014/main" id="{48AF62C8-0989-3A4E-84D6-55B9E284A1F7}"/>
                    </a:ext>
                  </a:extLst>
                </p:cNvPr>
                <p:cNvSpPr txBox="1">
                  <a:spLocks noRot="1" noChangeAspect="1" noMove="1" noResize="1" noEditPoints="1" noAdjustHandles="1" noChangeArrowheads="1" noChangeShapeType="1" noTextEdit="1"/>
                </p:cNvSpPr>
                <p:nvPr/>
              </p:nvSpPr>
              <p:spPr>
                <a:xfrm>
                  <a:off x="6496508" y="3052540"/>
                  <a:ext cx="1010895" cy="369332"/>
                </a:xfrm>
                <a:prstGeom prst="rect">
                  <a:avLst/>
                </a:prstGeom>
                <a:blipFill>
                  <a:blip r:embed="rId8"/>
                  <a:stretch>
                    <a:fillRect/>
                  </a:stretch>
                </a:blipFill>
              </p:spPr>
              <p:txBody>
                <a:bodyPr/>
                <a:lstStyle/>
                <a:p>
                  <a:r>
                    <a:rPr lang="zh-TW" altLang="en-US">
                      <a:noFill/>
                    </a:rPr>
                    <a:t> </a:t>
                  </a:r>
                </a:p>
              </p:txBody>
            </p:sp>
          </mc:Fallback>
        </mc:AlternateContent>
        <p:cxnSp>
          <p:nvCxnSpPr>
            <p:cNvPr id="47" name="直線接點 46">
              <a:extLst>
                <a:ext uri="{FF2B5EF4-FFF2-40B4-BE49-F238E27FC236}">
                  <a16:creationId xmlns:a16="http://schemas.microsoft.com/office/drawing/2014/main" id="{AF24E46A-9EDC-2E47-8B03-1E061B0D7091}"/>
                </a:ext>
              </a:extLst>
            </p:cNvPr>
            <p:cNvCxnSpPr>
              <a:cxnSpLocks/>
              <a:stCxn id="43" idx="0"/>
            </p:cNvCxnSpPr>
            <p:nvPr/>
          </p:nvCxnSpPr>
          <p:spPr>
            <a:xfrm flipV="1">
              <a:off x="5131680" y="2226365"/>
              <a:ext cx="5821" cy="826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線接點 47">
              <a:extLst>
                <a:ext uri="{FF2B5EF4-FFF2-40B4-BE49-F238E27FC236}">
                  <a16:creationId xmlns:a16="http://schemas.microsoft.com/office/drawing/2014/main" id="{AE2F6711-999C-1D40-B4F9-140CA228D6B1}"/>
                </a:ext>
              </a:extLst>
            </p:cNvPr>
            <p:cNvCxnSpPr>
              <a:cxnSpLocks/>
              <a:stCxn id="41" idx="0"/>
            </p:cNvCxnSpPr>
            <p:nvPr/>
          </p:nvCxnSpPr>
          <p:spPr>
            <a:xfrm flipV="1">
              <a:off x="4205037" y="2226365"/>
              <a:ext cx="936921" cy="826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線接點 51">
              <a:extLst>
                <a:ext uri="{FF2B5EF4-FFF2-40B4-BE49-F238E27FC236}">
                  <a16:creationId xmlns:a16="http://schemas.microsoft.com/office/drawing/2014/main" id="{ACE306F1-6040-1749-BE9F-C45444FA24B1}"/>
                </a:ext>
              </a:extLst>
            </p:cNvPr>
            <p:cNvCxnSpPr>
              <a:cxnSpLocks/>
              <a:stCxn id="42" idx="0"/>
            </p:cNvCxnSpPr>
            <p:nvPr/>
          </p:nvCxnSpPr>
          <p:spPr>
            <a:xfrm flipV="1">
              <a:off x="3278809" y="2222191"/>
              <a:ext cx="1863149" cy="8303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線接點 54">
              <a:extLst>
                <a:ext uri="{FF2B5EF4-FFF2-40B4-BE49-F238E27FC236}">
                  <a16:creationId xmlns:a16="http://schemas.microsoft.com/office/drawing/2014/main" id="{169230BA-FA0F-DD45-86F1-3A5CFBD9E10B}"/>
                </a:ext>
              </a:extLst>
            </p:cNvPr>
            <p:cNvCxnSpPr>
              <a:cxnSpLocks/>
              <a:stCxn id="44" idx="0"/>
            </p:cNvCxnSpPr>
            <p:nvPr/>
          </p:nvCxnSpPr>
          <p:spPr>
            <a:xfrm flipH="1" flipV="1">
              <a:off x="5138806" y="2226365"/>
              <a:ext cx="929380" cy="826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線接點 57">
              <a:extLst>
                <a:ext uri="{FF2B5EF4-FFF2-40B4-BE49-F238E27FC236}">
                  <a16:creationId xmlns:a16="http://schemas.microsoft.com/office/drawing/2014/main" id="{1DEE0951-9B19-5742-89EE-BF7B1500977D}"/>
                </a:ext>
              </a:extLst>
            </p:cNvPr>
            <p:cNvCxnSpPr>
              <a:cxnSpLocks/>
              <a:stCxn id="45" idx="0"/>
            </p:cNvCxnSpPr>
            <p:nvPr/>
          </p:nvCxnSpPr>
          <p:spPr>
            <a:xfrm flipH="1" flipV="1">
              <a:off x="5138806" y="2226365"/>
              <a:ext cx="1863150" cy="826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文字方塊 60">
              <a:extLst>
                <a:ext uri="{FF2B5EF4-FFF2-40B4-BE49-F238E27FC236}">
                  <a16:creationId xmlns:a16="http://schemas.microsoft.com/office/drawing/2014/main" id="{1E81C3C6-5C34-474B-86F8-53D3DEC23F56}"/>
                </a:ext>
              </a:extLst>
            </p:cNvPr>
            <p:cNvSpPr txBox="1"/>
            <p:nvPr/>
          </p:nvSpPr>
          <p:spPr>
            <a:xfrm>
              <a:off x="1808603" y="2971421"/>
              <a:ext cx="967644" cy="523220"/>
            </a:xfrm>
            <a:prstGeom prst="rect">
              <a:avLst/>
            </a:prstGeom>
            <a:noFill/>
          </p:spPr>
          <p:txBody>
            <a:bodyPr wrap="square" rtlCol="0">
              <a:spAutoFit/>
            </a:bodyPr>
            <a:lstStyle/>
            <a:p>
              <a:pPr algn="ctr"/>
              <a:r>
                <a:rPr kumimoji="1" lang="en-US" altLang="zh-TW" sz="1400" dirty="0">
                  <a:latin typeface="Times New Roman" panose="02020603050405020304" pitchFamily="18" charset="0"/>
                  <a:cs typeface="Times New Roman" panose="02020603050405020304" pitchFamily="18" charset="0"/>
                </a:rPr>
                <a:t>other </a:t>
              </a:r>
            </a:p>
            <a:p>
              <a:pPr algn="ctr"/>
              <a:r>
                <a:rPr kumimoji="1" lang="en-US" altLang="zh-TW" sz="1400" dirty="0">
                  <a:latin typeface="Times New Roman" panose="02020603050405020304" pitchFamily="18" charset="0"/>
                  <a:cs typeface="Times New Roman" panose="02020603050405020304" pitchFamily="18" charset="0"/>
                </a:rPr>
                <a:t>solutions</a:t>
              </a:r>
              <a:endParaRPr kumimoji="1" lang="zh-TW" altLang="en-US" sz="1400" dirty="0">
                <a:latin typeface="Times New Roman" panose="02020603050405020304" pitchFamily="18" charset="0"/>
                <a:cs typeface="Times New Roman" panose="02020603050405020304" pitchFamily="18" charset="0"/>
              </a:endParaRPr>
            </a:p>
          </p:txBody>
        </p:sp>
        <p:cxnSp>
          <p:nvCxnSpPr>
            <p:cNvPr id="69" name="直線接點 68">
              <a:extLst>
                <a:ext uri="{FF2B5EF4-FFF2-40B4-BE49-F238E27FC236}">
                  <a16:creationId xmlns:a16="http://schemas.microsoft.com/office/drawing/2014/main" id="{1674DF19-76A5-694F-BD0D-3CEED8A37B7E}"/>
                </a:ext>
              </a:extLst>
            </p:cNvPr>
            <p:cNvCxnSpPr>
              <a:cxnSpLocks/>
              <a:stCxn id="61" idx="0"/>
            </p:cNvCxnSpPr>
            <p:nvPr/>
          </p:nvCxnSpPr>
          <p:spPr>
            <a:xfrm flipV="1">
              <a:off x="2292425" y="2222191"/>
              <a:ext cx="2845076" cy="7492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十字形 73">
              <a:extLst>
                <a:ext uri="{FF2B5EF4-FFF2-40B4-BE49-F238E27FC236}">
                  <a16:creationId xmlns:a16="http://schemas.microsoft.com/office/drawing/2014/main" id="{D36D95BA-7EA5-1246-9D80-F952128B98A9}"/>
                </a:ext>
              </a:extLst>
            </p:cNvPr>
            <p:cNvSpPr/>
            <p:nvPr/>
          </p:nvSpPr>
          <p:spPr>
            <a:xfrm rot="2711272">
              <a:off x="2726669" y="2736394"/>
              <a:ext cx="222912" cy="225651"/>
            </a:xfrm>
            <a:prstGeom prst="plus">
              <a:avLst>
                <a:gd name="adj" fmla="val 4327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6" name="文字方塊 75">
              <a:extLst>
                <a:ext uri="{FF2B5EF4-FFF2-40B4-BE49-F238E27FC236}">
                  <a16:creationId xmlns:a16="http://schemas.microsoft.com/office/drawing/2014/main" id="{CAF60F7E-A8DF-7F42-84EC-112183195C9A}"/>
                </a:ext>
              </a:extLst>
            </p:cNvPr>
            <p:cNvSpPr txBox="1"/>
            <p:nvPr/>
          </p:nvSpPr>
          <p:spPr>
            <a:xfrm>
              <a:off x="1690056" y="2274288"/>
              <a:ext cx="1628040" cy="523220"/>
            </a:xfrm>
            <a:prstGeom prst="rect">
              <a:avLst/>
            </a:prstGeom>
            <a:noFill/>
          </p:spPr>
          <p:txBody>
            <a:bodyPr wrap="square" rtlCol="0">
              <a:spAutoFit/>
            </a:bodyPr>
            <a:lstStyle/>
            <a:p>
              <a:pPr algn="ctr"/>
              <a:r>
                <a:rPr kumimoji="1" lang="en-US" altLang="zh-TW" sz="1400" dirty="0">
                  <a:solidFill>
                    <a:srgbClr val="FF0000"/>
                  </a:solidFill>
                  <a:latin typeface="Times New Roman" panose="02020603050405020304" pitchFamily="18" charset="0"/>
                  <a:cs typeface="Times New Roman" panose="02020603050405020304" pitchFamily="18" charset="0"/>
                </a:rPr>
                <a:t>violate constraint (7)</a:t>
              </a:r>
            </a:p>
            <a:p>
              <a:pPr algn="ctr"/>
              <a:r>
                <a:rPr kumimoji="1" lang="en-US" altLang="zh-TW" sz="1400" dirty="0">
                  <a:solidFill>
                    <a:srgbClr val="FF0000"/>
                  </a:solidFill>
                  <a:latin typeface="Times New Roman" panose="02020603050405020304" pitchFamily="18" charset="0"/>
                  <a:cs typeface="Times New Roman" panose="02020603050405020304" pitchFamily="18" charset="0"/>
                </a:rPr>
                <a:t>(weak connectivity)</a:t>
              </a:r>
              <a:endParaRPr kumimoji="1" lang="zh-TW" altLang="en-US" sz="1400"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7" name="文字方塊 76">
                  <a:extLst>
                    <a:ext uri="{FF2B5EF4-FFF2-40B4-BE49-F238E27FC236}">
                      <a16:creationId xmlns:a16="http://schemas.microsoft.com/office/drawing/2014/main" id="{6BA225F4-AE87-0244-9C6D-B9EE3DDC7C43}"/>
                    </a:ext>
                  </a:extLst>
                </p:cNvPr>
                <p:cNvSpPr txBox="1"/>
                <p:nvPr/>
              </p:nvSpPr>
              <p:spPr>
                <a:xfrm>
                  <a:off x="-61894" y="5095724"/>
                  <a:ext cx="171946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𝑥</m:t>
                            </m:r>
                            <m:r>
                              <a:rPr kumimoji="1" lang="en-US" altLang="zh-TW" i="1" baseline="-25000">
                                <a:latin typeface="Cambria Math" panose="02040503050406030204" pitchFamily="18" charset="0"/>
                                <a:ea typeface="Cambria Math" panose="02040503050406030204" pitchFamily="18" charset="0"/>
                                <a:cs typeface="Times New Roman" panose="02020603050405020304" pitchFamily="18" charset="0"/>
                              </a:rPr>
                              <m:t>01</m:t>
                            </m:r>
                            <m:r>
                              <a:rPr kumimoji="1" lang="en-US" altLang="zh-TW" b="0" i="0" smtClean="0">
                                <a:latin typeface="Cambria Math" panose="02040503050406030204" pitchFamily="18" charset="0"/>
                                <a:ea typeface="Cambria Math" panose="02040503050406030204" pitchFamily="18" charset="0"/>
                                <a:cs typeface="Times New Roman" panose="02020603050405020304" pitchFamily="18" charset="0"/>
                              </a:rPr>
                              <m:t>, </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𝑥</m:t>
                            </m:r>
                            <m:r>
                              <a:rPr kumimoji="1" lang="en-US" altLang="zh-TW" i="1" baseline="-25000">
                                <a:latin typeface="Cambria Math" panose="02040503050406030204" pitchFamily="18" charset="0"/>
                                <a:ea typeface="Cambria Math" panose="02040503050406030204" pitchFamily="18" charset="0"/>
                                <a:cs typeface="Times New Roman" panose="02020603050405020304" pitchFamily="18" charset="0"/>
                              </a:rPr>
                              <m:t>02</m:t>
                            </m:r>
                            <m:r>
                              <a:rPr kumimoji="1" lang="en-US" altLang="zh-TW" b="0" i="0"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𝑥</m:t>
                            </m:r>
                            <m:r>
                              <a:rPr kumimoji="1" lang="en-US" altLang="zh-TW" i="1" baseline="-25000">
                                <a:latin typeface="Cambria Math" panose="02040503050406030204" pitchFamily="18" charset="0"/>
                                <a:ea typeface="Cambria Math" panose="02040503050406030204" pitchFamily="18" charset="0"/>
                                <a:cs typeface="Times New Roman" panose="02020603050405020304" pitchFamily="18" charset="0"/>
                              </a:rPr>
                              <m:t>13</m:t>
                            </m:r>
                            <m:r>
                              <a:rPr kumimoji="1" lang="en-US" altLang="zh-TW" b="0" i="0"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𝑥</m:t>
                            </m:r>
                            <m:r>
                              <a:rPr kumimoji="1" lang="en-US" altLang="zh-TW" i="1" baseline="-25000">
                                <a:latin typeface="Cambria Math" panose="02040503050406030204" pitchFamily="18" charset="0"/>
                                <a:ea typeface="Cambria Math" panose="02040503050406030204" pitchFamily="18" charset="0"/>
                                <a:cs typeface="Times New Roman" panose="02020603050405020304" pitchFamily="18" charset="0"/>
                              </a:rPr>
                              <m:t>23</m:t>
                            </m:r>
                          </m:e>
                        </m:d>
                      </m:oMath>
                    </m:oMathPara>
                  </a14:m>
                  <a:endParaRPr kumimoji="1" lang="zh-TW" altLang="en-US" dirty="0"/>
                </a:p>
              </p:txBody>
            </p:sp>
          </mc:Choice>
          <mc:Fallback xmlns="">
            <p:sp>
              <p:nvSpPr>
                <p:cNvPr id="77" name="文字方塊 76">
                  <a:extLst>
                    <a:ext uri="{FF2B5EF4-FFF2-40B4-BE49-F238E27FC236}">
                      <a16:creationId xmlns:a16="http://schemas.microsoft.com/office/drawing/2014/main" id="{6BA225F4-AE87-0244-9C6D-B9EE3DDC7C43}"/>
                    </a:ext>
                  </a:extLst>
                </p:cNvPr>
                <p:cNvSpPr txBox="1">
                  <a:spLocks noRot="1" noChangeAspect="1" noMove="1" noResize="1" noEditPoints="1" noAdjustHandles="1" noChangeArrowheads="1" noChangeShapeType="1" noTextEdit="1"/>
                </p:cNvSpPr>
                <p:nvPr/>
              </p:nvSpPr>
              <p:spPr>
                <a:xfrm>
                  <a:off x="-61894" y="5095724"/>
                  <a:ext cx="1719469" cy="369332"/>
                </a:xfrm>
                <a:prstGeom prst="rect">
                  <a:avLst/>
                </a:prstGeom>
                <a:blipFill>
                  <a:blip r:embed="rId9"/>
                  <a:stretch>
                    <a:fillRect/>
                  </a:stretch>
                </a:blipFill>
              </p:spPr>
              <p:txBody>
                <a:bodyPr/>
                <a:lstStyle/>
                <a:p>
                  <a:r>
                    <a:rPr lang="zh-TW" altLang="en-US">
                      <a:noFill/>
                    </a:rPr>
                    <a:t> </a:t>
                  </a:r>
                </a:p>
              </p:txBody>
            </p:sp>
          </mc:Fallback>
        </mc:AlternateContent>
        <p:sp>
          <p:nvSpPr>
            <p:cNvPr id="80" name="文字方塊 79">
              <a:extLst>
                <a:ext uri="{FF2B5EF4-FFF2-40B4-BE49-F238E27FC236}">
                  <a16:creationId xmlns:a16="http://schemas.microsoft.com/office/drawing/2014/main" id="{8877CB0A-21FB-9442-8CE1-7F20670CE170}"/>
                </a:ext>
              </a:extLst>
            </p:cNvPr>
            <p:cNvSpPr txBox="1"/>
            <p:nvPr/>
          </p:nvSpPr>
          <p:spPr>
            <a:xfrm>
              <a:off x="142566" y="3959269"/>
              <a:ext cx="1604144" cy="523220"/>
            </a:xfrm>
            <a:prstGeom prst="rect">
              <a:avLst/>
            </a:prstGeom>
            <a:noFill/>
          </p:spPr>
          <p:txBody>
            <a:bodyPr wrap="square" rtlCol="0">
              <a:spAutoFit/>
            </a:bodyPr>
            <a:lstStyle/>
            <a:p>
              <a:pPr algn="ctr"/>
              <a:r>
                <a:rPr kumimoji="1" lang="en-US" altLang="zh-TW" sz="1400" dirty="0">
                  <a:latin typeface="Times New Roman" panose="02020603050405020304" pitchFamily="18" charset="0"/>
                  <a:cs typeface="Times New Roman" panose="02020603050405020304" pitchFamily="18" charset="0"/>
                </a:rPr>
                <a:t>based on constraint </a:t>
              </a:r>
            </a:p>
            <a:p>
              <a:pPr algn="ctr"/>
              <a:r>
                <a:rPr kumimoji="1" lang="en-US" altLang="zh-TW" sz="1400" dirty="0">
                  <a:latin typeface="Times New Roman" panose="02020603050405020304" pitchFamily="18" charset="0"/>
                  <a:cs typeface="Times New Roman" panose="02020603050405020304" pitchFamily="18" charset="0"/>
                </a:rPr>
                <a:t>(1) &amp; (2) &amp; (5)</a:t>
              </a:r>
            </a:p>
          </p:txBody>
        </p:sp>
        <p:sp>
          <p:nvSpPr>
            <p:cNvPr id="81" name="文字方塊 80">
              <a:extLst>
                <a:ext uri="{FF2B5EF4-FFF2-40B4-BE49-F238E27FC236}">
                  <a16:creationId xmlns:a16="http://schemas.microsoft.com/office/drawing/2014/main" id="{90F58BFC-5D0B-804D-8FB3-DEB769A90DAA}"/>
                </a:ext>
              </a:extLst>
            </p:cNvPr>
            <p:cNvSpPr txBox="1"/>
            <p:nvPr/>
          </p:nvSpPr>
          <p:spPr>
            <a:xfrm>
              <a:off x="139451" y="2233978"/>
              <a:ext cx="1518124" cy="523220"/>
            </a:xfrm>
            <a:prstGeom prst="rect">
              <a:avLst/>
            </a:prstGeom>
            <a:noFill/>
          </p:spPr>
          <p:txBody>
            <a:bodyPr wrap="square" rtlCol="0">
              <a:spAutoFit/>
            </a:bodyPr>
            <a:lstStyle/>
            <a:p>
              <a:pPr algn="ctr"/>
              <a:r>
                <a:rPr kumimoji="1" lang="en-US" altLang="zh-TW" sz="1400" dirty="0">
                  <a:latin typeface="Times New Roman" panose="02020603050405020304" pitchFamily="18" charset="0"/>
                  <a:cs typeface="Times New Roman" panose="02020603050405020304" pitchFamily="18" charset="0"/>
                </a:rPr>
                <a:t>based on constraint (6) &amp; (7)</a:t>
              </a:r>
            </a:p>
          </p:txBody>
        </p:sp>
        <p:cxnSp>
          <p:nvCxnSpPr>
            <p:cNvPr id="82" name="直線接點 81">
              <a:extLst>
                <a:ext uri="{FF2B5EF4-FFF2-40B4-BE49-F238E27FC236}">
                  <a16:creationId xmlns:a16="http://schemas.microsoft.com/office/drawing/2014/main" id="{DB507731-5F4E-C846-B1F3-CD736B7C54C2}"/>
                </a:ext>
              </a:extLst>
            </p:cNvPr>
            <p:cNvCxnSpPr>
              <a:cxnSpLocks/>
              <a:stCxn id="128" idx="0"/>
              <a:endCxn id="42" idx="2"/>
            </p:cNvCxnSpPr>
            <p:nvPr/>
          </p:nvCxnSpPr>
          <p:spPr>
            <a:xfrm flipV="1">
              <a:off x="3278809" y="3421872"/>
              <a:ext cx="0" cy="1671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十字形 84">
              <a:extLst>
                <a:ext uri="{FF2B5EF4-FFF2-40B4-BE49-F238E27FC236}">
                  <a16:creationId xmlns:a16="http://schemas.microsoft.com/office/drawing/2014/main" id="{055E2917-1412-704D-995D-B723294A1CA1}"/>
                </a:ext>
              </a:extLst>
            </p:cNvPr>
            <p:cNvSpPr/>
            <p:nvPr/>
          </p:nvSpPr>
          <p:spPr>
            <a:xfrm rot="2711272">
              <a:off x="3179162" y="4299893"/>
              <a:ext cx="222912" cy="225651"/>
            </a:xfrm>
            <a:prstGeom prst="plus">
              <a:avLst>
                <a:gd name="adj" fmla="val 4327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6" name="文字方塊 85">
              <a:extLst>
                <a:ext uri="{FF2B5EF4-FFF2-40B4-BE49-F238E27FC236}">
                  <a16:creationId xmlns:a16="http://schemas.microsoft.com/office/drawing/2014/main" id="{9831FE7D-3A15-6A48-AE72-FA0149B1ED24}"/>
                </a:ext>
              </a:extLst>
            </p:cNvPr>
            <p:cNvSpPr txBox="1"/>
            <p:nvPr/>
          </p:nvSpPr>
          <p:spPr>
            <a:xfrm>
              <a:off x="2458566" y="4496667"/>
              <a:ext cx="1127774" cy="523220"/>
            </a:xfrm>
            <a:prstGeom prst="rect">
              <a:avLst/>
            </a:prstGeom>
            <a:noFill/>
          </p:spPr>
          <p:txBody>
            <a:bodyPr wrap="square" rtlCol="0">
              <a:spAutoFit/>
            </a:bodyPr>
            <a:lstStyle/>
            <a:p>
              <a:pPr algn="ctr"/>
              <a:r>
                <a:rPr kumimoji="1" lang="en-US" altLang="zh-TW" sz="1400" dirty="0">
                  <a:solidFill>
                    <a:srgbClr val="FF0000"/>
                  </a:solidFill>
                  <a:latin typeface="Times New Roman" panose="02020603050405020304" pitchFamily="18" charset="0"/>
                  <a:cs typeface="Times New Roman" panose="02020603050405020304" pitchFamily="18" charset="0"/>
                </a:rPr>
                <a:t>violate </a:t>
              </a:r>
            </a:p>
            <a:p>
              <a:pPr algn="ctr"/>
              <a:r>
                <a:rPr kumimoji="1" lang="en-US" altLang="zh-TW" sz="1400" dirty="0">
                  <a:solidFill>
                    <a:srgbClr val="FF0000"/>
                  </a:solidFill>
                  <a:latin typeface="Times New Roman" panose="02020603050405020304" pitchFamily="18" charset="0"/>
                  <a:cs typeface="Times New Roman" panose="02020603050405020304" pitchFamily="18" charset="0"/>
                </a:rPr>
                <a:t>constraint (1)</a:t>
              </a:r>
            </a:p>
          </p:txBody>
        </p:sp>
        <p:cxnSp>
          <p:nvCxnSpPr>
            <p:cNvPr id="90" name="直線接點 89">
              <a:extLst>
                <a:ext uri="{FF2B5EF4-FFF2-40B4-BE49-F238E27FC236}">
                  <a16:creationId xmlns:a16="http://schemas.microsoft.com/office/drawing/2014/main" id="{E0AAD383-23AB-AB43-99F5-377403C0E676}"/>
                </a:ext>
              </a:extLst>
            </p:cNvPr>
            <p:cNvCxnSpPr>
              <a:cxnSpLocks/>
              <a:endCxn id="41" idx="2"/>
            </p:cNvCxnSpPr>
            <p:nvPr/>
          </p:nvCxnSpPr>
          <p:spPr>
            <a:xfrm flipH="1" flipV="1">
              <a:off x="4205037" y="3421872"/>
              <a:ext cx="7194" cy="1671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6" name="文字方塊 95">
                  <a:extLst>
                    <a:ext uri="{FF2B5EF4-FFF2-40B4-BE49-F238E27FC236}">
                      <a16:creationId xmlns:a16="http://schemas.microsoft.com/office/drawing/2014/main" id="{DCAA0798-B9CB-9C4E-BA22-8345E5573392}"/>
                    </a:ext>
                  </a:extLst>
                </p:cNvPr>
                <p:cNvSpPr txBox="1"/>
                <p:nvPr/>
              </p:nvSpPr>
              <p:spPr>
                <a:xfrm>
                  <a:off x="4626232" y="5096831"/>
                  <a:ext cx="10108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1,0,1,1</m:t>
                            </m:r>
                          </m:e>
                        </m:d>
                      </m:oMath>
                    </m:oMathPara>
                  </a14:m>
                  <a:endParaRPr kumimoji="1" lang="zh-TW" altLang="en-US" dirty="0"/>
                </a:p>
              </p:txBody>
            </p:sp>
          </mc:Choice>
          <mc:Fallback xmlns="">
            <p:sp>
              <p:nvSpPr>
                <p:cNvPr id="96" name="文字方塊 95">
                  <a:extLst>
                    <a:ext uri="{FF2B5EF4-FFF2-40B4-BE49-F238E27FC236}">
                      <a16:creationId xmlns:a16="http://schemas.microsoft.com/office/drawing/2014/main" id="{DCAA0798-B9CB-9C4E-BA22-8345E5573392}"/>
                    </a:ext>
                  </a:extLst>
                </p:cNvPr>
                <p:cNvSpPr txBox="1">
                  <a:spLocks noRot="1" noChangeAspect="1" noMove="1" noResize="1" noEditPoints="1" noAdjustHandles="1" noChangeArrowheads="1" noChangeShapeType="1" noTextEdit="1"/>
                </p:cNvSpPr>
                <p:nvPr/>
              </p:nvSpPr>
              <p:spPr>
                <a:xfrm>
                  <a:off x="4626232" y="5096831"/>
                  <a:ext cx="1010895" cy="369332"/>
                </a:xfrm>
                <a:prstGeom prst="rect">
                  <a:avLst/>
                </a:prstGeom>
                <a:blipFill>
                  <a:blip r:embed="rId11"/>
                  <a:stretch>
                    <a:fillRect/>
                  </a:stretch>
                </a:blipFill>
              </p:spPr>
              <p:txBody>
                <a:bodyPr/>
                <a:lstStyle/>
                <a:p>
                  <a:r>
                    <a:rPr lang="zh-TW" altLang="en-US">
                      <a:noFill/>
                    </a:rPr>
                    <a:t> </a:t>
                  </a:r>
                </a:p>
              </p:txBody>
            </p:sp>
          </mc:Fallback>
        </mc:AlternateContent>
        <p:cxnSp>
          <p:nvCxnSpPr>
            <p:cNvPr id="97" name="直線接點 96">
              <a:extLst>
                <a:ext uri="{FF2B5EF4-FFF2-40B4-BE49-F238E27FC236}">
                  <a16:creationId xmlns:a16="http://schemas.microsoft.com/office/drawing/2014/main" id="{707BE776-EA90-754C-AA4C-F9C4D74C829F}"/>
                </a:ext>
              </a:extLst>
            </p:cNvPr>
            <p:cNvCxnSpPr>
              <a:cxnSpLocks/>
              <a:stCxn id="96" idx="0"/>
              <a:endCxn id="43" idx="2"/>
            </p:cNvCxnSpPr>
            <p:nvPr/>
          </p:nvCxnSpPr>
          <p:spPr>
            <a:xfrm flipV="1">
              <a:off x="5131680" y="3421872"/>
              <a:ext cx="0" cy="16749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文字方塊 99">
              <a:extLst>
                <a:ext uri="{FF2B5EF4-FFF2-40B4-BE49-F238E27FC236}">
                  <a16:creationId xmlns:a16="http://schemas.microsoft.com/office/drawing/2014/main" id="{521B87F6-4945-B942-806A-82CD2AC8428D}"/>
                </a:ext>
              </a:extLst>
            </p:cNvPr>
            <p:cNvSpPr txBox="1"/>
            <p:nvPr/>
          </p:nvSpPr>
          <p:spPr>
            <a:xfrm>
              <a:off x="5562737" y="5093417"/>
              <a:ext cx="1010895" cy="523220"/>
            </a:xfrm>
            <a:prstGeom prst="rect">
              <a:avLst/>
            </a:prstGeom>
            <a:noFill/>
          </p:spPr>
          <p:txBody>
            <a:bodyPr wrap="square" rtlCol="0">
              <a:spAutoFit/>
            </a:bodyPr>
            <a:lstStyle/>
            <a:p>
              <a:pPr algn="ctr"/>
              <a:r>
                <a:rPr kumimoji="1" lang="en-US" altLang="zh-TW" sz="1400" dirty="0">
                  <a:latin typeface="Times New Roman" panose="02020603050405020304" pitchFamily="18" charset="0"/>
                  <a:cs typeface="Times New Roman" panose="02020603050405020304" pitchFamily="18" charset="0"/>
                </a:rPr>
                <a:t>all </a:t>
              </a:r>
            </a:p>
            <a:p>
              <a:pPr algn="ctr"/>
              <a:r>
                <a:rPr kumimoji="1" lang="en-US" altLang="zh-TW" sz="1400" dirty="0">
                  <a:latin typeface="Times New Roman" panose="02020603050405020304" pitchFamily="18" charset="0"/>
                  <a:cs typeface="Times New Roman" panose="02020603050405020304" pitchFamily="18" charset="0"/>
                </a:rPr>
                <a:t>solutions</a:t>
              </a:r>
              <a:endParaRPr kumimoji="1" lang="zh-TW" altLang="en-US" sz="1400" dirty="0">
                <a:latin typeface="Times New Roman" panose="02020603050405020304" pitchFamily="18" charset="0"/>
                <a:cs typeface="Times New Roman" panose="02020603050405020304" pitchFamily="18" charset="0"/>
              </a:endParaRPr>
            </a:p>
          </p:txBody>
        </p:sp>
        <p:cxnSp>
          <p:nvCxnSpPr>
            <p:cNvPr id="103" name="直線接點 102">
              <a:extLst>
                <a:ext uri="{FF2B5EF4-FFF2-40B4-BE49-F238E27FC236}">
                  <a16:creationId xmlns:a16="http://schemas.microsoft.com/office/drawing/2014/main" id="{B8D84B59-AF1D-2D4F-80DA-FD59A415BC3A}"/>
                </a:ext>
              </a:extLst>
            </p:cNvPr>
            <p:cNvCxnSpPr>
              <a:cxnSpLocks/>
              <a:stCxn id="100" idx="0"/>
              <a:endCxn id="44" idx="2"/>
            </p:cNvCxnSpPr>
            <p:nvPr/>
          </p:nvCxnSpPr>
          <p:spPr>
            <a:xfrm flipV="1">
              <a:off x="6068185" y="3421872"/>
              <a:ext cx="1" cy="1671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接點 105">
              <a:extLst>
                <a:ext uri="{FF2B5EF4-FFF2-40B4-BE49-F238E27FC236}">
                  <a16:creationId xmlns:a16="http://schemas.microsoft.com/office/drawing/2014/main" id="{7777D7D6-F3A1-6441-95C7-7A7950470815}"/>
                </a:ext>
              </a:extLst>
            </p:cNvPr>
            <p:cNvCxnSpPr>
              <a:cxnSpLocks/>
              <a:endCxn id="45" idx="2"/>
            </p:cNvCxnSpPr>
            <p:nvPr/>
          </p:nvCxnSpPr>
          <p:spPr>
            <a:xfrm flipV="1">
              <a:off x="6999311" y="3421872"/>
              <a:ext cx="2645" cy="1671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十字形 115">
              <a:extLst>
                <a:ext uri="{FF2B5EF4-FFF2-40B4-BE49-F238E27FC236}">
                  <a16:creationId xmlns:a16="http://schemas.microsoft.com/office/drawing/2014/main" id="{0E507D43-27AA-F24F-B83D-C9FE86C5966B}"/>
                </a:ext>
              </a:extLst>
            </p:cNvPr>
            <p:cNvSpPr/>
            <p:nvPr/>
          </p:nvSpPr>
          <p:spPr>
            <a:xfrm rot="2711272">
              <a:off x="5964231" y="4291044"/>
              <a:ext cx="222912" cy="225651"/>
            </a:xfrm>
            <a:prstGeom prst="plus">
              <a:avLst>
                <a:gd name="adj" fmla="val 4327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8" name="文字方塊 117">
              <a:extLst>
                <a:ext uri="{FF2B5EF4-FFF2-40B4-BE49-F238E27FC236}">
                  <a16:creationId xmlns:a16="http://schemas.microsoft.com/office/drawing/2014/main" id="{369C795E-42B2-C54F-AE47-A5C13CDB49E3}"/>
                </a:ext>
              </a:extLst>
            </p:cNvPr>
            <p:cNvSpPr txBox="1"/>
            <p:nvPr/>
          </p:nvSpPr>
          <p:spPr>
            <a:xfrm>
              <a:off x="5241703" y="4498348"/>
              <a:ext cx="1127774" cy="523220"/>
            </a:xfrm>
            <a:prstGeom prst="rect">
              <a:avLst/>
            </a:prstGeom>
            <a:noFill/>
          </p:spPr>
          <p:txBody>
            <a:bodyPr wrap="square" rtlCol="0">
              <a:spAutoFit/>
            </a:bodyPr>
            <a:lstStyle/>
            <a:p>
              <a:pPr algn="ctr"/>
              <a:r>
                <a:rPr kumimoji="1" lang="en-US" altLang="zh-TW" sz="1400" dirty="0">
                  <a:solidFill>
                    <a:srgbClr val="FF0000"/>
                  </a:solidFill>
                  <a:latin typeface="Times New Roman" panose="02020603050405020304" pitchFamily="18" charset="0"/>
                  <a:cs typeface="Times New Roman" panose="02020603050405020304" pitchFamily="18" charset="0"/>
                </a:rPr>
                <a:t>violate </a:t>
              </a:r>
            </a:p>
            <a:p>
              <a:pPr algn="ctr"/>
              <a:r>
                <a:rPr kumimoji="1" lang="en-US" altLang="zh-TW" sz="1400" dirty="0">
                  <a:solidFill>
                    <a:srgbClr val="FF0000"/>
                  </a:solidFill>
                  <a:latin typeface="Times New Roman" panose="02020603050405020304" pitchFamily="18" charset="0"/>
                  <a:cs typeface="Times New Roman" panose="02020603050405020304" pitchFamily="18" charset="0"/>
                </a:rPr>
                <a:t>constraint (1)</a:t>
              </a:r>
            </a:p>
          </p:txBody>
        </p:sp>
        <p:sp>
          <p:nvSpPr>
            <p:cNvPr id="128" name="文字方塊 127">
              <a:extLst>
                <a:ext uri="{FF2B5EF4-FFF2-40B4-BE49-F238E27FC236}">
                  <a16:creationId xmlns:a16="http://schemas.microsoft.com/office/drawing/2014/main" id="{65C52510-5605-2A40-B3F6-EC2B3D561BE4}"/>
                </a:ext>
              </a:extLst>
            </p:cNvPr>
            <p:cNvSpPr txBox="1"/>
            <p:nvPr/>
          </p:nvSpPr>
          <p:spPr>
            <a:xfrm>
              <a:off x="2773361" y="5093417"/>
              <a:ext cx="1010895" cy="523220"/>
            </a:xfrm>
            <a:prstGeom prst="rect">
              <a:avLst/>
            </a:prstGeom>
            <a:noFill/>
          </p:spPr>
          <p:txBody>
            <a:bodyPr wrap="square" rtlCol="0">
              <a:spAutoFit/>
            </a:bodyPr>
            <a:lstStyle/>
            <a:p>
              <a:pPr algn="ctr"/>
              <a:r>
                <a:rPr kumimoji="1" lang="en-US" altLang="zh-TW" sz="1400" dirty="0">
                  <a:latin typeface="Times New Roman" panose="02020603050405020304" pitchFamily="18" charset="0"/>
                  <a:cs typeface="Times New Roman" panose="02020603050405020304" pitchFamily="18" charset="0"/>
                </a:rPr>
                <a:t>all solutions</a:t>
              </a:r>
              <a:endParaRPr kumimoji="1" lang="zh-TW" altLang="en-US" sz="1400" dirty="0">
                <a:latin typeface="Times New Roman" panose="02020603050405020304" pitchFamily="18" charset="0"/>
                <a:cs typeface="Times New Roman" panose="02020603050405020304" pitchFamily="18" charset="0"/>
              </a:endParaRPr>
            </a:p>
          </p:txBody>
        </p:sp>
        <p:sp>
          <p:nvSpPr>
            <p:cNvPr id="131" name="文字方塊 130">
              <a:extLst>
                <a:ext uri="{FF2B5EF4-FFF2-40B4-BE49-F238E27FC236}">
                  <a16:creationId xmlns:a16="http://schemas.microsoft.com/office/drawing/2014/main" id="{FA786990-BD05-0F43-814A-153E0D20950C}"/>
                </a:ext>
              </a:extLst>
            </p:cNvPr>
            <p:cNvSpPr txBox="1"/>
            <p:nvPr/>
          </p:nvSpPr>
          <p:spPr>
            <a:xfrm>
              <a:off x="4573003" y="5389219"/>
              <a:ext cx="1127774" cy="523220"/>
            </a:xfrm>
            <a:prstGeom prst="rect">
              <a:avLst/>
            </a:prstGeom>
            <a:noFill/>
          </p:spPr>
          <p:txBody>
            <a:bodyPr wrap="square" rtlCol="0">
              <a:spAutoFit/>
            </a:bodyPr>
            <a:lstStyle/>
            <a:p>
              <a:pPr algn="ctr"/>
              <a:r>
                <a:rPr kumimoji="1" lang="en-US" altLang="zh-TW" sz="1400" dirty="0">
                  <a:solidFill>
                    <a:srgbClr val="00B050"/>
                  </a:solidFill>
                  <a:latin typeface="Times New Roman" panose="02020603050405020304" pitchFamily="18" charset="0"/>
                  <a:cs typeface="Times New Roman" panose="02020603050405020304" pitchFamily="18" charset="0"/>
                </a:rPr>
                <a:t>feasible solution</a:t>
              </a:r>
            </a:p>
          </p:txBody>
        </p:sp>
      </p:grpSp>
      <p:sp>
        <p:nvSpPr>
          <p:cNvPr id="62" name="十字形 61">
            <a:extLst>
              <a:ext uri="{FF2B5EF4-FFF2-40B4-BE49-F238E27FC236}">
                <a16:creationId xmlns:a16="http://schemas.microsoft.com/office/drawing/2014/main" id="{6F104436-FBEC-A345-BE25-4626CD10524D}"/>
              </a:ext>
            </a:extLst>
          </p:cNvPr>
          <p:cNvSpPr/>
          <p:nvPr/>
        </p:nvSpPr>
        <p:spPr>
          <a:xfrm rot="2711272">
            <a:off x="6900736" y="4299895"/>
            <a:ext cx="222912" cy="225651"/>
          </a:xfrm>
          <a:prstGeom prst="plus">
            <a:avLst>
              <a:gd name="adj" fmla="val 4327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3" name="文字方塊 62">
            <a:extLst>
              <a:ext uri="{FF2B5EF4-FFF2-40B4-BE49-F238E27FC236}">
                <a16:creationId xmlns:a16="http://schemas.microsoft.com/office/drawing/2014/main" id="{D4085CA0-A270-D149-8AAE-156116614DE6}"/>
              </a:ext>
            </a:extLst>
          </p:cNvPr>
          <p:cNvSpPr txBox="1"/>
          <p:nvPr/>
        </p:nvSpPr>
        <p:spPr>
          <a:xfrm>
            <a:off x="6342934" y="4498347"/>
            <a:ext cx="1127774" cy="523220"/>
          </a:xfrm>
          <a:prstGeom prst="rect">
            <a:avLst/>
          </a:prstGeom>
          <a:noFill/>
        </p:spPr>
        <p:txBody>
          <a:bodyPr wrap="square" rtlCol="0">
            <a:spAutoFit/>
          </a:bodyPr>
          <a:lstStyle/>
          <a:p>
            <a:pPr algn="ctr"/>
            <a:r>
              <a:rPr kumimoji="1" lang="en-US" altLang="zh-TW" sz="1400" dirty="0">
                <a:solidFill>
                  <a:srgbClr val="FF0000"/>
                </a:solidFill>
                <a:latin typeface="Times New Roman" panose="02020603050405020304" pitchFamily="18" charset="0"/>
                <a:cs typeface="Times New Roman" panose="02020603050405020304" pitchFamily="18" charset="0"/>
              </a:rPr>
              <a:t>violate </a:t>
            </a:r>
          </a:p>
          <a:p>
            <a:pPr algn="ctr"/>
            <a:r>
              <a:rPr kumimoji="1" lang="en-US" altLang="zh-TW" sz="1400" dirty="0">
                <a:solidFill>
                  <a:srgbClr val="FF0000"/>
                </a:solidFill>
                <a:latin typeface="Times New Roman" panose="02020603050405020304" pitchFamily="18" charset="0"/>
                <a:cs typeface="Times New Roman" panose="02020603050405020304" pitchFamily="18" charset="0"/>
              </a:rPr>
              <a:t>constraint (1)</a:t>
            </a:r>
          </a:p>
        </p:txBody>
      </p:sp>
      <p:sp>
        <p:nvSpPr>
          <p:cNvPr id="64" name="十字形 63">
            <a:extLst>
              <a:ext uri="{FF2B5EF4-FFF2-40B4-BE49-F238E27FC236}">
                <a16:creationId xmlns:a16="http://schemas.microsoft.com/office/drawing/2014/main" id="{BC2032B5-0524-6F47-A918-5BAF3A3B8707}"/>
              </a:ext>
            </a:extLst>
          </p:cNvPr>
          <p:cNvSpPr/>
          <p:nvPr/>
        </p:nvSpPr>
        <p:spPr>
          <a:xfrm rot="2711272">
            <a:off x="4111360" y="4302565"/>
            <a:ext cx="222912" cy="225651"/>
          </a:xfrm>
          <a:prstGeom prst="plus">
            <a:avLst>
              <a:gd name="adj" fmla="val 4327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5" name="文字方塊 64">
            <a:extLst>
              <a:ext uri="{FF2B5EF4-FFF2-40B4-BE49-F238E27FC236}">
                <a16:creationId xmlns:a16="http://schemas.microsoft.com/office/drawing/2014/main" id="{CC431A74-5365-8046-85A8-CA64D76B4E94}"/>
              </a:ext>
            </a:extLst>
          </p:cNvPr>
          <p:cNvSpPr txBox="1"/>
          <p:nvPr/>
        </p:nvSpPr>
        <p:spPr>
          <a:xfrm>
            <a:off x="3553558" y="4501017"/>
            <a:ext cx="1127774" cy="523220"/>
          </a:xfrm>
          <a:prstGeom prst="rect">
            <a:avLst/>
          </a:prstGeom>
          <a:noFill/>
        </p:spPr>
        <p:txBody>
          <a:bodyPr wrap="square" rtlCol="0">
            <a:spAutoFit/>
          </a:bodyPr>
          <a:lstStyle/>
          <a:p>
            <a:pPr algn="ctr"/>
            <a:r>
              <a:rPr kumimoji="1" lang="en-US" altLang="zh-TW" sz="1400" dirty="0">
                <a:solidFill>
                  <a:srgbClr val="FF0000"/>
                </a:solidFill>
                <a:latin typeface="Times New Roman" panose="02020603050405020304" pitchFamily="18" charset="0"/>
                <a:cs typeface="Times New Roman" panose="02020603050405020304" pitchFamily="18" charset="0"/>
              </a:rPr>
              <a:t>violate </a:t>
            </a:r>
          </a:p>
          <a:p>
            <a:pPr algn="ctr"/>
            <a:r>
              <a:rPr kumimoji="1" lang="en-US" altLang="zh-TW" sz="1400" dirty="0">
                <a:solidFill>
                  <a:srgbClr val="FF0000"/>
                </a:solidFill>
                <a:latin typeface="Times New Roman" panose="02020603050405020304" pitchFamily="18" charset="0"/>
                <a:cs typeface="Times New Roman" panose="02020603050405020304" pitchFamily="18" charset="0"/>
              </a:rPr>
              <a:t>constraint (1)</a:t>
            </a:r>
          </a:p>
        </p:txBody>
      </p:sp>
      <p:sp>
        <p:nvSpPr>
          <p:cNvPr id="66" name="文字方塊 65">
            <a:extLst>
              <a:ext uri="{FF2B5EF4-FFF2-40B4-BE49-F238E27FC236}">
                <a16:creationId xmlns:a16="http://schemas.microsoft.com/office/drawing/2014/main" id="{33358496-1BFA-8E49-8284-29711BA6DA70}"/>
              </a:ext>
            </a:extLst>
          </p:cNvPr>
          <p:cNvSpPr txBox="1"/>
          <p:nvPr/>
        </p:nvSpPr>
        <p:spPr>
          <a:xfrm>
            <a:off x="3702367" y="5098040"/>
            <a:ext cx="1010895" cy="523220"/>
          </a:xfrm>
          <a:prstGeom prst="rect">
            <a:avLst/>
          </a:prstGeom>
          <a:noFill/>
        </p:spPr>
        <p:txBody>
          <a:bodyPr wrap="square" rtlCol="0">
            <a:spAutoFit/>
          </a:bodyPr>
          <a:lstStyle/>
          <a:p>
            <a:pPr algn="ctr"/>
            <a:r>
              <a:rPr kumimoji="1" lang="en-US" altLang="zh-TW" sz="1400" dirty="0">
                <a:latin typeface="Times New Roman" panose="02020603050405020304" pitchFamily="18" charset="0"/>
                <a:cs typeface="Times New Roman" panose="02020603050405020304" pitchFamily="18" charset="0"/>
              </a:rPr>
              <a:t>all solutions</a:t>
            </a:r>
            <a:endParaRPr kumimoji="1" lang="zh-TW" altLang="en-US" sz="1400" dirty="0">
              <a:latin typeface="Times New Roman" panose="02020603050405020304" pitchFamily="18" charset="0"/>
              <a:cs typeface="Times New Roman" panose="02020603050405020304" pitchFamily="18" charset="0"/>
            </a:endParaRPr>
          </a:p>
        </p:txBody>
      </p:sp>
      <p:sp>
        <p:nvSpPr>
          <p:cNvPr id="67" name="文字方塊 66">
            <a:extLst>
              <a:ext uri="{FF2B5EF4-FFF2-40B4-BE49-F238E27FC236}">
                <a16:creationId xmlns:a16="http://schemas.microsoft.com/office/drawing/2014/main" id="{79037CF1-175F-AB40-9A9F-DF5E91ED51AD}"/>
              </a:ext>
            </a:extLst>
          </p:cNvPr>
          <p:cNvSpPr txBox="1"/>
          <p:nvPr/>
        </p:nvSpPr>
        <p:spPr>
          <a:xfrm>
            <a:off x="6489981" y="5093417"/>
            <a:ext cx="1010895" cy="523220"/>
          </a:xfrm>
          <a:prstGeom prst="rect">
            <a:avLst/>
          </a:prstGeom>
          <a:noFill/>
        </p:spPr>
        <p:txBody>
          <a:bodyPr wrap="square" rtlCol="0">
            <a:spAutoFit/>
          </a:bodyPr>
          <a:lstStyle/>
          <a:p>
            <a:pPr algn="ctr"/>
            <a:r>
              <a:rPr kumimoji="1" lang="en-US" altLang="zh-TW" sz="1400" dirty="0">
                <a:latin typeface="Times New Roman" panose="02020603050405020304" pitchFamily="18" charset="0"/>
                <a:cs typeface="Times New Roman" panose="02020603050405020304" pitchFamily="18" charset="0"/>
              </a:rPr>
              <a:t>all solutions</a:t>
            </a:r>
            <a:endParaRPr kumimoji="1" lang="zh-TW" alt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7957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Puzzle Generator</a:t>
            </a:r>
            <a:endParaRPr kumimoji="1"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825625"/>
                <a:ext cx="9816101" cy="4351338"/>
              </a:xfrm>
            </p:spPr>
            <p:txBody>
              <a:bodyPr/>
              <a:lstStyle/>
              <a:p>
                <a:pPr marL="514350" indent="-514350">
                  <a:buFont typeface="+mj-lt"/>
                  <a:buAutoNum type="arabicPeriod"/>
                </a:pPr>
                <a:r>
                  <a:rPr kumimoji="1" lang="en-US" altLang="zh-TW" dirty="0">
                    <a:latin typeface="Times New Roman" panose="02020603050405020304" pitchFamily="18" charset="0"/>
                    <a:cs typeface="Times New Roman" panose="02020603050405020304" pitchFamily="18" charset="0"/>
                  </a:rPr>
                  <a:t>Randomly generate a spanning tree, n nodes and n – 1 edges. (All edges are vertical or horizontal, and no intersection.)</a:t>
                </a:r>
              </a:p>
              <a:p>
                <a:pPr marL="514350" indent="-514350">
                  <a:buFont typeface="+mj-lt"/>
                  <a:buAutoNum type="arabicPeriod"/>
                </a:pPr>
                <a:r>
                  <a:rPr kumimoji="1" lang="en-US" altLang="zh-TW" dirty="0">
                    <a:latin typeface="Times New Roman" panose="02020603050405020304" pitchFamily="18" charset="0"/>
                    <a:cs typeface="Times New Roman" panose="02020603050405020304" pitchFamily="18" charset="0"/>
                  </a:rPr>
                  <a:t>Create </a:t>
                </a:r>
                <a14:m>
                  <m:oMath xmlns:m="http://schemas.openxmlformats.org/officeDocument/2006/math">
                    <m:r>
                      <a:rPr kumimoji="1" lang="en-US" altLang="zh-TW" i="1" smtClean="0">
                        <a:latin typeface="Cambria Math" panose="02040503050406030204" pitchFamily="18" charset="0"/>
                        <a:ea typeface="Cambria Math" panose="02040503050406030204" pitchFamily="18" charset="0"/>
                        <a:cs typeface="Times New Roman" panose="02020603050405020304" pitchFamily="18" charset="0"/>
                      </a:rPr>
                      <m:t>𝛼</m:t>
                    </m:r>
                  </m:oMath>
                </a14:m>
                <a:r>
                  <a:rPr kumimoji="1" lang="en-US" altLang="zh-TW" dirty="0">
                    <a:latin typeface="Times New Roman" panose="02020603050405020304" pitchFamily="18" charset="0"/>
                    <a:cs typeface="Times New Roman" panose="02020603050405020304" pitchFamily="18" charset="0"/>
                  </a:rPr>
                  <a:t>n cycles by adding </a:t>
                </a:r>
                <a14:m>
                  <m:oMath xmlns:m="http://schemas.openxmlformats.org/officeDocument/2006/math">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𝛼</m:t>
                    </m:r>
                  </m:oMath>
                </a14:m>
                <a:r>
                  <a:rPr kumimoji="1" lang="en-US" altLang="zh-TW" dirty="0">
                    <a:latin typeface="Times New Roman" panose="02020603050405020304" pitchFamily="18" charset="0"/>
                    <a:cs typeface="Times New Roman" panose="02020603050405020304" pitchFamily="18" charset="0"/>
                  </a:rPr>
                  <a:t>n edges to graph, </a:t>
                </a:r>
                <a14:m>
                  <m:oMath xmlns:m="http://schemas.openxmlformats.org/officeDocument/2006/math">
                    <m:r>
                      <a:rPr kumimoji="1" lang="en-US" altLang="zh-TW" i="1">
                        <a:latin typeface="Cambria Math" panose="02040503050406030204" pitchFamily="18" charset="0"/>
                        <a:ea typeface="Cambria Math" panose="02040503050406030204" pitchFamily="18" charset="0"/>
                        <a:cs typeface="Times New Roman" panose="02020603050405020304" pitchFamily="18" charset="0"/>
                      </a:rPr>
                      <m:t>𝛼</m:t>
                    </m:r>
                    <m:r>
                      <a:rPr kumimoji="1"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ea typeface="Cambria Math" panose="02040503050406030204" pitchFamily="18" charset="0"/>
                        <a:cs typeface="Times New Roman" panose="02020603050405020304" pitchFamily="18" charset="0"/>
                      </a:rPr>
                      <m:t>[0, 1]</m:t>
                    </m:r>
                  </m:oMath>
                </a14:m>
                <a:r>
                  <a:rPr kumimoji="1" lang="en-US" altLang="zh-TW" dirty="0">
                    <a:latin typeface="Times New Roman" panose="02020603050405020304" pitchFamily="18" charset="0"/>
                    <a:cs typeface="Times New Roman" panose="02020603050405020304" pitchFamily="18" charset="0"/>
                  </a:rPr>
                  <a:t>.</a:t>
                </a:r>
              </a:p>
              <a:p>
                <a:pPr marL="514350" indent="-514350">
                  <a:buFont typeface="+mj-lt"/>
                  <a:buAutoNum type="arabicPeriod"/>
                </a:pPr>
                <a:r>
                  <a:rPr kumimoji="1" lang="en-US" altLang="zh-TW" dirty="0">
                    <a:latin typeface="Times New Roman" panose="02020603050405020304" pitchFamily="18" charset="0"/>
                    <a:cs typeface="Times New Roman" panose="02020603050405020304" pitchFamily="18" charset="0"/>
                  </a:rPr>
                  <a:t>Transform every edge from single to double with probability </a:t>
                </a:r>
                <a14:m>
                  <m:oMath xmlns:m="http://schemas.openxmlformats.org/officeDocument/2006/math">
                    <m:r>
                      <a:rPr kumimoji="1" lang="en-US" altLang="zh-TW" i="1" smtClean="0">
                        <a:latin typeface="Cambria Math" panose="02040503050406030204" pitchFamily="18" charset="0"/>
                        <a:ea typeface="Cambria Math" panose="02040503050406030204" pitchFamily="18" charset="0"/>
                        <a:cs typeface="Times New Roman" panose="02020603050405020304" pitchFamily="18" charset="0"/>
                      </a:rPr>
                      <m:t>𝛽</m:t>
                    </m:r>
                  </m:oMath>
                </a14:m>
                <a:r>
                  <a:rPr kumimoji="1" lang="en-US" altLang="zh-TW" dirty="0">
                    <a:latin typeface="Times New Roman" panose="02020603050405020304" pitchFamily="18" charset="0"/>
                    <a:cs typeface="Times New Roman" panose="02020603050405020304" pitchFamily="18" charset="0"/>
                  </a:rPr>
                  <a:t>.</a:t>
                </a:r>
              </a:p>
              <a:p>
                <a:pPr marL="514350" indent="-514350">
                  <a:buFont typeface="+mj-lt"/>
                  <a:buAutoNum type="arabicPeriod"/>
                </a:pPr>
                <a:r>
                  <a:rPr kumimoji="1" lang="en-US" altLang="zh-TW" dirty="0">
                    <a:latin typeface="Times New Roman" panose="02020603050405020304" pitchFamily="18" charset="0"/>
                    <a:cs typeface="Times New Roman" panose="02020603050405020304" pitchFamily="18" charset="0"/>
                  </a:rPr>
                  <a:t>Set every node to its degree, and erase all edges.</a:t>
                </a:r>
                <a:endParaRPr kumimoji="1" lang="zh-TW" altLang="en-US"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FDBA7692-A0C6-5C4A-A230-F72A3B531FB3}"/>
                  </a:ext>
                </a:extLst>
              </p:cNvPr>
              <p:cNvSpPr>
                <a:spLocks noGrp="1" noRot="1" noChangeAspect="1" noMove="1" noResize="1" noEditPoints="1" noAdjustHandles="1" noChangeArrowheads="1" noChangeShapeType="1" noTextEdit="1"/>
              </p:cNvSpPr>
              <p:nvPr>
                <p:ph idx="1"/>
              </p:nvPr>
            </p:nvSpPr>
            <p:spPr>
              <a:xfrm>
                <a:off x="838200" y="1825625"/>
                <a:ext cx="9816101" cy="4351338"/>
              </a:xfrm>
              <a:blipFill>
                <a:blip r:embed="rId2"/>
                <a:stretch>
                  <a:fillRect l="-1034" t="-2632" r="-388"/>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8</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7441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Experiment</a:t>
            </a:r>
            <a:endParaRPr kumimoji="1"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board: {16x16 with 100 islands, 24x24 with 200 islands, 28x28 with 300 islands, 33x33 with 400 islands}</a:t>
                </a:r>
              </a:p>
              <a:p>
                <a14:m>
                  <m:oMath xmlns:m="http://schemas.openxmlformats.org/officeDocument/2006/math">
                    <m:r>
                      <a:rPr kumimoji="1" lang="zh-TW" altLang="en-US" i="1" smtClean="0">
                        <a:latin typeface="Cambria Math" panose="02040503050406030204" pitchFamily="18" charset="0"/>
                        <a:cs typeface="Times New Roman" panose="02020603050405020304" pitchFamily="18" charset="0"/>
                      </a:rPr>
                      <m:t>𝛼</m:t>
                    </m:r>
                    <m:r>
                      <a:rPr kumimoji="1" lang="zh-TW" altLang="en-US" i="1" smtClean="0">
                        <a:latin typeface="Cambria Math" panose="02040503050406030204" pitchFamily="18" charset="0"/>
                        <a:cs typeface="Times New Roman" panose="02020603050405020304" pitchFamily="18" charset="0"/>
                      </a:rPr>
                      <m:t>∈</m:t>
                    </m:r>
                    <m:d>
                      <m:dPr>
                        <m:begChr m:val="{"/>
                        <m:endChr m:val="}"/>
                        <m:ctrlPr>
                          <a:rPr kumimoji="1" lang="en-US" altLang="zh-TW" b="0" i="1" smtClean="0">
                            <a:latin typeface="Cambria Math" panose="02040503050406030204" pitchFamily="18" charset="0"/>
                            <a:cs typeface="Times New Roman" panose="02020603050405020304" pitchFamily="18" charset="0"/>
                          </a:rPr>
                        </m:ctrlPr>
                      </m:dPr>
                      <m:e>
                        <m:r>
                          <a:rPr kumimoji="1" lang="en-US" altLang="zh-TW" b="0" i="1" smtClean="0">
                            <a:latin typeface="Cambria Math" panose="02040503050406030204" pitchFamily="18" charset="0"/>
                            <a:cs typeface="Times New Roman" panose="02020603050405020304" pitchFamily="18" charset="0"/>
                          </a:rPr>
                          <m:t>0%, 5%, 10%, 15%</m:t>
                        </m:r>
                      </m:e>
                    </m:d>
                  </m:oMath>
                </a14:m>
                <a:endParaRPr kumimoji="1" lang="en-US" altLang="zh-TW" b="0" dirty="0">
                  <a:latin typeface="Times New Roman" panose="02020603050405020304" pitchFamily="18" charset="0"/>
                  <a:cs typeface="Times New Roman" panose="02020603050405020304" pitchFamily="18" charset="0"/>
                </a:endParaRPr>
              </a:p>
              <a:p>
                <a14:m>
                  <m:oMath xmlns:m="http://schemas.openxmlformats.org/officeDocument/2006/math">
                    <m:r>
                      <a:rPr kumimoji="1" lang="zh-TW" altLang="en-US" i="1" smtClean="0">
                        <a:latin typeface="Cambria Math" panose="02040503050406030204" pitchFamily="18" charset="0"/>
                        <a:cs typeface="Times New Roman" panose="02020603050405020304" pitchFamily="18" charset="0"/>
                      </a:rPr>
                      <m:t>𝛽</m:t>
                    </m:r>
                    <m:r>
                      <a:rPr kumimoji="1" lang="zh-TW" altLang="en-US" i="1">
                        <a:latin typeface="Cambria Math" panose="02040503050406030204" pitchFamily="18" charset="0"/>
                        <a:cs typeface="Times New Roman" panose="02020603050405020304" pitchFamily="18" charset="0"/>
                      </a:rPr>
                      <m:t>∈</m:t>
                    </m:r>
                    <m:d>
                      <m:dPr>
                        <m:begChr m:val="{"/>
                        <m:endChr m:val="}"/>
                        <m:ctrlPr>
                          <a:rPr kumimoji="1" lang="en-US" altLang="zh-TW" i="1">
                            <a:latin typeface="Cambria Math" panose="02040503050406030204" pitchFamily="18" charset="0"/>
                            <a:cs typeface="Times New Roman" panose="02020603050405020304" pitchFamily="18" charset="0"/>
                          </a:rPr>
                        </m:ctrlPr>
                      </m:dPr>
                      <m:e>
                        <m:r>
                          <a:rPr kumimoji="1" lang="en-US" altLang="zh-TW" i="1">
                            <a:latin typeface="Cambria Math" panose="02040503050406030204" pitchFamily="18" charset="0"/>
                            <a:cs typeface="Times New Roman" panose="02020603050405020304" pitchFamily="18" charset="0"/>
                          </a:rPr>
                          <m:t>0</m:t>
                        </m:r>
                        <m:r>
                          <a:rPr kumimoji="1" lang="en-US" altLang="zh-TW" b="0" i="1" smtClean="0">
                            <a:latin typeface="Cambria Math" panose="02040503050406030204" pitchFamily="18" charset="0"/>
                            <a:cs typeface="Times New Roman" panose="02020603050405020304" pitchFamily="18" charset="0"/>
                          </a:rPr>
                          <m:t>.25, 0.5, 0.75</m:t>
                        </m:r>
                      </m:e>
                    </m:d>
                  </m:oMath>
                </a14:m>
                <a:endParaRPr kumimoji="1" lang="en-US" altLang="zh-TW" b="0"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30 puzzles for each combination (board, </a:t>
                </a:r>
                <a14:m>
                  <m:oMath xmlns:m="http://schemas.openxmlformats.org/officeDocument/2006/math">
                    <m:r>
                      <a:rPr kumimoji="1" lang="zh-TW" altLang="en-US" i="1">
                        <a:latin typeface="Cambria Math" panose="02040503050406030204" pitchFamily="18" charset="0"/>
                        <a:cs typeface="Times New Roman" panose="02020603050405020304" pitchFamily="18" charset="0"/>
                      </a:rPr>
                      <m:t>𝛼</m:t>
                    </m:r>
                  </m:oMath>
                </a14:m>
                <a:r>
                  <a:rPr kumimoji="1" lang="en-US" altLang="zh-TW" dirty="0">
                    <a:latin typeface="Times New Roman" panose="02020603050405020304" pitchFamily="18" charset="0"/>
                    <a:cs typeface="Times New Roman" panose="02020603050405020304" pitchFamily="18" charset="0"/>
                  </a:rPr>
                  <a:t>, </a:t>
                </a:r>
                <a14:m>
                  <m:oMath xmlns:m="http://schemas.openxmlformats.org/officeDocument/2006/math">
                    <m:r>
                      <a:rPr kumimoji="1" lang="zh-TW" altLang="en-US" i="1">
                        <a:latin typeface="Cambria Math" panose="02040503050406030204" pitchFamily="18" charset="0"/>
                        <a:cs typeface="Times New Roman" panose="02020603050405020304" pitchFamily="18" charset="0"/>
                      </a:rPr>
                      <m:t>𝛽</m:t>
                    </m:r>
                  </m:oMath>
                </a14:m>
                <a:r>
                  <a:rPr kumimoji="1" lang="en-US" altLang="zh-TW" dirty="0">
                    <a:latin typeface="Times New Roman" panose="02020603050405020304" pitchFamily="18" charset="0"/>
                    <a:cs typeface="Times New Roman" panose="02020603050405020304" pitchFamily="18" charset="0"/>
                  </a:rPr>
                  <a:t>)</a:t>
                </a:r>
              </a:p>
              <a:p>
                <a:r>
                  <a:rPr kumimoji="1" lang="en-US" altLang="zh-TW" dirty="0">
                    <a:latin typeface="Times New Roman" panose="02020603050405020304" pitchFamily="18" charset="0"/>
                    <a:cs typeface="Times New Roman" panose="02020603050405020304" pitchFamily="18" charset="0"/>
                  </a:rPr>
                  <a:t>comparison between with and without weak connectivity</a:t>
                </a:r>
              </a:p>
              <a:p>
                <a:pPr lvl="1"/>
                <a:r>
                  <a:rPr kumimoji="1" lang="en-US" altLang="zh-TW" dirty="0">
                    <a:latin typeface="Times New Roman" panose="02020603050405020304" pitchFamily="18" charset="0"/>
                    <a:cs typeface="Times New Roman" panose="02020603050405020304" pitchFamily="18" charset="0"/>
                  </a:rPr>
                  <a:t>weak connectivity: </a:t>
                </a:r>
                <a14:m>
                  <m:oMath xmlns:m="http://schemas.openxmlformats.org/officeDocument/2006/math">
                    <m:nary>
                      <m:naryPr>
                        <m:chr m:val="∑"/>
                        <m:supHide m:val="on"/>
                        <m:ctrlPr>
                          <a:rPr kumimoji="1" lang="en-US" altLang="zh-TW" i="1" smtClean="0">
                            <a:solidFill>
                              <a:schemeClr val="tx1"/>
                            </a:solidFill>
                            <a:latin typeface="Cambria Math" panose="02040503050406030204" pitchFamily="18" charset="0"/>
                            <a:cs typeface="Times New Roman" panose="02020603050405020304" pitchFamily="18" charset="0"/>
                          </a:rPr>
                        </m:ctrlPr>
                      </m:naryPr>
                      <m:sub>
                        <m:r>
                          <a:rPr kumimoji="1" lang="en-US" altLang="zh-TW" i="1">
                            <a:solidFill>
                              <a:schemeClr val="tx1"/>
                            </a:solidFill>
                            <a:latin typeface="Cambria Math" panose="02040503050406030204" pitchFamily="18" charset="0"/>
                            <a:cs typeface="Times New Roman" panose="02020603050405020304" pitchFamily="18" charset="0"/>
                          </a:rPr>
                          <m:t>(</m:t>
                        </m:r>
                        <m:r>
                          <a:rPr kumimoji="1" lang="en-US" altLang="zh-TW" i="1">
                            <a:solidFill>
                              <a:schemeClr val="tx1"/>
                            </a:solidFill>
                            <a:latin typeface="Cambria Math" panose="02040503050406030204" pitchFamily="18" charset="0"/>
                            <a:cs typeface="Times New Roman" panose="02020603050405020304" pitchFamily="18" charset="0"/>
                          </a:rPr>
                          <m:t>𝑖</m:t>
                        </m:r>
                        <m:r>
                          <a:rPr kumimoji="1" lang="en-US" altLang="zh-TW" i="1">
                            <a:solidFill>
                              <a:schemeClr val="tx1"/>
                            </a:solidFill>
                            <a:latin typeface="Cambria Math" panose="02040503050406030204" pitchFamily="18" charset="0"/>
                            <a:cs typeface="Times New Roman" panose="02020603050405020304" pitchFamily="18" charset="0"/>
                          </a:rPr>
                          <m:t>,</m:t>
                        </m:r>
                        <m:r>
                          <a:rPr kumimoji="1" lang="en-US" altLang="zh-TW" i="1">
                            <a:solidFill>
                              <a:schemeClr val="tx1"/>
                            </a:solidFill>
                            <a:latin typeface="Cambria Math" panose="02040503050406030204" pitchFamily="18" charset="0"/>
                            <a:cs typeface="Times New Roman" panose="02020603050405020304" pitchFamily="18" charset="0"/>
                          </a:rPr>
                          <m:t>𝑗</m:t>
                        </m:r>
                        <m:r>
                          <a:rPr kumimoji="1" lang="en-US" altLang="zh-TW" i="1">
                            <a:solidFill>
                              <a:schemeClr val="tx1"/>
                            </a:solidFill>
                            <a:latin typeface="Cambria Math" panose="02040503050406030204" pitchFamily="18" charset="0"/>
                            <a:cs typeface="Times New Roman" panose="02020603050405020304" pitchFamily="18" charset="0"/>
                          </a:rPr>
                          <m:t>)∈</m:t>
                        </m:r>
                        <m:r>
                          <a:rPr kumimoji="1" lang="en-US" altLang="zh-TW" b="0" i="1" smtClean="0">
                            <a:solidFill>
                              <a:schemeClr val="tx1"/>
                            </a:solidFill>
                            <a:latin typeface="Cambria Math" panose="02040503050406030204" pitchFamily="18" charset="0"/>
                            <a:cs typeface="Times New Roman" panose="02020603050405020304" pitchFamily="18" charset="0"/>
                          </a:rPr>
                          <m:t>𝐸</m:t>
                        </m:r>
                      </m:sub>
                      <m:sup/>
                      <m:e>
                        <m:r>
                          <a:rPr kumimoji="1" lang="en-US" altLang="zh-TW" i="1">
                            <a:solidFill>
                              <a:schemeClr val="tx1"/>
                            </a:solidFill>
                            <a:latin typeface="Cambria Math" panose="02040503050406030204" pitchFamily="18" charset="0"/>
                            <a:cs typeface="Times New Roman" panose="02020603050405020304" pitchFamily="18" charset="0"/>
                          </a:rPr>
                          <m:t> </m:t>
                        </m:r>
                        <m:r>
                          <a:rPr kumimoji="1" lang="en-US" altLang="zh-TW" i="1">
                            <a:solidFill>
                              <a:schemeClr val="tx1"/>
                            </a:solidFill>
                            <a:latin typeface="Cambria Math" panose="02040503050406030204" pitchFamily="18" charset="0"/>
                            <a:cs typeface="Times New Roman" panose="02020603050405020304" pitchFamily="18" charset="0"/>
                          </a:rPr>
                          <m:t>𝑦𝑖</m:t>
                        </m:r>
                        <m:r>
                          <a:rPr kumimoji="1" lang="en-US" altLang="zh-TW" i="1" baseline="-25000">
                            <a:solidFill>
                              <a:schemeClr val="tx1"/>
                            </a:solidFill>
                            <a:latin typeface="Cambria Math" panose="02040503050406030204" pitchFamily="18" charset="0"/>
                            <a:cs typeface="Times New Roman" panose="02020603050405020304" pitchFamily="18" charset="0"/>
                          </a:rPr>
                          <m:t>𝑗</m:t>
                        </m:r>
                      </m:e>
                    </m:nary>
                    <m:r>
                      <a:rPr kumimoji="1" lang="en-US" altLang="zh-TW" i="1" baseline="-25000">
                        <a:solidFill>
                          <a:schemeClr val="tx1"/>
                        </a:solidFill>
                        <a:latin typeface="Cambria Math" panose="02040503050406030204" pitchFamily="18" charset="0"/>
                        <a:cs typeface="Times New Roman" panose="02020603050405020304" pitchFamily="18" charset="0"/>
                      </a:rPr>
                      <m:t> </m:t>
                    </m:r>
                    <m:r>
                      <a:rPr kumimoji="1" lang="en-US" altLang="zh-TW"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kumimoji="1" lang="en-US" altLang="zh-TW"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𝑛</m:t>
                    </m:r>
                    <m:r>
                      <a:rPr kumimoji="1" lang="en-US" altLang="zh-TW"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−1</m:t>
                    </m:r>
                  </m:oMath>
                </a14:m>
                <a:endParaRPr kumimoji="1" lang="zh-TW" altLang="en-US" dirty="0">
                  <a:latin typeface="Times New Roman" panose="02020603050405020304" pitchFamily="18" charset="0"/>
                  <a:cs typeface="Times New Roman" panose="02020603050405020304" pitchFamily="18" charset="0"/>
                </a:endParaRPr>
              </a:p>
            </p:txBody>
          </p:sp>
        </mc:Choice>
        <mc:Fallback>
          <p:sp>
            <p:nvSpPr>
              <p:cNvPr id="3" name="內容版面配置區 2">
                <a:extLst>
                  <a:ext uri="{FF2B5EF4-FFF2-40B4-BE49-F238E27FC236}">
                    <a16:creationId xmlns:a16="http://schemas.microsoft.com/office/drawing/2014/main" id="{FDBA7692-A0C6-5C4A-A230-F72A3B531FB3}"/>
                  </a:ext>
                </a:extLst>
              </p:cNvPr>
              <p:cNvSpPr>
                <a:spLocks noGrp="1" noRot="1" noChangeAspect="1" noMove="1" noResize="1" noEditPoints="1" noAdjustHandles="1" noChangeArrowheads="1" noChangeShapeType="1" noTextEdit="1"/>
              </p:cNvSpPr>
              <p:nvPr>
                <p:ph idx="1"/>
              </p:nvPr>
            </p:nvSpPr>
            <p:spPr>
              <a:blipFill>
                <a:blip r:embed="rId2"/>
                <a:stretch>
                  <a:fillRect l="-965" t="-2632"/>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9</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1400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10</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45C40BF4-BFB6-8442-9B4E-BACD4DF906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48" y="1661791"/>
            <a:ext cx="6123398" cy="3507707"/>
          </a:xfrm>
          <a:prstGeom prst="rect">
            <a:avLst/>
          </a:prstGeom>
        </p:spPr>
      </p:pic>
      <p:pic>
        <p:nvPicPr>
          <p:cNvPr id="8" name="圖片 7">
            <a:extLst>
              <a:ext uri="{FF2B5EF4-FFF2-40B4-BE49-F238E27FC236}">
                <a16:creationId xmlns:a16="http://schemas.microsoft.com/office/drawing/2014/main" id="{62F4850A-50DF-9F42-9CE3-809F62DA05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5390" y="1685495"/>
            <a:ext cx="6146610" cy="3472131"/>
          </a:xfrm>
          <a:prstGeom prst="rect">
            <a:avLst/>
          </a:prstGeom>
        </p:spPr>
      </p:pic>
      <p:sp>
        <p:nvSpPr>
          <p:cNvPr id="9" name="矩形 8">
            <a:extLst>
              <a:ext uri="{FF2B5EF4-FFF2-40B4-BE49-F238E27FC236}">
                <a16:creationId xmlns:a16="http://schemas.microsoft.com/office/drawing/2014/main" id="{E2869D18-3C6C-3E40-9B18-DCFBF353A36B}"/>
              </a:ext>
            </a:extLst>
          </p:cNvPr>
          <p:cNvSpPr/>
          <p:nvPr/>
        </p:nvSpPr>
        <p:spPr>
          <a:xfrm>
            <a:off x="3595955" y="1685495"/>
            <a:ext cx="318499" cy="17412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矩形 9">
            <a:extLst>
              <a:ext uri="{FF2B5EF4-FFF2-40B4-BE49-F238E27FC236}">
                <a16:creationId xmlns:a16="http://schemas.microsoft.com/office/drawing/2014/main" id="{A7A20632-F076-784F-8C8B-149ED4BD4F95}"/>
              </a:ext>
            </a:extLst>
          </p:cNvPr>
          <p:cNvSpPr/>
          <p:nvPr/>
        </p:nvSpPr>
        <p:spPr>
          <a:xfrm>
            <a:off x="9560103" y="1704445"/>
            <a:ext cx="498297" cy="15517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 name="標題 1">
            <a:extLst>
              <a:ext uri="{FF2B5EF4-FFF2-40B4-BE49-F238E27FC236}">
                <a16:creationId xmlns:a16="http://schemas.microsoft.com/office/drawing/2014/main" id="{3B4923FC-1192-C546-99CE-EFF49FA2EA6A}"/>
              </a:ext>
            </a:extLst>
          </p:cNvPr>
          <p:cNvSpPr>
            <a:spLocks noGrp="1"/>
          </p:cNvSpPr>
          <p:nvPr>
            <p:ph type="title"/>
          </p:nvPr>
        </p:nvSpPr>
        <p:spPr>
          <a:xfrm>
            <a:off x="838200" y="365125"/>
            <a:ext cx="10515600" cy="1325563"/>
          </a:xfrm>
        </p:spPr>
        <p:txBody>
          <a:bodyPr/>
          <a:lstStyle/>
          <a:p>
            <a:r>
              <a:rPr kumimoji="1" lang="en-US" altLang="zh-TW" dirty="0">
                <a:latin typeface="Times New Roman" panose="02020603050405020304" pitchFamily="18" charset="0"/>
                <a:cs typeface="Times New Roman" panose="02020603050405020304" pitchFamily="18" charset="0"/>
              </a:rPr>
              <a:t>Result</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130361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995</TotalTime>
  <Words>952</Words>
  <Application>Microsoft Macintosh PowerPoint</Application>
  <PresentationFormat>寬螢幕</PresentationFormat>
  <Paragraphs>122</Paragraphs>
  <Slides>10</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10</vt:i4>
      </vt:variant>
    </vt:vector>
  </HeadingPairs>
  <TitlesOfParts>
    <vt:vector size="17" baseType="lpstr">
      <vt:lpstr>新細明體</vt:lpstr>
      <vt:lpstr>Arial</vt:lpstr>
      <vt:lpstr>Calibri</vt:lpstr>
      <vt:lpstr>Calibri Light</vt:lpstr>
      <vt:lpstr>Cambria Math</vt:lpstr>
      <vt:lpstr>Times New Roman</vt:lpstr>
      <vt:lpstr>Office 佈景主題</vt:lpstr>
      <vt:lpstr>Benchmark Instances and Branch-and-Cut Algorithm for the Hashiwokakero Puzzle</vt:lpstr>
      <vt:lpstr>Abstract</vt:lpstr>
      <vt:lpstr>Abstract (Cont.)</vt:lpstr>
      <vt:lpstr>Hashi Puzzle</vt:lpstr>
      <vt:lpstr>Problem Setup</vt:lpstr>
      <vt:lpstr>Constraint</vt:lpstr>
      <vt:lpstr>Branch-and-Cut</vt:lpstr>
      <vt:lpstr>Puzzle Generator</vt:lpstr>
      <vt:lpstr>Experiment</vt:lpstr>
      <vt:lpstr>Result</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Microsoft Office 使用者</dc:creator>
  <cp:lastModifiedBy>Microsoft Office 使用者</cp:lastModifiedBy>
  <cp:revision>71</cp:revision>
  <dcterms:created xsi:type="dcterms:W3CDTF">2023-01-02T07:42:35Z</dcterms:created>
  <dcterms:modified xsi:type="dcterms:W3CDTF">2023-04-25T12:53:19Z</dcterms:modified>
</cp:coreProperties>
</file>