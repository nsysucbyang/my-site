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8"/>
  </p:notesMasterIdLst>
  <p:sldIdLst>
    <p:sldId id="256" r:id="rId2"/>
    <p:sldId id="265" r:id="rId3"/>
    <p:sldId id="266" r:id="rId4"/>
    <p:sldId id="267" r:id="rId5"/>
    <p:sldId id="263" r:id="rId6"/>
    <p:sldId id="274" r:id="rId7"/>
    <p:sldId id="275" r:id="rId8"/>
    <p:sldId id="272" r:id="rId9"/>
    <p:sldId id="270" r:id="rId10"/>
    <p:sldId id="271" r:id="rId11"/>
    <p:sldId id="268" r:id="rId12"/>
    <p:sldId id="269" r:id="rId13"/>
    <p:sldId id="276" r:id="rId14"/>
    <p:sldId id="280" r:id="rId15"/>
    <p:sldId id="279" r:id="rId16"/>
    <p:sldId id="277"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70"/>
    <p:restoredTop sz="95728"/>
  </p:normalViewPr>
  <p:slideViewPr>
    <p:cSldViewPr snapToGrid="0" snapToObjects="1">
      <p:cViewPr>
        <p:scale>
          <a:sx n="99" d="100"/>
          <a:sy n="99" d="100"/>
        </p:scale>
        <p:origin x="816"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2023/8/27</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4</a:t>
            </a:fld>
            <a:endParaRPr kumimoji="1" lang="zh-TW" altLang="en-US"/>
          </a:p>
        </p:txBody>
      </p:sp>
    </p:spTree>
    <p:extLst>
      <p:ext uri="{BB962C8B-B14F-4D97-AF65-F5344CB8AC3E}">
        <p14:creationId xmlns:p14="http://schemas.microsoft.com/office/powerpoint/2010/main" val="2441045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11</a:t>
            </a:fld>
            <a:endParaRPr kumimoji="1" lang="zh-TW" altLang="en-US"/>
          </a:p>
        </p:txBody>
      </p:sp>
    </p:spTree>
    <p:extLst>
      <p:ext uri="{BB962C8B-B14F-4D97-AF65-F5344CB8AC3E}">
        <p14:creationId xmlns:p14="http://schemas.microsoft.com/office/powerpoint/2010/main" val="2748592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2023/8/27</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2023/8/27</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2023/8/27</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2023/8/27</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2023/8/27</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2023/8/27</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2023/8/27</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2023/8/27</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2023/8/27</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2023/8/27</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2023/8/27</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2023/8/27</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ormAutofit/>
          </a:bodyPr>
          <a:lstStyle/>
          <a:p>
            <a:r>
              <a:rPr kumimoji="1" lang="en" altLang="zh-TW" sz="4800" dirty="0">
                <a:latin typeface="Times" pitchFamily="2" charset="0"/>
              </a:rPr>
              <a:t>The Game of Bridge</a:t>
            </a:r>
            <a:r>
              <a:rPr kumimoji="1" lang="en-US" altLang="zh-TW" sz="4800" dirty="0">
                <a:latin typeface="Times" pitchFamily="2" charset="0"/>
              </a:rPr>
              <a:t>:</a:t>
            </a:r>
            <a:r>
              <a:rPr kumimoji="1" lang="zh-TW" altLang="en-US" sz="4800" dirty="0">
                <a:latin typeface="Times" pitchFamily="2" charset="0"/>
              </a:rPr>
              <a:t> </a:t>
            </a:r>
            <a:r>
              <a:rPr kumimoji="1" lang="en" altLang="zh-TW" sz="4800" dirty="0">
                <a:latin typeface="Times" pitchFamily="2" charset="0"/>
              </a:rPr>
              <a:t>A Challenge for ILP</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rmAutofit/>
          </a:bodyPr>
          <a:lstStyle/>
          <a:p>
            <a:pPr>
              <a:lnSpc>
                <a:spcPct val="100000"/>
              </a:lnSpc>
            </a:pPr>
            <a:r>
              <a:rPr lang="en" altLang="zh-TW" dirty="0" err="1">
                <a:latin typeface="Times" pitchFamily="2" charset="0"/>
              </a:rPr>
              <a:t>Legras</a:t>
            </a:r>
            <a:r>
              <a:rPr lang="en" altLang="zh-TW" dirty="0">
                <a:latin typeface="Times" pitchFamily="2" charset="0"/>
              </a:rPr>
              <a:t>, S., </a:t>
            </a:r>
            <a:r>
              <a:rPr lang="en" altLang="zh-TW" dirty="0" err="1">
                <a:latin typeface="Times" pitchFamily="2" charset="0"/>
              </a:rPr>
              <a:t>Rouveirol</a:t>
            </a:r>
            <a:r>
              <a:rPr lang="en" altLang="zh-TW" dirty="0">
                <a:latin typeface="Times" pitchFamily="2" charset="0"/>
              </a:rPr>
              <a:t>, C., &amp; </a:t>
            </a:r>
            <a:r>
              <a:rPr lang="en" altLang="zh-TW" dirty="0" err="1">
                <a:latin typeface="Times" pitchFamily="2" charset="0"/>
              </a:rPr>
              <a:t>Ventos</a:t>
            </a:r>
            <a:r>
              <a:rPr lang="en" altLang="zh-TW" dirty="0">
                <a:latin typeface="Times" pitchFamily="2" charset="0"/>
              </a:rPr>
              <a:t>, V.</a:t>
            </a:r>
          </a:p>
          <a:p>
            <a:pPr>
              <a:lnSpc>
                <a:spcPct val="100000"/>
              </a:lnSpc>
            </a:pPr>
            <a:r>
              <a:rPr lang="en" altLang="zh-TW" dirty="0">
                <a:latin typeface="Times" pitchFamily="2" charset="0"/>
              </a:rPr>
              <a:t>28th International Conference on Inductive Logic Programming, </a:t>
            </a:r>
          </a:p>
          <a:p>
            <a:pPr>
              <a:lnSpc>
                <a:spcPct val="100000"/>
              </a:lnSpc>
            </a:pPr>
            <a:r>
              <a:rPr lang="en" altLang="zh-TW" dirty="0">
                <a:latin typeface="Times" pitchFamily="2" charset="0"/>
              </a:rPr>
              <a:t>Ferrara, Italy, September 2–4, 2018</a:t>
            </a:r>
            <a:r>
              <a:rPr lang="en-US" altLang="zh-TW" dirty="0">
                <a:latin typeface="Times" pitchFamily="2" charset="0"/>
              </a:rPr>
              <a:t>.</a:t>
            </a:r>
            <a:endParaRPr lang="en" altLang="zh-TW" dirty="0">
              <a:latin typeface="Times" pitchFamily="2" charset="0"/>
            </a:endParaRP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Aug.</a:t>
            </a:r>
            <a:r>
              <a:rPr kumimoji="1" lang="zh-TW" altLang="en-US" dirty="0">
                <a:latin typeface="Times" pitchFamily="2" charset="0"/>
              </a:rPr>
              <a:t> </a:t>
            </a:r>
            <a:r>
              <a:rPr kumimoji="1" lang="en-US" altLang="zh-TW" dirty="0">
                <a:latin typeface="Times" pitchFamily="2" charset="0"/>
              </a:rPr>
              <a:t>29,</a:t>
            </a:r>
            <a:r>
              <a:rPr kumimoji="1" lang="zh-TW" altLang="en-US" dirty="0">
                <a:latin typeface="Times" pitchFamily="2" charset="0"/>
              </a:rPr>
              <a:t> </a:t>
            </a:r>
            <a:r>
              <a:rPr kumimoji="1" lang="en-US" altLang="zh-TW" dirty="0">
                <a:latin typeface="Times" pitchFamily="2" charset="0"/>
              </a:rPr>
              <a:t>2023</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p:txBody>
          <a:bodyPr>
            <a:normAutofit/>
          </a:bodyPr>
          <a:lstStyle/>
          <a:p>
            <a:pPr marL="0" indent="0" algn="just">
              <a:lnSpc>
                <a:spcPct val="150000"/>
              </a:lnSpc>
              <a:buNone/>
            </a:pPr>
            <a:r>
              <a:rPr lang="en" altLang="zh-TW" sz="2400" dirty="0">
                <a:latin typeface="Times" pitchFamily="2" charset="0"/>
              </a:rPr>
              <a:t>Designs of champion-level systems dedicated to a game have been considered as milestones for Artificial Intelligence. Such a success has not yet happened for the game of Bridge because (</a:t>
            </a:r>
            <a:r>
              <a:rPr lang="en" altLang="zh-TW" sz="2400" dirty="0" err="1">
                <a:latin typeface="Times" pitchFamily="2" charset="0"/>
              </a:rPr>
              <a:t>i</a:t>
            </a:r>
            <a:r>
              <a:rPr lang="en" altLang="zh-TW" sz="2400" dirty="0">
                <a:latin typeface="Times" pitchFamily="2" charset="0"/>
              </a:rPr>
              <a:t>) Bridge is a partially observable game (ii) a Bridge player must be able to explain at some point the meaning of his actions to his opponents. This paper presents a simple supervised learning problem in Bridge: given a ‘limit hand’, should a player bid or not, only considering his hand and the context of his decision. We describe this problem and some of its candidate </a:t>
            </a:r>
            <a:r>
              <a:rPr lang="en" altLang="zh-TW" sz="2400" dirty="0" err="1">
                <a:latin typeface="Times" pitchFamily="2" charset="0"/>
              </a:rPr>
              <a:t>modeli</a:t>
            </a:r>
            <a:r>
              <a:rPr lang="en-US" altLang="zh-TW" sz="2400" dirty="0">
                <a:latin typeface="Times" pitchFamily="2" charset="0"/>
              </a:rPr>
              <a:t>s</a:t>
            </a:r>
            <a:r>
              <a:rPr lang="en" altLang="zh-TW" sz="2400" dirty="0" err="1">
                <a:latin typeface="Times" pitchFamily="2" charset="0"/>
              </a:rPr>
              <a:t>ations</a:t>
            </a:r>
            <a:r>
              <a:rPr lang="en" altLang="zh-TW" sz="2400" dirty="0">
                <a:latin typeface="Times" pitchFamily="2" charset="0"/>
              </a:rPr>
              <a:t>.</a:t>
            </a: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dirty="0"/>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Abstract(cont.)</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690688"/>
            <a:ext cx="10515600" cy="4546600"/>
          </a:xfrm>
        </p:spPr>
        <p:txBody>
          <a:bodyPr>
            <a:noAutofit/>
          </a:bodyPr>
          <a:lstStyle/>
          <a:p>
            <a:pPr marL="0" indent="0" algn="just">
              <a:lnSpc>
                <a:spcPct val="150000"/>
              </a:lnSpc>
              <a:buNone/>
            </a:pPr>
            <a:r>
              <a:rPr lang="en" altLang="zh-TW" sz="2400" dirty="0">
                <a:latin typeface="Times" pitchFamily="2" charset="0"/>
              </a:rPr>
              <a:t>We then experiment state of the art propositional machine learning and ILP systems on this problem. Results of these preliminary experiments show that ILP systems are competitive or even outperform propositional Machine Learning systems. ILP systems are moreover able to build explicit models that have been validated by expert Bridge players.</a:t>
            </a: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a:p>
        </p:txBody>
      </p:sp>
    </p:spTree>
    <p:extLst>
      <p:ext uri="{BB962C8B-B14F-4D97-AF65-F5344CB8AC3E}">
        <p14:creationId xmlns:p14="http://schemas.microsoft.com/office/powerpoint/2010/main" val="160413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Opening</a:t>
            </a:r>
            <a:r>
              <a:rPr kumimoji="1" lang="zh-TW" altLang="en-US" dirty="0">
                <a:latin typeface="Times" pitchFamily="2" charset="0"/>
              </a:rPr>
              <a:t> </a:t>
            </a:r>
            <a:r>
              <a:rPr kumimoji="1" lang="en-US" altLang="zh-TW" dirty="0">
                <a:latin typeface="Times" pitchFamily="2" charset="0"/>
              </a:rPr>
              <a:t>bid</a:t>
            </a:r>
            <a:r>
              <a:rPr kumimoji="1" lang="zh-TW" altLang="en-US" dirty="0">
                <a:latin typeface="Times" pitchFamily="2" charset="0"/>
              </a:rPr>
              <a:t> </a:t>
            </a:r>
            <a:r>
              <a:rPr kumimoji="1" lang="en-US" altLang="zh-TW" dirty="0">
                <a:latin typeface="Times" pitchFamily="2" charset="0"/>
              </a:rPr>
              <a:t>problem</a:t>
            </a:r>
            <a:endParaRPr kumimoji="1" lang="zh-TW" altLang="en-US" dirty="0">
              <a:latin typeface="Times" pitchFamily="2" charset="0"/>
            </a:endParaRPr>
          </a:p>
        </p:txBody>
      </p:sp>
      <p:pic>
        <p:nvPicPr>
          <p:cNvPr id="6" name="內容版面配置區 5" descr="一張含有 文字, 字型, 數字, 行 的圖片&#10;&#10;自動產生的描述">
            <a:extLst>
              <a:ext uri="{FF2B5EF4-FFF2-40B4-BE49-F238E27FC236}">
                <a16:creationId xmlns:a16="http://schemas.microsoft.com/office/drawing/2014/main" id="{F770B4E8-DEED-1246-8ACE-CDFEF2AEA51A}"/>
              </a:ext>
            </a:extLst>
          </p:cNvPr>
          <p:cNvPicPr>
            <a:picLocks noGrp="1" noChangeAspect="1"/>
          </p:cNvPicPr>
          <p:nvPr>
            <p:ph idx="1"/>
          </p:nvPr>
        </p:nvPicPr>
        <p:blipFill>
          <a:blip r:embed="rId3"/>
          <a:stretch>
            <a:fillRect/>
          </a:stretch>
        </p:blipFill>
        <p:spPr>
          <a:xfrm>
            <a:off x="752435" y="1970759"/>
            <a:ext cx="10687129" cy="4105519"/>
          </a:xfrm>
        </p:spPr>
      </p:pic>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dirty="0"/>
          </a:p>
        </p:txBody>
      </p:sp>
    </p:spTree>
    <p:extLst>
      <p:ext uri="{BB962C8B-B14F-4D97-AF65-F5344CB8AC3E}">
        <p14:creationId xmlns:p14="http://schemas.microsoft.com/office/powerpoint/2010/main" val="2005754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Label</a:t>
                </a:r>
                <a:r>
                  <a:rPr lang="en" altLang="zh-TW" dirty="0">
                    <a:latin typeface="Times New Roman" panose="02020603050405020304" pitchFamily="18" charset="0"/>
                    <a:cs typeface="Times New Roman" panose="02020603050405020304" pitchFamily="18" charset="0"/>
                  </a:rPr>
                  <a:t>: </a:t>
                </a:r>
                <a14:m>
                  <m:oMath xmlns:m="http://schemas.openxmlformats.org/officeDocument/2006/math">
                    <m:r>
                      <a:rPr lang="en-US" altLang="zh-TW" b="0" i="0" smtClean="0">
                        <a:latin typeface="Cambria Math" panose="02040503050406030204" pitchFamily="18" charset="0"/>
                        <a:cs typeface="Times New Roman" panose="02020603050405020304" pitchFamily="18" charset="0"/>
                      </a:rPr>
                      <m:t>[</m:t>
                    </m:r>
                    <m:r>
                      <a:rPr lang="zh-TW" altLang="en-US" b="0" i="0" smtClean="0">
                        <a:latin typeface="Cambria Math" panose="02040503050406030204" pitchFamily="18" charset="0"/>
                        <a:cs typeface="Times New Roman" panose="02020603050405020304" pitchFamily="18" charset="0"/>
                      </a:rPr>
                      <m:t> </m:t>
                    </m:r>
                    <m:sSub>
                      <m:sSubPr>
                        <m:ctrlPr>
                          <a:rPr lang="en"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𝑐</m:t>
                        </m:r>
                      </m:e>
                      <m:sub>
                        <m:r>
                          <a:rPr lang="en-US" altLang="zh-TW" b="0" i="1" smtClean="0">
                            <a:latin typeface="Cambria Math" panose="02040503050406030204" pitchFamily="18" charset="0"/>
                            <a:cs typeface="Times New Roman" panose="02020603050405020304" pitchFamily="18" charset="0"/>
                          </a:rPr>
                          <m:t>𝑛</m:t>
                        </m:r>
                      </m:sub>
                    </m:sSub>
                    <m:r>
                      <a:rPr lang="zh-TW" altLang="en-US"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𝑤𝑖𝑡h</m:t>
                    </m:r>
                    <m:r>
                      <a:rPr lang="zh-TW" altLang="en-US"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𝑛</m:t>
                    </m:r>
                    <m:r>
                      <a:rPr lang="zh-TW" altLang="en-US" b="0" i="1" smtClean="0">
                        <a:latin typeface="Cambria Math" panose="02040503050406030204" pitchFamily="18" charset="0"/>
                        <a:cs typeface="Times New Roman" panose="02020603050405020304" pitchFamily="18" charset="0"/>
                      </a:rPr>
                      <m:t> ∈ </m:t>
                    </m:r>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1…52</m:t>
                        </m:r>
                      </m:e>
                    </m:d>
                    <m:r>
                      <a:rPr lang="en-US" altLang="zh-TW" b="0" i="1" smtClean="0">
                        <a:latin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cs typeface="Times New Roman" panose="02020603050405020304" pitchFamily="18" charset="0"/>
                      </a:rPr>
                      <m:t> </m:t>
                    </m:r>
                    <m:r>
                      <a:rPr lang="en" altLang="zh-TW" i="1">
                        <a:latin typeface="Cambria Math" panose="02040503050406030204" pitchFamily="18" charset="0"/>
                        <a:cs typeface="Times New Roman" panose="02020603050405020304" pitchFamily="18" charset="0"/>
                      </a:rPr>
                      <m:t>𝑝𝑜𝑠𝑖𝑡𝑖𝑜𝑛</m:t>
                    </m:r>
                    <m:r>
                      <a:rPr lang="en" altLang="zh-TW" i="1">
                        <a:latin typeface="Cambria Math" panose="02040503050406030204" pitchFamily="18" charset="0"/>
                        <a:cs typeface="Times New Roman" panose="02020603050405020304" pitchFamily="18" charset="0"/>
                      </a:rPr>
                      <m:t>, </m:t>
                    </m:r>
                    <m:r>
                      <a:rPr lang="en" altLang="zh-TW" i="1">
                        <a:latin typeface="Cambria Math" panose="02040503050406030204" pitchFamily="18" charset="0"/>
                        <a:cs typeface="Times New Roman" panose="02020603050405020304" pitchFamily="18" charset="0"/>
                      </a:rPr>
                      <m:t>𝑣𝑢𝑙𝑛𝑒𝑟𝑎𝑏𝑖𝑙𝑖𝑡𝑦</m:t>
                    </m:r>
                    <m:r>
                      <a:rPr lang="en" altLang="zh-TW" i="1">
                        <a:latin typeface="Cambria Math" panose="02040503050406030204" pitchFamily="18" charset="0"/>
                        <a:cs typeface="Times New Roman" panose="02020603050405020304" pitchFamily="18" charset="0"/>
                      </a:rPr>
                      <m:t>, </m:t>
                    </m:r>
                    <m:r>
                      <a:rPr lang="en" altLang="zh-TW" i="1">
                        <a:latin typeface="Cambria Math" panose="02040503050406030204" pitchFamily="18" charset="0"/>
                        <a:cs typeface="Times New Roman" panose="02020603050405020304" pitchFamily="18" charset="0"/>
                      </a:rPr>
                      <m:t>𝑐𝑙𝑎𝑠𝑠</m:t>
                    </m:r>
                    <m:r>
                      <a:rPr lang="zh-TW" altLang="en-US"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m:t>
                    </m:r>
                  </m:oMath>
                </a14:m>
                <a:r>
                  <a:rPr lang="en" altLang="zh-TW" dirty="0">
                    <a:latin typeface="Times New Roman" panose="02020603050405020304" pitchFamily="18" charset="0"/>
                    <a:cs typeface="Times New Roman" panose="02020603050405020304" pitchFamily="18" charset="0"/>
                  </a:rPr>
                  <a:t>.</a:t>
                </a:r>
              </a:p>
              <a:p>
                <a:pPr marL="457200" lvl="1" indent="0">
                  <a:buNone/>
                </a:pPr>
                <a:r>
                  <a:rPr lang="en-US" altLang="zh-TW" dirty="0">
                    <a:latin typeface="Times New Roman" panose="02020603050405020304" pitchFamily="18" charset="0"/>
                    <a:cs typeface="Times New Roman" panose="02020603050405020304" pitchFamily="18" charset="0"/>
                  </a:rPr>
                  <a:t>Order</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for</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cards: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for</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each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suit: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J,</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Q,</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K,</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a:t>
                </a:r>
              </a:p>
              <a:p>
                <a:pPr marL="457200" lvl="1" indent="0">
                  <a:buNone/>
                </a:pPr>
                <a:endParaRPr lang="en" altLang="zh-TW" dirty="0">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14:m>
                  <m:oMath xmlns:m="http://schemas.openxmlformats.org/officeDocument/2006/math">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𝑝𝑜𝑠𝑖𝑡𝑖𝑜𝑛</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d>
                      <m:dPr>
                        <m:begChr m:val="{"/>
                        <m:endChr m:val="}"/>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1…4</m:t>
                        </m:r>
                      </m:e>
                    </m:d>
                  </m:oMath>
                </a14:m>
                <a:endPar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14:m>
                  <m:oMath xmlns:m="http://schemas.openxmlformats.org/officeDocument/2006/math">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𝑣𝑢𝑙𝑛𝑒𝑟𝑎𝑏𝑖𝑙𝑖𝑡𝑦</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d>
                      <m:dPr>
                        <m:begChr m:val="{"/>
                        <m:endChr m:val="}"/>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1…4</m:t>
                        </m:r>
                      </m:e>
                    </m:d>
                  </m:oMath>
                </a14:m>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 </a:t>
                </a:r>
              </a:p>
              <a:p>
                <a:pPr marL="457200" lvl="1" indent="0">
                  <a:lnSpc>
                    <a:spcPct val="100000"/>
                  </a:lnSpc>
                  <a:spcBef>
                    <a:spcPct val="20000"/>
                  </a:spcBef>
                  <a:buNone/>
                  <a:defRPr/>
                </a:pP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1: None</a:t>
                </a:r>
              </a:p>
              <a:p>
                <a:pPr marL="457200" lvl="1" indent="0">
                  <a:lnSpc>
                    <a:spcPct val="100000"/>
                  </a:lnSpc>
                  <a:spcBef>
                    <a:spcPct val="20000"/>
                  </a:spcBef>
                  <a:buNone/>
                  <a:defRPr/>
                </a:pP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2: not vulnerable opponents vulnerable</a:t>
                </a:r>
              </a:p>
              <a:p>
                <a:pPr marL="457200" lvl="1" indent="0">
                  <a:lnSpc>
                    <a:spcPct val="100000"/>
                  </a:lnSpc>
                  <a:spcBef>
                    <a:spcPct val="20000"/>
                  </a:spcBef>
                  <a:buNone/>
                  <a:defRPr/>
                </a:pP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3: vulnerable opponents not vulnerable</a:t>
                </a:r>
              </a:p>
              <a:p>
                <a:pPr marL="457200" lvl="1" indent="0">
                  <a:lnSpc>
                    <a:spcPct val="100000"/>
                  </a:lnSpc>
                  <a:spcBef>
                    <a:spcPct val="20000"/>
                  </a:spcBef>
                  <a:buNone/>
                  <a:defRPr/>
                </a:pP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4: Both</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14:m>
                  <m:oMath xmlns:m="http://schemas.openxmlformats.org/officeDocument/2006/math">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𝑐𝑙𝑎𝑠𝑠</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 0}</m:t>
                    </m:r>
                  </m:oMath>
                </a14:m>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 open or not (marked by experts)</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endParaRPr>
              </a:p>
              <a:p>
                <a:endParaRPr lang="en" altLang="zh-TW" dirty="0">
                  <a:latin typeface="Times New Roman" panose="02020603050405020304" pitchFamily="18" charset="0"/>
                  <a:cs typeface="Times New Roman" panose="02020603050405020304" pitchFamily="18" charset="0"/>
                </a:endParaRPr>
              </a:p>
            </p:txBody>
          </p:sp>
        </mc:Choice>
        <mc:Fallback>
          <p:sp>
            <p:nvSpPr>
              <p:cNvPr id="9" name="內容版面配置區 8">
                <a:extLst>
                  <a:ext uri="{FF2B5EF4-FFF2-40B4-BE49-F238E27FC236}">
                    <a16:creationId xmlns:a16="http://schemas.microsoft.com/office/drawing/2014/main" id="{64A77833-0447-604F-BD78-7E7ACC94FC82}"/>
                  </a:ext>
                </a:extLst>
              </p:cNvPr>
              <p:cNvSpPr>
                <a:spLocks noGrp="1" noRot="1" noChangeAspect="1" noMove="1" noResize="1" noEditPoints="1" noAdjustHandles="1" noChangeArrowheads="1" noChangeShapeType="1" noTextEdit="1"/>
              </p:cNvSpPr>
              <p:nvPr>
                <p:ph idx="1"/>
              </p:nvPr>
            </p:nvSpPr>
            <p:spPr>
              <a:blipFill>
                <a:blip r:embed="rId2"/>
                <a:stretch>
                  <a:fillRect l="-1206" t="-2326" b="-2907"/>
                </a:stretch>
              </a:blipFill>
            </p:spPr>
            <p:txBody>
              <a:bodyPr/>
              <a:lstStyle/>
              <a:p>
                <a:r>
                  <a:rPr lang="zh-TW" altLang="en-US">
                    <a:noFill/>
                  </a:rPr>
                  <a:t> </a:t>
                </a:r>
              </a:p>
            </p:txBody>
          </p:sp>
        </mc:Fallback>
      </mc:AlternateContent>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 altLang="zh-TW" dirty="0">
                <a:latin typeface="Times" pitchFamily="2" charset="0"/>
              </a:rPr>
              <a:t>Representation</a:t>
            </a:r>
            <a:r>
              <a:rPr kumimoji="1" lang="zh-TW" altLang="en-US" dirty="0">
                <a:latin typeface="Times" pitchFamily="2" charset="0"/>
              </a:rPr>
              <a:t> </a:t>
            </a:r>
            <a:r>
              <a:rPr kumimoji="1" lang="en-US" altLang="zh-TW" dirty="0">
                <a:latin typeface="Times" pitchFamily="2" charset="0"/>
              </a:rPr>
              <a:t>of</a:t>
            </a:r>
            <a:r>
              <a:rPr kumimoji="1" lang="zh-TW" altLang="en-US" dirty="0">
                <a:latin typeface="Times" pitchFamily="2" charset="0"/>
              </a:rPr>
              <a:t> </a:t>
            </a:r>
            <a:r>
              <a:rPr kumimoji="1" lang="en-US" altLang="zh-TW" dirty="0">
                <a:latin typeface="Times" pitchFamily="2" charset="0"/>
              </a:rPr>
              <a:t>examples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a:p>
        </p:txBody>
      </p:sp>
    </p:spTree>
    <p:extLst>
      <p:ext uri="{BB962C8B-B14F-4D97-AF65-F5344CB8AC3E}">
        <p14:creationId xmlns:p14="http://schemas.microsoft.com/office/powerpoint/2010/main" val="1836791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noAutofit/>
              </a:bodyPr>
              <a:lstStyle/>
              <a:p>
                <a:pPr>
                  <a:lnSpc>
                    <a:spcPct val="100000"/>
                  </a:lnSpc>
                  <a:spcBef>
                    <a:spcPct val="20000"/>
                  </a:spcBef>
                  <a:defRPr/>
                </a:pPr>
                <a14:m>
                  <m:oMath xmlns:m="http://schemas.openxmlformats.org/officeDocument/2006/math">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𝐵</m:t>
                    </m:r>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𝐾</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0</m:t>
                        </m:r>
                      </m:sub>
                    </m:sSub>
                  </m:oMath>
                </a14:m>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a:t>
                </a:r>
              </a:p>
              <a:p>
                <a:pPr lvl="1">
                  <a:lnSpc>
                    <a:spcPct val="100000"/>
                  </a:lnSpc>
                  <a:spcBef>
                    <a:spcPct val="20000"/>
                  </a:spcBef>
                  <a:defRPr/>
                </a:pP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Open(E, Class)</a:t>
                </a:r>
              </a:p>
              <a:p>
                <a:pPr lvl="1">
                  <a:lnSpc>
                    <a:spcPct val="100000"/>
                  </a:lnSpc>
                  <a:spcBef>
                    <a:spcPct val="20000"/>
                  </a:spcBef>
                  <a:defRPr/>
                </a:pP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Has hand(E, H)</a:t>
                </a:r>
              </a:p>
              <a:p>
                <a:pPr lvl="1">
                  <a:lnSpc>
                    <a:spcPct val="100000"/>
                  </a:lnSpc>
                  <a:spcBef>
                    <a:spcPct val="20000"/>
                  </a:spcBef>
                  <a:defRPr/>
                </a:pP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Has card(E, C)</a:t>
                </a:r>
              </a:p>
              <a:p>
                <a:pPr lvl="1">
                  <a:lnSpc>
                    <a:spcPct val="100000"/>
                  </a:lnSpc>
                  <a:spcBef>
                    <a:spcPct val="20000"/>
                  </a:spcBef>
                  <a:defRPr/>
                </a:pP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Position(E, P)</a:t>
                </a:r>
              </a:p>
              <a:p>
                <a:pPr lvl="1">
                  <a:lnSpc>
                    <a:spcPct val="100000"/>
                  </a:lnSpc>
                  <a:spcBef>
                    <a:spcPct val="20000"/>
                  </a:spcBef>
                  <a:defRPr/>
                </a:pP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Vuln(E, V1, V2)</a:t>
                </a:r>
              </a:p>
            </p:txBody>
          </p:sp>
        </mc:Choice>
        <mc:Fallback>
          <p:sp>
            <p:nvSpPr>
              <p:cNvPr id="9" name="內容版面配置區 8">
                <a:extLst>
                  <a:ext uri="{FF2B5EF4-FFF2-40B4-BE49-F238E27FC236}">
                    <a16:creationId xmlns:a16="http://schemas.microsoft.com/office/drawing/2014/main" id="{64A77833-0447-604F-BD78-7E7ACC94FC82}"/>
                  </a:ext>
                </a:extLst>
              </p:cNvPr>
              <p:cNvSpPr>
                <a:spLocks noGrp="1" noRot="1" noChangeAspect="1" noMove="1" noResize="1" noEditPoints="1" noAdjustHandles="1" noChangeArrowheads="1" noChangeShapeType="1" noTextEdit="1"/>
              </p:cNvSpPr>
              <p:nvPr>
                <p:ph idx="1"/>
              </p:nvPr>
            </p:nvSpPr>
            <p:spPr>
              <a:blipFill>
                <a:blip r:embed="rId2"/>
                <a:stretch>
                  <a:fillRect l="-844" t="-1163"/>
                </a:stretch>
              </a:blipFill>
            </p:spPr>
            <p:txBody>
              <a:bodyPr/>
              <a:lstStyle/>
              <a:p>
                <a:r>
                  <a:rPr lang="zh-TW" altLang="en-US">
                    <a:noFill/>
                  </a:rPr>
                  <a:t> </a:t>
                </a:r>
              </a:p>
            </p:txBody>
          </p:sp>
        </mc:Fallback>
      </mc:AlternateContent>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Background</a:t>
            </a:r>
            <a:r>
              <a:rPr kumimoji="1" lang="zh-TW" altLang="en-US" dirty="0">
                <a:latin typeface="Times" pitchFamily="2" charset="0"/>
              </a:rPr>
              <a:t> </a:t>
            </a:r>
            <a:r>
              <a:rPr kumimoji="1" lang="en-US" altLang="zh-TW" dirty="0">
                <a:latin typeface="Times" pitchFamily="2" charset="0"/>
              </a:rPr>
              <a:t>knowledges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dirty="0"/>
          </a:p>
        </p:txBody>
      </p:sp>
      <p:pic>
        <p:nvPicPr>
          <p:cNvPr id="5" name="內容版面配置區 5" descr="一張含有 文字, 字型, 數字, 行 的圖片&#10;&#10;自動產生的描述">
            <a:extLst>
              <a:ext uri="{FF2B5EF4-FFF2-40B4-BE49-F238E27FC236}">
                <a16:creationId xmlns:a16="http://schemas.microsoft.com/office/drawing/2014/main" id="{655F869D-B44F-154D-8FCC-9555660AAFD6}"/>
              </a:ext>
            </a:extLst>
          </p:cNvPr>
          <p:cNvPicPr>
            <a:picLocks noChangeAspect="1"/>
          </p:cNvPicPr>
          <p:nvPr/>
        </p:nvPicPr>
        <p:blipFill>
          <a:blip r:embed="rId3"/>
          <a:stretch>
            <a:fillRect/>
          </a:stretch>
        </p:blipFill>
        <p:spPr>
          <a:xfrm>
            <a:off x="4967654" y="1825625"/>
            <a:ext cx="6445534" cy="2476087"/>
          </a:xfrm>
          <a:prstGeom prst="rect">
            <a:avLst/>
          </a:prstGeom>
        </p:spPr>
      </p:pic>
      <p:sp>
        <p:nvSpPr>
          <p:cNvPr id="6" name="內容版面配置區 8">
            <a:extLst>
              <a:ext uri="{FF2B5EF4-FFF2-40B4-BE49-F238E27FC236}">
                <a16:creationId xmlns:a16="http://schemas.microsoft.com/office/drawing/2014/main" id="{C148F42F-3408-1145-8D79-03178C39DB10}"/>
              </a:ext>
            </a:extLst>
          </p:cNvPr>
          <p:cNvSpPr txBox="1">
            <a:spLocks/>
          </p:cNvSpPr>
          <p:nvPr/>
        </p:nvSpPr>
        <p:spPr>
          <a:xfrm>
            <a:off x="4967654" y="4436649"/>
            <a:ext cx="7285892" cy="18671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20000"/>
              </a:spcBef>
            </a:pPr>
            <a:r>
              <a:rPr lang="en-US" altLang="zh-TW" sz="2000" dirty="0">
                <a:solidFill>
                  <a:prstClr val="black"/>
                </a:solidFill>
                <a:latin typeface="Times New Roman" panose="02020603050405020304" pitchFamily="18" charset="0"/>
                <a:ea typeface="新細明體"/>
                <a:cs typeface="Times New Roman" panose="02020603050405020304" pitchFamily="18" charset="0"/>
              </a:rPr>
              <a:t>Open(e, pos)</a:t>
            </a:r>
          </a:p>
          <a:p>
            <a:pPr>
              <a:lnSpc>
                <a:spcPct val="100000"/>
              </a:lnSpc>
              <a:spcBef>
                <a:spcPct val="20000"/>
              </a:spcBef>
            </a:pPr>
            <a:r>
              <a:rPr lang="en-US" altLang="zh-TW" sz="2000" dirty="0">
                <a:solidFill>
                  <a:prstClr val="black"/>
                </a:solidFill>
                <a:latin typeface="Times New Roman" panose="02020603050405020304" pitchFamily="18" charset="0"/>
                <a:ea typeface="新細明體"/>
                <a:cs typeface="Times New Roman" panose="02020603050405020304" pitchFamily="18" charset="0"/>
              </a:rPr>
              <a:t>Has hand(e, [c6,c9,d2,dT,dQ,dK,h2,h3,hQ,s4,s6,sT,sA])</a:t>
            </a:r>
          </a:p>
          <a:p>
            <a:pPr>
              <a:lnSpc>
                <a:spcPct val="100000"/>
              </a:lnSpc>
              <a:spcBef>
                <a:spcPct val="20000"/>
              </a:spcBef>
            </a:pPr>
            <a:r>
              <a:rPr lang="en-US" altLang="zh-TW" sz="2000" dirty="0">
                <a:solidFill>
                  <a:prstClr val="black"/>
                </a:solidFill>
                <a:latin typeface="Times New Roman" panose="02020603050405020304" pitchFamily="18" charset="0"/>
                <a:ea typeface="新細明體"/>
                <a:cs typeface="Times New Roman" panose="02020603050405020304" pitchFamily="18" charset="0"/>
              </a:rPr>
              <a:t>Has card(e, c6), Has card(e, c9) … Has card(e, </a:t>
            </a:r>
            <a:r>
              <a:rPr lang="en-US" altLang="zh-TW" sz="2000" dirty="0" err="1">
                <a:solidFill>
                  <a:prstClr val="black"/>
                </a:solidFill>
                <a:latin typeface="Times New Roman" panose="02020603050405020304" pitchFamily="18" charset="0"/>
                <a:ea typeface="新細明體"/>
                <a:cs typeface="Times New Roman" panose="02020603050405020304" pitchFamily="18" charset="0"/>
              </a:rPr>
              <a:t>sA</a:t>
            </a:r>
            <a:r>
              <a:rPr lang="en-US" altLang="zh-TW" sz="2000" dirty="0">
                <a:solidFill>
                  <a:prstClr val="black"/>
                </a:solidFill>
                <a:latin typeface="Times New Roman" panose="02020603050405020304" pitchFamily="18" charset="0"/>
                <a:ea typeface="新細明體"/>
                <a:cs typeface="Times New Roman" panose="02020603050405020304" pitchFamily="18" charset="0"/>
              </a:rPr>
              <a:t>)</a:t>
            </a:r>
          </a:p>
          <a:p>
            <a:pPr>
              <a:lnSpc>
                <a:spcPct val="100000"/>
              </a:lnSpc>
              <a:spcBef>
                <a:spcPct val="20000"/>
              </a:spcBef>
            </a:pPr>
            <a:r>
              <a:rPr lang="en-US" altLang="zh-TW" sz="2000" dirty="0">
                <a:solidFill>
                  <a:prstClr val="black"/>
                </a:solidFill>
                <a:latin typeface="Times New Roman" panose="02020603050405020304" pitchFamily="18" charset="0"/>
                <a:ea typeface="新細明體"/>
                <a:cs typeface="Times New Roman" panose="02020603050405020304" pitchFamily="18" charset="0"/>
              </a:rPr>
              <a:t>Position(e, 4)</a:t>
            </a:r>
          </a:p>
          <a:p>
            <a:pPr>
              <a:lnSpc>
                <a:spcPct val="100000"/>
              </a:lnSpc>
              <a:spcBef>
                <a:spcPct val="20000"/>
              </a:spcBef>
            </a:pPr>
            <a:r>
              <a:rPr lang="en-US" altLang="zh-TW" sz="2000" dirty="0">
                <a:solidFill>
                  <a:prstClr val="black"/>
                </a:solidFill>
                <a:latin typeface="Times New Roman" panose="02020603050405020304" pitchFamily="18" charset="0"/>
                <a:ea typeface="新細明體"/>
                <a:cs typeface="Times New Roman" panose="02020603050405020304" pitchFamily="18" charset="0"/>
              </a:rPr>
              <a:t>Vuln(e, not vulnerable, vulnerable)</a:t>
            </a:r>
          </a:p>
        </p:txBody>
      </p:sp>
    </p:spTree>
    <p:extLst>
      <p:ext uri="{BB962C8B-B14F-4D97-AF65-F5344CB8AC3E}">
        <p14:creationId xmlns:p14="http://schemas.microsoft.com/office/powerpoint/2010/main" val="1814930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noAutofit/>
              </a:bodyPr>
              <a:lstStyle/>
              <a:p>
                <a:pPr>
                  <a:lnSpc>
                    <a:spcPct val="100000"/>
                  </a:lnSpc>
                  <a:spcBef>
                    <a:spcPct val="20000"/>
                  </a:spcBef>
                  <a:defRPr/>
                </a:pPr>
                <a14:m>
                  <m:oMath xmlns:m="http://schemas.openxmlformats.org/officeDocument/2006/math">
                    <m:r>
                      <a:rPr kumimoji="0" lang="en-US" altLang="zh-TW"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𝐵</m:t>
                    </m:r>
                    <m:sSub>
                      <m:sSubPr>
                        <m:ctrlPr>
                          <a:rPr kumimoji="0" lang="en-US" altLang="zh-TW"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TW"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𝐾</m:t>
                        </m:r>
                      </m:e>
                      <m:sub>
                        <m:r>
                          <a:rPr kumimoji="0" lang="en-US" altLang="zh-TW"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sub>
                    </m:sSub>
                  </m:oMath>
                </a14:m>
                <a:r>
                  <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a:t>
                </a:r>
              </a:p>
              <a:p>
                <a:pPr lvl="1">
                  <a:lnSpc>
                    <a:spcPct val="100000"/>
                  </a:lnSpc>
                  <a:spcBef>
                    <a:spcPct val="20000"/>
                  </a:spcBef>
                  <a:defRPr/>
                </a:pPr>
                <a14:m>
                  <m:oMath xmlns:m="http://schemas.openxmlformats.org/officeDocument/2006/math">
                    <m:r>
                      <a:rPr kumimoji="0" lang="en-US" altLang="zh-TW"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𝐵</m:t>
                    </m:r>
                    <m:sSub>
                      <m:sSubPr>
                        <m:ctrlPr>
                          <a:rPr kumimoji="0" lang="en-US" altLang="zh-TW"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TW"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𝐾</m:t>
                        </m:r>
                      </m:e>
                      <m:sub>
                        <m:r>
                          <a:rPr kumimoji="0" lang="en-US" altLang="zh-TW"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0</m:t>
                        </m:r>
                      </m:sub>
                    </m:sSub>
                  </m:oMath>
                </a14:m>
                <a:endPar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endParaRPr>
              </a:p>
              <a:p>
                <a:pPr lvl="1">
                  <a:lnSpc>
                    <a:spcPct val="100000"/>
                  </a:lnSpc>
                  <a:spcBef>
                    <a:spcPct val="20000"/>
                  </a:spcBef>
                  <a:defRPr/>
                </a:pPr>
                <a:r>
                  <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Has suit(card, suit)</a:t>
                </a:r>
              </a:p>
              <a:p>
                <a:pPr lvl="1">
                  <a:lnSpc>
                    <a:spcPct val="100000"/>
                  </a:lnSpc>
                  <a:spcBef>
                    <a:spcPct val="20000"/>
                  </a:spcBef>
                  <a:defRPr/>
                </a:pPr>
                <a:r>
                  <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Has rank(card, rank)</a:t>
                </a:r>
              </a:p>
              <a:p>
                <a:pPr lvl="1">
                  <a:lnSpc>
                    <a:spcPct val="100000"/>
                  </a:lnSpc>
                  <a:spcBef>
                    <a:spcPct val="20000"/>
                  </a:spcBef>
                  <a:defRPr/>
                </a:pPr>
                <a:r>
                  <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Honor(card)</a:t>
                </a:r>
              </a:p>
              <a:p>
                <a:pPr lvl="1">
                  <a:lnSpc>
                    <a:spcPct val="100000"/>
                  </a:lnSpc>
                  <a:spcBef>
                    <a:spcPct val="20000"/>
                  </a:spcBef>
                  <a:defRPr/>
                </a:pPr>
                <a:r>
                  <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Minor(card)</a:t>
                </a:r>
              </a:p>
              <a:p>
                <a:pPr lvl="1">
                  <a:lnSpc>
                    <a:spcPct val="100000"/>
                  </a:lnSpc>
                  <a:spcBef>
                    <a:spcPct val="20000"/>
                  </a:spcBef>
                  <a:defRPr/>
                </a:pPr>
                <a:r>
                  <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Small card(card)</a:t>
                </a:r>
              </a:p>
              <a:p>
                <a:pPr lvl="1">
                  <a:lnSpc>
                    <a:spcPct val="100000"/>
                  </a:lnSpc>
                  <a:spcBef>
                    <a:spcPct val="20000"/>
                  </a:spcBef>
                  <a:defRPr/>
                </a:pPr>
                <a:r>
                  <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Nb(E, suit, number)</a:t>
                </a:r>
              </a:p>
              <a:p>
                <a:pPr lvl="1">
                  <a:lnSpc>
                    <a:spcPct val="100000"/>
                  </a:lnSpc>
                  <a:spcBef>
                    <a:spcPct val="20000"/>
                  </a:spcBef>
                  <a:defRPr/>
                </a:pPr>
                <a:r>
                  <a:rPr kumimoji="0" lang="en-US" altLang="zh-TW" sz="2000" b="0" i="0" u="none" strike="noStrike" kern="1200" cap="none" spc="0" normalizeH="0" baseline="0" noProof="0" dirty="0" err="1">
                    <a:ln>
                      <a:noFill/>
                    </a:ln>
                    <a:solidFill>
                      <a:prstClr val="black"/>
                    </a:solidFill>
                    <a:effectLst/>
                    <a:uLnTx/>
                    <a:uFillTx/>
                    <a:latin typeface="Times New Roman" panose="02020603050405020304" pitchFamily="18" charset="0"/>
                    <a:ea typeface="新細明體"/>
                    <a:cs typeface="Times New Roman" panose="02020603050405020304" pitchFamily="18" charset="0"/>
                  </a:rPr>
                  <a:t>Plusvalue</a:t>
                </a:r>
                <a:r>
                  <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(E): card combinations. E.g. (KQ in a 5+suit)</a:t>
                </a:r>
              </a:p>
              <a:p>
                <a:pPr lvl="1">
                  <a:lnSpc>
                    <a:spcPct val="100000"/>
                  </a:lnSpc>
                  <a:spcBef>
                    <a:spcPct val="20000"/>
                  </a:spcBef>
                  <a:defRPr/>
                </a:pPr>
                <a:r>
                  <a:rPr kumimoji="0" lang="en-US" altLang="zh-TW" sz="2000" b="0" i="0" u="none" strike="noStrike" kern="1200" cap="none" spc="0" normalizeH="0" baseline="0" noProof="0" dirty="0" err="1">
                    <a:ln>
                      <a:noFill/>
                    </a:ln>
                    <a:solidFill>
                      <a:prstClr val="black"/>
                    </a:solidFill>
                    <a:effectLst/>
                    <a:uLnTx/>
                    <a:uFillTx/>
                    <a:latin typeface="Times New Roman" panose="02020603050405020304" pitchFamily="18" charset="0"/>
                    <a:ea typeface="新細明體"/>
                    <a:cs typeface="Times New Roman" panose="02020603050405020304" pitchFamily="18" charset="0"/>
                  </a:rPr>
                  <a:t>Lteq</a:t>
                </a:r>
                <a:r>
                  <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(number, number)</a:t>
                </a:r>
              </a:p>
              <a:p>
                <a:pPr lvl="1">
                  <a:lnSpc>
                    <a:spcPct val="100000"/>
                  </a:lnSpc>
                  <a:spcBef>
                    <a:spcPct val="20000"/>
                  </a:spcBef>
                  <a:defRPr/>
                </a:pPr>
                <a:r>
                  <a:rPr kumimoji="0" lang="en-US" altLang="zh-TW" sz="2000" b="0" i="0" u="none" strike="noStrike" kern="1200" cap="none" spc="0" normalizeH="0" baseline="0" noProof="0" dirty="0" err="1">
                    <a:ln>
                      <a:noFill/>
                    </a:ln>
                    <a:solidFill>
                      <a:prstClr val="black"/>
                    </a:solidFill>
                    <a:effectLst/>
                    <a:uLnTx/>
                    <a:uFillTx/>
                    <a:latin typeface="Times New Roman" panose="02020603050405020304" pitchFamily="18" charset="0"/>
                    <a:ea typeface="新細明體"/>
                    <a:cs typeface="Times New Roman" panose="02020603050405020304" pitchFamily="18" charset="0"/>
                  </a:rPr>
                  <a:t>Greq</a:t>
                </a:r>
                <a:r>
                  <a:rPr kumimoji="0" lang="en-US" altLang="zh-TW" sz="20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(number, number)</a:t>
                </a:r>
              </a:p>
            </p:txBody>
          </p:sp>
        </mc:Choice>
        <mc:Fallback>
          <p:sp>
            <p:nvSpPr>
              <p:cNvPr id="9" name="內容版面配置區 8">
                <a:extLst>
                  <a:ext uri="{FF2B5EF4-FFF2-40B4-BE49-F238E27FC236}">
                    <a16:creationId xmlns:a16="http://schemas.microsoft.com/office/drawing/2014/main" id="{64A77833-0447-604F-BD78-7E7ACC94FC82}"/>
                  </a:ext>
                </a:extLst>
              </p:cNvPr>
              <p:cNvSpPr>
                <a:spLocks noGrp="1" noRot="1" noChangeAspect="1" noMove="1" noResize="1" noEditPoints="1" noAdjustHandles="1" noChangeArrowheads="1" noChangeShapeType="1" noTextEdit="1"/>
              </p:cNvSpPr>
              <p:nvPr>
                <p:ph idx="1"/>
              </p:nvPr>
            </p:nvSpPr>
            <p:spPr>
              <a:blipFill>
                <a:blip r:embed="rId2"/>
                <a:stretch>
                  <a:fillRect l="-603" t="-581"/>
                </a:stretch>
              </a:blipFill>
            </p:spPr>
            <p:txBody>
              <a:bodyPr/>
              <a:lstStyle/>
              <a:p>
                <a:r>
                  <a:rPr lang="zh-TW" altLang="en-US">
                    <a:noFill/>
                  </a:rPr>
                  <a:t> </a:t>
                </a:r>
              </a:p>
            </p:txBody>
          </p:sp>
        </mc:Fallback>
      </mc:AlternateContent>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Background</a:t>
            </a:r>
            <a:r>
              <a:rPr kumimoji="1" lang="zh-TW" altLang="en-US" dirty="0">
                <a:latin typeface="Times" pitchFamily="2" charset="0"/>
              </a:rPr>
              <a:t> </a:t>
            </a:r>
            <a:r>
              <a:rPr kumimoji="1" lang="en-US" altLang="zh-TW" dirty="0">
                <a:latin typeface="Times" pitchFamily="2" charset="0"/>
              </a:rPr>
              <a:t>knowledges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a:p>
        </p:txBody>
      </p:sp>
      <p:pic>
        <p:nvPicPr>
          <p:cNvPr id="6" name="內容版面配置區 5" descr="一張含有 文字, 字型, 數字, 行 的圖片&#10;&#10;自動產生的描述">
            <a:extLst>
              <a:ext uri="{FF2B5EF4-FFF2-40B4-BE49-F238E27FC236}">
                <a16:creationId xmlns:a16="http://schemas.microsoft.com/office/drawing/2014/main" id="{0F99046A-0309-2E44-8025-1FD1207D1B65}"/>
              </a:ext>
            </a:extLst>
          </p:cNvPr>
          <p:cNvPicPr>
            <a:picLocks noChangeAspect="1"/>
          </p:cNvPicPr>
          <p:nvPr/>
        </p:nvPicPr>
        <p:blipFill>
          <a:blip r:embed="rId3"/>
          <a:stretch>
            <a:fillRect/>
          </a:stretch>
        </p:blipFill>
        <p:spPr>
          <a:xfrm>
            <a:off x="4967654" y="1825625"/>
            <a:ext cx="6445534" cy="2476087"/>
          </a:xfrm>
          <a:prstGeom prst="rect">
            <a:avLst/>
          </a:prstGeom>
        </p:spPr>
      </p:pic>
    </p:spTree>
    <p:extLst>
      <p:ext uri="{BB962C8B-B14F-4D97-AF65-F5344CB8AC3E}">
        <p14:creationId xmlns:p14="http://schemas.microsoft.com/office/powerpoint/2010/main" val="649636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noAutofit/>
              </a:bodyPr>
              <a:lstStyle/>
              <a:p>
                <a:pPr>
                  <a:lnSpc>
                    <a:spcPct val="100000"/>
                  </a:lnSpc>
                  <a:spcBef>
                    <a:spcPct val="20000"/>
                  </a:spcBef>
                  <a:defRPr/>
                </a:pPr>
                <a14:m>
                  <m:oMath xmlns:m="http://schemas.openxmlformats.org/officeDocument/2006/math">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𝐵</m:t>
                    </m:r>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𝐾</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b>
                    </m:sSub>
                  </m:oMath>
                </a14:m>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a:t>
                </a:r>
              </a:p>
              <a:p>
                <a:pPr lvl="1">
                  <a:lnSpc>
                    <a:spcPct val="100000"/>
                  </a:lnSpc>
                  <a:spcBef>
                    <a:spcPct val="20000"/>
                  </a:spcBef>
                  <a:defRPr/>
                </a:pPr>
                <a14:m>
                  <m:oMath xmlns:m="http://schemas.openxmlformats.org/officeDocument/2006/math">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𝐵</m:t>
                    </m:r>
                    <m:sSub>
                      <m:sSubPr>
                        <m:ctrlP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𝐾</m:t>
                        </m:r>
                      </m:e>
                      <m:sub>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sub>
                    </m:sSub>
                  </m:oMath>
                </a14:m>
                <a:endPar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endParaRPr>
              </a:p>
              <a:p>
                <a:pPr lvl="1">
                  <a:lnSpc>
                    <a:spcPct val="100000"/>
                  </a:lnSpc>
                  <a:spcBef>
                    <a:spcPct val="20000"/>
                  </a:spcBef>
                  <a:defRPr/>
                </a:pP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List honor(E, Suit, </a:t>
                </a:r>
                <a:r>
                  <a:rPr kumimoji="0" lang="en-US" altLang="zh-TW" b="0" i="0" u="none" strike="noStrike" kern="1200" cap="none" spc="0" normalizeH="0" baseline="0" noProof="0" dirty="0" err="1">
                    <a:ln>
                      <a:noFill/>
                    </a:ln>
                    <a:solidFill>
                      <a:prstClr val="black"/>
                    </a:solidFill>
                    <a:effectLst/>
                    <a:uLnTx/>
                    <a:uFillTx/>
                    <a:latin typeface="Times New Roman" panose="02020603050405020304" pitchFamily="18" charset="0"/>
                    <a:ea typeface="新細明體"/>
                    <a:cs typeface="Times New Roman" panose="02020603050405020304" pitchFamily="18" charset="0"/>
                  </a:rPr>
                  <a:t>ListH</a:t>
                </a:r>
                <a:r>
                  <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a:t>
                </a:r>
              </a:p>
            </p:txBody>
          </p:sp>
        </mc:Choice>
        <mc:Fallback>
          <p:sp>
            <p:nvSpPr>
              <p:cNvPr id="9" name="內容版面配置區 8">
                <a:extLst>
                  <a:ext uri="{FF2B5EF4-FFF2-40B4-BE49-F238E27FC236}">
                    <a16:creationId xmlns:a16="http://schemas.microsoft.com/office/drawing/2014/main" id="{64A77833-0447-604F-BD78-7E7ACC94FC82}"/>
                  </a:ext>
                </a:extLst>
              </p:cNvPr>
              <p:cNvSpPr>
                <a:spLocks noGrp="1" noRot="1" noChangeAspect="1" noMove="1" noResize="1" noEditPoints="1" noAdjustHandles="1" noChangeArrowheads="1" noChangeShapeType="1" noTextEdit="1"/>
              </p:cNvSpPr>
              <p:nvPr>
                <p:ph idx="1"/>
              </p:nvPr>
            </p:nvSpPr>
            <p:spPr>
              <a:blipFill>
                <a:blip r:embed="rId2"/>
                <a:stretch>
                  <a:fillRect l="-844" t="-1163"/>
                </a:stretch>
              </a:blipFill>
            </p:spPr>
            <p:txBody>
              <a:bodyPr/>
              <a:lstStyle/>
              <a:p>
                <a:r>
                  <a:rPr lang="zh-TW" altLang="en-US">
                    <a:noFill/>
                  </a:rPr>
                  <a:t> </a:t>
                </a:r>
              </a:p>
            </p:txBody>
          </p:sp>
        </mc:Fallback>
      </mc:AlternateContent>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Background</a:t>
            </a:r>
            <a:r>
              <a:rPr kumimoji="1" lang="zh-TW" altLang="en-US" dirty="0">
                <a:latin typeface="Times" pitchFamily="2" charset="0"/>
              </a:rPr>
              <a:t> </a:t>
            </a:r>
            <a:r>
              <a:rPr kumimoji="1" lang="en-US" altLang="zh-TW" dirty="0">
                <a:latin typeface="Times" pitchFamily="2" charset="0"/>
              </a:rPr>
              <a:t>knowledges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a:p>
        </p:txBody>
      </p:sp>
      <p:pic>
        <p:nvPicPr>
          <p:cNvPr id="8" name="內容版面配置區 5" descr="一張含有 文字, 字型, 數字, 行 的圖片&#10;&#10;自動產生的描述">
            <a:extLst>
              <a:ext uri="{FF2B5EF4-FFF2-40B4-BE49-F238E27FC236}">
                <a16:creationId xmlns:a16="http://schemas.microsoft.com/office/drawing/2014/main" id="{F302CDAF-00BA-1042-AE2C-D3F60B680D26}"/>
              </a:ext>
            </a:extLst>
          </p:cNvPr>
          <p:cNvPicPr>
            <a:picLocks noChangeAspect="1"/>
          </p:cNvPicPr>
          <p:nvPr/>
        </p:nvPicPr>
        <p:blipFill>
          <a:blip r:embed="rId3"/>
          <a:stretch>
            <a:fillRect/>
          </a:stretch>
        </p:blipFill>
        <p:spPr>
          <a:xfrm>
            <a:off x="4967654" y="1825625"/>
            <a:ext cx="6445534" cy="2476087"/>
          </a:xfrm>
          <a:prstGeom prst="rect">
            <a:avLst/>
          </a:prstGeom>
        </p:spPr>
      </p:pic>
    </p:spTree>
    <p:extLst>
      <p:ext uri="{BB962C8B-B14F-4D97-AF65-F5344CB8AC3E}">
        <p14:creationId xmlns:p14="http://schemas.microsoft.com/office/powerpoint/2010/main" val="213821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SVM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2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Building rule sets with </a:t>
            </a:r>
            <a:r>
              <a:rPr kumimoji="0" lang="en-US" altLang="zh-TW" sz="2800" b="0" i="0" u="none" strike="noStrike" kern="1200" cap="none" spc="0" normalizeH="0" baseline="0" noProof="0" dirty="0">
                <a:ln>
                  <a:noFill/>
                </a:ln>
                <a:solidFill>
                  <a:prstClr val="black"/>
                </a:solidFill>
                <a:effectLst/>
                <a:uLnTx/>
                <a:uFillTx/>
                <a:latin typeface="Times New Roman"/>
                <a:ea typeface="新細明體"/>
                <a:cs typeface="+mn-cs"/>
              </a:rPr>
              <a:t>Inductive Logic Programming(</a:t>
            </a:r>
            <a:r>
              <a:rPr kumimoji="0" lang="en-US" altLang="zh-TW" sz="2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ILP) system</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Aleph</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rPr>
              <a:t>Tilde</a:t>
            </a: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US" altLang="zh-TW" dirty="0">
                <a:latin typeface="Times" pitchFamily="2" charset="0"/>
              </a:rPr>
              <a:t>Methods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dirty="0"/>
          </a:p>
        </p:txBody>
      </p:sp>
      <p:sp>
        <p:nvSpPr>
          <p:cNvPr id="12" name="文字方塊 11">
            <a:extLst>
              <a:ext uri="{FF2B5EF4-FFF2-40B4-BE49-F238E27FC236}">
                <a16:creationId xmlns:a16="http://schemas.microsoft.com/office/drawing/2014/main" id="{2845F125-674C-0E42-A1A4-BDF837F9036E}"/>
              </a:ext>
            </a:extLst>
          </p:cNvPr>
          <p:cNvSpPr txBox="1"/>
          <p:nvPr/>
        </p:nvSpPr>
        <p:spPr>
          <a:xfrm>
            <a:off x="838200" y="6188789"/>
            <a:ext cx="2209067" cy="246221"/>
          </a:xfrm>
          <a:prstGeom prst="rect">
            <a:avLst/>
          </a:prstGeom>
          <a:noFill/>
        </p:spPr>
        <p:txBody>
          <a:bodyPr wrap="square">
            <a:spAutoFit/>
          </a:bodyPr>
          <a:lstStyle/>
          <a:p>
            <a:r>
              <a:rPr lang="zh-TW" altLang="en-US" sz="1000" dirty="0">
                <a:latin typeface="Times New Roman" panose="02020603050405020304" pitchFamily="18" charset="0"/>
                <a:cs typeface="Times New Roman" panose="02020603050405020304" pitchFamily="18" charset="0"/>
              </a:rPr>
              <a:t>https://arxiv.org/pdf/2008.07912.pdf</a:t>
            </a:r>
          </a:p>
        </p:txBody>
      </p:sp>
      <p:grpSp>
        <p:nvGrpSpPr>
          <p:cNvPr id="39" name="群組 38">
            <a:extLst>
              <a:ext uri="{FF2B5EF4-FFF2-40B4-BE49-F238E27FC236}">
                <a16:creationId xmlns:a16="http://schemas.microsoft.com/office/drawing/2014/main" id="{ABEA8FBD-4EB2-7743-AAE2-512D3C4ED9BB}"/>
              </a:ext>
            </a:extLst>
          </p:cNvPr>
          <p:cNvGrpSpPr/>
          <p:nvPr/>
        </p:nvGrpSpPr>
        <p:grpSpPr>
          <a:xfrm>
            <a:off x="3306676" y="4120759"/>
            <a:ext cx="5166932" cy="1709550"/>
            <a:chOff x="2927495" y="4133638"/>
            <a:chExt cx="5166932" cy="1709550"/>
          </a:xfrm>
        </p:grpSpPr>
        <p:grpSp>
          <p:nvGrpSpPr>
            <p:cNvPr id="15" name="群組 14">
              <a:extLst>
                <a:ext uri="{FF2B5EF4-FFF2-40B4-BE49-F238E27FC236}">
                  <a16:creationId xmlns:a16="http://schemas.microsoft.com/office/drawing/2014/main" id="{F6B84779-1575-E245-BAE1-9C051D1C2218}"/>
                </a:ext>
              </a:extLst>
            </p:cNvPr>
            <p:cNvGrpSpPr/>
            <p:nvPr/>
          </p:nvGrpSpPr>
          <p:grpSpPr>
            <a:xfrm>
              <a:off x="2927495" y="4133638"/>
              <a:ext cx="2952750" cy="1709550"/>
              <a:chOff x="7134225" y="3298050"/>
              <a:chExt cx="2952750" cy="1709550"/>
            </a:xfrm>
          </p:grpSpPr>
          <p:pic>
            <p:nvPicPr>
              <p:cNvPr id="7" name="圖片 6" descr="一張含有 文字, 字型, 白色, 代數 的圖片&#10;&#10;自動產生的描述">
                <a:extLst>
                  <a:ext uri="{FF2B5EF4-FFF2-40B4-BE49-F238E27FC236}">
                    <a16:creationId xmlns:a16="http://schemas.microsoft.com/office/drawing/2014/main" id="{8FAD636C-13AB-8C49-839F-AD50FD4C6115}"/>
                  </a:ext>
                </a:extLst>
              </p:cNvPr>
              <p:cNvPicPr>
                <a:picLocks noChangeAspect="1"/>
              </p:cNvPicPr>
              <p:nvPr/>
            </p:nvPicPr>
            <p:blipFill>
              <a:blip r:embed="rId2"/>
              <a:stretch>
                <a:fillRect/>
              </a:stretch>
            </p:blipFill>
            <p:spPr>
              <a:xfrm>
                <a:off x="7134225" y="3334172"/>
                <a:ext cx="2952750" cy="1610591"/>
              </a:xfrm>
              <a:prstGeom prst="rect">
                <a:avLst/>
              </a:prstGeom>
            </p:spPr>
          </p:pic>
          <p:pic>
            <p:nvPicPr>
              <p:cNvPr id="14" name="圖片 13" descr="一張含有 文字, 字型, 白色, 印刷術 的圖片&#10;&#10;自動產生的描述">
                <a:extLst>
                  <a:ext uri="{FF2B5EF4-FFF2-40B4-BE49-F238E27FC236}">
                    <a16:creationId xmlns:a16="http://schemas.microsoft.com/office/drawing/2014/main" id="{4767E7D3-A1CF-1C40-808F-11BC2A681FAB}"/>
                  </a:ext>
                </a:extLst>
              </p:cNvPr>
              <p:cNvPicPr>
                <a:picLocks noChangeAspect="1"/>
              </p:cNvPicPr>
              <p:nvPr/>
            </p:nvPicPr>
            <p:blipFill rotWithShape="1">
              <a:blip r:embed="rId3"/>
              <a:srcRect t="18163"/>
              <a:stretch/>
            </p:blipFill>
            <p:spPr>
              <a:xfrm>
                <a:off x="7763903" y="3298050"/>
                <a:ext cx="2101314" cy="1709550"/>
              </a:xfrm>
              <a:prstGeom prst="rect">
                <a:avLst/>
              </a:prstGeom>
            </p:spPr>
          </p:pic>
        </p:grpSp>
        <mc:AlternateContent xmlns:mc="http://schemas.openxmlformats.org/markup-compatibility/2006">
          <mc:Choice xmlns:a14="http://schemas.microsoft.com/office/drawing/2010/main" Requires="a14">
            <p:sp>
              <p:nvSpPr>
                <p:cNvPr id="36" name="文字方塊 35">
                  <a:extLst>
                    <a:ext uri="{FF2B5EF4-FFF2-40B4-BE49-F238E27FC236}">
                      <a16:creationId xmlns:a16="http://schemas.microsoft.com/office/drawing/2014/main" id="{64C4D54E-CACF-0142-94D2-4D1565A39556}"/>
                    </a:ext>
                  </a:extLst>
                </p:cNvPr>
                <p:cNvSpPr txBox="1"/>
                <p:nvPr/>
              </p:nvSpPr>
              <p:spPr>
                <a:xfrm>
                  <a:off x="6288165" y="4757580"/>
                  <a:ext cx="1806262" cy="461665"/>
                </a:xfrm>
                <a:prstGeom prst="rect">
                  <a:avLst/>
                </a:prstGeom>
                <a:noFill/>
              </p:spPr>
              <p:txBody>
                <a:bodyPr wrap="square">
                  <a:spAutoFit/>
                </a:bodyPr>
                <a:lstStyle/>
                <a:p>
                  <a:pPr>
                    <a:lnSpc>
                      <a:spcPct val="100000"/>
                    </a:lnSpc>
                    <a:spcBef>
                      <a:spcPct val="20000"/>
                    </a:spcBef>
                  </a:pPr>
                  <a14:m>
                    <m:oMathPara xmlns:m="http://schemas.openxmlformats.org/officeDocument/2006/math">
                      <m:oMathParaPr>
                        <m:jc m:val="centerGroup"/>
                      </m:oMathParaPr>
                      <m:oMath xmlns:m="http://schemas.openxmlformats.org/officeDocument/2006/math">
                        <m:sSup>
                          <m:sSupPr>
                            <m:ctrlPr>
                              <a:rPr lang="en-US" altLang="zh-TW" sz="2400" i="1" smtClean="0">
                                <a:solidFill>
                                  <a:prstClr val="black"/>
                                </a:solidFill>
                                <a:latin typeface="Cambria Math" panose="02040503050406030204" pitchFamily="18" charset="0"/>
                                <a:ea typeface="新細明體"/>
                                <a:cs typeface="Times New Roman" panose="02020603050405020304" pitchFamily="18" charset="0"/>
                              </a:rPr>
                            </m:ctrlPr>
                          </m:sSupPr>
                          <m:e>
                            <m:r>
                              <a:rPr lang="en-US" altLang="zh-TW" sz="2400" b="0" i="1" smtClean="0">
                                <a:solidFill>
                                  <a:prstClr val="black"/>
                                </a:solidFill>
                                <a:latin typeface="Cambria Math" panose="02040503050406030204" pitchFamily="18" charset="0"/>
                                <a:ea typeface="新細明體"/>
                                <a:cs typeface="Times New Roman" panose="02020603050405020304" pitchFamily="18" charset="0"/>
                              </a:rPr>
                              <m:t>𝐸</m:t>
                            </m:r>
                          </m:e>
                          <m:sup>
                            <m:r>
                              <a:rPr lang="en-US" altLang="zh-TW" sz="2400" b="0" i="1" smtClean="0">
                                <a:solidFill>
                                  <a:prstClr val="black"/>
                                </a:solidFill>
                                <a:latin typeface="Cambria Math" panose="02040503050406030204" pitchFamily="18" charset="0"/>
                                <a:ea typeface="新細明體"/>
                                <a:cs typeface="Times New Roman" panose="02020603050405020304" pitchFamily="18" charset="0"/>
                              </a:rPr>
                              <m:t>+</m:t>
                            </m:r>
                          </m:sup>
                        </m:sSup>
                        <m:r>
                          <a:rPr lang="zh-TW" altLang="en-US" sz="2400" b="0" i="1" smtClean="0">
                            <a:solidFill>
                              <a:prstClr val="black"/>
                            </a:solidFill>
                            <a:latin typeface="Cambria Math" panose="02040503050406030204" pitchFamily="18" charset="0"/>
                            <a:ea typeface="新細明體"/>
                            <a:cs typeface="Times New Roman" panose="02020603050405020304" pitchFamily="18" charset="0"/>
                          </a:rPr>
                          <m:t> </m:t>
                        </m:r>
                        <m:r>
                          <a:rPr lang="en-US" altLang="zh-TW" sz="2400" b="0" i="1" smtClean="0">
                            <a:solidFill>
                              <a:prstClr val="black"/>
                            </a:solidFill>
                            <a:latin typeface="Cambria Math" panose="02040503050406030204" pitchFamily="18" charset="0"/>
                            <a:ea typeface="新細明體"/>
                            <a:cs typeface="Times New Roman" panose="02020603050405020304" pitchFamily="18" charset="0"/>
                          </a:rPr>
                          <m:t>,</m:t>
                        </m:r>
                        <m:r>
                          <a:rPr lang="zh-TW" altLang="en-US" sz="2400" b="0" i="1" smtClean="0">
                            <a:solidFill>
                              <a:prstClr val="black"/>
                            </a:solidFill>
                            <a:latin typeface="Cambria Math" panose="02040503050406030204" pitchFamily="18" charset="0"/>
                            <a:ea typeface="新細明體"/>
                            <a:cs typeface="Times New Roman" panose="02020603050405020304" pitchFamily="18" charset="0"/>
                          </a:rPr>
                          <m:t> </m:t>
                        </m:r>
                        <m:sSup>
                          <m:sSupPr>
                            <m:ctrlPr>
                              <a:rPr lang="en-US" altLang="zh-TW" sz="2400" b="0" i="1" smtClean="0">
                                <a:solidFill>
                                  <a:prstClr val="black"/>
                                </a:solidFill>
                                <a:latin typeface="Cambria Math" panose="02040503050406030204" pitchFamily="18" charset="0"/>
                                <a:ea typeface="新細明體"/>
                                <a:cs typeface="Times New Roman" panose="02020603050405020304" pitchFamily="18" charset="0"/>
                              </a:rPr>
                            </m:ctrlPr>
                          </m:sSupPr>
                          <m:e>
                            <m:r>
                              <a:rPr lang="en-US" altLang="zh-TW" sz="2400" b="0" i="1" smtClean="0">
                                <a:solidFill>
                                  <a:prstClr val="black"/>
                                </a:solidFill>
                                <a:latin typeface="Cambria Math" panose="02040503050406030204" pitchFamily="18" charset="0"/>
                                <a:ea typeface="新細明體"/>
                                <a:cs typeface="Times New Roman" panose="02020603050405020304" pitchFamily="18" charset="0"/>
                              </a:rPr>
                              <m:t>𝐸</m:t>
                            </m:r>
                          </m:e>
                          <m:sup>
                            <m:r>
                              <a:rPr lang="en-US" altLang="zh-TW" sz="2400" b="0" i="1" smtClean="0">
                                <a:solidFill>
                                  <a:prstClr val="black"/>
                                </a:solidFill>
                                <a:latin typeface="Cambria Math" panose="02040503050406030204" pitchFamily="18" charset="0"/>
                                <a:ea typeface="新細明體"/>
                                <a:cs typeface="Times New Roman" panose="02020603050405020304" pitchFamily="18" charset="0"/>
                              </a:rPr>
                              <m:t>−</m:t>
                            </m:r>
                          </m:sup>
                        </m:sSup>
                      </m:oMath>
                    </m:oMathPara>
                  </a14:m>
                  <a:endParaRPr lang="en-US" altLang="zh-TW" sz="2400" dirty="0">
                    <a:solidFill>
                      <a:prstClr val="black"/>
                    </a:solidFill>
                    <a:latin typeface="Times New Roman" panose="02020603050405020304" pitchFamily="18" charset="0"/>
                    <a:ea typeface="新細明體"/>
                    <a:cs typeface="Times New Roman" panose="02020603050405020304" pitchFamily="18" charset="0"/>
                  </a:endParaRPr>
                </a:p>
              </p:txBody>
            </p:sp>
          </mc:Choice>
          <mc:Fallback>
            <p:sp>
              <p:nvSpPr>
                <p:cNvPr id="36" name="文字方塊 35">
                  <a:extLst>
                    <a:ext uri="{FF2B5EF4-FFF2-40B4-BE49-F238E27FC236}">
                      <a16:creationId xmlns:a16="http://schemas.microsoft.com/office/drawing/2014/main" id="{64C4D54E-CACF-0142-94D2-4D1565A39556}"/>
                    </a:ext>
                  </a:extLst>
                </p:cNvPr>
                <p:cNvSpPr txBox="1">
                  <a:spLocks noRot="1" noChangeAspect="1" noMove="1" noResize="1" noEditPoints="1" noAdjustHandles="1" noChangeArrowheads="1" noChangeShapeType="1" noTextEdit="1"/>
                </p:cNvSpPr>
                <p:nvPr/>
              </p:nvSpPr>
              <p:spPr>
                <a:xfrm>
                  <a:off x="6288165" y="4757580"/>
                  <a:ext cx="1806262" cy="461665"/>
                </a:xfrm>
                <a:prstGeom prst="rect">
                  <a:avLst/>
                </a:prstGeom>
                <a:blipFill>
                  <a:blip r:embed="rId4"/>
                  <a:stretch>
                    <a:fillRect b="-21622"/>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583389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normAutofit/>
          </a:bodyPr>
          <a:lstStyle/>
          <a:p>
            <a:pPr>
              <a:lnSpc>
                <a:spcPct val="100000"/>
              </a:lnSpc>
              <a:spcBef>
                <a:spcPct val="20000"/>
              </a:spcBef>
              <a:defRPr/>
            </a:pPr>
            <a:r>
              <a:rPr lang="en-US" altLang="zh-TW" sz="2400" dirty="0">
                <a:solidFill>
                  <a:prstClr val="black"/>
                </a:solidFill>
                <a:latin typeface="Times New Roman" panose="02020603050405020304" pitchFamily="18" charset="0"/>
                <a:ea typeface="新細明體"/>
                <a:cs typeface="Times New Roman" panose="02020603050405020304" pitchFamily="18" charset="0"/>
              </a:rPr>
              <a:t>Aleph</a:t>
            </a:r>
            <a:r>
              <a:rPr lang="zh-TW" altLang="en-US" sz="2400" dirty="0">
                <a:solidFill>
                  <a:prstClr val="black"/>
                </a:solidFill>
                <a:latin typeface="Times New Roman" panose="02020603050405020304" pitchFamily="18" charset="0"/>
                <a:ea typeface="新細明體"/>
                <a:cs typeface="Times New Roman" panose="02020603050405020304" pitchFamily="18" charset="0"/>
              </a:rPr>
              <a:t> </a:t>
            </a:r>
            <a:r>
              <a:rPr lang="en-US" altLang="zh-TW" sz="2400" dirty="0">
                <a:solidFill>
                  <a:prstClr val="black"/>
                </a:solidFill>
                <a:latin typeface="Times New Roman" panose="02020603050405020304" pitchFamily="18" charset="0"/>
                <a:ea typeface="新細明體"/>
                <a:cs typeface="Times New Roman" panose="02020603050405020304" pitchFamily="18" charset="0"/>
              </a:rPr>
              <a:t>(A Learning Engine for Proposing Hypotheses)</a:t>
            </a:r>
          </a:p>
          <a:p>
            <a:pPr marL="457200" lvl="1" indent="0">
              <a:lnSpc>
                <a:spcPct val="100000"/>
              </a:lnSpc>
              <a:spcBef>
                <a:spcPct val="20000"/>
              </a:spcBef>
              <a:buNone/>
              <a:defRPr/>
            </a:pPr>
            <a:r>
              <a:rPr lang="en-US" altLang="zh-TW" dirty="0">
                <a:solidFill>
                  <a:prstClr val="black"/>
                </a:solidFill>
                <a:latin typeface="Times New Roman" panose="02020603050405020304" pitchFamily="18" charset="0"/>
                <a:ea typeface="新細明體"/>
                <a:cs typeface="Times New Roman" panose="02020603050405020304" pitchFamily="18" charset="0"/>
              </a:rPr>
              <a:t>Step 1. Select example</a:t>
            </a:r>
          </a:p>
          <a:p>
            <a:pPr marL="457200" lvl="1" indent="0">
              <a:lnSpc>
                <a:spcPct val="100000"/>
              </a:lnSpc>
              <a:spcBef>
                <a:spcPct val="20000"/>
              </a:spcBef>
              <a:buNone/>
              <a:defRPr/>
            </a:pPr>
            <a:r>
              <a:rPr lang="en-US" altLang="zh-TW" dirty="0">
                <a:solidFill>
                  <a:prstClr val="black"/>
                </a:solidFill>
                <a:latin typeface="Times New Roman" panose="02020603050405020304" pitchFamily="18" charset="0"/>
                <a:ea typeface="新細明體"/>
                <a:cs typeface="Times New Roman" panose="02020603050405020304" pitchFamily="18" charset="0"/>
              </a:rPr>
              <a:t>Step 2. Build most-specific-clause</a:t>
            </a:r>
          </a:p>
          <a:p>
            <a:pPr marL="457200" lvl="1" indent="0">
              <a:lnSpc>
                <a:spcPct val="100000"/>
              </a:lnSpc>
              <a:spcBef>
                <a:spcPct val="20000"/>
              </a:spcBef>
              <a:buNone/>
              <a:defRPr/>
            </a:pPr>
            <a:r>
              <a:rPr lang="en-US" altLang="zh-TW" dirty="0">
                <a:solidFill>
                  <a:prstClr val="black"/>
                </a:solidFill>
                <a:latin typeface="Times New Roman" panose="02020603050405020304" pitchFamily="18" charset="0"/>
                <a:ea typeface="新細明體"/>
                <a:cs typeface="Times New Roman" panose="02020603050405020304" pitchFamily="18" charset="0"/>
              </a:rPr>
              <a:t>Step 3. Search</a:t>
            </a:r>
          </a:p>
          <a:p>
            <a:pPr marL="457200" lvl="1" indent="0">
              <a:lnSpc>
                <a:spcPct val="100000"/>
              </a:lnSpc>
              <a:spcBef>
                <a:spcPct val="20000"/>
              </a:spcBef>
              <a:buNone/>
              <a:defRPr/>
            </a:pPr>
            <a:r>
              <a:rPr lang="en-US" altLang="zh-TW" dirty="0">
                <a:solidFill>
                  <a:prstClr val="black"/>
                </a:solidFill>
                <a:latin typeface="Times New Roman" panose="02020603050405020304" pitchFamily="18" charset="0"/>
                <a:ea typeface="新細明體"/>
                <a:cs typeface="Times New Roman" panose="02020603050405020304" pitchFamily="18" charset="0"/>
              </a:rPr>
              <a:t>Step 4. Remove redundant</a:t>
            </a:r>
          </a:p>
          <a:p>
            <a:pPr marL="457200" lvl="1" indent="0">
              <a:lnSpc>
                <a:spcPct val="100000"/>
              </a:lnSpc>
              <a:spcBef>
                <a:spcPct val="20000"/>
              </a:spcBef>
              <a:buNone/>
              <a:defRPr/>
            </a:pPr>
            <a:endParaRPr lang="en-US" altLang="zh-TW" dirty="0">
              <a:solidFill>
                <a:prstClr val="black"/>
              </a:solidFill>
              <a:latin typeface="Times New Roman" panose="02020603050405020304" pitchFamily="18" charset="0"/>
              <a:ea typeface="新細明體"/>
              <a:cs typeface="Times New Roman" panose="02020603050405020304" pitchFamily="18" charset="0"/>
            </a:endParaRPr>
          </a:p>
          <a:p>
            <a:pPr marL="457200" lvl="1" indent="0">
              <a:lnSpc>
                <a:spcPct val="100000"/>
              </a:lnSpc>
              <a:spcBef>
                <a:spcPct val="20000"/>
              </a:spcBef>
              <a:buNone/>
              <a:defRPr/>
            </a:pPr>
            <a:endParaRPr lang="en-US" altLang="zh-TW" dirty="0">
              <a:solidFill>
                <a:prstClr val="black"/>
              </a:solidFill>
              <a:latin typeface="Times New Roman" panose="02020603050405020304" pitchFamily="18" charset="0"/>
              <a:ea typeface="新細明體"/>
              <a:cs typeface="Times New Roman" panose="02020603050405020304" pitchFamily="18" charset="0"/>
            </a:endParaRPr>
          </a:p>
          <a:p>
            <a:pPr>
              <a:lnSpc>
                <a:spcPct val="100000"/>
              </a:lnSpc>
              <a:spcBef>
                <a:spcPct val="20000"/>
              </a:spcBef>
              <a:defRPr/>
            </a:pPr>
            <a:r>
              <a:rPr lang="en-US" altLang="zh-TW" sz="2400" dirty="0">
                <a:solidFill>
                  <a:prstClr val="black"/>
                </a:solidFill>
                <a:latin typeface="Times New Roman" panose="02020603050405020304" pitchFamily="18" charset="0"/>
                <a:ea typeface="新細明體"/>
                <a:cs typeface="Times New Roman" panose="02020603050405020304" pitchFamily="18" charset="0"/>
              </a:rPr>
              <a:t>Tilde</a:t>
            </a:r>
            <a:r>
              <a:rPr lang="zh-TW" altLang="en-US" sz="2400" dirty="0">
                <a:solidFill>
                  <a:prstClr val="black"/>
                </a:solidFill>
                <a:latin typeface="Times New Roman" panose="02020603050405020304" pitchFamily="18" charset="0"/>
                <a:ea typeface="新細明體"/>
                <a:cs typeface="Times New Roman" panose="02020603050405020304" pitchFamily="18" charset="0"/>
              </a:rPr>
              <a:t> </a:t>
            </a:r>
            <a:r>
              <a:rPr lang="en-US" altLang="zh-TW" sz="2400" dirty="0">
                <a:solidFill>
                  <a:prstClr val="black"/>
                </a:solidFill>
                <a:latin typeface="Times New Roman" panose="02020603050405020304" pitchFamily="18" charset="0"/>
                <a:ea typeface="新細明體"/>
                <a:cs typeface="Times New Roman" panose="02020603050405020304" pitchFamily="18" charset="0"/>
              </a:rPr>
              <a:t>(Top-down Induction of Logical </a:t>
            </a:r>
            <a:r>
              <a:rPr lang="en-US" altLang="zh-TW" sz="2400" dirty="0" err="1">
                <a:solidFill>
                  <a:prstClr val="black"/>
                </a:solidFill>
                <a:latin typeface="Times New Roman" panose="02020603050405020304" pitchFamily="18" charset="0"/>
                <a:ea typeface="新細明體"/>
                <a:cs typeface="Times New Roman" panose="02020603050405020304" pitchFamily="18" charset="0"/>
              </a:rPr>
              <a:t>DEcision</a:t>
            </a:r>
            <a:r>
              <a:rPr lang="en-US" altLang="zh-TW" sz="2400" dirty="0">
                <a:solidFill>
                  <a:prstClr val="black"/>
                </a:solidFill>
                <a:latin typeface="Times New Roman" panose="02020603050405020304" pitchFamily="18" charset="0"/>
                <a:ea typeface="新細明體"/>
                <a:cs typeface="Times New Roman" panose="02020603050405020304" pitchFamily="18" charset="0"/>
              </a:rPr>
              <a:t> trees):</a:t>
            </a:r>
            <a:r>
              <a:rPr lang="zh-TW" altLang="en-US" sz="2400" dirty="0">
                <a:solidFill>
                  <a:prstClr val="black"/>
                </a:solidFill>
                <a:latin typeface="Times New Roman" panose="02020603050405020304" pitchFamily="18" charset="0"/>
                <a:ea typeface="新細明體"/>
                <a:cs typeface="Times New Roman" panose="02020603050405020304" pitchFamily="18" charset="0"/>
              </a:rPr>
              <a:t> </a:t>
            </a:r>
            <a:r>
              <a:rPr lang="en" altLang="zh-TW" sz="2400" dirty="0">
                <a:solidFill>
                  <a:prstClr val="black"/>
                </a:solidFill>
                <a:latin typeface="Times New Roman" panose="02020603050405020304" pitchFamily="18" charset="0"/>
                <a:ea typeface="新細明體"/>
                <a:cs typeface="Times New Roman" panose="02020603050405020304" pitchFamily="18" charset="0"/>
              </a:rPr>
              <a:t>learns a relational decision tree from interpretations.</a:t>
            </a:r>
            <a:endParaRPr lang="en-US" altLang="zh-TW" sz="2400" dirty="0">
              <a:solidFill>
                <a:prstClr val="black"/>
              </a:solidFill>
              <a:latin typeface="Times New Roman" panose="02020603050405020304" pitchFamily="18" charset="0"/>
              <a:ea typeface="新細明體"/>
              <a:cs typeface="Times New Roman" panose="02020603050405020304" pitchFamily="18" charset="0"/>
            </a:endParaRP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ILP</a:t>
            </a:r>
            <a:r>
              <a:rPr kumimoji="1" lang="zh-TW" altLang="en-US" dirty="0">
                <a:latin typeface="Times" pitchFamily="2" charset="0"/>
              </a:rPr>
              <a:t> </a:t>
            </a:r>
            <a:r>
              <a:rPr kumimoji="1" lang="en-US" altLang="zh-TW" dirty="0">
                <a:latin typeface="Times" pitchFamily="2" charset="0"/>
              </a:rPr>
              <a:t>system</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a:p>
        </p:txBody>
      </p:sp>
      <p:sp>
        <p:nvSpPr>
          <p:cNvPr id="6" name="文字方塊 5">
            <a:extLst>
              <a:ext uri="{FF2B5EF4-FFF2-40B4-BE49-F238E27FC236}">
                <a16:creationId xmlns:a16="http://schemas.microsoft.com/office/drawing/2014/main" id="{1319719C-88A5-FB4D-87C7-ED2E2138A24A}"/>
              </a:ext>
            </a:extLst>
          </p:cNvPr>
          <p:cNvSpPr txBox="1"/>
          <p:nvPr/>
        </p:nvSpPr>
        <p:spPr>
          <a:xfrm>
            <a:off x="4413738" y="6128157"/>
            <a:ext cx="6940062" cy="276999"/>
          </a:xfrm>
          <a:prstGeom prst="rect">
            <a:avLst/>
          </a:prstGeom>
          <a:noFill/>
        </p:spPr>
        <p:txBody>
          <a:bodyPr wrap="square">
            <a:spAutoFit/>
          </a:bodyPr>
          <a:lstStyle/>
          <a:p>
            <a:r>
              <a:rPr lang="en" altLang="zh-TW" sz="1200" dirty="0">
                <a:effectLst/>
                <a:latin typeface="Times New Roman" panose="02020603050405020304" pitchFamily="18" charset="0"/>
                <a:cs typeface="Times New Roman" panose="02020603050405020304" pitchFamily="18" charset="0"/>
              </a:rPr>
              <a:t>Srinivasan, A.: The aleph manual (1999). http://</a:t>
            </a:r>
            <a:r>
              <a:rPr lang="en" altLang="zh-TW" sz="1200" dirty="0" err="1">
                <a:effectLst/>
                <a:latin typeface="Times New Roman" panose="02020603050405020304" pitchFamily="18" charset="0"/>
                <a:cs typeface="Times New Roman" panose="02020603050405020304" pitchFamily="18" charset="0"/>
              </a:rPr>
              <a:t>www.comlab.ox.ac.uk</a:t>
            </a:r>
            <a:r>
              <a:rPr lang="en" altLang="zh-TW" sz="1200" dirty="0">
                <a:effectLst/>
                <a:latin typeface="Times New Roman" panose="02020603050405020304" pitchFamily="18" charset="0"/>
                <a:cs typeface="Times New Roman" panose="02020603050405020304" pitchFamily="18" charset="0"/>
              </a:rPr>
              <a:t>/</a:t>
            </a:r>
            <a:r>
              <a:rPr lang="en" altLang="zh-TW" sz="1200" dirty="0" err="1">
                <a:effectLst/>
                <a:latin typeface="Times New Roman" panose="02020603050405020304" pitchFamily="18" charset="0"/>
                <a:cs typeface="Times New Roman" panose="02020603050405020304" pitchFamily="18" charset="0"/>
              </a:rPr>
              <a:t>oucl</a:t>
            </a:r>
            <a:r>
              <a:rPr lang="en" altLang="zh-TW" sz="1200" dirty="0">
                <a:effectLst/>
                <a:latin typeface="Times New Roman" panose="02020603050405020304" pitchFamily="18" charset="0"/>
                <a:cs typeface="Times New Roman" panose="02020603050405020304" pitchFamily="18" charset="0"/>
              </a:rPr>
              <a:t>/research/areas/</a:t>
            </a:r>
            <a:r>
              <a:rPr lang="en" altLang="zh-TW" sz="1200" dirty="0" err="1">
                <a:effectLst/>
                <a:latin typeface="Times New Roman" panose="02020603050405020304" pitchFamily="18" charset="0"/>
                <a:cs typeface="Times New Roman" panose="02020603050405020304" pitchFamily="18" charset="0"/>
              </a:rPr>
              <a:t>machlearn</a:t>
            </a:r>
            <a:r>
              <a:rPr lang="en" altLang="zh-TW" sz="1200" dirty="0">
                <a:effectLst/>
                <a:latin typeface="Times New Roman" panose="02020603050405020304" pitchFamily="18" charset="0"/>
                <a:cs typeface="Times New Roman" panose="02020603050405020304" pitchFamily="18" charset="0"/>
              </a:rPr>
              <a:t>/Aleph/ </a:t>
            </a:r>
          </a:p>
        </p:txBody>
      </p:sp>
      <p:pic>
        <p:nvPicPr>
          <p:cNvPr id="7" name="圖片 6" descr="一張含有 文字, 字型, 白色, 印刷術 的圖片&#10;&#10;自動產生的描述">
            <a:extLst>
              <a:ext uri="{FF2B5EF4-FFF2-40B4-BE49-F238E27FC236}">
                <a16:creationId xmlns:a16="http://schemas.microsoft.com/office/drawing/2014/main" id="{69DDA951-EC46-A149-976E-E80799580BA4}"/>
              </a:ext>
            </a:extLst>
          </p:cNvPr>
          <p:cNvPicPr>
            <a:picLocks noChangeAspect="1"/>
          </p:cNvPicPr>
          <p:nvPr/>
        </p:nvPicPr>
        <p:blipFill>
          <a:blip r:embed="rId2"/>
          <a:stretch>
            <a:fillRect/>
          </a:stretch>
        </p:blipFill>
        <p:spPr>
          <a:xfrm>
            <a:off x="6163448" y="2391145"/>
            <a:ext cx="4635719" cy="776889"/>
          </a:xfrm>
          <a:prstGeom prst="rect">
            <a:avLst/>
          </a:prstGeom>
        </p:spPr>
      </p:pic>
      <p:pic>
        <p:nvPicPr>
          <p:cNvPr id="10" name="圖片 9" descr="一張含有 文字, 字型, 白色, 行 的圖片&#10;&#10;自動產生的描述">
            <a:extLst>
              <a:ext uri="{FF2B5EF4-FFF2-40B4-BE49-F238E27FC236}">
                <a16:creationId xmlns:a16="http://schemas.microsoft.com/office/drawing/2014/main" id="{6B0538E6-047C-DB4D-9B51-49D2531012E3}"/>
              </a:ext>
            </a:extLst>
          </p:cNvPr>
          <p:cNvPicPr>
            <a:picLocks noChangeAspect="1"/>
          </p:cNvPicPr>
          <p:nvPr/>
        </p:nvPicPr>
        <p:blipFill>
          <a:blip r:embed="rId3"/>
          <a:stretch>
            <a:fillRect/>
          </a:stretch>
        </p:blipFill>
        <p:spPr>
          <a:xfrm>
            <a:off x="6178438" y="3168034"/>
            <a:ext cx="4827533" cy="608445"/>
          </a:xfrm>
          <a:prstGeom prst="rect">
            <a:avLst/>
          </a:prstGeom>
        </p:spPr>
      </p:pic>
      <p:pic>
        <p:nvPicPr>
          <p:cNvPr id="12" name="圖片 11">
            <a:extLst>
              <a:ext uri="{FF2B5EF4-FFF2-40B4-BE49-F238E27FC236}">
                <a16:creationId xmlns:a16="http://schemas.microsoft.com/office/drawing/2014/main" id="{4B66D641-59D9-0D41-9825-2D122005C732}"/>
              </a:ext>
            </a:extLst>
          </p:cNvPr>
          <p:cNvPicPr>
            <a:picLocks noChangeAspect="1"/>
          </p:cNvPicPr>
          <p:nvPr/>
        </p:nvPicPr>
        <p:blipFill>
          <a:blip r:embed="rId4"/>
          <a:stretch>
            <a:fillRect/>
          </a:stretch>
        </p:blipFill>
        <p:spPr>
          <a:xfrm>
            <a:off x="6259628" y="3840187"/>
            <a:ext cx="5932372" cy="538606"/>
          </a:xfrm>
          <a:prstGeom prst="rect">
            <a:avLst/>
          </a:prstGeom>
        </p:spPr>
      </p:pic>
    </p:spTree>
    <p:extLst>
      <p:ext uri="{BB962C8B-B14F-4D97-AF65-F5344CB8AC3E}">
        <p14:creationId xmlns:p14="http://schemas.microsoft.com/office/powerpoint/2010/main" val="251490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Datasets</a:t>
            </a:r>
            <a:endParaRPr kumimoji="1" lang="zh-TW" altLang="en-US" dirty="0">
              <a:latin typeface="Times" pitchFamily="2" charset="0"/>
            </a:endParaRPr>
          </a:p>
        </p:txBody>
      </p:sp>
      <p:pic>
        <p:nvPicPr>
          <p:cNvPr id="6" name="內容版面配置區 5" descr="一張含有 文字, 字型, 數字, 螢幕擷取畫面 的圖片&#10;&#10;自動產生的描述">
            <a:extLst>
              <a:ext uri="{FF2B5EF4-FFF2-40B4-BE49-F238E27FC236}">
                <a16:creationId xmlns:a16="http://schemas.microsoft.com/office/drawing/2014/main" id="{2ED978E5-3809-EA46-AA32-28780CA3218F}"/>
              </a:ext>
            </a:extLst>
          </p:cNvPr>
          <p:cNvPicPr>
            <a:picLocks noGrp="1" noChangeAspect="1"/>
          </p:cNvPicPr>
          <p:nvPr>
            <p:ph idx="1"/>
          </p:nvPr>
        </p:nvPicPr>
        <p:blipFill>
          <a:blip r:embed="rId3"/>
          <a:stretch>
            <a:fillRect/>
          </a:stretch>
        </p:blipFill>
        <p:spPr>
          <a:xfrm>
            <a:off x="465685" y="2557340"/>
            <a:ext cx="11260630" cy="2909857"/>
          </a:xfrm>
        </p:spPr>
      </p:pic>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dirty="0"/>
          </a:p>
        </p:txBody>
      </p:sp>
    </p:spTree>
    <p:extLst>
      <p:ext uri="{BB962C8B-B14F-4D97-AF65-F5344CB8AC3E}">
        <p14:creationId xmlns:p14="http://schemas.microsoft.com/office/powerpoint/2010/main" val="731035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圖表, 繪圖, 行, 鮮豔 的圖片&#10;&#10;自動產生的描述">
            <a:extLst>
              <a:ext uri="{FF2B5EF4-FFF2-40B4-BE49-F238E27FC236}">
                <a16:creationId xmlns:a16="http://schemas.microsoft.com/office/drawing/2014/main" id="{97019843-4B02-AD43-9157-1FA89E4E9E49}"/>
              </a:ext>
            </a:extLst>
          </p:cNvPr>
          <p:cNvPicPr>
            <a:picLocks noGrp="1" noChangeAspect="1"/>
          </p:cNvPicPr>
          <p:nvPr>
            <p:ph idx="1"/>
          </p:nvPr>
        </p:nvPicPr>
        <p:blipFill>
          <a:blip r:embed="rId2"/>
          <a:stretch>
            <a:fillRect/>
          </a:stretch>
        </p:blipFill>
        <p:spPr>
          <a:xfrm>
            <a:off x="251460" y="1690688"/>
            <a:ext cx="11689080" cy="4282637"/>
          </a:xfrm>
        </p:spPr>
      </p:pic>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Experiments</a:t>
            </a:r>
            <a:r>
              <a:rPr lang="zh-TW" altLang="en-US" dirty="0">
                <a:latin typeface="Times" pitchFamily="2" charset="0"/>
              </a:rPr>
              <a:t> </a:t>
            </a:r>
            <a:r>
              <a:rPr lang="en-US" altLang="zh-TW" dirty="0">
                <a:latin typeface="Times" pitchFamily="2" charset="0"/>
              </a:rPr>
              <a:t>-</a:t>
            </a:r>
            <a:r>
              <a:rPr lang="zh-TW" altLang="en-US" dirty="0">
                <a:latin typeface="Times" pitchFamily="2" charset="0"/>
              </a:rPr>
              <a:t> </a:t>
            </a:r>
            <a:r>
              <a:rPr lang="en-US" altLang="zh-TW" dirty="0">
                <a:latin typeface="Times" pitchFamily="2" charset="0"/>
              </a:rPr>
              <a:t>accuracy</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a:p>
        </p:txBody>
      </p:sp>
      <p:pic>
        <p:nvPicPr>
          <p:cNvPr id="7" name="圖片 6" descr="一張含有 字型, 文字, 白色, 印刷術 的圖片&#10;&#10;自動產生的描述">
            <a:extLst>
              <a:ext uri="{FF2B5EF4-FFF2-40B4-BE49-F238E27FC236}">
                <a16:creationId xmlns:a16="http://schemas.microsoft.com/office/drawing/2014/main" id="{BF969D84-B116-9A49-9C78-31090342D4FD}"/>
              </a:ext>
            </a:extLst>
          </p:cNvPr>
          <p:cNvPicPr>
            <a:picLocks noChangeAspect="1"/>
          </p:cNvPicPr>
          <p:nvPr/>
        </p:nvPicPr>
        <p:blipFill rotWithShape="1">
          <a:blip r:embed="rId3"/>
          <a:srcRect t="-4184" b="5736"/>
          <a:stretch/>
        </p:blipFill>
        <p:spPr>
          <a:xfrm>
            <a:off x="838200" y="5973325"/>
            <a:ext cx="2151185" cy="603615"/>
          </a:xfrm>
          <a:prstGeom prst="rect">
            <a:avLst/>
          </a:prstGeom>
        </p:spPr>
      </p:pic>
    </p:spTree>
    <p:extLst>
      <p:ext uri="{BB962C8B-B14F-4D97-AF65-F5344CB8AC3E}">
        <p14:creationId xmlns:p14="http://schemas.microsoft.com/office/powerpoint/2010/main" val="2285549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Experiments</a:t>
            </a:r>
            <a:r>
              <a:rPr lang="zh-TW" altLang="en-US" dirty="0">
                <a:latin typeface="Times" pitchFamily="2" charset="0"/>
              </a:rPr>
              <a:t> </a:t>
            </a:r>
            <a:r>
              <a:rPr lang="en-US" altLang="zh-TW" dirty="0">
                <a:latin typeface="Times" pitchFamily="2" charset="0"/>
              </a:rPr>
              <a:t>-</a:t>
            </a:r>
            <a:r>
              <a:rPr lang="zh-TW" altLang="en-US" dirty="0">
                <a:latin typeface="Times" pitchFamily="2" charset="0"/>
              </a:rPr>
              <a:t> </a:t>
            </a:r>
            <a:r>
              <a:rPr lang="en-US" altLang="zh-TW" dirty="0">
                <a:latin typeface="Times" pitchFamily="2" charset="0"/>
              </a:rPr>
              <a:t>training</a:t>
            </a:r>
            <a:r>
              <a:rPr lang="zh-TW" altLang="en-US" dirty="0">
                <a:latin typeface="Times" pitchFamily="2" charset="0"/>
              </a:rPr>
              <a:t> </a:t>
            </a:r>
            <a:r>
              <a:rPr lang="en-US" altLang="zh-TW" dirty="0">
                <a:latin typeface="Times" pitchFamily="2" charset="0"/>
              </a:rPr>
              <a:t>data</a:t>
            </a:r>
            <a:r>
              <a:rPr lang="zh-TW" altLang="en-US" dirty="0">
                <a:latin typeface="Times" pitchFamily="2" charset="0"/>
              </a:rPr>
              <a:t> </a:t>
            </a:r>
            <a:r>
              <a:rPr lang="en-US" altLang="zh-TW" dirty="0">
                <a:latin typeface="Times" pitchFamily="2" charset="0"/>
              </a:rPr>
              <a:t>size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a:p>
        </p:txBody>
      </p:sp>
      <p:pic>
        <p:nvPicPr>
          <p:cNvPr id="8" name="內容版面配置區 7" descr="一張含有 行, 繪圖, 圖表, 斜率、斜坡 的圖片&#10;&#10;自動產生的描述">
            <a:extLst>
              <a:ext uri="{FF2B5EF4-FFF2-40B4-BE49-F238E27FC236}">
                <a16:creationId xmlns:a16="http://schemas.microsoft.com/office/drawing/2014/main" id="{374C0459-98D4-804D-8158-17CA43347C56}"/>
              </a:ext>
            </a:extLst>
          </p:cNvPr>
          <p:cNvPicPr>
            <a:picLocks noGrp="1" noChangeAspect="1"/>
          </p:cNvPicPr>
          <p:nvPr>
            <p:ph idx="1"/>
          </p:nvPr>
        </p:nvPicPr>
        <p:blipFill>
          <a:blip r:embed="rId2"/>
          <a:stretch>
            <a:fillRect/>
          </a:stretch>
        </p:blipFill>
        <p:spPr>
          <a:xfrm>
            <a:off x="453698" y="1690688"/>
            <a:ext cx="11284604" cy="4432020"/>
          </a:xfrm>
        </p:spPr>
      </p:pic>
      <p:grpSp>
        <p:nvGrpSpPr>
          <p:cNvPr id="12" name="群組 11">
            <a:extLst>
              <a:ext uri="{FF2B5EF4-FFF2-40B4-BE49-F238E27FC236}">
                <a16:creationId xmlns:a16="http://schemas.microsoft.com/office/drawing/2014/main" id="{015B3780-B0A5-FF4D-B89E-C8CCD123B4D8}"/>
              </a:ext>
            </a:extLst>
          </p:cNvPr>
          <p:cNvGrpSpPr/>
          <p:nvPr/>
        </p:nvGrpSpPr>
        <p:grpSpPr>
          <a:xfrm>
            <a:off x="3094892" y="1739664"/>
            <a:ext cx="7420708" cy="369332"/>
            <a:chOff x="3094892" y="1739664"/>
            <a:chExt cx="7420708" cy="369332"/>
          </a:xfrm>
        </p:grpSpPr>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B746A3E2-0CA0-1949-82FD-E4AE5A742F7A}"/>
                    </a:ext>
                  </a:extLst>
                </p:cNvPr>
                <p:cNvSpPr txBox="1"/>
                <p:nvPr/>
              </p:nvSpPr>
              <p:spPr>
                <a:xfrm>
                  <a:off x="3094892" y="1739664"/>
                  <a:ext cx="1348154" cy="369332"/>
                </a:xfrm>
                <a:prstGeom prst="rect">
                  <a:avLst/>
                </a:prstGeom>
                <a:noFill/>
              </p:spPr>
              <p:txBody>
                <a:bodyPr wrap="square">
                  <a:spAutoFit/>
                </a:bodyPr>
                <a:lstStyle/>
                <a:p>
                  <a:pPr lvl="1">
                    <a:lnSpc>
                      <a:spcPct val="100000"/>
                    </a:lnSpc>
                    <a:spcBef>
                      <a:spcPct val="20000"/>
                    </a:spcBef>
                    <a:defRPr/>
                  </a:pPr>
                  <a14:m>
                    <m:oMathPara xmlns:m="http://schemas.openxmlformats.org/officeDocument/2006/math">
                      <m:oMathParaPr>
                        <m:jc m:val="centerGroup"/>
                      </m:oMathParaPr>
                      <m:oMath xmlns:m="http://schemas.openxmlformats.org/officeDocument/2006/math">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𝐵</m:t>
                        </m:r>
                        <m:sSub>
                          <m:sSubPr>
                            <m:ctrlP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𝐾</m:t>
                            </m:r>
                          </m:e>
                          <m:sub>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sub>
                        </m:sSub>
                      </m:oMath>
                    </m:oMathPara>
                  </a14:m>
                  <a:endPar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endParaRPr>
                </a:p>
              </p:txBody>
            </p:sp>
          </mc:Choice>
          <mc:Fallback>
            <p:sp>
              <p:nvSpPr>
                <p:cNvPr id="10" name="文字方塊 9">
                  <a:extLst>
                    <a:ext uri="{FF2B5EF4-FFF2-40B4-BE49-F238E27FC236}">
                      <a16:creationId xmlns:a16="http://schemas.microsoft.com/office/drawing/2014/main" id="{B746A3E2-0CA0-1949-82FD-E4AE5A742F7A}"/>
                    </a:ext>
                  </a:extLst>
                </p:cNvPr>
                <p:cNvSpPr txBox="1">
                  <a:spLocks noRot="1" noChangeAspect="1" noMove="1" noResize="1" noEditPoints="1" noAdjustHandles="1" noChangeArrowheads="1" noChangeShapeType="1" noTextEdit="1"/>
                </p:cNvSpPr>
                <p:nvPr/>
              </p:nvSpPr>
              <p:spPr>
                <a:xfrm>
                  <a:off x="3094892" y="1739664"/>
                  <a:ext cx="1348154"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文字方塊 10">
                  <a:extLst>
                    <a:ext uri="{FF2B5EF4-FFF2-40B4-BE49-F238E27FC236}">
                      <a16:creationId xmlns:a16="http://schemas.microsoft.com/office/drawing/2014/main" id="{333FB35C-974B-2044-81B3-4CF622648887}"/>
                    </a:ext>
                  </a:extLst>
                </p:cNvPr>
                <p:cNvSpPr txBox="1"/>
                <p:nvPr/>
              </p:nvSpPr>
              <p:spPr>
                <a:xfrm>
                  <a:off x="9167446" y="1739664"/>
                  <a:ext cx="1348154" cy="369332"/>
                </a:xfrm>
                <a:prstGeom prst="rect">
                  <a:avLst/>
                </a:prstGeom>
                <a:noFill/>
              </p:spPr>
              <p:txBody>
                <a:bodyPr wrap="square">
                  <a:spAutoFit/>
                </a:bodyPr>
                <a:lstStyle/>
                <a:p>
                  <a:pPr lvl="1">
                    <a:lnSpc>
                      <a:spcPct val="100000"/>
                    </a:lnSpc>
                    <a:spcBef>
                      <a:spcPct val="20000"/>
                    </a:spcBef>
                    <a:defRPr/>
                  </a:pPr>
                  <a14:m>
                    <m:oMathPara xmlns:m="http://schemas.openxmlformats.org/officeDocument/2006/math">
                      <m:oMathParaPr>
                        <m:jc m:val="centerGroup"/>
                      </m:oMathParaPr>
                      <m:oMath xmlns:m="http://schemas.openxmlformats.org/officeDocument/2006/math">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𝐵</m:t>
                        </m:r>
                        <m:sSub>
                          <m:sSubPr>
                            <m:ctrlP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𝐾</m:t>
                            </m:r>
                          </m:e>
                          <m:sub>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b>
                        </m:sSub>
                      </m:oMath>
                    </m:oMathPara>
                  </a14:m>
                  <a:endPar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endParaRPr>
                </a:p>
              </p:txBody>
            </p:sp>
          </mc:Choice>
          <mc:Fallback>
            <p:sp>
              <p:nvSpPr>
                <p:cNvPr id="11" name="文字方塊 10">
                  <a:extLst>
                    <a:ext uri="{FF2B5EF4-FFF2-40B4-BE49-F238E27FC236}">
                      <a16:creationId xmlns:a16="http://schemas.microsoft.com/office/drawing/2014/main" id="{333FB35C-974B-2044-81B3-4CF622648887}"/>
                    </a:ext>
                  </a:extLst>
                </p:cNvPr>
                <p:cNvSpPr txBox="1">
                  <a:spLocks noRot="1" noChangeAspect="1" noMove="1" noResize="1" noEditPoints="1" noAdjustHandles="1" noChangeArrowheads="1" noChangeShapeType="1" noTextEdit="1"/>
                </p:cNvSpPr>
                <p:nvPr/>
              </p:nvSpPr>
              <p:spPr>
                <a:xfrm>
                  <a:off x="9167446" y="1739664"/>
                  <a:ext cx="1348154" cy="369332"/>
                </a:xfrm>
                <a:prstGeom prst="rect">
                  <a:avLst/>
                </a:prstGeom>
                <a:blipFill>
                  <a:blip r:embed="rId4"/>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149242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內容版面配置區 10" descr="一張含有 行, 繪圖, 圖表, 文字 的圖片&#10;&#10;自動產生的描述">
            <a:extLst>
              <a:ext uri="{FF2B5EF4-FFF2-40B4-BE49-F238E27FC236}">
                <a16:creationId xmlns:a16="http://schemas.microsoft.com/office/drawing/2014/main" id="{4698AFA9-26B0-DB4B-8A63-D202572AE67C}"/>
              </a:ext>
            </a:extLst>
          </p:cNvPr>
          <p:cNvPicPr>
            <a:picLocks noGrp="1" noChangeAspect="1"/>
          </p:cNvPicPr>
          <p:nvPr>
            <p:ph idx="1"/>
          </p:nvPr>
        </p:nvPicPr>
        <p:blipFill>
          <a:blip r:embed="rId2"/>
          <a:stretch>
            <a:fillRect/>
          </a:stretch>
        </p:blipFill>
        <p:spPr>
          <a:xfrm>
            <a:off x="435841" y="1927234"/>
            <a:ext cx="11320318" cy="4223058"/>
          </a:xfrm>
        </p:spPr>
      </p:pic>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14</a:t>
            </a:fld>
            <a:endParaRPr kumimoji="1" lang="zh-TW" altLang="en-US"/>
          </a:p>
        </p:txBody>
      </p:sp>
      <p:grpSp>
        <p:nvGrpSpPr>
          <p:cNvPr id="5" name="群組 4">
            <a:extLst>
              <a:ext uri="{FF2B5EF4-FFF2-40B4-BE49-F238E27FC236}">
                <a16:creationId xmlns:a16="http://schemas.microsoft.com/office/drawing/2014/main" id="{F61E7285-C4FD-374B-B910-5F875DF5FF50}"/>
              </a:ext>
            </a:extLst>
          </p:cNvPr>
          <p:cNvGrpSpPr/>
          <p:nvPr/>
        </p:nvGrpSpPr>
        <p:grpSpPr>
          <a:xfrm>
            <a:off x="3094892" y="1739664"/>
            <a:ext cx="7420708" cy="369332"/>
            <a:chOff x="3094892" y="1739664"/>
            <a:chExt cx="7420708" cy="369332"/>
          </a:xfrm>
        </p:grpSpPr>
        <mc:AlternateContent xmlns:mc="http://schemas.openxmlformats.org/markup-compatibility/2006">
          <mc:Choice xmlns:a14="http://schemas.microsoft.com/office/drawing/2010/main" Requires="a14">
            <p:sp>
              <p:nvSpPr>
                <p:cNvPr id="6" name="文字方塊 5">
                  <a:extLst>
                    <a:ext uri="{FF2B5EF4-FFF2-40B4-BE49-F238E27FC236}">
                      <a16:creationId xmlns:a16="http://schemas.microsoft.com/office/drawing/2014/main" id="{A3025BE6-BDAF-6A41-9E6E-0CEF2CA2365D}"/>
                    </a:ext>
                  </a:extLst>
                </p:cNvPr>
                <p:cNvSpPr txBox="1"/>
                <p:nvPr/>
              </p:nvSpPr>
              <p:spPr>
                <a:xfrm>
                  <a:off x="3094892" y="1739664"/>
                  <a:ext cx="1348154" cy="369332"/>
                </a:xfrm>
                <a:prstGeom prst="rect">
                  <a:avLst/>
                </a:prstGeom>
                <a:noFill/>
              </p:spPr>
              <p:txBody>
                <a:bodyPr wrap="square">
                  <a:spAutoFit/>
                </a:bodyPr>
                <a:lstStyle/>
                <a:p>
                  <a:pPr lvl="1">
                    <a:lnSpc>
                      <a:spcPct val="100000"/>
                    </a:lnSpc>
                    <a:spcBef>
                      <a:spcPct val="20000"/>
                    </a:spcBef>
                    <a:defRPr/>
                  </a:pPr>
                  <a14:m>
                    <m:oMathPara xmlns:m="http://schemas.openxmlformats.org/officeDocument/2006/math">
                      <m:oMathParaPr>
                        <m:jc m:val="centerGroup"/>
                      </m:oMathParaPr>
                      <m:oMath xmlns:m="http://schemas.openxmlformats.org/officeDocument/2006/math">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𝐵</m:t>
                        </m:r>
                        <m:sSub>
                          <m:sSubPr>
                            <m:ctrlP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𝐾</m:t>
                            </m:r>
                          </m:e>
                          <m:sub>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sub>
                        </m:sSub>
                      </m:oMath>
                    </m:oMathPara>
                  </a14:m>
                  <a:endPar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endParaRPr>
                </a:p>
              </p:txBody>
            </p:sp>
          </mc:Choice>
          <mc:Fallback>
            <p:sp>
              <p:nvSpPr>
                <p:cNvPr id="6" name="文字方塊 5">
                  <a:extLst>
                    <a:ext uri="{FF2B5EF4-FFF2-40B4-BE49-F238E27FC236}">
                      <a16:creationId xmlns:a16="http://schemas.microsoft.com/office/drawing/2014/main" id="{A3025BE6-BDAF-6A41-9E6E-0CEF2CA2365D}"/>
                    </a:ext>
                  </a:extLst>
                </p:cNvPr>
                <p:cNvSpPr txBox="1">
                  <a:spLocks noRot="1" noChangeAspect="1" noMove="1" noResize="1" noEditPoints="1" noAdjustHandles="1" noChangeArrowheads="1" noChangeShapeType="1" noTextEdit="1"/>
                </p:cNvSpPr>
                <p:nvPr/>
              </p:nvSpPr>
              <p:spPr>
                <a:xfrm>
                  <a:off x="3094892" y="1739664"/>
                  <a:ext cx="1348154"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文字方塊 6">
                  <a:extLst>
                    <a:ext uri="{FF2B5EF4-FFF2-40B4-BE49-F238E27FC236}">
                      <a16:creationId xmlns:a16="http://schemas.microsoft.com/office/drawing/2014/main" id="{352544F2-A95E-5E4E-A060-0B57A7D8C6B2}"/>
                    </a:ext>
                  </a:extLst>
                </p:cNvPr>
                <p:cNvSpPr txBox="1"/>
                <p:nvPr/>
              </p:nvSpPr>
              <p:spPr>
                <a:xfrm>
                  <a:off x="9167446" y="1739664"/>
                  <a:ext cx="1348154" cy="369332"/>
                </a:xfrm>
                <a:prstGeom prst="rect">
                  <a:avLst/>
                </a:prstGeom>
                <a:noFill/>
              </p:spPr>
              <p:txBody>
                <a:bodyPr wrap="square">
                  <a:spAutoFit/>
                </a:bodyPr>
                <a:lstStyle/>
                <a:p>
                  <a:pPr lvl="1">
                    <a:lnSpc>
                      <a:spcPct val="100000"/>
                    </a:lnSpc>
                    <a:spcBef>
                      <a:spcPct val="20000"/>
                    </a:spcBef>
                    <a:defRPr/>
                  </a:pPr>
                  <a14:m>
                    <m:oMathPara xmlns:m="http://schemas.openxmlformats.org/officeDocument/2006/math">
                      <m:oMathParaPr>
                        <m:jc m:val="centerGroup"/>
                      </m:oMathParaPr>
                      <m:oMath xmlns:m="http://schemas.openxmlformats.org/officeDocument/2006/math">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𝐵</m:t>
                        </m:r>
                        <m:sSub>
                          <m:sSubPr>
                            <m:ctrlP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𝐾</m:t>
                            </m:r>
                          </m:e>
                          <m:sub>
                            <m:r>
                              <a:rPr kumimoji="0" lang="en-US" altLang="zh-TW"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sub>
                        </m:sSub>
                      </m:oMath>
                    </m:oMathPara>
                  </a14:m>
                  <a:endParaRPr kumimoji="0" lang="en-US" altLang="zh-TW" b="0" i="0" u="none" strike="noStrike" kern="1200" cap="none" spc="0" normalizeH="0" baseline="0" noProof="0" dirty="0">
                    <a:ln>
                      <a:noFill/>
                    </a:ln>
                    <a:solidFill>
                      <a:prstClr val="black"/>
                    </a:solidFill>
                    <a:effectLst/>
                    <a:uLnTx/>
                    <a:uFillTx/>
                    <a:latin typeface="Times New Roman" panose="02020603050405020304" pitchFamily="18" charset="0"/>
                    <a:ea typeface="新細明體"/>
                    <a:cs typeface="Times New Roman" panose="02020603050405020304" pitchFamily="18" charset="0"/>
                  </a:endParaRPr>
                </a:p>
              </p:txBody>
            </p:sp>
          </mc:Choice>
          <mc:Fallback>
            <p:sp>
              <p:nvSpPr>
                <p:cNvPr id="7" name="文字方塊 6">
                  <a:extLst>
                    <a:ext uri="{FF2B5EF4-FFF2-40B4-BE49-F238E27FC236}">
                      <a16:creationId xmlns:a16="http://schemas.microsoft.com/office/drawing/2014/main" id="{352544F2-A95E-5E4E-A060-0B57A7D8C6B2}"/>
                    </a:ext>
                  </a:extLst>
                </p:cNvPr>
                <p:cNvSpPr txBox="1">
                  <a:spLocks noRot="1" noChangeAspect="1" noMove="1" noResize="1" noEditPoints="1" noAdjustHandles="1" noChangeArrowheads="1" noChangeShapeType="1" noTextEdit="1"/>
                </p:cNvSpPr>
                <p:nvPr/>
              </p:nvSpPr>
              <p:spPr>
                <a:xfrm>
                  <a:off x="9167446" y="1739664"/>
                  <a:ext cx="1348154" cy="369332"/>
                </a:xfrm>
                <a:prstGeom prst="rect">
                  <a:avLst/>
                </a:prstGeom>
                <a:blipFill>
                  <a:blip r:embed="rId4"/>
                  <a:stretch>
                    <a:fillRect/>
                  </a:stretch>
                </a:blipFill>
              </p:spPr>
              <p:txBody>
                <a:bodyPr/>
                <a:lstStyle/>
                <a:p>
                  <a:r>
                    <a:rPr lang="zh-TW" altLang="en-US">
                      <a:noFill/>
                    </a:rPr>
                    <a:t> </a:t>
                  </a:r>
                </a:p>
              </p:txBody>
            </p:sp>
          </mc:Fallback>
        </mc:AlternateContent>
      </p:grpSp>
      <p:sp>
        <p:nvSpPr>
          <p:cNvPr id="14" name="標題 1">
            <a:extLst>
              <a:ext uri="{FF2B5EF4-FFF2-40B4-BE49-F238E27FC236}">
                <a16:creationId xmlns:a16="http://schemas.microsoft.com/office/drawing/2014/main" id="{98754872-0631-0B43-AF87-6D839061D9E2}"/>
              </a:ext>
            </a:extLst>
          </p:cNvPr>
          <p:cNvSpPr>
            <a:spLocks noGrp="1"/>
          </p:cNvSpPr>
          <p:nvPr>
            <p:ph type="title"/>
          </p:nvPr>
        </p:nvSpPr>
        <p:spPr>
          <a:xfrm>
            <a:off x="838200" y="365125"/>
            <a:ext cx="10515600" cy="1325563"/>
          </a:xfrm>
        </p:spPr>
        <p:txBody>
          <a:bodyPr/>
          <a:lstStyle/>
          <a:p>
            <a:r>
              <a:rPr lang="en" altLang="zh-TW" dirty="0">
                <a:latin typeface="Times" pitchFamily="2" charset="0"/>
              </a:rPr>
              <a:t>Experiments</a:t>
            </a:r>
            <a:r>
              <a:rPr lang="zh-TW" altLang="en-US" dirty="0">
                <a:latin typeface="Times" pitchFamily="2" charset="0"/>
              </a:rPr>
              <a:t> </a:t>
            </a:r>
            <a:r>
              <a:rPr lang="en-US" altLang="zh-TW" dirty="0">
                <a:latin typeface="Times" pitchFamily="2" charset="0"/>
              </a:rPr>
              <a:t>-</a:t>
            </a:r>
            <a:r>
              <a:rPr lang="zh-TW" altLang="en-US" dirty="0">
                <a:latin typeface="Times" pitchFamily="2" charset="0"/>
              </a:rPr>
              <a:t> </a:t>
            </a:r>
            <a:r>
              <a:rPr lang="en-US" altLang="zh-TW" dirty="0">
                <a:latin typeface="Times" pitchFamily="2" charset="0"/>
              </a:rPr>
              <a:t>training</a:t>
            </a:r>
            <a:r>
              <a:rPr lang="zh-TW" altLang="en-US" dirty="0">
                <a:latin typeface="Times" pitchFamily="2" charset="0"/>
              </a:rPr>
              <a:t> </a:t>
            </a:r>
            <a:r>
              <a:rPr lang="en-US" altLang="zh-TW" dirty="0">
                <a:latin typeface="Times" pitchFamily="2" charset="0"/>
              </a:rPr>
              <a:t>data</a:t>
            </a:r>
            <a:r>
              <a:rPr lang="zh-TW" altLang="en-US" dirty="0">
                <a:latin typeface="Times" pitchFamily="2" charset="0"/>
              </a:rPr>
              <a:t> </a:t>
            </a:r>
            <a:r>
              <a:rPr lang="en-US" altLang="zh-TW" dirty="0">
                <a:latin typeface="Times" pitchFamily="2" charset="0"/>
              </a:rPr>
              <a:t>size</a:t>
            </a:r>
            <a:endParaRPr kumimoji="1" lang="zh-TW" altLang="en-US" dirty="0">
              <a:latin typeface="Times" pitchFamily="2" charset="0"/>
            </a:endParaRPr>
          </a:p>
        </p:txBody>
      </p:sp>
    </p:spTree>
    <p:extLst>
      <p:ext uri="{BB962C8B-B14F-4D97-AF65-F5344CB8AC3E}">
        <p14:creationId xmlns:p14="http://schemas.microsoft.com/office/powerpoint/2010/main" val="1166316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Experiments</a:t>
            </a:r>
            <a:r>
              <a:rPr lang="zh-TW" altLang="en-US" dirty="0">
                <a:latin typeface="Times" pitchFamily="2" charset="0"/>
              </a:rPr>
              <a:t> </a:t>
            </a:r>
            <a:r>
              <a:rPr lang="en-US" altLang="zh-TW" dirty="0">
                <a:latin typeface="Times" pitchFamily="2" charset="0"/>
              </a:rPr>
              <a:t>-</a:t>
            </a:r>
            <a:r>
              <a:rPr lang="zh-TW" altLang="en-US" dirty="0">
                <a:latin typeface="Times" pitchFamily="2" charset="0"/>
              </a:rPr>
              <a:t> </a:t>
            </a:r>
            <a:r>
              <a:rPr lang="en" altLang="zh-TW" dirty="0">
                <a:latin typeface="Times" pitchFamily="2" charset="0"/>
              </a:rPr>
              <a:t>complexity</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15</a:t>
            </a:fld>
            <a:endParaRPr kumimoji="1" lang="zh-TW" altLang="en-US"/>
          </a:p>
        </p:txBody>
      </p:sp>
      <p:pic>
        <p:nvPicPr>
          <p:cNvPr id="7" name="內容版面配置區 6" descr="一張含有 行, 繪圖, 圖表, 文字 的圖片&#10;&#10;自動產生的描述">
            <a:extLst>
              <a:ext uri="{FF2B5EF4-FFF2-40B4-BE49-F238E27FC236}">
                <a16:creationId xmlns:a16="http://schemas.microsoft.com/office/drawing/2014/main" id="{43F384DE-33B9-F442-AE63-66B533C4F461}"/>
              </a:ext>
            </a:extLst>
          </p:cNvPr>
          <p:cNvPicPr>
            <a:picLocks noGrp="1" noChangeAspect="1"/>
          </p:cNvPicPr>
          <p:nvPr>
            <p:ph idx="1"/>
          </p:nvPr>
        </p:nvPicPr>
        <p:blipFill>
          <a:blip r:embed="rId2"/>
          <a:stretch>
            <a:fillRect/>
          </a:stretch>
        </p:blipFill>
        <p:spPr>
          <a:xfrm>
            <a:off x="371820" y="1644432"/>
            <a:ext cx="11448360" cy="4359592"/>
          </a:xfrm>
        </p:spPr>
      </p:pic>
      <p:sp>
        <p:nvSpPr>
          <p:cNvPr id="10" name="文字方塊 9">
            <a:extLst>
              <a:ext uri="{FF2B5EF4-FFF2-40B4-BE49-F238E27FC236}">
                <a16:creationId xmlns:a16="http://schemas.microsoft.com/office/drawing/2014/main" id="{83AE4256-142A-324D-A2D3-E1B2710BE3D3}"/>
              </a:ext>
            </a:extLst>
          </p:cNvPr>
          <p:cNvSpPr txBox="1"/>
          <p:nvPr/>
        </p:nvSpPr>
        <p:spPr>
          <a:xfrm>
            <a:off x="838199" y="6203315"/>
            <a:ext cx="4280066" cy="461665"/>
          </a:xfrm>
          <a:prstGeom prst="rect">
            <a:avLst/>
          </a:prstGeom>
          <a:noFill/>
        </p:spPr>
        <p:txBody>
          <a:bodyPr wrap="square">
            <a:spAutoFit/>
          </a:bodyPr>
          <a:lstStyle/>
          <a:p>
            <a:r>
              <a:rPr lang="en" altLang="zh-TW" sz="2400" dirty="0">
                <a:effectLst/>
                <a:latin typeface="Times New Roman" panose="02020603050405020304" pitchFamily="18" charset="0"/>
                <a:cs typeface="Times New Roman" panose="02020603050405020304" pitchFamily="18" charset="0"/>
              </a:rPr>
              <a:t>Complexity</a:t>
            </a:r>
            <a:r>
              <a:rPr lang="en-US" altLang="zh-TW" sz="2400" dirty="0">
                <a:effectLst/>
                <a:latin typeface="Times New Roman" panose="02020603050405020304" pitchFamily="18" charset="0"/>
                <a:cs typeface="Times New Roman" panose="02020603050405020304" pitchFamily="18" charset="0"/>
              </a:rPr>
              <a:t>:</a:t>
            </a:r>
            <a:r>
              <a:rPr lang="zh-TW" altLang="en-US" sz="2400" dirty="0">
                <a:effectLst/>
                <a:latin typeface="Times New Roman" panose="02020603050405020304" pitchFamily="18" charset="0"/>
                <a:cs typeface="Times New Roman" panose="02020603050405020304" pitchFamily="18" charset="0"/>
              </a:rPr>
              <a:t> </a:t>
            </a:r>
            <a:r>
              <a:rPr lang="en-US" altLang="zh-TW" sz="2400" dirty="0">
                <a:effectLst/>
                <a:latin typeface="Times New Roman" panose="02020603050405020304" pitchFamily="18" charset="0"/>
                <a:cs typeface="Times New Roman" panose="02020603050405020304" pitchFamily="18" charset="0"/>
              </a:rPr>
              <a:t>#</a:t>
            </a:r>
            <a:r>
              <a:rPr lang="zh-TW" altLang="en-US" sz="2400" dirty="0">
                <a:effectLst/>
                <a:latin typeface="Times New Roman" panose="02020603050405020304" pitchFamily="18" charset="0"/>
                <a:cs typeface="Times New Roman" panose="02020603050405020304" pitchFamily="18" charset="0"/>
              </a:rPr>
              <a:t> </a:t>
            </a:r>
            <a:r>
              <a:rPr lang="en-US" altLang="zh-TW" sz="2400" dirty="0">
                <a:effectLst/>
                <a:latin typeface="Times New Roman" panose="02020603050405020304" pitchFamily="18" charset="0"/>
                <a:cs typeface="Times New Roman" panose="02020603050405020304" pitchFamily="18" charset="0"/>
              </a:rPr>
              <a:t>of</a:t>
            </a:r>
            <a:r>
              <a:rPr lang="zh-TW" altLang="en-US" sz="2400" dirty="0">
                <a:effectLst/>
                <a:latin typeface="Times New Roman" panose="02020603050405020304" pitchFamily="18" charset="0"/>
                <a:cs typeface="Times New Roman" panose="02020603050405020304" pitchFamily="18" charset="0"/>
              </a:rPr>
              <a:t> </a:t>
            </a:r>
            <a:r>
              <a:rPr lang="en-US" altLang="zh-TW" sz="2400" dirty="0">
                <a:effectLst/>
                <a:latin typeface="Times New Roman" panose="02020603050405020304" pitchFamily="18" charset="0"/>
                <a:cs typeface="Times New Roman" panose="02020603050405020304" pitchFamily="18" charset="0"/>
              </a:rPr>
              <a:t>rules</a:t>
            </a:r>
            <a:r>
              <a:rPr lang="zh-TW" altLang="en-US" sz="2400" dirty="0">
                <a:effectLst/>
                <a:latin typeface="Times New Roman" panose="02020603050405020304" pitchFamily="18" charset="0"/>
                <a:cs typeface="Times New Roman" panose="02020603050405020304" pitchFamily="18" charset="0"/>
              </a:rPr>
              <a:t> </a:t>
            </a:r>
            <a:r>
              <a:rPr lang="en-US" altLang="zh-TW" sz="2400" dirty="0">
                <a:effectLst/>
                <a:latin typeface="Times New Roman" panose="02020603050405020304" pitchFamily="18" charset="0"/>
                <a:cs typeface="Times New Roman" panose="02020603050405020304" pitchFamily="18" charset="0"/>
              </a:rPr>
              <a:t>or</a:t>
            </a:r>
            <a:r>
              <a:rPr lang="zh-TW" altLang="en-US" sz="2400" dirty="0">
                <a:effectLst/>
                <a:latin typeface="Times New Roman" panose="02020603050405020304" pitchFamily="18" charset="0"/>
                <a:cs typeface="Times New Roman" panose="02020603050405020304" pitchFamily="18" charset="0"/>
              </a:rPr>
              <a:t> </a:t>
            </a:r>
            <a:r>
              <a:rPr lang="en-US" altLang="zh-TW" sz="2400" dirty="0">
                <a:effectLst/>
                <a:latin typeface="Times New Roman" panose="02020603050405020304" pitchFamily="18" charset="0"/>
                <a:cs typeface="Times New Roman" panose="02020603050405020304" pitchFamily="18" charset="0"/>
              </a:rPr>
              <a:t>nodes</a:t>
            </a:r>
            <a:r>
              <a:rPr lang="en" altLang="zh-TW" sz="2400" dirty="0">
                <a:effectLst/>
                <a:latin typeface="Times New Roman" panose="02020603050405020304" pitchFamily="18" charset="0"/>
                <a:cs typeface="Times New Roman" panose="02020603050405020304" pitchFamily="18" charset="0"/>
              </a:rPr>
              <a:t> </a:t>
            </a:r>
            <a:endParaRPr lang="en"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1810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內容版面配置區 6" descr="一張含有 圖表, 文字, 圖畫, 方案 的圖片&#10;&#10;自動產生的描述">
            <a:extLst>
              <a:ext uri="{FF2B5EF4-FFF2-40B4-BE49-F238E27FC236}">
                <a16:creationId xmlns:a16="http://schemas.microsoft.com/office/drawing/2014/main" id="{B8621CDB-516B-AF46-BF34-7DB2DC8D7252}"/>
              </a:ext>
            </a:extLst>
          </p:cNvPr>
          <p:cNvPicPr>
            <a:picLocks noGrp="1" noChangeAspect="1"/>
          </p:cNvPicPr>
          <p:nvPr>
            <p:ph idx="1"/>
          </p:nvPr>
        </p:nvPicPr>
        <p:blipFill rotWithShape="1">
          <a:blip r:embed="rId2"/>
          <a:srcRect b="6299"/>
          <a:stretch/>
        </p:blipFill>
        <p:spPr>
          <a:xfrm>
            <a:off x="4666323" y="79684"/>
            <a:ext cx="6687477" cy="6641791"/>
          </a:xfrm>
        </p:spPr>
      </p:pic>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Experiments</a:t>
            </a:r>
            <a:r>
              <a:rPr lang="zh-TW" altLang="en-US" dirty="0">
                <a:latin typeface="Times" pitchFamily="2" charset="0"/>
              </a:rPr>
              <a:t> </a:t>
            </a:r>
            <a:r>
              <a:rPr lang="en-US" altLang="zh-TW" dirty="0">
                <a:latin typeface="Times" pitchFamily="2" charset="0"/>
              </a:rPr>
              <a:t>for</a:t>
            </a:r>
            <a:r>
              <a:rPr lang="zh-TW" altLang="en-US" dirty="0">
                <a:latin typeface="Times" pitchFamily="2" charset="0"/>
              </a:rPr>
              <a:t> </a:t>
            </a:r>
            <a:r>
              <a:rPr lang="en-US" altLang="zh-TW" dirty="0">
                <a:latin typeface="Times" pitchFamily="2" charset="0"/>
              </a:rPr>
              <a:t>E1</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16</a:t>
            </a:fld>
            <a:endParaRPr kumimoji="1" lang="zh-TW" altLang="en-US"/>
          </a:p>
        </p:txBody>
      </p:sp>
      <p:sp>
        <p:nvSpPr>
          <p:cNvPr id="13" name="內容版面配置區 8">
            <a:extLst>
              <a:ext uri="{FF2B5EF4-FFF2-40B4-BE49-F238E27FC236}">
                <a16:creationId xmlns:a16="http://schemas.microsoft.com/office/drawing/2014/main" id="{4730B8EC-C4DC-744A-BA5E-AD2C327E9A69}"/>
              </a:ext>
            </a:extLst>
          </p:cNvPr>
          <p:cNvSpPr txBox="1">
            <a:spLocks/>
          </p:cNvSpPr>
          <p:nvPr/>
        </p:nvSpPr>
        <p:spPr>
          <a:xfrm>
            <a:off x="838200" y="1825625"/>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ct val="20000"/>
              </a:spcBef>
              <a:defRPr/>
            </a:pPr>
            <a:r>
              <a:rPr lang="en-US" altLang="zh-TW" dirty="0">
                <a:solidFill>
                  <a:prstClr val="black"/>
                </a:solidFill>
                <a:latin typeface="Times New Roman" panose="02020603050405020304" pitchFamily="18" charset="0"/>
                <a:ea typeface="新細明體"/>
                <a:cs typeface="Times New Roman" panose="02020603050405020304" pitchFamily="18" charset="0"/>
              </a:rPr>
              <a:t>Number of data: 279 samples</a:t>
            </a:r>
          </a:p>
          <a:p>
            <a:pPr>
              <a:lnSpc>
                <a:spcPct val="100000"/>
              </a:lnSpc>
              <a:spcBef>
                <a:spcPct val="20000"/>
              </a:spcBef>
              <a:defRPr/>
            </a:pPr>
            <a:r>
              <a:rPr lang="en-US" altLang="zh-TW" dirty="0">
                <a:solidFill>
                  <a:prstClr val="black"/>
                </a:solidFill>
                <a:latin typeface="Times New Roman" panose="02020603050405020304" pitchFamily="18" charset="0"/>
                <a:ea typeface="新細明體"/>
                <a:cs typeface="Times New Roman" panose="02020603050405020304" pitchFamily="18" charset="0"/>
              </a:rPr>
              <a:t>Constraints: </a:t>
            </a:r>
          </a:p>
          <a:p>
            <a:pPr lvl="1">
              <a:lnSpc>
                <a:spcPct val="100000"/>
              </a:lnSpc>
              <a:spcBef>
                <a:spcPct val="20000"/>
              </a:spcBef>
              <a:defRPr/>
            </a:pPr>
            <a:r>
              <a:rPr lang="en-US" altLang="zh-TW" dirty="0">
                <a:solidFill>
                  <a:prstClr val="black"/>
                </a:solidFill>
                <a:latin typeface="Times New Roman" panose="02020603050405020304" pitchFamily="18" charset="0"/>
                <a:ea typeface="新細明體"/>
                <a:cs typeface="Times New Roman" panose="02020603050405020304" pitchFamily="18" charset="0"/>
              </a:rPr>
              <a:t>No more than 5 card in a suit</a:t>
            </a:r>
          </a:p>
          <a:p>
            <a:pPr lvl="1">
              <a:lnSpc>
                <a:spcPct val="100000"/>
              </a:lnSpc>
              <a:spcBef>
                <a:spcPct val="20000"/>
              </a:spcBef>
              <a:defRPr/>
            </a:pPr>
            <a:r>
              <a:rPr lang="en-US" altLang="zh-TW" dirty="0">
                <a:solidFill>
                  <a:prstClr val="black"/>
                </a:solidFill>
                <a:latin typeface="Times New Roman" panose="02020603050405020304" pitchFamily="18" charset="0"/>
                <a:ea typeface="新細明體"/>
                <a:cs typeface="Times New Roman" panose="02020603050405020304" pitchFamily="18" charset="0"/>
              </a:rPr>
              <a:t>Position cannot</a:t>
            </a:r>
            <a:r>
              <a:rPr lang="zh-TW" altLang="en-US" dirty="0">
                <a:solidFill>
                  <a:prstClr val="black"/>
                </a:solidFill>
                <a:latin typeface="Times New Roman" panose="02020603050405020304" pitchFamily="18" charset="0"/>
                <a:ea typeface="新細明體"/>
                <a:cs typeface="Times New Roman" panose="02020603050405020304" pitchFamily="18" charset="0"/>
              </a:rPr>
              <a:t> </a:t>
            </a:r>
            <a:r>
              <a:rPr lang="en-US" altLang="zh-TW" dirty="0">
                <a:solidFill>
                  <a:prstClr val="black"/>
                </a:solidFill>
                <a:latin typeface="Times New Roman" panose="02020603050405020304" pitchFamily="18" charset="0"/>
                <a:ea typeface="新細明體"/>
                <a:cs typeface="Times New Roman" panose="02020603050405020304" pitchFamily="18" charset="0"/>
              </a:rPr>
              <a:t>be 3</a:t>
            </a:r>
          </a:p>
          <a:p>
            <a:pPr>
              <a:lnSpc>
                <a:spcPct val="100000"/>
              </a:lnSpc>
              <a:spcBef>
                <a:spcPct val="20000"/>
              </a:spcBef>
              <a:defRPr/>
            </a:pPr>
            <a:endParaRPr lang="en-US" altLang="zh-TW" dirty="0">
              <a:solidFill>
                <a:prstClr val="black"/>
              </a:solidFill>
              <a:latin typeface="Times New Roman" panose="02020603050405020304" pitchFamily="18" charset="0"/>
              <a:ea typeface="新細明體"/>
              <a:cs typeface="Times New Roman" panose="02020603050405020304" pitchFamily="18" charset="0"/>
            </a:endParaRPr>
          </a:p>
        </p:txBody>
      </p:sp>
    </p:spTree>
    <p:extLst>
      <p:ext uri="{BB962C8B-B14F-4D97-AF65-F5344CB8AC3E}">
        <p14:creationId xmlns:p14="http://schemas.microsoft.com/office/powerpoint/2010/main" val="128945161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2935</TotalTime>
  <Words>691</Words>
  <Application>Microsoft Macintosh PowerPoint</Application>
  <PresentationFormat>寬螢幕</PresentationFormat>
  <Paragraphs>99</Paragraphs>
  <Slides>16</Slides>
  <Notes>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Times</vt:lpstr>
      <vt:lpstr>Arial</vt:lpstr>
      <vt:lpstr>Calibri</vt:lpstr>
      <vt:lpstr>Calibri Light</vt:lpstr>
      <vt:lpstr>Cambria Math</vt:lpstr>
      <vt:lpstr>Times New Roman</vt:lpstr>
      <vt:lpstr>Office 佈景主題</vt:lpstr>
      <vt:lpstr>The Game of Bridge: A Challenge for ILP</vt:lpstr>
      <vt:lpstr>Abstract</vt:lpstr>
      <vt:lpstr>Abstract(cont.)</vt:lpstr>
      <vt:lpstr>Opening bid problem</vt:lpstr>
      <vt:lpstr>Representation of examples</vt:lpstr>
      <vt:lpstr>Background knowledges</vt:lpstr>
      <vt:lpstr>Background knowledges</vt:lpstr>
      <vt:lpstr>Background knowledges</vt:lpstr>
      <vt:lpstr>Methods</vt:lpstr>
      <vt:lpstr>ILP system</vt:lpstr>
      <vt:lpstr>Datasets</vt:lpstr>
      <vt:lpstr>Experiments - accuracy</vt:lpstr>
      <vt:lpstr>Experiments - training data size</vt:lpstr>
      <vt:lpstr>Experiments - training data size</vt:lpstr>
      <vt:lpstr>Experiments - complexity</vt:lpstr>
      <vt:lpstr>Experiments for E1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Game of Bridge: A Challenge for ILP</dc:title>
  <dc:creator>M113040012</dc:creator>
  <cp:lastModifiedBy>M113040012</cp:lastModifiedBy>
  <cp:revision>133</cp:revision>
  <dcterms:created xsi:type="dcterms:W3CDTF">2023-08-27T05:47:17Z</dcterms:created>
  <dcterms:modified xsi:type="dcterms:W3CDTF">2023-08-29T06:42:50Z</dcterms:modified>
</cp:coreProperties>
</file>