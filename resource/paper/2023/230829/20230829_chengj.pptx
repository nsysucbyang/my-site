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90BF888-4511-4DDF-AF2D-07352BB1DD10}">
  <a:tblStyle styleId="{490BF888-4511-4DDF-AF2D-07352BB1DD1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3eaa17d8d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3eaa17d8d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3eaa17d8d5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3eaa17d8d5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3eaa17d8d5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3eaa17d8d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數字為這個格子到終點的距離</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3ec7fe2fe0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3ec7fe2fe0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3ec7fe2fe0_3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3ec7fe2fe0_3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3ec7fe2fe0_3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3ec7fe2fe0_3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3ec7fe2fe0_3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3ec7fe2fe0_3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3ec7fe2fe0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3ec7fe2fe0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3ec7fe2fe0_7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3ec7fe2fe0_7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3ec7fe2fe0_7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3ec7fe2fe0_7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3ec7fe2fe0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3ec7fe2fe0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數字為這個格子到終點的距離</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3eaa17d8d5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3eaa17d8d5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23eaa17d8d5_2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23eaa17d8d5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3eaa17d8d5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3eaa17d8d5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3eaa17d8d5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3eaa17d8d5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3eaa17d8d5_2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3eaa17d8d5_2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3ec7fe2fe0_1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3ec7fe2fe0_10_0:notes"/>
          <p:cNvSpPr txBox="1"/>
          <p:nvPr>
            <p:ph idx="1" type="body"/>
          </p:nvPr>
        </p:nvSpPr>
        <p:spPr>
          <a:xfrm>
            <a:off x="685800" y="45720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轉向愈少愈好</a:t>
            </a:r>
            <a:endParaRPr/>
          </a:p>
          <a:p>
            <a:pPr indent="0" lvl="0" marL="0" rtl="0" algn="l">
              <a:spcBef>
                <a:spcPts val="0"/>
              </a:spcBef>
              <a:spcAft>
                <a:spcPts val="0"/>
              </a:spcAft>
              <a:buNone/>
            </a:pPr>
            <a:r>
              <a:rPr lang="zh-TW"/>
              <a:t>轉向花時間</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3ec7fe2fe0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3ec7fe2fe0_12_0:notes"/>
          <p:cNvSpPr txBox="1"/>
          <p:nvPr>
            <p:ph idx="1" type="body"/>
          </p:nvPr>
        </p:nvSpPr>
        <p:spPr>
          <a:xfrm>
            <a:off x="685800" y="45720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轉向愈少愈好</a:t>
            </a:r>
            <a:endParaRPr/>
          </a:p>
          <a:p>
            <a:pPr indent="0" lvl="0" marL="0" rtl="0" algn="l">
              <a:spcBef>
                <a:spcPts val="0"/>
              </a:spcBef>
              <a:spcAft>
                <a:spcPts val="0"/>
              </a:spcAft>
              <a:buNone/>
            </a:pPr>
            <a:r>
              <a:rPr lang="zh-TW"/>
              <a:t>轉向花時間</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3eaa17d8d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3eaa17d8d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3eaa17d8d5_2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3eaa17d8d5_2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3eaa17d8d5_2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3eaa17d8d5_2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3eaa17d8d5_2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3eaa17d8d5_2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3eaa17d8d5_2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3eaa17d8d5_2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23eaa17d8d5_2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23eaa17d8d5_2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3eaa17d8d5_2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3eaa17d8d5_2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23eaa17d8d5_2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23eaa17d8d5_2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23eaa17d8d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23eaa17d8d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23eb623ede7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23eb623ede7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23eb623ede7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23eb623ede7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3eb623ede7_1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3eb623ede7_1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zh-TW"/>
              <a:t>４ｔｈ</a:t>
            </a:r>
            <a:r>
              <a:rPr lang="zh-TW"/>
              <a:t>路徑相同　表明已經找到最佳路徑</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23eb623ede7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23eb623ede7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3ec7fe2fe0_1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3ec7fe2fe0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3ec7fe2fe0_18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3ec7fe2fe0_18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3ec7fe2fe0_18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3ec7fe2fe0_18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3eb623ede7_1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3eb623ede7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zh-TW" sz="4200">
                <a:latin typeface="Times New Roman"/>
                <a:ea typeface="Times New Roman"/>
                <a:cs typeface="Times New Roman"/>
                <a:sym typeface="Times New Roman"/>
              </a:rPr>
              <a:t>Quantitative Comparison of Flood Fill and Modified Flood Fill Algorithms</a:t>
            </a:r>
            <a:endParaRPr sz="4200">
              <a:latin typeface="Times New Roman"/>
              <a:ea typeface="Times New Roman"/>
              <a:cs typeface="Times New Roman"/>
              <a:sym typeface="Times New Roman"/>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George Law</a:t>
            </a:r>
            <a:endParaRPr sz="24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International Journal of Computer Theory and Engineering,</a:t>
            </a:r>
            <a:endParaRPr sz="2400">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Vol. 5, No. 3, June 2013</a:t>
            </a:r>
            <a:endParaRPr sz="2400">
              <a:solidFill>
                <a:schemeClr val="dk1"/>
              </a:solidFill>
              <a:latin typeface="Times New Roman"/>
              <a:ea typeface="Times New Roman"/>
              <a:cs typeface="Times New Roman"/>
              <a:sym typeface="Times New Roman"/>
            </a:endParaRPr>
          </a:p>
        </p:txBody>
      </p:sp>
      <p:sp>
        <p:nvSpPr>
          <p:cNvPr id="56" name="Google Shape;56;p13"/>
          <p:cNvSpPr txBox="1"/>
          <p:nvPr/>
        </p:nvSpPr>
        <p:spPr>
          <a:xfrm>
            <a:off x="4914600" y="4220100"/>
            <a:ext cx="4229400" cy="9234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zh-TW" sz="2400">
                <a:solidFill>
                  <a:srgbClr val="000000"/>
                </a:solidFill>
                <a:latin typeface="Times New Roman"/>
                <a:ea typeface="Times New Roman"/>
                <a:cs typeface="Times New Roman"/>
                <a:sym typeface="Times New Roman"/>
              </a:rPr>
              <a:t>Presenter: Guan-Jie Chen</a:t>
            </a:r>
            <a:endParaRPr sz="2400">
              <a:solidFill>
                <a:srgbClr val="000000"/>
              </a:solidFill>
              <a:latin typeface="Times New Roman"/>
              <a:ea typeface="Times New Roman"/>
              <a:cs typeface="Times New Roman"/>
              <a:sym typeface="Times New Roman"/>
            </a:endParaRPr>
          </a:p>
          <a:p>
            <a:pPr indent="0" lvl="0" marL="0" rtl="0" algn="r">
              <a:spcBef>
                <a:spcPts val="0"/>
              </a:spcBef>
              <a:spcAft>
                <a:spcPts val="0"/>
              </a:spcAft>
              <a:buNone/>
            </a:pPr>
            <a:r>
              <a:rPr lang="zh-TW" sz="2400">
                <a:solidFill>
                  <a:srgbClr val="000000"/>
                </a:solidFill>
                <a:latin typeface="Times New Roman"/>
                <a:ea typeface="Times New Roman"/>
                <a:cs typeface="Times New Roman"/>
                <a:sym typeface="Times New Roman"/>
              </a:rPr>
              <a:t>Date: </a:t>
            </a:r>
            <a:r>
              <a:rPr lang="zh-TW" sz="2400">
                <a:latin typeface="Times New Roman"/>
                <a:ea typeface="Times New Roman"/>
                <a:cs typeface="Times New Roman"/>
                <a:sym typeface="Times New Roman"/>
              </a:rPr>
              <a:t>Aug.</a:t>
            </a:r>
            <a:r>
              <a:rPr lang="zh-TW" sz="2400">
                <a:solidFill>
                  <a:srgbClr val="000000"/>
                </a:solidFill>
                <a:latin typeface="Times New Roman"/>
                <a:ea typeface="Times New Roman"/>
                <a:cs typeface="Times New Roman"/>
                <a:sym typeface="Times New Roman"/>
              </a:rPr>
              <a:t> </a:t>
            </a:r>
            <a:r>
              <a:rPr lang="zh-TW" sz="2400">
                <a:latin typeface="Times New Roman"/>
                <a:ea typeface="Times New Roman"/>
                <a:cs typeface="Times New Roman"/>
                <a:sym typeface="Times New Roman"/>
              </a:rPr>
              <a:t>29</a:t>
            </a:r>
            <a:r>
              <a:rPr lang="zh-TW" sz="2400">
                <a:solidFill>
                  <a:srgbClr val="000000"/>
                </a:solidFill>
                <a:latin typeface="Times New Roman"/>
                <a:ea typeface="Times New Roman"/>
                <a:cs typeface="Times New Roman"/>
                <a:sym typeface="Times New Roman"/>
              </a:rPr>
              <a:t>, 2023</a:t>
            </a:r>
            <a:endParaRPr sz="2400">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Abstract</a:t>
            </a:r>
            <a:endParaRPr>
              <a:latin typeface="Times New Roman"/>
              <a:ea typeface="Times New Roman"/>
              <a:cs typeface="Times New Roman"/>
              <a:sym typeface="Times New Roman"/>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zh-TW" sz="2400">
                <a:solidFill>
                  <a:schemeClr val="dk1"/>
                </a:solidFill>
                <a:latin typeface="Times New Roman"/>
                <a:ea typeface="Times New Roman"/>
                <a:cs typeface="Times New Roman"/>
                <a:sym typeface="Times New Roman"/>
              </a:rPr>
              <a:t>Flood fill algorithm has won first places in the international micromouse competitions. To save computation time, the modified flood fill algorithm is often coded. Yet, the literature search reveals the scarcity of the quantitative details of the two algorithms. This article attempts to discuss their differences and uses Maze-solver simulator to collect and tabulate the maze-run statistics for various popular mazes. It will discuss these statistics and various aspects of the flood fill algorithm modifications.</a:t>
            </a:r>
            <a:endParaRPr sz="2400">
              <a:solidFill>
                <a:schemeClr val="dk1"/>
              </a:solidFill>
              <a:latin typeface="Times New Roman"/>
              <a:ea typeface="Times New Roman"/>
              <a:cs typeface="Times New Roman"/>
              <a:sym typeface="Times New Roman"/>
            </a:endParaRPr>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IEEE Micromouse Competition</a:t>
            </a:r>
            <a:endParaRPr>
              <a:latin typeface="Times New Roman"/>
              <a:ea typeface="Times New Roman"/>
              <a:cs typeface="Times New Roman"/>
              <a:sym typeface="Times New Roman"/>
            </a:endParaRPr>
          </a:p>
        </p:txBody>
      </p:sp>
      <p:sp>
        <p:nvSpPr>
          <p:cNvPr id="69" name="Google Shape;69;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The maze always has the east wall at the starting cell (0, 0)</a:t>
            </a:r>
            <a:endParaRPr sz="2400">
              <a:solidFill>
                <a:schemeClr val="dk1"/>
              </a:solidFill>
              <a:latin typeface="Times New Roman"/>
              <a:ea typeface="Times New Roman"/>
              <a:cs typeface="Times New Roman"/>
              <a:sym typeface="Times New Roman"/>
            </a:endParaRPr>
          </a:p>
          <a:p>
            <a:pPr indent="-381000" lvl="0" marL="457200" rtl="0" algn="l">
              <a:spcBef>
                <a:spcPts val="0"/>
              </a:spcBef>
              <a:spcAft>
                <a:spcPts val="0"/>
              </a:spcAft>
              <a:buClr>
                <a:schemeClr val="dk1"/>
              </a:buClr>
              <a:buSzPts val="2400"/>
              <a:buFont typeface="Times New Roman"/>
              <a:buChar char="-"/>
            </a:pPr>
            <a:r>
              <a:rPr lang="zh-TW" sz="2400">
                <a:solidFill>
                  <a:schemeClr val="dk1"/>
                </a:solidFill>
                <a:latin typeface="Times New Roman"/>
                <a:ea typeface="Times New Roman"/>
                <a:cs typeface="Times New Roman"/>
                <a:sym typeface="Times New Roman"/>
              </a:rPr>
              <a:t>The first move is always upward (north)</a:t>
            </a:r>
            <a:endParaRPr sz="2400">
              <a:solidFill>
                <a:schemeClr val="dk1"/>
              </a:solidFill>
              <a:latin typeface="Times New Roman"/>
              <a:ea typeface="Times New Roman"/>
              <a:cs typeface="Times New Roman"/>
              <a:sym typeface="Times New Roman"/>
            </a:endParaRPr>
          </a:p>
        </p:txBody>
      </p:sp>
      <p:sp>
        <p:nvSpPr>
          <p:cNvPr id="70" name="Google Shape;7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71" name="Google Shape;71;p15"/>
          <p:cNvPicPr preferRelativeResize="0"/>
          <p:nvPr/>
        </p:nvPicPr>
        <p:blipFill>
          <a:blip r:embed="rId3">
            <a:alphaModFix/>
          </a:blip>
          <a:stretch>
            <a:fillRect/>
          </a:stretch>
        </p:blipFill>
        <p:spPr>
          <a:xfrm>
            <a:off x="1885950" y="2202263"/>
            <a:ext cx="5372100" cy="2752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a:t>
            </a:r>
            <a:endParaRPr>
              <a:latin typeface="Times New Roman"/>
              <a:ea typeface="Times New Roman"/>
              <a:cs typeface="Times New Roman"/>
              <a:sym typeface="Times New Roman"/>
            </a:endParaRPr>
          </a:p>
        </p:txBody>
      </p:sp>
      <p:sp>
        <p:nvSpPr>
          <p:cNvPr id="77" name="Google Shape;77;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78" name="Google Shape;7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79" name="Google Shape;79;p16"/>
          <p:cNvPicPr preferRelativeResize="0"/>
          <p:nvPr/>
        </p:nvPicPr>
        <p:blipFill>
          <a:blip r:embed="rId3">
            <a:alphaModFix/>
          </a:blip>
          <a:stretch>
            <a:fillRect/>
          </a:stretch>
        </p:blipFill>
        <p:spPr>
          <a:xfrm>
            <a:off x="1919275" y="1579550"/>
            <a:ext cx="5305425" cy="2562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85" name="Google Shape;8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86" name="Google Shape;86;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87" name="Google Shape;87;p17"/>
          <p:cNvGraphicFramePr/>
          <p:nvPr/>
        </p:nvGraphicFramePr>
        <p:xfrm>
          <a:off x="2810250" y="1214850"/>
          <a:ext cx="3000000" cy="3000000"/>
        </p:xfrm>
        <a:graphic>
          <a:graphicData uri="http://schemas.openxmlformats.org/drawingml/2006/table">
            <a:tbl>
              <a:tblPr>
                <a:noFill/>
                <a:tableStyleId>{490BF888-4511-4DDF-AF2D-07352BB1DD10}</a:tableStyleId>
              </a:tblPr>
              <a:tblGrid>
                <a:gridCol w="587250"/>
                <a:gridCol w="587250"/>
                <a:gridCol w="587250"/>
                <a:gridCol w="587250"/>
                <a:gridCol w="587250"/>
                <a:gridCol w="587250"/>
              </a:tblGrid>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0</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0</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0</a:t>
                      </a:r>
                      <a:endParaRPr sz="2400">
                        <a:solidFill>
                          <a:schemeClr val="accent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0</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93" name="Google Shape;93;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94" name="Google Shape;94;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95" name="Google Shape;95;p18"/>
          <p:cNvGraphicFramePr/>
          <p:nvPr/>
        </p:nvGraphicFramePr>
        <p:xfrm>
          <a:off x="2810250" y="1214850"/>
          <a:ext cx="3000000" cy="3000000"/>
        </p:xfrm>
        <a:graphic>
          <a:graphicData uri="http://schemas.openxmlformats.org/drawingml/2006/table">
            <a:tbl>
              <a:tblPr>
                <a:noFill/>
                <a:tableStyleId>{490BF888-4511-4DDF-AF2D-07352BB1DD10}</a:tableStyleId>
              </a:tblPr>
              <a:tblGrid>
                <a:gridCol w="587250"/>
                <a:gridCol w="587250"/>
                <a:gridCol w="587250"/>
                <a:gridCol w="587250"/>
                <a:gridCol w="587250"/>
                <a:gridCol w="587250"/>
              </a:tblGrid>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1</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1</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1</a:t>
                      </a:r>
                      <a:endParaRPr sz="2400">
                        <a:solidFill>
                          <a:schemeClr val="accent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1</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1</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1</a:t>
                      </a:r>
                      <a:endParaRPr sz="2400">
                        <a:solidFill>
                          <a:schemeClr val="accent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1</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101" name="Google Shape;10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02" name="Google Shape;10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03" name="Google Shape;103;p19"/>
          <p:cNvGraphicFramePr/>
          <p:nvPr/>
        </p:nvGraphicFramePr>
        <p:xfrm>
          <a:off x="2810250" y="1214850"/>
          <a:ext cx="3000000" cy="3000000"/>
        </p:xfrm>
        <a:graphic>
          <a:graphicData uri="http://schemas.openxmlformats.org/drawingml/2006/table">
            <a:tbl>
              <a:tblPr>
                <a:noFill/>
                <a:tableStyleId>{490BF888-4511-4DDF-AF2D-07352BB1DD10}</a:tableStyleId>
              </a:tblPr>
              <a:tblGrid>
                <a:gridCol w="587250"/>
                <a:gridCol w="587250"/>
                <a:gridCol w="587250"/>
                <a:gridCol w="587250"/>
                <a:gridCol w="587250"/>
                <a:gridCol w="587250"/>
              </a:tblGrid>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2</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2</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2</a:t>
                      </a:r>
                      <a:endParaRPr sz="2400">
                        <a:solidFill>
                          <a:schemeClr val="accent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2</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2</a:t>
                      </a:r>
                      <a:endParaRPr sz="2400">
                        <a:solidFill>
                          <a:schemeClr val="accent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2</a:t>
                      </a:r>
                      <a:endParaRPr sz="2400">
                        <a:solidFill>
                          <a:schemeClr val="accent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2</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2</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2</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109" name="Google Shape;10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10" name="Google Shape;11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11" name="Google Shape;111;p20"/>
          <p:cNvGraphicFramePr/>
          <p:nvPr/>
        </p:nvGraphicFramePr>
        <p:xfrm>
          <a:off x="2810250" y="1214850"/>
          <a:ext cx="3000000" cy="3000000"/>
        </p:xfrm>
        <a:graphic>
          <a:graphicData uri="http://schemas.openxmlformats.org/drawingml/2006/table">
            <a:tbl>
              <a:tblPr>
                <a:noFill/>
                <a:tableStyleId>{490BF888-4511-4DDF-AF2D-07352BB1DD10}</a:tableStyleId>
              </a:tblPr>
              <a:tblGrid>
                <a:gridCol w="587250"/>
                <a:gridCol w="587250"/>
                <a:gridCol w="587250"/>
                <a:gridCol w="587250"/>
                <a:gridCol w="587250"/>
                <a:gridCol w="587250"/>
              </a:tblGrid>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3</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3</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3</a:t>
                      </a:r>
                      <a:endParaRPr sz="2400">
                        <a:solidFill>
                          <a:schemeClr val="accent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3</a:t>
                      </a:r>
                      <a:endParaRPr sz="2400">
                        <a:solidFill>
                          <a:schemeClr val="accent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3</a:t>
                      </a:r>
                      <a:endParaRPr sz="2400">
                        <a:solidFill>
                          <a:schemeClr val="accent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3</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117" name="Google Shape;117;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18" name="Google Shape;11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19" name="Google Shape;119;p21"/>
          <p:cNvGraphicFramePr/>
          <p:nvPr/>
        </p:nvGraphicFramePr>
        <p:xfrm>
          <a:off x="2810250" y="1214850"/>
          <a:ext cx="3000000" cy="3000000"/>
        </p:xfrm>
        <a:graphic>
          <a:graphicData uri="http://schemas.openxmlformats.org/drawingml/2006/table">
            <a:tbl>
              <a:tblPr>
                <a:noFill/>
                <a:tableStyleId>{490BF888-4511-4DDF-AF2D-07352BB1DD10}</a:tableStyleId>
              </a:tblPr>
              <a:tblGrid>
                <a:gridCol w="587250"/>
                <a:gridCol w="587250"/>
                <a:gridCol w="587250"/>
                <a:gridCol w="587250"/>
                <a:gridCol w="587250"/>
                <a:gridCol w="587250"/>
              </a:tblGrid>
              <a:tr h="539075">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4</a:t>
                      </a:r>
                      <a:endParaRPr sz="2400">
                        <a:solidFill>
                          <a:schemeClr val="accent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4</a:t>
                      </a:r>
                      <a:endParaRPr sz="2400">
                        <a:solidFill>
                          <a:schemeClr val="accent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4</a:t>
                      </a:r>
                      <a:endParaRPr sz="2400">
                        <a:solidFill>
                          <a:schemeClr val="accent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4</a:t>
                      </a:r>
                      <a:endParaRPr sz="2400">
                        <a:solidFill>
                          <a:schemeClr val="accent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125" name="Google Shape;125;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26" name="Google Shape;126;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27" name="Google Shape;127;p22"/>
          <p:cNvGraphicFramePr/>
          <p:nvPr/>
        </p:nvGraphicFramePr>
        <p:xfrm>
          <a:off x="2810250" y="1214850"/>
          <a:ext cx="3000000" cy="3000000"/>
        </p:xfrm>
        <a:graphic>
          <a:graphicData uri="http://schemas.openxmlformats.org/drawingml/2006/table">
            <a:tbl>
              <a:tblPr>
                <a:noFill/>
                <a:tableStyleId>{490BF888-4511-4DDF-AF2D-07352BB1DD10}</a:tableStyleId>
              </a:tblPr>
              <a:tblGrid>
                <a:gridCol w="587250"/>
                <a:gridCol w="587250"/>
                <a:gridCol w="587250"/>
                <a:gridCol w="587250"/>
                <a:gridCol w="587250"/>
                <a:gridCol w="587250"/>
              </a:tblGrid>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5</a:t>
                      </a:r>
                      <a:endParaRPr sz="2400">
                        <a:solidFill>
                          <a:schemeClr val="accent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5</a:t>
                      </a:r>
                      <a:endParaRPr sz="2400">
                        <a:solidFill>
                          <a:schemeClr val="accent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5</a:t>
                      </a:r>
                      <a:endParaRPr sz="2400">
                        <a:solidFill>
                          <a:schemeClr val="accent1"/>
                        </a:solidFill>
                        <a:latin typeface="Times New Roman"/>
                        <a:ea typeface="Times New Roman"/>
                        <a:cs typeface="Times New Roman"/>
                        <a:sym typeface="Times New Roman"/>
                      </a:endParaRPr>
                    </a:p>
                  </a:txBody>
                  <a:tcPr marT="91425" marB="91425" marR="91425" marL="91425">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133" name="Google Shape;13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34" name="Google Shape;134;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35" name="Google Shape;135;p23"/>
          <p:cNvGraphicFramePr/>
          <p:nvPr/>
        </p:nvGraphicFramePr>
        <p:xfrm>
          <a:off x="2810250" y="1214850"/>
          <a:ext cx="3000000" cy="3000000"/>
        </p:xfrm>
        <a:graphic>
          <a:graphicData uri="http://schemas.openxmlformats.org/drawingml/2006/table">
            <a:tbl>
              <a:tblPr>
                <a:noFill/>
                <a:tableStyleId>{490BF888-4511-4DDF-AF2D-07352BB1DD10}</a:tableStyleId>
              </a:tblPr>
              <a:tblGrid>
                <a:gridCol w="587250"/>
                <a:gridCol w="587250"/>
                <a:gridCol w="587250"/>
                <a:gridCol w="587250"/>
                <a:gridCol w="587250"/>
                <a:gridCol w="587250"/>
              </a:tblGrid>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6</a:t>
                      </a:r>
                      <a:endParaRPr sz="2400">
                        <a:solidFill>
                          <a:schemeClr val="accent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6</a:t>
                      </a:r>
                      <a:endParaRPr sz="2400">
                        <a:solidFill>
                          <a:schemeClr val="accent1"/>
                        </a:solidFill>
                        <a:latin typeface="Times New Roman"/>
                        <a:ea typeface="Times New Roman"/>
                        <a:cs typeface="Times New Roman"/>
                        <a:sym typeface="Times New Roman"/>
                      </a:endParaRPr>
                    </a:p>
                  </a:txBody>
                  <a:tcPr marT="91425" marB="91425" marR="91425" marL="91425">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a:txBody>
                  <a:tcPr marT="91425" marB="91425" marR="91425" marL="91425">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accent1"/>
                          </a:solidFill>
                          <a:latin typeface="Times New Roman"/>
                          <a:ea typeface="Times New Roman"/>
                          <a:cs typeface="Times New Roman"/>
                          <a:sym typeface="Times New Roman"/>
                        </a:rPr>
                        <a:t>6</a:t>
                      </a:r>
                      <a:endParaRPr sz="2400">
                        <a:solidFill>
                          <a:schemeClr val="accent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141" name="Google Shape;14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42" name="Google Shape;142;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43" name="Google Shape;143;p24"/>
          <p:cNvPicPr preferRelativeResize="0"/>
          <p:nvPr/>
        </p:nvPicPr>
        <p:blipFill>
          <a:blip r:embed="rId3">
            <a:alphaModFix/>
          </a:blip>
          <a:stretch>
            <a:fillRect/>
          </a:stretch>
        </p:blipFill>
        <p:spPr>
          <a:xfrm>
            <a:off x="1919275" y="1579550"/>
            <a:ext cx="5305425" cy="2562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149" name="Google Shape;149;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50" name="Google Shape;150;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51" name="Google Shape;151;p25"/>
          <p:cNvPicPr preferRelativeResize="0"/>
          <p:nvPr/>
        </p:nvPicPr>
        <p:blipFill>
          <a:blip r:embed="rId3">
            <a:alphaModFix/>
          </a:blip>
          <a:stretch>
            <a:fillRect/>
          </a:stretch>
        </p:blipFill>
        <p:spPr>
          <a:xfrm>
            <a:off x="1558300" y="1608138"/>
            <a:ext cx="4352925" cy="2505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157" name="Google Shape;15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58" name="Google Shape;158;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59" name="Google Shape;159;p26"/>
          <p:cNvPicPr preferRelativeResize="0"/>
          <p:nvPr/>
        </p:nvPicPr>
        <p:blipFill>
          <a:blip r:embed="rId3">
            <a:alphaModFix/>
          </a:blip>
          <a:stretch>
            <a:fillRect/>
          </a:stretch>
        </p:blipFill>
        <p:spPr>
          <a:xfrm>
            <a:off x="1838325" y="1598600"/>
            <a:ext cx="4095750" cy="2524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165" name="Google Shape;16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66" name="Google Shape;166;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67" name="Google Shape;167;p27"/>
          <p:cNvPicPr preferRelativeResize="0"/>
          <p:nvPr/>
        </p:nvPicPr>
        <p:blipFill>
          <a:blip r:embed="rId3">
            <a:alphaModFix/>
          </a:blip>
          <a:stretch>
            <a:fillRect/>
          </a:stretch>
        </p:blipFill>
        <p:spPr>
          <a:xfrm>
            <a:off x="1824025" y="1589075"/>
            <a:ext cx="4124325" cy="25431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173" name="Google Shape;173;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74" name="Google Shape;174;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75" name="Google Shape;175;p28"/>
          <p:cNvPicPr preferRelativeResize="0"/>
          <p:nvPr/>
        </p:nvPicPr>
        <p:blipFill>
          <a:blip r:embed="rId3">
            <a:alphaModFix/>
          </a:blip>
          <a:stretch>
            <a:fillRect/>
          </a:stretch>
        </p:blipFill>
        <p:spPr>
          <a:xfrm>
            <a:off x="1995475" y="1603375"/>
            <a:ext cx="3933825" cy="2514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181" name="Google Shape;181;p29"/>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ctr">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ctr">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ctr">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ctr">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ctr">
              <a:spcBef>
                <a:spcPts val="1200"/>
              </a:spcBef>
              <a:spcAft>
                <a:spcPts val="0"/>
              </a:spcAft>
              <a:buNone/>
            </a:pPr>
            <a:r>
              <a:t/>
            </a:r>
            <a:endParaRPr sz="2400">
              <a:solidFill>
                <a:schemeClr val="dk1"/>
              </a:solidFill>
              <a:latin typeface="Times New Roman"/>
              <a:ea typeface="Times New Roman"/>
              <a:cs typeface="Times New Roman"/>
              <a:sym typeface="Times New Roman"/>
            </a:endParaRPr>
          </a:p>
          <a:p>
            <a:pPr indent="0" lvl="0" marL="0" rtl="0" algn="ctr">
              <a:spcBef>
                <a:spcPts val="1200"/>
              </a:spcBef>
              <a:spcAft>
                <a:spcPts val="1200"/>
              </a:spcAft>
              <a:buNone/>
            </a:pPr>
            <a:r>
              <a:rPr lang="zh-TW" sz="2400">
                <a:solidFill>
                  <a:schemeClr val="dk1"/>
                </a:solidFill>
                <a:latin typeface="Times New Roman"/>
                <a:ea typeface="Times New Roman"/>
                <a:cs typeface="Times New Roman"/>
                <a:sym typeface="Times New Roman"/>
              </a:rPr>
              <a:t>36 * 24 = 864 cell distances updated</a:t>
            </a:r>
            <a:endParaRPr sz="2400">
              <a:solidFill>
                <a:schemeClr val="dk1"/>
              </a:solidFill>
              <a:latin typeface="Times New Roman"/>
              <a:ea typeface="Times New Roman"/>
              <a:cs typeface="Times New Roman"/>
              <a:sym typeface="Times New Roman"/>
            </a:endParaRPr>
          </a:p>
        </p:txBody>
      </p:sp>
      <p:sp>
        <p:nvSpPr>
          <p:cNvPr id="182" name="Google Shape;182;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83" name="Google Shape;183;p29"/>
          <p:cNvPicPr preferRelativeResize="0"/>
          <p:nvPr/>
        </p:nvPicPr>
        <p:blipFill>
          <a:blip r:embed="rId3">
            <a:alphaModFix/>
          </a:blip>
          <a:stretch>
            <a:fillRect/>
          </a:stretch>
        </p:blipFill>
        <p:spPr>
          <a:xfrm>
            <a:off x="2947975" y="1550975"/>
            <a:ext cx="3857625" cy="26193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189" name="Google Shape;18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90" name="Google Shape;19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91" name="Google Shape;191;p30"/>
          <p:cNvGraphicFramePr/>
          <p:nvPr/>
        </p:nvGraphicFramePr>
        <p:xfrm>
          <a:off x="2810250" y="1214850"/>
          <a:ext cx="3000000" cy="3000000"/>
        </p:xfrm>
        <a:graphic>
          <a:graphicData uri="http://schemas.openxmlformats.org/drawingml/2006/table">
            <a:tbl>
              <a:tblPr>
                <a:noFill/>
                <a:tableStyleId>{490BF888-4511-4DDF-AF2D-07352BB1DD10}</a:tableStyleId>
              </a:tblPr>
              <a:tblGrid>
                <a:gridCol w="587250"/>
                <a:gridCol w="587250"/>
                <a:gridCol w="587250"/>
                <a:gridCol w="587250"/>
                <a:gridCol w="587250"/>
                <a:gridCol w="587250"/>
              </a:tblGrid>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solidFill>
                      <a:schemeClr val="accent1"/>
                    </a:solidFil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6</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6</a:t>
                      </a:r>
                      <a:endParaRPr sz="2400">
                        <a:solidFill>
                          <a:schemeClr val="dk1"/>
                        </a:solidFill>
                        <a:latin typeface="Times New Roman"/>
                        <a:ea typeface="Times New Roman"/>
                        <a:cs typeface="Times New Roman"/>
                        <a:sym typeface="Times New Roman"/>
                      </a:endParaRPr>
                    </a:p>
                  </a:txBody>
                  <a:tcPr marT="91425" marB="91425" marR="91425" marL="91425">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a:txBody>
                  <a:tcPr marT="91425" marB="91425" marR="91425" marL="91425">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6</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Flood Fill Algorithm (cont.)</a:t>
            </a:r>
            <a:endParaRPr>
              <a:latin typeface="Times New Roman"/>
              <a:ea typeface="Times New Roman"/>
              <a:cs typeface="Times New Roman"/>
              <a:sym typeface="Times New Roman"/>
            </a:endParaRPr>
          </a:p>
        </p:txBody>
      </p:sp>
      <p:sp>
        <p:nvSpPr>
          <p:cNvPr id="197" name="Google Shape;197;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198" name="Google Shape;19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99" name="Google Shape;199;p31"/>
          <p:cNvGraphicFramePr/>
          <p:nvPr/>
        </p:nvGraphicFramePr>
        <p:xfrm>
          <a:off x="2810250" y="1214850"/>
          <a:ext cx="3000000" cy="3000000"/>
        </p:xfrm>
        <a:graphic>
          <a:graphicData uri="http://schemas.openxmlformats.org/drawingml/2006/table">
            <a:tbl>
              <a:tblPr>
                <a:noFill/>
                <a:tableStyleId>{490BF888-4511-4DDF-AF2D-07352BB1DD10}</a:tableStyleId>
              </a:tblPr>
              <a:tblGrid>
                <a:gridCol w="587250"/>
                <a:gridCol w="587250"/>
                <a:gridCol w="587250"/>
                <a:gridCol w="587250"/>
                <a:gridCol w="587250"/>
                <a:gridCol w="587250"/>
              </a:tblGrid>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a:txBody>
                  <a:tcPr marT="91425" marB="91425" marR="91425" marL="91425">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a:txBody>
                  <a:tcPr marT="91425" marB="91425" marR="91425" marL="91425">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lnT cap="flat" cmpd="sng" w="38100">
                      <a:solidFill>
                        <a:srgbClr val="FF0000"/>
                      </a:solidFill>
                      <a:prstDash val="solid"/>
                      <a:round/>
                      <a:headEnd len="sm" w="sm" type="none"/>
                      <a:tailEnd len="sm" w="sm" type="none"/>
                    </a:lnT>
                    <a:solidFill>
                      <a:schemeClr val="accent1"/>
                    </a:solidFil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lnB cap="flat" cmpd="sng" w="38100">
                      <a:solidFill>
                        <a:srgbClr val="FF0000"/>
                      </a:solidFill>
                      <a:prstDash val="solid"/>
                      <a:round/>
                      <a:headEnd len="sm" w="sm" type="none"/>
                      <a:tailEnd len="sm" w="sm" type="none"/>
                    </a:lnB>
                  </a:tcPr>
                </a:tc>
              </a:tr>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6</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lnT cap="flat" cmpd="sng" w="38100">
                      <a:solidFill>
                        <a:srgbClr val="FF0000"/>
                      </a:solidFill>
                      <a:prstDash val="solid"/>
                      <a:round/>
                      <a:headEnd len="sm" w="sm" type="none"/>
                      <a:tailEnd len="sm" w="sm" type="none"/>
                    </a:lnT>
                  </a:tcPr>
                </a:tc>
              </a:tr>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6</a:t>
                      </a:r>
                      <a:endParaRPr sz="2400">
                        <a:solidFill>
                          <a:schemeClr val="dk1"/>
                        </a:solidFill>
                        <a:latin typeface="Times New Roman"/>
                        <a:ea typeface="Times New Roman"/>
                        <a:cs typeface="Times New Roman"/>
                        <a:sym typeface="Times New Roman"/>
                      </a:endParaRPr>
                    </a:p>
                  </a:txBody>
                  <a:tcPr marT="91425" marB="91425" marR="91425" marL="91425">
                    <a:lnB cap="flat" cmpd="sng" w="38100">
                      <a:solidFill>
                        <a:srgbClr val="FF0000"/>
                      </a:solidFill>
                      <a:prstDash val="solid"/>
                      <a:round/>
                      <a:headEnd len="sm" w="sm" type="none"/>
                      <a:tailEnd len="sm" w="sm" type="none"/>
                    </a:lnB>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0</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5</a:t>
                      </a:r>
                      <a:endParaRPr sz="2400">
                        <a:solidFill>
                          <a:schemeClr val="dk1"/>
                        </a:solidFill>
                        <a:latin typeface="Times New Roman"/>
                        <a:ea typeface="Times New Roman"/>
                        <a:cs typeface="Times New Roman"/>
                        <a:sym typeface="Times New Roman"/>
                      </a:endParaRPr>
                    </a:p>
                  </a:txBody>
                  <a:tcPr marT="91425" marB="91425" marR="91425" marL="91425">
                    <a:lnT cap="flat" cmpd="sng" w="38100">
                      <a:solidFill>
                        <a:srgbClr val="FF0000"/>
                      </a:solidFill>
                      <a:prstDash val="solid"/>
                      <a:round/>
                      <a:headEnd len="sm" w="sm" type="none"/>
                      <a:tailEnd len="sm" w="sm" type="none"/>
                    </a:lnT>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1</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r>
              <a:tr h="53907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6</a:t>
                      </a:r>
                      <a:endParaRPr sz="2400">
                        <a:solidFill>
                          <a:schemeClr val="dk1"/>
                        </a:solidFill>
                        <a:latin typeface="Times New Roman"/>
                        <a:ea typeface="Times New Roman"/>
                        <a:cs typeface="Times New Roman"/>
                        <a:sym typeface="Times New Roman"/>
                      </a:endParaRPr>
                    </a:p>
                  </a:txBody>
                  <a:tcPr marT="91425" marB="91425" marR="91425" marL="91425">
                    <a:lnR cap="flat" cmpd="sng" w="38100">
                      <a:solidFill>
                        <a:srgbClr val="FF0000"/>
                      </a:solidFill>
                      <a:prstDash val="solid"/>
                      <a:round/>
                      <a:headEnd len="sm" w="sm" type="none"/>
                      <a:tailEnd len="sm" w="sm" type="none"/>
                    </a:lnR>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lnL cap="flat" cmpd="sng" w="38100">
                      <a:solidFill>
                        <a:srgbClr val="FF0000"/>
                      </a:solidFill>
                      <a:prstDash val="solid"/>
                      <a:round/>
                      <a:headEnd len="sm" w="sm" type="none"/>
                      <a:tailEnd len="sm" w="sm" type="none"/>
                    </a:lnL>
                  </a:tcPr>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a:t>
                      </a:r>
                      <a:endParaRPr sz="2400">
                        <a:solidFill>
                          <a:schemeClr val="dk1"/>
                        </a:solidFill>
                        <a:latin typeface="Times New Roman"/>
                        <a:ea typeface="Times New Roman"/>
                        <a:cs typeface="Times New Roman"/>
                        <a:sym typeface="Times New Roman"/>
                      </a:endParaRPr>
                    </a:p>
                  </a:txBody>
                  <a:tcPr marT="91425" marB="91425" marR="91425" marL="91425"/>
                </a:tc>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a:t>
                      </a:r>
                      <a:endParaRPr sz="24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Modified Flood Fill Algorithm</a:t>
            </a:r>
            <a:endParaRPr>
              <a:latin typeface="Times New Roman"/>
              <a:ea typeface="Times New Roman"/>
              <a:cs typeface="Times New Roman"/>
              <a:sym typeface="Times New Roman"/>
            </a:endParaRPr>
          </a:p>
        </p:txBody>
      </p:sp>
      <p:sp>
        <p:nvSpPr>
          <p:cNvPr id="205" name="Google Shape;205;p32"/>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300">
                <a:solidFill>
                  <a:schemeClr val="dk1"/>
                </a:solidFill>
                <a:latin typeface="Times New Roman"/>
                <a:ea typeface="Times New Roman"/>
                <a:cs typeface="Times New Roman"/>
                <a:sym typeface="Times New Roman"/>
              </a:rPr>
              <a:t>The algorithm does </a:t>
            </a:r>
            <a:r>
              <a:rPr lang="zh-TW" sz="2300">
                <a:solidFill>
                  <a:srgbClr val="FF0000"/>
                </a:solidFill>
                <a:latin typeface="Times New Roman"/>
                <a:ea typeface="Times New Roman"/>
                <a:cs typeface="Times New Roman"/>
                <a:sym typeface="Times New Roman"/>
              </a:rPr>
              <a:t>not</a:t>
            </a:r>
            <a:r>
              <a:rPr lang="zh-TW" sz="2300">
                <a:solidFill>
                  <a:schemeClr val="dk1"/>
                </a:solidFill>
                <a:latin typeface="Times New Roman"/>
                <a:ea typeface="Times New Roman"/>
                <a:cs typeface="Times New Roman"/>
                <a:sym typeface="Times New Roman"/>
              </a:rPr>
              <a:t> flood the maze each time a new cell is reached</a:t>
            </a:r>
            <a:endParaRPr sz="2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zh-TW" sz="2300">
                <a:solidFill>
                  <a:schemeClr val="dk1"/>
                </a:solidFill>
                <a:latin typeface="Times New Roman"/>
                <a:ea typeface="Times New Roman"/>
                <a:cs typeface="Times New Roman"/>
                <a:sym typeface="Times New Roman"/>
              </a:rPr>
              <a:t>Step1. Push the current cell location (x, y) onto the stack</a:t>
            </a:r>
            <a:endParaRPr sz="23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zh-TW" sz="2300">
                <a:solidFill>
                  <a:schemeClr val="dk1"/>
                </a:solidFill>
                <a:latin typeface="Times New Roman"/>
                <a:ea typeface="Times New Roman"/>
                <a:cs typeface="Times New Roman"/>
                <a:sym typeface="Times New Roman"/>
              </a:rPr>
              <a:t>Step2. Repeat this step while the stack is not empty</a:t>
            </a:r>
            <a:endParaRPr sz="2300">
              <a:solidFill>
                <a:schemeClr val="dk1"/>
              </a:solidFill>
              <a:latin typeface="Times New Roman"/>
              <a:ea typeface="Times New Roman"/>
              <a:cs typeface="Times New Roman"/>
              <a:sym typeface="Times New Roman"/>
            </a:endParaRPr>
          </a:p>
          <a:p>
            <a:pPr indent="-374650" lvl="0" marL="457200" rtl="0" algn="l">
              <a:spcBef>
                <a:spcPts val="1200"/>
              </a:spcBef>
              <a:spcAft>
                <a:spcPts val="0"/>
              </a:spcAft>
              <a:buClr>
                <a:schemeClr val="dk1"/>
              </a:buClr>
              <a:buSzPts val="2300"/>
              <a:buFont typeface="Times New Roman"/>
              <a:buChar char="-"/>
            </a:pPr>
            <a:r>
              <a:rPr lang="zh-TW" sz="2300">
                <a:solidFill>
                  <a:schemeClr val="dk1"/>
                </a:solidFill>
                <a:latin typeface="Times New Roman"/>
                <a:ea typeface="Times New Roman"/>
                <a:cs typeface="Times New Roman"/>
                <a:sym typeface="Times New Roman"/>
              </a:rPr>
              <a:t>Pull the cell location (x, y)from the stack</a:t>
            </a:r>
            <a:endParaRPr sz="2300">
              <a:solidFill>
                <a:schemeClr val="dk1"/>
              </a:solidFill>
              <a:latin typeface="Times New Roman"/>
              <a:ea typeface="Times New Roman"/>
              <a:cs typeface="Times New Roman"/>
              <a:sym typeface="Times New Roman"/>
            </a:endParaRPr>
          </a:p>
          <a:p>
            <a:pPr indent="-374650" lvl="0" marL="457200" rtl="0" algn="l">
              <a:spcBef>
                <a:spcPts val="0"/>
              </a:spcBef>
              <a:spcAft>
                <a:spcPts val="0"/>
              </a:spcAft>
              <a:buClr>
                <a:schemeClr val="dk1"/>
              </a:buClr>
              <a:buSzPts val="2300"/>
              <a:buFont typeface="Times New Roman"/>
              <a:buChar char="-"/>
            </a:pPr>
            <a:r>
              <a:rPr lang="zh-TW" sz="2300">
                <a:solidFill>
                  <a:schemeClr val="dk1"/>
                </a:solidFill>
                <a:latin typeface="Times New Roman"/>
                <a:ea typeface="Times New Roman"/>
                <a:cs typeface="Times New Roman"/>
                <a:sym typeface="Times New Roman"/>
              </a:rPr>
              <a:t>If the minimum distance of the neighboring </a:t>
            </a:r>
            <a:r>
              <a:rPr lang="zh-TW" sz="2300">
                <a:solidFill>
                  <a:srgbClr val="FF0000"/>
                </a:solidFill>
                <a:latin typeface="Times New Roman"/>
                <a:ea typeface="Times New Roman"/>
                <a:cs typeface="Times New Roman"/>
                <a:sym typeface="Times New Roman"/>
              </a:rPr>
              <a:t>open</a:t>
            </a:r>
            <a:r>
              <a:rPr lang="zh-TW" sz="2300">
                <a:solidFill>
                  <a:schemeClr val="dk1"/>
                </a:solidFill>
                <a:latin typeface="Times New Roman"/>
                <a:ea typeface="Times New Roman"/>
                <a:cs typeface="Times New Roman"/>
                <a:sym typeface="Times New Roman"/>
              </a:rPr>
              <a:t> cells, md, is not equal to the present cell’s distance - 1, replace the present cell’s distance with md + 1, and push </a:t>
            </a:r>
            <a:r>
              <a:rPr lang="zh-TW" sz="2300">
                <a:solidFill>
                  <a:srgbClr val="FF0000"/>
                </a:solidFill>
                <a:latin typeface="Times New Roman"/>
                <a:ea typeface="Times New Roman"/>
                <a:cs typeface="Times New Roman"/>
                <a:sym typeface="Times New Roman"/>
              </a:rPr>
              <a:t>all</a:t>
            </a:r>
            <a:r>
              <a:rPr lang="zh-TW" sz="2300">
                <a:solidFill>
                  <a:schemeClr val="dk1"/>
                </a:solidFill>
                <a:latin typeface="Times New Roman"/>
                <a:ea typeface="Times New Roman"/>
                <a:cs typeface="Times New Roman"/>
                <a:sym typeface="Times New Roman"/>
              </a:rPr>
              <a:t> neighbor locations onto the stack</a:t>
            </a:r>
            <a:endParaRPr sz="2300">
              <a:solidFill>
                <a:schemeClr val="dk1"/>
              </a:solidFill>
              <a:latin typeface="Times New Roman"/>
              <a:ea typeface="Times New Roman"/>
              <a:cs typeface="Times New Roman"/>
              <a:sym typeface="Times New Roman"/>
            </a:endParaRPr>
          </a:p>
        </p:txBody>
      </p:sp>
      <p:sp>
        <p:nvSpPr>
          <p:cNvPr id="206" name="Google Shape;20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Modified Flood Fill Algorithm (cont.)</a:t>
            </a:r>
            <a:endParaRPr>
              <a:latin typeface="Times New Roman"/>
              <a:ea typeface="Times New Roman"/>
              <a:cs typeface="Times New Roman"/>
              <a:sym typeface="Times New Roman"/>
            </a:endParaRPr>
          </a:p>
        </p:txBody>
      </p:sp>
      <p:sp>
        <p:nvSpPr>
          <p:cNvPr id="212" name="Google Shape;212;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13" name="Google Shape;213;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14" name="Google Shape;214;p33"/>
          <p:cNvPicPr preferRelativeResize="0"/>
          <p:nvPr/>
        </p:nvPicPr>
        <p:blipFill>
          <a:blip r:embed="rId3">
            <a:alphaModFix/>
          </a:blip>
          <a:stretch>
            <a:fillRect/>
          </a:stretch>
        </p:blipFill>
        <p:spPr>
          <a:xfrm>
            <a:off x="1643050" y="1584325"/>
            <a:ext cx="4333875" cy="2552700"/>
          </a:xfrm>
          <a:prstGeom prst="rect">
            <a:avLst/>
          </a:prstGeom>
          <a:noFill/>
          <a:ln>
            <a:noFill/>
          </a:ln>
        </p:spPr>
      </p:pic>
      <p:sp>
        <p:nvSpPr>
          <p:cNvPr id="215" name="Google Shape;215;p33"/>
          <p:cNvSpPr txBox="1"/>
          <p:nvPr/>
        </p:nvSpPr>
        <p:spPr>
          <a:xfrm>
            <a:off x="6658850" y="1814050"/>
            <a:ext cx="1333200" cy="51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stack</a:t>
            </a:r>
            <a:endParaRPr sz="2400">
              <a:solidFill>
                <a:schemeClr val="dk1"/>
              </a:solidFill>
              <a:latin typeface="Times New Roman"/>
              <a:ea typeface="Times New Roman"/>
              <a:cs typeface="Times New Roman"/>
              <a:sym typeface="Times New Roman"/>
            </a:endParaRPr>
          </a:p>
        </p:txBody>
      </p:sp>
      <p:graphicFrame>
        <p:nvGraphicFramePr>
          <p:cNvPr id="216" name="Google Shape;216;p33"/>
          <p:cNvGraphicFramePr/>
          <p:nvPr/>
        </p:nvGraphicFramePr>
        <p:xfrm>
          <a:off x="6603725" y="2297450"/>
          <a:ext cx="3000000" cy="3000000"/>
        </p:xfrm>
        <a:graphic>
          <a:graphicData uri="http://schemas.openxmlformats.org/drawingml/2006/table">
            <a:tbl>
              <a:tblPr>
                <a:noFill/>
                <a:tableStyleId>{490BF888-4511-4DDF-AF2D-07352BB1DD10}</a:tableStyleId>
              </a:tblPr>
              <a:tblGrid>
                <a:gridCol w="1443450"/>
              </a:tblGrid>
              <a:tr h="381000">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(2, 1)</a:t>
                      </a:r>
                      <a:endParaRPr sz="24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Modified Flood Fill Algorithm (cont.)</a:t>
            </a:r>
            <a:endParaRPr>
              <a:latin typeface="Times New Roman"/>
              <a:ea typeface="Times New Roman"/>
              <a:cs typeface="Times New Roman"/>
              <a:sym typeface="Times New Roman"/>
            </a:endParaRPr>
          </a:p>
        </p:txBody>
      </p:sp>
      <p:sp>
        <p:nvSpPr>
          <p:cNvPr id="222" name="Google Shape;22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23" name="Google Shape;22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24" name="Google Shape;224;p34"/>
          <p:cNvPicPr preferRelativeResize="0"/>
          <p:nvPr/>
        </p:nvPicPr>
        <p:blipFill>
          <a:blip r:embed="rId3">
            <a:alphaModFix/>
          </a:blip>
          <a:stretch>
            <a:fillRect/>
          </a:stretch>
        </p:blipFill>
        <p:spPr>
          <a:xfrm>
            <a:off x="1759325" y="1608138"/>
            <a:ext cx="4210050" cy="2505075"/>
          </a:xfrm>
          <a:prstGeom prst="rect">
            <a:avLst/>
          </a:prstGeom>
          <a:noFill/>
          <a:ln>
            <a:noFill/>
          </a:ln>
        </p:spPr>
      </p:pic>
      <p:pic>
        <p:nvPicPr>
          <p:cNvPr id="225" name="Google Shape;225;p34"/>
          <p:cNvPicPr preferRelativeResize="0"/>
          <p:nvPr/>
        </p:nvPicPr>
        <p:blipFill>
          <a:blip r:embed="rId4">
            <a:alphaModFix/>
          </a:blip>
          <a:stretch>
            <a:fillRect/>
          </a:stretch>
        </p:blipFill>
        <p:spPr>
          <a:xfrm>
            <a:off x="6157863" y="2155825"/>
            <a:ext cx="2314575" cy="14097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Modified Flood Fill Algorithm (cont.)</a:t>
            </a:r>
            <a:endParaRPr>
              <a:latin typeface="Times New Roman"/>
              <a:ea typeface="Times New Roman"/>
              <a:cs typeface="Times New Roman"/>
              <a:sym typeface="Times New Roman"/>
            </a:endParaRPr>
          </a:p>
        </p:txBody>
      </p:sp>
      <p:sp>
        <p:nvSpPr>
          <p:cNvPr id="231" name="Google Shape;231;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32" name="Google Shape;232;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33" name="Google Shape;233;p35"/>
          <p:cNvPicPr preferRelativeResize="0"/>
          <p:nvPr/>
        </p:nvPicPr>
        <p:blipFill>
          <a:blip r:embed="rId3">
            <a:alphaModFix/>
          </a:blip>
          <a:stretch>
            <a:fillRect/>
          </a:stretch>
        </p:blipFill>
        <p:spPr>
          <a:xfrm>
            <a:off x="1734375" y="1598600"/>
            <a:ext cx="4238625" cy="2524125"/>
          </a:xfrm>
          <a:prstGeom prst="rect">
            <a:avLst/>
          </a:prstGeom>
          <a:noFill/>
          <a:ln>
            <a:noFill/>
          </a:ln>
        </p:spPr>
      </p:pic>
      <p:pic>
        <p:nvPicPr>
          <p:cNvPr id="234" name="Google Shape;234;p35"/>
          <p:cNvPicPr preferRelativeResize="0"/>
          <p:nvPr/>
        </p:nvPicPr>
        <p:blipFill>
          <a:blip r:embed="rId4">
            <a:alphaModFix/>
          </a:blip>
          <a:stretch>
            <a:fillRect/>
          </a:stretch>
        </p:blipFill>
        <p:spPr>
          <a:xfrm>
            <a:off x="6167400" y="1722425"/>
            <a:ext cx="2305050" cy="22764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Modified Flood Fill Algorithm (cont.)</a:t>
            </a:r>
            <a:endParaRPr>
              <a:latin typeface="Times New Roman"/>
              <a:ea typeface="Times New Roman"/>
              <a:cs typeface="Times New Roman"/>
              <a:sym typeface="Times New Roman"/>
            </a:endParaRPr>
          </a:p>
        </p:txBody>
      </p:sp>
      <p:sp>
        <p:nvSpPr>
          <p:cNvPr id="240" name="Google Shape;240;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41" name="Google Shape;241;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42" name="Google Shape;242;p36"/>
          <p:cNvPicPr preferRelativeResize="0"/>
          <p:nvPr/>
        </p:nvPicPr>
        <p:blipFill>
          <a:blip r:embed="rId3">
            <a:alphaModFix/>
          </a:blip>
          <a:stretch>
            <a:fillRect/>
          </a:stretch>
        </p:blipFill>
        <p:spPr>
          <a:xfrm>
            <a:off x="1795450" y="1617650"/>
            <a:ext cx="4181475" cy="2486025"/>
          </a:xfrm>
          <a:prstGeom prst="rect">
            <a:avLst/>
          </a:prstGeom>
          <a:noFill/>
          <a:ln>
            <a:noFill/>
          </a:ln>
        </p:spPr>
      </p:pic>
      <p:pic>
        <p:nvPicPr>
          <p:cNvPr id="243" name="Google Shape;243;p36"/>
          <p:cNvPicPr preferRelativeResize="0"/>
          <p:nvPr/>
        </p:nvPicPr>
        <p:blipFill>
          <a:blip r:embed="rId4">
            <a:alphaModFix/>
          </a:blip>
          <a:stretch>
            <a:fillRect/>
          </a:stretch>
        </p:blipFill>
        <p:spPr>
          <a:xfrm>
            <a:off x="6192175" y="1536700"/>
            <a:ext cx="2552700" cy="2647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Modified Flood Fill Algorithm (cont.)</a:t>
            </a:r>
            <a:endParaRPr>
              <a:latin typeface="Times New Roman"/>
              <a:ea typeface="Times New Roman"/>
              <a:cs typeface="Times New Roman"/>
              <a:sym typeface="Times New Roman"/>
            </a:endParaRPr>
          </a:p>
        </p:txBody>
      </p:sp>
      <p:sp>
        <p:nvSpPr>
          <p:cNvPr id="249" name="Google Shape;249;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50" name="Google Shape;250;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51" name="Google Shape;251;p37"/>
          <p:cNvPicPr preferRelativeResize="0"/>
          <p:nvPr/>
        </p:nvPicPr>
        <p:blipFill>
          <a:blip r:embed="rId3">
            <a:alphaModFix/>
          </a:blip>
          <a:stretch>
            <a:fillRect/>
          </a:stretch>
        </p:blipFill>
        <p:spPr>
          <a:xfrm>
            <a:off x="1828800" y="1612900"/>
            <a:ext cx="4114800" cy="2495550"/>
          </a:xfrm>
          <a:prstGeom prst="rect">
            <a:avLst/>
          </a:prstGeom>
          <a:noFill/>
          <a:ln>
            <a:noFill/>
          </a:ln>
        </p:spPr>
      </p:pic>
      <p:pic>
        <p:nvPicPr>
          <p:cNvPr id="252" name="Google Shape;252;p37"/>
          <p:cNvPicPr preferRelativeResize="0"/>
          <p:nvPr/>
        </p:nvPicPr>
        <p:blipFill>
          <a:blip r:embed="rId4">
            <a:alphaModFix/>
          </a:blip>
          <a:stretch>
            <a:fillRect/>
          </a:stretch>
        </p:blipFill>
        <p:spPr>
          <a:xfrm>
            <a:off x="6160675" y="1555750"/>
            <a:ext cx="2209800" cy="26098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Modified Flood Fill Algorithm (cont.)</a:t>
            </a:r>
            <a:endParaRPr>
              <a:latin typeface="Times New Roman"/>
              <a:ea typeface="Times New Roman"/>
              <a:cs typeface="Times New Roman"/>
              <a:sym typeface="Times New Roman"/>
            </a:endParaRPr>
          </a:p>
        </p:txBody>
      </p:sp>
      <p:sp>
        <p:nvSpPr>
          <p:cNvPr id="258" name="Google Shape;258;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59" name="Google Shape;259;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60" name="Google Shape;260;p38"/>
          <p:cNvPicPr preferRelativeResize="0"/>
          <p:nvPr/>
        </p:nvPicPr>
        <p:blipFill>
          <a:blip r:embed="rId3">
            <a:alphaModFix/>
          </a:blip>
          <a:stretch>
            <a:fillRect/>
          </a:stretch>
        </p:blipFill>
        <p:spPr>
          <a:xfrm>
            <a:off x="1824025" y="1603375"/>
            <a:ext cx="4124325" cy="25146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Modified Flood Fill Algorithm (cont.)</a:t>
            </a:r>
            <a:endParaRPr>
              <a:latin typeface="Times New Roman"/>
              <a:ea typeface="Times New Roman"/>
              <a:cs typeface="Times New Roman"/>
              <a:sym typeface="Times New Roman"/>
            </a:endParaRPr>
          </a:p>
        </p:txBody>
      </p:sp>
      <p:sp>
        <p:nvSpPr>
          <p:cNvPr id="266" name="Google Shape;266;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67" name="Google Shape;26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68" name="Google Shape;268;p39"/>
          <p:cNvPicPr preferRelativeResize="0"/>
          <p:nvPr/>
        </p:nvPicPr>
        <p:blipFill>
          <a:blip r:embed="rId3">
            <a:alphaModFix/>
          </a:blip>
          <a:stretch>
            <a:fillRect/>
          </a:stretch>
        </p:blipFill>
        <p:spPr>
          <a:xfrm>
            <a:off x="2938450" y="1550975"/>
            <a:ext cx="4029075" cy="261937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p:txBody>
      </p:sp>
      <p:sp>
        <p:nvSpPr>
          <p:cNvPr id="274" name="Google Shape;274;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75" name="Google Shape;275;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76" name="Google Shape;276;p40"/>
          <p:cNvPicPr preferRelativeResize="0"/>
          <p:nvPr/>
        </p:nvPicPr>
        <p:blipFill>
          <a:blip r:embed="rId3">
            <a:alphaModFix/>
          </a:blip>
          <a:stretch>
            <a:fillRect/>
          </a:stretch>
        </p:blipFill>
        <p:spPr>
          <a:xfrm>
            <a:off x="1762125" y="950900"/>
            <a:ext cx="5619750" cy="381952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1st</a:t>
            </a:r>
            <a:endParaRPr>
              <a:latin typeface="Times New Roman"/>
              <a:ea typeface="Times New Roman"/>
              <a:cs typeface="Times New Roman"/>
              <a:sym typeface="Times New Roman"/>
            </a:endParaRPr>
          </a:p>
        </p:txBody>
      </p:sp>
      <p:sp>
        <p:nvSpPr>
          <p:cNvPr id="282" name="Google Shape;282;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83" name="Google Shape;283;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84" name="Google Shape;284;p41"/>
          <p:cNvPicPr preferRelativeResize="0"/>
          <p:nvPr/>
        </p:nvPicPr>
        <p:blipFill>
          <a:blip r:embed="rId3">
            <a:alphaModFix/>
          </a:blip>
          <a:stretch>
            <a:fillRect/>
          </a:stretch>
        </p:blipFill>
        <p:spPr>
          <a:xfrm>
            <a:off x="2158640" y="0"/>
            <a:ext cx="4826721" cy="51435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2nd</a:t>
            </a:r>
            <a:endParaRPr>
              <a:latin typeface="Times New Roman"/>
              <a:ea typeface="Times New Roman"/>
              <a:cs typeface="Times New Roman"/>
              <a:sym typeface="Times New Roman"/>
            </a:endParaRPr>
          </a:p>
        </p:txBody>
      </p:sp>
      <p:sp>
        <p:nvSpPr>
          <p:cNvPr id="290" name="Google Shape;29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91" name="Google Shape;291;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92" name="Google Shape;292;p42"/>
          <p:cNvPicPr preferRelativeResize="0"/>
          <p:nvPr/>
        </p:nvPicPr>
        <p:blipFill>
          <a:blip r:embed="rId3">
            <a:alphaModFix/>
          </a:blip>
          <a:stretch>
            <a:fillRect/>
          </a:stretch>
        </p:blipFill>
        <p:spPr>
          <a:xfrm>
            <a:off x="2186844" y="0"/>
            <a:ext cx="4770312" cy="51434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3rd</a:t>
            </a:r>
            <a:endParaRPr>
              <a:latin typeface="Times New Roman"/>
              <a:ea typeface="Times New Roman"/>
              <a:cs typeface="Times New Roman"/>
              <a:sym typeface="Times New Roman"/>
            </a:endParaRPr>
          </a:p>
        </p:txBody>
      </p:sp>
      <p:sp>
        <p:nvSpPr>
          <p:cNvPr id="298" name="Google Shape;298;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299" name="Google Shape;299;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300" name="Google Shape;300;p43"/>
          <p:cNvPicPr preferRelativeResize="0"/>
          <p:nvPr/>
        </p:nvPicPr>
        <p:blipFill>
          <a:blip r:embed="rId3">
            <a:alphaModFix/>
          </a:blip>
          <a:stretch>
            <a:fillRect/>
          </a:stretch>
        </p:blipFill>
        <p:spPr>
          <a:xfrm>
            <a:off x="2209205" y="0"/>
            <a:ext cx="4725591" cy="5143501"/>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Results</a:t>
            </a:r>
            <a:endParaRPr>
              <a:latin typeface="Times New Roman"/>
              <a:ea typeface="Times New Roman"/>
              <a:cs typeface="Times New Roman"/>
              <a:sym typeface="Times New Roman"/>
            </a:endParaRPr>
          </a:p>
        </p:txBody>
      </p:sp>
      <p:sp>
        <p:nvSpPr>
          <p:cNvPr id="306" name="Google Shape;306;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307" name="Google Shape;307;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308" name="Google Shape;308;p44"/>
          <p:cNvPicPr preferRelativeResize="0"/>
          <p:nvPr/>
        </p:nvPicPr>
        <p:blipFill>
          <a:blip r:embed="rId3">
            <a:alphaModFix/>
          </a:blip>
          <a:stretch>
            <a:fillRect/>
          </a:stretch>
        </p:blipFill>
        <p:spPr>
          <a:xfrm>
            <a:off x="1600200" y="1141400"/>
            <a:ext cx="5943600" cy="34385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Appendix</a:t>
            </a:r>
            <a:endParaRPr>
              <a:latin typeface="Times New Roman"/>
              <a:ea typeface="Times New Roman"/>
              <a:cs typeface="Times New Roman"/>
              <a:sym typeface="Times New Roman"/>
            </a:endParaRPr>
          </a:p>
        </p:txBody>
      </p:sp>
      <p:sp>
        <p:nvSpPr>
          <p:cNvPr id="314" name="Google Shape;314;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315" name="Google Shape;315;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316" name="Google Shape;316;p45"/>
          <p:cNvPicPr preferRelativeResize="0"/>
          <p:nvPr/>
        </p:nvPicPr>
        <p:blipFill>
          <a:blip r:embed="rId3">
            <a:alphaModFix/>
          </a:blip>
          <a:stretch>
            <a:fillRect/>
          </a:stretch>
        </p:blipFill>
        <p:spPr>
          <a:xfrm>
            <a:off x="2895600" y="1108075"/>
            <a:ext cx="4572000" cy="3505200"/>
          </a:xfrm>
          <a:prstGeom prst="rect">
            <a:avLst/>
          </a:prstGeom>
          <a:noFill/>
          <a:ln>
            <a:noFill/>
          </a:ln>
        </p:spPr>
      </p:pic>
      <p:sp>
        <p:nvSpPr>
          <p:cNvPr id="317" name="Google Shape;317;p45"/>
          <p:cNvSpPr/>
          <p:nvPr/>
        </p:nvSpPr>
        <p:spPr>
          <a:xfrm>
            <a:off x="3701000" y="2404175"/>
            <a:ext cx="131100" cy="131100"/>
          </a:xfrm>
          <a:prstGeom prst="ellipse">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Appendix (cont.)</a:t>
            </a:r>
            <a:endParaRPr>
              <a:latin typeface="Times New Roman"/>
              <a:ea typeface="Times New Roman"/>
              <a:cs typeface="Times New Roman"/>
              <a:sym typeface="Times New Roman"/>
            </a:endParaRPr>
          </a:p>
        </p:txBody>
      </p:sp>
      <p:sp>
        <p:nvSpPr>
          <p:cNvPr id="323" name="Google Shape;323;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324" name="Google Shape;324;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325" name="Google Shape;325;p46"/>
          <p:cNvPicPr preferRelativeResize="0"/>
          <p:nvPr/>
        </p:nvPicPr>
        <p:blipFill>
          <a:blip r:embed="rId3">
            <a:alphaModFix/>
          </a:blip>
          <a:stretch>
            <a:fillRect/>
          </a:stretch>
        </p:blipFill>
        <p:spPr>
          <a:xfrm>
            <a:off x="1643050" y="1074725"/>
            <a:ext cx="4791075" cy="3571875"/>
          </a:xfrm>
          <a:prstGeom prst="rect">
            <a:avLst/>
          </a:prstGeom>
          <a:noFill/>
          <a:ln>
            <a:noFill/>
          </a:ln>
        </p:spPr>
      </p:pic>
      <p:sp>
        <p:nvSpPr>
          <p:cNvPr id="326" name="Google Shape;326;p46"/>
          <p:cNvSpPr txBox="1"/>
          <p:nvPr/>
        </p:nvSpPr>
        <p:spPr>
          <a:xfrm>
            <a:off x="1464450" y="4586875"/>
            <a:ext cx="6215100" cy="54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S. Benkovic’s distance update algorithm	</a:t>
            </a:r>
            <a:r>
              <a:rPr lang="zh-TW" sz="2400">
                <a:solidFill>
                  <a:srgbClr val="FF0000"/>
                </a:solidFill>
                <a:latin typeface="Times New Roman"/>
                <a:ea typeface="Times New Roman"/>
                <a:cs typeface="Times New Roman"/>
                <a:sym typeface="Times New Roman"/>
              </a:rPr>
              <a:t>x</a:t>
            </a:r>
            <a:endParaRPr sz="2400">
              <a:solidFill>
                <a:schemeClr val="dk1"/>
              </a:solidFill>
              <a:latin typeface="Times New Roman"/>
              <a:ea typeface="Times New Roman"/>
              <a:cs typeface="Times New Roman"/>
              <a:sym typeface="Times New Roman"/>
            </a:endParaRPr>
          </a:p>
        </p:txBody>
      </p:sp>
      <p:sp>
        <p:nvSpPr>
          <p:cNvPr id="327" name="Google Shape;327;p46"/>
          <p:cNvSpPr/>
          <p:nvPr/>
        </p:nvSpPr>
        <p:spPr>
          <a:xfrm>
            <a:off x="3744700" y="2868650"/>
            <a:ext cx="131100" cy="131100"/>
          </a:xfrm>
          <a:prstGeom prst="ellipse">
            <a:avLst/>
          </a:prstGeom>
          <a:solidFill>
            <a:srgbClr val="FF0000"/>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328" name="Google Shape;328;p46"/>
          <p:cNvGraphicFramePr/>
          <p:nvPr/>
        </p:nvGraphicFramePr>
        <p:xfrm>
          <a:off x="7010300" y="2385575"/>
          <a:ext cx="3000000" cy="3000000"/>
        </p:xfrm>
        <a:graphic>
          <a:graphicData uri="http://schemas.openxmlformats.org/drawingml/2006/table">
            <a:tbl>
              <a:tblPr>
                <a:noFill/>
                <a:tableStyleId>{490BF888-4511-4DDF-AF2D-07352BB1DD10}</a:tableStyleId>
              </a:tblPr>
              <a:tblGrid>
                <a:gridCol w="1170250"/>
              </a:tblGrid>
              <a:tr h="54862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(4, 0)</a:t>
                      </a:r>
                      <a:endParaRPr sz="2400">
                        <a:solidFill>
                          <a:schemeClr val="dk1"/>
                        </a:solidFill>
                        <a:latin typeface="Times New Roman"/>
                        <a:ea typeface="Times New Roman"/>
                        <a:cs typeface="Times New Roman"/>
                        <a:sym typeface="Times New Roman"/>
                      </a:endParaRPr>
                    </a:p>
                  </a:txBody>
                  <a:tcPr marT="91425" marB="91425" marR="91425" marL="91425"/>
                </a:tc>
              </a:tr>
              <a:tr h="54862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(4, 2)</a:t>
                      </a:r>
                      <a:endParaRPr sz="24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
        <p:nvSpPr>
          <p:cNvPr id="329" name="Google Shape;329;p46"/>
          <p:cNvSpPr txBox="1"/>
          <p:nvPr/>
        </p:nvSpPr>
        <p:spPr>
          <a:xfrm>
            <a:off x="6928825" y="1875575"/>
            <a:ext cx="1333200" cy="51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stack</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latin typeface="Times New Roman"/>
                <a:ea typeface="Times New Roman"/>
                <a:cs typeface="Times New Roman"/>
                <a:sym typeface="Times New Roman"/>
              </a:rPr>
              <a:t>Appendix (cont.)</a:t>
            </a:r>
            <a:endParaRPr>
              <a:latin typeface="Times New Roman"/>
              <a:ea typeface="Times New Roman"/>
              <a:cs typeface="Times New Roman"/>
              <a:sym typeface="Times New Roman"/>
            </a:endParaRPr>
          </a:p>
        </p:txBody>
      </p:sp>
      <p:sp>
        <p:nvSpPr>
          <p:cNvPr id="335" name="Google Shape;335;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a:t> </a:t>
            </a:r>
            <a:endParaRPr/>
          </a:p>
        </p:txBody>
      </p:sp>
      <p:sp>
        <p:nvSpPr>
          <p:cNvPr id="336" name="Google Shape;336;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337" name="Google Shape;337;p47"/>
          <p:cNvPicPr preferRelativeResize="0"/>
          <p:nvPr/>
        </p:nvPicPr>
        <p:blipFill>
          <a:blip r:embed="rId3">
            <a:alphaModFix/>
          </a:blip>
          <a:stretch>
            <a:fillRect/>
          </a:stretch>
        </p:blipFill>
        <p:spPr>
          <a:xfrm>
            <a:off x="1609725" y="1065200"/>
            <a:ext cx="4705350" cy="3590925"/>
          </a:xfrm>
          <a:prstGeom prst="rect">
            <a:avLst/>
          </a:prstGeom>
          <a:noFill/>
          <a:ln>
            <a:noFill/>
          </a:ln>
        </p:spPr>
      </p:pic>
      <p:sp>
        <p:nvSpPr>
          <p:cNvPr id="338" name="Google Shape;338;p47"/>
          <p:cNvSpPr txBox="1"/>
          <p:nvPr/>
        </p:nvSpPr>
        <p:spPr>
          <a:xfrm>
            <a:off x="6913850" y="1508425"/>
            <a:ext cx="1333200" cy="51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stack</a:t>
            </a:r>
            <a:endParaRPr sz="2400">
              <a:solidFill>
                <a:schemeClr val="dk1"/>
              </a:solidFill>
              <a:latin typeface="Times New Roman"/>
              <a:ea typeface="Times New Roman"/>
              <a:cs typeface="Times New Roman"/>
              <a:sym typeface="Times New Roman"/>
            </a:endParaRPr>
          </a:p>
        </p:txBody>
      </p:sp>
      <p:graphicFrame>
        <p:nvGraphicFramePr>
          <p:cNvPr id="339" name="Google Shape;339;p47"/>
          <p:cNvGraphicFramePr/>
          <p:nvPr/>
        </p:nvGraphicFramePr>
        <p:xfrm>
          <a:off x="6995325" y="2018425"/>
          <a:ext cx="3000000" cy="3000000"/>
        </p:xfrm>
        <a:graphic>
          <a:graphicData uri="http://schemas.openxmlformats.org/drawingml/2006/table">
            <a:tbl>
              <a:tblPr>
                <a:noFill/>
                <a:tableStyleId>{490BF888-4511-4DDF-AF2D-07352BB1DD10}</a:tableStyleId>
              </a:tblPr>
              <a:tblGrid>
                <a:gridCol w="1170250"/>
              </a:tblGrid>
              <a:tr h="54862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(5, 1)</a:t>
                      </a:r>
                      <a:endParaRPr sz="2400">
                        <a:solidFill>
                          <a:schemeClr val="dk1"/>
                        </a:solidFill>
                        <a:latin typeface="Times New Roman"/>
                        <a:ea typeface="Times New Roman"/>
                        <a:cs typeface="Times New Roman"/>
                        <a:sym typeface="Times New Roman"/>
                      </a:endParaRPr>
                    </a:p>
                  </a:txBody>
                  <a:tcPr marT="91425" marB="91425" marR="91425" marL="91425"/>
                </a:tc>
              </a:tr>
              <a:tr h="54862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(3, 1)</a:t>
                      </a:r>
                      <a:endParaRPr sz="2400">
                        <a:solidFill>
                          <a:schemeClr val="dk1"/>
                        </a:solidFill>
                        <a:latin typeface="Times New Roman"/>
                        <a:ea typeface="Times New Roman"/>
                        <a:cs typeface="Times New Roman"/>
                        <a:sym typeface="Times New Roman"/>
                      </a:endParaRPr>
                    </a:p>
                  </a:txBody>
                  <a:tcPr marT="91425" marB="91425" marR="91425" marL="91425"/>
                </a:tc>
              </a:tr>
              <a:tr h="548625">
                <a:tc>
                  <a:txBody>
                    <a:bodyPr/>
                    <a:lstStyle/>
                    <a:p>
                      <a:pPr indent="0" lvl="0" marL="0" rtl="0" algn="ctr">
                        <a:spcBef>
                          <a:spcPts val="0"/>
                        </a:spcBef>
                        <a:spcAft>
                          <a:spcPts val="0"/>
                        </a:spcAft>
                        <a:buClr>
                          <a:schemeClr val="dk1"/>
                        </a:buClr>
                        <a:buSzPts val="1100"/>
                        <a:buFont typeface="Arial"/>
                        <a:buNone/>
                      </a:pPr>
                      <a:r>
                        <a:rPr lang="zh-TW" sz="2400">
                          <a:solidFill>
                            <a:schemeClr val="dk1"/>
                          </a:solidFill>
                          <a:latin typeface="Times New Roman"/>
                          <a:ea typeface="Times New Roman"/>
                          <a:cs typeface="Times New Roman"/>
                          <a:sym typeface="Times New Roman"/>
                        </a:rPr>
                        <a:t>(4, 0)</a:t>
                      </a:r>
                      <a:endParaRPr sz="2400">
                        <a:solidFill>
                          <a:schemeClr val="dk1"/>
                        </a:solidFill>
                        <a:latin typeface="Times New Roman"/>
                        <a:ea typeface="Times New Roman"/>
                        <a:cs typeface="Times New Roman"/>
                        <a:sym typeface="Times New Roman"/>
                      </a:endParaRPr>
                    </a:p>
                  </a:txBody>
                  <a:tcPr marT="91425" marB="91425" marR="91425" marL="91425"/>
                </a:tc>
              </a:tr>
              <a:tr h="548625">
                <a:tc>
                  <a:txBody>
                    <a:bodyPr/>
                    <a:lstStyle/>
                    <a:p>
                      <a:pPr indent="0" lvl="0" marL="0" rtl="0" algn="ctr">
                        <a:spcBef>
                          <a:spcPts val="0"/>
                        </a:spcBef>
                        <a:spcAft>
                          <a:spcPts val="0"/>
                        </a:spcAft>
                        <a:buNone/>
                      </a:pPr>
                      <a:r>
                        <a:rPr lang="zh-TW" sz="2400">
                          <a:solidFill>
                            <a:schemeClr val="dk1"/>
                          </a:solidFill>
                          <a:latin typeface="Times New Roman"/>
                          <a:ea typeface="Times New Roman"/>
                          <a:cs typeface="Times New Roman"/>
                          <a:sym typeface="Times New Roman"/>
                        </a:rPr>
                        <a:t>(4, 2)</a:t>
                      </a:r>
                      <a:endParaRPr sz="2400">
                        <a:solidFill>
                          <a:schemeClr val="dk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 </a:t>
            </a:r>
            <a:endParaRPr/>
          </a:p>
        </p:txBody>
      </p:sp>
      <p:sp>
        <p:nvSpPr>
          <p:cNvPr id="345" name="Google Shape;345;p48"/>
          <p:cNvSpPr txBox="1"/>
          <p:nvPr>
            <p:ph idx="1" type="body"/>
          </p:nvPr>
        </p:nvSpPr>
        <p:spPr>
          <a:xfrm>
            <a:off x="311700" y="1353325"/>
            <a:ext cx="8520600" cy="10863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zh-TW" sz="4800">
                <a:solidFill>
                  <a:schemeClr val="dk1"/>
                </a:solidFill>
                <a:latin typeface="Times New Roman"/>
                <a:ea typeface="Times New Roman"/>
                <a:cs typeface="Times New Roman"/>
                <a:sym typeface="Times New Roman"/>
              </a:rPr>
              <a:t>Thanks for your patience</a:t>
            </a:r>
            <a:endParaRPr sz="4800">
              <a:solidFill>
                <a:schemeClr val="dk1"/>
              </a:solidFill>
              <a:latin typeface="Times New Roman"/>
              <a:ea typeface="Times New Roman"/>
              <a:cs typeface="Times New Roman"/>
              <a:sym typeface="Times New Roman"/>
            </a:endParaRPr>
          </a:p>
        </p:txBody>
      </p:sp>
      <p:sp>
        <p:nvSpPr>
          <p:cNvPr id="346" name="Google Shape;346;p48"/>
          <p:cNvSpPr/>
          <p:nvPr/>
        </p:nvSpPr>
        <p:spPr>
          <a:xfrm>
            <a:off x="3987600" y="2357825"/>
            <a:ext cx="1168800" cy="11403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