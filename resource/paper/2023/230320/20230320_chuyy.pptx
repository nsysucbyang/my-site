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257" r:id="rId3"/>
    <p:sldId id="286" r:id="rId4"/>
    <p:sldId id="259" r:id="rId5"/>
    <p:sldId id="260" r:id="rId6"/>
    <p:sldId id="287" r:id="rId7"/>
    <p:sldId id="261" r:id="rId8"/>
    <p:sldId id="288"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72"/>
    <p:restoredTop sz="95788"/>
  </p:normalViewPr>
  <p:slideViewPr>
    <p:cSldViewPr snapToGrid="0" snapToObjects="1">
      <p:cViewPr varScale="1">
        <p:scale>
          <a:sx n="124" d="100"/>
          <a:sy n="124" d="100"/>
        </p:scale>
        <p:origin x="19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2023/3/19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2023/3/19</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2023/3/19</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2023/3/19</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2023/3/19</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2023/3/19</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2023/3/19</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2023/3/19</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2023/3/19</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2023/3/19</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2023/3/19</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2023/3/19</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2023/3/19</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lstStyle/>
          <a:p>
            <a:r>
              <a:rPr kumimoji="1" lang="en-US" altLang="zh-TW" dirty="0">
                <a:latin typeface="Times New Roman" panose="02020603050405020304" pitchFamily="18" charset="0"/>
                <a:cs typeface="Times New Roman" panose="02020603050405020304" pitchFamily="18" charset="0"/>
              </a:rPr>
              <a:t>Competitive Bridge Bidding with Deep Neural Networks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Jiang </a:t>
            </a:r>
            <a:r>
              <a:rPr kumimoji="1" lang="en-US" altLang="zh-TW" dirty="0" err="1">
                <a:latin typeface="Times New Roman" panose="02020603050405020304" pitchFamily="18" charset="0"/>
                <a:cs typeface="Times New Roman" panose="02020603050405020304" pitchFamily="18" charset="0"/>
              </a:rPr>
              <a:t>Rong</a:t>
            </a:r>
            <a:r>
              <a:rPr kumimoji="1" lang="en-US" altLang="zh-TW" dirty="0">
                <a:latin typeface="Times New Roman" panose="02020603050405020304" pitchFamily="18" charset="0"/>
                <a:cs typeface="Times New Roman" panose="02020603050405020304" pitchFamily="18" charset="0"/>
              </a:rPr>
              <a:t>, Tao Qin, Bo An, </a:t>
            </a:r>
            <a:r>
              <a:rPr kumimoji="1" lang="en-US" altLang="zh-TW" dirty="0" err="1">
                <a:latin typeface="Times New Roman" panose="02020603050405020304" pitchFamily="18" charset="0"/>
                <a:cs typeface="Times New Roman" panose="02020603050405020304" pitchFamily="18" charset="0"/>
              </a:rPr>
              <a:t>arXiv</a:t>
            </a:r>
            <a:r>
              <a:rPr kumimoji="1" lang="en-US" altLang="zh-TW" dirty="0">
                <a:latin typeface="Times New Roman" panose="02020603050405020304" pitchFamily="18" charset="0"/>
                <a:cs typeface="Times New Roman" panose="02020603050405020304" pitchFamily="18" charset="0"/>
              </a:rPr>
              <a:t>, 2019</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Mar. 20, 2023</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The game of bridge consists of two stages: bidding and playing. While playing is proved to be relatively easy for computer programs, bidding is very challenging. During the bidding stage, each player knowing only his/her own cards needs to exchange information with his/her partner and interfere with opponents at the same time. Existing methods for solving perfect-information games cannot be directly applied to bidding. Most bridge programs are based on human-designed rules, which, however, cannot cover all situations and are usually ambiguous and even conflicting with each other.</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In this paper, we, for the first time, propose a competitive bidding system based on deep learning techniques, which exhibits two novelties. First, we design a compact representation to encode the private and public information available to a player for bidding. Second, based on the analysis of the impact of other players’ unknown cards on one’s final rewards, we design two neural networks to deal with imperfect information, the first one inferring the cards of the partner and the second one taking the outputs of the first one as part of its input to select a bid. Experimental results show that our bidding system outperforms the top rule-based program.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812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Train a bridge bidding model (with competition).</a:t>
            </a:r>
          </a:p>
          <a:p>
            <a:r>
              <a:rPr kumimoji="1" lang="en-US" altLang="zh-TW" dirty="0">
                <a:latin typeface="Times New Roman" panose="02020603050405020304" pitchFamily="18" charset="0"/>
                <a:cs typeface="Times New Roman" panose="02020603050405020304" pitchFamily="18" charset="0"/>
              </a:rPr>
              <a:t>Supervised Learning</a:t>
            </a:r>
          </a:p>
          <a:p>
            <a:pPr lvl="1"/>
            <a:r>
              <a:rPr kumimoji="1" lang="en-US" altLang="zh-TW" dirty="0">
                <a:latin typeface="Times New Roman" panose="02020603050405020304" pitchFamily="18" charset="0"/>
                <a:cs typeface="Times New Roman" panose="02020603050405020304" pitchFamily="18" charset="0"/>
              </a:rPr>
              <a:t>ENN(estimation neural network): estimating partner’s hand.</a:t>
            </a:r>
            <a:r>
              <a:rPr kumimoji="1" lang="zh-Hant" altLang="en-US" dirty="0">
                <a:latin typeface="Times New Roman" panose="02020603050405020304" pitchFamily="18" charset="0"/>
                <a:cs typeface="Times New Roman" panose="02020603050405020304" pitchFamily="18" charset="0"/>
              </a:rPr>
              <a:t> </a:t>
            </a:r>
            <a:endParaRPr kumimoji="1" lang="en-US" altLang="zh-Hant" dirty="0">
              <a:latin typeface="Times New Roman" panose="02020603050405020304" pitchFamily="18" charset="0"/>
              <a:cs typeface="Times New Roman" panose="02020603050405020304" pitchFamily="18" charset="0"/>
            </a:endParaRPr>
          </a:p>
          <a:p>
            <a:pPr marL="457200" lvl="1" indent="0">
              <a:buNone/>
            </a:pPr>
            <a:r>
              <a:rPr kumimoji="1" lang="zh-Hant"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Output: all cards’ probability distribution.</a:t>
            </a:r>
          </a:p>
          <a:p>
            <a:pPr lvl="1"/>
            <a:r>
              <a:rPr kumimoji="1" lang="en-US" altLang="zh-TW" dirty="0">
                <a:latin typeface="Times New Roman" panose="02020603050405020304" pitchFamily="18" charset="0"/>
                <a:cs typeface="Times New Roman" panose="02020603050405020304" pitchFamily="18" charset="0"/>
              </a:rPr>
              <a:t>PNN(policy neural network): choosing an auction to bid.</a:t>
            </a:r>
          </a:p>
          <a:p>
            <a:pPr lvl="1"/>
            <a:r>
              <a:rPr kumimoji="1" lang="en-US" altLang="zh-TW" dirty="0">
                <a:latin typeface="Times New Roman" panose="02020603050405020304" pitchFamily="18" charset="0"/>
                <a:cs typeface="Times New Roman" panose="02020603050405020304" pitchFamily="18" charset="0"/>
              </a:rPr>
              <a:t>Both take own hand and historical bidding sequence as input.</a:t>
            </a:r>
          </a:p>
          <a:p>
            <a:pPr lvl="1"/>
            <a:r>
              <a:rPr kumimoji="1" lang="en-US" altLang="zh-TW" dirty="0">
                <a:latin typeface="Times New Roman" panose="02020603050405020304" pitchFamily="18" charset="0"/>
                <a:cs typeface="Times New Roman" panose="02020603050405020304" pitchFamily="18" charset="0"/>
              </a:rPr>
              <a:t>PNN takes ENN’s output as input.</a:t>
            </a:r>
          </a:p>
          <a:p>
            <a:r>
              <a:rPr kumimoji="1" lang="en-US" altLang="zh-TW" dirty="0">
                <a:latin typeface="Times New Roman" panose="02020603050405020304" pitchFamily="18" charset="0"/>
                <a:cs typeface="Times New Roman" panose="02020603050405020304" pitchFamily="18" charset="0"/>
              </a:rPr>
              <a:t>Reinforcement Learning</a:t>
            </a:r>
          </a:p>
          <a:p>
            <a:pPr lvl="1"/>
            <a:r>
              <a:rPr kumimoji="1" lang="en-US" altLang="zh-TW" dirty="0">
                <a:latin typeface="Times New Roman" panose="02020603050405020304" pitchFamily="18" charset="0"/>
                <a:cs typeface="Times New Roman" panose="02020603050405020304" pitchFamily="18" charset="0"/>
              </a:rPr>
              <a:t>Using the score of Double Dummy Analysis as reward.</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64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825624"/>
            <a:ext cx="10822969" cy="4544353"/>
          </a:xfrm>
        </p:spPr>
        <p:txBody>
          <a:bodyPr>
            <a:normAutofit lnSpcReduction="10000"/>
          </a:bodyPr>
          <a:lstStyle/>
          <a:p>
            <a:r>
              <a:rPr kumimoji="1" lang="en-US" altLang="zh-TW" dirty="0">
                <a:latin typeface="Times New Roman" panose="02020603050405020304" pitchFamily="18" charset="0"/>
                <a:cs typeface="Times New Roman" panose="02020603050405020304" pitchFamily="18" charset="0"/>
              </a:rPr>
              <a:t>dataset</a:t>
            </a:r>
          </a:p>
          <a:p>
            <a:pPr lvl="1"/>
            <a:r>
              <a:rPr kumimoji="1" lang="en-US" altLang="zh-TW" dirty="0">
                <a:latin typeface="Times New Roman" panose="02020603050405020304" pitchFamily="18" charset="0"/>
                <a:cs typeface="Times New Roman" panose="02020603050405020304" pitchFamily="18" charset="0"/>
              </a:rPr>
              <a:t>1,000,000 data with bidding sequence and double dummy result played by expert, noted as expert data.</a:t>
            </a:r>
          </a:p>
          <a:p>
            <a:pPr lvl="1"/>
            <a:r>
              <a:rPr kumimoji="1" lang="en-US" altLang="zh-TW" dirty="0">
                <a:latin typeface="Times New Roman" panose="02020603050405020304" pitchFamily="18" charset="0"/>
                <a:cs typeface="Times New Roman" panose="02020603050405020304" pitchFamily="18" charset="0"/>
              </a:rPr>
              <a:t>12,000,000 instances (generated from expert data) to train ENN &amp; PNN.</a:t>
            </a:r>
          </a:p>
          <a:p>
            <a:pPr lvl="1"/>
            <a:r>
              <a:rPr kumimoji="1" lang="en-US" altLang="zh-TW" dirty="0">
                <a:latin typeface="Times New Roman" panose="02020603050405020304" pitchFamily="18" charset="0"/>
                <a:cs typeface="Times New Roman" panose="02020603050405020304" pitchFamily="18" charset="0"/>
              </a:rPr>
              <a:t>70% training, 10% validation, 20% testing.</a:t>
            </a:r>
          </a:p>
          <a:p>
            <a:r>
              <a:rPr kumimoji="1" lang="en-US" altLang="zh-TW" dirty="0">
                <a:latin typeface="Times New Roman" panose="02020603050405020304" pitchFamily="18" charset="0"/>
                <a:cs typeface="Times New Roman" panose="02020603050405020304" pitchFamily="18" charset="0"/>
              </a:rPr>
              <a:t>ENN</a:t>
            </a:r>
          </a:p>
          <a:p>
            <a:pPr lvl="1"/>
            <a:r>
              <a:rPr kumimoji="1" lang="en-US" altLang="zh-TW" dirty="0">
                <a:latin typeface="Times New Roman" panose="02020603050405020304" pitchFamily="18" charset="0"/>
                <a:cs typeface="Times New Roman" panose="02020603050405020304" pitchFamily="18" charset="0"/>
              </a:rPr>
              <a:t>8 layers, each hidden layer has 1500 neurons.</a:t>
            </a:r>
          </a:p>
          <a:p>
            <a:pPr lvl="1"/>
            <a:r>
              <a:rPr kumimoji="1" lang="en-US" altLang="zh-TW" dirty="0">
                <a:latin typeface="Times New Roman" panose="02020603050405020304" pitchFamily="18" charset="0"/>
                <a:cs typeface="Times New Roman" panose="02020603050405020304" pitchFamily="18" charset="0"/>
              </a:rPr>
              <a:t>accuracy: 13 cards with highest probability compared with real partner’s hand.</a:t>
            </a:r>
          </a:p>
          <a:p>
            <a:r>
              <a:rPr kumimoji="1" lang="en-US" altLang="zh-TW" dirty="0">
                <a:latin typeface="Times New Roman" panose="02020603050405020304" pitchFamily="18" charset="0"/>
                <a:cs typeface="Times New Roman" panose="02020603050405020304" pitchFamily="18" charset="0"/>
              </a:rPr>
              <a:t>PNN</a:t>
            </a:r>
          </a:p>
          <a:p>
            <a:pPr lvl="1"/>
            <a:r>
              <a:rPr kumimoji="1" lang="en-US" altLang="zh-TW" dirty="0">
                <a:latin typeface="Times New Roman" panose="02020603050405020304" pitchFamily="18" charset="0"/>
                <a:cs typeface="Times New Roman" panose="02020603050405020304" pitchFamily="18" charset="0"/>
              </a:rPr>
              <a:t>10 layers, each hidden layer has 1200 neurons.</a:t>
            </a:r>
          </a:p>
          <a:p>
            <a:pPr lvl="1"/>
            <a:r>
              <a:rPr kumimoji="1" lang="en-US" altLang="zh-TW" dirty="0">
                <a:latin typeface="Times New Roman" panose="02020603050405020304" pitchFamily="18" charset="0"/>
                <a:cs typeface="Times New Roman" panose="02020603050405020304" pitchFamily="18" charset="0"/>
              </a:rPr>
              <a:t>accuracy: all auctions compared with real bidding sequence.</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748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81A9F8B6-4683-A74A-B145-0B129C793B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27150"/>
            <a:ext cx="11582400" cy="4203700"/>
          </a:xfrm>
          <a:prstGeom prst="rect">
            <a:avLst/>
          </a:prstGeom>
        </p:spPr>
      </p:pic>
    </p:spTree>
    <p:extLst>
      <p:ext uri="{BB962C8B-B14F-4D97-AF65-F5344CB8AC3E}">
        <p14:creationId xmlns:p14="http://schemas.microsoft.com/office/powerpoint/2010/main" val="3626027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FB61AD56-FD3A-E44C-9730-9393702F1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91" y="1571803"/>
            <a:ext cx="6121400" cy="3632200"/>
          </a:xfrm>
          <a:prstGeom prst="rect">
            <a:avLst/>
          </a:prstGeom>
        </p:spPr>
      </p:pic>
      <p:pic>
        <p:nvPicPr>
          <p:cNvPr id="8" name="圖片 7">
            <a:extLst>
              <a:ext uri="{FF2B5EF4-FFF2-40B4-BE49-F238E27FC236}">
                <a16:creationId xmlns:a16="http://schemas.microsoft.com/office/drawing/2014/main" id="{8031E428-7113-3048-A297-B625C754D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258" y="1671600"/>
            <a:ext cx="5028365" cy="3432606"/>
          </a:xfrm>
          <a:prstGeom prst="rect">
            <a:avLst/>
          </a:prstGeom>
        </p:spPr>
      </p:pic>
    </p:spTree>
    <p:extLst>
      <p:ext uri="{BB962C8B-B14F-4D97-AF65-F5344CB8AC3E}">
        <p14:creationId xmlns:p14="http://schemas.microsoft.com/office/powerpoint/2010/main" val="164270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75F9BEC0-7924-0D49-95C4-744D700AB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77" y="2095929"/>
            <a:ext cx="10969022" cy="2532508"/>
          </a:xfrm>
          <a:prstGeom prst="rect">
            <a:avLst/>
          </a:prstGeom>
        </p:spPr>
      </p:pic>
    </p:spTree>
    <p:extLst>
      <p:ext uri="{BB962C8B-B14F-4D97-AF65-F5344CB8AC3E}">
        <p14:creationId xmlns:p14="http://schemas.microsoft.com/office/powerpoint/2010/main" val="245006336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1306</TotalTime>
  <Words>432</Words>
  <Application>Microsoft Macintosh PowerPoint</Application>
  <PresentationFormat>寬螢幕</PresentationFormat>
  <Paragraphs>37</Paragraphs>
  <Slides>8</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新細明體</vt:lpstr>
      <vt:lpstr>Arial</vt:lpstr>
      <vt:lpstr>Calibri</vt:lpstr>
      <vt:lpstr>Calibri Light</vt:lpstr>
      <vt:lpstr>Times New Roman</vt:lpstr>
      <vt:lpstr>Office 佈景主題</vt:lpstr>
      <vt:lpstr>Competitive Bridge Bidding with Deep Neural Networks</vt:lpstr>
      <vt:lpstr>Abstract</vt:lpstr>
      <vt:lpstr>Abstract (Cont.)</vt:lpstr>
      <vt:lpstr>Problem Setup</vt:lpstr>
      <vt:lpstr>Experiment</vt:lpstr>
      <vt:lpstr>PowerPoint 簡報</vt:lpstr>
      <vt:lpstr>PowerPoint 簡報</vt:lpstr>
      <vt:lpstr>PowerPoint 簡報</vt:lpstr>
    </vt:vector>
  </TitlesOfParts>
  <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26</cp:revision>
  <dcterms:created xsi:type="dcterms:W3CDTF">2023-01-02T07:42:35Z</dcterms:created>
  <dcterms:modified xsi:type="dcterms:W3CDTF">2023-03-20T10:19:40Z</dcterms:modified>
</cp:coreProperties>
</file>