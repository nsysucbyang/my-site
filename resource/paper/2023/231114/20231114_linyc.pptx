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6" r:id="rId2"/>
    <p:sldId id="257" r:id="rId3"/>
    <p:sldId id="300" r:id="rId4"/>
    <p:sldId id="336" r:id="rId5"/>
    <p:sldId id="337" r:id="rId6"/>
    <p:sldId id="338" r:id="rId7"/>
    <p:sldId id="322" r:id="rId8"/>
    <p:sldId id="339" r:id="rId9"/>
    <p:sldId id="341" r:id="rId10"/>
    <p:sldId id="342" r:id="rId11"/>
    <p:sldId id="343" r:id="rId12"/>
    <p:sldId id="344" r:id="rId13"/>
    <p:sldId id="303" r:id="rId14"/>
    <p:sldId id="340"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7" autoAdjust="0"/>
    <p:restoredTop sz="82645" autoAdjust="0"/>
  </p:normalViewPr>
  <p:slideViewPr>
    <p:cSldViewPr snapToGrid="0">
      <p:cViewPr varScale="1">
        <p:scale>
          <a:sx n="70" d="100"/>
          <a:sy n="70" d="100"/>
        </p:scale>
        <p:origin x="103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B2B1B951-C510-4522-AF93-ADB85ED09AE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629B89B7-9CDA-4AA8-9698-7B71FD1985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70CF6B-A307-4891-9A3F-3BDEA15122F4}" type="datetimeFigureOut">
              <a:rPr lang="zh-TW" altLang="en-US" smtClean="0"/>
              <a:t>2023/11/14</a:t>
            </a:fld>
            <a:endParaRPr lang="zh-TW" altLang="en-US"/>
          </a:p>
        </p:txBody>
      </p:sp>
      <p:sp>
        <p:nvSpPr>
          <p:cNvPr id="4" name="頁尾版面配置區 3">
            <a:extLst>
              <a:ext uri="{FF2B5EF4-FFF2-40B4-BE49-F238E27FC236}">
                <a16:creationId xmlns:a16="http://schemas.microsoft.com/office/drawing/2014/main" id="{94AA06BA-A144-429D-9036-05EAC36F36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5D362C06-5F0E-4E9C-8F96-54694C2D61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0C0899-C804-4EB6-B155-7732788E8AAF}" type="slidenum">
              <a:rPr lang="zh-TW" altLang="en-US" smtClean="0"/>
              <a:t>‹#›</a:t>
            </a:fld>
            <a:endParaRPr lang="zh-TW" altLang="en-US"/>
          </a:p>
        </p:txBody>
      </p:sp>
    </p:spTree>
    <p:extLst>
      <p:ext uri="{BB962C8B-B14F-4D97-AF65-F5344CB8AC3E}">
        <p14:creationId xmlns:p14="http://schemas.microsoft.com/office/powerpoint/2010/main" val="23706857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0286B5-03C6-41D4-B2DC-EA76AD58808D}" type="datetimeFigureOut">
              <a:rPr lang="zh-TW" altLang="en-US" smtClean="0"/>
              <a:t>2023/11/14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BB21A4-C6D0-470A-943D-BE54FF210D33}" type="slidenum">
              <a:rPr lang="zh-TW" altLang="en-US" smtClean="0"/>
              <a:t>‹#›</a:t>
            </a:fld>
            <a:endParaRPr lang="zh-TW" altLang="en-US"/>
          </a:p>
        </p:txBody>
      </p:sp>
    </p:spTree>
    <p:extLst>
      <p:ext uri="{BB962C8B-B14F-4D97-AF65-F5344CB8AC3E}">
        <p14:creationId xmlns:p14="http://schemas.microsoft.com/office/powerpoint/2010/main" val="29195028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a:t>
            </a:fld>
            <a:endParaRPr lang="zh-TW" altLang="en-US"/>
          </a:p>
        </p:txBody>
      </p:sp>
    </p:spTree>
    <p:extLst>
      <p:ext uri="{BB962C8B-B14F-4D97-AF65-F5344CB8AC3E}">
        <p14:creationId xmlns:p14="http://schemas.microsoft.com/office/powerpoint/2010/main" val="2128137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2</a:t>
            </a:fld>
            <a:endParaRPr lang="zh-TW" altLang="en-US"/>
          </a:p>
        </p:txBody>
      </p:sp>
    </p:spTree>
    <p:extLst>
      <p:ext uri="{BB962C8B-B14F-4D97-AF65-F5344CB8AC3E}">
        <p14:creationId xmlns:p14="http://schemas.microsoft.com/office/powerpoint/2010/main" val="953237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8</a:t>
            </a:fld>
            <a:endParaRPr lang="zh-TW" altLang="en-US"/>
          </a:p>
        </p:txBody>
      </p:sp>
    </p:spTree>
    <p:extLst>
      <p:ext uri="{BB962C8B-B14F-4D97-AF65-F5344CB8AC3E}">
        <p14:creationId xmlns:p14="http://schemas.microsoft.com/office/powerpoint/2010/main" val="2942944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9</a:t>
            </a:fld>
            <a:endParaRPr lang="zh-TW" altLang="en-US"/>
          </a:p>
        </p:txBody>
      </p:sp>
    </p:spTree>
    <p:extLst>
      <p:ext uri="{BB962C8B-B14F-4D97-AF65-F5344CB8AC3E}">
        <p14:creationId xmlns:p14="http://schemas.microsoft.com/office/powerpoint/2010/main" val="2532718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10</a:t>
            </a:fld>
            <a:endParaRPr lang="zh-TW" altLang="en-US"/>
          </a:p>
        </p:txBody>
      </p:sp>
    </p:spTree>
    <p:extLst>
      <p:ext uri="{BB962C8B-B14F-4D97-AF65-F5344CB8AC3E}">
        <p14:creationId xmlns:p14="http://schemas.microsoft.com/office/powerpoint/2010/main" val="20302278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13</a:t>
            </a:fld>
            <a:endParaRPr lang="zh-TW" altLang="en-US"/>
          </a:p>
        </p:txBody>
      </p:sp>
    </p:spTree>
    <p:extLst>
      <p:ext uri="{BB962C8B-B14F-4D97-AF65-F5344CB8AC3E}">
        <p14:creationId xmlns:p14="http://schemas.microsoft.com/office/powerpoint/2010/main" val="14598004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14</a:t>
            </a:fld>
            <a:endParaRPr lang="zh-TW" altLang="en-US"/>
          </a:p>
        </p:txBody>
      </p:sp>
    </p:spTree>
    <p:extLst>
      <p:ext uri="{BB962C8B-B14F-4D97-AF65-F5344CB8AC3E}">
        <p14:creationId xmlns:p14="http://schemas.microsoft.com/office/powerpoint/2010/main" val="2945803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6AED7B-3AC0-43C0-BDB3-2C4AFA9F738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559334D-3BE1-454D-9C46-049A5FE3D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DF7A35ED-A91A-418B-8EEF-606731AB7C7E}"/>
              </a:ext>
            </a:extLst>
          </p:cNvPr>
          <p:cNvSpPr>
            <a:spLocks noGrp="1"/>
          </p:cNvSpPr>
          <p:nvPr>
            <p:ph type="dt" sz="half" idx="10"/>
          </p:nvPr>
        </p:nvSpPr>
        <p:spPr/>
        <p:txBody>
          <a:bodyPr/>
          <a:lstStyle/>
          <a:p>
            <a:fld id="{E34719EE-CC92-45A1-848A-E62A6F69E5FD}" type="datetime1">
              <a:rPr lang="zh-TW" altLang="en-US" smtClean="0"/>
              <a:t>2023/11/14</a:t>
            </a:fld>
            <a:endParaRPr lang="zh-TW" altLang="en-US"/>
          </a:p>
        </p:txBody>
      </p:sp>
      <p:sp>
        <p:nvSpPr>
          <p:cNvPr id="5" name="頁尾版面配置區 4">
            <a:extLst>
              <a:ext uri="{FF2B5EF4-FFF2-40B4-BE49-F238E27FC236}">
                <a16:creationId xmlns:a16="http://schemas.microsoft.com/office/drawing/2014/main" id="{8F23CF94-5147-4E2D-94FA-D156783F20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FF78306-98C1-4A20-8451-B89524CEFC32}"/>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788649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30CE7C-B11A-4592-99DC-9295D556CFC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3C089F3-337E-4191-A36B-B85915E374DF}"/>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41B5F5D-1566-460B-B7A8-7789F4ADD5CE}"/>
              </a:ext>
            </a:extLst>
          </p:cNvPr>
          <p:cNvSpPr>
            <a:spLocks noGrp="1"/>
          </p:cNvSpPr>
          <p:nvPr>
            <p:ph type="dt" sz="half" idx="10"/>
          </p:nvPr>
        </p:nvSpPr>
        <p:spPr/>
        <p:txBody>
          <a:bodyPr/>
          <a:lstStyle/>
          <a:p>
            <a:fld id="{2410B330-CB06-4033-8D67-C4343070258D}" type="datetime1">
              <a:rPr lang="zh-TW" altLang="en-US" smtClean="0"/>
              <a:t>2023/11/14</a:t>
            </a:fld>
            <a:endParaRPr lang="zh-TW" altLang="en-US"/>
          </a:p>
        </p:txBody>
      </p:sp>
      <p:sp>
        <p:nvSpPr>
          <p:cNvPr id="5" name="頁尾版面配置區 4">
            <a:extLst>
              <a:ext uri="{FF2B5EF4-FFF2-40B4-BE49-F238E27FC236}">
                <a16:creationId xmlns:a16="http://schemas.microsoft.com/office/drawing/2014/main" id="{8351E327-56EF-4EB4-9B53-5A579EBE19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8C7FCE-3342-4CB2-A64D-A352D2C2821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184112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E3A202-ECCD-4387-858D-619D6A0C10A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207F5F8-0D71-4C88-AF0D-4F91124A42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822F8C89-B173-48C4-AA79-F8D0D1713FE4}"/>
              </a:ext>
            </a:extLst>
          </p:cNvPr>
          <p:cNvSpPr>
            <a:spLocks noGrp="1"/>
          </p:cNvSpPr>
          <p:nvPr>
            <p:ph type="dt" sz="half" idx="10"/>
          </p:nvPr>
        </p:nvSpPr>
        <p:spPr/>
        <p:txBody>
          <a:bodyPr/>
          <a:lstStyle/>
          <a:p>
            <a:fld id="{57DE7F20-22FE-4AC5-BB9E-06EA31EBF516}" type="datetime1">
              <a:rPr lang="zh-TW" altLang="en-US" smtClean="0"/>
              <a:t>2023/11/14</a:t>
            </a:fld>
            <a:endParaRPr lang="zh-TW" altLang="en-US"/>
          </a:p>
        </p:txBody>
      </p:sp>
      <p:sp>
        <p:nvSpPr>
          <p:cNvPr id="5" name="頁尾版面配置區 4">
            <a:extLst>
              <a:ext uri="{FF2B5EF4-FFF2-40B4-BE49-F238E27FC236}">
                <a16:creationId xmlns:a16="http://schemas.microsoft.com/office/drawing/2014/main" id="{841A0F6C-077B-4EE8-B87C-AE9C8921202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5D9F22-282D-4976-8BB0-765254681B9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979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9DB818-75A8-4B63-9429-11BAB3087F9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AE8C4E-C2D1-40BD-80F2-198479EE78D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5A9DCA7-BAC7-4C10-B29E-195D854612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A48D530-75DC-40E5-8EF8-661ECE2D38CE}"/>
              </a:ext>
            </a:extLst>
          </p:cNvPr>
          <p:cNvSpPr>
            <a:spLocks noGrp="1"/>
          </p:cNvSpPr>
          <p:nvPr>
            <p:ph type="dt" sz="half" idx="10"/>
          </p:nvPr>
        </p:nvSpPr>
        <p:spPr/>
        <p:txBody>
          <a:bodyPr/>
          <a:lstStyle/>
          <a:p>
            <a:fld id="{E17CD23D-B9C5-4883-A841-45C28286401F}" type="datetime1">
              <a:rPr lang="zh-TW" altLang="en-US" smtClean="0"/>
              <a:t>2023/11/14</a:t>
            </a:fld>
            <a:endParaRPr lang="zh-TW" altLang="en-US"/>
          </a:p>
        </p:txBody>
      </p:sp>
      <p:sp>
        <p:nvSpPr>
          <p:cNvPr id="6" name="頁尾版面配置區 5">
            <a:extLst>
              <a:ext uri="{FF2B5EF4-FFF2-40B4-BE49-F238E27FC236}">
                <a16:creationId xmlns:a16="http://schemas.microsoft.com/office/drawing/2014/main" id="{CC4826B8-E693-43BF-95C5-22E21059581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8AF8187-80C0-4C29-ADB6-DA00CA1DC0C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35293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66C6E3-92E0-4351-B2DC-E52F39BD89B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18CC00D-5393-41C3-AF1B-041CAF3F1B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B74B4B1B-E61B-46D8-9A90-03280E45DE8E}"/>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F04706E-A3A2-4316-93FC-42B46B8BA6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73F1D73-774D-45EB-9450-3CB0C9304736}"/>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4CAC80A6-81BA-47AA-AA43-42EC35F8FAF9}"/>
              </a:ext>
            </a:extLst>
          </p:cNvPr>
          <p:cNvSpPr>
            <a:spLocks noGrp="1"/>
          </p:cNvSpPr>
          <p:nvPr>
            <p:ph type="dt" sz="half" idx="10"/>
          </p:nvPr>
        </p:nvSpPr>
        <p:spPr/>
        <p:txBody>
          <a:bodyPr/>
          <a:lstStyle/>
          <a:p>
            <a:fld id="{0808FB18-E334-40DF-8913-297E53BF38F7}" type="datetime1">
              <a:rPr lang="zh-TW" altLang="en-US" smtClean="0"/>
              <a:t>2023/11/14</a:t>
            </a:fld>
            <a:endParaRPr lang="zh-TW" altLang="en-US"/>
          </a:p>
        </p:txBody>
      </p:sp>
      <p:sp>
        <p:nvSpPr>
          <p:cNvPr id="8" name="頁尾版面配置區 7">
            <a:extLst>
              <a:ext uri="{FF2B5EF4-FFF2-40B4-BE49-F238E27FC236}">
                <a16:creationId xmlns:a16="http://schemas.microsoft.com/office/drawing/2014/main" id="{AE74EAC2-C744-4AE5-AE34-F47FC14CB449}"/>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4328309-436C-45EA-A6EE-D4EF01A3CE9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997366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68319E-7001-4D86-9C66-59FF95494D8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4526E76-6DDF-423C-840E-0C29F12161F7}"/>
              </a:ext>
            </a:extLst>
          </p:cNvPr>
          <p:cNvSpPr>
            <a:spLocks noGrp="1"/>
          </p:cNvSpPr>
          <p:nvPr>
            <p:ph type="dt" sz="half" idx="10"/>
          </p:nvPr>
        </p:nvSpPr>
        <p:spPr/>
        <p:txBody>
          <a:bodyPr/>
          <a:lstStyle/>
          <a:p>
            <a:fld id="{8468BF0B-4931-43DB-AFF9-ECAB917261FB}" type="datetime1">
              <a:rPr lang="zh-TW" altLang="en-US" smtClean="0"/>
              <a:t>2023/11/14</a:t>
            </a:fld>
            <a:endParaRPr lang="zh-TW" altLang="en-US"/>
          </a:p>
        </p:txBody>
      </p:sp>
      <p:sp>
        <p:nvSpPr>
          <p:cNvPr id="4" name="頁尾版面配置區 3">
            <a:extLst>
              <a:ext uri="{FF2B5EF4-FFF2-40B4-BE49-F238E27FC236}">
                <a16:creationId xmlns:a16="http://schemas.microsoft.com/office/drawing/2014/main" id="{DD9D2800-CEBA-4036-A26B-CE8FB2EA1AF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98B8CC3-87C3-4792-B025-86FEA6CB961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471133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8F7A8DF-7CAF-40EA-A813-9D70AD0E3DE5}"/>
              </a:ext>
            </a:extLst>
          </p:cNvPr>
          <p:cNvSpPr>
            <a:spLocks noGrp="1"/>
          </p:cNvSpPr>
          <p:nvPr>
            <p:ph type="dt" sz="half" idx="10"/>
          </p:nvPr>
        </p:nvSpPr>
        <p:spPr/>
        <p:txBody>
          <a:bodyPr/>
          <a:lstStyle/>
          <a:p>
            <a:fld id="{C30401FB-DC53-4A39-AB71-3E05DF9680A5}" type="datetime1">
              <a:rPr lang="zh-TW" altLang="en-US" smtClean="0"/>
              <a:t>2023/11/14</a:t>
            </a:fld>
            <a:endParaRPr lang="zh-TW" altLang="en-US"/>
          </a:p>
        </p:txBody>
      </p:sp>
      <p:sp>
        <p:nvSpPr>
          <p:cNvPr id="3" name="頁尾版面配置區 2">
            <a:extLst>
              <a:ext uri="{FF2B5EF4-FFF2-40B4-BE49-F238E27FC236}">
                <a16:creationId xmlns:a16="http://schemas.microsoft.com/office/drawing/2014/main" id="{5719E78A-F621-4136-9BC3-87E7F8B249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5EFECFB-C447-487D-B43B-1B5B71697FB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154182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CC23B8-75A5-4019-B628-F1C82E5382B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99A34CC-502A-423E-932E-39CE4BC555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5DBAFA7-CF5D-40EC-82C2-AC3D0C4C26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69C2E307-A73A-4F80-B550-AE2F641E85EB}"/>
              </a:ext>
            </a:extLst>
          </p:cNvPr>
          <p:cNvSpPr>
            <a:spLocks noGrp="1"/>
          </p:cNvSpPr>
          <p:nvPr>
            <p:ph type="dt" sz="half" idx="10"/>
          </p:nvPr>
        </p:nvSpPr>
        <p:spPr/>
        <p:txBody>
          <a:bodyPr/>
          <a:lstStyle/>
          <a:p>
            <a:fld id="{D3DC3587-5ABE-4311-A519-7F8CF83C098B}" type="datetime1">
              <a:rPr lang="zh-TW" altLang="en-US" smtClean="0"/>
              <a:t>2023/11/14</a:t>
            </a:fld>
            <a:endParaRPr lang="zh-TW" altLang="en-US"/>
          </a:p>
        </p:txBody>
      </p:sp>
      <p:sp>
        <p:nvSpPr>
          <p:cNvPr id="6" name="頁尾版面配置區 5">
            <a:extLst>
              <a:ext uri="{FF2B5EF4-FFF2-40B4-BE49-F238E27FC236}">
                <a16:creationId xmlns:a16="http://schemas.microsoft.com/office/drawing/2014/main" id="{0A3A147B-79C1-412A-B2FF-8D32DF46510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AA629CE-B57F-4520-A533-B44C6A2C8BA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796774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D55816-64E8-462B-A3D7-4453B003379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240DF5AE-4B4C-4B45-AC23-AA4CFC3055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F4118706-CAE1-4FEA-B01D-7CE0654D4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2AF1CF92-18B7-4CB0-8C56-AF0B883E3B7B}"/>
              </a:ext>
            </a:extLst>
          </p:cNvPr>
          <p:cNvSpPr>
            <a:spLocks noGrp="1"/>
          </p:cNvSpPr>
          <p:nvPr>
            <p:ph type="dt" sz="half" idx="10"/>
          </p:nvPr>
        </p:nvSpPr>
        <p:spPr/>
        <p:txBody>
          <a:bodyPr/>
          <a:lstStyle/>
          <a:p>
            <a:fld id="{D2DA342B-0A8F-45F2-921C-3FDF514126B7}" type="datetime1">
              <a:rPr lang="zh-TW" altLang="en-US" smtClean="0"/>
              <a:t>2023/11/14</a:t>
            </a:fld>
            <a:endParaRPr lang="zh-TW" altLang="en-US"/>
          </a:p>
        </p:txBody>
      </p:sp>
      <p:sp>
        <p:nvSpPr>
          <p:cNvPr id="6" name="頁尾版面配置區 5">
            <a:extLst>
              <a:ext uri="{FF2B5EF4-FFF2-40B4-BE49-F238E27FC236}">
                <a16:creationId xmlns:a16="http://schemas.microsoft.com/office/drawing/2014/main" id="{2ADBC973-241B-4503-ADCE-06D35A39F1A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B66D3F1-4059-4827-95C2-E95F79F4187F}"/>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78461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9D1DF3-8597-4AC3-9592-591615E93AE3}"/>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5D238C8-B4FB-46C1-B87B-DC663D229B15}"/>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D766127-E315-4D91-8EF2-B008095B6E77}"/>
              </a:ext>
            </a:extLst>
          </p:cNvPr>
          <p:cNvSpPr>
            <a:spLocks noGrp="1"/>
          </p:cNvSpPr>
          <p:nvPr>
            <p:ph type="dt" sz="half" idx="10"/>
          </p:nvPr>
        </p:nvSpPr>
        <p:spPr/>
        <p:txBody>
          <a:bodyPr/>
          <a:lstStyle/>
          <a:p>
            <a:fld id="{A6AD3143-C9CF-4834-9DEF-9BC47245ADD3}" type="datetime1">
              <a:rPr lang="zh-TW" altLang="en-US" smtClean="0"/>
              <a:t>2023/11/14</a:t>
            </a:fld>
            <a:endParaRPr lang="zh-TW" altLang="en-US"/>
          </a:p>
        </p:txBody>
      </p:sp>
      <p:sp>
        <p:nvSpPr>
          <p:cNvPr id="5" name="頁尾版面配置區 4">
            <a:extLst>
              <a:ext uri="{FF2B5EF4-FFF2-40B4-BE49-F238E27FC236}">
                <a16:creationId xmlns:a16="http://schemas.microsoft.com/office/drawing/2014/main" id="{8B76B946-7EAB-42DF-A2F5-EACCC43DE19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00A8436-D093-407E-A6F6-4CF3FE749A6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1528449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79C0EB2-FDD9-45F9-BD56-C202BA6F85C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A5302A6-36E0-4F61-95D0-FFF22F355FC8}"/>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FB54F25-B1AD-4B0D-B783-5F7604B3BEA1}"/>
              </a:ext>
            </a:extLst>
          </p:cNvPr>
          <p:cNvSpPr>
            <a:spLocks noGrp="1"/>
          </p:cNvSpPr>
          <p:nvPr>
            <p:ph type="dt" sz="half" idx="10"/>
          </p:nvPr>
        </p:nvSpPr>
        <p:spPr/>
        <p:txBody>
          <a:bodyPr/>
          <a:lstStyle/>
          <a:p>
            <a:fld id="{2FEA573D-32C6-443E-A69A-182A1B82649D}" type="datetime1">
              <a:rPr lang="zh-TW" altLang="en-US" smtClean="0"/>
              <a:t>2023/11/14</a:t>
            </a:fld>
            <a:endParaRPr lang="zh-TW" altLang="en-US"/>
          </a:p>
        </p:txBody>
      </p:sp>
      <p:sp>
        <p:nvSpPr>
          <p:cNvPr id="5" name="頁尾版面配置區 4">
            <a:extLst>
              <a:ext uri="{FF2B5EF4-FFF2-40B4-BE49-F238E27FC236}">
                <a16:creationId xmlns:a16="http://schemas.microsoft.com/office/drawing/2014/main" id="{458B8143-DD91-4913-9BBC-F47FA1D7AE9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827F965-69A7-40AE-AB34-F6BB6055C539}"/>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27644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FA6E97-504F-4D83-A00A-ACFAB093FB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835DDF6-3759-49B7-9B87-FFD02FD5AA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E763631-A33B-462D-B65B-99A0817F5D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735890-F13E-4E65-8362-5C488D5B0D04}" type="datetime1">
              <a:rPr lang="zh-TW" altLang="en-US" smtClean="0"/>
              <a:t>2023/11/14</a:t>
            </a:fld>
            <a:endParaRPr lang="zh-TW" altLang="en-US"/>
          </a:p>
        </p:txBody>
      </p:sp>
      <p:sp>
        <p:nvSpPr>
          <p:cNvPr id="5" name="頁尾版面配置區 4">
            <a:extLst>
              <a:ext uri="{FF2B5EF4-FFF2-40B4-BE49-F238E27FC236}">
                <a16:creationId xmlns:a16="http://schemas.microsoft.com/office/drawing/2014/main" id="{B01C28F1-D551-4915-B007-99BD38614E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B8AB29E7-4E9B-4190-8484-4F45F88BC0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85547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B35EA8-3B84-42D5-BAD0-9B2BE5F58BE1}"/>
              </a:ext>
            </a:extLst>
          </p:cNvPr>
          <p:cNvSpPr>
            <a:spLocks noGrp="1"/>
          </p:cNvSpPr>
          <p:nvPr>
            <p:ph type="ctrTitle"/>
          </p:nvPr>
        </p:nvSpPr>
        <p:spPr>
          <a:xfrm>
            <a:off x="1524000" y="932954"/>
            <a:ext cx="9144000" cy="2387600"/>
          </a:xfrm>
        </p:spPr>
        <p:txBody>
          <a:bodyPr>
            <a:noAutofit/>
          </a:bodyPr>
          <a:lstStyle/>
          <a:p>
            <a:r>
              <a:rPr lang="en-US" altLang="zh-TW" sz="4400" b="1" dirty="0">
                <a:solidFill>
                  <a:srgbClr val="333333"/>
                </a:solidFill>
                <a:latin typeface="Times New Roman" panose="02020603050405020304" pitchFamily="18" charset="0"/>
                <a:cs typeface="Times New Roman" panose="02020603050405020304" pitchFamily="18" charset="0"/>
              </a:rPr>
              <a:t>An Improved Algorithm with Azimuth Clustering for Detecting Turning Regions on GPS Trajectories</a:t>
            </a:r>
            <a:endParaRPr lang="en-US" altLang="zh-TW" sz="4400" b="1" i="0" dirty="0">
              <a:solidFill>
                <a:srgbClr val="333333"/>
              </a:solidFill>
              <a:effectLst/>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4E6F3D17-E5C7-4A7C-946D-5608813E8227}"/>
              </a:ext>
            </a:extLst>
          </p:cNvPr>
          <p:cNvSpPr>
            <a:spLocks noGrp="1"/>
          </p:cNvSpPr>
          <p:nvPr>
            <p:ph type="subTitle" idx="1"/>
          </p:nvPr>
        </p:nvSpPr>
        <p:spPr>
          <a:xfrm>
            <a:off x="1524000" y="3858821"/>
            <a:ext cx="9144000" cy="1655762"/>
          </a:xfrm>
        </p:spPr>
        <p:txBody>
          <a:bodyPr/>
          <a:lstStyle/>
          <a:p>
            <a:r>
              <a:rPr lang="en-US" altLang="zh-TW" dirty="0">
                <a:latin typeface="Times New Roman" panose="02020603050405020304" pitchFamily="18" charset="0"/>
                <a:cs typeface="Times New Roman" panose="02020603050405020304" pitchFamily="18" charset="0"/>
              </a:rPr>
              <a:t>Kuo-Si Huang, and Yu-Chen Lin, Chang-</a:t>
            </a:r>
            <a:r>
              <a:rPr lang="en-US" altLang="zh-TW" dirty="0" err="1">
                <a:latin typeface="Times New Roman" panose="02020603050405020304" pitchFamily="18" charset="0"/>
                <a:cs typeface="Times New Roman" panose="02020603050405020304" pitchFamily="18" charset="0"/>
              </a:rPr>
              <a:t>Biau</a:t>
            </a:r>
            <a:r>
              <a:rPr lang="en-US" altLang="zh-TW" dirty="0">
                <a:latin typeface="Times New Roman" panose="02020603050405020304" pitchFamily="18" charset="0"/>
                <a:cs typeface="Times New Roman" panose="02020603050405020304" pitchFamily="18" charset="0"/>
              </a:rPr>
              <a:t> Yang, Ho-Chun Lin, Yung-</a:t>
            </a:r>
            <a:r>
              <a:rPr lang="en-US" altLang="zh-TW" dirty="0" err="1">
                <a:latin typeface="Times New Roman" panose="02020603050405020304" pitchFamily="18" charset="0"/>
                <a:cs typeface="Times New Roman" panose="02020603050405020304" pitchFamily="18" charset="0"/>
              </a:rPr>
              <a:t>Hsing</a:t>
            </a:r>
            <a:r>
              <a:rPr lang="en-US" altLang="zh-TW" dirty="0">
                <a:latin typeface="Times New Roman" panose="02020603050405020304" pitchFamily="18" charset="0"/>
                <a:cs typeface="Times New Roman" panose="02020603050405020304" pitchFamily="18" charset="0"/>
              </a:rPr>
              <a:t> Peng and </a:t>
            </a:r>
            <a:r>
              <a:rPr lang="en-US" altLang="zh-TW" dirty="0" err="1">
                <a:latin typeface="Times New Roman" panose="02020603050405020304" pitchFamily="18" charset="0"/>
                <a:cs typeface="Times New Roman" panose="02020603050405020304" pitchFamily="18" charset="0"/>
              </a:rPr>
              <a:t>Szu-Hsuan</a:t>
            </a:r>
            <a:r>
              <a:rPr lang="en-US" altLang="zh-TW" dirty="0">
                <a:latin typeface="Times New Roman" panose="02020603050405020304" pitchFamily="18" charset="0"/>
                <a:cs typeface="Times New Roman" panose="02020603050405020304" pitchFamily="18" charset="0"/>
              </a:rPr>
              <a:t> Wang. </a:t>
            </a:r>
            <a:endParaRPr lang="zh-TW" altLang="en-US" dirty="0">
              <a:latin typeface="Times New Roman" panose="02020603050405020304" pitchFamily="18" charset="0"/>
              <a:cs typeface="Times New Roman" panose="02020603050405020304" pitchFamily="18" charset="0"/>
            </a:endParaRPr>
          </a:p>
        </p:txBody>
      </p:sp>
      <p:sp>
        <p:nvSpPr>
          <p:cNvPr id="4" name="Google Shape;56;p13">
            <a:extLst>
              <a:ext uri="{FF2B5EF4-FFF2-40B4-BE49-F238E27FC236}">
                <a16:creationId xmlns:a16="http://schemas.microsoft.com/office/drawing/2014/main" id="{06C1D35A-D785-485D-9332-2BCA50B420B3}"/>
              </a:ext>
            </a:extLst>
          </p:cNvPr>
          <p:cNvSpPr txBox="1"/>
          <p:nvPr/>
        </p:nvSpPr>
        <p:spPr>
          <a:xfrm>
            <a:off x="7904957" y="5834548"/>
            <a:ext cx="3920100" cy="800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zh-TW" sz="2000" dirty="0">
                <a:latin typeface="Times New Roman"/>
                <a:ea typeface="Times New Roman"/>
                <a:cs typeface="Times New Roman"/>
                <a:sym typeface="Times New Roman"/>
              </a:rPr>
              <a:t>Presenter: </a:t>
            </a:r>
            <a:r>
              <a:rPr lang="en-US" altLang="zh-TW" sz="2000" dirty="0">
                <a:latin typeface="Times New Roman"/>
                <a:ea typeface="Times New Roman"/>
                <a:cs typeface="Times New Roman"/>
                <a:sym typeface="Times New Roman"/>
              </a:rPr>
              <a:t>Yu-Chen Lin</a:t>
            </a:r>
            <a:endParaRPr sz="2000" dirty="0">
              <a:latin typeface="Times New Roman"/>
              <a:ea typeface="Times New Roman"/>
              <a:cs typeface="Times New Roman"/>
              <a:sym typeface="Times New Roman"/>
            </a:endParaRPr>
          </a:p>
          <a:p>
            <a:pPr marL="0" lvl="0" indent="0" algn="r" rtl="0">
              <a:spcBef>
                <a:spcPts val="0"/>
              </a:spcBef>
              <a:spcAft>
                <a:spcPts val="0"/>
              </a:spcAft>
              <a:buNone/>
            </a:pPr>
            <a:r>
              <a:rPr lang="zh-TW" sz="2000" dirty="0">
                <a:latin typeface="Times New Roman"/>
                <a:ea typeface="Times New Roman"/>
                <a:cs typeface="Times New Roman"/>
                <a:sym typeface="Times New Roman"/>
              </a:rPr>
              <a:t>Date: </a:t>
            </a:r>
            <a:r>
              <a:rPr lang="en-US" altLang="zh-TW" sz="2000" dirty="0">
                <a:latin typeface="Times New Roman"/>
                <a:ea typeface="Times New Roman"/>
                <a:cs typeface="Times New Roman"/>
                <a:sym typeface="Times New Roman"/>
              </a:rPr>
              <a:t>Nov.</a:t>
            </a:r>
            <a:r>
              <a:rPr lang="zh-TW" sz="2000" dirty="0">
                <a:latin typeface="Times New Roman"/>
                <a:ea typeface="Times New Roman"/>
                <a:cs typeface="Times New Roman"/>
                <a:sym typeface="Times New Roman"/>
              </a:rPr>
              <a:t> </a:t>
            </a:r>
            <a:r>
              <a:rPr lang="en-US" altLang="zh-TW" sz="2000" dirty="0">
                <a:latin typeface="Times New Roman"/>
                <a:ea typeface="Times New Roman"/>
                <a:cs typeface="Times New Roman"/>
                <a:sym typeface="Times New Roman"/>
              </a:rPr>
              <a:t>14</a:t>
            </a:r>
            <a:r>
              <a:rPr lang="zh-TW" sz="2000" dirty="0">
                <a:latin typeface="Times New Roman"/>
                <a:ea typeface="Times New Roman"/>
                <a:cs typeface="Times New Roman"/>
                <a:sym typeface="Times New Roman"/>
              </a:rPr>
              <a:t>, 202</a:t>
            </a:r>
            <a:r>
              <a:rPr lang="en-US" altLang="zh-TW" sz="2000" dirty="0">
                <a:latin typeface="Times New Roman"/>
                <a:ea typeface="Times New Roman"/>
                <a:cs typeface="Times New Roman"/>
                <a:sym typeface="Times New Roman"/>
              </a:rPr>
              <a:t>3</a:t>
            </a:r>
            <a:endParaRPr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98855893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Abstract</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825625"/>
            <a:ext cx="10515600" cy="4351338"/>
          </a:xfrm>
        </p:spPr>
        <p:txBody>
          <a:bodyPr>
            <a:normAutofit fontScale="77500" lnSpcReduction="20000"/>
          </a:bodyPr>
          <a:lstStyle/>
          <a:p>
            <a:pPr marL="0" indent="0">
              <a:buNone/>
            </a:pPr>
            <a:r>
              <a:rPr lang="en-US" altLang="zh-TW" sz="2400" dirty="0">
                <a:latin typeface="Times New Roman" panose="02020603050405020304" pitchFamily="18" charset="0"/>
                <a:cs typeface="Times New Roman" panose="02020603050405020304" pitchFamily="18" charset="0"/>
              </a:rPr>
              <a:t>	</a:t>
            </a:r>
            <a:r>
              <a:rPr lang="en-US" altLang="zh-TW" sz="3100" dirty="0">
                <a:solidFill>
                  <a:srgbClr val="333333"/>
                </a:solidFill>
                <a:latin typeface="Times New Roman" panose="02020603050405020304" pitchFamily="18" charset="0"/>
                <a:cs typeface="Times New Roman" panose="02020603050405020304" pitchFamily="18" charset="0"/>
              </a:rPr>
              <a:t>According to the latest report released by the Ministry of Agriculture (MOA) of Taiwan, the number of agriculture machinery in Taiwan exceeds 200,000. To keep track of these machinery, there are some research units making their efforts in devising GPS for agricultural application. Recently, Peng et al. proposed the turning region detection (TRD) problem for the GPS data obtained in the tea industry, which can be used to measure the working efficiency of agricultural machinery. To solve the TRD problem, Peng et al. tried to devise a linear time algorithm, which is easy to implement. However, the accuracy of their algorithm is far from expectation, which calls for further improvement. </a:t>
            </a:r>
            <a:r>
              <a:rPr lang="en-US" altLang="zh-TW" sz="3100">
                <a:solidFill>
                  <a:srgbClr val="333333"/>
                </a:solidFill>
                <a:latin typeface="Times New Roman" panose="02020603050405020304" pitchFamily="18" charset="0"/>
                <a:cs typeface="Times New Roman" panose="02020603050405020304" pitchFamily="18" charset="0"/>
              </a:rPr>
              <a:t>By adopting </a:t>
            </a:r>
            <a:r>
              <a:rPr lang="en-US" altLang="zh-TW" sz="3100" dirty="0">
                <a:solidFill>
                  <a:srgbClr val="333333"/>
                </a:solidFill>
                <a:latin typeface="Times New Roman" panose="02020603050405020304" pitchFamily="18" charset="0"/>
                <a:cs typeface="Times New Roman" panose="02020603050405020304" pitchFamily="18" charset="0"/>
              </a:rPr>
              <a:t>the concept of azimuth clustering, in this paper we propose a new algorithm for solving the TRD problem, which achieves better accuracy. The experimental results show that our new algorithm has an average accuracy 85%, which is better than the average accuracy 70% achieved with the previous algorithm. In addition, the proposed algorithm is not difficult to implement and is suitable for providing derivative services and analysis to agricultural managers in the future.</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2</a:t>
            </a:fld>
            <a:endParaRPr lang="zh-TW" altLang="en-US"/>
          </a:p>
        </p:txBody>
      </p:sp>
    </p:spTree>
    <p:extLst>
      <p:ext uri="{BB962C8B-B14F-4D97-AF65-F5344CB8AC3E}">
        <p14:creationId xmlns:p14="http://schemas.microsoft.com/office/powerpoint/2010/main" val="210235064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AFC4445-144F-49E6-9300-2EA8C2A7F148}"/>
              </a:ext>
            </a:extLst>
          </p:cNvPr>
          <p:cNvSpPr>
            <a:spLocks noGrp="1"/>
          </p:cNvSpPr>
          <p:nvPr>
            <p:ph type="sldNum" sz="quarter" idx="12"/>
          </p:nvPr>
        </p:nvSpPr>
        <p:spPr/>
        <p:txBody>
          <a:bodyPr/>
          <a:lstStyle/>
          <a:p>
            <a:fld id="{55935506-5D51-4B07-8BDD-18CEF4E05E0A}" type="slidenum">
              <a:rPr lang="zh-TW" altLang="en-US" smtClean="0"/>
              <a:t>3</a:t>
            </a:fld>
            <a:endParaRPr lang="zh-TW" altLang="en-US"/>
          </a:p>
        </p:txBody>
      </p:sp>
      <p:sp>
        <p:nvSpPr>
          <p:cNvPr id="6" name="標題 1">
            <a:extLst>
              <a:ext uri="{FF2B5EF4-FFF2-40B4-BE49-F238E27FC236}">
                <a16:creationId xmlns:a16="http://schemas.microsoft.com/office/drawing/2014/main" id="{2F1E678D-C6A1-4769-83DA-AFB0E4C6076A}"/>
              </a:ext>
            </a:extLst>
          </p:cNvPr>
          <p:cNvSpPr>
            <a:spLocks noGrp="1"/>
          </p:cNvSpPr>
          <p:nvPr>
            <p:ph type="title"/>
          </p:nvPr>
        </p:nvSpPr>
        <p:spPr>
          <a:xfrm>
            <a:off x="838200" y="365125"/>
            <a:ext cx="10515600" cy="1325563"/>
          </a:xfrm>
        </p:spPr>
        <p:txBody>
          <a:bodyPr/>
          <a:lstStyle/>
          <a:p>
            <a:pPr algn="ctr"/>
            <a:r>
              <a:rPr lang="en-US" altLang="zh-TW" sz="4400" b="1" dirty="0">
                <a:solidFill>
                  <a:srgbClr val="333333"/>
                </a:solidFill>
                <a:latin typeface="Times New Roman" panose="02020603050405020304" pitchFamily="18" charset="0"/>
                <a:cs typeface="Times New Roman" panose="02020603050405020304" pitchFamily="18" charset="0"/>
              </a:rPr>
              <a:t>GPS Trajectories</a:t>
            </a:r>
            <a:endParaRPr lang="zh-TW" altLang="en-US" b="1" dirty="0"/>
          </a:p>
        </p:txBody>
      </p:sp>
      <p:pic>
        <p:nvPicPr>
          <p:cNvPr id="8" name="圖片 7">
            <a:extLst>
              <a:ext uri="{FF2B5EF4-FFF2-40B4-BE49-F238E27FC236}">
                <a16:creationId xmlns:a16="http://schemas.microsoft.com/office/drawing/2014/main" id="{357C15F1-3374-A5A2-10E7-DDB23B0E3F21}"/>
              </a:ext>
            </a:extLst>
          </p:cNvPr>
          <p:cNvPicPr>
            <a:picLocks noChangeAspect="1"/>
          </p:cNvPicPr>
          <p:nvPr/>
        </p:nvPicPr>
        <p:blipFill>
          <a:blip r:embed="rId2"/>
          <a:stretch>
            <a:fillRect/>
          </a:stretch>
        </p:blipFill>
        <p:spPr>
          <a:xfrm>
            <a:off x="564241" y="1491342"/>
            <a:ext cx="11063518" cy="4557939"/>
          </a:xfrm>
          <a:prstGeom prst="rect">
            <a:avLst/>
          </a:prstGeom>
        </p:spPr>
      </p:pic>
    </p:spTree>
    <p:extLst>
      <p:ext uri="{BB962C8B-B14F-4D97-AF65-F5344CB8AC3E}">
        <p14:creationId xmlns:p14="http://schemas.microsoft.com/office/powerpoint/2010/main" val="385373551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AFC4445-144F-49E6-9300-2EA8C2A7F148}"/>
              </a:ext>
            </a:extLst>
          </p:cNvPr>
          <p:cNvSpPr>
            <a:spLocks noGrp="1"/>
          </p:cNvSpPr>
          <p:nvPr>
            <p:ph type="sldNum" sz="quarter" idx="12"/>
          </p:nvPr>
        </p:nvSpPr>
        <p:spPr/>
        <p:txBody>
          <a:bodyPr/>
          <a:lstStyle/>
          <a:p>
            <a:fld id="{55935506-5D51-4B07-8BDD-18CEF4E05E0A}" type="slidenum">
              <a:rPr lang="zh-TW" altLang="en-US" smtClean="0"/>
              <a:t>4</a:t>
            </a:fld>
            <a:endParaRPr lang="zh-TW" altLang="en-US"/>
          </a:p>
        </p:txBody>
      </p:sp>
      <p:sp>
        <p:nvSpPr>
          <p:cNvPr id="6" name="標題 1">
            <a:extLst>
              <a:ext uri="{FF2B5EF4-FFF2-40B4-BE49-F238E27FC236}">
                <a16:creationId xmlns:a16="http://schemas.microsoft.com/office/drawing/2014/main" id="{2F1E678D-C6A1-4769-83DA-AFB0E4C6076A}"/>
              </a:ext>
            </a:extLst>
          </p:cNvPr>
          <p:cNvSpPr>
            <a:spLocks noGrp="1"/>
          </p:cNvSpPr>
          <p:nvPr>
            <p:ph type="title"/>
          </p:nvPr>
        </p:nvSpPr>
        <p:spPr>
          <a:xfrm>
            <a:off x="838200" y="365125"/>
            <a:ext cx="10515600" cy="1325563"/>
          </a:xfrm>
        </p:spPr>
        <p:txBody>
          <a:bodyPr/>
          <a:lstStyle/>
          <a:p>
            <a:pPr algn="ctr"/>
            <a:r>
              <a:rPr lang="en-US" altLang="zh-TW" b="1" dirty="0">
                <a:solidFill>
                  <a:srgbClr val="333333"/>
                </a:solidFill>
                <a:latin typeface="Times New Roman" panose="02020603050405020304" pitchFamily="18" charset="0"/>
                <a:cs typeface="Times New Roman" panose="02020603050405020304" pitchFamily="18" charset="0"/>
              </a:rPr>
              <a:t>Turning </a:t>
            </a:r>
            <a:r>
              <a:rPr lang="en-US" altLang="zh-TW" sz="4400" b="1" dirty="0">
                <a:solidFill>
                  <a:srgbClr val="333333"/>
                </a:solidFill>
                <a:latin typeface="Times New Roman" panose="02020603050405020304" pitchFamily="18" charset="0"/>
                <a:cs typeface="Times New Roman" panose="02020603050405020304" pitchFamily="18" charset="0"/>
              </a:rPr>
              <a:t>Region Detection</a:t>
            </a:r>
            <a:endParaRPr lang="zh-TW" altLang="en-US" b="1" dirty="0"/>
          </a:p>
        </p:txBody>
      </p:sp>
      <p:pic>
        <p:nvPicPr>
          <p:cNvPr id="15" name="圖片 14">
            <a:extLst>
              <a:ext uri="{FF2B5EF4-FFF2-40B4-BE49-F238E27FC236}">
                <a16:creationId xmlns:a16="http://schemas.microsoft.com/office/drawing/2014/main" id="{9126F97E-6DEA-74AF-82B0-5953C4C4CC26}"/>
              </a:ext>
            </a:extLst>
          </p:cNvPr>
          <p:cNvPicPr>
            <a:picLocks noChangeAspect="1"/>
          </p:cNvPicPr>
          <p:nvPr/>
        </p:nvPicPr>
        <p:blipFill>
          <a:blip r:embed="rId2"/>
          <a:stretch>
            <a:fillRect/>
          </a:stretch>
        </p:blipFill>
        <p:spPr>
          <a:xfrm>
            <a:off x="2277829" y="1539998"/>
            <a:ext cx="7636341" cy="4672766"/>
          </a:xfrm>
          <a:prstGeom prst="rect">
            <a:avLst/>
          </a:prstGeom>
        </p:spPr>
      </p:pic>
    </p:spTree>
    <p:extLst>
      <p:ext uri="{BB962C8B-B14F-4D97-AF65-F5344CB8AC3E}">
        <p14:creationId xmlns:p14="http://schemas.microsoft.com/office/powerpoint/2010/main" val="250430726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AFC4445-144F-49E6-9300-2EA8C2A7F148}"/>
              </a:ext>
            </a:extLst>
          </p:cNvPr>
          <p:cNvSpPr>
            <a:spLocks noGrp="1"/>
          </p:cNvSpPr>
          <p:nvPr>
            <p:ph type="sldNum" sz="quarter" idx="12"/>
          </p:nvPr>
        </p:nvSpPr>
        <p:spPr/>
        <p:txBody>
          <a:bodyPr/>
          <a:lstStyle/>
          <a:p>
            <a:fld id="{55935506-5D51-4B07-8BDD-18CEF4E05E0A}" type="slidenum">
              <a:rPr lang="zh-TW" altLang="en-US" smtClean="0"/>
              <a:t>5</a:t>
            </a:fld>
            <a:endParaRPr lang="zh-TW" altLang="en-US"/>
          </a:p>
        </p:txBody>
      </p:sp>
      <p:sp>
        <p:nvSpPr>
          <p:cNvPr id="6" name="標題 1">
            <a:extLst>
              <a:ext uri="{FF2B5EF4-FFF2-40B4-BE49-F238E27FC236}">
                <a16:creationId xmlns:a16="http://schemas.microsoft.com/office/drawing/2014/main" id="{2F1E678D-C6A1-4769-83DA-AFB0E4C6076A}"/>
              </a:ext>
            </a:extLst>
          </p:cNvPr>
          <p:cNvSpPr>
            <a:spLocks noGrp="1"/>
          </p:cNvSpPr>
          <p:nvPr>
            <p:ph type="title"/>
          </p:nvPr>
        </p:nvSpPr>
        <p:spPr>
          <a:xfrm>
            <a:off x="838200" y="365125"/>
            <a:ext cx="10515600" cy="1325563"/>
          </a:xfrm>
        </p:spPr>
        <p:txBody>
          <a:bodyPr/>
          <a:lstStyle/>
          <a:p>
            <a:pPr algn="ctr"/>
            <a:r>
              <a:rPr lang="en-US" altLang="zh-TW" b="1" dirty="0">
                <a:solidFill>
                  <a:srgbClr val="333333"/>
                </a:solidFill>
                <a:latin typeface="Times New Roman" panose="02020603050405020304" pitchFamily="18" charset="0"/>
                <a:cs typeface="Times New Roman" panose="02020603050405020304" pitchFamily="18" charset="0"/>
              </a:rPr>
              <a:t>Azimuth</a:t>
            </a:r>
            <a:endParaRPr lang="zh-TW" altLang="en-US" b="1" dirty="0"/>
          </a:p>
        </p:txBody>
      </p:sp>
      <p:pic>
        <p:nvPicPr>
          <p:cNvPr id="12" name="圖片 11">
            <a:extLst>
              <a:ext uri="{FF2B5EF4-FFF2-40B4-BE49-F238E27FC236}">
                <a16:creationId xmlns:a16="http://schemas.microsoft.com/office/drawing/2014/main" id="{7359B033-86DC-D1A2-C34F-5F6CB2C1DB1B}"/>
              </a:ext>
            </a:extLst>
          </p:cNvPr>
          <p:cNvPicPr>
            <a:picLocks noChangeAspect="1"/>
          </p:cNvPicPr>
          <p:nvPr/>
        </p:nvPicPr>
        <p:blipFill>
          <a:blip r:embed="rId2"/>
          <a:stretch>
            <a:fillRect/>
          </a:stretch>
        </p:blipFill>
        <p:spPr>
          <a:xfrm>
            <a:off x="2943261" y="1406059"/>
            <a:ext cx="6305477" cy="4697422"/>
          </a:xfrm>
          <a:prstGeom prst="rect">
            <a:avLst/>
          </a:prstGeom>
        </p:spPr>
      </p:pic>
    </p:spTree>
    <p:extLst>
      <p:ext uri="{BB962C8B-B14F-4D97-AF65-F5344CB8AC3E}">
        <p14:creationId xmlns:p14="http://schemas.microsoft.com/office/powerpoint/2010/main" val="260884804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AFC4445-144F-49E6-9300-2EA8C2A7F148}"/>
              </a:ext>
            </a:extLst>
          </p:cNvPr>
          <p:cNvSpPr>
            <a:spLocks noGrp="1"/>
          </p:cNvSpPr>
          <p:nvPr>
            <p:ph type="sldNum" sz="quarter" idx="12"/>
          </p:nvPr>
        </p:nvSpPr>
        <p:spPr/>
        <p:txBody>
          <a:bodyPr/>
          <a:lstStyle/>
          <a:p>
            <a:fld id="{55935506-5D51-4B07-8BDD-18CEF4E05E0A}" type="slidenum">
              <a:rPr lang="zh-TW" altLang="en-US" smtClean="0"/>
              <a:t>6</a:t>
            </a:fld>
            <a:endParaRPr lang="zh-TW" altLang="en-US"/>
          </a:p>
        </p:txBody>
      </p:sp>
      <p:sp>
        <p:nvSpPr>
          <p:cNvPr id="6" name="標題 1">
            <a:extLst>
              <a:ext uri="{FF2B5EF4-FFF2-40B4-BE49-F238E27FC236}">
                <a16:creationId xmlns:a16="http://schemas.microsoft.com/office/drawing/2014/main" id="{2F1E678D-C6A1-4769-83DA-AFB0E4C6076A}"/>
              </a:ext>
            </a:extLst>
          </p:cNvPr>
          <p:cNvSpPr>
            <a:spLocks noGrp="1"/>
          </p:cNvSpPr>
          <p:nvPr>
            <p:ph type="title"/>
          </p:nvPr>
        </p:nvSpPr>
        <p:spPr>
          <a:xfrm>
            <a:off x="838200" y="365125"/>
            <a:ext cx="10515600" cy="1325563"/>
          </a:xfrm>
        </p:spPr>
        <p:txBody>
          <a:bodyPr/>
          <a:lstStyle/>
          <a:p>
            <a:pPr algn="ctr"/>
            <a:r>
              <a:rPr lang="en-US" altLang="zh-TW" b="1">
                <a:solidFill>
                  <a:srgbClr val="333333"/>
                </a:solidFill>
                <a:latin typeface="Times New Roman" panose="02020603050405020304" pitchFamily="18" charset="0"/>
                <a:cs typeface="Times New Roman" panose="02020603050405020304" pitchFamily="18" charset="0"/>
              </a:rPr>
              <a:t>Working Direction and Displacement</a:t>
            </a:r>
            <a:endParaRPr lang="zh-TW" altLang="en-US" b="1" dirty="0"/>
          </a:p>
        </p:txBody>
      </p:sp>
      <p:pic>
        <p:nvPicPr>
          <p:cNvPr id="3" name="圖片 2">
            <a:extLst>
              <a:ext uri="{FF2B5EF4-FFF2-40B4-BE49-F238E27FC236}">
                <a16:creationId xmlns:a16="http://schemas.microsoft.com/office/drawing/2014/main" id="{E62F13BB-5711-0D92-1B8E-78D567551A69}"/>
              </a:ext>
            </a:extLst>
          </p:cNvPr>
          <p:cNvPicPr>
            <a:picLocks noChangeAspect="1"/>
          </p:cNvPicPr>
          <p:nvPr/>
        </p:nvPicPr>
        <p:blipFill>
          <a:blip r:embed="rId2"/>
          <a:stretch>
            <a:fillRect/>
          </a:stretch>
        </p:blipFill>
        <p:spPr>
          <a:xfrm>
            <a:off x="1971712" y="3429000"/>
            <a:ext cx="8248573" cy="1428524"/>
          </a:xfrm>
          <a:prstGeom prst="rect">
            <a:avLst/>
          </a:prstGeom>
        </p:spPr>
      </p:pic>
      <p:pic>
        <p:nvPicPr>
          <p:cNvPr id="7" name="圖片 6">
            <a:extLst>
              <a:ext uri="{FF2B5EF4-FFF2-40B4-BE49-F238E27FC236}">
                <a16:creationId xmlns:a16="http://schemas.microsoft.com/office/drawing/2014/main" id="{33690776-78B5-C699-2E70-821731A27FD9}"/>
              </a:ext>
            </a:extLst>
          </p:cNvPr>
          <p:cNvPicPr>
            <a:picLocks noChangeAspect="1"/>
          </p:cNvPicPr>
          <p:nvPr/>
        </p:nvPicPr>
        <p:blipFill>
          <a:blip r:embed="rId3"/>
          <a:stretch>
            <a:fillRect/>
          </a:stretch>
        </p:blipFill>
        <p:spPr>
          <a:xfrm>
            <a:off x="3497743" y="1930174"/>
            <a:ext cx="5196513" cy="1039302"/>
          </a:xfrm>
          <a:prstGeom prst="rect">
            <a:avLst/>
          </a:prstGeom>
        </p:spPr>
      </p:pic>
    </p:spTree>
    <p:extLst>
      <p:ext uri="{BB962C8B-B14F-4D97-AF65-F5344CB8AC3E}">
        <p14:creationId xmlns:p14="http://schemas.microsoft.com/office/powerpoint/2010/main" val="282773891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DCDB30F-8ACC-FC6F-0352-DAC62FAE2EBE}"/>
              </a:ext>
            </a:extLst>
          </p:cNvPr>
          <p:cNvSpPr>
            <a:spLocks noGrp="1"/>
          </p:cNvSpPr>
          <p:nvPr>
            <p:ph type="title"/>
          </p:nvPr>
        </p:nvSpPr>
        <p:spPr/>
        <p:txBody>
          <a:bodyPr>
            <a:normAutofit/>
          </a:bodyPr>
          <a:lstStyle/>
          <a:p>
            <a:pPr algn="ctr"/>
            <a:r>
              <a:rPr lang="en-US" altLang="zh-TW" b="1" i="0" dirty="0">
                <a:solidFill>
                  <a:srgbClr val="333333"/>
                </a:solidFill>
                <a:effectLst/>
                <a:latin typeface="Times New Roman" panose="02020603050405020304" pitchFamily="18" charset="0"/>
                <a:cs typeface="Times New Roman" panose="02020603050405020304" pitchFamily="18" charset="0"/>
              </a:rPr>
              <a:t>TRD Algorithm</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42FCC596-F279-2428-A5E2-FB8242AB9653}"/>
              </a:ext>
            </a:extLst>
          </p:cNvPr>
          <p:cNvSpPr>
            <a:spLocks noGrp="1"/>
          </p:cNvSpPr>
          <p:nvPr>
            <p:ph type="sldNum" sz="quarter" idx="12"/>
          </p:nvPr>
        </p:nvSpPr>
        <p:spPr/>
        <p:txBody>
          <a:bodyPr/>
          <a:lstStyle/>
          <a:p>
            <a:fld id="{55935506-5D51-4B07-8BDD-18CEF4E05E0A}" type="slidenum">
              <a:rPr lang="zh-TW" altLang="en-US" smtClean="0"/>
              <a:t>7</a:t>
            </a:fld>
            <a:endParaRPr lang="zh-TW" altLang="en-US"/>
          </a:p>
        </p:txBody>
      </p:sp>
      <p:pic>
        <p:nvPicPr>
          <p:cNvPr id="5" name="圖片 4">
            <a:extLst>
              <a:ext uri="{FF2B5EF4-FFF2-40B4-BE49-F238E27FC236}">
                <a16:creationId xmlns:a16="http://schemas.microsoft.com/office/drawing/2014/main" id="{CEFBCB4B-0B18-962D-F3C1-841167FAFF9B}"/>
              </a:ext>
            </a:extLst>
          </p:cNvPr>
          <p:cNvPicPr>
            <a:picLocks noChangeAspect="1"/>
          </p:cNvPicPr>
          <p:nvPr/>
        </p:nvPicPr>
        <p:blipFill>
          <a:blip r:embed="rId2"/>
          <a:stretch>
            <a:fillRect/>
          </a:stretch>
        </p:blipFill>
        <p:spPr>
          <a:xfrm>
            <a:off x="1928231" y="1690688"/>
            <a:ext cx="8335538" cy="4067743"/>
          </a:xfrm>
          <a:prstGeom prst="rect">
            <a:avLst/>
          </a:prstGeom>
        </p:spPr>
      </p:pic>
    </p:spTree>
    <p:extLst>
      <p:ext uri="{BB962C8B-B14F-4D97-AF65-F5344CB8AC3E}">
        <p14:creationId xmlns:p14="http://schemas.microsoft.com/office/powerpoint/2010/main" val="306369089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DCDB30F-8ACC-FC6F-0352-DAC62FAE2EBE}"/>
              </a:ext>
            </a:extLst>
          </p:cNvPr>
          <p:cNvSpPr>
            <a:spLocks noGrp="1"/>
          </p:cNvSpPr>
          <p:nvPr>
            <p:ph type="title"/>
          </p:nvPr>
        </p:nvSpPr>
        <p:spPr/>
        <p:txBody>
          <a:bodyPr>
            <a:normAutofit/>
          </a:bodyPr>
          <a:lstStyle/>
          <a:p>
            <a:pPr algn="ctr"/>
            <a:r>
              <a:rPr lang="en-US" altLang="zh-TW" b="1" i="0" dirty="0">
                <a:solidFill>
                  <a:srgbClr val="333333"/>
                </a:solidFill>
                <a:effectLst/>
                <a:latin typeface="Times New Roman" panose="02020603050405020304" pitchFamily="18" charset="0"/>
                <a:cs typeface="Times New Roman" panose="02020603050405020304" pitchFamily="18" charset="0"/>
              </a:rPr>
              <a:t>Pivotal Direction Detection</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42FCC596-F279-2428-A5E2-FB8242AB9653}"/>
              </a:ext>
            </a:extLst>
          </p:cNvPr>
          <p:cNvSpPr>
            <a:spLocks noGrp="1"/>
          </p:cNvSpPr>
          <p:nvPr>
            <p:ph type="sldNum" sz="quarter" idx="12"/>
          </p:nvPr>
        </p:nvSpPr>
        <p:spPr/>
        <p:txBody>
          <a:bodyPr/>
          <a:lstStyle/>
          <a:p>
            <a:fld id="{55935506-5D51-4B07-8BDD-18CEF4E05E0A}" type="slidenum">
              <a:rPr lang="zh-TW" altLang="en-US" smtClean="0"/>
              <a:t>8</a:t>
            </a:fld>
            <a:endParaRPr lang="zh-TW" altLang="en-US"/>
          </a:p>
        </p:txBody>
      </p:sp>
      <p:pic>
        <p:nvPicPr>
          <p:cNvPr id="6" name="圖片 5">
            <a:extLst>
              <a:ext uri="{FF2B5EF4-FFF2-40B4-BE49-F238E27FC236}">
                <a16:creationId xmlns:a16="http://schemas.microsoft.com/office/drawing/2014/main" id="{CBE146EF-2638-0E76-0BF6-D6A728DFA306}"/>
              </a:ext>
            </a:extLst>
          </p:cNvPr>
          <p:cNvPicPr>
            <a:picLocks noChangeAspect="1"/>
          </p:cNvPicPr>
          <p:nvPr/>
        </p:nvPicPr>
        <p:blipFill>
          <a:blip r:embed="rId3"/>
          <a:stretch>
            <a:fillRect/>
          </a:stretch>
        </p:blipFill>
        <p:spPr>
          <a:xfrm>
            <a:off x="1994915" y="1823813"/>
            <a:ext cx="8202170" cy="3210373"/>
          </a:xfrm>
          <a:prstGeom prst="rect">
            <a:avLst/>
          </a:prstGeom>
        </p:spPr>
      </p:pic>
    </p:spTree>
    <p:extLst>
      <p:ext uri="{BB962C8B-B14F-4D97-AF65-F5344CB8AC3E}">
        <p14:creationId xmlns:p14="http://schemas.microsoft.com/office/powerpoint/2010/main" val="62515482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A57DAF-1727-4845-BD2A-A164A69A7C0F}"/>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Visualization from Trajectory to Azimuth</a:t>
            </a:r>
            <a:endParaRPr lang="zh-TW" altLang="en-US" dirty="0"/>
          </a:p>
        </p:txBody>
      </p:sp>
      <p:pic>
        <p:nvPicPr>
          <p:cNvPr id="4" name="圖片 3">
            <a:extLst>
              <a:ext uri="{FF2B5EF4-FFF2-40B4-BE49-F238E27FC236}">
                <a16:creationId xmlns:a16="http://schemas.microsoft.com/office/drawing/2014/main" id="{9346020B-D04C-6178-C62F-C695F4E5BA3E}"/>
              </a:ext>
            </a:extLst>
          </p:cNvPr>
          <p:cNvPicPr>
            <a:picLocks noChangeAspect="1"/>
          </p:cNvPicPr>
          <p:nvPr/>
        </p:nvPicPr>
        <p:blipFill>
          <a:blip r:embed="rId3"/>
          <a:stretch>
            <a:fillRect/>
          </a:stretch>
        </p:blipFill>
        <p:spPr>
          <a:xfrm>
            <a:off x="3095206" y="1590418"/>
            <a:ext cx="6001588" cy="3677163"/>
          </a:xfrm>
          <a:prstGeom prst="rect">
            <a:avLst/>
          </a:prstGeom>
        </p:spPr>
      </p:pic>
    </p:spTree>
    <p:extLst>
      <p:ext uri="{BB962C8B-B14F-4D97-AF65-F5344CB8AC3E}">
        <p14:creationId xmlns:p14="http://schemas.microsoft.com/office/powerpoint/2010/main" val="31953167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A57DAF-1727-4845-BD2A-A164A69A7C0F}"/>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Visualization from Trajectory to Azimuth with Displacement</a:t>
            </a:r>
            <a:endParaRPr lang="zh-TW" altLang="en-US" dirty="0"/>
          </a:p>
        </p:txBody>
      </p:sp>
      <p:pic>
        <p:nvPicPr>
          <p:cNvPr id="5" name="圖片 4">
            <a:extLst>
              <a:ext uri="{FF2B5EF4-FFF2-40B4-BE49-F238E27FC236}">
                <a16:creationId xmlns:a16="http://schemas.microsoft.com/office/drawing/2014/main" id="{89FDA76A-2132-EBDE-BF6E-D15AAB7AFBC9}"/>
              </a:ext>
            </a:extLst>
          </p:cNvPr>
          <p:cNvPicPr>
            <a:picLocks noChangeAspect="1"/>
          </p:cNvPicPr>
          <p:nvPr/>
        </p:nvPicPr>
        <p:blipFill>
          <a:blip r:embed="rId3"/>
          <a:stretch>
            <a:fillRect/>
          </a:stretch>
        </p:blipFill>
        <p:spPr>
          <a:xfrm>
            <a:off x="49241" y="1887726"/>
            <a:ext cx="6106377" cy="3801005"/>
          </a:xfrm>
          <a:prstGeom prst="rect">
            <a:avLst/>
          </a:prstGeom>
        </p:spPr>
      </p:pic>
      <p:pic>
        <p:nvPicPr>
          <p:cNvPr id="7" name="圖片 6">
            <a:extLst>
              <a:ext uri="{FF2B5EF4-FFF2-40B4-BE49-F238E27FC236}">
                <a16:creationId xmlns:a16="http://schemas.microsoft.com/office/drawing/2014/main" id="{57C8B8ED-3752-FFE5-DDDD-AECC9412E4FF}"/>
              </a:ext>
            </a:extLst>
          </p:cNvPr>
          <p:cNvPicPr>
            <a:picLocks noChangeAspect="1"/>
          </p:cNvPicPr>
          <p:nvPr/>
        </p:nvPicPr>
        <p:blipFill>
          <a:blip r:embed="rId4"/>
          <a:stretch>
            <a:fillRect/>
          </a:stretch>
        </p:blipFill>
        <p:spPr>
          <a:xfrm>
            <a:off x="6097891" y="1972103"/>
            <a:ext cx="5963482" cy="3705742"/>
          </a:xfrm>
          <a:prstGeom prst="rect">
            <a:avLst/>
          </a:prstGeom>
        </p:spPr>
      </p:pic>
    </p:spTree>
    <p:extLst>
      <p:ext uri="{BB962C8B-B14F-4D97-AF65-F5344CB8AC3E}">
        <p14:creationId xmlns:p14="http://schemas.microsoft.com/office/powerpoint/2010/main" val="408536548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A367B3E9-9AC9-0BE2-4E2C-DA6DB3138E4B}"/>
              </a:ext>
            </a:extLst>
          </p:cNvPr>
          <p:cNvSpPr>
            <a:spLocks noGrp="1"/>
          </p:cNvSpPr>
          <p:nvPr>
            <p:ph type="sldNum" sz="quarter" idx="12"/>
          </p:nvPr>
        </p:nvSpPr>
        <p:spPr/>
        <p:txBody>
          <a:bodyPr/>
          <a:lstStyle/>
          <a:p>
            <a:fld id="{55935506-5D51-4B07-8BDD-18CEF4E05E0A}" type="slidenum">
              <a:rPr lang="zh-TW" altLang="en-US" smtClean="0"/>
              <a:t>11</a:t>
            </a:fld>
            <a:endParaRPr lang="zh-TW" altLang="en-US"/>
          </a:p>
        </p:txBody>
      </p:sp>
      <p:pic>
        <p:nvPicPr>
          <p:cNvPr id="6" name="圖片 5">
            <a:extLst>
              <a:ext uri="{FF2B5EF4-FFF2-40B4-BE49-F238E27FC236}">
                <a16:creationId xmlns:a16="http://schemas.microsoft.com/office/drawing/2014/main" id="{91DB59F3-B672-10E9-9E03-3D54DFE38765}"/>
              </a:ext>
            </a:extLst>
          </p:cNvPr>
          <p:cNvPicPr>
            <a:picLocks noChangeAspect="1"/>
          </p:cNvPicPr>
          <p:nvPr/>
        </p:nvPicPr>
        <p:blipFill>
          <a:blip r:embed="rId2"/>
          <a:stretch>
            <a:fillRect/>
          </a:stretch>
        </p:blipFill>
        <p:spPr>
          <a:xfrm>
            <a:off x="87075" y="2038787"/>
            <a:ext cx="6039693" cy="3572374"/>
          </a:xfrm>
          <a:prstGeom prst="rect">
            <a:avLst/>
          </a:prstGeom>
        </p:spPr>
      </p:pic>
      <p:pic>
        <p:nvPicPr>
          <p:cNvPr id="7" name="圖片 6">
            <a:extLst>
              <a:ext uri="{FF2B5EF4-FFF2-40B4-BE49-F238E27FC236}">
                <a16:creationId xmlns:a16="http://schemas.microsoft.com/office/drawing/2014/main" id="{BB0761CE-DAF3-1567-FB45-694FA0BAC123}"/>
              </a:ext>
            </a:extLst>
          </p:cNvPr>
          <p:cNvPicPr>
            <a:picLocks noChangeAspect="1"/>
          </p:cNvPicPr>
          <p:nvPr/>
        </p:nvPicPr>
        <p:blipFill>
          <a:blip r:embed="rId3"/>
          <a:stretch>
            <a:fillRect/>
          </a:stretch>
        </p:blipFill>
        <p:spPr>
          <a:xfrm>
            <a:off x="6097891" y="1972103"/>
            <a:ext cx="5963482" cy="3705742"/>
          </a:xfrm>
          <a:prstGeom prst="rect">
            <a:avLst/>
          </a:prstGeom>
        </p:spPr>
      </p:pic>
    </p:spTree>
    <p:extLst>
      <p:ext uri="{BB962C8B-B14F-4D97-AF65-F5344CB8AC3E}">
        <p14:creationId xmlns:p14="http://schemas.microsoft.com/office/powerpoint/2010/main" val="759691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BD965A5D-E030-552F-737B-3A720B5CE44F}"/>
              </a:ext>
            </a:extLst>
          </p:cNvPr>
          <p:cNvSpPr>
            <a:spLocks noGrp="1"/>
          </p:cNvSpPr>
          <p:nvPr>
            <p:ph type="sldNum" sz="quarter" idx="12"/>
          </p:nvPr>
        </p:nvSpPr>
        <p:spPr>
          <a:xfrm>
            <a:off x="8610600" y="6225719"/>
            <a:ext cx="2743200" cy="365125"/>
          </a:xfrm>
        </p:spPr>
        <p:txBody>
          <a:bodyPr/>
          <a:lstStyle/>
          <a:p>
            <a:fld id="{55935506-5D51-4B07-8BDD-18CEF4E05E0A}" type="slidenum">
              <a:rPr lang="zh-TW" altLang="en-US" smtClean="0"/>
              <a:t>12</a:t>
            </a:fld>
            <a:endParaRPr lang="zh-TW" altLang="en-US"/>
          </a:p>
        </p:txBody>
      </p:sp>
      <p:pic>
        <p:nvPicPr>
          <p:cNvPr id="6" name="圖片 5">
            <a:extLst>
              <a:ext uri="{FF2B5EF4-FFF2-40B4-BE49-F238E27FC236}">
                <a16:creationId xmlns:a16="http://schemas.microsoft.com/office/drawing/2014/main" id="{88D5900C-C9B4-3C50-072C-111547F03E85}"/>
              </a:ext>
            </a:extLst>
          </p:cNvPr>
          <p:cNvPicPr>
            <a:picLocks noChangeAspect="1"/>
          </p:cNvPicPr>
          <p:nvPr/>
        </p:nvPicPr>
        <p:blipFill>
          <a:blip r:embed="rId2"/>
          <a:stretch>
            <a:fillRect/>
          </a:stretch>
        </p:blipFill>
        <p:spPr>
          <a:xfrm>
            <a:off x="113465" y="2015643"/>
            <a:ext cx="5934903" cy="3610479"/>
          </a:xfrm>
          <a:prstGeom prst="rect">
            <a:avLst/>
          </a:prstGeom>
        </p:spPr>
      </p:pic>
      <p:pic>
        <p:nvPicPr>
          <p:cNvPr id="8" name="圖片 7">
            <a:extLst>
              <a:ext uri="{FF2B5EF4-FFF2-40B4-BE49-F238E27FC236}">
                <a16:creationId xmlns:a16="http://schemas.microsoft.com/office/drawing/2014/main" id="{82A32187-F6C6-E205-68D6-8F180D05C18A}"/>
              </a:ext>
            </a:extLst>
          </p:cNvPr>
          <p:cNvPicPr>
            <a:picLocks noChangeAspect="1"/>
          </p:cNvPicPr>
          <p:nvPr/>
        </p:nvPicPr>
        <p:blipFill>
          <a:blip r:embed="rId3"/>
          <a:stretch>
            <a:fillRect/>
          </a:stretch>
        </p:blipFill>
        <p:spPr>
          <a:xfrm>
            <a:off x="6074228" y="1982985"/>
            <a:ext cx="5982535" cy="3648584"/>
          </a:xfrm>
          <a:prstGeom prst="rect">
            <a:avLst/>
          </a:prstGeom>
        </p:spPr>
      </p:pic>
      <p:pic>
        <p:nvPicPr>
          <p:cNvPr id="12" name="圖片 11">
            <a:extLst>
              <a:ext uri="{FF2B5EF4-FFF2-40B4-BE49-F238E27FC236}">
                <a16:creationId xmlns:a16="http://schemas.microsoft.com/office/drawing/2014/main" id="{4208292B-658F-534A-D27A-07D84B13315E}"/>
              </a:ext>
            </a:extLst>
          </p:cNvPr>
          <p:cNvPicPr>
            <a:picLocks noChangeAspect="1"/>
          </p:cNvPicPr>
          <p:nvPr/>
        </p:nvPicPr>
        <p:blipFill>
          <a:blip r:embed="rId4"/>
          <a:stretch>
            <a:fillRect/>
          </a:stretch>
        </p:blipFill>
        <p:spPr>
          <a:xfrm>
            <a:off x="3213706" y="910781"/>
            <a:ext cx="5764587" cy="631299"/>
          </a:xfrm>
          <a:prstGeom prst="rect">
            <a:avLst/>
          </a:prstGeom>
        </p:spPr>
      </p:pic>
    </p:spTree>
    <p:extLst>
      <p:ext uri="{BB962C8B-B14F-4D97-AF65-F5344CB8AC3E}">
        <p14:creationId xmlns:p14="http://schemas.microsoft.com/office/powerpoint/2010/main" val="2595945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A57DAF-1727-4845-BD2A-A164A69A7C0F}"/>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Experimental Results</a:t>
            </a:r>
            <a:endParaRPr lang="zh-TW" altLang="en-US" dirty="0"/>
          </a:p>
        </p:txBody>
      </p:sp>
      <p:pic>
        <p:nvPicPr>
          <p:cNvPr id="7" name="圖片 6">
            <a:extLst>
              <a:ext uri="{FF2B5EF4-FFF2-40B4-BE49-F238E27FC236}">
                <a16:creationId xmlns:a16="http://schemas.microsoft.com/office/drawing/2014/main" id="{428B3CDD-3288-7E2E-9180-86939E43B889}"/>
              </a:ext>
            </a:extLst>
          </p:cNvPr>
          <p:cNvPicPr>
            <a:picLocks noChangeAspect="1"/>
          </p:cNvPicPr>
          <p:nvPr/>
        </p:nvPicPr>
        <p:blipFill>
          <a:blip r:embed="rId3"/>
          <a:stretch>
            <a:fillRect/>
          </a:stretch>
        </p:blipFill>
        <p:spPr>
          <a:xfrm>
            <a:off x="2319841" y="1690688"/>
            <a:ext cx="7552317" cy="4031374"/>
          </a:xfrm>
          <a:prstGeom prst="rect">
            <a:avLst/>
          </a:prstGeom>
        </p:spPr>
      </p:pic>
    </p:spTree>
    <p:extLst>
      <p:ext uri="{BB962C8B-B14F-4D97-AF65-F5344CB8AC3E}">
        <p14:creationId xmlns:p14="http://schemas.microsoft.com/office/powerpoint/2010/main" val="176499361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A57DAF-1727-4845-BD2A-A164A69A7C0F}"/>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Conclusion</a:t>
            </a:r>
            <a:endParaRPr lang="zh-TW" altLang="en-US" dirty="0"/>
          </a:p>
        </p:txBody>
      </p:sp>
      <p:sp>
        <p:nvSpPr>
          <p:cNvPr id="3" name="內容版面配置區 2">
            <a:extLst>
              <a:ext uri="{FF2B5EF4-FFF2-40B4-BE49-F238E27FC236}">
                <a16:creationId xmlns:a16="http://schemas.microsoft.com/office/drawing/2014/main" id="{3D6AEC88-211A-4C79-873B-599FBDE52DDC}"/>
              </a:ext>
            </a:extLst>
          </p:cNvPr>
          <p:cNvSpPr>
            <a:spLocks noGrp="1"/>
          </p:cNvSpPr>
          <p:nvPr>
            <p:ph idx="1"/>
          </p:nvPr>
        </p:nvSpPr>
        <p:spPr/>
        <p:txBody>
          <a:bodyPr>
            <a:normAutofit/>
          </a:bodyPr>
          <a:lstStyle/>
          <a:p>
            <a:r>
              <a:rPr lang="en-US" altLang="zh-TW" sz="2400" dirty="0">
                <a:solidFill>
                  <a:srgbClr val="333333"/>
                </a:solidFill>
                <a:latin typeface="Times New Roman" panose="02020603050405020304" pitchFamily="18" charset="0"/>
                <a:cs typeface="Times New Roman" panose="02020603050405020304" pitchFamily="18" charset="0"/>
              </a:rPr>
              <a:t>The proposed algorithm take consideration of the azimuth and displacement from the original trajectory.</a:t>
            </a:r>
          </a:p>
          <a:p>
            <a:r>
              <a:rPr lang="en-US" altLang="zh-TW" sz="2400" dirty="0">
                <a:solidFill>
                  <a:srgbClr val="333333"/>
                </a:solidFill>
                <a:latin typeface="Times New Roman" panose="02020603050405020304" pitchFamily="18" charset="0"/>
                <a:cs typeface="Times New Roman" panose="02020603050405020304" pitchFamily="18" charset="0"/>
              </a:rPr>
              <a:t>It has an average accuracy 85%, which is better than the average accuracy 70% achieved with previous algorithm.</a:t>
            </a:r>
          </a:p>
        </p:txBody>
      </p:sp>
    </p:spTree>
    <p:extLst>
      <p:ext uri="{BB962C8B-B14F-4D97-AF65-F5344CB8AC3E}">
        <p14:creationId xmlns:p14="http://schemas.microsoft.com/office/powerpoint/2010/main" val="180262219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2958</TotalTime>
  <Words>339</Words>
  <Application>Microsoft Office PowerPoint</Application>
  <PresentationFormat>寬螢幕</PresentationFormat>
  <Paragraphs>34</Paragraphs>
  <Slides>14</Slides>
  <Notes>7</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14</vt:i4>
      </vt:variant>
    </vt:vector>
  </HeadingPairs>
  <TitlesOfParts>
    <vt:vector size="19" baseType="lpstr">
      <vt:lpstr>Arial</vt:lpstr>
      <vt:lpstr>Calibri</vt:lpstr>
      <vt:lpstr>Calibri Light</vt:lpstr>
      <vt:lpstr>Times New Roman</vt:lpstr>
      <vt:lpstr>Office 佈景主題</vt:lpstr>
      <vt:lpstr>An Improved Algorithm with Azimuth Clustering for Detecting Turning Regions on GPS Trajectories</vt:lpstr>
      <vt:lpstr>Abstract</vt:lpstr>
      <vt:lpstr>GPS Trajectories</vt:lpstr>
      <vt:lpstr>Turning Region Detection</vt:lpstr>
      <vt:lpstr>Azimuth</vt:lpstr>
      <vt:lpstr>Working Direction and Displacement</vt:lpstr>
      <vt:lpstr>TRD Algorithm</vt:lpstr>
      <vt:lpstr>Pivotal Direction Detection</vt:lpstr>
      <vt:lpstr>Visualization from Trajectory to Azimuth</vt:lpstr>
      <vt:lpstr>Visualization from Trajectory to Azimuth with Displacement</vt:lpstr>
      <vt:lpstr>PowerPoint 簡報</vt:lpstr>
      <vt:lpstr>PowerPoint 簡報</vt:lpstr>
      <vt:lpstr>Experimental Results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Local Alignment Algorithm for Multiple Sequences on Heterogeneous Cluster Systems</dc:title>
  <dc:creator>師老爸</dc:creator>
  <cp:lastModifiedBy>鈺宸 林</cp:lastModifiedBy>
  <cp:revision>80</cp:revision>
  <dcterms:created xsi:type="dcterms:W3CDTF">2022-11-14T21:21:39Z</dcterms:created>
  <dcterms:modified xsi:type="dcterms:W3CDTF">2023-11-14T10:38:49Z</dcterms:modified>
</cp:coreProperties>
</file>