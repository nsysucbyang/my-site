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66" r:id="rId4"/>
    <p:sldId id="267" r:id="rId5"/>
    <p:sldId id="322" r:id="rId6"/>
    <p:sldId id="323" r:id="rId7"/>
    <p:sldId id="324" r:id="rId8"/>
    <p:sldId id="327" r:id="rId9"/>
    <p:sldId id="328" r:id="rId10"/>
    <p:sldId id="338" r:id="rId11"/>
    <p:sldId id="329" r:id="rId12"/>
    <p:sldId id="330" r:id="rId13"/>
    <p:sldId id="332" r:id="rId14"/>
    <p:sldId id="333" r:id="rId15"/>
    <p:sldId id="334" r:id="rId16"/>
    <p:sldId id="335" r:id="rId17"/>
    <p:sldId id="336" r:id="rId18"/>
    <p:sldId id="337" r:id="rId19"/>
    <p:sldId id="33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95728"/>
  </p:normalViewPr>
  <p:slideViewPr>
    <p:cSldViewPr snapToGrid="0" snapToObjects="1">
      <p:cViewPr varScale="1">
        <p:scale>
          <a:sx n="61" d="100"/>
          <a:sy n="61" d="100"/>
        </p:scale>
        <p:origin x="8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組合數學與計算理論研討會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3143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9788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1168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0249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3250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76110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6224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830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276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4706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70810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3880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62997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20168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7139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323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84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2023/11/14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1.png"/><Relationship Id="rId4" Type="http://schemas.openxmlformats.org/officeDocument/2006/relationships/image" Target="../media/image3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Almost Wave Subsequence Problem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Shin-Cheng Lin,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-Si Huang and Chang-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CMCT2023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Nov.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14,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2023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Abstract(1/2)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itchFamily="2" charset="0"/>
              </a:rPr>
              <a:t>In this paper, we first define a new longest almost wave subsequence (</a:t>
            </a:r>
            <a:r>
              <a:rPr lang="en-US" altLang="zh-TW" sz="2400" dirty="0" err="1">
                <a:latin typeface="Times" pitchFamily="2" charset="0"/>
              </a:rPr>
              <a:t>LaWS</a:t>
            </a:r>
            <a:r>
              <a:rPr lang="en-US" altLang="zh-TW" sz="2400" dirty="0">
                <a:latin typeface="Times" pitchFamily="2" charset="0"/>
              </a:rPr>
              <a:t>) problem by combining the longest almost increasing subsequence (</a:t>
            </a:r>
            <a:r>
              <a:rPr lang="en-US" altLang="zh-TW" sz="2400" dirty="0" err="1">
                <a:latin typeface="Times" pitchFamily="2" charset="0"/>
              </a:rPr>
              <a:t>LaIS</a:t>
            </a:r>
            <a:r>
              <a:rPr lang="en-US" altLang="zh-TW" sz="2400" dirty="0">
                <a:latin typeface="Times" pitchFamily="2" charset="0"/>
              </a:rPr>
              <a:t>) problem (</a:t>
            </a:r>
            <a:r>
              <a:rPr lang="en-US" altLang="zh-TW" sz="2400" dirty="0" err="1">
                <a:latin typeface="Times" pitchFamily="2" charset="0"/>
              </a:rPr>
              <a:t>Elmasry</a:t>
            </a:r>
            <a:r>
              <a:rPr lang="en-US" altLang="zh-TW" sz="2400" dirty="0">
                <a:latin typeface="Times" pitchFamily="2" charset="0"/>
              </a:rPr>
              <a:t>, 2010) and the longest wave subsequence (LWS) problem (Chen 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itchFamily="2" charset="0"/>
              </a:rPr>
              <a:t>Yang, 2020). The three problems are all generalized variants of the longest increasing subsequence (LIS) problem. </a:t>
            </a:r>
            <a:endParaRPr lang="en" altLang="zh-TW" sz="2400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Abstract(2/2)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" pitchFamily="2" charset="0"/>
                  </a:rPr>
                  <a:t>The </a:t>
                </a:r>
                <a:r>
                  <a:rPr lang="en-US" altLang="zh-TW" sz="2400" dirty="0" err="1">
                    <a:latin typeface="Times" pitchFamily="2" charset="0"/>
                  </a:rPr>
                  <a:t>LaWS</a:t>
                </a:r>
                <a:r>
                  <a:rPr lang="en-US" altLang="zh-TW" sz="2400" dirty="0">
                    <a:latin typeface="Times" pitchFamily="2" charset="0"/>
                  </a:rPr>
                  <a:t> problem has two subproblems, </a:t>
                </a:r>
                <a:r>
                  <a:rPr lang="en-US" altLang="zh-TW" sz="2400" dirty="0" err="1">
                    <a:latin typeface="Times" pitchFamily="2" charset="0"/>
                  </a:rPr>
                  <a:t>LaWSt</a:t>
                </a:r>
                <a:r>
                  <a:rPr lang="en-US" altLang="zh-TW" sz="2400" dirty="0">
                    <a:latin typeface="Times" pitchFamily="2" charset="0"/>
                  </a:rPr>
                  <a:t> and </a:t>
                </a:r>
                <a:r>
                  <a:rPr lang="en-US" altLang="zh-TW" sz="2400" dirty="0" err="1">
                    <a:latin typeface="Times" pitchFamily="2" charset="0"/>
                  </a:rPr>
                  <a:t>LaWSr</a:t>
                </a:r>
                <a:r>
                  <a:rPr lang="en-US" altLang="zh-TW" sz="2400" dirty="0">
                    <a:latin typeface="Times" pitchFamily="2" charset="0"/>
                  </a:rPr>
                  <a:t>. Given a sequence </a:t>
                </a:r>
                <a:r>
                  <a:rPr lang="en-US" altLang="zh-TW" sz="2400" i="1" dirty="0">
                    <a:latin typeface="Times" pitchFamily="2" charset="0"/>
                  </a:rPr>
                  <a:t>A</a:t>
                </a:r>
                <a:r>
                  <a:rPr lang="en-US" altLang="zh-TW" sz="2400" dirty="0">
                    <a:latin typeface="Times" pitchFamily="2" charset="0"/>
                  </a:rPr>
                  <a:t>, a tolerance constant </a:t>
                </a:r>
                <a:r>
                  <a:rPr lang="en-US" altLang="zh-TW" sz="2400" i="1" dirty="0">
                    <a:latin typeface="Times" pitchFamily="2" charset="0"/>
                  </a:rPr>
                  <a:t>c</a:t>
                </a:r>
                <a:r>
                  <a:rPr lang="en-US" altLang="zh-TW" sz="2400" dirty="0">
                    <a:latin typeface="Times" pitchFamily="2" charset="0"/>
                  </a:rPr>
                  <a:t>, a trend sequence </a:t>
                </a:r>
                <a:r>
                  <a:rPr lang="en-US" altLang="zh-TW" sz="2400" i="1" dirty="0">
                    <a:latin typeface="Times" pitchFamily="2" charset="0"/>
                  </a:rPr>
                  <a:t>T</a:t>
                </a:r>
                <a:r>
                  <a:rPr lang="en-US" altLang="zh-TW" sz="2400" dirty="0">
                    <a:latin typeface="Times" pitchFamily="2" charset="0"/>
                  </a:rPr>
                  <a:t> and a constant </a:t>
                </a:r>
                <a:r>
                  <a:rPr lang="en-US" altLang="zh-TW" sz="2400" i="1" dirty="0">
                    <a:latin typeface="Times" pitchFamily="2" charset="0"/>
                  </a:rPr>
                  <a:t>r</a:t>
                </a:r>
                <a:r>
                  <a:rPr lang="en-US" altLang="zh-TW" sz="2400" dirty="0">
                    <a:latin typeface="Times" pitchFamily="2" charset="0"/>
                  </a:rPr>
                  <a:t>, the </a:t>
                </a:r>
                <a:r>
                  <a:rPr lang="en-US" altLang="zh-TW" sz="2400" dirty="0" err="1">
                    <a:latin typeface="Times" pitchFamily="2" charset="0"/>
                  </a:rPr>
                  <a:t>LaWSt</a:t>
                </a:r>
                <a:r>
                  <a:rPr lang="en-US" altLang="zh-TW" sz="2400" dirty="0">
                    <a:latin typeface="Times" pitchFamily="2" charset="0"/>
                  </a:rPr>
                  <a:t> problem aims to find the longest subsequence of </a:t>
                </a:r>
                <a:r>
                  <a:rPr lang="en-US" altLang="zh-TW" sz="2400" i="1" dirty="0">
                    <a:latin typeface="Times" pitchFamily="2" charset="0"/>
                  </a:rPr>
                  <a:t>A</a:t>
                </a:r>
                <a:r>
                  <a:rPr lang="en-US" altLang="zh-TW" sz="2400" dirty="0">
                    <a:latin typeface="Times" pitchFamily="2" charset="0"/>
                  </a:rPr>
                  <a:t> that matches the prefix of the trend sequence </a:t>
                </a:r>
                <a:r>
                  <a:rPr lang="en-US" altLang="zh-TW" sz="2400" i="1" dirty="0">
                    <a:latin typeface="Times" pitchFamily="2" charset="0"/>
                  </a:rPr>
                  <a:t>T</a:t>
                </a:r>
                <a:r>
                  <a:rPr lang="en-US" altLang="zh-TW" sz="2400" dirty="0">
                    <a:latin typeface="Times" pitchFamily="2" charset="0"/>
                  </a:rPr>
                  <a:t>. The </a:t>
                </a:r>
                <a:r>
                  <a:rPr lang="en-US" altLang="zh-TW" sz="2400" dirty="0" err="1">
                    <a:latin typeface="Times" pitchFamily="2" charset="0"/>
                  </a:rPr>
                  <a:t>LaWSr</a:t>
                </a:r>
                <a:r>
                  <a:rPr lang="en-US" altLang="zh-TW" sz="2400" dirty="0">
                    <a:latin typeface="Times" pitchFamily="2" charset="0"/>
                  </a:rPr>
                  <a:t> problem aims to find the longest subsequence of </a:t>
                </a:r>
                <a:r>
                  <a:rPr lang="en-US" altLang="zh-TW" sz="2400" i="1" dirty="0">
                    <a:latin typeface="Times" pitchFamily="2" charset="0"/>
                  </a:rPr>
                  <a:t>A</a:t>
                </a:r>
                <a:r>
                  <a:rPr lang="en-US" altLang="zh-TW" sz="2400" dirty="0">
                    <a:latin typeface="Times" pitchFamily="2" charset="0"/>
                  </a:rPr>
                  <a:t> within </a:t>
                </a:r>
                <a:r>
                  <a:rPr lang="en-US" altLang="zh-TW" sz="2400" i="1" dirty="0">
                    <a:latin typeface="Times" pitchFamily="2" charset="0"/>
                  </a:rPr>
                  <a:t>r</a:t>
                </a:r>
                <a:r>
                  <a:rPr lang="en-US" altLang="zh-TW" sz="2400" dirty="0">
                    <a:latin typeface="Times" pitchFamily="2" charset="0"/>
                  </a:rPr>
                  <a:t> segments, alternating between almost increasing and almost decreasing. The time and space complexities of our </a:t>
                </a:r>
                <a:r>
                  <a:rPr lang="en-US" altLang="zh-TW" sz="2400" dirty="0" err="1">
                    <a:latin typeface="Times" pitchFamily="2" charset="0"/>
                  </a:rPr>
                  <a:t>LaWSt</a:t>
                </a:r>
                <a:r>
                  <a:rPr lang="en-US" altLang="zh-TW" sz="2400" dirty="0">
                    <a:latin typeface="Times" pitchFamily="2" charset="0"/>
                  </a:rPr>
                  <a:t> algorithm are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func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and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), respectively, where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denotes the length of the given sequence, and </a:t>
                </a:r>
                <a:r>
                  <a:rPr lang="en-US" altLang="zh-TW" sz="2400" i="1" dirty="0">
                    <a:latin typeface="Times" pitchFamily="2" charset="0"/>
                  </a:rPr>
                  <a:t>l</a:t>
                </a:r>
                <a:r>
                  <a:rPr lang="en-US" altLang="zh-TW" sz="2400" dirty="0">
                    <a:latin typeface="Times" pitchFamily="2" charset="0"/>
                  </a:rPr>
                  <a:t> denotes the answer length. Our algorithm solves the </a:t>
                </a:r>
                <a:r>
                  <a:rPr lang="en-US" altLang="zh-TW" sz="2400" dirty="0" err="1">
                    <a:latin typeface="Times" pitchFamily="2" charset="0"/>
                  </a:rPr>
                  <a:t>LaWSr</a:t>
                </a:r>
                <a:r>
                  <a:rPr lang="en-US" altLang="zh-TW" sz="2400" dirty="0">
                    <a:latin typeface="Times" pitchFamily="2" charset="0"/>
                  </a:rPr>
                  <a:t> problem in O(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func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time and O(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space.</a:t>
                </a:r>
                <a:endParaRPr lang="en" altLang="zh-TW" sz="2400" dirty="0">
                  <a:latin typeface="Times" pitchFamily="2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  <a:blipFill>
                <a:blip r:embed="rId2"/>
                <a:stretch>
                  <a:fillRect l="-928" r="-870" b="-2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063C2-B176-C143-AD15-5E06A3E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413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Longest Almost Wave Subsequence with Trend (</a:t>
            </a:r>
            <a:r>
              <a:rPr kumimoji="1" lang="en-US" altLang="zh-TW" dirty="0" err="1">
                <a:latin typeface="Times" pitchFamily="2" charset="0"/>
              </a:rPr>
              <a:t>LaWSt</a:t>
            </a:r>
            <a:r>
              <a:rPr kumimoji="1" lang="en-US" altLang="zh-TW" dirty="0">
                <a:latin typeface="Times" pitchFamily="2" charset="0"/>
              </a:rPr>
              <a:t>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4BF6F8-C9F3-4334-9D8F-A9EBEAB4F001}"/>
                  </a:ext>
                </a:extLst>
              </p:cNvPr>
              <p:cNvSpPr txBox="1"/>
              <p:nvPr/>
            </p:nvSpPr>
            <p:spPr>
              <a:xfrm>
                <a:off x="838200" y="2155372"/>
                <a:ext cx="58646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zh-TW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2, 13, 1, 5, 4, 3, 6,14, 15, 14, 16, 15, 17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4BF6F8-C9F3-4334-9D8F-A9EBEAB4F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5372"/>
                <a:ext cx="5864679" cy="369332"/>
              </a:xfrm>
              <a:prstGeom prst="rect">
                <a:avLst/>
              </a:prstGeom>
              <a:blipFill>
                <a:blip r:embed="rId3"/>
                <a:stretch>
                  <a:fillRect l="-187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195" y="3408676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5" y="3408676"/>
                <a:ext cx="5712279" cy="369332"/>
              </a:xfrm>
              <a:prstGeom prst="rect">
                <a:avLst/>
              </a:prstGeom>
              <a:blipFill>
                <a:blip r:embed="rId4"/>
                <a:stretch>
                  <a:fillRect l="-1279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135AF8C-4C17-456F-8EDF-E61DEAE61E42}"/>
                  </a:ext>
                </a:extLst>
              </p:cNvPr>
              <p:cNvSpPr txBox="1"/>
              <p:nvPr/>
            </p:nvSpPr>
            <p:spPr>
              <a:xfrm>
                <a:off x="838195" y="2784683"/>
                <a:ext cx="58646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 1, 1,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0, 0, 1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1, 1, 1, 1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135AF8C-4C17-456F-8EDF-E61DEAE61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5" y="2784683"/>
                <a:ext cx="5864679" cy="369332"/>
              </a:xfrm>
              <a:prstGeom prst="rect">
                <a:avLst/>
              </a:prstGeom>
              <a:blipFill>
                <a:blip r:embed="rId5"/>
                <a:stretch>
                  <a:fillRect l="-1765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47074AF-15D1-475E-AE7F-06CBDF51BB21}"/>
                  </a:ext>
                </a:extLst>
              </p:cNvPr>
              <p:cNvSpPr txBox="1"/>
              <p:nvPr/>
            </p:nvSpPr>
            <p:spPr>
              <a:xfrm>
                <a:off x="838194" y="4032669"/>
                <a:ext cx="79692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400" b="0" dirty="0">
                    <a:latin typeface="Times" panose="02020603050405020304" pitchFamily="18" charset="0"/>
                    <a:cs typeface="Times" panose="02020603050405020304" pitchFamily="18" charset="0"/>
                  </a:rPr>
                  <a:t>The </a:t>
                </a:r>
                <a:r>
                  <a:rPr lang="en-US" altLang="zh-TW" sz="2400" b="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b="0" dirty="0">
                    <a:latin typeface="Times" panose="02020603050405020304" pitchFamily="18" charset="0"/>
                    <a:cs typeface="Times" panose="02020603050405020304" pitchFamily="18" charset="0"/>
                  </a:rPr>
                  <a:t> sequence 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2, 1, 5, 14, 15, 14, 16, 15, 17</m:t>
                        </m:r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47074AF-15D1-475E-AE7F-06CBDF51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4" y="4032669"/>
                <a:ext cx="7969255" cy="369332"/>
              </a:xfrm>
              <a:prstGeom prst="rect">
                <a:avLst/>
              </a:prstGeom>
              <a:blipFill>
                <a:blip r:embed="rId6"/>
                <a:stretch>
                  <a:fillRect l="-2294" t="-28333" b="-4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0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5165309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5165309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4D228BB0-8DCA-4509-8337-01EF30C8C25E}"/>
              </a:ext>
            </a:extLst>
          </p:cNvPr>
          <p:cNvSpPr/>
          <p:nvPr/>
        </p:nvSpPr>
        <p:spPr>
          <a:xfrm>
            <a:off x="4702629" y="349790"/>
            <a:ext cx="3069771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754458E-F987-422E-B5B1-4B70EAE8C09F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3110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754458E-F987-422E-B5B1-4B70EAE8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3110147" cy="461665"/>
              </a:xfrm>
              <a:prstGeom prst="rect">
                <a:avLst/>
              </a:prstGeom>
              <a:blipFill>
                <a:blip r:embed="rId6"/>
                <a:stretch>
                  <a:fillRect l="-3137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49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5460475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5460475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885A1F24-B2C8-4BB8-B216-3F0829576E48}"/>
              </a:ext>
            </a:extLst>
          </p:cNvPr>
          <p:cNvSpPr/>
          <p:nvPr/>
        </p:nvSpPr>
        <p:spPr>
          <a:xfrm>
            <a:off x="4702629" y="349790"/>
            <a:ext cx="3069771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17ED3A1-D7FB-4869-8A01-011F6C7BF61D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3563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2, 13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17ED3A1-D7FB-4869-8A01-011F6C7B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3563796" cy="461665"/>
              </a:xfrm>
              <a:prstGeom prst="rect">
                <a:avLst/>
              </a:prstGeom>
              <a:blipFill>
                <a:blip r:embed="rId6"/>
                <a:stretch>
                  <a:fillRect l="-2740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30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752960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752960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A780B23-4C42-49BE-ABF6-C07405FD3D90}"/>
              </a:ext>
            </a:extLst>
          </p:cNvPr>
          <p:cNvSpPr/>
          <p:nvPr/>
        </p:nvSpPr>
        <p:spPr>
          <a:xfrm>
            <a:off x="4702629" y="349790"/>
            <a:ext cx="3069771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/>
              <p:nvPr/>
            </p:nvSpPr>
            <p:spPr>
              <a:xfrm>
                <a:off x="838200" y="2139732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13−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=10&gt;1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9732"/>
                <a:ext cx="5712279" cy="369332"/>
              </a:xfrm>
              <a:prstGeom prst="rect">
                <a:avLst/>
              </a:prstGeom>
              <a:blipFill>
                <a:blip r:embed="rId5"/>
                <a:stretch>
                  <a:fillRect l="-192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FEC065-17AF-4B8A-8AF2-290C65ED98B2}"/>
                  </a:ext>
                </a:extLst>
              </p:cNvPr>
              <p:cNvSpPr txBox="1"/>
              <p:nvPr/>
            </p:nvSpPr>
            <p:spPr>
              <a:xfrm>
                <a:off x="838205" y="2658804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=−1&lt;1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FEC065-17AF-4B8A-8AF2-290C65ED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5" y="2658804"/>
                <a:ext cx="5712279" cy="369332"/>
              </a:xfrm>
              <a:prstGeom prst="rect">
                <a:avLst/>
              </a:prstGeom>
              <a:blipFill>
                <a:blip r:embed="rId6"/>
                <a:stretch>
                  <a:fillRect l="-192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3393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3393878" cy="461665"/>
              </a:xfrm>
              <a:prstGeom prst="rect">
                <a:avLst/>
              </a:prstGeom>
              <a:blipFill>
                <a:blip r:embed="rId8"/>
                <a:stretch>
                  <a:fillRect l="-2878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669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07718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07718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A780B23-4C42-49BE-ABF6-C07405FD3D90}"/>
              </a:ext>
            </a:extLst>
          </p:cNvPr>
          <p:cNvSpPr/>
          <p:nvPr/>
        </p:nvSpPr>
        <p:spPr>
          <a:xfrm>
            <a:off x="4702629" y="349790"/>
            <a:ext cx="3069771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3677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2, 1, 5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3677610" cy="461665"/>
              </a:xfrm>
              <a:prstGeom prst="rect">
                <a:avLst/>
              </a:prstGeom>
              <a:blipFill>
                <a:blip r:embed="rId8"/>
                <a:stretch>
                  <a:fillRect l="-265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10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6926202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6926202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A780B23-4C42-49BE-ABF6-C07405FD3D90}"/>
              </a:ext>
            </a:extLst>
          </p:cNvPr>
          <p:cNvSpPr/>
          <p:nvPr/>
        </p:nvSpPr>
        <p:spPr>
          <a:xfrm>
            <a:off x="4702629" y="349790"/>
            <a:ext cx="3069771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/>
              <p:nvPr/>
            </p:nvSpPr>
            <p:spPr>
              <a:xfrm>
                <a:off x="838195" y="2155767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5−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=2&lt;4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5" y="2155767"/>
                <a:ext cx="5712279" cy="369332"/>
              </a:xfrm>
              <a:prstGeom prst="rect">
                <a:avLst/>
              </a:prstGeom>
              <a:blipFill>
                <a:blip r:embed="rId5"/>
                <a:stretch>
                  <a:fillRect l="-1919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39613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2, 1, 5, 4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3961341" cy="461665"/>
              </a:xfrm>
              <a:prstGeom prst="rect">
                <a:avLst/>
              </a:prstGeom>
              <a:blipFill>
                <a:blip r:embed="rId8"/>
                <a:stretch>
                  <a:fillRect l="-2465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63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A780B23-4C42-49BE-ABF6-C07405FD3D90}"/>
              </a:ext>
            </a:extLst>
          </p:cNvPr>
          <p:cNvSpPr/>
          <p:nvPr/>
        </p:nvSpPr>
        <p:spPr>
          <a:xfrm>
            <a:off x="7013210" y="355293"/>
            <a:ext cx="3880932" cy="584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/>
              <p:nvPr/>
            </p:nvSpPr>
            <p:spPr>
              <a:xfrm>
                <a:off x="838190" y="2158187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3+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=6=6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68E632A-9850-420E-BFE5-12E31CAD0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0" y="2158187"/>
                <a:ext cx="5712279" cy="369332"/>
              </a:xfrm>
              <a:prstGeom prst="rect">
                <a:avLst/>
              </a:prstGeom>
              <a:blipFill>
                <a:blip r:embed="rId5"/>
                <a:stretch>
                  <a:fillRect l="-1812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FEC065-17AF-4B8A-8AF2-290C65ED98B2}"/>
                  </a:ext>
                </a:extLst>
              </p:cNvPr>
              <p:cNvSpPr txBox="1"/>
              <p:nvPr/>
            </p:nvSpPr>
            <p:spPr>
              <a:xfrm>
                <a:off x="838195" y="2677259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=7&gt;6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0FEC065-17AF-4B8A-8AF2-290C65ED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5" y="2677259"/>
                <a:ext cx="5712279" cy="369332"/>
              </a:xfrm>
              <a:prstGeom prst="rect">
                <a:avLst/>
              </a:prstGeom>
              <a:blipFill>
                <a:blip r:embed="rId6"/>
                <a:stretch>
                  <a:fillRect l="-1812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42450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current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2, 1, 5, 4, 6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4245073" cy="461665"/>
              </a:xfrm>
              <a:prstGeom prst="rect">
                <a:avLst/>
              </a:prstGeom>
              <a:blipFill>
                <a:blip r:embed="rId8"/>
                <a:stretch>
                  <a:fillRect l="-2299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4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LaWSt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212930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9408C3E-59DC-4FE7-8939-F52EC2C650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2212930"/>
                  </p:ext>
                </p:extLst>
              </p:nvPr>
            </p:nvGraphicFramePr>
            <p:xfrm>
              <a:off x="3136492" y="349790"/>
              <a:ext cx="8541775" cy="5831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525">
                      <a:extLst>
                        <a:ext uri="{9D8B030D-6E8A-4147-A177-3AD203B41FA5}">
                          <a16:colId xmlns:a16="http://schemas.microsoft.com/office/drawing/2014/main" val="1291324360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5758935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9922173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05271346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674665597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2897945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4052575703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125157927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2844791919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7532425"/>
                        </a:ext>
                      </a:extLst>
                    </a:gridCol>
                    <a:gridCol w="776525">
                      <a:extLst>
                        <a:ext uri="{9D8B030D-6E8A-4147-A177-3AD203B41FA5}">
                          <a16:colId xmlns:a16="http://schemas.microsoft.com/office/drawing/2014/main" val="366490524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T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732894"/>
                      </a:ext>
                    </a:extLst>
                  </a:tr>
                  <a:tr h="640080"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</a:t>
                          </a:r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(length)</a:t>
                          </a:r>
                        </a:p>
                        <a:p>
                          <a:pPr algn="l"/>
                          <a:r>
                            <a:rPr lang="en-US" altLang="zh-TW" b="0" i="1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b="0" i="1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93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80328" r="-1005512" b="-1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068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80328" r="-1005512" b="-1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13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316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80328" r="-1005512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16024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580328" r="-1005512" b="-9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1992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680328" r="-100551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u="sng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034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780328" r="-100551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u="sng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b="0" u="sng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7420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895000" r="-1005512" b="-6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9165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978689" r="-100551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016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78689" r="-100551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190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178689" r="-1005512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13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278689" r="-1005512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3696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378689" r="-10055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0000CC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sz="1800" b="0" u="sng" kern="1200" dirty="0">
                            <a:solidFill>
                              <a:srgbClr val="0000CC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985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478689" r="-100551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14</a:t>
                          </a:r>
                          <a:endParaRPr lang="zh-TW" altLang="en-US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u="sng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1800" b="0" u="sng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77934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/>
              <p:nvPr/>
            </p:nvSpPr>
            <p:spPr>
              <a:xfrm>
                <a:off x="3136492" y="6277377"/>
                <a:ext cx="54521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LaWSt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2, 1, 5, 14, 15, 14, 16, 15, 17</m:t>
                        </m:r>
                      </m:e>
                    </m:d>
                  </m:oMath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467153E-DA09-475C-A872-6AB8CF580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492" y="6277377"/>
                <a:ext cx="5452134" cy="461665"/>
              </a:xfrm>
              <a:prstGeom prst="rect">
                <a:avLst/>
              </a:prstGeom>
              <a:blipFill>
                <a:blip r:embed="rId8"/>
                <a:stretch>
                  <a:fillRect l="-1790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88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and Space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Implemented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by a more efficient data structure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(AVL tree or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red-black tree)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Time complexity: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𝑙</m:t>
                            </m:r>
                          </m:e>
                        </m:func>
                      </m:e>
                    </m:d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Space complexity: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40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Longest Almost Wave Subsequence with </a:t>
            </a:r>
            <a:r>
              <a:rPr kumimoji="1" lang="en-US" altLang="zh-TW" i="1" dirty="0">
                <a:latin typeface="Times" pitchFamily="2" charset="0"/>
              </a:rPr>
              <a:t>r </a:t>
            </a:r>
            <a:r>
              <a:rPr kumimoji="1" lang="en-US" altLang="zh-TW" dirty="0">
                <a:latin typeface="Times" pitchFamily="2" charset="0"/>
              </a:rPr>
              <a:t>Segments (</a:t>
            </a:r>
            <a:r>
              <a:rPr kumimoji="1" lang="en-US" altLang="zh-TW" dirty="0" err="1">
                <a:latin typeface="Times" pitchFamily="2" charset="0"/>
              </a:rPr>
              <a:t>LaWSr</a:t>
            </a:r>
            <a:r>
              <a:rPr kumimoji="1" lang="en-US" altLang="zh-TW" dirty="0">
                <a:latin typeface="Times" pitchFamily="2" charset="0"/>
              </a:rPr>
              <a:t>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4BF6F8-C9F3-4334-9D8F-A9EBEAB4F001}"/>
                  </a:ext>
                </a:extLst>
              </p:cNvPr>
              <p:cNvSpPr txBox="1"/>
              <p:nvPr/>
            </p:nvSpPr>
            <p:spPr>
              <a:xfrm>
                <a:off x="838200" y="2155372"/>
                <a:ext cx="58646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zh-TW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9,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 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5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 16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34BF6F8-C9F3-4334-9D8F-A9EBEAB4F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5372"/>
                <a:ext cx="5864679" cy="369332"/>
              </a:xfrm>
              <a:prstGeom prst="rect">
                <a:avLst/>
              </a:prstGeom>
              <a:blipFill>
                <a:blip r:embed="rId3"/>
                <a:stretch>
                  <a:fillRect l="-1871" b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195" y="3408676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5" y="3408676"/>
                <a:ext cx="5712279" cy="369332"/>
              </a:xfrm>
              <a:prstGeom prst="rect">
                <a:avLst/>
              </a:prstGeom>
              <a:blipFill>
                <a:blip r:embed="rId4"/>
                <a:stretch>
                  <a:fillRect l="-1279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47074AF-15D1-475E-AE7F-06CBDF51BB21}"/>
                  </a:ext>
                </a:extLst>
              </p:cNvPr>
              <p:cNvSpPr txBox="1"/>
              <p:nvPr/>
            </p:nvSpPr>
            <p:spPr>
              <a:xfrm>
                <a:off x="838194" y="4032669"/>
                <a:ext cx="79692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400" b="0" dirty="0">
                    <a:latin typeface="Times" panose="02020603050405020304" pitchFamily="18" charset="0"/>
                    <a:cs typeface="Times" panose="02020603050405020304" pitchFamily="18" charset="0"/>
                  </a:rPr>
                  <a:t>The </a:t>
                </a:r>
                <a:r>
                  <a:rPr lang="en-US" altLang="zh-TW" sz="2400" b="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LaWSr</a:t>
                </a:r>
                <a:r>
                  <a:rPr lang="en-US" altLang="zh-TW" sz="2400" b="0" dirty="0">
                    <a:latin typeface="Times" panose="02020603050405020304" pitchFamily="18" charset="0"/>
                    <a:cs typeface="Times" panose="02020603050405020304" pitchFamily="18" charset="0"/>
                  </a:rPr>
                  <a:t> sequence 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9, 12, 11, 17, 10, 12, 9, 5, 11, 16</m:t>
                        </m:r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47074AF-15D1-475E-AE7F-06CBDF51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4" y="4032669"/>
                <a:ext cx="7969255" cy="369332"/>
              </a:xfrm>
              <a:prstGeom prst="rect">
                <a:avLst/>
              </a:prstGeom>
              <a:blipFill>
                <a:blip r:embed="rId5"/>
                <a:stretch>
                  <a:fillRect l="-2294" t="-28333" b="-4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9E812F6-1534-43E3-A049-67F6977B0C22}"/>
                  </a:ext>
                </a:extLst>
              </p:cNvPr>
              <p:cNvSpPr txBox="1"/>
              <p:nvPr/>
            </p:nvSpPr>
            <p:spPr>
              <a:xfrm>
                <a:off x="838194" y="2784683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9E812F6-1534-43E3-A049-67F6977B0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4" y="2784683"/>
                <a:ext cx="5712279" cy="369332"/>
              </a:xfrm>
              <a:prstGeom prst="rect">
                <a:avLst/>
              </a:prstGeom>
              <a:blipFill>
                <a:blip r:embed="rId6"/>
                <a:stretch>
                  <a:fillRect l="-1279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2412EAE-92A6-4507-8937-D4F3476295AF}"/>
              </a:ext>
            </a:extLst>
          </p:cNvPr>
          <p:cNvCxnSpPr/>
          <p:nvPr/>
        </p:nvCxnSpPr>
        <p:spPr>
          <a:xfrm>
            <a:off x="3903406" y="4402001"/>
            <a:ext cx="15043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49BE901-EE2B-4C6D-B284-E1FAB2A7F7F0}"/>
              </a:ext>
            </a:extLst>
          </p:cNvPr>
          <p:cNvCxnSpPr>
            <a:cxnSpLocks/>
          </p:cNvCxnSpPr>
          <p:nvPr/>
        </p:nvCxnSpPr>
        <p:spPr>
          <a:xfrm>
            <a:off x="5132439" y="4480659"/>
            <a:ext cx="183863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26E111E-D57C-42FC-B398-BACE94FAACE6}"/>
              </a:ext>
            </a:extLst>
          </p:cNvPr>
          <p:cNvCxnSpPr>
            <a:cxnSpLocks/>
          </p:cNvCxnSpPr>
          <p:nvPr/>
        </p:nvCxnSpPr>
        <p:spPr>
          <a:xfrm>
            <a:off x="6702879" y="4394234"/>
            <a:ext cx="1079353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LaWSr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46121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46121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7" t="-36283" r="-610569" b="-10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07895" r="-82716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210667" r="-82716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310667" r="-82716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E5004AB-570B-4511-AC7D-A07A156DC963}"/>
                  </a:ext>
                </a:extLst>
              </p:cNvPr>
              <p:cNvSpPr txBox="1"/>
              <p:nvPr/>
            </p:nvSpPr>
            <p:spPr>
              <a:xfrm>
                <a:off x="838199" y="4294608"/>
                <a:ext cx="652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E5004AB-570B-4511-AC7D-A07A156DC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294608"/>
                <a:ext cx="65274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LaWSr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795101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=12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795101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7" t="-36283" r="-610569" b="-10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07895" r="-82716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210667" r="-82716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310667" r="-82716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D0606BE-412B-49A1-B5EF-3CDEC1189D7C}"/>
                  </a:ext>
                </a:extLst>
              </p:cNvPr>
              <p:cNvSpPr txBox="1"/>
              <p:nvPr/>
            </p:nvSpPr>
            <p:spPr>
              <a:xfrm>
                <a:off x="838199" y="4294608"/>
                <a:ext cx="11063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9, 12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D0606BE-412B-49A1-B5EF-3CDEC1189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294608"/>
                <a:ext cx="11063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508CEB6-61EF-458E-9756-8361C78462F1}"/>
                  </a:ext>
                </a:extLst>
              </p:cNvPr>
              <p:cNvSpPr txBox="1"/>
              <p:nvPr/>
            </p:nvSpPr>
            <p:spPr>
              <a:xfrm>
                <a:off x="838199" y="4756273"/>
                <a:ext cx="2854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9+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𝑐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=12=12</m:t>
                    </m:r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508CEB6-61EF-458E-9756-8361C7846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756273"/>
                <a:ext cx="2854628" cy="461665"/>
              </a:xfrm>
              <a:prstGeom prst="rect">
                <a:avLst/>
              </a:prstGeom>
              <a:blipFill>
                <a:blip r:embed="rId6"/>
                <a:stretch>
                  <a:fillRect l="-1279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F64CC3A-1C97-4923-8F9E-1993920FDB93}"/>
                  </a:ext>
                </a:extLst>
              </p:cNvPr>
              <p:cNvSpPr txBox="1"/>
              <p:nvPr/>
            </p:nvSpPr>
            <p:spPr>
              <a:xfrm>
                <a:off x="1358737" y="5167312"/>
                <a:ext cx="264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inheritance from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F64CC3A-1C97-4923-8F9E-1993920FD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37" y="5167312"/>
                <a:ext cx="2646237" cy="461665"/>
              </a:xfrm>
              <a:prstGeom prst="rect">
                <a:avLst/>
              </a:prstGeom>
              <a:blipFill>
                <a:blip r:embed="rId7"/>
                <a:stretch>
                  <a:fillRect l="-3687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66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LaWSr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490213"/>
                  </p:ext>
                </p:extLst>
              </p:nvPr>
            </p:nvGraphicFramePr>
            <p:xfrm>
              <a:off x="838199" y="2339898"/>
              <a:ext cx="10636042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=11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</a:p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490213"/>
                  </p:ext>
                </p:extLst>
              </p:nvPr>
            </p:nvGraphicFramePr>
            <p:xfrm>
              <a:off x="838199" y="2339898"/>
              <a:ext cx="10636042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7" t="-28671" r="-610569" b="-8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09333" r="-82716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206579" r="-827160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82296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72593" r="-827160" b="-1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</a:p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F20E876-8EFF-41EB-B17E-5110F40EDED0}"/>
                  </a:ext>
                </a:extLst>
              </p:cNvPr>
              <p:cNvSpPr txBox="1"/>
              <p:nvPr/>
            </p:nvSpPr>
            <p:spPr>
              <a:xfrm>
                <a:off x="838199" y="4693275"/>
                <a:ext cx="15600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9, 12, 11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F20E876-8EFF-41EB-B17E-5110F40ED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93275"/>
                <a:ext cx="15600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49F9F91-7A44-48D9-9A8E-ACB8914DFA10}"/>
                  </a:ext>
                </a:extLst>
              </p:cNvPr>
              <p:cNvSpPr txBox="1"/>
              <p:nvPr/>
            </p:nvSpPr>
            <p:spPr>
              <a:xfrm>
                <a:off x="838199" y="5183985"/>
                <a:ext cx="3156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 inheritance from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49F9F91-7A44-48D9-9A8E-ACB8914D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83985"/>
                <a:ext cx="3156505" cy="461665"/>
              </a:xfrm>
              <a:prstGeom prst="rect">
                <a:avLst/>
              </a:prstGeom>
              <a:blipFill>
                <a:blip r:embed="rId6"/>
                <a:stretch>
                  <a:fillRect l="-1158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15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LaWSr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17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7684344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=17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7684344"/>
                  </p:ext>
                </p:extLst>
              </p:nvPr>
            </p:nvGraphicFramePr>
            <p:xfrm>
              <a:off x="838199" y="2339898"/>
              <a:ext cx="1063604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7" t="-36283" r="-610569" b="-10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07895" r="-827160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210667" r="-827160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310667" r="-82716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ABD0377-1901-4B5C-B795-194188B63B68}"/>
                  </a:ext>
                </a:extLst>
              </p:cNvPr>
              <p:cNvSpPr txBox="1"/>
              <p:nvPr/>
            </p:nvSpPr>
            <p:spPr>
              <a:xfrm>
                <a:off x="838199" y="4448576"/>
                <a:ext cx="20136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9, 12, 11, 17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ABD0377-1901-4B5C-B795-194188B63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448576"/>
                <a:ext cx="20136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A9E882-EEAB-4B87-AFEC-3B94BF541AE2}"/>
                  </a:ext>
                </a:extLst>
              </p:cNvPr>
              <p:cNvSpPr txBox="1"/>
              <p:nvPr/>
            </p:nvSpPr>
            <p:spPr>
              <a:xfrm>
                <a:off x="838199" y="4912175"/>
                <a:ext cx="32431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 inheritance from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i="1" dirty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A9E882-EEAB-4B87-AFEC-3B94BF541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912175"/>
                <a:ext cx="3243196" cy="461665"/>
              </a:xfrm>
              <a:prstGeom prst="rect">
                <a:avLst/>
              </a:prstGeom>
              <a:blipFill>
                <a:blip r:embed="rId6"/>
                <a:stretch>
                  <a:fillRect l="-1126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667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latin typeface="Times" pitchFamily="2" charset="0"/>
              </a:rPr>
              <a:t>LaWSr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EBDF2C-86B0-4794-B688-F5C8BC95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5712279" cy="369332"/>
              </a:xfrm>
              <a:prstGeom prst="rect">
                <a:avLst/>
              </a:prstGeom>
              <a:blipFill>
                <a:blip r:embed="rId3"/>
                <a:stretch>
                  <a:fillRect l="-1387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770107"/>
                  </p:ext>
                </p:extLst>
              </p:nvPr>
            </p:nvGraphicFramePr>
            <p:xfrm>
              <a:off x="838199" y="2339898"/>
              <a:ext cx="10636042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no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strike="no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u="none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</a:p>
                        <a:p>
                          <a:pPr algn="ctr"/>
                          <a:r>
                            <a:rPr lang="en-US" altLang="zh-TW" sz="2400" b="0" u="none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u="none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</a:p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</a:p>
                        <a:p>
                          <a:pPr algn="ctr"/>
                          <a:r>
                            <a:rPr lang="en-US" altLang="zh-TW" sz="2400" b="0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312B31FD-D374-4719-AFD3-F84379196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770107"/>
                  </p:ext>
                </p:extLst>
              </p:nvPr>
            </p:nvGraphicFramePr>
            <p:xfrm>
              <a:off x="838199" y="2339898"/>
              <a:ext cx="10636042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1055">
                      <a:extLst>
                        <a:ext uri="{9D8B030D-6E8A-4147-A177-3AD203B41FA5}">
                          <a16:colId xmlns:a16="http://schemas.microsoft.com/office/drawing/2014/main" val="689601622"/>
                        </a:ext>
                      </a:extLst>
                    </a:gridCol>
                    <a:gridCol w="986407">
                      <a:extLst>
                        <a:ext uri="{9D8B030D-6E8A-4147-A177-3AD203B41FA5}">
                          <a16:colId xmlns:a16="http://schemas.microsoft.com/office/drawing/2014/main" val="340864988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93289459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418672533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354114057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439087868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73396084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629660654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275497997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120355600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47496815"/>
                        </a:ext>
                      </a:extLst>
                    </a:gridCol>
                    <a:gridCol w="814858">
                      <a:extLst>
                        <a:ext uri="{9D8B030D-6E8A-4147-A177-3AD203B41FA5}">
                          <a16:colId xmlns:a16="http://schemas.microsoft.com/office/drawing/2014/main" val="385494934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length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8626863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7" t="-28671" r="-610569" b="-8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09333" r="-827160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8557873"/>
                      </a:ext>
                    </a:extLst>
                  </a:tr>
                  <a:tr h="82296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115441" r="-827160" b="-72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no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17</a:t>
                          </a:r>
                          <a:endParaRPr lang="zh-TW" altLang="en-US" sz="2400" b="0" strike="no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u="none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12</a:t>
                          </a:r>
                        </a:p>
                        <a:p>
                          <a:pPr algn="ctr"/>
                          <a:r>
                            <a:rPr lang="en-US" altLang="zh-TW" sz="2400" b="0" u="none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u="none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</a:p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-</a:t>
                          </a:r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strike="sngStrike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10</a:t>
                          </a:r>
                        </a:p>
                        <a:p>
                          <a:pPr algn="ctr"/>
                          <a:r>
                            <a:rPr lang="en-US" altLang="zh-TW" sz="2400" b="0" kern="120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kern="120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3012494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469" t="-390667" r="-827160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strike="sngStrike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rgbClr val="FF0000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16</a:t>
                          </a:r>
                          <a:endParaRPr lang="zh-TW" altLang="en-US" sz="2400" b="0" dirty="0">
                            <a:solidFill>
                              <a:srgbClr val="FF0000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35933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49EC40BD-AF4B-4FAC-83D5-EDC0FDC10F2B}"/>
              </a:ext>
            </a:extLst>
          </p:cNvPr>
          <p:cNvSpPr txBox="1"/>
          <p:nvPr/>
        </p:nvSpPr>
        <p:spPr>
          <a:xfrm>
            <a:off x="838199" y="4814336"/>
            <a:ext cx="4395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0" dirty="0">
                <a:latin typeface="Times" panose="02020603050405020304" pitchFamily="18" charset="0"/>
                <a:cs typeface="Times" panose="02020603050405020304" pitchFamily="18" charset="0"/>
              </a:rPr>
              <a:t>⟨</a:t>
            </a:r>
            <a:r>
              <a:rPr lang="en-US" altLang="zh-TW" sz="2400" b="0" i="0" dirty="0">
                <a:latin typeface="Times" panose="02020603050405020304" pitchFamily="18" charset="0"/>
                <a:cs typeface="Times" panose="02020603050405020304" pitchFamily="18" charset="0"/>
              </a:rPr>
              <a:t>9, 12, 11, </a:t>
            </a:r>
            <a:r>
              <a:rPr lang="en-US" altLang="zh-TW" sz="2400" b="0" i="0" u="sng" dirty="0">
                <a:solidFill>
                  <a:srgbClr val="0000CC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17</a:t>
            </a:r>
            <a:r>
              <a:rPr lang="en-US" altLang="zh-TW" sz="2400" b="0" i="0" dirty="0">
                <a:latin typeface="Times" panose="02020603050405020304" pitchFamily="18" charset="0"/>
                <a:cs typeface="Times" panose="02020603050405020304" pitchFamily="18" charset="0"/>
              </a:rPr>
              <a:t>, 10, 12, 9, </a:t>
            </a:r>
            <a:r>
              <a:rPr lang="en-US" altLang="zh-TW" sz="2400" b="0" i="0" u="sng" dirty="0">
                <a:solidFill>
                  <a:srgbClr val="0000CC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</a:t>
            </a:r>
            <a:r>
              <a:rPr lang="en-US" altLang="zh-TW" sz="2400" b="0" i="0" dirty="0">
                <a:latin typeface="Times" panose="02020603050405020304" pitchFamily="18" charset="0"/>
                <a:cs typeface="Times" panose="02020603050405020304" pitchFamily="18" charset="0"/>
              </a:rPr>
              <a:t>, 11, 16⟩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30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and Space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Implemented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by a more efficient data structure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(enhanced AVL-tree)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Time complexity: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𝑟𝑛</m:t>
                        </m:r>
                        <m:func>
                          <m:func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  <m:t>𝑙</m:t>
                            </m:r>
                          </m:e>
                        </m:func>
                      </m:e>
                    </m:d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Space complexity: 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𝑟𝑙</m:t>
                        </m:r>
                      </m:e>
                    </m:d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223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8275</TotalTime>
  <Words>1126</Words>
  <Application>Microsoft Office PowerPoint</Application>
  <PresentationFormat>寬螢幕</PresentationFormat>
  <Paragraphs>673</Paragraphs>
  <Slides>19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Arial</vt:lpstr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The Longest Almost Wave Subsequence Problem</vt:lpstr>
      <vt:lpstr>Abstract(1/2)</vt:lpstr>
      <vt:lpstr>Abstract(2/2)</vt:lpstr>
      <vt:lpstr>Longest Almost Wave Subsequence with Trend (LaWSt)</vt:lpstr>
      <vt:lpstr>LaWSt</vt:lpstr>
      <vt:lpstr>LaWSt</vt:lpstr>
      <vt:lpstr>LaWSt</vt:lpstr>
      <vt:lpstr>LaWSt</vt:lpstr>
      <vt:lpstr>LaWSt</vt:lpstr>
      <vt:lpstr>LaWSt</vt:lpstr>
      <vt:lpstr>LaWSt</vt:lpstr>
      <vt:lpstr>Time and Space Complexity</vt:lpstr>
      <vt:lpstr>Longest Almost Wave Subsequence with r Segments (LaWSr)</vt:lpstr>
      <vt:lpstr>LaWSr</vt:lpstr>
      <vt:lpstr>LaWSr</vt:lpstr>
      <vt:lpstr>LaWSr</vt:lpstr>
      <vt:lpstr>LaWSr</vt:lpstr>
      <vt:lpstr>LaWSr</vt:lpstr>
      <vt:lpstr>Time and Space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221</cp:revision>
  <dcterms:created xsi:type="dcterms:W3CDTF">2023-07-01T04:19:29Z</dcterms:created>
  <dcterms:modified xsi:type="dcterms:W3CDTF">2023-11-14T09:55:02Z</dcterms:modified>
</cp:coreProperties>
</file>