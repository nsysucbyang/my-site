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1d4dce3af2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1d4dce3af2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d4dce3af7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d4dce3af7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1d4dce3af7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1d4dce3af7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d4dce3af7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1d4dce3af7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w: window size</a:t>
            </a:r>
            <a:endParaRPr/>
          </a:p>
          <a:p>
            <a:pPr indent="0" lvl="0" marL="0" rtl="0" algn="l">
              <a:spcBef>
                <a:spcPts val="0"/>
              </a:spcBef>
              <a:spcAft>
                <a:spcPts val="0"/>
              </a:spcAft>
              <a:buNone/>
            </a:pPr>
            <a:r>
              <a:rPr lang="zh-TW"/>
              <a:t>𝑑𝑚𝑖𝑛 = 0, 𝑔𝑚𝑎𝑥 = ∞, and 𝑠𝑚𝑎𝑥 = ∞ 就是 LCS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d7b4a1b688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d7b4a1b688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有 timestamp 所以空白</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d7b4a1b68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d7b4a1b68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d7b4a1b68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d7b4a1b68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從 (1, 1) 做到結束</a:t>
            </a:r>
            <a:endParaRPr/>
          </a:p>
          <a:p>
            <a:pPr indent="0" lvl="0" marL="0" rtl="0" algn="l">
              <a:spcBef>
                <a:spcPts val="0"/>
              </a:spcBef>
              <a:spcAft>
                <a:spcPts val="0"/>
              </a:spcAft>
              <a:buClr>
                <a:schemeClr val="dk1"/>
              </a:buClr>
              <a:buSzPts val="1100"/>
              <a:buFont typeface="Arial"/>
              <a:buNone/>
            </a:pPr>
            <a:r>
              <a:rPr lang="zh-TW">
                <a:solidFill>
                  <a:schemeClr val="dk1"/>
                </a:solidFill>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d7b4a1b68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d7b4a1b68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d7b4a1b688_8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1d7b4a1b688_8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d7b4a1b688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d7b4a1b688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d7b4a1b688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d7b4a1b688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黑邊 cost = 0</a:t>
            </a:r>
            <a:endParaRPr/>
          </a:p>
          <a:p>
            <a:pPr indent="0" lvl="0" marL="0" rtl="0" algn="l">
              <a:spcBef>
                <a:spcPts val="0"/>
              </a:spcBef>
              <a:spcAft>
                <a:spcPts val="0"/>
              </a:spcAft>
              <a:buNone/>
            </a:pPr>
            <a:r>
              <a:rPr lang="zh-TW"/>
              <a:t>一個 vertex 變兩個，8-in 8-out 依此類推</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d7b4a1b688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d7b4a1b688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d7b4a1b688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d7b4a1b688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第四個 star 進來後，L[1] = 1，往後傳，所以 star-3 = 1 + WLCS(star-3) = 1 + 2 = 3</a:t>
            </a:r>
            <a:endParaRPr/>
          </a:p>
          <a:p>
            <a:pPr indent="0" lvl="0" marL="0" rtl="0" algn="l">
              <a:spcBef>
                <a:spcPts val="0"/>
              </a:spcBef>
              <a:spcAft>
                <a:spcPts val="0"/>
              </a:spcAft>
              <a:buNone/>
            </a:pPr>
            <a:r>
              <a:rPr lang="zh-TW"/>
              <a:t>第五個 star 進來後，L[2] = 2，往後傳</a:t>
            </a:r>
            <a:endParaRPr/>
          </a:p>
          <a:p>
            <a:pPr indent="0" lvl="0" marL="0" rtl="0" algn="l">
              <a:spcBef>
                <a:spcPts val="0"/>
              </a:spcBef>
              <a:spcAft>
                <a:spcPts val="0"/>
              </a:spcAft>
              <a:buNone/>
            </a:pPr>
            <a:r>
              <a:rPr lang="zh-TW"/>
              <a:t>row by row</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d7b4a1b688_8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d7b4a1b688_8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小心 scan 的 2 * 2 不是因為 w = 2</a:t>
            </a:r>
            <a:endParaRPr/>
          </a:p>
          <a:p>
            <a:pPr indent="0" lvl="0" marL="0" rtl="0" algn="l">
              <a:spcBef>
                <a:spcPts val="0"/>
              </a:spcBef>
              <a:spcAft>
                <a:spcPts val="0"/>
              </a:spcAft>
              <a:buNone/>
            </a:pPr>
            <a:r>
              <a:rPr lang="zh-TW"/>
              <a:t>找 label 最大的</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d7b4a1b688_8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d7b4a1b688_8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d7b4a1b688_8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d7b4a1b688_8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d7b4a1b688_8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d7b4a1b688_8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LCS(x, y) </a:t>
            </a:r>
            <a:r>
              <a:rPr lang="zh-TW"/>
              <a:t>是從頭到 (x, y)</a:t>
            </a:r>
            <a:endParaRPr/>
          </a:p>
          <a:p>
            <a:pPr indent="0" lvl="0" marL="0" rtl="0" algn="l">
              <a:spcBef>
                <a:spcPts val="0"/>
              </a:spcBef>
              <a:spcAft>
                <a:spcPts val="0"/>
              </a:spcAft>
              <a:buNone/>
            </a:pPr>
            <a:r>
              <a:rPr lang="zh-TW"/>
              <a:t>w(x, y) 是 window (x, y) </a:t>
            </a:r>
            <a:r>
              <a:rPr lang="zh-TW"/>
              <a:t>的 WLCS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d7b4a1b688_8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d7b4a1b688_8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d7ea7197e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d7ea7197e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d7ea7197e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d7ea7197e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WCLCS 是 5, 9, 8</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d7ea7197e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d7ea7197e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d7ea7197e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d7ea7197e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d7ea7197ea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d7ea7197e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ieeexplore.ieee.org/author/37070243400" TargetMode="External"/><Relationship Id="rId4" Type="http://schemas.openxmlformats.org/officeDocument/2006/relationships/hyperlink" Target="https://ieeexplore.ieee.org/author/37698709800" TargetMode="External"/><Relationship Id="rId5" Type="http://schemas.openxmlformats.org/officeDocument/2006/relationships/hyperlink" Target="https://ieeexplore.ieee.org/xpl/conhome/7109453/proceed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4.png"/><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zh-TW" sz="4800">
                <a:latin typeface="Times New Roman"/>
                <a:ea typeface="Times New Roman"/>
                <a:cs typeface="Times New Roman"/>
                <a:sym typeface="Times New Roman"/>
              </a:rPr>
              <a:t>Window-chained longest common subsequence: Common event matching in sequences</a:t>
            </a:r>
            <a:endParaRPr sz="4800">
              <a:latin typeface="Times New Roman"/>
              <a:ea typeface="Times New Roman"/>
              <a:cs typeface="Times New Roman"/>
              <a:sym typeface="Times New Roman"/>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zh-TW" sz="2400">
                <a:solidFill>
                  <a:schemeClr val="dk1"/>
                </a:solidFill>
                <a:uFill>
                  <a:noFill/>
                </a:uFill>
                <a:latin typeface="Times New Roman"/>
                <a:ea typeface="Times New Roman"/>
                <a:cs typeface="Times New Roman"/>
                <a:sym typeface="Times New Roman"/>
                <a:hlinkClick r:id="rId3">
                  <a:extLst>
                    <a:ext uri="{A12FA001-AC4F-418D-AE19-62706E023703}">
                      <ahyp:hlinkClr val="tx"/>
                    </a:ext>
                  </a:extLst>
                </a:hlinkClick>
              </a:rPr>
              <a:t>Chunyao Song</a:t>
            </a:r>
            <a:r>
              <a:rPr lang="zh-TW" sz="2400">
                <a:solidFill>
                  <a:schemeClr val="dk1"/>
                </a:solidFill>
                <a:latin typeface="Times New Roman"/>
                <a:ea typeface="Times New Roman"/>
                <a:cs typeface="Times New Roman"/>
                <a:sym typeface="Times New Roman"/>
              </a:rPr>
              <a:t>, </a:t>
            </a:r>
            <a:r>
              <a:rPr lang="zh-TW" sz="2400">
                <a:solidFill>
                  <a:schemeClr val="dk1"/>
                </a:solidFill>
                <a:uFill>
                  <a:noFill/>
                </a:uFill>
                <a:latin typeface="Times New Roman"/>
                <a:ea typeface="Times New Roman"/>
                <a:cs typeface="Times New Roman"/>
                <a:sym typeface="Times New Roman"/>
                <a:hlinkClick r:id="rId4">
                  <a:extLst>
                    <a:ext uri="{A12FA001-AC4F-418D-AE19-62706E023703}">
                      <ahyp:hlinkClr val="tx"/>
                    </a:ext>
                  </a:extLst>
                </a:hlinkClick>
              </a:rPr>
              <a:t>Tingjian Ge</a:t>
            </a:r>
            <a:endParaRPr sz="24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zh-TW" sz="2400">
                <a:solidFill>
                  <a:schemeClr val="dk1"/>
                </a:solidFill>
                <a:uFill>
                  <a:noFill/>
                </a:uFill>
                <a:latin typeface="Times New Roman"/>
                <a:ea typeface="Times New Roman"/>
                <a:cs typeface="Times New Roman"/>
                <a:sym typeface="Times New Roman"/>
                <a:hlinkClick r:id="rId5">
                  <a:extLst>
                    <a:ext uri="{A12FA001-AC4F-418D-AE19-62706E023703}">
                      <ahyp:hlinkClr val="tx"/>
                    </a:ext>
                  </a:extLst>
                </a:hlinkClick>
              </a:rPr>
              <a:t>2015 IEEE 31st International Conference on Data Engineering</a:t>
            </a:r>
            <a:endParaRPr sz="24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Seoul, Korea (South)</a:t>
            </a:r>
            <a:endParaRPr sz="2400">
              <a:solidFill>
                <a:schemeClr val="dk1"/>
              </a:solidFill>
              <a:latin typeface="Times New Roman"/>
              <a:ea typeface="Times New Roman"/>
              <a:cs typeface="Times New Roman"/>
              <a:sym typeface="Times New Roman"/>
            </a:endParaRPr>
          </a:p>
        </p:txBody>
      </p:sp>
      <p:sp>
        <p:nvSpPr>
          <p:cNvPr id="56" name="Google Shape;56;p13"/>
          <p:cNvSpPr txBox="1"/>
          <p:nvPr/>
        </p:nvSpPr>
        <p:spPr>
          <a:xfrm>
            <a:off x="4914600" y="4220100"/>
            <a:ext cx="4229400" cy="923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zh-TW" sz="2400">
                <a:solidFill>
                  <a:schemeClr val="dk1"/>
                </a:solidFill>
                <a:latin typeface="Times New Roman"/>
                <a:ea typeface="Times New Roman"/>
                <a:cs typeface="Times New Roman"/>
                <a:sym typeface="Times New Roman"/>
              </a:rPr>
              <a:t>Presenter: Guan-Jie Chen</a:t>
            </a:r>
            <a:endParaRPr sz="2400">
              <a:solidFill>
                <a:schemeClr val="dk1"/>
              </a:solidFill>
              <a:latin typeface="Times New Roman"/>
              <a:ea typeface="Times New Roman"/>
              <a:cs typeface="Times New Roman"/>
              <a:sym typeface="Times New Roman"/>
            </a:endParaRPr>
          </a:p>
          <a:p>
            <a:pPr indent="0" lvl="0" marL="0" rtl="0" algn="r">
              <a:spcBef>
                <a:spcPts val="0"/>
              </a:spcBef>
              <a:spcAft>
                <a:spcPts val="0"/>
              </a:spcAft>
              <a:buNone/>
            </a:pPr>
            <a:r>
              <a:rPr lang="zh-TW" sz="2400">
                <a:solidFill>
                  <a:schemeClr val="dk1"/>
                </a:solidFill>
                <a:latin typeface="Times New Roman"/>
                <a:ea typeface="Times New Roman"/>
                <a:cs typeface="Times New Roman"/>
                <a:sym typeface="Times New Roman"/>
              </a:rPr>
              <a:t>Date: </a:t>
            </a:r>
            <a:r>
              <a:rPr lang="zh-TW" sz="2400">
                <a:solidFill>
                  <a:schemeClr val="dk1"/>
                </a:solidFill>
                <a:latin typeface="Times New Roman"/>
                <a:ea typeface="Times New Roman"/>
                <a:cs typeface="Times New Roman"/>
                <a:sym typeface="Times New Roman"/>
              </a:rPr>
              <a:t>Jan</a:t>
            </a:r>
            <a:r>
              <a:rPr lang="zh-TW" sz="2400">
                <a:solidFill>
                  <a:schemeClr val="dk1"/>
                </a:solidFill>
                <a:latin typeface="Times New Roman"/>
                <a:ea typeface="Times New Roman"/>
                <a:cs typeface="Times New Roman"/>
                <a:sym typeface="Times New Roman"/>
              </a:rPr>
              <a:t>. </a:t>
            </a:r>
            <a:r>
              <a:rPr lang="zh-TW" sz="2400">
                <a:solidFill>
                  <a:schemeClr val="dk1"/>
                </a:solidFill>
                <a:latin typeface="Times New Roman"/>
                <a:ea typeface="Times New Roman"/>
                <a:cs typeface="Times New Roman"/>
                <a:sym typeface="Times New Roman"/>
              </a:rPr>
              <a:t>17</a:t>
            </a:r>
            <a:r>
              <a:rPr lang="zh-TW" sz="2400">
                <a:solidFill>
                  <a:schemeClr val="dk1"/>
                </a:solidFill>
                <a:latin typeface="Times New Roman"/>
                <a:ea typeface="Times New Roman"/>
                <a:cs typeface="Times New Roman"/>
                <a:sym typeface="Times New Roman"/>
              </a:rPr>
              <a:t>, 2023</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500">
                <a:latin typeface="Times New Roman"/>
                <a:ea typeface="Times New Roman"/>
                <a:cs typeface="Times New Roman"/>
                <a:sym typeface="Times New Roman"/>
              </a:rPr>
              <a:t>Abstract (1 / 3)</a:t>
            </a:r>
            <a:endParaRPr sz="2500">
              <a:latin typeface="Times New Roman"/>
              <a:ea typeface="Times New Roman"/>
              <a:cs typeface="Times New Roman"/>
              <a:sym typeface="Times New Roman"/>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Sequence data is prevalent, and event processing over sequences is increasingly important in this Big Data era, drawing much attention from both research and industry. In this paper, we address a novel problem, which is to find common event subsequences from two long sequences. This problem is well motivated, with applications in diverse domains.</a:t>
            </a:r>
            <a:endParaRPr sz="2400">
              <a:solidFill>
                <a:schemeClr val="dk1"/>
              </a:solidFill>
              <a:latin typeface="Times New Roman"/>
              <a:ea typeface="Times New Roman"/>
              <a:cs typeface="Times New Roman"/>
              <a:sym typeface="Times New Roman"/>
            </a:endParaRPr>
          </a:p>
        </p:txBody>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500">
                <a:latin typeface="Times New Roman"/>
                <a:ea typeface="Times New Roman"/>
                <a:cs typeface="Times New Roman"/>
                <a:sym typeface="Times New Roman"/>
              </a:rPr>
              <a:t>Abstract (2 / 3)</a:t>
            </a:r>
            <a:endParaRPr sz="2500">
              <a:latin typeface="Times New Roman"/>
              <a:ea typeface="Times New Roman"/>
              <a:cs typeface="Times New Roman"/>
              <a:sym typeface="Times New Roman"/>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We propose the window-chained longest common subsequence (WCLCS) semantics, and argue that the traditional longest common subsequence (LCS) cannot serve this need. We then devise efficient algorithms to solve this problem by reducing it to a graph problem.</a:t>
            </a:r>
            <a:endParaRPr sz="2400">
              <a:solidFill>
                <a:schemeClr val="dk1"/>
              </a:solidFill>
              <a:latin typeface="Times New Roman"/>
              <a:ea typeface="Times New Roman"/>
              <a:cs typeface="Times New Roman"/>
              <a:sym typeface="Times New Roman"/>
            </a:endParaRPr>
          </a:p>
        </p:txBody>
      </p:sp>
      <p:sp>
        <p:nvSpPr>
          <p:cNvPr id="70" name="Google Shape;7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500">
                <a:latin typeface="Times New Roman"/>
                <a:ea typeface="Times New Roman"/>
                <a:cs typeface="Times New Roman"/>
                <a:sym typeface="Times New Roman"/>
              </a:rPr>
              <a:t>Abstract (3 / 3)</a:t>
            </a:r>
            <a:endParaRPr sz="2500">
              <a:latin typeface="Times New Roman"/>
              <a:ea typeface="Times New Roman"/>
              <a:cs typeface="Times New Roman"/>
              <a:sym typeface="Times New Roman"/>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We also propose two more methods to improve the performance: one is based on informed search and exploration, and the other is an approximation algorithm with accuracy guarantees. We finally carry out a systematic experimental evaluation using two real-world datasets and some synthetic datasets.</a:t>
            </a:r>
            <a:endParaRPr sz="2400">
              <a:solidFill>
                <a:schemeClr val="dk1"/>
              </a:solidFill>
              <a:latin typeface="Times New Roman"/>
              <a:ea typeface="Times New Roman"/>
              <a:cs typeface="Times New Roman"/>
              <a:sym typeface="Times New Roman"/>
            </a:endParaRPr>
          </a:p>
        </p:txBody>
      </p:sp>
      <p:sp>
        <p:nvSpPr>
          <p:cNvPr id="77" name="Google Shape;7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500">
                <a:latin typeface="Times New Roman"/>
                <a:ea typeface="Times New Roman"/>
                <a:cs typeface="Times New Roman"/>
                <a:sym typeface="Times New Roman"/>
              </a:rPr>
              <a:t>Constraints</a:t>
            </a:r>
            <a:endParaRPr sz="2500">
              <a:latin typeface="Times New Roman"/>
              <a:ea typeface="Times New Roman"/>
              <a:cs typeface="Times New Roman"/>
              <a:sym typeface="Times New Roman"/>
            </a:endParaRPr>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pic>
        <p:nvPicPr>
          <p:cNvPr id="84" name="Google Shape;84;p17"/>
          <p:cNvPicPr preferRelativeResize="0"/>
          <p:nvPr/>
        </p:nvPicPr>
        <p:blipFill>
          <a:blip r:embed="rId3">
            <a:alphaModFix/>
          </a:blip>
          <a:stretch>
            <a:fillRect/>
          </a:stretch>
        </p:blipFill>
        <p:spPr>
          <a:xfrm>
            <a:off x="1766875" y="1266575"/>
            <a:ext cx="5610225" cy="2171700"/>
          </a:xfrm>
          <a:prstGeom prst="rect">
            <a:avLst/>
          </a:prstGeom>
          <a:noFill/>
          <a:ln>
            <a:noFill/>
          </a:ln>
        </p:spPr>
      </p:pic>
      <p:pic>
        <p:nvPicPr>
          <p:cNvPr id="85" name="Google Shape;85;p17"/>
          <p:cNvPicPr preferRelativeResize="0"/>
          <p:nvPr/>
        </p:nvPicPr>
        <p:blipFill>
          <a:blip r:embed="rId4">
            <a:alphaModFix/>
          </a:blip>
          <a:stretch>
            <a:fillRect/>
          </a:stretch>
        </p:blipFill>
        <p:spPr>
          <a:xfrm>
            <a:off x="4055913" y="4113750"/>
            <a:ext cx="2523658" cy="269825"/>
          </a:xfrm>
          <a:prstGeom prst="rect">
            <a:avLst/>
          </a:prstGeom>
          <a:noFill/>
          <a:ln>
            <a:noFill/>
          </a:ln>
        </p:spPr>
      </p:pic>
      <p:pic>
        <p:nvPicPr>
          <p:cNvPr id="86" name="Google Shape;86;p17"/>
          <p:cNvPicPr preferRelativeResize="0"/>
          <p:nvPr/>
        </p:nvPicPr>
        <p:blipFill>
          <a:blip r:embed="rId5">
            <a:alphaModFix/>
          </a:blip>
          <a:stretch>
            <a:fillRect/>
          </a:stretch>
        </p:blipFill>
        <p:spPr>
          <a:xfrm>
            <a:off x="4411163" y="3650475"/>
            <a:ext cx="1892482" cy="422225"/>
          </a:xfrm>
          <a:prstGeom prst="rect">
            <a:avLst/>
          </a:prstGeom>
          <a:noFill/>
          <a:ln>
            <a:noFill/>
          </a:ln>
        </p:spPr>
      </p:pic>
      <p:pic>
        <p:nvPicPr>
          <p:cNvPr id="87" name="Google Shape;87;p17"/>
          <p:cNvPicPr preferRelativeResize="0"/>
          <p:nvPr/>
        </p:nvPicPr>
        <p:blipFill>
          <a:blip r:embed="rId6">
            <a:alphaModFix/>
          </a:blip>
          <a:stretch>
            <a:fillRect/>
          </a:stretch>
        </p:blipFill>
        <p:spPr>
          <a:xfrm>
            <a:off x="4078100" y="4464100"/>
            <a:ext cx="918690" cy="269825"/>
          </a:xfrm>
          <a:prstGeom prst="rect">
            <a:avLst/>
          </a:prstGeom>
          <a:noFill/>
          <a:ln>
            <a:noFill/>
          </a:ln>
        </p:spPr>
      </p:pic>
      <p:pic>
        <p:nvPicPr>
          <p:cNvPr id="88" name="Google Shape;88;p17"/>
          <p:cNvPicPr preferRelativeResize="0"/>
          <p:nvPr/>
        </p:nvPicPr>
        <p:blipFill>
          <a:blip r:embed="rId7">
            <a:alphaModFix/>
          </a:blip>
          <a:stretch>
            <a:fillRect/>
          </a:stretch>
        </p:blipFill>
        <p:spPr>
          <a:xfrm>
            <a:off x="5149190" y="4464100"/>
            <a:ext cx="1487497" cy="269825"/>
          </a:xfrm>
          <a:prstGeom prst="rect">
            <a:avLst/>
          </a:prstGeom>
          <a:noFill/>
          <a:ln>
            <a:noFill/>
          </a:ln>
        </p:spPr>
      </p:pic>
      <p:sp>
        <p:nvSpPr>
          <p:cNvPr id="89" name="Google Shape;89;p17"/>
          <p:cNvSpPr txBox="1"/>
          <p:nvPr/>
        </p:nvSpPr>
        <p:spPr>
          <a:xfrm>
            <a:off x="1966513" y="3559020"/>
            <a:ext cx="57519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minimum density:</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maximum gap:</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maximum shift:</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400">
              <a:solidFill>
                <a:schemeClr val="dk1"/>
              </a:solidFill>
              <a:latin typeface="Times New Roman"/>
              <a:ea typeface="Times New Roman"/>
              <a:cs typeface="Times New Roman"/>
              <a:sym typeface="Times New Roman"/>
            </a:endParaRPr>
          </a:p>
        </p:txBody>
      </p:sp>
      <p:sp>
        <p:nvSpPr>
          <p:cNvPr id="90" name="Google Shape;90;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 </a:t>
            </a:r>
            <a:endParaRPr/>
          </a:p>
        </p:txBody>
      </p:sp>
      <p:sp>
        <p:nvSpPr>
          <p:cNvPr id="96" name="Google Shape;9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pic>
        <p:nvPicPr>
          <p:cNvPr id="97" name="Google Shape;97;p18"/>
          <p:cNvPicPr preferRelativeResize="0"/>
          <p:nvPr/>
        </p:nvPicPr>
        <p:blipFill>
          <a:blip r:embed="rId3">
            <a:alphaModFix/>
          </a:blip>
          <a:stretch>
            <a:fillRect/>
          </a:stretch>
        </p:blipFill>
        <p:spPr>
          <a:xfrm>
            <a:off x="3176856" y="1548031"/>
            <a:ext cx="2790275" cy="2625300"/>
          </a:xfrm>
          <a:prstGeom prst="rect">
            <a:avLst/>
          </a:prstGeom>
          <a:noFill/>
          <a:ln>
            <a:noFill/>
          </a:ln>
        </p:spPr>
      </p:pic>
      <p:sp>
        <p:nvSpPr>
          <p:cNvPr id="98" name="Google Shape;98;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WCLCS</a:t>
            </a:r>
            <a:endParaRPr>
              <a:latin typeface="Times New Roman"/>
              <a:ea typeface="Times New Roman"/>
              <a:cs typeface="Times New Roman"/>
              <a:sym typeface="Times New Roman"/>
            </a:endParaRPr>
          </a:p>
        </p:txBody>
      </p:sp>
      <p:sp>
        <p:nvSpPr>
          <p:cNvPr id="104" name="Google Shape;104;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Step1. O</a:t>
            </a:r>
            <a:r>
              <a:rPr lang="zh-TW" sz="2400">
                <a:solidFill>
                  <a:schemeClr val="dk1"/>
                </a:solidFill>
                <a:latin typeface="Times New Roman"/>
                <a:ea typeface="Times New Roman"/>
                <a:cs typeface="Times New Roman"/>
                <a:sym typeface="Times New Roman"/>
              </a:rPr>
              <a:t>btain the longest common subsequence within each</a:t>
            </a:r>
            <a:endParaRPr sz="2400">
              <a:solidFill>
                <a:schemeClr val="dk1"/>
              </a:solidFill>
              <a:latin typeface="Times New Roman"/>
              <a:ea typeface="Times New Roman"/>
              <a:cs typeface="Times New Roman"/>
              <a:sym typeface="Times New Roman"/>
            </a:endParaRPr>
          </a:p>
          <a:p>
            <a:pPr indent="457200" lvl="0" marL="0" rtl="0" algn="l">
              <a:spcBef>
                <a:spcPts val="1200"/>
              </a:spcBef>
              <a:spcAft>
                <a:spcPts val="0"/>
              </a:spcAft>
              <a:buNone/>
            </a:pPr>
            <a:r>
              <a:rPr lang="zh-TW" sz="2400">
                <a:solidFill>
                  <a:schemeClr val="dk1"/>
                </a:solidFill>
                <a:latin typeface="Times New Roman"/>
                <a:ea typeface="Times New Roman"/>
                <a:cs typeface="Times New Roman"/>
                <a:sym typeface="Times New Roman"/>
              </a:rPr>
              <a:t>two-dimensional time window (</a:t>
            </a:r>
            <a:r>
              <a:rPr lang="zh-TW" sz="2400">
                <a:solidFill>
                  <a:schemeClr val="dk1"/>
                </a:solidFill>
                <a:latin typeface="Times New Roman"/>
                <a:ea typeface="Times New Roman"/>
                <a:cs typeface="Times New Roman"/>
                <a:sym typeface="Times New Roman"/>
              </a:rPr>
              <a:t>WLCS</a:t>
            </a:r>
            <a:r>
              <a:rPr lang="zh-TW"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381000" lvl="0" marL="457200" rtl="0" algn="l">
              <a:spcBef>
                <a:spcPts val="120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PerWinLCS1</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PerWinLCS2</a:t>
            </a:r>
            <a:endParaRPr sz="2400">
              <a:solidFill>
                <a:schemeClr val="dk1"/>
              </a:solidFill>
              <a:latin typeface="Times New Roman"/>
              <a:ea typeface="Times New Roman"/>
              <a:cs typeface="Times New Roman"/>
              <a:sym typeface="Times New Roman"/>
            </a:endParaRPr>
          </a:p>
        </p:txBody>
      </p:sp>
      <p:sp>
        <p:nvSpPr>
          <p:cNvPr id="105" name="Google Shape;105;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PerWinLCS1</a:t>
            </a:r>
            <a:endParaRPr>
              <a:latin typeface="Times New Roman"/>
              <a:ea typeface="Times New Roman"/>
              <a:cs typeface="Times New Roman"/>
              <a:sym typeface="Times New Roman"/>
            </a:endParaRPr>
          </a:p>
        </p:txBody>
      </p:sp>
      <p:sp>
        <p:nvSpPr>
          <p:cNvPr id="111" name="Google Shape;11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pic>
        <p:nvPicPr>
          <p:cNvPr id="112" name="Google Shape;112;p20"/>
          <p:cNvPicPr preferRelativeResize="0"/>
          <p:nvPr/>
        </p:nvPicPr>
        <p:blipFill>
          <a:blip r:embed="rId3">
            <a:alphaModFix/>
          </a:blip>
          <a:stretch>
            <a:fillRect/>
          </a:stretch>
        </p:blipFill>
        <p:spPr>
          <a:xfrm>
            <a:off x="2790825" y="965200"/>
            <a:ext cx="3562350" cy="3790950"/>
          </a:xfrm>
          <a:prstGeom prst="rect">
            <a:avLst/>
          </a:prstGeom>
          <a:noFill/>
          <a:ln>
            <a:noFill/>
          </a:ln>
        </p:spPr>
      </p:pic>
      <p:sp>
        <p:nvSpPr>
          <p:cNvPr id="113" name="Google Shape;113;p20"/>
          <p:cNvSpPr txBox="1"/>
          <p:nvPr/>
        </p:nvSpPr>
        <p:spPr>
          <a:xfrm>
            <a:off x="806550" y="2583625"/>
            <a:ext cx="1004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w = 3</a:t>
            </a:r>
            <a:endParaRPr sz="2400">
              <a:solidFill>
                <a:schemeClr val="dk1"/>
              </a:solidFill>
              <a:latin typeface="Times New Roman"/>
              <a:ea typeface="Times New Roman"/>
              <a:cs typeface="Times New Roman"/>
              <a:sym typeface="Times New Roman"/>
            </a:endParaRPr>
          </a:p>
        </p:txBody>
      </p:sp>
      <p:sp>
        <p:nvSpPr>
          <p:cNvPr id="114" name="Google Shape;11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PerWinLCS2</a:t>
            </a:r>
            <a:endParaRPr/>
          </a:p>
        </p:txBody>
      </p:sp>
      <p:sp>
        <p:nvSpPr>
          <p:cNvPr id="120" name="Google Shape;120;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pic>
        <p:nvPicPr>
          <p:cNvPr id="121" name="Google Shape;121;p21"/>
          <p:cNvPicPr preferRelativeResize="0"/>
          <p:nvPr/>
        </p:nvPicPr>
        <p:blipFill>
          <a:blip r:embed="rId3">
            <a:alphaModFix/>
          </a:blip>
          <a:stretch>
            <a:fillRect/>
          </a:stretch>
        </p:blipFill>
        <p:spPr>
          <a:xfrm>
            <a:off x="2933700" y="1260475"/>
            <a:ext cx="3276600" cy="3200400"/>
          </a:xfrm>
          <a:prstGeom prst="rect">
            <a:avLst/>
          </a:prstGeom>
          <a:noFill/>
          <a:ln>
            <a:noFill/>
          </a:ln>
        </p:spPr>
      </p:pic>
      <p:sp>
        <p:nvSpPr>
          <p:cNvPr id="122" name="Google Shape;122;p21"/>
          <p:cNvSpPr txBox="1"/>
          <p:nvPr/>
        </p:nvSpPr>
        <p:spPr>
          <a:xfrm>
            <a:off x="806550" y="2583625"/>
            <a:ext cx="1004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w = 3</a:t>
            </a:r>
            <a:endParaRPr sz="2400">
              <a:solidFill>
                <a:schemeClr val="dk1"/>
              </a:solidFill>
              <a:latin typeface="Times New Roman"/>
              <a:ea typeface="Times New Roman"/>
              <a:cs typeface="Times New Roman"/>
              <a:sym typeface="Times New Roman"/>
            </a:endParaRPr>
          </a:p>
        </p:txBody>
      </p:sp>
      <p:sp>
        <p:nvSpPr>
          <p:cNvPr id="123" name="Google Shape;123;p21"/>
          <p:cNvSpPr txBox="1"/>
          <p:nvPr/>
        </p:nvSpPr>
        <p:spPr>
          <a:xfrm>
            <a:off x="6862725" y="2214175"/>
            <a:ext cx="1245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c[1] = 1</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c[2] = 1</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c[3] = 2</a:t>
            </a:r>
            <a:endParaRPr sz="2400">
              <a:solidFill>
                <a:schemeClr val="dk1"/>
              </a:solidFill>
              <a:latin typeface="Times New Roman"/>
              <a:ea typeface="Times New Roman"/>
              <a:cs typeface="Times New Roman"/>
              <a:sym typeface="Times New Roman"/>
            </a:endParaRPr>
          </a:p>
        </p:txBody>
      </p:sp>
      <p:sp>
        <p:nvSpPr>
          <p:cNvPr id="124" name="Google Shape;124;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WCLCS</a:t>
            </a:r>
            <a:endParaRPr>
              <a:latin typeface="Times New Roman"/>
              <a:ea typeface="Times New Roman"/>
              <a:cs typeface="Times New Roman"/>
              <a:sym typeface="Times New Roman"/>
            </a:endParaRPr>
          </a:p>
        </p:txBody>
      </p:sp>
      <p:sp>
        <p:nvSpPr>
          <p:cNvPr id="130" name="Google Shape;130;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Step2. Find an optimal chain of windows that satisfy the constraints</a:t>
            </a:r>
            <a:endParaRPr sz="2400">
              <a:solidFill>
                <a:schemeClr val="dk1"/>
              </a:solidFill>
              <a:latin typeface="Times New Roman"/>
              <a:ea typeface="Times New Roman"/>
              <a:cs typeface="Times New Roman"/>
              <a:sym typeface="Times New Roman"/>
            </a:endParaRPr>
          </a:p>
          <a:p>
            <a:pPr indent="-381000" lvl="0" marL="457200" rtl="0" algn="l">
              <a:spcBef>
                <a:spcPts val="120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WCLCS-AnyGap</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WCLCS-MaxGap</a:t>
            </a:r>
            <a:endParaRPr sz="2400">
              <a:solidFill>
                <a:schemeClr val="dk1"/>
              </a:solidFill>
              <a:latin typeface="Times New Roman"/>
              <a:ea typeface="Times New Roman"/>
              <a:cs typeface="Times New Roman"/>
              <a:sym typeface="Times New Roman"/>
            </a:endParaRPr>
          </a:p>
        </p:txBody>
      </p:sp>
      <p:sp>
        <p:nvSpPr>
          <p:cNvPr id="131" name="Google Shape;131;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zh-TW" sz="2500">
                <a:latin typeface="Times New Roman"/>
                <a:ea typeface="Times New Roman"/>
                <a:cs typeface="Times New Roman"/>
                <a:sym typeface="Times New Roman"/>
              </a:rPr>
              <a:t>Converting the WCLCS Selection into a Graph Problem (1 / 2)</a:t>
            </a:r>
            <a:endParaRPr sz="2500">
              <a:latin typeface="Times New Roman"/>
              <a:ea typeface="Times New Roman"/>
              <a:cs typeface="Times New Roman"/>
              <a:sym typeface="Times New Roman"/>
            </a:endParaRPr>
          </a:p>
        </p:txBody>
      </p:sp>
      <p:sp>
        <p:nvSpPr>
          <p:cNvPr id="137" name="Google Shape;137;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pic>
        <p:nvPicPr>
          <p:cNvPr id="138" name="Google Shape;138;p23"/>
          <p:cNvPicPr preferRelativeResize="0"/>
          <p:nvPr/>
        </p:nvPicPr>
        <p:blipFill>
          <a:blip r:embed="rId3">
            <a:alphaModFix/>
          </a:blip>
          <a:stretch>
            <a:fillRect/>
          </a:stretch>
        </p:blipFill>
        <p:spPr>
          <a:xfrm>
            <a:off x="2257425" y="1122350"/>
            <a:ext cx="4629150" cy="3019425"/>
          </a:xfrm>
          <a:prstGeom prst="rect">
            <a:avLst/>
          </a:prstGeom>
          <a:noFill/>
          <a:ln>
            <a:noFill/>
          </a:ln>
        </p:spPr>
      </p:pic>
      <p:sp>
        <p:nvSpPr>
          <p:cNvPr id="139" name="Google Shape;139;p23"/>
          <p:cNvSpPr txBox="1"/>
          <p:nvPr/>
        </p:nvSpPr>
        <p:spPr>
          <a:xfrm>
            <a:off x="238650" y="4220100"/>
            <a:ext cx="86667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no edge from 6 to 3 since the two windows overlap</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no edge from 8 to 5 since they are beyond the maximum gap allowed</a:t>
            </a:r>
            <a:endParaRPr sz="2400">
              <a:solidFill>
                <a:schemeClr val="dk1"/>
              </a:solidFill>
              <a:latin typeface="Times New Roman"/>
              <a:ea typeface="Times New Roman"/>
              <a:cs typeface="Times New Roman"/>
              <a:sym typeface="Times New Roman"/>
            </a:endParaRPr>
          </a:p>
        </p:txBody>
      </p:sp>
      <p:sp>
        <p:nvSpPr>
          <p:cNvPr id="140" name="Google Shape;14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zh-TW" sz="2500">
                <a:latin typeface="Times New Roman"/>
                <a:ea typeface="Times New Roman"/>
                <a:cs typeface="Times New Roman"/>
                <a:sym typeface="Times New Roman"/>
              </a:rPr>
              <a:t>Converting the WCLCS Selection into a Graph Problem (2 / 2)</a:t>
            </a:r>
            <a:endParaRPr sz="2500">
              <a:latin typeface="Times New Roman"/>
              <a:ea typeface="Times New Roman"/>
              <a:cs typeface="Times New Roman"/>
              <a:sym typeface="Times New Roman"/>
            </a:endParaRPr>
          </a:p>
        </p:txBody>
      </p:sp>
      <p:sp>
        <p:nvSpPr>
          <p:cNvPr id="146" name="Google Shape;146;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pic>
        <p:nvPicPr>
          <p:cNvPr id="147" name="Google Shape;147;p24"/>
          <p:cNvPicPr preferRelativeResize="0"/>
          <p:nvPr/>
        </p:nvPicPr>
        <p:blipFill>
          <a:blip r:embed="rId3">
            <a:alphaModFix/>
          </a:blip>
          <a:stretch>
            <a:fillRect/>
          </a:stretch>
        </p:blipFill>
        <p:spPr>
          <a:xfrm>
            <a:off x="2294163" y="1210400"/>
            <a:ext cx="4555675" cy="2843550"/>
          </a:xfrm>
          <a:prstGeom prst="rect">
            <a:avLst/>
          </a:prstGeom>
          <a:noFill/>
          <a:ln>
            <a:noFill/>
          </a:ln>
        </p:spPr>
      </p:pic>
      <p:sp>
        <p:nvSpPr>
          <p:cNvPr id="148" name="Google Shape;148;p24"/>
          <p:cNvSpPr txBox="1"/>
          <p:nvPr/>
        </p:nvSpPr>
        <p:spPr>
          <a:xfrm>
            <a:off x="-152100" y="4220100"/>
            <a:ext cx="94482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with all weights negated, it becomes a </a:t>
            </a:r>
            <a:r>
              <a:rPr lang="zh-TW" sz="2400">
                <a:solidFill>
                  <a:schemeClr val="dk1"/>
                </a:solidFill>
                <a:latin typeface="Times New Roman"/>
                <a:ea typeface="Times New Roman"/>
                <a:cs typeface="Times New Roman"/>
                <a:sym typeface="Times New Roman"/>
              </a:rPr>
              <a:t>single-source shortest path</a:t>
            </a:r>
            <a:r>
              <a:rPr lang="zh-TW" sz="2400">
                <a:solidFill>
                  <a:schemeClr val="dk1"/>
                </a:solidFill>
                <a:latin typeface="Times New Roman"/>
                <a:ea typeface="Times New Roman"/>
                <a:cs typeface="Times New Roman"/>
                <a:sym typeface="Times New Roman"/>
              </a:rPr>
              <a:t> problem</a:t>
            </a:r>
            <a:endParaRPr sz="24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(can be solved by Bellman-Ford)</a:t>
            </a:r>
            <a:endParaRPr sz="2400">
              <a:solidFill>
                <a:schemeClr val="dk1"/>
              </a:solidFill>
              <a:latin typeface="Times New Roman"/>
              <a:ea typeface="Times New Roman"/>
              <a:cs typeface="Times New Roman"/>
              <a:sym typeface="Times New Roman"/>
            </a:endParaRPr>
          </a:p>
        </p:txBody>
      </p:sp>
      <p:sp>
        <p:nvSpPr>
          <p:cNvPr id="149" name="Google Shape;14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500">
                <a:latin typeface="Times New Roman"/>
                <a:ea typeface="Times New Roman"/>
                <a:cs typeface="Times New Roman"/>
                <a:sym typeface="Times New Roman"/>
              </a:rPr>
              <a:t>AnyGap and MaxGap </a:t>
            </a:r>
            <a:endParaRPr sz="2500">
              <a:latin typeface="Times New Roman"/>
              <a:ea typeface="Times New Roman"/>
              <a:cs typeface="Times New Roman"/>
              <a:sym typeface="Times New Roman"/>
            </a:endParaRPr>
          </a:p>
        </p:txBody>
      </p:sp>
      <p:sp>
        <p:nvSpPr>
          <p:cNvPr id="155" name="Google Shape;155;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pic>
        <p:nvPicPr>
          <p:cNvPr id="156" name="Google Shape;156;p25"/>
          <p:cNvPicPr preferRelativeResize="0"/>
          <p:nvPr/>
        </p:nvPicPr>
        <p:blipFill>
          <a:blip r:embed="rId3">
            <a:alphaModFix/>
          </a:blip>
          <a:stretch>
            <a:fillRect/>
          </a:stretch>
        </p:blipFill>
        <p:spPr>
          <a:xfrm>
            <a:off x="1454124" y="1095436"/>
            <a:ext cx="6235754" cy="3530475"/>
          </a:xfrm>
          <a:prstGeom prst="rect">
            <a:avLst/>
          </a:prstGeom>
          <a:noFill/>
          <a:ln>
            <a:noFill/>
          </a:ln>
        </p:spPr>
      </p:pic>
      <p:sp>
        <p:nvSpPr>
          <p:cNvPr id="157" name="Google Shape;15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zh-TW" sz="2500">
                <a:latin typeface="Times New Roman"/>
                <a:ea typeface="Times New Roman"/>
                <a:cs typeface="Times New Roman"/>
                <a:sym typeface="Times New Roman"/>
              </a:rPr>
              <a:t>WCLCS-AnyGap</a:t>
            </a:r>
            <a:endParaRPr sz="2500">
              <a:latin typeface="Times New Roman"/>
              <a:ea typeface="Times New Roman"/>
              <a:cs typeface="Times New Roman"/>
              <a:sym typeface="Times New Roman"/>
            </a:endParaRPr>
          </a:p>
        </p:txBody>
      </p:sp>
      <p:sp>
        <p:nvSpPr>
          <p:cNvPr id="163" name="Google Shape;16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pic>
        <p:nvPicPr>
          <p:cNvPr id="164" name="Google Shape;164;p26"/>
          <p:cNvPicPr preferRelativeResize="0"/>
          <p:nvPr/>
        </p:nvPicPr>
        <p:blipFill>
          <a:blip r:embed="rId3">
            <a:alphaModFix/>
          </a:blip>
          <a:stretch>
            <a:fillRect/>
          </a:stretch>
        </p:blipFill>
        <p:spPr>
          <a:xfrm>
            <a:off x="3054725" y="1105050"/>
            <a:ext cx="3034550" cy="3511250"/>
          </a:xfrm>
          <a:prstGeom prst="rect">
            <a:avLst/>
          </a:prstGeom>
          <a:noFill/>
          <a:ln>
            <a:noFill/>
          </a:ln>
        </p:spPr>
      </p:pic>
      <p:sp>
        <p:nvSpPr>
          <p:cNvPr id="165" name="Google Shape;165;p26"/>
          <p:cNvSpPr txBox="1"/>
          <p:nvPr/>
        </p:nvSpPr>
        <p:spPr>
          <a:xfrm>
            <a:off x="933900" y="2583625"/>
            <a:ext cx="1202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w = 2</a:t>
            </a:r>
            <a:endParaRPr sz="2400">
              <a:solidFill>
                <a:schemeClr val="dk1"/>
              </a:solidFill>
              <a:latin typeface="Times New Roman"/>
              <a:ea typeface="Times New Roman"/>
              <a:cs typeface="Times New Roman"/>
              <a:sym typeface="Times New Roman"/>
            </a:endParaRPr>
          </a:p>
        </p:txBody>
      </p:sp>
      <p:sp>
        <p:nvSpPr>
          <p:cNvPr id="166" name="Google Shape;16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zh-TW" sz="2500">
                <a:latin typeface="Times New Roman"/>
                <a:ea typeface="Times New Roman"/>
                <a:cs typeface="Times New Roman"/>
                <a:sym typeface="Times New Roman"/>
              </a:rPr>
              <a:t>WCLCS-MaxGap (1 / 2)</a:t>
            </a:r>
            <a:endParaRPr sz="2500">
              <a:latin typeface="Times New Roman"/>
              <a:ea typeface="Times New Roman"/>
              <a:cs typeface="Times New Roman"/>
              <a:sym typeface="Times New Roman"/>
            </a:endParaRPr>
          </a:p>
        </p:txBody>
      </p:sp>
      <p:sp>
        <p:nvSpPr>
          <p:cNvPr id="172" name="Google Shape;172;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pic>
        <p:nvPicPr>
          <p:cNvPr id="173" name="Google Shape;173;p27"/>
          <p:cNvPicPr preferRelativeResize="0"/>
          <p:nvPr/>
        </p:nvPicPr>
        <p:blipFill>
          <a:blip r:embed="rId3">
            <a:alphaModFix/>
          </a:blip>
          <a:stretch>
            <a:fillRect/>
          </a:stretch>
        </p:blipFill>
        <p:spPr>
          <a:xfrm>
            <a:off x="3226515" y="1537540"/>
            <a:ext cx="2690975" cy="2646275"/>
          </a:xfrm>
          <a:prstGeom prst="rect">
            <a:avLst/>
          </a:prstGeom>
          <a:noFill/>
          <a:ln>
            <a:noFill/>
          </a:ln>
        </p:spPr>
      </p:pic>
      <p:sp>
        <p:nvSpPr>
          <p:cNvPr id="174" name="Google Shape;174;p27"/>
          <p:cNvSpPr txBox="1"/>
          <p:nvPr/>
        </p:nvSpPr>
        <p:spPr>
          <a:xfrm>
            <a:off x="983425" y="2398975"/>
            <a:ext cx="17052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w = 2</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𝑔𝑚𝑎𝑥</a:t>
            </a:r>
            <a:r>
              <a:rPr lang="zh-TW" sz="2400">
                <a:solidFill>
                  <a:schemeClr val="dk1"/>
                </a:solidFill>
                <a:latin typeface="Times New Roman"/>
                <a:ea typeface="Times New Roman"/>
                <a:cs typeface="Times New Roman"/>
                <a:sym typeface="Times New Roman"/>
              </a:rPr>
              <a:t> = 1</a:t>
            </a:r>
            <a:endParaRPr sz="2400">
              <a:solidFill>
                <a:schemeClr val="dk1"/>
              </a:solidFill>
              <a:latin typeface="Times New Roman"/>
              <a:ea typeface="Times New Roman"/>
              <a:cs typeface="Times New Roman"/>
              <a:sym typeface="Times New Roman"/>
            </a:endParaRPr>
          </a:p>
        </p:txBody>
      </p:sp>
      <p:sp>
        <p:nvSpPr>
          <p:cNvPr id="175" name="Google Shape;175;p27"/>
          <p:cNvSpPr txBox="1"/>
          <p:nvPr/>
        </p:nvSpPr>
        <p:spPr>
          <a:xfrm>
            <a:off x="486150" y="4393550"/>
            <a:ext cx="81717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scan [(𝑥 − 𝑤 − 𝑔𝑚𝑎𝑥, 𝑦 − 𝑤 − 𝑔𝑚𝑎𝑥), (𝑥 − 𝑤, 𝑦 − 𝑤)]</a:t>
            </a:r>
            <a:endParaRPr sz="2400">
              <a:solidFill>
                <a:schemeClr val="dk1"/>
              </a:solidFill>
              <a:latin typeface="Times New Roman"/>
              <a:ea typeface="Times New Roman"/>
              <a:cs typeface="Times New Roman"/>
              <a:sym typeface="Times New Roman"/>
            </a:endParaRPr>
          </a:p>
        </p:txBody>
      </p:sp>
      <p:sp>
        <p:nvSpPr>
          <p:cNvPr id="176" name="Google Shape;176;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zh-TW" sz="2500">
                <a:latin typeface="Times New Roman"/>
                <a:ea typeface="Times New Roman"/>
                <a:cs typeface="Times New Roman"/>
                <a:sym typeface="Times New Roman"/>
              </a:rPr>
              <a:t>WCLCS-MaxGap (2 / 2)</a:t>
            </a:r>
            <a:endParaRPr sz="2500">
              <a:latin typeface="Times New Roman"/>
              <a:ea typeface="Times New Roman"/>
              <a:cs typeface="Times New Roman"/>
              <a:sym typeface="Times New Roman"/>
            </a:endParaRPr>
          </a:p>
        </p:txBody>
      </p:sp>
      <p:sp>
        <p:nvSpPr>
          <p:cNvPr id="182" name="Google Shape;182;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500">
                <a:solidFill>
                  <a:schemeClr val="dk1"/>
                </a:solidFill>
                <a:latin typeface="Times New Roman"/>
                <a:ea typeface="Times New Roman"/>
                <a:cs typeface="Times New Roman"/>
                <a:sym typeface="Times New Roman"/>
              </a:rPr>
              <a:t>I</a:t>
            </a:r>
            <a:r>
              <a:rPr lang="zh-TW" sz="2500">
                <a:solidFill>
                  <a:schemeClr val="dk1"/>
                </a:solidFill>
                <a:latin typeface="Times New Roman"/>
                <a:ea typeface="Times New Roman"/>
                <a:cs typeface="Times New Roman"/>
                <a:sym typeface="Times New Roman"/>
              </a:rPr>
              <a:t>t may involve a large number of spatial index operations when</a:t>
            </a:r>
            <a:endParaRPr sz="2500">
              <a:solidFill>
                <a:schemeClr val="dk1"/>
              </a:solidFill>
              <a:latin typeface="Times New Roman"/>
              <a:ea typeface="Times New Roman"/>
              <a:cs typeface="Times New Roman"/>
              <a:sym typeface="Times New Roman"/>
            </a:endParaRPr>
          </a:p>
          <a:p>
            <a:pPr indent="457200" lvl="0" marL="0" rtl="0" algn="l">
              <a:spcBef>
                <a:spcPts val="1200"/>
              </a:spcBef>
              <a:spcAft>
                <a:spcPts val="0"/>
              </a:spcAft>
              <a:buNone/>
            </a:pPr>
            <a:r>
              <a:rPr lang="zh-TW" sz="2500">
                <a:solidFill>
                  <a:schemeClr val="dk1"/>
                </a:solidFill>
                <a:latin typeface="Times New Roman"/>
                <a:ea typeface="Times New Roman"/>
                <a:cs typeface="Times New Roman"/>
                <a:sym typeface="Times New Roman"/>
              </a:rPr>
              <a:t>the number of matching windows is large</a:t>
            </a:r>
            <a:endParaRPr sz="25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zh-TW" sz="2500">
                <a:solidFill>
                  <a:schemeClr val="dk1"/>
                </a:solidFill>
                <a:latin typeface="Times New Roman"/>
                <a:ea typeface="Times New Roman"/>
                <a:cs typeface="Times New Roman"/>
                <a:sym typeface="Times New Roman"/>
              </a:rPr>
              <a:t>Solution: WCLCS-Astar</a:t>
            </a:r>
            <a:endParaRPr sz="2500">
              <a:solidFill>
                <a:schemeClr val="dk1"/>
              </a:solidFill>
              <a:latin typeface="Times New Roman"/>
              <a:ea typeface="Times New Roman"/>
              <a:cs typeface="Times New Roman"/>
              <a:sym typeface="Times New Roman"/>
            </a:endParaRPr>
          </a:p>
        </p:txBody>
      </p:sp>
      <p:sp>
        <p:nvSpPr>
          <p:cNvPr id="183" name="Google Shape;183;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zh-TW" sz="2500">
                <a:latin typeface="Times New Roman"/>
                <a:ea typeface="Times New Roman"/>
                <a:cs typeface="Times New Roman"/>
                <a:sym typeface="Times New Roman"/>
              </a:rPr>
              <a:t>WCLCS-Astar (1 / 5)</a:t>
            </a:r>
            <a:endParaRPr sz="2500">
              <a:latin typeface="Times New Roman"/>
              <a:ea typeface="Times New Roman"/>
              <a:cs typeface="Times New Roman"/>
              <a:sym typeface="Times New Roman"/>
            </a:endParaRPr>
          </a:p>
        </p:txBody>
      </p:sp>
      <p:sp>
        <p:nvSpPr>
          <p:cNvPr id="189" name="Google Shape;189;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90" name="Google Shape;190;p29"/>
          <p:cNvSpPr txBox="1"/>
          <p:nvPr/>
        </p:nvSpPr>
        <p:spPr>
          <a:xfrm>
            <a:off x="222750" y="1152475"/>
            <a:ext cx="88509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Storing a set of window chains (most of which are partial) in a priority queue, where the priority of a window chain 𝐶 can be written as</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𝑓(𝐶) = 𝑔(𝐶) + ℎ(𝐶)</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𝑔(𝐶): the total matching length of the windows in 𝐶</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ℎ(𝐶): an upper bound of the total matching length of the windows</a:t>
            </a:r>
            <a:endParaRPr sz="24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rPr lang="zh-TW" sz="2400">
                <a:solidFill>
                  <a:schemeClr val="dk1"/>
                </a:solidFill>
                <a:latin typeface="Times New Roman"/>
                <a:ea typeface="Times New Roman"/>
                <a:cs typeface="Times New Roman"/>
                <a:sym typeface="Times New Roman"/>
              </a:rPr>
              <a:t>that could potentially be added to chain 𝐶</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𝑓(𝐶): an upper bound of any potential window chain derived from 𝐶</a:t>
            </a:r>
            <a:endParaRPr sz="2400">
              <a:solidFill>
                <a:schemeClr val="dk1"/>
              </a:solidFill>
              <a:latin typeface="Times New Roman"/>
              <a:ea typeface="Times New Roman"/>
              <a:cs typeface="Times New Roman"/>
              <a:sym typeface="Times New Roman"/>
            </a:endParaRPr>
          </a:p>
        </p:txBody>
      </p:sp>
      <p:sp>
        <p:nvSpPr>
          <p:cNvPr id="191" name="Google Shape;191;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zh-TW" sz="2500">
                <a:latin typeface="Times New Roman"/>
                <a:ea typeface="Times New Roman"/>
                <a:cs typeface="Times New Roman"/>
                <a:sym typeface="Times New Roman"/>
              </a:rPr>
              <a:t>WCLCS-Astar (2 / 5)</a:t>
            </a:r>
            <a:endParaRPr sz="2500">
              <a:latin typeface="Times New Roman"/>
              <a:ea typeface="Times New Roman"/>
              <a:cs typeface="Times New Roman"/>
              <a:sym typeface="Times New Roman"/>
            </a:endParaRPr>
          </a:p>
        </p:txBody>
      </p:sp>
      <p:sp>
        <p:nvSpPr>
          <p:cNvPr id="197" name="Google Shape;197;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ℎ(𝐶) = 𝐿𝐶𝑆(𝑥, 𝑦) − 𝑤(𝑥, 𝑦)</a:t>
            </a:r>
            <a:endParaRPr sz="2400">
              <a:solidFill>
                <a:schemeClr val="dk1"/>
              </a:solidFill>
              <a:latin typeface="Times New Roman"/>
              <a:ea typeface="Times New Roman"/>
              <a:cs typeface="Times New Roman"/>
              <a:sym typeface="Times New Roman"/>
            </a:endParaRPr>
          </a:p>
        </p:txBody>
      </p:sp>
      <p:sp>
        <p:nvSpPr>
          <p:cNvPr id="198" name="Google Shape;19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zh-TW" sz="2500">
                <a:latin typeface="Times New Roman"/>
                <a:ea typeface="Times New Roman"/>
                <a:cs typeface="Times New Roman"/>
                <a:sym typeface="Times New Roman"/>
              </a:rPr>
              <a:t>WCLCS-Astar (3 / 5)</a:t>
            </a:r>
            <a:endParaRPr sz="2500">
              <a:latin typeface="Times New Roman"/>
              <a:ea typeface="Times New Roman"/>
              <a:cs typeface="Times New Roman"/>
              <a:sym typeface="Times New Roman"/>
            </a:endParaRPr>
          </a:p>
        </p:txBody>
      </p:sp>
      <p:sp>
        <p:nvSpPr>
          <p:cNvPr id="204" name="Google Shape;204;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Step1. Pop the maximum priority chain C from the priority queue</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zh-TW" sz="2400">
                <a:solidFill>
                  <a:schemeClr val="dk1"/>
                </a:solidFill>
                <a:latin typeface="Times New Roman"/>
                <a:ea typeface="Times New Roman"/>
                <a:cs typeface="Times New Roman"/>
                <a:sym typeface="Times New Roman"/>
              </a:rPr>
              <a:t>Step2. </a:t>
            </a:r>
            <a:endParaRPr sz="2400">
              <a:solidFill>
                <a:schemeClr val="dk1"/>
              </a:solidFill>
              <a:latin typeface="Times New Roman"/>
              <a:ea typeface="Times New Roman"/>
              <a:cs typeface="Times New Roman"/>
              <a:sym typeface="Times New Roman"/>
            </a:endParaRPr>
          </a:p>
          <a:p>
            <a:pPr indent="-381000" lvl="0" marL="457200" rtl="0" algn="l">
              <a:spcBef>
                <a:spcPts val="120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If there exists preceding windows:</a:t>
            </a:r>
            <a:endParaRPr sz="2400">
              <a:solidFill>
                <a:schemeClr val="dk1"/>
              </a:solidFill>
              <a:latin typeface="Times New Roman"/>
              <a:ea typeface="Times New Roman"/>
              <a:cs typeface="Times New Roman"/>
              <a:sym typeface="Times New Roman"/>
            </a:endParaRPr>
          </a:p>
          <a:p>
            <a:pPr indent="0" lvl="0" marL="914400" rtl="0" algn="l">
              <a:spcBef>
                <a:spcPts val="1200"/>
              </a:spcBef>
              <a:spcAft>
                <a:spcPts val="0"/>
              </a:spcAft>
              <a:buNone/>
            </a:pPr>
            <a:r>
              <a:rPr lang="zh-TW" sz="2400">
                <a:solidFill>
                  <a:schemeClr val="dk1"/>
                </a:solidFill>
                <a:latin typeface="Times New Roman"/>
                <a:ea typeface="Times New Roman"/>
                <a:cs typeface="Times New Roman"/>
                <a:sym typeface="Times New Roman"/>
              </a:rPr>
              <a:t>For each preceding window, we prepend it to 𝐶 and add the new chain to priority queue, then update </a:t>
            </a:r>
            <a:r>
              <a:rPr lang="zh-TW" sz="2400">
                <a:solidFill>
                  <a:schemeClr val="dk1"/>
                </a:solidFill>
                <a:latin typeface="Times New Roman"/>
                <a:ea typeface="Times New Roman"/>
                <a:cs typeface="Times New Roman"/>
                <a:sym typeface="Times New Roman"/>
              </a:rPr>
              <a:t>ℎ(𝐶)</a:t>
            </a:r>
            <a:endParaRPr sz="2400">
              <a:solidFill>
                <a:schemeClr val="dk1"/>
              </a:solidFill>
              <a:latin typeface="Times New Roman"/>
              <a:ea typeface="Times New Roman"/>
              <a:cs typeface="Times New Roman"/>
              <a:sym typeface="Times New Roman"/>
            </a:endParaRPr>
          </a:p>
          <a:p>
            <a:pPr indent="-381000" lvl="0" marL="457200" rtl="0" algn="l">
              <a:spcBef>
                <a:spcPts val="120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If not:</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zh-TW" sz="2400">
                <a:solidFill>
                  <a:schemeClr val="dk1"/>
                </a:solidFill>
                <a:latin typeface="Times New Roman"/>
                <a:ea typeface="Times New Roman"/>
                <a:cs typeface="Times New Roman"/>
                <a:sym typeface="Times New Roman"/>
              </a:rPr>
              <a:t>		Set </a:t>
            </a:r>
            <a:r>
              <a:rPr lang="zh-TW" sz="2400">
                <a:solidFill>
                  <a:schemeClr val="dk1"/>
                </a:solidFill>
                <a:latin typeface="Times New Roman"/>
                <a:ea typeface="Times New Roman"/>
                <a:cs typeface="Times New Roman"/>
                <a:sym typeface="Times New Roman"/>
              </a:rPr>
              <a:t>ℎ(𝐶) to 0 and add C to the priority queue</a:t>
            </a:r>
            <a:endParaRPr sz="2400">
              <a:solidFill>
                <a:schemeClr val="dk1"/>
              </a:solidFill>
              <a:latin typeface="Times New Roman"/>
              <a:ea typeface="Times New Roman"/>
              <a:cs typeface="Times New Roman"/>
              <a:sym typeface="Times New Roman"/>
            </a:endParaRPr>
          </a:p>
        </p:txBody>
      </p:sp>
      <p:sp>
        <p:nvSpPr>
          <p:cNvPr id="205" name="Google Shape;205;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zh-TW" sz="2500">
                <a:latin typeface="Times New Roman"/>
                <a:ea typeface="Times New Roman"/>
                <a:cs typeface="Times New Roman"/>
                <a:sym typeface="Times New Roman"/>
              </a:rPr>
              <a:t>WCLCS-Astar (4 / 5)</a:t>
            </a:r>
            <a:endParaRPr sz="2500">
              <a:latin typeface="Times New Roman"/>
              <a:ea typeface="Times New Roman"/>
              <a:cs typeface="Times New Roman"/>
              <a:sym typeface="Times New Roman"/>
            </a:endParaRPr>
          </a:p>
        </p:txBody>
      </p:sp>
      <p:sp>
        <p:nvSpPr>
          <p:cNvPr id="211" name="Google Shape;211;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400">
                <a:solidFill>
                  <a:schemeClr val="dk1"/>
                </a:solidFill>
                <a:latin typeface="Times New Roman"/>
                <a:ea typeface="Times New Roman"/>
                <a:cs typeface="Times New Roman"/>
                <a:sym typeface="Times New Roman"/>
              </a:rPr>
              <a:t>Step3. Recursively do step1. and step2, if the popped chain C has</a:t>
            </a:r>
            <a:endParaRPr sz="2400">
              <a:solidFill>
                <a:schemeClr val="dk1"/>
              </a:solidFill>
              <a:latin typeface="Times New Roman"/>
              <a:ea typeface="Times New Roman"/>
              <a:cs typeface="Times New Roman"/>
              <a:sym typeface="Times New Roman"/>
            </a:endParaRPr>
          </a:p>
          <a:p>
            <a:pPr indent="457200" lvl="0" marL="0" rtl="0" algn="l">
              <a:spcBef>
                <a:spcPts val="1200"/>
              </a:spcBef>
              <a:spcAft>
                <a:spcPts val="120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ℎ(𝐶) = 0, it must be the WCLCS</a:t>
            </a:r>
            <a:endParaRPr sz="2400">
              <a:solidFill>
                <a:schemeClr val="dk1"/>
              </a:solidFill>
              <a:latin typeface="Times New Roman"/>
              <a:ea typeface="Times New Roman"/>
              <a:cs typeface="Times New Roman"/>
              <a:sym typeface="Times New Roman"/>
            </a:endParaRPr>
          </a:p>
        </p:txBody>
      </p:sp>
      <p:sp>
        <p:nvSpPr>
          <p:cNvPr id="212" name="Google Shape;212;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zh-TW" sz="2500">
                <a:latin typeface="Times New Roman"/>
                <a:ea typeface="Times New Roman"/>
                <a:cs typeface="Times New Roman"/>
                <a:sym typeface="Times New Roman"/>
              </a:rPr>
              <a:t>WCLCS-Astar (5 / 5)</a:t>
            </a:r>
            <a:endParaRPr sz="2500">
              <a:latin typeface="Times New Roman"/>
              <a:ea typeface="Times New Roman"/>
              <a:cs typeface="Times New Roman"/>
              <a:sym typeface="Times New Roman"/>
            </a:endParaRPr>
          </a:p>
        </p:txBody>
      </p:sp>
      <p:sp>
        <p:nvSpPr>
          <p:cNvPr id="218" name="Google Shape;218;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pic>
        <p:nvPicPr>
          <p:cNvPr id="219" name="Google Shape;219;p33"/>
          <p:cNvPicPr preferRelativeResize="0"/>
          <p:nvPr/>
        </p:nvPicPr>
        <p:blipFill>
          <a:blip r:embed="rId3">
            <a:alphaModFix/>
          </a:blip>
          <a:stretch>
            <a:fillRect/>
          </a:stretch>
        </p:blipFill>
        <p:spPr>
          <a:xfrm>
            <a:off x="1538275" y="2930575"/>
            <a:ext cx="6067425" cy="1638300"/>
          </a:xfrm>
          <a:prstGeom prst="rect">
            <a:avLst/>
          </a:prstGeom>
          <a:noFill/>
          <a:ln>
            <a:noFill/>
          </a:ln>
        </p:spPr>
      </p:pic>
      <p:pic>
        <p:nvPicPr>
          <p:cNvPr id="220" name="Google Shape;220;p33"/>
          <p:cNvPicPr preferRelativeResize="0"/>
          <p:nvPr/>
        </p:nvPicPr>
        <p:blipFill>
          <a:blip r:embed="rId4">
            <a:alphaModFix/>
          </a:blip>
          <a:stretch>
            <a:fillRect/>
          </a:stretch>
        </p:blipFill>
        <p:spPr>
          <a:xfrm>
            <a:off x="5585525" y="277425"/>
            <a:ext cx="2076450" cy="2381250"/>
          </a:xfrm>
          <a:prstGeom prst="rect">
            <a:avLst/>
          </a:prstGeom>
          <a:noFill/>
          <a:ln>
            <a:noFill/>
          </a:ln>
        </p:spPr>
      </p:pic>
      <p:sp>
        <p:nvSpPr>
          <p:cNvPr id="221" name="Google Shape;22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500">
                <a:latin typeface="Times New Roman"/>
                <a:ea typeface="Times New Roman"/>
                <a:cs typeface="Times New Roman"/>
                <a:sym typeface="Times New Roman"/>
              </a:rPr>
              <a:t>Result (1 / 2)</a:t>
            </a:r>
            <a:endParaRPr sz="2500">
              <a:latin typeface="Times New Roman"/>
              <a:ea typeface="Times New Roman"/>
              <a:cs typeface="Times New Roman"/>
              <a:sym typeface="Times New Roman"/>
            </a:endParaRPr>
          </a:p>
        </p:txBody>
      </p:sp>
      <p:sp>
        <p:nvSpPr>
          <p:cNvPr id="227" name="Google Shape;227;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pic>
        <p:nvPicPr>
          <p:cNvPr id="228" name="Google Shape;228;p34"/>
          <p:cNvPicPr preferRelativeResize="0"/>
          <p:nvPr/>
        </p:nvPicPr>
        <p:blipFill>
          <a:blip r:embed="rId3">
            <a:alphaModFix/>
          </a:blip>
          <a:stretch>
            <a:fillRect/>
          </a:stretch>
        </p:blipFill>
        <p:spPr>
          <a:xfrm>
            <a:off x="0" y="1705115"/>
            <a:ext cx="9144001" cy="2311121"/>
          </a:xfrm>
          <a:prstGeom prst="rect">
            <a:avLst/>
          </a:prstGeom>
          <a:noFill/>
          <a:ln>
            <a:noFill/>
          </a:ln>
        </p:spPr>
      </p:pic>
      <p:sp>
        <p:nvSpPr>
          <p:cNvPr id="229" name="Google Shape;229;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500">
                <a:latin typeface="Times New Roman"/>
                <a:ea typeface="Times New Roman"/>
                <a:cs typeface="Times New Roman"/>
                <a:sym typeface="Times New Roman"/>
              </a:rPr>
              <a:t>Result (2 / 2)</a:t>
            </a:r>
            <a:endParaRPr sz="2500">
              <a:latin typeface="Times New Roman"/>
              <a:ea typeface="Times New Roman"/>
              <a:cs typeface="Times New Roman"/>
              <a:sym typeface="Times New Roman"/>
            </a:endParaRPr>
          </a:p>
        </p:txBody>
      </p:sp>
      <p:sp>
        <p:nvSpPr>
          <p:cNvPr id="235" name="Google Shape;235;p35"/>
          <p:cNvSpPr txBox="1"/>
          <p:nvPr>
            <p:ph idx="1" type="body"/>
          </p:nvPr>
        </p:nvSpPr>
        <p:spPr>
          <a:xfrm>
            <a:off x="2355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pic>
        <p:nvPicPr>
          <p:cNvPr id="236" name="Google Shape;236;p35"/>
          <p:cNvPicPr preferRelativeResize="0"/>
          <p:nvPr/>
        </p:nvPicPr>
        <p:blipFill>
          <a:blip r:embed="rId3">
            <a:alphaModFix/>
          </a:blip>
          <a:stretch>
            <a:fillRect/>
          </a:stretch>
        </p:blipFill>
        <p:spPr>
          <a:xfrm>
            <a:off x="1021772" y="1709259"/>
            <a:ext cx="4555699" cy="2302825"/>
          </a:xfrm>
          <a:prstGeom prst="rect">
            <a:avLst/>
          </a:prstGeom>
          <a:noFill/>
          <a:ln>
            <a:noFill/>
          </a:ln>
        </p:spPr>
      </p:pic>
      <p:pic>
        <p:nvPicPr>
          <p:cNvPr id="237" name="Google Shape;237;p35"/>
          <p:cNvPicPr preferRelativeResize="0"/>
          <p:nvPr/>
        </p:nvPicPr>
        <p:blipFill>
          <a:blip r:embed="rId4">
            <a:alphaModFix/>
          </a:blip>
          <a:stretch>
            <a:fillRect/>
          </a:stretch>
        </p:blipFill>
        <p:spPr>
          <a:xfrm>
            <a:off x="5699097" y="1833600"/>
            <a:ext cx="2231950" cy="2110750"/>
          </a:xfrm>
          <a:prstGeom prst="rect">
            <a:avLst/>
          </a:prstGeom>
          <a:noFill/>
          <a:ln>
            <a:noFill/>
          </a:ln>
        </p:spPr>
      </p:pic>
      <p:sp>
        <p:nvSpPr>
          <p:cNvPr id="238" name="Google Shape;238;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 </a:t>
            </a:r>
            <a:endParaRPr/>
          </a:p>
        </p:txBody>
      </p:sp>
      <p:sp>
        <p:nvSpPr>
          <p:cNvPr id="244" name="Google Shape;244;p36"/>
          <p:cNvSpPr txBox="1"/>
          <p:nvPr>
            <p:ph idx="1" type="body"/>
          </p:nvPr>
        </p:nvSpPr>
        <p:spPr>
          <a:xfrm>
            <a:off x="311700" y="1353325"/>
            <a:ext cx="8520600" cy="10863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zh-TW" sz="4800">
                <a:solidFill>
                  <a:schemeClr val="dk1"/>
                </a:solidFill>
                <a:latin typeface="Times New Roman"/>
                <a:ea typeface="Times New Roman"/>
                <a:cs typeface="Times New Roman"/>
                <a:sym typeface="Times New Roman"/>
              </a:rPr>
              <a:t>Thanks for your patience</a:t>
            </a:r>
            <a:endParaRPr sz="4800">
              <a:solidFill>
                <a:schemeClr val="dk1"/>
              </a:solidFill>
              <a:latin typeface="Times New Roman"/>
              <a:ea typeface="Times New Roman"/>
              <a:cs typeface="Times New Roman"/>
              <a:sym typeface="Times New Roman"/>
            </a:endParaRPr>
          </a:p>
        </p:txBody>
      </p:sp>
      <p:sp>
        <p:nvSpPr>
          <p:cNvPr id="245" name="Google Shape;245;p36"/>
          <p:cNvSpPr/>
          <p:nvPr/>
        </p:nvSpPr>
        <p:spPr>
          <a:xfrm>
            <a:off x="3987600" y="2357825"/>
            <a:ext cx="1168800" cy="11403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