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5382E9-2576-49D3-83E6-300F00C96932}">
  <a:tblStyle styleId="{765382E9-2576-49D3-83E6-300F00C969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635e2ce5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635e2ce5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635e2ce5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635e2ce5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635e2ce57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635e2ce57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a73dca1650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a73dca1650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73dca1650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a73dca1650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867bf7d2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a867bf7d2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643046aea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643046aea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73dca1650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a73dca1650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a867bf7d25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a867bf7d25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a867bf7d25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a867bf7d25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43046aea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643046ae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87404623b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a87404623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87404623b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a87404623b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a87404623b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a87404623b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87404623b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a87404623b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95f4749f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a95f4749f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87404623b_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a87404623b_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a87404623b_8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a87404623b_8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a87404623b_8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a87404623b_8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87404623b_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a87404623b_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a73dca1650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a73dca1650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a73dca1650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a73dca1650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a867bf7d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a867bf7d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5000">
                <a:latin typeface="Times New Roman"/>
                <a:ea typeface="Times New Roman"/>
                <a:cs typeface="Times New Roman"/>
                <a:sym typeface="Times New Roman"/>
              </a:rPr>
              <a:t>Longest Common Subsequence in </a:t>
            </a:r>
            <a:r>
              <a:rPr i="1" lang="zh-TW" sz="5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 sz="5000">
                <a:latin typeface="Times New Roman"/>
                <a:ea typeface="Times New Roman"/>
                <a:cs typeface="Times New Roman"/>
                <a:sym typeface="Times New Roman"/>
              </a:rPr>
              <a:t> Length Substrings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2834125"/>
            <a:ext cx="9144000" cy="12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Gary Benson, Avivit Levy, Riva Shalom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 Search and Applications: 6th International Conference, SISAP 2013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Coruña, Spain, October 2-4, 2013, Proceedings 6 (pp. 257-265)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Guan-Jie Chen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Dec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26</a:t>
            </a: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2023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paper we define a new problem, motivated by computational biology, LCS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aiming at finding the maximal number of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length substrings, matching in both input string while preserving their order of appearance in the input strings. The traditional LCS definition is a spacial case of our problem, where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1. We provide an algorithm, solving the general case in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time, where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length of the input, equaling the time required for the special case of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1. The space requirement is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In order to enable backtracking of the solution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space is needed.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LCS2 (</a:t>
            </a:r>
            <a:r>
              <a:rPr i="1" lang="zh-TW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= 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T G C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G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 G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G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LCS2: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G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LCS3 (</a:t>
            </a:r>
            <a:r>
              <a:rPr i="1" lang="zh-TW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= 3)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G 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 T G T 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G T T G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G C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LCS3: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G C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LCS4 (</a:t>
            </a:r>
            <a:r>
              <a:rPr i="1" lang="zh-TW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= 4)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T G C G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G T G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G T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G T G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LCS4: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G T G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LCS ⇋ LCS</a:t>
            </a:r>
            <a:r>
              <a:rPr i="1" lang="zh-TW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LCS ≡ LCS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 C G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G T G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G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T G T G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LCS1: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T G T G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Recursive Rule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663" y="1891003"/>
            <a:ext cx="7270675" cy="1361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04" name="Google Shape;104;p20"/>
          <p:cNvGraphicFramePr/>
          <p:nvPr/>
        </p:nvGraphicFramePr>
        <p:xfrm>
          <a:off x="20363" y="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{765382E9-2576-49D3-83E6-300F00C96932}</a:tableStyleId>
              </a:tblPr>
              <a:tblGrid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</a:tblGrid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10" name="Google Shape;110;p21"/>
          <p:cNvGraphicFramePr/>
          <p:nvPr/>
        </p:nvGraphicFramePr>
        <p:xfrm>
          <a:off x="20363" y="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{765382E9-2576-49D3-83E6-300F00C96932}</a:tableStyleId>
              </a:tblPr>
              <a:tblGrid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</a:tblGrid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</a:t>
                      </a: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16" name="Google Shape;116;p22"/>
          <p:cNvGraphicFramePr/>
          <p:nvPr/>
        </p:nvGraphicFramePr>
        <p:xfrm>
          <a:off x="20363" y="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{765382E9-2576-49D3-83E6-300F00C96932}</a:tableStyleId>
              </a:tblPr>
              <a:tblGrid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</a:tblGrid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</a:t>
                      </a: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strike="sng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Predecessors Elimination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25" y="2251975"/>
            <a:ext cx="8978951" cy="6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29" name="Google Shape;129;p24"/>
          <p:cNvGraphicFramePr/>
          <p:nvPr/>
        </p:nvGraphicFramePr>
        <p:xfrm>
          <a:off x="20363" y="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{765382E9-2576-49D3-83E6-300F00C96932}</a:tableStyleId>
              </a:tblPr>
              <a:tblGrid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</a:tblGrid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</a:t>
                      </a:r>
                      <a:r>
                        <a:rPr lang="zh-TW" sz="1200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(2, 3)</a:t>
                      </a:r>
                      <a:endParaRPr sz="1200">
                        <a:solidFill>
                          <a:schemeClr val="accen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35" name="Google Shape;135;p25"/>
          <p:cNvGraphicFramePr/>
          <p:nvPr/>
        </p:nvGraphicFramePr>
        <p:xfrm>
          <a:off x="20363" y="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{765382E9-2576-49D3-83E6-300F00C96932}</a:tableStyleId>
              </a:tblPr>
              <a:tblGrid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</a:tblGrid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(2,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</a:t>
                      </a:r>
                      <a:r>
                        <a:rPr lang="zh-TW" sz="1200" strike="sng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(2, 3)</a:t>
                      </a:r>
                      <a:endParaRPr sz="1200" strike="sng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41" name="Google Shape;141;p26"/>
          <p:cNvGraphicFramePr/>
          <p:nvPr/>
        </p:nvGraphicFramePr>
        <p:xfrm>
          <a:off x="20363" y="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{765382E9-2576-49D3-83E6-300F00C96932}</a:tableStyleId>
              </a:tblPr>
              <a:tblGrid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</a:tblGrid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(2,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47" name="Google Shape;147;p27"/>
          <p:cNvGraphicFramePr/>
          <p:nvPr/>
        </p:nvGraphicFramePr>
        <p:xfrm>
          <a:off x="20363" y="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{765382E9-2576-49D3-83E6-300F00C96932}</a:tableStyleId>
              </a:tblPr>
              <a:tblGrid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</a:tblGrid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(2,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 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</a:t>
                      </a:r>
                      <a:r>
                        <a:rPr lang="zh-TW" sz="1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(5, 6)</a:t>
                      </a:r>
                      <a:endParaRPr sz="1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53" name="Google Shape;153;p28"/>
          <p:cNvGraphicFramePr/>
          <p:nvPr/>
        </p:nvGraphicFramePr>
        <p:xfrm>
          <a:off x="20363" y="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{765382E9-2576-49D3-83E6-300F00C96932}</a:tableStyleId>
              </a:tblPr>
              <a:tblGrid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</a:tblGrid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(2,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 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(5,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(5,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 (6,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(6,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 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 (6,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89338"/>
            <a:ext cx="8839197" cy="1564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65" name="Google Shape;165;p30"/>
          <p:cNvGraphicFramePr/>
          <p:nvPr/>
        </p:nvGraphicFramePr>
        <p:xfrm>
          <a:off x="20363" y="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{765382E9-2576-49D3-83E6-300F00C96932}</a:tableStyleId>
              </a:tblPr>
              <a:tblGrid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</a:tblGrid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(2,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 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(5,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(5,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 (6,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(6,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 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 (6,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71" name="Google Shape;171;p31"/>
          <p:cNvGraphicFramePr/>
          <p:nvPr/>
        </p:nvGraphicFramePr>
        <p:xfrm>
          <a:off x="20363" y="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{765382E9-2576-49D3-83E6-300F00C96932}</a:tableStyleId>
              </a:tblPr>
              <a:tblGrid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</a:tblGrid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(2,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 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(5,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(5,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 (6,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(6,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 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 (6,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77" name="Google Shape;177;p32"/>
          <p:cNvGraphicFramePr/>
          <p:nvPr/>
        </p:nvGraphicFramePr>
        <p:xfrm>
          <a:off x="20363" y="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{765382E9-2576-49D3-83E6-300F00C96932}</a:tableStyleId>
              </a:tblPr>
              <a:tblGrid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</a:tblGrid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(2,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 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(5,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(5,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 (6,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(6,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 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 (6,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83" name="Google Shape;183;p33"/>
          <p:cNvGraphicFramePr/>
          <p:nvPr/>
        </p:nvGraphicFramePr>
        <p:xfrm>
          <a:off x="20363" y="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{765382E9-2576-49D3-83E6-300F00C96932}</a:tableStyleId>
              </a:tblPr>
              <a:tblGrid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  <a:gridCol w="1011475"/>
              </a:tblGrid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(2,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 C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(1, 1) 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 (5,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(5,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(5,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 (6, 2)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5) (6,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 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(4, 1)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 (4, 5)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(7, 3) (6, 6)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(6, 7)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6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 G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LCS2: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(1, 1)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(4, 5)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(6, 7)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T</a:t>
            </a:r>
            <a:endParaRPr sz="24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(2, 3)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(4, 5)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(6, 7)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G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T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T</a:t>
            </a:r>
            <a:endParaRPr sz="24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LCS</a:t>
            </a:r>
            <a:r>
              <a:rPr i="1" lang="zh-TW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Complexity: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Complexity: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Complexity: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number of k matchings in the solution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Complexity: O(</a:t>
            </a:r>
            <a:r>
              <a:rPr i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11700" y="1353325"/>
            <a:ext cx="85206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your patience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36"/>
          <p:cNvSpPr/>
          <p:nvPr/>
        </p:nvSpPr>
        <p:spPr>
          <a:xfrm>
            <a:off x="3987600" y="2357825"/>
            <a:ext cx="1168800" cy="11403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