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5"/>
  </p:notesMasterIdLst>
  <p:sldIdLst>
    <p:sldId id="256" r:id="rId2"/>
    <p:sldId id="265" r:id="rId3"/>
    <p:sldId id="266" r:id="rId4"/>
    <p:sldId id="257" r:id="rId5"/>
    <p:sldId id="268" r:id="rId6"/>
    <p:sldId id="267" r:id="rId7"/>
    <p:sldId id="263" r:id="rId8"/>
    <p:sldId id="269" r:id="rId9"/>
    <p:sldId id="270" r:id="rId10"/>
    <p:sldId id="271" r:id="rId11"/>
    <p:sldId id="275" r:id="rId12"/>
    <p:sldId id="274" r:id="rId13"/>
    <p:sldId id="273"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56"/>
    <p:restoredTop sz="95728"/>
  </p:normalViewPr>
  <p:slideViewPr>
    <p:cSldViewPr snapToGrid="0" snapToObjects="1">
      <p:cViewPr varScale="1">
        <p:scale>
          <a:sx n="70" d="100"/>
          <a:sy n="70" d="100"/>
        </p:scale>
        <p:origin x="54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2023/10/18</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4</a:t>
            </a:fld>
            <a:endParaRPr kumimoji="1" lang="zh-TW" altLang="en-US"/>
          </a:p>
        </p:txBody>
      </p:sp>
    </p:spTree>
    <p:extLst>
      <p:ext uri="{BB962C8B-B14F-4D97-AF65-F5344CB8AC3E}">
        <p14:creationId xmlns:p14="http://schemas.microsoft.com/office/powerpoint/2010/main" val="1193936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5</a:t>
            </a:fld>
            <a:endParaRPr kumimoji="1" lang="zh-TW" altLang="en-US"/>
          </a:p>
        </p:txBody>
      </p:sp>
    </p:spTree>
    <p:extLst>
      <p:ext uri="{BB962C8B-B14F-4D97-AF65-F5344CB8AC3E}">
        <p14:creationId xmlns:p14="http://schemas.microsoft.com/office/powerpoint/2010/main" val="2791419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6</a:t>
            </a:fld>
            <a:endParaRPr kumimoji="1" lang="zh-TW" altLang="en-US"/>
          </a:p>
        </p:txBody>
      </p:sp>
    </p:spTree>
    <p:extLst>
      <p:ext uri="{BB962C8B-B14F-4D97-AF65-F5344CB8AC3E}">
        <p14:creationId xmlns:p14="http://schemas.microsoft.com/office/powerpoint/2010/main" val="1365290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2023/10/18</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2023/10/18</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2023/10/18</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2023/10/18</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2023/10/18</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2023/10/18</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2023/10/18</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2023/10/18</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2023/10/18</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2023/10/18</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2023/10/18</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2023/10/18</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p:txBody>
          <a:bodyPr>
            <a:normAutofit/>
          </a:bodyPr>
          <a:lstStyle/>
          <a:p>
            <a:r>
              <a:rPr kumimoji="1" lang="en" altLang="zh-TW" sz="4800" dirty="0">
                <a:latin typeface="Times" pitchFamily="2" charset="0"/>
              </a:rPr>
              <a:t>Simple is Better: Training an End-to-end Contract Bridge Bidding Agent without Human Knowledge</a:t>
            </a:r>
            <a:endParaRPr kumimoji="1" lang="zh-TW" altLang="en-US" sz="48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p:txBody>
          <a:bodyPr>
            <a:normAutofit/>
          </a:bodyPr>
          <a:lstStyle/>
          <a:p>
            <a:pPr>
              <a:lnSpc>
                <a:spcPct val="100000"/>
              </a:lnSpc>
            </a:pPr>
            <a:r>
              <a:rPr lang="en" altLang="zh-TW" dirty="0" err="1">
                <a:latin typeface="Times" pitchFamily="2" charset="0"/>
              </a:rPr>
              <a:t>Qucheng</a:t>
            </a:r>
            <a:r>
              <a:rPr lang="en" altLang="zh-TW" dirty="0">
                <a:latin typeface="Times" pitchFamily="2" charset="0"/>
              </a:rPr>
              <a:t> Gong, Tina Jiang, </a:t>
            </a:r>
            <a:r>
              <a:rPr lang="en" altLang="zh-TW" dirty="0" err="1">
                <a:latin typeface="Times" pitchFamily="2" charset="0"/>
              </a:rPr>
              <a:t>Yuandong</a:t>
            </a:r>
            <a:r>
              <a:rPr lang="en" altLang="zh-TW" dirty="0">
                <a:latin typeface="Times" pitchFamily="2" charset="0"/>
              </a:rPr>
              <a:t> Tian</a:t>
            </a:r>
          </a:p>
          <a:p>
            <a:pPr>
              <a:lnSpc>
                <a:spcPct val="100000"/>
              </a:lnSpc>
            </a:pPr>
            <a:r>
              <a:rPr lang="en" altLang="zh-TW" dirty="0">
                <a:latin typeface="Times" pitchFamily="2" charset="0"/>
              </a:rPr>
              <a:t>ICLR 2020 Conference Blind Submission, September 26, 2020, </a:t>
            </a:r>
          </a:p>
          <a:p>
            <a:pPr>
              <a:lnSpc>
                <a:spcPct val="100000"/>
              </a:lnSpc>
            </a:pPr>
            <a:r>
              <a:rPr lang="en" altLang="zh-TW" dirty="0">
                <a:latin typeface="Times" pitchFamily="2" charset="0"/>
              </a:rPr>
              <a:t>Addis Ababa, Ethiopia</a:t>
            </a: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Oct.</a:t>
            </a:r>
            <a:r>
              <a:rPr kumimoji="1" lang="zh-TW" altLang="en-US" dirty="0">
                <a:latin typeface="Times" pitchFamily="2" charset="0"/>
              </a:rPr>
              <a:t> </a:t>
            </a:r>
            <a:r>
              <a:rPr kumimoji="1" lang="en-US" altLang="zh-TW" dirty="0">
                <a:latin typeface="Times" pitchFamily="2" charset="0"/>
              </a:rPr>
              <a:t>18,</a:t>
            </a:r>
            <a:r>
              <a:rPr kumimoji="1" lang="zh-TW" altLang="en-US" dirty="0">
                <a:latin typeface="Times" pitchFamily="2" charset="0"/>
              </a:rPr>
              <a:t> </a:t>
            </a:r>
            <a:r>
              <a:rPr kumimoji="1" lang="en-US" altLang="zh-TW" dirty="0">
                <a:latin typeface="Times" pitchFamily="2" charset="0"/>
              </a:rPr>
              <a:t>2023</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Abstract(1/2)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p:txBody>
          <a:bodyPr>
            <a:normAutofit/>
          </a:bodyPr>
          <a:lstStyle/>
          <a:p>
            <a:pPr marL="0" indent="0" algn="just">
              <a:lnSpc>
                <a:spcPct val="150000"/>
              </a:lnSpc>
              <a:buNone/>
            </a:pPr>
            <a:r>
              <a:rPr lang="en" altLang="zh-TW" sz="2400" dirty="0">
                <a:latin typeface="Times" pitchFamily="2" charset="0"/>
              </a:rPr>
              <a:t>Contract bridge is a multi-player imperfect-information game where one partnership collaborate with each other to compete against the other partnership. The game consists of two phases: bidding and playing. While playing is relatively easy for modern software, bidding is challenging and requires agents to learn a communication protocol to reach the optimal contract jointly, with their own private information. The agents need to exchange information to their partners, and interfere opponents, through a sequence of actions.</a:t>
            </a: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Abstract(2/2)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690688"/>
            <a:ext cx="10515600" cy="4546600"/>
          </a:xfrm>
        </p:spPr>
        <p:txBody>
          <a:bodyPr>
            <a:noAutofit/>
          </a:bodyPr>
          <a:lstStyle/>
          <a:p>
            <a:pPr marL="0" indent="0" algn="just">
              <a:lnSpc>
                <a:spcPct val="150000"/>
              </a:lnSpc>
              <a:buNone/>
            </a:pPr>
            <a:r>
              <a:rPr lang="en" altLang="zh-TW" sz="2400" dirty="0">
                <a:latin typeface="Times" pitchFamily="2" charset="0"/>
              </a:rPr>
              <a:t>In this work, we train a strong agent to bid competitive bridge purely through self-play, outperforming WBridge5, a championship-winning software. Furthermore, we show that explicitly modeling belief is not necessary in boosting the performance. To our knowledge, this is the first competitive bridge agent that is trained with no domain knowledge. It outperforms previous state-of-the-art that use human replays with fewer number of parameters.</a:t>
            </a:r>
          </a:p>
        </p:txBody>
      </p:sp>
      <p:sp>
        <p:nvSpPr>
          <p:cNvPr id="4" name="投影片編號版面配置區 3">
            <a:extLst>
              <a:ext uri="{FF2B5EF4-FFF2-40B4-BE49-F238E27FC236}">
                <a16:creationId xmlns:a16="http://schemas.microsoft.com/office/drawing/2014/main" id="{D30063C2-B176-C143-AD15-5E06A3E64C16}"/>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a:p>
        </p:txBody>
      </p:sp>
    </p:spTree>
    <p:extLst>
      <p:ext uri="{BB962C8B-B14F-4D97-AF65-F5344CB8AC3E}">
        <p14:creationId xmlns:p14="http://schemas.microsoft.com/office/powerpoint/2010/main" val="160413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Baseline</a:t>
            </a:r>
            <a:r>
              <a:rPr kumimoji="1" lang="zh-TW" altLang="en-US" dirty="0">
                <a:latin typeface="Times" pitchFamily="2" charset="0"/>
              </a:rPr>
              <a:t> </a:t>
            </a:r>
            <a:r>
              <a:rPr kumimoji="1" lang="en-US" altLang="zh-TW" dirty="0">
                <a:latin typeface="Times" pitchFamily="2" charset="0"/>
              </a:rPr>
              <a:t>16</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dirty="0"/>
          </a:p>
        </p:txBody>
      </p:sp>
      <p:grpSp>
        <p:nvGrpSpPr>
          <p:cNvPr id="5" name="群組 4">
            <a:extLst>
              <a:ext uri="{FF2B5EF4-FFF2-40B4-BE49-F238E27FC236}">
                <a16:creationId xmlns:a16="http://schemas.microsoft.com/office/drawing/2014/main" id="{5B92FB6E-3A79-514C-BB37-BF3434D6A476}"/>
              </a:ext>
            </a:extLst>
          </p:cNvPr>
          <p:cNvGrpSpPr/>
          <p:nvPr/>
        </p:nvGrpSpPr>
        <p:grpSpPr>
          <a:xfrm>
            <a:off x="2271346" y="1814663"/>
            <a:ext cx="7649308" cy="4417711"/>
            <a:chOff x="838200" y="1796347"/>
            <a:chExt cx="6859662" cy="4915234"/>
          </a:xfrm>
        </p:grpSpPr>
        <p:sp>
          <p:nvSpPr>
            <p:cNvPr id="6" name="矩形 5">
              <a:extLst>
                <a:ext uri="{FF2B5EF4-FFF2-40B4-BE49-F238E27FC236}">
                  <a16:creationId xmlns:a16="http://schemas.microsoft.com/office/drawing/2014/main" id="{8654D5C8-1E27-8944-97BE-C915412D9153}"/>
                </a:ext>
              </a:extLst>
            </p:cNvPr>
            <p:cNvSpPr/>
            <p:nvPr/>
          </p:nvSpPr>
          <p:spPr>
            <a:xfrm>
              <a:off x="838200" y="1928674"/>
              <a:ext cx="832260" cy="45399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Hand of player1</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sp>
          <p:nvSpPr>
            <p:cNvPr id="7" name="矩形 6">
              <a:extLst>
                <a:ext uri="{FF2B5EF4-FFF2-40B4-BE49-F238E27FC236}">
                  <a16:creationId xmlns:a16="http://schemas.microsoft.com/office/drawing/2014/main" id="{2226F31B-517D-624B-A388-398134339561}"/>
                </a:ext>
              </a:extLst>
            </p:cNvPr>
            <p:cNvSpPr/>
            <p:nvPr/>
          </p:nvSpPr>
          <p:spPr>
            <a:xfrm>
              <a:off x="6865602" y="1928673"/>
              <a:ext cx="832260" cy="45399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Hand of player2</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grpSp>
          <p:nvGrpSpPr>
            <p:cNvPr id="8" name="群組 7">
              <a:extLst>
                <a:ext uri="{FF2B5EF4-FFF2-40B4-BE49-F238E27FC236}">
                  <a16:creationId xmlns:a16="http://schemas.microsoft.com/office/drawing/2014/main" id="{2E763C77-5A54-C848-9E2B-33807FAB24E2}"/>
                </a:ext>
              </a:extLst>
            </p:cNvPr>
            <p:cNvGrpSpPr/>
            <p:nvPr/>
          </p:nvGrpSpPr>
          <p:grpSpPr>
            <a:xfrm>
              <a:off x="2252149" y="1928673"/>
              <a:ext cx="1073378" cy="1154845"/>
              <a:chOff x="2344191" y="1438101"/>
              <a:chExt cx="1147153" cy="1330036"/>
            </a:xfrm>
          </p:grpSpPr>
          <p:sp>
            <p:nvSpPr>
              <p:cNvPr id="108" name="矩形 107">
                <a:extLst>
                  <a:ext uri="{FF2B5EF4-FFF2-40B4-BE49-F238E27FC236}">
                    <a16:creationId xmlns:a16="http://schemas.microsoft.com/office/drawing/2014/main" id="{E8C6962E-8E0E-4B48-8A70-D5A93E78255B}"/>
                  </a:ext>
                </a:extLst>
              </p:cNvPr>
              <p:cNvSpPr/>
              <p:nvPr/>
            </p:nvSpPr>
            <p:spPr>
              <a:xfrm>
                <a:off x="2344191"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109" name="矩形 108">
                <a:extLst>
                  <a:ext uri="{FF2B5EF4-FFF2-40B4-BE49-F238E27FC236}">
                    <a16:creationId xmlns:a16="http://schemas.microsoft.com/office/drawing/2014/main" id="{D4D6DB8F-8F3B-7F47-A030-60562D76458F}"/>
                  </a:ext>
                </a:extLst>
              </p:cNvPr>
              <p:cNvSpPr/>
              <p:nvPr/>
            </p:nvSpPr>
            <p:spPr>
              <a:xfrm>
                <a:off x="2657303"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110" name="矩形 109">
                <a:extLst>
                  <a:ext uri="{FF2B5EF4-FFF2-40B4-BE49-F238E27FC236}">
                    <a16:creationId xmlns:a16="http://schemas.microsoft.com/office/drawing/2014/main" id="{963BC295-4F25-274D-9E95-C42A4DC4341B}"/>
                  </a:ext>
                </a:extLst>
              </p:cNvPr>
              <p:cNvSpPr/>
              <p:nvPr/>
            </p:nvSpPr>
            <p:spPr>
              <a:xfrm>
                <a:off x="2970416"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111" name="矩形 110">
                <a:extLst>
                  <a:ext uri="{FF2B5EF4-FFF2-40B4-BE49-F238E27FC236}">
                    <a16:creationId xmlns:a16="http://schemas.microsoft.com/office/drawing/2014/main" id="{38AF0D84-4899-7045-922A-5935AFCBC266}"/>
                  </a:ext>
                </a:extLst>
              </p:cNvPr>
              <p:cNvSpPr/>
              <p:nvPr/>
            </p:nvSpPr>
            <p:spPr>
              <a:xfrm>
                <a:off x="3283529"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nvGrpSpPr>
            <p:cNvPr id="9" name="群組 8">
              <a:extLst>
                <a:ext uri="{FF2B5EF4-FFF2-40B4-BE49-F238E27FC236}">
                  <a16:creationId xmlns:a16="http://schemas.microsoft.com/office/drawing/2014/main" id="{45FCE516-8AB6-4641-806F-E781D2FCE432}"/>
                </a:ext>
              </a:extLst>
            </p:cNvPr>
            <p:cNvGrpSpPr/>
            <p:nvPr/>
          </p:nvGrpSpPr>
          <p:grpSpPr>
            <a:xfrm>
              <a:off x="4160080" y="1796347"/>
              <a:ext cx="479649" cy="1419497"/>
              <a:chOff x="5981206" y="2103119"/>
              <a:chExt cx="512615" cy="1634836"/>
            </a:xfrm>
          </p:grpSpPr>
          <p:grpSp>
            <p:nvGrpSpPr>
              <p:cNvPr id="84" name="群組 83">
                <a:extLst>
                  <a:ext uri="{FF2B5EF4-FFF2-40B4-BE49-F238E27FC236}">
                    <a16:creationId xmlns:a16="http://schemas.microsoft.com/office/drawing/2014/main" id="{BFAD697A-A756-C34D-9F21-A00F6F7C40F8}"/>
                  </a:ext>
                </a:extLst>
              </p:cNvPr>
              <p:cNvGrpSpPr/>
              <p:nvPr/>
            </p:nvGrpSpPr>
            <p:grpSpPr>
              <a:xfrm>
                <a:off x="5981206" y="2103119"/>
                <a:ext cx="207815" cy="1330036"/>
                <a:chOff x="5981206" y="2103119"/>
                <a:chExt cx="207815" cy="1330036"/>
              </a:xfrm>
            </p:grpSpPr>
            <p:sp>
              <p:nvSpPr>
                <p:cNvPr id="101" name="矩形 100">
                  <a:extLst>
                    <a:ext uri="{FF2B5EF4-FFF2-40B4-BE49-F238E27FC236}">
                      <a16:creationId xmlns:a16="http://schemas.microsoft.com/office/drawing/2014/main" id="{5448D5AD-051E-5147-AE76-AA69BD368ACE}"/>
                    </a:ext>
                  </a:extLst>
                </p:cNvPr>
                <p:cNvSpPr/>
                <p:nvPr/>
              </p:nvSpPr>
              <p:spPr>
                <a:xfrm>
                  <a:off x="5981206" y="2103119"/>
                  <a:ext cx="207815" cy="13300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102" name="橢圓 101">
                  <a:extLst>
                    <a:ext uri="{FF2B5EF4-FFF2-40B4-BE49-F238E27FC236}">
                      <a16:creationId xmlns:a16="http://schemas.microsoft.com/office/drawing/2014/main" id="{9A3BA8AE-92CE-B54C-91C2-84FC610962EE}"/>
                    </a:ext>
                  </a:extLst>
                </p:cNvPr>
                <p:cNvSpPr/>
                <p:nvPr/>
              </p:nvSpPr>
              <p:spPr>
                <a:xfrm>
                  <a:off x="6000271" y="2128519"/>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103" name="橢圓 102">
                  <a:extLst>
                    <a:ext uri="{FF2B5EF4-FFF2-40B4-BE49-F238E27FC236}">
                      <a16:creationId xmlns:a16="http://schemas.microsoft.com/office/drawing/2014/main" id="{8EBFC94D-00C4-7143-9D53-64717B4EFBA0}"/>
                    </a:ext>
                  </a:extLst>
                </p:cNvPr>
                <p:cNvSpPr/>
                <p:nvPr/>
              </p:nvSpPr>
              <p:spPr>
                <a:xfrm>
                  <a:off x="6000271" y="2352306"/>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104" name="橢圓 103">
                  <a:extLst>
                    <a:ext uri="{FF2B5EF4-FFF2-40B4-BE49-F238E27FC236}">
                      <a16:creationId xmlns:a16="http://schemas.microsoft.com/office/drawing/2014/main" id="{AD364426-CD27-6442-9302-325B92AE6310}"/>
                    </a:ext>
                  </a:extLst>
                </p:cNvPr>
                <p:cNvSpPr/>
                <p:nvPr/>
              </p:nvSpPr>
              <p:spPr>
                <a:xfrm>
                  <a:off x="6000271" y="2576093"/>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105" name="橢圓 104">
                  <a:extLst>
                    <a:ext uri="{FF2B5EF4-FFF2-40B4-BE49-F238E27FC236}">
                      <a16:creationId xmlns:a16="http://schemas.microsoft.com/office/drawing/2014/main" id="{0DF84514-AB6A-B249-96F5-5112A8B1D209}"/>
                    </a:ext>
                  </a:extLst>
                </p:cNvPr>
                <p:cNvSpPr/>
                <p:nvPr/>
              </p:nvSpPr>
              <p:spPr>
                <a:xfrm>
                  <a:off x="6000271" y="2799880"/>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106" name="橢圓 105">
                  <a:extLst>
                    <a:ext uri="{FF2B5EF4-FFF2-40B4-BE49-F238E27FC236}">
                      <a16:creationId xmlns:a16="http://schemas.microsoft.com/office/drawing/2014/main" id="{8A86566C-F087-4645-AC5A-775849A2E318}"/>
                    </a:ext>
                  </a:extLst>
                </p:cNvPr>
                <p:cNvSpPr/>
                <p:nvPr/>
              </p:nvSpPr>
              <p:spPr>
                <a:xfrm>
                  <a:off x="6000271" y="3247454"/>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107" name="橢圓 106">
                  <a:extLst>
                    <a:ext uri="{FF2B5EF4-FFF2-40B4-BE49-F238E27FC236}">
                      <a16:creationId xmlns:a16="http://schemas.microsoft.com/office/drawing/2014/main" id="{B8457F20-067D-F94D-B213-8372A244F40D}"/>
                    </a:ext>
                  </a:extLst>
                </p:cNvPr>
                <p:cNvSpPr/>
                <p:nvPr/>
              </p:nvSpPr>
              <p:spPr>
                <a:xfrm>
                  <a:off x="6000271" y="3023667"/>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nvGrpSpPr>
              <p:cNvPr id="85" name="群組 84">
                <a:extLst>
                  <a:ext uri="{FF2B5EF4-FFF2-40B4-BE49-F238E27FC236}">
                    <a16:creationId xmlns:a16="http://schemas.microsoft.com/office/drawing/2014/main" id="{C6EF6E4D-5DC9-CC4A-84D7-32DFC0E57038}"/>
                  </a:ext>
                </a:extLst>
              </p:cNvPr>
              <p:cNvGrpSpPr/>
              <p:nvPr/>
            </p:nvGrpSpPr>
            <p:grpSpPr>
              <a:xfrm>
                <a:off x="6133606" y="2255519"/>
                <a:ext cx="207815" cy="1330036"/>
                <a:chOff x="5981206" y="2103119"/>
                <a:chExt cx="207815" cy="1330036"/>
              </a:xfrm>
            </p:grpSpPr>
            <p:sp>
              <p:nvSpPr>
                <p:cNvPr id="94" name="矩形 93">
                  <a:extLst>
                    <a:ext uri="{FF2B5EF4-FFF2-40B4-BE49-F238E27FC236}">
                      <a16:creationId xmlns:a16="http://schemas.microsoft.com/office/drawing/2014/main" id="{3640E2AC-8209-4D46-8963-F36ADFF215CA}"/>
                    </a:ext>
                  </a:extLst>
                </p:cNvPr>
                <p:cNvSpPr/>
                <p:nvPr/>
              </p:nvSpPr>
              <p:spPr>
                <a:xfrm>
                  <a:off x="5981206" y="2103119"/>
                  <a:ext cx="207815" cy="13300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95" name="橢圓 94">
                  <a:extLst>
                    <a:ext uri="{FF2B5EF4-FFF2-40B4-BE49-F238E27FC236}">
                      <a16:creationId xmlns:a16="http://schemas.microsoft.com/office/drawing/2014/main" id="{8E0EBE52-5D8C-E849-A8E0-2E0C9E5BAAC8}"/>
                    </a:ext>
                  </a:extLst>
                </p:cNvPr>
                <p:cNvSpPr/>
                <p:nvPr/>
              </p:nvSpPr>
              <p:spPr>
                <a:xfrm>
                  <a:off x="6000271" y="2128519"/>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96" name="橢圓 95">
                  <a:extLst>
                    <a:ext uri="{FF2B5EF4-FFF2-40B4-BE49-F238E27FC236}">
                      <a16:creationId xmlns:a16="http://schemas.microsoft.com/office/drawing/2014/main" id="{F8912828-1412-1C45-A04A-4763A171704A}"/>
                    </a:ext>
                  </a:extLst>
                </p:cNvPr>
                <p:cNvSpPr/>
                <p:nvPr/>
              </p:nvSpPr>
              <p:spPr>
                <a:xfrm>
                  <a:off x="6000271" y="2352306"/>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97" name="橢圓 96">
                  <a:extLst>
                    <a:ext uri="{FF2B5EF4-FFF2-40B4-BE49-F238E27FC236}">
                      <a16:creationId xmlns:a16="http://schemas.microsoft.com/office/drawing/2014/main" id="{5C3E1E33-3782-8D44-9778-9C9B15D53BDD}"/>
                    </a:ext>
                  </a:extLst>
                </p:cNvPr>
                <p:cNvSpPr/>
                <p:nvPr/>
              </p:nvSpPr>
              <p:spPr>
                <a:xfrm>
                  <a:off x="6000271" y="2576093"/>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98" name="橢圓 97">
                  <a:extLst>
                    <a:ext uri="{FF2B5EF4-FFF2-40B4-BE49-F238E27FC236}">
                      <a16:creationId xmlns:a16="http://schemas.microsoft.com/office/drawing/2014/main" id="{8DBEB4EE-4584-E242-B724-6366A4F06065}"/>
                    </a:ext>
                  </a:extLst>
                </p:cNvPr>
                <p:cNvSpPr/>
                <p:nvPr/>
              </p:nvSpPr>
              <p:spPr>
                <a:xfrm>
                  <a:off x="6000271" y="2799880"/>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99" name="橢圓 98">
                  <a:extLst>
                    <a:ext uri="{FF2B5EF4-FFF2-40B4-BE49-F238E27FC236}">
                      <a16:creationId xmlns:a16="http://schemas.microsoft.com/office/drawing/2014/main" id="{58906242-AEFB-C44D-AD43-592CE403E62F}"/>
                    </a:ext>
                  </a:extLst>
                </p:cNvPr>
                <p:cNvSpPr/>
                <p:nvPr/>
              </p:nvSpPr>
              <p:spPr>
                <a:xfrm>
                  <a:off x="6000271" y="3247454"/>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100" name="橢圓 99">
                  <a:extLst>
                    <a:ext uri="{FF2B5EF4-FFF2-40B4-BE49-F238E27FC236}">
                      <a16:creationId xmlns:a16="http://schemas.microsoft.com/office/drawing/2014/main" id="{C1E6274B-DE27-B543-889D-CDAF81D18855}"/>
                    </a:ext>
                  </a:extLst>
                </p:cNvPr>
                <p:cNvSpPr/>
                <p:nvPr/>
              </p:nvSpPr>
              <p:spPr>
                <a:xfrm>
                  <a:off x="6000271" y="3023667"/>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nvGrpSpPr>
              <p:cNvPr id="86" name="群組 85">
                <a:extLst>
                  <a:ext uri="{FF2B5EF4-FFF2-40B4-BE49-F238E27FC236}">
                    <a16:creationId xmlns:a16="http://schemas.microsoft.com/office/drawing/2014/main" id="{F53A0A96-DAEB-D342-925A-20F26B85BC08}"/>
                  </a:ext>
                </a:extLst>
              </p:cNvPr>
              <p:cNvGrpSpPr/>
              <p:nvPr/>
            </p:nvGrpSpPr>
            <p:grpSpPr>
              <a:xfrm>
                <a:off x="6286006" y="2407919"/>
                <a:ext cx="207815" cy="1330036"/>
                <a:chOff x="5981206" y="2103119"/>
                <a:chExt cx="207815" cy="1330036"/>
              </a:xfrm>
            </p:grpSpPr>
            <p:sp>
              <p:nvSpPr>
                <p:cNvPr id="87" name="矩形 86">
                  <a:extLst>
                    <a:ext uri="{FF2B5EF4-FFF2-40B4-BE49-F238E27FC236}">
                      <a16:creationId xmlns:a16="http://schemas.microsoft.com/office/drawing/2014/main" id="{A8627098-4F18-8A42-B3D8-2CC808DAEFEE}"/>
                    </a:ext>
                  </a:extLst>
                </p:cNvPr>
                <p:cNvSpPr/>
                <p:nvPr/>
              </p:nvSpPr>
              <p:spPr>
                <a:xfrm>
                  <a:off x="5981206" y="2103119"/>
                  <a:ext cx="207815" cy="13300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88" name="橢圓 87">
                  <a:extLst>
                    <a:ext uri="{FF2B5EF4-FFF2-40B4-BE49-F238E27FC236}">
                      <a16:creationId xmlns:a16="http://schemas.microsoft.com/office/drawing/2014/main" id="{BD678C96-C5BE-ED49-B761-BDF900FB5CB6}"/>
                    </a:ext>
                  </a:extLst>
                </p:cNvPr>
                <p:cNvSpPr/>
                <p:nvPr/>
              </p:nvSpPr>
              <p:spPr>
                <a:xfrm>
                  <a:off x="6000271" y="2128519"/>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89" name="橢圓 88">
                  <a:extLst>
                    <a:ext uri="{FF2B5EF4-FFF2-40B4-BE49-F238E27FC236}">
                      <a16:creationId xmlns:a16="http://schemas.microsoft.com/office/drawing/2014/main" id="{6C186AEE-6497-E144-819E-281EF217B3A0}"/>
                    </a:ext>
                  </a:extLst>
                </p:cNvPr>
                <p:cNvSpPr/>
                <p:nvPr/>
              </p:nvSpPr>
              <p:spPr>
                <a:xfrm>
                  <a:off x="6000271" y="2352306"/>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90" name="橢圓 89">
                  <a:extLst>
                    <a:ext uri="{FF2B5EF4-FFF2-40B4-BE49-F238E27FC236}">
                      <a16:creationId xmlns:a16="http://schemas.microsoft.com/office/drawing/2014/main" id="{017353F5-71CF-8544-9E71-2EF3E2748996}"/>
                    </a:ext>
                  </a:extLst>
                </p:cNvPr>
                <p:cNvSpPr/>
                <p:nvPr/>
              </p:nvSpPr>
              <p:spPr>
                <a:xfrm>
                  <a:off x="6000271" y="2576093"/>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91" name="橢圓 90">
                  <a:extLst>
                    <a:ext uri="{FF2B5EF4-FFF2-40B4-BE49-F238E27FC236}">
                      <a16:creationId xmlns:a16="http://schemas.microsoft.com/office/drawing/2014/main" id="{10573BFF-380F-E64D-AB29-EEF4590F6F5A}"/>
                    </a:ext>
                  </a:extLst>
                </p:cNvPr>
                <p:cNvSpPr/>
                <p:nvPr/>
              </p:nvSpPr>
              <p:spPr>
                <a:xfrm>
                  <a:off x="6000271" y="2799880"/>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92" name="橢圓 91">
                  <a:extLst>
                    <a:ext uri="{FF2B5EF4-FFF2-40B4-BE49-F238E27FC236}">
                      <a16:creationId xmlns:a16="http://schemas.microsoft.com/office/drawing/2014/main" id="{D3E21324-AB6D-F14A-A06A-0063FEDDB730}"/>
                    </a:ext>
                  </a:extLst>
                </p:cNvPr>
                <p:cNvSpPr/>
                <p:nvPr/>
              </p:nvSpPr>
              <p:spPr>
                <a:xfrm>
                  <a:off x="6000271" y="3247454"/>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93" name="橢圓 92">
                  <a:extLst>
                    <a:ext uri="{FF2B5EF4-FFF2-40B4-BE49-F238E27FC236}">
                      <a16:creationId xmlns:a16="http://schemas.microsoft.com/office/drawing/2014/main" id="{871A80E3-0F1E-0445-A3A4-6A41FFF5B8DB}"/>
                    </a:ext>
                  </a:extLst>
                </p:cNvPr>
                <p:cNvSpPr/>
                <p:nvPr/>
              </p:nvSpPr>
              <p:spPr>
                <a:xfrm>
                  <a:off x="6000271" y="3023667"/>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grpSp>
          <p:nvGrpSpPr>
            <p:cNvPr id="10" name="群組 9">
              <a:extLst>
                <a:ext uri="{FF2B5EF4-FFF2-40B4-BE49-F238E27FC236}">
                  <a16:creationId xmlns:a16="http://schemas.microsoft.com/office/drawing/2014/main" id="{19746183-2A37-EA4B-A123-EB5B5268C457}"/>
                </a:ext>
              </a:extLst>
            </p:cNvPr>
            <p:cNvGrpSpPr/>
            <p:nvPr/>
          </p:nvGrpSpPr>
          <p:grpSpPr>
            <a:xfrm>
              <a:off x="5200932" y="3662595"/>
              <a:ext cx="1073380" cy="1154845"/>
              <a:chOff x="2344190" y="1438101"/>
              <a:chExt cx="1147154" cy="1330036"/>
            </a:xfrm>
          </p:grpSpPr>
          <p:sp>
            <p:nvSpPr>
              <p:cNvPr id="80" name="矩形 79">
                <a:extLst>
                  <a:ext uri="{FF2B5EF4-FFF2-40B4-BE49-F238E27FC236}">
                    <a16:creationId xmlns:a16="http://schemas.microsoft.com/office/drawing/2014/main" id="{F7425A76-915E-6847-B6E8-CA98232E308A}"/>
                  </a:ext>
                </a:extLst>
              </p:cNvPr>
              <p:cNvSpPr/>
              <p:nvPr/>
            </p:nvSpPr>
            <p:spPr>
              <a:xfrm>
                <a:off x="2344190"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81" name="矩形 80">
                <a:extLst>
                  <a:ext uri="{FF2B5EF4-FFF2-40B4-BE49-F238E27FC236}">
                    <a16:creationId xmlns:a16="http://schemas.microsoft.com/office/drawing/2014/main" id="{AF23DB79-CE0D-CB47-A358-BD4BF7C437F9}"/>
                  </a:ext>
                </a:extLst>
              </p:cNvPr>
              <p:cNvSpPr/>
              <p:nvPr/>
            </p:nvSpPr>
            <p:spPr>
              <a:xfrm>
                <a:off x="2657303"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82" name="矩形 81">
                <a:extLst>
                  <a:ext uri="{FF2B5EF4-FFF2-40B4-BE49-F238E27FC236}">
                    <a16:creationId xmlns:a16="http://schemas.microsoft.com/office/drawing/2014/main" id="{82F9FAA2-2B09-2C4D-9ADC-AF4AAD458503}"/>
                  </a:ext>
                </a:extLst>
              </p:cNvPr>
              <p:cNvSpPr/>
              <p:nvPr/>
            </p:nvSpPr>
            <p:spPr>
              <a:xfrm>
                <a:off x="2970416"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83" name="矩形 82">
                <a:extLst>
                  <a:ext uri="{FF2B5EF4-FFF2-40B4-BE49-F238E27FC236}">
                    <a16:creationId xmlns:a16="http://schemas.microsoft.com/office/drawing/2014/main" id="{00E64F46-5585-4849-AE2B-0A16FA4836CB}"/>
                  </a:ext>
                </a:extLst>
              </p:cNvPr>
              <p:cNvSpPr/>
              <p:nvPr/>
            </p:nvSpPr>
            <p:spPr>
              <a:xfrm>
                <a:off x="3283529"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nvGrpSpPr>
            <p:cNvPr id="11" name="群組 10">
              <a:extLst>
                <a:ext uri="{FF2B5EF4-FFF2-40B4-BE49-F238E27FC236}">
                  <a16:creationId xmlns:a16="http://schemas.microsoft.com/office/drawing/2014/main" id="{AEC353BA-C031-F447-B1B9-FD6ECED7D3C9}"/>
                </a:ext>
              </a:extLst>
            </p:cNvPr>
            <p:cNvGrpSpPr/>
            <p:nvPr/>
          </p:nvGrpSpPr>
          <p:grpSpPr>
            <a:xfrm>
              <a:off x="3836320" y="3530269"/>
              <a:ext cx="479649" cy="1419497"/>
              <a:chOff x="5981206" y="2103119"/>
              <a:chExt cx="512615" cy="1634836"/>
            </a:xfrm>
          </p:grpSpPr>
          <p:grpSp>
            <p:nvGrpSpPr>
              <p:cNvPr id="56" name="群組 55">
                <a:extLst>
                  <a:ext uri="{FF2B5EF4-FFF2-40B4-BE49-F238E27FC236}">
                    <a16:creationId xmlns:a16="http://schemas.microsoft.com/office/drawing/2014/main" id="{DCC91DF7-D80E-584B-BF3B-6CC0278316F6}"/>
                  </a:ext>
                </a:extLst>
              </p:cNvPr>
              <p:cNvGrpSpPr/>
              <p:nvPr/>
            </p:nvGrpSpPr>
            <p:grpSpPr>
              <a:xfrm>
                <a:off x="5981206" y="2103119"/>
                <a:ext cx="207815" cy="1330036"/>
                <a:chOff x="5981206" y="2103119"/>
                <a:chExt cx="207815" cy="1330036"/>
              </a:xfrm>
            </p:grpSpPr>
            <p:sp>
              <p:nvSpPr>
                <p:cNvPr id="73" name="矩形 72">
                  <a:extLst>
                    <a:ext uri="{FF2B5EF4-FFF2-40B4-BE49-F238E27FC236}">
                      <a16:creationId xmlns:a16="http://schemas.microsoft.com/office/drawing/2014/main" id="{7B91DF77-0EDB-654F-8655-FFC9E2EDDA19}"/>
                    </a:ext>
                  </a:extLst>
                </p:cNvPr>
                <p:cNvSpPr/>
                <p:nvPr/>
              </p:nvSpPr>
              <p:spPr>
                <a:xfrm>
                  <a:off x="5981206" y="2103119"/>
                  <a:ext cx="207815" cy="13300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74" name="橢圓 73">
                  <a:extLst>
                    <a:ext uri="{FF2B5EF4-FFF2-40B4-BE49-F238E27FC236}">
                      <a16:creationId xmlns:a16="http://schemas.microsoft.com/office/drawing/2014/main" id="{7137A46C-9D25-2C49-8E54-C708D19EE3D3}"/>
                    </a:ext>
                  </a:extLst>
                </p:cNvPr>
                <p:cNvSpPr/>
                <p:nvPr/>
              </p:nvSpPr>
              <p:spPr>
                <a:xfrm>
                  <a:off x="6000271" y="2128519"/>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75" name="橢圓 74">
                  <a:extLst>
                    <a:ext uri="{FF2B5EF4-FFF2-40B4-BE49-F238E27FC236}">
                      <a16:creationId xmlns:a16="http://schemas.microsoft.com/office/drawing/2014/main" id="{C0A24E7E-DBE6-CF45-B55F-92E2547885A3}"/>
                    </a:ext>
                  </a:extLst>
                </p:cNvPr>
                <p:cNvSpPr/>
                <p:nvPr/>
              </p:nvSpPr>
              <p:spPr>
                <a:xfrm>
                  <a:off x="6000271" y="2352306"/>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76" name="橢圓 75">
                  <a:extLst>
                    <a:ext uri="{FF2B5EF4-FFF2-40B4-BE49-F238E27FC236}">
                      <a16:creationId xmlns:a16="http://schemas.microsoft.com/office/drawing/2014/main" id="{BD186824-1128-FE42-80DF-081E9A0376BC}"/>
                    </a:ext>
                  </a:extLst>
                </p:cNvPr>
                <p:cNvSpPr/>
                <p:nvPr/>
              </p:nvSpPr>
              <p:spPr>
                <a:xfrm>
                  <a:off x="6000271" y="2576093"/>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77" name="橢圓 76">
                  <a:extLst>
                    <a:ext uri="{FF2B5EF4-FFF2-40B4-BE49-F238E27FC236}">
                      <a16:creationId xmlns:a16="http://schemas.microsoft.com/office/drawing/2014/main" id="{2DCF20E7-0659-8A4B-9DE0-71A4F8341BF9}"/>
                    </a:ext>
                  </a:extLst>
                </p:cNvPr>
                <p:cNvSpPr/>
                <p:nvPr/>
              </p:nvSpPr>
              <p:spPr>
                <a:xfrm>
                  <a:off x="6000271" y="2799880"/>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78" name="橢圓 77">
                  <a:extLst>
                    <a:ext uri="{FF2B5EF4-FFF2-40B4-BE49-F238E27FC236}">
                      <a16:creationId xmlns:a16="http://schemas.microsoft.com/office/drawing/2014/main" id="{0CDDAAA2-DE38-EF40-B8EF-495F0C3F802B}"/>
                    </a:ext>
                  </a:extLst>
                </p:cNvPr>
                <p:cNvSpPr/>
                <p:nvPr/>
              </p:nvSpPr>
              <p:spPr>
                <a:xfrm>
                  <a:off x="6000271" y="3247454"/>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79" name="橢圓 78">
                  <a:extLst>
                    <a:ext uri="{FF2B5EF4-FFF2-40B4-BE49-F238E27FC236}">
                      <a16:creationId xmlns:a16="http://schemas.microsoft.com/office/drawing/2014/main" id="{94C405D7-0D72-5044-A725-367F4A3BCBE3}"/>
                    </a:ext>
                  </a:extLst>
                </p:cNvPr>
                <p:cNvSpPr/>
                <p:nvPr/>
              </p:nvSpPr>
              <p:spPr>
                <a:xfrm>
                  <a:off x="6000271" y="3023667"/>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nvGrpSpPr>
              <p:cNvPr id="57" name="群組 56">
                <a:extLst>
                  <a:ext uri="{FF2B5EF4-FFF2-40B4-BE49-F238E27FC236}">
                    <a16:creationId xmlns:a16="http://schemas.microsoft.com/office/drawing/2014/main" id="{CB181771-22FC-CB49-94C2-A0B2306E794E}"/>
                  </a:ext>
                </a:extLst>
              </p:cNvPr>
              <p:cNvGrpSpPr/>
              <p:nvPr/>
            </p:nvGrpSpPr>
            <p:grpSpPr>
              <a:xfrm>
                <a:off x="6133606" y="2255519"/>
                <a:ext cx="207815" cy="1330036"/>
                <a:chOff x="5981206" y="2103119"/>
                <a:chExt cx="207815" cy="1330036"/>
              </a:xfrm>
            </p:grpSpPr>
            <p:sp>
              <p:nvSpPr>
                <p:cNvPr id="66" name="矩形 65">
                  <a:extLst>
                    <a:ext uri="{FF2B5EF4-FFF2-40B4-BE49-F238E27FC236}">
                      <a16:creationId xmlns:a16="http://schemas.microsoft.com/office/drawing/2014/main" id="{B94041B0-F8BD-F242-813C-0214219DF4A9}"/>
                    </a:ext>
                  </a:extLst>
                </p:cNvPr>
                <p:cNvSpPr/>
                <p:nvPr/>
              </p:nvSpPr>
              <p:spPr>
                <a:xfrm>
                  <a:off x="5981206" y="2103119"/>
                  <a:ext cx="207815" cy="13300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67" name="橢圓 66">
                  <a:extLst>
                    <a:ext uri="{FF2B5EF4-FFF2-40B4-BE49-F238E27FC236}">
                      <a16:creationId xmlns:a16="http://schemas.microsoft.com/office/drawing/2014/main" id="{C759E7A0-1FF4-F947-A910-6CB82B585E5F}"/>
                    </a:ext>
                  </a:extLst>
                </p:cNvPr>
                <p:cNvSpPr/>
                <p:nvPr/>
              </p:nvSpPr>
              <p:spPr>
                <a:xfrm>
                  <a:off x="6000271" y="2128519"/>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68" name="橢圓 67">
                  <a:extLst>
                    <a:ext uri="{FF2B5EF4-FFF2-40B4-BE49-F238E27FC236}">
                      <a16:creationId xmlns:a16="http://schemas.microsoft.com/office/drawing/2014/main" id="{DF1ED2CB-05E3-924B-AE64-3E01D5B34EFE}"/>
                    </a:ext>
                  </a:extLst>
                </p:cNvPr>
                <p:cNvSpPr/>
                <p:nvPr/>
              </p:nvSpPr>
              <p:spPr>
                <a:xfrm>
                  <a:off x="6000271" y="2352306"/>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69" name="橢圓 68">
                  <a:extLst>
                    <a:ext uri="{FF2B5EF4-FFF2-40B4-BE49-F238E27FC236}">
                      <a16:creationId xmlns:a16="http://schemas.microsoft.com/office/drawing/2014/main" id="{A7DB74DA-054D-2645-807B-B7B68D142F2E}"/>
                    </a:ext>
                  </a:extLst>
                </p:cNvPr>
                <p:cNvSpPr/>
                <p:nvPr/>
              </p:nvSpPr>
              <p:spPr>
                <a:xfrm>
                  <a:off x="6000271" y="2576093"/>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70" name="橢圓 69">
                  <a:extLst>
                    <a:ext uri="{FF2B5EF4-FFF2-40B4-BE49-F238E27FC236}">
                      <a16:creationId xmlns:a16="http://schemas.microsoft.com/office/drawing/2014/main" id="{624D39AD-BEFB-3D40-A8CC-5477E43E16DE}"/>
                    </a:ext>
                  </a:extLst>
                </p:cNvPr>
                <p:cNvSpPr/>
                <p:nvPr/>
              </p:nvSpPr>
              <p:spPr>
                <a:xfrm>
                  <a:off x="6000271" y="2799880"/>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71" name="橢圓 70">
                  <a:extLst>
                    <a:ext uri="{FF2B5EF4-FFF2-40B4-BE49-F238E27FC236}">
                      <a16:creationId xmlns:a16="http://schemas.microsoft.com/office/drawing/2014/main" id="{EC4DC980-BEFD-534E-B9F1-C309F56B6494}"/>
                    </a:ext>
                  </a:extLst>
                </p:cNvPr>
                <p:cNvSpPr/>
                <p:nvPr/>
              </p:nvSpPr>
              <p:spPr>
                <a:xfrm>
                  <a:off x="6000271" y="3247454"/>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72" name="橢圓 71">
                  <a:extLst>
                    <a:ext uri="{FF2B5EF4-FFF2-40B4-BE49-F238E27FC236}">
                      <a16:creationId xmlns:a16="http://schemas.microsoft.com/office/drawing/2014/main" id="{A82E80B5-8B00-C341-87B7-AE139C7A5FC5}"/>
                    </a:ext>
                  </a:extLst>
                </p:cNvPr>
                <p:cNvSpPr/>
                <p:nvPr/>
              </p:nvSpPr>
              <p:spPr>
                <a:xfrm>
                  <a:off x="6000271" y="3023667"/>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nvGrpSpPr>
              <p:cNvPr id="58" name="群組 57">
                <a:extLst>
                  <a:ext uri="{FF2B5EF4-FFF2-40B4-BE49-F238E27FC236}">
                    <a16:creationId xmlns:a16="http://schemas.microsoft.com/office/drawing/2014/main" id="{5AF0B8F3-0899-8C4F-A150-D5158D164A01}"/>
                  </a:ext>
                </a:extLst>
              </p:cNvPr>
              <p:cNvGrpSpPr/>
              <p:nvPr/>
            </p:nvGrpSpPr>
            <p:grpSpPr>
              <a:xfrm>
                <a:off x="6286006" y="2407919"/>
                <a:ext cx="207815" cy="1330036"/>
                <a:chOff x="5981206" y="2103119"/>
                <a:chExt cx="207815" cy="1330036"/>
              </a:xfrm>
            </p:grpSpPr>
            <p:sp>
              <p:nvSpPr>
                <p:cNvPr id="59" name="矩形 58">
                  <a:extLst>
                    <a:ext uri="{FF2B5EF4-FFF2-40B4-BE49-F238E27FC236}">
                      <a16:creationId xmlns:a16="http://schemas.microsoft.com/office/drawing/2014/main" id="{0E511F64-9715-ED42-970A-A2589E5DF2CD}"/>
                    </a:ext>
                  </a:extLst>
                </p:cNvPr>
                <p:cNvSpPr/>
                <p:nvPr/>
              </p:nvSpPr>
              <p:spPr>
                <a:xfrm>
                  <a:off x="5981206" y="2103119"/>
                  <a:ext cx="207815" cy="13300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60" name="橢圓 59">
                  <a:extLst>
                    <a:ext uri="{FF2B5EF4-FFF2-40B4-BE49-F238E27FC236}">
                      <a16:creationId xmlns:a16="http://schemas.microsoft.com/office/drawing/2014/main" id="{181A0A81-8E2D-9240-8A5D-BD8C285F612A}"/>
                    </a:ext>
                  </a:extLst>
                </p:cNvPr>
                <p:cNvSpPr/>
                <p:nvPr/>
              </p:nvSpPr>
              <p:spPr>
                <a:xfrm>
                  <a:off x="6000271" y="2128519"/>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61" name="橢圓 60">
                  <a:extLst>
                    <a:ext uri="{FF2B5EF4-FFF2-40B4-BE49-F238E27FC236}">
                      <a16:creationId xmlns:a16="http://schemas.microsoft.com/office/drawing/2014/main" id="{FF89BFC4-EE12-4046-958D-97A32D59C5CD}"/>
                    </a:ext>
                  </a:extLst>
                </p:cNvPr>
                <p:cNvSpPr/>
                <p:nvPr/>
              </p:nvSpPr>
              <p:spPr>
                <a:xfrm>
                  <a:off x="6000271" y="2352306"/>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62" name="橢圓 61">
                  <a:extLst>
                    <a:ext uri="{FF2B5EF4-FFF2-40B4-BE49-F238E27FC236}">
                      <a16:creationId xmlns:a16="http://schemas.microsoft.com/office/drawing/2014/main" id="{3C93FCD0-81CA-3042-9F5D-ECD3AED38529}"/>
                    </a:ext>
                  </a:extLst>
                </p:cNvPr>
                <p:cNvSpPr/>
                <p:nvPr/>
              </p:nvSpPr>
              <p:spPr>
                <a:xfrm>
                  <a:off x="6000271" y="2576093"/>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63" name="橢圓 62">
                  <a:extLst>
                    <a:ext uri="{FF2B5EF4-FFF2-40B4-BE49-F238E27FC236}">
                      <a16:creationId xmlns:a16="http://schemas.microsoft.com/office/drawing/2014/main" id="{4018B4E2-43AE-1742-A7F6-96EF065AFCE9}"/>
                    </a:ext>
                  </a:extLst>
                </p:cNvPr>
                <p:cNvSpPr/>
                <p:nvPr/>
              </p:nvSpPr>
              <p:spPr>
                <a:xfrm>
                  <a:off x="6000271" y="2799880"/>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64" name="橢圓 63">
                  <a:extLst>
                    <a:ext uri="{FF2B5EF4-FFF2-40B4-BE49-F238E27FC236}">
                      <a16:creationId xmlns:a16="http://schemas.microsoft.com/office/drawing/2014/main" id="{F5F81173-F60A-9445-BAEE-201312292877}"/>
                    </a:ext>
                  </a:extLst>
                </p:cNvPr>
                <p:cNvSpPr/>
                <p:nvPr/>
              </p:nvSpPr>
              <p:spPr>
                <a:xfrm>
                  <a:off x="6000271" y="3247454"/>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65" name="橢圓 64">
                  <a:extLst>
                    <a:ext uri="{FF2B5EF4-FFF2-40B4-BE49-F238E27FC236}">
                      <a16:creationId xmlns:a16="http://schemas.microsoft.com/office/drawing/2014/main" id="{0D4108A6-D587-DF41-8B1A-6EDC0ADE5FA3}"/>
                    </a:ext>
                  </a:extLst>
                </p:cNvPr>
                <p:cNvSpPr/>
                <p:nvPr/>
              </p:nvSpPr>
              <p:spPr>
                <a:xfrm>
                  <a:off x="6000271" y="3023667"/>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grpSp>
          <p:nvGrpSpPr>
            <p:cNvPr id="12" name="群組 11">
              <a:extLst>
                <a:ext uri="{FF2B5EF4-FFF2-40B4-BE49-F238E27FC236}">
                  <a16:creationId xmlns:a16="http://schemas.microsoft.com/office/drawing/2014/main" id="{FD35AAB0-79F9-ED41-A195-8AC793923082}"/>
                </a:ext>
              </a:extLst>
            </p:cNvPr>
            <p:cNvGrpSpPr/>
            <p:nvPr/>
          </p:nvGrpSpPr>
          <p:grpSpPr>
            <a:xfrm>
              <a:off x="5444877" y="2355167"/>
              <a:ext cx="510701" cy="473910"/>
              <a:chOff x="8636401" y="2142446"/>
              <a:chExt cx="545802" cy="545802"/>
            </a:xfrm>
          </p:grpSpPr>
          <p:grpSp>
            <p:nvGrpSpPr>
              <p:cNvPr id="47" name="群組 46">
                <a:extLst>
                  <a:ext uri="{FF2B5EF4-FFF2-40B4-BE49-F238E27FC236}">
                    <a16:creationId xmlns:a16="http://schemas.microsoft.com/office/drawing/2014/main" id="{A1BF1600-2863-0145-BBF5-22B4B0AC2DA9}"/>
                  </a:ext>
                </a:extLst>
              </p:cNvPr>
              <p:cNvGrpSpPr/>
              <p:nvPr/>
            </p:nvGrpSpPr>
            <p:grpSpPr>
              <a:xfrm>
                <a:off x="8636401" y="2142446"/>
                <a:ext cx="241002" cy="241002"/>
                <a:chOff x="5337500" y="3887618"/>
                <a:chExt cx="241002" cy="241002"/>
              </a:xfrm>
            </p:grpSpPr>
            <p:sp>
              <p:nvSpPr>
                <p:cNvPr id="54" name="矩形 53">
                  <a:extLst>
                    <a:ext uri="{FF2B5EF4-FFF2-40B4-BE49-F238E27FC236}">
                      <a16:creationId xmlns:a16="http://schemas.microsoft.com/office/drawing/2014/main" id="{57A8D537-0E29-7A4B-9649-53E4B29701CB}"/>
                    </a:ext>
                  </a:extLst>
                </p:cNvPr>
                <p:cNvSpPr/>
                <p:nvPr/>
              </p:nvSpPr>
              <p:spPr>
                <a:xfrm>
                  <a:off x="5337500" y="3887618"/>
                  <a:ext cx="241002" cy="2410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55" name="橢圓 54">
                  <a:extLst>
                    <a:ext uri="{FF2B5EF4-FFF2-40B4-BE49-F238E27FC236}">
                      <a16:creationId xmlns:a16="http://schemas.microsoft.com/office/drawing/2014/main" id="{D267C0AB-6D11-084C-BD69-F9E58A2CE861}"/>
                    </a:ext>
                  </a:extLst>
                </p:cNvPr>
                <p:cNvSpPr/>
                <p:nvPr/>
              </p:nvSpPr>
              <p:spPr>
                <a:xfrm>
                  <a:off x="5377544" y="3929148"/>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nvGrpSpPr>
              <p:cNvPr id="48" name="群組 47">
                <a:extLst>
                  <a:ext uri="{FF2B5EF4-FFF2-40B4-BE49-F238E27FC236}">
                    <a16:creationId xmlns:a16="http://schemas.microsoft.com/office/drawing/2014/main" id="{D3904961-3E72-9B4C-807D-D0C08B572855}"/>
                  </a:ext>
                </a:extLst>
              </p:cNvPr>
              <p:cNvGrpSpPr/>
              <p:nvPr/>
            </p:nvGrpSpPr>
            <p:grpSpPr>
              <a:xfrm>
                <a:off x="8788801" y="2294846"/>
                <a:ext cx="241002" cy="241002"/>
                <a:chOff x="5337500" y="3887618"/>
                <a:chExt cx="241002" cy="241002"/>
              </a:xfrm>
            </p:grpSpPr>
            <p:sp>
              <p:nvSpPr>
                <p:cNvPr id="52" name="矩形 51">
                  <a:extLst>
                    <a:ext uri="{FF2B5EF4-FFF2-40B4-BE49-F238E27FC236}">
                      <a16:creationId xmlns:a16="http://schemas.microsoft.com/office/drawing/2014/main" id="{8E0DBD3E-4B92-F74C-84BA-727E460C1468}"/>
                    </a:ext>
                  </a:extLst>
                </p:cNvPr>
                <p:cNvSpPr/>
                <p:nvPr/>
              </p:nvSpPr>
              <p:spPr>
                <a:xfrm>
                  <a:off x="5337500" y="3887618"/>
                  <a:ext cx="241002" cy="2410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53" name="橢圓 52">
                  <a:extLst>
                    <a:ext uri="{FF2B5EF4-FFF2-40B4-BE49-F238E27FC236}">
                      <a16:creationId xmlns:a16="http://schemas.microsoft.com/office/drawing/2014/main" id="{64E84904-3AA7-5643-8B5B-7429D1577170}"/>
                    </a:ext>
                  </a:extLst>
                </p:cNvPr>
                <p:cNvSpPr/>
                <p:nvPr/>
              </p:nvSpPr>
              <p:spPr>
                <a:xfrm>
                  <a:off x="5377544" y="3929148"/>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nvGrpSpPr>
              <p:cNvPr id="49" name="群組 48">
                <a:extLst>
                  <a:ext uri="{FF2B5EF4-FFF2-40B4-BE49-F238E27FC236}">
                    <a16:creationId xmlns:a16="http://schemas.microsoft.com/office/drawing/2014/main" id="{399A8873-3644-9440-BB30-8168A8EF9198}"/>
                  </a:ext>
                </a:extLst>
              </p:cNvPr>
              <p:cNvGrpSpPr/>
              <p:nvPr/>
            </p:nvGrpSpPr>
            <p:grpSpPr>
              <a:xfrm>
                <a:off x="8941201" y="2447246"/>
                <a:ext cx="241002" cy="241002"/>
                <a:chOff x="5337500" y="3887618"/>
                <a:chExt cx="241002" cy="241002"/>
              </a:xfrm>
            </p:grpSpPr>
            <p:sp>
              <p:nvSpPr>
                <p:cNvPr id="50" name="矩形 49">
                  <a:extLst>
                    <a:ext uri="{FF2B5EF4-FFF2-40B4-BE49-F238E27FC236}">
                      <a16:creationId xmlns:a16="http://schemas.microsoft.com/office/drawing/2014/main" id="{4ACDE97E-BEA3-F544-94BD-B967450CD9E9}"/>
                    </a:ext>
                  </a:extLst>
                </p:cNvPr>
                <p:cNvSpPr/>
                <p:nvPr/>
              </p:nvSpPr>
              <p:spPr>
                <a:xfrm>
                  <a:off x="5337500" y="3887618"/>
                  <a:ext cx="241002" cy="2410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51" name="橢圓 50">
                  <a:extLst>
                    <a:ext uri="{FF2B5EF4-FFF2-40B4-BE49-F238E27FC236}">
                      <a16:creationId xmlns:a16="http://schemas.microsoft.com/office/drawing/2014/main" id="{86A1D3F2-4235-4344-8A4C-CD14ECEEC617}"/>
                    </a:ext>
                  </a:extLst>
                </p:cNvPr>
                <p:cNvSpPr/>
                <p:nvPr/>
              </p:nvSpPr>
              <p:spPr>
                <a:xfrm>
                  <a:off x="5377544" y="3929148"/>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grpSp>
          <p:nvGrpSpPr>
            <p:cNvPr id="13" name="群組 12">
              <a:extLst>
                <a:ext uri="{FF2B5EF4-FFF2-40B4-BE49-F238E27FC236}">
                  <a16:creationId xmlns:a16="http://schemas.microsoft.com/office/drawing/2014/main" id="{42ACA35B-1960-6A47-88CE-C544BD1C643E}"/>
                </a:ext>
              </a:extLst>
            </p:cNvPr>
            <p:cNvGrpSpPr/>
            <p:nvPr/>
          </p:nvGrpSpPr>
          <p:grpSpPr>
            <a:xfrm>
              <a:off x="2253287" y="3901098"/>
              <a:ext cx="510701" cy="473910"/>
              <a:chOff x="8636401" y="2142446"/>
              <a:chExt cx="545802" cy="545802"/>
            </a:xfrm>
          </p:grpSpPr>
          <p:grpSp>
            <p:nvGrpSpPr>
              <p:cNvPr id="38" name="群組 37">
                <a:extLst>
                  <a:ext uri="{FF2B5EF4-FFF2-40B4-BE49-F238E27FC236}">
                    <a16:creationId xmlns:a16="http://schemas.microsoft.com/office/drawing/2014/main" id="{857A7A83-E7C5-9F41-968C-18DDF3FB8579}"/>
                  </a:ext>
                </a:extLst>
              </p:cNvPr>
              <p:cNvGrpSpPr/>
              <p:nvPr/>
            </p:nvGrpSpPr>
            <p:grpSpPr>
              <a:xfrm>
                <a:off x="8636401" y="2142446"/>
                <a:ext cx="241002" cy="241002"/>
                <a:chOff x="5337500" y="3887618"/>
                <a:chExt cx="241002" cy="241002"/>
              </a:xfrm>
            </p:grpSpPr>
            <p:sp>
              <p:nvSpPr>
                <p:cNvPr id="45" name="矩形 44">
                  <a:extLst>
                    <a:ext uri="{FF2B5EF4-FFF2-40B4-BE49-F238E27FC236}">
                      <a16:creationId xmlns:a16="http://schemas.microsoft.com/office/drawing/2014/main" id="{E537AFC4-EE11-4C4C-B6F8-10ABBEE613AF}"/>
                    </a:ext>
                  </a:extLst>
                </p:cNvPr>
                <p:cNvSpPr/>
                <p:nvPr/>
              </p:nvSpPr>
              <p:spPr>
                <a:xfrm>
                  <a:off x="5337500" y="3887618"/>
                  <a:ext cx="241002" cy="2410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46" name="橢圓 45">
                  <a:extLst>
                    <a:ext uri="{FF2B5EF4-FFF2-40B4-BE49-F238E27FC236}">
                      <a16:creationId xmlns:a16="http://schemas.microsoft.com/office/drawing/2014/main" id="{8CBB9721-038B-2442-A10A-64B19762284E}"/>
                    </a:ext>
                  </a:extLst>
                </p:cNvPr>
                <p:cNvSpPr/>
                <p:nvPr/>
              </p:nvSpPr>
              <p:spPr>
                <a:xfrm>
                  <a:off x="5377544" y="3929148"/>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nvGrpSpPr>
              <p:cNvPr id="39" name="群組 38">
                <a:extLst>
                  <a:ext uri="{FF2B5EF4-FFF2-40B4-BE49-F238E27FC236}">
                    <a16:creationId xmlns:a16="http://schemas.microsoft.com/office/drawing/2014/main" id="{18A74C48-418C-804D-B530-C01A2E53CD4C}"/>
                  </a:ext>
                </a:extLst>
              </p:cNvPr>
              <p:cNvGrpSpPr/>
              <p:nvPr/>
            </p:nvGrpSpPr>
            <p:grpSpPr>
              <a:xfrm>
                <a:off x="8788801" y="2294846"/>
                <a:ext cx="241002" cy="241002"/>
                <a:chOff x="5337500" y="3887618"/>
                <a:chExt cx="241002" cy="241002"/>
              </a:xfrm>
            </p:grpSpPr>
            <p:sp>
              <p:nvSpPr>
                <p:cNvPr id="43" name="矩形 42">
                  <a:extLst>
                    <a:ext uri="{FF2B5EF4-FFF2-40B4-BE49-F238E27FC236}">
                      <a16:creationId xmlns:a16="http://schemas.microsoft.com/office/drawing/2014/main" id="{F18BA239-DC50-684D-B234-C3D1C916A513}"/>
                    </a:ext>
                  </a:extLst>
                </p:cNvPr>
                <p:cNvSpPr/>
                <p:nvPr/>
              </p:nvSpPr>
              <p:spPr>
                <a:xfrm>
                  <a:off x="5337500" y="3887618"/>
                  <a:ext cx="241002" cy="2410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44" name="橢圓 43">
                  <a:extLst>
                    <a:ext uri="{FF2B5EF4-FFF2-40B4-BE49-F238E27FC236}">
                      <a16:creationId xmlns:a16="http://schemas.microsoft.com/office/drawing/2014/main" id="{6464EE00-2580-C44F-AA41-0077B52092EC}"/>
                    </a:ext>
                  </a:extLst>
                </p:cNvPr>
                <p:cNvSpPr/>
                <p:nvPr/>
              </p:nvSpPr>
              <p:spPr>
                <a:xfrm>
                  <a:off x="5377544" y="3929148"/>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nvGrpSpPr>
              <p:cNvPr id="40" name="群組 39">
                <a:extLst>
                  <a:ext uri="{FF2B5EF4-FFF2-40B4-BE49-F238E27FC236}">
                    <a16:creationId xmlns:a16="http://schemas.microsoft.com/office/drawing/2014/main" id="{575D9B01-B7D9-374F-B826-1DA34DF70CCB}"/>
                  </a:ext>
                </a:extLst>
              </p:cNvPr>
              <p:cNvGrpSpPr/>
              <p:nvPr/>
            </p:nvGrpSpPr>
            <p:grpSpPr>
              <a:xfrm>
                <a:off x="8941201" y="2447246"/>
                <a:ext cx="241002" cy="241002"/>
                <a:chOff x="5337500" y="3887618"/>
                <a:chExt cx="241002" cy="241002"/>
              </a:xfrm>
            </p:grpSpPr>
            <p:sp>
              <p:nvSpPr>
                <p:cNvPr id="41" name="矩形 40">
                  <a:extLst>
                    <a:ext uri="{FF2B5EF4-FFF2-40B4-BE49-F238E27FC236}">
                      <a16:creationId xmlns:a16="http://schemas.microsoft.com/office/drawing/2014/main" id="{2DF09B1D-CC2F-2048-8E50-D4478328BA8F}"/>
                    </a:ext>
                  </a:extLst>
                </p:cNvPr>
                <p:cNvSpPr/>
                <p:nvPr/>
              </p:nvSpPr>
              <p:spPr>
                <a:xfrm>
                  <a:off x="5337500" y="3887618"/>
                  <a:ext cx="241002" cy="2410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42" name="橢圓 41">
                  <a:extLst>
                    <a:ext uri="{FF2B5EF4-FFF2-40B4-BE49-F238E27FC236}">
                      <a16:creationId xmlns:a16="http://schemas.microsoft.com/office/drawing/2014/main" id="{5CB87AD6-8CE2-EF4C-B593-2ECC80DA02BF}"/>
                    </a:ext>
                  </a:extLst>
                </p:cNvPr>
                <p:cNvSpPr/>
                <p:nvPr/>
              </p:nvSpPr>
              <p:spPr>
                <a:xfrm>
                  <a:off x="5377544" y="3929148"/>
                  <a:ext cx="157943" cy="1579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grpSp>
        <p:grpSp>
          <p:nvGrpSpPr>
            <p:cNvPr id="14" name="群組 13">
              <a:extLst>
                <a:ext uri="{FF2B5EF4-FFF2-40B4-BE49-F238E27FC236}">
                  <a16:creationId xmlns:a16="http://schemas.microsoft.com/office/drawing/2014/main" id="{CF2145DA-BAC8-CD47-8199-89AD88A9CF41}"/>
                </a:ext>
              </a:extLst>
            </p:cNvPr>
            <p:cNvGrpSpPr/>
            <p:nvPr/>
          </p:nvGrpSpPr>
          <p:grpSpPr>
            <a:xfrm>
              <a:off x="2252150" y="5177549"/>
              <a:ext cx="1073380" cy="1154845"/>
              <a:chOff x="2344190" y="1438101"/>
              <a:chExt cx="1147154" cy="1330036"/>
            </a:xfrm>
          </p:grpSpPr>
          <p:sp>
            <p:nvSpPr>
              <p:cNvPr id="34" name="矩形 33">
                <a:extLst>
                  <a:ext uri="{FF2B5EF4-FFF2-40B4-BE49-F238E27FC236}">
                    <a16:creationId xmlns:a16="http://schemas.microsoft.com/office/drawing/2014/main" id="{836D0D18-D199-8C4B-A16D-50A9079DEFBC}"/>
                  </a:ext>
                </a:extLst>
              </p:cNvPr>
              <p:cNvSpPr/>
              <p:nvPr/>
            </p:nvSpPr>
            <p:spPr>
              <a:xfrm>
                <a:off x="2344190"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35" name="矩形 34">
                <a:extLst>
                  <a:ext uri="{FF2B5EF4-FFF2-40B4-BE49-F238E27FC236}">
                    <a16:creationId xmlns:a16="http://schemas.microsoft.com/office/drawing/2014/main" id="{551673A4-02AE-5249-99F0-4CA2AF543BE6}"/>
                  </a:ext>
                </a:extLst>
              </p:cNvPr>
              <p:cNvSpPr/>
              <p:nvPr/>
            </p:nvSpPr>
            <p:spPr>
              <a:xfrm>
                <a:off x="2657303"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36" name="矩形 35">
                <a:extLst>
                  <a:ext uri="{FF2B5EF4-FFF2-40B4-BE49-F238E27FC236}">
                    <a16:creationId xmlns:a16="http://schemas.microsoft.com/office/drawing/2014/main" id="{9344C0BC-13C1-BA4F-8082-2DB3FF85D4F9}"/>
                  </a:ext>
                </a:extLst>
              </p:cNvPr>
              <p:cNvSpPr/>
              <p:nvPr/>
            </p:nvSpPr>
            <p:spPr>
              <a:xfrm>
                <a:off x="2970416"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sp>
            <p:nvSpPr>
              <p:cNvPr id="37" name="矩形 36">
                <a:extLst>
                  <a:ext uri="{FF2B5EF4-FFF2-40B4-BE49-F238E27FC236}">
                    <a16:creationId xmlns:a16="http://schemas.microsoft.com/office/drawing/2014/main" id="{8D258B34-7135-0E4F-9E66-494CA06B5B13}"/>
                  </a:ext>
                </a:extLst>
              </p:cNvPr>
              <p:cNvSpPr/>
              <p:nvPr/>
            </p:nvSpPr>
            <p:spPr>
              <a:xfrm>
                <a:off x="3283529" y="1438101"/>
                <a:ext cx="207815" cy="1330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軟正黑體"/>
                  <a:cs typeface="Times New Roman" panose="02020603050405020304" pitchFamily="18" charset="0"/>
                </a:endParaRPr>
              </a:p>
            </p:txBody>
          </p:sp>
        </p:grpSp>
        <p:sp>
          <p:nvSpPr>
            <p:cNvPr id="15" name="左大括弧 14">
              <a:extLst>
                <a:ext uri="{FF2B5EF4-FFF2-40B4-BE49-F238E27FC236}">
                  <a16:creationId xmlns:a16="http://schemas.microsoft.com/office/drawing/2014/main" id="{843C9BB0-D8EF-B74D-9214-18D9D94195F2}"/>
                </a:ext>
              </a:extLst>
            </p:cNvPr>
            <p:cNvSpPr/>
            <p:nvPr/>
          </p:nvSpPr>
          <p:spPr>
            <a:xfrm>
              <a:off x="2969800" y="3630579"/>
              <a:ext cx="258461" cy="1287171"/>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sp>
          <p:nvSpPr>
            <p:cNvPr id="16" name="左大括弧 15">
              <a:extLst>
                <a:ext uri="{FF2B5EF4-FFF2-40B4-BE49-F238E27FC236}">
                  <a16:creationId xmlns:a16="http://schemas.microsoft.com/office/drawing/2014/main" id="{F78424D7-F3A3-4B45-B89B-8D3EF648957A}"/>
                </a:ext>
              </a:extLst>
            </p:cNvPr>
            <p:cNvSpPr/>
            <p:nvPr/>
          </p:nvSpPr>
          <p:spPr>
            <a:xfrm flipH="1">
              <a:off x="4906042" y="1950728"/>
              <a:ext cx="258461" cy="1287171"/>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cxnSp>
          <p:nvCxnSpPr>
            <p:cNvPr id="17" name="直線單箭頭接點 16">
              <a:extLst>
                <a:ext uri="{FF2B5EF4-FFF2-40B4-BE49-F238E27FC236}">
                  <a16:creationId xmlns:a16="http://schemas.microsoft.com/office/drawing/2014/main" id="{3FD1C653-523C-6249-915F-0736D971332F}"/>
                </a:ext>
              </a:extLst>
            </p:cNvPr>
            <p:cNvCxnSpPr>
              <a:cxnSpLocks/>
            </p:cNvCxnSpPr>
            <p:nvPr/>
          </p:nvCxnSpPr>
          <p:spPr>
            <a:xfrm>
              <a:off x="1749538" y="2528845"/>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26">
              <a:extLst>
                <a:ext uri="{FF2B5EF4-FFF2-40B4-BE49-F238E27FC236}">
                  <a16:creationId xmlns:a16="http://schemas.microsoft.com/office/drawing/2014/main" id="{A7C556AE-A3DF-1F47-A9C4-9341E3DC382B}"/>
                </a:ext>
              </a:extLst>
            </p:cNvPr>
            <p:cNvCxnSpPr>
              <a:cxnSpLocks/>
            </p:cNvCxnSpPr>
            <p:nvPr/>
          </p:nvCxnSpPr>
          <p:spPr>
            <a:xfrm>
              <a:off x="3452568" y="2497581"/>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27">
              <a:extLst>
                <a:ext uri="{FF2B5EF4-FFF2-40B4-BE49-F238E27FC236}">
                  <a16:creationId xmlns:a16="http://schemas.microsoft.com/office/drawing/2014/main" id="{1F66CDEB-27F3-7B48-B8E9-B77FA760B005}"/>
                </a:ext>
              </a:extLst>
            </p:cNvPr>
            <p:cNvCxnSpPr/>
            <p:nvPr/>
          </p:nvCxnSpPr>
          <p:spPr>
            <a:xfrm flipH="1">
              <a:off x="6370677" y="4240018"/>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28">
              <a:extLst>
                <a:ext uri="{FF2B5EF4-FFF2-40B4-BE49-F238E27FC236}">
                  <a16:creationId xmlns:a16="http://schemas.microsoft.com/office/drawing/2014/main" id="{861E308A-1802-6542-86FA-8E9C0D1D47FC}"/>
                </a:ext>
              </a:extLst>
            </p:cNvPr>
            <p:cNvCxnSpPr/>
            <p:nvPr/>
          </p:nvCxnSpPr>
          <p:spPr>
            <a:xfrm flipH="1">
              <a:off x="4614653" y="4182290"/>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9">
              <a:extLst>
                <a:ext uri="{FF2B5EF4-FFF2-40B4-BE49-F238E27FC236}">
                  <a16:creationId xmlns:a16="http://schemas.microsoft.com/office/drawing/2014/main" id="{31B47C8C-B5A5-E643-86E6-9DE67C7AC67B}"/>
                </a:ext>
              </a:extLst>
            </p:cNvPr>
            <p:cNvCxnSpPr>
              <a:cxnSpLocks/>
            </p:cNvCxnSpPr>
            <p:nvPr/>
          </p:nvCxnSpPr>
          <p:spPr>
            <a:xfrm>
              <a:off x="1749538" y="5833958"/>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30">
              <a:extLst>
                <a:ext uri="{FF2B5EF4-FFF2-40B4-BE49-F238E27FC236}">
                  <a16:creationId xmlns:a16="http://schemas.microsoft.com/office/drawing/2014/main" id="{C21C1261-AD8A-9F48-8FE0-5E81B2F1143D}"/>
                </a:ext>
              </a:extLst>
            </p:cNvPr>
            <p:cNvCxnSpPr>
              <a:cxnSpLocks/>
            </p:cNvCxnSpPr>
            <p:nvPr/>
          </p:nvCxnSpPr>
          <p:spPr>
            <a:xfrm>
              <a:off x="3452568" y="5805430"/>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BD36F1D1-D27F-5548-9777-EA9BFD7CCF29}"/>
                </a:ext>
              </a:extLst>
            </p:cNvPr>
            <p:cNvSpPr txBox="1"/>
            <p:nvPr/>
          </p:nvSpPr>
          <p:spPr>
            <a:xfrm>
              <a:off x="3869711" y="5673615"/>
              <a:ext cx="2596178" cy="3766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Continue until PASS occurs</a:t>
              </a:r>
              <a:endParaRPr kumimoji="0" lang="zh-TW"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sp>
          <p:nvSpPr>
            <p:cNvPr id="24" name="文字方塊 23">
              <a:extLst>
                <a:ext uri="{FF2B5EF4-FFF2-40B4-BE49-F238E27FC236}">
                  <a16:creationId xmlns:a16="http://schemas.microsoft.com/office/drawing/2014/main" id="{8F7E46AC-1D4C-4D41-85E0-F2A6ECF30387}"/>
                </a:ext>
              </a:extLst>
            </p:cNvPr>
            <p:cNvSpPr txBox="1"/>
            <p:nvPr/>
          </p:nvSpPr>
          <p:spPr>
            <a:xfrm>
              <a:off x="2252150" y="3089542"/>
              <a:ext cx="1215398" cy="3766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DNN layer 1</a:t>
              </a:r>
              <a:endParaRPr kumimoji="0" lang="zh-TW"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sp>
          <p:nvSpPr>
            <p:cNvPr id="25" name="文字方塊 24">
              <a:extLst>
                <a:ext uri="{FF2B5EF4-FFF2-40B4-BE49-F238E27FC236}">
                  <a16:creationId xmlns:a16="http://schemas.microsoft.com/office/drawing/2014/main" id="{0943BDF0-5F79-F54C-8A7E-B88CF39F383E}"/>
                </a:ext>
              </a:extLst>
            </p:cNvPr>
            <p:cNvSpPr txBox="1"/>
            <p:nvPr/>
          </p:nvSpPr>
          <p:spPr>
            <a:xfrm>
              <a:off x="5142697" y="4820834"/>
              <a:ext cx="1215398" cy="3766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DNN layer 2</a:t>
              </a:r>
              <a:endParaRPr kumimoji="0" lang="zh-TW"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sp>
          <p:nvSpPr>
            <p:cNvPr id="26" name="文字方塊 25">
              <a:extLst>
                <a:ext uri="{FF2B5EF4-FFF2-40B4-BE49-F238E27FC236}">
                  <a16:creationId xmlns:a16="http://schemas.microsoft.com/office/drawing/2014/main" id="{419F6A16-C859-C046-8CE6-566F000B2CF3}"/>
                </a:ext>
              </a:extLst>
            </p:cNvPr>
            <p:cNvSpPr txBox="1"/>
            <p:nvPr/>
          </p:nvSpPr>
          <p:spPr>
            <a:xfrm>
              <a:off x="2193915" y="6334899"/>
              <a:ext cx="1215398" cy="3766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DNN layer 3</a:t>
              </a:r>
              <a:endParaRPr kumimoji="0" lang="zh-TW"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sp>
          <p:nvSpPr>
            <p:cNvPr id="27" name="文字方塊 26">
              <a:extLst>
                <a:ext uri="{FF2B5EF4-FFF2-40B4-BE49-F238E27FC236}">
                  <a16:creationId xmlns:a16="http://schemas.microsoft.com/office/drawing/2014/main" id="{6AE5F8A8-06FA-9944-AF6E-BDD5001EAF0C}"/>
                </a:ext>
              </a:extLst>
            </p:cNvPr>
            <p:cNvSpPr txBox="1"/>
            <p:nvPr/>
          </p:nvSpPr>
          <p:spPr>
            <a:xfrm>
              <a:off x="3753427" y="3204989"/>
              <a:ext cx="1505008" cy="3766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Output  layer </a:t>
              </a:r>
              <a:endParaRPr kumimoji="0" lang="zh-TW"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sp>
          <p:nvSpPr>
            <p:cNvPr id="28" name="文字方塊 27">
              <a:extLst>
                <a:ext uri="{FF2B5EF4-FFF2-40B4-BE49-F238E27FC236}">
                  <a16:creationId xmlns:a16="http://schemas.microsoft.com/office/drawing/2014/main" id="{16F6FE1D-8E44-164F-90E1-2C8A2C8B3F30}"/>
                </a:ext>
              </a:extLst>
            </p:cNvPr>
            <p:cNvSpPr txBox="1"/>
            <p:nvPr/>
          </p:nvSpPr>
          <p:spPr>
            <a:xfrm>
              <a:off x="3493862" y="4958832"/>
              <a:ext cx="1505008" cy="3766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Output  layer </a:t>
              </a:r>
              <a:endParaRPr kumimoji="0" lang="zh-TW"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sp>
          <p:nvSpPr>
            <p:cNvPr id="30" name="文字方塊 29">
              <a:extLst>
                <a:ext uri="{FF2B5EF4-FFF2-40B4-BE49-F238E27FC236}">
                  <a16:creationId xmlns:a16="http://schemas.microsoft.com/office/drawing/2014/main" id="{B15FD6D0-67AB-8D4B-BE79-9718ECC9494E}"/>
                </a:ext>
              </a:extLst>
            </p:cNvPr>
            <p:cNvSpPr txBox="1"/>
            <p:nvPr/>
          </p:nvSpPr>
          <p:spPr>
            <a:xfrm>
              <a:off x="5403383" y="2838313"/>
              <a:ext cx="598496" cy="3766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Bid1</a:t>
              </a:r>
              <a:endParaRPr kumimoji="0" lang="zh-TW"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sp>
          <p:nvSpPr>
            <p:cNvPr id="31" name="文字方塊 30">
              <a:extLst>
                <a:ext uri="{FF2B5EF4-FFF2-40B4-BE49-F238E27FC236}">
                  <a16:creationId xmlns:a16="http://schemas.microsoft.com/office/drawing/2014/main" id="{6B3AF2DF-3FD3-C24C-B6BF-ED1D38E316E4}"/>
                </a:ext>
              </a:extLst>
            </p:cNvPr>
            <p:cNvSpPr txBox="1"/>
            <p:nvPr/>
          </p:nvSpPr>
          <p:spPr>
            <a:xfrm>
              <a:off x="2221502" y="4411897"/>
              <a:ext cx="571490" cy="3766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Bid2</a:t>
              </a:r>
              <a:endParaRPr kumimoji="0" lang="zh-TW"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cxnSp>
          <p:nvCxnSpPr>
            <p:cNvPr id="32" name="直線單箭頭接點 40">
              <a:extLst>
                <a:ext uri="{FF2B5EF4-FFF2-40B4-BE49-F238E27FC236}">
                  <a16:creationId xmlns:a16="http://schemas.microsoft.com/office/drawing/2014/main" id="{E1D17573-647A-6846-B0F6-5FB4388B06A5}"/>
                </a:ext>
              </a:extLst>
            </p:cNvPr>
            <p:cNvCxnSpPr/>
            <p:nvPr/>
          </p:nvCxnSpPr>
          <p:spPr>
            <a:xfrm>
              <a:off x="5698837" y="3287174"/>
              <a:ext cx="0" cy="2744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41">
              <a:extLst>
                <a:ext uri="{FF2B5EF4-FFF2-40B4-BE49-F238E27FC236}">
                  <a16:creationId xmlns:a16="http://schemas.microsoft.com/office/drawing/2014/main" id="{193A9E13-D6CE-3A4C-9E3C-ECB02948ED9D}"/>
                </a:ext>
              </a:extLst>
            </p:cNvPr>
            <p:cNvCxnSpPr/>
            <p:nvPr/>
          </p:nvCxnSpPr>
          <p:spPr>
            <a:xfrm>
              <a:off x="2507246" y="4842587"/>
              <a:ext cx="0" cy="2744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2" name="文字方塊 111">
            <a:extLst>
              <a:ext uri="{FF2B5EF4-FFF2-40B4-BE49-F238E27FC236}">
                <a16:creationId xmlns:a16="http://schemas.microsoft.com/office/drawing/2014/main" id="{4556DE2C-3898-8544-9854-54F19C7508E1}"/>
              </a:ext>
            </a:extLst>
          </p:cNvPr>
          <p:cNvSpPr txBox="1"/>
          <p:nvPr/>
        </p:nvSpPr>
        <p:spPr>
          <a:xfrm>
            <a:off x="839641" y="6589860"/>
            <a:ext cx="6692858"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TW" sz="9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Reference:</a:t>
            </a:r>
            <a:r>
              <a:rPr kumimoji="0" lang="zh-TW" altLang="en-US" sz="9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 </a:t>
            </a:r>
            <a:r>
              <a:rPr kumimoji="0" lang="en" altLang="zh-TW" sz="900" b="0" i="0" u="none" strike="noStrike" kern="1200" cap="none" spc="0" normalizeH="0" baseline="0" noProof="0" dirty="0" err="1">
                <a:ln>
                  <a:noFill/>
                </a:ln>
                <a:solidFill>
                  <a:prstClr val="black"/>
                </a:solidFill>
                <a:effectLst/>
                <a:uLnTx/>
                <a:uFillTx/>
                <a:latin typeface="Times New Roman" panose="02020603050405020304" pitchFamily="18" charset="0"/>
                <a:ea typeface="微軟正黑體"/>
                <a:cs typeface="Times New Roman" panose="02020603050405020304" pitchFamily="18" charset="0"/>
              </a:rPr>
              <a:t>Chih-Kuan</a:t>
            </a:r>
            <a:r>
              <a:rPr kumimoji="0" lang="en" altLang="zh-TW" sz="9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 Yeh and </a:t>
            </a:r>
            <a:r>
              <a:rPr kumimoji="0" lang="en" altLang="zh-TW" sz="900" b="0" i="0" u="none" strike="noStrike" kern="1200" cap="none" spc="0" normalizeH="0" baseline="0" noProof="0" dirty="0" err="1">
                <a:ln>
                  <a:noFill/>
                </a:ln>
                <a:solidFill>
                  <a:prstClr val="black"/>
                </a:solidFill>
                <a:effectLst/>
                <a:uLnTx/>
                <a:uFillTx/>
                <a:latin typeface="Times New Roman" panose="02020603050405020304" pitchFamily="18" charset="0"/>
                <a:ea typeface="微軟正黑體"/>
                <a:cs typeface="Times New Roman" panose="02020603050405020304" pitchFamily="18" charset="0"/>
              </a:rPr>
              <a:t>Hsuan</a:t>
            </a:r>
            <a:r>
              <a:rPr kumimoji="0" lang="en" altLang="zh-TW" sz="9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-Tien Lin. Automatic bridge bidding using deep reinforcement learning. </a:t>
            </a:r>
            <a:r>
              <a:rPr kumimoji="0" lang="en" altLang="zh-TW" sz="900" b="0" i="0" u="none" strike="noStrike" kern="1200" cap="none" spc="0" normalizeH="0" baseline="0" noProof="0" dirty="0" err="1">
                <a:ln>
                  <a:noFill/>
                </a:ln>
                <a:solidFill>
                  <a:prstClr val="black"/>
                </a:solidFill>
                <a:effectLst/>
                <a:uLnTx/>
                <a:uFillTx/>
                <a:latin typeface="Times New Roman" panose="02020603050405020304" pitchFamily="18" charset="0"/>
                <a:ea typeface="微軟正黑體"/>
                <a:cs typeface="Times New Roman" panose="02020603050405020304" pitchFamily="18" charset="0"/>
              </a:rPr>
              <a:t>CoRR</a:t>
            </a:r>
            <a:r>
              <a:rPr kumimoji="0" lang="en" altLang="zh-TW" sz="9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 abs/1607.03290, 2016.</a:t>
            </a:r>
            <a:endParaRPr kumimoji="0" lang="en-US" altLang="zh-TW" sz="9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sp>
        <p:nvSpPr>
          <p:cNvPr id="113" name="文字方塊 112">
            <a:extLst>
              <a:ext uri="{FF2B5EF4-FFF2-40B4-BE49-F238E27FC236}">
                <a16:creationId xmlns:a16="http://schemas.microsoft.com/office/drawing/2014/main" id="{57380085-9500-974E-9ADA-902DDEFA8A94}"/>
              </a:ext>
            </a:extLst>
          </p:cNvPr>
          <p:cNvSpPr txBox="1"/>
          <p:nvPr/>
        </p:nvSpPr>
        <p:spPr>
          <a:xfrm>
            <a:off x="7024832" y="1413891"/>
            <a:ext cx="3424355" cy="400110"/>
          </a:xfrm>
          <a:prstGeom prst="rect">
            <a:avLst/>
          </a:prstGeom>
          <a:noFill/>
        </p:spPr>
        <p:txBody>
          <a:bodyPr wrap="square">
            <a:spAutoFit/>
          </a:bodyPr>
          <a:lstStyle/>
          <a:p>
            <a:pPr algn="ctr"/>
            <a:r>
              <a:rPr kumimoji="1" lang="en-US" altLang="zh-TW" sz="2000" dirty="0">
                <a:solidFill>
                  <a:srgbClr val="FF0000"/>
                </a:solidFill>
                <a:latin typeface="Times New Roman" panose="02020603050405020304" pitchFamily="18" charset="0"/>
                <a:cs typeface="Times New Roman" panose="02020603050405020304" pitchFamily="18" charset="0"/>
              </a:rPr>
              <a:t>36-dimension bidding history</a:t>
            </a:r>
            <a:endParaRPr kumimoji="1" lang="zh-TW" altLang="en-US" sz="2000" dirty="0">
              <a:solidFill>
                <a:srgbClr val="FF0000"/>
              </a:solidFill>
              <a:latin typeface="Times New Roman" panose="02020603050405020304" pitchFamily="18" charset="0"/>
              <a:cs typeface="Times New Roman" panose="02020603050405020304" pitchFamily="18" charset="0"/>
            </a:endParaRPr>
          </a:p>
        </p:txBody>
      </p:sp>
      <p:sp>
        <p:nvSpPr>
          <p:cNvPr id="114" name="文字方塊 113">
            <a:extLst>
              <a:ext uri="{FF2B5EF4-FFF2-40B4-BE49-F238E27FC236}">
                <a16:creationId xmlns:a16="http://schemas.microsoft.com/office/drawing/2014/main" id="{F3D1763C-D092-2B47-BBB1-EDBD418F0035}"/>
              </a:ext>
            </a:extLst>
          </p:cNvPr>
          <p:cNvSpPr txBox="1"/>
          <p:nvPr/>
        </p:nvSpPr>
        <p:spPr>
          <a:xfrm>
            <a:off x="206891" y="4385039"/>
            <a:ext cx="2690020" cy="400110"/>
          </a:xfrm>
          <a:prstGeom prst="rect">
            <a:avLst/>
          </a:prstGeom>
          <a:noFill/>
        </p:spPr>
        <p:txBody>
          <a:bodyPr wrap="square">
            <a:spAutoFit/>
          </a:bodyPr>
          <a:lstStyle/>
          <a:p>
            <a:pPr algn="ctr"/>
            <a:r>
              <a:rPr kumimoji="1" lang="en-US" altLang="zh-TW" sz="2000" dirty="0">
                <a:solidFill>
                  <a:srgbClr val="FF0000"/>
                </a:solidFill>
                <a:latin typeface="Times New Roman" panose="02020603050405020304" pitchFamily="18" charset="0"/>
                <a:cs typeface="Times New Roman" panose="02020603050405020304" pitchFamily="18" charset="0"/>
              </a:rPr>
              <a:t>52-dimension raw data</a:t>
            </a:r>
            <a:endParaRPr kumimoji="1" lang="zh-TW" altLang="en-US" sz="2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2410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Baseline</a:t>
            </a:r>
            <a:r>
              <a:rPr kumimoji="1" lang="zh-TW" altLang="en-US" dirty="0">
                <a:latin typeface="Times" pitchFamily="2" charset="0"/>
              </a:rPr>
              <a:t> </a:t>
            </a:r>
            <a:r>
              <a:rPr kumimoji="1" lang="en-US" altLang="zh-TW" dirty="0">
                <a:latin typeface="Times" pitchFamily="2" charset="0"/>
              </a:rPr>
              <a:t>19</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dirty="0"/>
          </a:p>
        </p:txBody>
      </p:sp>
      <p:grpSp>
        <p:nvGrpSpPr>
          <p:cNvPr id="13" name="群組 12">
            <a:extLst>
              <a:ext uri="{FF2B5EF4-FFF2-40B4-BE49-F238E27FC236}">
                <a16:creationId xmlns:a16="http://schemas.microsoft.com/office/drawing/2014/main" id="{ECAD9051-01E3-A744-9DEE-06CD8332D4D5}"/>
              </a:ext>
            </a:extLst>
          </p:cNvPr>
          <p:cNvGrpSpPr/>
          <p:nvPr/>
        </p:nvGrpSpPr>
        <p:grpSpPr>
          <a:xfrm>
            <a:off x="354875" y="3692557"/>
            <a:ext cx="11482250" cy="2846355"/>
            <a:chOff x="-5358" y="3705191"/>
            <a:chExt cx="12130115" cy="3089309"/>
          </a:xfrm>
        </p:grpSpPr>
        <p:grpSp>
          <p:nvGrpSpPr>
            <p:cNvPr id="12" name="群組 11">
              <a:extLst>
                <a:ext uri="{FF2B5EF4-FFF2-40B4-BE49-F238E27FC236}">
                  <a16:creationId xmlns:a16="http://schemas.microsoft.com/office/drawing/2014/main" id="{7E3B7163-254C-6440-B07B-072FC9977D0B}"/>
                </a:ext>
              </a:extLst>
            </p:cNvPr>
            <p:cNvGrpSpPr/>
            <p:nvPr/>
          </p:nvGrpSpPr>
          <p:grpSpPr>
            <a:xfrm>
              <a:off x="64008" y="4072706"/>
              <a:ext cx="12060749" cy="2721794"/>
              <a:chOff x="64008" y="4072706"/>
              <a:chExt cx="12060749" cy="2721794"/>
            </a:xfrm>
          </p:grpSpPr>
          <p:pic>
            <p:nvPicPr>
              <p:cNvPr id="5" name="圖片 4">
                <a:extLst>
                  <a:ext uri="{FF2B5EF4-FFF2-40B4-BE49-F238E27FC236}">
                    <a16:creationId xmlns:a16="http://schemas.microsoft.com/office/drawing/2014/main" id="{2185BA1D-D0D1-AB46-B077-A272862D6B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9588" y="4072706"/>
                <a:ext cx="6175169" cy="2721794"/>
              </a:xfrm>
              <a:prstGeom prst="rect">
                <a:avLst/>
              </a:prstGeom>
            </p:spPr>
          </p:pic>
          <p:pic>
            <p:nvPicPr>
              <p:cNvPr id="6" name="圖片 5">
                <a:extLst>
                  <a:ext uri="{FF2B5EF4-FFF2-40B4-BE49-F238E27FC236}">
                    <a16:creationId xmlns:a16="http://schemas.microsoft.com/office/drawing/2014/main" id="{27CD8752-7651-2A4E-AA17-AAF204B6D1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08" y="4081441"/>
                <a:ext cx="5885580" cy="2631642"/>
              </a:xfrm>
              <a:prstGeom prst="rect">
                <a:avLst/>
              </a:prstGeom>
            </p:spPr>
          </p:pic>
        </p:grpSp>
        <p:sp>
          <p:nvSpPr>
            <p:cNvPr id="7" name="文字方塊 177">
              <a:extLst>
                <a:ext uri="{FF2B5EF4-FFF2-40B4-BE49-F238E27FC236}">
                  <a16:creationId xmlns:a16="http://schemas.microsoft.com/office/drawing/2014/main" id="{4933B69A-8B01-FB4E-8989-80E8D077377D}"/>
                </a:ext>
              </a:extLst>
            </p:cNvPr>
            <p:cNvSpPr txBox="1"/>
            <p:nvPr/>
          </p:nvSpPr>
          <p:spPr>
            <a:xfrm>
              <a:off x="-5358" y="3707676"/>
              <a:ext cx="5885580" cy="400857"/>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Estimation Neural Network (ENN)</a:t>
              </a:r>
              <a:endParaRPr kumimoji="1"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sp>
          <p:nvSpPr>
            <p:cNvPr id="8" name="文字方塊 178">
              <a:extLst>
                <a:ext uri="{FF2B5EF4-FFF2-40B4-BE49-F238E27FC236}">
                  <a16:creationId xmlns:a16="http://schemas.microsoft.com/office/drawing/2014/main" id="{4C5DA516-7AF4-F142-9481-DAF210FB0436}"/>
                </a:ext>
              </a:extLst>
            </p:cNvPr>
            <p:cNvSpPr txBox="1"/>
            <p:nvPr/>
          </p:nvSpPr>
          <p:spPr>
            <a:xfrm>
              <a:off x="6096000" y="3705191"/>
              <a:ext cx="5829300" cy="400857"/>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Policy Neural Network (PNN)</a:t>
              </a:r>
              <a:endParaRPr kumimoji="1"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endParaRPr>
            </a:p>
          </p:txBody>
        </p:sp>
      </p:grpSp>
      <p:sp>
        <p:nvSpPr>
          <p:cNvPr id="16" name="文字方塊 15">
            <a:extLst>
              <a:ext uri="{FF2B5EF4-FFF2-40B4-BE49-F238E27FC236}">
                <a16:creationId xmlns:a16="http://schemas.microsoft.com/office/drawing/2014/main" id="{45020F24-4B12-5C4D-9AF2-423E764B8224}"/>
              </a:ext>
            </a:extLst>
          </p:cNvPr>
          <p:cNvSpPr txBox="1"/>
          <p:nvPr/>
        </p:nvSpPr>
        <p:spPr>
          <a:xfrm>
            <a:off x="-5358" y="6634230"/>
            <a:ext cx="11288668"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TW" sz="9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Reference: </a:t>
            </a:r>
            <a:r>
              <a:rPr kumimoji="0" lang="en-US" altLang="zh-TW" sz="900" b="0" i="0" u="none" strike="noStrike" kern="1200" cap="none" spc="0" normalizeH="0" baseline="0" noProof="0" dirty="0">
                <a:ln>
                  <a:noFill/>
                </a:ln>
                <a:solidFill>
                  <a:prstClr val="black"/>
                </a:solidFill>
                <a:effectLst/>
                <a:uLnTx/>
                <a:uFillTx/>
                <a:latin typeface="Times New Roman" panose="02020603050405020304" pitchFamily="18" charset="0"/>
                <a:ea typeface="微軟正黑體"/>
                <a:cs typeface="Times New Roman" panose="02020603050405020304" pitchFamily="18" charset="0"/>
              </a:rPr>
              <a:t>Jiang Rong, Tao Qin and Bo An, “Competitive Bridge Bidding with Deep Neural Networks,“18th International Conference on Autonomous Agents and Multiagent Systems, AAMAS '19, Montreal, QC, Canada, May 13-17, 2019</a:t>
            </a:r>
          </a:p>
        </p:txBody>
      </p:sp>
      <p:pic>
        <p:nvPicPr>
          <p:cNvPr id="20" name="圖片 19" descr="一張含有 文字, 螢幕擷取畫面, 字型, 行 的圖片&#10;&#10;自動產生的描述">
            <a:extLst>
              <a:ext uri="{FF2B5EF4-FFF2-40B4-BE49-F238E27FC236}">
                <a16:creationId xmlns:a16="http://schemas.microsoft.com/office/drawing/2014/main" id="{235431B6-82DD-674A-B775-55645F8F2246}"/>
              </a:ext>
            </a:extLst>
          </p:cNvPr>
          <p:cNvPicPr>
            <a:picLocks noChangeAspect="1"/>
          </p:cNvPicPr>
          <p:nvPr/>
        </p:nvPicPr>
        <p:blipFill>
          <a:blip r:embed="rId5"/>
          <a:stretch>
            <a:fillRect/>
          </a:stretch>
        </p:blipFill>
        <p:spPr>
          <a:xfrm>
            <a:off x="3836125" y="330200"/>
            <a:ext cx="8001000" cy="3098800"/>
          </a:xfrm>
          <a:prstGeom prst="rect">
            <a:avLst/>
          </a:prstGeom>
        </p:spPr>
      </p:pic>
    </p:spTree>
    <p:extLst>
      <p:ext uri="{BB962C8B-B14F-4D97-AF65-F5344CB8AC3E}">
        <p14:creationId xmlns:p14="http://schemas.microsoft.com/office/powerpoint/2010/main" val="1654962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lang="en" altLang="zh-TW" dirty="0">
                <a:latin typeface="Times" pitchFamily="2" charset="0"/>
              </a:rPr>
              <a:t>Problem Setup</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AEC2A638-FB11-BC41-B4C4-91EA30E22F7F}"/>
              </a:ext>
            </a:extLst>
          </p:cNvPr>
          <p:cNvSpPr>
            <a:spLocks noGrp="1"/>
          </p:cNvSpPr>
          <p:nvPr>
            <p:ph idx="1"/>
          </p:nvPr>
        </p:nvSpPr>
        <p:spPr/>
        <p:txBody>
          <a:bodyPr>
            <a:normAutofit/>
          </a:bodyPr>
          <a:lstStyle/>
          <a:p>
            <a:pPr marL="228600" marR="0" lvl="0" indent="-228600"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TW" sz="2800" b="0" i="0" u="none" strike="noStrike" kern="1200" cap="none" spc="0" normalizeH="0" baseline="0" noProof="0" dirty="0">
                <a:ln>
                  <a:noFill/>
                </a:ln>
                <a:solidFill>
                  <a:prstClr val="black"/>
                </a:solidFill>
                <a:effectLst/>
                <a:uLnTx/>
                <a:uFillTx/>
                <a:latin typeface="Times New Roman"/>
                <a:ea typeface="標楷體"/>
                <a:cs typeface="+mn-cs"/>
              </a:rPr>
              <a:t>Training dataset: randomly generated 2,500,000 hands.</a:t>
            </a:r>
          </a:p>
          <a:p>
            <a:pPr marL="228600" marR="0" lvl="0" indent="-228600"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TW" sz="2800" b="0" i="0" u="none" strike="noStrike" kern="1200" cap="none" spc="0" normalizeH="0" baseline="0" noProof="0" dirty="0">
                <a:ln>
                  <a:noFill/>
                </a:ln>
                <a:solidFill>
                  <a:prstClr val="black"/>
                </a:solidFill>
                <a:effectLst/>
                <a:uLnTx/>
                <a:uFillTx/>
                <a:latin typeface="Times New Roman"/>
                <a:ea typeface="標楷體"/>
                <a:cs typeface="+mn-cs"/>
              </a:rPr>
              <a:t>Evaluation dataset: 100,000 hands.</a:t>
            </a:r>
          </a:p>
          <a:p>
            <a:pPr marL="228600" marR="0" lvl="0" indent="-228600"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TW" sz="2800" b="0" i="0" u="none" strike="noStrike" kern="1200" cap="none" spc="0" normalizeH="0" baseline="0" noProof="0" dirty="0">
                <a:ln>
                  <a:noFill/>
                </a:ln>
                <a:solidFill>
                  <a:prstClr val="black"/>
                </a:solidFill>
                <a:effectLst/>
                <a:uLnTx/>
                <a:uFillTx/>
                <a:latin typeface="Times New Roman"/>
                <a:ea typeface="標楷體"/>
                <a:cs typeface="+mn-cs"/>
              </a:rPr>
              <a:t>The final reward is the difference in the results of the two tables.</a:t>
            </a:r>
            <a:r>
              <a:rPr kumimoji="0" lang="zh-TW" altLang="en-US" sz="2800" b="0" i="0" u="none" strike="noStrike" kern="1200" cap="none" spc="0" normalizeH="0" baseline="0" noProof="0" dirty="0">
                <a:ln>
                  <a:noFill/>
                </a:ln>
                <a:solidFill>
                  <a:prstClr val="black"/>
                </a:solidFill>
                <a:effectLst/>
                <a:uLnTx/>
                <a:uFillTx/>
                <a:latin typeface="Times New Roman"/>
                <a:ea typeface="標楷體"/>
                <a:cs typeface="+mn-cs"/>
              </a:rPr>
              <a:t> </a:t>
            </a:r>
            <a:r>
              <a:rPr kumimoji="0" lang="en-US" altLang="zh-TW" sz="2800" b="0" i="0" u="none" strike="noStrike" kern="1200" cap="none" spc="0" normalizeH="0" baseline="0" noProof="0" dirty="0">
                <a:ln>
                  <a:noFill/>
                </a:ln>
                <a:solidFill>
                  <a:prstClr val="black"/>
                </a:solidFill>
                <a:effectLst/>
                <a:uLnTx/>
                <a:uFillTx/>
                <a:latin typeface="Times New Roman"/>
                <a:ea typeface="標楷體"/>
                <a:cs typeface="+mn-cs"/>
              </a:rPr>
              <a:t>The difference in scores is then converted to IMPs scale, and then normalized to [-1, 1]. </a:t>
            </a: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dirty="0"/>
          </a:p>
        </p:txBody>
      </p:sp>
    </p:spTree>
    <p:extLst>
      <p:ext uri="{BB962C8B-B14F-4D97-AF65-F5344CB8AC3E}">
        <p14:creationId xmlns:p14="http://schemas.microsoft.com/office/powerpoint/2010/main" val="1153088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267-bit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vector</a:t>
            </a:r>
            <a:endParaRPr lang="zh-TW" altLang="en-US" dirty="0">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pitchFamily="2" charset="0"/>
              </a:rPr>
              <a:t>Input</a:t>
            </a:r>
            <a:r>
              <a:rPr kumimoji="1" lang="zh-TW" altLang="en-US" dirty="0">
                <a:latin typeface="Times" pitchFamily="2" charset="0"/>
              </a:rPr>
              <a:t> </a:t>
            </a:r>
            <a:r>
              <a:rPr kumimoji="1" lang="en-US" altLang="zh-TW" dirty="0">
                <a:latin typeface="Times" pitchFamily="2" charset="0"/>
              </a:rPr>
              <a:t>Representation</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a:p>
        </p:txBody>
      </p:sp>
      <p:graphicFrame>
        <p:nvGraphicFramePr>
          <p:cNvPr id="6" name="表格 11">
            <a:extLst>
              <a:ext uri="{FF2B5EF4-FFF2-40B4-BE49-F238E27FC236}">
                <a16:creationId xmlns:a16="http://schemas.microsoft.com/office/drawing/2014/main" id="{0DA0CCE2-F556-5F49-99FA-37CCF7B8F208}"/>
              </a:ext>
            </a:extLst>
          </p:cNvPr>
          <p:cNvGraphicFramePr>
            <a:graphicFrameLocks/>
          </p:cNvGraphicFramePr>
          <p:nvPr>
            <p:extLst>
              <p:ext uri="{D42A27DB-BD31-4B8C-83A1-F6EECF244321}">
                <p14:modId xmlns:p14="http://schemas.microsoft.com/office/powerpoint/2010/main" val="2778986950"/>
              </p:ext>
            </p:extLst>
          </p:nvPr>
        </p:nvGraphicFramePr>
        <p:xfrm>
          <a:off x="684591" y="2443899"/>
          <a:ext cx="10822818" cy="111252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3038641725"/>
                    </a:ext>
                  </a:extLst>
                </a:gridCol>
                <a:gridCol w="1260000">
                  <a:extLst>
                    <a:ext uri="{9D8B030D-6E8A-4147-A177-3AD203B41FA5}">
                      <a16:colId xmlns:a16="http://schemas.microsoft.com/office/drawing/2014/main" val="1244087821"/>
                    </a:ext>
                  </a:extLst>
                </a:gridCol>
                <a:gridCol w="1260000">
                  <a:extLst>
                    <a:ext uri="{9D8B030D-6E8A-4147-A177-3AD203B41FA5}">
                      <a16:colId xmlns:a16="http://schemas.microsoft.com/office/drawing/2014/main" val="3525695966"/>
                    </a:ext>
                  </a:extLst>
                </a:gridCol>
                <a:gridCol w="1260000">
                  <a:extLst>
                    <a:ext uri="{9D8B030D-6E8A-4147-A177-3AD203B41FA5}">
                      <a16:colId xmlns:a16="http://schemas.microsoft.com/office/drawing/2014/main" val="2593936007"/>
                    </a:ext>
                  </a:extLst>
                </a:gridCol>
                <a:gridCol w="1260000">
                  <a:extLst>
                    <a:ext uri="{9D8B030D-6E8A-4147-A177-3AD203B41FA5}">
                      <a16:colId xmlns:a16="http://schemas.microsoft.com/office/drawing/2014/main" val="1874621224"/>
                    </a:ext>
                  </a:extLst>
                </a:gridCol>
                <a:gridCol w="1839468">
                  <a:extLst>
                    <a:ext uri="{9D8B030D-6E8A-4147-A177-3AD203B41FA5}">
                      <a16:colId xmlns:a16="http://schemas.microsoft.com/office/drawing/2014/main" val="1292083411"/>
                    </a:ext>
                  </a:extLst>
                </a:gridCol>
                <a:gridCol w="1483482">
                  <a:extLst>
                    <a:ext uri="{9D8B030D-6E8A-4147-A177-3AD203B41FA5}">
                      <a16:colId xmlns:a16="http://schemas.microsoft.com/office/drawing/2014/main" val="1117249031"/>
                    </a:ext>
                  </a:extLst>
                </a:gridCol>
                <a:gridCol w="1145418">
                  <a:extLst>
                    <a:ext uri="{9D8B030D-6E8A-4147-A177-3AD203B41FA5}">
                      <a16:colId xmlns:a16="http://schemas.microsoft.com/office/drawing/2014/main" val="1700755744"/>
                    </a:ext>
                  </a:extLst>
                </a:gridCol>
              </a:tblGrid>
              <a:tr h="370840">
                <a:tc rowSpan="2">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Own cards</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5">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Bid history, multi-hot of contract bids</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endParaRPr lang="en-US" altLang="zh-TW" dirty="0">
                        <a:solidFill>
                          <a:sysClr val="windowText" lastClr="000000"/>
                        </a:solidFill>
                        <a:latin typeface="Times New Roman" panose="02020603050405020304" pitchFamily="18" charset="0"/>
                        <a:cs typeface="Times New Roman" panose="02020603050405020304" pitchFamily="18" charset="0"/>
                      </a:endParaRPr>
                    </a:p>
                    <a:p>
                      <a:pPr algn="ctr"/>
                      <a:r>
                        <a:rPr lang="en-US" altLang="zh-TW" dirty="0">
                          <a:solidFill>
                            <a:sysClr val="windowText" lastClr="000000"/>
                          </a:solidFill>
                          <a:latin typeface="Times New Roman" panose="02020603050405020304" pitchFamily="18" charset="0"/>
                          <a:cs typeface="Times New Roman" panose="02020603050405020304" pitchFamily="18" charset="0"/>
                        </a:rPr>
                        <a:t>Vulnerability</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Available Action</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141426"/>
                  </a:ext>
                </a:extLst>
              </a:tr>
              <a:tr h="370840">
                <a:tc vMerge="1">
                  <a:txBody>
                    <a:bodyPr/>
                    <a:lstStyle/>
                    <a:p>
                      <a:endParaRPr lang="zh-TW" altLang="en-US" dirty="0"/>
                    </a:p>
                  </a:txBody>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Own</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Partner</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Left Opp.</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Right Opp.</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Double Indicator</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TW" altLang="en-US" dirty="0"/>
                    </a:p>
                  </a:txBody>
                  <a:tcPr/>
                </a:tc>
                <a:tc vMerge="1">
                  <a:txBody>
                    <a:bodyPr/>
                    <a:lstStyle/>
                    <a:p>
                      <a:endParaRPr lang="zh-TW" altLang="en-US" dirty="0"/>
                    </a:p>
                  </a:txBody>
                  <a:tcPr/>
                </a:tc>
                <a:extLst>
                  <a:ext uri="{0D108BD9-81ED-4DB2-BD59-A6C34878D82A}">
                    <a16:rowId xmlns:a16="http://schemas.microsoft.com/office/drawing/2014/main" val="4276945462"/>
                  </a:ext>
                </a:extLst>
              </a:tr>
              <a:tr h="370840">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52</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35</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35</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35</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35</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35</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2</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38</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733851"/>
                  </a:ext>
                </a:extLst>
              </a:tr>
            </a:tbl>
          </a:graphicData>
        </a:graphic>
      </p:graphicFrame>
      <p:graphicFrame>
        <p:nvGraphicFramePr>
          <p:cNvPr id="8" name="表格 15">
            <a:extLst>
              <a:ext uri="{FF2B5EF4-FFF2-40B4-BE49-F238E27FC236}">
                <a16:creationId xmlns:a16="http://schemas.microsoft.com/office/drawing/2014/main" id="{FB53A948-773B-3541-B887-DD1E31244164}"/>
              </a:ext>
            </a:extLst>
          </p:cNvPr>
          <p:cNvGraphicFramePr>
            <a:graphicFrameLocks noGrp="1"/>
          </p:cNvGraphicFramePr>
          <p:nvPr>
            <p:extLst>
              <p:ext uri="{D42A27DB-BD31-4B8C-83A1-F6EECF244321}">
                <p14:modId xmlns:p14="http://schemas.microsoft.com/office/powerpoint/2010/main" val="1349688675"/>
              </p:ext>
            </p:extLst>
          </p:nvPr>
        </p:nvGraphicFramePr>
        <p:xfrm>
          <a:off x="1083000" y="3894481"/>
          <a:ext cx="10026000" cy="2225040"/>
        </p:xfrm>
        <a:graphic>
          <a:graphicData uri="http://schemas.openxmlformats.org/drawingml/2006/table">
            <a:tbl>
              <a:tblPr firstRow="1" bandRow="1">
                <a:tableStyleId>{5C22544A-7EE6-4342-B048-85BDC9FD1C3A}</a:tableStyleId>
              </a:tblPr>
              <a:tblGrid>
                <a:gridCol w="1764000">
                  <a:extLst>
                    <a:ext uri="{9D8B030D-6E8A-4147-A177-3AD203B41FA5}">
                      <a16:colId xmlns:a16="http://schemas.microsoft.com/office/drawing/2014/main" val="3476141840"/>
                    </a:ext>
                  </a:extLst>
                </a:gridCol>
                <a:gridCol w="486000">
                  <a:extLst>
                    <a:ext uri="{9D8B030D-6E8A-4147-A177-3AD203B41FA5}">
                      <a16:colId xmlns:a16="http://schemas.microsoft.com/office/drawing/2014/main" val="1883309966"/>
                    </a:ext>
                  </a:extLst>
                </a:gridCol>
                <a:gridCol w="486000">
                  <a:extLst>
                    <a:ext uri="{9D8B030D-6E8A-4147-A177-3AD203B41FA5}">
                      <a16:colId xmlns:a16="http://schemas.microsoft.com/office/drawing/2014/main" val="1515297898"/>
                    </a:ext>
                  </a:extLst>
                </a:gridCol>
                <a:gridCol w="486000">
                  <a:extLst>
                    <a:ext uri="{9D8B030D-6E8A-4147-A177-3AD203B41FA5}">
                      <a16:colId xmlns:a16="http://schemas.microsoft.com/office/drawing/2014/main" val="384903501"/>
                    </a:ext>
                  </a:extLst>
                </a:gridCol>
                <a:gridCol w="486000">
                  <a:extLst>
                    <a:ext uri="{9D8B030D-6E8A-4147-A177-3AD203B41FA5}">
                      <a16:colId xmlns:a16="http://schemas.microsoft.com/office/drawing/2014/main" val="3434266667"/>
                    </a:ext>
                  </a:extLst>
                </a:gridCol>
                <a:gridCol w="486000">
                  <a:extLst>
                    <a:ext uri="{9D8B030D-6E8A-4147-A177-3AD203B41FA5}">
                      <a16:colId xmlns:a16="http://schemas.microsoft.com/office/drawing/2014/main" val="4071917867"/>
                    </a:ext>
                  </a:extLst>
                </a:gridCol>
                <a:gridCol w="486000">
                  <a:extLst>
                    <a:ext uri="{9D8B030D-6E8A-4147-A177-3AD203B41FA5}">
                      <a16:colId xmlns:a16="http://schemas.microsoft.com/office/drawing/2014/main" val="2005422696"/>
                    </a:ext>
                  </a:extLst>
                </a:gridCol>
                <a:gridCol w="486000">
                  <a:extLst>
                    <a:ext uri="{9D8B030D-6E8A-4147-A177-3AD203B41FA5}">
                      <a16:colId xmlns:a16="http://schemas.microsoft.com/office/drawing/2014/main" val="3425098241"/>
                    </a:ext>
                  </a:extLst>
                </a:gridCol>
                <a:gridCol w="486000">
                  <a:extLst>
                    <a:ext uri="{9D8B030D-6E8A-4147-A177-3AD203B41FA5}">
                      <a16:colId xmlns:a16="http://schemas.microsoft.com/office/drawing/2014/main" val="2518362"/>
                    </a:ext>
                  </a:extLst>
                </a:gridCol>
                <a:gridCol w="486000">
                  <a:extLst>
                    <a:ext uri="{9D8B030D-6E8A-4147-A177-3AD203B41FA5}">
                      <a16:colId xmlns:a16="http://schemas.microsoft.com/office/drawing/2014/main" val="1000057054"/>
                    </a:ext>
                  </a:extLst>
                </a:gridCol>
                <a:gridCol w="486000">
                  <a:extLst>
                    <a:ext uri="{9D8B030D-6E8A-4147-A177-3AD203B41FA5}">
                      <a16:colId xmlns:a16="http://schemas.microsoft.com/office/drawing/2014/main" val="3408084078"/>
                    </a:ext>
                  </a:extLst>
                </a:gridCol>
                <a:gridCol w="486000">
                  <a:extLst>
                    <a:ext uri="{9D8B030D-6E8A-4147-A177-3AD203B41FA5}">
                      <a16:colId xmlns:a16="http://schemas.microsoft.com/office/drawing/2014/main" val="3752328588"/>
                    </a:ext>
                  </a:extLst>
                </a:gridCol>
                <a:gridCol w="486000">
                  <a:extLst>
                    <a:ext uri="{9D8B030D-6E8A-4147-A177-3AD203B41FA5}">
                      <a16:colId xmlns:a16="http://schemas.microsoft.com/office/drawing/2014/main" val="2884059532"/>
                    </a:ext>
                  </a:extLst>
                </a:gridCol>
                <a:gridCol w="486000">
                  <a:extLst>
                    <a:ext uri="{9D8B030D-6E8A-4147-A177-3AD203B41FA5}">
                      <a16:colId xmlns:a16="http://schemas.microsoft.com/office/drawing/2014/main" val="540926009"/>
                    </a:ext>
                  </a:extLst>
                </a:gridCol>
                <a:gridCol w="486000">
                  <a:extLst>
                    <a:ext uri="{9D8B030D-6E8A-4147-A177-3AD203B41FA5}">
                      <a16:colId xmlns:a16="http://schemas.microsoft.com/office/drawing/2014/main" val="1134387972"/>
                    </a:ext>
                  </a:extLst>
                </a:gridCol>
                <a:gridCol w="486000">
                  <a:extLst>
                    <a:ext uri="{9D8B030D-6E8A-4147-A177-3AD203B41FA5}">
                      <a16:colId xmlns:a16="http://schemas.microsoft.com/office/drawing/2014/main" val="1766643394"/>
                    </a:ext>
                  </a:extLst>
                </a:gridCol>
                <a:gridCol w="486000">
                  <a:extLst>
                    <a:ext uri="{9D8B030D-6E8A-4147-A177-3AD203B41FA5}">
                      <a16:colId xmlns:a16="http://schemas.microsoft.com/office/drawing/2014/main" val="337779007"/>
                    </a:ext>
                  </a:extLst>
                </a:gridCol>
                <a:gridCol w="486000">
                  <a:extLst>
                    <a:ext uri="{9D8B030D-6E8A-4147-A177-3AD203B41FA5}">
                      <a16:colId xmlns:a16="http://schemas.microsoft.com/office/drawing/2014/main" val="3671254800"/>
                    </a:ext>
                  </a:extLst>
                </a:gridCol>
              </a:tblGrid>
              <a:tr h="370840">
                <a:tc>
                  <a:txBody>
                    <a:bodyPr/>
                    <a:lstStyle/>
                    <a:p>
                      <a:pPr algn="ct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1C</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1D</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1H</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1S</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1N</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2C</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2D</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2H</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2S</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2N</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3C</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3D</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3H</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3S</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3N</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7N</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8198100"/>
                  </a:ext>
                </a:extLst>
              </a:tr>
              <a:tr h="370840">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Own</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1" dirty="0">
                          <a:solidFill>
                            <a:srgbClr val="FF0000"/>
                          </a:solidFill>
                          <a:latin typeface="Times New Roman" panose="02020603050405020304" pitchFamily="18" charset="0"/>
                          <a:cs typeface="Times New Roman" panose="02020603050405020304" pitchFamily="18" charset="0"/>
                        </a:rPr>
                        <a:t>1</a:t>
                      </a:r>
                      <a:endParaRPr lang="zh-TW" altLang="en-US"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3516445"/>
                  </a:ext>
                </a:extLst>
              </a:tr>
              <a:tr h="370840">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Partner</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1" dirty="0">
                          <a:solidFill>
                            <a:srgbClr val="FF0000"/>
                          </a:solidFill>
                          <a:latin typeface="Times New Roman" panose="02020603050405020304" pitchFamily="18" charset="0"/>
                          <a:cs typeface="Times New Roman" panose="02020603050405020304" pitchFamily="18" charset="0"/>
                        </a:rPr>
                        <a:t>1</a:t>
                      </a:r>
                      <a:endParaRPr lang="zh-TW" altLang="en-US"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1" dirty="0">
                          <a:solidFill>
                            <a:srgbClr val="FF0000"/>
                          </a:solidFill>
                          <a:latin typeface="Times New Roman" panose="02020603050405020304" pitchFamily="18" charset="0"/>
                          <a:cs typeface="Times New Roman" panose="02020603050405020304" pitchFamily="18" charset="0"/>
                        </a:rPr>
                        <a:t>1</a:t>
                      </a:r>
                      <a:endParaRPr lang="zh-TW" altLang="en-US"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598191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ysClr val="windowText" lastClr="000000"/>
                          </a:solidFill>
                          <a:latin typeface="Times New Roman" panose="02020603050405020304" pitchFamily="18" charset="0"/>
                          <a:cs typeface="Times New Roman" panose="02020603050405020304" pitchFamily="18" charset="0"/>
                        </a:rPr>
                        <a:t>Left Opp.</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1" dirty="0">
                          <a:solidFill>
                            <a:srgbClr val="FF0000"/>
                          </a:solidFill>
                          <a:latin typeface="Times New Roman" panose="02020603050405020304" pitchFamily="18" charset="0"/>
                          <a:cs typeface="Times New Roman" panose="02020603050405020304" pitchFamily="18" charset="0"/>
                        </a:rPr>
                        <a:t>1</a:t>
                      </a:r>
                      <a:endParaRPr lang="zh-TW" altLang="en-US"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538905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ysClr val="windowText" lastClr="000000"/>
                          </a:solidFill>
                          <a:latin typeface="Times New Roman" panose="02020603050405020304" pitchFamily="18" charset="0"/>
                          <a:cs typeface="Times New Roman" panose="02020603050405020304" pitchFamily="18" charset="0"/>
                        </a:rPr>
                        <a:t>Right Opp.</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798024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ysClr val="windowText" lastClr="000000"/>
                          </a:solidFill>
                          <a:latin typeface="Times New Roman" panose="02020603050405020304" pitchFamily="18" charset="0"/>
                          <a:cs typeface="Times New Roman" panose="02020603050405020304" pitchFamily="18" charset="0"/>
                        </a:rPr>
                        <a:t>Double Indicator</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1" dirty="0">
                          <a:solidFill>
                            <a:srgbClr val="FF0000"/>
                          </a:solidFill>
                          <a:latin typeface="Times New Roman" panose="02020603050405020304" pitchFamily="18" charset="0"/>
                          <a:cs typeface="Times New Roman" panose="02020603050405020304" pitchFamily="18" charset="0"/>
                        </a:rPr>
                        <a:t>1</a:t>
                      </a:r>
                      <a:endParaRPr lang="zh-TW" altLang="en-US"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ysClr val="windowText" lastClr="000000"/>
                          </a:solidFill>
                          <a:latin typeface="Times New Roman" panose="02020603050405020304" pitchFamily="18" charset="0"/>
                          <a:cs typeface="Times New Roman" panose="02020603050405020304" pitchFamily="18" charset="0"/>
                        </a:rPr>
                        <a:t>0</a:t>
                      </a:r>
                      <a:endParaRPr lang="zh-TW" altLang="en-US"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2402978"/>
                  </a:ext>
                </a:extLst>
              </a:tr>
            </a:tbl>
          </a:graphicData>
        </a:graphic>
      </p:graphicFrame>
      <p:pic>
        <p:nvPicPr>
          <p:cNvPr id="10" name="圖片 9" descr="一張含有 字型, 螢幕擷取畫面, 文字, 數字 的圖片&#10;&#10;自動產生的描述">
            <a:extLst>
              <a:ext uri="{FF2B5EF4-FFF2-40B4-BE49-F238E27FC236}">
                <a16:creationId xmlns:a16="http://schemas.microsoft.com/office/drawing/2014/main" id="{0111799B-C5FC-0E4B-955E-FD79E2545116}"/>
              </a:ext>
            </a:extLst>
          </p:cNvPr>
          <p:cNvPicPr>
            <a:picLocks noChangeAspect="1"/>
          </p:cNvPicPr>
          <p:nvPr/>
        </p:nvPicPr>
        <p:blipFill>
          <a:blip r:embed="rId2"/>
          <a:stretch>
            <a:fillRect/>
          </a:stretch>
        </p:blipFill>
        <p:spPr>
          <a:xfrm>
            <a:off x="8610600" y="244351"/>
            <a:ext cx="1849315" cy="1890411"/>
          </a:xfrm>
          <a:prstGeom prst="rect">
            <a:avLst/>
          </a:prstGeom>
        </p:spPr>
      </p:pic>
    </p:spTree>
    <p:extLst>
      <p:ext uri="{BB962C8B-B14F-4D97-AF65-F5344CB8AC3E}">
        <p14:creationId xmlns:p14="http://schemas.microsoft.com/office/powerpoint/2010/main" val="1836791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descr="一張含有 文字, 螢幕擷取畫面, 圖表, 圓形 的圖片&#10;&#10;自動產生的描述">
            <a:extLst>
              <a:ext uri="{FF2B5EF4-FFF2-40B4-BE49-F238E27FC236}">
                <a16:creationId xmlns:a16="http://schemas.microsoft.com/office/drawing/2014/main" id="{B215885F-8B05-6A45-9919-7590F96BDA06}"/>
              </a:ext>
            </a:extLst>
          </p:cNvPr>
          <p:cNvPicPr>
            <a:picLocks noGrp="1" noChangeAspect="1"/>
          </p:cNvPicPr>
          <p:nvPr>
            <p:ph idx="1"/>
          </p:nvPr>
        </p:nvPicPr>
        <p:blipFill>
          <a:blip r:embed="rId2"/>
          <a:stretch>
            <a:fillRect/>
          </a:stretch>
        </p:blipFill>
        <p:spPr>
          <a:xfrm>
            <a:off x="4758115" y="1615545"/>
            <a:ext cx="7184769" cy="4815949"/>
          </a:xfrm>
        </p:spPr>
      </p:pic>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pitchFamily="2" charset="0"/>
              </a:rPr>
              <a:t>Network</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a:p>
        </p:txBody>
      </p:sp>
      <p:sp>
        <p:nvSpPr>
          <p:cNvPr id="7" name="矩形 6">
            <a:extLst>
              <a:ext uri="{FF2B5EF4-FFF2-40B4-BE49-F238E27FC236}">
                <a16:creationId xmlns:a16="http://schemas.microsoft.com/office/drawing/2014/main" id="{0A7722DE-3A8C-4A4E-A4C9-0C7682C7F083}"/>
              </a:ext>
            </a:extLst>
          </p:cNvPr>
          <p:cNvSpPr/>
          <p:nvPr/>
        </p:nvSpPr>
        <p:spPr>
          <a:xfrm>
            <a:off x="5232162" y="4240988"/>
            <a:ext cx="3118338" cy="141849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文字方塊 9">
            <a:extLst>
              <a:ext uri="{FF2B5EF4-FFF2-40B4-BE49-F238E27FC236}">
                <a16:creationId xmlns:a16="http://schemas.microsoft.com/office/drawing/2014/main" id="{FE8CFA25-1471-CC4D-8BD6-BE5BB50576D8}"/>
              </a:ext>
            </a:extLst>
          </p:cNvPr>
          <p:cNvSpPr txBox="1"/>
          <p:nvPr/>
        </p:nvSpPr>
        <p:spPr>
          <a:xfrm>
            <a:off x="4957408" y="5768747"/>
            <a:ext cx="2555631" cy="369332"/>
          </a:xfrm>
          <a:prstGeom prst="rect">
            <a:avLst/>
          </a:prstGeom>
          <a:noFill/>
        </p:spPr>
        <p:txBody>
          <a:bodyPr wrap="square">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estimating partner’s hand</a:t>
            </a:r>
            <a:endParaRPr lang="zh-TW" altLang="en-US" dirty="0">
              <a:solidFill>
                <a:srgbClr val="FF0000"/>
              </a:solidFill>
            </a:endParaRPr>
          </a:p>
        </p:txBody>
      </p:sp>
      <p:sp>
        <p:nvSpPr>
          <p:cNvPr id="13" name="內容版面配置區 4">
            <a:extLst>
              <a:ext uri="{FF2B5EF4-FFF2-40B4-BE49-F238E27FC236}">
                <a16:creationId xmlns:a16="http://schemas.microsoft.com/office/drawing/2014/main" id="{50402061-2A74-804D-B922-1D5311E98B8E}"/>
              </a:ext>
            </a:extLst>
          </p:cNvPr>
          <p:cNvSpPr txBox="1">
            <a:spLocks/>
          </p:cNvSpPr>
          <p:nvPr/>
        </p:nvSpPr>
        <p:spPr>
          <a:xfrm>
            <a:off x="838200" y="1944322"/>
            <a:ext cx="3804878" cy="44120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latin typeface="Times New Roman" panose="02020603050405020304" pitchFamily="18" charset="0"/>
                <a:cs typeface="Times New Roman" panose="02020603050405020304" pitchFamily="18" charset="0"/>
              </a:rPr>
              <a:t>An</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initial fully connected layer</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and</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4 fully connected layer with skip connections added every 2 layers.</a:t>
            </a:r>
          </a:p>
          <a:p>
            <a:r>
              <a:rPr lang="en-US" altLang="zh-TW" sz="2400" dirty="0">
                <a:latin typeface="Times New Roman" panose="02020603050405020304" pitchFamily="18" charset="0"/>
                <a:cs typeface="Times New Roman" panose="02020603050405020304" pitchFamily="18" charset="0"/>
              </a:rPr>
              <a:t>Policy head:</a:t>
            </a:r>
          </a:p>
          <a:p>
            <a:pPr marL="457200" lvl="1"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38 output neurons</a:t>
            </a:r>
          </a:p>
          <a:p>
            <a:pPr marL="457200" lvl="1"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Masking out illegal actions</a:t>
            </a:r>
          </a:p>
          <a:p>
            <a:r>
              <a:rPr lang="en-US" altLang="zh-TW" sz="2400" dirty="0">
                <a:latin typeface="Times New Roman" panose="02020603050405020304" pitchFamily="18" charset="0"/>
                <a:cs typeface="Times New Roman" panose="02020603050405020304" pitchFamily="18" charset="0"/>
              </a:rPr>
              <a:t>Value head:</a:t>
            </a:r>
          </a:p>
          <a:p>
            <a:pPr marL="457200" lvl="1"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1 neuron</a:t>
            </a:r>
          </a:p>
        </p:txBody>
      </p:sp>
    </p:spTree>
    <p:extLst>
      <p:ext uri="{BB962C8B-B14F-4D97-AF65-F5344CB8AC3E}">
        <p14:creationId xmlns:p14="http://schemas.microsoft.com/office/powerpoint/2010/main" val="1140269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pitchFamily="2" charset="0"/>
              </a:rPr>
              <a:t>Visualization</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a:p>
        </p:txBody>
      </p:sp>
      <p:grpSp>
        <p:nvGrpSpPr>
          <p:cNvPr id="11" name="群組 10">
            <a:extLst>
              <a:ext uri="{FF2B5EF4-FFF2-40B4-BE49-F238E27FC236}">
                <a16:creationId xmlns:a16="http://schemas.microsoft.com/office/drawing/2014/main" id="{DF7FD8AE-B83D-DA4C-806E-D30B0FD85EBD}"/>
              </a:ext>
            </a:extLst>
          </p:cNvPr>
          <p:cNvGrpSpPr/>
          <p:nvPr/>
        </p:nvGrpSpPr>
        <p:grpSpPr>
          <a:xfrm>
            <a:off x="474995" y="1888038"/>
            <a:ext cx="10641740" cy="3748685"/>
            <a:chOff x="474995" y="2134221"/>
            <a:chExt cx="10641740" cy="3748685"/>
          </a:xfrm>
        </p:grpSpPr>
        <p:pic>
          <p:nvPicPr>
            <p:cNvPr id="5" name="圖片 4" descr="一張含有 文字, 螢幕擷取畫面, 繪圖, 圖表 的圖片&#10;&#10;自動產生的描述">
              <a:extLst>
                <a:ext uri="{FF2B5EF4-FFF2-40B4-BE49-F238E27FC236}">
                  <a16:creationId xmlns:a16="http://schemas.microsoft.com/office/drawing/2014/main" id="{1DE0016D-28D6-B844-8C14-933A06422038}"/>
                </a:ext>
              </a:extLst>
            </p:cNvPr>
            <p:cNvPicPr>
              <a:picLocks noChangeAspect="1"/>
            </p:cNvPicPr>
            <p:nvPr/>
          </p:nvPicPr>
          <p:blipFill>
            <a:blip r:embed="rId2"/>
            <a:stretch>
              <a:fillRect/>
            </a:stretch>
          </p:blipFill>
          <p:spPr>
            <a:xfrm>
              <a:off x="474995" y="2134221"/>
              <a:ext cx="5137638" cy="3597786"/>
            </a:xfrm>
            <a:prstGeom prst="rect">
              <a:avLst/>
            </a:prstGeom>
          </p:spPr>
        </p:pic>
        <p:pic>
          <p:nvPicPr>
            <p:cNvPr id="7" name="圖片 6" descr="一張含有 文字, 螢幕擷取畫面, 字型, 數字 的圖片&#10;&#10;自動產生的描述">
              <a:extLst>
                <a:ext uri="{FF2B5EF4-FFF2-40B4-BE49-F238E27FC236}">
                  <a16:creationId xmlns:a16="http://schemas.microsoft.com/office/drawing/2014/main" id="{B2E7F184-FD54-DF48-B52F-1306415A06A9}"/>
                </a:ext>
              </a:extLst>
            </p:cNvPr>
            <p:cNvPicPr>
              <a:picLocks noChangeAspect="1"/>
            </p:cNvPicPr>
            <p:nvPr/>
          </p:nvPicPr>
          <p:blipFill>
            <a:blip r:embed="rId3"/>
            <a:stretch>
              <a:fillRect/>
            </a:stretch>
          </p:blipFill>
          <p:spPr>
            <a:xfrm>
              <a:off x="6096000" y="2164132"/>
              <a:ext cx="2268298" cy="3718774"/>
            </a:xfrm>
            <a:prstGeom prst="rect">
              <a:avLst/>
            </a:prstGeom>
          </p:spPr>
        </p:pic>
        <p:pic>
          <p:nvPicPr>
            <p:cNvPr id="10" name="圖片 9" descr="一張含有 文字, 螢幕擷取畫面, 字型, 胭脂紅 的圖片&#10;&#10;自動產生的描述">
              <a:extLst>
                <a:ext uri="{FF2B5EF4-FFF2-40B4-BE49-F238E27FC236}">
                  <a16:creationId xmlns:a16="http://schemas.microsoft.com/office/drawing/2014/main" id="{5B3EC76C-CEF2-A842-B19E-0B9A6ACEB493}"/>
                </a:ext>
              </a:extLst>
            </p:cNvPr>
            <p:cNvPicPr>
              <a:picLocks noChangeAspect="1"/>
            </p:cNvPicPr>
            <p:nvPr/>
          </p:nvPicPr>
          <p:blipFill>
            <a:blip r:embed="rId4"/>
            <a:stretch>
              <a:fillRect/>
            </a:stretch>
          </p:blipFill>
          <p:spPr>
            <a:xfrm>
              <a:off x="8847665" y="2164132"/>
              <a:ext cx="2269070" cy="3272400"/>
            </a:xfrm>
            <a:prstGeom prst="rect">
              <a:avLst/>
            </a:prstGeom>
          </p:spPr>
        </p:pic>
      </p:grpSp>
    </p:spTree>
    <p:extLst>
      <p:ext uri="{BB962C8B-B14F-4D97-AF65-F5344CB8AC3E}">
        <p14:creationId xmlns:p14="http://schemas.microsoft.com/office/powerpoint/2010/main" val="2997420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pitchFamily="2" charset="0"/>
              </a:rPr>
              <a:t>Opening</a:t>
            </a:r>
            <a:r>
              <a:rPr kumimoji="1" lang="zh-TW" altLang="en-US" dirty="0">
                <a:latin typeface="Times" pitchFamily="2" charset="0"/>
              </a:rPr>
              <a:t> </a:t>
            </a:r>
            <a:r>
              <a:rPr kumimoji="1" lang="en-US" altLang="zh-TW" dirty="0">
                <a:latin typeface="Times" pitchFamily="2" charset="0"/>
              </a:rPr>
              <a:t>table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a:p>
        </p:txBody>
      </p:sp>
      <p:pic>
        <p:nvPicPr>
          <p:cNvPr id="5" name="圖片 4" descr="一張含有 文字, 螢幕擷取畫面, 字型, 數字 的圖片&#10;&#10;自動產生的描述">
            <a:extLst>
              <a:ext uri="{FF2B5EF4-FFF2-40B4-BE49-F238E27FC236}">
                <a16:creationId xmlns:a16="http://schemas.microsoft.com/office/drawing/2014/main" id="{A05970C4-EEDA-8C4D-92C2-3B31689702EA}"/>
              </a:ext>
            </a:extLst>
          </p:cNvPr>
          <p:cNvPicPr>
            <a:picLocks noChangeAspect="1"/>
          </p:cNvPicPr>
          <p:nvPr/>
        </p:nvPicPr>
        <p:blipFill>
          <a:blip r:embed="rId2"/>
          <a:stretch>
            <a:fillRect/>
          </a:stretch>
        </p:blipFill>
        <p:spPr>
          <a:xfrm>
            <a:off x="2766860" y="1682750"/>
            <a:ext cx="6658279" cy="4673600"/>
          </a:xfrm>
          <a:prstGeom prst="rect">
            <a:avLst/>
          </a:prstGeom>
        </p:spPr>
      </p:pic>
    </p:spTree>
    <p:extLst>
      <p:ext uri="{BB962C8B-B14F-4D97-AF65-F5344CB8AC3E}">
        <p14:creationId xmlns:p14="http://schemas.microsoft.com/office/powerpoint/2010/main" val="223768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pitchFamily="2" charset="0"/>
              </a:rPr>
              <a:t>Bidding</a:t>
            </a:r>
            <a:r>
              <a:rPr kumimoji="1" lang="zh-TW" altLang="en-US" dirty="0">
                <a:latin typeface="Times" pitchFamily="2" charset="0"/>
              </a:rPr>
              <a:t> </a:t>
            </a:r>
            <a:r>
              <a:rPr kumimoji="1" lang="en-US" altLang="zh-TW" dirty="0">
                <a:latin typeface="Times" pitchFamily="2" charset="0"/>
              </a:rPr>
              <a:t>examples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a:p>
        </p:txBody>
      </p:sp>
      <p:pic>
        <p:nvPicPr>
          <p:cNvPr id="6" name="圖片 5" descr="一張含有 文字, 螢幕擷取畫面, 數字, 字型 的圖片&#10;&#10;自動產生的描述">
            <a:extLst>
              <a:ext uri="{FF2B5EF4-FFF2-40B4-BE49-F238E27FC236}">
                <a16:creationId xmlns:a16="http://schemas.microsoft.com/office/drawing/2014/main" id="{ADFF1776-1DCD-C844-A8DF-9B040DF7AECE}"/>
              </a:ext>
            </a:extLst>
          </p:cNvPr>
          <p:cNvPicPr>
            <a:picLocks noChangeAspect="1"/>
          </p:cNvPicPr>
          <p:nvPr/>
        </p:nvPicPr>
        <p:blipFill>
          <a:blip r:embed="rId2"/>
          <a:stretch>
            <a:fillRect/>
          </a:stretch>
        </p:blipFill>
        <p:spPr>
          <a:xfrm>
            <a:off x="1008185" y="1641060"/>
            <a:ext cx="4658135" cy="4715290"/>
          </a:xfrm>
          <a:prstGeom prst="rect">
            <a:avLst/>
          </a:prstGeom>
        </p:spPr>
      </p:pic>
      <p:pic>
        <p:nvPicPr>
          <p:cNvPr id="8" name="圖片 7" descr="一張含有 文字, 螢幕擷取畫面, 數字, 字型 的圖片&#10;&#10;自動產生的描述">
            <a:extLst>
              <a:ext uri="{FF2B5EF4-FFF2-40B4-BE49-F238E27FC236}">
                <a16:creationId xmlns:a16="http://schemas.microsoft.com/office/drawing/2014/main" id="{BAC99A84-6D12-384A-8A6B-A09FC93D0CA5}"/>
              </a:ext>
            </a:extLst>
          </p:cNvPr>
          <p:cNvPicPr>
            <a:picLocks noChangeAspect="1"/>
          </p:cNvPicPr>
          <p:nvPr/>
        </p:nvPicPr>
        <p:blipFill>
          <a:blip r:embed="rId3"/>
          <a:stretch>
            <a:fillRect/>
          </a:stretch>
        </p:blipFill>
        <p:spPr>
          <a:xfrm>
            <a:off x="5973292" y="1641060"/>
            <a:ext cx="4687056" cy="4715290"/>
          </a:xfrm>
          <a:prstGeom prst="rect">
            <a:avLst/>
          </a:prstGeom>
        </p:spPr>
      </p:pic>
    </p:spTree>
    <p:extLst>
      <p:ext uri="{BB962C8B-B14F-4D97-AF65-F5344CB8AC3E}">
        <p14:creationId xmlns:p14="http://schemas.microsoft.com/office/powerpoint/2010/main" val="2507367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Experiments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a:p>
        </p:txBody>
      </p:sp>
      <p:sp>
        <p:nvSpPr>
          <p:cNvPr id="6" name="內容版面配置區 5">
            <a:extLst>
              <a:ext uri="{FF2B5EF4-FFF2-40B4-BE49-F238E27FC236}">
                <a16:creationId xmlns:a16="http://schemas.microsoft.com/office/drawing/2014/main" id="{2A5DDD69-93A4-6F44-876A-134E2E8B9FB6}"/>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We beat baseline16 2.31 IMPs per board</a:t>
            </a:r>
            <a:r>
              <a:rPr lang="en" altLang="zh-TW" dirty="0">
                <a:latin typeface="Times New Roman" panose="02020603050405020304" pitchFamily="18" charset="0"/>
                <a:cs typeface="Times New Roman" panose="02020603050405020304" pitchFamily="18" charset="0"/>
              </a:rPr>
              <a:t> in 64 board tournament</a:t>
            </a:r>
            <a:r>
              <a:rPr lang="en-US" altLang="zh-TW" dirty="0">
                <a:latin typeface="Times New Roman" panose="02020603050405020304" pitchFamily="18" charset="0"/>
                <a:cs typeface="Times New Roman" panose="02020603050405020304" pitchFamily="18" charset="0"/>
              </a:rPr>
              <a:t>.</a:t>
            </a:r>
            <a:endParaRPr lang="en" altLang="zh-TW" dirty="0">
              <a:latin typeface="Times New Roman" panose="02020603050405020304" pitchFamily="18" charset="0"/>
              <a:cs typeface="Times New Roman" panose="02020603050405020304" pitchFamily="18" charset="0"/>
            </a:endParaRPr>
          </a:p>
          <a:p>
            <a:r>
              <a:rPr lang="en" altLang="zh-TW" dirty="0">
                <a:latin typeface="Times New Roman" panose="02020603050405020304" pitchFamily="18" charset="0"/>
                <a:cs typeface="Times New Roman" panose="02020603050405020304" pitchFamily="18" charset="0"/>
              </a:rPr>
              <a:t>We beat Wbridge5 0.41 IMPs per board in 64 board tournament.</a:t>
            </a:r>
          </a:p>
          <a:p>
            <a:r>
              <a:rPr lang="en" altLang="zh-TW" dirty="0">
                <a:latin typeface="Times New Roman" panose="02020603050405020304" pitchFamily="18" charset="0"/>
                <a:cs typeface="Times New Roman" panose="02020603050405020304" pitchFamily="18" charset="0"/>
              </a:rPr>
              <a:t>Baseline19 outperforms Wbridge5 by 0.25 IMPs per board.</a:t>
            </a:r>
          </a:p>
        </p:txBody>
      </p:sp>
    </p:spTree>
    <p:extLst>
      <p:ext uri="{BB962C8B-B14F-4D97-AF65-F5344CB8AC3E}">
        <p14:creationId xmlns:p14="http://schemas.microsoft.com/office/powerpoint/2010/main" val="3516213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Experiments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13</a:t>
            </a:fld>
            <a:endParaRPr kumimoji="1" lang="zh-TW" altLang="en-US"/>
          </a:p>
        </p:txBody>
      </p:sp>
      <p:pic>
        <p:nvPicPr>
          <p:cNvPr id="8" name="內容版面配置區 7" descr="一張含有 文字, 字型, 螢幕擷取畫面, 收據 的圖片&#10;&#10;自動產生的描述">
            <a:extLst>
              <a:ext uri="{FF2B5EF4-FFF2-40B4-BE49-F238E27FC236}">
                <a16:creationId xmlns:a16="http://schemas.microsoft.com/office/drawing/2014/main" id="{649B10E5-4039-9042-8A37-C6BAB83D7448}"/>
              </a:ext>
            </a:extLst>
          </p:cNvPr>
          <p:cNvPicPr>
            <a:picLocks noGrp="1" noChangeAspect="1"/>
          </p:cNvPicPr>
          <p:nvPr>
            <p:ph idx="1"/>
          </p:nvPr>
        </p:nvPicPr>
        <p:blipFill rotWithShape="1">
          <a:blip r:embed="rId2"/>
          <a:srcRect r="50000"/>
          <a:stretch/>
        </p:blipFill>
        <p:spPr>
          <a:xfrm>
            <a:off x="6096000" y="1987848"/>
            <a:ext cx="4953000" cy="4112915"/>
          </a:xfrm>
        </p:spPr>
      </p:pic>
      <p:sp>
        <p:nvSpPr>
          <p:cNvPr id="9" name="內容版面配置區 2">
            <a:extLst>
              <a:ext uri="{FF2B5EF4-FFF2-40B4-BE49-F238E27FC236}">
                <a16:creationId xmlns:a16="http://schemas.microsoft.com/office/drawing/2014/main" id="{267D6A01-5908-FF43-B098-51A5AEAE2CBB}"/>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Final loss: L = r </a:t>
            </a:r>
            <a:r>
              <a:rPr lang="zh-TW" altLang="en-US"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L</a:t>
            </a:r>
            <a:r>
              <a:rPr lang="en-US" altLang="zh-TW" baseline="-25000" dirty="0" err="1">
                <a:latin typeface="Times New Roman" panose="02020603050405020304" pitchFamily="18" charset="0"/>
                <a:cs typeface="Times New Roman" panose="02020603050405020304" pitchFamily="18" charset="0"/>
              </a:rPr>
              <a:t>belief</a:t>
            </a:r>
            <a:r>
              <a:rPr lang="en-US" altLang="zh-TW" dirty="0">
                <a:latin typeface="Times New Roman" panose="02020603050405020304" pitchFamily="18" charset="0"/>
                <a:cs typeface="Times New Roman" panose="02020603050405020304" pitchFamily="18" charset="0"/>
              </a:rPr>
              <a:t>+ L</a:t>
            </a:r>
            <a:r>
              <a:rPr lang="en-US" altLang="zh-TW" baseline="-25000" dirty="0">
                <a:latin typeface="Times New Roman" panose="02020603050405020304" pitchFamily="18" charset="0"/>
                <a:cs typeface="Times New Roman" panose="02020603050405020304" pitchFamily="18" charset="0"/>
              </a:rPr>
              <a:t>A3C</a:t>
            </a:r>
            <a:r>
              <a:rPr lang="en-US"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425490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_chenya" id="{B41F7EED-78E0-1445-87EF-5AF1DA6E0F58}" vid="{D32384A1-BBDA-0D4F-B76D-4F110ED0331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4927</TotalTime>
  <Words>625</Words>
  <Application>Microsoft Office PowerPoint</Application>
  <PresentationFormat>寬螢幕</PresentationFormat>
  <Paragraphs>190</Paragraphs>
  <Slides>13</Slides>
  <Notes>3</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13</vt:i4>
      </vt:variant>
    </vt:vector>
  </HeadingPairs>
  <TitlesOfParts>
    <vt:vector size="19" baseType="lpstr">
      <vt:lpstr>Arial</vt:lpstr>
      <vt:lpstr>Calibri</vt:lpstr>
      <vt:lpstr>Calibri Light</vt:lpstr>
      <vt:lpstr>Times</vt:lpstr>
      <vt:lpstr>Times New Roman</vt:lpstr>
      <vt:lpstr>Office 佈景主題</vt:lpstr>
      <vt:lpstr>Simple is Better: Training an End-to-end Contract Bridge Bidding Agent without Human Knowledge</vt:lpstr>
      <vt:lpstr>Abstract(1/2)</vt:lpstr>
      <vt:lpstr>Abstract(2/2)</vt:lpstr>
      <vt:lpstr>Baseline 16</vt:lpstr>
      <vt:lpstr>Baseline 19</vt:lpstr>
      <vt:lpstr>Problem Setup</vt:lpstr>
      <vt:lpstr>Input Representation</vt:lpstr>
      <vt:lpstr>Network</vt:lpstr>
      <vt:lpstr>Visualization</vt:lpstr>
      <vt:lpstr>Opening table</vt:lpstr>
      <vt:lpstr>Bidding examples</vt:lpstr>
      <vt:lpstr>Experiments</vt:lpstr>
      <vt:lpstr>Experiments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is Better: Training an End-to-end Contract Bridge Bidding Agent without Human Knowledge</dc:title>
  <dc:creator>M113040012</dc:creator>
  <cp:lastModifiedBy>pplab</cp:lastModifiedBy>
  <cp:revision>100</cp:revision>
  <dcterms:created xsi:type="dcterms:W3CDTF">2023-10-07T09:51:06Z</dcterms:created>
  <dcterms:modified xsi:type="dcterms:W3CDTF">2023-10-18T11:09:51Z</dcterms:modified>
</cp:coreProperties>
</file>