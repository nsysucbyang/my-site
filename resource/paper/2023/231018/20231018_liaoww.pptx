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78" r:id="rId4"/>
    <p:sldId id="295" r:id="rId5"/>
    <p:sldId id="296" r:id="rId6"/>
    <p:sldId id="297" r:id="rId7"/>
    <p:sldId id="298" r:id="rId8"/>
    <p:sldId id="299" r:id="rId9"/>
    <p:sldId id="30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13" r:id="rId18"/>
    <p:sldId id="315" r:id="rId19"/>
    <p:sldId id="314" r:id="rId20"/>
    <p:sldId id="316" r:id="rId21"/>
    <p:sldId id="317" r:id="rId22"/>
    <p:sldId id="294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896" autoAdjust="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E8EAED"/>
                </a:solidFill>
                <a:effectLst/>
                <a:latin typeface="Google Sans"/>
              </a:rPr>
              <a:t>特拉維夫市</a:t>
            </a:r>
            <a:r>
              <a:rPr lang="zh-TW" alt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以色列</a:t>
            </a:r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894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903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02549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61364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820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05858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012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0840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5424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67379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0710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96408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7540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5956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993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0290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69593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469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225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2023/10/18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224" y="1122363"/>
            <a:ext cx="10285551" cy="2387600"/>
          </a:xfrm>
        </p:spPr>
        <p:txBody>
          <a:bodyPr>
            <a:noAutofit/>
          </a:bodyPr>
          <a:lstStyle/>
          <a:p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Computation of Longest Common</a:t>
            </a:r>
            <a:b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Subsequences with Multiple Substring</a:t>
            </a:r>
            <a:r>
              <a:rPr lang="zh-TW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Inclusive Constraints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050" y="3928587"/>
            <a:ext cx="11149897" cy="1655762"/>
          </a:xfrm>
        </p:spPr>
        <p:txBody>
          <a:bodyPr>
            <a:normAutofit/>
          </a:bodyPr>
          <a:lstStyle/>
          <a:p>
            <a:r>
              <a:rPr lang="de-DE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XiaoDong Wang, Lei Wang, and Daxin Zhu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Computational Biology, Volume 26, Number 9, 2019, pp. 938-947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Oct.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18, 2023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A558-83F5-DC4B-E8C9-3EB0801F3E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02298"/>
                <a:ext cx="10797330" cy="4697834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article, we consider a generalized longest common subsequence (LCS) problem with multiple substring inclusive constraints. For the two input sequences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lengths n and m, and a set of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constraints 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</m:t>
                    </m:r>
                    <m:sSub>
                      <m:sSub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total length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problem is to find a common subsequence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including each of constraint string in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a substring and the length of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 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maximized. A new dynamic programming solution to this problem is presented in this article. The correctness of the new algorithm is proved. The time complexity of our algorithm is O(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sSup>
                      <m:sSup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𝑛𝑚𝑟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 In the case of the number of constraint strings is fixed, our new algorithm for the generalized LCS problem with multiple substring inclusive constraints requires O(</a:t>
                </a:r>
                <a:r>
                  <a:rPr kumimoji="1"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nmr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and space.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A558-83F5-DC4B-E8C9-3EB0801F3E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02298"/>
                <a:ext cx="10797330" cy="4697834"/>
              </a:xfrm>
              <a:blipFill>
                <a:blip r:embed="rId2"/>
                <a:stretch>
                  <a:fillRect l="-734" r="-1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Constraint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M-STR-IC-LCS(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8</a:t>
            </a:r>
          </a:p>
        </p:txBody>
      </p:sp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trees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Goto (solid edges)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(dashed edges)</a:t>
            </a: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818D9-3A59-07B9-1493-D8ED4773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08585"/>
            <a:ext cx="4181869" cy="2535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20A332-6549-5B65-5EF2-AD5F05A8B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260" y="4344404"/>
            <a:ext cx="4813315" cy="107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46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list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= {7→1→0}</a:t>
            </a:r>
          </a:p>
          <a:p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= {0}</a:t>
            </a: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818D9-3A59-07B9-1493-D8ED4773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31" y="2068852"/>
            <a:ext cx="4181869" cy="253596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E72218E-DCE5-9946-F983-F061722A9E65}"/>
              </a:ext>
            </a:extLst>
          </p:cNvPr>
          <p:cNvSpPr/>
          <p:nvPr/>
        </p:nvSpPr>
        <p:spPr>
          <a:xfrm>
            <a:off x="6962775" y="4191000"/>
            <a:ext cx="400050" cy="413816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174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Aho–</a:t>
            </a:r>
            <a:r>
              <a:rPr kumimoji="1" lang="en-US" altLang="zh-TW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Corasick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-Next Function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4818D9-3A59-07B9-1493-D8ED47731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65" y="3144158"/>
            <a:ext cx="4181869" cy="25359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91C15E-E312-3CAA-649E-4CEF00A56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99" y="2224586"/>
            <a:ext cx="6639852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(</a:t>
            </a:r>
            <a:r>
              <a:rPr kumimoji="1"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kumimoji="1"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zh-TW" i="1" spc="-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);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acc>
                    <m:r>
                      <a:rPr lang="zh-TW" altLang="en-US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altLang="zh-TW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altLang="zh-TW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i="1" spc="-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</m:acc>
                      </m:sub>
                    </m:sSub>
                    <m:r>
                      <a:rPr lang="en-US" altLang="zh-TW" b="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;   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g(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 spc="-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)</a:t>
                </a:r>
              </a:p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) =&gt; (</a:t>
                </a:r>
                <a14:m>
                  <m:oMath xmlns:m="http://schemas.openxmlformats.org/officeDocument/2006/math">
                    <m:r>
                      <a:rPr lang="zh-TW" altLang="en-US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), </a:t>
                </a: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TW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))</a:t>
                </a:r>
              </a:p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:r>
                  <a:rPr lang="en-US" altLang="zh-TW" i="1" spc="-1" dirty="0">
                    <a:solidFill>
                      <a:srgbClr val="000000"/>
                    </a:solidFill>
                    <a:latin typeface="Times New Roman"/>
                  </a:rPr>
                  <a:t>r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2</a:t>
                </a:r>
                <a:r>
                  <a:rPr lang="en-US" altLang="zh-TW" i="1" spc="-1" baseline="30000" dirty="0">
                    <a:solidFill>
                      <a:srgbClr val="000000"/>
                    </a:solidFill>
                    <a:latin typeface="Times New Roman"/>
                  </a:rPr>
                  <a:t>d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states</a:t>
                </a:r>
              </a:p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baseline="-25000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zh-TW" altLang="en-US" i="1" spc="-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=4, </m:t>
                    </m:r>
                    <m:sSub>
                      <m:sSubPr>
                        <m:ctrlPr>
                          <a:rPr lang="en-US" altLang="zh-TW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zh-TW" altLang="en-US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zh-TW" altLang="en-US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TW" b="0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TW" altLang="en-US" i="1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acc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5, </m:t>
                    </m:r>
                    <m:acc>
                      <m:accPr>
                        <m:chr m:val="̅"/>
                        <m:ctrlP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TW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zh-TW" altLang="en-US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sub>
                        </m:sSub>
                      </m:e>
                    </m:acc>
                    <m:r>
                      <a:rPr lang="en-US" altLang="zh-TW" b="0" i="0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TW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0" spc="-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2, 3</m:t>
                        </m:r>
                      </m:e>
                    </m:d>
                    <m:r>
                      <a:rPr lang="en-US" altLang="zh-TW" b="0" i="0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̅"/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altLang="zh-TW" b="0" i="0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2−1</m:t>
                        </m:r>
                      </m:sup>
                    </m:sSup>
                    <m:r>
                      <a:rPr lang="en-US" altLang="zh-TW" b="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TW" b="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b="0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3−1</m:t>
                        </m:r>
                      </m:sup>
                    </m:sSup>
                    <m:r>
                      <a:rPr lang="en-US" altLang="zh-TW" b="0" i="1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zh-TW" spc="-1" baseline="-25000" dirty="0">
                  <a:solidFill>
                    <a:srgbClr val="000000"/>
                  </a:solidFill>
                  <a:latin typeface="Times New Roman"/>
                </a:endParaRPr>
              </a:p>
              <a:p>
                <a:endParaRPr kumimoji="1" lang="fr-FR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101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B4818D9-3A59-07B9-1493-D8ED47731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782" y="3283306"/>
            <a:ext cx="4181869" cy="253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8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nn-NO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1" lang="nn-NO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nn-NO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nn-NO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nn-NO" altLang="zh-TW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nn-NO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(</a:t>
            </a:r>
            <a:r>
              <a:rPr kumimoji="1" lang="zh-TW" altLang="nn-N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r>
              <a:rPr kumimoji="1" lang="nn-NO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zh-TW" altLang="nn-NO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r>
              <a:rPr kumimoji="1" lang="nn-NO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3260" indent="-3429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TW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TW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m:rPr>
                                <m:brk m:alnAt="7"/>
                              </m:rPr>
                              <a:rPr lang="en-US" altLang="zh-TW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 &lt; </m:t>
                            </m:r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lim>
                        </m:limLow>
                      </m:fName>
                      <m:e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(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2</m:t>
                            </m:r>
                          </m:e>
                          <m:sup>
                            <m:r>
                              <a:rPr lang="en-US" altLang="zh-TW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altLang="zh-TW" i="1" spc="-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TW" i="1" spc="-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))}</m:t>
                        </m:r>
                      </m:e>
                    </m:func>
                  </m:oMath>
                </a14:m>
                <a:endParaRPr kumimoji="1" lang="fr-FR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51004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4AAAE2A-2E73-6950-57C3-8241531F9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863161"/>
            <a:ext cx="10725150" cy="212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25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a</a:t>
            </a: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6243435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lang="zh-TW" altLang="en-US" sz="2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0E9C3F-CEE4-EEC7-F3E2-F9D384171CF1}"/>
              </a:ext>
            </a:extLst>
          </p:cNvPr>
          <p:cNvSpPr/>
          <p:nvPr/>
        </p:nvSpPr>
        <p:spPr>
          <a:xfrm>
            <a:off x="2016087" y="4054207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185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710933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6C2C3C-9ACF-82DB-54DC-5645A84C96C6}"/>
              </a:ext>
            </a:extLst>
          </p:cNvPr>
          <p:cNvSpPr/>
          <p:nvPr/>
        </p:nvSpPr>
        <p:spPr>
          <a:xfrm>
            <a:off x="1597445" y="4810388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664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60943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377298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FAB7D1-7AA4-9855-A3A6-D3A583B6D469}"/>
              </a:ext>
            </a:extLst>
          </p:cNvPr>
          <p:cNvSpPr/>
          <p:nvPr/>
        </p:nvSpPr>
        <p:spPr>
          <a:xfrm>
            <a:off x="1189822" y="5396309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865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109818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EBC688F-AB5F-9241-09EB-04FF60782669}"/>
              </a:ext>
            </a:extLst>
          </p:cNvPr>
          <p:cNvSpPr/>
          <p:nvPr/>
        </p:nvSpPr>
        <p:spPr>
          <a:xfrm>
            <a:off x="1189822" y="5396309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77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767468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258198-D908-7853-DEF1-D5F79A2F1E10}"/>
              </a:ext>
            </a:extLst>
          </p:cNvPr>
          <p:cNvSpPr/>
          <p:nvPr/>
        </p:nvSpPr>
        <p:spPr>
          <a:xfrm>
            <a:off x="1189822" y="5396309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852852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A1CA69-8B16-C91E-108B-AF121B8343FD}"/>
              </a:ext>
            </a:extLst>
          </p:cNvPr>
          <p:cNvSpPr/>
          <p:nvPr/>
        </p:nvSpPr>
        <p:spPr>
          <a:xfrm>
            <a:off x="1167403" y="5410435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328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15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351582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4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44F868-C647-A5AF-19D6-216FAA11A828}"/>
              </a:ext>
            </a:extLst>
          </p:cNvPr>
          <p:cNvSpPr/>
          <p:nvPr/>
        </p:nvSpPr>
        <p:spPr>
          <a:xfrm>
            <a:off x="1215151" y="5410435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930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40170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F7F96-6358-5D8B-992B-133A9769DBF1}"/>
              </a:ext>
            </a:extLst>
          </p:cNvPr>
          <p:cNvSpPr/>
          <p:nvPr/>
        </p:nvSpPr>
        <p:spPr>
          <a:xfrm>
            <a:off x="2421678" y="4723238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9807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17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fr-FR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619070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F7F96-6358-5D8B-992B-133A9769DBF1}"/>
              </a:ext>
            </a:extLst>
          </p:cNvPr>
          <p:cNvSpPr/>
          <p:nvPr/>
        </p:nvSpPr>
        <p:spPr>
          <a:xfrm>
            <a:off x="2455861" y="4801773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35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fr-FR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037915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F7F96-6358-5D8B-992B-133A9769DBF1}"/>
              </a:ext>
            </a:extLst>
          </p:cNvPr>
          <p:cNvSpPr/>
          <p:nvPr/>
        </p:nvSpPr>
        <p:spPr>
          <a:xfrm>
            <a:off x="2421678" y="4801773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5489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534456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5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F7F96-6358-5D8B-992B-133A9769DBF1}"/>
              </a:ext>
            </a:extLst>
          </p:cNvPr>
          <p:cNvSpPr/>
          <p:nvPr/>
        </p:nvSpPr>
        <p:spPr>
          <a:xfrm>
            <a:off x="2455861" y="4801773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421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20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fr-FR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145171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F7F96-6358-5D8B-992B-133A9769DBF1}"/>
              </a:ext>
            </a:extLst>
          </p:cNvPr>
          <p:cNvSpPr/>
          <p:nvPr/>
        </p:nvSpPr>
        <p:spPr>
          <a:xfrm>
            <a:off x="2455861" y="4801773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192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programming algorithm</a:t>
            </a:r>
            <a:endParaRPr kumimoji="1" lang="nn-NO" altLang="zh-TW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21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65100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aabbbb</a:t>
            </a:r>
            <a:r>
              <a:rPr kumimoji="1" lang="fr-FR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aabab</a:t>
            </a:r>
            <a:r>
              <a:rPr kumimoji="1" lang="fr-FR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1" lang="fr-FR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fr-FR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‚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kumimoji="1" lang="fr-FR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 = </a:t>
            </a:r>
            <a:r>
              <a:rPr kumimoji="1" lang="fr-FR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aaba</a:t>
            </a: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260" indent="-342900">
              <a:spcBef>
                <a:spcPts val="561"/>
              </a:spcBef>
              <a:buClr>
                <a:srgbClr val="000000"/>
              </a:buClr>
            </a:pPr>
            <a:endParaRPr kumimoji="1" lang="fr-FR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BC0B4-8F9A-E198-679C-DD2D915F1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64" y="3455256"/>
            <a:ext cx="4181869" cy="2535964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A008C2-7B08-45D9-94A7-B7AA31E53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803895"/>
              </p:ext>
            </p:extLst>
          </p:nvPr>
        </p:nvGraphicFramePr>
        <p:xfrm>
          <a:off x="5772178" y="2415115"/>
          <a:ext cx="4733928" cy="3576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992">
                  <a:extLst>
                    <a:ext uri="{9D8B030D-6E8A-4147-A177-3AD203B41FA5}">
                      <a16:colId xmlns:a16="http://schemas.microsoft.com/office/drawing/2014/main" val="201053993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129094326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787654702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221302530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07204288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21643594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3874199821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4039681764"/>
                    </a:ext>
                  </a:extLst>
                </a:gridCol>
                <a:gridCol w="525992">
                  <a:extLst>
                    <a:ext uri="{9D8B030D-6E8A-4147-A177-3AD203B41FA5}">
                      <a16:colId xmlns:a16="http://schemas.microsoft.com/office/drawing/2014/main" val="964365515"/>
                    </a:ext>
                  </a:extLst>
                </a:gridCol>
              </a:tblGrid>
              <a:tr h="397345">
                <a:tc>
                  <a:txBody>
                    <a:bodyPr/>
                    <a:lstStyle/>
                    <a:p>
                      <a:pPr algn="ctr"/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65304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65260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2527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62937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820615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6434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848716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912722"/>
                  </a:ext>
                </a:extLst>
              </a:tr>
              <a:tr h="397345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80338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71BDD2-443D-2F54-C2B1-AF3C5E134298}"/>
              </a:ext>
            </a:extLst>
          </p:cNvPr>
          <p:cNvSpPr txBox="1"/>
          <p:nvPr/>
        </p:nvSpPr>
        <p:spPr>
          <a:xfrm>
            <a:off x="5257800" y="2791901"/>
            <a:ext cx="5143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𝛼</a:t>
            </a:r>
            <a:endParaRPr lang="zh-TW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6FBE7C-7725-B1BA-ED71-3783E6E24FA5}"/>
              </a:ext>
            </a:extLst>
          </p:cNvPr>
          <p:cNvSpPr txBox="1"/>
          <p:nvPr/>
        </p:nvSpPr>
        <p:spPr>
          <a:xfrm>
            <a:off x="6372225" y="1760768"/>
            <a:ext cx="466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nn-NO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𝛽</a:t>
            </a:r>
            <a:endParaRPr lang="zh-TW" altLang="en-US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E61555-EE95-9D46-9492-F806CB9A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925" y="967570"/>
            <a:ext cx="4386726" cy="868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A15A2C7-BBC2-48EA-D9AC-A690D310A7C3}"/>
              </a:ext>
            </a:extLst>
          </p:cNvPr>
          <p:cNvSpPr txBox="1"/>
          <p:nvPr/>
        </p:nvSpPr>
        <p:spPr>
          <a:xfrm>
            <a:off x="7324724" y="6122347"/>
            <a:ext cx="3514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7, </a:t>
            </a:r>
            <a:r>
              <a:rPr kumimoji="1"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6</a:t>
            </a:r>
            <a:endParaRPr lang="zh-TW" altLang="en-US" sz="28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EF7F96-6358-5D8B-992B-133A9769DBF1}"/>
              </a:ext>
            </a:extLst>
          </p:cNvPr>
          <p:cNvSpPr/>
          <p:nvPr/>
        </p:nvSpPr>
        <p:spPr>
          <a:xfrm>
            <a:off x="2840422" y="5447746"/>
            <a:ext cx="638978" cy="59491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41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22</a:t>
            </a:fld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690688"/>
                <a:ext cx="10796451" cy="44430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O(</a:t>
                </a:r>
                <a14:m>
                  <m:oMath xmlns:m="http://schemas.openxmlformats.org/officeDocument/2006/math"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sSup>
                      <m:sSupPr>
                        <m:ctrlP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kumimoji="1"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𝑛𝑚𝑟</m:t>
                    </m:r>
                  </m:oMath>
                </a14:m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kumimoji="1"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fixed =&gt; O(</a:t>
                </a:r>
                <a:r>
                  <a:rPr kumimoji="1"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nmr</a:t>
                </a:r>
                <a:r>
                  <a:rPr kumimoji="1"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5" name="Content Placeholder 3">
                <a:extLst>
                  <a:ext uri="{FF2B5EF4-FFF2-40B4-BE49-F238E27FC236}">
                    <a16:creationId xmlns:a16="http://schemas.microsoft.com/office/drawing/2014/main" id="{D5780754-891B-DA25-D843-19C125C7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690688"/>
                <a:ext cx="10796451" cy="4443091"/>
              </a:xfrm>
              <a:prstGeom prst="rect">
                <a:avLst/>
              </a:prstGeom>
              <a:blipFill>
                <a:blip r:embed="rId3"/>
                <a:stretch>
                  <a:fillRect l="-791" t="-17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910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32119</TotalTime>
  <Words>1875</Words>
  <Application>Microsoft Office PowerPoint</Application>
  <PresentationFormat>Widescreen</PresentationFormat>
  <Paragraphs>1240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Google Sans</vt:lpstr>
      <vt:lpstr>Arial</vt:lpstr>
      <vt:lpstr>Arial</vt:lpstr>
      <vt:lpstr>Calibri</vt:lpstr>
      <vt:lpstr>Calibri Light</vt:lpstr>
      <vt:lpstr>Cambria Math</vt:lpstr>
      <vt:lpstr>Times New Roman</vt:lpstr>
      <vt:lpstr>Office Theme</vt:lpstr>
      <vt:lpstr>Efficient Computation of Longest Common Subsequences with Multiple Substring Inclusive Constraints</vt:lpstr>
      <vt:lpstr>Abstract </vt:lpstr>
      <vt:lpstr>M-STR-IC-LCS</vt:lpstr>
      <vt:lpstr>Keyword trees</vt:lpstr>
      <vt:lpstr>Failure list</vt:lpstr>
      <vt:lpstr>Aho–Corasick-Next Function</vt:lpstr>
      <vt:lpstr>State (𝛼,  𝛽)</vt:lpstr>
      <vt:lpstr>f (i‚ j‚ (𝛼, 𝛽))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Dynamic programming algorithm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244</cp:revision>
  <dcterms:created xsi:type="dcterms:W3CDTF">2022-10-11T15:33:00Z</dcterms:created>
  <dcterms:modified xsi:type="dcterms:W3CDTF">2023-10-18T10:03:15Z</dcterms:modified>
</cp:coreProperties>
</file>