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9" r:id="rId3"/>
    <p:sldId id="264" r:id="rId4"/>
    <p:sldId id="283" r:id="rId5"/>
    <p:sldId id="285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6" r:id="rId17"/>
    <p:sldId id="275" r:id="rId18"/>
    <p:sldId id="277" r:id="rId19"/>
    <p:sldId id="278" r:id="rId20"/>
    <p:sldId id="279" r:id="rId21"/>
    <p:sldId id="280" r:id="rId22"/>
    <p:sldId id="284" r:id="rId23"/>
    <p:sldId id="281" r:id="rId24"/>
    <p:sldId id="282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B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51" autoAdjust="0"/>
  </p:normalViewPr>
  <p:slideViewPr>
    <p:cSldViewPr snapToGrid="0">
      <p:cViewPr varScale="1">
        <p:scale>
          <a:sx n="57" d="100"/>
          <a:sy n="57" d="100"/>
        </p:scale>
        <p:origin x="12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FD21D-BF96-479C-982E-44D0F1FCD264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800E6-BF8B-4688-BB24-9F5263D571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936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809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3EC9A-E9ED-9349-8355-BBED17A59AE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80778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LCS</a:t>
            </a:r>
            <a:r>
              <a:rPr lang="zh-TW" altLang="en-US" dirty="0"/>
              <a:t>使用</a:t>
            </a:r>
            <a:r>
              <a:rPr lang="en-US" altLang="zh-TW" dirty="0"/>
              <a:t>DP</a:t>
            </a:r>
          </a:p>
          <a:p>
            <a:r>
              <a:rPr lang="zh-TW" altLang="en-US" dirty="0"/>
              <a:t>因為每個格子都要算，所以時間複雜度是</a:t>
            </a:r>
            <a:r>
              <a:rPr lang="en-US" altLang="zh-TW" dirty="0"/>
              <a:t>O(n)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538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畫線順序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964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需要處理的格子的順序</a:t>
            </a:r>
            <a:endParaRPr lang="en-US" altLang="zh-TW" dirty="0"/>
          </a:p>
          <a:p>
            <a:r>
              <a:rPr lang="zh-TW" altLang="en-US" dirty="0"/>
              <a:t>數字是處理的順序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579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陣列</a:t>
            </a:r>
            <a:r>
              <a:rPr lang="en-US" altLang="zh-TW" dirty="0"/>
              <a:t>T</a:t>
            </a:r>
          </a:p>
          <a:p>
            <a:r>
              <a:rPr lang="zh-TW" altLang="en-US" dirty="0"/>
              <a:t>初始長度是</a:t>
            </a:r>
            <a:r>
              <a:rPr lang="en-US" altLang="zh-TW" dirty="0"/>
              <a:t>8</a:t>
            </a:r>
            <a:r>
              <a:rPr lang="zh-TW" altLang="en-US" dirty="0"/>
              <a:t>，帶表還沒有解，因為字串長度是</a:t>
            </a:r>
            <a:r>
              <a:rPr lang="en-US" altLang="zh-TW" dirty="0"/>
              <a:t>7</a:t>
            </a:r>
          </a:p>
          <a:p>
            <a:r>
              <a:rPr lang="en-US" altLang="zh-TW" dirty="0"/>
              <a:t>T[1]=5</a:t>
            </a:r>
            <a:r>
              <a:rPr lang="zh-TW" altLang="en-US" dirty="0"/>
              <a:t>代表 </a:t>
            </a:r>
            <a:r>
              <a:rPr lang="en-US" altLang="zh-TW" dirty="0"/>
              <a:t>B</a:t>
            </a:r>
            <a:r>
              <a:rPr lang="zh-TW" altLang="en-US" dirty="0"/>
              <a:t>的前</a:t>
            </a:r>
            <a:r>
              <a:rPr lang="en-US" altLang="zh-TW" dirty="0"/>
              <a:t>5</a:t>
            </a:r>
            <a:r>
              <a:rPr lang="zh-TW" altLang="en-US" dirty="0"/>
              <a:t>個字</a:t>
            </a:r>
            <a:r>
              <a:rPr lang="en-US" altLang="zh-TW" dirty="0"/>
              <a:t>LCS</a:t>
            </a:r>
            <a:r>
              <a:rPr lang="zh-TW" altLang="en-US" dirty="0"/>
              <a:t>長度</a:t>
            </a:r>
            <a:r>
              <a:rPr lang="en-US" altLang="zh-TW" dirty="0"/>
              <a:t>1(index)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5633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這就是為什麼要從後面開始找，因為找到後會無條件取代，而小的本來就比較好，所以小的數字會無條件取代大的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1966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T[2]=6</a:t>
            </a:r>
            <a:r>
              <a:rPr lang="zh-TW" altLang="en-US" dirty="0"/>
              <a:t>代表 </a:t>
            </a:r>
            <a:r>
              <a:rPr lang="en-US" altLang="zh-TW" dirty="0"/>
              <a:t>B</a:t>
            </a:r>
            <a:r>
              <a:rPr lang="zh-TW" altLang="en-US" dirty="0"/>
              <a:t>的前</a:t>
            </a:r>
            <a:r>
              <a:rPr lang="en-US" altLang="zh-TW" dirty="0"/>
              <a:t>6</a:t>
            </a:r>
            <a:r>
              <a:rPr lang="zh-TW" altLang="en-US" dirty="0"/>
              <a:t>個字</a:t>
            </a:r>
            <a:r>
              <a:rPr lang="en-US" altLang="zh-TW" dirty="0"/>
              <a:t>LCS</a:t>
            </a:r>
            <a:r>
              <a:rPr lang="zh-TW" altLang="en-US" dirty="0"/>
              <a:t>長度</a:t>
            </a:r>
            <a:r>
              <a:rPr lang="en-US" altLang="zh-TW" dirty="0"/>
              <a:t>2(index)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96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跳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4507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從</a:t>
            </a:r>
            <a:r>
              <a:rPr lang="en-US" altLang="zh-TW" dirty="0"/>
              <a:t>A[:1]B[:2]</a:t>
            </a:r>
            <a:r>
              <a:rPr lang="zh-TW" altLang="en-US" dirty="0"/>
              <a:t> 變成</a:t>
            </a:r>
            <a:r>
              <a:rPr lang="en-US" altLang="zh-TW" dirty="0"/>
              <a:t>A[:2]B[:1]</a:t>
            </a:r>
          </a:p>
          <a:p>
            <a:r>
              <a:rPr lang="en-US" altLang="zh-TW" dirty="0"/>
              <a:t>LCS</a:t>
            </a:r>
            <a:r>
              <a:rPr lang="zh-TW" altLang="en-US" dirty="0"/>
              <a:t>是上面的</a:t>
            </a:r>
            <a:r>
              <a:rPr lang="en-US" altLang="zh-TW" dirty="0"/>
              <a:t>4</a:t>
            </a:r>
            <a:r>
              <a:rPr lang="zh-TW" altLang="en-US" dirty="0"/>
              <a:t>個</a:t>
            </a:r>
            <a:endParaRPr lang="en-US" altLang="zh-TW" dirty="0"/>
          </a:p>
          <a:p>
            <a:r>
              <a:rPr lang="zh-TW" altLang="en-US" dirty="0"/>
              <a:t>會不會因為選擇了紅色的格子讓他找不到最佳解</a:t>
            </a:r>
            <a:r>
              <a:rPr lang="en-US" altLang="zh-TW" dirty="0"/>
              <a:t>?</a:t>
            </a:r>
            <a:r>
              <a:rPr lang="zh-TW" altLang="en-US" dirty="0"/>
              <a:t>答案是不會，因為綠色的點已經被記錄到</a:t>
            </a:r>
            <a:r>
              <a:rPr lang="en-US" altLang="zh-TW" dirty="0"/>
              <a:t>T[2]</a:t>
            </a:r>
            <a:r>
              <a:rPr lang="zh-TW" altLang="en-US" dirty="0"/>
              <a:t>裡面了，所以第</a:t>
            </a:r>
            <a:r>
              <a:rPr lang="en-US" altLang="zh-TW" dirty="0"/>
              <a:t>3</a:t>
            </a:r>
            <a:r>
              <a:rPr lang="zh-TW" altLang="en-US" dirty="0"/>
              <a:t>點可以接在他後面成為</a:t>
            </a:r>
            <a:r>
              <a:rPr lang="en-US" altLang="zh-TW" dirty="0"/>
              <a:t>T[3]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58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直觀的解釋 為何要更新</a:t>
            </a:r>
            <a:endParaRPr lang="en-US" altLang="zh-TW" dirty="0"/>
          </a:p>
          <a:p>
            <a:r>
              <a:rPr lang="zh-TW" altLang="en-US" dirty="0"/>
              <a:t>找完第</a:t>
            </a:r>
            <a:r>
              <a:rPr lang="en-US" altLang="zh-TW" dirty="0"/>
              <a:t>5</a:t>
            </a:r>
            <a:r>
              <a:rPr lang="zh-TW" altLang="en-US" dirty="0"/>
              <a:t>行</a:t>
            </a:r>
            <a:endParaRPr lang="en-US" altLang="zh-TW" dirty="0"/>
          </a:p>
          <a:p>
            <a:r>
              <a:rPr lang="zh-TW" altLang="en-US" dirty="0"/>
              <a:t>原本長度為</a:t>
            </a:r>
            <a:r>
              <a:rPr lang="en-US" altLang="zh-TW" dirty="0"/>
              <a:t>3</a:t>
            </a:r>
            <a:r>
              <a:rPr lang="zh-TW" altLang="en-US" dirty="0"/>
              <a:t>的時候</a:t>
            </a:r>
            <a:r>
              <a:rPr lang="en-US" altLang="zh-TW" dirty="0"/>
              <a:t>(</a:t>
            </a:r>
            <a:r>
              <a:rPr lang="zh-TW" altLang="en-US" dirty="0"/>
              <a:t>紫色</a:t>
            </a:r>
            <a:r>
              <a:rPr lang="en-US" altLang="zh-TW" dirty="0"/>
              <a:t>)</a:t>
            </a:r>
            <a:r>
              <a:rPr lang="zh-TW" altLang="en-US" dirty="0"/>
              <a:t>可以在紫色區域找到</a:t>
            </a:r>
            <a:r>
              <a:rPr lang="en-US" altLang="zh-TW" dirty="0"/>
              <a:t>3</a:t>
            </a:r>
            <a:r>
              <a:rPr lang="zh-TW" altLang="en-US" dirty="0"/>
              <a:t>以後的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更新之後</a:t>
            </a:r>
            <a:r>
              <a:rPr lang="en-US" altLang="zh-TW" dirty="0"/>
              <a:t>(</a:t>
            </a:r>
            <a:r>
              <a:rPr lang="zh-TW" altLang="en-US" dirty="0"/>
              <a:t>紅色</a:t>
            </a:r>
            <a:r>
              <a:rPr lang="en-US" altLang="zh-TW" dirty="0"/>
              <a:t>)</a:t>
            </a:r>
            <a:r>
              <a:rPr lang="zh-TW" altLang="en-US" dirty="0"/>
              <a:t>可以在紅色區域找到</a:t>
            </a:r>
            <a:r>
              <a:rPr lang="en-US" altLang="zh-TW" dirty="0"/>
              <a:t>3</a:t>
            </a:r>
            <a:r>
              <a:rPr lang="zh-TW" altLang="en-US" dirty="0"/>
              <a:t>以後的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明顯紅色比較好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773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直觀的解釋 </a:t>
            </a:r>
            <a:r>
              <a:rPr lang="en-US" altLang="zh-TW" dirty="0"/>
              <a:t>T</a:t>
            </a:r>
          </a:p>
          <a:p>
            <a:r>
              <a:rPr lang="zh-TW" altLang="en-US" dirty="0"/>
              <a:t>找完第</a:t>
            </a:r>
            <a:r>
              <a:rPr lang="en-US" altLang="zh-TW" dirty="0"/>
              <a:t>5</a:t>
            </a:r>
            <a:r>
              <a:rPr lang="zh-TW" altLang="en-US" dirty="0"/>
              <a:t>行 </a:t>
            </a:r>
            <a:r>
              <a:rPr lang="en-US" altLang="zh-TW" dirty="0"/>
              <a:t>123</a:t>
            </a:r>
            <a:r>
              <a:rPr lang="zh-TW" altLang="en-US" dirty="0"/>
              <a:t>點是目前記錄在</a:t>
            </a:r>
            <a:r>
              <a:rPr lang="en-US" altLang="zh-TW" dirty="0"/>
              <a:t>T</a:t>
            </a:r>
            <a:r>
              <a:rPr lang="zh-TW" altLang="en-US" dirty="0"/>
              <a:t>裡面的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可以在綠色區域找到</a:t>
            </a:r>
            <a:r>
              <a:rPr lang="en-US" altLang="zh-TW" dirty="0"/>
              <a:t>1</a:t>
            </a:r>
            <a:r>
              <a:rPr lang="zh-TW" altLang="en-US" dirty="0"/>
              <a:t>以後的</a:t>
            </a:r>
            <a:endParaRPr lang="en-US" altLang="zh-TW" dirty="0"/>
          </a:p>
          <a:p>
            <a:r>
              <a:rPr lang="zh-TW" altLang="en-US" dirty="0"/>
              <a:t>可以在紫色區域找到</a:t>
            </a:r>
            <a:r>
              <a:rPr lang="en-US" altLang="zh-TW" dirty="0"/>
              <a:t>2</a:t>
            </a:r>
            <a:r>
              <a:rPr lang="zh-TW" altLang="en-US" dirty="0"/>
              <a:t>以後的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可以在紅色區域找到</a:t>
            </a:r>
            <a:r>
              <a:rPr lang="en-US" altLang="zh-TW" dirty="0"/>
              <a:t>3</a:t>
            </a:r>
            <a:r>
              <a:rPr lang="zh-TW" altLang="en-US" dirty="0"/>
              <a:t>以後的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034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遍歷每一點要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</a:p>
          <a:p>
            <a:r>
              <a:rPr lang="zh-TW" altLang="en-US" dirty="0"/>
              <a:t>更新</a:t>
            </a:r>
            <a:r>
              <a:rPr lang="en-US" altLang="zh-TW" dirty="0"/>
              <a:t>T</a:t>
            </a:r>
            <a:r>
              <a:rPr lang="zh-TW" altLang="en-US" dirty="0"/>
              <a:t>如果用</a:t>
            </a:r>
            <a:r>
              <a:rPr lang="en-US" altLang="zh-TW" dirty="0"/>
              <a:t>binary search</a:t>
            </a:r>
            <a:r>
              <a:rPr lang="zh-TW" altLang="en-US" dirty="0"/>
              <a:t>要</a:t>
            </a:r>
            <a:r>
              <a:rPr lang="en-US" altLang="zh-TW" dirty="0"/>
              <a:t>log n</a:t>
            </a:r>
          </a:p>
          <a:p>
            <a:r>
              <a:rPr lang="zh-TW" altLang="en-US" dirty="0"/>
              <a:t>總共是 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baseline="30000" dirty="0"/>
              <a:t>2 </a:t>
            </a:r>
            <a:r>
              <a:rPr lang="en-US" altLang="zh-TW" dirty="0"/>
              <a:t>log n)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206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Sort</a:t>
            </a:r>
            <a:r>
              <a:rPr lang="zh-TW" altLang="en-US" dirty="0"/>
              <a:t> </a:t>
            </a:r>
            <a:r>
              <a:rPr lang="en-US" altLang="zh-TW" dirty="0"/>
              <a:t>O(n log n)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69932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紀錄</a:t>
            </a:r>
            <a:r>
              <a:rPr lang="en-US" altLang="zh-TW" dirty="0"/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一樣時動</a:t>
            </a:r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6256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一樣時動</a:t>
            </a:r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8680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不一樣時動</a:t>
            </a:r>
            <a:r>
              <a:rPr lang="en-US" altLang="zh-TW" dirty="0"/>
              <a:t>value</a:t>
            </a:r>
            <a:r>
              <a:rPr lang="zh-TW" altLang="en-US" dirty="0"/>
              <a:t>大的，</a:t>
            </a:r>
            <a:r>
              <a:rPr lang="en-US" altLang="zh-TW" dirty="0"/>
              <a:t>D&gt;B</a:t>
            </a:r>
            <a:r>
              <a:rPr lang="zh-TW" altLang="en-US" dirty="0"/>
              <a:t>動</a:t>
            </a:r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84876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不一樣時動</a:t>
            </a:r>
            <a:r>
              <a:rPr lang="en-US" altLang="zh-TW" dirty="0"/>
              <a:t>value</a:t>
            </a:r>
            <a:r>
              <a:rPr lang="zh-TW" altLang="en-US" dirty="0"/>
              <a:t>大的，</a:t>
            </a:r>
            <a:r>
              <a:rPr lang="en-US" altLang="zh-TW" dirty="0"/>
              <a:t>C&gt;B</a:t>
            </a:r>
            <a:r>
              <a:rPr lang="zh-TW" altLang="en-US" dirty="0"/>
              <a:t>動</a:t>
            </a:r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6996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紀錄</a:t>
            </a:r>
            <a:r>
              <a:rPr lang="en-US" altLang="zh-TW" dirty="0"/>
              <a:t>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會發現這個過程中紅藍指標不會倒退，所以只會執行</a:t>
            </a:r>
            <a:r>
              <a:rPr lang="en-US" altLang="zh-TW" dirty="0"/>
              <a:t>2n</a:t>
            </a:r>
            <a:r>
              <a:rPr lang="zh-TW" altLang="en-US" dirty="0"/>
              <a:t>次，時間複雜度是</a:t>
            </a:r>
            <a:r>
              <a:rPr lang="en-US" altLang="zh-TW" dirty="0"/>
              <a:t>O(n)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579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最後長這樣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0673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從一開始更新到最後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更新的時候會知道前一個是誰，用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的方式接到前一個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5412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正常情況下</a:t>
            </a:r>
            <a:r>
              <a:rPr lang="en-US" altLang="zh-TW" dirty="0"/>
              <a:t>r=n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800E6-BF8B-4688-BB24-9F5263D5715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2938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26B02-21CC-44D0-9CD5-BFC853832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A36A82-1489-4022-A7E2-28C4C908A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4BD812-B600-45AC-9A66-D776F6743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687E7D-6CC2-4166-AA9D-1F6A5631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68B100-1295-438B-90D3-487EE1A4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63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689F37-B6F9-41C9-B3DA-D0FFAE97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A44E87-5769-48EE-B953-AE7D733BE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774CBB-FFEB-482E-81EC-E1239B89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C919CD-6B68-420C-8E81-A414F691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E93167-BE22-4D5C-8B4E-88E4486A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58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101AF9-91BA-4AE1-8483-4DDA45A0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E8BA73-6937-488E-ADE9-BC7576759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47EF2E-E145-4BB6-A827-F4EA10CD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15F903-5930-4990-9E5F-CF36D0EB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A4792-8DE6-4917-B57D-045E43602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23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8C3C8-75F2-4962-85C0-B1EB75C9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4EA971-6E29-421C-89E5-9BCE2280F1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1DFC00-F58B-4359-ABA3-D7400072F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55FEE0-F523-44EC-BEA1-49DA9FC78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CE93FE8-CCFA-4879-9D19-A18AD34B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D1AF11-CF6B-4B1F-95CC-1BAB850E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14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A8B1E0-51A1-4E7A-A18E-76B2330A6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4A0E0C-76B6-4EFE-9CD6-54CA82A4C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B60BE0-1A3A-4595-91F3-448F5678F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8CA7E51-0072-46AE-AF25-D9B0B6E97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B12FEC-3918-4AB1-B8D5-8F579A520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E5CF0E-FAC2-4640-AF9E-30CC1DE7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9E84CF1-438F-4047-AD85-E271F3EB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32773BD-943B-4F37-B8B1-04B98053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737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893D89-BBAD-4D92-99E2-E835483F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988F47C-1F0E-4762-9A43-B1AE4451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41D9460-7D1D-401A-8CAB-64C0E3B1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DD827AB-51F4-4247-B2B6-C73CFBAF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5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AA9DFDE-82DF-4628-8AF2-11874100E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7F0B9EE-F903-4FD0-B4A5-40900DDBE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CE498E-E1BB-4E27-943A-10A5F3E4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6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CF183-1FDA-46BD-B3C8-197DEF015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70C092-CADF-4E59-A374-8A10B8C29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4E7EA7-402C-4638-A70D-A67C9647F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4061BF-06BE-46A9-87FF-8CB661124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B8F5F-B12E-4BF9-823E-AA7A5E59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8B9242-6404-43E8-B8A2-8F4CC8B85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2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BD502F-79C1-41DE-A505-BF47D93B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96EAB69-801D-4484-9CDB-8743A8A4D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357D14-9D30-4004-A23F-9C0F5AD15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C85B0A-17F1-4A9C-AFEA-6507B1A2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FA6154-8029-4D45-9C23-B8E70062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BC0EC0-9CE0-47BF-9656-AFA4D548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03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80441-3DEC-46CB-A62D-1D832F4C7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3BA409-9C19-42C1-AEC3-F861A6F01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CF9005-5C9B-4DEA-9D54-9D0E0A730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FECD77-868E-4E36-96C9-516379E7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D635AC-BF23-4F3C-94F0-350145B0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164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80E3CFB-D284-4B79-97E2-FF5ECD6A7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EEBBB6-FCB7-4849-9F97-0998277EE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71855F-7F47-43A5-A2B7-DED70814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5656E3-AA5E-425A-B2DE-FEF93B8A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00F4D-DD71-4158-947D-29B4D1E52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531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56A63A-A313-4520-A4B9-F6025A75C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247C57-EF40-4985-81B2-6C8651643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AB606F-6505-43A3-A009-C4A37431E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BC79B-B8D8-4CA3-9AD2-35393C1E2569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D252F0-8A97-4E76-B50A-2AA65C900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2266F1-357C-4F6A-A4D5-BFCF118C1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2A479-0001-4A02-AD8F-F5D76975935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47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36ABE-AAF8-A44E-9A2F-7BC45939F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379" y="1041400"/>
            <a:ext cx="10699242" cy="2387600"/>
          </a:xfrm>
        </p:spPr>
        <p:txBody>
          <a:bodyPr>
            <a:noAutofit/>
          </a:bodyPr>
          <a:lstStyle/>
          <a:p>
            <a:r>
              <a:rPr kumimoji="1"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Fast Algorithm for Computing Longest Common Subsequences</a:t>
            </a:r>
            <a:endParaRPr kumimoji="1" lang="en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5B5F14B-80FA-484A-93C9-1FC3F30ECA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W. Hunt, Thomas G. Szymanski</a:t>
            </a:r>
          </a:p>
          <a:p>
            <a:pPr fontAlgn="ctr"/>
            <a:r>
              <a:rPr lang="en-US" altLang="zh-TW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Communications of the ACM. vol. </a:t>
            </a:r>
            <a:r>
              <a:rPr lang="en-US" altLang="zh-TW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20. </a:t>
            </a:r>
            <a:r>
              <a:rPr lang="en-US" altLang="zh-TW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pp.350–353 (1977) 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0F52706B-9798-8F45-B922-E99F0F5C4CA1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-Yu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</a:t>
            </a:r>
          </a:p>
        </p:txBody>
      </p:sp>
    </p:spTree>
    <p:extLst>
      <p:ext uri="{BB962C8B-B14F-4D97-AF65-F5344CB8AC3E}">
        <p14:creationId xmlns:p14="http://schemas.microsoft.com/office/powerpoint/2010/main" val="827819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4C3FE5-9629-F44B-A553-021C82D5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7ADD39-1B71-A342-8554-691195C55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456"/>
            <a:ext cx="10863804" cy="510362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Previously published algorithms for finding the longest common subsequence of two sequences of length n have had a best-case running time of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An algorithm for this problem is presented which has a running time of O((r + n) log n), where r is the total number of ordered pairs of positions at which the two sequences match. Thus in the worst case the algorithm has a running time of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n). However, for those applications where most positions of one sequence match relatively few positions in the other sequence, a running time of O(n log n) can be expected.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93EE6-9AC4-F348-A300-5C4F6D5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7E222-40AC-AD4D-BFFA-C06E99EC5475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127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D9DBB47-F2C2-419A-AA50-ACEF3E295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601" y="1690688"/>
            <a:ext cx="4644798" cy="464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865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C9F1C29-3FE7-4B52-8BB6-4F1114A43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681789"/>
              </p:ext>
            </p:extLst>
          </p:nvPr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30BE40-6E31-465A-AC65-FCB20AC2BBA9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30483B8-BD30-4B58-9227-3B75744DF32B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FBD4B77-1B2B-4165-83C3-F8BBD6019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036" y="2435366"/>
            <a:ext cx="6683224" cy="347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2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0C9F1C29-3FE7-4B52-8BB6-4F1114A437E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14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13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30BE40-6E31-465A-AC65-FCB20AC2BBA9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30483B8-BD30-4B58-9227-3B75744DF32B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3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C00D81-5BA5-4F22-BB41-52CDAC0F6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39705"/>
              </p:ext>
            </p:extLst>
          </p:nvPr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D2C7BE5-281D-4817-BBDC-51487223B285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451D5B-37C9-4B4F-A174-301E62DAAE33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93A99AC-D096-4A7C-B751-F2731DF82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735394"/>
              </p:ext>
            </p:extLst>
          </p:nvPr>
        </p:nvGraphicFramePr>
        <p:xfrm>
          <a:off x="6335059" y="979738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EAC2E28-E300-462C-A900-13C5C5A54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138256"/>
              </p:ext>
            </p:extLst>
          </p:nvPr>
        </p:nvGraphicFramePr>
        <p:xfrm>
          <a:off x="6335059" y="1437769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9E5C2983-2836-4190-AE7F-22E9B81802B0}"/>
              </a:ext>
            </a:extLst>
          </p:cNvPr>
          <p:cNvSpPr txBox="1"/>
          <p:nvPr/>
        </p:nvSpPr>
        <p:spPr>
          <a:xfrm>
            <a:off x="5884243" y="145047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E7851A-5DFF-4575-9EE4-839D1F5089C8}"/>
              </a:ext>
            </a:extLst>
          </p:cNvPr>
          <p:cNvSpPr txBox="1"/>
          <p:nvPr/>
        </p:nvSpPr>
        <p:spPr>
          <a:xfrm>
            <a:off x="6307757" y="2351428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 j=5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CBB9E3-6F78-4BE2-BBAB-A370C5DDD279}"/>
              </a:ext>
            </a:extLst>
          </p:cNvPr>
          <p:cNvSpPr txBox="1"/>
          <p:nvPr/>
        </p:nvSpPr>
        <p:spPr>
          <a:xfrm>
            <a:off x="6307757" y="2977348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T[k-1]&lt;5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34F248-A59E-4BAE-AE59-5AE6893D5FC3}"/>
              </a:ext>
            </a:extLst>
          </p:cNvPr>
          <p:cNvSpPr txBox="1"/>
          <p:nvPr/>
        </p:nvSpPr>
        <p:spPr>
          <a:xfrm>
            <a:off x="6307755" y="4233059"/>
            <a:ext cx="209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T[1-1]&lt;5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T[1]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EE91F3C-84A4-412C-B8C1-2F4E097529D7}"/>
              </a:ext>
            </a:extLst>
          </p:cNvPr>
          <p:cNvSpPr txBox="1"/>
          <p:nvPr/>
        </p:nvSpPr>
        <p:spPr>
          <a:xfrm>
            <a:off x="6335059" y="4858979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0&lt;5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CD71027-AAF3-46D2-9B23-AD3FC2E3D5A2}"/>
              </a:ext>
            </a:extLst>
          </p:cNvPr>
          <p:cNvSpPr txBox="1"/>
          <p:nvPr/>
        </p:nvSpPr>
        <p:spPr>
          <a:xfrm>
            <a:off x="6307756" y="3607139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12C07F3-4E57-41EC-8B5A-7697430FB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774743"/>
              </p:ext>
            </p:extLst>
          </p:nvPr>
        </p:nvGraphicFramePr>
        <p:xfrm>
          <a:off x="6335059" y="5437613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7CE51F7-4F1B-4360-90F5-D491CEB0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839036"/>
              </p:ext>
            </p:extLst>
          </p:nvPr>
        </p:nvGraphicFramePr>
        <p:xfrm>
          <a:off x="6335059" y="5895644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032C2CF2-FCC2-4903-9001-DECCE6C1EF2F}"/>
              </a:ext>
            </a:extLst>
          </p:cNvPr>
          <p:cNvSpPr txBox="1"/>
          <p:nvPr/>
        </p:nvSpPr>
        <p:spPr>
          <a:xfrm>
            <a:off x="5884243" y="590835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24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C00D81-5BA5-4F22-BB41-52CDAC0F6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059030"/>
              </p:ext>
            </p:extLst>
          </p:nvPr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D2C7BE5-281D-4817-BBDC-51487223B285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451D5B-37C9-4B4F-A174-301E62DAAE33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93A99AC-D096-4A7C-B751-F2731DF82FB9}"/>
              </a:ext>
            </a:extLst>
          </p:cNvPr>
          <p:cNvGraphicFramePr>
            <a:graphicFrameLocks noGrp="1"/>
          </p:cNvGraphicFramePr>
          <p:nvPr/>
        </p:nvGraphicFramePr>
        <p:xfrm>
          <a:off x="6335059" y="979738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EAC2E28-E300-462C-A900-13C5C5A54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464950"/>
              </p:ext>
            </p:extLst>
          </p:nvPr>
        </p:nvGraphicFramePr>
        <p:xfrm>
          <a:off x="6335059" y="1437769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9E5C2983-2836-4190-AE7F-22E9B81802B0}"/>
              </a:ext>
            </a:extLst>
          </p:cNvPr>
          <p:cNvSpPr txBox="1"/>
          <p:nvPr/>
        </p:nvSpPr>
        <p:spPr>
          <a:xfrm>
            <a:off x="5884243" y="145047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E7851A-5DFF-4575-9EE4-839D1F5089C8}"/>
              </a:ext>
            </a:extLst>
          </p:cNvPr>
          <p:cNvSpPr txBox="1"/>
          <p:nvPr/>
        </p:nvSpPr>
        <p:spPr>
          <a:xfrm>
            <a:off x="6307757" y="2351428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 j=2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CBB9E3-6F78-4BE2-BBAB-A370C5DDD279}"/>
              </a:ext>
            </a:extLst>
          </p:cNvPr>
          <p:cNvSpPr txBox="1"/>
          <p:nvPr/>
        </p:nvSpPr>
        <p:spPr>
          <a:xfrm>
            <a:off x="6307757" y="2977348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T[k-1]&lt;2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34F248-A59E-4BAE-AE59-5AE6893D5FC3}"/>
              </a:ext>
            </a:extLst>
          </p:cNvPr>
          <p:cNvSpPr txBox="1"/>
          <p:nvPr/>
        </p:nvSpPr>
        <p:spPr>
          <a:xfrm>
            <a:off x="6307755" y="4233059"/>
            <a:ext cx="209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T[1-1]&lt;2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T[1]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EE91F3C-84A4-412C-B8C1-2F4E097529D7}"/>
              </a:ext>
            </a:extLst>
          </p:cNvPr>
          <p:cNvSpPr txBox="1"/>
          <p:nvPr/>
        </p:nvSpPr>
        <p:spPr>
          <a:xfrm>
            <a:off x="6335059" y="4858979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0&lt;2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CD71027-AAF3-46D2-9B23-AD3FC2E3D5A2}"/>
              </a:ext>
            </a:extLst>
          </p:cNvPr>
          <p:cNvSpPr txBox="1"/>
          <p:nvPr/>
        </p:nvSpPr>
        <p:spPr>
          <a:xfrm>
            <a:off x="6307756" y="3607139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12C07F3-4E57-41EC-8B5A-7697430FBBD4}"/>
              </a:ext>
            </a:extLst>
          </p:cNvPr>
          <p:cNvGraphicFramePr>
            <a:graphicFrameLocks noGrp="1"/>
          </p:cNvGraphicFramePr>
          <p:nvPr/>
        </p:nvGraphicFramePr>
        <p:xfrm>
          <a:off x="6335059" y="5437613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7CE51F7-4F1B-4360-90F5-D491CEB0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812756"/>
              </p:ext>
            </p:extLst>
          </p:nvPr>
        </p:nvGraphicFramePr>
        <p:xfrm>
          <a:off x="6335059" y="5895644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032C2CF2-FCC2-4903-9001-DECCE6C1EF2F}"/>
              </a:ext>
            </a:extLst>
          </p:cNvPr>
          <p:cNvSpPr txBox="1"/>
          <p:nvPr/>
        </p:nvSpPr>
        <p:spPr>
          <a:xfrm>
            <a:off x="5884243" y="590835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10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C00D81-5BA5-4F22-BB41-52CDAC0F6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608854"/>
              </p:ext>
            </p:extLst>
          </p:nvPr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D2C7BE5-281D-4817-BBDC-51487223B285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451D5B-37C9-4B4F-A174-301E62DAAE33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93A99AC-D096-4A7C-B751-F2731DF82FB9}"/>
              </a:ext>
            </a:extLst>
          </p:cNvPr>
          <p:cNvGraphicFramePr>
            <a:graphicFrameLocks noGrp="1"/>
          </p:cNvGraphicFramePr>
          <p:nvPr/>
        </p:nvGraphicFramePr>
        <p:xfrm>
          <a:off x="6335059" y="979738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EAC2E28-E300-462C-A900-13C5C5A54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620521"/>
              </p:ext>
            </p:extLst>
          </p:nvPr>
        </p:nvGraphicFramePr>
        <p:xfrm>
          <a:off x="6335059" y="1437769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9E5C2983-2836-4190-AE7F-22E9B81802B0}"/>
              </a:ext>
            </a:extLst>
          </p:cNvPr>
          <p:cNvSpPr txBox="1"/>
          <p:nvPr/>
        </p:nvSpPr>
        <p:spPr>
          <a:xfrm>
            <a:off x="5884243" y="145047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E7851A-5DFF-4575-9EE4-839D1F5089C8}"/>
              </a:ext>
            </a:extLst>
          </p:cNvPr>
          <p:cNvSpPr txBox="1"/>
          <p:nvPr/>
        </p:nvSpPr>
        <p:spPr>
          <a:xfrm>
            <a:off x="6307757" y="2351428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=2, j=6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CBB9E3-6F78-4BE2-BBAB-A370C5DDD279}"/>
              </a:ext>
            </a:extLst>
          </p:cNvPr>
          <p:cNvSpPr txBox="1"/>
          <p:nvPr/>
        </p:nvSpPr>
        <p:spPr>
          <a:xfrm>
            <a:off x="6307757" y="2977348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T[k-1]&lt;6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34F248-A59E-4BAE-AE59-5AE6893D5FC3}"/>
              </a:ext>
            </a:extLst>
          </p:cNvPr>
          <p:cNvSpPr txBox="1"/>
          <p:nvPr/>
        </p:nvSpPr>
        <p:spPr>
          <a:xfrm>
            <a:off x="6307755" y="4233059"/>
            <a:ext cx="209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T[2-1]&lt;6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T[2]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EE91F3C-84A4-412C-B8C1-2F4E097529D7}"/>
              </a:ext>
            </a:extLst>
          </p:cNvPr>
          <p:cNvSpPr txBox="1"/>
          <p:nvPr/>
        </p:nvSpPr>
        <p:spPr>
          <a:xfrm>
            <a:off x="6335059" y="4858979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2&lt;6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CD71027-AAF3-46D2-9B23-AD3FC2E3D5A2}"/>
              </a:ext>
            </a:extLst>
          </p:cNvPr>
          <p:cNvSpPr txBox="1"/>
          <p:nvPr/>
        </p:nvSpPr>
        <p:spPr>
          <a:xfrm>
            <a:off x="6307756" y="3607139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12C07F3-4E57-41EC-8B5A-7697430FBBD4}"/>
              </a:ext>
            </a:extLst>
          </p:cNvPr>
          <p:cNvGraphicFramePr>
            <a:graphicFrameLocks noGrp="1"/>
          </p:cNvGraphicFramePr>
          <p:nvPr/>
        </p:nvGraphicFramePr>
        <p:xfrm>
          <a:off x="6335059" y="5437613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7CE51F7-4F1B-4360-90F5-D491CEB0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717136"/>
              </p:ext>
            </p:extLst>
          </p:nvPr>
        </p:nvGraphicFramePr>
        <p:xfrm>
          <a:off x="6335059" y="5895644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032C2CF2-FCC2-4903-9001-DECCE6C1EF2F}"/>
              </a:ext>
            </a:extLst>
          </p:cNvPr>
          <p:cNvSpPr txBox="1"/>
          <p:nvPr/>
        </p:nvSpPr>
        <p:spPr>
          <a:xfrm>
            <a:off x="5884243" y="590835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70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C00D81-5BA5-4F22-BB41-52CDAC0F6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847408"/>
              </p:ext>
            </p:extLst>
          </p:nvPr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D2C7BE5-281D-4817-BBDC-51487223B285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451D5B-37C9-4B4F-A174-301E62DAAE33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93A99AC-D096-4A7C-B751-F2731DF82FB9}"/>
              </a:ext>
            </a:extLst>
          </p:cNvPr>
          <p:cNvGraphicFramePr>
            <a:graphicFrameLocks noGrp="1"/>
          </p:cNvGraphicFramePr>
          <p:nvPr/>
        </p:nvGraphicFramePr>
        <p:xfrm>
          <a:off x="6335059" y="979738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EAC2E28-E300-462C-A900-13C5C5A54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441534"/>
              </p:ext>
            </p:extLst>
          </p:nvPr>
        </p:nvGraphicFramePr>
        <p:xfrm>
          <a:off x="6335059" y="1437769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9E5C2983-2836-4190-AE7F-22E9B81802B0}"/>
              </a:ext>
            </a:extLst>
          </p:cNvPr>
          <p:cNvSpPr txBox="1"/>
          <p:nvPr/>
        </p:nvSpPr>
        <p:spPr>
          <a:xfrm>
            <a:off x="5884243" y="145047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E7851A-5DFF-4575-9EE4-839D1F5089C8}"/>
              </a:ext>
            </a:extLst>
          </p:cNvPr>
          <p:cNvSpPr txBox="1"/>
          <p:nvPr/>
        </p:nvSpPr>
        <p:spPr>
          <a:xfrm>
            <a:off x="6307757" y="2351428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=2, j=4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CBB9E3-6F78-4BE2-BBAB-A370C5DDD279}"/>
              </a:ext>
            </a:extLst>
          </p:cNvPr>
          <p:cNvSpPr txBox="1"/>
          <p:nvPr/>
        </p:nvSpPr>
        <p:spPr>
          <a:xfrm>
            <a:off x="6307757" y="2977348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T[k-1]&lt;4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34F248-A59E-4BAE-AE59-5AE6893D5FC3}"/>
              </a:ext>
            </a:extLst>
          </p:cNvPr>
          <p:cNvSpPr txBox="1"/>
          <p:nvPr/>
        </p:nvSpPr>
        <p:spPr>
          <a:xfrm>
            <a:off x="6307755" y="4233059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T[2-1]&lt;4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T[2]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EE91F3C-84A4-412C-B8C1-2F4E097529D7}"/>
              </a:ext>
            </a:extLst>
          </p:cNvPr>
          <p:cNvSpPr txBox="1"/>
          <p:nvPr/>
        </p:nvSpPr>
        <p:spPr>
          <a:xfrm>
            <a:off x="6335059" y="4858979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2&lt;4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CD71027-AAF3-46D2-9B23-AD3FC2E3D5A2}"/>
              </a:ext>
            </a:extLst>
          </p:cNvPr>
          <p:cNvSpPr txBox="1"/>
          <p:nvPr/>
        </p:nvSpPr>
        <p:spPr>
          <a:xfrm>
            <a:off x="6307756" y="3607139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12C07F3-4E57-41EC-8B5A-7697430FBBD4}"/>
              </a:ext>
            </a:extLst>
          </p:cNvPr>
          <p:cNvGraphicFramePr>
            <a:graphicFrameLocks noGrp="1"/>
          </p:cNvGraphicFramePr>
          <p:nvPr/>
        </p:nvGraphicFramePr>
        <p:xfrm>
          <a:off x="6335059" y="5437613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7CE51F7-4F1B-4360-90F5-D491CEB0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13035"/>
              </p:ext>
            </p:extLst>
          </p:nvPr>
        </p:nvGraphicFramePr>
        <p:xfrm>
          <a:off x="6335059" y="5895644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032C2CF2-FCC2-4903-9001-DECCE6C1EF2F}"/>
              </a:ext>
            </a:extLst>
          </p:cNvPr>
          <p:cNvSpPr txBox="1"/>
          <p:nvPr/>
        </p:nvSpPr>
        <p:spPr>
          <a:xfrm>
            <a:off x="5884243" y="590835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916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C00D81-5BA5-4F22-BB41-52CDAC0F6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99133"/>
              </p:ext>
            </p:extLst>
          </p:nvPr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D2C7BE5-281D-4817-BBDC-51487223B285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451D5B-37C9-4B4F-A174-301E62DAAE33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93A99AC-D096-4A7C-B751-F2731DF82FB9}"/>
              </a:ext>
            </a:extLst>
          </p:cNvPr>
          <p:cNvGraphicFramePr>
            <a:graphicFrameLocks noGrp="1"/>
          </p:cNvGraphicFramePr>
          <p:nvPr/>
        </p:nvGraphicFramePr>
        <p:xfrm>
          <a:off x="6335059" y="979738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EAC2E28-E300-462C-A900-13C5C5A54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563666"/>
              </p:ext>
            </p:extLst>
          </p:nvPr>
        </p:nvGraphicFramePr>
        <p:xfrm>
          <a:off x="6335059" y="1437769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9E5C2983-2836-4190-AE7F-22E9B81802B0}"/>
              </a:ext>
            </a:extLst>
          </p:cNvPr>
          <p:cNvSpPr txBox="1"/>
          <p:nvPr/>
        </p:nvSpPr>
        <p:spPr>
          <a:xfrm>
            <a:off x="5884243" y="1450479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E7851A-5DFF-4575-9EE4-839D1F5089C8}"/>
              </a:ext>
            </a:extLst>
          </p:cNvPr>
          <p:cNvSpPr txBox="1"/>
          <p:nvPr/>
        </p:nvSpPr>
        <p:spPr>
          <a:xfrm>
            <a:off x="6307757" y="2351428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=2, j=1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8CBB9E3-6F78-4BE2-BBAB-A370C5DDD279}"/>
              </a:ext>
            </a:extLst>
          </p:cNvPr>
          <p:cNvSpPr txBox="1"/>
          <p:nvPr/>
        </p:nvSpPr>
        <p:spPr>
          <a:xfrm>
            <a:off x="6307757" y="2977348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T[k-1]&lt;1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T[k]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34F248-A59E-4BAE-AE59-5AE6893D5FC3}"/>
              </a:ext>
            </a:extLst>
          </p:cNvPr>
          <p:cNvSpPr txBox="1"/>
          <p:nvPr/>
        </p:nvSpPr>
        <p:spPr>
          <a:xfrm>
            <a:off x="6307755" y="4233059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T[1-1]&lt;1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T[1]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EE91F3C-84A4-412C-B8C1-2F4E097529D7}"/>
              </a:ext>
            </a:extLst>
          </p:cNvPr>
          <p:cNvSpPr txBox="1"/>
          <p:nvPr/>
        </p:nvSpPr>
        <p:spPr>
          <a:xfrm>
            <a:off x="6335059" y="4858979"/>
            <a:ext cx="9733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0&lt;1</a:t>
            </a:r>
            <a:r>
              <a:rPr lang="zh-TW" altLang="en-US" sz="2400" dirty="0"/>
              <a:t>≤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CD71027-AAF3-46D2-9B23-AD3FC2E3D5A2}"/>
              </a:ext>
            </a:extLst>
          </p:cNvPr>
          <p:cNvSpPr txBox="1"/>
          <p:nvPr/>
        </p:nvSpPr>
        <p:spPr>
          <a:xfrm>
            <a:off x="6307756" y="3607139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k=1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12C07F3-4E57-41EC-8B5A-7697430FBBD4}"/>
              </a:ext>
            </a:extLst>
          </p:cNvPr>
          <p:cNvGraphicFramePr>
            <a:graphicFrameLocks noGrp="1"/>
          </p:cNvGraphicFramePr>
          <p:nvPr/>
        </p:nvGraphicFramePr>
        <p:xfrm>
          <a:off x="6335059" y="5437613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7CE51F7-4F1B-4360-90F5-D491CEB0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727835"/>
              </p:ext>
            </p:extLst>
          </p:nvPr>
        </p:nvGraphicFramePr>
        <p:xfrm>
          <a:off x="6335059" y="5895644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032C2CF2-FCC2-4903-9001-DECCE6C1EF2F}"/>
              </a:ext>
            </a:extLst>
          </p:cNvPr>
          <p:cNvSpPr txBox="1"/>
          <p:nvPr/>
        </p:nvSpPr>
        <p:spPr>
          <a:xfrm>
            <a:off x="5884243" y="590835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092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meaning of update T[k]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F5583F4-71FC-4113-8935-84ABEB07C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565790"/>
              </p:ext>
            </p:extLst>
          </p:nvPr>
        </p:nvGraphicFramePr>
        <p:xfrm>
          <a:off x="1416000" y="1690688"/>
          <a:ext cx="9360000" cy="468000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153609477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10625386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85280216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83538832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55017068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615733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2090526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212097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0685340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2173748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504134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9109765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6614488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5769296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3546625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3199234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1826065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58763606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2271718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24347497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279531425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31404680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12028451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162461122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427359293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25198238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42258848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197452671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141169776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607787458"/>
                  </a:ext>
                </a:extLst>
              </a:tr>
            </a:tbl>
          </a:graphicData>
        </a:graphic>
      </p:graphicFrame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E45E54D5-8FDB-4A38-A3C7-0EA30D2F5F12}"/>
              </a:ext>
            </a:extLst>
          </p:cNvPr>
          <p:cNvSpPr/>
          <p:nvPr/>
        </p:nvSpPr>
        <p:spPr>
          <a:xfrm>
            <a:off x="1602769" y="1910993"/>
            <a:ext cx="3400746" cy="1417834"/>
          </a:xfrm>
          <a:custGeom>
            <a:avLst/>
            <a:gdLst>
              <a:gd name="connsiteX0" fmla="*/ 0 w 3400746"/>
              <a:gd name="connsiteY0" fmla="*/ 0 h 1417834"/>
              <a:gd name="connsiteX1" fmla="*/ 236305 w 3400746"/>
              <a:gd name="connsiteY1" fmla="*/ 10274 h 1417834"/>
              <a:gd name="connsiteX2" fmla="*/ 380143 w 3400746"/>
              <a:gd name="connsiteY2" fmla="*/ 51371 h 1417834"/>
              <a:gd name="connsiteX3" fmla="*/ 452062 w 3400746"/>
              <a:gd name="connsiteY3" fmla="*/ 71919 h 1417834"/>
              <a:gd name="connsiteX4" fmla="*/ 513707 w 3400746"/>
              <a:gd name="connsiteY4" fmla="*/ 92468 h 1417834"/>
              <a:gd name="connsiteX5" fmla="*/ 544530 w 3400746"/>
              <a:gd name="connsiteY5" fmla="*/ 113016 h 1417834"/>
              <a:gd name="connsiteX6" fmla="*/ 606175 w 3400746"/>
              <a:gd name="connsiteY6" fmla="*/ 133564 h 1417834"/>
              <a:gd name="connsiteX7" fmla="*/ 698642 w 3400746"/>
              <a:gd name="connsiteY7" fmla="*/ 164387 h 1417834"/>
              <a:gd name="connsiteX8" fmla="*/ 770561 w 3400746"/>
              <a:gd name="connsiteY8" fmla="*/ 184935 h 1417834"/>
              <a:gd name="connsiteX9" fmla="*/ 801384 w 3400746"/>
              <a:gd name="connsiteY9" fmla="*/ 195209 h 1417834"/>
              <a:gd name="connsiteX10" fmla="*/ 883577 w 3400746"/>
              <a:gd name="connsiteY10" fmla="*/ 215758 h 1417834"/>
              <a:gd name="connsiteX11" fmla="*/ 965770 w 3400746"/>
              <a:gd name="connsiteY11" fmla="*/ 246580 h 1417834"/>
              <a:gd name="connsiteX12" fmla="*/ 1027415 w 3400746"/>
              <a:gd name="connsiteY12" fmla="*/ 267128 h 1417834"/>
              <a:gd name="connsiteX13" fmla="*/ 1119883 w 3400746"/>
              <a:gd name="connsiteY13" fmla="*/ 297951 h 1417834"/>
              <a:gd name="connsiteX14" fmla="*/ 1150705 w 3400746"/>
              <a:gd name="connsiteY14" fmla="*/ 308225 h 1417834"/>
              <a:gd name="connsiteX15" fmla="*/ 1232898 w 3400746"/>
              <a:gd name="connsiteY15" fmla="*/ 328773 h 1417834"/>
              <a:gd name="connsiteX16" fmla="*/ 1294543 w 3400746"/>
              <a:gd name="connsiteY16" fmla="*/ 349322 h 1417834"/>
              <a:gd name="connsiteX17" fmla="*/ 1387011 w 3400746"/>
              <a:gd name="connsiteY17" fmla="*/ 390418 h 1417834"/>
              <a:gd name="connsiteX18" fmla="*/ 1448656 w 3400746"/>
              <a:gd name="connsiteY18" fmla="*/ 410967 h 1417834"/>
              <a:gd name="connsiteX19" fmla="*/ 1510301 w 3400746"/>
              <a:gd name="connsiteY19" fmla="*/ 441789 h 1417834"/>
              <a:gd name="connsiteX20" fmla="*/ 1602768 w 3400746"/>
              <a:gd name="connsiteY20" fmla="*/ 482886 h 1417834"/>
              <a:gd name="connsiteX21" fmla="*/ 1633591 w 3400746"/>
              <a:gd name="connsiteY21" fmla="*/ 493160 h 1417834"/>
              <a:gd name="connsiteX22" fmla="*/ 1695235 w 3400746"/>
              <a:gd name="connsiteY22" fmla="*/ 523982 h 1417834"/>
              <a:gd name="connsiteX23" fmla="*/ 1767155 w 3400746"/>
              <a:gd name="connsiteY23" fmla="*/ 554805 h 1417834"/>
              <a:gd name="connsiteX24" fmla="*/ 1808251 w 3400746"/>
              <a:gd name="connsiteY24" fmla="*/ 575353 h 1417834"/>
              <a:gd name="connsiteX25" fmla="*/ 1839074 w 3400746"/>
              <a:gd name="connsiteY25" fmla="*/ 595901 h 1417834"/>
              <a:gd name="connsiteX26" fmla="*/ 1890444 w 3400746"/>
              <a:gd name="connsiteY26" fmla="*/ 606176 h 1417834"/>
              <a:gd name="connsiteX27" fmla="*/ 1952089 w 3400746"/>
              <a:gd name="connsiteY27" fmla="*/ 636998 h 1417834"/>
              <a:gd name="connsiteX28" fmla="*/ 2024009 w 3400746"/>
              <a:gd name="connsiteY28" fmla="*/ 667820 h 1417834"/>
              <a:gd name="connsiteX29" fmla="*/ 2095928 w 3400746"/>
              <a:gd name="connsiteY29" fmla="*/ 698643 h 1417834"/>
              <a:gd name="connsiteX30" fmla="*/ 2178121 w 3400746"/>
              <a:gd name="connsiteY30" fmla="*/ 739740 h 1417834"/>
              <a:gd name="connsiteX31" fmla="*/ 2250040 w 3400746"/>
              <a:gd name="connsiteY31" fmla="*/ 760288 h 1417834"/>
              <a:gd name="connsiteX32" fmla="*/ 2321959 w 3400746"/>
              <a:gd name="connsiteY32" fmla="*/ 801385 h 1417834"/>
              <a:gd name="connsiteX33" fmla="*/ 2393878 w 3400746"/>
              <a:gd name="connsiteY33" fmla="*/ 832207 h 1417834"/>
              <a:gd name="connsiteX34" fmla="*/ 2424701 w 3400746"/>
              <a:gd name="connsiteY34" fmla="*/ 852755 h 1417834"/>
              <a:gd name="connsiteX35" fmla="*/ 2455523 w 3400746"/>
              <a:gd name="connsiteY35" fmla="*/ 863029 h 1417834"/>
              <a:gd name="connsiteX36" fmla="*/ 2476071 w 3400746"/>
              <a:gd name="connsiteY36" fmla="*/ 883578 h 1417834"/>
              <a:gd name="connsiteX37" fmla="*/ 2506894 w 3400746"/>
              <a:gd name="connsiteY37" fmla="*/ 893852 h 1417834"/>
              <a:gd name="connsiteX38" fmla="*/ 2547991 w 3400746"/>
              <a:gd name="connsiteY38" fmla="*/ 914400 h 1417834"/>
              <a:gd name="connsiteX39" fmla="*/ 2578813 w 3400746"/>
              <a:gd name="connsiteY39" fmla="*/ 934949 h 1417834"/>
              <a:gd name="connsiteX40" fmla="*/ 2609635 w 3400746"/>
              <a:gd name="connsiteY40" fmla="*/ 945223 h 1417834"/>
              <a:gd name="connsiteX41" fmla="*/ 2671280 w 3400746"/>
              <a:gd name="connsiteY41" fmla="*/ 976045 h 1417834"/>
              <a:gd name="connsiteX42" fmla="*/ 2743200 w 3400746"/>
              <a:gd name="connsiteY42" fmla="*/ 1017142 h 1417834"/>
              <a:gd name="connsiteX43" fmla="*/ 2774022 w 3400746"/>
              <a:gd name="connsiteY43" fmla="*/ 1027416 h 1417834"/>
              <a:gd name="connsiteX44" fmla="*/ 2804844 w 3400746"/>
              <a:gd name="connsiteY44" fmla="*/ 1047964 h 1417834"/>
              <a:gd name="connsiteX45" fmla="*/ 2825393 w 3400746"/>
              <a:gd name="connsiteY45" fmla="*/ 1068513 h 1417834"/>
              <a:gd name="connsiteX46" fmla="*/ 2866489 w 3400746"/>
              <a:gd name="connsiteY46" fmla="*/ 1078787 h 1417834"/>
              <a:gd name="connsiteX47" fmla="*/ 2928134 w 3400746"/>
              <a:gd name="connsiteY47" fmla="*/ 1119883 h 1417834"/>
              <a:gd name="connsiteX48" fmla="*/ 2958957 w 3400746"/>
              <a:gd name="connsiteY48" fmla="*/ 1140432 h 1417834"/>
              <a:gd name="connsiteX49" fmla="*/ 3020602 w 3400746"/>
              <a:gd name="connsiteY49" fmla="*/ 1160980 h 1417834"/>
              <a:gd name="connsiteX50" fmla="*/ 3051424 w 3400746"/>
              <a:gd name="connsiteY50" fmla="*/ 1181528 h 1417834"/>
              <a:gd name="connsiteX51" fmla="*/ 3113069 w 3400746"/>
              <a:gd name="connsiteY51" fmla="*/ 1202077 h 1417834"/>
              <a:gd name="connsiteX52" fmla="*/ 3174714 w 3400746"/>
              <a:gd name="connsiteY52" fmla="*/ 1232899 h 1417834"/>
              <a:gd name="connsiteX53" fmla="*/ 3205537 w 3400746"/>
              <a:gd name="connsiteY53" fmla="*/ 1253447 h 1417834"/>
              <a:gd name="connsiteX54" fmla="*/ 3226085 w 3400746"/>
              <a:gd name="connsiteY54" fmla="*/ 1273996 h 1417834"/>
              <a:gd name="connsiteX55" fmla="*/ 3256907 w 3400746"/>
              <a:gd name="connsiteY55" fmla="*/ 1284270 h 1417834"/>
              <a:gd name="connsiteX56" fmla="*/ 3328827 w 3400746"/>
              <a:gd name="connsiteY56" fmla="*/ 1335641 h 1417834"/>
              <a:gd name="connsiteX57" fmla="*/ 3359649 w 3400746"/>
              <a:gd name="connsiteY57" fmla="*/ 1356189 h 1417834"/>
              <a:gd name="connsiteX58" fmla="*/ 3369923 w 3400746"/>
              <a:gd name="connsiteY58" fmla="*/ 1387011 h 1417834"/>
              <a:gd name="connsiteX59" fmla="*/ 3400746 w 3400746"/>
              <a:gd name="connsiteY59" fmla="*/ 1417834 h 1417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400746" h="1417834">
                <a:moveTo>
                  <a:pt x="0" y="0"/>
                </a:moveTo>
                <a:cubicBezTo>
                  <a:pt x="78768" y="3425"/>
                  <a:pt x="157829" y="2679"/>
                  <a:pt x="236305" y="10274"/>
                </a:cubicBezTo>
                <a:cubicBezTo>
                  <a:pt x="272657" y="13792"/>
                  <a:pt x="342981" y="38984"/>
                  <a:pt x="380143" y="51371"/>
                </a:cubicBezTo>
                <a:cubicBezTo>
                  <a:pt x="483758" y="85909"/>
                  <a:pt x="323018" y="33205"/>
                  <a:pt x="452062" y="71919"/>
                </a:cubicBezTo>
                <a:cubicBezTo>
                  <a:pt x="472808" y="78143"/>
                  <a:pt x="495685" y="80454"/>
                  <a:pt x="513707" y="92468"/>
                </a:cubicBezTo>
                <a:cubicBezTo>
                  <a:pt x="523981" y="99317"/>
                  <a:pt x="533246" y="108001"/>
                  <a:pt x="544530" y="113016"/>
                </a:cubicBezTo>
                <a:cubicBezTo>
                  <a:pt x="564323" y="121813"/>
                  <a:pt x="585627" y="126715"/>
                  <a:pt x="606175" y="133564"/>
                </a:cubicBezTo>
                <a:lnTo>
                  <a:pt x="698642" y="164387"/>
                </a:lnTo>
                <a:cubicBezTo>
                  <a:pt x="772537" y="189018"/>
                  <a:pt x="680266" y="159137"/>
                  <a:pt x="770561" y="184935"/>
                </a:cubicBezTo>
                <a:cubicBezTo>
                  <a:pt x="780974" y="187910"/>
                  <a:pt x="790936" y="192359"/>
                  <a:pt x="801384" y="195209"/>
                </a:cubicBezTo>
                <a:cubicBezTo>
                  <a:pt x="828630" y="202640"/>
                  <a:pt x="858317" y="203129"/>
                  <a:pt x="883577" y="215758"/>
                </a:cubicBezTo>
                <a:cubicBezTo>
                  <a:pt x="952477" y="250207"/>
                  <a:pt x="895827" y="225597"/>
                  <a:pt x="965770" y="246580"/>
                </a:cubicBezTo>
                <a:cubicBezTo>
                  <a:pt x="986516" y="252804"/>
                  <a:pt x="1006867" y="260279"/>
                  <a:pt x="1027415" y="267128"/>
                </a:cubicBezTo>
                <a:lnTo>
                  <a:pt x="1119883" y="297951"/>
                </a:lnTo>
                <a:cubicBezTo>
                  <a:pt x="1130157" y="301376"/>
                  <a:pt x="1140199" y="305598"/>
                  <a:pt x="1150705" y="308225"/>
                </a:cubicBezTo>
                <a:cubicBezTo>
                  <a:pt x="1178103" y="315074"/>
                  <a:pt x="1206106" y="319842"/>
                  <a:pt x="1232898" y="328773"/>
                </a:cubicBezTo>
                <a:cubicBezTo>
                  <a:pt x="1253446" y="335623"/>
                  <a:pt x="1276521" y="337308"/>
                  <a:pt x="1294543" y="349322"/>
                </a:cubicBezTo>
                <a:cubicBezTo>
                  <a:pt x="1343388" y="381885"/>
                  <a:pt x="1313651" y="365965"/>
                  <a:pt x="1387011" y="390418"/>
                </a:cubicBezTo>
                <a:cubicBezTo>
                  <a:pt x="1387015" y="390419"/>
                  <a:pt x="1448653" y="410965"/>
                  <a:pt x="1448656" y="410967"/>
                </a:cubicBezTo>
                <a:cubicBezTo>
                  <a:pt x="1488489" y="437522"/>
                  <a:pt x="1467764" y="427610"/>
                  <a:pt x="1510301" y="441789"/>
                </a:cubicBezTo>
                <a:cubicBezTo>
                  <a:pt x="1559144" y="474351"/>
                  <a:pt x="1529410" y="458433"/>
                  <a:pt x="1602768" y="482886"/>
                </a:cubicBezTo>
                <a:lnTo>
                  <a:pt x="1633591" y="493160"/>
                </a:lnTo>
                <a:cubicBezTo>
                  <a:pt x="1721927" y="552051"/>
                  <a:pt x="1610159" y="481443"/>
                  <a:pt x="1695235" y="523982"/>
                </a:cubicBezTo>
                <a:cubicBezTo>
                  <a:pt x="1766187" y="559459"/>
                  <a:pt x="1681625" y="533423"/>
                  <a:pt x="1767155" y="554805"/>
                </a:cubicBezTo>
                <a:cubicBezTo>
                  <a:pt x="1780854" y="561654"/>
                  <a:pt x="1794953" y="567754"/>
                  <a:pt x="1808251" y="575353"/>
                </a:cubicBezTo>
                <a:cubicBezTo>
                  <a:pt x="1818972" y="581479"/>
                  <a:pt x="1827512" y="591565"/>
                  <a:pt x="1839074" y="595901"/>
                </a:cubicBezTo>
                <a:cubicBezTo>
                  <a:pt x="1855425" y="602033"/>
                  <a:pt x="1873321" y="602751"/>
                  <a:pt x="1890444" y="606176"/>
                </a:cubicBezTo>
                <a:cubicBezTo>
                  <a:pt x="1931803" y="647533"/>
                  <a:pt x="1885816" y="608596"/>
                  <a:pt x="1952089" y="636998"/>
                </a:cubicBezTo>
                <a:cubicBezTo>
                  <a:pt x="2051420" y="679568"/>
                  <a:pt x="1906026" y="638325"/>
                  <a:pt x="2024009" y="667820"/>
                </a:cubicBezTo>
                <a:cubicBezTo>
                  <a:pt x="2067034" y="710847"/>
                  <a:pt x="2016798" y="668208"/>
                  <a:pt x="2095928" y="698643"/>
                </a:cubicBezTo>
                <a:cubicBezTo>
                  <a:pt x="2124518" y="709639"/>
                  <a:pt x="2148404" y="732311"/>
                  <a:pt x="2178121" y="739740"/>
                </a:cubicBezTo>
                <a:cubicBezTo>
                  <a:pt x="2229724" y="752641"/>
                  <a:pt x="2205822" y="745549"/>
                  <a:pt x="2250040" y="760288"/>
                </a:cubicBezTo>
                <a:cubicBezTo>
                  <a:pt x="2349412" y="834815"/>
                  <a:pt x="2243516" y="762163"/>
                  <a:pt x="2321959" y="801385"/>
                </a:cubicBezTo>
                <a:cubicBezTo>
                  <a:pt x="2392906" y="836859"/>
                  <a:pt x="2308355" y="810826"/>
                  <a:pt x="2393878" y="832207"/>
                </a:cubicBezTo>
                <a:cubicBezTo>
                  <a:pt x="2404152" y="839056"/>
                  <a:pt x="2413656" y="847233"/>
                  <a:pt x="2424701" y="852755"/>
                </a:cubicBezTo>
                <a:cubicBezTo>
                  <a:pt x="2434387" y="857598"/>
                  <a:pt x="2446237" y="857457"/>
                  <a:pt x="2455523" y="863029"/>
                </a:cubicBezTo>
                <a:cubicBezTo>
                  <a:pt x="2463829" y="868013"/>
                  <a:pt x="2467765" y="878594"/>
                  <a:pt x="2476071" y="883578"/>
                </a:cubicBezTo>
                <a:cubicBezTo>
                  <a:pt x="2485358" y="889150"/>
                  <a:pt x="2496940" y="889586"/>
                  <a:pt x="2506894" y="893852"/>
                </a:cubicBezTo>
                <a:cubicBezTo>
                  <a:pt x="2520972" y="899885"/>
                  <a:pt x="2534693" y="906801"/>
                  <a:pt x="2547991" y="914400"/>
                </a:cubicBezTo>
                <a:cubicBezTo>
                  <a:pt x="2558712" y="920526"/>
                  <a:pt x="2567769" y="929427"/>
                  <a:pt x="2578813" y="934949"/>
                </a:cubicBezTo>
                <a:cubicBezTo>
                  <a:pt x="2588499" y="939792"/>
                  <a:pt x="2599949" y="940380"/>
                  <a:pt x="2609635" y="945223"/>
                </a:cubicBezTo>
                <a:cubicBezTo>
                  <a:pt x="2689302" y="985056"/>
                  <a:pt x="2593809" y="950221"/>
                  <a:pt x="2671280" y="976045"/>
                </a:cubicBezTo>
                <a:cubicBezTo>
                  <a:pt x="2702237" y="996683"/>
                  <a:pt x="2706698" y="1001499"/>
                  <a:pt x="2743200" y="1017142"/>
                </a:cubicBezTo>
                <a:cubicBezTo>
                  <a:pt x="2753154" y="1021408"/>
                  <a:pt x="2764336" y="1022573"/>
                  <a:pt x="2774022" y="1027416"/>
                </a:cubicBezTo>
                <a:cubicBezTo>
                  <a:pt x="2785066" y="1032938"/>
                  <a:pt x="2795202" y="1040250"/>
                  <a:pt x="2804844" y="1047964"/>
                </a:cubicBezTo>
                <a:cubicBezTo>
                  <a:pt x="2812408" y="1054015"/>
                  <a:pt x="2816729" y="1064181"/>
                  <a:pt x="2825393" y="1068513"/>
                </a:cubicBezTo>
                <a:cubicBezTo>
                  <a:pt x="2838023" y="1074828"/>
                  <a:pt x="2852790" y="1075362"/>
                  <a:pt x="2866489" y="1078787"/>
                </a:cubicBezTo>
                <a:lnTo>
                  <a:pt x="2928134" y="1119883"/>
                </a:lnTo>
                <a:cubicBezTo>
                  <a:pt x="2938408" y="1126733"/>
                  <a:pt x="2947242" y="1136527"/>
                  <a:pt x="2958957" y="1140432"/>
                </a:cubicBezTo>
                <a:lnTo>
                  <a:pt x="3020602" y="1160980"/>
                </a:lnTo>
                <a:cubicBezTo>
                  <a:pt x="3030876" y="1167829"/>
                  <a:pt x="3040140" y="1176513"/>
                  <a:pt x="3051424" y="1181528"/>
                </a:cubicBezTo>
                <a:cubicBezTo>
                  <a:pt x="3071217" y="1190325"/>
                  <a:pt x="3095047" y="1190063"/>
                  <a:pt x="3113069" y="1202077"/>
                </a:cubicBezTo>
                <a:cubicBezTo>
                  <a:pt x="3201405" y="1260966"/>
                  <a:pt x="3089640" y="1190363"/>
                  <a:pt x="3174714" y="1232899"/>
                </a:cubicBezTo>
                <a:cubicBezTo>
                  <a:pt x="3185759" y="1238421"/>
                  <a:pt x="3195895" y="1245733"/>
                  <a:pt x="3205537" y="1253447"/>
                </a:cubicBezTo>
                <a:cubicBezTo>
                  <a:pt x="3213101" y="1259498"/>
                  <a:pt x="3217779" y="1269012"/>
                  <a:pt x="3226085" y="1273996"/>
                </a:cubicBezTo>
                <a:cubicBezTo>
                  <a:pt x="3235371" y="1279568"/>
                  <a:pt x="3246633" y="1280845"/>
                  <a:pt x="3256907" y="1284270"/>
                </a:cubicBezTo>
                <a:cubicBezTo>
                  <a:pt x="3305662" y="1333025"/>
                  <a:pt x="3279625" y="1319241"/>
                  <a:pt x="3328827" y="1335641"/>
                </a:cubicBezTo>
                <a:cubicBezTo>
                  <a:pt x="3339101" y="1342490"/>
                  <a:pt x="3351935" y="1346547"/>
                  <a:pt x="3359649" y="1356189"/>
                </a:cubicBezTo>
                <a:cubicBezTo>
                  <a:pt x="3366414" y="1364646"/>
                  <a:pt x="3364351" y="1377725"/>
                  <a:pt x="3369923" y="1387011"/>
                </a:cubicBezTo>
                <a:cubicBezTo>
                  <a:pt x="3369928" y="1387020"/>
                  <a:pt x="3395605" y="1412694"/>
                  <a:pt x="3400746" y="1417834"/>
                </a:cubicBezTo>
              </a:path>
            </a:pathLst>
          </a:cu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1B8938C-7C98-4B8E-BDE6-D0A40D7D235F}"/>
              </a:ext>
            </a:extLst>
          </p:cNvPr>
          <p:cNvSpPr/>
          <p:nvPr/>
        </p:nvSpPr>
        <p:spPr>
          <a:xfrm>
            <a:off x="5178175" y="3976099"/>
            <a:ext cx="5597825" cy="2309681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D30681-4FFA-4670-902C-5A66D54B359B}"/>
              </a:ext>
            </a:extLst>
          </p:cNvPr>
          <p:cNvSpPr/>
          <p:nvPr/>
        </p:nvSpPr>
        <p:spPr>
          <a:xfrm>
            <a:off x="2844230" y="4061006"/>
            <a:ext cx="7851168" cy="23096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: 圖案 21">
            <a:extLst>
              <a:ext uri="{FF2B5EF4-FFF2-40B4-BE49-F238E27FC236}">
                <a16:creationId xmlns:a16="http://schemas.microsoft.com/office/drawing/2014/main" id="{0529AED2-BF58-4F07-A647-BDF60549B75D}"/>
              </a:ext>
            </a:extLst>
          </p:cNvPr>
          <p:cNvSpPr/>
          <p:nvPr/>
        </p:nvSpPr>
        <p:spPr>
          <a:xfrm>
            <a:off x="1613043" y="1962364"/>
            <a:ext cx="1018302" cy="1869897"/>
          </a:xfrm>
          <a:custGeom>
            <a:avLst/>
            <a:gdLst>
              <a:gd name="connsiteX0" fmla="*/ 0 w 1018302"/>
              <a:gd name="connsiteY0" fmla="*/ 0 h 1869897"/>
              <a:gd name="connsiteX1" fmla="*/ 102741 w 1018302"/>
              <a:gd name="connsiteY1" fmla="*/ 82193 h 1869897"/>
              <a:gd name="connsiteX2" fmla="*/ 123290 w 1018302"/>
              <a:gd name="connsiteY2" fmla="*/ 102742 h 1869897"/>
              <a:gd name="connsiteX3" fmla="*/ 184935 w 1018302"/>
              <a:gd name="connsiteY3" fmla="*/ 143838 h 1869897"/>
              <a:gd name="connsiteX4" fmla="*/ 195209 w 1018302"/>
              <a:gd name="connsiteY4" fmla="*/ 174661 h 1869897"/>
              <a:gd name="connsiteX5" fmla="*/ 256854 w 1018302"/>
              <a:gd name="connsiteY5" fmla="*/ 246580 h 1869897"/>
              <a:gd name="connsiteX6" fmla="*/ 287676 w 1018302"/>
              <a:gd name="connsiteY6" fmla="*/ 267128 h 1869897"/>
              <a:gd name="connsiteX7" fmla="*/ 328773 w 1018302"/>
              <a:gd name="connsiteY7" fmla="*/ 318499 h 1869897"/>
              <a:gd name="connsiteX8" fmla="*/ 349321 w 1018302"/>
              <a:gd name="connsiteY8" fmla="*/ 349321 h 1869897"/>
              <a:gd name="connsiteX9" fmla="*/ 380144 w 1018302"/>
              <a:gd name="connsiteY9" fmla="*/ 369870 h 1869897"/>
              <a:gd name="connsiteX10" fmla="*/ 421240 w 1018302"/>
              <a:gd name="connsiteY10" fmla="*/ 421240 h 1869897"/>
              <a:gd name="connsiteX11" fmla="*/ 431514 w 1018302"/>
              <a:gd name="connsiteY11" fmla="*/ 452063 h 1869897"/>
              <a:gd name="connsiteX12" fmla="*/ 472611 w 1018302"/>
              <a:gd name="connsiteY12" fmla="*/ 493160 h 1869897"/>
              <a:gd name="connsiteX13" fmla="*/ 493159 w 1018302"/>
              <a:gd name="connsiteY13" fmla="*/ 523982 h 1869897"/>
              <a:gd name="connsiteX14" fmla="*/ 523982 w 1018302"/>
              <a:gd name="connsiteY14" fmla="*/ 534256 h 1869897"/>
              <a:gd name="connsiteX15" fmla="*/ 565078 w 1018302"/>
              <a:gd name="connsiteY15" fmla="*/ 585627 h 1869897"/>
              <a:gd name="connsiteX16" fmla="*/ 585627 w 1018302"/>
              <a:gd name="connsiteY16" fmla="*/ 606175 h 1869897"/>
              <a:gd name="connsiteX17" fmla="*/ 606175 w 1018302"/>
              <a:gd name="connsiteY17" fmla="*/ 636998 h 1869897"/>
              <a:gd name="connsiteX18" fmla="*/ 636997 w 1018302"/>
              <a:gd name="connsiteY18" fmla="*/ 678094 h 1869897"/>
              <a:gd name="connsiteX19" fmla="*/ 657546 w 1018302"/>
              <a:gd name="connsiteY19" fmla="*/ 698643 h 1869897"/>
              <a:gd name="connsiteX20" fmla="*/ 688368 w 1018302"/>
              <a:gd name="connsiteY20" fmla="*/ 739739 h 1869897"/>
              <a:gd name="connsiteX21" fmla="*/ 708917 w 1018302"/>
              <a:gd name="connsiteY21" fmla="*/ 760288 h 1869897"/>
              <a:gd name="connsiteX22" fmla="*/ 750013 w 1018302"/>
              <a:gd name="connsiteY22" fmla="*/ 821933 h 1869897"/>
              <a:gd name="connsiteX23" fmla="*/ 770561 w 1018302"/>
              <a:gd name="connsiteY23" fmla="*/ 852755 h 1869897"/>
              <a:gd name="connsiteX24" fmla="*/ 811658 w 1018302"/>
              <a:gd name="connsiteY24" fmla="*/ 893852 h 1869897"/>
              <a:gd name="connsiteX25" fmla="*/ 832206 w 1018302"/>
              <a:gd name="connsiteY25" fmla="*/ 924674 h 1869897"/>
              <a:gd name="connsiteX26" fmla="*/ 852755 w 1018302"/>
              <a:gd name="connsiteY26" fmla="*/ 945223 h 1869897"/>
              <a:gd name="connsiteX27" fmla="*/ 873303 w 1018302"/>
              <a:gd name="connsiteY27" fmla="*/ 986319 h 1869897"/>
              <a:gd name="connsiteX28" fmla="*/ 914400 w 1018302"/>
              <a:gd name="connsiteY28" fmla="*/ 1047964 h 1869897"/>
              <a:gd name="connsiteX29" fmla="*/ 955496 w 1018302"/>
              <a:gd name="connsiteY29" fmla="*/ 1171254 h 1869897"/>
              <a:gd name="connsiteX30" fmla="*/ 965770 w 1018302"/>
              <a:gd name="connsiteY30" fmla="*/ 1202076 h 1869897"/>
              <a:gd name="connsiteX31" fmla="*/ 976045 w 1018302"/>
              <a:gd name="connsiteY31" fmla="*/ 1232899 h 1869897"/>
              <a:gd name="connsiteX32" fmla="*/ 986319 w 1018302"/>
              <a:gd name="connsiteY32" fmla="*/ 1304818 h 1869897"/>
              <a:gd name="connsiteX33" fmla="*/ 1006867 w 1018302"/>
              <a:gd name="connsiteY33" fmla="*/ 1520575 h 1869897"/>
              <a:gd name="connsiteX34" fmla="*/ 1017141 w 1018302"/>
              <a:gd name="connsiteY34" fmla="*/ 1869897 h 186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8302" h="1869897">
                <a:moveTo>
                  <a:pt x="0" y="0"/>
                </a:moveTo>
                <a:cubicBezTo>
                  <a:pt x="79577" y="79577"/>
                  <a:pt x="39756" y="61198"/>
                  <a:pt x="102741" y="82193"/>
                </a:cubicBezTo>
                <a:cubicBezTo>
                  <a:pt x="109591" y="89043"/>
                  <a:pt x="115540" y="96930"/>
                  <a:pt x="123290" y="102742"/>
                </a:cubicBezTo>
                <a:cubicBezTo>
                  <a:pt x="143047" y="117559"/>
                  <a:pt x="184935" y="143838"/>
                  <a:pt x="184935" y="143838"/>
                </a:cubicBezTo>
                <a:cubicBezTo>
                  <a:pt x="188360" y="154112"/>
                  <a:pt x="190366" y="164974"/>
                  <a:pt x="195209" y="174661"/>
                </a:cubicBezTo>
                <a:cubicBezTo>
                  <a:pt x="206828" y="197899"/>
                  <a:pt x="237896" y="233941"/>
                  <a:pt x="256854" y="246580"/>
                </a:cubicBezTo>
                <a:lnTo>
                  <a:pt x="287676" y="267128"/>
                </a:lnTo>
                <a:cubicBezTo>
                  <a:pt x="350914" y="361987"/>
                  <a:pt x="270219" y="245308"/>
                  <a:pt x="328773" y="318499"/>
                </a:cubicBezTo>
                <a:cubicBezTo>
                  <a:pt x="336487" y="328141"/>
                  <a:pt x="340590" y="340590"/>
                  <a:pt x="349321" y="349321"/>
                </a:cubicBezTo>
                <a:cubicBezTo>
                  <a:pt x="358053" y="358053"/>
                  <a:pt x="369870" y="363020"/>
                  <a:pt x="380144" y="369870"/>
                </a:cubicBezTo>
                <a:cubicBezTo>
                  <a:pt x="405969" y="447344"/>
                  <a:pt x="368129" y="354850"/>
                  <a:pt x="421240" y="421240"/>
                </a:cubicBezTo>
                <a:cubicBezTo>
                  <a:pt x="428005" y="429697"/>
                  <a:pt x="425219" y="443250"/>
                  <a:pt x="431514" y="452063"/>
                </a:cubicBezTo>
                <a:cubicBezTo>
                  <a:pt x="442774" y="467828"/>
                  <a:pt x="461865" y="477040"/>
                  <a:pt x="472611" y="493160"/>
                </a:cubicBezTo>
                <a:cubicBezTo>
                  <a:pt x="479460" y="503434"/>
                  <a:pt x="483517" y="516268"/>
                  <a:pt x="493159" y="523982"/>
                </a:cubicBezTo>
                <a:cubicBezTo>
                  <a:pt x="501616" y="530747"/>
                  <a:pt x="513708" y="530831"/>
                  <a:pt x="523982" y="534256"/>
                </a:cubicBezTo>
                <a:cubicBezTo>
                  <a:pt x="573605" y="583881"/>
                  <a:pt x="513224" y="520811"/>
                  <a:pt x="565078" y="585627"/>
                </a:cubicBezTo>
                <a:cubicBezTo>
                  <a:pt x="571129" y="593191"/>
                  <a:pt x="579576" y="598611"/>
                  <a:pt x="585627" y="606175"/>
                </a:cubicBezTo>
                <a:cubicBezTo>
                  <a:pt x="593341" y="615817"/>
                  <a:pt x="598998" y="626950"/>
                  <a:pt x="606175" y="636998"/>
                </a:cubicBezTo>
                <a:cubicBezTo>
                  <a:pt x="616128" y="650932"/>
                  <a:pt x="626035" y="664940"/>
                  <a:pt x="636997" y="678094"/>
                </a:cubicBezTo>
                <a:cubicBezTo>
                  <a:pt x="643198" y="685536"/>
                  <a:pt x="651345" y="691201"/>
                  <a:pt x="657546" y="698643"/>
                </a:cubicBezTo>
                <a:cubicBezTo>
                  <a:pt x="668508" y="711797"/>
                  <a:pt x="677406" y="726585"/>
                  <a:pt x="688368" y="739739"/>
                </a:cubicBezTo>
                <a:cubicBezTo>
                  <a:pt x="694569" y="747181"/>
                  <a:pt x="703105" y="752538"/>
                  <a:pt x="708917" y="760288"/>
                </a:cubicBezTo>
                <a:cubicBezTo>
                  <a:pt x="723734" y="780045"/>
                  <a:pt x="736314" y="801385"/>
                  <a:pt x="750013" y="821933"/>
                </a:cubicBezTo>
                <a:cubicBezTo>
                  <a:pt x="756862" y="832207"/>
                  <a:pt x="761830" y="844024"/>
                  <a:pt x="770561" y="852755"/>
                </a:cubicBezTo>
                <a:cubicBezTo>
                  <a:pt x="784260" y="866454"/>
                  <a:pt x="800912" y="877732"/>
                  <a:pt x="811658" y="893852"/>
                </a:cubicBezTo>
                <a:cubicBezTo>
                  <a:pt x="818507" y="904126"/>
                  <a:pt x="824492" y="915032"/>
                  <a:pt x="832206" y="924674"/>
                </a:cubicBezTo>
                <a:cubicBezTo>
                  <a:pt x="838257" y="932238"/>
                  <a:pt x="847382" y="937163"/>
                  <a:pt x="852755" y="945223"/>
                </a:cubicBezTo>
                <a:cubicBezTo>
                  <a:pt x="861251" y="957966"/>
                  <a:pt x="865423" y="973186"/>
                  <a:pt x="873303" y="986319"/>
                </a:cubicBezTo>
                <a:cubicBezTo>
                  <a:pt x="886009" y="1007496"/>
                  <a:pt x="914400" y="1047964"/>
                  <a:pt x="914400" y="1047964"/>
                </a:cubicBezTo>
                <a:lnTo>
                  <a:pt x="955496" y="1171254"/>
                </a:lnTo>
                <a:lnTo>
                  <a:pt x="965770" y="1202076"/>
                </a:lnTo>
                <a:lnTo>
                  <a:pt x="976045" y="1232899"/>
                </a:lnTo>
                <a:cubicBezTo>
                  <a:pt x="979470" y="1256872"/>
                  <a:pt x="984221" y="1280693"/>
                  <a:pt x="986319" y="1304818"/>
                </a:cubicBezTo>
                <a:cubicBezTo>
                  <a:pt x="1005549" y="1525967"/>
                  <a:pt x="983324" y="1402858"/>
                  <a:pt x="1006867" y="1520575"/>
                </a:cubicBezTo>
                <a:cubicBezTo>
                  <a:pt x="1023398" y="1718949"/>
                  <a:pt x="1017141" y="1602626"/>
                  <a:pt x="1017141" y="1869897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080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meaning of T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F5583F4-71FC-4113-8935-84ABEB07C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304224"/>
              </p:ext>
            </p:extLst>
          </p:nvPr>
        </p:nvGraphicFramePr>
        <p:xfrm>
          <a:off x="1416000" y="1690688"/>
          <a:ext cx="9360000" cy="468000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153609477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106253869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85280216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83538832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55017068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615733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2090526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212097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0685340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2173748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504134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9109765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6614488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5769296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354662564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3199234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1826065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58763606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52271718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824347497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279531425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solidFill>
                          <a:srgbClr val="7030A0"/>
                        </a:solidFill>
                      </a:endParaRPr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31404680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120284510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7030A0"/>
                          </a:solidFill>
                        </a:rPr>
                        <a:t>2</a:t>
                      </a:r>
                      <a:endParaRPr lang="zh-TW" altLang="en-US" sz="2000" dirty="0">
                        <a:solidFill>
                          <a:srgbClr val="7030A0"/>
                        </a:solidFill>
                      </a:endParaRPr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162461122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rgbClr val="00B050"/>
                          </a:solidFill>
                        </a:rPr>
                        <a:t>1</a:t>
                      </a:r>
                      <a:endParaRPr lang="zh-TW" altLang="en-US" sz="2000" dirty="0">
                        <a:solidFill>
                          <a:srgbClr val="00B050"/>
                        </a:solidFill>
                      </a:endParaRPr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427359293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251982386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422588483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197452671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141169776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/>
                    </a:p>
                  </a:txBody>
                  <a:tcPr marL="99060" marR="99060" marT="49530" marB="49530"/>
                </a:tc>
                <a:tc>
                  <a:txBody>
                    <a:bodyPr/>
                    <a:lstStyle/>
                    <a:p>
                      <a:endParaRPr lang="zh-TW" altLang="en-US" sz="2000" dirty="0"/>
                    </a:p>
                  </a:txBody>
                  <a:tcPr marL="99060" marR="99060" marT="49530" marB="49530"/>
                </a:tc>
                <a:extLst>
                  <a:ext uri="{0D108BD9-81ED-4DB2-BD59-A6C34878D82A}">
                    <a16:rowId xmlns:a16="http://schemas.microsoft.com/office/drawing/2014/main" val="607787458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1B8938C-7C98-4B8E-BDE6-D0A40D7D235F}"/>
              </a:ext>
            </a:extLst>
          </p:cNvPr>
          <p:cNvSpPr/>
          <p:nvPr/>
        </p:nvSpPr>
        <p:spPr>
          <a:xfrm>
            <a:off x="2342509" y="4006921"/>
            <a:ext cx="8433492" cy="2309681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D30681-4FFA-4670-902C-5A66D54B359B}"/>
              </a:ext>
            </a:extLst>
          </p:cNvPr>
          <p:cNvSpPr/>
          <p:nvPr/>
        </p:nvSpPr>
        <p:spPr>
          <a:xfrm>
            <a:off x="2854504" y="4071280"/>
            <a:ext cx="7851168" cy="23096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14E5B1-1B64-4AB8-A27D-9ABEC74961C2}"/>
              </a:ext>
            </a:extLst>
          </p:cNvPr>
          <p:cNvSpPr/>
          <p:nvPr/>
        </p:nvSpPr>
        <p:spPr>
          <a:xfrm>
            <a:off x="1880171" y="4128499"/>
            <a:ext cx="8969339" cy="230968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529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9F084-AB8C-4778-8ABD-F4221EF80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C00D81-5BA5-4F22-BB41-52CDAC0F6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626398"/>
              </p:ext>
            </p:extLst>
          </p:nvPr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7D2C7BE5-281D-4817-BBDC-51487223B285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451D5B-37C9-4B4F-A174-301E62DAAE33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693A99AC-D096-4A7C-B751-F2731DF82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7673"/>
              </p:ext>
            </p:extLst>
          </p:nvPr>
        </p:nvGraphicFramePr>
        <p:xfrm>
          <a:off x="6546816" y="2572233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EAC2E28-E300-462C-A900-13C5C5A54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348820"/>
              </p:ext>
            </p:extLst>
          </p:nvPr>
        </p:nvGraphicFramePr>
        <p:xfrm>
          <a:off x="6546816" y="3030264"/>
          <a:ext cx="4320000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66697577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254828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3187548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50258013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657925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841202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00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9496003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94068465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9E5C2983-2836-4190-AE7F-22E9B81802B0}"/>
              </a:ext>
            </a:extLst>
          </p:cNvPr>
          <p:cNvSpPr txBox="1"/>
          <p:nvPr/>
        </p:nvSpPr>
        <p:spPr>
          <a:xfrm>
            <a:off x="6096000" y="3042974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3E7851A-5DFF-4575-9EE4-839D1F5089C8}"/>
              </a:ext>
            </a:extLst>
          </p:cNvPr>
          <p:cNvSpPr txBox="1"/>
          <p:nvPr/>
        </p:nvSpPr>
        <p:spPr>
          <a:xfrm>
            <a:off x="6096000" y="1917886"/>
            <a:ext cx="596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j=1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86126BF-BD80-4FA6-BCF6-7E5B97CF3005}"/>
                  </a:ext>
                </a:extLst>
              </p:cNvPr>
              <p:cNvSpPr txBox="1"/>
              <p:nvPr/>
            </p:nvSpPr>
            <p:spPr>
              <a:xfrm>
                <a:off x="6096000" y="4478450"/>
                <a:ext cx="17415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86126BF-BD80-4FA6-BCF6-7E5B97CF3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478450"/>
                <a:ext cx="1741502" cy="461665"/>
              </a:xfrm>
              <a:prstGeom prst="rect">
                <a:avLst/>
              </a:prstGeom>
              <a:blipFill>
                <a:blip r:embed="rId3"/>
                <a:stretch>
                  <a:fillRect r="-35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211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2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08398F0-882D-4E33-BB68-167C8D519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268519"/>
              </p:ext>
            </p:extLst>
          </p:nvPr>
        </p:nvGraphicFramePr>
        <p:xfrm>
          <a:off x="838200" y="2011511"/>
          <a:ext cx="4320000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122313207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592876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530018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4968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3269522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7764791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41524282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2095277"/>
                    </a:ext>
                  </a:extLst>
                </a:gridCol>
              </a:tblGrid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567729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47507360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0000" marR="90000" marT="46800" marB="4680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497861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45059312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2865952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186338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98147"/>
                  </a:ext>
                </a:extLst>
              </a:tr>
              <a:tr h="540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1" lang="zh-TW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232408170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BD264FB9-CE33-4E65-A67D-62D7EED4E554}"/>
              </a:ext>
            </a:extLst>
          </p:cNvPr>
          <p:cNvSpPr txBox="1"/>
          <p:nvPr/>
        </p:nvSpPr>
        <p:spPr>
          <a:xfrm>
            <a:off x="328659" y="3909901"/>
            <a:ext cx="44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A96022C-7E9E-4796-BF16-36140E25D91A}"/>
              </a:ext>
            </a:extLst>
          </p:cNvPr>
          <p:cNvSpPr txBox="1"/>
          <p:nvPr/>
        </p:nvSpPr>
        <p:spPr>
          <a:xfrm>
            <a:off x="2786443" y="1517922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4">
            <a:extLst>
              <a:ext uri="{FF2B5EF4-FFF2-40B4-BE49-F238E27FC236}">
                <a16:creationId xmlns:a16="http://schemas.microsoft.com/office/drawing/2014/main" id="{78FA3E89-D5A1-49FF-ADFA-AC8D5E300962}"/>
              </a:ext>
            </a:extLst>
          </p:cNvPr>
          <p:cNvSpPr txBox="1"/>
          <p:nvPr/>
        </p:nvSpPr>
        <p:spPr>
          <a:xfrm>
            <a:off x="6006827" y="2355629"/>
            <a:ext cx="58565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(5, 2)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(6, 4, 1)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(7, 3)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116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4AF0390-482B-44C9-83BB-F616F354F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488449"/>
              </p:ext>
            </p:extLst>
          </p:nvPr>
        </p:nvGraphicFramePr>
        <p:xfrm>
          <a:off x="838200" y="2414282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023D401-705B-425D-8B1F-E431DF19A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14775"/>
              </p:ext>
            </p:extLst>
          </p:nvPr>
        </p:nvGraphicFramePr>
        <p:xfrm>
          <a:off x="838200" y="380421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FEA4F7E-4AE6-45E0-8688-070C5087C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542062"/>
              </p:ext>
            </p:extLst>
          </p:nvPr>
        </p:nvGraphicFramePr>
        <p:xfrm>
          <a:off x="7033799" y="2414282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C8B8F22-CB96-411C-996C-803C4150F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49329"/>
              </p:ext>
            </p:extLst>
          </p:nvPr>
        </p:nvGraphicFramePr>
        <p:xfrm>
          <a:off x="7033799" y="380421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8774E73-BDCF-4B15-9FF1-7D799D548DB7}"/>
              </a:ext>
            </a:extLst>
          </p:cNvPr>
          <p:cNvCxnSpPr/>
          <p:nvPr/>
        </p:nvCxnSpPr>
        <p:spPr>
          <a:xfrm>
            <a:off x="5551714" y="3952220"/>
            <a:ext cx="115388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D323D8-E0BA-4CE9-A736-29F2870388E5}"/>
              </a:ext>
            </a:extLst>
          </p:cNvPr>
          <p:cNvSpPr txBox="1"/>
          <p:nvPr/>
        </p:nvSpPr>
        <p:spPr>
          <a:xfrm>
            <a:off x="5734362" y="342900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564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FEA4F7E-4AE6-45E0-8688-070C5087C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093745"/>
              </p:ext>
            </p:extLst>
          </p:nvPr>
        </p:nvGraphicFramePr>
        <p:xfrm>
          <a:off x="838200" y="2414282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C8B8F22-CB96-411C-996C-803C4150F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952005"/>
              </p:ext>
            </p:extLst>
          </p:nvPr>
        </p:nvGraphicFramePr>
        <p:xfrm>
          <a:off x="838200" y="380421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8774E73-BDCF-4B15-9FF1-7D799D548DB7}"/>
              </a:ext>
            </a:extLst>
          </p:cNvPr>
          <p:cNvCxnSpPr/>
          <p:nvPr/>
        </p:nvCxnSpPr>
        <p:spPr>
          <a:xfrm>
            <a:off x="5551714" y="4735992"/>
            <a:ext cx="1153886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D323D8-E0BA-4CE9-A736-29F2870388E5}"/>
              </a:ext>
            </a:extLst>
          </p:cNvPr>
          <p:cNvSpPr txBox="1"/>
          <p:nvPr/>
        </p:nvSpPr>
        <p:spPr>
          <a:xfrm>
            <a:off x="5734362" y="421277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5D3B455-A4F8-4CD2-9E2D-7909024FC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4192"/>
              </p:ext>
            </p:extLst>
          </p:nvPr>
        </p:nvGraphicFramePr>
        <p:xfrm>
          <a:off x="7099114" y="380421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B6FAB3A-C4C2-499A-8E11-9F7BB6DA45BE}"/>
              </a:ext>
            </a:extLst>
          </p:cNvPr>
          <p:cNvSpPr/>
          <p:nvPr/>
        </p:nvSpPr>
        <p:spPr>
          <a:xfrm>
            <a:off x="7620000" y="3886905"/>
            <a:ext cx="1143000" cy="1079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FE7C86-BE62-4184-B0F4-4263984BD8AC}"/>
              </a:ext>
            </a:extLst>
          </p:cNvPr>
          <p:cNvSpPr/>
          <p:nvPr/>
        </p:nvSpPr>
        <p:spPr>
          <a:xfrm>
            <a:off x="9192428" y="3886904"/>
            <a:ext cx="1143000" cy="1079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21010B-32BF-480F-B512-5ECCBFA5F838}"/>
              </a:ext>
            </a:extLst>
          </p:cNvPr>
          <p:cNvSpPr/>
          <p:nvPr/>
        </p:nvSpPr>
        <p:spPr>
          <a:xfrm>
            <a:off x="10295142" y="3886904"/>
            <a:ext cx="1143000" cy="1079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4">
            <a:extLst>
              <a:ext uri="{FF2B5EF4-FFF2-40B4-BE49-F238E27FC236}">
                <a16:creationId xmlns:a16="http://schemas.microsoft.com/office/drawing/2014/main" id="{7B707047-9E7A-40C3-AD2B-B00BE8676256}"/>
              </a:ext>
            </a:extLst>
          </p:cNvPr>
          <p:cNvSpPr txBox="1"/>
          <p:nvPr/>
        </p:nvSpPr>
        <p:spPr>
          <a:xfrm>
            <a:off x="6229040" y="498214"/>
            <a:ext cx="558196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50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E4338EF-4417-40DC-B38C-27E3E5EA6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73766"/>
              </p:ext>
            </p:extLst>
          </p:nvPr>
        </p:nvGraphicFramePr>
        <p:xfrm>
          <a:off x="838200" y="235562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768A022-0803-4B1D-9081-BBA86AD28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004365"/>
              </p:ext>
            </p:extLst>
          </p:nvPr>
        </p:nvGraphicFramePr>
        <p:xfrm>
          <a:off x="838200" y="3745566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D696CC1-6C31-4EB3-93BD-AFE36F12D4C2}"/>
              </a:ext>
            </a:extLst>
          </p:cNvPr>
          <p:cNvCxnSpPr>
            <a:cxnSpLocks/>
          </p:cNvCxnSpPr>
          <p:nvPr/>
        </p:nvCxnSpPr>
        <p:spPr>
          <a:xfrm>
            <a:off x="1621972" y="1807029"/>
            <a:ext cx="0" cy="548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3B058F3-2990-4524-9A7D-C43F703807F4}"/>
              </a:ext>
            </a:extLst>
          </p:cNvPr>
          <p:cNvCxnSpPr>
            <a:cxnSpLocks/>
          </p:cNvCxnSpPr>
          <p:nvPr/>
        </p:nvCxnSpPr>
        <p:spPr>
          <a:xfrm flipV="1">
            <a:off x="1621972" y="4996086"/>
            <a:ext cx="0" cy="5882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4">
            <a:extLst>
              <a:ext uri="{FF2B5EF4-FFF2-40B4-BE49-F238E27FC236}">
                <a16:creationId xmlns:a16="http://schemas.microsoft.com/office/drawing/2014/main" id="{93238721-EACF-4D9A-B276-7B2456366049}"/>
              </a:ext>
            </a:extLst>
          </p:cNvPr>
          <p:cNvSpPr txBox="1"/>
          <p:nvPr/>
        </p:nvSpPr>
        <p:spPr>
          <a:xfrm>
            <a:off x="6096000" y="2191294"/>
            <a:ext cx="558196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(7)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106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E4338EF-4417-40DC-B38C-27E3E5EA63D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5562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768A022-0803-4B1D-9081-BBA86AD28DE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745566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D696CC1-6C31-4EB3-93BD-AFE36F12D4C2}"/>
              </a:ext>
            </a:extLst>
          </p:cNvPr>
          <p:cNvCxnSpPr>
            <a:cxnSpLocks/>
          </p:cNvCxnSpPr>
          <p:nvPr/>
        </p:nvCxnSpPr>
        <p:spPr>
          <a:xfrm>
            <a:off x="2177144" y="1807029"/>
            <a:ext cx="0" cy="548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3B058F3-2990-4524-9A7D-C43F703807F4}"/>
              </a:ext>
            </a:extLst>
          </p:cNvPr>
          <p:cNvCxnSpPr>
            <a:cxnSpLocks/>
          </p:cNvCxnSpPr>
          <p:nvPr/>
        </p:nvCxnSpPr>
        <p:spPr>
          <a:xfrm flipV="1">
            <a:off x="1621972" y="4996086"/>
            <a:ext cx="0" cy="5882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4">
            <a:extLst>
              <a:ext uri="{FF2B5EF4-FFF2-40B4-BE49-F238E27FC236}">
                <a16:creationId xmlns:a16="http://schemas.microsoft.com/office/drawing/2014/main" id="{EC8D2FEF-0F9B-47D8-AABF-A07485BCD436}"/>
              </a:ext>
            </a:extLst>
          </p:cNvPr>
          <p:cNvSpPr txBox="1"/>
          <p:nvPr/>
        </p:nvSpPr>
        <p:spPr>
          <a:xfrm>
            <a:off x="6096000" y="2191294"/>
            <a:ext cx="558196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(7,3)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770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E4338EF-4417-40DC-B38C-27E3E5EA63D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5562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768A022-0803-4B1D-9081-BBA86AD28DE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745566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D696CC1-6C31-4EB3-93BD-AFE36F12D4C2}"/>
              </a:ext>
            </a:extLst>
          </p:cNvPr>
          <p:cNvCxnSpPr>
            <a:cxnSpLocks/>
          </p:cNvCxnSpPr>
          <p:nvPr/>
        </p:nvCxnSpPr>
        <p:spPr>
          <a:xfrm>
            <a:off x="2732317" y="1807029"/>
            <a:ext cx="0" cy="548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3B058F3-2990-4524-9A7D-C43F703807F4}"/>
              </a:ext>
            </a:extLst>
          </p:cNvPr>
          <p:cNvCxnSpPr>
            <a:cxnSpLocks/>
          </p:cNvCxnSpPr>
          <p:nvPr/>
        </p:nvCxnSpPr>
        <p:spPr>
          <a:xfrm flipV="1">
            <a:off x="1621972" y="4996086"/>
            <a:ext cx="0" cy="5882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4">
            <a:extLst>
              <a:ext uri="{FF2B5EF4-FFF2-40B4-BE49-F238E27FC236}">
                <a16:creationId xmlns:a16="http://schemas.microsoft.com/office/drawing/2014/main" id="{811998CE-5A58-49B0-BE97-1DA31F2F9FA8}"/>
              </a:ext>
            </a:extLst>
          </p:cNvPr>
          <p:cNvSpPr txBox="1"/>
          <p:nvPr/>
        </p:nvSpPr>
        <p:spPr>
          <a:xfrm>
            <a:off x="6096000" y="2191294"/>
            <a:ext cx="558196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(7,3)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65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E4338EF-4417-40DC-B38C-27E3E5EA63D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5562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768A022-0803-4B1D-9081-BBA86AD28DE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745566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D696CC1-6C31-4EB3-93BD-AFE36F12D4C2}"/>
              </a:ext>
            </a:extLst>
          </p:cNvPr>
          <p:cNvCxnSpPr>
            <a:cxnSpLocks/>
          </p:cNvCxnSpPr>
          <p:nvPr/>
        </p:nvCxnSpPr>
        <p:spPr>
          <a:xfrm>
            <a:off x="2732317" y="1807029"/>
            <a:ext cx="0" cy="548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3B058F3-2990-4524-9A7D-C43F703807F4}"/>
              </a:ext>
            </a:extLst>
          </p:cNvPr>
          <p:cNvCxnSpPr>
            <a:cxnSpLocks/>
          </p:cNvCxnSpPr>
          <p:nvPr/>
        </p:nvCxnSpPr>
        <p:spPr>
          <a:xfrm flipV="1">
            <a:off x="2721429" y="4996086"/>
            <a:ext cx="0" cy="5882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4">
            <a:extLst>
              <a:ext uri="{FF2B5EF4-FFF2-40B4-BE49-F238E27FC236}">
                <a16:creationId xmlns:a16="http://schemas.microsoft.com/office/drawing/2014/main" id="{38803397-DC7F-4D63-AA8B-8D24B766CC3D}"/>
              </a:ext>
            </a:extLst>
          </p:cNvPr>
          <p:cNvSpPr txBox="1"/>
          <p:nvPr/>
        </p:nvSpPr>
        <p:spPr>
          <a:xfrm>
            <a:off x="6096000" y="2191294"/>
            <a:ext cx="558196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(7,3)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912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E4338EF-4417-40DC-B38C-27E3E5EA63D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355629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kumimoji="1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768A022-0803-4B1D-9081-BBA86AD28DE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745566"/>
          <a:ext cx="432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2879055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8613421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8623396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449256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4927332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8142787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5733988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9517856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9353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341981"/>
                  </a:ext>
                </a:extLst>
              </a:tr>
            </a:tbl>
          </a:graphicData>
        </a:graphic>
      </p:graphicFrame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D696CC1-6C31-4EB3-93BD-AFE36F12D4C2}"/>
              </a:ext>
            </a:extLst>
          </p:cNvPr>
          <p:cNvCxnSpPr>
            <a:cxnSpLocks/>
          </p:cNvCxnSpPr>
          <p:nvPr/>
        </p:nvCxnSpPr>
        <p:spPr>
          <a:xfrm>
            <a:off x="2732317" y="1807029"/>
            <a:ext cx="0" cy="5486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3B058F3-2990-4524-9A7D-C43F703807F4}"/>
              </a:ext>
            </a:extLst>
          </p:cNvPr>
          <p:cNvCxnSpPr>
            <a:cxnSpLocks/>
          </p:cNvCxnSpPr>
          <p:nvPr/>
        </p:nvCxnSpPr>
        <p:spPr>
          <a:xfrm flipV="1">
            <a:off x="3254832" y="4996086"/>
            <a:ext cx="0" cy="5882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4">
            <a:extLst>
              <a:ext uri="{FF2B5EF4-FFF2-40B4-BE49-F238E27FC236}">
                <a16:creationId xmlns:a16="http://schemas.microsoft.com/office/drawing/2014/main" id="{C34C6D1B-5A88-4637-B9EC-C7F5CD2FFDF9}"/>
              </a:ext>
            </a:extLst>
          </p:cNvPr>
          <p:cNvSpPr txBox="1"/>
          <p:nvPr/>
        </p:nvSpPr>
        <p:spPr>
          <a:xfrm>
            <a:off x="6096000" y="2191294"/>
            <a:ext cx="558196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(6)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(7,3)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89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endParaRPr lang="zh-TW" altLang="en-US" dirty="0"/>
          </a:p>
        </p:txBody>
      </p:sp>
      <p:sp>
        <p:nvSpPr>
          <p:cNvPr id="11" name="文字方塊 4">
            <a:extLst>
              <a:ext uri="{FF2B5EF4-FFF2-40B4-BE49-F238E27FC236}">
                <a16:creationId xmlns:a16="http://schemas.microsoft.com/office/drawing/2014/main" id="{C34C6D1B-5A88-4637-B9EC-C7F5CD2FFDF9}"/>
              </a:ext>
            </a:extLst>
          </p:cNvPr>
          <p:cNvSpPr txBox="1"/>
          <p:nvPr/>
        </p:nvSpPr>
        <p:spPr>
          <a:xfrm>
            <a:off x="3305018" y="2213065"/>
            <a:ext cx="558196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MATCHLIST[1] = (5,2)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MATCHLIST[2] = (6,4,1)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MATCHLIST[3] = ( 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MATCHLIST[4] = MATCHLIST[2]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MATCHLIST[5] = (7,3)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MATCHLIST[6] = MATCHLIST[5]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MATCHLIST[7] = MATCHLIST[1]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74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 last </a:t>
            </a:r>
            <a:r>
              <a:rPr lang="en-US" altLang="zh-TW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posision</a:t>
            </a:r>
            <a:endParaRPr lang="zh-TW" altLang="en-US" dirty="0"/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79D865B9-F7E9-4AF4-9B1E-5AA8982BA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6" y="2207329"/>
            <a:ext cx="11562067" cy="321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35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B4AE4C-FB51-4AA3-8626-ABC295AC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2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CA2A741-0CFC-4124-9E58-77814B40635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: O(n log n)+O(n)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 : O(r log n)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: O((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r+n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)log n)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Worst : O(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n)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: O(n log n)</a:t>
            </a:r>
          </a:p>
          <a:p>
            <a:pPr marL="0" indent="0"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344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1921</Words>
  <Application>Microsoft Office PowerPoint</Application>
  <PresentationFormat>寬螢幕</PresentationFormat>
  <Paragraphs>791</Paragraphs>
  <Slides>24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A Fast Algorithm for Computing Longest Common Subsequences</vt:lpstr>
      <vt:lpstr>Abstract </vt:lpstr>
      <vt:lpstr>DP</vt:lpstr>
      <vt:lpstr>Algorithm 1</vt:lpstr>
      <vt:lpstr>Algorithm 1</vt:lpstr>
      <vt:lpstr>Update T</vt:lpstr>
      <vt:lpstr>Update T</vt:lpstr>
      <vt:lpstr>Update T</vt:lpstr>
      <vt:lpstr>Update T</vt:lpstr>
      <vt:lpstr>Update T</vt:lpstr>
      <vt:lpstr>The meaning of update T[k]</vt:lpstr>
      <vt:lpstr>The meaning of T</vt:lpstr>
      <vt:lpstr>Algorithm 1</vt:lpstr>
      <vt:lpstr>Algorithm 2</vt:lpstr>
      <vt:lpstr>Preprocess</vt:lpstr>
      <vt:lpstr>Preprocess</vt:lpstr>
      <vt:lpstr>Preprocess</vt:lpstr>
      <vt:lpstr>Preprocess</vt:lpstr>
      <vt:lpstr>Preprocess</vt:lpstr>
      <vt:lpstr>Preprocess</vt:lpstr>
      <vt:lpstr>Preprocess</vt:lpstr>
      <vt:lpstr>Preprocess</vt:lpstr>
      <vt:lpstr>Record last posision</vt:lpstr>
      <vt:lpstr>Algorithm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陳彥宇</dc:creator>
  <cp:lastModifiedBy>pplab</cp:lastModifiedBy>
  <cp:revision>108</cp:revision>
  <dcterms:created xsi:type="dcterms:W3CDTF">2023-09-07T12:25:39Z</dcterms:created>
  <dcterms:modified xsi:type="dcterms:W3CDTF">2023-10-18T12:33:19Z</dcterms:modified>
</cp:coreProperties>
</file>