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4"/>
  </p:notesMasterIdLst>
  <p:sldIdLst>
    <p:sldId id="256" r:id="rId2"/>
    <p:sldId id="257" r:id="rId3"/>
    <p:sldId id="266" r:id="rId4"/>
    <p:sldId id="273" r:id="rId5"/>
    <p:sldId id="278" r:id="rId6"/>
    <p:sldId id="279" r:id="rId7"/>
    <p:sldId id="280" r:id="rId8"/>
    <p:sldId id="281" r:id="rId9"/>
    <p:sldId id="282" r:id="rId10"/>
    <p:sldId id="275" r:id="rId11"/>
    <p:sldId id="283" r:id="rId12"/>
    <p:sldId id="285"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9"/>
  </p:normalViewPr>
  <p:slideViewPr>
    <p:cSldViewPr snapToGrid="0" snapToObjects="1">
      <p:cViewPr varScale="1">
        <p:scale>
          <a:sx n="103" d="100"/>
          <a:sy n="103" d="100"/>
        </p:scale>
        <p:origin x="8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BFA1E-9779-A64B-B4E3-C0E49B8D41D4}" type="datetimeFigureOut">
              <a:rPr kumimoji="1" lang="zh-TW" altLang="en-US" smtClean="0"/>
              <a:t>2023/4/14</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C63CC-5E5C-E544-BA0A-9EB80D6A360F}" type="slidenum">
              <a:rPr kumimoji="1" lang="zh-TW" altLang="en-US" smtClean="0"/>
              <a:t>‹#›</a:t>
            </a:fld>
            <a:endParaRPr kumimoji="1" lang="zh-TW" altLang="en-US"/>
          </a:p>
        </p:txBody>
      </p:sp>
    </p:spTree>
    <p:extLst>
      <p:ext uri="{BB962C8B-B14F-4D97-AF65-F5344CB8AC3E}">
        <p14:creationId xmlns:p14="http://schemas.microsoft.com/office/powerpoint/2010/main" val="1551628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09DC63CC-5E5C-E544-BA0A-9EB80D6A360F}" type="slidenum">
              <a:rPr kumimoji="1" lang="zh-TW" altLang="en-US" smtClean="0"/>
              <a:t>10</a:t>
            </a:fld>
            <a:endParaRPr kumimoji="1" lang="zh-TW" altLang="en-US"/>
          </a:p>
        </p:txBody>
      </p:sp>
    </p:spTree>
    <p:extLst>
      <p:ext uri="{BB962C8B-B14F-4D97-AF65-F5344CB8AC3E}">
        <p14:creationId xmlns:p14="http://schemas.microsoft.com/office/powerpoint/2010/main" val="1685255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09DC63CC-5E5C-E544-BA0A-9EB80D6A360F}" type="slidenum">
              <a:rPr kumimoji="1" lang="zh-TW" altLang="en-US" smtClean="0"/>
              <a:t>11</a:t>
            </a:fld>
            <a:endParaRPr kumimoji="1" lang="zh-TW" altLang="en-US"/>
          </a:p>
        </p:txBody>
      </p:sp>
    </p:spTree>
    <p:extLst>
      <p:ext uri="{BB962C8B-B14F-4D97-AF65-F5344CB8AC3E}">
        <p14:creationId xmlns:p14="http://schemas.microsoft.com/office/powerpoint/2010/main" val="1104002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B283B2-23F9-0C41-9417-ECF10BBEEF36}"/>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2C00F18-F297-5F47-8D2F-F5F506EF58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A29418BF-914D-CE4F-8197-FFD1F979886E}"/>
              </a:ext>
            </a:extLst>
          </p:cNvPr>
          <p:cNvSpPr>
            <a:spLocks noGrp="1"/>
          </p:cNvSpPr>
          <p:nvPr>
            <p:ph type="dt" sz="half" idx="10"/>
          </p:nvPr>
        </p:nvSpPr>
        <p:spPr/>
        <p:txBody>
          <a:bodyPr/>
          <a:lstStyle/>
          <a:p>
            <a:fld id="{5533375D-9F9C-DB42-91F1-FE64797DC539}" type="datetime1">
              <a:rPr kumimoji="1" lang="zh-TW" altLang="en-US" smtClean="0"/>
              <a:t>2023/4/14</a:t>
            </a:fld>
            <a:endParaRPr kumimoji="1" lang="zh-TW" altLang="en-US"/>
          </a:p>
        </p:txBody>
      </p:sp>
      <p:sp>
        <p:nvSpPr>
          <p:cNvPr id="5" name="頁尾版面配置區 4">
            <a:extLst>
              <a:ext uri="{FF2B5EF4-FFF2-40B4-BE49-F238E27FC236}">
                <a16:creationId xmlns:a16="http://schemas.microsoft.com/office/drawing/2014/main" id="{D88CEBE5-E31E-C847-8CF9-5666783C0FF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6CE161F-33BB-F048-A3F7-8E7AB13DBE5E}"/>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2723574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12C3FBC-ACFC-F347-B96C-38530BBF112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DCE5093B-6B34-3A45-8DD3-167D7469555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1BCE8656-E180-8442-A4FD-98058B5145BE}"/>
              </a:ext>
            </a:extLst>
          </p:cNvPr>
          <p:cNvSpPr>
            <a:spLocks noGrp="1"/>
          </p:cNvSpPr>
          <p:nvPr>
            <p:ph type="dt" sz="half" idx="10"/>
          </p:nvPr>
        </p:nvSpPr>
        <p:spPr/>
        <p:txBody>
          <a:bodyPr/>
          <a:lstStyle/>
          <a:p>
            <a:fld id="{83E55AB8-F3C2-4346-9A49-8304831ED5DD}" type="datetime1">
              <a:rPr kumimoji="1" lang="zh-TW" altLang="en-US" smtClean="0"/>
              <a:t>2023/4/14</a:t>
            </a:fld>
            <a:endParaRPr kumimoji="1" lang="zh-TW" altLang="en-US"/>
          </a:p>
        </p:txBody>
      </p:sp>
      <p:sp>
        <p:nvSpPr>
          <p:cNvPr id="5" name="頁尾版面配置區 4">
            <a:extLst>
              <a:ext uri="{FF2B5EF4-FFF2-40B4-BE49-F238E27FC236}">
                <a16:creationId xmlns:a16="http://schemas.microsoft.com/office/drawing/2014/main" id="{7A4C4D5C-AAF7-3C46-9853-A9849E7E0A96}"/>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080FEC4-F2EB-CC4B-AC2C-2A43FE4020D9}"/>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1645417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DE1E36-5717-104E-8CD7-3E3CCC5074C5}"/>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F4DD039-AF6D-C842-A2A1-1C86E5A8F8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4037ACD4-917B-CC47-B0C2-9E454ABF6A10}"/>
              </a:ext>
            </a:extLst>
          </p:cNvPr>
          <p:cNvSpPr>
            <a:spLocks noGrp="1"/>
          </p:cNvSpPr>
          <p:nvPr>
            <p:ph type="dt" sz="half" idx="10"/>
          </p:nvPr>
        </p:nvSpPr>
        <p:spPr/>
        <p:txBody>
          <a:bodyPr/>
          <a:lstStyle/>
          <a:p>
            <a:fld id="{940A06EA-0F0A-2D47-BF06-1BB310DF32C3}" type="datetime1">
              <a:rPr kumimoji="1" lang="zh-TW" altLang="en-US" smtClean="0"/>
              <a:t>2023/4/14</a:t>
            </a:fld>
            <a:endParaRPr kumimoji="1" lang="zh-TW" altLang="en-US"/>
          </a:p>
        </p:txBody>
      </p:sp>
      <p:sp>
        <p:nvSpPr>
          <p:cNvPr id="5" name="頁尾版面配置區 4">
            <a:extLst>
              <a:ext uri="{FF2B5EF4-FFF2-40B4-BE49-F238E27FC236}">
                <a16:creationId xmlns:a16="http://schemas.microsoft.com/office/drawing/2014/main" id="{E9C8B0E5-6CCA-D84A-90C3-331792FBED5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BD5FBA-A721-4C4F-91A2-CC1A0E794459}"/>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1709191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7F0E83-A781-A642-931F-DFED1BE57846}"/>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B8236D16-6B7B-FE40-8138-1A7AEAE86FE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6E5C8D6D-EA45-8B46-9841-980956BD044D}"/>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ACCDA255-CE4B-DF47-BF58-A20E6395740A}"/>
              </a:ext>
            </a:extLst>
          </p:cNvPr>
          <p:cNvSpPr>
            <a:spLocks noGrp="1"/>
          </p:cNvSpPr>
          <p:nvPr>
            <p:ph type="dt" sz="half" idx="10"/>
          </p:nvPr>
        </p:nvSpPr>
        <p:spPr/>
        <p:txBody>
          <a:bodyPr/>
          <a:lstStyle/>
          <a:p>
            <a:fld id="{F67C16C8-DEE7-C344-9DAD-A539494F8667}" type="datetime1">
              <a:rPr kumimoji="1" lang="zh-TW" altLang="en-US" smtClean="0"/>
              <a:t>2023/4/14</a:t>
            </a:fld>
            <a:endParaRPr kumimoji="1" lang="zh-TW" altLang="en-US"/>
          </a:p>
        </p:txBody>
      </p:sp>
      <p:sp>
        <p:nvSpPr>
          <p:cNvPr id="6" name="頁尾版面配置區 5">
            <a:extLst>
              <a:ext uri="{FF2B5EF4-FFF2-40B4-BE49-F238E27FC236}">
                <a16:creationId xmlns:a16="http://schemas.microsoft.com/office/drawing/2014/main" id="{BCF2FF0B-D14D-E049-BE35-C29FF29A425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4A1043E-64C9-2743-8D8E-415DAA0A8015}"/>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55055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6C82B3-B831-6F40-9588-F4F806158DD4}"/>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BFD58949-DEA8-D349-A30A-3F6ACE6A67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BD1EB4CD-4252-2545-90BD-8EA983F06ED7}"/>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DE8EECCE-4DFA-2E40-9256-541F8C65C7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A659D0BD-AA93-494D-A396-754B4EB8DE02}"/>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9645FA4C-4C5F-7A4A-90AB-84304799C347}"/>
              </a:ext>
            </a:extLst>
          </p:cNvPr>
          <p:cNvSpPr>
            <a:spLocks noGrp="1"/>
          </p:cNvSpPr>
          <p:nvPr>
            <p:ph type="dt" sz="half" idx="10"/>
          </p:nvPr>
        </p:nvSpPr>
        <p:spPr/>
        <p:txBody>
          <a:bodyPr/>
          <a:lstStyle/>
          <a:p>
            <a:fld id="{69B79CE6-E8BD-8E43-A95C-1E23C1700351}" type="datetime1">
              <a:rPr kumimoji="1" lang="zh-TW" altLang="en-US" smtClean="0"/>
              <a:t>2023/4/14</a:t>
            </a:fld>
            <a:endParaRPr kumimoji="1" lang="zh-TW" altLang="en-US"/>
          </a:p>
        </p:txBody>
      </p:sp>
      <p:sp>
        <p:nvSpPr>
          <p:cNvPr id="8" name="頁尾版面配置區 7">
            <a:extLst>
              <a:ext uri="{FF2B5EF4-FFF2-40B4-BE49-F238E27FC236}">
                <a16:creationId xmlns:a16="http://schemas.microsoft.com/office/drawing/2014/main" id="{248313D3-518A-3D49-A54F-A2CFF8BBBE31}"/>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8E79EEA4-5DE2-1C46-9BBE-3FD84C819154}"/>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2514795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384798-5BFD-B94D-A9EF-D7973D771270}"/>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B433FA5C-C053-5D4F-AA5A-1926F5DAF2A6}"/>
              </a:ext>
            </a:extLst>
          </p:cNvPr>
          <p:cNvSpPr>
            <a:spLocks noGrp="1"/>
          </p:cNvSpPr>
          <p:nvPr>
            <p:ph type="dt" sz="half" idx="10"/>
          </p:nvPr>
        </p:nvSpPr>
        <p:spPr/>
        <p:txBody>
          <a:bodyPr/>
          <a:lstStyle/>
          <a:p>
            <a:fld id="{D96C77D9-52A2-AC49-82BE-3F1C3DF86864}" type="datetime1">
              <a:rPr kumimoji="1" lang="zh-TW" altLang="en-US" smtClean="0"/>
              <a:t>2023/4/14</a:t>
            </a:fld>
            <a:endParaRPr kumimoji="1" lang="zh-TW" altLang="en-US"/>
          </a:p>
        </p:txBody>
      </p:sp>
      <p:sp>
        <p:nvSpPr>
          <p:cNvPr id="4" name="頁尾版面配置區 3">
            <a:extLst>
              <a:ext uri="{FF2B5EF4-FFF2-40B4-BE49-F238E27FC236}">
                <a16:creationId xmlns:a16="http://schemas.microsoft.com/office/drawing/2014/main" id="{F0ED2026-85A4-FC48-9427-558DB81B8B54}"/>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5A187C88-6371-2D46-8193-398C9ABB2461}"/>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333594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5CB16E5-7E89-9E47-9817-A404DBDED56A}"/>
              </a:ext>
            </a:extLst>
          </p:cNvPr>
          <p:cNvSpPr>
            <a:spLocks noGrp="1"/>
          </p:cNvSpPr>
          <p:nvPr>
            <p:ph type="dt" sz="half" idx="10"/>
          </p:nvPr>
        </p:nvSpPr>
        <p:spPr/>
        <p:txBody>
          <a:bodyPr/>
          <a:lstStyle/>
          <a:p>
            <a:fld id="{C99CB0C8-5DA2-0043-92D8-89E2D6E8DDEC}" type="datetime1">
              <a:rPr kumimoji="1" lang="zh-TW" altLang="en-US" smtClean="0"/>
              <a:t>2023/4/14</a:t>
            </a:fld>
            <a:endParaRPr kumimoji="1" lang="zh-TW" altLang="en-US"/>
          </a:p>
        </p:txBody>
      </p:sp>
      <p:sp>
        <p:nvSpPr>
          <p:cNvPr id="3" name="頁尾版面配置區 2">
            <a:extLst>
              <a:ext uri="{FF2B5EF4-FFF2-40B4-BE49-F238E27FC236}">
                <a16:creationId xmlns:a16="http://schemas.microsoft.com/office/drawing/2014/main" id="{7AFA6084-8A15-5B49-92C5-64958248F2BC}"/>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CEE1CCCF-A3AE-F541-93A2-CBCC8C706CE8}"/>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3253465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AE2F24-B826-6249-99A0-CBCE9272A9C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938E6462-1333-7F48-977E-A29FB48FA6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03128085-E3B0-F943-80FD-75847A3602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BD0B330-8A37-8F46-A34F-FE43A2625F1B}"/>
              </a:ext>
            </a:extLst>
          </p:cNvPr>
          <p:cNvSpPr>
            <a:spLocks noGrp="1"/>
          </p:cNvSpPr>
          <p:nvPr>
            <p:ph type="dt" sz="half" idx="10"/>
          </p:nvPr>
        </p:nvSpPr>
        <p:spPr/>
        <p:txBody>
          <a:bodyPr/>
          <a:lstStyle/>
          <a:p>
            <a:fld id="{1B2BCF9E-EC91-D74E-832E-DA3EBD36B984}" type="datetime1">
              <a:rPr kumimoji="1" lang="zh-TW" altLang="en-US" smtClean="0"/>
              <a:t>2023/4/14</a:t>
            </a:fld>
            <a:endParaRPr kumimoji="1" lang="zh-TW" altLang="en-US"/>
          </a:p>
        </p:txBody>
      </p:sp>
      <p:sp>
        <p:nvSpPr>
          <p:cNvPr id="6" name="頁尾版面配置區 5">
            <a:extLst>
              <a:ext uri="{FF2B5EF4-FFF2-40B4-BE49-F238E27FC236}">
                <a16:creationId xmlns:a16="http://schemas.microsoft.com/office/drawing/2014/main" id="{A94EF965-FE85-EC48-B19F-B90025CF221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7E7A00F6-8E3F-DA40-986B-4EF0C664BD23}"/>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474263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597BB6-7F51-1C44-9EE6-2139600E8F6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E18E374B-EC52-C348-B8E5-9C6264A50D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7346FBE7-9963-B443-A790-6D85E4847D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D4A48EBF-B8B8-464A-BD60-1D97FB45DECB}"/>
              </a:ext>
            </a:extLst>
          </p:cNvPr>
          <p:cNvSpPr>
            <a:spLocks noGrp="1"/>
          </p:cNvSpPr>
          <p:nvPr>
            <p:ph type="dt" sz="half" idx="10"/>
          </p:nvPr>
        </p:nvSpPr>
        <p:spPr/>
        <p:txBody>
          <a:bodyPr/>
          <a:lstStyle/>
          <a:p>
            <a:fld id="{E648A760-E1D3-A54D-BF48-C81DCD693E97}" type="datetime1">
              <a:rPr kumimoji="1" lang="zh-TW" altLang="en-US" smtClean="0"/>
              <a:t>2023/4/14</a:t>
            </a:fld>
            <a:endParaRPr kumimoji="1" lang="zh-TW" altLang="en-US"/>
          </a:p>
        </p:txBody>
      </p:sp>
      <p:sp>
        <p:nvSpPr>
          <p:cNvPr id="6" name="頁尾版面配置區 5">
            <a:extLst>
              <a:ext uri="{FF2B5EF4-FFF2-40B4-BE49-F238E27FC236}">
                <a16:creationId xmlns:a16="http://schemas.microsoft.com/office/drawing/2014/main" id="{E9A84016-8447-A145-9877-51A719520FF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56DF19F3-9E22-EA46-AC98-94A29BDE63B2}"/>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2770550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426EAC-7FFD-D043-9717-CE5DD5F6A091}"/>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5EE83522-A349-8448-B7EA-A1AE587D72FE}"/>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9D900CD8-3CFA-B34F-A36D-4A89386804CB}"/>
              </a:ext>
            </a:extLst>
          </p:cNvPr>
          <p:cNvSpPr>
            <a:spLocks noGrp="1"/>
          </p:cNvSpPr>
          <p:nvPr>
            <p:ph type="dt" sz="half" idx="10"/>
          </p:nvPr>
        </p:nvSpPr>
        <p:spPr/>
        <p:txBody>
          <a:bodyPr/>
          <a:lstStyle/>
          <a:p>
            <a:fld id="{E529605C-AE1B-E04C-820D-776A73992A51}" type="datetime1">
              <a:rPr kumimoji="1" lang="zh-TW" altLang="en-US" smtClean="0"/>
              <a:t>2023/4/14</a:t>
            </a:fld>
            <a:endParaRPr kumimoji="1" lang="zh-TW" altLang="en-US"/>
          </a:p>
        </p:txBody>
      </p:sp>
      <p:sp>
        <p:nvSpPr>
          <p:cNvPr id="5" name="頁尾版面配置區 4">
            <a:extLst>
              <a:ext uri="{FF2B5EF4-FFF2-40B4-BE49-F238E27FC236}">
                <a16:creationId xmlns:a16="http://schemas.microsoft.com/office/drawing/2014/main" id="{B3A76948-57D1-DC49-9D8A-86D53560C1D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70D819E-0C67-3147-B404-B0D057313796}"/>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472387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03C82E0-C565-6C4A-971E-A33F6DC80319}"/>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82CF712A-CF24-2A43-B96F-405D14EE5578}"/>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510A58-8D1F-D747-A1C9-8E23F42DDDC5}"/>
              </a:ext>
            </a:extLst>
          </p:cNvPr>
          <p:cNvSpPr>
            <a:spLocks noGrp="1"/>
          </p:cNvSpPr>
          <p:nvPr>
            <p:ph type="dt" sz="half" idx="10"/>
          </p:nvPr>
        </p:nvSpPr>
        <p:spPr/>
        <p:txBody>
          <a:bodyPr/>
          <a:lstStyle/>
          <a:p>
            <a:fld id="{13145278-B048-734F-B8DD-DF4DC17BEAAF}" type="datetime1">
              <a:rPr kumimoji="1" lang="zh-TW" altLang="en-US" smtClean="0"/>
              <a:t>2023/4/14</a:t>
            </a:fld>
            <a:endParaRPr kumimoji="1" lang="zh-TW" altLang="en-US"/>
          </a:p>
        </p:txBody>
      </p:sp>
      <p:sp>
        <p:nvSpPr>
          <p:cNvPr id="5" name="頁尾版面配置區 4">
            <a:extLst>
              <a:ext uri="{FF2B5EF4-FFF2-40B4-BE49-F238E27FC236}">
                <a16:creationId xmlns:a16="http://schemas.microsoft.com/office/drawing/2014/main" id="{653AE009-D830-B749-A0CF-FA8EE9CEFF79}"/>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5BD92F50-5487-1143-9897-E18E6537DCC3}"/>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533637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E5A661F-6833-3541-A0D3-7BCDB43C0E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E79EBE7-A208-2B48-8D5C-8FACBFFCAE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374EA65-F984-0B4F-BF85-26B0878AB0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6844F3-3F71-A84D-A54C-8CCABA2C7374}" type="datetime1">
              <a:rPr kumimoji="1" lang="zh-TW" altLang="en-US" smtClean="0"/>
              <a:t>2023/4/14</a:t>
            </a:fld>
            <a:endParaRPr kumimoji="1" lang="zh-TW" altLang="en-US"/>
          </a:p>
        </p:txBody>
      </p:sp>
      <p:sp>
        <p:nvSpPr>
          <p:cNvPr id="5" name="頁尾版面配置區 4">
            <a:extLst>
              <a:ext uri="{FF2B5EF4-FFF2-40B4-BE49-F238E27FC236}">
                <a16:creationId xmlns:a16="http://schemas.microsoft.com/office/drawing/2014/main" id="{A802C31E-1A0A-274D-B7FF-B5603E8DC1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693C503B-62BB-6748-9490-9C23D798E6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1363772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p:txBody>
          <a:bodyPr>
            <a:normAutofit/>
          </a:bodyPr>
          <a:lstStyle/>
          <a:p>
            <a:r>
              <a:rPr lang="en" altLang="zh-TW" sz="4800" b="0" dirty="0">
                <a:effectLst/>
                <a:latin typeface="Times New Roman" panose="02020603050405020304" pitchFamily="18" charset="0"/>
                <a:cs typeface="Times New Roman" panose="02020603050405020304" pitchFamily="18" charset="0"/>
              </a:rPr>
              <a:t>Solving </a:t>
            </a:r>
            <a:r>
              <a:rPr lang="en" altLang="zh-TW" sz="4800" b="0" dirty="0" err="1">
                <a:effectLst/>
                <a:latin typeface="Times New Roman" panose="02020603050405020304" pitchFamily="18" charset="0"/>
                <a:cs typeface="Times New Roman" panose="02020603050405020304" pitchFamily="18" charset="0"/>
              </a:rPr>
              <a:t>Hashiwokakero</a:t>
            </a:r>
            <a:r>
              <a:rPr lang="en" altLang="zh-TW" sz="4800" b="0" dirty="0">
                <a:effectLst/>
                <a:latin typeface="Times New Roman" panose="02020603050405020304" pitchFamily="18" charset="0"/>
                <a:cs typeface="Times New Roman" panose="02020603050405020304" pitchFamily="18" charset="0"/>
              </a:rPr>
              <a:t> Puzzle Game with </a:t>
            </a:r>
            <a:r>
              <a:rPr lang="en" altLang="zh-TW" sz="4800" b="0" dirty="0" err="1">
                <a:effectLst/>
                <a:latin typeface="Times New Roman" panose="02020603050405020304" pitchFamily="18" charset="0"/>
                <a:cs typeface="Times New Roman" panose="02020603050405020304" pitchFamily="18" charset="0"/>
              </a:rPr>
              <a:t>Hashi</a:t>
            </a:r>
            <a:r>
              <a:rPr lang="en" altLang="zh-TW" sz="4800" b="0" dirty="0">
                <a:effectLst/>
                <a:latin typeface="Times New Roman" panose="02020603050405020304" pitchFamily="18" charset="0"/>
                <a:cs typeface="Times New Roman" panose="02020603050405020304" pitchFamily="18" charset="0"/>
              </a:rPr>
              <a:t> Solving Techniques and Depth First Search</a:t>
            </a: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p:txBody>
          <a:bodyPr>
            <a:normAutofit/>
          </a:bodyPr>
          <a:lstStyle/>
          <a:p>
            <a:pPr>
              <a:lnSpc>
                <a:spcPct val="100000"/>
              </a:lnSpc>
            </a:pPr>
            <a:r>
              <a:rPr lang="en" altLang="zh-TW" sz="2000" dirty="0">
                <a:latin typeface="Times New Roman" panose="02020603050405020304" pitchFamily="18" charset="0"/>
                <a:cs typeface="Times New Roman" panose="02020603050405020304" pitchFamily="18" charset="0"/>
              </a:rPr>
              <a:t>Malik Reza F., </a:t>
            </a:r>
            <a:r>
              <a:rPr lang="en-US" altLang="zh-TW" sz="2000" dirty="0">
                <a:latin typeface="Times New Roman" panose="02020603050405020304" pitchFamily="18" charset="0"/>
                <a:cs typeface="Times New Roman" panose="02020603050405020304" pitchFamily="18" charset="0"/>
              </a:rPr>
              <a:t>Efendi</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R.,</a:t>
            </a:r>
            <a:r>
              <a:rPr lang="zh-TW" altLang="en-US"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Pratiwi</a:t>
            </a:r>
            <a:r>
              <a:rPr lang="zh-TW" altLang="en-US"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Eriska</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A</a:t>
            </a:r>
            <a:r>
              <a:rPr lang="en" altLang="zh-TW" sz="2000" dirty="0">
                <a:latin typeface="Times New Roman" panose="02020603050405020304" pitchFamily="18" charset="0"/>
                <a:cs typeface="Times New Roman" panose="02020603050405020304" pitchFamily="18" charset="0"/>
              </a:rPr>
              <a:t>.</a:t>
            </a:r>
          </a:p>
          <a:p>
            <a:pPr>
              <a:lnSpc>
                <a:spcPct val="100000"/>
              </a:lnSpc>
            </a:pPr>
            <a:r>
              <a:rPr lang="en" altLang="zh-TW" sz="2000" dirty="0">
                <a:latin typeface="Times New Roman" panose="02020603050405020304" pitchFamily="18" charset="0"/>
                <a:cs typeface="Times New Roman" panose="02020603050405020304" pitchFamily="18" charset="0"/>
              </a:rPr>
              <a:t>Bulletin of Electrical Engineering and Informatics, vol. 1, no. 1, pp. 61-68</a:t>
            </a:r>
            <a:r>
              <a:rPr lang="en-US" altLang="zh-TW" sz="2000" dirty="0">
                <a:latin typeface="Times New Roman" panose="02020603050405020304" pitchFamily="18" charset="0"/>
                <a:cs typeface="Times New Roman" panose="02020603050405020304" pitchFamily="18" charset="0"/>
              </a:rPr>
              <a:t>,</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2012.</a:t>
            </a:r>
            <a:endParaRPr lang="en" altLang="zh-TW" sz="2000"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412263" cy="646331"/>
          </a:xfrm>
          <a:prstGeom prst="rect">
            <a:avLst/>
          </a:prstGeom>
          <a:noFill/>
        </p:spPr>
        <p:txBody>
          <a:bodyPr wrap="none" rtlCol="0">
            <a:spAutoFit/>
          </a:bodyPr>
          <a:lstStyle/>
          <a:p>
            <a:r>
              <a:rPr kumimoji="1" lang="en-US" altLang="zh-TW" dirty="0">
                <a:latin typeface="Times" pitchFamily="2" charset="0"/>
              </a:rPr>
              <a:t>Presenter: Yun-An Chen</a:t>
            </a:r>
          </a:p>
          <a:p>
            <a:r>
              <a:rPr kumimoji="1" lang="en-US" altLang="zh-TW" dirty="0">
                <a:latin typeface="Times" pitchFamily="2" charset="0"/>
              </a:rPr>
              <a:t>Date: Apr. 18, 2023</a:t>
            </a:r>
            <a:endParaRPr kumimoji="1" lang="zh-TW" altLang="en-US" dirty="0">
              <a:latin typeface="Times" pitchFamily="2" charset="0"/>
            </a:endParaRPr>
          </a:p>
        </p:txBody>
      </p:sp>
    </p:spTree>
    <p:extLst>
      <p:ext uri="{BB962C8B-B14F-4D97-AF65-F5344CB8AC3E}">
        <p14:creationId xmlns:p14="http://schemas.microsoft.com/office/powerpoint/2010/main" val="399427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451861-73DA-4841-A16D-38E44CB87653}"/>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3E8741AB-D006-9749-BE17-A476685582CE}"/>
              </a:ext>
            </a:extLst>
          </p:cNvPr>
          <p:cNvSpPr>
            <a:spLocks noGrp="1"/>
          </p:cNvSpPr>
          <p:nvPr>
            <p:ph idx="1"/>
          </p:nvPr>
        </p:nvSpPr>
        <p:spPr/>
        <p:txBody>
          <a:bodyPr>
            <a:normAutofit/>
          </a:bodyPr>
          <a:lstStyle/>
          <a:p>
            <a:pPr marL="0" indent="0" algn="just">
              <a:buNone/>
            </a:pPr>
            <a:r>
              <a:rPr kumimoji="1" lang="en" altLang="zh-TW" dirty="0" err="1">
                <a:latin typeface="Times New Roman" panose="02020603050405020304" pitchFamily="18" charset="0"/>
                <a:cs typeface="Times New Roman" panose="02020603050405020304" pitchFamily="18" charset="0"/>
              </a:rPr>
              <a:t>Hashiwokakero</a:t>
            </a:r>
            <a:r>
              <a:rPr kumimoji="1" lang="en" altLang="zh-TW" dirty="0">
                <a:latin typeface="Times New Roman" panose="02020603050405020304" pitchFamily="18" charset="0"/>
                <a:cs typeface="Times New Roman" panose="02020603050405020304" pitchFamily="18" charset="0"/>
              </a:rPr>
              <a:t> is a logic puzzle game that sharpen the brain and very popular in Japan. This paper discusses on how to find a solution in the </a:t>
            </a:r>
            <a:r>
              <a:rPr kumimoji="1" lang="en" altLang="zh-TW" dirty="0" err="1">
                <a:latin typeface="Times New Roman" panose="02020603050405020304" pitchFamily="18" charset="0"/>
                <a:cs typeface="Times New Roman" panose="02020603050405020304" pitchFamily="18" charset="0"/>
              </a:rPr>
              <a:t>Hashi</a:t>
            </a:r>
            <a:r>
              <a:rPr kumimoji="1" lang="en" altLang="zh-TW" dirty="0">
                <a:latin typeface="Times New Roman" panose="02020603050405020304" pitchFamily="18" charset="0"/>
                <a:cs typeface="Times New Roman" panose="02020603050405020304" pitchFamily="18" charset="0"/>
              </a:rPr>
              <a:t> puzzle game using </a:t>
            </a:r>
            <a:r>
              <a:rPr kumimoji="1" lang="en" altLang="zh-TW" dirty="0" err="1">
                <a:latin typeface="Times New Roman" panose="02020603050405020304" pitchFamily="18" charset="0"/>
                <a:cs typeface="Times New Roman" panose="02020603050405020304" pitchFamily="18" charset="0"/>
              </a:rPr>
              <a:t>Hashi</a:t>
            </a:r>
            <a:r>
              <a:rPr kumimoji="1" lang="en" altLang="zh-TW" dirty="0">
                <a:latin typeface="Times New Roman" panose="02020603050405020304" pitchFamily="18" charset="0"/>
                <a:cs typeface="Times New Roman" panose="02020603050405020304" pitchFamily="18" charset="0"/>
              </a:rPr>
              <a:t> Solving techniques, such as Just Enough Neighbor, One Unsolved neighbor, Few Neighbors, Leftovers and Isolation. </a:t>
            </a:r>
            <a:r>
              <a:rPr kumimoji="1" lang="en" altLang="zh-TW" dirty="0" err="1">
                <a:latin typeface="Times New Roman" panose="02020603050405020304" pitchFamily="18" charset="0"/>
                <a:cs typeface="Times New Roman" panose="02020603050405020304" pitchFamily="18" charset="0"/>
              </a:rPr>
              <a:t>Hashi</a:t>
            </a:r>
            <a:r>
              <a:rPr kumimoji="1" lang="en" altLang="zh-TW" dirty="0">
                <a:latin typeface="Times New Roman" panose="02020603050405020304" pitchFamily="18" charset="0"/>
                <a:cs typeface="Times New Roman" panose="02020603050405020304" pitchFamily="18" charset="0"/>
              </a:rPr>
              <a:t> Solving techniques are used to find and build bridges that can definitely be built across the island, while Depth First Search (DFS) will search and build bridges that have not been found by </a:t>
            </a:r>
            <a:r>
              <a:rPr kumimoji="1" lang="en" altLang="zh-TW" dirty="0" err="1">
                <a:latin typeface="Times New Roman" panose="02020603050405020304" pitchFamily="18" charset="0"/>
                <a:cs typeface="Times New Roman" panose="02020603050405020304" pitchFamily="18" charset="0"/>
              </a:rPr>
              <a:t>Hashi</a:t>
            </a:r>
            <a:r>
              <a:rPr kumimoji="1" lang="en" altLang="zh-TW" dirty="0">
                <a:latin typeface="Times New Roman" panose="02020603050405020304" pitchFamily="18" charset="0"/>
                <a:cs typeface="Times New Roman" panose="02020603050405020304" pitchFamily="18" charset="0"/>
              </a:rPr>
              <a:t> Solving techniques. The results have shown that </a:t>
            </a:r>
            <a:r>
              <a:rPr kumimoji="1" lang="en" altLang="zh-TW" dirty="0" err="1">
                <a:latin typeface="Times New Roman" panose="02020603050405020304" pitchFamily="18" charset="0"/>
                <a:cs typeface="Times New Roman" panose="02020603050405020304" pitchFamily="18" charset="0"/>
              </a:rPr>
              <a:t>Hashi</a:t>
            </a:r>
            <a:r>
              <a:rPr kumimoji="1" lang="en" altLang="zh-TW" dirty="0">
                <a:latin typeface="Times New Roman" panose="02020603050405020304" pitchFamily="18" charset="0"/>
                <a:cs typeface="Times New Roman" panose="02020603050405020304" pitchFamily="18" charset="0"/>
              </a:rPr>
              <a:t> Solving Techniques and DFS able to solve every </a:t>
            </a:r>
            <a:r>
              <a:rPr kumimoji="1" lang="en" altLang="zh-TW" dirty="0" err="1">
                <a:latin typeface="Times New Roman" panose="02020603050405020304" pitchFamily="18" charset="0"/>
                <a:cs typeface="Times New Roman" panose="02020603050405020304" pitchFamily="18" charset="0"/>
              </a:rPr>
              <a:t>Hashi</a:t>
            </a:r>
            <a:r>
              <a:rPr kumimoji="1" lang="en" altLang="zh-TW" dirty="0">
                <a:latin typeface="Times New Roman" panose="02020603050405020304" pitchFamily="18" charset="0"/>
                <a:cs typeface="Times New Roman" panose="02020603050405020304" pitchFamily="18" charset="0"/>
              </a:rPr>
              <a:t> puzzle scenario.</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1B29FE30-27C7-674F-80FA-938300A03F0D}"/>
              </a:ext>
            </a:extLst>
          </p:cNvPr>
          <p:cNvSpPr>
            <a:spLocks noGrp="1"/>
          </p:cNvSpPr>
          <p:nvPr>
            <p:ph type="sldNum" sz="quarter" idx="12"/>
          </p:nvPr>
        </p:nvSpPr>
        <p:spPr/>
        <p:txBody>
          <a:bodyPr/>
          <a:lstStyle/>
          <a:p>
            <a:fld id="{ECBA910D-82EB-F545-8167-DA0C7F9B0A2A}" type="slidenum">
              <a:rPr kumimoji="1" lang="zh-TW" altLang="en-US" smtClean="0"/>
              <a:t>2</a:t>
            </a:fld>
            <a:endParaRPr kumimoji="1" lang="zh-TW" altLang="en-US"/>
          </a:p>
        </p:txBody>
      </p:sp>
    </p:spTree>
    <p:extLst>
      <p:ext uri="{BB962C8B-B14F-4D97-AF65-F5344CB8AC3E}">
        <p14:creationId xmlns:p14="http://schemas.microsoft.com/office/powerpoint/2010/main" val="3381259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6EF452BB-B96C-D443-A195-09BA6D979001}"/>
              </a:ext>
            </a:extLst>
          </p:cNvPr>
          <p:cNvSpPr>
            <a:spLocks noGrp="1"/>
          </p:cNvSpPr>
          <p:nvPr>
            <p:ph type="title"/>
          </p:nvPr>
        </p:nvSpPr>
        <p:spPr/>
        <p:txBody>
          <a:bodyPr/>
          <a:lstStyle/>
          <a:p>
            <a:r>
              <a:rPr lang="en-US" altLang="zh-TW">
                <a:latin typeface="Times New Roman" panose="02020603050405020304" pitchFamily="18" charset="0"/>
                <a:cs typeface="Times New Roman" panose="02020603050405020304" pitchFamily="18" charset="0"/>
              </a:rPr>
              <a:t>Hashiwokakero</a:t>
            </a:r>
            <a:endParaRPr lang="zh-TW" altLang="en-US"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a16="http://schemas.microsoft.com/office/drawing/2014/main" id="{52D202FC-B6B4-7E45-A85A-272176C02BBB}"/>
              </a:ext>
            </a:extLst>
          </p:cNvPr>
          <p:cNvSpPr>
            <a:spLocks noGrp="1"/>
          </p:cNvSpPr>
          <p:nvPr>
            <p:ph idx="1"/>
          </p:nvPr>
        </p:nvSpPr>
        <p:spPr/>
        <p:txBody>
          <a:bodyPr>
            <a:normAutofit/>
          </a:bodyPr>
          <a:lstStyle/>
          <a:p>
            <a:pPr algn="just"/>
            <a:r>
              <a:rPr lang="en-US" altLang="zh-TW" sz="2400" dirty="0">
                <a:latin typeface="Times New Roman" panose="02020603050405020304" pitchFamily="18" charset="0"/>
                <a:cs typeface="Times New Roman" panose="02020603050405020304" pitchFamily="18" charset="0"/>
              </a:rPr>
              <a:t>O</a:t>
            </a:r>
            <a:r>
              <a:rPr lang="en" altLang="zh-TW" sz="2400" dirty="0">
                <a:latin typeface="Times New Roman" panose="02020603050405020304" pitchFamily="18" charset="0"/>
                <a:cs typeface="Times New Roman" panose="02020603050405020304" pitchFamily="18" charset="0"/>
              </a:rPr>
              <a:t>ne bridge can be connected</a:t>
            </a:r>
            <a:r>
              <a:rPr lang="zh-TW" altLang="en-US" sz="2400" dirty="0">
                <a:latin typeface="Times New Roman" panose="02020603050405020304" pitchFamily="18" charset="0"/>
                <a:cs typeface="Times New Roman" panose="02020603050405020304" pitchFamily="18" charset="0"/>
              </a:rPr>
              <a:t> </a:t>
            </a:r>
            <a:r>
              <a:rPr lang="en" altLang="zh-TW" sz="2400" dirty="0">
                <a:latin typeface="Times New Roman" panose="02020603050405020304" pitchFamily="18" charset="0"/>
                <a:cs typeface="Times New Roman" panose="02020603050405020304" pitchFamily="18" charset="0"/>
              </a:rPr>
              <a:t>to islands that located on </a:t>
            </a:r>
            <a:r>
              <a:rPr lang="en" altLang="zh-TW" sz="2400" dirty="0">
                <a:solidFill>
                  <a:schemeClr val="accent6">
                    <a:lumMod val="50000"/>
                  </a:schemeClr>
                </a:solidFill>
                <a:latin typeface="Times New Roman" panose="02020603050405020304" pitchFamily="18" charset="0"/>
                <a:cs typeface="Times New Roman" panose="02020603050405020304" pitchFamily="18" charset="0"/>
              </a:rPr>
              <a:t>the same x </a:t>
            </a:r>
            <a:r>
              <a:rPr lang="en-US" altLang="zh-TW" sz="2400" dirty="0">
                <a:solidFill>
                  <a:schemeClr val="accent6">
                    <a:lumMod val="50000"/>
                  </a:schemeClr>
                </a:solidFill>
                <a:latin typeface="Times New Roman" panose="02020603050405020304" pitchFamily="18" charset="0"/>
                <a:cs typeface="Times New Roman" panose="02020603050405020304" pitchFamily="18" charset="0"/>
              </a:rPr>
              <a:t>or</a:t>
            </a:r>
            <a:r>
              <a:rPr lang="zh-TW" altLang="en-US" sz="2400" dirty="0">
                <a:solidFill>
                  <a:schemeClr val="accent6">
                    <a:lumMod val="50000"/>
                  </a:schemeClr>
                </a:solidFill>
                <a:latin typeface="Times New Roman" panose="02020603050405020304" pitchFamily="18" charset="0"/>
                <a:cs typeface="Times New Roman" panose="02020603050405020304" pitchFamily="18" charset="0"/>
              </a:rPr>
              <a:t> </a:t>
            </a:r>
            <a:r>
              <a:rPr lang="en-US" altLang="zh-TW" sz="2400" dirty="0">
                <a:solidFill>
                  <a:schemeClr val="accent6">
                    <a:lumMod val="50000"/>
                  </a:schemeClr>
                </a:solidFill>
                <a:latin typeface="Times New Roman" panose="02020603050405020304" pitchFamily="18" charset="0"/>
                <a:cs typeface="Times New Roman" panose="02020603050405020304" pitchFamily="18" charset="0"/>
              </a:rPr>
              <a:t>y</a:t>
            </a:r>
            <a:r>
              <a:rPr lang="zh-TW" altLang="en-US" sz="2400" dirty="0">
                <a:solidFill>
                  <a:schemeClr val="accent6">
                    <a:lumMod val="50000"/>
                  </a:schemeClr>
                </a:solidFill>
                <a:latin typeface="Times New Roman" panose="02020603050405020304" pitchFamily="18" charset="0"/>
                <a:cs typeface="Times New Roman" panose="02020603050405020304" pitchFamily="18" charset="0"/>
              </a:rPr>
              <a:t> </a:t>
            </a:r>
            <a:r>
              <a:rPr lang="en" altLang="zh-TW" sz="2400" dirty="0">
                <a:solidFill>
                  <a:schemeClr val="accent6">
                    <a:lumMod val="50000"/>
                  </a:schemeClr>
                </a:solidFill>
                <a:latin typeface="Times New Roman" panose="02020603050405020304" pitchFamily="18" charset="0"/>
                <a:cs typeface="Times New Roman" panose="02020603050405020304" pitchFamily="18" charset="0"/>
              </a:rPr>
              <a:t>coordinate</a:t>
            </a:r>
            <a:r>
              <a:rPr lang="en-US" altLang="zh-TW" sz="2400" dirty="0">
                <a:latin typeface="Times New Roman" panose="02020603050405020304" pitchFamily="18" charset="0"/>
                <a:cs typeface="Times New Roman" panose="02020603050405020304" pitchFamily="18" charset="0"/>
              </a:rPr>
              <a:t>.</a:t>
            </a:r>
            <a:endParaRPr lang="en" altLang="zh-TW" sz="2400" dirty="0">
              <a:latin typeface="Times New Roman" panose="02020603050405020304" pitchFamily="18" charset="0"/>
              <a:cs typeface="Times New Roman" panose="02020603050405020304" pitchFamily="18" charset="0"/>
            </a:endParaRPr>
          </a:p>
          <a:p>
            <a:pPr algn="just"/>
            <a:r>
              <a:rPr lang="en" altLang="zh-TW" sz="2400" dirty="0">
                <a:latin typeface="Times New Roman" panose="02020603050405020304" pitchFamily="18" charset="0"/>
                <a:cs typeface="Times New Roman" panose="02020603050405020304" pitchFamily="18" charset="0"/>
              </a:rPr>
              <a:t>The bridge </a:t>
            </a:r>
            <a:r>
              <a:rPr lang="en" altLang="zh-TW" sz="2400" dirty="0">
                <a:solidFill>
                  <a:schemeClr val="accent6">
                    <a:lumMod val="50000"/>
                  </a:schemeClr>
                </a:solidFill>
                <a:latin typeface="Times New Roman" panose="02020603050405020304" pitchFamily="18" charset="0"/>
                <a:cs typeface="Times New Roman" panose="02020603050405020304" pitchFamily="18" charset="0"/>
              </a:rPr>
              <a:t>should not be overlapping </a:t>
            </a:r>
            <a:r>
              <a:rPr lang="en" altLang="zh-TW" sz="2400" dirty="0">
                <a:latin typeface="Times New Roman" panose="02020603050405020304" pitchFamily="18" charset="0"/>
                <a:cs typeface="Times New Roman" panose="02020603050405020304" pitchFamily="18" charset="0"/>
              </a:rPr>
              <a:t>with other bridges</a:t>
            </a:r>
            <a:r>
              <a:rPr lang="en-US" altLang="zh-TW" sz="2400" dirty="0">
                <a:latin typeface="Times New Roman" panose="02020603050405020304" pitchFamily="18" charset="0"/>
                <a:cs typeface="Times New Roman" panose="02020603050405020304" pitchFamily="18" charset="0"/>
              </a:rPr>
              <a:t>.</a:t>
            </a:r>
          </a:p>
          <a:p>
            <a:pPr algn="just"/>
            <a:r>
              <a:rPr lang="en" altLang="zh-TW" sz="2400" dirty="0">
                <a:latin typeface="Times New Roman" panose="02020603050405020304" pitchFamily="18" charset="0"/>
                <a:cs typeface="Times New Roman" panose="02020603050405020304" pitchFamily="18" charset="0"/>
              </a:rPr>
              <a:t>There may </a:t>
            </a:r>
            <a:r>
              <a:rPr lang="en" altLang="zh-TW" sz="2400" dirty="0">
                <a:solidFill>
                  <a:schemeClr val="accent6">
                    <a:lumMod val="50000"/>
                  </a:schemeClr>
                </a:solidFill>
                <a:latin typeface="Times New Roman" panose="02020603050405020304" pitchFamily="18" charset="0"/>
                <a:cs typeface="Times New Roman" panose="02020603050405020304" pitchFamily="18" charset="0"/>
              </a:rPr>
              <a:t>only have maximum 2 bridges between the same two islands</a:t>
            </a:r>
            <a:r>
              <a:rPr lang="en-US" altLang="zh-TW" sz="2400" dirty="0">
                <a:solidFill>
                  <a:schemeClr val="accent6">
                    <a:lumMod val="50000"/>
                  </a:schemeClr>
                </a:solidFill>
                <a:latin typeface="Times New Roman" panose="02020603050405020304" pitchFamily="18" charset="0"/>
                <a:cs typeface="Times New Roman" panose="02020603050405020304" pitchFamily="18" charset="0"/>
              </a:rPr>
              <a:t>.</a:t>
            </a:r>
            <a:endParaRPr lang="zh-TW" altLang="en-US" sz="2400"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3" name="投影片編號版面配置區 2">
            <a:extLst>
              <a:ext uri="{FF2B5EF4-FFF2-40B4-BE49-F238E27FC236}">
                <a16:creationId xmlns:a16="http://schemas.microsoft.com/office/drawing/2014/main" id="{B344935E-6FF2-8E42-BBD9-CD57697DD224}"/>
              </a:ext>
            </a:extLst>
          </p:cNvPr>
          <p:cNvSpPr>
            <a:spLocks noGrp="1"/>
          </p:cNvSpPr>
          <p:nvPr>
            <p:ph type="sldNum" sz="quarter" idx="12"/>
          </p:nvPr>
        </p:nvSpPr>
        <p:spPr/>
        <p:txBody>
          <a:bodyPr/>
          <a:lstStyle/>
          <a:p>
            <a:fld id="{ECBA910D-82EB-F545-8167-DA0C7F9B0A2A}" type="slidenum">
              <a:rPr kumimoji="1" lang="zh-TW" altLang="en-US" smtClean="0"/>
              <a:t>3</a:t>
            </a:fld>
            <a:endParaRPr kumimoji="1" lang="zh-TW" altLang="en-US"/>
          </a:p>
        </p:txBody>
      </p:sp>
      <p:pic>
        <p:nvPicPr>
          <p:cNvPr id="8" name="圖片 7">
            <a:extLst>
              <a:ext uri="{FF2B5EF4-FFF2-40B4-BE49-F238E27FC236}">
                <a16:creationId xmlns:a16="http://schemas.microsoft.com/office/drawing/2014/main" id="{BDF3B509-436F-1547-B507-5EB36B565784}"/>
              </a:ext>
            </a:extLst>
          </p:cNvPr>
          <p:cNvPicPr>
            <a:picLocks noChangeAspect="1"/>
          </p:cNvPicPr>
          <p:nvPr/>
        </p:nvPicPr>
        <p:blipFill rotWithShape="1">
          <a:blip r:embed="rId2"/>
          <a:srcRect l="8288" r="8282" b="21116"/>
          <a:stretch/>
        </p:blipFill>
        <p:spPr>
          <a:xfrm>
            <a:off x="2157221" y="3429000"/>
            <a:ext cx="7877557" cy="3151953"/>
          </a:xfrm>
          <a:prstGeom prst="rect">
            <a:avLst/>
          </a:prstGeom>
        </p:spPr>
      </p:pic>
    </p:spTree>
    <p:extLst>
      <p:ext uri="{BB962C8B-B14F-4D97-AF65-F5344CB8AC3E}">
        <p14:creationId xmlns:p14="http://schemas.microsoft.com/office/powerpoint/2010/main" val="2732471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B344935E-6FF2-8E42-BBD9-CD57697DD224}"/>
              </a:ext>
            </a:extLst>
          </p:cNvPr>
          <p:cNvSpPr>
            <a:spLocks noGrp="1"/>
          </p:cNvSpPr>
          <p:nvPr>
            <p:ph type="sldNum" sz="quarter" idx="12"/>
          </p:nvPr>
        </p:nvSpPr>
        <p:spPr/>
        <p:txBody>
          <a:bodyPr/>
          <a:lstStyle/>
          <a:p>
            <a:fld id="{ECBA910D-82EB-F545-8167-DA0C7F9B0A2A}" type="slidenum">
              <a:rPr kumimoji="1" lang="zh-TW" altLang="en-US" smtClean="0"/>
              <a:t>4</a:t>
            </a:fld>
            <a:endParaRPr kumimoji="1" lang="zh-TW" altLang="en-US"/>
          </a:p>
        </p:txBody>
      </p:sp>
      <p:sp>
        <p:nvSpPr>
          <p:cNvPr id="5" name="標題 4">
            <a:extLst>
              <a:ext uri="{FF2B5EF4-FFF2-40B4-BE49-F238E27FC236}">
                <a16:creationId xmlns:a16="http://schemas.microsoft.com/office/drawing/2014/main" id="{6EF452BB-B96C-D443-A195-09BA6D979001}"/>
              </a:ext>
            </a:extLst>
          </p:cNvPr>
          <p:cNvSpPr>
            <a:spLocks noGrp="1"/>
          </p:cNvSpPr>
          <p:nvPr>
            <p:ph type="title"/>
          </p:nvPr>
        </p:nvSpPr>
        <p:spPr/>
        <p:txBody>
          <a:bodyPr/>
          <a:lstStyle/>
          <a:p>
            <a:r>
              <a:rPr kumimoji="1" lang="en-US" altLang="zh-TW" dirty="0" err="1">
                <a:latin typeface="Times New Roman" panose="02020603050405020304" pitchFamily="18" charset="0"/>
                <a:cs typeface="Times New Roman" panose="02020603050405020304" pitchFamily="18" charset="0"/>
              </a:rPr>
              <a:t>Hashi</a:t>
            </a:r>
            <a:r>
              <a:rPr kumimoji="1" lang="en-US" altLang="zh-TW" dirty="0">
                <a:latin typeface="Times New Roman" panose="02020603050405020304" pitchFamily="18" charset="0"/>
                <a:cs typeface="Times New Roman" panose="02020603050405020304" pitchFamily="18" charset="0"/>
              </a:rPr>
              <a:t> Solving Techniques</a:t>
            </a:r>
            <a:endParaRPr lang="zh-TW" altLang="en-US"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a16="http://schemas.microsoft.com/office/drawing/2014/main" id="{8232C3BB-A5AE-6247-8E80-7A7AF85B39F9}"/>
              </a:ext>
            </a:extLst>
          </p:cNvPr>
          <p:cNvSpPr>
            <a:spLocks noGrp="1"/>
          </p:cNvSpPr>
          <p:nvPr>
            <p:ph idx="1"/>
          </p:nvPr>
        </p:nvSpPr>
        <p:spPr/>
        <p:txBody>
          <a:bodyPr/>
          <a:lstStyle/>
          <a:p>
            <a:r>
              <a:rPr lang="en" altLang="zh-TW" dirty="0">
                <a:latin typeface="Times New Roman" panose="02020603050405020304" pitchFamily="18" charset="0"/>
                <a:cs typeface="Times New Roman" panose="02020603050405020304" pitchFamily="18" charset="0"/>
              </a:rPr>
              <a:t>Just Enough Neighbor Technique</a:t>
            </a:r>
          </a:p>
          <a:p>
            <a:r>
              <a:rPr lang="en" altLang="zh-TW" dirty="0">
                <a:latin typeface="Times New Roman" panose="02020603050405020304" pitchFamily="18" charset="0"/>
                <a:cs typeface="Times New Roman" panose="02020603050405020304" pitchFamily="18" charset="0"/>
              </a:rPr>
              <a:t>One Unsolved Neighbor Technique</a:t>
            </a:r>
          </a:p>
          <a:p>
            <a:r>
              <a:rPr lang="en" altLang="zh-TW" dirty="0">
                <a:latin typeface="Times New Roman" panose="02020603050405020304" pitchFamily="18" charset="0"/>
                <a:cs typeface="Times New Roman" panose="02020603050405020304" pitchFamily="18" charset="0"/>
              </a:rPr>
              <a:t>Few Neighbors Technique</a:t>
            </a:r>
          </a:p>
          <a:p>
            <a:r>
              <a:rPr lang="en" altLang="zh-TW" dirty="0">
                <a:latin typeface="Times New Roman" panose="02020603050405020304" pitchFamily="18" charset="0"/>
                <a:cs typeface="Times New Roman" panose="02020603050405020304" pitchFamily="18" charset="0"/>
              </a:rPr>
              <a:t>Leftovers Technique</a:t>
            </a:r>
          </a:p>
          <a:p>
            <a:r>
              <a:rPr lang="en" altLang="zh-TW" dirty="0">
                <a:latin typeface="Times New Roman" panose="02020603050405020304" pitchFamily="18" charset="0"/>
                <a:cs typeface="Times New Roman" panose="02020603050405020304" pitchFamily="18" charset="0"/>
              </a:rPr>
              <a:t>Isolation Technique</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1256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B344935E-6FF2-8E42-BBD9-CD57697DD224}"/>
              </a:ext>
            </a:extLst>
          </p:cNvPr>
          <p:cNvSpPr>
            <a:spLocks noGrp="1"/>
          </p:cNvSpPr>
          <p:nvPr>
            <p:ph type="sldNum" sz="quarter" idx="12"/>
          </p:nvPr>
        </p:nvSpPr>
        <p:spPr/>
        <p:txBody>
          <a:bodyPr/>
          <a:lstStyle/>
          <a:p>
            <a:fld id="{ECBA910D-82EB-F545-8167-DA0C7F9B0A2A}" type="slidenum">
              <a:rPr kumimoji="1" lang="zh-TW" altLang="en-US" smtClean="0"/>
              <a:t>5</a:t>
            </a:fld>
            <a:endParaRPr kumimoji="1" lang="zh-TW" altLang="en-US"/>
          </a:p>
        </p:txBody>
      </p:sp>
      <p:sp>
        <p:nvSpPr>
          <p:cNvPr id="5" name="標題 4">
            <a:extLst>
              <a:ext uri="{FF2B5EF4-FFF2-40B4-BE49-F238E27FC236}">
                <a16:creationId xmlns:a16="http://schemas.microsoft.com/office/drawing/2014/main" id="{6EF452BB-B96C-D443-A195-09BA6D979001}"/>
              </a:ext>
            </a:extLst>
          </p:cNvPr>
          <p:cNvSpPr>
            <a:spLocks noGrp="1"/>
          </p:cNvSpPr>
          <p:nvPr>
            <p:ph type="title"/>
          </p:nvPr>
        </p:nvSpPr>
        <p:spPr/>
        <p:txBody>
          <a:bodyPr/>
          <a:lstStyle/>
          <a:p>
            <a:r>
              <a:rPr kumimoji="1" lang="en-US" altLang="zh-TW" dirty="0" err="1">
                <a:latin typeface="Times New Roman" panose="02020603050405020304" pitchFamily="18" charset="0"/>
                <a:cs typeface="Times New Roman" panose="02020603050405020304" pitchFamily="18" charset="0"/>
              </a:rPr>
              <a:t>Hashi</a:t>
            </a:r>
            <a:r>
              <a:rPr kumimoji="1" lang="en-US" altLang="zh-TW" dirty="0">
                <a:latin typeface="Times New Roman" panose="02020603050405020304" pitchFamily="18" charset="0"/>
                <a:cs typeface="Times New Roman" panose="02020603050405020304" pitchFamily="18" charset="0"/>
              </a:rPr>
              <a:t> Solving Techniques</a:t>
            </a:r>
            <a:endParaRPr lang="zh-TW" altLang="en-US"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a16="http://schemas.microsoft.com/office/drawing/2014/main" id="{8232C3BB-A5AE-6247-8E80-7A7AF85B39F9}"/>
              </a:ext>
            </a:extLst>
          </p:cNvPr>
          <p:cNvSpPr>
            <a:spLocks noGrp="1"/>
          </p:cNvSpPr>
          <p:nvPr>
            <p:ph idx="1"/>
          </p:nvPr>
        </p:nvSpPr>
        <p:spPr/>
        <p:txBody>
          <a:bodyPr/>
          <a:lstStyle/>
          <a:p>
            <a:r>
              <a:rPr lang="en" altLang="zh-TW" dirty="0">
                <a:latin typeface="Times New Roman" panose="02020603050405020304" pitchFamily="18" charset="0"/>
                <a:cs typeface="Times New Roman" panose="02020603050405020304" pitchFamily="18" charset="0"/>
              </a:rPr>
              <a:t>Just Enough Neighbor Technique</a:t>
            </a:r>
          </a:p>
        </p:txBody>
      </p:sp>
      <p:pic>
        <p:nvPicPr>
          <p:cNvPr id="16" name="圖片 15">
            <a:extLst>
              <a:ext uri="{FF2B5EF4-FFF2-40B4-BE49-F238E27FC236}">
                <a16:creationId xmlns:a16="http://schemas.microsoft.com/office/drawing/2014/main" id="{4D8621A2-E1E6-0549-9EC4-F06079C77B17}"/>
              </a:ext>
            </a:extLst>
          </p:cNvPr>
          <p:cNvPicPr>
            <a:picLocks noChangeAspect="1"/>
          </p:cNvPicPr>
          <p:nvPr/>
        </p:nvPicPr>
        <p:blipFill>
          <a:blip r:embed="rId2"/>
          <a:stretch>
            <a:fillRect/>
          </a:stretch>
        </p:blipFill>
        <p:spPr>
          <a:xfrm>
            <a:off x="1523638" y="2729994"/>
            <a:ext cx="9144724" cy="3626356"/>
          </a:xfrm>
          <a:prstGeom prst="rect">
            <a:avLst/>
          </a:prstGeom>
        </p:spPr>
      </p:pic>
    </p:spTree>
    <p:extLst>
      <p:ext uri="{BB962C8B-B14F-4D97-AF65-F5344CB8AC3E}">
        <p14:creationId xmlns:p14="http://schemas.microsoft.com/office/powerpoint/2010/main" val="4125010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B344935E-6FF2-8E42-BBD9-CD57697DD224}"/>
              </a:ext>
            </a:extLst>
          </p:cNvPr>
          <p:cNvSpPr>
            <a:spLocks noGrp="1"/>
          </p:cNvSpPr>
          <p:nvPr>
            <p:ph type="sldNum" sz="quarter" idx="12"/>
          </p:nvPr>
        </p:nvSpPr>
        <p:spPr/>
        <p:txBody>
          <a:bodyPr/>
          <a:lstStyle/>
          <a:p>
            <a:fld id="{ECBA910D-82EB-F545-8167-DA0C7F9B0A2A}" type="slidenum">
              <a:rPr kumimoji="1" lang="zh-TW" altLang="en-US" smtClean="0"/>
              <a:t>6</a:t>
            </a:fld>
            <a:endParaRPr kumimoji="1" lang="zh-TW" altLang="en-US"/>
          </a:p>
        </p:txBody>
      </p:sp>
      <p:sp>
        <p:nvSpPr>
          <p:cNvPr id="5" name="標題 4">
            <a:extLst>
              <a:ext uri="{FF2B5EF4-FFF2-40B4-BE49-F238E27FC236}">
                <a16:creationId xmlns:a16="http://schemas.microsoft.com/office/drawing/2014/main" id="{6EF452BB-B96C-D443-A195-09BA6D979001}"/>
              </a:ext>
            </a:extLst>
          </p:cNvPr>
          <p:cNvSpPr>
            <a:spLocks noGrp="1"/>
          </p:cNvSpPr>
          <p:nvPr>
            <p:ph type="title"/>
          </p:nvPr>
        </p:nvSpPr>
        <p:spPr/>
        <p:txBody>
          <a:bodyPr/>
          <a:lstStyle/>
          <a:p>
            <a:r>
              <a:rPr kumimoji="1" lang="en-US" altLang="zh-TW" dirty="0" err="1">
                <a:latin typeface="Times New Roman" panose="02020603050405020304" pitchFamily="18" charset="0"/>
                <a:cs typeface="Times New Roman" panose="02020603050405020304" pitchFamily="18" charset="0"/>
              </a:rPr>
              <a:t>Hashi</a:t>
            </a:r>
            <a:r>
              <a:rPr kumimoji="1" lang="en-US" altLang="zh-TW" dirty="0">
                <a:latin typeface="Times New Roman" panose="02020603050405020304" pitchFamily="18" charset="0"/>
                <a:cs typeface="Times New Roman" panose="02020603050405020304" pitchFamily="18" charset="0"/>
              </a:rPr>
              <a:t> Solving Techniques</a:t>
            </a:r>
            <a:endParaRPr lang="zh-TW" altLang="en-US"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a16="http://schemas.microsoft.com/office/drawing/2014/main" id="{8232C3BB-A5AE-6247-8E80-7A7AF85B39F9}"/>
              </a:ext>
            </a:extLst>
          </p:cNvPr>
          <p:cNvSpPr>
            <a:spLocks noGrp="1"/>
          </p:cNvSpPr>
          <p:nvPr>
            <p:ph idx="1"/>
          </p:nvPr>
        </p:nvSpPr>
        <p:spPr/>
        <p:txBody>
          <a:bodyPr/>
          <a:lstStyle/>
          <a:p>
            <a:r>
              <a:rPr lang="en" altLang="zh-TW" dirty="0">
                <a:latin typeface="Times New Roman" panose="02020603050405020304" pitchFamily="18" charset="0"/>
                <a:cs typeface="Times New Roman" panose="02020603050405020304" pitchFamily="18" charset="0"/>
              </a:rPr>
              <a:t>One Unsolved Neighbor Technique</a:t>
            </a:r>
          </a:p>
        </p:txBody>
      </p:sp>
      <p:pic>
        <p:nvPicPr>
          <p:cNvPr id="7" name="圖片 6">
            <a:extLst>
              <a:ext uri="{FF2B5EF4-FFF2-40B4-BE49-F238E27FC236}">
                <a16:creationId xmlns:a16="http://schemas.microsoft.com/office/drawing/2014/main" id="{B3EDE72D-61D8-A046-A1F7-773A1637A099}"/>
              </a:ext>
            </a:extLst>
          </p:cNvPr>
          <p:cNvPicPr>
            <a:picLocks noChangeAspect="1"/>
          </p:cNvPicPr>
          <p:nvPr/>
        </p:nvPicPr>
        <p:blipFill>
          <a:blip r:embed="rId2"/>
          <a:stretch>
            <a:fillRect/>
          </a:stretch>
        </p:blipFill>
        <p:spPr>
          <a:xfrm>
            <a:off x="1857885" y="2541866"/>
            <a:ext cx="8476230" cy="3635097"/>
          </a:xfrm>
          <a:prstGeom prst="rect">
            <a:avLst/>
          </a:prstGeom>
        </p:spPr>
      </p:pic>
    </p:spTree>
    <p:extLst>
      <p:ext uri="{BB962C8B-B14F-4D97-AF65-F5344CB8AC3E}">
        <p14:creationId xmlns:p14="http://schemas.microsoft.com/office/powerpoint/2010/main" val="907753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B344935E-6FF2-8E42-BBD9-CD57697DD224}"/>
              </a:ext>
            </a:extLst>
          </p:cNvPr>
          <p:cNvSpPr>
            <a:spLocks noGrp="1"/>
          </p:cNvSpPr>
          <p:nvPr>
            <p:ph type="sldNum" sz="quarter" idx="12"/>
          </p:nvPr>
        </p:nvSpPr>
        <p:spPr/>
        <p:txBody>
          <a:bodyPr/>
          <a:lstStyle/>
          <a:p>
            <a:fld id="{ECBA910D-82EB-F545-8167-DA0C7F9B0A2A}" type="slidenum">
              <a:rPr kumimoji="1" lang="zh-TW" altLang="en-US" smtClean="0"/>
              <a:t>7</a:t>
            </a:fld>
            <a:endParaRPr kumimoji="1" lang="zh-TW" altLang="en-US"/>
          </a:p>
        </p:txBody>
      </p:sp>
      <p:sp>
        <p:nvSpPr>
          <p:cNvPr id="5" name="標題 4">
            <a:extLst>
              <a:ext uri="{FF2B5EF4-FFF2-40B4-BE49-F238E27FC236}">
                <a16:creationId xmlns:a16="http://schemas.microsoft.com/office/drawing/2014/main" id="{6EF452BB-B96C-D443-A195-09BA6D979001}"/>
              </a:ext>
            </a:extLst>
          </p:cNvPr>
          <p:cNvSpPr>
            <a:spLocks noGrp="1"/>
          </p:cNvSpPr>
          <p:nvPr>
            <p:ph type="title"/>
          </p:nvPr>
        </p:nvSpPr>
        <p:spPr/>
        <p:txBody>
          <a:bodyPr/>
          <a:lstStyle/>
          <a:p>
            <a:r>
              <a:rPr kumimoji="1" lang="en-US" altLang="zh-TW" dirty="0" err="1">
                <a:latin typeface="Times New Roman" panose="02020603050405020304" pitchFamily="18" charset="0"/>
                <a:cs typeface="Times New Roman" panose="02020603050405020304" pitchFamily="18" charset="0"/>
              </a:rPr>
              <a:t>Hashi</a:t>
            </a:r>
            <a:r>
              <a:rPr kumimoji="1" lang="en-US" altLang="zh-TW" dirty="0">
                <a:latin typeface="Times New Roman" panose="02020603050405020304" pitchFamily="18" charset="0"/>
                <a:cs typeface="Times New Roman" panose="02020603050405020304" pitchFamily="18" charset="0"/>
              </a:rPr>
              <a:t> Solving Techniques</a:t>
            </a:r>
            <a:endParaRPr lang="zh-TW" altLang="en-US"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a16="http://schemas.microsoft.com/office/drawing/2014/main" id="{8232C3BB-A5AE-6247-8E80-7A7AF85B39F9}"/>
              </a:ext>
            </a:extLst>
          </p:cNvPr>
          <p:cNvSpPr>
            <a:spLocks noGrp="1"/>
          </p:cNvSpPr>
          <p:nvPr>
            <p:ph idx="1"/>
          </p:nvPr>
        </p:nvSpPr>
        <p:spPr/>
        <p:txBody>
          <a:bodyPr/>
          <a:lstStyle/>
          <a:p>
            <a:r>
              <a:rPr lang="en" altLang="zh-TW" dirty="0">
                <a:latin typeface="Times New Roman" panose="02020603050405020304" pitchFamily="18" charset="0"/>
                <a:cs typeface="Times New Roman" panose="02020603050405020304" pitchFamily="18" charset="0"/>
              </a:rPr>
              <a:t>Few Neighbors Technique</a:t>
            </a:r>
          </a:p>
        </p:txBody>
      </p:sp>
      <p:pic>
        <p:nvPicPr>
          <p:cNvPr id="7" name="圖片 6" descr="一張含有 文字, 裝置 的圖片&#10;&#10;自動產生的描述">
            <a:extLst>
              <a:ext uri="{FF2B5EF4-FFF2-40B4-BE49-F238E27FC236}">
                <a16:creationId xmlns:a16="http://schemas.microsoft.com/office/drawing/2014/main" id="{458EE514-0CAC-6A49-9199-CA0AD5FE475B}"/>
              </a:ext>
            </a:extLst>
          </p:cNvPr>
          <p:cNvPicPr>
            <a:picLocks noChangeAspect="1"/>
          </p:cNvPicPr>
          <p:nvPr/>
        </p:nvPicPr>
        <p:blipFill>
          <a:blip r:embed="rId2"/>
          <a:stretch>
            <a:fillRect/>
          </a:stretch>
        </p:blipFill>
        <p:spPr>
          <a:xfrm>
            <a:off x="1800691" y="2600325"/>
            <a:ext cx="8590617" cy="3576638"/>
          </a:xfrm>
          <a:prstGeom prst="rect">
            <a:avLst/>
          </a:prstGeom>
        </p:spPr>
      </p:pic>
    </p:spTree>
    <p:extLst>
      <p:ext uri="{BB962C8B-B14F-4D97-AF65-F5344CB8AC3E}">
        <p14:creationId xmlns:p14="http://schemas.microsoft.com/office/powerpoint/2010/main" val="2336690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B344935E-6FF2-8E42-BBD9-CD57697DD224}"/>
              </a:ext>
            </a:extLst>
          </p:cNvPr>
          <p:cNvSpPr>
            <a:spLocks noGrp="1"/>
          </p:cNvSpPr>
          <p:nvPr>
            <p:ph type="sldNum" sz="quarter" idx="12"/>
          </p:nvPr>
        </p:nvSpPr>
        <p:spPr/>
        <p:txBody>
          <a:bodyPr/>
          <a:lstStyle/>
          <a:p>
            <a:fld id="{ECBA910D-82EB-F545-8167-DA0C7F9B0A2A}" type="slidenum">
              <a:rPr kumimoji="1" lang="zh-TW" altLang="en-US" smtClean="0"/>
              <a:t>8</a:t>
            </a:fld>
            <a:endParaRPr kumimoji="1" lang="zh-TW" altLang="en-US"/>
          </a:p>
        </p:txBody>
      </p:sp>
      <p:sp>
        <p:nvSpPr>
          <p:cNvPr id="5" name="標題 4">
            <a:extLst>
              <a:ext uri="{FF2B5EF4-FFF2-40B4-BE49-F238E27FC236}">
                <a16:creationId xmlns:a16="http://schemas.microsoft.com/office/drawing/2014/main" id="{6EF452BB-B96C-D443-A195-09BA6D979001}"/>
              </a:ext>
            </a:extLst>
          </p:cNvPr>
          <p:cNvSpPr>
            <a:spLocks noGrp="1"/>
          </p:cNvSpPr>
          <p:nvPr>
            <p:ph type="title"/>
          </p:nvPr>
        </p:nvSpPr>
        <p:spPr/>
        <p:txBody>
          <a:bodyPr/>
          <a:lstStyle/>
          <a:p>
            <a:r>
              <a:rPr kumimoji="1" lang="en-US" altLang="zh-TW" dirty="0" err="1">
                <a:latin typeface="Times New Roman" panose="02020603050405020304" pitchFamily="18" charset="0"/>
                <a:cs typeface="Times New Roman" panose="02020603050405020304" pitchFamily="18" charset="0"/>
              </a:rPr>
              <a:t>Hashi</a:t>
            </a:r>
            <a:r>
              <a:rPr kumimoji="1" lang="en-US" altLang="zh-TW" dirty="0">
                <a:latin typeface="Times New Roman" panose="02020603050405020304" pitchFamily="18" charset="0"/>
                <a:cs typeface="Times New Roman" panose="02020603050405020304" pitchFamily="18" charset="0"/>
              </a:rPr>
              <a:t> Solving Techniques</a:t>
            </a:r>
            <a:endParaRPr lang="zh-TW" altLang="en-US"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a16="http://schemas.microsoft.com/office/drawing/2014/main" id="{8232C3BB-A5AE-6247-8E80-7A7AF85B39F9}"/>
              </a:ext>
            </a:extLst>
          </p:cNvPr>
          <p:cNvSpPr>
            <a:spLocks noGrp="1"/>
          </p:cNvSpPr>
          <p:nvPr>
            <p:ph idx="1"/>
          </p:nvPr>
        </p:nvSpPr>
        <p:spPr/>
        <p:txBody>
          <a:bodyPr/>
          <a:lstStyle/>
          <a:p>
            <a:r>
              <a:rPr lang="en" altLang="zh-TW" dirty="0">
                <a:latin typeface="Times New Roman" panose="02020603050405020304" pitchFamily="18" charset="0"/>
                <a:cs typeface="Times New Roman" panose="02020603050405020304" pitchFamily="18" charset="0"/>
              </a:rPr>
              <a:t>Leftovers Technique</a:t>
            </a:r>
          </a:p>
        </p:txBody>
      </p:sp>
      <p:pic>
        <p:nvPicPr>
          <p:cNvPr id="4" name="圖片 3" descr="一張含有 裝置, 秤、比例、音階, 吉他 的圖片&#10;&#10;自動產生的描述">
            <a:extLst>
              <a:ext uri="{FF2B5EF4-FFF2-40B4-BE49-F238E27FC236}">
                <a16:creationId xmlns:a16="http://schemas.microsoft.com/office/drawing/2014/main" id="{7D57D7CC-51E9-1F47-945F-2BF341211496}"/>
              </a:ext>
            </a:extLst>
          </p:cNvPr>
          <p:cNvPicPr>
            <a:picLocks noChangeAspect="1"/>
          </p:cNvPicPr>
          <p:nvPr/>
        </p:nvPicPr>
        <p:blipFill>
          <a:blip r:embed="rId2"/>
          <a:stretch>
            <a:fillRect/>
          </a:stretch>
        </p:blipFill>
        <p:spPr>
          <a:xfrm>
            <a:off x="2021373" y="2743200"/>
            <a:ext cx="8149253" cy="3433763"/>
          </a:xfrm>
          <a:prstGeom prst="rect">
            <a:avLst/>
          </a:prstGeom>
        </p:spPr>
      </p:pic>
    </p:spTree>
    <p:extLst>
      <p:ext uri="{BB962C8B-B14F-4D97-AF65-F5344CB8AC3E}">
        <p14:creationId xmlns:p14="http://schemas.microsoft.com/office/powerpoint/2010/main" val="4123165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B344935E-6FF2-8E42-BBD9-CD57697DD224}"/>
              </a:ext>
            </a:extLst>
          </p:cNvPr>
          <p:cNvSpPr>
            <a:spLocks noGrp="1"/>
          </p:cNvSpPr>
          <p:nvPr>
            <p:ph type="sldNum" sz="quarter" idx="12"/>
          </p:nvPr>
        </p:nvSpPr>
        <p:spPr/>
        <p:txBody>
          <a:bodyPr/>
          <a:lstStyle/>
          <a:p>
            <a:fld id="{ECBA910D-82EB-F545-8167-DA0C7F9B0A2A}" type="slidenum">
              <a:rPr kumimoji="1" lang="zh-TW" altLang="en-US" smtClean="0"/>
              <a:t>9</a:t>
            </a:fld>
            <a:endParaRPr kumimoji="1" lang="zh-TW" altLang="en-US"/>
          </a:p>
        </p:txBody>
      </p:sp>
      <p:sp>
        <p:nvSpPr>
          <p:cNvPr id="5" name="標題 4">
            <a:extLst>
              <a:ext uri="{FF2B5EF4-FFF2-40B4-BE49-F238E27FC236}">
                <a16:creationId xmlns:a16="http://schemas.microsoft.com/office/drawing/2014/main" id="{6EF452BB-B96C-D443-A195-09BA6D979001}"/>
              </a:ext>
            </a:extLst>
          </p:cNvPr>
          <p:cNvSpPr>
            <a:spLocks noGrp="1"/>
          </p:cNvSpPr>
          <p:nvPr>
            <p:ph type="title"/>
          </p:nvPr>
        </p:nvSpPr>
        <p:spPr/>
        <p:txBody>
          <a:bodyPr/>
          <a:lstStyle/>
          <a:p>
            <a:r>
              <a:rPr kumimoji="1" lang="en-US" altLang="zh-TW" dirty="0" err="1">
                <a:latin typeface="Times New Roman" panose="02020603050405020304" pitchFamily="18" charset="0"/>
                <a:cs typeface="Times New Roman" panose="02020603050405020304" pitchFamily="18" charset="0"/>
              </a:rPr>
              <a:t>Hashi</a:t>
            </a:r>
            <a:r>
              <a:rPr kumimoji="1" lang="en-US" altLang="zh-TW" dirty="0">
                <a:latin typeface="Times New Roman" panose="02020603050405020304" pitchFamily="18" charset="0"/>
                <a:cs typeface="Times New Roman" panose="02020603050405020304" pitchFamily="18" charset="0"/>
              </a:rPr>
              <a:t> Solving Techniques</a:t>
            </a:r>
            <a:endParaRPr lang="zh-TW" altLang="en-US"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a16="http://schemas.microsoft.com/office/drawing/2014/main" id="{8232C3BB-A5AE-6247-8E80-7A7AF85B39F9}"/>
              </a:ext>
            </a:extLst>
          </p:cNvPr>
          <p:cNvSpPr>
            <a:spLocks noGrp="1"/>
          </p:cNvSpPr>
          <p:nvPr>
            <p:ph idx="1"/>
          </p:nvPr>
        </p:nvSpPr>
        <p:spPr/>
        <p:txBody>
          <a:bodyPr/>
          <a:lstStyle/>
          <a:p>
            <a:r>
              <a:rPr lang="en" altLang="zh-TW" dirty="0">
                <a:latin typeface="Times New Roman" panose="02020603050405020304" pitchFamily="18" charset="0"/>
                <a:cs typeface="Times New Roman" panose="02020603050405020304" pitchFamily="18" charset="0"/>
              </a:rPr>
              <a:t>Isolation Technique</a:t>
            </a:r>
            <a:endParaRPr lang="zh-TW" altLang="en-US" dirty="0">
              <a:latin typeface="Times New Roman" panose="02020603050405020304" pitchFamily="18" charset="0"/>
              <a:cs typeface="Times New Roman" panose="02020603050405020304" pitchFamily="18" charset="0"/>
            </a:endParaRPr>
          </a:p>
        </p:txBody>
      </p:sp>
      <p:pic>
        <p:nvPicPr>
          <p:cNvPr id="4" name="圖片 3" descr="一張含有 文字, 裝置, 吉他 的圖片&#10;&#10;自動產生的描述">
            <a:extLst>
              <a:ext uri="{FF2B5EF4-FFF2-40B4-BE49-F238E27FC236}">
                <a16:creationId xmlns:a16="http://schemas.microsoft.com/office/drawing/2014/main" id="{57B4B50D-2E3A-0E4E-9036-4C46798B2F1F}"/>
              </a:ext>
            </a:extLst>
          </p:cNvPr>
          <p:cNvPicPr>
            <a:picLocks noChangeAspect="1"/>
          </p:cNvPicPr>
          <p:nvPr/>
        </p:nvPicPr>
        <p:blipFill>
          <a:blip r:embed="rId2"/>
          <a:stretch>
            <a:fillRect/>
          </a:stretch>
        </p:blipFill>
        <p:spPr>
          <a:xfrm>
            <a:off x="2025247" y="2724451"/>
            <a:ext cx="8141505" cy="3452512"/>
          </a:xfrm>
          <a:prstGeom prst="rect">
            <a:avLst/>
          </a:prstGeom>
        </p:spPr>
      </p:pic>
    </p:spTree>
    <p:extLst>
      <p:ext uri="{BB962C8B-B14F-4D97-AF65-F5344CB8AC3E}">
        <p14:creationId xmlns:p14="http://schemas.microsoft.com/office/powerpoint/2010/main" val="1799775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B344935E-6FF2-8E42-BBD9-CD57697DD224}"/>
              </a:ext>
            </a:extLst>
          </p:cNvPr>
          <p:cNvSpPr>
            <a:spLocks noGrp="1"/>
          </p:cNvSpPr>
          <p:nvPr>
            <p:ph type="sldNum" sz="quarter" idx="12"/>
          </p:nvPr>
        </p:nvSpPr>
        <p:spPr/>
        <p:txBody>
          <a:bodyPr/>
          <a:lstStyle/>
          <a:p>
            <a:fld id="{ECBA910D-82EB-F545-8167-DA0C7F9B0A2A}" type="slidenum">
              <a:rPr kumimoji="1" lang="zh-TW" altLang="en-US" smtClean="0"/>
              <a:t>10</a:t>
            </a:fld>
            <a:endParaRPr kumimoji="1" lang="zh-TW" altLang="en-US"/>
          </a:p>
        </p:txBody>
      </p:sp>
      <p:sp>
        <p:nvSpPr>
          <p:cNvPr id="4" name="標題 3">
            <a:extLst>
              <a:ext uri="{FF2B5EF4-FFF2-40B4-BE49-F238E27FC236}">
                <a16:creationId xmlns:a16="http://schemas.microsoft.com/office/drawing/2014/main" id="{B539C388-314D-E048-A3E7-42584191348F}"/>
              </a:ext>
            </a:extLst>
          </p:cNvPr>
          <p:cNvSpPr>
            <a:spLocks noGrp="1"/>
          </p:cNvSpPr>
          <p:nvPr>
            <p:ph type="title"/>
          </p:nvPr>
        </p:nvSpPr>
        <p:spPr/>
        <p:txBody>
          <a:bodyPr/>
          <a:lstStyle/>
          <a:p>
            <a:r>
              <a:rPr lang="en" altLang="zh-TW" dirty="0">
                <a:latin typeface="Times New Roman" panose="02020603050405020304" pitchFamily="18" charset="0"/>
                <a:cs typeface="Times New Roman" panose="02020603050405020304" pitchFamily="18" charset="0"/>
              </a:rPr>
              <a:t>Depth First Search</a:t>
            </a:r>
            <a:endParaRPr lang="zh-TW" altLang="en-US" dirty="0"/>
          </a:p>
        </p:txBody>
      </p:sp>
      <p:pic>
        <p:nvPicPr>
          <p:cNvPr id="5" name="圖片 4" descr="一張含有 圖表 的圖片&#10;&#10;自動產生的描述">
            <a:extLst>
              <a:ext uri="{FF2B5EF4-FFF2-40B4-BE49-F238E27FC236}">
                <a16:creationId xmlns:a16="http://schemas.microsoft.com/office/drawing/2014/main" id="{2176E9AF-F0D8-FD43-A181-B339902D6C2E}"/>
              </a:ext>
            </a:extLst>
          </p:cNvPr>
          <p:cNvPicPr>
            <a:picLocks noChangeAspect="1"/>
          </p:cNvPicPr>
          <p:nvPr/>
        </p:nvPicPr>
        <p:blipFill>
          <a:blip r:embed="rId3"/>
          <a:stretch>
            <a:fillRect/>
          </a:stretch>
        </p:blipFill>
        <p:spPr>
          <a:xfrm>
            <a:off x="1037239" y="2073833"/>
            <a:ext cx="3776190" cy="3745614"/>
          </a:xfrm>
          <a:prstGeom prst="rect">
            <a:avLst/>
          </a:prstGeom>
        </p:spPr>
      </p:pic>
      <p:grpSp>
        <p:nvGrpSpPr>
          <p:cNvPr id="81" name="群組 80">
            <a:extLst>
              <a:ext uri="{FF2B5EF4-FFF2-40B4-BE49-F238E27FC236}">
                <a16:creationId xmlns:a16="http://schemas.microsoft.com/office/drawing/2014/main" id="{6289189C-2513-114D-B43B-628D3BB0370D}"/>
              </a:ext>
            </a:extLst>
          </p:cNvPr>
          <p:cNvGrpSpPr/>
          <p:nvPr/>
        </p:nvGrpSpPr>
        <p:grpSpPr>
          <a:xfrm>
            <a:off x="5547739" y="643731"/>
            <a:ext cx="5910256" cy="5919218"/>
            <a:chOff x="5547739" y="643731"/>
            <a:chExt cx="5910256" cy="5919218"/>
          </a:xfrm>
        </p:grpSpPr>
        <p:grpSp>
          <p:nvGrpSpPr>
            <p:cNvPr id="80" name="群組 79">
              <a:extLst>
                <a:ext uri="{FF2B5EF4-FFF2-40B4-BE49-F238E27FC236}">
                  <a16:creationId xmlns:a16="http://schemas.microsoft.com/office/drawing/2014/main" id="{8C56B3AD-3540-8446-8004-D33A0FF746E7}"/>
                </a:ext>
              </a:extLst>
            </p:cNvPr>
            <p:cNvGrpSpPr/>
            <p:nvPr/>
          </p:nvGrpSpPr>
          <p:grpSpPr>
            <a:xfrm>
              <a:off x="5547739" y="643731"/>
              <a:ext cx="5910256" cy="5919218"/>
              <a:chOff x="5776367" y="632490"/>
              <a:chExt cx="5910256" cy="5919218"/>
            </a:xfrm>
          </p:grpSpPr>
          <p:sp>
            <p:nvSpPr>
              <p:cNvPr id="42" name="文字方塊 41">
                <a:extLst>
                  <a:ext uri="{FF2B5EF4-FFF2-40B4-BE49-F238E27FC236}">
                    <a16:creationId xmlns:a16="http://schemas.microsoft.com/office/drawing/2014/main" id="{AFFC3493-C110-4845-9D7F-00E05A5676C9}"/>
                  </a:ext>
                </a:extLst>
              </p:cNvPr>
              <p:cNvSpPr txBox="1"/>
              <p:nvPr/>
            </p:nvSpPr>
            <p:spPr>
              <a:xfrm>
                <a:off x="5776367" y="1948557"/>
                <a:ext cx="1213794" cy="707886"/>
              </a:xfrm>
              <a:prstGeom prst="rect">
                <a:avLst/>
              </a:prstGeom>
              <a:noFill/>
            </p:spPr>
            <p:txBody>
              <a:bodyPr wrap="none" rtlCol="0">
                <a:spAutoFit/>
              </a:bodyPr>
              <a:lstStyle/>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Right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2</a:t>
                </a:r>
              </a:p>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Down</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0</a:t>
                </a:r>
                <a:endPar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endParaRPr>
              </a:p>
            </p:txBody>
          </p:sp>
          <p:grpSp>
            <p:nvGrpSpPr>
              <p:cNvPr id="79" name="群組 78">
                <a:extLst>
                  <a:ext uri="{FF2B5EF4-FFF2-40B4-BE49-F238E27FC236}">
                    <a16:creationId xmlns:a16="http://schemas.microsoft.com/office/drawing/2014/main" id="{E81A683C-DC4D-0649-9985-BBE94286DE8B}"/>
                  </a:ext>
                </a:extLst>
              </p:cNvPr>
              <p:cNvGrpSpPr/>
              <p:nvPr/>
            </p:nvGrpSpPr>
            <p:grpSpPr>
              <a:xfrm>
                <a:off x="6576628" y="632490"/>
                <a:ext cx="5109995" cy="5919218"/>
                <a:chOff x="6576628" y="632490"/>
                <a:chExt cx="5109995" cy="5919218"/>
              </a:xfrm>
            </p:grpSpPr>
            <p:sp>
              <p:nvSpPr>
                <p:cNvPr id="10" name="橢圓 9">
                  <a:extLst>
                    <a:ext uri="{FF2B5EF4-FFF2-40B4-BE49-F238E27FC236}">
                      <a16:creationId xmlns:a16="http://schemas.microsoft.com/office/drawing/2014/main" id="{302DA117-E896-5245-8668-2467C47A9A33}"/>
                    </a:ext>
                  </a:extLst>
                </p:cNvPr>
                <p:cNvSpPr/>
                <p:nvPr/>
              </p:nvSpPr>
              <p:spPr>
                <a:xfrm>
                  <a:off x="8209005" y="632490"/>
                  <a:ext cx="803189" cy="790832"/>
                </a:xfrm>
                <a:prstGeom prst="ellipse">
                  <a:avLst/>
                </a:prstGeom>
                <a:solidFill>
                  <a:schemeClr val="bg1"/>
                </a:solid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kumimoji="1" lang="en-US" altLang="zh-TW" sz="2000" b="1" dirty="0">
                      <a:solidFill>
                        <a:schemeClr val="accent6">
                          <a:lumMod val="50000"/>
                        </a:schemeClr>
                      </a:solidFill>
                      <a:latin typeface="Times New Roman" panose="02020603050405020304" pitchFamily="18" charset="0"/>
                      <a:cs typeface="Times New Roman" panose="02020603050405020304" pitchFamily="18" charset="0"/>
                    </a:rPr>
                    <a:t>C3</a:t>
                  </a:r>
                </a:p>
                <a:p>
                  <a:pPr algn="ctr"/>
                  <a:r>
                    <a:rPr kumimoji="1" lang="en-US" altLang="zh-TW" sz="2000" b="1" dirty="0">
                      <a:latin typeface="Times New Roman" panose="02020603050405020304" pitchFamily="18" charset="0"/>
                      <a:cs typeface="Times New Roman" panose="02020603050405020304" pitchFamily="18" charset="0"/>
                    </a:rPr>
                    <a:t>(2)</a:t>
                  </a:r>
                  <a:endParaRPr kumimoji="1" lang="zh-TW" altLang="en-US" sz="2000" b="1" dirty="0">
                    <a:latin typeface="Times New Roman" panose="02020603050405020304" pitchFamily="18" charset="0"/>
                    <a:cs typeface="Times New Roman" panose="02020603050405020304" pitchFamily="18" charset="0"/>
                  </a:endParaRPr>
                </a:p>
              </p:txBody>
            </p:sp>
            <p:sp>
              <p:nvSpPr>
                <p:cNvPr id="15" name="橢圓 14">
                  <a:extLst>
                    <a:ext uri="{FF2B5EF4-FFF2-40B4-BE49-F238E27FC236}">
                      <a16:creationId xmlns:a16="http://schemas.microsoft.com/office/drawing/2014/main" id="{B65BF17D-6827-C64A-8204-2B09BDD13220}"/>
                    </a:ext>
                  </a:extLst>
                </p:cNvPr>
                <p:cNvSpPr/>
                <p:nvPr/>
              </p:nvSpPr>
              <p:spPr>
                <a:xfrm>
                  <a:off x="6933874" y="1878228"/>
                  <a:ext cx="803189" cy="790832"/>
                </a:xfrm>
                <a:prstGeom prst="ellipse">
                  <a:avLst/>
                </a:prstGeom>
                <a:solidFill>
                  <a:schemeClr val="bg1"/>
                </a:solid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kumimoji="1" lang="en-US" altLang="zh-TW" sz="2000" b="1" dirty="0">
                      <a:solidFill>
                        <a:schemeClr val="accent6">
                          <a:lumMod val="50000"/>
                        </a:schemeClr>
                      </a:solidFill>
                      <a:latin typeface="Times New Roman" panose="02020603050405020304" pitchFamily="18" charset="0"/>
                      <a:cs typeface="Times New Roman" panose="02020603050405020304" pitchFamily="18" charset="0"/>
                    </a:rPr>
                    <a:t>C5</a:t>
                  </a:r>
                </a:p>
                <a:p>
                  <a:pPr algn="ctr"/>
                  <a:r>
                    <a:rPr kumimoji="1" lang="en-US" altLang="zh-TW" sz="2000" b="1" dirty="0">
                      <a:latin typeface="Times New Roman" panose="02020603050405020304" pitchFamily="18" charset="0"/>
                      <a:cs typeface="Times New Roman" panose="02020603050405020304" pitchFamily="18" charset="0"/>
                    </a:rPr>
                    <a:t>(2)</a:t>
                  </a:r>
                  <a:endParaRPr kumimoji="1" lang="zh-TW" altLang="en-US" sz="2000" b="1" dirty="0">
                    <a:latin typeface="Times New Roman" panose="02020603050405020304" pitchFamily="18" charset="0"/>
                    <a:cs typeface="Times New Roman" panose="02020603050405020304" pitchFamily="18" charset="0"/>
                  </a:endParaRPr>
                </a:p>
              </p:txBody>
            </p:sp>
            <p:sp>
              <p:nvSpPr>
                <p:cNvPr id="16" name="橢圓 15">
                  <a:extLst>
                    <a:ext uri="{FF2B5EF4-FFF2-40B4-BE49-F238E27FC236}">
                      <a16:creationId xmlns:a16="http://schemas.microsoft.com/office/drawing/2014/main" id="{1087517B-4DD8-0442-9BAA-1491DED6598E}"/>
                    </a:ext>
                  </a:extLst>
                </p:cNvPr>
                <p:cNvSpPr/>
                <p:nvPr/>
              </p:nvSpPr>
              <p:spPr>
                <a:xfrm>
                  <a:off x="9580605" y="1900490"/>
                  <a:ext cx="803189" cy="790832"/>
                </a:xfrm>
                <a:prstGeom prst="ellipse">
                  <a:avLst/>
                </a:prstGeom>
                <a:solidFill>
                  <a:schemeClr val="bg1"/>
                </a:solid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kumimoji="1" lang="en-US" altLang="zh-TW" sz="2000" b="1" dirty="0">
                      <a:solidFill>
                        <a:schemeClr val="accent6">
                          <a:lumMod val="50000"/>
                        </a:schemeClr>
                      </a:solidFill>
                      <a:latin typeface="Times New Roman" panose="02020603050405020304" pitchFamily="18" charset="0"/>
                      <a:cs typeface="Times New Roman" panose="02020603050405020304" pitchFamily="18" charset="0"/>
                    </a:rPr>
                    <a:t>C5</a:t>
                  </a:r>
                </a:p>
                <a:p>
                  <a:pPr algn="ctr"/>
                  <a:r>
                    <a:rPr kumimoji="1" lang="en-US" altLang="zh-TW" sz="2000" b="1" dirty="0">
                      <a:latin typeface="Times New Roman" panose="02020603050405020304" pitchFamily="18" charset="0"/>
                      <a:cs typeface="Times New Roman" panose="02020603050405020304" pitchFamily="18" charset="0"/>
                    </a:rPr>
                    <a:t>(2)</a:t>
                  </a:r>
                  <a:endParaRPr kumimoji="1" lang="zh-TW" altLang="en-US" sz="2000" b="1" dirty="0">
                    <a:latin typeface="Times New Roman" panose="02020603050405020304" pitchFamily="18" charset="0"/>
                    <a:cs typeface="Times New Roman" panose="02020603050405020304" pitchFamily="18" charset="0"/>
                  </a:endParaRPr>
                </a:p>
              </p:txBody>
            </p:sp>
            <p:sp>
              <p:nvSpPr>
                <p:cNvPr id="18" name="橢圓 17">
                  <a:extLst>
                    <a:ext uri="{FF2B5EF4-FFF2-40B4-BE49-F238E27FC236}">
                      <a16:creationId xmlns:a16="http://schemas.microsoft.com/office/drawing/2014/main" id="{65696AE2-D7E3-D34B-88EC-DD68B63EEDE6}"/>
                    </a:ext>
                  </a:extLst>
                </p:cNvPr>
                <p:cNvSpPr/>
                <p:nvPr/>
              </p:nvSpPr>
              <p:spPr>
                <a:xfrm>
                  <a:off x="9580605" y="3216818"/>
                  <a:ext cx="803189" cy="790832"/>
                </a:xfrm>
                <a:prstGeom prst="ellipse">
                  <a:avLst/>
                </a:prstGeom>
                <a:solidFill>
                  <a:schemeClr val="bg1"/>
                </a:solid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kumimoji="1" lang="en-US" altLang="zh-TW" sz="2000" b="1" dirty="0">
                      <a:solidFill>
                        <a:schemeClr val="accent6">
                          <a:lumMod val="50000"/>
                        </a:schemeClr>
                      </a:solidFill>
                      <a:latin typeface="Times New Roman" panose="02020603050405020304" pitchFamily="18" charset="0"/>
                      <a:cs typeface="Times New Roman" panose="02020603050405020304" pitchFamily="18" charset="0"/>
                    </a:rPr>
                    <a:t>E5</a:t>
                  </a:r>
                </a:p>
                <a:p>
                  <a:pPr algn="ctr"/>
                  <a:r>
                    <a:rPr kumimoji="1" lang="en-US" altLang="zh-TW" sz="2000" b="1" dirty="0">
                      <a:latin typeface="Times New Roman" panose="02020603050405020304" pitchFamily="18" charset="0"/>
                      <a:cs typeface="Times New Roman" panose="02020603050405020304" pitchFamily="18" charset="0"/>
                    </a:rPr>
                    <a:t>(3)</a:t>
                  </a:r>
                  <a:endParaRPr kumimoji="1" lang="zh-TW" altLang="en-US" sz="2000" b="1" dirty="0">
                    <a:latin typeface="Times New Roman" panose="02020603050405020304" pitchFamily="18" charset="0"/>
                    <a:cs typeface="Times New Roman" panose="02020603050405020304" pitchFamily="18" charset="0"/>
                  </a:endParaRPr>
                </a:p>
              </p:txBody>
            </p:sp>
            <p:sp>
              <p:nvSpPr>
                <p:cNvPr id="19" name="橢圓 18">
                  <a:extLst>
                    <a:ext uri="{FF2B5EF4-FFF2-40B4-BE49-F238E27FC236}">
                      <a16:creationId xmlns:a16="http://schemas.microsoft.com/office/drawing/2014/main" id="{D05E5992-F46F-FA49-AE42-A79AE84D0289}"/>
                    </a:ext>
                  </a:extLst>
                </p:cNvPr>
                <p:cNvSpPr/>
                <p:nvPr/>
              </p:nvSpPr>
              <p:spPr>
                <a:xfrm>
                  <a:off x="9580604" y="4533146"/>
                  <a:ext cx="803189" cy="790832"/>
                </a:xfrm>
                <a:prstGeom prst="ellipse">
                  <a:avLst/>
                </a:prstGeom>
                <a:solidFill>
                  <a:schemeClr val="bg1"/>
                </a:solid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kumimoji="1" lang="en-US" altLang="zh-TW" sz="2000" b="1" dirty="0">
                      <a:solidFill>
                        <a:schemeClr val="accent6">
                          <a:lumMod val="50000"/>
                        </a:schemeClr>
                      </a:solidFill>
                      <a:latin typeface="Times New Roman" panose="02020603050405020304" pitchFamily="18" charset="0"/>
                      <a:cs typeface="Times New Roman" panose="02020603050405020304" pitchFamily="18" charset="0"/>
                    </a:rPr>
                    <a:t>E3</a:t>
                  </a:r>
                </a:p>
                <a:p>
                  <a:pPr algn="ctr"/>
                  <a:r>
                    <a:rPr kumimoji="1" lang="en-US" altLang="zh-TW" sz="2000" b="1" dirty="0">
                      <a:latin typeface="Times New Roman" panose="02020603050405020304" pitchFamily="18" charset="0"/>
                      <a:cs typeface="Times New Roman" panose="02020603050405020304" pitchFamily="18" charset="0"/>
                    </a:rPr>
                    <a:t>(3)</a:t>
                  </a:r>
                  <a:endParaRPr kumimoji="1" lang="zh-TW" altLang="en-US" sz="2000" b="1" dirty="0">
                    <a:latin typeface="Times New Roman" panose="02020603050405020304" pitchFamily="18" charset="0"/>
                    <a:cs typeface="Times New Roman" panose="02020603050405020304" pitchFamily="18" charset="0"/>
                  </a:endParaRPr>
                </a:p>
              </p:txBody>
            </p:sp>
            <p:cxnSp>
              <p:nvCxnSpPr>
                <p:cNvPr id="22" name="直線接點 21">
                  <a:extLst>
                    <a:ext uri="{FF2B5EF4-FFF2-40B4-BE49-F238E27FC236}">
                      <a16:creationId xmlns:a16="http://schemas.microsoft.com/office/drawing/2014/main" id="{CEDADDB8-FC0D-1A4A-A45B-6FDA42525814}"/>
                    </a:ext>
                  </a:extLst>
                </p:cNvPr>
                <p:cNvCxnSpPr>
                  <a:stCxn id="10" idx="3"/>
                  <a:endCxn id="15" idx="0"/>
                </p:cNvCxnSpPr>
                <p:nvPr/>
              </p:nvCxnSpPr>
              <p:spPr>
                <a:xfrm flipH="1">
                  <a:off x="7335469" y="1307507"/>
                  <a:ext cx="991160" cy="570721"/>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B0F78BB9-0928-0647-B75B-05203B3531C0}"/>
                    </a:ext>
                  </a:extLst>
                </p:cNvPr>
                <p:cNvCxnSpPr>
                  <a:cxnSpLocks/>
                  <a:stCxn id="10" idx="5"/>
                  <a:endCxn id="16" idx="0"/>
                </p:cNvCxnSpPr>
                <p:nvPr/>
              </p:nvCxnSpPr>
              <p:spPr>
                <a:xfrm>
                  <a:off x="8894570" y="1307507"/>
                  <a:ext cx="1087630" cy="592983"/>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EC9037A5-6E37-C448-8EAD-BA6C0DF5BA36}"/>
                    </a:ext>
                  </a:extLst>
                </p:cNvPr>
                <p:cNvCxnSpPr>
                  <a:cxnSpLocks/>
                  <a:stCxn id="15" idx="4"/>
                  <a:endCxn id="44" idx="0"/>
                </p:cNvCxnSpPr>
                <p:nvPr/>
              </p:nvCxnSpPr>
              <p:spPr>
                <a:xfrm flipH="1">
                  <a:off x="7335468" y="2669060"/>
                  <a:ext cx="1" cy="555307"/>
                </a:xfrm>
                <a:prstGeom prst="line">
                  <a:avLst/>
                </a:prstGeom>
                <a:ln w="3810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E03074B0-2257-6541-85EB-D596A60A3F12}"/>
                    </a:ext>
                  </a:extLst>
                </p:cNvPr>
                <p:cNvCxnSpPr>
                  <a:cxnSpLocks/>
                  <a:stCxn id="16" idx="4"/>
                  <a:endCxn id="18" idx="0"/>
                </p:cNvCxnSpPr>
                <p:nvPr/>
              </p:nvCxnSpPr>
              <p:spPr>
                <a:xfrm>
                  <a:off x="9982200" y="2691322"/>
                  <a:ext cx="0" cy="525496"/>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4D8E5984-BDBE-CA40-95CE-AC22046E6AD1}"/>
                    </a:ext>
                  </a:extLst>
                </p:cNvPr>
                <p:cNvCxnSpPr>
                  <a:cxnSpLocks/>
                  <a:stCxn id="18" idx="4"/>
                  <a:endCxn id="19" idx="0"/>
                </p:cNvCxnSpPr>
                <p:nvPr/>
              </p:nvCxnSpPr>
              <p:spPr>
                <a:xfrm flipH="1">
                  <a:off x="9982199" y="4007650"/>
                  <a:ext cx="1" cy="525496"/>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7D2AFDC1-6F2F-704A-9E12-72414FC0579F}"/>
                    </a:ext>
                  </a:extLst>
                </p:cNvPr>
                <p:cNvCxnSpPr>
                  <a:cxnSpLocks/>
                  <a:stCxn id="19" idx="4"/>
                </p:cNvCxnSpPr>
                <p:nvPr/>
              </p:nvCxnSpPr>
              <p:spPr>
                <a:xfrm>
                  <a:off x="9982199" y="5323978"/>
                  <a:ext cx="9221" cy="595428"/>
                </a:xfrm>
                <a:prstGeom prst="line">
                  <a:avLst/>
                </a:prstGeom>
                <a:ln w="3810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EDD98FEF-BF4E-0142-938B-DE1037B689ED}"/>
                    </a:ext>
                  </a:extLst>
                </p:cNvPr>
                <p:cNvSpPr txBox="1"/>
                <p:nvPr/>
              </p:nvSpPr>
              <p:spPr>
                <a:xfrm>
                  <a:off x="10472165" y="1972740"/>
                  <a:ext cx="1213794" cy="707886"/>
                </a:xfrm>
                <a:prstGeom prst="rect">
                  <a:avLst/>
                </a:prstGeom>
                <a:noFill/>
              </p:spPr>
              <p:txBody>
                <a:bodyPr wrap="none" rtlCol="0">
                  <a:spAutoFit/>
                </a:bodyPr>
                <a:lstStyle/>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Right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1</a:t>
                  </a:r>
                </a:p>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Down</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1</a:t>
                  </a:r>
                  <a:endPar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4" name="文字方塊 43">
                  <a:extLst>
                    <a:ext uri="{FF2B5EF4-FFF2-40B4-BE49-F238E27FC236}">
                      <a16:creationId xmlns:a16="http://schemas.microsoft.com/office/drawing/2014/main" id="{4A4B0266-4C9A-7B44-BB71-BFC04234DE6A}"/>
                    </a:ext>
                  </a:extLst>
                </p:cNvPr>
                <p:cNvSpPr txBox="1"/>
                <p:nvPr/>
              </p:nvSpPr>
              <p:spPr>
                <a:xfrm>
                  <a:off x="6576628" y="3224367"/>
                  <a:ext cx="1517679" cy="707886"/>
                </a:xfrm>
                <a:prstGeom prst="rect">
                  <a:avLst/>
                </a:prstGeom>
                <a:solidFill>
                  <a:schemeClr val="bg1"/>
                </a:solidFill>
              </p:spPr>
              <p:txBody>
                <a:bodyPr wrap="square" rtlCol="0">
                  <a:spAutoFit/>
                </a:bodyPr>
                <a:lstStyle/>
                <a:p>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No</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bridges</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can</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be</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built</a:t>
                  </a:r>
                </a:p>
              </p:txBody>
            </p:sp>
            <p:cxnSp>
              <p:nvCxnSpPr>
                <p:cNvPr id="55" name="直線箭頭接點 54">
                  <a:extLst>
                    <a:ext uri="{FF2B5EF4-FFF2-40B4-BE49-F238E27FC236}">
                      <a16:creationId xmlns:a16="http://schemas.microsoft.com/office/drawing/2014/main" id="{62C4490B-CBA6-E34A-81A0-43C70CB52EDE}"/>
                    </a:ext>
                  </a:extLst>
                </p:cNvPr>
                <p:cNvCxnSpPr/>
                <p:nvPr/>
              </p:nvCxnSpPr>
              <p:spPr>
                <a:xfrm>
                  <a:off x="7030995" y="2691322"/>
                  <a:ext cx="0" cy="519844"/>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6" name="直線箭頭接點 55">
                  <a:extLst>
                    <a:ext uri="{FF2B5EF4-FFF2-40B4-BE49-F238E27FC236}">
                      <a16:creationId xmlns:a16="http://schemas.microsoft.com/office/drawing/2014/main" id="{6229A0FC-E12F-2043-BC99-D94E5A961EA6}"/>
                    </a:ext>
                  </a:extLst>
                </p:cNvPr>
                <p:cNvCxnSpPr/>
                <p:nvPr/>
              </p:nvCxnSpPr>
              <p:spPr>
                <a:xfrm>
                  <a:off x="7628238" y="2691322"/>
                  <a:ext cx="0" cy="519844"/>
                </a:xfrm>
                <a:prstGeom prst="straightConnector1">
                  <a:avLst/>
                </a:prstGeom>
                <a:ln w="38100">
                  <a:solidFill>
                    <a:srgbClr val="FF0000"/>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sp>
              <p:nvSpPr>
                <p:cNvPr id="57" name="文字方塊 56">
                  <a:extLst>
                    <a:ext uri="{FF2B5EF4-FFF2-40B4-BE49-F238E27FC236}">
                      <a16:creationId xmlns:a16="http://schemas.microsoft.com/office/drawing/2014/main" id="{AA2F7C99-02F1-0B43-8BAA-1206A51C9E3C}"/>
                    </a:ext>
                  </a:extLst>
                </p:cNvPr>
                <p:cNvSpPr txBox="1"/>
                <p:nvPr/>
              </p:nvSpPr>
              <p:spPr>
                <a:xfrm>
                  <a:off x="9347274" y="5843822"/>
                  <a:ext cx="1434018" cy="707886"/>
                </a:xfrm>
                <a:prstGeom prst="rect">
                  <a:avLst/>
                </a:prstGeom>
                <a:solidFill>
                  <a:schemeClr val="bg1"/>
                </a:solidFill>
              </p:spPr>
              <p:txBody>
                <a:bodyPr wrap="square" rtlCol="0">
                  <a:spAutoFit/>
                </a:bodyPr>
                <a:lstStyle/>
                <a:p>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No</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bridges</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can</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be</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built</a:t>
                  </a:r>
                </a:p>
              </p:txBody>
            </p:sp>
            <p:cxnSp>
              <p:nvCxnSpPr>
                <p:cNvPr id="59" name="直線箭頭接點 58">
                  <a:extLst>
                    <a:ext uri="{FF2B5EF4-FFF2-40B4-BE49-F238E27FC236}">
                      <a16:creationId xmlns:a16="http://schemas.microsoft.com/office/drawing/2014/main" id="{F1AAC904-D86A-AC4D-8E17-CE474592E578}"/>
                    </a:ext>
                  </a:extLst>
                </p:cNvPr>
                <p:cNvCxnSpPr/>
                <p:nvPr/>
              </p:nvCxnSpPr>
              <p:spPr>
                <a:xfrm>
                  <a:off x="9683707" y="2691322"/>
                  <a:ext cx="0" cy="519844"/>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3" name="直線箭頭接點 62">
                  <a:extLst>
                    <a:ext uri="{FF2B5EF4-FFF2-40B4-BE49-F238E27FC236}">
                      <a16:creationId xmlns:a16="http://schemas.microsoft.com/office/drawing/2014/main" id="{FCD6DBBE-E624-F644-B086-12825019C839}"/>
                    </a:ext>
                  </a:extLst>
                </p:cNvPr>
                <p:cNvCxnSpPr/>
                <p:nvPr/>
              </p:nvCxnSpPr>
              <p:spPr>
                <a:xfrm>
                  <a:off x="9683707" y="4013302"/>
                  <a:ext cx="0" cy="519844"/>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4" name="直線箭頭接點 63">
                  <a:extLst>
                    <a:ext uri="{FF2B5EF4-FFF2-40B4-BE49-F238E27FC236}">
                      <a16:creationId xmlns:a16="http://schemas.microsoft.com/office/drawing/2014/main" id="{FD28209A-FA65-0043-AD84-93949F2AE72E}"/>
                    </a:ext>
                  </a:extLst>
                </p:cNvPr>
                <p:cNvCxnSpPr/>
                <p:nvPr/>
              </p:nvCxnSpPr>
              <p:spPr>
                <a:xfrm>
                  <a:off x="9683707" y="5323978"/>
                  <a:ext cx="0" cy="519844"/>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5" name="直線箭頭接點 64">
                  <a:extLst>
                    <a:ext uri="{FF2B5EF4-FFF2-40B4-BE49-F238E27FC236}">
                      <a16:creationId xmlns:a16="http://schemas.microsoft.com/office/drawing/2014/main" id="{63D580FE-EAC6-AC40-88F0-4357BBF68E56}"/>
                    </a:ext>
                  </a:extLst>
                </p:cNvPr>
                <p:cNvCxnSpPr>
                  <a:cxnSpLocks/>
                </p:cNvCxnSpPr>
                <p:nvPr/>
              </p:nvCxnSpPr>
              <p:spPr>
                <a:xfrm flipH="1">
                  <a:off x="7400361" y="1274626"/>
                  <a:ext cx="723410" cy="438324"/>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8" name="直線箭頭接點 67">
                  <a:extLst>
                    <a:ext uri="{FF2B5EF4-FFF2-40B4-BE49-F238E27FC236}">
                      <a16:creationId xmlns:a16="http://schemas.microsoft.com/office/drawing/2014/main" id="{FBE21532-5FF7-7D40-9377-1E06911EC0A2}"/>
                    </a:ext>
                  </a:extLst>
                </p:cNvPr>
                <p:cNvCxnSpPr>
                  <a:cxnSpLocks/>
                </p:cNvCxnSpPr>
                <p:nvPr/>
              </p:nvCxnSpPr>
              <p:spPr>
                <a:xfrm>
                  <a:off x="9097428" y="1274132"/>
                  <a:ext cx="835046" cy="458790"/>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2" name="直線箭頭接點 71">
                  <a:extLst>
                    <a:ext uri="{FF2B5EF4-FFF2-40B4-BE49-F238E27FC236}">
                      <a16:creationId xmlns:a16="http://schemas.microsoft.com/office/drawing/2014/main" id="{4DD3E895-C38F-934A-8A6B-6B3877823607}"/>
                    </a:ext>
                  </a:extLst>
                </p:cNvPr>
                <p:cNvCxnSpPr>
                  <a:cxnSpLocks/>
                </p:cNvCxnSpPr>
                <p:nvPr/>
              </p:nvCxnSpPr>
              <p:spPr>
                <a:xfrm flipV="1">
                  <a:off x="7628239" y="1475473"/>
                  <a:ext cx="696329" cy="409378"/>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6" name="文字方塊 75">
                  <a:extLst>
                    <a:ext uri="{FF2B5EF4-FFF2-40B4-BE49-F238E27FC236}">
                      <a16:creationId xmlns:a16="http://schemas.microsoft.com/office/drawing/2014/main" id="{8D303F3B-7760-A940-B434-26E166E51D80}"/>
                    </a:ext>
                  </a:extLst>
                </p:cNvPr>
                <p:cNvSpPr txBox="1"/>
                <p:nvPr/>
              </p:nvSpPr>
              <p:spPr>
                <a:xfrm>
                  <a:off x="10472829" y="3289068"/>
                  <a:ext cx="1213794" cy="707886"/>
                </a:xfrm>
                <a:prstGeom prst="rect">
                  <a:avLst/>
                </a:prstGeom>
                <a:noFill/>
              </p:spPr>
              <p:txBody>
                <a:bodyPr wrap="none" rtlCol="0">
                  <a:spAutoFit/>
                </a:bodyPr>
                <a:lstStyle/>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Right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0</a:t>
                  </a:r>
                </a:p>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Down</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1</a:t>
                  </a:r>
                  <a:endPar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7" name="文字方塊 76">
                  <a:extLst>
                    <a:ext uri="{FF2B5EF4-FFF2-40B4-BE49-F238E27FC236}">
                      <a16:creationId xmlns:a16="http://schemas.microsoft.com/office/drawing/2014/main" id="{1FB040AD-EAFE-D046-BEF0-F184141A0362}"/>
                    </a:ext>
                  </a:extLst>
                </p:cNvPr>
                <p:cNvSpPr txBox="1"/>
                <p:nvPr/>
              </p:nvSpPr>
              <p:spPr>
                <a:xfrm>
                  <a:off x="10472164" y="4602571"/>
                  <a:ext cx="1213794" cy="707886"/>
                </a:xfrm>
                <a:prstGeom prst="rect">
                  <a:avLst/>
                </a:prstGeom>
                <a:noFill/>
              </p:spPr>
              <p:txBody>
                <a:bodyPr wrap="none" rtlCol="0">
                  <a:spAutoFit/>
                </a:bodyPr>
                <a:lstStyle/>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Left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2</a:t>
                  </a:r>
                </a:p>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Down</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0</a:t>
                  </a:r>
                  <a:endPar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endParaRPr>
                </a:p>
              </p:txBody>
            </p:sp>
          </p:grpSp>
        </p:grpSp>
        <p:sp>
          <p:nvSpPr>
            <p:cNvPr id="78" name="文字方塊 77">
              <a:extLst>
                <a:ext uri="{FF2B5EF4-FFF2-40B4-BE49-F238E27FC236}">
                  <a16:creationId xmlns:a16="http://schemas.microsoft.com/office/drawing/2014/main" id="{F7852F1C-695A-F842-96D0-29DC9A0A4733}"/>
                </a:ext>
              </a:extLst>
            </p:cNvPr>
            <p:cNvSpPr txBox="1"/>
            <p:nvPr/>
          </p:nvSpPr>
          <p:spPr>
            <a:xfrm>
              <a:off x="5790468" y="6100225"/>
              <a:ext cx="3328178" cy="400110"/>
            </a:xfrm>
            <a:prstGeom prst="rect">
              <a:avLst/>
            </a:prstGeom>
            <a:solidFill>
              <a:schemeClr val="bg1"/>
            </a:solidFill>
          </p:spPr>
          <p:txBody>
            <a:bodyPr wrap="square" rtlCol="0">
              <a:spAutoFit/>
            </a:bodyPr>
            <a:lstStyle/>
            <a:p>
              <a:r>
                <a:rPr kumimoji="1" lang="en-US" altLang="zh-TW" sz="2000" dirty="0">
                  <a:solidFill>
                    <a:srgbClr val="FF0000"/>
                  </a:solidFill>
                  <a:latin typeface="Times New Roman" panose="02020603050405020304" pitchFamily="18" charset="0"/>
                  <a:cs typeface="Times New Roman" panose="02020603050405020304" pitchFamily="18" charset="0"/>
                </a:rPr>
                <a:t>All</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islands</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are</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fully</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connected</a:t>
              </a:r>
            </a:p>
          </p:txBody>
        </p:sp>
      </p:grpSp>
    </p:spTree>
    <p:extLst>
      <p:ext uri="{BB962C8B-B14F-4D97-AF65-F5344CB8AC3E}">
        <p14:creationId xmlns:p14="http://schemas.microsoft.com/office/powerpoint/2010/main" val="2672196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B344935E-6FF2-8E42-BBD9-CD57697DD224}"/>
              </a:ext>
            </a:extLst>
          </p:cNvPr>
          <p:cNvSpPr>
            <a:spLocks noGrp="1"/>
          </p:cNvSpPr>
          <p:nvPr>
            <p:ph type="sldNum" sz="quarter" idx="12"/>
          </p:nvPr>
        </p:nvSpPr>
        <p:spPr/>
        <p:txBody>
          <a:bodyPr/>
          <a:lstStyle/>
          <a:p>
            <a:fld id="{ECBA910D-82EB-F545-8167-DA0C7F9B0A2A}" type="slidenum">
              <a:rPr kumimoji="1" lang="zh-TW" altLang="en-US" smtClean="0"/>
              <a:t>11</a:t>
            </a:fld>
            <a:endParaRPr kumimoji="1" lang="zh-TW" altLang="en-US"/>
          </a:p>
        </p:txBody>
      </p:sp>
      <p:sp>
        <p:nvSpPr>
          <p:cNvPr id="4" name="標題 3">
            <a:extLst>
              <a:ext uri="{FF2B5EF4-FFF2-40B4-BE49-F238E27FC236}">
                <a16:creationId xmlns:a16="http://schemas.microsoft.com/office/drawing/2014/main" id="{B539C388-314D-E048-A3E7-42584191348F}"/>
              </a:ext>
            </a:extLst>
          </p:cNvPr>
          <p:cNvSpPr>
            <a:spLocks noGrp="1"/>
          </p:cNvSpPr>
          <p:nvPr>
            <p:ph type="title"/>
          </p:nvPr>
        </p:nvSpPr>
        <p:spPr/>
        <p:txBody>
          <a:bodyPr/>
          <a:lstStyle/>
          <a:p>
            <a:r>
              <a:rPr lang="en" altLang="zh-TW" dirty="0">
                <a:latin typeface="Times New Roman" panose="02020603050405020304" pitchFamily="18" charset="0"/>
                <a:cs typeface="Times New Roman" panose="02020603050405020304" pitchFamily="18" charset="0"/>
              </a:rPr>
              <a:t>Depth First Search</a:t>
            </a:r>
            <a:endParaRPr lang="zh-TW" altLang="en-US" dirty="0"/>
          </a:p>
        </p:txBody>
      </p:sp>
      <p:pic>
        <p:nvPicPr>
          <p:cNvPr id="6" name="圖片 5" descr="一張含有 圖表 的圖片&#10;&#10;自動產生的描述">
            <a:extLst>
              <a:ext uri="{FF2B5EF4-FFF2-40B4-BE49-F238E27FC236}">
                <a16:creationId xmlns:a16="http://schemas.microsoft.com/office/drawing/2014/main" id="{FF64D3D4-238A-0B41-9370-053BED4EBD4D}"/>
              </a:ext>
            </a:extLst>
          </p:cNvPr>
          <p:cNvPicPr>
            <a:picLocks noChangeAspect="1"/>
          </p:cNvPicPr>
          <p:nvPr/>
        </p:nvPicPr>
        <p:blipFill>
          <a:blip r:embed="rId3"/>
          <a:stretch>
            <a:fillRect/>
          </a:stretch>
        </p:blipFill>
        <p:spPr>
          <a:xfrm>
            <a:off x="1091235" y="2057399"/>
            <a:ext cx="3892653" cy="3830370"/>
          </a:xfrm>
          <a:prstGeom prst="rect">
            <a:avLst/>
          </a:prstGeom>
        </p:spPr>
      </p:pic>
      <p:grpSp>
        <p:nvGrpSpPr>
          <p:cNvPr id="85" name="群組 84">
            <a:extLst>
              <a:ext uri="{FF2B5EF4-FFF2-40B4-BE49-F238E27FC236}">
                <a16:creationId xmlns:a16="http://schemas.microsoft.com/office/drawing/2014/main" id="{23C381E6-555A-604D-B015-854C2F6EAC37}"/>
              </a:ext>
            </a:extLst>
          </p:cNvPr>
          <p:cNvGrpSpPr/>
          <p:nvPr/>
        </p:nvGrpSpPr>
        <p:grpSpPr>
          <a:xfrm>
            <a:off x="5547739" y="643731"/>
            <a:ext cx="5910256" cy="5919218"/>
            <a:chOff x="5547739" y="643731"/>
            <a:chExt cx="5910256" cy="5919218"/>
          </a:xfrm>
        </p:grpSpPr>
        <p:grpSp>
          <p:nvGrpSpPr>
            <p:cNvPr id="86" name="群組 85">
              <a:extLst>
                <a:ext uri="{FF2B5EF4-FFF2-40B4-BE49-F238E27FC236}">
                  <a16:creationId xmlns:a16="http://schemas.microsoft.com/office/drawing/2014/main" id="{38EC97B0-4228-F34C-B010-F19D3B4B0DF5}"/>
                </a:ext>
              </a:extLst>
            </p:cNvPr>
            <p:cNvGrpSpPr/>
            <p:nvPr/>
          </p:nvGrpSpPr>
          <p:grpSpPr>
            <a:xfrm>
              <a:off x="5547739" y="643731"/>
              <a:ext cx="5910256" cy="5919218"/>
              <a:chOff x="5776367" y="632490"/>
              <a:chExt cx="5910256" cy="5919218"/>
            </a:xfrm>
          </p:grpSpPr>
          <p:sp>
            <p:nvSpPr>
              <p:cNvPr id="88" name="文字方塊 87">
                <a:extLst>
                  <a:ext uri="{FF2B5EF4-FFF2-40B4-BE49-F238E27FC236}">
                    <a16:creationId xmlns:a16="http://schemas.microsoft.com/office/drawing/2014/main" id="{1E85C733-24F8-7147-A417-14BF41B8F1DA}"/>
                  </a:ext>
                </a:extLst>
              </p:cNvPr>
              <p:cNvSpPr txBox="1"/>
              <p:nvPr/>
            </p:nvSpPr>
            <p:spPr>
              <a:xfrm>
                <a:off x="5776367" y="1948557"/>
                <a:ext cx="1213794" cy="707886"/>
              </a:xfrm>
              <a:prstGeom prst="rect">
                <a:avLst/>
              </a:prstGeom>
              <a:noFill/>
            </p:spPr>
            <p:txBody>
              <a:bodyPr wrap="none" rtlCol="0">
                <a:spAutoFit/>
              </a:bodyPr>
              <a:lstStyle/>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Right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2</a:t>
                </a:r>
              </a:p>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Down</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0</a:t>
                </a:r>
                <a:endPar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endParaRPr>
              </a:p>
            </p:txBody>
          </p:sp>
          <p:grpSp>
            <p:nvGrpSpPr>
              <p:cNvPr id="89" name="群組 88">
                <a:extLst>
                  <a:ext uri="{FF2B5EF4-FFF2-40B4-BE49-F238E27FC236}">
                    <a16:creationId xmlns:a16="http://schemas.microsoft.com/office/drawing/2014/main" id="{7D206015-498F-A340-A7C8-2558FBDD1FE2}"/>
                  </a:ext>
                </a:extLst>
              </p:cNvPr>
              <p:cNvGrpSpPr/>
              <p:nvPr/>
            </p:nvGrpSpPr>
            <p:grpSpPr>
              <a:xfrm>
                <a:off x="6576628" y="632490"/>
                <a:ext cx="5109995" cy="5919218"/>
                <a:chOff x="6576628" y="632490"/>
                <a:chExt cx="5109995" cy="5919218"/>
              </a:xfrm>
            </p:grpSpPr>
            <p:sp>
              <p:nvSpPr>
                <p:cNvPr id="90" name="橢圓 89">
                  <a:extLst>
                    <a:ext uri="{FF2B5EF4-FFF2-40B4-BE49-F238E27FC236}">
                      <a16:creationId xmlns:a16="http://schemas.microsoft.com/office/drawing/2014/main" id="{68ECBBB4-DFBB-E445-9C34-7CB6B80E6778}"/>
                    </a:ext>
                  </a:extLst>
                </p:cNvPr>
                <p:cNvSpPr/>
                <p:nvPr/>
              </p:nvSpPr>
              <p:spPr>
                <a:xfrm>
                  <a:off x="8209005" y="632490"/>
                  <a:ext cx="803189" cy="790832"/>
                </a:xfrm>
                <a:prstGeom prst="ellipse">
                  <a:avLst/>
                </a:prstGeom>
                <a:solidFill>
                  <a:schemeClr val="bg1"/>
                </a:solid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kumimoji="1" lang="en-US" altLang="zh-TW" sz="2000" b="1" dirty="0">
                      <a:solidFill>
                        <a:schemeClr val="accent6">
                          <a:lumMod val="50000"/>
                        </a:schemeClr>
                      </a:solidFill>
                      <a:latin typeface="Times New Roman" panose="02020603050405020304" pitchFamily="18" charset="0"/>
                      <a:cs typeface="Times New Roman" panose="02020603050405020304" pitchFamily="18" charset="0"/>
                    </a:rPr>
                    <a:t>C3</a:t>
                  </a:r>
                </a:p>
                <a:p>
                  <a:pPr algn="ctr"/>
                  <a:r>
                    <a:rPr kumimoji="1" lang="en-US" altLang="zh-TW" sz="2000" b="1" dirty="0">
                      <a:latin typeface="Times New Roman" panose="02020603050405020304" pitchFamily="18" charset="0"/>
                      <a:cs typeface="Times New Roman" panose="02020603050405020304" pitchFamily="18" charset="0"/>
                    </a:rPr>
                    <a:t>(2)</a:t>
                  </a:r>
                  <a:endParaRPr kumimoji="1" lang="zh-TW" altLang="en-US" sz="2000" b="1" dirty="0">
                    <a:latin typeface="Times New Roman" panose="02020603050405020304" pitchFamily="18" charset="0"/>
                    <a:cs typeface="Times New Roman" panose="02020603050405020304" pitchFamily="18" charset="0"/>
                  </a:endParaRPr>
                </a:p>
              </p:txBody>
            </p:sp>
            <p:sp>
              <p:nvSpPr>
                <p:cNvPr id="91" name="橢圓 90">
                  <a:extLst>
                    <a:ext uri="{FF2B5EF4-FFF2-40B4-BE49-F238E27FC236}">
                      <a16:creationId xmlns:a16="http://schemas.microsoft.com/office/drawing/2014/main" id="{FD403347-93B6-3842-87EB-C311B71C905A}"/>
                    </a:ext>
                  </a:extLst>
                </p:cNvPr>
                <p:cNvSpPr/>
                <p:nvPr/>
              </p:nvSpPr>
              <p:spPr>
                <a:xfrm>
                  <a:off x="6933874" y="1878228"/>
                  <a:ext cx="803189" cy="790832"/>
                </a:xfrm>
                <a:prstGeom prst="ellipse">
                  <a:avLst/>
                </a:prstGeom>
                <a:solidFill>
                  <a:schemeClr val="bg1"/>
                </a:solid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kumimoji="1" lang="en-US" altLang="zh-TW" sz="2000" b="1" dirty="0">
                      <a:solidFill>
                        <a:schemeClr val="accent6">
                          <a:lumMod val="50000"/>
                        </a:schemeClr>
                      </a:solidFill>
                      <a:latin typeface="Times New Roman" panose="02020603050405020304" pitchFamily="18" charset="0"/>
                      <a:cs typeface="Times New Roman" panose="02020603050405020304" pitchFamily="18" charset="0"/>
                    </a:rPr>
                    <a:t>C5</a:t>
                  </a:r>
                </a:p>
                <a:p>
                  <a:pPr algn="ctr"/>
                  <a:r>
                    <a:rPr kumimoji="1" lang="en-US" altLang="zh-TW" sz="2000" b="1" dirty="0">
                      <a:latin typeface="Times New Roman" panose="02020603050405020304" pitchFamily="18" charset="0"/>
                      <a:cs typeface="Times New Roman" panose="02020603050405020304" pitchFamily="18" charset="0"/>
                    </a:rPr>
                    <a:t>(2)</a:t>
                  </a:r>
                  <a:endParaRPr kumimoji="1" lang="zh-TW" altLang="en-US" sz="2000" b="1" dirty="0">
                    <a:latin typeface="Times New Roman" panose="02020603050405020304" pitchFamily="18" charset="0"/>
                    <a:cs typeface="Times New Roman" panose="02020603050405020304" pitchFamily="18" charset="0"/>
                  </a:endParaRPr>
                </a:p>
              </p:txBody>
            </p:sp>
            <p:sp>
              <p:nvSpPr>
                <p:cNvPr id="92" name="橢圓 91">
                  <a:extLst>
                    <a:ext uri="{FF2B5EF4-FFF2-40B4-BE49-F238E27FC236}">
                      <a16:creationId xmlns:a16="http://schemas.microsoft.com/office/drawing/2014/main" id="{4C99FA1D-6AEC-1448-85C9-3AEA5E94DF85}"/>
                    </a:ext>
                  </a:extLst>
                </p:cNvPr>
                <p:cNvSpPr/>
                <p:nvPr/>
              </p:nvSpPr>
              <p:spPr>
                <a:xfrm>
                  <a:off x="9580605" y="1900490"/>
                  <a:ext cx="803189" cy="790832"/>
                </a:xfrm>
                <a:prstGeom prst="ellipse">
                  <a:avLst/>
                </a:prstGeom>
                <a:solidFill>
                  <a:schemeClr val="bg1"/>
                </a:solid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kumimoji="1" lang="en-US" altLang="zh-TW" sz="2000" b="1" dirty="0">
                      <a:solidFill>
                        <a:schemeClr val="accent6">
                          <a:lumMod val="50000"/>
                        </a:schemeClr>
                      </a:solidFill>
                      <a:latin typeface="Times New Roman" panose="02020603050405020304" pitchFamily="18" charset="0"/>
                      <a:cs typeface="Times New Roman" panose="02020603050405020304" pitchFamily="18" charset="0"/>
                    </a:rPr>
                    <a:t>C5</a:t>
                  </a:r>
                </a:p>
                <a:p>
                  <a:pPr algn="ctr"/>
                  <a:r>
                    <a:rPr kumimoji="1" lang="en-US" altLang="zh-TW" sz="2000" b="1" dirty="0">
                      <a:latin typeface="Times New Roman" panose="02020603050405020304" pitchFamily="18" charset="0"/>
                      <a:cs typeface="Times New Roman" panose="02020603050405020304" pitchFamily="18" charset="0"/>
                    </a:rPr>
                    <a:t>(2)</a:t>
                  </a:r>
                  <a:endParaRPr kumimoji="1" lang="zh-TW" altLang="en-US" sz="2000" b="1" dirty="0">
                    <a:latin typeface="Times New Roman" panose="02020603050405020304" pitchFamily="18" charset="0"/>
                    <a:cs typeface="Times New Roman" panose="02020603050405020304" pitchFamily="18" charset="0"/>
                  </a:endParaRPr>
                </a:p>
              </p:txBody>
            </p:sp>
            <p:sp>
              <p:nvSpPr>
                <p:cNvPr id="93" name="橢圓 92">
                  <a:extLst>
                    <a:ext uri="{FF2B5EF4-FFF2-40B4-BE49-F238E27FC236}">
                      <a16:creationId xmlns:a16="http://schemas.microsoft.com/office/drawing/2014/main" id="{C89C8B63-0B9F-BA45-A06D-213512A3676D}"/>
                    </a:ext>
                  </a:extLst>
                </p:cNvPr>
                <p:cNvSpPr/>
                <p:nvPr/>
              </p:nvSpPr>
              <p:spPr>
                <a:xfrm>
                  <a:off x="9580605" y="3216818"/>
                  <a:ext cx="803189" cy="790832"/>
                </a:xfrm>
                <a:prstGeom prst="ellipse">
                  <a:avLst/>
                </a:prstGeom>
                <a:solidFill>
                  <a:schemeClr val="bg1"/>
                </a:solid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kumimoji="1" lang="en-US" altLang="zh-TW" sz="2000" b="1" dirty="0">
                      <a:solidFill>
                        <a:schemeClr val="accent6">
                          <a:lumMod val="50000"/>
                        </a:schemeClr>
                      </a:solidFill>
                      <a:latin typeface="Times New Roman" panose="02020603050405020304" pitchFamily="18" charset="0"/>
                      <a:cs typeface="Times New Roman" panose="02020603050405020304" pitchFamily="18" charset="0"/>
                    </a:rPr>
                    <a:t>E5</a:t>
                  </a:r>
                </a:p>
                <a:p>
                  <a:pPr algn="ctr"/>
                  <a:r>
                    <a:rPr kumimoji="1" lang="en-US" altLang="zh-TW" sz="2000" b="1" dirty="0">
                      <a:latin typeface="Times New Roman" panose="02020603050405020304" pitchFamily="18" charset="0"/>
                      <a:cs typeface="Times New Roman" panose="02020603050405020304" pitchFamily="18" charset="0"/>
                    </a:rPr>
                    <a:t>(3)</a:t>
                  </a:r>
                  <a:endParaRPr kumimoji="1" lang="zh-TW" altLang="en-US" sz="2000" b="1" dirty="0">
                    <a:latin typeface="Times New Roman" panose="02020603050405020304" pitchFamily="18" charset="0"/>
                    <a:cs typeface="Times New Roman" panose="02020603050405020304" pitchFamily="18" charset="0"/>
                  </a:endParaRPr>
                </a:p>
              </p:txBody>
            </p:sp>
            <p:sp>
              <p:nvSpPr>
                <p:cNvPr id="94" name="橢圓 93">
                  <a:extLst>
                    <a:ext uri="{FF2B5EF4-FFF2-40B4-BE49-F238E27FC236}">
                      <a16:creationId xmlns:a16="http://schemas.microsoft.com/office/drawing/2014/main" id="{81C8699D-84DB-F949-BC17-C41C1DD16F4D}"/>
                    </a:ext>
                  </a:extLst>
                </p:cNvPr>
                <p:cNvSpPr/>
                <p:nvPr/>
              </p:nvSpPr>
              <p:spPr>
                <a:xfrm>
                  <a:off x="9580604" y="4533146"/>
                  <a:ext cx="803189" cy="790832"/>
                </a:xfrm>
                <a:prstGeom prst="ellipse">
                  <a:avLst/>
                </a:prstGeom>
                <a:solidFill>
                  <a:schemeClr val="bg1"/>
                </a:solidFill>
                <a:ln w="381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kumimoji="1" lang="en-US" altLang="zh-TW" sz="2000" b="1" dirty="0">
                      <a:solidFill>
                        <a:schemeClr val="accent6">
                          <a:lumMod val="50000"/>
                        </a:schemeClr>
                      </a:solidFill>
                      <a:latin typeface="Times New Roman" panose="02020603050405020304" pitchFamily="18" charset="0"/>
                      <a:cs typeface="Times New Roman" panose="02020603050405020304" pitchFamily="18" charset="0"/>
                    </a:rPr>
                    <a:t>E3</a:t>
                  </a:r>
                </a:p>
                <a:p>
                  <a:pPr algn="ctr"/>
                  <a:r>
                    <a:rPr kumimoji="1" lang="en-US" altLang="zh-TW" sz="2000" b="1" dirty="0">
                      <a:latin typeface="Times New Roman" panose="02020603050405020304" pitchFamily="18" charset="0"/>
                      <a:cs typeface="Times New Roman" panose="02020603050405020304" pitchFamily="18" charset="0"/>
                    </a:rPr>
                    <a:t>(3)</a:t>
                  </a:r>
                  <a:endParaRPr kumimoji="1" lang="zh-TW" altLang="en-US" sz="2000" b="1" dirty="0">
                    <a:latin typeface="Times New Roman" panose="02020603050405020304" pitchFamily="18" charset="0"/>
                    <a:cs typeface="Times New Roman" panose="02020603050405020304" pitchFamily="18" charset="0"/>
                  </a:endParaRPr>
                </a:p>
              </p:txBody>
            </p:sp>
            <p:cxnSp>
              <p:nvCxnSpPr>
                <p:cNvPr id="95" name="直線接點 94">
                  <a:extLst>
                    <a:ext uri="{FF2B5EF4-FFF2-40B4-BE49-F238E27FC236}">
                      <a16:creationId xmlns:a16="http://schemas.microsoft.com/office/drawing/2014/main" id="{6F293E4B-123C-B445-BADF-F593F3DB5AEA}"/>
                    </a:ext>
                  </a:extLst>
                </p:cNvPr>
                <p:cNvCxnSpPr>
                  <a:stCxn id="90" idx="3"/>
                  <a:endCxn id="91" idx="0"/>
                </p:cNvCxnSpPr>
                <p:nvPr/>
              </p:nvCxnSpPr>
              <p:spPr>
                <a:xfrm flipH="1">
                  <a:off x="7335469" y="1307507"/>
                  <a:ext cx="991160" cy="570721"/>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直線接點 95">
                  <a:extLst>
                    <a:ext uri="{FF2B5EF4-FFF2-40B4-BE49-F238E27FC236}">
                      <a16:creationId xmlns:a16="http://schemas.microsoft.com/office/drawing/2014/main" id="{D5B16088-58F2-BB47-A582-BA277AB16C98}"/>
                    </a:ext>
                  </a:extLst>
                </p:cNvPr>
                <p:cNvCxnSpPr>
                  <a:cxnSpLocks/>
                  <a:stCxn id="90" idx="5"/>
                  <a:endCxn id="92" idx="0"/>
                </p:cNvCxnSpPr>
                <p:nvPr/>
              </p:nvCxnSpPr>
              <p:spPr>
                <a:xfrm>
                  <a:off x="8894570" y="1307507"/>
                  <a:ext cx="1087630" cy="592983"/>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線接點 96">
                  <a:extLst>
                    <a:ext uri="{FF2B5EF4-FFF2-40B4-BE49-F238E27FC236}">
                      <a16:creationId xmlns:a16="http://schemas.microsoft.com/office/drawing/2014/main" id="{66762FA9-F807-E743-A5E8-22ADA6E3A38D}"/>
                    </a:ext>
                  </a:extLst>
                </p:cNvPr>
                <p:cNvCxnSpPr>
                  <a:cxnSpLocks/>
                  <a:stCxn id="91" idx="4"/>
                  <a:endCxn id="102" idx="0"/>
                </p:cNvCxnSpPr>
                <p:nvPr/>
              </p:nvCxnSpPr>
              <p:spPr>
                <a:xfrm flipH="1">
                  <a:off x="7335468" y="2669060"/>
                  <a:ext cx="1" cy="555307"/>
                </a:xfrm>
                <a:prstGeom prst="line">
                  <a:avLst/>
                </a:prstGeom>
                <a:ln w="3810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8" name="直線接點 97">
                  <a:extLst>
                    <a:ext uri="{FF2B5EF4-FFF2-40B4-BE49-F238E27FC236}">
                      <a16:creationId xmlns:a16="http://schemas.microsoft.com/office/drawing/2014/main" id="{564CBD3D-07BE-674C-BCC1-A2089AF2B3D4}"/>
                    </a:ext>
                  </a:extLst>
                </p:cNvPr>
                <p:cNvCxnSpPr>
                  <a:cxnSpLocks/>
                  <a:stCxn id="92" idx="4"/>
                  <a:endCxn id="93" idx="0"/>
                </p:cNvCxnSpPr>
                <p:nvPr/>
              </p:nvCxnSpPr>
              <p:spPr>
                <a:xfrm>
                  <a:off x="9982200" y="2691322"/>
                  <a:ext cx="0" cy="525496"/>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直線接點 98">
                  <a:extLst>
                    <a:ext uri="{FF2B5EF4-FFF2-40B4-BE49-F238E27FC236}">
                      <a16:creationId xmlns:a16="http://schemas.microsoft.com/office/drawing/2014/main" id="{9998C92E-B6BB-384B-86A9-96301D1CAF50}"/>
                    </a:ext>
                  </a:extLst>
                </p:cNvPr>
                <p:cNvCxnSpPr>
                  <a:cxnSpLocks/>
                  <a:stCxn id="93" idx="4"/>
                  <a:endCxn id="94" idx="0"/>
                </p:cNvCxnSpPr>
                <p:nvPr/>
              </p:nvCxnSpPr>
              <p:spPr>
                <a:xfrm flipH="1">
                  <a:off x="9982199" y="4007650"/>
                  <a:ext cx="1" cy="525496"/>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直線接點 99">
                  <a:extLst>
                    <a:ext uri="{FF2B5EF4-FFF2-40B4-BE49-F238E27FC236}">
                      <a16:creationId xmlns:a16="http://schemas.microsoft.com/office/drawing/2014/main" id="{16919344-C0C0-844A-A0BC-BB6282C6B660}"/>
                    </a:ext>
                  </a:extLst>
                </p:cNvPr>
                <p:cNvCxnSpPr>
                  <a:cxnSpLocks/>
                  <a:stCxn id="94" idx="4"/>
                </p:cNvCxnSpPr>
                <p:nvPr/>
              </p:nvCxnSpPr>
              <p:spPr>
                <a:xfrm>
                  <a:off x="9982199" y="5323978"/>
                  <a:ext cx="9221" cy="595428"/>
                </a:xfrm>
                <a:prstGeom prst="line">
                  <a:avLst/>
                </a:prstGeom>
                <a:ln w="3810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01" name="文字方塊 100">
                  <a:extLst>
                    <a:ext uri="{FF2B5EF4-FFF2-40B4-BE49-F238E27FC236}">
                      <a16:creationId xmlns:a16="http://schemas.microsoft.com/office/drawing/2014/main" id="{005EDAC4-294C-9443-A0E6-14C6BDD14BFE}"/>
                    </a:ext>
                  </a:extLst>
                </p:cNvPr>
                <p:cNvSpPr txBox="1"/>
                <p:nvPr/>
              </p:nvSpPr>
              <p:spPr>
                <a:xfrm>
                  <a:off x="10472165" y="1972740"/>
                  <a:ext cx="1213794" cy="707886"/>
                </a:xfrm>
                <a:prstGeom prst="rect">
                  <a:avLst/>
                </a:prstGeom>
                <a:noFill/>
              </p:spPr>
              <p:txBody>
                <a:bodyPr wrap="none" rtlCol="0">
                  <a:spAutoFit/>
                </a:bodyPr>
                <a:lstStyle/>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Right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1</a:t>
                  </a:r>
                </a:p>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Down</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1</a:t>
                  </a:r>
                  <a:endPar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02" name="文字方塊 101">
                  <a:extLst>
                    <a:ext uri="{FF2B5EF4-FFF2-40B4-BE49-F238E27FC236}">
                      <a16:creationId xmlns:a16="http://schemas.microsoft.com/office/drawing/2014/main" id="{4D4E01C0-8D8D-3A41-92F4-4DCCF620E0CD}"/>
                    </a:ext>
                  </a:extLst>
                </p:cNvPr>
                <p:cNvSpPr txBox="1"/>
                <p:nvPr/>
              </p:nvSpPr>
              <p:spPr>
                <a:xfrm>
                  <a:off x="6576628" y="3224367"/>
                  <a:ext cx="1517679" cy="707886"/>
                </a:xfrm>
                <a:prstGeom prst="rect">
                  <a:avLst/>
                </a:prstGeom>
                <a:solidFill>
                  <a:schemeClr val="bg1"/>
                </a:solidFill>
              </p:spPr>
              <p:txBody>
                <a:bodyPr wrap="square" rtlCol="0">
                  <a:spAutoFit/>
                </a:bodyPr>
                <a:lstStyle/>
                <a:p>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No</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bridges</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can</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be</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built</a:t>
                  </a:r>
                </a:p>
              </p:txBody>
            </p:sp>
            <p:cxnSp>
              <p:nvCxnSpPr>
                <p:cNvPr id="103" name="直線箭頭接點 102">
                  <a:extLst>
                    <a:ext uri="{FF2B5EF4-FFF2-40B4-BE49-F238E27FC236}">
                      <a16:creationId xmlns:a16="http://schemas.microsoft.com/office/drawing/2014/main" id="{4D4831D5-48C6-934A-8734-70731CEA7A37}"/>
                    </a:ext>
                  </a:extLst>
                </p:cNvPr>
                <p:cNvCxnSpPr/>
                <p:nvPr/>
              </p:nvCxnSpPr>
              <p:spPr>
                <a:xfrm>
                  <a:off x="7030995" y="2691322"/>
                  <a:ext cx="0" cy="519844"/>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4" name="直線箭頭接點 103">
                  <a:extLst>
                    <a:ext uri="{FF2B5EF4-FFF2-40B4-BE49-F238E27FC236}">
                      <a16:creationId xmlns:a16="http://schemas.microsoft.com/office/drawing/2014/main" id="{C6510A5A-4A9F-D444-9241-98500501D330}"/>
                    </a:ext>
                  </a:extLst>
                </p:cNvPr>
                <p:cNvCxnSpPr/>
                <p:nvPr/>
              </p:nvCxnSpPr>
              <p:spPr>
                <a:xfrm>
                  <a:off x="7628238" y="2691322"/>
                  <a:ext cx="0" cy="519844"/>
                </a:xfrm>
                <a:prstGeom prst="straightConnector1">
                  <a:avLst/>
                </a:prstGeom>
                <a:ln w="38100">
                  <a:solidFill>
                    <a:srgbClr val="FF0000"/>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sp>
              <p:nvSpPr>
                <p:cNvPr id="105" name="文字方塊 104">
                  <a:extLst>
                    <a:ext uri="{FF2B5EF4-FFF2-40B4-BE49-F238E27FC236}">
                      <a16:creationId xmlns:a16="http://schemas.microsoft.com/office/drawing/2014/main" id="{A9EE1AFF-D52C-C24C-AC0F-A131CDBA21AD}"/>
                    </a:ext>
                  </a:extLst>
                </p:cNvPr>
                <p:cNvSpPr txBox="1"/>
                <p:nvPr/>
              </p:nvSpPr>
              <p:spPr>
                <a:xfrm>
                  <a:off x="9347274" y="5843822"/>
                  <a:ext cx="1434018" cy="707886"/>
                </a:xfrm>
                <a:prstGeom prst="rect">
                  <a:avLst/>
                </a:prstGeom>
                <a:solidFill>
                  <a:schemeClr val="bg1"/>
                </a:solidFill>
              </p:spPr>
              <p:txBody>
                <a:bodyPr wrap="square" rtlCol="0">
                  <a:spAutoFit/>
                </a:bodyPr>
                <a:lstStyle/>
                <a:p>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No</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bridges</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can</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be</a:t>
                  </a:r>
                  <a:r>
                    <a:rPr kumimoji="1" lang="zh-TW" altLang="en-US" sz="2000" dirty="0">
                      <a:solidFill>
                        <a:schemeClr val="accent6">
                          <a:lumMod val="50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6">
                          <a:lumMod val="50000"/>
                        </a:schemeClr>
                      </a:solidFill>
                      <a:latin typeface="Times New Roman" panose="02020603050405020304" pitchFamily="18" charset="0"/>
                      <a:cs typeface="Times New Roman" panose="02020603050405020304" pitchFamily="18" charset="0"/>
                    </a:rPr>
                    <a:t>built</a:t>
                  </a:r>
                </a:p>
              </p:txBody>
            </p:sp>
            <p:cxnSp>
              <p:nvCxnSpPr>
                <p:cNvPr id="106" name="直線箭頭接點 105">
                  <a:extLst>
                    <a:ext uri="{FF2B5EF4-FFF2-40B4-BE49-F238E27FC236}">
                      <a16:creationId xmlns:a16="http://schemas.microsoft.com/office/drawing/2014/main" id="{EB0BA1DD-6F45-224C-A124-C34D103D0C55}"/>
                    </a:ext>
                  </a:extLst>
                </p:cNvPr>
                <p:cNvCxnSpPr/>
                <p:nvPr/>
              </p:nvCxnSpPr>
              <p:spPr>
                <a:xfrm>
                  <a:off x="9683707" y="2691322"/>
                  <a:ext cx="0" cy="519844"/>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7" name="直線箭頭接點 106">
                  <a:extLst>
                    <a:ext uri="{FF2B5EF4-FFF2-40B4-BE49-F238E27FC236}">
                      <a16:creationId xmlns:a16="http://schemas.microsoft.com/office/drawing/2014/main" id="{124F6594-7826-7E43-A789-4A12023C2340}"/>
                    </a:ext>
                  </a:extLst>
                </p:cNvPr>
                <p:cNvCxnSpPr/>
                <p:nvPr/>
              </p:nvCxnSpPr>
              <p:spPr>
                <a:xfrm>
                  <a:off x="9683707" y="4013302"/>
                  <a:ext cx="0" cy="519844"/>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8" name="直線箭頭接點 107">
                  <a:extLst>
                    <a:ext uri="{FF2B5EF4-FFF2-40B4-BE49-F238E27FC236}">
                      <a16:creationId xmlns:a16="http://schemas.microsoft.com/office/drawing/2014/main" id="{1BFCAFC6-29FC-D740-9258-C28349CC2DB4}"/>
                    </a:ext>
                  </a:extLst>
                </p:cNvPr>
                <p:cNvCxnSpPr/>
                <p:nvPr/>
              </p:nvCxnSpPr>
              <p:spPr>
                <a:xfrm>
                  <a:off x="9683707" y="5323978"/>
                  <a:ext cx="0" cy="519844"/>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9" name="直線箭頭接點 108">
                  <a:extLst>
                    <a:ext uri="{FF2B5EF4-FFF2-40B4-BE49-F238E27FC236}">
                      <a16:creationId xmlns:a16="http://schemas.microsoft.com/office/drawing/2014/main" id="{89A7B7C5-8BBC-7E44-AFEE-5CBA5507C26F}"/>
                    </a:ext>
                  </a:extLst>
                </p:cNvPr>
                <p:cNvCxnSpPr>
                  <a:cxnSpLocks/>
                </p:cNvCxnSpPr>
                <p:nvPr/>
              </p:nvCxnSpPr>
              <p:spPr>
                <a:xfrm flipH="1">
                  <a:off x="7400361" y="1274626"/>
                  <a:ext cx="723410" cy="438324"/>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0" name="直線箭頭接點 109">
                  <a:extLst>
                    <a:ext uri="{FF2B5EF4-FFF2-40B4-BE49-F238E27FC236}">
                      <a16:creationId xmlns:a16="http://schemas.microsoft.com/office/drawing/2014/main" id="{92299FA8-B338-A247-9E4F-39C983A6F0CA}"/>
                    </a:ext>
                  </a:extLst>
                </p:cNvPr>
                <p:cNvCxnSpPr>
                  <a:cxnSpLocks/>
                </p:cNvCxnSpPr>
                <p:nvPr/>
              </p:nvCxnSpPr>
              <p:spPr>
                <a:xfrm>
                  <a:off x="9097428" y="1274132"/>
                  <a:ext cx="835046" cy="458790"/>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1" name="直線箭頭接點 110">
                  <a:extLst>
                    <a:ext uri="{FF2B5EF4-FFF2-40B4-BE49-F238E27FC236}">
                      <a16:creationId xmlns:a16="http://schemas.microsoft.com/office/drawing/2014/main" id="{4C107D28-1C7C-1C4E-925C-0461B02CA8B6}"/>
                    </a:ext>
                  </a:extLst>
                </p:cNvPr>
                <p:cNvCxnSpPr>
                  <a:cxnSpLocks/>
                </p:cNvCxnSpPr>
                <p:nvPr/>
              </p:nvCxnSpPr>
              <p:spPr>
                <a:xfrm flipV="1">
                  <a:off x="7628239" y="1475473"/>
                  <a:ext cx="696329" cy="409378"/>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2" name="文字方塊 111">
                  <a:extLst>
                    <a:ext uri="{FF2B5EF4-FFF2-40B4-BE49-F238E27FC236}">
                      <a16:creationId xmlns:a16="http://schemas.microsoft.com/office/drawing/2014/main" id="{6D14F51D-2E17-B149-855B-834C2D178E78}"/>
                    </a:ext>
                  </a:extLst>
                </p:cNvPr>
                <p:cNvSpPr txBox="1"/>
                <p:nvPr/>
              </p:nvSpPr>
              <p:spPr>
                <a:xfrm>
                  <a:off x="10472829" y="3289068"/>
                  <a:ext cx="1213794" cy="707886"/>
                </a:xfrm>
                <a:prstGeom prst="rect">
                  <a:avLst/>
                </a:prstGeom>
                <a:noFill/>
              </p:spPr>
              <p:txBody>
                <a:bodyPr wrap="none" rtlCol="0">
                  <a:spAutoFit/>
                </a:bodyPr>
                <a:lstStyle/>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Right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0</a:t>
                  </a:r>
                </a:p>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Down</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1</a:t>
                  </a:r>
                  <a:endPar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113" name="文字方塊 112">
                  <a:extLst>
                    <a:ext uri="{FF2B5EF4-FFF2-40B4-BE49-F238E27FC236}">
                      <a16:creationId xmlns:a16="http://schemas.microsoft.com/office/drawing/2014/main" id="{77AB7A84-D06E-B940-87D4-326E5E9B8E90}"/>
                    </a:ext>
                  </a:extLst>
                </p:cNvPr>
                <p:cNvSpPr txBox="1"/>
                <p:nvPr/>
              </p:nvSpPr>
              <p:spPr>
                <a:xfrm>
                  <a:off x="10472164" y="4602571"/>
                  <a:ext cx="1213794" cy="707886"/>
                </a:xfrm>
                <a:prstGeom prst="rect">
                  <a:avLst/>
                </a:prstGeom>
                <a:noFill/>
              </p:spPr>
              <p:txBody>
                <a:bodyPr wrap="none" rtlCol="0">
                  <a:spAutoFit/>
                </a:bodyPr>
                <a:lstStyle/>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Left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2</a:t>
                  </a:r>
                </a:p>
                <a:p>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Down</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a:t>
                  </a:r>
                  <a:r>
                    <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rPr>
                    <a:t> </a:t>
                  </a:r>
                  <a:r>
                    <a:rPr kumimoji="1" lang="en-US" altLang="zh-TW" sz="2000" dirty="0">
                      <a:solidFill>
                        <a:schemeClr val="accent1">
                          <a:lumMod val="75000"/>
                        </a:schemeClr>
                      </a:solidFill>
                      <a:latin typeface="Times New Roman" panose="02020603050405020304" pitchFamily="18" charset="0"/>
                      <a:cs typeface="Times New Roman" panose="02020603050405020304" pitchFamily="18" charset="0"/>
                    </a:rPr>
                    <a:t>0</a:t>
                  </a:r>
                  <a:endParaRPr kumimoji="1" lang="zh-TW" altLang="en-US" sz="2000" dirty="0">
                    <a:solidFill>
                      <a:schemeClr val="accent1">
                        <a:lumMod val="75000"/>
                      </a:schemeClr>
                    </a:solidFill>
                    <a:latin typeface="Times New Roman" panose="02020603050405020304" pitchFamily="18" charset="0"/>
                    <a:cs typeface="Times New Roman" panose="02020603050405020304" pitchFamily="18" charset="0"/>
                  </a:endParaRPr>
                </a:p>
              </p:txBody>
            </p:sp>
          </p:grpSp>
        </p:grpSp>
        <p:sp>
          <p:nvSpPr>
            <p:cNvPr id="87" name="文字方塊 86">
              <a:extLst>
                <a:ext uri="{FF2B5EF4-FFF2-40B4-BE49-F238E27FC236}">
                  <a16:creationId xmlns:a16="http://schemas.microsoft.com/office/drawing/2014/main" id="{9E5874C8-7E43-004D-A3A4-D6090DD06FAC}"/>
                </a:ext>
              </a:extLst>
            </p:cNvPr>
            <p:cNvSpPr txBox="1"/>
            <p:nvPr/>
          </p:nvSpPr>
          <p:spPr>
            <a:xfrm>
              <a:off x="5790468" y="6100225"/>
              <a:ext cx="3328178" cy="400110"/>
            </a:xfrm>
            <a:prstGeom prst="rect">
              <a:avLst/>
            </a:prstGeom>
            <a:solidFill>
              <a:schemeClr val="bg1"/>
            </a:solidFill>
          </p:spPr>
          <p:txBody>
            <a:bodyPr wrap="square" rtlCol="0">
              <a:spAutoFit/>
            </a:bodyPr>
            <a:lstStyle/>
            <a:p>
              <a:r>
                <a:rPr kumimoji="1" lang="en-US" altLang="zh-TW" sz="2000" dirty="0">
                  <a:solidFill>
                    <a:srgbClr val="FF0000"/>
                  </a:solidFill>
                  <a:latin typeface="Times New Roman" panose="02020603050405020304" pitchFamily="18" charset="0"/>
                  <a:cs typeface="Times New Roman" panose="02020603050405020304" pitchFamily="18" charset="0"/>
                </a:rPr>
                <a:t>All</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islands</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are</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fully</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connected</a:t>
              </a:r>
            </a:p>
          </p:txBody>
        </p:sp>
      </p:grpSp>
    </p:spTree>
    <p:extLst>
      <p:ext uri="{BB962C8B-B14F-4D97-AF65-F5344CB8AC3E}">
        <p14:creationId xmlns:p14="http://schemas.microsoft.com/office/powerpoint/2010/main" val="2859454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B539C388-314D-E048-A3E7-42584191348F}"/>
              </a:ext>
            </a:extLst>
          </p:cNvPr>
          <p:cNvSpPr>
            <a:spLocks noGrp="1"/>
          </p:cNvSpPr>
          <p:nvPr>
            <p:ph type="title"/>
          </p:nvPr>
        </p:nvSpPr>
        <p:spPr/>
        <p:txBody>
          <a:bodyPr/>
          <a:lstStyle/>
          <a:p>
            <a:r>
              <a:rPr lang="en" altLang="zh-TW" dirty="0">
                <a:latin typeface="Times New Roman" panose="02020603050405020304" pitchFamily="18" charset="0"/>
                <a:cs typeface="Times New Roman" panose="02020603050405020304" pitchFamily="18" charset="0"/>
              </a:rPr>
              <a:t>Analysis and Result</a:t>
            </a:r>
            <a:endParaRPr lang="zh-TW" altLang="en-US" dirty="0"/>
          </a:p>
        </p:txBody>
      </p:sp>
      <p:sp>
        <p:nvSpPr>
          <p:cNvPr id="6" name="內容版面配置區 5">
            <a:extLst>
              <a:ext uri="{FF2B5EF4-FFF2-40B4-BE49-F238E27FC236}">
                <a16:creationId xmlns:a16="http://schemas.microsoft.com/office/drawing/2014/main" id="{BC23E236-74FB-1341-9302-3E750D37669D}"/>
              </a:ext>
            </a:extLst>
          </p:cNvPr>
          <p:cNvSpPr>
            <a:spLocks noGrp="1"/>
          </p:cNvSpPr>
          <p:nvPr>
            <p:ph idx="1"/>
          </p:nvPr>
        </p:nvSpPr>
        <p:spPr/>
        <p:txBody>
          <a:bodyPr/>
          <a:lstStyle/>
          <a:p>
            <a:pPr marL="0" indent="0">
              <a:buNone/>
            </a:pPr>
            <a:r>
              <a:rPr lang="en" altLang="zh-TW" dirty="0">
                <a:latin typeface="Times New Roman" panose="02020603050405020304" pitchFamily="18" charset="0"/>
                <a:cs typeface="Times New Roman" panose="02020603050405020304" pitchFamily="18" charset="0"/>
              </a:rPr>
              <a:t>Solution Searching by using </a:t>
            </a:r>
            <a:r>
              <a:rPr lang="en" altLang="zh-TW" dirty="0" err="1">
                <a:solidFill>
                  <a:schemeClr val="accent6">
                    <a:lumMod val="50000"/>
                  </a:schemeClr>
                </a:solidFill>
                <a:latin typeface="Times New Roman" panose="02020603050405020304" pitchFamily="18" charset="0"/>
                <a:cs typeface="Times New Roman" panose="02020603050405020304" pitchFamily="18" charset="0"/>
              </a:rPr>
              <a:t>Hashi</a:t>
            </a:r>
            <a:r>
              <a:rPr lang="en" altLang="zh-TW" dirty="0">
                <a:solidFill>
                  <a:schemeClr val="accent6">
                    <a:lumMod val="50000"/>
                  </a:schemeClr>
                </a:solidFill>
                <a:latin typeface="Times New Roman" panose="02020603050405020304" pitchFamily="18" charset="0"/>
                <a:cs typeface="Times New Roman" panose="02020603050405020304" pitchFamily="18" charset="0"/>
              </a:rPr>
              <a:t> Solving Techniques</a:t>
            </a:r>
            <a:r>
              <a:rPr lang="en" altLang="zh-TW" dirty="0">
                <a:latin typeface="Times New Roman" panose="02020603050405020304" pitchFamily="18" charset="0"/>
                <a:cs typeface="Times New Roman" panose="02020603050405020304" pitchFamily="18" charset="0"/>
              </a:rPr>
              <a:t> and using </a:t>
            </a:r>
            <a:r>
              <a:rPr lang="en" altLang="zh-TW" dirty="0" err="1">
                <a:solidFill>
                  <a:schemeClr val="accent6">
                    <a:lumMod val="50000"/>
                  </a:schemeClr>
                </a:solidFill>
                <a:latin typeface="Times New Roman" panose="02020603050405020304" pitchFamily="18" charset="0"/>
                <a:cs typeface="Times New Roman" panose="02020603050405020304" pitchFamily="18" charset="0"/>
              </a:rPr>
              <a:t>Hashi</a:t>
            </a:r>
            <a:r>
              <a:rPr lang="en" altLang="zh-TW" dirty="0">
                <a:solidFill>
                  <a:schemeClr val="accent6">
                    <a:lumMod val="50000"/>
                  </a:schemeClr>
                </a:solidFill>
                <a:latin typeface="Times New Roman" panose="02020603050405020304" pitchFamily="18" charset="0"/>
                <a:cs typeface="Times New Roman" panose="02020603050405020304" pitchFamily="18" charset="0"/>
              </a:rPr>
              <a:t> Solving Techniques and Depth First Search</a:t>
            </a:r>
          </a:p>
        </p:txBody>
      </p:sp>
      <p:sp>
        <p:nvSpPr>
          <p:cNvPr id="3" name="投影片編號版面配置區 2">
            <a:extLst>
              <a:ext uri="{FF2B5EF4-FFF2-40B4-BE49-F238E27FC236}">
                <a16:creationId xmlns:a16="http://schemas.microsoft.com/office/drawing/2014/main" id="{B344935E-6FF2-8E42-BBD9-CD57697DD224}"/>
              </a:ext>
            </a:extLst>
          </p:cNvPr>
          <p:cNvSpPr>
            <a:spLocks noGrp="1"/>
          </p:cNvSpPr>
          <p:nvPr>
            <p:ph type="sldNum" sz="quarter" idx="12"/>
          </p:nvPr>
        </p:nvSpPr>
        <p:spPr/>
        <p:txBody>
          <a:bodyPr/>
          <a:lstStyle/>
          <a:p>
            <a:fld id="{ECBA910D-82EB-F545-8167-DA0C7F9B0A2A}" type="slidenum">
              <a:rPr kumimoji="1" lang="zh-TW" altLang="en-US" smtClean="0"/>
              <a:t>12</a:t>
            </a:fld>
            <a:endParaRPr kumimoji="1" lang="zh-TW" altLang="en-US"/>
          </a:p>
        </p:txBody>
      </p:sp>
      <p:pic>
        <p:nvPicPr>
          <p:cNvPr id="5" name="圖片 4" descr="一張含有 資料表 的圖片&#10;&#10;自動產生的描述">
            <a:extLst>
              <a:ext uri="{FF2B5EF4-FFF2-40B4-BE49-F238E27FC236}">
                <a16:creationId xmlns:a16="http://schemas.microsoft.com/office/drawing/2014/main" id="{79BCD16C-E9BF-C443-A6ED-E21300EBCE57}"/>
              </a:ext>
            </a:extLst>
          </p:cNvPr>
          <p:cNvPicPr>
            <a:picLocks noChangeAspect="1"/>
          </p:cNvPicPr>
          <p:nvPr/>
        </p:nvPicPr>
        <p:blipFill>
          <a:blip r:embed="rId2"/>
          <a:stretch>
            <a:fillRect/>
          </a:stretch>
        </p:blipFill>
        <p:spPr>
          <a:xfrm>
            <a:off x="838200" y="3266474"/>
            <a:ext cx="10541000" cy="2425700"/>
          </a:xfrm>
          <a:prstGeom prst="rect">
            <a:avLst/>
          </a:prstGeom>
        </p:spPr>
      </p:pic>
    </p:spTree>
    <p:extLst>
      <p:ext uri="{BB962C8B-B14F-4D97-AF65-F5344CB8AC3E}">
        <p14:creationId xmlns:p14="http://schemas.microsoft.com/office/powerpoint/2010/main" val="365774050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18520</TotalTime>
  <Words>413</Words>
  <Application>Microsoft Macintosh PowerPoint</Application>
  <PresentationFormat>寬螢幕</PresentationFormat>
  <Paragraphs>86</Paragraphs>
  <Slides>12</Slides>
  <Notes>2</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12</vt:i4>
      </vt:variant>
    </vt:vector>
  </HeadingPairs>
  <TitlesOfParts>
    <vt:vector size="18" baseType="lpstr">
      <vt:lpstr>Times</vt:lpstr>
      <vt:lpstr>Arial</vt:lpstr>
      <vt:lpstr>Calibri</vt:lpstr>
      <vt:lpstr>Calibri Light</vt:lpstr>
      <vt:lpstr>Times New Roman</vt:lpstr>
      <vt:lpstr>Office 佈景主題</vt:lpstr>
      <vt:lpstr>Solving Hashiwokakero Puzzle Game with Hashi Solving Techniques and Depth First Search</vt:lpstr>
      <vt:lpstr>Abstract</vt:lpstr>
      <vt:lpstr>Hashiwokakero</vt:lpstr>
      <vt:lpstr>Hashi Solving Techniques</vt:lpstr>
      <vt:lpstr>Hashi Solving Techniques</vt:lpstr>
      <vt:lpstr>Hashi Solving Techniques</vt:lpstr>
      <vt:lpstr>Hashi Solving Techniques</vt:lpstr>
      <vt:lpstr>Hashi Solving Techniques</vt:lpstr>
      <vt:lpstr>Hashi Solving Techniques</vt:lpstr>
      <vt:lpstr>Depth First Search</vt:lpstr>
      <vt:lpstr>Depth First Search</vt:lpstr>
      <vt:lpstr>Analysis and 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should bid higher, NS or WE, in a given Bridge deal.</dc:title>
  <dc:creator>M113040012</dc:creator>
  <cp:lastModifiedBy>M113040012</cp:lastModifiedBy>
  <cp:revision>206</cp:revision>
  <dcterms:created xsi:type="dcterms:W3CDTF">2023-02-04T11:01:39Z</dcterms:created>
  <dcterms:modified xsi:type="dcterms:W3CDTF">2023-04-16T11:12:16Z</dcterms:modified>
</cp:coreProperties>
</file>