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697EEFB-DF38-421A-8E0B-279613599858}">
  <a:tblStyle styleId="{E697EEFB-DF38-421A-8E0B-27961359985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456d377eb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2456d377eb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456d377eb3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456d377eb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456d377eb3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456d377eb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456d377eb3_2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456d377eb3_2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456d377eb3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456d377eb3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456d377eb3_2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456d377eb3_2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456d377eb3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456d377eb3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4570220294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4570220294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456d377eb3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456d377eb3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456d377eb3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456d377eb3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806d616dc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806d616dc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456d377eb3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456d377eb3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456d377eb3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456d377eb3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807d8a74bf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807d8a74bf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807d8a74bf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2807d8a74bf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807d8a74bf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807d8a74bf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807d8a74bf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2807d8a74bf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807d8a74bf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2807d8a74bf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807d8a74bf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807d8a74bf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807d8a74bf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2807d8a74bf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807d8a74bf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2807d8a74bf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2807d8a74bf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2807d8a74b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807d8a74bf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807d8a74bf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807d8a74bf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807d8a74bf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807d8a74b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807d8a74b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Maze Exploration Algorithm for Small Mobile Platforms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Ł Bienias, K Szczepański, P Duch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 Processing &amp; Communications, vol. 21, no. 3, pp.15-26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4914600" y="4220100"/>
            <a:ext cx="4229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Presenter: Guan-Jie Chen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Date: </a:t>
            </a:r>
            <a:r>
              <a:rPr lang="zh-TW" sz="2400">
                <a:latin typeface="Times New Roman"/>
                <a:ea typeface="Times New Roman"/>
                <a:cs typeface="Times New Roman"/>
                <a:sym typeface="Times New Roman"/>
              </a:rPr>
              <a:t>Sept</a:t>
            </a:r>
            <a:r>
              <a:rPr lang="zh-TW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zh-TW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zh-TW" sz="24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zh-TW" sz="2400"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lang="zh-TW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2023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algorithm that enables efficient maze exploration is presented in the paper. The algorithm involves two phases: first the whole maze is explored in an ordered way and then, the shortest possible way out is determined. The algorithm has been derived in a way that combines main advantages of the two known labirynth-exploration algorithms: "Wall follower" and "Trémaux’s algorithm".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Abstract (cont.)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algorithm has been tested using an autonomous vehicle, controlled by Arduino UNO, with two DC engines, ultrasonic sensors and gyroscope. It has been shown that the proposed approach provides a few crucial advantages with respect to already known solutions.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" name="Google Shape;7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Left / Right Wall Follower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 </a:t>
            </a: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4096" y="1152475"/>
            <a:ext cx="4035816" cy="341639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Left / Right Wall Follower (cont.)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 maze is traversed in an ordered way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does </a:t>
            </a:r>
            <a:r>
              <a:rPr lang="zh-TW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always guarantee that the way out will be found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85" name="Google Shape;85;p17"/>
          <p:cNvGraphicFramePr/>
          <p:nvPr/>
        </p:nvGraphicFramePr>
        <p:xfrm>
          <a:off x="3595700" y="2352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{E697EEFB-DF38-421A-8E0B-279613599858}</a:tableStyleId>
              </a:tblPr>
              <a:tblGrid>
                <a:gridCol w="691250"/>
                <a:gridCol w="691250"/>
                <a:gridCol w="691250"/>
              </a:tblGrid>
              <a:tr h="649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9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End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9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6" name="Google Shape;86;p17"/>
          <p:cNvSpPr txBox="1"/>
          <p:nvPr/>
        </p:nvSpPr>
        <p:spPr>
          <a:xfrm>
            <a:off x="3474538" y="4254700"/>
            <a:ext cx="812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Start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Pledge Algorithm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 </a:t>
            </a:r>
            <a:endParaRPr/>
          </a:p>
        </p:txBody>
      </p:sp>
      <p:pic>
        <p:nvPicPr>
          <p:cNvPr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7477" y="1152475"/>
            <a:ext cx="4489035" cy="34164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Pledge Algorithm (cont.)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a modified version of "Left Wall Follower" algorithm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find a way from any point inside to an </a:t>
            </a:r>
            <a:r>
              <a:rPr lang="zh-TW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outer exit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any finite two-dimensional maze, regardless of the initial position of the solver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Flood Fill Algorithm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 </a:t>
            </a:r>
            <a:endParaRPr/>
          </a:p>
        </p:txBody>
      </p:sp>
      <p:pic>
        <p:nvPicPr>
          <p:cNvPr id="109" name="Google Shape;10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6819" y="1152475"/>
            <a:ext cx="3150370" cy="341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Flood Fill Algorithm (cont.)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not only finds all possible solutions, but also indicates the best one and ensures exploration of the whole maze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 requires knowledge of the structure of the maze before entering into it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11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Tr</a:t>
            </a: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é</a:t>
            </a: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maux’s Algorithm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" name="Google Shape;123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 </a:t>
            </a:r>
            <a:endParaRPr/>
          </a:p>
        </p:txBody>
      </p:sp>
      <p:pic>
        <p:nvPicPr>
          <p:cNvPr id="124" name="Google Shape;12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0301" y="1152475"/>
            <a:ext cx="3983385" cy="341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Trémaux’s Algorithm (cont.)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Three types of passages can be distinguished: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mpty, which means that the passage wasn’t explored yet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Marked once, pointing that the path was visited exactly once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Marked twice, meaning that traveller was going that way and was forced to turn back, which indicates the wrong path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" name="Google Shape;13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Trémaux’s Algorithm (cont.)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logic assumes random choice of direction, which should be followed in case of more than one free passage going out of one junction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is a possibility that not whole maze will be traversed, which in turn may result in missing the shortest paths to the same exit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Proposed Algorithm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" name="Google Shape;145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rovides a complete maze mapping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Produces information for generation of shortest paths to exit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proposed algorithm combines "Left Wall Follower" and "Trémaux’s algorithm" to meets two objectives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" name="Google Shape;146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Proposed Algorithm (cont.)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 </a:t>
            </a:r>
            <a:endParaRPr/>
          </a:p>
        </p:txBody>
      </p:sp>
      <p:pic>
        <p:nvPicPr>
          <p:cNvPr id="153" name="Google Shape;15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2987" y="1152475"/>
            <a:ext cx="5638021" cy="341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Proposed Algorithm (cont.)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" name="Google Shape;160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 </a:t>
            </a:r>
            <a:endParaRPr/>
          </a:p>
        </p:txBody>
      </p:sp>
      <p:pic>
        <p:nvPicPr>
          <p:cNvPr id="161" name="Google Shape;16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71813" y="1558137"/>
            <a:ext cx="2600375" cy="260507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7"/>
          <p:cNvSpPr txBox="1"/>
          <p:nvPr/>
        </p:nvSpPr>
        <p:spPr>
          <a:xfrm>
            <a:off x="760200" y="4250875"/>
            <a:ext cx="7623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Maze with marked turns, which would be stored on the stack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" name="Google Shape;163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Proposed Algorithm (cont.)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" name="Google Shape;169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 </a:t>
            </a:r>
            <a:endParaRPr/>
          </a:p>
        </p:txBody>
      </p:sp>
      <p:pic>
        <p:nvPicPr>
          <p:cNvPr id="170" name="Google Shape;17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9644" y="2052544"/>
            <a:ext cx="2042375" cy="161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50373" y="1689963"/>
            <a:ext cx="4528375" cy="234142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Proposed Algorithm (cont.)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" name="Google Shape;178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 </a:t>
            </a:r>
            <a:endParaRPr/>
          </a:p>
        </p:txBody>
      </p:sp>
      <p:pic>
        <p:nvPicPr>
          <p:cNvPr id="179" name="Google Shape;17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0450" y="1152475"/>
            <a:ext cx="3382951" cy="3416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1997" y="1719600"/>
            <a:ext cx="3923825" cy="228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Proposed Algorithm (cont.)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" name="Google Shape;187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 </a:t>
            </a:r>
            <a:endParaRPr/>
          </a:p>
        </p:txBody>
      </p:sp>
      <p:pic>
        <p:nvPicPr>
          <p:cNvPr id="188" name="Google Shape;18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7525" y="1152475"/>
            <a:ext cx="2753655" cy="34164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9" name="Google Shape;189;p30"/>
          <p:cNvGraphicFramePr/>
          <p:nvPr/>
        </p:nvGraphicFramePr>
        <p:xfrm>
          <a:off x="1951250" y="1571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{E697EEFB-DF38-421A-8E0B-279613599858}</a:tableStyleId>
              </a:tblPr>
              <a:tblGrid>
                <a:gridCol w="426450"/>
                <a:gridCol w="426450"/>
                <a:gridCol w="426450"/>
                <a:gridCol w="426450"/>
                <a:gridCol w="426450"/>
                <a:gridCol w="426450"/>
              </a:tblGrid>
              <a:tr h="42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2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4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2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0" name="Google Shape;190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Proposed Algorithm (cont.)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" name="Google Shape;196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 </a:t>
            </a:r>
            <a:endParaRPr/>
          </a:p>
        </p:txBody>
      </p:sp>
      <p:pic>
        <p:nvPicPr>
          <p:cNvPr id="197" name="Google Shape;19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7525" y="1152475"/>
            <a:ext cx="2753655" cy="34164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8" name="Google Shape;198;p31"/>
          <p:cNvGraphicFramePr/>
          <p:nvPr/>
        </p:nvGraphicFramePr>
        <p:xfrm>
          <a:off x="1951250" y="1571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{E697EEFB-DF38-421A-8E0B-279613599858}</a:tableStyleId>
              </a:tblPr>
              <a:tblGrid>
                <a:gridCol w="426450"/>
                <a:gridCol w="426450"/>
                <a:gridCol w="426450"/>
                <a:gridCol w="426450"/>
                <a:gridCol w="426450"/>
                <a:gridCol w="426450"/>
              </a:tblGrid>
              <a:tr h="42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-1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2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>
                        <a:solidFill>
                          <a:schemeClr val="accen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4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2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9" name="Google Shape;199;p31"/>
          <p:cNvSpPr/>
          <p:nvPr/>
        </p:nvSpPr>
        <p:spPr>
          <a:xfrm>
            <a:off x="5958925" y="1611575"/>
            <a:ext cx="1249700" cy="506625"/>
          </a:xfrm>
          <a:custGeom>
            <a:rect b="b" l="l" r="r" t="t"/>
            <a:pathLst>
              <a:path extrusionOk="0" h="20265" w="49988">
                <a:moveTo>
                  <a:pt x="0" y="0"/>
                </a:moveTo>
                <a:lnTo>
                  <a:pt x="0" y="19879"/>
                </a:lnTo>
                <a:lnTo>
                  <a:pt x="5211" y="19879"/>
                </a:lnTo>
                <a:lnTo>
                  <a:pt x="5211" y="2509"/>
                </a:lnTo>
                <a:lnTo>
                  <a:pt x="49602" y="2509"/>
                </a:lnTo>
                <a:lnTo>
                  <a:pt x="49602" y="13317"/>
                </a:lnTo>
                <a:lnTo>
                  <a:pt x="16598" y="13317"/>
                </a:lnTo>
                <a:lnTo>
                  <a:pt x="16598" y="20265"/>
                </a:lnTo>
                <a:lnTo>
                  <a:pt x="49988" y="20265"/>
                </a:lnTo>
              </a:path>
            </a:pathLst>
          </a:cu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00" name="Google Shape;200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Proposed Algorithm (cont.)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" name="Google Shape;206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 </a:t>
            </a:r>
            <a:endParaRPr/>
          </a:p>
        </p:txBody>
      </p:sp>
      <p:pic>
        <p:nvPicPr>
          <p:cNvPr id="207" name="Google Shape;20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7525" y="1152475"/>
            <a:ext cx="2753655" cy="34164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8" name="Google Shape;208;p32"/>
          <p:cNvGraphicFramePr/>
          <p:nvPr/>
        </p:nvGraphicFramePr>
        <p:xfrm>
          <a:off x="1951250" y="1571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{E697EEFB-DF38-421A-8E0B-279613599858}</a:tableStyleId>
              </a:tblPr>
              <a:tblGrid>
                <a:gridCol w="426450"/>
                <a:gridCol w="426450"/>
                <a:gridCol w="426450"/>
                <a:gridCol w="426450"/>
                <a:gridCol w="426450"/>
                <a:gridCol w="426450"/>
              </a:tblGrid>
              <a:tr h="42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-1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2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4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2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>
                        <a:solidFill>
                          <a:schemeClr val="accen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>
                        <a:solidFill>
                          <a:schemeClr val="accen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>
                        <a:solidFill>
                          <a:schemeClr val="accen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-2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9" name="Google Shape;209;p32"/>
          <p:cNvSpPr/>
          <p:nvPr/>
        </p:nvSpPr>
        <p:spPr>
          <a:xfrm>
            <a:off x="5958925" y="1611575"/>
            <a:ext cx="1249700" cy="506625"/>
          </a:xfrm>
          <a:custGeom>
            <a:rect b="b" l="l" r="r" t="t"/>
            <a:pathLst>
              <a:path extrusionOk="0" h="20265" w="49988">
                <a:moveTo>
                  <a:pt x="0" y="0"/>
                </a:moveTo>
                <a:lnTo>
                  <a:pt x="0" y="19879"/>
                </a:lnTo>
                <a:lnTo>
                  <a:pt x="5211" y="19879"/>
                </a:lnTo>
                <a:lnTo>
                  <a:pt x="5211" y="2509"/>
                </a:lnTo>
                <a:lnTo>
                  <a:pt x="49602" y="2509"/>
                </a:lnTo>
                <a:lnTo>
                  <a:pt x="49602" y="13317"/>
                </a:lnTo>
                <a:lnTo>
                  <a:pt x="16598" y="13317"/>
                </a:lnTo>
                <a:lnTo>
                  <a:pt x="16598" y="20265"/>
                </a:lnTo>
                <a:lnTo>
                  <a:pt x="49988" y="20265"/>
                </a:lnTo>
              </a:path>
            </a:pathLst>
          </a:cu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10" name="Google Shape;210;p32"/>
          <p:cNvSpPr/>
          <p:nvPr/>
        </p:nvSpPr>
        <p:spPr>
          <a:xfrm>
            <a:off x="6369050" y="2123025"/>
            <a:ext cx="839575" cy="1925200"/>
          </a:xfrm>
          <a:custGeom>
            <a:rect b="b" l="l" r="r" t="t"/>
            <a:pathLst>
              <a:path extrusionOk="0" h="77008" w="33583">
                <a:moveTo>
                  <a:pt x="32811" y="0"/>
                </a:moveTo>
                <a:lnTo>
                  <a:pt x="32811" y="27406"/>
                </a:lnTo>
                <a:lnTo>
                  <a:pt x="579" y="27406"/>
                </a:lnTo>
                <a:lnTo>
                  <a:pt x="579" y="32424"/>
                </a:lnTo>
                <a:lnTo>
                  <a:pt x="17178" y="32424"/>
                </a:lnTo>
                <a:lnTo>
                  <a:pt x="17178" y="49601"/>
                </a:lnTo>
                <a:lnTo>
                  <a:pt x="22389" y="49601"/>
                </a:lnTo>
                <a:lnTo>
                  <a:pt x="22389" y="32617"/>
                </a:lnTo>
                <a:lnTo>
                  <a:pt x="33583" y="32617"/>
                </a:lnTo>
                <a:lnTo>
                  <a:pt x="33583" y="60602"/>
                </a:lnTo>
                <a:lnTo>
                  <a:pt x="17178" y="60602"/>
                </a:lnTo>
                <a:lnTo>
                  <a:pt x="17178" y="66585"/>
                </a:lnTo>
                <a:lnTo>
                  <a:pt x="33583" y="66585"/>
                </a:lnTo>
                <a:lnTo>
                  <a:pt x="33583" y="76043"/>
                </a:lnTo>
                <a:lnTo>
                  <a:pt x="6370" y="76043"/>
                </a:lnTo>
                <a:lnTo>
                  <a:pt x="6370" y="60023"/>
                </a:lnTo>
                <a:lnTo>
                  <a:pt x="0" y="59830"/>
                </a:lnTo>
                <a:lnTo>
                  <a:pt x="0" y="77008"/>
                </a:lnTo>
              </a:path>
            </a:pathLst>
          </a:cu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11" name="Google Shape;211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Proposed Algorithm (cont.)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7" name="Google Shape;217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 </a:t>
            </a:r>
            <a:endParaRPr/>
          </a:p>
        </p:txBody>
      </p:sp>
      <p:pic>
        <p:nvPicPr>
          <p:cNvPr id="218" name="Google Shape;21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7525" y="1152475"/>
            <a:ext cx="2753655" cy="34164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19" name="Google Shape;219;p33"/>
          <p:cNvGraphicFramePr/>
          <p:nvPr/>
        </p:nvGraphicFramePr>
        <p:xfrm>
          <a:off x="1951250" y="1571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{E697EEFB-DF38-421A-8E0B-279613599858}</a:tableStyleId>
              </a:tblPr>
              <a:tblGrid>
                <a:gridCol w="426450"/>
                <a:gridCol w="426450"/>
                <a:gridCol w="426450"/>
                <a:gridCol w="426450"/>
                <a:gridCol w="426450"/>
                <a:gridCol w="426450"/>
              </a:tblGrid>
              <a:tr h="42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-1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2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4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>
                        <a:solidFill>
                          <a:schemeClr val="accen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>
                        <a:solidFill>
                          <a:schemeClr val="accen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2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-2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0" name="Google Shape;220;p33"/>
          <p:cNvSpPr/>
          <p:nvPr/>
        </p:nvSpPr>
        <p:spPr>
          <a:xfrm>
            <a:off x="5958925" y="1611575"/>
            <a:ext cx="1249700" cy="506625"/>
          </a:xfrm>
          <a:custGeom>
            <a:rect b="b" l="l" r="r" t="t"/>
            <a:pathLst>
              <a:path extrusionOk="0" h="20265" w="49988">
                <a:moveTo>
                  <a:pt x="0" y="0"/>
                </a:moveTo>
                <a:lnTo>
                  <a:pt x="0" y="19879"/>
                </a:lnTo>
                <a:lnTo>
                  <a:pt x="5211" y="19879"/>
                </a:lnTo>
                <a:lnTo>
                  <a:pt x="5211" y="2509"/>
                </a:lnTo>
                <a:lnTo>
                  <a:pt x="49602" y="2509"/>
                </a:lnTo>
                <a:lnTo>
                  <a:pt x="49602" y="13317"/>
                </a:lnTo>
                <a:lnTo>
                  <a:pt x="16598" y="13317"/>
                </a:lnTo>
                <a:lnTo>
                  <a:pt x="16598" y="20265"/>
                </a:lnTo>
                <a:lnTo>
                  <a:pt x="49988" y="20265"/>
                </a:lnTo>
              </a:path>
            </a:pathLst>
          </a:cu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21" name="Google Shape;221;p33"/>
          <p:cNvSpPr/>
          <p:nvPr/>
        </p:nvSpPr>
        <p:spPr>
          <a:xfrm>
            <a:off x="6369050" y="2123025"/>
            <a:ext cx="839575" cy="1925200"/>
          </a:xfrm>
          <a:custGeom>
            <a:rect b="b" l="l" r="r" t="t"/>
            <a:pathLst>
              <a:path extrusionOk="0" h="77008" w="33583">
                <a:moveTo>
                  <a:pt x="32811" y="0"/>
                </a:moveTo>
                <a:lnTo>
                  <a:pt x="32811" y="27406"/>
                </a:lnTo>
                <a:lnTo>
                  <a:pt x="579" y="27406"/>
                </a:lnTo>
                <a:lnTo>
                  <a:pt x="579" y="32424"/>
                </a:lnTo>
                <a:lnTo>
                  <a:pt x="17178" y="32424"/>
                </a:lnTo>
                <a:lnTo>
                  <a:pt x="17178" y="49601"/>
                </a:lnTo>
                <a:lnTo>
                  <a:pt x="22389" y="49601"/>
                </a:lnTo>
                <a:lnTo>
                  <a:pt x="22389" y="32617"/>
                </a:lnTo>
                <a:lnTo>
                  <a:pt x="33583" y="32617"/>
                </a:lnTo>
                <a:lnTo>
                  <a:pt x="33583" y="60602"/>
                </a:lnTo>
                <a:lnTo>
                  <a:pt x="17178" y="60602"/>
                </a:lnTo>
                <a:lnTo>
                  <a:pt x="17178" y="66585"/>
                </a:lnTo>
                <a:lnTo>
                  <a:pt x="33583" y="66585"/>
                </a:lnTo>
                <a:lnTo>
                  <a:pt x="33583" y="76043"/>
                </a:lnTo>
                <a:lnTo>
                  <a:pt x="6370" y="76043"/>
                </a:lnTo>
                <a:lnTo>
                  <a:pt x="6370" y="60023"/>
                </a:lnTo>
                <a:lnTo>
                  <a:pt x="0" y="59830"/>
                </a:lnTo>
                <a:lnTo>
                  <a:pt x="0" y="77008"/>
                </a:lnTo>
              </a:path>
            </a:pathLst>
          </a:cu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22" name="Google Shape;222;p33"/>
          <p:cNvSpPr/>
          <p:nvPr/>
        </p:nvSpPr>
        <p:spPr>
          <a:xfrm>
            <a:off x="4839525" y="1572975"/>
            <a:ext cx="1534350" cy="2489725"/>
          </a:xfrm>
          <a:custGeom>
            <a:rect b="b" l="l" r="r" t="t"/>
            <a:pathLst>
              <a:path extrusionOk="0" h="99589" w="61374">
                <a:moveTo>
                  <a:pt x="61374" y="82025"/>
                </a:moveTo>
                <a:lnTo>
                  <a:pt x="44197" y="82025"/>
                </a:lnTo>
                <a:lnTo>
                  <a:pt x="44197" y="99396"/>
                </a:lnTo>
                <a:lnTo>
                  <a:pt x="16598" y="99396"/>
                </a:lnTo>
                <a:lnTo>
                  <a:pt x="16598" y="48829"/>
                </a:lnTo>
                <a:lnTo>
                  <a:pt x="11387" y="48829"/>
                </a:lnTo>
                <a:lnTo>
                  <a:pt x="11387" y="99589"/>
                </a:lnTo>
                <a:lnTo>
                  <a:pt x="0" y="99589"/>
                </a:lnTo>
                <a:lnTo>
                  <a:pt x="0" y="4825"/>
                </a:lnTo>
                <a:lnTo>
                  <a:pt x="11001" y="4825"/>
                </a:lnTo>
                <a:lnTo>
                  <a:pt x="11001" y="38407"/>
                </a:lnTo>
                <a:lnTo>
                  <a:pt x="16984" y="38407"/>
                </a:lnTo>
                <a:lnTo>
                  <a:pt x="16984" y="5404"/>
                </a:lnTo>
                <a:lnTo>
                  <a:pt x="33389" y="5404"/>
                </a:lnTo>
                <a:lnTo>
                  <a:pt x="33389" y="0"/>
                </a:lnTo>
                <a:lnTo>
                  <a:pt x="33389" y="3281"/>
                </a:lnTo>
              </a:path>
            </a:pathLst>
          </a:cu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23" name="Google Shape;223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Proposed Algorithm (cont.)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9" name="Google Shape;229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當2D array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沒有0: Done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當traverse回到起點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Stack為空: Done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Stack尚有資料: 存在從終點回到起點的路徑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把stack中的資料順序顛倒，再加180</a:t>
            </a:r>
            <a:r>
              <a:rPr baseline="30000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◦</a:t>
            </a:r>
            <a:endParaRPr baseline="30000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0" name="Google Shape;230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Result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6" name="Google Shape;236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 </a:t>
            </a:r>
            <a:endParaRPr/>
          </a:p>
        </p:txBody>
      </p:sp>
      <p:pic>
        <p:nvPicPr>
          <p:cNvPr id="237" name="Google Shape;237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6863" y="1447800"/>
            <a:ext cx="6010275" cy="22479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5"/>
          <p:cNvSpPr/>
          <p:nvPr/>
        </p:nvSpPr>
        <p:spPr>
          <a:xfrm>
            <a:off x="1780450" y="1215925"/>
            <a:ext cx="1076100" cy="444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35"/>
          <p:cNvSpPr txBox="1"/>
          <p:nvPr/>
        </p:nvSpPr>
        <p:spPr>
          <a:xfrm>
            <a:off x="3182400" y="4014775"/>
            <a:ext cx="2779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Length of paths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0" name="Google Shape;240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Result (cont.)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6" name="Google Shape;246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 </a:t>
            </a:r>
            <a:endParaRPr/>
          </a:p>
        </p:txBody>
      </p:sp>
      <p:pic>
        <p:nvPicPr>
          <p:cNvPr id="247" name="Google Shape;24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4025" y="1790700"/>
            <a:ext cx="5695950" cy="15621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36"/>
          <p:cNvSpPr txBox="1"/>
          <p:nvPr/>
        </p:nvSpPr>
        <p:spPr>
          <a:xfrm>
            <a:off x="3170250" y="3645475"/>
            <a:ext cx="2803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Length of paths (average)</a:t>
            </a:r>
            <a:endParaRPr/>
          </a:p>
        </p:txBody>
      </p:sp>
      <p:sp>
        <p:nvSpPr>
          <p:cNvPr id="249" name="Google Shape;249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Result (cont.)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5" name="Google Shape;255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 </a:t>
            </a:r>
            <a:endParaRPr/>
          </a:p>
        </p:txBody>
      </p:sp>
      <p:pic>
        <p:nvPicPr>
          <p:cNvPr id="256" name="Google Shape;25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8348" y="1367750"/>
            <a:ext cx="4543050" cy="298585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37"/>
          <p:cNvSpPr txBox="1"/>
          <p:nvPr/>
        </p:nvSpPr>
        <p:spPr>
          <a:xfrm>
            <a:off x="5823825" y="2235775"/>
            <a:ext cx="2571900" cy="12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accent1"/>
                </a:solidFill>
              </a:rPr>
              <a:t>———　Left Wall Follower</a:t>
            </a:r>
            <a:endParaRPr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00FF00"/>
                </a:solidFill>
              </a:rPr>
              <a:t>———　</a:t>
            </a:r>
            <a:r>
              <a:rPr lang="zh-TW">
                <a:solidFill>
                  <a:srgbClr val="00FF00"/>
                </a:solidFill>
              </a:rPr>
              <a:t>Trémaux’s algorithm</a:t>
            </a:r>
            <a:endParaRPr>
              <a:solidFill>
                <a:srgbClr val="00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FF0000"/>
                </a:solidFill>
              </a:rPr>
              <a:t>———　</a:t>
            </a:r>
            <a:r>
              <a:rPr lang="zh-TW">
                <a:solidFill>
                  <a:srgbClr val="FF0000"/>
                </a:solidFill>
              </a:rPr>
              <a:t>Developed algorithm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258" name="Google Shape;258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 </a:t>
            </a:r>
            <a:endParaRPr/>
          </a:p>
        </p:txBody>
      </p:sp>
      <p:sp>
        <p:nvSpPr>
          <p:cNvPr id="264" name="Google Shape;264;p38"/>
          <p:cNvSpPr txBox="1"/>
          <p:nvPr>
            <p:ph idx="1" type="body"/>
          </p:nvPr>
        </p:nvSpPr>
        <p:spPr>
          <a:xfrm>
            <a:off x="311700" y="1353325"/>
            <a:ext cx="8520600" cy="108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4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Thanks for your patience</a:t>
            </a:r>
            <a:endParaRPr sz="4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5" name="Google Shape;265;p38"/>
          <p:cNvSpPr/>
          <p:nvPr/>
        </p:nvSpPr>
        <p:spPr>
          <a:xfrm>
            <a:off x="3987600" y="2357825"/>
            <a:ext cx="1168800" cy="1140300"/>
          </a:xfrm>
          <a:prstGeom prst="smileyFace">
            <a:avLst>
              <a:gd fmla="val 4653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