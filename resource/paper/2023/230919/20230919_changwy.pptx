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67" r:id="rId4"/>
    <p:sldId id="268" r:id="rId5"/>
    <p:sldId id="273" r:id="rId6"/>
    <p:sldId id="276" r:id="rId7"/>
    <p:sldId id="283" r:id="rId8"/>
    <p:sldId id="277" r:id="rId9"/>
    <p:sldId id="278" r:id="rId10"/>
    <p:sldId id="284" r:id="rId11"/>
    <p:sldId id="269" r:id="rId12"/>
    <p:sldId id="279" r:id="rId13"/>
    <p:sldId id="281" r:id="rId14"/>
    <p:sldId id="280" r:id="rId15"/>
    <p:sldId id="282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95" autoAdjust="0"/>
    <p:restoredTop sz="95728"/>
  </p:normalViewPr>
  <p:slideViewPr>
    <p:cSldViewPr snapToGrid="0" snapToObjects="1">
      <p:cViewPr varScale="1">
        <p:scale>
          <a:sx n="65" d="100"/>
          <a:sy n="65" d="100"/>
        </p:scale>
        <p:origin x="6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87B1E-D7BB-234A-BB61-4186E7CB5889}" type="datetimeFigureOut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56A01-BB7F-2749-98D2-EC6EAA37179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44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9788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6899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3527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374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237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3575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0093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7068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4772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6064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2259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5157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56A01-BB7F-2749-98D2-EC6EAA37179B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276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D501DD-7617-CF45-952C-148738FE8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49E178-73AA-644C-8223-66BF71364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53253A-849A-4D45-A3E7-4D1991E4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653D5-883A-5840-B916-BEC4DF4506D5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ECDC78-3D4D-404B-AFA4-5B8A4BFD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6C002C-0479-C74D-9FB3-84645C0A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580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7A464A-FDF4-3341-B07B-24B820E4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A333E2-9D9C-8C49-8592-A408903C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D6F474-7FB1-5646-B2F2-525F8D17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29E5-98E1-4140-9D90-8AD9B393DC63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34CE80-A870-164A-A65F-809FC9C0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B9FA6-21BE-FF46-A0DD-80A4E3E4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56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485C0-58BA-C248-AFEC-796DBE7A2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020E7-FE89-E04B-A373-97BD15E9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132D52-ED19-E540-984A-CB07B5F7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0C34D-36C3-F34E-AF6E-5E7D513EECD1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6BDAE5-6429-1646-BE72-C577966D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FD161E-0E50-D549-9D79-396E6719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073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827E9-DFE9-224C-9899-DD344BC7F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F56C89-BB60-5D4A-B951-F0C1C75458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6C126F-4174-1949-9558-B4C272D36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765A31-2149-0648-8A59-90D8961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76D90-58FA-0641-BF29-5E2687B5D06E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C8BAB3-FB47-3344-B999-5CB7AACA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B979C4-5F59-314A-943B-7732149E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47998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75BCB-A32E-984F-994B-6AD69C18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3BBA48-11AB-EA42-B26E-97C56E55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45D110-23DF-BA43-8D13-0E9505DCC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FA7828-C650-A046-B918-8845F0B6A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2DE3B6E-6238-D149-9212-48351BD8A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5BA387-FB25-3242-BD50-C95AE8C5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3B0E6-B8C8-474E-B122-D8F5DE0AFAD2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EDC4116-BEB6-7E4E-A4A7-D2553343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0F097C-57D7-B44E-A73C-8373F218B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758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14667-755C-594C-B649-0C584C79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ABF655D-EEC9-1849-AFE9-30359B4D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9937B-9027-774A-B9FD-9279ACD255BD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5848DC-EF7E-5E45-97D5-BB00291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F47D0D-FB63-C04A-88AA-4663F56A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29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30D0DAB-E3AB-C542-BAF1-FA0813F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19104-FA4D-834B-9033-B46E2F34E77F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4257D8-EC9E-534F-9065-715A4574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029C47-757A-114F-A178-225027BD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66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6441E4-4620-9244-B66E-26EC9ECB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E2631A-AADB-4344-B902-B53FE9F51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D2930E1-81A7-6848-925D-24DF95107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A1FEB3-ECC3-AD41-BEA6-44C6F60F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73C6-1BDC-EF4C-9138-1B867971D82A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CC6D6D-32D3-0F46-8645-9348CDCC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AFE86A-1C31-4A46-A584-5E4CEF4A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33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1D89C4-8B50-834A-81C5-869F9DC9C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5534F9E-8511-5F4A-A82F-05692527D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5567A0-F6B9-9340-A872-76C4D3094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79205F-B98C-E943-92A5-27963140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8567F-5EDC-4F4F-93AF-7C8D00AA37FD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A25F96-ED76-8549-9FD6-2B59D2856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96D537-3F67-CD44-B755-194C465E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349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6AB28-6653-9C49-A992-A4247978B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E57488-2CEC-AB48-B522-A9BF17B67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9DC675-96A7-5740-944C-CAFED91F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BB45-072B-E944-9661-5DAAF6BF234C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19B60E-DE36-CE48-92C7-29C90404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11CB14-7E7D-DA4F-95BF-F4F6A71A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784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137A97-13EF-684A-A0A9-0B2C4B915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14D9E75-6CF5-DE45-9FA4-3A5D546C8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846D7A-FDC0-584E-83DF-7CFDFE86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D0E93-5293-2E45-810C-52C7374A43E9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5227D2-8B70-D046-B3FE-419A372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9F65E-93FE-3541-912C-7DF85AF2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53969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422299C-DADF-924C-A256-3B359ECF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7C0D55-55DC-8A4F-8D1C-054CD64B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F6F637-18F3-BD4C-908D-9F4BD7CEC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2FFB-DAFA-B349-908F-41F05A7F02F7}" type="datetime1">
              <a:rPr kumimoji="1" lang="zh-TW" altLang="en-US" smtClean="0"/>
              <a:t>2023/9/18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9E3A8-AF3F-CA42-A297-2EE032B20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309E7D-F646-F04E-B26F-BEF4E7288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03F21-0339-114F-A835-EDFAC68AEBB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518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30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4" Type="http://schemas.openxmlformats.org/officeDocument/2006/relationships/image" Target="../media/image230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5C7C8A-452E-D943-890A-99D101A85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kumimoji="1" lang="zh-TW" altLang="en-US" sz="4800" dirty="0">
              <a:latin typeface="Times" pitchFamily="2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9CE59C-0A7C-3340-9871-01BB9F00C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Xiaodong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Yingjie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Wu,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Daxin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</a:t>
            </a:r>
            <a:endParaRPr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113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(2013)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723–728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ED1160-6DCB-BA45-A8E3-C0A533D93526}"/>
              </a:ext>
            </a:extLst>
          </p:cNvPr>
          <p:cNvSpPr txBox="1"/>
          <p:nvPr/>
        </p:nvSpPr>
        <p:spPr>
          <a:xfrm>
            <a:off x="9461868" y="5993027"/>
            <a:ext cx="257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" pitchFamily="2" charset="0"/>
              </a:rPr>
              <a:t>Presenter: Wen-Yu Chang</a:t>
            </a:r>
          </a:p>
          <a:p>
            <a:r>
              <a:rPr kumimoji="1" lang="en-US" altLang="zh-TW" dirty="0">
                <a:latin typeface="Times" pitchFamily="2" charset="0"/>
              </a:rPr>
              <a:t>Date: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Sept.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19,</a:t>
            </a:r>
            <a:r>
              <a:rPr kumimoji="1" lang="zh-TW" altLang="en-US" dirty="0">
                <a:latin typeface="Times" pitchFamily="2" charset="0"/>
              </a:rPr>
              <a:t> </a:t>
            </a:r>
            <a:r>
              <a:rPr kumimoji="1" lang="en-US" altLang="zh-TW" dirty="0">
                <a:latin typeface="Times" pitchFamily="2" charset="0"/>
              </a:rPr>
              <a:t>2023</a:t>
            </a:r>
            <a:endParaRPr kumimoji="1" lang="zh-TW" altLang="en-US" dirty="0">
              <a:latin typeface="Time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7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7C017-EEF6-AF41-82FB-650CB493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Abstract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Times" pitchFamily="2" charset="0"/>
                  </a:rPr>
                  <a:t>In this paper, we consider a generalized longest common subsequence problem, the string-excluding constrained LCS problem. For the two input sequences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of lengths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, and a constraint string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, the problem is to find a common subsequence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excluding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as a substring and the length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is maximized. The problem and its solution were first proposed by Chen and Chao (2011) [1], but we found that their algorithm cannot solve the problem correctly. A new dynamic programming solution for the STR-EC-LCS problem is then presented in this paper. The correctness of the new algorithm is proved. The time complexity of the new algorithm is 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𝑛𝑚𝑟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TW" sz="24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D09F5D7-A24C-7540-ADEE-E8D83623F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  <a:blipFill>
                <a:blip r:embed="rId2"/>
                <a:stretch>
                  <a:fillRect l="-928" r="-870" b="-4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0FFF1FB-1064-484B-B5D3-305DF5596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9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3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String-Exclusion-LCS(STR-EC-LCS)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E4FF8F08-733A-4919-AA83-7C4D43F53F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</a:t>
                </a:r>
                <a:r>
                  <a:rPr lang="en-US" altLang="zh-TW" sz="2400" dirty="0" err="1">
                    <a:latin typeface="Times" pitchFamily="2" charset="0"/>
                  </a:rPr>
                  <a:t>abababa</a:t>
                </a:r>
                <a:endParaRPr lang="en-US" altLang="zh-TW" sz="2400" dirty="0">
                  <a:latin typeface="Times" pitchFamily="2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aabab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aa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itchFamily="2" charset="0"/>
                  </a:rPr>
                  <a:t>LCS(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=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" pitchFamily="2" charset="0"/>
                  </a:rPr>
                  <a:t>aa</a:t>
                </a:r>
                <a:r>
                  <a:rPr lang="en-US" altLang="zh-TW" sz="2400" dirty="0" err="1">
                    <a:latin typeface="Times" pitchFamily="2" charset="0"/>
                  </a:rPr>
                  <a:t>bab</a:t>
                </a:r>
                <a:endParaRPr lang="en-US" altLang="zh-TW" sz="2400" dirty="0">
                  <a:latin typeface="Times" pitchFamily="2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itchFamily="2" charset="0"/>
                  </a:rPr>
                  <a:t>STR-EC-LCS(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 = </a:t>
                </a:r>
                <a:r>
                  <a:rPr lang="en-US" altLang="zh-TW" sz="2400" dirty="0" err="1">
                    <a:latin typeface="Times" pitchFamily="2" charset="0"/>
                  </a:rPr>
                  <a:t>abab</a:t>
                </a:r>
                <a:endParaRPr lang="en-US" altLang="zh-TW" sz="24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E4FF8F08-733A-4919-AA83-7C4D43F53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01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4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296520B3-5771-49DC-BABF-EF7B5E106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itchFamily="2" charset="0"/>
                  </a:rPr>
                  <a:t>The length of the longest suffix of S that is also a prefix of P.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TW" sz="2400" dirty="0">
                  <a:latin typeface="Times" pitchFamily="2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</a:t>
                </a:r>
                <a:r>
                  <a:rPr lang="en-US" altLang="zh-TW" sz="2400" dirty="0" err="1">
                    <a:latin typeface="Times" pitchFamily="2" charset="0"/>
                  </a:rPr>
                  <a:t>aaba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" pitchFamily="2" charset="0"/>
                  </a:rPr>
                  <a:t>aab</a:t>
                </a:r>
                <a:endParaRPr lang="en-US" altLang="zh-TW" sz="2400" dirty="0">
                  <a:solidFill>
                    <a:srgbClr val="FF0000"/>
                  </a:solidFill>
                  <a:latin typeface="Times" pitchFamily="2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" pitchFamily="2" charset="0"/>
                  </a:rPr>
                  <a:t>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" pitchFamily="2" charset="0"/>
                  </a:rPr>
                  <a:t>aab</a:t>
                </a:r>
                <a:r>
                  <a:rPr lang="en-US" altLang="zh-TW" sz="2400" dirty="0" err="1">
                    <a:latin typeface="Times" pitchFamily="2" charset="0"/>
                  </a:rPr>
                  <a:t>a</a:t>
                </a:r>
                <a:endParaRPr lang="en-US" altLang="zh-TW" sz="2400" dirty="0">
                  <a:latin typeface="Times" pitchFamily="2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zh-TW" sz="2400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296520B3-5771-49DC-BABF-EF7B5E106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  <a:blipFill>
                <a:blip r:embed="rId4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73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296520B3-5771-49DC-BABF-EF7B5E106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0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 1</a:t>
                </a:r>
              </a:p>
            </p:txBody>
          </p:sp>
        </mc:Choice>
        <mc:Fallback xmlns="">
          <p:sp>
            <p:nvSpPr>
              <p:cNvPr id="5" name="內容版面配置區 2">
                <a:extLst>
                  <a:ext uri="{FF2B5EF4-FFF2-40B4-BE49-F238E27FC236}">
                    <a16:creationId xmlns:a16="http://schemas.microsoft.com/office/drawing/2014/main" id="{296520B3-5771-49DC-BABF-EF7B5E106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  <a:blipFill>
                <a:blip r:embed="rId4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084FF64A-CBCA-46B6-929C-9FD511FD9D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376122"/>
                  </p:ext>
                </p:extLst>
              </p:nvPr>
            </p:nvGraphicFramePr>
            <p:xfrm>
              <a:off x="1609213" y="2228447"/>
              <a:ext cx="3981600" cy="575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8449725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81513612"/>
                        </a:ext>
                      </a:extLst>
                    </a:gridCol>
                    <a:gridCol w="1821600">
                      <a:extLst>
                        <a:ext uri="{9D8B030D-6E8A-4147-A177-3AD203B41FA5}">
                          <a16:colId xmlns:a16="http://schemas.microsoft.com/office/drawing/2014/main" val="208014311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080141515"/>
                        </a:ext>
                      </a:extLst>
                    </a:gridCol>
                  </a:tblGrid>
                  <a:tr h="5755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400" b="0" dirty="0">
                              <a:solidFill>
                                <a:schemeClr val="tx1"/>
                              </a:solidFill>
                            </a:rPr>
                            <a:t>．．．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5715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084FF64A-CBCA-46B6-929C-9FD511FD9D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376122"/>
                  </p:ext>
                </p:extLst>
              </p:nvPr>
            </p:nvGraphicFramePr>
            <p:xfrm>
              <a:off x="1609213" y="2228447"/>
              <a:ext cx="3981600" cy="575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8449725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81513612"/>
                        </a:ext>
                      </a:extLst>
                    </a:gridCol>
                    <a:gridCol w="1821600">
                      <a:extLst>
                        <a:ext uri="{9D8B030D-6E8A-4147-A177-3AD203B41FA5}">
                          <a16:colId xmlns:a16="http://schemas.microsoft.com/office/drawing/2014/main" val="208014311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080141515"/>
                        </a:ext>
                      </a:extLst>
                    </a:gridCol>
                  </a:tblGrid>
                  <a:tr h="57553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47" t="-1053" r="-456780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053" r="-352941" b="-1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400" b="0" dirty="0">
                              <a:solidFill>
                                <a:schemeClr val="tx1"/>
                              </a:solidFill>
                            </a:rPr>
                            <a:t>．．．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55932" t="-1053" r="-1695" b="-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5715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2">
                <a:extLst>
                  <a:ext uri="{FF2B5EF4-FFF2-40B4-BE49-F238E27FC236}">
                    <a16:creationId xmlns:a16="http://schemas.microsoft.com/office/drawing/2014/main" id="{FC254D28-1208-44A7-8DE1-6B9417F54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979142"/>
                  </p:ext>
                </p:extLst>
              </p:nvPr>
            </p:nvGraphicFramePr>
            <p:xfrm>
              <a:off x="1609213" y="4328596"/>
              <a:ext cx="3980000" cy="575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8449725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81513612"/>
                        </a:ext>
                      </a:extLst>
                    </a:gridCol>
                    <a:gridCol w="1100000">
                      <a:extLst>
                        <a:ext uri="{9D8B030D-6E8A-4147-A177-3AD203B41FA5}">
                          <a16:colId xmlns:a16="http://schemas.microsoft.com/office/drawing/2014/main" val="208014311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08014151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224479"/>
                        </a:ext>
                      </a:extLst>
                    </a:gridCol>
                  </a:tblGrid>
                  <a:tr h="57553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400" b="0" dirty="0">
                              <a:solidFill>
                                <a:schemeClr val="tx1"/>
                              </a:solidFill>
                            </a:rPr>
                            <a:t>．．．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TW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5715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2">
                <a:extLst>
                  <a:ext uri="{FF2B5EF4-FFF2-40B4-BE49-F238E27FC236}">
                    <a16:creationId xmlns:a16="http://schemas.microsoft.com/office/drawing/2014/main" id="{FC254D28-1208-44A7-8DE1-6B9417F54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8979142"/>
                  </p:ext>
                </p:extLst>
              </p:nvPr>
            </p:nvGraphicFramePr>
            <p:xfrm>
              <a:off x="1609213" y="4328596"/>
              <a:ext cx="3980000" cy="575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3284497259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581513612"/>
                        </a:ext>
                      </a:extLst>
                    </a:gridCol>
                    <a:gridCol w="1100000">
                      <a:extLst>
                        <a:ext uri="{9D8B030D-6E8A-4147-A177-3AD203B41FA5}">
                          <a16:colId xmlns:a16="http://schemas.microsoft.com/office/drawing/2014/main" val="208014311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080141515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86224479"/>
                        </a:ext>
                      </a:extLst>
                    </a:gridCol>
                  </a:tblGrid>
                  <a:tr h="57553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47" t="-1053" r="-455932" b="-1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1053" r="-352101" b="-1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sz="2400" b="0" dirty="0">
                              <a:solidFill>
                                <a:schemeClr val="tx1"/>
                              </a:solidFill>
                            </a:rPr>
                            <a:t>．．．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1261" t="-1053" r="-100840" b="-1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657154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表格 2">
            <a:extLst>
              <a:ext uri="{FF2B5EF4-FFF2-40B4-BE49-F238E27FC236}">
                <a16:creationId xmlns:a16="http://schemas.microsoft.com/office/drawing/2014/main" id="{A80E2EA1-5C12-4CB7-B141-8A84BBD0E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08624"/>
              </p:ext>
            </p:extLst>
          </p:nvPr>
        </p:nvGraphicFramePr>
        <p:xfrm>
          <a:off x="5589213" y="2967803"/>
          <a:ext cx="1440000" cy="575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844972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81513612"/>
                    </a:ext>
                  </a:extLst>
                </a:gridCol>
              </a:tblGrid>
              <a:tr h="5755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5715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6A7F437-5E89-492A-B34E-C2FB5B7685EC}"/>
                  </a:ext>
                </a:extLst>
              </p:cNvPr>
              <p:cNvSpPr txBox="1"/>
              <p:nvPr/>
            </p:nvSpPr>
            <p:spPr>
              <a:xfrm>
                <a:off x="1186426" y="2331547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6A7F437-5E89-492A-B34E-C2FB5B768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26" y="2331547"/>
                <a:ext cx="259174" cy="369332"/>
              </a:xfrm>
              <a:prstGeom prst="rect">
                <a:avLst/>
              </a:prstGeom>
              <a:blipFill>
                <a:blip r:embed="rId7"/>
                <a:stretch>
                  <a:fillRect l="-28571" r="-26190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0968BB2-832F-41C3-AD1E-869715F79879}"/>
                  </a:ext>
                </a:extLst>
              </p:cNvPr>
              <p:cNvSpPr txBox="1"/>
              <p:nvPr/>
            </p:nvSpPr>
            <p:spPr>
              <a:xfrm>
                <a:off x="1186426" y="4431696"/>
                <a:ext cx="2591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0968BB2-832F-41C3-AD1E-869715F79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26" y="4431696"/>
                <a:ext cx="259174" cy="369332"/>
              </a:xfrm>
              <a:prstGeom prst="rect">
                <a:avLst/>
              </a:prstGeom>
              <a:blipFill>
                <a:blip r:embed="rId8"/>
                <a:stretch>
                  <a:fillRect l="-28571" r="-26190"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4975522-DFF2-4FD6-82E4-AC59F2EA1534}"/>
                  </a:ext>
                </a:extLst>
              </p:cNvPr>
              <p:cNvSpPr txBox="1"/>
              <p:nvPr/>
            </p:nvSpPr>
            <p:spPr>
              <a:xfrm>
                <a:off x="1197640" y="3070903"/>
                <a:ext cx="267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4975522-DFF2-4FD6-82E4-AC59F2EA1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640" y="3070903"/>
                <a:ext cx="267189" cy="369332"/>
              </a:xfrm>
              <a:prstGeom prst="rect">
                <a:avLst/>
              </a:prstGeom>
              <a:blipFill>
                <a:blip r:embed="rId9"/>
                <a:stretch>
                  <a:fillRect l="-25000" r="-2500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A7B788-0A9A-44AC-B273-D89B8942A102}"/>
                  </a:ext>
                </a:extLst>
              </p:cNvPr>
              <p:cNvSpPr txBox="1"/>
              <p:nvPr/>
            </p:nvSpPr>
            <p:spPr>
              <a:xfrm>
                <a:off x="1164464" y="5171052"/>
                <a:ext cx="267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FA7B788-0A9A-44AC-B273-D89B8942A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464" y="5171052"/>
                <a:ext cx="267189" cy="369332"/>
              </a:xfrm>
              <a:prstGeom prst="rect">
                <a:avLst/>
              </a:prstGeom>
              <a:blipFill>
                <a:blip r:embed="rId10"/>
                <a:stretch>
                  <a:fillRect l="-25000" r="-25000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2">
            <a:extLst>
              <a:ext uri="{FF2B5EF4-FFF2-40B4-BE49-F238E27FC236}">
                <a16:creationId xmlns:a16="http://schemas.microsoft.com/office/drawing/2014/main" id="{E694815A-EE7F-43E3-90FF-1735772EB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675842"/>
              </p:ext>
            </p:extLst>
          </p:nvPr>
        </p:nvGraphicFramePr>
        <p:xfrm>
          <a:off x="4869213" y="5067952"/>
          <a:ext cx="1440000" cy="575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844972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581513612"/>
                    </a:ext>
                  </a:extLst>
                </a:gridCol>
              </a:tblGrid>
              <a:tr h="57553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57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115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6">
            <a:extLst>
              <a:ext uri="{FF2B5EF4-FFF2-40B4-BE49-F238E27FC236}">
                <a16:creationId xmlns:a16="http://schemas.microsoft.com/office/drawing/2014/main" id="{ECE8F0F8-A97B-43A8-86AD-15FF808FA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451821"/>
              </p:ext>
            </p:extLst>
          </p:nvPr>
        </p:nvGraphicFramePr>
        <p:xfrm>
          <a:off x="8725703" y="3745456"/>
          <a:ext cx="1029600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00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5" name="表格 6">
            <a:extLst>
              <a:ext uri="{FF2B5EF4-FFF2-40B4-BE49-F238E27FC236}">
                <a16:creationId xmlns:a16="http://schemas.microsoft.com/office/drawing/2014/main" id="{C5E8EEAA-7E6A-4E5F-9F46-2275A7F7F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573496"/>
              </p:ext>
            </p:extLst>
          </p:nvPr>
        </p:nvGraphicFramePr>
        <p:xfrm>
          <a:off x="9244271" y="4292034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152328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30768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6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5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6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表格 6">
            <a:extLst>
              <a:ext uri="{FF2B5EF4-FFF2-40B4-BE49-F238E27FC236}">
                <a16:creationId xmlns:a16="http://schemas.microsoft.com/office/drawing/2014/main" id="{B23F1F0F-C274-4091-953B-9153024B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764679"/>
              </p:ext>
            </p:extLst>
          </p:nvPr>
        </p:nvGraphicFramePr>
        <p:xfrm>
          <a:off x="8691241" y="2213344"/>
          <a:ext cx="512916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32" name="表格 6">
            <a:extLst>
              <a:ext uri="{FF2B5EF4-FFF2-40B4-BE49-F238E27FC236}">
                <a16:creationId xmlns:a16="http://schemas.microsoft.com/office/drawing/2014/main" id="{5B41F1EE-58F2-43AE-AAF4-B630A8A8B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128612"/>
              </p:ext>
            </p:extLst>
          </p:nvPr>
        </p:nvGraphicFramePr>
        <p:xfrm>
          <a:off x="9204157" y="2758866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5BB46-07BA-4A3C-BE9C-6DC2AF29C562}"/>
                  </a:ext>
                </a:extLst>
              </p:cNvPr>
              <p:cNvSpPr txBox="1"/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5BB46-07BA-4A3C-BE9C-6DC2AF29C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blipFill>
                <a:blip r:embed="rId8"/>
                <a:stretch>
                  <a:fillRect l="-13876" t="-18462" r="-5263" b="-3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17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6">
            <a:extLst>
              <a:ext uri="{FF2B5EF4-FFF2-40B4-BE49-F238E27FC236}">
                <a16:creationId xmlns:a16="http://schemas.microsoft.com/office/drawing/2014/main" id="{ECE8F0F8-A97B-43A8-86AD-15FF808FA8CA}"/>
              </a:ext>
            </a:extLst>
          </p:cNvPr>
          <p:cNvGraphicFramePr>
            <a:graphicFrameLocks noGrp="1"/>
          </p:cNvGraphicFramePr>
          <p:nvPr/>
        </p:nvGraphicFramePr>
        <p:xfrm>
          <a:off x="8725703" y="3745456"/>
          <a:ext cx="1544400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00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5" name="表格 6">
            <a:extLst>
              <a:ext uri="{FF2B5EF4-FFF2-40B4-BE49-F238E27FC236}">
                <a16:creationId xmlns:a16="http://schemas.microsoft.com/office/drawing/2014/main" id="{C5E8EEAA-7E6A-4E5F-9F46-2275A7F7F7AE}"/>
              </a:ext>
            </a:extLst>
          </p:cNvPr>
          <p:cNvGraphicFramePr>
            <a:graphicFrameLocks noGrp="1"/>
          </p:cNvGraphicFramePr>
          <p:nvPr/>
        </p:nvGraphicFramePr>
        <p:xfrm>
          <a:off x="9244271" y="4292034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27" name="右大括弧 16">
            <a:extLst>
              <a:ext uri="{FF2B5EF4-FFF2-40B4-BE49-F238E27FC236}">
                <a16:creationId xmlns:a16="http://schemas.microsoft.com/office/drawing/2014/main" id="{04A9E008-2877-4B67-8630-66CAC02B2D98}"/>
              </a:ext>
            </a:extLst>
          </p:cNvPr>
          <p:cNvSpPr/>
          <p:nvPr/>
        </p:nvSpPr>
        <p:spPr>
          <a:xfrm>
            <a:off x="10342201" y="3740647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E273E54-7AF4-453D-B6D6-0D1D4A618CC8}"/>
                  </a:ext>
                </a:extLst>
              </p:cNvPr>
              <p:cNvSpPr txBox="1"/>
              <p:nvPr/>
            </p:nvSpPr>
            <p:spPr>
              <a:xfrm>
                <a:off x="10557570" y="4099606"/>
                <a:ext cx="153984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)=2≠1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BE273E54-7AF4-453D-B6D6-0D1D4A618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7570" y="4099606"/>
                <a:ext cx="1539845" cy="307777"/>
              </a:xfrm>
              <a:prstGeom prst="rect">
                <a:avLst/>
              </a:prstGeom>
              <a:blipFill>
                <a:blip r:embed="rId3"/>
                <a:stretch>
                  <a:fillRect l="-1984" t="-4000" r="-3175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id="{C23C8FD7-E5A5-41BE-9D48-8F7E9D83D358}"/>
              </a:ext>
            </a:extLst>
          </p:cNvPr>
          <p:cNvSpPr/>
          <p:nvPr/>
        </p:nvSpPr>
        <p:spPr>
          <a:xfrm>
            <a:off x="9757187" y="3745456"/>
            <a:ext cx="502610" cy="4791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/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/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7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5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6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AAD1906-8890-4797-87F8-435C0DAF2573}"/>
              </a:ext>
            </a:extLst>
          </p:cNvPr>
          <p:cNvCxnSpPr>
            <a:cxnSpLocks/>
          </p:cNvCxnSpPr>
          <p:nvPr/>
        </p:nvCxnSpPr>
        <p:spPr>
          <a:xfrm>
            <a:off x="1209368" y="2964283"/>
            <a:ext cx="4296697" cy="35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6">
            <a:extLst>
              <a:ext uri="{FF2B5EF4-FFF2-40B4-BE49-F238E27FC236}">
                <a16:creationId xmlns:a16="http://schemas.microsoft.com/office/drawing/2014/main" id="{B23F1F0F-C274-4091-953B-9153024B5D13}"/>
              </a:ext>
            </a:extLst>
          </p:cNvPr>
          <p:cNvGraphicFramePr>
            <a:graphicFrameLocks noGrp="1"/>
          </p:cNvGraphicFramePr>
          <p:nvPr/>
        </p:nvGraphicFramePr>
        <p:xfrm>
          <a:off x="8691241" y="2213344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32" name="表格 6">
            <a:extLst>
              <a:ext uri="{FF2B5EF4-FFF2-40B4-BE49-F238E27FC236}">
                <a16:creationId xmlns:a16="http://schemas.microsoft.com/office/drawing/2014/main" id="{5B41F1EE-58F2-43AE-AAF4-B630A8A8B7E1}"/>
              </a:ext>
            </a:extLst>
          </p:cNvPr>
          <p:cNvGraphicFramePr>
            <a:graphicFrameLocks noGrp="1"/>
          </p:cNvGraphicFramePr>
          <p:nvPr/>
        </p:nvGraphicFramePr>
        <p:xfrm>
          <a:off x="9204157" y="2758866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33" name="右大括弧 16">
            <a:extLst>
              <a:ext uri="{FF2B5EF4-FFF2-40B4-BE49-F238E27FC236}">
                <a16:creationId xmlns:a16="http://schemas.microsoft.com/office/drawing/2014/main" id="{5430B28C-F37E-4BE3-B679-B4D616432898}"/>
              </a:ext>
            </a:extLst>
          </p:cNvPr>
          <p:cNvSpPr/>
          <p:nvPr/>
        </p:nvSpPr>
        <p:spPr>
          <a:xfrm>
            <a:off x="10295297" y="2213344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D18CA4E-C01D-4C2E-9117-09FA39204BB7}"/>
                  </a:ext>
                </a:extLst>
              </p:cNvPr>
              <p:cNvSpPr txBox="1"/>
              <p:nvPr/>
            </p:nvSpPr>
            <p:spPr>
              <a:xfrm>
                <a:off x="10522157" y="2567494"/>
                <a:ext cx="10623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2D18CA4E-C01D-4C2E-9117-09FA3920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2157" y="2567494"/>
                <a:ext cx="1062342" cy="307777"/>
              </a:xfrm>
              <a:prstGeom prst="rect">
                <a:avLst/>
              </a:prstGeom>
              <a:blipFill>
                <a:blip r:embed="rId7"/>
                <a:stretch>
                  <a:fillRect l="-2299" t="-1961" r="-5747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5BB46-07BA-4A3C-BE9C-6DC2AF29C562}"/>
                  </a:ext>
                </a:extLst>
              </p:cNvPr>
              <p:cNvSpPr txBox="1"/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E75BB46-07BA-4A3C-BE9C-6DC2AF29C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blipFill>
                <a:blip r:embed="rId8"/>
                <a:stretch>
                  <a:fillRect l="-13876" t="-18462" r="-5263" b="-3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9D5BB83-5228-4037-B288-C4AEDECA0DB7}"/>
                  </a:ext>
                </a:extLst>
              </p:cNvPr>
              <p:cNvSpPr txBox="1"/>
              <p:nvPr/>
            </p:nvSpPr>
            <p:spPr>
              <a:xfrm>
                <a:off x="8409853" y="5108086"/>
                <a:ext cx="15481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9D5BB83-5228-4037-B288-C4AEDECA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5108086"/>
                <a:ext cx="1548116" cy="369332"/>
              </a:xfrm>
              <a:prstGeom prst="rect">
                <a:avLst/>
              </a:prstGeom>
              <a:blipFill>
                <a:blip r:embed="rId9"/>
                <a:stretch>
                  <a:fillRect l="-11417" t="-21311" r="-3150" b="-409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B5B78245-2A44-4026-B72B-EE5C93891CAA}"/>
              </a:ext>
            </a:extLst>
          </p:cNvPr>
          <p:cNvSpPr/>
          <p:nvPr/>
        </p:nvSpPr>
        <p:spPr>
          <a:xfrm>
            <a:off x="9204157" y="2208029"/>
            <a:ext cx="502610" cy="4791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95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96702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864252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8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AAD1906-8890-4797-87F8-435C0DAF2573}"/>
              </a:ext>
            </a:extLst>
          </p:cNvPr>
          <p:cNvCxnSpPr>
            <a:cxnSpLocks/>
          </p:cNvCxnSpPr>
          <p:nvPr/>
        </p:nvCxnSpPr>
        <p:spPr>
          <a:xfrm>
            <a:off x="6161030" y="3306610"/>
            <a:ext cx="287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291282-8D7C-4DFD-9A9B-225317B2F224}"/>
              </a:ext>
            </a:extLst>
          </p:cNvPr>
          <p:cNvCxnSpPr>
            <a:cxnSpLocks/>
          </p:cNvCxnSpPr>
          <p:nvPr/>
        </p:nvCxnSpPr>
        <p:spPr>
          <a:xfrm>
            <a:off x="6543589" y="2964283"/>
            <a:ext cx="0" cy="275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F3A4075-DCFE-41D8-9A6C-5021DBD29C3C}"/>
                  </a:ext>
                </a:extLst>
              </p:cNvPr>
              <p:cNvSpPr txBox="1"/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F3A4075-DCFE-41D8-9A6C-5021DBD29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blipFill>
                <a:blip r:embed="rId5"/>
                <a:stretch>
                  <a:fillRect l="-13876" t="-18462" r="-5263" b="-3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ECA0005-6365-4D3F-942B-098C631C4581}"/>
                  </a:ext>
                </a:extLst>
              </p:cNvPr>
              <p:cNvSpPr txBox="1"/>
              <p:nvPr/>
            </p:nvSpPr>
            <p:spPr>
              <a:xfrm>
                <a:off x="8409853" y="2199371"/>
                <a:ext cx="15481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ECA0005-6365-4D3F-942B-098C631C4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2199371"/>
                <a:ext cx="1548116" cy="369332"/>
              </a:xfrm>
              <a:prstGeom prst="rect">
                <a:avLst/>
              </a:prstGeom>
              <a:blipFill>
                <a:blip r:embed="rId6"/>
                <a:stretch>
                  <a:fillRect l="-11417" t="-21667" r="-3150" b="-4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327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56204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83661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3CC7CCF-BDEB-49E4-808E-504A5CB9A510}"/>
                  </a:ext>
                </a:extLst>
              </p:cNvPr>
              <p:cNvSpPr txBox="1"/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3CC7CCF-BDEB-49E4-808E-504A5CB9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blipFill>
                <a:blip r:embed="rId8"/>
                <a:stretch>
                  <a:fillRect l="-13876" t="-18462" r="-5263" b="-3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8BF86F8-D630-4BFD-93C4-E606AC9B9525}"/>
                  </a:ext>
                </a:extLst>
              </p:cNvPr>
              <p:cNvSpPr txBox="1"/>
              <p:nvPr/>
            </p:nvSpPr>
            <p:spPr>
              <a:xfrm>
                <a:off x="8434084" y="4938604"/>
                <a:ext cx="15481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8BF86F8-D630-4BFD-93C4-E606AC9B9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084" y="4938604"/>
                <a:ext cx="1548116" cy="369332"/>
              </a:xfrm>
              <a:prstGeom prst="rect">
                <a:avLst/>
              </a:prstGeom>
              <a:blipFill>
                <a:blip r:embed="rId9"/>
                <a:stretch>
                  <a:fillRect l="-11417" t="-19672" r="-3150" b="-42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表格 6">
            <a:extLst>
              <a:ext uri="{FF2B5EF4-FFF2-40B4-BE49-F238E27FC236}">
                <a16:creationId xmlns:a16="http://schemas.microsoft.com/office/drawing/2014/main" id="{67676104-89D5-4298-8CA9-9624CD21B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192429"/>
              </p:ext>
            </p:extLst>
          </p:nvPr>
        </p:nvGraphicFramePr>
        <p:xfrm>
          <a:off x="8725703" y="3745456"/>
          <a:ext cx="1029600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00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8" name="表格 6">
            <a:extLst>
              <a:ext uri="{FF2B5EF4-FFF2-40B4-BE49-F238E27FC236}">
                <a16:creationId xmlns:a16="http://schemas.microsoft.com/office/drawing/2014/main" id="{3EF5CE38-456C-41F8-99B9-F7F095B81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59189"/>
              </p:ext>
            </p:extLst>
          </p:nvPr>
        </p:nvGraphicFramePr>
        <p:xfrm>
          <a:off x="9242387" y="4306162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9" name="表格 6">
            <a:extLst>
              <a:ext uri="{FF2B5EF4-FFF2-40B4-BE49-F238E27FC236}">
                <a16:creationId xmlns:a16="http://schemas.microsoft.com/office/drawing/2014/main" id="{1C420735-1AFC-4025-A20C-67D836E96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17028"/>
              </p:ext>
            </p:extLst>
          </p:nvPr>
        </p:nvGraphicFramePr>
        <p:xfrm>
          <a:off x="8691241" y="2213344"/>
          <a:ext cx="512916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30" name="表格 6">
            <a:extLst>
              <a:ext uri="{FF2B5EF4-FFF2-40B4-BE49-F238E27FC236}">
                <a16:creationId xmlns:a16="http://schemas.microsoft.com/office/drawing/2014/main" id="{09F23DF5-A8DB-4ED4-B6B0-D4D9A282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85986"/>
              </p:ext>
            </p:extLst>
          </p:nvPr>
        </p:nvGraphicFramePr>
        <p:xfrm>
          <a:off x="9204157" y="2758866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65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631037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/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10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FB3A3C6F-300D-43AD-A4EC-5FE94160A908}"/>
              </a:ext>
            </a:extLst>
          </p:cNvPr>
          <p:cNvGraphicFramePr>
            <a:graphicFrameLocks noGrp="1"/>
          </p:cNvGraphicFramePr>
          <p:nvPr/>
        </p:nvGraphicFramePr>
        <p:xfrm>
          <a:off x="8142085" y="3715973"/>
          <a:ext cx="1544400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00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14" name="表格 6">
            <a:extLst>
              <a:ext uri="{FF2B5EF4-FFF2-40B4-BE49-F238E27FC236}">
                <a16:creationId xmlns:a16="http://schemas.microsoft.com/office/drawing/2014/main" id="{E2F484EC-278B-4398-944C-C0FEF40ABB84}"/>
              </a:ext>
            </a:extLst>
          </p:cNvPr>
          <p:cNvGraphicFramePr>
            <a:graphicFrameLocks noGrp="1"/>
          </p:cNvGraphicFramePr>
          <p:nvPr/>
        </p:nvGraphicFramePr>
        <p:xfrm>
          <a:off x="8660653" y="2202273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15" name="表格 6">
            <a:extLst>
              <a:ext uri="{FF2B5EF4-FFF2-40B4-BE49-F238E27FC236}">
                <a16:creationId xmlns:a16="http://schemas.microsoft.com/office/drawing/2014/main" id="{0D86BBD0-9EED-44A6-ADC6-9AD809D97CE7}"/>
              </a:ext>
            </a:extLst>
          </p:cNvPr>
          <p:cNvGraphicFramePr>
            <a:graphicFrameLocks noGrp="1"/>
          </p:cNvGraphicFramePr>
          <p:nvPr/>
        </p:nvGraphicFramePr>
        <p:xfrm>
          <a:off x="9692137" y="4271399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16" name="表格 6">
            <a:extLst>
              <a:ext uri="{FF2B5EF4-FFF2-40B4-BE49-F238E27FC236}">
                <a16:creationId xmlns:a16="http://schemas.microsoft.com/office/drawing/2014/main" id="{C9969B6B-6276-4EAA-A78D-69984DAE4469}"/>
              </a:ext>
            </a:extLst>
          </p:cNvPr>
          <p:cNvGraphicFramePr>
            <a:graphicFrameLocks noGrp="1"/>
          </p:cNvGraphicFramePr>
          <p:nvPr/>
        </p:nvGraphicFramePr>
        <p:xfrm>
          <a:off x="9686485" y="2758826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17" name="右大括弧 16">
            <a:extLst>
              <a:ext uri="{FF2B5EF4-FFF2-40B4-BE49-F238E27FC236}">
                <a16:creationId xmlns:a16="http://schemas.microsoft.com/office/drawing/2014/main" id="{9E9B5B6C-5AFC-4A03-993F-FE9B7D465789}"/>
              </a:ext>
            </a:extLst>
          </p:cNvPr>
          <p:cNvSpPr/>
          <p:nvPr/>
        </p:nvSpPr>
        <p:spPr>
          <a:xfrm>
            <a:off x="10777625" y="2213304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8" name="右大括弧 16">
            <a:extLst>
              <a:ext uri="{FF2B5EF4-FFF2-40B4-BE49-F238E27FC236}">
                <a16:creationId xmlns:a16="http://schemas.microsoft.com/office/drawing/2014/main" id="{53ECFA5A-E71A-4F19-B888-C55F2D6A742F}"/>
              </a:ext>
            </a:extLst>
          </p:cNvPr>
          <p:cNvSpPr/>
          <p:nvPr/>
        </p:nvSpPr>
        <p:spPr>
          <a:xfrm>
            <a:off x="10790067" y="3720012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769A9E9-D15E-4029-9B8F-A95DEA22738F}"/>
                  </a:ext>
                </a:extLst>
              </p:cNvPr>
              <p:cNvSpPr txBox="1"/>
              <p:nvPr/>
            </p:nvSpPr>
            <p:spPr>
              <a:xfrm>
                <a:off x="11004485" y="2567454"/>
                <a:ext cx="10623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A769A9E9-D15E-4029-9B8F-A95DEA22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485" y="2567454"/>
                <a:ext cx="1062342" cy="307777"/>
              </a:xfrm>
              <a:prstGeom prst="rect">
                <a:avLst/>
              </a:prstGeom>
              <a:blipFill>
                <a:blip r:embed="rId5"/>
                <a:stretch>
                  <a:fillRect l="-2299" t="-1961" r="-5747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C87968B-29CE-4B6E-977D-FA2276368546}"/>
                  </a:ext>
                </a:extLst>
              </p:cNvPr>
              <p:cNvSpPr txBox="1"/>
              <p:nvPr/>
            </p:nvSpPr>
            <p:spPr>
              <a:xfrm>
                <a:off x="11005436" y="4078971"/>
                <a:ext cx="10623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C87968B-29CE-4B6E-977D-FA2276368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5436" y="4078971"/>
                <a:ext cx="1062342" cy="307777"/>
              </a:xfrm>
              <a:prstGeom prst="rect">
                <a:avLst/>
              </a:prstGeom>
              <a:blipFill>
                <a:blip r:embed="rId6"/>
                <a:stretch>
                  <a:fillRect l="-2286" t="-1961" r="-5143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BF9613D2-3524-4A13-99BB-4BFD928C0FEF}"/>
              </a:ext>
            </a:extLst>
          </p:cNvPr>
          <p:cNvSpPr/>
          <p:nvPr/>
        </p:nvSpPr>
        <p:spPr>
          <a:xfrm>
            <a:off x="9163263" y="3711164"/>
            <a:ext cx="502610" cy="4791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AAD1906-8890-4797-87F8-435C0DAF2573}"/>
              </a:ext>
            </a:extLst>
          </p:cNvPr>
          <p:cNvCxnSpPr>
            <a:cxnSpLocks/>
          </p:cNvCxnSpPr>
          <p:nvPr/>
        </p:nvCxnSpPr>
        <p:spPr>
          <a:xfrm flipH="1">
            <a:off x="2594952" y="3373854"/>
            <a:ext cx="3293806" cy="275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291282-8D7C-4DFD-9A9B-225317B2F224}"/>
              </a:ext>
            </a:extLst>
          </p:cNvPr>
          <p:cNvCxnSpPr>
            <a:cxnSpLocks/>
          </p:cNvCxnSpPr>
          <p:nvPr/>
        </p:nvCxnSpPr>
        <p:spPr>
          <a:xfrm>
            <a:off x="2092907" y="3373854"/>
            <a:ext cx="279997" cy="275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3CC7CCF-BDEB-49E4-808E-504A5CB9A510}"/>
                  </a:ext>
                </a:extLst>
              </p:cNvPr>
              <p:cNvSpPr txBox="1"/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3CC7CCF-BDEB-49E4-808E-504A5CB9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853" y="1717285"/>
                <a:ext cx="1276632" cy="399084"/>
              </a:xfrm>
              <a:prstGeom prst="rect">
                <a:avLst/>
              </a:prstGeom>
              <a:blipFill>
                <a:blip r:embed="rId8"/>
                <a:stretch>
                  <a:fillRect l="-13876" t="-18462" r="-5263" b="-3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8BF86F8-D630-4BFD-93C4-E606AC9B9525}"/>
                  </a:ext>
                </a:extLst>
              </p:cNvPr>
              <p:cNvSpPr txBox="1"/>
              <p:nvPr/>
            </p:nvSpPr>
            <p:spPr>
              <a:xfrm>
                <a:off x="8402863" y="5326615"/>
                <a:ext cx="154811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8BF86F8-D630-4BFD-93C4-E606AC9B9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5326615"/>
                <a:ext cx="1548116" cy="369332"/>
              </a:xfrm>
              <a:prstGeom prst="rect">
                <a:avLst/>
              </a:prstGeom>
              <a:blipFill>
                <a:blip r:embed="rId9"/>
                <a:stretch>
                  <a:fillRect l="-11024" t="-21667" r="-3543" b="-4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EBCBD23-136A-4A20-B771-D72D24142307}"/>
                  </a:ext>
                </a:extLst>
              </p:cNvPr>
              <p:cNvSpPr txBox="1"/>
              <p:nvPr/>
            </p:nvSpPr>
            <p:spPr>
              <a:xfrm>
                <a:off x="8402863" y="4957283"/>
                <a:ext cx="17140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EBCBD23-136A-4A20-B771-D72D24142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4957283"/>
                <a:ext cx="1714059" cy="369332"/>
              </a:xfrm>
              <a:prstGeom prst="rect">
                <a:avLst/>
              </a:prstGeom>
              <a:blipFill>
                <a:blip r:embed="rId10"/>
                <a:stretch>
                  <a:fillRect l="-9929" t="-19672" r="-4610" b="-42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C79932CB-023F-4F0A-BD53-4348A1383F24}"/>
              </a:ext>
            </a:extLst>
          </p:cNvPr>
          <p:cNvSpPr/>
          <p:nvPr/>
        </p:nvSpPr>
        <p:spPr>
          <a:xfrm>
            <a:off x="9173569" y="2192907"/>
            <a:ext cx="502610" cy="4791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68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11</a:t>
            </a:fld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dirty="0">
                  <a:latin typeface="Times" pitchFamily="2" charset="0"/>
                </a:endParaRPr>
              </a:p>
            </p:txBody>
          </p:sp>
        </mc:Choice>
        <mc:Fallback xmlns="">
          <p:sp>
            <p:nvSpPr>
              <p:cNvPr id="9" name="標題 1">
                <a:extLst>
                  <a:ext uri="{FF2B5EF4-FFF2-40B4-BE49-F238E27FC236}">
                    <a16:creationId xmlns:a16="http://schemas.microsoft.com/office/drawing/2014/main" id="{C3149216-9143-4A39-9BD1-E9292E44F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84FFDEF8-9A80-4496-B499-875D00A208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75863"/>
                  </p:ext>
                </p:extLst>
              </p:nvPr>
            </p:nvGraphicFramePr>
            <p:xfrm>
              <a:off x="1113503" y="2039250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2">
                <a:extLst>
                  <a:ext uri="{FF2B5EF4-FFF2-40B4-BE49-F238E27FC236}">
                    <a16:creationId xmlns:a16="http://schemas.microsoft.com/office/drawing/2014/main" id="{84FFDEF8-9A80-4496-B499-875D00A208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375863"/>
                  </p:ext>
                </p:extLst>
              </p:nvPr>
            </p:nvGraphicFramePr>
            <p:xfrm>
              <a:off x="1113503" y="2039250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0" t="-862" r="-201379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274BB925-DF4D-42BF-A78E-EE752F77B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469089"/>
              </p:ext>
            </p:extLst>
          </p:nvPr>
        </p:nvGraphicFramePr>
        <p:xfrm>
          <a:off x="4482677" y="3453559"/>
          <a:ext cx="1616499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833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38833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38833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C7E09D42-7D8D-48E8-BAF1-4D9866A96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85966"/>
              </p:ext>
            </p:extLst>
          </p:nvPr>
        </p:nvGraphicFramePr>
        <p:xfrm>
          <a:off x="5022278" y="4009755"/>
          <a:ext cx="107372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1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36861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7" name="右大括弧 16">
            <a:extLst>
              <a:ext uri="{FF2B5EF4-FFF2-40B4-BE49-F238E27FC236}">
                <a16:creationId xmlns:a16="http://schemas.microsoft.com/office/drawing/2014/main" id="{8F68A455-F807-41ED-94CA-8F6842BDDDB3}"/>
              </a:ext>
            </a:extLst>
          </p:cNvPr>
          <p:cNvSpPr/>
          <p:nvPr/>
        </p:nvSpPr>
        <p:spPr>
          <a:xfrm>
            <a:off x="6165651" y="3458368"/>
            <a:ext cx="15067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64890BD-0137-4A4D-A60B-398F7565F89A}"/>
                  </a:ext>
                </a:extLst>
              </p:cNvPr>
              <p:cNvSpPr txBox="1"/>
              <p:nvPr/>
            </p:nvSpPr>
            <p:spPr>
              <a:xfrm>
                <a:off x="6394509" y="3774749"/>
                <a:ext cx="102583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)=2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64890BD-0137-4A4D-A60B-398F7565F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509" y="3774749"/>
                <a:ext cx="1025831" cy="307777"/>
              </a:xfrm>
              <a:prstGeom prst="rect">
                <a:avLst/>
              </a:prstGeom>
              <a:blipFill>
                <a:blip r:embed="rId5"/>
                <a:stretch>
                  <a:fillRect l="-4762" t="-1961" r="-7143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6">
            <a:extLst>
              <a:ext uri="{FF2B5EF4-FFF2-40B4-BE49-F238E27FC236}">
                <a16:creationId xmlns:a16="http://schemas.microsoft.com/office/drawing/2014/main" id="{618CF61E-3BF8-4BC8-BF11-EC97FF89E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885843"/>
              </p:ext>
            </p:extLst>
          </p:nvPr>
        </p:nvGraphicFramePr>
        <p:xfrm>
          <a:off x="4509362" y="1931065"/>
          <a:ext cx="107372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1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36861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13" name="表格 6">
            <a:extLst>
              <a:ext uri="{FF2B5EF4-FFF2-40B4-BE49-F238E27FC236}">
                <a16:creationId xmlns:a16="http://schemas.microsoft.com/office/drawing/2014/main" id="{EC58CA35-C302-4616-85B9-994F3FB7F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041056"/>
              </p:ext>
            </p:extLst>
          </p:nvPr>
        </p:nvGraphicFramePr>
        <p:xfrm>
          <a:off x="5022278" y="2476587"/>
          <a:ext cx="107372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1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36861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14" name="右大括弧 16">
            <a:extLst>
              <a:ext uri="{FF2B5EF4-FFF2-40B4-BE49-F238E27FC236}">
                <a16:creationId xmlns:a16="http://schemas.microsoft.com/office/drawing/2014/main" id="{31960458-C2EE-406E-9279-1A7962125607}"/>
              </a:ext>
            </a:extLst>
          </p:cNvPr>
          <p:cNvSpPr/>
          <p:nvPr/>
        </p:nvSpPr>
        <p:spPr>
          <a:xfrm>
            <a:off x="6160677" y="1931065"/>
            <a:ext cx="15067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3A571F7-6E41-47FB-991E-CC0DD63E4785}"/>
                  </a:ext>
                </a:extLst>
              </p:cNvPr>
              <p:cNvSpPr txBox="1"/>
              <p:nvPr/>
            </p:nvSpPr>
            <p:spPr>
              <a:xfrm>
                <a:off x="6399062" y="2285215"/>
                <a:ext cx="102583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3A571F7-6E41-47FB-991E-CC0DD63E4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062" y="2285215"/>
                <a:ext cx="1025832" cy="307777"/>
              </a:xfrm>
              <a:prstGeom prst="rect">
                <a:avLst/>
              </a:prstGeom>
              <a:blipFill>
                <a:blip r:embed="rId7"/>
                <a:stretch>
                  <a:fillRect l="-4762" t="-2000" r="-7143" b="-3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表格 6">
            <a:extLst>
              <a:ext uri="{FF2B5EF4-FFF2-40B4-BE49-F238E27FC236}">
                <a16:creationId xmlns:a16="http://schemas.microsoft.com/office/drawing/2014/main" id="{4A598D99-A251-4FD8-8CDE-87FA357C9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10584"/>
              </p:ext>
            </p:extLst>
          </p:nvPr>
        </p:nvGraphicFramePr>
        <p:xfrm>
          <a:off x="7634591" y="3449520"/>
          <a:ext cx="1544400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00">
                  <a:extLst>
                    <a:ext uri="{9D8B030D-6E8A-4147-A177-3AD203B41FA5}">
                      <a16:colId xmlns:a16="http://schemas.microsoft.com/office/drawing/2014/main" val="163437496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4800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7" name="表格 6">
            <a:extLst>
              <a:ext uri="{FF2B5EF4-FFF2-40B4-BE49-F238E27FC236}">
                <a16:creationId xmlns:a16="http://schemas.microsoft.com/office/drawing/2014/main" id="{3AD537BD-4D51-4434-A66C-FB5F62FE7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806776"/>
              </p:ext>
            </p:extLst>
          </p:nvPr>
        </p:nvGraphicFramePr>
        <p:xfrm>
          <a:off x="8153159" y="1935820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…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8" name="表格 6">
            <a:extLst>
              <a:ext uri="{FF2B5EF4-FFF2-40B4-BE49-F238E27FC236}">
                <a16:creationId xmlns:a16="http://schemas.microsoft.com/office/drawing/2014/main" id="{1054B725-06B1-4D67-97A1-2A1F82E86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525093"/>
              </p:ext>
            </p:extLst>
          </p:nvPr>
        </p:nvGraphicFramePr>
        <p:xfrm>
          <a:off x="9184643" y="4004946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graphicFrame>
        <p:nvGraphicFramePr>
          <p:cNvPr id="29" name="表格 6">
            <a:extLst>
              <a:ext uri="{FF2B5EF4-FFF2-40B4-BE49-F238E27FC236}">
                <a16:creationId xmlns:a16="http://schemas.microsoft.com/office/drawing/2014/main" id="{292BF1FE-973E-41F1-B582-03F94D43F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52385"/>
              </p:ext>
            </p:extLst>
          </p:nvPr>
        </p:nvGraphicFramePr>
        <p:xfrm>
          <a:off x="9178991" y="2492373"/>
          <a:ext cx="1025832" cy="479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16">
                  <a:extLst>
                    <a:ext uri="{9D8B030D-6E8A-4147-A177-3AD203B41FA5}">
                      <a16:colId xmlns:a16="http://schemas.microsoft.com/office/drawing/2014/main" val="1735161819"/>
                    </a:ext>
                  </a:extLst>
                </a:gridCol>
                <a:gridCol w="512916">
                  <a:extLst>
                    <a:ext uri="{9D8B030D-6E8A-4147-A177-3AD203B41FA5}">
                      <a16:colId xmlns:a16="http://schemas.microsoft.com/office/drawing/2014/main" val="725323862"/>
                    </a:ext>
                  </a:extLst>
                </a:gridCol>
              </a:tblGrid>
              <a:tr h="47911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510824"/>
                  </a:ext>
                </a:extLst>
              </a:tr>
            </a:tbl>
          </a:graphicData>
        </a:graphic>
      </p:graphicFrame>
      <p:sp>
        <p:nvSpPr>
          <p:cNvPr id="30" name="右大括弧 16">
            <a:extLst>
              <a:ext uri="{FF2B5EF4-FFF2-40B4-BE49-F238E27FC236}">
                <a16:creationId xmlns:a16="http://schemas.microsoft.com/office/drawing/2014/main" id="{56B46D56-0C32-4D19-812C-0BBFD1D1C19B}"/>
              </a:ext>
            </a:extLst>
          </p:cNvPr>
          <p:cNvSpPr/>
          <p:nvPr/>
        </p:nvSpPr>
        <p:spPr>
          <a:xfrm>
            <a:off x="10270131" y="1946851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1" name="右大括弧 16">
            <a:extLst>
              <a:ext uri="{FF2B5EF4-FFF2-40B4-BE49-F238E27FC236}">
                <a16:creationId xmlns:a16="http://schemas.microsoft.com/office/drawing/2014/main" id="{A6E074C9-7D44-43D8-9DA7-5FD7AA4367C9}"/>
              </a:ext>
            </a:extLst>
          </p:cNvPr>
          <p:cNvSpPr/>
          <p:nvPr/>
        </p:nvSpPr>
        <p:spPr>
          <a:xfrm>
            <a:off x="10282573" y="3453559"/>
            <a:ext cx="143952" cy="1025696"/>
          </a:xfrm>
          <a:custGeom>
            <a:avLst/>
            <a:gdLst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7" fmla="*/ 0 w 186813"/>
              <a:gd name="connsiteY7" fmla="*/ 0 h 1025696"/>
              <a:gd name="connsiteX0" fmla="*/ 0 w 186813"/>
              <a:gd name="connsiteY0" fmla="*/ 0 h 1025696"/>
              <a:gd name="connsiteX1" fmla="*/ 93407 w 186813"/>
              <a:gd name="connsiteY1" fmla="*/ 15567 h 1025696"/>
              <a:gd name="connsiteX2" fmla="*/ 93407 w 186813"/>
              <a:gd name="connsiteY2" fmla="*/ 497281 h 1025696"/>
              <a:gd name="connsiteX3" fmla="*/ 186814 w 186813"/>
              <a:gd name="connsiteY3" fmla="*/ 512848 h 1025696"/>
              <a:gd name="connsiteX4" fmla="*/ 93407 w 186813"/>
              <a:gd name="connsiteY4" fmla="*/ 528415 h 1025696"/>
              <a:gd name="connsiteX5" fmla="*/ 93407 w 186813"/>
              <a:gd name="connsiteY5" fmla="*/ 1010129 h 1025696"/>
              <a:gd name="connsiteX6" fmla="*/ 0 w 186813"/>
              <a:gd name="connsiteY6" fmla="*/ 1025696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86814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7" fmla="*/ 0 w 186814"/>
              <a:gd name="connsiteY7" fmla="*/ 0 h 1025696"/>
              <a:gd name="connsiteX0" fmla="*/ 0 w 186814"/>
              <a:gd name="connsiteY0" fmla="*/ 0 h 1025696"/>
              <a:gd name="connsiteX1" fmla="*/ 93407 w 186814"/>
              <a:gd name="connsiteY1" fmla="*/ 15567 h 1025696"/>
              <a:gd name="connsiteX2" fmla="*/ 93407 w 186814"/>
              <a:gd name="connsiteY2" fmla="*/ 497281 h 1025696"/>
              <a:gd name="connsiteX3" fmla="*/ 147485 w 186814"/>
              <a:gd name="connsiteY3" fmla="*/ 512848 h 1025696"/>
              <a:gd name="connsiteX4" fmla="*/ 93407 w 186814"/>
              <a:gd name="connsiteY4" fmla="*/ 528415 h 1025696"/>
              <a:gd name="connsiteX5" fmla="*/ 93407 w 186814"/>
              <a:gd name="connsiteY5" fmla="*/ 1010129 h 1025696"/>
              <a:gd name="connsiteX6" fmla="*/ 0 w 186814"/>
              <a:gd name="connsiteY6" fmla="*/ 1025696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3952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7" fmla="*/ 0 w 147485"/>
              <a:gd name="connsiteY7" fmla="*/ 0 h 1025696"/>
              <a:gd name="connsiteX0" fmla="*/ 0 w 147485"/>
              <a:gd name="connsiteY0" fmla="*/ 0 h 1025696"/>
              <a:gd name="connsiteX1" fmla="*/ 93407 w 147485"/>
              <a:gd name="connsiteY1" fmla="*/ 15567 h 1025696"/>
              <a:gd name="connsiteX2" fmla="*/ 93407 w 147485"/>
              <a:gd name="connsiteY2" fmla="*/ 497281 h 1025696"/>
              <a:gd name="connsiteX3" fmla="*/ 147485 w 147485"/>
              <a:gd name="connsiteY3" fmla="*/ 512848 h 1025696"/>
              <a:gd name="connsiteX4" fmla="*/ 93407 w 147485"/>
              <a:gd name="connsiteY4" fmla="*/ 528415 h 1025696"/>
              <a:gd name="connsiteX5" fmla="*/ 93407 w 147485"/>
              <a:gd name="connsiteY5" fmla="*/ 1010129 h 1025696"/>
              <a:gd name="connsiteX6" fmla="*/ 0 w 147485"/>
              <a:gd name="connsiteY6" fmla="*/ 1025696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143952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7" fmla="*/ 0 w 274485"/>
              <a:gd name="connsiteY7" fmla="*/ 0 h 1025696"/>
              <a:gd name="connsiteX0" fmla="*/ 0 w 274485"/>
              <a:gd name="connsiteY0" fmla="*/ 0 h 1025696"/>
              <a:gd name="connsiteX1" fmla="*/ 93407 w 274485"/>
              <a:gd name="connsiteY1" fmla="*/ 15567 h 1025696"/>
              <a:gd name="connsiteX2" fmla="*/ 93407 w 274485"/>
              <a:gd name="connsiteY2" fmla="*/ 497281 h 1025696"/>
              <a:gd name="connsiteX3" fmla="*/ 274485 w 274485"/>
              <a:gd name="connsiteY3" fmla="*/ 512848 h 1025696"/>
              <a:gd name="connsiteX4" fmla="*/ 93407 w 274485"/>
              <a:gd name="connsiteY4" fmla="*/ 528415 h 1025696"/>
              <a:gd name="connsiteX5" fmla="*/ 93407 w 274485"/>
              <a:gd name="connsiteY5" fmla="*/ 1010129 h 1025696"/>
              <a:gd name="connsiteX6" fmla="*/ 0 w 274485"/>
              <a:gd name="connsiteY6" fmla="*/ 1025696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143952 w 239560"/>
              <a:gd name="connsiteY3" fmla="*/ 512848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7" fmla="*/ 0 w 239560"/>
              <a:gd name="connsiteY7" fmla="*/ 0 h 1025696"/>
              <a:gd name="connsiteX0" fmla="*/ 0 w 239560"/>
              <a:gd name="connsiteY0" fmla="*/ 0 h 1025696"/>
              <a:gd name="connsiteX1" fmla="*/ 93407 w 239560"/>
              <a:gd name="connsiteY1" fmla="*/ 15567 h 1025696"/>
              <a:gd name="connsiteX2" fmla="*/ 93407 w 239560"/>
              <a:gd name="connsiteY2" fmla="*/ 497281 h 1025696"/>
              <a:gd name="connsiteX3" fmla="*/ 239560 w 239560"/>
              <a:gd name="connsiteY3" fmla="*/ 514436 h 1025696"/>
              <a:gd name="connsiteX4" fmla="*/ 93407 w 239560"/>
              <a:gd name="connsiteY4" fmla="*/ 528415 h 1025696"/>
              <a:gd name="connsiteX5" fmla="*/ 93407 w 239560"/>
              <a:gd name="connsiteY5" fmla="*/ 1010129 h 1025696"/>
              <a:gd name="connsiteX6" fmla="*/ 0 w 239560"/>
              <a:gd name="connsiteY6" fmla="*/ 1025696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43952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7" fmla="*/ 0 w 177647"/>
              <a:gd name="connsiteY7" fmla="*/ 0 h 1025696"/>
              <a:gd name="connsiteX0" fmla="*/ 0 w 177647"/>
              <a:gd name="connsiteY0" fmla="*/ 0 h 1025696"/>
              <a:gd name="connsiteX1" fmla="*/ 93407 w 177647"/>
              <a:gd name="connsiteY1" fmla="*/ 15567 h 1025696"/>
              <a:gd name="connsiteX2" fmla="*/ 93407 w 177647"/>
              <a:gd name="connsiteY2" fmla="*/ 497281 h 1025696"/>
              <a:gd name="connsiteX3" fmla="*/ 177647 w 177647"/>
              <a:gd name="connsiteY3" fmla="*/ 512848 h 1025696"/>
              <a:gd name="connsiteX4" fmla="*/ 93407 w 177647"/>
              <a:gd name="connsiteY4" fmla="*/ 528415 h 1025696"/>
              <a:gd name="connsiteX5" fmla="*/ 93407 w 177647"/>
              <a:gd name="connsiteY5" fmla="*/ 1010129 h 1025696"/>
              <a:gd name="connsiteX6" fmla="*/ 0 w 177647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4395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  <a:gd name="connsiteX7" fmla="*/ 0 w 143952"/>
              <a:gd name="connsiteY7" fmla="*/ 0 h 1025696"/>
              <a:gd name="connsiteX0" fmla="*/ 0 w 143952"/>
              <a:gd name="connsiteY0" fmla="*/ 0 h 1025696"/>
              <a:gd name="connsiteX1" fmla="*/ 93407 w 143952"/>
              <a:gd name="connsiteY1" fmla="*/ 15567 h 1025696"/>
              <a:gd name="connsiteX2" fmla="*/ 93407 w 143952"/>
              <a:gd name="connsiteY2" fmla="*/ 497281 h 1025696"/>
              <a:gd name="connsiteX3" fmla="*/ 130022 w 143952"/>
              <a:gd name="connsiteY3" fmla="*/ 512848 h 1025696"/>
              <a:gd name="connsiteX4" fmla="*/ 93407 w 143952"/>
              <a:gd name="connsiteY4" fmla="*/ 528415 h 1025696"/>
              <a:gd name="connsiteX5" fmla="*/ 93407 w 143952"/>
              <a:gd name="connsiteY5" fmla="*/ 1010129 h 1025696"/>
              <a:gd name="connsiteX6" fmla="*/ 0 w 143952"/>
              <a:gd name="connsiteY6" fmla="*/ 1025696 h 10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952" h="1025696" stroke="0" extrusionOk="0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92365" y="512848"/>
                  <a:pt x="143952" y="512848"/>
                </a:cubicBezTo>
                <a:cubicBezTo>
                  <a:pt x="9236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  <a:lnTo>
                  <a:pt x="0" y="0"/>
                </a:lnTo>
                <a:close/>
              </a:path>
              <a:path w="143952" h="1025696" fill="none">
                <a:moveTo>
                  <a:pt x="0" y="0"/>
                </a:moveTo>
                <a:cubicBezTo>
                  <a:pt x="51587" y="0"/>
                  <a:pt x="93407" y="6970"/>
                  <a:pt x="93407" y="15567"/>
                </a:cubicBezTo>
                <a:lnTo>
                  <a:pt x="93407" y="497281"/>
                </a:lnTo>
                <a:cubicBezTo>
                  <a:pt x="93407" y="505878"/>
                  <a:pt x="78435" y="512848"/>
                  <a:pt x="130022" y="512848"/>
                </a:cubicBezTo>
                <a:cubicBezTo>
                  <a:pt x="78435" y="512848"/>
                  <a:pt x="93407" y="519818"/>
                  <a:pt x="93407" y="528415"/>
                </a:cubicBezTo>
                <a:lnTo>
                  <a:pt x="93407" y="1010129"/>
                </a:lnTo>
                <a:cubicBezTo>
                  <a:pt x="93407" y="1018726"/>
                  <a:pt x="51587" y="1025696"/>
                  <a:pt x="0" y="1025696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639C866-7B9B-43AD-A176-7D892AAA812B}"/>
                  </a:ext>
                </a:extLst>
              </p:cNvPr>
              <p:cNvSpPr txBox="1"/>
              <p:nvPr/>
            </p:nvSpPr>
            <p:spPr>
              <a:xfrm>
                <a:off x="10496991" y="2301001"/>
                <a:ext cx="10623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639C866-7B9B-43AD-A176-7D892AAA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6991" y="2301001"/>
                <a:ext cx="1062342" cy="307777"/>
              </a:xfrm>
              <a:prstGeom prst="rect">
                <a:avLst/>
              </a:prstGeom>
              <a:blipFill>
                <a:blip r:embed="rId8"/>
                <a:stretch>
                  <a:fillRect l="-2874" t="-1961" r="-5172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DE2E261-604E-452A-853C-4453263863F1}"/>
                  </a:ext>
                </a:extLst>
              </p:cNvPr>
              <p:cNvSpPr txBox="1"/>
              <p:nvPr/>
            </p:nvSpPr>
            <p:spPr>
              <a:xfrm>
                <a:off x="10497942" y="3812518"/>
                <a:ext cx="10623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DE2E261-604E-452A-853C-445326386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942" y="3812518"/>
                <a:ext cx="1062342" cy="307777"/>
              </a:xfrm>
              <a:prstGeom prst="rect">
                <a:avLst/>
              </a:prstGeom>
              <a:blipFill>
                <a:blip r:embed="rId9"/>
                <a:stretch>
                  <a:fillRect l="-2299" t="-1961" r="-5747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D5CFF3D-78AF-4CEC-B517-8F43D3F22B9C}"/>
                  </a:ext>
                </a:extLst>
              </p:cNvPr>
              <p:cNvSpPr txBox="1"/>
              <p:nvPr/>
            </p:nvSpPr>
            <p:spPr>
              <a:xfrm>
                <a:off x="2272139" y="1613695"/>
                <a:ext cx="32842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D5CFF3D-78AF-4CEC-B517-8F43D3F22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139" y="1613695"/>
                <a:ext cx="328423" cy="369332"/>
              </a:xfrm>
              <a:prstGeom prst="rect">
                <a:avLst/>
              </a:prstGeom>
              <a:blipFill>
                <a:blip r:embed="rId11"/>
                <a:stretch>
                  <a:fillRect l="-12963" r="-9259"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E633707-196A-4D14-906A-F32AC5E680D4}"/>
                  </a:ext>
                </a:extLst>
              </p:cNvPr>
              <p:cNvSpPr txBox="1"/>
              <p:nvPr/>
            </p:nvSpPr>
            <p:spPr>
              <a:xfrm>
                <a:off x="838200" y="2913762"/>
                <a:ext cx="24788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E633707-196A-4D14-906A-F32AC5E68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13762"/>
                <a:ext cx="247888" cy="369332"/>
              </a:xfrm>
              <a:prstGeom prst="rect">
                <a:avLst/>
              </a:prstGeom>
              <a:blipFill>
                <a:blip r:embed="rId12"/>
                <a:stretch>
                  <a:fillRect l="-30000" r="-27500"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93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164934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641894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Modified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291282-8D7C-4DFD-9A9B-225317B2F224}"/>
              </a:ext>
            </a:extLst>
          </p:cNvPr>
          <p:cNvCxnSpPr>
            <a:cxnSpLocks/>
          </p:cNvCxnSpPr>
          <p:nvPr/>
        </p:nvCxnSpPr>
        <p:spPr>
          <a:xfrm>
            <a:off x="2591022" y="3755923"/>
            <a:ext cx="4291559" cy="405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3324814"/>
                  </p:ext>
                </p:extLst>
              </p:nvPr>
            </p:nvGraphicFramePr>
            <p:xfrm>
              <a:off x="8466419" y="2157102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3324814"/>
                  </p:ext>
                </p:extLst>
              </p:nvPr>
            </p:nvGraphicFramePr>
            <p:xfrm>
              <a:off x="8466419" y="2157102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0" t="-862" r="-201379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9898A727-AD76-476C-8F79-274E4ABC2BDA}"/>
              </a:ext>
            </a:extLst>
          </p:cNvPr>
          <p:cNvSpPr/>
          <p:nvPr/>
        </p:nvSpPr>
        <p:spPr>
          <a:xfrm>
            <a:off x="9360310" y="2871019"/>
            <a:ext cx="855406" cy="6784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A78AABC-669C-42D5-A431-3E9E1B7C49C2}"/>
                  </a:ext>
                </a:extLst>
              </p:cNvPr>
              <p:cNvSpPr txBox="1"/>
              <p:nvPr/>
            </p:nvSpPr>
            <p:spPr>
              <a:xfrm>
                <a:off x="8402863" y="5326615"/>
                <a:ext cx="18863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A78AABC-669C-42D5-A431-3E9E1B7C4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5326615"/>
                <a:ext cx="1886350" cy="369332"/>
              </a:xfrm>
              <a:prstGeom prst="rect">
                <a:avLst/>
              </a:prstGeom>
              <a:blipFill>
                <a:blip r:embed="rId6"/>
                <a:stretch>
                  <a:fillRect l="-9032" t="-21667" r="-4194" b="-4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AE9E79-B45C-4070-AAE9-70B5CAB94E27}"/>
                  </a:ext>
                </a:extLst>
              </p:cNvPr>
              <p:cNvSpPr txBox="1"/>
              <p:nvPr/>
            </p:nvSpPr>
            <p:spPr>
              <a:xfrm>
                <a:off x="8402863" y="4957283"/>
                <a:ext cx="17140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BAAE9E79-B45C-4070-AAE9-70B5CAB94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4957283"/>
                <a:ext cx="1714059" cy="369332"/>
              </a:xfrm>
              <a:prstGeom prst="rect">
                <a:avLst/>
              </a:prstGeom>
              <a:blipFill>
                <a:blip r:embed="rId7"/>
                <a:stretch>
                  <a:fillRect l="-9929" t="-19672" r="-4610" b="-42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6298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216802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13838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13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Modified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F0291282-8D7C-4DFD-9A9B-225317B2F224}"/>
              </a:ext>
            </a:extLst>
          </p:cNvPr>
          <p:cNvCxnSpPr>
            <a:cxnSpLocks/>
          </p:cNvCxnSpPr>
          <p:nvPr/>
        </p:nvCxnSpPr>
        <p:spPr>
          <a:xfrm flipH="1">
            <a:off x="3529781" y="4275459"/>
            <a:ext cx="3392129" cy="338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66419" y="2157102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466419" y="2157102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0" t="-862" r="-201379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9898A727-AD76-476C-8F79-274E4ABC2BDA}"/>
              </a:ext>
            </a:extLst>
          </p:cNvPr>
          <p:cNvSpPr/>
          <p:nvPr/>
        </p:nvSpPr>
        <p:spPr>
          <a:xfrm>
            <a:off x="10235380" y="2871019"/>
            <a:ext cx="855406" cy="14044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67F73BF-3DA8-41C6-AE20-7B3E675F8A3E}"/>
              </a:ext>
            </a:extLst>
          </p:cNvPr>
          <p:cNvCxnSpPr>
            <a:cxnSpLocks/>
          </p:cNvCxnSpPr>
          <p:nvPr/>
        </p:nvCxnSpPr>
        <p:spPr>
          <a:xfrm>
            <a:off x="3126658" y="4275459"/>
            <a:ext cx="237754" cy="338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278489C-1FDB-465F-B877-B8374AA607A5}"/>
                  </a:ext>
                </a:extLst>
              </p:cNvPr>
              <p:cNvSpPr txBox="1"/>
              <p:nvPr/>
            </p:nvSpPr>
            <p:spPr>
              <a:xfrm>
                <a:off x="8402863" y="5326615"/>
                <a:ext cx="18863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𝑎𝑏𝑎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6278489C-1FDB-465F-B877-B8374AA60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5326615"/>
                <a:ext cx="1886350" cy="369332"/>
              </a:xfrm>
              <a:prstGeom prst="rect">
                <a:avLst/>
              </a:prstGeom>
              <a:blipFill>
                <a:blip r:embed="rId6"/>
                <a:stretch>
                  <a:fillRect l="-9032" t="-21667" r="-4194" b="-4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C12AF37-FEBB-4272-8766-6078E3B0E02E}"/>
                  </a:ext>
                </a:extLst>
              </p:cNvPr>
              <p:cNvSpPr txBox="1"/>
              <p:nvPr/>
            </p:nvSpPr>
            <p:spPr>
              <a:xfrm>
                <a:off x="8402863" y="4957283"/>
                <a:ext cx="20522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𝑎𝑏𝑎𝑏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C12AF37-FEBB-4272-8766-6078E3B0E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863" y="4957283"/>
                <a:ext cx="2052293" cy="369332"/>
              </a:xfrm>
              <a:prstGeom prst="rect">
                <a:avLst/>
              </a:prstGeom>
              <a:blipFill>
                <a:blip r:embed="rId7"/>
                <a:stretch>
                  <a:fillRect l="-8309" t="-19672" r="-3858" b="-42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0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9E3B81BE-629B-49A1-8176-D49CEEBAB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174079"/>
              </p:ext>
            </p:extLst>
          </p:nvPr>
        </p:nvGraphicFramePr>
        <p:xfrm>
          <a:off x="4419275" y="2151359"/>
          <a:ext cx="33228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68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2233E29-F274-4CD4-BE90-97C2AA1F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826140"/>
              </p:ext>
            </p:extLst>
          </p:nvPr>
        </p:nvGraphicFramePr>
        <p:xfrm>
          <a:off x="372131" y="2151359"/>
          <a:ext cx="3322886" cy="4117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698">
                  <a:extLst>
                    <a:ext uri="{9D8B030D-6E8A-4147-A177-3AD203B41FA5}">
                      <a16:colId xmlns:a16="http://schemas.microsoft.com/office/drawing/2014/main" val="1225099356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878786828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4674235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315054979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1132027215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3471048702"/>
                    </a:ext>
                  </a:extLst>
                </a:gridCol>
                <a:gridCol w="474698">
                  <a:extLst>
                    <a:ext uri="{9D8B030D-6E8A-4147-A177-3AD203B41FA5}">
                      <a16:colId xmlns:a16="http://schemas.microsoft.com/office/drawing/2014/main" val="2691057001"/>
                    </a:ext>
                  </a:extLst>
                </a:gridCol>
              </a:tblGrid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73242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637047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30790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273479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8994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081906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464551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46364"/>
                  </a:ext>
                </a:extLst>
              </a:tr>
              <a:tr h="457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586184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14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The Modified Algorithm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/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0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9292FF8-98B8-4E80-B33A-6E00D3EEC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1" y="1737706"/>
                <a:ext cx="909160" cy="461665"/>
              </a:xfrm>
              <a:prstGeom prst="rect">
                <a:avLst/>
              </a:prstGeom>
              <a:blipFill>
                <a:blip r:embed="rId3"/>
                <a:stretch>
                  <a:fillRect l="-2013" t="-10526" r="-939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/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𝑘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 1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AB93C1D-24C5-4CFB-BC13-9E92ECE4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75" y="1689694"/>
                <a:ext cx="909160" cy="461665"/>
              </a:xfrm>
              <a:prstGeom prst="rect">
                <a:avLst/>
              </a:prstGeom>
              <a:blipFill>
                <a:blip r:embed="rId4"/>
                <a:stretch>
                  <a:fillRect l="-2013" t="-10526" r="-87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735861"/>
                  </p:ext>
                </p:extLst>
              </p:nvPr>
            </p:nvGraphicFramePr>
            <p:xfrm>
              <a:off x="8466419" y="2148901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">
                <a:extLst>
                  <a:ext uri="{FF2B5EF4-FFF2-40B4-BE49-F238E27FC236}">
                    <a16:creationId xmlns:a16="http://schemas.microsoft.com/office/drawing/2014/main" id="{E656AF10-2117-4537-8FE2-6322423B5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735861"/>
                  </p:ext>
                </p:extLst>
              </p:nvPr>
            </p:nvGraphicFramePr>
            <p:xfrm>
              <a:off x="8466419" y="2148901"/>
              <a:ext cx="2645697" cy="21183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81899">
                      <a:extLst>
                        <a:ext uri="{9D8B030D-6E8A-4147-A177-3AD203B41FA5}">
                          <a16:colId xmlns:a16="http://schemas.microsoft.com/office/drawing/2014/main" val="1441623747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3659514122"/>
                        </a:ext>
                      </a:extLst>
                    </a:gridCol>
                    <a:gridCol w="881899">
                      <a:extLst>
                        <a:ext uri="{9D8B030D-6E8A-4147-A177-3AD203B41FA5}">
                          <a16:colId xmlns:a16="http://schemas.microsoft.com/office/drawing/2014/main" val="298362158"/>
                        </a:ext>
                      </a:extLst>
                    </a:gridCol>
                  </a:tblGrid>
                  <a:tr h="70611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0" t="-862" r="-201379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a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b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4595664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698483"/>
                      </a:ext>
                    </a:extLst>
                  </a:tr>
                  <a:tr h="7061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1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2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b="0" dirty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cs typeface="Times" panose="02020603050405020304" pitchFamily="18" charset="0"/>
                            </a:rPr>
                            <a:t>0</a:t>
                          </a:r>
                          <a:endParaRPr lang="zh-TW" altLang="en-US" sz="2400" b="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cs typeface="Times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5080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F65576E-A32E-4E81-ABCA-14DE02EAAEB3}"/>
                  </a:ext>
                </a:extLst>
              </p:cNvPr>
              <p:cNvSpPr txBox="1"/>
              <p:nvPr/>
            </p:nvSpPr>
            <p:spPr>
              <a:xfrm>
                <a:off x="7913332" y="4619306"/>
                <a:ext cx="41377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STR-EC-LCS(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𝑌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" panose="020206030504050203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>
                    <a:latin typeface="Times" panose="02020603050405020304" pitchFamily="18" charset="0"/>
                    <a:cs typeface="Times" panose="02020603050405020304" pitchFamily="18" charset="0"/>
                  </a:rPr>
                  <a:t>) = </a:t>
                </a:r>
                <a:r>
                  <a:rPr lang="en-US" altLang="zh-TW" sz="2400" dirty="0" err="1">
                    <a:latin typeface="Times" panose="02020603050405020304" pitchFamily="18" charset="0"/>
                    <a:cs typeface="Times" panose="02020603050405020304" pitchFamily="18" charset="0"/>
                  </a:rPr>
                  <a:t>abab</a:t>
                </a:r>
                <a:endParaRPr lang="zh-TW" altLang="en-US" sz="2400" dirty="0"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F65576E-A32E-4E81-ABCA-14DE02EAA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2" y="4619306"/>
                <a:ext cx="4137736" cy="461665"/>
              </a:xfrm>
              <a:prstGeom prst="rect">
                <a:avLst/>
              </a:prstGeom>
              <a:blipFill>
                <a:blip r:embed="rId6"/>
                <a:stretch>
                  <a:fillRect l="-1915" t="-10667" r="-1031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915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299CBE-E30D-E949-B1C5-1571BD06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03F21-0339-114F-A835-EDFAC68AEBBB}" type="slidenum">
              <a:rPr kumimoji="1" lang="zh-TW" altLang="en-US" smtClean="0"/>
              <a:t>15</a:t>
            </a:fld>
            <a:endParaRPr kumimoji="1" lang="zh-TW" altLang="en-US" dirty="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C3149216-9143-4A39-9BD1-E9292E44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" pitchFamily="2" charset="0"/>
              </a:rPr>
              <a:t>Time Complexity</a:t>
            </a:r>
            <a:endParaRPr kumimoji="1" lang="zh-TW" altLang="en-US" dirty="0">
              <a:latin typeface="Time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748A309-2CFE-4D6A-81C1-5D925B56B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itchFamily="2" charset="0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𝑛𝑚𝑟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TW" sz="2400" dirty="0">
                    <a:latin typeface="Times" pitchFamily="2" charset="0"/>
                  </a:rPr>
                  <a:t>Preprocessing time: O(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l-GR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TW" sz="2400" dirty="0">
                    <a:latin typeface="Times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2" name="內容版面配置區 2">
                <a:extLst>
                  <a:ext uri="{FF2B5EF4-FFF2-40B4-BE49-F238E27FC236}">
                    <a16:creationId xmlns:a16="http://schemas.microsoft.com/office/drawing/2014/main" id="{4748A309-2CFE-4D6A-81C1-5D925B56B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416"/>
                <a:ext cx="10515600" cy="4877933"/>
              </a:xfr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98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_chenya" id="{B41F7EED-78E0-1445-87EF-5AF1DA6E0F58}" vid="{D32384A1-BBDA-0D4F-B76D-4F110ED0331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佈景主題</Template>
  <TotalTime>8959</TotalTime>
  <Words>1134</Words>
  <Application>Microsoft Office PowerPoint</Application>
  <PresentationFormat>寬螢幕</PresentationFormat>
  <Paragraphs>781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</vt:lpstr>
      <vt:lpstr>Times New Roman</vt:lpstr>
      <vt:lpstr>Office 佈景主題</vt:lpstr>
      <vt:lpstr>A dynamic programming solution to a generalized LCS problem</vt:lpstr>
      <vt:lpstr>Abstract</vt:lpstr>
      <vt:lpstr>String-Exclusion-LCS(STR-EC-LCS)</vt:lpstr>
      <vt:lpstr>σ(S)</vt:lpstr>
      <vt:lpstr>σ(Z)=k</vt:lpstr>
      <vt:lpstr>The Algorithm</vt:lpstr>
      <vt:lpstr>The Algorithm</vt:lpstr>
      <vt:lpstr>The Algorithm</vt:lpstr>
      <vt:lpstr>The Algorithm</vt:lpstr>
      <vt:lpstr>The Algorithm</vt:lpstr>
      <vt:lpstr>λ(k, x_i)</vt:lpstr>
      <vt:lpstr>The Modified Algorithm</vt:lpstr>
      <vt:lpstr>The Modified Algorithm</vt:lpstr>
      <vt:lpstr>The Modified Algorithm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M113040012</dc:creator>
  <cp:lastModifiedBy>張紋瑜</cp:lastModifiedBy>
  <cp:revision>239</cp:revision>
  <dcterms:created xsi:type="dcterms:W3CDTF">2023-07-01T04:19:29Z</dcterms:created>
  <dcterms:modified xsi:type="dcterms:W3CDTF">2023-09-18T16:02:27Z</dcterms:modified>
</cp:coreProperties>
</file>