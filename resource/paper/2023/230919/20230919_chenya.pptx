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6"/>
  </p:notesMasterIdLst>
  <p:sldIdLst>
    <p:sldId id="256" r:id="rId2"/>
    <p:sldId id="265" r:id="rId3"/>
    <p:sldId id="266" r:id="rId4"/>
    <p:sldId id="267" r:id="rId5"/>
    <p:sldId id="281" r:id="rId6"/>
    <p:sldId id="285" r:id="rId7"/>
    <p:sldId id="286" r:id="rId8"/>
    <p:sldId id="271" r:id="rId9"/>
    <p:sldId id="288" r:id="rId10"/>
    <p:sldId id="282" r:id="rId11"/>
    <p:sldId id="279" r:id="rId12"/>
    <p:sldId id="280" r:id="rId13"/>
    <p:sldId id="293" r:id="rId14"/>
    <p:sldId id="292" r:id="rId15"/>
    <p:sldId id="289" r:id="rId16"/>
    <p:sldId id="291" r:id="rId17"/>
    <p:sldId id="273" r:id="rId18"/>
    <p:sldId id="276" r:id="rId19"/>
    <p:sldId id="277" r:id="rId20"/>
    <p:sldId id="278" r:id="rId21"/>
    <p:sldId id="275" r:id="rId22"/>
    <p:sldId id="284" r:id="rId23"/>
    <p:sldId id="294" r:id="rId24"/>
    <p:sldId id="287" r:id="rId2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56"/>
    <p:restoredTop sz="95728"/>
  </p:normalViewPr>
  <p:slideViewPr>
    <p:cSldViewPr snapToGrid="0" snapToObjects="1">
      <p:cViewPr varScale="1">
        <p:scale>
          <a:sx n="109" d="100"/>
          <a:sy n="109" d="100"/>
        </p:scale>
        <p:origin x="44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87B1E-D7BB-234A-BB61-4186E7CB5889}" type="datetimeFigureOut">
              <a:rPr kumimoji="1" lang="zh-TW" altLang="en-US" smtClean="0"/>
              <a:t>2023/9/19</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A56A01-BB7F-2749-98D2-EC6EAA37179B}" type="slidenum">
              <a:rPr kumimoji="1" lang="zh-TW" altLang="en-US" smtClean="0"/>
              <a:t>‹#›</a:t>
            </a:fld>
            <a:endParaRPr kumimoji="1" lang="zh-TW" altLang="en-US"/>
          </a:p>
        </p:txBody>
      </p:sp>
    </p:spTree>
    <p:extLst>
      <p:ext uri="{BB962C8B-B14F-4D97-AF65-F5344CB8AC3E}">
        <p14:creationId xmlns:p14="http://schemas.microsoft.com/office/powerpoint/2010/main" val="139445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D501DD-7617-CF45-952C-148738FE8509}"/>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0349E178-73AA-644C-8223-66BF713642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B653253A-849A-4D45-A3E7-4D1991E4C901}"/>
              </a:ext>
            </a:extLst>
          </p:cNvPr>
          <p:cNvSpPr>
            <a:spLocks noGrp="1"/>
          </p:cNvSpPr>
          <p:nvPr>
            <p:ph type="dt" sz="half" idx="10"/>
          </p:nvPr>
        </p:nvSpPr>
        <p:spPr/>
        <p:txBody>
          <a:bodyPr/>
          <a:lstStyle/>
          <a:p>
            <a:fld id="{A2F653D5-883A-5840-B916-BEC4DF4506D5}" type="datetime1">
              <a:rPr kumimoji="1" lang="zh-TW" altLang="en-US" smtClean="0"/>
              <a:t>2023/9/19</a:t>
            </a:fld>
            <a:endParaRPr kumimoji="1" lang="zh-TW" altLang="en-US"/>
          </a:p>
        </p:txBody>
      </p:sp>
      <p:sp>
        <p:nvSpPr>
          <p:cNvPr id="5" name="頁尾版面配置區 4">
            <a:extLst>
              <a:ext uri="{FF2B5EF4-FFF2-40B4-BE49-F238E27FC236}">
                <a16:creationId xmlns:a16="http://schemas.microsoft.com/office/drawing/2014/main" id="{A6ECDC78-3D4D-404B-AFA4-5B8A4BFDC68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BB6C002C-0479-C74D-9FB3-84645C0AAB3D}"/>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05809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7A464A-FDF4-3341-B07B-24B820E47B20}"/>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4FA333E2-9D9C-8C49-8592-A408903CFAD9}"/>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75D6F474-7FB1-5646-B2F2-525F8D173137}"/>
              </a:ext>
            </a:extLst>
          </p:cNvPr>
          <p:cNvSpPr>
            <a:spLocks noGrp="1"/>
          </p:cNvSpPr>
          <p:nvPr>
            <p:ph type="dt" sz="half" idx="10"/>
          </p:nvPr>
        </p:nvSpPr>
        <p:spPr/>
        <p:txBody>
          <a:bodyPr/>
          <a:lstStyle/>
          <a:p>
            <a:fld id="{252429E5-98E1-4140-9D90-8AD9B393DC63}" type="datetime1">
              <a:rPr kumimoji="1" lang="zh-TW" altLang="en-US" smtClean="0"/>
              <a:t>2023/9/19</a:t>
            </a:fld>
            <a:endParaRPr kumimoji="1" lang="zh-TW" altLang="en-US"/>
          </a:p>
        </p:txBody>
      </p:sp>
      <p:sp>
        <p:nvSpPr>
          <p:cNvPr id="5" name="頁尾版面配置區 4">
            <a:extLst>
              <a:ext uri="{FF2B5EF4-FFF2-40B4-BE49-F238E27FC236}">
                <a16:creationId xmlns:a16="http://schemas.microsoft.com/office/drawing/2014/main" id="{4534CE80-A870-164A-A65F-809FC9C002C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E5BB9FA6-21BE-FF46-A0DD-80A4E3E45C48}"/>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238567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6485C0-58BA-C248-AFEC-796DBE7A28BC}"/>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80E020E7-FE89-E04B-A373-97BD15E9BA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C1132D52-ED19-E540-984A-CB07B5F73432}"/>
              </a:ext>
            </a:extLst>
          </p:cNvPr>
          <p:cNvSpPr>
            <a:spLocks noGrp="1"/>
          </p:cNvSpPr>
          <p:nvPr>
            <p:ph type="dt" sz="half" idx="10"/>
          </p:nvPr>
        </p:nvSpPr>
        <p:spPr/>
        <p:txBody>
          <a:bodyPr/>
          <a:lstStyle/>
          <a:p>
            <a:fld id="{0D40C34D-36C3-F34E-AF6E-5E7D513EECD1}" type="datetime1">
              <a:rPr kumimoji="1" lang="zh-TW" altLang="en-US" smtClean="0"/>
              <a:t>2023/9/19</a:t>
            </a:fld>
            <a:endParaRPr kumimoji="1" lang="zh-TW" altLang="en-US"/>
          </a:p>
        </p:txBody>
      </p:sp>
      <p:sp>
        <p:nvSpPr>
          <p:cNvPr id="5" name="頁尾版面配置區 4">
            <a:extLst>
              <a:ext uri="{FF2B5EF4-FFF2-40B4-BE49-F238E27FC236}">
                <a16:creationId xmlns:a16="http://schemas.microsoft.com/office/drawing/2014/main" id="{7A6BDAE5-6429-1646-BE72-C577966D27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1FD161E-0E50-D549-9D79-396E6719964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480730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C827E9-DFE9-224C-9899-DD344BC7F31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BF56C89-BB60-5D4A-B951-F0C1C7545877}"/>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716C126F-4174-1949-9558-B4C272D36FDA}"/>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04765A31-2149-0648-8A59-90D896183FFF}"/>
              </a:ext>
            </a:extLst>
          </p:cNvPr>
          <p:cNvSpPr>
            <a:spLocks noGrp="1"/>
          </p:cNvSpPr>
          <p:nvPr>
            <p:ph type="dt" sz="half" idx="10"/>
          </p:nvPr>
        </p:nvSpPr>
        <p:spPr/>
        <p:txBody>
          <a:bodyPr/>
          <a:lstStyle/>
          <a:p>
            <a:fld id="{82B76D90-58FA-0641-BF29-5E2687B5D06E}" type="datetime1">
              <a:rPr kumimoji="1" lang="zh-TW" altLang="en-US" smtClean="0"/>
              <a:t>2023/9/19</a:t>
            </a:fld>
            <a:endParaRPr kumimoji="1" lang="zh-TW" altLang="en-US"/>
          </a:p>
        </p:txBody>
      </p:sp>
      <p:sp>
        <p:nvSpPr>
          <p:cNvPr id="6" name="頁尾版面配置區 5">
            <a:extLst>
              <a:ext uri="{FF2B5EF4-FFF2-40B4-BE49-F238E27FC236}">
                <a16:creationId xmlns:a16="http://schemas.microsoft.com/office/drawing/2014/main" id="{EEC8BAB3-FB47-3344-B999-5CB7AACA707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3B979C4-5F59-314A-943B-7732149E643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347998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75BCB-A32E-984F-994B-6AD69C183376}"/>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EF3BBA48-11AB-EA42-B26E-97C56E55B8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C045D110-23DF-BA43-8D13-0E9505DCCED9}"/>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B0FA7828-C650-A046-B918-8845F0B6A8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2DE3B6E-6238-D149-9212-48351BD8A3B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4A5BA387-FB25-3242-BD50-C95AE8C57586}"/>
              </a:ext>
            </a:extLst>
          </p:cNvPr>
          <p:cNvSpPr>
            <a:spLocks noGrp="1"/>
          </p:cNvSpPr>
          <p:nvPr>
            <p:ph type="dt" sz="half" idx="10"/>
          </p:nvPr>
        </p:nvSpPr>
        <p:spPr/>
        <p:txBody>
          <a:bodyPr/>
          <a:lstStyle/>
          <a:p>
            <a:fld id="{65C3B0E6-B8C8-474E-B122-D8F5DE0AFAD2}" type="datetime1">
              <a:rPr kumimoji="1" lang="zh-TW" altLang="en-US" smtClean="0"/>
              <a:t>2023/9/19</a:t>
            </a:fld>
            <a:endParaRPr kumimoji="1" lang="zh-TW" altLang="en-US"/>
          </a:p>
        </p:txBody>
      </p:sp>
      <p:sp>
        <p:nvSpPr>
          <p:cNvPr id="8" name="頁尾版面配置區 7">
            <a:extLst>
              <a:ext uri="{FF2B5EF4-FFF2-40B4-BE49-F238E27FC236}">
                <a16:creationId xmlns:a16="http://schemas.microsoft.com/office/drawing/2014/main" id="{DEDC4116-BEB6-7E4E-A4A7-D2553343B24F}"/>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CD0F097C-57D7-B44E-A73C-8373F218B190}"/>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07589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114667-755C-594C-B649-0C584C797C69}"/>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3ABF655D-EEC9-1849-AFE9-30359B4DAFF8}"/>
              </a:ext>
            </a:extLst>
          </p:cNvPr>
          <p:cNvSpPr>
            <a:spLocks noGrp="1"/>
          </p:cNvSpPr>
          <p:nvPr>
            <p:ph type="dt" sz="half" idx="10"/>
          </p:nvPr>
        </p:nvSpPr>
        <p:spPr/>
        <p:txBody>
          <a:bodyPr/>
          <a:lstStyle/>
          <a:p>
            <a:fld id="{8869937B-9027-774A-B9FD-9279ACD255BD}" type="datetime1">
              <a:rPr kumimoji="1" lang="zh-TW" altLang="en-US" smtClean="0"/>
              <a:t>2023/9/19</a:t>
            </a:fld>
            <a:endParaRPr kumimoji="1" lang="zh-TW" altLang="en-US"/>
          </a:p>
        </p:txBody>
      </p:sp>
      <p:sp>
        <p:nvSpPr>
          <p:cNvPr id="4" name="頁尾版面配置區 3">
            <a:extLst>
              <a:ext uri="{FF2B5EF4-FFF2-40B4-BE49-F238E27FC236}">
                <a16:creationId xmlns:a16="http://schemas.microsoft.com/office/drawing/2014/main" id="{135848DC-EF7E-5E45-97D5-BB002916150F}"/>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BEF47D0D-FB63-C04A-88AA-4663F56A5B0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44298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30D0DAB-E3AB-C542-BAF1-FA0813FFFB56}"/>
              </a:ext>
            </a:extLst>
          </p:cNvPr>
          <p:cNvSpPr>
            <a:spLocks noGrp="1"/>
          </p:cNvSpPr>
          <p:nvPr>
            <p:ph type="dt" sz="half" idx="10"/>
          </p:nvPr>
        </p:nvSpPr>
        <p:spPr/>
        <p:txBody>
          <a:bodyPr/>
          <a:lstStyle/>
          <a:p>
            <a:fld id="{6C319104-FA4D-834B-9033-B46E2F34E77F}" type="datetime1">
              <a:rPr kumimoji="1" lang="zh-TW" altLang="en-US" smtClean="0"/>
              <a:t>2023/9/19</a:t>
            </a:fld>
            <a:endParaRPr kumimoji="1" lang="zh-TW" altLang="en-US"/>
          </a:p>
        </p:txBody>
      </p:sp>
      <p:sp>
        <p:nvSpPr>
          <p:cNvPr id="3" name="頁尾版面配置區 2">
            <a:extLst>
              <a:ext uri="{FF2B5EF4-FFF2-40B4-BE49-F238E27FC236}">
                <a16:creationId xmlns:a16="http://schemas.microsoft.com/office/drawing/2014/main" id="{A44257D8-EC9E-534F-9065-715A4574FDC7}"/>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F0029C47-757A-114F-A178-225027BD7FD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786642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6441E4-4620-9244-B66E-26EC9ECBAE2B}"/>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A6E2631A-AADB-4344-B902-B53FE9F513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9D2930E1-81A7-6848-925D-24DF95107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34A1FEB3-ECC3-AD41-BEA6-44C6F60FF1DE}"/>
              </a:ext>
            </a:extLst>
          </p:cNvPr>
          <p:cNvSpPr>
            <a:spLocks noGrp="1"/>
          </p:cNvSpPr>
          <p:nvPr>
            <p:ph type="dt" sz="half" idx="10"/>
          </p:nvPr>
        </p:nvSpPr>
        <p:spPr/>
        <p:txBody>
          <a:bodyPr/>
          <a:lstStyle/>
          <a:p>
            <a:fld id="{BAC173C6-1BDC-EF4C-9138-1B867971D82A}" type="datetime1">
              <a:rPr kumimoji="1" lang="zh-TW" altLang="en-US" smtClean="0"/>
              <a:t>2023/9/19</a:t>
            </a:fld>
            <a:endParaRPr kumimoji="1" lang="zh-TW" altLang="en-US"/>
          </a:p>
        </p:txBody>
      </p:sp>
      <p:sp>
        <p:nvSpPr>
          <p:cNvPr id="6" name="頁尾版面配置區 5">
            <a:extLst>
              <a:ext uri="{FF2B5EF4-FFF2-40B4-BE49-F238E27FC236}">
                <a16:creationId xmlns:a16="http://schemas.microsoft.com/office/drawing/2014/main" id="{42CC6D6D-32D3-0F46-8645-9348CDCC2DA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A0AFE86A-1C31-4A46-A584-5E4CEF4AEA2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803353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1D89C4-8B50-834A-81C5-869F9DC9C0F0}"/>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D5534F9E-8511-5F4A-A82F-05692527D3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zh-TW" altLang="en-US"/>
              <a:t>按一下圖示以新增圖片</a:t>
            </a:r>
          </a:p>
        </p:txBody>
      </p:sp>
      <p:sp>
        <p:nvSpPr>
          <p:cNvPr id="4" name="文字版面配置區 3">
            <a:extLst>
              <a:ext uri="{FF2B5EF4-FFF2-40B4-BE49-F238E27FC236}">
                <a16:creationId xmlns:a16="http://schemas.microsoft.com/office/drawing/2014/main" id="{AB5567A0-F6B9-9340-A872-76C4D30942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579205F-B98C-E943-92A5-27963140F3C8}"/>
              </a:ext>
            </a:extLst>
          </p:cNvPr>
          <p:cNvSpPr>
            <a:spLocks noGrp="1"/>
          </p:cNvSpPr>
          <p:nvPr>
            <p:ph type="dt" sz="half" idx="10"/>
          </p:nvPr>
        </p:nvSpPr>
        <p:spPr/>
        <p:txBody>
          <a:bodyPr/>
          <a:lstStyle/>
          <a:p>
            <a:fld id="{5708567F-5EDC-4F4F-93AF-7C8D00AA37FD}" type="datetime1">
              <a:rPr kumimoji="1" lang="zh-TW" altLang="en-US" smtClean="0"/>
              <a:t>2023/9/19</a:t>
            </a:fld>
            <a:endParaRPr kumimoji="1" lang="zh-TW" altLang="en-US"/>
          </a:p>
        </p:txBody>
      </p:sp>
      <p:sp>
        <p:nvSpPr>
          <p:cNvPr id="6" name="頁尾版面配置區 5">
            <a:extLst>
              <a:ext uri="{FF2B5EF4-FFF2-40B4-BE49-F238E27FC236}">
                <a16:creationId xmlns:a16="http://schemas.microsoft.com/office/drawing/2014/main" id="{30A25F96-ED76-8549-9FD6-2B59D2856A98}"/>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0696D537-3F67-CD44-B755-194C465EDB5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313491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D6AB28-6653-9C49-A992-A4247978B7D2}"/>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6E57488-2CEC-AB48-B522-A9BF17B67ED1}"/>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F9DC675-96A7-5740-944C-CAFED91F8875}"/>
              </a:ext>
            </a:extLst>
          </p:cNvPr>
          <p:cNvSpPr>
            <a:spLocks noGrp="1"/>
          </p:cNvSpPr>
          <p:nvPr>
            <p:ph type="dt" sz="half" idx="10"/>
          </p:nvPr>
        </p:nvSpPr>
        <p:spPr/>
        <p:txBody>
          <a:bodyPr/>
          <a:lstStyle/>
          <a:p>
            <a:fld id="{419ABB45-072B-E944-9661-5DAAF6BF234C}" type="datetime1">
              <a:rPr kumimoji="1" lang="zh-TW" altLang="en-US" smtClean="0"/>
              <a:t>2023/9/19</a:t>
            </a:fld>
            <a:endParaRPr kumimoji="1" lang="zh-TW" altLang="en-US"/>
          </a:p>
        </p:txBody>
      </p:sp>
      <p:sp>
        <p:nvSpPr>
          <p:cNvPr id="5" name="頁尾版面配置區 4">
            <a:extLst>
              <a:ext uri="{FF2B5EF4-FFF2-40B4-BE49-F238E27FC236}">
                <a16:creationId xmlns:a16="http://schemas.microsoft.com/office/drawing/2014/main" id="{EE19B60E-DE36-CE48-92C7-29C904047F0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8A11CB14-7E7D-DA4F-95BF-F4F6A71A702C}"/>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413784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3137A97-13EF-684A-A0A9-0B2C4B915BF7}"/>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C14D9E75-6CF5-DE45-9FA4-3A5D546C876F}"/>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9846D7A-FDC0-584E-83DF-7CFDFE86ADAC}"/>
              </a:ext>
            </a:extLst>
          </p:cNvPr>
          <p:cNvSpPr>
            <a:spLocks noGrp="1"/>
          </p:cNvSpPr>
          <p:nvPr>
            <p:ph type="dt" sz="half" idx="10"/>
          </p:nvPr>
        </p:nvSpPr>
        <p:spPr/>
        <p:txBody>
          <a:bodyPr/>
          <a:lstStyle/>
          <a:p>
            <a:fld id="{FA3D0E93-5293-2E45-810C-52C7374A43E9}" type="datetime1">
              <a:rPr kumimoji="1" lang="zh-TW" altLang="en-US" smtClean="0"/>
              <a:t>2023/9/19</a:t>
            </a:fld>
            <a:endParaRPr kumimoji="1" lang="zh-TW" altLang="en-US"/>
          </a:p>
        </p:txBody>
      </p:sp>
      <p:sp>
        <p:nvSpPr>
          <p:cNvPr id="5" name="頁尾版面配置區 4">
            <a:extLst>
              <a:ext uri="{FF2B5EF4-FFF2-40B4-BE49-F238E27FC236}">
                <a16:creationId xmlns:a16="http://schemas.microsoft.com/office/drawing/2014/main" id="{B05227D2-8B70-D046-B3FE-419A3723BF4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0C29F65E-93FE-3541-912C-7DF85AF21685}"/>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853969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422299C-DADF-924C-A256-3B359ECFB5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7C0D55-55DC-8A4F-8D1C-054CD64B89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D4F6F637-18F3-BD4C-908D-9F4BD7CEC2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D2FFB-DAFA-B349-908F-41F05A7F02F7}" type="datetime1">
              <a:rPr kumimoji="1" lang="zh-TW" altLang="en-US" smtClean="0"/>
              <a:t>2023/9/19</a:t>
            </a:fld>
            <a:endParaRPr kumimoji="1" lang="zh-TW" altLang="en-US"/>
          </a:p>
        </p:txBody>
      </p:sp>
      <p:sp>
        <p:nvSpPr>
          <p:cNvPr id="5" name="頁尾版面配置區 4">
            <a:extLst>
              <a:ext uri="{FF2B5EF4-FFF2-40B4-BE49-F238E27FC236}">
                <a16:creationId xmlns:a16="http://schemas.microsoft.com/office/drawing/2014/main" id="{8189E3A8-AF3F-CA42-A297-2EE032B20F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CD309E7D-F646-F04E-B26F-BEF4E72885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96518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5C7C8A-452E-D943-890A-99D101A85538}"/>
              </a:ext>
            </a:extLst>
          </p:cNvPr>
          <p:cNvSpPr>
            <a:spLocks noGrp="1"/>
          </p:cNvSpPr>
          <p:nvPr>
            <p:ph type="ctrTitle"/>
          </p:nvPr>
        </p:nvSpPr>
        <p:spPr/>
        <p:txBody>
          <a:bodyPr>
            <a:normAutofit/>
          </a:bodyPr>
          <a:lstStyle/>
          <a:p>
            <a:r>
              <a:rPr kumimoji="1" lang="en" altLang="zh-TW" dirty="0">
                <a:latin typeface="Times" pitchFamily="2" charset="0"/>
              </a:rPr>
              <a:t>Learning to bid in bridge</a:t>
            </a:r>
            <a:endParaRPr kumimoji="1" lang="zh-TW" altLang="en-US" dirty="0">
              <a:latin typeface="Times" pitchFamily="2" charset="0"/>
            </a:endParaRPr>
          </a:p>
        </p:txBody>
      </p:sp>
      <p:sp>
        <p:nvSpPr>
          <p:cNvPr id="3" name="副標題 2">
            <a:extLst>
              <a:ext uri="{FF2B5EF4-FFF2-40B4-BE49-F238E27FC236}">
                <a16:creationId xmlns:a16="http://schemas.microsoft.com/office/drawing/2014/main" id="{AA9CE59C-0A7C-3340-9871-01BB9F00CC93}"/>
              </a:ext>
            </a:extLst>
          </p:cNvPr>
          <p:cNvSpPr>
            <a:spLocks noGrp="1"/>
          </p:cNvSpPr>
          <p:nvPr>
            <p:ph type="subTitle" idx="1"/>
          </p:nvPr>
        </p:nvSpPr>
        <p:spPr/>
        <p:txBody>
          <a:bodyPr>
            <a:normAutofit/>
          </a:bodyPr>
          <a:lstStyle/>
          <a:p>
            <a:pPr>
              <a:lnSpc>
                <a:spcPct val="100000"/>
              </a:lnSpc>
            </a:pPr>
            <a:endParaRPr lang="en" altLang="zh-TW" dirty="0">
              <a:latin typeface="Times" pitchFamily="2" charset="0"/>
            </a:endParaRPr>
          </a:p>
          <a:p>
            <a:pPr>
              <a:lnSpc>
                <a:spcPct val="100000"/>
              </a:lnSpc>
            </a:pPr>
            <a:r>
              <a:rPr lang="en" altLang="zh-TW" dirty="0">
                <a:latin typeface="Times" pitchFamily="2" charset="0"/>
              </a:rPr>
              <a:t>Asaf Amit</a:t>
            </a:r>
            <a:r>
              <a:rPr lang="zh-TW" altLang="en-US" dirty="0">
                <a:latin typeface="Times" pitchFamily="2" charset="0"/>
              </a:rPr>
              <a:t> </a:t>
            </a:r>
            <a:r>
              <a:rPr lang="en-US" altLang="zh-TW" dirty="0">
                <a:latin typeface="Times" pitchFamily="2" charset="0"/>
              </a:rPr>
              <a:t>and</a:t>
            </a:r>
            <a:r>
              <a:rPr lang="zh-TW" altLang="en-US" dirty="0">
                <a:latin typeface="Times" pitchFamily="2" charset="0"/>
              </a:rPr>
              <a:t> </a:t>
            </a:r>
            <a:r>
              <a:rPr lang="en" altLang="zh-TW" dirty="0" err="1">
                <a:latin typeface="Times" pitchFamily="2" charset="0"/>
              </a:rPr>
              <a:t>Shaul</a:t>
            </a:r>
            <a:r>
              <a:rPr lang="en" altLang="zh-TW" dirty="0">
                <a:latin typeface="Times" pitchFamily="2" charset="0"/>
              </a:rPr>
              <a:t> </a:t>
            </a:r>
            <a:r>
              <a:rPr lang="en" altLang="zh-TW" dirty="0" err="1">
                <a:latin typeface="Times" pitchFamily="2" charset="0"/>
              </a:rPr>
              <a:t>Markovitch</a:t>
            </a:r>
            <a:br>
              <a:rPr lang="en" altLang="zh-TW" dirty="0">
                <a:latin typeface="Times" pitchFamily="2" charset="0"/>
              </a:rPr>
            </a:br>
            <a:r>
              <a:rPr lang="en" altLang="zh-TW" dirty="0">
                <a:latin typeface="Times" pitchFamily="2" charset="0"/>
              </a:rPr>
              <a:t>Machine Learning, 63, 287-327</a:t>
            </a:r>
            <a:r>
              <a:rPr lang="en-US" altLang="zh-TW" dirty="0">
                <a:latin typeface="Times" pitchFamily="2" charset="0"/>
              </a:rPr>
              <a:t>,</a:t>
            </a:r>
            <a:r>
              <a:rPr lang="zh-TW" altLang="en-US" dirty="0">
                <a:latin typeface="Times" pitchFamily="2" charset="0"/>
              </a:rPr>
              <a:t> </a:t>
            </a:r>
            <a:r>
              <a:rPr lang="en-US" altLang="zh-TW" dirty="0">
                <a:latin typeface="Times" pitchFamily="2" charset="0"/>
              </a:rPr>
              <a:t>2006.</a:t>
            </a:r>
            <a:endParaRPr lang="en" altLang="zh-TW" dirty="0">
              <a:latin typeface="Times" pitchFamily="2" charset="0"/>
            </a:endParaRPr>
          </a:p>
        </p:txBody>
      </p:sp>
      <p:sp>
        <p:nvSpPr>
          <p:cNvPr id="4" name="文字方塊 3">
            <a:extLst>
              <a:ext uri="{FF2B5EF4-FFF2-40B4-BE49-F238E27FC236}">
                <a16:creationId xmlns:a16="http://schemas.microsoft.com/office/drawing/2014/main" id="{66ED1160-6DCB-BA45-A8E3-C0A533D93526}"/>
              </a:ext>
            </a:extLst>
          </p:cNvPr>
          <p:cNvSpPr txBox="1"/>
          <p:nvPr/>
        </p:nvSpPr>
        <p:spPr>
          <a:xfrm>
            <a:off x="9461868" y="5993027"/>
            <a:ext cx="2412263" cy="646331"/>
          </a:xfrm>
          <a:prstGeom prst="rect">
            <a:avLst/>
          </a:prstGeom>
          <a:noFill/>
        </p:spPr>
        <p:txBody>
          <a:bodyPr wrap="none" rtlCol="0">
            <a:spAutoFit/>
          </a:bodyPr>
          <a:lstStyle/>
          <a:p>
            <a:r>
              <a:rPr kumimoji="1" lang="en-US" altLang="zh-TW" dirty="0">
                <a:latin typeface="Times" pitchFamily="2" charset="0"/>
              </a:rPr>
              <a:t>Presenter: Yun-An Chen</a:t>
            </a:r>
          </a:p>
          <a:p>
            <a:r>
              <a:rPr kumimoji="1" lang="en-US" altLang="zh-TW" dirty="0">
                <a:latin typeface="Times" pitchFamily="2" charset="0"/>
              </a:rPr>
              <a:t>Date: Sept. 19, 2023</a:t>
            </a:r>
            <a:endParaRPr kumimoji="1" lang="zh-TW" altLang="en-US" dirty="0">
              <a:latin typeface="Times" pitchFamily="2" charset="0"/>
            </a:endParaRPr>
          </a:p>
        </p:txBody>
      </p:sp>
    </p:spTree>
    <p:extLst>
      <p:ext uri="{BB962C8B-B14F-4D97-AF65-F5344CB8AC3E}">
        <p14:creationId xmlns:p14="http://schemas.microsoft.com/office/powerpoint/2010/main" val="3994279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p:txBody>
          <a:bodyPr>
            <a:normAutofit lnSpcReduction="10000"/>
          </a:bodyPr>
          <a:lstStyle/>
          <a:p>
            <a:pPr marL="0" indent="0" algn="just">
              <a:lnSpc>
                <a:spcPct val="150000"/>
              </a:lnSpc>
              <a:buNone/>
            </a:pPr>
            <a:r>
              <a:rPr lang="en" altLang="zh-TW" sz="2400" dirty="0">
                <a:latin typeface="Times" pitchFamily="2" charset="0"/>
              </a:rPr>
              <a:t>Bridge bidding is considered to be one of the most difficult problems for game- playing programs. It involves four agents rather than two, including a cooperative agent. In addition, the partial observability of the game makes it impossible to predict the outcome of each action. In this paper we present a new decision-making algorithm that is capable of overcoming these problems. The algorithm allows models to be used for both opponent agents and partners, while utilizing a novel model-based Monte Carlo sampling method to overcome the problem of hidden information. </a:t>
            </a:r>
          </a:p>
        </p:txBody>
      </p:sp>
      <p:sp>
        <p:nvSpPr>
          <p:cNvPr id="4" name="投影片編號版面配置區 3">
            <a:extLst>
              <a:ext uri="{FF2B5EF4-FFF2-40B4-BE49-F238E27FC236}">
                <a16:creationId xmlns:a16="http://schemas.microsoft.com/office/drawing/2014/main" id="{60FFF1FB-1064-484B-B5D3-305DF5596F8C}"/>
              </a:ext>
            </a:extLst>
          </p:cNvPr>
          <p:cNvSpPr>
            <a:spLocks noGrp="1"/>
          </p:cNvSpPr>
          <p:nvPr>
            <p:ph type="sldNum" sz="quarter" idx="12"/>
          </p:nvPr>
        </p:nvSpPr>
        <p:spPr/>
        <p:txBody>
          <a:bodyPr/>
          <a:lstStyle/>
          <a:p>
            <a:fld id="{D1303F21-0339-114F-A835-EDFAC68AEBBB}" type="slidenum">
              <a:rPr kumimoji="1" lang="zh-TW" altLang="en-US" smtClean="0"/>
              <a:t>2</a:t>
            </a:fld>
            <a:endParaRPr kumimoji="1" lang="zh-TW" altLang="en-US"/>
          </a:p>
        </p:txBody>
      </p:sp>
    </p:spTree>
    <p:extLst>
      <p:ext uri="{BB962C8B-B14F-4D97-AF65-F5344CB8AC3E}">
        <p14:creationId xmlns:p14="http://schemas.microsoft.com/office/powerpoint/2010/main" val="406922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Abstract(cont.)</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p:txBody>
          <a:bodyPr>
            <a:noAutofit/>
          </a:bodyPr>
          <a:lstStyle/>
          <a:p>
            <a:pPr marL="0" indent="0" algn="just">
              <a:lnSpc>
                <a:spcPct val="150000"/>
              </a:lnSpc>
              <a:buNone/>
            </a:pPr>
            <a:r>
              <a:rPr lang="en" altLang="zh-TW" sz="2400" dirty="0">
                <a:latin typeface="Times" pitchFamily="2" charset="0"/>
              </a:rPr>
              <a:t>The paper also presents a learning framework that uses the above decision-making algorithm for co-training of partners. The agents refine their selection strategies during training and continuously exchange their refined strategies. The refinement is based on inductive learning applied to examples accumulated for classes of states with conflicting actions. The algorithm was empirically evaluated on a set of bridge deals. The pair of agents that co-trained significantly improved their bidding performance to a level surpassing that of the current state-of-the-art bidding algorithm.</a:t>
            </a:r>
          </a:p>
        </p:txBody>
      </p:sp>
      <p:sp>
        <p:nvSpPr>
          <p:cNvPr id="4" name="投影片編號版面配置區 3">
            <a:extLst>
              <a:ext uri="{FF2B5EF4-FFF2-40B4-BE49-F238E27FC236}">
                <a16:creationId xmlns:a16="http://schemas.microsoft.com/office/drawing/2014/main" id="{D30063C2-B176-C143-AD15-5E06A3E64C16}"/>
              </a:ext>
            </a:extLst>
          </p:cNvPr>
          <p:cNvSpPr>
            <a:spLocks noGrp="1"/>
          </p:cNvSpPr>
          <p:nvPr>
            <p:ph type="sldNum" sz="quarter" idx="12"/>
          </p:nvPr>
        </p:nvSpPr>
        <p:spPr/>
        <p:txBody>
          <a:bodyPr/>
          <a:lstStyle/>
          <a:p>
            <a:fld id="{D1303F21-0339-114F-A835-EDFAC68AEBBB}" type="slidenum">
              <a:rPr kumimoji="1" lang="zh-TW" altLang="en-US" smtClean="0"/>
              <a:t>3</a:t>
            </a:fld>
            <a:endParaRPr kumimoji="1" lang="zh-TW" altLang="en-US"/>
          </a:p>
        </p:txBody>
      </p:sp>
    </p:spTree>
    <p:extLst>
      <p:ext uri="{BB962C8B-B14F-4D97-AF65-F5344CB8AC3E}">
        <p14:creationId xmlns:p14="http://schemas.microsoft.com/office/powerpoint/2010/main" val="1604132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749A7C-5635-654B-9B69-8EE46F333AE4}"/>
              </a:ext>
            </a:extLst>
          </p:cNvPr>
          <p:cNvSpPr>
            <a:spLocks noGrp="1"/>
          </p:cNvSpPr>
          <p:nvPr>
            <p:ph type="title"/>
          </p:nvPr>
        </p:nvSpPr>
        <p:spPr/>
        <p:txBody>
          <a:bodyPr/>
          <a:lstStyle/>
          <a:p>
            <a:r>
              <a:rPr kumimoji="1" lang="en" altLang="zh-TW" dirty="0">
                <a:latin typeface="Times New Roman" panose="02020603050405020304" pitchFamily="18" charset="0"/>
                <a:cs typeface="Times New Roman" panose="02020603050405020304" pitchFamily="18" charset="0"/>
              </a:rPr>
              <a:t>Problems in bridge bidding</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E8CF340-CA60-BA42-AC37-23873B3C24B0}"/>
              </a:ext>
            </a:extLst>
          </p:cNvPr>
          <p:cNvSpPr>
            <a:spLocks noGrp="1"/>
          </p:cNvSpPr>
          <p:nvPr>
            <p:ph idx="1"/>
          </p:nvPr>
        </p:nvSpPr>
        <p:spPr/>
        <p:txBody>
          <a:bodyPr/>
          <a:lstStyle/>
          <a:p>
            <a:pPr marL="0" indent="0">
              <a:buNone/>
            </a:pPr>
            <a:r>
              <a:rPr kumimoji="1" lang="en" altLang="zh-TW" dirty="0">
                <a:latin typeface="Times New Roman" panose="02020603050405020304" pitchFamily="18" charset="0"/>
                <a:cs typeface="Times New Roman" panose="02020603050405020304" pitchFamily="18" charset="0"/>
              </a:rPr>
              <a:t>Each call can carry one or more of the following meanings:</a:t>
            </a:r>
          </a:p>
          <a:p>
            <a:pPr marL="0" indent="0">
              <a:buNone/>
            </a:pPr>
            <a:r>
              <a:rPr kumimoji="1" lang="en" altLang="zh-TW" dirty="0">
                <a:latin typeface="Times New Roman" panose="02020603050405020304" pitchFamily="18" charset="0"/>
                <a:cs typeface="Times New Roman" panose="02020603050405020304" pitchFamily="18" charset="0"/>
              </a:rPr>
              <a:t>1. Suggesting an optional contract.</a:t>
            </a:r>
          </a:p>
          <a:p>
            <a:pPr marL="0" indent="0">
              <a:buNone/>
            </a:pPr>
            <a:r>
              <a:rPr kumimoji="1" lang="en" altLang="zh-TW" dirty="0">
                <a:latin typeface="Times New Roman" panose="02020603050405020304" pitchFamily="18" charset="0"/>
                <a:cs typeface="Times New Roman" panose="02020603050405020304" pitchFamily="18" charset="0"/>
              </a:rPr>
              <a:t>2. Exchanging information between partners.</a:t>
            </a:r>
          </a:p>
          <a:p>
            <a:pPr marL="0" indent="0">
              <a:buNone/>
            </a:pPr>
            <a:r>
              <a:rPr kumimoji="1" lang="en" altLang="zh-TW" dirty="0">
                <a:latin typeface="Times New Roman" panose="02020603050405020304" pitchFamily="18" charset="0"/>
                <a:cs typeface="Times New Roman" panose="02020603050405020304" pitchFamily="18" charset="0"/>
              </a:rPr>
              <a:t>3. Interfering with opponents.</a:t>
            </a:r>
          </a:p>
          <a:p>
            <a:pPr marL="0" indent="0">
              <a:buNone/>
            </a:pPr>
            <a:endParaRPr kumimoji="1" lang="en" altLang="zh-TW"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4</a:t>
            </a:fld>
            <a:endParaRPr kumimoji="1" lang="zh-TW" altLang="en-US"/>
          </a:p>
        </p:txBody>
      </p:sp>
    </p:spTree>
    <p:extLst>
      <p:ext uri="{BB962C8B-B14F-4D97-AF65-F5344CB8AC3E}">
        <p14:creationId xmlns:p14="http://schemas.microsoft.com/office/powerpoint/2010/main" val="577656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749A7C-5635-654B-9B69-8EE46F333AE4}"/>
              </a:ext>
            </a:extLst>
          </p:cNvPr>
          <p:cNvSpPr>
            <a:spLocks noGrp="1"/>
          </p:cNvSpPr>
          <p:nvPr>
            <p:ph type="title"/>
          </p:nvPr>
        </p:nvSpPr>
        <p:spPr/>
        <p:txBody>
          <a:bodyPr/>
          <a:lstStyle/>
          <a:p>
            <a:r>
              <a:rPr kumimoji="1" lang="en" altLang="zh-TW" dirty="0">
                <a:latin typeface="Times New Roman" panose="02020603050405020304" pitchFamily="18" charset="0"/>
                <a:cs typeface="Times New Roman" panose="02020603050405020304" pitchFamily="18" charset="0"/>
              </a:rPr>
              <a:t>Learning </a:t>
            </a:r>
            <a:r>
              <a:rPr kumimoji="1" lang="en-US" altLang="zh-TW" dirty="0">
                <a:latin typeface="Times New Roman" panose="02020603050405020304" pitchFamily="18" charset="0"/>
                <a:cs typeface="Times New Roman" panose="02020603050405020304" pitchFamily="18" charset="0"/>
              </a:rPr>
              <a:t>process</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5</a:t>
            </a:fld>
            <a:endParaRPr kumimoji="1" lang="zh-TW" altLang="en-US"/>
          </a:p>
        </p:txBody>
      </p:sp>
      <p:pic>
        <p:nvPicPr>
          <p:cNvPr id="8" name="圖片 7" descr="一張含有 圖表, 螢幕擷取畫面, 行, 白色 的圖片&#10;&#10;自動產生的描述">
            <a:extLst>
              <a:ext uri="{FF2B5EF4-FFF2-40B4-BE49-F238E27FC236}">
                <a16:creationId xmlns:a16="http://schemas.microsoft.com/office/drawing/2014/main" id="{29417AA8-D4BE-884E-A037-BD196BDBD54A}"/>
              </a:ext>
            </a:extLst>
          </p:cNvPr>
          <p:cNvPicPr>
            <a:picLocks noChangeAspect="1"/>
          </p:cNvPicPr>
          <p:nvPr/>
        </p:nvPicPr>
        <p:blipFill>
          <a:blip r:embed="rId2"/>
          <a:stretch>
            <a:fillRect/>
          </a:stretch>
        </p:blipFill>
        <p:spPr>
          <a:xfrm>
            <a:off x="452941" y="2866048"/>
            <a:ext cx="11286117" cy="2148254"/>
          </a:xfrm>
          <a:prstGeom prst="rect">
            <a:avLst/>
          </a:prstGeom>
        </p:spPr>
      </p:pic>
      <p:sp>
        <p:nvSpPr>
          <p:cNvPr id="6" name="文字方塊 5">
            <a:extLst>
              <a:ext uri="{FF2B5EF4-FFF2-40B4-BE49-F238E27FC236}">
                <a16:creationId xmlns:a16="http://schemas.microsoft.com/office/drawing/2014/main" id="{94BF369F-D1D4-3741-AB38-DB419B0608B8}"/>
              </a:ext>
            </a:extLst>
          </p:cNvPr>
          <p:cNvSpPr txBox="1"/>
          <p:nvPr/>
        </p:nvSpPr>
        <p:spPr>
          <a:xfrm>
            <a:off x="4111869" y="5248979"/>
            <a:ext cx="3968261" cy="400110"/>
          </a:xfrm>
          <a:prstGeom prst="rect">
            <a:avLst/>
          </a:prstGeom>
          <a:noFill/>
        </p:spPr>
        <p:txBody>
          <a:bodyPr wrap="square">
            <a:spAutoFit/>
          </a:bodyPr>
          <a:lstStyle/>
          <a:p>
            <a:r>
              <a:rPr lang="en" altLang="zh-TW" sz="2000" dirty="0">
                <a:solidFill>
                  <a:srgbClr val="C00000"/>
                </a:solidFill>
                <a:effectLst/>
                <a:latin typeface="Times"/>
              </a:rPr>
              <a:t>Partial Information Decision</a:t>
            </a:r>
            <a:r>
              <a:rPr lang="zh-TW" altLang="en-US" sz="2000" dirty="0">
                <a:solidFill>
                  <a:srgbClr val="C00000"/>
                </a:solidFill>
                <a:effectLst/>
                <a:latin typeface="Times"/>
              </a:rPr>
              <a:t> </a:t>
            </a:r>
            <a:r>
              <a:rPr lang="en-US" altLang="zh-TW" sz="2000" dirty="0">
                <a:solidFill>
                  <a:srgbClr val="C00000"/>
                </a:solidFill>
                <a:effectLst/>
                <a:latin typeface="Times"/>
              </a:rPr>
              <a:t>Making</a:t>
            </a:r>
            <a:r>
              <a:rPr lang="en" altLang="zh-TW" sz="2000" dirty="0">
                <a:solidFill>
                  <a:srgbClr val="C00000"/>
                </a:solidFill>
                <a:effectLst/>
                <a:latin typeface="Times"/>
              </a:rPr>
              <a:t> </a:t>
            </a:r>
            <a:endParaRPr lang="en" altLang="zh-TW" sz="2000" dirty="0">
              <a:solidFill>
                <a:srgbClr val="C00000"/>
              </a:solidFill>
            </a:endParaRPr>
          </a:p>
        </p:txBody>
      </p:sp>
    </p:spTree>
    <p:extLst>
      <p:ext uri="{BB962C8B-B14F-4D97-AF65-F5344CB8AC3E}">
        <p14:creationId xmlns:p14="http://schemas.microsoft.com/office/powerpoint/2010/main" val="1182020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749A7C-5635-654B-9B69-8EE46F333AE4}"/>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State</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of</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the</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auction</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stage</a:t>
            </a:r>
            <a:r>
              <a:rPr kumimoji="1" lang="zh-TW" altLang="en-US" dirty="0">
                <a:latin typeface="Times New Roman" panose="02020603050405020304" pitchFamily="18" charset="0"/>
                <a:cs typeface="Times New Roman" panose="02020603050405020304" pitchFamily="18" charset="0"/>
              </a:rPr>
              <a:t> </a:t>
            </a:r>
          </a:p>
        </p:txBody>
      </p:sp>
      <p:sp>
        <p:nvSpPr>
          <p:cNvPr id="5" name="內容版面配置區 4">
            <a:extLst>
              <a:ext uri="{FF2B5EF4-FFF2-40B4-BE49-F238E27FC236}">
                <a16:creationId xmlns:a16="http://schemas.microsoft.com/office/drawing/2014/main" id="{3CAFCBCD-F98A-E946-B9D5-EF093ADC429A}"/>
              </a:ext>
            </a:extLst>
          </p:cNvPr>
          <p:cNvSpPr>
            <a:spLocks noGrp="1"/>
          </p:cNvSpPr>
          <p:nvPr>
            <p:ph idx="1"/>
          </p:nvPr>
        </p:nvSpPr>
        <p:spPr/>
        <p:txBody>
          <a:bodyPr/>
          <a:lstStyle/>
          <a:p>
            <a:pPr marL="514350" indent="-514350">
              <a:buAutoNum type="arabicParenBoth"/>
            </a:pPr>
            <a:r>
              <a:rPr lang="en-US" altLang="zh-TW" dirty="0">
                <a:latin typeface="Times New Roman" panose="02020603050405020304" pitchFamily="18" charset="0"/>
                <a:cs typeface="Times New Roman" panose="02020603050405020304" pitchFamily="18" charset="0"/>
              </a:rPr>
              <a:t>T</a:t>
            </a:r>
            <a:r>
              <a:rPr lang="en" altLang="zh-TW" dirty="0">
                <a:latin typeface="Times New Roman" panose="02020603050405020304" pitchFamily="18" charset="0"/>
                <a:cs typeface="Times New Roman" panose="02020603050405020304" pitchFamily="18" charset="0"/>
              </a:rPr>
              <a:t>he distribution of cards between the four players (the deal)</a:t>
            </a:r>
          </a:p>
          <a:p>
            <a:pPr marL="514350" indent="-514350">
              <a:buAutoNum type="arabicParenBoth"/>
            </a:pPr>
            <a:r>
              <a:rPr lang="en-US" altLang="zh-TW" dirty="0">
                <a:latin typeface="Times New Roman" panose="02020603050405020304" pitchFamily="18" charset="0"/>
                <a:cs typeface="Times New Roman" panose="02020603050405020304" pitchFamily="18" charset="0"/>
              </a:rPr>
              <a:t>T</a:t>
            </a:r>
            <a:r>
              <a:rPr lang="en" altLang="zh-TW" dirty="0">
                <a:latin typeface="Times New Roman" panose="02020603050405020304" pitchFamily="18" charset="0"/>
                <a:cs typeface="Times New Roman" panose="02020603050405020304" pitchFamily="18" charset="0"/>
              </a:rPr>
              <a:t>he current sequence of calls for the auction</a:t>
            </a:r>
          </a:p>
          <a:p>
            <a:pPr marL="514350" indent="-514350">
              <a:buAutoNum type="arabicParenBoth"/>
            </a:pPr>
            <a:r>
              <a:rPr lang="en-US" altLang="zh-TW" dirty="0">
                <a:latin typeface="Times New Roman" panose="02020603050405020304" pitchFamily="18" charset="0"/>
                <a:cs typeface="Times New Roman" panose="02020603050405020304" pitchFamily="18" charset="0"/>
              </a:rPr>
              <a:t>T</a:t>
            </a:r>
            <a:r>
              <a:rPr lang="en" altLang="zh-TW" dirty="0">
                <a:latin typeface="Times New Roman" panose="02020603050405020304" pitchFamily="18" charset="0"/>
                <a:cs typeface="Times New Roman" panose="02020603050405020304" pitchFamily="18" charset="0"/>
              </a:rPr>
              <a:t>he identity of the dealer</a:t>
            </a:r>
          </a:p>
          <a:p>
            <a:pPr marL="514350" indent="-514350">
              <a:buAutoNum type="arabicParenBoth"/>
            </a:pPr>
            <a:r>
              <a:rPr lang="en-US" altLang="zh-TW" dirty="0">
                <a:latin typeface="Times New Roman" panose="02020603050405020304" pitchFamily="18" charset="0"/>
                <a:cs typeface="Times New Roman" panose="02020603050405020304" pitchFamily="18" charset="0"/>
              </a:rPr>
              <a:t>T</a:t>
            </a:r>
            <a:r>
              <a:rPr lang="en" altLang="zh-TW" dirty="0">
                <a:latin typeface="Times New Roman" panose="02020603050405020304" pitchFamily="18" charset="0"/>
                <a:cs typeface="Times New Roman" panose="02020603050405020304" pitchFamily="18" charset="0"/>
              </a:rPr>
              <a:t>he vulnerability of each of the pairs</a:t>
            </a:r>
          </a:p>
          <a:p>
            <a:pPr marL="514350" indent="-514350">
              <a:buAutoNum type="arabicParenBoth"/>
            </a:pPr>
            <a:r>
              <a:rPr lang="en-US" altLang="zh-TW" dirty="0">
                <a:latin typeface="Times New Roman" panose="02020603050405020304" pitchFamily="18" charset="0"/>
                <a:cs typeface="Times New Roman" panose="02020603050405020304" pitchFamily="18" charset="0"/>
              </a:rPr>
              <a:t>T</a:t>
            </a:r>
            <a:r>
              <a:rPr lang="en" altLang="zh-TW" dirty="0">
                <a:latin typeface="Times New Roman" panose="02020603050405020304" pitchFamily="18" charset="0"/>
                <a:cs typeface="Times New Roman" panose="02020603050405020304" pitchFamily="18" charset="0"/>
              </a:rPr>
              <a:t>he bidding system of both pairs</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6</a:t>
            </a:fld>
            <a:endParaRPr kumimoji="1" lang="zh-TW" altLang="en-US"/>
          </a:p>
        </p:txBody>
      </p:sp>
    </p:spTree>
    <p:extLst>
      <p:ext uri="{BB962C8B-B14F-4D97-AF65-F5344CB8AC3E}">
        <p14:creationId xmlns:p14="http://schemas.microsoft.com/office/powerpoint/2010/main" val="2198347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749A7C-5635-654B-9B69-8EE46F333AE4}"/>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Partial</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state</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7</a:t>
            </a:fld>
            <a:endParaRPr kumimoji="1" lang="zh-TW" altLang="en-US" dirty="0"/>
          </a:p>
        </p:txBody>
      </p:sp>
      <p:grpSp>
        <p:nvGrpSpPr>
          <p:cNvPr id="3" name="群組 2">
            <a:extLst>
              <a:ext uri="{FF2B5EF4-FFF2-40B4-BE49-F238E27FC236}">
                <a16:creationId xmlns:a16="http://schemas.microsoft.com/office/drawing/2014/main" id="{E450D78E-5C7B-7643-93E8-F16CEB086D45}"/>
              </a:ext>
            </a:extLst>
          </p:cNvPr>
          <p:cNvGrpSpPr/>
          <p:nvPr/>
        </p:nvGrpSpPr>
        <p:grpSpPr>
          <a:xfrm>
            <a:off x="632933" y="2115951"/>
            <a:ext cx="11277825" cy="3732622"/>
            <a:chOff x="457087" y="2069059"/>
            <a:chExt cx="11277825" cy="3732622"/>
          </a:xfrm>
        </p:grpSpPr>
        <p:pic>
          <p:nvPicPr>
            <p:cNvPr id="6" name="圖片 5" descr="一張含有 文字, 字型, 白色, 印刷術 的圖片&#10;&#10;自動產生的描述">
              <a:extLst>
                <a:ext uri="{FF2B5EF4-FFF2-40B4-BE49-F238E27FC236}">
                  <a16:creationId xmlns:a16="http://schemas.microsoft.com/office/drawing/2014/main" id="{462B27A4-6AC0-5740-B16F-C89BE1FCD008}"/>
                </a:ext>
              </a:extLst>
            </p:cNvPr>
            <p:cNvPicPr>
              <a:picLocks noChangeAspect="1"/>
            </p:cNvPicPr>
            <p:nvPr/>
          </p:nvPicPr>
          <p:blipFill>
            <a:blip r:embed="rId2"/>
            <a:stretch>
              <a:fillRect/>
            </a:stretch>
          </p:blipFill>
          <p:spPr>
            <a:xfrm>
              <a:off x="457087" y="2935902"/>
              <a:ext cx="11277825" cy="1619906"/>
            </a:xfrm>
            <a:prstGeom prst="rect">
              <a:avLst/>
            </a:prstGeom>
          </p:spPr>
        </p:pic>
        <p:sp>
          <p:nvSpPr>
            <p:cNvPr id="9" name="左大括弧 8">
              <a:extLst>
                <a:ext uri="{FF2B5EF4-FFF2-40B4-BE49-F238E27FC236}">
                  <a16:creationId xmlns:a16="http://schemas.microsoft.com/office/drawing/2014/main" id="{D8C0C8C7-39E4-9146-8E11-210134B25E84}"/>
                </a:ext>
              </a:extLst>
            </p:cNvPr>
            <p:cNvSpPr/>
            <p:nvPr/>
          </p:nvSpPr>
          <p:spPr>
            <a:xfrm rot="5400000">
              <a:off x="6293131" y="-400745"/>
              <a:ext cx="457203" cy="6604420"/>
            </a:xfrm>
            <a:prstGeom prst="leftBrace">
              <a:avLst>
                <a:gd name="adj1" fmla="val 8333"/>
                <a:gd name="adj2" fmla="val 48999"/>
              </a:avLst>
            </a:prstGeom>
            <a:ln w="28575">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solidFill>
                  <a:schemeClr val="accent6">
                    <a:lumMod val="50000"/>
                  </a:schemeClr>
                </a:solidFill>
              </a:endParaRPr>
            </a:p>
          </p:txBody>
        </p:sp>
        <p:sp>
          <p:nvSpPr>
            <p:cNvPr id="10" name="文字方塊 9">
              <a:extLst>
                <a:ext uri="{FF2B5EF4-FFF2-40B4-BE49-F238E27FC236}">
                  <a16:creationId xmlns:a16="http://schemas.microsoft.com/office/drawing/2014/main" id="{B5288376-559B-054F-B38A-CC2952E24B00}"/>
                </a:ext>
              </a:extLst>
            </p:cNvPr>
            <p:cNvSpPr txBox="1"/>
            <p:nvPr/>
          </p:nvSpPr>
          <p:spPr>
            <a:xfrm>
              <a:off x="2788177" y="2069059"/>
              <a:ext cx="7467109" cy="461665"/>
            </a:xfrm>
            <a:prstGeom prst="rect">
              <a:avLst/>
            </a:prstGeom>
            <a:noFill/>
          </p:spPr>
          <p:txBody>
            <a:bodyPr wrap="none" rtlCol="0">
              <a:spAutoFit/>
            </a:bodyPr>
            <a:lstStyle/>
            <a:p>
              <a:r>
                <a:rPr kumimoji="1" lang="en" altLang="zh-TW" sz="2400" dirty="0">
                  <a:solidFill>
                    <a:schemeClr val="accent6">
                      <a:lumMod val="50000"/>
                    </a:schemeClr>
                  </a:solidFill>
                  <a:latin typeface="Times New Roman" panose="02020603050405020304" pitchFamily="18" charset="0"/>
                  <a:cs typeface="Times New Roman" panose="02020603050405020304" pitchFamily="18" charset="0"/>
                </a:rPr>
                <a:t>the distribution of cards between the four players (the deal)</a:t>
              </a:r>
              <a:endParaRPr kumimoji="1" lang="zh-TW" altLang="en-US" sz="2400"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1" name="左大括弧 10">
              <a:extLst>
                <a:ext uri="{FF2B5EF4-FFF2-40B4-BE49-F238E27FC236}">
                  <a16:creationId xmlns:a16="http://schemas.microsoft.com/office/drawing/2014/main" id="{C8DB8E71-6FC4-7443-A5E1-C1D2A0245CAF}"/>
                </a:ext>
              </a:extLst>
            </p:cNvPr>
            <p:cNvSpPr/>
            <p:nvPr/>
          </p:nvSpPr>
          <p:spPr>
            <a:xfrm rot="16200000">
              <a:off x="5056345" y="2636581"/>
              <a:ext cx="457203" cy="4130851"/>
            </a:xfrm>
            <a:prstGeom prst="leftBrace">
              <a:avLst>
                <a:gd name="adj1" fmla="val 8333"/>
                <a:gd name="adj2" fmla="val 48999"/>
              </a:avLst>
            </a:prstGeom>
            <a:ln w="28575">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solidFill>
                  <a:schemeClr val="accent6">
                    <a:lumMod val="50000"/>
                  </a:schemeClr>
                </a:solidFill>
              </a:endParaRPr>
            </a:p>
          </p:txBody>
        </p:sp>
        <p:sp>
          <p:nvSpPr>
            <p:cNvPr id="12" name="文字方塊 11">
              <a:extLst>
                <a:ext uri="{FF2B5EF4-FFF2-40B4-BE49-F238E27FC236}">
                  <a16:creationId xmlns:a16="http://schemas.microsoft.com/office/drawing/2014/main" id="{60935D13-23DB-E049-BC3A-A660EFF69F84}"/>
                </a:ext>
              </a:extLst>
            </p:cNvPr>
            <p:cNvSpPr txBox="1"/>
            <p:nvPr/>
          </p:nvSpPr>
          <p:spPr>
            <a:xfrm>
              <a:off x="3586910" y="4970025"/>
              <a:ext cx="3763462" cy="830997"/>
            </a:xfrm>
            <a:prstGeom prst="rect">
              <a:avLst/>
            </a:prstGeom>
            <a:noFill/>
          </p:spPr>
          <p:txBody>
            <a:bodyPr wrap="square" rtlCol="0">
              <a:spAutoFit/>
            </a:bodyPr>
            <a:lstStyle/>
            <a:p>
              <a:r>
                <a:rPr kumimoji="1" lang="en" altLang="zh-TW" sz="2400" dirty="0">
                  <a:solidFill>
                    <a:schemeClr val="accent6">
                      <a:lumMod val="50000"/>
                    </a:schemeClr>
                  </a:solidFill>
                  <a:latin typeface="Times New Roman" panose="02020603050405020304" pitchFamily="18" charset="0"/>
                  <a:cs typeface="Times New Roman" panose="02020603050405020304" pitchFamily="18" charset="0"/>
                </a:rPr>
                <a:t>the current sequence of calls for the auction</a:t>
              </a:r>
              <a:endParaRPr kumimoji="1" lang="zh-TW" altLang="en-US" sz="2400"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395FE3BF-CA19-1042-9CE6-4518F2310764}"/>
                </a:ext>
              </a:extLst>
            </p:cNvPr>
            <p:cNvSpPr txBox="1"/>
            <p:nvPr/>
          </p:nvSpPr>
          <p:spPr>
            <a:xfrm>
              <a:off x="7350372" y="5343262"/>
              <a:ext cx="949921" cy="457760"/>
            </a:xfrm>
            <a:prstGeom prst="rect">
              <a:avLst/>
            </a:prstGeom>
            <a:noFill/>
          </p:spPr>
          <p:txBody>
            <a:bodyPr wrap="square" rtlCol="0">
              <a:spAutoFit/>
            </a:bodyPr>
            <a:lstStyle/>
            <a:p>
              <a:r>
                <a:rPr kumimoji="1" lang="en" altLang="zh-TW" sz="2400" dirty="0">
                  <a:solidFill>
                    <a:schemeClr val="accent6">
                      <a:lumMod val="50000"/>
                    </a:schemeClr>
                  </a:solidFill>
                  <a:latin typeface="Times New Roman" panose="02020603050405020304" pitchFamily="18" charset="0"/>
                  <a:cs typeface="Times New Roman" panose="02020603050405020304" pitchFamily="18" charset="0"/>
                </a:rPr>
                <a:t>dealer</a:t>
              </a:r>
              <a:endParaRPr kumimoji="1" lang="zh-TW" altLang="en-US" sz="2400" dirty="0">
                <a:solidFill>
                  <a:schemeClr val="accent6">
                    <a:lumMod val="50000"/>
                  </a:schemeClr>
                </a:solidFill>
                <a:latin typeface="Times New Roman" panose="02020603050405020304" pitchFamily="18" charset="0"/>
                <a:cs typeface="Times New Roman" panose="02020603050405020304" pitchFamily="18" charset="0"/>
              </a:endParaRPr>
            </a:p>
          </p:txBody>
        </p:sp>
        <p:cxnSp>
          <p:nvCxnSpPr>
            <p:cNvPr id="16" name="直線箭頭接點 15">
              <a:extLst>
                <a:ext uri="{FF2B5EF4-FFF2-40B4-BE49-F238E27FC236}">
                  <a16:creationId xmlns:a16="http://schemas.microsoft.com/office/drawing/2014/main" id="{0B48F761-D4AD-0748-AD88-18EECB6D2AEC}"/>
                </a:ext>
              </a:extLst>
            </p:cNvPr>
            <p:cNvCxnSpPr>
              <a:cxnSpLocks/>
              <a:endCxn id="14" idx="0"/>
            </p:cNvCxnSpPr>
            <p:nvPr/>
          </p:nvCxnSpPr>
          <p:spPr>
            <a:xfrm>
              <a:off x="7825331" y="4473404"/>
              <a:ext cx="2" cy="869858"/>
            </a:xfrm>
            <a:prstGeom prst="straightConnector1">
              <a:avLst/>
            </a:prstGeom>
            <a:ln w="28575">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箭頭接點 17">
              <a:extLst>
                <a:ext uri="{FF2B5EF4-FFF2-40B4-BE49-F238E27FC236}">
                  <a16:creationId xmlns:a16="http://schemas.microsoft.com/office/drawing/2014/main" id="{3595E600-CA3B-0443-824E-74C4FB14839A}"/>
                </a:ext>
              </a:extLst>
            </p:cNvPr>
            <p:cNvCxnSpPr>
              <a:cxnSpLocks/>
            </p:cNvCxnSpPr>
            <p:nvPr/>
          </p:nvCxnSpPr>
          <p:spPr>
            <a:xfrm>
              <a:off x="8689995" y="4473404"/>
              <a:ext cx="2" cy="869858"/>
            </a:xfrm>
            <a:prstGeom prst="straightConnector1">
              <a:avLst/>
            </a:prstGeom>
            <a:ln w="28575">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0CDC7E43-31CE-A145-9729-82831A20E8D7}"/>
                </a:ext>
              </a:extLst>
            </p:cNvPr>
            <p:cNvSpPr txBox="1"/>
            <p:nvPr/>
          </p:nvSpPr>
          <p:spPr>
            <a:xfrm>
              <a:off x="8304911" y="5340016"/>
              <a:ext cx="1765204" cy="461665"/>
            </a:xfrm>
            <a:prstGeom prst="rect">
              <a:avLst/>
            </a:prstGeom>
            <a:noFill/>
          </p:spPr>
          <p:txBody>
            <a:bodyPr wrap="square" rtlCol="0">
              <a:spAutoFit/>
            </a:bodyPr>
            <a:lstStyle/>
            <a:p>
              <a:r>
                <a:rPr kumimoji="1" lang="en" altLang="zh-TW" sz="2400" dirty="0">
                  <a:solidFill>
                    <a:schemeClr val="accent6">
                      <a:lumMod val="50000"/>
                    </a:schemeClr>
                  </a:solidFill>
                  <a:latin typeface="Times New Roman" panose="02020603050405020304" pitchFamily="18" charset="0"/>
                  <a:cs typeface="Times New Roman" panose="02020603050405020304" pitchFamily="18" charset="0"/>
                </a:rPr>
                <a:t>vulnerability</a:t>
              </a:r>
              <a:endParaRPr kumimoji="1" lang="zh-TW" altLang="en-US" sz="2400"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E3455E2E-E418-9847-83B3-2EDE3E339EC1}"/>
                </a:ext>
              </a:extLst>
            </p:cNvPr>
            <p:cNvSpPr txBox="1"/>
            <p:nvPr/>
          </p:nvSpPr>
          <p:spPr>
            <a:xfrm>
              <a:off x="9456843" y="4468943"/>
              <a:ext cx="2244372" cy="461665"/>
            </a:xfrm>
            <a:prstGeom prst="rect">
              <a:avLst/>
            </a:prstGeom>
            <a:noFill/>
          </p:spPr>
          <p:txBody>
            <a:bodyPr wrap="square" rtlCol="0">
              <a:spAutoFit/>
            </a:bodyPr>
            <a:lstStyle/>
            <a:p>
              <a:r>
                <a:rPr kumimoji="1" lang="en-US" altLang="zh-TW" sz="2400" dirty="0">
                  <a:solidFill>
                    <a:schemeClr val="accent6">
                      <a:lumMod val="50000"/>
                    </a:schemeClr>
                  </a:solidFill>
                  <a:latin typeface="Times New Roman" panose="02020603050405020304" pitchFamily="18" charset="0"/>
                  <a:cs typeface="Times New Roman" panose="02020603050405020304" pitchFamily="18" charset="0"/>
                </a:rPr>
                <a:t>bidding</a:t>
              </a:r>
              <a:r>
                <a:rPr kumimoji="1" lang="zh-TW" altLang="en-US" sz="2400" dirty="0">
                  <a:solidFill>
                    <a:schemeClr val="accent6">
                      <a:lumMod val="50000"/>
                    </a:schemeClr>
                  </a:solidFill>
                  <a:latin typeface="Times New Roman" panose="02020603050405020304" pitchFamily="18" charset="0"/>
                  <a:cs typeface="Times New Roman" panose="02020603050405020304" pitchFamily="18" charset="0"/>
                </a:rPr>
                <a:t> </a:t>
              </a:r>
              <a:r>
                <a:rPr kumimoji="1" lang="en-US" altLang="zh-TW" sz="2400" dirty="0">
                  <a:solidFill>
                    <a:schemeClr val="accent6">
                      <a:lumMod val="50000"/>
                    </a:schemeClr>
                  </a:solidFill>
                  <a:latin typeface="Times New Roman" panose="02020603050405020304" pitchFamily="18" charset="0"/>
                  <a:cs typeface="Times New Roman" panose="02020603050405020304" pitchFamily="18" charset="0"/>
                </a:rPr>
                <a:t>systems</a:t>
              </a:r>
              <a:endParaRPr kumimoji="1" lang="zh-TW" altLang="en-US" sz="2400" dirty="0">
                <a:solidFill>
                  <a:schemeClr val="accent6">
                    <a:lumMod val="50000"/>
                  </a:schemeClr>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537004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圖表, 寫生, 設計 的圖片&#10;&#10;自動產生的描述">
            <a:extLst>
              <a:ext uri="{FF2B5EF4-FFF2-40B4-BE49-F238E27FC236}">
                <a16:creationId xmlns:a16="http://schemas.microsoft.com/office/drawing/2014/main" id="{E897908D-7280-A647-B025-5EF031612D56}"/>
              </a:ext>
            </a:extLst>
          </p:cNvPr>
          <p:cNvPicPr>
            <a:picLocks noChangeAspect="1"/>
          </p:cNvPicPr>
          <p:nvPr/>
        </p:nvPicPr>
        <p:blipFill>
          <a:blip r:embed="rId2"/>
          <a:stretch>
            <a:fillRect/>
          </a:stretch>
        </p:blipFill>
        <p:spPr>
          <a:xfrm>
            <a:off x="1869987" y="365125"/>
            <a:ext cx="8452025" cy="6165542"/>
          </a:xfrm>
          <a:prstGeom prst="rect">
            <a:avLst/>
          </a:prstGeom>
        </p:spPr>
      </p:pic>
      <p:sp>
        <p:nvSpPr>
          <p:cNvPr id="2" name="標題 1">
            <a:extLst>
              <a:ext uri="{FF2B5EF4-FFF2-40B4-BE49-F238E27FC236}">
                <a16:creationId xmlns:a16="http://schemas.microsoft.com/office/drawing/2014/main" id="{DB749A7C-5635-654B-9B69-8EE46F333AE4}"/>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PIDM</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8</a:t>
            </a:fld>
            <a:endParaRPr kumimoji="1" lang="zh-TW" altLang="en-US"/>
          </a:p>
        </p:txBody>
      </p:sp>
      <p:sp>
        <p:nvSpPr>
          <p:cNvPr id="6" name="文字方塊 5">
            <a:extLst>
              <a:ext uri="{FF2B5EF4-FFF2-40B4-BE49-F238E27FC236}">
                <a16:creationId xmlns:a16="http://schemas.microsoft.com/office/drawing/2014/main" id="{2966573B-DA44-2644-AF08-50B5B8C19681}"/>
              </a:ext>
            </a:extLst>
          </p:cNvPr>
          <p:cNvSpPr txBox="1"/>
          <p:nvPr/>
        </p:nvSpPr>
        <p:spPr>
          <a:xfrm>
            <a:off x="6096000" y="991394"/>
            <a:ext cx="6096000" cy="1015663"/>
          </a:xfrm>
          <a:prstGeom prst="rect">
            <a:avLst/>
          </a:prstGeom>
          <a:noFill/>
        </p:spPr>
        <p:txBody>
          <a:bodyPr wrap="square">
            <a:spAutoFit/>
          </a:bodyPr>
          <a:lstStyle/>
          <a:p>
            <a:r>
              <a:rPr lang="en-US" altLang="zh-TW" sz="2000" dirty="0">
                <a:latin typeface="Times New Roman" panose="02020603050405020304" pitchFamily="18" charset="0"/>
                <a:cs typeface="Times New Roman" panose="02020603050405020304" pitchFamily="18" charset="0"/>
              </a:rPr>
              <a:t>I</a:t>
            </a:r>
            <a:r>
              <a:rPr lang="en" altLang="zh-TW" sz="2000" dirty="0">
                <a:effectLst/>
                <a:latin typeface="Times New Roman" panose="02020603050405020304" pitchFamily="18" charset="0"/>
                <a:cs typeface="Times New Roman" panose="02020603050405020304" pitchFamily="18" charset="0"/>
              </a:rPr>
              <a:t>f the pair can take 11 tricks with hearts as the trump suit, the function will return +200 for a 2 ♡ contract ,+450 for a 4 ♡ contract, and –50 for a 6 ♡ contract. </a:t>
            </a:r>
          </a:p>
        </p:txBody>
      </p:sp>
    </p:spTree>
    <p:extLst>
      <p:ext uri="{BB962C8B-B14F-4D97-AF65-F5344CB8AC3E}">
        <p14:creationId xmlns:p14="http://schemas.microsoft.com/office/powerpoint/2010/main" val="1242914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群組 16">
            <a:extLst>
              <a:ext uri="{FF2B5EF4-FFF2-40B4-BE49-F238E27FC236}">
                <a16:creationId xmlns:a16="http://schemas.microsoft.com/office/drawing/2014/main" id="{97A575A2-6733-A044-8750-2A5730ADC372}"/>
              </a:ext>
            </a:extLst>
          </p:cNvPr>
          <p:cNvGrpSpPr/>
          <p:nvPr/>
        </p:nvGrpSpPr>
        <p:grpSpPr>
          <a:xfrm>
            <a:off x="730308" y="870744"/>
            <a:ext cx="10731384" cy="5116512"/>
            <a:chOff x="960954" y="1755021"/>
            <a:chExt cx="10270091" cy="4816674"/>
          </a:xfrm>
        </p:grpSpPr>
        <p:grpSp>
          <p:nvGrpSpPr>
            <p:cNvPr id="12" name="群組 11">
              <a:extLst>
                <a:ext uri="{FF2B5EF4-FFF2-40B4-BE49-F238E27FC236}">
                  <a16:creationId xmlns:a16="http://schemas.microsoft.com/office/drawing/2014/main" id="{90DD2810-FE7E-B045-836E-8792AC0EBAC6}"/>
                </a:ext>
              </a:extLst>
            </p:cNvPr>
            <p:cNvGrpSpPr/>
            <p:nvPr/>
          </p:nvGrpSpPr>
          <p:grpSpPr>
            <a:xfrm>
              <a:off x="960954" y="1755021"/>
              <a:ext cx="10270091" cy="1619906"/>
              <a:chOff x="1464821" y="2085002"/>
              <a:chExt cx="10270091" cy="1619906"/>
            </a:xfrm>
          </p:grpSpPr>
          <p:pic>
            <p:nvPicPr>
              <p:cNvPr id="11" name="圖片 10" descr="一張含有 文字, 字型, 白色, 印刷術 的圖片&#10;&#10;自動產生的描述">
                <a:extLst>
                  <a:ext uri="{FF2B5EF4-FFF2-40B4-BE49-F238E27FC236}">
                    <a16:creationId xmlns:a16="http://schemas.microsoft.com/office/drawing/2014/main" id="{AB6BD015-AA37-844C-8DED-8ADED7280109}"/>
                  </a:ext>
                </a:extLst>
              </p:cNvPr>
              <p:cNvPicPr>
                <a:picLocks noChangeAspect="1"/>
              </p:cNvPicPr>
              <p:nvPr/>
            </p:nvPicPr>
            <p:blipFill rotWithShape="1">
              <a:blip r:embed="rId2"/>
              <a:srcRect l="18244"/>
              <a:stretch/>
            </p:blipFill>
            <p:spPr>
              <a:xfrm>
                <a:off x="2514600" y="2085002"/>
                <a:ext cx="9220312" cy="1619906"/>
              </a:xfrm>
              <a:prstGeom prst="rect">
                <a:avLst/>
              </a:prstGeom>
            </p:spPr>
          </p:pic>
          <p:sp>
            <p:nvSpPr>
              <p:cNvPr id="9" name="文字方塊 8">
                <a:extLst>
                  <a:ext uri="{FF2B5EF4-FFF2-40B4-BE49-F238E27FC236}">
                    <a16:creationId xmlns:a16="http://schemas.microsoft.com/office/drawing/2014/main" id="{01499FFC-64E8-4B43-9FE1-5D5E68F633BF}"/>
                  </a:ext>
                </a:extLst>
              </p:cNvPr>
              <p:cNvSpPr txBox="1"/>
              <p:nvPr/>
            </p:nvSpPr>
            <p:spPr>
              <a:xfrm>
                <a:off x="1464821" y="2233335"/>
                <a:ext cx="1072730" cy="584775"/>
              </a:xfrm>
              <a:prstGeom prst="rect">
                <a:avLst/>
              </a:prstGeom>
              <a:noFill/>
            </p:spPr>
            <p:txBody>
              <a:bodyPr wrap="none" rtlCol="0">
                <a:spAutoFit/>
              </a:bodyPr>
              <a:lstStyle/>
              <a:p>
                <a:r>
                  <a:rPr kumimoji="1" lang="en-US" altLang="zh-TW" sz="3200" b="1" dirty="0">
                    <a:latin typeface="Times New Roman" panose="02020603050405020304" pitchFamily="18" charset="0"/>
                    <a:cs typeface="Times New Roman" panose="02020603050405020304" pitchFamily="18" charset="0"/>
                  </a:rPr>
                  <a:t>State</a:t>
                </a:r>
                <a:endParaRPr kumimoji="1" lang="zh-TW" altLang="en-US" sz="3200" b="1" dirty="0">
                  <a:latin typeface="Times New Roman" panose="02020603050405020304" pitchFamily="18" charset="0"/>
                  <a:cs typeface="Times New Roman" panose="02020603050405020304" pitchFamily="18" charset="0"/>
                </a:endParaRPr>
              </a:p>
            </p:txBody>
          </p:sp>
        </p:grpSp>
        <p:pic>
          <p:nvPicPr>
            <p:cNvPr id="16" name="圖片 15" descr="一張含有 文字, 字型, 白色, 代數 的圖片&#10;&#10;自動產生的描述">
              <a:extLst>
                <a:ext uri="{FF2B5EF4-FFF2-40B4-BE49-F238E27FC236}">
                  <a16:creationId xmlns:a16="http://schemas.microsoft.com/office/drawing/2014/main" id="{C628CD66-E6AD-5545-B372-767DF470199D}"/>
                </a:ext>
              </a:extLst>
            </p:cNvPr>
            <p:cNvPicPr>
              <a:picLocks noChangeAspect="1"/>
            </p:cNvPicPr>
            <p:nvPr/>
          </p:nvPicPr>
          <p:blipFill>
            <a:blip r:embed="rId3"/>
            <a:stretch>
              <a:fillRect/>
            </a:stretch>
          </p:blipFill>
          <p:spPr>
            <a:xfrm>
              <a:off x="960954" y="3536395"/>
              <a:ext cx="9423400" cy="3035300"/>
            </a:xfrm>
            <a:prstGeom prst="rect">
              <a:avLst/>
            </a:prstGeom>
          </p:spPr>
        </p:pic>
      </p:grpSp>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9</a:t>
            </a:fld>
            <a:endParaRPr kumimoji="1" lang="zh-TW" altLang="en-US"/>
          </a:p>
        </p:txBody>
      </p:sp>
    </p:spTree>
    <p:extLst>
      <p:ext uri="{BB962C8B-B14F-4D97-AF65-F5344CB8AC3E}">
        <p14:creationId xmlns:p14="http://schemas.microsoft.com/office/powerpoint/2010/main" val="806070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749A7C-5635-654B-9B69-8EE46F333AE4}"/>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Bidding</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rule</a:t>
            </a:r>
            <a:endParaRPr kumimoji="1" lang="zh-TW" altLang="en-US" dirty="0">
              <a:latin typeface="Times New Roman" panose="02020603050405020304" pitchFamily="18" charset="0"/>
              <a:cs typeface="Times New Roman" panose="02020603050405020304" pitchFamily="18" charset="0"/>
            </a:endParaRPr>
          </a:p>
        </p:txBody>
      </p:sp>
      <p:sp>
        <p:nvSpPr>
          <p:cNvPr id="6" name="內容版面配置區 5">
            <a:extLst>
              <a:ext uri="{FF2B5EF4-FFF2-40B4-BE49-F238E27FC236}">
                <a16:creationId xmlns:a16="http://schemas.microsoft.com/office/drawing/2014/main" id="{AA920641-0DA2-9147-AF8C-324E222F63D9}"/>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HCP</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13</a:t>
            </a:r>
          </a:p>
          <a:p>
            <a:r>
              <a:rPr lang="en-US" altLang="zh-TW" dirty="0">
                <a:latin typeface="Times New Roman" panose="02020603050405020304" pitchFamily="18" charset="0"/>
                <a:cs typeface="Times New Roman" panose="02020603050405020304" pitchFamily="18" charset="0"/>
              </a:rPr>
              <a:t>SUITLEN</a:t>
            </a:r>
            <a:r>
              <a:rPr lang="en-US" altLang="zh-TW" baseline="-25000" dirty="0">
                <a:latin typeface="Times New Roman" panose="02020603050405020304" pitchFamily="18" charset="0"/>
                <a:cs typeface="Times New Roman" panose="02020603050405020304" pitchFamily="18" charset="0"/>
              </a:rPr>
              <a:t>S</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2,</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SUITLEN</a:t>
            </a:r>
            <a:r>
              <a:rPr lang="en-US" altLang="zh-TW" baseline="-25000" dirty="0">
                <a:latin typeface="Times New Roman" panose="02020603050405020304" pitchFamily="18" charset="0"/>
                <a:cs typeface="Times New Roman" panose="02020603050405020304" pitchFamily="18" charset="0"/>
              </a:rPr>
              <a:t>H</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5,</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SUITLEN</a:t>
            </a:r>
            <a:r>
              <a:rPr lang="en-US" altLang="zh-TW" baseline="-25000" dirty="0">
                <a:latin typeface="Times New Roman" panose="02020603050405020304" pitchFamily="18" charset="0"/>
                <a:cs typeface="Times New Roman" panose="02020603050405020304" pitchFamily="18" charset="0"/>
              </a:rPr>
              <a:t>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4,</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SUITLEN</a:t>
            </a:r>
            <a:r>
              <a:rPr lang="en-US" altLang="zh-TW" baseline="-25000" dirty="0">
                <a:latin typeface="Times New Roman" panose="02020603050405020304" pitchFamily="18" charset="0"/>
                <a:cs typeface="Times New Roman" panose="02020603050405020304" pitchFamily="18" charset="0"/>
              </a:rPr>
              <a:t>C</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10</a:t>
            </a:fld>
            <a:endParaRPr kumimoji="1" lang="zh-TW" altLang="en-US"/>
          </a:p>
        </p:txBody>
      </p:sp>
      <p:pic>
        <p:nvPicPr>
          <p:cNvPr id="5" name="圖片 4" descr="一張含有 字型, 文字, 螢幕擷取畫面, 圖形 的圖片&#10;&#10;自動產生的描述">
            <a:extLst>
              <a:ext uri="{FF2B5EF4-FFF2-40B4-BE49-F238E27FC236}">
                <a16:creationId xmlns:a16="http://schemas.microsoft.com/office/drawing/2014/main" id="{605FF748-5363-3C4A-BFB1-E46CB07D9549}"/>
              </a:ext>
            </a:extLst>
          </p:cNvPr>
          <p:cNvPicPr>
            <a:picLocks noChangeAspect="1"/>
          </p:cNvPicPr>
          <p:nvPr/>
        </p:nvPicPr>
        <p:blipFill>
          <a:blip r:embed="rId2"/>
          <a:stretch>
            <a:fillRect/>
          </a:stretch>
        </p:blipFill>
        <p:spPr>
          <a:xfrm>
            <a:off x="2437912" y="3650758"/>
            <a:ext cx="6847254" cy="1277208"/>
          </a:xfrm>
          <a:prstGeom prst="rect">
            <a:avLst/>
          </a:prstGeom>
        </p:spPr>
      </p:pic>
      <p:pic>
        <p:nvPicPr>
          <p:cNvPr id="8" name="圖片 7">
            <a:extLst>
              <a:ext uri="{FF2B5EF4-FFF2-40B4-BE49-F238E27FC236}">
                <a16:creationId xmlns:a16="http://schemas.microsoft.com/office/drawing/2014/main" id="{DF7C1E26-D559-8C41-8743-8E3118E59B63}"/>
              </a:ext>
            </a:extLst>
          </p:cNvPr>
          <p:cNvPicPr>
            <a:picLocks noChangeAspect="1"/>
          </p:cNvPicPr>
          <p:nvPr/>
        </p:nvPicPr>
        <p:blipFill>
          <a:blip r:embed="rId3"/>
          <a:stretch>
            <a:fillRect/>
          </a:stretch>
        </p:blipFill>
        <p:spPr>
          <a:xfrm>
            <a:off x="1226039" y="5656263"/>
            <a:ext cx="9271000" cy="520700"/>
          </a:xfrm>
          <a:prstGeom prst="rect">
            <a:avLst/>
          </a:prstGeom>
        </p:spPr>
      </p:pic>
    </p:spTree>
    <p:extLst>
      <p:ext uri="{BB962C8B-B14F-4D97-AF65-F5344CB8AC3E}">
        <p14:creationId xmlns:p14="http://schemas.microsoft.com/office/powerpoint/2010/main" val="2145353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11</a:t>
            </a:fld>
            <a:endParaRPr kumimoji="1" lang="zh-TW" altLang="en-US"/>
          </a:p>
        </p:txBody>
      </p:sp>
      <p:sp>
        <p:nvSpPr>
          <p:cNvPr id="8" name="標題 7">
            <a:extLst>
              <a:ext uri="{FF2B5EF4-FFF2-40B4-BE49-F238E27FC236}">
                <a16:creationId xmlns:a16="http://schemas.microsoft.com/office/drawing/2014/main" id="{8B73AFEE-0D5C-2F4F-9C87-A004C7D4D57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Positive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bidding</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rule</a:t>
            </a:r>
            <a:endParaRPr lang="zh-TW" altLang="en-US" dirty="0">
              <a:latin typeface="Times New Roman" panose="02020603050405020304" pitchFamily="18" charset="0"/>
              <a:cs typeface="Times New Roman" panose="02020603050405020304" pitchFamily="18" charset="0"/>
            </a:endParaRPr>
          </a:p>
        </p:txBody>
      </p:sp>
      <p:pic>
        <p:nvPicPr>
          <p:cNvPr id="10" name="圖片 9" descr="一張含有 文字, 螢幕擷取畫面, 字型, 數字 的圖片&#10;&#10;自動產生的描述">
            <a:extLst>
              <a:ext uri="{FF2B5EF4-FFF2-40B4-BE49-F238E27FC236}">
                <a16:creationId xmlns:a16="http://schemas.microsoft.com/office/drawing/2014/main" id="{4C1DEDBC-18AB-0447-B2FF-9B8A3F853E7A}"/>
              </a:ext>
            </a:extLst>
          </p:cNvPr>
          <p:cNvPicPr>
            <a:picLocks noChangeAspect="1"/>
          </p:cNvPicPr>
          <p:nvPr/>
        </p:nvPicPr>
        <p:blipFill>
          <a:blip r:embed="rId2"/>
          <a:stretch>
            <a:fillRect/>
          </a:stretch>
        </p:blipFill>
        <p:spPr>
          <a:xfrm>
            <a:off x="2442175" y="1529974"/>
            <a:ext cx="7307649" cy="5057428"/>
          </a:xfrm>
          <a:prstGeom prst="rect">
            <a:avLst/>
          </a:prstGeom>
        </p:spPr>
      </p:pic>
    </p:spTree>
    <p:extLst>
      <p:ext uri="{BB962C8B-B14F-4D97-AF65-F5344CB8AC3E}">
        <p14:creationId xmlns:p14="http://schemas.microsoft.com/office/powerpoint/2010/main" val="1473776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12</a:t>
            </a:fld>
            <a:endParaRPr kumimoji="1" lang="zh-TW" altLang="en-US"/>
          </a:p>
        </p:txBody>
      </p:sp>
      <p:sp>
        <p:nvSpPr>
          <p:cNvPr id="8" name="標題 7">
            <a:extLst>
              <a:ext uri="{FF2B5EF4-FFF2-40B4-BE49-F238E27FC236}">
                <a16:creationId xmlns:a16="http://schemas.microsoft.com/office/drawing/2014/main" id="{8B73AFEE-0D5C-2F4F-9C87-A004C7D4D57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Negative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bidding</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rule</a:t>
            </a:r>
            <a:endParaRPr lang="zh-TW" altLang="en-US" dirty="0">
              <a:latin typeface="Times New Roman" panose="02020603050405020304" pitchFamily="18" charset="0"/>
              <a:cs typeface="Times New Roman" panose="02020603050405020304" pitchFamily="18" charset="0"/>
            </a:endParaRPr>
          </a:p>
        </p:txBody>
      </p:sp>
      <p:pic>
        <p:nvPicPr>
          <p:cNvPr id="3" name="圖片 2" descr="一張含有 文字, 字型, 螢幕擷取畫面, 數字 的圖片&#10;&#10;自動產生的描述">
            <a:extLst>
              <a:ext uri="{FF2B5EF4-FFF2-40B4-BE49-F238E27FC236}">
                <a16:creationId xmlns:a16="http://schemas.microsoft.com/office/drawing/2014/main" id="{19988BDC-5D84-D448-9736-E6928C8AA8D0}"/>
              </a:ext>
            </a:extLst>
          </p:cNvPr>
          <p:cNvPicPr>
            <a:picLocks noChangeAspect="1"/>
          </p:cNvPicPr>
          <p:nvPr/>
        </p:nvPicPr>
        <p:blipFill>
          <a:blip r:embed="rId2"/>
          <a:stretch>
            <a:fillRect/>
          </a:stretch>
        </p:blipFill>
        <p:spPr>
          <a:xfrm>
            <a:off x="1092200" y="2251869"/>
            <a:ext cx="10007600" cy="3543300"/>
          </a:xfrm>
          <a:prstGeom prst="rect">
            <a:avLst/>
          </a:prstGeom>
        </p:spPr>
      </p:pic>
    </p:spTree>
    <p:extLst>
      <p:ext uri="{BB962C8B-B14F-4D97-AF65-F5344CB8AC3E}">
        <p14:creationId xmlns:p14="http://schemas.microsoft.com/office/powerpoint/2010/main" val="3932196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a:extLst>
              <a:ext uri="{FF2B5EF4-FFF2-40B4-BE49-F238E27FC236}">
                <a16:creationId xmlns:a16="http://schemas.microsoft.com/office/drawing/2014/main" id="{8B73AFEE-0D5C-2F4F-9C87-A004C7D4D57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Hand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attributes</a:t>
            </a:r>
            <a:endParaRPr lang="zh-TW" altLang="en-US" dirty="0">
              <a:latin typeface="Times New Roman" panose="02020603050405020304" pitchFamily="18" charset="0"/>
              <a:cs typeface="Times New Roman" panose="02020603050405020304" pitchFamily="18" charset="0"/>
            </a:endParaRPr>
          </a:p>
        </p:txBody>
      </p:sp>
      <p:sp>
        <p:nvSpPr>
          <p:cNvPr id="5" name="內容版面配置區 4">
            <a:extLst>
              <a:ext uri="{FF2B5EF4-FFF2-40B4-BE49-F238E27FC236}">
                <a16:creationId xmlns:a16="http://schemas.microsoft.com/office/drawing/2014/main" id="{71914738-2288-A248-AC9E-9C8BFA277E6C}"/>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High</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cards</a:t>
            </a:r>
          </a:p>
          <a:p>
            <a:r>
              <a:rPr lang="en-US" altLang="zh-TW" dirty="0">
                <a:latin typeface="Times New Roman" panose="02020603050405020304" pitchFamily="18" charset="0"/>
                <a:cs typeface="Times New Roman" panose="02020603050405020304" pitchFamily="18" charset="0"/>
              </a:rPr>
              <a:t>Distribution</a:t>
            </a:r>
          </a:p>
          <a:p>
            <a:r>
              <a:rPr lang="en-US" altLang="zh-TW" dirty="0">
                <a:latin typeface="Times New Roman" panose="02020603050405020304" pitchFamily="18" charset="0"/>
                <a:cs typeface="Times New Roman" panose="02020603050405020304" pitchFamily="18" charset="0"/>
              </a:rPr>
              <a:t>Quality</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of</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the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suits</a:t>
            </a:r>
          </a:p>
          <a:p>
            <a:r>
              <a:rPr lang="en" altLang="zh-TW" dirty="0">
                <a:latin typeface="Times New Roman" panose="02020603050405020304" pitchFamily="18" charset="0"/>
                <a:cs typeface="Times New Roman" panose="02020603050405020304" pitchFamily="18" charset="0"/>
              </a:rPr>
              <a:t>Quality of the </a:t>
            </a:r>
            <a:r>
              <a:rPr lang="en-US" altLang="zh-TW" dirty="0">
                <a:latin typeface="Times New Roman" panose="02020603050405020304" pitchFamily="18" charset="0"/>
                <a:cs typeface="Times New Roman" panose="02020603050405020304" pitchFamily="18" charset="0"/>
              </a:rPr>
              <a:t>h</a:t>
            </a:r>
            <a:r>
              <a:rPr lang="en" altLang="zh-TW" dirty="0">
                <a:latin typeface="Times New Roman" panose="02020603050405020304" pitchFamily="18" charset="0"/>
                <a:cs typeface="Times New Roman" panose="02020603050405020304" pitchFamily="18" charset="0"/>
              </a:rPr>
              <a:t>and</a:t>
            </a:r>
          </a:p>
          <a:p>
            <a:pPr marL="0" indent="0">
              <a:buNone/>
            </a:pP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13</a:t>
            </a:fld>
            <a:endParaRPr kumimoji="1" lang="zh-TW" altLang="en-US"/>
          </a:p>
        </p:txBody>
      </p:sp>
    </p:spTree>
    <p:extLst>
      <p:ext uri="{BB962C8B-B14F-4D97-AF65-F5344CB8AC3E}">
        <p14:creationId xmlns:p14="http://schemas.microsoft.com/office/powerpoint/2010/main" val="1885655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14</a:t>
            </a:fld>
            <a:endParaRPr kumimoji="1" lang="zh-TW" altLang="en-US"/>
          </a:p>
        </p:txBody>
      </p:sp>
      <p:sp>
        <p:nvSpPr>
          <p:cNvPr id="8" name="標題 7">
            <a:extLst>
              <a:ext uri="{FF2B5EF4-FFF2-40B4-BE49-F238E27FC236}">
                <a16:creationId xmlns:a16="http://schemas.microsoft.com/office/drawing/2014/main" id="{8B73AFEE-0D5C-2F4F-9C87-A004C7D4D57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Hand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attributes</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High</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cards</a:t>
            </a:r>
            <a:endParaRPr lang="zh-TW" altLang="en-US" dirty="0">
              <a:latin typeface="Times New Roman" panose="02020603050405020304" pitchFamily="18" charset="0"/>
              <a:cs typeface="Times New Roman" panose="02020603050405020304" pitchFamily="18" charset="0"/>
            </a:endParaRPr>
          </a:p>
        </p:txBody>
      </p:sp>
      <p:pic>
        <p:nvPicPr>
          <p:cNvPr id="3" name="圖片 2" descr="一張含有 文字, 螢幕擷取畫面, 字型, 數字 的圖片&#10;&#10;自動產生的描述">
            <a:extLst>
              <a:ext uri="{FF2B5EF4-FFF2-40B4-BE49-F238E27FC236}">
                <a16:creationId xmlns:a16="http://schemas.microsoft.com/office/drawing/2014/main" id="{879DAF64-79B5-FC42-9A7D-3428222FCAB8}"/>
              </a:ext>
            </a:extLst>
          </p:cNvPr>
          <p:cNvPicPr>
            <a:picLocks noChangeAspect="1"/>
          </p:cNvPicPr>
          <p:nvPr/>
        </p:nvPicPr>
        <p:blipFill>
          <a:blip r:embed="rId2"/>
          <a:stretch>
            <a:fillRect/>
          </a:stretch>
        </p:blipFill>
        <p:spPr>
          <a:xfrm>
            <a:off x="1119554" y="1690688"/>
            <a:ext cx="9952892" cy="4695318"/>
          </a:xfrm>
          <a:prstGeom prst="rect">
            <a:avLst/>
          </a:prstGeom>
        </p:spPr>
      </p:pic>
    </p:spTree>
    <p:extLst>
      <p:ext uri="{BB962C8B-B14F-4D97-AF65-F5344CB8AC3E}">
        <p14:creationId xmlns:p14="http://schemas.microsoft.com/office/powerpoint/2010/main" val="880012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15</a:t>
            </a:fld>
            <a:endParaRPr kumimoji="1" lang="zh-TW" altLang="en-US"/>
          </a:p>
        </p:txBody>
      </p:sp>
      <p:sp>
        <p:nvSpPr>
          <p:cNvPr id="8" name="標題 7">
            <a:extLst>
              <a:ext uri="{FF2B5EF4-FFF2-40B4-BE49-F238E27FC236}">
                <a16:creationId xmlns:a16="http://schemas.microsoft.com/office/drawing/2014/main" id="{8B73AFEE-0D5C-2F4F-9C87-A004C7D4D57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Hand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attributes</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Distribution</a:t>
            </a:r>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81125FCC-278A-F240-87F2-795D1F5AAB8E}"/>
              </a:ext>
            </a:extLst>
          </p:cNvPr>
          <p:cNvPicPr>
            <a:picLocks noChangeAspect="1"/>
          </p:cNvPicPr>
          <p:nvPr/>
        </p:nvPicPr>
        <p:blipFill>
          <a:blip r:embed="rId2"/>
          <a:stretch>
            <a:fillRect/>
          </a:stretch>
        </p:blipFill>
        <p:spPr>
          <a:xfrm>
            <a:off x="984738" y="1617030"/>
            <a:ext cx="10222523" cy="4812978"/>
          </a:xfrm>
          <a:prstGeom prst="rect">
            <a:avLst/>
          </a:prstGeom>
        </p:spPr>
      </p:pic>
    </p:spTree>
    <p:extLst>
      <p:ext uri="{BB962C8B-B14F-4D97-AF65-F5344CB8AC3E}">
        <p14:creationId xmlns:p14="http://schemas.microsoft.com/office/powerpoint/2010/main" val="3706979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16</a:t>
            </a:fld>
            <a:endParaRPr kumimoji="1" lang="zh-TW" altLang="en-US"/>
          </a:p>
        </p:txBody>
      </p:sp>
      <p:sp>
        <p:nvSpPr>
          <p:cNvPr id="8" name="標題 7">
            <a:extLst>
              <a:ext uri="{FF2B5EF4-FFF2-40B4-BE49-F238E27FC236}">
                <a16:creationId xmlns:a16="http://schemas.microsoft.com/office/drawing/2014/main" id="{8B73AFEE-0D5C-2F4F-9C87-A004C7D4D57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Hand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attributes</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Quality</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of</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the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suits</a:t>
            </a:r>
            <a:endParaRPr lang="zh-TW" altLang="en-US" dirty="0">
              <a:latin typeface="Times New Roman" panose="02020603050405020304" pitchFamily="18" charset="0"/>
              <a:cs typeface="Times New Roman" panose="02020603050405020304" pitchFamily="18" charset="0"/>
            </a:endParaRPr>
          </a:p>
        </p:txBody>
      </p:sp>
      <p:pic>
        <p:nvPicPr>
          <p:cNvPr id="3" name="圖片 2" descr="一張含有 文字, 螢幕擷取畫面, 字型, 數字 的圖片&#10;&#10;自動產生的描述">
            <a:extLst>
              <a:ext uri="{FF2B5EF4-FFF2-40B4-BE49-F238E27FC236}">
                <a16:creationId xmlns:a16="http://schemas.microsoft.com/office/drawing/2014/main" id="{8D0DB81C-06B0-0248-9109-1CD755494843}"/>
              </a:ext>
            </a:extLst>
          </p:cNvPr>
          <p:cNvPicPr>
            <a:picLocks noChangeAspect="1"/>
          </p:cNvPicPr>
          <p:nvPr/>
        </p:nvPicPr>
        <p:blipFill>
          <a:blip r:embed="rId2"/>
          <a:stretch>
            <a:fillRect/>
          </a:stretch>
        </p:blipFill>
        <p:spPr>
          <a:xfrm>
            <a:off x="662354" y="1944511"/>
            <a:ext cx="10867292" cy="4158015"/>
          </a:xfrm>
          <a:prstGeom prst="rect">
            <a:avLst/>
          </a:prstGeom>
        </p:spPr>
      </p:pic>
    </p:spTree>
    <p:extLst>
      <p:ext uri="{BB962C8B-B14F-4D97-AF65-F5344CB8AC3E}">
        <p14:creationId xmlns:p14="http://schemas.microsoft.com/office/powerpoint/2010/main" val="1523750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749A7C-5635-654B-9B69-8EE46F333AE4}"/>
              </a:ext>
            </a:extLst>
          </p:cNvPr>
          <p:cNvSpPr>
            <a:spLocks noGrp="1"/>
          </p:cNvSpPr>
          <p:nvPr>
            <p:ph type="title"/>
          </p:nvPr>
        </p:nvSpPr>
        <p:spPr/>
        <p:txBody>
          <a:bodyPr/>
          <a:lstStyle/>
          <a:p>
            <a:r>
              <a:rPr kumimoji="1" lang="en" altLang="zh-TW" dirty="0">
                <a:latin typeface="Times New Roman" panose="02020603050405020304" pitchFamily="18" charset="0"/>
                <a:cs typeface="Times New Roman" panose="02020603050405020304" pitchFamily="18" charset="0"/>
              </a:rPr>
              <a:t>Induction Procedure</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(conflict)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21EDCFEE-1E99-6C47-B5B7-0187C19AB856}"/>
              </a:ext>
            </a:extLst>
          </p:cNvPr>
          <p:cNvSpPr>
            <a:spLocks noGrp="1"/>
          </p:cNvSpPr>
          <p:nvPr>
            <p:ph idx="1"/>
          </p:nvPr>
        </p:nvSpPr>
        <p:spPr/>
        <p:txBody>
          <a:bodyPr/>
          <a:lstStyle/>
          <a:p>
            <a:pPr marL="0" indent="0">
              <a:buNone/>
            </a:pPr>
            <a:r>
              <a:rPr lang="en" altLang="zh-TW" dirty="0">
                <a:latin typeface="Times New Roman" panose="02020603050405020304" pitchFamily="18" charset="0"/>
                <a:cs typeface="Times New Roman" panose="02020603050405020304" pitchFamily="18" charset="0"/>
              </a:rPr>
              <a:t>1. If the hand is balanced and </a:t>
            </a:r>
            <a:r>
              <a:rPr lang="en-US" altLang="zh-TW" dirty="0">
                <a:latin typeface="Times New Roman" panose="02020603050405020304" pitchFamily="18" charset="0"/>
                <a:cs typeface="Times New Roman" panose="02020603050405020304" pitchFamily="18" charset="0"/>
              </a:rPr>
              <a:t>HCP</a:t>
            </a:r>
            <a:r>
              <a:rPr lang="en" altLang="zh-TW"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is</a:t>
            </a:r>
            <a:r>
              <a:rPr lang="en" altLang="zh-TW" dirty="0">
                <a:latin typeface="Times New Roman" panose="02020603050405020304" pitchFamily="18" charset="0"/>
                <a:cs typeface="Times New Roman" panose="02020603050405020304" pitchFamily="18" charset="0"/>
              </a:rPr>
              <a:t> between 15 and 17, then bid 1NT.</a:t>
            </a:r>
          </a:p>
          <a:p>
            <a:pPr marL="0" indent="0">
              <a:buNone/>
            </a:pPr>
            <a:r>
              <a:rPr lang="en" altLang="zh-TW" dirty="0">
                <a:latin typeface="Times New Roman" panose="02020603050405020304" pitchFamily="18" charset="0"/>
                <a:cs typeface="Times New Roman" panose="02020603050405020304" pitchFamily="18" charset="0"/>
              </a:rPr>
              <a:t>2. If </a:t>
            </a:r>
            <a:r>
              <a:rPr lang="en-US" altLang="zh-TW" dirty="0">
                <a:latin typeface="Times New Roman" panose="02020603050405020304" pitchFamily="18" charset="0"/>
                <a:cs typeface="Times New Roman" panose="02020603050405020304" pitchFamily="18" charset="0"/>
              </a:rPr>
              <a:t>HCP</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is</a:t>
            </a:r>
            <a:r>
              <a:rPr lang="en" altLang="zh-TW" dirty="0">
                <a:latin typeface="Times New Roman" panose="02020603050405020304" pitchFamily="18" charset="0"/>
                <a:cs typeface="Times New Roman" panose="02020603050405020304" pitchFamily="18" charset="0"/>
              </a:rPr>
              <a:t> between 11 and 23 and the hand contains at least 5 hearts, then</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bid 1</a:t>
            </a:r>
            <a:r>
              <a:rPr lang="en-US" altLang="zh-TW" dirty="0">
                <a:latin typeface="Times New Roman" panose="02020603050405020304" pitchFamily="18" charset="0"/>
                <a:cs typeface="Times New Roman" panose="02020603050405020304" pitchFamily="18" charset="0"/>
              </a:rPr>
              <a:t>H</a:t>
            </a:r>
            <a:r>
              <a:rPr lang="en"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17</a:t>
            </a:fld>
            <a:endParaRPr kumimoji="1" lang="zh-TW" altLang="en-US"/>
          </a:p>
        </p:txBody>
      </p:sp>
      <p:pic>
        <p:nvPicPr>
          <p:cNvPr id="8" name="圖片 7" descr="一張含有 文字, 字型, 行, 圖表 的圖片&#10;&#10;自動產生的描述">
            <a:extLst>
              <a:ext uri="{FF2B5EF4-FFF2-40B4-BE49-F238E27FC236}">
                <a16:creationId xmlns:a16="http://schemas.microsoft.com/office/drawing/2014/main" id="{54513BF6-5BD4-F441-B777-BBEB3DDBBFAD}"/>
              </a:ext>
            </a:extLst>
          </p:cNvPr>
          <p:cNvPicPr>
            <a:picLocks noChangeAspect="1"/>
          </p:cNvPicPr>
          <p:nvPr/>
        </p:nvPicPr>
        <p:blipFill>
          <a:blip r:embed="rId2"/>
          <a:stretch>
            <a:fillRect/>
          </a:stretch>
        </p:blipFill>
        <p:spPr>
          <a:xfrm>
            <a:off x="3702169" y="2928410"/>
            <a:ext cx="5069015" cy="2604910"/>
          </a:xfrm>
          <a:prstGeom prst="rect">
            <a:avLst/>
          </a:prstGeom>
        </p:spPr>
      </p:pic>
      <p:pic>
        <p:nvPicPr>
          <p:cNvPr id="10" name="圖片 9">
            <a:extLst>
              <a:ext uri="{FF2B5EF4-FFF2-40B4-BE49-F238E27FC236}">
                <a16:creationId xmlns:a16="http://schemas.microsoft.com/office/drawing/2014/main" id="{00AA707C-AA4A-DC40-B808-1172110FE080}"/>
              </a:ext>
            </a:extLst>
          </p:cNvPr>
          <p:cNvPicPr>
            <a:picLocks noChangeAspect="1"/>
          </p:cNvPicPr>
          <p:nvPr/>
        </p:nvPicPr>
        <p:blipFill>
          <a:blip r:embed="rId3"/>
          <a:stretch>
            <a:fillRect/>
          </a:stretch>
        </p:blipFill>
        <p:spPr>
          <a:xfrm>
            <a:off x="307989" y="5445897"/>
            <a:ext cx="11576022" cy="1046978"/>
          </a:xfrm>
          <a:prstGeom prst="rect">
            <a:avLst/>
          </a:prstGeom>
        </p:spPr>
      </p:pic>
    </p:spTree>
    <p:extLst>
      <p:ext uri="{BB962C8B-B14F-4D97-AF65-F5344CB8AC3E}">
        <p14:creationId xmlns:p14="http://schemas.microsoft.com/office/powerpoint/2010/main" val="2860791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749A7C-5635-654B-9B69-8EE46F333AE4}"/>
              </a:ext>
            </a:extLst>
          </p:cNvPr>
          <p:cNvSpPr>
            <a:spLocks noGrp="1"/>
          </p:cNvSpPr>
          <p:nvPr>
            <p:ph type="title"/>
          </p:nvPr>
        </p:nvSpPr>
        <p:spPr/>
        <p:txBody>
          <a:bodyPr/>
          <a:lstStyle/>
          <a:p>
            <a:r>
              <a:rPr kumimoji="1" lang="en" altLang="zh-TW" dirty="0">
                <a:latin typeface="Times New Roman" panose="02020603050405020304" pitchFamily="18" charset="0"/>
                <a:cs typeface="Times New Roman" panose="02020603050405020304" pitchFamily="18" charset="0"/>
              </a:rPr>
              <a:t>Induction Procedure</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18</a:t>
            </a:fld>
            <a:endParaRPr kumimoji="1" lang="zh-TW" altLang="en-US"/>
          </a:p>
        </p:txBody>
      </p:sp>
      <p:pic>
        <p:nvPicPr>
          <p:cNvPr id="10" name="圖片 9">
            <a:extLst>
              <a:ext uri="{FF2B5EF4-FFF2-40B4-BE49-F238E27FC236}">
                <a16:creationId xmlns:a16="http://schemas.microsoft.com/office/drawing/2014/main" id="{00AA707C-AA4A-DC40-B808-1172110FE080}"/>
              </a:ext>
            </a:extLst>
          </p:cNvPr>
          <p:cNvPicPr>
            <a:picLocks noChangeAspect="1"/>
          </p:cNvPicPr>
          <p:nvPr/>
        </p:nvPicPr>
        <p:blipFill>
          <a:blip r:embed="rId2"/>
          <a:stretch>
            <a:fillRect/>
          </a:stretch>
        </p:blipFill>
        <p:spPr>
          <a:xfrm>
            <a:off x="307989" y="5445897"/>
            <a:ext cx="11576022" cy="1046978"/>
          </a:xfrm>
          <a:prstGeom prst="rect">
            <a:avLst/>
          </a:prstGeom>
        </p:spPr>
      </p:pic>
      <p:grpSp>
        <p:nvGrpSpPr>
          <p:cNvPr id="15" name="群組 14">
            <a:extLst>
              <a:ext uri="{FF2B5EF4-FFF2-40B4-BE49-F238E27FC236}">
                <a16:creationId xmlns:a16="http://schemas.microsoft.com/office/drawing/2014/main" id="{1C763A23-C84F-084D-B8D4-79A90ED19BB6}"/>
              </a:ext>
            </a:extLst>
          </p:cNvPr>
          <p:cNvGrpSpPr/>
          <p:nvPr/>
        </p:nvGrpSpPr>
        <p:grpSpPr>
          <a:xfrm>
            <a:off x="2991004" y="1426485"/>
            <a:ext cx="6209992" cy="4019412"/>
            <a:chOff x="2991004" y="1426485"/>
            <a:chExt cx="6209992" cy="4019412"/>
          </a:xfrm>
        </p:grpSpPr>
        <p:grpSp>
          <p:nvGrpSpPr>
            <p:cNvPr id="11" name="群組 10">
              <a:extLst>
                <a:ext uri="{FF2B5EF4-FFF2-40B4-BE49-F238E27FC236}">
                  <a16:creationId xmlns:a16="http://schemas.microsoft.com/office/drawing/2014/main" id="{87C68675-A098-794A-97CF-397BB8FC9C29}"/>
                </a:ext>
              </a:extLst>
            </p:cNvPr>
            <p:cNvGrpSpPr/>
            <p:nvPr/>
          </p:nvGrpSpPr>
          <p:grpSpPr>
            <a:xfrm>
              <a:off x="2991004" y="1426485"/>
              <a:ext cx="6209992" cy="4019412"/>
              <a:chOff x="2991004" y="1426485"/>
              <a:chExt cx="6209992" cy="4019412"/>
            </a:xfrm>
          </p:grpSpPr>
          <p:pic>
            <p:nvPicPr>
              <p:cNvPr id="5" name="圖片 4" descr="一張含有 文字, 圖表, 螢幕擷取畫面, 字型 的圖片&#10;&#10;自動產生的描述">
                <a:extLst>
                  <a:ext uri="{FF2B5EF4-FFF2-40B4-BE49-F238E27FC236}">
                    <a16:creationId xmlns:a16="http://schemas.microsoft.com/office/drawing/2014/main" id="{4BF7B56D-6D14-A646-BAF0-AD8DBD11F74D}"/>
                  </a:ext>
                </a:extLst>
              </p:cNvPr>
              <p:cNvPicPr>
                <a:picLocks noChangeAspect="1"/>
              </p:cNvPicPr>
              <p:nvPr/>
            </p:nvPicPr>
            <p:blipFill>
              <a:blip r:embed="rId3"/>
              <a:stretch>
                <a:fillRect/>
              </a:stretch>
            </p:blipFill>
            <p:spPr>
              <a:xfrm>
                <a:off x="2991004" y="1426485"/>
                <a:ext cx="6209992" cy="4019412"/>
              </a:xfrm>
              <a:prstGeom prst="rect">
                <a:avLst/>
              </a:prstGeom>
            </p:spPr>
          </p:pic>
          <p:sp>
            <p:nvSpPr>
              <p:cNvPr id="9" name="矩形 8">
                <a:extLst>
                  <a:ext uri="{FF2B5EF4-FFF2-40B4-BE49-F238E27FC236}">
                    <a16:creationId xmlns:a16="http://schemas.microsoft.com/office/drawing/2014/main" id="{882ECD1E-A12A-FA4A-B87F-77F2E3069F20}"/>
                  </a:ext>
                </a:extLst>
              </p:cNvPr>
              <p:cNvSpPr/>
              <p:nvPr/>
            </p:nvSpPr>
            <p:spPr>
              <a:xfrm>
                <a:off x="2991004" y="1547446"/>
                <a:ext cx="1721673" cy="16060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cxnSp>
          <p:nvCxnSpPr>
            <p:cNvPr id="13" name="直線接點 12">
              <a:extLst>
                <a:ext uri="{FF2B5EF4-FFF2-40B4-BE49-F238E27FC236}">
                  <a16:creationId xmlns:a16="http://schemas.microsoft.com/office/drawing/2014/main" id="{178EC04D-5C9B-3D4E-875E-E73E35EF96ED}"/>
                </a:ext>
              </a:extLst>
            </p:cNvPr>
            <p:cNvCxnSpPr>
              <a:cxnSpLocks/>
            </p:cNvCxnSpPr>
            <p:nvPr/>
          </p:nvCxnSpPr>
          <p:spPr>
            <a:xfrm flipH="1">
              <a:off x="4091354" y="2373923"/>
              <a:ext cx="160606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8" name="圖片 7" descr="一張含有 文字, 螢幕擷取畫面, 字型, 圖形 的圖片&#10;&#10;自動產生的描述">
            <a:extLst>
              <a:ext uri="{FF2B5EF4-FFF2-40B4-BE49-F238E27FC236}">
                <a16:creationId xmlns:a16="http://schemas.microsoft.com/office/drawing/2014/main" id="{BEE0448C-29DC-9D45-870C-B1286FAC1DD3}"/>
              </a:ext>
            </a:extLst>
          </p:cNvPr>
          <p:cNvPicPr>
            <a:picLocks noChangeAspect="1"/>
          </p:cNvPicPr>
          <p:nvPr/>
        </p:nvPicPr>
        <p:blipFill rotWithShape="1">
          <a:blip r:embed="rId4"/>
          <a:srcRect l="-724" t="1812" r="724" b="10245"/>
          <a:stretch/>
        </p:blipFill>
        <p:spPr>
          <a:xfrm>
            <a:off x="2720283" y="1702413"/>
            <a:ext cx="1300732" cy="1865879"/>
          </a:xfrm>
          <a:prstGeom prst="rect">
            <a:avLst/>
          </a:prstGeom>
        </p:spPr>
      </p:pic>
    </p:spTree>
    <p:extLst>
      <p:ext uri="{BB962C8B-B14F-4D97-AF65-F5344CB8AC3E}">
        <p14:creationId xmlns:p14="http://schemas.microsoft.com/office/powerpoint/2010/main" val="20056957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749A7C-5635-654B-9B69-8EE46F333AE4}"/>
              </a:ext>
            </a:extLst>
          </p:cNvPr>
          <p:cNvSpPr>
            <a:spLocks noGrp="1"/>
          </p:cNvSpPr>
          <p:nvPr>
            <p:ph type="title"/>
          </p:nvPr>
        </p:nvSpPr>
        <p:spPr/>
        <p:txBody>
          <a:bodyPr/>
          <a:lstStyle/>
          <a:p>
            <a:r>
              <a:rPr kumimoji="1" lang="en" altLang="zh-TW" dirty="0">
                <a:latin typeface="Times New Roman" panose="02020603050405020304" pitchFamily="18" charset="0"/>
                <a:cs typeface="Times New Roman" panose="02020603050405020304" pitchFamily="18" charset="0"/>
              </a:rPr>
              <a:t>Induction Procedure</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19</a:t>
            </a:fld>
            <a:endParaRPr kumimoji="1" lang="zh-TW" altLang="en-US"/>
          </a:p>
        </p:txBody>
      </p:sp>
      <p:pic>
        <p:nvPicPr>
          <p:cNvPr id="10" name="圖片 9">
            <a:extLst>
              <a:ext uri="{FF2B5EF4-FFF2-40B4-BE49-F238E27FC236}">
                <a16:creationId xmlns:a16="http://schemas.microsoft.com/office/drawing/2014/main" id="{00AA707C-AA4A-DC40-B808-1172110FE080}"/>
              </a:ext>
            </a:extLst>
          </p:cNvPr>
          <p:cNvPicPr>
            <a:picLocks noChangeAspect="1"/>
          </p:cNvPicPr>
          <p:nvPr/>
        </p:nvPicPr>
        <p:blipFill rotWithShape="1">
          <a:blip r:embed="rId2"/>
          <a:srcRect l="61322"/>
          <a:stretch/>
        </p:blipFill>
        <p:spPr>
          <a:xfrm>
            <a:off x="198119" y="5172212"/>
            <a:ext cx="4477371" cy="1046978"/>
          </a:xfrm>
          <a:prstGeom prst="rect">
            <a:avLst/>
          </a:prstGeom>
        </p:spPr>
      </p:pic>
      <p:pic>
        <p:nvPicPr>
          <p:cNvPr id="5" name="圖片 4" descr="一張含有 文字, 螢幕擷取畫面, 字型, 圖表 的圖片&#10;&#10;自動產生的描述">
            <a:extLst>
              <a:ext uri="{FF2B5EF4-FFF2-40B4-BE49-F238E27FC236}">
                <a16:creationId xmlns:a16="http://schemas.microsoft.com/office/drawing/2014/main" id="{9EEAC6C5-F1F3-C64B-A484-029553C455F2}"/>
              </a:ext>
            </a:extLst>
          </p:cNvPr>
          <p:cNvPicPr>
            <a:picLocks noChangeAspect="1"/>
          </p:cNvPicPr>
          <p:nvPr/>
        </p:nvPicPr>
        <p:blipFill>
          <a:blip r:embed="rId3"/>
          <a:stretch>
            <a:fillRect/>
          </a:stretch>
        </p:blipFill>
        <p:spPr>
          <a:xfrm>
            <a:off x="6105891" y="856612"/>
            <a:ext cx="5452731" cy="5499738"/>
          </a:xfrm>
          <a:prstGeom prst="rect">
            <a:avLst/>
          </a:prstGeom>
        </p:spPr>
      </p:pic>
      <p:pic>
        <p:nvPicPr>
          <p:cNvPr id="9" name="圖片 8">
            <a:extLst>
              <a:ext uri="{FF2B5EF4-FFF2-40B4-BE49-F238E27FC236}">
                <a16:creationId xmlns:a16="http://schemas.microsoft.com/office/drawing/2014/main" id="{97C43EBD-7460-6948-ACE6-02D3896613BA}"/>
              </a:ext>
            </a:extLst>
          </p:cNvPr>
          <p:cNvPicPr>
            <a:picLocks noChangeAspect="1"/>
          </p:cNvPicPr>
          <p:nvPr/>
        </p:nvPicPr>
        <p:blipFill rotWithShape="1">
          <a:blip r:embed="rId2"/>
          <a:srcRect r="52896"/>
          <a:stretch/>
        </p:blipFill>
        <p:spPr>
          <a:xfrm>
            <a:off x="307989" y="3897269"/>
            <a:ext cx="5452731" cy="1046978"/>
          </a:xfrm>
          <a:prstGeom prst="rect">
            <a:avLst/>
          </a:prstGeom>
        </p:spPr>
      </p:pic>
    </p:spTree>
    <p:extLst>
      <p:ext uri="{BB962C8B-B14F-4D97-AF65-F5344CB8AC3E}">
        <p14:creationId xmlns:p14="http://schemas.microsoft.com/office/powerpoint/2010/main" val="3647745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749A7C-5635-654B-9B69-8EE46F333AE4}"/>
              </a:ext>
            </a:extLst>
          </p:cNvPr>
          <p:cNvSpPr>
            <a:spLocks noGrp="1"/>
          </p:cNvSpPr>
          <p:nvPr>
            <p:ph type="title"/>
          </p:nvPr>
        </p:nvSpPr>
        <p:spPr/>
        <p:txBody>
          <a:bodyPr/>
          <a:lstStyle/>
          <a:p>
            <a:r>
              <a:rPr kumimoji="1" lang="en" altLang="zh-TW" dirty="0">
                <a:latin typeface="Times New Roman" panose="02020603050405020304" pitchFamily="18" charset="0"/>
                <a:cs typeface="Times New Roman" panose="02020603050405020304" pitchFamily="18" charset="0"/>
              </a:rPr>
              <a:t>Induction Procedure</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20</a:t>
            </a:fld>
            <a:endParaRPr kumimoji="1" lang="zh-TW" altLang="en-US"/>
          </a:p>
        </p:txBody>
      </p:sp>
      <p:grpSp>
        <p:nvGrpSpPr>
          <p:cNvPr id="15" name="群組 14">
            <a:extLst>
              <a:ext uri="{FF2B5EF4-FFF2-40B4-BE49-F238E27FC236}">
                <a16:creationId xmlns:a16="http://schemas.microsoft.com/office/drawing/2014/main" id="{DDA47DAD-163E-BD47-B80A-9DC930561EC1}"/>
              </a:ext>
            </a:extLst>
          </p:cNvPr>
          <p:cNvGrpSpPr/>
          <p:nvPr/>
        </p:nvGrpSpPr>
        <p:grpSpPr>
          <a:xfrm>
            <a:off x="198119" y="3897269"/>
            <a:ext cx="5562601" cy="2321921"/>
            <a:chOff x="198119" y="3897269"/>
            <a:chExt cx="5562601" cy="2321921"/>
          </a:xfrm>
        </p:grpSpPr>
        <p:pic>
          <p:nvPicPr>
            <p:cNvPr id="10" name="圖片 9">
              <a:extLst>
                <a:ext uri="{FF2B5EF4-FFF2-40B4-BE49-F238E27FC236}">
                  <a16:creationId xmlns:a16="http://schemas.microsoft.com/office/drawing/2014/main" id="{00AA707C-AA4A-DC40-B808-1172110FE080}"/>
                </a:ext>
              </a:extLst>
            </p:cNvPr>
            <p:cNvPicPr>
              <a:picLocks noChangeAspect="1"/>
            </p:cNvPicPr>
            <p:nvPr/>
          </p:nvPicPr>
          <p:blipFill rotWithShape="1">
            <a:blip r:embed="rId2"/>
            <a:srcRect l="61322"/>
            <a:stretch/>
          </p:blipFill>
          <p:spPr>
            <a:xfrm>
              <a:off x="198119" y="5172212"/>
              <a:ext cx="4477371" cy="1046978"/>
            </a:xfrm>
            <a:prstGeom prst="rect">
              <a:avLst/>
            </a:prstGeom>
          </p:spPr>
        </p:pic>
        <p:pic>
          <p:nvPicPr>
            <p:cNvPr id="9" name="圖片 8">
              <a:extLst>
                <a:ext uri="{FF2B5EF4-FFF2-40B4-BE49-F238E27FC236}">
                  <a16:creationId xmlns:a16="http://schemas.microsoft.com/office/drawing/2014/main" id="{97C43EBD-7460-6948-ACE6-02D3896613BA}"/>
                </a:ext>
              </a:extLst>
            </p:cNvPr>
            <p:cNvPicPr>
              <a:picLocks noChangeAspect="1"/>
            </p:cNvPicPr>
            <p:nvPr/>
          </p:nvPicPr>
          <p:blipFill rotWithShape="1">
            <a:blip r:embed="rId2"/>
            <a:srcRect r="52896"/>
            <a:stretch/>
          </p:blipFill>
          <p:spPr>
            <a:xfrm>
              <a:off x="307989" y="3897269"/>
              <a:ext cx="5452731" cy="1046978"/>
            </a:xfrm>
            <a:prstGeom prst="rect">
              <a:avLst/>
            </a:prstGeom>
          </p:spPr>
        </p:pic>
      </p:grpSp>
      <p:grpSp>
        <p:nvGrpSpPr>
          <p:cNvPr id="14" name="群組 13">
            <a:extLst>
              <a:ext uri="{FF2B5EF4-FFF2-40B4-BE49-F238E27FC236}">
                <a16:creationId xmlns:a16="http://schemas.microsoft.com/office/drawing/2014/main" id="{DF64AD80-35C0-314B-BC3F-65D9D02FC19E}"/>
              </a:ext>
            </a:extLst>
          </p:cNvPr>
          <p:cNvGrpSpPr/>
          <p:nvPr/>
        </p:nvGrpSpPr>
        <p:grpSpPr>
          <a:xfrm>
            <a:off x="5911853" y="365125"/>
            <a:ext cx="6021070" cy="5911263"/>
            <a:chOff x="5911853" y="365125"/>
            <a:chExt cx="6021070" cy="5911263"/>
          </a:xfrm>
        </p:grpSpPr>
        <p:pic>
          <p:nvPicPr>
            <p:cNvPr id="6" name="圖片 5" descr="一張含有 文字, 圖表, 字型, 螢幕擷取畫面 的圖片&#10;&#10;自動產生的描述">
              <a:extLst>
                <a:ext uri="{FF2B5EF4-FFF2-40B4-BE49-F238E27FC236}">
                  <a16:creationId xmlns:a16="http://schemas.microsoft.com/office/drawing/2014/main" id="{B60E014B-E629-E546-A192-7A13524305EC}"/>
                </a:ext>
              </a:extLst>
            </p:cNvPr>
            <p:cNvPicPr>
              <a:picLocks noChangeAspect="1"/>
            </p:cNvPicPr>
            <p:nvPr/>
          </p:nvPicPr>
          <p:blipFill>
            <a:blip r:embed="rId3"/>
            <a:stretch>
              <a:fillRect/>
            </a:stretch>
          </p:blipFill>
          <p:spPr>
            <a:xfrm>
              <a:off x="5911853" y="365125"/>
              <a:ext cx="6021070" cy="5911263"/>
            </a:xfrm>
            <a:prstGeom prst="rect">
              <a:avLst/>
            </a:prstGeom>
          </p:spPr>
        </p:pic>
        <p:sp>
          <p:nvSpPr>
            <p:cNvPr id="8" name="矩形 7">
              <a:extLst>
                <a:ext uri="{FF2B5EF4-FFF2-40B4-BE49-F238E27FC236}">
                  <a16:creationId xmlns:a16="http://schemas.microsoft.com/office/drawing/2014/main" id="{F7956B72-9A4D-D04B-8B34-29D28C83D02D}"/>
                </a:ext>
              </a:extLst>
            </p:cNvPr>
            <p:cNvSpPr/>
            <p:nvPr/>
          </p:nvSpPr>
          <p:spPr>
            <a:xfrm>
              <a:off x="6389078" y="3916666"/>
              <a:ext cx="608006" cy="256749"/>
            </a:xfrm>
            <a:prstGeom prst="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矩形 10">
              <a:extLst>
                <a:ext uri="{FF2B5EF4-FFF2-40B4-BE49-F238E27FC236}">
                  <a16:creationId xmlns:a16="http://schemas.microsoft.com/office/drawing/2014/main" id="{75F989EB-3D71-C24E-A720-4A6FC9276674}"/>
                </a:ext>
              </a:extLst>
            </p:cNvPr>
            <p:cNvSpPr/>
            <p:nvPr/>
          </p:nvSpPr>
          <p:spPr>
            <a:xfrm>
              <a:off x="7596555" y="5335159"/>
              <a:ext cx="902676" cy="268472"/>
            </a:xfrm>
            <a:prstGeom prst="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 name="矩形 12">
              <a:extLst>
                <a:ext uri="{FF2B5EF4-FFF2-40B4-BE49-F238E27FC236}">
                  <a16:creationId xmlns:a16="http://schemas.microsoft.com/office/drawing/2014/main" id="{03E37C67-88C2-DE4A-AF14-8A626F4009F3}"/>
                </a:ext>
              </a:extLst>
            </p:cNvPr>
            <p:cNvSpPr/>
            <p:nvPr/>
          </p:nvSpPr>
          <p:spPr>
            <a:xfrm>
              <a:off x="7573108" y="2765342"/>
              <a:ext cx="1418491" cy="256749"/>
            </a:xfrm>
            <a:prstGeom prst="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Tree>
    <p:extLst>
      <p:ext uri="{BB962C8B-B14F-4D97-AF65-F5344CB8AC3E}">
        <p14:creationId xmlns:p14="http://schemas.microsoft.com/office/powerpoint/2010/main" val="1415702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749A7C-5635-654B-9B69-8EE46F333AE4}"/>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Decision</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net</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21</a:t>
            </a:fld>
            <a:endParaRPr kumimoji="1" lang="zh-TW" altLang="en-US" dirty="0"/>
          </a:p>
        </p:txBody>
      </p:sp>
      <p:pic>
        <p:nvPicPr>
          <p:cNvPr id="5" name="圖片 4" descr="一張含有 圖表, 文字, 方案, 行 的圖片&#10;&#10;自動產生的描述">
            <a:extLst>
              <a:ext uri="{FF2B5EF4-FFF2-40B4-BE49-F238E27FC236}">
                <a16:creationId xmlns:a16="http://schemas.microsoft.com/office/drawing/2014/main" id="{D1D9DD95-867A-4C40-BFC7-AFA97830DC57}"/>
              </a:ext>
            </a:extLst>
          </p:cNvPr>
          <p:cNvPicPr>
            <a:picLocks noChangeAspect="1"/>
          </p:cNvPicPr>
          <p:nvPr/>
        </p:nvPicPr>
        <p:blipFill>
          <a:blip r:embed="rId2"/>
          <a:stretch>
            <a:fillRect/>
          </a:stretch>
        </p:blipFill>
        <p:spPr>
          <a:xfrm>
            <a:off x="4278923" y="641209"/>
            <a:ext cx="7074877" cy="5715141"/>
          </a:xfrm>
          <a:prstGeom prst="rect">
            <a:avLst/>
          </a:prstGeom>
        </p:spPr>
      </p:pic>
      <p:sp>
        <p:nvSpPr>
          <p:cNvPr id="6" name="矩形 5">
            <a:extLst>
              <a:ext uri="{FF2B5EF4-FFF2-40B4-BE49-F238E27FC236}">
                <a16:creationId xmlns:a16="http://schemas.microsoft.com/office/drawing/2014/main" id="{8879DA26-A78C-FA40-8288-F61E3ACE820B}"/>
              </a:ext>
            </a:extLst>
          </p:cNvPr>
          <p:cNvSpPr/>
          <p:nvPr/>
        </p:nvSpPr>
        <p:spPr>
          <a:xfrm>
            <a:off x="9576778" y="2075166"/>
            <a:ext cx="380022" cy="261634"/>
          </a:xfrm>
          <a:prstGeom prst="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 name="文字方塊 6">
            <a:extLst>
              <a:ext uri="{FF2B5EF4-FFF2-40B4-BE49-F238E27FC236}">
                <a16:creationId xmlns:a16="http://schemas.microsoft.com/office/drawing/2014/main" id="{33A54CA3-6E10-0E43-8064-5A7354CD85DE}"/>
              </a:ext>
            </a:extLst>
          </p:cNvPr>
          <p:cNvSpPr txBox="1"/>
          <p:nvPr/>
        </p:nvSpPr>
        <p:spPr>
          <a:xfrm>
            <a:off x="278423" y="4784587"/>
            <a:ext cx="4331677" cy="1477328"/>
          </a:xfrm>
          <a:prstGeom prst="rect">
            <a:avLst/>
          </a:prstGeom>
          <a:noFill/>
        </p:spPr>
        <p:txBody>
          <a:bodyPr wrap="square">
            <a:spAutoFit/>
          </a:bodyPr>
          <a:lstStyle/>
          <a:p>
            <a:r>
              <a:rPr lang="en-US" altLang="zh-TW" sz="1800" dirty="0">
                <a:effectLst/>
                <a:latin typeface="Times"/>
              </a:rPr>
              <a:t>T</a:t>
            </a:r>
            <a:r>
              <a:rPr lang="en" altLang="zh-TW" sz="1800" dirty="0">
                <a:effectLst/>
                <a:latin typeface="Times"/>
              </a:rPr>
              <a:t>he state </a:t>
            </a:r>
            <a:r>
              <a:rPr lang="en" altLang="zh-TW" sz="1800" dirty="0">
                <a:effectLst/>
                <a:highlight>
                  <a:srgbClr val="FFFF00"/>
                </a:highlight>
                <a:latin typeface="Times"/>
              </a:rPr>
              <a:t>[0, 2]</a:t>
            </a:r>
            <a:r>
              <a:rPr lang="zh-TW" altLang="en-US" sz="1800" dirty="0">
                <a:effectLst/>
                <a:latin typeface="Times"/>
              </a:rPr>
              <a:t> </a:t>
            </a:r>
            <a:r>
              <a:rPr lang="en-US" altLang="zh-TW" sz="1800" dirty="0">
                <a:effectLst/>
                <a:latin typeface="Times"/>
              </a:rPr>
              <a:t>has</a:t>
            </a:r>
            <a:r>
              <a:rPr lang="en" altLang="zh-TW" sz="1800" dirty="0">
                <a:effectLst/>
                <a:latin typeface="Times"/>
              </a:rPr>
              <a:t> the only most specific node </a:t>
            </a:r>
            <a:r>
              <a:rPr lang="en-US" altLang="zh-TW" sz="1800" dirty="0">
                <a:effectLst/>
                <a:latin typeface="Times"/>
              </a:rPr>
              <a:t>(4)</a:t>
            </a:r>
            <a:r>
              <a:rPr lang="zh-TW" altLang="en-US" sz="1800" dirty="0">
                <a:effectLst/>
                <a:latin typeface="Times"/>
              </a:rPr>
              <a:t> </a:t>
            </a:r>
            <a:r>
              <a:rPr lang="en" altLang="zh-TW" sz="1800" dirty="0">
                <a:effectLst/>
                <a:latin typeface="Times"/>
              </a:rPr>
              <a:t>and therefore</a:t>
            </a:r>
            <a:r>
              <a:rPr lang="zh-TW" altLang="en-US" sz="1800" dirty="0">
                <a:effectLst/>
                <a:latin typeface="Times"/>
              </a:rPr>
              <a:t> </a:t>
            </a:r>
            <a:r>
              <a:rPr lang="en" altLang="zh-TW" sz="1800" dirty="0">
                <a:effectLst/>
                <a:latin typeface="CMSY10"/>
              </a:rPr>
              <a:t>{</a:t>
            </a:r>
            <a:r>
              <a:rPr lang="en" altLang="zh-TW" sz="1800" i="1" dirty="0">
                <a:effectLst/>
                <a:latin typeface="Times"/>
              </a:rPr>
              <a:t>C</a:t>
            </a:r>
            <a:r>
              <a:rPr lang="en" altLang="zh-TW" sz="1800" dirty="0">
                <a:effectLst/>
                <a:latin typeface="CMSY10"/>
              </a:rPr>
              <a:t>} </a:t>
            </a:r>
            <a:r>
              <a:rPr lang="en" altLang="zh-TW" sz="1800" dirty="0">
                <a:effectLst/>
                <a:latin typeface="Times"/>
              </a:rPr>
              <a:t>will be returned. </a:t>
            </a:r>
          </a:p>
          <a:p>
            <a:r>
              <a:rPr lang="en" altLang="zh-TW" sz="1800" dirty="0">
                <a:effectLst/>
                <a:latin typeface="Times"/>
              </a:rPr>
              <a:t>The state </a:t>
            </a:r>
            <a:r>
              <a:rPr lang="en" altLang="zh-TW" sz="1800" dirty="0">
                <a:effectLst/>
                <a:highlight>
                  <a:srgbClr val="00FFFF"/>
                </a:highlight>
                <a:latin typeface="Times"/>
              </a:rPr>
              <a:t>[1, 2]</a:t>
            </a:r>
            <a:r>
              <a:rPr lang="en" altLang="zh-TW" sz="1800" dirty="0">
                <a:effectLst/>
                <a:latin typeface="Times"/>
              </a:rPr>
              <a:t> has two most specific nodes—(3) and (4). Therefore, the algorithm will return </a:t>
            </a:r>
            <a:r>
              <a:rPr lang="en" altLang="zh-TW" sz="1800" dirty="0">
                <a:effectLst/>
                <a:latin typeface="CMSY10"/>
              </a:rPr>
              <a:t>{</a:t>
            </a:r>
            <a:r>
              <a:rPr lang="en" altLang="zh-TW" sz="1800" i="1" dirty="0">
                <a:effectLst/>
                <a:latin typeface="Times"/>
              </a:rPr>
              <a:t>B</a:t>
            </a:r>
            <a:r>
              <a:rPr lang="en" altLang="zh-TW" sz="1800" dirty="0">
                <a:effectLst/>
                <a:latin typeface="Times"/>
              </a:rPr>
              <a:t>, </a:t>
            </a:r>
            <a:r>
              <a:rPr lang="en" altLang="zh-TW" sz="1800" i="1" dirty="0">
                <a:effectLst/>
                <a:latin typeface="Times"/>
              </a:rPr>
              <a:t>C</a:t>
            </a:r>
            <a:r>
              <a:rPr lang="en" altLang="zh-TW" sz="1800" dirty="0">
                <a:effectLst/>
                <a:latin typeface="CMSY10"/>
              </a:rPr>
              <a:t>}</a:t>
            </a:r>
            <a:r>
              <a:rPr lang="en" altLang="zh-TW" sz="1800" dirty="0">
                <a:effectLst/>
                <a:latin typeface="Times"/>
              </a:rPr>
              <a:t>. </a:t>
            </a:r>
            <a:endParaRPr lang="en" altLang="zh-TW" dirty="0"/>
          </a:p>
        </p:txBody>
      </p:sp>
      <p:sp>
        <p:nvSpPr>
          <p:cNvPr id="9" name="文字方塊 8">
            <a:extLst>
              <a:ext uri="{FF2B5EF4-FFF2-40B4-BE49-F238E27FC236}">
                <a16:creationId xmlns:a16="http://schemas.microsoft.com/office/drawing/2014/main" id="{16586921-09C7-7745-9EFC-29515DAF31D6}"/>
              </a:ext>
            </a:extLst>
          </p:cNvPr>
          <p:cNvSpPr txBox="1"/>
          <p:nvPr/>
        </p:nvSpPr>
        <p:spPr>
          <a:xfrm>
            <a:off x="7226300" y="1597304"/>
            <a:ext cx="825500" cy="369332"/>
          </a:xfrm>
          <a:prstGeom prst="rect">
            <a:avLst/>
          </a:prstGeom>
          <a:noFill/>
        </p:spPr>
        <p:txBody>
          <a:bodyPr wrap="square">
            <a:spAutoFit/>
          </a:bodyPr>
          <a:lstStyle/>
          <a:p>
            <a:r>
              <a:rPr lang="en" altLang="zh-TW" sz="1800" dirty="0">
                <a:solidFill>
                  <a:srgbClr val="C00000"/>
                </a:solidFill>
                <a:effectLst/>
                <a:latin typeface="Times"/>
              </a:rPr>
              <a:t>[</a:t>
            </a:r>
            <a:r>
              <a:rPr lang="en-US" altLang="zh-TW" sz="1800" dirty="0">
                <a:solidFill>
                  <a:srgbClr val="C00000"/>
                </a:solidFill>
                <a:effectLst/>
                <a:latin typeface="Times"/>
              </a:rPr>
              <a:t>f</a:t>
            </a:r>
            <a:r>
              <a:rPr lang="en-US" altLang="zh-TW" sz="1800" baseline="-25000" dirty="0">
                <a:solidFill>
                  <a:srgbClr val="C00000"/>
                </a:solidFill>
                <a:effectLst/>
                <a:latin typeface="Times"/>
              </a:rPr>
              <a:t>1</a:t>
            </a:r>
            <a:r>
              <a:rPr lang="en" altLang="zh-TW" sz="1800" dirty="0">
                <a:solidFill>
                  <a:srgbClr val="C00000"/>
                </a:solidFill>
                <a:effectLst/>
                <a:latin typeface="Times"/>
              </a:rPr>
              <a:t>, </a:t>
            </a:r>
            <a:r>
              <a:rPr lang="en-US" altLang="zh-TW" sz="1800" dirty="0">
                <a:solidFill>
                  <a:srgbClr val="C00000"/>
                </a:solidFill>
                <a:effectLst/>
                <a:latin typeface="Times"/>
              </a:rPr>
              <a:t>f</a:t>
            </a:r>
            <a:r>
              <a:rPr lang="en-US" altLang="zh-TW" baseline="-25000" dirty="0">
                <a:solidFill>
                  <a:srgbClr val="C00000"/>
                </a:solidFill>
                <a:latin typeface="Times"/>
              </a:rPr>
              <a:t>2</a:t>
            </a:r>
            <a:r>
              <a:rPr lang="en" altLang="zh-TW" sz="1800" dirty="0">
                <a:solidFill>
                  <a:srgbClr val="C00000"/>
                </a:solidFill>
                <a:effectLst/>
                <a:latin typeface="Times"/>
              </a:rPr>
              <a:t>]</a:t>
            </a:r>
            <a:r>
              <a:rPr lang="zh-TW" altLang="en-US" sz="1800" dirty="0">
                <a:solidFill>
                  <a:srgbClr val="C00000"/>
                </a:solidFill>
                <a:effectLst/>
                <a:latin typeface="Times"/>
              </a:rPr>
              <a:t> </a:t>
            </a:r>
            <a:endParaRPr lang="zh-TW" altLang="en-US" dirty="0">
              <a:solidFill>
                <a:srgbClr val="C00000"/>
              </a:solidFill>
            </a:endParaRPr>
          </a:p>
        </p:txBody>
      </p:sp>
      <p:sp>
        <p:nvSpPr>
          <p:cNvPr id="10" name="矩形 9">
            <a:extLst>
              <a:ext uri="{FF2B5EF4-FFF2-40B4-BE49-F238E27FC236}">
                <a16:creationId xmlns:a16="http://schemas.microsoft.com/office/drawing/2014/main" id="{C77E5FE2-A537-E44F-850F-60064E7B60AE}"/>
              </a:ext>
            </a:extLst>
          </p:cNvPr>
          <p:cNvSpPr/>
          <p:nvPr/>
        </p:nvSpPr>
        <p:spPr>
          <a:xfrm>
            <a:off x="8051800" y="3899858"/>
            <a:ext cx="825500" cy="519741"/>
          </a:xfrm>
          <a:prstGeom prst="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矩形 10">
            <a:extLst>
              <a:ext uri="{FF2B5EF4-FFF2-40B4-BE49-F238E27FC236}">
                <a16:creationId xmlns:a16="http://schemas.microsoft.com/office/drawing/2014/main" id="{06A8C0C1-CDAB-C24B-BCBC-783FC09E0D23}"/>
              </a:ext>
            </a:extLst>
          </p:cNvPr>
          <p:cNvSpPr/>
          <p:nvPr/>
        </p:nvSpPr>
        <p:spPr>
          <a:xfrm>
            <a:off x="10033000" y="2066460"/>
            <a:ext cx="380022" cy="261634"/>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12" name="文字方塊 11">
            <a:extLst>
              <a:ext uri="{FF2B5EF4-FFF2-40B4-BE49-F238E27FC236}">
                <a16:creationId xmlns:a16="http://schemas.microsoft.com/office/drawing/2014/main" id="{C9EBBEB1-FF19-CC49-947B-DD12339199C2}"/>
              </a:ext>
            </a:extLst>
          </p:cNvPr>
          <p:cNvSpPr txBox="1"/>
          <p:nvPr/>
        </p:nvSpPr>
        <p:spPr>
          <a:xfrm>
            <a:off x="838200" y="2076611"/>
            <a:ext cx="2028092" cy="369332"/>
          </a:xfrm>
          <a:prstGeom prst="rect">
            <a:avLst/>
          </a:prstGeom>
          <a:noFill/>
        </p:spPr>
        <p:txBody>
          <a:bodyPr wrap="square">
            <a:spAutoFit/>
          </a:bodyPr>
          <a:lstStyle/>
          <a:p>
            <a:r>
              <a:rPr lang="en" altLang="zh-TW" sz="1800" dirty="0">
                <a:effectLst/>
                <a:latin typeface="Times"/>
              </a:rPr>
              <a:t>world states</a:t>
            </a:r>
            <a:r>
              <a:rPr lang="en-US" altLang="zh-TW" sz="1800" dirty="0">
                <a:effectLst/>
                <a:latin typeface="Times"/>
              </a:rPr>
              <a:t>:</a:t>
            </a:r>
            <a:r>
              <a:rPr lang="zh-TW" altLang="en-US" sz="1800" dirty="0">
                <a:effectLst/>
                <a:latin typeface="Times"/>
              </a:rPr>
              <a:t> </a:t>
            </a:r>
            <a:r>
              <a:rPr lang="en" altLang="zh-TW" sz="1800" dirty="0">
                <a:effectLst/>
                <a:latin typeface="Times"/>
              </a:rPr>
              <a:t>[</a:t>
            </a:r>
            <a:r>
              <a:rPr lang="en-US" altLang="zh-TW" sz="1800" dirty="0">
                <a:effectLst/>
                <a:latin typeface="Times"/>
              </a:rPr>
              <a:t>f</a:t>
            </a:r>
            <a:r>
              <a:rPr lang="en-US" altLang="zh-TW" sz="1800" baseline="-25000" dirty="0">
                <a:effectLst/>
                <a:latin typeface="Times"/>
              </a:rPr>
              <a:t>1</a:t>
            </a:r>
            <a:r>
              <a:rPr lang="en" altLang="zh-TW" sz="1800" dirty="0">
                <a:effectLst/>
                <a:latin typeface="Times"/>
              </a:rPr>
              <a:t>, </a:t>
            </a:r>
            <a:r>
              <a:rPr lang="en-US" altLang="zh-TW" sz="1800" dirty="0">
                <a:effectLst/>
                <a:latin typeface="Times"/>
              </a:rPr>
              <a:t>f</a:t>
            </a:r>
            <a:r>
              <a:rPr lang="en-US" altLang="zh-TW" baseline="-25000" dirty="0">
                <a:latin typeface="Times"/>
              </a:rPr>
              <a:t>2</a:t>
            </a:r>
            <a:r>
              <a:rPr lang="en" altLang="zh-TW" sz="1800" dirty="0">
                <a:effectLst/>
                <a:latin typeface="Times"/>
              </a:rPr>
              <a:t>]</a:t>
            </a:r>
            <a:r>
              <a:rPr lang="zh-TW" altLang="en-US" sz="1800" dirty="0">
                <a:effectLst/>
                <a:latin typeface="Times"/>
              </a:rPr>
              <a:t>  </a:t>
            </a:r>
            <a:endParaRPr lang="en" altLang="zh-TW" dirty="0"/>
          </a:p>
        </p:txBody>
      </p:sp>
    </p:spTree>
    <p:extLst>
      <p:ext uri="{BB962C8B-B14F-4D97-AF65-F5344CB8AC3E}">
        <p14:creationId xmlns:p14="http://schemas.microsoft.com/office/powerpoint/2010/main" val="8646485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a:extLst>
              <a:ext uri="{FF2B5EF4-FFF2-40B4-BE49-F238E27FC236}">
                <a16:creationId xmlns:a16="http://schemas.microsoft.com/office/drawing/2014/main" id="{8B73AFEE-0D5C-2F4F-9C87-A004C7D4D57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Experimental</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results</a:t>
            </a:r>
            <a:endParaRPr lang="zh-TW" altLang="en-US" dirty="0">
              <a:latin typeface="Times New Roman" panose="02020603050405020304" pitchFamily="18" charset="0"/>
              <a:cs typeface="Times New Roman" panose="02020603050405020304" pitchFamily="18" charset="0"/>
            </a:endParaRPr>
          </a:p>
        </p:txBody>
      </p:sp>
      <p:sp>
        <p:nvSpPr>
          <p:cNvPr id="2" name="內容版面配置區 1">
            <a:extLst>
              <a:ext uri="{FF2B5EF4-FFF2-40B4-BE49-F238E27FC236}">
                <a16:creationId xmlns:a16="http://schemas.microsoft.com/office/drawing/2014/main" id="{0DEC25D4-7FE9-3A43-AB59-C0C5D7390B5D}"/>
              </a:ext>
            </a:extLst>
          </p:cNvPr>
          <p:cNvSpPr>
            <a:spLocks noGrp="1"/>
          </p:cNvSpPr>
          <p:nvPr>
            <p:ph idx="1"/>
          </p:nvPr>
        </p:nvSpPr>
        <p:spPr/>
        <p:txBody>
          <a:bodyPr/>
          <a:lstStyle/>
          <a:p>
            <a:r>
              <a:rPr lang="en" altLang="zh-TW" dirty="0">
                <a:latin typeface="Times New Roman" panose="02020603050405020304" pitchFamily="18" charset="0"/>
                <a:cs typeface="Times New Roman" panose="02020603050405020304" pitchFamily="18" charset="0"/>
              </a:rPr>
              <a:t>2000 random deals</a:t>
            </a:r>
          </a:p>
          <a:p>
            <a:r>
              <a:rPr lang="en" altLang="zh-TW" dirty="0">
                <a:latin typeface="Times New Roman" panose="02020603050405020304" pitchFamily="18" charset="0"/>
                <a:cs typeface="Times New Roman" panose="02020603050405020304" pitchFamily="18" charset="0"/>
              </a:rPr>
              <a:t>Stopped the learning session after 100 decision nets were refined</a:t>
            </a:r>
          </a:p>
          <a:p>
            <a:r>
              <a:rPr lang="en" altLang="zh-TW" dirty="0">
                <a:latin typeface="Times New Roman" panose="02020603050405020304" pitchFamily="18" charset="0"/>
                <a:cs typeface="Times New Roman" panose="02020603050405020304" pitchFamily="18" charset="0"/>
              </a:rPr>
              <a:t>5 seconds for each tagging process and a sample size of 10</a:t>
            </a:r>
          </a:p>
          <a:p>
            <a:r>
              <a:rPr lang="en" altLang="zh-TW" dirty="0">
                <a:latin typeface="Times New Roman" panose="02020603050405020304" pitchFamily="18" charset="0"/>
                <a:cs typeface="Times New Roman" panose="02020603050405020304" pitchFamily="18" charset="0"/>
              </a:rPr>
              <a:t>Initial bidding system contains about 2000 rules</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22</a:t>
            </a:fld>
            <a:endParaRPr kumimoji="1" lang="zh-TW" altLang="en-US"/>
          </a:p>
        </p:txBody>
      </p:sp>
    </p:spTree>
    <p:extLst>
      <p:ext uri="{BB962C8B-B14F-4D97-AF65-F5344CB8AC3E}">
        <p14:creationId xmlns:p14="http://schemas.microsoft.com/office/powerpoint/2010/main" val="71564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23</a:t>
            </a:fld>
            <a:endParaRPr kumimoji="1" lang="zh-TW" altLang="en-US"/>
          </a:p>
        </p:txBody>
      </p:sp>
      <p:sp>
        <p:nvSpPr>
          <p:cNvPr id="8" name="標題 7">
            <a:extLst>
              <a:ext uri="{FF2B5EF4-FFF2-40B4-BE49-F238E27FC236}">
                <a16:creationId xmlns:a16="http://schemas.microsoft.com/office/drawing/2014/main" id="{8B73AFEE-0D5C-2F4F-9C87-A004C7D4D57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Experimental</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results</a:t>
            </a:r>
            <a:endParaRPr lang="zh-TW" altLang="en-US" dirty="0">
              <a:latin typeface="Times New Roman" panose="02020603050405020304" pitchFamily="18" charset="0"/>
              <a:cs typeface="Times New Roman" panose="02020603050405020304" pitchFamily="18" charset="0"/>
            </a:endParaRPr>
          </a:p>
        </p:txBody>
      </p:sp>
      <p:pic>
        <p:nvPicPr>
          <p:cNvPr id="5" name="圖片 4" descr="一張含有 文字, 圖表, 行, 繪圖 的圖片&#10;&#10;自動產生的描述">
            <a:extLst>
              <a:ext uri="{FF2B5EF4-FFF2-40B4-BE49-F238E27FC236}">
                <a16:creationId xmlns:a16="http://schemas.microsoft.com/office/drawing/2014/main" id="{88CE87D7-EB49-264C-9853-5DF70B844DBD}"/>
              </a:ext>
            </a:extLst>
          </p:cNvPr>
          <p:cNvPicPr>
            <a:picLocks noChangeAspect="1"/>
          </p:cNvPicPr>
          <p:nvPr/>
        </p:nvPicPr>
        <p:blipFill>
          <a:blip r:embed="rId2"/>
          <a:stretch>
            <a:fillRect/>
          </a:stretch>
        </p:blipFill>
        <p:spPr>
          <a:xfrm>
            <a:off x="2304806" y="1454320"/>
            <a:ext cx="7582388" cy="5267155"/>
          </a:xfrm>
          <a:prstGeom prst="rect">
            <a:avLst/>
          </a:prstGeom>
        </p:spPr>
      </p:pic>
    </p:spTree>
    <p:extLst>
      <p:ext uri="{BB962C8B-B14F-4D97-AF65-F5344CB8AC3E}">
        <p14:creationId xmlns:p14="http://schemas.microsoft.com/office/powerpoint/2010/main" val="1991036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a:extLst>
              <a:ext uri="{FF2B5EF4-FFF2-40B4-BE49-F238E27FC236}">
                <a16:creationId xmlns:a16="http://schemas.microsoft.com/office/drawing/2014/main" id="{8B73AFEE-0D5C-2F4F-9C87-A004C7D4D57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Experimental</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results</a:t>
            </a:r>
            <a:endParaRPr lang="zh-TW" altLang="en-US" dirty="0">
              <a:latin typeface="Times New Roman" panose="02020603050405020304" pitchFamily="18" charset="0"/>
              <a:cs typeface="Times New Roman" panose="02020603050405020304" pitchFamily="18" charset="0"/>
            </a:endParaRPr>
          </a:p>
        </p:txBody>
      </p:sp>
      <p:sp>
        <p:nvSpPr>
          <p:cNvPr id="2" name="內容版面配置區 1">
            <a:extLst>
              <a:ext uri="{FF2B5EF4-FFF2-40B4-BE49-F238E27FC236}">
                <a16:creationId xmlns:a16="http://schemas.microsoft.com/office/drawing/2014/main" id="{9CB2857F-1130-AC4A-87BE-B7D21194EDF9}"/>
              </a:ext>
            </a:extLst>
          </p:cNvPr>
          <p:cNvSpPr>
            <a:spLocks noGrp="1"/>
          </p:cNvSpPr>
          <p:nvPr>
            <p:ph idx="1"/>
          </p:nvPr>
        </p:nvSpPr>
        <p:spPr/>
        <p:txBody>
          <a:bodyPr/>
          <a:lstStyle/>
          <a:p>
            <a:pPr marL="0" indent="0" algn="just">
              <a:buNone/>
            </a:pPr>
            <a:r>
              <a:rPr lang="en" altLang="zh-TW" dirty="0">
                <a:latin typeface="Times New Roman" panose="02020603050405020304" pitchFamily="18" charset="0"/>
                <a:cs typeface="Times New Roman" panose="02020603050405020304" pitchFamily="18" charset="0"/>
              </a:rPr>
              <a:t>We tested the performance of BIDI after learning with the performance of GIB by conducting a match of 48 boards.</a:t>
            </a:r>
          </a:p>
          <a:p>
            <a:pPr marL="0" indent="0" algn="just">
              <a:buNone/>
            </a:pPr>
            <a:r>
              <a:rPr lang="en" altLang="zh-TW" dirty="0">
                <a:latin typeface="Times New Roman" panose="02020603050405020304" pitchFamily="18" charset="0"/>
                <a:cs typeface="Times New Roman" panose="02020603050405020304" pitchFamily="18" charset="0"/>
              </a:rPr>
              <a:t>The results of the match were 103 IMPs to BIDI versus 84 IMPs to GIB, which is equivalent to </a:t>
            </a:r>
            <a:r>
              <a:rPr lang="en" altLang="zh-TW" dirty="0">
                <a:solidFill>
                  <a:srgbClr val="FF0000"/>
                </a:solidFill>
                <a:latin typeface="Times New Roman" panose="02020603050405020304" pitchFamily="18" charset="0"/>
                <a:cs typeface="Times New Roman" panose="02020603050405020304" pitchFamily="18" charset="0"/>
              </a:rPr>
              <a:t>0.4 IMP/board</a:t>
            </a:r>
            <a:r>
              <a:rPr lang="en"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D67A26A8-7C1E-2047-86CE-E816AB696019}"/>
              </a:ext>
            </a:extLst>
          </p:cNvPr>
          <p:cNvSpPr>
            <a:spLocks noGrp="1"/>
          </p:cNvSpPr>
          <p:nvPr>
            <p:ph type="sldNum" sz="quarter" idx="12"/>
          </p:nvPr>
        </p:nvSpPr>
        <p:spPr/>
        <p:txBody>
          <a:bodyPr/>
          <a:lstStyle/>
          <a:p>
            <a:fld id="{D1303F21-0339-114F-A835-EDFAC68AEBBB}" type="slidenum">
              <a:rPr kumimoji="1" lang="zh-TW" altLang="en-US" smtClean="0"/>
              <a:t>24</a:t>
            </a:fld>
            <a:endParaRPr kumimoji="1" lang="zh-TW" altLang="en-US"/>
          </a:p>
        </p:txBody>
      </p:sp>
    </p:spTree>
    <p:extLst>
      <p:ext uri="{BB962C8B-B14F-4D97-AF65-F5344CB8AC3E}">
        <p14:creationId xmlns:p14="http://schemas.microsoft.com/office/powerpoint/2010/main" val="305642487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21101_chenya" id="{590B069B-52D9-1B42-AA18-2E208FF1B4CE}" vid="{7DA54B81-747F-3640-BB4E-149AFB71B1F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佈景主題</Template>
  <TotalTime>11356</TotalTime>
  <Words>669</Words>
  <Application>Microsoft Macintosh PowerPoint</Application>
  <PresentationFormat>寬螢幕</PresentationFormat>
  <Paragraphs>87</Paragraphs>
  <Slides>24</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24</vt:i4>
      </vt:variant>
    </vt:vector>
  </HeadingPairs>
  <TitlesOfParts>
    <vt:vector size="31" baseType="lpstr">
      <vt:lpstr>CMSY10</vt:lpstr>
      <vt:lpstr>Times</vt:lpstr>
      <vt:lpstr>Arial</vt:lpstr>
      <vt:lpstr>Calibri</vt:lpstr>
      <vt:lpstr>Calibri Light</vt:lpstr>
      <vt:lpstr>Times New Roman</vt:lpstr>
      <vt:lpstr>Office 佈景主題</vt:lpstr>
      <vt:lpstr>Learning to bid in bridge</vt:lpstr>
      <vt:lpstr>Abstract</vt:lpstr>
      <vt:lpstr>Abstract(cont.)</vt:lpstr>
      <vt:lpstr>Problems in bridge bidding</vt:lpstr>
      <vt:lpstr>Learning process</vt:lpstr>
      <vt:lpstr>State of the auction stage </vt:lpstr>
      <vt:lpstr>Partial state</vt:lpstr>
      <vt:lpstr>PIDM</vt:lpstr>
      <vt:lpstr>PowerPoint 簡報</vt:lpstr>
      <vt:lpstr>Bidding rule</vt:lpstr>
      <vt:lpstr>Positive bidding rule</vt:lpstr>
      <vt:lpstr>Negative bidding rule</vt:lpstr>
      <vt:lpstr>Hand attributes</vt:lpstr>
      <vt:lpstr>Hand attributes – High cards</vt:lpstr>
      <vt:lpstr>Hand attributes – Distribution</vt:lpstr>
      <vt:lpstr>Hand attributes – Quality of the suits</vt:lpstr>
      <vt:lpstr>Induction Procedure (conflict)</vt:lpstr>
      <vt:lpstr>Induction Procedure</vt:lpstr>
      <vt:lpstr>Induction Procedure</vt:lpstr>
      <vt:lpstr>Induction Procedure</vt:lpstr>
      <vt:lpstr>Decision net</vt:lpstr>
      <vt:lpstr>Experimental results</vt:lpstr>
      <vt:lpstr>Experimental results</vt:lpstr>
      <vt:lpstr>Experimental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to bid in bridge</dc:title>
  <dc:creator>M113040012</dc:creator>
  <cp:lastModifiedBy>M113040012</cp:lastModifiedBy>
  <cp:revision>164</cp:revision>
  <dcterms:created xsi:type="dcterms:W3CDTF">2023-04-20T10:51:13Z</dcterms:created>
  <dcterms:modified xsi:type="dcterms:W3CDTF">2023-09-19T10:18:57Z</dcterms:modified>
</cp:coreProperties>
</file>