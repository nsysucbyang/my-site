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3" r:id="rId2"/>
    <p:sldId id="257" r:id="rId3"/>
    <p:sldId id="290" r:id="rId4"/>
    <p:sldId id="291" r:id="rId5"/>
    <p:sldId id="258" r:id="rId6"/>
    <p:sldId id="306" r:id="rId7"/>
    <p:sldId id="295" r:id="rId8"/>
    <p:sldId id="292" r:id="rId9"/>
    <p:sldId id="294" r:id="rId10"/>
    <p:sldId id="297" r:id="rId11"/>
    <p:sldId id="296" r:id="rId12"/>
    <p:sldId id="293" r:id="rId13"/>
    <p:sldId id="301" r:id="rId14"/>
    <p:sldId id="302" r:id="rId15"/>
    <p:sldId id="303" r:id="rId16"/>
    <p:sldId id="304" r:id="rId1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健廷 李" initials="健廷" lastIdx="1" clrIdx="0">
    <p:extLst>
      <p:ext uri="{19B8F6BF-5375-455C-9EA6-DF929625EA0E}">
        <p15:presenceInfo xmlns:p15="http://schemas.microsoft.com/office/powerpoint/2012/main" userId="0228d1a25d9d8fc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050" autoAdjust="0"/>
  </p:normalViewPr>
  <p:slideViewPr>
    <p:cSldViewPr>
      <p:cViewPr varScale="1">
        <p:scale>
          <a:sx n="65" d="100"/>
          <a:sy n="65" d="100"/>
        </p:scale>
        <p:origin x="654" y="78"/>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8C2939-B1A7-4514-8535-C0FA2719FDF5}" type="datetimeFigureOut">
              <a:rPr lang="zh-TW" altLang="en-US" smtClean="0"/>
              <a:pPr/>
              <a:t>2023/1/31</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5C87CB-DD22-4F6F-BC7E-D0042601E3D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fontAlgn="ctr"/>
            <a:r>
              <a:rPr lang="zh-TW" altLang="en-US" b="1" i="0" u="none" strike="noStrike" dirty="0">
                <a:solidFill>
                  <a:srgbClr val="FFFFFF"/>
                </a:solidFill>
                <a:effectLst/>
                <a:latin typeface="-apple-system"/>
              </a:rPr>
              <a:t>劉森 王宇平 </a:t>
            </a:r>
            <a:r>
              <a:rPr lang="zh-TW" altLang="en-US" b="0" i="0" dirty="0">
                <a:effectLst/>
                <a:latin typeface="Roboto" panose="02000000000000000000" pitchFamily="2" charset="0"/>
              </a:rPr>
              <a:t>童武寧 </a:t>
            </a:r>
            <a:r>
              <a:rPr lang="zh-TW" altLang="en-US" b="0" i="0" dirty="0">
                <a:solidFill>
                  <a:srgbClr val="111111"/>
                </a:solidFill>
                <a:effectLst/>
                <a:latin typeface="var(--nova-font-family-display)"/>
              </a:rPr>
              <a:t>衛世偉</a:t>
            </a:r>
          </a:p>
          <a:p>
            <a:br>
              <a:rPr lang="zh-TW" altLang="en-US" dirty="0"/>
            </a:br>
            <a:endParaRPr lang="zh-TW" altLang="en-US" b="0" i="0" dirty="0">
              <a:effectLst/>
              <a:latin typeface="Roboto" panose="02000000000000000000" pitchFamily="2" charset="0"/>
            </a:endParaRPr>
          </a:p>
          <a:p>
            <a:r>
              <a:rPr lang="zh-TW" altLang="en-US" dirty="0"/>
              <a:t> </a:t>
            </a:r>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a:t>
            </a:fld>
            <a:endParaRPr lang="zh-TW" altLang="en-US"/>
          </a:p>
        </p:txBody>
      </p:sp>
    </p:spTree>
    <p:extLst>
      <p:ext uri="{BB962C8B-B14F-4D97-AF65-F5344CB8AC3E}">
        <p14:creationId xmlns:p14="http://schemas.microsoft.com/office/powerpoint/2010/main" val="2615635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2</a:t>
            </a:fld>
            <a:endParaRPr lang="zh-TW" altLang="en-US"/>
          </a:p>
        </p:txBody>
      </p:sp>
    </p:spTree>
    <p:extLst>
      <p:ext uri="{BB962C8B-B14F-4D97-AF65-F5344CB8AC3E}">
        <p14:creationId xmlns:p14="http://schemas.microsoft.com/office/powerpoint/2010/main" val="3682970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3</a:t>
            </a:fld>
            <a:endParaRPr lang="zh-TW" altLang="en-US"/>
          </a:p>
        </p:txBody>
      </p:sp>
    </p:spTree>
    <p:extLst>
      <p:ext uri="{BB962C8B-B14F-4D97-AF65-F5344CB8AC3E}">
        <p14:creationId xmlns:p14="http://schemas.microsoft.com/office/powerpoint/2010/main" val="110428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4</a:t>
            </a:fld>
            <a:endParaRPr lang="zh-TW" altLang="en-US"/>
          </a:p>
        </p:txBody>
      </p:sp>
    </p:spTree>
    <p:extLst>
      <p:ext uri="{BB962C8B-B14F-4D97-AF65-F5344CB8AC3E}">
        <p14:creationId xmlns:p14="http://schemas.microsoft.com/office/powerpoint/2010/main" val="297446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下一個字母出現的位置</a:t>
            </a:r>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5</a:t>
            </a:fld>
            <a:endParaRPr lang="zh-TW" altLang="en-US"/>
          </a:p>
        </p:txBody>
      </p:sp>
    </p:spTree>
    <p:extLst>
      <p:ext uri="{BB962C8B-B14F-4D97-AF65-F5344CB8AC3E}">
        <p14:creationId xmlns:p14="http://schemas.microsoft.com/office/powerpoint/2010/main" val="1131986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枚舉所有點可能的</a:t>
            </a:r>
            <a:r>
              <a:rPr lang="en-US" altLang="zh-TW" dirty="0"/>
              <a:t> </a:t>
            </a:r>
            <a:r>
              <a:rPr lang="zh-TW" altLang="en-US" dirty="0"/>
              <a:t>共同子序列 再利用</a:t>
            </a:r>
            <a:r>
              <a:rPr lang="en-US" altLang="zh-TW" dirty="0"/>
              <a:t>dominant point</a:t>
            </a:r>
            <a:r>
              <a:rPr lang="zh-TW" altLang="en-US" dirty="0"/>
              <a:t>的方法</a:t>
            </a:r>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6</a:t>
            </a:fld>
            <a:endParaRPr lang="zh-TW" altLang="en-US"/>
          </a:p>
        </p:txBody>
      </p:sp>
    </p:spTree>
    <p:extLst>
      <p:ext uri="{BB962C8B-B14F-4D97-AF65-F5344CB8AC3E}">
        <p14:creationId xmlns:p14="http://schemas.microsoft.com/office/powerpoint/2010/main" val="3329699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8</a:t>
            </a:fld>
            <a:endParaRPr lang="zh-TW" altLang="en-US"/>
          </a:p>
        </p:txBody>
      </p:sp>
    </p:spTree>
    <p:extLst>
      <p:ext uri="{BB962C8B-B14F-4D97-AF65-F5344CB8AC3E}">
        <p14:creationId xmlns:p14="http://schemas.microsoft.com/office/powerpoint/2010/main" val="3211015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9</a:t>
            </a:fld>
            <a:endParaRPr lang="zh-TW" altLang="en-US"/>
          </a:p>
        </p:txBody>
      </p:sp>
    </p:spTree>
    <p:extLst>
      <p:ext uri="{BB962C8B-B14F-4D97-AF65-F5344CB8AC3E}">
        <p14:creationId xmlns:p14="http://schemas.microsoft.com/office/powerpoint/2010/main" val="142921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10</a:t>
            </a:fld>
            <a:endParaRPr lang="zh-TW" altLang="en-US"/>
          </a:p>
        </p:txBody>
      </p:sp>
    </p:spTree>
    <p:extLst>
      <p:ext uri="{BB962C8B-B14F-4D97-AF65-F5344CB8AC3E}">
        <p14:creationId xmlns:p14="http://schemas.microsoft.com/office/powerpoint/2010/main" val="2524925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11</a:t>
            </a:fld>
            <a:endParaRPr lang="zh-TW" altLang="en-US"/>
          </a:p>
        </p:txBody>
      </p:sp>
    </p:spTree>
    <p:extLst>
      <p:ext uri="{BB962C8B-B14F-4D97-AF65-F5344CB8AC3E}">
        <p14:creationId xmlns:p14="http://schemas.microsoft.com/office/powerpoint/2010/main" val="1129171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a:t>-</a:t>
            </a:r>
            <a:r>
              <a:rPr lang="zh-TW" altLang="en-US" dirty="0"/>
              <a:t>表示超過一小時</a:t>
            </a:r>
            <a:endParaRPr lang="en-US" altLang="zh-TW" dirty="0"/>
          </a:p>
          <a:p>
            <a:r>
              <a:rPr lang="zh-TW" altLang="en-US" dirty="0"/>
              <a:t>單位是</a:t>
            </a:r>
            <a:r>
              <a:rPr lang="en-US" altLang="zh-TW" dirty="0" err="1"/>
              <a:t>ms</a:t>
            </a:r>
            <a:endParaRPr lang="en-US" altLang="zh-TW" dirty="0"/>
          </a:p>
          <a:p>
            <a:r>
              <a:rPr lang="en-US" altLang="zh-TW" dirty="0" err="1"/>
              <a:t>Fast_LCS</a:t>
            </a:r>
            <a:r>
              <a:rPr lang="en-US" altLang="zh-TW" dirty="0"/>
              <a:t>, Quick-DP </a:t>
            </a:r>
            <a:r>
              <a:rPr lang="zh-TW" altLang="en-US" dirty="0"/>
              <a:t>無法在給定時間內完成</a:t>
            </a:r>
            <a:endParaRPr lang="en-US" altLang="zh-TW" dirty="0"/>
          </a:p>
          <a:p>
            <a:r>
              <a:rPr lang="en-US" altLang="zh-TW" dirty="0" err="1"/>
              <a:t>Top_MLCS</a:t>
            </a:r>
            <a:r>
              <a:rPr lang="zh-TW" altLang="en-US" dirty="0"/>
              <a:t>花的時間比</a:t>
            </a:r>
            <a:r>
              <a:rPr lang="en-US" altLang="zh-TW" dirty="0"/>
              <a:t>CMA</a:t>
            </a:r>
            <a:r>
              <a:rPr lang="zh-TW" altLang="en-US" dirty="0"/>
              <a:t>多</a:t>
            </a:r>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都是先增加後減少</a:t>
            </a:r>
            <a:endParaRPr lang="en-US" altLang="zh-TW" dirty="0"/>
          </a:p>
          <a:p>
            <a:r>
              <a:rPr lang="zh-TW" altLang="en-US" dirty="0"/>
              <a:t>這是因為對於固定長度的序列，序列數量的增加，搜索所有</a:t>
            </a:r>
            <a:r>
              <a:rPr lang="en-US" altLang="zh-TW" dirty="0"/>
              <a:t>MLCS</a:t>
            </a:r>
            <a:r>
              <a:rPr lang="zh-TW" altLang="en-US" dirty="0"/>
              <a:t>的代價會增加，但是當序列的數量增加到一定數量時，</a:t>
            </a:r>
            <a:r>
              <a:rPr lang="en-US" altLang="zh-TW" dirty="0"/>
              <a:t>MLCS </a:t>
            </a:r>
            <a:r>
              <a:rPr lang="zh-TW" altLang="en-US" dirty="0"/>
              <a:t>的數量和長度都會減少。 這導致降低搜索 </a:t>
            </a:r>
            <a:r>
              <a:rPr lang="en-US" altLang="zh-TW" dirty="0"/>
              <a:t>MLCS </a:t>
            </a:r>
            <a:r>
              <a:rPr lang="zh-TW" altLang="en-US" dirty="0"/>
              <a:t>的成本。</a:t>
            </a:r>
            <a:endParaRPr lang="en-US" altLang="zh-TW" dirty="0"/>
          </a:p>
          <a:p>
            <a:endParaRPr lang="en-US" altLang="zh-TW"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13</a:t>
            </a:fld>
            <a:endParaRPr lang="zh-TW" altLang="en-US"/>
          </a:p>
        </p:txBody>
      </p:sp>
    </p:spTree>
    <p:extLst>
      <p:ext uri="{BB962C8B-B14F-4D97-AF65-F5344CB8AC3E}">
        <p14:creationId xmlns:p14="http://schemas.microsoft.com/office/powerpoint/2010/main" val="475074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a:t>-</a:t>
            </a:r>
            <a:r>
              <a:rPr lang="zh-TW" altLang="en-US" dirty="0"/>
              <a:t>表示超過一小時</a:t>
            </a:r>
            <a:endParaRPr lang="en-US" altLang="zh-TW" dirty="0"/>
          </a:p>
          <a:p>
            <a:r>
              <a:rPr lang="en-US" altLang="zh-TW" dirty="0"/>
              <a:t>sequence</a:t>
            </a:r>
            <a:r>
              <a:rPr lang="zh-TW" altLang="en-US" dirty="0"/>
              <a:t>數量為</a:t>
            </a:r>
            <a:r>
              <a:rPr lang="en-US" altLang="zh-TW" dirty="0"/>
              <a:t>5</a:t>
            </a:r>
          </a:p>
          <a:p>
            <a:r>
              <a:rPr lang="en-US" altLang="zh-TW" dirty="0"/>
              <a:t>sequence</a:t>
            </a:r>
            <a:r>
              <a:rPr lang="zh-TW" altLang="en-US" dirty="0"/>
              <a:t>長度變更</a:t>
            </a:r>
            <a:endParaRPr lang="en-US" altLang="zh-TW"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14</a:t>
            </a:fld>
            <a:endParaRPr lang="zh-TW" altLang="en-US"/>
          </a:p>
        </p:txBody>
      </p:sp>
    </p:spTree>
    <p:extLst>
      <p:ext uri="{BB962C8B-B14F-4D97-AF65-F5344CB8AC3E}">
        <p14:creationId xmlns:p14="http://schemas.microsoft.com/office/powerpoint/2010/main" val="15754322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a:t>-</a:t>
            </a:r>
            <a:r>
              <a:rPr lang="zh-TW" altLang="en-US" dirty="0"/>
              <a:t>表示超過一小時</a:t>
            </a:r>
            <a:endParaRPr lang="en-US" altLang="zh-TW" dirty="0"/>
          </a:p>
          <a:p>
            <a:r>
              <a:rPr lang="en-US" altLang="zh-TW" dirty="0"/>
              <a:t>sequence</a:t>
            </a:r>
            <a:r>
              <a:rPr lang="zh-TW" altLang="en-US" dirty="0"/>
              <a:t>數量為</a:t>
            </a:r>
            <a:r>
              <a:rPr lang="en-US" altLang="zh-TW" dirty="0"/>
              <a:t>3000</a:t>
            </a:r>
          </a:p>
          <a:p>
            <a:r>
              <a:rPr lang="en-US" altLang="zh-TW" dirty="0"/>
              <a:t>sequence</a:t>
            </a:r>
            <a:r>
              <a:rPr lang="zh-TW" altLang="en-US" dirty="0"/>
              <a:t>長度變更</a:t>
            </a:r>
            <a:endParaRPr lang="en-US" altLang="zh-TW"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15</a:t>
            </a:fld>
            <a:endParaRPr lang="zh-TW" altLang="en-US"/>
          </a:p>
        </p:txBody>
      </p:sp>
    </p:spTree>
    <p:extLst>
      <p:ext uri="{BB962C8B-B14F-4D97-AF65-F5344CB8AC3E}">
        <p14:creationId xmlns:p14="http://schemas.microsoft.com/office/powerpoint/2010/main" val="1500754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注意</a:t>
            </a:r>
            <a:r>
              <a:rPr lang="en-US" altLang="zh-TW" dirty="0"/>
              <a:t>NDA </a:t>
            </a:r>
            <a:r>
              <a:rPr lang="zh-TW" altLang="en-US" dirty="0"/>
              <a:t>序列只有四個字符。 重複的概率當前角色和後一個也是 </a:t>
            </a:r>
            <a:r>
              <a:rPr lang="en-US" altLang="zh-TW" dirty="0"/>
              <a:t>25%</a:t>
            </a: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16</a:t>
            </a:fld>
            <a:endParaRPr lang="zh-TW" altLang="en-US"/>
          </a:p>
        </p:txBody>
      </p:sp>
    </p:spTree>
    <p:extLst>
      <p:ext uri="{BB962C8B-B14F-4D97-AF65-F5344CB8AC3E}">
        <p14:creationId xmlns:p14="http://schemas.microsoft.com/office/powerpoint/2010/main" val="597092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2023/1/31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2023/1/31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2023/1/31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2023/1/31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BA57A5FF-B09D-4861-A15A-3127FCDEB20B}" type="datetimeFigureOut">
              <a:rPr lang="zh-TW" altLang="en-US" smtClean="0"/>
              <a:pPr/>
              <a:t>2023/1/31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BA57A5FF-B09D-4861-A15A-3127FCDEB20B}" type="datetimeFigureOut">
              <a:rPr lang="zh-TW" altLang="en-US" smtClean="0"/>
              <a:pPr/>
              <a:t>2023/1/31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A57A5FF-B09D-4861-A15A-3127FCDEB20B}" type="datetimeFigureOut">
              <a:rPr lang="zh-TW" altLang="en-US" smtClean="0"/>
              <a:pPr/>
              <a:t>2023/1/31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2023/1/31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2023/1/31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2023/1/31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2023/1/31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57A5FF-B09D-4861-A15A-3127FCDEB20B}" type="datetimeFigureOut">
              <a:rPr lang="zh-TW" altLang="en-US" smtClean="0"/>
              <a:pPr/>
              <a:t>2023/1/31</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2DDFCA-1BA1-4113-A59F-BE40A323E13E}"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C020BB-2F3A-40BC-8D8D-94312CEA4980}"/>
              </a:ext>
            </a:extLst>
          </p:cNvPr>
          <p:cNvSpPr>
            <a:spLocks noGrp="1"/>
          </p:cNvSpPr>
          <p:nvPr>
            <p:ph type="ctrTitle"/>
          </p:nvPr>
        </p:nvSpPr>
        <p:spPr>
          <a:xfrm>
            <a:off x="364920" y="672353"/>
            <a:ext cx="8625823" cy="2837610"/>
          </a:xfrm>
        </p:spPr>
        <p:txBody>
          <a:bodyPr anchor="t">
            <a:noAutofit/>
          </a:bodyPr>
          <a:lstStyle/>
          <a:p>
            <a:r>
              <a:rPr lang="en-US" altLang="zh-TW" dirty="0">
                <a:latin typeface="Times New Roman" panose="02020603050405020304" pitchFamily="18" charset="0"/>
                <a:cs typeface="Times New Roman" panose="02020603050405020304" pitchFamily="18" charset="0"/>
              </a:rPr>
              <a:t>A Fast and Memory Efficient MLCS Algorithm by Character Merging for DNA Sequences Alignment </a:t>
            </a:r>
            <a:endParaRPr lang="zh-TW" altLang="en-US"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B9014221-E47C-4C31-898A-DB1330B1B844}"/>
              </a:ext>
            </a:extLst>
          </p:cNvPr>
          <p:cNvSpPr txBox="1"/>
          <p:nvPr/>
        </p:nvSpPr>
        <p:spPr>
          <a:xfrm>
            <a:off x="6084168" y="5862481"/>
            <a:ext cx="2775670" cy="646331"/>
          </a:xfrm>
          <a:prstGeom prst="rect">
            <a:avLst/>
          </a:prstGeom>
          <a:noFill/>
        </p:spPr>
        <p:txBody>
          <a:bodyPr wrap="square">
            <a:spAutoFit/>
          </a:bodyPr>
          <a:lstStyle/>
          <a:p>
            <a:r>
              <a:rPr lang="en-US" altLang="zh-TW" dirty="0"/>
              <a:t>Presenter: </a:t>
            </a:r>
            <a:r>
              <a:rPr lang="en-US" altLang="zh-TW" dirty="0" err="1"/>
              <a:t>Chien</a:t>
            </a:r>
            <a:r>
              <a:rPr lang="en-US" altLang="zh-TW" dirty="0"/>
              <a:t>-Ting Lee</a:t>
            </a:r>
          </a:p>
          <a:p>
            <a:pPr marR="0" lvl="0" indent="0" fontAlgn="auto">
              <a:lnSpc>
                <a:spcPct val="100000"/>
              </a:lnSpc>
              <a:spcBef>
                <a:spcPts val="0"/>
              </a:spcBef>
              <a:spcAft>
                <a:spcPts val="0"/>
              </a:spcAft>
              <a:buClrTx/>
              <a:buSzTx/>
              <a:buFontTx/>
              <a:buNone/>
              <a:tabLst/>
              <a:defRPr/>
            </a:pPr>
            <a:r>
              <a:rPr lang="x-none" altLang="zh-TW" dirty="0"/>
              <a:t>Date:</a:t>
            </a:r>
            <a:r>
              <a:rPr lang="zh-TW" altLang="en-US" dirty="0"/>
              <a:t> </a:t>
            </a:r>
            <a:r>
              <a:rPr lang="en-US" altLang="zh-TW" dirty="0"/>
              <a:t>Jan</a:t>
            </a:r>
            <a:r>
              <a:rPr lang="x-none" altLang="zh-TW" dirty="0"/>
              <a:t>. </a:t>
            </a:r>
            <a:r>
              <a:rPr lang="en-US" altLang="zh-TW" dirty="0"/>
              <a:t>31</a:t>
            </a:r>
            <a:r>
              <a:rPr lang="x-none" altLang="zh-TW" dirty="0"/>
              <a:t>, 202</a:t>
            </a:r>
            <a:r>
              <a:rPr lang="en-US" altLang="zh-TW" dirty="0"/>
              <a:t>3</a:t>
            </a:r>
            <a:endParaRPr lang="x-none" altLang="zh-TW" dirty="0"/>
          </a:p>
        </p:txBody>
      </p:sp>
      <p:sp>
        <p:nvSpPr>
          <p:cNvPr id="4" name="副標題 2">
            <a:extLst>
              <a:ext uri="{FF2B5EF4-FFF2-40B4-BE49-F238E27FC236}">
                <a16:creationId xmlns:a16="http://schemas.microsoft.com/office/drawing/2014/main" id="{C2097824-8D05-480F-BF6D-DD8BBC3EFED6}"/>
              </a:ext>
            </a:extLst>
          </p:cNvPr>
          <p:cNvSpPr>
            <a:spLocks noGrp="1"/>
          </p:cNvSpPr>
          <p:nvPr>
            <p:ph type="subTitle" idx="1"/>
          </p:nvPr>
        </p:nvSpPr>
        <p:spPr>
          <a:xfrm>
            <a:off x="8760" y="3509962"/>
            <a:ext cx="9144000" cy="2133615"/>
          </a:xfrm>
        </p:spPr>
        <p:txBody>
          <a:bodyPr>
            <a:normAutofit/>
          </a:bodyPr>
          <a:lstStyle/>
          <a:p>
            <a:r>
              <a:rPr lang="en-US" altLang="zh-TW" sz="2400">
                <a:solidFill>
                  <a:schemeClr val="tx1"/>
                </a:solidFill>
                <a:latin typeface="Times New Roman" panose="02020603050405020304" pitchFamily="18" charset="0"/>
                <a:cs typeface="Times New Roman" panose="02020603050405020304" pitchFamily="18" charset="0"/>
              </a:rPr>
              <a:t>Sen Liu,</a:t>
            </a:r>
            <a:r>
              <a:rPr lang="zh-TW" altLang="en-US" sz="2400" dirty="0">
                <a:solidFill>
                  <a:schemeClr val="tx1"/>
                </a:solidFill>
                <a:latin typeface="Times New Roman" panose="02020603050405020304" pitchFamily="18" charset="0"/>
                <a:cs typeface="Times New Roman" panose="02020603050405020304" pitchFamily="18" charset="0"/>
              </a:rPr>
              <a:t> </a:t>
            </a:r>
            <a:r>
              <a:rPr lang="en-US" altLang="zh-TW" sz="2400" dirty="0" err="1">
                <a:solidFill>
                  <a:schemeClr val="tx1"/>
                </a:solidFill>
                <a:latin typeface="Times New Roman" panose="02020603050405020304" pitchFamily="18" charset="0"/>
                <a:cs typeface="Times New Roman" panose="02020603050405020304" pitchFamily="18" charset="0"/>
              </a:rPr>
              <a:t>Yuping</a:t>
            </a:r>
            <a:r>
              <a:rPr lang="en-US" altLang="zh-TW" sz="2400" dirty="0">
                <a:solidFill>
                  <a:schemeClr val="tx1"/>
                </a:solidFill>
                <a:latin typeface="Times New Roman" panose="02020603050405020304" pitchFamily="18" charset="0"/>
                <a:cs typeface="Times New Roman" panose="02020603050405020304" pitchFamily="18" charset="0"/>
              </a:rPr>
              <a:t> Wang, </a:t>
            </a:r>
            <a:r>
              <a:rPr lang="en-US" altLang="zh-TW" sz="2400" dirty="0" err="1">
                <a:solidFill>
                  <a:schemeClr val="tx1"/>
                </a:solidFill>
                <a:latin typeface="Times New Roman" panose="02020603050405020304" pitchFamily="18" charset="0"/>
                <a:cs typeface="Times New Roman" panose="02020603050405020304" pitchFamily="18" charset="0"/>
              </a:rPr>
              <a:t>Wuning</a:t>
            </a:r>
            <a:r>
              <a:rPr lang="en-US" altLang="zh-TW" sz="2400" dirty="0">
                <a:solidFill>
                  <a:schemeClr val="tx1"/>
                </a:solidFill>
                <a:latin typeface="Times New Roman" panose="02020603050405020304" pitchFamily="18" charset="0"/>
                <a:cs typeface="Times New Roman" panose="02020603050405020304" pitchFamily="18" charset="0"/>
              </a:rPr>
              <a:t> Tong and </a:t>
            </a:r>
            <a:r>
              <a:rPr lang="en-US" altLang="zh-TW" sz="2400" dirty="0" err="1">
                <a:solidFill>
                  <a:schemeClr val="tx1"/>
                </a:solidFill>
                <a:latin typeface="Times New Roman" panose="02020603050405020304" pitchFamily="18" charset="0"/>
                <a:cs typeface="Times New Roman" panose="02020603050405020304" pitchFamily="18" charset="0"/>
              </a:rPr>
              <a:t>Shiwei</a:t>
            </a:r>
            <a:r>
              <a:rPr lang="en-US" altLang="zh-TW" sz="2400" dirty="0">
                <a:solidFill>
                  <a:schemeClr val="tx1"/>
                </a:solidFill>
                <a:latin typeface="Times New Roman" panose="02020603050405020304" pitchFamily="18" charset="0"/>
                <a:cs typeface="Times New Roman" panose="02020603050405020304" pitchFamily="18" charset="0"/>
              </a:rPr>
              <a:t> Wei</a:t>
            </a:r>
            <a:endParaRPr lang="zh-TW" altLang="en-US" sz="2400" dirty="0">
              <a:solidFill>
                <a:schemeClr val="tx1"/>
              </a:solidFill>
              <a:latin typeface="Times New Roman" panose="02020603050405020304" pitchFamily="18" charset="0"/>
              <a:cs typeface="Times New Roman" panose="02020603050405020304" pitchFamily="18" charset="0"/>
            </a:endParaRPr>
          </a:p>
          <a:p>
            <a:r>
              <a:rPr lang="en-US" altLang="zh-TW" sz="2400" dirty="0">
                <a:solidFill>
                  <a:schemeClr val="tx1"/>
                </a:solidFill>
                <a:latin typeface="Times New Roman" panose="02020603050405020304" pitchFamily="18" charset="0"/>
                <a:cs typeface="Times New Roman" panose="02020603050405020304" pitchFamily="18" charset="0"/>
              </a:rPr>
              <a:t>Bioinformatics </a:t>
            </a:r>
          </a:p>
          <a:p>
            <a:r>
              <a:rPr lang="en-US" altLang="zh-TW" sz="2400" dirty="0">
                <a:solidFill>
                  <a:schemeClr val="tx1"/>
                </a:solidFill>
                <a:latin typeface="Times New Roman" panose="02020603050405020304" pitchFamily="18" charset="0"/>
                <a:cs typeface="Times New Roman" panose="02020603050405020304" pitchFamily="18" charset="0"/>
              </a:rPr>
              <a:t>Volume 36, Issue 4, February 2020, Pages 1066–1073</a:t>
            </a:r>
          </a:p>
          <a:p>
            <a:pPr>
              <a:lnSpc>
                <a:spcPct val="110000"/>
              </a:lnSpc>
              <a:spcBef>
                <a:spcPts val="1000"/>
              </a:spcBef>
            </a:pPr>
            <a:endParaRPr lang="en-US" altLang="zh-TW" sz="2400" dirty="0">
              <a:solidFill>
                <a:schemeClr val="tx1"/>
              </a:solidFill>
            </a:endParaRPr>
          </a:p>
          <a:p>
            <a:pPr>
              <a:lnSpc>
                <a:spcPct val="110000"/>
              </a:lnSpc>
              <a:spcBef>
                <a:spcPts val="1000"/>
              </a:spcBef>
            </a:pPr>
            <a:endParaRPr lang="en-US" altLang="zh-TW" sz="2400" dirty="0">
              <a:solidFill>
                <a:schemeClr val="tx1"/>
              </a:solidFill>
            </a:endParaRPr>
          </a:p>
        </p:txBody>
      </p:sp>
    </p:spTree>
    <p:extLst>
      <p:ext uri="{BB962C8B-B14F-4D97-AF65-F5344CB8AC3E}">
        <p14:creationId xmlns:p14="http://schemas.microsoft.com/office/powerpoint/2010/main" val="149436323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457200" y="1196752"/>
            <a:ext cx="8229600" cy="4929411"/>
          </a:xfrm>
        </p:spPr>
        <p:txBody>
          <a:bodyPr>
            <a:noAutofit/>
          </a:bodyPr>
          <a:lstStyle/>
          <a:p>
            <a:pPr marL="0" indent="0" algn="just">
              <a:lnSpc>
                <a:spcPct val="150000"/>
              </a:lnSpc>
              <a:buNone/>
            </a:pPr>
            <a:r>
              <a:rPr lang="en-US" altLang="zh-TW" sz="2400" dirty="0">
                <a:latin typeface="Times New Roman" panose="02020603050405020304" pitchFamily="18" charset="0"/>
                <a:cs typeface="Times New Roman" panose="02020603050405020304" pitchFamily="18" charset="0"/>
              </a:rPr>
              <a:t>Motivation: Multiple Longest Common Subsequence (MLCS) problem is searching all longest common subsequences of multiple character sequences. It appears in many fields such as data mining, DNA alignment, bioinformatics, text editing and so on. With the increasing of sequence length and number of sequences, the existing dynamic programming algorithms and the dominant point based algorithms become ineffective and inefficient, especially for large-scale MLCS problems.</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146387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457200" y="1196752"/>
            <a:ext cx="8229600" cy="4929411"/>
          </a:xfrm>
        </p:spPr>
        <p:txBody>
          <a:bodyPr>
            <a:noAutofit/>
          </a:bodyPr>
          <a:lstStyle/>
          <a:p>
            <a:pPr marL="0" indent="0" algn="just">
              <a:lnSpc>
                <a:spcPct val="150000"/>
              </a:lnSpc>
              <a:buNone/>
            </a:pPr>
            <a:r>
              <a:rPr lang="en-US" altLang="zh-TW" sz="2400" dirty="0">
                <a:latin typeface="Times New Roman" panose="02020603050405020304" pitchFamily="18" charset="0"/>
                <a:cs typeface="Times New Roman" panose="02020603050405020304" pitchFamily="18" charset="0"/>
              </a:rPr>
              <a:t>Results: In this paper, by considering the characteristics of DNA sequences with many consecutively repeated characters, we first design a character merging scheme which merges the consecutively repeated characters in the sequences. As a result, it shortens the length of sequences considered and saves the space of storing all sequences. To further reduce the space and time costs, we construct a Weighted Directed Acyclic Graph (WDAG) which is much smaller than widely used DAG for MLCS problems. </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011598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457200" y="1196752"/>
            <a:ext cx="8229600" cy="4929411"/>
          </a:xfrm>
        </p:spPr>
        <p:txBody>
          <a:bodyPr>
            <a:noAutofit/>
          </a:bodyPr>
          <a:lstStyle/>
          <a:p>
            <a:pPr marL="0" indent="0" algn="just">
              <a:lnSpc>
                <a:spcPct val="150000"/>
              </a:lnSpc>
              <a:buNone/>
            </a:pPr>
            <a:r>
              <a:rPr lang="en-US" altLang="zh-TW" sz="2400" dirty="0">
                <a:latin typeface="Times New Roman" panose="02020603050405020304" pitchFamily="18" charset="0"/>
                <a:cs typeface="Times New Roman" panose="02020603050405020304" pitchFamily="18" charset="0"/>
              </a:rPr>
              <a:t>Based on these techniques, we propose a fast and memory efficient algorithm for MLCS problems. Finally, the experiments are conducted and the proposed algorithm is compared with several state-of-the art algorithms. The experimental results show that the proposed algorithm performs better than the compared state-of-the art algorithms in both time and space costs.</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004484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Successor Table </a:t>
            </a:r>
            <a:br>
              <a:rPr lang="en-US" altLang="zh-TW" dirty="0"/>
            </a:br>
            <a:endParaRPr lang="zh-TW" altLang="en-US" dirty="0"/>
          </a:p>
        </p:txBody>
      </p:sp>
      <p:pic>
        <p:nvPicPr>
          <p:cNvPr id="1026" name="Picture 2"/>
          <p:cNvPicPr>
            <a:picLocks noGrp="1" noChangeAspect="1" noChangeArrowheads="1"/>
          </p:cNvPicPr>
          <p:nvPr>
            <p:ph idx="1"/>
          </p:nvPr>
        </p:nvPicPr>
        <p:blipFill>
          <a:blip r:embed="rId3"/>
          <a:srcRect/>
          <a:stretch>
            <a:fillRect/>
          </a:stretch>
        </p:blipFill>
        <p:spPr bwMode="auto">
          <a:xfrm>
            <a:off x="641746" y="1124744"/>
            <a:ext cx="8472518" cy="4357718"/>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a:extLst>
              <a:ext uri="{FF2B5EF4-FFF2-40B4-BE49-F238E27FC236}">
                <a16:creationId xmlns:a16="http://schemas.microsoft.com/office/drawing/2014/main" id="{47705AEA-1F7B-4A00-7894-4CEC0E7984A5}"/>
              </a:ext>
            </a:extLst>
          </p:cNvPr>
          <p:cNvPicPr>
            <a:picLocks noGrp="1" noChangeAspect="1"/>
          </p:cNvPicPr>
          <p:nvPr>
            <p:ph idx="1"/>
          </p:nvPr>
        </p:nvPicPr>
        <p:blipFill>
          <a:blip r:embed="rId3"/>
          <a:stretch>
            <a:fillRect/>
          </a:stretch>
        </p:blipFill>
        <p:spPr>
          <a:xfrm>
            <a:off x="2195736" y="1556792"/>
            <a:ext cx="4896544" cy="5179644"/>
          </a:xfrm>
        </p:spPr>
      </p:pic>
      <p:sp>
        <p:nvSpPr>
          <p:cNvPr id="7" name="標題 6">
            <a:extLst>
              <a:ext uri="{FF2B5EF4-FFF2-40B4-BE49-F238E27FC236}">
                <a16:creationId xmlns:a16="http://schemas.microsoft.com/office/drawing/2014/main" id="{3CDD3983-7786-2AC6-75C1-DB1536776372}"/>
              </a:ext>
            </a:extLst>
          </p:cNvPr>
          <p:cNvSpPr>
            <a:spLocks noGrp="1"/>
          </p:cNvSpPr>
          <p:nvPr>
            <p:ph type="title"/>
          </p:nvPr>
        </p:nvSpPr>
        <p:spPr/>
        <p:txBody>
          <a:bodyPr/>
          <a:lstStyle/>
          <a:p>
            <a:endParaRPr lang="zh-TW" altLang="en-US"/>
          </a:p>
        </p:txBody>
      </p:sp>
    </p:spTree>
    <p:extLst>
      <p:ext uri="{BB962C8B-B14F-4D97-AF65-F5344CB8AC3E}">
        <p14:creationId xmlns:p14="http://schemas.microsoft.com/office/powerpoint/2010/main" val="112057133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D7348C-439A-6623-9CAD-562D76C0E29D}"/>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BECC6F3E-5E64-D639-924D-0DC422815DC1}"/>
              </a:ext>
            </a:extLst>
          </p:cNvPr>
          <p:cNvSpPr>
            <a:spLocks noGrp="1"/>
          </p:cNvSpPr>
          <p:nvPr>
            <p:ph idx="1"/>
          </p:nvPr>
        </p:nvSpPr>
        <p:spPr/>
        <p:txBody>
          <a:bodyPr/>
          <a:lstStyle/>
          <a:p>
            <a:r>
              <a:rPr lang="en-US" altLang="zh-TW" dirty="0"/>
              <a:t>S1=ATTTCGGA =&gt; S’1= ATCGA</a:t>
            </a:r>
          </a:p>
          <a:p>
            <a:r>
              <a:rPr lang="en-US" altLang="zh-TW" dirty="0"/>
              <a:t>S2=TTATGCCA =&gt; S’2= TATGCA</a:t>
            </a:r>
          </a:p>
          <a:p>
            <a:endParaRPr lang="en-US" altLang="zh-TW" dirty="0"/>
          </a:p>
          <a:p>
            <a:endParaRPr lang="zh-TW" altLang="en-US" dirty="0"/>
          </a:p>
        </p:txBody>
      </p:sp>
      <p:graphicFrame>
        <p:nvGraphicFramePr>
          <p:cNvPr id="5" name="表格 5">
            <a:extLst>
              <a:ext uri="{FF2B5EF4-FFF2-40B4-BE49-F238E27FC236}">
                <a16:creationId xmlns:a16="http://schemas.microsoft.com/office/drawing/2014/main" id="{53F43CF5-E138-B81F-180D-9918A3BB86E0}"/>
              </a:ext>
            </a:extLst>
          </p:cNvPr>
          <p:cNvGraphicFramePr>
            <a:graphicFrameLocks noGrp="1"/>
          </p:cNvGraphicFramePr>
          <p:nvPr>
            <p:extLst>
              <p:ext uri="{D42A27DB-BD31-4B8C-83A1-F6EECF244321}">
                <p14:modId xmlns:p14="http://schemas.microsoft.com/office/powerpoint/2010/main" val="650342832"/>
              </p:ext>
            </p:extLst>
          </p:nvPr>
        </p:nvGraphicFramePr>
        <p:xfrm>
          <a:off x="971600" y="4005064"/>
          <a:ext cx="6095999" cy="1112520"/>
        </p:xfrm>
        <a:graphic>
          <a:graphicData uri="http://schemas.openxmlformats.org/drawingml/2006/table">
            <a:tbl>
              <a:tblPr firstRow="1" bandRow="1">
                <a:tableStyleId>{5C22544A-7EE6-4342-B048-85BDC9FD1C3A}</a:tableStyleId>
              </a:tblPr>
              <a:tblGrid>
                <a:gridCol w="870857">
                  <a:extLst>
                    <a:ext uri="{9D8B030D-6E8A-4147-A177-3AD203B41FA5}">
                      <a16:colId xmlns:a16="http://schemas.microsoft.com/office/drawing/2014/main" val="3711817525"/>
                    </a:ext>
                  </a:extLst>
                </a:gridCol>
                <a:gridCol w="870857">
                  <a:extLst>
                    <a:ext uri="{9D8B030D-6E8A-4147-A177-3AD203B41FA5}">
                      <a16:colId xmlns:a16="http://schemas.microsoft.com/office/drawing/2014/main" val="3654660981"/>
                    </a:ext>
                  </a:extLst>
                </a:gridCol>
                <a:gridCol w="870857">
                  <a:extLst>
                    <a:ext uri="{9D8B030D-6E8A-4147-A177-3AD203B41FA5}">
                      <a16:colId xmlns:a16="http://schemas.microsoft.com/office/drawing/2014/main" val="2020264473"/>
                    </a:ext>
                  </a:extLst>
                </a:gridCol>
                <a:gridCol w="870857">
                  <a:extLst>
                    <a:ext uri="{9D8B030D-6E8A-4147-A177-3AD203B41FA5}">
                      <a16:colId xmlns:a16="http://schemas.microsoft.com/office/drawing/2014/main" val="8618211"/>
                    </a:ext>
                  </a:extLst>
                </a:gridCol>
                <a:gridCol w="870857">
                  <a:extLst>
                    <a:ext uri="{9D8B030D-6E8A-4147-A177-3AD203B41FA5}">
                      <a16:colId xmlns:a16="http://schemas.microsoft.com/office/drawing/2014/main" val="186673738"/>
                    </a:ext>
                  </a:extLst>
                </a:gridCol>
                <a:gridCol w="870857">
                  <a:extLst>
                    <a:ext uri="{9D8B030D-6E8A-4147-A177-3AD203B41FA5}">
                      <a16:colId xmlns:a16="http://schemas.microsoft.com/office/drawing/2014/main" val="45123727"/>
                    </a:ext>
                  </a:extLst>
                </a:gridCol>
                <a:gridCol w="870857">
                  <a:extLst>
                    <a:ext uri="{9D8B030D-6E8A-4147-A177-3AD203B41FA5}">
                      <a16:colId xmlns:a16="http://schemas.microsoft.com/office/drawing/2014/main" val="3557168847"/>
                    </a:ext>
                  </a:extLst>
                </a:gridCol>
              </a:tblGrid>
              <a:tr h="37084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extLst>
                  <a:ext uri="{0D108BD9-81ED-4DB2-BD59-A6C34878D82A}">
                    <a16:rowId xmlns:a16="http://schemas.microsoft.com/office/drawing/2014/main" val="2782684400"/>
                  </a:ext>
                </a:extLst>
              </a:tr>
              <a:tr h="370840">
                <a:tc>
                  <a:txBody>
                    <a:bodyPr/>
                    <a:lstStyle/>
                    <a:p>
                      <a:r>
                        <a:rPr lang="en-US" altLang="zh-TW" dirty="0"/>
                        <a:t>S’1</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1(A)</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3(T)</a:t>
                      </a:r>
                      <a:endParaRPr lang="zh-TW" altLang="en-US" dirty="0"/>
                    </a:p>
                  </a:txBody>
                  <a:tcPr/>
                </a:tc>
                <a:tc>
                  <a:txBody>
                    <a:bodyPr/>
                    <a:lstStyle/>
                    <a:p>
                      <a:r>
                        <a:rPr lang="en-US" altLang="zh-TW" dirty="0"/>
                        <a:t>1(C)</a:t>
                      </a:r>
                      <a:endParaRPr lang="zh-TW" altLang="en-US" dirty="0"/>
                    </a:p>
                  </a:txBody>
                  <a:tcPr/>
                </a:tc>
                <a:tc>
                  <a:txBody>
                    <a:bodyPr/>
                    <a:lstStyle/>
                    <a:p>
                      <a:r>
                        <a:rPr lang="en-US" altLang="zh-TW" dirty="0"/>
                        <a:t>2(G)</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1(A)</a:t>
                      </a:r>
                      <a:endParaRPr lang="zh-TW" altLang="en-US" dirty="0"/>
                    </a:p>
                  </a:txBody>
                  <a:tcPr/>
                </a:tc>
                <a:tc>
                  <a:txBody>
                    <a:bodyPr/>
                    <a:lstStyle/>
                    <a:p>
                      <a:endParaRPr lang="zh-TW" altLang="en-US" dirty="0"/>
                    </a:p>
                  </a:txBody>
                  <a:tcPr/>
                </a:tc>
                <a:extLst>
                  <a:ext uri="{0D108BD9-81ED-4DB2-BD59-A6C34878D82A}">
                    <a16:rowId xmlns:a16="http://schemas.microsoft.com/office/drawing/2014/main" val="923204904"/>
                  </a:ext>
                </a:extLst>
              </a:tr>
              <a:tr h="370840">
                <a:tc>
                  <a:txBody>
                    <a:bodyPr/>
                    <a:lstStyle/>
                    <a:p>
                      <a:r>
                        <a:rPr lang="en-US" altLang="zh-TW" dirty="0"/>
                        <a:t>S’2</a:t>
                      </a:r>
                      <a:endParaRPr lang="zh-TW" altLang="en-US" dirty="0"/>
                    </a:p>
                  </a:txBody>
                  <a:tcPr/>
                </a:tc>
                <a:tc>
                  <a:txBody>
                    <a:bodyPr/>
                    <a:lstStyle/>
                    <a:p>
                      <a:r>
                        <a:rPr lang="en-US" altLang="zh-TW" dirty="0"/>
                        <a:t>2(T)</a:t>
                      </a:r>
                      <a:endParaRPr lang="zh-TW" altLang="en-US" dirty="0"/>
                    </a:p>
                  </a:txBody>
                  <a:tcPr/>
                </a:tc>
                <a:tc>
                  <a:txBody>
                    <a:bodyPr/>
                    <a:lstStyle/>
                    <a:p>
                      <a:r>
                        <a:rPr lang="en-US" altLang="zh-TW" dirty="0"/>
                        <a:t>1(A)</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1(T)</a:t>
                      </a:r>
                      <a:endParaRPr lang="zh-TW" altLang="en-US" dirty="0"/>
                    </a:p>
                  </a:txBody>
                  <a:tcPr/>
                </a:tc>
                <a:tc>
                  <a:txBody>
                    <a:bodyPr/>
                    <a:lstStyle/>
                    <a:p>
                      <a:r>
                        <a:rPr lang="en-US" altLang="zh-TW" dirty="0"/>
                        <a:t>1(G)</a:t>
                      </a:r>
                      <a:endParaRPr lang="zh-TW" altLang="en-US" dirty="0"/>
                    </a:p>
                  </a:txBody>
                  <a:tcPr/>
                </a:tc>
                <a:tc>
                  <a:txBody>
                    <a:bodyPr/>
                    <a:lstStyle/>
                    <a:p>
                      <a:r>
                        <a:rPr lang="en-US" altLang="zh-TW" dirty="0"/>
                        <a:t>2(C)</a:t>
                      </a:r>
                      <a:endParaRPr lang="zh-TW" altLang="en-US" dirty="0"/>
                    </a:p>
                  </a:txBody>
                  <a:tcPr/>
                </a:tc>
                <a:tc>
                  <a:txBody>
                    <a:bodyPr/>
                    <a:lstStyle/>
                    <a:p>
                      <a:r>
                        <a:rPr lang="en-US" altLang="zh-TW" dirty="0"/>
                        <a:t>1(A)</a:t>
                      </a:r>
                      <a:endParaRPr lang="zh-TW" altLang="en-US" dirty="0"/>
                    </a:p>
                  </a:txBody>
                  <a:tcPr/>
                </a:tc>
                <a:extLst>
                  <a:ext uri="{0D108BD9-81ED-4DB2-BD59-A6C34878D82A}">
                    <a16:rowId xmlns:a16="http://schemas.microsoft.com/office/drawing/2014/main" val="2048155142"/>
                  </a:ext>
                </a:extLst>
              </a:tr>
            </a:tbl>
          </a:graphicData>
        </a:graphic>
      </p:graphicFrame>
    </p:spTree>
    <p:extLst>
      <p:ext uri="{BB962C8B-B14F-4D97-AF65-F5344CB8AC3E}">
        <p14:creationId xmlns:p14="http://schemas.microsoft.com/office/powerpoint/2010/main" val="377190756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2" name="直線單箭頭接點 61">
            <a:extLst>
              <a:ext uri="{FF2B5EF4-FFF2-40B4-BE49-F238E27FC236}">
                <a16:creationId xmlns:a16="http://schemas.microsoft.com/office/drawing/2014/main" id="{FCEDA7C4-1E6B-7014-CB0A-05BBAEE5BCA3}"/>
              </a:ext>
            </a:extLst>
          </p:cNvPr>
          <p:cNvCxnSpPr>
            <a:cxnSpLocks/>
          </p:cNvCxnSpPr>
          <p:nvPr/>
        </p:nvCxnSpPr>
        <p:spPr>
          <a:xfrm flipV="1">
            <a:off x="4298543" y="3212976"/>
            <a:ext cx="1641609" cy="16065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直線單箭頭接點 126">
            <a:extLst>
              <a:ext uri="{FF2B5EF4-FFF2-40B4-BE49-F238E27FC236}">
                <a16:creationId xmlns:a16="http://schemas.microsoft.com/office/drawing/2014/main" id="{5BB88254-8CB1-948D-2AF8-5B0A973F3072}"/>
              </a:ext>
            </a:extLst>
          </p:cNvPr>
          <p:cNvCxnSpPr/>
          <p:nvPr/>
        </p:nvCxnSpPr>
        <p:spPr>
          <a:xfrm flipV="1">
            <a:off x="3802677" y="794620"/>
            <a:ext cx="24650" cy="7646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9" name="直線單箭頭接點 128">
            <a:extLst>
              <a:ext uri="{FF2B5EF4-FFF2-40B4-BE49-F238E27FC236}">
                <a16:creationId xmlns:a16="http://schemas.microsoft.com/office/drawing/2014/main" id="{4CDA8506-0242-3404-169A-1097261D2EA3}"/>
              </a:ext>
            </a:extLst>
          </p:cNvPr>
          <p:cNvCxnSpPr/>
          <p:nvPr/>
        </p:nvCxnSpPr>
        <p:spPr>
          <a:xfrm flipH="1">
            <a:off x="2699792" y="2276872"/>
            <a:ext cx="936104" cy="7920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0" name="直線單箭頭接點 129">
            <a:extLst>
              <a:ext uri="{FF2B5EF4-FFF2-40B4-BE49-F238E27FC236}">
                <a16:creationId xmlns:a16="http://schemas.microsoft.com/office/drawing/2014/main" id="{7C0A30EA-06AA-4009-7173-46F2BD785745}"/>
              </a:ext>
            </a:extLst>
          </p:cNvPr>
          <p:cNvCxnSpPr>
            <a:cxnSpLocks/>
            <a:stCxn id="18" idx="4"/>
          </p:cNvCxnSpPr>
          <p:nvPr/>
        </p:nvCxnSpPr>
        <p:spPr>
          <a:xfrm flipH="1">
            <a:off x="2661210" y="2255697"/>
            <a:ext cx="1112143" cy="19224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0" name="直線單箭頭接點 89">
            <a:extLst>
              <a:ext uri="{FF2B5EF4-FFF2-40B4-BE49-F238E27FC236}">
                <a16:creationId xmlns:a16="http://schemas.microsoft.com/office/drawing/2014/main" id="{35B57805-D04C-D866-3DC2-CDF380E9E822}"/>
              </a:ext>
            </a:extLst>
          </p:cNvPr>
          <p:cNvCxnSpPr>
            <a:cxnSpLocks/>
          </p:cNvCxnSpPr>
          <p:nvPr/>
        </p:nvCxnSpPr>
        <p:spPr>
          <a:xfrm>
            <a:off x="4268771" y="625726"/>
            <a:ext cx="1599373" cy="18671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橢圓 18">
            <a:extLst>
              <a:ext uri="{FF2B5EF4-FFF2-40B4-BE49-F238E27FC236}">
                <a16:creationId xmlns:a16="http://schemas.microsoft.com/office/drawing/2014/main" id="{1F3C1EDD-6268-D532-97B9-680CC9BA2272}"/>
              </a:ext>
            </a:extLst>
          </p:cNvPr>
          <p:cNvSpPr/>
          <p:nvPr/>
        </p:nvSpPr>
        <p:spPr>
          <a:xfrm>
            <a:off x="3347864" y="4652122"/>
            <a:ext cx="864096" cy="576064"/>
          </a:xfrm>
          <a:prstGeom prst="ellipse">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A(5,2)</a:t>
            </a:r>
            <a:endParaRPr lang="zh-TW" altLang="en-US" sz="1400" dirty="0"/>
          </a:p>
        </p:txBody>
      </p:sp>
      <p:cxnSp>
        <p:nvCxnSpPr>
          <p:cNvPr id="57" name="直線單箭頭接點 56">
            <a:extLst>
              <a:ext uri="{FF2B5EF4-FFF2-40B4-BE49-F238E27FC236}">
                <a16:creationId xmlns:a16="http://schemas.microsoft.com/office/drawing/2014/main" id="{9592A540-32D5-B077-166D-63E675D583EA}"/>
              </a:ext>
            </a:extLst>
          </p:cNvPr>
          <p:cNvCxnSpPr>
            <a:cxnSpLocks/>
          </p:cNvCxnSpPr>
          <p:nvPr/>
        </p:nvCxnSpPr>
        <p:spPr>
          <a:xfrm flipV="1">
            <a:off x="2737385" y="5157192"/>
            <a:ext cx="610479" cy="4055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a:extLst>
              <a:ext uri="{FF2B5EF4-FFF2-40B4-BE49-F238E27FC236}">
                <a16:creationId xmlns:a16="http://schemas.microsoft.com/office/drawing/2014/main" id="{90CFE661-8DF3-EC01-EE20-38E91612FFF6}"/>
              </a:ext>
            </a:extLst>
          </p:cNvPr>
          <p:cNvCxnSpPr>
            <a:cxnSpLocks/>
          </p:cNvCxnSpPr>
          <p:nvPr/>
        </p:nvCxnSpPr>
        <p:spPr>
          <a:xfrm flipV="1">
            <a:off x="2347179" y="3519509"/>
            <a:ext cx="2891" cy="18079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線單箭頭接點 119">
            <a:extLst>
              <a:ext uri="{FF2B5EF4-FFF2-40B4-BE49-F238E27FC236}">
                <a16:creationId xmlns:a16="http://schemas.microsoft.com/office/drawing/2014/main" id="{44BB8976-C490-30EC-6CBA-265C63E750CE}"/>
              </a:ext>
            </a:extLst>
          </p:cNvPr>
          <p:cNvCxnSpPr>
            <a:cxnSpLocks/>
          </p:cNvCxnSpPr>
          <p:nvPr/>
        </p:nvCxnSpPr>
        <p:spPr>
          <a:xfrm flipV="1">
            <a:off x="2195736" y="4708858"/>
            <a:ext cx="0" cy="5937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單箭頭接點 113">
            <a:extLst>
              <a:ext uri="{FF2B5EF4-FFF2-40B4-BE49-F238E27FC236}">
                <a16:creationId xmlns:a16="http://schemas.microsoft.com/office/drawing/2014/main" id="{410110C7-FAD2-C945-1F36-6601B0C2A184}"/>
              </a:ext>
            </a:extLst>
          </p:cNvPr>
          <p:cNvCxnSpPr>
            <a:cxnSpLocks/>
          </p:cNvCxnSpPr>
          <p:nvPr/>
        </p:nvCxnSpPr>
        <p:spPr>
          <a:xfrm flipV="1">
            <a:off x="2564903" y="714787"/>
            <a:ext cx="993828" cy="3303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線單箭頭接點 111">
            <a:extLst>
              <a:ext uri="{FF2B5EF4-FFF2-40B4-BE49-F238E27FC236}">
                <a16:creationId xmlns:a16="http://schemas.microsoft.com/office/drawing/2014/main" id="{692192D2-952E-C23C-E3D5-5E9FC070CDF3}"/>
              </a:ext>
            </a:extLst>
          </p:cNvPr>
          <p:cNvCxnSpPr>
            <a:cxnSpLocks/>
          </p:cNvCxnSpPr>
          <p:nvPr/>
        </p:nvCxnSpPr>
        <p:spPr>
          <a:xfrm flipV="1">
            <a:off x="2577616" y="631252"/>
            <a:ext cx="885731" cy="23223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橢圓 14">
            <a:extLst>
              <a:ext uri="{FF2B5EF4-FFF2-40B4-BE49-F238E27FC236}">
                <a16:creationId xmlns:a16="http://schemas.microsoft.com/office/drawing/2014/main" id="{AB8EAB43-2B3E-F74B-F39D-27B342005095}"/>
              </a:ext>
            </a:extLst>
          </p:cNvPr>
          <p:cNvSpPr/>
          <p:nvPr/>
        </p:nvSpPr>
        <p:spPr>
          <a:xfrm>
            <a:off x="3341238" y="116632"/>
            <a:ext cx="864096" cy="576064"/>
          </a:xfrm>
          <a:prstGeom prst="ellipse">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A(5,6)</a:t>
            </a:r>
            <a:endParaRPr lang="zh-TW" altLang="en-US" sz="1400" dirty="0"/>
          </a:p>
        </p:txBody>
      </p:sp>
      <p:sp>
        <p:nvSpPr>
          <p:cNvPr id="18" name="橢圓 17">
            <a:extLst>
              <a:ext uri="{FF2B5EF4-FFF2-40B4-BE49-F238E27FC236}">
                <a16:creationId xmlns:a16="http://schemas.microsoft.com/office/drawing/2014/main" id="{FE0588E5-105B-12BD-EF3E-9EA0C8757118}"/>
              </a:ext>
            </a:extLst>
          </p:cNvPr>
          <p:cNvSpPr/>
          <p:nvPr/>
        </p:nvSpPr>
        <p:spPr>
          <a:xfrm>
            <a:off x="3341305" y="1679633"/>
            <a:ext cx="864096" cy="57606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T(2,3)</a:t>
            </a:r>
            <a:endParaRPr lang="zh-TW" altLang="en-US" sz="1400" dirty="0"/>
          </a:p>
        </p:txBody>
      </p:sp>
      <p:cxnSp>
        <p:nvCxnSpPr>
          <p:cNvPr id="45" name="直線單箭頭接點 44">
            <a:extLst>
              <a:ext uri="{FF2B5EF4-FFF2-40B4-BE49-F238E27FC236}">
                <a16:creationId xmlns:a16="http://schemas.microsoft.com/office/drawing/2014/main" id="{4A56A419-A8B6-0662-4EA0-CED656268F4E}"/>
              </a:ext>
            </a:extLst>
          </p:cNvPr>
          <p:cNvCxnSpPr>
            <a:cxnSpLocks/>
          </p:cNvCxnSpPr>
          <p:nvPr/>
        </p:nvCxnSpPr>
        <p:spPr>
          <a:xfrm flipV="1">
            <a:off x="2483768" y="625726"/>
            <a:ext cx="720080" cy="9712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EE364ACC-6EE1-E6C4-D760-EC23F0CAD619}"/>
              </a:ext>
            </a:extLst>
          </p:cNvPr>
          <p:cNvCxnSpPr>
            <a:cxnSpLocks/>
            <a:endCxn id="18" idx="2"/>
          </p:cNvCxnSpPr>
          <p:nvPr/>
        </p:nvCxnSpPr>
        <p:spPr>
          <a:xfrm flipV="1">
            <a:off x="2759288" y="1967665"/>
            <a:ext cx="582017" cy="45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單箭頭接點 71">
            <a:extLst>
              <a:ext uri="{FF2B5EF4-FFF2-40B4-BE49-F238E27FC236}">
                <a16:creationId xmlns:a16="http://schemas.microsoft.com/office/drawing/2014/main" id="{10EB1798-FE2D-BA92-F3C6-BD61EDFAE5F8}"/>
              </a:ext>
            </a:extLst>
          </p:cNvPr>
          <p:cNvCxnSpPr>
            <a:cxnSpLocks/>
          </p:cNvCxnSpPr>
          <p:nvPr/>
        </p:nvCxnSpPr>
        <p:spPr>
          <a:xfrm>
            <a:off x="2271259" y="2373426"/>
            <a:ext cx="0" cy="5040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線單箭頭接點 107">
            <a:extLst>
              <a:ext uri="{FF2B5EF4-FFF2-40B4-BE49-F238E27FC236}">
                <a16:creationId xmlns:a16="http://schemas.microsoft.com/office/drawing/2014/main" id="{F5F17BBC-CD3A-8157-FF47-CFF1DCE46C14}"/>
              </a:ext>
            </a:extLst>
          </p:cNvPr>
          <p:cNvCxnSpPr/>
          <p:nvPr/>
        </p:nvCxnSpPr>
        <p:spPr>
          <a:xfrm>
            <a:off x="2067811" y="2420888"/>
            <a:ext cx="0" cy="16474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橢圓 10">
            <a:extLst>
              <a:ext uri="{FF2B5EF4-FFF2-40B4-BE49-F238E27FC236}">
                <a16:creationId xmlns:a16="http://schemas.microsoft.com/office/drawing/2014/main" id="{51FF196C-2729-62BF-88D9-923232F91E04}"/>
              </a:ext>
            </a:extLst>
          </p:cNvPr>
          <p:cNvSpPr/>
          <p:nvPr/>
        </p:nvSpPr>
        <p:spPr>
          <a:xfrm>
            <a:off x="1835696" y="1700808"/>
            <a:ext cx="864096" cy="57606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A(1,2)</a:t>
            </a:r>
            <a:endParaRPr lang="zh-TW" altLang="en-US" sz="1400" dirty="0"/>
          </a:p>
        </p:txBody>
      </p:sp>
      <p:sp>
        <p:nvSpPr>
          <p:cNvPr id="12" name="橢圓 11">
            <a:extLst>
              <a:ext uri="{FF2B5EF4-FFF2-40B4-BE49-F238E27FC236}">
                <a16:creationId xmlns:a16="http://schemas.microsoft.com/office/drawing/2014/main" id="{0F090C34-5FEB-EBDE-C0A5-27564390F066}"/>
              </a:ext>
            </a:extLst>
          </p:cNvPr>
          <p:cNvSpPr/>
          <p:nvPr/>
        </p:nvSpPr>
        <p:spPr>
          <a:xfrm>
            <a:off x="1835696" y="2924944"/>
            <a:ext cx="864096" cy="576064"/>
          </a:xfrm>
          <a:prstGeom prst="ellipse">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C(3,5)</a:t>
            </a:r>
            <a:endParaRPr lang="zh-TW" altLang="en-US" sz="1400" dirty="0"/>
          </a:p>
        </p:txBody>
      </p:sp>
      <p:sp>
        <p:nvSpPr>
          <p:cNvPr id="13" name="橢圓 12">
            <a:extLst>
              <a:ext uri="{FF2B5EF4-FFF2-40B4-BE49-F238E27FC236}">
                <a16:creationId xmlns:a16="http://schemas.microsoft.com/office/drawing/2014/main" id="{9915C656-27B2-A136-17C2-7DA6C575B4FF}"/>
              </a:ext>
            </a:extLst>
          </p:cNvPr>
          <p:cNvSpPr/>
          <p:nvPr/>
        </p:nvSpPr>
        <p:spPr>
          <a:xfrm>
            <a:off x="1835696" y="4090459"/>
            <a:ext cx="864096" cy="576064"/>
          </a:xfrm>
          <a:prstGeom prst="ellipse">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G(4,4)</a:t>
            </a:r>
            <a:endParaRPr lang="zh-TW" altLang="en-US" sz="1400" dirty="0"/>
          </a:p>
        </p:txBody>
      </p:sp>
      <p:sp>
        <p:nvSpPr>
          <p:cNvPr id="14" name="橢圓 13">
            <a:extLst>
              <a:ext uri="{FF2B5EF4-FFF2-40B4-BE49-F238E27FC236}">
                <a16:creationId xmlns:a16="http://schemas.microsoft.com/office/drawing/2014/main" id="{8E21692F-FDDB-51B6-4620-8D6112D05BC7}"/>
              </a:ext>
            </a:extLst>
          </p:cNvPr>
          <p:cNvSpPr/>
          <p:nvPr/>
        </p:nvSpPr>
        <p:spPr>
          <a:xfrm>
            <a:off x="1835696" y="5314595"/>
            <a:ext cx="864096" cy="57606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T(2,1)</a:t>
            </a:r>
            <a:endParaRPr lang="zh-TW" altLang="en-US" sz="1400" dirty="0"/>
          </a:p>
        </p:txBody>
      </p:sp>
      <p:cxnSp>
        <p:nvCxnSpPr>
          <p:cNvPr id="38" name="直線單箭頭接點 37">
            <a:extLst>
              <a:ext uri="{FF2B5EF4-FFF2-40B4-BE49-F238E27FC236}">
                <a16:creationId xmlns:a16="http://schemas.microsoft.com/office/drawing/2014/main" id="{3B3B3725-6517-009D-258D-3A78764B8871}"/>
              </a:ext>
            </a:extLst>
          </p:cNvPr>
          <p:cNvCxnSpPr/>
          <p:nvPr/>
        </p:nvCxnSpPr>
        <p:spPr>
          <a:xfrm flipV="1">
            <a:off x="1187624" y="2276872"/>
            <a:ext cx="648072" cy="11052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a:extLst>
              <a:ext uri="{FF2B5EF4-FFF2-40B4-BE49-F238E27FC236}">
                <a16:creationId xmlns:a16="http://schemas.microsoft.com/office/drawing/2014/main" id="{EE8ED19E-BA2E-1C13-BF6D-F76937FF230B}"/>
              </a:ext>
            </a:extLst>
          </p:cNvPr>
          <p:cNvCxnSpPr>
            <a:cxnSpLocks/>
          </p:cNvCxnSpPr>
          <p:nvPr/>
        </p:nvCxnSpPr>
        <p:spPr>
          <a:xfrm>
            <a:off x="934007" y="4140561"/>
            <a:ext cx="901689" cy="11740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a:extLst>
              <a:ext uri="{FF2B5EF4-FFF2-40B4-BE49-F238E27FC236}">
                <a16:creationId xmlns:a16="http://schemas.microsoft.com/office/drawing/2014/main" id="{5AA9CE67-A69D-89C3-295F-F01AFE16AE52}"/>
              </a:ext>
            </a:extLst>
          </p:cNvPr>
          <p:cNvCxnSpPr>
            <a:cxnSpLocks/>
          </p:cNvCxnSpPr>
          <p:nvPr/>
        </p:nvCxnSpPr>
        <p:spPr>
          <a:xfrm flipV="1">
            <a:off x="1227820" y="3382073"/>
            <a:ext cx="607876" cy="2374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a:extLst>
              <a:ext uri="{FF2B5EF4-FFF2-40B4-BE49-F238E27FC236}">
                <a16:creationId xmlns:a16="http://schemas.microsoft.com/office/drawing/2014/main" id="{DD8486F1-6B24-E3FC-A881-451E4EB882A2}"/>
              </a:ext>
            </a:extLst>
          </p:cNvPr>
          <p:cNvCxnSpPr>
            <a:cxnSpLocks/>
          </p:cNvCxnSpPr>
          <p:nvPr/>
        </p:nvCxnSpPr>
        <p:spPr>
          <a:xfrm>
            <a:off x="1235561" y="3820724"/>
            <a:ext cx="496315" cy="4003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橢圓 3">
            <a:extLst>
              <a:ext uri="{FF2B5EF4-FFF2-40B4-BE49-F238E27FC236}">
                <a16:creationId xmlns:a16="http://schemas.microsoft.com/office/drawing/2014/main" id="{8F484074-B615-ECA3-73F4-226CEF319DBA}"/>
              </a:ext>
            </a:extLst>
          </p:cNvPr>
          <p:cNvSpPr/>
          <p:nvPr/>
        </p:nvSpPr>
        <p:spPr>
          <a:xfrm>
            <a:off x="323528" y="3429879"/>
            <a:ext cx="864096" cy="57606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0,0</a:t>
            </a:r>
            <a:endParaRPr lang="zh-TW" altLang="en-US" sz="1400" dirty="0"/>
          </a:p>
        </p:txBody>
      </p:sp>
      <mc:AlternateContent xmlns:mc="http://schemas.openxmlformats.org/markup-compatibility/2006" xmlns:a14="http://schemas.microsoft.com/office/drawing/2010/main">
        <mc:Choice Requires="a14">
          <p:sp>
            <p:nvSpPr>
              <p:cNvPr id="27" name="橢圓 26">
                <a:extLst>
                  <a:ext uri="{FF2B5EF4-FFF2-40B4-BE49-F238E27FC236}">
                    <a16:creationId xmlns:a16="http://schemas.microsoft.com/office/drawing/2014/main" id="{17186536-478A-BB62-C0B7-FA37FCB525E4}"/>
                  </a:ext>
                </a:extLst>
              </p:cNvPr>
              <p:cNvSpPr/>
              <p:nvPr/>
            </p:nvSpPr>
            <p:spPr>
              <a:xfrm>
                <a:off x="5789462" y="2591881"/>
                <a:ext cx="1008112" cy="57606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T(</a:t>
                </a:r>
                <a14:m>
                  <m:oMath xmlns:m="http://schemas.openxmlformats.org/officeDocument/2006/math">
                    <m:r>
                      <a:rPr lang="en-US" altLang="zh-TW" sz="1400" dirty="0" smtClean="0">
                        <a:latin typeface="Cambria Math" panose="02040503050406030204" pitchFamily="18" charset="0"/>
                      </a:rPr>
                      <m:t>∞</m:t>
                    </m:r>
                  </m:oMath>
                </a14:m>
                <a:r>
                  <a:rPr lang="en-US" altLang="zh-TW" sz="1400" dirty="0"/>
                  <a:t>,</a:t>
                </a:r>
                <a14:m>
                  <m:oMath xmlns:m="http://schemas.openxmlformats.org/officeDocument/2006/math">
                    <m:r>
                      <a:rPr lang="en-US" altLang="zh-TW" sz="1400" dirty="0" smtClean="0">
                        <a:latin typeface="Cambria Math" panose="02040503050406030204" pitchFamily="18" charset="0"/>
                      </a:rPr>
                      <m:t>∞</m:t>
                    </m:r>
                  </m:oMath>
                </a14:m>
                <a:r>
                  <a:rPr lang="en-US" altLang="zh-TW" sz="1400" dirty="0"/>
                  <a:t>)</a:t>
                </a:r>
                <a:endParaRPr lang="zh-TW" altLang="en-US" sz="1400" dirty="0"/>
              </a:p>
            </p:txBody>
          </p:sp>
        </mc:Choice>
        <mc:Fallback xmlns="">
          <p:sp>
            <p:nvSpPr>
              <p:cNvPr id="27" name="橢圓 26">
                <a:extLst>
                  <a:ext uri="{FF2B5EF4-FFF2-40B4-BE49-F238E27FC236}">
                    <a16:creationId xmlns:a16="http://schemas.microsoft.com/office/drawing/2014/main" id="{17186536-478A-BB62-C0B7-FA37FCB525E4}"/>
                  </a:ext>
                </a:extLst>
              </p:cNvPr>
              <p:cNvSpPr>
                <a:spLocks noRot="1" noChangeAspect="1" noMove="1" noResize="1" noEditPoints="1" noAdjustHandles="1" noChangeArrowheads="1" noChangeShapeType="1" noTextEdit="1"/>
              </p:cNvSpPr>
              <p:nvPr/>
            </p:nvSpPr>
            <p:spPr>
              <a:xfrm>
                <a:off x="5789462" y="2591881"/>
                <a:ext cx="1008112" cy="576064"/>
              </a:xfrm>
              <a:prstGeom prst="ellipse">
                <a:avLst/>
              </a:prstGeo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7063846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9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2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3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2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5" grpId="0" animBg="1"/>
      <p:bldP spid="18" grpId="0" animBg="1"/>
      <p:bldP spid="11" grpId="0" animBg="1"/>
      <p:bldP spid="12" grpId="0" animBg="1"/>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2" name="直線單箭頭接點 61">
            <a:extLst>
              <a:ext uri="{FF2B5EF4-FFF2-40B4-BE49-F238E27FC236}">
                <a16:creationId xmlns:a16="http://schemas.microsoft.com/office/drawing/2014/main" id="{FCEDA7C4-1E6B-7014-CB0A-05BBAEE5BCA3}"/>
              </a:ext>
            </a:extLst>
          </p:cNvPr>
          <p:cNvCxnSpPr>
            <a:cxnSpLocks/>
          </p:cNvCxnSpPr>
          <p:nvPr/>
        </p:nvCxnSpPr>
        <p:spPr>
          <a:xfrm flipV="1">
            <a:off x="4298543" y="3212976"/>
            <a:ext cx="1641609" cy="16065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直線單箭頭接點 126">
            <a:extLst>
              <a:ext uri="{FF2B5EF4-FFF2-40B4-BE49-F238E27FC236}">
                <a16:creationId xmlns:a16="http://schemas.microsoft.com/office/drawing/2014/main" id="{5BB88254-8CB1-948D-2AF8-5B0A973F3072}"/>
              </a:ext>
            </a:extLst>
          </p:cNvPr>
          <p:cNvCxnSpPr/>
          <p:nvPr/>
        </p:nvCxnSpPr>
        <p:spPr>
          <a:xfrm flipV="1">
            <a:off x="3802677" y="794620"/>
            <a:ext cx="24650" cy="7646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9" name="直線單箭頭接點 128">
            <a:extLst>
              <a:ext uri="{FF2B5EF4-FFF2-40B4-BE49-F238E27FC236}">
                <a16:creationId xmlns:a16="http://schemas.microsoft.com/office/drawing/2014/main" id="{4CDA8506-0242-3404-169A-1097261D2EA3}"/>
              </a:ext>
            </a:extLst>
          </p:cNvPr>
          <p:cNvCxnSpPr/>
          <p:nvPr/>
        </p:nvCxnSpPr>
        <p:spPr>
          <a:xfrm flipH="1">
            <a:off x="2699792" y="2276872"/>
            <a:ext cx="936104" cy="7920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0" name="直線單箭頭接點 129">
            <a:extLst>
              <a:ext uri="{FF2B5EF4-FFF2-40B4-BE49-F238E27FC236}">
                <a16:creationId xmlns:a16="http://schemas.microsoft.com/office/drawing/2014/main" id="{7C0A30EA-06AA-4009-7173-46F2BD785745}"/>
              </a:ext>
            </a:extLst>
          </p:cNvPr>
          <p:cNvCxnSpPr>
            <a:cxnSpLocks/>
            <a:stCxn id="18" idx="4"/>
          </p:cNvCxnSpPr>
          <p:nvPr/>
        </p:nvCxnSpPr>
        <p:spPr>
          <a:xfrm flipH="1">
            <a:off x="2661210" y="2255697"/>
            <a:ext cx="1112143" cy="19224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0" name="直線單箭頭接點 89">
            <a:extLst>
              <a:ext uri="{FF2B5EF4-FFF2-40B4-BE49-F238E27FC236}">
                <a16:creationId xmlns:a16="http://schemas.microsoft.com/office/drawing/2014/main" id="{35B57805-D04C-D866-3DC2-CDF380E9E822}"/>
              </a:ext>
            </a:extLst>
          </p:cNvPr>
          <p:cNvCxnSpPr>
            <a:cxnSpLocks/>
          </p:cNvCxnSpPr>
          <p:nvPr/>
        </p:nvCxnSpPr>
        <p:spPr>
          <a:xfrm>
            <a:off x="4268771" y="625726"/>
            <a:ext cx="1599373" cy="18671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橢圓 18">
            <a:extLst>
              <a:ext uri="{FF2B5EF4-FFF2-40B4-BE49-F238E27FC236}">
                <a16:creationId xmlns:a16="http://schemas.microsoft.com/office/drawing/2014/main" id="{1F3C1EDD-6268-D532-97B9-680CC9BA2272}"/>
              </a:ext>
            </a:extLst>
          </p:cNvPr>
          <p:cNvSpPr/>
          <p:nvPr/>
        </p:nvSpPr>
        <p:spPr>
          <a:xfrm>
            <a:off x="3347864" y="4652122"/>
            <a:ext cx="864096" cy="576064"/>
          </a:xfrm>
          <a:prstGeom prst="ellipse">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A(5,2)</a:t>
            </a:r>
            <a:endParaRPr lang="zh-TW" altLang="en-US" sz="1400" dirty="0"/>
          </a:p>
        </p:txBody>
      </p:sp>
      <p:cxnSp>
        <p:nvCxnSpPr>
          <p:cNvPr id="57" name="直線單箭頭接點 56">
            <a:extLst>
              <a:ext uri="{FF2B5EF4-FFF2-40B4-BE49-F238E27FC236}">
                <a16:creationId xmlns:a16="http://schemas.microsoft.com/office/drawing/2014/main" id="{9592A540-32D5-B077-166D-63E675D583EA}"/>
              </a:ext>
            </a:extLst>
          </p:cNvPr>
          <p:cNvCxnSpPr>
            <a:cxnSpLocks/>
          </p:cNvCxnSpPr>
          <p:nvPr/>
        </p:nvCxnSpPr>
        <p:spPr>
          <a:xfrm flipV="1">
            <a:off x="2737385" y="5157192"/>
            <a:ext cx="610479" cy="4055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a:extLst>
              <a:ext uri="{FF2B5EF4-FFF2-40B4-BE49-F238E27FC236}">
                <a16:creationId xmlns:a16="http://schemas.microsoft.com/office/drawing/2014/main" id="{90CFE661-8DF3-EC01-EE20-38E91612FFF6}"/>
              </a:ext>
            </a:extLst>
          </p:cNvPr>
          <p:cNvCxnSpPr>
            <a:cxnSpLocks/>
          </p:cNvCxnSpPr>
          <p:nvPr/>
        </p:nvCxnSpPr>
        <p:spPr>
          <a:xfrm flipV="1">
            <a:off x="2347179" y="3519509"/>
            <a:ext cx="2891" cy="18079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線單箭頭接點 119">
            <a:extLst>
              <a:ext uri="{FF2B5EF4-FFF2-40B4-BE49-F238E27FC236}">
                <a16:creationId xmlns:a16="http://schemas.microsoft.com/office/drawing/2014/main" id="{44BB8976-C490-30EC-6CBA-265C63E750CE}"/>
              </a:ext>
            </a:extLst>
          </p:cNvPr>
          <p:cNvCxnSpPr>
            <a:cxnSpLocks/>
          </p:cNvCxnSpPr>
          <p:nvPr/>
        </p:nvCxnSpPr>
        <p:spPr>
          <a:xfrm flipV="1">
            <a:off x="2195736" y="4708858"/>
            <a:ext cx="0" cy="5937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單箭頭接點 113">
            <a:extLst>
              <a:ext uri="{FF2B5EF4-FFF2-40B4-BE49-F238E27FC236}">
                <a16:creationId xmlns:a16="http://schemas.microsoft.com/office/drawing/2014/main" id="{410110C7-FAD2-C945-1F36-6601B0C2A184}"/>
              </a:ext>
            </a:extLst>
          </p:cNvPr>
          <p:cNvCxnSpPr>
            <a:cxnSpLocks/>
          </p:cNvCxnSpPr>
          <p:nvPr/>
        </p:nvCxnSpPr>
        <p:spPr>
          <a:xfrm flipV="1">
            <a:off x="2564903" y="714787"/>
            <a:ext cx="993828" cy="3303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線單箭頭接點 111">
            <a:extLst>
              <a:ext uri="{FF2B5EF4-FFF2-40B4-BE49-F238E27FC236}">
                <a16:creationId xmlns:a16="http://schemas.microsoft.com/office/drawing/2014/main" id="{692192D2-952E-C23C-E3D5-5E9FC070CDF3}"/>
              </a:ext>
            </a:extLst>
          </p:cNvPr>
          <p:cNvCxnSpPr>
            <a:cxnSpLocks/>
          </p:cNvCxnSpPr>
          <p:nvPr/>
        </p:nvCxnSpPr>
        <p:spPr>
          <a:xfrm flipV="1">
            <a:off x="2577616" y="631252"/>
            <a:ext cx="885731" cy="23223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橢圓 14">
            <a:extLst>
              <a:ext uri="{FF2B5EF4-FFF2-40B4-BE49-F238E27FC236}">
                <a16:creationId xmlns:a16="http://schemas.microsoft.com/office/drawing/2014/main" id="{AB8EAB43-2B3E-F74B-F39D-27B342005095}"/>
              </a:ext>
            </a:extLst>
          </p:cNvPr>
          <p:cNvSpPr/>
          <p:nvPr/>
        </p:nvSpPr>
        <p:spPr>
          <a:xfrm>
            <a:off x="3341238" y="116632"/>
            <a:ext cx="864096" cy="576064"/>
          </a:xfrm>
          <a:prstGeom prst="ellipse">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A(5,6)</a:t>
            </a:r>
            <a:endParaRPr lang="zh-TW" altLang="en-US" sz="1400" dirty="0"/>
          </a:p>
        </p:txBody>
      </p:sp>
      <p:sp>
        <p:nvSpPr>
          <p:cNvPr id="18" name="橢圓 17">
            <a:extLst>
              <a:ext uri="{FF2B5EF4-FFF2-40B4-BE49-F238E27FC236}">
                <a16:creationId xmlns:a16="http://schemas.microsoft.com/office/drawing/2014/main" id="{FE0588E5-105B-12BD-EF3E-9EA0C8757118}"/>
              </a:ext>
            </a:extLst>
          </p:cNvPr>
          <p:cNvSpPr/>
          <p:nvPr/>
        </p:nvSpPr>
        <p:spPr>
          <a:xfrm>
            <a:off x="3341305" y="1679633"/>
            <a:ext cx="864096" cy="57606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T(2,3)</a:t>
            </a:r>
            <a:endParaRPr lang="zh-TW" altLang="en-US" sz="1400" dirty="0"/>
          </a:p>
        </p:txBody>
      </p:sp>
      <p:cxnSp>
        <p:nvCxnSpPr>
          <p:cNvPr id="45" name="直線單箭頭接點 44">
            <a:extLst>
              <a:ext uri="{FF2B5EF4-FFF2-40B4-BE49-F238E27FC236}">
                <a16:creationId xmlns:a16="http://schemas.microsoft.com/office/drawing/2014/main" id="{4A56A419-A8B6-0662-4EA0-CED656268F4E}"/>
              </a:ext>
            </a:extLst>
          </p:cNvPr>
          <p:cNvCxnSpPr>
            <a:cxnSpLocks/>
          </p:cNvCxnSpPr>
          <p:nvPr/>
        </p:nvCxnSpPr>
        <p:spPr>
          <a:xfrm flipV="1">
            <a:off x="2483768" y="625726"/>
            <a:ext cx="720080" cy="9712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EE364ACC-6EE1-E6C4-D760-EC23F0CAD619}"/>
              </a:ext>
            </a:extLst>
          </p:cNvPr>
          <p:cNvCxnSpPr>
            <a:cxnSpLocks/>
            <a:endCxn id="18" idx="2"/>
          </p:cNvCxnSpPr>
          <p:nvPr/>
        </p:nvCxnSpPr>
        <p:spPr>
          <a:xfrm flipV="1">
            <a:off x="2759288" y="1967665"/>
            <a:ext cx="582017" cy="45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單箭頭接點 71">
            <a:extLst>
              <a:ext uri="{FF2B5EF4-FFF2-40B4-BE49-F238E27FC236}">
                <a16:creationId xmlns:a16="http://schemas.microsoft.com/office/drawing/2014/main" id="{10EB1798-FE2D-BA92-F3C6-BD61EDFAE5F8}"/>
              </a:ext>
            </a:extLst>
          </p:cNvPr>
          <p:cNvCxnSpPr>
            <a:cxnSpLocks/>
          </p:cNvCxnSpPr>
          <p:nvPr/>
        </p:nvCxnSpPr>
        <p:spPr>
          <a:xfrm>
            <a:off x="2271259" y="2373426"/>
            <a:ext cx="0" cy="5040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線單箭頭接點 107">
            <a:extLst>
              <a:ext uri="{FF2B5EF4-FFF2-40B4-BE49-F238E27FC236}">
                <a16:creationId xmlns:a16="http://schemas.microsoft.com/office/drawing/2014/main" id="{F5F17BBC-CD3A-8157-FF47-CFF1DCE46C14}"/>
              </a:ext>
            </a:extLst>
          </p:cNvPr>
          <p:cNvCxnSpPr/>
          <p:nvPr/>
        </p:nvCxnSpPr>
        <p:spPr>
          <a:xfrm>
            <a:off x="2067811" y="2420888"/>
            <a:ext cx="0" cy="16474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橢圓 10">
            <a:extLst>
              <a:ext uri="{FF2B5EF4-FFF2-40B4-BE49-F238E27FC236}">
                <a16:creationId xmlns:a16="http://schemas.microsoft.com/office/drawing/2014/main" id="{51FF196C-2729-62BF-88D9-923232F91E04}"/>
              </a:ext>
            </a:extLst>
          </p:cNvPr>
          <p:cNvSpPr/>
          <p:nvPr/>
        </p:nvSpPr>
        <p:spPr>
          <a:xfrm>
            <a:off x="1835696" y="1700808"/>
            <a:ext cx="864096" cy="57606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A(1,2)</a:t>
            </a:r>
            <a:endParaRPr lang="zh-TW" altLang="en-US" sz="1400" dirty="0"/>
          </a:p>
        </p:txBody>
      </p:sp>
      <p:sp>
        <p:nvSpPr>
          <p:cNvPr id="12" name="橢圓 11">
            <a:extLst>
              <a:ext uri="{FF2B5EF4-FFF2-40B4-BE49-F238E27FC236}">
                <a16:creationId xmlns:a16="http://schemas.microsoft.com/office/drawing/2014/main" id="{0F090C34-5FEB-EBDE-C0A5-27564390F066}"/>
              </a:ext>
            </a:extLst>
          </p:cNvPr>
          <p:cNvSpPr/>
          <p:nvPr/>
        </p:nvSpPr>
        <p:spPr>
          <a:xfrm>
            <a:off x="1835696" y="2924944"/>
            <a:ext cx="864096" cy="576064"/>
          </a:xfrm>
          <a:prstGeom prst="ellipse">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C(3,5)</a:t>
            </a:r>
            <a:endParaRPr lang="zh-TW" altLang="en-US" sz="1400" dirty="0"/>
          </a:p>
        </p:txBody>
      </p:sp>
      <p:sp>
        <p:nvSpPr>
          <p:cNvPr id="13" name="橢圓 12">
            <a:extLst>
              <a:ext uri="{FF2B5EF4-FFF2-40B4-BE49-F238E27FC236}">
                <a16:creationId xmlns:a16="http://schemas.microsoft.com/office/drawing/2014/main" id="{9915C656-27B2-A136-17C2-7DA6C575B4FF}"/>
              </a:ext>
            </a:extLst>
          </p:cNvPr>
          <p:cNvSpPr/>
          <p:nvPr/>
        </p:nvSpPr>
        <p:spPr>
          <a:xfrm>
            <a:off x="1835696" y="4090459"/>
            <a:ext cx="864096" cy="576064"/>
          </a:xfrm>
          <a:prstGeom prst="ellipse">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G(4,4)</a:t>
            </a:r>
            <a:endParaRPr lang="zh-TW" altLang="en-US" sz="1400" dirty="0"/>
          </a:p>
        </p:txBody>
      </p:sp>
      <p:sp>
        <p:nvSpPr>
          <p:cNvPr id="14" name="橢圓 13">
            <a:extLst>
              <a:ext uri="{FF2B5EF4-FFF2-40B4-BE49-F238E27FC236}">
                <a16:creationId xmlns:a16="http://schemas.microsoft.com/office/drawing/2014/main" id="{8E21692F-FDDB-51B6-4620-8D6112D05BC7}"/>
              </a:ext>
            </a:extLst>
          </p:cNvPr>
          <p:cNvSpPr/>
          <p:nvPr/>
        </p:nvSpPr>
        <p:spPr>
          <a:xfrm>
            <a:off x="1835696" y="5314595"/>
            <a:ext cx="864096" cy="57606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T(2,1)</a:t>
            </a:r>
            <a:endParaRPr lang="zh-TW" altLang="en-US" sz="1400" dirty="0"/>
          </a:p>
        </p:txBody>
      </p:sp>
      <p:cxnSp>
        <p:nvCxnSpPr>
          <p:cNvPr id="38" name="直線單箭頭接點 37">
            <a:extLst>
              <a:ext uri="{FF2B5EF4-FFF2-40B4-BE49-F238E27FC236}">
                <a16:creationId xmlns:a16="http://schemas.microsoft.com/office/drawing/2014/main" id="{3B3B3725-6517-009D-258D-3A78764B8871}"/>
              </a:ext>
            </a:extLst>
          </p:cNvPr>
          <p:cNvCxnSpPr/>
          <p:nvPr/>
        </p:nvCxnSpPr>
        <p:spPr>
          <a:xfrm flipV="1">
            <a:off x="1187624" y="2276872"/>
            <a:ext cx="648072" cy="11052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a:extLst>
              <a:ext uri="{FF2B5EF4-FFF2-40B4-BE49-F238E27FC236}">
                <a16:creationId xmlns:a16="http://schemas.microsoft.com/office/drawing/2014/main" id="{EE8ED19E-BA2E-1C13-BF6D-F76937FF230B}"/>
              </a:ext>
            </a:extLst>
          </p:cNvPr>
          <p:cNvCxnSpPr>
            <a:cxnSpLocks/>
          </p:cNvCxnSpPr>
          <p:nvPr/>
        </p:nvCxnSpPr>
        <p:spPr>
          <a:xfrm>
            <a:off x="934007" y="4140561"/>
            <a:ext cx="901689" cy="11740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a:extLst>
              <a:ext uri="{FF2B5EF4-FFF2-40B4-BE49-F238E27FC236}">
                <a16:creationId xmlns:a16="http://schemas.microsoft.com/office/drawing/2014/main" id="{5AA9CE67-A69D-89C3-295F-F01AFE16AE52}"/>
              </a:ext>
            </a:extLst>
          </p:cNvPr>
          <p:cNvCxnSpPr>
            <a:cxnSpLocks/>
          </p:cNvCxnSpPr>
          <p:nvPr/>
        </p:nvCxnSpPr>
        <p:spPr>
          <a:xfrm flipV="1">
            <a:off x="1227820" y="3382073"/>
            <a:ext cx="607876" cy="2374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a:extLst>
              <a:ext uri="{FF2B5EF4-FFF2-40B4-BE49-F238E27FC236}">
                <a16:creationId xmlns:a16="http://schemas.microsoft.com/office/drawing/2014/main" id="{DD8486F1-6B24-E3FC-A881-451E4EB882A2}"/>
              </a:ext>
            </a:extLst>
          </p:cNvPr>
          <p:cNvCxnSpPr>
            <a:cxnSpLocks/>
          </p:cNvCxnSpPr>
          <p:nvPr/>
        </p:nvCxnSpPr>
        <p:spPr>
          <a:xfrm>
            <a:off x="1235561" y="3820724"/>
            <a:ext cx="496315" cy="4003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橢圓 3">
            <a:extLst>
              <a:ext uri="{FF2B5EF4-FFF2-40B4-BE49-F238E27FC236}">
                <a16:creationId xmlns:a16="http://schemas.microsoft.com/office/drawing/2014/main" id="{8F484074-B615-ECA3-73F4-226CEF319DBA}"/>
              </a:ext>
            </a:extLst>
          </p:cNvPr>
          <p:cNvSpPr/>
          <p:nvPr/>
        </p:nvSpPr>
        <p:spPr>
          <a:xfrm>
            <a:off x="323528" y="3429879"/>
            <a:ext cx="864096" cy="57606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0,0</a:t>
            </a:r>
            <a:endParaRPr lang="zh-TW" altLang="en-US" sz="1400" dirty="0"/>
          </a:p>
        </p:txBody>
      </p:sp>
      <mc:AlternateContent xmlns:mc="http://schemas.openxmlformats.org/markup-compatibility/2006" xmlns:a14="http://schemas.microsoft.com/office/drawing/2010/main">
        <mc:Choice Requires="a14">
          <p:sp>
            <p:nvSpPr>
              <p:cNvPr id="27" name="橢圓 26">
                <a:extLst>
                  <a:ext uri="{FF2B5EF4-FFF2-40B4-BE49-F238E27FC236}">
                    <a16:creationId xmlns:a16="http://schemas.microsoft.com/office/drawing/2014/main" id="{17186536-478A-BB62-C0B7-FA37FCB525E4}"/>
                  </a:ext>
                </a:extLst>
              </p:cNvPr>
              <p:cNvSpPr/>
              <p:nvPr/>
            </p:nvSpPr>
            <p:spPr>
              <a:xfrm>
                <a:off x="5789462" y="2591881"/>
                <a:ext cx="1008112" cy="57606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T(</a:t>
                </a:r>
                <a14:m>
                  <m:oMath xmlns:m="http://schemas.openxmlformats.org/officeDocument/2006/math">
                    <m:r>
                      <a:rPr lang="en-US" altLang="zh-TW" sz="1400" dirty="0" smtClean="0">
                        <a:latin typeface="Cambria Math" panose="02040503050406030204" pitchFamily="18" charset="0"/>
                      </a:rPr>
                      <m:t>∞</m:t>
                    </m:r>
                  </m:oMath>
                </a14:m>
                <a:r>
                  <a:rPr lang="en-US" altLang="zh-TW" sz="1400" dirty="0"/>
                  <a:t>,</a:t>
                </a:r>
                <a14:m>
                  <m:oMath xmlns:m="http://schemas.openxmlformats.org/officeDocument/2006/math">
                    <m:r>
                      <a:rPr lang="en-US" altLang="zh-TW" sz="1400" dirty="0" smtClean="0">
                        <a:latin typeface="Cambria Math" panose="02040503050406030204" pitchFamily="18" charset="0"/>
                      </a:rPr>
                      <m:t>∞</m:t>
                    </m:r>
                  </m:oMath>
                </a14:m>
                <a:r>
                  <a:rPr lang="en-US" altLang="zh-TW" sz="1400" dirty="0"/>
                  <a:t>)</a:t>
                </a:r>
                <a:endParaRPr lang="zh-TW" altLang="en-US" sz="1400" dirty="0"/>
              </a:p>
            </p:txBody>
          </p:sp>
        </mc:Choice>
        <mc:Fallback xmlns="">
          <p:sp>
            <p:nvSpPr>
              <p:cNvPr id="27" name="橢圓 26">
                <a:extLst>
                  <a:ext uri="{FF2B5EF4-FFF2-40B4-BE49-F238E27FC236}">
                    <a16:creationId xmlns:a16="http://schemas.microsoft.com/office/drawing/2014/main" id="{17186536-478A-BB62-C0B7-FA37FCB525E4}"/>
                  </a:ext>
                </a:extLst>
              </p:cNvPr>
              <p:cNvSpPr>
                <a:spLocks noRot="1" noChangeAspect="1" noMove="1" noResize="1" noEditPoints="1" noAdjustHandles="1" noChangeArrowheads="1" noChangeShapeType="1" noTextEdit="1"/>
              </p:cNvSpPr>
              <p:nvPr/>
            </p:nvSpPr>
            <p:spPr>
              <a:xfrm>
                <a:off x="5789462" y="2591881"/>
                <a:ext cx="1008112" cy="576064"/>
              </a:xfrm>
              <a:prstGeom prst="ellipse">
                <a:avLst/>
              </a:prstGeom>
              <a:blipFill>
                <a:blip r:embed="rId3"/>
                <a:stretch>
                  <a:fillRect/>
                </a:stretch>
              </a:blipFill>
            </p:spPr>
            <p:txBody>
              <a:bodyPr/>
              <a:lstStyle/>
              <a:p>
                <a:r>
                  <a:rPr lang="zh-TW" altLang="en-US">
                    <a:noFill/>
                  </a:rPr>
                  <a:t> </a:t>
                </a:r>
              </a:p>
            </p:txBody>
          </p:sp>
        </mc:Fallback>
      </mc:AlternateContent>
      <p:sp>
        <p:nvSpPr>
          <p:cNvPr id="3" name="文字方塊 2">
            <a:extLst>
              <a:ext uri="{FF2B5EF4-FFF2-40B4-BE49-F238E27FC236}">
                <a16:creationId xmlns:a16="http://schemas.microsoft.com/office/drawing/2014/main" id="{608ABE41-178D-D557-A8AF-63C9CD27643D}"/>
              </a:ext>
            </a:extLst>
          </p:cNvPr>
          <p:cNvSpPr txBox="1"/>
          <p:nvPr/>
        </p:nvSpPr>
        <p:spPr>
          <a:xfrm>
            <a:off x="1994450" y="1142228"/>
            <a:ext cx="570453" cy="369332"/>
          </a:xfrm>
          <a:prstGeom prst="rect">
            <a:avLst/>
          </a:prstGeom>
          <a:noFill/>
        </p:spPr>
        <p:txBody>
          <a:bodyPr wrap="square" rtlCol="0">
            <a:spAutoFit/>
          </a:bodyPr>
          <a:lstStyle/>
          <a:p>
            <a:r>
              <a:rPr lang="en-US" altLang="zh-TW" dirty="0">
                <a:solidFill>
                  <a:srgbClr val="FFC000"/>
                </a:solidFill>
              </a:rPr>
              <a:t>1,1</a:t>
            </a:r>
          </a:p>
        </p:txBody>
      </p:sp>
      <p:sp>
        <p:nvSpPr>
          <p:cNvPr id="7" name="文字方塊 6">
            <a:extLst>
              <a:ext uri="{FF2B5EF4-FFF2-40B4-BE49-F238E27FC236}">
                <a16:creationId xmlns:a16="http://schemas.microsoft.com/office/drawing/2014/main" id="{627D5DAE-E8D4-96A5-68C5-47A315D58BDA}"/>
              </a:ext>
            </a:extLst>
          </p:cNvPr>
          <p:cNvSpPr txBox="1"/>
          <p:nvPr/>
        </p:nvSpPr>
        <p:spPr>
          <a:xfrm>
            <a:off x="1461528" y="2811499"/>
            <a:ext cx="628625" cy="369332"/>
          </a:xfrm>
          <a:prstGeom prst="rect">
            <a:avLst/>
          </a:prstGeom>
          <a:noFill/>
        </p:spPr>
        <p:txBody>
          <a:bodyPr wrap="square">
            <a:spAutoFit/>
          </a:bodyPr>
          <a:lstStyle/>
          <a:p>
            <a:r>
              <a:rPr lang="en-US" altLang="zh-TW" dirty="0">
                <a:solidFill>
                  <a:srgbClr val="FFC000"/>
                </a:solidFill>
              </a:rPr>
              <a:t>2,4</a:t>
            </a:r>
          </a:p>
        </p:txBody>
      </p:sp>
      <p:sp>
        <p:nvSpPr>
          <p:cNvPr id="8" name="文字方塊 7">
            <a:extLst>
              <a:ext uri="{FF2B5EF4-FFF2-40B4-BE49-F238E27FC236}">
                <a16:creationId xmlns:a16="http://schemas.microsoft.com/office/drawing/2014/main" id="{B5E07852-10D0-26EB-55E3-1CD4BF0D597F}"/>
              </a:ext>
            </a:extLst>
          </p:cNvPr>
          <p:cNvSpPr txBox="1"/>
          <p:nvPr/>
        </p:nvSpPr>
        <p:spPr>
          <a:xfrm>
            <a:off x="1592425" y="3758852"/>
            <a:ext cx="628625" cy="369332"/>
          </a:xfrm>
          <a:prstGeom prst="rect">
            <a:avLst/>
          </a:prstGeom>
          <a:noFill/>
        </p:spPr>
        <p:txBody>
          <a:bodyPr wrap="square">
            <a:spAutoFit/>
          </a:bodyPr>
          <a:lstStyle/>
          <a:p>
            <a:r>
              <a:rPr lang="en-US" altLang="zh-TW" dirty="0">
                <a:solidFill>
                  <a:srgbClr val="FFC000"/>
                </a:solidFill>
              </a:rPr>
              <a:t>3,4</a:t>
            </a:r>
          </a:p>
        </p:txBody>
      </p:sp>
      <p:sp>
        <p:nvSpPr>
          <p:cNvPr id="9" name="文字方塊 8">
            <a:extLst>
              <a:ext uri="{FF2B5EF4-FFF2-40B4-BE49-F238E27FC236}">
                <a16:creationId xmlns:a16="http://schemas.microsoft.com/office/drawing/2014/main" id="{AE2922A5-F7C1-A76F-FF7D-68BE81434DAB}"/>
              </a:ext>
            </a:extLst>
          </p:cNvPr>
          <p:cNvSpPr txBox="1"/>
          <p:nvPr/>
        </p:nvSpPr>
        <p:spPr>
          <a:xfrm>
            <a:off x="1784724" y="4945263"/>
            <a:ext cx="628625" cy="369332"/>
          </a:xfrm>
          <a:prstGeom prst="rect">
            <a:avLst/>
          </a:prstGeom>
          <a:noFill/>
        </p:spPr>
        <p:txBody>
          <a:bodyPr wrap="square">
            <a:spAutoFit/>
          </a:bodyPr>
          <a:lstStyle/>
          <a:p>
            <a:r>
              <a:rPr lang="en-US" altLang="zh-TW" dirty="0">
                <a:solidFill>
                  <a:srgbClr val="FFC000"/>
                </a:solidFill>
              </a:rPr>
              <a:t>4,1</a:t>
            </a:r>
          </a:p>
        </p:txBody>
      </p:sp>
      <p:sp>
        <p:nvSpPr>
          <p:cNvPr id="10" name="文字方塊 9">
            <a:extLst>
              <a:ext uri="{FF2B5EF4-FFF2-40B4-BE49-F238E27FC236}">
                <a16:creationId xmlns:a16="http://schemas.microsoft.com/office/drawing/2014/main" id="{C1690C41-AE51-A658-5916-F0EF4CB84D48}"/>
              </a:ext>
            </a:extLst>
          </p:cNvPr>
          <p:cNvSpPr txBox="1"/>
          <p:nvPr/>
        </p:nvSpPr>
        <p:spPr>
          <a:xfrm>
            <a:off x="2843808" y="32609"/>
            <a:ext cx="570453" cy="369332"/>
          </a:xfrm>
          <a:prstGeom prst="rect">
            <a:avLst/>
          </a:prstGeom>
          <a:noFill/>
        </p:spPr>
        <p:txBody>
          <a:bodyPr wrap="square" rtlCol="0">
            <a:spAutoFit/>
          </a:bodyPr>
          <a:lstStyle/>
          <a:p>
            <a:r>
              <a:rPr lang="en-US" altLang="zh-TW" dirty="0">
                <a:solidFill>
                  <a:srgbClr val="FFC000"/>
                </a:solidFill>
              </a:rPr>
              <a:t>5,4</a:t>
            </a:r>
          </a:p>
        </p:txBody>
      </p:sp>
      <p:sp>
        <p:nvSpPr>
          <p:cNvPr id="16" name="文字方塊 15">
            <a:extLst>
              <a:ext uri="{FF2B5EF4-FFF2-40B4-BE49-F238E27FC236}">
                <a16:creationId xmlns:a16="http://schemas.microsoft.com/office/drawing/2014/main" id="{4533F7A9-1DEF-7117-62DC-BEA9444D3050}"/>
              </a:ext>
            </a:extLst>
          </p:cNvPr>
          <p:cNvSpPr txBox="1"/>
          <p:nvPr/>
        </p:nvSpPr>
        <p:spPr>
          <a:xfrm>
            <a:off x="3334338" y="1326894"/>
            <a:ext cx="570453" cy="369332"/>
          </a:xfrm>
          <a:prstGeom prst="rect">
            <a:avLst/>
          </a:prstGeom>
          <a:noFill/>
        </p:spPr>
        <p:txBody>
          <a:bodyPr wrap="square" rtlCol="0">
            <a:spAutoFit/>
          </a:bodyPr>
          <a:lstStyle/>
          <a:p>
            <a:r>
              <a:rPr lang="en-US" altLang="zh-TW" dirty="0">
                <a:solidFill>
                  <a:srgbClr val="FFC000"/>
                </a:solidFill>
              </a:rPr>
              <a:t>6,1</a:t>
            </a:r>
          </a:p>
        </p:txBody>
      </p:sp>
      <p:sp>
        <p:nvSpPr>
          <p:cNvPr id="17" name="文字方塊 16">
            <a:extLst>
              <a:ext uri="{FF2B5EF4-FFF2-40B4-BE49-F238E27FC236}">
                <a16:creationId xmlns:a16="http://schemas.microsoft.com/office/drawing/2014/main" id="{B74E1B0A-A3AE-D56E-4E1B-E575DBA464FE}"/>
              </a:ext>
            </a:extLst>
          </p:cNvPr>
          <p:cNvSpPr txBox="1"/>
          <p:nvPr/>
        </p:nvSpPr>
        <p:spPr>
          <a:xfrm>
            <a:off x="3411081" y="4178778"/>
            <a:ext cx="570453" cy="369332"/>
          </a:xfrm>
          <a:prstGeom prst="rect">
            <a:avLst/>
          </a:prstGeom>
          <a:noFill/>
        </p:spPr>
        <p:txBody>
          <a:bodyPr wrap="square" rtlCol="0">
            <a:spAutoFit/>
          </a:bodyPr>
          <a:lstStyle/>
          <a:p>
            <a:r>
              <a:rPr lang="en-US" altLang="zh-TW" dirty="0">
                <a:solidFill>
                  <a:srgbClr val="FFC000"/>
                </a:solidFill>
              </a:rPr>
              <a:t>7,1</a:t>
            </a:r>
          </a:p>
        </p:txBody>
      </p:sp>
    </p:spTree>
    <p:extLst>
      <p:ext uri="{BB962C8B-B14F-4D97-AF65-F5344CB8AC3E}">
        <p14:creationId xmlns:p14="http://schemas.microsoft.com/office/powerpoint/2010/main" val="408565066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2E802CEF-CD82-366C-76B1-9032DF790076}"/>
              </a:ext>
            </a:extLst>
          </p:cNvPr>
          <p:cNvPicPr>
            <a:picLocks noChangeAspect="1"/>
          </p:cNvPicPr>
          <p:nvPr/>
        </p:nvPicPr>
        <p:blipFill>
          <a:blip r:embed="rId3"/>
          <a:stretch>
            <a:fillRect/>
          </a:stretch>
        </p:blipFill>
        <p:spPr>
          <a:xfrm>
            <a:off x="484583" y="3268275"/>
            <a:ext cx="7762875" cy="2200275"/>
          </a:xfrm>
          <a:prstGeom prst="rect">
            <a:avLst/>
          </a:prstGeom>
        </p:spPr>
      </p:pic>
      <p:pic>
        <p:nvPicPr>
          <p:cNvPr id="7" name="圖片 6">
            <a:extLst>
              <a:ext uri="{FF2B5EF4-FFF2-40B4-BE49-F238E27FC236}">
                <a16:creationId xmlns:a16="http://schemas.microsoft.com/office/drawing/2014/main" id="{C956D5AF-7291-4B5C-1FE6-C171420B3B1A}"/>
              </a:ext>
            </a:extLst>
          </p:cNvPr>
          <p:cNvPicPr>
            <a:picLocks noChangeAspect="1"/>
          </p:cNvPicPr>
          <p:nvPr/>
        </p:nvPicPr>
        <p:blipFill>
          <a:blip r:embed="rId4"/>
          <a:stretch>
            <a:fillRect/>
          </a:stretch>
        </p:blipFill>
        <p:spPr>
          <a:xfrm>
            <a:off x="565545" y="1052736"/>
            <a:ext cx="7600950" cy="1743075"/>
          </a:xfrm>
          <a:prstGeom prst="rect">
            <a:avLst/>
          </a:prstGeom>
        </p:spPr>
      </p:pic>
    </p:spTree>
    <p:extLst>
      <p:ext uri="{BB962C8B-B14F-4D97-AF65-F5344CB8AC3E}">
        <p14:creationId xmlns:p14="http://schemas.microsoft.com/office/powerpoint/2010/main" val="153065803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圖片 33">
            <a:extLst>
              <a:ext uri="{FF2B5EF4-FFF2-40B4-BE49-F238E27FC236}">
                <a16:creationId xmlns:a16="http://schemas.microsoft.com/office/drawing/2014/main" id="{A891135E-82A2-421C-8C10-AB4DDB9CD5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7584" y="2381608"/>
            <a:ext cx="7128792" cy="4476392"/>
          </a:xfrm>
          <a:prstGeom prst="rect">
            <a:avLst/>
          </a:prstGeom>
        </p:spPr>
      </p:pic>
      <p:graphicFrame>
        <p:nvGraphicFramePr>
          <p:cNvPr id="53" name="表格 5">
            <a:extLst>
              <a:ext uri="{FF2B5EF4-FFF2-40B4-BE49-F238E27FC236}">
                <a16:creationId xmlns:a16="http://schemas.microsoft.com/office/drawing/2014/main" id="{2CB5C641-79A4-4825-AF62-4AF55A16A075}"/>
              </a:ext>
            </a:extLst>
          </p:cNvPr>
          <p:cNvGraphicFramePr>
            <a:graphicFrameLocks noGrp="1"/>
          </p:cNvGraphicFramePr>
          <p:nvPr>
            <p:extLst>
              <p:ext uri="{D42A27DB-BD31-4B8C-83A1-F6EECF244321}">
                <p14:modId xmlns:p14="http://schemas.microsoft.com/office/powerpoint/2010/main" val="976985341"/>
              </p:ext>
            </p:extLst>
          </p:nvPr>
        </p:nvGraphicFramePr>
        <p:xfrm>
          <a:off x="683568" y="1274168"/>
          <a:ext cx="6095999" cy="1107440"/>
        </p:xfrm>
        <a:graphic>
          <a:graphicData uri="http://schemas.openxmlformats.org/drawingml/2006/table">
            <a:tbl>
              <a:tblPr firstRow="1" bandRow="1">
                <a:tableStyleId>{5C22544A-7EE6-4342-B048-85BDC9FD1C3A}</a:tableStyleId>
              </a:tblPr>
              <a:tblGrid>
                <a:gridCol w="870857">
                  <a:extLst>
                    <a:ext uri="{9D8B030D-6E8A-4147-A177-3AD203B41FA5}">
                      <a16:colId xmlns:a16="http://schemas.microsoft.com/office/drawing/2014/main" val="3711817525"/>
                    </a:ext>
                  </a:extLst>
                </a:gridCol>
                <a:gridCol w="870857">
                  <a:extLst>
                    <a:ext uri="{9D8B030D-6E8A-4147-A177-3AD203B41FA5}">
                      <a16:colId xmlns:a16="http://schemas.microsoft.com/office/drawing/2014/main" val="3654660981"/>
                    </a:ext>
                  </a:extLst>
                </a:gridCol>
                <a:gridCol w="870857">
                  <a:extLst>
                    <a:ext uri="{9D8B030D-6E8A-4147-A177-3AD203B41FA5}">
                      <a16:colId xmlns:a16="http://schemas.microsoft.com/office/drawing/2014/main" val="2020264473"/>
                    </a:ext>
                  </a:extLst>
                </a:gridCol>
                <a:gridCol w="870857">
                  <a:extLst>
                    <a:ext uri="{9D8B030D-6E8A-4147-A177-3AD203B41FA5}">
                      <a16:colId xmlns:a16="http://schemas.microsoft.com/office/drawing/2014/main" val="8618211"/>
                    </a:ext>
                  </a:extLst>
                </a:gridCol>
                <a:gridCol w="870857">
                  <a:extLst>
                    <a:ext uri="{9D8B030D-6E8A-4147-A177-3AD203B41FA5}">
                      <a16:colId xmlns:a16="http://schemas.microsoft.com/office/drawing/2014/main" val="186673738"/>
                    </a:ext>
                  </a:extLst>
                </a:gridCol>
                <a:gridCol w="870857">
                  <a:extLst>
                    <a:ext uri="{9D8B030D-6E8A-4147-A177-3AD203B41FA5}">
                      <a16:colId xmlns:a16="http://schemas.microsoft.com/office/drawing/2014/main" val="45123727"/>
                    </a:ext>
                  </a:extLst>
                </a:gridCol>
                <a:gridCol w="870857">
                  <a:extLst>
                    <a:ext uri="{9D8B030D-6E8A-4147-A177-3AD203B41FA5}">
                      <a16:colId xmlns:a16="http://schemas.microsoft.com/office/drawing/2014/main" val="3557168847"/>
                    </a:ext>
                  </a:extLst>
                </a:gridCol>
              </a:tblGrid>
              <a:tr h="37084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extLst>
                  <a:ext uri="{0D108BD9-81ED-4DB2-BD59-A6C34878D82A}">
                    <a16:rowId xmlns:a16="http://schemas.microsoft.com/office/drawing/2014/main" val="2782684400"/>
                  </a:ext>
                </a:extLst>
              </a:tr>
              <a:tr h="370840">
                <a:tc>
                  <a:txBody>
                    <a:bodyPr/>
                    <a:lstStyle/>
                    <a:p>
                      <a:r>
                        <a:rPr lang="en-US" altLang="zh-TW" dirty="0"/>
                        <a:t>S’1</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1(A)</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3(T)</a:t>
                      </a:r>
                      <a:endParaRPr lang="zh-TW" altLang="en-US" dirty="0"/>
                    </a:p>
                  </a:txBody>
                  <a:tcPr/>
                </a:tc>
                <a:tc>
                  <a:txBody>
                    <a:bodyPr/>
                    <a:lstStyle/>
                    <a:p>
                      <a:r>
                        <a:rPr lang="en-US" altLang="zh-TW" dirty="0"/>
                        <a:t>1(C)</a:t>
                      </a:r>
                      <a:endParaRPr lang="zh-TW" altLang="en-US" dirty="0"/>
                    </a:p>
                  </a:txBody>
                  <a:tcPr/>
                </a:tc>
                <a:tc>
                  <a:txBody>
                    <a:bodyPr/>
                    <a:lstStyle/>
                    <a:p>
                      <a:r>
                        <a:rPr lang="en-US" altLang="zh-TW" dirty="0"/>
                        <a:t>2(G)</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1(A)</a:t>
                      </a:r>
                      <a:endParaRPr lang="zh-TW" altLang="en-US" dirty="0"/>
                    </a:p>
                  </a:txBody>
                  <a:tcPr/>
                </a:tc>
                <a:tc>
                  <a:txBody>
                    <a:bodyPr/>
                    <a:lstStyle/>
                    <a:p>
                      <a:endParaRPr lang="zh-TW" altLang="en-US" dirty="0"/>
                    </a:p>
                  </a:txBody>
                  <a:tcPr/>
                </a:tc>
                <a:extLst>
                  <a:ext uri="{0D108BD9-81ED-4DB2-BD59-A6C34878D82A}">
                    <a16:rowId xmlns:a16="http://schemas.microsoft.com/office/drawing/2014/main" val="923204904"/>
                  </a:ext>
                </a:extLst>
              </a:tr>
              <a:tr h="350336">
                <a:tc>
                  <a:txBody>
                    <a:bodyPr/>
                    <a:lstStyle/>
                    <a:p>
                      <a:r>
                        <a:rPr lang="en-US" altLang="zh-TW" dirty="0"/>
                        <a:t>S’2</a:t>
                      </a:r>
                      <a:endParaRPr lang="zh-TW" altLang="en-US" dirty="0"/>
                    </a:p>
                  </a:txBody>
                  <a:tcPr/>
                </a:tc>
                <a:tc>
                  <a:txBody>
                    <a:bodyPr/>
                    <a:lstStyle/>
                    <a:p>
                      <a:r>
                        <a:rPr lang="en-US" altLang="zh-TW" dirty="0"/>
                        <a:t>2(T)</a:t>
                      </a:r>
                      <a:endParaRPr lang="zh-TW" altLang="en-US" dirty="0"/>
                    </a:p>
                  </a:txBody>
                  <a:tcPr/>
                </a:tc>
                <a:tc>
                  <a:txBody>
                    <a:bodyPr/>
                    <a:lstStyle/>
                    <a:p>
                      <a:r>
                        <a:rPr lang="en-US" altLang="zh-TW" dirty="0"/>
                        <a:t>1(A)</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1(T)</a:t>
                      </a:r>
                      <a:endParaRPr lang="zh-TW" altLang="en-US" dirty="0"/>
                    </a:p>
                  </a:txBody>
                  <a:tcPr/>
                </a:tc>
                <a:tc>
                  <a:txBody>
                    <a:bodyPr/>
                    <a:lstStyle/>
                    <a:p>
                      <a:r>
                        <a:rPr lang="en-US" altLang="zh-TW" dirty="0"/>
                        <a:t>1(G)</a:t>
                      </a:r>
                      <a:endParaRPr lang="zh-TW" altLang="en-US" dirty="0"/>
                    </a:p>
                  </a:txBody>
                  <a:tcPr/>
                </a:tc>
                <a:tc>
                  <a:txBody>
                    <a:bodyPr/>
                    <a:lstStyle/>
                    <a:p>
                      <a:r>
                        <a:rPr lang="en-US" altLang="zh-TW" dirty="0"/>
                        <a:t>2(C)</a:t>
                      </a:r>
                      <a:endParaRPr lang="zh-TW" altLang="en-US" dirty="0"/>
                    </a:p>
                  </a:txBody>
                  <a:tcPr/>
                </a:tc>
                <a:tc>
                  <a:txBody>
                    <a:bodyPr/>
                    <a:lstStyle/>
                    <a:p>
                      <a:r>
                        <a:rPr lang="en-US" altLang="zh-TW" dirty="0"/>
                        <a:t>1(A)</a:t>
                      </a:r>
                      <a:endParaRPr lang="zh-TW" altLang="en-US" dirty="0"/>
                    </a:p>
                  </a:txBody>
                  <a:tcPr/>
                </a:tc>
                <a:extLst>
                  <a:ext uri="{0D108BD9-81ED-4DB2-BD59-A6C34878D82A}">
                    <a16:rowId xmlns:a16="http://schemas.microsoft.com/office/drawing/2014/main" val="2048155142"/>
                  </a:ext>
                </a:extLst>
              </a:tr>
            </a:tbl>
          </a:graphicData>
        </a:graphic>
      </p:graphicFrame>
      <p:sp>
        <p:nvSpPr>
          <p:cNvPr id="55" name="文字方塊 54">
            <a:extLst>
              <a:ext uri="{FF2B5EF4-FFF2-40B4-BE49-F238E27FC236}">
                <a16:creationId xmlns:a16="http://schemas.microsoft.com/office/drawing/2014/main" id="{035E1007-D0C7-48FE-9508-669E2AAFAF9A}"/>
              </a:ext>
            </a:extLst>
          </p:cNvPr>
          <p:cNvSpPr txBox="1"/>
          <p:nvPr/>
        </p:nvSpPr>
        <p:spPr>
          <a:xfrm>
            <a:off x="683568" y="196950"/>
            <a:ext cx="7128792" cy="1077218"/>
          </a:xfrm>
          <a:prstGeom prst="rect">
            <a:avLst/>
          </a:prstGeom>
          <a:noFill/>
        </p:spPr>
        <p:txBody>
          <a:bodyPr wrap="square">
            <a:spAutoFit/>
          </a:bodyPr>
          <a:lstStyle/>
          <a:p>
            <a:r>
              <a:rPr lang="en-US" altLang="zh-TW" sz="3200" dirty="0"/>
              <a:t>S1=ATTTCGGA =&gt; S’1= ATCGA</a:t>
            </a:r>
          </a:p>
          <a:p>
            <a:r>
              <a:rPr lang="en-US" altLang="zh-TW" sz="3200" dirty="0"/>
              <a:t>S2=TTATGCCA =&gt; S’2= TATGCA</a:t>
            </a:r>
          </a:p>
        </p:txBody>
      </p:sp>
      <p:sp>
        <p:nvSpPr>
          <p:cNvPr id="36" name="文字方塊 35">
            <a:extLst>
              <a:ext uri="{FF2B5EF4-FFF2-40B4-BE49-F238E27FC236}">
                <a16:creationId xmlns:a16="http://schemas.microsoft.com/office/drawing/2014/main" id="{34417B69-082C-4317-BC8D-2649C5812988}"/>
              </a:ext>
            </a:extLst>
          </p:cNvPr>
          <p:cNvSpPr txBox="1"/>
          <p:nvPr/>
        </p:nvSpPr>
        <p:spPr>
          <a:xfrm>
            <a:off x="2627784" y="6021288"/>
            <a:ext cx="360040" cy="369332"/>
          </a:xfrm>
          <a:prstGeom prst="rect">
            <a:avLst/>
          </a:prstGeom>
          <a:noFill/>
        </p:spPr>
        <p:txBody>
          <a:bodyPr wrap="square" rtlCol="0">
            <a:spAutoFit/>
          </a:bodyPr>
          <a:lstStyle/>
          <a:p>
            <a:r>
              <a:rPr lang="en-US" altLang="zh-TW" dirty="0"/>
              <a:t>2</a:t>
            </a:r>
            <a:endParaRPr lang="zh-TW" altLang="en-US" dirty="0"/>
          </a:p>
        </p:txBody>
      </p:sp>
    </p:spTree>
    <p:extLst>
      <p:ext uri="{BB962C8B-B14F-4D97-AF65-F5344CB8AC3E}">
        <p14:creationId xmlns:p14="http://schemas.microsoft.com/office/powerpoint/2010/main" val="278180080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橢圓 3">
            <a:extLst>
              <a:ext uri="{FF2B5EF4-FFF2-40B4-BE49-F238E27FC236}">
                <a16:creationId xmlns:a16="http://schemas.microsoft.com/office/drawing/2014/main" id="{8F484074-B615-ECA3-73F4-226CEF319DBA}"/>
              </a:ext>
            </a:extLst>
          </p:cNvPr>
          <p:cNvSpPr/>
          <p:nvPr/>
        </p:nvSpPr>
        <p:spPr>
          <a:xfrm>
            <a:off x="323528" y="3429879"/>
            <a:ext cx="864096" cy="57606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0,0</a:t>
            </a:r>
            <a:endParaRPr lang="zh-TW" altLang="en-US" sz="1400" dirty="0"/>
          </a:p>
        </p:txBody>
      </p:sp>
      <p:sp>
        <p:nvSpPr>
          <p:cNvPr id="11" name="橢圓 10">
            <a:extLst>
              <a:ext uri="{FF2B5EF4-FFF2-40B4-BE49-F238E27FC236}">
                <a16:creationId xmlns:a16="http://schemas.microsoft.com/office/drawing/2014/main" id="{51FF196C-2729-62BF-88D9-923232F91E04}"/>
              </a:ext>
            </a:extLst>
          </p:cNvPr>
          <p:cNvSpPr/>
          <p:nvPr/>
        </p:nvSpPr>
        <p:spPr>
          <a:xfrm>
            <a:off x="1835696" y="1700808"/>
            <a:ext cx="864096" cy="57606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A(1,2)</a:t>
            </a:r>
            <a:endParaRPr lang="zh-TW" altLang="en-US" sz="1400" dirty="0"/>
          </a:p>
        </p:txBody>
      </p:sp>
      <p:sp>
        <p:nvSpPr>
          <p:cNvPr id="12" name="橢圓 11">
            <a:extLst>
              <a:ext uri="{FF2B5EF4-FFF2-40B4-BE49-F238E27FC236}">
                <a16:creationId xmlns:a16="http://schemas.microsoft.com/office/drawing/2014/main" id="{0F090C34-5FEB-EBDE-C0A5-27564390F066}"/>
              </a:ext>
            </a:extLst>
          </p:cNvPr>
          <p:cNvSpPr/>
          <p:nvPr/>
        </p:nvSpPr>
        <p:spPr>
          <a:xfrm>
            <a:off x="1835696" y="2924944"/>
            <a:ext cx="864096" cy="576064"/>
          </a:xfrm>
          <a:prstGeom prst="ellipse">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C(3,5)</a:t>
            </a:r>
            <a:endParaRPr lang="zh-TW" altLang="en-US" sz="1400" dirty="0"/>
          </a:p>
        </p:txBody>
      </p:sp>
      <p:sp>
        <p:nvSpPr>
          <p:cNvPr id="13" name="橢圓 12">
            <a:extLst>
              <a:ext uri="{FF2B5EF4-FFF2-40B4-BE49-F238E27FC236}">
                <a16:creationId xmlns:a16="http://schemas.microsoft.com/office/drawing/2014/main" id="{9915C656-27B2-A136-17C2-7DA6C575B4FF}"/>
              </a:ext>
            </a:extLst>
          </p:cNvPr>
          <p:cNvSpPr/>
          <p:nvPr/>
        </p:nvSpPr>
        <p:spPr>
          <a:xfrm>
            <a:off x="1835696" y="4090459"/>
            <a:ext cx="864096" cy="576064"/>
          </a:xfrm>
          <a:prstGeom prst="ellipse">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G(4,4)</a:t>
            </a:r>
            <a:endParaRPr lang="zh-TW" altLang="en-US" sz="1400" dirty="0"/>
          </a:p>
        </p:txBody>
      </p:sp>
      <p:sp>
        <p:nvSpPr>
          <p:cNvPr id="14" name="橢圓 13">
            <a:extLst>
              <a:ext uri="{FF2B5EF4-FFF2-40B4-BE49-F238E27FC236}">
                <a16:creationId xmlns:a16="http://schemas.microsoft.com/office/drawing/2014/main" id="{8E21692F-FDDB-51B6-4620-8D6112D05BC7}"/>
              </a:ext>
            </a:extLst>
          </p:cNvPr>
          <p:cNvSpPr/>
          <p:nvPr/>
        </p:nvSpPr>
        <p:spPr>
          <a:xfrm>
            <a:off x="1835696" y="5314595"/>
            <a:ext cx="864096" cy="57606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T(2,1)</a:t>
            </a:r>
            <a:endParaRPr lang="zh-TW" altLang="en-US" sz="1400" dirty="0"/>
          </a:p>
        </p:txBody>
      </p:sp>
      <p:sp>
        <p:nvSpPr>
          <p:cNvPr id="15" name="橢圓 14">
            <a:extLst>
              <a:ext uri="{FF2B5EF4-FFF2-40B4-BE49-F238E27FC236}">
                <a16:creationId xmlns:a16="http://schemas.microsoft.com/office/drawing/2014/main" id="{AB8EAB43-2B3E-F74B-F39D-27B342005095}"/>
              </a:ext>
            </a:extLst>
          </p:cNvPr>
          <p:cNvSpPr/>
          <p:nvPr/>
        </p:nvSpPr>
        <p:spPr>
          <a:xfrm>
            <a:off x="3341238" y="116632"/>
            <a:ext cx="864096" cy="576064"/>
          </a:xfrm>
          <a:prstGeom prst="ellipse">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A(5,6)</a:t>
            </a:r>
            <a:endParaRPr lang="zh-TW" altLang="en-US" sz="1400" dirty="0"/>
          </a:p>
        </p:txBody>
      </p:sp>
      <p:sp>
        <p:nvSpPr>
          <p:cNvPr id="16" name="橢圓 15">
            <a:extLst>
              <a:ext uri="{FF2B5EF4-FFF2-40B4-BE49-F238E27FC236}">
                <a16:creationId xmlns:a16="http://schemas.microsoft.com/office/drawing/2014/main" id="{F60AD1BE-18F7-4256-6A99-01053868A5A7}"/>
              </a:ext>
            </a:extLst>
          </p:cNvPr>
          <p:cNvSpPr/>
          <p:nvPr/>
        </p:nvSpPr>
        <p:spPr>
          <a:xfrm>
            <a:off x="3341238" y="767135"/>
            <a:ext cx="864096" cy="576064"/>
          </a:xfrm>
          <a:prstGeom prst="ellipse">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C(3,5)</a:t>
            </a:r>
            <a:endParaRPr lang="zh-TW" altLang="en-US" sz="1400" dirty="0"/>
          </a:p>
        </p:txBody>
      </p:sp>
      <p:sp>
        <p:nvSpPr>
          <p:cNvPr id="17" name="橢圓 16">
            <a:extLst>
              <a:ext uri="{FF2B5EF4-FFF2-40B4-BE49-F238E27FC236}">
                <a16:creationId xmlns:a16="http://schemas.microsoft.com/office/drawing/2014/main" id="{EDC34CBF-7C35-971D-98A0-64216839A4C9}"/>
              </a:ext>
            </a:extLst>
          </p:cNvPr>
          <p:cNvSpPr/>
          <p:nvPr/>
        </p:nvSpPr>
        <p:spPr>
          <a:xfrm>
            <a:off x="3334612" y="1417638"/>
            <a:ext cx="864096" cy="576064"/>
          </a:xfrm>
          <a:prstGeom prst="ellipse">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G(4,4)</a:t>
            </a:r>
            <a:endParaRPr lang="zh-TW" altLang="en-US" sz="1400" dirty="0"/>
          </a:p>
        </p:txBody>
      </p:sp>
      <p:sp>
        <p:nvSpPr>
          <p:cNvPr id="18" name="橢圓 17">
            <a:extLst>
              <a:ext uri="{FF2B5EF4-FFF2-40B4-BE49-F238E27FC236}">
                <a16:creationId xmlns:a16="http://schemas.microsoft.com/office/drawing/2014/main" id="{FE0588E5-105B-12BD-EF3E-9EA0C8757118}"/>
              </a:ext>
            </a:extLst>
          </p:cNvPr>
          <p:cNvSpPr/>
          <p:nvPr/>
        </p:nvSpPr>
        <p:spPr>
          <a:xfrm>
            <a:off x="3341305" y="2037242"/>
            <a:ext cx="864096" cy="57606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T(2,3)</a:t>
            </a:r>
            <a:endParaRPr lang="zh-TW" altLang="en-US" sz="1400" dirty="0"/>
          </a:p>
        </p:txBody>
      </p:sp>
      <p:sp>
        <p:nvSpPr>
          <p:cNvPr id="19" name="橢圓 18">
            <a:extLst>
              <a:ext uri="{FF2B5EF4-FFF2-40B4-BE49-F238E27FC236}">
                <a16:creationId xmlns:a16="http://schemas.microsoft.com/office/drawing/2014/main" id="{1F3C1EDD-6268-D532-97B9-680CC9BA2272}"/>
              </a:ext>
            </a:extLst>
          </p:cNvPr>
          <p:cNvSpPr/>
          <p:nvPr/>
        </p:nvSpPr>
        <p:spPr>
          <a:xfrm>
            <a:off x="3347864" y="4652122"/>
            <a:ext cx="864096" cy="576064"/>
          </a:xfrm>
          <a:prstGeom prst="ellipse">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A(5,2)</a:t>
            </a:r>
            <a:endParaRPr lang="zh-TW" altLang="en-US" sz="1400" dirty="0"/>
          </a:p>
        </p:txBody>
      </p:sp>
      <p:sp>
        <p:nvSpPr>
          <p:cNvPr id="20" name="橢圓 19">
            <a:extLst>
              <a:ext uri="{FF2B5EF4-FFF2-40B4-BE49-F238E27FC236}">
                <a16:creationId xmlns:a16="http://schemas.microsoft.com/office/drawing/2014/main" id="{3590A275-02F4-D82B-9C76-DACDE468515B}"/>
              </a:ext>
            </a:extLst>
          </p:cNvPr>
          <p:cNvSpPr/>
          <p:nvPr/>
        </p:nvSpPr>
        <p:spPr>
          <a:xfrm>
            <a:off x="3347864" y="5302625"/>
            <a:ext cx="864096" cy="576064"/>
          </a:xfrm>
          <a:prstGeom prst="ellipse">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C(3,5)</a:t>
            </a:r>
            <a:endParaRPr lang="zh-TW" altLang="en-US" sz="1400" dirty="0"/>
          </a:p>
        </p:txBody>
      </p:sp>
      <p:sp>
        <p:nvSpPr>
          <p:cNvPr id="21" name="橢圓 20">
            <a:extLst>
              <a:ext uri="{FF2B5EF4-FFF2-40B4-BE49-F238E27FC236}">
                <a16:creationId xmlns:a16="http://schemas.microsoft.com/office/drawing/2014/main" id="{F0A00093-57B4-C713-965E-73A7D810EEAD}"/>
              </a:ext>
            </a:extLst>
          </p:cNvPr>
          <p:cNvSpPr/>
          <p:nvPr/>
        </p:nvSpPr>
        <p:spPr>
          <a:xfrm>
            <a:off x="3341238" y="5953128"/>
            <a:ext cx="864096" cy="576064"/>
          </a:xfrm>
          <a:prstGeom prst="ellipse">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G(4,4)</a:t>
            </a:r>
            <a:endParaRPr lang="zh-TW" altLang="en-US" sz="1400" dirty="0"/>
          </a:p>
        </p:txBody>
      </p:sp>
      <p:sp>
        <p:nvSpPr>
          <p:cNvPr id="23" name="橢圓 22">
            <a:extLst>
              <a:ext uri="{FF2B5EF4-FFF2-40B4-BE49-F238E27FC236}">
                <a16:creationId xmlns:a16="http://schemas.microsoft.com/office/drawing/2014/main" id="{7CDD1525-1B79-8B17-CF26-3A90E43445C3}"/>
              </a:ext>
            </a:extLst>
          </p:cNvPr>
          <p:cNvSpPr/>
          <p:nvPr/>
        </p:nvSpPr>
        <p:spPr>
          <a:xfrm>
            <a:off x="4860032" y="1770385"/>
            <a:ext cx="864096" cy="576064"/>
          </a:xfrm>
          <a:prstGeom prst="ellipse">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A(5,6)</a:t>
            </a:r>
            <a:endParaRPr lang="zh-TW" altLang="en-US" sz="1400" dirty="0"/>
          </a:p>
        </p:txBody>
      </p:sp>
      <p:sp>
        <p:nvSpPr>
          <p:cNvPr id="24" name="橢圓 23">
            <a:extLst>
              <a:ext uri="{FF2B5EF4-FFF2-40B4-BE49-F238E27FC236}">
                <a16:creationId xmlns:a16="http://schemas.microsoft.com/office/drawing/2014/main" id="{3DFCA630-8C1E-D0A7-FE6C-A71D39756AB5}"/>
              </a:ext>
            </a:extLst>
          </p:cNvPr>
          <p:cNvSpPr/>
          <p:nvPr/>
        </p:nvSpPr>
        <p:spPr>
          <a:xfrm>
            <a:off x="4860032" y="2420888"/>
            <a:ext cx="864096" cy="576064"/>
          </a:xfrm>
          <a:prstGeom prst="ellipse">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C(3,5)</a:t>
            </a:r>
            <a:endParaRPr lang="zh-TW" altLang="en-US" sz="1400" dirty="0"/>
          </a:p>
        </p:txBody>
      </p:sp>
      <p:sp>
        <p:nvSpPr>
          <p:cNvPr id="25" name="橢圓 24">
            <a:extLst>
              <a:ext uri="{FF2B5EF4-FFF2-40B4-BE49-F238E27FC236}">
                <a16:creationId xmlns:a16="http://schemas.microsoft.com/office/drawing/2014/main" id="{69680132-0DDE-2517-DBDF-EBC7442CE269}"/>
              </a:ext>
            </a:extLst>
          </p:cNvPr>
          <p:cNvSpPr/>
          <p:nvPr/>
        </p:nvSpPr>
        <p:spPr>
          <a:xfrm>
            <a:off x="4860032" y="3094041"/>
            <a:ext cx="864096" cy="576064"/>
          </a:xfrm>
          <a:prstGeom prst="ellipse">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G(4,4)</a:t>
            </a:r>
            <a:endParaRPr lang="zh-TW" altLang="en-US" sz="1400" dirty="0"/>
          </a:p>
        </p:txBody>
      </p:sp>
      <mc:AlternateContent xmlns:mc="http://schemas.openxmlformats.org/markup-compatibility/2006" xmlns:a14="http://schemas.microsoft.com/office/drawing/2010/main">
        <mc:Choice Requires="a14">
          <p:sp>
            <p:nvSpPr>
              <p:cNvPr id="27" name="橢圓 26">
                <a:extLst>
                  <a:ext uri="{FF2B5EF4-FFF2-40B4-BE49-F238E27FC236}">
                    <a16:creationId xmlns:a16="http://schemas.microsoft.com/office/drawing/2014/main" id="{17186536-478A-BB62-C0B7-FA37FCB525E4}"/>
                  </a:ext>
                </a:extLst>
              </p:cNvPr>
              <p:cNvSpPr/>
              <p:nvPr/>
            </p:nvSpPr>
            <p:spPr>
              <a:xfrm>
                <a:off x="8028384" y="3429000"/>
                <a:ext cx="1008112" cy="57606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T(</a:t>
                </a:r>
                <a14:m>
                  <m:oMath xmlns:m="http://schemas.openxmlformats.org/officeDocument/2006/math">
                    <m:r>
                      <a:rPr lang="en-US" altLang="zh-TW" sz="1400" dirty="0" smtClean="0">
                        <a:latin typeface="Cambria Math" panose="02040503050406030204" pitchFamily="18" charset="0"/>
                      </a:rPr>
                      <m:t>∞</m:t>
                    </m:r>
                  </m:oMath>
                </a14:m>
                <a:r>
                  <a:rPr lang="en-US" altLang="zh-TW" sz="1400" dirty="0"/>
                  <a:t>,</a:t>
                </a:r>
                <a14:m>
                  <m:oMath xmlns:m="http://schemas.openxmlformats.org/officeDocument/2006/math">
                    <m:r>
                      <a:rPr lang="en-US" altLang="zh-TW" sz="1400" dirty="0" smtClean="0">
                        <a:latin typeface="Cambria Math" panose="02040503050406030204" pitchFamily="18" charset="0"/>
                      </a:rPr>
                      <m:t>∞</m:t>
                    </m:r>
                  </m:oMath>
                </a14:m>
                <a:r>
                  <a:rPr lang="en-US" altLang="zh-TW" sz="1400" dirty="0"/>
                  <a:t>)</a:t>
                </a:r>
                <a:endParaRPr lang="zh-TW" altLang="en-US" sz="1400" dirty="0"/>
              </a:p>
            </p:txBody>
          </p:sp>
        </mc:Choice>
        <mc:Fallback xmlns="">
          <p:sp>
            <p:nvSpPr>
              <p:cNvPr id="27" name="橢圓 26">
                <a:extLst>
                  <a:ext uri="{FF2B5EF4-FFF2-40B4-BE49-F238E27FC236}">
                    <a16:creationId xmlns:a16="http://schemas.microsoft.com/office/drawing/2014/main" id="{17186536-478A-BB62-C0B7-FA37FCB525E4}"/>
                  </a:ext>
                </a:extLst>
              </p:cNvPr>
              <p:cNvSpPr>
                <a:spLocks noRot="1" noChangeAspect="1" noMove="1" noResize="1" noEditPoints="1" noAdjustHandles="1" noChangeArrowheads="1" noChangeShapeType="1" noTextEdit="1"/>
              </p:cNvSpPr>
              <p:nvPr/>
            </p:nvSpPr>
            <p:spPr>
              <a:xfrm>
                <a:off x="8028384" y="3429000"/>
                <a:ext cx="1008112" cy="576064"/>
              </a:xfrm>
              <a:prstGeom prst="ellipse">
                <a:avLst/>
              </a:prstGeom>
              <a:blipFill>
                <a:blip r:embed="rId2"/>
                <a:stretch>
                  <a:fillRect/>
                </a:stretch>
              </a:blipFill>
            </p:spPr>
            <p:txBody>
              <a:bodyPr/>
              <a:lstStyle/>
              <a:p>
                <a:r>
                  <a:rPr lang="zh-TW" altLang="en-US">
                    <a:noFill/>
                  </a:rPr>
                  <a:t> </a:t>
                </a:r>
              </a:p>
            </p:txBody>
          </p:sp>
        </mc:Fallback>
      </mc:AlternateContent>
      <p:sp>
        <p:nvSpPr>
          <p:cNvPr id="29" name="橢圓 28">
            <a:extLst>
              <a:ext uri="{FF2B5EF4-FFF2-40B4-BE49-F238E27FC236}">
                <a16:creationId xmlns:a16="http://schemas.microsoft.com/office/drawing/2014/main" id="{E50225B7-FA4B-956D-23DA-6BFABCDBCCC5}"/>
              </a:ext>
            </a:extLst>
          </p:cNvPr>
          <p:cNvSpPr/>
          <p:nvPr/>
        </p:nvSpPr>
        <p:spPr>
          <a:xfrm>
            <a:off x="6228184" y="2373426"/>
            <a:ext cx="864096" cy="576064"/>
          </a:xfrm>
          <a:prstGeom prst="ellipse">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A(5,6)</a:t>
            </a:r>
            <a:endParaRPr lang="zh-TW" altLang="en-US" sz="1400" dirty="0"/>
          </a:p>
        </p:txBody>
      </p:sp>
      <p:sp>
        <p:nvSpPr>
          <p:cNvPr id="33" name="橢圓 32">
            <a:extLst>
              <a:ext uri="{FF2B5EF4-FFF2-40B4-BE49-F238E27FC236}">
                <a16:creationId xmlns:a16="http://schemas.microsoft.com/office/drawing/2014/main" id="{32B3A562-7634-A953-197B-B6E4051634AF}"/>
              </a:ext>
            </a:extLst>
          </p:cNvPr>
          <p:cNvSpPr/>
          <p:nvPr/>
        </p:nvSpPr>
        <p:spPr>
          <a:xfrm>
            <a:off x="6228184" y="3094041"/>
            <a:ext cx="864096" cy="576064"/>
          </a:xfrm>
          <a:prstGeom prst="ellipse">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t>A(5,6)</a:t>
            </a:r>
            <a:endParaRPr lang="zh-TW" altLang="en-US" sz="1400" dirty="0"/>
          </a:p>
        </p:txBody>
      </p:sp>
      <p:cxnSp>
        <p:nvCxnSpPr>
          <p:cNvPr id="38" name="直線單箭頭接點 37">
            <a:extLst>
              <a:ext uri="{FF2B5EF4-FFF2-40B4-BE49-F238E27FC236}">
                <a16:creationId xmlns:a16="http://schemas.microsoft.com/office/drawing/2014/main" id="{3B3B3725-6517-009D-258D-3A78764B8871}"/>
              </a:ext>
            </a:extLst>
          </p:cNvPr>
          <p:cNvCxnSpPr/>
          <p:nvPr/>
        </p:nvCxnSpPr>
        <p:spPr>
          <a:xfrm flipV="1">
            <a:off x="1187624" y="2276872"/>
            <a:ext cx="648072" cy="11052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a:extLst>
              <a:ext uri="{FF2B5EF4-FFF2-40B4-BE49-F238E27FC236}">
                <a16:creationId xmlns:a16="http://schemas.microsoft.com/office/drawing/2014/main" id="{4A56A419-A8B6-0662-4EA0-CED656268F4E}"/>
              </a:ext>
            </a:extLst>
          </p:cNvPr>
          <p:cNvCxnSpPr>
            <a:cxnSpLocks/>
          </p:cNvCxnSpPr>
          <p:nvPr/>
        </p:nvCxnSpPr>
        <p:spPr>
          <a:xfrm flipV="1">
            <a:off x="2483768" y="625726"/>
            <a:ext cx="720080" cy="9712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a:extLst>
              <a:ext uri="{FF2B5EF4-FFF2-40B4-BE49-F238E27FC236}">
                <a16:creationId xmlns:a16="http://schemas.microsoft.com/office/drawing/2014/main" id="{EE8ED19E-BA2E-1C13-BF6D-F76937FF230B}"/>
              </a:ext>
            </a:extLst>
          </p:cNvPr>
          <p:cNvCxnSpPr>
            <a:cxnSpLocks/>
          </p:cNvCxnSpPr>
          <p:nvPr/>
        </p:nvCxnSpPr>
        <p:spPr>
          <a:xfrm>
            <a:off x="934007" y="4140561"/>
            <a:ext cx="901689" cy="11740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a:extLst>
              <a:ext uri="{FF2B5EF4-FFF2-40B4-BE49-F238E27FC236}">
                <a16:creationId xmlns:a16="http://schemas.microsoft.com/office/drawing/2014/main" id="{5AA9CE67-A69D-89C3-295F-F01AFE16AE52}"/>
              </a:ext>
            </a:extLst>
          </p:cNvPr>
          <p:cNvCxnSpPr>
            <a:cxnSpLocks/>
          </p:cNvCxnSpPr>
          <p:nvPr/>
        </p:nvCxnSpPr>
        <p:spPr>
          <a:xfrm flipV="1">
            <a:off x="1227820" y="3382073"/>
            <a:ext cx="607876" cy="2374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a:extLst>
              <a:ext uri="{FF2B5EF4-FFF2-40B4-BE49-F238E27FC236}">
                <a16:creationId xmlns:a16="http://schemas.microsoft.com/office/drawing/2014/main" id="{DD8486F1-6B24-E3FC-A881-451E4EB882A2}"/>
              </a:ext>
            </a:extLst>
          </p:cNvPr>
          <p:cNvCxnSpPr>
            <a:cxnSpLocks/>
          </p:cNvCxnSpPr>
          <p:nvPr/>
        </p:nvCxnSpPr>
        <p:spPr>
          <a:xfrm>
            <a:off x="1235561" y="3820724"/>
            <a:ext cx="496315" cy="4003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a:extLst>
              <a:ext uri="{FF2B5EF4-FFF2-40B4-BE49-F238E27FC236}">
                <a16:creationId xmlns:a16="http://schemas.microsoft.com/office/drawing/2014/main" id="{9592A540-32D5-B077-166D-63E675D583EA}"/>
              </a:ext>
            </a:extLst>
          </p:cNvPr>
          <p:cNvCxnSpPr>
            <a:cxnSpLocks/>
          </p:cNvCxnSpPr>
          <p:nvPr/>
        </p:nvCxnSpPr>
        <p:spPr>
          <a:xfrm flipV="1">
            <a:off x="2803612" y="5065560"/>
            <a:ext cx="400236" cy="3252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a:extLst>
              <a:ext uri="{FF2B5EF4-FFF2-40B4-BE49-F238E27FC236}">
                <a16:creationId xmlns:a16="http://schemas.microsoft.com/office/drawing/2014/main" id="{E40BA594-B5B0-5027-7C60-380355967B51}"/>
              </a:ext>
            </a:extLst>
          </p:cNvPr>
          <p:cNvCxnSpPr>
            <a:cxnSpLocks/>
          </p:cNvCxnSpPr>
          <p:nvPr/>
        </p:nvCxnSpPr>
        <p:spPr>
          <a:xfrm>
            <a:off x="2709223" y="5899613"/>
            <a:ext cx="494625" cy="3326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61">
            <a:extLst>
              <a:ext uri="{FF2B5EF4-FFF2-40B4-BE49-F238E27FC236}">
                <a16:creationId xmlns:a16="http://schemas.microsoft.com/office/drawing/2014/main" id="{FCEDA7C4-1E6B-7014-CB0A-05BBAEE5BCA3}"/>
              </a:ext>
            </a:extLst>
          </p:cNvPr>
          <p:cNvCxnSpPr>
            <a:cxnSpLocks/>
          </p:cNvCxnSpPr>
          <p:nvPr/>
        </p:nvCxnSpPr>
        <p:spPr>
          <a:xfrm flipV="1">
            <a:off x="4412062" y="4020906"/>
            <a:ext cx="3688330" cy="8436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a:extLst>
              <a:ext uri="{FF2B5EF4-FFF2-40B4-BE49-F238E27FC236}">
                <a16:creationId xmlns:a16="http://schemas.microsoft.com/office/drawing/2014/main" id="{90CFE661-8DF3-EC01-EE20-38E91612FFF6}"/>
              </a:ext>
            </a:extLst>
          </p:cNvPr>
          <p:cNvCxnSpPr>
            <a:cxnSpLocks/>
          </p:cNvCxnSpPr>
          <p:nvPr/>
        </p:nvCxnSpPr>
        <p:spPr>
          <a:xfrm>
            <a:off x="2749859" y="5590657"/>
            <a:ext cx="453989" cy="119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EE364ACC-6EE1-E6C4-D760-EC23F0CAD619}"/>
              </a:ext>
            </a:extLst>
          </p:cNvPr>
          <p:cNvCxnSpPr>
            <a:cxnSpLocks/>
          </p:cNvCxnSpPr>
          <p:nvPr/>
        </p:nvCxnSpPr>
        <p:spPr>
          <a:xfrm>
            <a:off x="2729540" y="2115704"/>
            <a:ext cx="453989" cy="2307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單箭頭接點 71">
            <a:extLst>
              <a:ext uri="{FF2B5EF4-FFF2-40B4-BE49-F238E27FC236}">
                <a16:creationId xmlns:a16="http://schemas.microsoft.com/office/drawing/2014/main" id="{10EB1798-FE2D-BA92-F3C6-BD61EDFAE5F8}"/>
              </a:ext>
            </a:extLst>
          </p:cNvPr>
          <p:cNvCxnSpPr>
            <a:cxnSpLocks/>
          </p:cNvCxnSpPr>
          <p:nvPr/>
        </p:nvCxnSpPr>
        <p:spPr>
          <a:xfrm flipV="1">
            <a:off x="2647255" y="1128728"/>
            <a:ext cx="618558" cy="6233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73">
            <a:extLst>
              <a:ext uri="{FF2B5EF4-FFF2-40B4-BE49-F238E27FC236}">
                <a16:creationId xmlns:a16="http://schemas.microsoft.com/office/drawing/2014/main" id="{F943238C-6D56-AA00-3502-2CC21D63AAD9}"/>
              </a:ext>
            </a:extLst>
          </p:cNvPr>
          <p:cNvCxnSpPr>
            <a:cxnSpLocks/>
          </p:cNvCxnSpPr>
          <p:nvPr/>
        </p:nvCxnSpPr>
        <p:spPr>
          <a:xfrm flipV="1">
            <a:off x="2749859" y="1806868"/>
            <a:ext cx="515954" cy="925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a:extLst>
              <a:ext uri="{FF2B5EF4-FFF2-40B4-BE49-F238E27FC236}">
                <a16:creationId xmlns:a16="http://schemas.microsoft.com/office/drawing/2014/main" id="{8BFC3304-69A8-5389-3EA3-AC362DCF6E31}"/>
              </a:ext>
            </a:extLst>
          </p:cNvPr>
          <p:cNvCxnSpPr>
            <a:cxnSpLocks/>
          </p:cNvCxnSpPr>
          <p:nvPr/>
        </p:nvCxnSpPr>
        <p:spPr>
          <a:xfrm>
            <a:off x="4262198" y="2403063"/>
            <a:ext cx="447259" cy="2102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82">
            <a:extLst>
              <a:ext uri="{FF2B5EF4-FFF2-40B4-BE49-F238E27FC236}">
                <a16:creationId xmlns:a16="http://schemas.microsoft.com/office/drawing/2014/main" id="{C85262C7-305B-C97E-B8A4-5DB4E3258333}"/>
              </a:ext>
            </a:extLst>
          </p:cNvPr>
          <p:cNvCxnSpPr>
            <a:cxnSpLocks/>
          </p:cNvCxnSpPr>
          <p:nvPr/>
        </p:nvCxnSpPr>
        <p:spPr>
          <a:xfrm>
            <a:off x="4174840" y="2613306"/>
            <a:ext cx="565178" cy="5874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a:extLst>
              <a:ext uri="{FF2B5EF4-FFF2-40B4-BE49-F238E27FC236}">
                <a16:creationId xmlns:a16="http://schemas.microsoft.com/office/drawing/2014/main" id="{D3423CBF-1169-3EEC-1AB6-A4FE569C15D5}"/>
              </a:ext>
            </a:extLst>
          </p:cNvPr>
          <p:cNvCxnSpPr>
            <a:cxnSpLocks/>
          </p:cNvCxnSpPr>
          <p:nvPr/>
        </p:nvCxnSpPr>
        <p:spPr>
          <a:xfrm flipV="1">
            <a:off x="4231637" y="2070087"/>
            <a:ext cx="508381" cy="1310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單箭頭接點 89">
            <a:extLst>
              <a:ext uri="{FF2B5EF4-FFF2-40B4-BE49-F238E27FC236}">
                <a16:creationId xmlns:a16="http://schemas.microsoft.com/office/drawing/2014/main" id="{35B57805-D04C-D866-3DC2-CDF380E9E822}"/>
              </a:ext>
            </a:extLst>
          </p:cNvPr>
          <p:cNvCxnSpPr>
            <a:cxnSpLocks/>
          </p:cNvCxnSpPr>
          <p:nvPr/>
        </p:nvCxnSpPr>
        <p:spPr>
          <a:xfrm>
            <a:off x="7327912" y="2839119"/>
            <a:ext cx="696078" cy="4465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92">
            <a:extLst>
              <a:ext uri="{FF2B5EF4-FFF2-40B4-BE49-F238E27FC236}">
                <a16:creationId xmlns:a16="http://schemas.microsoft.com/office/drawing/2014/main" id="{602C82DD-F876-7A90-90EE-54C6EA497B3E}"/>
              </a:ext>
            </a:extLst>
          </p:cNvPr>
          <p:cNvCxnSpPr>
            <a:cxnSpLocks/>
          </p:cNvCxnSpPr>
          <p:nvPr/>
        </p:nvCxnSpPr>
        <p:spPr>
          <a:xfrm>
            <a:off x="7177811" y="3375000"/>
            <a:ext cx="780087" cy="2932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單箭頭接點 96">
            <a:extLst>
              <a:ext uri="{FF2B5EF4-FFF2-40B4-BE49-F238E27FC236}">
                <a16:creationId xmlns:a16="http://schemas.microsoft.com/office/drawing/2014/main" id="{9D11FCAB-1D27-16FB-80F0-02BA99125709}"/>
              </a:ext>
            </a:extLst>
          </p:cNvPr>
          <p:cNvCxnSpPr>
            <a:cxnSpLocks/>
          </p:cNvCxnSpPr>
          <p:nvPr/>
        </p:nvCxnSpPr>
        <p:spPr>
          <a:xfrm>
            <a:off x="5750854" y="2705290"/>
            <a:ext cx="450603" cy="20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線單箭頭接點 98">
            <a:extLst>
              <a:ext uri="{FF2B5EF4-FFF2-40B4-BE49-F238E27FC236}">
                <a16:creationId xmlns:a16="http://schemas.microsoft.com/office/drawing/2014/main" id="{AD289ECB-5198-96D9-1EBF-E8786E38041E}"/>
              </a:ext>
            </a:extLst>
          </p:cNvPr>
          <p:cNvCxnSpPr>
            <a:cxnSpLocks/>
          </p:cNvCxnSpPr>
          <p:nvPr/>
        </p:nvCxnSpPr>
        <p:spPr>
          <a:xfrm>
            <a:off x="5750854" y="3372993"/>
            <a:ext cx="450603" cy="20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500043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pic>
        <p:nvPicPr>
          <p:cNvPr id="4" name="圖片 3">
            <a:extLst>
              <a:ext uri="{FF2B5EF4-FFF2-40B4-BE49-F238E27FC236}">
                <a16:creationId xmlns:a16="http://schemas.microsoft.com/office/drawing/2014/main" id="{F7F5760F-3219-6FB9-FFFA-BFB6C61319C4}"/>
              </a:ext>
            </a:extLst>
          </p:cNvPr>
          <p:cNvPicPr>
            <a:picLocks noChangeAspect="1"/>
          </p:cNvPicPr>
          <p:nvPr/>
        </p:nvPicPr>
        <p:blipFill>
          <a:blip r:embed="rId3"/>
          <a:stretch>
            <a:fillRect/>
          </a:stretch>
        </p:blipFill>
        <p:spPr>
          <a:xfrm>
            <a:off x="1246766" y="1124744"/>
            <a:ext cx="6650468" cy="5733256"/>
          </a:xfrm>
          <a:prstGeom prst="rect">
            <a:avLst/>
          </a:prstGeom>
        </p:spPr>
      </p:pic>
    </p:spTree>
    <p:extLst>
      <p:ext uri="{BB962C8B-B14F-4D97-AF65-F5344CB8AC3E}">
        <p14:creationId xmlns:p14="http://schemas.microsoft.com/office/powerpoint/2010/main" val="261940110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pic>
        <p:nvPicPr>
          <p:cNvPr id="4" name="圖片 3">
            <a:extLst>
              <a:ext uri="{FF2B5EF4-FFF2-40B4-BE49-F238E27FC236}">
                <a16:creationId xmlns:a16="http://schemas.microsoft.com/office/drawing/2014/main" id="{F7F5760F-3219-6FB9-FFFA-BFB6C61319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323775" y="1124744"/>
            <a:ext cx="6496449" cy="5733256"/>
          </a:xfrm>
          <a:prstGeom prst="rect">
            <a:avLst/>
          </a:prstGeom>
        </p:spPr>
      </p:pic>
    </p:spTree>
    <p:extLst>
      <p:ext uri="{BB962C8B-B14F-4D97-AF65-F5344CB8AC3E}">
        <p14:creationId xmlns:p14="http://schemas.microsoft.com/office/powerpoint/2010/main" val="395310590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pic>
        <p:nvPicPr>
          <p:cNvPr id="4" name="圖片 3">
            <a:extLst>
              <a:ext uri="{FF2B5EF4-FFF2-40B4-BE49-F238E27FC236}">
                <a16:creationId xmlns:a16="http://schemas.microsoft.com/office/drawing/2014/main" id="{F7F5760F-3219-6FB9-FFFA-BFB6C61319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46766" y="1137769"/>
            <a:ext cx="6650468" cy="5707206"/>
          </a:xfrm>
          <a:prstGeom prst="rect">
            <a:avLst/>
          </a:prstGeom>
        </p:spPr>
      </p:pic>
    </p:spTree>
    <p:extLst>
      <p:ext uri="{BB962C8B-B14F-4D97-AF65-F5344CB8AC3E}">
        <p14:creationId xmlns:p14="http://schemas.microsoft.com/office/powerpoint/2010/main" val="302013322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74915B-B13E-2B0D-3B31-EE09E6B801BE}"/>
              </a:ext>
            </a:extLst>
          </p:cNvPr>
          <p:cNvSpPr>
            <a:spLocks noGrp="1"/>
          </p:cNvSpPr>
          <p:nvPr>
            <p:ph type="title"/>
          </p:nvPr>
        </p:nvSpPr>
        <p:spPr/>
        <p:txBody>
          <a:bodyPr/>
          <a:lstStyle/>
          <a:p>
            <a:r>
              <a:rPr lang="en-US" altLang="zh-TW" dirty="0"/>
              <a:t>Conclusion</a:t>
            </a:r>
            <a:endParaRPr lang="zh-TW" altLang="en-US" dirty="0"/>
          </a:p>
        </p:txBody>
      </p:sp>
      <p:sp>
        <p:nvSpPr>
          <p:cNvPr id="3" name="內容版面配置區 2">
            <a:extLst>
              <a:ext uri="{FF2B5EF4-FFF2-40B4-BE49-F238E27FC236}">
                <a16:creationId xmlns:a16="http://schemas.microsoft.com/office/drawing/2014/main" id="{C0352A99-81FB-78FE-5C37-1ABE068A5760}"/>
              </a:ext>
            </a:extLst>
          </p:cNvPr>
          <p:cNvSpPr>
            <a:spLocks noGrp="1"/>
          </p:cNvSpPr>
          <p:nvPr>
            <p:ph idx="1"/>
          </p:nvPr>
        </p:nvSpPr>
        <p:spPr/>
        <p:txBody>
          <a:bodyPr/>
          <a:lstStyle/>
          <a:p>
            <a:r>
              <a:rPr lang="zh-TW" altLang="en-US" dirty="0"/>
              <a:t>作者提出</a:t>
            </a:r>
            <a:r>
              <a:rPr lang="en-US" altLang="zh-TW" dirty="0"/>
              <a:t>CMA(character merging algorithm)</a:t>
            </a:r>
            <a:r>
              <a:rPr lang="zh-TW" altLang="en-US" dirty="0"/>
              <a:t>，</a:t>
            </a:r>
            <a:endParaRPr lang="en-US" altLang="zh-TW" dirty="0"/>
          </a:p>
          <a:p>
            <a:pPr marL="0" indent="0">
              <a:buNone/>
            </a:pPr>
            <a:r>
              <a:rPr lang="zh-TW" altLang="en-US" dirty="0"/>
              <a:t>縮短序列長度，來提高效率。</a:t>
            </a:r>
            <a:endParaRPr lang="en-US" altLang="zh-TW" dirty="0"/>
          </a:p>
          <a:p>
            <a:r>
              <a:rPr lang="zh-TW" altLang="en-US" dirty="0"/>
              <a:t>序列長度大約縮短</a:t>
            </a:r>
            <a:r>
              <a:rPr lang="en-US" altLang="zh-TW" dirty="0"/>
              <a:t>25%</a:t>
            </a:r>
          </a:p>
          <a:p>
            <a:r>
              <a:rPr lang="zh-TW" altLang="en-US" dirty="0"/>
              <a:t>實驗結果優於另外三個比較的演算法</a:t>
            </a:r>
            <a:endParaRPr lang="en-US" altLang="zh-TW" dirty="0"/>
          </a:p>
          <a:p>
            <a:endParaRPr lang="en-US" altLang="zh-TW" dirty="0"/>
          </a:p>
          <a:p>
            <a:pPr marL="0" indent="0">
              <a:buNone/>
            </a:pPr>
            <a:endParaRPr lang="zh-TW" altLang="en-US" dirty="0"/>
          </a:p>
        </p:txBody>
      </p:sp>
    </p:spTree>
    <p:extLst>
      <p:ext uri="{BB962C8B-B14F-4D97-AF65-F5344CB8AC3E}">
        <p14:creationId xmlns:p14="http://schemas.microsoft.com/office/powerpoint/2010/main" val="238460804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4139</TotalTime>
  <Words>763</Words>
  <Application>Microsoft Office PowerPoint</Application>
  <PresentationFormat>如螢幕大小 (4:3)</PresentationFormat>
  <Paragraphs>140</Paragraphs>
  <Slides>16</Slides>
  <Notes>14</Notes>
  <HiddenSlides>1</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16</vt:i4>
      </vt:variant>
    </vt:vector>
  </HeadingPairs>
  <TitlesOfParts>
    <vt:vector size="24" baseType="lpstr">
      <vt:lpstr>-apple-system</vt:lpstr>
      <vt:lpstr>var(--nova-font-family-display)</vt:lpstr>
      <vt:lpstr>Arial</vt:lpstr>
      <vt:lpstr>Calibri</vt:lpstr>
      <vt:lpstr>Cambria Math</vt:lpstr>
      <vt:lpstr>Roboto</vt:lpstr>
      <vt:lpstr>Times New Roman</vt:lpstr>
      <vt:lpstr>Office 佈景主題</vt:lpstr>
      <vt:lpstr>A Fast and Memory Efficient MLCS Algorithm by Character Merging for DNA Sequences Alignment </vt:lpstr>
      <vt:lpstr>Abstract</vt:lpstr>
      <vt:lpstr>Abstract</vt:lpstr>
      <vt:lpstr>Abstract</vt:lpstr>
      <vt:lpstr>Successor Table  </vt:lpstr>
      <vt:lpstr>PowerPoint 簡報</vt:lpstr>
      <vt:lpstr>PowerPoint 簡報</vt:lpstr>
      <vt:lpstr>PowerPoint 簡報</vt:lpstr>
      <vt:lpstr>PowerPoint 簡報</vt:lpstr>
      <vt:lpstr>PowerPoint 簡報</vt:lpstr>
      <vt:lpstr>PowerPoint 簡報</vt:lpstr>
      <vt:lpstr>PowerPoint 簡報</vt:lpstr>
      <vt:lpstr>Experimental Results</vt:lpstr>
      <vt:lpstr>Experimental Results</vt:lpstr>
      <vt:lpstr>Experimental Results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李健廷</dc:creator>
  <cp:lastModifiedBy>pplab</cp:lastModifiedBy>
  <cp:revision>269</cp:revision>
  <dcterms:created xsi:type="dcterms:W3CDTF">2022-02-04T17:32:31Z</dcterms:created>
  <dcterms:modified xsi:type="dcterms:W3CDTF">2023-01-31T08:09:55Z</dcterms:modified>
</cp:coreProperties>
</file>