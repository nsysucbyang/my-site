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
  </p:notesMasterIdLst>
  <p:sldIdLst>
    <p:sldId id="256" r:id="rId2"/>
    <p:sldId id="257" r:id="rId3"/>
    <p:sldId id="259" r:id="rId4"/>
    <p:sldId id="260" r:id="rId5"/>
    <p:sldId id="261" r:id="rId6"/>
    <p:sldId id="262" r:id="rId7"/>
    <p:sldId id="263" r:id="rId8"/>
    <p:sldId id="264" r:id="rId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72"/>
    <p:restoredTop sz="95788"/>
  </p:normalViewPr>
  <p:slideViewPr>
    <p:cSldViewPr snapToGrid="0" snapToObjects="1">
      <p:cViewPr varScale="1">
        <p:scale>
          <a:sx n="124" d="100"/>
          <a:sy n="124" d="100"/>
        </p:scale>
        <p:origin x="192"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85761-BC47-1640-B177-90544C5C7DE3}" type="datetimeFigureOut">
              <a:rPr kumimoji="1" lang="zh-TW" altLang="en-US" smtClean="0"/>
              <a:t>2023/1/29</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F88BA-E6E4-4543-BA48-BA0FF57EDFDD}" type="slidenum">
              <a:rPr kumimoji="1" lang="zh-TW" altLang="en-US" smtClean="0"/>
              <a:t>‹#›</a:t>
            </a:fld>
            <a:endParaRPr kumimoji="1" lang="zh-TW" altLang="en-US"/>
          </a:p>
        </p:txBody>
      </p:sp>
    </p:spTree>
    <p:extLst>
      <p:ext uri="{BB962C8B-B14F-4D97-AF65-F5344CB8AC3E}">
        <p14:creationId xmlns:p14="http://schemas.microsoft.com/office/powerpoint/2010/main" val="129180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8AFC48-3333-9D44-9A46-EBD28493A784}"/>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2FDEA52E-50C8-2B46-853E-68D8E0AC5B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按一下以編輯母片副標題樣式</a:t>
            </a:r>
          </a:p>
        </p:txBody>
      </p:sp>
      <p:sp>
        <p:nvSpPr>
          <p:cNvPr id="4" name="日期版面配置區 3">
            <a:extLst>
              <a:ext uri="{FF2B5EF4-FFF2-40B4-BE49-F238E27FC236}">
                <a16:creationId xmlns:a16="http://schemas.microsoft.com/office/drawing/2014/main" id="{99949C8A-F130-D646-AB33-6ACF0EC20126}"/>
              </a:ext>
            </a:extLst>
          </p:cNvPr>
          <p:cNvSpPr>
            <a:spLocks noGrp="1"/>
          </p:cNvSpPr>
          <p:nvPr>
            <p:ph type="dt" sz="half" idx="10"/>
          </p:nvPr>
        </p:nvSpPr>
        <p:spPr/>
        <p:txBody>
          <a:bodyPr/>
          <a:lstStyle/>
          <a:p>
            <a:fld id="{1D559227-5104-0D4E-AE2B-CFC6EF24DF26}" type="datetime1">
              <a:rPr kumimoji="1" lang="zh-TW" altLang="en-US" smtClean="0"/>
              <a:t>2023/1/29</a:t>
            </a:fld>
            <a:endParaRPr kumimoji="1" lang="zh-TW" altLang="en-US"/>
          </a:p>
        </p:txBody>
      </p:sp>
      <p:sp>
        <p:nvSpPr>
          <p:cNvPr id="5" name="頁尾版面配置區 4">
            <a:extLst>
              <a:ext uri="{FF2B5EF4-FFF2-40B4-BE49-F238E27FC236}">
                <a16:creationId xmlns:a16="http://schemas.microsoft.com/office/drawing/2014/main" id="{E450D42D-775A-2146-B8BB-C9CE9A382E7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1E502A-64F7-7C4E-B509-954BE6D3A0A2}"/>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5589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580369-97FF-B548-BB55-CB8DCE6B862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573028B2-5CCA-8C4B-A152-A6977DB014FE}"/>
              </a:ext>
            </a:extLst>
          </p:cNvPr>
          <p:cNvSpPr>
            <a:spLocks noGrp="1"/>
          </p:cNvSpPr>
          <p:nvPr>
            <p:ph idx="1"/>
          </p:nvPr>
        </p:nvSpPr>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2B847DA-2EF1-9E49-8F1B-E3D7D56E3B97}"/>
              </a:ext>
            </a:extLst>
          </p:cNvPr>
          <p:cNvSpPr>
            <a:spLocks noGrp="1"/>
          </p:cNvSpPr>
          <p:nvPr>
            <p:ph type="dt" sz="half" idx="10"/>
          </p:nvPr>
        </p:nvSpPr>
        <p:spPr/>
        <p:txBody>
          <a:bodyPr/>
          <a:lstStyle/>
          <a:p>
            <a:fld id="{6B7B55EC-044C-AD45-985E-A0F6561D9028}" type="datetime1">
              <a:rPr kumimoji="1" lang="zh-TW" altLang="en-US" smtClean="0"/>
              <a:t>2023/1/29</a:t>
            </a:fld>
            <a:endParaRPr kumimoji="1" lang="zh-TW" altLang="en-US"/>
          </a:p>
        </p:txBody>
      </p:sp>
      <p:sp>
        <p:nvSpPr>
          <p:cNvPr id="5" name="頁尾版面配置區 4">
            <a:extLst>
              <a:ext uri="{FF2B5EF4-FFF2-40B4-BE49-F238E27FC236}">
                <a16:creationId xmlns:a16="http://schemas.microsoft.com/office/drawing/2014/main" id="{6F09B162-6F92-BD4C-A01A-413E3321E0F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6743639-9C98-CC43-9A7E-7827356595CB}"/>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996406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07A748-F79F-F346-8961-AA8DB18739C9}"/>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3E6C14E7-8AB9-AE4F-8AB3-D0046CEF4C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編輯母片文字樣式</a:t>
            </a:r>
          </a:p>
        </p:txBody>
      </p:sp>
      <p:sp>
        <p:nvSpPr>
          <p:cNvPr id="4" name="日期版面配置區 3">
            <a:extLst>
              <a:ext uri="{FF2B5EF4-FFF2-40B4-BE49-F238E27FC236}">
                <a16:creationId xmlns:a16="http://schemas.microsoft.com/office/drawing/2014/main" id="{17A4DA8E-2AC4-874C-948B-4FEBEEDEF653}"/>
              </a:ext>
            </a:extLst>
          </p:cNvPr>
          <p:cNvSpPr>
            <a:spLocks noGrp="1"/>
          </p:cNvSpPr>
          <p:nvPr>
            <p:ph type="dt" sz="half" idx="10"/>
          </p:nvPr>
        </p:nvSpPr>
        <p:spPr/>
        <p:txBody>
          <a:bodyPr/>
          <a:lstStyle/>
          <a:p>
            <a:fld id="{1BE45051-DBAB-7C4D-ADA4-56271E2E2BD3}" type="datetime1">
              <a:rPr kumimoji="1" lang="zh-TW" altLang="en-US" smtClean="0"/>
              <a:t>2023/1/29</a:t>
            </a:fld>
            <a:endParaRPr kumimoji="1" lang="zh-TW" altLang="en-US"/>
          </a:p>
        </p:txBody>
      </p:sp>
      <p:sp>
        <p:nvSpPr>
          <p:cNvPr id="5" name="頁尾版面配置區 4">
            <a:extLst>
              <a:ext uri="{FF2B5EF4-FFF2-40B4-BE49-F238E27FC236}">
                <a16:creationId xmlns:a16="http://schemas.microsoft.com/office/drawing/2014/main" id="{98E82387-02E0-C34C-8788-958DE14FAF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04864AD-726D-904D-9686-9656A2465A6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07744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51106A-DE42-B644-B664-A92563662205}"/>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E99A4BD2-86D7-EF4D-8B1D-D7A873433A35}"/>
              </a:ext>
            </a:extLst>
          </p:cNvPr>
          <p:cNvSpPr>
            <a:spLocks noGrp="1"/>
          </p:cNvSpPr>
          <p:nvPr>
            <p:ph sz="half" idx="1"/>
          </p:nvPr>
        </p:nvSpPr>
        <p:spPr>
          <a:xfrm>
            <a:off x="838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697BFE0C-75E1-374C-A1BE-B0F7AB5B1191}"/>
              </a:ext>
            </a:extLst>
          </p:cNvPr>
          <p:cNvSpPr>
            <a:spLocks noGrp="1"/>
          </p:cNvSpPr>
          <p:nvPr>
            <p:ph sz="half" idx="2"/>
          </p:nvPr>
        </p:nvSpPr>
        <p:spPr>
          <a:xfrm>
            <a:off x="6172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A42632B-169D-B247-A46A-487B2CEEEE45}"/>
              </a:ext>
            </a:extLst>
          </p:cNvPr>
          <p:cNvSpPr>
            <a:spLocks noGrp="1"/>
          </p:cNvSpPr>
          <p:nvPr>
            <p:ph type="dt" sz="half" idx="10"/>
          </p:nvPr>
        </p:nvSpPr>
        <p:spPr/>
        <p:txBody>
          <a:bodyPr/>
          <a:lstStyle/>
          <a:p>
            <a:fld id="{C1EF0564-7FFB-CA45-9BCE-B6282CFC5BC4}" type="datetime1">
              <a:rPr kumimoji="1" lang="zh-TW" altLang="en-US" smtClean="0"/>
              <a:t>2023/1/29</a:t>
            </a:fld>
            <a:endParaRPr kumimoji="1" lang="zh-TW" altLang="en-US"/>
          </a:p>
        </p:txBody>
      </p:sp>
      <p:sp>
        <p:nvSpPr>
          <p:cNvPr id="6" name="頁尾版面配置區 5">
            <a:extLst>
              <a:ext uri="{FF2B5EF4-FFF2-40B4-BE49-F238E27FC236}">
                <a16:creationId xmlns:a16="http://schemas.microsoft.com/office/drawing/2014/main" id="{E5B42995-7EC8-AD4B-B91A-DB5FDC9376BF}"/>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35303DE2-E496-1F41-A7FE-CF2E2D9DD903}"/>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0020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83B446-AFD9-BC43-8D50-6C488C6FF28E}"/>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572EBCA2-C8A4-8C43-8427-BBA9B59598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4" name="內容版面配置區 3">
            <a:extLst>
              <a:ext uri="{FF2B5EF4-FFF2-40B4-BE49-F238E27FC236}">
                <a16:creationId xmlns:a16="http://schemas.microsoft.com/office/drawing/2014/main" id="{AA4AB07E-104F-1546-A76D-27C9172D2012}"/>
              </a:ext>
            </a:extLst>
          </p:cNvPr>
          <p:cNvSpPr>
            <a:spLocks noGrp="1"/>
          </p:cNvSpPr>
          <p:nvPr>
            <p:ph sz="half" idx="2"/>
          </p:nvPr>
        </p:nvSpPr>
        <p:spPr>
          <a:xfrm>
            <a:off x="839788" y="2505075"/>
            <a:ext cx="5157787"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4EDA1436-7B7F-424E-BDF6-9B2679D97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6" name="內容版面配置區 5">
            <a:extLst>
              <a:ext uri="{FF2B5EF4-FFF2-40B4-BE49-F238E27FC236}">
                <a16:creationId xmlns:a16="http://schemas.microsoft.com/office/drawing/2014/main" id="{5EE7DA3D-69F7-CE40-B4D5-8558AC0D6BA6}"/>
              </a:ext>
            </a:extLst>
          </p:cNvPr>
          <p:cNvSpPr>
            <a:spLocks noGrp="1"/>
          </p:cNvSpPr>
          <p:nvPr>
            <p:ph sz="quarter" idx="4"/>
          </p:nvPr>
        </p:nvSpPr>
        <p:spPr>
          <a:xfrm>
            <a:off x="6172200" y="2505075"/>
            <a:ext cx="5183188"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F204E6A0-241E-D240-ACC4-4197BB01AB8C}"/>
              </a:ext>
            </a:extLst>
          </p:cNvPr>
          <p:cNvSpPr>
            <a:spLocks noGrp="1"/>
          </p:cNvSpPr>
          <p:nvPr>
            <p:ph type="dt" sz="half" idx="10"/>
          </p:nvPr>
        </p:nvSpPr>
        <p:spPr/>
        <p:txBody>
          <a:bodyPr/>
          <a:lstStyle/>
          <a:p>
            <a:fld id="{F8B6BB58-657F-9B42-8F63-CE29A2D5959E}" type="datetime1">
              <a:rPr kumimoji="1" lang="zh-TW" altLang="en-US" smtClean="0"/>
              <a:t>2023/1/29</a:t>
            </a:fld>
            <a:endParaRPr kumimoji="1" lang="zh-TW" altLang="en-US"/>
          </a:p>
        </p:txBody>
      </p:sp>
      <p:sp>
        <p:nvSpPr>
          <p:cNvPr id="8" name="頁尾版面配置區 7">
            <a:extLst>
              <a:ext uri="{FF2B5EF4-FFF2-40B4-BE49-F238E27FC236}">
                <a16:creationId xmlns:a16="http://schemas.microsoft.com/office/drawing/2014/main" id="{D3B801A1-AF0A-B84E-96F6-29CFB5435F43}"/>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9600253E-5D94-6E45-8290-370C15F5989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87426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57E884-9D25-2945-A655-164A32436AEF}"/>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06A303C2-B14E-C04F-B1CE-D8018834AF75}"/>
              </a:ext>
            </a:extLst>
          </p:cNvPr>
          <p:cNvSpPr>
            <a:spLocks noGrp="1"/>
          </p:cNvSpPr>
          <p:nvPr>
            <p:ph type="dt" sz="half" idx="10"/>
          </p:nvPr>
        </p:nvSpPr>
        <p:spPr/>
        <p:txBody>
          <a:bodyPr/>
          <a:lstStyle/>
          <a:p>
            <a:fld id="{CDFA12DD-F92E-F841-AEA2-DD2F0B8AC128}" type="datetime1">
              <a:rPr kumimoji="1" lang="zh-TW" altLang="en-US" smtClean="0"/>
              <a:t>2023/1/29</a:t>
            </a:fld>
            <a:endParaRPr kumimoji="1" lang="zh-TW" altLang="en-US"/>
          </a:p>
        </p:txBody>
      </p:sp>
      <p:sp>
        <p:nvSpPr>
          <p:cNvPr id="4" name="頁尾版面配置區 3">
            <a:extLst>
              <a:ext uri="{FF2B5EF4-FFF2-40B4-BE49-F238E27FC236}">
                <a16:creationId xmlns:a16="http://schemas.microsoft.com/office/drawing/2014/main" id="{251ACB14-3C83-BF40-A08D-8B6551FEB45D}"/>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A5C06E59-8A0C-3B42-90EE-5E614E092B18}"/>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77431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CB7FD22-44BD-D04C-B395-F3F22D97C84F}"/>
              </a:ext>
            </a:extLst>
          </p:cNvPr>
          <p:cNvSpPr>
            <a:spLocks noGrp="1"/>
          </p:cNvSpPr>
          <p:nvPr>
            <p:ph type="dt" sz="half" idx="10"/>
          </p:nvPr>
        </p:nvSpPr>
        <p:spPr/>
        <p:txBody>
          <a:bodyPr/>
          <a:lstStyle/>
          <a:p>
            <a:fld id="{1E4BAC9C-27AF-0445-AD50-816FC8B10FDD}" type="datetime1">
              <a:rPr kumimoji="1" lang="zh-TW" altLang="en-US" smtClean="0"/>
              <a:t>2023/1/29</a:t>
            </a:fld>
            <a:endParaRPr kumimoji="1" lang="zh-TW" altLang="en-US"/>
          </a:p>
        </p:txBody>
      </p:sp>
      <p:sp>
        <p:nvSpPr>
          <p:cNvPr id="3" name="頁尾版面配置區 2">
            <a:extLst>
              <a:ext uri="{FF2B5EF4-FFF2-40B4-BE49-F238E27FC236}">
                <a16:creationId xmlns:a16="http://schemas.microsoft.com/office/drawing/2014/main" id="{C444FE38-2187-8248-97D1-6F5606FAB126}"/>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65EF3BE3-3845-844D-A07F-F27C144C5EF4}"/>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1400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B493A6-EA88-8A46-9A8B-F872E6DC3C28}"/>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704C30A-146C-C947-844C-AAE8B3BE79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36B48693-0DB2-B84A-9B17-AABB613BF7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CB4F527B-2D7C-E546-8E6E-59F97AC0B7A5}"/>
              </a:ext>
            </a:extLst>
          </p:cNvPr>
          <p:cNvSpPr>
            <a:spLocks noGrp="1"/>
          </p:cNvSpPr>
          <p:nvPr>
            <p:ph type="dt" sz="half" idx="10"/>
          </p:nvPr>
        </p:nvSpPr>
        <p:spPr/>
        <p:txBody>
          <a:bodyPr/>
          <a:lstStyle/>
          <a:p>
            <a:fld id="{37BB5826-6582-C149-8E57-B0E656F33930}" type="datetime1">
              <a:rPr kumimoji="1" lang="zh-TW" altLang="en-US" smtClean="0"/>
              <a:t>2023/1/29</a:t>
            </a:fld>
            <a:endParaRPr kumimoji="1" lang="zh-TW" altLang="en-US"/>
          </a:p>
        </p:txBody>
      </p:sp>
      <p:sp>
        <p:nvSpPr>
          <p:cNvPr id="6" name="頁尾版面配置區 5">
            <a:extLst>
              <a:ext uri="{FF2B5EF4-FFF2-40B4-BE49-F238E27FC236}">
                <a16:creationId xmlns:a16="http://schemas.microsoft.com/office/drawing/2014/main" id="{FBCBFEFC-0A9F-9B4C-A6C0-4A2E0277AC1B}"/>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794B559-2406-764E-A4B9-D824C5231CC6}"/>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1499344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E627F2-C5A6-0D4A-B798-19DCE18B44BA}"/>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080398C8-8B1E-B547-A326-BD1E129C8D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C07516E8-147F-294D-8085-25893538C3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DD3358FF-DC99-1441-8DAF-FDDE3326FAD0}"/>
              </a:ext>
            </a:extLst>
          </p:cNvPr>
          <p:cNvSpPr>
            <a:spLocks noGrp="1"/>
          </p:cNvSpPr>
          <p:nvPr>
            <p:ph type="dt" sz="half" idx="10"/>
          </p:nvPr>
        </p:nvSpPr>
        <p:spPr/>
        <p:txBody>
          <a:bodyPr/>
          <a:lstStyle/>
          <a:p>
            <a:fld id="{CE3E1583-6ED2-5448-8362-DC2E2DF96F6E}" type="datetime1">
              <a:rPr kumimoji="1" lang="zh-TW" altLang="en-US" smtClean="0"/>
              <a:t>2023/1/29</a:t>
            </a:fld>
            <a:endParaRPr kumimoji="1" lang="zh-TW" altLang="en-US"/>
          </a:p>
        </p:txBody>
      </p:sp>
      <p:sp>
        <p:nvSpPr>
          <p:cNvPr id="6" name="頁尾版面配置區 5">
            <a:extLst>
              <a:ext uri="{FF2B5EF4-FFF2-40B4-BE49-F238E27FC236}">
                <a16:creationId xmlns:a16="http://schemas.microsoft.com/office/drawing/2014/main" id="{CCCD27CE-99AA-6E4E-9DBE-E31E2907AD9D}"/>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455623A4-40DB-5648-A636-5C55E052F991}"/>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9642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4E152E-7F75-8942-9848-51F47CBDB059}"/>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3B8AA00-30B6-A94A-B2F0-94FCA9255E94}"/>
              </a:ext>
            </a:extLst>
          </p:cNvPr>
          <p:cNvSpPr>
            <a:spLocks noGrp="1"/>
          </p:cNvSpPr>
          <p:nvPr>
            <p:ph type="body" orient="vert" idx="1"/>
          </p:nvPr>
        </p:nvSpPr>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E95A9F1C-7E4C-884D-9A90-EDF2A6DBD779}"/>
              </a:ext>
            </a:extLst>
          </p:cNvPr>
          <p:cNvSpPr>
            <a:spLocks noGrp="1"/>
          </p:cNvSpPr>
          <p:nvPr>
            <p:ph type="dt" sz="half" idx="10"/>
          </p:nvPr>
        </p:nvSpPr>
        <p:spPr/>
        <p:txBody>
          <a:bodyPr/>
          <a:lstStyle/>
          <a:p>
            <a:fld id="{3CB91D62-DF39-2B4A-9C96-DAA8DA866A30}" type="datetime1">
              <a:rPr kumimoji="1" lang="zh-TW" altLang="en-US" smtClean="0"/>
              <a:t>2023/1/29</a:t>
            </a:fld>
            <a:endParaRPr kumimoji="1" lang="zh-TW" altLang="en-US"/>
          </a:p>
        </p:txBody>
      </p:sp>
      <p:sp>
        <p:nvSpPr>
          <p:cNvPr id="5" name="頁尾版面配置區 4">
            <a:extLst>
              <a:ext uri="{FF2B5EF4-FFF2-40B4-BE49-F238E27FC236}">
                <a16:creationId xmlns:a16="http://schemas.microsoft.com/office/drawing/2014/main" id="{EF12E854-2582-9F4E-8CFD-4D7ED3138D6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E4CB08D-2F0B-CA45-8F57-E6B71AE4662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725235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a:extLst>
              <a:ext uri="{FF2B5EF4-FFF2-40B4-BE49-F238E27FC236}">
                <a16:creationId xmlns:a16="http://schemas.microsoft.com/office/drawing/2014/main" id="{9E14D04E-8318-224B-9272-AC5E0B731C3B}"/>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7D28947-C772-8143-9FC4-F0D4A51E2484}"/>
              </a:ext>
            </a:extLst>
          </p:cNvPr>
          <p:cNvSpPr>
            <a:spLocks noGrp="1"/>
          </p:cNvSpPr>
          <p:nvPr>
            <p:ph type="body" orient="vert" idx="1"/>
          </p:nvPr>
        </p:nvSpPr>
        <p:spPr>
          <a:xfrm>
            <a:off x="838200" y="365125"/>
            <a:ext cx="7734300" cy="5811838"/>
          </a:xfrm>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6C72D5E-B0ED-5047-A7FA-B2E657286FB5}"/>
              </a:ext>
            </a:extLst>
          </p:cNvPr>
          <p:cNvSpPr>
            <a:spLocks noGrp="1"/>
          </p:cNvSpPr>
          <p:nvPr>
            <p:ph type="dt" sz="half" idx="10"/>
          </p:nvPr>
        </p:nvSpPr>
        <p:spPr/>
        <p:txBody>
          <a:bodyPr/>
          <a:lstStyle/>
          <a:p>
            <a:fld id="{1C3AF8DB-CCF4-7A48-8850-2685985A08ED}" type="datetime1">
              <a:rPr kumimoji="1" lang="zh-TW" altLang="en-US" smtClean="0"/>
              <a:t>2023/1/29</a:t>
            </a:fld>
            <a:endParaRPr kumimoji="1" lang="zh-TW" altLang="en-US"/>
          </a:p>
        </p:txBody>
      </p:sp>
      <p:sp>
        <p:nvSpPr>
          <p:cNvPr id="5" name="頁尾版面配置區 4">
            <a:extLst>
              <a:ext uri="{FF2B5EF4-FFF2-40B4-BE49-F238E27FC236}">
                <a16:creationId xmlns:a16="http://schemas.microsoft.com/office/drawing/2014/main" id="{A4FA687B-D6E8-124C-B1FC-998BBF54F0A7}"/>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2D20F1B-4E62-4C4C-82A7-85B5304901D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961686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05A8D0E-8330-F341-A098-517F99E9BF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117BF3-AF8D-E34D-9885-6A7A5C8DB2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A2835D4-A14D-3A48-918A-80F589AD20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06BF9D-945A-9644-8C98-6072299715AD}" type="datetime1">
              <a:rPr kumimoji="1" lang="zh-TW" altLang="en-US" smtClean="0"/>
              <a:t>2023/1/29</a:t>
            </a:fld>
            <a:endParaRPr kumimoji="1" lang="zh-TW" altLang="en-US"/>
          </a:p>
        </p:txBody>
      </p:sp>
      <p:sp>
        <p:nvSpPr>
          <p:cNvPr id="5" name="頁尾版面配置區 4">
            <a:extLst>
              <a:ext uri="{FF2B5EF4-FFF2-40B4-BE49-F238E27FC236}">
                <a16:creationId xmlns:a16="http://schemas.microsoft.com/office/drawing/2014/main" id="{C74DF0F1-03B3-874C-95C1-565A03256B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31932831-0323-6F4F-B891-00A63D552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299926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F607E-C288-1D47-8A1C-E7C69ED95BEB}"/>
              </a:ext>
            </a:extLst>
          </p:cNvPr>
          <p:cNvSpPr>
            <a:spLocks noGrp="1"/>
          </p:cNvSpPr>
          <p:nvPr>
            <p:ph type="ctrTitle"/>
          </p:nvPr>
        </p:nvSpPr>
        <p:spPr/>
        <p:txBody>
          <a:bodyPr>
            <a:normAutofit fontScale="90000"/>
          </a:bodyPr>
          <a:lstStyle/>
          <a:p>
            <a:r>
              <a:rPr kumimoji="1" lang="en-US" altLang="zh-TW" dirty="0">
                <a:latin typeface="Times New Roman" panose="02020603050405020304" pitchFamily="18" charset="0"/>
                <a:cs typeface="Times New Roman" panose="02020603050405020304" pitchFamily="18" charset="0"/>
              </a:rPr>
              <a:t>A Neural Model for Automatic Bidding of Contract Bridge</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8435B96C-9974-DE4C-8462-F823C1E2256B}"/>
              </a:ext>
            </a:extLst>
          </p:cNvPr>
          <p:cNvSpPr>
            <a:spLocks noGrp="1"/>
          </p:cNvSpPr>
          <p:nvPr>
            <p:ph type="subTitle" idx="1"/>
          </p:nvPr>
        </p:nvSpPr>
        <p:spPr/>
        <p:txBody>
          <a:bodyPr>
            <a:normAutofit lnSpcReduction="10000"/>
          </a:bodyPr>
          <a:lstStyle/>
          <a:p>
            <a:endParaRPr kumimoji="1" lang="en-US" altLang="zh-TW" dirty="0">
              <a:latin typeface="Times New Roman" panose="02020603050405020304" pitchFamily="18" charset="0"/>
              <a:cs typeface="Times New Roman" panose="02020603050405020304" pitchFamily="18" charset="0"/>
            </a:endParaRPr>
          </a:p>
          <a:p>
            <a:r>
              <a:rPr kumimoji="1" lang="en-US" altLang="zh-TW" dirty="0" err="1">
                <a:latin typeface="Times New Roman" panose="02020603050405020304" pitchFamily="18" charset="0"/>
                <a:cs typeface="Times New Roman" panose="02020603050405020304" pitchFamily="18" charset="0"/>
              </a:rPr>
              <a:t>Xiaoyu</a:t>
            </a:r>
            <a:r>
              <a:rPr kumimoji="1" lang="en-US" altLang="zh-TW" dirty="0">
                <a:latin typeface="Times New Roman" panose="02020603050405020304" pitchFamily="18" charset="0"/>
                <a:cs typeface="Times New Roman" panose="02020603050405020304" pitchFamily="18" charset="0"/>
              </a:rPr>
              <a:t> Zhang, Wei Liu, and </a:t>
            </a:r>
            <a:r>
              <a:rPr kumimoji="1" lang="en-US" altLang="zh-TW" dirty="0" err="1">
                <a:latin typeface="Times New Roman" panose="02020603050405020304" pitchFamily="18" charset="0"/>
                <a:cs typeface="Times New Roman" panose="02020603050405020304" pitchFamily="18" charset="0"/>
              </a:rPr>
              <a:t>Fangchun</a:t>
            </a:r>
            <a:r>
              <a:rPr kumimoji="1" lang="en-US" altLang="zh-TW" dirty="0">
                <a:latin typeface="Times New Roman" panose="02020603050405020304" pitchFamily="18" charset="0"/>
                <a:cs typeface="Times New Roman" panose="02020603050405020304" pitchFamily="18" charset="0"/>
              </a:rPr>
              <a:t> Yang</a:t>
            </a:r>
          </a:p>
          <a:p>
            <a:r>
              <a:rPr kumimoji="1" lang="en-US" altLang="zh-TW" dirty="0">
                <a:latin typeface="Times New Roman" panose="02020603050405020304" pitchFamily="18" charset="0"/>
                <a:cs typeface="Times New Roman" panose="02020603050405020304" pitchFamily="18" charset="0"/>
              </a:rPr>
              <a:t>IEEE 22</a:t>
            </a:r>
            <a:r>
              <a:rPr kumimoji="1" lang="en-US" altLang="zh-TW" baseline="30000" dirty="0">
                <a:latin typeface="Times New Roman" panose="02020603050405020304" pitchFamily="18" charset="0"/>
                <a:cs typeface="Times New Roman" panose="02020603050405020304" pitchFamily="18" charset="0"/>
              </a:rPr>
              <a:t>nd</a:t>
            </a:r>
            <a:r>
              <a:rPr kumimoji="1" lang="en-US" altLang="zh-TW" dirty="0">
                <a:latin typeface="Times New Roman" panose="02020603050405020304" pitchFamily="18" charset="0"/>
                <a:cs typeface="Times New Roman" panose="02020603050405020304" pitchFamily="18" charset="0"/>
              </a:rPr>
              <a:t> International Conference on High Performance Computing and Communications, 2020</a:t>
            </a:r>
            <a:endParaRPr kumimoji="1" lang="zh-TW" alt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22A5DE4-40CC-5144-89F0-861870F17BD1}"/>
              </a:ext>
            </a:extLst>
          </p:cNvPr>
          <p:cNvSpPr txBox="1"/>
          <p:nvPr/>
        </p:nvSpPr>
        <p:spPr>
          <a:xfrm>
            <a:off x="9043219" y="5563062"/>
            <a:ext cx="2352375"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Presenter: Yu-Yen Chu</a:t>
            </a:r>
          </a:p>
          <a:p>
            <a:r>
              <a:rPr lang="en-US" dirty="0">
                <a:latin typeface="Times New Roman" panose="02020603050405020304" pitchFamily="18" charset="0"/>
                <a:cs typeface="Times New Roman" panose="02020603050405020304" pitchFamily="18" charset="0"/>
              </a:rPr>
              <a:t>Date: Jan. 31, 2023</a:t>
            </a:r>
          </a:p>
        </p:txBody>
      </p:sp>
    </p:spTree>
    <p:extLst>
      <p:ext uri="{BB962C8B-B14F-4D97-AF65-F5344CB8AC3E}">
        <p14:creationId xmlns:p14="http://schemas.microsoft.com/office/powerpoint/2010/main" val="694280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4"/>
            <a:ext cx="10515600" cy="4934771"/>
          </a:xfrm>
        </p:spPr>
        <p:txBody>
          <a:bodyPr>
            <a:normAutofit/>
          </a:bodyPr>
          <a:lstStyle/>
          <a:p>
            <a:pPr marL="0" indent="0">
              <a:buNone/>
            </a:pPr>
            <a:r>
              <a:rPr kumimoji="1" lang="en-US" altLang="zh-TW" dirty="0">
                <a:latin typeface="Times New Roman" panose="02020603050405020304" pitchFamily="18" charset="0"/>
                <a:cs typeface="Times New Roman" panose="02020603050405020304" pitchFamily="18" charset="0"/>
              </a:rPr>
              <a:t>Contract bridge is a typical representative of imperfect information game, which consists of two phases: bidding and playing. One of the most challenging tasks in the contract bridge is bidding. Prior studies mainly focus on bidding without competition. However, it is not the case in reality, which inevitably leads to information loss. This work introduces hand understanding to model the real bidding process and restore the multi-task nature of the work. Therefore, Automatic Bidding Model(ABM), a novel neural architecture, is designed to solve this multi-task learning problem. A layered LSTM is provided to players to model real data, as well as an understanding and a bidding component. ABM proves its advantage through comprehensive experiments on real data set. Lastly, this study summarizes the advantage of ABM.</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2</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111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Problem Setup</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Train an automatic bidding model (with competition).</a:t>
            </a:r>
          </a:p>
          <a:p>
            <a:r>
              <a:rPr kumimoji="1" lang="en-US" altLang="zh-TW" dirty="0">
                <a:latin typeface="Times New Roman" panose="02020603050405020304" pitchFamily="18" charset="0"/>
                <a:cs typeface="Times New Roman" panose="02020603050405020304" pitchFamily="18" charset="0"/>
              </a:rPr>
              <a:t>Use LSTM(Long Short-Term Memory), a special case of RNN.</a:t>
            </a:r>
          </a:p>
          <a:p>
            <a:r>
              <a:rPr kumimoji="1" lang="en-US" altLang="zh-TW" dirty="0">
                <a:latin typeface="Times New Roman" panose="02020603050405020304" pitchFamily="18" charset="0"/>
                <a:cs typeface="Times New Roman" panose="02020603050405020304" pitchFamily="18" charset="0"/>
              </a:rPr>
              <a:t>Not only predict the next bid, but also predict the hand distribution.</a:t>
            </a: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3</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5640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E50757DB-B74F-A549-B210-6D070CE1EC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7796" y="2630184"/>
            <a:ext cx="6144203" cy="4227816"/>
          </a:xfrm>
          <a:prstGeom prst="rect">
            <a:avLst/>
          </a:prstGeom>
        </p:spPr>
      </p:pic>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RNN and LSTM</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Recurrent Neural Network (RNN)</a:t>
            </a:r>
          </a:p>
          <a:p>
            <a:pPr lvl="1"/>
            <a:r>
              <a:rPr kumimoji="1" lang="en-US" altLang="zh-TW" dirty="0">
                <a:latin typeface="Times New Roman" panose="02020603050405020304" pitchFamily="18" charset="0"/>
                <a:cs typeface="Times New Roman" panose="02020603050405020304" pitchFamily="18" charset="0"/>
              </a:rPr>
              <a:t>The hidden layer’s output can be </a:t>
            </a:r>
          </a:p>
          <a:p>
            <a:pPr marL="457200" lvl="1" indent="0">
              <a:buNone/>
            </a:pPr>
            <a:r>
              <a:rPr kumimoji="1" lang="en-US" altLang="zh-TW" dirty="0">
                <a:latin typeface="Times New Roman" panose="02020603050405020304" pitchFamily="18" charset="0"/>
                <a:cs typeface="Times New Roman" panose="02020603050405020304" pitchFamily="18" charset="0"/>
              </a:rPr>
              <a:t>   stored in memory, which can be </a:t>
            </a:r>
          </a:p>
          <a:p>
            <a:pPr marL="457200" lvl="1" indent="0">
              <a:buNone/>
            </a:pPr>
            <a:r>
              <a:rPr kumimoji="1" lang="en-US" altLang="zh-TW" dirty="0">
                <a:latin typeface="Times New Roman" panose="02020603050405020304" pitchFamily="18" charset="0"/>
                <a:cs typeface="Times New Roman" panose="02020603050405020304" pitchFamily="18" charset="0"/>
              </a:rPr>
              <a:t>   used as one of the inputs of the </a:t>
            </a:r>
          </a:p>
          <a:p>
            <a:pPr marL="457200" lvl="1" indent="0">
              <a:buNone/>
            </a:pPr>
            <a:r>
              <a:rPr kumimoji="1" lang="en-US" altLang="zh-TW" dirty="0">
                <a:latin typeface="Times New Roman" panose="02020603050405020304" pitchFamily="18" charset="0"/>
                <a:cs typeface="Times New Roman" panose="02020603050405020304" pitchFamily="18" charset="0"/>
              </a:rPr>
              <a:t>   hidden layer in next step.</a:t>
            </a:r>
          </a:p>
          <a:p>
            <a:r>
              <a:rPr kumimoji="1" lang="en-US" altLang="zh-TW" dirty="0">
                <a:latin typeface="Times New Roman" panose="02020603050405020304" pitchFamily="18" charset="0"/>
                <a:cs typeface="Times New Roman" panose="02020603050405020304" pitchFamily="18" charset="0"/>
              </a:rPr>
              <a:t>Long Short-Term Memory (LSTM)</a:t>
            </a:r>
          </a:p>
          <a:p>
            <a:pPr lvl="1"/>
            <a:r>
              <a:rPr kumimoji="1" lang="en-US" altLang="zh-TW" dirty="0">
                <a:latin typeface="Times New Roman" panose="02020603050405020304" pitchFamily="18" charset="0"/>
                <a:cs typeface="Times New Roman" panose="02020603050405020304" pitchFamily="18" charset="0"/>
              </a:rPr>
              <a:t>input gate</a:t>
            </a:r>
          </a:p>
          <a:p>
            <a:pPr lvl="1"/>
            <a:r>
              <a:rPr kumimoji="1" lang="en-US" altLang="zh-TW" dirty="0">
                <a:latin typeface="Times New Roman" panose="02020603050405020304" pitchFamily="18" charset="0"/>
                <a:cs typeface="Times New Roman" panose="02020603050405020304" pitchFamily="18" charset="0"/>
              </a:rPr>
              <a:t>output gate</a:t>
            </a:r>
          </a:p>
          <a:p>
            <a:pPr lvl="1"/>
            <a:r>
              <a:rPr kumimoji="1" lang="en-US" altLang="zh-TW" dirty="0">
                <a:latin typeface="Times New Roman" panose="02020603050405020304" pitchFamily="18" charset="0"/>
                <a:cs typeface="Times New Roman" panose="02020603050405020304" pitchFamily="18" charset="0"/>
              </a:rPr>
              <a:t>forget gate</a:t>
            </a:r>
          </a:p>
          <a:p>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4</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C571ABE5-B88B-5E45-95E5-84D723D66B2A}"/>
              </a:ext>
            </a:extLst>
          </p:cNvPr>
          <p:cNvSpPr txBox="1"/>
          <p:nvPr/>
        </p:nvSpPr>
        <p:spPr>
          <a:xfrm>
            <a:off x="6400800" y="590723"/>
            <a:ext cx="679994" cy="369332"/>
          </a:xfrm>
          <a:prstGeom prst="rect">
            <a:avLst/>
          </a:prstGeom>
          <a:solidFill>
            <a:srgbClr val="FFFF00"/>
          </a:solidFill>
        </p:spPr>
        <p:txBody>
          <a:bodyPr wrap="none" rtlCol="0">
            <a:spAutoFit/>
          </a:bodyPr>
          <a:lstStyle/>
          <a:p>
            <a:r>
              <a:rPr kumimoji="1" lang="en-US" altLang="zh-TW" dirty="0"/>
              <a:t>input</a:t>
            </a:r>
            <a:endParaRPr kumimoji="1" lang="zh-TW" altLang="en-US" dirty="0"/>
          </a:p>
        </p:txBody>
      </p:sp>
      <p:sp>
        <p:nvSpPr>
          <p:cNvPr id="8" name="文字方塊 7">
            <a:extLst>
              <a:ext uri="{FF2B5EF4-FFF2-40B4-BE49-F238E27FC236}">
                <a16:creationId xmlns:a16="http://schemas.microsoft.com/office/drawing/2014/main" id="{4540F64E-96BB-A744-9C55-FDE5ADEECED0}"/>
              </a:ext>
            </a:extLst>
          </p:cNvPr>
          <p:cNvSpPr txBox="1"/>
          <p:nvPr/>
        </p:nvSpPr>
        <p:spPr>
          <a:xfrm>
            <a:off x="7867953" y="590723"/>
            <a:ext cx="1349344" cy="369332"/>
          </a:xfrm>
          <a:prstGeom prst="rect">
            <a:avLst/>
          </a:prstGeom>
          <a:solidFill>
            <a:srgbClr val="FFFF00"/>
          </a:solidFill>
        </p:spPr>
        <p:txBody>
          <a:bodyPr wrap="none" rtlCol="0">
            <a:spAutoFit/>
          </a:bodyPr>
          <a:lstStyle/>
          <a:p>
            <a:r>
              <a:rPr kumimoji="1" lang="en-US" altLang="zh-TW" dirty="0"/>
              <a:t>hidden layer</a:t>
            </a:r>
            <a:endParaRPr kumimoji="1" lang="zh-TW" altLang="en-US" dirty="0"/>
          </a:p>
        </p:txBody>
      </p:sp>
      <p:sp>
        <p:nvSpPr>
          <p:cNvPr id="9" name="文字方塊 8">
            <a:extLst>
              <a:ext uri="{FF2B5EF4-FFF2-40B4-BE49-F238E27FC236}">
                <a16:creationId xmlns:a16="http://schemas.microsoft.com/office/drawing/2014/main" id="{D8E3C6AD-2546-CD4F-A32F-F105C558154F}"/>
              </a:ext>
            </a:extLst>
          </p:cNvPr>
          <p:cNvSpPr txBox="1"/>
          <p:nvPr/>
        </p:nvSpPr>
        <p:spPr>
          <a:xfrm>
            <a:off x="10004456" y="590723"/>
            <a:ext cx="825867" cy="369332"/>
          </a:xfrm>
          <a:prstGeom prst="rect">
            <a:avLst/>
          </a:prstGeom>
          <a:solidFill>
            <a:srgbClr val="FFFF00"/>
          </a:solidFill>
        </p:spPr>
        <p:txBody>
          <a:bodyPr wrap="none" rtlCol="0">
            <a:spAutoFit/>
          </a:bodyPr>
          <a:lstStyle/>
          <a:p>
            <a:r>
              <a:rPr kumimoji="1" lang="en-US" altLang="zh-TW" dirty="0"/>
              <a:t>output</a:t>
            </a:r>
            <a:endParaRPr kumimoji="1" lang="zh-TW" altLang="en-US" dirty="0"/>
          </a:p>
        </p:txBody>
      </p:sp>
      <p:sp>
        <p:nvSpPr>
          <p:cNvPr id="15" name="向右箭號 14">
            <a:extLst>
              <a:ext uri="{FF2B5EF4-FFF2-40B4-BE49-F238E27FC236}">
                <a16:creationId xmlns:a16="http://schemas.microsoft.com/office/drawing/2014/main" id="{84338644-90D3-4143-B1D7-ACA77857CB14}"/>
              </a:ext>
            </a:extLst>
          </p:cNvPr>
          <p:cNvSpPr/>
          <p:nvPr/>
        </p:nvSpPr>
        <p:spPr>
          <a:xfrm>
            <a:off x="7171286" y="707920"/>
            <a:ext cx="606175" cy="1349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向右箭號 15">
            <a:extLst>
              <a:ext uri="{FF2B5EF4-FFF2-40B4-BE49-F238E27FC236}">
                <a16:creationId xmlns:a16="http://schemas.microsoft.com/office/drawing/2014/main" id="{36E85725-231F-074B-BA75-7136F4F30C6C}"/>
              </a:ext>
            </a:extLst>
          </p:cNvPr>
          <p:cNvSpPr/>
          <p:nvPr/>
        </p:nvSpPr>
        <p:spPr>
          <a:xfrm>
            <a:off x="9307713" y="707919"/>
            <a:ext cx="606175" cy="1349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向右箭號 16">
            <a:extLst>
              <a:ext uri="{FF2B5EF4-FFF2-40B4-BE49-F238E27FC236}">
                <a16:creationId xmlns:a16="http://schemas.microsoft.com/office/drawing/2014/main" id="{3E26CD18-0BAD-BD42-8DEE-C9B4C5330A23}"/>
              </a:ext>
            </a:extLst>
          </p:cNvPr>
          <p:cNvSpPr/>
          <p:nvPr/>
        </p:nvSpPr>
        <p:spPr>
          <a:xfrm rot="5400000">
            <a:off x="8001780" y="1323086"/>
            <a:ext cx="606175" cy="1349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向右箭號 17">
            <a:extLst>
              <a:ext uri="{FF2B5EF4-FFF2-40B4-BE49-F238E27FC236}">
                <a16:creationId xmlns:a16="http://schemas.microsoft.com/office/drawing/2014/main" id="{615BFCFA-C1C9-E04B-A023-4B2913C964B7}"/>
              </a:ext>
            </a:extLst>
          </p:cNvPr>
          <p:cNvSpPr/>
          <p:nvPr/>
        </p:nvSpPr>
        <p:spPr>
          <a:xfrm rot="16200000">
            <a:off x="8526801" y="1333355"/>
            <a:ext cx="606175" cy="1349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文字方塊 18">
            <a:extLst>
              <a:ext uri="{FF2B5EF4-FFF2-40B4-BE49-F238E27FC236}">
                <a16:creationId xmlns:a16="http://schemas.microsoft.com/office/drawing/2014/main" id="{844AE55B-9D0D-D647-A89C-5E8CC5BB6C98}"/>
              </a:ext>
            </a:extLst>
          </p:cNvPr>
          <p:cNvSpPr txBox="1"/>
          <p:nvPr/>
        </p:nvSpPr>
        <p:spPr>
          <a:xfrm>
            <a:off x="8054574" y="1812402"/>
            <a:ext cx="976101" cy="369332"/>
          </a:xfrm>
          <a:prstGeom prst="rect">
            <a:avLst/>
          </a:prstGeom>
          <a:solidFill>
            <a:srgbClr val="FFFF00"/>
          </a:solidFill>
        </p:spPr>
        <p:txBody>
          <a:bodyPr wrap="none" rtlCol="0">
            <a:spAutoFit/>
          </a:bodyPr>
          <a:lstStyle/>
          <a:p>
            <a:r>
              <a:rPr kumimoji="1" lang="en-US" altLang="zh-TW" dirty="0"/>
              <a:t>memory</a:t>
            </a:r>
            <a:endParaRPr kumimoji="1" lang="zh-TW" altLang="en-US" dirty="0"/>
          </a:p>
        </p:txBody>
      </p:sp>
    </p:spTree>
    <p:extLst>
      <p:ext uri="{BB962C8B-B14F-4D97-AF65-F5344CB8AC3E}">
        <p14:creationId xmlns:p14="http://schemas.microsoft.com/office/powerpoint/2010/main" val="2668748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Experiment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5"/>
            <a:ext cx="10515600" cy="4523804"/>
          </a:xfrm>
        </p:spPr>
        <p:txBody>
          <a:bodyPr/>
          <a:lstStyle/>
          <a:p>
            <a:r>
              <a:rPr kumimoji="1" lang="en-US" altLang="zh-TW" dirty="0">
                <a:latin typeface="Times New Roman" panose="02020603050405020304" pitchFamily="18" charset="0"/>
                <a:cs typeface="Times New Roman" panose="02020603050405020304" pitchFamily="18" charset="0"/>
              </a:rPr>
              <a:t>data</a:t>
            </a:r>
          </a:p>
          <a:p>
            <a:pPr lvl="1"/>
            <a:r>
              <a:rPr kumimoji="1" lang="en-US" altLang="zh-TW" dirty="0" err="1">
                <a:latin typeface="Times New Roman" panose="02020603050405020304" pitchFamily="18" charset="0"/>
                <a:cs typeface="Times New Roman" panose="02020603050405020304" pitchFamily="18" charset="0"/>
              </a:rPr>
              <a:t>Snyrey</a:t>
            </a:r>
            <a:r>
              <a:rPr kumimoji="1" lang="en-US" altLang="zh-TW" dirty="0">
                <a:latin typeface="Times New Roman" panose="02020603050405020304" pitchFamily="18" charset="0"/>
                <a:cs typeface="Times New Roman" panose="02020603050405020304" pitchFamily="18" charset="0"/>
              </a:rPr>
              <a:t> Platform</a:t>
            </a:r>
          </a:p>
          <a:p>
            <a:pPr lvl="1"/>
            <a:r>
              <a:rPr kumimoji="1" lang="en-US" altLang="zh-TW" dirty="0">
                <a:latin typeface="Times New Roman" panose="02020603050405020304" pitchFamily="18" charset="0"/>
                <a:cs typeface="Times New Roman" panose="02020603050405020304" pitchFamily="18" charset="0"/>
              </a:rPr>
              <a:t>Convention: 2 over 1 (CCBA version).</a:t>
            </a:r>
          </a:p>
          <a:p>
            <a:pPr lvl="1"/>
            <a:r>
              <a:rPr kumimoji="1" lang="en-US" altLang="zh-TW" dirty="0">
                <a:latin typeface="Times New Roman" panose="02020603050405020304" pitchFamily="18" charset="0"/>
                <a:cs typeface="Times New Roman" panose="02020603050405020304" pitchFamily="18" charset="0"/>
              </a:rPr>
              <a:t>Each datum has bidding sequence and double dummy result.</a:t>
            </a:r>
          </a:p>
          <a:p>
            <a:pPr lvl="1"/>
            <a:r>
              <a:rPr kumimoji="1" lang="en-US" altLang="zh-TW" dirty="0">
                <a:latin typeface="Times New Roman" panose="02020603050405020304" pitchFamily="18" charset="0"/>
                <a:cs typeface="Times New Roman" panose="02020603050405020304" pitchFamily="18" charset="0"/>
              </a:rPr>
              <a:t>Nearly 700,000 data, 70% training, 20% validation, 10% testing.</a:t>
            </a:r>
          </a:p>
          <a:p>
            <a:r>
              <a:rPr kumimoji="1" lang="en-US" altLang="zh-TW" dirty="0">
                <a:latin typeface="Times New Roman" panose="02020603050405020304" pitchFamily="18" charset="0"/>
                <a:cs typeface="Times New Roman" panose="02020603050405020304" pitchFamily="18" charset="0"/>
              </a:rPr>
              <a:t>model’s input</a:t>
            </a:r>
          </a:p>
          <a:p>
            <a:pPr lvl="1"/>
            <a:r>
              <a:rPr kumimoji="1" lang="en-US" altLang="zh-TW" dirty="0">
                <a:latin typeface="Times New Roman" panose="02020603050405020304" pitchFamily="18" charset="0"/>
                <a:cs typeface="Times New Roman" panose="02020603050405020304" pitchFamily="18" charset="0"/>
              </a:rPr>
              <a:t>Own hand, previous bidding action, check rule, vulnerability, and position.</a:t>
            </a:r>
          </a:p>
          <a:p>
            <a:r>
              <a:rPr kumimoji="1" lang="en-US" altLang="zh-TW" dirty="0">
                <a:latin typeface="Times New Roman" panose="02020603050405020304" pitchFamily="18" charset="0"/>
                <a:cs typeface="Times New Roman" panose="02020603050405020304" pitchFamily="18" charset="0"/>
              </a:rPr>
              <a:t>model’s output</a:t>
            </a:r>
          </a:p>
          <a:p>
            <a:pPr lvl="1"/>
            <a:r>
              <a:rPr kumimoji="1" lang="en-US" altLang="zh-TW" dirty="0">
                <a:latin typeface="Times New Roman" panose="02020603050405020304" pitchFamily="18" charset="0"/>
                <a:cs typeface="Times New Roman" panose="02020603050405020304" pitchFamily="18" charset="0"/>
              </a:rPr>
              <a:t>prediction of hand distribution of all players</a:t>
            </a:r>
          </a:p>
          <a:p>
            <a:pPr lvl="1"/>
            <a:r>
              <a:rPr kumimoji="1" lang="en-US" altLang="zh-TW" dirty="0">
                <a:latin typeface="Times New Roman" panose="02020603050405020304" pitchFamily="18" charset="0"/>
                <a:cs typeface="Times New Roman" panose="02020603050405020304" pitchFamily="18" charset="0"/>
              </a:rPr>
              <a:t>bidding action</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5</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2702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Result</a:t>
            </a:r>
            <a:endParaRPr kumimoji="1"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62532B61-62C2-DC40-9F53-9C67962745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906481"/>
            <a:ext cx="5774076" cy="3902181"/>
          </a:xfrm>
        </p:spPr>
      </p:pic>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6</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D3D94ECC-8F4C-ED43-8330-177AF0CE68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4851" y="1906481"/>
            <a:ext cx="5763803" cy="3930790"/>
          </a:xfrm>
          <a:prstGeom prst="rect">
            <a:avLst/>
          </a:prstGeom>
        </p:spPr>
      </p:pic>
    </p:spTree>
    <p:extLst>
      <p:ext uri="{BB962C8B-B14F-4D97-AF65-F5344CB8AC3E}">
        <p14:creationId xmlns:p14="http://schemas.microsoft.com/office/powerpoint/2010/main" val="3077441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Result</a:t>
            </a:r>
            <a:endParaRPr kumimoji="1"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8E88A7F1-D4E9-BA42-AF61-418724C3B7B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7566" y="1558926"/>
            <a:ext cx="10426700" cy="2413000"/>
          </a:xfrm>
        </p:spPr>
      </p:pic>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7</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89492712-3F65-4645-9E2D-B0DD53A702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7566" y="4179888"/>
            <a:ext cx="10502900" cy="2362200"/>
          </a:xfrm>
          <a:prstGeom prst="rect">
            <a:avLst/>
          </a:prstGeom>
        </p:spPr>
      </p:pic>
    </p:spTree>
    <p:extLst>
      <p:ext uri="{BB962C8B-B14F-4D97-AF65-F5344CB8AC3E}">
        <p14:creationId xmlns:p14="http://schemas.microsoft.com/office/powerpoint/2010/main" val="3051400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Result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Compare with the result in “Automatic Bridge Bidding Using Deep Reinforcement Learning, </a:t>
            </a:r>
            <a:r>
              <a:rPr kumimoji="1" lang="en-US" altLang="zh-TW" dirty="0" err="1">
                <a:latin typeface="Times New Roman" panose="02020603050405020304" pitchFamily="18" charset="0"/>
                <a:cs typeface="Times New Roman" panose="02020603050405020304" pitchFamily="18" charset="0"/>
              </a:rPr>
              <a:t>Yeh</a:t>
            </a:r>
            <a:r>
              <a:rPr kumimoji="1" lang="en-US" altLang="zh-TW" dirty="0">
                <a:latin typeface="Times New Roman" panose="02020603050405020304" pitchFamily="18" charset="0"/>
                <a:cs typeface="Times New Roman" panose="02020603050405020304" pitchFamily="18" charset="0"/>
              </a:rPr>
              <a:t>, Hsieh, and Lin, 2018”.</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8</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0265C1A4-6534-3848-88B6-7834244ECF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1507" y="2996238"/>
            <a:ext cx="7528985" cy="3363288"/>
          </a:xfrm>
          <a:prstGeom prst="rect">
            <a:avLst/>
          </a:prstGeom>
        </p:spPr>
      </p:pic>
    </p:spTree>
    <p:extLst>
      <p:ext uri="{BB962C8B-B14F-4D97-AF65-F5344CB8AC3E}">
        <p14:creationId xmlns:p14="http://schemas.microsoft.com/office/powerpoint/2010/main" val="92130361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2645</TotalTime>
  <Words>382</Words>
  <Application>Microsoft Macintosh PowerPoint</Application>
  <PresentationFormat>寬螢幕</PresentationFormat>
  <Paragraphs>48</Paragraphs>
  <Slides>8</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8</vt:i4>
      </vt:variant>
    </vt:vector>
  </HeadingPairs>
  <TitlesOfParts>
    <vt:vector size="14" baseType="lpstr">
      <vt:lpstr>新細明體</vt:lpstr>
      <vt:lpstr>Arial</vt:lpstr>
      <vt:lpstr>Calibri</vt:lpstr>
      <vt:lpstr>Calibri Light</vt:lpstr>
      <vt:lpstr>Times New Roman</vt:lpstr>
      <vt:lpstr>Office 佈景主題</vt:lpstr>
      <vt:lpstr>A Neural Model for Automatic Bidding of Contract Bridge</vt:lpstr>
      <vt:lpstr>Abstract</vt:lpstr>
      <vt:lpstr>Problem Setup</vt:lpstr>
      <vt:lpstr>RNN and LSTM</vt:lpstr>
      <vt:lpstr>Experiment</vt:lpstr>
      <vt:lpstr>Result</vt:lpstr>
      <vt:lpstr>Result</vt:lpstr>
      <vt:lpstr>Result</vt:lpstr>
    </vt:vector>
  </TitlesOfParts>
  <Company/>
  <LinksUpToDate>false</LinksUpToDate>
  <SharedDoc>false</SharedDoc>
  <HyperlinksChanged>false</HyperlinksChanged>
  <AppVersion>16.0009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Microsoft Office 使用者</dc:creator>
  <cp:lastModifiedBy>Microsoft Office 使用者</cp:lastModifiedBy>
  <cp:revision>26</cp:revision>
  <dcterms:created xsi:type="dcterms:W3CDTF">2023-01-02T07:42:35Z</dcterms:created>
  <dcterms:modified xsi:type="dcterms:W3CDTF">2023-01-31T07:13:49Z</dcterms:modified>
</cp:coreProperties>
</file>