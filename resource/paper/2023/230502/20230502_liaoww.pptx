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78" r:id="rId4"/>
    <p:sldId id="292" r:id="rId5"/>
    <p:sldId id="291" r:id="rId6"/>
    <p:sldId id="294" r:id="rId7"/>
    <p:sldId id="293" r:id="rId8"/>
    <p:sldId id="295" r:id="rId9"/>
    <p:sldId id="296" r:id="rId10"/>
    <p:sldId id="299" r:id="rId11"/>
    <p:sldId id="297" r:id="rId12"/>
    <p:sldId id="298" r:id="rId13"/>
    <p:sldId id="269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655" autoAdjust="0"/>
  </p:normalViewPr>
  <p:slideViewPr>
    <p:cSldViewPr snapToGrid="0">
      <p:cViewPr varScale="1">
        <p:scale>
          <a:sx n="62" d="100"/>
          <a:sy n="62" d="100"/>
        </p:scale>
        <p:origin x="7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667DF-ECF2-46EC-8446-7B955A747664}" type="datetimeFigureOut">
              <a:rPr lang="zh-TW" altLang="en-US" smtClean="0"/>
              <a:t>2023/5/2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562F9-E128-4B6E-872C-5F1FFAE335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55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0929B-4ACD-4AAE-9309-95C05ACE2D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33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801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6441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1050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1172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286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1360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51566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790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3430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354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4227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8045-16E7-451C-65FC-B158983EC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F068A-58AE-8713-2F67-C52F90F86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BA286-7DBB-ABAF-AE2A-AD9DDE77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D569-BD2D-4D1C-B67A-2A5601E6B3E3}" type="datetime1">
              <a:rPr lang="zh-TW" altLang="en-US" smtClean="0"/>
              <a:t>2023/5/2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0D4C-517F-3A75-2138-B35995E6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CC6E-1A90-9EBF-3395-DCC19E86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30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D236-5FFE-A036-B937-040C503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EEFD4-29DF-59B4-50ED-3F42FB6C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25951-765D-8F13-9483-0B7BC834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F9AF4-0F76-4C66-B441-D1B2D7ED3BEC}" type="datetime1">
              <a:rPr lang="zh-TW" altLang="en-US" smtClean="0"/>
              <a:t>2023/5/2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DCF9E-E6A3-995C-A1B7-97A453CB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85ECA-E5DF-198A-D862-E85E0172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636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4931-3342-74A5-5F4A-1ACADB36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ABAD9-77A7-31C2-CE3B-83AB0265A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B3F41-FADE-64E8-94E5-51E3BAD8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6C79-1DF6-49C7-8CD7-FD6F5B614111}" type="datetime1">
              <a:rPr lang="zh-TW" altLang="en-US" smtClean="0"/>
              <a:t>2023/5/2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F82AA-63C8-C306-BDDF-A523D9F8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83CF1-15A7-D9A0-AB7D-63A9F320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62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4541-876E-1323-86BB-134B34EB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7A99-40BB-A978-A62D-456D85CB3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C4AB-2328-C15C-EDBA-A6D984971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85A17-9FA9-28E5-585D-C1967447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13F3-84C2-4D70-A0DE-40780363C9EE}" type="datetime1">
              <a:rPr lang="zh-TW" altLang="en-US" smtClean="0"/>
              <a:t>2023/5/2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A8324-6BD6-434F-B46A-42E28860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986F1-3A6D-B41E-CFB4-7417B1F7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11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C63D-C7AF-2A59-F8AD-A038C042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C0EB9-FD48-3B5F-2543-5658F7F50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B3736-516F-9579-FACA-DCB21A18E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03EA5-7849-E5F4-BF87-F3FC86368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1D914-6ED8-D257-6CC2-104C6745C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A8773-F0F7-3DBC-9C59-CA8EF9CF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FA993-B73B-4E0A-AC46-BDD6B2FA04A9}" type="datetime1">
              <a:rPr lang="zh-TW" altLang="en-US" smtClean="0"/>
              <a:t>2023/5/2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508DB-1C1C-AFC2-2C1A-1DDBC10F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9407E-CED6-F5A6-39DB-82B07C84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34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8DAB-3374-67D6-5EB1-2C3253F5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D7194-F69E-4DA8-89C4-AE8729BF6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ADAD-A8C5-4E4F-97C2-B2F188A7EEC4}" type="datetime1">
              <a:rPr lang="zh-TW" altLang="en-US" smtClean="0"/>
              <a:t>2023/5/2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D0780-D9CB-B34D-A2E0-1D14B42F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4697E-BF8C-08DA-29D6-3B9ACC5C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060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7CFF4D-DBD6-E4FB-30B0-3844F235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DE65-CDBA-47B3-8C63-EAD937C328D1}" type="datetime1">
              <a:rPr lang="zh-TW" altLang="en-US" smtClean="0"/>
              <a:t>2023/5/2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3340C-74EA-761B-F592-FD6C4469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16107-4110-8028-60EF-14E5F2D1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81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5481-AD55-0A04-6A16-2FE5FE1FE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FA7E5-F55B-C36B-5945-661CDB1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45507-E0DA-CCE2-C66E-2F29EA6A9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0A186-4631-35C9-68C0-298149FF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9CB4A-921C-4216-9056-986295B6B351}" type="datetime1">
              <a:rPr lang="zh-TW" altLang="en-US" smtClean="0"/>
              <a:t>2023/5/2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AC9F0-1D2E-CD0B-A6B8-A8337FE5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73D3E-1C05-2CFF-6405-4771E57F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45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9362-71C4-6CF9-38E0-C4F81738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231A-174C-8A04-7F37-326E7B3D7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3C50E-C2ED-00AE-E101-79CFAFB17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4BE7B-D25D-CFE2-B089-BAA86DCF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2F44B-5705-4772-8785-D8AAB7BCD3BF}" type="datetime1">
              <a:rPr lang="zh-TW" altLang="en-US" smtClean="0"/>
              <a:t>2023/5/2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0EA70-9CF5-E2A3-4310-0B5FAE7B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4B4A-B942-A3BD-6BA9-01E17E55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09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A6AD-5403-1ACC-D4D1-96B39DD8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60034-6B39-C082-088F-72D19BFE1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03D3-C2D4-4034-17A0-8D2928B1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920-BF4E-4A34-B8B5-5D2BB9836F35}" type="datetime1">
              <a:rPr lang="zh-TW" altLang="en-US" smtClean="0"/>
              <a:t>2023/5/2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95024-0915-E154-0CBE-65A94D23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7C4D6-1F53-D5A1-0F98-4AF14C84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94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8714A-61BB-5406-A5DA-BC8910B5C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0A4F-7A22-6245-0B0A-635765A85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23698-D80C-5B02-26C3-B7E0D020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23D5-CB9E-42C4-A443-74EE43A78F1A}" type="datetime1">
              <a:rPr lang="zh-TW" altLang="en-US" smtClean="0"/>
              <a:t>2023/5/2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61CDA-4309-2D61-CD40-8DE7FA2E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DEE89-0D64-3A74-3CEA-425D035B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92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CB272-2800-21BB-F226-6BCB7515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A0C83-E1FB-8AAC-CDEA-98C2D15B7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59ED-035C-8CC1-CFE9-73EA26D0C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CDBA5-E58B-4CB2-961D-91717090BBCB}" type="datetime1">
              <a:rPr lang="zh-TW" altLang="en-US" smtClean="0"/>
              <a:t>2023/5/2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ED3AA-0139-02CF-DF2C-5E6C9CB6C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16DD-A0C6-441C-56CA-8F27599A8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37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01A9-EC42-0349-C42C-1EF1F72BF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3962" y="1122363"/>
            <a:ext cx="9966552" cy="2387600"/>
          </a:xfrm>
        </p:spPr>
        <p:txBody>
          <a:bodyPr>
            <a:noAutofit/>
          </a:bodyPr>
          <a:lstStyle/>
          <a:p>
            <a:r>
              <a:rPr lang="en-US" altLang="zh-TW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Shape-Preserving Pattern Matching</a:t>
            </a:r>
            <a:endParaRPr lang="zh-TW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BE6CB-9CF8-48E7-B831-C6B10B6C0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014" y="3928587"/>
            <a:ext cx="10842447" cy="1655762"/>
          </a:xfrm>
        </p:spPr>
        <p:txBody>
          <a:bodyPr>
            <a:normAutofit/>
          </a:bodyPr>
          <a:lstStyle/>
          <a:p>
            <a:r>
              <a:rPr lang="it-IT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Domenico Cantone, Simone Faro and M.Oguzhan Külekci, </a:t>
            </a: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21st Italian Conference on Theoretical Computer Science, 14-16 September 2020, Ischia, Italy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272805CA-C188-EA0E-0232-5E39FC11B582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Wen-Wen Liao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May. 2,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AB76B-0FAF-9711-6F27-1F8F6638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7857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3735-885C-D762-2A7C-7760F6C5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866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A558-83F5-DC4B-E8C9-3EB0801F3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298"/>
            <a:ext cx="10797330" cy="469783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sequences of integers x and z of the same length m ≥ 2 are shape-isomorphic if, up to a positive proportional factor, the sequences of the distances between consecutive elements of x and z are the same, i.e., if for some ρ &gt; 0 one has x[</a:t>
            </a:r>
            <a:r>
              <a:rPr kumimoji="1"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+ 1] − x[</a:t>
            </a:r>
            <a:r>
              <a:rPr kumimoji="1"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ρ(z[</a:t>
            </a:r>
            <a:r>
              <a:rPr kumimoji="1"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+ 1] − z[</a:t>
            </a:r>
            <a:r>
              <a:rPr kumimoji="1"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]), for each 1 ≤ </a:t>
            </a:r>
            <a:r>
              <a:rPr kumimoji="1"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m − 1. In this paper we present two linear-time algorithms which, given a text y and a pattern x over an integer alphabet, finds all the factors of y that are shape-isomorphic to x. Our first solution is a two steps algorithm based on a reduction to the standard exact string matching problem, while our second solution is an online algorithm based on the well-known Knuth-Morris-Pratt string matching algorithm. We call this problem shape-preserving pattern-matching problem.</a:t>
            </a:r>
            <a:endParaRPr kumimoji="1" lang="zh-TW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5E3F4-879A-1E75-AEA8-8BFC5FE9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1907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Shape-Preserving Pattern Matching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Finer than order-isomorphism.</a:t>
            </a:r>
          </a:p>
          <a:p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Proportionality factors is 3 and 2, respectively.</a:t>
            </a:r>
          </a:p>
          <a:p>
            <a:endParaRPr kumimoji="1"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0BDDA1-9384-B5F4-A1E8-5D74DA400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152" y="3294023"/>
            <a:ext cx="8211696" cy="24387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C84E470-AD84-9C0D-BF9D-44F57ACE0155}"/>
              </a:ext>
            </a:extLst>
          </p:cNvPr>
          <p:cNvSpPr txBox="1"/>
          <p:nvPr/>
        </p:nvSpPr>
        <p:spPr>
          <a:xfrm>
            <a:off x="4126776" y="3150827"/>
            <a:ext cx="1317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6     6     9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801235-4D8A-6C99-A040-C12C7E571FE0}"/>
              </a:ext>
            </a:extLst>
          </p:cNvPr>
          <p:cNvSpPr txBox="1"/>
          <p:nvPr/>
        </p:nvSpPr>
        <p:spPr>
          <a:xfrm>
            <a:off x="6986517" y="3150827"/>
            <a:ext cx="1317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4     4     6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6B9437-662A-AC03-C017-A95FFE9EB656}"/>
              </a:ext>
            </a:extLst>
          </p:cNvPr>
          <p:cNvSpPr txBox="1"/>
          <p:nvPr/>
        </p:nvSpPr>
        <p:spPr>
          <a:xfrm>
            <a:off x="2889646" y="3933899"/>
            <a:ext cx="1317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2     2     3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057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SPPM to Exact Pattern Matching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4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14 18 15 18 12 21 15 25 26</a:t>
                </a:r>
              </a:p>
              <a:p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=  6   8   4  10  6</a:t>
                </a:r>
              </a:p>
              <a:p>
                <a:endParaRPr kumimoji="1" lang="en-US" altLang="zh-TW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k to separate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TW" sz="2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max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: </m:t>
                        </m:r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&gt;0 </m:t>
                        </m:r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𝑎𝑛𝑑</m:t>
                        </m:r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TW" sz="2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 sz="2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≠</m:t>
                        </m:r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TW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kumimoji="1" lang="en-US" altLang="zh-TW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e>
                        </m:d>
                      </m:e>
                    </m:d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zh-TW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kumimoji="1" lang="en-US" altLang="zh-TW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= 4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6 8 4 10 =&gt; prefix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10 6 =&gt; suffix</a:t>
                </a: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903" t="-20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6368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SPPM to Exact Pattern Matching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5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Delta function: for </a:t>
                </a:r>
                <a14:m>
                  <m:oMath xmlns:m="http://schemas.openxmlformats.org/officeDocument/2006/math"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1≤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  <m:r>
                      <a:rPr kumimoji="1" lang="en-US" altLang="zh-TW" sz="2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l-GR" altLang="zh-TW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d>
                      <m:dPr>
                        <m:ctrlPr>
                          <a:rPr kumimoji="1" lang="en-US" altLang="zh-TW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1" lang="en-US" altLang="zh-TW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≔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TW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TW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kumimoji="1" lang="en-US" altLang="zh-TW" sz="2600" b="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Last Non-Zero Function: for </a:t>
                </a:r>
                <a14:m>
                  <m:oMath xmlns:m="http://schemas.openxmlformats.org/officeDocument/2006/math"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1≤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−1, </m:t>
                    </m:r>
                    <m:r>
                      <a:rPr kumimoji="1" lang="zh-TW" alt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d>
                      <m:dPr>
                        <m:ctrlP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≔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𝑤h𝑒𝑟𝑒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TW" sz="2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max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⁡({1≤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+1: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]≠0}∪{0})</m:t>
                    </m:r>
                  </m:oMath>
                </a14:m>
                <a:endParaRPr kumimoji="1" lang="en-US" altLang="zh-TW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Ratios Function: for </a:t>
                </a:r>
                <a14:m>
                  <m:oMath xmlns:m="http://schemas.openxmlformats.org/officeDocument/2006/math">
                    <m:r>
                      <a:rPr kumimoji="1" lang="en-US" altLang="zh-TW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1≤</m:t>
                    </m:r>
                    <m:r>
                      <a:rPr kumimoji="1" lang="en-US" altLang="zh-TW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kumimoji="1" lang="en-US" altLang="zh-TW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kumimoji="1" lang="en-US" altLang="zh-TW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kumimoji="1" lang="en-US" altLang="zh-TW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−1, </m:t>
                    </m:r>
                    <m:r>
                      <m:rPr>
                        <m:sty m:val="p"/>
                      </m:rPr>
                      <a:rPr kumimoji="1" lang="el-GR" altLang="zh-TW" sz="26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ψ</m:t>
                    </m:r>
                    <m:d>
                      <m:dPr>
                        <m:ctrlPr>
                          <a:rPr kumimoji="1"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1"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kumimoji="1" lang="en-US" altLang="zh-TW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≔</m:t>
                    </m:r>
                    <m:f>
                      <m:fPr>
                        <m:ctrlPr>
                          <a:rPr kumimoji="1"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1"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kumimoji="1"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kumimoji="1"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kumimoji="1"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+1]</m:t>
                        </m:r>
                      </m:num>
                      <m:den>
                        <m:r>
                          <a:rPr kumimoji="1" lang="zh-TW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kumimoji="1" lang="en-US" altLang="zh-TW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kumimoji="1"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kumimoji="1"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den>
                    </m:f>
                  </m:oMath>
                </a14:m>
                <a:endParaRPr kumimoji="1" lang="en-US" altLang="zh-TW" sz="26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903" t="-20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0612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SPPM to Exact Pattern Matching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6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14 18 15 18 12 21 15 25 26</a:t>
                </a:r>
              </a:p>
              <a:p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=  6   8   4  10  6</a:t>
                </a:r>
              </a:p>
              <a:p>
                <a:endParaRPr kumimoji="1" lang="en-US" altLang="zh-TW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6 8 4 10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10 6</a:t>
                </a: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903" t="-20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23635B83-8615-761C-394C-3ACC4A51E6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5688913"/>
                  </p:ext>
                </p:extLst>
              </p:nvPr>
            </p:nvGraphicFramePr>
            <p:xfrm>
              <a:off x="1605429" y="4597337"/>
              <a:ext cx="4486835" cy="14833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510553">
                      <a:extLst>
                        <a:ext uri="{9D8B030D-6E8A-4147-A177-3AD203B41FA5}">
                          <a16:colId xmlns:a16="http://schemas.microsoft.com/office/drawing/2014/main" val="3229438571"/>
                        </a:ext>
                      </a:extLst>
                    </a:gridCol>
                    <a:gridCol w="992094">
                      <a:extLst>
                        <a:ext uri="{9D8B030D-6E8A-4147-A177-3AD203B41FA5}">
                          <a16:colId xmlns:a16="http://schemas.microsoft.com/office/drawing/2014/main" val="3694762793"/>
                        </a:ext>
                      </a:extLst>
                    </a:gridCol>
                    <a:gridCol w="992094">
                      <a:extLst>
                        <a:ext uri="{9D8B030D-6E8A-4147-A177-3AD203B41FA5}">
                          <a16:colId xmlns:a16="http://schemas.microsoft.com/office/drawing/2014/main" val="2964531836"/>
                        </a:ext>
                      </a:extLst>
                    </a:gridCol>
                    <a:gridCol w="992094">
                      <a:extLst>
                        <a:ext uri="{9D8B030D-6E8A-4147-A177-3AD203B41FA5}">
                          <a16:colId xmlns:a16="http://schemas.microsoft.com/office/drawing/2014/main" val="22779443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0179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sz="18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TW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 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824845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γ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sz="18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TW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 )[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036590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Ψ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sz="18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TW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 )[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9257608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23635B83-8615-761C-394C-3ACC4A51E6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5688913"/>
                  </p:ext>
                </p:extLst>
              </p:nvPr>
            </p:nvGraphicFramePr>
            <p:xfrm>
              <a:off x="1605429" y="4597337"/>
              <a:ext cx="4486835" cy="14833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510553">
                      <a:extLst>
                        <a:ext uri="{9D8B030D-6E8A-4147-A177-3AD203B41FA5}">
                          <a16:colId xmlns:a16="http://schemas.microsoft.com/office/drawing/2014/main" val="3229438571"/>
                        </a:ext>
                      </a:extLst>
                    </a:gridCol>
                    <a:gridCol w="992094">
                      <a:extLst>
                        <a:ext uri="{9D8B030D-6E8A-4147-A177-3AD203B41FA5}">
                          <a16:colId xmlns:a16="http://schemas.microsoft.com/office/drawing/2014/main" val="3694762793"/>
                        </a:ext>
                      </a:extLst>
                    </a:gridCol>
                    <a:gridCol w="992094">
                      <a:extLst>
                        <a:ext uri="{9D8B030D-6E8A-4147-A177-3AD203B41FA5}">
                          <a16:colId xmlns:a16="http://schemas.microsoft.com/office/drawing/2014/main" val="2964531836"/>
                        </a:ext>
                      </a:extLst>
                    </a:gridCol>
                    <a:gridCol w="992094">
                      <a:extLst>
                        <a:ext uri="{9D8B030D-6E8A-4147-A177-3AD203B41FA5}">
                          <a16:colId xmlns:a16="http://schemas.microsoft.com/office/drawing/2014/main" val="22779443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0179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08197" r="-197581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824845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08197" r="-197581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036590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t="-308197" r="-197581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9257608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E224E06-1028-06B2-FF32-0D7E23029B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1892587"/>
                  </p:ext>
                </p:extLst>
              </p:nvPr>
            </p:nvGraphicFramePr>
            <p:xfrm>
              <a:off x="6863229" y="4597337"/>
              <a:ext cx="3494741" cy="171932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510553">
                      <a:extLst>
                        <a:ext uri="{9D8B030D-6E8A-4147-A177-3AD203B41FA5}">
                          <a16:colId xmlns:a16="http://schemas.microsoft.com/office/drawing/2014/main" val="3229438571"/>
                        </a:ext>
                      </a:extLst>
                    </a:gridCol>
                    <a:gridCol w="992094">
                      <a:extLst>
                        <a:ext uri="{9D8B030D-6E8A-4147-A177-3AD203B41FA5}">
                          <a16:colId xmlns:a16="http://schemas.microsoft.com/office/drawing/2014/main" val="3694762793"/>
                        </a:ext>
                      </a:extLst>
                    </a:gridCol>
                    <a:gridCol w="992094">
                      <a:extLst>
                        <a:ext uri="{9D8B030D-6E8A-4147-A177-3AD203B41FA5}">
                          <a16:colId xmlns:a16="http://schemas.microsoft.com/office/drawing/2014/main" val="296453183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0179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sz="18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TW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 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824845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γ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sz="18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TW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))[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036590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Ψ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sz="18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TW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 )[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18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1" lang="en-US" altLang="zh-TW" sz="18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9257608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E224E06-1028-06B2-FF32-0D7E23029B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1892587"/>
                  </p:ext>
                </p:extLst>
              </p:nvPr>
            </p:nvGraphicFramePr>
            <p:xfrm>
              <a:off x="6863229" y="4597337"/>
              <a:ext cx="3494741" cy="171932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510553">
                      <a:extLst>
                        <a:ext uri="{9D8B030D-6E8A-4147-A177-3AD203B41FA5}">
                          <a16:colId xmlns:a16="http://schemas.microsoft.com/office/drawing/2014/main" val="3229438571"/>
                        </a:ext>
                      </a:extLst>
                    </a:gridCol>
                    <a:gridCol w="992094">
                      <a:extLst>
                        <a:ext uri="{9D8B030D-6E8A-4147-A177-3AD203B41FA5}">
                          <a16:colId xmlns:a16="http://schemas.microsoft.com/office/drawing/2014/main" val="3694762793"/>
                        </a:ext>
                      </a:extLst>
                    </a:gridCol>
                    <a:gridCol w="992094">
                      <a:extLst>
                        <a:ext uri="{9D8B030D-6E8A-4147-A177-3AD203B41FA5}">
                          <a16:colId xmlns:a16="http://schemas.microsoft.com/office/drawing/2014/main" val="296453183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0179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08197" r="-131325" b="-2655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824845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08197" r="-131325" b="-1655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03659069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5"/>
                          <a:stretch>
                            <a:fillRect t="-188000" r="-131325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5"/>
                          <a:stretch>
                            <a:fillRect l="-152761" t="-188000" r="-100613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92576089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20378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SPPM to Exact Pattern Matching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7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14 18 15 18 12 21 15 25 26</a:t>
                </a:r>
              </a:p>
              <a:p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=  6   8   4  10  6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az-Cyrl-AZ" altLang="zh-TW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Г</m:t>
                        </m:r>
                      </m:e>
                      <m:sub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occurrences of </a:t>
                </a:r>
                <a:r>
                  <a:rPr kumimoji="1" lang="el-GR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in </a:t>
                </a:r>
                <a:r>
                  <a:rPr kumimoji="1" lang="el-GR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TW" sz="2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az-Cyrl-AZ" altLang="zh-TW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Г</m:t>
                        </m:r>
                      </m:e>
                      <m:sub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occurrences of </a:t>
                </a:r>
                <a:r>
                  <a:rPr kumimoji="1" lang="el-GR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ψδ</a:t>
                </a:r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 in </a:t>
                </a:r>
                <a:r>
                  <a:rPr kumimoji="1" lang="el-GR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TW" sz="2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endParaRPr kumimoji="1" lang="en-US" altLang="zh-TW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903" t="-20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0BF2568A-A37B-D2B9-0C27-4F4571BA52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8192173"/>
                  </p:ext>
                </p:extLst>
              </p:nvPr>
            </p:nvGraphicFramePr>
            <p:xfrm>
              <a:off x="2421135" y="4055429"/>
              <a:ext cx="7349729" cy="171932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3577">
                      <a:extLst>
                        <a:ext uri="{9D8B030D-6E8A-4147-A177-3AD203B41FA5}">
                          <a16:colId xmlns:a16="http://schemas.microsoft.com/office/drawing/2014/main" val="168467795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84074204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091406456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54445302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254144508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590583674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67807641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368011111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9703374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7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19046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(y) 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24756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γ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(y) )[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67130015"/>
                      </a:ext>
                    </a:extLst>
                  </a:tr>
                  <a:tr h="3433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Ψ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(y) )[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18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1" lang="en-US" altLang="zh-TW" sz="18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1" lang="en-US" altLang="zh-TW" sz="18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18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1" lang="en-US" altLang="zh-TW" sz="18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1" lang="en-US" altLang="zh-TW" sz="18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1" lang="en-US" altLang="zh-TW" sz="18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−6</m:t>
                                    </m:r>
                                  </m:num>
                                  <m:den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1" lang="en-US" altLang="zh-TW" sz="18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1" lang="en-US" altLang="zh-TW" sz="18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14340286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0BF2568A-A37B-D2B9-0C27-4F4571BA52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8192173"/>
                  </p:ext>
                </p:extLst>
              </p:nvPr>
            </p:nvGraphicFramePr>
            <p:xfrm>
              <a:off x="2421135" y="4055429"/>
              <a:ext cx="7349729" cy="171932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3577">
                      <a:extLst>
                        <a:ext uri="{9D8B030D-6E8A-4147-A177-3AD203B41FA5}">
                          <a16:colId xmlns:a16="http://schemas.microsoft.com/office/drawing/2014/main" val="168467795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84074204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091406456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54445302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254144508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590583674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67807641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368011111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9703374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7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19046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(y) 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24756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γ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(y) )[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67130015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Ψ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(y) )[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143750" t="-188000" r="-699219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243750" t="-188000" r="-599219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346457" t="-188000" r="-503937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442969" t="-188000" r="-400000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542969" t="-188000" r="-300000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642969" t="-188000" r="-200000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748819" t="-188000" r="-101575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1434028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9B7F871F-AABF-F7ED-1A7C-D68085E2AD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2964257"/>
                  </p:ext>
                </p:extLst>
              </p:nvPr>
            </p:nvGraphicFramePr>
            <p:xfrm>
              <a:off x="5714843" y="2049040"/>
              <a:ext cx="3327814" cy="110630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0354">
                      <a:extLst>
                        <a:ext uri="{9D8B030D-6E8A-4147-A177-3AD203B41FA5}">
                          <a16:colId xmlns:a16="http://schemas.microsoft.com/office/drawing/2014/main" val="3229438571"/>
                        </a:ext>
                      </a:extLst>
                    </a:gridCol>
                    <a:gridCol w="735820">
                      <a:extLst>
                        <a:ext uri="{9D8B030D-6E8A-4147-A177-3AD203B41FA5}">
                          <a16:colId xmlns:a16="http://schemas.microsoft.com/office/drawing/2014/main" val="3694762793"/>
                        </a:ext>
                      </a:extLst>
                    </a:gridCol>
                    <a:gridCol w="735820">
                      <a:extLst>
                        <a:ext uri="{9D8B030D-6E8A-4147-A177-3AD203B41FA5}">
                          <a16:colId xmlns:a16="http://schemas.microsoft.com/office/drawing/2014/main" val="2964531836"/>
                        </a:ext>
                      </a:extLst>
                    </a:gridCol>
                    <a:gridCol w="735820">
                      <a:extLst>
                        <a:ext uri="{9D8B030D-6E8A-4147-A177-3AD203B41FA5}">
                          <a16:colId xmlns:a16="http://schemas.microsoft.com/office/drawing/2014/main" val="2277944308"/>
                        </a:ext>
                      </a:extLst>
                    </a:gridCol>
                  </a:tblGrid>
                  <a:tr h="2765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3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0179523"/>
                      </a:ext>
                    </a:extLst>
                  </a:tr>
                  <a:tr h="2765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sz="13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13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TW" sz="13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 [</a:t>
                          </a:r>
                          <a:r>
                            <a:rPr kumimoji="1" lang="en-US" altLang="zh-TW" sz="13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-4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82484556"/>
                      </a:ext>
                    </a:extLst>
                  </a:tr>
                  <a:tr h="2765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γ</a:t>
                          </a:r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1" lang="el-GR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sz="13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13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TW" sz="13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 )[</a:t>
                          </a:r>
                          <a:r>
                            <a:rPr kumimoji="1" lang="en-US" altLang="zh-TW" sz="13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03659069"/>
                      </a:ext>
                    </a:extLst>
                  </a:tr>
                  <a:tr h="2765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Ψ</a:t>
                          </a:r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1" lang="el-GR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sz="13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13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TW" sz="13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 )[</a:t>
                          </a:r>
                          <a:r>
                            <a:rPr kumimoji="1" lang="en-US" altLang="zh-TW" sz="13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-2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9257608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9B7F871F-AABF-F7ED-1A7C-D68085E2AD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2964257"/>
                  </p:ext>
                </p:extLst>
              </p:nvPr>
            </p:nvGraphicFramePr>
            <p:xfrm>
              <a:off x="5714843" y="2049040"/>
              <a:ext cx="3327814" cy="110630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0354">
                      <a:extLst>
                        <a:ext uri="{9D8B030D-6E8A-4147-A177-3AD203B41FA5}">
                          <a16:colId xmlns:a16="http://schemas.microsoft.com/office/drawing/2014/main" val="3229438571"/>
                        </a:ext>
                      </a:extLst>
                    </a:gridCol>
                    <a:gridCol w="735820">
                      <a:extLst>
                        <a:ext uri="{9D8B030D-6E8A-4147-A177-3AD203B41FA5}">
                          <a16:colId xmlns:a16="http://schemas.microsoft.com/office/drawing/2014/main" val="3694762793"/>
                        </a:ext>
                      </a:extLst>
                    </a:gridCol>
                    <a:gridCol w="735820">
                      <a:extLst>
                        <a:ext uri="{9D8B030D-6E8A-4147-A177-3AD203B41FA5}">
                          <a16:colId xmlns:a16="http://schemas.microsoft.com/office/drawing/2014/main" val="2964531836"/>
                        </a:ext>
                      </a:extLst>
                    </a:gridCol>
                    <a:gridCol w="735820">
                      <a:extLst>
                        <a:ext uri="{9D8B030D-6E8A-4147-A177-3AD203B41FA5}">
                          <a16:colId xmlns:a16="http://schemas.microsoft.com/office/drawing/2014/main" val="2277944308"/>
                        </a:ext>
                      </a:extLst>
                    </a:gridCol>
                  </a:tblGrid>
                  <a:tr h="2765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3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0179523"/>
                      </a:ext>
                    </a:extLst>
                  </a:tr>
                  <a:tr h="27657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7820" marR="67820" marT="33910" marB="33910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08889" r="-197826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-4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82484556"/>
                      </a:ext>
                    </a:extLst>
                  </a:tr>
                  <a:tr h="27657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7820" marR="67820" marT="33910" marB="33910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04348" r="-197826" b="-1152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03659069"/>
                      </a:ext>
                    </a:extLst>
                  </a:tr>
                  <a:tr h="27657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7820" marR="67820" marT="33910" marB="33910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5"/>
                          <a:stretch>
                            <a:fillRect t="-311111" r="-197826" b="-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-2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9257608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2CE2840-C08E-E46F-C433-E8EBDBE75F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6611590"/>
                  </p:ext>
                </p:extLst>
              </p:nvPr>
            </p:nvGraphicFramePr>
            <p:xfrm>
              <a:off x="9304172" y="2049040"/>
              <a:ext cx="2591994" cy="12896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0354">
                      <a:extLst>
                        <a:ext uri="{9D8B030D-6E8A-4147-A177-3AD203B41FA5}">
                          <a16:colId xmlns:a16="http://schemas.microsoft.com/office/drawing/2014/main" val="3229438571"/>
                        </a:ext>
                      </a:extLst>
                    </a:gridCol>
                    <a:gridCol w="735820">
                      <a:extLst>
                        <a:ext uri="{9D8B030D-6E8A-4147-A177-3AD203B41FA5}">
                          <a16:colId xmlns:a16="http://schemas.microsoft.com/office/drawing/2014/main" val="3694762793"/>
                        </a:ext>
                      </a:extLst>
                    </a:gridCol>
                    <a:gridCol w="735820">
                      <a:extLst>
                        <a:ext uri="{9D8B030D-6E8A-4147-A177-3AD203B41FA5}">
                          <a16:colId xmlns:a16="http://schemas.microsoft.com/office/drawing/2014/main" val="2964531836"/>
                        </a:ext>
                      </a:extLst>
                    </a:gridCol>
                  </a:tblGrid>
                  <a:tr h="2765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3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0179523"/>
                      </a:ext>
                    </a:extLst>
                  </a:tr>
                  <a:tr h="2765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sz="13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13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TW" sz="13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 [</a:t>
                          </a:r>
                          <a:r>
                            <a:rPr kumimoji="1" lang="en-US" altLang="zh-TW" sz="13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-4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82484556"/>
                      </a:ext>
                    </a:extLst>
                  </a:tr>
                  <a:tr h="2765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γ</a:t>
                          </a:r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1" lang="el-GR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sz="13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13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TW" sz="13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))[</a:t>
                          </a:r>
                          <a:r>
                            <a:rPr kumimoji="1" lang="en-US" altLang="zh-TW" sz="13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03659069"/>
                      </a:ext>
                    </a:extLst>
                  </a:tr>
                  <a:tr h="45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Ψ</a:t>
                          </a:r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1" lang="el-GR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sz="13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13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TW" sz="13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 )[</a:t>
                          </a:r>
                          <a:r>
                            <a:rPr kumimoji="1" lang="en-US" altLang="zh-TW" sz="13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13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1" lang="en-US" altLang="zh-TW" sz="13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TW" sz="13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1" lang="en-US" altLang="zh-TW" sz="13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9257608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2CE2840-C08E-E46F-C433-E8EBDBE75F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6611590"/>
                  </p:ext>
                </p:extLst>
              </p:nvPr>
            </p:nvGraphicFramePr>
            <p:xfrm>
              <a:off x="9304172" y="2049040"/>
              <a:ext cx="2591994" cy="12896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0354">
                      <a:extLst>
                        <a:ext uri="{9D8B030D-6E8A-4147-A177-3AD203B41FA5}">
                          <a16:colId xmlns:a16="http://schemas.microsoft.com/office/drawing/2014/main" val="3229438571"/>
                        </a:ext>
                      </a:extLst>
                    </a:gridCol>
                    <a:gridCol w="735820">
                      <a:extLst>
                        <a:ext uri="{9D8B030D-6E8A-4147-A177-3AD203B41FA5}">
                          <a16:colId xmlns:a16="http://schemas.microsoft.com/office/drawing/2014/main" val="3694762793"/>
                        </a:ext>
                      </a:extLst>
                    </a:gridCol>
                    <a:gridCol w="735820">
                      <a:extLst>
                        <a:ext uri="{9D8B030D-6E8A-4147-A177-3AD203B41FA5}">
                          <a16:colId xmlns:a16="http://schemas.microsoft.com/office/drawing/2014/main" val="2964531836"/>
                        </a:ext>
                      </a:extLst>
                    </a:gridCol>
                  </a:tblGrid>
                  <a:tr h="2765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3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0179523"/>
                      </a:ext>
                    </a:extLst>
                  </a:tr>
                  <a:tr h="27657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7820" marR="67820" marT="33910" marB="33910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104348" r="-132065" b="-2652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-4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82484556"/>
                      </a:ext>
                    </a:extLst>
                  </a:tr>
                  <a:tr h="27657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7820" marR="67820" marT="33910" marB="33910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208889" r="-132065" b="-17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3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03659069"/>
                      </a:ext>
                    </a:extLst>
                  </a:tr>
                  <a:tr h="45996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7820" marR="67820" marT="33910" marB="33910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6"/>
                          <a:stretch>
                            <a:fillRect t="-182895" r="-132065" b="-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6"/>
                          <a:stretch>
                            <a:fillRect l="-152066" t="-182895" r="-100826" b="-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kumimoji="1" lang="zh-TW" altLang="en-US" sz="13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7820" marR="67820" marT="33910" marB="3391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9257608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1A58E067-9F2E-4762-3281-41F576748EC0}"/>
              </a:ext>
            </a:extLst>
          </p:cNvPr>
          <p:cNvSpPr/>
          <p:nvPr/>
        </p:nvSpPr>
        <p:spPr>
          <a:xfrm>
            <a:off x="5714843" y="2339788"/>
            <a:ext cx="3327814" cy="2509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CBB982-43F0-999F-D554-076321133F54}"/>
              </a:ext>
            </a:extLst>
          </p:cNvPr>
          <p:cNvSpPr/>
          <p:nvPr/>
        </p:nvSpPr>
        <p:spPr>
          <a:xfrm>
            <a:off x="5082988" y="4446494"/>
            <a:ext cx="2366683" cy="3658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2DB8E4-464E-62DF-5C7A-32DCF62214C2}"/>
              </a:ext>
            </a:extLst>
          </p:cNvPr>
          <p:cNvSpPr/>
          <p:nvPr/>
        </p:nvSpPr>
        <p:spPr>
          <a:xfrm>
            <a:off x="9304172" y="2881521"/>
            <a:ext cx="1865852" cy="45720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ED2303-027E-F3E5-FDD4-F86D47F9ED72}"/>
              </a:ext>
            </a:extLst>
          </p:cNvPr>
          <p:cNvSpPr/>
          <p:nvPr/>
        </p:nvSpPr>
        <p:spPr>
          <a:xfrm>
            <a:off x="6642847" y="5181600"/>
            <a:ext cx="806824" cy="59315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5421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SPPM to Exact Pattern Matching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8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14 18 </a:t>
                </a:r>
                <a:r>
                  <a:rPr kumimoji="1" lang="en-US" altLang="zh-TW" sz="2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15 18 12 21 15</a:t>
                </a:r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25 26</a:t>
                </a:r>
              </a:p>
              <a:p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=  6   8   4  10  6</a:t>
                </a:r>
              </a:p>
              <a:p>
                <a:endParaRPr kumimoji="1" lang="en-US" altLang="zh-TW" sz="26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az-Cyrl-AZ" altLang="zh-TW" sz="26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Г</m:t>
                    </m:r>
                  </m:oMath>
                </a14:m>
                <a:r>
                  <a:rPr kumimoji="1" lang="zh-TW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kumimoji="1" lang="zh-TW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14:m>
                  <m:oMath xmlns:m="http://schemas.openxmlformats.org/officeDocument/2006/math"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+2: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kumimoji="1"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az-Cyrl-AZ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Г</m:t>
                        </m:r>
                      </m:e>
                      <m:sub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𝑎𝑛𝑑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+2</m:t>
                        </m:r>
                      </m:e>
                    </m:d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kumimoji="1"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az-Cyrl-AZ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Г</m:t>
                        </m:r>
                      </m:e>
                      <m:sub>
                        <m:r>
                          <a:rPr kumimoji="1"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𝑎𝑛𝑑</m:t>
                    </m:r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kumimoji="1" lang="zh-TW" alt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kumimoji="1" lang="zh-TW" alt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kumimoji="1"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TW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 sz="2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kumimoji="1"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pPr marL="0" indent="0">
                  <a:buNone/>
                </a:pPr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=&gt; </a:t>
                </a:r>
                <a:r>
                  <a:rPr kumimoji="1" lang="en-US" altLang="zh-TW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</a:t>
                </a: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903" t="-20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0BF2568A-A37B-D2B9-0C27-4F4571BA52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0004264"/>
                  </p:ext>
                </p:extLst>
              </p:nvPr>
            </p:nvGraphicFramePr>
            <p:xfrm>
              <a:off x="2421135" y="4394475"/>
              <a:ext cx="7349729" cy="171932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3577">
                      <a:extLst>
                        <a:ext uri="{9D8B030D-6E8A-4147-A177-3AD203B41FA5}">
                          <a16:colId xmlns:a16="http://schemas.microsoft.com/office/drawing/2014/main" val="168467795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84074204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091406456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54445302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254144508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590583674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67807641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368011111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9703374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7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19046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(y) 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24756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γ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(y) )[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67130015"/>
                      </a:ext>
                    </a:extLst>
                  </a:tr>
                  <a:tr h="3433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Ψ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(y) )[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18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1" lang="en-US" altLang="zh-TW" sz="18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1" lang="en-US" altLang="zh-TW" sz="18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18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1" lang="en-US" altLang="zh-TW" sz="18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1" lang="en-US" altLang="zh-TW" sz="18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1" lang="en-US" altLang="zh-TW" sz="18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−6</m:t>
                                    </m:r>
                                  </m:num>
                                  <m:den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1" lang="en-US" altLang="zh-TW" sz="18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1" lang="en-US" altLang="zh-TW" sz="18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1"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14340286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0BF2568A-A37B-D2B9-0C27-4F4571BA52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0004264"/>
                  </p:ext>
                </p:extLst>
              </p:nvPr>
            </p:nvGraphicFramePr>
            <p:xfrm>
              <a:off x="2421135" y="4394475"/>
              <a:ext cx="7349729" cy="171932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3577">
                      <a:extLst>
                        <a:ext uri="{9D8B030D-6E8A-4147-A177-3AD203B41FA5}">
                          <a16:colId xmlns:a16="http://schemas.microsoft.com/office/drawing/2014/main" val="168467795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84074204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091406456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54445302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254144508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590583674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67807641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368011111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9703374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7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19046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(y) 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24756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γ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(y) )[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9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67130015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Ψ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δ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(y) )[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143750" t="-188000" r="-699219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243750" t="-188000" r="-599219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346457" t="-188000" r="-503937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442969" t="-188000" r="-400000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542969" t="-188000" r="-300000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642969" t="-188000" r="-200000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748819" t="-188000" r="-101575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1434028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3CBB982-43F0-999F-D554-076321133F54}"/>
              </a:ext>
            </a:extLst>
          </p:cNvPr>
          <p:cNvSpPr/>
          <p:nvPr/>
        </p:nvSpPr>
        <p:spPr>
          <a:xfrm>
            <a:off x="5082988" y="4785540"/>
            <a:ext cx="2366683" cy="3658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ED2303-027E-F3E5-FDD4-F86D47F9ED72}"/>
              </a:ext>
            </a:extLst>
          </p:cNvPr>
          <p:cNvSpPr/>
          <p:nvPr/>
        </p:nvSpPr>
        <p:spPr>
          <a:xfrm>
            <a:off x="6642847" y="5520646"/>
            <a:ext cx="806824" cy="59315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4277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KMP based Algorithm for the SPPM Problem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4 2 10 6 22 14 13 17</a:t>
            </a:r>
          </a:p>
          <a:p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shape-border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0BF2568A-A37B-D2B9-0C27-4F4571BA52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6027010"/>
                  </p:ext>
                </p:extLst>
              </p:nvPr>
            </p:nvGraphicFramePr>
            <p:xfrm>
              <a:off x="1732767" y="2997191"/>
              <a:ext cx="7349729" cy="1478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3577">
                      <a:extLst>
                        <a:ext uri="{9D8B030D-6E8A-4147-A177-3AD203B41FA5}">
                          <a16:colId xmlns:a16="http://schemas.microsoft.com/office/drawing/2014/main" val="168467795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84074204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091406456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54445302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254144508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590583674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67807641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368011111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9703374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7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19046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x[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24756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π 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67130015"/>
                      </a:ext>
                    </a:extLst>
                  </a:tr>
                  <a:tr h="3433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ϱ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18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14340286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0BF2568A-A37B-D2B9-0C27-4F4571BA52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6027010"/>
                  </p:ext>
                </p:extLst>
              </p:nvPr>
            </p:nvGraphicFramePr>
            <p:xfrm>
              <a:off x="1732767" y="2997191"/>
              <a:ext cx="7349729" cy="1478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3577">
                      <a:extLst>
                        <a:ext uri="{9D8B030D-6E8A-4147-A177-3AD203B41FA5}">
                          <a16:colId xmlns:a16="http://schemas.microsoft.com/office/drawing/2014/main" val="168467795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84074204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091406456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54445302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254144508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590583674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67807641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368011111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9703374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7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19046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x[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24756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π 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6713001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ϱ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46457" t="-315000" r="-503937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1434028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89CCD52-C4F5-025D-5C41-22264443DDC7}"/>
              </a:ext>
            </a:extLst>
          </p:cNvPr>
          <p:cNvSpPr/>
          <p:nvPr/>
        </p:nvSpPr>
        <p:spPr>
          <a:xfrm>
            <a:off x="5167901" y="3739793"/>
            <a:ext cx="811659" cy="3595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475A9E-A1C6-8543-2F43-8996157E425B}"/>
              </a:ext>
            </a:extLst>
          </p:cNvPr>
          <p:cNvCxnSpPr/>
          <p:nvPr/>
        </p:nvCxnSpPr>
        <p:spPr>
          <a:xfrm>
            <a:off x="3020602" y="3660418"/>
            <a:ext cx="118152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511FC4-5B1F-B1C4-7B8E-EE510191C4A4}"/>
              </a:ext>
            </a:extLst>
          </p:cNvPr>
          <p:cNvCxnSpPr/>
          <p:nvPr/>
        </p:nvCxnSpPr>
        <p:spPr>
          <a:xfrm>
            <a:off x="4510355" y="3660418"/>
            <a:ext cx="136646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9F460EF-3D9D-9E3C-E0CA-E3D08FF185F5}"/>
              </a:ext>
            </a:extLst>
          </p:cNvPr>
          <p:cNvSpPr/>
          <p:nvPr/>
        </p:nvSpPr>
        <p:spPr>
          <a:xfrm>
            <a:off x="5167901" y="4099389"/>
            <a:ext cx="811659" cy="37608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783BD3-BA0F-A551-9A9C-0365C13B527F}"/>
              </a:ext>
            </a:extLst>
          </p:cNvPr>
          <p:cNvSpPr txBox="1"/>
          <p:nvPr/>
        </p:nvSpPr>
        <p:spPr>
          <a:xfrm>
            <a:off x="3569231" y="3279094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-2                         -4</a:t>
            </a:r>
            <a:endParaRPr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634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KMP based Algorithm for the SPPM Problem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4 2 10 6 22 14 13 17</a:t>
            </a:r>
          </a:p>
          <a:p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shape-border table</a:t>
            </a:r>
          </a:p>
          <a:p>
            <a:endParaRPr kumimoji="1"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0BF2568A-A37B-D2B9-0C27-4F4571BA52F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32767" y="2997191"/>
              <a:ext cx="7349729" cy="1478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3577">
                      <a:extLst>
                        <a:ext uri="{9D8B030D-6E8A-4147-A177-3AD203B41FA5}">
                          <a16:colId xmlns:a16="http://schemas.microsoft.com/office/drawing/2014/main" val="168467795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84074204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091406456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54445302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254144508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590583674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67807641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368011111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9703374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7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19046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x[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24756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π 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67130015"/>
                      </a:ext>
                    </a:extLst>
                  </a:tr>
                  <a:tr h="3433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ϱ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18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14340286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0BF2568A-A37B-D2B9-0C27-4F4571BA52F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32767" y="2997191"/>
              <a:ext cx="7349729" cy="1478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3577">
                      <a:extLst>
                        <a:ext uri="{9D8B030D-6E8A-4147-A177-3AD203B41FA5}">
                          <a16:colId xmlns:a16="http://schemas.microsoft.com/office/drawing/2014/main" val="168467795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84074204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091406456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54445302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254144508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590583674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67807641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368011111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9703374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7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19046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x[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24756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π 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6713001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ϱ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46457" t="-315000" r="-503937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1434028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89CCD52-C4F5-025D-5C41-22264443DDC7}"/>
              </a:ext>
            </a:extLst>
          </p:cNvPr>
          <p:cNvSpPr/>
          <p:nvPr/>
        </p:nvSpPr>
        <p:spPr>
          <a:xfrm>
            <a:off x="5959008" y="3739793"/>
            <a:ext cx="811659" cy="3595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475A9E-A1C6-8543-2F43-8996157E425B}"/>
              </a:ext>
            </a:extLst>
          </p:cNvPr>
          <p:cNvCxnSpPr/>
          <p:nvPr/>
        </p:nvCxnSpPr>
        <p:spPr>
          <a:xfrm>
            <a:off x="3811710" y="3660418"/>
            <a:ext cx="118152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511FC4-5B1F-B1C4-7B8E-EE510191C4A4}"/>
              </a:ext>
            </a:extLst>
          </p:cNvPr>
          <p:cNvCxnSpPr/>
          <p:nvPr/>
        </p:nvCxnSpPr>
        <p:spPr>
          <a:xfrm>
            <a:off x="5301463" y="3660418"/>
            <a:ext cx="136646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9F460EF-3D9D-9E3C-E0CA-E3D08FF185F5}"/>
              </a:ext>
            </a:extLst>
          </p:cNvPr>
          <p:cNvSpPr/>
          <p:nvPr/>
        </p:nvSpPr>
        <p:spPr>
          <a:xfrm>
            <a:off x="5959008" y="4099389"/>
            <a:ext cx="811659" cy="37608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783BD3-BA0F-A551-9A9C-0365C13B527F}"/>
              </a:ext>
            </a:extLst>
          </p:cNvPr>
          <p:cNvSpPr txBox="1"/>
          <p:nvPr/>
        </p:nvSpPr>
        <p:spPr>
          <a:xfrm>
            <a:off x="4360339" y="3279094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8                          16</a:t>
            </a:r>
            <a:endParaRPr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032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KMP based Algorithm for the SPPM Problem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14 18 15 18 12 21 15 25 26</a:t>
            </a:r>
          </a:p>
          <a:p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 6   8   4  10  6</a:t>
            </a:r>
          </a:p>
          <a:p>
            <a:endParaRPr kumimoji="1" lang="en-US" altLang="zh-TW" sz="2600" i="1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F9BD7C8-3AD4-97C6-3CB7-EB92D7F7DC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0525354"/>
                  </p:ext>
                </p:extLst>
              </p:nvPr>
            </p:nvGraphicFramePr>
            <p:xfrm>
              <a:off x="3588539" y="3583417"/>
              <a:ext cx="5014922" cy="1478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3577">
                      <a:extLst>
                        <a:ext uri="{9D8B030D-6E8A-4147-A177-3AD203B41FA5}">
                          <a16:colId xmlns:a16="http://schemas.microsoft.com/office/drawing/2014/main" val="168467795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84074204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091406456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54445302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254144508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5905836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19046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x[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24756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π 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67130015"/>
                      </a:ext>
                    </a:extLst>
                  </a:tr>
                  <a:tr h="3433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ϱ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18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14340286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F9BD7C8-3AD4-97C6-3CB7-EB92D7F7DC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0525354"/>
                  </p:ext>
                </p:extLst>
              </p:nvPr>
            </p:nvGraphicFramePr>
            <p:xfrm>
              <a:off x="3588539" y="3583417"/>
              <a:ext cx="5014922" cy="1478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3577">
                      <a:extLst>
                        <a:ext uri="{9D8B030D-6E8A-4147-A177-3AD203B41FA5}">
                          <a16:colId xmlns:a16="http://schemas.microsoft.com/office/drawing/2014/main" val="168467795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84074204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091406456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54445302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254144508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5905836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19046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x[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24756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π 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6713001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ϱ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43750" t="-315000" r="-20078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14340286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5035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KMP based Algorithm for the SPPM Problem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14 18 </a:t>
            </a:r>
            <a:r>
              <a:rPr kumimoji="1" lang="en-US" altLang="zh-TW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15 18 12 21 15</a:t>
            </a:r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25 26</a:t>
            </a:r>
          </a:p>
          <a:p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 6   8   4  10  6</a:t>
            </a:r>
          </a:p>
          <a:p>
            <a:endParaRPr kumimoji="1" lang="en-US" altLang="zh-TW" sz="2600" i="1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F9BD7C8-3AD4-97C6-3CB7-EB92D7F7DC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1464974"/>
                  </p:ext>
                </p:extLst>
              </p:nvPr>
            </p:nvGraphicFramePr>
            <p:xfrm>
              <a:off x="6236425" y="1538859"/>
              <a:ext cx="5014922" cy="1478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3577">
                      <a:extLst>
                        <a:ext uri="{9D8B030D-6E8A-4147-A177-3AD203B41FA5}">
                          <a16:colId xmlns:a16="http://schemas.microsoft.com/office/drawing/2014/main" val="168467795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84074204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091406456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54445302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254144508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5905836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19046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x[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24756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π 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67130015"/>
                      </a:ext>
                    </a:extLst>
                  </a:tr>
                  <a:tr h="3433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ϱ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18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14340286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F9BD7C8-3AD4-97C6-3CB7-EB92D7F7DC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1464974"/>
                  </p:ext>
                </p:extLst>
              </p:nvPr>
            </p:nvGraphicFramePr>
            <p:xfrm>
              <a:off x="6236425" y="1538859"/>
              <a:ext cx="5014922" cy="1478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3577">
                      <a:extLst>
                        <a:ext uri="{9D8B030D-6E8A-4147-A177-3AD203B41FA5}">
                          <a16:colId xmlns:a16="http://schemas.microsoft.com/office/drawing/2014/main" val="168467795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84074204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091406456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3544453025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254144508"/>
                        </a:ext>
                      </a:extLst>
                    </a:gridCol>
                    <a:gridCol w="778269">
                      <a:extLst>
                        <a:ext uri="{9D8B030D-6E8A-4147-A177-3AD203B41FA5}">
                          <a16:colId xmlns:a16="http://schemas.microsoft.com/office/drawing/2014/main" val="15905836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19046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x[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24756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π 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6713001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l-GR" altLang="zh-TW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ϱ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kumimoji="1" lang="en-US" altLang="zh-TW" sz="1800" kern="12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43750" t="-313333" r="-2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kumimoji="1" lang="en-US" altLang="zh-TW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zh-TW" altLang="en-US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14340286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863D17D7-A238-1F9D-F06E-BA6476BC0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151171"/>
              </p:ext>
            </p:extLst>
          </p:nvPr>
        </p:nvGraphicFramePr>
        <p:xfrm>
          <a:off x="1083985" y="3308479"/>
          <a:ext cx="812799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403040793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4705903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5349464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974664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406332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9650684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82942337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8091565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784227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21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26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58831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D0B81A-04E3-3652-1B12-13ADD3E09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272219"/>
              </p:ext>
            </p:extLst>
          </p:nvPr>
        </p:nvGraphicFramePr>
        <p:xfrm>
          <a:off x="1086777" y="3982392"/>
          <a:ext cx="451555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403040793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4705903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5349464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974664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40633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58831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4AB819E-EB8C-4689-ECE6-97D1746D9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143563"/>
              </p:ext>
            </p:extLst>
          </p:nvPr>
        </p:nvGraphicFramePr>
        <p:xfrm>
          <a:off x="1987795" y="4725388"/>
          <a:ext cx="451555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403040793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4705903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5349464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974664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40633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58831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AE12BD8-1572-7BE7-811B-16500A2B4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99000"/>
              </p:ext>
            </p:extLst>
          </p:nvPr>
        </p:nvGraphicFramePr>
        <p:xfrm>
          <a:off x="2890208" y="5493381"/>
          <a:ext cx="451555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403040793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4705903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5349464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974664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40633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zh-TW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kumimoji="1"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588316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DDB289-4F5B-6829-CB69-F73C028D9453}"/>
              </a:ext>
            </a:extLst>
          </p:cNvPr>
          <p:cNvCxnSpPr>
            <a:cxnSpLocks/>
          </p:cNvCxnSpPr>
          <p:nvPr/>
        </p:nvCxnSpPr>
        <p:spPr>
          <a:xfrm>
            <a:off x="1086777" y="4353232"/>
            <a:ext cx="0" cy="537318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6DE260-1468-302B-CF82-EA27C1B28257}"/>
              </a:ext>
            </a:extLst>
          </p:cNvPr>
          <p:cNvCxnSpPr>
            <a:cxnSpLocks/>
          </p:cNvCxnSpPr>
          <p:nvPr/>
        </p:nvCxnSpPr>
        <p:spPr>
          <a:xfrm>
            <a:off x="1989190" y="4353232"/>
            <a:ext cx="0" cy="37215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52889F-FB16-2E7E-B695-7B9A6A6B00C6}"/>
              </a:ext>
            </a:extLst>
          </p:cNvPr>
          <p:cNvCxnSpPr>
            <a:cxnSpLocks/>
            <a:stCxn id="18" idx="0"/>
            <a:endCxn id="21" idx="2"/>
          </p:cNvCxnSpPr>
          <p:nvPr/>
        </p:nvCxnSpPr>
        <p:spPr>
          <a:xfrm>
            <a:off x="1986400" y="5052447"/>
            <a:ext cx="2790" cy="881869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8592E6B-8215-FD36-FDD7-3BAF19FF4208}"/>
              </a:ext>
            </a:extLst>
          </p:cNvPr>
          <p:cNvCxnSpPr>
            <a:cxnSpLocks/>
          </p:cNvCxnSpPr>
          <p:nvPr/>
        </p:nvCxnSpPr>
        <p:spPr>
          <a:xfrm>
            <a:off x="2891603" y="5096228"/>
            <a:ext cx="0" cy="811415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Brace 17">
            <a:extLst>
              <a:ext uri="{FF2B5EF4-FFF2-40B4-BE49-F238E27FC236}">
                <a16:creationId xmlns:a16="http://schemas.microsoft.com/office/drawing/2014/main" id="{4917B64C-87AD-02CF-0A3F-7EDF4F090012}"/>
              </a:ext>
            </a:extLst>
          </p:cNvPr>
          <p:cNvSpPr/>
          <p:nvPr/>
        </p:nvSpPr>
        <p:spPr>
          <a:xfrm rot="5400000">
            <a:off x="1451955" y="4684479"/>
            <a:ext cx="166477" cy="90241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0760919D-B199-7185-59C8-DCC4285CB3A4}"/>
              </a:ext>
            </a:extLst>
          </p:cNvPr>
          <p:cNvSpPr/>
          <p:nvPr/>
        </p:nvSpPr>
        <p:spPr>
          <a:xfrm rot="5400000">
            <a:off x="2357158" y="5566348"/>
            <a:ext cx="166477" cy="90241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7B0CB0-63D1-46B5-94E2-D82C63741F06}"/>
              </a:ext>
            </a:extLst>
          </p:cNvPr>
          <p:cNvSpPr txBox="1"/>
          <p:nvPr/>
        </p:nvSpPr>
        <p:spPr>
          <a:xfrm>
            <a:off x="993612" y="5199493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跳過</a:t>
            </a:r>
            <a:r>
              <a:rPr lang="en-US" altLang="zh-TW" dirty="0"/>
              <a:t>1</a:t>
            </a:r>
            <a:r>
              <a:rPr lang="zh-TW" altLang="en-US" dirty="0"/>
              <a:t>步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264585-908A-AAFC-74A0-87AACAB4B5FB}"/>
              </a:ext>
            </a:extLst>
          </p:cNvPr>
          <p:cNvSpPr txBox="1"/>
          <p:nvPr/>
        </p:nvSpPr>
        <p:spPr>
          <a:xfrm>
            <a:off x="1897420" y="6137318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跳過</a:t>
            </a:r>
            <a:r>
              <a:rPr lang="en-US" altLang="zh-TW" dirty="0"/>
              <a:t>1</a:t>
            </a:r>
            <a:r>
              <a:rPr lang="zh-TW" altLang="en-US" dirty="0"/>
              <a:t>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D61C09-43C0-3EFA-B37E-8F9D48298CCE}"/>
              </a:ext>
            </a:extLst>
          </p:cNvPr>
          <p:cNvSpPr txBox="1"/>
          <p:nvPr/>
        </p:nvSpPr>
        <p:spPr>
          <a:xfrm>
            <a:off x="6940098" y="4587642"/>
            <a:ext cx="2738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匹配上</a:t>
            </a:r>
            <a:r>
              <a:rPr lang="en-US" altLang="zh-TW" dirty="0"/>
              <a:t>2</a:t>
            </a:r>
            <a:r>
              <a:rPr lang="zh-TW" altLang="en-US" dirty="0"/>
              <a:t>個 </a:t>
            </a:r>
            <a:r>
              <a:rPr lang="el-GR" altLang="zh-TW" dirty="0"/>
              <a:t>π</a:t>
            </a:r>
            <a:r>
              <a:rPr lang="en-US" altLang="zh-TW" dirty="0"/>
              <a:t>[2] = 1</a:t>
            </a:r>
          </a:p>
          <a:p>
            <a:r>
              <a:rPr lang="zh-TW" altLang="en-US" dirty="0"/>
              <a:t>表示重複</a:t>
            </a:r>
            <a:r>
              <a:rPr lang="en-US" altLang="zh-TW" dirty="0"/>
              <a:t>1</a:t>
            </a:r>
            <a:r>
              <a:rPr lang="zh-TW" altLang="en-US" dirty="0"/>
              <a:t>個 跳過</a:t>
            </a:r>
            <a:r>
              <a:rPr lang="en-US" altLang="zh-TW" dirty="0"/>
              <a:t>2-1=1</a:t>
            </a:r>
            <a:r>
              <a:rPr lang="zh-TW" altLang="en-US" dirty="0"/>
              <a:t>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5BCDB9-9B94-2572-204E-201A5C02EDE0}"/>
              </a:ext>
            </a:extLst>
          </p:cNvPr>
          <p:cNvSpPr txBox="1"/>
          <p:nvPr/>
        </p:nvSpPr>
        <p:spPr>
          <a:xfrm>
            <a:off x="7669911" y="5355635"/>
            <a:ext cx="2738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匹配上</a:t>
            </a:r>
            <a:r>
              <a:rPr lang="en-US" altLang="zh-TW" dirty="0"/>
              <a:t>1</a:t>
            </a:r>
            <a:r>
              <a:rPr lang="zh-TW" altLang="en-US" dirty="0"/>
              <a:t>個 </a:t>
            </a:r>
            <a:r>
              <a:rPr lang="el-GR" altLang="zh-TW" dirty="0"/>
              <a:t>π</a:t>
            </a:r>
            <a:r>
              <a:rPr lang="en-US" altLang="zh-TW" dirty="0"/>
              <a:t>[1] = 0</a:t>
            </a:r>
          </a:p>
          <a:p>
            <a:r>
              <a:rPr lang="zh-TW" altLang="en-US" dirty="0"/>
              <a:t>表示重複</a:t>
            </a:r>
            <a:r>
              <a:rPr lang="en-US" altLang="zh-TW" dirty="0"/>
              <a:t>0</a:t>
            </a:r>
            <a:r>
              <a:rPr lang="zh-TW" altLang="en-US" dirty="0"/>
              <a:t>個 跳過</a:t>
            </a:r>
            <a:r>
              <a:rPr lang="en-US" altLang="zh-TW" dirty="0"/>
              <a:t>1-0=1</a:t>
            </a:r>
            <a:r>
              <a:rPr lang="zh-TW" altLang="en-US" dirty="0"/>
              <a:t>步</a:t>
            </a:r>
          </a:p>
        </p:txBody>
      </p:sp>
      <p:sp>
        <p:nvSpPr>
          <p:cNvPr id="31" name="Arrow: Up-Down 30">
            <a:extLst>
              <a:ext uri="{FF2B5EF4-FFF2-40B4-BE49-F238E27FC236}">
                <a16:creationId xmlns:a16="http://schemas.microsoft.com/office/drawing/2014/main" id="{4A99952B-E116-E16F-3394-444DAB4F8EFA}"/>
              </a:ext>
            </a:extLst>
          </p:cNvPr>
          <p:cNvSpPr/>
          <p:nvPr/>
        </p:nvSpPr>
        <p:spPr>
          <a:xfrm>
            <a:off x="2291139" y="4370155"/>
            <a:ext cx="149257" cy="355233"/>
          </a:xfrm>
          <a:prstGeom prst="upDownArrow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1486E8-D237-9224-A094-98AF69D88626}"/>
              </a:ext>
            </a:extLst>
          </p:cNvPr>
          <p:cNvSpPr txBox="1"/>
          <p:nvPr/>
        </p:nvSpPr>
        <p:spPr>
          <a:xfrm>
            <a:off x="2424364" y="4354644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重複</a:t>
            </a:r>
            <a:r>
              <a:rPr lang="en-US" altLang="zh-TW" dirty="0"/>
              <a:t>1</a:t>
            </a:r>
            <a:r>
              <a:rPr lang="zh-TW" altLang="en-US" dirty="0"/>
              <a:t>個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7E7000-1936-F47E-63C6-4DA83A0A1611}"/>
              </a:ext>
            </a:extLst>
          </p:cNvPr>
          <p:cNvSpPr txBox="1"/>
          <p:nvPr/>
        </p:nvSpPr>
        <p:spPr>
          <a:xfrm>
            <a:off x="3206202" y="5105800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重複</a:t>
            </a:r>
            <a:r>
              <a:rPr lang="en-US" altLang="zh-TW" dirty="0"/>
              <a:t>0</a:t>
            </a:r>
            <a:r>
              <a:rPr lang="zh-TW" altLang="en-US" dirty="0"/>
              <a:t>個</a:t>
            </a:r>
          </a:p>
        </p:txBody>
      </p:sp>
    </p:spTree>
    <p:extLst>
      <p:ext uri="{BB962C8B-B14F-4D97-AF65-F5344CB8AC3E}">
        <p14:creationId xmlns:p14="http://schemas.microsoft.com/office/powerpoint/2010/main" val="1460882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E32A-8416-A57A-A55B-17B6957E2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049979-F5A7-6534-10C1-F736244053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Reducing SPPM to Exact Pattern Matching</a:t>
                </a:r>
              </a:p>
              <a:p>
                <a:pPr lvl="1"/>
                <a:r>
                  <a:rPr kumimoji="1" lang="en-US" altLang="zh-TW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 </a:t>
                </a:r>
                <a14:m>
                  <m:oMath xmlns:m="http://schemas.openxmlformats.org/officeDocument/2006/math">
                    <m:r>
                      <a:rPr kumimoji="1" lang="en-US" altLang="zh-TW" sz="2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kumimoji="1" lang="en-US" altLang="zh-TW" sz="2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TW" sz="2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kumimoji="1" lang="en-US" altLang="zh-TW" sz="2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kumimoji="1" lang="en-US" altLang="zh-TW" sz="2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kumimoji="1" lang="en-US" altLang="zh-TW" sz="2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kumimoji="1" lang="en-US" altLang="zh-TW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KMP based Algorithm for the SPPM Problem</a:t>
                </a:r>
              </a:p>
              <a:p>
                <a:pPr lvl="1"/>
                <a:r>
                  <a:rPr kumimoji="1" lang="en-US" altLang="zh-TW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 </a:t>
                </a:r>
                <a14:m>
                  <m:oMath xmlns:m="http://schemas.openxmlformats.org/officeDocument/2006/math">
                    <m:r>
                      <a:rPr kumimoji="1" lang="en-US" altLang="zh-TW" sz="2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kumimoji="1" lang="en-US" altLang="zh-TW" sz="2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TW" sz="2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kumimoji="1" lang="en-US" altLang="zh-TW" sz="2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kumimoji="1" lang="en-US" altLang="zh-TW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049979-F5A7-6534-10C1-F736244053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1E5CC-1099-B1E7-5DBB-2AD99AD3A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4592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5754</TotalTime>
  <Words>1183</Words>
  <Application>Microsoft Office PowerPoint</Application>
  <PresentationFormat>Widescreen</PresentationFormat>
  <Paragraphs>359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Office Theme</vt:lpstr>
      <vt:lpstr>Shape-Preserving Pattern Matching</vt:lpstr>
      <vt:lpstr>Abstract </vt:lpstr>
      <vt:lpstr>Shape-Preserving Pattern Matching</vt:lpstr>
      <vt:lpstr>Reducing SPPM to Exact Pattern Matching</vt:lpstr>
      <vt:lpstr>Reducing SPPM to Exact Pattern Matching</vt:lpstr>
      <vt:lpstr>Reducing SPPM to Exact Pattern Matching</vt:lpstr>
      <vt:lpstr>Reducing SPPM to Exact Pattern Matching</vt:lpstr>
      <vt:lpstr>Reducing SPPM to Exact Pattern Matching</vt:lpstr>
      <vt:lpstr>A KMP based Algorithm for the SPPM Problem</vt:lpstr>
      <vt:lpstr>A KMP based Algorithm for the SPPM Problem</vt:lpstr>
      <vt:lpstr>A KMP based Algorithm for the SPPM Problem</vt:lpstr>
      <vt:lpstr>A KMP based Algorithm for the SPPM Problem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Substring Inclusion Constraint Longest Common Subsequence Problem Can Be Solved in Quadratic Time</dc:title>
  <dc:creator>Wen Wen Liao</dc:creator>
  <cp:lastModifiedBy>Wen Wen Liao</cp:lastModifiedBy>
  <cp:revision>125</cp:revision>
  <dcterms:created xsi:type="dcterms:W3CDTF">2022-10-11T15:33:00Z</dcterms:created>
  <dcterms:modified xsi:type="dcterms:W3CDTF">2023-05-02T10:14:58Z</dcterms:modified>
</cp:coreProperties>
</file>