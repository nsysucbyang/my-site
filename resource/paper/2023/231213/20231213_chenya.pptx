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66" r:id="rId5"/>
    <p:sldId id="272" r:id="rId6"/>
    <p:sldId id="276" r:id="rId7"/>
    <p:sldId id="277" r:id="rId8"/>
    <p:sldId id="268" r:id="rId9"/>
    <p:sldId id="263" r:id="rId10"/>
    <p:sldId id="26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56"/>
    <p:restoredTop sz="95728"/>
  </p:normalViewPr>
  <p:slideViewPr>
    <p:cSldViewPr snapToGrid="0" snapToObjects="1">
      <p:cViewPr varScale="1">
        <p:scale>
          <a:sx n="109" d="100"/>
          <a:sy n="109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3936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793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8179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0108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462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2023/12/13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800" dirty="0">
                <a:latin typeface="Times" pitchFamily="2" charset="0"/>
              </a:rPr>
              <a:t>Human-Agent Cooperation</a:t>
            </a:r>
            <a:r>
              <a:rPr kumimoji="1" lang="zh-TW" altLang="en-US" sz="4800" dirty="0">
                <a:latin typeface="Times" pitchFamily="2" charset="0"/>
              </a:rPr>
              <a:t> </a:t>
            </a:r>
            <a:r>
              <a:rPr kumimoji="1" lang="en" altLang="zh-TW" sz="4800" dirty="0">
                <a:latin typeface="Times" pitchFamily="2" charset="0"/>
              </a:rPr>
              <a:t>in Bridge Bidding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zh-TW" dirty="0">
                <a:latin typeface="Times" pitchFamily="2" charset="0"/>
              </a:rPr>
              <a:t>Lockhart, E., Burch, N., Bard, N., Borgeaud, S., Eccles, T., </a:t>
            </a:r>
            <a:r>
              <a:rPr lang="en" altLang="zh-TW" dirty="0" err="1">
                <a:latin typeface="Times" pitchFamily="2" charset="0"/>
              </a:rPr>
              <a:t>Smaira</a:t>
            </a:r>
            <a:r>
              <a:rPr lang="en" altLang="zh-TW" dirty="0">
                <a:latin typeface="Times" pitchFamily="2" charset="0"/>
              </a:rPr>
              <a:t>, L., &amp; Smith, R.</a:t>
            </a:r>
          </a:p>
          <a:p>
            <a:pPr>
              <a:lnSpc>
                <a:spcPct val="100000"/>
              </a:lnSpc>
            </a:pPr>
            <a:r>
              <a:rPr lang="en" altLang="zh-TW" dirty="0">
                <a:latin typeface="Times" pitchFamily="2" charset="0"/>
              </a:rPr>
              <a:t>arXiv:2011.14124</a:t>
            </a:r>
            <a:r>
              <a:rPr lang="en-US" altLang="zh-TW" dirty="0">
                <a:latin typeface="Times" pitchFamily="2" charset="0"/>
              </a:rPr>
              <a:t>,</a:t>
            </a:r>
            <a:r>
              <a:rPr lang="zh-TW" altLang="en-US" dirty="0">
                <a:latin typeface="Times" pitchFamily="2" charset="0"/>
              </a:rPr>
              <a:t> </a:t>
            </a:r>
            <a:r>
              <a:rPr lang="en-US" altLang="zh-TW" dirty="0">
                <a:latin typeface="Times" pitchFamily="2" charset="0"/>
              </a:rPr>
              <a:t>2020.</a:t>
            </a:r>
            <a:endParaRPr lang="en" altLang="zh-TW" dirty="0">
              <a:latin typeface="Times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412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Yun-An Chen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Dec.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13,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2023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" altLang="zh-TW" sz="2400" dirty="0">
                <a:latin typeface="Times" pitchFamily="2" charset="0"/>
              </a:rPr>
              <a:t>We introduce a human-compatible reinforcement-learning approach to a cooperative game, making use of a third-party hand-coded human-compatible bot to generate initial training data and to perform initial evaluation. Our learning approach consists of imitation learning, search, and policy iteration. Our trained agents achieve a new state-of-the-art for bridge bidding in three settings: an agent playing in partnership with a copy of itself; an agent partnering a pre-existing bot; and an agent partnering a human player.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Prior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work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EC2A638-FB11-BC41-B4C4-91EA30E22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TW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Borel</a:t>
                </a:r>
                <a:r>
                  <a:rPr kumimoji="0" lang="en-US" altLang="zh-TW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 search</a:t>
                </a:r>
                <a:r>
                  <a:rPr kumimoji="0" lang="en" altLang="zh-TW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: </a:t>
                </a:r>
                <a:r>
                  <a:rPr kumimoji="0" lang="en" altLang="zh-TW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To select a bid from a candidate set B, given a database Z that suggests bids in various situations.</a:t>
                </a:r>
                <a:endParaRPr kumimoji="0" lang="en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" pitchFamily="2" charset="0"/>
                  <a:ea typeface="新細明體" panose="02020500000000000000" pitchFamily="18" charset="-120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Construct a set D of deals consistent with the bidding thus far.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For each bid b ∈ B and each deal d ∈ D, </a:t>
                </a:r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use the database Z to project how the auction will continue if the bid b is made</a:t>
                </a:r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50000"/>
                      </a:srgbClr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.</a:t>
                </a:r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 (If no bid is suggested by the database, the player in question is assumed to pass.) Compute the double dummy result of the eventual contract, denoting it s(b, d).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Return that b for which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𝑑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kumimoji="0" lang="en" altLang="zh-TW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" pitchFamily="2" charset="0"/>
                            <a:ea typeface="新細明體" panose="02020500000000000000" pitchFamily="18" charset="-120"/>
                            <a:cs typeface="+mn-cs"/>
                          </a:rPr>
                          <m:t>s</m:t>
                        </m:r>
                        <m:r>
                          <m:rPr>
                            <m:nor/>
                          </m:rPr>
                          <a:rPr kumimoji="0" lang="en" altLang="zh-TW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" pitchFamily="2" charset="0"/>
                            <a:ea typeface="新細明體" panose="02020500000000000000" pitchFamily="18" charset="-120"/>
                            <a:cs typeface="+mn-cs"/>
                          </a:rPr>
                          <m:t>(</m:t>
                        </m:r>
                        <m:r>
                          <m:rPr>
                            <m:nor/>
                          </m:rPr>
                          <a:rPr kumimoji="0" lang="en-US" altLang="zh-TW" sz="24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" pitchFamily="2" charset="0"/>
                            <a:ea typeface="新細明體" panose="02020500000000000000" pitchFamily="18" charset="-120"/>
                            <a:cs typeface="+mn-cs"/>
                          </a:rPr>
                          <m:t>b</m:t>
                        </m:r>
                        <m:r>
                          <m:rPr>
                            <m:nor/>
                          </m:rPr>
                          <a:rPr kumimoji="0" lang="en" altLang="zh-TW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" pitchFamily="2" charset="0"/>
                            <a:ea typeface="新細明體" panose="02020500000000000000" pitchFamily="18" charset="-120"/>
                            <a:cs typeface="+mn-cs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kumimoji="0" lang="en" altLang="zh-TW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" pitchFamily="2" charset="0"/>
                            <a:ea typeface="新細明體" panose="02020500000000000000" pitchFamily="18" charset="-120"/>
                            <a:cs typeface="+mn-cs"/>
                          </a:rPr>
                          <m:t>d</m:t>
                        </m:r>
                        <m:r>
                          <m:rPr>
                            <m:nor/>
                          </m:rPr>
                          <a:rPr kumimoji="0" lang="en" altLang="zh-TW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" pitchFamily="2" charset="0"/>
                            <a:ea typeface="新細明體" panose="02020500000000000000" pitchFamily="18" charset="-120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en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" pitchFamily="2" charset="0"/>
                    <a:ea typeface="新細明體" panose="02020500000000000000" pitchFamily="18" charset="-120"/>
                    <a:cs typeface="+mn-cs"/>
                  </a:rPr>
                  <a:t> is maximal.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EC2A638-FB11-BC41-B4C4-91EA30E22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453" r="-15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241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Tasks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C2A638-FB11-BC41-B4C4-91EA30E22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Human-compatible play: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" altLang="zh-TW" dirty="0">
                <a:latin typeface="Times" pitchFamily="2" charset="0"/>
              </a:rPr>
              <a:t>produce agents which can play well in a partnership with humans.</a:t>
            </a:r>
            <a:endParaRPr kumimoji="1" lang="en-US" altLang="zh-TW" dirty="0">
              <a:latin typeface="Times" pitchFamily="2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Partnership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play: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" altLang="zh-TW" dirty="0">
                <a:latin typeface="Times" pitchFamily="2" charset="0"/>
              </a:rPr>
              <a:t>produce agents that can play well in a partnership with themselves.</a:t>
            </a:r>
            <a:endParaRPr kumimoji="1" lang="en-US" altLang="zh-TW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18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Imitation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learning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C2A638-FB11-BC41-B4C4-91EA30E22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TW" sz="2400" dirty="0">
                <a:latin typeface="Times" pitchFamily="2" charset="0"/>
              </a:rPr>
              <a:t>Learn a model which can predict the bids made by WBridge5.</a:t>
            </a:r>
          </a:p>
          <a:p>
            <a:pPr>
              <a:lnSpc>
                <a:spcPct val="100000"/>
              </a:lnSpc>
            </a:pPr>
            <a:r>
              <a:rPr kumimoji="1" lang="en-US" altLang="zh-TW" sz="2400" dirty="0">
                <a:latin typeface="Times" pitchFamily="2" charset="0"/>
              </a:rPr>
              <a:t>480-element input feature vector: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Phase of the game: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Vulnerability (always neither side vulnerable):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Per player, did this player pass before the opening bid: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4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Per player and bid, did this player make this bid: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140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Per player and bid, did this player double this bid: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140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Per player and bid, did this player redouble this bid: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140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>
                <a:latin typeface="Times" pitchFamily="2" charset="0"/>
              </a:rPr>
              <a:t>13-hot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vector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indicating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the cards we hold: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52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567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Policy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network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64A8EAD-5501-BF4A-927F-C499874FD920}"/>
              </a:ext>
            </a:extLst>
          </p:cNvPr>
          <p:cNvSpPr txBox="1">
            <a:spLocks/>
          </p:cNvSpPr>
          <p:nvPr/>
        </p:nvSpPr>
        <p:spPr>
          <a:xfrm>
            <a:off x="838199" y="1944322"/>
            <a:ext cx="10515599" cy="4412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Wbridge5.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4-layer MLP policy network with 1024 neurons per layer.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480-element input.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 output neurons: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probabilities for each of the 38 actions.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Masking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losses.</a:t>
            </a:r>
          </a:p>
        </p:txBody>
      </p:sp>
      <p:pic>
        <p:nvPicPr>
          <p:cNvPr id="9" name="內容版面配置區 4" descr="一張含有 文字, 螢幕擷取畫面, 圖表, 圓形 的圖片&#10;&#10;自動產生的描述">
            <a:extLst>
              <a:ext uri="{FF2B5EF4-FFF2-40B4-BE49-F238E27FC236}">
                <a16:creationId xmlns:a16="http://schemas.microsoft.com/office/drawing/2014/main" id="{68191257-5A63-F947-BB41-C9C1AFABE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3200" y="3079574"/>
            <a:ext cx="4888524" cy="3276776"/>
          </a:xfr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006668F-A485-0540-AE7E-31BB28174A6B}"/>
              </a:ext>
            </a:extLst>
          </p:cNvPr>
          <p:cNvSpPr/>
          <p:nvPr/>
        </p:nvSpPr>
        <p:spPr>
          <a:xfrm>
            <a:off x="9068536" y="5296162"/>
            <a:ext cx="2396634" cy="10601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05DD955-7A92-6549-BD31-4AD9810C3925}"/>
              </a:ext>
            </a:extLst>
          </p:cNvPr>
          <p:cNvSpPr txBox="1"/>
          <p:nvPr/>
        </p:nvSpPr>
        <p:spPr>
          <a:xfrm>
            <a:off x="703384" y="6403076"/>
            <a:ext cx="8768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Qucheng</a:t>
            </a:r>
            <a:r>
              <a:rPr lang="en" altLang="zh-TW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Gong, Yu Jiang, and </a:t>
            </a:r>
            <a:r>
              <a:rPr lang="en" altLang="zh-TW" sz="1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Yuandong</a:t>
            </a:r>
            <a:r>
              <a:rPr lang="en" altLang="zh-TW" sz="1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Tian. Simple is better: Training an end-to-end con- tract bridge bidding agent without human knowledge, 2020. </a:t>
            </a:r>
            <a:endParaRPr lang="en" altLang="zh-TW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22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Search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64A8EAD-5501-BF4A-927F-C499874FD920}"/>
              </a:ext>
            </a:extLst>
          </p:cNvPr>
          <p:cNvSpPr txBox="1">
            <a:spLocks/>
          </p:cNvSpPr>
          <p:nvPr/>
        </p:nvSpPr>
        <p:spPr>
          <a:xfrm>
            <a:off x="838199" y="1944322"/>
            <a:ext cx="10515599" cy="4412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policies by neural nets.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actions according to a stochastic policy, allowing for more diversity of possible outcomes.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policy towards the search results.</a:t>
            </a:r>
          </a:p>
        </p:txBody>
      </p:sp>
    </p:spTree>
    <p:extLst>
      <p:ext uri="{BB962C8B-B14F-4D97-AF65-F5344CB8AC3E}">
        <p14:creationId xmlns:p14="http://schemas.microsoft.com/office/powerpoint/2010/main" val="207681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F01EB-A175-3F4A-8121-EDA3DB5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Bot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evaluation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27DBE8-1ABF-F74D-9F78-495CE291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deals.</a:t>
            </a:r>
            <a:endParaRPr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deal is played with agent as </a:t>
            </a:r>
            <a:r>
              <a:rPr lang="en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(N), </a:t>
            </a:r>
            <a:r>
              <a:rPr lang="en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(E), </a:t>
            </a:r>
            <a:r>
              <a:rPr lang="en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(S), </a:t>
            </a:r>
            <a:r>
              <a:rPr lang="en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(W).</a:t>
            </a:r>
          </a:p>
          <a:p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</a:t>
            </a:r>
            <a:r>
              <a:rPr lang="en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pqrs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the score obtained by the N-S partnership.</a:t>
            </a: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WBridge5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agent under evaluation.</a:t>
            </a:r>
          </a:p>
          <a:p>
            <a:endParaRPr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WBridge5-compatible play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 (S(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awww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kumimoji="0" lang="en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− 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 (S(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waww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+</a:t>
            </a:r>
          </a:p>
          <a:p>
            <a:pPr marL="457200" lvl="1" indent="0">
              <a:buNone/>
            </a:pP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 (S(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wwaw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kumimoji="0" lang="en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− 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 (S(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wwwa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S(</a:t>
            </a:r>
            <a:r>
              <a:rPr lang="en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play:</a:t>
            </a:r>
          </a:p>
          <a:p>
            <a:pPr marL="457200" lvl="1" indent="0">
              <a:buNone/>
            </a:pP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 (S(</a:t>
            </a:r>
            <a:r>
              <a:rPr lang="en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awaw</a:t>
            </a:r>
            <a:r>
              <a:rPr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S(wawa))</a:t>
            </a:r>
            <a:endParaRPr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263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F01EB-A175-3F4A-8121-EDA3DB5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Times" pitchFamily="2" charset="0"/>
              </a:rPr>
              <a:t>Experiments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5" name="圖片 4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55D65200-4092-F748-B2C5-D951FB3B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27" y="2040890"/>
            <a:ext cx="10901146" cy="364363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983DB14-40E8-FD41-99B8-E465DD9DDE77}"/>
              </a:ext>
            </a:extLst>
          </p:cNvPr>
          <p:cNvSpPr/>
          <p:nvPr/>
        </p:nvSpPr>
        <p:spPr>
          <a:xfrm>
            <a:off x="6816969" y="4346594"/>
            <a:ext cx="2221523" cy="342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994661-D781-B041-BD7C-3E6E16D49AE0}"/>
              </a:ext>
            </a:extLst>
          </p:cNvPr>
          <p:cNvSpPr/>
          <p:nvPr/>
        </p:nvSpPr>
        <p:spPr>
          <a:xfrm>
            <a:off x="9132277" y="4967917"/>
            <a:ext cx="2221523" cy="342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679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F01EB-A175-3F4A-8121-EDA3DB5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Human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evaluation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27DBE8-1ABF-F74D-9F78-495CE2915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Instructions for the human expert were as follows: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Bid each hand according to SAYC.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second time you play a deal in a particular seat, make the same call as the first time if the situation is identical.</a:t>
            </a:r>
          </a:p>
          <a:p>
            <a:pPr lvl="1">
              <a:spcBef>
                <a:spcPts val="1000"/>
              </a:spcBef>
              <a:defRPr/>
            </a:pPr>
            <a:endParaRPr kumimoji="0" lang="en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" altLang="zh-TW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the human as </a:t>
            </a:r>
            <a:r>
              <a:rPr lang="en" altLang="zh-TW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h,</a:t>
            </a:r>
            <a:r>
              <a:rPr lang="en" altLang="zh-TW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" altLang="zh-TW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zh-TW" alt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IMP (S(</a:t>
            </a:r>
            <a:r>
              <a:rPr lang="en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</a:t>
            </a:r>
            <a:r>
              <a:rPr kumimoji="0" lang="en" altLang="zh-TW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waw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− S(</a:t>
            </a:r>
            <a:r>
              <a:rPr lang="en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</a:t>
            </a:r>
            <a:r>
              <a:rPr kumimoji="0" lang="en" altLang="zh-TW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www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)) − IMP (S(</a:t>
            </a:r>
            <a:r>
              <a:rPr kumimoji="0" lang="en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whwa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− S(</a:t>
            </a:r>
            <a:r>
              <a:rPr kumimoji="0" lang="en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whww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)) +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IMP (S(</a:t>
            </a:r>
            <a:r>
              <a:rPr lang="en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</a:t>
            </a:r>
            <a:r>
              <a:rPr kumimoji="0" lang="en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whw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− S(</a:t>
            </a:r>
            <a:r>
              <a:rPr kumimoji="0" lang="en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wwhw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)) − IMP (S(</a:t>
            </a:r>
            <a:r>
              <a:rPr kumimoji="0" lang="en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wawh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− S(</a:t>
            </a:r>
            <a:r>
              <a:rPr kumimoji="0" lang="en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wwwh</a:t>
            </a:r>
            <a:r>
              <a:rPr kumimoji="0" lang="en" altLang="zh-TW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" altLang="zh-TW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" altLang="zh-TW" sz="26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kumimoji="0" lang="en" altLang="zh-TW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he agent outperforms WBridge5 by 0.97 IMPs/deal in 32 deals.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7FCF81-02B4-6F41-9CE5-6049E508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365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3590</TotalTime>
  <Words>730</Words>
  <Application>Microsoft Macintosh PowerPoint</Application>
  <PresentationFormat>寬螢幕</PresentationFormat>
  <Paragraphs>75</Paragraphs>
  <Slides>10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Times</vt:lpstr>
      <vt:lpstr>Arial</vt:lpstr>
      <vt:lpstr>Calibri</vt:lpstr>
      <vt:lpstr>Calibri Light</vt:lpstr>
      <vt:lpstr>Cambria Math</vt:lpstr>
      <vt:lpstr>Times New Roman</vt:lpstr>
      <vt:lpstr>Office 佈景主題</vt:lpstr>
      <vt:lpstr>Human-Agent Cooperation in Bridge Bidding</vt:lpstr>
      <vt:lpstr>Abstract</vt:lpstr>
      <vt:lpstr>Prior work</vt:lpstr>
      <vt:lpstr>Tasks</vt:lpstr>
      <vt:lpstr>Imitation learning</vt:lpstr>
      <vt:lpstr>Policy network</vt:lpstr>
      <vt:lpstr>Search</vt:lpstr>
      <vt:lpstr>Bot evaluation</vt:lpstr>
      <vt:lpstr>Experiments</vt:lpstr>
      <vt:lpstr>Human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Human-Agent Cooperation in Bridge Bidding</dc:title>
  <dc:creator>M113040012</dc:creator>
  <cp:lastModifiedBy>M113040012</cp:lastModifiedBy>
  <cp:revision>142</cp:revision>
  <dcterms:created xsi:type="dcterms:W3CDTF">2023-11-25T14:29:09Z</dcterms:created>
  <dcterms:modified xsi:type="dcterms:W3CDTF">2023-12-13T10:20:15Z</dcterms:modified>
</cp:coreProperties>
</file>