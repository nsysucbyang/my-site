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6"/>
  </p:notesMasterIdLst>
  <p:sldIdLst>
    <p:sldId id="256" r:id="rId2"/>
    <p:sldId id="265" r:id="rId3"/>
    <p:sldId id="266" r:id="rId4"/>
    <p:sldId id="278" r:id="rId5"/>
    <p:sldId id="273" r:id="rId6"/>
    <p:sldId id="267" r:id="rId7"/>
    <p:sldId id="277" r:id="rId8"/>
    <p:sldId id="268" r:id="rId9"/>
    <p:sldId id="276" r:id="rId10"/>
    <p:sldId id="270" r:id="rId11"/>
    <p:sldId id="271" r:id="rId12"/>
    <p:sldId id="263" r:id="rId13"/>
    <p:sldId id="272" r:id="rId14"/>
    <p:sldId id="275"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70"/>
    <p:restoredTop sz="95728"/>
  </p:normalViewPr>
  <p:slideViewPr>
    <p:cSldViewPr snapToGrid="0" snapToObjects="1">
      <p:cViewPr varScale="1">
        <p:scale>
          <a:sx n="84" d="100"/>
          <a:sy n="84" d="100"/>
        </p:scale>
        <p:origin x="200"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2023/7/25</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5</a:t>
            </a:fld>
            <a:endParaRPr kumimoji="1" lang="zh-TW" altLang="en-US"/>
          </a:p>
        </p:txBody>
      </p:sp>
    </p:spTree>
    <p:extLst>
      <p:ext uri="{BB962C8B-B14F-4D97-AF65-F5344CB8AC3E}">
        <p14:creationId xmlns:p14="http://schemas.microsoft.com/office/powerpoint/2010/main" val="2322774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6</a:t>
            </a:fld>
            <a:endParaRPr kumimoji="1" lang="zh-TW" altLang="en-US"/>
          </a:p>
        </p:txBody>
      </p:sp>
    </p:spTree>
    <p:extLst>
      <p:ext uri="{BB962C8B-B14F-4D97-AF65-F5344CB8AC3E}">
        <p14:creationId xmlns:p14="http://schemas.microsoft.com/office/powerpoint/2010/main" val="42135994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7</a:t>
            </a:fld>
            <a:endParaRPr kumimoji="1" lang="zh-TW" altLang="en-US"/>
          </a:p>
        </p:txBody>
      </p:sp>
    </p:spTree>
    <p:extLst>
      <p:ext uri="{BB962C8B-B14F-4D97-AF65-F5344CB8AC3E}">
        <p14:creationId xmlns:p14="http://schemas.microsoft.com/office/powerpoint/2010/main" val="1718957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8</a:t>
            </a:fld>
            <a:endParaRPr kumimoji="1" lang="zh-TW" altLang="en-US"/>
          </a:p>
        </p:txBody>
      </p:sp>
    </p:spTree>
    <p:extLst>
      <p:ext uri="{BB962C8B-B14F-4D97-AF65-F5344CB8AC3E}">
        <p14:creationId xmlns:p14="http://schemas.microsoft.com/office/powerpoint/2010/main" val="3343611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9</a:t>
            </a:fld>
            <a:endParaRPr kumimoji="1" lang="zh-TW" altLang="en-US"/>
          </a:p>
        </p:txBody>
      </p:sp>
    </p:spTree>
    <p:extLst>
      <p:ext uri="{BB962C8B-B14F-4D97-AF65-F5344CB8AC3E}">
        <p14:creationId xmlns:p14="http://schemas.microsoft.com/office/powerpoint/2010/main" val="3351120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10</a:t>
            </a:fld>
            <a:endParaRPr kumimoji="1" lang="zh-TW" altLang="en-US"/>
          </a:p>
        </p:txBody>
      </p:sp>
    </p:spTree>
    <p:extLst>
      <p:ext uri="{BB962C8B-B14F-4D97-AF65-F5344CB8AC3E}">
        <p14:creationId xmlns:p14="http://schemas.microsoft.com/office/powerpoint/2010/main" val="528435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11</a:t>
            </a:fld>
            <a:endParaRPr kumimoji="1" lang="zh-TW" altLang="en-US"/>
          </a:p>
        </p:txBody>
      </p:sp>
    </p:spTree>
    <p:extLst>
      <p:ext uri="{BB962C8B-B14F-4D97-AF65-F5344CB8AC3E}">
        <p14:creationId xmlns:p14="http://schemas.microsoft.com/office/powerpoint/2010/main" val="3290294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2023/7/25</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2023/7/25</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2023/7/25</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2023/7/25</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2023/7/25</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2023/7/25</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2023/7/25</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sz="4400" dirty="0">
                <a:latin typeface="Times" pitchFamily="2" charset="0"/>
              </a:rPr>
              <a:t>Neural Networks and the Estimation of Hands Strength in Contract Bridge</a:t>
            </a:r>
            <a:endParaRPr kumimoji="1" lang="zh-TW" altLang="en-US" sz="44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US" altLang="zh-TW" dirty="0">
                <a:latin typeface="Times" pitchFamily="2" charset="0"/>
              </a:rPr>
              <a:t>K.</a:t>
            </a:r>
            <a:r>
              <a:rPr lang="zh-TW" altLang="en-US" dirty="0">
                <a:latin typeface="Times" pitchFamily="2" charset="0"/>
              </a:rPr>
              <a:t> </a:t>
            </a:r>
            <a:r>
              <a:rPr lang="en" altLang="zh-TW" dirty="0" err="1">
                <a:latin typeface="Times" pitchFamily="2" charset="0"/>
              </a:rPr>
              <a:t>Mossakowski</a:t>
            </a:r>
            <a:r>
              <a:rPr lang="zh-TW" altLang="en-US" dirty="0">
                <a:latin typeface="Times" pitchFamily="2" charset="0"/>
              </a:rPr>
              <a:t> </a:t>
            </a:r>
            <a:r>
              <a:rPr lang="en-US" altLang="zh-TW" dirty="0">
                <a:latin typeface="Times" pitchFamily="2" charset="0"/>
              </a:rPr>
              <a:t>and</a:t>
            </a:r>
            <a:r>
              <a:rPr lang="en" altLang="zh-TW" dirty="0">
                <a:latin typeface="Times" pitchFamily="2" charset="0"/>
              </a:rPr>
              <a:t> </a:t>
            </a:r>
            <a:r>
              <a:rPr lang="en-US" altLang="zh-TW" dirty="0">
                <a:latin typeface="Times" pitchFamily="2" charset="0"/>
              </a:rPr>
              <a:t>J.</a:t>
            </a:r>
            <a:r>
              <a:rPr lang="zh-TW" altLang="en-US" dirty="0">
                <a:latin typeface="Times" pitchFamily="2" charset="0"/>
              </a:rPr>
              <a:t> </a:t>
            </a:r>
            <a:r>
              <a:rPr lang="en" altLang="zh-TW" dirty="0" err="1">
                <a:latin typeface="Times" pitchFamily="2" charset="0"/>
              </a:rPr>
              <a:t>Mańdziuk</a:t>
            </a:r>
            <a:endParaRPr lang="en" altLang="zh-TW" dirty="0">
              <a:latin typeface="Times" pitchFamily="2" charset="0"/>
            </a:endParaRPr>
          </a:p>
          <a:p>
            <a:pPr>
              <a:lnSpc>
                <a:spcPct val="100000"/>
              </a:lnSpc>
            </a:pPr>
            <a:r>
              <a:rPr lang="en" altLang="zh-TW" dirty="0">
                <a:latin typeface="Times" pitchFamily="2" charset="0"/>
              </a:rPr>
              <a:t>In Artificial Intelligence and Soft Computing–ICAISC</a:t>
            </a:r>
            <a:endParaRPr lang="en-US" altLang="zh-TW" dirty="0">
              <a:latin typeface="Times" pitchFamily="2" charset="0"/>
            </a:endParaRPr>
          </a:p>
          <a:p>
            <a:pPr>
              <a:lnSpc>
                <a:spcPct val="100000"/>
              </a:lnSpc>
            </a:pPr>
            <a:r>
              <a:rPr lang="en" altLang="zh-TW" dirty="0">
                <a:latin typeface="Times" pitchFamily="2" charset="0"/>
              </a:rPr>
              <a:t>8th International Conference, Zakopane, Poland, June 25-29, 2006.</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July</a:t>
            </a:r>
            <a:r>
              <a:rPr kumimoji="1" lang="zh-TW" altLang="en-US" dirty="0">
                <a:latin typeface="Times" pitchFamily="2" charset="0"/>
              </a:rPr>
              <a:t> </a:t>
            </a:r>
            <a:r>
              <a:rPr kumimoji="1" lang="en-US" altLang="zh-TW" dirty="0">
                <a:latin typeface="Times" pitchFamily="2" charset="0"/>
              </a:rPr>
              <a:t>23,</a:t>
            </a:r>
            <a:r>
              <a:rPr kumimoji="1" lang="zh-TW" altLang="en-US" dirty="0">
                <a:latin typeface="Times" pitchFamily="2" charset="0"/>
              </a:rPr>
              <a:t> </a:t>
            </a:r>
            <a:r>
              <a:rPr kumimoji="1" lang="en-US" altLang="zh-TW" dirty="0">
                <a:latin typeface="Times" pitchFamily="2" charset="0"/>
              </a:rPr>
              <a:t>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p:txBody>
          <a:bodyPr>
            <a:normAutofit/>
          </a:bodyPr>
          <a:lstStyle/>
          <a:p>
            <a:pPr marL="0" indent="0" algn="just">
              <a:lnSpc>
                <a:spcPct val="150000"/>
              </a:lnSpc>
              <a:buNone/>
            </a:pPr>
            <a:r>
              <a:rPr lang="en" altLang="zh-TW" sz="2400" dirty="0">
                <a:latin typeface="Times" pitchFamily="2" charset="0"/>
              </a:rPr>
              <a:t>This paper is focused on a Double Dummy Bridge Problem (DDBP) which consists in answering the question of how many tricks are to be taken by a pair of players assuming perfect play of all four sides with all cards being revealed. Several experiments are also presented in a variant of DDBP in which the information about to whom of the two players in a given pair a particular card belongs to is hidden. In contrast to our previous works, which were devoted to no trump contracts, here we concentrate on suit contracts.</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Several interesting conclusions are drawn from comparison of weight patterns of networks trained on no trump contracts only vs. those trained exclusively on suit contracts. The ultimate goal of this research is to construct a computer program playing the game of contract bridge using neural networks and other CI techniques with the basic assumption of using zero-human-knowledge approach and to learn purely on examples.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Double</a:t>
            </a:r>
            <a:r>
              <a:rPr kumimoji="1" lang="zh-TW" altLang="en-US" dirty="0">
                <a:latin typeface="Times" pitchFamily="2" charset="0"/>
              </a:rPr>
              <a:t> </a:t>
            </a:r>
            <a:r>
              <a:rPr kumimoji="1" lang="en-US" altLang="zh-TW" dirty="0">
                <a:latin typeface="Times" pitchFamily="2" charset="0"/>
              </a:rPr>
              <a:t>dummy</a:t>
            </a:r>
            <a:r>
              <a:rPr kumimoji="1" lang="zh-TW" altLang="en-US" dirty="0">
                <a:latin typeface="Times" pitchFamily="2" charset="0"/>
              </a:rPr>
              <a:t> </a:t>
            </a:r>
            <a:r>
              <a:rPr kumimoji="1" lang="en-US" altLang="zh-TW" dirty="0">
                <a:latin typeface="Times" pitchFamily="2" charset="0"/>
              </a:rPr>
              <a:t>bridge</a:t>
            </a:r>
            <a:r>
              <a:rPr kumimoji="1" lang="zh-TW" altLang="en-US" dirty="0">
                <a:latin typeface="Times" pitchFamily="2" charset="0"/>
              </a:rPr>
              <a:t> </a:t>
            </a:r>
            <a:r>
              <a:rPr kumimoji="1" lang="en-US" altLang="zh-TW" dirty="0">
                <a:latin typeface="Times" pitchFamily="2" charset="0"/>
              </a:rPr>
              <a:t>problem</a:t>
            </a:r>
            <a:r>
              <a:rPr kumimoji="1" lang="zh-TW" altLang="en-US" dirty="0">
                <a:latin typeface="Times" pitchFamily="2" charset="0"/>
              </a:rPr>
              <a:t> </a:t>
            </a:r>
            <a:r>
              <a:rPr kumimoji="1" lang="en-US" altLang="zh-TW" dirty="0">
                <a:latin typeface="Times" pitchFamily="2" charset="0"/>
              </a:rPr>
              <a:t>(DDBP)</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a:p>
        </p:txBody>
      </p:sp>
      <p:pic>
        <p:nvPicPr>
          <p:cNvPr id="8" name="圖片 7" descr="一張含有 文字, 螢幕擷取畫面, Rectangle, 遊戲 的圖片&#10;&#10;自動產生的描述">
            <a:extLst>
              <a:ext uri="{FF2B5EF4-FFF2-40B4-BE49-F238E27FC236}">
                <a16:creationId xmlns:a16="http://schemas.microsoft.com/office/drawing/2014/main" id="{A4B03F23-FDA6-4147-9885-A814D40697EF}"/>
              </a:ext>
            </a:extLst>
          </p:cNvPr>
          <p:cNvPicPr>
            <a:picLocks noChangeAspect="1"/>
          </p:cNvPicPr>
          <p:nvPr/>
        </p:nvPicPr>
        <p:blipFill>
          <a:blip r:embed="rId2"/>
          <a:stretch>
            <a:fillRect/>
          </a:stretch>
        </p:blipFill>
        <p:spPr>
          <a:xfrm>
            <a:off x="463062" y="2004158"/>
            <a:ext cx="5486400" cy="3365500"/>
          </a:xfrm>
          <a:prstGeom prst="rect">
            <a:avLst/>
          </a:prstGeom>
        </p:spPr>
      </p:pic>
      <p:pic>
        <p:nvPicPr>
          <p:cNvPr id="10" name="圖片 9" descr="一張含有 文字, 螢幕擷取畫面, 遊戲, 綠色 的圖片&#10;&#10;自動產生的描述">
            <a:extLst>
              <a:ext uri="{FF2B5EF4-FFF2-40B4-BE49-F238E27FC236}">
                <a16:creationId xmlns:a16="http://schemas.microsoft.com/office/drawing/2014/main" id="{A2D9AE0D-6E6F-6B42-AEB1-D1D42D63BBC9}"/>
              </a:ext>
            </a:extLst>
          </p:cNvPr>
          <p:cNvPicPr>
            <a:picLocks noChangeAspect="1"/>
          </p:cNvPicPr>
          <p:nvPr/>
        </p:nvPicPr>
        <p:blipFill>
          <a:blip r:embed="rId3"/>
          <a:stretch>
            <a:fillRect/>
          </a:stretch>
        </p:blipFill>
        <p:spPr>
          <a:xfrm>
            <a:off x="6242538" y="1991458"/>
            <a:ext cx="5486400" cy="3378200"/>
          </a:xfrm>
          <a:prstGeom prst="rect">
            <a:avLst/>
          </a:prstGeom>
        </p:spPr>
      </p:pic>
    </p:spTree>
    <p:extLst>
      <p:ext uri="{BB962C8B-B14F-4D97-AF65-F5344CB8AC3E}">
        <p14:creationId xmlns:p14="http://schemas.microsoft.com/office/powerpoint/2010/main" val="4000338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Trained Networks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dirty="0"/>
          </a:p>
        </p:txBody>
      </p:sp>
      <p:pic>
        <p:nvPicPr>
          <p:cNvPr id="12" name="內容版面配置區 11" descr="一張含有 寫生, 白色 的圖片&#10;&#10;自動產生的描述">
            <a:extLst>
              <a:ext uri="{FF2B5EF4-FFF2-40B4-BE49-F238E27FC236}">
                <a16:creationId xmlns:a16="http://schemas.microsoft.com/office/drawing/2014/main" id="{115F90C0-7B58-4E4D-90EE-5D33AD31D584}"/>
              </a:ext>
            </a:extLst>
          </p:cNvPr>
          <p:cNvPicPr>
            <a:picLocks noGrp="1" noChangeAspect="1"/>
          </p:cNvPicPr>
          <p:nvPr>
            <p:ph idx="1"/>
          </p:nvPr>
        </p:nvPicPr>
        <p:blipFill>
          <a:blip r:embed="rId3"/>
          <a:stretch>
            <a:fillRect/>
          </a:stretch>
        </p:blipFill>
        <p:spPr>
          <a:xfrm>
            <a:off x="723036" y="2117909"/>
            <a:ext cx="10745927" cy="2795557"/>
          </a:xfrm>
        </p:spPr>
      </p:pic>
      <p:sp>
        <p:nvSpPr>
          <p:cNvPr id="14" name="文字方塊 13">
            <a:extLst>
              <a:ext uri="{FF2B5EF4-FFF2-40B4-BE49-F238E27FC236}">
                <a16:creationId xmlns:a16="http://schemas.microsoft.com/office/drawing/2014/main" id="{1937EC50-40DA-4A4C-B0AE-65318B1A01CB}"/>
              </a:ext>
            </a:extLst>
          </p:cNvPr>
          <p:cNvSpPr txBox="1"/>
          <p:nvPr/>
        </p:nvSpPr>
        <p:spPr>
          <a:xfrm>
            <a:off x="474783" y="5127076"/>
            <a:ext cx="6875585" cy="1015663"/>
          </a:xfrm>
          <a:prstGeom prst="rect">
            <a:avLst/>
          </a:prstGeom>
          <a:noFill/>
        </p:spPr>
        <p:txBody>
          <a:bodyPr wrap="square">
            <a:spAutoFit/>
          </a:bodyPr>
          <a:lstStyle/>
          <a:p>
            <a:pPr marL="342900" indent="-342900">
              <a:buFont typeface="Arial" panose="020B0604020202020204" pitchFamily="34" charset="0"/>
              <a:buChar char="•"/>
            </a:pPr>
            <a:r>
              <a:rPr lang="en-US" altLang="zh-TW" sz="2000" dirty="0">
                <a:effectLst/>
                <a:latin typeface="Times New Roman" panose="02020603050405020304" pitchFamily="18" charset="0"/>
                <a:cs typeface="Times New Roman" panose="02020603050405020304" pitchFamily="18" charset="0"/>
              </a:rPr>
              <a:t>Value:</a:t>
            </a:r>
            <a:r>
              <a:rPr lang="zh-TW" altLang="en-US" sz="2000" dirty="0">
                <a:effectLst/>
                <a:latin typeface="Times New Roman" panose="02020603050405020304" pitchFamily="18" charset="0"/>
                <a:cs typeface="Times New Roman" panose="02020603050405020304" pitchFamily="18" charset="0"/>
              </a:rPr>
              <a:t> </a:t>
            </a:r>
            <a:r>
              <a:rPr lang="en" altLang="zh-TW" sz="2000" dirty="0">
                <a:effectLst/>
                <a:latin typeface="Times New Roman" panose="02020603050405020304" pitchFamily="18" charset="0"/>
                <a:cs typeface="Times New Roman" panose="02020603050405020304" pitchFamily="18" charset="0"/>
              </a:rPr>
              <a:t>the rank of a card was transformed using a uniform linear transformation to the range </a:t>
            </a:r>
            <a:r>
              <a:rPr lang="en-US" altLang="zh-TW" sz="2000" dirty="0">
                <a:effectLst/>
                <a:latin typeface="Times New Roman" panose="02020603050405020304" pitchFamily="18" charset="0"/>
                <a:cs typeface="Times New Roman" panose="02020603050405020304" pitchFamily="18" charset="0"/>
              </a:rPr>
              <a:t>[0.1,</a:t>
            </a:r>
            <a:r>
              <a:rPr lang="zh-TW" altLang="en-US" sz="2000" dirty="0">
                <a:effectLst/>
                <a:latin typeface="Times New Roman" panose="02020603050405020304" pitchFamily="18" charset="0"/>
                <a:cs typeface="Times New Roman" panose="02020603050405020304" pitchFamily="18" charset="0"/>
              </a:rPr>
              <a:t> </a:t>
            </a:r>
            <a:r>
              <a:rPr lang="en-US" altLang="zh-TW" sz="2000" dirty="0">
                <a:effectLst/>
                <a:latin typeface="Times New Roman" panose="02020603050405020304" pitchFamily="18" charset="0"/>
                <a:cs typeface="Times New Roman" panose="02020603050405020304" pitchFamily="18" charset="0"/>
              </a:rPr>
              <a:t>0.9].</a:t>
            </a:r>
          </a:p>
          <a:p>
            <a:pPr marL="342900" indent="-342900">
              <a:buFont typeface="Arial" panose="020B0604020202020204" pitchFamily="34" charset="0"/>
              <a:buChar char="•"/>
            </a:pPr>
            <a:r>
              <a:rPr lang="en-US" altLang="zh-TW" sz="2000" dirty="0">
                <a:latin typeface="Times New Roman" panose="02020603050405020304" pitchFamily="18" charset="0"/>
                <a:cs typeface="Times New Roman" panose="02020603050405020304" pitchFamily="18" charset="0"/>
              </a:rPr>
              <a:t>Suit: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0.3</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for</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spade,</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0.5</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for</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heart,</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0.7</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for</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diamond,</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0.9</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for</a:t>
            </a: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club.</a:t>
            </a:r>
            <a:endParaRPr lang="en" altLang="zh-TW" sz="20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8FB854AD-E85F-F146-AE4A-56FDBC0D6722}"/>
              </a:ext>
            </a:extLst>
          </p:cNvPr>
          <p:cNvSpPr txBox="1"/>
          <p:nvPr/>
        </p:nvSpPr>
        <p:spPr>
          <a:xfrm>
            <a:off x="7602415" y="5156021"/>
            <a:ext cx="3493477" cy="369332"/>
          </a:xfrm>
          <a:prstGeom prst="rect">
            <a:avLst/>
          </a:prstGeom>
          <a:noFill/>
        </p:spPr>
        <p:txBody>
          <a:bodyPr wrap="square">
            <a:spAutoFit/>
          </a:bodyPr>
          <a:lstStyle/>
          <a:p>
            <a:r>
              <a:rPr lang="en-US" altLang="zh-TW" dirty="0">
                <a:latin typeface="Times New Roman" panose="02020603050405020304" pitchFamily="18" charset="0"/>
                <a:cs typeface="Times New Roman" panose="02020603050405020304" pitchFamily="18" charset="0"/>
              </a:rPr>
              <a:t>N : 1.0, S : 0.8, W: -1.0 and E : -0.8 </a:t>
            </a:r>
            <a:endParaRPr lang="zh-TW" altLang="en-US" dirty="0"/>
          </a:p>
        </p:txBody>
      </p:sp>
    </p:spTree>
    <p:extLst>
      <p:ext uri="{BB962C8B-B14F-4D97-AF65-F5344CB8AC3E}">
        <p14:creationId xmlns:p14="http://schemas.microsoft.com/office/powerpoint/2010/main" val="2890027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No</a:t>
            </a:r>
            <a:r>
              <a:rPr kumimoji="1" lang="zh-TW" altLang="en-US" dirty="0">
                <a:latin typeface="Times" pitchFamily="2" charset="0"/>
              </a:rPr>
              <a:t> </a:t>
            </a:r>
            <a:r>
              <a:rPr kumimoji="1" lang="en-US" altLang="zh-TW" dirty="0">
                <a:latin typeface="Times" pitchFamily="2" charset="0"/>
              </a:rPr>
              <a:t>trump</a:t>
            </a:r>
            <a:r>
              <a:rPr kumimoji="1" lang="zh-TW" altLang="en-US" dirty="0">
                <a:latin typeface="Times" pitchFamily="2" charset="0"/>
              </a:rPr>
              <a:t> </a:t>
            </a:r>
            <a:r>
              <a:rPr kumimoji="1" lang="en-US" altLang="zh-TW" dirty="0">
                <a:latin typeface="Times" pitchFamily="2" charset="0"/>
              </a:rPr>
              <a:t>contract</a:t>
            </a:r>
            <a:endParaRPr kumimoji="1" lang="zh-TW" altLang="en-US" dirty="0">
              <a:latin typeface="Times" pitchFamily="2" charset="0"/>
            </a:endParaRPr>
          </a:p>
        </p:txBody>
      </p:sp>
      <p:pic>
        <p:nvPicPr>
          <p:cNvPr id="6" name="內容版面配置區 5" descr="一張含有 文字, 螢幕擷取畫面, 字型, 數字 的圖片&#10;&#10;自動產生的描述">
            <a:extLst>
              <a:ext uri="{FF2B5EF4-FFF2-40B4-BE49-F238E27FC236}">
                <a16:creationId xmlns:a16="http://schemas.microsoft.com/office/drawing/2014/main" id="{917BD800-38A1-874F-9D6A-FA2730A62FC1}"/>
              </a:ext>
            </a:extLst>
          </p:cNvPr>
          <p:cNvPicPr>
            <a:picLocks noGrp="1" noChangeAspect="1"/>
          </p:cNvPicPr>
          <p:nvPr>
            <p:ph idx="1"/>
          </p:nvPr>
        </p:nvPicPr>
        <p:blipFill rotWithShape="1">
          <a:blip r:embed="rId3"/>
          <a:srcRect b="75113"/>
          <a:stretch/>
        </p:blipFill>
        <p:spPr>
          <a:xfrm>
            <a:off x="433592" y="3824569"/>
            <a:ext cx="11324815" cy="1531831"/>
          </a:xfrm>
        </p:spPr>
      </p:pic>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dirty="0"/>
          </a:p>
        </p:txBody>
      </p:sp>
      <p:sp>
        <p:nvSpPr>
          <p:cNvPr id="7" name="圓角矩形 6">
            <a:extLst>
              <a:ext uri="{FF2B5EF4-FFF2-40B4-BE49-F238E27FC236}">
                <a16:creationId xmlns:a16="http://schemas.microsoft.com/office/drawing/2014/main" id="{C82BC81E-155A-E046-A776-B7D761BE69C0}"/>
              </a:ext>
            </a:extLst>
          </p:cNvPr>
          <p:cNvSpPr/>
          <p:nvPr/>
        </p:nvSpPr>
        <p:spPr>
          <a:xfrm>
            <a:off x="433592" y="5045231"/>
            <a:ext cx="11324814" cy="31116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pic>
        <p:nvPicPr>
          <p:cNvPr id="8" name="內容版面配置區 11" descr="一張含有 寫生, 白色 的圖片&#10;&#10;自動產生的描述">
            <a:extLst>
              <a:ext uri="{FF2B5EF4-FFF2-40B4-BE49-F238E27FC236}">
                <a16:creationId xmlns:a16="http://schemas.microsoft.com/office/drawing/2014/main" id="{4F196811-7CEC-0146-93E0-E6A20EF55E93}"/>
              </a:ext>
            </a:extLst>
          </p:cNvPr>
          <p:cNvPicPr>
            <a:picLocks noChangeAspect="1"/>
          </p:cNvPicPr>
          <p:nvPr/>
        </p:nvPicPr>
        <p:blipFill rotWithShape="1">
          <a:blip r:embed="rId4"/>
          <a:srcRect l="56808" b="13016"/>
          <a:stretch/>
        </p:blipFill>
        <p:spPr>
          <a:xfrm>
            <a:off x="6659260" y="573937"/>
            <a:ext cx="4694540" cy="2459494"/>
          </a:xfrm>
          <a:prstGeom prst="rect">
            <a:avLst/>
          </a:prstGeom>
        </p:spPr>
      </p:pic>
    </p:spTree>
    <p:extLst>
      <p:ext uri="{BB962C8B-B14F-4D97-AF65-F5344CB8AC3E}">
        <p14:creationId xmlns:p14="http://schemas.microsoft.com/office/powerpoint/2010/main" val="781848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Hiding Opponents’ Cards in NT contracts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dirty="0"/>
          </a:p>
        </p:txBody>
      </p:sp>
      <p:sp>
        <p:nvSpPr>
          <p:cNvPr id="9" name="內容版面配置區 4">
            <a:extLst>
              <a:ext uri="{FF2B5EF4-FFF2-40B4-BE49-F238E27FC236}">
                <a16:creationId xmlns:a16="http://schemas.microsoft.com/office/drawing/2014/main" id="{03416200-4802-3A42-AA96-83F2B167BF55}"/>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solidFill>
                  <a:srgbClr val="C00000"/>
                </a:solidFill>
                <a:latin typeface="Times New Roman" panose="02020603050405020304" pitchFamily="18" charset="0"/>
                <a:cs typeface="Times New Roman" panose="02020603050405020304" pitchFamily="18" charset="0"/>
              </a:rPr>
              <a:t>N : 1.0, S : 0.8, W: -1.0 and E : -0.8 (original)</a:t>
            </a:r>
          </a:p>
          <a:p>
            <a:pPr marL="457200" lvl="1" indent="0">
              <a:buNone/>
            </a:pPr>
            <a:r>
              <a:rPr lang="en-US" altLang="zh-TW" sz="2800" dirty="0">
                <a:latin typeface="Times New Roman" panose="02020603050405020304" pitchFamily="18" charset="0"/>
                <a:cs typeface="Times New Roman" panose="02020603050405020304" pitchFamily="18" charset="0"/>
              </a:rPr>
              <a:t>Results with architecture (52-25-1) were (95.81 | 79.95 | 34.02)</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For hands’ description: </a:t>
            </a:r>
            <a:r>
              <a:rPr lang="en-US" altLang="zh-TW" dirty="0">
                <a:solidFill>
                  <a:srgbClr val="C00000"/>
                </a:solidFill>
                <a:latin typeface="Times New Roman" panose="02020603050405020304" pitchFamily="18" charset="0"/>
                <a:cs typeface="Times New Roman" panose="02020603050405020304" pitchFamily="18" charset="0"/>
              </a:rPr>
              <a:t>N : 1.0, S : 0.8, W and E : -1.0 </a:t>
            </a:r>
          </a:p>
          <a:p>
            <a:pPr marL="457200" lvl="1" indent="0">
              <a:buNone/>
            </a:pPr>
            <a:r>
              <a:rPr lang="en-US" altLang="zh-TW" sz="2800" dirty="0">
                <a:latin typeface="Times New Roman" panose="02020603050405020304" pitchFamily="18" charset="0"/>
                <a:cs typeface="Times New Roman" panose="02020603050405020304" pitchFamily="18" charset="0"/>
              </a:rPr>
              <a:t>Results were slightly improved: (95.97 | 80.46 | 34.35).</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For hands’ description</a:t>
            </a:r>
            <a:r>
              <a:rPr lang="en" altLang="zh-TW" dirty="0">
                <a:latin typeface="Times New Roman" panose="02020603050405020304" pitchFamily="18" charset="0"/>
                <a:cs typeface="Times New Roman" panose="02020603050405020304" pitchFamily="18" charset="0"/>
              </a:rPr>
              <a:t>: </a:t>
            </a:r>
            <a:r>
              <a:rPr lang="en" altLang="zh-TW" dirty="0">
                <a:solidFill>
                  <a:srgbClr val="C00000"/>
                </a:solidFill>
                <a:latin typeface="Times New Roman" panose="02020603050405020304" pitchFamily="18" charset="0"/>
                <a:cs typeface="Times New Roman" panose="02020603050405020304" pitchFamily="18" charset="0"/>
              </a:rPr>
              <a:t>N and S : 1.0, W and E : -1.0</a:t>
            </a:r>
          </a:p>
          <a:p>
            <a:pPr marL="457200" lvl="1" indent="0">
              <a:buNone/>
            </a:pPr>
            <a:r>
              <a:rPr lang="en" altLang="zh-TW" sz="2800" dirty="0">
                <a:latin typeface="Times New Roman" panose="02020603050405020304" pitchFamily="18" charset="0"/>
                <a:cs typeface="Times New Roman" panose="02020603050405020304" pitchFamily="18" charset="0"/>
              </a:rPr>
              <a:t>Results were slightly improved: (96.07 | 80.88 | 34.66).</a:t>
            </a:r>
          </a:p>
        </p:txBody>
      </p:sp>
    </p:spTree>
    <p:extLst>
      <p:ext uri="{BB962C8B-B14F-4D97-AF65-F5344CB8AC3E}">
        <p14:creationId xmlns:p14="http://schemas.microsoft.com/office/powerpoint/2010/main" val="1533456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No</a:t>
            </a:r>
            <a:r>
              <a:rPr kumimoji="1" lang="zh-TW" altLang="en-US" dirty="0">
                <a:latin typeface="Times" pitchFamily="2" charset="0"/>
              </a:rPr>
              <a:t> </a:t>
            </a:r>
            <a:r>
              <a:rPr kumimoji="1" lang="en-US" altLang="zh-TW" dirty="0">
                <a:latin typeface="Times" pitchFamily="2" charset="0"/>
              </a:rPr>
              <a:t>trump</a:t>
            </a:r>
            <a:r>
              <a:rPr kumimoji="1" lang="zh-TW" altLang="en-US" dirty="0">
                <a:latin typeface="Times" pitchFamily="2" charset="0"/>
              </a:rPr>
              <a:t> </a:t>
            </a:r>
            <a:r>
              <a:rPr kumimoji="1" lang="en-US" altLang="zh-TW" dirty="0">
                <a:latin typeface="Times" pitchFamily="2" charset="0"/>
              </a:rPr>
              <a:t>contract analysis</a:t>
            </a:r>
            <a:endParaRPr kumimoji="1" lang="zh-TW" altLang="en-US" dirty="0">
              <a:latin typeface="Times" pitchFamily="2" charset="0"/>
            </a:endParaRPr>
          </a:p>
        </p:txBody>
      </p:sp>
      <p:pic>
        <p:nvPicPr>
          <p:cNvPr id="6" name="內容版面配置區 5" descr="一張含有 文字, 黑與白, 針線, 單色 的圖片&#10;&#10;自動產生的描述">
            <a:extLst>
              <a:ext uri="{FF2B5EF4-FFF2-40B4-BE49-F238E27FC236}">
                <a16:creationId xmlns:a16="http://schemas.microsoft.com/office/drawing/2014/main" id="{2133E2F2-64B8-2242-87A0-890767614513}"/>
              </a:ext>
            </a:extLst>
          </p:cNvPr>
          <p:cNvPicPr>
            <a:picLocks noGrp="1" noChangeAspect="1"/>
          </p:cNvPicPr>
          <p:nvPr>
            <p:ph idx="1"/>
          </p:nvPr>
        </p:nvPicPr>
        <p:blipFill>
          <a:blip r:embed="rId3"/>
          <a:stretch>
            <a:fillRect/>
          </a:stretch>
        </p:blipFill>
        <p:spPr>
          <a:xfrm>
            <a:off x="4091109" y="1526545"/>
            <a:ext cx="7386028" cy="5148914"/>
          </a:xfrm>
        </p:spPr>
      </p:pic>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dirty="0"/>
          </a:p>
        </p:txBody>
      </p:sp>
      <p:grpSp>
        <p:nvGrpSpPr>
          <p:cNvPr id="14" name="群組 13">
            <a:extLst>
              <a:ext uri="{FF2B5EF4-FFF2-40B4-BE49-F238E27FC236}">
                <a16:creationId xmlns:a16="http://schemas.microsoft.com/office/drawing/2014/main" id="{32D33EFF-3C54-D946-8F10-A6BF0804C23D}"/>
              </a:ext>
            </a:extLst>
          </p:cNvPr>
          <p:cNvGrpSpPr/>
          <p:nvPr/>
        </p:nvGrpSpPr>
        <p:grpSpPr>
          <a:xfrm>
            <a:off x="5690015" y="3195080"/>
            <a:ext cx="5724806" cy="1483304"/>
            <a:chOff x="4001892" y="3241096"/>
            <a:chExt cx="5724806" cy="1483304"/>
          </a:xfrm>
        </p:grpSpPr>
        <p:sp>
          <p:nvSpPr>
            <p:cNvPr id="8" name="圓角矩形 7">
              <a:extLst>
                <a:ext uri="{FF2B5EF4-FFF2-40B4-BE49-F238E27FC236}">
                  <a16:creationId xmlns:a16="http://schemas.microsoft.com/office/drawing/2014/main" id="{7D4E5108-004E-D54A-9AA7-DA84F92AF46D}"/>
                </a:ext>
              </a:extLst>
            </p:cNvPr>
            <p:cNvSpPr/>
            <p:nvPr/>
          </p:nvSpPr>
          <p:spPr>
            <a:xfrm>
              <a:off x="4001892" y="4020681"/>
              <a:ext cx="663893" cy="187904"/>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圓角矩形 8">
              <a:extLst>
                <a:ext uri="{FF2B5EF4-FFF2-40B4-BE49-F238E27FC236}">
                  <a16:creationId xmlns:a16="http://schemas.microsoft.com/office/drawing/2014/main" id="{1DC090DE-27E1-1F48-A4C9-6873C4DE1926}"/>
                </a:ext>
              </a:extLst>
            </p:cNvPr>
            <p:cNvSpPr/>
            <p:nvPr/>
          </p:nvSpPr>
          <p:spPr>
            <a:xfrm>
              <a:off x="5678292" y="4536496"/>
              <a:ext cx="663893" cy="187904"/>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圓角矩形 9">
              <a:extLst>
                <a:ext uri="{FF2B5EF4-FFF2-40B4-BE49-F238E27FC236}">
                  <a16:creationId xmlns:a16="http://schemas.microsoft.com/office/drawing/2014/main" id="{9C6886F1-87A5-224C-B9A9-C1FC6D1164FC}"/>
                </a:ext>
              </a:extLst>
            </p:cNvPr>
            <p:cNvSpPr/>
            <p:nvPr/>
          </p:nvSpPr>
          <p:spPr>
            <a:xfrm>
              <a:off x="7366415" y="3241096"/>
              <a:ext cx="663893" cy="187904"/>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圓角矩形 10">
              <a:extLst>
                <a:ext uri="{FF2B5EF4-FFF2-40B4-BE49-F238E27FC236}">
                  <a16:creationId xmlns:a16="http://schemas.microsoft.com/office/drawing/2014/main" id="{3840DFD1-1796-9D41-950B-73E1D2A7BDC4}"/>
                </a:ext>
              </a:extLst>
            </p:cNvPr>
            <p:cNvSpPr/>
            <p:nvPr/>
          </p:nvSpPr>
          <p:spPr>
            <a:xfrm>
              <a:off x="9062805" y="3900779"/>
              <a:ext cx="663893" cy="187904"/>
            </a:xfrm>
            <a:prstGeom prst="round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sp>
        <p:nvSpPr>
          <p:cNvPr id="13" name="文字方塊 12">
            <a:extLst>
              <a:ext uri="{FF2B5EF4-FFF2-40B4-BE49-F238E27FC236}">
                <a16:creationId xmlns:a16="http://schemas.microsoft.com/office/drawing/2014/main" id="{F19A2CBE-7483-4A42-9B20-19FCD7E74766}"/>
              </a:ext>
            </a:extLst>
          </p:cNvPr>
          <p:cNvSpPr txBox="1"/>
          <p:nvPr/>
        </p:nvSpPr>
        <p:spPr>
          <a:xfrm>
            <a:off x="128952" y="5496561"/>
            <a:ext cx="4044461" cy="646331"/>
          </a:xfrm>
          <a:prstGeom prst="rect">
            <a:avLst/>
          </a:prstGeom>
          <a:solidFill>
            <a:schemeClr val="accent4">
              <a:lumMod val="20000"/>
              <a:lumOff val="80000"/>
            </a:schemeClr>
          </a:solidFill>
          <a:ln>
            <a:solidFill>
              <a:schemeClr val="accent4">
                <a:lumMod val="20000"/>
                <a:lumOff val="80000"/>
              </a:schemeClr>
            </a:solidFill>
            <a:prstDash val="dash"/>
          </a:ln>
        </p:spPr>
        <p:txBody>
          <a:bodyPr wrap="square">
            <a:spAutoFit/>
          </a:bodyPr>
          <a:lstStyle/>
          <a:p>
            <a:r>
              <a:rPr lang="en-US" altLang="zh-TW" dirty="0">
                <a:latin typeface="Times New Roman" panose="02020603050405020304" pitchFamily="18" charset="0"/>
                <a:cs typeface="Times New Roman" panose="02020603050405020304" pitchFamily="18" charset="0"/>
              </a:rPr>
              <a:t>T</a:t>
            </a:r>
            <a:r>
              <a:rPr lang="zh-TW" altLang="en-US" dirty="0">
                <a:latin typeface="Times New Roman" panose="02020603050405020304" pitchFamily="18" charset="0"/>
                <a:cs typeface="Times New Roman" panose="02020603050405020304" pitchFamily="18" charset="0"/>
              </a:rPr>
              <a:t>he presence of four hidden neurons each specialized in five cards from one suit</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cxnSp>
        <p:nvCxnSpPr>
          <p:cNvPr id="16" name="肘形接點 15">
            <a:extLst>
              <a:ext uri="{FF2B5EF4-FFF2-40B4-BE49-F238E27FC236}">
                <a16:creationId xmlns:a16="http://schemas.microsoft.com/office/drawing/2014/main" id="{962963D4-B85F-4E4D-829F-4AC74EBFD1A3}"/>
              </a:ext>
            </a:extLst>
          </p:cNvPr>
          <p:cNvCxnSpPr>
            <a:cxnSpLocks/>
            <a:stCxn id="8" idx="1"/>
            <a:endCxn id="13" idx="0"/>
          </p:cNvCxnSpPr>
          <p:nvPr/>
        </p:nvCxnSpPr>
        <p:spPr>
          <a:xfrm rot="10800000" flipV="1">
            <a:off x="2151183" y="4068617"/>
            <a:ext cx="3538832" cy="1427944"/>
          </a:xfrm>
          <a:prstGeom prst="bentConnector2">
            <a:avLst/>
          </a:prstGeom>
          <a:ln w="38100">
            <a:solidFill>
              <a:schemeClr val="accent4">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509CF5C1-7556-4B45-A87D-22CCEDDEAFB9}"/>
              </a:ext>
            </a:extLst>
          </p:cNvPr>
          <p:cNvSpPr txBox="1"/>
          <p:nvPr/>
        </p:nvSpPr>
        <p:spPr>
          <a:xfrm>
            <a:off x="128952" y="3101221"/>
            <a:ext cx="3962157" cy="369332"/>
          </a:xfrm>
          <a:prstGeom prst="rect">
            <a:avLst/>
          </a:prstGeom>
          <a:solidFill>
            <a:schemeClr val="accent6">
              <a:lumMod val="20000"/>
              <a:lumOff val="80000"/>
            </a:schemeClr>
          </a:solidFill>
        </p:spPr>
        <p:txBody>
          <a:bodyPr wrap="square">
            <a:spAutoFit/>
          </a:bodyPr>
          <a:lstStyle/>
          <a:p>
            <a:r>
              <a:rPr lang="en-US" altLang="zh-TW" dirty="0">
                <a:latin typeface="Times New Roman" panose="02020603050405020304" pitchFamily="18" charset="0"/>
                <a:cs typeface="Times New Roman" panose="02020603050405020304" pitchFamily="18" charset="0"/>
              </a:rPr>
              <a:t>Some </a:t>
            </a:r>
            <a:r>
              <a:rPr lang="zh-TW" altLang="en-US" dirty="0">
                <a:latin typeface="Times New Roman" panose="02020603050405020304" pitchFamily="18" charset="0"/>
                <a:cs typeface="Times New Roman" panose="02020603050405020304" pitchFamily="18" charset="0"/>
              </a:rPr>
              <a:t>hidden neurons focused on </a:t>
            </a:r>
            <a:r>
              <a:rPr lang="en" altLang="zh-TW" dirty="0">
                <a:latin typeface="Times New Roman" panose="02020603050405020304" pitchFamily="18" charset="0"/>
                <a:cs typeface="Times New Roman" panose="02020603050405020304" pitchFamily="18" charset="0"/>
              </a:rPr>
              <a:t>suits</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cxnSp>
        <p:nvCxnSpPr>
          <p:cNvPr id="20" name="肘形接點 19">
            <a:extLst>
              <a:ext uri="{FF2B5EF4-FFF2-40B4-BE49-F238E27FC236}">
                <a16:creationId xmlns:a16="http://schemas.microsoft.com/office/drawing/2014/main" id="{CADDE99F-B0EC-2E44-93AE-E8B0B894C346}"/>
              </a:ext>
            </a:extLst>
          </p:cNvPr>
          <p:cNvCxnSpPr>
            <a:cxnSpLocks/>
            <a:endCxn id="18" idx="2"/>
          </p:cNvCxnSpPr>
          <p:nvPr/>
        </p:nvCxnSpPr>
        <p:spPr>
          <a:xfrm rot="10800000">
            <a:off x="2110032" y="3470554"/>
            <a:ext cx="2477253" cy="327435"/>
          </a:xfrm>
          <a:prstGeom prst="bentConnector2">
            <a:avLst/>
          </a:prstGeom>
          <a:ln w="3810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22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內容版面配置區 5" descr="一張含有 文字, 螢幕擷取畫面, 字型, 數字 的圖片&#10;&#10;自動產生的描述">
            <a:extLst>
              <a:ext uri="{FF2B5EF4-FFF2-40B4-BE49-F238E27FC236}">
                <a16:creationId xmlns:a16="http://schemas.microsoft.com/office/drawing/2014/main" id="{D4AF2CDF-BFCF-584D-85AE-1869CE16352E}"/>
              </a:ext>
            </a:extLst>
          </p:cNvPr>
          <p:cNvPicPr>
            <a:picLocks noChangeAspect="1"/>
          </p:cNvPicPr>
          <p:nvPr/>
        </p:nvPicPr>
        <p:blipFill>
          <a:blip r:embed="rId3"/>
          <a:stretch>
            <a:fillRect/>
          </a:stretch>
        </p:blipFill>
        <p:spPr>
          <a:xfrm>
            <a:off x="2722624" y="2998812"/>
            <a:ext cx="6746751" cy="3666953"/>
          </a:xfrm>
          <a:prstGeom prst="rect">
            <a:avLst/>
          </a:prstGeom>
        </p:spPr>
      </p:pic>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Suit</a:t>
            </a:r>
            <a:r>
              <a:rPr kumimoji="1" lang="zh-TW" altLang="en-US" dirty="0">
                <a:latin typeface="Times" pitchFamily="2" charset="0"/>
              </a:rPr>
              <a:t> </a:t>
            </a:r>
            <a:r>
              <a:rPr kumimoji="1" lang="en-US" altLang="zh-TW" dirty="0">
                <a:latin typeface="Times" pitchFamily="2" charset="0"/>
              </a:rPr>
              <a:t>contract</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dirty="0"/>
          </a:p>
        </p:txBody>
      </p:sp>
      <p:sp>
        <p:nvSpPr>
          <p:cNvPr id="10" name="圓角矩形 9">
            <a:extLst>
              <a:ext uri="{FF2B5EF4-FFF2-40B4-BE49-F238E27FC236}">
                <a16:creationId xmlns:a16="http://schemas.microsoft.com/office/drawing/2014/main" id="{CDF9C8EF-C312-F14D-8082-46363804864D}"/>
              </a:ext>
            </a:extLst>
          </p:cNvPr>
          <p:cNvSpPr/>
          <p:nvPr/>
        </p:nvSpPr>
        <p:spPr>
          <a:xfrm>
            <a:off x="2722624" y="3927230"/>
            <a:ext cx="6746751" cy="25213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內容版面配置區 4">
            <a:extLst>
              <a:ext uri="{FF2B5EF4-FFF2-40B4-BE49-F238E27FC236}">
                <a16:creationId xmlns:a16="http://schemas.microsoft.com/office/drawing/2014/main" id="{053F092B-8514-014A-A08E-1E97EFEA6166}"/>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Training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data: 400000 deals from GIB Library.</a:t>
            </a:r>
          </a:p>
          <a:p>
            <a:r>
              <a:rPr lang="en-US" altLang="zh-TW" dirty="0">
                <a:latin typeface="Times New Roman" panose="02020603050405020304" pitchFamily="18" charset="0"/>
                <a:cs typeface="Times New Roman" panose="02020603050405020304" pitchFamily="18" charset="0"/>
              </a:rPr>
              <a:t>Testing</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data:</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100000 deals from GIB Library.</a:t>
            </a:r>
          </a:p>
          <a:p>
            <a:endParaRPr lang="en" altLang="zh-TW" dirty="0">
              <a:latin typeface="Times New Roman" panose="02020603050405020304" pitchFamily="18" charset="0"/>
              <a:cs typeface="Times New Roman" panose="02020603050405020304" pitchFamily="18" charset="0"/>
            </a:endParaRPr>
          </a:p>
        </p:txBody>
      </p:sp>
      <p:sp>
        <p:nvSpPr>
          <p:cNvPr id="14" name="圓角矩形 13">
            <a:extLst>
              <a:ext uri="{FF2B5EF4-FFF2-40B4-BE49-F238E27FC236}">
                <a16:creationId xmlns:a16="http://schemas.microsoft.com/office/drawing/2014/main" id="{0BE8553A-4461-3E4E-B8BB-B248535C2CFD}"/>
              </a:ext>
            </a:extLst>
          </p:cNvPr>
          <p:cNvSpPr/>
          <p:nvPr/>
        </p:nvSpPr>
        <p:spPr>
          <a:xfrm>
            <a:off x="2722623" y="5016927"/>
            <a:ext cx="6746751" cy="25213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11913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Suit</a:t>
            </a:r>
            <a:r>
              <a:rPr kumimoji="1" lang="zh-TW" altLang="en-US" dirty="0">
                <a:latin typeface="Times" pitchFamily="2" charset="0"/>
              </a:rPr>
              <a:t> </a:t>
            </a:r>
            <a:r>
              <a:rPr kumimoji="1" lang="en-US" altLang="zh-TW" dirty="0">
                <a:latin typeface="Times" pitchFamily="2" charset="0"/>
              </a:rPr>
              <a:t>contract</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dirty="0"/>
          </a:p>
        </p:txBody>
      </p:sp>
      <p:pic>
        <p:nvPicPr>
          <p:cNvPr id="8" name="內容版面配置區 7" descr="一張含有 文字, 針線, 單色, 樣式 的圖片&#10;&#10;自動產生的描述">
            <a:extLst>
              <a:ext uri="{FF2B5EF4-FFF2-40B4-BE49-F238E27FC236}">
                <a16:creationId xmlns:a16="http://schemas.microsoft.com/office/drawing/2014/main" id="{206D04FE-228E-8F49-B0FA-F58F521BA8CF}"/>
              </a:ext>
            </a:extLst>
          </p:cNvPr>
          <p:cNvPicPr>
            <a:picLocks noGrp="1" noChangeAspect="1"/>
          </p:cNvPicPr>
          <p:nvPr>
            <p:ph idx="1"/>
          </p:nvPr>
        </p:nvPicPr>
        <p:blipFill>
          <a:blip r:embed="rId3"/>
          <a:stretch>
            <a:fillRect/>
          </a:stretch>
        </p:blipFill>
        <p:spPr>
          <a:xfrm>
            <a:off x="2477032" y="1573449"/>
            <a:ext cx="7237936" cy="5148026"/>
          </a:xfrm>
        </p:spPr>
      </p:pic>
    </p:spTree>
    <p:extLst>
      <p:ext uri="{BB962C8B-B14F-4D97-AF65-F5344CB8AC3E}">
        <p14:creationId xmlns:p14="http://schemas.microsoft.com/office/powerpoint/2010/main" val="145175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US" altLang="zh-TW" dirty="0">
                <a:latin typeface="Times" pitchFamily="2" charset="0"/>
              </a:rPr>
              <a:t>Suit</a:t>
            </a:r>
            <a:r>
              <a:rPr kumimoji="1" lang="zh-TW" altLang="en-US" dirty="0">
                <a:latin typeface="Times" pitchFamily="2" charset="0"/>
              </a:rPr>
              <a:t> </a:t>
            </a:r>
            <a:r>
              <a:rPr kumimoji="1" lang="en-US" altLang="zh-TW" dirty="0">
                <a:latin typeface="Times" pitchFamily="2" charset="0"/>
              </a:rPr>
              <a:t>contract</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dirty="0"/>
          </a:p>
        </p:txBody>
      </p:sp>
      <p:pic>
        <p:nvPicPr>
          <p:cNvPr id="7" name="內容版面配置區 6" descr="一張含有 文字, 螢幕擷取畫面, 數字, 字型 的圖片&#10;&#10;自動產生的描述">
            <a:extLst>
              <a:ext uri="{FF2B5EF4-FFF2-40B4-BE49-F238E27FC236}">
                <a16:creationId xmlns:a16="http://schemas.microsoft.com/office/drawing/2014/main" id="{1BE40769-939E-F541-BD20-319F959C966C}"/>
              </a:ext>
            </a:extLst>
          </p:cNvPr>
          <p:cNvPicPr>
            <a:picLocks noGrp="1" noChangeAspect="1"/>
          </p:cNvPicPr>
          <p:nvPr>
            <p:ph idx="1"/>
          </p:nvPr>
        </p:nvPicPr>
        <p:blipFill>
          <a:blip r:embed="rId3"/>
          <a:stretch>
            <a:fillRect/>
          </a:stretch>
        </p:blipFill>
        <p:spPr>
          <a:xfrm>
            <a:off x="1955370" y="1543844"/>
            <a:ext cx="8281260" cy="4812506"/>
          </a:xfrm>
        </p:spPr>
      </p:pic>
    </p:spTree>
    <p:extLst>
      <p:ext uri="{BB962C8B-B14F-4D97-AF65-F5344CB8AC3E}">
        <p14:creationId xmlns:p14="http://schemas.microsoft.com/office/powerpoint/2010/main" val="1555529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數字, 螢幕擷取畫面, 字型 的圖片&#10;&#10;自動產生的描述">
            <a:extLst>
              <a:ext uri="{FF2B5EF4-FFF2-40B4-BE49-F238E27FC236}">
                <a16:creationId xmlns:a16="http://schemas.microsoft.com/office/drawing/2014/main" id="{B5E941B0-E49A-9B4A-AEF3-3DD245CBE5C2}"/>
              </a:ext>
            </a:extLst>
          </p:cNvPr>
          <p:cNvPicPr>
            <a:picLocks noGrp="1" noChangeAspect="1"/>
          </p:cNvPicPr>
          <p:nvPr>
            <p:ph idx="1"/>
          </p:nvPr>
        </p:nvPicPr>
        <p:blipFill>
          <a:blip r:embed="rId2"/>
          <a:stretch>
            <a:fillRect/>
          </a:stretch>
        </p:blipFill>
        <p:spPr>
          <a:xfrm>
            <a:off x="2613655" y="1531103"/>
            <a:ext cx="6964689" cy="4961772"/>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Result</a:t>
            </a:r>
            <a:r>
              <a:rPr lang="en" altLang="zh-TW" dirty="0">
                <a:latin typeface="Times" pitchFamily="2" charset="0"/>
              </a:rPr>
              <a: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US" altLang="zh-TW" dirty="0">
                <a:latin typeface="Times" pitchFamily="2" charset="0"/>
              </a:rPr>
              <a:t>T</a:t>
            </a:r>
            <a:r>
              <a:rPr lang="en" altLang="zh-TW" dirty="0">
                <a:latin typeface="Times" pitchFamily="2" charset="0"/>
              </a:rPr>
              <a:t>he Target Number of Tricks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spTree>
    <p:extLst>
      <p:ext uri="{BB962C8B-B14F-4D97-AF65-F5344CB8AC3E}">
        <p14:creationId xmlns:p14="http://schemas.microsoft.com/office/powerpoint/2010/main" val="183679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Results</a:t>
            </a:r>
            <a:r>
              <a:rPr lang="zh-TW" altLang="en-US" dirty="0">
                <a:latin typeface="Times" pitchFamily="2" charset="0"/>
              </a:rPr>
              <a:t> </a:t>
            </a:r>
            <a:r>
              <a:rPr lang="en-US" altLang="zh-TW" dirty="0">
                <a:latin typeface="Times" pitchFamily="2" charset="0"/>
              </a:rPr>
              <a:t>-</a:t>
            </a:r>
            <a:r>
              <a:rPr lang="zh-TW" altLang="en-US" dirty="0">
                <a:latin typeface="Times" pitchFamily="2" charset="0"/>
              </a:rPr>
              <a:t> </a:t>
            </a:r>
            <a:r>
              <a:rPr lang="en-US" altLang="zh-TW" dirty="0">
                <a:latin typeface="Times" pitchFamily="2" charset="0"/>
              </a:rPr>
              <a:t>Sample</a:t>
            </a:r>
            <a:r>
              <a:rPr lang="zh-TW" altLang="en-US" dirty="0">
                <a:latin typeface="Times" pitchFamily="2" charset="0"/>
              </a:rPr>
              <a:t> </a:t>
            </a:r>
            <a:r>
              <a:rPr lang="en-US" altLang="zh-TW" dirty="0">
                <a:latin typeface="Times" pitchFamily="2" charset="0"/>
              </a:rPr>
              <a:t>deal</a:t>
            </a:r>
            <a:r>
              <a:rPr lang="en" altLang="zh-TW" dirty="0">
                <a:latin typeface="Times" pitchFamily="2" charset="0"/>
              </a:rPr>
              <a: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13</a:t>
            </a:fld>
            <a:endParaRPr kumimoji="1" lang="zh-TW" altLang="en-US"/>
          </a:p>
        </p:txBody>
      </p:sp>
      <p:pic>
        <p:nvPicPr>
          <p:cNvPr id="8" name="內容版面配置區 7" descr="一張含有 文字, 收據, 字型, 白色 的圖片&#10;&#10;自動產生的描述">
            <a:extLst>
              <a:ext uri="{FF2B5EF4-FFF2-40B4-BE49-F238E27FC236}">
                <a16:creationId xmlns:a16="http://schemas.microsoft.com/office/drawing/2014/main" id="{E86DF16D-174D-3D4D-BCC9-5CFD9FC7BE17}"/>
              </a:ext>
            </a:extLst>
          </p:cNvPr>
          <p:cNvPicPr>
            <a:picLocks noGrp="1" noChangeAspect="1"/>
          </p:cNvPicPr>
          <p:nvPr>
            <p:ph idx="1"/>
          </p:nvPr>
        </p:nvPicPr>
        <p:blipFill rotWithShape="1">
          <a:blip r:embed="rId2"/>
          <a:srcRect b="16475"/>
          <a:stretch/>
        </p:blipFill>
        <p:spPr>
          <a:xfrm>
            <a:off x="909069" y="2925057"/>
            <a:ext cx="10373861" cy="3349286"/>
          </a:xfrm>
        </p:spPr>
      </p:pic>
      <p:sp>
        <p:nvSpPr>
          <p:cNvPr id="9" name="圓角矩形 8">
            <a:extLst>
              <a:ext uri="{FF2B5EF4-FFF2-40B4-BE49-F238E27FC236}">
                <a16:creationId xmlns:a16="http://schemas.microsoft.com/office/drawing/2014/main" id="{8E6D64EC-E25E-9143-8B88-1E6AEB095FB7}"/>
              </a:ext>
            </a:extLst>
          </p:cNvPr>
          <p:cNvSpPr/>
          <p:nvPr/>
        </p:nvSpPr>
        <p:spPr>
          <a:xfrm>
            <a:off x="838200" y="4214594"/>
            <a:ext cx="4689352" cy="104335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4" name="圓角矩形 13">
            <a:extLst>
              <a:ext uri="{FF2B5EF4-FFF2-40B4-BE49-F238E27FC236}">
                <a16:creationId xmlns:a16="http://schemas.microsoft.com/office/drawing/2014/main" id="{F0914A46-950E-B444-8638-FE037E2AE6B7}"/>
              </a:ext>
            </a:extLst>
          </p:cNvPr>
          <p:cNvSpPr/>
          <p:nvPr/>
        </p:nvSpPr>
        <p:spPr>
          <a:xfrm>
            <a:off x="7970520" y="3113421"/>
            <a:ext cx="1691640" cy="316092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grpSp>
        <p:nvGrpSpPr>
          <p:cNvPr id="16" name="群組 15">
            <a:extLst>
              <a:ext uri="{FF2B5EF4-FFF2-40B4-BE49-F238E27FC236}">
                <a16:creationId xmlns:a16="http://schemas.microsoft.com/office/drawing/2014/main" id="{EAD24111-6F69-F842-A44E-3D0D521E80BA}"/>
              </a:ext>
            </a:extLst>
          </p:cNvPr>
          <p:cNvGrpSpPr/>
          <p:nvPr/>
        </p:nvGrpSpPr>
        <p:grpSpPr>
          <a:xfrm>
            <a:off x="909069" y="1788574"/>
            <a:ext cx="8833826" cy="803843"/>
            <a:chOff x="909069" y="2039207"/>
            <a:chExt cx="8833826" cy="803843"/>
          </a:xfrm>
        </p:grpSpPr>
        <p:sp>
          <p:nvSpPr>
            <p:cNvPr id="10" name="文字方塊 9">
              <a:extLst>
                <a:ext uri="{FF2B5EF4-FFF2-40B4-BE49-F238E27FC236}">
                  <a16:creationId xmlns:a16="http://schemas.microsoft.com/office/drawing/2014/main" id="{BD41D743-A8F8-4841-8A54-E07A3D8955E9}"/>
                </a:ext>
              </a:extLst>
            </p:cNvPr>
            <p:cNvSpPr txBox="1"/>
            <p:nvPr/>
          </p:nvSpPr>
          <p:spPr>
            <a:xfrm>
              <a:off x="909069" y="2039207"/>
              <a:ext cx="2856872" cy="461665"/>
            </a:xfrm>
            <a:prstGeom prst="rect">
              <a:avLst/>
            </a:prstGeom>
            <a:noFill/>
          </p:spPr>
          <p:txBody>
            <a:bodyPr wrap="none" rtlCol="0">
              <a:spAutoFit/>
            </a:bodyPr>
            <a:lstStyle/>
            <a:p>
              <a:r>
                <a:rPr kumimoji="1" lang="en-US" altLang="zh-TW" sz="2400" dirty="0">
                  <a:latin typeface="Times New Roman" panose="02020603050405020304" pitchFamily="18" charset="0"/>
                  <a:cs typeface="Times New Roman" panose="02020603050405020304" pitchFamily="18" charset="0"/>
                </a:rPr>
                <a:t>(a)</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No</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trump</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contract</a:t>
              </a:r>
              <a:endParaRPr kumimoji="1" lang="zh-TW" altLang="en-US" sz="2400" dirty="0">
                <a:latin typeface="Times New Roman" panose="02020603050405020304" pitchFamily="18" charset="0"/>
                <a:cs typeface="Times New Roman" panose="02020603050405020304" pitchFamily="18" charset="0"/>
              </a:endParaRPr>
            </a:p>
          </p:txBody>
        </p:sp>
        <p:sp>
          <p:nvSpPr>
            <p:cNvPr id="11" name="文字方塊 10">
              <a:extLst>
                <a:ext uri="{FF2B5EF4-FFF2-40B4-BE49-F238E27FC236}">
                  <a16:creationId xmlns:a16="http://schemas.microsoft.com/office/drawing/2014/main" id="{2EB0A04B-8775-4042-9FAC-7CE024C2DD91}"/>
                </a:ext>
              </a:extLst>
            </p:cNvPr>
            <p:cNvSpPr txBox="1"/>
            <p:nvPr/>
          </p:nvSpPr>
          <p:spPr>
            <a:xfrm>
              <a:off x="6227829" y="2039207"/>
              <a:ext cx="3164649" cy="461665"/>
            </a:xfrm>
            <a:prstGeom prst="rect">
              <a:avLst/>
            </a:prstGeom>
            <a:noFill/>
          </p:spPr>
          <p:txBody>
            <a:bodyPr wrap="none" rtlCol="0">
              <a:spAutoFit/>
            </a:bodyPr>
            <a:lstStyle/>
            <a:p>
              <a:r>
                <a:rPr kumimoji="1" lang="en-US" altLang="zh-TW" sz="2400" dirty="0">
                  <a:latin typeface="Times New Roman" panose="02020603050405020304" pitchFamily="18" charset="0"/>
                  <a:cs typeface="Times New Roman" panose="02020603050405020304" pitchFamily="18" charset="0"/>
                </a:rPr>
                <a:t>(b)</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Suit</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contract</a:t>
              </a:r>
              <a:r>
                <a:rPr kumimoji="1" lang="zh-TW" altLang="en-US" sz="2400" dirty="0">
                  <a:latin typeface="Times New Roman" panose="02020603050405020304" pitchFamily="18" charset="0"/>
                  <a:cs typeface="Times New Roman" panose="02020603050405020304" pitchFamily="18" charset="0"/>
                </a:rPr>
                <a:t> </a:t>
              </a:r>
              <a:r>
                <a:rPr kumimoji="1" lang="en-US" altLang="zh-TW" sz="2400" dirty="0">
                  <a:latin typeface="Times New Roman" panose="02020603050405020304" pitchFamily="18" charset="0"/>
                  <a:cs typeface="Times New Roman" panose="02020603050405020304" pitchFamily="18" charset="0"/>
                </a:rPr>
                <a:t>(spade)</a:t>
              </a:r>
              <a:endParaRPr kumimoji="1" lang="zh-TW" altLang="en-US" sz="2400" dirty="0">
                <a:latin typeface="Times New Roman" panose="02020603050405020304" pitchFamily="18" charset="0"/>
                <a:cs typeface="Times New Roman" panose="02020603050405020304" pitchFamily="18" charset="0"/>
              </a:endParaRPr>
            </a:p>
          </p:txBody>
        </p:sp>
        <p:sp>
          <p:nvSpPr>
            <p:cNvPr id="12" name="文字方塊 11">
              <a:extLst>
                <a:ext uri="{FF2B5EF4-FFF2-40B4-BE49-F238E27FC236}">
                  <a16:creationId xmlns:a16="http://schemas.microsoft.com/office/drawing/2014/main" id="{DA5535F9-24FF-C747-B599-DDFA65463820}"/>
                </a:ext>
              </a:extLst>
            </p:cNvPr>
            <p:cNvSpPr txBox="1"/>
            <p:nvPr/>
          </p:nvSpPr>
          <p:spPr>
            <a:xfrm>
              <a:off x="1335013" y="2442940"/>
              <a:ext cx="3490058" cy="400110"/>
            </a:xfrm>
            <a:prstGeom prst="rect">
              <a:avLst/>
            </a:prstGeom>
            <a:noFill/>
          </p:spPr>
          <p:txBody>
            <a:bodyPr wrap="none" rtlCol="0">
              <a:spAutoFit/>
            </a:bodyPr>
            <a:lstStyle/>
            <a:p>
              <a:r>
                <a:rPr kumimoji="1" lang="en-US" altLang="zh-TW" sz="2000" dirty="0">
                  <a:latin typeface="Times New Roman" panose="02020603050405020304" pitchFamily="18" charset="0"/>
                  <a:cs typeface="Times New Roman" panose="02020603050405020304" pitchFamily="18" charset="0"/>
                </a:rPr>
                <a:t>Network</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estimated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7</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or</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8</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tricks</a:t>
              </a:r>
              <a:endParaRPr kumimoji="1" lang="zh-TW" altLang="en-US" sz="2000" dirty="0">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B8708A52-2D11-904E-8D16-48F847293B43}"/>
                </a:ext>
              </a:extLst>
            </p:cNvPr>
            <p:cNvSpPr txBox="1"/>
            <p:nvPr/>
          </p:nvSpPr>
          <p:spPr>
            <a:xfrm>
              <a:off x="6664808" y="2442940"/>
              <a:ext cx="3078087" cy="400110"/>
            </a:xfrm>
            <a:prstGeom prst="rect">
              <a:avLst/>
            </a:prstGeom>
            <a:noFill/>
          </p:spPr>
          <p:txBody>
            <a:bodyPr wrap="none" rtlCol="0">
              <a:spAutoFit/>
            </a:bodyPr>
            <a:lstStyle/>
            <a:p>
              <a:r>
                <a:rPr kumimoji="1" lang="en-US" altLang="zh-TW" sz="2000" dirty="0">
                  <a:latin typeface="Times New Roman" panose="02020603050405020304" pitchFamily="18" charset="0"/>
                  <a:cs typeface="Times New Roman" panose="02020603050405020304" pitchFamily="18" charset="0"/>
                </a:rPr>
                <a:t>Network</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estimated</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12</a:t>
              </a:r>
              <a:r>
                <a:rPr kumimoji="1" lang="zh-TW" altLang="en-US" sz="2000" dirty="0">
                  <a:latin typeface="Times New Roman" panose="02020603050405020304" pitchFamily="18" charset="0"/>
                  <a:cs typeface="Times New Roman" panose="02020603050405020304" pitchFamily="18" charset="0"/>
                </a:rPr>
                <a:t> </a:t>
              </a:r>
              <a:r>
                <a:rPr kumimoji="1" lang="en-US" altLang="zh-TW" sz="2000" dirty="0">
                  <a:latin typeface="Times New Roman" panose="02020603050405020304" pitchFamily="18" charset="0"/>
                  <a:cs typeface="Times New Roman" panose="02020603050405020304" pitchFamily="18" charset="0"/>
                </a:rPr>
                <a:t>tricks</a:t>
              </a:r>
              <a:endParaRPr kumimoji="1" lang="zh-TW" altLang="en-US" sz="2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98444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Conclusions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14</a:t>
            </a:fld>
            <a:endParaRPr kumimoji="1" lang="zh-TW" altLang="en-US"/>
          </a:p>
        </p:txBody>
      </p:sp>
      <p:sp>
        <p:nvSpPr>
          <p:cNvPr id="5" name="內容版面配置區 4">
            <a:extLst>
              <a:ext uri="{FF2B5EF4-FFF2-40B4-BE49-F238E27FC236}">
                <a16:creationId xmlns:a16="http://schemas.microsoft.com/office/drawing/2014/main" id="{3C2FEC7E-C757-A041-B12B-56DD5E112F29}"/>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I</a:t>
            </a:r>
            <a:r>
              <a:rPr lang="en" altLang="zh-TW" dirty="0">
                <a:latin typeface="Times New Roman" panose="02020603050405020304" pitchFamily="18" charset="0"/>
                <a:cs typeface="Times New Roman" panose="02020603050405020304" pitchFamily="18" charset="0"/>
              </a:rPr>
              <a:t>t is advisable to train neural networks separately for no trump contracts and suit ones.</a:t>
            </a:r>
          </a:p>
          <a:p>
            <a:r>
              <a:rPr lang="en-US" altLang="zh-TW" dirty="0">
                <a:latin typeface="Times New Roman" panose="02020603050405020304" pitchFamily="18" charset="0"/>
                <a:cs typeface="Times New Roman" panose="02020603050405020304" pitchFamily="18" charset="0"/>
              </a:rPr>
              <a:t>The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networks connection weights’ values </a:t>
            </a:r>
            <a:r>
              <a:rPr lang="en-US" altLang="zh-TW" dirty="0">
                <a:latin typeface="Times New Roman" panose="02020603050405020304" pitchFamily="18" charset="0"/>
                <a:cs typeface="Times New Roman" panose="02020603050405020304" pitchFamily="18" charset="0"/>
              </a:rPr>
              <a:t>can</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be</a:t>
            </a:r>
            <a:r>
              <a:rPr lang="en" altLang="zh-TW"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explained</a:t>
            </a:r>
            <a:r>
              <a:rPr lang="en" altLang="zh-TW" dirty="0">
                <a:latin typeface="Times New Roman" panose="02020603050405020304" pitchFamily="18" charset="0"/>
                <a:cs typeface="Times New Roman" panose="02020603050405020304" pitchFamily="18" charset="0"/>
              </a:rPr>
              <a:t> based on human experience in the game of bridge</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491520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1842</TotalTime>
  <Words>540</Words>
  <Application>Microsoft Macintosh PowerPoint</Application>
  <PresentationFormat>寬螢幕</PresentationFormat>
  <Paragraphs>62</Paragraphs>
  <Slides>14</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14</vt:i4>
      </vt:variant>
    </vt:vector>
  </HeadingPairs>
  <TitlesOfParts>
    <vt:vector size="20" baseType="lpstr">
      <vt:lpstr>Times</vt:lpstr>
      <vt:lpstr>Arial</vt:lpstr>
      <vt:lpstr>Calibri</vt:lpstr>
      <vt:lpstr>Calibri Light</vt:lpstr>
      <vt:lpstr>Times New Roman</vt:lpstr>
      <vt:lpstr>Office 佈景主題</vt:lpstr>
      <vt:lpstr>Neural Networks and the Estimation of Hands Strength in Contract Bridge</vt:lpstr>
      <vt:lpstr>Abstract(1/2)</vt:lpstr>
      <vt:lpstr>Abstract(2/2)</vt:lpstr>
      <vt:lpstr>Double dummy bridge problem (DDBP)</vt:lpstr>
      <vt:lpstr>Trained Networks</vt:lpstr>
      <vt:lpstr>No trump contract</vt:lpstr>
      <vt:lpstr>Hiding Opponents’ Cards in NT contracts</vt:lpstr>
      <vt:lpstr>No trump contract analysis</vt:lpstr>
      <vt:lpstr>Suit contract</vt:lpstr>
      <vt:lpstr>Suit contract</vt:lpstr>
      <vt:lpstr>Suit contract</vt:lpstr>
      <vt:lpstr>Results - The Target Number of Tricks</vt:lpstr>
      <vt:lpstr>Results - Sample deals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Networks and the Estimation of Hands Strength in Contract Bridge</dc:title>
  <dc:creator>M113040012</dc:creator>
  <cp:lastModifiedBy>M113040012</cp:lastModifiedBy>
  <cp:revision>84</cp:revision>
  <dcterms:created xsi:type="dcterms:W3CDTF">2023-07-23T06:46:44Z</dcterms:created>
  <dcterms:modified xsi:type="dcterms:W3CDTF">2023-07-25T06:25:56Z</dcterms:modified>
</cp:coreProperties>
</file>