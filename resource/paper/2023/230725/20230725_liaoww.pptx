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6" r:id="rId11"/>
    <p:sldId id="287" r:id="rId12"/>
    <p:sldId id="285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4594" autoAdjust="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67DF-ECF2-46EC-8446-7B955A747664}" type="datetimeFigureOut">
              <a:rPr lang="zh-TW" altLang="en-US" smtClean="0"/>
              <a:t>2023/7/23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562F9-E128-4B6E-872C-5F1FFAE335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3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801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0807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0121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421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480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657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479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9609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7319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045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8045-16E7-451C-65FC-B158983E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068A-58AE-8713-2F67-C52F90F8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A286-7DBB-ABAF-AE2A-AD9DDE7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D569-BD2D-4D1C-B67A-2A5601E6B3E3}" type="datetime1">
              <a:rPr lang="zh-TW" altLang="en-US" smtClean="0"/>
              <a:t>2023/7/23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0D4C-517F-3A75-2138-B35995E6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C6E-1A90-9EBF-3395-DCC19E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0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D236-5FFE-A036-B937-040C503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EFD4-29DF-59B4-50ED-3F42FB6C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5951-765D-8F13-9483-0B7BC83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F9AF4-0F76-4C66-B441-D1B2D7ED3BEC}" type="datetime1">
              <a:rPr lang="zh-TW" altLang="en-US" smtClean="0"/>
              <a:t>2023/7/23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CF9E-E6A3-995C-A1B7-97A453CB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5ECA-E5DF-198A-D862-E85E017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3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931-3342-74A5-5F4A-1ACADB3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ABAD9-77A7-31C2-CE3B-83AB0265A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F41-FADE-64E8-94E5-51E3BAD8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6C79-1DF6-49C7-8CD7-FD6F5B614111}" type="datetime1">
              <a:rPr lang="zh-TW" altLang="en-US" smtClean="0"/>
              <a:t>2023/7/23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82AA-63C8-C306-BDDF-A523D9F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3CF1-15A7-D9A0-AB7D-63A9F32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541-876E-1323-86BB-134B34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A99-40BB-A978-A62D-456D85CB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C4AB-2328-C15C-EDBA-A6D98497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5A17-9FA9-28E5-585D-C1967447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13F3-84C2-4D70-A0DE-40780363C9EE}" type="datetime1">
              <a:rPr lang="zh-TW" altLang="en-US" smtClean="0"/>
              <a:t>2023/7/23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A8324-6BD6-434F-B46A-42E2886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86F1-3A6D-B41E-CFB4-7417B1F7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63D-C7AF-2A59-F8AD-A038C042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0EB9-FD48-3B5F-2543-5658F7F5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736-516F-9579-FACA-DCB21A18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3EA5-7849-E5F4-BF87-F3FC8636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1D914-6ED8-D257-6CC2-104C6745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A8773-F0F7-3DBC-9C59-CA8EF9CF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A993-B73B-4E0A-AC46-BDD6B2FA04A9}" type="datetime1">
              <a:rPr lang="zh-TW" altLang="en-US" smtClean="0"/>
              <a:t>2023/7/23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508DB-1C1C-AFC2-2C1A-1DDBC10F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9407E-CED6-F5A6-39DB-82B07C8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8DAB-3374-67D6-5EB1-2C3253F5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D7194-F69E-4DA8-89C4-AE8729BF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ADAD-A8C5-4E4F-97C2-B2F188A7EEC4}" type="datetime1">
              <a:rPr lang="zh-TW" altLang="en-US" smtClean="0"/>
              <a:t>2023/7/23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0780-D9CB-B34D-A2E0-1D14B42F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4697E-BF8C-08DA-29D6-3B9ACC5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60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CFF4D-DBD6-E4FB-30B0-3844F235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DE65-CDBA-47B3-8C63-EAD937C328D1}" type="datetime1">
              <a:rPr lang="zh-TW" altLang="en-US" smtClean="0"/>
              <a:t>2023/7/23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3340C-74EA-761B-F592-FD6C446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107-4110-8028-60EF-14E5F2D1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81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481-AD55-0A04-6A16-2FE5FE1F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A7E5-F55B-C36B-5945-661CDB1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5507-E0DA-CCE2-C66E-2F29EA6A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0A186-4631-35C9-68C0-298149F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9CB4A-921C-4216-9056-986295B6B351}" type="datetime1">
              <a:rPr lang="zh-TW" altLang="en-US" smtClean="0"/>
              <a:t>2023/7/23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9F0-1D2E-CD0B-A6B8-A8337FE5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3D3E-1C05-2CFF-6405-4771E57F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9362-71C4-6CF9-38E0-C4F81738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231A-174C-8A04-7F37-326E7B3D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3C50E-C2ED-00AE-E101-79CFAFB17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4BE7B-D25D-CFE2-B089-BAA86DC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2F44B-5705-4772-8785-D8AAB7BCD3BF}" type="datetime1">
              <a:rPr lang="zh-TW" altLang="en-US" smtClean="0"/>
              <a:t>2023/7/23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EA70-9CF5-E2A3-4310-0B5FAE7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4B4A-B942-A3BD-6BA9-01E17E5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6AD-5403-1ACC-D4D1-96B39DD8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0034-6B39-C082-088F-72D19BFE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03D3-C2D4-4034-17A0-8D2928B1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920-BF4E-4A34-B8B5-5D2BB9836F35}" type="datetime1">
              <a:rPr lang="zh-TW" altLang="en-US" smtClean="0"/>
              <a:t>2023/7/23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5024-0915-E154-0CBE-65A94D23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C4D6-1F53-D5A1-0F98-4AF14C84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9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714A-61BB-5406-A5DA-BC8910B5C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0A4F-7A22-6245-0B0A-635765A8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3698-D80C-5B02-26C3-B7E0D020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23D5-CB9E-42C4-A443-74EE43A78F1A}" type="datetime1">
              <a:rPr lang="zh-TW" altLang="en-US" smtClean="0"/>
              <a:t>2023/7/23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CDA-4309-2D61-CD40-8DE7FA2E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EE89-0D64-3A74-3CEA-425D035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9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B272-2800-21BB-F226-6BCB751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A0C83-E1FB-8AAC-CDEA-98C2D15B7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9ED-035C-8CC1-CFE9-73EA26D0C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CDBA5-E58B-4CB2-961D-91717090BBCB}" type="datetime1">
              <a:rPr lang="zh-TW" altLang="en-US" smtClean="0"/>
              <a:t>2023/7/23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D3AA-0139-02CF-DF2C-5E6C9CB6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16DD-A0C6-441C-56CA-8F27599A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01A9-EC42-0349-C42C-1EF1F72BF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224" y="1122363"/>
            <a:ext cx="10285551" cy="2387600"/>
          </a:xfrm>
        </p:spPr>
        <p:txBody>
          <a:bodyPr>
            <a:noAutofit/>
          </a:bodyPr>
          <a:lstStyle/>
          <a:p>
            <a:r>
              <a:rPr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a Longest Common Almost-Increasing Subsequence of Two Sequences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BE6CB-9CF8-48E7-B831-C6B10B6C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014" y="3928587"/>
            <a:ext cx="10842447" cy="1655762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Toan Thang Ta, Yi-Kung Shieh, Chin Lung Lu,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Science, 2021, pp. 44–51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72805CA-C188-EA0E-0232-5E39FC11B582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Wen-Wen Liao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July 25,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B76B-0FAF-9711-6F27-1F8F6638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785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A558-83F5-DC4B-E8C9-3EB0801F3E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2298"/>
                <a:ext cx="10797330" cy="469783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positive constant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 sequence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=&lt;</m:t>
                    </m:r>
                    <m:sSub>
                      <m:sSub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…,</m:t>
                    </m:r>
                    <m:sSub>
                      <m:sSubPr>
                        <m:ctrlPr>
                          <a:rPr kumimoji="1"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numbers is said to be almost increasing if and only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func>
                      <m:func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US" altLang="zh-TW" sz="24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&lt;</m:t>
                            </m:r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kumimoji="1"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func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1&lt;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 longest common almost-increasing subsequence (</a:t>
                </a:r>
                <a:r>
                  <a:rPr kumimoji="1"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LCaIS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between two input sequences is a longest common subsequence that is also an almost increasing sequence. We found out that the existing algorithm proposed by </a:t>
                </a:r>
                <a:r>
                  <a:rPr kumimoji="1"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Moosa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et al. to find an </a:t>
                </a:r>
                <a:r>
                  <a:rPr kumimoji="1"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LCaIS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two sequences without repeated elements gives an incorrect result for some instances. In this work, we present a dynamic programming algorithm that can correctly compute an </a:t>
                </a:r>
                <a:r>
                  <a:rPr kumimoji="1"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LCaIS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between any two sequences with repeated elements in </a:t>
                </a:r>
                <a14:m>
                  <m:oMath xmlns:m="http://schemas.openxmlformats.org/officeDocument/2006/math">
                    <m:r>
                      <a:rPr kumimoji="1"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kumimoji="1"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𝑛𝑚𝑙</m:t>
                    </m:r>
                    <m:r>
                      <a:rPr kumimoji="1" lang="en-US" altLang="zh-TW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and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space, where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the lengths of two input sequences and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length of the output </a:t>
                </a:r>
                <a:r>
                  <a:rPr kumimoji="1"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LCaIS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A558-83F5-DC4B-E8C9-3EB0801F3E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2298"/>
                <a:ext cx="10797330" cy="4697834"/>
              </a:xfrm>
              <a:blipFill>
                <a:blip r:embed="rId2"/>
                <a:stretch>
                  <a:fillRect l="-734" r="-1073" b="-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190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almost Increasing Subsequence (</a:t>
            </a:r>
            <a:r>
              <a:rPr kumimoji="1"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LCaLS</a:t>
            </a:r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3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kumimoji="1" lang="pt-BR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kumimoji="1" lang="pt-BR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kumimoji="1" lang="pt-BR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3, 2, 1, 3, 2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kumimoji="1" lang="en-US" altLang="zh-TW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pl-PL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kumimoji="1" lang="pl-PL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kumimoji="1" lang="pl-PL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1, 3, 3, 2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kumimoji="1" lang="es-E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zh-TW" altLang="en-US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s-E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 2</a:t>
                </a:r>
              </a:p>
              <a:p>
                <a:endParaRPr kumimoji="1"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LCaIS</a:t>
                </a:r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= &lt;3, 3, 2&gt;</a:t>
                </a:r>
              </a:p>
              <a:p>
                <a:pPr marL="0" indent="0">
                  <a:buNone/>
                </a:pPr>
                <a:endParaRPr kumimoji="1" lang="en-US" altLang="zh-TW" sz="26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05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4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kumimoji="1" lang="pt-BR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kumimoji="1" lang="pt-BR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kumimoji="1" lang="pt-BR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3, 2, 1, 3, 2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kumimoji="1" lang="en-US" altLang="zh-TW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pl-PL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kumimoji="1" lang="pl-PL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kumimoji="1" lang="pl-PL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1, 3, 3, 2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kumimoji="1" lang="es-E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zh-TW" altLang="en-US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s-E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 2</a:t>
                </a:r>
              </a:p>
              <a:p>
                <a:endParaRPr kumimoji="1"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kumimoji="1" lang="en-US" altLang="zh-TW" sz="26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D272F68-AF2D-316F-E9CD-9AB3B8BCB8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73"/>
          <a:stretch/>
        </p:blipFill>
        <p:spPr>
          <a:xfrm>
            <a:off x="4238624" y="1929134"/>
            <a:ext cx="3305175" cy="387619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7F92516-8F08-70BE-F12D-2D8416BB189B}"/>
              </a:ext>
            </a:extLst>
          </p:cNvPr>
          <p:cNvSpPr/>
          <p:nvPr/>
        </p:nvSpPr>
        <p:spPr>
          <a:xfrm>
            <a:off x="5819775" y="2942904"/>
            <a:ext cx="447675" cy="3714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1D2472-86DC-E964-B53C-2FB2B6CACA88}"/>
              </a:ext>
            </a:extLst>
          </p:cNvPr>
          <p:cNvCxnSpPr/>
          <p:nvPr/>
        </p:nvCxnSpPr>
        <p:spPr>
          <a:xfrm>
            <a:off x="6267450" y="3156895"/>
            <a:ext cx="1724025" cy="2476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48C1A7E-9934-DA45-4DA4-0AB0193290E7}"/>
              </a:ext>
            </a:extLst>
          </p:cNvPr>
          <p:cNvSpPr txBox="1"/>
          <p:nvPr/>
        </p:nvSpPr>
        <p:spPr>
          <a:xfrm>
            <a:off x="8053531" y="3219879"/>
            <a:ext cx="771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716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5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kumimoji="1" lang="pt-BR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kumimoji="1" lang="pt-BR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kumimoji="1" lang="pt-BR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3, 2, 1, </m:t>
                    </m:r>
                    <m:r>
                      <m:rPr>
                        <m:nor/>
                      </m:rPr>
                      <a:rPr kumimoji="1" lang="pt-BR" altLang="zh-TW" sz="24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m:rPr>
                        <m:nor/>
                      </m:rPr>
                      <a:rPr kumimoji="1" lang="pt-BR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2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kumimoji="1" lang="en-US" altLang="zh-TW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pl-PL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kumimoji="1" lang="pl-PL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kumimoji="1" lang="pl-PL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1, 3, 3, </m:t>
                    </m:r>
                    <m:r>
                      <m:rPr>
                        <m:nor/>
                      </m:rPr>
                      <a:rPr kumimoji="1" lang="pl-PL" altLang="zh-TW" sz="24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kumimoji="1" lang="es-E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zh-TW" altLang="en-US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s-E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 2</a:t>
                </a:r>
              </a:p>
              <a:p>
                <a:pPr marL="0" indent="0">
                  <a:buNone/>
                </a:pPr>
                <a:endParaRPr kumimoji="1" lang="es-E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kumimoji="1" lang="es-ES" altLang="zh-TW" sz="2400" u="sng" dirty="0" err="1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Mismatched</a:t>
                </a:r>
                <a:endParaRPr kumimoji="1" lang="es-ES" altLang="zh-TW" sz="2400" u="sng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−1, 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)∪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−1)</m:t>
                    </m:r>
                  </m:oMath>
                </a14:m>
                <a:endParaRPr kumimoji="1" lang="es-E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kumimoji="1"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kumimoji="1" lang="en-US" altLang="zh-TW" sz="26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903" t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5861416-5EC4-8C0A-D4F8-3E405A246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929" y="1833884"/>
            <a:ext cx="4296246" cy="368679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1D94D9-70E2-B7D1-EB08-A3DED8B70E38}"/>
              </a:ext>
            </a:extLst>
          </p:cNvPr>
          <p:cNvCxnSpPr/>
          <p:nvPr/>
        </p:nvCxnSpPr>
        <p:spPr>
          <a:xfrm>
            <a:off x="9210675" y="3429000"/>
            <a:ext cx="0" cy="18097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0F89B6-C873-5498-B2CD-7176E5A83CC5}"/>
              </a:ext>
            </a:extLst>
          </p:cNvPr>
          <p:cNvCxnSpPr/>
          <p:nvPr/>
        </p:nvCxnSpPr>
        <p:spPr>
          <a:xfrm>
            <a:off x="8015052" y="4419600"/>
            <a:ext cx="338373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172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6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kumimoji="1" lang="pt-BR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kumimoji="1" lang="pt-BR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kumimoji="1" lang="pt-BR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3, 2, 1, </m:t>
                    </m:r>
                    <m:r>
                      <m:rPr>
                        <m:nor/>
                      </m:rPr>
                      <a:rPr kumimoji="1" lang="pt-BR" altLang="zh-TW" sz="2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m:rPr>
                        <m:nor/>
                      </m:rPr>
                      <a:rPr kumimoji="1" lang="pt-BR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kumimoji="1" lang="pt-BR" altLang="zh-TW" sz="24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kumimoji="1" lang="en-US" altLang="zh-TW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pl-PL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kumimoji="1" lang="pl-PL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kumimoji="1" lang="pl-PL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1, 3, 3, </m:t>
                    </m:r>
                    <m:r>
                      <m:rPr>
                        <m:nor/>
                      </m:rPr>
                      <a:rPr kumimoji="1" lang="pl-PL" altLang="zh-TW" sz="24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kumimoji="1" lang="es-E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zh-TW" altLang="en-US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s-E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 2</a:t>
                </a:r>
              </a:p>
              <a:p>
                <a:pPr marL="0" indent="0">
                  <a:buNone/>
                </a:pPr>
                <a:endParaRPr kumimoji="1" lang="es-E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kumimoji="1" lang="es-ES" altLang="zh-TW" sz="2400" u="sng" dirty="0" err="1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Matched</a:t>
                </a:r>
                <a:endParaRPr kumimoji="1" lang="es-ES" altLang="zh-TW" sz="2400" u="sng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−1, 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kumimoji="1"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中，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找到</a:t>
                </a:r>
                <a:r>
                  <a:rPr kumimoji="1"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小於所</a:t>
                </a:r>
                <a:endParaRPr kumimoji="1"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match</a:t>
                </a:r>
                <a:r>
                  <a:rPr kumimoji="1"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到的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值，將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match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到的值接在後面</a:t>
                </a:r>
                <a:endParaRPr kumimoji="1"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kumimoji="1" lang="en-US" altLang="zh-TW" sz="26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903" t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14F9344-8A9F-06A5-8A38-F8AEFFA77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799" y="136525"/>
            <a:ext cx="4017625" cy="658033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CFFF8C-7F2D-33ED-9798-F43672595729}"/>
              </a:ext>
            </a:extLst>
          </p:cNvPr>
          <p:cNvCxnSpPr/>
          <p:nvPr/>
        </p:nvCxnSpPr>
        <p:spPr>
          <a:xfrm>
            <a:off x="9001125" y="2019300"/>
            <a:ext cx="323850" cy="3048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46C518A-A118-A8FD-10D6-16E7A5416E4E}"/>
              </a:ext>
            </a:extLst>
          </p:cNvPr>
          <p:cNvSpPr/>
          <p:nvPr/>
        </p:nvSpPr>
        <p:spPr>
          <a:xfrm>
            <a:off x="9239250" y="2324100"/>
            <a:ext cx="1485900" cy="5334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3FC9F3-E914-50A2-87E9-BDE621B43F53}"/>
              </a:ext>
            </a:extLst>
          </p:cNvPr>
          <p:cNvSpPr/>
          <p:nvPr/>
        </p:nvSpPr>
        <p:spPr>
          <a:xfrm>
            <a:off x="7562850" y="1076324"/>
            <a:ext cx="1438275" cy="31767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6321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7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kumimoji="1" lang="pt-BR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kumimoji="1" lang="pt-BR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kumimoji="1" lang="pt-BR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3, 2, 1, </m:t>
                    </m:r>
                    <m:r>
                      <m:rPr>
                        <m:nor/>
                      </m:rPr>
                      <a:rPr kumimoji="1" lang="pt-BR" altLang="zh-TW" sz="2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m:rPr>
                        <m:nor/>
                      </m:rPr>
                      <a:rPr kumimoji="1" lang="pt-BR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kumimoji="1" lang="pt-BR" altLang="zh-TW" sz="24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kumimoji="1" lang="en-US" altLang="zh-TW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pl-PL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kumimoji="1" lang="pl-PL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kumimoji="1" lang="pl-PL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1, 3, 3, </m:t>
                    </m:r>
                    <m:r>
                      <m:rPr>
                        <m:nor/>
                      </m:rPr>
                      <a:rPr kumimoji="1" lang="pl-PL" altLang="zh-TW" sz="24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kumimoji="1" lang="es-E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zh-TW" altLang="en-US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s-E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 2</a:t>
                </a:r>
              </a:p>
              <a:p>
                <a:pPr marL="0" indent="0">
                  <a:buNone/>
                </a:pPr>
                <a:endParaRPr kumimoji="1" lang="es-E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kumimoji="1" lang="es-ES" altLang="zh-TW" sz="2400" u="sng" dirty="0" err="1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Matched</a:t>
                </a:r>
                <a:endParaRPr kumimoji="1" lang="es-ES" altLang="zh-TW" sz="2400" u="sng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−1, 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kumimoji="1"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  <m:r>
                      <a:rPr kumimoji="1" lang="es-E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中，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找到</a:t>
                </a:r>
                <a:r>
                  <a:rPr kumimoji="1"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小於所</a:t>
                </a:r>
                <a:endParaRPr kumimoji="1"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match</a:t>
                </a:r>
                <a:r>
                  <a:rPr kumimoji="1"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到的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值加</a:t>
                </a:r>
                <a14:m>
                  <m:oMath xmlns:m="http://schemas.openxmlformats.org/officeDocument/2006/math">
                    <m:r>
                      <a:rPr kumimoji="1" lang="en-US" altLang="zh-TW" sz="24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，將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match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到的值接在後面</a:t>
                </a:r>
                <a:endParaRPr kumimoji="1"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kumimoji="1" lang="en-US" altLang="zh-TW" sz="26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903" t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14F9344-8A9F-06A5-8A38-F8AEFFA77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799" y="136525"/>
            <a:ext cx="4017625" cy="658033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CFFF8C-7F2D-33ED-9798-F43672595729}"/>
              </a:ext>
            </a:extLst>
          </p:cNvPr>
          <p:cNvCxnSpPr/>
          <p:nvPr/>
        </p:nvCxnSpPr>
        <p:spPr>
          <a:xfrm>
            <a:off x="9001125" y="2019300"/>
            <a:ext cx="323850" cy="3048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46C518A-A118-A8FD-10D6-16E7A5416E4E}"/>
              </a:ext>
            </a:extLst>
          </p:cNvPr>
          <p:cNvSpPr/>
          <p:nvPr/>
        </p:nvSpPr>
        <p:spPr>
          <a:xfrm>
            <a:off x="9239250" y="2893293"/>
            <a:ext cx="1657350" cy="14215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3FC9F3-E914-50A2-87E9-BDE621B43F53}"/>
              </a:ext>
            </a:extLst>
          </p:cNvPr>
          <p:cNvSpPr/>
          <p:nvPr/>
        </p:nvSpPr>
        <p:spPr>
          <a:xfrm>
            <a:off x="7573336" y="495299"/>
            <a:ext cx="1438275" cy="5715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9C156F-AAD6-7099-F3F7-859066174FBB}"/>
              </a:ext>
            </a:extLst>
          </p:cNvPr>
          <p:cNvSpPr/>
          <p:nvPr/>
        </p:nvSpPr>
        <p:spPr>
          <a:xfrm>
            <a:off x="7573336" y="1387473"/>
            <a:ext cx="1523039" cy="5715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8812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8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kumimoji="1" lang="pt-BR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kumimoji="1" lang="pt-BR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kumimoji="1" lang="pt-BR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3, 2, 1, </m:t>
                    </m:r>
                    <m:r>
                      <m:rPr>
                        <m:nor/>
                      </m:rPr>
                      <a:rPr kumimoji="1" lang="pt-BR" altLang="zh-TW" sz="2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m:rPr>
                        <m:nor/>
                      </m:rPr>
                      <a:rPr kumimoji="1" lang="pt-BR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kumimoji="1" lang="pt-BR" altLang="zh-TW" sz="24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kumimoji="1" lang="en-US" altLang="zh-TW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pl-PL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kumimoji="1" lang="pl-PL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kumimoji="1" lang="pl-PL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1, 3, 3, </m:t>
                    </m:r>
                    <m:r>
                      <m:rPr>
                        <m:nor/>
                      </m:rPr>
                      <a:rPr kumimoji="1" lang="pl-PL" altLang="zh-TW" sz="24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kumimoji="1" lang="en-US" altLang="zh-TW" sz="24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kumimoji="1" lang="es-E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zh-TW" altLang="en-US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s-E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 2</a:t>
                </a:r>
              </a:p>
              <a:p>
                <a:pPr marL="0" indent="0">
                  <a:buNone/>
                </a:pPr>
                <a:endParaRPr kumimoji="1" lang="es-E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kumimoji="1" lang="es-ES" altLang="zh-TW" sz="2400" u="sng" dirty="0" err="1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Matched</a:t>
                </a:r>
                <a:endParaRPr kumimoji="1" lang="es-ES" altLang="zh-TW" sz="2400" u="sng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</a:t>
                </a:r>
                <a14:m>
                  <m:oMath xmlns:m="http://schemas.openxmlformats.org/officeDocument/2006/math">
                    <m:r>
                      <a:rPr kumimoji="1" lang="en-US" altLang="zh-TW" sz="24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𝐿</m:t>
                    </m:r>
                    <m:r>
                      <a:rPr kumimoji="1" lang="en-US" altLang="zh-TW" sz="24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sz="2400" i="1" dirty="0" err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n-US" altLang="zh-TW" sz="24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−1, </m:t>
                    </m:r>
                    <m:r>
                      <a:rPr kumimoji="1" lang="en-US" altLang="zh-TW" sz="24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𝑗</m:t>
                    </m:r>
                    <m:r>
                      <a:rPr kumimoji="1" lang="en-US" altLang="zh-TW" sz="24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)</m:t>
                    </m:r>
                    <m:r>
                      <a:rPr kumimoji="1" lang="en-US" altLang="zh-TW" sz="24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∪</m:t>
                    </m:r>
                    <m:r>
                      <a:rPr kumimoji="1" lang="en-US" altLang="zh-TW" sz="24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𝐿</m:t>
                    </m:r>
                    <m:r>
                      <a:rPr kumimoji="1" lang="en-US" altLang="zh-TW" sz="24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sz="2400" i="1" dirty="0" err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</m:t>
                    </m:r>
                    <m:r>
                      <a:rPr kumimoji="1" lang="en-US" altLang="zh-TW" sz="24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1" lang="en-US" altLang="zh-TW" sz="24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𝑗</m:t>
                    </m:r>
                    <m:r>
                      <a:rPr kumimoji="1" lang="en-US" altLang="zh-TW" sz="24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−1)</m:t>
                    </m:r>
                  </m:oMath>
                </a14:m>
                <a:endParaRPr kumimoji="1" lang="en-US" altLang="zh-TW" sz="26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903" t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14F9344-8A9F-06A5-8A38-F8AEFFA77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799" y="136525"/>
            <a:ext cx="4017625" cy="658033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CFFF8C-7F2D-33ED-9798-F43672595729}"/>
              </a:ext>
            </a:extLst>
          </p:cNvPr>
          <p:cNvCxnSpPr>
            <a:cxnSpLocks/>
          </p:cNvCxnSpPr>
          <p:nvPr/>
        </p:nvCxnSpPr>
        <p:spPr>
          <a:xfrm>
            <a:off x="10048875" y="2181225"/>
            <a:ext cx="0" cy="31215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46C518A-A118-A8FD-10D6-16E7A5416E4E}"/>
              </a:ext>
            </a:extLst>
          </p:cNvPr>
          <p:cNvSpPr/>
          <p:nvPr/>
        </p:nvSpPr>
        <p:spPr>
          <a:xfrm>
            <a:off x="9239250" y="4364623"/>
            <a:ext cx="1657350" cy="22838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FE200E-4EBE-45A7-C93D-D4A5F294CB3C}"/>
              </a:ext>
            </a:extLst>
          </p:cNvPr>
          <p:cNvCxnSpPr>
            <a:cxnSpLocks/>
          </p:cNvCxnSpPr>
          <p:nvPr/>
        </p:nvCxnSpPr>
        <p:spPr>
          <a:xfrm>
            <a:off x="8972550" y="4221427"/>
            <a:ext cx="342900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512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lphaLcParenBoth"/>
            </a:pPr>
            <a:r>
              <a:rPr kumimoji="1"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原始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L(4, 3)</a:t>
            </a:r>
          </a:p>
          <a:p>
            <a:pPr marL="514350" indent="-514350">
              <a:buAutoNum type="alphaLcParenBoth"/>
            </a:pPr>
            <a:r>
              <a:rPr kumimoji="1"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刪掉</a:t>
            </a:r>
            <a:r>
              <a:rPr kumimoji="1"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dominated</a:t>
            </a:r>
            <a:r>
              <a:rPr kumimoji="1"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的路徑</a:t>
            </a:r>
            <a:endParaRPr kumimoji="1" lang="en-US" altLang="zh-TW"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>
              <a:buAutoNum type="alphaLcParenBoth"/>
            </a:pPr>
            <a:r>
              <a:rPr kumimoji="1"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刪掉</a:t>
            </a:r>
            <a:r>
              <a:rPr kumimoji="1"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redundant</a:t>
            </a:r>
            <a:r>
              <a:rPr kumimoji="1"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的路徑</a:t>
            </a:r>
            <a:endParaRPr kumimoji="1"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>
              <a:buAutoNum type="alphaLcParenBoth"/>
            </a:pPr>
            <a:r>
              <a:rPr kumimoji="1"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簡化後的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L(4, 3)</a:t>
            </a:r>
            <a:endParaRPr kumimoji="1"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994CAE-CF6E-6D1B-6723-5D5F9865B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042" y="2066131"/>
            <a:ext cx="6343766" cy="305269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96DF1C2-665B-DCA6-0845-14EA4E8217B8}"/>
              </a:ext>
            </a:extLst>
          </p:cNvPr>
          <p:cNvSpPr/>
          <p:nvPr/>
        </p:nvSpPr>
        <p:spPr>
          <a:xfrm>
            <a:off x="5462546" y="2146852"/>
            <a:ext cx="1455089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8F1665E-257E-CED0-280B-AEA6E39ED4E2}"/>
              </a:ext>
            </a:extLst>
          </p:cNvPr>
          <p:cNvCxnSpPr/>
          <p:nvPr/>
        </p:nvCxnSpPr>
        <p:spPr>
          <a:xfrm>
            <a:off x="6917635" y="2305878"/>
            <a:ext cx="1932167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756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lphaLcParenBoth"/>
            </a:pPr>
            <a:r>
              <a:rPr kumimoji="1"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原始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L(4, 3)</a:t>
            </a:r>
          </a:p>
          <a:p>
            <a:pPr marL="514350" indent="-514350">
              <a:buAutoNum type="alphaLcParenBoth"/>
            </a:pPr>
            <a:r>
              <a:rPr kumimoji="1"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刪掉</a:t>
            </a:r>
            <a:r>
              <a:rPr kumimoji="1"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dominated</a:t>
            </a:r>
            <a:r>
              <a:rPr kumimoji="1"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的路徑</a:t>
            </a:r>
            <a:endParaRPr kumimoji="1"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>
              <a:buAutoNum type="alphaLcParenBoth"/>
            </a:pPr>
            <a:r>
              <a:rPr kumimoji="1"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刪掉</a:t>
            </a:r>
            <a:r>
              <a:rPr kumimoji="1"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redundant</a:t>
            </a:r>
            <a:r>
              <a:rPr kumimoji="1"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的路徑</a:t>
            </a:r>
            <a:endParaRPr kumimoji="1" lang="en-US" altLang="zh-TW"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>
              <a:buAutoNum type="alphaLcParenBoth"/>
            </a:pPr>
            <a:r>
              <a:rPr kumimoji="1"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簡化後的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L(4, 3)</a:t>
            </a:r>
            <a:endParaRPr kumimoji="1"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994CAE-CF6E-6D1B-6723-5D5F9865B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042" y="2066131"/>
            <a:ext cx="6343766" cy="305269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A9AA99-AE65-8164-DB6A-F97A42029860}"/>
              </a:ext>
            </a:extLst>
          </p:cNvPr>
          <p:cNvSpPr/>
          <p:nvPr/>
        </p:nvSpPr>
        <p:spPr>
          <a:xfrm>
            <a:off x="8841850" y="2464904"/>
            <a:ext cx="1534602" cy="5406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AE2B43-DBE3-95C3-E7CC-FDD8AC010E4A}"/>
              </a:ext>
            </a:extLst>
          </p:cNvPr>
          <p:cNvCxnSpPr/>
          <p:nvPr/>
        </p:nvCxnSpPr>
        <p:spPr>
          <a:xfrm flipH="1">
            <a:off x="7068710" y="3005593"/>
            <a:ext cx="1916264" cy="156640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253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lphaLcParenBoth"/>
            </a:pPr>
            <a:r>
              <a:rPr kumimoji="1"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原始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L(4, 3)</a:t>
            </a:r>
          </a:p>
          <a:p>
            <a:pPr marL="514350" indent="-514350">
              <a:buAutoNum type="alphaLcParenBoth"/>
            </a:pPr>
            <a:r>
              <a:rPr kumimoji="1"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刪掉</a:t>
            </a:r>
            <a:r>
              <a:rPr kumimoji="1"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dominated</a:t>
            </a:r>
            <a:r>
              <a:rPr kumimoji="1"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的路徑</a:t>
            </a:r>
            <a:endParaRPr kumimoji="1"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>
              <a:buAutoNum type="alphaLcParenBoth"/>
            </a:pPr>
            <a:r>
              <a:rPr kumimoji="1"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刪掉</a:t>
            </a:r>
            <a:r>
              <a:rPr kumimoji="1"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redundant</a:t>
            </a:r>
            <a:r>
              <a:rPr kumimoji="1"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的路徑</a:t>
            </a:r>
            <a:endParaRPr kumimoji="1"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>
              <a:buAutoNum type="alphaLcParenBoth"/>
            </a:pPr>
            <a:r>
              <a:rPr kumimoji="1"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簡化後的</a:t>
            </a:r>
            <a:r>
              <a:rPr kumimoji="1" lang="en-US" altLang="zh-TW" sz="24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L(4, 3)</a:t>
            </a:r>
            <a:r>
              <a:rPr kumimoji="1" lang="en-US" altLang="zh-TW" sz="24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3-tuple</a:t>
            </a:r>
            <a:endParaRPr kumimoji="1" lang="en-US" altLang="zh-TW"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994CAE-CF6E-6D1B-6723-5D5F9865B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042" y="2066131"/>
            <a:ext cx="6343766" cy="305269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71E9698-88C6-DD78-E2AE-86CA5BEB99C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8961120" y="4729240"/>
            <a:ext cx="0" cy="60541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A7CBC3-440A-723F-437C-39F43C4C0480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8961120" y="4741167"/>
            <a:ext cx="182880" cy="5934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966E75-DBEE-6D6F-5CF2-92082BDB1855}"/>
              </a:ext>
            </a:extLst>
          </p:cNvPr>
          <p:cNvCxnSpPr>
            <a:cxnSpLocks/>
          </p:cNvCxnSpPr>
          <p:nvPr/>
        </p:nvCxnSpPr>
        <p:spPr>
          <a:xfrm>
            <a:off x="9333188" y="4703197"/>
            <a:ext cx="200426" cy="2186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17556FA-196B-0D6F-D0E2-B10786E8724F}"/>
              </a:ext>
            </a:extLst>
          </p:cNvPr>
          <p:cNvSpPr txBox="1"/>
          <p:nvPr/>
        </p:nvSpPr>
        <p:spPr>
          <a:xfrm>
            <a:off x="9433401" y="4847982"/>
            <a:ext cx="73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長度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AF2AB8-4DD6-0617-6FFB-ED6EFA5A60CA}"/>
              </a:ext>
            </a:extLst>
          </p:cNvPr>
          <p:cNvSpPr txBox="1"/>
          <p:nvPr/>
        </p:nvSpPr>
        <p:spPr>
          <a:xfrm>
            <a:off x="8243515" y="5334659"/>
            <a:ext cx="1435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最大值所在的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index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3565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12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Time complexity:</a:t>
                </a:r>
                <a:r>
                  <a:rPr kumimoji="1"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sz="24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kumimoji="1" lang="en-US" altLang="zh-TW" sz="240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400" i="1" dirty="0" err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𝑛𝑚𝑙</m:t>
                        </m:r>
                      </m:e>
                    </m:d>
                  </m:oMath>
                </a14:m>
                <a:endParaRPr kumimoji="1"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/>
                <a:r>
                  <a:rPr kumimoji="1" lang="en-US" altLang="zh-TW" sz="20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and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are the lengths of two sequences, and </a:t>
                </a:r>
                <a:r>
                  <a:rPr kumimoji="1" lang="en-US" altLang="zh-TW" sz="20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is the length of </a:t>
                </a:r>
                <a:r>
                  <a:rPr kumimoji="1" lang="en-US" altLang="zh-TW" sz="2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LCaIS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3388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9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211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23876</TotalTime>
  <Words>654</Words>
  <Application>Microsoft Office PowerPoint</Application>
  <PresentationFormat>Widescreen</PresentationFormat>
  <Paragraphs>91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標楷體</vt:lpstr>
      <vt:lpstr>Arial</vt:lpstr>
      <vt:lpstr>Calibri</vt:lpstr>
      <vt:lpstr>Calibri Light</vt:lpstr>
      <vt:lpstr>Cambria Math</vt:lpstr>
      <vt:lpstr>Times New Roman</vt:lpstr>
      <vt:lpstr>Office Theme</vt:lpstr>
      <vt:lpstr>Computing a Longest Common Almost-Increasing Subsequence of Two Sequences</vt:lpstr>
      <vt:lpstr>Abstract </vt:lpstr>
      <vt:lpstr>Longest Common almost Increasing Subsequence (LCaLS)</vt:lpstr>
      <vt:lpstr>Dynamic programming algorithm</vt:lpstr>
      <vt:lpstr>Dynamic programming algorithm</vt:lpstr>
      <vt:lpstr>Dynamic programming algorithm</vt:lpstr>
      <vt:lpstr>Dynamic programming algorithm</vt:lpstr>
      <vt:lpstr>Dynamic programming algorithm</vt:lpstr>
      <vt:lpstr>Simplified</vt:lpstr>
      <vt:lpstr>Simplified</vt:lpstr>
      <vt:lpstr>Simplified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Wen Wen Liao</dc:creator>
  <cp:lastModifiedBy>Wen Wen Liao</cp:lastModifiedBy>
  <cp:revision>191</cp:revision>
  <dcterms:created xsi:type="dcterms:W3CDTF">2022-10-11T15:33:00Z</dcterms:created>
  <dcterms:modified xsi:type="dcterms:W3CDTF">2023-07-25T07:38:33Z</dcterms:modified>
</cp:coreProperties>
</file>