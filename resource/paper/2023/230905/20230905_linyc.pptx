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300" r:id="rId4"/>
    <p:sldId id="298" r:id="rId5"/>
    <p:sldId id="315" r:id="rId6"/>
    <p:sldId id="316" r:id="rId7"/>
    <p:sldId id="317" r:id="rId8"/>
    <p:sldId id="307" r:id="rId9"/>
    <p:sldId id="308" r:id="rId10"/>
    <p:sldId id="318" r:id="rId11"/>
    <p:sldId id="305" r:id="rId12"/>
    <p:sldId id="319" r:id="rId13"/>
    <p:sldId id="320" r:id="rId14"/>
    <p:sldId id="303"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82645" autoAdjust="0"/>
  </p:normalViewPr>
  <p:slideViewPr>
    <p:cSldViewPr snapToGrid="0">
      <p:cViewPr varScale="1">
        <p:scale>
          <a:sx n="70" d="100"/>
          <a:sy n="70"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2023/9/5</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2023/9/5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232644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1548201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388836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1122486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2079968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3674166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1459800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2023/9/5</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2023/9/5</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2023/9/5</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2023/9/5</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2023/9/5</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2023/9/5</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2023/9/5</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1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Research on path planning method of forging handling robot based on combined strategy</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Kunju Shi, Peng Wu, </a:t>
            </a:r>
            <a:r>
              <a:rPr lang="en-US" altLang="zh-TW" dirty="0" err="1">
                <a:latin typeface="Times New Roman" panose="02020603050405020304" pitchFamily="18" charset="0"/>
                <a:cs typeface="Times New Roman" panose="02020603050405020304" pitchFamily="18" charset="0"/>
              </a:rPr>
              <a:t>Mingshuai</a:t>
            </a:r>
            <a:r>
              <a:rPr lang="en-US" altLang="zh-TW" dirty="0">
                <a:latin typeface="Times New Roman" panose="02020603050405020304" pitchFamily="18" charset="0"/>
                <a:cs typeface="Times New Roman" panose="02020603050405020304" pitchFamily="18" charset="0"/>
              </a:rPr>
              <a:t> Liu. 2021 IEEE International Conference on Power Electronics, Computer Applications (ICPECA). Shenyang, China.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Sept.</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5</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In the robot navigation module, autonomous path planning is at the core, and the path planning control strategy is the key factor. Traditional robot path planning algorithms generally have some inherent defects, and they cannot seamlessly integrate local and global path planning methods, resulting in low efficiency. This paper proposes a combination strategy of local and global path planning algorithms. In the global algorithm, the potential field ant colony algorithm is adopted. Before the robot starts, it will plan a relatively optimal path on the specified electronic map, which solves the problems of premature convergence and low efficiency of the traditional ant colony algorithm; in terms of local algorithms The improved artificial potential field method is adopted, which carries out real-time path planning for the unknown environment, and solves the problems of local minima and unreachable targets in the traditional potential field method. In this paper, the proposed improved method is simulated and analyzed, and the results show that the proposed control method is feasible.</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3</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Artificial Potential Field Method</a:t>
            </a:r>
            <a:endParaRPr lang="zh-TW" altLang="en-US" b="1" dirty="0"/>
          </a:p>
        </p:txBody>
      </p:sp>
      <p:pic>
        <p:nvPicPr>
          <p:cNvPr id="1026" name="Picture 2" descr="Traditional artificial potentials path planning | Download Scientific  Diagram">
            <a:extLst>
              <a:ext uri="{FF2B5EF4-FFF2-40B4-BE49-F238E27FC236}">
                <a16:creationId xmlns:a16="http://schemas.microsoft.com/office/drawing/2014/main" id="{331B7706-4ABB-6502-BC2F-9F5690255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0406" y="1795462"/>
            <a:ext cx="4743450" cy="47434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th Planning Using Potential Field Algorithm | by Rymsha Siddiqui | Medium">
            <a:extLst>
              <a:ext uri="{FF2B5EF4-FFF2-40B4-BE49-F238E27FC236}">
                <a16:creationId xmlns:a16="http://schemas.microsoft.com/office/drawing/2014/main" id="{2CF0F686-8B9E-475D-D583-171B07DE70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31" y="2566987"/>
            <a:ext cx="6162675"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735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sp>
        <p:nvSpPr>
          <p:cNvPr id="3" name="內容版面配置區 2">
            <a:extLst>
              <a:ext uri="{FF2B5EF4-FFF2-40B4-BE49-F238E27FC236}">
                <a16:creationId xmlns:a16="http://schemas.microsoft.com/office/drawing/2014/main" id="{E813CF27-EF53-35BE-FC94-E39167B63AFE}"/>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Gravitation field</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Repulsive field</a:t>
            </a:r>
            <a:endParaRPr lang="zh-TW" altLang="en-US" dirty="0">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8582AD9A-4DE6-6778-6F6E-D05169985DE8}"/>
              </a:ext>
            </a:extLst>
          </p:cNvPr>
          <p:cNvPicPr>
            <a:picLocks noChangeAspect="1"/>
          </p:cNvPicPr>
          <p:nvPr/>
        </p:nvPicPr>
        <p:blipFill>
          <a:blip r:embed="rId3"/>
          <a:stretch>
            <a:fillRect/>
          </a:stretch>
        </p:blipFill>
        <p:spPr>
          <a:xfrm>
            <a:off x="2021428" y="2392911"/>
            <a:ext cx="2907759" cy="757548"/>
          </a:xfrm>
          <a:prstGeom prst="rect">
            <a:avLst/>
          </a:prstGeom>
        </p:spPr>
      </p:pic>
      <p:pic>
        <p:nvPicPr>
          <p:cNvPr id="12" name="圖片 11">
            <a:extLst>
              <a:ext uri="{FF2B5EF4-FFF2-40B4-BE49-F238E27FC236}">
                <a16:creationId xmlns:a16="http://schemas.microsoft.com/office/drawing/2014/main" id="{A6798DF1-F0A9-F65F-47EF-689AC00E77C4}"/>
              </a:ext>
            </a:extLst>
          </p:cNvPr>
          <p:cNvPicPr>
            <a:picLocks noChangeAspect="1"/>
          </p:cNvPicPr>
          <p:nvPr/>
        </p:nvPicPr>
        <p:blipFill>
          <a:blip r:embed="rId4"/>
          <a:stretch>
            <a:fillRect/>
          </a:stretch>
        </p:blipFill>
        <p:spPr>
          <a:xfrm>
            <a:off x="1914272" y="4160050"/>
            <a:ext cx="6518041" cy="1573320"/>
          </a:xfrm>
          <a:prstGeom prst="rect">
            <a:avLst/>
          </a:prstGeom>
        </p:spPr>
      </p:pic>
    </p:spTree>
    <p:extLst>
      <p:ext uri="{BB962C8B-B14F-4D97-AF65-F5344CB8AC3E}">
        <p14:creationId xmlns:p14="http://schemas.microsoft.com/office/powerpoint/2010/main" val="141576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3E65BCEC-EDCF-4F99-A611-241D8BBE65BB}"/>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pic>
        <p:nvPicPr>
          <p:cNvPr id="3074" name="Picture 2">
            <a:extLst>
              <a:ext uri="{FF2B5EF4-FFF2-40B4-BE49-F238E27FC236}">
                <a16:creationId xmlns:a16="http://schemas.microsoft.com/office/drawing/2014/main" id="{446A8E21-FE85-D9A3-C36E-60972DD37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947738"/>
            <a:ext cx="9239250" cy="496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932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圖1.-勢場變化曲線1.目標不可達現象">
            <a:extLst>
              <a:ext uri="{FF2B5EF4-FFF2-40B4-BE49-F238E27FC236}">
                <a16:creationId xmlns:a16="http://schemas.microsoft.com/office/drawing/2014/main" id="{C9D4E260-3E02-4476-4324-DA315C706E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65946" y="643466"/>
            <a:ext cx="7060107" cy="5571067"/>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a:extLst>
              <a:ext uri="{FF2B5EF4-FFF2-40B4-BE49-F238E27FC236}">
                <a16:creationId xmlns:a16="http://schemas.microsoft.com/office/drawing/2014/main" id="{EC56E160-10A7-0AC1-2D3A-D1581ACB821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5935506-5D51-4B07-8BDD-18CEF4E05E0A}" type="slidenum">
              <a:rPr lang="en-US" altLang="zh-TW" smtClean="0"/>
              <a:pPr>
                <a:spcAft>
                  <a:spcPts val="600"/>
                </a:spcAft>
              </a:pPr>
              <a:t>6</a:t>
            </a:fld>
            <a:endParaRPr lang="en-US" altLang="zh-TW"/>
          </a:p>
        </p:txBody>
      </p:sp>
    </p:spTree>
    <p:extLst>
      <p:ext uri="{BB962C8B-B14F-4D97-AF65-F5344CB8AC3E}">
        <p14:creationId xmlns:p14="http://schemas.microsoft.com/office/powerpoint/2010/main" val="732468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D7C725B-6B55-8CA6-2826-6FE419D5162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76633" y="643466"/>
            <a:ext cx="6838734" cy="5571067"/>
          </a:xfrm>
          <a:prstGeom prst="rect">
            <a:avLst/>
          </a:prstGeom>
          <a:noFill/>
          <a:extLst>
            <a:ext uri="{909E8E84-426E-40DD-AFC4-6F175D3DCCD1}">
              <a14:hiddenFill xmlns:a14="http://schemas.microsoft.com/office/drawing/2010/main">
                <a:solidFill>
                  <a:srgbClr val="FFFFFF"/>
                </a:solidFill>
              </a14:hiddenFill>
            </a:ext>
          </a:extLst>
        </p:spPr>
      </p:pic>
      <p:sp>
        <p:nvSpPr>
          <p:cNvPr id="4" name="投影片編號版面配置區 3">
            <a:extLst>
              <a:ext uri="{FF2B5EF4-FFF2-40B4-BE49-F238E27FC236}">
                <a16:creationId xmlns:a16="http://schemas.microsoft.com/office/drawing/2014/main" id="{63112F58-53B3-CAF2-BEA8-A27B4F803CD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55935506-5D51-4B07-8BDD-18CEF4E05E0A}" type="slidenum">
              <a:rPr lang="en-US" altLang="zh-TW" smtClean="0"/>
              <a:pPr>
                <a:spcAft>
                  <a:spcPts val="600"/>
                </a:spcAft>
              </a:pPr>
              <a:t>7</a:t>
            </a:fld>
            <a:endParaRPr lang="en-US" altLang="zh-TW"/>
          </a:p>
        </p:txBody>
      </p:sp>
    </p:spTree>
    <p:extLst>
      <p:ext uri="{BB962C8B-B14F-4D97-AF65-F5344CB8AC3E}">
        <p14:creationId xmlns:p14="http://schemas.microsoft.com/office/powerpoint/2010/main" val="1159116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Artificial Potential Field Method Based On Obstacle Boundary Detection</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8</a:t>
            </a:fld>
            <a:endParaRPr lang="zh-TW" altLang="en-US" dirty="0"/>
          </a:p>
        </p:txBody>
      </p:sp>
      <p:pic>
        <p:nvPicPr>
          <p:cNvPr id="8" name="圖片 7">
            <a:extLst>
              <a:ext uri="{FF2B5EF4-FFF2-40B4-BE49-F238E27FC236}">
                <a16:creationId xmlns:a16="http://schemas.microsoft.com/office/drawing/2014/main" id="{A5CB048A-800A-6E6B-33E8-FF75671B8900}"/>
              </a:ext>
            </a:extLst>
          </p:cNvPr>
          <p:cNvPicPr>
            <a:picLocks noChangeAspect="1"/>
          </p:cNvPicPr>
          <p:nvPr/>
        </p:nvPicPr>
        <p:blipFill>
          <a:blip r:embed="rId3"/>
          <a:stretch>
            <a:fillRect/>
          </a:stretch>
        </p:blipFill>
        <p:spPr>
          <a:xfrm>
            <a:off x="1333025" y="1973981"/>
            <a:ext cx="6811326" cy="1247949"/>
          </a:xfrm>
          <a:prstGeom prst="rect">
            <a:avLst/>
          </a:prstGeom>
        </p:spPr>
      </p:pic>
      <p:pic>
        <p:nvPicPr>
          <p:cNvPr id="10" name="圖片 9">
            <a:extLst>
              <a:ext uri="{FF2B5EF4-FFF2-40B4-BE49-F238E27FC236}">
                <a16:creationId xmlns:a16="http://schemas.microsoft.com/office/drawing/2014/main" id="{01A9C715-73B6-B808-EBAB-B6D21264A1D0}"/>
              </a:ext>
            </a:extLst>
          </p:cNvPr>
          <p:cNvPicPr>
            <a:picLocks noChangeAspect="1"/>
          </p:cNvPicPr>
          <p:nvPr/>
        </p:nvPicPr>
        <p:blipFill>
          <a:blip r:embed="rId4"/>
          <a:stretch>
            <a:fillRect/>
          </a:stretch>
        </p:blipFill>
        <p:spPr>
          <a:xfrm>
            <a:off x="6512243" y="3636071"/>
            <a:ext cx="2391109" cy="514422"/>
          </a:xfrm>
          <a:prstGeom prst="rect">
            <a:avLst/>
          </a:prstGeom>
        </p:spPr>
      </p:pic>
      <p:pic>
        <p:nvPicPr>
          <p:cNvPr id="12" name="圖片 11">
            <a:extLst>
              <a:ext uri="{FF2B5EF4-FFF2-40B4-BE49-F238E27FC236}">
                <a16:creationId xmlns:a16="http://schemas.microsoft.com/office/drawing/2014/main" id="{BD21CDA7-6121-6FE9-FDDA-BD7DF291FEA6}"/>
              </a:ext>
            </a:extLst>
          </p:cNvPr>
          <p:cNvPicPr>
            <a:picLocks noChangeAspect="1"/>
          </p:cNvPicPr>
          <p:nvPr/>
        </p:nvPicPr>
        <p:blipFill>
          <a:blip r:embed="rId5"/>
          <a:stretch>
            <a:fillRect/>
          </a:stretch>
        </p:blipFill>
        <p:spPr>
          <a:xfrm>
            <a:off x="6562439" y="4295653"/>
            <a:ext cx="2048161" cy="695422"/>
          </a:xfrm>
          <a:prstGeom prst="rect">
            <a:avLst/>
          </a:prstGeom>
        </p:spPr>
      </p:pic>
      <p:pic>
        <p:nvPicPr>
          <p:cNvPr id="14" name="圖片 13">
            <a:extLst>
              <a:ext uri="{FF2B5EF4-FFF2-40B4-BE49-F238E27FC236}">
                <a16:creationId xmlns:a16="http://schemas.microsoft.com/office/drawing/2014/main" id="{45E42481-D464-31B6-3B98-46890E021F82}"/>
              </a:ext>
            </a:extLst>
          </p:cNvPr>
          <p:cNvPicPr>
            <a:picLocks noChangeAspect="1"/>
          </p:cNvPicPr>
          <p:nvPr/>
        </p:nvPicPr>
        <p:blipFill>
          <a:blip r:embed="rId6"/>
          <a:stretch>
            <a:fillRect/>
          </a:stretch>
        </p:blipFill>
        <p:spPr>
          <a:xfrm>
            <a:off x="6643412" y="4991075"/>
            <a:ext cx="1886213" cy="619211"/>
          </a:xfrm>
          <a:prstGeom prst="rect">
            <a:avLst/>
          </a:prstGeom>
        </p:spPr>
      </p:pic>
      <p:pic>
        <p:nvPicPr>
          <p:cNvPr id="16" name="圖片 15">
            <a:extLst>
              <a:ext uri="{FF2B5EF4-FFF2-40B4-BE49-F238E27FC236}">
                <a16:creationId xmlns:a16="http://schemas.microsoft.com/office/drawing/2014/main" id="{8F49E245-C33E-03F8-5B06-0894F123590A}"/>
              </a:ext>
            </a:extLst>
          </p:cNvPr>
          <p:cNvPicPr>
            <a:picLocks noChangeAspect="1"/>
          </p:cNvPicPr>
          <p:nvPr/>
        </p:nvPicPr>
        <p:blipFill>
          <a:blip r:embed="rId7"/>
          <a:stretch>
            <a:fillRect/>
          </a:stretch>
        </p:blipFill>
        <p:spPr>
          <a:xfrm>
            <a:off x="6643412" y="5610286"/>
            <a:ext cx="1524213" cy="762106"/>
          </a:xfrm>
          <a:prstGeom prst="rect">
            <a:avLst/>
          </a:prstGeom>
        </p:spPr>
      </p:pic>
      <p:pic>
        <p:nvPicPr>
          <p:cNvPr id="18" name="圖片 17">
            <a:extLst>
              <a:ext uri="{FF2B5EF4-FFF2-40B4-BE49-F238E27FC236}">
                <a16:creationId xmlns:a16="http://schemas.microsoft.com/office/drawing/2014/main" id="{7ABE6F10-709B-2142-8F3B-107673AD93A7}"/>
              </a:ext>
            </a:extLst>
          </p:cNvPr>
          <p:cNvPicPr>
            <a:picLocks noChangeAspect="1"/>
          </p:cNvPicPr>
          <p:nvPr/>
        </p:nvPicPr>
        <p:blipFill>
          <a:blip r:embed="rId8"/>
          <a:stretch>
            <a:fillRect/>
          </a:stretch>
        </p:blipFill>
        <p:spPr>
          <a:xfrm>
            <a:off x="2562024" y="4543337"/>
            <a:ext cx="2896004" cy="895475"/>
          </a:xfrm>
          <a:prstGeom prst="rect">
            <a:avLst/>
          </a:prstGeom>
        </p:spPr>
      </p:pic>
    </p:spTree>
    <p:extLst>
      <p:ext uri="{BB962C8B-B14F-4D97-AF65-F5344CB8AC3E}">
        <p14:creationId xmlns:p14="http://schemas.microsoft.com/office/powerpoint/2010/main" val="3216166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Simulation Analysis and Experiment</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9</a:t>
            </a:fld>
            <a:endParaRPr lang="zh-TW" altLang="en-US" dirty="0"/>
          </a:p>
        </p:txBody>
      </p:sp>
      <p:pic>
        <p:nvPicPr>
          <p:cNvPr id="6146" name="Picture 2">
            <a:extLst>
              <a:ext uri="{FF2B5EF4-FFF2-40B4-BE49-F238E27FC236}">
                <a16:creationId xmlns:a16="http://schemas.microsoft.com/office/drawing/2014/main" id="{5EA4B203-4FFB-FD77-D3F6-A432C4B6D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1368425"/>
            <a:ext cx="7810500" cy="535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858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457B480-C503-7774-D91D-C73C65023724}"/>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7170" name="Picture 2">
            <a:extLst>
              <a:ext uri="{FF2B5EF4-FFF2-40B4-BE49-F238E27FC236}">
                <a16:creationId xmlns:a16="http://schemas.microsoft.com/office/drawing/2014/main" id="{8D1FF2CE-3923-44A7-029C-AD4DF52C4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495300"/>
            <a:ext cx="7810500" cy="586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50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17750E-E021-4243-A064-2A76FA0C35BA}"/>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Simulation Analysis of Potential Field Ant Colony Algorithm</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F7AB35-8468-4F03-8E10-22F08A5F34B4}"/>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8194" name="Picture 2">
            <a:extLst>
              <a:ext uri="{FF2B5EF4-FFF2-40B4-BE49-F238E27FC236}">
                <a16:creationId xmlns:a16="http://schemas.microsoft.com/office/drawing/2014/main" id="{6D450388-188E-D310-D4A0-D46C22E02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107" y="2235994"/>
            <a:ext cx="5239129" cy="401240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7EE2497D-F913-278A-6506-04E8984C24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3764" y="2223216"/>
            <a:ext cx="5239129" cy="4025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011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0F7A796-FCA4-8D02-E110-66584F4E1512}"/>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9218" name="Picture 2">
            <a:extLst>
              <a:ext uri="{FF2B5EF4-FFF2-40B4-BE49-F238E27FC236}">
                <a16:creationId xmlns:a16="http://schemas.microsoft.com/office/drawing/2014/main" id="{E1633DFD-5653-DE7C-5CA9-60E12FDF60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100" b="51250"/>
          <a:stretch/>
        </p:blipFill>
        <p:spPr bwMode="auto">
          <a:xfrm>
            <a:off x="785019" y="1316768"/>
            <a:ext cx="4983704" cy="422446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F996E44D-FAEF-BAF1-A5D3-3BB5253FFA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6423279" y="1208449"/>
            <a:ext cx="4988719" cy="4332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728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296BA77A-76A9-6F8A-F53A-71879A6AE7AF}"/>
              </a:ext>
            </a:extLst>
          </p:cNvPr>
          <p:cNvSpPr>
            <a:spLocks noGrp="1"/>
          </p:cNvSpPr>
          <p:nvPr>
            <p:ph type="sldNum" sz="quarter" idx="12"/>
          </p:nvPr>
        </p:nvSpPr>
        <p:spPr/>
        <p:txBody>
          <a:bodyPr/>
          <a:lstStyle/>
          <a:p>
            <a:fld id="{55935506-5D51-4B07-8BDD-18CEF4E05E0A}" type="slidenum">
              <a:rPr lang="zh-TW" altLang="en-US" smtClean="0"/>
              <a:t>13</a:t>
            </a:fld>
            <a:endParaRPr lang="zh-TW" altLang="en-US"/>
          </a:p>
        </p:txBody>
      </p:sp>
      <p:pic>
        <p:nvPicPr>
          <p:cNvPr id="10242" name="Picture 2">
            <a:extLst>
              <a:ext uri="{FF2B5EF4-FFF2-40B4-BE49-F238E27FC236}">
                <a16:creationId xmlns:a16="http://schemas.microsoft.com/office/drawing/2014/main" id="{A86553EC-DA7A-51EE-C80B-FCB0F1899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966788"/>
            <a:ext cx="7810500" cy="492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296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The improved artificial potential field method is better than the traditional algorithm.</a:t>
            </a:r>
          </a:p>
          <a:p>
            <a:r>
              <a:rPr lang="en-US" altLang="zh-TW" sz="2400" dirty="0">
                <a:solidFill>
                  <a:srgbClr val="333333"/>
                </a:solidFill>
                <a:latin typeface="Times New Roman" panose="02020603050405020304" pitchFamily="18" charset="0"/>
                <a:cs typeface="Times New Roman" panose="02020603050405020304" pitchFamily="18" charset="0"/>
              </a:rPr>
              <a:t>It can effectively solve the ubiquitous target unreachable and local minimum.</a:t>
            </a:r>
          </a:p>
          <a:p>
            <a:endParaRPr lang="en-US" altLang="zh-TW" sz="24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99361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2415</TotalTime>
  <Words>311</Words>
  <Application>Microsoft Office PowerPoint</Application>
  <PresentationFormat>寬螢幕</PresentationFormat>
  <Paragraphs>39</Paragraphs>
  <Slides>14</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Calibri Light</vt:lpstr>
      <vt:lpstr>Times New Roman</vt:lpstr>
      <vt:lpstr>Office 佈景主題</vt:lpstr>
      <vt:lpstr>Research on path planning method of forging handling robot based on combined strategy</vt:lpstr>
      <vt:lpstr>Abstract</vt:lpstr>
      <vt:lpstr>Artificial Potential Field Method</vt:lpstr>
      <vt:lpstr>PowerPoint 簡報</vt:lpstr>
      <vt:lpstr>PowerPoint 簡報</vt:lpstr>
      <vt:lpstr>PowerPoint 簡報</vt:lpstr>
      <vt:lpstr>PowerPoint 簡報</vt:lpstr>
      <vt:lpstr>Artificial Potential Field Method Based On Obstacle Boundary Detection</vt:lpstr>
      <vt:lpstr>Simulation Analysis and Experiment</vt:lpstr>
      <vt:lpstr>PowerPoint 簡報</vt:lpstr>
      <vt:lpstr>Simulation Analysis of Potential Field Ant Colony Algorithm</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鈺宸 林</cp:lastModifiedBy>
  <cp:revision>68</cp:revision>
  <dcterms:created xsi:type="dcterms:W3CDTF">2022-11-14T21:21:39Z</dcterms:created>
  <dcterms:modified xsi:type="dcterms:W3CDTF">2023-09-05T10:05:20Z</dcterms:modified>
</cp:coreProperties>
</file>