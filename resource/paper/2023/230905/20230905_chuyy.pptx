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3"/>
  </p:notesMasterIdLst>
  <p:sldIdLst>
    <p:sldId id="256" r:id="rId2"/>
    <p:sldId id="257" r:id="rId3"/>
    <p:sldId id="286" r:id="rId4"/>
    <p:sldId id="258" r:id="rId5"/>
    <p:sldId id="287" r:id="rId6"/>
    <p:sldId id="260" r:id="rId7"/>
    <p:sldId id="261" r:id="rId8"/>
    <p:sldId id="262" r:id="rId9"/>
    <p:sldId id="263" r:id="rId10"/>
    <p:sldId id="264" r:id="rId11"/>
    <p:sldId id="265" r:id="rId1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777"/>
    <p:restoredTop sz="95788"/>
  </p:normalViewPr>
  <p:slideViewPr>
    <p:cSldViewPr snapToGrid="0" snapToObjects="1">
      <p:cViewPr varScale="1">
        <p:scale>
          <a:sx n="127" d="100"/>
          <a:sy n="127" d="100"/>
        </p:scale>
        <p:origin x="216"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685761-BC47-1640-B177-90544C5C7DE3}" type="datetimeFigureOut">
              <a:rPr kumimoji="1" lang="zh-TW" altLang="en-US" smtClean="0"/>
              <a:t>2023/9/4</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DF88BA-E6E4-4543-BA48-BA0FF57EDFDD}" type="slidenum">
              <a:rPr kumimoji="1" lang="zh-TW" altLang="en-US" smtClean="0"/>
              <a:t>‹#›</a:t>
            </a:fld>
            <a:endParaRPr kumimoji="1" lang="zh-TW" altLang="en-US"/>
          </a:p>
        </p:txBody>
      </p:sp>
    </p:spTree>
    <p:extLst>
      <p:ext uri="{BB962C8B-B14F-4D97-AF65-F5344CB8AC3E}">
        <p14:creationId xmlns:p14="http://schemas.microsoft.com/office/powerpoint/2010/main" val="129180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8AFC48-3333-9D44-9A46-EBD28493A784}"/>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2FDEA52E-50C8-2B46-853E-68D8E0AC5B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按一下以編輯母片副標題樣式</a:t>
            </a:r>
          </a:p>
        </p:txBody>
      </p:sp>
      <p:sp>
        <p:nvSpPr>
          <p:cNvPr id="4" name="日期版面配置區 3">
            <a:extLst>
              <a:ext uri="{FF2B5EF4-FFF2-40B4-BE49-F238E27FC236}">
                <a16:creationId xmlns:a16="http://schemas.microsoft.com/office/drawing/2014/main" id="{99949C8A-F130-D646-AB33-6ACF0EC20126}"/>
              </a:ext>
            </a:extLst>
          </p:cNvPr>
          <p:cNvSpPr>
            <a:spLocks noGrp="1"/>
          </p:cNvSpPr>
          <p:nvPr>
            <p:ph type="dt" sz="half" idx="10"/>
          </p:nvPr>
        </p:nvSpPr>
        <p:spPr/>
        <p:txBody>
          <a:bodyPr/>
          <a:lstStyle/>
          <a:p>
            <a:fld id="{1D559227-5104-0D4E-AE2B-CFC6EF24DF26}" type="datetime1">
              <a:rPr kumimoji="1" lang="zh-TW" altLang="en-US" smtClean="0"/>
              <a:t>2023/9/4</a:t>
            </a:fld>
            <a:endParaRPr kumimoji="1" lang="zh-TW" altLang="en-US"/>
          </a:p>
        </p:txBody>
      </p:sp>
      <p:sp>
        <p:nvSpPr>
          <p:cNvPr id="5" name="頁尾版面配置區 4">
            <a:extLst>
              <a:ext uri="{FF2B5EF4-FFF2-40B4-BE49-F238E27FC236}">
                <a16:creationId xmlns:a16="http://schemas.microsoft.com/office/drawing/2014/main" id="{E450D42D-775A-2146-B8BB-C9CE9A382E72}"/>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61E502A-64F7-7C4E-B509-954BE6D3A0A2}"/>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5589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580369-97FF-B548-BB55-CB8DCE6B8628}"/>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573028B2-5CCA-8C4B-A152-A6977DB014FE}"/>
              </a:ext>
            </a:extLst>
          </p:cNvPr>
          <p:cNvSpPr>
            <a:spLocks noGrp="1"/>
          </p:cNvSpPr>
          <p:nvPr>
            <p:ph idx="1"/>
          </p:nvPr>
        </p:nvSpPr>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2B847DA-2EF1-9E49-8F1B-E3D7D56E3B97}"/>
              </a:ext>
            </a:extLst>
          </p:cNvPr>
          <p:cNvSpPr>
            <a:spLocks noGrp="1"/>
          </p:cNvSpPr>
          <p:nvPr>
            <p:ph type="dt" sz="half" idx="10"/>
          </p:nvPr>
        </p:nvSpPr>
        <p:spPr/>
        <p:txBody>
          <a:bodyPr/>
          <a:lstStyle/>
          <a:p>
            <a:fld id="{6B7B55EC-044C-AD45-985E-A0F6561D9028}" type="datetime1">
              <a:rPr kumimoji="1" lang="zh-TW" altLang="en-US" smtClean="0"/>
              <a:t>2023/9/4</a:t>
            </a:fld>
            <a:endParaRPr kumimoji="1" lang="zh-TW" altLang="en-US"/>
          </a:p>
        </p:txBody>
      </p:sp>
      <p:sp>
        <p:nvSpPr>
          <p:cNvPr id="5" name="頁尾版面配置區 4">
            <a:extLst>
              <a:ext uri="{FF2B5EF4-FFF2-40B4-BE49-F238E27FC236}">
                <a16:creationId xmlns:a16="http://schemas.microsoft.com/office/drawing/2014/main" id="{6F09B162-6F92-BD4C-A01A-413E3321E0F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6743639-9C98-CC43-9A7E-7827356595CB}"/>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996406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807A748-F79F-F346-8961-AA8DB18739C9}"/>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3E6C14E7-8AB9-AE4F-8AB3-D0046CEF4C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編輯母片文字樣式</a:t>
            </a:r>
          </a:p>
        </p:txBody>
      </p:sp>
      <p:sp>
        <p:nvSpPr>
          <p:cNvPr id="4" name="日期版面配置區 3">
            <a:extLst>
              <a:ext uri="{FF2B5EF4-FFF2-40B4-BE49-F238E27FC236}">
                <a16:creationId xmlns:a16="http://schemas.microsoft.com/office/drawing/2014/main" id="{17A4DA8E-2AC4-874C-948B-4FEBEEDEF653}"/>
              </a:ext>
            </a:extLst>
          </p:cNvPr>
          <p:cNvSpPr>
            <a:spLocks noGrp="1"/>
          </p:cNvSpPr>
          <p:nvPr>
            <p:ph type="dt" sz="half" idx="10"/>
          </p:nvPr>
        </p:nvSpPr>
        <p:spPr/>
        <p:txBody>
          <a:bodyPr/>
          <a:lstStyle/>
          <a:p>
            <a:fld id="{1BE45051-DBAB-7C4D-ADA4-56271E2E2BD3}" type="datetime1">
              <a:rPr kumimoji="1" lang="zh-TW" altLang="en-US" smtClean="0"/>
              <a:t>2023/9/4</a:t>
            </a:fld>
            <a:endParaRPr kumimoji="1" lang="zh-TW" altLang="en-US"/>
          </a:p>
        </p:txBody>
      </p:sp>
      <p:sp>
        <p:nvSpPr>
          <p:cNvPr id="5" name="頁尾版面配置區 4">
            <a:extLst>
              <a:ext uri="{FF2B5EF4-FFF2-40B4-BE49-F238E27FC236}">
                <a16:creationId xmlns:a16="http://schemas.microsoft.com/office/drawing/2014/main" id="{98E82387-02E0-C34C-8788-958DE14FAFBC}"/>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04864AD-726D-904D-9686-9656A2465A6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07744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51106A-DE42-B644-B664-A9256366220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E99A4BD2-86D7-EF4D-8B1D-D7A873433A35}"/>
              </a:ext>
            </a:extLst>
          </p:cNvPr>
          <p:cNvSpPr>
            <a:spLocks noGrp="1"/>
          </p:cNvSpPr>
          <p:nvPr>
            <p:ph sz="half" idx="1"/>
          </p:nvPr>
        </p:nvSpPr>
        <p:spPr>
          <a:xfrm>
            <a:off x="838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697BFE0C-75E1-374C-A1BE-B0F7AB5B1191}"/>
              </a:ext>
            </a:extLst>
          </p:cNvPr>
          <p:cNvSpPr>
            <a:spLocks noGrp="1"/>
          </p:cNvSpPr>
          <p:nvPr>
            <p:ph sz="half" idx="2"/>
          </p:nvPr>
        </p:nvSpPr>
        <p:spPr>
          <a:xfrm>
            <a:off x="6172200" y="1825625"/>
            <a:ext cx="5181600" cy="435133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8A42632B-169D-B247-A46A-487B2CEEEE45}"/>
              </a:ext>
            </a:extLst>
          </p:cNvPr>
          <p:cNvSpPr>
            <a:spLocks noGrp="1"/>
          </p:cNvSpPr>
          <p:nvPr>
            <p:ph type="dt" sz="half" idx="10"/>
          </p:nvPr>
        </p:nvSpPr>
        <p:spPr/>
        <p:txBody>
          <a:bodyPr/>
          <a:lstStyle/>
          <a:p>
            <a:fld id="{C1EF0564-7FFB-CA45-9BCE-B6282CFC5BC4}" type="datetime1">
              <a:rPr kumimoji="1" lang="zh-TW" altLang="en-US" smtClean="0"/>
              <a:t>2023/9/4</a:t>
            </a:fld>
            <a:endParaRPr kumimoji="1" lang="zh-TW" altLang="en-US"/>
          </a:p>
        </p:txBody>
      </p:sp>
      <p:sp>
        <p:nvSpPr>
          <p:cNvPr id="6" name="頁尾版面配置區 5">
            <a:extLst>
              <a:ext uri="{FF2B5EF4-FFF2-40B4-BE49-F238E27FC236}">
                <a16:creationId xmlns:a16="http://schemas.microsoft.com/office/drawing/2014/main" id="{E5B42995-7EC8-AD4B-B91A-DB5FDC9376BF}"/>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35303DE2-E496-1F41-A7FE-CF2E2D9DD903}"/>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002020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83B446-AFD9-BC43-8D50-6C488C6FF28E}"/>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572EBCA2-C8A4-8C43-8427-BBA9B59598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4" name="內容版面配置區 3">
            <a:extLst>
              <a:ext uri="{FF2B5EF4-FFF2-40B4-BE49-F238E27FC236}">
                <a16:creationId xmlns:a16="http://schemas.microsoft.com/office/drawing/2014/main" id="{AA4AB07E-104F-1546-A76D-27C9172D2012}"/>
              </a:ext>
            </a:extLst>
          </p:cNvPr>
          <p:cNvSpPr>
            <a:spLocks noGrp="1"/>
          </p:cNvSpPr>
          <p:nvPr>
            <p:ph sz="half" idx="2"/>
          </p:nvPr>
        </p:nvSpPr>
        <p:spPr>
          <a:xfrm>
            <a:off x="839788" y="2505075"/>
            <a:ext cx="5157787"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4EDA1436-7B7F-424E-BDF6-9B2679D97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編輯母片文字樣式</a:t>
            </a:r>
          </a:p>
        </p:txBody>
      </p:sp>
      <p:sp>
        <p:nvSpPr>
          <p:cNvPr id="6" name="內容版面配置區 5">
            <a:extLst>
              <a:ext uri="{FF2B5EF4-FFF2-40B4-BE49-F238E27FC236}">
                <a16:creationId xmlns:a16="http://schemas.microsoft.com/office/drawing/2014/main" id="{5EE7DA3D-69F7-CE40-B4D5-8558AC0D6BA6}"/>
              </a:ext>
            </a:extLst>
          </p:cNvPr>
          <p:cNvSpPr>
            <a:spLocks noGrp="1"/>
          </p:cNvSpPr>
          <p:nvPr>
            <p:ph sz="quarter" idx="4"/>
          </p:nvPr>
        </p:nvSpPr>
        <p:spPr>
          <a:xfrm>
            <a:off x="6172200" y="2505075"/>
            <a:ext cx="5183188" cy="3684588"/>
          </a:xfrm>
        </p:spPr>
        <p:txBody>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F204E6A0-241E-D240-ACC4-4197BB01AB8C}"/>
              </a:ext>
            </a:extLst>
          </p:cNvPr>
          <p:cNvSpPr>
            <a:spLocks noGrp="1"/>
          </p:cNvSpPr>
          <p:nvPr>
            <p:ph type="dt" sz="half" idx="10"/>
          </p:nvPr>
        </p:nvSpPr>
        <p:spPr/>
        <p:txBody>
          <a:bodyPr/>
          <a:lstStyle/>
          <a:p>
            <a:fld id="{F8B6BB58-657F-9B42-8F63-CE29A2D5959E}" type="datetime1">
              <a:rPr kumimoji="1" lang="zh-TW" altLang="en-US" smtClean="0"/>
              <a:t>2023/9/4</a:t>
            </a:fld>
            <a:endParaRPr kumimoji="1" lang="zh-TW" altLang="en-US"/>
          </a:p>
        </p:txBody>
      </p:sp>
      <p:sp>
        <p:nvSpPr>
          <p:cNvPr id="8" name="頁尾版面配置區 7">
            <a:extLst>
              <a:ext uri="{FF2B5EF4-FFF2-40B4-BE49-F238E27FC236}">
                <a16:creationId xmlns:a16="http://schemas.microsoft.com/office/drawing/2014/main" id="{D3B801A1-AF0A-B84E-96F6-29CFB5435F43}"/>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9600253E-5D94-6E45-8290-370C15F5989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87426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57E884-9D25-2945-A655-164A32436AEF}"/>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06A303C2-B14E-C04F-B1CE-D8018834AF75}"/>
              </a:ext>
            </a:extLst>
          </p:cNvPr>
          <p:cNvSpPr>
            <a:spLocks noGrp="1"/>
          </p:cNvSpPr>
          <p:nvPr>
            <p:ph type="dt" sz="half" idx="10"/>
          </p:nvPr>
        </p:nvSpPr>
        <p:spPr/>
        <p:txBody>
          <a:bodyPr/>
          <a:lstStyle/>
          <a:p>
            <a:fld id="{CDFA12DD-F92E-F841-AEA2-DD2F0B8AC128}" type="datetime1">
              <a:rPr kumimoji="1" lang="zh-TW" altLang="en-US" smtClean="0"/>
              <a:t>2023/9/4</a:t>
            </a:fld>
            <a:endParaRPr kumimoji="1" lang="zh-TW" altLang="en-US"/>
          </a:p>
        </p:txBody>
      </p:sp>
      <p:sp>
        <p:nvSpPr>
          <p:cNvPr id="4" name="頁尾版面配置區 3">
            <a:extLst>
              <a:ext uri="{FF2B5EF4-FFF2-40B4-BE49-F238E27FC236}">
                <a16:creationId xmlns:a16="http://schemas.microsoft.com/office/drawing/2014/main" id="{251ACB14-3C83-BF40-A08D-8B6551FEB45D}"/>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A5C06E59-8A0C-3B42-90EE-5E614E092B18}"/>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2477431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CB7FD22-44BD-D04C-B395-F3F22D97C84F}"/>
              </a:ext>
            </a:extLst>
          </p:cNvPr>
          <p:cNvSpPr>
            <a:spLocks noGrp="1"/>
          </p:cNvSpPr>
          <p:nvPr>
            <p:ph type="dt" sz="half" idx="10"/>
          </p:nvPr>
        </p:nvSpPr>
        <p:spPr/>
        <p:txBody>
          <a:bodyPr/>
          <a:lstStyle/>
          <a:p>
            <a:fld id="{1E4BAC9C-27AF-0445-AD50-816FC8B10FDD}" type="datetime1">
              <a:rPr kumimoji="1" lang="zh-TW" altLang="en-US" smtClean="0"/>
              <a:t>2023/9/4</a:t>
            </a:fld>
            <a:endParaRPr kumimoji="1" lang="zh-TW" altLang="en-US"/>
          </a:p>
        </p:txBody>
      </p:sp>
      <p:sp>
        <p:nvSpPr>
          <p:cNvPr id="3" name="頁尾版面配置區 2">
            <a:extLst>
              <a:ext uri="{FF2B5EF4-FFF2-40B4-BE49-F238E27FC236}">
                <a16:creationId xmlns:a16="http://schemas.microsoft.com/office/drawing/2014/main" id="{C444FE38-2187-8248-97D1-6F5606FAB126}"/>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65EF3BE3-3845-844D-A07F-F27C144C5EF4}"/>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514009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B493A6-EA88-8A46-9A8B-F872E6DC3C28}"/>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0704C30A-146C-C947-844C-AAE8B3BE79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36B48693-0DB2-B84A-9B17-AABB613BF7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CB4F527B-2D7C-E546-8E6E-59F97AC0B7A5}"/>
              </a:ext>
            </a:extLst>
          </p:cNvPr>
          <p:cNvSpPr>
            <a:spLocks noGrp="1"/>
          </p:cNvSpPr>
          <p:nvPr>
            <p:ph type="dt" sz="half" idx="10"/>
          </p:nvPr>
        </p:nvSpPr>
        <p:spPr/>
        <p:txBody>
          <a:bodyPr/>
          <a:lstStyle/>
          <a:p>
            <a:fld id="{37BB5826-6582-C149-8E57-B0E656F33930}" type="datetime1">
              <a:rPr kumimoji="1" lang="zh-TW" altLang="en-US" smtClean="0"/>
              <a:t>2023/9/4</a:t>
            </a:fld>
            <a:endParaRPr kumimoji="1" lang="zh-TW" altLang="en-US"/>
          </a:p>
        </p:txBody>
      </p:sp>
      <p:sp>
        <p:nvSpPr>
          <p:cNvPr id="6" name="頁尾版面配置區 5">
            <a:extLst>
              <a:ext uri="{FF2B5EF4-FFF2-40B4-BE49-F238E27FC236}">
                <a16:creationId xmlns:a16="http://schemas.microsoft.com/office/drawing/2014/main" id="{FBCBFEFC-0A9F-9B4C-A6C0-4A2E0277AC1B}"/>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794B559-2406-764E-A4B9-D824C5231CC6}"/>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149934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E627F2-C5A6-0D4A-B798-19DCE18B44BA}"/>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80398C8-8B1E-B547-A326-BD1E129C8D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C07516E8-147F-294D-8085-25893538C3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編輯母片文字樣式</a:t>
            </a:r>
          </a:p>
        </p:txBody>
      </p:sp>
      <p:sp>
        <p:nvSpPr>
          <p:cNvPr id="5" name="日期版面配置區 4">
            <a:extLst>
              <a:ext uri="{FF2B5EF4-FFF2-40B4-BE49-F238E27FC236}">
                <a16:creationId xmlns:a16="http://schemas.microsoft.com/office/drawing/2014/main" id="{DD3358FF-DC99-1441-8DAF-FDDE3326FAD0}"/>
              </a:ext>
            </a:extLst>
          </p:cNvPr>
          <p:cNvSpPr>
            <a:spLocks noGrp="1"/>
          </p:cNvSpPr>
          <p:nvPr>
            <p:ph type="dt" sz="half" idx="10"/>
          </p:nvPr>
        </p:nvSpPr>
        <p:spPr/>
        <p:txBody>
          <a:bodyPr/>
          <a:lstStyle/>
          <a:p>
            <a:fld id="{CE3E1583-6ED2-5448-8362-DC2E2DF96F6E}" type="datetime1">
              <a:rPr kumimoji="1" lang="zh-TW" altLang="en-US" smtClean="0"/>
              <a:t>2023/9/4</a:t>
            </a:fld>
            <a:endParaRPr kumimoji="1" lang="zh-TW" altLang="en-US"/>
          </a:p>
        </p:txBody>
      </p:sp>
      <p:sp>
        <p:nvSpPr>
          <p:cNvPr id="6" name="頁尾版面配置區 5">
            <a:extLst>
              <a:ext uri="{FF2B5EF4-FFF2-40B4-BE49-F238E27FC236}">
                <a16:creationId xmlns:a16="http://schemas.microsoft.com/office/drawing/2014/main" id="{CCCD27CE-99AA-6E4E-9DBE-E31E2907AD9D}"/>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455623A4-40DB-5648-A636-5C55E052F991}"/>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4129642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4E152E-7F75-8942-9848-51F47CBDB059}"/>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3B8AA00-30B6-A94A-B2F0-94FCA9255E94}"/>
              </a:ext>
            </a:extLst>
          </p:cNvPr>
          <p:cNvSpPr>
            <a:spLocks noGrp="1"/>
          </p:cNvSpPr>
          <p:nvPr>
            <p:ph type="body" orient="vert" idx="1"/>
          </p:nvPr>
        </p:nvSpPr>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E95A9F1C-7E4C-884D-9A90-EDF2A6DBD779}"/>
              </a:ext>
            </a:extLst>
          </p:cNvPr>
          <p:cNvSpPr>
            <a:spLocks noGrp="1"/>
          </p:cNvSpPr>
          <p:nvPr>
            <p:ph type="dt" sz="half" idx="10"/>
          </p:nvPr>
        </p:nvSpPr>
        <p:spPr/>
        <p:txBody>
          <a:bodyPr/>
          <a:lstStyle/>
          <a:p>
            <a:fld id="{3CB91D62-DF39-2B4A-9C96-DAA8DA866A30}" type="datetime1">
              <a:rPr kumimoji="1" lang="zh-TW" altLang="en-US" smtClean="0"/>
              <a:t>2023/9/4</a:t>
            </a:fld>
            <a:endParaRPr kumimoji="1" lang="zh-TW" altLang="en-US"/>
          </a:p>
        </p:txBody>
      </p:sp>
      <p:sp>
        <p:nvSpPr>
          <p:cNvPr id="5" name="頁尾版面配置區 4">
            <a:extLst>
              <a:ext uri="{FF2B5EF4-FFF2-40B4-BE49-F238E27FC236}">
                <a16:creationId xmlns:a16="http://schemas.microsoft.com/office/drawing/2014/main" id="{EF12E854-2582-9F4E-8CFD-4D7ED3138D63}"/>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FE4CB08D-2F0B-CA45-8F57-E6B71AE4662A}"/>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725235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垂直標題 1">
            <a:extLst>
              <a:ext uri="{FF2B5EF4-FFF2-40B4-BE49-F238E27FC236}">
                <a16:creationId xmlns:a16="http://schemas.microsoft.com/office/drawing/2014/main" id="{9E14D04E-8318-224B-9272-AC5E0B731C3B}"/>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97D28947-C772-8143-9FC4-F0D4A51E2484}"/>
              </a:ext>
            </a:extLst>
          </p:cNvPr>
          <p:cNvSpPr>
            <a:spLocks noGrp="1"/>
          </p:cNvSpPr>
          <p:nvPr>
            <p:ph type="body" orient="vert" idx="1"/>
          </p:nvPr>
        </p:nvSpPr>
        <p:spPr>
          <a:xfrm>
            <a:off x="838200" y="365125"/>
            <a:ext cx="7734300" cy="5811838"/>
          </a:xfrm>
        </p:spPr>
        <p:txBody>
          <a:bodyPr vert="eaVert"/>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86C72D5E-B0ED-5047-A7FA-B2E657286FB5}"/>
              </a:ext>
            </a:extLst>
          </p:cNvPr>
          <p:cNvSpPr>
            <a:spLocks noGrp="1"/>
          </p:cNvSpPr>
          <p:nvPr>
            <p:ph type="dt" sz="half" idx="10"/>
          </p:nvPr>
        </p:nvSpPr>
        <p:spPr/>
        <p:txBody>
          <a:bodyPr/>
          <a:lstStyle/>
          <a:p>
            <a:fld id="{1C3AF8DB-CCF4-7A48-8850-2685985A08ED}" type="datetime1">
              <a:rPr kumimoji="1" lang="zh-TW" altLang="en-US" smtClean="0"/>
              <a:t>2023/9/4</a:t>
            </a:fld>
            <a:endParaRPr kumimoji="1" lang="zh-TW" altLang="en-US"/>
          </a:p>
        </p:txBody>
      </p:sp>
      <p:sp>
        <p:nvSpPr>
          <p:cNvPr id="5" name="頁尾版面配置區 4">
            <a:extLst>
              <a:ext uri="{FF2B5EF4-FFF2-40B4-BE49-F238E27FC236}">
                <a16:creationId xmlns:a16="http://schemas.microsoft.com/office/drawing/2014/main" id="{A4FA687B-D6E8-124C-B1FC-998BBF54F0A7}"/>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12D20F1B-4E62-4C4C-82A7-85B5304901D7}"/>
              </a:ext>
            </a:extLst>
          </p:cNvPr>
          <p:cNvSpPr>
            <a:spLocks noGrp="1"/>
          </p:cNvSpPr>
          <p:nvPr>
            <p:ph type="sldNum" sz="quarter" idx="12"/>
          </p:nvPr>
        </p:nvSpPr>
        <p:spPr/>
        <p:txBody>
          <a:body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96168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D05A8D0E-8330-F341-A098-517F99E9BF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7E117BF3-AF8D-E34D-9885-6A7A5C8DB2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4A2835D4-A14D-3A48-918A-80F589AD20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06BF9D-945A-9644-8C98-6072299715AD}" type="datetime1">
              <a:rPr kumimoji="1" lang="zh-TW" altLang="en-US" smtClean="0"/>
              <a:t>2023/9/4</a:t>
            </a:fld>
            <a:endParaRPr kumimoji="1" lang="zh-TW" altLang="en-US"/>
          </a:p>
        </p:txBody>
      </p:sp>
      <p:sp>
        <p:nvSpPr>
          <p:cNvPr id="5" name="頁尾版面配置區 4">
            <a:extLst>
              <a:ext uri="{FF2B5EF4-FFF2-40B4-BE49-F238E27FC236}">
                <a16:creationId xmlns:a16="http://schemas.microsoft.com/office/drawing/2014/main" id="{C74DF0F1-03B3-874C-95C1-565A03256B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1932831-0323-6F4F-B891-00A63D552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3438DB-761D-074D-B0E1-4712B8233672}" type="slidenum">
              <a:rPr kumimoji="1" lang="zh-TW" altLang="en-US" smtClean="0"/>
              <a:t>‹#›</a:t>
            </a:fld>
            <a:endParaRPr kumimoji="1" lang="zh-TW" altLang="en-US"/>
          </a:p>
        </p:txBody>
      </p:sp>
    </p:spTree>
    <p:extLst>
      <p:ext uri="{BB962C8B-B14F-4D97-AF65-F5344CB8AC3E}">
        <p14:creationId xmlns:p14="http://schemas.microsoft.com/office/powerpoint/2010/main" val="32999265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5F607E-C288-1D47-8A1C-E7C69ED95BEB}"/>
              </a:ext>
            </a:extLst>
          </p:cNvPr>
          <p:cNvSpPr>
            <a:spLocks noGrp="1"/>
          </p:cNvSpPr>
          <p:nvPr>
            <p:ph type="ctrTitle"/>
          </p:nvPr>
        </p:nvSpPr>
        <p:spPr/>
        <p:txBody>
          <a:bodyPr>
            <a:normAutofit fontScale="90000"/>
          </a:bodyPr>
          <a:lstStyle/>
          <a:p>
            <a:r>
              <a:rPr kumimoji="1" lang="en-US" altLang="zh-TW" dirty="0">
                <a:latin typeface="Times New Roman" panose="02020603050405020304" pitchFamily="18" charset="0"/>
                <a:cs typeface="Times New Roman" panose="02020603050405020304" pitchFamily="18" charset="0"/>
              </a:rPr>
              <a:t>Application of Reinforcement Learning to the Card Game Wizard</a:t>
            </a:r>
            <a:endParaRPr kumimoji="1" lang="zh-TW" altLang="en-US"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8435B96C-9974-DE4C-8462-F823C1E2256B}"/>
              </a:ext>
            </a:extLst>
          </p:cNvPr>
          <p:cNvSpPr>
            <a:spLocks noGrp="1"/>
          </p:cNvSpPr>
          <p:nvPr>
            <p:ph type="subTitle" idx="1"/>
          </p:nvPr>
        </p:nvSpPr>
        <p:spPr/>
        <p:txBody>
          <a:bodyPr>
            <a:normAutofit lnSpcReduction="10000"/>
          </a:bodyPr>
          <a:lstStyle/>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J. C. </a:t>
            </a:r>
            <a:r>
              <a:rPr kumimoji="1" lang="en-US" altLang="zh-TW" dirty="0" err="1">
                <a:latin typeface="Times New Roman" panose="02020603050405020304" pitchFamily="18" charset="0"/>
                <a:cs typeface="Times New Roman" panose="02020603050405020304" pitchFamily="18" charset="0"/>
              </a:rPr>
              <a:t>Backhus</a:t>
            </a:r>
            <a:r>
              <a:rPr kumimoji="1" lang="en-US" altLang="zh-TW" dirty="0">
                <a:latin typeface="Times New Roman" panose="02020603050405020304" pitchFamily="18" charset="0"/>
                <a:cs typeface="Times New Roman" panose="02020603050405020304" pitchFamily="18" charset="0"/>
              </a:rPr>
              <a:t>, H. Nonaka, T. Yoshikawa and M. Sugimoto, </a:t>
            </a:r>
          </a:p>
          <a:p>
            <a:r>
              <a:rPr kumimoji="1" lang="en-US" altLang="zh-TW" dirty="0">
                <a:latin typeface="Times New Roman" panose="02020603050405020304" pitchFamily="18" charset="0"/>
                <a:cs typeface="Times New Roman" panose="02020603050405020304" pitchFamily="18" charset="0"/>
              </a:rPr>
              <a:t>2013 IEEE 2nd Global Conference on Consumer Electronics (at Tokyo, Japan), 2013</a:t>
            </a:r>
            <a:endParaRPr kumimoji="1" lang="zh-TW" alt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22A5DE4-40CC-5144-89F0-861870F17BD1}"/>
              </a:ext>
            </a:extLst>
          </p:cNvPr>
          <p:cNvSpPr txBox="1"/>
          <p:nvPr/>
        </p:nvSpPr>
        <p:spPr>
          <a:xfrm>
            <a:off x="9043219" y="5563062"/>
            <a:ext cx="2352375"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Presenter: Yu-Yen Chu</a:t>
            </a:r>
          </a:p>
          <a:p>
            <a:r>
              <a:rPr lang="en-US" dirty="0">
                <a:latin typeface="Times New Roman" panose="02020603050405020304" pitchFamily="18" charset="0"/>
                <a:cs typeface="Times New Roman" panose="02020603050405020304" pitchFamily="18" charset="0"/>
              </a:rPr>
              <a:t>Date: Sep. 5, 2023</a:t>
            </a:r>
          </a:p>
        </p:txBody>
      </p:sp>
    </p:spTree>
    <p:extLst>
      <p:ext uri="{BB962C8B-B14F-4D97-AF65-F5344CB8AC3E}">
        <p14:creationId xmlns:p14="http://schemas.microsoft.com/office/powerpoint/2010/main" val="694280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pPr marL="0" indent="0">
              <a:buNone/>
            </a:pPr>
            <a:r>
              <a:rPr kumimoji="1" lang="en-US" altLang="zh-TW" dirty="0">
                <a:latin typeface="Times New Roman" panose="02020603050405020304" pitchFamily="18" charset="0"/>
                <a:cs typeface="Times New Roman" panose="02020603050405020304" pitchFamily="18" charset="0"/>
              </a:rPr>
              <a:t>This article proposes an application using a reinforcement learning (RL) approach to the card game Wizard. The aim is to create a computer player that is able to learn a winning strategy for the game by himself. Wizard is a partially observable competitive multiplayer game that consists of two game phases, forecasting and trick playing. The biggest challenges in creating a strong player are dealing with multiple rounds which have a different grade of imperfection and the decision on the forecast at the beginning of every game round.</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2</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111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Abstract (Cont.)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pPr marL="0" indent="0">
              <a:buNone/>
            </a:pPr>
            <a:r>
              <a:rPr kumimoji="1" lang="en-US" altLang="zh-TW" dirty="0">
                <a:latin typeface="Times New Roman" panose="02020603050405020304" pitchFamily="18" charset="0"/>
                <a:cs typeface="Times New Roman" panose="02020603050405020304" pitchFamily="18" charset="0"/>
              </a:rPr>
              <a:t>We introduce an RL approach to the problem by adopting an existing RL algorithm to the playing phase of the game and by implementing an evaluator of the player’s hand card using a Multi-Player-Perceptron to conduct the forecast. The results of our experiments show that the player is able to improve his playing strategy through learning. At the beginning the performance of the learning agent is very bad due to the bad forecasting behavior, but he is able to improve his performance over a few training episodes from 0% won games to approximately 25.68% won games in an experiment with 4 players. Therefore he plays equally strong as his opponents and even outperforms one of them.</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3</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0744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Wizard (card game)</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4"/>
            <a:ext cx="10817888" cy="5032375"/>
          </a:xfrm>
        </p:spPr>
        <p:txBody>
          <a:bodyPr>
            <a:normAutofit lnSpcReduction="10000"/>
          </a:bodyPr>
          <a:lstStyle/>
          <a:p>
            <a:r>
              <a:rPr kumimoji="1" lang="en-US" altLang="zh-TW" dirty="0">
                <a:latin typeface="Times New Roman" panose="02020603050405020304" pitchFamily="18" charset="0"/>
                <a:cs typeface="Times New Roman" panose="02020603050405020304" pitchFamily="18" charset="0"/>
              </a:rPr>
              <a:t>a trick-taking card game</a:t>
            </a:r>
          </a:p>
          <a:p>
            <a:r>
              <a:rPr kumimoji="1" lang="en-US" altLang="zh-TW" dirty="0">
                <a:latin typeface="Times New Roman" panose="02020603050405020304" pitchFamily="18" charset="0"/>
                <a:cs typeface="Times New Roman" panose="02020603050405020304" pitchFamily="18" charset="0"/>
              </a:rPr>
              <a:t>every player plays one card per round</a:t>
            </a:r>
          </a:p>
          <a:p>
            <a:r>
              <a:rPr kumimoji="1" lang="en-US" altLang="zh-TW" dirty="0">
                <a:latin typeface="Times New Roman" panose="02020603050405020304" pitchFamily="18" charset="0"/>
                <a:cs typeface="Times New Roman" panose="02020603050405020304" pitchFamily="18" charset="0"/>
              </a:rPr>
              <a:t>60 cards</a:t>
            </a:r>
          </a:p>
          <a:p>
            <a:pPr lvl="1"/>
            <a:r>
              <a:rPr kumimoji="1" lang="en-US" altLang="zh-TW" dirty="0">
                <a:latin typeface="Times New Roman" panose="02020603050405020304" pitchFamily="18" charset="0"/>
                <a:cs typeface="Times New Roman" panose="02020603050405020304" pitchFamily="18" charset="0"/>
              </a:rPr>
              <a:t>52 normal cards (4 suits, each suit has card number 1 to 13, 13 &gt; 12 &gt; … &gt; 1)</a:t>
            </a:r>
          </a:p>
          <a:p>
            <a:pPr lvl="1"/>
            <a:r>
              <a:rPr kumimoji="1" lang="en-US" altLang="zh-TW" dirty="0">
                <a:latin typeface="Times New Roman" panose="02020603050405020304" pitchFamily="18" charset="0"/>
                <a:cs typeface="Times New Roman" panose="02020603050405020304" pitchFamily="18" charset="0"/>
              </a:rPr>
              <a:t>4 Wizards (biggest card)</a:t>
            </a:r>
          </a:p>
          <a:p>
            <a:pPr lvl="1"/>
            <a:r>
              <a:rPr kumimoji="1" lang="en-US" altLang="zh-TW" dirty="0">
                <a:latin typeface="Times New Roman" panose="02020603050405020304" pitchFamily="18" charset="0"/>
                <a:cs typeface="Times New Roman" panose="02020603050405020304" pitchFamily="18" charset="0"/>
              </a:rPr>
              <a:t>4 Jesters (smallest card)</a:t>
            </a:r>
          </a:p>
          <a:p>
            <a:r>
              <a:rPr kumimoji="1" lang="en-US" altLang="zh-TW" dirty="0">
                <a:latin typeface="Times New Roman" panose="02020603050405020304" pitchFamily="18" charset="0"/>
                <a:cs typeface="Times New Roman" panose="02020603050405020304" pitchFamily="18" charset="0"/>
              </a:rPr>
              <a:t>3 to 6 players (4 players in this paper, so 15 rounds)</a:t>
            </a:r>
          </a:p>
          <a:p>
            <a:r>
              <a:rPr kumimoji="1" lang="en-US" altLang="zh-TW" dirty="0">
                <a:latin typeface="Times New Roman" panose="02020603050405020304" pitchFamily="18" charset="0"/>
                <a:cs typeface="Times New Roman" panose="02020603050405020304" pitchFamily="18" charset="0"/>
              </a:rPr>
              <a:t>bidding(predicting)</a:t>
            </a:r>
          </a:p>
          <a:p>
            <a:pPr lvl="1"/>
            <a:r>
              <a:rPr kumimoji="1" lang="en-US" altLang="zh-TW" dirty="0">
                <a:latin typeface="Times New Roman" panose="02020603050405020304" pitchFamily="18" charset="0"/>
                <a:cs typeface="Times New Roman" panose="02020603050405020304" pitchFamily="18" charset="0"/>
              </a:rPr>
              <a:t>Each player predicts the # of tricks he/she can get.</a:t>
            </a:r>
          </a:p>
          <a:p>
            <a:pPr lvl="1"/>
            <a:r>
              <a:rPr kumimoji="1" lang="en-US" altLang="zh-TW" dirty="0">
                <a:latin typeface="Times New Roman" panose="02020603050405020304" pitchFamily="18" charset="0"/>
                <a:cs typeface="Times New Roman" panose="02020603050405020304" pitchFamily="18" charset="0"/>
              </a:rPr>
              <a:t>Start from dealer’s left player,</a:t>
            </a:r>
            <a:r>
              <a:rPr kumimoji="1" lang="zh-TW" altLang="en-US" dirty="0">
                <a:latin typeface="Times New Roman" panose="02020603050405020304" pitchFamily="18" charset="0"/>
                <a:cs typeface="Times New Roman" panose="02020603050405020304" pitchFamily="18" charset="0"/>
              </a:rPr>
              <a:t> </a:t>
            </a:r>
            <a:r>
              <a:rPr kumimoji="1" lang="en-US" altLang="zh-TW" dirty="0">
                <a:latin typeface="Times New Roman" panose="02020603050405020304" pitchFamily="18" charset="0"/>
                <a:cs typeface="Times New Roman" panose="02020603050405020304" pitchFamily="18" charset="0"/>
              </a:rPr>
              <a:t>follows clockwise, ends with dealer.</a:t>
            </a:r>
          </a:p>
          <a:p>
            <a:pPr lvl="1"/>
            <a:r>
              <a:rPr kumimoji="1" lang="en-US" altLang="zh-TW" dirty="0">
                <a:latin typeface="Times New Roman" panose="02020603050405020304" pitchFamily="18" charset="0"/>
                <a:cs typeface="Times New Roman" panose="02020603050405020304" pitchFamily="18" charset="0"/>
              </a:rPr>
              <a:t>If prediction is correct, +(20 + 10 * # of tricks taken) points; </a:t>
            </a:r>
          </a:p>
          <a:p>
            <a:pPr marL="457200" lvl="1" indent="0">
              <a:buNone/>
            </a:pPr>
            <a:r>
              <a:rPr kumimoji="1" lang="en-US" altLang="zh-TW" dirty="0">
                <a:latin typeface="Times New Roman" panose="02020603050405020304" pitchFamily="18" charset="0"/>
                <a:cs typeface="Times New Roman" panose="02020603050405020304" pitchFamily="18" charset="0"/>
              </a:rPr>
              <a:t>   otherwise, -(10 * difference between # of tricks predicted and taken) points.</a:t>
            </a: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4</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3921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Wizard (card game)</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4"/>
            <a:ext cx="11353800" cy="5032375"/>
          </a:xfrm>
        </p:spPr>
        <p:txBody>
          <a:bodyPr/>
          <a:lstStyle/>
          <a:p>
            <a:r>
              <a:rPr kumimoji="1" lang="en-US" altLang="zh-TW" dirty="0">
                <a:latin typeface="Times New Roman" panose="02020603050405020304" pitchFamily="18" charset="0"/>
                <a:cs typeface="Times New Roman" panose="02020603050405020304" pitchFamily="18" charset="0"/>
              </a:rPr>
              <a:t>playing</a:t>
            </a:r>
          </a:p>
          <a:p>
            <a:pPr lvl="1"/>
            <a:r>
              <a:rPr kumimoji="1" lang="en-US" altLang="zh-TW" dirty="0">
                <a:latin typeface="Times New Roman" panose="02020603050405020304" pitchFamily="18" charset="0"/>
                <a:cs typeface="Times New Roman" panose="02020603050405020304" pitchFamily="18" charset="0"/>
              </a:rPr>
              <a:t>First round starts from dealer’s left player.</a:t>
            </a:r>
          </a:p>
          <a:p>
            <a:pPr lvl="1"/>
            <a:r>
              <a:rPr kumimoji="1" lang="en-US" altLang="zh-TW" dirty="0">
                <a:latin typeface="Times New Roman" panose="02020603050405020304" pitchFamily="18" charset="0"/>
                <a:cs typeface="Times New Roman" panose="02020603050405020304" pitchFamily="18" charset="0"/>
              </a:rPr>
              <a:t>The winner of previous round is next round’s first player.</a:t>
            </a:r>
          </a:p>
          <a:p>
            <a:pPr lvl="1"/>
            <a:r>
              <a:rPr kumimoji="1" lang="en-US" altLang="zh-TW" dirty="0">
                <a:latin typeface="Times New Roman" panose="02020603050405020304" pitchFamily="18" charset="0"/>
                <a:cs typeface="Times New Roman" panose="02020603050405020304" pitchFamily="18" charset="0"/>
              </a:rPr>
              <a:t>For each round:</a:t>
            </a:r>
          </a:p>
          <a:p>
            <a:pPr marL="457200" lvl="1" indent="0">
              <a:buNone/>
            </a:pPr>
            <a:r>
              <a:rPr kumimoji="1" lang="en-US" altLang="zh-TW" dirty="0">
                <a:latin typeface="Times New Roman" panose="02020603050405020304" pitchFamily="18" charset="0"/>
                <a:cs typeface="Times New Roman" panose="02020603050405020304" pitchFamily="18" charset="0"/>
              </a:rPr>
              <a:t>	If first card is a normal card, then rest of players have to play a normal card 	with same suit (if he/she has) or Wizard or Jester.</a:t>
            </a:r>
          </a:p>
          <a:p>
            <a:pPr marL="457200" lvl="1" indent="0">
              <a:buNone/>
            </a:pPr>
            <a:r>
              <a:rPr kumimoji="1" lang="en-US" altLang="zh-TW" dirty="0">
                <a:latin typeface="Times New Roman" panose="02020603050405020304" pitchFamily="18" charset="0"/>
                <a:cs typeface="Times New Roman" panose="02020603050405020304" pitchFamily="18" charset="0"/>
              </a:rPr>
              <a:t>	If first card is a Wizard, then rest of players can play any cards, but the first 	Wizard is seen as biggest.</a:t>
            </a:r>
          </a:p>
          <a:p>
            <a:pPr marL="457200" lvl="1" indent="0">
              <a:buNone/>
            </a:pPr>
            <a:r>
              <a:rPr kumimoji="1" lang="en-US" altLang="zh-TW" dirty="0">
                <a:latin typeface="Times New Roman" panose="02020603050405020304" pitchFamily="18" charset="0"/>
                <a:cs typeface="Times New Roman" panose="02020603050405020304" pitchFamily="18" charset="0"/>
              </a:rPr>
              <a:t>	If first card is a Jester, the first normal card been played is the suit that the rest of 	players have to follow if they play a normal card (Wizard or Jester can be played).</a:t>
            </a:r>
          </a:p>
          <a:p>
            <a:pPr marL="457200" lvl="1" indent="0">
              <a:buNone/>
            </a:pPr>
            <a:r>
              <a:rPr kumimoji="1" lang="en-US" altLang="zh-TW" dirty="0">
                <a:latin typeface="Times New Roman" panose="02020603050405020304" pitchFamily="18" charset="0"/>
                <a:cs typeface="Times New Roman" panose="02020603050405020304" pitchFamily="18" charset="0"/>
              </a:rPr>
              <a:t>	If first card is Jester and second card is Wizard, then all cards can be followed.</a:t>
            </a:r>
          </a:p>
          <a:p>
            <a:pPr marL="457200" lvl="1" indent="0">
              <a:buNone/>
            </a:pPr>
            <a:r>
              <a:rPr kumimoji="1" lang="en-US" altLang="zh-TW" dirty="0">
                <a:latin typeface="Times New Roman" panose="02020603050405020304" pitchFamily="18" charset="0"/>
                <a:cs typeface="Times New Roman" panose="02020603050405020304" pitchFamily="18" charset="0"/>
              </a:rPr>
              <a:t> 	(If all four cards are Jesters in same round, the first Jester is the biggest.)</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5</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263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Model</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654807"/>
            <a:ext cx="10515600" cy="5368991"/>
          </a:xfrm>
        </p:spPr>
        <p:txBody>
          <a:bodyPr>
            <a:normAutofit/>
          </a:bodyPr>
          <a:lstStyle/>
          <a:p>
            <a:r>
              <a:rPr kumimoji="1" lang="en-US" altLang="zh-TW" dirty="0">
                <a:latin typeface="Times New Roman" panose="02020603050405020304" pitchFamily="18" charset="0"/>
                <a:cs typeface="Times New Roman" panose="02020603050405020304" pitchFamily="18" charset="0"/>
              </a:rPr>
              <a:t>In playing section, a state evaluator to choose an action.</a:t>
            </a:r>
          </a:p>
          <a:p>
            <a:r>
              <a:rPr kumimoji="1" lang="en-US" altLang="zh-TW" dirty="0">
                <a:latin typeface="Times New Roman" panose="02020603050405020304" pitchFamily="18" charset="0"/>
                <a:cs typeface="Times New Roman" panose="02020603050405020304" pitchFamily="18" charset="0"/>
              </a:rPr>
              <a:t>multi-layer perceptron(MLP) + reinforcement learning</a:t>
            </a:r>
          </a:p>
          <a:p>
            <a:pPr marL="0" indent="0">
              <a:buNone/>
            </a:pPr>
            <a:r>
              <a:rPr kumimoji="1" lang="en-US" altLang="zh-TW" dirty="0">
                <a:latin typeface="Times New Roman" panose="02020603050405020304" pitchFamily="18" charset="0"/>
                <a:cs typeface="Times New Roman" panose="02020603050405020304" pitchFamily="18" charset="0"/>
              </a:rPr>
              <a:t>   = deep reinforcement learning (NN + RL)</a:t>
            </a:r>
          </a:p>
          <a:p>
            <a:pPr lvl="1"/>
            <a:r>
              <a:rPr kumimoji="1" lang="en-US" altLang="zh-TW" dirty="0">
                <a:latin typeface="Times New Roman" panose="02020603050405020304" pitchFamily="18" charset="0"/>
                <a:cs typeface="Times New Roman" panose="02020603050405020304" pitchFamily="18" charset="0"/>
              </a:rPr>
              <a:t>neural network: state as input, action as output</a:t>
            </a:r>
          </a:p>
          <a:p>
            <a:pPr lvl="1"/>
            <a:r>
              <a:rPr kumimoji="1" lang="en-US" altLang="zh-TW" dirty="0">
                <a:latin typeface="Times New Roman" panose="02020603050405020304" pitchFamily="18" charset="0"/>
                <a:cs typeface="Times New Roman" panose="02020603050405020304" pitchFamily="18" charset="0"/>
              </a:rPr>
              <a:t>use reward and gradient descent to train NN(state evaluator)</a:t>
            </a:r>
          </a:p>
          <a:p>
            <a:r>
              <a:rPr kumimoji="1" lang="en-US" altLang="zh-TW" dirty="0">
                <a:latin typeface="Times New Roman" panose="02020603050405020304" pitchFamily="18" charset="0"/>
                <a:cs typeface="Times New Roman" panose="02020603050405020304" pitchFamily="18" charset="0"/>
              </a:rPr>
              <a:t>features</a:t>
            </a:r>
          </a:p>
          <a:p>
            <a:pPr lvl="1"/>
            <a:r>
              <a:rPr kumimoji="1" lang="en-US" altLang="zh-TW" dirty="0">
                <a:latin typeface="Times New Roman" panose="02020603050405020304" pitchFamily="18" charset="0"/>
                <a:cs typeface="Times New Roman" panose="02020603050405020304" pitchFamily="18" charset="0"/>
              </a:rPr>
              <a:t># of Wizards, # of Jesters</a:t>
            </a:r>
          </a:p>
          <a:p>
            <a:pPr lvl="1"/>
            <a:r>
              <a:rPr kumimoji="1" lang="en-US" altLang="zh-TW" dirty="0">
                <a:latin typeface="Times New Roman" panose="02020603050405020304" pitchFamily="18" charset="0"/>
                <a:cs typeface="Times New Roman" panose="02020603050405020304" pitchFamily="18" charset="0"/>
              </a:rPr>
              <a:t># of cards of trump suit stronger/weaker than the strongest card in current trick</a:t>
            </a:r>
          </a:p>
          <a:p>
            <a:pPr lvl="1"/>
            <a:r>
              <a:rPr kumimoji="1" lang="en-US" altLang="zh-TW" dirty="0">
                <a:latin typeface="Times New Roman" panose="02020603050405020304" pitchFamily="18" charset="0"/>
                <a:cs typeface="Times New Roman" panose="02020603050405020304" pitchFamily="18" charset="0"/>
              </a:rPr>
              <a:t># of cards of other first/second/third suit</a:t>
            </a:r>
          </a:p>
          <a:p>
            <a:pPr lvl="1"/>
            <a:r>
              <a:rPr kumimoji="1" lang="en-US" altLang="zh-TW" dirty="0">
                <a:latin typeface="Times New Roman" panose="02020603050405020304" pitchFamily="18" charset="0"/>
                <a:cs typeface="Times New Roman" panose="02020603050405020304" pitchFamily="18" charset="0"/>
              </a:rPr>
              <a:t># of tricks still need to be won</a:t>
            </a:r>
          </a:p>
          <a:p>
            <a:pPr lvl="1"/>
            <a:r>
              <a:rPr kumimoji="1" lang="en-US" altLang="zh-TW" dirty="0">
                <a:latin typeface="Times New Roman" panose="02020603050405020304" pitchFamily="18" charset="0"/>
                <a:cs typeface="Times New Roman" panose="02020603050405020304" pitchFamily="18" charset="0"/>
              </a:rPr>
              <a:t>trump color</a:t>
            </a:r>
          </a:p>
          <a:p>
            <a:pPr lvl="1"/>
            <a:r>
              <a:rPr kumimoji="1" lang="en-US" altLang="zh-TW" dirty="0">
                <a:latin typeface="Times New Roman" panose="02020603050405020304" pitchFamily="18" charset="0"/>
                <a:cs typeface="Times New Roman" panose="02020603050405020304" pitchFamily="18" charset="0"/>
              </a:rPr>
              <a:t>bit sequence for the playing order</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6</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8748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Model</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5"/>
            <a:ext cx="10697308" cy="4351338"/>
          </a:xfrm>
        </p:spPr>
        <p:txBody>
          <a:bodyPr/>
          <a:lstStyle/>
          <a:p>
            <a:r>
              <a:rPr kumimoji="1" lang="en-US" altLang="zh-TW" dirty="0">
                <a:latin typeface="Times New Roman" panose="02020603050405020304" pitchFamily="18" charset="0"/>
                <a:cs typeface="Times New Roman" panose="02020603050405020304" pitchFamily="18" charset="0"/>
              </a:rPr>
              <a:t>three opponents’ agent action predictors</a:t>
            </a:r>
          </a:p>
          <a:p>
            <a:r>
              <a:rPr kumimoji="1" lang="en-US" altLang="zh-TW" dirty="0">
                <a:latin typeface="Times New Roman" panose="02020603050405020304" pitchFamily="18" charset="0"/>
                <a:cs typeface="Times New Roman" panose="02020603050405020304" pitchFamily="18" charset="0"/>
              </a:rPr>
              <a:t>features</a:t>
            </a:r>
          </a:p>
          <a:p>
            <a:pPr lvl="1"/>
            <a:r>
              <a:rPr kumimoji="1" lang="en-US" altLang="zh-TW" dirty="0">
                <a:latin typeface="Times New Roman" panose="02020603050405020304" pitchFamily="18" charset="0"/>
                <a:cs typeface="Times New Roman" panose="02020603050405020304" pitchFamily="18" charset="0"/>
              </a:rPr>
              <a:t># of cards of first suit stronger/weaker than the strongest card in current trick</a:t>
            </a:r>
          </a:p>
          <a:p>
            <a:pPr lvl="1"/>
            <a:r>
              <a:rPr kumimoji="1" lang="en-US" altLang="zh-TW" dirty="0">
                <a:latin typeface="Times New Roman" panose="02020603050405020304" pitchFamily="18" charset="0"/>
                <a:cs typeface="Times New Roman" panose="02020603050405020304" pitchFamily="18" charset="0"/>
              </a:rPr>
              <a:t># of cards of second suit stronger/weaker than the strongest card in current trick</a:t>
            </a:r>
            <a:endParaRPr kumimoji="1" lang="zh-TW" altLang="en-US"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 of cards of third suit stronger/weaker than the strongest card in current trick</a:t>
            </a:r>
            <a:endParaRPr kumimoji="1" lang="zh-TW" altLang="en-US"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 of cards of fourth suit stronger/weaker than the strongest card in current trick</a:t>
            </a:r>
            <a:endParaRPr kumimoji="1" lang="zh-TW" altLang="en-US"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 of Wizards/Jesters</a:t>
            </a:r>
          </a:p>
          <a:p>
            <a:pPr lvl="1"/>
            <a:r>
              <a:rPr kumimoji="1" lang="en-US" altLang="zh-TW" dirty="0">
                <a:latin typeface="Times New Roman" panose="02020603050405020304" pitchFamily="18" charset="0"/>
                <a:cs typeface="Times New Roman" panose="02020603050405020304" pitchFamily="18" charset="0"/>
              </a:rPr>
              <a:t>if the strongest card in current trick is Wizard or not</a:t>
            </a:r>
          </a:p>
          <a:p>
            <a:pPr lvl="1"/>
            <a:r>
              <a:rPr kumimoji="1" lang="en-US" altLang="zh-TW" dirty="0">
                <a:latin typeface="Times New Roman" panose="02020603050405020304" pitchFamily="18" charset="0"/>
                <a:cs typeface="Times New Roman" panose="02020603050405020304" pitchFamily="18" charset="0"/>
              </a:rPr>
              <a:t># of tricks still need to be won</a:t>
            </a:r>
          </a:p>
          <a:p>
            <a:pPr lvl="1"/>
            <a:r>
              <a:rPr kumimoji="1" lang="en-US" altLang="zh-TW" dirty="0">
                <a:latin typeface="Times New Roman" panose="02020603050405020304" pitchFamily="18" charset="0"/>
                <a:cs typeface="Times New Roman" panose="02020603050405020304" pitchFamily="18" charset="0"/>
              </a:rPr>
              <a:t>bit sequence for the playing order</a:t>
            </a: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7</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2702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Model</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4"/>
            <a:ext cx="10515600" cy="5032375"/>
          </a:xfrm>
        </p:spPr>
        <p:txBody>
          <a:bodyPr>
            <a:normAutofit/>
          </a:bodyPr>
          <a:lstStyle/>
          <a:p>
            <a:r>
              <a:rPr kumimoji="1" lang="en-US" altLang="zh-TW" dirty="0">
                <a:latin typeface="Times New Roman" panose="02020603050405020304" pitchFamily="18" charset="0"/>
                <a:cs typeface="Times New Roman" panose="02020603050405020304" pitchFamily="18" charset="0"/>
              </a:rPr>
              <a:t>In predicting section, a MLP(NN) is trained with RL to predict winning tricks in a round.</a:t>
            </a:r>
          </a:p>
          <a:p>
            <a:r>
              <a:rPr kumimoji="1" lang="en-US" altLang="zh-TW" dirty="0">
                <a:latin typeface="Times New Roman" panose="02020603050405020304" pitchFamily="18" charset="0"/>
                <a:cs typeface="Times New Roman" panose="02020603050405020304" pitchFamily="18" charset="0"/>
              </a:rPr>
              <a:t>features</a:t>
            </a:r>
          </a:p>
          <a:p>
            <a:pPr lvl="1"/>
            <a:r>
              <a:rPr kumimoji="1" lang="en-US" altLang="zh-TW" dirty="0">
                <a:latin typeface="Times New Roman" panose="02020603050405020304" pitchFamily="18" charset="0"/>
                <a:cs typeface="Times New Roman" panose="02020603050405020304" pitchFamily="18" charset="0"/>
              </a:rPr>
              <a:t># of Wizards/Jesters</a:t>
            </a:r>
          </a:p>
          <a:p>
            <a:pPr lvl="1"/>
            <a:r>
              <a:rPr kumimoji="1" lang="en-US" altLang="zh-TW" dirty="0">
                <a:latin typeface="Times New Roman" panose="02020603050405020304" pitchFamily="18" charset="0"/>
                <a:cs typeface="Times New Roman" panose="02020603050405020304" pitchFamily="18" charset="0"/>
              </a:rPr>
              <a:t># of cards of trump suit bigger than 10/bigger than 6/equal to or smaller than 6</a:t>
            </a:r>
          </a:p>
          <a:p>
            <a:pPr lvl="1"/>
            <a:r>
              <a:rPr kumimoji="1" lang="en-US" altLang="zh-TW" dirty="0">
                <a:latin typeface="Times New Roman" panose="02020603050405020304" pitchFamily="18" charset="0"/>
                <a:cs typeface="Times New Roman" panose="02020603050405020304" pitchFamily="18" charset="0"/>
              </a:rPr>
              <a:t># of cards of other suits bigger than 10/bigger than 6/equal to or smaller than 6</a:t>
            </a:r>
            <a:endParaRPr kumimoji="1" lang="zh-TW" altLang="en-US" dirty="0">
              <a:latin typeface="Times New Roman" panose="02020603050405020304" pitchFamily="18" charset="0"/>
              <a:cs typeface="Times New Roman" panose="02020603050405020304" pitchFamily="18" charset="0"/>
            </a:endParaRPr>
          </a:p>
          <a:p>
            <a:pPr lvl="1"/>
            <a:r>
              <a:rPr kumimoji="1" lang="en-US" altLang="zh-TW" dirty="0">
                <a:latin typeface="Times New Roman" panose="02020603050405020304" pitchFamily="18" charset="0"/>
                <a:cs typeface="Times New Roman" panose="02020603050405020304" pitchFamily="18" charset="0"/>
              </a:rPr>
              <a:t>trump color</a:t>
            </a:r>
          </a:p>
          <a:p>
            <a:pPr lvl="1"/>
            <a:r>
              <a:rPr kumimoji="1" lang="en-US" altLang="zh-TW" dirty="0">
                <a:latin typeface="Times New Roman" panose="02020603050405020304" pitchFamily="18" charset="0"/>
                <a:cs typeface="Times New Roman" panose="02020603050405020304" pitchFamily="18" charset="0"/>
              </a:rPr>
              <a:t>if plays first card or not</a:t>
            </a:r>
          </a:p>
          <a:p>
            <a:r>
              <a:rPr kumimoji="1" lang="en-US" altLang="zh-TW" dirty="0">
                <a:latin typeface="Times New Roman" panose="02020603050405020304" pitchFamily="18" charset="0"/>
                <a:cs typeface="Times New Roman" panose="02020603050405020304" pitchFamily="18" charset="0"/>
              </a:rPr>
              <a:t>rule-based method + MLP &amp; RL method of whole game’s prediction</a:t>
            </a:r>
          </a:p>
          <a:p>
            <a:pPr lvl="1"/>
            <a:r>
              <a:rPr kumimoji="1" lang="en-US" altLang="zh-TW" dirty="0">
                <a:latin typeface="Times New Roman" panose="02020603050405020304" pitchFamily="18" charset="0"/>
                <a:cs typeface="Times New Roman" panose="02020603050405020304" pitchFamily="18" charset="0"/>
              </a:rPr>
              <a:t>Both methods are tested in each round.</a:t>
            </a:r>
          </a:p>
          <a:p>
            <a:pPr lvl="1"/>
            <a:r>
              <a:rPr kumimoji="1" lang="en-US" altLang="zh-TW" dirty="0">
                <a:latin typeface="Times New Roman" panose="02020603050405020304" pitchFamily="18" charset="0"/>
                <a:cs typeface="Times New Roman" panose="02020603050405020304" pitchFamily="18" charset="0"/>
              </a:rPr>
              <a:t>In a 4-player game, rule-based method performs better in first 8 round; MLP &amp; RL method performs better in the latter. </a:t>
            </a: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8</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7441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Experiment &amp; Result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p:txBody>
          <a:bodyPr/>
          <a:lstStyle/>
          <a:p>
            <a:r>
              <a:rPr kumimoji="1" lang="en-US" altLang="zh-TW" dirty="0">
                <a:latin typeface="Times New Roman" panose="02020603050405020304" pitchFamily="18" charset="0"/>
                <a:cs typeface="Times New Roman" panose="02020603050405020304" pitchFamily="18" charset="0"/>
              </a:rPr>
              <a:t>In an experiment:</a:t>
            </a:r>
          </a:p>
          <a:p>
            <a:pPr lvl="1"/>
            <a:r>
              <a:rPr kumimoji="1" lang="en-US" altLang="zh-TW" dirty="0">
                <a:latin typeface="Times New Roman" panose="02020603050405020304" pitchFamily="18" charset="0"/>
                <a:cs typeface="Times New Roman" panose="02020603050405020304" pitchFamily="18" charset="0"/>
              </a:rPr>
              <a:t>20 test runs</a:t>
            </a:r>
          </a:p>
          <a:p>
            <a:pPr lvl="1"/>
            <a:r>
              <a:rPr kumimoji="1" lang="en-US" altLang="zh-TW" dirty="0">
                <a:latin typeface="Times New Roman" panose="02020603050405020304" pitchFamily="18" charset="0"/>
                <a:cs typeface="Times New Roman" panose="02020603050405020304" pitchFamily="18" charset="0"/>
              </a:rPr>
              <a:t>10 learning phases and 11 evaluating phases per run</a:t>
            </a:r>
          </a:p>
          <a:p>
            <a:pPr lvl="1"/>
            <a:r>
              <a:rPr kumimoji="1" lang="en-US" altLang="zh-TW" dirty="0">
                <a:latin typeface="Times New Roman" panose="02020603050405020304" pitchFamily="18" charset="0"/>
                <a:cs typeface="Times New Roman" panose="02020603050405020304" pitchFamily="18" charset="0"/>
              </a:rPr>
              <a:t>500 games per learning phase</a:t>
            </a:r>
          </a:p>
          <a:p>
            <a:pPr lvl="1"/>
            <a:r>
              <a:rPr kumimoji="1" lang="en-US" altLang="zh-TW" dirty="0">
                <a:latin typeface="Times New Roman" panose="02020603050405020304" pitchFamily="18" charset="0"/>
                <a:cs typeface="Times New Roman" panose="02020603050405020304" pitchFamily="18" charset="0"/>
              </a:rPr>
              <a:t>400 games per evaluating phase</a:t>
            </a:r>
          </a:p>
          <a:p>
            <a:pPr lvl="1"/>
            <a:r>
              <a:rPr kumimoji="1" lang="en-US" altLang="zh-TW" dirty="0">
                <a:latin typeface="Times New Roman" panose="02020603050405020304" pitchFamily="18" charset="0"/>
                <a:cs typeface="Times New Roman" panose="02020603050405020304" pitchFamily="18" charset="0"/>
              </a:rPr>
              <a:t>100 card distributions are created and 4 different dealers in evaluating phase</a:t>
            </a:r>
          </a:p>
          <a:p>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9</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1400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Experiment &amp; Result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4"/>
            <a:ext cx="10515600" cy="5032375"/>
          </a:xfrm>
        </p:spPr>
        <p:txBody>
          <a:bodyPr>
            <a:normAutofit lnSpcReduction="10000"/>
          </a:bodyPr>
          <a:lstStyle/>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the percentage of won games in 11 evaluating phases</a:t>
            </a:r>
          </a:p>
          <a:p>
            <a:r>
              <a:rPr kumimoji="1" lang="en-US" altLang="zh-TW" dirty="0">
                <a:latin typeface="Times New Roman" panose="02020603050405020304" pitchFamily="18" charset="0"/>
                <a:cs typeface="Times New Roman" panose="02020603050405020304" pitchFamily="18" charset="0"/>
              </a:rPr>
              <a:t>Learning agent is trained, other three agents are rule-based.</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10</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14D4420F-B76C-3B48-BEE1-DD66C35702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3175" y="1565866"/>
            <a:ext cx="5705649" cy="4015993"/>
          </a:xfrm>
          <a:prstGeom prst="rect">
            <a:avLst/>
          </a:prstGeom>
        </p:spPr>
      </p:pic>
    </p:spTree>
    <p:extLst>
      <p:ext uri="{BB962C8B-B14F-4D97-AF65-F5344CB8AC3E}">
        <p14:creationId xmlns:p14="http://schemas.microsoft.com/office/powerpoint/2010/main" val="921303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C4FA511-33BF-D547-842C-C50092A62F6C}"/>
              </a:ext>
            </a:extLst>
          </p:cNvPr>
          <p:cNvSpPr>
            <a:spLocks noGrp="1"/>
          </p:cNvSpPr>
          <p:nvPr>
            <p:ph type="title"/>
          </p:nvPr>
        </p:nvSpPr>
        <p:spPr/>
        <p:txBody>
          <a:bodyPr/>
          <a:lstStyle/>
          <a:p>
            <a:r>
              <a:rPr kumimoji="1" lang="en-US" altLang="zh-TW" dirty="0">
                <a:latin typeface="Times New Roman" panose="02020603050405020304" pitchFamily="18" charset="0"/>
                <a:cs typeface="Times New Roman" panose="02020603050405020304" pitchFamily="18" charset="0"/>
              </a:rPr>
              <a:t>Experiment &amp; Result</a:t>
            </a:r>
            <a:endParaRPr kumimoji="1"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FDBA7692-A0C6-5C4A-A230-F72A3B531FB3}"/>
              </a:ext>
            </a:extLst>
          </p:cNvPr>
          <p:cNvSpPr>
            <a:spLocks noGrp="1"/>
          </p:cNvSpPr>
          <p:nvPr>
            <p:ph idx="1"/>
          </p:nvPr>
        </p:nvSpPr>
        <p:spPr>
          <a:xfrm>
            <a:off x="838200" y="1825624"/>
            <a:ext cx="10515600" cy="5032375"/>
          </a:xfrm>
        </p:spPr>
        <p:txBody>
          <a:bodyPr/>
          <a:lstStyle/>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endParaRPr kumimoji="1" lang="en-US" altLang="zh-TW" dirty="0">
              <a:latin typeface="Times New Roman" panose="02020603050405020304" pitchFamily="18" charset="0"/>
              <a:cs typeface="Times New Roman" panose="02020603050405020304" pitchFamily="18" charset="0"/>
            </a:endParaRPr>
          </a:p>
          <a:p>
            <a:r>
              <a:rPr kumimoji="1" lang="en-US" altLang="zh-TW" dirty="0">
                <a:latin typeface="Times New Roman" panose="02020603050405020304" pitchFamily="18" charset="0"/>
                <a:cs typeface="Times New Roman" panose="02020603050405020304" pitchFamily="18" charset="0"/>
              </a:rPr>
              <a:t>the percentage of won games in each round by learning agent.</a:t>
            </a:r>
          </a:p>
          <a:p>
            <a:r>
              <a:rPr kumimoji="1" lang="en-US" altLang="zh-TW" dirty="0">
                <a:latin typeface="Times New Roman" panose="02020603050405020304" pitchFamily="18" charset="0"/>
                <a:cs typeface="Times New Roman" panose="02020603050405020304" pitchFamily="18" charset="0"/>
              </a:rPr>
              <a:t>Each game round is played separately.</a:t>
            </a:r>
            <a:endParaRPr kumimoji="1"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045F7FAE-828A-9645-AE74-3EB42F8A9303}"/>
              </a:ext>
            </a:extLst>
          </p:cNvPr>
          <p:cNvSpPr>
            <a:spLocks noGrp="1"/>
          </p:cNvSpPr>
          <p:nvPr>
            <p:ph type="sldNum" sz="quarter" idx="12"/>
          </p:nvPr>
        </p:nvSpPr>
        <p:spPr>
          <a:xfrm>
            <a:off x="9005454" y="6176963"/>
            <a:ext cx="2743200" cy="365125"/>
          </a:xfrm>
        </p:spPr>
        <p:txBody>
          <a:bodyPr/>
          <a:lstStyle/>
          <a:p>
            <a:fld id="{4D3438DB-761D-074D-B0E1-4712B8233672}" type="slidenum">
              <a:rPr kumimoji="1" lang="zh-TW" altLang="en-US" sz="2000" smtClean="0">
                <a:solidFill>
                  <a:schemeClr val="tx1"/>
                </a:solidFill>
                <a:latin typeface="Times New Roman" panose="02020603050405020304" pitchFamily="18" charset="0"/>
                <a:cs typeface="Times New Roman" panose="02020603050405020304" pitchFamily="18" charset="0"/>
              </a:rPr>
              <a:t>11</a:t>
            </a:fld>
            <a:endParaRPr kumimoji="1" lang="zh-TW" altLang="en-US" sz="2000" dirty="0">
              <a:solidFill>
                <a:schemeClr val="tx1"/>
              </a:solidFill>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38BD1DE8-4674-6745-8D6E-1B522BA08F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3129" y="1431314"/>
            <a:ext cx="5825741" cy="3993747"/>
          </a:xfrm>
          <a:prstGeom prst="rect">
            <a:avLst/>
          </a:prstGeom>
        </p:spPr>
      </p:pic>
    </p:spTree>
    <p:extLst>
      <p:ext uri="{BB962C8B-B14F-4D97-AF65-F5344CB8AC3E}">
        <p14:creationId xmlns:p14="http://schemas.microsoft.com/office/powerpoint/2010/main" val="341795715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1209</TotalTime>
  <Words>1000</Words>
  <Application>Microsoft Macintosh PowerPoint</Application>
  <PresentationFormat>寬螢幕</PresentationFormat>
  <Paragraphs>106</Paragraphs>
  <Slides>11</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11</vt:i4>
      </vt:variant>
    </vt:vector>
  </HeadingPairs>
  <TitlesOfParts>
    <vt:vector size="17" baseType="lpstr">
      <vt:lpstr>新細明體</vt:lpstr>
      <vt:lpstr>Arial</vt:lpstr>
      <vt:lpstr>Calibri</vt:lpstr>
      <vt:lpstr>Calibri Light</vt:lpstr>
      <vt:lpstr>Times New Roman</vt:lpstr>
      <vt:lpstr>Office 佈景主題</vt:lpstr>
      <vt:lpstr>Application of Reinforcement Learning to the Card Game Wizard</vt:lpstr>
      <vt:lpstr>Abstract</vt:lpstr>
      <vt:lpstr>Abstract (Cont.)</vt:lpstr>
      <vt:lpstr>Wizard (card game)</vt:lpstr>
      <vt:lpstr>Wizard (card game)</vt:lpstr>
      <vt:lpstr>Model</vt:lpstr>
      <vt:lpstr>Model</vt:lpstr>
      <vt:lpstr>Model</vt:lpstr>
      <vt:lpstr>Experiment &amp; Result</vt:lpstr>
      <vt:lpstr>Experiment &amp; Result</vt:lpstr>
      <vt:lpstr>Experiment &amp; Result</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Microsoft Office 使用者</dc:creator>
  <cp:lastModifiedBy>Microsoft Office 使用者</cp:lastModifiedBy>
  <cp:revision>48</cp:revision>
  <dcterms:created xsi:type="dcterms:W3CDTF">2023-01-02T07:42:35Z</dcterms:created>
  <dcterms:modified xsi:type="dcterms:W3CDTF">2023-09-05T07:53:45Z</dcterms:modified>
</cp:coreProperties>
</file>