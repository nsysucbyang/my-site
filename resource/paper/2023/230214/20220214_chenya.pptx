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
  </p:notesMasterIdLst>
  <p:sldIdLst>
    <p:sldId id="256" r:id="rId2"/>
    <p:sldId id="257" r:id="rId3"/>
    <p:sldId id="258" r:id="rId4"/>
    <p:sldId id="266" r:id="rId5"/>
    <p:sldId id="260" r:id="rId6"/>
    <p:sldId id="265" r:id="rId7"/>
    <p:sldId id="267" r:id="rId8"/>
    <p:sldId id="268" r:id="rId9"/>
    <p:sldId id="261"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99"/>
  </p:normalViewPr>
  <p:slideViewPr>
    <p:cSldViewPr snapToGrid="0" snapToObjects="1">
      <p:cViewPr varScale="1">
        <p:scale>
          <a:sx n="103" d="100"/>
          <a:sy n="103" d="100"/>
        </p:scale>
        <p:origin x="8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BFA1E-9779-A64B-B4E3-C0E49B8D41D4}" type="datetimeFigureOut">
              <a:rPr kumimoji="1" lang="zh-TW" altLang="en-US" smtClean="0"/>
              <a:t>2023/2/14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C63CC-5E5C-E544-BA0A-9EB80D6A360F}" type="slidenum">
              <a:rPr kumimoji="1" lang="zh-TW" altLang="en-US" smtClean="0"/>
              <a:t>‹#›</a:t>
            </a:fld>
            <a:endParaRPr kumimoji="1" lang="zh-TW" altLang="en-US"/>
          </a:p>
        </p:txBody>
      </p:sp>
    </p:spTree>
    <p:extLst>
      <p:ext uri="{BB962C8B-B14F-4D97-AF65-F5344CB8AC3E}">
        <p14:creationId xmlns:p14="http://schemas.microsoft.com/office/powerpoint/2010/main" val="1551628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9DC63CC-5E5C-E544-BA0A-9EB80D6A360F}" type="slidenum">
              <a:rPr kumimoji="1" lang="zh-TW" altLang="en-US" smtClean="0"/>
              <a:t>7</a:t>
            </a:fld>
            <a:endParaRPr kumimoji="1" lang="zh-TW" altLang="en-US"/>
          </a:p>
        </p:txBody>
      </p:sp>
    </p:spTree>
    <p:extLst>
      <p:ext uri="{BB962C8B-B14F-4D97-AF65-F5344CB8AC3E}">
        <p14:creationId xmlns:p14="http://schemas.microsoft.com/office/powerpoint/2010/main" val="1871325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EB283B2-23F9-0C41-9417-ECF10BBEEF36}"/>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2C00F18-F297-5F47-8D2F-F5F506EF58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A29418BF-914D-CE4F-8197-FFD1F979886E}"/>
              </a:ext>
            </a:extLst>
          </p:cNvPr>
          <p:cNvSpPr>
            <a:spLocks noGrp="1"/>
          </p:cNvSpPr>
          <p:nvPr>
            <p:ph type="dt" sz="half" idx="10"/>
          </p:nvPr>
        </p:nvSpPr>
        <p:spPr/>
        <p:txBody>
          <a:bodyPr/>
          <a:lstStyle/>
          <a:p>
            <a:fld id="{5533375D-9F9C-DB42-91F1-FE64797DC539}" type="datetime1">
              <a:rPr kumimoji="1" lang="zh-TW" altLang="en-US" smtClean="0"/>
              <a:t>2023/2/14</a:t>
            </a:fld>
            <a:endParaRPr kumimoji="1" lang="zh-TW" altLang="en-US"/>
          </a:p>
        </p:txBody>
      </p:sp>
      <p:sp>
        <p:nvSpPr>
          <p:cNvPr id="5" name="頁尾版面配置區 4">
            <a:extLst>
              <a:ext uri="{FF2B5EF4-FFF2-40B4-BE49-F238E27FC236}">
                <a16:creationId xmlns:a16="http://schemas.microsoft.com/office/drawing/2014/main" id="{D88CEBE5-E31E-C847-8CF9-5666783C0FF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6CE161F-33BB-F048-A3F7-8E7AB13DBE5E}"/>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2723574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2C3FBC-ACFC-F347-B96C-38530BBF112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DCE5093B-6B34-3A45-8DD3-167D7469555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1BCE8656-E180-8442-A4FD-98058B5145BE}"/>
              </a:ext>
            </a:extLst>
          </p:cNvPr>
          <p:cNvSpPr>
            <a:spLocks noGrp="1"/>
          </p:cNvSpPr>
          <p:nvPr>
            <p:ph type="dt" sz="half" idx="10"/>
          </p:nvPr>
        </p:nvSpPr>
        <p:spPr/>
        <p:txBody>
          <a:bodyPr/>
          <a:lstStyle/>
          <a:p>
            <a:fld id="{83E55AB8-F3C2-4346-9A49-8304831ED5DD}" type="datetime1">
              <a:rPr kumimoji="1" lang="zh-TW" altLang="en-US" smtClean="0"/>
              <a:t>2023/2/14</a:t>
            </a:fld>
            <a:endParaRPr kumimoji="1" lang="zh-TW" altLang="en-US"/>
          </a:p>
        </p:txBody>
      </p:sp>
      <p:sp>
        <p:nvSpPr>
          <p:cNvPr id="5" name="頁尾版面配置區 4">
            <a:extLst>
              <a:ext uri="{FF2B5EF4-FFF2-40B4-BE49-F238E27FC236}">
                <a16:creationId xmlns:a16="http://schemas.microsoft.com/office/drawing/2014/main" id="{7A4C4D5C-AAF7-3C46-9853-A9849E7E0A96}"/>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080FEC4-F2EB-CC4B-AC2C-2A43FE4020D9}"/>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1645417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DE1E36-5717-104E-8CD7-3E3CCC5074C5}"/>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F4DD039-AF6D-C842-A2A1-1C86E5A8F8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4037ACD4-917B-CC47-B0C2-9E454ABF6A10}"/>
              </a:ext>
            </a:extLst>
          </p:cNvPr>
          <p:cNvSpPr>
            <a:spLocks noGrp="1"/>
          </p:cNvSpPr>
          <p:nvPr>
            <p:ph type="dt" sz="half" idx="10"/>
          </p:nvPr>
        </p:nvSpPr>
        <p:spPr/>
        <p:txBody>
          <a:bodyPr/>
          <a:lstStyle/>
          <a:p>
            <a:fld id="{940A06EA-0F0A-2D47-BF06-1BB310DF32C3}" type="datetime1">
              <a:rPr kumimoji="1" lang="zh-TW" altLang="en-US" smtClean="0"/>
              <a:t>2023/2/14</a:t>
            </a:fld>
            <a:endParaRPr kumimoji="1" lang="zh-TW" altLang="en-US"/>
          </a:p>
        </p:txBody>
      </p:sp>
      <p:sp>
        <p:nvSpPr>
          <p:cNvPr id="5" name="頁尾版面配置區 4">
            <a:extLst>
              <a:ext uri="{FF2B5EF4-FFF2-40B4-BE49-F238E27FC236}">
                <a16:creationId xmlns:a16="http://schemas.microsoft.com/office/drawing/2014/main" id="{E9C8B0E5-6CCA-D84A-90C3-331792FBED5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ABBD5FBA-A721-4C4F-91A2-CC1A0E794459}"/>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1709191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7F0E83-A781-A642-931F-DFED1BE57846}"/>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B8236D16-6B7B-FE40-8138-1A7AEAE86FED}"/>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E5C8D6D-EA45-8B46-9841-980956BD044D}"/>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ACCDA255-CE4B-DF47-BF58-A20E6395740A}"/>
              </a:ext>
            </a:extLst>
          </p:cNvPr>
          <p:cNvSpPr>
            <a:spLocks noGrp="1"/>
          </p:cNvSpPr>
          <p:nvPr>
            <p:ph type="dt" sz="half" idx="10"/>
          </p:nvPr>
        </p:nvSpPr>
        <p:spPr/>
        <p:txBody>
          <a:bodyPr/>
          <a:lstStyle/>
          <a:p>
            <a:fld id="{F67C16C8-DEE7-C344-9DAD-A539494F8667}" type="datetime1">
              <a:rPr kumimoji="1" lang="zh-TW" altLang="en-US" smtClean="0"/>
              <a:t>2023/2/14</a:t>
            </a:fld>
            <a:endParaRPr kumimoji="1" lang="zh-TW" altLang="en-US"/>
          </a:p>
        </p:txBody>
      </p:sp>
      <p:sp>
        <p:nvSpPr>
          <p:cNvPr id="6" name="頁尾版面配置區 5">
            <a:extLst>
              <a:ext uri="{FF2B5EF4-FFF2-40B4-BE49-F238E27FC236}">
                <a16:creationId xmlns:a16="http://schemas.microsoft.com/office/drawing/2014/main" id="{BCF2FF0B-D14D-E049-BE35-C29FF29A425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4A1043E-64C9-2743-8D8E-415DAA0A8015}"/>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55055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6C82B3-B831-6F40-9588-F4F806158DD4}"/>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FD58949-DEA8-D349-A30A-3F6ACE6A67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BD1EB4CD-4252-2545-90BD-8EA983F06ED7}"/>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DE8EECCE-4DFA-2E40-9256-541F8C65C7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A659D0BD-AA93-494D-A396-754B4EB8DE02}"/>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9645FA4C-4C5F-7A4A-90AB-84304799C347}"/>
              </a:ext>
            </a:extLst>
          </p:cNvPr>
          <p:cNvSpPr>
            <a:spLocks noGrp="1"/>
          </p:cNvSpPr>
          <p:nvPr>
            <p:ph type="dt" sz="half" idx="10"/>
          </p:nvPr>
        </p:nvSpPr>
        <p:spPr/>
        <p:txBody>
          <a:bodyPr/>
          <a:lstStyle/>
          <a:p>
            <a:fld id="{69B79CE6-E8BD-8E43-A95C-1E23C1700351}" type="datetime1">
              <a:rPr kumimoji="1" lang="zh-TW" altLang="en-US" smtClean="0"/>
              <a:t>2023/2/14</a:t>
            </a:fld>
            <a:endParaRPr kumimoji="1" lang="zh-TW" altLang="en-US"/>
          </a:p>
        </p:txBody>
      </p:sp>
      <p:sp>
        <p:nvSpPr>
          <p:cNvPr id="8" name="頁尾版面配置區 7">
            <a:extLst>
              <a:ext uri="{FF2B5EF4-FFF2-40B4-BE49-F238E27FC236}">
                <a16:creationId xmlns:a16="http://schemas.microsoft.com/office/drawing/2014/main" id="{248313D3-518A-3D49-A54F-A2CFF8BBBE31}"/>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8E79EEA4-5DE2-1C46-9BBE-3FD84C819154}"/>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2514795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384798-5BFD-B94D-A9EF-D7973D771270}"/>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B433FA5C-C053-5D4F-AA5A-1926F5DAF2A6}"/>
              </a:ext>
            </a:extLst>
          </p:cNvPr>
          <p:cNvSpPr>
            <a:spLocks noGrp="1"/>
          </p:cNvSpPr>
          <p:nvPr>
            <p:ph type="dt" sz="half" idx="10"/>
          </p:nvPr>
        </p:nvSpPr>
        <p:spPr/>
        <p:txBody>
          <a:bodyPr/>
          <a:lstStyle/>
          <a:p>
            <a:fld id="{D96C77D9-52A2-AC49-82BE-3F1C3DF86864}" type="datetime1">
              <a:rPr kumimoji="1" lang="zh-TW" altLang="en-US" smtClean="0"/>
              <a:t>2023/2/14</a:t>
            </a:fld>
            <a:endParaRPr kumimoji="1" lang="zh-TW" altLang="en-US"/>
          </a:p>
        </p:txBody>
      </p:sp>
      <p:sp>
        <p:nvSpPr>
          <p:cNvPr id="4" name="頁尾版面配置區 3">
            <a:extLst>
              <a:ext uri="{FF2B5EF4-FFF2-40B4-BE49-F238E27FC236}">
                <a16:creationId xmlns:a16="http://schemas.microsoft.com/office/drawing/2014/main" id="{F0ED2026-85A4-FC48-9427-558DB81B8B54}"/>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5A187C88-6371-2D46-8193-398C9ABB2461}"/>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333594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5CB16E5-7E89-9E47-9817-A404DBDED56A}"/>
              </a:ext>
            </a:extLst>
          </p:cNvPr>
          <p:cNvSpPr>
            <a:spLocks noGrp="1"/>
          </p:cNvSpPr>
          <p:nvPr>
            <p:ph type="dt" sz="half" idx="10"/>
          </p:nvPr>
        </p:nvSpPr>
        <p:spPr/>
        <p:txBody>
          <a:bodyPr/>
          <a:lstStyle/>
          <a:p>
            <a:fld id="{C99CB0C8-5DA2-0043-92D8-89E2D6E8DDEC}" type="datetime1">
              <a:rPr kumimoji="1" lang="zh-TW" altLang="en-US" smtClean="0"/>
              <a:t>2023/2/14</a:t>
            </a:fld>
            <a:endParaRPr kumimoji="1" lang="zh-TW" altLang="en-US"/>
          </a:p>
        </p:txBody>
      </p:sp>
      <p:sp>
        <p:nvSpPr>
          <p:cNvPr id="3" name="頁尾版面配置區 2">
            <a:extLst>
              <a:ext uri="{FF2B5EF4-FFF2-40B4-BE49-F238E27FC236}">
                <a16:creationId xmlns:a16="http://schemas.microsoft.com/office/drawing/2014/main" id="{7AFA6084-8A15-5B49-92C5-64958248F2BC}"/>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CEE1CCCF-A3AE-F541-93A2-CBCC8C706CE8}"/>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3253465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AE2F24-B826-6249-99A0-CBCE9272A9C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38E6462-1333-7F48-977E-A29FB48FA6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03128085-E3B0-F943-80FD-75847A3602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BD0B330-8A37-8F46-A34F-FE43A2625F1B}"/>
              </a:ext>
            </a:extLst>
          </p:cNvPr>
          <p:cNvSpPr>
            <a:spLocks noGrp="1"/>
          </p:cNvSpPr>
          <p:nvPr>
            <p:ph type="dt" sz="half" idx="10"/>
          </p:nvPr>
        </p:nvSpPr>
        <p:spPr/>
        <p:txBody>
          <a:bodyPr/>
          <a:lstStyle/>
          <a:p>
            <a:fld id="{1B2BCF9E-EC91-D74E-832E-DA3EBD36B984}" type="datetime1">
              <a:rPr kumimoji="1" lang="zh-TW" altLang="en-US" smtClean="0"/>
              <a:t>2023/2/14</a:t>
            </a:fld>
            <a:endParaRPr kumimoji="1" lang="zh-TW" altLang="en-US"/>
          </a:p>
        </p:txBody>
      </p:sp>
      <p:sp>
        <p:nvSpPr>
          <p:cNvPr id="6" name="頁尾版面配置區 5">
            <a:extLst>
              <a:ext uri="{FF2B5EF4-FFF2-40B4-BE49-F238E27FC236}">
                <a16:creationId xmlns:a16="http://schemas.microsoft.com/office/drawing/2014/main" id="{A94EF965-FE85-EC48-B19F-B90025CF221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E7A00F6-8E3F-DA40-986B-4EF0C664BD23}"/>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474263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597BB6-7F51-1C44-9EE6-2139600E8F6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E18E374B-EC52-C348-B8E5-9C6264A50D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7346FBE7-9963-B443-A790-6D85E4847D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D4A48EBF-B8B8-464A-BD60-1D97FB45DECB}"/>
              </a:ext>
            </a:extLst>
          </p:cNvPr>
          <p:cNvSpPr>
            <a:spLocks noGrp="1"/>
          </p:cNvSpPr>
          <p:nvPr>
            <p:ph type="dt" sz="half" idx="10"/>
          </p:nvPr>
        </p:nvSpPr>
        <p:spPr/>
        <p:txBody>
          <a:bodyPr/>
          <a:lstStyle/>
          <a:p>
            <a:fld id="{E648A760-E1D3-A54D-BF48-C81DCD693E97}" type="datetime1">
              <a:rPr kumimoji="1" lang="zh-TW" altLang="en-US" smtClean="0"/>
              <a:t>2023/2/14</a:t>
            </a:fld>
            <a:endParaRPr kumimoji="1" lang="zh-TW" altLang="en-US"/>
          </a:p>
        </p:txBody>
      </p:sp>
      <p:sp>
        <p:nvSpPr>
          <p:cNvPr id="6" name="頁尾版面配置區 5">
            <a:extLst>
              <a:ext uri="{FF2B5EF4-FFF2-40B4-BE49-F238E27FC236}">
                <a16:creationId xmlns:a16="http://schemas.microsoft.com/office/drawing/2014/main" id="{E9A84016-8447-A145-9877-51A719520FF2}"/>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56DF19F3-9E22-EA46-AC98-94A29BDE63B2}"/>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2770550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426EAC-7FFD-D043-9717-CE5DD5F6A091}"/>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5EE83522-A349-8448-B7EA-A1AE587D72FE}"/>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D900CD8-3CFA-B34F-A36D-4A89386804CB}"/>
              </a:ext>
            </a:extLst>
          </p:cNvPr>
          <p:cNvSpPr>
            <a:spLocks noGrp="1"/>
          </p:cNvSpPr>
          <p:nvPr>
            <p:ph type="dt" sz="half" idx="10"/>
          </p:nvPr>
        </p:nvSpPr>
        <p:spPr/>
        <p:txBody>
          <a:bodyPr/>
          <a:lstStyle/>
          <a:p>
            <a:fld id="{E529605C-AE1B-E04C-820D-776A73992A51}" type="datetime1">
              <a:rPr kumimoji="1" lang="zh-TW" altLang="en-US" smtClean="0"/>
              <a:t>2023/2/14</a:t>
            </a:fld>
            <a:endParaRPr kumimoji="1" lang="zh-TW" altLang="en-US"/>
          </a:p>
        </p:txBody>
      </p:sp>
      <p:sp>
        <p:nvSpPr>
          <p:cNvPr id="5" name="頁尾版面配置區 4">
            <a:extLst>
              <a:ext uri="{FF2B5EF4-FFF2-40B4-BE49-F238E27FC236}">
                <a16:creationId xmlns:a16="http://schemas.microsoft.com/office/drawing/2014/main" id="{B3A76948-57D1-DC49-9D8A-86D53560C1D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70D819E-0C67-3147-B404-B0D057313796}"/>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472387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503C82E0-C565-6C4A-971E-A33F6DC80319}"/>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82CF712A-CF24-2A43-B96F-405D14EE5578}"/>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510A58-8D1F-D747-A1C9-8E23F42DDDC5}"/>
              </a:ext>
            </a:extLst>
          </p:cNvPr>
          <p:cNvSpPr>
            <a:spLocks noGrp="1"/>
          </p:cNvSpPr>
          <p:nvPr>
            <p:ph type="dt" sz="half" idx="10"/>
          </p:nvPr>
        </p:nvSpPr>
        <p:spPr/>
        <p:txBody>
          <a:bodyPr/>
          <a:lstStyle/>
          <a:p>
            <a:fld id="{13145278-B048-734F-B8DD-DF4DC17BEAAF}" type="datetime1">
              <a:rPr kumimoji="1" lang="zh-TW" altLang="en-US" smtClean="0"/>
              <a:t>2023/2/14</a:t>
            </a:fld>
            <a:endParaRPr kumimoji="1" lang="zh-TW" altLang="en-US"/>
          </a:p>
        </p:txBody>
      </p:sp>
      <p:sp>
        <p:nvSpPr>
          <p:cNvPr id="5" name="頁尾版面配置區 4">
            <a:extLst>
              <a:ext uri="{FF2B5EF4-FFF2-40B4-BE49-F238E27FC236}">
                <a16:creationId xmlns:a16="http://schemas.microsoft.com/office/drawing/2014/main" id="{653AE009-D830-B749-A0CF-FA8EE9CEFF79}"/>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BD92F50-5487-1143-9897-E18E6537DCC3}"/>
              </a:ext>
            </a:extLst>
          </p:cNvPr>
          <p:cNvSpPr>
            <a:spLocks noGrp="1"/>
          </p:cNvSpPr>
          <p:nvPr>
            <p:ph type="sldNum" sz="quarter" idx="12"/>
          </p:nvPr>
        </p:nvSpPr>
        <p:spPr/>
        <p:txBody>
          <a:body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533637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E5A661F-6833-3541-A0D3-7BCDB43C0E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E79EBE7-A208-2B48-8D5C-8FACBFFCAE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374EA65-F984-0B4F-BF85-26B0878AB0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844F3-3F71-A84D-A54C-8CCABA2C7374}" type="datetime1">
              <a:rPr kumimoji="1" lang="zh-TW" altLang="en-US" smtClean="0"/>
              <a:t>2023/2/14</a:t>
            </a:fld>
            <a:endParaRPr kumimoji="1" lang="zh-TW" altLang="en-US"/>
          </a:p>
        </p:txBody>
      </p:sp>
      <p:sp>
        <p:nvSpPr>
          <p:cNvPr id="5" name="頁尾版面配置區 4">
            <a:extLst>
              <a:ext uri="{FF2B5EF4-FFF2-40B4-BE49-F238E27FC236}">
                <a16:creationId xmlns:a16="http://schemas.microsoft.com/office/drawing/2014/main" id="{A802C31E-1A0A-274D-B7FF-B5603E8DC1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693C503B-62BB-6748-9490-9C23D798E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BA910D-82EB-F545-8167-DA0C7F9B0A2A}" type="slidenum">
              <a:rPr kumimoji="1" lang="zh-TW" altLang="en-US" smtClean="0"/>
              <a:t>‹#›</a:t>
            </a:fld>
            <a:endParaRPr kumimoji="1" lang="zh-TW" altLang="en-US"/>
          </a:p>
        </p:txBody>
      </p:sp>
    </p:spTree>
    <p:extLst>
      <p:ext uri="{BB962C8B-B14F-4D97-AF65-F5344CB8AC3E}">
        <p14:creationId xmlns:p14="http://schemas.microsoft.com/office/powerpoint/2010/main" val="13637721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lang="en" altLang="zh-TW" sz="4800" dirty="0">
                <a:effectLst/>
                <a:latin typeface="Times New Roman" panose="02020603050405020304" pitchFamily="18" charset="0"/>
                <a:cs typeface="Times New Roman" panose="02020603050405020304" pitchFamily="18" charset="0"/>
              </a:rPr>
              <a:t>Who should bid higher, NS or WE, in </a:t>
            </a:r>
            <a:r>
              <a:rPr lang="en-US" altLang="zh-TW" sz="4800" dirty="0">
                <a:effectLst/>
                <a:latin typeface="Times New Roman" panose="02020603050405020304" pitchFamily="18" charset="0"/>
                <a:cs typeface="Times New Roman" panose="02020603050405020304" pitchFamily="18" charset="0"/>
              </a:rPr>
              <a:t>a</a:t>
            </a:r>
            <a:r>
              <a:rPr lang="zh-TW" altLang="en-US" sz="4800" dirty="0">
                <a:effectLst/>
                <a:latin typeface="Times New Roman" panose="02020603050405020304" pitchFamily="18" charset="0"/>
                <a:cs typeface="Times New Roman" panose="02020603050405020304" pitchFamily="18" charset="0"/>
              </a:rPr>
              <a:t> </a:t>
            </a:r>
            <a:r>
              <a:rPr lang="en" altLang="zh-TW" sz="4800" dirty="0">
                <a:effectLst/>
                <a:latin typeface="Times New Roman" panose="02020603050405020304" pitchFamily="18" charset="0"/>
                <a:cs typeface="Times New Roman" panose="02020603050405020304" pitchFamily="18" charset="0"/>
              </a:rPr>
              <a:t>given Bridge deal</a:t>
            </a:r>
            <a:r>
              <a:rPr lang="en-US" altLang="zh-TW" sz="4800" dirty="0">
                <a:effectLst/>
                <a:latin typeface="Times New Roman" panose="02020603050405020304" pitchFamily="18" charset="0"/>
                <a:cs typeface="Times New Roman" panose="02020603050405020304" pitchFamily="18" charset="0"/>
              </a:rPr>
              <a:t>.</a:t>
            </a:r>
            <a:endParaRPr lang="en" altLang="zh-TW" sz="14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endParaRPr lang="en" altLang="zh-TW" sz="2000" dirty="0">
              <a:latin typeface="Times New Roman" panose="02020603050405020304" pitchFamily="18" charset="0"/>
              <a:cs typeface="Times New Roman" panose="02020603050405020304" pitchFamily="18" charset="0"/>
            </a:endParaRPr>
          </a:p>
          <a:p>
            <a:pPr>
              <a:lnSpc>
                <a:spcPct val="100000"/>
              </a:lnSpc>
            </a:pPr>
            <a:r>
              <a:rPr lang="en" altLang="zh-TW" sz="2000" b="0" i="0" u="none" strike="noStrike" dirty="0" err="1">
                <a:solidFill>
                  <a:srgbClr val="222222"/>
                </a:solidFill>
                <a:effectLst/>
                <a:latin typeface="Times New Roman" panose="02020603050405020304" pitchFamily="18" charset="0"/>
                <a:cs typeface="Times New Roman" panose="02020603050405020304" pitchFamily="18" charset="0"/>
              </a:rPr>
              <a:t>Mańdziuk</a:t>
            </a:r>
            <a:r>
              <a:rPr lang="en" altLang="zh-TW" sz="2000" b="0" i="0" u="none" strike="noStrike" dirty="0">
                <a:solidFill>
                  <a:srgbClr val="222222"/>
                </a:solidFill>
                <a:effectLst/>
                <a:latin typeface="Times New Roman" panose="02020603050405020304" pitchFamily="18" charset="0"/>
                <a:cs typeface="Times New Roman" panose="02020603050405020304" pitchFamily="18" charset="0"/>
              </a:rPr>
              <a:t> Jacek and Jakub </a:t>
            </a:r>
            <a:r>
              <a:rPr lang="en" altLang="zh-TW" sz="2000" b="0" i="0" u="none" strike="noStrike" dirty="0" err="1">
                <a:solidFill>
                  <a:srgbClr val="222222"/>
                </a:solidFill>
                <a:effectLst/>
                <a:latin typeface="Times New Roman" panose="02020603050405020304" pitchFamily="18" charset="0"/>
                <a:cs typeface="Times New Roman" panose="02020603050405020304" pitchFamily="18" charset="0"/>
              </a:rPr>
              <a:t>Suchan</a:t>
            </a:r>
            <a:r>
              <a:rPr lang="en" altLang="zh-TW" sz="2000" b="0" i="0" u="none" strike="noStrike" dirty="0">
                <a:solidFill>
                  <a:srgbClr val="222222"/>
                </a:solidFill>
                <a:effectLst/>
                <a:latin typeface="Times New Roman" panose="02020603050405020304" pitchFamily="18" charset="0"/>
                <a:cs typeface="Times New Roman" panose="02020603050405020304" pitchFamily="18" charset="0"/>
              </a:rPr>
              <a:t>.</a:t>
            </a:r>
          </a:p>
          <a:p>
            <a:pPr>
              <a:lnSpc>
                <a:spcPct val="100000"/>
              </a:lnSpc>
            </a:pPr>
            <a:r>
              <a:rPr lang="en" altLang="zh-TW" sz="2000" b="0" u="none" strike="noStrike" dirty="0">
                <a:solidFill>
                  <a:srgbClr val="222222"/>
                </a:solidFill>
                <a:effectLst/>
                <a:latin typeface="Times New Roman" panose="02020603050405020304" pitchFamily="18" charset="0"/>
                <a:cs typeface="Times New Roman" panose="02020603050405020304" pitchFamily="18" charset="0"/>
              </a:rPr>
              <a:t>IEEE International Joint Conference on Neural Networks (IJCNN)</a:t>
            </a:r>
            <a:r>
              <a:rPr lang="en-US" altLang="zh-TW" sz="2000" dirty="0">
                <a:solidFill>
                  <a:srgbClr val="222222"/>
                </a:solidFill>
                <a:latin typeface="Times New Roman" panose="02020603050405020304" pitchFamily="18" charset="0"/>
                <a:cs typeface="Times New Roman" panose="02020603050405020304" pitchFamily="18" charset="0"/>
              </a:rPr>
              <a:t>.</a:t>
            </a:r>
            <a:r>
              <a:rPr lang="zh-TW" altLang="en-US" sz="2000" dirty="0">
                <a:solidFill>
                  <a:srgbClr val="222222"/>
                </a:solidFill>
                <a:latin typeface="Times New Roman" panose="02020603050405020304" pitchFamily="18" charset="0"/>
                <a:cs typeface="Times New Roman" panose="02020603050405020304" pitchFamily="18" charset="0"/>
              </a:rPr>
              <a:t> </a:t>
            </a:r>
            <a:r>
              <a:rPr lang="en" altLang="zh-TW" sz="2000" b="0" u="none" strike="noStrike" dirty="0">
                <a:solidFill>
                  <a:srgbClr val="222222"/>
                </a:solidFill>
                <a:effectLst/>
                <a:latin typeface="Times New Roman" panose="02020603050405020304" pitchFamily="18" charset="0"/>
                <a:cs typeface="Times New Roman" panose="02020603050405020304" pitchFamily="18" charset="0"/>
              </a:rPr>
              <a:t>Budapest, Hungary</a:t>
            </a:r>
            <a:r>
              <a:rPr lang="en-US" altLang="zh-TW" sz="2000" b="0" u="none" strike="noStrike" dirty="0">
                <a:solidFill>
                  <a:srgbClr val="222222"/>
                </a:solidFill>
                <a:effectLst/>
                <a:latin typeface="Times New Roman" panose="02020603050405020304" pitchFamily="18" charset="0"/>
                <a:cs typeface="Times New Roman" panose="02020603050405020304" pitchFamily="18" charset="0"/>
              </a:rPr>
              <a:t>,</a:t>
            </a:r>
            <a:r>
              <a:rPr lang="zh-TW" altLang="en-US" sz="2000" b="0" u="none" strike="noStrike" dirty="0">
                <a:solidFill>
                  <a:srgbClr val="222222"/>
                </a:solidFill>
                <a:effectLst/>
                <a:latin typeface="Times New Roman" panose="02020603050405020304" pitchFamily="18" charset="0"/>
                <a:cs typeface="Times New Roman" panose="02020603050405020304" pitchFamily="18" charset="0"/>
              </a:rPr>
              <a:t> </a:t>
            </a:r>
            <a:r>
              <a:rPr lang="en" altLang="zh-TW" sz="2000" b="0" u="none" strike="noStrike" dirty="0">
                <a:solidFill>
                  <a:srgbClr val="222222"/>
                </a:solidFill>
                <a:effectLst/>
                <a:latin typeface="Times New Roman" panose="02020603050405020304" pitchFamily="18" charset="0"/>
                <a:cs typeface="Times New Roman" panose="02020603050405020304" pitchFamily="18" charset="0"/>
              </a:rPr>
              <a:t> 2019.</a:t>
            </a: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 Feb. 14, 2023</a:t>
            </a:r>
            <a:endParaRPr kumimoji="1" lang="zh-TW" altLang="en-US" dirty="0">
              <a:latin typeface="Times" pitchFamily="2" charset="0"/>
            </a:endParaRP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51861-73DA-4841-A16D-38E44CB87653}"/>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Abstract(1/2)</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E8741AB-D006-9749-BE17-A476685582CE}"/>
              </a:ext>
            </a:extLst>
          </p:cNvPr>
          <p:cNvSpPr>
            <a:spLocks noGrp="1"/>
          </p:cNvSpPr>
          <p:nvPr>
            <p:ph idx="1"/>
          </p:nvPr>
        </p:nvSpPr>
        <p:spPr/>
        <p:txBody>
          <a:bodyPr>
            <a:normAutofit/>
          </a:bodyPr>
          <a:lstStyle/>
          <a:p>
            <a:pPr marL="0" indent="0" algn="just">
              <a:buNone/>
            </a:pPr>
            <a:r>
              <a:rPr kumimoji="1" lang="en" altLang="zh-TW" dirty="0">
                <a:latin typeface="Times New Roman" panose="02020603050405020304" pitchFamily="18" charset="0"/>
                <a:cs typeface="Times New Roman" panose="02020603050405020304" pitchFamily="18" charset="0"/>
              </a:rPr>
              <a:t>The paper proposes a neural model for a direct comparison of the two so-called Double Dummy Bridge Problem (DDBP) instances, along with a practical use-case for determining which pair, NS or WE, should propose the higher deal during a bidding phase in a Bridge game. The proposed system is composed of two identical subnetworks combined by a comparator layer placed on top of them. The base of each subnetwork is a shallow autoencoder</a:t>
            </a:r>
            <a:r>
              <a:rPr kumimoji="1" lang="zh-TW" altLang="en-US" dirty="0">
                <a:latin typeface="Times New Roman" panose="02020603050405020304" pitchFamily="18" charset="0"/>
                <a:cs typeface="Times New Roman" panose="02020603050405020304" pitchFamily="18" charset="0"/>
              </a:rPr>
              <a:t> </a:t>
            </a:r>
            <a:r>
              <a:rPr kumimoji="1" lang="en" altLang="zh-TW" dirty="0">
                <a:latin typeface="Times New Roman" panose="02020603050405020304" pitchFamily="18" charset="0"/>
                <a:cs typeface="Times New Roman" panose="02020603050405020304" pitchFamily="18" charset="0"/>
              </a:rPr>
              <a:t>(AE) which is further connected with a Multilayer Perceptron. The system is trained in two phases - an unsupervised one - used to create a meaningful feature-based input representation in AE compression layer, and a supervised one - meant for fine-tuning of the whole model.</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1B29FE30-27C7-674F-80FA-938300A03F0D}"/>
              </a:ext>
            </a:extLst>
          </p:cNvPr>
          <p:cNvSpPr>
            <a:spLocks noGrp="1"/>
          </p:cNvSpPr>
          <p:nvPr>
            <p:ph type="sldNum" sz="quarter" idx="12"/>
          </p:nvPr>
        </p:nvSpPr>
        <p:spPr/>
        <p:txBody>
          <a:bodyPr/>
          <a:lstStyle/>
          <a:p>
            <a:fld id="{ECBA910D-82EB-F545-8167-DA0C7F9B0A2A}" type="slidenum">
              <a:rPr kumimoji="1" lang="zh-TW" altLang="en-US" smtClean="0"/>
              <a:t>2</a:t>
            </a:fld>
            <a:endParaRPr kumimoji="1" lang="zh-TW" altLang="en-US"/>
          </a:p>
        </p:txBody>
      </p:sp>
    </p:spTree>
    <p:extLst>
      <p:ext uri="{BB962C8B-B14F-4D97-AF65-F5344CB8AC3E}">
        <p14:creationId xmlns:p14="http://schemas.microsoft.com/office/powerpoint/2010/main" val="3381259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451861-73DA-4841-A16D-38E44CB87653}"/>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Abstract(2/2)</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3E8741AB-D006-9749-BE17-A476685582CE}"/>
              </a:ext>
            </a:extLst>
          </p:cNvPr>
          <p:cNvSpPr>
            <a:spLocks noGrp="1"/>
          </p:cNvSpPr>
          <p:nvPr>
            <p:ph idx="1"/>
          </p:nvPr>
        </p:nvSpPr>
        <p:spPr/>
        <p:txBody>
          <a:bodyPr>
            <a:normAutofit/>
          </a:bodyPr>
          <a:lstStyle/>
          <a:p>
            <a:pPr marL="0" indent="0" algn="just">
              <a:buNone/>
            </a:pPr>
            <a:r>
              <a:rPr kumimoji="1" lang="en" altLang="zh-TW" dirty="0">
                <a:latin typeface="Times New Roman" panose="02020603050405020304" pitchFamily="18" charset="0"/>
                <a:cs typeface="Times New Roman" panose="02020603050405020304" pitchFamily="18" charset="0"/>
              </a:rPr>
              <a:t>Training and test data are composed of pairs of Bridge deals in which the second deal in a pair is the first one rotated by 90 degrees. Since the task is to point which of the two deals promise a higher contract for the NS pair, due to deal rotation within a pair, the system effectively answers the title question “Who should bid higher, NS or WE, in a given deal?”. The proposed approach is experimentally compared with two other methods: one relying on a neural system solving the DDBP and the other one employing several estimators of hand strength used by experienced players. The results clearly indicate that both neural network approaches outperform the usage of human-scoring systems by a large margin, most notably in the trump (suit) contract.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32104410-B9CF-804A-B626-52EAB9018558}"/>
              </a:ext>
            </a:extLst>
          </p:cNvPr>
          <p:cNvSpPr>
            <a:spLocks noGrp="1"/>
          </p:cNvSpPr>
          <p:nvPr>
            <p:ph type="sldNum" sz="quarter" idx="12"/>
          </p:nvPr>
        </p:nvSpPr>
        <p:spPr/>
        <p:txBody>
          <a:bodyPr/>
          <a:lstStyle/>
          <a:p>
            <a:fld id="{ECBA910D-82EB-F545-8167-DA0C7F9B0A2A}" type="slidenum">
              <a:rPr kumimoji="1" lang="zh-TW" altLang="en-US" smtClean="0"/>
              <a:t>3</a:t>
            </a:fld>
            <a:endParaRPr kumimoji="1" lang="zh-TW" altLang="en-US"/>
          </a:p>
        </p:txBody>
      </p:sp>
    </p:spTree>
    <p:extLst>
      <p:ext uri="{BB962C8B-B14F-4D97-AF65-F5344CB8AC3E}">
        <p14:creationId xmlns:p14="http://schemas.microsoft.com/office/powerpoint/2010/main" val="1737907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BFF58-ACAC-F342-BBB3-7A6F0E6A682A}"/>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Experimental</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setup</a:t>
            </a:r>
            <a:endParaRPr kumimoji="1"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030242F2-1139-534E-92FB-926EA5BB9BCB}"/>
              </a:ext>
            </a:extLst>
          </p:cNvPr>
          <p:cNvPicPr>
            <a:picLocks noGrp="1" noChangeAspect="1"/>
          </p:cNvPicPr>
          <p:nvPr>
            <p:ph idx="1"/>
          </p:nvPr>
        </p:nvPicPr>
        <p:blipFill>
          <a:blip r:embed="rId2"/>
          <a:stretch>
            <a:fillRect/>
          </a:stretch>
        </p:blipFill>
        <p:spPr>
          <a:xfrm>
            <a:off x="5660817" y="2331699"/>
            <a:ext cx="5827374" cy="3124403"/>
          </a:xfrm>
        </p:spPr>
      </p:pic>
      <p:sp>
        <p:nvSpPr>
          <p:cNvPr id="10" name="內容版面配置區 2">
            <a:extLst>
              <a:ext uri="{FF2B5EF4-FFF2-40B4-BE49-F238E27FC236}">
                <a16:creationId xmlns:a16="http://schemas.microsoft.com/office/drawing/2014/main" id="{69E5C426-C1DF-6B45-B939-C4C2D1D85FF6}"/>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kumimoji="1" lang="en-US" altLang="zh-TW" dirty="0">
                <a:latin typeface="Times New Roman" panose="02020603050405020304" pitchFamily="18" charset="0"/>
                <a:cs typeface="Times New Roman" panose="02020603050405020304" pitchFamily="18" charset="0"/>
              </a:rPr>
              <a:t>Training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set</a:t>
            </a:r>
          </a:p>
          <a:p>
            <a:pPr lvl="1" algn="just"/>
            <a:r>
              <a:rPr kumimoji="1" lang="en-US" altLang="zh-TW" dirty="0">
                <a:latin typeface="Times New Roman" panose="02020603050405020304" pitchFamily="18" charset="0"/>
                <a:cs typeface="Times New Roman" panose="02020603050405020304" pitchFamily="18" charset="0"/>
              </a:rPr>
              <a:t>No</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trump:</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800000</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deals</a:t>
            </a:r>
          </a:p>
          <a:p>
            <a:pPr lvl="1" algn="just"/>
            <a:r>
              <a:rPr kumimoji="1" lang="en-US" altLang="zh-TW" dirty="0">
                <a:latin typeface="Times New Roman" panose="02020603050405020304" pitchFamily="18" charset="0"/>
                <a:cs typeface="Times New Roman" panose="02020603050405020304" pitchFamily="18" charset="0"/>
              </a:rPr>
              <a:t>Trump:</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800000</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deals</a:t>
            </a:r>
          </a:p>
          <a:p>
            <a:pPr algn="just"/>
            <a:r>
              <a:rPr kumimoji="1" lang="en-US" altLang="zh-TW" dirty="0">
                <a:latin typeface="Times New Roman" panose="02020603050405020304" pitchFamily="18" charset="0"/>
                <a:cs typeface="Times New Roman" panose="02020603050405020304" pitchFamily="18" charset="0"/>
              </a:rPr>
              <a:t>Testing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set</a:t>
            </a:r>
          </a:p>
          <a:p>
            <a:pPr lvl="1" algn="just"/>
            <a:r>
              <a:rPr kumimoji="1" lang="en-US" altLang="zh-TW" dirty="0">
                <a:latin typeface="Times New Roman" panose="02020603050405020304" pitchFamily="18" charset="0"/>
                <a:cs typeface="Times New Roman" panose="02020603050405020304" pitchFamily="18" charset="0"/>
              </a:rPr>
              <a:t>No trump: 400000 deals</a:t>
            </a:r>
          </a:p>
          <a:p>
            <a:pPr lvl="1" algn="just"/>
            <a:r>
              <a:rPr kumimoji="1" lang="en-US" altLang="zh-TW" dirty="0">
                <a:latin typeface="Times New Roman" panose="02020603050405020304" pitchFamily="18" charset="0"/>
                <a:cs typeface="Times New Roman" panose="02020603050405020304" pitchFamily="18" charset="0"/>
              </a:rPr>
              <a:t>Trump: 800000 deals</a:t>
            </a:r>
          </a:p>
          <a:p>
            <a:pPr marL="457200" lvl="1" indent="0" algn="just">
              <a:buNone/>
            </a:pPr>
            <a:endParaRPr kumimoji="1" lang="en-US" altLang="zh-TW" dirty="0">
              <a:latin typeface="Times New Roman" panose="02020603050405020304" pitchFamily="18" charset="0"/>
              <a:cs typeface="Times New Roman" panose="02020603050405020304" pitchFamily="18" charset="0"/>
            </a:endParaRPr>
          </a:p>
          <a:p>
            <a:pPr algn="just"/>
            <a:r>
              <a:rPr kumimoji="1" lang="en-US" altLang="zh-TW" dirty="0">
                <a:latin typeface="Times New Roman" panose="02020603050405020304" pitchFamily="18" charset="0"/>
                <a:cs typeface="Times New Roman" panose="02020603050405020304" pitchFamily="18" charset="0"/>
              </a:rPr>
              <a:t>Training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phase</a:t>
            </a:r>
          </a:p>
          <a:p>
            <a:pPr lvl="1" algn="just"/>
            <a:r>
              <a:rPr kumimoji="1" lang="en-US" altLang="zh-TW" dirty="0">
                <a:latin typeface="Times New Roman" panose="02020603050405020304" pitchFamily="18" charset="0"/>
                <a:cs typeface="Times New Roman" panose="02020603050405020304" pitchFamily="18" charset="0"/>
              </a:rPr>
              <a:t>Autoencoder</a:t>
            </a:r>
          </a:p>
          <a:p>
            <a:pPr lvl="1" algn="just"/>
            <a:r>
              <a:rPr kumimoji="1" lang="en-US" altLang="zh-TW" dirty="0">
                <a:latin typeface="Times New Roman" panose="02020603050405020304" pitchFamily="18" charset="0"/>
                <a:cs typeface="Times New Roman" panose="02020603050405020304" pitchFamily="18" charset="0"/>
              </a:rPr>
              <a:t>Fine-tuning</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of</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classifier</a:t>
            </a:r>
          </a:p>
        </p:txBody>
      </p:sp>
      <p:sp>
        <p:nvSpPr>
          <p:cNvPr id="3" name="投影片編號版面配置區 2">
            <a:extLst>
              <a:ext uri="{FF2B5EF4-FFF2-40B4-BE49-F238E27FC236}">
                <a16:creationId xmlns:a16="http://schemas.microsoft.com/office/drawing/2014/main" id="{B344935E-6FF2-8E42-BBD9-CD57697DD224}"/>
              </a:ext>
            </a:extLst>
          </p:cNvPr>
          <p:cNvSpPr>
            <a:spLocks noGrp="1"/>
          </p:cNvSpPr>
          <p:nvPr>
            <p:ph type="sldNum" sz="quarter" idx="12"/>
          </p:nvPr>
        </p:nvSpPr>
        <p:spPr/>
        <p:txBody>
          <a:bodyPr/>
          <a:lstStyle/>
          <a:p>
            <a:fld id="{ECBA910D-82EB-F545-8167-DA0C7F9B0A2A}" type="slidenum">
              <a:rPr kumimoji="1" lang="zh-TW" altLang="en-US" smtClean="0"/>
              <a:t>4</a:t>
            </a:fld>
            <a:endParaRPr kumimoji="1" lang="zh-TW" altLang="en-US"/>
          </a:p>
        </p:txBody>
      </p:sp>
    </p:spTree>
    <p:extLst>
      <p:ext uri="{BB962C8B-B14F-4D97-AF65-F5344CB8AC3E}">
        <p14:creationId xmlns:p14="http://schemas.microsoft.com/office/powerpoint/2010/main" val="2732471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BFF58-ACAC-F342-BBB3-7A6F0E6A682A}"/>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a:t>
            </a:r>
            <a:r>
              <a:rPr kumimoji="1" lang="en" altLang="zh-TW" dirty="0" err="1">
                <a:latin typeface="Times New Roman" panose="02020603050405020304" pitchFamily="18" charset="0"/>
                <a:cs typeface="Times New Roman" panose="02020603050405020304" pitchFamily="18" charset="0"/>
              </a:rPr>
              <a:t>utoencoder</a:t>
            </a:r>
            <a:endParaRPr kumimoji="1" lang="zh-TW" altLang="en-US" dirty="0">
              <a:latin typeface="Times New Roman" panose="02020603050405020304" pitchFamily="18" charset="0"/>
              <a:cs typeface="Times New Roman" panose="02020603050405020304" pitchFamily="18" charset="0"/>
            </a:endParaRPr>
          </a:p>
        </p:txBody>
      </p:sp>
      <p:pic>
        <p:nvPicPr>
          <p:cNvPr id="19" name="內容版面配置區 4">
            <a:extLst>
              <a:ext uri="{FF2B5EF4-FFF2-40B4-BE49-F238E27FC236}">
                <a16:creationId xmlns:a16="http://schemas.microsoft.com/office/drawing/2014/main" id="{C70E8F3A-1214-1D40-99E0-36020FC59622}"/>
              </a:ext>
            </a:extLst>
          </p:cNvPr>
          <p:cNvPicPr>
            <a:picLocks noGrp="1" noChangeAspect="1"/>
          </p:cNvPicPr>
          <p:nvPr>
            <p:ph idx="1"/>
          </p:nvPr>
        </p:nvPicPr>
        <p:blipFill>
          <a:blip r:embed="rId2"/>
          <a:stretch>
            <a:fillRect/>
          </a:stretch>
        </p:blipFill>
        <p:spPr>
          <a:xfrm>
            <a:off x="6480056" y="1014316"/>
            <a:ext cx="4823437" cy="2586133"/>
          </a:xfrm>
        </p:spPr>
      </p:pic>
      <p:grpSp>
        <p:nvGrpSpPr>
          <p:cNvPr id="7" name="群組 6">
            <a:extLst>
              <a:ext uri="{FF2B5EF4-FFF2-40B4-BE49-F238E27FC236}">
                <a16:creationId xmlns:a16="http://schemas.microsoft.com/office/drawing/2014/main" id="{5464E98D-DEF4-434A-900A-2814A9B7F4AC}"/>
              </a:ext>
            </a:extLst>
          </p:cNvPr>
          <p:cNvGrpSpPr/>
          <p:nvPr/>
        </p:nvGrpSpPr>
        <p:grpSpPr>
          <a:xfrm>
            <a:off x="678077" y="4573423"/>
            <a:ext cx="10835845" cy="1419381"/>
            <a:chOff x="584863" y="4253383"/>
            <a:chExt cx="10835845" cy="1419381"/>
          </a:xfrm>
        </p:grpSpPr>
        <p:grpSp>
          <p:nvGrpSpPr>
            <p:cNvPr id="8" name="群組 7">
              <a:extLst>
                <a:ext uri="{FF2B5EF4-FFF2-40B4-BE49-F238E27FC236}">
                  <a16:creationId xmlns:a16="http://schemas.microsoft.com/office/drawing/2014/main" id="{5129EF6C-3457-B64C-B7ED-3A2DA7EDFE5C}"/>
                </a:ext>
              </a:extLst>
            </p:cNvPr>
            <p:cNvGrpSpPr/>
            <p:nvPr/>
          </p:nvGrpSpPr>
          <p:grpSpPr>
            <a:xfrm>
              <a:off x="584863" y="4253383"/>
              <a:ext cx="10835845" cy="902043"/>
              <a:chOff x="777963" y="3124198"/>
              <a:chExt cx="10835845" cy="902043"/>
            </a:xfrm>
          </p:grpSpPr>
          <p:sp>
            <p:nvSpPr>
              <p:cNvPr id="5" name="矩形 4">
                <a:extLst>
                  <a:ext uri="{FF2B5EF4-FFF2-40B4-BE49-F238E27FC236}">
                    <a16:creationId xmlns:a16="http://schemas.microsoft.com/office/drawing/2014/main" id="{E68FC4D9-547E-B348-9E66-D85C6144D481}"/>
                  </a:ext>
                </a:extLst>
              </p:cNvPr>
              <p:cNvSpPr/>
              <p:nvPr/>
            </p:nvSpPr>
            <p:spPr>
              <a:xfrm>
                <a:off x="2526957" y="3124198"/>
                <a:ext cx="1655805" cy="902043"/>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sz="2400" b="1" dirty="0">
                    <a:latin typeface="Times New Roman" panose="02020603050405020304" pitchFamily="18" charset="0"/>
                    <a:cs typeface="Times New Roman" panose="02020603050405020304" pitchFamily="18" charset="0"/>
                  </a:rPr>
                  <a:t>Encoder</a:t>
                </a:r>
                <a:endParaRPr kumimoji="1" lang="zh-TW" altLang="en-US" sz="2400" b="1" dirty="0">
                  <a:latin typeface="Times New Roman" panose="02020603050405020304" pitchFamily="18" charset="0"/>
                  <a:cs typeface="Times New Roman" panose="02020603050405020304" pitchFamily="18" charset="0"/>
                </a:endParaRPr>
              </a:p>
            </p:txBody>
          </p:sp>
          <p:sp>
            <p:nvSpPr>
              <p:cNvPr id="6" name="向右箭號 5">
                <a:extLst>
                  <a:ext uri="{FF2B5EF4-FFF2-40B4-BE49-F238E27FC236}">
                    <a16:creationId xmlns:a16="http://schemas.microsoft.com/office/drawing/2014/main" id="{CB80800B-7C37-4F4F-9556-9A686E8F1BE8}"/>
                  </a:ext>
                </a:extLst>
              </p:cNvPr>
              <p:cNvSpPr/>
              <p:nvPr/>
            </p:nvSpPr>
            <p:spPr>
              <a:xfrm>
                <a:off x="1785551" y="3390893"/>
                <a:ext cx="432487" cy="37688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TW" altLang="en-US" sz="2000"/>
              </a:p>
            </p:txBody>
          </p:sp>
          <p:sp>
            <p:nvSpPr>
              <p:cNvPr id="10" name="矩形 9">
                <a:extLst>
                  <a:ext uri="{FF2B5EF4-FFF2-40B4-BE49-F238E27FC236}">
                    <a16:creationId xmlns:a16="http://schemas.microsoft.com/office/drawing/2014/main" id="{EF90387B-682C-304A-B44D-697EF31863F0}"/>
                  </a:ext>
                </a:extLst>
              </p:cNvPr>
              <p:cNvSpPr/>
              <p:nvPr/>
            </p:nvSpPr>
            <p:spPr>
              <a:xfrm>
                <a:off x="777963" y="3171569"/>
                <a:ext cx="937567" cy="807308"/>
              </a:xfrm>
              <a:prstGeom prst="rect">
                <a:avLst/>
              </a:prstGeom>
              <a:ln w="19050">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sz="2400" dirty="0">
                    <a:latin typeface="Times New Roman" panose="02020603050405020304" pitchFamily="18" charset="0"/>
                    <a:cs typeface="Times New Roman" panose="02020603050405020304" pitchFamily="18" charset="0"/>
                  </a:rPr>
                  <a:t>Input</a:t>
                </a:r>
                <a:endParaRPr kumimoji="1" lang="zh-TW" altLang="en-US" sz="2400" dirty="0">
                  <a:latin typeface="Times New Roman" panose="02020603050405020304" pitchFamily="18" charset="0"/>
                  <a:cs typeface="Times New Roman" panose="02020603050405020304" pitchFamily="18" charset="0"/>
                </a:endParaRPr>
              </a:p>
            </p:txBody>
          </p:sp>
          <p:sp>
            <p:nvSpPr>
              <p:cNvPr id="11" name="向右箭號 10">
                <a:extLst>
                  <a:ext uri="{FF2B5EF4-FFF2-40B4-BE49-F238E27FC236}">
                    <a16:creationId xmlns:a16="http://schemas.microsoft.com/office/drawing/2014/main" id="{7F8508B7-D3FC-E844-8BB1-9A08C07481E6}"/>
                  </a:ext>
                </a:extLst>
              </p:cNvPr>
              <p:cNvSpPr/>
              <p:nvPr/>
            </p:nvSpPr>
            <p:spPr>
              <a:xfrm>
                <a:off x="4496830" y="3386780"/>
                <a:ext cx="432487" cy="37688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TW" altLang="en-US" sz="2000"/>
              </a:p>
            </p:txBody>
          </p:sp>
          <p:sp>
            <p:nvSpPr>
              <p:cNvPr id="12" name="矩形 11">
                <a:extLst>
                  <a:ext uri="{FF2B5EF4-FFF2-40B4-BE49-F238E27FC236}">
                    <a16:creationId xmlns:a16="http://schemas.microsoft.com/office/drawing/2014/main" id="{DA0D0EFC-1840-2B41-A18E-15B019F568AD}"/>
                  </a:ext>
                </a:extLst>
              </p:cNvPr>
              <p:cNvSpPr/>
              <p:nvPr/>
            </p:nvSpPr>
            <p:spPr>
              <a:xfrm>
                <a:off x="7959813" y="3124198"/>
                <a:ext cx="1655805" cy="902043"/>
              </a:xfrm>
              <a:prstGeom prst="rect">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sz="2400" b="1" dirty="0">
                    <a:latin typeface="Times New Roman" panose="02020603050405020304" pitchFamily="18" charset="0"/>
                    <a:cs typeface="Times New Roman" panose="02020603050405020304" pitchFamily="18" charset="0"/>
                  </a:rPr>
                  <a:t>Decoder</a:t>
                </a:r>
                <a:endParaRPr kumimoji="1" lang="zh-TW" altLang="en-US" sz="2400" b="1" dirty="0">
                  <a:latin typeface="Times New Roman" panose="02020603050405020304" pitchFamily="18" charset="0"/>
                  <a:cs typeface="Times New Roman" panose="02020603050405020304" pitchFamily="18" charset="0"/>
                </a:endParaRPr>
              </a:p>
            </p:txBody>
          </p:sp>
          <p:sp>
            <p:nvSpPr>
              <p:cNvPr id="13" name="矩形 12">
                <a:extLst>
                  <a:ext uri="{FF2B5EF4-FFF2-40B4-BE49-F238E27FC236}">
                    <a16:creationId xmlns:a16="http://schemas.microsoft.com/office/drawing/2014/main" id="{B37C784D-4D1A-0C44-B6A2-8FC6000B07AA}"/>
                  </a:ext>
                </a:extLst>
              </p:cNvPr>
              <p:cNvSpPr/>
              <p:nvPr/>
            </p:nvSpPr>
            <p:spPr>
              <a:xfrm>
                <a:off x="5243385" y="3124198"/>
                <a:ext cx="1655805" cy="902043"/>
              </a:xfrm>
              <a:prstGeom prst="rect">
                <a:avLst/>
              </a:prstGeom>
              <a:ln w="19050">
                <a:solidFill>
                  <a:schemeClr val="tx1"/>
                </a:solidFill>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sz="2000" dirty="0">
                    <a:latin typeface="Times New Roman" panose="02020603050405020304" pitchFamily="18" charset="0"/>
                    <a:cs typeface="Times New Roman" panose="02020603050405020304" pitchFamily="18" charset="0"/>
                  </a:rPr>
                  <a:t>Compressed</a:t>
                </a:r>
              </a:p>
              <a:p>
                <a:pPr algn="ctr"/>
                <a:r>
                  <a:rPr kumimoji="1" lang="en-US" altLang="zh-TW" sz="2000" dirty="0">
                    <a:latin typeface="Times New Roman" panose="02020603050405020304" pitchFamily="18" charset="0"/>
                    <a:cs typeface="Times New Roman" panose="02020603050405020304" pitchFamily="18" charset="0"/>
                  </a:rPr>
                  <a:t>representation</a:t>
                </a:r>
                <a:endParaRPr kumimoji="1" lang="zh-TW" altLang="en-US" sz="2000" dirty="0">
                  <a:latin typeface="Times New Roman" panose="02020603050405020304" pitchFamily="18" charset="0"/>
                  <a:cs typeface="Times New Roman" panose="02020603050405020304" pitchFamily="18" charset="0"/>
                </a:endParaRPr>
              </a:p>
            </p:txBody>
          </p:sp>
          <p:sp>
            <p:nvSpPr>
              <p:cNvPr id="14" name="向右箭號 13">
                <a:extLst>
                  <a:ext uri="{FF2B5EF4-FFF2-40B4-BE49-F238E27FC236}">
                    <a16:creationId xmlns:a16="http://schemas.microsoft.com/office/drawing/2014/main" id="{2C38A912-A4AA-E34F-BE83-0CF91413AD5E}"/>
                  </a:ext>
                </a:extLst>
              </p:cNvPr>
              <p:cNvSpPr/>
              <p:nvPr/>
            </p:nvSpPr>
            <p:spPr>
              <a:xfrm>
                <a:off x="7213258" y="3386778"/>
                <a:ext cx="432487" cy="37688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TW" altLang="en-US" sz="2000"/>
              </a:p>
            </p:txBody>
          </p:sp>
          <p:sp>
            <p:nvSpPr>
              <p:cNvPr id="15" name="向右箭號 14">
                <a:extLst>
                  <a:ext uri="{FF2B5EF4-FFF2-40B4-BE49-F238E27FC236}">
                    <a16:creationId xmlns:a16="http://schemas.microsoft.com/office/drawing/2014/main" id="{8F701E27-5482-7D4D-B3A2-60448981ACA0}"/>
                  </a:ext>
                </a:extLst>
              </p:cNvPr>
              <p:cNvSpPr/>
              <p:nvPr/>
            </p:nvSpPr>
            <p:spPr>
              <a:xfrm>
                <a:off x="9929686" y="3386778"/>
                <a:ext cx="432487" cy="37688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kumimoji="1" lang="zh-TW" altLang="en-US" sz="2000"/>
              </a:p>
            </p:txBody>
          </p:sp>
          <p:sp>
            <p:nvSpPr>
              <p:cNvPr id="16" name="矩形 15">
                <a:extLst>
                  <a:ext uri="{FF2B5EF4-FFF2-40B4-BE49-F238E27FC236}">
                    <a16:creationId xmlns:a16="http://schemas.microsoft.com/office/drawing/2014/main" id="{F9C05A6B-B268-4142-B1E8-9CAE3AE4E9DB}"/>
                  </a:ext>
                </a:extLst>
              </p:cNvPr>
              <p:cNvSpPr/>
              <p:nvPr/>
            </p:nvSpPr>
            <p:spPr>
              <a:xfrm>
                <a:off x="10362173" y="3171569"/>
                <a:ext cx="1251635" cy="807308"/>
              </a:xfrm>
              <a:prstGeom prst="rect">
                <a:avLst/>
              </a:prstGeom>
              <a:ln w="19050">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en-US" altLang="zh-TW" sz="2400" dirty="0">
                    <a:latin typeface="Times New Roman" panose="02020603050405020304" pitchFamily="18" charset="0"/>
                    <a:cs typeface="Times New Roman" panose="02020603050405020304" pitchFamily="18" charset="0"/>
                  </a:rPr>
                  <a:t>Output</a:t>
                </a:r>
                <a:endParaRPr kumimoji="1" lang="zh-TW" altLang="en-US" sz="2400" dirty="0">
                  <a:latin typeface="Times New Roman" panose="02020603050405020304" pitchFamily="18" charset="0"/>
                  <a:cs typeface="Times New Roman" panose="02020603050405020304" pitchFamily="18" charset="0"/>
                </a:endParaRPr>
              </a:p>
            </p:txBody>
          </p:sp>
        </p:grpSp>
        <p:sp>
          <p:nvSpPr>
            <p:cNvPr id="18" name="文字方塊 17">
              <a:extLst>
                <a:ext uri="{FF2B5EF4-FFF2-40B4-BE49-F238E27FC236}">
                  <a16:creationId xmlns:a16="http://schemas.microsoft.com/office/drawing/2014/main" id="{6A7F6512-65F4-214F-822F-012B127142F5}"/>
                </a:ext>
              </a:extLst>
            </p:cNvPr>
            <p:cNvSpPr txBox="1"/>
            <p:nvPr/>
          </p:nvSpPr>
          <p:spPr>
            <a:xfrm>
              <a:off x="697685" y="5155425"/>
              <a:ext cx="711922" cy="461665"/>
            </a:xfrm>
            <a:prstGeom prst="rect">
              <a:avLst/>
            </a:prstGeom>
            <a:noFill/>
          </p:spPr>
          <p:txBody>
            <a:bodyPr wrap="square" rtlCol="0">
              <a:spAutoFit/>
            </a:bodyPr>
            <a:lstStyle/>
            <a:p>
              <a:pPr algn="ctr"/>
              <a:r>
                <a:rPr kumimoji="1" lang="en-US" altLang="zh-TW" sz="2400" dirty="0">
                  <a:solidFill>
                    <a:schemeClr val="bg2">
                      <a:lumMod val="50000"/>
                    </a:schemeClr>
                  </a:solidFill>
                  <a:latin typeface="Times New Roman" panose="02020603050405020304" pitchFamily="18" charset="0"/>
                  <a:cs typeface="Times New Roman" panose="02020603050405020304" pitchFamily="18" charset="0"/>
                </a:rPr>
                <a:t>208</a:t>
              </a:r>
              <a:endParaRPr kumimoji="1" lang="zh-TW" altLang="en-US" sz="24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20" name="文字方塊 19">
              <a:extLst>
                <a:ext uri="{FF2B5EF4-FFF2-40B4-BE49-F238E27FC236}">
                  <a16:creationId xmlns:a16="http://schemas.microsoft.com/office/drawing/2014/main" id="{CFE20C9B-3F9A-5043-BDF8-CC68D6D7A06D}"/>
                </a:ext>
              </a:extLst>
            </p:cNvPr>
            <p:cNvSpPr txBox="1"/>
            <p:nvPr/>
          </p:nvSpPr>
          <p:spPr>
            <a:xfrm>
              <a:off x="5069226" y="5211098"/>
              <a:ext cx="1617922" cy="461666"/>
            </a:xfrm>
            <a:prstGeom prst="rect">
              <a:avLst/>
            </a:prstGeom>
            <a:noFill/>
          </p:spPr>
          <p:txBody>
            <a:bodyPr wrap="square" rtlCol="0">
              <a:spAutoFit/>
            </a:bodyPr>
            <a:lstStyle/>
            <a:p>
              <a:pPr algn="ctr"/>
              <a:r>
                <a:rPr kumimoji="1" lang="en-US" altLang="zh-TW" sz="2400" dirty="0">
                  <a:solidFill>
                    <a:schemeClr val="bg2">
                      <a:lumMod val="50000"/>
                    </a:schemeClr>
                  </a:solidFill>
                  <a:latin typeface="Times New Roman" panose="02020603050405020304" pitchFamily="18" charset="0"/>
                  <a:cs typeface="Times New Roman" panose="02020603050405020304" pitchFamily="18" charset="0"/>
                </a:rPr>
                <a:t>104</a:t>
              </a:r>
              <a:r>
                <a:rPr kumimoji="1" lang="zh-TW" altLang="en-US" sz="2400" dirty="0">
                  <a:solidFill>
                    <a:schemeClr val="bg2">
                      <a:lumMod val="50000"/>
                    </a:schemeClr>
                  </a:solidFill>
                  <a:latin typeface="Times New Roman" panose="02020603050405020304" pitchFamily="18" charset="0"/>
                  <a:cs typeface="Times New Roman" panose="02020603050405020304" pitchFamily="18" charset="0"/>
                </a:rPr>
                <a:t> </a:t>
              </a:r>
              <a:r>
                <a:rPr kumimoji="1" lang="en-US" altLang="zh-TW" sz="2400" dirty="0">
                  <a:solidFill>
                    <a:schemeClr val="bg2">
                      <a:lumMod val="50000"/>
                    </a:schemeClr>
                  </a:solidFill>
                  <a:latin typeface="Times New Roman" panose="02020603050405020304" pitchFamily="18" charset="0"/>
                  <a:cs typeface="Times New Roman" panose="02020603050405020304" pitchFamily="18" charset="0"/>
                </a:rPr>
                <a:t>/</a:t>
              </a:r>
              <a:r>
                <a:rPr kumimoji="1" lang="zh-TW" altLang="en-US" sz="2400" dirty="0">
                  <a:solidFill>
                    <a:schemeClr val="bg2">
                      <a:lumMod val="50000"/>
                    </a:schemeClr>
                  </a:solidFill>
                  <a:latin typeface="Times New Roman" panose="02020603050405020304" pitchFamily="18" charset="0"/>
                  <a:cs typeface="Times New Roman" panose="02020603050405020304" pitchFamily="18" charset="0"/>
                </a:rPr>
                <a:t> </a:t>
              </a:r>
              <a:r>
                <a:rPr kumimoji="1" lang="en-US" altLang="zh-TW" sz="2400" dirty="0">
                  <a:solidFill>
                    <a:schemeClr val="bg2">
                      <a:lumMod val="50000"/>
                    </a:schemeClr>
                  </a:solidFill>
                  <a:latin typeface="Times New Roman" panose="02020603050405020304" pitchFamily="18" charset="0"/>
                  <a:cs typeface="Times New Roman" panose="02020603050405020304" pitchFamily="18" charset="0"/>
                </a:rPr>
                <a:t>156</a:t>
              </a:r>
              <a:endParaRPr kumimoji="1" lang="zh-TW" altLang="en-US" sz="24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21" name="文字方塊 20">
              <a:extLst>
                <a:ext uri="{FF2B5EF4-FFF2-40B4-BE49-F238E27FC236}">
                  <a16:creationId xmlns:a16="http://schemas.microsoft.com/office/drawing/2014/main" id="{487554A6-6429-1944-B36B-D8C4B2F41F7C}"/>
                </a:ext>
              </a:extLst>
            </p:cNvPr>
            <p:cNvSpPr txBox="1"/>
            <p:nvPr/>
          </p:nvSpPr>
          <p:spPr>
            <a:xfrm>
              <a:off x="10438929" y="5155426"/>
              <a:ext cx="711922" cy="461665"/>
            </a:xfrm>
            <a:prstGeom prst="rect">
              <a:avLst/>
            </a:prstGeom>
            <a:noFill/>
          </p:spPr>
          <p:txBody>
            <a:bodyPr wrap="square" rtlCol="0">
              <a:spAutoFit/>
            </a:bodyPr>
            <a:lstStyle/>
            <a:p>
              <a:pPr algn="ctr"/>
              <a:r>
                <a:rPr kumimoji="1" lang="en-US" altLang="zh-TW" sz="2400" dirty="0">
                  <a:solidFill>
                    <a:schemeClr val="bg2">
                      <a:lumMod val="50000"/>
                    </a:schemeClr>
                  </a:solidFill>
                  <a:latin typeface="Times New Roman" panose="02020603050405020304" pitchFamily="18" charset="0"/>
                  <a:cs typeface="Times New Roman" panose="02020603050405020304" pitchFamily="18" charset="0"/>
                </a:rPr>
                <a:t>208</a:t>
              </a:r>
              <a:endParaRPr kumimoji="1" lang="zh-TW" altLang="en-US" sz="2400" dirty="0">
                <a:solidFill>
                  <a:schemeClr val="bg2">
                    <a:lumMod val="50000"/>
                  </a:schemeClr>
                </a:solidFill>
                <a:latin typeface="Times New Roman" panose="02020603050405020304" pitchFamily="18" charset="0"/>
                <a:cs typeface="Times New Roman" panose="02020603050405020304" pitchFamily="18" charset="0"/>
              </a:endParaRPr>
            </a:p>
          </p:txBody>
        </p:sp>
      </p:grpSp>
      <p:pic>
        <p:nvPicPr>
          <p:cNvPr id="4" name="圖片 3">
            <a:extLst>
              <a:ext uri="{FF2B5EF4-FFF2-40B4-BE49-F238E27FC236}">
                <a16:creationId xmlns:a16="http://schemas.microsoft.com/office/drawing/2014/main" id="{923871FA-807C-3941-A6FF-2279FEFAB4C9}"/>
              </a:ext>
            </a:extLst>
          </p:cNvPr>
          <p:cNvPicPr>
            <a:picLocks noChangeAspect="1"/>
          </p:cNvPicPr>
          <p:nvPr/>
        </p:nvPicPr>
        <p:blipFill rotWithShape="1">
          <a:blip r:embed="rId3"/>
          <a:srcRect r="13200"/>
          <a:stretch/>
        </p:blipFill>
        <p:spPr>
          <a:xfrm>
            <a:off x="838200" y="2792315"/>
            <a:ext cx="4916539" cy="914400"/>
          </a:xfrm>
          <a:prstGeom prst="rect">
            <a:avLst/>
          </a:prstGeom>
        </p:spPr>
      </p:pic>
      <p:sp>
        <p:nvSpPr>
          <p:cNvPr id="3" name="投影片編號版面配置區 2">
            <a:extLst>
              <a:ext uri="{FF2B5EF4-FFF2-40B4-BE49-F238E27FC236}">
                <a16:creationId xmlns:a16="http://schemas.microsoft.com/office/drawing/2014/main" id="{7DC623C1-308A-F34B-97A3-2D04FE7E593B}"/>
              </a:ext>
            </a:extLst>
          </p:cNvPr>
          <p:cNvSpPr>
            <a:spLocks noGrp="1"/>
          </p:cNvSpPr>
          <p:nvPr>
            <p:ph type="sldNum" sz="quarter" idx="12"/>
          </p:nvPr>
        </p:nvSpPr>
        <p:spPr/>
        <p:txBody>
          <a:bodyPr/>
          <a:lstStyle/>
          <a:p>
            <a:fld id="{ECBA910D-82EB-F545-8167-DA0C7F9B0A2A}" type="slidenum">
              <a:rPr kumimoji="1" lang="zh-TW" altLang="en-US" smtClean="0"/>
              <a:t>5</a:t>
            </a:fld>
            <a:endParaRPr kumimoji="1" lang="zh-TW" altLang="en-US"/>
          </a:p>
        </p:txBody>
      </p:sp>
    </p:spTree>
    <p:extLst>
      <p:ext uri="{BB962C8B-B14F-4D97-AF65-F5344CB8AC3E}">
        <p14:creationId xmlns:p14="http://schemas.microsoft.com/office/powerpoint/2010/main" val="141301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BFF58-ACAC-F342-BBB3-7A6F0E6A682A}"/>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AE</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networks</a:t>
            </a:r>
            <a:endParaRPr kumimoji="1" lang="zh-TW" altLang="en-US" dirty="0">
              <a:latin typeface="Times New Roman" panose="02020603050405020304" pitchFamily="18" charset="0"/>
              <a:cs typeface="Times New Roman" panose="02020603050405020304" pitchFamily="18" charset="0"/>
            </a:endParaRPr>
          </a:p>
        </p:txBody>
      </p:sp>
      <p:pic>
        <p:nvPicPr>
          <p:cNvPr id="7" name="內容版面配置區 6">
            <a:extLst>
              <a:ext uri="{FF2B5EF4-FFF2-40B4-BE49-F238E27FC236}">
                <a16:creationId xmlns:a16="http://schemas.microsoft.com/office/drawing/2014/main" id="{05007B08-3BAF-6C49-A2BB-B31D43777A93}"/>
              </a:ext>
            </a:extLst>
          </p:cNvPr>
          <p:cNvPicPr>
            <a:picLocks noGrp="1" noChangeAspect="1"/>
          </p:cNvPicPr>
          <p:nvPr>
            <p:ph idx="1"/>
          </p:nvPr>
        </p:nvPicPr>
        <p:blipFill>
          <a:blip r:embed="rId2"/>
          <a:stretch>
            <a:fillRect/>
          </a:stretch>
        </p:blipFill>
        <p:spPr>
          <a:xfrm>
            <a:off x="377058" y="2094806"/>
            <a:ext cx="5853195" cy="4048933"/>
          </a:xfrm>
        </p:spPr>
      </p:pic>
      <p:pic>
        <p:nvPicPr>
          <p:cNvPr id="5" name="圖片 4">
            <a:extLst>
              <a:ext uri="{FF2B5EF4-FFF2-40B4-BE49-F238E27FC236}">
                <a16:creationId xmlns:a16="http://schemas.microsoft.com/office/drawing/2014/main" id="{D075555A-C2AB-AF4A-A6D0-E914D68EC97D}"/>
              </a:ext>
            </a:extLst>
          </p:cNvPr>
          <p:cNvPicPr>
            <a:picLocks noChangeAspect="1"/>
          </p:cNvPicPr>
          <p:nvPr/>
        </p:nvPicPr>
        <p:blipFill>
          <a:blip r:embed="rId3"/>
          <a:stretch>
            <a:fillRect/>
          </a:stretch>
        </p:blipFill>
        <p:spPr>
          <a:xfrm>
            <a:off x="6230253" y="1211770"/>
            <a:ext cx="5442635" cy="4931969"/>
          </a:xfrm>
          <a:prstGeom prst="rect">
            <a:avLst/>
          </a:prstGeom>
        </p:spPr>
      </p:pic>
      <p:sp>
        <p:nvSpPr>
          <p:cNvPr id="3" name="投影片編號版面配置區 2">
            <a:extLst>
              <a:ext uri="{FF2B5EF4-FFF2-40B4-BE49-F238E27FC236}">
                <a16:creationId xmlns:a16="http://schemas.microsoft.com/office/drawing/2014/main" id="{14EB04CD-E9F3-484C-B811-0A2509A745F3}"/>
              </a:ext>
            </a:extLst>
          </p:cNvPr>
          <p:cNvSpPr>
            <a:spLocks noGrp="1"/>
          </p:cNvSpPr>
          <p:nvPr>
            <p:ph type="sldNum" sz="quarter" idx="12"/>
          </p:nvPr>
        </p:nvSpPr>
        <p:spPr/>
        <p:txBody>
          <a:bodyPr/>
          <a:lstStyle/>
          <a:p>
            <a:fld id="{ECBA910D-82EB-F545-8167-DA0C7F9B0A2A}" type="slidenum">
              <a:rPr kumimoji="1" lang="zh-TW" altLang="en-US" smtClean="0"/>
              <a:t>6</a:t>
            </a:fld>
            <a:endParaRPr kumimoji="1" lang="zh-TW" altLang="en-US"/>
          </a:p>
        </p:txBody>
      </p:sp>
    </p:spTree>
    <p:extLst>
      <p:ext uri="{BB962C8B-B14F-4D97-AF65-F5344CB8AC3E}">
        <p14:creationId xmlns:p14="http://schemas.microsoft.com/office/powerpoint/2010/main" val="2838896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BFF58-ACAC-F342-BBB3-7A6F0E6A682A}"/>
              </a:ext>
            </a:extLst>
          </p:cNvPr>
          <p:cNvSpPr>
            <a:spLocks noGrp="1"/>
          </p:cNvSpPr>
          <p:nvPr>
            <p:ph type="title"/>
          </p:nvPr>
        </p:nvSpPr>
        <p:spPr/>
        <p:txBody>
          <a:bodyPr/>
          <a:lstStyle/>
          <a:p>
            <a:r>
              <a:rPr kumimoji="1" lang="en-US" altLang="zh-TW" dirty="0" err="1">
                <a:latin typeface="Times New Roman" panose="02020603050405020304" pitchFamily="18" charset="0"/>
                <a:cs typeface="Times New Roman" panose="02020603050405020304" pitchFamily="18" charset="0"/>
              </a:rPr>
              <a:t>DeepChess</a:t>
            </a:r>
            <a:r>
              <a:rPr kumimoji="1" lang="en-US" altLang="zh-TW" dirty="0">
                <a:latin typeface="Times New Roman" panose="02020603050405020304" pitchFamily="18" charset="0"/>
                <a:cs typeface="Times New Roman" panose="02020603050405020304" pitchFamily="18" charset="0"/>
              </a:rPr>
              <a:t> approach</a:t>
            </a:r>
            <a:endParaRPr kumimoji="1" lang="zh-TW" altLang="en-US" dirty="0">
              <a:latin typeface="Times New Roman" panose="02020603050405020304" pitchFamily="18" charset="0"/>
              <a:cs typeface="Times New Roman" panose="02020603050405020304" pitchFamily="18" charset="0"/>
            </a:endParaRPr>
          </a:p>
        </p:txBody>
      </p:sp>
      <p:pic>
        <p:nvPicPr>
          <p:cNvPr id="8" name="圖片 7">
            <a:extLst>
              <a:ext uri="{FF2B5EF4-FFF2-40B4-BE49-F238E27FC236}">
                <a16:creationId xmlns:a16="http://schemas.microsoft.com/office/drawing/2014/main" id="{DDCD1A62-69C0-5D41-8343-0B8D0BEF80F6}"/>
              </a:ext>
            </a:extLst>
          </p:cNvPr>
          <p:cNvPicPr>
            <a:picLocks noChangeAspect="1"/>
          </p:cNvPicPr>
          <p:nvPr/>
        </p:nvPicPr>
        <p:blipFill>
          <a:blip r:embed="rId3"/>
          <a:stretch>
            <a:fillRect/>
          </a:stretch>
        </p:blipFill>
        <p:spPr>
          <a:xfrm>
            <a:off x="6955952" y="164854"/>
            <a:ext cx="3979777" cy="6660243"/>
          </a:xfrm>
          <a:prstGeom prst="rect">
            <a:avLst/>
          </a:prstGeom>
        </p:spPr>
      </p:pic>
      <p:pic>
        <p:nvPicPr>
          <p:cNvPr id="10" name="圖片 9">
            <a:extLst>
              <a:ext uri="{FF2B5EF4-FFF2-40B4-BE49-F238E27FC236}">
                <a16:creationId xmlns:a16="http://schemas.microsoft.com/office/drawing/2014/main" id="{CB58BDD4-AC9B-724E-8B4E-DE7C31AE0073}"/>
              </a:ext>
            </a:extLst>
          </p:cNvPr>
          <p:cNvPicPr>
            <a:picLocks noChangeAspect="1"/>
          </p:cNvPicPr>
          <p:nvPr/>
        </p:nvPicPr>
        <p:blipFill>
          <a:blip r:embed="rId4"/>
          <a:stretch>
            <a:fillRect/>
          </a:stretch>
        </p:blipFill>
        <p:spPr>
          <a:xfrm>
            <a:off x="918547" y="2278063"/>
            <a:ext cx="5177453" cy="3352800"/>
          </a:xfrm>
          <a:prstGeom prst="rect">
            <a:avLst/>
          </a:prstGeom>
        </p:spPr>
      </p:pic>
      <p:sp>
        <p:nvSpPr>
          <p:cNvPr id="3" name="投影片編號版面配置區 2">
            <a:extLst>
              <a:ext uri="{FF2B5EF4-FFF2-40B4-BE49-F238E27FC236}">
                <a16:creationId xmlns:a16="http://schemas.microsoft.com/office/drawing/2014/main" id="{87134361-712B-F84E-A6AE-BD5ED5883783}"/>
              </a:ext>
            </a:extLst>
          </p:cNvPr>
          <p:cNvSpPr>
            <a:spLocks noGrp="1"/>
          </p:cNvSpPr>
          <p:nvPr>
            <p:ph type="sldNum" sz="quarter" idx="12"/>
          </p:nvPr>
        </p:nvSpPr>
        <p:spPr/>
        <p:txBody>
          <a:bodyPr/>
          <a:lstStyle/>
          <a:p>
            <a:fld id="{ECBA910D-82EB-F545-8167-DA0C7F9B0A2A}" type="slidenum">
              <a:rPr kumimoji="1" lang="zh-TW" altLang="en-US" smtClean="0"/>
              <a:t>7</a:t>
            </a:fld>
            <a:endParaRPr kumimoji="1" lang="zh-TW" altLang="en-US"/>
          </a:p>
        </p:txBody>
      </p:sp>
    </p:spTree>
    <p:extLst>
      <p:ext uri="{BB962C8B-B14F-4D97-AF65-F5344CB8AC3E}">
        <p14:creationId xmlns:p14="http://schemas.microsoft.com/office/powerpoint/2010/main" val="1655454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BFF58-ACAC-F342-BBB3-7A6F0E6A682A}"/>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Points based methods</a:t>
            </a:r>
            <a:endParaRPr kumimoji="1" lang="zh-TW" altLang="en-US" dirty="0">
              <a:latin typeface="Times New Roman" panose="02020603050405020304" pitchFamily="18" charset="0"/>
              <a:cs typeface="Times New Roman" panose="02020603050405020304" pitchFamily="18" charset="0"/>
            </a:endParaRPr>
          </a:p>
        </p:txBody>
      </p:sp>
      <p:pic>
        <p:nvPicPr>
          <p:cNvPr id="7" name="圖片 6" descr="一張含有 桌 的圖片&#10;&#10;自動產生的描述">
            <a:extLst>
              <a:ext uri="{FF2B5EF4-FFF2-40B4-BE49-F238E27FC236}">
                <a16:creationId xmlns:a16="http://schemas.microsoft.com/office/drawing/2014/main" id="{3A76FFAF-D139-7A4C-A64B-233C0A9FED80}"/>
              </a:ext>
            </a:extLst>
          </p:cNvPr>
          <p:cNvPicPr>
            <a:picLocks noChangeAspect="1"/>
          </p:cNvPicPr>
          <p:nvPr/>
        </p:nvPicPr>
        <p:blipFill rotWithShape="1">
          <a:blip r:embed="rId2"/>
          <a:srcRect t="18457"/>
          <a:stretch/>
        </p:blipFill>
        <p:spPr>
          <a:xfrm>
            <a:off x="961768" y="2103437"/>
            <a:ext cx="5994400" cy="1325563"/>
          </a:xfrm>
          <a:prstGeom prst="rect">
            <a:avLst/>
          </a:prstGeom>
        </p:spPr>
      </p:pic>
      <p:pic>
        <p:nvPicPr>
          <p:cNvPr id="9" name="圖片 8" descr="一張含有 桌 的圖片&#10;&#10;自動產生的描述">
            <a:extLst>
              <a:ext uri="{FF2B5EF4-FFF2-40B4-BE49-F238E27FC236}">
                <a16:creationId xmlns:a16="http://schemas.microsoft.com/office/drawing/2014/main" id="{E911DEFE-0232-8C42-BB17-FDD540ADEC2D}"/>
              </a:ext>
            </a:extLst>
          </p:cNvPr>
          <p:cNvPicPr>
            <a:picLocks noChangeAspect="1"/>
          </p:cNvPicPr>
          <p:nvPr/>
        </p:nvPicPr>
        <p:blipFill rotWithShape="1">
          <a:blip r:embed="rId3"/>
          <a:srcRect r="33548"/>
          <a:stretch/>
        </p:blipFill>
        <p:spPr>
          <a:xfrm>
            <a:off x="2114958" y="3841749"/>
            <a:ext cx="3688020" cy="2222500"/>
          </a:xfrm>
          <a:prstGeom prst="rect">
            <a:avLst/>
          </a:prstGeom>
        </p:spPr>
      </p:pic>
      <p:pic>
        <p:nvPicPr>
          <p:cNvPr id="12" name="圖片 11" descr="一張含有 文字 的圖片&#10;&#10;自動產生的描述">
            <a:extLst>
              <a:ext uri="{FF2B5EF4-FFF2-40B4-BE49-F238E27FC236}">
                <a16:creationId xmlns:a16="http://schemas.microsoft.com/office/drawing/2014/main" id="{5CA2E4C7-DB1A-1B48-B477-6D5FC4FB561C}"/>
              </a:ext>
            </a:extLst>
          </p:cNvPr>
          <p:cNvPicPr>
            <a:picLocks noChangeAspect="1"/>
          </p:cNvPicPr>
          <p:nvPr/>
        </p:nvPicPr>
        <p:blipFill>
          <a:blip r:embed="rId4"/>
          <a:stretch>
            <a:fillRect/>
          </a:stretch>
        </p:blipFill>
        <p:spPr>
          <a:xfrm>
            <a:off x="7378700" y="2272740"/>
            <a:ext cx="3975100" cy="3378200"/>
          </a:xfrm>
          <a:prstGeom prst="rect">
            <a:avLst/>
          </a:prstGeom>
        </p:spPr>
      </p:pic>
      <p:sp>
        <p:nvSpPr>
          <p:cNvPr id="3" name="投影片編號版面配置區 2">
            <a:extLst>
              <a:ext uri="{FF2B5EF4-FFF2-40B4-BE49-F238E27FC236}">
                <a16:creationId xmlns:a16="http://schemas.microsoft.com/office/drawing/2014/main" id="{067C2BEB-C65D-1142-93D0-DBE663180AA3}"/>
              </a:ext>
            </a:extLst>
          </p:cNvPr>
          <p:cNvSpPr>
            <a:spLocks noGrp="1"/>
          </p:cNvSpPr>
          <p:nvPr>
            <p:ph type="sldNum" sz="quarter" idx="12"/>
          </p:nvPr>
        </p:nvSpPr>
        <p:spPr/>
        <p:txBody>
          <a:bodyPr/>
          <a:lstStyle/>
          <a:p>
            <a:fld id="{ECBA910D-82EB-F545-8167-DA0C7F9B0A2A}" type="slidenum">
              <a:rPr kumimoji="1" lang="zh-TW" altLang="en-US" smtClean="0"/>
              <a:t>8</a:t>
            </a:fld>
            <a:endParaRPr kumimoji="1" lang="zh-TW" altLang="en-US"/>
          </a:p>
        </p:txBody>
      </p:sp>
    </p:spTree>
    <p:extLst>
      <p:ext uri="{BB962C8B-B14F-4D97-AF65-F5344CB8AC3E}">
        <p14:creationId xmlns:p14="http://schemas.microsoft.com/office/powerpoint/2010/main" val="3774884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022F3F-1F14-F74D-A86B-C9DEAAE1BBDE}"/>
              </a:ext>
            </a:extLst>
          </p:cNvPr>
          <p:cNvSpPr>
            <a:spLocks noGrp="1"/>
          </p:cNvSpPr>
          <p:nvPr>
            <p:ph type="title"/>
          </p:nvPr>
        </p:nvSpPr>
        <p:spPr/>
        <p:txBody>
          <a:bodyPr/>
          <a:lstStyle/>
          <a:p>
            <a:r>
              <a:rPr kumimoji="1" lang="en" altLang="zh-TW" dirty="0">
                <a:latin typeface="Times New Roman" panose="02020603050405020304" pitchFamily="18" charset="0"/>
                <a:cs typeface="Times New Roman" panose="02020603050405020304" pitchFamily="18" charset="0"/>
              </a:rPr>
              <a:t>Experimental results</a:t>
            </a:r>
            <a:endParaRPr kumimoji="1"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43B17D6E-8210-4B48-89E9-3BA3B0215768}"/>
              </a:ext>
            </a:extLst>
          </p:cNvPr>
          <p:cNvPicPr>
            <a:picLocks noGrp="1" noChangeAspect="1"/>
          </p:cNvPicPr>
          <p:nvPr>
            <p:ph idx="1"/>
          </p:nvPr>
        </p:nvPicPr>
        <p:blipFill>
          <a:blip r:embed="rId2"/>
          <a:stretch>
            <a:fillRect/>
          </a:stretch>
        </p:blipFill>
        <p:spPr>
          <a:xfrm>
            <a:off x="2210401" y="2116972"/>
            <a:ext cx="7771198" cy="3802218"/>
          </a:xfrm>
        </p:spPr>
      </p:pic>
      <p:sp>
        <p:nvSpPr>
          <p:cNvPr id="3" name="圓角矩形 2">
            <a:extLst>
              <a:ext uri="{FF2B5EF4-FFF2-40B4-BE49-F238E27FC236}">
                <a16:creationId xmlns:a16="http://schemas.microsoft.com/office/drawing/2014/main" id="{F33B4AC1-E2CF-374D-8802-8C126CDDB546}"/>
              </a:ext>
            </a:extLst>
          </p:cNvPr>
          <p:cNvSpPr/>
          <p:nvPr/>
        </p:nvSpPr>
        <p:spPr>
          <a:xfrm>
            <a:off x="2067815" y="4941848"/>
            <a:ext cx="8056370" cy="977342"/>
          </a:xfrm>
          <a:prstGeom prst="roundRect">
            <a:avLst/>
          </a:prstGeom>
          <a:noFill/>
          <a:ln w="28575">
            <a:solidFill>
              <a:schemeClr val="accent6">
                <a:lumMod val="40000"/>
                <a:lumOff val="60000"/>
              </a:schemeClr>
            </a:solidFill>
            <a:extLst>
              <a:ext uri="{C807C97D-BFC1-408E-A445-0C87EB9F89A2}">
                <ask:lineSketchStyleProps xmlns:ask="http://schemas.microsoft.com/office/drawing/2018/sketchyshapes" sd="1219033472">
                  <a:custGeom>
                    <a:avLst/>
                    <a:gdLst>
                      <a:gd name="connsiteX0" fmla="*/ 0 w 8386762"/>
                      <a:gd name="connsiteY0" fmla="*/ 165004 h 990002"/>
                      <a:gd name="connsiteX1" fmla="*/ 165004 w 8386762"/>
                      <a:gd name="connsiteY1" fmla="*/ 0 h 990002"/>
                      <a:gd name="connsiteX2" fmla="*/ 901622 w 8386762"/>
                      <a:gd name="connsiteY2" fmla="*/ 0 h 990002"/>
                      <a:gd name="connsiteX3" fmla="*/ 1396536 w 8386762"/>
                      <a:gd name="connsiteY3" fmla="*/ 0 h 990002"/>
                      <a:gd name="connsiteX4" fmla="*/ 1810884 w 8386762"/>
                      <a:gd name="connsiteY4" fmla="*/ 0 h 990002"/>
                      <a:gd name="connsiteX5" fmla="*/ 2466934 w 8386762"/>
                      <a:gd name="connsiteY5" fmla="*/ 0 h 990002"/>
                      <a:gd name="connsiteX6" fmla="*/ 2961849 w 8386762"/>
                      <a:gd name="connsiteY6" fmla="*/ 0 h 990002"/>
                      <a:gd name="connsiteX7" fmla="*/ 3698466 w 8386762"/>
                      <a:gd name="connsiteY7" fmla="*/ 0 h 990002"/>
                      <a:gd name="connsiteX8" fmla="*/ 4112813 w 8386762"/>
                      <a:gd name="connsiteY8" fmla="*/ 0 h 990002"/>
                      <a:gd name="connsiteX9" fmla="*/ 4849431 w 8386762"/>
                      <a:gd name="connsiteY9" fmla="*/ 0 h 990002"/>
                      <a:gd name="connsiteX10" fmla="*/ 5183211 w 8386762"/>
                      <a:gd name="connsiteY10" fmla="*/ 0 h 990002"/>
                      <a:gd name="connsiteX11" fmla="*/ 5758693 w 8386762"/>
                      <a:gd name="connsiteY11" fmla="*/ 0 h 990002"/>
                      <a:gd name="connsiteX12" fmla="*/ 6334176 w 8386762"/>
                      <a:gd name="connsiteY12" fmla="*/ 0 h 990002"/>
                      <a:gd name="connsiteX13" fmla="*/ 6829091 w 8386762"/>
                      <a:gd name="connsiteY13" fmla="*/ 0 h 990002"/>
                      <a:gd name="connsiteX14" fmla="*/ 7565708 w 8386762"/>
                      <a:gd name="connsiteY14" fmla="*/ 0 h 990002"/>
                      <a:gd name="connsiteX15" fmla="*/ 8221758 w 8386762"/>
                      <a:gd name="connsiteY15" fmla="*/ 0 h 990002"/>
                      <a:gd name="connsiteX16" fmla="*/ 8386762 w 8386762"/>
                      <a:gd name="connsiteY16" fmla="*/ 165004 h 990002"/>
                      <a:gd name="connsiteX17" fmla="*/ 8386762 w 8386762"/>
                      <a:gd name="connsiteY17" fmla="*/ 501601 h 990002"/>
                      <a:gd name="connsiteX18" fmla="*/ 8386762 w 8386762"/>
                      <a:gd name="connsiteY18" fmla="*/ 824998 h 990002"/>
                      <a:gd name="connsiteX19" fmla="*/ 8221758 w 8386762"/>
                      <a:gd name="connsiteY19" fmla="*/ 990002 h 990002"/>
                      <a:gd name="connsiteX20" fmla="*/ 7807411 w 8386762"/>
                      <a:gd name="connsiteY20" fmla="*/ 990002 h 990002"/>
                      <a:gd name="connsiteX21" fmla="*/ 7231928 w 8386762"/>
                      <a:gd name="connsiteY21" fmla="*/ 990002 h 990002"/>
                      <a:gd name="connsiteX22" fmla="*/ 6817581 w 8386762"/>
                      <a:gd name="connsiteY22" fmla="*/ 990002 h 990002"/>
                      <a:gd name="connsiteX23" fmla="*/ 6242098 w 8386762"/>
                      <a:gd name="connsiteY23" fmla="*/ 990002 h 990002"/>
                      <a:gd name="connsiteX24" fmla="*/ 5908319 w 8386762"/>
                      <a:gd name="connsiteY24" fmla="*/ 990002 h 990002"/>
                      <a:gd name="connsiteX25" fmla="*/ 5574539 w 8386762"/>
                      <a:gd name="connsiteY25" fmla="*/ 990002 h 990002"/>
                      <a:gd name="connsiteX26" fmla="*/ 4999056 w 8386762"/>
                      <a:gd name="connsiteY26" fmla="*/ 990002 h 990002"/>
                      <a:gd name="connsiteX27" fmla="*/ 4584709 w 8386762"/>
                      <a:gd name="connsiteY27" fmla="*/ 990002 h 990002"/>
                      <a:gd name="connsiteX28" fmla="*/ 3928659 w 8386762"/>
                      <a:gd name="connsiteY28" fmla="*/ 990002 h 990002"/>
                      <a:gd name="connsiteX29" fmla="*/ 3514312 w 8386762"/>
                      <a:gd name="connsiteY29" fmla="*/ 990002 h 990002"/>
                      <a:gd name="connsiteX30" fmla="*/ 2858262 w 8386762"/>
                      <a:gd name="connsiteY30" fmla="*/ 990002 h 990002"/>
                      <a:gd name="connsiteX31" fmla="*/ 2524482 w 8386762"/>
                      <a:gd name="connsiteY31" fmla="*/ 990002 h 990002"/>
                      <a:gd name="connsiteX32" fmla="*/ 1868432 w 8386762"/>
                      <a:gd name="connsiteY32" fmla="*/ 990002 h 990002"/>
                      <a:gd name="connsiteX33" fmla="*/ 1454085 w 8386762"/>
                      <a:gd name="connsiteY33" fmla="*/ 990002 h 990002"/>
                      <a:gd name="connsiteX34" fmla="*/ 1120305 w 8386762"/>
                      <a:gd name="connsiteY34" fmla="*/ 990002 h 990002"/>
                      <a:gd name="connsiteX35" fmla="*/ 705957 w 8386762"/>
                      <a:gd name="connsiteY35" fmla="*/ 990002 h 990002"/>
                      <a:gd name="connsiteX36" fmla="*/ 165004 w 8386762"/>
                      <a:gd name="connsiteY36" fmla="*/ 990002 h 990002"/>
                      <a:gd name="connsiteX37" fmla="*/ 0 w 8386762"/>
                      <a:gd name="connsiteY37" fmla="*/ 824998 h 990002"/>
                      <a:gd name="connsiteX38" fmla="*/ 0 w 8386762"/>
                      <a:gd name="connsiteY38" fmla="*/ 508201 h 990002"/>
                      <a:gd name="connsiteX39" fmla="*/ 0 w 8386762"/>
                      <a:gd name="connsiteY39" fmla="*/ 165004 h 990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386762" h="990002" extrusionOk="0">
                        <a:moveTo>
                          <a:pt x="0" y="165004"/>
                        </a:moveTo>
                        <a:cubicBezTo>
                          <a:pt x="-14733" y="64788"/>
                          <a:pt x="52100" y="8172"/>
                          <a:pt x="165004" y="0"/>
                        </a:cubicBezTo>
                        <a:cubicBezTo>
                          <a:pt x="349126" y="-65779"/>
                          <a:pt x="627202" y="34588"/>
                          <a:pt x="901622" y="0"/>
                        </a:cubicBezTo>
                        <a:cubicBezTo>
                          <a:pt x="1176042" y="-34588"/>
                          <a:pt x="1224052" y="51606"/>
                          <a:pt x="1396536" y="0"/>
                        </a:cubicBezTo>
                        <a:cubicBezTo>
                          <a:pt x="1569020" y="-51606"/>
                          <a:pt x="1727564" y="12519"/>
                          <a:pt x="1810884" y="0"/>
                        </a:cubicBezTo>
                        <a:cubicBezTo>
                          <a:pt x="1894204" y="-12519"/>
                          <a:pt x="2228462" y="46013"/>
                          <a:pt x="2466934" y="0"/>
                        </a:cubicBezTo>
                        <a:cubicBezTo>
                          <a:pt x="2705406" y="-46013"/>
                          <a:pt x="2778149" y="11239"/>
                          <a:pt x="2961849" y="0"/>
                        </a:cubicBezTo>
                        <a:cubicBezTo>
                          <a:pt x="3145549" y="-11239"/>
                          <a:pt x="3505794" y="47438"/>
                          <a:pt x="3698466" y="0"/>
                        </a:cubicBezTo>
                        <a:cubicBezTo>
                          <a:pt x="3891138" y="-47438"/>
                          <a:pt x="4016646" y="43616"/>
                          <a:pt x="4112813" y="0"/>
                        </a:cubicBezTo>
                        <a:cubicBezTo>
                          <a:pt x="4208980" y="-43616"/>
                          <a:pt x="4624995" y="77339"/>
                          <a:pt x="4849431" y="0"/>
                        </a:cubicBezTo>
                        <a:cubicBezTo>
                          <a:pt x="5073867" y="-77339"/>
                          <a:pt x="5051542" y="11917"/>
                          <a:pt x="5183211" y="0"/>
                        </a:cubicBezTo>
                        <a:cubicBezTo>
                          <a:pt x="5314880" y="-11917"/>
                          <a:pt x="5544099" y="58452"/>
                          <a:pt x="5758693" y="0"/>
                        </a:cubicBezTo>
                        <a:cubicBezTo>
                          <a:pt x="5973287" y="-58452"/>
                          <a:pt x="6211171" y="24095"/>
                          <a:pt x="6334176" y="0"/>
                        </a:cubicBezTo>
                        <a:cubicBezTo>
                          <a:pt x="6457181" y="-24095"/>
                          <a:pt x="6634797" y="49402"/>
                          <a:pt x="6829091" y="0"/>
                        </a:cubicBezTo>
                        <a:cubicBezTo>
                          <a:pt x="7023386" y="-49402"/>
                          <a:pt x="7377349" y="24317"/>
                          <a:pt x="7565708" y="0"/>
                        </a:cubicBezTo>
                        <a:cubicBezTo>
                          <a:pt x="7754067" y="-24317"/>
                          <a:pt x="7974752" y="45857"/>
                          <a:pt x="8221758" y="0"/>
                        </a:cubicBezTo>
                        <a:cubicBezTo>
                          <a:pt x="8288195" y="4055"/>
                          <a:pt x="8384394" y="72241"/>
                          <a:pt x="8386762" y="165004"/>
                        </a:cubicBezTo>
                        <a:cubicBezTo>
                          <a:pt x="8398311" y="282709"/>
                          <a:pt x="8362958" y="369376"/>
                          <a:pt x="8386762" y="501601"/>
                        </a:cubicBezTo>
                        <a:cubicBezTo>
                          <a:pt x="8410566" y="633826"/>
                          <a:pt x="8368913" y="698138"/>
                          <a:pt x="8386762" y="824998"/>
                        </a:cubicBezTo>
                        <a:cubicBezTo>
                          <a:pt x="8385313" y="918718"/>
                          <a:pt x="8320678" y="995791"/>
                          <a:pt x="8221758" y="990002"/>
                        </a:cubicBezTo>
                        <a:cubicBezTo>
                          <a:pt x="8082649" y="1021445"/>
                          <a:pt x="7906607" y="968182"/>
                          <a:pt x="7807411" y="990002"/>
                        </a:cubicBezTo>
                        <a:cubicBezTo>
                          <a:pt x="7708215" y="1011822"/>
                          <a:pt x="7429805" y="966669"/>
                          <a:pt x="7231928" y="990002"/>
                        </a:cubicBezTo>
                        <a:cubicBezTo>
                          <a:pt x="7034051" y="1013335"/>
                          <a:pt x="6994072" y="983577"/>
                          <a:pt x="6817581" y="990002"/>
                        </a:cubicBezTo>
                        <a:cubicBezTo>
                          <a:pt x="6641090" y="996427"/>
                          <a:pt x="6493528" y="947274"/>
                          <a:pt x="6242098" y="990002"/>
                        </a:cubicBezTo>
                        <a:cubicBezTo>
                          <a:pt x="5990668" y="1032730"/>
                          <a:pt x="6007691" y="968980"/>
                          <a:pt x="5908319" y="990002"/>
                        </a:cubicBezTo>
                        <a:cubicBezTo>
                          <a:pt x="5808947" y="1011024"/>
                          <a:pt x="5712830" y="979686"/>
                          <a:pt x="5574539" y="990002"/>
                        </a:cubicBezTo>
                        <a:cubicBezTo>
                          <a:pt x="5436248" y="1000318"/>
                          <a:pt x="5117169" y="922396"/>
                          <a:pt x="4999056" y="990002"/>
                        </a:cubicBezTo>
                        <a:cubicBezTo>
                          <a:pt x="4880943" y="1057608"/>
                          <a:pt x="4676634" y="952846"/>
                          <a:pt x="4584709" y="990002"/>
                        </a:cubicBezTo>
                        <a:cubicBezTo>
                          <a:pt x="4492784" y="1027158"/>
                          <a:pt x="4252832" y="979059"/>
                          <a:pt x="3928659" y="990002"/>
                        </a:cubicBezTo>
                        <a:cubicBezTo>
                          <a:pt x="3604486" y="1000945"/>
                          <a:pt x="3625017" y="945268"/>
                          <a:pt x="3514312" y="990002"/>
                        </a:cubicBezTo>
                        <a:cubicBezTo>
                          <a:pt x="3403607" y="1034736"/>
                          <a:pt x="3115240" y="988010"/>
                          <a:pt x="2858262" y="990002"/>
                        </a:cubicBezTo>
                        <a:cubicBezTo>
                          <a:pt x="2601284" y="991994"/>
                          <a:pt x="2668726" y="954717"/>
                          <a:pt x="2524482" y="990002"/>
                        </a:cubicBezTo>
                        <a:cubicBezTo>
                          <a:pt x="2380238" y="1025287"/>
                          <a:pt x="2092209" y="929515"/>
                          <a:pt x="1868432" y="990002"/>
                        </a:cubicBezTo>
                        <a:cubicBezTo>
                          <a:pt x="1644655" y="1050489"/>
                          <a:pt x="1653204" y="963863"/>
                          <a:pt x="1454085" y="990002"/>
                        </a:cubicBezTo>
                        <a:cubicBezTo>
                          <a:pt x="1254966" y="1016141"/>
                          <a:pt x="1245746" y="952322"/>
                          <a:pt x="1120305" y="990002"/>
                        </a:cubicBezTo>
                        <a:cubicBezTo>
                          <a:pt x="994864" y="1027682"/>
                          <a:pt x="795710" y="970688"/>
                          <a:pt x="705957" y="990002"/>
                        </a:cubicBezTo>
                        <a:cubicBezTo>
                          <a:pt x="616204" y="1009316"/>
                          <a:pt x="302616" y="960615"/>
                          <a:pt x="165004" y="990002"/>
                        </a:cubicBezTo>
                        <a:cubicBezTo>
                          <a:pt x="80445" y="988263"/>
                          <a:pt x="-1495" y="926486"/>
                          <a:pt x="0" y="824998"/>
                        </a:cubicBezTo>
                        <a:cubicBezTo>
                          <a:pt x="-12078" y="689098"/>
                          <a:pt x="25513" y="631419"/>
                          <a:pt x="0" y="508201"/>
                        </a:cubicBezTo>
                        <a:cubicBezTo>
                          <a:pt x="-25513" y="384983"/>
                          <a:pt x="4492" y="309840"/>
                          <a:pt x="0" y="165004"/>
                        </a:cubicBezTo>
                        <a:close/>
                      </a:path>
                    </a:pathLst>
                  </a:custGeom>
                  <ask:type>
                    <ask:lineSketchNone/>
                  </ask:type>
                </ask:lineSketchStyleProps>
              </a:ext>
            </a:extLst>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TW" altLang="en-US"/>
          </a:p>
        </p:txBody>
      </p:sp>
      <p:sp>
        <p:nvSpPr>
          <p:cNvPr id="4" name="投影片編號版面配置區 3">
            <a:extLst>
              <a:ext uri="{FF2B5EF4-FFF2-40B4-BE49-F238E27FC236}">
                <a16:creationId xmlns:a16="http://schemas.microsoft.com/office/drawing/2014/main" id="{86268245-647D-8348-9C36-9B94BF3AA881}"/>
              </a:ext>
            </a:extLst>
          </p:cNvPr>
          <p:cNvSpPr>
            <a:spLocks noGrp="1"/>
          </p:cNvSpPr>
          <p:nvPr>
            <p:ph type="sldNum" sz="quarter" idx="12"/>
          </p:nvPr>
        </p:nvSpPr>
        <p:spPr/>
        <p:txBody>
          <a:bodyPr/>
          <a:lstStyle/>
          <a:p>
            <a:fld id="{ECBA910D-82EB-F545-8167-DA0C7F9B0A2A}" type="slidenum">
              <a:rPr kumimoji="1" lang="zh-TW" altLang="en-US" smtClean="0"/>
              <a:t>9</a:t>
            </a:fld>
            <a:endParaRPr kumimoji="1" lang="zh-TW" altLang="en-US"/>
          </a:p>
        </p:txBody>
      </p:sp>
    </p:spTree>
    <p:extLst>
      <p:ext uri="{BB962C8B-B14F-4D97-AF65-F5344CB8AC3E}">
        <p14:creationId xmlns:p14="http://schemas.microsoft.com/office/powerpoint/2010/main" val="179034003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5682</TotalTime>
  <Words>391</Words>
  <Application>Microsoft Macintosh PowerPoint</Application>
  <PresentationFormat>寬螢幕</PresentationFormat>
  <Paragraphs>44</Paragraphs>
  <Slides>9</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9</vt:i4>
      </vt:variant>
    </vt:vector>
  </HeadingPairs>
  <TitlesOfParts>
    <vt:vector size="15" baseType="lpstr">
      <vt:lpstr>Times</vt:lpstr>
      <vt:lpstr>Arial</vt:lpstr>
      <vt:lpstr>Calibri</vt:lpstr>
      <vt:lpstr>Calibri Light</vt:lpstr>
      <vt:lpstr>Times New Roman</vt:lpstr>
      <vt:lpstr>Office 佈景主題</vt:lpstr>
      <vt:lpstr>Who should bid higher, NS or WE, in a given Bridge deal.</vt:lpstr>
      <vt:lpstr>Abstract(1/2)</vt:lpstr>
      <vt:lpstr>Abstract(2/2)</vt:lpstr>
      <vt:lpstr>Experimental setup</vt:lpstr>
      <vt:lpstr>Autoencoder</vt:lpstr>
      <vt:lpstr>AE networks</vt:lpstr>
      <vt:lpstr>DeepChess approach</vt:lpstr>
      <vt:lpstr>Points based methods</vt:lpstr>
      <vt:lpstr>Experimental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should bid higher, NS or WE, in a given Bridge deal.</dc:title>
  <dc:creator>M113040012</dc:creator>
  <cp:lastModifiedBy>M113040012</cp:lastModifiedBy>
  <cp:revision>59</cp:revision>
  <dcterms:created xsi:type="dcterms:W3CDTF">2023-02-04T11:01:39Z</dcterms:created>
  <dcterms:modified xsi:type="dcterms:W3CDTF">2023-02-14T08:46:17Z</dcterms:modified>
</cp:coreProperties>
</file>