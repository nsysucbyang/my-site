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B8350C-294B-40A0-860A-2C0452D462B9}">
  <a:tblStyle styleId="{2AB8350C-294B-40A0-860A-2C0452D462B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07fdd0f70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07fdd0f70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07fdd0f70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07fdd0f70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07fdd0f70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07fdd0f70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07fdd0f70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07fdd0f70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同一條序列中的兩個連續match距離要小於等於K + 1</a:t>
            </a:r>
            <a:endParaRPr/>
          </a:p>
          <a:p>
            <a:pPr indent="0" lvl="0" marL="0" rtl="0" algn="l">
              <a:spcBef>
                <a:spcPts val="0"/>
              </a:spcBef>
              <a:spcAft>
                <a:spcPts val="0"/>
              </a:spcAft>
              <a:buNone/>
            </a:pPr>
            <a:r>
              <a:rPr lang="zh-TW"/>
              <a:t>x: 第x個match</a:t>
            </a:r>
            <a:endParaRPr/>
          </a:p>
          <a:p>
            <a:pPr indent="0" lvl="0" marL="0" rtl="0" algn="l">
              <a:spcBef>
                <a:spcPts val="0"/>
              </a:spcBef>
              <a:spcAft>
                <a:spcPts val="0"/>
              </a:spcAft>
              <a:buNone/>
            </a:pPr>
            <a:r>
              <a:rPr lang="zh-TW"/>
              <a:t>p: match總長度</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07fdd0f70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07fdd0f70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某match與他前一個match的距離要小於等於G + 1</a:t>
            </a:r>
            <a:endParaRPr/>
          </a:p>
          <a:p>
            <a:pPr indent="0" lvl="0" marL="0" rtl="0" algn="l">
              <a:spcBef>
                <a:spcPts val="0"/>
              </a:spcBef>
              <a:spcAft>
                <a:spcPts val="0"/>
              </a:spcAft>
              <a:buNone/>
            </a:pPr>
            <a:r>
              <a:rPr lang="zh-TW"/>
              <a:t>G</a:t>
            </a:r>
            <a:r>
              <a:rPr baseline="-25000" lang="zh-TW"/>
              <a:t>S</a:t>
            </a:r>
            <a:r>
              <a:rPr lang="zh-TW"/>
              <a:t>: gap function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07fdd0f70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07fdd0f70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n: A</a:t>
            </a:r>
            <a:r>
              <a:rPr lang="zh-TW"/>
              <a:t>的長度</a:t>
            </a:r>
            <a:endParaRPr/>
          </a:p>
          <a:p>
            <a:pPr indent="0" lvl="0" marL="0" rtl="0" algn="l">
              <a:spcBef>
                <a:spcPts val="0"/>
              </a:spcBef>
              <a:spcAft>
                <a:spcPts val="0"/>
              </a:spcAft>
              <a:buNone/>
            </a:pPr>
            <a:r>
              <a:rPr lang="zh-TW"/>
              <a:t>m: B</a:t>
            </a:r>
            <a:r>
              <a:rPr lang="zh-TW"/>
              <a:t>的長度</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07fdd0f70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07fdd0f70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MG: </a:t>
            </a:r>
            <a:r>
              <a:rPr lang="zh-TW"/>
              <a:t>紅色長方形內的match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07fdd0f700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07fdd0f700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i’</a:t>
            </a:r>
            <a:r>
              <a:rPr lang="zh-TW"/>
              <a:t>的範圍</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07fdd0f70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07fdd0f70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07fdd0f70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07fdd0f70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07fdd0f700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07fdd0f700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07fdd0f700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07fdd0f700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07fdd0f700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07fdd0f700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07fdd0f700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07fdd0f700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07fdd0f700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07fdd0f700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07fdd0f700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07fdd0f700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07fdd0f700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07fdd0f700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8965609c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8965609c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F</a:t>
            </a:r>
            <a:r>
              <a:rPr lang="zh-TW"/>
              <a:t>拿到的是左上角紅色長方形的max</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07fdd0f700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07fdd0f700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07fdd0f70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07fdd0f70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從第i個到尾巴誰最大</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07fdd0f700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07fdd0f700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07fdd0f700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07fdd0f70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SMQ</a:t>
            </a:r>
            <a:r>
              <a:rPr baseline="-25000" lang="zh-TW"/>
              <a:t>D</a:t>
            </a:r>
            <a:r>
              <a:rPr lang="zh-TW"/>
              <a:t> = [10, 8, 8, 8, 8, 8]</a:t>
            </a:r>
            <a:endParaRPr/>
          </a:p>
          <a:p>
            <a:pPr indent="0" lvl="0" marL="0" rtl="0" algn="l">
              <a:spcBef>
                <a:spcPts val="0"/>
              </a:spcBef>
              <a:spcAft>
                <a:spcPts val="0"/>
              </a:spcAft>
              <a:buNone/>
            </a:pPr>
            <a:r>
              <a:rPr lang="zh-TW"/>
              <a:t>解釋一下W = [1, 3], [1, 3, 5], [1, 6]</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8996dd39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8996dd39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8996dd39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8996dd39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find是找括號中元素所在set的老大</a:t>
            </a:r>
            <a:endParaRPr/>
          </a:p>
          <a:p>
            <a:pPr indent="0" lvl="0" marL="0" rtl="0" algn="l">
              <a:spcBef>
                <a:spcPts val="0"/>
              </a:spcBef>
              <a:spcAft>
                <a:spcPts val="0"/>
              </a:spcAft>
              <a:buClr>
                <a:schemeClr val="dk1"/>
              </a:buClr>
              <a:buSzPts val="1100"/>
              <a:buFont typeface="Arial"/>
              <a:buNone/>
            </a:pPr>
            <a:r>
              <a:rPr lang="zh-TW">
                <a:solidFill>
                  <a:schemeClr val="dk1"/>
                </a:solidFill>
              </a:rPr>
              <a:t>花O(n)解掉O(n)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07fdd0f70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07fdd0f70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Q</a:t>
            </a:r>
            <a:r>
              <a:rPr lang="zh-TW"/>
              <a:t>就是|W|</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896560a19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896560a19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Q就是|W|</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896560a192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896560a19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15000"/>
              </a:lnSpc>
              <a:spcBef>
                <a:spcPts val="2400"/>
              </a:spcBef>
              <a:spcAft>
                <a:spcPts val="600"/>
              </a:spcAft>
              <a:buNone/>
            </a:pPr>
            <a:r>
              <a:rPr lang="zh-TW" sz="4400">
                <a:latin typeface="Times New Roman"/>
                <a:ea typeface="Times New Roman"/>
                <a:cs typeface="Times New Roman"/>
                <a:sym typeface="Times New Roman"/>
              </a:rPr>
              <a:t>Finding the gapped longest common subsequence by incremental suffix maximum queries</a:t>
            </a:r>
            <a:endParaRPr sz="44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200">
                <a:solidFill>
                  <a:schemeClr val="dk1"/>
                </a:solidFill>
                <a:latin typeface="Times New Roman"/>
                <a:ea typeface="Times New Roman"/>
                <a:cs typeface="Times New Roman"/>
                <a:sym typeface="Times New Roman"/>
              </a:rPr>
              <a:t>Yung-Hsing Peng, Chang-Biau Yang</a:t>
            </a:r>
            <a:endParaRPr sz="2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200">
                <a:solidFill>
                  <a:schemeClr val="dk1"/>
                </a:solidFill>
                <a:latin typeface="Times New Roman"/>
                <a:ea typeface="Times New Roman"/>
                <a:cs typeface="Times New Roman"/>
                <a:sym typeface="Times New Roman"/>
              </a:rPr>
              <a:t>Information and Computation, Volume 237, October 2014, Pages 95-100</a:t>
            </a:r>
            <a:endParaRPr sz="22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2400">
                <a:solidFill>
                  <a:srgbClr val="000000"/>
                </a:solidFill>
                <a:latin typeface="Times New Roman"/>
                <a:ea typeface="Times New Roman"/>
                <a:cs typeface="Times New Roman"/>
                <a:sym typeface="Times New Roman"/>
              </a:rPr>
              <a:t>Presenter: Guan-Jie Chen</a:t>
            </a:r>
            <a:endParaRPr sz="2400">
              <a:solidFill>
                <a:srgbClr val="000000"/>
              </a:solidFill>
              <a:latin typeface="Times New Roman"/>
              <a:ea typeface="Times New Roman"/>
              <a:cs typeface="Times New Roman"/>
              <a:sym typeface="Times New Roman"/>
            </a:endParaRPr>
          </a:p>
          <a:p>
            <a:pPr indent="0" lvl="0" marL="0" rtl="0" algn="r">
              <a:spcBef>
                <a:spcPts val="0"/>
              </a:spcBef>
              <a:spcAft>
                <a:spcPts val="0"/>
              </a:spcAft>
              <a:buNone/>
            </a:pPr>
            <a:r>
              <a:rPr lang="zh-TW" sz="2400">
                <a:solidFill>
                  <a:srgbClr val="000000"/>
                </a:solidFill>
                <a:latin typeface="Times New Roman"/>
                <a:ea typeface="Times New Roman"/>
                <a:cs typeface="Times New Roman"/>
                <a:sym typeface="Times New Roman"/>
              </a:rPr>
              <a:t>Date: </a:t>
            </a:r>
            <a:r>
              <a:rPr lang="zh-TW" sz="2400">
                <a:latin typeface="Times New Roman"/>
                <a:ea typeface="Times New Roman"/>
                <a:cs typeface="Times New Roman"/>
                <a:sym typeface="Times New Roman"/>
              </a:rPr>
              <a:t>Feb</a:t>
            </a:r>
            <a:r>
              <a:rPr lang="zh-TW" sz="2400">
                <a:solidFill>
                  <a:srgbClr val="000000"/>
                </a:solidFill>
                <a:latin typeface="Times New Roman"/>
                <a:ea typeface="Times New Roman"/>
                <a:cs typeface="Times New Roman"/>
                <a:sym typeface="Times New Roman"/>
              </a:rPr>
              <a:t>. 1</a:t>
            </a:r>
            <a:r>
              <a:rPr lang="zh-TW" sz="2400">
                <a:latin typeface="Times New Roman"/>
                <a:ea typeface="Times New Roman"/>
                <a:cs typeface="Times New Roman"/>
                <a:sym typeface="Times New Roman"/>
              </a:rPr>
              <a:t>4</a:t>
            </a:r>
            <a:r>
              <a:rPr lang="zh-TW" sz="2400">
                <a:solidFill>
                  <a:srgbClr val="000000"/>
                </a:solidFill>
                <a:latin typeface="Times New Roman"/>
                <a:ea typeface="Times New Roman"/>
                <a:cs typeface="Times New Roman"/>
                <a:sym typeface="Times New Roman"/>
              </a:rPr>
              <a:t>, 2023</a:t>
            </a: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lang="zh-TW" sz="2400">
                <a:latin typeface="Times New Roman"/>
                <a:ea typeface="Times New Roman"/>
                <a:cs typeface="Times New Roman"/>
                <a:sym typeface="Times New Roman"/>
              </a:rPr>
              <a:t>Abstract (1 / 2)</a:t>
            </a:r>
            <a:endParaRPr sz="2400">
              <a:latin typeface="Times New Roman"/>
              <a:ea typeface="Times New Roman"/>
              <a:cs typeface="Times New Roman"/>
              <a:sym typeface="Times New Roman"/>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The longest common subsequence (LCS) problem with gap constraints (or the gapped LCS), which has applications to genetics and molecular biology, is an interesting and useful variant to the LCS problem. In previous work, this problem is solved in O(nm) time when the gap constraints are fixed to a single integer, where n and m denote the lengths of the two input sequences A and B, respectively. In this paper, we first generalize the problem from fixed gaps to variable gap constraints.</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None/>
            </a:pPr>
            <a:r>
              <a:rPr lang="zh-TW" sz="2400">
                <a:latin typeface="Times New Roman"/>
                <a:ea typeface="Times New Roman"/>
                <a:cs typeface="Times New Roman"/>
                <a:sym typeface="Times New Roman"/>
              </a:rPr>
              <a:t>Abstract (2 / 2)</a:t>
            </a:r>
            <a:endParaRPr sz="2400">
              <a:latin typeface="Times New Roman"/>
              <a:ea typeface="Times New Roman"/>
              <a:cs typeface="Times New Roman"/>
              <a:sym typeface="Times New Roman"/>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Then, we devise an optimal approach for the incremental suffix maximum query (ISMQ), which helps us obtain an efficient algorithm with O(nm) time for finding LCS with variable gap constraints. In addition, our technique for ISMQ can be applied to solve one of the block edit problems on strings, reducing the time complexity from O(nm logm + m</a:t>
            </a:r>
            <a:r>
              <a:rPr baseline="30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to O(nm + m</a:t>
            </a:r>
            <a:r>
              <a:rPr baseline="30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Hence, the result of this paper is beneficial to related research on sequence analysis and stringology.</a:t>
            </a:r>
            <a:endParaRPr sz="2400">
              <a:solidFill>
                <a:schemeClr val="dk1"/>
              </a:solidFill>
              <a:latin typeface="Times New Roman"/>
              <a:ea typeface="Times New Roman"/>
              <a:cs typeface="Times New Roman"/>
              <a:sym typeface="Times New Roman"/>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Fixed Gap LCS</a:t>
            </a:r>
            <a:endParaRPr sz="2400">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77" name="Google Shape;77;p16"/>
          <p:cNvPicPr preferRelativeResize="0"/>
          <p:nvPr/>
        </p:nvPicPr>
        <p:blipFill>
          <a:blip r:embed="rId3">
            <a:alphaModFix/>
          </a:blip>
          <a:stretch>
            <a:fillRect/>
          </a:stretch>
        </p:blipFill>
        <p:spPr>
          <a:xfrm>
            <a:off x="4370975" y="534850"/>
            <a:ext cx="4461325" cy="4073775"/>
          </a:xfrm>
          <a:prstGeom prst="rect">
            <a:avLst/>
          </a:prstGeom>
          <a:noFill/>
          <a:ln>
            <a:noFill/>
          </a:ln>
        </p:spPr>
      </p:pic>
      <p:sp>
        <p:nvSpPr>
          <p:cNvPr id="78" name="Google Shape;78;p16"/>
          <p:cNvSpPr txBox="1"/>
          <p:nvPr/>
        </p:nvSpPr>
        <p:spPr>
          <a:xfrm>
            <a:off x="311700" y="2583625"/>
            <a:ext cx="3843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i</a:t>
            </a:r>
            <a:r>
              <a:rPr baseline="-25000" lang="zh-TW" sz="2400">
                <a:solidFill>
                  <a:schemeClr val="dk1"/>
                </a:solidFill>
                <a:latin typeface="Times New Roman"/>
                <a:ea typeface="Times New Roman"/>
                <a:cs typeface="Times New Roman"/>
                <a:sym typeface="Times New Roman"/>
              </a:rPr>
              <a:t>x</a:t>
            </a:r>
            <a:r>
              <a:rPr lang="zh-TW" sz="2400">
                <a:solidFill>
                  <a:schemeClr val="dk1"/>
                </a:solidFill>
                <a:latin typeface="Times New Roman"/>
                <a:ea typeface="Times New Roman"/>
                <a:cs typeface="Times New Roman"/>
                <a:sym typeface="Times New Roman"/>
              </a:rPr>
              <a:t> − i</a:t>
            </a:r>
            <a:r>
              <a:rPr baseline="-25000" lang="zh-TW" sz="2400">
                <a:solidFill>
                  <a:schemeClr val="dk1"/>
                </a:solidFill>
                <a:latin typeface="Times New Roman"/>
                <a:ea typeface="Times New Roman"/>
                <a:cs typeface="Times New Roman"/>
                <a:sym typeface="Times New Roman"/>
              </a:rPr>
              <a:t>x−1</a:t>
            </a:r>
            <a:r>
              <a:rPr lang="zh-TW" sz="2400">
                <a:solidFill>
                  <a:schemeClr val="dk1"/>
                </a:solidFill>
                <a:latin typeface="Times New Roman"/>
                <a:ea typeface="Times New Roman"/>
                <a:cs typeface="Times New Roman"/>
                <a:sym typeface="Times New Roman"/>
              </a:rPr>
              <a:t> ≤ K + 1, for 2 ≤ x ≤ p</a:t>
            </a:r>
            <a:endParaRPr sz="2400">
              <a:solidFill>
                <a:schemeClr val="dk1"/>
              </a:solidFill>
              <a:latin typeface="Times New Roman"/>
              <a:ea typeface="Times New Roman"/>
              <a:cs typeface="Times New Roman"/>
              <a:sym typeface="Times New Roman"/>
            </a:endParaRPr>
          </a:p>
        </p:txBody>
      </p:sp>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Variable Gap LCS</a:t>
            </a:r>
            <a:endParaRPr sz="2400">
              <a:latin typeface="Times New Roman"/>
              <a:ea typeface="Times New Roman"/>
              <a:cs typeface="Times New Roman"/>
              <a:sym typeface="Times New Roman"/>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86" name="Google Shape;86;p17"/>
          <p:cNvPicPr preferRelativeResize="0"/>
          <p:nvPr/>
        </p:nvPicPr>
        <p:blipFill>
          <a:blip r:embed="rId3">
            <a:alphaModFix/>
          </a:blip>
          <a:stretch>
            <a:fillRect/>
          </a:stretch>
        </p:blipFill>
        <p:spPr>
          <a:xfrm>
            <a:off x="4445100" y="537771"/>
            <a:ext cx="4387200" cy="4067979"/>
          </a:xfrm>
          <a:prstGeom prst="rect">
            <a:avLst/>
          </a:prstGeom>
          <a:noFill/>
          <a:ln>
            <a:noFill/>
          </a:ln>
        </p:spPr>
      </p:pic>
      <p:sp>
        <p:nvSpPr>
          <p:cNvPr id="87" name="Google Shape;87;p17"/>
          <p:cNvSpPr txBox="1"/>
          <p:nvPr/>
        </p:nvSpPr>
        <p:spPr>
          <a:xfrm>
            <a:off x="311700" y="1844725"/>
            <a:ext cx="4387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G</a:t>
            </a:r>
            <a:r>
              <a:rPr baseline="-25000" lang="zh-TW" sz="2400">
                <a:solidFill>
                  <a:schemeClr val="dk1"/>
                </a:solidFill>
                <a:latin typeface="Times New Roman"/>
                <a:ea typeface="Times New Roman"/>
                <a:cs typeface="Times New Roman"/>
                <a:sym typeface="Times New Roman"/>
              </a:rPr>
              <a:t>A</a:t>
            </a:r>
            <a:r>
              <a:rPr lang="zh-TW" sz="2400">
                <a:solidFill>
                  <a:schemeClr val="dk1"/>
                </a:solidFill>
                <a:latin typeface="Times New Roman"/>
                <a:ea typeface="Times New Roman"/>
                <a:cs typeface="Times New Roman"/>
                <a:sym typeface="Times New Roman"/>
              </a:rPr>
              <a:t> = [2, 3, 0, 0, 3, 2, 2]</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G</a:t>
            </a:r>
            <a:r>
              <a:rPr baseline="-25000" lang="zh-TW" sz="2400">
                <a:solidFill>
                  <a:schemeClr val="dk1"/>
                </a:solidFill>
                <a:latin typeface="Times New Roman"/>
                <a:ea typeface="Times New Roman"/>
                <a:cs typeface="Times New Roman"/>
                <a:sym typeface="Times New Roman"/>
              </a:rPr>
              <a:t>B</a:t>
            </a:r>
            <a:r>
              <a:rPr lang="zh-TW" sz="2400">
                <a:solidFill>
                  <a:schemeClr val="dk1"/>
                </a:solidFill>
                <a:latin typeface="Times New Roman"/>
                <a:ea typeface="Times New Roman"/>
                <a:cs typeface="Times New Roman"/>
                <a:sym typeface="Times New Roman"/>
              </a:rPr>
              <a:t> = [2, 0, 0, 0, 3, 0, 0, 2, 3]</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i</a:t>
            </a:r>
            <a:r>
              <a:rPr baseline="-25000" lang="zh-TW" sz="2400">
                <a:solidFill>
                  <a:schemeClr val="dk1"/>
                </a:solidFill>
                <a:latin typeface="Times New Roman"/>
                <a:ea typeface="Times New Roman"/>
                <a:cs typeface="Times New Roman"/>
                <a:sym typeface="Times New Roman"/>
              </a:rPr>
              <a:t>x</a:t>
            </a:r>
            <a:r>
              <a:rPr lang="zh-TW" sz="2400">
                <a:solidFill>
                  <a:schemeClr val="dk1"/>
                </a:solidFill>
                <a:latin typeface="Times New Roman"/>
                <a:ea typeface="Times New Roman"/>
                <a:cs typeface="Times New Roman"/>
                <a:sym typeface="Times New Roman"/>
              </a:rPr>
              <a:t> − i</a:t>
            </a:r>
            <a:r>
              <a:rPr baseline="-25000" lang="zh-TW" sz="2400">
                <a:solidFill>
                  <a:schemeClr val="dk1"/>
                </a:solidFill>
                <a:latin typeface="Times New Roman"/>
                <a:ea typeface="Times New Roman"/>
                <a:cs typeface="Times New Roman"/>
                <a:sym typeface="Times New Roman"/>
              </a:rPr>
              <a:t>x−1</a:t>
            </a:r>
            <a:r>
              <a:rPr lang="zh-TW" sz="2400">
                <a:solidFill>
                  <a:schemeClr val="dk1"/>
                </a:solidFill>
                <a:latin typeface="Times New Roman"/>
                <a:ea typeface="Times New Roman"/>
                <a:cs typeface="Times New Roman"/>
                <a:sym typeface="Times New Roman"/>
              </a:rPr>
              <a:t> ≤ G</a:t>
            </a:r>
            <a:r>
              <a:rPr baseline="-25000" lang="zh-TW" sz="2400">
                <a:solidFill>
                  <a:schemeClr val="dk1"/>
                </a:solidFill>
                <a:latin typeface="Times New Roman"/>
                <a:ea typeface="Times New Roman"/>
                <a:cs typeface="Times New Roman"/>
                <a:sym typeface="Times New Roman"/>
              </a:rPr>
              <a:t>S</a:t>
            </a:r>
            <a:r>
              <a:rPr lang="zh-TW" sz="2400">
                <a:solidFill>
                  <a:schemeClr val="dk1"/>
                </a:solidFill>
                <a:latin typeface="Times New Roman"/>
                <a:ea typeface="Times New Roman"/>
                <a:cs typeface="Times New Roman"/>
                <a:sym typeface="Times New Roman"/>
              </a:rPr>
              <a:t> (i</a:t>
            </a:r>
            <a:r>
              <a:rPr baseline="-25000" lang="zh-TW" sz="2400">
                <a:solidFill>
                  <a:schemeClr val="dk1"/>
                </a:solidFill>
                <a:latin typeface="Times New Roman"/>
                <a:ea typeface="Times New Roman"/>
                <a:cs typeface="Times New Roman"/>
                <a:sym typeface="Times New Roman"/>
              </a:rPr>
              <a:t>x</a:t>
            </a:r>
            <a:r>
              <a:rPr lang="zh-TW" sz="2400">
                <a:solidFill>
                  <a:schemeClr val="dk1"/>
                </a:solidFill>
                <a:latin typeface="Times New Roman"/>
                <a:ea typeface="Times New Roman"/>
                <a:cs typeface="Times New Roman"/>
                <a:sym typeface="Times New Roman"/>
              </a:rPr>
              <a:t>) + 1, for 2 ≤ x ≤ p</a:t>
            </a:r>
            <a:endParaRPr sz="2400">
              <a:solidFill>
                <a:schemeClr val="dk1"/>
              </a:solidFill>
              <a:latin typeface="Times New Roman"/>
              <a:ea typeface="Times New Roman"/>
              <a:cs typeface="Times New Roman"/>
              <a:sym typeface="Times New Roman"/>
            </a:endParaRPr>
          </a:p>
        </p:txBody>
      </p:sp>
      <p:sp>
        <p:nvSpPr>
          <p:cNvPr id="88" name="Google Shape;8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VGLCS to FGLCS</a:t>
            </a:r>
            <a:endParaRPr sz="2400">
              <a:latin typeface="Times New Roman"/>
              <a:ea typeface="Times New Roman"/>
              <a:cs typeface="Times New Roman"/>
              <a:sym typeface="Times New Roman"/>
            </a:endParaRPr>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G</a:t>
            </a:r>
            <a:r>
              <a:rPr baseline="-25000" lang="zh-TW" sz="2400">
                <a:solidFill>
                  <a:schemeClr val="dk1"/>
                </a:solidFill>
                <a:latin typeface="Times New Roman"/>
                <a:ea typeface="Times New Roman"/>
                <a:cs typeface="Times New Roman"/>
                <a:sym typeface="Times New Roman"/>
              </a:rPr>
              <a:t>A</a:t>
            </a:r>
            <a:r>
              <a:rPr lang="zh-TW" sz="2400">
                <a:solidFill>
                  <a:schemeClr val="dk1"/>
                </a:solidFill>
                <a:latin typeface="Times New Roman"/>
                <a:ea typeface="Times New Roman"/>
                <a:cs typeface="Times New Roman"/>
                <a:sym typeface="Times New Roman"/>
              </a:rPr>
              <a:t>(i) = k, for 2 ≤ i ≤ 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G</a:t>
            </a:r>
            <a:r>
              <a:rPr baseline="-25000" lang="zh-TW" sz="2400">
                <a:solidFill>
                  <a:schemeClr val="dk1"/>
                </a:solidFill>
                <a:latin typeface="Times New Roman"/>
                <a:ea typeface="Times New Roman"/>
                <a:cs typeface="Times New Roman"/>
                <a:sym typeface="Times New Roman"/>
              </a:rPr>
              <a:t>B</a:t>
            </a:r>
            <a:r>
              <a:rPr lang="zh-TW" sz="2400">
                <a:solidFill>
                  <a:schemeClr val="dk1"/>
                </a:solidFill>
                <a:latin typeface="Times New Roman"/>
                <a:ea typeface="Times New Roman"/>
                <a:cs typeface="Times New Roman"/>
                <a:sym typeface="Times New Roman"/>
              </a:rPr>
              <a:t>(j) = k, for 2 ≤ j ≤ m</a:t>
            </a:r>
            <a:endParaRPr sz="2400">
              <a:solidFill>
                <a:schemeClr val="dk1"/>
              </a:solidFill>
              <a:latin typeface="Times New Roman"/>
              <a:ea typeface="Times New Roman"/>
              <a:cs typeface="Times New Roman"/>
              <a:sym typeface="Times New Roman"/>
            </a:endParaRPr>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Preliminaries</a:t>
            </a:r>
            <a:endParaRPr sz="2400">
              <a:latin typeface="Times New Roman"/>
              <a:ea typeface="Times New Roman"/>
              <a:cs typeface="Times New Roman"/>
              <a:sym typeface="Times New Roman"/>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F[i][j]: A[1, i]與B[1, j]的VGCS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V[i][j]: A[1, i]與B[1, j]的VGLCS</a:t>
            </a:r>
            <a:endParaRPr sz="2400">
              <a:solidFill>
                <a:schemeClr val="dk1"/>
              </a:solidFill>
              <a:latin typeface="Times New Roman"/>
              <a:ea typeface="Times New Roman"/>
              <a:cs typeface="Times New Roman"/>
              <a:sym typeface="Times New Roman"/>
            </a:endParaRPr>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03" name="Google Shape;103;p19"/>
          <p:cNvPicPr preferRelativeResize="0"/>
          <p:nvPr/>
        </p:nvPicPr>
        <p:blipFill>
          <a:blip r:embed="rId3">
            <a:alphaModFix/>
          </a:blip>
          <a:stretch>
            <a:fillRect/>
          </a:stretch>
        </p:blipFill>
        <p:spPr>
          <a:xfrm>
            <a:off x="1006626" y="2460776"/>
            <a:ext cx="7130750" cy="210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F[i][j]</a:t>
            </a:r>
            <a:endParaRPr sz="2400">
              <a:latin typeface="Times New Roman"/>
              <a:ea typeface="Times New Roman"/>
              <a:cs typeface="Times New Roman"/>
              <a:sym typeface="Times New Roman"/>
            </a:endParaRPr>
          </a:p>
        </p:txBody>
      </p:sp>
      <p:sp>
        <p:nvSpPr>
          <p:cNvPr id="109" name="Google Shape;10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10" name="Google Shape;11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11" name="Google Shape;111;p20"/>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gridSpan="3"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rowSpan="3" hMerge="1"/>
                <a:tc rowSpan="3" h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gridSpan="3" vMerge="1"/>
                <a:tc hMerge="1" vMerge="1"/>
                <a:tc hMerge="1"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gridSpan="3" vMerge="1"/>
                <a:tc hMerge="1" vMerge="1"/>
                <a:tc hMerge="1"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Time Complexity</a:t>
            </a:r>
            <a:endParaRPr sz="2400">
              <a:latin typeface="Times New Roman"/>
              <a:ea typeface="Times New Roman"/>
              <a:cs typeface="Times New Roman"/>
              <a:sym typeface="Times New Roman"/>
            </a:endParaRPr>
          </a:p>
        </p:txBody>
      </p:sp>
      <p:sp>
        <p:nvSpPr>
          <p:cNvPr id="117" name="Google Shape;11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O(nm) for F[i][j]</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O(nm) for V[i][j]</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O(n</a:t>
            </a:r>
            <a:r>
              <a:rPr baseline="30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m</a:t>
            </a:r>
            <a:r>
              <a:rPr baseline="30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VGLCS (Improved)</a:t>
            </a:r>
            <a:endParaRPr sz="2400">
              <a:latin typeface="Times New Roman"/>
              <a:ea typeface="Times New Roman"/>
              <a:cs typeface="Times New Roman"/>
              <a:sym typeface="Times New Roman"/>
            </a:endParaRPr>
          </a:p>
        </p:txBody>
      </p:sp>
      <p:sp>
        <p:nvSpPr>
          <p:cNvPr id="124" name="Google Shape;12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25" name="Google Shape;12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26" name="Google Shape;126;p22"/>
          <p:cNvPicPr preferRelativeResize="0"/>
          <p:nvPr/>
        </p:nvPicPr>
        <p:blipFill>
          <a:blip r:embed="rId3">
            <a:alphaModFix/>
          </a:blip>
          <a:stretch>
            <a:fillRect/>
          </a:stretch>
        </p:blipFill>
        <p:spPr>
          <a:xfrm>
            <a:off x="0" y="2224054"/>
            <a:ext cx="9144001" cy="69539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32" name="Google Shape;13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33" name="Google Shape;133;p23"/>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rgbClr val="FF9900"/>
                          </a:solidFill>
                          <a:latin typeface="Times New Roman"/>
                          <a:ea typeface="Times New Roman"/>
                          <a:cs typeface="Times New Roman"/>
                          <a:sym typeface="Times New Roman"/>
                        </a:rPr>
                        <a:t>F</a:t>
                      </a:r>
                      <a:endParaRPr sz="1800">
                        <a:solidFill>
                          <a:srgbClr val="FF9900"/>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40" name="Google Shape;140;p24"/>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rgbClr val="9900FF"/>
                          </a:solidFill>
                          <a:latin typeface="Times New Roman"/>
                          <a:ea typeface="Times New Roman"/>
                          <a:cs typeface="Times New Roman"/>
                          <a:sym typeface="Times New Roman"/>
                        </a:rPr>
                        <a:t>Col</a:t>
                      </a:r>
                      <a:endParaRPr sz="1800">
                        <a:solidFill>
                          <a:srgbClr val="9900FF"/>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rgbClr val="FF0000"/>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46" name="Google Shape;14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47" name="Google Shape;147;p25"/>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rgbClr val="FF9900"/>
                          </a:solidFill>
                          <a:latin typeface="Times New Roman"/>
                          <a:ea typeface="Times New Roman"/>
                          <a:cs typeface="Times New Roman"/>
                          <a:sym typeface="Times New Roman"/>
                        </a:rPr>
                        <a:t>F</a:t>
                      </a:r>
                      <a:endParaRPr sz="1800">
                        <a:solidFill>
                          <a:srgbClr val="FF9900"/>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0000FF"/>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FF0000"/>
                      </a:solidFill>
                      <a:prstDash val="solid"/>
                      <a:round/>
                      <a:headEnd len="sm" w="sm" type="none"/>
                      <a:tailEnd len="sm" w="sm" type="none"/>
                    </a:lnL>
                    <a:lnR cap="flat" cmpd="sng" w="9525">
                      <a:solidFill>
                        <a:srgbClr val="0000FF"/>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FF"/>
                      </a:solidFill>
                      <a:prstDash val="solid"/>
                      <a:round/>
                      <a:headEnd len="sm" w="sm" type="none"/>
                      <a:tailEnd len="sm" w="sm" type="none"/>
                    </a:lnL>
                    <a:lnR cap="flat" cmpd="sng" w="9525">
                      <a:solidFill>
                        <a:srgbClr val="0000FF"/>
                      </a:solidFill>
                      <a:prstDash val="solid"/>
                      <a:round/>
                      <a:headEnd len="sm" w="sm" type="none"/>
                      <a:tailEnd len="sm" w="sm" type="none"/>
                    </a:lnR>
                    <a:lnT cap="flat" cmpd="sng" w="9525">
                      <a:solidFill>
                        <a:srgbClr val="0000FF"/>
                      </a:solidFill>
                      <a:prstDash val="solid"/>
                      <a:round/>
                      <a:headEnd len="sm" w="sm" type="none"/>
                      <a:tailEnd len="sm" w="sm" type="none"/>
                    </a:lnT>
                    <a:lnB cap="flat" cmpd="sng" w="9525">
                      <a:solidFill>
                        <a:srgbClr val="0000FF"/>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F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vMerge="1"/>
                <a:tc vMerge="1"/>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F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FF0000"/>
                      </a:solidFill>
                      <a:prstDash val="solid"/>
                      <a:round/>
                      <a:headEnd len="sm" w="sm" type="none"/>
                      <a:tailEnd len="sm" w="sm" type="none"/>
                    </a:lnR>
                  </a:tcPr>
                </a:tc>
                <a:tc vMerge="1"/>
                <a:tc vMerge="1"/>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0000FF"/>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0000FF"/>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53" name="Google Shape;15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54" name="Google Shape;154;p26"/>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rgbClr val="9900FF"/>
                          </a:solidFill>
                          <a:latin typeface="Times New Roman"/>
                          <a:ea typeface="Times New Roman"/>
                          <a:cs typeface="Times New Roman"/>
                          <a:sym typeface="Times New Roman"/>
                        </a:rPr>
                        <a:t>Col</a:t>
                      </a:r>
                      <a:endParaRPr sz="1800">
                        <a:solidFill>
                          <a:srgbClr val="9900FF"/>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vMerge="1"/>
                <a:tc vMerge="1"/>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vMerge="1"/>
                <a:tc vMerge="1"/>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rgbClr val="FF0000"/>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rgbClr val="0000FF"/>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60" name="Google Shape;16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61" name="Google Shape;161;p27"/>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rgbClr val="9900FF"/>
                          </a:solidFill>
                          <a:latin typeface="Times New Roman"/>
                          <a:ea typeface="Times New Roman"/>
                          <a:cs typeface="Times New Roman"/>
                          <a:sym typeface="Times New Roman"/>
                        </a:rPr>
                        <a:t>Col</a:t>
                      </a:r>
                      <a:endParaRPr sz="1800">
                        <a:solidFill>
                          <a:srgbClr val="9900FF"/>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rgbClr val="FF0000"/>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rgbClr val="0000FF"/>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solidFill>
                      <a:srgbClr val="FF0000"/>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solidFill>
                      <a:srgbClr val="0000FF"/>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solidFill>
                      <a:srgbClr val="FF0000"/>
                    </a:solidFill>
                  </a:tcPr>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67" name="Google Shape;16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68" name="Google Shape;168;p28"/>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Clr>
                          <a:schemeClr val="dk1"/>
                        </a:buClr>
                        <a:buSzPts val="1100"/>
                        <a:buFont typeface="Arial"/>
                        <a:buNone/>
                      </a:pPr>
                      <a:r>
                        <a:rPr lang="zh-TW" sz="1800">
                          <a:solidFill>
                            <a:srgbClr val="9900FF"/>
                          </a:solidFill>
                          <a:latin typeface="Times New Roman"/>
                          <a:ea typeface="Times New Roman"/>
                          <a:cs typeface="Times New Roman"/>
                          <a:sym typeface="Times New Roman"/>
                        </a:rPr>
                        <a:t>Col</a:t>
                      </a:r>
                      <a:endParaRPr sz="18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lnB cap="flat" cmpd="sng" w="9525">
                      <a:solidFill>
                        <a:srgbClr val="999999"/>
                      </a:solidFill>
                      <a:prstDash val="solid"/>
                      <a:round/>
                      <a:headEnd len="sm" w="sm" type="none"/>
                      <a:tailEnd len="sm" w="sm" type="none"/>
                    </a:lnB>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grid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accent4"/>
                      </a:solidFill>
                      <a:prstDash val="solid"/>
                      <a:round/>
                      <a:headEnd len="sm" w="sm" type="none"/>
                      <a:tailEnd len="sm" w="sm" type="none"/>
                    </a:lnL>
                    <a:lnR cap="flat" cmpd="sng" w="9525">
                      <a:solidFill>
                        <a:schemeClr val="accent4"/>
                      </a:solidFill>
                      <a:prstDash val="solid"/>
                      <a:round/>
                      <a:headEnd len="sm" w="sm" type="none"/>
                      <a:tailEnd len="sm" w="sm" type="none"/>
                    </a:lnR>
                    <a:lnT cap="flat" cmpd="sng" w="9525">
                      <a:solidFill>
                        <a:schemeClr val="accent4"/>
                      </a:solidFill>
                      <a:prstDash val="solid"/>
                      <a:round/>
                      <a:headEnd len="sm" w="sm" type="none"/>
                      <a:tailEnd len="sm" w="sm" type="none"/>
                    </a:lnT>
                    <a:lnB cap="flat" cmpd="sng" w="9525">
                      <a:solidFill>
                        <a:schemeClr val="accent4"/>
                      </a:solidFill>
                      <a:prstDash val="solid"/>
                      <a:round/>
                      <a:headEnd len="sm" w="sm" type="none"/>
                      <a:tailEnd len="sm" w="sm" type="none"/>
                    </a:lnB>
                    <a:solidFill>
                      <a:schemeClr val="lt1"/>
                    </a:solidFill>
                  </a:tcPr>
                </a:tc>
                <a:tc hMerge="1"/>
                <a:tc hMerge="1"/>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chemeClr val="accent4"/>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chemeClr val="accent4"/>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chemeClr val="accent4"/>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chemeClr val="accent4"/>
                      </a:solidFill>
                      <a:prstDash val="solid"/>
                      <a:round/>
                      <a:headEnd len="sm" w="sm" type="none"/>
                      <a:tailEnd len="sm" w="sm" type="none"/>
                    </a:lnT>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74" name="Google Shape;17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75" name="Google Shape;175;p29"/>
          <p:cNvGraphicFramePr/>
          <p:nvPr/>
        </p:nvGraphicFramePr>
        <p:xfrm>
          <a:off x="1696900" y="75"/>
          <a:ext cx="3000000" cy="3000000"/>
        </p:xfrm>
        <a:graphic>
          <a:graphicData uri="http://schemas.openxmlformats.org/drawingml/2006/table">
            <a:tbl>
              <a:tblPr>
                <a:noFill/>
                <a:tableStyleId>{2AB8350C-294B-40A0-860A-2C0452D462B9}</a:tableStyleId>
              </a:tblPr>
              <a:tblGrid>
                <a:gridCol w="883775"/>
                <a:gridCol w="883775"/>
                <a:gridCol w="883775"/>
                <a:gridCol w="883775"/>
                <a:gridCol w="883775"/>
                <a:gridCol w="883775"/>
                <a:gridCol w="883775"/>
                <a:gridCol w="883775"/>
              </a:tblGrid>
              <a:tr h="883025">
                <a:tc>
                  <a:txBody>
                    <a:bodyPr/>
                    <a:lstStyle/>
                    <a:p>
                      <a:pPr indent="0" lvl="0" marL="0" rtl="0" algn="ctr">
                        <a:spcBef>
                          <a:spcPts val="0"/>
                        </a:spcBef>
                        <a:spcAft>
                          <a:spcPts val="0"/>
                        </a:spcAft>
                        <a:buNone/>
                      </a:pPr>
                      <a:r>
                        <a:rPr lang="zh-TW" sz="1800">
                          <a:solidFill>
                            <a:schemeClr val="accent1"/>
                          </a:solidFill>
                          <a:latin typeface="Times New Roman"/>
                          <a:ea typeface="Times New Roman"/>
                          <a:cs typeface="Times New Roman"/>
                          <a:sym typeface="Times New Roman"/>
                        </a:rPr>
                        <a:t>All</a:t>
                      </a:r>
                      <a:endParaRPr sz="18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j-1-GB(j)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B</a:t>
                      </a:r>
                      <a:r>
                        <a:rPr baseline="-25000" lang="zh-TW" sz="1800">
                          <a:solidFill>
                            <a:schemeClr val="dk1"/>
                          </a:solidFill>
                          <a:latin typeface="Times New Roman"/>
                          <a:ea typeface="Times New Roman"/>
                          <a:cs typeface="Times New Roman"/>
                          <a:sym typeface="Times New Roman"/>
                        </a:rPr>
                        <a:t>j</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1</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88302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i-1-GA(i)</a:t>
                      </a:r>
                      <a:endParaRPr baseline="-25000"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R cap="flat" cmpd="sng" w="9525">
                      <a:solidFill>
                        <a:srgbClr val="999999"/>
                      </a:solidFill>
                      <a:prstDash val="solid"/>
                      <a:round/>
                      <a:headEnd len="sm" w="sm" type="none"/>
                      <a:tailEnd len="sm" w="sm" type="none"/>
                    </a:lnR>
                  </a:tcPr>
                </a:tc>
                <a:tc row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rowSpan="3">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728550">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i-1</a:t>
                      </a:r>
                      <a:endParaRPr baseline="-25000" sz="1800">
                        <a:solidFill>
                          <a:schemeClr val="dk1"/>
                        </a:solidFill>
                        <a:latin typeface="Times New Roman"/>
                        <a:ea typeface="Times New Roman"/>
                        <a:cs typeface="Times New Roman"/>
                        <a:sym typeface="Times New Roman"/>
                      </a:endParaRPr>
                    </a:p>
                  </a:txBody>
                  <a:tcPr marT="91425" marB="91425" marR="91425" marL="91425"/>
                </a:tc>
                <a:tc vMerge="1"/>
                <a:tc vMerge="1"/>
                <a:tc vMerge="1"/>
                <a:tc vMerge="1"/>
                <a:tc vMerge="1"/>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L cap="flat" cmpd="sng" w="9525">
                      <a:solidFill>
                        <a:srgbClr val="999999"/>
                      </a:solidFill>
                      <a:prstDash val="solid"/>
                      <a:round/>
                      <a:headEnd len="sm" w="sm" type="none"/>
                      <a:tailEnd len="sm" w="sm" type="none"/>
                    </a:ln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a:t>
                      </a:r>
                      <a:r>
                        <a:rPr baseline="-25000" lang="zh-TW" sz="1800">
                          <a:solidFill>
                            <a:schemeClr val="dk1"/>
                          </a:solidFill>
                          <a:latin typeface="Times New Roman"/>
                          <a:ea typeface="Times New Roman"/>
                          <a:cs typeface="Times New Roman"/>
                          <a:sym typeface="Times New Roman"/>
                        </a:rPr>
                        <a:t>i</a:t>
                      </a:r>
                      <a:endParaRPr baseline="-25000"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chemeClr val="lt1"/>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solidFill>
                      <a:schemeClr val="lt1"/>
                    </a:solidFill>
                  </a:tcPr>
                </a:tc>
                <a:tc gridSpan="3">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lnT cap="flat" cmpd="sng" w="9525">
                      <a:solidFill>
                        <a:srgbClr val="999999"/>
                      </a:solidFill>
                      <a:prstDash val="solid"/>
                      <a:round/>
                      <a:headEnd len="sm" w="sm" type="none"/>
                      <a:tailEnd len="sm" w="sm" type="none"/>
                    </a:lnT>
                    <a:solidFill>
                      <a:schemeClr val="lt1"/>
                    </a:solidFill>
                  </a:tcPr>
                </a:tc>
                <a:tc hMerge="1"/>
                <a:tc hMerge="1"/>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r h="529775">
                <a:tc>
                  <a:txBody>
                    <a:bodyPr/>
                    <a:lstStyle/>
                    <a:p>
                      <a:pPr indent="0" lvl="0" marL="0" rtl="0" algn="ctr">
                        <a:spcBef>
                          <a:spcPts val="0"/>
                        </a:spcBef>
                        <a:spcAft>
                          <a:spcPts val="0"/>
                        </a:spcAft>
                        <a:buNone/>
                      </a:pPr>
                      <a:r>
                        <a:rPr lang="zh-TW"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181" name="Google Shape;18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82" name="Google Shape;18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83" name="Google Shape;183;p30"/>
          <p:cNvPicPr preferRelativeResize="0"/>
          <p:nvPr/>
        </p:nvPicPr>
        <p:blipFill>
          <a:blip r:embed="rId3">
            <a:alphaModFix/>
          </a:blip>
          <a:stretch>
            <a:fillRect/>
          </a:stretch>
        </p:blipFill>
        <p:spPr>
          <a:xfrm>
            <a:off x="157392" y="0"/>
            <a:ext cx="8829217"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Time Complexity</a:t>
            </a:r>
            <a:endParaRPr sz="2400">
              <a:latin typeface="Times New Roman"/>
              <a:ea typeface="Times New Roman"/>
              <a:cs typeface="Times New Roman"/>
              <a:sym typeface="Times New Roman"/>
            </a:endParaRPr>
          </a:p>
        </p:txBody>
      </p:sp>
      <p:sp>
        <p:nvSpPr>
          <p:cNvPr id="189" name="Google Shape;18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O(αnm)</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α: each Col[i][j] and All[i][j]</a:t>
            </a:r>
            <a:endParaRPr sz="2400">
              <a:solidFill>
                <a:schemeClr val="dk1"/>
              </a:solidFill>
              <a:latin typeface="Times New Roman"/>
              <a:ea typeface="Times New Roman"/>
              <a:cs typeface="Times New Roman"/>
              <a:sym typeface="Times New Roman"/>
            </a:endParaRPr>
          </a:p>
        </p:txBody>
      </p:sp>
      <p:sp>
        <p:nvSpPr>
          <p:cNvPr id="190" name="Google Shape;19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SMQ (1 / 2)</a:t>
            </a:r>
            <a:endParaRPr sz="2400">
              <a:latin typeface="Times New Roman"/>
              <a:ea typeface="Times New Roman"/>
              <a:cs typeface="Times New Roman"/>
              <a:sym typeface="Times New Roman"/>
            </a:endParaRPr>
          </a:p>
        </p:txBody>
      </p:sp>
      <p:sp>
        <p:nvSpPr>
          <p:cNvPr id="196" name="Google Shape;19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D = [10, 3, 7, 2]</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SMQ</a:t>
            </a:r>
            <a:r>
              <a:rPr baseline="-25000" lang="zh-TW" sz="2400">
                <a:solidFill>
                  <a:schemeClr val="dk1"/>
                </a:solidFill>
                <a:latin typeface="Times New Roman"/>
                <a:ea typeface="Times New Roman"/>
                <a:cs typeface="Times New Roman"/>
                <a:sym typeface="Times New Roman"/>
              </a:rPr>
              <a:t>D</a:t>
            </a:r>
            <a:r>
              <a:rPr lang="zh-TW" sz="2400">
                <a:solidFill>
                  <a:schemeClr val="dk1"/>
                </a:solidFill>
                <a:latin typeface="Times New Roman"/>
                <a:ea typeface="Times New Roman"/>
                <a:cs typeface="Times New Roman"/>
                <a:sym typeface="Times New Roman"/>
              </a:rPr>
              <a:t> = [10, 7, 7, 2]</a:t>
            </a:r>
            <a:endParaRPr sz="2400">
              <a:solidFill>
                <a:schemeClr val="dk1"/>
              </a:solidFill>
              <a:latin typeface="Times New Roman"/>
              <a:ea typeface="Times New Roman"/>
              <a:cs typeface="Times New Roman"/>
              <a:sym typeface="Times New Roman"/>
            </a:endParaRPr>
          </a:p>
        </p:txBody>
      </p:sp>
      <p:sp>
        <p:nvSpPr>
          <p:cNvPr id="197" name="Google Shape;19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SMQ (2 / 2)</a:t>
            </a:r>
            <a:endParaRPr sz="2400">
              <a:latin typeface="Times New Roman"/>
              <a:ea typeface="Times New Roman"/>
              <a:cs typeface="Times New Roman"/>
              <a:sym typeface="Times New Roman"/>
            </a:endParaRPr>
          </a:p>
        </p:txBody>
      </p:sp>
      <p:sp>
        <p:nvSpPr>
          <p:cNvPr id="203" name="Google Shape;20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D = </a:t>
            </a:r>
            <a:r>
              <a:rPr lang="zh-TW" sz="2400">
                <a:solidFill>
                  <a:schemeClr val="dk1"/>
                </a:solidFill>
                <a:latin typeface="Times New Roman"/>
                <a:ea typeface="Times New Roman"/>
                <a:cs typeface="Times New Roman"/>
                <a:sym typeface="Times New Roman"/>
              </a:rPr>
              <a:t>[10, 3, 7, 2, 5, 8]</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SMQ</a:t>
            </a:r>
            <a:r>
              <a:rPr baseline="-25000" lang="zh-TW" sz="2400">
                <a:solidFill>
                  <a:schemeClr val="dk1"/>
                </a:solidFill>
                <a:latin typeface="Times New Roman"/>
                <a:ea typeface="Times New Roman"/>
                <a:cs typeface="Times New Roman"/>
                <a:sym typeface="Times New Roman"/>
              </a:rPr>
              <a:t>D</a:t>
            </a:r>
            <a:r>
              <a:rPr lang="zh-TW" sz="2400">
                <a:solidFill>
                  <a:schemeClr val="dk1"/>
                </a:solidFill>
                <a:latin typeface="Times New Roman"/>
                <a:ea typeface="Times New Roman"/>
                <a:cs typeface="Times New Roman"/>
                <a:sym typeface="Times New Roman"/>
              </a:rPr>
              <a:t> = [10, 8, 8, 8, 8, 8]</a:t>
            </a:r>
            <a:endParaRPr sz="2400">
              <a:solidFill>
                <a:schemeClr val="dk1"/>
              </a:solidFill>
              <a:latin typeface="Times New Roman"/>
              <a:ea typeface="Times New Roman"/>
              <a:cs typeface="Times New Roman"/>
              <a:sym typeface="Times New Roman"/>
            </a:endParaRPr>
          </a:p>
        </p:txBody>
      </p:sp>
      <p:sp>
        <p:nvSpPr>
          <p:cNvPr id="204" name="Google Shape;20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ISMQ Reduced to Union-Find</a:t>
            </a:r>
            <a:endParaRPr sz="2400">
              <a:latin typeface="Times New Roman"/>
              <a:ea typeface="Times New Roman"/>
              <a:cs typeface="Times New Roman"/>
              <a:sym typeface="Times New Roman"/>
            </a:endParaRPr>
          </a:p>
        </p:txBody>
      </p:sp>
      <p:sp>
        <p:nvSpPr>
          <p:cNvPr id="210" name="Google Shape;21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11" name="Google Shape;211;p34"/>
          <p:cNvPicPr preferRelativeResize="0"/>
          <p:nvPr/>
        </p:nvPicPr>
        <p:blipFill>
          <a:blip r:embed="rId3">
            <a:alphaModFix/>
          </a:blip>
          <a:stretch>
            <a:fillRect/>
          </a:stretch>
        </p:blipFill>
        <p:spPr>
          <a:xfrm>
            <a:off x="762000" y="1234225"/>
            <a:ext cx="7620000" cy="3429000"/>
          </a:xfrm>
          <a:prstGeom prst="rect">
            <a:avLst/>
          </a:prstGeom>
          <a:noFill/>
          <a:ln>
            <a:noFill/>
          </a:ln>
        </p:spPr>
      </p:pic>
      <p:sp>
        <p:nvSpPr>
          <p:cNvPr id="212" name="Google Shape;212;p34"/>
          <p:cNvSpPr txBox="1"/>
          <p:nvPr/>
        </p:nvSpPr>
        <p:spPr>
          <a:xfrm>
            <a:off x="311700" y="4109125"/>
            <a:ext cx="3372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D = [10, 3, 7, 2, 5, 8]</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218" name="Google Shape;21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19" name="Google Shape;21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20" name="Google Shape;220;p35"/>
          <p:cNvPicPr preferRelativeResize="0"/>
          <p:nvPr/>
        </p:nvPicPr>
        <p:blipFill>
          <a:blip r:embed="rId3">
            <a:alphaModFix/>
          </a:blip>
          <a:stretch>
            <a:fillRect/>
          </a:stretch>
        </p:blipFill>
        <p:spPr>
          <a:xfrm>
            <a:off x="93850" y="0"/>
            <a:ext cx="8956306"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226" name="Google Shape;22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27" name="Google Shape;22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228" name="Google Shape;228;p36"/>
          <p:cNvGraphicFramePr/>
          <p:nvPr/>
        </p:nvGraphicFramePr>
        <p:xfrm>
          <a:off x="952475" y="925925"/>
          <a:ext cx="3000000" cy="3000000"/>
        </p:xfrm>
        <a:graphic>
          <a:graphicData uri="http://schemas.openxmlformats.org/drawingml/2006/table">
            <a:tbl>
              <a:tblPr>
                <a:noFill/>
                <a:tableStyleId>{2AB8350C-294B-40A0-860A-2C0452D462B9}</a:tableStyleId>
              </a:tblPr>
              <a:tblGrid>
                <a:gridCol w="1034150"/>
                <a:gridCol w="1034150"/>
                <a:gridCol w="1034150"/>
                <a:gridCol w="1034150"/>
                <a:gridCol w="1034150"/>
                <a:gridCol w="1034150"/>
                <a:gridCol w="1034150"/>
              </a:tblGrid>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solidFill>
                      <a:srgbClr val="DD7E6B"/>
                    </a:solidFill>
                  </a:tcPr>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10</a:t>
                      </a:r>
                      <a:endParaRPr sz="2400" u="sng">
                        <a:solidFill>
                          <a:schemeClr val="dk1"/>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3</a:t>
                      </a:r>
                      <a:endParaRPr sz="2400" u="sng">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rowSpan="2">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7</a:t>
                      </a:r>
                      <a:endParaRPr sz="2400" u="sng">
                        <a:solidFill>
                          <a:schemeClr val="dk1"/>
                        </a:solidFill>
                        <a:latin typeface="Times New Roman"/>
                        <a:ea typeface="Times New Roman"/>
                        <a:cs typeface="Times New Roman"/>
                        <a:sym typeface="Times New Roman"/>
                      </a:endParaRPr>
                    </a:p>
                  </a:txBody>
                  <a:tcPr marT="91425" marB="91425" marR="91425" marL="91425">
                    <a:solidFill>
                      <a:srgbClr val="DD7E6B"/>
                    </a:solidFill>
                  </a:tcPr>
                </a:tc>
                <a:tc rowSpan="2">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7</a:t>
                      </a:r>
                      <a:endParaRPr sz="2400" u="sng">
                        <a:solidFill>
                          <a:schemeClr val="dk1"/>
                        </a:solidFill>
                        <a:latin typeface="Times New Roman"/>
                        <a:ea typeface="Times New Roman"/>
                        <a:cs typeface="Times New Roman"/>
                        <a:sym typeface="Times New Roman"/>
                      </a:endParaRPr>
                    </a:p>
                  </a:txBody>
                  <a:tcPr marT="91425" marB="91425" marR="91425" marL="91425"/>
                </a:tc>
                <a:tc rowSpan="2">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7</a:t>
                      </a:r>
                      <a:endParaRPr sz="2400" u="sng">
                        <a:solidFill>
                          <a:schemeClr val="dk1"/>
                        </a:solidFill>
                        <a:latin typeface="Times New Roman"/>
                        <a:ea typeface="Times New Roman"/>
                        <a:cs typeface="Times New Roman"/>
                        <a:sym typeface="Times New Roman"/>
                      </a:endParaRPr>
                    </a:p>
                  </a:txBody>
                  <a:tcPr marT="91425" marB="91425" marR="91425" marL="91425"/>
                </a:tc>
                <a:tc rowSpan="2">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7</a:t>
                      </a:r>
                      <a:endParaRPr sz="2400" u="sng">
                        <a:solidFill>
                          <a:schemeClr val="dk1"/>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vMerge="1"/>
                <a:tc vMerge="1"/>
                <a:tc vMerge="1"/>
                <a:tc vMerge="1"/>
              </a:tr>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rgbClr val="DD7E6B"/>
                    </a:solidFill>
                  </a:tcPr>
                </a:tc>
                <a:tc>
                  <a:txBody>
                    <a:bodyPr/>
                    <a:lstStyle/>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2</a:t>
                      </a:r>
                      <a:endParaRPr sz="2400" u="sng">
                        <a:solidFill>
                          <a:schemeClr val="dk1"/>
                        </a:solidFill>
                        <a:latin typeface="Times New Roman"/>
                        <a:ea typeface="Times New Roman"/>
                        <a:cs typeface="Times New Roman"/>
                        <a:sym typeface="Times New Roman"/>
                      </a:endParaRPr>
                    </a:p>
                  </a:txBody>
                  <a:tcPr marT="91425" marB="91425" marR="91425" marL="91425"/>
                </a:tc>
                <a:tc rowSpan="2">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5</a:t>
                      </a:r>
                      <a:endParaRPr sz="2400" u="sng">
                        <a:solidFill>
                          <a:schemeClr val="dk1"/>
                        </a:solidFill>
                        <a:latin typeface="Times New Roman"/>
                        <a:ea typeface="Times New Roman"/>
                        <a:cs typeface="Times New Roman"/>
                        <a:sym typeface="Times New Roman"/>
                      </a:endParaRPr>
                    </a:p>
                  </a:txBody>
                  <a:tcPr marT="91425" marB="91425" marR="91425" marL="91425"/>
                </a:tc>
                <a:tc rowSpan="3">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p>
                      <a:pPr indent="0" lvl="0" marL="0" rtl="0" algn="ctr">
                        <a:lnSpc>
                          <a:spcPct val="150000"/>
                        </a:lnSpc>
                        <a:spcBef>
                          <a:spcPts val="0"/>
                        </a:spcBef>
                        <a:spcAft>
                          <a:spcPts val="0"/>
                        </a:spcAft>
                        <a:buNone/>
                      </a:pPr>
                      <a:r>
                        <a:rPr lang="zh-TW" sz="2400" u="sng">
                          <a:solidFill>
                            <a:schemeClr val="dk1"/>
                          </a:solidFill>
                          <a:latin typeface="Times New Roman"/>
                          <a:ea typeface="Times New Roman"/>
                          <a:cs typeface="Times New Roman"/>
                          <a:sym typeface="Times New Roman"/>
                        </a:rPr>
                        <a:t>8</a:t>
                      </a:r>
                      <a:endParaRPr sz="2400" u="sng">
                        <a:solidFill>
                          <a:schemeClr val="dk1"/>
                        </a:solidFill>
                        <a:latin typeface="Times New Roman"/>
                        <a:ea typeface="Times New Roman"/>
                        <a:cs typeface="Times New Roman"/>
                        <a:sym typeface="Times New Roman"/>
                      </a:endParaRPr>
                    </a:p>
                  </a:txBody>
                  <a:tcPr marT="91425" marB="91425" marR="91425" marL="91425"/>
                </a:tc>
              </a:tr>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rgbClr val="DD7E6B"/>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vMerge="1"/>
                <a:tc vMerge="1"/>
              </a:tr>
              <a:tr h="381000">
                <a:tc>
                  <a:txBody>
                    <a:bodyPr/>
                    <a:lstStyle/>
                    <a:p>
                      <a:pPr indent="0" lvl="0" marL="0" rtl="0" algn="ctr">
                        <a:lnSpc>
                          <a:spcPct val="150000"/>
                        </a:lnSpc>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rgbClr val="DD7E6B"/>
                    </a:solidFill>
                  </a:tcPr>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50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vMerge="1"/>
              </a:tr>
            </a:tbl>
          </a:graphicData>
        </a:graphic>
      </p:graphicFrame>
      <p:sp>
        <p:nvSpPr>
          <p:cNvPr id="229" name="Google Shape;229;p36"/>
          <p:cNvSpPr txBox="1"/>
          <p:nvPr/>
        </p:nvSpPr>
        <p:spPr>
          <a:xfrm>
            <a:off x="1509650" y="371825"/>
            <a:ext cx="2008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find(1 - G</a:t>
            </a:r>
            <a:r>
              <a:rPr baseline="-25000" lang="zh-TW" sz="2400">
                <a:solidFill>
                  <a:schemeClr val="accent1"/>
                </a:solidFill>
                <a:latin typeface="Times New Roman"/>
                <a:ea typeface="Times New Roman"/>
                <a:cs typeface="Times New Roman"/>
                <a:sym typeface="Times New Roman"/>
              </a:rPr>
              <a:t>S</a:t>
            </a:r>
            <a:r>
              <a:rPr lang="zh-TW" sz="2400">
                <a:solidFill>
                  <a:schemeClr val="accent1"/>
                </a:solidFill>
                <a:latin typeface="Times New Roman"/>
                <a:ea typeface="Times New Roman"/>
                <a:cs typeface="Times New Roman"/>
                <a:sym typeface="Times New Roman"/>
              </a:rPr>
              <a:t>(1)</a:t>
            </a:r>
            <a:r>
              <a:rPr lang="zh-TW" sz="2400">
                <a:solidFill>
                  <a:schemeClr val="accent1"/>
                </a:solidFill>
                <a:latin typeface="Times New Roman"/>
                <a:ea typeface="Times New Roman"/>
                <a:cs typeface="Times New Roman"/>
                <a:sym typeface="Times New Roman"/>
              </a:rPr>
              <a:t>)</a:t>
            </a:r>
            <a:endParaRPr sz="2400">
              <a:solidFill>
                <a:schemeClr val="accent1"/>
              </a:solidFill>
              <a:latin typeface="Times New Roman"/>
              <a:ea typeface="Times New Roman"/>
              <a:cs typeface="Times New Roman"/>
              <a:sym typeface="Times New Roman"/>
            </a:endParaRPr>
          </a:p>
        </p:txBody>
      </p:sp>
      <p:sp>
        <p:nvSpPr>
          <p:cNvPr id="230" name="Google Shape;230;p36"/>
          <p:cNvSpPr txBox="1"/>
          <p:nvPr/>
        </p:nvSpPr>
        <p:spPr>
          <a:xfrm>
            <a:off x="2045750" y="4217575"/>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solidFill>
                  <a:schemeClr val="accent4"/>
                </a:solidFill>
                <a:latin typeface="Times New Roman"/>
                <a:ea typeface="Times New Roman"/>
                <a:cs typeface="Times New Roman"/>
                <a:sym typeface="Times New Roman"/>
              </a:rPr>
              <a:t>find(2 - G</a:t>
            </a:r>
            <a:r>
              <a:rPr baseline="-25000" lang="zh-TW" sz="2400">
                <a:solidFill>
                  <a:schemeClr val="accent4"/>
                </a:solidFill>
                <a:latin typeface="Times New Roman"/>
                <a:ea typeface="Times New Roman"/>
                <a:cs typeface="Times New Roman"/>
                <a:sym typeface="Times New Roman"/>
              </a:rPr>
              <a:t>S</a:t>
            </a:r>
            <a:r>
              <a:rPr lang="zh-TW" sz="2400">
                <a:solidFill>
                  <a:schemeClr val="accent4"/>
                </a:solidFill>
                <a:latin typeface="Times New Roman"/>
                <a:ea typeface="Times New Roman"/>
                <a:cs typeface="Times New Roman"/>
                <a:sym typeface="Times New Roman"/>
              </a:rPr>
              <a:t>(2))</a:t>
            </a:r>
            <a:endParaRPr sz="2400">
              <a:solidFill>
                <a:schemeClr val="accent4"/>
              </a:solidFill>
              <a:latin typeface="Times New Roman"/>
              <a:ea typeface="Times New Roman"/>
              <a:cs typeface="Times New Roman"/>
              <a:sym typeface="Times New Roman"/>
            </a:endParaRPr>
          </a:p>
        </p:txBody>
      </p:sp>
      <p:sp>
        <p:nvSpPr>
          <p:cNvPr id="231" name="Google Shape;231;p36"/>
          <p:cNvSpPr txBox="1"/>
          <p:nvPr/>
        </p:nvSpPr>
        <p:spPr>
          <a:xfrm>
            <a:off x="3072000" y="371825"/>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solidFill>
                  <a:srgbClr val="DD7E6B"/>
                </a:solidFill>
                <a:latin typeface="Times New Roman"/>
                <a:ea typeface="Times New Roman"/>
                <a:cs typeface="Times New Roman"/>
                <a:sym typeface="Times New Roman"/>
              </a:rPr>
              <a:t>find(3 - G</a:t>
            </a:r>
            <a:r>
              <a:rPr baseline="-25000" lang="zh-TW" sz="2400">
                <a:solidFill>
                  <a:srgbClr val="DD7E6B"/>
                </a:solidFill>
                <a:latin typeface="Times New Roman"/>
                <a:ea typeface="Times New Roman"/>
                <a:cs typeface="Times New Roman"/>
                <a:sym typeface="Times New Roman"/>
              </a:rPr>
              <a:t>S</a:t>
            </a:r>
            <a:r>
              <a:rPr lang="zh-TW" sz="2400">
                <a:solidFill>
                  <a:srgbClr val="DD7E6B"/>
                </a:solidFill>
                <a:latin typeface="Times New Roman"/>
                <a:ea typeface="Times New Roman"/>
                <a:cs typeface="Times New Roman"/>
                <a:sym typeface="Times New Roman"/>
              </a:rPr>
              <a:t>(3))</a:t>
            </a:r>
            <a:endParaRPr sz="2400">
              <a:solidFill>
                <a:srgbClr val="DD7E6B"/>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Time Complexity (1 / 2)</a:t>
            </a:r>
            <a:endParaRPr sz="2400">
              <a:latin typeface="Times New Roman"/>
              <a:ea typeface="Times New Roman"/>
              <a:cs typeface="Times New Roman"/>
              <a:sym typeface="Times New Roman"/>
            </a:endParaRPr>
          </a:p>
        </p:txBody>
      </p:sp>
      <p:sp>
        <p:nvSpPr>
          <p:cNvPr id="237" name="Google Shape;23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O(β(|D| + |Q|))</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β: required time of one union-find operation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D: the length of the input string</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Q: the number of ISMQs</a:t>
            </a:r>
            <a:endParaRPr sz="2400">
              <a:solidFill>
                <a:schemeClr val="dk1"/>
              </a:solidFill>
              <a:latin typeface="Times New Roman"/>
              <a:ea typeface="Times New Roman"/>
              <a:cs typeface="Times New Roman"/>
              <a:sym typeface="Times New Roman"/>
            </a:endParaRPr>
          </a:p>
        </p:txBody>
      </p:sp>
      <p:sp>
        <p:nvSpPr>
          <p:cNvPr id="238" name="Google Shape;23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latin typeface="Times New Roman"/>
                <a:ea typeface="Times New Roman"/>
                <a:cs typeface="Times New Roman"/>
                <a:sym typeface="Times New Roman"/>
              </a:rPr>
              <a:t>Time Complexity (2 / 2)</a:t>
            </a:r>
            <a:endParaRPr sz="2400">
              <a:latin typeface="Times New Roman"/>
              <a:ea typeface="Times New Roman"/>
              <a:cs typeface="Times New Roman"/>
              <a:sym typeface="Times New Roman"/>
            </a:endParaRPr>
          </a:p>
        </p:txBody>
      </p:sp>
      <p:sp>
        <p:nvSpPr>
          <p:cNvPr id="244" name="Google Shape;24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The factor β can be reduced to O(1) by incremental tree set union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No more than O(nm) makes and unites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O(nm)</a:t>
            </a:r>
            <a:endParaRPr sz="2400">
              <a:solidFill>
                <a:schemeClr val="dk1"/>
              </a:solidFill>
              <a:latin typeface="Times New Roman"/>
              <a:ea typeface="Times New Roman"/>
              <a:cs typeface="Times New Roman"/>
              <a:sym typeface="Times New Roman"/>
            </a:endParaRPr>
          </a:p>
        </p:txBody>
      </p:sp>
      <p:sp>
        <p:nvSpPr>
          <p:cNvPr id="245" name="Google Shape;24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251" name="Google Shape;251;p39"/>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252" name="Google Shape;252;p39"/>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