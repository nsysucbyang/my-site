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7"/>
  </p:notesMasterIdLst>
  <p:sldIdLst>
    <p:sldId id="258" r:id="rId3"/>
    <p:sldId id="479" r:id="rId4"/>
    <p:sldId id="480" r:id="rId5"/>
    <p:sldId id="310" r:id="rId6"/>
    <p:sldId id="323" r:id="rId7"/>
    <p:sldId id="482" r:id="rId8"/>
    <p:sldId id="460" r:id="rId9"/>
    <p:sldId id="483" r:id="rId10"/>
    <p:sldId id="484" r:id="rId11"/>
    <p:sldId id="488" r:id="rId12"/>
    <p:sldId id="489" r:id="rId13"/>
    <p:sldId id="485" r:id="rId14"/>
    <p:sldId id="486" r:id="rId15"/>
    <p:sldId id="487" r:id="rId16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2CC"/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DF18680-E054-41AD-8BC1-D1AEF772440D}" styleName="中等深淺樣式 2 - 輔色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2838BEF-8BB2-4498-84A7-C5851F593DF1}" styleName="中等深淺樣式 4 - 輔色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912" autoAdjust="0"/>
    <p:restoredTop sz="94660"/>
  </p:normalViewPr>
  <p:slideViewPr>
    <p:cSldViewPr snapToGrid="0">
      <p:cViewPr varScale="1">
        <p:scale>
          <a:sx n="70" d="100"/>
          <a:sy n="70" d="100"/>
        </p:scale>
        <p:origin x="498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C807D48-2AB8-5C4B-8F47-9ED0EA5E921C}" type="datetimeFigureOut">
              <a:rPr kumimoji="1" lang="zh-TW" altLang="en-US" smtClean="0"/>
              <a:t>2023/4/11</a:t>
            </a:fld>
            <a:endParaRPr kumimoji="1"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kumimoji="1" lang="zh-TW" altLang="en-US"/>
              <a:t>編輯母片文字樣式
第二層
第三層
第四層
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3BB5A20-AB47-424F-A431-A6E616E1DA6D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1871163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018CF69-B94F-41EF-B44B-5A23E69EE0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8694E246-5B84-40A5-9198-A6478B53DA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1EC9A6A-81D9-4024-8732-81AD650773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42E98C-ACD1-4F21-B7D7-C715BE9B2230}" type="datetimeFigureOut">
              <a:rPr lang="zh-TW" altLang="en-US" smtClean="0"/>
              <a:t>2023/4/11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130DAD2-5F2F-477A-933C-533FC70E2D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46A92E9-2EC9-4E85-A2F5-2255645528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FEAFCD-048C-4D4E-8433-74C544C87E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178339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A22540F-DED7-457A-80AB-31055F7876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0592121-7306-4FF5-BC1E-2E3C5CBE0E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2981BAE-3011-41AB-8F71-019D69C976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42E98C-ACD1-4F21-B7D7-C715BE9B2230}" type="datetimeFigureOut">
              <a:rPr lang="zh-TW" altLang="en-US" smtClean="0"/>
              <a:t>2023/4/11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61EB8D7-5BB0-4DA4-91DC-94A162F617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6AC93A1-955E-43AC-888B-B961ABB26D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FEAFCD-048C-4D4E-8433-74C544C87E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24364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CBE3D72-F1B6-454B-95E8-658A7A0292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6528AABC-6381-4A08-A34B-9775E7CAF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C4CAAA9C-33BB-4FB2-BED3-BC7D9323EC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42E98C-ACD1-4F21-B7D7-C715BE9B2230}" type="datetimeFigureOut">
              <a:rPr lang="zh-TW" altLang="en-US" smtClean="0"/>
              <a:t>2023/4/11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927D4F8-53BF-4473-9B99-4C8E6F8CF6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76C0F19-61B3-4F06-B453-872D9D5E8C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FEAFCD-048C-4D4E-8433-74C544C87E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628280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BDBA689-797E-40E7-9EDB-5EDB08C781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52653EE-84F0-4CB2-A6D1-70ECB696DF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77FA3A2B-693F-4492-99C6-0C8FC6BA27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7FD31AE8-99C0-43FB-B941-AD2B925190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42E98C-ACD1-4F21-B7D7-C715BE9B2230}" type="datetimeFigureOut">
              <a:rPr lang="zh-TW" altLang="en-US" smtClean="0"/>
              <a:t>2023/4/11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936224B4-684C-46B7-BBF1-931F646DD6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315CC215-AE48-442C-B3C7-A05DA3D209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FEAFCD-048C-4D4E-8433-74C544C87E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724771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F8377E4-D784-4175-A078-E0BE59E8F5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6515F7BB-FF4C-4A58-B308-031D2BD238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B40221E4-3D33-46C5-9454-CFE7BCF65D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7025487A-E8A1-4109-B68A-4BC8FE81854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84B2B406-6511-443F-B0E6-C33BAEC718C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6484ACC6-C42F-45F3-BE11-E53C8E2A81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42E98C-ACD1-4F21-B7D7-C715BE9B2230}" type="datetimeFigureOut">
              <a:rPr lang="zh-TW" altLang="en-US" smtClean="0"/>
              <a:t>2023/4/11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219A6C5F-EF9B-49B4-8955-2443396EE2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A6F790E7-CBD5-4484-A32F-FEF48BB3AB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FEAFCD-048C-4D4E-8433-74C544C87E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855307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B2A7656-D8C4-4701-89D9-F6B0EB1C6E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AC85F66E-3E02-445B-B1D6-9F7F2B97E0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42E98C-ACD1-4F21-B7D7-C715BE9B2230}" type="datetimeFigureOut">
              <a:rPr lang="zh-TW" altLang="en-US" smtClean="0"/>
              <a:t>2023/4/11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CDC0B5C4-F60F-472B-877C-D558F28D58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15AF58D9-56FD-47B2-AFA4-E191E86CDB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FEAFCD-048C-4D4E-8433-74C544C87E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091469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A3D15556-2C7C-43E9-BEE7-2F931FDAD8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42E98C-ACD1-4F21-B7D7-C715BE9B2230}" type="datetimeFigureOut">
              <a:rPr lang="zh-TW" altLang="en-US" smtClean="0"/>
              <a:t>2023/4/11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BC3A5585-BC54-43DC-AF3A-A0CD372DFB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7BF090F-6470-4F86-9004-6B7FDBD204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FEAFCD-048C-4D4E-8433-74C544C87E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431602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5F103F5-9E97-4826-B0D2-95F4564CD4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746CFE7-EA93-4D37-81E5-AA67D27F63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43FDF5F1-BC00-46C5-8A6D-53247EAAB4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30FA9920-036B-4577-A0AA-EA9558A0A3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42E98C-ACD1-4F21-B7D7-C715BE9B2230}" type="datetimeFigureOut">
              <a:rPr lang="zh-TW" altLang="en-US" smtClean="0"/>
              <a:t>2023/4/11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647DF8B8-6B05-4919-B114-D5663C227D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D3666E5C-95E4-4050-9140-1FCCC0B954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FEAFCD-048C-4D4E-8433-74C544C87E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182325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397E922-EA1A-435F-870D-682421C5CC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918B7BE4-C689-4096-AD49-68F6034EA95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2AD295FF-4A20-40FD-AC66-98CEC5850A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DE219DCA-585C-43B6-9552-4EE13F760C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42E98C-ACD1-4F21-B7D7-C715BE9B2230}" type="datetimeFigureOut">
              <a:rPr lang="zh-TW" altLang="en-US" smtClean="0"/>
              <a:t>2023/4/11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77D0F041-3794-4C18-8470-1E81B0B8F0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90689843-4105-446B-A08B-BA8F5DD648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FEAFCD-048C-4D4E-8433-74C544C87E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42254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E2EB34D-E993-49B7-A454-C7F5A38855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E9D361F5-F0E1-4F67-B5F9-593DA8F073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E843757-966E-48DA-9D3F-7BCB942690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42E98C-ACD1-4F21-B7D7-C715BE9B2230}" type="datetimeFigureOut">
              <a:rPr lang="zh-TW" altLang="en-US" smtClean="0"/>
              <a:t>2023/4/11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8A665A4-0D51-44C3-83A1-6B3FEA681D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AAF5088-2FDA-45E4-A2C5-6563CE336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FEAFCD-048C-4D4E-8433-74C544C87E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527716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2B180085-65E4-4ED8-943A-8E4E7DCD7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CA358ABA-23C5-47E8-9CA9-2449B43422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6EEC609-328B-4C6E-97B9-64C473DA5B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42E98C-ACD1-4F21-B7D7-C715BE9B2230}" type="datetimeFigureOut">
              <a:rPr lang="zh-TW" altLang="en-US" smtClean="0"/>
              <a:t>2023/4/11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FA8800A-57CD-4691-8E11-4018513400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871209D-6627-4CFC-8CFF-DE25AA4FCC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FEAFCD-048C-4D4E-8433-74C544C87E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5897068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C2711FA-10F6-CD7F-26B6-41DA7BB1FC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E3B938C3-24C0-2448-F373-350E8FD220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77C7B31-7E1C-92C6-525C-A7A9E0A773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306B2E-E789-429B-9EE0-C8F91F0324C1}" type="datetime1">
              <a:rPr lang="zh-TW" altLang="en-US" smtClean="0"/>
              <a:t>2023/4/11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3AB2F55-C1E3-A64F-FED7-6B3BCFA456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ACE8FA9-0EEC-DEE8-0977-4E43681EB5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C13289-1A93-4CFE-9211-B525CF4EEED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5187700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F2076CA-3A1C-360D-3310-BEB9F287A6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8DC52EC-1FC6-26CE-1F90-C2CF3C35F2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BBE6CFC-3BAE-EE70-EDA2-4D75C3FA74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E1ECF-D376-401B-9DA5-913E62ECDE20}" type="datetime1">
              <a:rPr lang="zh-TW" altLang="en-US" smtClean="0"/>
              <a:t>2023/4/11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A25B577-09D8-C926-1EC8-5B61C941DB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3776511-3CE8-96BA-518E-0F19BDBE2F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C13289-1A93-4CFE-9211-B525CF4EEED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6418924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9235DA9-2820-1009-ECDC-7908193952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8620B56A-BD81-D699-3204-6013D4CF3C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460F844-D3E2-B9F9-59E3-DEBE0DDABE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164FD5-6DE1-4BBA-9E5F-53B6959BA4A9}" type="datetime1">
              <a:rPr lang="zh-TW" altLang="en-US" smtClean="0"/>
              <a:t>2023/4/11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FB678A6-77B6-9385-5F7C-B8B1992505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B742ADE-650A-A269-2ECC-040D9279AC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C13289-1A93-4CFE-9211-B525CF4EEED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1134505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B9122F9-7A00-A82F-4DCB-0EBE9C9B70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502D084-9232-BD0F-D890-C664A477A47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D60E4813-B595-44C3-812C-262CD133B0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9369EF12-5604-ABE5-C295-B55BB2B905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C9F34-27D4-4EDF-86A1-BEF987234EEE}" type="datetime1">
              <a:rPr lang="zh-TW" altLang="en-US" smtClean="0"/>
              <a:t>2023/4/11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65D6A465-16F0-9EDF-5B33-B66C9F8DDA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480DDDB1-DEBD-A0A1-DDEC-6DB7099AB6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C13289-1A93-4CFE-9211-B525CF4EEED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0354725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2076EBA-E485-5AC6-822D-BA89D59904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7C63106C-E78E-9713-24B2-1B13DAABF4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49FB1680-1080-8090-6CE3-63378D6FF4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144C353D-4671-2CD1-FD18-C835721D55C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88E9CC27-AA12-FBB4-ED33-88FD2595416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60218939-6468-3447-C0CB-82D3D39D38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93D9FA-931C-4F89-8D7D-0B5E4B05340A}" type="datetime1">
              <a:rPr lang="zh-TW" altLang="en-US" smtClean="0"/>
              <a:t>2023/4/11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9A634432-DE13-AD6F-EF0A-062DE533B4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91D9D9F8-9F51-ABBB-3640-5A2CC81A9C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C13289-1A93-4CFE-9211-B525CF4EEED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1420467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8A97CA3-257C-E976-CEA3-FC27DFA0CB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0CF63A08-39FD-D638-C5DB-6789241FF9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D2C934-9B4D-4AA8-B0C0-784309F9B8E3}" type="datetime1">
              <a:rPr lang="zh-TW" altLang="en-US" smtClean="0"/>
              <a:t>2023/4/11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8F14F41F-260E-0448-929C-E182A31088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E0F19FF3-DCE8-E304-0357-D45830D2AB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C13289-1A93-4CFE-9211-B525CF4EEED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3355946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DBEA286C-163E-6D1A-0131-15247140BB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03DFB0-1A4B-41C5-A55E-ABF9978ED7C4}" type="datetime1">
              <a:rPr lang="zh-TW" altLang="en-US" smtClean="0"/>
              <a:t>2023/4/11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91540F45-782C-7494-7F34-AF5EC4DD1C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F996965-699F-E73D-69B4-4DE42B4B34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C13289-1A93-4CFE-9211-B525CF4EEED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8985114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64FF378-3C78-5C26-1EA2-19FDC69F68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099AD37-8B00-4B1C-06E4-97C4992E2D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93754FFB-89B9-B191-F079-8C1D0A6360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19ECA52D-083A-006B-51AE-C3CFF6D8C6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6235C3-9DDF-4FE1-A9C3-B27DC6D1B8B3}" type="datetime1">
              <a:rPr lang="zh-TW" altLang="en-US" smtClean="0"/>
              <a:t>2023/4/11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8BF1EB42-727C-78C2-AEEC-415F231336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3A5A5FB6-795E-8AD6-E18D-AB5EC8AB5B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C13289-1A93-4CFE-9211-B525CF4EEED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0330303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10CAA70-C419-4E0B-3873-2D410D82EB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FC07714A-1704-E3B8-7F1C-4B21BBB25E9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B9E90562-E3B1-D836-2EC4-762D878743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E616125B-1A2A-B3CE-2328-A2FE7AD229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31FD7-4B44-4513-AFFA-85A9965915C0}" type="datetime1">
              <a:rPr lang="zh-TW" altLang="en-US" smtClean="0"/>
              <a:t>2023/4/11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D6977BAA-6163-0372-15A8-8791733A45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2033D410-7A24-AFB8-88FD-DD95321053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C13289-1A93-4CFE-9211-B525CF4EEED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4280527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3FD6C79-B383-BF45-FE68-4EF30D0FA3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424561E2-A4F2-E27A-E9B6-8E8A491C97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D911918-CEBF-4297-D3B3-AC93D19D1A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700D8D-9ECB-4B91-AFA7-27FCFD8B6EFF}" type="datetime1">
              <a:rPr lang="zh-TW" altLang="en-US" smtClean="0"/>
              <a:t>2023/4/11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8CAB948-319F-7FE8-92DA-5A9BD430CE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5E0EDAE-D5A3-3FE8-17BD-E6EDDF9A41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C13289-1A93-4CFE-9211-B525CF4EEED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5124648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A16BF781-5C59-A225-E583-B647932547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060E5A29-627B-90C4-8897-CF49DED3E5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599420F-B947-5D42-C0C4-5E1EC15020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1BB694-6D70-4213-A3CB-75881E70AC79}" type="datetime1">
              <a:rPr lang="zh-TW" altLang="en-US" smtClean="0"/>
              <a:t>2023/4/11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09E4B4B-5598-74B9-FF07-90029E2660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818E028-1B7B-DF13-F3B3-D45177DF77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C13289-1A93-4CFE-9211-B525CF4EEED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512993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DF173FCB-AF51-413B-9EA7-940E652F84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157623B9-D996-4B18-863A-AF24B34F5C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6610FA5-96C9-43C2-9118-EF308B50C31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42E98C-ACD1-4F21-B7D7-C715BE9B2230}" type="datetimeFigureOut">
              <a:rPr lang="zh-TW" altLang="en-US" smtClean="0"/>
              <a:t>2023/4/11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1A6CC33-55D8-4EFE-8365-93732489007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E3263F0-2185-4819-9FD7-AB6DE2AA71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FEAFCD-048C-4D4E-8433-74C544C87E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659163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BC44FD99-01F6-FAF1-A6D4-7CE3152022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9ADB43A3-883E-A501-7AE8-AC74AE5FAC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CB30A43F-CA06-C66D-3522-479540D82FE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505BBF-CDCE-4F22-BC05-B63924A750E9}" type="datetime1">
              <a:rPr lang="zh-TW" altLang="en-US" smtClean="0"/>
              <a:t>2023/4/11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DFA1824-FA28-9BC0-22B1-5D42A0CB5A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E5B8417-9348-5904-A812-312727533C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C13289-1A93-4CFE-9211-B525CF4EEED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678384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>
            <a:extLst>
              <a:ext uri="{FF2B5EF4-FFF2-40B4-BE49-F238E27FC236}">
                <a16:creationId xmlns:a16="http://schemas.microsoft.com/office/drawing/2014/main" id="{0CA1336C-440D-2E43-904F-AABB45E64E1E}"/>
              </a:ext>
            </a:extLst>
          </p:cNvPr>
          <p:cNvSpPr>
            <a:spLocks noGrp="1"/>
          </p:cNvSpPr>
          <p:nvPr/>
        </p:nvSpPr>
        <p:spPr>
          <a:xfrm>
            <a:off x="540318" y="1738958"/>
            <a:ext cx="11111364" cy="155593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70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pPr>
              <a:lnSpc>
                <a:spcPct val="120000"/>
              </a:lnSpc>
            </a:pPr>
            <a:r>
              <a:rPr lang="en-US" altLang="zh-TW" dirty="0"/>
              <a:t>Simple is Better: Training an End-to-end Contract Bridge Bidding Agent without Human Knowledge</a:t>
            </a:r>
            <a:endParaRPr lang="en" altLang="zh-TW" dirty="0"/>
          </a:p>
        </p:txBody>
      </p:sp>
      <p:sp>
        <p:nvSpPr>
          <p:cNvPr id="5" name="副標題 2">
            <a:extLst>
              <a:ext uri="{FF2B5EF4-FFF2-40B4-BE49-F238E27FC236}">
                <a16:creationId xmlns:a16="http://schemas.microsoft.com/office/drawing/2014/main" id="{FD611AA7-209A-4449-AB65-A25622930A66}"/>
              </a:ext>
            </a:extLst>
          </p:cNvPr>
          <p:cNvSpPr>
            <a:spLocks noGrp="1"/>
          </p:cNvSpPr>
          <p:nvPr/>
        </p:nvSpPr>
        <p:spPr>
          <a:xfrm>
            <a:off x="666107" y="3653122"/>
            <a:ext cx="9870558" cy="16287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ctr"/>
            <a:r>
              <a:rPr lang="nn-NO" altLang="zh-TW" dirty="0">
                <a:latin typeface="Times New Roman"/>
                <a:ea typeface="新細明體"/>
                <a:cs typeface="Times New Roman"/>
              </a:rPr>
              <a:t>Qucheng Gong, Tina Jiang, Yuandong Tian</a:t>
            </a:r>
          </a:p>
          <a:p>
            <a:pPr fontAlgn="ctr"/>
            <a:r>
              <a:rPr lang="en-US" altLang="zh-TW" dirty="0">
                <a:latin typeface="Times New Roman"/>
                <a:ea typeface="新細明體"/>
                <a:cs typeface="Times New Roman"/>
              </a:rPr>
              <a:t>ICLR 2020 Conference Blind Submission, September 26, 2019, </a:t>
            </a:r>
          </a:p>
          <a:p>
            <a:pPr fontAlgn="ctr"/>
            <a:r>
              <a:rPr lang="en-US" altLang="zh-TW" dirty="0">
                <a:latin typeface="Times New Roman"/>
                <a:ea typeface="新細明體"/>
                <a:cs typeface="Times New Roman"/>
              </a:rPr>
              <a:t>Addis Ababa, Ethiopia</a:t>
            </a:r>
          </a:p>
        </p:txBody>
      </p:sp>
      <p:sp>
        <p:nvSpPr>
          <p:cNvPr id="6" name="文字方塊 3">
            <a:extLst>
              <a:ext uri="{FF2B5EF4-FFF2-40B4-BE49-F238E27FC236}">
                <a16:creationId xmlns:a16="http://schemas.microsoft.com/office/drawing/2014/main" id="{BF1141FC-B145-834E-9139-2A899AB73EAA}"/>
              </a:ext>
            </a:extLst>
          </p:cNvPr>
          <p:cNvSpPr txBox="1"/>
          <p:nvPr/>
        </p:nvSpPr>
        <p:spPr>
          <a:xfrm>
            <a:off x="9150372" y="5471581"/>
            <a:ext cx="237552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kumimoji="1" lang="en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Presenter: Ying-Yu Lin</a:t>
            </a:r>
          </a:p>
          <a:p>
            <a:pPr algn="r"/>
            <a:r>
              <a:rPr kumimoji="1" lang="en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Date: </a:t>
            </a:r>
            <a:r>
              <a:rPr kumimoji="1" lang="en-US" altLang="zh-TW">
                <a:latin typeface="Times New Roman" panose="02020603050405020304" pitchFamily="18" charset="0"/>
                <a:cs typeface="Times New Roman" panose="02020603050405020304" pitchFamily="18" charset="0"/>
              </a:rPr>
              <a:t>Apr. 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  <a:r>
              <a:rPr kumimoji="1" lang="en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202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kumimoji="1"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117510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AD81FFC-6875-3AF4-0E6C-5D8BA6E89C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4400" b="1" dirty="0">
                <a:latin typeface="Times New Roman" pitchFamily="18" charset="0"/>
                <a:cs typeface="Times New Roman" pitchFamily="18" charset="0"/>
              </a:rPr>
              <a:t>Abstract (1/2) </a:t>
            </a:r>
            <a:endParaRPr lang="zh-TW" altLang="en-US" b="1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9BA0D03-0BAE-18A4-5306-14757B87A8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TW" sz="2800" dirty="0"/>
              <a:t>Contract bridge is a multi-player imperfect</a:t>
            </a:r>
            <a:r>
              <a:rPr lang="zh-TW" altLang="en-US" sz="2800" dirty="0"/>
              <a:t> </a:t>
            </a:r>
            <a:r>
              <a:rPr lang="en-US" altLang="zh-TW" sz="2800" dirty="0"/>
              <a:t>information game where one partnership collaborate with each other to compete against the other partnership. The game consists of two phases: bidding and playing. While playing is relatively easy for modern software, bidding is challenging and requires agents to learn a communication protocol to reach the optimal contract jointly, with their own private information. The agents need to exchange information to their partners, and interfere opponents, through a sequence of actions. In this work, we train a strong agent to bid competitive bridge purely through self-play, outperforming WBridge5, a championship-winning software. </a:t>
            </a:r>
            <a:endParaRPr lang="en-US" altLang="zh-TW" sz="2800" dirty="0">
              <a:latin typeface="Times New Roman"/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5897533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5CADDB4-B870-D049-60D2-206ECDCE6A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4400" b="1" dirty="0">
                <a:latin typeface="Times New Roman" pitchFamily="18" charset="0"/>
                <a:cs typeface="Times New Roman" pitchFamily="18" charset="0"/>
              </a:rPr>
              <a:t>Abstract (2/2) </a:t>
            </a:r>
            <a:endParaRPr lang="zh-TW" altLang="en-US" b="1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30A1112-A01F-25CF-E307-271E99C68C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TW" sz="2800" dirty="0"/>
              <a:t>Furthermore, we show that explicitly modeling belief is not necessary in boosting the performance. To our knowledge, this is the first</a:t>
            </a:r>
            <a:r>
              <a:rPr lang="zh-TW" altLang="en-US" sz="2800" dirty="0"/>
              <a:t> </a:t>
            </a:r>
            <a:r>
              <a:rPr lang="en-US" altLang="zh-TW" sz="2800" dirty="0"/>
              <a:t>competitive bridge agent that is trained with no domain knowledge. It outperforms previous state-of-the-art that use human replays with 70x fewer number of parameters.</a:t>
            </a:r>
            <a:endParaRPr lang="en-US" altLang="zh-TW" sz="2800" dirty="0">
              <a:latin typeface="Times New Roman"/>
              <a:ea typeface="+mn-lt"/>
              <a:cs typeface="+mn-lt"/>
            </a:endParaRP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1529113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E6EF26B-52DC-E138-5912-AA443731A7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1087100" cy="1325563"/>
          </a:xfrm>
        </p:spPr>
        <p:txBody>
          <a:bodyPr/>
          <a:lstStyle/>
          <a:p>
            <a:pPr>
              <a:spcBef>
                <a:spcPts val="1000"/>
              </a:spcBef>
            </a:pPr>
            <a:r>
              <a:rPr lang="en-US" altLang="zh-TW" b="1" dirty="0">
                <a:latin typeface="Times New Roman" pitchFamily="18" charset="0"/>
                <a:cs typeface="Times New Roman" pitchFamily="18" charset="0"/>
              </a:rPr>
              <a:t>Baseline 16</a:t>
            </a:r>
            <a:endParaRPr lang="en-US" altLang="zh-TW" sz="4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4E602E1-818A-1FB0-7CAB-8A86CB2C65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1C13289-1A93-4CFE-9211-B525CF4EEED4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微軟正黑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zh-TW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微軟正黑體"/>
              <a:cs typeface="+mn-cs"/>
            </a:endParaRPr>
          </a:p>
        </p:txBody>
      </p:sp>
      <p:grpSp>
        <p:nvGrpSpPr>
          <p:cNvPr id="20" name="群組 19">
            <a:extLst>
              <a:ext uri="{FF2B5EF4-FFF2-40B4-BE49-F238E27FC236}">
                <a16:creationId xmlns:a16="http://schemas.microsoft.com/office/drawing/2014/main" id="{71073E0B-2974-329A-F7DE-B70E33549931}"/>
              </a:ext>
            </a:extLst>
          </p:cNvPr>
          <p:cNvGrpSpPr/>
          <p:nvPr/>
        </p:nvGrpSpPr>
        <p:grpSpPr>
          <a:xfrm>
            <a:off x="838200" y="1664550"/>
            <a:ext cx="6859662" cy="4981393"/>
            <a:chOff x="838200" y="1664550"/>
            <a:chExt cx="6859662" cy="4981393"/>
          </a:xfrm>
        </p:grpSpPr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E41C6F09-B5C8-414C-B550-52ECB90830CA}"/>
                </a:ext>
              </a:extLst>
            </p:cNvPr>
            <p:cNvSpPr/>
            <p:nvPr/>
          </p:nvSpPr>
          <p:spPr>
            <a:xfrm>
              <a:off x="838200" y="1928674"/>
              <a:ext cx="832260" cy="453998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rPr>
                <a:t>Hand of player1</a:t>
              </a:r>
              <a:endParaRPr kumimoji="0" lang="zh-TW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軟正黑體"/>
                <a:cs typeface="+mn-cs"/>
              </a:endParaRPr>
            </a:p>
          </p:txBody>
        </p: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DA09ECB2-24FC-BB08-37F9-22BB47428102}"/>
                </a:ext>
              </a:extLst>
            </p:cNvPr>
            <p:cNvSpPr/>
            <p:nvPr/>
          </p:nvSpPr>
          <p:spPr>
            <a:xfrm>
              <a:off x="6865602" y="1928673"/>
              <a:ext cx="832260" cy="453998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rPr>
                <a:t>Hand of player2</a:t>
              </a:r>
              <a:endParaRPr kumimoji="0" lang="zh-TW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軟正黑體"/>
                <a:cs typeface="+mn-cs"/>
              </a:endParaRPr>
            </a:p>
          </p:txBody>
        </p:sp>
        <p:grpSp>
          <p:nvGrpSpPr>
            <p:cNvPr id="8" name="群組 7">
              <a:extLst>
                <a:ext uri="{FF2B5EF4-FFF2-40B4-BE49-F238E27FC236}">
                  <a16:creationId xmlns:a16="http://schemas.microsoft.com/office/drawing/2014/main" id="{8AD5438E-8D41-2510-9DF3-F868527A66EF}"/>
                </a:ext>
              </a:extLst>
            </p:cNvPr>
            <p:cNvGrpSpPr/>
            <p:nvPr/>
          </p:nvGrpSpPr>
          <p:grpSpPr>
            <a:xfrm>
              <a:off x="2252150" y="1928673"/>
              <a:ext cx="1073380" cy="1154845"/>
              <a:chOff x="2344190" y="1438101"/>
              <a:chExt cx="1147154" cy="1330036"/>
            </a:xfrm>
          </p:grpSpPr>
          <p:sp>
            <p:nvSpPr>
              <p:cNvPr id="117" name="矩形 116">
                <a:extLst>
                  <a:ext uri="{FF2B5EF4-FFF2-40B4-BE49-F238E27FC236}">
                    <a16:creationId xmlns:a16="http://schemas.microsoft.com/office/drawing/2014/main" id="{2B4E46BA-5341-377A-616F-276BC84E9E8C}"/>
                  </a:ext>
                </a:extLst>
              </p:cNvPr>
              <p:cNvSpPr/>
              <p:nvPr/>
            </p:nvSpPr>
            <p:spPr>
              <a:xfrm>
                <a:off x="2344190" y="1438101"/>
                <a:ext cx="207815" cy="1330036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118" name="矩形 117">
                <a:extLst>
                  <a:ext uri="{FF2B5EF4-FFF2-40B4-BE49-F238E27FC236}">
                    <a16:creationId xmlns:a16="http://schemas.microsoft.com/office/drawing/2014/main" id="{586BCA3D-378A-9DCA-9BDA-4FE9A7003602}"/>
                  </a:ext>
                </a:extLst>
              </p:cNvPr>
              <p:cNvSpPr/>
              <p:nvPr/>
            </p:nvSpPr>
            <p:spPr>
              <a:xfrm>
                <a:off x="2657303" y="1438101"/>
                <a:ext cx="207815" cy="1330036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119" name="矩形 118">
                <a:extLst>
                  <a:ext uri="{FF2B5EF4-FFF2-40B4-BE49-F238E27FC236}">
                    <a16:creationId xmlns:a16="http://schemas.microsoft.com/office/drawing/2014/main" id="{29DD3833-16AA-C36F-9841-C921BE851A36}"/>
                  </a:ext>
                </a:extLst>
              </p:cNvPr>
              <p:cNvSpPr/>
              <p:nvPr/>
            </p:nvSpPr>
            <p:spPr>
              <a:xfrm>
                <a:off x="2970416" y="1438101"/>
                <a:ext cx="207815" cy="1330036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120" name="矩形 119">
                <a:extLst>
                  <a:ext uri="{FF2B5EF4-FFF2-40B4-BE49-F238E27FC236}">
                    <a16:creationId xmlns:a16="http://schemas.microsoft.com/office/drawing/2014/main" id="{866B6965-2026-BFF9-F436-159A98EA3525}"/>
                  </a:ext>
                </a:extLst>
              </p:cNvPr>
              <p:cNvSpPr/>
              <p:nvPr/>
            </p:nvSpPr>
            <p:spPr>
              <a:xfrm>
                <a:off x="3283529" y="1438101"/>
                <a:ext cx="207815" cy="1330036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</p:grpSp>
        <p:grpSp>
          <p:nvGrpSpPr>
            <p:cNvPr id="9" name="群組 8">
              <a:extLst>
                <a:ext uri="{FF2B5EF4-FFF2-40B4-BE49-F238E27FC236}">
                  <a16:creationId xmlns:a16="http://schemas.microsoft.com/office/drawing/2014/main" id="{E05BE3B7-05C4-E2FC-ADD1-16708A13FC70}"/>
                </a:ext>
              </a:extLst>
            </p:cNvPr>
            <p:cNvGrpSpPr/>
            <p:nvPr/>
          </p:nvGrpSpPr>
          <p:grpSpPr>
            <a:xfrm>
              <a:off x="4160080" y="1796347"/>
              <a:ext cx="479649" cy="1419497"/>
              <a:chOff x="5981206" y="2103119"/>
              <a:chExt cx="512615" cy="1634836"/>
            </a:xfrm>
          </p:grpSpPr>
          <p:grpSp>
            <p:nvGrpSpPr>
              <p:cNvPr id="93" name="群組 92">
                <a:extLst>
                  <a:ext uri="{FF2B5EF4-FFF2-40B4-BE49-F238E27FC236}">
                    <a16:creationId xmlns:a16="http://schemas.microsoft.com/office/drawing/2014/main" id="{6AE999A6-366A-ECAB-1026-92CE4D96DF27}"/>
                  </a:ext>
                </a:extLst>
              </p:cNvPr>
              <p:cNvGrpSpPr/>
              <p:nvPr/>
            </p:nvGrpSpPr>
            <p:grpSpPr>
              <a:xfrm>
                <a:off x="5981206" y="2103119"/>
                <a:ext cx="207815" cy="1330036"/>
                <a:chOff x="5981206" y="2103119"/>
                <a:chExt cx="207815" cy="1330036"/>
              </a:xfrm>
            </p:grpSpPr>
            <p:sp>
              <p:nvSpPr>
                <p:cNvPr id="110" name="矩形 109">
                  <a:extLst>
                    <a:ext uri="{FF2B5EF4-FFF2-40B4-BE49-F238E27FC236}">
                      <a16:creationId xmlns:a16="http://schemas.microsoft.com/office/drawing/2014/main" id="{1C8BA067-A5D5-A926-FC17-FC152341E14C}"/>
                    </a:ext>
                  </a:extLst>
                </p:cNvPr>
                <p:cNvSpPr/>
                <p:nvPr/>
              </p:nvSpPr>
              <p:spPr>
                <a:xfrm>
                  <a:off x="5981206" y="2103119"/>
                  <a:ext cx="207815" cy="1330036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TW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微軟正黑體"/>
                    <a:cs typeface="+mn-cs"/>
                  </a:endParaRPr>
                </a:p>
              </p:txBody>
            </p:sp>
            <p:sp>
              <p:nvSpPr>
                <p:cNvPr id="111" name="橢圓 110">
                  <a:extLst>
                    <a:ext uri="{FF2B5EF4-FFF2-40B4-BE49-F238E27FC236}">
                      <a16:creationId xmlns:a16="http://schemas.microsoft.com/office/drawing/2014/main" id="{320A2EEA-C274-1BBD-6D93-73747920622F}"/>
                    </a:ext>
                  </a:extLst>
                </p:cNvPr>
                <p:cNvSpPr/>
                <p:nvPr/>
              </p:nvSpPr>
              <p:spPr>
                <a:xfrm>
                  <a:off x="6000271" y="2128519"/>
                  <a:ext cx="157943" cy="157943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TW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微軟正黑體"/>
                    <a:cs typeface="+mn-cs"/>
                  </a:endParaRPr>
                </a:p>
              </p:txBody>
            </p:sp>
            <p:sp>
              <p:nvSpPr>
                <p:cNvPr id="112" name="橢圓 111">
                  <a:extLst>
                    <a:ext uri="{FF2B5EF4-FFF2-40B4-BE49-F238E27FC236}">
                      <a16:creationId xmlns:a16="http://schemas.microsoft.com/office/drawing/2014/main" id="{3F612AF0-1AC4-486C-C886-BCEB87CED2E6}"/>
                    </a:ext>
                  </a:extLst>
                </p:cNvPr>
                <p:cNvSpPr/>
                <p:nvPr/>
              </p:nvSpPr>
              <p:spPr>
                <a:xfrm>
                  <a:off x="6000271" y="2352306"/>
                  <a:ext cx="157943" cy="157943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TW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微軟正黑體"/>
                    <a:cs typeface="+mn-cs"/>
                  </a:endParaRPr>
                </a:p>
              </p:txBody>
            </p:sp>
            <p:sp>
              <p:nvSpPr>
                <p:cNvPr id="113" name="橢圓 112">
                  <a:extLst>
                    <a:ext uri="{FF2B5EF4-FFF2-40B4-BE49-F238E27FC236}">
                      <a16:creationId xmlns:a16="http://schemas.microsoft.com/office/drawing/2014/main" id="{BBEAF924-2606-4300-FAB0-02B86BE772B6}"/>
                    </a:ext>
                  </a:extLst>
                </p:cNvPr>
                <p:cNvSpPr/>
                <p:nvPr/>
              </p:nvSpPr>
              <p:spPr>
                <a:xfrm>
                  <a:off x="6000271" y="2576093"/>
                  <a:ext cx="157943" cy="157943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TW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微軟正黑體"/>
                    <a:cs typeface="+mn-cs"/>
                  </a:endParaRPr>
                </a:p>
              </p:txBody>
            </p:sp>
            <p:sp>
              <p:nvSpPr>
                <p:cNvPr id="114" name="橢圓 113">
                  <a:extLst>
                    <a:ext uri="{FF2B5EF4-FFF2-40B4-BE49-F238E27FC236}">
                      <a16:creationId xmlns:a16="http://schemas.microsoft.com/office/drawing/2014/main" id="{620A6806-57C4-C203-5A3C-E76D70098572}"/>
                    </a:ext>
                  </a:extLst>
                </p:cNvPr>
                <p:cNvSpPr/>
                <p:nvPr/>
              </p:nvSpPr>
              <p:spPr>
                <a:xfrm>
                  <a:off x="6000271" y="2799880"/>
                  <a:ext cx="157943" cy="157943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TW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微軟正黑體"/>
                    <a:cs typeface="+mn-cs"/>
                  </a:endParaRPr>
                </a:p>
              </p:txBody>
            </p:sp>
            <p:sp>
              <p:nvSpPr>
                <p:cNvPr id="115" name="橢圓 114">
                  <a:extLst>
                    <a:ext uri="{FF2B5EF4-FFF2-40B4-BE49-F238E27FC236}">
                      <a16:creationId xmlns:a16="http://schemas.microsoft.com/office/drawing/2014/main" id="{84C8971F-A107-9246-A091-7A86C42DD6EE}"/>
                    </a:ext>
                  </a:extLst>
                </p:cNvPr>
                <p:cNvSpPr/>
                <p:nvPr/>
              </p:nvSpPr>
              <p:spPr>
                <a:xfrm>
                  <a:off x="6000271" y="3247454"/>
                  <a:ext cx="157943" cy="157943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TW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微軟正黑體"/>
                    <a:cs typeface="+mn-cs"/>
                  </a:endParaRPr>
                </a:p>
              </p:txBody>
            </p:sp>
            <p:sp>
              <p:nvSpPr>
                <p:cNvPr id="116" name="橢圓 115">
                  <a:extLst>
                    <a:ext uri="{FF2B5EF4-FFF2-40B4-BE49-F238E27FC236}">
                      <a16:creationId xmlns:a16="http://schemas.microsoft.com/office/drawing/2014/main" id="{5F86D851-D0BD-410A-FE88-91082DF95887}"/>
                    </a:ext>
                  </a:extLst>
                </p:cNvPr>
                <p:cNvSpPr/>
                <p:nvPr/>
              </p:nvSpPr>
              <p:spPr>
                <a:xfrm>
                  <a:off x="6000271" y="3023667"/>
                  <a:ext cx="157943" cy="157943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TW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微軟正黑體"/>
                    <a:cs typeface="+mn-cs"/>
                  </a:endParaRPr>
                </a:p>
              </p:txBody>
            </p:sp>
          </p:grpSp>
          <p:grpSp>
            <p:nvGrpSpPr>
              <p:cNvPr id="94" name="群組 93">
                <a:extLst>
                  <a:ext uri="{FF2B5EF4-FFF2-40B4-BE49-F238E27FC236}">
                    <a16:creationId xmlns:a16="http://schemas.microsoft.com/office/drawing/2014/main" id="{8DF9C9AA-6925-163D-CFFF-054E92516B4A}"/>
                  </a:ext>
                </a:extLst>
              </p:cNvPr>
              <p:cNvGrpSpPr/>
              <p:nvPr/>
            </p:nvGrpSpPr>
            <p:grpSpPr>
              <a:xfrm>
                <a:off x="6133606" y="2255519"/>
                <a:ext cx="207815" cy="1330036"/>
                <a:chOff x="5981206" y="2103119"/>
                <a:chExt cx="207815" cy="1330036"/>
              </a:xfrm>
            </p:grpSpPr>
            <p:sp>
              <p:nvSpPr>
                <p:cNvPr id="103" name="矩形 102">
                  <a:extLst>
                    <a:ext uri="{FF2B5EF4-FFF2-40B4-BE49-F238E27FC236}">
                      <a16:creationId xmlns:a16="http://schemas.microsoft.com/office/drawing/2014/main" id="{D1F2B382-2B09-3C73-FBFA-3E513450FE81}"/>
                    </a:ext>
                  </a:extLst>
                </p:cNvPr>
                <p:cNvSpPr/>
                <p:nvPr/>
              </p:nvSpPr>
              <p:spPr>
                <a:xfrm>
                  <a:off x="5981206" y="2103119"/>
                  <a:ext cx="207815" cy="1330036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TW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微軟正黑體"/>
                    <a:cs typeface="+mn-cs"/>
                  </a:endParaRPr>
                </a:p>
              </p:txBody>
            </p:sp>
            <p:sp>
              <p:nvSpPr>
                <p:cNvPr id="104" name="橢圓 103">
                  <a:extLst>
                    <a:ext uri="{FF2B5EF4-FFF2-40B4-BE49-F238E27FC236}">
                      <a16:creationId xmlns:a16="http://schemas.microsoft.com/office/drawing/2014/main" id="{25D95A47-3F2C-C703-B01F-2F25CB836162}"/>
                    </a:ext>
                  </a:extLst>
                </p:cNvPr>
                <p:cNvSpPr/>
                <p:nvPr/>
              </p:nvSpPr>
              <p:spPr>
                <a:xfrm>
                  <a:off x="6000271" y="2128519"/>
                  <a:ext cx="157943" cy="157943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TW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微軟正黑體"/>
                    <a:cs typeface="+mn-cs"/>
                  </a:endParaRPr>
                </a:p>
              </p:txBody>
            </p:sp>
            <p:sp>
              <p:nvSpPr>
                <p:cNvPr id="105" name="橢圓 104">
                  <a:extLst>
                    <a:ext uri="{FF2B5EF4-FFF2-40B4-BE49-F238E27FC236}">
                      <a16:creationId xmlns:a16="http://schemas.microsoft.com/office/drawing/2014/main" id="{ECA879BB-1599-B8BA-E559-145F11A26734}"/>
                    </a:ext>
                  </a:extLst>
                </p:cNvPr>
                <p:cNvSpPr/>
                <p:nvPr/>
              </p:nvSpPr>
              <p:spPr>
                <a:xfrm>
                  <a:off x="6000271" y="2352306"/>
                  <a:ext cx="157943" cy="157943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TW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微軟正黑體"/>
                    <a:cs typeface="+mn-cs"/>
                  </a:endParaRPr>
                </a:p>
              </p:txBody>
            </p:sp>
            <p:sp>
              <p:nvSpPr>
                <p:cNvPr id="106" name="橢圓 105">
                  <a:extLst>
                    <a:ext uri="{FF2B5EF4-FFF2-40B4-BE49-F238E27FC236}">
                      <a16:creationId xmlns:a16="http://schemas.microsoft.com/office/drawing/2014/main" id="{97B2B90C-F9CC-007E-5FAC-55F569C9CB59}"/>
                    </a:ext>
                  </a:extLst>
                </p:cNvPr>
                <p:cNvSpPr/>
                <p:nvPr/>
              </p:nvSpPr>
              <p:spPr>
                <a:xfrm>
                  <a:off x="6000271" y="2576093"/>
                  <a:ext cx="157943" cy="157943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TW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微軟正黑體"/>
                    <a:cs typeface="+mn-cs"/>
                  </a:endParaRPr>
                </a:p>
              </p:txBody>
            </p:sp>
            <p:sp>
              <p:nvSpPr>
                <p:cNvPr id="107" name="橢圓 106">
                  <a:extLst>
                    <a:ext uri="{FF2B5EF4-FFF2-40B4-BE49-F238E27FC236}">
                      <a16:creationId xmlns:a16="http://schemas.microsoft.com/office/drawing/2014/main" id="{01ACA864-1E2B-FAB3-E7AC-D897D52619E7}"/>
                    </a:ext>
                  </a:extLst>
                </p:cNvPr>
                <p:cNvSpPr/>
                <p:nvPr/>
              </p:nvSpPr>
              <p:spPr>
                <a:xfrm>
                  <a:off x="6000271" y="2799880"/>
                  <a:ext cx="157943" cy="157943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TW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微軟正黑體"/>
                    <a:cs typeface="+mn-cs"/>
                  </a:endParaRPr>
                </a:p>
              </p:txBody>
            </p:sp>
            <p:sp>
              <p:nvSpPr>
                <p:cNvPr id="108" name="橢圓 107">
                  <a:extLst>
                    <a:ext uri="{FF2B5EF4-FFF2-40B4-BE49-F238E27FC236}">
                      <a16:creationId xmlns:a16="http://schemas.microsoft.com/office/drawing/2014/main" id="{68844BB4-5A3E-1260-C69F-26D70B75BA79}"/>
                    </a:ext>
                  </a:extLst>
                </p:cNvPr>
                <p:cNvSpPr/>
                <p:nvPr/>
              </p:nvSpPr>
              <p:spPr>
                <a:xfrm>
                  <a:off x="6000271" y="3247454"/>
                  <a:ext cx="157943" cy="157943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TW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微軟正黑體"/>
                    <a:cs typeface="+mn-cs"/>
                  </a:endParaRPr>
                </a:p>
              </p:txBody>
            </p:sp>
            <p:sp>
              <p:nvSpPr>
                <p:cNvPr id="109" name="橢圓 108">
                  <a:extLst>
                    <a:ext uri="{FF2B5EF4-FFF2-40B4-BE49-F238E27FC236}">
                      <a16:creationId xmlns:a16="http://schemas.microsoft.com/office/drawing/2014/main" id="{2CE69CEB-DE17-81F2-81DB-16502E9BA0B2}"/>
                    </a:ext>
                  </a:extLst>
                </p:cNvPr>
                <p:cNvSpPr/>
                <p:nvPr/>
              </p:nvSpPr>
              <p:spPr>
                <a:xfrm>
                  <a:off x="6000271" y="3023667"/>
                  <a:ext cx="157943" cy="157943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TW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微軟正黑體"/>
                    <a:cs typeface="+mn-cs"/>
                  </a:endParaRPr>
                </a:p>
              </p:txBody>
            </p:sp>
          </p:grpSp>
          <p:grpSp>
            <p:nvGrpSpPr>
              <p:cNvPr id="95" name="群組 94">
                <a:extLst>
                  <a:ext uri="{FF2B5EF4-FFF2-40B4-BE49-F238E27FC236}">
                    <a16:creationId xmlns:a16="http://schemas.microsoft.com/office/drawing/2014/main" id="{3E99FB8B-ADB7-E536-6402-7F8193F57511}"/>
                  </a:ext>
                </a:extLst>
              </p:cNvPr>
              <p:cNvGrpSpPr/>
              <p:nvPr/>
            </p:nvGrpSpPr>
            <p:grpSpPr>
              <a:xfrm>
                <a:off x="6286006" y="2407919"/>
                <a:ext cx="207815" cy="1330036"/>
                <a:chOff x="5981206" y="2103119"/>
                <a:chExt cx="207815" cy="1330036"/>
              </a:xfrm>
            </p:grpSpPr>
            <p:sp>
              <p:nvSpPr>
                <p:cNvPr id="96" name="矩形 95">
                  <a:extLst>
                    <a:ext uri="{FF2B5EF4-FFF2-40B4-BE49-F238E27FC236}">
                      <a16:creationId xmlns:a16="http://schemas.microsoft.com/office/drawing/2014/main" id="{24EA73BD-70E6-C18D-7504-0A0F09320679}"/>
                    </a:ext>
                  </a:extLst>
                </p:cNvPr>
                <p:cNvSpPr/>
                <p:nvPr/>
              </p:nvSpPr>
              <p:spPr>
                <a:xfrm>
                  <a:off x="5981206" y="2103119"/>
                  <a:ext cx="207815" cy="1330036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TW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微軟正黑體"/>
                    <a:cs typeface="+mn-cs"/>
                  </a:endParaRPr>
                </a:p>
              </p:txBody>
            </p:sp>
            <p:sp>
              <p:nvSpPr>
                <p:cNvPr id="97" name="橢圓 96">
                  <a:extLst>
                    <a:ext uri="{FF2B5EF4-FFF2-40B4-BE49-F238E27FC236}">
                      <a16:creationId xmlns:a16="http://schemas.microsoft.com/office/drawing/2014/main" id="{F93CD569-6509-0E76-C98B-8142C89B4C4E}"/>
                    </a:ext>
                  </a:extLst>
                </p:cNvPr>
                <p:cNvSpPr/>
                <p:nvPr/>
              </p:nvSpPr>
              <p:spPr>
                <a:xfrm>
                  <a:off x="6000271" y="2128519"/>
                  <a:ext cx="157943" cy="157943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TW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微軟正黑體"/>
                    <a:cs typeface="+mn-cs"/>
                  </a:endParaRPr>
                </a:p>
              </p:txBody>
            </p:sp>
            <p:sp>
              <p:nvSpPr>
                <p:cNvPr id="98" name="橢圓 97">
                  <a:extLst>
                    <a:ext uri="{FF2B5EF4-FFF2-40B4-BE49-F238E27FC236}">
                      <a16:creationId xmlns:a16="http://schemas.microsoft.com/office/drawing/2014/main" id="{E8FB3D7F-EA42-FC79-6DF6-5E64884A4DEC}"/>
                    </a:ext>
                  </a:extLst>
                </p:cNvPr>
                <p:cNvSpPr/>
                <p:nvPr/>
              </p:nvSpPr>
              <p:spPr>
                <a:xfrm>
                  <a:off x="6000271" y="2352306"/>
                  <a:ext cx="157943" cy="157943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TW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微軟正黑體"/>
                    <a:cs typeface="+mn-cs"/>
                  </a:endParaRPr>
                </a:p>
              </p:txBody>
            </p:sp>
            <p:sp>
              <p:nvSpPr>
                <p:cNvPr id="99" name="橢圓 98">
                  <a:extLst>
                    <a:ext uri="{FF2B5EF4-FFF2-40B4-BE49-F238E27FC236}">
                      <a16:creationId xmlns:a16="http://schemas.microsoft.com/office/drawing/2014/main" id="{46D22226-5B44-751D-E56B-E3B5187F254F}"/>
                    </a:ext>
                  </a:extLst>
                </p:cNvPr>
                <p:cNvSpPr/>
                <p:nvPr/>
              </p:nvSpPr>
              <p:spPr>
                <a:xfrm>
                  <a:off x="6000271" y="2576093"/>
                  <a:ext cx="157943" cy="157943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TW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微軟正黑體"/>
                    <a:cs typeface="+mn-cs"/>
                  </a:endParaRPr>
                </a:p>
              </p:txBody>
            </p:sp>
            <p:sp>
              <p:nvSpPr>
                <p:cNvPr id="100" name="橢圓 99">
                  <a:extLst>
                    <a:ext uri="{FF2B5EF4-FFF2-40B4-BE49-F238E27FC236}">
                      <a16:creationId xmlns:a16="http://schemas.microsoft.com/office/drawing/2014/main" id="{A654FB87-D962-D08C-572E-A2418721A973}"/>
                    </a:ext>
                  </a:extLst>
                </p:cNvPr>
                <p:cNvSpPr/>
                <p:nvPr/>
              </p:nvSpPr>
              <p:spPr>
                <a:xfrm>
                  <a:off x="6000271" y="2799880"/>
                  <a:ext cx="157943" cy="157943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TW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微軟正黑體"/>
                    <a:cs typeface="+mn-cs"/>
                  </a:endParaRPr>
                </a:p>
              </p:txBody>
            </p:sp>
            <p:sp>
              <p:nvSpPr>
                <p:cNvPr id="101" name="橢圓 100">
                  <a:extLst>
                    <a:ext uri="{FF2B5EF4-FFF2-40B4-BE49-F238E27FC236}">
                      <a16:creationId xmlns:a16="http://schemas.microsoft.com/office/drawing/2014/main" id="{F2AF1DEA-8C3B-5194-F962-03B2003D67F3}"/>
                    </a:ext>
                  </a:extLst>
                </p:cNvPr>
                <p:cNvSpPr/>
                <p:nvPr/>
              </p:nvSpPr>
              <p:spPr>
                <a:xfrm>
                  <a:off x="6000271" y="3247454"/>
                  <a:ext cx="157943" cy="157943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TW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微軟正黑體"/>
                    <a:cs typeface="+mn-cs"/>
                  </a:endParaRPr>
                </a:p>
              </p:txBody>
            </p:sp>
            <p:sp>
              <p:nvSpPr>
                <p:cNvPr id="102" name="橢圓 101">
                  <a:extLst>
                    <a:ext uri="{FF2B5EF4-FFF2-40B4-BE49-F238E27FC236}">
                      <a16:creationId xmlns:a16="http://schemas.microsoft.com/office/drawing/2014/main" id="{6F9B00AA-AB4D-0C9D-5456-42CB6639C7EE}"/>
                    </a:ext>
                  </a:extLst>
                </p:cNvPr>
                <p:cNvSpPr/>
                <p:nvPr/>
              </p:nvSpPr>
              <p:spPr>
                <a:xfrm>
                  <a:off x="6000271" y="3023667"/>
                  <a:ext cx="157943" cy="157943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TW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微軟正黑體"/>
                    <a:cs typeface="+mn-cs"/>
                  </a:endParaRPr>
                </a:p>
              </p:txBody>
            </p:sp>
          </p:grpSp>
        </p:grpSp>
        <p:grpSp>
          <p:nvGrpSpPr>
            <p:cNvPr id="10" name="群組 9">
              <a:extLst>
                <a:ext uri="{FF2B5EF4-FFF2-40B4-BE49-F238E27FC236}">
                  <a16:creationId xmlns:a16="http://schemas.microsoft.com/office/drawing/2014/main" id="{F8214413-49F6-354C-E267-98EFF5E6D649}"/>
                </a:ext>
              </a:extLst>
            </p:cNvPr>
            <p:cNvGrpSpPr/>
            <p:nvPr/>
          </p:nvGrpSpPr>
          <p:grpSpPr>
            <a:xfrm>
              <a:off x="5200932" y="3662595"/>
              <a:ext cx="1073380" cy="1154845"/>
              <a:chOff x="2344190" y="1438101"/>
              <a:chExt cx="1147154" cy="1330036"/>
            </a:xfrm>
          </p:grpSpPr>
          <p:sp>
            <p:nvSpPr>
              <p:cNvPr id="89" name="矩形 88">
                <a:extLst>
                  <a:ext uri="{FF2B5EF4-FFF2-40B4-BE49-F238E27FC236}">
                    <a16:creationId xmlns:a16="http://schemas.microsoft.com/office/drawing/2014/main" id="{96EEB8AA-3DD4-0456-221A-EC358E509015}"/>
                  </a:ext>
                </a:extLst>
              </p:cNvPr>
              <p:cNvSpPr/>
              <p:nvPr/>
            </p:nvSpPr>
            <p:spPr>
              <a:xfrm>
                <a:off x="2344190" y="1438101"/>
                <a:ext cx="207815" cy="1330036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90" name="矩形 89">
                <a:extLst>
                  <a:ext uri="{FF2B5EF4-FFF2-40B4-BE49-F238E27FC236}">
                    <a16:creationId xmlns:a16="http://schemas.microsoft.com/office/drawing/2014/main" id="{DF3D2541-8C97-88EE-8A28-B67D05075603}"/>
                  </a:ext>
                </a:extLst>
              </p:cNvPr>
              <p:cNvSpPr/>
              <p:nvPr/>
            </p:nvSpPr>
            <p:spPr>
              <a:xfrm>
                <a:off x="2657303" y="1438101"/>
                <a:ext cx="207815" cy="1330036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91" name="矩形 90">
                <a:extLst>
                  <a:ext uri="{FF2B5EF4-FFF2-40B4-BE49-F238E27FC236}">
                    <a16:creationId xmlns:a16="http://schemas.microsoft.com/office/drawing/2014/main" id="{E7110E25-0473-8FC3-1DE3-79284915AC65}"/>
                  </a:ext>
                </a:extLst>
              </p:cNvPr>
              <p:cNvSpPr/>
              <p:nvPr/>
            </p:nvSpPr>
            <p:spPr>
              <a:xfrm>
                <a:off x="2970416" y="1438101"/>
                <a:ext cx="207815" cy="1330036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92" name="矩形 91">
                <a:extLst>
                  <a:ext uri="{FF2B5EF4-FFF2-40B4-BE49-F238E27FC236}">
                    <a16:creationId xmlns:a16="http://schemas.microsoft.com/office/drawing/2014/main" id="{B2130172-7ABC-799B-2798-340817216ACF}"/>
                  </a:ext>
                </a:extLst>
              </p:cNvPr>
              <p:cNvSpPr/>
              <p:nvPr/>
            </p:nvSpPr>
            <p:spPr>
              <a:xfrm>
                <a:off x="3283529" y="1438101"/>
                <a:ext cx="207815" cy="1330036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</p:grpSp>
        <p:grpSp>
          <p:nvGrpSpPr>
            <p:cNvPr id="11" name="群組 10">
              <a:extLst>
                <a:ext uri="{FF2B5EF4-FFF2-40B4-BE49-F238E27FC236}">
                  <a16:creationId xmlns:a16="http://schemas.microsoft.com/office/drawing/2014/main" id="{ABF3D807-3FAE-6B79-BC1B-B0FE33904D4F}"/>
                </a:ext>
              </a:extLst>
            </p:cNvPr>
            <p:cNvGrpSpPr/>
            <p:nvPr/>
          </p:nvGrpSpPr>
          <p:grpSpPr>
            <a:xfrm>
              <a:off x="3836320" y="3530269"/>
              <a:ext cx="479649" cy="1419497"/>
              <a:chOff x="5981206" y="2103119"/>
              <a:chExt cx="512615" cy="1634836"/>
            </a:xfrm>
          </p:grpSpPr>
          <p:grpSp>
            <p:nvGrpSpPr>
              <p:cNvPr id="65" name="群組 64">
                <a:extLst>
                  <a:ext uri="{FF2B5EF4-FFF2-40B4-BE49-F238E27FC236}">
                    <a16:creationId xmlns:a16="http://schemas.microsoft.com/office/drawing/2014/main" id="{0743FE51-5D0C-5D14-FADE-3A167775183C}"/>
                  </a:ext>
                </a:extLst>
              </p:cNvPr>
              <p:cNvGrpSpPr/>
              <p:nvPr/>
            </p:nvGrpSpPr>
            <p:grpSpPr>
              <a:xfrm>
                <a:off x="5981206" y="2103119"/>
                <a:ext cx="207815" cy="1330036"/>
                <a:chOff x="5981206" y="2103119"/>
                <a:chExt cx="207815" cy="1330036"/>
              </a:xfrm>
            </p:grpSpPr>
            <p:sp>
              <p:nvSpPr>
                <p:cNvPr id="82" name="矩形 81">
                  <a:extLst>
                    <a:ext uri="{FF2B5EF4-FFF2-40B4-BE49-F238E27FC236}">
                      <a16:creationId xmlns:a16="http://schemas.microsoft.com/office/drawing/2014/main" id="{C7D3EDCA-214F-D327-8286-A29C8493A7A5}"/>
                    </a:ext>
                  </a:extLst>
                </p:cNvPr>
                <p:cNvSpPr/>
                <p:nvPr/>
              </p:nvSpPr>
              <p:spPr>
                <a:xfrm>
                  <a:off x="5981206" y="2103119"/>
                  <a:ext cx="207815" cy="1330036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TW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微軟正黑體"/>
                    <a:cs typeface="+mn-cs"/>
                  </a:endParaRPr>
                </a:p>
              </p:txBody>
            </p:sp>
            <p:sp>
              <p:nvSpPr>
                <p:cNvPr id="83" name="橢圓 82">
                  <a:extLst>
                    <a:ext uri="{FF2B5EF4-FFF2-40B4-BE49-F238E27FC236}">
                      <a16:creationId xmlns:a16="http://schemas.microsoft.com/office/drawing/2014/main" id="{D61387D2-AA40-9C1F-917C-E826F094A0F5}"/>
                    </a:ext>
                  </a:extLst>
                </p:cNvPr>
                <p:cNvSpPr/>
                <p:nvPr/>
              </p:nvSpPr>
              <p:spPr>
                <a:xfrm>
                  <a:off x="6000271" y="2128519"/>
                  <a:ext cx="157943" cy="157943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TW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微軟正黑體"/>
                    <a:cs typeface="+mn-cs"/>
                  </a:endParaRPr>
                </a:p>
              </p:txBody>
            </p:sp>
            <p:sp>
              <p:nvSpPr>
                <p:cNvPr id="84" name="橢圓 83">
                  <a:extLst>
                    <a:ext uri="{FF2B5EF4-FFF2-40B4-BE49-F238E27FC236}">
                      <a16:creationId xmlns:a16="http://schemas.microsoft.com/office/drawing/2014/main" id="{C4F8AD54-2570-96DF-6350-3304E0094DB0}"/>
                    </a:ext>
                  </a:extLst>
                </p:cNvPr>
                <p:cNvSpPr/>
                <p:nvPr/>
              </p:nvSpPr>
              <p:spPr>
                <a:xfrm>
                  <a:off x="6000271" y="2352306"/>
                  <a:ext cx="157943" cy="157943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TW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微軟正黑體"/>
                    <a:cs typeface="+mn-cs"/>
                  </a:endParaRPr>
                </a:p>
              </p:txBody>
            </p:sp>
            <p:sp>
              <p:nvSpPr>
                <p:cNvPr id="85" name="橢圓 84">
                  <a:extLst>
                    <a:ext uri="{FF2B5EF4-FFF2-40B4-BE49-F238E27FC236}">
                      <a16:creationId xmlns:a16="http://schemas.microsoft.com/office/drawing/2014/main" id="{A07D7488-9347-BBFC-F1DD-B7FF499490F0}"/>
                    </a:ext>
                  </a:extLst>
                </p:cNvPr>
                <p:cNvSpPr/>
                <p:nvPr/>
              </p:nvSpPr>
              <p:spPr>
                <a:xfrm>
                  <a:off x="6000271" y="2576093"/>
                  <a:ext cx="157943" cy="157943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TW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微軟正黑體"/>
                    <a:cs typeface="+mn-cs"/>
                  </a:endParaRPr>
                </a:p>
              </p:txBody>
            </p:sp>
            <p:sp>
              <p:nvSpPr>
                <p:cNvPr id="86" name="橢圓 85">
                  <a:extLst>
                    <a:ext uri="{FF2B5EF4-FFF2-40B4-BE49-F238E27FC236}">
                      <a16:creationId xmlns:a16="http://schemas.microsoft.com/office/drawing/2014/main" id="{04D3AD47-2D8C-0EF3-8BC1-27A6F2F92DBD}"/>
                    </a:ext>
                  </a:extLst>
                </p:cNvPr>
                <p:cNvSpPr/>
                <p:nvPr/>
              </p:nvSpPr>
              <p:spPr>
                <a:xfrm>
                  <a:off x="6000271" y="2799880"/>
                  <a:ext cx="157943" cy="157943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TW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微軟正黑體"/>
                    <a:cs typeface="+mn-cs"/>
                  </a:endParaRPr>
                </a:p>
              </p:txBody>
            </p:sp>
            <p:sp>
              <p:nvSpPr>
                <p:cNvPr id="87" name="橢圓 86">
                  <a:extLst>
                    <a:ext uri="{FF2B5EF4-FFF2-40B4-BE49-F238E27FC236}">
                      <a16:creationId xmlns:a16="http://schemas.microsoft.com/office/drawing/2014/main" id="{B925C9BE-0BC6-60C5-6CE7-16F491917027}"/>
                    </a:ext>
                  </a:extLst>
                </p:cNvPr>
                <p:cNvSpPr/>
                <p:nvPr/>
              </p:nvSpPr>
              <p:spPr>
                <a:xfrm>
                  <a:off x="6000271" y="3247454"/>
                  <a:ext cx="157943" cy="157943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TW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微軟正黑體"/>
                    <a:cs typeface="+mn-cs"/>
                  </a:endParaRPr>
                </a:p>
              </p:txBody>
            </p:sp>
            <p:sp>
              <p:nvSpPr>
                <p:cNvPr id="88" name="橢圓 87">
                  <a:extLst>
                    <a:ext uri="{FF2B5EF4-FFF2-40B4-BE49-F238E27FC236}">
                      <a16:creationId xmlns:a16="http://schemas.microsoft.com/office/drawing/2014/main" id="{528A0619-E7C2-F2F4-DDEC-C4AF646F7252}"/>
                    </a:ext>
                  </a:extLst>
                </p:cNvPr>
                <p:cNvSpPr/>
                <p:nvPr/>
              </p:nvSpPr>
              <p:spPr>
                <a:xfrm>
                  <a:off x="6000271" y="3023667"/>
                  <a:ext cx="157943" cy="157943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TW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微軟正黑體"/>
                    <a:cs typeface="+mn-cs"/>
                  </a:endParaRPr>
                </a:p>
              </p:txBody>
            </p:sp>
          </p:grpSp>
          <p:grpSp>
            <p:nvGrpSpPr>
              <p:cNvPr id="66" name="群組 65">
                <a:extLst>
                  <a:ext uri="{FF2B5EF4-FFF2-40B4-BE49-F238E27FC236}">
                    <a16:creationId xmlns:a16="http://schemas.microsoft.com/office/drawing/2014/main" id="{6E20254C-CC16-8FC3-BAD4-32CC19A8BE03}"/>
                  </a:ext>
                </a:extLst>
              </p:cNvPr>
              <p:cNvGrpSpPr/>
              <p:nvPr/>
            </p:nvGrpSpPr>
            <p:grpSpPr>
              <a:xfrm>
                <a:off x="6133606" y="2255519"/>
                <a:ext cx="207815" cy="1330036"/>
                <a:chOff x="5981206" y="2103119"/>
                <a:chExt cx="207815" cy="1330036"/>
              </a:xfrm>
            </p:grpSpPr>
            <p:sp>
              <p:nvSpPr>
                <p:cNvPr id="75" name="矩形 74">
                  <a:extLst>
                    <a:ext uri="{FF2B5EF4-FFF2-40B4-BE49-F238E27FC236}">
                      <a16:creationId xmlns:a16="http://schemas.microsoft.com/office/drawing/2014/main" id="{EDEA28F0-7372-62F2-9AA6-BF66C5D33915}"/>
                    </a:ext>
                  </a:extLst>
                </p:cNvPr>
                <p:cNvSpPr/>
                <p:nvPr/>
              </p:nvSpPr>
              <p:spPr>
                <a:xfrm>
                  <a:off x="5981206" y="2103119"/>
                  <a:ext cx="207815" cy="1330036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TW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微軟正黑體"/>
                    <a:cs typeface="+mn-cs"/>
                  </a:endParaRPr>
                </a:p>
              </p:txBody>
            </p:sp>
            <p:sp>
              <p:nvSpPr>
                <p:cNvPr id="76" name="橢圓 75">
                  <a:extLst>
                    <a:ext uri="{FF2B5EF4-FFF2-40B4-BE49-F238E27FC236}">
                      <a16:creationId xmlns:a16="http://schemas.microsoft.com/office/drawing/2014/main" id="{A12E03DC-88BB-B12D-1631-23548159948B}"/>
                    </a:ext>
                  </a:extLst>
                </p:cNvPr>
                <p:cNvSpPr/>
                <p:nvPr/>
              </p:nvSpPr>
              <p:spPr>
                <a:xfrm>
                  <a:off x="6000271" y="2128519"/>
                  <a:ext cx="157943" cy="157943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TW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微軟正黑體"/>
                    <a:cs typeface="+mn-cs"/>
                  </a:endParaRPr>
                </a:p>
              </p:txBody>
            </p:sp>
            <p:sp>
              <p:nvSpPr>
                <p:cNvPr id="77" name="橢圓 76">
                  <a:extLst>
                    <a:ext uri="{FF2B5EF4-FFF2-40B4-BE49-F238E27FC236}">
                      <a16:creationId xmlns:a16="http://schemas.microsoft.com/office/drawing/2014/main" id="{F9EDD649-B176-0048-8AD3-9798A528CA50}"/>
                    </a:ext>
                  </a:extLst>
                </p:cNvPr>
                <p:cNvSpPr/>
                <p:nvPr/>
              </p:nvSpPr>
              <p:spPr>
                <a:xfrm>
                  <a:off x="6000271" y="2352306"/>
                  <a:ext cx="157943" cy="157943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TW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微軟正黑體"/>
                    <a:cs typeface="+mn-cs"/>
                  </a:endParaRPr>
                </a:p>
              </p:txBody>
            </p:sp>
            <p:sp>
              <p:nvSpPr>
                <p:cNvPr id="78" name="橢圓 77">
                  <a:extLst>
                    <a:ext uri="{FF2B5EF4-FFF2-40B4-BE49-F238E27FC236}">
                      <a16:creationId xmlns:a16="http://schemas.microsoft.com/office/drawing/2014/main" id="{CABC09E7-62FC-0E79-EBA6-642E1293E751}"/>
                    </a:ext>
                  </a:extLst>
                </p:cNvPr>
                <p:cNvSpPr/>
                <p:nvPr/>
              </p:nvSpPr>
              <p:spPr>
                <a:xfrm>
                  <a:off x="6000271" y="2576093"/>
                  <a:ext cx="157943" cy="157943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TW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微軟正黑體"/>
                    <a:cs typeface="+mn-cs"/>
                  </a:endParaRPr>
                </a:p>
              </p:txBody>
            </p:sp>
            <p:sp>
              <p:nvSpPr>
                <p:cNvPr id="79" name="橢圓 78">
                  <a:extLst>
                    <a:ext uri="{FF2B5EF4-FFF2-40B4-BE49-F238E27FC236}">
                      <a16:creationId xmlns:a16="http://schemas.microsoft.com/office/drawing/2014/main" id="{D7DF64EC-877D-53B0-1F94-F1515DE6BB65}"/>
                    </a:ext>
                  </a:extLst>
                </p:cNvPr>
                <p:cNvSpPr/>
                <p:nvPr/>
              </p:nvSpPr>
              <p:spPr>
                <a:xfrm>
                  <a:off x="6000271" y="2799880"/>
                  <a:ext cx="157943" cy="157943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TW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微軟正黑體"/>
                    <a:cs typeface="+mn-cs"/>
                  </a:endParaRPr>
                </a:p>
              </p:txBody>
            </p:sp>
            <p:sp>
              <p:nvSpPr>
                <p:cNvPr id="80" name="橢圓 79">
                  <a:extLst>
                    <a:ext uri="{FF2B5EF4-FFF2-40B4-BE49-F238E27FC236}">
                      <a16:creationId xmlns:a16="http://schemas.microsoft.com/office/drawing/2014/main" id="{F5CA55BF-A6FD-B022-D2C4-758A9FCFE3BF}"/>
                    </a:ext>
                  </a:extLst>
                </p:cNvPr>
                <p:cNvSpPr/>
                <p:nvPr/>
              </p:nvSpPr>
              <p:spPr>
                <a:xfrm>
                  <a:off x="6000271" y="3247454"/>
                  <a:ext cx="157943" cy="157943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TW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微軟正黑體"/>
                    <a:cs typeface="+mn-cs"/>
                  </a:endParaRPr>
                </a:p>
              </p:txBody>
            </p:sp>
            <p:sp>
              <p:nvSpPr>
                <p:cNvPr id="81" name="橢圓 80">
                  <a:extLst>
                    <a:ext uri="{FF2B5EF4-FFF2-40B4-BE49-F238E27FC236}">
                      <a16:creationId xmlns:a16="http://schemas.microsoft.com/office/drawing/2014/main" id="{95983234-3CC1-6372-A166-CC2EFABCCCB9}"/>
                    </a:ext>
                  </a:extLst>
                </p:cNvPr>
                <p:cNvSpPr/>
                <p:nvPr/>
              </p:nvSpPr>
              <p:spPr>
                <a:xfrm>
                  <a:off x="6000271" y="3023667"/>
                  <a:ext cx="157943" cy="157943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TW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微軟正黑體"/>
                    <a:cs typeface="+mn-cs"/>
                  </a:endParaRPr>
                </a:p>
              </p:txBody>
            </p:sp>
          </p:grpSp>
          <p:grpSp>
            <p:nvGrpSpPr>
              <p:cNvPr id="67" name="群組 66">
                <a:extLst>
                  <a:ext uri="{FF2B5EF4-FFF2-40B4-BE49-F238E27FC236}">
                    <a16:creationId xmlns:a16="http://schemas.microsoft.com/office/drawing/2014/main" id="{A11C1504-D9FA-CA78-1AFF-3A6FDE350E55}"/>
                  </a:ext>
                </a:extLst>
              </p:cNvPr>
              <p:cNvGrpSpPr/>
              <p:nvPr/>
            </p:nvGrpSpPr>
            <p:grpSpPr>
              <a:xfrm>
                <a:off x="6286006" y="2407919"/>
                <a:ext cx="207815" cy="1330036"/>
                <a:chOff x="5981206" y="2103119"/>
                <a:chExt cx="207815" cy="1330036"/>
              </a:xfrm>
            </p:grpSpPr>
            <p:sp>
              <p:nvSpPr>
                <p:cNvPr id="68" name="矩形 67">
                  <a:extLst>
                    <a:ext uri="{FF2B5EF4-FFF2-40B4-BE49-F238E27FC236}">
                      <a16:creationId xmlns:a16="http://schemas.microsoft.com/office/drawing/2014/main" id="{042E8793-6560-7D38-B27E-68AAF865E561}"/>
                    </a:ext>
                  </a:extLst>
                </p:cNvPr>
                <p:cNvSpPr/>
                <p:nvPr/>
              </p:nvSpPr>
              <p:spPr>
                <a:xfrm>
                  <a:off x="5981206" y="2103119"/>
                  <a:ext cx="207815" cy="1330036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TW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微軟正黑體"/>
                    <a:cs typeface="+mn-cs"/>
                  </a:endParaRPr>
                </a:p>
              </p:txBody>
            </p:sp>
            <p:sp>
              <p:nvSpPr>
                <p:cNvPr id="69" name="橢圓 68">
                  <a:extLst>
                    <a:ext uri="{FF2B5EF4-FFF2-40B4-BE49-F238E27FC236}">
                      <a16:creationId xmlns:a16="http://schemas.microsoft.com/office/drawing/2014/main" id="{C552C9E2-B5E7-7681-5B4E-FEA000C413D0}"/>
                    </a:ext>
                  </a:extLst>
                </p:cNvPr>
                <p:cNvSpPr/>
                <p:nvPr/>
              </p:nvSpPr>
              <p:spPr>
                <a:xfrm>
                  <a:off x="6000271" y="2128519"/>
                  <a:ext cx="157943" cy="157943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TW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微軟正黑體"/>
                    <a:cs typeface="+mn-cs"/>
                  </a:endParaRPr>
                </a:p>
              </p:txBody>
            </p:sp>
            <p:sp>
              <p:nvSpPr>
                <p:cNvPr id="70" name="橢圓 69">
                  <a:extLst>
                    <a:ext uri="{FF2B5EF4-FFF2-40B4-BE49-F238E27FC236}">
                      <a16:creationId xmlns:a16="http://schemas.microsoft.com/office/drawing/2014/main" id="{374DB31C-8C3B-8CA3-ECE6-E931750E06CE}"/>
                    </a:ext>
                  </a:extLst>
                </p:cNvPr>
                <p:cNvSpPr/>
                <p:nvPr/>
              </p:nvSpPr>
              <p:spPr>
                <a:xfrm>
                  <a:off x="6000271" y="2352306"/>
                  <a:ext cx="157943" cy="157943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TW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微軟正黑體"/>
                    <a:cs typeface="+mn-cs"/>
                  </a:endParaRPr>
                </a:p>
              </p:txBody>
            </p:sp>
            <p:sp>
              <p:nvSpPr>
                <p:cNvPr id="71" name="橢圓 70">
                  <a:extLst>
                    <a:ext uri="{FF2B5EF4-FFF2-40B4-BE49-F238E27FC236}">
                      <a16:creationId xmlns:a16="http://schemas.microsoft.com/office/drawing/2014/main" id="{520D9489-4AEE-1B24-1B95-3C1FFA36443B}"/>
                    </a:ext>
                  </a:extLst>
                </p:cNvPr>
                <p:cNvSpPr/>
                <p:nvPr/>
              </p:nvSpPr>
              <p:spPr>
                <a:xfrm>
                  <a:off x="6000271" y="2576093"/>
                  <a:ext cx="157943" cy="157943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TW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微軟正黑體"/>
                    <a:cs typeface="+mn-cs"/>
                  </a:endParaRPr>
                </a:p>
              </p:txBody>
            </p:sp>
            <p:sp>
              <p:nvSpPr>
                <p:cNvPr id="72" name="橢圓 71">
                  <a:extLst>
                    <a:ext uri="{FF2B5EF4-FFF2-40B4-BE49-F238E27FC236}">
                      <a16:creationId xmlns:a16="http://schemas.microsoft.com/office/drawing/2014/main" id="{81E2F4EA-9C1E-4EF7-46B7-D75F365D629F}"/>
                    </a:ext>
                  </a:extLst>
                </p:cNvPr>
                <p:cNvSpPr/>
                <p:nvPr/>
              </p:nvSpPr>
              <p:spPr>
                <a:xfrm>
                  <a:off x="6000271" y="2799880"/>
                  <a:ext cx="157943" cy="157943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TW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微軟正黑體"/>
                    <a:cs typeface="+mn-cs"/>
                  </a:endParaRPr>
                </a:p>
              </p:txBody>
            </p:sp>
            <p:sp>
              <p:nvSpPr>
                <p:cNvPr id="73" name="橢圓 72">
                  <a:extLst>
                    <a:ext uri="{FF2B5EF4-FFF2-40B4-BE49-F238E27FC236}">
                      <a16:creationId xmlns:a16="http://schemas.microsoft.com/office/drawing/2014/main" id="{185CD196-81F1-50C4-86F3-2D7D5197A029}"/>
                    </a:ext>
                  </a:extLst>
                </p:cNvPr>
                <p:cNvSpPr/>
                <p:nvPr/>
              </p:nvSpPr>
              <p:spPr>
                <a:xfrm>
                  <a:off x="6000271" y="3247454"/>
                  <a:ext cx="157943" cy="157943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TW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微軟正黑體"/>
                    <a:cs typeface="+mn-cs"/>
                  </a:endParaRPr>
                </a:p>
              </p:txBody>
            </p:sp>
            <p:sp>
              <p:nvSpPr>
                <p:cNvPr id="74" name="橢圓 73">
                  <a:extLst>
                    <a:ext uri="{FF2B5EF4-FFF2-40B4-BE49-F238E27FC236}">
                      <a16:creationId xmlns:a16="http://schemas.microsoft.com/office/drawing/2014/main" id="{2DD77047-D4C8-F5C8-1511-FC0640982AF4}"/>
                    </a:ext>
                  </a:extLst>
                </p:cNvPr>
                <p:cNvSpPr/>
                <p:nvPr/>
              </p:nvSpPr>
              <p:spPr>
                <a:xfrm>
                  <a:off x="6000271" y="3023667"/>
                  <a:ext cx="157943" cy="157943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TW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微軟正黑體"/>
                    <a:cs typeface="+mn-cs"/>
                  </a:endParaRPr>
                </a:p>
              </p:txBody>
            </p:sp>
          </p:grpSp>
        </p:grpSp>
        <p:grpSp>
          <p:nvGrpSpPr>
            <p:cNvPr id="12" name="群組 11">
              <a:extLst>
                <a:ext uri="{FF2B5EF4-FFF2-40B4-BE49-F238E27FC236}">
                  <a16:creationId xmlns:a16="http://schemas.microsoft.com/office/drawing/2014/main" id="{762C2D1E-81B1-5B28-0B76-34A26A9BB413}"/>
                </a:ext>
              </a:extLst>
            </p:cNvPr>
            <p:cNvGrpSpPr/>
            <p:nvPr/>
          </p:nvGrpSpPr>
          <p:grpSpPr>
            <a:xfrm>
              <a:off x="5444877" y="2355167"/>
              <a:ext cx="510701" cy="473910"/>
              <a:chOff x="8636401" y="2142446"/>
              <a:chExt cx="545802" cy="545802"/>
            </a:xfrm>
          </p:grpSpPr>
          <p:grpSp>
            <p:nvGrpSpPr>
              <p:cNvPr id="56" name="群組 55">
                <a:extLst>
                  <a:ext uri="{FF2B5EF4-FFF2-40B4-BE49-F238E27FC236}">
                    <a16:creationId xmlns:a16="http://schemas.microsoft.com/office/drawing/2014/main" id="{AFC2AE30-3D01-6B0B-E192-8C316BFC8D8F}"/>
                  </a:ext>
                </a:extLst>
              </p:cNvPr>
              <p:cNvGrpSpPr/>
              <p:nvPr/>
            </p:nvGrpSpPr>
            <p:grpSpPr>
              <a:xfrm>
                <a:off x="8636401" y="2142446"/>
                <a:ext cx="241002" cy="241002"/>
                <a:chOff x="5337500" y="3887618"/>
                <a:chExt cx="241002" cy="241002"/>
              </a:xfrm>
            </p:grpSpPr>
            <p:sp>
              <p:nvSpPr>
                <p:cNvPr id="63" name="矩形 62">
                  <a:extLst>
                    <a:ext uri="{FF2B5EF4-FFF2-40B4-BE49-F238E27FC236}">
                      <a16:creationId xmlns:a16="http://schemas.microsoft.com/office/drawing/2014/main" id="{CDF47EE8-40AA-AB22-CF8C-74DBEAF6AB22}"/>
                    </a:ext>
                  </a:extLst>
                </p:cNvPr>
                <p:cNvSpPr/>
                <p:nvPr/>
              </p:nvSpPr>
              <p:spPr>
                <a:xfrm>
                  <a:off x="5337500" y="3887618"/>
                  <a:ext cx="241002" cy="241002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TW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微軟正黑體"/>
                    <a:cs typeface="+mn-cs"/>
                  </a:endParaRPr>
                </a:p>
              </p:txBody>
            </p:sp>
            <p:sp>
              <p:nvSpPr>
                <p:cNvPr id="64" name="橢圓 63">
                  <a:extLst>
                    <a:ext uri="{FF2B5EF4-FFF2-40B4-BE49-F238E27FC236}">
                      <a16:creationId xmlns:a16="http://schemas.microsoft.com/office/drawing/2014/main" id="{2FC61E9B-7484-CD31-2F9D-5A41C6BF25CA}"/>
                    </a:ext>
                  </a:extLst>
                </p:cNvPr>
                <p:cNvSpPr/>
                <p:nvPr/>
              </p:nvSpPr>
              <p:spPr>
                <a:xfrm>
                  <a:off x="5377544" y="3929148"/>
                  <a:ext cx="157943" cy="157943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TW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微軟正黑體"/>
                    <a:cs typeface="+mn-cs"/>
                  </a:endParaRPr>
                </a:p>
              </p:txBody>
            </p:sp>
          </p:grpSp>
          <p:grpSp>
            <p:nvGrpSpPr>
              <p:cNvPr id="57" name="群組 56">
                <a:extLst>
                  <a:ext uri="{FF2B5EF4-FFF2-40B4-BE49-F238E27FC236}">
                    <a16:creationId xmlns:a16="http://schemas.microsoft.com/office/drawing/2014/main" id="{C289DF7B-E4C2-E958-5ACD-0A9963908E4C}"/>
                  </a:ext>
                </a:extLst>
              </p:cNvPr>
              <p:cNvGrpSpPr/>
              <p:nvPr/>
            </p:nvGrpSpPr>
            <p:grpSpPr>
              <a:xfrm>
                <a:off x="8788801" y="2294846"/>
                <a:ext cx="241002" cy="241002"/>
                <a:chOff x="5337500" y="3887618"/>
                <a:chExt cx="241002" cy="241002"/>
              </a:xfrm>
            </p:grpSpPr>
            <p:sp>
              <p:nvSpPr>
                <p:cNvPr id="61" name="矩形 60">
                  <a:extLst>
                    <a:ext uri="{FF2B5EF4-FFF2-40B4-BE49-F238E27FC236}">
                      <a16:creationId xmlns:a16="http://schemas.microsoft.com/office/drawing/2014/main" id="{3AF43C61-0DBB-E76C-18DA-69CEBF1AF248}"/>
                    </a:ext>
                  </a:extLst>
                </p:cNvPr>
                <p:cNvSpPr/>
                <p:nvPr/>
              </p:nvSpPr>
              <p:spPr>
                <a:xfrm>
                  <a:off x="5337500" y="3887618"/>
                  <a:ext cx="241002" cy="241002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TW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微軟正黑體"/>
                    <a:cs typeface="+mn-cs"/>
                  </a:endParaRPr>
                </a:p>
              </p:txBody>
            </p:sp>
            <p:sp>
              <p:nvSpPr>
                <p:cNvPr id="62" name="橢圓 61">
                  <a:extLst>
                    <a:ext uri="{FF2B5EF4-FFF2-40B4-BE49-F238E27FC236}">
                      <a16:creationId xmlns:a16="http://schemas.microsoft.com/office/drawing/2014/main" id="{601D92B1-D329-E681-ACD4-4DF5A47AC72A}"/>
                    </a:ext>
                  </a:extLst>
                </p:cNvPr>
                <p:cNvSpPr/>
                <p:nvPr/>
              </p:nvSpPr>
              <p:spPr>
                <a:xfrm>
                  <a:off x="5377544" y="3929148"/>
                  <a:ext cx="157943" cy="157943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TW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微軟正黑體"/>
                    <a:cs typeface="+mn-cs"/>
                  </a:endParaRPr>
                </a:p>
              </p:txBody>
            </p:sp>
          </p:grpSp>
          <p:grpSp>
            <p:nvGrpSpPr>
              <p:cNvPr id="58" name="群組 57">
                <a:extLst>
                  <a:ext uri="{FF2B5EF4-FFF2-40B4-BE49-F238E27FC236}">
                    <a16:creationId xmlns:a16="http://schemas.microsoft.com/office/drawing/2014/main" id="{A345A015-B17E-0D0C-C4CD-EE94472B58C7}"/>
                  </a:ext>
                </a:extLst>
              </p:cNvPr>
              <p:cNvGrpSpPr/>
              <p:nvPr/>
            </p:nvGrpSpPr>
            <p:grpSpPr>
              <a:xfrm>
                <a:off x="8941201" y="2447246"/>
                <a:ext cx="241002" cy="241002"/>
                <a:chOff x="5337500" y="3887618"/>
                <a:chExt cx="241002" cy="241002"/>
              </a:xfrm>
            </p:grpSpPr>
            <p:sp>
              <p:nvSpPr>
                <p:cNvPr id="59" name="矩形 58">
                  <a:extLst>
                    <a:ext uri="{FF2B5EF4-FFF2-40B4-BE49-F238E27FC236}">
                      <a16:creationId xmlns:a16="http://schemas.microsoft.com/office/drawing/2014/main" id="{67228080-F6CF-FA42-23C8-D28CE36FB994}"/>
                    </a:ext>
                  </a:extLst>
                </p:cNvPr>
                <p:cNvSpPr/>
                <p:nvPr/>
              </p:nvSpPr>
              <p:spPr>
                <a:xfrm>
                  <a:off x="5337500" y="3887618"/>
                  <a:ext cx="241002" cy="241002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TW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微軟正黑體"/>
                    <a:cs typeface="+mn-cs"/>
                  </a:endParaRPr>
                </a:p>
              </p:txBody>
            </p:sp>
            <p:sp>
              <p:nvSpPr>
                <p:cNvPr id="60" name="橢圓 59">
                  <a:extLst>
                    <a:ext uri="{FF2B5EF4-FFF2-40B4-BE49-F238E27FC236}">
                      <a16:creationId xmlns:a16="http://schemas.microsoft.com/office/drawing/2014/main" id="{76B62904-B629-B16D-0537-DE3A5F7A68E3}"/>
                    </a:ext>
                  </a:extLst>
                </p:cNvPr>
                <p:cNvSpPr/>
                <p:nvPr/>
              </p:nvSpPr>
              <p:spPr>
                <a:xfrm>
                  <a:off x="5377544" y="3929148"/>
                  <a:ext cx="157943" cy="157943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TW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微軟正黑體"/>
                    <a:cs typeface="+mn-cs"/>
                  </a:endParaRPr>
                </a:p>
              </p:txBody>
            </p:sp>
          </p:grpSp>
        </p:grpSp>
        <p:grpSp>
          <p:nvGrpSpPr>
            <p:cNvPr id="13" name="群組 12">
              <a:extLst>
                <a:ext uri="{FF2B5EF4-FFF2-40B4-BE49-F238E27FC236}">
                  <a16:creationId xmlns:a16="http://schemas.microsoft.com/office/drawing/2014/main" id="{A21EC7F8-649A-623A-0AC2-97981E0DBA9D}"/>
                </a:ext>
              </a:extLst>
            </p:cNvPr>
            <p:cNvGrpSpPr/>
            <p:nvPr/>
          </p:nvGrpSpPr>
          <p:grpSpPr>
            <a:xfrm>
              <a:off x="2253287" y="3901098"/>
              <a:ext cx="510701" cy="473910"/>
              <a:chOff x="8636401" y="2142446"/>
              <a:chExt cx="545802" cy="545802"/>
            </a:xfrm>
          </p:grpSpPr>
          <p:grpSp>
            <p:nvGrpSpPr>
              <p:cNvPr id="47" name="群組 46">
                <a:extLst>
                  <a:ext uri="{FF2B5EF4-FFF2-40B4-BE49-F238E27FC236}">
                    <a16:creationId xmlns:a16="http://schemas.microsoft.com/office/drawing/2014/main" id="{BABF3513-767F-DDEC-C33D-C3DD7C4A4C00}"/>
                  </a:ext>
                </a:extLst>
              </p:cNvPr>
              <p:cNvGrpSpPr/>
              <p:nvPr/>
            </p:nvGrpSpPr>
            <p:grpSpPr>
              <a:xfrm>
                <a:off x="8636401" y="2142446"/>
                <a:ext cx="241002" cy="241002"/>
                <a:chOff x="5337500" y="3887618"/>
                <a:chExt cx="241002" cy="241002"/>
              </a:xfrm>
            </p:grpSpPr>
            <p:sp>
              <p:nvSpPr>
                <p:cNvPr id="54" name="矩形 53">
                  <a:extLst>
                    <a:ext uri="{FF2B5EF4-FFF2-40B4-BE49-F238E27FC236}">
                      <a16:creationId xmlns:a16="http://schemas.microsoft.com/office/drawing/2014/main" id="{83B54861-A33E-3DAD-84FE-83145D33976E}"/>
                    </a:ext>
                  </a:extLst>
                </p:cNvPr>
                <p:cNvSpPr/>
                <p:nvPr/>
              </p:nvSpPr>
              <p:spPr>
                <a:xfrm>
                  <a:off x="5337500" y="3887618"/>
                  <a:ext cx="241002" cy="241002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TW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微軟正黑體"/>
                    <a:cs typeface="+mn-cs"/>
                  </a:endParaRPr>
                </a:p>
              </p:txBody>
            </p:sp>
            <p:sp>
              <p:nvSpPr>
                <p:cNvPr id="55" name="橢圓 54">
                  <a:extLst>
                    <a:ext uri="{FF2B5EF4-FFF2-40B4-BE49-F238E27FC236}">
                      <a16:creationId xmlns:a16="http://schemas.microsoft.com/office/drawing/2014/main" id="{95CAA1E2-5760-AC9B-5842-770337F35E7F}"/>
                    </a:ext>
                  </a:extLst>
                </p:cNvPr>
                <p:cNvSpPr/>
                <p:nvPr/>
              </p:nvSpPr>
              <p:spPr>
                <a:xfrm>
                  <a:off x="5377544" y="3929148"/>
                  <a:ext cx="157943" cy="157943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TW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微軟正黑體"/>
                    <a:cs typeface="+mn-cs"/>
                  </a:endParaRPr>
                </a:p>
              </p:txBody>
            </p:sp>
          </p:grpSp>
          <p:grpSp>
            <p:nvGrpSpPr>
              <p:cNvPr id="48" name="群組 47">
                <a:extLst>
                  <a:ext uri="{FF2B5EF4-FFF2-40B4-BE49-F238E27FC236}">
                    <a16:creationId xmlns:a16="http://schemas.microsoft.com/office/drawing/2014/main" id="{DE8A8F39-8CD2-7664-F349-3C93B3362468}"/>
                  </a:ext>
                </a:extLst>
              </p:cNvPr>
              <p:cNvGrpSpPr/>
              <p:nvPr/>
            </p:nvGrpSpPr>
            <p:grpSpPr>
              <a:xfrm>
                <a:off x="8788801" y="2294846"/>
                <a:ext cx="241002" cy="241002"/>
                <a:chOff x="5337500" y="3887618"/>
                <a:chExt cx="241002" cy="241002"/>
              </a:xfrm>
            </p:grpSpPr>
            <p:sp>
              <p:nvSpPr>
                <p:cNvPr id="52" name="矩形 51">
                  <a:extLst>
                    <a:ext uri="{FF2B5EF4-FFF2-40B4-BE49-F238E27FC236}">
                      <a16:creationId xmlns:a16="http://schemas.microsoft.com/office/drawing/2014/main" id="{7F2339B9-186E-90D3-B06F-A5E9EDC371BA}"/>
                    </a:ext>
                  </a:extLst>
                </p:cNvPr>
                <p:cNvSpPr/>
                <p:nvPr/>
              </p:nvSpPr>
              <p:spPr>
                <a:xfrm>
                  <a:off x="5337500" y="3887618"/>
                  <a:ext cx="241002" cy="241002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TW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微軟正黑體"/>
                    <a:cs typeface="+mn-cs"/>
                  </a:endParaRPr>
                </a:p>
              </p:txBody>
            </p:sp>
            <p:sp>
              <p:nvSpPr>
                <p:cNvPr id="53" name="橢圓 52">
                  <a:extLst>
                    <a:ext uri="{FF2B5EF4-FFF2-40B4-BE49-F238E27FC236}">
                      <a16:creationId xmlns:a16="http://schemas.microsoft.com/office/drawing/2014/main" id="{4C7EC2CD-A2DA-EE3A-FBBE-DCB8E9629138}"/>
                    </a:ext>
                  </a:extLst>
                </p:cNvPr>
                <p:cNvSpPr/>
                <p:nvPr/>
              </p:nvSpPr>
              <p:spPr>
                <a:xfrm>
                  <a:off x="5377544" y="3929148"/>
                  <a:ext cx="157943" cy="157943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TW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微軟正黑體"/>
                    <a:cs typeface="+mn-cs"/>
                  </a:endParaRPr>
                </a:p>
              </p:txBody>
            </p:sp>
          </p:grpSp>
          <p:grpSp>
            <p:nvGrpSpPr>
              <p:cNvPr id="49" name="群組 48">
                <a:extLst>
                  <a:ext uri="{FF2B5EF4-FFF2-40B4-BE49-F238E27FC236}">
                    <a16:creationId xmlns:a16="http://schemas.microsoft.com/office/drawing/2014/main" id="{3A248175-2523-4765-06C0-414B0BCA52BB}"/>
                  </a:ext>
                </a:extLst>
              </p:cNvPr>
              <p:cNvGrpSpPr/>
              <p:nvPr/>
            </p:nvGrpSpPr>
            <p:grpSpPr>
              <a:xfrm>
                <a:off x="8941201" y="2447246"/>
                <a:ext cx="241002" cy="241002"/>
                <a:chOff x="5337500" y="3887618"/>
                <a:chExt cx="241002" cy="241002"/>
              </a:xfrm>
            </p:grpSpPr>
            <p:sp>
              <p:nvSpPr>
                <p:cNvPr id="50" name="矩形 49">
                  <a:extLst>
                    <a:ext uri="{FF2B5EF4-FFF2-40B4-BE49-F238E27FC236}">
                      <a16:creationId xmlns:a16="http://schemas.microsoft.com/office/drawing/2014/main" id="{210CD485-2201-FF01-A320-DB414629BDE8}"/>
                    </a:ext>
                  </a:extLst>
                </p:cNvPr>
                <p:cNvSpPr/>
                <p:nvPr/>
              </p:nvSpPr>
              <p:spPr>
                <a:xfrm>
                  <a:off x="5337500" y="3887618"/>
                  <a:ext cx="241002" cy="241002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TW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微軟正黑體"/>
                    <a:cs typeface="+mn-cs"/>
                  </a:endParaRPr>
                </a:p>
              </p:txBody>
            </p:sp>
            <p:sp>
              <p:nvSpPr>
                <p:cNvPr id="51" name="橢圓 50">
                  <a:extLst>
                    <a:ext uri="{FF2B5EF4-FFF2-40B4-BE49-F238E27FC236}">
                      <a16:creationId xmlns:a16="http://schemas.microsoft.com/office/drawing/2014/main" id="{0480178C-9079-7B2B-078E-CF1C94052F13}"/>
                    </a:ext>
                  </a:extLst>
                </p:cNvPr>
                <p:cNvSpPr/>
                <p:nvPr/>
              </p:nvSpPr>
              <p:spPr>
                <a:xfrm>
                  <a:off x="5377544" y="3929148"/>
                  <a:ext cx="157943" cy="157943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TW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微軟正黑體"/>
                    <a:cs typeface="+mn-cs"/>
                  </a:endParaRPr>
                </a:p>
              </p:txBody>
            </p:sp>
          </p:grpSp>
        </p:grpSp>
        <p:grpSp>
          <p:nvGrpSpPr>
            <p:cNvPr id="14" name="群組 13">
              <a:extLst>
                <a:ext uri="{FF2B5EF4-FFF2-40B4-BE49-F238E27FC236}">
                  <a16:creationId xmlns:a16="http://schemas.microsoft.com/office/drawing/2014/main" id="{24F4727F-CF0A-6339-0AAF-C761F03C3020}"/>
                </a:ext>
              </a:extLst>
            </p:cNvPr>
            <p:cNvGrpSpPr/>
            <p:nvPr/>
          </p:nvGrpSpPr>
          <p:grpSpPr>
            <a:xfrm>
              <a:off x="2252150" y="5177549"/>
              <a:ext cx="1073380" cy="1154845"/>
              <a:chOff x="2344190" y="1438101"/>
              <a:chExt cx="1147154" cy="1330036"/>
            </a:xfrm>
          </p:grpSpPr>
          <p:sp>
            <p:nvSpPr>
              <p:cNvPr id="43" name="矩形 42">
                <a:extLst>
                  <a:ext uri="{FF2B5EF4-FFF2-40B4-BE49-F238E27FC236}">
                    <a16:creationId xmlns:a16="http://schemas.microsoft.com/office/drawing/2014/main" id="{D109031A-A57E-BF49-3B28-9892964CA2F5}"/>
                  </a:ext>
                </a:extLst>
              </p:cNvPr>
              <p:cNvSpPr/>
              <p:nvPr/>
            </p:nvSpPr>
            <p:spPr>
              <a:xfrm>
                <a:off x="2344190" y="1438101"/>
                <a:ext cx="207815" cy="1330036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44" name="矩形 43">
                <a:extLst>
                  <a:ext uri="{FF2B5EF4-FFF2-40B4-BE49-F238E27FC236}">
                    <a16:creationId xmlns:a16="http://schemas.microsoft.com/office/drawing/2014/main" id="{23ED2BF9-25C8-A52E-43DC-5271DB8DE181}"/>
                  </a:ext>
                </a:extLst>
              </p:cNvPr>
              <p:cNvSpPr/>
              <p:nvPr/>
            </p:nvSpPr>
            <p:spPr>
              <a:xfrm>
                <a:off x="2657303" y="1438101"/>
                <a:ext cx="207815" cy="1330036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45" name="矩形 44">
                <a:extLst>
                  <a:ext uri="{FF2B5EF4-FFF2-40B4-BE49-F238E27FC236}">
                    <a16:creationId xmlns:a16="http://schemas.microsoft.com/office/drawing/2014/main" id="{9EDCA83F-7D8A-1CAC-6CDA-825B143312C0}"/>
                  </a:ext>
                </a:extLst>
              </p:cNvPr>
              <p:cNvSpPr/>
              <p:nvPr/>
            </p:nvSpPr>
            <p:spPr>
              <a:xfrm>
                <a:off x="2970416" y="1438101"/>
                <a:ext cx="207815" cy="1330036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46" name="矩形 45">
                <a:extLst>
                  <a:ext uri="{FF2B5EF4-FFF2-40B4-BE49-F238E27FC236}">
                    <a16:creationId xmlns:a16="http://schemas.microsoft.com/office/drawing/2014/main" id="{97B4D71B-00BC-207E-182C-0F6B61344BA0}"/>
                  </a:ext>
                </a:extLst>
              </p:cNvPr>
              <p:cNvSpPr/>
              <p:nvPr/>
            </p:nvSpPr>
            <p:spPr>
              <a:xfrm>
                <a:off x="3283529" y="1438101"/>
                <a:ext cx="207815" cy="1330036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</p:grpSp>
        <p:sp>
          <p:nvSpPr>
            <p:cNvPr id="15" name="左大括弧 14">
              <a:extLst>
                <a:ext uri="{FF2B5EF4-FFF2-40B4-BE49-F238E27FC236}">
                  <a16:creationId xmlns:a16="http://schemas.microsoft.com/office/drawing/2014/main" id="{A7E40E2D-F061-3A33-E3D1-783C713F5F0F}"/>
                </a:ext>
              </a:extLst>
            </p:cNvPr>
            <p:cNvSpPr/>
            <p:nvPr/>
          </p:nvSpPr>
          <p:spPr>
            <a:xfrm>
              <a:off x="2969800" y="3630579"/>
              <a:ext cx="258461" cy="1287171"/>
            </a:xfrm>
            <a:prstGeom prst="leftBrac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軟正黑體"/>
                <a:cs typeface="+mn-cs"/>
              </a:endParaRPr>
            </a:p>
          </p:txBody>
        </p:sp>
        <p:sp>
          <p:nvSpPr>
            <p:cNvPr id="16" name="左大括弧 15">
              <a:extLst>
                <a:ext uri="{FF2B5EF4-FFF2-40B4-BE49-F238E27FC236}">
                  <a16:creationId xmlns:a16="http://schemas.microsoft.com/office/drawing/2014/main" id="{1213833F-FF62-BF64-BE8E-33B9968E0D09}"/>
                </a:ext>
              </a:extLst>
            </p:cNvPr>
            <p:cNvSpPr/>
            <p:nvPr/>
          </p:nvSpPr>
          <p:spPr>
            <a:xfrm flipH="1">
              <a:off x="4906042" y="1950728"/>
              <a:ext cx="258461" cy="1287171"/>
            </a:xfrm>
            <a:prstGeom prst="leftBrac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軟正黑體"/>
                <a:cs typeface="+mn-cs"/>
              </a:endParaRPr>
            </a:p>
          </p:txBody>
        </p:sp>
        <p:cxnSp>
          <p:nvCxnSpPr>
            <p:cNvPr id="17" name="直線單箭頭接點 16">
              <a:extLst>
                <a:ext uri="{FF2B5EF4-FFF2-40B4-BE49-F238E27FC236}">
                  <a16:creationId xmlns:a16="http://schemas.microsoft.com/office/drawing/2014/main" id="{75DF002E-6491-B9D0-D4B4-15A0A20EE652}"/>
                </a:ext>
              </a:extLst>
            </p:cNvPr>
            <p:cNvCxnSpPr>
              <a:cxnSpLocks/>
            </p:cNvCxnSpPr>
            <p:nvPr/>
          </p:nvCxnSpPr>
          <p:spPr>
            <a:xfrm>
              <a:off x="1749538" y="2528845"/>
              <a:ext cx="360000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線單箭頭接點 26">
              <a:extLst>
                <a:ext uri="{FF2B5EF4-FFF2-40B4-BE49-F238E27FC236}">
                  <a16:creationId xmlns:a16="http://schemas.microsoft.com/office/drawing/2014/main" id="{7A7A5EFE-B083-7F9E-5E31-FD16DF6FCAC5}"/>
                </a:ext>
              </a:extLst>
            </p:cNvPr>
            <p:cNvCxnSpPr>
              <a:cxnSpLocks/>
            </p:cNvCxnSpPr>
            <p:nvPr/>
          </p:nvCxnSpPr>
          <p:spPr>
            <a:xfrm>
              <a:off x="3452568" y="2497581"/>
              <a:ext cx="360000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線單箭頭接點 27">
              <a:extLst>
                <a:ext uri="{FF2B5EF4-FFF2-40B4-BE49-F238E27FC236}">
                  <a16:creationId xmlns:a16="http://schemas.microsoft.com/office/drawing/2014/main" id="{03912168-1936-2496-6863-A0D3F8B9EA35}"/>
                </a:ext>
              </a:extLst>
            </p:cNvPr>
            <p:cNvCxnSpPr/>
            <p:nvPr/>
          </p:nvCxnSpPr>
          <p:spPr>
            <a:xfrm flipH="1">
              <a:off x="6370677" y="4240018"/>
              <a:ext cx="360000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線單箭頭接點 28">
              <a:extLst>
                <a:ext uri="{FF2B5EF4-FFF2-40B4-BE49-F238E27FC236}">
                  <a16:creationId xmlns:a16="http://schemas.microsoft.com/office/drawing/2014/main" id="{FAF94AF6-13A0-DB40-C537-1EE4420D560D}"/>
                </a:ext>
              </a:extLst>
            </p:cNvPr>
            <p:cNvCxnSpPr/>
            <p:nvPr/>
          </p:nvCxnSpPr>
          <p:spPr>
            <a:xfrm flipH="1">
              <a:off x="4614653" y="4182290"/>
              <a:ext cx="360000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線單箭頭接點 29">
              <a:extLst>
                <a:ext uri="{FF2B5EF4-FFF2-40B4-BE49-F238E27FC236}">
                  <a16:creationId xmlns:a16="http://schemas.microsoft.com/office/drawing/2014/main" id="{BBD8733B-575F-AFD0-D9E4-12CA138F2990}"/>
                </a:ext>
              </a:extLst>
            </p:cNvPr>
            <p:cNvCxnSpPr>
              <a:cxnSpLocks/>
            </p:cNvCxnSpPr>
            <p:nvPr/>
          </p:nvCxnSpPr>
          <p:spPr>
            <a:xfrm>
              <a:off x="1749538" y="5833958"/>
              <a:ext cx="360000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線單箭頭接點 30">
              <a:extLst>
                <a:ext uri="{FF2B5EF4-FFF2-40B4-BE49-F238E27FC236}">
                  <a16:creationId xmlns:a16="http://schemas.microsoft.com/office/drawing/2014/main" id="{39113C22-D677-1C2D-0449-6AD3E9314B99}"/>
                </a:ext>
              </a:extLst>
            </p:cNvPr>
            <p:cNvCxnSpPr>
              <a:cxnSpLocks/>
            </p:cNvCxnSpPr>
            <p:nvPr/>
          </p:nvCxnSpPr>
          <p:spPr>
            <a:xfrm>
              <a:off x="3452568" y="5805430"/>
              <a:ext cx="360000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文字方塊 31">
              <a:extLst>
                <a:ext uri="{FF2B5EF4-FFF2-40B4-BE49-F238E27FC236}">
                  <a16:creationId xmlns:a16="http://schemas.microsoft.com/office/drawing/2014/main" id="{A65C2451-1128-2E84-A3CB-0964F5CE5437}"/>
                </a:ext>
              </a:extLst>
            </p:cNvPr>
            <p:cNvSpPr txBox="1"/>
            <p:nvPr/>
          </p:nvSpPr>
          <p:spPr>
            <a:xfrm>
              <a:off x="3869711" y="5673616"/>
              <a:ext cx="2596178" cy="32068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rPr>
                <a:t>Continue until PASS occurs</a:t>
              </a:r>
              <a:endParaRPr kumimoji="0" lang="zh-TW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軟正黑體"/>
                <a:cs typeface="+mn-cs"/>
              </a:endParaRPr>
            </a:p>
          </p:txBody>
        </p:sp>
        <p:sp>
          <p:nvSpPr>
            <p:cNvPr id="33" name="文字方塊 32">
              <a:extLst>
                <a:ext uri="{FF2B5EF4-FFF2-40B4-BE49-F238E27FC236}">
                  <a16:creationId xmlns:a16="http://schemas.microsoft.com/office/drawing/2014/main" id="{E919244E-DB1C-F165-47C9-A946AF0F32D5}"/>
                </a:ext>
              </a:extLst>
            </p:cNvPr>
            <p:cNvSpPr txBox="1"/>
            <p:nvPr/>
          </p:nvSpPr>
          <p:spPr>
            <a:xfrm>
              <a:off x="2252150" y="3089542"/>
              <a:ext cx="1215398" cy="3110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rPr>
                <a:t>DNN layer 1</a:t>
              </a:r>
              <a:endParaRPr kumimoji="0" lang="zh-TW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軟正黑體"/>
                <a:cs typeface="+mn-cs"/>
              </a:endParaRPr>
            </a:p>
          </p:txBody>
        </p:sp>
        <p:sp>
          <p:nvSpPr>
            <p:cNvPr id="34" name="文字方塊 33">
              <a:extLst>
                <a:ext uri="{FF2B5EF4-FFF2-40B4-BE49-F238E27FC236}">
                  <a16:creationId xmlns:a16="http://schemas.microsoft.com/office/drawing/2014/main" id="{5889C360-03F6-FC0E-3F07-4AE50C8293C8}"/>
                </a:ext>
              </a:extLst>
            </p:cNvPr>
            <p:cNvSpPr txBox="1"/>
            <p:nvPr/>
          </p:nvSpPr>
          <p:spPr>
            <a:xfrm>
              <a:off x="5142697" y="4820834"/>
              <a:ext cx="1215398" cy="32068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rPr>
                <a:t>DNN layer 2</a:t>
              </a:r>
              <a:endParaRPr kumimoji="0" lang="zh-TW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軟正黑體"/>
                <a:cs typeface="+mn-cs"/>
              </a:endParaRPr>
            </a:p>
          </p:txBody>
        </p:sp>
        <p:sp>
          <p:nvSpPr>
            <p:cNvPr id="35" name="文字方塊 34">
              <a:extLst>
                <a:ext uri="{FF2B5EF4-FFF2-40B4-BE49-F238E27FC236}">
                  <a16:creationId xmlns:a16="http://schemas.microsoft.com/office/drawing/2014/main" id="{5D90E3D5-3CD3-8F01-4E99-45C6A1CB38BA}"/>
                </a:ext>
              </a:extLst>
            </p:cNvPr>
            <p:cNvSpPr txBox="1"/>
            <p:nvPr/>
          </p:nvSpPr>
          <p:spPr>
            <a:xfrm>
              <a:off x="2193915" y="6334899"/>
              <a:ext cx="1215398" cy="3110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rPr>
                <a:t>DNN layer 3</a:t>
              </a:r>
              <a:endParaRPr kumimoji="0" lang="zh-TW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軟正黑體"/>
                <a:cs typeface="+mn-cs"/>
              </a:endParaRPr>
            </a:p>
          </p:txBody>
        </p:sp>
        <p:sp>
          <p:nvSpPr>
            <p:cNvPr id="36" name="文字方塊 35">
              <a:extLst>
                <a:ext uri="{FF2B5EF4-FFF2-40B4-BE49-F238E27FC236}">
                  <a16:creationId xmlns:a16="http://schemas.microsoft.com/office/drawing/2014/main" id="{6F975997-F77C-5F18-3433-6FEE64916DCE}"/>
                </a:ext>
              </a:extLst>
            </p:cNvPr>
            <p:cNvSpPr txBox="1"/>
            <p:nvPr/>
          </p:nvSpPr>
          <p:spPr>
            <a:xfrm>
              <a:off x="3753427" y="3204989"/>
              <a:ext cx="1505008" cy="32068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rPr>
                <a:t>Output  layer </a:t>
              </a:r>
              <a:endParaRPr kumimoji="0" lang="zh-TW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軟正黑體"/>
                <a:cs typeface="+mn-cs"/>
              </a:endParaRPr>
            </a:p>
          </p:txBody>
        </p:sp>
        <p:sp>
          <p:nvSpPr>
            <p:cNvPr id="37" name="文字方塊 36">
              <a:extLst>
                <a:ext uri="{FF2B5EF4-FFF2-40B4-BE49-F238E27FC236}">
                  <a16:creationId xmlns:a16="http://schemas.microsoft.com/office/drawing/2014/main" id="{2C8CC30A-80F8-E9EB-1800-B83805AA7D04}"/>
                </a:ext>
              </a:extLst>
            </p:cNvPr>
            <p:cNvSpPr txBox="1"/>
            <p:nvPr/>
          </p:nvSpPr>
          <p:spPr>
            <a:xfrm>
              <a:off x="3493862" y="4958832"/>
              <a:ext cx="1505008" cy="32068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rPr>
                <a:t>Output  layer </a:t>
              </a:r>
              <a:endParaRPr kumimoji="0" lang="zh-TW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軟正黑體"/>
                <a:cs typeface="+mn-cs"/>
              </a:endParaRPr>
            </a:p>
          </p:txBody>
        </p:sp>
        <p:sp>
          <p:nvSpPr>
            <p:cNvPr id="38" name="文字方塊 37">
              <a:extLst>
                <a:ext uri="{FF2B5EF4-FFF2-40B4-BE49-F238E27FC236}">
                  <a16:creationId xmlns:a16="http://schemas.microsoft.com/office/drawing/2014/main" id="{D46666C2-743B-9A75-8B6C-382BBADD857C}"/>
                </a:ext>
              </a:extLst>
            </p:cNvPr>
            <p:cNvSpPr txBox="1"/>
            <p:nvPr/>
          </p:nvSpPr>
          <p:spPr>
            <a:xfrm>
              <a:off x="4743818" y="1664550"/>
              <a:ext cx="54503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rPr>
                <a:t>min</a:t>
              </a:r>
              <a:endParaRPr kumimoji="0" lang="zh-TW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軟正黑體"/>
                <a:cs typeface="+mn-cs"/>
              </a:endParaRPr>
            </a:p>
          </p:txBody>
        </p:sp>
        <p:sp>
          <p:nvSpPr>
            <p:cNvPr id="39" name="文字方塊 38">
              <a:extLst>
                <a:ext uri="{FF2B5EF4-FFF2-40B4-BE49-F238E27FC236}">
                  <a16:creationId xmlns:a16="http://schemas.microsoft.com/office/drawing/2014/main" id="{5522F1F1-CD61-9D83-38A1-98EC44123804}"/>
                </a:ext>
              </a:extLst>
            </p:cNvPr>
            <p:cNvSpPr txBox="1"/>
            <p:nvPr/>
          </p:nvSpPr>
          <p:spPr>
            <a:xfrm>
              <a:off x="5403383" y="2838313"/>
              <a:ext cx="598496" cy="32068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rPr>
                <a:t>Bid1</a:t>
              </a:r>
              <a:endParaRPr kumimoji="0" lang="zh-TW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軟正黑體"/>
                <a:cs typeface="+mn-cs"/>
              </a:endParaRPr>
            </a:p>
          </p:txBody>
        </p:sp>
        <p:sp>
          <p:nvSpPr>
            <p:cNvPr id="40" name="文字方塊 39">
              <a:extLst>
                <a:ext uri="{FF2B5EF4-FFF2-40B4-BE49-F238E27FC236}">
                  <a16:creationId xmlns:a16="http://schemas.microsoft.com/office/drawing/2014/main" id="{886198F5-736A-5C9F-A99B-DF7CAA97E711}"/>
                </a:ext>
              </a:extLst>
            </p:cNvPr>
            <p:cNvSpPr txBox="1"/>
            <p:nvPr/>
          </p:nvSpPr>
          <p:spPr>
            <a:xfrm>
              <a:off x="2221502" y="4411897"/>
              <a:ext cx="571490" cy="3110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rPr>
                <a:t>Bid2</a:t>
              </a:r>
              <a:endParaRPr kumimoji="0" lang="zh-TW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軟正黑體"/>
                <a:cs typeface="+mn-cs"/>
              </a:endParaRPr>
            </a:p>
          </p:txBody>
        </p:sp>
        <p:cxnSp>
          <p:nvCxnSpPr>
            <p:cNvPr id="41" name="直線單箭頭接點 40">
              <a:extLst>
                <a:ext uri="{FF2B5EF4-FFF2-40B4-BE49-F238E27FC236}">
                  <a16:creationId xmlns:a16="http://schemas.microsoft.com/office/drawing/2014/main" id="{41416E8A-B7AD-4AE4-4A9C-10A761CCB639}"/>
                </a:ext>
              </a:extLst>
            </p:cNvPr>
            <p:cNvCxnSpPr/>
            <p:nvPr/>
          </p:nvCxnSpPr>
          <p:spPr>
            <a:xfrm>
              <a:off x="5698837" y="3287174"/>
              <a:ext cx="0" cy="274424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直線單箭頭接點 41">
              <a:extLst>
                <a:ext uri="{FF2B5EF4-FFF2-40B4-BE49-F238E27FC236}">
                  <a16:creationId xmlns:a16="http://schemas.microsoft.com/office/drawing/2014/main" id="{3923F5C5-6667-D507-84D7-8939178AAA07}"/>
                </a:ext>
              </a:extLst>
            </p:cNvPr>
            <p:cNvCxnSpPr/>
            <p:nvPr/>
          </p:nvCxnSpPr>
          <p:spPr>
            <a:xfrm>
              <a:off x="2507246" y="4842587"/>
              <a:ext cx="0" cy="274424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9" name="圖形 18">
            <a:extLst>
              <a:ext uri="{FF2B5EF4-FFF2-40B4-BE49-F238E27FC236}">
                <a16:creationId xmlns:a16="http://schemas.microsoft.com/office/drawing/2014/main" id="{525D5781-519D-2187-7DB2-2E2D38B3CD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7881479" y="2715664"/>
            <a:ext cx="4199933" cy="2724835"/>
          </a:xfrm>
          <a:prstGeom prst="rect">
            <a:avLst/>
          </a:prstGeom>
        </p:spPr>
      </p:pic>
      <p:sp>
        <p:nvSpPr>
          <p:cNvPr id="3" name="文字方塊 2">
            <a:extLst>
              <a:ext uri="{FF2B5EF4-FFF2-40B4-BE49-F238E27FC236}">
                <a16:creationId xmlns:a16="http://schemas.microsoft.com/office/drawing/2014/main" id="{ACE39D3E-3AA6-2455-B010-195F44ED8AC2}"/>
              </a:ext>
            </a:extLst>
          </p:cNvPr>
          <p:cNvSpPr txBox="1"/>
          <p:nvPr/>
        </p:nvSpPr>
        <p:spPr>
          <a:xfrm>
            <a:off x="-5358" y="6625086"/>
            <a:ext cx="929934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altLang="zh-TW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軟正黑體"/>
                <a:cs typeface="Times New Roman" panose="02020603050405020304" pitchFamily="18" charset="0"/>
              </a:rPr>
              <a:t>Reference: Chih-Kuan Yeh, Cheng-Yu Hsieh , and Hsuan-Tien Lin , “Automatic Bridge Bidding Using Deep Reinforcement Learning “,</a:t>
            </a:r>
            <a:r>
              <a:rPr kumimoji="0" lang="en" altLang="zh-TW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軟正黑體"/>
                <a:cs typeface="+mn-cs"/>
              </a:rPr>
              <a:t> </a:t>
            </a:r>
            <a:r>
              <a:rPr kumimoji="0" lang="en" altLang="zh-TW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軟正黑體"/>
                <a:cs typeface="Times New Roman" panose="02020603050405020304" pitchFamily="18" charset="0"/>
              </a:rPr>
              <a:t>IEEE </a:t>
            </a:r>
            <a:r>
              <a:rPr kumimoji="0" lang="en-US" altLang="zh-TW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軟正黑體"/>
                <a:cs typeface="Times New Roman" panose="02020603050405020304" pitchFamily="18" charset="0"/>
              </a:rPr>
              <a:t>transactions on games, vol. 10, no. 4, December 2018</a:t>
            </a:r>
          </a:p>
        </p:txBody>
      </p:sp>
    </p:spTree>
    <p:extLst>
      <p:ext uri="{BB962C8B-B14F-4D97-AF65-F5344CB8AC3E}">
        <p14:creationId xmlns:p14="http://schemas.microsoft.com/office/powerpoint/2010/main" val="37169718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E6EF26B-52DC-E138-5912-AA443731A7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1087100" cy="1325563"/>
          </a:xfrm>
        </p:spPr>
        <p:txBody>
          <a:bodyPr/>
          <a:lstStyle/>
          <a:p>
            <a:pPr>
              <a:spcBef>
                <a:spcPts val="1000"/>
              </a:spcBef>
            </a:pPr>
            <a:r>
              <a:rPr lang="en-US" altLang="zh-TW" b="1" dirty="0">
                <a:latin typeface="Times New Roman" pitchFamily="18" charset="0"/>
                <a:cs typeface="Times New Roman" pitchFamily="18" charset="0"/>
              </a:rPr>
              <a:t>Baseline 19</a:t>
            </a:r>
            <a:endParaRPr lang="en-US" altLang="zh-TW" sz="4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4E602E1-818A-1FB0-7CAB-8A86CB2C65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1C13289-1A93-4CFE-9211-B525CF4EEED4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微軟正黑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微軟正黑體"/>
              <a:cs typeface="+mn-cs"/>
            </a:endParaRP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5E727D4C-25D0-BC4D-A98A-DA627E5B66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9588" y="4072706"/>
            <a:ext cx="6175169" cy="2721794"/>
          </a:xfrm>
          <a:prstGeom prst="rect">
            <a:avLst/>
          </a:prstGeom>
        </p:spPr>
      </p:pic>
      <p:pic>
        <p:nvPicPr>
          <p:cNvPr id="18" name="圖片 17">
            <a:extLst>
              <a:ext uri="{FF2B5EF4-FFF2-40B4-BE49-F238E27FC236}">
                <a16:creationId xmlns:a16="http://schemas.microsoft.com/office/drawing/2014/main" id="{0A245C00-7A5B-C241-B62E-D8D18E65F7F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08" y="4081441"/>
            <a:ext cx="5885580" cy="2631642"/>
          </a:xfrm>
          <a:prstGeom prst="rect">
            <a:avLst/>
          </a:prstGeom>
        </p:spPr>
      </p:pic>
      <p:sp>
        <p:nvSpPr>
          <p:cNvPr id="19" name="文字方塊 177">
            <a:extLst>
              <a:ext uri="{FF2B5EF4-FFF2-40B4-BE49-F238E27FC236}">
                <a16:creationId xmlns:a16="http://schemas.microsoft.com/office/drawing/2014/main" id="{85E83ADD-E272-1A46-99AB-13E4510A3FD1}"/>
              </a:ext>
            </a:extLst>
          </p:cNvPr>
          <p:cNvSpPr txBox="1"/>
          <p:nvPr/>
        </p:nvSpPr>
        <p:spPr>
          <a:xfrm>
            <a:off x="-5358" y="3707676"/>
            <a:ext cx="58855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軟正黑體"/>
                <a:cs typeface="+mn-cs"/>
              </a:rPr>
              <a:t>Estimation Neural Network (ENN)</a:t>
            </a: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微軟正黑體"/>
              <a:cs typeface="+mn-cs"/>
            </a:endParaRPr>
          </a:p>
        </p:txBody>
      </p:sp>
      <p:sp>
        <p:nvSpPr>
          <p:cNvPr id="20" name="文字方塊 178">
            <a:extLst>
              <a:ext uri="{FF2B5EF4-FFF2-40B4-BE49-F238E27FC236}">
                <a16:creationId xmlns:a16="http://schemas.microsoft.com/office/drawing/2014/main" id="{B67AF2F7-5288-9341-80DE-5A8F232FD874}"/>
              </a:ext>
            </a:extLst>
          </p:cNvPr>
          <p:cNvSpPr txBox="1"/>
          <p:nvPr/>
        </p:nvSpPr>
        <p:spPr>
          <a:xfrm>
            <a:off x="6096000" y="3705191"/>
            <a:ext cx="5829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軟正黑體"/>
                <a:cs typeface="+mn-cs"/>
              </a:rPr>
              <a:t>Policy Neural Network (PNN)</a:t>
            </a: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微軟正黑體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文字方塊 21">
                <a:extLst>
                  <a:ext uri="{FF2B5EF4-FFF2-40B4-BE49-F238E27FC236}">
                    <a16:creationId xmlns:a16="http://schemas.microsoft.com/office/drawing/2014/main" id="{7F3A971D-08E3-2223-F203-F33B4588A1D8}"/>
                  </a:ext>
                </a:extLst>
              </p:cNvPr>
              <p:cNvSpPr txBox="1"/>
              <p:nvPr/>
            </p:nvSpPr>
            <p:spPr>
              <a:xfrm>
                <a:off x="838200" y="1857931"/>
                <a:ext cx="8406395" cy="46583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zh-TW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kumimoji="0" lang="en-US" altLang="zh-TW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𝜙</m:t>
                        </m:r>
                      </m:e>
                      <m:sub>
                        <m:r>
                          <a:rPr kumimoji="0" lang="en-US" altLang="zh-TW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𝜔</m:t>
                        </m:r>
                      </m:sub>
                    </m:sSub>
                    <m:r>
                      <a:rPr kumimoji="0" lang="en-US" altLang="zh-TW" sz="24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:</m:t>
                    </m:r>
                    <m:r>
                      <a:rPr kumimoji="0" lang="en-US" altLang="zh-TW" sz="24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𝐶</m:t>
                    </m:r>
                    <m:r>
                      <a:rPr kumimoji="0" lang="en-US" altLang="zh-TW" sz="24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  <m:r>
                      <a:rPr kumimoji="0" lang="en-US" altLang="zh-TW" sz="24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𝑉</m:t>
                    </m:r>
                    <m:r>
                      <a:rPr kumimoji="0" lang="en-US" altLang="zh-TW" sz="24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  <m:r>
                      <a:rPr kumimoji="0" lang="en-US" altLang="zh-TW" sz="24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𝐻</m:t>
                    </m:r>
                    <m:r>
                      <a:rPr kumimoji="0" lang="en-US" altLang="zh-TW" sz="24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→</m:t>
                    </m:r>
                    <m:sSup>
                      <m:sSupPr>
                        <m:ctrlPr>
                          <a:rPr kumimoji="0" lang="en-US" altLang="zh-TW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kumimoji="0" lang="en-US" altLang="zh-TW" sz="2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kumimoji="0" lang="en-US" altLang="zh-TW" sz="2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0,1</m:t>
                            </m:r>
                          </m:e>
                        </m:d>
                      </m:e>
                      <m:sup>
                        <m:r>
                          <a:rPr kumimoji="0" lang="en-US" altLang="zh-TW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52</m:t>
                        </m:r>
                      </m:sup>
                    </m:sSup>
                  </m:oMath>
                </a14:m>
                <a:r>
                  <a:rPr kumimoji="0" lang="en-US" altLang="zh-TW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微軟正黑體"/>
                    <a:cs typeface="Times New Roman" panose="02020603050405020304" pitchFamily="18" charset="0"/>
                  </a:rPr>
                  <a:t> 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zh-TW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0" lang="zh-TW" altLang="en-US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𝜎</m:t>
                        </m:r>
                      </m:e>
                      <m:sub>
                        <m:r>
                          <a:rPr kumimoji="0" lang="en-US" altLang="zh-TW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𝜃</m:t>
                        </m:r>
                      </m:sub>
                    </m:sSub>
                    <m:r>
                      <a:rPr kumimoji="0" lang="en-US" altLang="zh-TW" sz="24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:</m:t>
                    </m:r>
                    <m:r>
                      <a:rPr kumimoji="0" lang="en-US" altLang="zh-TW" sz="24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𝐶</m:t>
                    </m:r>
                    <m:r>
                      <a:rPr kumimoji="0" lang="en-US" altLang="zh-TW" sz="24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×</m:t>
                    </m:r>
                    <m:r>
                      <a:rPr kumimoji="0" lang="en-US" altLang="zh-TW" sz="24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𝑉</m:t>
                    </m:r>
                    <m:r>
                      <a:rPr kumimoji="0" lang="en-US" altLang="zh-TW" sz="24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×</m:t>
                    </m:r>
                    <m:r>
                      <a:rPr kumimoji="0" lang="en-US" altLang="zh-TW" sz="24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𝐻</m:t>
                    </m:r>
                    <m:r>
                      <a:rPr kumimoji="0" lang="en-US" altLang="zh-TW" sz="24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×</m:t>
                    </m:r>
                    <m:sSup>
                      <m:sSupPr>
                        <m:ctrlPr>
                          <a:rPr kumimoji="0" lang="en-US" altLang="zh-TW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kumimoji="0" lang="en-US" altLang="zh-TW" sz="2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dPr>
                          <m:e>
                            <m:r>
                              <a:rPr kumimoji="0" lang="en-US" altLang="zh-TW" sz="2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0, 1</m:t>
                            </m:r>
                          </m:e>
                        </m:d>
                      </m:e>
                      <m:sup>
                        <m:r>
                          <a:rPr kumimoji="0" lang="en-US" altLang="zh-TW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52</m:t>
                        </m:r>
                      </m:sup>
                    </m:sSup>
                    <m:r>
                      <a:rPr kumimoji="0" lang="en-US" altLang="zh-TW" sz="24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→</m:t>
                    </m:r>
                    <m:sSup>
                      <m:sSupPr>
                        <m:ctrlPr>
                          <a:rPr kumimoji="0" lang="en-US" altLang="zh-TW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kumimoji="0" lang="en-US" altLang="zh-TW" sz="2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dPr>
                          <m:e>
                            <m:r>
                              <a:rPr kumimoji="0" lang="en-US" altLang="zh-TW" sz="2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0,1</m:t>
                            </m:r>
                          </m:e>
                        </m:d>
                      </m:e>
                      <m:sup>
                        <m:r>
                          <a:rPr kumimoji="0" lang="en-US" altLang="zh-TW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38</m:t>
                        </m:r>
                      </m:sup>
                    </m:sSup>
                  </m:oMath>
                </a14:m>
                <a:endParaRPr kumimoji="0" lang="zh-TW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</mc:Choice>
        <mc:Fallback xmlns="">
          <p:sp>
            <p:nvSpPr>
              <p:cNvPr id="22" name="文字方塊 21">
                <a:extLst>
                  <a:ext uri="{FF2B5EF4-FFF2-40B4-BE49-F238E27FC236}">
                    <a16:creationId xmlns:a16="http://schemas.microsoft.com/office/drawing/2014/main" id="{7F3A971D-08E3-2223-F203-F33B4588A1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857931"/>
                <a:ext cx="8406395" cy="465833"/>
              </a:xfrm>
              <a:prstGeom prst="rect">
                <a:avLst/>
              </a:prstGeom>
              <a:blipFill>
                <a:blip r:embed="rId4"/>
                <a:stretch>
                  <a:fillRect l="-580" t="-10526" b="-2894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5" name="表格 25">
            <a:extLst>
              <a:ext uri="{FF2B5EF4-FFF2-40B4-BE49-F238E27FC236}">
                <a16:creationId xmlns:a16="http://schemas.microsoft.com/office/drawing/2014/main" id="{BB9097B1-0D61-4036-E3CE-358A1DC4B994}"/>
              </a:ext>
            </a:extLst>
          </p:cNvPr>
          <p:cNvGraphicFramePr>
            <a:graphicFrameLocks noGrp="1"/>
          </p:cNvGraphicFramePr>
          <p:nvPr/>
        </p:nvGraphicFramePr>
        <p:xfrm>
          <a:off x="4364355" y="2516045"/>
          <a:ext cx="7379970" cy="1029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2309984685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101489887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876929157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534980123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39612616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4009859895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735370086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806823415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308345475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097102560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998779186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881500357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446583947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437792226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820800524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072165388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757745957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709467763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24284719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535101377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326765995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486830419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41413149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266916553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370610015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207208809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641810490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4254913966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048152258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75807352"/>
                    </a:ext>
                  </a:extLst>
                </a:gridCol>
                <a:gridCol w="1131570">
                  <a:extLst>
                    <a:ext uri="{9D8B030D-6E8A-4147-A177-3AD203B41FA5}">
                      <a16:colId xmlns:a16="http://schemas.microsoft.com/office/drawing/2014/main" val="4196033507"/>
                    </a:ext>
                  </a:extLst>
                </a:gridCol>
              </a:tblGrid>
              <a:tr h="370840">
                <a:tc gridSpan="3"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</a:rPr>
                        <a:t>Pass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9"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</a:rPr>
                        <a:t>9 bits for 1♣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9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</a:rPr>
                        <a:t>9 bits for 1♦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9"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</a:rPr>
                        <a:t>9 bits for 1♥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</a:rPr>
                        <a:t>32*9 bits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67621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zh-TW" altLang="en-US" sz="16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zh-TW" altLang="en-US" sz="16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zh-TW" altLang="en-US" sz="16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1" dirty="0">
                          <a:solidFill>
                            <a:srgbClr val="FE7A7B"/>
                          </a:solidFill>
                        </a:rPr>
                        <a:t>1</a:t>
                      </a:r>
                      <a:endParaRPr lang="zh-TW" altLang="en-US" sz="1600" b="1" dirty="0">
                        <a:solidFill>
                          <a:srgbClr val="FE7A7B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zh-TW" altLang="en-US" sz="16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zh-TW" altLang="en-US" sz="16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1" dirty="0">
                          <a:solidFill>
                            <a:srgbClr val="FE7A7B"/>
                          </a:solidFill>
                        </a:rPr>
                        <a:t>1</a:t>
                      </a:r>
                      <a:endParaRPr lang="zh-TW" altLang="en-US" sz="1600" b="1" dirty="0">
                        <a:solidFill>
                          <a:srgbClr val="FE7A7B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zh-TW" altLang="en-US" sz="16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zh-TW" altLang="en-US" sz="16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1" dirty="0">
                          <a:solidFill>
                            <a:srgbClr val="FE7A7B"/>
                          </a:solidFill>
                        </a:rPr>
                        <a:t>1</a:t>
                      </a:r>
                      <a:endParaRPr lang="zh-TW" altLang="en-US" sz="1600" b="1" dirty="0">
                        <a:solidFill>
                          <a:srgbClr val="FE7A7B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zh-TW" altLang="en-US" sz="16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zh-TW" altLang="en-US" sz="16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1" dirty="0">
                          <a:solidFill>
                            <a:srgbClr val="FE7A7B"/>
                          </a:solidFill>
                        </a:rPr>
                        <a:t>0</a:t>
                      </a:r>
                      <a:endParaRPr lang="zh-TW" altLang="en-US" sz="1600" b="1" dirty="0">
                        <a:solidFill>
                          <a:srgbClr val="FE7A7B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zh-TW" altLang="en-US" sz="16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zh-TW" altLang="en-US" sz="16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1" dirty="0">
                          <a:solidFill>
                            <a:srgbClr val="FE7A7B"/>
                          </a:solidFill>
                        </a:rPr>
                        <a:t>0</a:t>
                      </a:r>
                      <a:endParaRPr lang="zh-TW" altLang="en-US" sz="1600" b="1" dirty="0">
                        <a:solidFill>
                          <a:srgbClr val="FE7A7B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zh-TW" altLang="en-US" sz="16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zh-TW" altLang="en-US" sz="16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1" dirty="0">
                          <a:solidFill>
                            <a:srgbClr val="FE7A7B"/>
                          </a:solidFill>
                        </a:rPr>
                        <a:t>0</a:t>
                      </a:r>
                      <a:endParaRPr lang="zh-TW" altLang="en-US" sz="1600" b="1" dirty="0">
                        <a:solidFill>
                          <a:srgbClr val="FE7A7B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zh-TW" altLang="en-US" sz="16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zh-TW" altLang="en-US" sz="16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1" dirty="0">
                          <a:solidFill>
                            <a:srgbClr val="FE7A7B"/>
                          </a:solidFill>
                        </a:rPr>
                        <a:t>1</a:t>
                      </a:r>
                      <a:endParaRPr lang="zh-TW" altLang="en-US" sz="1600" b="1" dirty="0">
                        <a:solidFill>
                          <a:srgbClr val="FE7A7B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zh-TW" altLang="en-US" sz="16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zh-TW" altLang="en-US" sz="16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1" dirty="0">
                          <a:solidFill>
                            <a:srgbClr val="FE7A7B"/>
                          </a:solidFill>
                        </a:rPr>
                        <a:t>0</a:t>
                      </a:r>
                      <a:endParaRPr lang="zh-TW" altLang="en-US" sz="1600" b="1" dirty="0">
                        <a:solidFill>
                          <a:srgbClr val="FE7A7B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zh-TW" altLang="en-US" sz="16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zh-TW" altLang="en-US" sz="16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1" dirty="0">
                          <a:solidFill>
                            <a:srgbClr val="FE7A7B"/>
                          </a:solidFill>
                        </a:rPr>
                        <a:t>0</a:t>
                      </a:r>
                      <a:endParaRPr lang="zh-TW" altLang="en-US" sz="1600" b="1" dirty="0">
                        <a:solidFill>
                          <a:srgbClr val="FE7A7B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zh-TW" altLang="en-US" sz="16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zh-TW" altLang="en-US" sz="16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solidFill>
                            <a:sysClr val="windowText" lastClr="000000"/>
                          </a:solidFill>
                        </a:rPr>
                        <a:t>All zero</a:t>
                      </a:r>
                      <a:endParaRPr lang="zh-TW" altLang="en-US" sz="16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8342508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kern="1200" dirty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P</a:t>
                      </a:r>
                      <a:endParaRPr lang="zh-TW" altLang="en-US" sz="1200" kern="1200" dirty="0">
                        <a:solidFill>
                          <a:sysClr val="windowText" lastClr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kern="1200" dirty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P</a:t>
                      </a:r>
                      <a:endParaRPr lang="zh-TW" altLang="en-US" sz="1200" kern="1200" dirty="0">
                        <a:solidFill>
                          <a:sysClr val="windowText" lastClr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200" kern="1200" dirty="0">
                        <a:solidFill>
                          <a:sysClr val="windowText" lastClr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9">
                  <a:txBody>
                    <a:bodyPr/>
                    <a:lstStyle/>
                    <a:p>
                      <a:pPr algn="ctr"/>
                      <a:r>
                        <a:rPr lang="en-US" altLang="zh-TW" sz="1200" kern="1200" dirty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1♣,Double,Redouble,Pass</a:t>
                      </a:r>
                      <a:endParaRPr lang="zh-TW" altLang="en-US" sz="1200" kern="1200" dirty="0">
                        <a:solidFill>
                          <a:sysClr val="windowText" lastClr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6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6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600" b="1" dirty="0">
                        <a:solidFill>
                          <a:srgbClr val="FE7A7B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6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6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600" b="1" dirty="0">
                        <a:solidFill>
                          <a:srgbClr val="FE7A7B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6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6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9">
                  <a:txBody>
                    <a:bodyPr/>
                    <a:lstStyle/>
                    <a:p>
                      <a:pPr algn="ctr"/>
                      <a:endParaRPr lang="zh-TW" altLang="en-US" sz="1200" kern="1200" dirty="0">
                        <a:solidFill>
                          <a:sysClr val="windowText" lastClr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6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6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600" b="1" dirty="0">
                        <a:solidFill>
                          <a:srgbClr val="FE7A7B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6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6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600" b="1" dirty="0">
                        <a:solidFill>
                          <a:srgbClr val="FE7A7B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6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6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9"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solidFill>
                            <a:sysClr val="windowText" lastClr="000000"/>
                          </a:solidFill>
                        </a:rPr>
                        <a:t>1♥,Pass,Pass,Pass</a:t>
                      </a:r>
                      <a:endParaRPr lang="zh-TW" altLang="en-US" sz="1200" kern="1200" dirty="0">
                        <a:solidFill>
                          <a:sysClr val="windowText" lastClr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6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6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600" b="1" dirty="0">
                        <a:solidFill>
                          <a:srgbClr val="FE7A7B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6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6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600" b="1" dirty="0">
                        <a:solidFill>
                          <a:srgbClr val="FE7A7B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6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6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200" kern="1200" dirty="0">
                        <a:solidFill>
                          <a:sysClr val="windowText" lastClr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8968709"/>
                  </a:ext>
                </a:extLst>
              </a:tr>
            </a:tbl>
          </a:graphicData>
        </a:graphic>
      </p:graphicFrame>
      <p:graphicFrame>
        <p:nvGraphicFramePr>
          <p:cNvPr id="26" name="表格 25">
            <a:extLst>
              <a:ext uri="{FF2B5EF4-FFF2-40B4-BE49-F238E27FC236}">
                <a16:creationId xmlns:a16="http://schemas.microsoft.com/office/drawing/2014/main" id="{1140266B-0B72-DA6D-8F9E-452B96E9F42C}"/>
              </a:ext>
            </a:extLst>
          </p:cNvPr>
          <p:cNvGraphicFramePr>
            <a:graphicFrameLocks noGrp="1"/>
          </p:cNvGraphicFramePr>
          <p:nvPr/>
        </p:nvGraphicFramePr>
        <p:xfrm>
          <a:off x="732752" y="2516045"/>
          <a:ext cx="3526155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28701">
                  <a:extLst>
                    <a:ext uri="{9D8B030D-6E8A-4147-A177-3AD203B41FA5}">
                      <a16:colId xmlns:a16="http://schemas.microsoft.com/office/drawing/2014/main" val="2309984685"/>
                    </a:ext>
                  </a:extLst>
                </a:gridCol>
                <a:gridCol w="1322069">
                  <a:extLst>
                    <a:ext uri="{9D8B030D-6E8A-4147-A177-3AD203B41FA5}">
                      <a16:colId xmlns:a16="http://schemas.microsoft.com/office/drawing/2014/main" val="3534980123"/>
                    </a:ext>
                  </a:extLst>
                </a:gridCol>
                <a:gridCol w="1175385">
                  <a:extLst>
                    <a:ext uri="{9D8B030D-6E8A-4147-A177-3AD203B41FA5}">
                      <a16:colId xmlns:a16="http://schemas.microsoft.com/office/drawing/2014/main" val="344658394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</a:rPr>
                        <a:t>52 bits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</a:rPr>
                        <a:t>2 bits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</a:rPr>
                        <a:t>318 bits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67621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altLang="zh-TW" sz="1600" dirty="0">
                          <a:solidFill>
                            <a:sysClr val="windowText" lastClr="000000"/>
                          </a:solidFill>
                        </a:rPr>
                        <a:t>cards</a:t>
                      </a:r>
                      <a:endParaRPr lang="zh-TW" altLang="en-US" sz="16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TW" sz="1600" dirty="0">
                          <a:solidFill>
                            <a:sysClr val="windowText" lastClr="000000"/>
                          </a:solidFill>
                        </a:rPr>
                        <a:t>vulnerability</a:t>
                      </a:r>
                      <a:endParaRPr lang="zh-TW" altLang="en-US" sz="16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TW" sz="1600" dirty="0">
                          <a:solidFill>
                            <a:sysClr val="windowText" lastClr="000000"/>
                          </a:solidFill>
                        </a:rPr>
                        <a:t>sequence</a:t>
                      </a:r>
                      <a:endParaRPr lang="zh-TW" altLang="en-US" sz="16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8342508"/>
                  </a:ext>
                </a:extLst>
              </a:tr>
            </a:tbl>
          </a:graphicData>
        </a:graphic>
      </p:graphicFrame>
      <p:sp>
        <p:nvSpPr>
          <p:cNvPr id="5" name="文字方塊 4">
            <a:extLst>
              <a:ext uri="{FF2B5EF4-FFF2-40B4-BE49-F238E27FC236}">
                <a16:creationId xmlns:a16="http://schemas.microsoft.com/office/drawing/2014/main" id="{0B5617BF-D3A6-FB03-E427-BECDE3FDE36F}"/>
              </a:ext>
            </a:extLst>
          </p:cNvPr>
          <p:cNvSpPr txBox="1"/>
          <p:nvPr/>
        </p:nvSpPr>
        <p:spPr>
          <a:xfrm>
            <a:off x="-5358" y="6634230"/>
            <a:ext cx="1128866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altLang="zh-TW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軟正黑體"/>
                <a:cs typeface="Times New Roman" panose="02020603050405020304" pitchFamily="18" charset="0"/>
              </a:rPr>
              <a:t>Reference: </a:t>
            </a:r>
            <a:r>
              <a:rPr kumimoji="0" lang="en-US" altLang="zh-TW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軟正黑體"/>
                <a:cs typeface="Times New Roman" panose="02020603050405020304" pitchFamily="18" charset="0"/>
              </a:rPr>
              <a:t>Jiang Rong, Tao Qin and Bo An, “Competitive Bridge Bidding with Deep Neural Networks,“18th International Conference on Autonomous Agents and Multiagent Systems, AAMAS '19, Montreal, QC, Canada, May 13-17, 2019</a:t>
            </a:r>
          </a:p>
        </p:txBody>
      </p:sp>
    </p:spTree>
    <p:extLst>
      <p:ext uri="{BB962C8B-B14F-4D97-AF65-F5344CB8AC3E}">
        <p14:creationId xmlns:p14="http://schemas.microsoft.com/office/powerpoint/2010/main" val="32686627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EE6617C-C089-5E48-BFD3-2144446104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/>
              <a:t>Problem Setup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5FC7501-BB27-0549-A107-F108D1C5C0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Training dataset: randomly generated 2,500,000 hands</a:t>
            </a:r>
          </a:p>
          <a:p>
            <a:r>
              <a:rPr lang="en-US" altLang="zh-TW" dirty="0"/>
              <a:t>Evaluation dataset: 100,000 hands</a:t>
            </a:r>
          </a:p>
          <a:p>
            <a:r>
              <a:rPr lang="en-US" altLang="zh-TW" dirty="0"/>
              <a:t>Each hand is played twice</a:t>
            </a:r>
          </a:p>
          <a:p>
            <a:r>
              <a:rPr lang="en-US" altLang="zh-TW" dirty="0"/>
              <a:t>The final reward is the difference in the results of the two tables</a:t>
            </a:r>
          </a:p>
          <a:p>
            <a:r>
              <a:rPr lang="en-US" altLang="zh-TW" dirty="0"/>
              <a:t>The difference in scores is then converted to IMPs scale, and then normalized to [-1, 1]. </a:t>
            </a:r>
          </a:p>
        </p:txBody>
      </p:sp>
    </p:spTree>
    <p:extLst>
      <p:ext uri="{BB962C8B-B14F-4D97-AF65-F5344CB8AC3E}">
        <p14:creationId xmlns:p14="http://schemas.microsoft.com/office/powerpoint/2010/main" val="5242286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C487822-ACFF-D84C-A08F-A132CB5BEF28}"/>
              </a:ext>
            </a:extLst>
          </p:cNvPr>
          <p:cNvSpPr txBox="1">
            <a:spLocks/>
          </p:cNvSpPr>
          <p:nvPr/>
        </p:nvSpPr>
        <p:spPr>
          <a:xfrm>
            <a:off x="587829" y="1825624"/>
            <a:ext cx="11604171" cy="4860183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TW" altLang="en-US" dirty="0"/>
          </a:p>
        </p:txBody>
      </p:sp>
      <p:sp>
        <p:nvSpPr>
          <p:cNvPr id="9" name="標題 8">
            <a:extLst>
              <a:ext uri="{FF2B5EF4-FFF2-40B4-BE49-F238E27FC236}">
                <a16:creationId xmlns:a16="http://schemas.microsoft.com/office/drawing/2014/main" id="{F6999AB0-1945-5A12-4421-5FA29DE2C9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4400" b="1" dirty="0">
                <a:latin typeface="Times New Roman" pitchFamily="18" charset="0"/>
                <a:cs typeface="Times New Roman" pitchFamily="18" charset="0"/>
              </a:rPr>
              <a:t>Input Representation</a:t>
            </a:r>
            <a:endParaRPr lang="zh-TW" altLang="en-US" dirty="0"/>
          </a:p>
        </p:txBody>
      </p:sp>
      <p:graphicFrame>
        <p:nvGraphicFramePr>
          <p:cNvPr id="11" name="表格 11">
            <a:extLst>
              <a:ext uri="{FF2B5EF4-FFF2-40B4-BE49-F238E27FC236}">
                <a16:creationId xmlns:a16="http://schemas.microsoft.com/office/drawing/2014/main" id="{F3511B24-67C6-CE9D-7D23-5DCBEC6754C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52353825"/>
              </p:ext>
            </p:extLst>
          </p:nvPr>
        </p:nvGraphicFramePr>
        <p:xfrm>
          <a:off x="781353" y="2584576"/>
          <a:ext cx="10822818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14450">
                  <a:extLst>
                    <a:ext uri="{9D8B030D-6E8A-4147-A177-3AD203B41FA5}">
                      <a16:colId xmlns:a16="http://schemas.microsoft.com/office/drawing/2014/main" val="3038641725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1244087821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3525695966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2593936007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1874621224"/>
                    </a:ext>
                  </a:extLst>
                </a:gridCol>
                <a:gridCol w="1839468">
                  <a:extLst>
                    <a:ext uri="{9D8B030D-6E8A-4147-A177-3AD203B41FA5}">
                      <a16:colId xmlns:a16="http://schemas.microsoft.com/office/drawing/2014/main" val="1292083411"/>
                    </a:ext>
                  </a:extLst>
                </a:gridCol>
                <a:gridCol w="1483482">
                  <a:extLst>
                    <a:ext uri="{9D8B030D-6E8A-4147-A177-3AD203B41FA5}">
                      <a16:colId xmlns:a16="http://schemas.microsoft.com/office/drawing/2014/main" val="1117249031"/>
                    </a:ext>
                  </a:extLst>
                </a:gridCol>
                <a:gridCol w="1145418">
                  <a:extLst>
                    <a:ext uri="{9D8B030D-6E8A-4147-A177-3AD203B41FA5}">
                      <a16:colId xmlns:a16="http://schemas.microsoft.com/office/drawing/2014/main" val="1700755744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</a:rPr>
                        <a:t>Own cards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5"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</a:rPr>
                        <a:t>Bid history, multi-hot of contract bids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/>
                      <a:endParaRPr lang="en-US" altLang="zh-TW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algn="ctr"/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</a:rPr>
                        <a:t>Vulnerability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</a:rPr>
                        <a:t>Available Action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3141426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</a:rPr>
                        <a:t>Own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</a:rPr>
                        <a:t>Partner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</a:rPr>
                        <a:t>Left </a:t>
                      </a:r>
                      <a:r>
                        <a:rPr lang="en-US" altLang="zh-TW" dirty="0" err="1">
                          <a:solidFill>
                            <a:sysClr val="windowText" lastClr="000000"/>
                          </a:solidFill>
                        </a:rPr>
                        <a:t>Opp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</a:rPr>
                        <a:t>Right </a:t>
                      </a:r>
                      <a:r>
                        <a:rPr lang="en-US" altLang="zh-TW" dirty="0" err="1">
                          <a:solidFill>
                            <a:sysClr val="windowText" lastClr="000000"/>
                          </a:solidFill>
                        </a:rPr>
                        <a:t>Opp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</a:rPr>
                        <a:t>Double Indicator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69454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</a:rPr>
                        <a:t>52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</a:rPr>
                        <a:t>35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</a:rPr>
                        <a:t>35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</a:rPr>
                        <a:t>35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</a:rPr>
                        <a:t>35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</a:rPr>
                        <a:t>35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</a:rPr>
                        <a:t>2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</a:rPr>
                        <a:t>38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3733851"/>
                  </a:ext>
                </a:extLst>
              </a:tr>
            </a:tbl>
          </a:graphicData>
        </a:graphic>
      </p:graphicFrame>
      <p:sp>
        <p:nvSpPr>
          <p:cNvPr id="12" name="內容版面配置區 2">
            <a:extLst>
              <a:ext uri="{FF2B5EF4-FFF2-40B4-BE49-F238E27FC236}">
                <a16:creationId xmlns:a16="http://schemas.microsoft.com/office/drawing/2014/main" id="{7A514701-91BF-5F07-CD3D-9F91DDD9FE23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dirty="0"/>
              <a:t>267 bit vector</a:t>
            </a:r>
          </a:p>
        </p:txBody>
      </p:sp>
      <p:pic>
        <p:nvPicPr>
          <p:cNvPr id="14" name="圖片 13">
            <a:extLst>
              <a:ext uri="{FF2B5EF4-FFF2-40B4-BE49-F238E27FC236}">
                <a16:creationId xmlns:a16="http://schemas.microsoft.com/office/drawing/2014/main" id="{B6BE44DD-F683-2F1F-D594-BE29A7C575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13829" y="4456047"/>
            <a:ext cx="1257300" cy="1257300"/>
          </a:xfrm>
          <a:prstGeom prst="rect">
            <a:avLst/>
          </a:prstGeom>
        </p:spPr>
      </p:pic>
      <p:graphicFrame>
        <p:nvGraphicFramePr>
          <p:cNvPr id="15" name="表格 15">
            <a:extLst>
              <a:ext uri="{FF2B5EF4-FFF2-40B4-BE49-F238E27FC236}">
                <a16:creationId xmlns:a16="http://schemas.microsoft.com/office/drawing/2014/main" id="{782741F5-D3B0-4B88-13F5-9ED4760E416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8081190"/>
              </p:ext>
            </p:extLst>
          </p:nvPr>
        </p:nvGraphicFramePr>
        <p:xfrm>
          <a:off x="452238" y="4032016"/>
          <a:ext cx="10026000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64000">
                  <a:extLst>
                    <a:ext uri="{9D8B030D-6E8A-4147-A177-3AD203B41FA5}">
                      <a16:colId xmlns:a16="http://schemas.microsoft.com/office/drawing/2014/main" val="3476141840"/>
                    </a:ext>
                  </a:extLst>
                </a:gridCol>
                <a:gridCol w="486000">
                  <a:extLst>
                    <a:ext uri="{9D8B030D-6E8A-4147-A177-3AD203B41FA5}">
                      <a16:colId xmlns:a16="http://schemas.microsoft.com/office/drawing/2014/main" val="1883309966"/>
                    </a:ext>
                  </a:extLst>
                </a:gridCol>
                <a:gridCol w="486000">
                  <a:extLst>
                    <a:ext uri="{9D8B030D-6E8A-4147-A177-3AD203B41FA5}">
                      <a16:colId xmlns:a16="http://schemas.microsoft.com/office/drawing/2014/main" val="1515297898"/>
                    </a:ext>
                  </a:extLst>
                </a:gridCol>
                <a:gridCol w="486000">
                  <a:extLst>
                    <a:ext uri="{9D8B030D-6E8A-4147-A177-3AD203B41FA5}">
                      <a16:colId xmlns:a16="http://schemas.microsoft.com/office/drawing/2014/main" val="384903501"/>
                    </a:ext>
                  </a:extLst>
                </a:gridCol>
                <a:gridCol w="486000">
                  <a:extLst>
                    <a:ext uri="{9D8B030D-6E8A-4147-A177-3AD203B41FA5}">
                      <a16:colId xmlns:a16="http://schemas.microsoft.com/office/drawing/2014/main" val="3434266667"/>
                    </a:ext>
                  </a:extLst>
                </a:gridCol>
                <a:gridCol w="486000">
                  <a:extLst>
                    <a:ext uri="{9D8B030D-6E8A-4147-A177-3AD203B41FA5}">
                      <a16:colId xmlns:a16="http://schemas.microsoft.com/office/drawing/2014/main" val="4071917867"/>
                    </a:ext>
                  </a:extLst>
                </a:gridCol>
                <a:gridCol w="486000">
                  <a:extLst>
                    <a:ext uri="{9D8B030D-6E8A-4147-A177-3AD203B41FA5}">
                      <a16:colId xmlns:a16="http://schemas.microsoft.com/office/drawing/2014/main" val="2005422696"/>
                    </a:ext>
                  </a:extLst>
                </a:gridCol>
                <a:gridCol w="486000">
                  <a:extLst>
                    <a:ext uri="{9D8B030D-6E8A-4147-A177-3AD203B41FA5}">
                      <a16:colId xmlns:a16="http://schemas.microsoft.com/office/drawing/2014/main" val="3425098241"/>
                    </a:ext>
                  </a:extLst>
                </a:gridCol>
                <a:gridCol w="486000">
                  <a:extLst>
                    <a:ext uri="{9D8B030D-6E8A-4147-A177-3AD203B41FA5}">
                      <a16:colId xmlns:a16="http://schemas.microsoft.com/office/drawing/2014/main" val="2518362"/>
                    </a:ext>
                  </a:extLst>
                </a:gridCol>
                <a:gridCol w="486000">
                  <a:extLst>
                    <a:ext uri="{9D8B030D-6E8A-4147-A177-3AD203B41FA5}">
                      <a16:colId xmlns:a16="http://schemas.microsoft.com/office/drawing/2014/main" val="1000057054"/>
                    </a:ext>
                  </a:extLst>
                </a:gridCol>
                <a:gridCol w="486000">
                  <a:extLst>
                    <a:ext uri="{9D8B030D-6E8A-4147-A177-3AD203B41FA5}">
                      <a16:colId xmlns:a16="http://schemas.microsoft.com/office/drawing/2014/main" val="3408084078"/>
                    </a:ext>
                  </a:extLst>
                </a:gridCol>
                <a:gridCol w="486000">
                  <a:extLst>
                    <a:ext uri="{9D8B030D-6E8A-4147-A177-3AD203B41FA5}">
                      <a16:colId xmlns:a16="http://schemas.microsoft.com/office/drawing/2014/main" val="3752328588"/>
                    </a:ext>
                  </a:extLst>
                </a:gridCol>
                <a:gridCol w="486000">
                  <a:extLst>
                    <a:ext uri="{9D8B030D-6E8A-4147-A177-3AD203B41FA5}">
                      <a16:colId xmlns:a16="http://schemas.microsoft.com/office/drawing/2014/main" val="2884059532"/>
                    </a:ext>
                  </a:extLst>
                </a:gridCol>
                <a:gridCol w="486000">
                  <a:extLst>
                    <a:ext uri="{9D8B030D-6E8A-4147-A177-3AD203B41FA5}">
                      <a16:colId xmlns:a16="http://schemas.microsoft.com/office/drawing/2014/main" val="540926009"/>
                    </a:ext>
                  </a:extLst>
                </a:gridCol>
                <a:gridCol w="486000">
                  <a:extLst>
                    <a:ext uri="{9D8B030D-6E8A-4147-A177-3AD203B41FA5}">
                      <a16:colId xmlns:a16="http://schemas.microsoft.com/office/drawing/2014/main" val="1134387972"/>
                    </a:ext>
                  </a:extLst>
                </a:gridCol>
                <a:gridCol w="486000">
                  <a:extLst>
                    <a:ext uri="{9D8B030D-6E8A-4147-A177-3AD203B41FA5}">
                      <a16:colId xmlns:a16="http://schemas.microsoft.com/office/drawing/2014/main" val="1766643394"/>
                    </a:ext>
                  </a:extLst>
                </a:gridCol>
                <a:gridCol w="486000">
                  <a:extLst>
                    <a:ext uri="{9D8B030D-6E8A-4147-A177-3AD203B41FA5}">
                      <a16:colId xmlns:a16="http://schemas.microsoft.com/office/drawing/2014/main" val="337779007"/>
                    </a:ext>
                  </a:extLst>
                </a:gridCol>
                <a:gridCol w="486000">
                  <a:extLst>
                    <a:ext uri="{9D8B030D-6E8A-4147-A177-3AD203B41FA5}">
                      <a16:colId xmlns:a16="http://schemas.microsoft.com/office/drawing/2014/main" val="36712548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</a:rPr>
                        <a:t>1C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</a:rPr>
                        <a:t>1D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</a:rPr>
                        <a:t>1H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</a:rPr>
                        <a:t>1S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</a:rPr>
                        <a:t>1N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</a:rPr>
                        <a:t>2C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</a:rPr>
                        <a:t>2D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</a:rPr>
                        <a:t>2H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</a:rPr>
                        <a:t>2S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</a:rPr>
                        <a:t>2N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</a:rPr>
                        <a:t>3C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</a:rPr>
                        <a:t>3D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</a:rPr>
                        <a:t>3H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</a:rPr>
                        <a:t>3S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</a:rPr>
                        <a:t>3N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</a:rPr>
                        <a:t>7N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81981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</a:rPr>
                        <a:t>Own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</a:rPr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35164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</a:rPr>
                        <a:t>Partner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</a:rPr>
                        <a:t>…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59819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</a:rPr>
                        <a:t>Left </a:t>
                      </a:r>
                      <a:r>
                        <a:rPr lang="en-US" altLang="zh-TW" dirty="0" err="1">
                          <a:solidFill>
                            <a:sysClr val="windowText" lastClr="000000"/>
                          </a:solidFill>
                        </a:rPr>
                        <a:t>Opp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</a:rPr>
                        <a:t>…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53890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</a:rPr>
                        <a:t>Right </a:t>
                      </a:r>
                      <a:r>
                        <a:rPr lang="en-US" altLang="zh-TW" dirty="0" err="1">
                          <a:solidFill>
                            <a:sysClr val="windowText" lastClr="000000"/>
                          </a:solidFill>
                        </a:rPr>
                        <a:t>Opp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</a:rPr>
                        <a:t>…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579802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</a:rPr>
                        <a:t>Double Indicator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</a:rPr>
                        <a:t>…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024029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951131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C487822-ACFF-D84C-A08F-A132CB5BEF28}"/>
              </a:ext>
            </a:extLst>
          </p:cNvPr>
          <p:cNvSpPr txBox="1">
            <a:spLocks/>
          </p:cNvSpPr>
          <p:nvPr/>
        </p:nvSpPr>
        <p:spPr>
          <a:xfrm>
            <a:off x="587829" y="1825624"/>
            <a:ext cx="11604171" cy="4860183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TW" altLang="en-US" dirty="0"/>
          </a:p>
        </p:txBody>
      </p:sp>
      <p:sp>
        <p:nvSpPr>
          <p:cNvPr id="9" name="標題 8">
            <a:extLst>
              <a:ext uri="{FF2B5EF4-FFF2-40B4-BE49-F238E27FC236}">
                <a16:creationId xmlns:a16="http://schemas.microsoft.com/office/drawing/2014/main" id="{F6999AB0-1945-5A12-4421-5FA29DE2C9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4400" b="1" dirty="0">
                <a:latin typeface="Times New Roman" pitchFamily="18" charset="0"/>
                <a:cs typeface="Times New Roman" pitchFamily="18" charset="0"/>
              </a:rPr>
              <a:t>Network</a:t>
            </a:r>
            <a:endParaRPr lang="zh-TW" altLang="en-US" dirty="0"/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FA73B37D-0037-7A98-BD5D-495266B7A0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712208" cy="4351338"/>
          </a:xfrm>
        </p:spPr>
        <p:txBody>
          <a:bodyPr>
            <a:normAutofit/>
          </a:bodyPr>
          <a:lstStyle/>
          <a:p>
            <a:r>
              <a:rPr lang="en-US" altLang="zh-TW" dirty="0"/>
              <a:t>The network consists of an initial fully connected layer, then 4 fully connected layer with skip connections added every 2 layers to get a latent representation.</a:t>
            </a:r>
          </a:p>
          <a:p>
            <a:r>
              <a:rPr lang="en-US" altLang="zh-TW" dirty="0"/>
              <a:t>We use 200 neurons at each hidden layer, about 1/70 in parameter size compared with baseline19.</a:t>
            </a:r>
            <a:endParaRPr lang="zh-TW" altLang="en-US" dirty="0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792F9D17-D7F0-B7A8-F0CE-A099B877C2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3184" y="1825623"/>
            <a:ext cx="6230112" cy="4107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11465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C487822-ACFF-D84C-A08F-A132CB5BEF28}"/>
              </a:ext>
            </a:extLst>
          </p:cNvPr>
          <p:cNvSpPr txBox="1">
            <a:spLocks/>
          </p:cNvSpPr>
          <p:nvPr/>
        </p:nvSpPr>
        <p:spPr>
          <a:xfrm>
            <a:off x="587829" y="1825624"/>
            <a:ext cx="11604171" cy="4860183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TW" altLang="en-US" dirty="0"/>
          </a:p>
        </p:txBody>
      </p:sp>
      <p:sp>
        <p:nvSpPr>
          <p:cNvPr id="9" name="標題 8">
            <a:extLst>
              <a:ext uri="{FF2B5EF4-FFF2-40B4-BE49-F238E27FC236}">
                <a16:creationId xmlns:a16="http://schemas.microsoft.com/office/drawing/2014/main" id="{F6999AB0-1945-5A12-4421-5FA29DE2C9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4400" b="1" dirty="0">
                <a:latin typeface="Times New Roman" pitchFamily="18" charset="0"/>
                <a:cs typeface="Times New Roman" pitchFamily="18" charset="0"/>
              </a:rPr>
              <a:t>Reinforcement Learning -A3C</a:t>
            </a:r>
            <a:endParaRPr lang="zh-TW" altLang="en-US" dirty="0"/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FA73B37D-0037-7A98-BD5D-495266B7A0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712208" cy="4351338"/>
          </a:xfrm>
        </p:spPr>
        <p:txBody>
          <a:bodyPr>
            <a:normAutofit/>
          </a:bodyPr>
          <a:lstStyle/>
          <a:p>
            <a:r>
              <a:rPr lang="en-US" altLang="zh-TW" dirty="0"/>
              <a:t>Policy head:</a:t>
            </a:r>
          </a:p>
          <a:p>
            <a:pPr marL="457200" lvl="1" indent="0">
              <a:buNone/>
            </a:pPr>
            <a:r>
              <a:rPr lang="en-US" altLang="zh-TW" dirty="0"/>
              <a:t>38 output neurons</a:t>
            </a:r>
          </a:p>
          <a:p>
            <a:pPr marL="457200" lvl="1" indent="0">
              <a:buNone/>
            </a:pPr>
            <a:r>
              <a:rPr lang="en-US" altLang="zh-TW" dirty="0"/>
              <a:t>Masking out illegal actions</a:t>
            </a:r>
          </a:p>
          <a:p>
            <a:r>
              <a:rPr lang="en-US" altLang="zh-TW" dirty="0"/>
              <a:t>Value head:</a:t>
            </a:r>
          </a:p>
          <a:p>
            <a:pPr marL="457200" lvl="1" indent="0">
              <a:buNone/>
            </a:pPr>
            <a:r>
              <a:rPr lang="en-US" altLang="zh-TW" dirty="0"/>
              <a:t>1 neuron</a:t>
            </a:r>
          </a:p>
          <a:p>
            <a:r>
              <a:rPr lang="en-US" altLang="zh-TW" dirty="0"/>
              <a:t>The whole training process takes roughly 4-5 hours to converge on a single GPU. </a:t>
            </a:r>
            <a:endParaRPr lang="zh-TW" altLang="en-US" dirty="0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792F9D17-D7F0-B7A8-F0CE-A099B877C2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3184" y="1825623"/>
            <a:ext cx="6230112" cy="4107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34344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41D1423-D6F3-3930-45B1-6439C599A0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/>
              <a:t>Visualization</a:t>
            </a:r>
            <a:endParaRPr lang="zh-TW" altLang="en-US" b="1" dirty="0"/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0EB1DE99-5862-4A2D-D26D-CC6F7248F5E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038635"/>
            <a:ext cx="10515600" cy="3925317"/>
          </a:xfrm>
        </p:spPr>
      </p:pic>
    </p:spTree>
    <p:extLst>
      <p:ext uri="{BB962C8B-B14F-4D97-AF65-F5344CB8AC3E}">
        <p14:creationId xmlns:p14="http://schemas.microsoft.com/office/powerpoint/2010/main" val="22723529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7B254CF-E069-34EA-B94C-A7AF38CA89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/>
              <a:t>Opening Table</a:t>
            </a:r>
            <a:endParaRPr lang="zh-TW" altLang="en-US" b="1" dirty="0"/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C4224AB2-CB44-71F8-FEE9-0D2197BE187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26038" y="1825625"/>
            <a:ext cx="6139924" cy="4351338"/>
          </a:xfrm>
        </p:spPr>
      </p:pic>
    </p:spTree>
    <p:extLst>
      <p:ext uri="{BB962C8B-B14F-4D97-AF65-F5344CB8AC3E}">
        <p14:creationId xmlns:p14="http://schemas.microsoft.com/office/powerpoint/2010/main" val="10597077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726C70E-7440-B70C-C6D0-6134290059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/>
              <a:t>Experiments</a:t>
            </a:r>
            <a:endParaRPr lang="zh-TW" altLang="en-US" b="1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4E2ED4D-4876-99B6-2164-397057FF7D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We significantly beat baseline16 2.31 IMPs per board.</a:t>
            </a:r>
          </a:p>
          <a:p>
            <a:r>
              <a:rPr lang="en-US" altLang="zh-TW" dirty="0"/>
              <a:t>Baseline 16 can only handle a fixed length of bids.</a:t>
            </a:r>
            <a:endParaRPr lang="zh-TW" altLang="en-US" dirty="0"/>
          </a:p>
          <a:p>
            <a:endParaRPr lang="zh-TW" altLang="en-US" dirty="0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AF48D4FA-6795-6812-F2F5-6A3A4233A0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0808" y="3139883"/>
            <a:ext cx="9540240" cy="2730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5134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726C70E-7440-B70C-C6D0-6134290059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/>
              <a:t>Experiments</a:t>
            </a:r>
            <a:endParaRPr lang="zh-TW" altLang="en-US" b="1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4E2ED4D-4876-99B6-2164-397057FF7D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We beat Wbridge5 0.41 IMPs per board in 64 board tournament.</a:t>
            </a:r>
          </a:p>
          <a:p>
            <a:r>
              <a:rPr lang="en-US" altLang="zh-TW" dirty="0"/>
              <a:t>Baseline19 outperforms Wbridge5 by 0.25 IMPs per board.</a:t>
            </a:r>
          </a:p>
          <a:p>
            <a:r>
              <a:rPr lang="en-US" altLang="zh-TW" dirty="0"/>
              <a:t>We outperform baseline19 mainly due to a better history encoding and not to model belief explicitly</a:t>
            </a: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E04ACF55-B57A-12EF-8A8A-539C822A53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6993814"/>
              </p:ext>
            </p:extLst>
          </p:nvPr>
        </p:nvGraphicFramePr>
        <p:xfrm>
          <a:off x="1912328" y="4037870"/>
          <a:ext cx="3526155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28701">
                  <a:extLst>
                    <a:ext uri="{9D8B030D-6E8A-4147-A177-3AD203B41FA5}">
                      <a16:colId xmlns:a16="http://schemas.microsoft.com/office/drawing/2014/main" val="2309984685"/>
                    </a:ext>
                  </a:extLst>
                </a:gridCol>
                <a:gridCol w="1322069">
                  <a:extLst>
                    <a:ext uri="{9D8B030D-6E8A-4147-A177-3AD203B41FA5}">
                      <a16:colId xmlns:a16="http://schemas.microsoft.com/office/drawing/2014/main" val="3534980123"/>
                    </a:ext>
                  </a:extLst>
                </a:gridCol>
                <a:gridCol w="1175385">
                  <a:extLst>
                    <a:ext uri="{9D8B030D-6E8A-4147-A177-3AD203B41FA5}">
                      <a16:colId xmlns:a16="http://schemas.microsoft.com/office/drawing/2014/main" val="344658394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</a:rPr>
                        <a:t>52 bits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</a:rPr>
                        <a:t>2 bits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</a:rPr>
                        <a:t>318 bits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67621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altLang="zh-TW" sz="1600" dirty="0">
                          <a:solidFill>
                            <a:sysClr val="windowText" lastClr="000000"/>
                          </a:solidFill>
                        </a:rPr>
                        <a:t>cards</a:t>
                      </a:r>
                      <a:endParaRPr lang="zh-TW" altLang="en-US" sz="16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TW" sz="1600" dirty="0">
                          <a:solidFill>
                            <a:sysClr val="windowText" lastClr="000000"/>
                          </a:solidFill>
                        </a:rPr>
                        <a:t>vulnerability</a:t>
                      </a:r>
                      <a:endParaRPr lang="zh-TW" altLang="en-US" sz="16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TW" sz="1600" dirty="0">
                          <a:solidFill>
                            <a:sysClr val="windowText" lastClr="000000"/>
                          </a:solidFill>
                        </a:rPr>
                        <a:t>sequence</a:t>
                      </a:r>
                      <a:endParaRPr lang="zh-TW" altLang="en-US" sz="16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8342508"/>
                  </a:ext>
                </a:extLst>
              </a:tr>
            </a:tbl>
          </a:graphicData>
        </a:graphic>
      </p:graphicFrame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74E57DD1-9C33-E38F-FC09-4A494C9BA1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3834269"/>
              </p:ext>
            </p:extLst>
          </p:nvPr>
        </p:nvGraphicFramePr>
        <p:xfrm>
          <a:off x="5758904" y="4032885"/>
          <a:ext cx="4860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29600">
                  <a:extLst>
                    <a:ext uri="{9D8B030D-6E8A-4147-A177-3AD203B41FA5}">
                      <a16:colId xmlns:a16="http://schemas.microsoft.com/office/drawing/2014/main" val="2309984685"/>
                    </a:ext>
                  </a:extLst>
                </a:gridCol>
                <a:gridCol w="1321200">
                  <a:extLst>
                    <a:ext uri="{9D8B030D-6E8A-4147-A177-3AD203B41FA5}">
                      <a16:colId xmlns:a16="http://schemas.microsoft.com/office/drawing/2014/main" val="3534980123"/>
                    </a:ext>
                  </a:extLst>
                </a:gridCol>
                <a:gridCol w="1177200">
                  <a:extLst>
                    <a:ext uri="{9D8B030D-6E8A-4147-A177-3AD203B41FA5}">
                      <a16:colId xmlns:a16="http://schemas.microsoft.com/office/drawing/2014/main" val="3446583947"/>
                    </a:ext>
                  </a:extLst>
                </a:gridCol>
                <a:gridCol w="1332000">
                  <a:extLst>
                    <a:ext uri="{9D8B030D-6E8A-4147-A177-3AD203B41FA5}">
                      <a16:colId xmlns:a16="http://schemas.microsoft.com/office/drawing/2014/main" val="21210684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</a:rPr>
                        <a:t>52 bits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</a:rPr>
                        <a:t>2 bits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</a:rPr>
                        <a:t>318 bits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</a:rPr>
                        <a:t>52</a:t>
                      </a:r>
                      <a:r>
                        <a:rPr lang="zh-TW" altLang="en-US" dirty="0">
                          <a:solidFill>
                            <a:sysClr val="windowText" lastClr="000000"/>
                          </a:solidFill>
                        </a:rPr>
                        <a:t> </a:t>
                      </a:r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</a:rPr>
                        <a:t>bits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67621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altLang="zh-TW" sz="1600" dirty="0">
                          <a:solidFill>
                            <a:sysClr val="windowText" lastClr="000000"/>
                          </a:solidFill>
                        </a:rPr>
                        <a:t>cards</a:t>
                      </a:r>
                      <a:endParaRPr lang="zh-TW" altLang="en-US" sz="16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TW" sz="1600" dirty="0">
                          <a:solidFill>
                            <a:sysClr val="windowText" lastClr="000000"/>
                          </a:solidFill>
                        </a:rPr>
                        <a:t>vulnerability</a:t>
                      </a:r>
                      <a:endParaRPr lang="zh-TW" altLang="en-US" sz="16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TW" sz="1600" dirty="0">
                          <a:solidFill>
                            <a:sysClr val="windowText" lastClr="000000"/>
                          </a:solidFill>
                        </a:rPr>
                        <a:t>sequence</a:t>
                      </a:r>
                      <a:endParaRPr lang="zh-TW" altLang="en-US" sz="16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TW" sz="1600" dirty="0">
                          <a:solidFill>
                            <a:sysClr val="windowText" lastClr="000000"/>
                          </a:solidFill>
                        </a:rPr>
                        <a:t>Partner’s card</a:t>
                      </a:r>
                      <a:endParaRPr lang="zh-TW" altLang="en-US" sz="16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8342508"/>
                  </a:ext>
                </a:extLst>
              </a:tr>
            </a:tbl>
          </a:graphicData>
        </a:graphic>
      </p:graphicFrame>
      <p:graphicFrame>
        <p:nvGraphicFramePr>
          <p:cNvPr id="6" name="表格 11">
            <a:extLst>
              <a:ext uri="{FF2B5EF4-FFF2-40B4-BE49-F238E27FC236}">
                <a16:creationId xmlns:a16="http://schemas.microsoft.com/office/drawing/2014/main" id="{5061A5A0-E90A-0AC5-52FA-4606CF821F9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46864486"/>
              </p:ext>
            </p:extLst>
          </p:nvPr>
        </p:nvGraphicFramePr>
        <p:xfrm>
          <a:off x="781353" y="5181472"/>
          <a:ext cx="10822818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14450">
                  <a:extLst>
                    <a:ext uri="{9D8B030D-6E8A-4147-A177-3AD203B41FA5}">
                      <a16:colId xmlns:a16="http://schemas.microsoft.com/office/drawing/2014/main" val="3038641725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1244087821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3525695966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2593936007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1874621224"/>
                    </a:ext>
                  </a:extLst>
                </a:gridCol>
                <a:gridCol w="1839468">
                  <a:extLst>
                    <a:ext uri="{9D8B030D-6E8A-4147-A177-3AD203B41FA5}">
                      <a16:colId xmlns:a16="http://schemas.microsoft.com/office/drawing/2014/main" val="1292083411"/>
                    </a:ext>
                  </a:extLst>
                </a:gridCol>
                <a:gridCol w="1483482">
                  <a:extLst>
                    <a:ext uri="{9D8B030D-6E8A-4147-A177-3AD203B41FA5}">
                      <a16:colId xmlns:a16="http://schemas.microsoft.com/office/drawing/2014/main" val="1117249031"/>
                    </a:ext>
                  </a:extLst>
                </a:gridCol>
                <a:gridCol w="1145418">
                  <a:extLst>
                    <a:ext uri="{9D8B030D-6E8A-4147-A177-3AD203B41FA5}">
                      <a16:colId xmlns:a16="http://schemas.microsoft.com/office/drawing/2014/main" val="1700755744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</a:rPr>
                        <a:t>Own cards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5"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</a:rPr>
                        <a:t>Bid history, multi-hot of contract bids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/>
                      <a:endParaRPr lang="en-US" altLang="zh-TW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algn="ctr"/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</a:rPr>
                        <a:t>Vulnerability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</a:rPr>
                        <a:t>Available Action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3141426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</a:rPr>
                        <a:t>Own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</a:rPr>
                        <a:t>Partner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</a:rPr>
                        <a:t>Left </a:t>
                      </a:r>
                      <a:r>
                        <a:rPr lang="en-US" altLang="zh-TW" dirty="0" err="1">
                          <a:solidFill>
                            <a:sysClr val="windowText" lastClr="000000"/>
                          </a:solidFill>
                        </a:rPr>
                        <a:t>Opp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</a:rPr>
                        <a:t>Right </a:t>
                      </a:r>
                      <a:r>
                        <a:rPr lang="en-US" altLang="zh-TW" dirty="0" err="1">
                          <a:solidFill>
                            <a:sysClr val="windowText" lastClr="000000"/>
                          </a:solidFill>
                        </a:rPr>
                        <a:t>Opp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</a:rPr>
                        <a:t>Double Indicator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69454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</a:rPr>
                        <a:t>52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</a:rPr>
                        <a:t>35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</a:rPr>
                        <a:t>35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</a:rPr>
                        <a:t>35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</a:rPr>
                        <a:t>35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</a:rPr>
                        <a:t>35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</a:rPr>
                        <a:t>2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</a:rPr>
                        <a:t>38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37338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568276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054CB7D-B06D-C3DB-EEEB-9BF9CF84E1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/>
              <a:t>Experiments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97C78E3-D0D6-DE36-C963-A7CE9B435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final loss: L = r </a:t>
            </a:r>
            <a:r>
              <a:rPr lang="zh-TW" altLang="en-US" dirty="0"/>
              <a:t>．</a:t>
            </a:r>
            <a:r>
              <a:rPr lang="en-US" altLang="zh-TW" dirty="0" err="1"/>
              <a:t>L</a:t>
            </a:r>
            <a:r>
              <a:rPr lang="en-US" altLang="zh-TW" baseline="-25000" dirty="0" err="1"/>
              <a:t>belief</a:t>
            </a:r>
            <a:r>
              <a:rPr lang="en-US" altLang="zh-TW" dirty="0"/>
              <a:t>+ L</a:t>
            </a:r>
            <a:r>
              <a:rPr lang="en-US" altLang="zh-TW" baseline="-25000" dirty="0"/>
              <a:t>A3C</a:t>
            </a:r>
            <a:r>
              <a:rPr lang="en-US" altLang="zh-TW" dirty="0"/>
              <a:t> .</a:t>
            </a:r>
            <a:endParaRPr lang="zh-TW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F0602619-D00D-635B-E049-691BAC20FD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4707" y="2440813"/>
            <a:ext cx="10519093" cy="38710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99552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訂 1">
      <a:majorFont>
        <a:latin typeface="Times New Roman"/>
        <a:ea typeface="標楷體"/>
        <a:cs typeface=""/>
      </a:majorFont>
      <a:minorFont>
        <a:latin typeface="Times New Roman"/>
        <a:ea typeface="標楷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論文">
      <a:majorFont>
        <a:latin typeface="Times New Roman"/>
        <a:ea typeface="標楷體"/>
        <a:cs typeface=""/>
      </a:majorFont>
      <a:minorFont>
        <a:latin typeface="Calibri"/>
        <a:ea typeface="微軟正黑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15588</TotalTime>
  <Words>837</Words>
  <Application>Microsoft Office PowerPoint</Application>
  <PresentationFormat>寬螢幕</PresentationFormat>
  <Paragraphs>261</Paragraphs>
  <Slides>14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2</vt:i4>
      </vt:variant>
      <vt:variant>
        <vt:lpstr>投影片標題</vt:lpstr>
      </vt:variant>
      <vt:variant>
        <vt:i4>14</vt:i4>
      </vt:variant>
    </vt:vector>
  </HeadingPairs>
  <TitlesOfParts>
    <vt:vector size="20" baseType="lpstr">
      <vt:lpstr>Arial</vt:lpstr>
      <vt:lpstr>Calibri</vt:lpstr>
      <vt:lpstr>Cambria Math</vt:lpstr>
      <vt:lpstr>Times New Roman</vt:lpstr>
      <vt:lpstr>Office 佈景主題</vt:lpstr>
      <vt:lpstr>1_Office 佈景主題</vt:lpstr>
      <vt:lpstr>PowerPoint 簡報</vt:lpstr>
      <vt:lpstr>Abstract (1/2) </vt:lpstr>
      <vt:lpstr>Abstract (2/2) </vt:lpstr>
      <vt:lpstr>Baseline 16</vt:lpstr>
      <vt:lpstr>Baseline 19</vt:lpstr>
      <vt:lpstr>Problem Setup</vt:lpstr>
      <vt:lpstr>Input Representation</vt:lpstr>
      <vt:lpstr>Network</vt:lpstr>
      <vt:lpstr>Reinforcement Learning -A3C</vt:lpstr>
      <vt:lpstr>Visualization</vt:lpstr>
      <vt:lpstr>Opening Table</vt:lpstr>
      <vt:lpstr>Experiments</vt:lpstr>
      <vt:lpstr>Experiments</vt:lpstr>
      <vt:lpstr>Experiments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映妤 林</dc:creator>
  <cp:lastModifiedBy>pplab</cp:lastModifiedBy>
  <cp:revision>111</cp:revision>
  <dcterms:created xsi:type="dcterms:W3CDTF">2021-10-27T06:22:59Z</dcterms:created>
  <dcterms:modified xsi:type="dcterms:W3CDTF">2023-04-11T11:00:35Z</dcterms:modified>
</cp:coreProperties>
</file>