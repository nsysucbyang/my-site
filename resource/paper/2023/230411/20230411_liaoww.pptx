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78" r:id="rId4"/>
    <p:sldId id="279" r:id="rId5"/>
    <p:sldId id="280" r:id="rId6"/>
    <p:sldId id="281" r:id="rId7"/>
    <p:sldId id="282" r:id="rId8"/>
    <p:sldId id="283" r:id="rId9"/>
    <p:sldId id="284" r:id="rId10"/>
    <p:sldId id="285" r:id="rId11"/>
    <p:sldId id="286" r:id="rId12"/>
    <p:sldId id="287" r:id="rId13"/>
    <p:sldId id="288" r:id="rId14"/>
    <p:sldId id="289" r:id="rId15"/>
    <p:sldId id="269" r:id="rId16"/>
    <p:sldId id="277"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655" autoAdjust="0"/>
  </p:normalViewPr>
  <p:slideViewPr>
    <p:cSldViewPr snapToGrid="0">
      <p:cViewPr varScale="1">
        <p:scale>
          <a:sx n="65" d="100"/>
          <a:sy n="65" d="100"/>
        </p:scale>
        <p:origin x="90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2023/4/11</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3</a:t>
            </a:fld>
            <a:endParaRPr lang="zh-TW" altLang="en-US"/>
          </a:p>
        </p:txBody>
      </p:sp>
    </p:spTree>
    <p:extLst>
      <p:ext uri="{BB962C8B-B14F-4D97-AF65-F5344CB8AC3E}">
        <p14:creationId xmlns:p14="http://schemas.microsoft.com/office/powerpoint/2010/main" val="542801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4</a:t>
            </a:fld>
            <a:endParaRPr lang="zh-TW" altLang="en-US"/>
          </a:p>
        </p:txBody>
      </p:sp>
    </p:spTree>
    <p:extLst>
      <p:ext uri="{BB962C8B-B14F-4D97-AF65-F5344CB8AC3E}">
        <p14:creationId xmlns:p14="http://schemas.microsoft.com/office/powerpoint/2010/main" val="1871932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5</a:t>
            </a:fld>
            <a:endParaRPr lang="zh-TW" altLang="en-US"/>
          </a:p>
        </p:txBody>
      </p:sp>
    </p:spTree>
    <p:extLst>
      <p:ext uri="{BB962C8B-B14F-4D97-AF65-F5344CB8AC3E}">
        <p14:creationId xmlns:p14="http://schemas.microsoft.com/office/powerpoint/2010/main" val="4195131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6</a:t>
            </a:fld>
            <a:endParaRPr lang="zh-TW" altLang="en-US"/>
          </a:p>
        </p:txBody>
      </p:sp>
    </p:spTree>
    <p:extLst>
      <p:ext uri="{BB962C8B-B14F-4D97-AF65-F5344CB8AC3E}">
        <p14:creationId xmlns:p14="http://schemas.microsoft.com/office/powerpoint/2010/main" val="3527903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7</a:t>
            </a:fld>
            <a:endParaRPr lang="zh-TW" altLang="en-US"/>
          </a:p>
        </p:txBody>
      </p:sp>
    </p:spTree>
    <p:extLst>
      <p:ext uri="{BB962C8B-B14F-4D97-AF65-F5344CB8AC3E}">
        <p14:creationId xmlns:p14="http://schemas.microsoft.com/office/powerpoint/2010/main" val="1376094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8</a:t>
            </a:fld>
            <a:endParaRPr lang="zh-TW" altLang="en-US"/>
          </a:p>
        </p:txBody>
      </p:sp>
    </p:spTree>
    <p:extLst>
      <p:ext uri="{BB962C8B-B14F-4D97-AF65-F5344CB8AC3E}">
        <p14:creationId xmlns:p14="http://schemas.microsoft.com/office/powerpoint/2010/main" val="2141800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9</a:t>
            </a:fld>
            <a:endParaRPr lang="zh-TW" altLang="en-US"/>
          </a:p>
        </p:txBody>
      </p:sp>
    </p:spTree>
    <p:extLst>
      <p:ext uri="{BB962C8B-B14F-4D97-AF65-F5344CB8AC3E}">
        <p14:creationId xmlns:p14="http://schemas.microsoft.com/office/powerpoint/2010/main" val="3533287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10</a:t>
            </a:fld>
            <a:endParaRPr lang="zh-TW" altLang="en-US"/>
          </a:p>
        </p:txBody>
      </p:sp>
    </p:spTree>
    <p:extLst>
      <p:ext uri="{BB962C8B-B14F-4D97-AF65-F5344CB8AC3E}">
        <p14:creationId xmlns:p14="http://schemas.microsoft.com/office/powerpoint/2010/main" val="3312354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11</a:t>
            </a:fld>
            <a:endParaRPr lang="zh-TW" altLang="en-US"/>
          </a:p>
        </p:txBody>
      </p:sp>
    </p:spTree>
    <p:extLst>
      <p:ext uri="{BB962C8B-B14F-4D97-AF65-F5344CB8AC3E}">
        <p14:creationId xmlns:p14="http://schemas.microsoft.com/office/powerpoint/2010/main" val="1096588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12</a:t>
            </a:fld>
            <a:endParaRPr lang="zh-TW" altLang="en-US"/>
          </a:p>
        </p:txBody>
      </p:sp>
    </p:spTree>
    <p:extLst>
      <p:ext uri="{BB962C8B-B14F-4D97-AF65-F5344CB8AC3E}">
        <p14:creationId xmlns:p14="http://schemas.microsoft.com/office/powerpoint/2010/main" val="2047035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13</a:t>
            </a:fld>
            <a:endParaRPr lang="zh-TW" altLang="en-US"/>
          </a:p>
        </p:txBody>
      </p:sp>
    </p:spTree>
    <p:extLst>
      <p:ext uri="{BB962C8B-B14F-4D97-AF65-F5344CB8AC3E}">
        <p14:creationId xmlns:p14="http://schemas.microsoft.com/office/powerpoint/2010/main" val="3790552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14</a:t>
            </a:fld>
            <a:endParaRPr lang="zh-TW" altLang="en-US"/>
          </a:p>
        </p:txBody>
      </p:sp>
    </p:spTree>
    <p:extLst>
      <p:ext uri="{BB962C8B-B14F-4D97-AF65-F5344CB8AC3E}">
        <p14:creationId xmlns:p14="http://schemas.microsoft.com/office/powerpoint/2010/main" val="3490028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15</a:t>
            </a:fld>
            <a:endParaRPr lang="zh-TW" altLang="en-US"/>
          </a:p>
        </p:txBody>
      </p:sp>
    </p:spTree>
    <p:extLst>
      <p:ext uri="{BB962C8B-B14F-4D97-AF65-F5344CB8AC3E}">
        <p14:creationId xmlns:p14="http://schemas.microsoft.com/office/powerpoint/2010/main" val="1284227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16</a:t>
            </a:fld>
            <a:endParaRPr lang="zh-TW" altLang="en-US"/>
          </a:p>
        </p:txBody>
      </p:sp>
    </p:spTree>
    <p:extLst>
      <p:ext uri="{BB962C8B-B14F-4D97-AF65-F5344CB8AC3E}">
        <p14:creationId xmlns:p14="http://schemas.microsoft.com/office/powerpoint/2010/main" val="3779728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701DD569-BD2D-4D1C-B67A-2A5601E6B3E3}" type="datetime1">
              <a:rPr lang="zh-TW" altLang="en-US" smtClean="0"/>
              <a:t>2023/4/11</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613F9AF4-0F76-4C66-B441-D1B2D7ED3BEC}" type="datetime1">
              <a:rPr lang="zh-TW" altLang="en-US" smtClean="0"/>
              <a:t>2023/4/11</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298A6C79-1DF6-49C7-8CD7-FD6F5B614111}" type="datetime1">
              <a:rPr lang="zh-TW" altLang="en-US" smtClean="0"/>
              <a:t>2023/4/11</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D5D813F3-84C2-4D70-A0DE-40780363C9EE}" type="datetime1">
              <a:rPr lang="zh-TW" altLang="en-US" smtClean="0"/>
              <a:t>2023/4/11</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369FA993-B73B-4E0A-AC46-BDD6B2FA04A9}" type="datetime1">
              <a:rPr lang="zh-TW" altLang="en-US" smtClean="0"/>
              <a:t>2023/4/11</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7986ADAD-A8C5-4E4F-97C2-B2F188A7EEC4}" type="datetime1">
              <a:rPr lang="zh-TW" altLang="en-US" smtClean="0"/>
              <a:t>2023/4/11</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875DE65-CDBA-47B3-8C63-EAD937C328D1}" type="datetime1">
              <a:rPr lang="zh-TW" altLang="en-US" smtClean="0"/>
              <a:t>2023/4/11</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02E9CB4A-921C-4216-9056-986295B6B351}" type="datetime1">
              <a:rPr lang="zh-TW" altLang="en-US" smtClean="0"/>
              <a:t>2023/4/11</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16C2F44B-5705-4772-8785-D8AAB7BCD3BF}" type="datetime1">
              <a:rPr lang="zh-TW" altLang="en-US" smtClean="0"/>
              <a:t>2023/4/11</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44000920-BF4E-4A34-B8B5-5D2BB9836F35}" type="datetime1">
              <a:rPr lang="zh-TW" altLang="en-US" smtClean="0"/>
              <a:t>2023/4/11</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DD1923D5-CB9E-42C4-A443-74EE43A78F1A}" type="datetime1">
              <a:rPr lang="zh-TW" altLang="en-US" smtClean="0"/>
              <a:t>2023/4/11</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9CDBA5-E58B-4CB2-961D-91717090BBCB}" type="datetime1">
              <a:rPr lang="zh-TW" altLang="en-US" smtClean="0"/>
              <a:t>2023/4/11</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966552" cy="2387600"/>
          </a:xfrm>
        </p:spPr>
        <p:txBody>
          <a:bodyPr>
            <a:noAutofit/>
          </a:bodyPr>
          <a:lstStyle/>
          <a:p>
            <a:r>
              <a:rPr lang="en-US" altLang="zh-TW" sz="4400" b="1" dirty="0">
                <a:latin typeface="Times New Roman" panose="02020603050405020304" pitchFamily="18" charset="0"/>
                <a:cs typeface="Times New Roman" panose="02020603050405020304" pitchFamily="18" charset="0"/>
              </a:rPr>
              <a:t>Order-Preserving Pattern Matching with Scaling</a:t>
            </a:r>
            <a:endParaRPr lang="zh-TW" altLang="en-US"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786014" y="3928587"/>
            <a:ext cx="10842447" cy="1655762"/>
          </a:xfrm>
        </p:spPr>
        <p:txBody>
          <a:bodyPr>
            <a:normAutofit/>
          </a:bodyPr>
          <a:lstStyle/>
          <a:p>
            <a:r>
              <a:rPr lang="en-US" altLang="zh-TW" dirty="0" err="1">
                <a:latin typeface="Times New Roman" panose="02020603050405020304" pitchFamily="18" charset="0"/>
                <a:cs typeface="Times New Roman" panose="02020603050405020304" pitchFamily="18" charset="0"/>
              </a:rPr>
              <a:t>Youngho</a:t>
            </a:r>
            <a:r>
              <a:rPr lang="en-US" altLang="zh-TW" dirty="0">
                <a:latin typeface="Times New Roman" panose="02020603050405020304" pitchFamily="18" charset="0"/>
                <a:cs typeface="Times New Roman" panose="02020603050405020304" pitchFamily="18" charset="0"/>
              </a:rPr>
              <a:t> Kim, </a:t>
            </a:r>
            <a:r>
              <a:rPr lang="en-US" altLang="zh-TW" dirty="0" err="1">
                <a:latin typeface="Times New Roman" panose="02020603050405020304" pitchFamily="18" charset="0"/>
                <a:cs typeface="Times New Roman" panose="02020603050405020304" pitchFamily="18" charset="0"/>
              </a:rPr>
              <a:t>Munseong</a:t>
            </a:r>
            <a:r>
              <a:rPr lang="en-US" altLang="zh-TW" dirty="0">
                <a:latin typeface="Times New Roman" panose="02020603050405020304" pitchFamily="18" charset="0"/>
                <a:cs typeface="Times New Roman" panose="02020603050405020304" pitchFamily="18" charset="0"/>
              </a:rPr>
              <a:t> Kang, </a:t>
            </a:r>
            <a:r>
              <a:rPr lang="en-US" altLang="zh-TW" dirty="0" err="1">
                <a:latin typeface="Times New Roman" panose="02020603050405020304" pitchFamily="18" charset="0"/>
                <a:cs typeface="Times New Roman" panose="02020603050405020304" pitchFamily="18" charset="0"/>
              </a:rPr>
              <a:t>Joong</a:t>
            </a:r>
            <a:r>
              <a:rPr lang="en-US" altLang="zh-TW" dirty="0">
                <a:latin typeface="Times New Roman" panose="02020603050405020304" pitchFamily="18" charset="0"/>
                <a:cs typeface="Times New Roman" panose="02020603050405020304" pitchFamily="18" charset="0"/>
              </a:rPr>
              <a:t> Chae Na, Jeong </a:t>
            </a:r>
            <a:r>
              <a:rPr lang="en-US" altLang="zh-TW" dirty="0" err="1">
                <a:latin typeface="Times New Roman" panose="02020603050405020304" pitchFamily="18" charset="0"/>
                <a:cs typeface="Times New Roman" panose="02020603050405020304" pitchFamily="18" charset="0"/>
              </a:rPr>
              <a:t>Seop</a:t>
            </a:r>
            <a:r>
              <a:rPr lang="en-US" altLang="zh-TW" dirty="0">
                <a:latin typeface="Times New Roman" panose="02020603050405020304" pitchFamily="18" charset="0"/>
                <a:cs typeface="Times New Roman" panose="02020603050405020304" pitchFamily="18" charset="0"/>
              </a:rPr>
              <a:t> Sim, </a:t>
            </a:r>
          </a:p>
          <a:p>
            <a:r>
              <a:rPr lang="fr-FR" altLang="zh-TW" sz="2500" dirty="0">
                <a:latin typeface="Times New Roman" panose="02020603050405020304" pitchFamily="18" charset="0"/>
                <a:cs typeface="Times New Roman" panose="02020603050405020304" pitchFamily="18" charset="0"/>
              </a:rPr>
              <a:t>Information </a:t>
            </a:r>
            <a:r>
              <a:rPr lang="fr-FR" altLang="zh-TW" sz="2500" dirty="0" err="1">
                <a:latin typeface="Times New Roman" panose="02020603050405020304" pitchFamily="18" charset="0"/>
                <a:cs typeface="Times New Roman" panose="02020603050405020304" pitchFamily="18" charset="0"/>
              </a:rPr>
              <a:t>Processing</a:t>
            </a:r>
            <a:r>
              <a:rPr lang="fr-FR" altLang="zh-TW" sz="2500" dirty="0">
                <a:latin typeface="Times New Roman" panose="02020603050405020304" pitchFamily="18" charset="0"/>
                <a:cs typeface="Times New Roman" panose="02020603050405020304" pitchFamily="18" charset="0"/>
              </a:rPr>
              <a:t> </a:t>
            </a:r>
            <a:r>
              <a:rPr lang="fr-FR" altLang="zh-TW" sz="2500" dirty="0" err="1">
                <a:latin typeface="Times New Roman" panose="02020603050405020304" pitchFamily="18" charset="0"/>
                <a:cs typeface="Times New Roman" panose="02020603050405020304" pitchFamily="18" charset="0"/>
              </a:rPr>
              <a:t>Letters</a:t>
            </a:r>
            <a:r>
              <a:rPr lang="fr-FR" altLang="zh-TW" sz="2500" dirty="0">
                <a:latin typeface="Times New Roman" panose="02020603050405020304" pitchFamily="18" charset="0"/>
                <a:cs typeface="Times New Roman" panose="02020603050405020304" pitchFamily="18" charset="0"/>
              </a:rPr>
              <a:t>, Volume 180, 2023</a:t>
            </a:r>
            <a:endParaRPr lang="zh-TW" altLang="en-US"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Wen-Wen Liao</a:t>
            </a:r>
          </a:p>
          <a:p>
            <a:r>
              <a:rPr kumimoji="1" lang="en" altLang="zh-TW" dirty="0">
                <a:latin typeface="Times New Roman" panose="02020603050405020304" pitchFamily="18" charset="0"/>
                <a:cs typeface="Times New Roman" panose="02020603050405020304" pitchFamily="18" charset="0"/>
              </a:rPr>
              <a:t>Date: Apr. 11, 2023</a:t>
            </a: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a:normAutofit/>
          </a:bodyPr>
          <a:lstStyle/>
          <a:p>
            <a:pPr marL="0" indent="0">
              <a:lnSpc>
                <a:spcPct val="110000"/>
              </a:lnSpc>
              <a:buNone/>
            </a:pPr>
            <a:r>
              <a:rPr kumimoji="1" lang="en-US" altLang="zh-TW" sz="2600" dirty="0">
                <a:latin typeface="Times New Roman" panose="02020603050405020304" pitchFamily="18" charset="0"/>
                <a:cs typeface="Times New Roman" panose="02020603050405020304" pitchFamily="18" charset="0"/>
              </a:rPr>
              <a:t>Given a text T and a pattern P, the order-preserving pattern matching (OPPM for short) problem is to find all substrings of T which have the same relative orders as P. Recently, approximate OPPM that allows errors have been studied such as OPPM with k-mismatches. In this paper we define the OPPM with scaling which is a novel criteria for approximate OPPM by considering the relative orders of cusps and the scale of lengths of strings between them. Also we present an algorithm to solve the OPPM problem with scaling in O(n + m </a:t>
            </a:r>
            <a:r>
              <a:rPr kumimoji="1" lang="en-US" altLang="zh-TW" sz="2600" dirty="0" err="1">
                <a:latin typeface="Times New Roman" panose="02020603050405020304" pitchFamily="18" charset="0"/>
                <a:cs typeface="Times New Roman" panose="02020603050405020304" pitchFamily="18" charset="0"/>
              </a:rPr>
              <a:t>logm</a:t>
            </a:r>
            <a:r>
              <a:rPr kumimoji="1" lang="en-US" altLang="zh-TW" sz="2600" dirty="0">
                <a:latin typeface="Times New Roman" panose="02020603050405020304" pitchFamily="18" charset="0"/>
                <a:cs typeface="Times New Roman" panose="02020603050405020304" pitchFamily="18" charset="0"/>
              </a:rPr>
              <a:t>) time, which is the same time bound as the best known exact OPPM algorithm.</a:t>
            </a:r>
            <a:endParaRPr kumimoji="1" lang="zh-TW" altLang="en-US"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Scaled order-isomorphism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3</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𝑋</m:t>
                    </m:r>
                  </m:oMath>
                </a14:m>
                <a:r>
                  <a:rPr kumimoji="1" lang="en-US" altLang="zh-TW" dirty="0">
                    <a:latin typeface="標楷體" panose="03000509000000000000" pitchFamily="65" charset="-120"/>
                    <a:ea typeface="標楷體" panose="03000509000000000000" pitchFamily="65" charset="-120"/>
                    <a:cs typeface="Times New Roman" panose="02020603050405020304" pitchFamily="18" charset="0"/>
                  </a:rPr>
                  <a:t> = </a:t>
                </a:r>
                <a:r>
                  <a:rPr kumimoji="1" lang="en-US" altLang="zh-TW" sz="2600" dirty="0">
                    <a:latin typeface="Times New Roman" panose="02020603050405020304" pitchFamily="18" charset="0"/>
                    <a:cs typeface="Times New Roman" panose="02020603050405020304" pitchFamily="18" charset="0"/>
                  </a:rPr>
                  <a:t>(1, 10, 6, 2, 7)</a:t>
                </a:r>
              </a:p>
              <a:p>
                <a14:m>
                  <m:oMath xmlns:m="http://schemas.openxmlformats.org/officeDocument/2006/math">
                    <m:sSup>
                      <m:sSupPr>
                        <m:ctrlPr>
                          <a:rPr kumimoji="1"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𝑋</m:t>
                        </m:r>
                      </m:e>
                      <m:sup>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𝐶</m:t>
                        </m:r>
                      </m:sup>
                    </m:sSup>
                    <m:r>
                      <a:rPr kumimoji="1" lang="en-US" altLang="zh-TW" b="0" i="0" smtClean="0">
                        <a:latin typeface="Cambria Math" panose="02040503050406030204" pitchFamily="18" charset="0"/>
                        <a:ea typeface="標楷體" panose="03000509000000000000" pitchFamily="65" charset="-120"/>
                        <a:cs typeface="Times New Roman" panose="02020603050405020304" pitchFamily="18" charset="0"/>
                      </a:rPr>
                      <m:t> </m:t>
                    </m:r>
                  </m:oMath>
                </a14:m>
                <a:r>
                  <a:rPr kumimoji="1" lang="en-US" altLang="zh-TW" dirty="0">
                    <a:latin typeface="標楷體" panose="03000509000000000000" pitchFamily="65" charset="-120"/>
                    <a:ea typeface="標楷體" panose="03000509000000000000" pitchFamily="65" charset="-120"/>
                    <a:cs typeface="Times New Roman" panose="02020603050405020304" pitchFamily="18" charset="0"/>
                  </a:rPr>
                  <a:t>= </a:t>
                </a:r>
                <a:r>
                  <a:rPr kumimoji="1" lang="en-US" altLang="zh-TW" sz="2600" dirty="0">
                    <a:latin typeface="Times New Roman" panose="02020603050405020304" pitchFamily="18" charset="0"/>
                    <a:cs typeface="Times New Roman" panose="02020603050405020304" pitchFamily="18" charset="0"/>
                  </a:rPr>
                  <a:t>(1, 10, 2, 7)</a:t>
                </a:r>
              </a:p>
              <a:p>
                <a14:m>
                  <m:oMath xmlns:m="http://schemas.openxmlformats.org/officeDocument/2006/math">
                    <m:sSup>
                      <m:sSupPr>
                        <m:ctrlPr>
                          <a:rPr kumimoji="1" lang="en-US" altLang="zh-TW" i="1">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𝑋</m:t>
                        </m:r>
                      </m:e>
                      <m:sup>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𝑅</m:t>
                        </m:r>
                      </m:sup>
                    </m:sSup>
                    <m:r>
                      <a:rPr kumimoji="1" lang="en-US" altLang="zh-TW" i="1">
                        <a:latin typeface="Cambria Math" panose="02040503050406030204" pitchFamily="18" charset="0"/>
                        <a:ea typeface="標楷體" panose="03000509000000000000" pitchFamily="65" charset="-120"/>
                        <a:cs typeface="Times New Roman" panose="02020603050405020304" pitchFamily="18" charset="0"/>
                      </a:rPr>
                      <m:t> </m:t>
                    </m:r>
                  </m:oMath>
                </a14:m>
                <a:r>
                  <a:rPr kumimoji="1" lang="en-US" altLang="zh-TW" dirty="0">
                    <a:latin typeface="標楷體" panose="03000509000000000000" pitchFamily="65" charset="-120"/>
                    <a:ea typeface="標楷體" panose="03000509000000000000" pitchFamily="65" charset="-120"/>
                    <a:cs typeface="Times New Roman" panose="02020603050405020304" pitchFamily="18" charset="0"/>
                  </a:rPr>
                  <a:t>= </a:t>
                </a:r>
                <a:r>
                  <a:rPr kumimoji="1" lang="en-US" altLang="zh-TW" sz="2600" dirty="0">
                    <a:latin typeface="Times New Roman" panose="02020603050405020304" pitchFamily="18" charset="0"/>
                    <a:cs typeface="Times New Roman" panose="02020603050405020304" pitchFamily="18" charset="0"/>
                  </a:rPr>
                  <a:t>(1, 2, 1)</a:t>
                </a:r>
              </a:p>
              <a:p>
                <a:pPr marL="457200" lvl="1" indent="0">
                  <a:buNone/>
                </a:pPr>
                <a:endParaRPr kumimoji="1" lang="en-US" altLang="zh-TW" sz="22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t="-2469"/>
                </a:stretch>
              </a:blipFill>
            </p:spPr>
            <p:txBody>
              <a:bodyPr/>
              <a:lstStyle/>
              <a:p>
                <a:r>
                  <a:rPr lang="zh-TW" altLang="en-US">
                    <a:noFill/>
                  </a:rPr>
                  <a:t> </a:t>
                </a:r>
              </a:p>
            </p:txBody>
          </p:sp>
        </mc:Fallback>
      </mc:AlternateContent>
      <p:pic>
        <p:nvPicPr>
          <p:cNvPr id="7" name="Picture 6">
            <a:extLst>
              <a:ext uri="{FF2B5EF4-FFF2-40B4-BE49-F238E27FC236}">
                <a16:creationId xmlns:a16="http://schemas.microsoft.com/office/drawing/2014/main" id="{69EACACC-B09B-DEE4-D2AB-ADB0D83E5B82}"/>
              </a:ext>
            </a:extLst>
          </p:cNvPr>
          <p:cNvPicPr>
            <a:picLocks noChangeAspect="1"/>
          </p:cNvPicPr>
          <p:nvPr/>
        </p:nvPicPr>
        <p:blipFill>
          <a:blip r:embed="rId4"/>
          <a:stretch>
            <a:fillRect/>
          </a:stretch>
        </p:blipFill>
        <p:spPr>
          <a:xfrm>
            <a:off x="5652926" y="1770063"/>
            <a:ext cx="3535898" cy="3036388"/>
          </a:xfrm>
          <a:prstGeom prst="rect">
            <a:avLst/>
          </a:prstGeom>
        </p:spPr>
      </p:pic>
      <p:sp>
        <p:nvSpPr>
          <p:cNvPr id="8" name="Oval 7">
            <a:extLst>
              <a:ext uri="{FF2B5EF4-FFF2-40B4-BE49-F238E27FC236}">
                <a16:creationId xmlns:a16="http://schemas.microsoft.com/office/drawing/2014/main" id="{1DBA9ECC-F5C9-8F22-F74A-A5424BF96559}"/>
              </a:ext>
            </a:extLst>
          </p:cNvPr>
          <p:cNvSpPr/>
          <p:nvPr/>
        </p:nvSpPr>
        <p:spPr>
          <a:xfrm>
            <a:off x="7116075" y="1833884"/>
            <a:ext cx="484094" cy="47004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Oval 8">
            <a:extLst>
              <a:ext uri="{FF2B5EF4-FFF2-40B4-BE49-F238E27FC236}">
                <a16:creationId xmlns:a16="http://schemas.microsoft.com/office/drawing/2014/main" id="{13F4FC48-E347-B403-B3A6-3E6A0EDE5056}"/>
              </a:ext>
            </a:extLst>
          </p:cNvPr>
          <p:cNvSpPr/>
          <p:nvPr/>
        </p:nvSpPr>
        <p:spPr>
          <a:xfrm>
            <a:off x="8126506" y="3429000"/>
            <a:ext cx="484094" cy="47004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Oval 9">
            <a:extLst>
              <a:ext uri="{FF2B5EF4-FFF2-40B4-BE49-F238E27FC236}">
                <a16:creationId xmlns:a16="http://schemas.microsoft.com/office/drawing/2014/main" id="{3F402E8A-E610-5FC2-9F2A-BA7650146996}"/>
              </a:ext>
            </a:extLst>
          </p:cNvPr>
          <p:cNvSpPr/>
          <p:nvPr/>
        </p:nvSpPr>
        <p:spPr>
          <a:xfrm>
            <a:off x="8704730" y="2425555"/>
            <a:ext cx="484094" cy="47004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Oval 10">
            <a:extLst>
              <a:ext uri="{FF2B5EF4-FFF2-40B4-BE49-F238E27FC236}">
                <a16:creationId xmlns:a16="http://schemas.microsoft.com/office/drawing/2014/main" id="{B7CD3C2E-258B-5C1A-0EC2-EB834E2A416B}"/>
              </a:ext>
            </a:extLst>
          </p:cNvPr>
          <p:cNvSpPr/>
          <p:nvPr/>
        </p:nvSpPr>
        <p:spPr>
          <a:xfrm>
            <a:off x="6560264" y="3583443"/>
            <a:ext cx="484094" cy="47004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TextBox 2">
            <a:extLst>
              <a:ext uri="{FF2B5EF4-FFF2-40B4-BE49-F238E27FC236}">
                <a16:creationId xmlns:a16="http://schemas.microsoft.com/office/drawing/2014/main" id="{42B239CB-6921-3C7F-287C-F89116D31AA5}"/>
              </a:ext>
            </a:extLst>
          </p:cNvPr>
          <p:cNvSpPr txBox="1"/>
          <p:nvPr/>
        </p:nvSpPr>
        <p:spPr>
          <a:xfrm>
            <a:off x="6915130" y="1338043"/>
            <a:ext cx="1011490" cy="400110"/>
          </a:xfrm>
          <a:prstGeom prst="rect">
            <a:avLst/>
          </a:prstGeom>
          <a:noFill/>
        </p:spPr>
        <p:txBody>
          <a:bodyPr wrap="square" rtlCol="0">
            <a:spAutoFit/>
          </a:bodyPr>
          <a:lstStyle/>
          <a:p>
            <a:r>
              <a:rPr kumimoji="1" lang="en-US" altLang="zh-TW" sz="2000" dirty="0">
                <a:latin typeface="Times New Roman" panose="02020603050405020304" pitchFamily="18" charset="0"/>
                <a:cs typeface="Times New Roman" panose="02020603050405020304" pitchFamily="18" charset="0"/>
              </a:rPr>
              <a:t>cusp</a:t>
            </a:r>
            <a:endParaRPr kumimoji="1" lang="zh-TW" alt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C0B8C4-F3EF-AF89-661F-1936E66C88AC}"/>
              </a:ext>
            </a:extLst>
          </p:cNvPr>
          <p:cNvSpPr txBox="1"/>
          <p:nvPr/>
        </p:nvSpPr>
        <p:spPr>
          <a:xfrm>
            <a:off x="8610600" y="3682953"/>
            <a:ext cx="1011490" cy="400110"/>
          </a:xfrm>
          <a:prstGeom prst="rect">
            <a:avLst/>
          </a:prstGeom>
          <a:noFill/>
        </p:spPr>
        <p:txBody>
          <a:bodyPr wrap="square" rtlCol="0">
            <a:spAutoFit/>
          </a:bodyPr>
          <a:lstStyle/>
          <a:p>
            <a:r>
              <a:rPr kumimoji="1" lang="en-US" altLang="zh-TW" sz="2000" dirty="0">
                <a:latin typeface="Times New Roman" panose="02020603050405020304" pitchFamily="18" charset="0"/>
                <a:cs typeface="Times New Roman" panose="02020603050405020304" pitchFamily="18" charset="0"/>
              </a:rPr>
              <a:t>cusp</a:t>
            </a:r>
            <a:endParaRPr kumimoji="1" lang="zh-TW" altLang="en-US"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BC19DAA-8076-13D7-CB0C-2F7B08BC1F3F}"/>
              </a:ext>
            </a:extLst>
          </p:cNvPr>
          <p:cNvSpPr txBox="1"/>
          <p:nvPr/>
        </p:nvSpPr>
        <p:spPr>
          <a:xfrm>
            <a:off x="7778404" y="1187105"/>
            <a:ext cx="1337941" cy="400110"/>
          </a:xfrm>
          <a:prstGeom prst="rect">
            <a:avLst/>
          </a:prstGeom>
          <a:noFill/>
        </p:spPr>
        <p:txBody>
          <a:bodyPr wrap="square" rtlCol="0">
            <a:spAutoFit/>
          </a:bodyPr>
          <a:lstStyle/>
          <a:p>
            <a:r>
              <a:rPr kumimoji="1" lang="en-US" altLang="zh-TW" sz="2000" dirty="0">
                <a:latin typeface="Times New Roman" panose="02020603050405020304" pitchFamily="18" charset="0"/>
                <a:cs typeface="Times New Roman" panose="02020603050405020304" pitchFamily="18" charset="0"/>
              </a:rPr>
              <a:t>run-length</a:t>
            </a:r>
            <a:endParaRPr kumimoji="1" lang="zh-TW" altLang="en-US" sz="2000" dirty="0">
              <a:latin typeface="Times New Roman" panose="02020603050405020304" pitchFamily="18" charset="0"/>
              <a:cs typeface="Times New Roman" panose="02020603050405020304" pitchFamily="18" charset="0"/>
            </a:endParaRPr>
          </a:p>
        </p:txBody>
      </p:sp>
      <p:sp>
        <p:nvSpPr>
          <p:cNvPr id="13" name="Right Brace 12">
            <a:extLst>
              <a:ext uri="{FF2B5EF4-FFF2-40B4-BE49-F238E27FC236}">
                <a16:creationId xmlns:a16="http://schemas.microsoft.com/office/drawing/2014/main" id="{3AA76277-80EA-E2E2-AE42-5F527FE011D3}"/>
              </a:ext>
            </a:extLst>
          </p:cNvPr>
          <p:cNvSpPr/>
          <p:nvPr/>
        </p:nvSpPr>
        <p:spPr>
          <a:xfrm rot="16200000">
            <a:off x="7719591" y="1255934"/>
            <a:ext cx="414058" cy="1051188"/>
          </a:xfrm>
          <a:prstGeom prst="rightBrace">
            <a:avLst>
              <a:gd name="adj1" fmla="val 8333"/>
              <a:gd name="adj2" fmla="val 75058"/>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a:p>
        </p:txBody>
      </p:sp>
      <p:cxnSp>
        <p:nvCxnSpPr>
          <p:cNvPr id="17" name="Straight Connector 16">
            <a:extLst>
              <a:ext uri="{FF2B5EF4-FFF2-40B4-BE49-F238E27FC236}">
                <a16:creationId xmlns:a16="http://schemas.microsoft.com/office/drawing/2014/main" id="{170B0B4A-44BC-79C3-9B18-7AE5A80F1803}"/>
              </a:ext>
            </a:extLst>
          </p:cNvPr>
          <p:cNvCxnSpPr/>
          <p:nvPr/>
        </p:nvCxnSpPr>
        <p:spPr>
          <a:xfrm>
            <a:off x="8452214" y="1988557"/>
            <a:ext cx="0" cy="1440443"/>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840571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K-scaled order-isomorphic</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4</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85255"/>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𝑋</m:t>
                    </m:r>
                    <m:sSup>
                      <m:sSupPr>
                        <m:ctrlP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e>
                      <m:sup>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𝑘</m:t>
                        </m:r>
                      </m:sup>
                    </m:sSup>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𝑌</m:t>
                    </m:r>
                  </m:oMath>
                </a14:m>
                <a:endParaRPr kumimoji="1" lang="en-US" altLang="zh-TW" dirty="0">
                  <a:latin typeface="標楷體" panose="03000509000000000000" pitchFamily="65" charset="-120"/>
                  <a:ea typeface="標楷體" panose="03000509000000000000" pitchFamily="65" charset="-120"/>
                  <a:cs typeface="Times New Roman" panose="02020603050405020304" pitchFamily="18" charset="0"/>
                </a:endParaRPr>
              </a:p>
              <a:p>
                <a14:m>
                  <m:oMath xmlns:m="http://schemas.openxmlformats.org/officeDocument/2006/math">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𝐶𝑜𝑛𝑑𝑖𝑡𝑖𝑜𝑛</m:t>
                    </m:r>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 1: |</m:t>
                    </m:r>
                    <m:sSup>
                      <m:sSupPr>
                        <m:ctrlPr>
                          <a:rPr kumimoji="1" lang="en-US" altLang="zh-TW" i="1">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𝑋</m:t>
                        </m:r>
                      </m:e>
                      <m:sup>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𝑅</m:t>
                        </m:r>
                      </m:sup>
                    </m:sSup>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m:t>
                    </m:r>
                    <m:sSup>
                      <m:sSupPr>
                        <m:ctrlPr>
                          <a:rPr kumimoji="1" lang="en-US" altLang="zh-TW" i="1">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𝑌</m:t>
                        </m:r>
                      </m:e>
                      <m:sup>
                        <m:r>
                          <a:rPr kumimoji="1" lang="en-US" altLang="zh-TW" i="1">
                            <a:latin typeface="Cambria Math" panose="02040503050406030204" pitchFamily="18" charset="0"/>
                            <a:ea typeface="標楷體" panose="03000509000000000000" pitchFamily="65" charset="-120"/>
                            <a:cs typeface="Times New Roman" panose="02020603050405020304" pitchFamily="18" charset="0"/>
                          </a:rPr>
                          <m:t>𝑅</m:t>
                        </m:r>
                      </m:sup>
                    </m:sSup>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 </m:t>
                    </m:r>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𝑎𝑛𝑑</m:t>
                    </m:r>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 </m:t>
                    </m:r>
                    <m:r>
                      <a:rPr kumimoji="1" lang="en-US" altLang="zh-TW" i="1" dirty="0">
                        <a:latin typeface="Cambria Math" panose="02040503050406030204" pitchFamily="18" charset="0"/>
                        <a:ea typeface="標楷體" panose="03000509000000000000" pitchFamily="65" charset="-120"/>
                        <a:cs typeface="Times New Roman" panose="02020603050405020304" pitchFamily="18" charset="0"/>
                      </a:rPr>
                      <m:t>𝑘</m:t>
                    </m:r>
                    <m:r>
                      <a:rPr kumimoji="1" lang="zh-TW" altLang="en-US" i="1" dirty="0">
                        <a:latin typeface="Cambria Math" panose="02040503050406030204" pitchFamily="18" charset="0"/>
                        <a:ea typeface="標楷體" panose="03000509000000000000" pitchFamily="65" charset="-120"/>
                        <a:cs typeface="Times New Roman" panose="02020603050405020304" pitchFamily="18" charset="0"/>
                      </a:rPr>
                      <m:t> </m:t>
                    </m:r>
                    <m:r>
                      <a:rPr kumimoji="1" lang="en-US" altLang="zh-TW" i="1" dirty="0">
                        <a:latin typeface="Cambria Math" panose="02040503050406030204" pitchFamily="18" charset="0"/>
                        <a:ea typeface="標楷體" panose="03000509000000000000" pitchFamily="65" charset="-120"/>
                        <a:cs typeface="Times New Roman" panose="02020603050405020304" pitchFamily="18" charset="0"/>
                      </a:rPr>
                      <m:t>×</m:t>
                    </m:r>
                    <m:r>
                      <a:rPr lang="en-US" altLang="zh-TW" i="1" dirty="0" smtClean="0">
                        <a:latin typeface="Cambria Math" panose="02040503050406030204" pitchFamily="18" charset="0"/>
                      </a:rPr>
                      <m:t> </m:t>
                    </m:r>
                    <m:sSup>
                      <m:sSupPr>
                        <m:ctrlPr>
                          <a:rPr kumimoji="1" lang="en-US" altLang="zh-TW" i="1">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i="1">
                            <a:latin typeface="Cambria Math" panose="02040503050406030204" pitchFamily="18" charset="0"/>
                            <a:ea typeface="標楷體" panose="03000509000000000000" pitchFamily="65" charset="-120"/>
                            <a:cs typeface="Times New Roman" panose="02020603050405020304" pitchFamily="18" charset="0"/>
                          </a:rPr>
                          <m:t>𝑋</m:t>
                        </m:r>
                      </m:e>
                      <m:sup>
                        <m:r>
                          <a:rPr kumimoji="1" lang="en-US" altLang="zh-TW" i="1">
                            <a:latin typeface="Cambria Math" panose="02040503050406030204" pitchFamily="18" charset="0"/>
                            <a:ea typeface="標楷體" panose="03000509000000000000" pitchFamily="65" charset="-120"/>
                            <a:cs typeface="Times New Roman" panose="02020603050405020304" pitchFamily="18" charset="0"/>
                          </a:rPr>
                          <m:t>𝑅</m:t>
                        </m:r>
                      </m:sup>
                    </m:sSup>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 = </m:t>
                    </m:r>
                    <m:sSup>
                      <m:sSupPr>
                        <m:ctrlPr>
                          <a:rPr kumimoji="1" lang="en-US" altLang="zh-TW" i="1">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𝑌</m:t>
                        </m:r>
                      </m:e>
                      <m:sup>
                        <m:r>
                          <a:rPr kumimoji="1" lang="en-US" altLang="zh-TW" i="1">
                            <a:latin typeface="Cambria Math" panose="02040503050406030204" pitchFamily="18" charset="0"/>
                            <a:ea typeface="標楷體" panose="03000509000000000000" pitchFamily="65" charset="-120"/>
                            <a:cs typeface="Times New Roman" panose="02020603050405020304" pitchFamily="18" charset="0"/>
                          </a:rPr>
                          <m:t>𝑅</m:t>
                        </m:r>
                      </m:sup>
                    </m:sSup>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𝑓𝑜𝑟</m:t>
                    </m:r>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 </m:t>
                    </m:r>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𝑎𝑙𝑙</m:t>
                    </m:r>
                    <m:r>
                      <a:rPr kumimoji="1" lang="en-US" altLang="zh-TW" i="1" dirty="0" smtClean="0">
                        <a:latin typeface="Cambria Math" panose="02040503050406030204" pitchFamily="18" charset="0"/>
                        <a:ea typeface="標楷體" panose="03000509000000000000" pitchFamily="65" charset="-120"/>
                        <a:cs typeface="Times New Roman" panose="02020603050405020304" pitchFamily="18" charset="0"/>
                      </a:rPr>
                      <m:t> 0≤</m:t>
                    </m:r>
                    <m:r>
                      <a:rPr kumimoji="1" lang="en-US" altLang="zh-TW" b="0" i="1" dirty="0" smtClean="0">
                        <a:latin typeface="Cambria Math" panose="02040503050406030204" pitchFamily="18" charset="0"/>
                        <a:ea typeface="標楷體" panose="03000509000000000000" pitchFamily="65" charset="-120"/>
                        <a:cs typeface="Times New Roman" panose="02020603050405020304" pitchFamily="18" charset="0"/>
                      </a:rPr>
                      <m:t>𝑖</m:t>
                    </m:r>
                    <m:r>
                      <a:rPr kumimoji="1" lang="zh-TW" altLang="en-US" i="1" dirty="0">
                        <a:latin typeface="Cambria Math" panose="02040503050406030204" pitchFamily="18" charset="0"/>
                        <a:ea typeface="標楷體" panose="03000509000000000000" pitchFamily="65" charset="-120"/>
                        <a:cs typeface="Times New Roman" panose="02020603050405020304" pitchFamily="18" charset="0"/>
                      </a:rPr>
                      <m:t>≤</m:t>
                    </m:r>
                    <m:r>
                      <a:rPr kumimoji="1" lang="en-US" altLang="zh-TW" i="1" dirty="0">
                        <a:latin typeface="Cambria Math" panose="02040503050406030204" pitchFamily="18" charset="0"/>
                        <a:ea typeface="標楷體" panose="03000509000000000000" pitchFamily="65" charset="-120"/>
                        <a:cs typeface="Times New Roman" panose="02020603050405020304" pitchFamily="18" charset="0"/>
                      </a:rPr>
                      <m:t>|</m:t>
                    </m:r>
                    <m:sSup>
                      <m:sSupPr>
                        <m:ctrlPr>
                          <a:rPr kumimoji="1" lang="en-US" altLang="zh-TW" i="1">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i="1">
                            <a:latin typeface="Cambria Math" panose="02040503050406030204" pitchFamily="18" charset="0"/>
                            <a:ea typeface="標楷體" panose="03000509000000000000" pitchFamily="65" charset="-120"/>
                            <a:cs typeface="Times New Roman" panose="02020603050405020304" pitchFamily="18" charset="0"/>
                          </a:rPr>
                          <m:t>𝑋</m:t>
                        </m:r>
                      </m:e>
                      <m:sup>
                        <m:r>
                          <a:rPr kumimoji="1" lang="en-US" altLang="zh-TW" i="1">
                            <a:latin typeface="Cambria Math" panose="02040503050406030204" pitchFamily="18" charset="0"/>
                            <a:ea typeface="標楷體" panose="03000509000000000000" pitchFamily="65" charset="-120"/>
                            <a:cs typeface="Times New Roman" panose="02020603050405020304" pitchFamily="18" charset="0"/>
                          </a:rPr>
                          <m:t>𝑅</m:t>
                        </m:r>
                      </m:sup>
                    </m:sSup>
                    <m:r>
                      <a:rPr kumimoji="1" lang="en-US" altLang="zh-TW" i="1" dirty="0">
                        <a:latin typeface="Cambria Math" panose="02040503050406030204" pitchFamily="18" charset="0"/>
                        <a:ea typeface="標楷體" panose="03000509000000000000" pitchFamily="65" charset="-120"/>
                        <a:cs typeface="Times New Roman" panose="02020603050405020304" pitchFamily="18" charset="0"/>
                      </a:rPr>
                      <m:t>|</m:t>
                    </m:r>
                  </m:oMath>
                </a14:m>
                <a:endParaRPr kumimoji="1" lang="en-US" altLang="zh-TW" dirty="0">
                  <a:latin typeface="標楷體" panose="03000509000000000000" pitchFamily="65" charset="-120"/>
                  <a:ea typeface="標楷體" panose="03000509000000000000" pitchFamily="65" charset="-120"/>
                  <a:cs typeface="Times New Roman" panose="02020603050405020304" pitchFamily="18" charset="0"/>
                </a:endParaRPr>
              </a:p>
              <a:p>
                <a14:m>
                  <m:oMath xmlns:m="http://schemas.openxmlformats.org/officeDocument/2006/math">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𝐶𝑜𝑛𝑑𝑖𝑡𝑖𝑜𝑛</m:t>
                    </m:r>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 2:</m:t>
                    </m:r>
                    <m:sSup>
                      <m:sSupPr>
                        <m:ctrlPr>
                          <a:rPr kumimoji="1" lang="en-US" altLang="zh-TW" i="1">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i="1">
                            <a:latin typeface="Cambria Math" panose="02040503050406030204" pitchFamily="18" charset="0"/>
                            <a:ea typeface="標楷體" panose="03000509000000000000" pitchFamily="65" charset="-120"/>
                            <a:cs typeface="Times New Roman" panose="02020603050405020304" pitchFamily="18" charset="0"/>
                          </a:rPr>
                          <m:t>𝑋</m:t>
                        </m:r>
                      </m:e>
                      <m:sup>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𝐶</m:t>
                        </m:r>
                      </m:sup>
                    </m:sSup>
                    <m:r>
                      <m:rPr>
                        <m:nor/>
                      </m:rPr>
                      <a:rPr kumimoji="1" lang="en-US" altLang="zh-TW" b="0" i="0" smtClean="0">
                        <a:latin typeface="Cambria Math" panose="02040503050406030204" pitchFamily="18" charset="0"/>
                        <a:ea typeface="標楷體" panose="03000509000000000000" pitchFamily="65" charset="-120"/>
                        <a:cs typeface="Times New Roman" panose="02020603050405020304" pitchFamily="18" charset="0"/>
                      </a:rPr>
                      <m:t> </m:t>
                    </m:r>
                    <m:r>
                      <m:rPr>
                        <m:nor/>
                      </m:rPr>
                      <a:rPr lang="zh-TW" altLang="en-US"/>
                      <m:t>≈</m:t>
                    </m:r>
                    <m:r>
                      <m:rPr>
                        <m:nor/>
                      </m:rPr>
                      <a:rPr lang="en-US" altLang="zh-TW" b="0" i="0" smtClean="0"/>
                      <m:t> </m:t>
                    </m:r>
                    <m:sSup>
                      <m:sSupPr>
                        <m:ctrlPr>
                          <a:rPr kumimoji="1" lang="en-US" altLang="zh-TW" i="1">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b="0" i="1" smtClean="0">
                            <a:latin typeface="Cambria Math" panose="02040503050406030204" pitchFamily="18" charset="0"/>
                            <a:ea typeface="標楷體" panose="03000509000000000000" pitchFamily="65" charset="-120"/>
                            <a:cs typeface="Times New Roman" panose="02020603050405020304" pitchFamily="18" charset="0"/>
                          </a:rPr>
                          <m:t>𝑌</m:t>
                        </m:r>
                      </m:e>
                      <m:sup>
                        <m:r>
                          <a:rPr kumimoji="1" lang="en-US" altLang="zh-TW" i="1">
                            <a:latin typeface="Cambria Math" panose="02040503050406030204" pitchFamily="18" charset="0"/>
                            <a:ea typeface="標楷體" panose="03000509000000000000" pitchFamily="65" charset="-120"/>
                            <a:cs typeface="Times New Roman" panose="02020603050405020304" pitchFamily="18" charset="0"/>
                          </a:rPr>
                          <m:t>𝐶</m:t>
                        </m:r>
                      </m:sup>
                    </m:sSup>
                  </m:oMath>
                </a14:m>
                <a:endParaRPr kumimoji="1" lang="en-US" altLang="zh-TW" dirty="0">
                  <a:latin typeface="標楷體" panose="03000509000000000000" pitchFamily="65" charset="-120"/>
                  <a:ea typeface="標楷體" panose="03000509000000000000" pitchFamily="65" charset="-12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85255"/>
                <a:ext cx="10796451" cy="4443091"/>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603955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K-scaled order-isomorphic</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5</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s-ES" altLang="zh-TW" sz="2600" dirty="0">
                        <a:latin typeface="Cambria Math" panose="02040503050406030204" pitchFamily="18" charset="0"/>
                        <a:cs typeface="Times New Roman" panose="02020603050405020304" pitchFamily="18" charset="0"/>
                      </a:rPr>
                      <m:t>𝑋</m:t>
                    </m:r>
                  </m:oMath>
                </a14:m>
                <a:r>
                  <a:rPr kumimoji="1" lang="es-ES" altLang="zh-TW" sz="2600" dirty="0">
                    <a:latin typeface="Times New Roman" panose="02020603050405020304" pitchFamily="18" charset="0"/>
                    <a:cs typeface="Times New Roman" panose="02020603050405020304" pitchFamily="18" charset="0"/>
                  </a:rPr>
                  <a:t> = (1, 10, 6, 2, 7)</a:t>
                </a:r>
              </a:p>
              <a:p>
                <a14:m>
                  <m:oMath xmlns:m="http://schemas.openxmlformats.org/officeDocument/2006/math">
                    <m:sSub>
                      <m:sSubPr>
                        <m:ctrlPr>
                          <a:rPr kumimoji="1" lang="es-ES" altLang="zh-TW" sz="2600" i="1" dirty="0">
                            <a:latin typeface="Cambria Math" panose="02040503050406030204" pitchFamily="18" charset="0"/>
                            <a:cs typeface="Times New Roman" panose="02020603050405020304" pitchFamily="18" charset="0"/>
                          </a:rPr>
                        </m:ctrlPr>
                      </m:sSubPr>
                      <m:e>
                        <m:r>
                          <a:rPr kumimoji="1" lang="en-US" altLang="zh-TW" sz="2600" dirty="0">
                            <a:latin typeface="Cambria Math" panose="02040503050406030204" pitchFamily="18" charset="0"/>
                            <a:cs typeface="Times New Roman" panose="02020603050405020304" pitchFamily="18" charset="0"/>
                          </a:rPr>
                          <m:t>𝑌</m:t>
                        </m:r>
                      </m:e>
                      <m:sub>
                        <m:r>
                          <a:rPr kumimoji="1" lang="en-US" altLang="zh-TW" sz="2600" dirty="0">
                            <a:latin typeface="Cambria Math" panose="02040503050406030204" pitchFamily="18" charset="0"/>
                            <a:cs typeface="Times New Roman" panose="02020603050405020304" pitchFamily="18" charset="0"/>
                          </a:rPr>
                          <m:t>1</m:t>
                        </m:r>
                      </m:sub>
                    </m:sSub>
                  </m:oMath>
                </a14:m>
                <a:r>
                  <a:rPr kumimoji="1" lang="es-ES" altLang="zh-TW" sz="2600" dirty="0">
                    <a:latin typeface="Times New Roman" panose="02020603050405020304" pitchFamily="18" charset="0"/>
                    <a:cs typeface="Times New Roman" panose="02020603050405020304" pitchFamily="18" charset="0"/>
                  </a:rPr>
                  <a:t> = (3, 9, 8, 4, 6)</a:t>
                </a:r>
              </a:p>
              <a:p>
                <a14:m>
                  <m:oMath xmlns:m="http://schemas.openxmlformats.org/officeDocument/2006/math">
                    <m:sSub>
                      <m:sSubPr>
                        <m:ctrlPr>
                          <a:rPr kumimoji="1" lang="es-ES" altLang="zh-TW" sz="2600" i="1" dirty="0">
                            <a:latin typeface="Cambria Math" panose="02040503050406030204" pitchFamily="18" charset="0"/>
                            <a:cs typeface="Times New Roman" panose="02020603050405020304" pitchFamily="18" charset="0"/>
                          </a:rPr>
                        </m:ctrlPr>
                      </m:sSubPr>
                      <m:e>
                        <m:r>
                          <a:rPr kumimoji="1" lang="en-US" altLang="zh-TW" sz="2600" dirty="0">
                            <a:latin typeface="Cambria Math" panose="02040503050406030204" pitchFamily="18" charset="0"/>
                            <a:cs typeface="Times New Roman" panose="02020603050405020304" pitchFamily="18" charset="0"/>
                          </a:rPr>
                          <m:t>𝑌</m:t>
                        </m:r>
                      </m:e>
                      <m:sub>
                        <m:r>
                          <a:rPr kumimoji="1" lang="en-US" altLang="zh-TW" sz="2600" dirty="0">
                            <a:latin typeface="Cambria Math" panose="02040503050406030204" pitchFamily="18" charset="0"/>
                            <a:cs typeface="Times New Roman" panose="02020603050405020304" pitchFamily="18" charset="0"/>
                          </a:rPr>
                          <m:t>2</m:t>
                        </m:r>
                      </m:sub>
                    </m:sSub>
                  </m:oMath>
                </a14:m>
                <a:r>
                  <a:rPr kumimoji="1" lang="es-ES" altLang="zh-TW" sz="2600" dirty="0">
                    <a:latin typeface="Times New Roman" panose="02020603050405020304" pitchFamily="18" charset="0"/>
                    <a:cs typeface="Times New Roman" panose="02020603050405020304" pitchFamily="18" charset="0"/>
                  </a:rPr>
                  <a:t> = (2, 5, 10, 9, 6, 4, 3, 5, 7)</a:t>
                </a:r>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t="-2058"/>
                </a:stretch>
              </a:blipFill>
            </p:spPr>
            <p:txBody>
              <a:bodyPr/>
              <a:lstStyle/>
              <a:p>
                <a:r>
                  <a:rPr lang="zh-TW" altLang="en-US">
                    <a:noFill/>
                  </a:rPr>
                  <a:t> </a:t>
                </a:r>
              </a:p>
            </p:txBody>
          </p:sp>
        </mc:Fallback>
      </mc:AlternateContent>
      <p:pic>
        <p:nvPicPr>
          <p:cNvPr id="4" name="Picture 3">
            <a:extLst>
              <a:ext uri="{FF2B5EF4-FFF2-40B4-BE49-F238E27FC236}">
                <a16:creationId xmlns:a16="http://schemas.microsoft.com/office/drawing/2014/main" id="{430F8B6C-66AF-8550-7225-346693D4DF9A}"/>
              </a:ext>
            </a:extLst>
          </p:cNvPr>
          <p:cNvPicPr>
            <a:picLocks noChangeAspect="1"/>
          </p:cNvPicPr>
          <p:nvPr/>
        </p:nvPicPr>
        <p:blipFill rotWithShape="1">
          <a:blip r:embed="rId4"/>
          <a:srcRect b="49132"/>
          <a:stretch/>
        </p:blipFill>
        <p:spPr>
          <a:xfrm>
            <a:off x="649849" y="3429000"/>
            <a:ext cx="10892302" cy="287153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DE79786-07AF-0926-F593-31B1A0EBD75E}"/>
                  </a:ext>
                </a:extLst>
              </p:cNvPr>
              <p:cNvSpPr txBox="1"/>
              <p:nvPr/>
            </p:nvSpPr>
            <p:spPr>
              <a:xfrm>
                <a:off x="3763750" y="6300537"/>
                <a:ext cx="914400" cy="4630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i="1" smtClean="0">
                          <a:solidFill>
                            <a:srgbClr val="00B050"/>
                          </a:solidFill>
                          <a:latin typeface="Cambria Math" panose="02040503050406030204" pitchFamily="18" charset="0"/>
                        </a:rPr>
                        <m:t>√</m:t>
                      </m:r>
                    </m:oMath>
                  </m:oMathPara>
                </a14:m>
                <a:endParaRPr lang="zh-TW" altLang="en-US" sz="2800" dirty="0">
                  <a:solidFill>
                    <a:srgbClr val="00B050"/>
                  </a:solidFill>
                </a:endParaRPr>
              </a:p>
            </p:txBody>
          </p:sp>
        </mc:Choice>
        <mc:Fallback xmlns="">
          <p:sp>
            <p:nvSpPr>
              <p:cNvPr id="7" name="TextBox 6">
                <a:extLst>
                  <a:ext uri="{FF2B5EF4-FFF2-40B4-BE49-F238E27FC236}">
                    <a16:creationId xmlns:a16="http://schemas.microsoft.com/office/drawing/2014/main" id="{9DE79786-07AF-0926-F593-31B1A0EBD75E}"/>
                  </a:ext>
                </a:extLst>
              </p:cNvPr>
              <p:cNvSpPr txBox="1">
                <a:spLocks noRot="1" noChangeAspect="1" noMove="1" noResize="1" noEditPoints="1" noAdjustHandles="1" noChangeArrowheads="1" noChangeShapeType="1" noTextEdit="1"/>
              </p:cNvSpPr>
              <p:nvPr/>
            </p:nvSpPr>
            <p:spPr>
              <a:xfrm>
                <a:off x="3763750" y="6300537"/>
                <a:ext cx="914400" cy="46301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7C9C3D6-F23F-A6A1-3D79-2BB69880B57E}"/>
                  </a:ext>
                </a:extLst>
              </p:cNvPr>
              <p:cNvSpPr txBox="1"/>
              <p:nvPr/>
            </p:nvSpPr>
            <p:spPr>
              <a:xfrm>
                <a:off x="7837885" y="6289923"/>
                <a:ext cx="914400" cy="4630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i="1" smtClean="0">
                          <a:solidFill>
                            <a:srgbClr val="00B050"/>
                          </a:solidFill>
                          <a:latin typeface="Cambria Math" panose="02040503050406030204" pitchFamily="18" charset="0"/>
                        </a:rPr>
                        <m:t>√</m:t>
                      </m:r>
                    </m:oMath>
                  </m:oMathPara>
                </a14:m>
                <a:endParaRPr lang="zh-TW" altLang="en-US" sz="2800" dirty="0">
                  <a:solidFill>
                    <a:srgbClr val="00B050"/>
                  </a:solidFill>
                </a:endParaRPr>
              </a:p>
            </p:txBody>
          </p:sp>
        </mc:Choice>
        <mc:Fallback xmlns="">
          <p:sp>
            <p:nvSpPr>
              <p:cNvPr id="8" name="TextBox 7">
                <a:extLst>
                  <a:ext uri="{FF2B5EF4-FFF2-40B4-BE49-F238E27FC236}">
                    <a16:creationId xmlns:a16="http://schemas.microsoft.com/office/drawing/2014/main" id="{77C9C3D6-F23F-A6A1-3D79-2BB69880B57E}"/>
                  </a:ext>
                </a:extLst>
              </p:cNvPr>
              <p:cNvSpPr txBox="1">
                <a:spLocks noRot="1" noChangeAspect="1" noMove="1" noResize="1" noEditPoints="1" noAdjustHandles="1" noChangeArrowheads="1" noChangeShapeType="1" noTextEdit="1"/>
              </p:cNvSpPr>
              <p:nvPr/>
            </p:nvSpPr>
            <p:spPr>
              <a:xfrm>
                <a:off x="7837885" y="6289923"/>
                <a:ext cx="914400" cy="46301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716E5E6-EC01-969E-6445-30CDB933A25F}"/>
                  </a:ext>
                </a:extLst>
              </p:cNvPr>
              <p:cNvSpPr txBox="1"/>
              <p:nvPr/>
            </p:nvSpPr>
            <p:spPr>
              <a:xfrm>
                <a:off x="4333126" y="6288653"/>
                <a:ext cx="162929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TW" sz="2400" i="1" smtClean="0">
                          <a:latin typeface="Cambria Math" panose="02040503050406030204" pitchFamily="18" charset="0"/>
                          <a:ea typeface="標楷體" panose="03000509000000000000" pitchFamily="65" charset="-120"/>
                          <a:cs typeface="Times New Roman" panose="02020603050405020304" pitchFamily="18" charset="0"/>
                        </a:rPr>
                        <m:t>𝑋</m:t>
                      </m:r>
                      <m:r>
                        <m:rPr>
                          <m:nor/>
                        </m:rPr>
                        <a:rPr kumimoji="1" lang="en-US" altLang="zh-TW" sz="2400" b="0" i="0" smtClean="0">
                          <a:latin typeface="Cambria Math" panose="02040503050406030204" pitchFamily="18" charset="0"/>
                          <a:ea typeface="標楷體" panose="03000509000000000000" pitchFamily="65" charset="-120"/>
                          <a:cs typeface="Times New Roman" panose="02020603050405020304" pitchFamily="18" charset="0"/>
                        </a:rPr>
                        <m:t> </m:t>
                      </m:r>
                      <m:sSup>
                        <m:sSupPr>
                          <m:ctrlP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m:t>
                          </m:r>
                        </m:e>
                        <m:sup>
                          <m: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1</m:t>
                          </m:r>
                        </m:sup>
                      </m:sSup>
                      <m:sSub>
                        <m:sSubPr>
                          <m:ctrlP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ctrlPr>
                        </m:sSubPr>
                        <m:e>
                          <m: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𝑌</m:t>
                          </m:r>
                        </m:e>
                        <m:sub>
                          <m: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1</m:t>
                          </m:r>
                        </m:sub>
                      </m:sSub>
                    </m:oMath>
                  </m:oMathPara>
                </a14:m>
                <a:endParaRPr lang="zh-TW" altLang="en-US" sz="2400" dirty="0"/>
              </a:p>
            </p:txBody>
          </p:sp>
        </mc:Choice>
        <mc:Fallback xmlns="">
          <p:sp>
            <p:nvSpPr>
              <p:cNvPr id="10" name="TextBox 9">
                <a:extLst>
                  <a:ext uri="{FF2B5EF4-FFF2-40B4-BE49-F238E27FC236}">
                    <a16:creationId xmlns:a16="http://schemas.microsoft.com/office/drawing/2014/main" id="{7716E5E6-EC01-969E-6445-30CDB933A25F}"/>
                  </a:ext>
                </a:extLst>
              </p:cNvPr>
              <p:cNvSpPr txBox="1">
                <a:spLocks noRot="1" noChangeAspect="1" noMove="1" noResize="1" noEditPoints="1" noAdjustHandles="1" noChangeArrowheads="1" noChangeShapeType="1" noTextEdit="1"/>
              </p:cNvSpPr>
              <p:nvPr/>
            </p:nvSpPr>
            <p:spPr>
              <a:xfrm>
                <a:off x="4333126" y="6288653"/>
                <a:ext cx="1629294" cy="461665"/>
              </a:xfrm>
              <a:prstGeom prst="rect">
                <a:avLst/>
              </a:prstGeom>
              <a:blipFill>
                <a:blip r:embed="rId7"/>
                <a:stretch>
                  <a:fillRect b="-1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E46E57A-BDCF-9013-7205-94874A862DBF}"/>
                  </a:ext>
                </a:extLst>
              </p:cNvPr>
              <p:cNvSpPr txBox="1"/>
              <p:nvPr/>
            </p:nvSpPr>
            <p:spPr>
              <a:xfrm>
                <a:off x="8459863" y="6300537"/>
                <a:ext cx="162929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TW" sz="2400" i="1" smtClean="0">
                          <a:latin typeface="Cambria Math" panose="02040503050406030204" pitchFamily="18" charset="0"/>
                          <a:ea typeface="標楷體" panose="03000509000000000000" pitchFamily="65" charset="-120"/>
                          <a:cs typeface="Times New Roman" panose="02020603050405020304" pitchFamily="18" charset="0"/>
                        </a:rPr>
                        <m:t>𝑋</m:t>
                      </m:r>
                      <m:r>
                        <m:rPr>
                          <m:nor/>
                        </m:rPr>
                        <a:rPr kumimoji="1" lang="en-US" altLang="zh-TW" sz="2400" b="0" i="0" smtClean="0">
                          <a:latin typeface="Cambria Math" panose="02040503050406030204" pitchFamily="18" charset="0"/>
                          <a:ea typeface="標楷體" panose="03000509000000000000" pitchFamily="65" charset="-120"/>
                          <a:cs typeface="Times New Roman" panose="02020603050405020304" pitchFamily="18" charset="0"/>
                        </a:rPr>
                        <m:t> </m:t>
                      </m:r>
                      <m:sSup>
                        <m:sSupPr>
                          <m:ctrlP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ctrlPr>
                        </m:sSupPr>
                        <m:e>
                          <m:r>
                            <a:rPr kumimoji="1"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m:t>
                          </m:r>
                        </m:e>
                        <m:sup>
                          <m: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2</m:t>
                          </m:r>
                        </m:sup>
                      </m:sSup>
                      <m:sSub>
                        <m:sSubPr>
                          <m:ctrlP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ctrlPr>
                        </m:sSubPr>
                        <m:e>
                          <m: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𝑌</m:t>
                          </m:r>
                        </m:e>
                        <m:sub>
                          <m:r>
                            <a:rPr kumimoji="1"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2</m:t>
                          </m:r>
                        </m:sub>
                      </m:sSub>
                    </m:oMath>
                  </m:oMathPara>
                </a14:m>
                <a:endParaRPr lang="zh-TW" altLang="en-US" sz="2400" dirty="0"/>
              </a:p>
            </p:txBody>
          </p:sp>
        </mc:Choice>
        <mc:Fallback xmlns="">
          <p:sp>
            <p:nvSpPr>
              <p:cNvPr id="13" name="TextBox 12">
                <a:extLst>
                  <a:ext uri="{FF2B5EF4-FFF2-40B4-BE49-F238E27FC236}">
                    <a16:creationId xmlns:a16="http://schemas.microsoft.com/office/drawing/2014/main" id="{4E46E57A-BDCF-9013-7205-94874A862DBF}"/>
                  </a:ext>
                </a:extLst>
              </p:cNvPr>
              <p:cNvSpPr txBox="1">
                <a:spLocks noRot="1" noChangeAspect="1" noMove="1" noResize="1" noEditPoints="1" noAdjustHandles="1" noChangeArrowheads="1" noChangeShapeType="1" noTextEdit="1"/>
              </p:cNvSpPr>
              <p:nvPr/>
            </p:nvSpPr>
            <p:spPr>
              <a:xfrm>
                <a:off x="8459863" y="6300537"/>
                <a:ext cx="1629294" cy="461665"/>
              </a:xfrm>
              <a:prstGeom prst="rect">
                <a:avLst/>
              </a:prstGeom>
              <a:blipFill>
                <a:blip r:embed="rId8"/>
                <a:stretch>
                  <a:fillRect b="-1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363077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a:latin typeface="Times New Roman" panose="02020603050405020304" pitchFamily="18" charset="0"/>
                <a:cs typeface="Times New Roman" panose="02020603050405020304" pitchFamily="18" charset="0"/>
              </a:rPr>
              <a:t>K-scaled order-isomorphic</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6</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s-ES" altLang="zh-TW" sz="2600" dirty="0">
                        <a:latin typeface="Cambria Math" panose="02040503050406030204" pitchFamily="18" charset="0"/>
                        <a:cs typeface="Times New Roman" panose="02020603050405020304" pitchFamily="18" charset="0"/>
                      </a:rPr>
                      <m:t>𝑋</m:t>
                    </m:r>
                  </m:oMath>
                </a14:m>
                <a:r>
                  <a:rPr kumimoji="1" lang="es-ES" altLang="zh-TW" sz="2600" dirty="0">
                    <a:latin typeface="Times New Roman" panose="02020603050405020304" pitchFamily="18" charset="0"/>
                    <a:cs typeface="Times New Roman" panose="02020603050405020304" pitchFamily="18" charset="0"/>
                  </a:rPr>
                  <a:t> = (1, 10, 6, 2, 7)</a:t>
                </a:r>
              </a:p>
              <a:p>
                <a14:m>
                  <m:oMath xmlns:m="http://schemas.openxmlformats.org/officeDocument/2006/math">
                    <m:sSub>
                      <m:sSubPr>
                        <m:ctrlPr>
                          <a:rPr kumimoji="1" lang="es-ES" altLang="zh-TW" sz="2600" i="1" dirty="0">
                            <a:latin typeface="Cambria Math" panose="02040503050406030204" pitchFamily="18" charset="0"/>
                            <a:cs typeface="Times New Roman" panose="02020603050405020304" pitchFamily="18" charset="0"/>
                          </a:rPr>
                        </m:ctrlPr>
                      </m:sSubPr>
                      <m:e>
                        <m:r>
                          <a:rPr kumimoji="1" lang="en-US" altLang="zh-TW" sz="2600" dirty="0">
                            <a:latin typeface="Cambria Math" panose="02040503050406030204" pitchFamily="18" charset="0"/>
                            <a:cs typeface="Times New Roman" panose="02020603050405020304" pitchFamily="18" charset="0"/>
                          </a:rPr>
                          <m:t>𝑌</m:t>
                        </m:r>
                      </m:e>
                      <m:sub>
                        <m:r>
                          <a:rPr kumimoji="1" lang="en-US" altLang="zh-TW" sz="2600" dirty="0">
                            <a:latin typeface="Cambria Math" panose="02040503050406030204" pitchFamily="18" charset="0"/>
                            <a:cs typeface="Times New Roman" panose="02020603050405020304" pitchFamily="18" charset="0"/>
                          </a:rPr>
                          <m:t>3</m:t>
                        </m:r>
                      </m:sub>
                    </m:sSub>
                  </m:oMath>
                </a14:m>
                <a:r>
                  <a:rPr kumimoji="1" lang="es-ES" altLang="zh-TW" sz="2600" dirty="0">
                    <a:latin typeface="Times New Roman" panose="02020603050405020304" pitchFamily="18" charset="0"/>
                    <a:cs typeface="Times New Roman" panose="02020603050405020304" pitchFamily="18" charset="0"/>
                  </a:rPr>
                  <a:t> = </a:t>
                </a:r>
                <a:r>
                  <a:rPr kumimoji="1" lang="en-US" altLang="zh-TW" sz="2600" dirty="0">
                    <a:latin typeface="Times New Roman" panose="02020603050405020304" pitchFamily="18" charset="0"/>
                    <a:cs typeface="Times New Roman" panose="02020603050405020304" pitchFamily="18" charset="0"/>
                  </a:rPr>
                  <a:t>(1, 5, 10, 8, 6, 3, 2, 4, 11)</a:t>
                </a:r>
                <a:endParaRPr kumimoji="1" lang="es-ES" altLang="zh-TW" sz="26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kumimoji="1" lang="es-ES" altLang="zh-TW" sz="2600" i="1" dirty="0">
                            <a:latin typeface="Cambria Math" panose="02040503050406030204" pitchFamily="18" charset="0"/>
                            <a:cs typeface="Times New Roman" panose="02020603050405020304" pitchFamily="18" charset="0"/>
                          </a:rPr>
                        </m:ctrlPr>
                      </m:sSubPr>
                      <m:e>
                        <m:r>
                          <a:rPr kumimoji="1" lang="en-US" altLang="zh-TW" sz="2600" dirty="0">
                            <a:latin typeface="Cambria Math" panose="02040503050406030204" pitchFamily="18" charset="0"/>
                            <a:cs typeface="Times New Roman" panose="02020603050405020304" pitchFamily="18" charset="0"/>
                          </a:rPr>
                          <m:t>𝑌</m:t>
                        </m:r>
                      </m:e>
                      <m:sub>
                        <m:r>
                          <a:rPr kumimoji="1" lang="en-US" altLang="zh-TW" sz="2600" dirty="0">
                            <a:latin typeface="Cambria Math" panose="02040503050406030204" pitchFamily="18" charset="0"/>
                            <a:cs typeface="Times New Roman" panose="02020603050405020304" pitchFamily="18" charset="0"/>
                          </a:rPr>
                          <m:t>4</m:t>
                        </m:r>
                      </m:sub>
                    </m:sSub>
                  </m:oMath>
                </a14:m>
                <a:r>
                  <a:rPr kumimoji="1" lang="es-ES" altLang="zh-TW" sz="2600" dirty="0">
                    <a:latin typeface="Times New Roman" panose="02020603050405020304" pitchFamily="18" charset="0"/>
                    <a:cs typeface="Times New Roman" panose="02020603050405020304" pitchFamily="18" charset="0"/>
                  </a:rPr>
                  <a:t> = </a:t>
                </a:r>
                <a:r>
                  <a:rPr kumimoji="1" lang="en-US" altLang="zh-TW" sz="2600" dirty="0">
                    <a:latin typeface="Times New Roman" panose="02020603050405020304" pitchFamily="18" charset="0"/>
                    <a:cs typeface="Times New Roman" panose="02020603050405020304" pitchFamily="18" charset="0"/>
                  </a:rPr>
                  <a:t>(1, 5, 10, 8, 6, 2, 4, 7)</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t="-2058"/>
                </a:stretch>
              </a:blipFill>
            </p:spPr>
            <p:txBody>
              <a:bodyPr/>
              <a:lstStyle/>
              <a:p>
                <a:r>
                  <a:rPr lang="zh-TW" altLang="en-US">
                    <a:noFill/>
                  </a:rPr>
                  <a:t> </a:t>
                </a:r>
              </a:p>
            </p:txBody>
          </p:sp>
        </mc:Fallback>
      </mc:AlternateContent>
      <p:pic>
        <p:nvPicPr>
          <p:cNvPr id="4" name="Picture 3">
            <a:extLst>
              <a:ext uri="{FF2B5EF4-FFF2-40B4-BE49-F238E27FC236}">
                <a16:creationId xmlns:a16="http://schemas.microsoft.com/office/drawing/2014/main" id="{430F8B6C-66AF-8550-7225-346693D4DF9A}"/>
              </a:ext>
            </a:extLst>
          </p:cNvPr>
          <p:cNvPicPr>
            <a:picLocks noChangeAspect="1"/>
          </p:cNvPicPr>
          <p:nvPr/>
        </p:nvPicPr>
        <p:blipFill rotWithShape="1">
          <a:blip r:embed="rId4"/>
          <a:srcRect l="5112" t="50408" r="5400"/>
          <a:stretch/>
        </p:blipFill>
        <p:spPr>
          <a:xfrm>
            <a:off x="3222812" y="3642346"/>
            <a:ext cx="8498541" cy="2440828"/>
          </a:xfrm>
          <a:prstGeom prst="rect">
            <a:avLst/>
          </a:prstGeom>
        </p:spPr>
      </p:pic>
      <p:pic>
        <p:nvPicPr>
          <p:cNvPr id="7" name="Picture 6">
            <a:extLst>
              <a:ext uri="{FF2B5EF4-FFF2-40B4-BE49-F238E27FC236}">
                <a16:creationId xmlns:a16="http://schemas.microsoft.com/office/drawing/2014/main" id="{9E636E08-AF57-59B2-53CF-B69276DC189C}"/>
              </a:ext>
            </a:extLst>
          </p:cNvPr>
          <p:cNvPicPr>
            <a:picLocks noChangeAspect="1"/>
          </p:cNvPicPr>
          <p:nvPr/>
        </p:nvPicPr>
        <p:blipFill rotWithShape="1">
          <a:blip r:embed="rId4"/>
          <a:srcRect r="73088" b="50000"/>
          <a:stretch/>
        </p:blipFill>
        <p:spPr>
          <a:xfrm>
            <a:off x="413914" y="3429000"/>
            <a:ext cx="2743200" cy="2641381"/>
          </a:xfrm>
          <a:prstGeom prst="rect">
            <a:avLst/>
          </a:prstGeom>
        </p:spPr>
      </p:pic>
      <p:sp>
        <p:nvSpPr>
          <p:cNvPr id="8" name="TextBox 7">
            <a:extLst>
              <a:ext uri="{FF2B5EF4-FFF2-40B4-BE49-F238E27FC236}">
                <a16:creationId xmlns:a16="http://schemas.microsoft.com/office/drawing/2014/main" id="{FD551CD0-360F-4F9E-8996-1620BD25049D}"/>
              </a:ext>
            </a:extLst>
          </p:cNvPr>
          <p:cNvSpPr txBox="1"/>
          <p:nvPr/>
        </p:nvSpPr>
        <p:spPr>
          <a:xfrm>
            <a:off x="4392706" y="6356350"/>
            <a:ext cx="184731" cy="369332"/>
          </a:xfrm>
          <a:prstGeom prst="rect">
            <a:avLst/>
          </a:prstGeom>
          <a:noFill/>
        </p:spPr>
        <p:txBody>
          <a:bodyPr wrap="none" rtlCol="0">
            <a:spAutoFit/>
          </a:bodyPr>
          <a:lstStyle/>
          <a:p>
            <a:endParaRPr lang="zh-TW" altLang="en-US" dirty="0"/>
          </a:p>
        </p:txBody>
      </p:sp>
      <p:pic>
        <p:nvPicPr>
          <p:cNvPr id="10" name="Picture 9">
            <a:extLst>
              <a:ext uri="{FF2B5EF4-FFF2-40B4-BE49-F238E27FC236}">
                <a16:creationId xmlns:a16="http://schemas.microsoft.com/office/drawing/2014/main" id="{95E6A92B-337B-F49C-018C-CE09617682B3}"/>
              </a:ext>
            </a:extLst>
          </p:cNvPr>
          <p:cNvPicPr>
            <a:picLocks noChangeAspect="1"/>
          </p:cNvPicPr>
          <p:nvPr/>
        </p:nvPicPr>
        <p:blipFill>
          <a:blip r:embed="rId5"/>
          <a:stretch>
            <a:fillRect/>
          </a:stretch>
        </p:blipFill>
        <p:spPr>
          <a:xfrm>
            <a:off x="4867801" y="6124163"/>
            <a:ext cx="1000762" cy="388227"/>
          </a:xfrm>
          <a:prstGeom prst="rect">
            <a:avLst/>
          </a:prstGeom>
        </p:spPr>
      </p:pic>
      <p:pic>
        <p:nvPicPr>
          <p:cNvPr id="12" name="Picture 11">
            <a:extLst>
              <a:ext uri="{FF2B5EF4-FFF2-40B4-BE49-F238E27FC236}">
                <a16:creationId xmlns:a16="http://schemas.microsoft.com/office/drawing/2014/main" id="{A1710FBE-4B69-CFBC-F1F3-760BD8208EB6}"/>
              </a:ext>
            </a:extLst>
          </p:cNvPr>
          <p:cNvPicPr>
            <a:picLocks noChangeAspect="1"/>
          </p:cNvPicPr>
          <p:nvPr/>
        </p:nvPicPr>
        <p:blipFill>
          <a:blip r:embed="rId6"/>
          <a:stretch>
            <a:fillRect/>
          </a:stretch>
        </p:blipFill>
        <p:spPr>
          <a:xfrm>
            <a:off x="7885144" y="6140857"/>
            <a:ext cx="3468656" cy="352018"/>
          </a:xfrm>
          <a:prstGeom prst="rect">
            <a:avLst/>
          </a:prstGeom>
        </p:spPr>
      </p:pic>
    </p:spTree>
    <p:extLst>
      <p:ext uri="{BB962C8B-B14F-4D97-AF65-F5344CB8AC3E}">
        <p14:creationId xmlns:p14="http://schemas.microsoft.com/office/powerpoint/2010/main" val="23556366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Algorithm for the OPPM problem with scaling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7</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Quotient string (</a:t>
                </a: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𝑃</m:t>
                        </m:r>
                      </m:e>
                      <m:sup>
                        <m:r>
                          <a:rPr kumimoji="1" lang="en-US" altLang="zh-TW" sz="2600" b="0" i="1" smtClean="0">
                            <a:latin typeface="Cambria Math" panose="02040503050406030204" pitchFamily="18" charset="0"/>
                            <a:cs typeface="Times New Roman" panose="02020603050405020304" pitchFamily="18" charset="0"/>
                          </a:rPr>
                          <m:t>𝑄</m:t>
                        </m:r>
                      </m:sup>
                    </m:sSup>
                  </m:oMath>
                </a14:m>
                <a:r>
                  <a:rPr kumimoji="1" lang="en-US" altLang="zh-TW" sz="2600" dirty="0">
                    <a:latin typeface="Times New Roman" panose="02020603050405020304" pitchFamily="18" charset="0"/>
                    <a:cs typeface="Times New Roman" panose="02020603050405020304" pitchFamily="18" charset="0"/>
                  </a:rPr>
                  <a:t>)</a:t>
                </a: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𝑋</m:t>
                        </m:r>
                      </m:e>
                      <m:sup>
                        <m:r>
                          <a:rPr kumimoji="1" lang="en-US" altLang="zh-TW" sz="2600" b="0" i="1" smtClean="0">
                            <a:latin typeface="Cambria Math" panose="02040503050406030204" pitchFamily="18" charset="0"/>
                            <a:cs typeface="Times New Roman" panose="02020603050405020304" pitchFamily="18" charset="0"/>
                          </a:rPr>
                          <m:t>𝑅</m:t>
                        </m:r>
                      </m:sup>
                    </m:sSup>
                  </m:oMath>
                </a14:m>
                <a:r>
                  <a:rPr lang="zh-TW" altLang="en-US" sz="2400" dirty="0"/>
                  <a:t> </a:t>
                </a:r>
                <a:r>
                  <a:rPr kumimoji="1" lang="en-US" altLang="zh-TW" sz="2600" dirty="0">
                    <a:latin typeface="Times New Roman" panose="02020603050405020304" pitchFamily="18" charset="0"/>
                    <a:cs typeface="Times New Roman" panose="02020603050405020304" pitchFamily="18" charset="0"/>
                  </a:rPr>
                  <a:t>= (1, 2, 1, 2)</a:t>
                </a:r>
              </a:p>
              <a:p>
                <a:pPr marL="0" indent="0">
                  <a:buNone/>
                </a:pP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𝑌</m:t>
                        </m:r>
                      </m:e>
                      <m:sup>
                        <m:r>
                          <a:rPr kumimoji="1" lang="en-US" altLang="zh-TW" sz="2600" b="0" i="1" smtClean="0">
                            <a:latin typeface="Cambria Math" panose="02040503050406030204" pitchFamily="18" charset="0"/>
                            <a:cs typeface="Times New Roman" panose="02020603050405020304" pitchFamily="18" charset="0"/>
                          </a:rPr>
                          <m:t>𝑅</m:t>
                        </m:r>
                      </m:sup>
                    </m:sSup>
                  </m:oMath>
                </a14:m>
                <a:r>
                  <a:rPr lang="zh-TW" altLang="en-US" sz="2400" dirty="0"/>
                  <a:t> </a:t>
                </a:r>
                <a:r>
                  <a:rPr kumimoji="1" lang="en-US" altLang="zh-TW" sz="2600" dirty="0">
                    <a:latin typeface="Times New Roman" panose="02020603050405020304" pitchFamily="18" charset="0"/>
                    <a:cs typeface="Times New Roman" panose="02020603050405020304" pitchFamily="18" charset="0"/>
                  </a:rPr>
                  <a:t>= (2, 4, 2, 4)</a:t>
                </a:r>
              </a:p>
              <a:p>
                <a:pPr marL="0" indent="0">
                  <a:buNone/>
                </a:pPr>
                <a:r>
                  <a:rPr kumimoji="1" lang="en-US" altLang="zh-TW" sz="2600" dirty="0">
                    <a:cs typeface="Times New Roman" panose="02020603050405020304" pitchFamily="18" charset="0"/>
                  </a:rPr>
                  <a:t>→ </a:t>
                </a: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𝑋</m:t>
                        </m:r>
                      </m:e>
                      <m:sup>
                        <m:r>
                          <a:rPr kumimoji="1" lang="en-US" altLang="zh-TW" sz="2600" b="0" i="1" smtClean="0">
                            <a:latin typeface="Cambria Math" panose="02040503050406030204" pitchFamily="18" charset="0"/>
                            <a:cs typeface="Times New Roman" panose="02020603050405020304" pitchFamily="18" charset="0"/>
                          </a:rPr>
                          <m:t>𝑄</m:t>
                        </m:r>
                      </m:sup>
                    </m:sSup>
                  </m:oMath>
                </a14:m>
                <a:r>
                  <a:rPr lang="zh-TW" altLang="en-US" sz="2400" dirty="0"/>
                  <a:t> </a:t>
                </a:r>
                <a:r>
                  <a:rPr kumimoji="1" lang="en-US" altLang="zh-TW" sz="2600" dirty="0">
                    <a:latin typeface="Times New Roman" panose="02020603050405020304" pitchFamily="18" charset="0"/>
                    <a:cs typeface="Times New Roman" panose="02020603050405020304" pitchFamily="18" charset="0"/>
                  </a:rPr>
                  <a:t>= (1/2, 2/1, 1/2)</a:t>
                </a:r>
              </a:p>
              <a:p>
                <a:pPr marL="0" indent="0">
                  <a:buNone/>
                </a:pPr>
                <a:r>
                  <a:rPr kumimoji="1" lang="en-US" altLang="zh-TW" sz="2600" dirty="0">
                    <a:cs typeface="Times New Roman" panose="02020603050405020304" pitchFamily="18" charset="0"/>
                  </a:rPr>
                  <a:t>→ </a:t>
                </a: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𝑌</m:t>
                        </m:r>
                      </m:e>
                      <m:sup>
                        <m:r>
                          <a:rPr kumimoji="1" lang="en-US" altLang="zh-TW" sz="2600" b="0" i="1" smtClean="0">
                            <a:latin typeface="Cambria Math" panose="02040503050406030204" pitchFamily="18" charset="0"/>
                            <a:cs typeface="Times New Roman" panose="02020603050405020304" pitchFamily="18" charset="0"/>
                          </a:rPr>
                          <m:t>𝑄</m:t>
                        </m:r>
                      </m:sup>
                    </m:sSup>
                  </m:oMath>
                </a14:m>
                <a:r>
                  <a:rPr lang="zh-TW" altLang="en-US" sz="2400" dirty="0"/>
                  <a:t> </a:t>
                </a:r>
                <a:r>
                  <a:rPr kumimoji="1" lang="en-US" altLang="zh-TW" sz="2600" dirty="0">
                    <a:latin typeface="Times New Roman" panose="02020603050405020304" pitchFamily="18" charset="0"/>
                    <a:cs typeface="Times New Roman" panose="02020603050405020304" pitchFamily="18" charset="0"/>
                  </a:rPr>
                  <a:t>= (2/4, 4/2, 2/4)</a:t>
                </a: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1016" t="-2058"/>
                </a:stretch>
              </a:blipFill>
            </p:spPr>
            <p:txBody>
              <a:bodyPr/>
              <a:lstStyle/>
              <a:p>
                <a:r>
                  <a:rPr lang="zh-TW" altLang="en-US">
                    <a:noFill/>
                  </a:rPr>
                  <a:t> </a:t>
                </a:r>
              </a:p>
            </p:txBody>
          </p:sp>
        </mc:Fallback>
      </mc:AlternateContent>
      <p:sp>
        <p:nvSpPr>
          <p:cNvPr id="8" name="TextBox 7">
            <a:extLst>
              <a:ext uri="{FF2B5EF4-FFF2-40B4-BE49-F238E27FC236}">
                <a16:creationId xmlns:a16="http://schemas.microsoft.com/office/drawing/2014/main" id="{FD551CD0-360F-4F9E-8996-1620BD25049D}"/>
              </a:ext>
            </a:extLst>
          </p:cNvPr>
          <p:cNvSpPr txBox="1"/>
          <p:nvPr/>
        </p:nvSpPr>
        <p:spPr>
          <a:xfrm>
            <a:off x="4392706" y="6356350"/>
            <a:ext cx="184731" cy="369332"/>
          </a:xfrm>
          <a:prstGeom prst="rect">
            <a:avLst/>
          </a:prstGeom>
          <a:noFill/>
        </p:spPr>
        <p:txBody>
          <a:bodyPr wrap="none" rtlCol="0">
            <a:spAutoFit/>
          </a:bodyPr>
          <a:lstStyle/>
          <a:p>
            <a:endParaRPr lang="zh-TW" altLang="en-US" dirty="0"/>
          </a:p>
        </p:txBody>
      </p:sp>
      <p:pic>
        <p:nvPicPr>
          <p:cNvPr id="13" name="Picture 12">
            <a:extLst>
              <a:ext uri="{FF2B5EF4-FFF2-40B4-BE49-F238E27FC236}">
                <a16:creationId xmlns:a16="http://schemas.microsoft.com/office/drawing/2014/main" id="{330DA78A-FD81-D479-D339-052FF3070EBC}"/>
              </a:ext>
            </a:extLst>
          </p:cNvPr>
          <p:cNvPicPr>
            <a:picLocks noChangeAspect="1"/>
          </p:cNvPicPr>
          <p:nvPr/>
        </p:nvPicPr>
        <p:blipFill rotWithShape="1">
          <a:blip r:embed="rId4"/>
          <a:srcRect t="17403"/>
          <a:stretch/>
        </p:blipFill>
        <p:spPr>
          <a:xfrm>
            <a:off x="1065103" y="2436964"/>
            <a:ext cx="5497062" cy="868321"/>
          </a:xfrm>
          <a:prstGeom prst="rect">
            <a:avLst/>
          </a:prstGeom>
        </p:spPr>
      </p:pic>
      <p:sp>
        <p:nvSpPr>
          <p:cNvPr id="14" name="Right Brace 13">
            <a:extLst>
              <a:ext uri="{FF2B5EF4-FFF2-40B4-BE49-F238E27FC236}">
                <a16:creationId xmlns:a16="http://schemas.microsoft.com/office/drawing/2014/main" id="{11B9AAC2-1D86-40CE-73DA-B9F4C14AC409}"/>
              </a:ext>
            </a:extLst>
          </p:cNvPr>
          <p:cNvSpPr/>
          <p:nvPr/>
        </p:nvSpPr>
        <p:spPr>
          <a:xfrm>
            <a:off x="4159624" y="4805081"/>
            <a:ext cx="152400" cy="868321"/>
          </a:xfrm>
          <a:prstGeom prst="righ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a:p>
        </p:txBody>
      </p:sp>
      <p:sp>
        <p:nvSpPr>
          <p:cNvPr id="15" name="TextBox 14">
            <a:extLst>
              <a:ext uri="{FF2B5EF4-FFF2-40B4-BE49-F238E27FC236}">
                <a16:creationId xmlns:a16="http://schemas.microsoft.com/office/drawing/2014/main" id="{3A57B384-1EB0-EBFE-7740-1F49691C756F}"/>
              </a:ext>
            </a:extLst>
          </p:cNvPr>
          <p:cNvSpPr txBox="1"/>
          <p:nvPr/>
        </p:nvSpPr>
        <p:spPr>
          <a:xfrm>
            <a:off x="4392706" y="4930264"/>
            <a:ext cx="869149" cy="492443"/>
          </a:xfrm>
          <a:prstGeom prst="rect">
            <a:avLst/>
          </a:prstGeom>
          <a:noFill/>
        </p:spPr>
        <p:txBody>
          <a:bodyPr wrap="none" rtlCol="0">
            <a:spAutoFit/>
          </a:bodyPr>
          <a:lstStyle/>
          <a:p>
            <a:r>
              <a:rPr kumimoji="1" lang="en-US" altLang="zh-TW" sz="2600" dirty="0">
                <a:latin typeface="Times New Roman" panose="02020603050405020304" pitchFamily="18" charset="0"/>
                <a:cs typeface="Times New Roman" panose="02020603050405020304" pitchFamily="18" charset="0"/>
              </a:rPr>
              <a:t>same</a:t>
            </a:r>
            <a:endParaRPr kumimoji="1"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91648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Algorithm for the OPPM problem with scaling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8</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Step 1: find candidate substring </a:t>
                </a:r>
                <a14:m>
                  <m:oMath xmlns:m="http://schemas.openxmlformats.org/officeDocument/2006/math">
                    <m:r>
                      <a:rPr kumimoji="1" lang="en-US" altLang="zh-TW" sz="2600" i="1" dirty="0" smtClean="0">
                        <a:latin typeface="Cambria Math" panose="02040503050406030204" pitchFamily="18" charset="0"/>
                        <a:cs typeface="Times New Roman" panose="02020603050405020304" pitchFamily="18" charset="0"/>
                      </a:rPr>
                      <m:t>𝑤</m:t>
                    </m:r>
                  </m:oMath>
                </a14:m>
                <a:endParaRPr kumimoji="1" lang="en-US" altLang="zh-TW" sz="2600" dirty="0">
                  <a:latin typeface="Times New Roman" panose="02020603050405020304" pitchFamily="18" charset="0"/>
                  <a:cs typeface="Times New Roman" panose="02020603050405020304" pitchFamily="18" charset="0"/>
                </a:endParaRPr>
              </a:p>
              <a:p>
                <a:pPr lvl="1"/>
                <a14:m>
                  <m:oMath xmlns:m="http://schemas.openxmlformats.org/officeDocument/2006/math">
                    <m:sSub>
                      <m:sSubPr>
                        <m:ctrlPr>
                          <a:rPr kumimoji="1" lang="en-US" altLang="zh-TW" i="1" smtClean="0">
                            <a:latin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cs typeface="Times New Roman" panose="02020603050405020304" pitchFamily="18" charset="0"/>
                          </a:rPr>
                          <m:t>𝐽</m:t>
                        </m:r>
                      </m:e>
                      <m:sub>
                        <m:r>
                          <a:rPr kumimoji="1" lang="en-US" altLang="zh-TW" b="0" i="1" smtClean="0">
                            <a:latin typeface="Cambria Math" panose="02040503050406030204" pitchFamily="18" charset="0"/>
                            <a:cs typeface="Times New Roman" panose="02020603050405020304" pitchFamily="18" charset="0"/>
                          </a:rPr>
                          <m:t>1</m:t>
                        </m:r>
                      </m:sub>
                    </m:sSub>
                  </m:oMath>
                </a14:m>
                <a:r>
                  <a:rPr kumimoji="1" lang="en-US" altLang="zh-TW" dirty="0">
                    <a:latin typeface="Times New Roman" panose="02020603050405020304" pitchFamily="18" charset="0"/>
                    <a:cs typeface="Times New Roman" panose="02020603050405020304" pitchFamily="18" charset="0"/>
                  </a:rPr>
                  <a:t>: position in </a:t>
                </a:r>
                <a14:m>
                  <m:oMath xmlns:m="http://schemas.openxmlformats.org/officeDocument/2006/math">
                    <m:sSup>
                      <m:sSupPr>
                        <m:ctrlPr>
                          <a:rPr kumimoji="1" lang="en-US" altLang="zh-TW" i="1">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𝑇</m:t>
                        </m:r>
                      </m:e>
                      <m:sup>
                        <m:r>
                          <a:rPr kumimoji="1" lang="en-US" altLang="zh-TW" i="1">
                            <a:latin typeface="Cambria Math" panose="02040503050406030204" pitchFamily="18" charset="0"/>
                            <a:cs typeface="Times New Roman" panose="02020603050405020304" pitchFamily="18" charset="0"/>
                          </a:rPr>
                          <m:t>𝑅</m:t>
                        </m:r>
                      </m:sup>
                    </m:sSup>
                  </m:oMath>
                </a14:m>
                <a:r>
                  <a:rPr lang="zh-TW" altLang="en-US" dirty="0"/>
                  <a:t> </a:t>
                </a:r>
                <a:r>
                  <a:rPr kumimoji="1" lang="en-US" altLang="zh-TW" dirty="0">
                    <a:latin typeface="Times New Roman" panose="02020603050405020304" pitchFamily="18" charset="0"/>
                    <a:cs typeface="Times New Roman" panose="02020603050405020304" pitchFamily="18" charset="0"/>
                  </a:rPr>
                  <a:t>that satisfies Condition 1</a:t>
                </a:r>
              </a:p>
              <a:p>
                <a:pPr lvl="1"/>
                <a14:m>
                  <m:oMath xmlns:m="http://schemas.openxmlformats.org/officeDocument/2006/math">
                    <m:sSub>
                      <m:sSubPr>
                        <m:ctrlPr>
                          <a:rPr kumimoji="1" lang="en-US" altLang="zh-TW" i="1" smtClean="0">
                            <a:latin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cs typeface="Times New Roman" panose="02020603050405020304" pitchFamily="18" charset="0"/>
                          </a:rPr>
                          <m:t>𝐽</m:t>
                        </m:r>
                      </m:e>
                      <m:sub>
                        <m:r>
                          <a:rPr kumimoji="1" lang="en-US" altLang="zh-TW" b="0" i="1" smtClean="0">
                            <a:latin typeface="Cambria Math" panose="02040503050406030204" pitchFamily="18" charset="0"/>
                            <a:cs typeface="Times New Roman" panose="02020603050405020304" pitchFamily="18" charset="0"/>
                          </a:rPr>
                          <m:t>2</m:t>
                        </m:r>
                      </m:sub>
                    </m:sSub>
                  </m:oMath>
                </a14:m>
                <a:r>
                  <a:rPr kumimoji="1" lang="en-US" altLang="zh-TW" dirty="0">
                    <a:latin typeface="Times New Roman" panose="02020603050405020304" pitchFamily="18" charset="0"/>
                    <a:cs typeface="Times New Roman" panose="02020603050405020304" pitchFamily="18" charset="0"/>
                  </a:rPr>
                  <a:t>: position in </a:t>
                </a:r>
                <a14:m>
                  <m:oMath xmlns:m="http://schemas.openxmlformats.org/officeDocument/2006/math">
                    <m:sSup>
                      <m:sSupPr>
                        <m:ctrlPr>
                          <a:rPr kumimoji="1" lang="en-US" altLang="zh-TW" i="1">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𝑇</m:t>
                        </m:r>
                      </m:e>
                      <m:sup>
                        <m:r>
                          <a:rPr kumimoji="1" lang="en-US" altLang="zh-TW" i="1">
                            <a:latin typeface="Cambria Math" panose="02040503050406030204" pitchFamily="18" charset="0"/>
                            <a:cs typeface="Times New Roman" panose="02020603050405020304" pitchFamily="18" charset="0"/>
                          </a:rPr>
                          <m:t>𝑅</m:t>
                        </m:r>
                      </m:sup>
                    </m:sSup>
                  </m:oMath>
                </a14:m>
                <a:r>
                  <a:rPr lang="zh-TW" altLang="en-US" dirty="0"/>
                  <a:t> </a:t>
                </a:r>
                <a:r>
                  <a:rPr kumimoji="1" lang="en-US" altLang="zh-TW" dirty="0">
                    <a:latin typeface="Times New Roman" panose="02020603050405020304" pitchFamily="18" charset="0"/>
                    <a:cs typeface="Times New Roman" panose="02020603050405020304" pitchFamily="18" charset="0"/>
                  </a:rPr>
                  <a:t>that satisfies Condition 2</a:t>
                </a:r>
              </a:p>
              <a:p>
                <a:pPr lvl="1"/>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903" t="-2058"/>
                </a:stretch>
              </a:blipFill>
            </p:spPr>
            <p:txBody>
              <a:bodyPr/>
              <a:lstStyle/>
              <a:p>
                <a:r>
                  <a:rPr lang="zh-TW" altLang="en-US">
                    <a:noFill/>
                  </a:rPr>
                  <a:t> </a:t>
                </a:r>
              </a:p>
            </p:txBody>
          </p:sp>
        </mc:Fallback>
      </mc:AlternateContent>
      <p:sp>
        <p:nvSpPr>
          <p:cNvPr id="8" name="TextBox 7">
            <a:extLst>
              <a:ext uri="{FF2B5EF4-FFF2-40B4-BE49-F238E27FC236}">
                <a16:creationId xmlns:a16="http://schemas.microsoft.com/office/drawing/2014/main" id="{FD551CD0-360F-4F9E-8996-1620BD25049D}"/>
              </a:ext>
            </a:extLst>
          </p:cNvPr>
          <p:cNvSpPr txBox="1"/>
          <p:nvPr/>
        </p:nvSpPr>
        <p:spPr>
          <a:xfrm>
            <a:off x="4392706" y="6356350"/>
            <a:ext cx="184731" cy="369332"/>
          </a:xfrm>
          <a:prstGeom prst="rect">
            <a:avLst/>
          </a:prstGeom>
          <a:noFill/>
        </p:spPr>
        <p:txBody>
          <a:bodyPr wrap="none" rtlCol="0">
            <a:spAutoFit/>
          </a:bodyPr>
          <a:lstStyle/>
          <a:p>
            <a:endParaRPr lang="zh-TW" altLang="en-US" dirty="0"/>
          </a:p>
        </p:txBody>
      </p:sp>
    </p:spTree>
    <p:extLst>
      <p:ext uri="{BB962C8B-B14F-4D97-AF65-F5344CB8AC3E}">
        <p14:creationId xmlns:p14="http://schemas.microsoft.com/office/powerpoint/2010/main" val="32621815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Algorithm for the OPPM problem with scaling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9</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𝑃</m:t>
                        </m:r>
                      </m:e>
                      <m:sup>
                        <m:r>
                          <a:rPr kumimoji="1" lang="en-US" altLang="zh-TW" sz="2600" b="0" i="1" smtClean="0">
                            <a:latin typeface="Cambria Math" panose="02040503050406030204" pitchFamily="18" charset="0"/>
                            <a:cs typeface="Times New Roman" panose="02020603050405020304" pitchFamily="18" charset="0"/>
                          </a:rPr>
                          <m:t>𝑄</m:t>
                        </m:r>
                      </m:sup>
                    </m:sSup>
                    <m:r>
                      <a:rPr kumimoji="1" lang="en-US" altLang="zh-TW" sz="2600" b="0" i="1" smtClean="0">
                        <a:latin typeface="Cambria Math" panose="02040503050406030204" pitchFamily="18" charset="0"/>
                        <a:cs typeface="Times New Roman" panose="02020603050405020304" pitchFamily="18" charset="0"/>
                      </a:rPr>
                      <m:t>[1..2]</m:t>
                    </m:r>
                  </m:oMath>
                </a14:m>
                <a:r>
                  <a:rPr kumimoji="1" lang="en-US" altLang="zh-TW" sz="2600" dirty="0">
                    <a:latin typeface="Times New Roman" panose="02020603050405020304" pitchFamily="18" charset="0"/>
                    <a:cs typeface="Times New Roman" panose="02020603050405020304" pitchFamily="18" charset="0"/>
                  </a:rPr>
                  <a:t> = (1/2, 2/1)</a:t>
                </a:r>
              </a:p>
              <a:p>
                <a:pPr>
                  <a:buFont typeface="Symbol" panose="05050102010706020507" pitchFamily="18" charset="2"/>
                  <a:buChar char="Þ"/>
                </a:pPr>
                <a:r>
                  <a:rPr kumimoji="1" lang="en-US" altLang="zh-TW" sz="2600" dirty="0">
                    <a:cs typeface="Times New Roman" panose="02020603050405020304" pitchFamily="18" charset="0"/>
                  </a:rPr>
                  <a:t> </a:t>
                </a: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𝑇</m:t>
                        </m:r>
                      </m:e>
                      <m:sup>
                        <m:r>
                          <a:rPr kumimoji="1" lang="en-US" altLang="zh-TW" sz="2600" b="0" i="1" smtClean="0">
                            <a:latin typeface="Cambria Math" panose="02040503050406030204" pitchFamily="18" charset="0"/>
                            <a:cs typeface="Times New Roman" panose="02020603050405020304" pitchFamily="18" charset="0"/>
                          </a:rPr>
                          <m:t>𝑄</m:t>
                        </m:r>
                      </m:sup>
                    </m:sSup>
                    <m:r>
                      <a:rPr kumimoji="1" lang="en-US" altLang="zh-TW" sz="2600" b="0" i="1" smtClean="0">
                        <a:latin typeface="Cambria Math" panose="02040503050406030204" pitchFamily="18" charset="0"/>
                        <a:cs typeface="Times New Roman" panose="02020603050405020304" pitchFamily="18" charset="0"/>
                      </a:rPr>
                      <m:t>[1..2]</m:t>
                    </m:r>
                  </m:oMath>
                </a14:m>
                <a:r>
                  <a:rPr kumimoji="1" lang="en-US" altLang="zh-TW" sz="2600" dirty="0">
                    <a:latin typeface="Times New Roman" panose="02020603050405020304" pitchFamily="18" charset="0"/>
                    <a:cs typeface="Times New Roman" panose="02020603050405020304" pitchFamily="18" charset="0"/>
                  </a:rPr>
                  <a:t> (</a:t>
                </a:r>
                <a14:m>
                  <m:oMath xmlns:m="http://schemas.openxmlformats.org/officeDocument/2006/math">
                    <m:r>
                      <a:rPr kumimoji="1" lang="en-US" altLang="zh-TW" sz="2600" i="1" dirty="0" smtClean="0">
                        <a:latin typeface="Cambria Math" panose="02040503050406030204" pitchFamily="18" charset="0"/>
                        <a:cs typeface="Times New Roman" panose="02020603050405020304" pitchFamily="18" charset="0"/>
                      </a:rPr>
                      <m:t>𝑘</m:t>
                    </m:r>
                  </m:oMath>
                </a14:m>
                <a:r>
                  <a:rPr kumimoji="1" lang="en-US" altLang="zh-TW" sz="2600" dirty="0">
                    <a:latin typeface="Times New Roman" panose="02020603050405020304" pitchFamily="18" charset="0"/>
                    <a:cs typeface="Times New Roman" panose="02020603050405020304" pitchFamily="18" charset="0"/>
                  </a:rPr>
                  <a:t> = 1)</a:t>
                </a:r>
              </a:p>
              <a:p>
                <a:pPr>
                  <a:buFont typeface="Symbol" panose="05050102010706020507" pitchFamily="18" charset="2"/>
                  <a:buChar char="Þ"/>
                </a:pPr>
                <a:r>
                  <a:rPr kumimoji="1" lang="en-US" altLang="zh-TW" sz="2600" dirty="0">
                    <a:cs typeface="Times New Roman" panose="02020603050405020304" pitchFamily="18" charset="0"/>
                  </a:rPr>
                  <a:t> </a:t>
                </a: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𝑇</m:t>
                        </m:r>
                      </m:e>
                      <m:sup>
                        <m:r>
                          <a:rPr kumimoji="1" lang="en-US" altLang="zh-TW" sz="2600" b="0" i="1" smtClean="0">
                            <a:latin typeface="Cambria Math" panose="02040503050406030204" pitchFamily="18" charset="0"/>
                            <a:cs typeface="Times New Roman" panose="02020603050405020304" pitchFamily="18" charset="0"/>
                          </a:rPr>
                          <m:t>𝑄</m:t>
                        </m:r>
                      </m:sup>
                    </m:sSup>
                    <m:r>
                      <a:rPr kumimoji="1" lang="en-US" altLang="zh-TW" sz="2600" b="0" i="1" smtClean="0">
                        <a:latin typeface="Cambria Math" panose="02040503050406030204" pitchFamily="18" charset="0"/>
                        <a:cs typeface="Times New Roman" panose="02020603050405020304" pitchFamily="18" charset="0"/>
                      </a:rPr>
                      <m:t>[7..8]</m:t>
                    </m:r>
                  </m:oMath>
                </a14:m>
                <a:r>
                  <a:rPr kumimoji="1" lang="en-US" altLang="zh-TW" sz="2600" dirty="0">
                    <a:latin typeface="Times New Roman" panose="02020603050405020304" pitchFamily="18" charset="0"/>
                    <a:cs typeface="Times New Roman" panose="02020603050405020304" pitchFamily="18" charset="0"/>
                  </a:rPr>
                  <a:t> (</a:t>
                </a:r>
                <a14:m>
                  <m:oMath xmlns:m="http://schemas.openxmlformats.org/officeDocument/2006/math">
                    <m:r>
                      <a:rPr kumimoji="1" lang="en-US" altLang="zh-TW" sz="2600" i="1" dirty="0" smtClean="0">
                        <a:latin typeface="Cambria Math" panose="02040503050406030204" pitchFamily="18" charset="0"/>
                        <a:cs typeface="Times New Roman" panose="02020603050405020304" pitchFamily="18" charset="0"/>
                      </a:rPr>
                      <m:t>𝑘</m:t>
                    </m:r>
                  </m:oMath>
                </a14:m>
                <a:r>
                  <a:rPr kumimoji="1" lang="en-US" altLang="zh-TW" sz="2600" dirty="0">
                    <a:latin typeface="Times New Roman" panose="02020603050405020304" pitchFamily="18" charset="0"/>
                    <a:cs typeface="Times New Roman" panose="02020603050405020304" pitchFamily="18" charset="0"/>
                  </a:rPr>
                  <a:t> = 2)</a:t>
                </a:r>
              </a:p>
              <a:p>
                <a:pPr>
                  <a:buFont typeface="Symbol" panose="05050102010706020507" pitchFamily="18" charset="2"/>
                  <a:buChar char="Þ"/>
                </a:pPr>
                <a:endParaRPr kumimoji="1" lang="en-US" altLang="zh-TW" sz="26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kumimoji="1" lang="en-US" altLang="zh-TW" sz="2800" i="1" smtClean="0">
                            <a:latin typeface="Cambria Math" panose="02040503050406030204" pitchFamily="18" charset="0"/>
                            <a:cs typeface="Times New Roman" panose="02020603050405020304" pitchFamily="18" charset="0"/>
                          </a:rPr>
                        </m:ctrlPr>
                      </m:sSubPr>
                      <m:e>
                        <m:r>
                          <a:rPr kumimoji="1" lang="en-US" altLang="zh-TW" sz="2800" b="0" i="1" smtClean="0">
                            <a:latin typeface="Cambria Math" panose="02040503050406030204" pitchFamily="18" charset="0"/>
                            <a:cs typeface="Times New Roman" panose="02020603050405020304" pitchFamily="18" charset="0"/>
                          </a:rPr>
                          <m:t>𝐽</m:t>
                        </m:r>
                      </m:e>
                      <m:sub>
                        <m:r>
                          <a:rPr kumimoji="1" lang="en-US" altLang="zh-TW" sz="2800" b="0" i="1" smtClean="0">
                            <a:latin typeface="Cambria Math" panose="02040503050406030204" pitchFamily="18" charset="0"/>
                            <a:cs typeface="Times New Roman" panose="02020603050405020304" pitchFamily="18" charset="0"/>
                          </a:rPr>
                          <m:t>1</m:t>
                        </m:r>
                      </m:sub>
                    </m:sSub>
                  </m:oMath>
                </a14:m>
                <a:r>
                  <a:rPr lang="zh-TW" altLang="en-US" sz="2400" dirty="0"/>
                  <a:t> </a:t>
                </a:r>
                <a:r>
                  <a:rPr kumimoji="1" lang="en-US" altLang="zh-TW" sz="2600" dirty="0">
                    <a:latin typeface="Times New Roman" panose="02020603050405020304" pitchFamily="18" charset="0"/>
                    <a:cs typeface="Times New Roman" panose="02020603050405020304" pitchFamily="18" charset="0"/>
                  </a:rPr>
                  <a:t>= {1, 7}</a:t>
                </a:r>
              </a:p>
              <a:p>
                <a:pPr>
                  <a:buFont typeface="Symbol" panose="05050102010706020507" pitchFamily="18" charset="2"/>
                  <a:buChar char="Þ"/>
                </a:pPr>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1073" t="-2058"/>
                </a:stretch>
              </a:blipFill>
            </p:spPr>
            <p:txBody>
              <a:bodyPr/>
              <a:lstStyle/>
              <a:p>
                <a:r>
                  <a:rPr lang="zh-TW" altLang="en-US">
                    <a:noFill/>
                  </a:rPr>
                  <a:t> </a:t>
                </a:r>
              </a:p>
            </p:txBody>
          </p:sp>
        </mc:Fallback>
      </mc:AlternateContent>
      <p:sp>
        <p:nvSpPr>
          <p:cNvPr id="8" name="TextBox 7">
            <a:extLst>
              <a:ext uri="{FF2B5EF4-FFF2-40B4-BE49-F238E27FC236}">
                <a16:creationId xmlns:a16="http://schemas.microsoft.com/office/drawing/2014/main" id="{FD551CD0-360F-4F9E-8996-1620BD25049D}"/>
              </a:ext>
            </a:extLst>
          </p:cNvPr>
          <p:cNvSpPr txBox="1"/>
          <p:nvPr/>
        </p:nvSpPr>
        <p:spPr>
          <a:xfrm>
            <a:off x="4392706" y="6356350"/>
            <a:ext cx="184731" cy="369332"/>
          </a:xfrm>
          <a:prstGeom prst="rect">
            <a:avLst/>
          </a:prstGeom>
          <a:noFill/>
        </p:spPr>
        <p:txBody>
          <a:bodyPr wrap="none" rtlCol="0">
            <a:spAutoFit/>
          </a:bodyPr>
          <a:lstStyle/>
          <a:p>
            <a:endParaRPr lang="zh-TW" altLang="en-US" dirty="0"/>
          </a:p>
        </p:txBody>
      </p:sp>
      <p:pic>
        <p:nvPicPr>
          <p:cNvPr id="3" name="Picture 2">
            <a:extLst>
              <a:ext uri="{FF2B5EF4-FFF2-40B4-BE49-F238E27FC236}">
                <a16:creationId xmlns:a16="http://schemas.microsoft.com/office/drawing/2014/main" id="{8FA097B4-050A-6823-8863-64A5FF04FCB0}"/>
              </a:ext>
            </a:extLst>
          </p:cNvPr>
          <p:cNvPicPr>
            <a:picLocks noChangeAspect="1"/>
          </p:cNvPicPr>
          <p:nvPr/>
        </p:nvPicPr>
        <p:blipFill>
          <a:blip r:embed="rId4"/>
          <a:stretch>
            <a:fillRect/>
          </a:stretch>
        </p:blipFill>
        <p:spPr>
          <a:xfrm>
            <a:off x="4579746" y="2041779"/>
            <a:ext cx="7242174" cy="3742256"/>
          </a:xfrm>
          <a:prstGeom prst="rect">
            <a:avLst/>
          </a:prstGeom>
        </p:spPr>
      </p:pic>
      <p:sp>
        <p:nvSpPr>
          <p:cNvPr id="4" name="TextBox 3">
            <a:extLst>
              <a:ext uri="{FF2B5EF4-FFF2-40B4-BE49-F238E27FC236}">
                <a16:creationId xmlns:a16="http://schemas.microsoft.com/office/drawing/2014/main" id="{024237CF-58D6-8A02-0456-78E34C3005D0}"/>
              </a:ext>
            </a:extLst>
          </p:cNvPr>
          <p:cNvSpPr txBox="1"/>
          <p:nvPr/>
        </p:nvSpPr>
        <p:spPr>
          <a:xfrm>
            <a:off x="5135417" y="4270044"/>
            <a:ext cx="5428089" cy="369332"/>
          </a:xfrm>
          <a:prstGeom prst="rect">
            <a:avLst/>
          </a:prstGeom>
          <a:noFill/>
        </p:spPr>
        <p:txBody>
          <a:bodyPr wrap="square" rtlCol="0">
            <a:spAutoFit/>
          </a:bodyPr>
          <a:lstStyle/>
          <a:p>
            <a:r>
              <a:rPr lang="en-US" altLang="zh-TW" dirty="0">
                <a:solidFill>
                  <a:srgbClr val="002060"/>
                </a:solidFill>
              </a:rPr>
              <a:t>0   </a:t>
            </a:r>
            <a:r>
              <a:rPr lang="en-US" altLang="zh-TW" dirty="0">
                <a:solidFill>
                  <a:srgbClr val="FF0000"/>
                </a:solidFill>
              </a:rPr>
              <a:t>1       2</a:t>
            </a:r>
            <a:r>
              <a:rPr lang="en-US" altLang="zh-TW" dirty="0">
                <a:solidFill>
                  <a:srgbClr val="002060"/>
                </a:solidFill>
              </a:rPr>
              <a:t>      3    4    5         6             </a:t>
            </a:r>
            <a:r>
              <a:rPr lang="en-US" altLang="zh-TW" dirty="0">
                <a:solidFill>
                  <a:srgbClr val="FF0000"/>
                </a:solidFill>
              </a:rPr>
              <a:t>7               8</a:t>
            </a:r>
            <a:r>
              <a:rPr lang="en-US" altLang="zh-TW" dirty="0">
                <a:solidFill>
                  <a:srgbClr val="002060"/>
                </a:solidFill>
              </a:rPr>
              <a:t>                9</a:t>
            </a:r>
            <a:endParaRPr lang="zh-TW" altLang="en-US" dirty="0">
              <a:solidFill>
                <a:srgbClr val="002060"/>
              </a:solidFill>
            </a:endParaRPr>
          </a:p>
        </p:txBody>
      </p:sp>
    </p:spTree>
    <p:extLst>
      <p:ext uri="{BB962C8B-B14F-4D97-AF65-F5344CB8AC3E}">
        <p14:creationId xmlns:p14="http://schemas.microsoft.com/office/powerpoint/2010/main" val="165501673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Algorithm for the OPPM problem with scaling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10</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𝑃</m:t>
                        </m:r>
                      </m:e>
                      <m:sup>
                        <m:r>
                          <a:rPr kumimoji="1" lang="en-US" altLang="zh-TW" sz="2600" b="0" i="1" smtClean="0">
                            <a:latin typeface="Cambria Math" panose="02040503050406030204" pitchFamily="18" charset="0"/>
                            <a:cs typeface="Times New Roman" panose="02020603050405020304" pitchFamily="18" charset="0"/>
                          </a:rPr>
                          <m:t>𝐶</m:t>
                        </m:r>
                      </m:sup>
                    </m:sSup>
                    <m:r>
                      <a:rPr kumimoji="1" lang="en-US" altLang="zh-TW" sz="2600" b="0" i="1" smtClean="0">
                        <a:latin typeface="Cambria Math" panose="02040503050406030204" pitchFamily="18" charset="0"/>
                        <a:cs typeface="Times New Roman" panose="02020603050405020304" pitchFamily="18" charset="0"/>
                      </a:rPr>
                      <m:t>[1..4]</m:t>
                    </m:r>
                  </m:oMath>
                </a14:m>
                <a:r>
                  <a:rPr kumimoji="1" lang="en-US" altLang="zh-TW" sz="2600" dirty="0">
                    <a:latin typeface="Times New Roman" panose="02020603050405020304" pitchFamily="18" charset="0"/>
                    <a:cs typeface="Times New Roman" panose="02020603050405020304" pitchFamily="18" charset="0"/>
                  </a:rPr>
                  <a:t>: order = (4, 1, 3, 2)</a:t>
                </a:r>
              </a:p>
              <a:p>
                <a:pPr>
                  <a:buFont typeface="Symbol" panose="05050102010706020507" pitchFamily="18" charset="2"/>
                  <a:buChar char="Þ"/>
                </a:pPr>
                <a:r>
                  <a:rPr kumimoji="1" lang="en-US" altLang="zh-TW" sz="2600" dirty="0">
                    <a:cs typeface="Times New Roman" panose="02020603050405020304" pitchFamily="18" charset="0"/>
                  </a:rPr>
                  <a:t> </a:t>
                </a: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𝑇</m:t>
                        </m:r>
                      </m:e>
                      <m:sup>
                        <m:r>
                          <a:rPr kumimoji="1" lang="en-US" altLang="zh-TW" sz="2600" b="0" i="1" smtClean="0">
                            <a:latin typeface="Cambria Math" panose="02040503050406030204" pitchFamily="18" charset="0"/>
                            <a:cs typeface="Times New Roman" panose="02020603050405020304" pitchFamily="18" charset="0"/>
                          </a:rPr>
                          <m:t>𝑄</m:t>
                        </m:r>
                      </m:sup>
                    </m:sSup>
                    <m:r>
                      <a:rPr kumimoji="1" lang="en-US" altLang="zh-TW" sz="2600" b="0" i="1" smtClean="0">
                        <a:latin typeface="Cambria Math" panose="02040503050406030204" pitchFamily="18" charset="0"/>
                        <a:cs typeface="Times New Roman" panose="02020603050405020304" pitchFamily="18" charset="0"/>
                      </a:rPr>
                      <m:t>[3..6]</m:t>
                    </m:r>
                  </m:oMath>
                </a14:m>
                <a:r>
                  <a:rPr kumimoji="1" lang="en-US" altLang="zh-TW" sz="2600" dirty="0">
                    <a:latin typeface="Times New Roman" panose="02020603050405020304" pitchFamily="18" charset="0"/>
                    <a:cs typeface="Times New Roman" panose="02020603050405020304" pitchFamily="18" charset="0"/>
                  </a:rPr>
                  <a:t> </a:t>
                </a:r>
              </a:p>
              <a:p>
                <a:pPr>
                  <a:buFont typeface="Symbol" panose="05050102010706020507" pitchFamily="18" charset="2"/>
                  <a:buChar char="Þ"/>
                </a:pPr>
                <a:r>
                  <a:rPr kumimoji="1" lang="en-US" altLang="zh-TW" sz="2600" dirty="0">
                    <a:cs typeface="Times New Roman" panose="02020603050405020304" pitchFamily="18" charset="0"/>
                  </a:rPr>
                  <a:t> </a:t>
                </a: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𝑇</m:t>
                        </m:r>
                      </m:e>
                      <m:sup>
                        <m:r>
                          <a:rPr kumimoji="1" lang="en-US" altLang="zh-TW" sz="2600" b="0" i="1" smtClean="0">
                            <a:latin typeface="Cambria Math" panose="02040503050406030204" pitchFamily="18" charset="0"/>
                            <a:cs typeface="Times New Roman" panose="02020603050405020304" pitchFamily="18" charset="0"/>
                          </a:rPr>
                          <m:t>𝑄</m:t>
                        </m:r>
                      </m:sup>
                    </m:sSup>
                    <m:r>
                      <a:rPr kumimoji="1" lang="en-US" altLang="zh-TW" sz="2600" b="0" i="1" smtClean="0">
                        <a:latin typeface="Cambria Math" panose="02040503050406030204" pitchFamily="18" charset="0"/>
                        <a:cs typeface="Times New Roman" panose="02020603050405020304" pitchFamily="18" charset="0"/>
                      </a:rPr>
                      <m:t>[7..10]</m:t>
                    </m:r>
                  </m:oMath>
                </a14:m>
                <a:r>
                  <a:rPr kumimoji="1" lang="en-US" altLang="zh-TW" sz="2600" dirty="0">
                    <a:latin typeface="Times New Roman" panose="02020603050405020304" pitchFamily="18" charset="0"/>
                    <a:cs typeface="Times New Roman" panose="02020603050405020304" pitchFamily="18" charset="0"/>
                  </a:rPr>
                  <a:t> </a:t>
                </a:r>
              </a:p>
              <a:p>
                <a:pPr>
                  <a:buFont typeface="Symbol" panose="05050102010706020507" pitchFamily="18" charset="2"/>
                  <a:buChar char="Þ"/>
                </a:pPr>
                <a:endParaRPr kumimoji="1" lang="en-US" altLang="zh-TW" sz="26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kumimoji="1" lang="en-US" altLang="zh-TW" sz="2800" i="1" smtClean="0">
                            <a:latin typeface="Cambria Math" panose="02040503050406030204" pitchFamily="18" charset="0"/>
                            <a:cs typeface="Times New Roman" panose="02020603050405020304" pitchFamily="18" charset="0"/>
                          </a:rPr>
                        </m:ctrlPr>
                      </m:sSubPr>
                      <m:e>
                        <m:r>
                          <a:rPr kumimoji="1" lang="en-US" altLang="zh-TW" sz="2800" b="0" i="1" smtClean="0">
                            <a:latin typeface="Cambria Math" panose="02040503050406030204" pitchFamily="18" charset="0"/>
                            <a:cs typeface="Times New Roman" panose="02020603050405020304" pitchFamily="18" charset="0"/>
                          </a:rPr>
                          <m:t>𝐽</m:t>
                        </m:r>
                      </m:e>
                      <m:sub>
                        <m:r>
                          <a:rPr kumimoji="1" lang="en-US" altLang="zh-TW" sz="2800" b="0" i="1" smtClean="0">
                            <a:latin typeface="Cambria Math" panose="02040503050406030204" pitchFamily="18" charset="0"/>
                            <a:cs typeface="Times New Roman" panose="02020603050405020304" pitchFamily="18" charset="0"/>
                          </a:rPr>
                          <m:t>2</m:t>
                        </m:r>
                      </m:sub>
                    </m:sSub>
                  </m:oMath>
                </a14:m>
                <a:r>
                  <a:rPr lang="zh-TW" altLang="en-US" sz="2400" dirty="0"/>
                  <a:t> </a:t>
                </a:r>
                <a:r>
                  <a:rPr kumimoji="1" lang="en-US" altLang="zh-TW" sz="2600" dirty="0">
                    <a:latin typeface="Times New Roman" panose="02020603050405020304" pitchFamily="18" charset="0"/>
                    <a:cs typeface="Times New Roman" panose="02020603050405020304" pitchFamily="18" charset="0"/>
                  </a:rPr>
                  <a:t>= {3, 7}</a:t>
                </a:r>
              </a:p>
              <a:p>
                <a:pPr>
                  <a:buFont typeface="Symbol" panose="05050102010706020507" pitchFamily="18" charset="2"/>
                  <a:buChar char="Þ"/>
                </a:pPr>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1073" t="-2058"/>
                </a:stretch>
              </a:blipFill>
            </p:spPr>
            <p:txBody>
              <a:bodyPr/>
              <a:lstStyle/>
              <a:p>
                <a:r>
                  <a:rPr lang="zh-TW" altLang="en-US">
                    <a:noFill/>
                  </a:rPr>
                  <a:t> </a:t>
                </a:r>
              </a:p>
            </p:txBody>
          </p:sp>
        </mc:Fallback>
      </mc:AlternateContent>
      <p:sp>
        <p:nvSpPr>
          <p:cNvPr id="8" name="TextBox 7">
            <a:extLst>
              <a:ext uri="{FF2B5EF4-FFF2-40B4-BE49-F238E27FC236}">
                <a16:creationId xmlns:a16="http://schemas.microsoft.com/office/drawing/2014/main" id="{FD551CD0-360F-4F9E-8996-1620BD25049D}"/>
              </a:ext>
            </a:extLst>
          </p:cNvPr>
          <p:cNvSpPr txBox="1"/>
          <p:nvPr/>
        </p:nvSpPr>
        <p:spPr>
          <a:xfrm>
            <a:off x="4392706" y="6356350"/>
            <a:ext cx="184731" cy="369332"/>
          </a:xfrm>
          <a:prstGeom prst="rect">
            <a:avLst/>
          </a:prstGeom>
          <a:noFill/>
        </p:spPr>
        <p:txBody>
          <a:bodyPr wrap="none" rtlCol="0">
            <a:spAutoFit/>
          </a:bodyPr>
          <a:lstStyle/>
          <a:p>
            <a:endParaRPr lang="zh-TW" altLang="en-US" dirty="0"/>
          </a:p>
        </p:txBody>
      </p:sp>
      <p:pic>
        <p:nvPicPr>
          <p:cNvPr id="3" name="Picture 2">
            <a:extLst>
              <a:ext uri="{FF2B5EF4-FFF2-40B4-BE49-F238E27FC236}">
                <a16:creationId xmlns:a16="http://schemas.microsoft.com/office/drawing/2014/main" id="{8FA097B4-050A-6823-8863-64A5FF04FCB0}"/>
              </a:ext>
            </a:extLst>
          </p:cNvPr>
          <p:cNvPicPr>
            <a:picLocks noChangeAspect="1"/>
          </p:cNvPicPr>
          <p:nvPr/>
        </p:nvPicPr>
        <p:blipFill>
          <a:blip r:embed="rId4"/>
          <a:stretch>
            <a:fillRect/>
          </a:stretch>
        </p:blipFill>
        <p:spPr>
          <a:xfrm>
            <a:off x="4577437" y="2329455"/>
            <a:ext cx="7242174" cy="3742256"/>
          </a:xfrm>
          <a:prstGeom prst="rect">
            <a:avLst/>
          </a:prstGeom>
        </p:spPr>
      </p:pic>
      <p:sp>
        <p:nvSpPr>
          <p:cNvPr id="4" name="TextBox 3">
            <a:extLst>
              <a:ext uri="{FF2B5EF4-FFF2-40B4-BE49-F238E27FC236}">
                <a16:creationId xmlns:a16="http://schemas.microsoft.com/office/drawing/2014/main" id="{024237CF-58D6-8A02-0456-78E34C3005D0}"/>
              </a:ext>
            </a:extLst>
          </p:cNvPr>
          <p:cNvSpPr txBox="1"/>
          <p:nvPr/>
        </p:nvSpPr>
        <p:spPr>
          <a:xfrm>
            <a:off x="4962778" y="4979061"/>
            <a:ext cx="6975901" cy="369332"/>
          </a:xfrm>
          <a:prstGeom prst="rect">
            <a:avLst/>
          </a:prstGeom>
          <a:noFill/>
        </p:spPr>
        <p:txBody>
          <a:bodyPr wrap="square" rtlCol="0">
            <a:spAutoFit/>
          </a:bodyPr>
          <a:lstStyle/>
          <a:p>
            <a:r>
              <a:rPr lang="en-US" altLang="zh-TW" dirty="0">
                <a:solidFill>
                  <a:srgbClr val="002060"/>
                </a:solidFill>
              </a:rPr>
              <a:t>0   1    2          </a:t>
            </a:r>
            <a:r>
              <a:rPr lang="en-US" altLang="zh-TW" dirty="0">
                <a:solidFill>
                  <a:srgbClr val="FF0000"/>
                </a:solidFill>
              </a:rPr>
              <a:t>3   4    5    6               7          8                     9         10             </a:t>
            </a:r>
            <a:r>
              <a:rPr lang="en-US" altLang="zh-TW" dirty="0">
                <a:solidFill>
                  <a:srgbClr val="002060"/>
                </a:solidFill>
              </a:rPr>
              <a:t>11</a:t>
            </a:r>
            <a:endParaRPr lang="zh-TW" altLang="en-US" dirty="0">
              <a:solidFill>
                <a:srgbClr val="002060"/>
              </a:solidFill>
            </a:endParaRPr>
          </a:p>
        </p:txBody>
      </p:sp>
    </p:spTree>
    <p:extLst>
      <p:ext uri="{BB962C8B-B14F-4D97-AF65-F5344CB8AC3E}">
        <p14:creationId xmlns:p14="http://schemas.microsoft.com/office/powerpoint/2010/main" val="16728465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Algorithm for the OPPM problem with scaling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11</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kumimoji="1" lang="en-US" altLang="zh-TW" sz="2600" i="1" dirty="0" smtClean="0">
                        <a:latin typeface="Cambria Math" panose="02040503050406030204" pitchFamily="18" charset="0"/>
                        <a:cs typeface="Times New Roman" panose="02020603050405020304" pitchFamily="18" charset="0"/>
                      </a:rPr>
                      <m:t>𝑗</m:t>
                    </m:r>
                  </m:oMath>
                </a14:m>
                <a:r>
                  <a:rPr kumimoji="1" lang="en-US" altLang="zh-TW" sz="26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kumimoji="1" lang="en-US" altLang="zh-TW" sz="2400" i="1" smtClean="0">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𝐽</m:t>
                        </m:r>
                      </m:e>
                      <m:sub>
                        <m:r>
                          <a:rPr kumimoji="1" lang="en-US" altLang="zh-TW" sz="2400" b="0" i="1" smtClean="0">
                            <a:latin typeface="Cambria Math" panose="02040503050406030204" pitchFamily="18" charset="0"/>
                            <a:cs typeface="Times New Roman" panose="02020603050405020304" pitchFamily="18" charset="0"/>
                          </a:rPr>
                          <m:t>1</m:t>
                        </m:r>
                      </m:sub>
                    </m:sSub>
                  </m:oMath>
                </a14:m>
                <a:r>
                  <a:rPr lang="zh-TW" altLang="en-US" sz="2000" dirty="0"/>
                  <a:t> </a:t>
                </a:r>
                <a:r>
                  <a:rPr kumimoji="1" lang="zh-TW" altLang="en-US" sz="2600" dirty="0">
                    <a:latin typeface="Times New Roman" panose="02020603050405020304" pitchFamily="18" charset="0"/>
                    <a:cs typeface="Times New Roman" panose="02020603050405020304" pitchFamily="18" charset="0"/>
                  </a:rPr>
                  <a:t>∩</a:t>
                </a:r>
                <a:r>
                  <a:rPr lang="zh-TW" altLang="en-US" sz="2000" dirty="0"/>
                  <a:t> </a:t>
                </a:r>
                <a14:m>
                  <m:oMath xmlns:m="http://schemas.openxmlformats.org/officeDocument/2006/math">
                    <m:sSub>
                      <m:sSubPr>
                        <m:ctrlPr>
                          <a:rPr kumimoji="1" lang="en-US" altLang="zh-TW" sz="2600" i="1">
                            <a:latin typeface="Cambria Math" panose="02040503050406030204" pitchFamily="18" charset="0"/>
                            <a:cs typeface="Times New Roman" panose="02020603050405020304" pitchFamily="18" charset="0"/>
                          </a:rPr>
                        </m:ctrlPr>
                      </m:sSubPr>
                      <m:e>
                        <m:r>
                          <a:rPr kumimoji="1" lang="en-US" altLang="zh-TW" sz="2600">
                            <a:latin typeface="Cambria Math" panose="02040503050406030204" pitchFamily="18" charset="0"/>
                            <a:cs typeface="Times New Roman" panose="02020603050405020304" pitchFamily="18" charset="0"/>
                          </a:rPr>
                          <m:t>𝐽</m:t>
                        </m:r>
                      </m:e>
                      <m:sub>
                        <m:r>
                          <a:rPr kumimoji="1" lang="en-US" altLang="zh-TW" sz="2600">
                            <a:latin typeface="Cambria Math" panose="02040503050406030204" pitchFamily="18" charset="0"/>
                            <a:cs typeface="Times New Roman" panose="02020603050405020304" pitchFamily="18" charset="0"/>
                          </a:rPr>
                          <m:t>2</m:t>
                        </m:r>
                      </m:sub>
                    </m:sSub>
                  </m:oMath>
                </a14:m>
                <a:r>
                  <a:rPr kumimoji="1" lang="zh-TW" altLang="en-US" sz="2600" dirty="0">
                    <a:latin typeface="Times New Roman" panose="02020603050405020304" pitchFamily="18" charset="0"/>
                    <a:cs typeface="Times New Roman" panose="02020603050405020304" pitchFamily="18" charset="0"/>
                  </a:rPr>
                  <a:t> </a:t>
                </a:r>
                <a:r>
                  <a:rPr kumimoji="1" lang="en-US" altLang="zh-TW" sz="2600" dirty="0">
                    <a:latin typeface="Times New Roman" panose="02020603050405020304" pitchFamily="18" charset="0"/>
                    <a:cs typeface="Times New Roman" panose="02020603050405020304" pitchFamily="18" charset="0"/>
                  </a:rPr>
                  <a:t>= {1, 7} </a:t>
                </a:r>
                <a:r>
                  <a:rPr kumimoji="1" lang="zh-TW" altLang="en-US" sz="2600" dirty="0">
                    <a:latin typeface="Times New Roman" panose="02020603050405020304" pitchFamily="18" charset="0"/>
                    <a:cs typeface="Times New Roman" panose="02020603050405020304" pitchFamily="18" charset="0"/>
                  </a:rPr>
                  <a:t>∩ </a:t>
                </a:r>
                <a:r>
                  <a:rPr kumimoji="1" lang="en-US" altLang="zh-TW" sz="2600" dirty="0">
                    <a:latin typeface="Times New Roman" panose="02020603050405020304" pitchFamily="18" charset="0"/>
                    <a:cs typeface="Times New Roman" panose="02020603050405020304" pitchFamily="18" charset="0"/>
                  </a:rPr>
                  <a:t>{3, 7} = {7}</a:t>
                </a:r>
              </a:p>
              <a:p>
                <a14:m>
                  <m:oMath xmlns:m="http://schemas.openxmlformats.org/officeDocument/2006/math">
                    <m:r>
                      <a:rPr kumimoji="1" lang="pt-BR" altLang="zh-TW" sz="2600" i="1" dirty="0" smtClean="0">
                        <a:latin typeface="Cambria Math" panose="02040503050406030204" pitchFamily="18" charset="0"/>
                        <a:cs typeface="Times New Roman" panose="02020603050405020304" pitchFamily="18" charset="0"/>
                      </a:rPr>
                      <m:t>𝑘</m:t>
                    </m:r>
                  </m:oMath>
                </a14:m>
                <a:r>
                  <a:rPr kumimoji="1" lang="pt-BR" altLang="zh-TW" sz="2600" dirty="0">
                    <a:latin typeface="Times New Roman" panose="02020603050405020304" pitchFamily="18" charset="0"/>
                    <a:cs typeface="Times New Roman" panose="02020603050405020304" pitchFamily="18" charset="0"/>
                  </a:rPr>
                  <a:t> = </a:t>
                </a:r>
                <a14:m>
                  <m:oMath xmlns:m="http://schemas.openxmlformats.org/officeDocument/2006/math">
                    <m:sSup>
                      <m:sSupPr>
                        <m:ctrlPr>
                          <a:rPr kumimoji="1" lang="en-US" altLang="zh-TW" sz="2600" i="1">
                            <a:latin typeface="Cambria Math" panose="02040503050406030204" pitchFamily="18" charset="0"/>
                            <a:cs typeface="Times New Roman" panose="02020603050405020304" pitchFamily="18" charset="0"/>
                          </a:rPr>
                        </m:ctrlPr>
                      </m:sSupPr>
                      <m:e>
                        <m:r>
                          <a:rPr kumimoji="1" lang="en-US" altLang="zh-TW" sz="2600" i="1">
                            <a:latin typeface="Cambria Math" panose="02040503050406030204" pitchFamily="18" charset="0"/>
                            <a:cs typeface="Times New Roman" panose="02020603050405020304" pitchFamily="18" charset="0"/>
                          </a:rPr>
                          <m:t>𝑇</m:t>
                        </m:r>
                      </m:e>
                      <m:sup>
                        <m:r>
                          <a:rPr kumimoji="1" lang="en-US" altLang="zh-TW" sz="2600" b="0" i="1" smtClean="0">
                            <a:latin typeface="Cambria Math" panose="02040503050406030204" pitchFamily="18" charset="0"/>
                            <a:cs typeface="Times New Roman" panose="02020603050405020304" pitchFamily="18" charset="0"/>
                          </a:rPr>
                          <m:t>𝑅</m:t>
                        </m:r>
                      </m:sup>
                    </m:sSup>
                    <m:r>
                      <a:rPr kumimoji="1" lang="en-US" altLang="zh-TW" sz="2600" b="0" i="0" smtClean="0">
                        <a:latin typeface="Cambria Math" panose="02040503050406030204" pitchFamily="18" charset="0"/>
                        <a:cs typeface="Times New Roman" panose="02020603050405020304" pitchFamily="18" charset="0"/>
                      </a:rPr>
                      <m:t>[7]</m:t>
                    </m:r>
                  </m:oMath>
                </a14:m>
                <a:r>
                  <a:rPr kumimoji="1" lang="pt-BR" altLang="zh-TW" sz="2600" dirty="0">
                    <a:latin typeface="Times New Roman" panose="02020603050405020304" pitchFamily="18" charset="0"/>
                    <a:cs typeface="Times New Roman" panose="02020603050405020304" pitchFamily="18" charset="0"/>
                  </a:rPr>
                  <a:t> /</a:t>
                </a:r>
                <a:r>
                  <a:rPr kumimoji="1" lang="en-US" altLang="zh-TW" sz="2600" dirty="0">
                    <a:cs typeface="Times New Roman" panose="02020603050405020304" pitchFamily="18" charset="0"/>
                  </a:rPr>
                  <a:t> </a:t>
                </a:r>
                <a14:m>
                  <m:oMath xmlns:m="http://schemas.openxmlformats.org/officeDocument/2006/math">
                    <m:sSup>
                      <m:sSupPr>
                        <m:ctrlPr>
                          <a:rPr kumimoji="1" lang="en-US" altLang="zh-TW" sz="2600" i="1">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𝑃</m:t>
                        </m:r>
                      </m:e>
                      <m:sup>
                        <m:r>
                          <a:rPr kumimoji="1" lang="en-US" altLang="zh-TW" sz="2600" b="0" i="1" smtClean="0">
                            <a:latin typeface="Cambria Math" panose="02040503050406030204" pitchFamily="18" charset="0"/>
                            <a:cs typeface="Times New Roman" panose="02020603050405020304" pitchFamily="18" charset="0"/>
                          </a:rPr>
                          <m:t>𝑅</m:t>
                        </m:r>
                      </m:sup>
                    </m:sSup>
                    <m:r>
                      <a:rPr kumimoji="1" lang="en-US" altLang="zh-TW" sz="2600" b="0" i="0" smtClean="0">
                        <a:latin typeface="Cambria Math" panose="02040503050406030204" pitchFamily="18" charset="0"/>
                        <a:cs typeface="Times New Roman" panose="02020603050405020304" pitchFamily="18" charset="0"/>
                      </a:rPr>
                      <m:t>[1]</m:t>
                    </m:r>
                  </m:oMath>
                </a14:m>
                <a:r>
                  <a:rPr kumimoji="1" lang="pt-BR" altLang="zh-TW" sz="2600" dirty="0">
                    <a:latin typeface="Times New Roman" panose="02020603050405020304" pitchFamily="18" charset="0"/>
                    <a:cs typeface="Times New Roman" panose="02020603050405020304" pitchFamily="18" charset="0"/>
                  </a:rPr>
                  <a:t> = 2</a:t>
                </a:r>
                <a:r>
                  <a:rPr kumimoji="1" lang="zh-TW" altLang="en-US" sz="2600" dirty="0">
                    <a:latin typeface="Times New Roman" panose="02020603050405020304" pitchFamily="18" charset="0"/>
                    <a:cs typeface="Times New Roman" panose="02020603050405020304" pitchFamily="18" charset="0"/>
                  </a:rPr>
                  <a:t> </a:t>
                </a:r>
                <a:endParaRPr kumimoji="1" lang="en-US" altLang="zh-TW" sz="2600" dirty="0">
                  <a:latin typeface="Times New Roman" panose="02020603050405020304" pitchFamily="18" charset="0"/>
                  <a:cs typeface="Times New Roman" panose="02020603050405020304" pitchFamily="18" charset="0"/>
                </a:endParaRPr>
              </a:p>
              <a:p>
                <a14:m>
                  <m:oMath xmlns:m="http://schemas.openxmlformats.org/officeDocument/2006/math">
                    <m:r>
                      <a:rPr kumimoji="1" lang="en-US" altLang="zh-TW" sz="2600" b="0" i="1" smtClean="0">
                        <a:latin typeface="Cambria Math" panose="02040503050406030204" pitchFamily="18" charset="0"/>
                        <a:cs typeface="Times New Roman" panose="02020603050405020304" pitchFamily="18" charset="0"/>
                      </a:rPr>
                      <m:t>𝑠</m:t>
                    </m:r>
                    <m:r>
                      <a:rPr kumimoji="1" lang="en-US" altLang="zh-TW" sz="2600" b="0" i="1" smtClean="0">
                        <a:latin typeface="Cambria Math" panose="02040503050406030204" pitchFamily="18" charset="0"/>
                        <a:cs typeface="Times New Roman" panose="02020603050405020304" pitchFamily="18" charset="0"/>
                      </a:rPr>
                      <m:t>=</m:t>
                    </m:r>
                    <m:sSubSup>
                      <m:sSubSupPr>
                        <m:ctrlPr>
                          <a:rPr kumimoji="1" lang="en-US" altLang="zh-TW" sz="2600" b="0" i="1" smtClean="0">
                            <a:latin typeface="Cambria Math" panose="02040503050406030204" pitchFamily="18" charset="0"/>
                            <a:cs typeface="Times New Roman" panose="02020603050405020304" pitchFamily="18" charset="0"/>
                          </a:rPr>
                        </m:ctrlPr>
                      </m:sSubSupPr>
                      <m:e>
                        <m:r>
                          <a:rPr kumimoji="1" lang="en-US" altLang="zh-TW" sz="2600" i="1">
                            <a:latin typeface="Cambria Math" panose="02040503050406030204" pitchFamily="18" charset="0"/>
                            <a:cs typeface="Times New Roman" panose="02020603050405020304" pitchFamily="18" charset="0"/>
                          </a:rPr>
                          <m:t>∑</m:t>
                        </m:r>
                      </m:e>
                      <m:sub>
                        <m:r>
                          <a:rPr kumimoji="1" lang="en-US" altLang="zh-TW" sz="2600" b="0" i="1" smtClean="0">
                            <a:latin typeface="Cambria Math" panose="02040503050406030204" pitchFamily="18" charset="0"/>
                            <a:cs typeface="Times New Roman" panose="02020603050405020304" pitchFamily="18" charset="0"/>
                          </a:rPr>
                          <m:t>𝑞</m:t>
                        </m:r>
                        <m:r>
                          <a:rPr kumimoji="1" lang="en-US" altLang="zh-TW" sz="2600" b="0" i="1" smtClean="0">
                            <a:latin typeface="Cambria Math" panose="02040503050406030204" pitchFamily="18" charset="0"/>
                            <a:cs typeface="Times New Roman" panose="02020603050405020304" pitchFamily="18" charset="0"/>
                          </a:rPr>
                          <m:t>=0</m:t>
                        </m:r>
                      </m:sub>
                      <m:sup>
                        <m:r>
                          <a:rPr kumimoji="1" lang="en-US" altLang="zh-TW" sz="2600" b="0" i="1" smtClean="0">
                            <a:latin typeface="Cambria Math" panose="02040503050406030204" pitchFamily="18" charset="0"/>
                            <a:cs typeface="Times New Roman" panose="02020603050405020304" pitchFamily="18" charset="0"/>
                          </a:rPr>
                          <m:t>6</m:t>
                        </m:r>
                      </m:sup>
                    </m:sSubSup>
                    <m:sSup>
                      <m:sSupPr>
                        <m:ctrlPr>
                          <a:rPr kumimoji="1" lang="en-US" altLang="zh-TW" sz="2600" i="1">
                            <a:latin typeface="Cambria Math" panose="02040503050406030204" pitchFamily="18" charset="0"/>
                            <a:cs typeface="Times New Roman" panose="02020603050405020304" pitchFamily="18" charset="0"/>
                          </a:rPr>
                        </m:ctrlPr>
                      </m:sSupPr>
                      <m:e>
                        <m:r>
                          <a:rPr kumimoji="1" lang="en-US" altLang="zh-TW" sz="2600" i="1">
                            <a:latin typeface="Cambria Math" panose="02040503050406030204" pitchFamily="18" charset="0"/>
                            <a:cs typeface="Times New Roman" panose="02020603050405020304" pitchFamily="18" charset="0"/>
                          </a:rPr>
                          <m:t>𝑇</m:t>
                        </m:r>
                      </m:e>
                      <m:sup>
                        <m:r>
                          <a:rPr kumimoji="1" lang="en-US" altLang="zh-TW" sz="2600" i="1">
                            <a:latin typeface="Cambria Math" panose="02040503050406030204" pitchFamily="18" charset="0"/>
                            <a:cs typeface="Times New Roman" panose="02020603050405020304" pitchFamily="18" charset="0"/>
                          </a:rPr>
                          <m:t>𝑅</m:t>
                        </m:r>
                      </m:sup>
                    </m:sSup>
                    <m:d>
                      <m:dPr>
                        <m:begChr m:val="["/>
                        <m:endChr m:val="]"/>
                        <m:ctrlPr>
                          <a:rPr kumimoji="1" lang="en-US" altLang="zh-TW" sz="2600" b="0" i="1" smtClean="0">
                            <a:latin typeface="Cambria Math" panose="02040503050406030204" pitchFamily="18" charset="0"/>
                            <a:cs typeface="Times New Roman" panose="02020603050405020304" pitchFamily="18" charset="0"/>
                          </a:rPr>
                        </m:ctrlPr>
                      </m:dPr>
                      <m:e>
                        <m:r>
                          <a:rPr kumimoji="1" lang="en-US" altLang="zh-TW" sz="2600" b="0" i="1" smtClean="0">
                            <a:latin typeface="Cambria Math" panose="02040503050406030204" pitchFamily="18" charset="0"/>
                            <a:cs typeface="Times New Roman" panose="02020603050405020304" pitchFamily="18" charset="0"/>
                          </a:rPr>
                          <m:t>𝑞</m:t>
                        </m:r>
                      </m:e>
                    </m:d>
                    <m:r>
                      <a:rPr kumimoji="1" lang="en-US" altLang="zh-TW" sz="2600" b="0" i="1" smtClean="0">
                        <a:latin typeface="Cambria Math" panose="02040503050406030204" pitchFamily="18" charset="0"/>
                        <a:cs typeface="Times New Roman" panose="02020603050405020304" pitchFamily="18" charset="0"/>
                      </a:rPr>
                      <m:t>−2</m:t>
                    </m:r>
                    <m:sSup>
                      <m:sSupPr>
                        <m:ctrlPr>
                          <a:rPr kumimoji="1" lang="en-US" altLang="zh-TW" sz="2600" i="1">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𝑃</m:t>
                        </m:r>
                      </m:e>
                      <m:sup>
                        <m:r>
                          <a:rPr kumimoji="1" lang="en-US" altLang="zh-TW" sz="2600" i="1">
                            <a:latin typeface="Cambria Math" panose="02040503050406030204" pitchFamily="18" charset="0"/>
                            <a:cs typeface="Times New Roman" panose="02020603050405020304" pitchFamily="18" charset="0"/>
                          </a:rPr>
                          <m:t>𝑅</m:t>
                        </m:r>
                      </m:sup>
                    </m:sSup>
                    <m:d>
                      <m:dPr>
                        <m:begChr m:val="["/>
                        <m:endChr m:val="]"/>
                        <m:ctrlPr>
                          <a:rPr kumimoji="1" lang="en-US" altLang="zh-TW" sz="2600" b="0" i="1" smtClean="0">
                            <a:latin typeface="Cambria Math" panose="02040503050406030204" pitchFamily="18" charset="0"/>
                            <a:cs typeface="Times New Roman" panose="02020603050405020304" pitchFamily="18" charset="0"/>
                          </a:rPr>
                        </m:ctrlPr>
                      </m:dPr>
                      <m:e>
                        <m:r>
                          <a:rPr kumimoji="1" lang="en-US" altLang="zh-TW" sz="2600" b="0" i="1" smtClean="0">
                            <a:latin typeface="Cambria Math" panose="02040503050406030204" pitchFamily="18" charset="0"/>
                            <a:cs typeface="Times New Roman" panose="02020603050405020304" pitchFamily="18" charset="0"/>
                          </a:rPr>
                          <m:t>0</m:t>
                        </m:r>
                      </m:e>
                    </m:d>
                    <m:r>
                      <a:rPr kumimoji="1" lang="en-US" altLang="zh-TW" sz="2600" b="0" i="1" smtClean="0">
                        <a:latin typeface="Cambria Math" panose="02040503050406030204" pitchFamily="18" charset="0"/>
                        <a:cs typeface="Times New Roman" panose="02020603050405020304" pitchFamily="18" charset="0"/>
                      </a:rPr>
                      <m:t>=10−2=8</m:t>
                    </m:r>
                  </m:oMath>
                </a14:m>
                <a:endParaRPr kumimoji="1" lang="en-US" altLang="zh-TW" sz="2600" b="0" dirty="0">
                  <a:latin typeface="Times New Roman" panose="02020603050405020304" pitchFamily="18" charset="0"/>
                  <a:cs typeface="Times New Roman" panose="02020603050405020304" pitchFamily="18" charset="0"/>
                </a:endParaRPr>
              </a:p>
              <a:p>
                <a14:m>
                  <m:oMath xmlns:m="http://schemas.openxmlformats.org/officeDocument/2006/math">
                    <m:r>
                      <a:rPr kumimoji="1" lang="en-US" altLang="zh-TW" sz="2600" b="0" i="1" smtClean="0">
                        <a:latin typeface="Cambria Math" panose="02040503050406030204" pitchFamily="18" charset="0"/>
                        <a:cs typeface="Times New Roman" panose="02020603050405020304" pitchFamily="18" charset="0"/>
                      </a:rPr>
                      <m:t>𝑒</m:t>
                    </m:r>
                    <m:r>
                      <a:rPr kumimoji="1" lang="en-US" altLang="zh-TW" sz="2600" b="0" i="1" smtClean="0">
                        <a:latin typeface="Cambria Math" panose="02040503050406030204" pitchFamily="18" charset="0"/>
                        <a:cs typeface="Times New Roman" panose="02020603050405020304" pitchFamily="18" charset="0"/>
                      </a:rPr>
                      <m:t>=8+2×6=20</m:t>
                    </m:r>
                  </m:oMath>
                </a14:m>
                <a:endParaRPr kumimoji="1" lang="en-US" altLang="zh-TW" sz="2600"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kumimoji="1" lang="en-US" altLang="zh-TW" sz="2600" dirty="0">
                  <a:latin typeface="Times New Roman" panose="02020603050405020304" pitchFamily="18" charset="0"/>
                  <a:cs typeface="Times New Roman" panose="02020603050405020304" pitchFamily="18" charset="0"/>
                </a:endParaRPr>
              </a:p>
              <a:p>
                <a:pPr>
                  <a:buFont typeface="Symbol" panose="05050102010706020507" pitchFamily="18" charset="2"/>
                  <a:buChar char="Þ"/>
                </a:pPr>
                <a:r>
                  <a:rPr kumimoji="1" lang="en-US" altLang="zh-TW" sz="2600" dirty="0">
                    <a:latin typeface="Times New Roman" panose="02020603050405020304" pitchFamily="18" charset="0"/>
                    <a:cs typeface="Times New Roman" panose="02020603050405020304" pitchFamily="18" charset="0"/>
                  </a:rPr>
                  <a:t> candidate: </a:t>
                </a:r>
                <a14:m>
                  <m:oMath xmlns:m="http://schemas.openxmlformats.org/officeDocument/2006/math">
                    <m:r>
                      <a:rPr kumimoji="1" lang="en-US" altLang="zh-TW" sz="2600" b="0" i="1" smtClean="0">
                        <a:latin typeface="Cambria Math" panose="02040503050406030204" pitchFamily="18" charset="0"/>
                        <a:cs typeface="Times New Roman" panose="02020603050405020304" pitchFamily="18" charset="0"/>
                      </a:rPr>
                      <m:t>𝑇</m:t>
                    </m:r>
                    <m:r>
                      <a:rPr kumimoji="1" lang="en-US" altLang="zh-TW" sz="2600" b="0" i="1" smtClean="0">
                        <a:latin typeface="Cambria Math" panose="02040503050406030204" pitchFamily="18" charset="0"/>
                        <a:cs typeface="Times New Roman" panose="02020603050405020304" pitchFamily="18" charset="0"/>
                      </a:rPr>
                      <m:t>[8..20]</m:t>
                    </m:r>
                  </m:oMath>
                </a14:m>
                <a:endParaRPr kumimoji="1" lang="en-US" altLang="zh-TW" sz="2600" dirty="0">
                  <a:latin typeface="Times New Roman" panose="02020603050405020304" pitchFamily="18" charset="0"/>
                  <a:cs typeface="Times New Roman" panose="02020603050405020304" pitchFamily="18" charset="0"/>
                </a:endParaRPr>
              </a:p>
              <a:p>
                <a:pPr marL="0" indent="0">
                  <a:buNone/>
                </a:pPr>
                <a:endParaRPr kumimoji="1" lang="en-US" altLang="zh-TW" sz="2600" dirty="0">
                  <a:latin typeface="Times New Roman" panose="02020603050405020304" pitchFamily="18" charset="0"/>
                  <a:cs typeface="Times New Roman" panose="02020603050405020304" pitchFamily="18" charset="0"/>
                </a:endParaRPr>
              </a:p>
              <a:p>
                <a:pPr>
                  <a:buFont typeface="Symbol" panose="05050102010706020507" pitchFamily="18" charset="2"/>
                  <a:buChar char="Þ"/>
                </a:pPr>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1073" t="-2058"/>
                </a:stretch>
              </a:blipFill>
            </p:spPr>
            <p:txBody>
              <a:bodyPr/>
              <a:lstStyle/>
              <a:p>
                <a:r>
                  <a:rPr lang="zh-TW" altLang="en-US">
                    <a:noFill/>
                  </a:rPr>
                  <a:t> </a:t>
                </a:r>
              </a:p>
            </p:txBody>
          </p:sp>
        </mc:Fallback>
      </mc:AlternateContent>
      <p:sp>
        <p:nvSpPr>
          <p:cNvPr id="8" name="TextBox 7">
            <a:extLst>
              <a:ext uri="{FF2B5EF4-FFF2-40B4-BE49-F238E27FC236}">
                <a16:creationId xmlns:a16="http://schemas.microsoft.com/office/drawing/2014/main" id="{FD551CD0-360F-4F9E-8996-1620BD25049D}"/>
              </a:ext>
            </a:extLst>
          </p:cNvPr>
          <p:cNvSpPr txBox="1"/>
          <p:nvPr/>
        </p:nvSpPr>
        <p:spPr>
          <a:xfrm>
            <a:off x="4392706" y="6356350"/>
            <a:ext cx="184731" cy="369332"/>
          </a:xfrm>
          <a:prstGeom prst="rect">
            <a:avLst/>
          </a:prstGeom>
          <a:noFill/>
        </p:spPr>
        <p:txBody>
          <a:bodyPr wrap="none" rtlCol="0">
            <a:spAutoFit/>
          </a:bodyPr>
          <a:lstStyle/>
          <a:p>
            <a:endParaRPr lang="zh-TW" altLang="en-US" dirty="0"/>
          </a:p>
        </p:txBody>
      </p:sp>
      <p:pic>
        <p:nvPicPr>
          <p:cNvPr id="3" name="Picture 2">
            <a:extLst>
              <a:ext uri="{FF2B5EF4-FFF2-40B4-BE49-F238E27FC236}">
                <a16:creationId xmlns:a16="http://schemas.microsoft.com/office/drawing/2014/main" id="{3DB43478-253E-66F3-A7DD-5395B9982E1A}"/>
              </a:ext>
            </a:extLst>
          </p:cNvPr>
          <p:cNvPicPr>
            <a:picLocks noChangeAspect="1"/>
          </p:cNvPicPr>
          <p:nvPr/>
        </p:nvPicPr>
        <p:blipFill>
          <a:blip r:embed="rId4"/>
          <a:stretch>
            <a:fillRect/>
          </a:stretch>
        </p:blipFill>
        <p:spPr>
          <a:xfrm>
            <a:off x="4043385" y="3275343"/>
            <a:ext cx="6816400" cy="3522245"/>
          </a:xfrm>
          <a:prstGeom prst="rect">
            <a:avLst/>
          </a:prstGeom>
        </p:spPr>
      </p:pic>
      <p:sp>
        <p:nvSpPr>
          <p:cNvPr id="4" name="Rectangle 3">
            <a:extLst>
              <a:ext uri="{FF2B5EF4-FFF2-40B4-BE49-F238E27FC236}">
                <a16:creationId xmlns:a16="http://schemas.microsoft.com/office/drawing/2014/main" id="{86A8CAAB-DE4A-8A48-86C7-6BCF9B7F6336}"/>
              </a:ext>
            </a:extLst>
          </p:cNvPr>
          <p:cNvSpPr/>
          <p:nvPr/>
        </p:nvSpPr>
        <p:spPr>
          <a:xfrm>
            <a:off x="4559709" y="5820309"/>
            <a:ext cx="2902150" cy="1335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Rectangle 6">
            <a:extLst>
              <a:ext uri="{FF2B5EF4-FFF2-40B4-BE49-F238E27FC236}">
                <a16:creationId xmlns:a16="http://schemas.microsoft.com/office/drawing/2014/main" id="{2955EC68-50D0-25F4-CE85-0A685AD4F067}"/>
              </a:ext>
            </a:extLst>
          </p:cNvPr>
          <p:cNvSpPr/>
          <p:nvPr/>
        </p:nvSpPr>
        <p:spPr>
          <a:xfrm>
            <a:off x="6863137" y="6420171"/>
            <a:ext cx="598722" cy="1335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53606335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Algorithm for the OPPM problem with scaling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12</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Step 2: verify each candidate </a:t>
                </a:r>
                <a14:m>
                  <m:oMath xmlns:m="http://schemas.openxmlformats.org/officeDocument/2006/math">
                    <m:r>
                      <a:rPr kumimoji="1" lang="en-US" altLang="zh-TW" sz="2600" b="0" i="1" smtClean="0">
                        <a:latin typeface="Cambria Math" panose="02040503050406030204" pitchFamily="18" charset="0"/>
                        <a:cs typeface="Times New Roman" panose="02020603050405020304" pitchFamily="18" charset="0"/>
                      </a:rPr>
                      <m:t>𝑤</m:t>
                    </m:r>
                    <m:r>
                      <a:rPr kumimoji="1" lang="en-US" altLang="zh-TW" sz="2600" b="0" i="1" smtClean="0">
                        <a:latin typeface="Cambria Math" panose="02040503050406030204" pitchFamily="18" charset="0"/>
                        <a:cs typeface="Times New Roman" panose="02020603050405020304" pitchFamily="18" charset="0"/>
                      </a:rPr>
                      <m:t>=</m:t>
                    </m:r>
                    <m:r>
                      <a:rPr kumimoji="1" lang="en-US" altLang="zh-TW" sz="2600" b="0" i="1" smtClean="0">
                        <a:latin typeface="Cambria Math" panose="02040503050406030204" pitchFamily="18" charset="0"/>
                        <a:cs typeface="Times New Roman" panose="02020603050405020304" pitchFamily="18" charset="0"/>
                      </a:rPr>
                      <m:t>𝑇</m:t>
                    </m:r>
                    <m:d>
                      <m:dPr>
                        <m:begChr m:val="["/>
                        <m:endChr m:val="]"/>
                        <m:ctrlPr>
                          <a:rPr kumimoji="1" lang="en-US" altLang="zh-TW" sz="2600" b="0" i="1" smtClean="0">
                            <a:latin typeface="Cambria Math" panose="02040503050406030204" pitchFamily="18" charset="0"/>
                            <a:cs typeface="Times New Roman" panose="02020603050405020304" pitchFamily="18" charset="0"/>
                          </a:rPr>
                        </m:ctrlPr>
                      </m:dPr>
                      <m:e>
                        <m:r>
                          <a:rPr kumimoji="1" lang="en-US" altLang="zh-TW" sz="2600" b="0" i="1" smtClean="0">
                            <a:latin typeface="Cambria Math" panose="02040503050406030204" pitchFamily="18" charset="0"/>
                            <a:cs typeface="Times New Roman" panose="02020603050405020304" pitchFamily="18" charset="0"/>
                          </a:rPr>
                          <m:t>𝑠</m:t>
                        </m:r>
                        <m:r>
                          <a:rPr kumimoji="1" lang="en-US" altLang="zh-TW" sz="2600" b="0" i="1" smtClean="0">
                            <a:latin typeface="Cambria Math" panose="02040503050406030204" pitchFamily="18" charset="0"/>
                            <a:cs typeface="Times New Roman" panose="02020603050405020304" pitchFamily="18" charset="0"/>
                          </a:rPr>
                          <m:t>..</m:t>
                        </m:r>
                        <m:r>
                          <a:rPr kumimoji="1" lang="en-US" altLang="zh-TW" sz="2600" b="0" i="1" smtClean="0">
                            <a:latin typeface="Cambria Math" panose="02040503050406030204" pitchFamily="18" charset="0"/>
                            <a:cs typeface="Times New Roman" panose="02020603050405020304" pitchFamily="18" charset="0"/>
                          </a:rPr>
                          <m:t>𝑒</m:t>
                        </m:r>
                      </m:e>
                    </m:d>
                  </m:oMath>
                </a14:m>
                <a:endParaRPr kumimoji="1" lang="en-US" altLang="zh-TW" sz="2600" b="0"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If Condition 1 is satisfied for </a:t>
                </a:r>
                <a14:m>
                  <m:oMath xmlns:m="http://schemas.openxmlformats.org/officeDocument/2006/math">
                    <m:sSup>
                      <m:sSupPr>
                        <m:ctrlPr>
                          <a:rPr kumimoji="1" lang="en-US" altLang="zh-TW" i="1" smtClean="0">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𝑤</m:t>
                        </m:r>
                      </m:e>
                      <m:sup>
                        <m:r>
                          <a:rPr kumimoji="1" lang="en-US" altLang="zh-TW" b="0" i="1" smtClean="0">
                            <a:latin typeface="Cambria Math" panose="02040503050406030204" pitchFamily="18" charset="0"/>
                            <a:cs typeface="Times New Roman" panose="02020603050405020304" pitchFamily="18" charset="0"/>
                          </a:rPr>
                          <m:t>𝑅</m:t>
                        </m:r>
                      </m:sup>
                    </m:sSup>
                  </m:oMath>
                </a14:m>
                <a:r>
                  <a:rPr kumimoji="1" lang="en-US" altLang="zh-TW" dirty="0">
                    <a:latin typeface="Times New Roman" panose="02020603050405020304" pitchFamily="18" charset="0"/>
                    <a:cs typeface="Times New Roman" panose="02020603050405020304" pitchFamily="18" charset="0"/>
                  </a:rPr>
                  <a:t> and </a:t>
                </a:r>
                <a14:m>
                  <m:oMath xmlns:m="http://schemas.openxmlformats.org/officeDocument/2006/math">
                    <m:sSup>
                      <m:sSupPr>
                        <m:ctrlPr>
                          <a:rPr kumimoji="1" lang="en-US" altLang="zh-TW" i="1">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𝑃</m:t>
                        </m:r>
                      </m:e>
                      <m:sup>
                        <m:r>
                          <a:rPr kumimoji="1" lang="en-US" altLang="zh-TW" i="1">
                            <a:latin typeface="Cambria Math" panose="02040503050406030204" pitchFamily="18" charset="0"/>
                            <a:cs typeface="Times New Roman" panose="02020603050405020304" pitchFamily="18" charset="0"/>
                          </a:rPr>
                          <m:t>𝑅</m:t>
                        </m:r>
                      </m:sup>
                    </m:sSup>
                  </m:oMath>
                </a14:m>
                <a:endParaRPr kumimoji="1" lang="en-US" altLang="zh-TW"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If Condition 2 is satisfied for </a:t>
                </a:r>
                <a14:m>
                  <m:oMath xmlns:m="http://schemas.openxmlformats.org/officeDocument/2006/math">
                    <m:sSup>
                      <m:sSupPr>
                        <m:ctrlPr>
                          <a:rPr kumimoji="1" lang="en-US" altLang="zh-TW" i="1" smtClean="0">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𝑤</m:t>
                        </m:r>
                      </m:e>
                      <m:sup>
                        <m:r>
                          <a:rPr kumimoji="1" lang="en-US" altLang="zh-TW" b="0" i="1" smtClean="0">
                            <a:latin typeface="Cambria Math" panose="02040503050406030204" pitchFamily="18" charset="0"/>
                            <a:cs typeface="Times New Roman" panose="02020603050405020304" pitchFamily="18" charset="0"/>
                          </a:rPr>
                          <m:t>𝐶</m:t>
                        </m:r>
                      </m:sup>
                    </m:sSup>
                  </m:oMath>
                </a14:m>
                <a:r>
                  <a:rPr kumimoji="1" lang="en-US" altLang="zh-TW" dirty="0">
                    <a:latin typeface="Times New Roman" panose="02020603050405020304" pitchFamily="18" charset="0"/>
                    <a:cs typeface="Times New Roman" panose="02020603050405020304" pitchFamily="18" charset="0"/>
                  </a:rPr>
                  <a:t> and </a:t>
                </a:r>
                <a14:m>
                  <m:oMath xmlns:m="http://schemas.openxmlformats.org/officeDocument/2006/math">
                    <m:sSup>
                      <m:sSupPr>
                        <m:ctrlPr>
                          <a:rPr kumimoji="1" lang="en-US" altLang="zh-TW" i="1">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𝑃</m:t>
                        </m:r>
                      </m:e>
                      <m:sup>
                        <m:r>
                          <a:rPr kumimoji="1" lang="en-US" altLang="zh-TW" b="0" i="1" smtClean="0">
                            <a:latin typeface="Cambria Math" panose="02040503050406030204" pitchFamily="18" charset="0"/>
                            <a:cs typeface="Times New Roman" panose="02020603050405020304" pitchFamily="18" charset="0"/>
                          </a:rPr>
                          <m:t>𝐶</m:t>
                        </m:r>
                      </m:sup>
                    </m:sSup>
                  </m:oMath>
                </a14:m>
                <a:endParaRPr kumimoji="1" lang="en-US" altLang="zh-TW" dirty="0">
                  <a:latin typeface="Times New Roman" panose="02020603050405020304" pitchFamily="18" charset="0"/>
                  <a:cs typeface="Times New Roman" panose="02020603050405020304" pitchFamily="18" charset="0"/>
                </a:endParaRPr>
              </a:p>
              <a:p>
                <a:pPr lvl="1"/>
                <a:endParaRPr kumimoji="1" lang="en-US" altLang="zh-TW" dirty="0">
                  <a:latin typeface="Times New Roman" panose="02020603050405020304" pitchFamily="18" charset="0"/>
                  <a:cs typeface="Times New Roman" panose="02020603050405020304" pitchFamily="18" charset="0"/>
                </a:endParaRPr>
              </a:p>
              <a:p>
                <a:pPr>
                  <a:buFont typeface="Symbol" panose="05050102010706020507" pitchFamily="18" charset="2"/>
                  <a:buChar char="Þ"/>
                </a:pPr>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903" t="-2058"/>
                </a:stretch>
              </a:blipFill>
            </p:spPr>
            <p:txBody>
              <a:bodyPr/>
              <a:lstStyle/>
              <a:p>
                <a:r>
                  <a:rPr lang="zh-TW" altLang="en-US">
                    <a:noFill/>
                  </a:rPr>
                  <a:t> </a:t>
                </a:r>
              </a:p>
            </p:txBody>
          </p:sp>
        </mc:Fallback>
      </mc:AlternateContent>
      <p:sp>
        <p:nvSpPr>
          <p:cNvPr id="8" name="TextBox 7">
            <a:extLst>
              <a:ext uri="{FF2B5EF4-FFF2-40B4-BE49-F238E27FC236}">
                <a16:creationId xmlns:a16="http://schemas.microsoft.com/office/drawing/2014/main" id="{FD551CD0-360F-4F9E-8996-1620BD25049D}"/>
              </a:ext>
            </a:extLst>
          </p:cNvPr>
          <p:cNvSpPr txBox="1"/>
          <p:nvPr/>
        </p:nvSpPr>
        <p:spPr>
          <a:xfrm>
            <a:off x="4392706" y="6356350"/>
            <a:ext cx="184731" cy="369332"/>
          </a:xfrm>
          <a:prstGeom prst="rect">
            <a:avLst/>
          </a:prstGeom>
          <a:noFill/>
        </p:spPr>
        <p:txBody>
          <a:bodyPr wrap="none" rtlCol="0">
            <a:spAutoFit/>
          </a:bodyPr>
          <a:lstStyle/>
          <a:p>
            <a:endParaRPr lang="zh-TW" altLang="en-US" dirty="0"/>
          </a:p>
        </p:txBody>
      </p:sp>
    </p:spTree>
    <p:extLst>
      <p:ext uri="{BB962C8B-B14F-4D97-AF65-F5344CB8AC3E}">
        <p14:creationId xmlns:p14="http://schemas.microsoft.com/office/powerpoint/2010/main" val="24936930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Algorithm for the OPPM problem with scaling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13</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Check whether </a:t>
                </a: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m:rPr>
                            <m:sty m:val="p"/>
                          </m:rPr>
                          <a:rPr kumimoji="1" lang="en-US" altLang="zh-TW" sz="2600" i="1">
                            <a:latin typeface="Cambria Math" panose="02040503050406030204" pitchFamily="18" charset="0"/>
                            <a:cs typeface="Times New Roman" panose="02020603050405020304" pitchFamily="18" charset="0"/>
                          </a:rPr>
                          <m:t>T</m:t>
                        </m:r>
                      </m:e>
                      <m:sup>
                        <m:r>
                          <a:rPr kumimoji="1" lang="en-US" altLang="zh-TW" sz="2600" b="0" i="1" smtClean="0">
                            <a:latin typeface="Cambria Math" panose="02040503050406030204" pitchFamily="18" charset="0"/>
                            <a:cs typeface="Times New Roman" panose="02020603050405020304" pitchFamily="18" charset="0"/>
                          </a:rPr>
                          <m:t>𝑅</m:t>
                        </m:r>
                      </m:sup>
                    </m:sSup>
                    <m:d>
                      <m:dPr>
                        <m:begChr m:val="["/>
                        <m:endChr m:val="]"/>
                        <m:ctrlPr>
                          <a:rPr kumimoji="1" lang="en-US" altLang="zh-TW" sz="2600" b="0" i="1" smtClean="0">
                            <a:latin typeface="Cambria Math" panose="02040503050406030204" pitchFamily="18" charset="0"/>
                            <a:cs typeface="Times New Roman" panose="02020603050405020304" pitchFamily="18" charset="0"/>
                          </a:rPr>
                        </m:ctrlPr>
                      </m:dPr>
                      <m:e>
                        <m:r>
                          <a:rPr kumimoji="1" lang="en-US" altLang="zh-TW" sz="2600" b="0" i="1" smtClean="0">
                            <a:latin typeface="Cambria Math" panose="02040503050406030204" pitchFamily="18" charset="0"/>
                            <a:cs typeface="Times New Roman" panose="02020603050405020304" pitchFamily="18" charset="0"/>
                          </a:rPr>
                          <m:t>𝑗</m:t>
                        </m:r>
                        <m:r>
                          <a:rPr kumimoji="1" lang="en-US" altLang="zh-TW" sz="2600" b="0" i="1" smtClean="0">
                            <a:latin typeface="Cambria Math" panose="02040503050406030204" pitchFamily="18" charset="0"/>
                            <a:cs typeface="Times New Roman" panose="02020603050405020304" pitchFamily="18" charset="0"/>
                          </a:rPr>
                          <m:t>−1</m:t>
                        </m:r>
                      </m:e>
                    </m:d>
                    <m:r>
                      <a:rPr kumimoji="1" lang="en-US" altLang="zh-TW" sz="2600" b="0" i="1" smtClean="0">
                        <a:latin typeface="Cambria Math" panose="02040503050406030204" pitchFamily="18" charset="0"/>
                        <a:cs typeface="Times New Roman" panose="02020603050405020304" pitchFamily="18" charset="0"/>
                      </a:rPr>
                      <m:t>≥</m:t>
                    </m:r>
                    <m:r>
                      <a:rPr kumimoji="1" lang="en-US" altLang="zh-TW" sz="2600" b="0" i="1" smtClean="0">
                        <a:latin typeface="Cambria Math" panose="02040503050406030204" pitchFamily="18" charset="0"/>
                        <a:cs typeface="Times New Roman" panose="02020603050405020304" pitchFamily="18" charset="0"/>
                      </a:rPr>
                      <m:t>𝑘</m:t>
                    </m:r>
                    <m:sSup>
                      <m:sSupPr>
                        <m:ctrlPr>
                          <a:rPr kumimoji="1" lang="en-US" altLang="zh-TW" sz="2600" i="1">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𝑃</m:t>
                        </m:r>
                      </m:e>
                      <m:sup>
                        <m:r>
                          <a:rPr kumimoji="1" lang="en-US" altLang="zh-TW" sz="2600" i="1">
                            <a:latin typeface="Cambria Math" panose="02040503050406030204" pitchFamily="18" charset="0"/>
                            <a:cs typeface="Times New Roman" panose="02020603050405020304" pitchFamily="18" charset="0"/>
                          </a:rPr>
                          <m:t>𝑅</m:t>
                        </m:r>
                      </m:sup>
                    </m:sSup>
                    <m:d>
                      <m:dPr>
                        <m:begChr m:val="["/>
                        <m:endChr m:val="]"/>
                        <m:ctrlPr>
                          <a:rPr kumimoji="1" lang="en-US" altLang="zh-TW" sz="2600" i="1">
                            <a:latin typeface="Cambria Math" panose="02040503050406030204" pitchFamily="18" charset="0"/>
                            <a:cs typeface="Times New Roman" panose="02020603050405020304" pitchFamily="18" charset="0"/>
                          </a:rPr>
                        </m:ctrlPr>
                      </m:dPr>
                      <m:e>
                        <m:r>
                          <a:rPr kumimoji="1" lang="en-US" altLang="zh-TW" sz="2600" b="0" i="1" smtClean="0">
                            <a:latin typeface="Cambria Math" panose="02040503050406030204" pitchFamily="18" charset="0"/>
                            <a:cs typeface="Times New Roman" panose="02020603050405020304" pitchFamily="18" charset="0"/>
                          </a:rPr>
                          <m:t>0</m:t>
                        </m:r>
                      </m:e>
                    </m:d>
                  </m:oMath>
                </a14:m>
                <a:r>
                  <a:rPr kumimoji="1" lang="en-US" altLang="zh-TW" sz="2600" dirty="0">
                    <a:latin typeface="Times New Roman" panose="02020603050405020304" pitchFamily="18" charset="0"/>
                    <a:cs typeface="Times New Roman" panose="02020603050405020304" pitchFamily="18" charset="0"/>
                  </a:rPr>
                  <a:t> and </a:t>
                </a:r>
                <a14:m>
                  <m:oMath xmlns:m="http://schemas.openxmlformats.org/officeDocument/2006/math">
                    <m:sSup>
                      <m:sSupPr>
                        <m:ctrlPr>
                          <a:rPr kumimoji="1" lang="en-US" altLang="zh-TW" sz="2600" i="1">
                            <a:latin typeface="Cambria Math" panose="02040503050406030204" pitchFamily="18" charset="0"/>
                            <a:cs typeface="Times New Roman" panose="02020603050405020304" pitchFamily="18" charset="0"/>
                          </a:rPr>
                        </m:ctrlPr>
                      </m:sSupPr>
                      <m:e>
                        <m:r>
                          <m:rPr>
                            <m:sty m:val="p"/>
                          </m:rPr>
                          <a:rPr kumimoji="1" lang="en-US" altLang="zh-TW" sz="2600" i="1">
                            <a:latin typeface="Cambria Math" panose="02040503050406030204" pitchFamily="18" charset="0"/>
                            <a:cs typeface="Times New Roman" panose="02020603050405020304" pitchFamily="18" charset="0"/>
                          </a:rPr>
                          <m:t>T</m:t>
                        </m:r>
                      </m:e>
                      <m:sup>
                        <m:r>
                          <a:rPr kumimoji="1" lang="en-US" altLang="zh-TW" sz="2600" i="1">
                            <a:latin typeface="Cambria Math" panose="02040503050406030204" pitchFamily="18" charset="0"/>
                            <a:cs typeface="Times New Roman" panose="02020603050405020304" pitchFamily="18" charset="0"/>
                          </a:rPr>
                          <m:t>𝑅</m:t>
                        </m:r>
                      </m:sup>
                    </m:sSup>
                    <m:d>
                      <m:dPr>
                        <m:begChr m:val="["/>
                        <m:endChr m:val="]"/>
                        <m:ctrlPr>
                          <a:rPr kumimoji="1" lang="en-US" altLang="zh-TW" sz="2600" i="1">
                            <a:latin typeface="Cambria Math" panose="02040503050406030204" pitchFamily="18" charset="0"/>
                            <a:cs typeface="Times New Roman" panose="02020603050405020304" pitchFamily="18" charset="0"/>
                          </a:rPr>
                        </m:ctrlPr>
                      </m:dPr>
                      <m:e>
                        <m:r>
                          <a:rPr kumimoji="1" lang="en-US" altLang="zh-TW" sz="2600" i="1">
                            <a:latin typeface="Cambria Math" panose="02040503050406030204" pitchFamily="18" charset="0"/>
                            <a:cs typeface="Times New Roman" panose="02020603050405020304" pitchFamily="18" charset="0"/>
                          </a:rPr>
                          <m:t>𝑗</m:t>
                        </m:r>
                        <m:r>
                          <a:rPr kumimoji="1" lang="en-US" altLang="zh-TW" sz="2600" b="0" i="1" smtClean="0">
                            <a:latin typeface="Cambria Math" panose="02040503050406030204" pitchFamily="18" charset="0"/>
                            <a:cs typeface="Times New Roman" panose="02020603050405020304" pitchFamily="18" charset="0"/>
                          </a:rPr>
                          <m:t>+</m:t>
                        </m:r>
                        <m:sSup>
                          <m:sSupPr>
                            <m:ctrlPr>
                              <a:rPr kumimoji="1" lang="en-US" altLang="zh-TW" sz="2600" b="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𝑚</m:t>
                            </m:r>
                          </m:e>
                          <m:sup>
                            <m:r>
                              <a:rPr kumimoji="1" lang="en-US" altLang="zh-TW" sz="2600" b="0" i="1" smtClean="0">
                                <a:latin typeface="Cambria Math" panose="02040503050406030204" pitchFamily="18" charset="0"/>
                                <a:cs typeface="Times New Roman" panose="02020603050405020304" pitchFamily="18" charset="0"/>
                              </a:rPr>
                              <m:t>′</m:t>
                            </m:r>
                          </m:sup>
                        </m:sSup>
                        <m:r>
                          <a:rPr kumimoji="1" lang="en-US" altLang="zh-TW" sz="2600" i="1">
                            <a:latin typeface="Cambria Math" panose="02040503050406030204" pitchFamily="18" charset="0"/>
                            <a:cs typeface="Times New Roman" panose="02020603050405020304" pitchFamily="18" charset="0"/>
                          </a:rPr>
                          <m:t>−</m:t>
                        </m:r>
                        <m:r>
                          <a:rPr kumimoji="1" lang="en-US" altLang="zh-TW" sz="2600" b="0" i="1" smtClean="0">
                            <a:latin typeface="Cambria Math" panose="02040503050406030204" pitchFamily="18" charset="0"/>
                            <a:cs typeface="Times New Roman" panose="02020603050405020304" pitchFamily="18" charset="0"/>
                          </a:rPr>
                          <m:t>2</m:t>
                        </m:r>
                      </m:e>
                    </m:d>
                    <m:r>
                      <a:rPr kumimoji="1" lang="en-US" altLang="zh-TW" sz="2600" i="1">
                        <a:latin typeface="Cambria Math" panose="02040503050406030204" pitchFamily="18" charset="0"/>
                        <a:cs typeface="Times New Roman" panose="02020603050405020304" pitchFamily="18" charset="0"/>
                      </a:rPr>
                      <m:t>≥</m:t>
                    </m:r>
                    <m:r>
                      <a:rPr kumimoji="1" lang="en-US" altLang="zh-TW" sz="2600" i="1">
                        <a:latin typeface="Cambria Math" panose="02040503050406030204" pitchFamily="18" charset="0"/>
                        <a:cs typeface="Times New Roman" panose="02020603050405020304" pitchFamily="18" charset="0"/>
                      </a:rPr>
                      <m:t>𝑘</m:t>
                    </m:r>
                    <m:sSup>
                      <m:sSupPr>
                        <m:ctrlPr>
                          <a:rPr kumimoji="1" lang="en-US" altLang="zh-TW" sz="2600" i="1">
                            <a:latin typeface="Cambria Math" panose="02040503050406030204" pitchFamily="18" charset="0"/>
                            <a:cs typeface="Times New Roman" panose="02020603050405020304" pitchFamily="18" charset="0"/>
                          </a:rPr>
                        </m:ctrlPr>
                      </m:sSupPr>
                      <m:e>
                        <m:r>
                          <a:rPr kumimoji="1" lang="en-US" altLang="zh-TW" sz="2600" i="1">
                            <a:latin typeface="Cambria Math" panose="02040503050406030204" pitchFamily="18" charset="0"/>
                            <a:cs typeface="Times New Roman" panose="02020603050405020304" pitchFamily="18" charset="0"/>
                          </a:rPr>
                          <m:t>𝑃</m:t>
                        </m:r>
                      </m:e>
                      <m:sup>
                        <m:r>
                          <a:rPr kumimoji="1" lang="en-US" altLang="zh-TW" sz="2600" i="1">
                            <a:latin typeface="Cambria Math" panose="02040503050406030204" pitchFamily="18" charset="0"/>
                            <a:cs typeface="Times New Roman" panose="02020603050405020304" pitchFamily="18" charset="0"/>
                          </a:rPr>
                          <m:t>𝑅</m:t>
                        </m:r>
                      </m:sup>
                    </m:sSup>
                    <m:d>
                      <m:dPr>
                        <m:begChr m:val="["/>
                        <m:endChr m:val="]"/>
                        <m:ctrlPr>
                          <a:rPr kumimoji="1" lang="en-US" altLang="zh-TW" sz="2600" i="1">
                            <a:latin typeface="Cambria Math" panose="02040503050406030204" pitchFamily="18" charset="0"/>
                            <a:cs typeface="Times New Roman" panose="02020603050405020304" pitchFamily="18" charset="0"/>
                          </a:rPr>
                        </m:ctrlPr>
                      </m:dPr>
                      <m:e>
                        <m:sSup>
                          <m:sSupPr>
                            <m:ctrlPr>
                              <a:rPr kumimoji="1" lang="en-US" altLang="zh-TW" sz="2600" i="1">
                                <a:latin typeface="Cambria Math" panose="02040503050406030204" pitchFamily="18" charset="0"/>
                                <a:cs typeface="Times New Roman" panose="02020603050405020304" pitchFamily="18" charset="0"/>
                              </a:rPr>
                            </m:ctrlPr>
                          </m:sSupPr>
                          <m:e>
                            <m:r>
                              <a:rPr kumimoji="1" lang="en-US" altLang="zh-TW" sz="2600" i="1">
                                <a:latin typeface="Cambria Math" panose="02040503050406030204" pitchFamily="18" charset="0"/>
                                <a:cs typeface="Times New Roman" panose="02020603050405020304" pitchFamily="18" charset="0"/>
                              </a:rPr>
                              <m:t>𝑚</m:t>
                            </m:r>
                          </m:e>
                          <m:sup>
                            <m:r>
                              <a:rPr kumimoji="1" lang="en-US" altLang="zh-TW" sz="2600" i="1">
                                <a:latin typeface="Cambria Math" panose="02040503050406030204" pitchFamily="18" charset="0"/>
                                <a:cs typeface="Times New Roman" panose="02020603050405020304" pitchFamily="18" charset="0"/>
                              </a:rPr>
                              <m:t>′</m:t>
                            </m:r>
                          </m:sup>
                        </m:sSup>
                        <m:r>
                          <a:rPr kumimoji="1" lang="en-US" altLang="zh-TW" sz="2600" i="1">
                            <a:latin typeface="Cambria Math" panose="02040503050406030204" pitchFamily="18" charset="0"/>
                            <a:cs typeface="Times New Roman" panose="02020603050405020304" pitchFamily="18" charset="0"/>
                          </a:rPr>
                          <m:t>−</m:t>
                        </m:r>
                        <m:r>
                          <a:rPr kumimoji="1" lang="en-US" altLang="zh-TW" sz="2600" b="0" i="1" smtClean="0">
                            <a:latin typeface="Cambria Math" panose="02040503050406030204" pitchFamily="18" charset="0"/>
                            <a:cs typeface="Times New Roman" panose="02020603050405020304" pitchFamily="18" charset="0"/>
                          </a:rPr>
                          <m:t>1</m:t>
                        </m:r>
                      </m:e>
                    </m:d>
                  </m:oMath>
                </a14:m>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14:m>
                  <m:oMath xmlns:m="http://schemas.openxmlformats.org/officeDocument/2006/math">
                    <m:r>
                      <a:rPr kumimoji="1" lang="en-US" altLang="zh-TW" sz="2400" b="0" i="1" smtClean="0">
                        <a:latin typeface="Cambria Math" panose="02040503050406030204" pitchFamily="18" charset="0"/>
                        <a:cs typeface="Times New Roman" panose="02020603050405020304" pitchFamily="18" charset="0"/>
                      </a:rPr>
                      <m:t>𝑇</m:t>
                    </m:r>
                    <m:d>
                      <m:dPr>
                        <m:begChr m:val="["/>
                        <m:endChr m:val="]"/>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8..20</m:t>
                        </m:r>
                      </m:e>
                    </m:d>
                    <m:d>
                      <m:dPr>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=7, </m:t>
                        </m:r>
                        <m:r>
                          <a:rPr kumimoji="1" lang="en-US" altLang="zh-TW" sz="2400" b="0" i="1" smtClean="0">
                            <a:latin typeface="Cambria Math" panose="02040503050406030204" pitchFamily="18" charset="0"/>
                            <a:cs typeface="Times New Roman" panose="02020603050405020304" pitchFamily="18" charset="0"/>
                          </a:rPr>
                          <m:t>𝑘</m:t>
                        </m:r>
                        <m:r>
                          <a:rPr kumimoji="1" lang="en-US" altLang="zh-TW" sz="2400" b="0" i="1" smtClean="0">
                            <a:latin typeface="Cambria Math" panose="02040503050406030204" pitchFamily="18" charset="0"/>
                            <a:cs typeface="Times New Roman" panose="02020603050405020304" pitchFamily="18" charset="0"/>
                          </a:rPr>
                          <m:t>=2, </m:t>
                        </m:r>
                        <m:r>
                          <a:rPr kumimoji="1" lang="en-US" altLang="zh-TW" sz="2400" b="0" i="1" smtClean="0">
                            <a:latin typeface="Cambria Math" panose="02040503050406030204" pitchFamily="18" charset="0"/>
                            <a:cs typeface="Times New Roman" panose="02020603050405020304" pitchFamily="18" charset="0"/>
                          </a:rPr>
                          <m:t>𝑎𝑛𝑑</m:t>
                        </m:r>
                        <m:r>
                          <a:rPr kumimoji="1" lang="en-US" altLang="zh-TW" sz="2400" b="0" i="1" smtClean="0">
                            <a:latin typeface="Cambria Math" panose="02040503050406030204" pitchFamily="18" charset="0"/>
                            <a:cs typeface="Times New Roman" panose="02020603050405020304" pitchFamily="18" charset="0"/>
                          </a:rPr>
                          <m:t> </m:t>
                        </m:r>
                        <m:sSup>
                          <m:sSupPr>
                            <m:ctrlPr>
                              <a:rPr kumimoji="1" lang="en-US" altLang="zh-TW" sz="2400" b="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𝑚</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=5</m:t>
                        </m:r>
                      </m:e>
                    </m:d>
                  </m:oMath>
                </a14:m>
                <a:endParaRPr kumimoji="1" lang="en-US" altLang="zh-TW" sz="2400" b="0" dirty="0">
                  <a:latin typeface="Times New Roman" panose="02020603050405020304" pitchFamily="18" charset="0"/>
                  <a:cs typeface="Times New Roman" panose="02020603050405020304" pitchFamily="18" charset="0"/>
                </a:endParaRPr>
              </a:p>
              <a:p>
                <a14:m>
                  <m:oMath xmlns:m="http://schemas.openxmlformats.org/officeDocument/2006/math">
                    <m:sSup>
                      <m:sSupPr>
                        <m:ctrlPr>
                          <a:rPr kumimoji="1" lang="en-US"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𝑇</m:t>
                        </m:r>
                      </m:e>
                      <m:sup>
                        <m:r>
                          <a:rPr kumimoji="1" lang="en-US" altLang="zh-TW" sz="2400" b="0" i="1" smtClean="0">
                            <a:latin typeface="Cambria Math" panose="02040503050406030204" pitchFamily="18" charset="0"/>
                            <a:cs typeface="Times New Roman" panose="02020603050405020304" pitchFamily="18" charset="0"/>
                          </a:rPr>
                          <m:t>𝑅</m:t>
                        </m:r>
                      </m:sup>
                    </m:sSup>
                    <m:d>
                      <m:dPr>
                        <m:begChr m:val="["/>
                        <m:endChr m:val="]"/>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6</m:t>
                        </m:r>
                      </m:e>
                    </m:d>
                    <m:r>
                      <a:rPr kumimoji="1" lang="en-US" altLang="zh-TW" sz="2400" b="0" i="1" smtClean="0">
                        <a:latin typeface="Cambria Math" panose="02040503050406030204" pitchFamily="18" charset="0"/>
                        <a:cs typeface="Times New Roman" panose="02020603050405020304" pitchFamily="18" charset="0"/>
                      </a:rPr>
                      <m:t> </m:t>
                    </m:r>
                    <m:d>
                      <m:dPr>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=3</m:t>
                        </m:r>
                      </m:e>
                    </m:d>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𝑘</m:t>
                    </m:r>
                    <m:sSup>
                      <m:sSupPr>
                        <m:ctrlPr>
                          <a:rPr kumimoji="1" lang="en-US" altLang="zh-TW" sz="2400" i="1">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𝑃</m:t>
                        </m:r>
                      </m:e>
                      <m:sup>
                        <m:r>
                          <a:rPr kumimoji="1" lang="en-US" altLang="zh-TW" sz="2400" i="1">
                            <a:latin typeface="Cambria Math" panose="02040503050406030204" pitchFamily="18" charset="0"/>
                            <a:cs typeface="Times New Roman" panose="02020603050405020304" pitchFamily="18" charset="0"/>
                          </a:rPr>
                          <m:t>𝑅</m:t>
                        </m:r>
                      </m:sup>
                    </m:sSup>
                    <m:d>
                      <m:dPr>
                        <m:begChr m:val="["/>
                        <m:endChr m:val="]"/>
                        <m:ctrlPr>
                          <a:rPr kumimoji="1" lang="en-US" altLang="zh-TW" sz="2400" i="1">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0</m:t>
                        </m:r>
                      </m:e>
                    </m:d>
                    <m:r>
                      <a:rPr kumimoji="1" lang="en-US" altLang="zh-TW" sz="2400" b="0" i="1" smtClean="0">
                        <a:latin typeface="Cambria Math" panose="02040503050406030204" pitchFamily="18" charset="0"/>
                        <a:cs typeface="Times New Roman" panose="02020603050405020304" pitchFamily="18" charset="0"/>
                      </a:rPr>
                      <m:t> </m:t>
                    </m:r>
                    <m:d>
                      <m:dPr>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=2</m:t>
                        </m:r>
                      </m:e>
                    </m:d>
                  </m:oMath>
                </a14:m>
                <a:endParaRPr kumimoji="1" lang="en-US" altLang="zh-TW" sz="2400" b="0" dirty="0">
                  <a:latin typeface="Times New Roman" panose="02020603050405020304" pitchFamily="18" charset="0"/>
                  <a:cs typeface="Times New Roman" panose="02020603050405020304" pitchFamily="18" charset="0"/>
                </a:endParaRPr>
              </a:p>
              <a:p>
                <a14:m>
                  <m:oMath xmlns:m="http://schemas.openxmlformats.org/officeDocument/2006/math">
                    <m:sSup>
                      <m:sSupPr>
                        <m:ctrlPr>
                          <a:rPr kumimoji="1" lang="en-US"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𝑇</m:t>
                        </m:r>
                      </m:e>
                      <m:sup>
                        <m:r>
                          <a:rPr kumimoji="1" lang="en-US" altLang="zh-TW" sz="2400" b="0" i="1" smtClean="0">
                            <a:latin typeface="Cambria Math" panose="02040503050406030204" pitchFamily="18" charset="0"/>
                            <a:cs typeface="Times New Roman" panose="02020603050405020304" pitchFamily="18" charset="0"/>
                          </a:rPr>
                          <m:t>𝑅</m:t>
                        </m:r>
                      </m:sup>
                    </m:sSup>
                    <m:d>
                      <m:dPr>
                        <m:begChr m:val="["/>
                        <m:endChr m:val="]"/>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10</m:t>
                        </m:r>
                      </m:e>
                    </m:d>
                    <m:r>
                      <a:rPr kumimoji="1" lang="en-US" altLang="zh-TW" sz="2400" b="0" i="1" smtClean="0">
                        <a:latin typeface="Cambria Math" panose="02040503050406030204" pitchFamily="18" charset="0"/>
                        <a:cs typeface="Times New Roman" panose="02020603050405020304" pitchFamily="18" charset="0"/>
                      </a:rPr>
                      <m:t> </m:t>
                    </m:r>
                    <m:d>
                      <m:dPr>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=3</m:t>
                        </m:r>
                      </m:e>
                    </m:d>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𝑘</m:t>
                    </m:r>
                    <m:sSup>
                      <m:sSupPr>
                        <m:ctrlPr>
                          <a:rPr kumimoji="1" lang="en-US" altLang="zh-TW" sz="2400" i="1">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𝑃</m:t>
                        </m:r>
                      </m:e>
                      <m:sup>
                        <m:r>
                          <a:rPr kumimoji="1" lang="en-US" altLang="zh-TW" sz="2400" i="1">
                            <a:latin typeface="Cambria Math" panose="02040503050406030204" pitchFamily="18" charset="0"/>
                            <a:cs typeface="Times New Roman" panose="02020603050405020304" pitchFamily="18" charset="0"/>
                          </a:rPr>
                          <m:t>𝑅</m:t>
                        </m:r>
                      </m:sup>
                    </m:sSup>
                    <m:d>
                      <m:dPr>
                        <m:begChr m:val="["/>
                        <m:endChr m:val="]"/>
                        <m:ctrlPr>
                          <a:rPr kumimoji="1" lang="en-US" altLang="zh-TW" sz="240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4</m:t>
                        </m:r>
                      </m:e>
                    </m:d>
                    <m:r>
                      <a:rPr kumimoji="1" lang="en-US" altLang="zh-TW" sz="2400" b="0" i="1" smtClean="0">
                        <a:latin typeface="Cambria Math" panose="02040503050406030204" pitchFamily="18" charset="0"/>
                        <a:cs typeface="Times New Roman" panose="02020603050405020304" pitchFamily="18" charset="0"/>
                      </a:rPr>
                      <m:t> </m:t>
                    </m:r>
                    <m:d>
                      <m:dPr>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=2</m:t>
                        </m:r>
                      </m:e>
                    </m:d>
                  </m:oMath>
                </a14:m>
                <a:endParaRPr kumimoji="1" lang="en-US" altLang="zh-TW" sz="2400"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pPr>
                  <a:buFont typeface="Symbol" panose="05050102010706020507" pitchFamily="18" charset="2"/>
                  <a:buChar char="Þ"/>
                </a:pPr>
                <a:r>
                  <a:rPr kumimoji="1" lang="en-US" altLang="zh-TW" sz="2400" dirty="0">
                    <a:latin typeface="Times New Roman" panose="02020603050405020304" pitchFamily="18" charset="0"/>
                    <a:cs typeface="Times New Roman" panose="02020603050405020304" pitchFamily="18" charset="0"/>
                  </a:rPr>
                  <a:t> satisfy Condition 1</a:t>
                </a:r>
              </a:p>
              <a:p>
                <a:pPr marL="0" indent="0">
                  <a:buNone/>
                </a:pPr>
                <a:endParaRPr kumimoji="1" lang="en-US" altLang="zh-TW" dirty="0">
                  <a:latin typeface="Times New Roman" panose="02020603050405020304" pitchFamily="18" charset="0"/>
                  <a:cs typeface="Times New Roman" panose="02020603050405020304" pitchFamily="18" charset="0"/>
                </a:endParaRPr>
              </a:p>
              <a:p>
                <a:pPr marL="0" indent="0">
                  <a:buNone/>
                </a:pPr>
                <a:endParaRPr kumimoji="1" lang="en-US" altLang="zh-TW" dirty="0">
                  <a:latin typeface="Times New Roman" panose="02020603050405020304" pitchFamily="18" charset="0"/>
                  <a:cs typeface="Times New Roman" panose="02020603050405020304" pitchFamily="18" charset="0"/>
                </a:endParaRPr>
              </a:p>
              <a:p>
                <a:pPr lvl="1"/>
                <a:endParaRPr kumimoji="1" lang="en-US" altLang="zh-TW" dirty="0">
                  <a:latin typeface="Times New Roman" panose="02020603050405020304" pitchFamily="18" charset="0"/>
                  <a:cs typeface="Times New Roman" panose="02020603050405020304" pitchFamily="18" charset="0"/>
                </a:endParaRPr>
              </a:p>
              <a:p>
                <a:pPr>
                  <a:buFont typeface="Symbol" panose="05050102010706020507" pitchFamily="18" charset="2"/>
                  <a:buChar char="Þ"/>
                </a:pPr>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903" t="-2058"/>
                </a:stretch>
              </a:blipFill>
            </p:spPr>
            <p:txBody>
              <a:bodyPr/>
              <a:lstStyle/>
              <a:p>
                <a:r>
                  <a:rPr lang="zh-TW" altLang="en-US">
                    <a:noFill/>
                  </a:rPr>
                  <a:t> </a:t>
                </a:r>
              </a:p>
            </p:txBody>
          </p:sp>
        </mc:Fallback>
      </mc:AlternateContent>
      <p:sp>
        <p:nvSpPr>
          <p:cNvPr id="8" name="TextBox 7">
            <a:extLst>
              <a:ext uri="{FF2B5EF4-FFF2-40B4-BE49-F238E27FC236}">
                <a16:creationId xmlns:a16="http://schemas.microsoft.com/office/drawing/2014/main" id="{FD551CD0-360F-4F9E-8996-1620BD25049D}"/>
              </a:ext>
            </a:extLst>
          </p:cNvPr>
          <p:cNvSpPr txBox="1"/>
          <p:nvPr/>
        </p:nvSpPr>
        <p:spPr>
          <a:xfrm>
            <a:off x="4392706" y="6356350"/>
            <a:ext cx="184731" cy="369332"/>
          </a:xfrm>
          <a:prstGeom prst="rect">
            <a:avLst/>
          </a:prstGeom>
          <a:noFill/>
        </p:spPr>
        <p:txBody>
          <a:bodyPr wrap="none" rtlCol="0">
            <a:spAutoFit/>
          </a:bodyPr>
          <a:lstStyle/>
          <a:p>
            <a:endParaRPr lang="zh-TW" altLang="en-US" dirty="0"/>
          </a:p>
        </p:txBody>
      </p:sp>
      <p:pic>
        <p:nvPicPr>
          <p:cNvPr id="3" name="Picture 2">
            <a:extLst>
              <a:ext uri="{FF2B5EF4-FFF2-40B4-BE49-F238E27FC236}">
                <a16:creationId xmlns:a16="http://schemas.microsoft.com/office/drawing/2014/main" id="{1845D7CF-3998-10E6-B626-61687C736DCA}"/>
              </a:ext>
            </a:extLst>
          </p:cNvPr>
          <p:cNvPicPr>
            <a:picLocks noChangeAspect="1"/>
          </p:cNvPicPr>
          <p:nvPr/>
        </p:nvPicPr>
        <p:blipFill>
          <a:blip r:embed="rId4"/>
          <a:stretch>
            <a:fillRect/>
          </a:stretch>
        </p:blipFill>
        <p:spPr>
          <a:xfrm>
            <a:off x="5775829" y="2728266"/>
            <a:ext cx="6416171" cy="3315435"/>
          </a:xfrm>
          <a:prstGeom prst="rect">
            <a:avLst/>
          </a:prstGeom>
        </p:spPr>
      </p:pic>
      <p:sp>
        <p:nvSpPr>
          <p:cNvPr id="4" name="Rectangle 3">
            <a:extLst>
              <a:ext uri="{FF2B5EF4-FFF2-40B4-BE49-F238E27FC236}">
                <a16:creationId xmlns:a16="http://schemas.microsoft.com/office/drawing/2014/main" id="{BE3BB6C6-EA70-51AE-C607-8F08C21D9A2A}"/>
              </a:ext>
            </a:extLst>
          </p:cNvPr>
          <p:cNvSpPr/>
          <p:nvPr/>
        </p:nvSpPr>
        <p:spPr>
          <a:xfrm>
            <a:off x="8117821" y="2558945"/>
            <a:ext cx="917844" cy="34954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Rectangle 6">
            <a:extLst>
              <a:ext uri="{FF2B5EF4-FFF2-40B4-BE49-F238E27FC236}">
                <a16:creationId xmlns:a16="http://schemas.microsoft.com/office/drawing/2014/main" id="{98433245-8D33-4C46-4276-57E9B4ECEBBA}"/>
              </a:ext>
            </a:extLst>
          </p:cNvPr>
          <p:cNvSpPr/>
          <p:nvPr/>
        </p:nvSpPr>
        <p:spPr>
          <a:xfrm>
            <a:off x="11175729" y="2558945"/>
            <a:ext cx="917844" cy="34847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062153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45D7CF-3998-10E6-B626-61687C736DCA}"/>
              </a:ext>
            </a:extLst>
          </p:cNvPr>
          <p:cNvPicPr>
            <a:picLocks noChangeAspect="1"/>
          </p:cNvPicPr>
          <p:nvPr/>
        </p:nvPicPr>
        <p:blipFill>
          <a:blip r:embed="rId3"/>
          <a:stretch>
            <a:fillRect/>
          </a:stretch>
        </p:blipFill>
        <p:spPr>
          <a:xfrm>
            <a:off x="4313045" y="3600450"/>
            <a:ext cx="6039941" cy="3121025"/>
          </a:xfrm>
          <a:prstGeom prst="rect">
            <a:avLst/>
          </a:prstGeom>
        </p:spPr>
      </p:pic>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Algorithm for the OPPM problem with scaling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14</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765621"/>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Check </a:t>
                </a:r>
                <a14:m>
                  <m:oMath xmlns:m="http://schemas.openxmlformats.org/officeDocument/2006/math">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𝑃</m:t>
                        </m:r>
                      </m:e>
                      <m:sup>
                        <m:r>
                          <a:rPr kumimoji="1" lang="en-US" altLang="zh-TW" sz="2600" b="0" i="1" smtClean="0">
                            <a:latin typeface="Cambria Math" panose="02040503050406030204" pitchFamily="18" charset="0"/>
                            <a:cs typeface="Times New Roman" panose="02020603050405020304" pitchFamily="18" charset="0"/>
                          </a:rPr>
                          <m:t>𝐶</m:t>
                        </m:r>
                      </m:sup>
                    </m:sSup>
                    <m:d>
                      <m:dPr>
                        <m:begChr m:val="["/>
                        <m:endChr m:val="]"/>
                        <m:ctrlPr>
                          <a:rPr kumimoji="1" lang="en-US" altLang="zh-TW" sz="2600" b="0" i="1" smtClean="0">
                            <a:latin typeface="Cambria Math" panose="02040503050406030204" pitchFamily="18" charset="0"/>
                            <a:cs typeface="Times New Roman" panose="02020603050405020304" pitchFamily="18" charset="0"/>
                          </a:rPr>
                        </m:ctrlPr>
                      </m:dPr>
                      <m:e>
                        <m:r>
                          <a:rPr kumimoji="1" lang="en-US" altLang="zh-TW" sz="2600" b="0" i="0" smtClean="0">
                            <a:latin typeface="Cambria Math" panose="02040503050406030204" pitchFamily="18" charset="0"/>
                            <a:cs typeface="Times New Roman" panose="02020603050405020304" pitchFamily="18" charset="0"/>
                          </a:rPr>
                          <m:t>0</m:t>
                        </m:r>
                      </m:e>
                    </m:d>
                  </m:oMath>
                </a14:m>
                <a:r>
                  <a:rPr kumimoji="1" lang="en-US" altLang="zh-TW" sz="2600" dirty="0">
                    <a:latin typeface="Times New Roman" panose="02020603050405020304" pitchFamily="18" charset="0"/>
                    <a:cs typeface="Times New Roman" panose="02020603050405020304" pitchFamily="18" charset="0"/>
                  </a:rPr>
                  <a:t> and </a:t>
                </a:r>
                <a14:m>
                  <m:oMath xmlns:m="http://schemas.openxmlformats.org/officeDocument/2006/math">
                    <m:sSup>
                      <m:sSupPr>
                        <m:ctrlPr>
                          <a:rPr kumimoji="1" lang="en-US" altLang="zh-TW" sz="2600" i="1">
                            <a:latin typeface="Cambria Math" panose="02040503050406030204" pitchFamily="18" charset="0"/>
                            <a:cs typeface="Times New Roman" panose="02020603050405020304" pitchFamily="18" charset="0"/>
                          </a:rPr>
                        </m:ctrlPr>
                      </m:sSupPr>
                      <m:e>
                        <m:r>
                          <a:rPr kumimoji="1" lang="en-US" altLang="zh-TW" sz="2600" i="1">
                            <a:latin typeface="Cambria Math" panose="02040503050406030204" pitchFamily="18" charset="0"/>
                            <a:cs typeface="Times New Roman" panose="02020603050405020304" pitchFamily="18" charset="0"/>
                          </a:rPr>
                          <m:t>𝑃</m:t>
                        </m:r>
                      </m:e>
                      <m:sup>
                        <m:r>
                          <a:rPr kumimoji="1" lang="en-US" altLang="zh-TW" sz="2600" b="0" i="1" smtClean="0">
                            <a:latin typeface="Cambria Math" panose="02040503050406030204" pitchFamily="18" charset="0"/>
                            <a:cs typeface="Times New Roman" panose="02020603050405020304" pitchFamily="18" charset="0"/>
                          </a:rPr>
                          <m:t>𝐶</m:t>
                        </m:r>
                      </m:sup>
                    </m:sSup>
                    <m:d>
                      <m:dPr>
                        <m:begChr m:val="["/>
                        <m:endChr m:val="]"/>
                        <m:ctrlPr>
                          <a:rPr kumimoji="1" lang="en-US" altLang="zh-TW" sz="2600" i="1" smtClean="0">
                            <a:latin typeface="Cambria Math" panose="02040503050406030204" pitchFamily="18" charset="0"/>
                            <a:cs typeface="Times New Roman" panose="02020603050405020304" pitchFamily="18" charset="0"/>
                          </a:rPr>
                        </m:ctrlPr>
                      </m:dPr>
                      <m:e>
                        <m:sSup>
                          <m:sSupPr>
                            <m:ctrlPr>
                              <a:rPr kumimoji="1" lang="en-US" altLang="zh-TW" sz="2600" i="1" smtClean="0">
                                <a:latin typeface="Cambria Math" panose="02040503050406030204" pitchFamily="18" charset="0"/>
                                <a:cs typeface="Times New Roman" panose="02020603050405020304" pitchFamily="18" charset="0"/>
                              </a:rPr>
                            </m:ctrlPr>
                          </m:sSupPr>
                          <m:e>
                            <m:r>
                              <a:rPr kumimoji="1" lang="en-US" altLang="zh-TW" sz="2600" b="0" i="1" smtClean="0">
                                <a:latin typeface="Cambria Math" panose="02040503050406030204" pitchFamily="18" charset="0"/>
                                <a:cs typeface="Times New Roman" panose="02020603050405020304" pitchFamily="18" charset="0"/>
                              </a:rPr>
                              <m:t>𝑚</m:t>
                            </m:r>
                          </m:e>
                          <m:sup>
                            <m:r>
                              <a:rPr kumimoji="1" lang="en-US" altLang="zh-TW" sz="2600" b="0" i="1" smtClean="0">
                                <a:latin typeface="Cambria Math" panose="02040503050406030204" pitchFamily="18" charset="0"/>
                                <a:cs typeface="Times New Roman" panose="02020603050405020304" pitchFamily="18" charset="0"/>
                              </a:rPr>
                              <m:t>′</m:t>
                            </m:r>
                          </m:sup>
                        </m:sSup>
                      </m:e>
                    </m:d>
                  </m:oMath>
                </a14:m>
                <a:endParaRPr kumimoji="1" lang="en-US" altLang="zh-TW" sz="2600" dirty="0">
                  <a:latin typeface="Times New Roman" panose="02020603050405020304" pitchFamily="18" charset="0"/>
                  <a:cs typeface="Times New Roman" panose="02020603050405020304" pitchFamily="18" charset="0"/>
                </a:endParaRPr>
              </a:p>
              <a:p>
                <a:pPr marL="0" indent="0">
                  <a:buNone/>
                </a:pPr>
                <a:endParaRPr kumimoji="1" lang="en-US" altLang="zh-TW" sz="2600" b="0" dirty="0">
                  <a:latin typeface="Times New Roman" panose="02020603050405020304" pitchFamily="18" charset="0"/>
                  <a:cs typeface="Times New Roman" panose="02020603050405020304" pitchFamily="18" charset="0"/>
                </a:endParaRPr>
              </a:p>
              <a:p>
                <a14:m>
                  <m:oMath xmlns:m="http://schemas.openxmlformats.org/officeDocument/2006/math">
                    <m:sSup>
                      <m:sSupPr>
                        <m:ctrlPr>
                          <a:rPr kumimoji="1" lang="en-US" altLang="zh-TW" sz="2400" i="1">
                            <a:latin typeface="Cambria Math" panose="02040503050406030204" pitchFamily="18" charset="0"/>
                            <a:cs typeface="Times New Roman" panose="02020603050405020304" pitchFamily="18" charset="0"/>
                          </a:rPr>
                        </m:ctrlPr>
                      </m:sSupPr>
                      <m:e>
                        <m:r>
                          <a:rPr kumimoji="1" lang="en-US" altLang="zh-TW" sz="2400" i="1">
                            <a:latin typeface="Cambria Math" panose="02040503050406030204" pitchFamily="18" charset="0"/>
                            <a:cs typeface="Times New Roman" panose="02020603050405020304" pitchFamily="18" charset="0"/>
                          </a:rPr>
                          <m:t>𝑇</m:t>
                        </m:r>
                      </m:e>
                      <m:sup>
                        <m:r>
                          <a:rPr kumimoji="1" lang="en-US" altLang="zh-TW" sz="2400" i="1">
                            <a:latin typeface="Cambria Math" panose="02040503050406030204" pitchFamily="18" charset="0"/>
                            <a:cs typeface="Times New Roman" panose="02020603050405020304" pitchFamily="18" charset="0"/>
                          </a:rPr>
                          <m:t>𝐶</m:t>
                        </m:r>
                      </m:sup>
                    </m:sSup>
                    <m:d>
                      <m:dPr>
                        <m:begChr m:val="["/>
                        <m:endChr m:val="]"/>
                        <m:ctrlPr>
                          <a:rPr kumimoji="1" lang="en-US" altLang="zh-TW" sz="2400" i="1">
                            <a:latin typeface="Cambria Math" panose="02040503050406030204" pitchFamily="18" charset="0"/>
                            <a:cs typeface="Times New Roman" panose="02020603050405020304" pitchFamily="18" charset="0"/>
                          </a:rPr>
                        </m:ctrlPr>
                      </m:dPr>
                      <m:e>
                        <m:r>
                          <a:rPr kumimoji="1" lang="en-US" altLang="zh-TW" sz="2400" i="1">
                            <a:latin typeface="Cambria Math" panose="02040503050406030204" pitchFamily="18" charset="0"/>
                            <a:cs typeface="Times New Roman" panose="02020603050405020304" pitchFamily="18" charset="0"/>
                          </a:rPr>
                          <m:t>𝑗</m:t>
                        </m:r>
                        <m:r>
                          <a:rPr kumimoji="1" lang="en-US" altLang="zh-TW" sz="2400" i="1">
                            <a:latin typeface="Cambria Math" panose="02040503050406030204" pitchFamily="18" charset="0"/>
                            <a:cs typeface="Times New Roman" panose="02020603050405020304" pitchFamily="18" charset="0"/>
                          </a:rPr>
                          <m:t>..</m:t>
                        </m:r>
                        <m:r>
                          <a:rPr kumimoji="1" lang="en-US" altLang="zh-TW" sz="2400" i="1">
                            <a:latin typeface="Cambria Math" panose="02040503050406030204" pitchFamily="18" charset="0"/>
                            <a:cs typeface="Times New Roman" panose="02020603050405020304" pitchFamily="18" charset="0"/>
                          </a:rPr>
                          <m:t>𝑗</m:t>
                        </m:r>
                        <m:r>
                          <a:rPr kumimoji="1" lang="en-US" altLang="zh-TW" sz="2400" i="1">
                            <a:latin typeface="Cambria Math" panose="02040503050406030204" pitchFamily="18" charset="0"/>
                            <a:cs typeface="Times New Roman" panose="02020603050405020304" pitchFamily="18" charset="0"/>
                          </a:rPr>
                          <m:t>+</m:t>
                        </m:r>
                        <m:sSup>
                          <m:sSupPr>
                            <m:ctrlPr>
                              <a:rPr kumimoji="1" lang="en-US" altLang="zh-TW" sz="2400" i="1">
                                <a:latin typeface="Cambria Math" panose="02040503050406030204" pitchFamily="18" charset="0"/>
                                <a:cs typeface="Times New Roman" panose="02020603050405020304" pitchFamily="18" charset="0"/>
                              </a:rPr>
                            </m:ctrlPr>
                          </m:sSupPr>
                          <m:e>
                            <m:r>
                              <a:rPr kumimoji="1" lang="en-US" altLang="zh-TW" sz="2400" i="1">
                                <a:latin typeface="Cambria Math" panose="02040503050406030204" pitchFamily="18" charset="0"/>
                                <a:cs typeface="Times New Roman" panose="02020603050405020304" pitchFamily="18" charset="0"/>
                              </a:rPr>
                              <m:t>𝑚</m:t>
                            </m:r>
                          </m:e>
                          <m:sup>
                            <m:r>
                              <a:rPr kumimoji="1" lang="en-US" altLang="zh-TW" sz="2400" i="1">
                                <a:latin typeface="Cambria Math" panose="02040503050406030204" pitchFamily="18" charset="0"/>
                                <a:cs typeface="Times New Roman" panose="02020603050405020304" pitchFamily="18" charset="0"/>
                              </a:rPr>
                              <m:t>′</m:t>
                            </m:r>
                          </m:sup>
                        </m:sSup>
                        <m:r>
                          <a:rPr kumimoji="1" lang="en-US" altLang="zh-TW" sz="2400" i="1">
                            <a:latin typeface="Cambria Math" panose="02040503050406030204" pitchFamily="18" charset="0"/>
                            <a:cs typeface="Times New Roman" panose="02020603050405020304" pitchFamily="18" charset="0"/>
                          </a:rPr>
                          <m:t>−2</m:t>
                        </m:r>
                      </m:e>
                    </m:d>
                    <m:r>
                      <m:rPr>
                        <m:nor/>
                      </m:rPr>
                      <a:rPr kumimoji="1" lang="zh-TW" altLang="en-US" sz="2400" i="1">
                        <a:latin typeface="Cambria Math" panose="02040503050406030204" pitchFamily="18" charset="0"/>
                        <a:cs typeface="Times New Roman" panose="02020603050405020304" pitchFamily="18" charset="0"/>
                      </a:rPr>
                      <m:t>◦</m:t>
                    </m:r>
                    <m:r>
                      <m:rPr>
                        <m:nor/>
                      </m:rPr>
                      <a:rPr kumimoji="1" lang="en-US" altLang="zh-TW" sz="2400" b="0" i="1" smtClean="0">
                        <a:latin typeface="Cambria Math" panose="02040503050406030204" pitchFamily="18" charset="0"/>
                        <a:cs typeface="Times New Roman" panose="02020603050405020304" pitchFamily="18" charset="0"/>
                      </a:rPr>
                      <m:t> </m:t>
                    </m:r>
                    <m:r>
                      <a:rPr kumimoji="1" lang="en-US" altLang="zh-TW" sz="2400" b="0" i="1" smtClean="0">
                        <a:latin typeface="Cambria Math" panose="02040503050406030204" pitchFamily="18" charset="0"/>
                        <a:cs typeface="Times New Roman" panose="02020603050405020304" pitchFamily="18" charset="0"/>
                      </a:rPr>
                      <m:t>𝑇</m:t>
                    </m:r>
                    <m:d>
                      <m:dPr>
                        <m:begChr m:val="["/>
                        <m:endChr m:val="]"/>
                        <m:ctrlPr>
                          <a:rPr kumimoji="1" lang="en-US" altLang="zh-TW" sz="2400" i="1">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𝑒</m:t>
                        </m:r>
                      </m:e>
                    </m:d>
                    <m:r>
                      <m:rPr>
                        <m:nor/>
                      </m:rPr>
                      <a:rPr kumimoji="1" lang="zh-TW" altLang="en-US" sz="2400" i="1">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 </m:t>
                    </m:r>
                    <m:r>
                      <a:rPr kumimoji="1" lang="en-US" altLang="zh-TW" sz="2400" i="1">
                        <a:latin typeface="Cambria Math" panose="02040503050406030204" pitchFamily="18" charset="0"/>
                        <a:cs typeface="Times New Roman" panose="02020603050405020304" pitchFamily="18" charset="0"/>
                      </a:rPr>
                      <m:t>𝑇</m:t>
                    </m:r>
                    <m:d>
                      <m:dPr>
                        <m:begChr m:val="["/>
                        <m:endChr m:val="]"/>
                        <m:ctrlPr>
                          <a:rPr kumimoji="1" lang="en-US" altLang="zh-TW" sz="2400" i="1">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𝑠</m:t>
                        </m:r>
                      </m:e>
                    </m:d>
                  </m:oMath>
                </a14:m>
                <a:r>
                  <a:rPr kumimoji="1" lang="en-US" altLang="zh-TW" sz="2400" dirty="0">
                    <a:latin typeface="Times New Roman" panose="02020603050405020304" pitchFamily="18" charset="0"/>
                    <a:cs typeface="Times New Roman" panose="02020603050405020304" pitchFamily="18" charset="0"/>
                  </a:rPr>
                  <a:t>= (41, 17, 35, 24, </a:t>
                </a:r>
                <a:r>
                  <a:rPr kumimoji="1" lang="en-US" altLang="zh-TW" sz="2400" u="sng" dirty="0">
                    <a:latin typeface="Times New Roman" panose="02020603050405020304" pitchFamily="18" charset="0"/>
                    <a:cs typeface="Times New Roman" panose="02020603050405020304" pitchFamily="18" charset="0"/>
                  </a:rPr>
                  <a:t>29, 34</a:t>
                </a:r>
                <a:r>
                  <a:rPr kumimoji="1" lang="en-US" altLang="zh-TW" sz="2400" dirty="0">
                    <a:latin typeface="Times New Roman" panose="02020603050405020304" pitchFamily="18" charset="0"/>
                    <a:cs typeface="Times New Roman" panose="02020603050405020304" pitchFamily="18" charset="0"/>
                  </a:rPr>
                  <a:t>) =&gt; order = (6, 1, 5, 2, 3, 4)</a:t>
                </a:r>
              </a:p>
              <a:p>
                <a14:m>
                  <m:oMath xmlns:m="http://schemas.openxmlformats.org/officeDocument/2006/math">
                    <m:sSup>
                      <m:sSupPr>
                        <m:ctrlPr>
                          <a:rPr kumimoji="1" lang="en-US" altLang="zh-TW" sz="2400" i="1">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𝑃</m:t>
                        </m:r>
                      </m:e>
                      <m:sup>
                        <m:r>
                          <a:rPr kumimoji="1" lang="en-US" altLang="zh-TW" sz="2400" i="1">
                            <a:latin typeface="Cambria Math" panose="02040503050406030204" pitchFamily="18" charset="0"/>
                            <a:cs typeface="Times New Roman" panose="02020603050405020304" pitchFamily="18" charset="0"/>
                          </a:rPr>
                          <m:t>𝐶</m:t>
                        </m:r>
                      </m:sup>
                    </m:sSup>
                    <m:d>
                      <m:dPr>
                        <m:begChr m:val="["/>
                        <m:endChr m:val="]"/>
                        <m:ctrlPr>
                          <a:rPr kumimoji="1" lang="en-US" altLang="zh-TW" sz="2400" i="1">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1</m:t>
                        </m:r>
                        <m:r>
                          <a:rPr kumimoji="1" lang="en-US" altLang="zh-TW" sz="2400" i="1">
                            <a:latin typeface="Cambria Math" panose="02040503050406030204" pitchFamily="18" charset="0"/>
                            <a:cs typeface="Times New Roman" panose="02020603050405020304" pitchFamily="18" charset="0"/>
                          </a:rPr>
                          <m:t>..</m:t>
                        </m:r>
                        <m:sSup>
                          <m:sSupPr>
                            <m:ctrlPr>
                              <a:rPr kumimoji="1" lang="en-US" altLang="zh-TW" sz="2400" i="1">
                                <a:latin typeface="Cambria Math" panose="02040503050406030204" pitchFamily="18" charset="0"/>
                                <a:cs typeface="Times New Roman" panose="02020603050405020304" pitchFamily="18" charset="0"/>
                              </a:rPr>
                            </m:ctrlPr>
                          </m:sSupPr>
                          <m:e>
                            <m:r>
                              <a:rPr kumimoji="1" lang="en-US" altLang="zh-TW" sz="2400" i="1">
                                <a:latin typeface="Cambria Math" panose="02040503050406030204" pitchFamily="18" charset="0"/>
                                <a:cs typeface="Times New Roman" panose="02020603050405020304" pitchFamily="18" charset="0"/>
                              </a:rPr>
                              <m:t>𝑚</m:t>
                            </m:r>
                          </m:e>
                          <m:sup>
                            <m:r>
                              <a:rPr kumimoji="1" lang="en-US" altLang="zh-TW" sz="2400" i="1">
                                <a:latin typeface="Cambria Math" panose="02040503050406030204" pitchFamily="18" charset="0"/>
                                <a:cs typeface="Times New Roman" panose="02020603050405020304" pitchFamily="18" charset="0"/>
                              </a:rPr>
                              <m:t>′</m:t>
                            </m:r>
                          </m:sup>
                        </m:sSup>
                        <m:r>
                          <a:rPr kumimoji="1" lang="en-US" altLang="zh-TW" sz="2400" i="1">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1</m:t>
                        </m:r>
                      </m:e>
                    </m:d>
                    <m:r>
                      <m:rPr>
                        <m:nor/>
                      </m:rPr>
                      <a:rPr kumimoji="1" lang="zh-TW" altLang="en-US" sz="2400" i="1">
                        <a:latin typeface="Cambria Math" panose="02040503050406030204" pitchFamily="18" charset="0"/>
                        <a:cs typeface="Times New Roman" panose="02020603050405020304" pitchFamily="18" charset="0"/>
                      </a:rPr>
                      <m:t>◦</m:t>
                    </m:r>
                    <m:sSup>
                      <m:sSupPr>
                        <m:ctrlPr>
                          <a:rPr kumimoji="1" lang="en-US" altLang="zh-TW" sz="2400" i="1">
                            <a:latin typeface="Cambria Math" panose="02040503050406030204" pitchFamily="18" charset="0"/>
                            <a:cs typeface="Times New Roman" panose="02020603050405020304" pitchFamily="18" charset="0"/>
                          </a:rPr>
                        </m:ctrlPr>
                      </m:sSupPr>
                      <m:e>
                        <m:r>
                          <a:rPr kumimoji="1" lang="en-US" altLang="zh-TW" sz="2400" i="1">
                            <a:latin typeface="Cambria Math" panose="02040503050406030204" pitchFamily="18" charset="0"/>
                            <a:cs typeface="Times New Roman" panose="02020603050405020304" pitchFamily="18" charset="0"/>
                          </a:rPr>
                          <m:t>𝑃</m:t>
                        </m:r>
                      </m:e>
                      <m:sup>
                        <m:r>
                          <a:rPr kumimoji="1" lang="en-US" altLang="zh-TW" sz="2400" i="1">
                            <a:latin typeface="Cambria Math" panose="02040503050406030204" pitchFamily="18" charset="0"/>
                            <a:cs typeface="Times New Roman" panose="02020603050405020304" pitchFamily="18" charset="0"/>
                          </a:rPr>
                          <m:t>𝐶</m:t>
                        </m:r>
                      </m:sup>
                    </m:sSup>
                    <m:d>
                      <m:dPr>
                        <m:begChr m:val="["/>
                        <m:endChr m:val="]"/>
                        <m:ctrlPr>
                          <a:rPr kumimoji="1" lang="en-US" altLang="zh-TW" sz="2400" i="1">
                            <a:latin typeface="Cambria Math" panose="02040503050406030204" pitchFamily="18" charset="0"/>
                            <a:cs typeface="Times New Roman" panose="02020603050405020304" pitchFamily="18" charset="0"/>
                          </a:rPr>
                        </m:ctrlPr>
                      </m:dPr>
                      <m:e>
                        <m:sSup>
                          <m:sSupPr>
                            <m:ctrlPr>
                              <a:rPr kumimoji="1" lang="en-US" altLang="zh-TW" sz="2400" i="1">
                                <a:latin typeface="Cambria Math" panose="02040503050406030204" pitchFamily="18" charset="0"/>
                                <a:cs typeface="Times New Roman" panose="02020603050405020304" pitchFamily="18" charset="0"/>
                              </a:rPr>
                            </m:ctrlPr>
                          </m:sSupPr>
                          <m:e>
                            <m:r>
                              <a:rPr kumimoji="1" lang="en-US" altLang="zh-TW" sz="2400" i="1">
                                <a:latin typeface="Cambria Math" panose="02040503050406030204" pitchFamily="18" charset="0"/>
                                <a:cs typeface="Times New Roman" panose="02020603050405020304" pitchFamily="18" charset="0"/>
                              </a:rPr>
                              <m:t>𝑚</m:t>
                            </m:r>
                          </m:e>
                          <m:sup>
                            <m:r>
                              <a:rPr kumimoji="1" lang="en-US" altLang="zh-TW" sz="2400" i="1">
                                <a:latin typeface="Cambria Math" panose="02040503050406030204" pitchFamily="18" charset="0"/>
                                <a:cs typeface="Times New Roman" panose="02020603050405020304" pitchFamily="18" charset="0"/>
                              </a:rPr>
                              <m:t>′</m:t>
                            </m:r>
                          </m:sup>
                        </m:sSup>
                      </m:e>
                    </m:d>
                    <m:r>
                      <m:rPr>
                        <m:nor/>
                      </m:rPr>
                      <a:rPr kumimoji="1" lang="zh-TW" altLang="en-US" sz="2400" i="1">
                        <a:latin typeface="Cambria Math" panose="02040503050406030204" pitchFamily="18" charset="0"/>
                        <a:cs typeface="Times New Roman" panose="02020603050405020304" pitchFamily="18" charset="0"/>
                      </a:rPr>
                      <m:t>◦</m:t>
                    </m:r>
                    <m:sSup>
                      <m:sSupPr>
                        <m:ctrlPr>
                          <a:rPr kumimoji="1" lang="en-US" altLang="zh-TW" sz="2400" i="1">
                            <a:latin typeface="Cambria Math" panose="02040503050406030204" pitchFamily="18" charset="0"/>
                            <a:cs typeface="Times New Roman" panose="02020603050405020304" pitchFamily="18" charset="0"/>
                          </a:rPr>
                        </m:ctrlPr>
                      </m:sSupPr>
                      <m:e>
                        <m:r>
                          <a:rPr kumimoji="1" lang="en-US" altLang="zh-TW" sz="2400" i="1">
                            <a:latin typeface="Cambria Math" panose="02040503050406030204" pitchFamily="18" charset="0"/>
                            <a:cs typeface="Times New Roman" panose="02020603050405020304" pitchFamily="18" charset="0"/>
                          </a:rPr>
                          <m:t>𝑃</m:t>
                        </m:r>
                      </m:e>
                      <m:sup>
                        <m:r>
                          <a:rPr kumimoji="1" lang="en-US" altLang="zh-TW" sz="2400" i="1">
                            <a:latin typeface="Cambria Math" panose="02040503050406030204" pitchFamily="18" charset="0"/>
                            <a:cs typeface="Times New Roman" panose="02020603050405020304" pitchFamily="18" charset="0"/>
                          </a:rPr>
                          <m:t>𝐶</m:t>
                        </m:r>
                      </m:sup>
                    </m:sSup>
                    <m:d>
                      <m:dPr>
                        <m:begChr m:val="["/>
                        <m:endChr m:val="]"/>
                        <m:ctrlPr>
                          <a:rPr kumimoji="1" lang="en-US" altLang="zh-TW" sz="2400" i="1">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0</m:t>
                        </m:r>
                      </m:e>
                    </m:d>
                  </m:oMath>
                </a14:m>
                <a:r>
                  <a:rPr kumimoji="1" lang="en-US" altLang="zh-TW" sz="2400" dirty="0">
                    <a:latin typeface="Times New Roman" panose="02020603050405020304" pitchFamily="18" charset="0"/>
                    <a:cs typeface="Times New Roman" panose="02020603050405020304" pitchFamily="18" charset="0"/>
                  </a:rPr>
                  <a:t>= (40, 23, 37, 28, </a:t>
                </a:r>
                <a:r>
                  <a:rPr kumimoji="1" lang="en-US" altLang="zh-TW" sz="2400" u="sng" dirty="0">
                    <a:latin typeface="Times New Roman" panose="02020603050405020304" pitchFamily="18" charset="0"/>
                    <a:cs typeface="Times New Roman" panose="02020603050405020304" pitchFamily="18" charset="0"/>
                  </a:rPr>
                  <a:t>30, 35</a:t>
                </a:r>
                <a:r>
                  <a:rPr kumimoji="1" lang="en-US" altLang="zh-TW" sz="2400" dirty="0">
                    <a:latin typeface="Times New Roman" panose="02020603050405020304" pitchFamily="18" charset="0"/>
                    <a:cs typeface="Times New Roman" panose="02020603050405020304" pitchFamily="18" charset="0"/>
                  </a:rPr>
                  <a:t>) =&gt; order = (6, 1, 5, 2, 3, 4)</a:t>
                </a:r>
              </a:p>
              <a:p>
                <a:endParaRPr kumimoji="1" lang="en-US" altLang="zh-TW" dirty="0">
                  <a:latin typeface="Times New Roman" panose="02020603050405020304" pitchFamily="18" charset="0"/>
                  <a:cs typeface="Times New Roman" panose="02020603050405020304" pitchFamily="18" charset="0"/>
                </a:endParaRPr>
              </a:p>
              <a:p>
                <a:pPr>
                  <a:buFont typeface="Symbol" panose="05050102010706020507" pitchFamily="18" charset="2"/>
                  <a:buChar char="Þ"/>
                </a:pPr>
                <a:r>
                  <a:rPr kumimoji="1" lang="en-US" altLang="zh-TW" sz="2400" dirty="0">
                    <a:latin typeface="Times New Roman" panose="02020603050405020304" pitchFamily="18" charset="0"/>
                    <a:cs typeface="Times New Roman" panose="02020603050405020304" pitchFamily="18" charset="0"/>
                  </a:rPr>
                  <a:t> satisfy Condition 2</a:t>
                </a:r>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765621"/>
                <a:ext cx="10796451" cy="4443091"/>
              </a:xfrm>
              <a:prstGeom prst="rect">
                <a:avLst/>
              </a:prstGeom>
              <a:blipFill>
                <a:blip r:embed="rId4"/>
                <a:stretch>
                  <a:fillRect l="-903" t="-2198"/>
                </a:stretch>
              </a:blipFill>
            </p:spPr>
            <p:txBody>
              <a:bodyPr/>
              <a:lstStyle/>
              <a:p>
                <a:r>
                  <a:rPr lang="zh-TW" altLang="en-US">
                    <a:noFill/>
                  </a:rPr>
                  <a:t> </a:t>
                </a:r>
              </a:p>
            </p:txBody>
          </p:sp>
        </mc:Fallback>
      </mc:AlternateContent>
      <p:sp>
        <p:nvSpPr>
          <p:cNvPr id="8" name="TextBox 7">
            <a:extLst>
              <a:ext uri="{FF2B5EF4-FFF2-40B4-BE49-F238E27FC236}">
                <a16:creationId xmlns:a16="http://schemas.microsoft.com/office/drawing/2014/main" id="{FD551CD0-360F-4F9E-8996-1620BD25049D}"/>
              </a:ext>
            </a:extLst>
          </p:cNvPr>
          <p:cNvSpPr txBox="1"/>
          <p:nvPr/>
        </p:nvSpPr>
        <p:spPr>
          <a:xfrm>
            <a:off x="4392706" y="6356350"/>
            <a:ext cx="184731" cy="369332"/>
          </a:xfrm>
          <a:prstGeom prst="rect">
            <a:avLst/>
          </a:prstGeom>
          <a:noFill/>
        </p:spPr>
        <p:txBody>
          <a:bodyPr wrap="none" rtlCol="0">
            <a:spAutoFit/>
          </a:bodyPr>
          <a:lstStyle/>
          <a:p>
            <a:endParaRPr lang="zh-TW" altLang="en-US" dirty="0"/>
          </a:p>
        </p:txBody>
      </p:sp>
    </p:spTree>
    <p:extLst>
      <p:ext uri="{BB962C8B-B14F-4D97-AF65-F5344CB8AC3E}">
        <p14:creationId xmlns:p14="http://schemas.microsoft.com/office/powerpoint/2010/main" val="9942817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E32A-8416-A57A-A55B-17B6957E26ED}"/>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Conclusion</a:t>
            </a:r>
            <a:endParaRPr lang="zh-TW" altLang="en-US"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049979-F5A7-6534-10C1-F736244053A9}"/>
                  </a:ext>
                </a:extLst>
              </p:cNvPr>
              <p:cNvSpPr>
                <a:spLocks noGrp="1"/>
              </p:cNvSpPr>
              <p:nvPr>
                <p:ph idx="1"/>
              </p:nvPr>
            </p:nvSpPr>
            <p:spPr/>
            <p:txBody>
              <a:bodyPr/>
              <a:lstStyle/>
              <a:p>
                <a:r>
                  <a:rPr kumimoji="1" lang="en-US" altLang="zh-TW" sz="2600" dirty="0">
                    <a:latin typeface="Times New Roman" panose="02020603050405020304" pitchFamily="18" charset="0"/>
                    <a:cs typeface="Times New Roman" panose="02020603050405020304" pitchFamily="18" charset="0"/>
                  </a:rPr>
                  <a:t>Time complexity: </a:t>
                </a:r>
                <a14:m>
                  <m:oMath xmlns:m="http://schemas.openxmlformats.org/officeDocument/2006/math">
                    <m:r>
                      <a:rPr kumimoji="1" lang="en-US" altLang="zh-TW" sz="2600" i="1" dirty="0" smtClean="0">
                        <a:latin typeface="Cambria Math" panose="02040503050406030204" pitchFamily="18" charset="0"/>
                        <a:cs typeface="Times New Roman" panose="02020603050405020304" pitchFamily="18" charset="0"/>
                      </a:rPr>
                      <m:t>𝑂</m:t>
                    </m:r>
                    <m:r>
                      <a:rPr kumimoji="1" lang="en-US" altLang="zh-TW" sz="2600" i="1" dirty="0" smtClean="0">
                        <a:latin typeface="Cambria Math" panose="02040503050406030204" pitchFamily="18" charset="0"/>
                        <a:cs typeface="Times New Roman" panose="02020603050405020304" pitchFamily="18" charset="0"/>
                      </a:rPr>
                      <m:t>(</m:t>
                    </m:r>
                    <m:r>
                      <a:rPr kumimoji="1" lang="en-US" altLang="zh-TW" sz="2600" i="1" dirty="0" smtClean="0">
                        <a:latin typeface="Cambria Math" panose="02040503050406030204" pitchFamily="18" charset="0"/>
                        <a:cs typeface="Times New Roman" panose="02020603050405020304" pitchFamily="18" charset="0"/>
                      </a:rPr>
                      <m:t>𝑛</m:t>
                    </m:r>
                    <m:r>
                      <a:rPr kumimoji="1" lang="en-US" altLang="zh-TW" sz="2600" i="1" dirty="0" smtClean="0">
                        <a:latin typeface="Cambria Math" panose="02040503050406030204" pitchFamily="18" charset="0"/>
                        <a:cs typeface="Times New Roman" panose="02020603050405020304" pitchFamily="18" charset="0"/>
                      </a:rPr>
                      <m:t> + </m:t>
                    </m:r>
                    <m:r>
                      <a:rPr kumimoji="1" lang="en-US" altLang="zh-TW" sz="2600" i="1" dirty="0" smtClean="0">
                        <a:latin typeface="Cambria Math" panose="02040503050406030204" pitchFamily="18" charset="0"/>
                        <a:cs typeface="Times New Roman" panose="02020603050405020304" pitchFamily="18" charset="0"/>
                      </a:rPr>
                      <m:t>𝑚</m:t>
                    </m:r>
                    <m:r>
                      <a:rPr kumimoji="1" lang="en-US" altLang="zh-TW" sz="2600" i="1" dirty="0" smtClean="0">
                        <a:latin typeface="Cambria Math" panose="02040503050406030204" pitchFamily="18" charset="0"/>
                        <a:cs typeface="Times New Roman" panose="02020603050405020304" pitchFamily="18" charset="0"/>
                      </a:rPr>
                      <m:t> </m:t>
                    </m:r>
                    <m:r>
                      <a:rPr kumimoji="1" lang="en-US" altLang="zh-TW" sz="2600" i="1" dirty="0" err="1" smtClean="0">
                        <a:latin typeface="Cambria Math" panose="02040503050406030204" pitchFamily="18" charset="0"/>
                        <a:cs typeface="Times New Roman" panose="02020603050405020304" pitchFamily="18" charset="0"/>
                      </a:rPr>
                      <m:t>𝑙𝑜𝑔𝑚</m:t>
                    </m:r>
                    <m:r>
                      <a:rPr kumimoji="1" lang="en-US" altLang="zh-TW" sz="2600" i="1" dirty="0">
                        <a:latin typeface="Cambria Math" panose="02040503050406030204" pitchFamily="18" charset="0"/>
                        <a:cs typeface="Times New Roman" panose="02020603050405020304" pitchFamily="18" charset="0"/>
                      </a:rPr>
                      <m:t>) </m:t>
                    </m:r>
                  </m:oMath>
                </a14:m>
                <a:endParaRPr kumimoji="1" lang="en-US" altLang="zh-TW" sz="26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9049979-F5A7-6534-10C1-F736244053A9}"/>
                  </a:ext>
                </a:extLst>
              </p:cNvPr>
              <p:cNvSpPr>
                <a:spLocks noGrp="1" noRot="1" noChangeAspect="1" noMove="1" noResize="1" noEditPoints="1" noAdjustHandles="1" noChangeArrowheads="1" noChangeShapeType="1" noTextEdit="1"/>
              </p:cNvSpPr>
              <p:nvPr>
                <p:ph idx="1"/>
              </p:nvPr>
            </p:nvSpPr>
            <p:spPr>
              <a:blipFill>
                <a:blip r:embed="rId3"/>
                <a:stretch>
                  <a:fillRect l="-928" t="-2101"/>
                </a:stretch>
              </a:blipFill>
            </p:spPr>
            <p:txBody>
              <a:bodyPr/>
              <a:lstStyle/>
              <a:p>
                <a:r>
                  <a:rPr lang="zh-TW" altLang="en-US">
                    <a:noFill/>
                  </a:rPr>
                  <a:t> </a:t>
                </a:r>
              </a:p>
            </p:txBody>
          </p:sp>
        </mc:Fallback>
      </mc:AlternateContent>
      <p:sp>
        <p:nvSpPr>
          <p:cNvPr id="4" name="Slide Number Placeholder 3">
            <a:extLst>
              <a:ext uri="{FF2B5EF4-FFF2-40B4-BE49-F238E27FC236}">
                <a16:creationId xmlns:a16="http://schemas.microsoft.com/office/drawing/2014/main" id="{74D1E5CC-1099-B1E7-5DBB-2AD99AD3ABBE}"/>
              </a:ext>
            </a:extLst>
          </p:cNvPr>
          <p:cNvSpPr>
            <a:spLocks noGrp="1"/>
          </p:cNvSpPr>
          <p:nvPr>
            <p:ph type="sldNum" sz="quarter" idx="12"/>
          </p:nvPr>
        </p:nvSpPr>
        <p:spPr/>
        <p:txBody>
          <a:bodyPr/>
          <a:lstStyle/>
          <a:p>
            <a:fld id="{C497B8E6-CB28-4350-9E62-3F3C29E41FED}" type="slidenum">
              <a:rPr lang="zh-TW" altLang="en-US" smtClean="0"/>
              <a:t>15</a:t>
            </a:fld>
            <a:endParaRPr lang="zh-TW" altLang="en-US"/>
          </a:p>
        </p:txBody>
      </p:sp>
    </p:spTree>
    <p:extLst>
      <p:ext uri="{BB962C8B-B14F-4D97-AF65-F5344CB8AC3E}">
        <p14:creationId xmlns:p14="http://schemas.microsoft.com/office/powerpoint/2010/main" val="366459289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Preliminaries</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16</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kumimoji="1" lang="en-US" altLang="zh-TW" i="1" smtClean="0">
                            <a:latin typeface="Cambria Math" panose="02040503050406030204" pitchFamily="18" charset="0"/>
                            <a:cs typeface="Times New Roman" panose="02020603050405020304" pitchFamily="18" charset="0"/>
                          </a:rPr>
                        </m:ctrlPr>
                      </m:sSubPr>
                      <m:e>
                        <m:r>
                          <m:rPr>
                            <m:sty m:val="p"/>
                          </m:rPr>
                          <a:rPr kumimoji="1" lang="en-US" altLang="zh-TW" i="1">
                            <a:latin typeface="Cambria Math" panose="02040503050406030204" pitchFamily="18" charset="0"/>
                            <a:cs typeface="Times New Roman" panose="02020603050405020304" pitchFamily="18" charset="0"/>
                          </a:rPr>
                          <m:t>LM</m:t>
                        </m:r>
                        <m:r>
                          <a:rPr kumimoji="1" lang="en-US" altLang="zh-TW" i="1">
                            <a:latin typeface="Cambria Math" panose="02040503050406030204" pitchFamily="18" charset="0"/>
                            <a:cs typeface="Times New Roman" panose="02020603050405020304" pitchFamily="18" charset="0"/>
                          </a:rPr>
                          <m:t>𝑎𝑥</m:t>
                        </m:r>
                      </m:e>
                      <m:sub>
                        <m:r>
                          <a:rPr kumimoji="1" lang="en-US" altLang="zh-TW" i="1">
                            <a:latin typeface="Cambria Math" panose="02040503050406030204" pitchFamily="18" charset="0"/>
                            <a:cs typeface="Times New Roman" panose="02020603050405020304" pitchFamily="18" charset="0"/>
                          </a:rPr>
                          <m:t>𝑋</m:t>
                        </m:r>
                      </m:sub>
                    </m:sSub>
                    <m:r>
                      <a:rPr kumimoji="1" lang="en-US" altLang="zh-TW" i="1">
                        <a:latin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𝑖</m:t>
                    </m:r>
                    <m:r>
                      <a:rPr kumimoji="1" lang="en-US" altLang="zh-TW" i="1">
                        <a:latin typeface="Cambria Math" panose="02040503050406030204" pitchFamily="18" charset="0"/>
                        <a:cs typeface="Times New Roman" panose="02020603050405020304" pitchFamily="18" charset="0"/>
                      </a:rPr>
                      <m:t>]</m:t>
                    </m:r>
                  </m:oMath>
                </a14:m>
                <a:r>
                  <a:rPr kumimoji="1" lang="en-US" altLang="zh-TW" dirty="0">
                    <a:latin typeface="Times New Roman" panose="02020603050405020304" pitchFamily="18" charset="0"/>
                    <a:cs typeface="Times New Roman" panose="02020603050405020304" pitchFamily="18" charset="0"/>
                  </a:rPr>
                  <a:t>: </a:t>
                </a:r>
                <a:r>
                  <a:rPr kumimoji="1" lang="zh-TW" altLang="en-US" dirty="0">
                    <a:latin typeface="標楷體" panose="03000509000000000000" pitchFamily="65" charset="-120"/>
                    <a:ea typeface="標楷體" panose="03000509000000000000" pitchFamily="65" charset="-120"/>
                    <a:cs typeface="Times New Roman" panose="02020603050405020304" pitchFamily="18" charset="0"/>
                  </a:rPr>
                  <a:t>比</a:t>
                </a:r>
                <a14:m>
                  <m:oMath xmlns:m="http://schemas.openxmlformats.org/officeDocument/2006/math">
                    <m:r>
                      <a:rPr kumimoji="1" lang="en-US" altLang="zh-TW" i="1" dirty="0">
                        <a:latin typeface="Cambria Math" panose="02040503050406030204" pitchFamily="18" charset="0"/>
                        <a:ea typeface="標楷體" panose="03000509000000000000" pitchFamily="65" charset="-120"/>
                        <a:cs typeface="Times New Roman" panose="02020603050405020304" pitchFamily="18" charset="0"/>
                      </a:rPr>
                      <m:t>𝑋</m:t>
                    </m:r>
                    <m:r>
                      <a:rPr kumimoji="1" lang="en-US" altLang="zh-TW" i="1" dirty="0">
                        <a:latin typeface="Cambria Math" panose="02040503050406030204" pitchFamily="18" charset="0"/>
                        <a:ea typeface="標楷體" panose="03000509000000000000" pitchFamily="65" charset="-120"/>
                        <a:cs typeface="Times New Roman" panose="02020603050405020304" pitchFamily="18" charset="0"/>
                      </a:rPr>
                      <m:t>[</m:t>
                    </m:r>
                    <m:r>
                      <a:rPr kumimoji="1" lang="en-US" altLang="zh-TW" i="1" dirty="0">
                        <a:latin typeface="Cambria Math" panose="02040503050406030204" pitchFamily="18" charset="0"/>
                        <a:ea typeface="標楷體" panose="03000509000000000000" pitchFamily="65" charset="-120"/>
                        <a:cs typeface="Times New Roman" panose="02020603050405020304" pitchFamily="18" charset="0"/>
                      </a:rPr>
                      <m:t>𝑖</m:t>
                    </m:r>
                    <m:r>
                      <a:rPr kumimoji="1" lang="en-US" altLang="zh-TW" i="1" dirty="0">
                        <a:latin typeface="Cambria Math" panose="02040503050406030204" pitchFamily="18" charset="0"/>
                        <a:ea typeface="標楷體" panose="03000509000000000000" pitchFamily="65" charset="-120"/>
                        <a:cs typeface="Times New Roman" panose="02020603050405020304" pitchFamily="18" charset="0"/>
                      </a:rPr>
                      <m:t>]</m:t>
                    </m:r>
                  </m:oMath>
                </a14:m>
                <a:r>
                  <a:rPr kumimoji="1" lang="zh-TW" altLang="en-US" dirty="0">
                    <a:latin typeface="標楷體" panose="03000509000000000000" pitchFamily="65" charset="-120"/>
                    <a:ea typeface="標楷體" panose="03000509000000000000" pitchFamily="65" charset="-120"/>
                    <a:cs typeface="Times New Roman" panose="02020603050405020304" pitchFamily="18" charset="0"/>
                  </a:rPr>
                  <a:t>小之中最大的</a:t>
                </a:r>
                <a:r>
                  <a:rPr kumimoji="1" lang="en-US" altLang="zh-TW" dirty="0">
                    <a:latin typeface="標楷體" panose="03000509000000000000" pitchFamily="65" charset="-120"/>
                    <a:ea typeface="標楷體" panose="03000509000000000000" pitchFamily="65" charset="-120"/>
                    <a:cs typeface="Times New Roman" panose="02020603050405020304" pitchFamily="18" charset="0"/>
                  </a:rPr>
                  <a:t>index</a:t>
                </a:r>
              </a:p>
              <a:p>
                <a14:m>
                  <m:oMath xmlns:m="http://schemas.openxmlformats.org/officeDocument/2006/math">
                    <m:sSub>
                      <m:sSubPr>
                        <m:ctrlPr>
                          <a:rPr kumimoji="1" lang="en-US" altLang="zh-TW" i="1" smtClean="0">
                            <a:latin typeface="Cambria Math" panose="02040503050406030204" pitchFamily="18" charset="0"/>
                            <a:cs typeface="Times New Roman" panose="02020603050405020304" pitchFamily="18" charset="0"/>
                          </a:rPr>
                        </m:ctrlPr>
                      </m:sSubPr>
                      <m:e>
                        <m:r>
                          <m:rPr>
                            <m:sty m:val="p"/>
                          </m:rPr>
                          <a:rPr kumimoji="1" lang="en-US" altLang="zh-TW" i="1">
                            <a:latin typeface="Cambria Math" panose="02040503050406030204" pitchFamily="18" charset="0"/>
                            <a:cs typeface="Times New Roman" panose="02020603050405020304" pitchFamily="18" charset="0"/>
                          </a:rPr>
                          <m:t>L</m:t>
                        </m:r>
                        <m:r>
                          <m:rPr>
                            <m:sty m:val="p"/>
                          </m:rPr>
                          <a:rPr kumimoji="1" lang="en-US" altLang="zh-TW" i="1" smtClean="0">
                            <a:latin typeface="Cambria Math" panose="02040503050406030204" pitchFamily="18" charset="0"/>
                            <a:cs typeface="Times New Roman" panose="02020603050405020304" pitchFamily="18" charset="0"/>
                          </a:rPr>
                          <m:t>M</m:t>
                        </m:r>
                        <m:r>
                          <a:rPr kumimoji="1" lang="en-US" altLang="zh-TW" b="0" i="1" smtClean="0">
                            <a:latin typeface="Cambria Math" panose="02040503050406030204" pitchFamily="18" charset="0"/>
                            <a:cs typeface="Times New Roman" panose="02020603050405020304" pitchFamily="18" charset="0"/>
                          </a:rPr>
                          <m:t>𝑖𝑛</m:t>
                        </m:r>
                      </m:e>
                      <m:sub>
                        <m:r>
                          <a:rPr kumimoji="1" lang="en-US" altLang="zh-TW" b="0" i="1" smtClean="0">
                            <a:latin typeface="Cambria Math" panose="02040503050406030204" pitchFamily="18" charset="0"/>
                            <a:cs typeface="Times New Roman" panose="02020603050405020304" pitchFamily="18" charset="0"/>
                          </a:rPr>
                          <m:t>𝑋</m:t>
                        </m:r>
                      </m:sub>
                    </m:sSub>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m:t>
                    </m:r>
                  </m:oMath>
                </a14:m>
                <a:r>
                  <a:rPr kumimoji="1" lang="en-US" altLang="zh-TW" dirty="0">
                    <a:latin typeface="Times New Roman" panose="02020603050405020304" pitchFamily="18" charset="0"/>
                    <a:cs typeface="Times New Roman" panose="02020603050405020304" pitchFamily="18" charset="0"/>
                  </a:rPr>
                  <a:t>: </a:t>
                </a:r>
                <a:r>
                  <a:rPr kumimoji="1" lang="zh-TW" altLang="en-US" dirty="0">
                    <a:latin typeface="標楷體" panose="03000509000000000000" pitchFamily="65" charset="-120"/>
                    <a:ea typeface="標楷體" panose="03000509000000000000" pitchFamily="65" charset="-120"/>
                    <a:cs typeface="Times New Roman" panose="02020603050405020304" pitchFamily="18" charset="0"/>
                  </a:rPr>
                  <a:t>比</a:t>
                </a:r>
                <a14:m>
                  <m:oMath xmlns:m="http://schemas.openxmlformats.org/officeDocument/2006/math">
                    <m:r>
                      <a:rPr kumimoji="1" lang="en-US" altLang="zh-TW" b="0" i="1" dirty="0" smtClean="0">
                        <a:latin typeface="Cambria Math" panose="02040503050406030204" pitchFamily="18" charset="0"/>
                        <a:ea typeface="標楷體" panose="03000509000000000000" pitchFamily="65" charset="-120"/>
                        <a:cs typeface="Times New Roman" panose="02020603050405020304" pitchFamily="18" charset="0"/>
                      </a:rPr>
                      <m:t>𝑋</m:t>
                    </m:r>
                    <m:r>
                      <a:rPr kumimoji="1" lang="en-US" altLang="zh-TW" b="0" i="1" dirty="0" smtClean="0">
                        <a:latin typeface="Cambria Math" panose="02040503050406030204" pitchFamily="18" charset="0"/>
                        <a:ea typeface="標楷體" panose="03000509000000000000" pitchFamily="65" charset="-120"/>
                        <a:cs typeface="Times New Roman" panose="02020603050405020304" pitchFamily="18" charset="0"/>
                      </a:rPr>
                      <m:t>[</m:t>
                    </m:r>
                    <m:r>
                      <a:rPr kumimoji="1" lang="en-US" altLang="zh-TW" b="0" i="1" dirty="0" smtClean="0">
                        <a:latin typeface="Cambria Math" panose="02040503050406030204" pitchFamily="18" charset="0"/>
                        <a:ea typeface="標楷體" panose="03000509000000000000" pitchFamily="65" charset="-120"/>
                        <a:cs typeface="Times New Roman" panose="02020603050405020304" pitchFamily="18" charset="0"/>
                      </a:rPr>
                      <m:t>𝑖</m:t>
                    </m:r>
                    <m:r>
                      <a:rPr kumimoji="1" lang="en-US" altLang="zh-TW" b="0" i="1" dirty="0" smtClean="0">
                        <a:latin typeface="Cambria Math" panose="02040503050406030204" pitchFamily="18" charset="0"/>
                        <a:ea typeface="標楷體" panose="03000509000000000000" pitchFamily="65" charset="-120"/>
                        <a:cs typeface="Times New Roman" panose="02020603050405020304" pitchFamily="18" charset="0"/>
                      </a:rPr>
                      <m:t>]</m:t>
                    </m:r>
                    <m:r>
                      <a:rPr kumimoji="1" lang="zh-TW" altLang="en-US" i="1" dirty="0">
                        <a:latin typeface="Cambria Math" panose="02040503050406030204" pitchFamily="18" charset="0"/>
                        <a:ea typeface="標楷體" panose="03000509000000000000" pitchFamily="65" charset="-120"/>
                        <a:cs typeface="Times New Roman" panose="02020603050405020304" pitchFamily="18" charset="0"/>
                      </a:rPr>
                      <m:t>大</m:t>
                    </m:r>
                  </m:oMath>
                </a14:m>
                <a:r>
                  <a:rPr kumimoji="1" lang="zh-TW" altLang="en-US" dirty="0">
                    <a:latin typeface="標楷體" panose="03000509000000000000" pitchFamily="65" charset="-120"/>
                    <a:ea typeface="標楷體" panose="03000509000000000000" pitchFamily="65" charset="-120"/>
                    <a:cs typeface="Times New Roman" panose="02020603050405020304" pitchFamily="18" charset="0"/>
                  </a:rPr>
                  <a:t>之中最小的</a:t>
                </a:r>
                <a:r>
                  <a:rPr kumimoji="1" lang="en-US" altLang="zh-TW" dirty="0">
                    <a:latin typeface="標楷體" panose="03000509000000000000" pitchFamily="65" charset="-120"/>
                    <a:ea typeface="標楷體" panose="03000509000000000000" pitchFamily="65" charset="-120"/>
                    <a:cs typeface="Times New Roman" panose="02020603050405020304" pitchFamily="18" charset="0"/>
                  </a:rPr>
                  <a:t>index</a:t>
                </a:r>
              </a:p>
              <a:p>
                <a:endParaRPr kumimoji="1"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457200" lvl="1" indent="0">
                  <a:buNone/>
                </a:pPr>
                <a:endParaRPr kumimoji="1" lang="en-US" altLang="zh-TW" sz="22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t="-2469"/>
                </a:stretch>
              </a:blipFill>
            </p:spPr>
            <p:txBody>
              <a:bodyPr/>
              <a:lstStyle/>
              <a:p>
                <a:r>
                  <a:rPr lang="zh-TW" altLang="en-US">
                    <a:noFill/>
                  </a:rPr>
                  <a:t> </a:t>
                </a:r>
              </a:p>
            </p:txBody>
          </p:sp>
        </mc:Fallback>
      </mc:AlternateContent>
      <p:pic>
        <p:nvPicPr>
          <p:cNvPr id="4" name="Picture 3">
            <a:extLst>
              <a:ext uri="{FF2B5EF4-FFF2-40B4-BE49-F238E27FC236}">
                <a16:creationId xmlns:a16="http://schemas.microsoft.com/office/drawing/2014/main" id="{A73D4753-B1EA-4475-8028-A8EEF9B6BA0E}"/>
              </a:ext>
            </a:extLst>
          </p:cNvPr>
          <p:cNvPicPr>
            <a:picLocks noChangeAspect="1"/>
          </p:cNvPicPr>
          <p:nvPr/>
        </p:nvPicPr>
        <p:blipFill>
          <a:blip r:embed="rId4"/>
          <a:stretch>
            <a:fillRect/>
          </a:stretch>
        </p:blipFill>
        <p:spPr>
          <a:xfrm>
            <a:off x="1761520" y="3429000"/>
            <a:ext cx="8668960" cy="2124371"/>
          </a:xfrm>
          <a:prstGeom prst="rect">
            <a:avLst/>
          </a:prstGeom>
        </p:spPr>
      </p:pic>
    </p:spTree>
    <p:extLst>
      <p:ext uri="{BB962C8B-B14F-4D97-AF65-F5344CB8AC3E}">
        <p14:creationId xmlns:p14="http://schemas.microsoft.com/office/powerpoint/2010/main" val="15622614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4682</TotalTime>
  <Words>874</Words>
  <Application>Microsoft Office PowerPoint</Application>
  <PresentationFormat>寬螢幕</PresentationFormat>
  <Paragraphs>132</Paragraphs>
  <Slides>16</Slides>
  <Notes>15</Notes>
  <HiddenSlides>1</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16</vt:i4>
      </vt:variant>
    </vt:vector>
  </HeadingPairs>
  <TitlesOfParts>
    <vt:vector size="24" baseType="lpstr">
      <vt:lpstr>標楷體</vt:lpstr>
      <vt:lpstr>Arial</vt:lpstr>
      <vt:lpstr>Calibri</vt:lpstr>
      <vt:lpstr>Calibri Light</vt:lpstr>
      <vt:lpstr>Cambria Math</vt:lpstr>
      <vt:lpstr>Symbol</vt:lpstr>
      <vt:lpstr>Times New Roman</vt:lpstr>
      <vt:lpstr>Office Theme</vt:lpstr>
      <vt:lpstr>Order-Preserving Pattern Matching with Scaling</vt:lpstr>
      <vt:lpstr>Abstract </vt:lpstr>
      <vt:lpstr>Scaled order-isomorphism</vt:lpstr>
      <vt:lpstr>K-scaled order-isomorphic</vt:lpstr>
      <vt:lpstr>K-scaled order-isomorphic</vt:lpstr>
      <vt:lpstr>K-scaled order-isomorphic</vt:lpstr>
      <vt:lpstr>Algorithm for the OPPM problem with scaling</vt:lpstr>
      <vt:lpstr>Algorithm for the OPPM problem with scaling</vt:lpstr>
      <vt:lpstr>Algorithm for the OPPM problem with scaling</vt:lpstr>
      <vt:lpstr>Algorithm for the OPPM problem with scaling</vt:lpstr>
      <vt:lpstr>Algorithm for the OPPM problem with scaling</vt:lpstr>
      <vt:lpstr>Algorithm for the OPPM problem with scaling</vt:lpstr>
      <vt:lpstr>Algorithm for the OPPM problem with scaling</vt:lpstr>
      <vt:lpstr>Algorithm for the OPPM problem with scaling</vt:lpstr>
      <vt:lpstr>Conclusion</vt:lpstr>
      <vt:lpstr>Preliminaries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pplab</cp:lastModifiedBy>
  <cp:revision>106</cp:revision>
  <dcterms:created xsi:type="dcterms:W3CDTF">2022-10-11T15:33:00Z</dcterms:created>
  <dcterms:modified xsi:type="dcterms:W3CDTF">2023-04-11T10:30:50Z</dcterms:modified>
</cp:coreProperties>
</file>