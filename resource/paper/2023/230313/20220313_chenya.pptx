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6" r:id="rId4"/>
    <p:sldId id="273" r:id="rId5"/>
    <p:sldId id="275" r:id="rId6"/>
    <p:sldId id="272" r:id="rId7"/>
    <p:sldId id="268" r:id="rId8"/>
    <p:sldId id="274" r:id="rId9"/>
    <p:sldId id="270" r:id="rId10"/>
    <p:sldId id="271" r:id="rId11"/>
    <p:sldId id="276" r:id="rId12"/>
    <p:sldId id="277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9"/>
  </p:normalViewPr>
  <p:slideViewPr>
    <p:cSldViewPr snapToGrid="0" snapToObjects="1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BFA1E-9779-A64B-B4E3-C0E49B8D41D4}" type="datetimeFigureOut">
              <a:rPr kumimoji="1" lang="zh-TW" altLang="en-US" smtClean="0"/>
              <a:t>2023/3/13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DC63CC-5E5C-E544-BA0A-9EB80D6A360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51628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B283B2-23F9-0C41-9417-ECF10BBEEF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2C00F18-F297-5F47-8D2F-F5F506EF58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29418BF-914D-CE4F-8197-FFD1F9798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3375D-9F9C-DB42-91F1-FE64797DC539}" type="datetime1">
              <a:rPr kumimoji="1" lang="zh-TW" altLang="en-US" smtClean="0"/>
              <a:t>2023/3/13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88CEBE5-E31E-C847-8CF9-5666783C0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6CE161F-33BB-F048-A3F7-8E7AB13DB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A910D-82EB-F545-8167-DA0C7F9B0A2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23574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2C3FBC-ACFC-F347-B96C-38530BBF1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CE5093B-6B34-3A45-8DD3-167D74695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BCE8656-E180-8442-A4FD-98058B514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55AB8-F3C2-4346-9A49-8304831ED5DD}" type="datetime1">
              <a:rPr kumimoji="1" lang="zh-TW" altLang="en-US" smtClean="0"/>
              <a:t>2023/3/13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A4C4D5C-AAF7-3C46-9853-A9849E7E0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080FEC4-F2EB-CC4B-AC2C-2A43FE402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A910D-82EB-F545-8167-DA0C7F9B0A2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45417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DE1E36-5717-104E-8CD7-3E3CCC507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F4DD039-AF6D-C842-A2A1-1C86E5A8F8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037ACD4-917B-CC47-B0C2-9E454ABF6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06EA-0F0A-2D47-BF06-1BB310DF32C3}" type="datetime1">
              <a:rPr kumimoji="1" lang="zh-TW" altLang="en-US" smtClean="0"/>
              <a:t>2023/3/13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9C8B0E5-6CCA-D84A-90C3-331792FBE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BBD5FBA-A721-4C4F-91A2-CC1A0E794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A910D-82EB-F545-8167-DA0C7F9B0A2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09191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7F0E83-A781-A642-931F-DFED1BE57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8236D16-6B7B-FE40-8138-1A7AEAE86F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E5C8D6D-EA45-8B46-9841-980956BD04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CCDA255-CE4B-DF47-BF58-A20E63957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C16C8-DEE7-C344-9DAD-A539494F8667}" type="datetime1">
              <a:rPr kumimoji="1" lang="zh-TW" altLang="en-US" smtClean="0"/>
              <a:t>2023/3/13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CF2FF0B-D14D-E049-BE35-C29FF29A4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4A1043E-64C9-2743-8D8E-415DAA0A8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A910D-82EB-F545-8167-DA0C7F9B0A2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5055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6C82B3-B831-6F40-9588-F4F806158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FD58949-DEA8-D349-A30A-3F6ACE6A6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D1EB4CD-4252-2545-90BD-8EA983F06E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E8EECCE-4DFA-2E40-9256-541F8C65C7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659D0BD-AA93-494D-A396-754B4EB8DE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645FA4C-4C5F-7A4A-90AB-84304799C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79CE6-E8BD-8E43-A95C-1E23C1700351}" type="datetime1">
              <a:rPr kumimoji="1" lang="zh-TW" altLang="en-US" smtClean="0"/>
              <a:t>2023/3/13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48313D3-518A-3D49-A54F-A2CFF8BBB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E79EEA4-5DE2-1C46-9BBE-3FD84C819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A910D-82EB-F545-8167-DA0C7F9B0A2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14795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384798-5BFD-B94D-A9EF-D7973D771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433FA5C-C053-5D4F-AA5A-1926F5DAF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C77D9-52A2-AC49-82BE-3F1C3DF86864}" type="datetime1">
              <a:rPr kumimoji="1" lang="zh-TW" altLang="en-US" smtClean="0"/>
              <a:t>2023/3/13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0ED2026-85A4-FC48-9427-558DB81B8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A187C88-6371-2D46-8193-398C9ABB2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A910D-82EB-F545-8167-DA0C7F9B0A2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3594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5CB16E5-7E89-9E47-9817-A404DBDED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CB0C8-5DA2-0043-92D8-89E2D6E8DDEC}" type="datetime1">
              <a:rPr kumimoji="1" lang="zh-TW" altLang="en-US" smtClean="0"/>
              <a:t>2023/3/13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AFA6084-8A15-5B49-92C5-64958248F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EE1CCCF-A3AE-F541-93A2-CBCC8C706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A910D-82EB-F545-8167-DA0C7F9B0A2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53465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AE2F24-B826-6249-99A0-CBCE9272A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38E6462-1333-7F48-977E-A29FB48FA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3128085-E3B0-F943-80FD-75847A360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BD0B330-8A37-8F46-A34F-FE43A2625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BCF9E-EC91-D74E-832E-DA3EBD36B984}" type="datetime1">
              <a:rPr kumimoji="1" lang="zh-TW" altLang="en-US" smtClean="0"/>
              <a:t>2023/3/13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94EF965-FE85-EC48-B19F-B90025CF2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E7A00F6-8E3F-DA40-986B-4EF0C664B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A910D-82EB-F545-8167-DA0C7F9B0A2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74263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597BB6-7F51-1C44-9EE6-2139600E8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18E374B-EC52-C348-B8E5-9C6264A50D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346FBE7-9963-B443-A790-6D85E4847D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4A48EBF-B8B8-464A-BD60-1D97FB45D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8A760-E1D3-A54D-BF48-C81DCD693E97}" type="datetime1">
              <a:rPr kumimoji="1" lang="zh-TW" altLang="en-US" smtClean="0"/>
              <a:t>2023/3/13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9A84016-8447-A145-9877-51A719520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6DF19F3-9E22-EA46-AC98-94A29BDE6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A910D-82EB-F545-8167-DA0C7F9B0A2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70550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426EAC-7FFD-D043-9717-CE5DD5F6A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EE83522-A349-8448-B7EA-A1AE587D72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D900CD8-3CFA-B34F-A36D-4A8938680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9605C-AE1B-E04C-820D-776A73992A51}" type="datetime1">
              <a:rPr kumimoji="1" lang="zh-TW" altLang="en-US" smtClean="0"/>
              <a:t>2023/3/13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3A76948-57D1-DC49-9D8A-86D53560C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70D819E-0C67-3147-B404-B0D057313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A910D-82EB-F545-8167-DA0C7F9B0A2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72387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03C82E0-C565-6C4A-971E-A33F6DC803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2CF712A-CF24-2A43-B96F-405D14EE5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9510A58-8D1F-D747-A1C9-8E23F42DD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45278-B048-734F-B8DD-DF4DC17BEAAF}" type="datetime1">
              <a:rPr kumimoji="1" lang="zh-TW" altLang="en-US" smtClean="0"/>
              <a:t>2023/3/13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53AE009-D830-B749-A0CF-FA8EE9CEF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BD92F50-5487-1143-9897-E18E6537D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A910D-82EB-F545-8167-DA0C7F9B0A2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33637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E5A661F-6833-3541-A0D3-7BCDB43C0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E79EBE7-A208-2B48-8D5C-8FACBFFCAE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374EA65-F984-0B4F-BF85-26B0878AB0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844F3-3F71-A84D-A54C-8CCABA2C7374}" type="datetime1">
              <a:rPr kumimoji="1" lang="zh-TW" altLang="en-US" smtClean="0"/>
              <a:t>2023/3/13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802C31E-1A0A-274D-B7FF-B5603E8DC1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93C503B-62BB-6748-9490-9C23D798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BA910D-82EB-F545-8167-DA0C7F9B0A2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63772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5C7C8A-452E-D943-890A-99D101A855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" altLang="zh-TW" sz="4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l-GR" altLang="zh-TW" sz="4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αμ</a:t>
            </a:r>
            <a:r>
              <a:rPr lang="el-GR" altLang="zh-TW" sz="4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TW" sz="4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Search Algorithm for the Game of Bridge</a:t>
            </a:r>
            <a:endParaRPr lang="en" altLang="zh-TW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A9CE59C-0A7C-3340-9871-01BB9F00CC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</a:t>
            </a:r>
            <a:r>
              <a:rPr lang="en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Cazenave</a:t>
            </a:r>
            <a:r>
              <a:rPr lang="en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V. </a:t>
            </a:r>
            <a:r>
              <a:rPr lang="en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Ventos</a:t>
            </a:r>
            <a:r>
              <a:rPr lang="en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2019.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6ED1160-6DCB-BA45-A8E3-C0A533D93526}"/>
              </a:ext>
            </a:extLst>
          </p:cNvPr>
          <p:cNvSpPr txBox="1"/>
          <p:nvPr/>
        </p:nvSpPr>
        <p:spPr>
          <a:xfrm>
            <a:off x="9461868" y="5993027"/>
            <a:ext cx="2412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latin typeface="Times" pitchFamily="2" charset="0"/>
              </a:rPr>
              <a:t>Presenter: Yun-An Chen</a:t>
            </a:r>
          </a:p>
          <a:p>
            <a:r>
              <a:rPr kumimoji="1" lang="en-US" altLang="zh-TW" dirty="0">
                <a:latin typeface="Times" pitchFamily="2" charset="0"/>
              </a:rPr>
              <a:t>Date: Mar. 13, 2023</a:t>
            </a:r>
            <a:endParaRPr kumimoji="1" lang="zh-TW" altLang="en-US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2795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451861-73DA-4841-A16D-38E44CB87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8741AB-D006-9749-BE17-A476685582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kumimoji="1" lang="el-GR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αμ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an anytime heuristic search algorithm for incomplete information games that assumes perfect information for the opponents. </a:t>
            </a:r>
            <a:r>
              <a:rPr kumimoji="1" lang="el-GR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αμ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addresses the strategy fusion and non-locality problems encountered by Perfect Information Monte Carlo sampling. In this paper </a:t>
            </a:r>
            <a:r>
              <a:rPr kumimoji="1" lang="el-GR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αμ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applied to the game of Bridge.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B29FE30-27C7-674F-80FA-938300A03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A910D-82EB-F545-8167-DA0C7F9B0A2A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812594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6EF452BB-B96C-D443-A195-09BA6D979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PIMC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內容版面配置區 18">
            <a:extLst>
              <a:ext uri="{FF2B5EF4-FFF2-40B4-BE49-F238E27FC236}">
                <a16:creationId xmlns:a16="http://schemas.microsoft.com/office/drawing/2014/main" id="{9BE2E156-75D2-9E48-BA03-1F6803249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fusion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Non-locality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344935E-6FF2-8E42-BBD9-CD57697DD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A910D-82EB-F545-8167-DA0C7F9B0A2A}" type="slidenum">
              <a:rPr kumimoji="1" lang="zh-TW" altLang="en-US" smtClean="0"/>
              <a:t>3</a:t>
            </a:fld>
            <a:endParaRPr kumimoji="1" lang="zh-TW" altLang="en-US"/>
          </a:p>
        </p:txBody>
      </p:sp>
      <p:pic>
        <p:nvPicPr>
          <p:cNvPr id="21" name="圖片 20" descr="一張含有 手錶, 量表 的圖片&#10;&#10;自動產生的描述">
            <a:extLst>
              <a:ext uri="{FF2B5EF4-FFF2-40B4-BE49-F238E27FC236}">
                <a16:creationId xmlns:a16="http://schemas.microsoft.com/office/drawing/2014/main" id="{15902D93-811A-6D4F-B9CD-9D0A2BF4F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5280" y="3324860"/>
            <a:ext cx="8538520" cy="2852103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58A3FE15-4E94-4D4D-A849-A520D038FFA2}"/>
              </a:ext>
            </a:extLst>
          </p:cNvPr>
          <p:cNvSpPr txBox="1"/>
          <p:nvPr/>
        </p:nvSpPr>
        <p:spPr>
          <a:xfrm>
            <a:off x="838200" y="6179201"/>
            <a:ext cx="2743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https://zh.wikipedia.org/zh-tw/蒙特卡洛树搜索</a:t>
            </a:r>
          </a:p>
        </p:txBody>
      </p:sp>
    </p:spTree>
    <p:extLst>
      <p:ext uri="{BB962C8B-B14F-4D97-AF65-F5344CB8AC3E}">
        <p14:creationId xmlns:p14="http://schemas.microsoft.com/office/powerpoint/2010/main" val="27324716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344935E-6FF2-8E42-BBD9-CD57697DD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A910D-82EB-F545-8167-DA0C7F9B0A2A}" type="slidenum">
              <a:rPr kumimoji="1" lang="zh-TW" altLang="en-US" smtClean="0"/>
              <a:t>4</a:t>
            </a:fld>
            <a:endParaRPr kumimoji="1" lang="zh-TW" altLang="en-US"/>
          </a:p>
        </p:txBody>
      </p:sp>
      <p:pic>
        <p:nvPicPr>
          <p:cNvPr id="8" name="內容版面配置區 7" descr="一張含有 桌 的圖片&#10;&#10;自動產生的描述">
            <a:extLst>
              <a:ext uri="{FF2B5EF4-FFF2-40B4-BE49-F238E27FC236}">
                <a16:creationId xmlns:a16="http://schemas.microsoft.com/office/drawing/2014/main" id="{64727638-C0D7-E542-AB99-67B14F7745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48760" y="1658966"/>
            <a:ext cx="1552280" cy="4068046"/>
          </a:xfr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6EF452BB-B96C-D443-A195-09BA6D979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</a:t>
            </a:r>
            <a:r>
              <a:rPr kumimoji="1" lang="en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fusion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E3488D64-153F-0E47-9EEF-AFEB1E0FFAE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3016"/>
          <a:stretch/>
        </p:blipFill>
        <p:spPr>
          <a:xfrm>
            <a:off x="2222605" y="1476376"/>
            <a:ext cx="3873395" cy="4250636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E42D2BDD-5B13-B747-ACEE-A37905B96F66}"/>
              </a:ext>
            </a:extLst>
          </p:cNvPr>
          <p:cNvSpPr txBox="1"/>
          <p:nvPr/>
        </p:nvSpPr>
        <p:spPr>
          <a:xfrm>
            <a:off x="2879133" y="3792538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endParaRPr kumimoji="1" lang="zh-TW" altLang="en-US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0F9831D-5059-FC44-BC7D-886748E7F9DB}"/>
              </a:ext>
            </a:extLst>
          </p:cNvPr>
          <p:cNvSpPr txBox="1"/>
          <p:nvPr/>
        </p:nvSpPr>
        <p:spPr>
          <a:xfrm>
            <a:off x="2918539" y="2556947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endParaRPr kumimoji="1" lang="zh-TW" altLang="en-US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F921B43-A4D2-DD47-81A0-896E94501472}"/>
              </a:ext>
            </a:extLst>
          </p:cNvPr>
          <p:cNvSpPr txBox="1"/>
          <p:nvPr/>
        </p:nvSpPr>
        <p:spPr>
          <a:xfrm>
            <a:off x="3883948" y="2030413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endParaRPr kumimoji="1" lang="zh-TW" altLang="en-US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814F58E-FC78-E047-A2C3-CAA1D90E6437}"/>
              </a:ext>
            </a:extLst>
          </p:cNvPr>
          <p:cNvSpPr txBox="1"/>
          <p:nvPr/>
        </p:nvSpPr>
        <p:spPr>
          <a:xfrm>
            <a:off x="834919" y="6193161"/>
            <a:ext cx="6098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000" b="0" i="0" u="none" strike="noStrike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Long, Jeffrey, et al. "Understanding the success of perfect information monte </a:t>
            </a:r>
            <a:r>
              <a:rPr lang="en" altLang="zh-TW" sz="1000" b="0" i="0" u="none" strike="noStrike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carlo</a:t>
            </a:r>
            <a:r>
              <a:rPr lang="en" altLang="zh-TW" sz="1000" b="0" i="0" u="none" strike="noStrike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sampling in game tree search." </a:t>
            </a:r>
            <a:r>
              <a:rPr lang="en" altLang="zh-TW" sz="1000" b="0" i="1" u="none" strike="noStrike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AAAI Conference on Artificial Intelligence</a:t>
            </a:r>
            <a:r>
              <a:rPr lang="en" altLang="zh-TW" sz="1000" b="0" i="0" u="none" strike="noStrike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Vol. 24. No. 1. 2010.</a:t>
            </a:r>
            <a:endParaRPr lang="zh-TW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12568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344935E-6FF2-8E42-BBD9-CD57697DD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A910D-82EB-F545-8167-DA0C7F9B0A2A}" type="slidenum">
              <a:rPr kumimoji="1" lang="zh-TW" altLang="en-US" smtClean="0"/>
              <a:t>5</a:t>
            </a:fld>
            <a:endParaRPr kumimoji="1" lang="zh-TW" altLang="en-US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B539C388-314D-E048-A3E7-425841913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Non-locality</a:t>
            </a:r>
            <a:endParaRPr lang="zh-TW" altLang="en-US" dirty="0"/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15E76B80-0D64-BF49-BF01-0D364AA74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0330" y="2229775"/>
            <a:ext cx="5381624" cy="332943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494A56A-18AF-4645-BF14-AB6F0C633A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89" y="2787498"/>
            <a:ext cx="5193441" cy="2213984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53F241AD-04D7-3349-8607-2E11A48E0E87}"/>
              </a:ext>
            </a:extLst>
          </p:cNvPr>
          <p:cNvSpPr txBox="1"/>
          <p:nvPr/>
        </p:nvSpPr>
        <p:spPr>
          <a:xfrm>
            <a:off x="838200" y="5969655"/>
            <a:ext cx="60980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400" b="0" i="0" u="none" strike="noStrike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Frank, Ian, and David Basin. "Search in games with incomplete information: A case study using bridge card play." </a:t>
            </a:r>
            <a:r>
              <a:rPr lang="en" altLang="zh-TW" sz="1400" b="0" i="1" u="none" strike="noStrike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</a:t>
            </a:r>
            <a:r>
              <a:rPr lang="en" altLang="zh-TW" sz="1400" b="0" i="0" u="none" strike="noStrike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100.1-2 (1998): 87-123.</a:t>
            </a:r>
            <a:endParaRPr lang="zh-TW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21967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344935E-6FF2-8E42-BBD9-CD57697DD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A910D-82EB-F545-8167-DA0C7F9B0A2A}" type="slidenum">
              <a:rPr kumimoji="1" lang="zh-TW" altLang="en-US" smtClean="0"/>
              <a:t>6</a:t>
            </a:fld>
            <a:endParaRPr kumimoji="1" lang="zh-TW" altLang="en-US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B539C388-314D-E048-A3E7-425841913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Non-locality</a:t>
            </a:r>
            <a:endParaRPr lang="zh-TW" altLang="en-US" dirty="0"/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B86E3ABE-8B31-EC4D-99DF-0477D1A83558}"/>
              </a:ext>
            </a:extLst>
          </p:cNvPr>
          <p:cNvGrpSpPr/>
          <p:nvPr/>
        </p:nvGrpSpPr>
        <p:grpSpPr>
          <a:xfrm>
            <a:off x="2258023" y="1655163"/>
            <a:ext cx="7675954" cy="4198293"/>
            <a:chOff x="505635" y="2275157"/>
            <a:chExt cx="6209489" cy="3658488"/>
          </a:xfrm>
        </p:grpSpPr>
        <p:pic>
          <p:nvPicPr>
            <p:cNvPr id="18" name="圖片 17">
              <a:extLst>
                <a:ext uri="{FF2B5EF4-FFF2-40B4-BE49-F238E27FC236}">
                  <a16:creationId xmlns:a16="http://schemas.microsoft.com/office/drawing/2014/main" id="{49A34D80-AA8C-8742-B241-8A111DD7ED2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10510"/>
            <a:stretch/>
          </p:blipFill>
          <p:spPr>
            <a:xfrm>
              <a:off x="505635" y="2275157"/>
              <a:ext cx="6209489" cy="3658488"/>
            </a:xfrm>
            <a:prstGeom prst="rect">
              <a:avLst/>
            </a:prstGeom>
          </p:spPr>
        </p:pic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A6AC847E-AEF9-224B-8245-645AAE5B3EAD}"/>
                </a:ext>
              </a:extLst>
            </p:cNvPr>
            <p:cNvSpPr txBox="1"/>
            <p:nvPr/>
          </p:nvSpPr>
          <p:spPr>
            <a:xfrm>
              <a:off x="838200" y="4429757"/>
              <a:ext cx="520271" cy="3168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2000" dirty="0">
                  <a:solidFill>
                    <a:schemeClr val="accent6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Max</a:t>
              </a:r>
              <a:endParaRPr kumimoji="1" lang="zh-TW" altLang="en-US" sz="2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10BF3BBE-CA62-024D-9603-7DD748ECABB6}"/>
                </a:ext>
              </a:extLst>
            </p:cNvPr>
            <p:cNvSpPr txBox="1"/>
            <p:nvPr/>
          </p:nvSpPr>
          <p:spPr>
            <a:xfrm>
              <a:off x="1991648" y="3330062"/>
              <a:ext cx="462916" cy="3168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2000" dirty="0">
                  <a:solidFill>
                    <a:schemeClr val="accent6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min</a:t>
              </a:r>
              <a:endParaRPr kumimoji="1" lang="zh-TW" altLang="en-US" sz="2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85975633-D75A-7744-9189-A4B752564481}"/>
                  </a:ext>
                </a:extLst>
              </p:cNvPr>
              <p:cNvSpPr txBox="1"/>
              <p:nvPr/>
            </p:nvSpPr>
            <p:spPr>
              <a:xfrm>
                <a:off x="2726368" y="5802344"/>
                <a:ext cx="528660" cy="554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TW" sz="16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TW" sz="16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TW" sz="16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kumimoji="1" lang="zh-TW" altLang="en-US" sz="1600" dirty="0">
                  <a:solidFill>
                    <a:schemeClr val="accent5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85975633-D75A-7744-9189-A4B7525644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6368" y="5802344"/>
                <a:ext cx="528660" cy="554960"/>
              </a:xfrm>
              <a:prstGeom prst="rect">
                <a:avLst/>
              </a:prstGeom>
              <a:blipFill>
                <a:blip r:embed="rId3"/>
                <a:stretch>
                  <a:fillRect b="-22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315D3FB7-6A3E-0648-8F65-9ED93E36605A}"/>
                  </a:ext>
                </a:extLst>
              </p:cNvPr>
              <p:cNvSpPr txBox="1"/>
              <p:nvPr/>
            </p:nvSpPr>
            <p:spPr>
              <a:xfrm>
                <a:off x="3830651" y="5792823"/>
                <a:ext cx="528660" cy="5761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TW" sz="16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TW" sz="16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num>
                        <m:den>
                          <m:r>
                            <a:rPr kumimoji="1" lang="en-US" altLang="zh-TW" sz="16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kumimoji="1" lang="zh-TW" altLang="en-US" sz="1600" dirty="0">
                  <a:solidFill>
                    <a:schemeClr val="accent5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315D3FB7-6A3E-0648-8F65-9ED93E366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0651" y="5792823"/>
                <a:ext cx="528660" cy="5761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8598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344935E-6FF2-8E42-BBD9-CD57697DD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A910D-82EB-F545-8167-DA0C7F9B0A2A}" type="slidenum">
              <a:rPr kumimoji="1" lang="zh-TW" altLang="en-US" smtClean="0"/>
              <a:t>7</a:t>
            </a:fld>
            <a:endParaRPr kumimoji="1" lang="zh-TW" altLang="en-US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6EF452BB-B96C-D443-A195-09BA6D979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Pareto Front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56277B3C-826D-CA4B-AE95-BA0E0E526569}"/>
              </a:ext>
            </a:extLst>
          </p:cNvPr>
          <p:cNvGrpSpPr/>
          <p:nvPr/>
        </p:nvGrpSpPr>
        <p:grpSpPr>
          <a:xfrm>
            <a:off x="1685227" y="2161273"/>
            <a:ext cx="7733896" cy="3592341"/>
            <a:chOff x="2229052" y="1961248"/>
            <a:chExt cx="7733896" cy="3592341"/>
          </a:xfrm>
        </p:grpSpPr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B2EE701A-6BCE-0A48-A679-ECD2C45A0A7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11681"/>
            <a:stretch/>
          </p:blipFill>
          <p:spPr>
            <a:xfrm>
              <a:off x="2229052" y="1961248"/>
              <a:ext cx="7733896" cy="3592341"/>
            </a:xfrm>
            <a:prstGeom prst="rect">
              <a:avLst/>
            </a:prstGeom>
          </p:spPr>
        </p:pic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50EE1EB2-9938-8748-8705-11912CB56553}"/>
                </a:ext>
              </a:extLst>
            </p:cNvPr>
            <p:cNvSpPr txBox="1"/>
            <p:nvPr/>
          </p:nvSpPr>
          <p:spPr>
            <a:xfrm>
              <a:off x="2867025" y="3654187"/>
              <a:ext cx="6078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dirty="0">
                  <a:solidFill>
                    <a:schemeClr val="accent6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Max</a:t>
              </a:r>
              <a:endParaRPr kumimoji="1" lang="zh-TW" alt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8040AB8C-52F5-DF4B-BE5C-13A94FFDE098}"/>
                </a:ext>
              </a:extLst>
            </p:cNvPr>
            <p:cNvSpPr txBox="1"/>
            <p:nvPr/>
          </p:nvSpPr>
          <p:spPr>
            <a:xfrm>
              <a:off x="4777710" y="2172774"/>
              <a:ext cx="5437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dirty="0">
                  <a:solidFill>
                    <a:schemeClr val="accent6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min</a:t>
              </a:r>
              <a:endParaRPr kumimoji="1" lang="zh-TW" alt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4CABD8D-5EBD-B44B-B372-3189906B7455}"/>
              </a:ext>
            </a:extLst>
          </p:cNvPr>
          <p:cNvSpPr txBox="1"/>
          <p:nvPr/>
        </p:nvSpPr>
        <p:spPr>
          <a:xfrm>
            <a:off x="7815479" y="3054136"/>
            <a:ext cx="41219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{[0 1 0], [0 0 1], [1 1 0], [1 0 0]} </a:t>
            </a:r>
            <a:endParaRPr lang="zh-TW" altLang="en-US" sz="24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4160E62-DC48-834D-A046-4FCBD2F6E910}"/>
              </a:ext>
            </a:extLst>
          </p:cNvPr>
          <p:cNvSpPr/>
          <p:nvPr/>
        </p:nvSpPr>
        <p:spPr>
          <a:xfrm>
            <a:off x="986185" y="3656872"/>
            <a:ext cx="9520588" cy="686870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682447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451861-73DA-4841-A16D-38E44CB87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8741AB-D006-9749-BE17-A476685582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Bidding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sequence: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1NT-pass-3NT-pass-pass-pass</a:t>
            </a:r>
          </a:p>
          <a:p>
            <a:pPr algn="just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 on the hands:</a:t>
            </a:r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PIMC has more than 30% and less than 70% winning rate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 deals.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B29FE30-27C7-674F-80FA-938300A03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A910D-82EB-F545-8167-DA0C7F9B0A2A}" type="slidenum">
              <a:rPr kumimoji="1" lang="zh-TW" altLang="en-US" smtClean="0"/>
              <a:t>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726136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344935E-6FF2-8E42-BBD9-CD57697DD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A910D-82EB-F545-8167-DA0C7F9B0A2A}" type="slidenum">
              <a:rPr kumimoji="1" lang="zh-TW" altLang="en-US" smtClean="0"/>
              <a:t>9</a:t>
            </a:fld>
            <a:endParaRPr kumimoji="1" lang="zh-TW" altLang="en-US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6EF452BB-B96C-D443-A195-09BA6D979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 descr="一張含有 桌 的圖片&#10;&#10;自動產生的描述">
            <a:extLst>
              <a:ext uri="{FF2B5EF4-FFF2-40B4-BE49-F238E27FC236}">
                <a16:creationId xmlns:a16="http://schemas.microsoft.com/office/drawing/2014/main" id="{7F1378DE-C28F-A048-836D-C60A4EA29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636" y="2073275"/>
            <a:ext cx="7598728" cy="3900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0541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344935E-6FF2-8E42-BBD9-CD57697DD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A910D-82EB-F545-8167-DA0C7F9B0A2A}" type="slidenum">
              <a:rPr kumimoji="1" lang="zh-TW" altLang="en-US" smtClean="0"/>
              <a:t>10</a:t>
            </a:fld>
            <a:endParaRPr kumimoji="1" lang="zh-TW" altLang="en-US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6EF452BB-B96C-D443-A195-09BA6D979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 descr="一張含有 桌 的圖片&#10;&#10;自動產生的描述">
            <a:extLst>
              <a:ext uri="{FF2B5EF4-FFF2-40B4-BE49-F238E27FC236}">
                <a16:creationId xmlns:a16="http://schemas.microsoft.com/office/drawing/2014/main" id="{190F7436-AA44-964F-9E80-E1BAF8372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302" y="1971675"/>
            <a:ext cx="7559396" cy="3865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3546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879534C-F595-CB41-87AB-795737CFE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A910D-82EB-F545-8167-DA0C7F9B0A2A}" type="slidenum">
              <a:rPr kumimoji="1" lang="zh-TW" altLang="en-US" smtClean="0"/>
              <a:t>11</a:t>
            </a:fld>
            <a:endParaRPr kumimoji="1" lang="zh-TW" altLang="en-US"/>
          </a:p>
        </p:txBody>
      </p:sp>
      <p:pic>
        <p:nvPicPr>
          <p:cNvPr id="4" name="圖片 3" descr="一張含有 文字 的圖片&#10;&#10;自動產生的描述">
            <a:extLst>
              <a:ext uri="{FF2B5EF4-FFF2-40B4-BE49-F238E27FC236}">
                <a16:creationId xmlns:a16="http://schemas.microsoft.com/office/drawing/2014/main" id="{0B788992-747A-FD4A-9274-AD3CDA85D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56" y="1581666"/>
            <a:ext cx="6589153" cy="1485352"/>
          </a:xfrm>
          <a:prstGeom prst="rect">
            <a:avLst/>
          </a:prstGeom>
        </p:spPr>
      </p:pic>
      <p:pic>
        <p:nvPicPr>
          <p:cNvPr id="8" name="圖片 7" descr="一張含有 文字 的圖片&#10;&#10;自動產生的描述">
            <a:extLst>
              <a:ext uri="{FF2B5EF4-FFF2-40B4-BE49-F238E27FC236}">
                <a16:creationId xmlns:a16="http://schemas.microsoft.com/office/drawing/2014/main" id="{6206CB1E-81E8-7743-AC59-D5C34C6D5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856" y="3790983"/>
            <a:ext cx="6222142" cy="2043091"/>
          </a:xfrm>
          <a:prstGeom prst="rect">
            <a:avLst/>
          </a:prstGeom>
        </p:spPr>
      </p:pic>
      <p:pic>
        <p:nvPicPr>
          <p:cNvPr id="6" name="圖片 5" descr="一張含有 文字 的圖片&#10;&#10;自動產生的描述">
            <a:extLst>
              <a:ext uri="{FF2B5EF4-FFF2-40B4-BE49-F238E27FC236}">
                <a16:creationId xmlns:a16="http://schemas.microsoft.com/office/drawing/2014/main" id="{C145F82B-6677-9B46-B3B8-B3BD5DDC63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9017" y="24328"/>
            <a:ext cx="5214551" cy="6809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7013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A55D3F4-CF4E-5246-AEF0-762D9EA0C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A910D-82EB-F545-8167-DA0C7F9B0A2A}" type="slidenum">
              <a:rPr kumimoji="1" lang="zh-TW" altLang="en-US" smtClean="0"/>
              <a:t>12</a:t>
            </a:fld>
            <a:endParaRPr kumimoji="1" lang="zh-TW" altLang="en-US"/>
          </a:p>
        </p:txBody>
      </p:sp>
      <p:pic>
        <p:nvPicPr>
          <p:cNvPr id="4" name="圖片 3" descr="一張含有 文字, 螢幕擷取畫面, 監視器, 銀色 的圖片&#10;&#10;自動產生的描述">
            <a:extLst>
              <a:ext uri="{FF2B5EF4-FFF2-40B4-BE49-F238E27FC236}">
                <a16:creationId xmlns:a16="http://schemas.microsoft.com/office/drawing/2014/main" id="{3FAAE259-5122-484B-AC4B-993F3E9D9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5724637" cy="6858000"/>
          </a:xfrm>
          <a:prstGeom prst="rect">
            <a:avLst/>
          </a:prstGeom>
        </p:spPr>
      </p:pic>
      <p:pic>
        <p:nvPicPr>
          <p:cNvPr id="6" name="圖片 5" descr="一張含有 文字 的圖片&#10;&#10;自動產生的描述">
            <a:extLst>
              <a:ext uri="{FF2B5EF4-FFF2-40B4-BE49-F238E27FC236}">
                <a16:creationId xmlns:a16="http://schemas.microsoft.com/office/drawing/2014/main" id="{9B0A07E2-B5C2-D543-B3A5-F34225F35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281" y="457199"/>
            <a:ext cx="5582820" cy="5535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0553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14671</TotalTime>
  <Words>259</Words>
  <Application>Microsoft Office PowerPoint</Application>
  <PresentationFormat>寬螢幕</PresentationFormat>
  <Paragraphs>43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Times</vt:lpstr>
      <vt:lpstr>Times New Roman</vt:lpstr>
      <vt:lpstr>Office 佈景主題</vt:lpstr>
      <vt:lpstr>The αμ Search Algorithm for the Game of Bridge</vt:lpstr>
      <vt:lpstr>Abstract</vt:lpstr>
      <vt:lpstr>Problems of PIMC</vt:lpstr>
      <vt:lpstr>Strategy fusion</vt:lpstr>
      <vt:lpstr>Non-locality</vt:lpstr>
      <vt:lpstr>Non-locality</vt:lpstr>
      <vt:lpstr>Pareto Front</vt:lpstr>
      <vt:lpstr>Experimental results</vt:lpstr>
      <vt:lpstr>Results</vt:lpstr>
      <vt:lpstr>Results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Who should bid higher, NS or WE, in a given Bridge deal.</dc:title>
  <dc:creator>M113040012</dc:creator>
  <cp:lastModifiedBy>pplab</cp:lastModifiedBy>
  <cp:revision>136</cp:revision>
  <dcterms:created xsi:type="dcterms:W3CDTF">2023-02-04T11:01:39Z</dcterms:created>
  <dcterms:modified xsi:type="dcterms:W3CDTF">2023-03-13T11:22:35Z</dcterms:modified>
</cp:coreProperties>
</file>