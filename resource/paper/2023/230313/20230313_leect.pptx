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handoutMasterIdLst>
    <p:handoutMasterId r:id="rId42"/>
  </p:handoutMasterIdLst>
  <p:sldIdLst>
    <p:sldId id="298" r:id="rId2"/>
    <p:sldId id="258" r:id="rId3"/>
    <p:sldId id="259" r:id="rId4"/>
    <p:sldId id="260" r:id="rId5"/>
    <p:sldId id="261" r:id="rId6"/>
    <p:sldId id="262" r:id="rId7"/>
    <p:sldId id="263" r:id="rId8"/>
    <p:sldId id="264" r:id="rId9"/>
    <p:sldId id="265" r:id="rId10"/>
    <p:sldId id="267"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91" r:id="rId25"/>
    <p:sldId id="292" r:id="rId26"/>
    <p:sldId id="293" r:id="rId27"/>
    <p:sldId id="294" r:id="rId28"/>
    <p:sldId id="295" r:id="rId29"/>
    <p:sldId id="296" r:id="rId30"/>
    <p:sldId id="297" r:id="rId31"/>
    <p:sldId id="287" r:id="rId32"/>
    <p:sldId id="289" r:id="rId33"/>
    <p:sldId id="300" r:id="rId34"/>
    <p:sldId id="288" r:id="rId35"/>
    <p:sldId id="299" r:id="rId36"/>
    <p:sldId id="301" r:id="rId37"/>
    <p:sldId id="302" r:id="rId38"/>
    <p:sldId id="303" r:id="rId39"/>
    <p:sldId id="304" r:id="rId4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94660"/>
  </p:normalViewPr>
  <p:slideViewPr>
    <p:cSldViewPr snapToGrid="0">
      <p:cViewPr varScale="1">
        <p:scale>
          <a:sx n="81" d="100"/>
          <a:sy n="81" d="100"/>
        </p:scale>
        <p:origin x="1291" y="58"/>
      </p:cViewPr>
      <p:guideLst/>
    </p:cSldViewPr>
  </p:slideViewPr>
  <p:notesTextViewPr>
    <p:cViewPr>
      <p:scale>
        <a:sx n="3" d="2"/>
        <a:sy n="3" d="2"/>
      </p:scale>
      <p:origin x="0" y="0"/>
    </p:cViewPr>
  </p:notesTextViewPr>
  <p:sorterViewPr>
    <p:cViewPr>
      <p:scale>
        <a:sx n="100" d="100"/>
        <a:sy n="100" d="100"/>
      </p:scale>
      <p:origin x="0" y="-19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BCB409-2DA1-4BCA-B435-C6D650D60C53}" type="datetimeFigureOut">
              <a:rPr lang="zh-TW" altLang="en-US" smtClean="0"/>
              <a:t>2023/3/13</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6F0565-5FB6-414C-A160-5E7695D65A9B}" type="slidenum">
              <a:rPr lang="zh-TW" altLang="en-US" smtClean="0"/>
              <a:t>‹#›</a:t>
            </a:fld>
            <a:endParaRPr lang="zh-TW" altLang="en-US"/>
          </a:p>
        </p:txBody>
      </p:sp>
    </p:spTree>
    <p:extLst>
      <p:ext uri="{BB962C8B-B14F-4D97-AF65-F5344CB8AC3E}">
        <p14:creationId xmlns:p14="http://schemas.microsoft.com/office/powerpoint/2010/main" val="41654234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DEB75-3589-4D32-B44A-E0772C0D15C5}" type="datetimeFigureOut">
              <a:rPr lang="zh-TW" altLang="en-US" smtClean="0"/>
              <a:t>2023/3/13</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0D5DF-B2A2-41B1-A94F-55B40B4E12BA}" type="slidenum">
              <a:rPr lang="zh-TW" altLang="en-US" smtClean="0"/>
              <a:t>‹#›</a:t>
            </a:fld>
            <a:endParaRPr lang="zh-TW" altLang="en-US"/>
          </a:p>
        </p:txBody>
      </p:sp>
    </p:spTree>
    <p:extLst>
      <p:ext uri="{BB962C8B-B14F-4D97-AF65-F5344CB8AC3E}">
        <p14:creationId xmlns:p14="http://schemas.microsoft.com/office/powerpoint/2010/main" val="30957097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br>
              <a:rPr lang="zh-TW" altLang="en-US" dirty="0"/>
            </a:br>
            <a:endParaRPr lang="zh-TW" altLang="en-US" b="0" i="0" dirty="0">
              <a:effectLst/>
              <a:latin typeface="Roboto" panose="02000000000000000000" pitchFamily="2" charset="0"/>
            </a:endParaRPr>
          </a:p>
          <a:p>
            <a:r>
              <a:rPr lang="zh-TW" altLang="en-US" dirty="0"/>
              <a:t> </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9125288D-75E0-49F6-B688-2D42F3082988}" type="slidenum">
              <a:rPr lang="zh-TW" altLang="en-US" smtClean="0"/>
              <a:pPr/>
              <a:t>7</a:t>
            </a:fld>
            <a:endParaRPr lang="zh-TW" altLang="en-US"/>
          </a:p>
        </p:txBody>
      </p:sp>
    </p:spTree>
    <p:extLst>
      <p:ext uri="{BB962C8B-B14F-4D97-AF65-F5344CB8AC3E}">
        <p14:creationId xmlns:p14="http://schemas.microsoft.com/office/powerpoint/2010/main" val="2222755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9</a:t>
            </a:fld>
            <a:endParaRPr lang="zh-TW" altLang="en-US"/>
          </a:p>
        </p:txBody>
      </p:sp>
    </p:spTree>
    <p:extLst>
      <p:ext uri="{BB962C8B-B14F-4D97-AF65-F5344CB8AC3E}">
        <p14:creationId xmlns:p14="http://schemas.microsoft.com/office/powerpoint/2010/main" val="1020758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10</a:t>
            </a:fld>
            <a:endParaRPr lang="zh-TW" altLang="en-US"/>
          </a:p>
        </p:txBody>
      </p:sp>
    </p:spTree>
    <p:extLst>
      <p:ext uri="{BB962C8B-B14F-4D97-AF65-F5344CB8AC3E}">
        <p14:creationId xmlns:p14="http://schemas.microsoft.com/office/powerpoint/2010/main" val="2355912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14</a:t>
            </a:fld>
            <a:endParaRPr lang="zh-TW" altLang="en-US"/>
          </a:p>
        </p:txBody>
      </p:sp>
    </p:spTree>
    <p:extLst>
      <p:ext uri="{BB962C8B-B14F-4D97-AF65-F5344CB8AC3E}">
        <p14:creationId xmlns:p14="http://schemas.microsoft.com/office/powerpoint/2010/main" val="2934214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1F0D5DF-B2A2-41B1-A94F-55B40B4E12BA}" type="slidenum">
              <a:rPr lang="zh-TW" altLang="en-US" smtClean="0"/>
              <a:t>37</a:t>
            </a:fld>
            <a:endParaRPr lang="zh-TW" altLang="en-US"/>
          </a:p>
        </p:txBody>
      </p:sp>
    </p:spTree>
    <p:extLst>
      <p:ext uri="{BB962C8B-B14F-4D97-AF65-F5344CB8AC3E}">
        <p14:creationId xmlns:p14="http://schemas.microsoft.com/office/powerpoint/2010/main" val="1046409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B531298A-9EB3-42B2-88C5-2F0EFF490742}" type="datetime1">
              <a:rPr lang="zh-TW" altLang="en-US" smtClean="0"/>
              <a:t>2023/3/13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69900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E68E4F48-615B-4D43-85F8-FC994E9EB636}" type="datetime1">
              <a:rPr lang="zh-TW" altLang="en-US" smtClean="0"/>
              <a:t>2023/3/13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79523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72EF1928-6700-4DC9-A076-D0BF30D5DBBD}" type="datetime1">
              <a:rPr lang="zh-TW" altLang="en-US" smtClean="0"/>
              <a:t>2023/3/13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9713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03D3154-712F-45B6-A0AE-7A098B6338F6}" type="datetime1">
              <a:rPr lang="zh-TW" altLang="en-US" smtClean="0"/>
              <a:t>2023/3/13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3484120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7E273DF-615B-4058-AF41-EADF7509BC00}" type="datetime1">
              <a:rPr lang="zh-TW" altLang="en-US" smtClean="0"/>
              <a:t>2023/3/13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753329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42ABB4DD-0673-4B64-95EC-7226B2234C4F}" type="datetime1">
              <a:rPr lang="zh-TW" altLang="en-US" smtClean="0"/>
              <a:t>2023/3/13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5853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7D4EB-58DD-47ED-9641-44B3A13428A7}" type="datetime1">
              <a:rPr lang="zh-TW" altLang="en-US" smtClean="0"/>
              <a:t>2023/3/13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30512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F55573EA-C642-4CFF-8FB0-29B81741E751}" type="datetime1">
              <a:rPr lang="zh-TW" altLang="en-US" smtClean="0"/>
              <a:t>2023/3/13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4895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FCB6159C-D510-455D-9AED-3E6EEFED4716}" type="datetime1">
              <a:rPr lang="zh-TW" altLang="en-US" smtClean="0"/>
              <a:t>2023/3/13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615642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6EC1DA0-3176-4336-A105-86AE0C6420FD}" type="datetime1">
              <a:rPr lang="zh-TW" altLang="en-US" smtClean="0"/>
              <a:t>2023/3/13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29441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FE0B38E-410A-4A55-B707-0AD4CE835622}" type="datetime1">
              <a:rPr lang="zh-TW" altLang="en-US" smtClean="0"/>
              <a:t>2023/3/13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199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B0AF7-0BBF-4044-8175-A5863DDFEA3E}" type="datetime1">
              <a:rPr lang="zh-TW" altLang="en-US" smtClean="0"/>
              <a:t>2023/3/13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123555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2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5.png"/><Relationship Id="rId5" Type="http://schemas.openxmlformats.org/officeDocument/2006/relationships/image" Target="../media/image46.png"/><Relationship Id="rId10" Type="http://schemas.openxmlformats.org/officeDocument/2006/relationships/image" Target="../media/image56.png"/><Relationship Id="rId4" Type="http://schemas.openxmlformats.org/officeDocument/2006/relationships/image" Target="../media/image45.png"/><Relationship Id="rId9" Type="http://schemas.openxmlformats.org/officeDocument/2006/relationships/image" Target="../media/image53.png"/></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60.png"/><Relationship Id="rId5" Type="http://schemas.openxmlformats.org/officeDocument/2006/relationships/image" Target="../media/image46.png"/><Relationship Id="rId10" Type="http://schemas.openxmlformats.org/officeDocument/2006/relationships/image" Target="../media/image59.png"/><Relationship Id="rId4" Type="http://schemas.openxmlformats.org/officeDocument/2006/relationships/image" Target="../media/image45.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6.png"/></Relationships>
</file>

<file path=ppt/slides/_rels/slide23.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68.png"/><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79.png"/><Relationship Id="rId5" Type="http://schemas.openxmlformats.org/officeDocument/2006/relationships/image" Target="../media/image72.png"/><Relationship Id="rId10" Type="http://schemas.openxmlformats.org/officeDocument/2006/relationships/image" Target="../media/image78.png"/><Relationship Id="rId4" Type="http://schemas.openxmlformats.org/officeDocument/2006/relationships/image" Target="../media/image73.png"/><Relationship Id="rId9" Type="http://schemas.openxmlformats.org/officeDocument/2006/relationships/image" Target="../media/image74.png"/></Relationships>
</file>

<file path=ppt/slides/_rels/slide24.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68.png"/><Relationship Id="rId12" Type="http://schemas.openxmlformats.org/officeDocument/2006/relationships/image" Target="../media/image83.png"/><Relationship Id="rId2"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82.png"/><Relationship Id="rId5" Type="http://schemas.openxmlformats.org/officeDocument/2006/relationships/image" Target="../media/image80.png"/><Relationship Id="rId10" Type="http://schemas.openxmlformats.org/officeDocument/2006/relationships/image" Target="../media/image81.png"/><Relationship Id="rId4" Type="http://schemas.openxmlformats.org/officeDocument/2006/relationships/image" Target="../media/image77.png"/><Relationship Id="rId9" Type="http://schemas.openxmlformats.org/officeDocument/2006/relationships/image" Target="../media/image74.png"/></Relationships>
</file>

<file path=ppt/slides/_rels/slide25.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9.png"/><Relationship Id="rId3" Type="http://schemas.openxmlformats.org/officeDocument/2006/relationships/image" Target="../media/image68.png"/><Relationship Id="rId12" Type="http://schemas.openxmlformats.org/officeDocument/2006/relationships/image" Target="../media/image88.png"/><Relationship Id="rId2" Type="http://schemas.openxmlformats.org/officeDocument/2006/relationships/image" Target="../media/image84.png"/><Relationship Id="rId1" Type="http://schemas.openxmlformats.org/officeDocument/2006/relationships/slideLayout" Target="../slideLayouts/slideLayout1.xml"/><Relationship Id="rId11" Type="http://schemas.openxmlformats.org/officeDocument/2006/relationships/image" Target="../media/image87.png"/><Relationship Id="rId5" Type="http://schemas.openxmlformats.org/officeDocument/2006/relationships/image" Target="../media/image85.png"/><Relationship Id="rId10" Type="http://schemas.openxmlformats.org/officeDocument/2006/relationships/image" Target="../media/image86.png"/><Relationship Id="rId4" Type="http://schemas.openxmlformats.org/officeDocument/2006/relationships/image" Target="../media/image77.png"/><Relationship Id="rId9" Type="http://schemas.openxmlformats.org/officeDocument/2006/relationships/image" Target="../media/image74.png"/></Relationships>
</file>

<file path=ppt/slides/_rels/slide26.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68.png"/><Relationship Id="rId7" Type="http://schemas.openxmlformats.org/officeDocument/2006/relationships/image" Target="../media/image92.png"/><Relationship Id="rId2" Type="http://schemas.openxmlformats.org/officeDocument/2006/relationships/image" Target="../media/image90.png"/><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91.png"/><Relationship Id="rId10" Type="http://schemas.openxmlformats.org/officeDocument/2006/relationships/image" Target="../media/image95.png"/><Relationship Id="rId4" Type="http://schemas.openxmlformats.org/officeDocument/2006/relationships/image" Target="../media/image77.png"/><Relationship Id="rId9" Type="http://schemas.openxmlformats.org/officeDocument/2006/relationships/image" Target="../media/image94.png"/></Relationships>
</file>

<file path=ppt/slides/_rels/slide27.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3" Type="http://schemas.openxmlformats.org/officeDocument/2006/relationships/image" Target="../media/image68.png"/><Relationship Id="rId7" Type="http://schemas.openxmlformats.org/officeDocument/2006/relationships/image" Target="../media/image94.png"/><Relationship Id="rId12"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1.xml"/><Relationship Id="rId6" Type="http://schemas.openxmlformats.org/officeDocument/2006/relationships/image" Target="../media/image93.png"/><Relationship Id="rId11" Type="http://schemas.openxmlformats.org/officeDocument/2006/relationships/image" Target="../media/image100.png"/><Relationship Id="rId5" Type="http://schemas.openxmlformats.org/officeDocument/2006/relationships/image" Target="../media/image86.png"/><Relationship Id="rId10" Type="http://schemas.openxmlformats.org/officeDocument/2006/relationships/image" Target="../media/image99.png"/><Relationship Id="rId4" Type="http://schemas.openxmlformats.org/officeDocument/2006/relationships/image" Target="../media/image77.png"/><Relationship Id="rId9" Type="http://schemas.openxmlformats.org/officeDocument/2006/relationships/image" Target="../media/image98.png"/><Relationship Id="rId14" Type="http://schemas.openxmlformats.org/officeDocument/2006/relationships/image" Target="../media/image103.png"/></Relationships>
</file>

<file path=ppt/slides/_rels/slide28.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image" Target="../media/image96.png"/><Relationship Id="rId1" Type="http://schemas.openxmlformats.org/officeDocument/2006/relationships/slideLayout" Target="../slideLayouts/slideLayout1.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s>
</file>

<file path=ppt/slides/_rels/slide29.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image" Target="../media/image96.png"/><Relationship Id="rId1" Type="http://schemas.openxmlformats.org/officeDocument/2006/relationships/slideLayout" Target="../slideLayouts/slideLayout1.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s>
</file>

<file path=ppt/slides/_rels/slide30.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 Id="rId5" Type="http://schemas.openxmlformats.org/officeDocument/2006/relationships/image" Target="../media/image131.png"/><Relationship Id="rId4" Type="http://schemas.openxmlformats.org/officeDocument/2006/relationships/image" Target="../media/image130.png"/></Relationships>
</file>

<file path=ppt/slides/_rels/slide3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8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29.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3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25823" cy="2837610"/>
          </a:xfrm>
        </p:spPr>
        <p:txBody>
          <a:bodyPr anchor="t">
            <a:noAutofit/>
          </a:bodyPr>
          <a:lstStyle/>
          <a:p>
            <a:r>
              <a:rPr lang="en-US" altLang="zh-TW" sz="4400" dirty="0">
                <a:latin typeface="Times New Roman" panose="02020603050405020304" pitchFamily="18" charset="0"/>
                <a:cs typeface="Times New Roman" panose="02020603050405020304" pitchFamily="18" charset="0"/>
              </a:rPr>
              <a:t>Effective Sparse Dynamic Programming</a:t>
            </a:r>
            <a:r>
              <a:rPr lang="zh-TW" altLang="en-US" sz="4400" dirty="0">
                <a:latin typeface="Times New Roman" panose="02020603050405020304" pitchFamily="18" charset="0"/>
                <a:cs typeface="Times New Roman" panose="02020603050405020304" pitchFamily="18" charset="0"/>
              </a:rPr>
              <a:t> </a:t>
            </a:r>
            <a:r>
              <a:rPr lang="en-US" altLang="zh-TW" sz="4400" dirty="0">
                <a:latin typeface="Times New Roman" panose="02020603050405020304" pitchFamily="18" charset="0"/>
                <a:cs typeface="Times New Roman" panose="02020603050405020304" pitchFamily="18" charset="0"/>
              </a:rPr>
              <a:t>Algorithms for Merged and Block Merged LCS</a:t>
            </a:r>
            <a:r>
              <a:rPr lang="zh-TW" altLang="en-US" sz="4400" dirty="0">
                <a:latin typeface="Times New Roman" panose="02020603050405020304" pitchFamily="18" charset="0"/>
                <a:cs typeface="Times New Roman" panose="02020603050405020304" pitchFamily="18" charset="0"/>
              </a:rPr>
              <a:t> </a:t>
            </a:r>
            <a:r>
              <a:rPr lang="en-US" altLang="zh-TW" sz="4400" dirty="0">
                <a:latin typeface="Times New Roman" panose="02020603050405020304" pitchFamily="18" charset="0"/>
                <a:cs typeface="Times New Roman" panose="02020603050405020304" pitchFamily="18" charset="0"/>
              </a:rPr>
              <a:t>Problems</a:t>
            </a:r>
            <a:endParaRPr lang="zh-TW" altLang="en-US" sz="4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a:t>Presenter: </a:t>
            </a:r>
            <a:r>
              <a:rPr lang="en-US" altLang="zh-TW" dirty="0" err="1"/>
              <a:t>Chien</a:t>
            </a:r>
            <a:r>
              <a:rPr lang="en-US" altLang="zh-TW" dirty="0"/>
              <a:t>-Ting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Mar</a:t>
            </a:r>
            <a:r>
              <a:rPr lang="x-none" altLang="zh-TW" dirty="0"/>
              <a:t>. </a:t>
            </a:r>
            <a:r>
              <a:rPr lang="en-US" altLang="zh-TW" dirty="0"/>
              <a:t>13</a:t>
            </a:r>
            <a:r>
              <a:rPr lang="x-none" altLang="zh-TW" dirty="0"/>
              <a:t>, 202</a:t>
            </a:r>
            <a:r>
              <a:rPr lang="en-US" altLang="zh-TW" dirty="0"/>
              <a:t>3</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8760" y="3509962"/>
            <a:ext cx="9144000" cy="2133615"/>
          </a:xfrm>
        </p:spPr>
        <p:txBody>
          <a:bodyPr>
            <a:normAutofit/>
          </a:bodyPr>
          <a:lstStyle/>
          <a:p>
            <a:r>
              <a:rPr lang="en-US" altLang="zh-TW" dirty="0">
                <a:latin typeface="Times New Roman" panose="02020603050405020304" pitchFamily="18" charset="0"/>
                <a:ea typeface="+mj-ea"/>
                <a:cs typeface="Times New Roman" panose="02020603050405020304" pitchFamily="18" charset="0"/>
              </a:rPr>
              <a:t>AHM </a:t>
            </a:r>
            <a:r>
              <a:rPr lang="en-US" altLang="zh-TW" dirty="0" err="1">
                <a:latin typeface="Times New Roman" panose="02020603050405020304" pitchFamily="18" charset="0"/>
                <a:ea typeface="+mj-ea"/>
                <a:cs typeface="Times New Roman" panose="02020603050405020304" pitchFamily="18" charset="0"/>
              </a:rPr>
              <a:t>Mahfuzur</a:t>
            </a:r>
            <a:r>
              <a:rPr lang="en-US" altLang="zh-TW" dirty="0">
                <a:latin typeface="Times New Roman" panose="02020603050405020304" pitchFamily="18" charset="0"/>
                <a:ea typeface="+mj-ea"/>
                <a:cs typeface="Times New Roman" panose="02020603050405020304" pitchFamily="18" charset="0"/>
              </a:rPr>
              <a:t> Rahman, M. </a:t>
            </a:r>
            <a:r>
              <a:rPr lang="en-US" altLang="zh-TW" dirty="0" err="1">
                <a:latin typeface="Times New Roman" panose="02020603050405020304" pitchFamily="18" charset="0"/>
                <a:ea typeface="+mj-ea"/>
                <a:cs typeface="Times New Roman" panose="02020603050405020304" pitchFamily="18" charset="0"/>
              </a:rPr>
              <a:t>Sohel</a:t>
            </a:r>
            <a:r>
              <a:rPr lang="en-US" altLang="zh-TW" dirty="0">
                <a:latin typeface="Times New Roman" panose="02020603050405020304" pitchFamily="18" charset="0"/>
                <a:ea typeface="+mj-ea"/>
                <a:cs typeface="Times New Roman" panose="02020603050405020304" pitchFamily="18" charset="0"/>
              </a:rPr>
              <a:t> Rahman</a:t>
            </a:r>
          </a:p>
          <a:p>
            <a:r>
              <a:rPr lang="en-US" altLang="zh-TW" dirty="0">
                <a:latin typeface="Times New Roman" panose="02020603050405020304" pitchFamily="18" charset="0"/>
                <a:ea typeface="+mj-ea"/>
                <a:cs typeface="Times New Roman" panose="02020603050405020304" pitchFamily="18" charset="0"/>
              </a:rPr>
              <a:t>Journal of Computers, Vol. 9, no. 8, August 2014, Page 1743-1754</a:t>
            </a:r>
          </a:p>
        </p:txBody>
      </p:sp>
    </p:spTree>
    <p:extLst>
      <p:ext uri="{BB962C8B-B14F-4D97-AF65-F5344CB8AC3E}">
        <p14:creationId xmlns:p14="http://schemas.microsoft.com/office/powerpoint/2010/main" val="14943632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Autofit/>
          </a:bodyPr>
          <a:lstStyle/>
          <a:p>
            <a:pPr>
              <a:buNone/>
            </a:pPr>
            <a:r>
              <a:rPr lang="en-US" altLang="zh-TW" sz="2400" dirty="0">
                <a:latin typeface="Times New Roman" panose="02020603050405020304" pitchFamily="18" charset="0"/>
                <a:cs typeface="Times New Roman" panose="02020603050405020304" pitchFamily="18" charset="0"/>
              </a:rPr>
              <a:t>		The longest common subsequence problem has been widely studied and used to find out the relationship between sequences. In this paper, we study the interleaving relationship between sequences, that is, we measure the relationship among three sequences, where two of those are interleaved in different ways and then the interleaved sequences are subsequently matched with the third remaining sequence, as </a:t>
            </a:r>
            <a:r>
              <a:rPr lang="en-US" altLang="zh-TW" sz="2400" dirty="0" err="1">
                <a:latin typeface="Times New Roman" panose="02020603050405020304" pitchFamily="18" charset="0"/>
                <a:cs typeface="Times New Roman" panose="02020603050405020304" pitchFamily="18" charset="0"/>
              </a:rPr>
              <a:t>pairwise</a:t>
            </a:r>
            <a:r>
              <a:rPr lang="en-US" altLang="zh-TW" sz="2400" dirty="0">
                <a:latin typeface="Times New Roman" panose="02020603050405020304" pitchFamily="18" charset="0"/>
                <a:cs typeface="Times New Roman" panose="02020603050405020304" pitchFamily="18" charset="0"/>
              </a:rPr>
              <a:t> longest common subsequence problems. Given a target sequence </a:t>
            </a:r>
            <a:r>
              <a:rPr lang="en-US" altLang="zh-TW" sz="2400" i="1" dirty="0">
                <a:latin typeface="Times New Roman" pitchFamily="18" charset="0"/>
                <a:cs typeface="Times New Roman" pitchFamily="18" charset="0"/>
              </a:rPr>
              <a:t>T</a:t>
            </a:r>
            <a:r>
              <a:rPr lang="en-US" altLang="zh-TW" sz="2400" dirty="0">
                <a:latin typeface="Times New Roman" panose="02020603050405020304" pitchFamily="18" charset="0"/>
                <a:cs typeface="Times New Roman" panose="02020603050405020304" pitchFamily="18" charset="0"/>
              </a:rPr>
              <a:t> and two other sequences </a:t>
            </a:r>
            <a:r>
              <a:rPr lang="en-US" altLang="zh-TW" sz="2400" i="1" dirty="0">
                <a:latin typeface="Times New Roman" pitchFamily="18" charset="0"/>
                <a:cs typeface="Times New Roman" pitchFamily="18" charset="0"/>
              </a:rPr>
              <a:t>A</a:t>
            </a:r>
            <a:r>
              <a:rPr lang="en-US" altLang="zh-TW" sz="2400" dirty="0">
                <a:latin typeface="Times New Roman" panose="02020603050405020304" pitchFamily="18" charset="0"/>
                <a:cs typeface="Times New Roman" panose="02020603050405020304" pitchFamily="18" charset="0"/>
              </a:rPr>
              <a:t> and </a:t>
            </a:r>
            <a:r>
              <a:rPr lang="en-US" altLang="zh-TW" sz="2400" i="1" dirty="0">
                <a:latin typeface="Times New Roman" pitchFamily="18" charset="0"/>
                <a:cs typeface="Times New Roman" pitchFamily="18" charset="0"/>
              </a:rPr>
              <a:t>B</a:t>
            </a:r>
            <a:r>
              <a:rPr lang="en-US" altLang="zh-TW" sz="2400" dirty="0">
                <a:latin typeface="Times New Roman" panose="02020603050405020304" pitchFamily="18" charset="0"/>
                <a:cs typeface="Times New Roman" panose="02020603050405020304" pitchFamily="18" charset="0"/>
              </a:rPr>
              <a:t>, we need to find out the LCS between M(</a:t>
            </a:r>
            <a:r>
              <a:rPr lang="en-US" altLang="zh-TW" sz="2400" i="1" dirty="0">
                <a:latin typeface="Times New Roman" pitchFamily="18" charset="0"/>
                <a:cs typeface="Times New Roman" pitchFamily="18" charset="0"/>
              </a:rPr>
              <a:t>A</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itchFamily="18" charset="0"/>
                <a:cs typeface="Times New Roman" pitchFamily="18" charset="0"/>
              </a:rPr>
              <a:t>B</a:t>
            </a:r>
            <a:r>
              <a:rPr lang="en-US" altLang="zh-TW" sz="2400" dirty="0">
                <a:latin typeface="Times New Roman" panose="02020603050405020304" pitchFamily="18" charset="0"/>
                <a:cs typeface="Times New Roman" panose="02020603050405020304" pitchFamily="18" charset="0"/>
              </a:rPr>
              <a:t>) and T, where M(A,B) denotes the merged-sequence which consists of </a:t>
            </a:r>
            <a:r>
              <a:rPr lang="en-US" altLang="zh-TW" sz="2400" i="1" dirty="0">
                <a:latin typeface="Times New Roman" pitchFamily="18" charset="0"/>
                <a:cs typeface="Times New Roman" pitchFamily="18" charset="0"/>
              </a:rPr>
              <a:t>A</a:t>
            </a:r>
            <a:r>
              <a:rPr lang="en-US" altLang="zh-TW" sz="2400" dirty="0">
                <a:latin typeface="Times New Roman" panose="02020603050405020304" pitchFamily="18" charset="0"/>
                <a:cs typeface="Times New Roman" panose="02020603050405020304" pitchFamily="18" charset="0"/>
              </a:rPr>
              <a:t> and </a:t>
            </a:r>
            <a:r>
              <a:rPr lang="en-US" altLang="zh-TW" sz="2400" i="1" dirty="0">
                <a:latin typeface="Times New Roman" pitchFamily="18" charset="0"/>
                <a:cs typeface="Times New Roman" pitchFamily="18" charset="0"/>
              </a:rPr>
              <a:t>B</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2</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05064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Autofit/>
          </a:bodyPr>
          <a:lstStyle/>
          <a:p>
            <a:pPr>
              <a:buNone/>
            </a:pPr>
            <a:r>
              <a:rPr lang="en-US" altLang="zh-TW" sz="2400" dirty="0">
                <a:latin typeface="Times New Roman" panose="02020603050405020304" pitchFamily="18" charset="0"/>
                <a:cs typeface="Times New Roman" panose="02020603050405020304" pitchFamily="18" charset="0"/>
              </a:rPr>
              <a:t>    We first present an improved O((</a:t>
            </a:r>
            <a:r>
              <a:rPr lang="en-US" altLang="zh-TW" sz="2400" i="1" dirty="0" err="1">
                <a:latin typeface="Times New Roman" pitchFamily="18" charset="0"/>
                <a:cs typeface="Times New Roman" pitchFamily="18" charset="0"/>
              </a:rPr>
              <a:t>Rr</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itchFamily="18" charset="0"/>
                <a:cs typeface="Times New Roman" pitchFamily="18" charset="0"/>
              </a:rPr>
              <a:t>Pm</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loglog</a:t>
            </a:r>
            <a:r>
              <a:rPr lang="en-US" altLang="zh-TW" sz="2400" i="1" dirty="0" err="1">
                <a:latin typeface="Times New Roman" pitchFamily="18" charset="0"/>
                <a:cs typeface="Times New Roman" pitchFamily="18" charset="0"/>
              </a:rPr>
              <a:t>r</a:t>
            </a:r>
            <a:r>
              <a:rPr lang="en-US" altLang="zh-TW" sz="2400" dirty="0">
                <a:latin typeface="Times New Roman" panose="02020603050405020304" pitchFamily="18" charset="0"/>
                <a:cs typeface="Times New Roman" panose="02020603050405020304" pitchFamily="18" charset="0"/>
              </a:rPr>
              <a:t>) time algorithm, where we consider only the matches between sequences; here </a:t>
            </a:r>
            <a:r>
              <a:rPr lang="pt-BR" altLang="zh-TW" sz="2400" dirty="0">
                <a:latin typeface="Times New Roman" panose="02020603050405020304" pitchFamily="18" charset="0"/>
                <a:cs typeface="Times New Roman" panose="02020603050405020304" pitchFamily="18" charset="0"/>
              </a:rPr>
              <a:t>|</a:t>
            </a:r>
            <a:r>
              <a:rPr lang="pt-BR" altLang="zh-TW" sz="2400" i="1" dirty="0">
                <a:latin typeface="Times New Roman" pitchFamily="18" charset="0"/>
                <a:cs typeface="Times New Roman" pitchFamily="18" charset="0"/>
              </a:rPr>
              <a:t>T</a:t>
            </a:r>
            <a:r>
              <a:rPr lang="pt-BR" altLang="zh-TW" sz="2400" dirty="0">
                <a:latin typeface="Times New Roman" panose="02020603050405020304" pitchFamily="18" charset="0"/>
                <a:cs typeface="Times New Roman" panose="02020603050405020304" pitchFamily="18" charset="0"/>
              </a:rPr>
              <a:t>| = </a:t>
            </a:r>
            <a:r>
              <a:rPr lang="pt-BR" altLang="zh-TW" sz="2400" i="1" dirty="0">
                <a:latin typeface="Times New Roman" pitchFamily="18" charset="0"/>
                <a:cs typeface="Times New Roman" pitchFamily="18" charset="0"/>
              </a:rPr>
              <a:t>n</a:t>
            </a:r>
            <a:r>
              <a:rPr lang="pt-BR" altLang="zh-TW" sz="2400" dirty="0">
                <a:latin typeface="Times New Roman" panose="02020603050405020304" pitchFamily="18" charset="0"/>
                <a:cs typeface="Times New Roman" panose="02020603050405020304" pitchFamily="18" charset="0"/>
              </a:rPr>
              <a:t>, |</a:t>
            </a:r>
            <a:r>
              <a:rPr lang="pt-BR" altLang="zh-TW" sz="2400" i="1" dirty="0">
                <a:latin typeface="Times New Roman" pitchFamily="18" charset="0"/>
                <a:cs typeface="Times New Roman" pitchFamily="18" charset="0"/>
              </a:rPr>
              <a:t>A</a:t>
            </a:r>
            <a:r>
              <a:rPr lang="pt-BR" altLang="zh-TW" sz="2400" dirty="0">
                <a:latin typeface="Times New Roman" panose="02020603050405020304" pitchFamily="18" charset="0"/>
                <a:cs typeface="Times New Roman" panose="02020603050405020304" pitchFamily="18" charset="0"/>
              </a:rPr>
              <a:t>| = </a:t>
            </a:r>
            <a:r>
              <a:rPr lang="pt-BR" altLang="zh-TW" sz="2400" i="1" dirty="0">
                <a:latin typeface="Times New Roman" pitchFamily="18" charset="0"/>
                <a:cs typeface="Times New Roman" pitchFamily="18" charset="0"/>
              </a:rPr>
              <a:t>m</a:t>
            </a:r>
            <a:r>
              <a:rPr lang="pt-BR" altLang="zh-TW" sz="2400" dirty="0">
                <a:latin typeface="Times New Roman" panose="02020603050405020304" pitchFamily="18" charset="0"/>
                <a:cs typeface="Times New Roman" panose="02020603050405020304" pitchFamily="18" charset="0"/>
              </a:rPr>
              <a:t> and |</a:t>
            </a:r>
            <a:r>
              <a:rPr lang="pt-BR" altLang="zh-TW" sz="2400" i="1" dirty="0">
                <a:latin typeface="Times New Roman" pitchFamily="18" charset="0"/>
                <a:cs typeface="Times New Roman" pitchFamily="18" charset="0"/>
              </a:rPr>
              <a:t>B</a:t>
            </a:r>
            <a:r>
              <a:rPr lang="pt-BR" altLang="zh-TW" sz="2400" dirty="0">
                <a:latin typeface="Times New Roman" panose="02020603050405020304" pitchFamily="18" charset="0"/>
                <a:cs typeface="Times New Roman" panose="02020603050405020304" pitchFamily="18" charset="0"/>
              </a:rPr>
              <a:t>| = </a:t>
            </a:r>
            <a:r>
              <a:rPr lang="pt-BR" altLang="zh-TW" sz="2400" i="1" dirty="0">
                <a:latin typeface="Times New Roman" pitchFamily="18" charset="0"/>
                <a:cs typeface="Times New Roman" pitchFamily="18" charset="0"/>
              </a:rPr>
              <a:t>r</a:t>
            </a:r>
            <a:r>
              <a:rPr lang="pt-BR" altLang="zh-TW" sz="2400" dirty="0">
                <a:latin typeface="Times New Roman" panose="02020603050405020304" pitchFamily="18" charset="0"/>
                <a:cs typeface="Times New Roman" panose="02020603050405020304" pitchFamily="18" charset="0"/>
              </a:rPr>
              <a:t> (</a:t>
            </a:r>
            <a:r>
              <a:rPr lang="pt-BR" altLang="zh-TW" sz="2400" i="1" dirty="0">
                <a:latin typeface="Times New Roman" pitchFamily="18" charset="0"/>
                <a:cs typeface="Times New Roman" pitchFamily="18" charset="0"/>
              </a:rPr>
              <a:t>m</a:t>
            </a:r>
            <a:r>
              <a:rPr lang="zh-TW" altLang="en-US" sz="2400" dirty="0">
                <a:latin typeface="Times New Roman" panose="02020603050405020304" pitchFamily="18" charset="0"/>
                <a:cs typeface="Times New Roman" panose="02020603050405020304" pitchFamily="18" charset="0"/>
              </a:rPr>
              <a:t>≥</a:t>
            </a:r>
            <a:r>
              <a:rPr lang="pt-BR" altLang="zh-TW" sz="2400" i="1" dirty="0">
                <a:latin typeface="Times New Roman" pitchFamily="18" charset="0"/>
                <a:cs typeface="Times New Roman" pitchFamily="18" charset="0"/>
              </a:rPr>
              <a:t>r</a:t>
            </a:r>
            <a:r>
              <a:rPr lang="pt-BR" altLang="zh-TW" sz="2400" dirty="0">
                <a:latin typeface="Times New Roman" panose="02020603050405020304" pitchFamily="18" charset="0"/>
                <a:cs typeface="Times New Roman" panose="02020603050405020304" pitchFamily="18" charset="0"/>
              </a:rPr>
              <a:t>); </a:t>
            </a:r>
            <a:r>
              <a:rPr lang="pt-BR" altLang="zh-TW" sz="2400" i="1" dirty="0">
                <a:latin typeface="Times New Roman" pitchFamily="18" charset="0"/>
                <a:cs typeface="Times New Roman" pitchFamily="18" charset="0"/>
              </a:rPr>
              <a:t>R</a:t>
            </a:r>
            <a:r>
              <a:rPr lang="pt-BR" altLang="zh-TW" sz="2400" dirty="0">
                <a:latin typeface="Times New Roman" panose="02020603050405020304" pitchFamily="18" charset="0"/>
                <a:cs typeface="Times New Roman" panose="02020603050405020304" pitchFamily="18" charset="0"/>
              </a:rPr>
              <a:t> is the total </a:t>
            </a:r>
            <a:r>
              <a:rPr lang="en-US" altLang="zh-TW" sz="2400" dirty="0">
                <a:latin typeface="Times New Roman" panose="02020603050405020304" pitchFamily="18" charset="0"/>
                <a:cs typeface="Times New Roman" panose="02020603050405020304" pitchFamily="18" charset="0"/>
              </a:rPr>
              <a:t>number of ordered pairs of positions at which the two strings </a:t>
            </a:r>
            <a:r>
              <a:rPr lang="en-US" altLang="zh-TW" sz="2400" i="1" dirty="0">
                <a:latin typeface="Times New Roman" pitchFamily="18" charset="0"/>
                <a:cs typeface="Times New Roman" pitchFamily="18" charset="0"/>
              </a:rPr>
              <a:t>A</a:t>
            </a:r>
            <a:r>
              <a:rPr lang="en-US" altLang="zh-TW" sz="2400" dirty="0">
                <a:latin typeface="Times New Roman" panose="02020603050405020304" pitchFamily="18" charset="0"/>
                <a:cs typeface="Times New Roman" panose="02020603050405020304" pitchFamily="18" charset="0"/>
              </a:rPr>
              <a:t> and </a:t>
            </a:r>
            <a:r>
              <a:rPr lang="en-US" altLang="zh-TW" sz="2400" i="1" dirty="0">
                <a:latin typeface="Times New Roman" pitchFamily="18" charset="0"/>
                <a:cs typeface="Times New Roman" pitchFamily="18" charset="0"/>
              </a:rPr>
              <a:t>T</a:t>
            </a:r>
            <a:r>
              <a:rPr lang="en-US" altLang="zh-TW" sz="2400" dirty="0">
                <a:latin typeface="Times New Roman" panose="02020603050405020304" pitchFamily="18" charset="0"/>
                <a:cs typeface="Times New Roman" panose="02020603050405020304" pitchFamily="18" charset="0"/>
              </a:rPr>
              <a:t> match and </a:t>
            </a:r>
            <a:r>
              <a:rPr lang="en-US" altLang="zh-TW" sz="2400" i="1" dirty="0">
                <a:latin typeface="Times New Roman" pitchFamily="18" charset="0"/>
                <a:cs typeface="Times New Roman" pitchFamily="18" charset="0"/>
              </a:rPr>
              <a:t>P</a:t>
            </a:r>
            <a:r>
              <a:rPr lang="en-US" altLang="zh-TW" sz="2400" dirty="0">
                <a:latin typeface="Times New Roman" panose="02020603050405020304" pitchFamily="18" charset="0"/>
                <a:cs typeface="Times New Roman" panose="02020603050405020304" pitchFamily="18" charset="0"/>
              </a:rPr>
              <a:t> denotes the total number of ordered pairs of positions at which the two strings </a:t>
            </a:r>
            <a:r>
              <a:rPr lang="en-US" altLang="zh-TW" sz="2400" i="1" dirty="0">
                <a:latin typeface="Times New Roman" pitchFamily="18" charset="0"/>
                <a:cs typeface="Times New Roman" pitchFamily="18" charset="0"/>
              </a:rPr>
              <a:t>B</a:t>
            </a:r>
            <a:r>
              <a:rPr lang="en-US" altLang="zh-TW" sz="2400" dirty="0">
                <a:latin typeface="Times New Roman" panose="02020603050405020304" pitchFamily="18" charset="0"/>
                <a:cs typeface="Times New Roman" panose="02020603050405020304" pitchFamily="18" charset="0"/>
              </a:rPr>
              <a:t> and </a:t>
            </a:r>
            <a:r>
              <a:rPr lang="en-US" altLang="zh-TW" sz="2400" i="1" dirty="0">
                <a:latin typeface="Times New Roman" pitchFamily="18" charset="0"/>
                <a:cs typeface="Times New Roman" pitchFamily="18" charset="0"/>
              </a:rPr>
              <a:t>T</a:t>
            </a:r>
            <a:r>
              <a:rPr lang="en-US" altLang="zh-TW" sz="2400" dirty="0">
                <a:latin typeface="Times New Roman" panose="02020603050405020304" pitchFamily="18" charset="0"/>
                <a:cs typeface="Times New Roman" panose="02020603050405020304" pitchFamily="18" charset="0"/>
              </a:rPr>
              <a:t> match. Basing on the same idea, we also propose an improved algorithm to solve a block constrained variation of the problem. Running time of the blocked version is O(max{</a:t>
            </a:r>
            <a:r>
              <a:rPr lang="en-US" altLang="zh-TW" sz="2400" i="1" dirty="0">
                <a:latin typeface="Times New Roman" pitchFamily="18" charset="0"/>
                <a:cs typeface="Times New Roman" pitchFamily="18" charset="0"/>
              </a:rPr>
              <a:t>R</a:t>
            </a:r>
            <a:r>
              <a:rPr lang="el-GR" altLang="zh-TW" sz="2400" i="1" dirty="0">
                <a:latin typeface="Times New Roman" pitchFamily="18" charset="0"/>
                <a:cs typeface="Times New Roman" pitchFamily="18" charset="0"/>
              </a:rPr>
              <a:t>β</a:t>
            </a:r>
            <a:r>
              <a:rPr lang="en-US" altLang="zh-TW" sz="2400" dirty="0" err="1">
                <a:latin typeface="Times New Roman" panose="02020603050405020304" pitchFamily="18" charset="0"/>
                <a:cs typeface="Times New Roman" panose="02020603050405020304" pitchFamily="18" charset="0"/>
              </a:rPr>
              <a:t>loglog</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itchFamily="18" charset="0"/>
                <a:cs typeface="Times New Roman" pitchFamily="18" charset="0"/>
              </a:rPr>
              <a:t>r</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i="1" dirty="0">
                <a:latin typeface="Times New Roman" pitchFamily="18" charset="0"/>
                <a:cs typeface="Times New Roman" pitchFamily="18" charset="0"/>
              </a:rPr>
              <a:t>P</a:t>
            </a:r>
            <a:r>
              <a:rPr lang="el-GR" altLang="zh-TW" sz="2400" i="1" dirty="0">
                <a:latin typeface="Times New Roman" pitchFamily="18" charset="0"/>
                <a:cs typeface="Times New Roman" pitchFamily="18" charset="0"/>
              </a:rPr>
              <a:t>α</a:t>
            </a:r>
            <a:r>
              <a:rPr lang="en-US" altLang="zh-TW" sz="2400" dirty="0" err="1">
                <a:latin typeface="Times New Roman" panose="02020603050405020304" pitchFamily="18" charset="0"/>
                <a:cs typeface="Times New Roman" panose="02020603050405020304" pitchFamily="18" charset="0"/>
              </a:rPr>
              <a:t>loglog</a:t>
            </a:r>
            <a:r>
              <a:rPr lang="en-US" altLang="zh-TW" sz="2400" i="1" dirty="0" err="1">
                <a:latin typeface="Times New Roman" pitchFamily="18" charset="0"/>
                <a:cs typeface="Times New Roman" pitchFamily="18" charset="0"/>
              </a:rPr>
              <a:t>r</a:t>
            </a:r>
            <a:r>
              <a:rPr lang="en-US" altLang="zh-TW" sz="2400" dirty="0">
                <a:latin typeface="Times New Roman" panose="02020603050405020304" pitchFamily="18" charset="0"/>
                <a:cs typeface="Times New Roman" panose="02020603050405020304" pitchFamily="18" charset="0"/>
              </a:rPr>
              <a:t>}), where</a:t>
            </a:r>
            <a:r>
              <a:rPr lang="el-GR" sz="2400" i="1" dirty="0">
                <a:latin typeface="Times New Roman" pitchFamily="18" charset="0"/>
                <a:cs typeface="Times New Roman" pitchFamily="18" charset="0"/>
              </a:rPr>
              <a:t> α </a:t>
            </a:r>
            <a:r>
              <a:rPr lang="en-US" altLang="zh-TW" sz="2400" dirty="0">
                <a:latin typeface="Times New Roman" panose="02020603050405020304" pitchFamily="18" charset="0"/>
                <a:cs typeface="Times New Roman" panose="02020603050405020304" pitchFamily="18" charset="0"/>
              </a:rPr>
              <a:t>denotes the number of blocks in A and</a:t>
            </a:r>
            <a:r>
              <a:rPr lang="el-GR" sz="2400" i="1" dirty="0">
                <a:latin typeface="Times New Roman" pitchFamily="18" charset="0"/>
                <a:cs typeface="Times New Roman" pitchFamily="18" charset="0"/>
              </a:rPr>
              <a:t> β </a:t>
            </a:r>
            <a:r>
              <a:rPr lang="en-US" altLang="zh-TW" sz="2400" dirty="0">
                <a:latin typeface="Times New Roman" panose="02020603050405020304" pitchFamily="18" charset="0"/>
                <a:cs typeface="Times New Roman" panose="02020603050405020304" pitchFamily="18" charset="0"/>
              </a:rPr>
              <a:t>denotes the number of blocks in B.</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72553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Abstract(3/3)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a:buNone/>
            </a:pPr>
            <a:r>
              <a:rPr lang="en-US" altLang="zh-TW" dirty="0">
                <a:latin typeface="Times New Roman" panose="02020603050405020304" pitchFamily="18" charset="0"/>
                <a:cs typeface="Times New Roman" panose="02020603050405020304" pitchFamily="18" charset="0"/>
              </a:rPr>
              <a:t>    	However, these improved algorithms do not provide best output in every cases. Therefore we finally fabricate a hybrid algorithm which utilizes the advantages of our proposed algorithms and previous state of the arts algorithms to provide best output in every possible cases, from both time efficiency and space efficiency.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4</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3460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Merged LCS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0" indent="0">
              <a:buNone/>
            </a:pPr>
            <a:r>
              <a:rPr lang="en-US" altLang="zh-TW" dirty="0">
                <a:latin typeface="Times New Roman" pitchFamily="18" charset="0"/>
                <a:cs typeface="Times New Roman" pitchFamily="18" charset="0"/>
              </a:rPr>
              <a:t>A = 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FF0000"/>
                </a:solidFill>
                <a:latin typeface="Times New Roman" pitchFamily="18" charset="0"/>
                <a:cs typeface="Times New Roman" pitchFamily="18" charset="0"/>
              </a:rPr>
              <a:t>actt</a:t>
            </a:r>
            <a:r>
              <a:rPr lang="en-US" altLang="zh-TW" dirty="0">
                <a:latin typeface="Times New Roman" panose="02020603050405020304" pitchFamily="18" charset="0"/>
                <a:cs typeface="Times New Roman" panose="02020603050405020304" pitchFamily="18" charset="0"/>
              </a:rPr>
              <a:t>,  B = 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00B0F0"/>
                </a:solidFill>
                <a:latin typeface="Times New Roman" pitchFamily="18" charset="0"/>
                <a:cs typeface="Times New Roman" pitchFamily="18" charset="0"/>
              </a:rPr>
              <a:t>ctg</a:t>
            </a:r>
            <a:r>
              <a:rPr lang="en-US" altLang="zh-TW" dirty="0">
                <a:latin typeface="Times New Roman" pitchFamily="18" charset="0"/>
                <a:cs typeface="Times New Roman" pitchFamily="18" charset="0"/>
              </a:rPr>
              <a:t> ,  T = </a:t>
            </a:r>
            <a:r>
              <a:rPr lang="en-US" altLang="zh-TW" dirty="0" err="1">
                <a:latin typeface="Times New Roman" pitchFamily="18" charset="0"/>
                <a:cs typeface="Times New Roman" pitchFamily="18" charset="0"/>
              </a:rPr>
              <a:t>tcatcg</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p>
          <a:p>
            <a:pPr>
              <a:buNone/>
            </a:pPr>
            <a:r>
              <a:rPr lang="en-US" altLang="zh-TW" dirty="0">
                <a:latin typeface="Times New Roman" panose="02020603050405020304" pitchFamily="18" charset="0"/>
                <a:cs typeface="Times New Roman" panose="02020603050405020304" pitchFamily="18" charset="0"/>
              </a:rPr>
              <a:t>M</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 B) = 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FF0000"/>
                </a:solidFill>
                <a:latin typeface="Times New Roman" pitchFamily="18" charset="0"/>
                <a:cs typeface="Times New Roman" pitchFamily="18" charset="0"/>
              </a:rPr>
              <a:t>a</a:t>
            </a:r>
            <a:r>
              <a:rPr lang="en-US" altLang="zh-TW" dirty="0" err="1">
                <a:solidFill>
                  <a:srgbClr val="0070C0"/>
                </a:solidFill>
                <a:latin typeface="Times New Roman" pitchFamily="18" charset="0"/>
                <a:cs typeface="Times New Roman" pitchFamily="18" charset="0"/>
              </a:rPr>
              <a:t>c</a:t>
            </a:r>
            <a:r>
              <a:rPr lang="en-US" altLang="zh-TW" dirty="0" err="1">
                <a:solidFill>
                  <a:srgbClr val="FF0000"/>
                </a:solidFill>
                <a:latin typeface="Times New Roman" pitchFamily="18" charset="0"/>
                <a:cs typeface="Times New Roman" pitchFamily="18" charset="0"/>
              </a:rPr>
              <a:t>c</a:t>
            </a:r>
            <a:r>
              <a:rPr lang="en-US" altLang="zh-TW" dirty="0" err="1">
                <a:solidFill>
                  <a:srgbClr val="0070C0"/>
                </a:solidFill>
                <a:latin typeface="Times New Roman" pitchFamily="18" charset="0"/>
                <a:cs typeface="Times New Roman" pitchFamily="18" charset="0"/>
              </a:rPr>
              <a:t>tg</a:t>
            </a:r>
            <a:r>
              <a:rPr lang="en-US" altLang="zh-TW" dirty="0" err="1">
                <a:solidFill>
                  <a:srgbClr val="FF0000"/>
                </a:solidFill>
                <a:latin typeface="Times New Roman" pitchFamily="18" charset="0"/>
                <a:cs typeface="Times New Roman" pitchFamily="18" charset="0"/>
              </a:rPr>
              <a:t>tt</a:t>
            </a:r>
            <a:endParaRPr lang="en-US" altLang="zh-TW" dirty="0">
              <a:solidFill>
                <a:srgbClr val="FF0000"/>
              </a:solidFill>
              <a:latin typeface="Times New Roman" pitchFamily="18" charset="0"/>
              <a:cs typeface="Times New Roman" pitchFamily="18" charset="0"/>
            </a:endParaRPr>
          </a:p>
          <a:p>
            <a:pPr>
              <a:buNone/>
            </a:pPr>
            <a:r>
              <a:rPr lang="en-US" altLang="zh-TW" dirty="0">
                <a:latin typeface="Times New Roman" pitchFamily="18" charset="0"/>
                <a:cs typeface="Times New Roman" pitchFamily="18" charset="0"/>
              </a:rPr>
              <a:t>M</a:t>
            </a:r>
            <a:r>
              <a:rPr lang="en-US" altLang="zh-TW" baseline="-25000" dirty="0">
                <a:latin typeface="Times New Roman" pitchFamily="18" charset="0"/>
                <a:cs typeface="Times New Roman" pitchFamily="18" charset="0"/>
              </a:rPr>
              <a:t>2</a:t>
            </a:r>
            <a:r>
              <a:rPr lang="en-US" altLang="zh-TW" dirty="0">
                <a:latin typeface="Times New Roman" panose="02020603050405020304" pitchFamily="18" charset="0"/>
                <a:cs typeface="Times New Roman" panose="02020603050405020304" pitchFamily="18" charset="0"/>
              </a:rPr>
              <a:t>(A, B) = 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FF0000"/>
                </a:solidFill>
                <a:latin typeface="Times New Roman" pitchFamily="18" charset="0"/>
                <a:cs typeface="Times New Roman" pitchFamily="18" charset="0"/>
              </a:rPr>
              <a:t>actt</a:t>
            </a:r>
            <a:r>
              <a:rPr lang="en-US" altLang="zh-TW" dirty="0" err="1">
                <a:solidFill>
                  <a:srgbClr val="0070C0"/>
                </a:solidFill>
                <a:latin typeface="Times New Roman" pitchFamily="18" charset="0"/>
                <a:cs typeface="Times New Roman" pitchFamily="18" charset="0"/>
              </a:rPr>
              <a:t>ctg</a:t>
            </a:r>
            <a:endParaRPr lang="zh-TW" altLang="en-US" dirty="0">
              <a:solidFill>
                <a:srgbClr val="FF0000"/>
              </a:solidFill>
              <a:latin typeface="Times New Roman" pitchFamily="18" charset="0"/>
              <a:cs typeface="Times New Roman" pitchFamily="18" charset="0"/>
            </a:endParaRPr>
          </a:p>
          <a:p>
            <a:pPr>
              <a:buNone/>
            </a:pPr>
            <a:r>
              <a:rPr lang="en-US" altLang="zh-TW" dirty="0">
                <a:latin typeface="Times New Roman" pitchFamily="18" charset="0"/>
                <a:cs typeface="Times New Roman" pitchFamily="18" charset="0"/>
              </a:rPr>
              <a:t>M</a:t>
            </a:r>
            <a:r>
              <a:rPr lang="en-US" altLang="zh-TW" baseline="-25000" dirty="0">
                <a:latin typeface="Times New Roman" pitchFamily="18" charset="0"/>
                <a:cs typeface="Times New Roman" pitchFamily="18" charset="0"/>
              </a:rPr>
              <a:t>3</a:t>
            </a:r>
            <a:r>
              <a:rPr lang="en-US" altLang="zh-TW" dirty="0">
                <a:latin typeface="Times New Roman" panose="02020603050405020304" pitchFamily="18" charset="0"/>
                <a:cs typeface="Times New Roman" panose="02020603050405020304" pitchFamily="18" charset="0"/>
              </a:rPr>
              <a:t>(A, B) = 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0070C0"/>
                </a:solidFill>
                <a:latin typeface="Times New Roman" pitchFamily="18" charset="0"/>
                <a:cs typeface="Times New Roman" pitchFamily="18" charset="0"/>
              </a:rPr>
              <a:t>c</a:t>
            </a:r>
            <a:r>
              <a:rPr lang="en-US" altLang="zh-TW" dirty="0" err="1">
                <a:solidFill>
                  <a:srgbClr val="FF0000"/>
                </a:solidFill>
                <a:latin typeface="Times New Roman" pitchFamily="18" charset="0"/>
                <a:cs typeface="Times New Roman" pitchFamily="18" charset="0"/>
              </a:rPr>
              <a:t>a</a:t>
            </a:r>
            <a:r>
              <a:rPr lang="en-US" altLang="zh-TW" dirty="0" err="1">
                <a:solidFill>
                  <a:srgbClr val="0070C0"/>
                </a:solidFill>
                <a:latin typeface="Times New Roman" pitchFamily="18" charset="0"/>
                <a:cs typeface="Times New Roman" pitchFamily="18" charset="0"/>
              </a:rPr>
              <a:t>t</a:t>
            </a:r>
            <a:r>
              <a:rPr lang="en-US" altLang="zh-TW" dirty="0" err="1">
                <a:solidFill>
                  <a:srgbClr val="FF0000"/>
                </a:solidFill>
                <a:latin typeface="Times New Roman" pitchFamily="18" charset="0"/>
                <a:cs typeface="Times New Roman" pitchFamily="18" charset="0"/>
              </a:rPr>
              <a:t>c</a:t>
            </a:r>
            <a:r>
              <a:rPr lang="en-US" altLang="zh-TW" dirty="0" err="1">
                <a:solidFill>
                  <a:srgbClr val="0070C0"/>
                </a:solidFill>
                <a:latin typeface="Times New Roman" pitchFamily="18" charset="0"/>
                <a:cs typeface="Times New Roman" pitchFamily="18" charset="0"/>
              </a:rPr>
              <a:t>g</a:t>
            </a:r>
            <a:r>
              <a:rPr lang="en-US" altLang="zh-TW" dirty="0" err="1">
                <a:solidFill>
                  <a:srgbClr val="FF0000"/>
                </a:solidFill>
                <a:latin typeface="Times New Roman" pitchFamily="18" charset="0"/>
                <a:cs typeface="Times New Roman" pitchFamily="18" charset="0"/>
              </a:rPr>
              <a:t>tt</a:t>
            </a:r>
            <a:endParaRPr lang="en-US" altLang="zh-TW" dirty="0">
              <a:solidFill>
                <a:srgbClr val="FF0000"/>
              </a:solidFill>
              <a:latin typeface="Times New Roman" pitchFamily="18" charset="0"/>
              <a:cs typeface="Times New Roman" pitchFamily="18" charset="0"/>
            </a:endParaRPr>
          </a:p>
          <a:p>
            <a:pPr>
              <a:buNone/>
            </a:pPr>
            <a:endParaRPr lang="en-US" altLang="zh-TW" dirty="0">
              <a:latin typeface="Times New Roman" pitchFamily="18" charset="0"/>
              <a:cs typeface="Times New Roman" pitchFamily="18" charset="0"/>
            </a:endParaRPr>
          </a:p>
          <a:p>
            <a:pPr>
              <a:buNone/>
            </a:pPr>
            <a:endParaRPr lang="en-US" altLang="zh-TW" dirty="0">
              <a:latin typeface="Times New Roman" pitchFamily="18" charset="0"/>
              <a:cs typeface="Times New Roman" pitchFamily="18" charset="0"/>
            </a:endParaRPr>
          </a:p>
          <a:p>
            <a:pPr>
              <a:buNone/>
            </a:pPr>
            <a:r>
              <a:rPr lang="en-US" altLang="zh-TW" dirty="0">
                <a:latin typeface="Times New Roman" pitchFamily="18" charset="0"/>
                <a:cs typeface="Times New Roman" pitchFamily="18" charset="0"/>
              </a:rPr>
              <a:t>MLCS(A, B, T) = LCS (M</a:t>
            </a:r>
            <a:r>
              <a:rPr lang="en-US" altLang="zh-TW" baseline="-25000" dirty="0">
                <a:latin typeface="Times New Roman" pitchFamily="18" charset="0"/>
                <a:cs typeface="Times New Roman" pitchFamily="18" charset="0"/>
              </a:rPr>
              <a:t>3</a:t>
            </a:r>
            <a:r>
              <a:rPr lang="en-US" altLang="zh-TW" dirty="0">
                <a:latin typeface="Times New Roman" panose="02020603050405020304" pitchFamily="18" charset="0"/>
                <a:cs typeface="Times New Roman" panose="02020603050405020304" pitchFamily="18" charset="0"/>
              </a:rPr>
              <a:t>(A, B), T) = </a:t>
            </a:r>
            <a:r>
              <a:rPr lang="en-US" altLang="zh-TW" dirty="0" err="1">
                <a:latin typeface="Times New Roman" panose="02020603050405020304" pitchFamily="18" charset="0"/>
                <a:cs typeface="Times New Roman" panose="02020603050405020304" pitchFamily="18" charset="0"/>
              </a:rPr>
              <a:t>catcg</a:t>
            </a: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5</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3920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98426"/>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Block Merged LCS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4"/>
                <a:ext cx="7886700" cy="4791075"/>
              </a:xfrm>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A = </a:t>
                </a:r>
                <a14:m>
                  <m:oMath xmlns:m="http://schemas.openxmlformats.org/officeDocument/2006/math">
                    <m:sSub>
                      <m:sSubPr>
                        <m:ctrlPr>
                          <a:rPr lang="en-US" altLang="zh-TW" i="1" smtClean="0">
                            <a:latin typeface="Cambria Math" panose="02040503050406030204" pitchFamily="18" charset="0"/>
                            <a:cs typeface="Times New Roman" pitchFamily="18" charset="0"/>
                          </a:rPr>
                        </m:ctrlPr>
                      </m:sSubPr>
                      <m:e>
                        <m:r>
                          <m:rPr>
                            <m:sty m:val="p"/>
                          </m:rPr>
                          <a:rPr lang="en-US" altLang="zh-TW" b="0" i="0" smtClean="0">
                            <a:latin typeface="Cambria Math" panose="02040503050406030204" pitchFamily="18" charset="0"/>
                            <a:cs typeface="Times New Roman" pitchFamily="18" charset="0"/>
                          </a:rPr>
                          <m:t>A</m:t>
                        </m:r>
                      </m:e>
                      <m:sub>
                        <m:r>
                          <a:rPr lang="en-US" altLang="zh-TW" b="0" i="0" smtClean="0">
                            <a:latin typeface="Cambria Math" panose="02040503050406030204" pitchFamily="18" charset="0"/>
                            <a:cs typeface="Times New Roman" pitchFamily="18" charset="0"/>
                          </a:rPr>
                          <m:t>1</m:t>
                        </m:r>
                      </m:sub>
                    </m:sSub>
                    <m:sSub>
                      <m:sSubPr>
                        <m:ctrlPr>
                          <a:rPr lang="en-US" altLang="zh-TW" i="1">
                            <a:latin typeface="Cambria Math" panose="02040503050406030204" pitchFamily="18" charset="0"/>
                            <a:cs typeface="Times New Roman" pitchFamily="18" charset="0"/>
                          </a:rPr>
                        </m:ctrlPr>
                      </m:sSubPr>
                      <m:e>
                        <m:r>
                          <m:rPr>
                            <m:sty m:val="p"/>
                          </m:rPr>
                          <a:rPr lang="en-US" altLang="zh-TW" i="0">
                            <a:latin typeface="Cambria Math" panose="02040503050406030204" pitchFamily="18" charset="0"/>
                            <a:cs typeface="Times New Roman" pitchFamily="18" charset="0"/>
                          </a:rPr>
                          <m:t>A</m:t>
                        </m:r>
                      </m:e>
                      <m:sub>
                        <m:r>
                          <a:rPr lang="en-US" altLang="zh-TW" b="0" i="0" smtClean="0">
                            <a:latin typeface="Cambria Math" panose="02040503050406030204" pitchFamily="18" charset="0"/>
                            <a:cs typeface="Times New Roman" pitchFamily="18" charset="0"/>
                          </a:rPr>
                          <m:t>2</m:t>
                        </m:r>
                      </m:sub>
                    </m:sSub>
                  </m:oMath>
                </a14:m>
                <a:r>
                  <a:rPr lang="en-US" altLang="zh-TW" dirty="0">
                    <a:latin typeface="Times New Roman" panose="02020603050405020304" pitchFamily="18" charset="0"/>
                    <a:cs typeface="Times New Roman" panose="02020603050405020304" pitchFamily="18" charset="0"/>
                  </a:rPr>
                  <a:t> =			, B = </a:t>
                </a:r>
                <a14:m>
                  <m:oMath xmlns:m="http://schemas.openxmlformats.org/officeDocument/2006/math">
                    <m:sSub>
                      <m:sSubPr>
                        <m:ctrlPr>
                          <a:rPr lang="en-US" altLang="zh-TW" i="1">
                            <a:latin typeface="Cambria Math" panose="02040503050406030204" pitchFamily="18" charset="0"/>
                            <a:cs typeface="Times New Roman" pitchFamily="18" charset="0"/>
                          </a:rPr>
                        </m:ctrlPr>
                      </m:sSubPr>
                      <m:e>
                        <m:r>
                          <m:rPr>
                            <m:sty m:val="p"/>
                          </m:rPr>
                          <a:rPr lang="en-US" altLang="zh-TW" b="0" i="0" smtClean="0">
                            <a:latin typeface="Cambria Math" panose="02040503050406030204" pitchFamily="18" charset="0"/>
                            <a:cs typeface="Times New Roman" pitchFamily="18" charset="0"/>
                          </a:rPr>
                          <m:t>B</m:t>
                        </m:r>
                      </m:e>
                      <m:sub>
                        <m:r>
                          <a:rPr lang="en-US" altLang="zh-TW" i="0">
                            <a:latin typeface="Cambria Math" panose="02040503050406030204" pitchFamily="18" charset="0"/>
                            <a:cs typeface="Times New Roman" pitchFamily="18" charset="0"/>
                          </a:rPr>
                          <m:t>1</m:t>
                        </m:r>
                      </m:sub>
                    </m:sSub>
                    <m:sSub>
                      <m:sSubPr>
                        <m:ctrlPr>
                          <a:rPr lang="en-US" altLang="zh-TW" i="1">
                            <a:latin typeface="Cambria Math" panose="02040503050406030204" pitchFamily="18" charset="0"/>
                            <a:cs typeface="Times New Roman" pitchFamily="18" charset="0"/>
                          </a:rPr>
                        </m:ctrlPr>
                      </m:sSubPr>
                      <m:e>
                        <m:r>
                          <m:rPr>
                            <m:sty m:val="p"/>
                          </m:rPr>
                          <a:rPr lang="en-US" altLang="zh-TW" b="0" i="0" smtClean="0">
                            <a:latin typeface="Cambria Math" panose="02040503050406030204" pitchFamily="18" charset="0"/>
                            <a:cs typeface="Times New Roman" pitchFamily="18" charset="0"/>
                          </a:rPr>
                          <m:t>B</m:t>
                        </m:r>
                      </m:e>
                      <m:sub>
                        <m:r>
                          <a:rPr lang="en-US" altLang="zh-TW" i="0">
                            <a:latin typeface="Cambria Math" panose="02040503050406030204" pitchFamily="18" charset="0"/>
                            <a:cs typeface="Times New Roman" pitchFamily="18" charset="0"/>
                          </a:rPr>
                          <m:t>2</m:t>
                        </m:r>
                      </m:sub>
                    </m:sSub>
                  </m:oMath>
                </a14:m>
                <a:r>
                  <a:rPr lang="en-US" altLang="zh-TW" dirty="0">
                    <a:latin typeface="Times New Roman" pitchFamily="18" charset="0"/>
                    <a:cs typeface="Times New Roman" pitchFamily="18" charset="0"/>
                  </a:rPr>
                  <a:t> =   </a:t>
                </a:r>
              </a:p>
              <a:p>
                <a:pPr marL="0" indent="0">
                  <a:buNone/>
                </a:pPr>
                <a:r>
                  <a:rPr lang="en-US" altLang="zh-TW" dirty="0">
                    <a:latin typeface="Times New Roman" pitchFamily="18" charset="0"/>
                    <a:cs typeface="Times New Roman" pitchFamily="18" charset="0"/>
                  </a:rPr>
                  <a:t>T = </a:t>
                </a:r>
                <a:r>
                  <a:rPr lang="en-US" altLang="zh-TW" dirty="0" err="1">
                    <a:latin typeface="Times New Roman" pitchFamily="18" charset="0"/>
                    <a:cs typeface="Times New Roman" pitchFamily="18" charset="0"/>
                  </a:rPr>
                  <a:t>tcatcg</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𝑏</m:t>
                        </m:r>
                      </m:sup>
                    </m:sSubSup>
                  </m:oMath>
                </a14:m>
                <a:r>
                  <a:rPr lang="en-US" altLang="zh-TW" dirty="0">
                    <a:latin typeface="Times New Roman" panose="02020603050405020304" pitchFamily="18" charset="0"/>
                    <a:cs typeface="Times New Roman" panose="02020603050405020304" pitchFamily="18" charset="0"/>
                  </a:rPr>
                  <a:t>(A, B) = A</a:t>
                </a:r>
                <a:r>
                  <a:rPr lang="en-US" altLang="zh-TW" baseline="-25000" dirty="0"/>
                  <a:t>1</a:t>
                </a:r>
                <a:r>
                  <a:rPr lang="en-US" altLang="zh-TW" dirty="0">
                    <a:latin typeface="Times New Roman" pitchFamily="18" charset="0"/>
                    <a:cs typeface="Times New Roman" pitchFamily="18" charset="0"/>
                  </a:rPr>
                  <a:t>B</a:t>
                </a:r>
                <a:r>
                  <a:rPr lang="en-US" altLang="zh-TW" baseline="-25000" dirty="0">
                    <a:cs typeface="Times New Roman" pitchFamily="18" charset="0"/>
                  </a:rPr>
                  <a:t>1</a:t>
                </a:r>
                <a:r>
                  <a:rPr lang="en-US" altLang="zh-TW" dirty="0">
                    <a:latin typeface="Times New Roman" pitchFamily="18" charset="0"/>
                    <a:cs typeface="Times New Roman" pitchFamily="18" charset="0"/>
                  </a:rPr>
                  <a:t>B</a:t>
                </a:r>
                <a:r>
                  <a:rPr lang="en-US" altLang="zh-TW" baseline="-25000" dirty="0">
                    <a:cs typeface="Times New Roman" pitchFamily="18" charset="0"/>
                  </a:rPr>
                  <a:t>2</a:t>
                </a:r>
                <a:r>
                  <a:rPr lang="en-US" altLang="zh-TW" dirty="0">
                    <a:latin typeface="Times New Roman" pitchFamily="18" charset="0"/>
                    <a:cs typeface="Times New Roman" pitchFamily="18" charset="0"/>
                  </a:rPr>
                  <a:t>A</a:t>
                </a:r>
                <a:r>
                  <a:rPr lang="en-US" altLang="zh-TW" baseline="-25000" dirty="0"/>
                  <a:t>2</a:t>
                </a:r>
                <a:r>
                  <a:rPr lang="en-US" altLang="zh-TW" dirty="0"/>
                  <a:t> = </a:t>
                </a:r>
                <a:r>
                  <a:rPr lang="en-US" altLang="zh-TW" dirty="0" err="1">
                    <a:solidFill>
                      <a:srgbClr val="FF0000"/>
                    </a:solidFill>
                    <a:latin typeface="Times New Roman" pitchFamily="18" charset="0"/>
                    <a:cs typeface="Times New Roman" pitchFamily="18" charset="0"/>
                  </a:rPr>
                  <a:t>ac</a:t>
                </a:r>
                <a:r>
                  <a:rPr lang="en-US" altLang="zh-TW" dirty="0" err="1">
                    <a:solidFill>
                      <a:srgbClr val="0070C0"/>
                    </a:solidFill>
                    <a:latin typeface="Times New Roman" pitchFamily="18" charset="0"/>
                    <a:cs typeface="Times New Roman" pitchFamily="18" charset="0"/>
                  </a:rPr>
                  <a:t>ctg</a:t>
                </a:r>
                <a:r>
                  <a:rPr lang="en-US" altLang="zh-TW" dirty="0" err="1">
                    <a:solidFill>
                      <a:srgbClr val="FF0000"/>
                    </a:solidFill>
                    <a:latin typeface="Times New Roman" pitchFamily="18" charset="0"/>
                    <a:cs typeface="Times New Roman" pitchFamily="18" charset="0"/>
                  </a:rPr>
                  <a:t>tt</a:t>
                </a:r>
                <a:r>
                  <a:rPr lang="en-US" altLang="zh-TW" dirty="0">
                    <a:solidFill>
                      <a:srgbClr val="FF0000"/>
                    </a:solidFill>
                    <a:latin typeface="Times New Roman" pitchFamily="18" charset="0"/>
                    <a:cs typeface="Times New Roman" pitchFamily="18" charset="0"/>
                  </a:rPr>
                  <a:t> </a:t>
                </a: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2</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a:latin typeface="Times New Roman" panose="02020603050405020304" pitchFamily="18" charset="0"/>
                    <a:cs typeface="Times New Roman" panose="02020603050405020304" pitchFamily="18" charset="0"/>
                  </a:rPr>
                  <a:t>(A, B) = A</a:t>
                </a:r>
                <a:r>
                  <a:rPr lang="en-US" altLang="zh-TW" baseline="-25000" dirty="0"/>
                  <a:t>1</a:t>
                </a:r>
                <a:r>
                  <a:rPr lang="en-US" altLang="zh-TW" dirty="0">
                    <a:latin typeface="Times New Roman" pitchFamily="18" charset="0"/>
                    <a:cs typeface="Times New Roman" pitchFamily="18" charset="0"/>
                  </a:rPr>
                  <a:t>A</a:t>
                </a:r>
                <a:r>
                  <a:rPr lang="en-US" altLang="zh-TW" baseline="-25000" dirty="0"/>
                  <a:t>2</a:t>
                </a:r>
                <a:r>
                  <a:rPr lang="en-US" altLang="zh-TW" dirty="0">
                    <a:latin typeface="Times New Roman" pitchFamily="18" charset="0"/>
                    <a:cs typeface="Times New Roman" pitchFamily="18" charset="0"/>
                  </a:rPr>
                  <a:t>B</a:t>
                </a:r>
                <a:r>
                  <a:rPr lang="en-US" altLang="zh-TW" baseline="-25000" dirty="0">
                    <a:cs typeface="Times New Roman" pitchFamily="18" charset="0"/>
                  </a:rPr>
                  <a:t>1</a:t>
                </a:r>
                <a:r>
                  <a:rPr lang="en-US" altLang="zh-TW" dirty="0">
                    <a:latin typeface="Times New Roman" pitchFamily="18" charset="0"/>
                    <a:cs typeface="Times New Roman" pitchFamily="18" charset="0"/>
                  </a:rPr>
                  <a:t>B</a:t>
                </a:r>
                <a:r>
                  <a:rPr lang="en-US" altLang="zh-TW" baseline="-25000" dirty="0">
                    <a:cs typeface="Times New Roman" pitchFamily="18" charset="0"/>
                  </a:rPr>
                  <a:t>2 </a:t>
                </a:r>
                <a:r>
                  <a:rPr lang="en-US" altLang="zh-TW" dirty="0"/>
                  <a:t>= </a:t>
                </a:r>
                <a:r>
                  <a:rPr lang="en-US" altLang="zh-TW" dirty="0" err="1">
                    <a:solidFill>
                      <a:srgbClr val="FF0000"/>
                    </a:solidFill>
                    <a:latin typeface="Times New Roman" pitchFamily="18" charset="0"/>
                    <a:cs typeface="Times New Roman" pitchFamily="18" charset="0"/>
                  </a:rPr>
                  <a:t>actt</a:t>
                </a:r>
                <a:r>
                  <a:rPr lang="en-US" altLang="zh-TW" dirty="0" err="1">
                    <a:solidFill>
                      <a:srgbClr val="0070C0"/>
                    </a:solidFill>
                    <a:latin typeface="Times New Roman" pitchFamily="18" charset="0"/>
                    <a:cs typeface="Times New Roman" pitchFamily="18" charset="0"/>
                  </a:rPr>
                  <a:t>ctg</a:t>
                </a:r>
                <a:endParaRPr lang="zh-TW" altLang="en-US" dirty="0">
                  <a:solidFill>
                    <a:srgbClr val="FF0000"/>
                  </a:solidFill>
                  <a:latin typeface="Times New Roman" pitchFamily="18" charset="0"/>
                  <a:cs typeface="Times New Roman" pitchFamily="18" charset="0"/>
                </a:endParaRP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3</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a:latin typeface="Times New Roman" panose="02020603050405020304" pitchFamily="18" charset="0"/>
                    <a:cs typeface="Times New Roman" panose="02020603050405020304" pitchFamily="18" charset="0"/>
                  </a:rPr>
                  <a:t>(A, B) = B</a:t>
                </a:r>
                <a:r>
                  <a:rPr lang="en-US" altLang="zh-TW" baseline="-25000" dirty="0">
                    <a:cs typeface="Times New Roman" pitchFamily="18" charset="0"/>
                  </a:rPr>
                  <a:t>1</a:t>
                </a:r>
                <a:r>
                  <a:rPr lang="en-US" altLang="zh-TW" dirty="0">
                    <a:latin typeface="Times New Roman" pitchFamily="18" charset="0"/>
                    <a:cs typeface="Times New Roman" pitchFamily="18" charset="0"/>
                  </a:rPr>
                  <a:t>A</a:t>
                </a:r>
                <a:r>
                  <a:rPr lang="en-US" altLang="zh-TW" baseline="-25000" dirty="0"/>
                  <a:t>1</a:t>
                </a:r>
                <a:r>
                  <a:rPr lang="en-US" altLang="zh-TW" dirty="0">
                    <a:latin typeface="Times New Roman" pitchFamily="18" charset="0"/>
                    <a:cs typeface="Times New Roman" pitchFamily="18" charset="0"/>
                  </a:rPr>
                  <a:t>A</a:t>
                </a:r>
                <a:r>
                  <a:rPr lang="en-US" altLang="zh-TW" baseline="-25000" dirty="0"/>
                  <a:t>2</a:t>
                </a:r>
                <a:r>
                  <a:rPr lang="en-US" altLang="zh-TW" dirty="0">
                    <a:latin typeface="Times New Roman" pitchFamily="18" charset="0"/>
                    <a:cs typeface="Times New Roman" pitchFamily="18" charset="0"/>
                  </a:rPr>
                  <a:t>B</a:t>
                </a:r>
                <a:r>
                  <a:rPr lang="en-US" altLang="zh-TW" baseline="-25000" dirty="0">
                    <a:cs typeface="Times New Roman" pitchFamily="18" charset="0"/>
                  </a:rPr>
                  <a:t>2 </a:t>
                </a:r>
                <a:r>
                  <a:rPr lang="en-US" altLang="zh-TW" dirty="0"/>
                  <a:t>=</a:t>
                </a:r>
                <a:r>
                  <a:rPr lang="en-US" altLang="zh-TW" dirty="0">
                    <a:solidFill>
                      <a:srgbClr val="FF0000"/>
                    </a:solidFill>
                  </a:rPr>
                  <a:t> </a:t>
                </a:r>
                <a:r>
                  <a:rPr lang="en-US" altLang="zh-TW" dirty="0" err="1">
                    <a:solidFill>
                      <a:srgbClr val="0070C0"/>
                    </a:solidFill>
                    <a:latin typeface="Times New Roman" pitchFamily="18" charset="0"/>
                    <a:cs typeface="Times New Roman" pitchFamily="18" charset="0"/>
                  </a:rPr>
                  <a:t>ct</a:t>
                </a:r>
                <a:r>
                  <a:rPr lang="en-US" altLang="zh-TW" dirty="0" err="1">
                    <a:solidFill>
                      <a:srgbClr val="FF0000"/>
                    </a:solidFill>
                    <a:latin typeface="Times New Roman" pitchFamily="18" charset="0"/>
                    <a:cs typeface="Times New Roman" pitchFamily="18" charset="0"/>
                  </a:rPr>
                  <a:t>actt</a:t>
                </a:r>
                <a:r>
                  <a:rPr lang="en-US" altLang="zh-TW" dirty="0" err="1">
                    <a:solidFill>
                      <a:srgbClr val="0070C0"/>
                    </a:solidFill>
                    <a:latin typeface="Times New Roman" pitchFamily="18" charset="0"/>
                    <a:cs typeface="Times New Roman" pitchFamily="18" charset="0"/>
                  </a:rPr>
                  <a:t>g</a:t>
                </a:r>
                <a:endParaRPr lang="en-US" altLang="zh-TW" dirty="0">
                  <a:solidFill>
                    <a:srgbClr val="FF0000"/>
                  </a:solidFill>
                  <a:latin typeface="Times New Roman" pitchFamily="18" charset="0"/>
                  <a:cs typeface="Times New Roman" pitchFamily="18" charset="0"/>
                </a:endParaRPr>
              </a:p>
              <a:p>
                <a:pPr>
                  <a:buNone/>
                </a:pPr>
                <a:endParaRPr lang="en-US" altLang="zh-TW" dirty="0">
                  <a:latin typeface="Times New Roman" panose="02020603050405020304" pitchFamily="18" charset="0"/>
                  <a:cs typeface="Times New Roman" panose="02020603050405020304" pitchFamily="18" charset="0"/>
                </a:endParaRPr>
              </a:p>
              <a:p>
                <a:pPr>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i="1" dirty="0">
                    <a:latin typeface="Times New Roman" pitchFamily="18" charset="0"/>
                    <a:cs typeface="Times New Roman" pitchFamily="18" charset="0"/>
                  </a:rPr>
                  <a:t>BMLCS</a:t>
                </a:r>
                <a:r>
                  <a:rPr lang="en-US" altLang="zh-TW" dirty="0"/>
                  <a:t>(</a:t>
                </a:r>
                <a:r>
                  <a:rPr lang="en-US" altLang="zh-TW" i="1" dirty="0">
                    <a:latin typeface="Times New Roman" pitchFamily="18" charset="0"/>
                    <a:cs typeface="Times New Roman" pitchFamily="18" charset="0"/>
                  </a:rPr>
                  <a:t>A</a:t>
                </a:r>
                <a:r>
                  <a:rPr lang="en-US" altLang="zh-TW" dirty="0"/>
                  <a:t>, </a:t>
                </a:r>
                <a:r>
                  <a:rPr lang="en-US" altLang="zh-TW" i="1" dirty="0">
                    <a:latin typeface="Times New Roman" pitchFamily="18" charset="0"/>
                    <a:cs typeface="Times New Roman" pitchFamily="18" charset="0"/>
                  </a:rPr>
                  <a:t>B</a:t>
                </a:r>
                <a:r>
                  <a:rPr lang="en-US" altLang="zh-TW" dirty="0"/>
                  <a:t>, </a:t>
                </a:r>
                <a:r>
                  <a:rPr lang="en-US" altLang="zh-TW" i="1" dirty="0">
                    <a:latin typeface="Times New Roman" pitchFamily="18" charset="0"/>
                    <a:cs typeface="Times New Roman" pitchFamily="18" charset="0"/>
                  </a:rPr>
                  <a:t>T</a:t>
                </a:r>
                <a:r>
                  <a:rPr lang="en-US" altLang="zh-TW" dirty="0"/>
                  <a:t>) = LCS(</a:t>
                </a: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2</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a:latin typeface="Times New Roman" panose="02020603050405020304" pitchFamily="18" charset="0"/>
                    <a:cs typeface="Times New Roman" panose="02020603050405020304" pitchFamily="18" charset="0"/>
                  </a:rPr>
                  <a:t>(A, B) </a:t>
                </a:r>
                <a:r>
                  <a:rPr lang="en-US" altLang="zh-TW" dirty="0"/>
                  <a:t>, </a:t>
                </a:r>
                <a:r>
                  <a:rPr lang="en-US" altLang="zh-TW" i="1" dirty="0">
                    <a:latin typeface="Times New Roman" pitchFamily="18" charset="0"/>
                    <a:cs typeface="Times New Roman" pitchFamily="18" charset="0"/>
                  </a:rPr>
                  <a:t>T</a:t>
                </a:r>
                <a:r>
                  <a:rPr lang="en-US" altLang="zh-TW" dirty="0"/>
                  <a:t>) = </a:t>
                </a:r>
                <a:r>
                  <a:rPr lang="en-US" altLang="zh-TW" i="1" dirty="0" err="1">
                    <a:latin typeface="Times New Roman" pitchFamily="18" charset="0"/>
                    <a:cs typeface="Times New Roman" pitchFamily="18" charset="0"/>
                  </a:rPr>
                  <a:t>actg</a:t>
                </a:r>
                <a:r>
                  <a:rPr lang="en-US" altLang="zh-TW" dirty="0"/>
                  <a:t>   </a:t>
                </a:r>
              </a:p>
              <a:p>
                <a:pPr marL="0" indent="0">
                  <a:buNone/>
                </a:pPr>
                <a:r>
                  <a:rPr lang="en-US" altLang="zh-TW" i="1" dirty="0">
                    <a:latin typeface="Times New Roman" pitchFamily="18" charset="0"/>
                    <a:cs typeface="Times New Roman" pitchFamily="18" charset="0"/>
                  </a:rPr>
                  <a:t>BMLCS</a:t>
                </a:r>
                <a:r>
                  <a:rPr lang="en-US" altLang="zh-TW" dirty="0"/>
                  <a:t>(</a:t>
                </a:r>
                <a:r>
                  <a:rPr lang="en-US" altLang="zh-TW" i="1" dirty="0">
                    <a:latin typeface="Times New Roman" pitchFamily="18" charset="0"/>
                    <a:cs typeface="Times New Roman" pitchFamily="18" charset="0"/>
                  </a:rPr>
                  <a:t>A</a:t>
                </a:r>
                <a:r>
                  <a:rPr lang="en-US" altLang="zh-TW" dirty="0"/>
                  <a:t>, </a:t>
                </a:r>
                <a:r>
                  <a:rPr lang="en-US" altLang="zh-TW" i="1" dirty="0">
                    <a:latin typeface="Times New Roman" pitchFamily="18" charset="0"/>
                    <a:cs typeface="Times New Roman" pitchFamily="18" charset="0"/>
                  </a:rPr>
                  <a:t>B</a:t>
                </a:r>
                <a:r>
                  <a:rPr lang="en-US" altLang="zh-TW" dirty="0"/>
                  <a:t>, </a:t>
                </a:r>
                <a:r>
                  <a:rPr lang="en-US" altLang="zh-TW" i="1" dirty="0">
                    <a:latin typeface="Times New Roman" pitchFamily="18" charset="0"/>
                    <a:cs typeface="Times New Roman" pitchFamily="18" charset="0"/>
                  </a:rPr>
                  <a:t>T</a:t>
                </a:r>
                <a:r>
                  <a:rPr lang="en-US" altLang="zh-TW" dirty="0"/>
                  <a:t>) = LCS(</a:t>
                </a: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3</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a:latin typeface="Times New Roman" panose="02020603050405020304" pitchFamily="18" charset="0"/>
                    <a:cs typeface="Times New Roman" panose="02020603050405020304" pitchFamily="18" charset="0"/>
                  </a:rPr>
                  <a:t>(A, B) </a:t>
                </a:r>
                <a:r>
                  <a:rPr lang="en-US" altLang="zh-TW" dirty="0"/>
                  <a:t>, </a:t>
                </a:r>
                <a:r>
                  <a:rPr lang="en-US" altLang="zh-TW" i="1" dirty="0">
                    <a:latin typeface="Times New Roman" pitchFamily="18" charset="0"/>
                    <a:cs typeface="Times New Roman" pitchFamily="18" charset="0"/>
                  </a:rPr>
                  <a:t>T</a:t>
                </a:r>
                <a:r>
                  <a:rPr lang="en-US" altLang="zh-TW" dirty="0"/>
                  <a:t>) = </a:t>
                </a:r>
                <a:r>
                  <a:rPr lang="en-US" altLang="zh-TW" i="1" dirty="0" err="1">
                    <a:latin typeface="Times New Roman" pitchFamily="18" charset="0"/>
                    <a:cs typeface="Times New Roman" pitchFamily="18" charset="0"/>
                  </a:rPr>
                  <a:t>ctcg</a:t>
                </a:r>
                <a:r>
                  <a:rPr lang="en-US" altLang="zh-TW" dirty="0"/>
                  <a:t>   </a:t>
                </a:r>
                <a:endParaRPr lang="zh-TW" altLang="en-US"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4"/>
                <a:ext cx="7886700" cy="4791075"/>
              </a:xfrm>
              <a:blipFill rotWithShape="0">
                <a:blip r:embed="rId2"/>
                <a:stretch>
                  <a:fillRect l="-1546" t="-3053" b="-216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6</a:t>
            </a:fld>
            <a:endParaRPr lang="zh-TW" altLang="en-US">
              <a:latin typeface="Times New Roman" panose="02020603050405020304" pitchFamily="18" charset="0"/>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519408642"/>
              </p:ext>
            </p:extLst>
          </p:nvPr>
        </p:nvGraphicFramePr>
        <p:xfrm>
          <a:off x="2413000" y="1690689"/>
          <a:ext cx="1765300" cy="487680"/>
        </p:xfrm>
        <a:graphic>
          <a:graphicData uri="http://schemas.openxmlformats.org/drawingml/2006/table">
            <a:tbl>
              <a:tblPr firstRow="1" bandRow="1">
                <a:tableStyleId>{5940675A-B579-460E-94D1-54222C63F5DA}</a:tableStyleId>
              </a:tblPr>
              <a:tblGrid>
                <a:gridCol w="882650">
                  <a:extLst>
                    <a:ext uri="{9D8B030D-6E8A-4147-A177-3AD203B41FA5}">
                      <a16:colId xmlns:a16="http://schemas.microsoft.com/office/drawing/2014/main" val="20000"/>
                    </a:ext>
                  </a:extLst>
                </a:gridCol>
                <a:gridCol w="882650">
                  <a:extLst>
                    <a:ext uri="{9D8B030D-6E8A-4147-A177-3AD203B41FA5}">
                      <a16:colId xmlns:a16="http://schemas.microsoft.com/office/drawing/2014/main" val="20001"/>
                    </a:ext>
                  </a:extLst>
                </a:gridCol>
              </a:tblGrid>
              <a:tr h="293689">
                <a:tc>
                  <a:txBody>
                    <a:bodyPr/>
                    <a:lstStyle/>
                    <a:p>
                      <a:pPr algn="ctr"/>
                      <a:r>
                        <a:rPr lang="en-US" altLang="zh-TW" sz="2600" dirty="0">
                          <a:solidFill>
                            <a:srgbClr val="FF0000"/>
                          </a:solidFill>
                        </a:rPr>
                        <a:t>ac</a:t>
                      </a:r>
                      <a:endParaRPr lang="zh-TW" altLang="en-US" sz="2600" dirty="0">
                        <a:solidFill>
                          <a:srgbClr val="FF0000"/>
                        </a:solidFill>
                      </a:endParaRPr>
                    </a:p>
                  </a:txBody>
                  <a:tcPr/>
                </a:tc>
                <a:tc>
                  <a:txBody>
                    <a:bodyPr/>
                    <a:lstStyle/>
                    <a:p>
                      <a:pPr algn="ctr"/>
                      <a:r>
                        <a:rPr lang="en-US" altLang="zh-TW" sz="2600" dirty="0" err="1">
                          <a:solidFill>
                            <a:srgbClr val="FF0000"/>
                          </a:solidFill>
                        </a:rPr>
                        <a:t>tt</a:t>
                      </a:r>
                      <a:endParaRPr lang="zh-TW" altLang="en-US" sz="2600" dirty="0">
                        <a:solidFill>
                          <a:srgbClr val="FF0000"/>
                        </a:solidFill>
                      </a:endParaRPr>
                    </a:p>
                  </a:txBody>
                  <a:tcPr/>
                </a:tc>
                <a:extLst>
                  <a:ext uri="{0D108BD9-81ED-4DB2-BD59-A6C34878D82A}">
                    <a16:rowId xmlns:a16="http://schemas.microsoft.com/office/drawing/2014/main" val="10000"/>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598733576"/>
              </p:ext>
            </p:extLst>
          </p:nvPr>
        </p:nvGraphicFramePr>
        <p:xfrm>
          <a:off x="6197600" y="1690689"/>
          <a:ext cx="1765300" cy="487680"/>
        </p:xfrm>
        <a:graphic>
          <a:graphicData uri="http://schemas.openxmlformats.org/drawingml/2006/table">
            <a:tbl>
              <a:tblPr firstRow="1" bandRow="1">
                <a:tableStyleId>{5940675A-B579-460E-94D1-54222C63F5DA}</a:tableStyleId>
              </a:tblPr>
              <a:tblGrid>
                <a:gridCol w="882650">
                  <a:extLst>
                    <a:ext uri="{9D8B030D-6E8A-4147-A177-3AD203B41FA5}">
                      <a16:colId xmlns:a16="http://schemas.microsoft.com/office/drawing/2014/main" val="20000"/>
                    </a:ext>
                  </a:extLst>
                </a:gridCol>
                <a:gridCol w="882650">
                  <a:extLst>
                    <a:ext uri="{9D8B030D-6E8A-4147-A177-3AD203B41FA5}">
                      <a16:colId xmlns:a16="http://schemas.microsoft.com/office/drawing/2014/main" val="20001"/>
                    </a:ext>
                  </a:extLst>
                </a:gridCol>
              </a:tblGrid>
              <a:tr h="293689">
                <a:tc>
                  <a:txBody>
                    <a:bodyPr/>
                    <a:lstStyle/>
                    <a:p>
                      <a:pPr algn="ctr"/>
                      <a:r>
                        <a:rPr lang="en-US" altLang="zh-TW" sz="2600" dirty="0" err="1">
                          <a:solidFill>
                            <a:srgbClr val="00B0F0"/>
                          </a:solidFill>
                        </a:rPr>
                        <a:t>ct</a:t>
                      </a:r>
                      <a:endParaRPr lang="zh-TW" altLang="en-US" sz="2600" dirty="0">
                        <a:solidFill>
                          <a:srgbClr val="00B0F0"/>
                        </a:solidFill>
                      </a:endParaRPr>
                    </a:p>
                  </a:txBody>
                  <a:tcPr/>
                </a:tc>
                <a:tc>
                  <a:txBody>
                    <a:bodyPr/>
                    <a:lstStyle/>
                    <a:p>
                      <a:pPr algn="ctr"/>
                      <a:r>
                        <a:rPr lang="en-US" altLang="zh-TW" sz="2600" dirty="0">
                          <a:solidFill>
                            <a:srgbClr val="00B0F0"/>
                          </a:solidFill>
                        </a:rPr>
                        <a:t>g</a:t>
                      </a:r>
                      <a:endParaRPr lang="zh-TW" altLang="en-US" sz="2600" dirty="0">
                        <a:solidFill>
                          <a:srgbClr val="00B0F0"/>
                        </a:solidFill>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920699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95679" y="-291582"/>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Match pair</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7</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字方塊 6"/>
              <p:cNvSpPr txBox="1"/>
              <p:nvPr/>
            </p:nvSpPr>
            <p:spPr>
              <a:xfrm>
                <a:off x="1297409" y="1521373"/>
                <a:ext cx="6683240" cy="1189556"/>
              </a:xfrm>
              <a:prstGeom prst="rect">
                <a:avLst/>
              </a:prstGeom>
              <a:noFill/>
            </p:spPr>
            <p:txBody>
              <a:bodyPr wrap="none" rtlCol="0">
                <a:spAutoFit/>
              </a:bodyPr>
              <a:lstStyle/>
              <a:p>
                <a14:m>
                  <m:oMath xmlns:m="http://schemas.openxmlformats.org/officeDocument/2006/math">
                    <m:sSubSup>
                      <m:sSubSupPr>
                        <m:ctrlPr>
                          <a:rPr lang="en-US" altLang="zh-TW" sz="3200" i="1" smtClean="0">
                            <a:latin typeface="Cambria Math" panose="02040503050406030204" pitchFamily="18" charset="0"/>
                            <a:cs typeface="Times New Roman" panose="02020603050405020304" pitchFamily="18" charset="0"/>
                          </a:rPr>
                        </m:ctrlPr>
                      </m:sSubSupPr>
                      <m:e>
                        <m:r>
                          <a:rPr lang="en-US" altLang="zh-TW" sz="3200" i="1">
                            <a:latin typeface="Cambria Math" panose="02040503050406030204" pitchFamily="18" charset="0"/>
                            <a:cs typeface="Times New Roman" panose="02020603050405020304" pitchFamily="18" charset="0"/>
                          </a:rPr>
                          <m:t>𝑀</m:t>
                        </m:r>
                      </m:e>
                      <m:sub>
                        <m:r>
                          <a:rPr lang="en-US" altLang="zh-TW" sz="3200" b="0" i="1" smtClean="0">
                            <a:latin typeface="Cambria Math" panose="02040503050406030204" pitchFamily="18" charset="0"/>
                            <a:cs typeface="Times New Roman" panose="02020603050405020304" pitchFamily="18" charset="0"/>
                          </a:rPr>
                          <m:t>𝑖</m:t>
                        </m:r>
                      </m:sub>
                      <m:sup>
                        <m:r>
                          <a:rPr lang="en-US" altLang="zh-TW" sz="3200" b="0" i="1" smtClean="0">
                            <a:latin typeface="Cambria Math" panose="02040503050406030204" pitchFamily="18" charset="0"/>
                            <a:cs typeface="Times New Roman" panose="02020603050405020304" pitchFamily="18" charset="0"/>
                          </a:rPr>
                          <m:t>𝐴</m:t>
                        </m:r>
                      </m:sup>
                    </m:sSubSup>
                  </m:oMath>
                </a14:m>
                <a:r>
                  <a:rPr lang="en-US" altLang="zh-TW" sz="3200" dirty="0">
                    <a:latin typeface="Times New Roman" panose="02020603050405020304" pitchFamily="18" charset="0"/>
                    <a:cs typeface="Times New Roman" panose="02020603050405020304" pitchFamily="18" charset="0"/>
                  </a:rPr>
                  <a:t>= {(</a:t>
                </a:r>
                <a:r>
                  <a:rPr lang="en-US" altLang="zh-TW" sz="3200" i="1" dirty="0" err="1">
                    <a:latin typeface="Times New Roman" pitchFamily="18" charset="0"/>
                    <a:cs typeface="Times New Roman" pitchFamily="18" charset="0"/>
                  </a:rPr>
                  <a:t>i</a:t>
                </a:r>
                <a:r>
                  <a:rPr lang="en-US" altLang="zh-TW" sz="3200" dirty="0">
                    <a:latin typeface="Times New Roman" panose="02020603050405020304" pitchFamily="18" charset="0"/>
                    <a:cs typeface="Times New Roman" panose="02020603050405020304" pitchFamily="18" charset="0"/>
                  </a:rPr>
                  <a:t>, </a:t>
                </a:r>
                <a:r>
                  <a:rPr lang="en-US" altLang="zh-TW" sz="3200" i="1" dirty="0">
                    <a:latin typeface="Times New Roman" pitchFamily="18" charset="0"/>
                    <a:cs typeface="Times New Roman" pitchFamily="18" charset="0"/>
                  </a:rPr>
                  <a:t>k</a:t>
                </a:r>
                <a:r>
                  <a:rPr lang="en-US" altLang="zh-TW" sz="3200" dirty="0">
                    <a:latin typeface="Times New Roman" panose="02020603050405020304" pitchFamily="18" charset="0"/>
                    <a:cs typeface="Times New Roman" panose="02020603050405020304" pitchFamily="18" charset="0"/>
                  </a:rPr>
                  <a:t>)|</a:t>
                </a:r>
                <a:r>
                  <a:rPr lang="en-US" altLang="zh-TW" sz="3200" i="1" dirty="0" err="1">
                    <a:latin typeface="Times New Roman" pitchFamily="18" charset="0"/>
                    <a:cs typeface="Times New Roman" pitchFamily="18" charset="0"/>
                  </a:rPr>
                  <a:t>a</a:t>
                </a:r>
                <a:r>
                  <a:rPr lang="en-US" altLang="zh-TW" sz="3200" baseline="-25000" dirty="0" err="1">
                    <a:latin typeface="Times New Roman" panose="02020603050405020304" pitchFamily="18" charset="0"/>
                    <a:cs typeface="Times New Roman" panose="02020603050405020304" pitchFamily="18" charset="0"/>
                  </a:rPr>
                  <a:t>i</a:t>
                </a:r>
                <a:r>
                  <a:rPr lang="en-US" altLang="zh-TW" sz="3200" dirty="0">
                    <a:latin typeface="Times New Roman" panose="02020603050405020304" pitchFamily="18" charset="0"/>
                    <a:cs typeface="Times New Roman" panose="02020603050405020304" pitchFamily="18" charset="0"/>
                  </a:rPr>
                  <a:t>=</a:t>
                </a:r>
                <a:r>
                  <a:rPr lang="en-US" altLang="zh-TW" sz="3200" i="1" dirty="0" err="1">
                    <a:latin typeface="Times New Roman" pitchFamily="18" charset="0"/>
                    <a:cs typeface="Times New Roman" pitchFamily="18" charset="0"/>
                  </a:rPr>
                  <a:t>t</a:t>
                </a:r>
                <a:r>
                  <a:rPr lang="en-US" altLang="zh-TW" sz="3200" baseline="-25000" dirty="0" err="1">
                    <a:latin typeface="Times New Roman" panose="02020603050405020304" pitchFamily="18" charset="0"/>
                    <a:cs typeface="Times New Roman" panose="02020603050405020304" pitchFamily="18" charset="0"/>
                  </a:rPr>
                  <a:t>k</a:t>
                </a:r>
                <a:r>
                  <a:rPr lang="en-US" altLang="zh-TW" sz="3200" dirty="0">
                    <a:latin typeface="Times New Roman" panose="02020603050405020304" pitchFamily="18" charset="0"/>
                    <a:cs typeface="Times New Roman" panose="02020603050405020304" pitchFamily="18" charset="0"/>
                  </a:rPr>
                  <a:t>, 1</a:t>
                </a:r>
                <a:r>
                  <a:rPr lang="zh-TW" altLang="en-US" sz="3200" dirty="0">
                    <a:latin typeface="Times New Roman" panose="02020603050405020304" pitchFamily="18" charset="0"/>
                    <a:cs typeface="Times New Roman" panose="02020603050405020304" pitchFamily="18" charset="0"/>
                  </a:rPr>
                  <a:t>≦</a:t>
                </a:r>
                <a:r>
                  <a:rPr lang="en-US" altLang="zh-TW" sz="3200" i="1" dirty="0" err="1">
                    <a:latin typeface="Times New Roman" pitchFamily="18" charset="0"/>
                    <a:cs typeface="Times New Roman" pitchFamily="18" charset="0"/>
                  </a:rPr>
                  <a:t>i</a:t>
                </a:r>
                <a:r>
                  <a:rPr lang="zh-TW" altLang="en-US" sz="3200" dirty="0">
                    <a:latin typeface="Times New Roman" panose="02020603050405020304" pitchFamily="18" charset="0"/>
                    <a:cs typeface="Times New Roman" panose="02020603050405020304" pitchFamily="18" charset="0"/>
                  </a:rPr>
                  <a:t>≦</a:t>
                </a:r>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A</a:t>
                </a:r>
                <a:r>
                  <a:rPr lang="en-US" altLang="zh-TW" sz="3200" dirty="0">
                    <a:latin typeface="Times New Roman" panose="02020603050405020304" pitchFamily="18" charset="0"/>
                    <a:cs typeface="Times New Roman" panose="02020603050405020304" pitchFamily="18" charset="0"/>
                  </a:rPr>
                  <a:t>|, 1</a:t>
                </a:r>
                <a:r>
                  <a:rPr lang="zh-TW" altLang="en-US"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k</a:t>
                </a:r>
                <a:r>
                  <a:rPr lang="zh-TW" altLang="en-US" sz="3200" dirty="0">
                    <a:latin typeface="Times New Roman" panose="02020603050405020304" pitchFamily="18" charset="0"/>
                    <a:cs typeface="Times New Roman" panose="02020603050405020304" pitchFamily="18" charset="0"/>
                  </a:rPr>
                  <a:t>≦</a:t>
                </a:r>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T</a:t>
                </a:r>
                <a:r>
                  <a:rPr lang="en-US" altLang="zh-TW" sz="3200" dirty="0">
                    <a:latin typeface="Times New Roman" panose="02020603050405020304" pitchFamily="18" charset="0"/>
                    <a:cs typeface="Times New Roman" panose="02020603050405020304" pitchFamily="18" charset="0"/>
                  </a:rPr>
                  <a:t>|}</a:t>
                </a:r>
              </a:p>
              <a:p>
                <a14:m>
                  <m:oMath xmlns:m="http://schemas.openxmlformats.org/officeDocument/2006/math">
                    <m:sSubSup>
                      <m:sSubSupPr>
                        <m:ctrlPr>
                          <a:rPr lang="en-US" altLang="zh-TW" sz="3200" i="1">
                            <a:latin typeface="Cambria Math" panose="02040503050406030204" pitchFamily="18" charset="0"/>
                            <a:cs typeface="Times New Roman" panose="02020603050405020304" pitchFamily="18" charset="0"/>
                          </a:rPr>
                        </m:ctrlPr>
                      </m:sSubSupPr>
                      <m:e>
                        <m:r>
                          <a:rPr lang="en-US" altLang="zh-TW" sz="3200" i="1">
                            <a:latin typeface="Cambria Math" panose="02040503050406030204" pitchFamily="18" charset="0"/>
                            <a:cs typeface="Times New Roman" panose="02020603050405020304" pitchFamily="18" charset="0"/>
                          </a:rPr>
                          <m:t>𝑀</m:t>
                        </m:r>
                      </m:e>
                      <m:sub>
                        <m:r>
                          <a:rPr lang="en-US" altLang="zh-TW" sz="3200" i="1">
                            <a:latin typeface="Cambria Math" panose="02040503050406030204" pitchFamily="18" charset="0"/>
                            <a:cs typeface="Times New Roman" panose="02020603050405020304" pitchFamily="18" charset="0"/>
                          </a:rPr>
                          <m:t>𝑗</m:t>
                        </m:r>
                      </m:sub>
                      <m:sup>
                        <m:r>
                          <a:rPr lang="en-US" altLang="zh-TW" sz="3200" i="1">
                            <a:latin typeface="Cambria Math" panose="02040503050406030204" pitchFamily="18" charset="0"/>
                            <a:cs typeface="Times New Roman" panose="02020603050405020304" pitchFamily="18" charset="0"/>
                          </a:rPr>
                          <m:t>𝐵</m:t>
                        </m:r>
                      </m:sup>
                    </m:sSubSup>
                  </m:oMath>
                </a14:m>
                <a:r>
                  <a:rPr lang="en-US" altLang="zh-TW" sz="3200" dirty="0">
                    <a:latin typeface="Times New Roman" panose="02020603050405020304" pitchFamily="18" charset="0"/>
                    <a:cs typeface="Times New Roman" panose="02020603050405020304" pitchFamily="18" charset="0"/>
                  </a:rPr>
                  <a:t>= {(</a:t>
                </a:r>
                <a:r>
                  <a:rPr lang="en-US" altLang="zh-TW" sz="3200" i="1" dirty="0">
                    <a:latin typeface="Times New Roman" pitchFamily="18" charset="0"/>
                    <a:cs typeface="Times New Roman" pitchFamily="18" charset="0"/>
                  </a:rPr>
                  <a:t>j</a:t>
                </a:r>
                <a:r>
                  <a:rPr lang="en-US" altLang="zh-TW" sz="3200" dirty="0">
                    <a:latin typeface="Times New Roman" panose="02020603050405020304" pitchFamily="18" charset="0"/>
                    <a:cs typeface="Times New Roman" panose="02020603050405020304" pitchFamily="18" charset="0"/>
                  </a:rPr>
                  <a:t>, </a:t>
                </a:r>
                <a:r>
                  <a:rPr lang="en-US" altLang="zh-TW" sz="3200" i="1" dirty="0">
                    <a:latin typeface="Times New Roman" pitchFamily="18" charset="0"/>
                    <a:cs typeface="Times New Roman" pitchFamily="18" charset="0"/>
                  </a:rPr>
                  <a:t>k</a:t>
                </a:r>
                <a:r>
                  <a:rPr lang="en-US" altLang="zh-TW" sz="3200" dirty="0">
                    <a:latin typeface="Times New Roman" panose="02020603050405020304" pitchFamily="18" charset="0"/>
                    <a:cs typeface="Times New Roman" panose="02020603050405020304" pitchFamily="18" charset="0"/>
                  </a:rPr>
                  <a:t>)|</a:t>
                </a:r>
                <a:r>
                  <a:rPr lang="en-US" altLang="zh-TW" sz="3200" i="1" dirty="0" err="1">
                    <a:latin typeface="Times New Roman" pitchFamily="18" charset="0"/>
                    <a:cs typeface="Times New Roman" pitchFamily="18" charset="0"/>
                  </a:rPr>
                  <a:t>b</a:t>
                </a:r>
                <a:r>
                  <a:rPr lang="en-US" altLang="zh-TW" sz="3200" baseline="-25000" dirty="0" err="1">
                    <a:latin typeface="Times New Roman" panose="02020603050405020304" pitchFamily="18" charset="0"/>
                    <a:cs typeface="Times New Roman" panose="02020603050405020304" pitchFamily="18" charset="0"/>
                  </a:rPr>
                  <a:t>j</a:t>
                </a:r>
                <a:r>
                  <a:rPr lang="en-US" altLang="zh-TW" sz="3200" dirty="0">
                    <a:latin typeface="Times New Roman" panose="02020603050405020304" pitchFamily="18" charset="0"/>
                    <a:cs typeface="Times New Roman" panose="02020603050405020304" pitchFamily="18" charset="0"/>
                  </a:rPr>
                  <a:t>=</a:t>
                </a:r>
                <a:r>
                  <a:rPr lang="en-US" altLang="zh-TW" sz="3200" i="1" dirty="0" err="1">
                    <a:latin typeface="Times New Roman" pitchFamily="18" charset="0"/>
                    <a:cs typeface="Times New Roman" pitchFamily="18" charset="0"/>
                  </a:rPr>
                  <a:t>t</a:t>
                </a:r>
                <a:r>
                  <a:rPr lang="en-US" altLang="zh-TW" sz="3200" baseline="-25000" dirty="0" err="1">
                    <a:latin typeface="Times New Roman" panose="02020603050405020304" pitchFamily="18" charset="0"/>
                    <a:cs typeface="Times New Roman" panose="02020603050405020304" pitchFamily="18" charset="0"/>
                  </a:rPr>
                  <a:t>k</a:t>
                </a:r>
                <a:r>
                  <a:rPr lang="en-US" altLang="zh-TW" sz="3200" dirty="0">
                    <a:latin typeface="Times New Roman" panose="02020603050405020304" pitchFamily="18" charset="0"/>
                    <a:cs typeface="Times New Roman" panose="02020603050405020304" pitchFamily="18" charset="0"/>
                  </a:rPr>
                  <a:t>, 1</a:t>
                </a:r>
                <a:r>
                  <a:rPr lang="zh-TW" altLang="en-US"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j</a:t>
                </a:r>
                <a:r>
                  <a:rPr lang="zh-TW" altLang="en-US" sz="3200" dirty="0">
                    <a:latin typeface="Times New Roman" panose="02020603050405020304" pitchFamily="18" charset="0"/>
                    <a:cs typeface="Times New Roman" panose="02020603050405020304" pitchFamily="18" charset="0"/>
                  </a:rPr>
                  <a:t>≦</a:t>
                </a:r>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B</a:t>
                </a:r>
                <a:r>
                  <a:rPr lang="en-US" altLang="zh-TW" sz="3200" dirty="0">
                    <a:latin typeface="Times New Roman" panose="02020603050405020304" pitchFamily="18" charset="0"/>
                    <a:cs typeface="Times New Roman" panose="02020603050405020304" pitchFamily="18" charset="0"/>
                  </a:rPr>
                  <a:t>|, 1</a:t>
                </a:r>
                <a:r>
                  <a:rPr lang="zh-TW" altLang="en-US"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k</a:t>
                </a:r>
                <a:r>
                  <a:rPr lang="zh-TW" altLang="en-US" sz="3200" dirty="0">
                    <a:latin typeface="Times New Roman" panose="02020603050405020304" pitchFamily="18" charset="0"/>
                    <a:cs typeface="Times New Roman" panose="02020603050405020304" pitchFamily="18" charset="0"/>
                  </a:rPr>
                  <a:t>≦</a:t>
                </a:r>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T</a:t>
                </a:r>
                <a:r>
                  <a:rPr lang="en-US" altLang="zh-TW" sz="3200" dirty="0">
                    <a:latin typeface="Times New Roman" panose="02020603050405020304" pitchFamily="18" charset="0"/>
                    <a:cs typeface="Times New Roman" panose="02020603050405020304" pitchFamily="18" charset="0"/>
                  </a:rPr>
                  <a:t>|}</a:t>
                </a:r>
                <a:endParaRPr lang="zh-TW" altLang="en-US" sz="3200" dirty="0">
                  <a:latin typeface="Times New Roman" panose="02020603050405020304" pitchFamily="18" charset="0"/>
                  <a:cs typeface="Times New Roman" panose="02020603050405020304" pitchFamily="18" charset="0"/>
                </a:endParaRPr>
              </a:p>
            </p:txBody>
          </p:sp>
        </mc:Choice>
        <mc:Fallback xmlns="">
          <p:sp>
            <p:nvSpPr>
              <p:cNvPr id="7" name="文字方塊 6"/>
              <p:cNvSpPr txBox="1">
                <a:spLocks noRot="1" noChangeAspect="1" noMove="1" noResize="1" noEditPoints="1" noAdjustHandles="1" noChangeArrowheads="1" noChangeShapeType="1" noTextEdit="1"/>
              </p:cNvSpPr>
              <p:nvPr/>
            </p:nvSpPr>
            <p:spPr>
              <a:xfrm>
                <a:off x="1297409" y="1521373"/>
                <a:ext cx="6683240" cy="1189556"/>
              </a:xfrm>
              <a:prstGeom prst="rect">
                <a:avLst/>
              </a:prstGeom>
              <a:blipFill rotWithShape="0">
                <a:blip r:embed="rId3"/>
                <a:stretch>
                  <a:fillRect t="-5128" r="-1277" b="-10769"/>
                </a:stretch>
              </a:blipFill>
            </p:spPr>
            <p:txBody>
              <a:bodyPr/>
              <a:lstStyle/>
              <a:p>
                <a:r>
                  <a:rPr lang="zh-TW" altLang="en-US">
                    <a:noFill/>
                  </a:rPr>
                  <a:t> </a:t>
                </a:r>
              </a:p>
            </p:txBody>
          </p:sp>
        </mc:Fallback>
      </mc:AlternateContent>
      <p:pic>
        <p:nvPicPr>
          <p:cNvPr id="4100" name="Picture 4"/>
          <p:cNvPicPr>
            <a:picLocks noChangeAspect="1" noChangeArrowheads="1"/>
          </p:cNvPicPr>
          <p:nvPr/>
        </p:nvPicPr>
        <p:blipFill>
          <a:blip r:embed="rId4"/>
          <a:srcRect/>
          <a:stretch>
            <a:fillRect/>
          </a:stretch>
        </p:blipFill>
        <p:spPr bwMode="auto">
          <a:xfrm>
            <a:off x="0" y="2852752"/>
            <a:ext cx="4143403" cy="3290892"/>
          </a:xfrm>
          <a:prstGeom prst="rect">
            <a:avLst/>
          </a:prstGeom>
          <a:noFill/>
          <a:ln w="9525">
            <a:noFill/>
            <a:miter lim="800000"/>
            <a:headEnd/>
            <a:tailEnd/>
          </a:ln>
          <a:effectLst/>
        </p:spPr>
      </p:pic>
      <p:pic>
        <p:nvPicPr>
          <p:cNvPr id="4102" name="Picture 6"/>
          <p:cNvPicPr>
            <a:picLocks noChangeAspect="1" noChangeArrowheads="1"/>
          </p:cNvPicPr>
          <p:nvPr/>
        </p:nvPicPr>
        <p:blipFill>
          <a:blip r:embed="rId5"/>
          <a:srcRect/>
          <a:stretch>
            <a:fillRect/>
          </a:stretch>
        </p:blipFill>
        <p:spPr bwMode="auto">
          <a:xfrm>
            <a:off x="4781905" y="2857478"/>
            <a:ext cx="4286280" cy="3214710"/>
          </a:xfrm>
          <a:prstGeom prst="rect">
            <a:avLst/>
          </a:prstGeom>
          <a:noFill/>
          <a:ln w="9525">
            <a:noFill/>
            <a:miter lim="800000"/>
            <a:headEnd/>
            <a:tailEnd/>
          </a:ln>
          <a:effectLst/>
        </p:spPr>
      </p:pic>
      <p:sp>
        <p:nvSpPr>
          <p:cNvPr id="13" name="文字方塊 12"/>
          <p:cNvSpPr txBox="1"/>
          <p:nvPr/>
        </p:nvSpPr>
        <p:spPr>
          <a:xfrm>
            <a:off x="4984367" y="4797430"/>
            <a:ext cx="372218" cy="461665"/>
          </a:xfrm>
          <a:prstGeom prst="rect">
            <a:avLst/>
          </a:prstGeom>
          <a:noFill/>
        </p:spPr>
        <p:txBody>
          <a:bodyPr wrap="none" rtlCol="0">
            <a:spAutoFit/>
          </a:bodyPr>
          <a:lstStyle/>
          <a:p>
            <a:r>
              <a:rPr lang="en-US" altLang="zh-TW" sz="2400" i="1" dirty="0">
                <a:latin typeface="Times New Roman" pitchFamily="18" charset="0"/>
                <a:cs typeface="Times New Roman" pitchFamily="18" charset="0"/>
              </a:rPr>
              <a:t>B</a:t>
            </a:r>
            <a:endParaRPr lang="zh-TW" altLang="en-US" sz="2400" i="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5" name="文字方塊 14"/>
              <p:cNvSpPr txBox="1"/>
              <p:nvPr/>
            </p:nvSpPr>
            <p:spPr>
              <a:xfrm>
                <a:off x="-39999" y="6282497"/>
                <a:ext cx="4223400" cy="483722"/>
              </a:xfrm>
              <a:prstGeom prst="rect">
                <a:avLst/>
              </a:prstGeom>
              <a:noFill/>
            </p:spPr>
            <p:txBody>
              <a:bodyPr wrap="none" rtlCol="0">
                <a:spAutoFit/>
              </a:bodyPr>
              <a:lstStyle/>
              <a:p>
                <a14:m>
                  <m:oMath xmlns:m="http://schemas.openxmlformats.org/officeDocument/2006/math">
                    <m:sSubSup>
                      <m:sSubSupPr>
                        <m:ctrlPr>
                          <a:rPr lang="en-US" altLang="zh-TW" sz="2400" i="1">
                            <a:latin typeface="Cambria Math" panose="02040503050406030204" pitchFamily="18" charset="0"/>
                            <a:cs typeface="Times New Roman" panose="02020603050405020304" pitchFamily="18" charset="0"/>
                          </a:rPr>
                        </m:ctrlPr>
                      </m:sSubSupPr>
                      <m:e>
                        <m:r>
                          <a:rPr lang="en-US" altLang="zh-TW" sz="2400" i="1">
                            <a:latin typeface="Cambria Math" panose="02040503050406030204" pitchFamily="18" charset="0"/>
                            <a:cs typeface="Times New Roman" panose="02020603050405020304" pitchFamily="18" charset="0"/>
                          </a:rPr>
                          <m:t>𝑀</m:t>
                        </m:r>
                      </m:e>
                      <m:sub>
                        <m:r>
                          <a:rPr lang="en-US" altLang="zh-TW" sz="2400" i="1">
                            <a:latin typeface="Cambria Math" panose="02040503050406030204" pitchFamily="18" charset="0"/>
                            <a:cs typeface="Times New Roman" panose="02020603050405020304" pitchFamily="18" charset="0"/>
                          </a:rPr>
                          <m:t>𝑖</m:t>
                        </m:r>
                      </m:sub>
                      <m:sup>
                        <m:r>
                          <a:rPr lang="en-US" altLang="zh-TW" sz="2400" i="1">
                            <a:latin typeface="Cambria Math" panose="02040503050406030204" pitchFamily="18" charset="0"/>
                            <a:cs typeface="Times New Roman" panose="02020603050405020304" pitchFamily="18" charset="0"/>
                          </a:rPr>
                          <m:t>𝐴</m:t>
                        </m:r>
                      </m:sup>
                    </m:sSubSup>
                  </m:oMath>
                </a14:m>
                <a:r>
                  <a:rPr lang="en-US" altLang="zh-TW" sz="2400" dirty="0">
                    <a:latin typeface="Times New Roman" panose="02020603050405020304" pitchFamily="18" charset="0"/>
                    <a:cs typeface="Times New Roman" panose="02020603050405020304" pitchFamily="18" charset="0"/>
                  </a:rPr>
                  <a:t>={(1, 3), (2, 2), (3, 1), (3, 4)}</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5" name="文字方塊 14"/>
              <p:cNvSpPr txBox="1">
                <a:spLocks noRot="1" noChangeAspect="1" noMove="1" noResize="1" noEditPoints="1" noAdjustHandles="1" noChangeArrowheads="1" noChangeShapeType="1" noTextEdit="1"/>
              </p:cNvSpPr>
              <p:nvPr/>
            </p:nvSpPr>
            <p:spPr>
              <a:xfrm>
                <a:off x="-39999" y="6282497"/>
                <a:ext cx="4223400" cy="483722"/>
              </a:xfrm>
              <a:prstGeom prst="rect">
                <a:avLst/>
              </a:prstGeom>
              <a:blipFill rotWithShape="0">
                <a:blip r:embed="rId6"/>
                <a:stretch>
                  <a:fillRect t="-6329" r="-1443" b="-27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p:cNvSpPr txBox="1"/>
              <p:nvPr/>
            </p:nvSpPr>
            <p:spPr>
              <a:xfrm>
                <a:off x="4984367" y="6282497"/>
                <a:ext cx="4221669" cy="523670"/>
              </a:xfrm>
              <a:prstGeom prst="rect">
                <a:avLst/>
              </a:prstGeom>
              <a:noFill/>
            </p:spPr>
            <p:txBody>
              <a:bodyPr wrap="none" rtlCol="0">
                <a:spAutoFit/>
              </a:bodyPr>
              <a:lstStyle/>
              <a:p>
                <a14:m>
                  <m:oMath xmlns:m="http://schemas.openxmlformats.org/officeDocument/2006/math">
                    <m:sSubSup>
                      <m:sSubSupPr>
                        <m:ctrlPr>
                          <a:rPr lang="en-US" altLang="zh-TW" sz="2400" i="1">
                            <a:latin typeface="Cambria Math" panose="02040503050406030204" pitchFamily="18" charset="0"/>
                            <a:cs typeface="Times New Roman" panose="02020603050405020304" pitchFamily="18" charset="0"/>
                          </a:rPr>
                        </m:ctrlPr>
                      </m:sSubSupPr>
                      <m:e>
                        <m:r>
                          <a:rPr lang="en-US" altLang="zh-TW" sz="2400" i="1">
                            <a:latin typeface="Cambria Math" panose="02040503050406030204" pitchFamily="18" charset="0"/>
                            <a:cs typeface="Times New Roman" panose="02020603050405020304" pitchFamily="18" charset="0"/>
                          </a:rPr>
                          <m:t>𝑀</m:t>
                        </m:r>
                      </m:e>
                      <m:sub>
                        <m:r>
                          <a:rPr lang="en-US" altLang="zh-TW" sz="2400" i="1">
                            <a:latin typeface="Cambria Math" panose="02040503050406030204" pitchFamily="18" charset="0"/>
                            <a:cs typeface="Times New Roman" panose="02020603050405020304" pitchFamily="18" charset="0"/>
                          </a:rPr>
                          <m:t>𝑗</m:t>
                        </m:r>
                      </m:sub>
                      <m:sup>
                        <m:r>
                          <a:rPr lang="en-US" altLang="zh-TW" sz="2400" i="1">
                            <a:latin typeface="Cambria Math" panose="02040503050406030204" pitchFamily="18" charset="0"/>
                            <a:cs typeface="Times New Roman" panose="02020603050405020304" pitchFamily="18" charset="0"/>
                          </a:rPr>
                          <m:t>𝐵</m:t>
                        </m:r>
                      </m:sup>
                    </m:sSubSup>
                  </m:oMath>
                </a14:m>
                <a:r>
                  <a:rPr lang="en-US" altLang="zh-TW" sz="2400" dirty="0">
                    <a:latin typeface="Times New Roman" panose="02020603050405020304" pitchFamily="18" charset="0"/>
                    <a:cs typeface="Times New Roman" panose="02020603050405020304" pitchFamily="18" charset="0"/>
                  </a:rPr>
                  <a:t>={(1, 2), (2, 1), (2, 4), (3, 5)}</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7" name="文字方塊 16"/>
              <p:cNvSpPr txBox="1">
                <a:spLocks noRot="1" noChangeAspect="1" noMove="1" noResize="1" noEditPoints="1" noAdjustHandles="1" noChangeArrowheads="1" noChangeShapeType="1" noTextEdit="1"/>
              </p:cNvSpPr>
              <p:nvPr/>
            </p:nvSpPr>
            <p:spPr>
              <a:xfrm>
                <a:off x="4984367" y="6282497"/>
                <a:ext cx="4221669" cy="523670"/>
              </a:xfrm>
              <a:prstGeom prst="rect">
                <a:avLst/>
              </a:prstGeom>
              <a:blipFill rotWithShape="0">
                <a:blip r:embed="rId7"/>
                <a:stretch>
                  <a:fillRect t="-5882" r="-1301" b="-18824"/>
                </a:stretch>
              </a:blipFill>
            </p:spPr>
            <p:txBody>
              <a:bodyPr/>
              <a:lstStyle/>
              <a:p>
                <a:r>
                  <a:rPr lang="zh-TW" altLang="en-US">
                    <a:noFill/>
                  </a:rPr>
                  <a:t> </a:t>
                </a:r>
              </a:p>
            </p:txBody>
          </p:sp>
        </mc:Fallback>
      </mc:AlternateContent>
      <p:sp>
        <p:nvSpPr>
          <p:cNvPr id="3" name="文字方塊 2"/>
          <p:cNvSpPr txBox="1"/>
          <p:nvPr/>
        </p:nvSpPr>
        <p:spPr>
          <a:xfrm>
            <a:off x="2103952" y="968144"/>
            <a:ext cx="5000659"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itchFamily="18" charset="0"/>
                <a:cs typeface="Times New Roman" pitchFamily="18" charset="0"/>
              </a:rPr>
              <a:t>A</a:t>
            </a:r>
            <a:r>
              <a:rPr lang="en-US" altLang="zh-TW" sz="2400" dirty="0">
                <a:latin typeface="Times New Roman" panose="02020603050405020304" pitchFamily="18" charset="0"/>
                <a:cs typeface="Times New Roman" panose="02020603050405020304" pitchFamily="18" charset="0"/>
              </a:rPr>
              <a:t>| = m , |</a:t>
            </a:r>
            <a:r>
              <a:rPr lang="en-US" altLang="zh-TW" sz="2400" i="1" dirty="0">
                <a:latin typeface="Times New Roman" pitchFamily="18" charset="0"/>
                <a:cs typeface="Times New Roman" pitchFamily="18" charset="0"/>
              </a:rPr>
              <a:t>B</a:t>
            </a:r>
            <a:r>
              <a:rPr lang="en-US" altLang="zh-TW" sz="2400" dirty="0">
                <a:latin typeface="Times New Roman" panose="02020603050405020304" pitchFamily="18" charset="0"/>
                <a:cs typeface="Times New Roman" panose="02020603050405020304" pitchFamily="18" charset="0"/>
              </a:rPr>
              <a:t>| = r , |</a:t>
            </a:r>
            <a:r>
              <a:rPr lang="en-US" altLang="zh-TW" sz="2400" i="1" dirty="0">
                <a:latin typeface="Times New Roman" pitchFamily="18" charset="0"/>
                <a:cs typeface="Times New Roman" pitchFamily="18" charset="0"/>
              </a:rPr>
              <a:t>T</a:t>
            </a:r>
            <a:r>
              <a:rPr lang="en-US" altLang="zh-TW" sz="2400" dirty="0">
                <a:latin typeface="Times New Roman" panose="02020603050405020304" pitchFamily="18" charset="0"/>
                <a:cs typeface="Times New Roman" panose="02020603050405020304" pitchFamily="18" charset="0"/>
              </a:rPr>
              <a:t>| = n</a:t>
            </a:r>
            <a:endParaRPr lang="zh-TW" altLang="en-US" sz="2400" dirty="0"/>
          </a:p>
        </p:txBody>
      </p:sp>
    </p:spTree>
    <p:extLst>
      <p:ext uri="{BB962C8B-B14F-4D97-AF65-F5344CB8AC3E}">
        <p14:creationId xmlns:p14="http://schemas.microsoft.com/office/powerpoint/2010/main" val="30171135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1449" y="78979"/>
            <a:ext cx="8515350" cy="1325563"/>
          </a:xfrm>
        </p:spPr>
        <p:txBody>
          <a:bodyPr/>
          <a:lstStyle/>
          <a:p>
            <a:r>
              <a:rPr lang="en-US" altLang="zh-TW" dirty="0">
                <a:latin typeface="Times New Roman" panose="02020603050405020304" pitchFamily="18" charset="0"/>
                <a:cs typeface="Times New Roman" panose="02020603050405020304" pitchFamily="18" charset="0"/>
              </a:rPr>
              <a:t>Algorithm for Merged LCS Problem</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8</a:t>
            </a:fld>
            <a:endParaRPr lang="zh-TW" altLang="en-US">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a:srcRect/>
          <a:stretch>
            <a:fillRect/>
          </a:stretch>
        </p:blipFill>
        <p:spPr bwMode="auto">
          <a:xfrm>
            <a:off x="4429124" y="1027907"/>
            <a:ext cx="4714876" cy="5143536"/>
          </a:xfrm>
          <a:prstGeom prst="rect">
            <a:avLst/>
          </a:prstGeom>
          <a:noFill/>
          <a:ln w="9525">
            <a:noFill/>
            <a:miter lim="800000"/>
            <a:headEnd/>
            <a:tailEnd/>
          </a:ln>
          <a:effectLst/>
        </p:spPr>
      </p:pic>
      <p:pic>
        <p:nvPicPr>
          <p:cNvPr id="3" name="圖片 2"/>
          <p:cNvPicPr>
            <a:picLocks noChangeAspect="1"/>
          </p:cNvPicPr>
          <p:nvPr/>
        </p:nvPicPr>
        <p:blipFill>
          <a:blip r:embed="rId3"/>
          <a:stretch>
            <a:fillRect/>
          </a:stretch>
        </p:blipFill>
        <p:spPr>
          <a:xfrm>
            <a:off x="-48094" y="2528889"/>
            <a:ext cx="4477218" cy="2576512"/>
          </a:xfrm>
          <a:prstGeom prst="rect">
            <a:avLst/>
          </a:prstGeom>
        </p:spPr>
      </p:pic>
      <p:sp>
        <p:nvSpPr>
          <p:cNvPr id="6" name="向下箭號 5"/>
          <p:cNvSpPr/>
          <p:nvPr/>
        </p:nvSpPr>
        <p:spPr>
          <a:xfrm rot="16200000">
            <a:off x="4064000" y="3251200"/>
            <a:ext cx="463550" cy="5143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595355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3"/>
          <a:stretch>
            <a:fillRect/>
          </a:stretch>
        </p:blipFill>
        <p:spPr>
          <a:xfrm>
            <a:off x="171449" y="1419225"/>
            <a:ext cx="6934200" cy="5438775"/>
          </a:xfrm>
          <a:prstGeom prst="rect">
            <a:avLst/>
          </a:prstGeom>
        </p:spPr>
      </p:pic>
      <p:sp>
        <p:nvSpPr>
          <p:cNvPr id="2" name="標題 1"/>
          <p:cNvSpPr>
            <a:spLocks noGrp="1"/>
          </p:cNvSpPr>
          <p:nvPr>
            <p:ph type="title"/>
          </p:nvPr>
        </p:nvSpPr>
        <p:spPr>
          <a:xfrm>
            <a:off x="171449" y="78979"/>
            <a:ext cx="8515350" cy="1325563"/>
          </a:xfrm>
        </p:spPr>
        <p:txBody>
          <a:bodyPr/>
          <a:lstStyle/>
          <a:p>
            <a:r>
              <a:rPr lang="en-US" altLang="zh-TW" dirty="0">
                <a:latin typeface="Times New Roman" panose="02020603050405020304" pitchFamily="18" charset="0"/>
                <a:cs typeface="Times New Roman" panose="02020603050405020304" pitchFamily="18" charset="0"/>
              </a:rPr>
              <a:t>Algorithm for Merged LCS Problem</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9</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字方塊 6"/>
              <p:cNvSpPr txBox="1"/>
              <p:nvPr/>
            </p:nvSpPr>
            <p:spPr>
              <a:xfrm>
                <a:off x="5740400" y="1192540"/>
                <a:ext cx="2508250" cy="1815882"/>
              </a:xfrm>
              <a:prstGeom prst="rect">
                <a:avLst/>
              </a:prstGeom>
              <a:noFill/>
            </p:spPr>
            <p:txBody>
              <a:bodyPr wrap="square" rtlCol="0">
                <a:spAutoFit/>
              </a:bodyPr>
              <a:lstStyle/>
              <a:p>
                <a:r>
                  <a:rPr lang="pt-BR" altLang="zh-TW" sz="2800" i="1" dirty="0"/>
                  <a:t>L(i, j, k) = </a:t>
                </a:r>
                <a14:m>
                  <m:oMath xmlns:m="http://schemas.openxmlformats.org/officeDocument/2006/math">
                    <m:sSub>
                      <m:sSubPr>
                        <m:ctrlPr>
                          <a:rPr lang="pt-BR" altLang="zh-TW" sz="2800" i="1" smtClean="0">
                            <a:latin typeface="Cambria Math" panose="02040503050406030204" pitchFamily="18" charset="0"/>
                          </a:rPr>
                        </m:ctrlPr>
                      </m:sSubPr>
                      <m:e>
                        <m:r>
                          <a:rPr lang="en-US" altLang="zh-TW" sz="2800" b="0" i="1" smtClean="0">
                            <a:latin typeface="Cambria Math" panose="02040503050406030204" pitchFamily="18" charset="0"/>
                          </a:rPr>
                          <m:t>𝐿</m:t>
                        </m:r>
                      </m:e>
                      <m:sub>
                        <m:r>
                          <a:rPr lang="en-US" altLang="zh-TW" sz="2800" b="0" i="1" smtClean="0">
                            <a:latin typeface="Cambria Math" panose="02040503050406030204" pitchFamily="18" charset="0"/>
                          </a:rPr>
                          <m:t>𝑘</m:t>
                        </m:r>
                      </m:sub>
                    </m:sSub>
                  </m:oMath>
                </a14:m>
                <a:r>
                  <a:rPr lang="pt-BR" altLang="zh-TW" sz="2800" i="1" dirty="0"/>
                  <a:t>(i, j) </a:t>
                </a:r>
              </a:p>
              <a:p>
                <a:r>
                  <a:rPr lang="pt-BR" altLang="zh-TW" sz="2800" i="1" dirty="0"/>
                  <a:t>0 ≤ i ≤m,</a:t>
                </a:r>
              </a:p>
              <a:p>
                <a:r>
                  <a:rPr lang="pt-BR" altLang="zh-TW" sz="2800" i="1" dirty="0"/>
                  <a:t>0 ≤ j ≤ r, </a:t>
                </a:r>
              </a:p>
              <a:p>
                <a:r>
                  <a:rPr lang="pt-BR" altLang="zh-TW" sz="2800" i="1" dirty="0"/>
                  <a:t>1 ≤ k ≤ n</a:t>
                </a:r>
                <a:endParaRPr lang="zh-TW" altLang="en-US" sz="2800" i="1"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740400" y="1192540"/>
                <a:ext cx="2508250" cy="1815882"/>
              </a:xfrm>
              <a:prstGeom prst="rect">
                <a:avLst/>
              </a:prstGeom>
              <a:blipFill rotWithShape="0">
                <a:blip r:embed="rId4"/>
                <a:stretch>
                  <a:fillRect l="-5109" t="-3356" r="-6813" b="-872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051944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lstStyle/>
          <a:p>
            <a:r>
              <a:rPr lang="en-US" altLang="zh-TW" dirty="0">
                <a:latin typeface="Times New Roman" panose="02020603050405020304" pitchFamily="18" charset="0"/>
                <a:cs typeface="Times New Roman" panose="02020603050405020304" pitchFamily="18" charset="0"/>
              </a:rPr>
              <a:t>Bounded Heap data structure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10</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Each of the bounded heap,</a:t>
                </a: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𝐻</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𝑘</m:t>
                        </m:r>
                      </m:sup>
                    </m:sSubSup>
                  </m:oMath>
                </a14:m>
                <a:r>
                  <a:rPr lang="en-US" altLang="zh-TW" dirty="0">
                    <a:latin typeface="Times New Roman" panose="02020603050405020304" pitchFamily="18" charset="0"/>
                    <a:cs typeface="Times New Roman" panose="02020603050405020304" pitchFamily="18" charset="0"/>
                  </a:rPr>
                  <a:t>, contains values for </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LCS(M(a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 b</a:t>
                </a:r>
                <a:r>
                  <a:rPr lang="en-US" altLang="zh-TW" baseline="-25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 t</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t</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𝑡</m:t>
                        </m:r>
                      </m:e>
                      <m:sub>
                        <m:r>
                          <a:rPr lang="en-US" altLang="zh-TW" i="1">
                            <a:latin typeface="Cambria Math" panose="02040503050406030204" pitchFamily="18" charset="0"/>
                            <a:cs typeface="Times New Roman" panose="02020603050405020304" pitchFamily="18" charset="0"/>
                          </a:rPr>
                          <m:t>𝑘</m:t>
                        </m:r>
                      </m:sub>
                    </m:sSub>
                  </m:oMath>
                </a14:m>
                <a:r>
                  <a:rPr lang="en-US" altLang="zh-TW" dirty="0">
                    <a:latin typeface="Times New Roman" panose="02020603050405020304" pitchFamily="18" charset="0"/>
                    <a:cs typeface="Times New Roman" panose="02020603050405020304" pitchFamily="18" charset="0"/>
                  </a:rPr>
                  <a:t>), </a:t>
                </a:r>
              </a:p>
              <a:p>
                <a:pPr>
                  <a:buNone/>
                </a:pPr>
                <a:r>
                  <a:rPr lang="en-US" altLang="zh-TW" dirty="0">
                    <a:latin typeface="Times New Roman" panose="02020603050405020304" pitchFamily="18" charset="0"/>
                    <a:cs typeface="Times New Roman" panose="02020603050405020304" pitchFamily="18" charset="0"/>
                  </a:rPr>
                  <a:t>LCS(M(a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 b</a:t>
                </a:r>
                <a:r>
                  <a:rPr lang="en-US" altLang="zh-TW" baseline="-25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 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t</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t</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𝑡</m:t>
                        </m:r>
                      </m:e>
                      <m:sub>
                        <m:r>
                          <a:rPr lang="en-US" altLang="zh-TW" i="1">
                            <a:latin typeface="Cambria Math" panose="02040503050406030204" pitchFamily="18" charset="0"/>
                            <a:cs typeface="Times New Roman" panose="02020603050405020304" pitchFamily="18" charset="0"/>
                          </a:rPr>
                          <m:t>𝑘</m:t>
                        </m:r>
                      </m:sub>
                    </m:sSub>
                  </m:oMath>
                </a14:m>
                <a:r>
                  <a:rPr lang="en-US" altLang="zh-TW" dirty="0">
                    <a:latin typeface="Times New Roman" panose="02020603050405020304" pitchFamily="18" charset="0"/>
                    <a:cs typeface="Times New Roman" panose="02020603050405020304" pitchFamily="18" charset="0"/>
                  </a:rPr>
                  <a:t>),</a:t>
                </a:r>
              </a:p>
              <a:p>
                <a:pPr>
                  <a:buNone/>
                </a:pPr>
                <a:r>
                  <a:rPr lang="en-US" altLang="zh-TW" dirty="0">
                    <a:latin typeface="Times New Roman" panose="02020603050405020304" pitchFamily="18" charset="0"/>
                    <a:cs typeface="Times New Roman" panose="02020603050405020304" pitchFamily="18" charset="0"/>
                  </a:rPr>
                  <a:t>			     …	</a:t>
                </a:r>
              </a:p>
              <a:p>
                <a:pPr>
                  <a:buNone/>
                </a:pPr>
                <a:r>
                  <a:rPr lang="en-US" altLang="zh-TW" dirty="0">
                    <a:latin typeface="Times New Roman" panose="02020603050405020304" pitchFamily="18" charset="0"/>
                    <a:cs typeface="Times New Roman" panose="02020603050405020304" pitchFamily="18" charset="0"/>
                  </a:rPr>
                  <a:t>LCS(M(a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𝑖</m:t>
                        </m:r>
                      </m:sub>
                    </m:sSub>
                  </m:oMath>
                </a14:m>
                <a:r>
                  <a:rPr lang="en-US" altLang="zh-TW" baseline="-250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b</a:t>
                </a:r>
                <a:r>
                  <a:rPr lang="en-US" altLang="zh-TW" baseline="-25000" dirty="0">
                    <a:latin typeface="Times New Roman" panose="02020603050405020304" pitchFamily="18" charset="0"/>
                    <a:cs typeface="Times New Roman" panose="02020603050405020304" pitchFamily="18" charset="0"/>
                  </a:rPr>
                  <a:t>0</a:t>
                </a:r>
                <a:r>
                  <a:rPr lang="en-US" altLang="zh-TW" dirty="0">
                    <a:latin typeface="Times New Roman" panose="02020603050405020304" pitchFamily="18" charset="0"/>
                    <a:cs typeface="Times New Roman" panose="02020603050405020304" pitchFamily="18" charset="0"/>
                  </a:rPr>
                  <a:t> 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𝑏</m:t>
                        </m:r>
                      </m:e>
                      <m:sub>
                        <m:r>
                          <a:rPr lang="en-US" altLang="zh-TW" i="1">
                            <a:latin typeface="Cambria Math" panose="02040503050406030204" pitchFamily="18" charset="0"/>
                            <a:cs typeface="Times New Roman" panose="02020603050405020304" pitchFamily="18" charset="0"/>
                          </a:rPr>
                          <m:t>𝑗</m:t>
                        </m:r>
                      </m:sub>
                    </m:sSub>
                  </m:oMath>
                </a14:m>
                <a:r>
                  <a:rPr lang="en-US" altLang="zh-TW" dirty="0">
                    <a:latin typeface="Times New Roman" panose="02020603050405020304" pitchFamily="18" charset="0"/>
                    <a:cs typeface="Times New Roman" panose="02020603050405020304" pitchFamily="18" charset="0"/>
                  </a:rPr>
                  <a:t>), t</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t</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𝑡</m:t>
                        </m:r>
                      </m:e>
                      <m:sub>
                        <m:r>
                          <a:rPr lang="en-US" altLang="zh-TW" i="1">
                            <a:latin typeface="Cambria Math" panose="02040503050406030204" pitchFamily="18" charset="0"/>
                            <a:cs typeface="Times New Roman" panose="02020603050405020304" pitchFamily="18" charset="0"/>
                          </a:rPr>
                          <m:t>𝑘</m:t>
                        </m:r>
                      </m:sub>
                    </m:sSub>
                  </m:oMath>
                </a14:m>
                <a:r>
                  <a:rPr lang="en-US" altLang="zh-TW" dirty="0">
                    <a:latin typeface="Times New Roman" panose="02020603050405020304" pitchFamily="18" charset="0"/>
                    <a:cs typeface="Times New Roman" panose="02020603050405020304" pitchFamily="18" charset="0"/>
                  </a:rPr>
                  <a:t>)</a:t>
                </a:r>
              </a:p>
              <a:p>
                <a:pPr>
                  <a:buNone/>
                </a:pPr>
                <a:endParaRPr lang="en-US" altLang="zh-TW" dirty="0">
                  <a:latin typeface="Times New Roman" panose="02020603050405020304" pitchFamily="18" charset="0"/>
                  <a:cs typeface="Times New Roman" panose="02020603050405020304" pitchFamily="18" charset="0"/>
                </a:endParaRPr>
              </a:p>
              <a:p>
                <a:pPr>
                  <a:buNone/>
                </a:pPr>
                <a:r>
                  <a:rPr lang="en-US" altLang="zh-TW" dirty="0">
                    <a:latin typeface="Times New Roman" panose="02020603050405020304" pitchFamily="18" charset="0"/>
                    <a:cs typeface="Times New Roman" panose="02020603050405020304" pitchFamily="18" charset="0"/>
                  </a:rPr>
                  <a:t>where 0</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j</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a:t>
                </a:r>
              </a:p>
              <a:p>
                <a:pPr>
                  <a:buNone/>
                </a:pP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3"/>
                <a:stretch>
                  <a:fillRect l="-1481" t="-18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2049153977"/>
                  </p:ext>
                </p:extLst>
              </p:nvPr>
            </p:nvGraphicFramePr>
            <p:xfrm>
              <a:off x="3968750" y="5679455"/>
              <a:ext cx="4000506" cy="820391"/>
            </p:xfrm>
            <a:graphic>
              <a:graphicData uri="http://schemas.openxmlformats.org/drawingml/2006/table">
                <a:tbl>
                  <a:tblPr firstRow="1" bandRow="1">
                    <a:tableStyleId>{5940675A-B579-460E-94D1-54222C63F5DA}</a:tableStyleId>
                  </a:tblPr>
                  <a:tblGrid>
                    <a:gridCol w="666751">
                      <a:extLst>
                        <a:ext uri="{9D8B030D-6E8A-4147-A177-3AD203B41FA5}">
                          <a16:colId xmlns:a16="http://schemas.microsoft.com/office/drawing/2014/main" val="20000"/>
                        </a:ext>
                      </a:extLst>
                    </a:gridCol>
                    <a:gridCol w="666751">
                      <a:extLst>
                        <a:ext uri="{9D8B030D-6E8A-4147-A177-3AD203B41FA5}">
                          <a16:colId xmlns:a16="http://schemas.microsoft.com/office/drawing/2014/main" val="20001"/>
                        </a:ext>
                      </a:extLst>
                    </a:gridCol>
                    <a:gridCol w="666751">
                      <a:extLst>
                        <a:ext uri="{9D8B030D-6E8A-4147-A177-3AD203B41FA5}">
                          <a16:colId xmlns:a16="http://schemas.microsoft.com/office/drawing/2014/main" val="20002"/>
                        </a:ext>
                      </a:extLst>
                    </a:gridCol>
                    <a:gridCol w="666751">
                      <a:extLst>
                        <a:ext uri="{9D8B030D-6E8A-4147-A177-3AD203B41FA5}">
                          <a16:colId xmlns:a16="http://schemas.microsoft.com/office/drawing/2014/main" val="20003"/>
                        </a:ext>
                      </a:extLst>
                    </a:gridCol>
                    <a:gridCol w="666751">
                      <a:extLst>
                        <a:ext uri="{9D8B030D-6E8A-4147-A177-3AD203B41FA5}">
                          <a16:colId xmlns:a16="http://schemas.microsoft.com/office/drawing/2014/main" val="20004"/>
                        </a:ext>
                      </a:extLst>
                    </a:gridCol>
                    <a:gridCol w="666751">
                      <a:extLst>
                        <a:ext uri="{9D8B030D-6E8A-4147-A177-3AD203B41FA5}">
                          <a16:colId xmlns:a16="http://schemas.microsoft.com/office/drawing/2014/main" val="20005"/>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TW" sz="2000" i="1" dirty="0"/>
                            <a:t>j</a:t>
                          </a:r>
                          <a:endParaRPr lang="zh-TW" altLang="en-US" sz="2000" i="1"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cs typeface="Times New Roman" panose="02020603050405020304" pitchFamily="18" charset="0"/>
                                      </a:rPr>
                                    </m:ctrlPr>
                                  </m:sSubSupPr>
                                  <m:e>
                                    <m:r>
                                      <a:rPr lang="en-US" altLang="zh-TW" sz="2000" b="0" i="1" smtClean="0">
                                        <a:latin typeface="Cambria Math" panose="02040503050406030204" pitchFamily="18" charset="0"/>
                                        <a:cs typeface="Times New Roman" panose="02020603050405020304" pitchFamily="18" charset="0"/>
                                      </a:rPr>
                                      <m:t>𝐻</m:t>
                                    </m:r>
                                  </m:e>
                                  <m:sub>
                                    <m:r>
                                      <a:rPr lang="en-US" altLang="zh-TW" sz="2000" b="0" i="1" smtClean="0">
                                        <a:latin typeface="Cambria Math" panose="02040503050406030204" pitchFamily="18" charset="0"/>
                                        <a:cs typeface="Times New Roman" panose="02020603050405020304" pitchFamily="18" charset="0"/>
                                      </a:rPr>
                                      <m:t>𝑖</m:t>
                                    </m:r>
                                  </m:sub>
                                  <m:sup>
                                    <m:r>
                                      <a:rPr lang="en-US" altLang="zh-TW" sz="2000" b="0" i="1" smtClean="0">
                                        <a:latin typeface="Cambria Math" panose="02040503050406030204" pitchFamily="18" charset="0"/>
                                        <a:cs typeface="Times New Roman" panose="02020603050405020304" pitchFamily="18" charset="0"/>
                                      </a:rPr>
                                      <m:t>𝑘</m:t>
                                    </m:r>
                                  </m:sup>
                                </m:sSubSup>
                              </m:oMath>
                            </m:oMathPara>
                          </a14:m>
                          <a:endParaRPr lang="zh-TW" altLang="en-US" sz="20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2049153977"/>
                  </p:ext>
                </p:extLst>
              </p:nvPr>
            </p:nvGraphicFramePr>
            <p:xfrm>
              <a:off x="3968750" y="5679455"/>
              <a:ext cx="4000506" cy="820391"/>
            </p:xfrm>
            <a:graphic>
              <a:graphicData uri="http://schemas.openxmlformats.org/drawingml/2006/table">
                <a:tbl>
                  <a:tblPr firstRow="1" bandRow="1">
                    <a:tableStyleId>{5940675A-B579-460E-94D1-54222C63F5DA}</a:tableStyleId>
                  </a:tblPr>
                  <a:tblGrid>
                    <a:gridCol w="666751"/>
                    <a:gridCol w="666751"/>
                    <a:gridCol w="666751"/>
                    <a:gridCol w="666751"/>
                    <a:gridCol w="666751"/>
                    <a:gridCol w="666751"/>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TW" sz="2000" i="1" dirty="0" smtClean="0"/>
                            <a:t>j</a:t>
                          </a:r>
                          <a:endParaRPr lang="zh-TW" altLang="en-US" sz="2000" i="1"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r h="420751">
                    <a:tc>
                      <a:txBody>
                        <a:bodyPr/>
                        <a:lstStyle/>
                        <a:p>
                          <a:endParaRPr lang="zh-TW"/>
                        </a:p>
                      </a:txBody>
                      <a:tcPr>
                        <a:blipFill rotWithShape="0">
                          <a:blip r:embed="rId4"/>
                          <a:stretch>
                            <a:fillRect l="-909" t="-101429" r="-499091" b="-8571"/>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Tree>
    <p:extLst>
      <p:ext uri="{BB962C8B-B14F-4D97-AF65-F5344CB8AC3E}">
        <p14:creationId xmlns:p14="http://schemas.microsoft.com/office/powerpoint/2010/main" val="38547922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lstStyle/>
          <a:p>
            <a:r>
              <a:rPr lang="en-US" altLang="zh-TW" dirty="0">
                <a:latin typeface="Times New Roman" panose="02020603050405020304" pitchFamily="18" charset="0"/>
                <a:cs typeface="Times New Roman" panose="02020603050405020304" pitchFamily="18" charset="0"/>
              </a:rPr>
              <a:t>Bounded Heap data structure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69900" y="1558924"/>
            <a:ext cx="8489950" cy="4895851"/>
          </a:xfrm>
        </p:spPr>
        <p:txBody>
          <a:bodyPr>
            <a:normAutofit/>
          </a:bodyPr>
          <a:lstStyle/>
          <a:p>
            <a:pPr>
              <a:buNone/>
            </a:pPr>
            <a:r>
              <a:rPr lang="en-US" altLang="zh-TW" dirty="0">
                <a:latin typeface="Times New Roman" panose="02020603050405020304" pitchFamily="18" charset="0"/>
                <a:cs typeface="Times New Roman" panose="02020603050405020304" pitchFamily="18" charset="0"/>
              </a:rPr>
              <a:t>Insert(H, pos, </a:t>
            </a:r>
            <a:r>
              <a:rPr lang="en-US" altLang="zh-TW" dirty="0" err="1">
                <a:latin typeface="Times New Roman" panose="02020603050405020304" pitchFamily="18" charset="0"/>
                <a:cs typeface="Times New Roman" panose="02020603050405020304" pitchFamily="18" charset="0"/>
              </a:rPr>
              <a:t>val</a:t>
            </a:r>
            <a:r>
              <a:rPr lang="en-US" altLang="zh-TW" dirty="0">
                <a:latin typeface="Times New Roman" panose="02020603050405020304" pitchFamily="18" charset="0"/>
                <a:cs typeface="Times New Roman" panose="02020603050405020304" pitchFamily="18" charset="0"/>
              </a:rPr>
              <a:t>, data)</a:t>
            </a:r>
          </a:p>
          <a:p>
            <a:pPr>
              <a:buNone/>
            </a:pPr>
            <a:r>
              <a:rPr lang="en-US" altLang="zh-TW" dirty="0" err="1">
                <a:latin typeface="Times New Roman" panose="02020603050405020304" pitchFamily="18" charset="0"/>
                <a:cs typeface="Times New Roman" panose="02020603050405020304" pitchFamily="18" charset="0"/>
              </a:rPr>
              <a:t>IncVal</a:t>
            </a:r>
            <a:r>
              <a:rPr lang="en-US" altLang="zh-TW" dirty="0">
                <a:latin typeface="Times New Roman" panose="02020603050405020304" pitchFamily="18" charset="0"/>
                <a:cs typeface="Times New Roman" panose="02020603050405020304" pitchFamily="18" charset="0"/>
              </a:rPr>
              <a:t>(H, pos, </a:t>
            </a:r>
            <a:r>
              <a:rPr lang="en-US" altLang="zh-TW" dirty="0" err="1">
                <a:latin typeface="Times New Roman" panose="02020603050405020304" pitchFamily="18" charset="0"/>
                <a:cs typeface="Times New Roman" panose="02020603050405020304" pitchFamily="18" charset="0"/>
              </a:rPr>
              <a:t>val</a:t>
            </a:r>
            <a:r>
              <a:rPr lang="en-US" altLang="zh-TW" dirty="0">
                <a:latin typeface="Times New Roman" panose="02020603050405020304" pitchFamily="18" charset="0"/>
                <a:cs typeface="Times New Roman" panose="02020603050405020304" pitchFamily="18" charset="0"/>
              </a:rPr>
              <a:t>, data)</a:t>
            </a:r>
          </a:p>
          <a:p>
            <a:pPr>
              <a:buNone/>
            </a:pPr>
            <a:r>
              <a:rPr lang="en-US" altLang="zh-TW" dirty="0" err="1">
                <a:latin typeface="Times New Roman" panose="02020603050405020304" pitchFamily="18" charset="0"/>
                <a:cs typeface="Times New Roman" panose="02020603050405020304" pitchFamily="18" charset="0"/>
              </a:rPr>
              <a:t>BoundedMax</a:t>
            </a:r>
            <a:r>
              <a:rPr lang="en-US" altLang="zh-TW" dirty="0">
                <a:latin typeface="Times New Roman" panose="02020603050405020304" pitchFamily="18" charset="0"/>
                <a:cs typeface="Times New Roman" panose="02020603050405020304" pitchFamily="18" charset="0"/>
              </a:rPr>
              <a:t>(H, pos)</a:t>
            </a:r>
          </a:p>
          <a:p>
            <a:pPr>
              <a:buNone/>
            </a:pPr>
            <a:r>
              <a:rPr lang="en-US" altLang="zh-TW" dirty="0">
                <a:latin typeface="Times New Roman" panose="02020603050405020304" pitchFamily="18" charset="0"/>
                <a:cs typeface="Times New Roman" panose="02020603050405020304" pitchFamily="18" charset="0"/>
              </a:rPr>
              <a:t>above operations in O(</a:t>
            </a:r>
            <a:r>
              <a:rPr lang="en-US" altLang="zh-TW" dirty="0" err="1">
                <a:latin typeface="Times New Roman" panose="02020603050405020304" pitchFamily="18" charset="0"/>
                <a:cs typeface="Times New Roman" panose="02020603050405020304" pitchFamily="18" charset="0"/>
              </a:rPr>
              <a:t>loglog</a:t>
            </a:r>
            <a:r>
              <a:rPr lang="en-US" altLang="zh-TW" i="1" dirty="0" err="1">
                <a:latin typeface="Times New Roman" pitchFamily="18" charset="0"/>
                <a:cs typeface="Times New Roman" pitchFamily="18" charset="0"/>
              </a:rPr>
              <a:t>n</a:t>
            </a:r>
            <a:r>
              <a:rPr lang="en-US" altLang="zh-TW" dirty="0">
                <a:latin typeface="Times New Roman" panose="02020603050405020304" pitchFamily="18" charset="0"/>
                <a:cs typeface="Times New Roman" panose="02020603050405020304" pitchFamily="18" charset="0"/>
              </a:rPr>
              <a:t>) amortized time.</a:t>
            </a:r>
          </a:p>
          <a:p>
            <a:pPr>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Using van </a:t>
            </a:r>
            <a:r>
              <a:rPr lang="en-US" altLang="zh-TW" dirty="0" err="1">
                <a:latin typeface="Times New Roman" panose="02020603050405020304" pitchFamily="18" charset="0"/>
                <a:cs typeface="Times New Roman" panose="02020603050405020304" pitchFamily="18" charset="0"/>
              </a:rPr>
              <a:t>Emde</a:t>
            </a:r>
            <a:r>
              <a:rPr lang="en-US" altLang="zh-TW" dirty="0">
                <a:latin typeface="Times New Roman" panose="02020603050405020304" pitchFamily="18" charset="0"/>
                <a:cs typeface="Times New Roman" panose="02020603050405020304" pitchFamily="18" charset="0"/>
              </a:rPr>
              <a:t> Boas tree (</a:t>
            </a:r>
            <a:r>
              <a:rPr lang="en-US" altLang="zh-TW" dirty="0" err="1">
                <a:latin typeface="Times New Roman" panose="02020603050405020304" pitchFamily="18" charset="0"/>
                <a:cs typeface="Times New Roman" panose="02020603050405020304" pitchFamily="18" charset="0"/>
              </a:rPr>
              <a:t>vEB</a:t>
            </a:r>
            <a:r>
              <a:rPr lang="en-US" altLang="zh-TW" dirty="0">
                <a:latin typeface="Times New Roman" panose="02020603050405020304" pitchFamily="18" charset="0"/>
                <a:cs typeface="Times New Roman" panose="02020603050405020304" pitchFamily="18" charset="0"/>
              </a:rPr>
              <a:t> tree).</a:t>
            </a:r>
          </a:p>
          <a:p>
            <a:pPr>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11</a:t>
            </a:fld>
            <a:endParaRPr lang="zh-TW" altLang="en-US">
              <a:latin typeface="Times New Roman" panose="02020603050405020304" pitchFamily="18" charset="0"/>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551344300"/>
              </p:ext>
            </p:extLst>
          </p:nvPr>
        </p:nvGraphicFramePr>
        <p:xfrm>
          <a:off x="4578350" y="1681162"/>
          <a:ext cx="4000506" cy="799280"/>
        </p:xfrm>
        <a:graphic>
          <a:graphicData uri="http://schemas.openxmlformats.org/drawingml/2006/table">
            <a:tbl>
              <a:tblPr firstRow="1" bandRow="1">
                <a:tableStyleId>{5940675A-B579-460E-94D1-54222C63F5DA}</a:tableStyleId>
              </a:tblPr>
              <a:tblGrid>
                <a:gridCol w="666751">
                  <a:extLst>
                    <a:ext uri="{9D8B030D-6E8A-4147-A177-3AD203B41FA5}">
                      <a16:colId xmlns:a16="http://schemas.microsoft.com/office/drawing/2014/main" val="20000"/>
                    </a:ext>
                  </a:extLst>
                </a:gridCol>
                <a:gridCol w="666751">
                  <a:extLst>
                    <a:ext uri="{9D8B030D-6E8A-4147-A177-3AD203B41FA5}">
                      <a16:colId xmlns:a16="http://schemas.microsoft.com/office/drawing/2014/main" val="20001"/>
                    </a:ext>
                  </a:extLst>
                </a:gridCol>
                <a:gridCol w="666751">
                  <a:extLst>
                    <a:ext uri="{9D8B030D-6E8A-4147-A177-3AD203B41FA5}">
                      <a16:colId xmlns:a16="http://schemas.microsoft.com/office/drawing/2014/main" val="20002"/>
                    </a:ext>
                  </a:extLst>
                </a:gridCol>
                <a:gridCol w="666751">
                  <a:extLst>
                    <a:ext uri="{9D8B030D-6E8A-4147-A177-3AD203B41FA5}">
                      <a16:colId xmlns:a16="http://schemas.microsoft.com/office/drawing/2014/main" val="20003"/>
                    </a:ext>
                  </a:extLst>
                </a:gridCol>
                <a:gridCol w="666751">
                  <a:extLst>
                    <a:ext uri="{9D8B030D-6E8A-4147-A177-3AD203B41FA5}">
                      <a16:colId xmlns:a16="http://schemas.microsoft.com/office/drawing/2014/main" val="20004"/>
                    </a:ext>
                  </a:extLst>
                </a:gridCol>
                <a:gridCol w="666751">
                  <a:extLst>
                    <a:ext uri="{9D8B030D-6E8A-4147-A177-3AD203B41FA5}">
                      <a16:colId xmlns:a16="http://schemas.microsoft.com/office/drawing/2014/main" val="20005"/>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TW" sz="1600" dirty="0"/>
                        <a:t>H</a:t>
                      </a:r>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300337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Algorithm MLCS(A, B, 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12</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a:bodyPr>
              <a:lstStyle/>
              <a:p>
                <a:r>
                  <a:rPr lang="en-US" altLang="zh-TW" dirty="0">
                    <a:latin typeface="Times New Roman" panose="02020603050405020304" pitchFamily="18" charset="0"/>
                    <a:cs typeface="Times New Roman" panose="02020603050405020304" pitchFamily="18" charset="0"/>
                  </a:rPr>
                  <a:t>At ﬁrst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is initialized to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b="0" i="1" smtClean="0">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pt-BR" altLang="zh-TW" i="1" dirty="0">
                  <a:solidFill>
                    <a:srgbClr val="FF0000"/>
                  </a:solidFill>
                </a:endParaRPr>
              </a:p>
              <a:p>
                <a:r>
                  <a:rPr lang="en-US" altLang="zh-TW" dirty="0">
                    <a:latin typeface="Times New Roman" panose="02020603050405020304" pitchFamily="18" charset="0"/>
                    <a:cs typeface="Times New Roman" panose="02020603050405020304" pitchFamily="18" charset="0"/>
                  </a:rPr>
                  <a:t>If </a:t>
                </a:r>
                <a14:m>
                  <m:oMath xmlns:m="http://schemas.openxmlformats.org/officeDocument/2006/math">
                    <m:r>
                      <m:rPr>
                        <m:sty m:val="p"/>
                      </m:rPr>
                      <a:rPr lang="en-US" altLang="zh-TW">
                        <a:latin typeface="Cambria Math" panose="02040503050406030204" pitchFamily="18" charset="0"/>
                        <a:cs typeface="Times New Roman" panose="02020603050405020304" pitchFamily="18" charset="0"/>
                      </a:rPr>
                      <m:t>match</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cs typeface="Times New Roman" panose="02020603050405020304" pitchFamily="18" charset="0"/>
                          </a:rPr>
                          <m:t>M</m:t>
                        </m:r>
                      </m:e>
                      <m:sub>
                        <m:r>
                          <m:rPr>
                            <m:sty m:val="p"/>
                          </m:rPr>
                          <a:rPr lang="en-US" altLang="zh-TW">
                            <a:latin typeface="Cambria Math" panose="02040503050406030204" pitchFamily="18" charset="0"/>
                            <a:cs typeface="Times New Roman" panose="02020603050405020304" pitchFamily="18" charset="0"/>
                          </a:rPr>
                          <m:t>j</m:t>
                        </m:r>
                      </m:sub>
                    </m:sSub>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r</m:t>
                    </m:r>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n</m:t>
                    </m:r>
                  </m:oMath>
                </a14:m>
                <a:endParaRPr lang="pt-BR" altLang="zh-TW" dirty="0"/>
              </a:p>
              <a:p>
                <a:pPr>
                  <a:buNone/>
                </a:pPr>
                <a:r>
                  <a:rPr lang="pt-BR" altLang="zh-TW" dirty="0"/>
                  <a:t>		</a:t>
                </a: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If </a:t>
                </a:r>
                <a14:m>
                  <m:oMath xmlns:m="http://schemas.openxmlformats.org/officeDocument/2006/math">
                    <m:r>
                      <m:rPr>
                        <m:sty m:val="p"/>
                      </m:rPr>
                      <a:rPr lang="en-US" altLang="zh-TW" i="0">
                        <a:latin typeface="Cambria Math" panose="02040503050406030204" pitchFamily="18" charset="0"/>
                        <a:cs typeface="Times New Roman" panose="02020603050405020304" pitchFamily="18" charset="0"/>
                      </a:rPr>
                      <m:t>match</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i="0">
                            <a:latin typeface="Cambria Math" panose="02040503050406030204" pitchFamily="18" charset="0"/>
                            <a:cs typeface="Times New Roman" panose="02020603050405020304" pitchFamily="18" charset="0"/>
                          </a:rPr>
                          <m:t>M</m:t>
                        </m:r>
                      </m:e>
                      <m:sub>
                        <m:r>
                          <m:rPr>
                            <m:sty m:val="p"/>
                          </m:rPr>
                          <a:rPr lang="en-US" altLang="zh-TW" i="0">
                            <a:latin typeface="Cambria Math" panose="02040503050406030204" pitchFamily="18" charset="0"/>
                            <a:cs typeface="Times New Roman" panose="02020603050405020304" pitchFamily="18" charset="0"/>
                          </a:rPr>
                          <m:t>i</m:t>
                        </m:r>
                      </m:sub>
                    </m:sSub>
                    <m:r>
                      <a:rPr lang="en-US" altLang="zh-TW" i="0">
                        <a:latin typeface="Cambria Math" panose="02040503050406030204" pitchFamily="18" charset="0"/>
                        <a:cs typeface="Times New Roman" panose="02020603050405020304" pitchFamily="18" charset="0"/>
                      </a:rPr>
                      <m:t>, 1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m</m:t>
                    </m:r>
                    <m:r>
                      <a:rPr lang="en-US" altLang="zh-TW" i="0">
                        <a:latin typeface="Cambria Math" panose="02040503050406030204" pitchFamily="18" charset="0"/>
                        <a:cs typeface="Times New Roman" panose="02020603050405020304" pitchFamily="18" charset="0"/>
                      </a:rPr>
                      <m:t>, 1 ≤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 </m:t>
                    </m:r>
                    <m:r>
                      <m:rPr>
                        <m:sty m:val="p"/>
                      </m:rPr>
                      <a:rPr lang="en-US" altLang="zh-TW" i="0">
                        <a:latin typeface="Cambria Math" panose="02040503050406030204" pitchFamily="18" charset="0"/>
                        <a:cs typeface="Times New Roman" panose="02020603050405020304" pitchFamily="18" charset="0"/>
                      </a:rPr>
                      <m:t>n</m:t>
                    </m:r>
                  </m:oMath>
                </a14:m>
                <a:r>
                  <a:rPr lang="en-US" altLang="zh-TW" baseline="-25000" dirty="0">
                    <a:latin typeface="Times New Roman" panose="02020603050405020304" pitchFamily="18" charset="0"/>
                    <a:cs typeface="Times New Roman" panose="02020603050405020304" pitchFamily="18" charset="0"/>
                  </a:rPr>
                  <a:t>  </a:t>
                </a:r>
              </a:p>
              <a:p>
                <a:pPr>
                  <a:buNone/>
                </a:pPr>
                <a:r>
                  <a:rPr lang="pt-BR" altLang="zh-TW" dirty="0"/>
                  <a:t>		</a:t>
                </a:r>
                <a14:m>
                  <m:oMath xmlns:m="http://schemas.openxmlformats.org/officeDocument/2006/math">
                    <m:sSub>
                      <m:sSubPr>
                        <m:ctrlPr>
                          <a:rPr lang="pt-BR" altLang="zh-TW" i="1" smtClean="0">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r>
                      <a:rPr lang="en-US" altLang="zh-TW" i="1">
                        <a:solidFill>
                          <a:srgbClr val="FF0000"/>
                        </a:solidFill>
                        <a:latin typeface="Cambria Math" panose="02040503050406030204" pitchFamily="18" charset="0"/>
                      </a:rPr>
                      <m:t>+1</m:t>
                    </m:r>
                  </m:oMath>
                </a14:m>
                <a:r>
                  <a:rPr lang="pt-BR" altLang="zh-TW" i="1" dirty="0">
                    <a:solidFill>
                      <a:srgbClr val="FF0000"/>
                    </a:solidFill>
                  </a:rPr>
                  <a:t>) + 1</a:t>
                </a: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2"/>
                <a:stretch>
                  <a:fillRect l="-1333" t="-1823"/>
                </a:stretch>
              </a:blipFill>
            </p:spPr>
            <p:txBody>
              <a:bodyPr/>
              <a:lstStyle/>
              <a:p>
                <a:r>
                  <a:rPr lang="zh-TW" altLang="en-US">
                    <a:noFill/>
                  </a:rPr>
                  <a:t> </a:t>
                </a:r>
              </a:p>
            </p:txBody>
          </p:sp>
        </mc:Fallback>
      </mc:AlternateContent>
      <p:pic>
        <p:nvPicPr>
          <p:cNvPr id="7" name="圖片 6"/>
          <p:cNvPicPr>
            <a:picLocks noChangeAspect="1"/>
          </p:cNvPicPr>
          <p:nvPr/>
        </p:nvPicPr>
        <p:blipFill>
          <a:blip r:embed="rId3"/>
          <a:stretch>
            <a:fillRect/>
          </a:stretch>
        </p:blipFill>
        <p:spPr>
          <a:xfrm>
            <a:off x="4209582" y="4281488"/>
            <a:ext cx="4477218" cy="2576512"/>
          </a:xfrm>
          <a:prstGeom prst="rect">
            <a:avLst/>
          </a:prstGeom>
        </p:spPr>
      </p:pic>
      <mc:AlternateContent xmlns:mc="http://schemas.openxmlformats.org/markup-compatibility/2006" xmlns:a14="http://schemas.microsoft.com/office/drawing/2010/main">
        <mc:Choice Requires="a14">
          <p:graphicFrame>
            <p:nvGraphicFramePr>
              <p:cNvPr id="8" name="表格 7"/>
              <p:cNvGraphicFramePr>
                <a:graphicFrameLocks noGrp="1"/>
              </p:cNvGraphicFramePr>
              <p:nvPr>
                <p:extLst>
                  <p:ext uri="{D42A27DB-BD31-4B8C-83A1-F6EECF244321}">
                    <p14:modId xmlns:p14="http://schemas.microsoft.com/office/powerpoint/2010/main" val="1175161881"/>
                  </p:ext>
                </p:extLst>
              </p:nvPr>
            </p:nvGraphicFramePr>
            <p:xfrm>
              <a:off x="512318" y="4625976"/>
              <a:ext cx="1121664" cy="187287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solidFill>
                                          <a:schemeClr val="tx1"/>
                                        </a:solidFill>
                                        <a:latin typeface="Cambria Math" panose="02040503050406030204" pitchFamily="18" charset="0"/>
                                      </a:rPr>
                                    </m:ctrlPr>
                                  </m:sSubSupPr>
                                  <m:e>
                                    <m:r>
                                      <a:rPr lang="en-US" altLang="zh-TW" i="1">
                                        <a:solidFill>
                                          <a:schemeClr val="tx1"/>
                                        </a:solidFill>
                                        <a:latin typeface="Cambria Math" panose="02040503050406030204" pitchFamily="18" charset="0"/>
                                      </a:rPr>
                                      <m:t>𝐻</m:t>
                                    </m:r>
                                  </m:e>
                                  <m:sub>
                                    <m:r>
                                      <a:rPr lang="en-US" altLang="zh-TW" i="1">
                                        <a:solidFill>
                                          <a:schemeClr val="tx1"/>
                                        </a:solidFill>
                                        <a:latin typeface="Cambria Math" panose="02040503050406030204" pitchFamily="18" charset="0"/>
                                      </a:rPr>
                                      <m:t>𝑖</m:t>
                                    </m:r>
                                    <m:r>
                                      <a:rPr lang="en-US" altLang="zh-TW" i="1">
                                        <a:solidFill>
                                          <a:schemeClr val="tx1"/>
                                        </a:solidFill>
                                        <a:latin typeface="Cambria Math" panose="02040503050406030204" pitchFamily="18" charset="0"/>
                                      </a:rPr>
                                      <m:t>−1</m:t>
                                    </m:r>
                                  </m:sub>
                                  <m:sup>
                                    <m:r>
                                      <a:rPr lang="en-US" altLang="zh-TW" i="1">
                                        <a:solidFill>
                                          <a:schemeClr val="tx1"/>
                                        </a:solidFill>
                                        <a:latin typeface="Cambria Math" panose="02040503050406030204" pitchFamily="18" charset="0"/>
                                      </a:rPr>
                                      <m:t>𝑘</m:t>
                                    </m:r>
                                    <m:r>
                                      <a:rPr lang="en-US" altLang="zh-TW" i="1">
                                        <a:solidFill>
                                          <a:schemeClr val="tx1"/>
                                        </a:solidFill>
                                        <a:latin typeface="Cambria Math" panose="02040503050406030204" pitchFamily="18" charset="0"/>
                                      </a:rPr>
                                      <m:t>−1</m:t>
                                    </m:r>
                                  </m:sup>
                                </m:sSubSup>
                              </m:oMath>
                            </m:oMathPara>
                          </a14:m>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extLst>
                      <a:ext uri="{0D108BD9-81ED-4DB2-BD59-A6C34878D82A}">
                        <a16:rowId xmlns:a16="http://schemas.microsoft.com/office/drawing/2014/main" val="10001"/>
                      </a:ext>
                    </a:extLst>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b="0" i="1" smtClean="0">
                                        <a:latin typeface="Cambria Math" panose="02040503050406030204" pitchFamily="18" charset="0"/>
                                      </a:rPr>
                                      <m:t>−1</m:t>
                                    </m:r>
                                  </m:sup>
                                </m:sSubSup>
                              </m:oMath>
                            </m:oMathPara>
                          </a14:m>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8" name="表格 7"/>
              <p:cNvGraphicFramePr>
                <a:graphicFrameLocks noGrp="1"/>
              </p:cNvGraphicFramePr>
              <p:nvPr>
                <p:extLst>
                  <p:ext uri="{D42A27DB-BD31-4B8C-83A1-F6EECF244321}">
                    <p14:modId xmlns:p14="http://schemas.microsoft.com/office/powerpoint/2010/main" val="1175161881"/>
                  </p:ext>
                </p:extLst>
              </p:nvPr>
            </p:nvGraphicFramePr>
            <p:xfrm>
              <a:off x="512318" y="4625976"/>
              <a:ext cx="1121664" cy="1872870"/>
            </p:xfrm>
            <a:graphic>
              <a:graphicData uri="http://schemas.openxmlformats.org/drawingml/2006/table">
                <a:tbl>
                  <a:tblPr firstRow="1" bandRow="1">
                    <a:tableStyleId>{5940675A-B579-460E-94D1-54222C63F5DA}</a:tableStyleId>
                  </a:tblPr>
                  <a:tblGrid>
                    <a:gridCol w="280416"/>
                    <a:gridCol w="280416"/>
                    <a:gridCol w="280416"/>
                    <a:gridCol w="280416"/>
                  </a:tblGrid>
                  <a:tr h="36576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87795">
                    <a:tc gridSpan="4">
                      <a:txBody>
                        <a:bodyPr/>
                        <a:lstStyle/>
                        <a:p>
                          <a:endParaRPr lang="zh-TW"/>
                        </a:p>
                      </a:txBody>
                      <a:tcPr>
                        <a:blipFill rotWithShape="0">
                          <a:blip r:embed="rId4"/>
                          <a:stretch>
                            <a:fillRect l="-541" t="-95313" r="-1081" b="-292188"/>
                          </a:stretch>
                        </a:blip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r>
                  <a:tr h="387795">
                    <a:tc gridSpan="4">
                      <a:txBody>
                        <a:bodyPr/>
                        <a:lstStyle/>
                        <a:p>
                          <a:endParaRPr lang="zh-TW"/>
                        </a:p>
                      </a:txBody>
                      <a:tcPr>
                        <a:blipFill rotWithShape="0">
                          <a:blip r:embed="rId4"/>
                          <a:stretch>
                            <a:fillRect l="-541" t="-195313" r="-1081" b="-192188"/>
                          </a:stretch>
                        </a:blipFill>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extLst>
                  <p:ext uri="{D42A27DB-BD31-4B8C-83A1-F6EECF244321}">
                    <p14:modId xmlns:p14="http://schemas.microsoft.com/office/powerpoint/2010/main" val="2424125503"/>
                  </p:ext>
                </p:extLst>
              </p:nvPr>
            </p:nvGraphicFramePr>
            <p:xfrm>
              <a:off x="1964049" y="4625976"/>
              <a:ext cx="1121664" cy="187287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b="0" i="1" smtClean="0">
                                        <a:latin typeface="Cambria Math" panose="02040503050406030204" pitchFamily="18" charset="0"/>
                                      </a:rPr>
                                      <m:t>−1</m:t>
                                    </m:r>
                                  </m:sub>
                                  <m:sup>
                                    <m:r>
                                      <a:rPr lang="en-US" altLang="zh-TW" i="1">
                                        <a:latin typeface="Cambria Math" panose="02040503050406030204" pitchFamily="18" charset="0"/>
                                      </a:rPr>
                                      <m:t>𝑘</m:t>
                                    </m:r>
                                  </m:sup>
                                </m:sSubSup>
                              </m:oMath>
                            </m:oMathPara>
                          </a14:m>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extLst>
                      <a:ext uri="{0D108BD9-81ED-4DB2-BD59-A6C34878D82A}">
                        <a16:rowId xmlns:a16="http://schemas.microsoft.com/office/drawing/2014/main" val="10001"/>
                      </a:ext>
                    </a:extLst>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m:oMathPara>
                          </a14:m>
                          <a:endParaRPr lang="zh-TW" altLang="en-US" dirty="0"/>
                        </a:p>
                      </a:txBody>
                      <a:tcPr>
                        <a:solidFill>
                          <a:schemeClr val="accent2"/>
                        </a:solid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9" name="表格 8"/>
              <p:cNvGraphicFramePr>
                <a:graphicFrameLocks noGrp="1"/>
              </p:cNvGraphicFramePr>
              <p:nvPr>
                <p:extLst>
                  <p:ext uri="{D42A27DB-BD31-4B8C-83A1-F6EECF244321}">
                    <p14:modId xmlns:p14="http://schemas.microsoft.com/office/powerpoint/2010/main" val="2424125503"/>
                  </p:ext>
                </p:extLst>
              </p:nvPr>
            </p:nvGraphicFramePr>
            <p:xfrm>
              <a:off x="1964049" y="4625976"/>
              <a:ext cx="1121664" cy="1872870"/>
            </p:xfrm>
            <a:graphic>
              <a:graphicData uri="http://schemas.openxmlformats.org/drawingml/2006/table">
                <a:tbl>
                  <a:tblPr firstRow="1" bandRow="1">
                    <a:tableStyleId>{5940675A-B579-460E-94D1-54222C63F5DA}</a:tableStyleId>
                  </a:tblPr>
                  <a:tblGrid>
                    <a:gridCol w="280416"/>
                    <a:gridCol w="280416"/>
                    <a:gridCol w="280416"/>
                    <a:gridCol w="280416"/>
                  </a:tblGrid>
                  <a:tr h="36576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87795">
                    <a:tc gridSpan="4">
                      <a:txBody>
                        <a:bodyPr/>
                        <a:lstStyle/>
                        <a:p>
                          <a:endParaRPr lang="zh-TW"/>
                        </a:p>
                      </a:txBody>
                      <a:tcPr>
                        <a:blipFill rotWithShape="0">
                          <a:blip r:embed="rId5"/>
                          <a:stretch>
                            <a:fillRect l="-541" t="-95313" r="-1081" b="-292188"/>
                          </a:stretch>
                        </a:blip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r>
                  <a:tr h="387795">
                    <a:tc gridSpan="4">
                      <a:txBody>
                        <a:bodyPr/>
                        <a:lstStyle/>
                        <a:p>
                          <a:endParaRPr lang="zh-TW"/>
                        </a:p>
                      </a:txBody>
                      <a:tcPr>
                        <a:blipFill rotWithShape="0">
                          <a:blip r:embed="rId5"/>
                          <a:stretch>
                            <a:fillRect l="-541" t="-195313" r="-1081" b="-192188"/>
                          </a:stretch>
                        </a:blip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mc:Fallback>
      </mc:AlternateContent>
      <p:graphicFrame>
        <p:nvGraphicFramePr>
          <p:cNvPr id="11" name="表格 10"/>
          <p:cNvGraphicFramePr>
            <a:graphicFrameLocks noGrp="1"/>
          </p:cNvGraphicFramePr>
          <p:nvPr>
            <p:extLst>
              <p:ext uri="{D42A27DB-BD31-4B8C-83A1-F6EECF244321}">
                <p14:modId xmlns:p14="http://schemas.microsoft.com/office/powerpoint/2010/main" val="566497841"/>
              </p:ext>
            </p:extLst>
          </p:nvPr>
        </p:nvGraphicFramePr>
        <p:xfrm>
          <a:off x="0" y="5019676"/>
          <a:ext cx="457200" cy="73152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307391">
                <a:tc>
                  <a:txBody>
                    <a:bodyPr/>
                    <a:lstStyle/>
                    <a:p>
                      <a:pPr algn="ctr"/>
                      <a:r>
                        <a:rPr lang="en-US" altLang="zh-TW" dirty="0"/>
                        <a:t>i-1</a:t>
                      </a:r>
                      <a:endParaRPr lang="zh-TW" altLang="en-US" dirty="0"/>
                    </a:p>
                  </a:txBody>
                  <a:tcPr/>
                </a:tc>
                <a:extLst>
                  <a:ext uri="{0D108BD9-81ED-4DB2-BD59-A6C34878D82A}">
                    <a16:rowId xmlns:a16="http://schemas.microsoft.com/office/drawing/2014/main" val="10000"/>
                  </a:ext>
                </a:extLst>
              </a:tr>
              <a:tr h="307391">
                <a:tc>
                  <a:txBody>
                    <a:bodyPr/>
                    <a:lstStyle/>
                    <a:p>
                      <a:pPr algn="ctr"/>
                      <a:r>
                        <a:rPr lang="en-US" altLang="zh-TW" dirty="0" err="1"/>
                        <a:t>i</a:t>
                      </a:r>
                      <a:endParaRPr lang="zh-TW" altLang="en-US" dirty="0"/>
                    </a:p>
                  </a:txBody>
                  <a:tcPr/>
                </a:tc>
                <a:extLst>
                  <a:ext uri="{0D108BD9-81ED-4DB2-BD59-A6C34878D82A}">
                    <a16:rowId xmlns:a16="http://schemas.microsoft.com/office/drawing/2014/main" val="10001"/>
                  </a:ext>
                </a:extLst>
              </a:tr>
            </a:tbl>
          </a:graphicData>
        </a:graphic>
      </p:graphicFrame>
      <p:sp>
        <p:nvSpPr>
          <p:cNvPr id="12" name="文字方塊 11"/>
          <p:cNvSpPr txBox="1"/>
          <p:nvPr/>
        </p:nvSpPr>
        <p:spPr>
          <a:xfrm>
            <a:off x="828155" y="6488668"/>
            <a:ext cx="2169045" cy="369332"/>
          </a:xfrm>
          <a:prstGeom prst="rect">
            <a:avLst/>
          </a:prstGeom>
          <a:noFill/>
        </p:spPr>
        <p:txBody>
          <a:bodyPr wrap="square" rtlCol="0">
            <a:spAutoFit/>
          </a:bodyPr>
          <a:lstStyle/>
          <a:p>
            <a:r>
              <a:rPr lang="en-US" altLang="zh-TW" dirty="0"/>
              <a:t>k -1                       k</a:t>
            </a:r>
            <a:endParaRPr lang="zh-TW" altLang="en-US" dirty="0"/>
          </a:p>
        </p:txBody>
      </p:sp>
      <p:sp>
        <p:nvSpPr>
          <p:cNvPr id="13" name="文字方塊 12"/>
          <p:cNvSpPr txBox="1"/>
          <p:nvPr/>
        </p:nvSpPr>
        <p:spPr>
          <a:xfrm>
            <a:off x="953566" y="4281488"/>
            <a:ext cx="239168" cy="369332"/>
          </a:xfrm>
          <a:prstGeom prst="rect">
            <a:avLst/>
          </a:prstGeom>
          <a:noFill/>
        </p:spPr>
        <p:txBody>
          <a:bodyPr wrap="none" rtlCol="0">
            <a:spAutoFit/>
          </a:bodyPr>
          <a:lstStyle/>
          <a:p>
            <a:r>
              <a:rPr lang="en-US" altLang="zh-TW" dirty="0" err="1"/>
              <a:t>j</a:t>
            </a:r>
            <a:endParaRPr lang="zh-TW" altLang="en-US" dirty="0"/>
          </a:p>
        </p:txBody>
      </p:sp>
      <p:sp>
        <p:nvSpPr>
          <p:cNvPr id="14" name="文字方塊 13"/>
          <p:cNvSpPr txBox="1"/>
          <p:nvPr/>
        </p:nvSpPr>
        <p:spPr>
          <a:xfrm>
            <a:off x="2405116" y="4281488"/>
            <a:ext cx="239168" cy="369332"/>
          </a:xfrm>
          <a:prstGeom prst="rect">
            <a:avLst/>
          </a:prstGeom>
          <a:noFill/>
        </p:spPr>
        <p:txBody>
          <a:bodyPr wrap="none" rtlCol="0">
            <a:spAutoFit/>
          </a:bodyPr>
          <a:lstStyle/>
          <a:p>
            <a:r>
              <a:rPr lang="en-US" altLang="zh-TW" dirty="0" err="1"/>
              <a:t>j</a:t>
            </a:r>
            <a:endParaRPr lang="zh-TW" altLang="en-US" dirty="0"/>
          </a:p>
        </p:txBody>
      </p:sp>
    </p:spTree>
    <p:extLst>
      <p:ext uri="{BB962C8B-B14F-4D97-AF65-F5344CB8AC3E}">
        <p14:creationId xmlns:p14="http://schemas.microsoft.com/office/powerpoint/2010/main" val="7327178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Algorithm MLCS(A, B, 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13</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a:bodyPr>
              <a:lstStyle/>
              <a:p>
                <a:pPr>
                  <a:buNone/>
                </a:pPr>
                <a:r>
                  <a:rPr lang="en-US" altLang="zh-TW" i="1" dirty="0">
                    <a:latin typeface="Times New Roman" pitchFamily="18" charset="0"/>
                    <a:cs typeface="Times New Roman" pitchFamily="18" charset="0"/>
                  </a:rPr>
                  <a:t>A</a:t>
                </a:r>
                <a:r>
                  <a:rPr lang="en-US" altLang="zh-TW" dirty="0"/>
                  <a:t> = </a:t>
                </a:r>
                <a:r>
                  <a:rPr lang="en-US" altLang="zh-TW" i="1" dirty="0" err="1">
                    <a:latin typeface="Times New Roman" pitchFamily="18" charset="0"/>
                    <a:cs typeface="Times New Roman" pitchFamily="18" charset="0"/>
                  </a:rPr>
                  <a:t>actt</a:t>
                </a:r>
                <a:r>
                  <a:rPr lang="en-US" altLang="zh-TW" i="1" dirty="0">
                    <a:latin typeface="Times New Roman" pitchFamily="18" charset="0"/>
                    <a:cs typeface="Times New Roman" pitchFamily="18" charset="0"/>
                  </a:rPr>
                  <a:t>, B</a:t>
                </a:r>
                <a:r>
                  <a:rPr lang="en-US" altLang="zh-TW" dirty="0"/>
                  <a:t> = </a:t>
                </a:r>
                <a:r>
                  <a:rPr lang="en-US" altLang="zh-TW" i="1" dirty="0" err="1">
                    <a:latin typeface="Times New Roman" pitchFamily="18" charset="0"/>
                    <a:cs typeface="Times New Roman" pitchFamily="18" charset="0"/>
                  </a:rPr>
                  <a:t>ctg</a:t>
                </a:r>
                <a:r>
                  <a:rPr lang="en-US" altLang="zh-TW" i="1" dirty="0">
                    <a:latin typeface="Times New Roman" pitchFamily="18" charset="0"/>
                    <a:cs typeface="Times New Roman" pitchFamily="18" charset="0"/>
                  </a:rPr>
                  <a:t>, T </a:t>
                </a:r>
                <a:r>
                  <a:rPr lang="en-US" altLang="zh-TW" dirty="0"/>
                  <a:t>=</a:t>
                </a:r>
                <a:r>
                  <a:rPr lang="en-US" altLang="zh-TW" i="1" dirty="0">
                    <a:latin typeface="Times New Roman" pitchFamily="18" charset="0"/>
                    <a:cs typeface="Times New Roman" pitchFamily="18" charset="0"/>
                  </a:rPr>
                  <a:t> </a:t>
                </a:r>
                <a:r>
                  <a:rPr lang="en-US" altLang="zh-TW" i="1" dirty="0" err="1">
                    <a:latin typeface="Times New Roman" pitchFamily="18" charset="0"/>
                    <a:cs typeface="Times New Roman" pitchFamily="18" charset="0"/>
                  </a:rPr>
                  <a:t>tcatcg</a:t>
                </a:r>
                <a:endParaRPr lang="en-US" altLang="zh-TW" i="1" dirty="0">
                  <a:latin typeface="Times New Roman" pitchFamily="18" charset="0"/>
                  <a:cs typeface="Times New Roman" pitchFamily="18" charset="0"/>
                </a:endParaRP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𝑖</m:t>
                        </m:r>
                      </m:sub>
                      <m:sup>
                        <m:r>
                          <a:rPr lang="en-US" altLang="zh-TW" i="1">
                            <a:latin typeface="Cambria Math" panose="02040503050406030204" pitchFamily="18" charset="0"/>
                            <a:cs typeface="Times New Roman" panose="02020603050405020304" pitchFamily="18" charset="0"/>
                          </a:rPr>
                          <m:t>𝐴</m:t>
                        </m:r>
                      </m:sup>
                    </m:sSubSup>
                  </m:oMath>
                </a14:m>
                <a:r>
                  <a:rPr lang="en-US" altLang="zh-TW" dirty="0"/>
                  <a:t>={ (1, 3), (2, 2), (2, 5), (3, 1), (3, 4), (4, 1), (4, 4)}</a:t>
                </a: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={(1, 2), (1, 5), (2, 1), (2, 4), (3, 6)}</a:t>
                </a:r>
              </a:p>
              <a:p>
                <a:pPr>
                  <a:buNone/>
                </a:pP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2"/>
                <a:stretch>
                  <a:fillRect l="-1481" t="-247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058104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0" y="1074916"/>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237566" y="2430579"/>
            <a:ext cx="8247771" cy="369332"/>
          </a:xfrm>
          <a:prstGeom prst="rect">
            <a:avLst/>
          </a:prstGeom>
          <a:noFill/>
        </p:spPr>
        <p:txBody>
          <a:bodyPr wrap="none" rtlCol="0">
            <a:spAutoFit/>
          </a:bodyPr>
          <a:lstStyle/>
          <a:p>
            <a:r>
              <a:rPr lang="en-US" altLang="zh-TW" dirty="0"/>
              <a:t>k =          1                         2                       3                         4                          5                         6</a:t>
            </a:r>
            <a:endParaRPr lang="zh-TW" altLang="en-US" dirty="0"/>
          </a:p>
        </p:txBody>
      </p:sp>
      <mc:AlternateContent xmlns:mc="http://schemas.openxmlformats.org/markup-compatibility/2006" xmlns:a14="http://schemas.microsoft.com/office/drawing/2010/main">
        <mc:Choice Requires="a14">
          <p:graphicFrame>
            <p:nvGraphicFramePr>
              <p:cNvPr id="20" name="表格 19"/>
              <p:cNvGraphicFramePr>
                <a:graphicFrameLocks noGrp="1"/>
              </p:cNvGraphicFramePr>
              <p:nvPr>
                <p:extLst>
                  <p:ext uri="{D42A27DB-BD31-4B8C-83A1-F6EECF244321}">
                    <p14:modId xmlns:p14="http://schemas.microsoft.com/office/powerpoint/2010/main" val="562972320"/>
                  </p:ext>
                </p:extLst>
              </p:nvPr>
            </p:nvGraphicFramePr>
            <p:xfrm>
              <a:off x="34831" y="2875483"/>
              <a:ext cx="2554465" cy="122472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20" name="表格 19"/>
              <p:cNvGraphicFramePr>
                <a:graphicFrameLocks noGrp="1"/>
              </p:cNvGraphicFramePr>
              <p:nvPr>
                <p:extLst>
                  <p:ext uri="{D42A27DB-BD31-4B8C-83A1-F6EECF244321}">
                    <p14:modId xmlns:p14="http://schemas.microsoft.com/office/powerpoint/2010/main" val="562972320"/>
                  </p:ext>
                </p:extLst>
              </p:nvPr>
            </p:nvGraphicFramePr>
            <p:xfrm>
              <a:off x="34831" y="28754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3"/>
                          <a:stretch>
                            <a:fillRect l="-1190" t="-11363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2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sp>
            <p:nvSpPr>
              <p:cNvPr id="26" name="文字方塊 25"/>
              <p:cNvSpPr txBox="1"/>
              <p:nvPr/>
            </p:nvSpPr>
            <p:spPr>
              <a:xfrm>
                <a:off x="4197453" y="3129483"/>
                <a:ext cx="4946547"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(2, 2), (2, 5), (3, 1), (3, 4), (4, 1),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={(1, 2), (1, 5), (2, 1), (2, 4),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4197453" y="3129483"/>
                <a:ext cx="4946547" cy="986296"/>
              </a:xfrm>
              <a:prstGeom prst="rect">
                <a:avLst/>
              </a:prstGeom>
              <a:blipFill rotWithShape="0">
                <a:blip r:embed="rId4"/>
                <a:stretch>
                  <a:fillRect t="-1235"/>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 </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667158176"/>
                  </p:ext>
                </p:extLst>
              </p:nvPr>
            </p:nvGraphicFramePr>
            <p:xfrm>
              <a:off x="34831" y="432095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667158176"/>
                  </p:ext>
                </p:extLst>
              </p:nvPr>
            </p:nvGraphicFramePr>
            <p:xfrm>
              <a:off x="34831" y="432095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5"/>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14</a:t>
            </a:fld>
            <a:endParaRPr lang="zh-TW" altLang="en-US"/>
          </a:p>
        </p:txBody>
      </p:sp>
    </p:spTree>
    <p:extLst>
      <p:ext uri="{BB962C8B-B14F-4D97-AF65-F5344CB8AC3E}">
        <p14:creationId xmlns:p14="http://schemas.microsoft.com/office/powerpoint/2010/main" val="19788020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517343214"/>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26466" y="2481379"/>
            <a:ext cx="8247771" cy="369332"/>
          </a:xfrm>
          <a:prstGeom prst="rect">
            <a:avLst/>
          </a:prstGeom>
          <a:noFill/>
        </p:spPr>
        <p:txBody>
          <a:bodyPr wrap="none" rtlCol="0">
            <a:spAutoFit/>
          </a:bodyPr>
          <a:lstStyle/>
          <a:p>
            <a:r>
              <a:rPr lang="en-US" altLang="zh-TW" dirty="0"/>
              <a:t>k =          1                         2                       3                         4                          5                         6</a:t>
            </a:r>
            <a:endParaRPr lang="zh-TW" altLang="en-US" dirty="0"/>
          </a:p>
        </p:txBody>
      </p:sp>
      <mc:AlternateContent xmlns:mc="http://schemas.openxmlformats.org/markup-compatibility/2006" xmlns:a14="http://schemas.microsoft.com/office/drawing/2010/main">
        <mc:Choice Requires="a14">
          <p:sp>
            <p:nvSpPr>
              <p:cNvPr id="22" name="文字方塊 21"/>
              <p:cNvSpPr txBox="1"/>
              <p:nvPr/>
            </p:nvSpPr>
            <p:spPr>
              <a:xfrm>
                <a:off x="5702301" y="5510642"/>
                <a:ext cx="3441699" cy="975011"/>
              </a:xfrm>
              <a:prstGeom prst="rect">
                <a:avLst/>
              </a:prstGeom>
              <a:noFill/>
            </p:spPr>
            <p:txBody>
              <a:bodyPr wrap="square" rtlCol="0">
                <a:spAutoFit/>
              </a:bodyPr>
              <a:lstStyle/>
              <a:p>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0</m:t>
                        </m:r>
                      </m:sup>
                    </m:sSubSup>
                  </m:oMath>
                </a14:m>
                <a:r>
                  <a:rPr lang="en-US" altLang="zh-TW" dirty="0"/>
                  <a:t> , 2) + 1</a:t>
                </a:r>
                <a:endParaRPr lang="zh-TW" altLang="en-US"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5702301" y="5510642"/>
                <a:ext cx="3441699" cy="975011"/>
              </a:xfrm>
              <a:prstGeom prst="rect">
                <a:avLst/>
              </a:prstGeom>
              <a:blipFill rotWithShape="0">
                <a:blip r:embed="rId2"/>
                <a:stretch>
                  <a:fillRect t="-1875" b="-9375"/>
                </a:stretch>
              </a:blipFill>
            </p:spPr>
            <p:txBody>
              <a:bodyPr/>
              <a:lstStyle/>
              <a:p>
                <a:r>
                  <a:rPr lang="zh-TW" altLang="en-US">
                    <a:noFill/>
                  </a:rPr>
                  <a:t> </a:t>
                </a:r>
              </a:p>
            </p:txBody>
          </p:sp>
        </mc:Fallback>
      </mc:AlternateContent>
      <p:sp>
        <p:nvSpPr>
          <p:cNvPr id="24" name="文字方塊 23"/>
          <p:cNvSpPr txBox="1"/>
          <p:nvPr/>
        </p:nvSpPr>
        <p:spPr>
          <a:xfrm>
            <a:off x="3215718" y="3783029"/>
            <a:ext cx="1234633" cy="369332"/>
          </a:xfrm>
          <a:prstGeom prst="rect">
            <a:avLst/>
          </a:prstGeom>
          <a:noFill/>
        </p:spPr>
        <p:txBody>
          <a:bodyPr wrap="none" rtlCol="0">
            <a:spAutoFit/>
          </a:bodyPr>
          <a:lstStyle/>
          <a:p>
            <a:r>
              <a:rPr lang="en-US" altLang="zh-TW" dirty="0" err="1"/>
              <a:t>i</a:t>
            </a:r>
            <a:r>
              <a:rPr lang="en-US" altLang="zh-TW" dirty="0"/>
              <a:t> = 0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672432" y="27967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={(1, 2) , (1, 5) , </a:t>
                </a:r>
                <a:r>
                  <a:rPr lang="en-US" altLang="zh-TW" dirty="0">
                    <a:solidFill>
                      <a:srgbClr val="FF0000"/>
                    </a:solidFill>
                  </a:rPr>
                  <a:t>(2, 1) </a:t>
                </a:r>
                <a:r>
                  <a:rPr lang="en-US" altLang="zh-TW" dirty="0"/>
                  <a:t>,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672432" y="2796733"/>
                <a:ext cx="5211042" cy="986296"/>
              </a:xfrm>
              <a:prstGeom prst="rect">
                <a:avLst/>
              </a:prstGeom>
              <a:blipFill rotWithShape="0">
                <a:blip r:embed="rId3"/>
                <a:stretch>
                  <a:fillRect t="-1852"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 </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365760"/>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325613">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5"/>
          <a:ext cx="1131016" cy="365760"/>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312836">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59404177"/>
                  </p:ext>
                </p:extLst>
              </p:nvPr>
            </p:nvGraphicFramePr>
            <p:xfrm>
              <a:off x="123731" y="440218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59404177"/>
                  </p:ext>
                </p:extLst>
              </p:nvPr>
            </p:nvGraphicFramePr>
            <p:xfrm>
              <a:off x="123731" y="440218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865329771"/>
                  </p:ext>
                </p:extLst>
              </p:nvPr>
            </p:nvGraphicFramePr>
            <p:xfrm>
              <a:off x="3215718" y="4381724"/>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rgbClr val="FF0000"/>
                              </a:solidFill>
                            </a:rPr>
                            <a:t>1</a:t>
                          </a:r>
                          <a:endParaRPr lang="zh-TW" altLang="en-US" dirty="0">
                            <a:solidFill>
                              <a:srgbClr val="FF0000"/>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865329771"/>
                  </p:ext>
                </p:extLst>
              </p:nvPr>
            </p:nvGraphicFramePr>
            <p:xfrm>
              <a:off x="3215718" y="4381724"/>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5"/>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164058039"/>
                  </p:ext>
                </p:extLst>
              </p:nvPr>
            </p:nvGraphicFramePr>
            <p:xfrm>
              <a:off x="123731" y="2926283"/>
              <a:ext cx="2554465" cy="122472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164058039"/>
                  </p:ext>
                </p:extLst>
              </p:nvPr>
            </p:nvGraphicFramePr>
            <p:xfrm>
              <a:off x="123731" y="29262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6"/>
                          <a:stretch>
                            <a:fillRect l="-1190" t="-115385" r="-402381" b="-116923"/>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6"/>
                          <a:stretch>
                            <a:fillRect l="-1190" t="-212121"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15</a:t>
            </a:fld>
            <a:endParaRPr lang="zh-TW" altLang="en-US"/>
          </a:p>
        </p:txBody>
      </p:sp>
    </p:spTree>
    <p:extLst>
      <p:ext uri="{BB962C8B-B14F-4D97-AF65-F5344CB8AC3E}">
        <p14:creationId xmlns:p14="http://schemas.microsoft.com/office/powerpoint/2010/main" val="16538224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628078716"/>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1600"/>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827379" y="3712663"/>
            <a:ext cx="1234633" cy="369332"/>
          </a:xfrm>
          <a:prstGeom prst="rect">
            <a:avLst/>
          </a:prstGeom>
          <a:noFill/>
        </p:spPr>
        <p:txBody>
          <a:bodyPr wrap="none" rtlCol="0">
            <a:spAutoFit/>
          </a:bodyPr>
          <a:lstStyle/>
          <a:p>
            <a:r>
              <a:rPr lang="en-US" altLang="zh-TW" dirty="0" err="1"/>
              <a:t>i</a:t>
            </a:r>
            <a:r>
              <a:rPr lang="en-US" altLang="zh-TW" dirty="0"/>
              <a:t> = 0  , k = 2</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10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a:t>
                </a:r>
                <a:r>
                  <a:rPr lang="en-US" altLang="zh-TW" dirty="0">
                    <a:solidFill>
                      <a:srgbClr val="FF0000"/>
                    </a:solidFill>
                  </a:rPr>
                  <a:t>(1, 2) </a:t>
                </a:r>
                <a:r>
                  <a:rPr lang="en-US" altLang="zh-TW" dirty="0"/>
                  <a:t>, (1, 5) , (2, 1) ,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1033"/>
                <a:ext cx="5211042" cy="986296"/>
              </a:xfrm>
              <a:prstGeom prst="rect">
                <a:avLst/>
              </a:prstGeom>
              <a:blipFill rotWithShape="0">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1771512695"/>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solidFill>
                      <a:schemeClr val="accent2"/>
                    </a:solidFill>
                  </a:tcPr>
                </a:tc>
                <a:tc>
                  <a:txBody>
                    <a:bodyPr/>
                    <a:lstStyle/>
                    <a:p>
                      <a:r>
                        <a:rPr lang="en-US" altLang="zh-TW" dirty="0">
                          <a:solidFill>
                            <a:schemeClr val="tx1"/>
                          </a:solidFill>
                        </a:rPr>
                        <a:t>1 </a:t>
                      </a:r>
                      <a:endParaRPr lang="zh-TW" altLang="en-US" dirty="0">
                        <a:solidFill>
                          <a:schemeClr val="tx1"/>
                        </a:solidFill>
                      </a:endParaRPr>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5"/>
          <a:ext cx="1131016" cy="365760"/>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312836">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133418217"/>
                  </p:ext>
                </p:extLst>
              </p:nvPr>
            </p:nvGraphicFramePr>
            <p:xfrm>
              <a:off x="34831" y="4431142"/>
              <a:ext cx="2554465" cy="79928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133418217"/>
                  </p:ext>
                </p:extLst>
              </p:nvPr>
            </p:nvGraphicFramePr>
            <p:xfrm>
              <a:off x="34831" y="44311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463" r="-402381" b="-111940"/>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9091" r="-402381" b="-13636"/>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3649548635"/>
                  </p:ext>
                </p:extLst>
              </p:nvPr>
            </p:nvGraphicFramePr>
            <p:xfrm>
              <a:off x="2936527" y="43438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rgbClr val="FF0000"/>
                              </a:solidFill>
                            </a:rPr>
                            <a:t>1</a:t>
                          </a:r>
                          <a:endParaRPr lang="zh-TW" altLang="en-US" dirty="0">
                            <a:solidFill>
                              <a:srgbClr val="FF0000"/>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3649548635"/>
                  </p:ext>
                </p:extLst>
              </p:nvPr>
            </p:nvGraphicFramePr>
            <p:xfrm>
              <a:off x="2936527" y="434382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3003555044"/>
                  </p:ext>
                </p:extLst>
              </p:nvPr>
            </p:nvGraphicFramePr>
            <p:xfrm>
              <a:off x="34831" y="3040583"/>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3003555044"/>
                  </p:ext>
                </p:extLst>
              </p:nvPr>
            </p:nvGraphicFramePr>
            <p:xfrm>
              <a:off x="34831" y="3040583"/>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endParaRPr lang="zh-TW"/>
                        </a:p>
                      </a:txBody>
                      <a:tcPr>
                        <a:blipFill>
                          <a:blip r:embed="rId5"/>
                          <a:stretch>
                            <a:fillRect l="-1190" t="-115152"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16</a:t>
            </a:fld>
            <a:endParaRPr lang="zh-TW" altLang="en-US"/>
          </a:p>
        </p:txBody>
      </p:sp>
      <mc:AlternateContent xmlns:mc="http://schemas.openxmlformats.org/markup-compatibility/2006" xmlns:a14="http://schemas.microsoft.com/office/drawing/2010/main">
        <mc:Choice Requires="a14">
          <p:sp>
            <p:nvSpPr>
              <p:cNvPr id="37" name="文字方塊 36"/>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1</m:t>
                        </m:r>
                      </m:sup>
                    </m:sSubSup>
                  </m:oMath>
                </a14:m>
                <a:r>
                  <a:rPr lang="en-US" altLang="zh-TW" dirty="0"/>
                  <a:t> , 1) + 1</a:t>
                </a:r>
                <a:endParaRPr lang="zh-TW" altLang="en-US"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6"/>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917867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474347987"/>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74300"/>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620798"/>
            <a:ext cx="1234633" cy="369332"/>
          </a:xfrm>
          <a:prstGeom prst="rect">
            <a:avLst/>
          </a:prstGeom>
          <a:noFill/>
        </p:spPr>
        <p:txBody>
          <a:bodyPr wrap="none" rtlCol="0">
            <a:spAutoFit/>
          </a:bodyPr>
          <a:lstStyle/>
          <a:p>
            <a:r>
              <a:rPr lang="en-US" altLang="zh-TW" dirty="0" err="1"/>
              <a:t>i</a:t>
            </a:r>
            <a:r>
              <a:rPr lang="en-US" altLang="zh-TW" dirty="0"/>
              <a:t> = 0  , k = 3</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237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23733"/>
                <a:ext cx="5211042" cy="986296"/>
              </a:xfrm>
              <a:prstGeom prst="rect">
                <a:avLst/>
              </a:prstGeom>
              <a:blipFill rotWithShape="0">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2935422093"/>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 </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extLst>
              <p:ext uri="{D42A27DB-BD31-4B8C-83A1-F6EECF244321}">
                <p14:modId xmlns:p14="http://schemas.microsoft.com/office/powerpoint/2010/main" val="1914098646"/>
              </p:ext>
            </p:extLst>
          </p:nvPr>
        </p:nvGraphicFramePr>
        <p:xfrm>
          <a:off x="2063288" y="287886"/>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5"/>
          <a:ext cx="1131016" cy="365760"/>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238092">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813166507"/>
                  </p:ext>
                </p:extLst>
              </p:nvPr>
            </p:nvGraphicFramePr>
            <p:xfrm>
              <a:off x="34831" y="444384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813166507"/>
                  </p:ext>
                </p:extLst>
              </p:nvPr>
            </p:nvGraphicFramePr>
            <p:xfrm>
              <a:off x="34831" y="444384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3527578101"/>
                  </p:ext>
                </p:extLst>
              </p:nvPr>
            </p:nvGraphicFramePr>
            <p:xfrm>
              <a:off x="34831" y="54294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3527578101"/>
                  </p:ext>
                </p:extLst>
              </p:nvPr>
            </p:nvGraphicFramePr>
            <p:xfrm>
              <a:off x="34831" y="54294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1226433664"/>
                  </p:ext>
                </p:extLst>
              </p:nvPr>
            </p:nvGraphicFramePr>
            <p:xfrm>
              <a:off x="34831" y="3053283"/>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1226433664"/>
                  </p:ext>
                </p:extLst>
              </p:nvPr>
            </p:nvGraphicFramePr>
            <p:xfrm>
              <a:off x="34831" y="3053283"/>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endParaRPr lang="zh-TW"/>
                        </a:p>
                      </a:txBody>
                      <a:tcPr>
                        <a:blipFill>
                          <a:blip r:embed="rId5"/>
                          <a:stretch>
                            <a:fillRect l="-1190" t="-115152"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4034384359"/>
                  </p:ext>
                </p:extLst>
              </p:nvPr>
            </p:nvGraphicFramePr>
            <p:xfrm>
              <a:off x="2863375" y="444384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4034384359"/>
                  </p:ext>
                </p:extLst>
              </p:nvPr>
            </p:nvGraphicFramePr>
            <p:xfrm>
              <a:off x="2863375" y="444384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17</a:t>
            </a:fld>
            <a:endParaRPr lang="zh-TW" altLang="en-US"/>
          </a:p>
        </p:txBody>
      </p:sp>
      <mc:AlternateContent xmlns:mc="http://schemas.openxmlformats.org/markup-compatibility/2006" xmlns:a14="http://schemas.microsoft.com/office/drawing/2010/main">
        <mc:Choice Requires="a14">
          <p:sp>
            <p:nvSpPr>
              <p:cNvPr id="40" name="文字方塊 39"/>
              <p:cNvSpPr txBox="1"/>
              <p:nvPr/>
            </p:nvSpPr>
            <p:spPr>
              <a:xfrm>
                <a:off x="5702301" y="5510642"/>
                <a:ext cx="3441699" cy="391582"/>
              </a:xfrm>
              <a:prstGeom prst="rect">
                <a:avLst/>
              </a:prstGeom>
              <a:noFill/>
            </p:spPr>
            <p:txBody>
              <a:bodyPr wrap="square" rtlCol="0">
                <a:spAutoFit/>
              </a:bodyPr>
              <a:lstStyle/>
              <a:p>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zh-TW" altLang="en-US"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5702301" y="5510642"/>
                <a:ext cx="3441699" cy="391582"/>
              </a:xfrm>
              <a:prstGeom prst="rect">
                <a:avLst/>
              </a:prstGeom>
              <a:blipFill rotWithShape="0">
                <a:blip r:embed="rId7"/>
                <a:stretch>
                  <a:fillRect t="-4688" b="-2343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018398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196532880"/>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573782" y="2525100"/>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932162" y="3671598"/>
            <a:ext cx="1234633" cy="369332"/>
          </a:xfrm>
          <a:prstGeom prst="rect">
            <a:avLst/>
          </a:prstGeom>
          <a:noFill/>
        </p:spPr>
        <p:txBody>
          <a:bodyPr wrap="none" rtlCol="0">
            <a:spAutoFit/>
          </a:bodyPr>
          <a:lstStyle/>
          <a:p>
            <a:r>
              <a:rPr lang="en-US" altLang="zh-TW" dirty="0" err="1"/>
              <a:t>i</a:t>
            </a:r>
            <a:r>
              <a:rPr lang="en-US" altLang="zh-TW" dirty="0"/>
              <a:t> = 0  , k = 4</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4123085" y="29745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a:t>
                </a:r>
                <a:r>
                  <a:rPr lang="en-US" altLang="zh-TW" dirty="0">
                    <a:solidFill>
                      <a:srgbClr val="FF0000"/>
                    </a:solidFill>
                  </a:rPr>
                  <a:t>(2, 4) </a:t>
                </a:r>
                <a:r>
                  <a:rPr lang="en-US" altLang="zh-TW" dirty="0"/>
                  <a:t>,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4123085" y="2974533"/>
                <a:ext cx="5211042" cy="986296"/>
              </a:xfrm>
              <a:prstGeom prst="rect">
                <a:avLst/>
              </a:prstGeom>
              <a:blipFill rotWithShape="0">
                <a:blip r:embed="rId2"/>
                <a:stretch>
                  <a:fillRect t="-1852"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241219593"/>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 </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070244933"/>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5"/>
          <a:ext cx="1131016" cy="365760"/>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344346">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4229989705"/>
                  </p:ext>
                </p:extLst>
              </p:nvPr>
            </p:nvGraphicFramePr>
            <p:xfrm>
              <a:off x="224958" y="449464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4229989705"/>
                  </p:ext>
                </p:extLst>
              </p:nvPr>
            </p:nvGraphicFramePr>
            <p:xfrm>
              <a:off x="224958" y="449464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576" r="-40357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1271205137"/>
                  </p:ext>
                </p:extLst>
              </p:nvPr>
            </p:nvGraphicFramePr>
            <p:xfrm>
              <a:off x="224958" y="54802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1271205137"/>
                  </p:ext>
                </p:extLst>
              </p:nvPr>
            </p:nvGraphicFramePr>
            <p:xfrm>
              <a:off x="224958" y="54802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357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2431368477"/>
                  </p:ext>
                </p:extLst>
              </p:nvPr>
            </p:nvGraphicFramePr>
            <p:xfrm>
              <a:off x="224958" y="3104083"/>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2431368477"/>
                  </p:ext>
                </p:extLst>
              </p:nvPr>
            </p:nvGraphicFramePr>
            <p:xfrm>
              <a:off x="224958" y="3104083"/>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endParaRPr lang="zh-TW"/>
                        </a:p>
                      </a:txBody>
                      <a:tcPr>
                        <a:blipFill>
                          <a:blip r:embed="rId5"/>
                          <a:stretch>
                            <a:fillRect l="-1190" t="-113636" r="-40357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988124534"/>
                  </p:ext>
                </p:extLst>
              </p:nvPr>
            </p:nvGraphicFramePr>
            <p:xfrm>
              <a:off x="224958" y="604500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988124534"/>
                  </p:ext>
                </p:extLst>
              </p:nvPr>
            </p:nvGraphicFramePr>
            <p:xfrm>
              <a:off x="224958" y="604500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357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3175045907"/>
                  </p:ext>
                </p:extLst>
              </p:nvPr>
            </p:nvGraphicFramePr>
            <p:xfrm>
              <a:off x="3041310" y="449464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rgbClr val="FF0000"/>
                              </a:solidFill>
                            </a:rPr>
                            <a:t>2</a:t>
                          </a:r>
                          <a:endParaRPr lang="zh-TW" altLang="en-US" dirty="0">
                            <a:solidFill>
                              <a:srgbClr val="FF0000"/>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3175045907"/>
                  </p:ext>
                </p:extLst>
              </p:nvPr>
            </p:nvGraphicFramePr>
            <p:xfrm>
              <a:off x="3041310" y="449464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7"/>
                          <a:stretch>
                            <a:fillRect l="-1190" t="-7576" r="-40357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rgbClr val="FF0000"/>
                              </a:solidFill>
                            </a:rPr>
                            <a:t>2</a:t>
                          </a:r>
                          <a:endParaRPr lang="zh-TW" altLang="en-US" dirty="0">
                            <a:solidFill>
                              <a:srgbClr val="FF0000"/>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18</a:t>
            </a:fld>
            <a:endParaRPr lang="zh-TW" altLang="en-US"/>
          </a:p>
        </p:txBody>
      </p:sp>
      <mc:AlternateContent xmlns:mc="http://schemas.openxmlformats.org/markup-compatibility/2006" xmlns:a14="http://schemas.microsoft.com/office/drawing/2010/main">
        <mc:Choice Requires="a14">
          <p:sp>
            <p:nvSpPr>
              <p:cNvPr id="41" name="文字方塊 40"/>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3</m:t>
                        </m:r>
                      </m:sup>
                    </m:sSubSup>
                  </m:oMath>
                </a14:m>
                <a:r>
                  <a:rPr lang="en-US" altLang="zh-TW" dirty="0"/>
                  <a:t> , 2) + 1</a:t>
                </a:r>
                <a:endParaRPr lang="zh-TW" altLang="en-US"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8"/>
                <a:stretch>
                  <a:fillRect t="-1829" b="-67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131350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530456080"/>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361314"/>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507812"/>
            <a:ext cx="1234633" cy="369332"/>
          </a:xfrm>
          <a:prstGeom prst="rect">
            <a:avLst/>
          </a:prstGeom>
          <a:noFill/>
        </p:spPr>
        <p:txBody>
          <a:bodyPr wrap="none" rtlCol="0">
            <a:spAutoFit/>
          </a:bodyPr>
          <a:lstStyle/>
          <a:p>
            <a:r>
              <a:rPr lang="en-US" altLang="zh-TW" dirty="0" err="1"/>
              <a:t>i</a:t>
            </a:r>
            <a:r>
              <a:rPr lang="en-US" altLang="zh-TW" dirty="0"/>
              <a:t> = 0  , k = 5</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10747"/>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a:t>
                </a:r>
                <a:r>
                  <a:rPr lang="en-US" altLang="zh-TW" dirty="0">
                    <a:solidFill>
                      <a:srgbClr val="FF0000"/>
                    </a:solidFill>
                  </a:rPr>
                  <a:t>(1, 5) </a:t>
                </a:r>
                <a:r>
                  <a:rPr lang="en-US" altLang="zh-TW" dirty="0"/>
                  <a:t>, (2, 1) ,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10747"/>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2923275779"/>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 </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9490827"/>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2596792733"/>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solidFill>
                      <a:schemeClr val="accent2"/>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5"/>
          <a:ext cx="1131016" cy="365760"/>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344346">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659825837"/>
                  </p:ext>
                </p:extLst>
              </p:nvPr>
            </p:nvGraphicFramePr>
            <p:xfrm>
              <a:off x="34831"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659825837"/>
                  </p:ext>
                </p:extLst>
              </p:nvPr>
            </p:nvGraphicFramePr>
            <p:xfrm>
              <a:off x="34831"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442274166"/>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442274166"/>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3884097109"/>
                  </p:ext>
                </p:extLst>
              </p:nvPr>
            </p:nvGraphicFramePr>
            <p:xfrm>
              <a:off x="34831" y="2940297"/>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3884097109"/>
                  </p:ext>
                </p:extLst>
              </p:nvPr>
            </p:nvGraphicFramePr>
            <p:xfrm>
              <a:off x="34831" y="2940297"/>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endParaRPr lang="zh-TW"/>
                        </a:p>
                      </a:txBody>
                      <a:tcPr>
                        <a:blipFill>
                          <a:blip r:embed="rId5"/>
                          <a:stretch>
                            <a:fillRect l="-1190" t="-11363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921206875"/>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921206875"/>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505105121"/>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505105121"/>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7"/>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3690257531"/>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rgbClr val="FF0000"/>
                              </a:solidFill>
                            </a:rPr>
                            <a:t>1</a:t>
                          </a:r>
                          <a:endParaRPr lang="zh-TW" altLang="en-US" dirty="0">
                            <a:solidFill>
                              <a:srgbClr val="FF0000"/>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690257531"/>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19</a:t>
            </a:fld>
            <a:endParaRPr lang="zh-TW" altLang="en-US"/>
          </a:p>
        </p:txBody>
      </p:sp>
      <mc:AlternateContent xmlns:mc="http://schemas.openxmlformats.org/markup-compatibility/2006" xmlns:a14="http://schemas.microsoft.com/office/drawing/2010/main">
        <mc:Choice Requires="a14">
          <p:sp>
            <p:nvSpPr>
              <p:cNvPr id="43" name="文字方塊 42"/>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4</m:t>
                        </m:r>
                      </m:sup>
                    </m:sSubSup>
                  </m:oMath>
                </a14:m>
                <a:r>
                  <a:rPr lang="en-US" altLang="zh-TW" dirty="0"/>
                  <a:t> , 1) + 1</a:t>
                </a:r>
                <a:endParaRPr lang="zh-TW" altLang="en-US"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9"/>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76377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682400909"/>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361314"/>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507812"/>
            <a:ext cx="1234633" cy="369332"/>
          </a:xfrm>
          <a:prstGeom prst="rect">
            <a:avLst/>
          </a:prstGeom>
          <a:noFill/>
        </p:spPr>
        <p:txBody>
          <a:bodyPr wrap="none" rtlCol="0">
            <a:spAutoFit/>
          </a:bodyPr>
          <a:lstStyle/>
          <a:p>
            <a:r>
              <a:rPr lang="en-US" altLang="zh-TW" dirty="0" err="1"/>
              <a:t>i</a:t>
            </a:r>
            <a:r>
              <a:rPr lang="en-US" altLang="zh-TW" dirty="0"/>
              <a:t> = 0  , k = 6</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10747"/>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(2, 4) , </a:t>
                </a:r>
                <a:r>
                  <a:rPr lang="en-US" altLang="zh-TW" dirty="0">
                    <a:solidFill>
                      <a:srgbClr val="FF0000"/>
                    </a:solidFill>
                  </a:rPr>
                  <a:t>(3, 6) </a:t>
                </a:r>
                <a:r>
                  <a:rPr lang="en-US" altLang="zh-TW" dirty="0"/>
                  <a:t>}</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10747"/>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2817287891"/>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315712612"/>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598510547"/>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950996456"/>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solidFill>
                          <a:srgbClr val="FF0000"/>
                        </a:solidFill>
                      </a:endParaRPr>
                    </a:p>
                  </a:txBody>
                  <a:tcPr>
                    <a:solidFill>
                      <a:schemeClr val="accent2"/>
                    </a:solidFill>
                  </a:tcPr>
                </a:tc>
                <a:tc>
                  <a:txBody>
                    <a:bodyPr/>
                    <a:lstStyle/>
                    <a:p>
                      <a:endParaRPr lang="zh-TW" altLang="en-US" dirty="0">
                        <a:solidFill>
                          <a:srgbClr val="FF0000"/>
                        </a:solidFill>
                      </a:endParaRPr>
                    </a:p>
                  </a:txBody>
                  <a:tcPr>
                    <a:solidFill>
                      <a:schemeClr val="accent2"/>
                    </a:solidFill>
                  </a:tcPr>
                </a:tc>
                <a:tc>
                  <a:txBody>
                    <a:bodyPr/>
                    <a:lstStyle/>
                    <a:p>
                      <a:endParaRPr lang="zh-TW" altLang="en-US" dirty="0">
                        <a:solidFill>
                          <a:srgbClr val="FF0000"/>
                        </a:solidFill>
                      </a:endParaRPr>
                    </a:p>
                  </a:txBody>
                  <a:tcPr>
                    <a:solidFill>
                      <a:schemeClr val="accent2"/>
                    </a:solidFill>
                  </a:tcPr>
                </a:tc>
                <a:tc>
                  <a:txBody>
                    <a:bodyPr/>
                    <a:lstStyle/>
                    <a:p>
                      <a:r>
                        <a:rPr lang="en-US" altLang="zh-TW" dirty="0">
                          <a:solidFill>
                            <a:schemeClr val="tx1"/>
                          </a:solidFill>
                        </a:rPr>
                        <a:t>3</a:t>
                      </a:r>
                      <a:endParaRPr lang="zh-TW" altLang="en-US" dirty="0">
                        <a:solidFill>
                          <a:schemeClr val="tx1"/>
                        </a:solidFill>
                      </a:endParaRPr>
                    </a:p>
                  </a:txBody>
                  <a:tcPr>
                    <a:solidFill>
                      <a:schemeClr val="accent2"/>
                    </a:solidFill>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5"/>
          <a:ext cx="1131016" cy="365760"/>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286860">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3336270597"/>
                  </p:ext>
                </p:extLst>
              </p:nvPr>
            </p:nvGraphicFramePr>
            <p:xfrm>
              <a:off x="34831"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3336270597"/>
                  </p:ext>
                </p:extLst>
              </p:nvPr>
            </p:nvGraphicFramePr>
            <p:xfrm>
              <a:off x="34831"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4047013027"/>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4047013027"/>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616246053"/>
                  </p:ext>
                </p:extLst>
              </p:nvPr>
            </p:nvGraphicFramePr>
            <p:xfrm>
              <a:off x="34831" y="2940297"/>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616246053"/>
                  </p:ext>
                </p:extLst>
              </p:nvPr>
            </p:nvGraphicFramePr>
            <p:xfrm>
              <a:off x="34831" y="2940297"/>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endParaRPr lang="zh-TW"/>
                        </a:p>
                      </a:txBody>
                      <a:tcPr>
                        <a:blipFill>
                          <a:blip r:embed="rId5"/>
                          <a:stretch>
                            <a:fillRect l="-1190" t="-11363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876094925"/>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876094925"/>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673577792"/>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673577792"/>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7"/>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1869595193"/>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1869595193"/>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356952885"/>
                  </p:ext>
                </p:extLst>
              </p:nvPr>
            </p:nvGraphicFramePr>
            <p:xfrm>
              <a:off x="2742035" y="500713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356952885"/>
                  </p:ext>
                </p:extLst>
              </p:nvPr>
            </p:nvGraphicFramePr>
            <p:xfrm>
              <a:off x="2742035" y="500713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20</a:t>
            </a:fld>
            <a:endParaRPr lang="zh-TW" altLang="en-US"/>
          </a:p>
        </p:txBody>
      </p:sp>
      <mc:AlternateContent xmlns:mc="http://schemas.openxmlformats.org/markup-compatibility/2006" xmlns:a14="http://schemas.microsoft.com/office/drawing/2010/main">
        <mc:Choice Requires="a14">
          <p:sp>
            <p:nvSpPr>
              <p:cNvPr id="44" name="文字方塊 43"/>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5</m:t>
                        </m:r>
                      </m:sup>
                    </m:sSubSup>
                  </m:oMath>
                </a14:m>
                <a:r>
                  <a:rPr lang="en-US" altLang="zh-TW" dirty="0"/>
                  <a:t> , 3) + 1</a:t>
                </a:r>
                <a:endParaRPr lang="zh-TW" altLang="en-US"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0"/>
                <a:stretch>
                  <a:fillRect t="-1829" b="-6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FFF88FA5-D3B7-085F-30A8-D39CC7C4C5CA}"/>
                  </a:ext>
                </a:extLst>
              </p:cNvPr>
              <p:cNvGraphicFramePr>
                <a:graphicFrameLocks noGrp="1"/>
              </p:cNvGraphicFramePr>
              <p:nvPr>
                <p:extLst>
                  <p:ext uri="{D42A27DB-BD31-4B8C-83A1-F6EECF244321}">
                    <p14:modId xmlns:p14="http://schemas.microsoft.com/office/powerpoint/2010/main" val="1935938748"/>
                  </p:ext>
                </p:extLst>
              </p:nvPr>
            </p:nvGraphicFramePr>
            <p:xfrm>
              <a:off x="2744838" y="500713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rgbClr val="FF0000"/>
                              </a:solidFill>
                            </a:rPr>
                            <a:t>3</a:t>
                          </a:r>
                          <a:endParaRPr lang="zh-TW" altLang="en-US" dirty="0">
                            <a:solidFill>
                              <a:srgbClr val="FF0000"/>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6" name="表格 5">
                <a:extLst>
                  <a:ext uri="{FF2B5EF4-FFF2-40B4-BE49-F238E27FC236}">
                    <a16:creationId xmlns:a16="http://schemas.microsoft.com/office/drawing/2014/main" id="{FFF88FA5-D3B7-085F-30A8-D39CC7C4C5CA}"/>
                  </a:ext>
                </a:extLst>
              </p:cNvPr>
              <p:cNvGraphicFramePr>
                <a:graphicFrameLocks noGrp="1"/>
              </p:cNvGraphicFramePr>
              <p:nvPr>
                <p:extLst>
                  <p:ext uri="{D42A27DB-BD31-4B8C-83A1-F6EECF244321}">
                    <p14:modId xmlns:p14="http://schemas.microsoft.com/office/powerpoint/2010/main" val="1935938748"/>
                  </p:ext>
                </p:extLst>
              </p:nvPr>
            </p:nvGraphicFramePr>
            <p:xfrm>
              <a:off x="2744838" y="500713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1"/>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rgbClr val="FF0000"/>
                              </a:solidFill>
                            </a:rPr>
                            <a:t>3</a:t>
                          </a:r>
                          <a:endParaRPr lang="zh-TW" altLang="en-US" dirty="0">
                            <a:solidFill>
                              <a:srgbClr val="FF0000"/>
                            </a:solidFill>
                          </a:endParaRP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317544001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79639854"/>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r>
                        <a:rPr lang="en-US" altLang="zh-TW" dirty="0"/>
                        <a:t>1</a:t>
                      </a:r>
                      <a:endParaRPr lang="zh-TW" altLang="en-US" dirty="0"/>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361314"/>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507812"/>
            <a:ext cx="1234633" cy="369332"/>
          </a:xfrm>
          <a:prstGeom prst="rect">
            <a:avLst/>
          </a:prstGeom>
          <a:noFill/>
        </p:spPr>
        <p:txBody>
          <a:bodyPr wrap="none" rtlCol="0">
            <a:spAutoFit/>
          </a:bodyPr>
          <a:lstStyle/>
          <a:p>
            <a:r>
              <a:rPr lang="en-US" altLang="zh-TW" dirty="0" err="1"/>
              <a:t>i</a:t>
            </a:r>
            <a:r>
              <a:rPr lang="en-US" altLang="zh-TW" dirty="0"/>
              <a:t> = 1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10747"/>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a:t>
                </a:r>
                <a:r>
                  <a:rPr lang="en-US" altLang="zh-TW" dirty="0">
                    <a:solidFill>
                      <a:srgbClr val="FF0000"/>
                    </a:solidFill>
                  </a:rPr>
                  <a:t>(2, 1) </a:t>
                </a:r>
                <a:r>
                  <a:rPr lang="en-US" altLang="zh-TW" dirty="0"/>
                  <a:t>,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10747"/>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1041193532"/>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 </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015028338"/>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3753257392"/>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1017824670"/>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614159658"/>
                  </p:ext>
                </p:extLst>
              </p:nvPr>
            </p:nvGraphicFramePr>
            <p:xfrm>
              <a:off x="34831"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614159658"/>
                  </p:ext>
                </p:extLst>
              </p:nvPr>
            </p:nvGraphicFramePr>
            <p:xfrm>
              <a:off x="34831"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421920704"/>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421920704"/>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3103124381"/>
                  </p:ext>
                </p:extLst>
              </p:nvPr>
            </p:nvGraphicFramePr>
            <p:xfrm>
              <a:off x="34831" y="2940297"/>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3103124381"/>
                  </p:ext>
                </p:extLst>
              </p:nvPr>
            </p:nvGraphicFramePr>
            <p:xfrm>
              <a:off x="34831" y="2940297"/>
              <a:ext cx="2554465" cy="825089"/>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425449">
                    <a:tc>
                      <a:txBody>
                        <a:bodyPr/>
                        <a:lstStyle/>
                        <a:p>
                          <a:pPr algn="ct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endParaRPr lang="zh-TW"/>
                        </a:p>
                      </a:txBody>
                      <a:tcPr>
                        <a:blipFill>
                          <a:blip r:embed="rId5"/>
                          <a:stretch>
                            <a:fillRect l="-1190" t="-11363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4116037096"/>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4116037096"/>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3347654687"/>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3347654687"/>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7"/>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2773926732"/>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2773926732"/>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1488186966"/>
                  </p:ext>
                </p:extLst>
              </p:nvPr>
            </p:nvGraphicFramePr>
            <p:xfrm>
              <a:off x="2742035" y="480731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1488186966"/>
                  </p:ext>
                </p:extLst>
              </p:nvPr>
            </p:nvGraphicFramePr>
            <p:xfrm>
              <a:off x="2742035" y="480731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2609818657"/>
                  </p:ext>
                </p:extLst>
              </p:nvPr>
            </p:nvGraphicFramePr>
            <p:xfrm>
              <a:off x="2742035" y="542300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rgbClr val="FF0000"/>
                              </a:solidFill>
                            </a:rPr>
                            <a:t>1</a:t>
                          </a:r>
                          <a:endParaRPr lang="zh-TW" altLang="en-US" dirty="0">
                            <a:solidFill>
                              <a:srgbClr val="FF0000"/>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2609818657"/>
                  </p:ext>
                </p:extLst>
              </p:nvPr>
            </p:nvGraphicFramePr>
            <p:xfrm>
              <a:off x="2742035" y="5423007"/>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21</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0</m:t>
                        </m:r>
                      </m:sup>
                    </m:sSubSup>
                  </m:oMath>
                </a14:m>
                <a:r>
                  <a:rPr lang="en-US" altLang="zh-TW" dirty="0"/>
                  <a:t> , 2)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51509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919443953"/>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385400"/>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531898"/>
            <a:ext cx="1234633" cy="369332"/>
          </a:xfrm>
          <a:prstGeom prst="rect">
            <a:avLst/>
          </a:prstGeom>
          <a:noFill/>
        </p:spPr>
        <p:txBody>
          <a:bodyPr wrap="none" rtlCol="0">
            <a:spAutoFit/>
          </a:bodyPr>
          <a:lstStyle/>
          <a:p>
            <a:r>
              <a:rPr lang="en-US" altLang="zh-TW" dirty="0" err="1"/>
              <a:t>i</a:t>
            </a:r>
            <a:r>
              <a:rPr lang="en-US" altLang="zh-TW" dirty="0"/>
              <a:t> = 1  , k = 2</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348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a:t>
                </a:r>
                <a:r>
                  <a:rPr lang="en-US" altLang="zh-TW" dirty="0">
                    <a:solidFill>
                      <a:srgbClr val="FF0000"/>
                    </a:solidFill>
                  </a:rPr>
                  <a:t>(1, 2) </a:t>
                </a:r>
                <a:r>
                  <a:rPr lang="en-US" altLang="zh-TW" dirty="0"/>
                  <a:t>, (1, 5) ,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34833"/>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4057606220"/>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 </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solidFill>
                      <a:schemeClr val="accent2"/>
                    </a:solidFill>
                  </a:tcPr>
                </a:tc>
                <a:tc>
                  <a:txBody>
                    <a:bodyPr/>
                    <a:lstStyle/>
                    <a:p>
                      <a:r>
                        <a:rPr lang="en-US" altLang="zh-TW" dirty="0"/>
                        <a:t>1</a:t>
                      </a:r>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208573066"/>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3034190852"/>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3847083278"/>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3013144968"/>
                  </p:ext>
                </p:extLst>
              </p:nvPr>
            </p:nvGraphicFramePr>
            <p:xfrm>
              <a:off x="34831" y="4050142"/>
              <a:ext cx="2554465" cy="119892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2"/>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3013144968"/>
                  </p:ext>
                </p:extLst>
              </p:nvPr>
            </p:nvGraphicFramePr>
            <p:xfrm>
              <a:off x="34831" y="4050142"/>
              <a:ext cx="2554465" cy="119892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2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2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1358591080"/>
                  </p:ext>
                </p:extLst>
              </p:nvPr>
            </p:nvGraphicFramePr>
            <p:xfrm>
              <a:off x="34831" y="542586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1358591080"/>
                  </p:ext>
                </p:extLst>
              </p:nvPr>
            </p:nvGraphicFramePr>
            <p:xfrm>
              <a:off x="34831" y="542586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664916849"/>
                  </p:ext>
                </p:extLst>
              </p:nvPr>
            </p:nvGraphicFramePr>
            <p:xfrm>
              <a:off x="34831" y="589819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664916849"/>
                  </p:ext>
                </p:extLst>
              </p:nvPr>
            </p:nvGraphicFramePr>
            <p:xfrm>
              <a:off x="34831" y="589819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746241808"/>
                  </p:ext>
                </p:extLst>
              </p:nvPr>
            </p:nvGraphicFramePr>
            <p:xfrm>
              <a:off x="34831" y="634842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746241808"/>
                  </p:ext>
                </p:extLst>
              </p:nvPr>
            </p:nvGraphicFramePr>
            <p:xfrm>
              <a:off x="34831" y="634842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2863774481"/>
                  </p:ext>
                </p:extLst>
              </p:nvPr>
            </p:nvGraphicFramePr>
            <p:xfrm>
              <a:off x="2742035" y="415512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2863774481"/>
                  </p:ext>
                </p:extLst>
              </p:nvPr>
            </p:nvGraphicFramePr>
            <p:xfrm>
              <a:off x="2742035" y="41551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4228068748"/>
                  </p:ext>
                </p:extLst>
              </p:nvPr>
            </p:nvGraphicFramePr>
            <p:xfrm>
              <a:off x="2742035" y="463157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4228068748"/>
                  </p:ext>
                </p:extLst>
              </p:nvPr>
            </p:nvGraphicFramePr>
            <p:xfrm>
              <a:off x="2742035" y="463157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4128251505"/>
                  </p:ext>
                </p:extLst>
              </p:nvPr>
            </p:nvGraphicFramePr>
            <p:xfrm>
              <a:off x="2742035" y="561778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rgbClr val="FF0000"/>
                              </a:solidFill>
                            </a:rPr>
                            <a:t>1</a:t>
                          </a:r>
                          <a:endParaRPr lang="zh-TW" altLang="en-US" dirty="0">
                            <a:solidFill>
                              <a:srgbClr val="FF0000"/>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4128251505"/>
                  </p:ext>
                </p:extLst>
              </p:nvPr>
            </p:nvGraphicFramePr>
            <p:xfrm>
              <a:off x="2742035" y="561778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22</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1</m:t>
                        </m:r>
                      </m:sup>
                    </m:sSubSup>
                  </m:oMath>
                </a14:m>
                <a:r>
                  <a:rPr lang="en-US" altLang="zh-TW" dirty="0"/>
                  <a:t> , 1)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215286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05511233"/>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614404"/>
            <a:ext cx="1234633" cy="369332"/>
          </a:xfrm>
          <a:prstGeom prst="rect">
            <a:avLst/>
          </a:prstGeom>
          <a:noFill/>
        </p:spPr>
        <p:txBody>
          <a:bodyPr wrap="none" rtlCol="0">
            <a:spAutoFit/>
          </a:bodyPr>
          <a:lstStyle/>
          <a:p>
            <a:r>
              <a:rPr lang="en-US" altLang="zh-TW" dirty="0" err="1"/>
              <a:t>i</a:t>
            </a:r>
            <a:r>
              <a:rPr lang="en-US" altLang="zh-TW" dirty="0"/>
              <a:t> = 1  , k = 3</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7339"/>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a:t>
                </a:r>
                <a:r>
                  <a:rPr lang="en-US" altLang="zh-TW" dirty="0">
                    <a:solidFill>
                      <a:srgbClr val="FF0000"/>
                    </a:solidFill>
                  </a:rPr>
                  <a:t>(1, 3) </a:t>
                </a:r>
                <a:r>
                  <a:rPr lang="en-US" altLang="zh-TW" dirty="0"/>
                  <a:t>,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7339"/>
                <a:ext cx="5211042" cy="986296"/>
              </a:xfrm>
              <a:prstGeom prst="rect">
                <a:avLst/>
              </a:prstGeom>
              <a:blipFill rotWithShape="0">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433506781"/>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46599255"/>
              </p:ext>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r>
                        <a:rPr lang="en-US" altLang="zh-TW" dirty="0"/>
                        <a:t>1</a:t>
                      </a:r>
                      <a:endParaRPr lang="zh-TW" altLang="en-US" dirty="0"/>
                    </a:p>
                  </a:txBody>
                  <a:tcPr>
                    <a:solidFill>
                      <a:schemeClr val="accent2"/>
                    </a:solidFill>
                  </a:tcPr>
                </a:tc>
                <a:tc>
                  <a:txBody>
                    <a:bodyPr/>
                    <a:lstStyle/>
                    <a:p>
                      <a:r>
                        <a:rPr lang="en-US" altLang="zh-TW" dirty="0"/>
                        <a:t>2</a:t>
                      </a:r>
                      <a:endParaRPr lang="zh-TW" altLang="en-US" dirty="0"/>
                    </a:p>
                  </a:txBody>
                  <a:tcPr>
                    <a:solidFill>
                      <a:schemeClr val="accent2"/>
                    </a:solidFill>
                  </a:tcPr>
                </a:tc>
                <a:tc>
                  <a:txBody>
                    <a:bodyPr/>
                    <a:lstStyle/>
                    <a:p>
                      <a:r>
                        <a:rPr lang="en-US" altLang="zh-TW" dirty="0"/>
                        <a:t>2</a:t>
                      </a:r>
                      <a:endParaRPr lang="zh-TW" altLang="en-US" dirty="0"/>
                    </a:p>
                  </a:txBody>
                  <a:tcPr>
                    <a:solidFill>
                      <a:schemeClr val="accent2"/>
                    </a:solidFill>
                  </a:tcPr>
                </a:tc>
                <a:tc>
                  <a:txBody>
                    <a:bodyPr/>
                    <a:lstStyle/>
                    <a:p>
                      <a:r>
                        <a:rPr lang="en-US" altLang="zh-TW" dirty="0"/>
                        <a:t>2</a:t>
                      </a:r>
                      <a:endParaRPr lang="zh-TW" altLang="en-US" dirty="0"/>
                    </a:p>
                  </a:txBody>
                  <a:tcPr>
                    <a:solidFill>
                      <a:schemeClr val="accent2"/>
                    </a:solid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714292702"/>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326484106"/>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2505108910"/>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509075233"/>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509075233"/>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245915130"/>
                  </p:ext>
                </p:extLst>
              </p:nvPr>
            </p:nvGraphicFramePr>
            <p:xfrm>
              <a:off x="34831" y="5086408"/>
              <a:ext cx="2554465" cy="79928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245915130"/>
                  </p:ext>
                </p:extLst>
              </p:nvPr>
            </p:nvGraphicFramePr>
            <p:xfrm>
              <a:off x="34831" y="5086408"/>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4"/>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086290750"/>
                  </p:ext>
                </p:extLst>
              </p:nvPr>
            </p:nvGraphicFramePr>
            <p:xfrm>
              <a:off x="34831" y="59705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086290750"/>
                  </p:ext>
                </p:extLst>
              </p:nvPr>
            </p:nvGraphicFramePr>
            <p:xfrm>
              <a:off x="34831" y="59705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259555493"/>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259555493"/>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3932696001"/>
                  </p:ext>
                </p:extLst>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932696001"/>
                  </p:ext>
                </p:extLst>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2352534140"/>
                  </p:ext>
                </p:extLst>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2352534140"/>
                  </p:ext>
                </p:extLst>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1601362089"/>
                  </p:ext>
                </p:extLst>
              </p:nvPr>
            </p:nvGraphicFramePr>
            <p:xfrm>
              <a:off x="2742035" y="5358911"/>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b="0" i="1" smtClean="0">
                                        <a:latin typeface="Cambria Math" panose="02040503050406030204" pitchFamily="18" charset="0"/>
                                      </a:rPr>
                                      <m:t>𝐻</m:t>
                                    </m:r>
                                  </m:e>
                                  <m:sub>
                                    <m:r>
                                      <a:rPr lang="en-US" altLang="zh-TW" sz="1400" b="0" i="1" smtClean="0">
                                        <a:latin typeface="Cambria Math" panose="02040503050406030204" pitchFamily="18" charset="0"/>
                                      </a:rPr>
                                      <m:t>1</m:t>
                                    </m:r>
                                  </m:sub>
                                  <m:sup>
                                    <m:r>
                                      <a:rPr lang="en-US" altLang="zh-TW" sz="1400" b="0" i="1" smtClean="0">
                                        <a:latin typeface="Cambria Math" panose="02040503050406030204" pitchFamily="18" charset="0"/>
                                      </a:rPr>
                                      <m:t>3</m:t>
                                    </m:r>
                                  </m:sup>
                                </m:sSubSup>
                              </m:oMath>
                            </m:oMathPara>
                          </a14:m>
                          <a:endParaRPr lang="zh-TW" altLang="en-US" dirty="0"/>
                        </a:p>
                      </a:txBody>
                      <a:tcPr/>
                    </a:tc>
                    <a:tc>
                      <a:txBody>
                        <a:bodyPr/>
                        <a:lstStyle/>
                        <a:p>
                          <a:pPr algn="ctr"/>
                          <a:r>
                            <a:rPr lang="en-US" altLang="zh-TW" dirty="0">
                              <a:solidFill>
                                <a:srgbClr val="FF0000"/>
                              </a:solidFill>
                            </a:rPr>
                            <a:t>1</a:t>
                          </a:r>
                          <a:endParaRPr lang="zh-TW" altLang="en-US" dirty="0">
                            <a:solidFill>
                              <a:srgbClr val="FF0000"/>
                            </a:solidFill>
                          </a:endParaRPr>
                        </a:p>
                      </a:txBody>
                      <a:tcPr/>
                    </a:tc>
                    <a:tc>
                      <a:txBody>
                        <a:bodyPr/>
                        <a:lstStyle/>
                        <a:p>
                          <a:pPr algn="ctr"/>
                          <a:r>
                            <a:rPr lang="en-US" altLang="zh-TW" dirty="0">
                              <a:solidFill>
                                <a:srgbClr val="FF0000"/>
                              </a:solidFill>
                            </a:rPr>
                            <a:t>2</a:t>
                          </a:r>
                          <a:endParaRPr lang="zh-TW" altLang="en-US" dirty="0">
                            <a:solidFill>
                              <a:srgbClr val="FF0000"/>
                            </a:solidFill>
                          </a:endParaRPr>
                        </a:p>
                      </a:txBody>
                      <a:tcPr/>
                    </a:tc>
                    <a:tc>
                      <a:txBody>
                        <a:bodyPr/>
                        <a:lstStyle/>
                        <a:p>
                          <a:pPr algn="ctr"/>
                          <a:r>
                            <a:rPr lang="en-US" altLang="zh-TW" dirty="0">
                              <a:solidFill>
                                <a:srgbClr val="FF0000"/>
                              </a:solidFill>
                            </a:rPr>
                            <a:t>2</a:t>
                          </a:r>
                          <a:endParaRPr lang="zh-TW" altLang="en-US" dirty="0">
                            <a:solidFill>
                              <a:srgbClr val="FF0000"/>
                            </a:solidFill>
                          </a:endParaRPr>
                        </a:p>
                      </a:txBody>
                      <a:tcPr/>
                    </a:tc>
                    <a:tc>
                      <a:txBody>
                        <a:bodyPr/>
                        <a:lstStyle/>
                        <a:p>
                          <a:pPr algn="ctr"/>
                          <a:r>
                            <a:rPr lang="en-US" altLang="zh-TW" dirty="0">
                              <a:solidFill>
                                <a:srgbClr val="FF0000"/>
                              </a:solidFill>
                            </a:rPr>
                            <a:t>2</a:t>
                          </a:r>
                          <a:endParaRPr lang="zh-TW" altLang="en-US" dirty="0">
                            <a:solidFill>
                              <a:srgbClr val="FF0000"/>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1601362089"/>
                  </p:ext>
                </p:extLst>
              </p:nvPr>
            </p:nvGraphicFramePr>
            <p:xfrm>
              <a:off x="2742035" y="535891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576" r="-402381" b="-15152"/>
                          </a:stretch>
                        </a:blipFill>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23</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473700" y="5563902"/>
                <a:ext cx="3771901"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r>
                      <a:rPr lang="en-US" altLang="zh-TW" i="1">
                        <a:solidFill>
                          <a:srgbClr val="FF0000"/>
                        </a:solidFill>
                        <a:latin typeface="Cambria Math" panose="02040503050406030204" pitchFamily="18" charset="0"/>
                      </a:rPr>
                      <m:t>+1</m:t>
                    </m:r>
                  </m:oMath>
                </a14:m>
                <a:r>
                  <a:rPr lang="pt-BR" altLang="zh-TW" i="1" dirty="0">
                    <a:solidFill>
                      <a:srgbClr val="FF0000"/>
                    </a:solidFill>
                  </a:rPr>
                  <a:t>)+1</a:t>
                </a: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2</m:t>
                        </m:r>
                      </m:sup>
                    </m:sSubSup>
                  </m:oMath>
                </a14:m>
                <a:r>
                  <a:rPr lang="en-US" altLang="zh-TW" dirty="0"/>
                  <a:t> , 1~4)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473700" y="5563902"/>
                <a:ext cx="3771901" cy="997774"/>
              </a:xfrm>
              <a:prstGeom prst="rect">
                <a:avLst/>
              </a:prstGeom>
              <a:blipFill rotWithShape="0">
                <a:blip r:embed="rId11"/>
                <a:stretch>
                  <a:fillRect t="-1840" r="-323" b="-674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557513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614404"/>
            <a:ext cx="1234633" cy="369332"/>
          </a:xfrm>
          <a:prstGeom prst="rect">
            <a:avLst/>
          </a:prstGeom>
          <a:noFill/>
        </p:spPr>
        <p:txBody>
          <a:bodyPr wrap="none" rtlCol="0">
            <a:spAutoFit/>
          </a:bodyPr>
          <a:lstStyle/>
          <a:p>
            <a:r>
              <a:rPr lang="en-US" altLang="zh-TW" dirty="0" err="1"/>
              <a:t>i</a:t>
            </a:r>
            <a:r>
              <a:rPr lang="en-US" altLang="zh-TW" dirty="0"/>
              <a:t> = 1  , k = 4</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7339"/>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a:t>
                </a:r>
                <a:r>
                  <a:rPr lang="en-US" altLang="zh-TW" dirty="0">
                    <a:solidFill>
                      <a:srgbClr val="FF0000"/>
                    </a:solidFill>
                  </a:rPr>
                  <a:t>(2, 4) </a:t>
                </a:r>
                <a:r>
                  <a:rPr lang="en-US" altLang="zh-TW" dirty="0"/>
                  <a:t>,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7339"/>
                <a:ext cx="5211042" cy="986296"/>
              </a:xfrm>
              <a:prstGeom prst="rect">
                <a:avLst/>
              </a:prstGeom>
              <a:blipFill>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3693390453"/>
              </p:ext>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r>
                        <a:rPr lang="en-US" altLang="zh-TW" dirty="0"/>
                        <a:t>1</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1516990694"/>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r>
                        <a:rPr lang="en-US" altLang="zh-TW" dirty="0"/>
                        <a:t>3</a:t>
                      </a:r>
                      <a:endParaRPr lang="zh-TW" altLang="en-US" dirty="0"/>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3180070615"/>
                  </p:ext>
                </p:extLst>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3180070615"/>
                  </p:ext>
                </p:extLst>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4"/>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2961470269"/>
                  </p:ext>
                </p:extLst>
              </p:nvPr>
            </p:nvGraphicFramePr>
            <p:xfrm>
              <a:off x="34831" y="51804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2961470269"/>
                  </p:ext>
                </p:extLst>
              </p:nvPr>
            </p:nvGraphicFramePr>
            <p:xfrm>
              <a:off x="34831" y="51804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nvGraphicFramePr>
            <p:xfrm>
              <a:off x="34831" y="6458360"/>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932696001"/>
                  </p:ext>
                </p:extLst>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1" name="表格 40"/>
              <p:cNvGraphicFramePr>
                <a:graphicFrameLocks noGrp="1"/>
              </p:cNvGraphicFramePr>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3793950337"/>
                  </p:ext>
                </p:extLst>
              </p:nvPr>
            </p:nvGraphicFramePr>
            <p:xfrm>
              <a:off x="36374" y="558006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b="0" i="1" smtClean="0">
                                        <a:latin typeface="Cambria Math" panose="02040503050406030204" pitchFamily="18" charset="0"/>
                                      </a:rPr>
                                      <m:t>𝐻</m:t>
                                    </m:r>
                                  </m:e>
                                  <m:sub>
                                    <m:r>
                                      <a:rPr lang="en-US" altLang="zh-TW" sz="1400" b="0" i="1" smtClean="0">
                                        <a:latin typeface="Cambria Math" panose="02040503050406030204" pitchFamily="18" charset="0"/>
                                      </a:rPr>
                                      <m:t>1</m:t>
                                    </m:r>
                                  </m:sub>
                                  <m:sup>
                                    <m:r>
                                      <a:rPr lang="en-US" altLang="zh-TW" sz="1400" b="0" i="1" smtClean="0">
                                        <a:latin typeface="Cambria Math" panose="02040503050406030204" pitchFamily="18" charset="0"/>
                                      </a:rPr>
                                      <m:t>3</m:t>
                                    </m:r>
                                  </m:sup>
                                </m:sSubSup>
                              </m:oMath>
                            </m:oMathPara>
                          </a14:m>
                          <a:endParaRPr lang="zh-TW" altLang="en-US"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3793950337"/>
                  </p:ext>
                </p:extLst>
              </p:nvPr>
            </p:nvGraphicFramePr>
            <p:xfrm>
              <a:off x="36374" y="558006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0"/>
                          <a:stretch>
                            <a:fillRect l="-1190" t="-7576" r="-40357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24</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473700" y="5563902"/>
                <a:ext cx="3771901"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)+1</a:t>
                </a: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3</m:t>
                        </m:r>
                      </m:sup>
                    </m:sSubSup>
                  </m:oMath>
                </a14:m>
                <a:r>
                  <a:rPr lang="en-US" altLang="zh-TW" dirty="0"/>
                  <a:t> , 2)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473700" y="5563902"/>
                <a:ext cx="3771901" cy="997774"/>
              </a:xfrm>
              <a:prstGeom prst="rect">
                <a:avLst/>
              </a:prstGeom>
              <a:blipFill>
                <a:blip r:embed="rId11"/>
                <a:stretch>
                  <a:fillRect t="-1840" b="-67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3148803761"/>
                  </p:ext>
                </p:extLst>
              </p:nvPr>
            </p:nvGraphicFramePr>
            <p:xfrm>
              <a:off x="2742035" y="557541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rgbClr val="FF0000"/>
                              </a:solidFill>
                            </a:rPr>
                            <a:t>3</a:t>
                          </a:r>
                          <a:endParaRPr lang="zh-TW" altLang="en-US" dirty="0">
                            <a:solidFill>
                              <a:srgbClr val="FF0000"/>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3148803761"/>
                  </p:ext>
                </p:extLst>
              </p:nvPr>
            </p:nvGraphicFramePr>
            <p:xfrm>
              <a:off x="2742035" y="5575412"/>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2"/>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rgbClr val="FF0000"/>
                              </a:solidFill>
                            </a:rPr>
                            <a:t>3</a:t>
                          </a:r>
                          <a:endParaRPr lang="zh-TW" altLang="en-US" dirty="0">
                            <a:solidFill>
                              <a:srgbClr val="FF0000"/>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9664011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614404"/>
            <a:ext cx="1234633" cy="369332"/>
          </a:xfrm>
          <a:prstGeom prst="rect">
            <a:avLst/>
          </a:prstGeom>
          <a:noFill/>
        </p:spPr>
        <p:txBody>
          <a:bodyPr wrap="none" rtlCol="0">
            <a:spAutoFit/>
          </a:bodyPr>
          <a:lstStyle/>
          <a:p>
            <a:r>
              <a:rPr lang="en-US" altLang="zh-TW" dirty="0" err="1"/>
              <a:t>i</a:t>
            </a:r>
            <a:r>
              <a:rPr lang="en-US" altLang="zh-TW" dirty="0"/>
              <a:t> = 1  , k = 5</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7339"/>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a:t>
                </a:r>
                <a:r>
                  <a:rPr lang="en-US" altLang="zh-TW" dirty="0">
                    <a:solidFill>
                      <a:srgbClr val="FF0000"/>
                    </a:solidFill>
                  </a:rPr>
                  <a:t>(1, 5) </a:t>
                </a:r>
                <a:r>
                  <a:rPr lang="en-US" altLang="zh-TW" dirty="0"/>
                  <a:t>,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7339"/>
                <a:ext cx="5211042" cy="986296"/>
              </a:xfrm>
              <a:prstGeom prst="rect">
                <a:avLst/>
              </a:prstGeom>
              <a:blipFill>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r>
                        <a:rPr lang="en-US" altLang="zh-TW" dirty="0"/>
                        <a:t>1</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3219042930"/>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3</a:t>
                      </a:r>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3393144513"/>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solidFill>
                      <a:schemeClr val="accent2"/>
                    </a:solidFill>
                  </a:tcPr>
                </a:tc>
                <a:tc>
                  <a:txBody>
                    <a:bodyPr/>
                    <a:lstStyle/>
                    <a:p>
                      <a:r>
                        <a:rPr lang="en-US" altLang="zh-TW" dirty="0"/>
                        <a:t>2</a:t>
                      </a:r>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9" name="表格 38"/>
              <p:cNvGraphicFramePr>
                <a:graphicFrameLocks noGrp="1"/>
              </p:cNvGraphicFramePr>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4"/>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3190484693"/>
                  </p:ext>
                </p:extLst>
              </p:nvPr>
            </p:nvGraphicFramePr>
            <p:xfrm>
              <a:off x="34831" y="563273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3190484693"/>
                  </p:ext>
                </p:extLst>
              </p:nvPr>
            </p:nvGraphicFramePr>
            <p:xfrm>
              <a:off x="34831" y="563273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932696001"/>
                  </p:ext>
                </p:extLst>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1" name="表格 40"/>
              <p:cNvGraphicFramePr>
                <a:graphicFrameLocks noGrp="1"/>
              </p:cNvGraphicFramePr>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3120652153"/>
                  </p:ext>
                </p:extLst>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b="0" i="1" smtClean="0">
                                        <a:latin typeface="Cambria Math" panose="02040503050406030204" pitchFamily="18" charset="0"/>
                                      </a:rPr>
                                      <m:t>𝐻</m:t>
                                    </m:r>
                                  </m:e>
                                  <m:sub>
                                    <m:r>
                                      <a:rPr lang="en-US" altLang="zh-TW" sz="1400" b="0" i="1" smtClean="0">
                                        <a:latin typeface="Cambria Math" panose="02040503050406030204" pitchFamily="18" charset="0"/>
                                      </a:rPr>
                                      <m:t>1</m:t>
                                    </m:r>
                                  </m:sub>
                                  <m:sup>
                                    <m:r>
                                      <a:rPr lang="en-US" altLang="zh-TW" sz="1400" b="0" i="1" smtClean="0">
                                        <a:latin typeface="Cambria Math" panose="02040503050406030204" pitchFamily="18" charset="0"/>
                                      </a:rPr>
                                      <m:t>3</m:t>
                                    </m:r>
                                  </m:sup>
                                </m:sSubSup>
                              </m:oMath>
                            </m:oMathPara>
                          </a14:m>
                          <a:endParaRPr lang="zh-TW" altLang="en-US"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3120652153"/>
                  </p:ext>
                </p:extLst>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0"/>
                          <a:stretch>
                            <a:fillRect l="-1190" t="-7576" r="-40357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25</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473700" y="5563902"/>
                <a:ext cx="3771901"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)+1</a:t>
                </a: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sSubSup>
                  </m:oMath>
                </a14:m>
                <a:r>
                  <a:rPr lang="en-US" altLang="zh-TW" dirty="0"/>
                  <a:t> , 1)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473700" y="5563902"/>
                <a:ext cx="3771901" cy="997774"/>
              </a:xfrm>
              <a:prstGeom prst="rect">
                <a:avLst/>
              </a:prstGeom>
              <a:blipFill>
                <a:blip r:embed="rId11"/>
                <a:stretch>
                  <a:fillRect t="-1840" b="-67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3823344842"/>
                  </p:ext>
                </p:extLst>
              </p:nvPr>
            </p:nvGraphicFramePr>
            <p:xfrm>
              <a:off x="34831" y="603998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3823344842"/>
                  </p:ext>
                </p:extLst>
              </p:nvPr>
            </p:nvGraphicFramePr>
            <p:xfrm>
              <a:off x="34831" y="603998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2"/>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965837998"/>
                  </p:ext>
                </p:extLst>
              </p:nvPr>
            </p:nvGraphicFramePr>
            <p:xfrm>
              <a:off x="2742035" y="543291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rgbClr val="FF0000"/>
                              </a:solidFill>
                            </a:rPr>
                            <a:t>2</a:t>
                          </a:r>
                          <a:endParaRPr lang="zh-TW" altLang="en-US" dirty="0">
                            <a:solidFill>
                              <a:srgbClr val="FF0000"/>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965837998"/>
                  </p:ext>
                </p:extLst>
              </p:nvPr>
            </p:nvGraphicFramePr>
            <p:xfrm>
              <a:off x="2742035" y="543291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3"/>
                          <a:stretch>
                            <a:fillRect l="-1190" t="-7576" r="-40238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rgbClr val="FF0000"/>
                              </a:solidFill>
                            </a:rPr>
                            <a:t>2</a:t>
                          </a:r>
                          <a:endParaRPr lang="zh-TW" altLang="en-US" dirty="0">
                            <a:solidFill>
                              <a:srgbClr val="FF0000"/>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19918351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42035" y="3614404"/>
            <a:ext cx="1234633" cy="369332"/>
          </a:xfrm>
          <a:prstGeom prst="rect">
            <a:avLst/>
          </a:prstGeom>
          <a:noFill/>
        </p:spPr>
        <p:txBody>
          <a:bodyPr wrap="none" rtlCol="0">
            <a:spAutoFit/>
          </a:bodyPr>
          <a:lstStyle/>
          <a:p>
            <a:r>
              <a:rPr lang="en-US" altLang="zh-TW" dirty="0" err="1"/>
              <a:t>i</a:t>
            </a:r>
            <a:r>
              <a:rPr lang="en-US" altLang="zh-TW" dirty="0"/>
              <a:t> = 1  , k = 6</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7339"/>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(2, 4) , </a:t>
                </a:r>
                <a:r>
                  <a:rPr lang="en-US" altLang="zh-TW" dirty="0">
                    <a:solidFill>
                      <a:srgbClr val="FF0000"/>
                    </a:solidFill>
                  </a:rPr>
                  <a:t>(3, 6) </a:t>
                </a:r>
                <a:r>
                  <a:rPr lang="en-US" altLang="zh-TW" dirty="0"/>
                  <a:t>}</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7339"/>
                <a:ext cx="5211042" cy="986296"/>
              </a:xfrm>
              <a:prstGeom prst="rect">
                <a:avLst/>
              </a:prstGeom>
              <a:blipFill>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r>
                        <a:rPr lang="en-US" altLang="zh-TW" dirty="0"/>
                        <a:t>1</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3</a:t>
                      </a:r>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1238285612"/>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r>
                        <a:rPr lang="en-US" altLang="zh-TW" dirty="0"/>
                        <a:t>2</a:t>
                      </a:r>
                      <a:endParaRPr lang="zh-TW" altLang="en-US" dirty="0"/>
                    </a:p>
                  </a:txBody>
                  <a:tcPr>
                    <a:noFill/>
                  </a:tcPr>
                </a:tc>
                <a:tc>
                  <a:txBody>
                    <a:bodyPr/>
                    <a:lstStyle/>
                    <a:p>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3928598442"/>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r>
                        <a:rPr lang="en-US" altLang="zh-TW" dirty="0"/>
                        <a:t>4</a:t>
                      </a:r>
                      <a:endParaRPr lang="zh-TW" altLang="en-US" dirty="0"/>
                    </a:p>
                  </a:txBody>
                  <a:tcPr>
                    <a:solidFill>
                      <a:schemeClr val="accent2"/>
                    </a:solid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9" name="表格 38"/>
              <p:cNvGraphicFramePr>
                <a:graphicFrameLocks noGrp="1"/>
              </p:cNvGraphicFramePr>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4"/>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784295462"/>
                  </p:ext>
                </p:extLst>
              </p:nvPr>
            </p:nvGraphicFramePr>
            <p:xfrm>
              <a:off x="2753494" y="456554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784295462"/>
                  </p:ext>
                </p:extLst>
              </p:nvPr>
            </p:nvGraphicFramePr>
            <p:xfrm>
              <a:off x="2753494" y="4565547"/>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b="0" i="1" smtClean="0">
                                        <a:latin typeface="Cambria Math" panose="02040503050406030204" pitchFamily="18" charset="0"/>
                                      </a:rPr>
                                      <m:t>𝐻</m:t>
                                    </m:r>
                                  </m:e>
                                  <m:sub>
                                    <m:r>
                                      <a:rPr lang="en-US" altLang="zh-TW" sz="1400" b="0" i="1" smtClean="0">
                                        <a:latin typeface="Cambria Math" panose="02040503050406030204" pitchFamily="18" charset="0"/>
                                      </a:rPr>
                                      <m:t>1</m:t>
                                    </m:r>
                                  </m:sub>
                                  <m:sup>
                                    <m:r>
                                      <a:rPr lang="en-US" altLang="zh-TW" sz="1400" b="0" i="1" smtClean="0">
                                        <a:latin typeface="Cambria Math" panose="02040503050406030204" pitchFamily="18" charset="0"/>
                                      </a:rPr>
                                      <m:t>3</m:t>
                                    </m:r>
                                  </m:sup>
                                </m:sSubSup>
                              </m:oMath>
                            </m:oMathPara>
                          </a14:m>
                          <a:endParaRPr lang="zh-TW" altLang="en-US"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576" r="-40357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26</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473700" y="5563902"/>
                <a:ext cx="3771901"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endParaRPr lang="en-US" altLang="zh-TW" dirty="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)+1</a:t>
                </a:r>
              </a:p>
              <a:p>
                <a:r>
                  <a:rPr lang="en-US" altLang="zh-TW" dirty="0"/>
                  <a:t>              =</a:t>
                </a:r>
                <a:r>
                  <a:rPr lang="en-US" altLang="zh-TW" dirty="0" err="1"/>
                  <a:t>BoundedMax</a:t>
                </a:r>
                <a:r>
                  <a:rPr lang="en-US" altLang="zh-TW" dirty="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5</m:t>
                        </m:r>
                      </m:sup>
                    </m:sSubSup>
                  </m:oMath>
                </a14:m>
                <a:r>
                  <a:rPr lang="en-US" altLang="zh-TW" dirty="0"/>
                  <a:t> , 3)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473700" y="5563902"/>
                <a:ext cx="3771901" cy="997774"/>
              </a:xfrm>
              <a:prstGeom prst="rect">
                <a:avLst/>
              </a:prstGeom>
              <a:blipFill>
                <a:blip r:embed="rId7"/>
                <a:stretch>
                  <a:fillRect t="-1840" b="-73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38670273"/>
                  </p:ext>
                </p:extLst>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38670273"/>
                  </p:ext>
                </p:extLst>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8"/>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3618669021"/>
                  </p:ext>
                </p:extLst>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3618669021"/>
                  </p:ext>
                </p:extLst>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3441582351"/>
                  </p:ext>
                </p:extLst>
              </p:nvPr>
            </p:nvGraphicFramePr>
            <p:xfrm>
              <a:off x="2753494" y="511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rgbClr val="FF0000"/>
                              </a:solidFill>
                            </a:rPr>
                            <a:t>4</a:t>
                          </a:r>
                          <a:endParaRPr lang="zh-TW" altLang="en-US" dirty="0">
                            <a:solidFill>
                              <a:srgbClr val="FF0000"/>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3441582351"/>
                  </p:ext>
                </p:extLst>
              </p:nvPr>
            </p:nvGraphicFramePr>
            <p:xfrm>
              <a:off x="2753494" y="511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0"/>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rgbClr val="FF0000"/>
                              </a:solidFill>
                            </a:rPr>
                            <a:t>4</a:t>
                          </a:r>
                          <a:endParaRPr lang="zh-TW" altLang="en-US" dirty="0">
                            <a:solidFill>
                              <a:srgbClr val="FF0000"/>
                            </a:solidFill>
                          </a:endParaRP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28992104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100988074"/>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96093" y="5071257"/>
            <a:ext cx="1234633" cy="369332"/>
          </a:xfrm>
          <a:prstGeom prst="rect">
            <a:avLst/>
          </a:prstGeom>
          <a:noFill/>
        </p:spPr>
        <p:txBody>
          <a:bodyPr wrap="none" rtlCol="0">
            <a:spAutoFit/>
          </a:bodyPr>
          <a:lstStyle/>
          <a:p>
            <a:r>
              <a:rPr lang="en-US" altLang="zh-TW" dirty="0" err="1"/>
              <a:t>i</a:t>
            </a:r>
            <a:r>
              <a:rPr lang="en-US" altLang="zh-TW" dirty="0"/>
              <a:t> = 2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46425"/>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46425"/>
                <a:ext cx="5211042" cy="986296"/>
              </a:xfrm>
              <a:prstGeom prst="rect">
                <a:avLst/>
              </a:prstGeom>
              <a:blipFill>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2394486383"/>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r>
                        <a:rPr lang="en-US" altLang="zh-TW" dirty="0"/>
                        <a:t>1</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3232866271"/>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3</a:t>
                      </a:r>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r>
                        <a:rPr lang="en-US" altLang="zh-TW" dirty="0"/>
                        <a:t>3</a:t>
                      </a:r>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3804327830"/>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r>
                        <a:rPr lang="en-US" altLang="zh-TW" dirty="0"/>
                        <a:t>2</a:t>
                      </a:r>
                      <a:endParaRPr lang="zh-TW" altLang="en-US" dirty="0"/>
                    </a:p>
                  </a:txBody>
                  <a:tcPr>
                    <a:noFill/>
                  </a:tcPr>
                </a:tc>
                <a:tc>
                  <a:txBody>
                    <a:bodyPr/>
                    <a:lstStyle/>
                    <a:p>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2553675878"/>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4</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r>
                        <a:rPr lang="en-US" altLang="zh-TW" dirty="0"/>
                        <a:t>5</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69110695"/>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69110695"/>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9" name="表格 38"/>
              <p:cNvGraphicFramePr>
                <a:graphicFrameLocks noGrp="1"/>
              </p:cNvGraphicFramePr>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4"/>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b="0" i="1" smtClean="0">
                                        <a:latin typeface="Cambria Math" panose="02040503050406030204" pitchFamily="18" charset="0"/>
                                      </a:rPr>
                                      <m:t>𝐻</m:t>
                                    </m:r>
                                  </m:e>
                                  <m:sub>
                                    <m:r>
                                      <a:rPr lang="en-US" altLang="zh-TW" sz="1400" b="0" i="1" smtClean="0">
                                        <a:latin typeface="Cambria Math" panose="02040503050406030204" pitchFamily="18" charset="0"/>
                                      </a:rPr>
                                      <m:t>1</m:t>
                                    </m:r>
                                  </m:sub>
                                  <m:sup>
                                    <m:r>
                                      <a:rPr lang="en-US" altLang="zh-TW" sz="1400" b="0" i="1" smtClean="0">
                                        <a:latin typeface="Cambria Math" panose="02040503050406030204" pitchFamily="18" charset="0"/>
                                      </a:rPr>
                                      <m:t>3</m:t>
                                    </m:r>
                                  </m:sup>
                                </m:sSubSup>
                              </m:oMath>
                            </m:oMathPara>
                          </a14:m>
                          <a:endParaRPr lang="zh-TW" altLang="en-US"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576" r="-40357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27</a:t>
            </a:fld>
            <a:endParaRPr lang="zh-TW" altLang="en-US"/>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7"/>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4227151079"/>
                  </p:ext>
                </p:extLst>
              </p:nvPr>
            </p:nvGraphicFramePr>
            <p:xfrm>
              <a:off x="2753494" y="464099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6</m:t>
                                    </m:r>
                                  </m:sup>
                                </m:sSubSup>
                              </m:oMath>
                            </m:oMathPara>
                          </a14:m>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10000"/>
                      </a:ext>
                    </a:extLst>
                  </a:tr>
                </a:tbl>
              </a:graphicData>
            </a:graphic>
          </p:graphicFrame>
        </mc:Choice>
        <mc:Fallback xmlns="">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4227151079"/>
                  </p:ext>
                </p:extLst>
              </p:nvPr>
            </p:nvGraphicFramePr>
            <p:xfrm>
              <a:off x="2753494" y="464099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8"/>
                          <a:stretch>
                            <a:fillRect l="-1190" t="-7576" r="-402381" b="-15152"/>
                          </a:stretch>
                        </a:blipFill>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97E52AD8-D9BC-CD6E-69DB-759F671576D2}"/>
                  </a:ext>
                </a:extLst>
              </p:cNvPr>
              <p:cNvGraphicFramePr>
                <a:graphicFrameLocks noGrp="1"/>
              </p:cNvGraphicFramePr>
              <p:nvPr>
                <p:extLst>
                  <p:ext uri="{D42A27DB-BD31-4B8C-83A1-F6EECF244321}">
                    <p14:modId xmlns:p14="http://schemas.microsoft.com/office/powerpoint/2010/main" val="2231148968"/>
                  </p:ext>
                </p:extLst>
              </p:nvPr>
            </p:nvGraphicFramePr>
            <p:xfrm>
              <a:off x="2794550" y="541387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0" name="表格 9">
                <a:extLst>
                  <a:ext uri="{FF2B5EF4-FFF2-40B4-BE49-F238E27FC236}">
                    <a16:creationId xmlns:a16="http://schemas.microsoft.com/office/drawing/2014/main" id="{97E52AD8-D9BC-CD6E-69DB-759F671576D2}"/>
                  </a:ext>
                </a:extLst>
              </p:cNvPr>
              <p:cNvGraphicFramePr>
                <a:graphicFrameLocks noGrp="1"/>
              </p:cNvGraphicFramePr>
              <p:nvPr>
                <p:extLst>
                  <p:ext uri="{D42A27DB-BD31-4B8C-83A1-F6EECF244321}">
                    <p14:modId xmlns:p14="http://schemas.microsoft.com/office/powerpoint/2010/main" val="2231148968"/>
                  </p:ext>
                </p:extLst>
              </p:nvPr>
            </p:nvGraphicFramePr>
            <p:xfrm>
              <a:off x="2794550" y="541387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576" r="-402381" b="-15152"/>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6EE33B42-5969-AE7C-CB31-CF18F44F32A6}"/>
                  </a:ext>
                </a:extLst>
              </p:cNvPr>
              <p:cNvGraphicFramePr>
                <a:graphicFrameLocks noGrp="1"/>
              </p:cNvGraphicFramePr>
              <p:nvPr>
                <p:extLst>
                  <p:ext uri="{D42A27DB-BD31-4B8C-83A1-F6EECF244321}">
                    <p14:modId xmlns:p14="http://schemas.microsoft.com/office/powerpoint/2010/main" val="1943017664"/>
                  </p:ext>
                </p:extLst>
              </p:nvPr>
            </p:nvGraphicFramePr>
            <p:xfrm>
              <a:off x="2761839" y="639292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4" name="表格 13">
                <a:extLst>
                  <a:ext uri="{FF2B5EF4-FFF2-40B4-BE49-F238E27FC236}">
                    <a16:creationId xmlns:a16="http://schemas.microsoft.com/office/drawing/2014/main" id="{6EE33B42-5969-AE7C-CB31-CF18F44F32A6}"/>
                  </a:ext>
                </a:extLst>
              </p:cNvPr>
              <p:cNvGraphicFramePr>
                <a:graphicFrameLocks noGrp="1"/>
              </p:cNvGraphicFramePr>
              <p:nvPr>
                <p:extLst>
                  <p:ext uri="{D42A27DB-BD31-4B8C-83A1-F6EECF244321}">
                    <p14:modId xmlns:p14="http://schemas.microsoft.com/office/powerpoint/2010/main" val="1943017664"/>
                  </p:ext>
                </p:extLst>
              </p:nvPr>
            </p:nvGraphicFramePr>
            <p:xfrm>
              <a:off x="2761839" y="639292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0"/>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15" name="文字方塊 14">
            <a:extLst>
              <a:ext uri="{FF2B5EF4-FFF2-40B4-BE49-F238E27FC236}">
                <a16:creationId xmlns:a16="http://schemas.microsoft.com/office/drawing/2014/main" id="{05C8BD71-A6C6-E5B0-7431-8C2D0980556E}"/>
              </a:ext>
            </a:extLst>
          </p:cNvPr>
          <p:cNvSpPr txBox="1"/>
          <p:nvPr/>
        </p:nvSpPr>
        <p:spPr>
          <a:xfrm>
            <a:off x="2783091" y="5870848"/>
            <a:ext cx="1234633" cy="369332"/>
          </a:xfrm>
          <a:prstGeom prst="rect">
            <a:avLst/>
          </a:prstGeom>
          <a:noFill/>
        </p:spPr>
        <p:txBody>
          <a:bodyPr wrap="none" rtlCol="0">
            <a:spAutoFit/>
          </a:bodyPr>
          <a:lstStyle/>
          <a:p>
            <a:r>
              <a:rPr lang="en-US" altLang="zh-TW" dirty="0" err="1"/>
              <a:t>i</a:t>
            </a:r>
            <a:r>
              <a:rPr lang="en-US" altLang="zh-TW" dirty="0"/>
              <a:t> = 2  , k = 2</a:t>
            </a:r>
            <a:endParaRPr lang="zh-TW" altLang="en-US" dirty="0"/>
          </a:p>
        </p:txBody>
      </p:sp>
      <p:sp>
        <p:nvSpPr>
          <p:cNvPr id="16" name="文字方塊 15">
            <a:extLst>
              <a:ext uri="{FF2B5EF4-FFF2-40B4-BE49-F238E27FC236}">
                <a16:creationId xmlns:a16="http://schemas.microsoft.com/office/drawing/2014/main" id="{4096EFB8-F9BE-4A49-E06C-622057946B6F}"/>
              </a:ext>
            </a:extLst>
          </p:cNvPr>
          <p:cNvSpPr txBox="1"/>
          <p:nvPr/>
        </p:nvSpPr>
        <p:spPr>
          <a:xfrm>
            <a:off x="5656182" y="3559913"/>
            <a:ext cx="1234633" cy="369332"/>
          </a:xfrm>
          <a:prstGeom prst="rect">
            <a:avLst/>
          </a:prstGeom>
          <a:noFill/>
        </p:spPr>
        <p:txBody>
          <a:bodyPr wrap="none" rtlCol="0">
            <a:spAutoFit/>
          </a:bodyPr>
          <a:lstStyle/>
          <a:p>
            <a:r>
              <a:rPr lang="en-US" altLang="zh-TW" dirty="0" err="1"/>
              <a:t>i</a:t>
            </a:r>
            <a:r>
              <a:rPr lang="en-US" altLang="zh-TW" dirty="0"/>
              <a:t> = 2  , k = 3</a:t>
            </a:r>
            <a:endParaRPr lang="zh-TW" altLang="en-US" dirty="0"/>
          </a:p>
        </p:txBody>
      </p:sp>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B969ABB6-85F5-A280-ADFC-79AB3C197D39}"/>
                  </a:ext>
                </a:extLst>
              </p:cNvPr>
              <p:cNvGraphicFramePr>
                <a:graphicFrameLocks noGrp="1"/>
              </p:cNvGraphicFramePr>
              <p:nvPr>
                <p:extLst>
                  <p:ext uri="{D42A27DB-BD31-4B8C-83A1-F6EECF244321}">
                    <p14:modId xmlns:p14="http://schemas.microsoft.com/office/powerpoint/2010/main" val="3467413941"/>
                  </p:ext>
                </p:extLst>
              </p:nvPr>
            </p:nvGraphicFramePr>
            <p:xfrm>
              <a:off x="5654639" y="39025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7" name="表格 16">
                <a:extLst>
                  <a:ext uri="{FF2B5EF4-FFF2-40B4-BE49-F238E27FC236}">
                    <a16:creationId xmlns:a16="http://schemas.microsoft.com/office/drawing/2014/main" id="{B969ABB6-85F5-A280-ADFC-79AB3C197D39}"/>
                  </a:ext>
                </a:extLst>
              </p:cNvPr>
              <p:cNvGraphicFramePr>
                <a:graphicFrameLocks noGrp="1"/>
              </p:cNvGraphicFramePr>
              <p:nvPr>
                <p:extLst>
                  <p:ext uri="{D42A27DB-BD31-4B8C-83A1-F6EECF244321}">
                    <p14:modId xmlns:p14="http://schemas.microsoft.com/office/powerpoint/2010/main" val="3467413941"/>
                  </p:ext>
                </p:extLst>
              </p:nvPr>
            </p:nvGraphicFramePr>
            <p:xfrm>
              <a:off x="5654639" y="39025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1"/>
                          <a:stretch>
                            <a:fillRect l="-1190" t="-7576" r="-40238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18" name="文字方塊 17">
            <a:extLst>
              <a:ext uri="{FF2B5EF4-FFF2-40B4-BE49-F238E27FC236}">
                <a16:creationId xmlns:a16="http://schemas.microsoft.com/office/drawing/2014/main" id="{6D3716F4-6412-C2C5-0CD2-710AB1333F86}"/>
              </a:ext>
            </a:extLst>
          </p:cNvPr>
          <p:cNvSpPr txBox="1"/>
          <p:nvPr/>
        </p:nvSpPr>
        <p:spPr>
          <a:xfrm>
            <a:off x="5656182" y="4307327"/>
            <a:ext cx="1234633" cy="369332"/>
          </a:xfrm>
          <a:prstGeom prst="rect">
            <a:avLst/>
          </a:prstGeom>
          <a:noFill/>
        </p:spPr>
        <p:txBody>
          <a:bodyPr wrap="none" rtlCol="0">
            <a:spAutoFit/>
          </a:bodyPr>
          <a:lstStyle/>
          <a:p>
            <a:r>
              <a:rPr lang="en-US" altLang="zh-TW" dirty="0" err="1"/>
              <a:t>i</a:t>
            </a:r>
            <a:r>
              <a:rPr lang="en-US" altLang="zh-TW" dirty="0"/>
              <a:t> = 2  , k = 4</a:t>
            </a:r>
            <a:endParaRPr lang="zh-TW" altLang="en-US" dirty="0"/>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328FFDB5-5F2C-E72B-242B-3409FC94A74F}"/>
                  </a:ext>
                </a:extLst>
              </p:cNvPr>
              <p:cNvGraphicFramePr>
                <a:graphicFrameLocks noGrp="1"/>
              </p:cNvGraphicFramePr>
              <p:nvPr>
                <p:extLst>
                  <p:ext uri="{D42A27DB-BD31-4B8C-83A1-F6EECF244321}">
                    <p14:modId xmlns:p14="http://schemas.microsoft.com/office/powerpoint/2010/main" val="3055314971"/>
                  </p:ext>
                </p:extLst>
              </p:nvPr>
            </p:nvGraphicFramePr>
            <p:xfrm>
              <a:off x="5654639" y="46499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9" name="表格 18">
                <a:extLst>
                  <a:ext uri="{FF2B5EF4-FFF2-40B4-BE49-F238E27FC236}">
                    <a16:creationId xmlns:a16="http://schemas.microsoft.com/office/drawing/2014/main" id="{328FFDB5-5F2C-E72B-242B-3409FC94A74F}"/>
                  </a:ext>
                </a:extLst>
              </p:cNvPr>
              <p:cNvGraphicFramePr>
                <a:graphicFrameLocks noGrp="1"/>
              </p:cNvGraphicFramePr>
              <p:nvPr>
                <p:extLst>
                  <p:ext uri="{D42A27DB-BD31-4B8C-83A1-F6EECF244321}">
                    <p14:modId xmlns:p14="http://schemas.microsoft.com/office/powerpoint/2010/main" val="3055314971"/>
                  </p:ext>
                </p:extLst>
              </p:nvPr>
            </p:nvGraphicFramePr>
            <p:xfrm>
              <a:off x="5654639" y="46499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2"/>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20" name="文字方塊 19">
            <a:extLst>
              <a:ext uri="{FF2B5EF4-FFF2-40B4-BE49-F238E27FC236}">
                <a16:creationId xmlns:a16="http://schemas.microsoft.com/office/drawing/2014/main" id="{96599F21-0F9D-8D58-D1EC-5FB57863941D}"/>
              </a:ext>
            </a:extLst>
          </p:cNvPr>
          <p:cNvSpPr txBox="1"/>
          <p:nvPr/>
        </p:nvSpPr>
        <p:spPr>
          <a:xfrm>
            <a:off x="5656182" y="5028900"/>
            <a:ext cx="1234633" cy="369332"/>
          </a:xfrm>
          <a:prstGeom prst="rect">
            <a:avLst/>
          </a:prstGeom>
          <a:noFill/>
        </p:spPr>
        <p:txBody>
          <a:bodyPr wrap="none" rtlCol="0">
            <a:spAutoFit/>
          </a:bodyPr>
          <a:lstStyle/>
          <a:p>
            <a:r>
              <a:rPr lang="en-US" altLang="zh-TW" dirty="0" err="1"/>
              <a:t>i</a:t>
            </a:r>
            <a:r>
              <a:rPr lang="en-US" altLang="zh-TW" dirty="0"/>
              <a:t> = 2  , k = 5</a:t>
            </a:r>
            <a:endParaRPr lang="zh-TW" altLang="en-US" dirty="0"/>
          </a:p>
        </p:txBody>
      </p:sp>
      <mc:AlternateContent xmlns:mc="http://schemas.openxmlformats.org/markup-compatibility/2006" xmlns:a14="http://schemas.microsoft.com/office/drawing/2010/main">
        <mc:Choice Requires="a14">
          <p:graphicFrame>
            <p:nvGraphicFramePr>
              <p:cNvPr id="21" name="表格 20">
                <a:extLst>
                  <a:ext uri="{FF2B5EF4-FFF2-40B4-BE49-F238E27FC236}">
                    <a16:creationId xmlns:a16="http://schemas.microsoft.com/office/drawing/2014/main" id="{1E3409D3-873A-D7B3-9C33-9A0955A6BCF3}"/>
                  </a:ext>
                </a:extLst>
              </p:cNvPr>
              <p:cNvGraphicFramePr>
                <a:graphicFrameLocks noGrp="1"/>
              </p:cNvGraphicFramePr>
              <p:nvPr>
                <p:extLst>
                  <p:ext uri="{D42A27DB-BD31-4B8C-83A1-F6EECF244321}">
                    <p14:modId xmlns:p14="http://schemas.microsoft.com/office/powerpoint/2010/main" val="54570152"/>
                  </p:ext>
                </p:extLst>
              </p:nvPr>
            </p:nvGraphicFramePr>
            <p:xfrm>
              <a:off x="5654639" y="537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1" name="表格 20">
                <a:extLst>
                  <a:ext uri="{FF2B5EF4-FFF2-40B4-BE49-F238E27FC236}">
                    <a16:creationId xmlns:a16="http://schemas.microsoft.com/office/drawing/2014/main" id="{1E3409D3-873A-D7B3-9C33-9A0955A6BCF3}"/>
                  </a:ext>
                </a:extLst>
              </p:cNvPr>
              <p:cNvGraphicFramePr>
                <a:graphicFrameLocks noGrp="1"/>
              </p:cNvGraphicFramePr>
              <p:nvPr>
                <p:extLst>
                  <p:ext uri="{D42A27DB-BD31-4B8C-83A1-F6EECF244321}">
                    <p14:modId xmlns:p14="http://schemas.microsoft.com/office/powerpoint/2010/main" val="54570152"/>
                  </p:ext>
                </p:extLst>
              </p:nvPr>
            </p:nvGraphicFramePr>
            <p:xfrm>
              <a:off x="5654639" y="537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3"/>
                          <a:stretch>
                            <a:fillRect l="-1190" t="-7576" r="-402381" b="-15152"/>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22" name="文字方塊 21">
            <a:extLst>
              <a:ext uri="{FF2B5EF4-FFF2-40B4-BE49-F238E27FC236}">
                <a16:creationId xmlns:a16="http://schemas.microsoft.com/office/drawing/2014/main" id="{2F1EAA69-20F4-D777-5912-BFED4BFE17E9}"/>
              </a:ext>
            </a:extLst>
          </p:cNvPr>
          <p:cNvSpPr txBox="1"/>
          <p:nvPr/>
        </p:nvSpPr>
        <p:spPr>
          <a:xfrm>
            <a:off x="5656182" y="5805577"/>
            <a:ext cx="1234633" cy="369332"/>
          </a:xfrm>
          <a:prstGeom prst="rect">
            <a:avLst/>
          </a:prstGeom>
          <a:noFill/>
        </p:spPr>
        <p:txBody>
          <a:bodyPr wrap="none" rtlCol="0">
            <a:spAutoFit/>
          </a:bodyPr>
          <a:lstStyle/>
          <a:p>
            <a:r>
              <a:rPr lang="en-US" altLang="zh-TW" dirty="0" err="1"/>
              <a:t>i</a:t>
            </a:r>
            <a:r>
              <a:rPr lang="en-US" altLang="zh-TW" dirty="0"/>
              <a:t> = 2  , k = 6</a:t>
            </a:r>
            <a:endParaRPr lang="zh-TW" altLang="en-US" dirty="0"/>
          </a:p>
        </p:txBody>
      </p:sp>
      <mc:AlternateContent xmlns:mc="http://schemas.openxmlformats.org/markup-compatibility/2006" xmlns:a14="http://schemas.microsoft.com/office/drawing/2010/main">
        <mc:Choice Requires="a14">
          <p:graphicFrame>
            <p:nvGraphicFramePr>
              <p:cNvPr id="23" name="表格 22">
                <a:extLst>
                  <a:ext uri="{FF2B5EF4-FFF2-40B4-BE49-F238E27FC236}">
                    <a16:creationId xmlns:a16="http://schemas.microsoft.com/office/drawing/2014/main" id="{43C927BE-9F7B-77DE-8435-8F7FAD1A3346}"/>
                  </a:ext>
                </a:extLst>
              </p:cNvPr>
              <p:cNvGraphicFramePr>
                <a:graphicFrameLocks noGrp="1"/>
              </p:cNvGraphicFramePr>
              <p:nvPr>
                <p:extLst>
                  <p:ext uri="{D42A27DB-BD31-4B8C-83A1-F6EECF244321}">
                    <p14:modId xmlns:p14="http://schemas.microsoft.com/office/powerpoint/2010/main" val="2936739674"/>
                  </p:ext>
                </p:extLst>
              </p:nvPr>
            </p:nvGraphicFramePr>
            <p:xfrm>
              <a:off x="5654639" y="614819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3" name="表格 22">
                <a:extLst>
                  <a:ext uri="{FF2B5EF4-FFF2-40B4-BE49-F238E27FC236}">
                    <a16:creationId xmlns:a16="http://schemas.microsoft.com/office/drawing/2014/main" id="{43C927BE-9F7B-77DE-8435-8F7FAD1A3346}"/>
                  </a:ext>
                </a:extLst>
              </p:cNvPr>
              <p:cNvGraphicFramePr>
                <a:graphicFrameLocks noGrp="1"/>
              </p:cNvGraphicFramePr>
              <p:nvPr>
                <p:extLst>
                  <p:ext uri="{D42A27DB-BD31-4B8C-83A1-F6EECF244321}">
                    <p14:modId xmlns:p14="http://schemas.microsoft.com/office/powerpoint/2010/main" val="2936739674"/>
                  </p:ext>
                </p:extLst>
              </p:nvPr>
            </p:nvGraphicFramePr>
            <p:xfrm>
              <a:off x="5654639" y="614819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4"/>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42399231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990055383"/>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10003"/>
                  </a:ext>
                </a:extLst>
              </a:tr>
              <a:tr h="303022">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96093" y="5071257"/>
            <a:ext cx="1234633" cy="369332"/>
          </a:xfrm>
          <a:prstGeom prst="rect">
            <a:avLst/>
          </a:prstGeom>
          <a:noFill/>
        </p:spPr>
        <p:txBody>
          <a:bodyPr wrap="none" rtlCol="0">
            <a:spAutoFit/>
          </a:bodyPr>
          <a:lstStyle/>
          <a:p>
            <a:r>
              <a:rPr lang="en-US" altLang="zh-TW" dirty="0" err="1"/>
              <a:t>i</a:t>
            </a:r>
            <a:r>
              <a:rPr lang="en-US" altLang="zh-TW" dirty="0"/>
              <a:t> = 3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46425"/>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46425"/>
                <a:ext cx="5211042" cy="986296"/>
              </a:xfrm>
              <a:prstGeom prst="rect">
                <a:avLst/>
              </a:prstGeom>
              <a:blipFill>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2127343159"/>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r>
                        <a:rPr lang="en-US" altLang="zh-TW" dirty="0"/>
                        <a:t>2</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r>
                        <a:rPr lang="en-US" altLang="zh-TW" dirty="0"/>
                        <a:t>1</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102229320"/>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3</a:t>
                      </a:r>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r>
                        <a:rPr lang="en-US" altLang="zh-TW" dirty="0"/>
                        <a:t>3</a:t>
                      </a:r>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3293845044"/>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r>
                        <a:rPr lang="en-US" altLang="zh-TW" dirty="0"/>
                        <a:t>2</a:t>
                      </a:r>
                      <a:endParaRPr lang="zh-TW" altLang="en-US" dirty="0"/>
                    </a:p>
                  </a:txBody>
                  <a:tcPr>
                    <a:noFill/>
                  </a:tcPr>
                </a:tc>
                <a:tc>
                  <a:txBody>
                    <a:bodyPr/>
                    <a:lstStyle/>
                    <a:p>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r>
                        <a:rPr lang="en-US" altLang="zh-TW" dirty="0"/>
                        <a:t>3</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3874747863"/>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4</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r>
                        <a:rPr lang="en-US" altLang="zh-TW" dirty="0"/>
                        <a:t>5</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r>
                        <a:rPr lang="en-US" altLang="zh-TW" dirty="0"/>
                        <a:t>5</a:t>
                      </a:r>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1389315727"/>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1389315727"/>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4263577959"/>
                  </p:ext>
                </p:extLst>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4263577959"/>
                  </p:ext>
                </p:extLst>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4"/>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3038908420"/>
                  </p:ext>
                </p:extLst>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3038908420"/>
                  </p:ext>
                </p:extLst>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576" r="-40357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28</a:t>
            </a:fld>
            <a:endParaRPr lang="zh-TW" altLang="en-US"/>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2456754192"/>
                  </p:ext>
                </p:extLst>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2456754192"/>
                  </p:ext>
                </p:extLst>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1442229235"/>
                  </p:ext>
                </p:extLst>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1442229235"/>
                  </p:ext>
                </p:extLst>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7"/>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3837532153"/>
                  </p:ext>
                </p:extLst>
              </p:nvPr>
            </p:nvGraphicFramePr>
            <p:xfrm>
              <a:off x="2753494" y="464099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3837532153"/>
                  </p:ext>
                </p:extLst>
              </p:nvPr>
            </p:nvGraphicFramePr>
            <p:xfrm>
              <a:off x="2753494" y="464099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8"/>
                          <a:stretch>
                            <a:fillRect l="-1190" t="-7576" r="-402381" b="-15152"/>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97E52AD8-D9BC-CD6E-69DB-759F671576D2}"/>
                  </a:ext>
                </a:extLst>
              </p:cNvPr>
              <p:cNvGraphicFramePr>
                <a:graphicFrameLocks noGrp="1"/>
              </p:cNvGraphicFramePr>
              <p:nvPr>
                <p:extLst>
                  <p:ext uri="{D42A27DB-BD31-4B8C-83A1-F6EECF244321}">
                    <p14:modId xmlns:p14="http://schemas.microsoft.com/office/powerpoint/2010/main" val="954477021"/>
                  </p:ext>
                </p:extLst>
              </p:nvPr>
            </p:nvGraphicFramePr>
            <p:xfrm>
              <a:off x="2794550" y="541387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0" name="表格 9">
                <a:extLst>
                  <a:ext uri="{FF2B5EF4-FFF2-40B4-BE49-F238E27FC236}">
                    <a16:creationId xmlns:a16="http://schemas.microsoft.com/office/drawing/2014/main" id="{97E52AD8-D9BC-CD6E-69DB-759F671576D2}"/>
                  </a:ext>
                </a:extLst>
              </p:cNvPr>
              <p:cNvGraphicFramePr>
                <a:graphicFrameLocks noGrp="1"/>
              </p:cNvGraphicFramePr>
              <p:nvPr>
                <p:extLst>
                  <p:ext uri="{D42A27DB-BD31-4B8C-83A1-F6EECF244321}">
                    <p14:modId xmlns:p14="http://schemas.microsoft.com/office/powerpoint/2010/main" val="954477021"/>
                  </p:ext>
                </p:extLst>
              </p:nvPr>
            </p:nvGraphicFramePr>
            <p:xfrm>
              <a:off x="2794550" y="541387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576" r="-40238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6EE33B42-5969-AE7C-CB31-CF18F44F32A6}"/>
                  </a:ext>
                </a:extLst>
              </p:cNvPr>
              <p:cNvGraphicFramePr>
                <a:graphicFrameLocks noGrp="1"/>
              </p:cNvGraphicFramePr>
              <p:nvPr>
                <p:extLst>
                  <p:ext uri="{D42A27DB-BD31-4B8C-83A1-F6EECF244321}">
                    <p14:modId xmlns:p14="http://schemas.microsoft.com/office/powerpoint/2010/main" val="3043624362"/>
                  </p:ext>
                </p:extLst>
              </p:nvPr>
            </p:nvGraphicFramePr>
            <p:xfrm>
              <a:off x="2761839" y="639292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4" name="表格 13">
                <a:extLst>
                  <a:ext uri="{FF2B5EF4-FFF2-40B4-BE49-F238E27FC236}">
                    <a16:creationId xmlns:a16="http://schemas.microsoft.com/office/drawing/2014/main" id="{6EE33B42-5969-AE7C-CB31-CF18F44F32A6}"/>
                  </a:ext>
                </a:extLst>
              </p:cNvPr>
              <p:cNvGraphicFramePr>
                <a:graphicFrameLocks noGrp="1"/>
              </p:cNvGraphicFramePr>
              <p:nvPr>
                <p:extLst>
                  <p:ext uri="{D42A27DB-BD31-4B8C-83A1-F6EECF244321}">
                    <p14:modId xmlns:p14="http://schemas.microsoft.com/office/powerpoint/2010/main" val="3043624362"/>
                  </p:ext>
                </p:extLst>
              </p:nvPr>
            </p:nvGraphicFramePr>
            <p:xfrm>
              <a:off x="2761839" y="639292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0"/>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15" name="文字方塊 14">
            <a:extLst>
              <a:ext uri="{FF2B5EF4-FFF2-40B4-BE49-F238E27FC236}">
                <a16:creationId xmlns:a16="http://schemas.microsoft.com/office/drawing/2014/main" id="{05C8BD71-A6C6-E5B0-7431-8C2D0980556E}"/>
              </a:ext>
            </a:extLst>
          </p:cNvPr>
          <p:cNvSpPr txBox="1"/>
          <p:nvPr/>
        </p:nvSpPr>
        <p:spPr>
          <a:xfrm>
            <a:off x="2783091" y="5870848"/>
            <a:ext cx="1234633" cy="369332"/>
          </a:xfrm>
          <a:prstGeom prst="rect">
            <a:avLst/>
          </a:prstGeom>
          <a:noFill/>
        </p:spPr>
        <p:txBody>
          <a:bodyPr wrap="none" rtlCol="0">
            <a:spAutoFit/>
          </a:bodyPr>
          <a:lstStyle/>
          <a:p>
            <a:r>
              <a:rPr lang="en-US" altLang="zh-TW" dirty="0" err="1"/>
              <a:t>i</a:t>
            </a:r>
            <a:r>
              <a:rPr lang="en-US" altLang="zh-TW" dirty="0"/>
              <a:t> = 3  , k = 2</a:t>
            </a:r>
            <a:endParaRPr lang="zh-TW" altLang="en-US" dirty="0"/>
          </a:p>
        </p:txBody>
      </p:sp>
      <p:sp>
        <p:nvSpPr>
          <p:cNvPr id="16" name="文字方塊 15">
            <a:extLst>
              <a:ext uri="{FF2B5EF4-FFF2-40B4-BE49-F238E27FC236}">
                <a16:creationId xmlns:a16="http://schemas.microsoft.com/office/drawing/2014/main" id="{4096EFB8-F9BE-4A49-E06C-622057946B6F}"/>
              </a:ext>
            </a:extLst>
          </p:cNvPr>
          <p:cNvSpPr txBox="1"/>
          <p:nvPr/>
        </p:nvSpPr>
        <p:spPr>
          <a:xfrm>
            <a:off x="5656182" y="3559913"/>
            <a:ext cx="1234633" cy="369332"/>
          </a:xfrm>
          <a:prstGeom prst="rect">
            <a:avLst/>
          </a:prstGeom>
          <a:noFill/>
        </p:spPr>
        <p:txBody>
          <a:bodyPr wrap="none" rtlCol="0">
            <a:spAutoFit/>
          </a:bodyPr>
          <a:lstStyle/>
          <a:p>
            <a:r>
              <a:rPr lang="en-US" altLang="zh-TW" dirty="0" err="1"/>
              <a:t>i</a:t>
            </a:r>
            <a:r>
              <a:rPr lang="en-US" altLang="zh-TW" dirty="0"/>
              <a:t> = 3  , k = 3</a:t>
            </a:r>
            <a:endParaRPr lang="zh-TW" altLang="en-US" dirty="0"/>
          </a:p>
        </p:txBody>
      </p:sp>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B969ABB6-85F5-A280-ADFC-79AB3C197D39}"/>
                  </a:ext>
                </a:extLst>
              </p:cNvPr>
              <p:cNvGraphicFramePr>
                <a:graphicFrameLocks noGrp="1"/>
              </p:cNvGraphicFramePr>
              <p:nvPr>
                <p:extLst>
                  <p:ext uri="{D42A27DB-BD31-4B8C-83A1-F6EECF244321}">
                    <p14:modId xmlns:p14="http://schemas.microsoft.com/office/powerpoint/2010/main" val="727192948"/>
                  </p:ext>
                </p:extLst>
              </p:nvPr>
            </p:nvGraphicFramePr>
            <p:xfrm>
              <a:off x="5654639" y="39025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7" name="表格 16">
                <a:extLst>
                  <a:ext uri="{FF2B5EF4-FFF2-40B4-BE49-F238E27FC236}">
                    <a16:creationId xmlns:a16="http://schemas.microsoft.com/office/drawing/2014/main" id="{B969ABB6-85F5-A280-ADFC-79AB3C197D39}"/>
                  </a:ext>
                </a:extLst>
              </p:cNvPr>
              <p:cNvGraphicFramePr>
                <a:graphicFrameLocks noGrp="1"/>
              </p:cNvGraphicFramePr>
              <p:nvPr>
                <p:extLst>
                  <p:ext uri="{D42A27DB-BD31-4B8C-83A1-F6EECF244321}">
                    <p14:modId xmlns:p14="http://schemas.microsoft.com/office/powerpoint/2010/main" val="727192948"/>
                  </p:ext>
                </p:extLst>
              </p:nvPr>
            </p:nvGraphicFramePr>
            <p:xfrm>
              <a:off x="5654639" y="39025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1"/>
                          <a:stretch>
                            <a:fillRect l="-1190" t="-7576" r="-40238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18" name="文字方塊 17">
            <a:extLst>
              <a:ext uri="{FF2B5EF4-FFF2-40B4-BE49-F238E27FC236}">
                <a16:creationId xmlns:a16="http://schemas.microsoft.com/office/drawing/2014/main" id="{6D3716F4-6412-C2C5-0CD2-710AB1333F86}"/>
              </a:ext>
            </a:extLst>
          </p:cNvPr>
          <p:cNvSpPr txBox="1"/>
          <p:nvPr/>
        </p:nvSpPr>
        <p:spPr>
          <a:xfrm>
            <a:off x="5656182" y="4307327"/>
            <a:ext cx="1234633" cy="369332"/>
          </a:xfrm>
          <a:prstGeom prst="rect">
            <a:avLst/>
          </a:prstGeom>
          <a:noFill/>
        </p:spPr>
        <p:txBody>
          <a:bodyPr wrap="none" rtlCol="0">
            <a:spAutoFit/>
          </a:bodyPr>
          <a:lstStyle/>
          <a:p>
            <a:r>
              <a:rPr lang="en-US" altLang="zh-TW" dirty="0" err="1"/>
              <a:t>i</a:t>
            </a:r>
            <a:r>
              <a:rPr lang="en-US" altLang="zh-TW" dirty="0"/>
              <a:t> = 3  , k = 4</a:t>
            </a:r>
            <a:endParaRPr lang="zh-TW" altLang="en-US" dirty="0"/>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328FFDB5-5F2C-E72B-242B-3409FC94A74F}"/>
                  </a:ext>
                </a:extLst>
              </p:cNvPr>
              <p:cNvGraphicFramePr>
                <a:graphicFrameLocks noGrp="1"/>
              </p:cNvGraphicFramePr>
              <p:nvPr>
                <p:extLst>
                  <p:ext uri="{D42A27DB-BD31-4B8C-83A1-F6EECF244321}">
                    <p14:modId xmlns:p14="http://schemas.microsoft.com/office/powerpoint/2010/main" val="3650020046"/>
                  </p:ext>
                </p:extLst>
              </p:nvPr>
            </p:nvGraphicFramePr>
            <p:xfrm>
              <a:off x="5654639" y="46499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9" name="表格 18">
                <a:extLst>
                  <a:ext uri="{FF2B5EF4-FFF2-40B4-BE49-F238E27FC236}">
                    <a16:creationId xmlns:a16="http://schemas.microsoft.com/office/drawing/2014/main" id="{328FFDB5-5F2C-E72B-242B-3409FC94A74F}"/>
                  </a:ext>
                </a:extLst>
              </p:cNvPr>
              <p:cNvGraphicFramePr>
                <a:graphicFrameLocks noGrp="1"/>
              </p:cNvGraphicFramePr>
              <p:nvPr>
                <p:extLst>
                  <p:ext uri="{D42A27DB-BD31-4B8C-83A1-F6EECF244321}">
                    <p14:modId xmlns:p14="http://schemas.microsoft.com/office/powerpoint/2010/main" val="3650020046"/>
                  </p:ext>
                </p:extLst>
              </p:nvPr>
            </p:nvGraphicFramePr>
            <p:xfrm>
              <a:off x="5654639" y="46499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2"/>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20" name="文字方塊 19">
            <a:extLst>
              <a:ext uri="{FF2B5EF4-FFF2-40B4-BE49-F238E27FC236}">
                <a16:creationId xmlns:a16="http://schemas.microsoft.com/office/drawing/2014/main" id="{96599F21-0F9D-8D58-D1EC-5FB57863941D}"/>
              </a:ext>
            </a:extLst>
          </p:cNvPr>
          <p:cNvSpPr txBox="1"/>
          <p:nvPr/>
        </p:nvSpPr>
        <p:spPr>
          <a:xfrm>
            <a:off x="5656182" y="5028900"/>
            <a:ext cx="1234633" cy="369332"/>
          </a:xfrm>
          <a:prstGeom prst="rect">
            <a:avLst/>
          </a:prstGeom>
          <a:noFill/>
        </p:spPr>
        <p:txBody>
          <a:bodyPr wrap="none" rtlCol="0">
            <a:spAutoFit/>
          </a:bodyPr>
          <a:lstStyle/>
          <a:p>
            <a:r>
              <a:rPr lang="en-US" altLang="zh-TW" dirty="0" err="1"/>
              <a:t>i</a:t>
            </a:r>
            <a:r>
              <a:rPr lang="en-US" altLang="zh-TW" dirty="0"/>
              <a:t> = 3  , k = 5</a:t>
            </a:r>
            <a:endParaRPr lang="zh-TW" altLang="en-US" dirty="0"/>
          </a:p>
        </p:txBody>
      </p:sp>
      <mc:AlternateContent xmlns:mc="http://schemas.openxmlformats.org/markup-compatibility/2006" xmlns:a14="http://schemas.microsoft.com/office/drawing/2010/main">
        <mc:Choice Requires="a14">
          <p:graphicFrame>
            <p:nvGraphicFramePr>
              <p:cNvPr id="21" name="表格 20">
                <a:extLst>
                  <a:ext uri="{FF2B5EF4-FFF2-40B4-BE49-F238E27FC236}">
                    <a16:creationId xmlns:a16="http://schemas.microsoft.com/office/drawing/2014/main" id="{1E3409D3-873A-D7B3-9C33-9A0955A6BCF3}"/>
                  </a:ext>
                </a:extLst>
              </p:cNvPr>
              <p:cNvGraphicFramePr>
                <a:graphicFrameLocks noGrp="1"/>
              </p:cNvGraphicFramePr>
              <p:nvPr>
                <p:extLst>
                  <p:ext uri="{D42A27DB-BD31-4B8C-83A1-F6EECF244321}">
                    <p14:modId xmlns:p14="http://schemas.microsoft.com/office/powerpoint/2010/main" val="119276895"/>
                  </p:ext>
                </p:extLst>
              </p:nvPr>
            </p:nvGraphicFramePr>
            <p:xfrm>
              <a:off x="5654639" y="537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1" name="表格 20">
                <a:extLst>
                  <a:ext uri="{FF2B5EF4-FFF2-40B4-BE49-F238E27FC236}">
                    <a16:creationId xmlns:a16="http://schemas.microsoft.com/office/drawing/2014/main" id="{1E3409D3-873A-D7B3-9C33-9A0955A6BCF3}"/>
                  </a:ext>
                </a:extLst>
              </p:cNvPr>
              <p:cNvGraphicFramePr>
                <a:graphicFrameLocks noGrp="1"/>
              </p:cNvGraphicFramePr>
              <p:nvPr>
                <p:extLst>
                  <p:ext uri="{D42A27DB-BD31-4B8C-83A1-F6EECF244321}">
                    <p14:modId xmlns:p14="http://schemas.microsoft.com/office/powerpoint/2010/main" val="119276895"/>
                  </p:ext>
                </p:extLst>
              </p:nvPr>
            </p:nvGraphicFramePr>
            <p:xfrm>
              <a:off x="5654639" y="537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3"/>
                          <a:stretch>
                            <a:fillRect l="-1190" t="-7576" r="-402381" b="-15152"/>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22" name="文字方塊 21">
            <a:extLst>
              <a:ext uri="{FF2B5EF4-FFF2-40B4-BE49-F238E27FC236}">
                <a16:creationId xmlns:a16="http://schemas.microsoft.com/office/drawing/2014/main" id="{2F1EAA69-20F4-D777-5912-BFED4BFE17E9}"/>
              </a:ext>
            </a:extLst>
          </p:cNvPr>
          <p:cNvSpPr txBox="1"/>
          <p:nvPr/>
        </p:nvSpPr>
        <p:spPr>
          <a:xfrm>
            <a:off x="5656182" y="5805577"/>
            <a:ext cx="1234633" cy="369332"/>
          </a:xfrm>
          <a:prstGeom prst="rect">
            <a:avLst/>
          </a:prstGeom>
          <a:noFill/>
        </p:spPr>
        <p:txBody>
          <a:bodyPr wrap="none" rtlCol="0">
            <a:spAutoFit/>
          </a:bodyPr>
          <a:lstStyle/>
          <a:p>
            <a:r>
              <a:rPr lang="en-US" altLang="zh-TW" dirty="0" err="1"/>
              <a:t>i</a:t>
            </a:r>
            <a:r>
              <a:rPr lang="en-US" altLang="zh-TW" dirty="0"/>
              <a:t> = 3  , k = 6</a:t>
            </a:r>
            <a:endParaRPr lang="zh-TW" altLang="en-US" dirty="0"/>
          </a:p>
        </p:txBody>
      </p:sp>
      <mc:AlternateContent xmlns:mc="http://schemas.openxmlformats.org/markup-compatibility/2006" xmlns:a14="http://schemas.microsoft.com/office/drawing/2010/main">
        <mc:Choice Requires="a14">
          <p:graphicFrame>
            <p:nvGraphicFramePr>
              <p:cNvPr id="23" name="表格 22">
                <a:extLst>
                  <a:ext uri="{FF2B5EF4-FFF2-40B4-BE49-F238E27FC236}">
                    <a16:creationId xmlns:a16="http://schemas.microsoft.com/office/drawing/2014/main" id="{43C927BE-9F7B-77DE-8435-8F7FAD1A3346}"/>
                  </a:ext>
                </a:extLst>
              </p:cNvPr>
              <p:cNvGraphicFramePr>
                <a:graphicFrameLocks noGrp="1"/>
              </p:cNvGraphicFramePr>
              <p:nvPr>
                <p:extLst>
                  <p:ext uri="{D42A27DB-BD31-4B8C-83A1-F6EECF244321}">
                    <p14:modId xmlns:p14="http://schemas.microsoft.com/office/powerpoint/2010/main" val="943165779"/>
                  </p:ext>
                </p:extLst>
              </p:nvPr>
            </p:nvGraphicFramePr>
            <p:xfrm>
              <a:off x="5654639" y="614819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3" name="表格 22">
                <a:extLst>
                  <a:ext uri="{FF2B5EF4-FFF2-40B4-BE49-F238E27FC236}">
                    <a16:creationId xmlns:a16="http://schemas.microsoft.com/office/drawing/2014/main" id="{43C927BE-9F7B-77DE-8435-8F7FAD1A3346}"/>
                  </a:ext>
                </a:extLst>
              </p:cNvPr>
              <p:cNvGraphicFramePr>
                <a:graphicFrameLocks noGrp="1"/>
              </p:cNvGraphicFramePr>
              <p:nvPr>
                <p:extLst>
                  <p:ext uri="{D42A27DB-BD31-4B8C-83A1-F6EECF244321}">
                    <p14:modId xmlns:p14="http://schemas.microsoft.com/office/powerpoint/2010/main" val="943165779"/>
                  </p:ext>
                </p:extLst>
              </p:nvPr>
            </p:nvGraphicFramePr>
            <p:xfrm>
              <a:off x="5654639" y="614819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4"/>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2361845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056083159"/>
              </p:ext>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10003"/>
                  </a:ext>
                </a:extLst>
              </a:tr>
              <a:tr h="303022">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10004"/>
                  </a:ext>
                </a:extLst>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a:t>k =          1                         2                       3                         4                          5                         6</a:t>
            </a:r>
            <a:endParaRPr lang="zh-TW" altLang="en-US" dirty="0"/>
          </a:p>
        </p:txBody>
      </p:sp>
      <p:sp>
        <p:nvSpPr>
          <p:cNvPr id="24" name="文字方塊 23"/>
          <p:cNvSpPr txBox="1"/>
          <p:nvPr/>
        </p:nvSpPr>
        <p:spPr>
          <a:xfrm>
            <a:off x="2796093" y="5071257"/>
            <a:ext cx="1234633" cy="369332"/>
          </a:xfrm>
          <a:prstGeom prst="rect">
            <a:avLst/>
          </a:prstGeom>
          <a:noFill/>
        </p:spPr>
        <p:txBody>
          <a:bodyPr wrap="none" rtlCol="0">
            <a:spAutoFit/>
          </a:bodyPr>
          <a:lstStyle/>
          <a:p>
            <a:r>
              <a:rPr lang="en-US" altLang="zh-TW" dirty="0" err="1"/>
              <a:t>i</a:t>
            </a:r>
            <a:r>
              <a:rPr lang="en-US" altLang="zh-TW" dirty="0"/>
              <a:t> = 4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46425"/>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 (1, 2) , (1, 5) ,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46425"/>
                <a:ext cx="5211042" cy="986296"/>
              </a:xfrm>
              <a:prstGeom prst="rect">
                <a:avLst/>
              </a:prstGeom>
              <a:blipFill>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ext uri="{D42A27DB-BD31-4B8C-83A1-F6EECF244321}">
                <p14:modId xmlns:p14="http://schemas.microsoft.com/office/powerpoint/2010/main" val="1476819203"/>
              </p:ext>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0001"/>
                  </a:ext>
                </a:extLst>
              </a:tr>
              <a:tr h="303022">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r>
                        <a:rPr lang="en-US" altLang="zh-TW" dirty="0"/>
                        <a:t>2</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r>
                        <a:rPr lang="en-US" altLang="zh-TW" dirty="0"/>
                        <a:t>2</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r>
                        <a:rPr lang="en-US" altLang="zh-TW" dirty="0"/>
                        <a:t>1</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tc>
                  <a:txBody>
                    <a:bodyPr/>
                    <a:lstStyle/>
                    <a:p>
                      <a:r>
                        <a:rPr lang="en-US" altLang="zh-TW" dirty="0"/>
                        <a:t>2</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401957170"/>
              </p:ext>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r>
                        <a:rPr lang="en-US" altLang="zh-TW" dirty="0"/>
                        <a:t>2</a:t>
                      </a:r>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3</a:t>
                      </a:r>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a:p>
                  </a:txBody>
                  <a:tcPr/>
                </a:tc>
                <a:tc>
                  <a:txBody>
                    <a:bodyPr/>
                    <a:lstStyle/>
                    <a:p>
                      <a:endParaRPr lang="zh-TW" altLang="en-US"/>
                    </a:p>
                  </a:txBody>
                  <a:tcPr/>
                </a:tc>
                <a:tc>
                  <a:txBody>
                    <a:bodyPr/>
                    <a:lstStyle/>
                    <a:p>
                      <a:r>
                        <a:rPr lang="en-US" altLang="zh-TW" dirty="0"/>
                        <a:t>3</a:t>
                      </a:r>
                      <a:endParaRPr lang="zh-TW" altLang="en-US" dirty="0"/>
                    </a:p>
                  </a:txBody>
                  <a:tcPr/>
                </a:tc>
                <a:tc>
                  <a:txBody>
                    <a:bodyPr/>
                    <a:lstStyle/>
                    <a:p>
                      <a:endParaRPr lang="zh-TW" altLang="en-US"/>
                    </a:p>
                  </a:txBody>
                  <a:tcPr/>
                </a:tc>
                <a:extLst>
                  <a:ext uri="{0D108BD9-81ED-4DB2-BD59-A6C34878D82A}">
                    <a16:rowId xmlns:a16="http://schemas.microsoft.com/office/drawing/2014/main" val="10002"/>
                  </a:ext>
                </a:extLst>
              </a:tr>
              <a:tr h="303022">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3022">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3119191009"/>
              </p:ext>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r>
                        <a:rPr lang="en-US" altLang="zh-TW" dirty="0"/>
                        <a:t>1</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r>
                        <a:rPr lang="en-US" altLang="zh-TW" dirty="0"/>
                        <a:t>2</a:t>
                      </a:r>
                      <a:endParaRPr lang="zh-TW" altLang="en-US" dirty="0"/>
                    </a:p>
                  </a:txBody>
                  <a:tcPr>
                    <a:noFill/>
                  </a:tcPr>
                </a:tc>
                <a:tc>
                  <a:txBody>
                    <a:bodyPr/>
                    <a:lstStyle/>
                    <a:p>
                      <a:endParaRPr lang="zh-TW" altLang="en-US" dirty="0"/>
                    </a:p>
                  </a:txBody>
                  <a:tcPr>
                    <a:noFill/>
                  </a:tcPr>
                </a:tc>
                <a:tc>
                  <a:txBody>
                    <a:bodyPr/>
                    <a:lstStyle/>
                    <a:p>
                      <a:endParaRPr lang="zh-TW" altLang="en-US" dirty="0"/>
                    </a:p>
                  </a:txBody>
                  <a:tcPr>
                    <a:noFill/>
                  </a:tcPr>
                </a:tc>
                <a:extLst>
                  <a:ext uri="{0D108BD9-81ED-4DB2-BD59-A6C34878D82A}">
                    <a16:rowId xmlns:a16="http://schemas.microsoft.com/office/drawing/2014/main" val="10001"/>
                  </a:ext>
                </a:extLst>
              </a:tr>
              <a:tr h="303022">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r>
                        <a:rPr lang="en-US" altLang="zh-TW" dirty="0"/>
                        <a:t>3</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r>
                        <a:rPr lang="en-US" altLang="zh-TW" dirty="0"/>
                        <a:t>3</a:t>
                      </a:r>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2838394259"/>
              </p:ext>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extLst>
                    <a:ext uri="{9D8B030D-6E8A-4147-A177-3AD203B41FA5}">
                      <a16:colId xmlns:a16="http://schemas.microsoft.com/office/drawing/2014/main" val="20000"/>
                    </a:ext>
                  </a:extLst>
                </a:gridCol>
                <a:gridCol w="280416">
                  <a:extLst>
                    <a:ext uri="{9D8B030D-6E8A-4147-A177-3AD203B41FA5}">
                      <a16:colId xmlns:a16="http://schemas.microsoft.com/office/drawing/2014/main" val="20001"/>
                    </a:ext>
                  </a:extLst>
                </a:gridCol>
                <a:gridCol w="280416">
                  <a:extLst>
                    <a:ext uri="{9D8B030D-6E8A-4147-A177-3AD203B41FA5}">
                      <a16:colId xmlns:a16="http://schemas.microsoft.com/office/drawing/2014/main" val="20002"/>
                    </a:ext>
                  </a:extLst>
                </a:gridCol>
                <a:gridCol w="280416">
                  <a:extLst>
                    <a:ext uri="{9D8B030D-6E8A-4147-A177-3AD203B41FA5}">
                      <a16:colId xmlns:a16="http://schemas.microsoft.com/office/drawing/2014/main" val="20003"/>
                    </a:ext>
                  </a:extLst>
                </a:gridCol>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r h="303022">
                <a:tc>
                  <a:txBody>
                    <a:bodyPr/>
                    <a:lstStyle/>
                    <a:p>
                      <a:endParaRPr lang="zh-TW" altLang="en-US" dirty="0"/>
                    </a:p>
                  </a:txBody>
                  <a:tcPr>
                    <a:noFill/>
                  </a:tcPr>
                </a:tc>
                <a:tc>
                  <a:txBody>
                    <a:bodyPr/>
                    <a:lstStyle/>
                    <a:p>
                      <a:endParaRPr lang="zh-TW" altLang="en-US" dirty="0"/>
                    </a:p>
                  </a:txBody>
                  <a:tcPr>
                    <a:noFill/>
                  </a:tcPr>
                </a:tc>
                <a:tc>
                  <a:txBody>
                    <a:bodyPr/>
                    <a:lstStyle/>
                    <a:p>
                      <a:endParaRPr lang="zh-TW" altLang="en-US" dirty="0"/>
                    </a:p>
                  </a:txBody>
                  <a:tcPr>
                    <a:noFill/>
                  </a:tcPr>
                </a:tc>
                <a:tc>
                  <a:txBody>
                    <a:bodyPr/>
                    <a:lstStyle/>
                    <a:p>
                      <a:r>
                        <a:rPr lang="en-US" altLang="zh-TW" dirty="0"/>
                        <a:t>4</a:t>
                      </a:r>
                      <a:endParaRPr lang="zh-TW" altLang="en-US" dirty="0"/>
                    </a:p>
                  </a:txBody>
                  <a:tcPr>
                    <a:noFill/>
                  </a:tcPr>
                </a:tc>
                <a:extLst>
                  <a:ext uri="{0D108BD9-81ED-4DB2-BD59-A6C34878D82A}">
                    <a16:rowId xmlns:a16="http://schemas.microsoft.com/office/drawing/2014/main" val="10001"/>
                  </a:ext>
                </a:extLst>
              </a:tr>
              <a:tr h="303022">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r>
                        <a:rPr lang="en-US" altLang="zh-TW" dirty="0"/>
                        <a:t>5</a:t>
                      </a:r>
                      <a:endParaRPr lang="zh-TW" altLang="en-US" dirty="0"/>
                    </a:p>
                  </a:txBody>
                  <a:tcPr/>
                </a:tc>
                <a:extLst>
                  <a:ext uri="{0D108BD9-81ED-4DB2-BD59-A6C34878D82A}">
                    <a16:rowId xmlns:a16="http://schemas.microsoft.com/office/drawing/2014/main" val="10002"/>
                  </a:ext>
                </a:extLst>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r>
                        <a:rPr lang="en-US" altLang="zh-TW" dirty="0"/>
                        <a:t>5</a:t>
                      </a:r>
                      <a:endParaRPr lang="zh-TW" altLang="en-US" dirty="0"/>
                    </a:p>
                  </a:txBody>
                  <a:tcPr/>
                </a:tc>
                <a:extLst>
                  <a:ext uri="{0D108BD9-81ED-4DB2-BD59-A6C34878D82A}">
                    <a16:rowId xmlns:a16="http://schemas.microsoft.com/office/drawing/2014/main" val="10003"/>
                  </a:ext>
                </a:extLst>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r>
                        <a:rPr lang="en-US" altLang="zh-TW" dirty="0"/>
                        <a:t>5</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extLst>
                    <a:ext uri="{9D8B030D-6E8A-4147-A177-3AD203B41FA5}">
                      <a16:colId xmlns:a16="http://schemas.microsoft.com/office/drawing/2014/main" val="20000"/>
                    </a:ext>
                  </a:extLst>
                </a:gridCol>
              </a:tblGrid>
              <a:tr h="307391">
                <a:tc>
                  <a:txBody>
                    <a:bodyPr/>
                    <a:lstStyle/>
                    <a:p>
                      <a:r>
                        <a:rPr lang="en-US" altLang="zh-TW" dirty="0"/>
                        <a:t>0</a:t>
                      </a:r>
                      <a:endParaRPr lang="zh-TW" altLang="en-US" dirty="0"/>
                    </a:p>
                  </a:txBody>
                  <a:tcPr/>
                </a:tc>
                <a:extLst>
                  <a:ext uri="{0D108BD9-81ED-4DB2-BD59-A6C34878D82A}">
                    <a16:rowId xmlns:a16="http://schemas.microsoft.com/office/drawing/2014/main" val="10000"/>
                  </a:ext>
                </a:extLst>
              </a:tr>
              <a:tr h="307391">
                <a:tc>
                  <a:txBody>
                    <a:bodyPr/>
                    <a:lstStyle/>
                    <a:p>
                      <a:r>
                        <a:rPr lang="en-US" altLang="zh-TW" dirty="0"/>
                        <a:t>1</a:t>
                      </a:r>
                      <a:endParaRPr lang="zh-TW" altLang="en-US" dirty="0"/>
                    </a:p>
                  </a:txBody>
                  <a:tcPr/>
                </a:tc>
                <a:extLst>
                  <a:ext uri="{0D108BD9-81ED-4DB2-BD59-A6C34878D82A}">
                    <a16:rowId xmlns:a16="http://schemas.microsoft.com/office/drawing/2014/main" val="10001"/>
                  </a:ext>
                </a:extLst>
              </a:tr>
              <a:tr h="307391">
                <a:tc>
                  <a:txBody>
                    <a:bodyPr/>
                    <a:lstStyle/>
                    <a:p>
                      <a:r>
                        <a:rPr lang="en-US" altLang="zh-TW" dirty="0"/>
                        <a:t>2</a:t>
                      </a:r>
                      <a:endParaRPr lang="zh-TW" altLang="en-US" dirty="0"/>
                    </a:p>
                  </a:txBody>
                  <a:tcPr/>
                </a:tc>
                <a:extLst>
                  <a:ext uri="{0D108BD9-81ED-4DB2-BD59-A6C34878D82A}">
                    <a16:rowId xmlns:a16="http://schemas.microsoft.com/office/drawing/2014/main" val="10002"/>
                  </a:ext>
                </a:extLst>
              </a:tr>
              <a:tr h="307391">
                <a:tc>
                  <a:txBody>
                    <a:bodyPr/>
                    <a:lstStyle/>
                    <a:p>
                      <a:r>
                        <a:rPr lang="en-US" altLang="zh-TW" dirty="0"/>
                        <a:t>3</a:t>
                      </a:r>
                      <a:endParaRPr lang="zh-TW" altLang="en-US" dirty="0"/>
                    </a:p>
                  </a:txBody>
                  <a:tcPr/>
                </a:tc>
                <a:extLst>
                  <a:ext uri="{0D108BD9-81ED-4DB2-BD59-A6C34878D82A}">
                    <a16:rowId xmlns:a16="http://schemas.microsoft.com/office/drawing/2014/main" val="10003"/>
                  </a:ext>
                </a:extLst>
              </a:tr>
              <a:tr h="307391">
                <a:tc>
                  <a:txBody>
                    <a:bodyPr/>
                    <a:lstStyle/>
                    <a:p>
                      <a:r>
                        <a:rPr lang="en-US" altLang="zh-TW" dirty="0"/>
                        <a:t>4</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extLst>
                    <a:ext uri="{9D8B030D-6E8A-4147-A177-3AD203B41FA5}">
                      <a16:colId xmlns:a16="http://schemas.microsoft.com/office/drawing/2014/main" val="20000"/>
                    </a:ext>
                  </a:extLst>
                </a:gridCol>
                <a:gridCol w="282754">
                  <a:extLst>
                    <a:ext uri="{9D8B030D-6E8A-4147-A177-3AD203B41FA5}">
                      <a16:colId xmlns:a16="http://schemas.microsoft.com/office/drawing/2014/main" val="20001"/>
                    </a:ext>
                  </a:extLst>
                </a:gridCol>
                <a:gridCol w="282754">
                  <a:extLst>
                    <a:ext uri="{9D8B030D-6E8A-4147-A177-3AD203B41FA5}">
                      <a16:colId xmlns:a16="http://schemas.microsoft.com/office/drawing/2014/main" val="20002"/>
                    </a:ext>
                  </a:extLst>
                </a:gridCol>
                <a:gridCol w="282754">
                  <a:extLst>
                    <a:ext uri="{9D8B030D-6E8A-4147-A177-3AD203B41FA5}">
                      <a16:colId xmlns:a16="http://schemas.microsoft.com/office/drawing/2014/main" val="20003"/>
                    </a:ext>
                  </a:extLst>
                </a:gridCol>
              </a:tblGrid>
              <a:tr h="430541">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420400673"/>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420400673"/>
                  </p:ext>
                </p:extLst>
              </p:nvPr>
            </p:nvGraphicFramePr>
            <p:xfrm>
              <a:off x="34831" y="413264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3"/>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865950489"/>
                  </p:ext>
                </p:extLst>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865950489"/>
                  </p:ext>
                </p:extLst>
              </p:nvPr>
            </p:nvGraphicFramePr>
            <p:xfrm>
              <a:off x="34831" y="464252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4"/>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3686916540"/>
                  </p:ext>
                </p:extLst>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3686916540"/>
                  </p:ext>
                </p:extLst>
              </p:nvPr>
            </p:nvGraphicFramePr>
            <p:xfrm>
              <a:off x="36374" y="517169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5"/>
                          <a:stretch>
                            <a:fillRect l="-1190" t="-7576" r="-40357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29</a:t>
            </a:fld>
            <a:endParaRPr lang="zh-TW" altLang="en-US"/>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927830340"/>
                  </p:ext>
                </p:extLst>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6" name="表格 5">
                <a:extLst>
                  <a:ext uri="{FF2B5EF4-FFF2-40B4-BE49-F238E27FC236}">
                    <a16:creationId xmlns:a16="http://schemas.microsoft.com/office/drawing/2014/main" id="{5B9AD60D-8D81-A2F5-9B53-BB5ECE5FF1A5}"/>
                  </a:ext>
                </a:extLst>
              </p:cNvPr>
              <p:cNvGraphicFramePr>
                <a:graphicFrameLocks noGrp="1"/>
              </p:cNvGraphicFramePr>
              <p:nvPr>
                <p:extLst>
                  <p:ext uri="{D42A27DB-BD31-4B8C-83A1-F6EECF244321}">
                    <p14:modId xmlns:p14="http://schemas.microsoft.com/office/powerpoint/2010/main" val="927830340"/>
                  </p:ext>
                </p:extLst>
              </p:nvPr>
            </p:nvGraphicFramePr>
            <p:xfrm>
              <a:off x="34831" y="568487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6"/>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3749766699"/>
                  </p:ext>
                </p:extLst>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7" name="表格 6">
                <a:extLst>
                  <a:ext uri="{FF2B5EF4-FFF2-40B4-BE49-F238E27FC236}">
                    <a16:creationId xmlns:a16="http://schemas.microsoft.com/office/drawing/2014/main" id="{69AA35E6-AE0B-D5F4-3B20-04C83A3AE43A}"/>
                  </a:ext>
                </a:extLst>
              </p:cNvPr>
              <p:cNvGraphicFramePr>
                <a:graphicFrameLocks noGrp="1"/>
              </p:cNvGraphicFramePr>
              <p:nvPr>
                <p:extLst>
                  <p:ext uri="{D42A27DB-BD31-4B8C-83A1-F6EECF244321}">
                    <p14:modId xmlns:p14="http://schemas.microsoft.com/office/powerpoint/2010/main" val="3749766699"/>
                  </p:ext>
                </p:extLst>
              </p:nvPr>
            </p:nvGraphicFramePr>
            <p:xfrm>
              <a:off x="2740492" y="4088405"/>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7"/>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3367609034"/>
                  </p:ext>
                </p:extLst>
              </p:nvPr>
            </p:nvGraphicFramePr>
            <p:xfrm>
              <a:off x="2753494" y="464099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3</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8" name="表格 7">
                <a:extLst>
                  <a:ext uri="{FF2B5EF4-FFF2-40B4-BE49-F238E27FC236}">
                    <a16:creationId xmlns:a16="http://schemas.microsoft.com/office/drawing/2014/main" id="{0794D2AB-E6B3-A4EA-9F08-0D58C8399DB4}"/>
                  </a:ext>
                </a:extLst>
              </p:cNvPr>
              <p:cNvGraphicFramePr>
                <a:graphicFrameLocks noGrp="1"/>
              </p:cNvGraphicFramePr>
              <p:nvPr>
                <p:extLst>
                  <p:ext uri="{D42A27DB-BD31-4B8C-83A1-F6EECF244321}">
                    <p14:modId xmlns:p14="http://schemas.microsoft.com/office/powerpoint/2010/main" val="3367609034"/>
                  </p:ext>
                </p:extLst>
              </p:nvPr>
            </p:nvGraphicFramePr>
            <p:xfrm>
              <a:off x="2753494" y="4640998"/>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8"/>
                          <a:stretch>
                            <a:fillRect l="-1190" t="-7576" r="-402381" b="-15152"/>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97E52AD8-D9BC-CD6E-69DB-759F671576D2}"/>
                  </a:ext>
                </a:extLst>
              </p:cNvPr>
              <p:cNvGraphicFramePr>
                <a:graphicFrameLocks noGrp="1"/>
              </p:cNvGraphicFramePr>
              <p:nvPr>
                <p:extLst>
                  <p:ext uri="{D42A27DB-BD31-4B8C-83A1-F6EECF244321}">
                    <p14:modId xmlns:p14="http://schemas.microsoft.com/office/powerpoint/2010/main" val="3038772558"/>
                  </p:ext>
                </p:extLst>
              </p:nvPr>
            </p:nvGraphicFramePr>
            <p:xfrm>
              <a:off x="2794550" y="541387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4</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0" name="表格 9">
                <a:extLst>
                  <a:ext uri="{FF2B5EF4-FFF2-40B4-BE49-F238E27FC236}">
                    <a16:creationId xmlns:a16="http://schemas.microsoft.com/office/drawing/2014/main" id="{97E52AD8-D9BC-CD6E-69DB-759F671576D2}"/>
                  </a:ext>
                </a:extLst>
              </p:cNvPr>
              <p:cNvGraphicFramePr>
                <a:graphicFrameLocks noGrp="1"/>
              </p:cNvGraphicFramePr>
              <p:nvPr>
                <p:extLst>
                  <p:ext uri="{D42A27DB-BD31-4B8C-83A1-F6EECF244321}">
                    <p14:modId xmlns:p14="http://schemas.microsoft.com/office/powerpoint/2010/main" val="3038772558"/>
                  </p:ext>
                </p:extLst>
              </p:nvPr>
            </p:nvGraphicFramePr>
            <p:xfrm>
              <a:off x="2794550" y="541387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9"/>
                          <a:stretch>
                            <a:fillRect l="-1190" t="-7576" r="-40238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1</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6EE33B42-5969-AE7C-CB31-CF18F44F32A6}"/>
                  </a:ext>
                </a:extLst>
              </p:cNvPr>
              <p:cNvGraphicFramePr>
                <a:graphicFrameLocks noGrp="1"/>
              </p:cNvGraphicFramePr>
              <p:nvPr>
                <p:extLst>
                  <p:ext uri="{D42A27DB-BD31-4B8C-83A1-F6EECF244321}">
                    <p14:modId xmlns:p14="http://schemas.microsoft.com/office/powerpoint/2010/main" val="306296548"/>
                  </p:ext>
                </p:extLst>
              </p:nvPr>
            </p:nvGraphicFramePr>
            <p:xfrm>
              <a:off x="2761839" y="639292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4</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4" name="表格 13">
                <a:extLst>
                  <a:ext uri="{FF2B5EF4-FFF2-40B4-BE49-F238E27FC236}">
                    <a16:creationId xmlns:a16="http://schemas.microsoft.com/office/drawing/2014/main" id="{6EE33B42-5969-AE7C-CB31-CF18F44F32A6}"/>
                  </a:ext>
                </a:extLst>
              </p:cNvPr>
              <p:cNvGraphicFramePr>
                <a:graphicFrameLocks noGrp="1"/>
              </p:cNvGraphicFramePr>
              <p:nvPr>
                <p:extLst>
                  <p:ext uri="{D42A27DB-BD31-4B8C-83A1-F6EECF244321}">
                    <p14:modId xmlns:p14="http://schemas.microsoft.com/office/powerpoint/2010/main" val="306296548"/>
                  </p:ext>
                </p:extLst>
              </p:nvPr>
            </p:nvGraphicFramePr>
            <p:xfrm>
              <a:off x="2761839" y="639292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0"/>
                          <a:stretch>
                            <a:fillRect l="-1190" t="-7463" r="-402381" b="-14925"/>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15" name="文字方塊 14">
            <a:extLst>
              <a:ext uri="{FF2B5EF4-FFF2-40B4-BE49-F238E27FC236}">
                <a16:creationId xmlns:a16="http://schemas.microsoft.com/office/drawing/2014/main" id="{05C8BD71-A6C6-E5B0-7431-8C2D0980556E}"/>
              </a:ext>
            </a:extLst>
          </p:cNvPr>
          <p:cNvSpPr txBox="1"/>
          <p:nvPr/>
        </p:nvSpPr>
        <p:spPr>
          <a:xfrm>
            <a:off x="2783091" y="5870848"/>
            <a:ext cx="1234633" cy="369332"/>
          </a:xfrm>
          <a:prstGeom prst="rect">
            <a:avLst/>
          </a:prstGeom>
          <a:noFill/>
        </p:spPr>
        <p:txBody>
          <a:bodyPr wrap="none" rtlCol="0">
            <a:spAutoFit/>
          </a:bodyPr>
          <a:lstStyle/>
          <a:p>
            <a:r>
              <a:rPr lang="en-US" altLang="zh-TW" dirty="0" err="1"/>
              <a:t>i</a:t>
            </a:r>
            <a:r>
              <a:rPr lang="en-US" altLang="zh-TW" dirty="0"/>
              <a:t> = 4  , k = 2</a:t>
            </a:r>
            <a:endParaRPr lang="zh-TW" altLang="en-US" dirty="0"/>
          </a:p>
        </p:txBody>
      </p:sp>
      <p:sp>
        <p:nvSpPr>
          <p:cNvPr id="16" name="文字方塊 15">
            <a:extLst>
              <a:ext uri="{FF2B5EF4-FFF2-40B4-BE49-F238E27FC236}">
                <a16:creationId xmlns:a16="http://schemas.microsoft.com/office/drawing/2014/main" id="{4096EFB8-F9BE-4A49-E06C-622057946B6F}"/>
              </a:ext>
            </a:extLst>
          </p:cNvPr>
          <p:cNvSpPr txBox="1"/>
          <p:nvPr/>
        </p:nvSpPr>
        <p:spPr>
          <a:xfrm>
            <a:off x="5656182" y="3559913"/>
            <a:ext cx="1234633" cy="369332"/>
          </a:xfrm>
          <a:prstGeom prst="rect">
            <a:avLst/>
          </a:prstGeom>
          <a:noFill/>
        </p:spPr>
        <p:txBody>
          <a:bodyPr wrap="none" rtlCol="0">
            <a:spAutoFit/>
          </a:bodyPr>
          <a:lstStyle/>
          <a:p>
            <a:r>
              <a:rPr lang="en-US" altLang="zh-TW" dirty="0" err="1"/>
              <a:t>i</a:t>
            </a:r>
            <a:r>
              <a:rPr lang="en-US" altLang="zh-TW" dirty="0"/>
              <a:t> = 4  , k = 3</a:t>
            </a:r>
            <a:endParaRPr lang="zh-TW" altLang="en-US" dirty="0"/>
          </a:p>
        </p:txBody>
      </p:sp>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B969ABB6-85F5-A280-ADFC-79AB3C197D39}"/>
                  </a:ext>
                </a:extLst>
              </p:cNvPr>
              <p:cNvGraphicFramePr>
                <a:graphicFrameLocks noGrp="1"/>
              </p:cNvGraphicFramePr>
              <p:nvPr>
                <p:extLst>
                  <p:ext uri="{D42A27DB-BD31-4B8C-83A1-F6EECF244321}">
                    <p14:modId xmlns:p14="http://schemas.microsoft.com/office/powerpoint/2010/main" val="1523819512"/>
                  </p:ext>
                </p:extLst>
              </p:nvPr>
            </p:nvGraphicFramePr>
            <p:xfrm>
              <a:off x="5654639" y="39025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4</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7" name="表格 16">
                <a:extLst>
                  <a:ext uri="{FF2B5EF4-FFF2-40B4-BE49-F238E27FC236}">
                    <a16:creationId xmlns:a16="http://schemas.microsoft.com/office/drawing/2014/main" id="{B969ABB6-85F5-A280-ADFC-79AB3C197D39}"/>
                  </a:ext>
                </a:extLst>
              </p:cNvPr>
              <p:cNvGraphicFramePr>
                <a:graphicFrameLocks noGrp="1"/>
              </p:cNvGraphicFramePr>
              <p:nvPr>
                <p:extLst>
                  <p:ext uri="{D42A27DB-BD31-4B8C-83A1-F6EECF244321}">
                    <p14:modId xmlns:p14="http://schemas.microsoft.com/office/powerpoint/2010/main" val="1523819512"/>
                  </p:ext>
                </p:extLst>
              </p:nvPr>
            </p:nvGraphicFramePr>
            <p:xfrm>
              <a:off x="5654639" y="3902529"/>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1"/>
                          <a:stretch>
                            <a:fillRect l="-1190" t="-7576" r="-402381" b="-15152"/>
                          </a:stretch>
                        </a:blipFill>
                      </a:tcPr>
                    </a:tc>
                    <a:tc>
                      <a:txBody>
                        <a:bodyPr/>
                        <a:lstStyle/>
                        <a:p>
                          <a:pPr algn="ctr"/>
                          <a:r>
                            <a:rPr lang="en-US" altLang="zh-TW" dirty="0">
                              <a:solidFill>
                                <a:schemeClr val="tx1"/>
                              </a:solidFill>
                            </a:rPr>
                            <a:t>1</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18" name="文字方塊 17">
            <a:extLst>
              <a:ext uri="{FF2B5EF4-FFF2-40B4-BE49-F238E27FC236}">
                <a16:creationId xmlns:a16="http://schemas.microsoft.com/office/drawing/2014/main" id="{6D3716F4-6412-C2C5-0CD2-710AB1333F86}"/>
              </a:ext>
            </a:extLst>
          </p:cNvPr>
          <p:cNvSpPr txBox="1"/>
          <p:nvPr/>
        </p:nvSpPr>
        <p:spPr>
          <a:xfrm>
            <a:off x="5656182" y="4307327"/>
            <a:ext cx="1234633" cy="369332"/>
          </a:xfrm>
          <a:prstGeom prst="rect">
            <a:avLst/>
          </a:prstGeom>
          <a:noFill/>
        </p:spPr>
        <p:txBody>
          <a:bodyPr wrap="none" rtlCol="0">
            <a:spAutoFit/>
          </a:bodyPr>
          <a:lstStyle/>
          <a:p>
            <a:r>
              <a:rPr lang="en-US" altLang="zh-TW" dirty="0" err="1"/>
              <a:t>i</a:t>
            </a:r>
            <a:r>
              <a:rPr lang="en-US" altLang="zh-TW" dirty="0"/>
              <a:t> = 4  , k = 4</a:t>
            </a:r>
            <a:endParaRPr lang="zh-TW" altLang="en-US" dirty="0"/>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328FFDB5-5F2C-E72B-242B-3409FC94A74F}"/>
                  </a:ext>
                </a:extLst>
              </p:cNvPr>
              <p:cNvGraphicFramePr>
                <a:graphicFrameLocks noGrp="1"/>
              </p:cNvGraphicFramePr>
              <p:nvPr>
                <p:extLst>
                  <p:ext uri="{D42A27DB-BD31-4B8C-83A1-F6EECF244321}">
                    <p14:modId xmlns:p14="http://schemas.microsoft.com/office/powerpoint/2010/main" val="2383448332"/>
                  </p:ext>
                </p:extLst>
              </p:nvPr>
            </p:nvGraphicFramePr>
            <p:xfrm>
              <a:off x="5654639" y="46499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4</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19" name="表格 18">
                <a:extLst>
                  <a:ext uri="{FF2B5EF4-FFF2-40B4-BE49-F238E27FC236}">
                    <a16:creationId xmlns:a16="http://schemas.microsoft.com/office/drawing/2014/main" id="{328FFDB5-5F2C-E72B-242B-3409FC94A74F}"/>
                  </a:ext>
                </a:extLst>
              </p:cNvPr>
              <p:cNvGraphicFramePr>
                <a:graphicFrameLocks noGrp="1"/>
              </p:cNvGraphicFramePr>
              <p:nvPr>
                <p:extLst>
                  <p:ext uri="{D42A27DB-BD31-4B8C-83A1-F6EECF244321}">
                    <p14:modId xmlns:p14="http://schemas.microsoft.com/office/powerpoint/2010/main" val="2383448332"/>
                  </p:ext>
                </p:extLst>
              </p:nvPr>
            </p:nvGraphicFramePr>
            <p:xfrm>
              <a:off x="5654639" y="464994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2"/>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20" name="文字方塊 19">
            <a:extLst>
              <a:ext uri="{FF2B5EF4-FFF2-40B4-BE49-F238E27FC236}">
                <a16:creationId xmlns:a16="http://schemas.microsoft.com/office/drawing/2014/main" id="{96599F21-0F9D-8D58-D1EC-5FB57863941D}"/>
              </a:ext>
            </a:extLst>
          </p:cNvPr>
          <p:cNvSpPr txBox="1"/>
          <p:nvPr/>
        </p:nvSpPr>
        <p:spPr>
          <a:xfrm>
            <a:off x="5656182" y="5028900"/>
            <a:ext cx="1075936" cy="369332"/>
          </a:xfrm>
          <a:prstGeom prst="rect">
            <a:avLst/>
          </a:prstGeom>
          <a:noFill/>
        </p:spPr>
        <p:txBody>
          <a:bodyPr wrap="none" rtlCol="0">
            <a:spAutoFit/>
          </a:bodyPr>
          <a:lstStyle/>
          <a:p>
            <a:r>
              <a:rPr lang="en-US" altLang="zh-TW" dirty="0" err="1"/>
              <a:t>i</a:t>
            </a:r>
            <a:r>
              <a:rPr lang="en-US" altLang="zh-TW" dirty="0"/>
              <a:t> =4, k = 5</a:t>
            </a:r>
            <a:endParaRPr lang="zh-TW" altLang="en-US" dirty="0"/>
          </a:p>
        </p:txBody>
      </p:sp>
      <mc:AlternateContent xmlns:mc="http://schemas.openxmlformats.org/markup-compatibility/2006" xmlns:a14="http://schemas.microsoft.com/office/drawing/2010/main">
        <mc:Choice Requires="a14">
          <p:graphicFrame>
            <p:nvGraphicFramePr>
              <p:cNvPr id="21" name="表格 20">
                <a:extLst>
                  <a:ext uri="{FF2B5EF4-FFF2-40B4-BE49-F238E27FC236}">
                    <a16:creationId xmlns:a16="http://schemas.microsoft.com/office/drawing/2014/main" id="{1E3409D3-873A-D7B3-9C33-9A0955A6BCF3}"/>
                  </a:ext>
                </a:extLst>
              </p:cNvPr>
              <p:cNvGraphicFramePr>
                <a:graphicFrameLocks noGrp="1"/>
              </p:cNvGraphicFramePr>
              <p:nvPr>
                <p:extLst>
                  <p:ext uri="{D42A27DB-BD31-4B8C-83A1-F6EECF244321}">
                    <p14:modId xmlns:p14="http://schemas.microsoft.com/office/powerpoint/2010/main" val="3081606711"/>
                  </p:ext>
                </p:extLst>
              </p:nvPr>
            </p:nvGraphicFramePr>
            <p:xfrm>
              <a:off x="5654639" y="537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4</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1" name="表格 20">
                <a:extLst>
                  <a:ext uri="{FF2B5EF4-FFF2-40B4-BE49-F238E27FC236}">
                    <a16:creationId xmlns:a16="http://schemas.microsoft.com/office/drawing/2014/main" id="{1E3409D3-873A-D7B3-9C33-9A0955A6BCF3}"/>
                  </a:ext>
                </a:extLst>
              </p:cNvPr>
              <p:cNvGraphicFramePr>
                <a:graphicFrameLocks noGrp="1"/>
              </p:cNvGraphicFramePr>
              <p:nvPr>
                <p:extLst>
                  <p:ext uri="{D42A27DB-BD31-4B8C-83A1-F6EECF244321}">
                    <p14:modId xmlns:p14="http://schemas.microsoft.com/office/powerpoint/2010/main" val="3081606711"/>
                  </p:ext>
                </p:extLst>
              </p:nvPr>
            </p:nvGraphicFramePr>
            <p:xfrm>
              <a:off x="5654639" y="5371516"/>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3"/>
                          <a:stretch>
                            <a:fillRect l="-1190" t="-7576" r="-402381" b="-15152"/>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
        <p:nvSpPr>
          <p:cNvPr id="22" name="文字方塊 21">
            <a:extLst>
              <a:ext uri="{FF2B5EF4-FFF2-40B4-BE49-F238E27FC236}">
                <a16:creationId xmlns:a16="http://schemas.microsoft.com/office/drawing/2014/main" id="{2F1EAA69-20F4-D777-5912-BFED4BFE17E9}"/>
              </a:ext>
            </a:extLst>
          </p:cNvPr>
          <p:cNvSpPr txBox="1"/>
          <p:nvPr/>
        </p:nvSpPr>
        <p:spPr>
          <a:xfrm>
            <a:off x="5656182" y="5805577"/>
            <a:ext cx="1075936" cy="369332"/>
          </a:xfrm>
          <a:prstGeom prst="rect">
            <a:avLst/>
          </a:prstGeom>
          <a:noFill/>
        </p:spPr>
        <p:txBody>
          <a:bodyPr wrap="none" rtlCol="0">
            <a:spAutoFit/>
          </a:bodyPr>
          <a:lstStyle/>
          <a:p>
            <a:r>
              <a:rPr lang="en-US" altLang="zh-TW" dirty="0" err="1"/>
              <a:t>i</a:t>
            </a:r>
            <a:r>
              <a:rPr lang="en-US" altLang="zh-TW" dirty="0"/>
              <a:t> =4, k = 6</a:t>
            </a:r>
            <a:endParaRPr lang="zh-TW" altLang="en-US" dirty="0"/>
          </a:p>
        </p:txBody>
      </p:sp>
      <mc:AlternateContent xmlns:mc="http://schemas.openxmlformats.org/markup-compatibility/2006" xmlns:a14="http://schemas.microsoft.com/office/drawing/2010/main">
        <mc:Choice Requires="a14">
          <p:graphicFrame>
            <p:nvGraphicFramePr>
              <p:cNvPr id="23" name="表格 22">
                <a:extLst>
                  <a:ext uri="{FF2B5EF4-FFF2-40B4-BE49-F238E27FC236}">
                    <a16:creationId xmlns:a16="http://schemas.microsoft.com/office/drawing/2014/main" id="{43C927BE-9F7B-77DE-8435-8F7FAD1A3346}"/>
                  </a:ext>
                </a:extLst>
              </p:cNvPr>
              <p:cNvGraphicFramePr>
                <a:graphicFrameLocks noGrp="1"/>
              </p:cNvGraphicFramePr>
              <p:nvPr>
                <p:extLst>
                  <p:ext uri="{D42A27DB-BD31-4B8C-83A1-F6EECF244321}">
                    <p14:modId xmlns:p14="http://schemas.microsoft.com/office/powerpoint/2010/main" val="473840966"/>
                  </p:ext>
                </p:extLst>
              </p:nvPr>
            </p:nvGraphicFramePr>
            <p:xfrm>
              <a:off x="5654639" y="614819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4</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Choice>
        <mc:Fallback xmlns="">
          <p:graphicFrame>
            <p:nvGraphicFramePr>
              <p:cNvPr id="23" name="表格 22">
                <a:extLst>
                  <a:ext uri="{FF2B5EF4-FFF2-40B4-BE49-F238E27FC236}">
                    <a16:creationId xmlns:a16="http://schemas.microsoft.com/office/drawing/2014/main" id="{43C927BE-9F7B-77DE-8435-8F7FAD1A3346}"/>
                  </a:ext>
                </a:extLst>
              </p:cNvPr>
              <p:cNvGraphicFramePr>
                <a:graphicFrameLocks noGrp="1"/>
              </p:cNvGraphicFramePr>
              <p:nvPr>
                <p:extLst>
                  <p:ext uri="{D42A27DB-BD31-4B8C-83A1-F6EECF244321}">
                    <p14:modId xmlns:p14="http://schemas.microsoft.com/office/powerpoint/2010/main" val="473840966"/>
                  </p:ext>
                </p:extLst>
              </p:nvPr>
            </p:nvGraphicFramePr>
            <p:xfrm>
              <a:off x="5654639" y="6148193"/>
              <a:ext cx="2554465" cy="399640"/>
            </p:xfrm>
            <a:graphic>
              <a:graphicData uri="http://schemas.openxmlformats.org/drawingml/2006/table">
                <a:tbl>
                  <a:tblPr firstRow="1" bandRow="1">
                    <a:tableStyleId>{5940675A-B579-460E-94D1-54222C63F5DA}</a:tableStyleId>
                  </a:tblPr>
                  <a:tblGrid>
                    <a:gridCol w="510893">
                      <a:extLst>
                        <a:ext uri="{9D8B030D-6E8A-4147-A177-3AD203B41FA5}">
                          <a16:colId xmlns:a16="http://schemas.microsoft.com/office/drawing/2014/main" val="20000"/>
                        </a:ext>
                      </a:extLst>
                    </a:gridCol>
                    <a:gridCol w="510893">
                      <a:extLst>
                        <a:ext uri="{9D8B030D-6E8A-4147-A177-3AD203B41FA5}">
                          <a16:colId xmlns:a16="http://schemas.microsoft.com/office/drawing/2014/main" val="20001"/>
                        </a:ext>
                      </a:extLst>
                    </a:gridCol>
                    <a:gridCol w="510893">
                      <a:extLst>
                        <a:ext uri="{9D8B030D-6E8A-4147-A177-3AD203B41FA5}">
                          <a16:colId xmlns:a16="http://schemas.microsoft.com/office/drawing/2014/main" val="20002"/>
                        </a:ext>
                      </a:extLst>
                    </a:gridCol>
                    <a:gridCol w="510893">
                      <a:extLst>
                        <a:ext uri="{9D8B030D-6E8A-4147-A177-3AD203B41FA5}">
                          <a16:colId xmlns:a16="http://schemas.microsoft.com/office/drawing/2014/main" val="20003"/>
                        </a:ext>
                      </a:extLst>
                    </a:gridCol>
                    <a:gridCol w="510893">
                      <a:extLst>
                        <a:ext uri="{9D8B030D-6E8A-4147-A177-3AD203B41FA5}">
                          <a16:colId xmlns:a16="http://schemas.microsoft.com/office/drawing/2014/main" val="20004"/>
                        </a:ext>
                      </a:extLst>
                    </a:gridCol>
                  </a:tblGrid>
                  <a:tr h="399640">
                    <a:tc>
                      <a:txBody>
                        <a:bodyPr/>
                        <a:lstStyle/>
                        <a:p>
                          <a:endParaRPr lang="zh-TW"/>
                        </a:p>
                      </a:txBody>
                      <a:tcPr>
                        <a:blipFill>
                          <a:blip r:embed="rId14"/>
                          <a:stretch>
                            <a:fillRect l="-1190" t="-7463" r="-402381" b="-14925"/>
                          </a:stretch>
                        </a:blipFill>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solidFill>
                                <a:schemeClr val="tx1"/>
                              </a:solidFill>
                            </a:rPr>
                            <a:t>5</a:t>
                          </a:r>
                          <a:endParaRPr lang="zh-TW" altLang="en-US" dirty="0">
                            <a:solidFill>
                              <a:schemeClr val="tx1"/>
                            </a:solidFill>
                          </a:endParaRP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14232515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4D6040A7-1F15-A2CF-A841-F71725A0A8D7}"/>
              </a:ext>
            </a:extLst>
          </p:cNvPr>
          <p:cNvSpPr>
            <a:spLocks noGrp="1"/>
          </p:cNvSpPr>
          <p:nvPr>
            <p:ph type="sldNum" sz="quarter" idx="12"/>
          </p:nvPr>
        </p:nvSpPr>
        <p:spPr/>
        <p:txBody>
          <a:bodyPr/>
          <a:lstStyle/>
          <a:p>
            <a:fld id="{B9CF4E80-5859-4E39-A40B-ED9B772D8B0F}" type="slidenum">
              <a:rPr lang="zh-TW" altLang="en-US" smtClean="0"/>
              <a:t>30</a:t>
            </a:fld>
            <a:endParaRPr lang="zh-TW" altLang="en-US"/>
          </a:p>
        </p:txBody>
      </p:sp>
      <p:pic>
        <p:nvPicPr>
          <p:cNvPr id="6" name="圖片 5">
            <a:extLst>
              <a:ext uri="{FF2B5EF4-FFF2-40B4-BE49-F238E27FC236}">
                <a16:creationId xmlns:a16="http://schemas.microsoft.com/office/drawing/2014/main" id="{4FFB4B4D-36B8-8CD4-4B46-6993ECF89F85}"/>
              </a:ext>
            </a:extLst>
          </p:cNvPr>
          <p:cNvPicPr>
            <a:picLocks noChangeAspect="1"/>
          </p:cNvPicPr>
          <p:nvPr/>
        </p:nvPicPr>
        <p:blipFill>
          <a:blip r:embed="rId2"/>
          <a:stretch>
            <a:fillRect/>
          </a:stretch>
        </p:blipFill>
        <p:spPr>
          <a:xfrm>
            <a:off x="628650" y="0"/>
            <a:ext cx="4177067" cy="6858000"/>
          </a:xfrm>
          <a:prstGeom prst="rect">
            <a:avLst/>
          </a:prstGeom>
        </p:spPr>
      </p:pic>
      <p:sp>
        <p:nvSpPr>
          <p:cNvPr id="8" name="右大括弧 7">
            <a:extLst>
              <a:ext uri="{FF2B5EF4-FFF2-40B4-BE49-F238E27FC236}">
                <a16:creationId xmlns:a16="http://schemas.microsoft.com/office/drawing/2014/main" id="{92FD6B09-2013-0EAB-EB66-ADD09BDC89F9}"/>
              </a:ext>
            </a:extLst>
          </p:cNvPr>
          <p:cNvSpPr/>
          <p:nvPr/>
        </p:nvSpPr>
        <p:spPr>
          <a:xfrm>
            <a:off x="4774492" y="1505274"/>
            <a:ext cx="355106" cy="49271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0" name="直線單箭頭接點 9">
            <a:extLst>
              <a:ext uri="{FF2B5EF4-FFF2-40B4-BE49-F238E27FC236}">
                <a16:creationId xmlns:a16="http://schemas.microsoft.com/office/drawing/2014/main" id="{741AF1B4-E5AC-FA5F-E4DE-B679DD12F705}"/>
              </a:ext>
            </a:extLst>
          </p:cNvPr>
          <p:cNvCxnSpPr/>
          <p:nvPr/>
        </p:nvCxnSpPr>
        <p:spPr>
          <a:xfrm>
            <a:off x="4774492" y="559294"/>
            <a:ext cx="8201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3C1F029D-3531-2B07-6DE8-0AFA268C9D94}"/>
              </a:ext>
            </a:extLst>
          </p:cNvPr>
          <p:cNvPicPr>
            <a:picLocks noChangeAspect="1"/>
          </p:cNvPicPr>
          <p:nvPr/>
        </p:nvPicPr>
        <p:blipFill>
          <a:blip r:embed="rId3"/>
          <a:stretch>
            <a:fillRect/>
          </a:stretch>
        </p:blipFill>
        <p:spPr>
          <a:xfrm>
            <a:off x="5784080" y="345366"/>
            <a:ext cx="3359920" cy="427855"/>
          </a:xfrm>
          <a:prstGeom prst="rect">
            <a:avLst/>
          </a:prstGeom>
        </p:spPr>
      </p:pic>
      <p:pic>
        <p:nvPicPr>
          <p:cNvPr id="14" name="圖片 13">
            <a:extLst>
              <a:ext uri="{FF2B5EF4-FFF2-40B4-BE49-F238E27FC236}">
                <a16:creationId xmlns:a16="http://schemas.microsoft.com/office/drawing/2014/main" id="{24E50632-BF68-2862-6FEE-1AEFA263D64A}"/>
              </a:ext>
            </a:extLst>
          </p:cNvPr>
          <p:cNvPicPr>
            <a:picLocks noChangeAspect="1"/>
          </p:cNvPicPr>
          <p:nvPr/>
        </p:nvPicPr>
        <p:blipFill>
          <a:blip r:embed="rId4"/>
          <a:stretch>
            <a:fillRect/>
          </a:stretch>
        </p:blipFill>
        <p:spPr>
          <a:xfrm>
            <a:off x="5484459" y="3744989"/>
            <a:ext cx="3467100" cy="447675"/>
          </a:xfrm>
          <a:prstGeom prst="rect">
            <a:avLst/>
          </a:prstGeom>
        </p:spPr>
      </p:pic>
      <p:pic>
        <p:nvPicPr>
          <p:cNvPr id="16" name="圖片 15">
            <a:extLst>
              <a:ext uri="{FF2B5EF4-FFF2-40B4-BE49-F238E27FC236}">
                <a16:creationId xmlns:a16="http://schemas.microsoft.com/office/drawing/2014/main" id="{49F150B2-ABC7-0FB0-14E2-81A6A767C23D}"/>
              </a:ext>
            </a:extLst>
          </p:cNvPr>
          <p:cNvPicPr>
            <a:picLocks noChangeAspect="1"/>
          </p:cNvPicPr>
          <p:nvPr/>
        </p:nvPicPr>
        <p:blipFill>
          <a:blip r:embed="rId5"/>
          <a:stretch>
            <a:fillRect/>
          </a:stretch>
        </p:blipFill>
        <p:spPr>
          <a:xfrm>
            <a:off x="5685686" y="4596163"/>
            <a:ext cx="3265873" cy="379369"/>
          </a:xfrm>
          <a:prstGeom prst="rect">
            <a:avLst/>
          </a:prstGeom>
        </p:spPr>
      </p:pic>
    </p:spTree>
    <p:extLst>
      <p:ext uri="{BB962C8B-B14F-4D97-AF65-F5344CB8AC3E}">
        <p14:creationId xmlns:p14="http://schemas.microsoft.com/office/powerpoint/2010/main" val="1907337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stretch>
            <a:fillRect/>
          </a:stretch>
        </p:blipFill>
        <p:spPr>
          <a:xfrm>
            <a:off x="727954" y="5115424"/>
            <a:ext cx="7135637" cy="1011238"/>
          </a:xfrm>
          <a:prstGeom prst="rect">
            <a:avLst/>
          </a:prstGeom>
        </p:spPr>
      </p:pic>
      <p:sp>
        <p:nvSpPr>
          <p:cNvPr id="2" name="標題 1"/>
          <p:cNvSpPr>
            <a:spLocks noGrp="1"/>
          </p:cNvSpPr>
          <p:nvPr>
            <p:ph type="title"/>
          </p:nvPr>
        </p:nvSpPr>
        <p:spPr>
          <a:xfrm>
            <a:off x="527049" y="78979"/>
            <a:ext cx="8515350" cy="1325563"/>
          </a:xfrm>
        </p:spPr>
        <p:txBody>
          <a:bodyPr>
            <a:normAutofit/>
          </a:bodyPr>
          <a:lstStyle/>
          <a:p>
            <a:r>
              <a:rPr lang="en-US" altLang="zh-TW" sz="3600" dirty="0">
                <a:latin typeface="Times New Roman" panose="02020603050405020304" pitchFamily="18" charset="0"/>
                <a:cs typeface="Times New Roman" panose="02020603050405020304" pitchFamily="18" charset="0"/>
              </a:rPr>
              <a:t>Algorithm for Block Merged LCS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31</a:t>
            </a:fld>
            <a:endParaRPr lang="zh-TW" altLang="en-US">
              <a:latin typeface="Times New Roman" panose="02020603050405020304" pitchFamily="18" charset="0"/>
              <a:cs typeface="Times New Roman" panose="02020603050405020304" pitchFamily="18" charset="0"/>
            </a:endParaRPr>
          </a:p>
        </p:txBody>
      </p:sp>
      <p:sp>
        <p:nvSpPr>
          <p:cNvPr id="6" name="向下箭號 5"/>
          <p:cNvSpPr/>
          <p:nvPr/>
        </p:nvSpPr>
        <p:spPr>
          <a:xfrm>
            <a:off x="4063997" y="4297365"/>
            <a:ext cx="463550" cy="5143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id="{9762B387-F796-ADEB-F237-065AFC923A03}"/>
              </a:ext>
            </a:extLst>
          </p:cNvPr>
          <p:cNvPicPr>
            <a:picLocks noChangeAspect="1"/>
          </p:cNvPicPr>
          <p:nvPr/>
        </p:nvPicPr>
        <p:blipFill>
          <a:blip r:embed="rId3"/>
          <a:stretch>
            <a:fillRect/>
          </a:stretch>
        </p:blipFill>
        <p:spPr>
          <a:xfrm>
            <a:off x="817410" y="1247616"/>
            <a:ext cx="7135637" cy="2783808"/>
          </a:xfrm>
          <a:prstGeom prst="rect">
            <a:avLst/>
          </a:prstGeom>
        </p:spPr>
      </p:pic>
    </p:spTree>
    <p:extLst>
      <p:ext uri="{BB962C8B-B14F-4D97-AF65-F5344CB8AC3E}">
        <p14:creationId xmlns:p14="http://schemas.microsoft.com/office/powerpoint/2010/main" val="33720338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Algorithm BMLCS(A, B, 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32</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At ﬁrst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is initialized to max{</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b="0" i="1" smtClean="0">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p>
              <a:p>
                <a:pPr>
                  <a:buNone/>
                </a:pPr>
                <a:endParaRPr lang="pt-BR" altLang="zh-TW" i="1" dirty="0"/>
              </a:p>
              <a:p>
                <a:r>
                  <a:rPr lang="en-US" altLang="zh-TW" dirty="0">
                    <a:solidFill>
                      <a:srgbClr val="FF0000"/>
                    </a:solidFill>
                    <a:latin typeface="Times New Roman" panose="02020603050405020304" pitchFamily="18" charset="0"/>
                    <a:cs typeface="Times New Roman" panose="02020603050405020304" pitchFamily="18" charset="0"/>
                  </a:rPr>
                  <a:t>if</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i="1">
                            <a:solidFill>
                              <a:srgbClr val="FF0000"/>
                            </a:solidFill>
                            <a:latin typeface="Cambria Math" panose="02040503050406030204" pitchFamily="18" charset="0"/>
                            <a:cs typeface="Times New Roman" panose="02020603050405020304" pitchFamily="18" charset="0"/>
                          </a:rPr>
                          <m:t> </m:t>
                        </m:r>
                        <m:r>
                          <a:rPr lang="en-US" altLang="zh-TW" i="1">
                            <a:solidFill>
                              <a:srgbClr val="FF0000"/>
                            </a:solidFill>
                            <a:latin typeface="Cambria Math" panose="02040503050406030204" pitchFamily="18" charset="0"/>
                            <a:cs typeface="Times New Roman" panose="02020603050405020304" pitchFamily="18" charset="0"/>
                          </a:rPr>
                          <m:t>𝑎</m:t>
                        </m:r>
                      </m:e>
                      <m:sub>
                        <m:r>
                          <a:rPr lang="en-US" altLang="zh-TW" i="1">
                            <a:solidFill>
                              <a:srgbClr val="FF0000"/>
                            </a:solidFill>
                            <a:latin typeface="Cambria Math" panose="02040503050406030204" pitchFamily="18" charset="0"/>
                            <a:cs typeface="Times New Roman" panose="02020603050405020304" pitchFamily="18" charset="0"/>
                          </a:rPr>
                          <m:t>𝑖</m:t>
                        </m:r>
                      </m:sub>
                    </m:sSub>
                  </m:oMath>
                </a14:m>
                <a:r>
                  <a:rPr lang="en-US" altLang="zh-TW" dirty="0">
                    <a:solidFill>
                      <a:srgbClr val="FF0000"/>
                    </a:solidFill>
                    <a:latin typeface="Times New Roman" panose="02020603050405020304" pitchFamily="18" charset="0"/>
                    <a:cs typeface="Times New Roman" panose="02020603050405020304" pitchFamily="18" charset="0"/>
                  </a:rPr>
                  <a:t> = </a:t>
                </a:r>
                <a:r>
                  <a:rPr lang="el-GR" altLang="zh-TW" dirty="0">
                    <a:solidFill>
                      <a:srgbClr val="FF0000"/>
                    </a:solidFill>
                    <a:latin typeface="Times New Roman" panose="02020603050405020304" pitchFamily="18" charset="0"/>
                    <a:cs typeface="Times New Roman" panose="02020603050405020304" pitchFamily="18" charset="0"/>
                  </a:rPr>
                  <a:t>{φ, #}</a:t>
                </a:r>
                <a:r>
                  <a:rPr lang="en-US" altLang="zh-TW" dirty="0">
                    <a:solidFill>
                      <a:srgbClr val="FF0000"/>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i="1">
                            <a:solidFill>
                              <a:srgbClr val="FF0000"/>
                            </a:solidFill>
                            <a:latin typeface="Cambria Math" panose="02040503050406030204" pitchFamily="18" charset="0"/>
                            <a:cs typeface="Times New Roman" panose="02020603050405020304" pitchFamily="18" charset="0"/>
                          </a:rPr>
                          <m:t>𝑏</m:t>
                        </m:r>
                      </m:e>
                      <m:sub>
                        <m:r>
                          <a:rPr lang="en-US" altLang="zh-TW" i="1">
                            <a:solidFill>
                              <a:srgbClr val="FF0000"/>
                            </a:solidFill>
                            <a:latin typeface="Cambria Math" panose="02040503050406030204" pitchFamily="18" charset="0"/>
                            <a:cs typeface="Times New Roman" panose="02020603050405020304" pitchFamily="18" charset="0"/>
                          </a:rPr>
                          <m:t>𝑗</m:t>
                        </m:r>
                      </m:sub>
                    </m:sSub>
                  </m:oMath>
                </a14:m>
                <a:r>
                  <a:rPr lang="en-US" altLang="zh-TW" dirty="0">
                    <a:solidFill>
                      <a:srgbClr val="FF0000"/>
                    </a:solidFill>
                    <a:latin typeface="Times New Roman" panose="02020603050405020304" pitchFamily="18" charset="0"/>
                    <a:cs typeface="Times New Roman" panose="02020603050405020304" pitchFamily="18" charset="0"/>
                  </a:rPr>
                  <a:t>  ≠</a:t>
                </a:r>
                <a:r>
                  <a:rPr lang="el-GR" altLang="zh-TW" dirty="0">
                    <a:solidFill>
                      <a:srgbClr val="FF0000"/>
                    </a:solidFill>
                    <a:latin typeface="Times New Roman" panose="02020603050405020304" pitchFamily="18" charset="0"/>
                    <a:cs typeface="Times New Roman" panose="02020603050405020304" pitchFamily="18" charset="0"/>
                  </a:rPr>
                  <a:t>{φ, #}</a:t>
                </a:r>
                <a:endParaRPr lang="pt-BR" altLang="zh-TW" i="1" dirty="0"/>
              </a:p>
              <a:p>
                <a:pPr marL="0" indent="0">
                  <a:buNone/>
                </a:pPr>
                <a:r>
                  <a:rPr lang="en-US" altLang="zh-TW" dirty="0">
                    <a:cs typeface="Times New Roman" panose="02020603050405020304" pitchFamily="18" charset="0"/>
                  </a:rPr>
                  <a:t>then </a:t>
                </a:r>
                <a14:m>
                  <m:oMath xmlns:m="http://schemas.openxmlformats.org/officeDocument/2006/math">
                    <m:r>
                      <m:rPr>
                        <m:sty m:val="p"/>
                      </m:rPr>
                      <a:rPr lang="en-US" altLang="zh-TW">
                        <a:latin typeface="Cambria Math" panose="02040503050406030204" pitchFamily="18" charset="0"/>
                        <a:cs typeface="Times New Roman" panose="02020603050405020304" pitchFamily="18" charset="0"/>
                      </a:rPr>
                      <m:t>match</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cs typeface="Times New Roman" panose="02020603050405020304" pitchFamily="18" charset="0"/>
                          </a:rPr>
                          <m:t>M</m:t>
                        </m:r>
                      </m:e>
                      <m:sub>
                        <m:r>
                          <m:rPr>
                            <m:sty m:val="p"/>
                          </m:rPr>
                          <a:rPr lang="en-US" altLang="zh-TW">
                            <a:latin typeface="Cambria Math" panose="02040503050406030204" pitchFamily="18" charset="0"/>
                            <a:cs typeface="Times New Roman" panose="02020603050405020304" pitchFamily="18" charset="0"/>
                          </a:rPr>
                          <m:t>j</m:t>
                        </m:r>
                      </m:sub>
                    </m:sSub>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r</m:t>
                    </m:r>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n</m:t>
                    </m:r>
                  </m:oMath>
                </a14:m>
                <a:endParaRPr lang="pt-BR" altLang="zh-TW" dirty="0"/>
              </a:p>
              <a:p>
                <a:pPr>
                  <a:buNone/>
                </a:pPr>
                <a:r>
                  <a:rPr lang="pt-BR" altLang="zh-TW" dirty="0"/>
                  <a:t>		</a:t>
                </a:r>
                <a14:m>
                  <m:oMath xmlns:m="http://schemas.openxmlformats.org/officeDocument/2006/math">
                    <m:sSub>
                      <m:sSubPr>
                        <m:ctrlPr>
                          <a:rPr lang="pt-BR" altLang="zh-TW" i="1">
                            <a:latin typeface="Cambria Math" panose="02040503050406030204" pitchFamily="18" charset="0"/>
                          </a:rPr>
                        </m:ctrlPr>
                      </m:sSubPr>
                      <m:e>
                        <m:r>
                          <a:rPr lang="en-US" altLang="zh-TW" i="1">
                            <a:latin typeface="Cambria Math" panose="02040503050406030204" pitchFamily="18" charset="0"/>
                          </a:rPr>
                          <m:t>𝐿</m:t>
                        </m:r>
                      </m:e>
                      <m:sub>
                        <m:r>
                          <a:rPr lang="en-US" altLang="zh-TW" i="1">
                            <a:latin typeface="Cambria Math" panose="02040503050406030204" pitchFamily="18" charset="0"/>
                          </a:rPr>
                          <m:t>𝑘</m:t>
                        </m:r>
                      </m:sub>
                    </m:sSub>
                  </m:oMath>
                </a14:m>
                <a:r>
                  <a:rPr lang="pt-BR" altLang="zh-TW" i="1" dirty="0"/>
                  <a:t>(i, j)  = BoundedMax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r>
                      <a:rPr lang="en-US" altLang="zh-TW" i="1">
                        <a:latin typeface="Cambria Math" panose="02040503050406030204" pitchFamily="18" charset="0"/>
                      </a:rPr>
                      <m:t>,</m:t>
                    </m:r>
                    <m:r>
                      <a:rPr lang="en-US" altLang="zh-TW" i="1">
                        <a:latin typeface="Cambria Math" panose="02040503050406030204" pitchFamily="18" charset="0"/>
                      </a:rPr>
                      <m:t>𝑗</m:t>
                    </m:r>
                  </m:oMath>
                </a14:m>
                <a:r>
                  <a:rPr lang="pt-BR" altLang="zh-TW" i="1" dirty="0"/>
                  <a:t>) + 1</a:t>
                </a:r>
                <a:endParaRPr lang="zh-TW" altLang="en-US"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solidFill>
                      <a:srgbClr val="FF0000"/>
                    </a:solidFill>
                    <a:latin typeface="Times New Roman" panose="02020603050405020304" pitchFamily="18" charset="0"/>
                    <a:cs typeface="Times New Roman" panose="02020603050405020304" pitchFamily="18" charset="0"/>
                  </a:rPr>
                  <a:t>if</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b="0" i="1" smtClean="0">
                            <a:solidFill>
                              <a:srgbClr val="FF0000"/>
                            </a:solidFill>
                            <a:latin typeface="Cambria Math" panose="02040503050406030204" pitchFamily="18" charset="0"/>
                            <a:cs typeface="Times New Roman" panose="02020603050405020304" pitchFamily="18" charset="0"/>
                          </a:rPr>
                          <m:t> </m:t>
                        </m:r>
                        <m:r>
                          <a:rPr lang="en-US" altLang="zh-TW" i="1">
                            <a:solidFill>
                              <a:srgbClr val="FF0000"/>
                            </a:solidFill>
                            <a:latin typeface="Cambria Math" panose="02040503050406030204" pitchFamily="18" charset="0"/>
                            <a:cs typeface="Times New Roman" panose="02020603050405020304" pitchFamily="18" charset="0"/>
                          </a:rPr>
                          <m:t>𝑎</m:t>
                        </m:r>
                      </m:e>
                      <m:sub>
                        <m:r>
                          <a:rPr lang="en-US" altLang="zh-TW" i="1">
                            <a:solidFill>
                              <a:srgbClr val="FF0000"/>
                            </a:solidFill>
                            <a:latin typeface="Cambria Math" panose="02040503050406030204" pitchFamily="18" charset="0"/>
                            <a:cs typeface="Times New Roman" panose="02020603050405020304" pitchFamily="18" charset="0"/>
                          </a:rPr>
                          <m:t>𝑖</m:t>
                        </m:r>
                      </m:sub>
                    </m:sSub>
                  </m:oMath>
                </a14:m>
                <a:r>
                  <a:rPr lang="en-US" altLang="zh-TW" dirty="0">
                    <a:solidFill>
                      <a:srgbClr val="FF0000"/>
                    </a:solidFill>
                    <a:latin typeface="Times New Roman" panose="02020603050405020304" pitchFamily="18" charset="0"/>
                    <a:cs typeface="Times New Roman" panose="02020603050405020304" pitchFamily="18" charset="0"/>
                  </a:rPr>
                  <a:t> ≠ </a:t>
                </a:r>
                <a:r>
                  <a:rPr lang="el-GR" altLang="zh-TW" dirty="0">
                    <a:solidFill>
                      <a:srgbClr val="FF0000"/>
                    </a:solidFill>
                    <a:latin typeface="Times New Roman" panose="02020603050405020304" pitchFamily="18" charset="0"/>
                    <a:cs typeface="Times New Roman" panose="02020603050405020304" pitchFamily="18" charset="0"/>
                  </a:rPr>
                  <a:t>{φ, #}</a:t>
                </a:r>
                <a:r>
                  <a:rPr lang="en-US" altLang="zh-TW" dirty="0">
                    <a:solidFill>
                      <a:srgbClr val="FF0000"/>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i="1">
                            <a:solidFill>
                              <a:srgbClr val="FF0000"/>
                            </a:solidFill>
                            <a:latin typeface="Cambria Math" panose="02040503050406030204" pitchFamily="18" charset="0"/>
                            <a:cs typeface="Times New Roman" panose="02020603050405020304" pitchFamily="18" charset="0"/>
                          </a:rPr>
                          <m:t>𝑏</m:t>
                        </m:r>
                      </m:e>
                      <m:sub>
                        <m:r>
                          <a:rPr lang="en-US" altLang="zh-TW" i="1">
                            <a:solidFill>
                              <a:srgbClr val="FF0000"/>
                            </a:solidFill>
                            <a:latin typeface="Cambria Math" panose="02040503050406030204" pitchFamily="18" charset="0"/>
                            <a:cs typeface="Times New Roman" panose="02020603050405020304" pitchFamily="18" charset="0"/>
                          </a:rPr>
                          <m:t>𝑗</m:t>
                        </m:r>
                      </m:sub>
                    </m:sSub>
                  </m:oMath>
                </a14:m>
                <a:r>
                  <a:rPr lang="en-US" altLang="zh-TW" dirty="0">
                    <a:solidFill>
                      <a:srgbClr val="FF0000"/>
                    </a:solidFill>
                    <a:latin typeface="Times New Roman" panose="02020603050405020304" pitchFamily="18" charset="0"/>
                    <a:cs typeface="Times New Roman" panose="02020603050405020304" pitchFamily="18" charset="0"/>
                  </a:rPr>
                  <a:t> =</a:t>
                </a:r>
                <a:r>
                  <a:rPr lang="el-GR" altLang="zh-TW" dirty="0">
                    <a:solidFill>
                      <a:srgbClr val="FF0000"/>
                    </a:solidFill>
                    <a:latin typeface="Times New Roman" panose="02020603050405020304" pitchFamily="18" charset="0"/>
                    <a:cs typeface="Times New Roman" panose="02020603050405020304" pitchFamily="18" charset="0"/>
                  </a:rPr>
                  <a:t>{φ, #}</a:t>
                </a:r>
                <a:endParaRPr lang="en-US" altLang="zh-TW"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then </a:t>
                </a:r>
                <a14:m>
                  <m:oMath xmlns:m="http://schemas.openxmlformats.org/officeDocument/2006/math">
                    <m:r>
                      <m:rPr>
                        <m:sty m:val="p"/>
                      </m:rPr>
                      <a:rPr lang="en-US" altLang="zh-TW" i="0">
                        <a:latin typeface="Cambria Math" panose="02040503050406030204" pitchFamily="18" charset="0"/>
                        <a:cs typeface="Times New Roman" panose="02020603050405020304" pitchFamily="18" charset="0"/>
                      </a:rPr>
                      <m:t>match</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i="0">
                            <a:latin typeface="Cambria Math" panose="02040503050406030204" pitchFamily="18" charset="0"/>
                            <a:cs typeface="Times New Roman" panose="02020603050405020304" pitchFamily="18" charset="0"/>
                          </a:rPr>
                          <m:t>M</m:t>
                        </m:r>
                      </m:e>
                      <m:sub>
                        <m:r>
                          <m:rPr>
                            <m:sty m:val="p"/>
                          </m:rPr>
                          <a:rPr lang="en-US" altLang="zh-TW" i="0">
                            <a:latin typeface="Cambria Math" panose="02040503050406030204" pitchFamily="18" charset="0"/>
                            <a:cs typeface="Times New Roman" panose="02020603050405020304" pitchFamily="18" charset="0"/>
                          </a:rPr>
                          <m:t>i</m:t>
                        </m:r>
                      </m:sub>
                    </m:sSub>
                    <m:r>
                      <a:rPr lang="en-US" altLang="zh-TW" i="0">
                        <a:latin typeface="Cambria Math" panose="02040503050406030204" pitchFamily="18" charset="0"/>
                        <a:cs typeface="Times New Roman" panose="02020603050405020304" pitchFamily="18" charset="0"/>
                      </a:rPr>
                      <m:t>, 1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m</m:t>
                    </m:r>
                    <m:r>
                      <a:rPr lang="en-US" altLang="zh-TW" i="0">
                        <a:latin typeface="Cambria Math" panose="02040503050406030204" pitchFamily="18" charset="0"/>
                        <a:cs typeface="Times New Roman" panose="02020603050405020304" pitchFamily="18" charset="0"/>
                      </a:rPr>
                      <m:t>, 1 ≤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 </m:t>
                    </m:r>
                    <m:r>
                      <m:rPr>
                        <m:sty m:val="p"/>
                      </m:rPr>
                      <a:rPr lang="en-US" altLang="zh-TW" i="0">
                        <a:latin typeface="Cambria Math" panose="02040503050406030204" pitchFamily="18" charset="0"/>
                        <a:cs typeface="Times New Roman" panose="02020603050405020304" pitchFamily="18" charset="0"/>
                      </a:rPr>
                      <m:t>n</m:t>
                    </m:r>
                  </m:oMath>
                </a14:m>
                <a:r>
                  <a:rPr lang="en-US" altLang="zh-TW" baseline="-25000" dirty="0">
                    <a:latin typeface="Times New Roman" panose="02020603050405020304" pitchFamily="18" charset="0"/>
                    <a:cs typeface="Times New Roman" panose="02020603050405020304" pitchFamily="18" charset="0"/>
                  </a:rPr>
                  <a:t>  </a:t>
                </a:r>
              </a:p>
              <a:p>
                <a:pPr>
                  <a:buNone/>
                </a:pPr>
                <a:r>
                  <a:rPr lang="pt-BR" altLang="zh-TW" dirty="0"/>
                  <a:t>		</a:t>
                </a:r>
                <a14:m>
                  <m:oMath xmlns:m="http://schemas.openxmlformats.org/officeDocument/2006/math">
                    <m:sSub>
                      <m:sSubPr>
                        <m:ctrlPr>
                          <a:rPr lang="pt-BR" altLang="zh-TW" i="1" smtClean="0">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𝐿</m:t>
                        </m:r>
                      </m:e>
                      <m:sub>
                        <m:r>
                          <a:rPr lang="en-US" altLang="zh-TW" i="1">
                            <a:solidFill>
                              <a:schemeClr val="tx1"/>
                            </a:solidFill>
                            <a:latin typeface="Cambria Math" panose="02040503050406030204" pitchFamily="18" charset="0"/>
                          </a:rPr>
                          <m:t>𝑘</m:t>
                        </m:r>
                      </m:sub>
                    </m:sSub>
                  </m:oMath>
                </a14:m>
                <a:r>
                  <a:rPr lang="pt-BR" altLang="zh-TW" i="1" dirty="0">
                    <a:solidFill>
                      <a:schemeClr val="tx1"/>
                    </a:solidFill>
                  </a:rPr>
                  <a:t>(i, j)  = BoundedMax (</a:t>
                </a:r>
                <a14:m>
                  <m:oMath xmlns:m="http://schemas.openxmlformats.org/officeDocument/2006/math">
                    <m:sSubSup>
                      <m:sSubSupPr>
                        <m:ctrlPr>
                          <a:rPr lang="en-US" altLang="zh-TW" i="1">
                            <a:solidFill>
                              <a:schemeClr val="tx1"/>
                            </a:solidFill>
                            <a:latin typeface="Cambria Math" panose="02040503050406030204" pitchFamily="18" charset="0"/>
                          </a:rPr>
                        </m:ctrlPr>
                      </m:sSubSupPr>
                      <m:e>
                        <m:r>
                          <a:rPr lang="en-US" altLang="zh-TW" i="1">
                            <a:solidFill>
                              <a:schemeClr val="tx1"/>
                            </a:solidFill>
                            <a:latin typeface="Cambria Math" panose="02040503050406030204" pitchFamily="18" charset="0"/>
                          </a:rPr>
                          <m:t>𝐻</m:t>
                        </m:r>
                      </m:e>
                      <m:sub>
                        <m:r>
                          <a:rPr lang="en-US" altLang="zh-TW" i="1">
                            <a:solidFill>
                              <a:schemeClr val="tx1"/>
                            </a:solidFill>
                            <a:latin typeface="Cambria Math" panose="02040503050406030204" pitchFamily="18" charset="0"/>
                          </a:rPr>
                          <m:t>𝑖</m:t>
                        </m:r>
                        <m:r>
                          <a:rPr lang="en-US" altLang="zh-TW" i="1">
                            <a:solidFill>
                              <a:schemeClr val="tx1"/>
                            </a:solidFill>
                            <a:latin typeface="Cambria Math" panose="02040503050406030204" pitchFamily="18" charset="0"/>
                          </a:rPr>
                          <m:t>−1</m:t>
                        </m:r>
                      </m:sub>
                      <m:sup>
                        <m:r>
                          <a:rPr lang="en-US" altLang="zh-TW" i="1">
                            <a:solidFill>
                              <a:schemeClr val="tx1"/>
                            </a:solidFill>
                            <a:latin typeface="Cambria Math" panose="02040503050406030204" pitchFamily="18" charset="0"/>
                          </a:rPr>
                          <m:t>𝑘</m:t>
                        </m:r>
                        <m:r>
                          <a:rPr lang="en-US" altLang="zh-TW" i="1">
                            <a:solidFill>
                              <a:schemeClr val="tx1"/>
                            </a:solidFill>
                            <a:latin typeface="Cambria Math" panose="02040503050406030204" pitchFamily="18" charset="0"/>
                          </a:rPr>
                          <m:t>−1</m:t>
                        </m:r>
                      </m:sup>
                    </m:sSubSup>
                    <m:r>
                      <a:rPr lang="en-US" altLang="zh-TW" i="1">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𝑗</m:t>
                    </m:r>
                    <m:r>
                      <a:rPr lang="en-US" altLang="zh-TW" i="1">
                        <a:solidFill>
                          <a:schemeClr val="tx1"/>
                        </a:solidFill>
                        <a:latin typeface="Cambria Math" panose="02040503050406030204" pitchFamily="18" charset="0"/>
                      </a:rPr>
                      <m:t>+1</m:t>
                    </m:r>
                  </m:oMath>
                </a14:m>
                <a:r>
                  <a:rPr lang="pt-BR" altLang="zh-TW" i="1" dirty="0">
                    <a:solidFill>
                      <a:schemeClr val="tx1"/>
                    </a:solidFill>
                  </a:rPr>
                  <a:t>) + 1</a:t>
                </a: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2"/>
                <a:stretch>
                  <a:fillRect l="-1481" t="-273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9422432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4D6040A7-1F15-A2CF-A841-F71725A0A8D7}"/>
              </a:ext>
            </a:extLst>
          </p:cNvPr>
          <p:cNvSpPr>
            <a:spLocks noGrp="1"/>
          </p:cNvSpPr>
          <p:nvPr>
            <p:ph type="sldNum" sz="quarter" idx="12"/>
          </p:nvPr>
        </p:nvSpPr>
        <p:spPr/>
        <p:txBody>
          <a:bodyPr/>
          <a:lstStyle/>
          <a:p>
            <a:fld id="{B9CF4E80-5859-4E39-A40B-ED9B772D8B0F}" type="slidenum">
              <a:rPr lang="zh-TW" altLang="en-US" smtClean="0"/>
              <a:t>33</a:t>
            </a:fld>
            <a:endParaRPr lang="zh-TW" altLang="en-US"/>
          </a:p>
        </p:txBody>
      </p:sp>
      <p:sp>
        <p:nvSpPr>
          <p:cNvPr id="8" name="右大括弧 7">
            <a:extLst>
              <a:ext uri="{FF2B5EF4-FFF2-40B4-BE49-F238E27FC236}">
                <a16:creationId xmlns:a16="http://schemas.microsoft.com/office/drawing/2014/main" id="{92FD6B09-2013-0EAB-EB66-ADD09BDC89F9}"/>
              </a:ext>
            </a:extLst>
          </p:cNvPr>
          <p:cNvSpPr/>
          <p:nvPr/>
        </p:nvSpPr>
        <p:spPr>
          <a:xfrm>
            <a:off x="4774492" y="1505274"/>
            <a:ext cx="355106" cy="49271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0" name="直線單箭頭接點 9">
            <a:extLst>
              <a:ext uri="{FF2B5EF4-FFF2-40B4-BE49-F238E27FC236}">
                <a16:creationId xmlns:a16="http://schemas.microsoft.com/office/drawing/2014/main" id="{741AF1B4-E5AC-FA5F-E4DE-B679DD12F705}"/>
              </a:ext>
            </a:extLst>
          </p:cNvPr>
          <p:cNvCxnSpPr/>
          <p:nvPr/>
        </p:nvCxnSpPr>
        <p:spPr>
          <a:xfrm>
            <a:off x="4774492" y="559294"/>
            <a:ext cx="8201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3C1F029D-3531-2B07-6DE8-0AFA268C9D94}"/>
              </a:ext>
            </a:extLst>
          </p:cNvPr>
          <p:cNvPicPr>
            <a:picLocks noChangeAspect="1"/>
          </p:cNvPicPr>
          <p:nvPr/>
        </p:nvPicPr>
        <p:blipFill>
          <a:blip r:embed="rId2"/>
          <a:stretch>
            <a:fillRect/>
          </a:stretch>
        </p:blipFill>
        <p:spPr>
          <a:xfrm>
            <a:off x="5784080" y="345366"/>
            <a:ext cx="3359920" cy="427855"/>
          </a:xfrm>
          <a:prstGeom prst="rect">
            <a:avLst/>
          </a:prstGeom>
        </p:spPr>
      </p:pic>
      <p:pic>
        <p:nvPicPr>
          <p:cNvPr id="3" name="圖片 2">
            <a:extLst>
              <a:ext uri="{FF2B5EF4-FFF2-40B4-BE49-F238E27FC236}">
                <a16:creationId xmlns:a16="http://schemas.microsoft.com/office/drawing/2014/main" id="{9F20F581-965D-4652-85B5-B79CAE525542}"/>
              </a:ext>
            </a:extLst>
          </p:cNvPr>
          <p:cNvPicPr>
            <a:picLocks noChangeAspect="1"/>
          </p:cNvPicPr>
          <p:nvPr/>
        </p:nvPicPr>
        <p:blipFill>
          <a:blip r:embed="rId3"/>
          <a:stretch>
            <a:fillRect/>
          </a:stretch>
        </p:blipFill>
        <p:spPr>
          <a:xfrm>
            <a:off x="755819" y="0"/>
            <a:ext cx="3358637" cy="6858000"/>
          </a:xfrm>
          <a:prstGeom prst="rect">
            <a:avLst/>
          </a:prstGeom>
        </p:spPr>
      </p:pic>
      <p:pic>
        <p:nvPicPr>
          <p:cNvPr id="7" name="圖片 6">
            <a:extLst>
              <a:ext uri="{FF2B5EF4-FFF2-40B4-BE49-F238E27FC236}">
                <a16:creationId xmlns:a16="http://schemas.microsoft.com/office/drawing/2014/main" id="{4E9BFF5D-9FA5-424E-BC15-DB34B38DB2C8}"/>
              </a:ext>
            </a:extLst>
          </p:cNvPr>
          <p:cNvPicPr>
            <a:picLocks noChangeAspect="1"/>
          </p:cNvPicPr>
          <p:nvPr/>
        </p:nvPicPr>
        <p:blipFill>
          <a:blip r:embed="rId4"/>
          <a:stretch>
            <a:fillRect/>
          </a:stretch>
        </p:blipFill>
        <p:spPr>
          <a:xfrm>
            <a:off x="5334000" y="3797377"/>
            <a:ext cx="3581400" cy="342900"/>
          </a:xfrm>
          <a:prstGeom prst="rect">
            <a:avLst/>
          </a:prstGeom>
        </p:spPr>
      </p:pic>
    </p:spTree>
    <p:extLst>
      <p:ext uri="{BB962C8B-B14F-4D97-AF65-F5344CB8AC3E}">
        <p14:creationId xmlns:p14="http://schemas.microsoft.com/office/powerpoint/2010/main" val="2057123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27049" y="78979"/>
            <a:ext cx="8515350" cy="1325563"/>
          </a:xfrm>
        </p:spPr>
        <p:txBody>
          <a:bodyPr>
            <a:normAutofit/>
          </a:bodyPr>
          <a:lstStyle/>
          <a:p>
            <a:pPr algn="ctr"/>
            <a:r>
              <a:rPr lang="en-US" altLang="zh-TW" sz="3600" dirty="0">
                <a:latin typeface="Times New Roman" panose="02020603050405020304" pitchFamily="18" charset="0"/>
                <a:cs typeface="Times New Roman" panose="02020603050405020304" pitchFamily="18" charset="0"/>
              </a:rPr>
              <a:t>Comparison of algorithms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34</a:t>
            </a:fld>
            <a:endParaRPr lang="zh-TW" altLang="en-US">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2"/>
          <a:stretch>
            <a:fillRect/>
          </a:stretch>
        </p:blipFill>
        <p:spPr>
          <a:xfrm>
            <a:off x="2194801" y="1404542"/>
            <a:ext cx="4993399" cy="4719638"/>
          </a:xfrm>
          <a:prstGeom prst="rect">
            <a:avLst/>
          </a:prstGeom>
        </p:spPr>
      </p:pic>
    </p:spTree>
    <p:extLst>
      <p:ext uri="{BB962C8B-B14F-4D97-AF65-F5344CB8AC3E}">
        <p14:creationId xmlns:p14="http://schemas.microsoft.com/office/powerpoint/2010/main" val="35052403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F0A144-840C-45BD-A15B-D51B010FBF72}"/>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Hybrid-Algorithm</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A02F358B-6571-40F3-9D32-7026B5CEFABE}"/>
              </a:ext>
            </a:extLst>
          </p:cNvPr>
          <p:cNvPicPr>
            <a:picLocks noGrp="1" noChangeAspect="1"/>
          </p:cNvPicPr>
          <p:nvPr>
            <p:ph idx="1"/>
          </p:nvPr>
        </p:nvPicPr>
        <p:blipFill>
          <a:blip r:embed="rId2"/>
          <a:stretch>
            <a:fillRect/>
          </a:stretch>
        </p:blipFill>
        <p:spPr>
          <a:xfrm>
            <a:off x="2313948" y="1690689"/>
            <a:ext cx="4516104" cy="4351338"/>
          </a:xfrm>
        </p:spPr>
      </p:pic>
      <p:sp>
        <p:nvSpPr>
          <p:cNvPr id="4" name="投影片編號版面配置區 3">
            <a:extLst>
              <a:ext uri="{FF2B5EF4-FFF2-40B4-BE49-F238E27FC236}">
                <a16:creationId xmlns:a16="http://schemas.microsoft.com/office/drawing/2014/main" id="{D038517C-EED3-4CF7-B00C-6E09F136B480}"/>
              </a:ext>
            </a:extLst>
          </p:cNvPr>
          <p:cNvSpPr>
            <a:spLocks noGrp="1"/>
          </p:cNvSpPr>
          <p:nvPr>
            <p:ph type="sldNum" sz="quarter" idx="12"/>
          </p:nvPr>
        </p:nvSpPr>
        <p:spPr/>
        <p:txBody>
          <a:bodyPr/>
          <a:lstStyle/>
          <a:p>
            <a:fld id="{B9CF4E80-5859-4E39-A40B-ED9B772D8B0F}" type="slidenum">
              <a:rPr lang="zh-TW" altLang="en-US" smtClean="0"/>
              <a:t>35</a:t>
            </a:fld>
            <a:endParaRPr lang="zh-TW" altLang="en-US"/>
          </a:p>
        </p:txBody>
      </p:sp>
    </p:spTree>
    <p:extLst>
      <p:ext uri="{BB962C8B-B14F-4D97-AF65-F5344CB8AC3E}">
        <p14:creationId xmlns:p14="http://schemas.microsoft.com/office/powerpoint/2010/main" val="4211469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C787FF-C5D7-43C1-BFD7-5F9B46F6C50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6C35F36-DCCB-4EE1-9DE0-AFEB5F623FEC}"/>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219E6881-E5ED-4975-AC77-133CE91D05E6}"/>
              </a:ext>
            </a:extLst>
          </p:cNvPr>
          <p:cNvSpPr>
            <a:spLocks noGrp="1"/>
          </p:cNvSpPr>
          <p:nvPr>
            <p:ph type="sldNum" sz="quarter" idx="12"/>
          </p:nvPr>
        </p:nvSpPr>
        <p:spPr/>
        <p:txBody>
          <a:bodyPr/>
          <a:lstStyle/>
          <a:p>
            <a:fld id="{B9CF4E80-5859-4E39-A40B-ED9B772D8B0F}" type="slidenum">
              <a:rPr lang="zh-TW" altLang="en-US" smtClean="0"/>
              <a:t>36</a:t>
            </a:fld>
            <a:endParaRPr lang="zh-TW" altLang="en-US"/>
          </a:p>
        </p:txBody>
      </p:sp>
      <p:pic>
        <p:nvPicPr>
          <p:cNvPr id="6" name="圖片 5">
            <a:extLst>
              <a:ext uri="{FF2B5EF4-FFF2-40B4-BE49-F238E27FC236}">
                <a16:creationId xmlns:a16="http://schemas.microsoft.com/office/drawing/2014/main" id="{78289E99-FED2-4324-96C9-81A00B32B7DE}"/>
              </a:ext>
            </a:extLst>
          </p:cNvPr>
          <p:cNvPicPr>
            <a:picLocks noChangeAspect="1"/>
          </p:cNvPicPr>
          <p:nvPr/>
        </p:nvPicPr>
        <p:blipFill>
          <a:blip r:embed="rId2"/>
          <a:stretch>
            <a:fillRect/>
          </a:stretch>
        </p:blipFill>
        <p:spPr>
          <a:xfrm>
            <a:off x="2436495" y="1825625"/>
            <a:ext cx="4743450" cy="3152775"/>
          </a:xfrm>
          <a:prstGeom prst="rect">
            <a:avLst/>
          </a:prstGeom>
        </p:spPr>
      </p:pic>
    </p:spTree>
    <p:extLst>
      <p:ext uri="{BB962C8B-B14F-4D97-AF65-F5344CB8AC3E}">
        <p14:creationId xmlns:p14="http://schemas.microsoft.com/office/powerpoint/2010/main" val="4022477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D77B2B-F60E-425C-86DF-A52AA973982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74C62A6-B12F-4BA6-91B1-A229C5390A58}"/>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24CB789B-46A1-499D-A236-9528EA7D9178}"/>
              </a:ext>
            </a:extLst>
          </p:cNvPr>
          <p:cNvSpPr>
            <a:spLocks noGrp="1"/>
          </p:cNvSpPr>
          <p:nvPr>
            <p:ph type="sldNum" sz="quarter" idx="12"/>
          </p:nvPr>
        </p:nvSpPr>
        <p:spPr/>
        <p:txBody>
          <a:bodyPr/>
          <a:lstStyle/>
          <a:p>
            <a:fld id="{B9CF4E80-5859-4E39-A40B-ED9B772D8B0F}" type="slidenum">
              <a:rPr lang="zh-TW" altLang="en-US" smtClean="0"/>
              <a:t>37</a:t>
            </a:fld>
            <a:endParaRPr lang="zh-TW" altLang="en-US"/>
          </a:p>
        </p:txBody>
      </p:sp>
      <p:pic>
        <p:nvPicPr>
          <p:cNvPr id="6" name="圖片 5">
            <a:extLst>
              <a:ext uri="{FF2B5EF4-FFF2-40B4-BE49-F238E27FC236}">
                <a16:creationId xmlns:a16="http://schemas.microsoft.com/office/drawing/2014/main" id="{F61E775D-4DF3-430A-98F0-B27F238E433F}"/>
              </a:ext>
            </a:extLst>
          </p:cNvPr>
          <p:cNvPicPr>
            <a:picLocks noChangeAspect="1"/>
          </p:cNvPicPr>
          <p:nvPr/>
        </p:nvPicPr>
        <p:blipFill>
          <a:blip r:embed="rId3"/>
          <a:stretch>
            <a:fillRect/>
          </a:stretch>
        </p:blipFill>
        <p:spPr>
          <a:xfrm>
            <a:off x="236797" y="0"/>
            <a:ext cx="8670406" cy="6858000"/>
          </a:xfrm>
          <a:prstGeom prst="rect">
            <a:avLst/>
          </a:prstGeom>
        </p:spPr>
      </p:pic>
    </p:spTree>
    <p:extLst>
      <p:ext uri="{BB962C8B-B14F-4D97-AF65-F5344CB8AC3E}">
        <p14:creationId xmlns:p14="http://schemas.microsoft.com/office/powerpoint/2010/main" val="1892759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1C08F7-37FB-445E-A985-4A922F92049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0CF66C5-2D0B-4E39-AF56-04810C7AD28F}"/>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E875E244-29D7-4ED2-BC9C-088AD46B11CA}"/>
              </a:ext>
            </a:extLst>
          </p:cNvPr>
          <p:cNvSpPr>
            <a:spLocks noGrp="1"/>
          </p:cNvSpPr>
          <p:nvPr>
            <p:ph type="sldNum" sz="quarter" idx="12"/>
          </p:nvPr>
        </p:nvSpPr>
        <p:spPr/>
        <p:txBody>
          <a:bodyPr/>
          <a:lstStyle/>
          <a:p>
            <a:fld id="{B9CF4E80-5859-4E39-A40B-ED9B772D8B0F}" type="slidenum">
              <a:rPr lang="zh-TW" altLang="en-US" smtClean="0"/>
              <a:t>38</a:t>
            </a:fld>
            <a:endParaRPr lang="zh-TW" altLang="en-US"/>
          </a:p>
        </p:txBody>
      </p:sp>
      <p:pic>
        <p:nvPicPr>
          <p:cNvPr id="6" name="圖片 5">
            <a:extLst>
              <a:ext uri="{FF2B5EF4-FFF2-40B4-BE49-F238E27FC236}">
                <a16:creationId xmlns:a16="http://schemas.microsoft.com/office/drawing/2014/main" id="{5295C9CE-2C50-4472-9018-C7A3637C26CA}"/>
              </a:ext>
            </a:extLst>
          </p:cNvPr>
          <p:cNvPicPr>
            <a:picLocks noChangeAspect="1"/>
          </p:cNvPicPr>
          <p:nvPr/>
        </p:nvPicPr>
        <p:blipFill>
          <a:blip r:embed="rId2"/>
          <a:stretch>
            <a:fillRect/>
          </a:stretch>
        </p:blipFill>
        <p:spPr>
          <a:xfrm>
            <a:off x="1976437" y="576262"/>
            <a:ext cx="5191125" cy="5705475"/>
          </a:xfrm>
          <a:prstGeom prst="rect">
            <a:avLst/>
          </a:prstGeom>
        </p:spPr>
      </p:pic>
    </p:spTree>
    <p:extLst>
      <p:ext uri="{BB962C8B-B14F-4D97-AF65-F5344CB8AC3E}">
        <p14:creationId xmlns:p14="http://schemas.microsoft.com/office/powerpoint/2010/main" val="1511010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5A2FF6-119F-4AAC-B105-1719C117633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8558FAD-6090-4878-B02E-6F366C121FE9}"/>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C4D83D74-11EB-4782-803F-AD0DFB2B13F1}"/>
              </a:ext>
            </a:extLst>
          </p:cNvPr>
          <p:cNvSpPr>
            <a:spLocks noGrp="1"/>
          </p:cNvSpPr>
          <p:nvPr>
            <p:ph type="sldNum" sz="quarter" idx="12"/>
          </p:nvPr>
        </p:nvSpPr>
        <p:spPr/>
        <p:txBody>
          <a:bodyPr/>
          <a:lstStyle/>
          <a:p>
            <a:fld id="{B9CF4E80-5859-4E39-A40B-ED9B772D8B0F}" type="slidenum">
              <a:rPr lang="zh-TW" altLang="en-US" smtClean="0"/>
              <a:t>39</a:t>
            </a:fld>
            <a:endParaRPr lang="zh-TW" altLang="en-US"/>
          </a:p>
        </p:txBody>
      </p:sp>
      <p:pic>
        <p:nvPicPr>
          <p:cNvPr id="6" name="圖片 5">
            <a:extLst>
              <a:ext uri="{FF2B5EF4-FFF2-40B4-BE49-F238E27FC236}">
                <a16:creationId xmlns:a16="http://schemas.microsoft.com/office/drawing/2014/main" id="{D44C7FE1-C147-4387-AFD3-F6C429188D09}"/>
              </a:ext>
            </a:extLst>
          </p:cNvPr>
          <p:cNvPicPr>
            <a:picLocks noChangeAspect="1"/>
          </p:cNvPicPr>
          <p:nvPr/>
        </p:nvPicPr>
        <p:blipFill>
          <a:blip r:embed="rId2"/>
          <a:stretch>
            <a:fillRect/>
          </a:stretch>
        </p:blipFill>
        <p:spPr>
          <a:xfrm>
            <a:off x="1271587" y="104775"/>
            <a:ext cx="6600825" cy="6648450"/>
          </a:xfrm>
          <a:prstGeom prst="rect">
            <a:avLst/>
          </a:prstGeom>
        </p:spPr>
      </p:pic>
    </p:spTree>
    <p:extLst>
      <p:ext uri="{BB962C8B-B14F-4D97-AF65-F5344CB8AC3E}">
        <p14:creationId xmlns:p14="http://schemas.microsoft.com/office/powerpoint/2010/main" val="391696067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20437</TotalTime>
  <Words>4425</Words>
  <Application>Microsoft Office PowerPoint</Application>
  <PresentationFormat>如螢幕大小 (4:3)</PresentationFormat>
  <Paragraphs>1587</Paragraphs>
  <Slides>39</Slides>
  <Notes>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39</vt:i4>
      </vt:variant>
    </vt:vector>
  </HeadingPairs>
  <TitlesOfParts>
    <vt:vector size="46" baseType="lpstr">
      <vt:lpstr>Arial</vt:lpstr>
      <vt:lpstr>Calibri</vt:lpstr>
      <vt:lpstr>Calibri Light</vt:lpstr>
      <vt:lpstr>Cambria Math</vt:lpstr>
      <vt:lpstr>Roboto</vt:lpstr>
      <vt:lpstr>Times New Roman</vt:lpstr>
      <vt:lpstr>Office 佈景主題</vt:lpstr>
      <vt:lpstr>Effective Sparse Dynamic Programming Algorithms for Merged and Block Merged LCS Problems</vt:lpstr>
      <vt:lpstr>Abstract(1/3)</vt:lpstr>
      <vt:lpstr>Abstract(2/3)</vt:lpstr>
      <vt:lpstr>Abstract(3/3)</vt:lpstr>
      <vt:lpstr>Merged LCS</vt:lpstr>
      <vt:lpstr>Block Merged LCS</vt:lpstr>
      <vt:lpstr>Match pair</vt:lpstr>
      <vt:lpstr>Algorithm for Merged LCS Problem</vt:lpstr>
      <vt:lpstr>Algorithm for Merged LCS Problem</vt:lpstr>
      <vt:lpstr>Bounded Heap data structure</vt:lpstr>
      <vt:lpstr>Bounded Heap data structure</vt:lpstr>
      <vt:lpstr>Algorithm MLCS(A, B, T)</vt:lpstr>
      <vt:lpstr>Algorithm MLCS(A, B, 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Algorithm for Block Merged LCS Problem</vt:lpstr>
      <vt:lpstr>Algorithm BMLCS(A, B, T)</vt:lpstr>
      <vt:lpstr>PowerPoint 簡報</vt:lpstr>
      <vt:lpstr>Comparison of algorithms</vt:lpstr>
      <vt:lpstr>Hybrid-Algorithm</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Association Rules in Big Data for E-healthcare Information System</dc:title>
  <dc:creator>muchmuch</dc:creator>
  <cp:lastModifiedBy>健廷 李</cp:lastModifiedBy>
  <cp:revision>240</cp:revision>
  <dcterms:created xsi:type="dcterms:W3CDTF">2016-04-23T07:31:56Z</dcterms:created>
  <dcterms:modified xsi:type="dcterms:W3CDTF">2023-03-13T11:51:39Z</dcterms:modified>
</cp:coreProperties>
</file>