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 id="264" r:id="rId12"/>
    <p:sldId id="265"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15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96354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633943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419314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3797010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26448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1211515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1061226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2205872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4053249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359395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A0B95E3-3A88-46F0-A67D-9632B87C8102}" type="datetimeFigureOut">
              <a:rPr lang="zh-TW" altLang="en-US" smtClean="0"/>
              <a:t>2013/7/2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38691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0B95E3-3A88-46F0-A67D-9632B87C8102}" type="datetimeFigureOut">
              <a:rPr lang="zh-TW" altLang="en-US" smtClean="0"/>
              <a:t>2013/7/2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7B8317-1FD7-4A09-A3C8-B60680C7CCB4}" type="slidenum">
              <a:rPr lang="zh-TW" altLang="en-US" smtClean="0"/>
              <a:t>‹#›</a:t>
            </a:fld>
            <a:endParaRPr lang="zh-TW" altLang="en-US"/>
          </a:p>
        </p:txBody>
      </p:sp>
    </p:spTree>
    <p:extLst>
      <p:ext uri="{BB962C8B-B14F-4D97-AF65-F5344CB8AC3E}">
        <p14:creationId xmlns:p14="http://schemas.microsoft.com/office/powerpoint/2010/main" val="2675665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Multiple Trajectory Search for Large Scale Global Optimization</a:t>
            </a:r>
            <a:br>
              <a:rPr lang="en-US" altLang="zh-TW" dirty="0" smtClean="0"/>
            </a:br>
            <a:endParaRPr lang="zh-TW" altLang="en-US" dirty="0"/>
          </a:p>
        </p:txBody>
      </p:sp>
      <p:sp>
        <p:nvSpPr>
          <p:cNvPr id="3" name="副標題 2"/>
          <p:cNvSpPr>
            <a:spLocks noGrp="1"/>
          </p:cNvSpPr>
          <p:nvPr>
            <p:ph type="subTitle" idx="1"/>
          </p:nvPr>
        </p:nvSpPr>
        <p:spPr/>
        <p:txBody>
          <a:bodyPr>
            <a:normAutofit fontScale="92500" lnSpcReduction="20000"/>
          </a:bodyPr>
          <a:lstStyle/>
          <a:p>
            <a:r>
              <a:rPr lang="en-US" altLang="zh-TW" dirty="0" smtClean="0"/>
              <a:t>Lin-Yu Tseng(</a:t>
            </a:r>
            <a:r>
              <a:rPr lang="zh-TW" altLang="en-US" dirty="0" smtClean="0"/>
              <a:t>曾怜玉</a:t>
            </a:r>
            <a:r>
              <a:rPr lang="en-US" altLang="zh-TW" dirty="0" smtClean="0"/>
              <a:t>) and Chun Chen</a:t>
            </a:r>
          </a:p>
          <a:p>
            <a:r>
              <a:rPr lang="en-US" altLang="zh-TW" dirty="0" smtClean="0"/>
              <a:t>2008 IEEE Congress on Evolutionary Computation (CEC 2008)</a:t>
            </a:r>
            <a:endParaRPr lang="en-US" altLang="zh-TW" dirty="0"/>
          </a:p>
          <a:p>
            <a:r>
              <a:rPr lang="zh-TW" altLang="en-US" dirty="0"/>
              <a:t>講者</a:t>
            </a:r>
            <a:r>
              <a:rPr lang="en-US" altLang="zh-TW" dirty="0"/>
              <a:t>:</a:t>
            </a:r>
            <a:r>
              <a:rPr lang="zh-TW" altLang="en-US" dirty="0"/>
              <a:t>方鈞毅</a:t>
            </a:r>
          </a:p>
        </p:txBody>
      </p:sp>
    </p:spTree>
    <p:extLst>
      <p:ext uri="{BB962C8B-B14F-4D97-AF65-F5344CB8AC3E}">
        <p14:creationId xmlns:p14="http://schemas.microsoft.com/office/powerpoint/2010/main" val="869895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85000" lnSpcReduction="10000"/>
          </a:bodyPr>
          <a:lstStyle/>
          <a:p>
            <a:r>
              <a:rPr lang="en-US" altLang="zh-TW" dirty="0" smtClean="0"/>
              <a:t>In this paper, the multiple trajectory search (MTS) is presented for large scale global optimization. The MTS uses multiple agents to search the solution space concurrently. Each agent does an iterated local search using one of three candidate local search methods. By choosing a local search method that best fits the landscape of a solution’s neighborhood, an agent may find its way to a local optimum or the global optimum. We applied the MTS to the seven benchmark problems designed for the CEC 2008 Special Session and Competition on Large Scale Global Optimization.</a:t>
            </a:r>
            <a:endParaRPr lang="zh-TW" altLang="en-US" dirty="0"/>
          </a:p>
        </p:txBody>
      </p:sp>
    </p:spTree>
    <p:extLst>
      <p:ext uri="{BB962C8B-B14F-4D97-AF65-F5344CB8AC3E}">
        <p14:creationId xmlns:p14="http://schemas.microsoft.com/office/powerpoint/2010/main" val="3247865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a:t>
            </a:r>
            <a:r>
              <a:rPr lang="en-US" altLang="zh-TW" dirty="0" smtClean="0"/>
              <a:t>ultiple </a:t>
            </a:r>
            <a:r>
              <a:rPr lang="en-US" altLang="zh-TW" dirty="0"/>
              <a:t>T</a:t>
            </a:r>
            <a:r>
              <a:rPr lang="en-US" altLang="zh-TW" dirty="0" smtClean="0"/>
              <a:t>rajectory </a:t>
            </a:r>
            <a:r>
              <a:rPr lang="en-US" altLang="zh-TW" dirty="0"/>
              <a:t>S</a:t>
            </a:r>
            <a:r>
              <a:rPr lang="en-US" altLang="zh-TW" dirty="0" smtClean="0"/>
              <a:t>earch (MTS)</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smtClean="0"/>
              <a:t>It was presented to solve the large scale global optimization problem.</a:t>
            </a:r>
          </a:p>
          <a:p>
            <a:r>
              <a:rPr lang="en-US" altLang="zh-TW" dirty="0" smtClean="0"/>
              <a:t>Typical </a:t>
            </a:r>
            <a:r>
              <a:rPr lang="en-US" altLang="zh-TW" dirty="0"/>
              <a:t>examples of global optimization applications include:</a:t>
            </a:r>
          </a:p>
          <a:p>
            <a:pPr lvl="1"/>
            <a:r>
              <a:rPr lang="en-US" altLang="zh-TW" dirty="0"/>
              <a:t>Protein structure </a:t>
            </a:r>
            <a:r>
              <a:rPr lang="en-US" altLang="zh-TW" dirty="0" smtClean="0"/>
              <a:t>prediction</a:t>
            </a:r>
            <a:endParaRPr lang="en-US" altLang="zh-TW" dirty="0"/>
          </a:p>
          <a:p>
            <a:pPr lvl="1"/>
            <a:r>
              <a:rPr lang="en-US" altLang="zh-TW" dirty="0" smtClean="0"/>
              <a:t>Traveling salesman problem (minimize the path length)</a:t>
            </a:r>
          </a:p>
          <a:p>
            <a:pPr lvl="1"/>
            <a:r>
              <a:rPr lang="en-US" altLang="zh-TW" dirty="0" smtClean="0"/>
              <a:t>Chemical engineering</a:t>
            </a:r>
            <a:endParaRPr lang="en-US" altLang="zh-TW" dirty="0"/>
          </a:p>
          <a:p>
            <a:pPr lvl="1"/>
            <a:r>
              <a:rPr lang="en-US" altLang="zh-TW" dirty="0" smtClean="0"/>
              <a:t>Worst </a:t>
            </a:r>
            <a:r>
              <a:rPr lang="en-US" altLang="zh-TW" dirty="0"/>
              <a:t>case analysis</a:t>
            </a:r>
          </a:p>
          <a:p>
            <a:pPr lvl="1"/>
            <a:r>
              <a:rPr lang="en-US" altLang="zh-TW" dirty="0"/>
              <a:t>Mathematical problems (e.g., the </a:t>
            </a:r>
            <a:r>
              <a:rPr lang="en-US" altLang="zh-TW" dirty="0" err="1"/>
              <a:t>Kepler</a:t>
            </a:r>
            <a:r>
              <a:rPr lang="en-US" altLang="zh-TW" dirty="0"/>
              <a:t> conjecture)</a:t>
            </a:r>
          </a:p>
          <a:p>
            <a:endParaRPr lang="en-US" altLang="zh-TW" dirty="0" smtClean="0"/>
          </a:p>
        </p:txBody>
      </p:sp>
    </p:spTree>
    <p:extLst>
      <p:ext uri="{BB962C8B-B14F-4D97-AF65-F5344CB8AC3E}">
        <p14:creationId xmlns:p14="http://schemas.microsoft.com/office/powerpoint/2010/main" val="818034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a:t>
            </a:r>
            <a:r>
              <a:rPr lang="en-US" altLang="zh-TW" dirty="0" smtClean="0"/>
              <a:t>lobal </a:t>
            </a:r>
            <a:r>
              <a:rPr lang="en-US" altLang="zh-TW" dirty="0"/>
              <a:t>O</a:t>
            </a:r>
            <a:r>
              <a:rPr lang="en-US" altLang="zh-TW" dirty="0" smtClean="0"/>
              <a:t>ptimization Problem</a:t>
            </a:r>
            <a:endParaRPr lang="zh-TW" altLang="en-US" dirty="0"/>
          </a:p>
        </p:txBody>
      </p:sp>
      <p:sp>
        <p:nvSpPr>
          <p:cNvPr id="3" name="內容版面配置區 2"/>
          <p:cNvSpPr>
            <a:spLocks noGrp="1"/>
          </p:cNvSpPr>
          <p:nvPr>
            <p:ph idx="1"/>
          </p:nvPr>
        </p:nvSpPr>
        <p:spPr/>
        <p:txBody>
          <a:bodyPr/>
          <a:lstStyle/>
          <a:p>
            <a:r>
              <a:rPr lang="en-US" altLang="zh-TW" dirty="0" smtClean="0"/>
              <a:t>P</a:t>
            </a:r>
            <a:r>
              <a:rPr lang="en-US" altLang="zh-TW" dirty="0" smtClean="0"/>
              <a:t>roblem definition:</a:t>
            </a:r>
          </a:p>
          <a:p>
            <a:pPr lvl="1"/>
            <a:r>
              <a:rPr lang="en-US" altLang="zh-TW" dirty="0" smtClean="0"/>
              <a:t>Minimize F(X)</a:t>
            </a:r>
          </a:p>
          <a:p>
            <a:pPr lvl="1"/>
            <a:r>
              <a:rPr lang="en-US" altLang="zh-TW" dirty="0" smtClean="0"/>
              <a:t>Subject to L ≤ X </a:t>
            </a:r>
            <a:r>
              <a:rPr lang="en-US" altLang="zh-TW" dirty="0" smtClean="0"/>
              <a:t>≤ U</a:t>
            </a:r>
          </a:p>
          <a:p>
            <a:pPr lvl="2"/>
            <a:r>
              <a:rPr lang="en-US" altLang="zh-TW" dirty="0" smtClean="0"/>
              <a:t>Where X = (x</a:t>
            </a:r>
            <a:r>
              <a:rPr lang="en-US" altLang="zh-TW" baseline="-25000" dirty="0" smtClean="0"/>
              <a:t>1</a:t>
            </a:r>
            <a:r>
              <a:rPr lang="en-US" altLang="zh-TW" dirty="0" smtClean="0"/>
              <a:t>, x</a:t>
            </a:r>
            <a:r>
              <a:rPr lang="en-US" altLang="zh-TW" baseline="-25000" dirty="0" smtClean="0"/>
              <a:t>2</a:t>
            </a:r>
            <a:r>
              <a:rPr lang="en-US" altLang="zh-TW" dirty="0" smtClean="0"/>
              <a:t>, x</a:t>
            </a:r>
            <a:r>
              <a:rPr lang="en-US" altLang="zh-TW" baseline="-25000" dirty="0" smtClean="0"/>
              <a:t>3</a:t>
            </a:r>
            <a:r>
              <a:rPr lang="en-US" altLang="zh-TW" dirty="0" smtClean="0"/>
              <a:t>, .., </a:t>
            </a:r>
            <a:r>
              <a:rPr lang="en-US" altLang="zh-TW" dirty="0" err="1" smtClean="0"/>
              <a:t>x</a:t>
            </a:r>
            <a:r>
              <a:rPr lang="en-US" altLang="zh-TW" baseline="-25000" dirty="0" err="1" smtClean="0"/>
              <a:t>n</a:t>
            </a:r>
            <a:r>
              <a:rPr lang="en-US" altLang="zh-TW" dirty="0" smtClean="0"/>
              <a:t>)</a:t>
            </a:r>
          </a:p>
          <a:p>
            <a:pPr lvl="2"/>
            <a:r>
              <a:rPr lang="en-US" altLang="zh-TW" dirty="0" smtClean="0"/>
              <a:t>F(X) is the objective function.</a:t>
            </a:r>
          </a:p>
          <a:p>
            <a:pPr lvl="2"/>
            <a:r>
              <a:rPr lang="en-US" altLang="zh-TW" dirty="0"/>
              <a:t>L</a:t>
            </a:r>
            <a:r>
              <a:rPr lang="en-US" altLang="zh-TW" dirty="0" smtClean="0"/>
              <a:t> = (l</a:t>
            </a:r>
            <a:r>
              <a:rPr lang="en-US" altLang="zh-TW" baseline="-25000" dirty="0" smtClean="0"/>
              <a:t>1</a:t>
            </a:r>
            <a:r>
              <a:rPr lang="en-US" altLang="zh-TW" dirty="0" smtClean="0"/>
              <a:t>, l</a:t>
            </a:r>
            <a:r>
              <a:rPr lang="en-US" altLang="zh-TW" baseline="-25000" dirty="0" smtClean="0"/>
              <a:t>2</a:t>
            </a:r>
            <a:r>
              <a:rPr lang="en-US" altLang="zh-TW" dirty="0" smtClean="0"/>
              <a:t>, l</a:t>
            </a:r>
            <a:r>
              <a:rPr lang="en-US" altLang="zh-TW" baseline="-25000" dirty="0" smtClean="0"/>
              <a:t>3</a:t>
            </a:r>
            <a:r>
              <a:rPr lang="en-US" altLang="zh-TW" dirty="0" smtClean="0"/>
              <a:t>, .., </a:t>
            </a:r>
            <a:r>
              <a:rPr lang="en-US" altLang="zh-TW" dirty="0" err="1"/>
              <a:t>l</a:t>
            </a:r>
            <a:r>
              <a:rPr lang="en-US" altLang="zh-TW" baseline="-25000" dirty="0" err="1" smtClean="0"/>
              <a:t>n</a:t>
            </a:r>
            <a:r>
              <a:rPr lang="en-US" altLang="zh-TW" dirty="0" smtClean="0"/>
              <a:t>), </a:t>
            </a:r>
            <a:r>
              <a:rPr lang="en-US" altLang="zh-TW" dirty="0" smtClean="0"/>
              <a:t>U</a:t>
            </a:r>
            <a:r>
              <a:rPr lang="en-US" altLang="zh-TW" dirty="0" smtClean="0"/>
              <a:t> = (u</a:t>
            </a:r>
            <a:r>
              <a:rPr lang="en-US" altLang="zh-TW" baseline="-25000" dirty="0" smtClean="0"/>
              <a:t>1</a:t>
            </a:r>
            <a:r>
              <a:rPr lang="en-US" altLang="zh-TW" dirty="0" smtClean="0"/>
              <a:t>, u</a:t>
            </a:r>
            <a:r>
              <a:rPr lang="en-US" altLang="zh-TW" baseline="-25000" dirty="0" smtClean="0"/>
              <a:t>2</a:t>
            </a:r>
            <a:r>
              <a:rPr lang="en-US" altLang="zh-TW" dirty="0" smtClean="0"/>
              <a:t>, u</a:t>
            </a:r>
            <a:r>
              <a:rPr lang="en-US" altLang="zh-TW" baseline="-25000" dirty="0" smtClean="0"/>
              <a:t>3</a:t>
            </a:r>
            <a:r>
              <a:rPr lang="en-US" altLang="zh-TW" dirty="0" smtClean="0"/>
              <a:t>, .., </a:t>
            </a:r>
            <a:r>
              <a:rPr lang="en-US" altLang="zh-TW" dirty="0"/>
              <a:t>u</a:t>
            </a:r>
            <a:r>
              <a:rPr lang="en-US" altLang="zh-TW" baseline="-25000" dirty="0" smtClean="0"/>
              <a:t>n</a:t>
            </a:r>
            <a:r>
              <a:rPr lang="en-US" altLang="zh-TW" dirty="0" smtClean="0"/>
              <a:t>)</a:t>
            </a:r>
          </a:p>
          <a:p>
            <a:pPr lvl="2"/>
            <a:r>
              <a:rPr lang="en-US" altLang="zh-TW" dirty="0" smtClean="0"/>
              <a:t>Feasible solution X satisfies l</a:t>
            </a:r>
            <a:r>
              <a:rPr lang="en-US" altLang="zh-TW" baseline="-25000" dirty="0" smtClean="0"/>
              <a:t>i</a:t>
            </a:r>
            <a:r>
              <a:rPr lang="en-US" altLang="zh-TW" dirty="0" smtClean="0"/>
              <a:t> </a:t>
            </a:r>
            <a:r>
              <a:rPr lang="en-US" altLang="zh-TW" dirty="0" smtClean="0"/>
              <a:t>≤ </a:t>
            </a:r>
            <a:r>
              <a:rPr lang="en-US" altLang="zh-TW" dirty="0" smtClean="0"/>
              <a:t>x</a:t>
            </a:r>
            <a:r>
              <a:rPr lang="en-US" altLang="zh-TW" baseline="-25000" dirty="0" smtClean="0"/>
              <a:t>i</a:t>
            </a:r>
            <a:r>
              <a:rPr lang="en-US" altLang="zh-TW" dirty="0" smtClean="0"/>
              <a:t> ≤</a:t>
            </a:r>
            <a:r>
              <a:rPr lang="en-US" altLang="zh-TW" dirty="0" smtClean="0"/>
              <a:t> </a:t>
            </a:r>
            <a:r>
              <a:rPr lang="en-US" altLang="zh-TW" dirty="0" err="1" smtClean="0"/>
              <a:t>u</a:t>
            </a:r>
            <a:r>
              <a:rPr lang="en-US" altLang="zh-TW" baseline="-25000" dirty="0" err="1" smtClean="0"/>
              <a:t>i</a:t>
            </a:r>
            <a:r>
              <a:rPr lang="en-US" altLang="zh-TW" dirty="0" smtClean="0"/>
              <a:t> , </a:t>
            </a:r>
            <a:r>
              <a:rPr lang="en-US" altLang="zh-TW" dirty="0" err="1" smtClean="0"/>
              <a:t>i</a:t>
            </a:r>
            <a:r>
              <a:rPr lang="en-US" altLang="zh-TW" dirty="0" smtClean="0"/>
              <a:t> = 1 to n</a:t>
            </a:r>
            <a:endParaRPr lang="en-US" altLang="zh-TW" dirty="0" smtClean="0"/>
          </a:p>
          <a:p>
            <a:pPr lvl="2"/>
            <a:endParaRPr lang="en-US" altLang="zh-TW" dirty="0" smtClean="0"/>
          </a:p>
          <a:p>
            <a:pPr lvl="2"/>
            <a:endParaRPr lang="zh-TW" altLang="en-US" dirty="0"/>
          </a:p>
        </p:txBody>
      </p:sp>
    </p:spTree>
    <p:extLst>
      <p:ext uri="{BB962C8B-B14F-4D97-AF65-F5344CB8AC3E}">
        <p14:creationId xmlns:p14="http://schemas.microsoft.com/office/powerpoint/2010/main" val="7526750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Multiple Trajectory Search (MTS)</a:t>
            </a:r>
            <a:endParaRPr lang="zh-TW" altLang="en-US" dirty="0"/>
          </a:p>
        </p:txBody>
      </p:sp>
      <p:sp>
        <p:nvSpPr>
          <p:cNvPr id="3" name="內容版面配置區 2"/>
          <p:cNvSpPr>
            <a:spLocks noGrp="1"/>
          </p:cNvSpPr>
          <p:nvPr>
            <p:ph idx="1"/>
          </p:nvPr>
        </p:nvSpPr>
        <p:spPr/>
        <p:txBody>
          <a:bodyPr>
            <a:normAutofit/>
          </a:bodyPr>
          <a:lstStyle/>
          <a:p>
            <a:r>
              <a:rPr lang="en-US" altLang="zh-TW" dirty="0" smtClean="0"/>
              <a:t>Steps</a:t>
            </a:r>
          </a:p>
          <a:p>
            <a:pPr marL="971550" lvl="1" indent="-514350">
              <a:buFont typeface="+mj-lt"/>
              <a:buAutoNum type="arabicPeriod"/>
            </a:pPr>
            <a:r>
              <a:rPr lang="zh-TW" altLang="en-US" dirty="0"/>
              <a:t>產生 </a:t>
            </a:r>
            <a:r>
              <a:rPr lang="en-US" altLang="zh-TW" u="sng" dirty="0"/>
              <a:t>M</a:t>
            </a:r>
            <a:r>
              <a:rPr lang="en-US" altLang="zh-TW" dirty="0"/>
              <a:t> </a:t>
            </a:r>
            <a:r>
              <a:rPr lang="zh-TW" altLang="en-US" dirty="0" smtClean="0"/>
              <a:t>個</a:t>
            </a:r>
            <a:r>
              <a:rPr lang="en-US" altLang="zh-TW" dirty="0" smtClean="0"/>
              <a:t>initial solutions by simulated orthogonal array SOA</a:t>
            </a:r>
            <a:r>
              <a:rPr lang="en-US" altLang="zh-TW" u="sng" baseline="-25000" dirty="0" smtClean="0"/>
              <a:t>M</a:t>
            </a:r>
            <a:r>
              <a:rPr lang="en-US" altLang="zh-TW" baseline="-25000" dirty="0" smtClean="0"/>
              <a:t>×N</a:t>
            </a:r>
            <a:r>
              <a:rPr lang="en-US" altLang="zh-TW" dirty="0" smtClean="0"/>
              <a:t> </a:t>
            </a:r>
            <a:r>
              <a:rPr lang="zh-TW" altLang="en-US" dirty="0"/>
              <a:t>；</a:t>
            </a:r>
            <a:r>
              <a:rPr lang="en-US" altLang="zh-TW" dirty="0" smtClean="0"/>
              <a:t> search range</a:t>
            </a:r>
            <a:r>
              <a:rPr lang="zh-TW" altLang="en-US" dirty="0" smtClean="0"/>
              <a:t>初始值為</a:t>
            </a:r>
            <a:r>
              <a:rPr lang="en-US" altLang="zh-TW" dirty="0" smtClean="0"/>
              <a:t>(upper bond - low bond)/2</a:t>
            </a:r>
            <a:endParaRPr lang="en-US" altLang="zh-TW" dirty="0" smtClean="0"/>
          </a:p>
          <a:p>
            <a:pPr marL="971550" lvl="1" indent="-514350">
              <a:buFont typeface="+mj-lt"/>
              <a:buAutoNum type="arabicPeriod"/>
            </a:pPr>
            <a:r>
              <a:rPr lang="zh-TW" altLang="en-US" dirty="0"/>
              <a:t>除第一代外，每一代只對部分較好的解，</a:t>
            </a:r>
            <a:r>
              <a:rPr lang="zh-TW" altLang="en-US" dirty="0" smtClean="0"/>
              <a:t>執行</a:t>
            </a:r>
            <a:r>
              <a:rPr lang="en-US" altLang="zh-TW" dirty="0" smtClean="0"/>
              <a:t>local search(solution, search range),</a:t>
            </a:r>
            <a:r>
              <a:rPr lang="en-US" altLang="zh-TW" sz="2000" dirty="0" smtClean="0"/>
              <a:t> </a:t>
            </a:r>
            <a:r>
              <a:rPr lang="en-US" altLang="zh-TW" dirty="0" smtClean="0"/>
              <a:t>local search</a:t>
            </a:r>
            <a:r>
              <a:rPr lang="zh-TW" altLang="en-US" dirty="0" smtClean="0"/>
              <a:t>將會修改</a:t>
            </a:r>
            <a:r>
              <a:rPr lang="en-US" altLang="zh-TW" dirty="0" smtClean="0"/>
              <a:t>search range</a:t>
            </a:r>
            <a:r>
              <a:rPr lang="zh-TW" altLang="en-US" dirty="0" smtClean="0"/>
              <a:t>，並將較好的解做為下一次疊代</a:t>
            </a:r>
            <a:r>
              <a:rPr lang="zh-TW" altLang="en-US" dirty="0"/>
              <a:t>的候選</a:t>
            </a:r>
            <a:r>
              <a:rPr lang="zh-TW" altLang="en-US" dirty="0" smtClean="0"/>
              <a:t>。</a:t>
            </a:r>
            <a:endParaRPr lang="en-US" altLang="zh-TW" dirty="0" smtClean="0"/>
          </a:p>
          <a:p>
            <a:pPr marL="971550" lvl="1" indent="-514350">
              <a:buFont typeface="+mj-lt"/>
              <a:buAutoNum type="arabicPeriod"/>
            </a:pPr>
            <a:r>
              <a:rPr lang="zh-TW" altLang="en-US" dirty="0" smtClean="0"/>
              <a:t>執行</a:t>
            </a:r>
            <a:r>
              <a:rPr lang="en-US" altLang="zh-TW" dirty="0" smtClean="0"/>
              <a:t>step2</a:t>
            </a:r>
            <a:r>
              <a:rPr lang="zh-TW" altLang="en-US" dirty="0" smtClean="0"/>
              <a:t>，直到到達指定次數。</a:t>
            </a:r>
            <a:endParaRPr lang="en-US" altLang="zh-TW" baseline="-25000" dirty="0" smtClean="0"/>
          </a:p>
          <a:p>
            <a:pPr marL="457200" lvl="1" indent="0">
              <a:buNone/>
            </a:pPr>
            <a:endParaRPr lang="en-US" altLang="zh-TW" baseline="-25000" dirty="0" smtClean="0"/>
          </a:p>
          <a:p>
            <a:pPr marL="457200" lvl="1" indent="0">
              <a:buNone/>
            </a:pPr>
            <a:endParaRPr lang="zh-TW" altLang="en-US" baseline="-25000" dirty="0"/>
          </a:p>
        </p:txBody>
      </p:sp>
    </p:spTree>
    <p:extLst>
      <p:ext uri="{BB962C8B-B14F-4D97-AF65-F5344CB8AC3E}">
        <p14:creationId xmlns:p14="http://schemas.microsoft.com/office/powerpoint/2010/main" val="11592966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lvl="1" algn="ctr" rtl="0">
              <a:spcBef>
                <a:spcPct val="0"/>
              </a:spcBef>
            </a:pPr>
            <a:r>
              <a:rPr lang="en-US" altLang="zh-TW" sz="4400" dirty="0" smtClean="0"/>
              <a:t>O</a:t>
            </a:r>
            <a:r>
              <a:rPr lang="en-US" altLang="zh-TW" sz="4400" dirty="0" smtClean="0"/>
              <a:t>rthogonal </a:t>
            </a:r>
            <a:r>
              <a:rPr lang="en-US" altLang="zh-TW" sz="4400" dirty="0"/>
              <a:t>A</a:t>
            </a:r>
            <a:r>
              <a:rPr lang="en-US" altLang="zh-TW" sz="4400" dirty="0" smtClean="0"/>
              <a:t>rray (OA)</a:t>
            </a:r>
            <a:endParaRPr lang="zh-TW" altLang="en-US" sz="4400" dirty="0"/>
          </a:p>
        </p:txBody>
      </p:sp>
      <p:sp>
        <p:nvSpPr>
          <p:cNvPr id="3" name="內容版面配置區 2"/>
          <p:cNvSpPr>
            <a:spLocks noGrp="1"/>
          </p:cNvSpPr>
          <p:nvPr>
            <p:ph idx="1"/>
          </p:nvPr>
        </p:nvSpPr>
        <p:spPr/>
        <p:txBody>
          <a:bodyPr>
            <a:normAutofit lnSpcReduction="10000"/>
          </a:bodyPr>
          <a:lstStyle/>
          <a:p>
            <a:r>
              <a:rPr lang="en-US" altLang="zh-TW" dirty="0" smtClean="0"/>
              <a:t>Orthogonal Array(OA)</a:t>
            </a:r>
          </a:p>
          <a:p>
            <a:pPr lvl="1"/>
            <a:r>
              <a:rPr lang="en-US" altLang="zh-TW" dirty="0" smtClean="0"/>
              <a:t>OA(n, k, q, t)</a:t>
            </a:r>
          </a:p>
          <a:p>
            <a:pPr lvl="2"/>
            <a:r>
              <a:rPr lang="en-US" altLang="zh-TW" dirty="0"/>
              <a:t>n</a:t>
            </a:r>
            <a:r>
              <a:rPr lang="en-US" altLang="zh-TW" dirty="0" smtClean="0"/>
              <a:t>: </a:t>
            </a:r>
            <a:r>
              <a:rPr lang="zh-TW" altLang="en-US" dirty="0" smtClean="0"/>
              <a:t>實驗次數</a:t>
            </a:r>
            <a:endParaRPr lang="en-US" altLang="zh-TW" dirty="0" smtClean="0"/>
          </a:p>
          <a:p>
            <a:pPr lvl="2"/>
            <a:r>
              <a:rPr lang="en-US" altLang="zh-TW" dirty="0" smtClean="0"/>
              <a:t>k: factors</a:t>
            </a:r>
          </a:p>
          <a:p>
            <a:pPr lvl="2"/>
            <a:r>
              <a:rPr lang="en-US" altLang="zh-TW" dirty="0"/>
              <a:t>q</a:t>
            </a:r>
            <a:r>
              <a:rPr lang="en-US" altLang="zh-TW" dirty="0" smtClean="0"/>
              <a:t>: level of a factor </a:t>
            </a:r>
          </a:p>
          <a:p>
            <a:pPr lvl="2"/>
            <a:r>
              <a:rPr lang="en-US" altLang="zh-TW" dirty="0" smtClean="0"/>
              <a:t>t: strength</a:t>
            </a:r>
          </a:p>
          <a:p>
            <a:pPr lvl="1"/>
            <a:r>
              <a:rPr lang="zh-TW" altLang="en-US" dirty="0" smtClean="0"/>
              <a:t>滿足</a:t>
            </a:r>
            <a:endParaRPr lang="en-US" altLang="zh-TW" dirty="0" smtClean="0"/>
          </a:p>
          <a:p>
            <a:pPr lvl="2"/>
            <a:r>
              <a:rPr lang="zh-TW" altLang="en-US" dirty="0"/>
              <a:t>同一行中的</a:t>
            </a:r>
            <a:r>
              <a:rPr lang="zh-TW" altLang="en-US" dirty="0" smtClean="0"/>
              <a:t>每個</a:t>
            </a:r>
            <a:r>
              <a:rPr lang="en-US" altLang="zh-TW" dirty="0" smtClean="0"/>
              <a:t>element</a:t>
            </a:r>
            <a:r>
              <a:rPr lang="zh-TW" altLang="en-US" dirty="0" smtClean="0"/>
              <a:t>出現的次數相同。</a:t>
            </a:r>
            <a:endParaRPr lang="en-US" altLang="zh-TW" dirty="0" smtClean="0"/>
          </a:p>
          <a:p>
            <a:pPr lvl="2"/>
            <a:r>
              <a:rPr lang="zh-TW" altLang="en-US" dirty="0" smtClean="0"/>
              <a:t>任選</a:t>
            </a:r>
            <a:r>
              <a:rPr lang="en-US" altLang="zh-TW" dirty="0" smtClean="0"/>
              <a:t>t</a:t>
            </a:r>
            <a:r>
              <a:rPr lang="zh-TW" altLang="en-US" dirty="0" smtClean="0"/>
              <a:t>行，任何</a:t>
            </a:r>
            <a:r>
              <a:rPr lang="en-US" altLang="zh-TW" dirty="0" smtClean="0"/>
              <a:t>level</a:t>
            </a:r>
            <a:r>
              <a:rPr lang="zh-TW" altLang="en-US" dirty="0" smtClean="0"/>
              <a:t>的組合的出現次數要一樣。</a:t>
            </a:r>
            <a:endParaRPr lang="en-US" altLang="zh-TW" dirty="0" smtClean="0"/>
          </a:p>
          <a:p>
            <a:pPr lvl="2"/>
            <a:r>
              <a:rPr lang="zh-TW" altLang="en-US" dirty="0"/>
              <a:t>組合被均勻的分佈在整個可能的組合空間</a:t>
            </a:r>
            <a:r>
              <a:rPr lang="zh-TW" altLang="en-US" dirty="0" smtClean="0"/>
              <a:t>中。</a:t>
            </a:r>
            <a:endParaRPr lang="en-US" altLang="zh-TW" dirty="0" smtClean="0"/>
          </a:p>
          <a:p>
            <a:pPr lvl="2"/>
            <a:endParaRPr lang="zh-TW" alt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1484784"/>
            <a:ext cx="1207265" cy="3095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0882" y="1502390"/>
            <a:ext cx="663699" cy="1482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51712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Simulated Orthogonal Array (SOA)</a:t>
            </a:r>
            <a:endParaRPr lang="zh-TW" altLang="en-US" dirty="0"/>
          </a:p>
        </p:txBody>
      </p:sp>
      <p:sp>
        <p:nvSpPr>
          <p:cNvPr id="3" name="內容版面配置區 2"/>
          <p:cNvSpPr>
            <a:spLocks noGrp="1"/>
          </p:cNvSpPr>
          <p:nvPr>
            <p:ph idx="1"/>
          </p:nvPr>
        </p:nvSpPr>
        <p:spPr/>
        <p:txBody>
          <a:bodyPr/>
          <a:lstStyle/>
          <a:p>
            <a:r>
              <a:rPr lang="zh-TW" altLang="en-US" dirty="0" smtClean="0"/>
              <a:t>只須滿足第一項即</a:t>
            </a:r>
            <a:r>
              <a:rPr lang="en-US" altLang="zh-TW" dirty="0" smtClean="0"/>
              <a:t>:</a:t>
            </a:r>
          </a:p>
          <a:p>
            <a:pPr lvl="1"/>
            <a:r>
              <a:rPr lang="zh-TW" altLang="en-US" dirty="0" smtClean="0"/>
              <a:t>同一行中的每個</a:t>
            </a:r>
            <a:r>
              <a:rPr lang="en-US" altLang="zh-TW" dirty="0" smtClean="0"/>
              <a:t>element</a:t>
            </a:r>
            <a:r>
              <a:rPr lang="zh-TW" altLang="en-US" dirty="0" smtClean="0"/>
              <a:t>出現的次數相同。</a:t>
            </a:r>
            <a:endParaRPr lang="en-US" altLang="zh-TW" dirty="0" smtClean="0"/>
          </a:p>
          <a:p>
            <a:r>
              <a:rPr lang="zh-TW" altLang="en-US" dirty="0" smtClean="0"/>
              <a:t>做法</a:t>
            </a:r>
            <a:r>
              <a:rPr lang="en-US" altLang="zh-TW" dirty="0" smtClean="0"/>
              <a:t>:</a:t>
            </a:r>
          </a:p>
          <a:p>
            <a:pPr lvl="1"/>
            <a:r>
              <a:rPr lang="zh-TW" altLang="en-US" dirty="0"/>
              <a:t>任選</a:t>
            </a:r>
            <a:r>
              <a:rPr lang="zh-TW" altLang="en-US" dirty="0" smtClean="0"/>
              <a:t>一未填滿的行，將</a:t>
            </a:r>
            <a:r>
              <a:rPr lang="en-US" altLang="zh-TW" dirty="0" err="1" smtClean="0"/>
              <a:t>elemnt</a:t>
            </a:r>
            <a:r>
              <a:rPr lang="zh-TW" altLang="en-US" dirty="0" smtClean="0"/>
              <a:t>作亂序排列，再一一放入，重複以上動作，直到沒空行。</a:t>
            </a:r>
            <a:endParaRPr lang="en-US" altLang="zh-TW" dirty="0" smtClean="0"/>
          </a:p>
          <a:p>
            <a:r>
              <a:rPr lang="en-US" altLang="zh-TW" dirty="0" smtClean="0"/>
              <a:t>MTS</a:t>
            </a:r>
            <a:r>
              <a:rPr lang="zh-TW" altLang="en-US" dirty="0" smtClean="0"/>
              <a:t> </a:t>
            </a:r>
            <a:r>
              <a:rPr lang="en-US" altLang="zh-TW" dirty="0" smtClean="0"/>
              <a:t>initial solutions:</a:t>
            </a:r>
          </a:p>
          <a:p>
            <a:pPr lvl="1"/>
            <a:r>
              <a:rPr lang="en-US" altLang="zh-TW" dirty="0" smtClean="0"/>
              <a:t>SOA</a:t>
            </a:r>
            <a:r>
              <a:rPr lang="zh-TW" altLang="en-US" dirty="0" smtClean="0"/>
              <a:t>上的</a:t>
            </a:r>
            <a:r>
              <a:rPr lang="en-US" altLang="zh-TW" dirty="0" smtClean="0"/>
              <a:t>M</a:t>
            </a:r>
            <a:r>
              <a:rPr lang="zh-TW" altLang="en-US" dirty="0" smtClean="0"/>
              <a:t>列，即為</a:t>
            </a:r>
            <a:r>
              <a:rPr lang="en-US" altLang="zh-TW" dirty="0" smtClean="0"/>
              <a:t>M</a:t>
            </a:r>
            <a:r>
              <a:rPr lang="zh-TW" altLang="en-US" dirty="0" smtClean="0"/>
              <a:t>個</a:t>
            </a:r>
            <a:r>
              <a:rPr lang="en-US" altLang="zh-TW" dirty="0" smtClean="0"/>
              <a:t>initial solutions</a:t>
            </a:r>
          </a:p>
          <a:p>
            <a:r>
              <a:rPr lang="zh-TW" altLang="en-US" dirty="0"/>
              <a:t>目的</a:t>
            </a:r>
            <a:r>
              <a:rPr lang="en-US" altLang="zh-TW" dirty="0"/>
              <a:t>: </a:t>
            </a:r>
            <a:r>
              <a:rPr lang="zh-TW" altLang="en-US" dirty="0" smtClean="0"/>
              <a:t>使</a:t>
            </a:r>
            <a:r>
              <a:rPr lang="en-US" altLang="zh-TW" smtClean="0"/>
              <a:t>initial solutions</a:t>
            </a:r>
            <a:endParaRPr lang="en-US" altLang="zh-TW" dirty="0" smtClean="0"/>
          </a:p>
          <a:p>
            <a:pPr marL="457200" lvl="1" indent="0">
              <a:buNone/>
            </a:pPr>
            <a:endParaRPr lang="en-US" altLang="zh-TW" dirty="0" smtClean="0"/>
          </a:p>
          <a:p>
            <a:pPr lvl="1"/>
            <a:endParaRPr lang="en-US" altLang="zh-TW" dirty="0" smtClean="0"/>
          </a:p>
          <a:p>
            <a:pPr lvl="1"/>
            <a:endParaRPr lang="zh-TW" altLang="en-US" dirty="0"/>
          </a:p>
        </p:txBody>
      </p:sp>
    </p:spTree>
    <p:extLst>
      <p:ext uri="{BB962C8B-B14F-4D97-AF65-F5344CB8AC3E}">
        <p14:creationId xmlns:p14="http://schemas.microsoft.com/office/powerpoint/2010/main" val="42011680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 Search</a:t>
            </a:r>
            <a:endParaRPr lang="zh-TW" altLang="en-US" dirty="0"/>
          </a:p>
        </p:txBody>
      </p:sp>
      <p:sp>
        <p:nvSpPr>
          <p:cNvPr id="3" name="內容版面配置區 2"/>
          <p:cNvSpPr>
            <a:spLocks noGrp="1"/>
          </p:cNvSpPr>
          <p:nvPr>
            <p:ph idx="1"/>
          </p:nvPr>
        </p:nvSpPr>
        <p:spPr/>
        <p:txBody>
          <a:bodyPr/>
          <a:lstStyle/>
          <a:p>
            <a:r>
              <a:rPr lang="zh-TW" altLang="en-US" dirty="0"/>
              <a:t>這裡提出三</a:t>
            </a:r>
            <a:r>
              <a:rPr lang="zh-TW" altLang="en-US" dirty="0" smtClean="0"/>
              <a:t>種</a:t>
            </a:r>
            <a:r>
              <a:rPr lang="en-US" altLang="zh-TW" dirty="0" smtClean="0"/>
              <a:t>local search</a:t>
            </a:r>
            <a:r>
              <a:rPr lang="zh-TW" altLang="en-US" dirty="0" smtClean="0"/>
              <a:t>，在執行</a:t>
            </a:r>
            <a:r>
              <a:rPr lang="en-US" altLang="zh-TW" dirty="0" smtClean="0"/>
              <a:t>MTS</a:t>
            </a:r>
            <a:r>
              <a:rPr lang="zh-TW" altLang="en-US" dirty="0" smtClean="0"/>
              <a:t>時會先計算哪種</a:t>
            </a:r>
            <a:r>
              <a:rPr lang="en-US" altLang="zh-TW" dirty="0" smtClean="0"/>
              <a:t>search</a:t>
            </a:r>
            <a:r>
              <a:rPr lang="zh-TW" altLang="en-US" dirty="0" smtClean="0"/>
              <a:t>分數較高，而使用；</a:t>
            </a:r>
            <a:endParaRPr lang="en-US" altLang="zh-TW" dirty="0" smtClean="0"/>
          </a:p>
          <a:p>
            <a:r>
              <a:rPr lang="en-US" altLang="zh-TW" dirty="0" smtClean="0"/>
              <a:t>Local search1:</a:t>
            </a:r>
            <a:r>
              <a:rPr lang="zh-TW" altLang="en-US" dirty="0" smtClean="0"/>
              <a:t> 從第一維開始，減去</a:t>
            </a:r>
            <a:r>
              <a:rPr lang="en-US" altLang="zh-TW" dirty="0" smtClean="0"/>
              <a:t>SR</a:t>
            </a:r>
            <a:r>
              <a:rPr lang="zh-TW" altLang="en-US" dirty="0" smtClean="0"/>
              <a:t>，較好則保留，退化則恢復原值，再加上</a:t>
            </a:r>
            <a:r>
              <a:rPr lang="en-US" altLang="zh-TW" dirty="0" smtClean="0"/>
              <a:t>SR/2</a:t>
            </a:r>
            <a:r>
              <a:rPr lang="zh-TW" altLang="en-US" dirty="0" smtClean="0"/>
              <a:t>，同樣</a:t>
            </a:r>
            <a:r>
              <a:rPr lang="zh-TW" altLang="en-US" dirty="0" smtClean="0"/>
              <a:t>較好保留，退化則恢復原值，重複直到第</a:t>
            </a:r>
            <a:r>
              <a:rPr lang="en-US" altLang="zh-TW" dirty="0" smtClean="0"/>
              <a:t>n</a:t>
            </a:r>
            <a:r>
              <a:rPr lang="zh-TW" altLang="en-US" dirty="0" smtClean="0"/>
              <a:t>維的值。</a:t>
            </a:r>
            <a:endParaRPr lang="en-US" altLang="zh-TW" dirty="0" smtClean="0"/>
          </a:p>
          <a:p>
            <a:r>
              <a:rPr lang="zh-TW" altLang="en-US" dirty="0" smtClean="0"/>
              <a:t>若</a:t>
            </a:r>
            <a:r>
              <a:rPr lang="en-US" altLang="zh-TW" dirty="0" smtClean="0"/>
              <a:t>SR</a:t>
            </a:r>
            <a:r>
              <a:rPr lang="zh-TW" altLang="en-US" dirty="0" smtClean="0"/>
              <a:t>經過一輪</a:t>
            </a:r>
            <a:r>
              <a:rPr lang="en-US" altLang="zh-TW" dirty="0" smtClean="0"/>
              <a:t>(1</a:t>
            </a:r>
            <a:r>
              <a:rPr lang="zh-TW" altLang="en-US" dirty="0" smtClean="0"/>
              <a:t>至</a:t>
            </a:r>
            <a:r>
              <a:rPr lang="en-US" altLang="zh-TW" dirty="0" smtClean="0"/>
              <a:t>n</a:t>
            </a:r>
            <a:r>
              <a:rPr lang="zh-TW" altLang="en-US" dirty="0" smtClean="0"/>
              <a:t>維</a:t>
            </a:r>
            <a:r>
              <a:rPr lang="en-US" altLang="zh-TW" dirty="0" smtClean="0"/>
              <a:t>)</a:t>
            </a:r>
            <a:r>
              <a:rPr lang="zh-TW" altLang="en-US" dirty="0" smtClean="0"/>
              <a:t>無法再有改進，則</a:t>
            </a:r>
            <a:r>
              <a:rPr lang="en-US" altLang="zh-TW" dirty="0" smtClean="0"/>
              <a:t>:</a:t>
            </a:r>
          </a:p>
          <a:p>
            <a:endParaRPr lang="zh-TW" altLang="en-US" dirty="0"/>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5445224"/>
            <a:ext cx="521017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29223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 Search</a:t>
            </a:r>
            <a:endParaRPr lang="zh-TW" altLang="en-US" dirty="0"/>
          </a:p>
        </p:txBody>
      </p:sp>
      <p:sp>
        <p:nvSpPr>
          <p:cNvPr id="3" name="內容版面配置區 2"/>
          <p:cNvSpPr>
            <a:spLocks noGrp="1"/>
          </p:cNvSpPr>
          <p:nvPr>
            <p:ph idx="1"/>
          </p:nvPr>
        </p:nvSpPr>
        <p:spPr/>
        <p:txBody>
          <a:bodyPr/>
          <a:lstStyle/>
          <a:p>
            <a:r>
              <a:rPr lang="en-US" altLang="zh-TW" dirty="0" smtClean="0"/>
              <a:t>Local search2:</a:t>
            </a:r>
            <a:r>
              <a:rPr lang="zh-TW" altLang="en-US" dirty="0" smtClean="0"/>
              <a:t>與</a:t>
            </a:r>
            <a:r>
              <a:rPr lang="en-US" altLang="zh-TW" dirty="0" smtClean="0"/>
              <a:t>Local search1</a:t>
            </a:r>
            <a:r>
              <a:rPr lang="zh-TW" altLang="en-US" dirty="0" smtClean="0"/>
              <a:t>相似，從第一維開始，每個維度有</a:t>
            </a:r>
            <a:r>
              <a:rPr lang="en-US" altLang="zh-TW" dirty="0" smtClean="0"/>
              <a:t>1/4</a:t>
            </a:r>
            <a:r>
              <a:rPr lang="zh-TW" altLang="en-US" dirty="0" smtClean="0"/>
              <a:t>的機會，要做增刪</a:t>
            </a:r>
            <a:r>
              <a:rPr lang="en-US" altLang="zh-TW" dirty="0" smtClean="0"/>
              <a:t>SR</a:t>
            </a:r>
            <a:r>
              <a:rPr lang="zh-TW" altLang="en-US" dirty="0" smtClean="0"/>
              <a:t>，較好則保留，退化則恢復原值，再加減</a:t>
            </a:r>
            <a:r>
              <a:rPr lang="en-US" altLang="zh-TW" dirty="0" smtClean="0"/>
              <a:t>SR/2</a:t>
            </a:r>
            <a:r>
              <a:rPr lang="zh-TW" altLang="en-US" dirty="0" smtClean="0"/>
              <a:t>，同樣較好保留，退化則恢復原值，重複直到第</a:t>
            </a:r>
            <a:r>
              <a:rPr lang="en-US" altLang="zh-TW" dirty="0" smtClean="0"/>
              <a:t>n</a:t>
            </a:r>
            <a:r>
              <a:rPr lang="zh-TW" altLang="en-US" dirty="0" smtClean="0"/>
              <a:t>維的值。 </a:t>
            </a:r>
            <a:endParaRPr lang="zh-TW"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4509120"/>
            <a:ext cx="2762250"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78464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Local Search</a:t>
            </a:r>
            <a:endParaRPr lang="zh-TW" altLang="en-US" dirty="0"/>
          </a:p>
        </p:txBody>
      </p:sp>
      <p:sp>
        <p:nvSpPr>
          <p:cNvPr id="3" name="內容版面配置區 2"/>
          <p:cNvSpPr>
            <a:spLocks noGrp="1"/>
          </p:cNvSpPr>
          <p:nvPr>
            <p:ph idx="1"/>
          </p:nvPr>
        </p:nvSpPr>
        <p:spPr/>
        <p:txBody>
          <a:bodyPr/>
          <a:lstStyle/>
          <a:p>
            <a:r>
              <a:rPr lang="en-US" altLang="zh-TW" dirty="0" smtClean="0"/>
              <a:t>Local Search3:</a:t>
            </a:r>
            <a:r>
              <a:rPr lang="zh-TW" altLang="en-US" dirty="0" smtClean="0"/>
              <a:t>從第一維開始，計算</a:t>
            </a:r>
            <a:r>
              <a:rPr lang="en-US" altLang="zh-TW" dirty="0" smtClean="0"/>
              <a:t>X</a:t>
            </a:r>
            <a:r>
              <a:rPr lang="en-US" altLang="zh-TW" baseline="-25000" dirty="0" smtClean="0"/>
              <a:t>1 </a:t>
            </a:r>
            <a:r>
              <a:rPr lang="en-US" altLang="zh-TW" dirty="0" smtClean="0"/>
              <a:t>, Y</a:t>
            </a:r>
            <a:r>
              <a:rPr lang="en-US" altLang="zh-TW" baseline="-25000" dirty="0" smtClean="0"/>
              <a:t>1</a:t>
            </a:r>
            <a:r>
              <a:rPr lang="en-US" altLang="zh-TW" dirty="0" smtClean="0"/>
              <a:t>, X</a:t>
            </a:r>
            <a:r>
              <a:rPr lang="en-US" altLang="zh-TW" baseline="-25000" dirty="0" smtClean="0"/>
              <a:t>2</a:t>
            </a:r>
            <a:r>
              <a:rPr lang="en-US" altLang="zh-TW" dirty="0" smtClean="0"/>
              <a:t> </a:t>
            </a:r>
            <a:r>
              <a:rPr lang="zh-TW" altLang="en-US" dirty="0" smtClean="0"/>
              <a:t>是否較佳，與分數評算</a:t>
            </a:r>
            <a:endParaRPr lang="zh-TW" altLang="en-US"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89" y="2563730"/>
            <a:ext cx="4457331" cy="12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035" y="4221088"/>
            <a:ext cx="3960441" cy="1145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1788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539552" y="1268760"/>
            <a:ext cx="8229600" cy="4669979"/>
          </a:xfrm>
        </p:spPr>
        <p:txBody>
          <a:bodyPr>
            <a:normAutofit/>
          </a:bodyPr>
          <a:lstStyle/>
          <a:p>
            <a:r>
              <a:rPr lang="en-US" altLang="zh-TW" sz="2000" dirty="0" smtClean="0"/>
              <a:t>The function error value (f(x)-f(x*))</a:t>
            </a:r>
            <a:endParaRPr lang="zh-TW" altLang="en-US" sz="20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7" y="1592618"/>
            <a:ext cx="8878019" cy="5265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58909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412776"/>
            <a:ext cx="6844431" cy="509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26251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664</Words>
  <Application>Microsoft Office PowerPoint</Application>
  <PresentationFormat>如螢幕大小 (4:3)</PresentationFormat>
  <Paragraphs>56</Paragraphs>
  <Slides>12</Slides>
  <Notes>0</Notes>
  <HiddenSlides>0</HiddenSlides>
  <MMClips>0</MMClips>
  <ScaleCrop>false</ScaleCrop>
  <HeadingPairs>
    <vt:vector size="4" baseType="variant">
      <vt:variant>
        <vt:lpstr>佈景主題</vt:lpstr>
      </vt:variant>
      <vt:variant>
        <vt:i4>1</vt:i4>
      </vt:variant>
      <vt:variant>
        <vt:lpstr>投影片標題</vt:lpstr>
      </vt:variant>
      <vt:variant>
        <vt:i4>12</vt:i4>
      </vt:variant>
    </vt:vector>
  </HeadingPairs>
  <TitlesOfParts>
    <vt:vector size="13" baseType="lpstr">
      <vt:lpstr>Office 佈景主題</vt:lpstr>
      <vt:lpstr>Multiple Trajectory Search for Large Scale Global Optimization </vt:lpstr>
      <vt:lpstr>Abstract</vt:lpstr>
      <vt:lpstr>Multiple Trajectory Search (MTS)</vt:lpstr>
      <vt:lpstr>Global Optimization Problem</vt:lpstr>
      <vt:lpstr>Multiple Trajectory Search (MTS)</vt:lpstr>
      <vt:lpstr>Orthogonal Array (OA)</vt:lpstr>
      <vt:lpstr>Simulated Orthogonal Array (SOA)</vt:lpstr>
      <vt:lpstr>Local Search</vt:lpstr>
      <vt:lpstr>Local Search</vt:lpstr>
      <vt:lpstr>Local Search</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Trajectory Search for Large Scale Global Optimization</dc:title>
  <dc:creator>fang</dc:creator>
  <cp:lastModifiedBy>fang</cp:lastModifiedBy>
  <cp:revision>18</cp:revision>
  <dcterms:created xsi:type="dcterms:W3CDTF">2013-07-02T02:03:12Z</dcterms:created>
  <dcterms:modified xsi:type="dcterms:W3CDTF">2013-07-02T05:41:41Z</dcterms:modified>
</cp:coreProperties>
</file>