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4085B75-D044-4BF3-9782-C7EBAE8EC87C}">
          <p14:sldIdLst>
            <p14:sldId id="256"/>
            <p14:sldId id="257"/>
          </p14:sldIdLst>
        </p14:section>
        <p14:section name="DEFINITION" id="{2CB4AD8B-CA9A-4A2B-AAA1-F506A1C0D7C0}">
          <p14:sldIdLst>
            <p14:sldId id="269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METHOD" id="{6915FA9A-138C-455A-BD81-3DD825985C3B}">
          <p14:sldIdLst>
            <p14:sldId id="268"/>
            <p14:sldId id="270"/>
            <p14:sldId id="271"/>
            <p14:sldId id="272"/>
          </p14:sldIdLst>
        </p14:section>
        <p14:section name="RESULT" id="{CC1BAF70-FB1D-435A-9CEF-CCDFB8A5AC73}">
          <p14:sldIdLst>
            <p14:sldId id="273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-78" y="-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76148-F91A-4FFC-AB17-7D3B40801575}" type="datetimeFigureOut">
              <a:rPr lang="zh-TW" altLang="en-US" smtClean="0"/>
              <a:t>2013/7/2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93EEC-354D-479B-A841-E9EEE29BD55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538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 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the minimum size of considered character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sets, eliminating substrings with non-intersecting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 sets;</a:t>
            </a:r>
          </a:p>
          <a:p>
            <a:r>
              <a:rPr lang="en-US" altLang="zh-TW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q 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indicates the minimum number of sequences that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 be concerned by the locations of a given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 set.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093EEC-354D-479B-A841-E9EEE29BD55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217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Approximate Common Intervals in Multiple Genome Comparison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Annie Chateau, Pierre </a:t>
            </a:r>
            <a:r>
              <a:rPr lang="en-US" altLang="zh-TW" dirty="0" err="1"/>
              <a:t>Riou</a:t>
            </a:r>
            <a:r>
              <a:rPr lang="en-US" altLang="zh-TW" dirty="0"/>
              <a:t>, Eric Rivals</a:t>
            </a:r>
          </a:p>
          <a:p>
            <a:r>
              <a:rPr lang="en-US" altLang="zh-TW" dirty="0"/>
              <a:t>LIRMM, UMR 5506 CNRS, </a:t>
            </a:r>
            <a:r>
              <a:rPr lang="en-US" altLang="zh-TW" dirty="0" err="1" smtClean="0"/>
              <a:t>Universit</a:t>
            </a:r>
            <a:r>
              <a:rPr lang="en-US" altLang="zh-TW" dirty="0" err="1"/>
              <a:t>é</a:t>
            </a:r>
            <a:r>
              <a:rPr lang="en-US" altLang="zh-TW" dirty="0" smtClean="0"/>
              <a:t> </a:t>
            </a:r>
            <a:r>
              <a:rPr lang="en-US" altLang="zh-TW" dirty="0"/>
              <a:t>Montpellier 2, Montpellier, </a:t>
            </a:r>
            <a:r>
              <a:rPr lang="en-US" altLang="zh-TW" dirty="0" smtClean="0"/>
              <a:t>France</a:t>
            </a:r>
          </a:p>
          <a:p>
            <a:r>
              <a:rPr lang="en-US" altLang="zh-TW"/>
              <a:t>2011 IEEE International Conference on Bioinformatics and Biomedicine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507067" y="5522976"/>
            <a:ext cx="412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REPORTER : </a:t>
            </a:r>
            <a:r>
              <a:rPr lang="en-US" altLang="zh-TW" dirty="0" err="1" smtClean="0"/>
              <a:t>Cing</a:t>
            </a:r>
            <a:r>
              <a:rPr lang="en-US" altLang="zh-TW" dirty="0" smtClean="0"/>
              <a:t>-Yao Chen   2013/7/2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61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We consider the problem of inferring </a:t>
            </a:r>
            <a:r>
              <a:rPr lang="en-US" altLang="zh-TW" dirty="0" smtClean="0"/>
              <a:t>approximate common </a:t>
            </a:r>
            <a:r>
              <a:rPr lang="en-US" altLang="zh-TW" dirty="0"/>
              <a:t>intervals of multiple genomes. </a:t>
            </a:r>
            <a:r>
              <a:rPr lang="en-US" altLang="zh-TW" dirty="0" smtClean="0"/>
              <a:t>Genomes are </a:t>
            </a:r>
            <a:r>
              <a:rPr lang="en-US" altLang="zh-TW" dirty="0"/>
              <a:t>modelled as sequences of homologous genes </a:t>
            </a:r>
            <a:r>
              <a:rPr lang="en-US" altLang="zh-TW" dirty="0" smtClean="0"/>
              <a:t>families identifiers</a:t>
            </a:r>
            <a:r>
              <a:rPr lang="en-US" altLang="zh-TW" dirty="0"/>
              <a:t>, and approximate common intervals </a:t>
            </a:r>
            <a:r>
              <a:rPr lang="en-US" altLang="zh-TW" dirty="0" smtClean="0"/>
              <a:t>represent conserved </a:t>
            </a:r>
            <a:r>
              <a:rPr lang="en-US" altLang="zh-TW" dirty="0"/>
              <a:t>regions possibly showing rearrangements, </a:t>
            </a:r>
            <a:r>
              <a:rPr lang="en-US" altLang="zh-TW" dirty="0" smtClean="0"/>
              <a:t>as well </a:t>
            </a:r>
            <a:r>
              <a:rPr lang="en-US" altLang="zh-TW" dirty="0"/>
              <a:t>as repetitions, or insertions/deletions. This </a:t>
            </a:r>
            <a:r>
              <a:rPr lang="en-US" altLang="zh-TW" dirty="0" smtClean="0"/>
              <a:t>problem is </a:t>
            </a:r>
            <a:r>
              <a:rPr lang="en-US" altLang="zh-TW" dirty="0"/>
              <a:t>already known, but existing approaches are not </a:t>
            </a:r>
            <a:r>
              <a:rPr lang="en-US" altLang="zh-TW" dirty="0" smtClean="0"/>
              <a:t>incremental and </a:t>
            </a:r>
            <a:r>
              <a:rPr lang="en-US" altLang="zh-TW" dirty="0"/>
              <a:t>somehow limited to special cases. We adopt </a:t>
            </a:r>
            <a:r>
              <a:rPr lang="en-US" altLang="zh-TW" dirty="0" smtClean="0"/>
              <a:t>a simple</a:t>
            </a:r>
            <a:r>
              <a:rPr lang="en-US" altLang="zh-TW" dirty="0"/>
              <a:t>, classical graph-based approach, where the </a:t>
            </a:r>
            <a:r>
              <a:rPr lang="en-US" altLang="zh-TW" dirty="0" smtClean="0"/>
              <a:t>vertices of </a:t>
            </a:r>
            <a:r>
              <a:rPr lang="en-US" altLang="zh-TW" dirty="0"/>
              <a:t>the graph represent the exact common intervals of </a:t>
            </a:r>
            <a:r>
              <a:rPr lang="en-US" altLang="zh-TW" dirty="0" smtClean="0"/>
              <a:t>the sequences </a:t>
            </a:r>
            <a:r>
              <a:rPr lang="en-US" altLang="zh-TW" dirty="0"/>
              <a:t>(</a:t>
            </a:r>
            <a:r>
              <a:rPr lang="en-US" altLang="zh-TW" i="1" dirty="0"/>
              <a:t>i.e.</a:t>
            </a:r>
            <a:r>
              <a:rPr lang="en-US" altLang="zh-TW" dirty="0"/>
              <a:t>, regions containing the same gene set), </a:t>
            </a:r>
            <a:r>
              <a:rPr lang="en-US" altLang="zh-TW" dirty="0" smtClean="0"/>
              <a:t>and where </a:t>
            </a:r>
            <a:r>
              <a:rPr lang="en-US" altLang="zh-TW" dirty="0"/>
              <a:t>edges link vertices that differ by less than </a:t>
            </a:r>
            <a:r>
              <a:rPr lang="en-US" altLang="zh-TW" i="1" dirty="0"/>
              <a:t>δ </a:t>
            </a:r>
            <a:r>
              <a:rPr lang="en-US" altLang="zh-TW" dirty="0" smtClean="0"/>
              <a:t>elements (</a:t>
            </a:r>
            <a:r>
              <a:rPr lang="en-US" altLang="zh-TW" dirty="0"/>
              <a:t>with </a:t>
            </a:r>
            <a:r>
              <a:rPr lang="en-US" altLang="zh-TW" i="1" dirty="0"/>
              <a:t>δ </a:t>
            </a:r>
            <a:r>
              <a:rPr lang="en-US" altLang="zh-TW" dirty="0"/>
              <a:t>being parameter). With this model, </a:t>
            </a:r>
            <a:r>
              <a:rPr lang="en-US" altLang="zh-TW" dirty="0" smtClean="0"/>
              <a:t>approximate gene </a:t>
            </a:r>
            <a:r>
              <a:rPr lang="en-US" altLang="zh-TW" dirty="0"/>
              <a:t>clusters are maximal cliques of the graph: </a:t>
            </a:r>
            <a:r>
              <a:rPr lang="en-US" altLang="zh-TW" dirty="0" smtClean="0"/>
              <a:t>computing them </a:t>
            </a:r>
            <a:r>
              <a:rPr lang="en-US" altLang="zh-TW" dirty="0"/>
              <a:t>can exploit known and well designed </a:t>
            </a:r>
            <a:r>
              <a:rPr lang="en-US" altLang="zh-TW" dirty="0" smtClean="0"/>
              <a:t>algorithms. For </a:t>
            </a:r>
            <a:r>
              <a:rPr lang="en-US" altLang="zh-TW" dirty="0"/>
              <a:t>a proof of concept, we applied the method to </a:t>
            </a:r>
            <a:r>
              <a:rPr lang="en-US" altLang="zh-TW" dirty="0" smtClean="0"/>
              <a:t>several datasets </a:t>
            </a:r>
            <a:r>
              <a:rPr lang="en-US" altLang="zh-TW" dirty="0"/>
              <a:t>of bacterial genomes and compared the </a:t>
            </a:r>
            <a:r>
              <a:rPr lang="en-US" altLang="zh-TW" dirty="0" smtClean="0"/>
              <a:t>two maximal </a:t>
            </a:r>
            <a:r>
              <a:rPr lang="en-US" altLang="zh-TW" dirty="0"/>
              <a:t>cliques algorithms, a static and a dynamic one</a:t>
            </a:r>
            <a:r>
              <a:rPr lang="en-US" altLang="zh-TW" dirty="0" smtClean="0"/>
              <a:t>. While </a:t>
            </a:r>
            <a:r>
              <a:rPr lang="en-US" altLang="zh-TW" dirty="0"/>
              <a:t>being quite flexible, this approach opens the way to </a:t>
            </a:r>
            <a:r>
              <a:rPr lang="en-US" altLang="zh-TW" dirty="0" smtClean="0"/>
              <a:t>a combinatorial </a:t>
            </a:r>
            <a:r>
              <a:rPr lang="en-US" altLang="zh-TW" dirty="0"/>
              <a:t>characterization of genomic </a:t>
            </a:r>
            <a:r>
              <a:rPr lang="en-US" altLang="zh-TW" dirty="0" smtClean="0"/>
              <a:t>rearrangements in </a:t>
            </a:r>
            <a:r>
              <a:rPr lang="en-US" altLang="zh-TW" dirty="0"/>
              <a:t>terms of graph substructures.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758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501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1 : Character 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Given a sequence </a:t>
            </a:r>
            <a:r>
              <a:rPr lang="en-US" altLang="zh-TW" i="1" dirty="0"/>
              <a:t>w </a:t>
            </a:r>
            <a:r>
              <a:rPr lang="en-US" altLang="zh-TW" dirty="0" smtClean="0"/>
              <a:t>of size </a:t>
            </a:r>
            <a:r>
              <a:rPr lang="en-US" altLang="zh-TW" i="1" dirty="0"/>
              <a:t>|w|</a:t>
            </a:r>
            <a:r>
              <a:rPr lang="en-US" altLang="zh-TW" dirty="0"/>
              <a:t>, its </a:t>
            </a:r>
            <a:r>
              <a:rPr lang="en-US" altLang="zh-TW" i="1" dirty="0"/>
              <a:t>character set C</a:t>
            </a:r>
            <a:r>
              <a:rPr lang="en-US" altLang="zh-TW" dirty="0"/>
              <a:t>(</a:t>
            </a:r>
            <a:r>
              <a:rPr lang="en-US" altLang="zh-TW" i="1" dirty="0"/>
              <a:t>w</a:t>
            </a:r>
            <a:r>
              <a:rPr lang="en-US" altLang="zh-TW" dirty="0"/>
              <a:t>) is defined by </a:t>
            </a:r>
            <a:r>
              <a:rPr lang="en-US" altLang="zh-TW" i="1" dirty="0"/>
              <a:t>C</a:t>
            </a:r>
            <a:r>
              <a:rPr lang="en-US" altLang="zh-TW" dirty="0"/>
              <a:t>(</a:t>
            </a:r>
            <a:r>
              <a:rPr lang="en-US" altLang="zh-TW" i="1" dirty="0"/>
              <a:t>w</a:t>
            </a:r>
            <a:r>
              <a:rPr lang="en-US" altLang="zh-TW" dirty="0"/>
              <a:t>) </a:t>
            </a:r>
            <a:r>
              <a:rPr lang="en-US" altLang="zh-TW" dirty="0" smtClean="0"/>
              <a:t>:= </a:t>
            </a:r>
            <a:r>
              <a:rPr lang="en-US" altLang="zh-TW" i="1" dirty="0" smtClean="0"/>
              <a:t>{</a:t>
            </a:r>
            <a:r>
              <a:rPr lang="en-US" altLang="zh-TW" i="1" dirty="0"/>
              <a:t>w</a:t>
            </a:r>
            <a:r>
              <a:rPr lang="en-US" altLang="zh-TW" dirty="0"/>
              <a:t>[</a:t>
            </a:r>
            <a:r>
              <a:rPr lang="en-US" altLang="zh-TW" i="1" dirty="0" err="1"/>
              <a:t>i</a:t>
            </a:r>
            <a:r>
              <a:rPr lang="en-US" altLang="zh-TW" dirty="0"/>
              <a:t>] : 1 </a:t>
            </a:r>
            <a:r>
              <a:rPr lang="en-US" altLang="zh-TW" i="1" dirty="0"/>
              <a:t>≤ </a:t>
            </a:r>
            <a:r>
              <a:rPr lang="en-US" altLang="zh-TW" i="1" dirty="0" err="1"/>
              <a:t>i</a:t>
            </a:r>
            <a:r>
              <a:rPr lang="en-US" altLang="zh-TW" i="1" dirty="0"/>
              <a:t> ≤ |w</a:t>
            </a:r>
            <a:r>
              <a:rPr lang="en-US" altLang="zh-TW" i="1" dirty="0" smtClean="0"/>
              <a:t>|}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w = { 1 , 3 ,2 , 2 , 3, 4}</a:t>
            </a:r>
          </a:p>
          <a:p>
            <a:r>
              <a:rPr lang="en-US" altLang="zh-TW" i="1" dirty="0" smtClean="0"/>
              <a:t>C(w) </a:t>
            </a:r>
            <a:r>
              <a:rPr lang="en-US" altLang="zh-TW" dirty="0" smtClean="0"/>
              <a:t>= { 1 , 2 , 3 , 4}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319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2 : Left- And Right-</a:t>
            </a:r>
            <a:r>
              <a:rPr lang="en-US" altLang="zh-TW" dirty="0" err="1" smtClean="0"/>
              <a:t>Maximality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Let </a:t>
            </a:r>
            <a:r>
              <a:rPr lang="en-US" altLang="zh-TW" i="1" dirty="0"/>
              <a:t>w </a:t>
            </a:r>
            <a:r>
              <a:rPr lang="en-US" altLang="zh-TW" dirty="0" smtClean="0"/>
              <a:t>be sequence</a:t>
            </a:r>
            <a:r>
              <a:rPr lang="en-US" altLang="zh-TW" dirty="0"/>
              <a:t>. A substring </a:t>
            </a:r>
            <a:r>
              <a:rPr lang="en-US" altLang="zh-TW" i="1" dirty="0"/>
              <a:t>w</a:t>
            </a:r>
            <a:r>
              <a:rPr lang="en-US" altLang="zh-TW" dirty="0"/>
              <a:t>[</a:t>
            </a:r>
            <a:r>
              <a:rPr lang="en-US" altLang="zh-TW" i="1" dirty="0"/>
              <a:t>a, b</a:t>
            </a:r>
            <a:r>
              <a:rPr lang="en-US" altLang="zh-TW" dirty="0"/>
              <a:t>] of </a:t>
            </a:r>
            <a:r>
              <a:rPr lang="en-US" altLang="zh-TW" i="1" dirty="0"/>
              <a:t>w </a:t>
            </a:r>
            <a:r>
              <a:rPr lang="en-US" altLang="zh-TW" dirty="0"/>
              <a:t>is </a:t>
            </a:r>
            <a:r>
              <a:rPr lang="en-US" altLang="zh-TW" i="1" dirty="0" smtClean="0"/>
              <a:t>left-maximal </a:t>
            </a:r>
          </a:p>
          <a:p>
            <a:r>
              <a:rPr lang="en-US" altLang="zh-TW" i="1" dirty="0" smtClean="0"/>
              <a:t>If w[a-1] </a:t>
            </a:r>
            <a:r>
              <a:rPr lang="zh-TW" altLang="en-US" dirty="0" smtClean="0"/>
              <a:t>∉ </a:t>
            </a:r>
            <a:r>
              <a:rPr lang="en-US" altLang="zh-TW" dirty="0" smtClean="0"/>
              <a:t>C(w[</a:t>
            </a:r>
            <a:r>
              <a:rPr lang="en-US" altLang="zh-TW" dirty="0" err="1" smtClean="0"/>
              <a:t>a,b</a:t>
            </a:r>
            <a:r>
              <a:rPr lang="en-US" altLang="zh-TW" dirty="0" smtClean="0"/>
              <a:t>])</a:t>
            </a:r>
          </a:p>
          <a:p>
            <a:endParaRPr lang="en-US" altLang="zh-TW" dirty="0"/>
          </a:p>
          <a:p>
            <a:r>
              <a:rPr lang="en-US" altLang="zh-TW" dirty="0" smtClean="0"/>
              <a:t>EX:</a:t>
            </a:r>
          </a:p>
          <a:p>
            <a:r>
              <a:rPr lang="en-US" altLang="zh-TW" dirty="0"/>
              <a:t>w</a:t>
            </a:r>
            <a:r>
              <a:rPr lang="en-US" altLang="zh-TW" dirty="0" smtClean="0"/>
              <a:t> = {</a:t>
            </a:r>
            <a:r>
              <a:rPr lang="en-US" altLang="zh-TW" dirty="0" err="1" smtClean="0"/>
              <a:t>a,v,f,s,c,e,a,d,v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w[2,6] is left-maximal , right-maximal</a:t>
            </a:r>
          </a:p>
          <a:p>
            <a:r>
              <a:rPr lang="en-US" altLang="zh-TW" dirty="0" smtClean="0"/>
              <a:t>w[2,7] is NOT left-maximal</a:t>
            </a:r>
          </a:p>
        </p:txBody>
      </p:sp>
    </p:spTree>
    <p:extLst>
      <p:ext uri="{BB962C8B-B14F-4D97-AF65-F5344CB8AC3E}">
        <p14:creationId xmlns:p14="http://schemas.microsoft.com/office/powerpoint/2010/main" val="278354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3 : Location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i="1" dirty="0"/>
              <a:t>location </a:t>
            </a:r>
            <a:r>
              <a:rPr lang="en-US" altLang="zh-TW" dirty="0"/>
              <a:t>of a set of </a:t>
            </a:r>
            <a:r>
              <a:rPr lang="en-US" altLang="zh-TW" dirty="0" smtClean="0"/>
              <a:t>characters </a:t>
            </a:r>
            <a:r>
              <a:rPr lang="en-US" altLang="zh-TW" i="1" dirty="0" smtClean="0"/>
              <a:t>C </a:t>
            </a:r>
            <a:r>
              <a:rPr lang="en-US" altLang="zh-TW" dirty="0"/>
              <a:t>on a sequence </a:t>
            </a:r>
            <a:r>
              <a:rPr lang="en-US" altLang="zh-TW" i="1" dirty="0"/>
              <a:t>w </a:t>
            </a:r>
            <a:r>
              <a:rPr lang="en-US" altLang="zh-TW" dirty="0"/>
              <a:t>is an interval [</a:t>
            </a:r>
            <a:r>
              <a:rPr lang="en-US" altLang="zh-TW" i="1" dirty="0"/>
              <a:t>a, b</a:t>
            </a:r>
            <a:r>
              <a:rPr lang="en-US" altLang="zh-TW" dirty="0"/>
              <a:t>] such </a:t>
            </a:r>
            <a:r>
              <a:rPr lang="en-US" altLang="zh-TW" dirty="0" smtClean="0"/>
              <a:t>that </a:t>
            </a:r>
            <a:r>
              <a:rPr lang="en-US" altLang="zh-TW" i="1" dirty="0" smtClean="0"/>
              <a:t>C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w</a:t>
            </a:r>
            <a:r>
              <a:rPr lang="en-US" altLang="zh-TW" dirty="0" smtClean="0"/>
              <a:t>[</a:t>
            </a:r>
            <a:r>
              <a:rPr lang="en-US" altLang="zh-TW" i="1" dirty="0" smtClean="0"/>
              <a:t>a</a:t>
            </a:r>
            <a:r>
              <a:rPr lang="en-US" altLang="zh-TW" i="1" dirty="0"/>
              <a:t>, b</a:t>
            </a:r>
            <a:r>
              <a:rPr lang="en-US" altLang="zh-TW" dirty="0"/>
              <a:t>]) = </a:t>
            </a:r>
            <a:r>
              <a:rPr lang="en-US" altLang="zh-TW" i="1" dirty="0"/>
              <a:t>C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 smtClean="0"/>
              <a:t>w = {a, c, b, a, k, b, k, c, a}</a:t>
            </a:r>
          </a:p>
          <a:p>
            <a:r>
              <a:rPr lang="en-US" altLang="zh-TW" dirty="0" smtClean="0"/>
              <a:t>C = {b, k}</a:t>
            </a:r>
          </a:p>
          <a:p>
            <a:r>
              <a:rPr lang="en-US" altLang="zh-TW" dirty="0" smtClean="0"/>
              <a:t>Location of C = [a, b] = [5, 6] or [6, 7] or [5, 7]</a:t>
            </a:r>
          </a:p>
          <a:p>
            <a:endParaRPr lang="en-US" altLang="zh-TW" dirty="0"/>
          </a:p>
          <a:p>
            <a:r>
              <a:rPr lang="en-US" altLang="zh-TW" dirty="0" smtClean="0"/>
              <a:t>C’ = {a, b, c}</a:t>
            </a:r>
          </a:p>
          <a:p>
            <a:r>
              <a:rPr lang="en-US" altLang="zh-TW" dirty="0" smtClean="0"/>
              <a:t>Location of C’ = [a, b] = [1, 3] or [2, 4] or [1, 4]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056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4 : Exact </a:t>
            </a:r>
            <a:r>
              <a:rPr lang="en-US" altLang="zh-TW" dirty="0"/>
              <a:t>C</a:t>
            </a:r>
            <a:r>
              <a:rPr lang="en-US" altLang="zh-TW" dirty="0" smtClean="0"/>
              <a:t>ommon Interval of p Sequences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A </a:t>
            </a:r>
            <a:r>
              <a:rPr lang="en-US" altLang="zh-TW" i="1" dirty="0"/>
              <a:t>common interval of p sequences </a:t>
            </a:r>
            <a:r>
              <a:rPr lang="en-US" altLang="zh-TW" dirty="0"/>
              <a:t>is a set </a:t>
            </a:r>
            <a:r>
              <a:rPr lang="en-US" altLang="zh-TW" i="1" dirty="0"/>
              <a:t>E </a:t>
            </a:r>
            <a:r>
              <a:rPr lang="en-US" altLang="zh-TW" dirty="0" smtClean="0"/>
              <a:t>of substrings </a:t>
            </a:r>
            <a:r>
              <a:rPr lang="en-US" altLang="zh-TW" dirty="0"/>
              <a:t>from </a:t>
            </a:r>
            <a:r>
              <a:rPr lang="en-US" altLang="zh-TW" i="1" dirty="0"/>
              <a:t>p ≤ k </a:t>
            </a:r>
            <a:r>
              <a:rPr lang="en-US" altLang="zh-TW" dirty="0"/>
              <a:t>sequences among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i="1" dirty="0"/>
              <a:t>, ...,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k</a:t>
            </a:r>
            <a:r>
              <a:rPr lang="en-US" altLang="zh-TW" i="1" dirty="0"/>
              <a:t> </a:t>
            </a:r>
            <a:r>
              <a:rPr lang="en-US" altLang="zh-TW" dirty="0" smtClean="0"/>
              <a:t>such  that </a:t>
            </a:r>
            <a:r>
              <a:rPr lang="en-US" altLang="zh-TW" dirty="0"/>
              <a:t>for all the pairs (</a:t>
            </a:r>
            <a:r>
              <a:rPr lang="en-US" altLang="zh-TW" i="1" dirty="0"/>
              <a:t>w</a:t>
            </a:r>
            <a:r>
              <a:rPr lang="en-US" altLang="zh-TW" baseline="-25000" dirty="0"/>
              <a:t>1</a:t>
            </a:r>
            <a:r>
              <a:rPr lang="en-US" altLang="zh-TW" i="1" dirty="0"/>
              <a:t>, w</a:t>
            </a:r>
            <a:r>
              <a:rPr lang="en-US" altLang="zh-TW" baseline="-25000" dirty="0"/>
              <a:t>2</a:t>
            </a:r>
            <a:r>
              <a:rPr lang="en-US" altLang="zh-TW" dirty="0"/>
              <a:t>) </a:t>
            </a:r>
            <a:r>
              <a:rPr lang="en-US" altLang="zh-TW" i="1" dirty="0"/>
              <a:t>∈ E</a:t>
            </a:r>
            <a:r>
              <a:rPr lang="en-US" altLang="zh-TW" baseline="30000" dirty="0"/>
              <a:t>2</a:t>
            </a:r>
            <a:r>
              <a:rPr lang="en-US" altLang="zh-TW" dirty="0"/>
              <a:t>, </a:t>
            </a:r>
            <a:r>
              <a:rPr lang="en-US" altLang="zh-TW" i="1" dirty="0"/>
              <a:t>C</a:t>
            </a:r>
            <a:r>
              <a:rPr lang="en-US" altLang="zh-TW" dirty="0"/>
              <a:t>(</a:t>
            </a:r>
            <a:r>
              <a:rPr lang="en-US" altLang="zh-TW" i="1" dirty="0"/>
              <a:t>w</a:t>
            </a:r>
            <a:r>
              <a:rPr lang="en-US" altLang="zh-TW" baseline="-25000" dirty="0"/>
              <a:t>1</a:t>
            </a:r>
            <a:r>
              <a:rPr lang="en-US" altLang="zh-TW" dirty="0"/>
              <a:t>) = </a:t>
            </a:r>
            <a:r>
              <a:rPr lang="en-US" altLang="zh-TW" i="1" dirty="0"/>
              <a:t>C</a:t>
            </a:r>
            <a:r>
              <a:rPr lang="en-US" altLang="zh-TW" dirty="0"/>
              <a:t>(</a:t>
            </a:r>
            <a:r>
              <a:rPr lang="en-US" altLang="zh-TW" i="1" dirty="0"/>
              <a:t>w</a:t>
            </a:r>
            <a:r>
              <a:rPr lang="en-US" altLang="zh-TW" baseline="-25000" dirty="0"/>
              <a:t>2</a:t>
            </a:r>
            <a:r>
              <a:rPr lang="en-US" altLang="zh-TW" dirty="0"/>
              <a:t>). </a:t>
            </a:r>
            <a:r>
              <a:rPr lang="en-US" altLang="zh-TW" dirty="0" smtClean="0"/>
              <a:t>A common </a:t>
            </a:r>
            <a:r>
              <a:rPr lang="en-US" altLang="zh-TW" dirty="0"/>
              <a:t>interval is </a:t>
            </a:r>
            <a:r>
              <a:rPr lang="en-US" altLang="zh-TW" i="1" dirty="0"/>
              <a:t>maximal </a:t>
            </a:r>
            <a:r>
              <a:rPr lang="en-US" altLang="zh-TW" dirty="0"/>
              <a:t>if it contains only 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</a:rPr>
              <a:t>maximal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substrings.</a:t>
            </a:r>
          </a:p>
          <a:p>
            <a:r>
              <a:rPr lang="en-US" altLang="zh-TW" dirty="0"/>
              <a:t>In all what follows, we only consider maximal </a:t>
            </a:r>
            <a:r>
              <a:rPr lang="en-US" altLang="zh-TW" dirty="0" smtClean="0"/>
              <a:t>common intervals.</a:t>
            </a:r>
          </a:p>
          <a:p>
            <a:endParaRPr lang="en-US" altLang="zh-TW" dirty="0"/>
          </a:p>
          <a:p>
            <a:r>
              <a:rPr lang="en-US" altLang="zh-TW" dirty="0"/>
              <a:t>EX</a:t>
            </a:r>
            <a:r>
              <a:rPr lang="en-US" altLang="zh-TW" dirty="0" smtClean="0"/>
              <a:t>: k = 3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{a, c, c, b, k, b}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{a, c, a, a, a, c}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 = {c, c, a, b, k, b}</a:t>
            </a:r>
          </a:p>
          <a:p>
            <a:r>
              <a:rPr lang="en-US" altLang="zh-TW" dirty="0" smtClean="0"/>
              <a:t>P = 3</a:t>
            </a:r>
          </a:p>
          <a:p>
            <a:r>
              <a:rPr lang="en-US" altLang="zh-TW" dirty="0" smtClean="0"/>
              <a:t>E = {{a, c}, {a, c, c}, {a, c}, {c, a}, {c, a, a}, {a, c, a}, {a, a, c}, {c, a, a, a}, {a, c, a, a}, {a, a, a, c}, {a, c, a, a, a}, {c, a, a, a, c}, {a, c, a, a, a, c}, {c, a}, {c, c, a}}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63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d</a:t>
            </a:r>
            <a:r>
              <a:rPr lang="en-US" altLang="zh-TW" dirty="0"/>
              <a:t>(</a:t>
            </a:r>
            <a:r>
              <a:rPr lang="en-US" altLang="zh-TW" i="1" dirty="0"/>
              <a:t>A,B</a:t>
            </a:r>
            <a:r>
              <a:rPr lang="en-US" altLang="zh-TW" dirty="0"/>
              <a:t>) </a:t>
            </a:r>
            <a:r>
              <a:rPr lang="en-US" altLang="zh-TW" dirty="0" smtClean="0"/>
              <a:t>= max</a:t>
            </a:r>
            <a:r>
              <a:rPr lang="en-US" altLang="zh-TW" i="1" dirty="0" smtClean="0"/>
              <a:t>{ |A\B</a:t>
            </a:r>
            <a:r>
              <a:rPr lang="en-US" altLang="zh-TW" i="1" dirty="0"/>
              <a:t>|, |B\A</a:t>
            </a:r>
            <a:r>
              <a:rPr lang="en-US" altLang="zh-TW" i="1" dirty="0" smtClean="0"/>
              <a:t>|}</a:t>
            </a:r>
            <a:r>
              <a:rPr lang="en-US" altLang="zh-TW" dirty="0" smtClean="0"/>
              <a:t>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86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5 : Approximate common interval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Given an </a:t>
            </a:r>
            <a:r>
              <a:rPr lang="en-US" altLang="zh-TW" dirty="0"/>
              <a:t>integer </a:t>
            </a:r>
            <a:r>
              <a:rPr lang="en-US" altLang="zh-TW" i="1" dirty="0"/>
              <a:t>δ &gt; </a:t>
            </a:r>
            <a:r>
              <a:rPr lang="en-US" altLang="zh-TW" dirty="0"/>
              <a:t>0, a </a:t>
            </a:r>
            <a:r>
              <a:rPr lang="en-US" altLang="zh-TW" i="1" dirty="0"/>
              <a:t>δ-approximate common </a:t>
            </a:r>
            <a:r>
              <a:rPr lang="en-US" altLang="zh-TW" i="1" dirty="0" smtClean="0"/>
              <a:t>interval </a:t>
            </a:r>
            <a:r>
              <a:rPr lang="en-US" altLang="zh-TW" dirty="0" smtClean="0"/>
              <a:t>of </a:t>
            </a:r>
            <a:r>
              <a:rPr lang="en-US" altLang="zh-TW" i="1" dirty="0"/>
              <a:t>p </a:t>
            </a:r>
            <a:r>
              <a:rPr lang="en-US" altLang="zh-TW" dirty="0"/>
              <a:t>sequences is a set </a:t>
            </a:r>
            <a:r>
              <a:rPr lang="en-US" altLang="zh-TW" i="1" dirty="0"/>
              <a:t>E </a:t>
            </a:r>
            <a:r>
              <a:rPr lang="en-US" altLang="zh-TW" dirty="0"/>
              <a:t>of substrings from </a:t>
            </a:r>
            <a:r>
              <a:rPr lang="en-US" altLang="zh-TW" i="1" dirty="0"/>
              <a:t>p ≤ </a:t>
            </a:r>
            <a:r>
              <a:rPr lang="en-US" altLang="zh-TW" i="1" dirty="0" smtClean="0"/>
              <a:t>k </a:t>
            </a:r>
            <a:r>
              <a:rPr lang="en-US" altLang="zh-TW" dirty="0" smtClean="0"/>
              <a:t>sequences </a:t>
            </a:r>
            <a:r>
              <a:rPr lang="en-US" altLang="zh-TW" dirty="0"/>
              <a:t>among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i="1" dirty="0"/>
              <a:t>, ...,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k</a:t>
            </a:r>
            <a:r>
              <a:rPr lang="en-US" altLang="zh-TW" i="1" dirty="0"/>
              <a:t> </a:t>
            </a:r>
            <a:r>
              <a:rPr lang="en-US" altLang="zh-TW" dirty="0"/>
              <a:t>such that for all the </a:t>
            </a:r>
            <a:r>
              <a:rPr lang="en-US" altLang="zh-TW" dirty="0" smtClean="0"/>
              <a:t>pairs </a:t>
            </a:r>
            <a:r>
              <a:rPr lang="pl-PL" altLang="zh-TW" dirty="0" smtClean="0"/>
              <a:t>(</a:t>
            </a:r>
            <a:r>
              <a:rPr lang="pl-PL" altLang="zh-TW" i="1" dirty="0" smtClean="0"/>
              <a:t>w</a:t>
            </a:r>
            <a:r>
              <a:rPr lang="pl-PL" altLang="zh-TW" baseline="-25000" dirty="0" smtClean="0"/>
              <a:t>1</a:t>
            </a:r>
            <a:r>
              <a:rPr lang="pl-PL" altLang="zh-TW" i="1" dirty="0"/>
              <a:t>, w</a:t>
            </a:r>
            <a:r>
              <a:rPr lang="pl-PL" altLang="zh-TW" baseline="-25000" dirty="0"/>
              <a:t>2</a:t>
            </a:r>
            <a:r>
              <a:rPr lang="pl-PL" altLang="zh-TW" dirty="0"/>
              <a:t>) </a:t>
            </a:r>
            <a:r>
              <a:rPr lang="pl-PL" altLang="zh-TW" i="1" dirty="0"/>
              <a:t>∈ E</a:t>
            </a:r>
            <a:r>
              <a:rPr lang="pl-PL" altLang="zh-TW" dirty="0"/>
              <a:t>2, </a:t>
            </a:r>
            <a:r>
              <a:rPr lang="pl-PL" altLang="zh-TW" i="1" dirty="0"/>
              <a:t>d</a:t>
            </a:r>
            <a:r>
              <a:rPr lang="pl-PL" altLang="zh-TW" dirty="0"/>
              <a:t>(</a:t>
            </a:r>
            <a:r>
              <a:rPr lang="pl-PL" altLang="zh-TW" i="1" dirty="0"/>
              <a:t>C</a:t>
            </a:r>
            <a:r>
              <a:rPr lang="pl-PL" altLang="zh-TW" dirty="0"/>
              <a:t>(</a:t>
            </a:r>
            <a:r>
              <a:rPr lang="pl-PL" altLang="zh-TW" i="1" dirty="0"/>
              <a:t>w</a:t>
            </a:r>
            <a:r>
              <a:rPr lang="pl-PL" altLang="zh-TW" baseline="-25000" dirty="0"/>
              <a:t>1</a:t>
            </a:r>
            <a:r>
              <a:rPr lang="pl-PL" altLang="zh-TW" dirty="0"/>
              <a:t>)</a:t>
            </a:r>
            <a:r>
              <a:rPr lang="pl-PL" altLang="zh-TW" i="1" dirty="0"/>
              <a:t>, C</a:t>
            </a:r>
            <a:r>
              <a:rPr lang="pl-PL" altLang="zh-TW" dirty="0"/>
              <a:t>(</a:t>
            </a:r>
            <a:r>
              <a:rPr lang="pl-PL" altLang="zh-TW" i="1" dirty="0"/>
              <a:t>w</a:t>
            </a:r>
            <a:r>
              <a:rPr lang="pl-PL" altLang="zh-TW" baseline="-25000" dirty="0"/>
              <a:t>2</a:t>
            </a:r>
            <a:r>
              <a:rPr lang="pl-PL" altLang="zh-TW" dirty="0"/>
              <a:t>)) </a:t>
            </a:r>
            <a:r>
              <a:rPr lang="pl-PL" altLang="zh-TW" i="1" dirty="0"/>
              <a:t>&lt; δ</a:t>
            </a:r>
            <a:r>
              <a:rPr lang="pl-PL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243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6 : </a:t>
            </a:r>
            <a:r>
              <a:rPr lang="el-GR" altLang="zh-TW" i="1" dirty="0"/>
              <a:t>δ-</a:t>
            </a:r>
            <a:r>
              <a:rPr lang="en-US" altLang="zh-TW" i="1" dirty="0"/>
              <a:t>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Given an integer </a:t>
            </a:r>
            <a:r>
              <a:rPr lang="en-US" altLang="zh-TW" i="1" dirty="0"/>
              <a:t>δ</a:t>
            </a:r>
            <a:r>
              <a:rPr lang="en-US" altLang="zh-TW" dirty="0"/>
              <a:t>, </a:t>
            </a:r>
            <a:endParaRPr lang="en-US" altLang="zh-TW" dirty="0" smtClean="0"/>
          </a:p>
          <a:p>
            <a:r>
              <a:rPr lang="en-US" altLang="zh-TW" dirty="0" smtClean="0"/>
              <a:t>a minimum character </a:t>
            </a:r>
            <a:r>
              <a:rPr lang="en-US" altLang="zh-TW" dirty="0"/>
              <a:t>set size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endParaRPr lang="en-US" altLang="zh-TW" dirty="0" smtClean="0"/>
          </a:p>
          <a:p>
            <a:r>
              <a:rPr lang="en-US" altLang="zh-TW" dirty="0" smtClean="0"/>
              <a:t>a </a:t>
            </a:r>
            <a:r>
              <a:rPr lang="en-US" altLang="zh-TW" dirty="0"/>
              <a:t>quorum parameter </a:t>
            </a:r>
            <a:r>
              <a:rPr lang="en-US" altLang="zh-TW" i="1" dirty="0"/>
              <a:t>q </a:t>
            </a:r>
            <a:r>
              <a:rPr lang="en-US" altLang="zh-TW" dirty="0" smtClean="0"/>
              <a:t>and </a:t>
            </a:r>
            <a:endParaRPr lang="en-US" altLang="zh-TW" dirty="0"/>
          </a:p>
          <a:p>
            <a:r>
              <a:rPr lang="en-US" altLang="zh-TW" dirty="0"/>
              <a:t>a set-distance </a:t>
            </a:r>
            <a:r>
              <a:rPr lang="en-US" altLang="zh-TW" i="1" dirty="0" smtClean="0"/>
              <a:t>d</a:t>
            </a:r>
            <a:endParaRPr lang="en-US" altLang="zh-TW" dirty="0"/>
          </a:p>
          <a:p>
            <a:r>
              <a:rPr lang="en-US" altLang="zh-TW" dirty="0" smtClean="0"/>
              <a:t>the </a:t>
            </a:r>
            <a:r>
              <a:rPr lang="en-US" altLang="zh-TW" i="1" dirty="0"/>
              <a:t>δ-graph </a:t>
            </a:r>
            <a:r>
              <a:rPr lang="en-US" altLang="zh-TW" dirty="0"/>
              <a:t>of </a:t>
            </a:r>
            <a:r>
              <a:rPr lang="en-US" altLang="zh-TW" i="1" dirty="0"/>
              <a:t>k </a:t>
            </a:r>
            <a:r>
              <a:rPr lang="en-US" altLang="zh-TW" dirty="0"/>
              <a:t>sequences is the </a:t>
            </a:r>
            <a:r>
              <a:rPr lang="en-US" altLang="zh-TW" dirty="0" smtClean="0"/>
              <a:t>graph whose </a:t>
            </a:r>
            <a:r>
              <a:rPr lang="en-US" altLang="zh-TW" dirty="0"/>
              <a:t>vertices are the character sets corresponding </a:t>
            </a:r>
            <a:r>
              <a:rPr lang="en-US" altLang="zh-TW" dirty="0" smtClean="0"/>
              <a:t>to substrings </a:t>
            </a:r>
            <a:r>
              <a:rPr lang="en-US" altLang="zh-TW" dirty="0"/>
              <a:t>of size at least </a:t>
            </a:r>
            <a:r>
              <a:rPr lang="en-US" altLang="zh-TW" i="1" dirty="0"/>
              <a:t>s </a:t>
            </a:r>
            <a:r>
              <a:rPr lang="en-US" altLang="zh-TW" dirty="0"/>
              <a:t>that are located on at </a:t>
            </a:r>
            <a:r>
              <a:rPr lang="en-US" altLang="zh-TW" dirty="0" smtClean="0"/>
              <a:t>least </a:t>
            </a:r>
            <a:r>
              <a:rPr lang="en-US" altLang="zh-TW" i="1" dirty="0" smtClean="0"/>
              <a:t>q </a:t>
            </a:r>
            <a:r>
              <a:rPr lang="en-US" altLang="zh-TW" dirty="0"/>
              <a:t>genomes. </a:t>
            </a:r>
            <a:endParaRPr lang="en-US" altLang="zh-TW" dirty="0" smtClean="0"/>
          </a:p>
          <a:p>
            <a:r>
              <a:rPr lang="en-US" altLang="zh-TW" dirty="0" smtClean="0"/>
              <a:t>An </a:t>
            </a:r>
            <a:r>
              <a:rPr lang="en-US" altLang="zh-TW" dirty="0"/>
              <a:t>edge links two vertices </a:t>
            </a:r>
            <a:r>
              <a:rPr lang="en-US" altLang="zh-TW" i="1" dirty="0"/>
              <a:t>A </a:t>
            </a:r>
            <a:r>
              <a:rPr lang="en-US" altLang="zh-TW" dirty="0"/>
              <a:t>and </a:t>
            </a:r>
            <a:r>
              <a:rPr lang="en-US" altLang="zh-TW" i="1" dirty="0"/>
              <a:t>B </a:t>
            </a:r>
            <a:r>
              <a:rPr lang="en-US" altLang="zh-TW" dirty="0" smtClean="0"/>
              <a:t>if </a:t>
            </a:r>
            <a:r>
              <a:rPr lang="en-US" altLang="zh-TW" i="1" dirty="0" smtClean="0"/>
              <a:t>d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A,B</a:t>
            </a:r>
            <a:r>
              <a:rPr lang="en-US" altLang="zh-TW" dirty="0"/>
              <a:t>) </a:t>
            </a:r>
            <a:r>
              <a:rPr lang="en-US" altLang="zh-TW" i="1" dirty="0"/>
              <a:t>&lt; </a:t>
            </a:r>
            <a:r>
              <a:rPr lang="el-GR" altLang="zh-TW" i="1" dirty="0"/>
              <a:t>δ</a:t>
            </a:r>
            <a:r>
              <a:rPr lang="el-GR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668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Definition 6 : </a:t>
            </a:r>
            <a:r>
              <a:rPr lang="el-GR" altLang="zh-TW" i="1" dirty="0"/>
              <a:t>δ-</a:t>
            </a:r>
            <a:r>
              <a:rPr lang="en-US" altLang="zh-TW" i="1" dirty="0"/>
              <a:t>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δ = 1</a:t>
            </a:r>
          </a:p>
          <a:p>
            <a:r>
              <a:rPr lang="en-US" altLang="zh-TW" i="1" dirty="0" smtClean="0"/>
              <a:t>S = 2</a:t>
            </a:r>
          </a:p>
          <a:p>
            <a:r>
              <a:rPr lang="en-US" altLang="zh-TW" i="1" dirty="0"/>
              <a:t>q</a:t>
            </a:r>
            <a:r>
              <a:rPr lang="en-US" altLang="zh-TW" i="1" dirty="0" smtClean="0"/>
              <a:t> = 3</a:t>
            </a:r>
          </a:p>
          <a:p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{a, c, c, b, k, b}</a:t>
            </a:r>
          </a:p>
          <a:p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{a, c, a, a, a, c}</a:t>
            </a:r>
          </a:p>
          <a:p>
            <a:r>
              <a:rPr lang="en-US" altLang="zh-TW" dirty="0"/>
              <a:t>S</a:t>
            </a:r>
            <a:r>
              <a:rPr lang="en-US" altLang="zh-TW" baseline="-25000" dirty="0"/>
              <a:t>3</a:t>
            </a:r>
            <a:r>
              <a:rPr lang="en-US" altLang="zh-TW" dirty="0"/>
              <a:t> = {c, c, a, b, k, b</a:t>
            </a:r>
            <a:r>
              <a:rPr lang="en-US" altLang="zh-TW" dirty="0" smtClean="0"/>
              <a:t>}</a:t>
            </a:r>
          </a:p>
          <a:p>
            <a:r>
              <a:rPr lang="en-US" altLang="zh-TW" dirty="0"/>
              <a:t>E = </a:t>
            </a:r>
            <a:r>
              <a:rPr lang="en-US" altLang="zh-TW" dirty="0" smtClean="0"/>
              <a:t>{{</a:t>
            </a:r>
            <a:r>
              <a:rPr lang="en-US" altLang="zh-TW" dirty="0"/>
              <a:t>a, c}, {a, c, c}, {a, c}, {c, a}, {c, a, a}, {a, c, a}, {a, a, c}, {c, a, a, a}, {a, c, a, a}, {a, a, a, c}, {a, c, a, a, a}, {c, a, a, a, c}, {a, c, a, a, a, c}, {c, a}, {c, c, a}}</a:t>
            </a:r>
            <a:endParaRPr lang="en-US" altLang="zh-TW" i="1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836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Definition 6 : </a:t>
            </a:r>
            <a:r>
              <a:rPr lang="el-GR" altLang="zh-TW" i="1" dirty="0"/>
              <a:t>δ-</a:t>
            </a:r>
            <a:r>
              <a:rPr lang="en-US" altLang="zh-TW" i="1" dirty="0"/>
              <a:t>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Note that, if </a:t>
            </a:r>
            <a:r>
              <a:rPr lang="en-US" altLang="zh-TW" i="1" dirty="0"/>
              <a:t>q </a:t>
            </a:r>
            <a:r>
              <a:rPr lang="en-US" altLang="zh-TW" dirty="0"/>
              <a:t>= 1, the approximate common </a:t>
            </a:r>
            <a:r>
              <a:rPr lang="en-US" altLang="zh-TW" dirty="0" smtClean="0"/>
              <a:t>intervals are </a:t>
            </a:r>
            <a:r>
              <a:rPr lang="en-US" altLang="zh-TW" dirty="0"/>
              <a:t>the cliques of this graph. 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However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</a:rPr>
              <a:t>, if </a:t>
            </a:r>
            <a:r>
              <a:rPr lang="en-US" altLang="zh-TW" i="1" dirty="0">
                <a:solidFill>
                  <a:schemeClr val="accent6">
                    <a:lumMod val="50000"/>
                  </a:schemeClr>
                </a:solidFill>
              </a:rPr>
              <a:t>q &gt; 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</a:rPr>
              <a:t>1,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the equivalence 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</a:rPr>
              <a:t>is no longer true, but we gain in </a:t>
            </a:r>
            <a:r>
              <a:rPr lang="en-US" altLang="zh-TW" dirty="0" smtClean="0">
                <a:solidFill>
                  <a:schemeClr val="accent6">
                    <a:lumMod val="50000"/>
                  </a:schemeClr>
                </a:solidFill>
              </a:rPr>
              <a:t>computation time </a:t>
            </a:r>
            <a:r>
              <a:rPr lang="en-US" altLang="zh-TW" dirty="0">
                <a:solidFill>
                  <a:schemeClr val="accent6">
                    <a:lumMod val="50000"/>
                  </a:schemeClr>
                </a:solidFill>
              </a:rPr>
              <a:t>and flexibility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619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7 : Connected Cluster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Given </a:t>
            </a:r>
            <a:r>
              <a:rPr lang="en-US" altLang="zh-TW" i="1" dirty="0"/>
              <a:t>k </a:t>
            </a:r>
            <a:r>
              <a:rPr lang="en-US" altLang="zh-TW" dirty="0" smtClean="0"/>
              <a:t>sequences</a:t>
            </a:r>
            <a:r>
              <a:rPr lang="en-US" altLang="zh-TW" i="1" dirty="0"/>
              <a:t> S</a:t>
            </a:r>
            <a:r>
              <a:rPr lang="en-US" altLang="zh-TW" baseline="-25000" dirty="0"/>
              <a:t>1</a:t>
            </a:r>
            <a:r>
              <a:rPr lang="en-US" altLang="zh-TW" i="1" dirty="0"/>
              <a:t>, ...,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k</a:t>
            </a:r>
            <a:r>
              <a:rPr lang="en-US" altLang="zh-TW" dirty="0" smtClean="0"/>
              <a:t>, </a:t>
            </a:r>
            <a:r>
              <a:rPr lang="en-US" altLang="zh-TW" dirty="0"/>
              <a:t>and three integers </a:t>
            </a:r>
            <a:r>
              <a:rPr lang="en-US" altLang="zh-TW" i="1" dirty="0"/>
              <a:t>s</a:t>
            </a:r>
            <a:r>
              <a:rPr lang="en-US" altLang="zh-TW" dirty="0"/>
              <a:t>, </a:t>
            </a:r>
            <a:r>
              <a:rPr lang="en-US" altLang="zh-TW" i="1" dirty="0"/>
              <a:t>q </a:t>
            </a:r>
            <a:r>
              <a:rPr lang="en-US" altLang="zh-TW" dirty="0"/>
              <a:t>and </a:t>
            </a:r>
            <a:r>
              <a:rPr lang="en-US" altLang="zh-TW" i="1" dirty="0"/>
              <a:t>δ</a:t>
            </a:r>
            <a:r>
              <a:rPr lang="en-US" altLang="zh-TW" dirty="0"/>
              <a:t>, a </a:t>
            </a:r>
            <a:r>
              <a:rPr lang="en-US" altLang="zh-TW" i="1" dirty="0" smtClean="0"/>
              <a:t>connected cluster </a:t>
            </a:r>
            <a:r>
              <a:rPr lang="en-US" altLang="zh-TW" dirty="0"/>
              <a:t>of these sequences is a set </a:t>
            </a:r>
            <a:r>
              <a:rPr lang="en-US" altLang="zh-TW" i="1" dirty="0"/>
              <a:t>E </a:t>
            </a:r>
            <a:r>
              <a:rPr lang="en-US" altLang="zh-TW" dirty="0"/>
              <a:t>of substrings </a:t>
            </a:r>
            <a:r>
              <a:rPr lang="en-US" altLang="zh-TW" dirty="0" smtClean="0"/>
              <a:t>from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i="1" dirty="0"/>
              <a:t>, ...,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k</a:t>
            </a:r>
            <a:r>
              <a:rPr lang="en-US" altLang="zh-TW" i="1" dirty="0" smtClean="0"/>
              <a:t> </a:t>
            </a:r>
            <a:r>
              <a:rPr lang="en-US" altLang="zh-TW" dirty="0"/>
              <a:t>such that the set </a:t>
            </a:r>
            <a:r>
              <a:rPr lang="en-US" altLang="zh-TW" i="1" dirty="0"/>
              <a:t>{C</a:t>
            </a:r>
            <a:r>
              <a:rPr lang="en-US" altLang="zh-TW" dirty="0"/>
              <a:t>(</a:t>
            </a:r>
            <a:r>
              <a:rPr lang="en-US" altLang="zh-TW" i="1" dirty="0"/>
              <a:t>w</a:t>
            </a:r>
            <a:r>
              <a:rPr lang="en-US" altLang="zh-TW" dirty="0"/>
              <a:t>) : </a:t>
            </a:r>
            <a:r>
              <a:rPr lang="en-US" altLang="zh-TW" i="1" dirty="0"/>
              <a:t>w ∈ E} </a:t>
            </a:r>
            <a:r>
              <a:rPr lang="en-US" altLang="zh-TW" dirty="0"/>
              <a:t>is </a:t>
            </a:r>
            <a:r>
              <a:rPr lang="en-US" altLang="zh-TW" dirty="0" smtClean="0"/>
              <a:t>a connected </a:t>
            </a:r>
            <a:r>
              <a:rPr lang="en-US" altLang="zh-TW" dirty="0"/>
              <a:t>component of the </a:t>
            </a:r>
            <a:r>
              <a:rPr lang="en-US" altLang="zh-TW" i="1" dirty="0"/>
              <a:t>δ</a:t>
            </a:r>
            <a:r>
              <a:rPr lang="en-US" altLang="zh-TW" dirty="0"/>
              <a:t>-graph of 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i="1" dirty="0"/>
              <a:t>, ..., 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k</a:t>
            </a:r>
            <a:r>
              <a:rPr lang="en-US" altLang="zh-TW" i="1" dirty="0"/>
              <a:t> 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This </a:t>
            </a:r>
            <a:r>
              <a:rPr lang="en-US" altLang="zh-TW" dirty="0"/>
              <a:t>notion enlarges the notion of clique, and it </a:t>
            </a:r>
            <a:r>
              <a:rPr lang="en-US" altLang="zh-TW" dirty="0" smtClean="0"/>
              <a:t>may prove </a:t>
            </a:r>
            <a:r>
              <a:rPr lang="en-US" altLang="zh-TW" dirty="0"/>
              <a:t>biologically relevant. With connected clusters, </a:t>
            </a:r>
            <a:r>
              <a:rPr lang="en-US" altLang="zh-TW" dirty="0" smtClean="0"/>
              <a:t>we can </a:t>
            </a:r>
            <a:r>
              <a:rPr lang="en-US" altLang="zh-TW" dirty="0"/>
              <a:t>for instance </a:t>
            </a:r>
            <a:r>
              <a:rPr lang="en-US" altLang="zh-TW" dirty="0" smtClean="0"/>
              <a:t>analyze </a:t>
            </a:r>
            <a:r>
              <a:rPr lang="en-US" altLang="zh-TW" dirty="0"/>
              <a:t>rearrangement events.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512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121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1. extracts the </a:t>
            </a:r>
            <a:r>
              <a:rPr lang="en-US" altLang="zh-TW" dirty="0"/>
              <a:t>genome representations from </a:t>
            </a:r>
            <a:r>
              <a:rPr lang="en-US" altLang="zh-TW" dirty="0" err="1"/>
              <a:t>Hogenom</a:t>
            </a:r>
            <a:r>
              <a:rPr lang="en-US" altLang="zh-TW" dirty="0"/>
              <a:t> </a:t>
            </a:r>
            <a:r>
              <a:rPr lang="en-US" altLang="zh-TW" dirty="0" smtClean="0"/>
              <a:t>files .</a:t>
            </a:r>
          </a:p>
          <a:p>
            <a:pPr lvl="1"/>
            <a:r>
              <a:rPr lang="en-US" altLang="zh-TW" dirty="0" smtClean="0"/>
              <a:t>Note. </a:t>
            </a:r>
            <a:r>
              <a:rPr lang="en-US" altLang="zh-TW" dirty="0" err="1"/>
              <a:t>Hogenom</a:t>
            </a:r>
            <a:r>
              <a:rPr lang="en-US" altLang="zh-TW" dirty="0"/>
              <a:t> </a:t>
            </a:r>
            <a:r>
              <a:rPr lang="en-US" altLang="zh-TW" dirty="0" smtClean="0"/>
              <a:t>is a database</a:t>
            </a:r>
          </a:p>
          <a:p>
            <a:r>
              <a:rPr lang="en-US" altLang="zh-TW" dirty="0" smtClean="0"/>
              <a:t>2. builds the </a:t>
            </a:r>
            <a:r>
              <a:rPr lang="en-US" altLang="zh-TW" i="1" dirty="0"/>
              <a:t>δ</a:t>
            </a:r>
            <a:r>
              <a:rPr lang="en-US" altLang="zh-TW" dirty="0"/>
              <a:t>-graph for the </a:t>
            </a:r>
            <a:r>
              <a:rPr lang="en-US" altLang="zh-TW" i="1" dirty="0"/>
              <a:t>k </a:t>
            </a:r>
            <a:r>
              <a:rPr lang="en-US" altLang="zh-TW" dirty="0" smtClean="0"/>
              <a:t>genomes .</a:t>
            </a:r>
          </a:p>
          <a:p>
            <a:r>
              <a:rPr lang="en-US" altLang="zh-TW" dirty="0" smtClean="0"/>
              <a:t>3. </a:t>
            </a:r>
            <a:r>
              <a:rPr lang="en-US" altLang="zh-TW" dirty="0"/>
              <a:t>computes its </a:t>
            </a:r>
            <a:r>
              <a:rPr lang="en-US" altLang="zh-TW" dirty="0" smtClean="0"/>
              <a:t>cliques and </a:t>
            </a:r>
            <a:r>
              <a:rPr lang="en-US" altLang="zh-TW" dirty="0"/>
              <a:t>maximal connected </a:t>
            </a:r>
            <a:r>
              <a:rPr lang="en-US" altLang="zh-TW" dirty="0" smtClean="0"/>
              <a:t>components (CC).</a:t>
            </a:r>
          </a:p>
          <a:p>
            <a:r>
              <a:rPr lang="en-US" altLang="zh-TW" dirty="0" smtClean="0"/>
              <a:t>4. allows a </a:t>
            </a:r>
            <a:r>
              <a:rPr lang="en-US" altLang="zh-TW" dirty="0"/>
              <a:t>general </a:t>
            </a:r>
            <a:r>
              <a:rPr lang="en-US" altLang="zh-TW" dirty="0" smtClean="0"/>
              <a:t>visualization </a:t>
            </a:r>
            <a:r>
              <a:rPr lang="en-US" altLang="zh-TW" dirty="0"/>
              <a:t>of the entire graph or </a:t>
            </a:r>
            <a:r>
              <a:rPr lang="en-US" altLang="zh-TW" dirty="0" smtClean="0"/>
              <a:t>detailed view </a:t>
            </a:r>
            <a:r>
              <a:rPr lang="en-US" altLang="zh-TW" dirty="0"/>
              <a:t>of its </a:t>
            </a:r>
            <a:r>
              <a:rPr lang="en-US" altLang="zh-TW" dirty="0" smtClean="0"/>
              <a:t>CC.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960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Construct of the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processing of each </a:t>
            </a:r>
            <a:r>
              <a:rPr lang="en-US" altLang="zh-TW" dirty="0" smtClean="0"/>
              <a:t>sequence is </a:t>
            </a:r>
            <a:r>
              <a:rPr lang="en-US" altLang="zh-TW" dirty="0"/>
              <a:t>done in two distinct steps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1. </a:t>
            </a:r>
            <a:r>
              <a:rPr lang="en-US" altLang="zh-TW" dirty="0"/>
              <a:t>The genomes are </a:t>
            </a:r>
            <a:r>
              <a:rPr lang="en-US" altLang="zh-TW" dirty="0" smtClean="0"/>
              <a:t>first processed </a:t>
            </a:r>
            <a:r>
              <a:rPr lang="en-US" altLang="zh-TW" dirty="0"/>
              <a:t>to detect substrings that are maximal </a:t>
            </a:r>
            <a:r>
              <a:rPr lang="en-US" altLang="zh-TW" dirty="0" smtClean="0"/>
              <a:t>with respect </a:t>
            </a:r>
            <a:r>
              <a:rPr lang="en-US" altLang="zh-TW" dirty="0"/>
              <a:t>to their character set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2. </a:t>
            </a:r>
            <a:r>
              <a:rPr lang="en-US" altLang="zh-TW" dirty="0"/>
              <a:t>Each maximal </a:t>
            </a:r>
            <a:r>
              <a:rPr lang="en-US" altLang="zh-TW" dirty="0" smtClean="0"/>
              <a:t>substring is </a:t>
            </a:r>
            <a:r>
              <a:rPr lang="en-US" altLang="zh-TW" dirty="0"/>
              <a:t>then processed by calling a second algorithm with </a:t>
            </a:r>
            <a:r>
              <a:rPr lang="en-US" altLang="zh-TW" dirty="0" smtClean="0"/>
              <a:t>the character </a:t>
            </a:r>
            <a:r>
              <a:rPr lang="en-US" altLang="zh-TW" dirty="0"/>
              <a:t>set and the location as input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i="1" dirty="0"/>
              <a:t>Theorem 1: </a:t>
            </a:r>
            <a:r>
              <a:rPr lang="en-US" altLang="zh-TW" dirty="0"/>
              <a:t>The algorithm described in the </a:t>
            </a:r>
            <a:r>
              <a:rPr lang="en-US" altLang="zh-TW" dirty="0" smtClean="0"/>
              <a:t>previous paragraphs </a:t>
            </a:r>
            <a:r>
              <a:rPr lang="en-US" altLang="zh-TW" dirty="0"/>
              <a:t>builds the </a:t>
            </a:r>
            <a:r>
              <a:rPr lang="en-US" altLang="zh-TW" i="1" dirty="0"/>
              <a:t>δ</a:t>
            </a:r>
            <a:r>
              <a:rPr lang="en-US" altLang="zh-TW" dirty="0"/>
              <a:t>-graph in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k</a:t>
            </a:r>
            <a:r>
              <a:rPr lang="en-US" altLang="zh-TW" baseline="30000" dirty="0"/>
              <a:t>2</a:t>
            </a:r>
            <a:r>
              <a:rPr lang="en-US" altLang="zh-TW" i="1" dirty="0"/>
              <a:t>n</a:t>
            </a:r>
            <a:r>
              <a:rPr lang="en-US" altLang="zh-TW" baseline="30000" dirty="0"/>
              <a:t>5</a:t>
            </a:r>
            <a:r>
              <a:rPr lang="en-US" altLang="zh-TW" dirty="0"/>
              <a:t>) time </a:t>
            </a:r>
            <a:r>
              <a:rPr lang="en-US" altLang="zh-TW" dirty="0" smtClean="0"/>
              <a:t>and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k</a:t>
            </a:r>
            <a:r>
              <a:rPr lang="en-US" altLang="zh-TW" baseline="30000" dirty="0" smtClean="0"/>
              <a:t>2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4</a:t>
            </a:r>
            <a:r>
              <a:rPr lang="en-US" altLang="zh-TW" dirty="0"/>
              <a:t>) space.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773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Computation of the Maximal cliques in the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Static</a:t>
            </a:r>
          </a:p>
          <a:p>
            <a:r>
              <a:rPr lang="en-US" altLang="zh-TW" dirty="0" smtClean="0"/>
              <a:t>Dynamic</a:t>
            </a:r>
          </a:p>
          <a:p>
            <a:pPr lvl="1"/>
            <a:r>
              <a:rPr lang="en-US" altLang="zh-TW" dirty="0" smtClean="0"/>
              <a:t>MACE</a:t>
            </a:r>
          </a:p>
          <a:p>
            <a:pPr lvl="2"/>
            <a:r>
              <a:rPr lang="en-US" altLang="zh-TW" dirty="0"/>
              <a:t>K. Makino and T. Uno. New algorithms for enumerating </a:t>
            </a:r>
            <a:r>
              <a:rPr lang="en-US" altLang="zh-TW" dirty="0" smtClean="0"/>
              <a:t>all maximal </a:t>
            </a:r>
            <a:r>
              <a:rPr lang="en-US" altLang="zh-TW" dirty="0"/>
              <a:t>cliques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O(k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n</a:t>
            </a:r>
            <a:r>
              <a:rPr lang="en-US" altLang="zh-TW" baseline="30000" dirty="0" smtClean="0"/>
              <a:t>6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98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165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r="3116" b="3624"/>
          <a:stretch/>
        </p:blipFill>
        <p:spPr>
          <a:xfrm>
            <a:off x="677334" y="1434686"/>
            <a:ext cx="7479114" cy="480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2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C7EDCC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195</TotalTime>
  <Words>1378</Words>
  <Application>Microsoft Office PowerPoint</Application>
  <PresentationFormat>自訂</PresentationFormat>
  <Paragraphs>93</Paragraphs>
  <Slides>19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多面向</vt:lpstr>
      <vt:lpstr>Approximate Common Intervals in Multiple Genome Comparison</vt:lpstr>
      <vt:lpstr>Abstract</vt:lpstr>
      <vt:lpstr>DEFINITION</vt:lpstr>
      <vt:lpstr>Definition 1 : Character Set</vt:lpstr>
      <vt:lpstr>Definition 2 : Left- And Right-Maximality</vt:lpstr>
      <vt:lpstr>Definition 3 : Location</vt:lpstr>
      <vt:lpstr>Definition 4 : Exact Common Interval of p Sequences</vt:lpstr>
      <vt:lpstr>Distance</vt:lpstr>
      <vt:lpstr>Definition 5 : Approximate common interval</vt:lpstr>
      <vt:lpstr>Definition 6 : δ-graph</vt:lpstr>
      <vt:lpstr>Definition 6 : δ-graph</vt:lpstr>
      <vt:lpstr>Definition 6 : δ-graph</vt:lpstr>
      <vt:lpstr>Definition 7 : Connected Cluster</vt:lpstr>
      <vt:lpstr>METHOD</vt:lpstr>
      <vt:lpstr>METHOD</vt:lpstr>
      <vt:lpstr>Construct of the Graph</vt:lpstr>
      <vt:lpstr>Computation of the Maximal cliques in the graph</vt:lpstr>
      <vt:lpstr>RESULT</vt:lpstr>
      <vt:lpstr>RESULT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Approximate Common Intervals in Multiple Genome Comparison</dc:title>
  <dc:creator>Pichu</dc:creator>
  <cp:lastModifiedBy>Ray</cp:lastModifiedBy>
  <cp:revision>13</cp:revision>
  <dcterms:created xsi:type="dcterms:W3CDTF">2013-07-02T07:11:27Z</dcterms:created>
  <dcterms:modified xsi:type="dcterms:W3CDTF">2013-07-02T13:32:53Z</dcterms:modified>
</cp:coreProperties>
</file>