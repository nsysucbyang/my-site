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70" r:id="rId13"/>
    <p:sldId id="268" r:id="rId14"/>
    <p:sldId id="269" r:id="rId15"/>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2" d="100"/>
          <a:sy n="102" d="100"/>
        </p:scale>
        <p:origin x="-234" y="-9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6785EF95-96CC-49FD-82FF-E18BCC0F6300}" type="datetimeFigureOut">
              <a:rPr lang="zh-TW" altLang="en-US" smtClean="0"/>
              <a:t>2013/7/2</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4A99A30-37C6-4C61-96C8-559383E6C044}" type="slidenum">
              <a:rPr lang="zh-TW" altLang="en-US" smtClean="0"/>
              <a:t>‹#›</a:t>
            </a:fld>
            <a:endParaRPr lang="zh-TW" altLang="en-US"/>
          </a:p>
        </p:txBody>
      </p:sp>
    </p:spTree>
    <p:extLst>
      <p:ext uri="{BB962C8B-B14F-4D97-AF65-F5344CB8AC3E}">
        <p14:creationId xmlns:p14="http://schemas.microsoft.com/office/powerpoint/2010/main" val="22521808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6785EF95-96CC-49FD-82FF-E18BCC0F6300}" type="datetimeFigureOut">
              <a:rPr lang="zh-TW" altLang="en-US" smtClean="0"/>
              <a:t>2013/7/2</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4A99A30-37C6-4C61-96C8-559383E6C044}" type="slidenum">
              <a:rPr lang="zh-TW" altLang="en-US" smtClean="0"/>
              <a:t>‹#›</a:t>
            </a:fld>
            <a:endParaRPr lang="zh-TW" altLang="en-US"/>
          </a:p>
        </p:txBody>
      </p:sp>
    </p:spTree>
    <p:extLst>
      <p:ext uri="{BB962C8B-B14F-4D97-AF65-F5344CB8AC3E}">
        <p14:creationId xmlns:p14="http://schemas.microsoft.com/office/powerpoint/2010/main" val="40725576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6785EF95-96CC-49FD-82FF-E18BCC0F6300}" type="datetimeFigureOut">
              <a:rPr lang="zh-TW" altLang="en-US" smtClean="0"/>
              <a:t>2013/7/2</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4A99A30-37C6-4C61-96C8-559383E6C044}" type="slidenum">
              <a:rPr lang="zh-TW" altLang="en-US" smtClean="0"/>
              <a:t>‹#›</a:t>
            </a:fld>
            <a:endParaRPr lang="zh-TW" altLang="en-US"/>
          </a:p>
        </p:txBody>
      </p:sp>
    </p:spTree>
    <p:extLst>
      <p:ext uri="{BB962C8B-B14F-4D97-AF65-F5344CB8AC3E}">
        <p14:creationId xmlns:p14="http://schemas.microsoft.com/office/powerpoint/2010/main" val="21168969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6785EF95-96CC-49FD-82FF-E18BCC0F6300}" type="datetimeFigureOut">
              <a:rPr lang="zh-TW" altLang="en-US" smtClean="0"/>
              <a:t>2013/7/2</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4A99A30-37C6-4C61-96C8-559383E6C044}" type="slidenum">
              <a:rPr lang="zh-TW" altLang="en-US" smtClean="0"/>
              <a:t>‹#›</a:t>
            </a:fld>
            <a:endParaRPr lang="zh-TW" altLang="en-US"/>
          </a:p>
        </p:txBody>
      </p:sp>
    </p:spTree>
    <p:extLst>
      <p:ext uri="{BB962C8B-B14F-4D97-AF65-F5344CB8AC3E}">
        <p14:creationId xmlns:p14="http://schemas.microsoft.com/office/powerpoint/2010/main" val="40515768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6785EF95-96CC-49FD-82FF-E18BCC0F6300}" type="datetimeFigureOut">
              <a:rPr lang="zh-TW" altLang="en-US" smtClean="0"/>
              <a:t>2013/7/2</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74A99A30-37C6-4C61-96C8-559383E6C044}" type="slidenum">
              <a:rPr lang="zh-TW" altLang="en-US" smtClean="0"/>
              <a:t>‹#›</a:t>
            </a:fld>
            <a:endParaRPr lang="zh-TW" altLang="en-US"/>
          </a:p>
        </p:txBody>
      </p:sp>
    </p:spTree>
    <p:extLst>
      <p:ext uri="{BB962C8B-B14F-4D97-AF65-F5344CB8AC3E}">
        <p14:creationId xmlns:p14="http://schemas.microsoft.com/office/powerpoint/2010/main" val="4817774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6785EF95-96CC-49FD-82FF-E18BCC0F6300}" type="datetimeFigureOut">
              <a:rPr lang="zh-TW" altLang="en-US" smtClean="0"/>
              <a:t>2013/7/2</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74A99A30-37C6-4C61-96C8-559383E6C044}" type="slidenum">
              <a:rPr lang="zh-TW" altLang="en-US" smtClean="0"/>
              <a:t>‹#›</a:t>
            </a:fld>
            <a:endParaRPr lang="zh-TW" altLang="en-US"/>
          </a:p>
        </p:txBody>
      </p:sp>
    </p:spTree>
    <p:extLst>
      <p:ext uri="{BB962C8B-B14F-4D97-AF65-F5344CB8AC3E}">
        <p14:creationId xmlns:p14="http://schemas.microsoft.com/office/powerpoint/2010/main" val="23994327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6785EF95-96CC-49FD-82FF-E18BCC0F6300}" type="datetimeFigureOut">
              <a:rPr lang="zh-TW" altLang="en-US" smtClean="0"/>
              <a:t>2013/7/2</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74A99A30-37C6-4C61-96C8-559383E6C044}" type="slidenum">
              <a:rPr lang="zh-TW" altLang="en-US" smtClean="0"/>
              <a:t>‹#›</a:t>
            </a:fld>
            <a:endParaRPr lang="zh-TW" altLang="en-US"/>
          </a:p>
        </p:txBody>
      </p:sp>
    </p:spTree>
    <p:extLst>
      <p:ext uri="{BB962C8B-B14F-4D97-AF65-F5344CB8AC3E}">
        <p14:creationId xmlns:p14="http://schemas.microsoft.com/office/powerpoint/2010/main" val="29006341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6785EF95-96CC-49FD-82FF-E18BCC0F6300}" type="datetimeFigureOut">
              <a:rPr lang="zh-TW" altLang="en-US" smtClean="0"/>
              <a:t>2013/7/2</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4A99A30-37C6-4C61-96C8-559383E6C044}" type="slidenum">
              <a:rPr lang="zh-TW" altLang="en-US" smtClean="0"/>
              <a:t>‹#›</a:t>
            </a:fld>
            <a:endParaRPr lang="zh-TW" altLang="en-US"/>
          </a:p>
        </p:txBody>
      </p:sp>
    </p:spTree>
    <p:extLst>
      <p:ext uri="{BB962C8B-B14F-4D97-AF65-F5344CB8AC3E}">
        <p14:creationId xmlns:p14="http://schemas.microsoft.com/office/powerpoint/2010/main" val="6724119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6785EF95-96CC-49FD-82FF-E18BCC0F6300}" type="datetimeFigureOut">
              <a:rPr lang="zh-TW" altLang="en-US" smtClean="0"/>
              <a:t>2013/7/2</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4A99A30-37C6-4C61-96C8-559383E6C044}" type="slidenum">
              <a:rPr lang="zh-TW" altLang="en-US" smtClean="0"/>
              <a:t>‹#›</a:t>
            </a:fld>
            <a:endParaRPr lang="zh-TW" altLang="en-US"/>
          </a:p>
        </p:txBody>
      </p:sp>
    </p:spTree>
    <p:extLst>
      <p:ext uri="{BB962C8B-B14F-4D97-AF65-F5344CB8AC3E}">
        <p14:creationId xmlns:p14="http://schemas.microsoft.com/office/powerpoint/2010/main" val="2238979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6785EF95-96CC-49FD-82FF-E18BCC0F6300}" type="datetimeFigureOut">
              <a:rPr lang="zh-TW" altLang="en-US" smtClean="0"/>
              <a:t>2013/7/2</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4A99A30-37C6-4C61-96C8-559383E6C044}" type="slidenum">
              <a:rPr lang="zh-TW" altLang="en-US" smtClean="0"/>
              <a:t>‹#›</a:t>
            </a:fld>
            <a:endParaRPr lang="zh-TW" altLang="en-US"/>
          </a:p>
        </p:txBody>
      </p:sp>
    </p:spTree>
    <p:extLst>
      <p:ext uri="{BB962C8B-B14F-4D97-AF65-F5344CB8AC3E}">
        <p14:creationId xmlns:p14="http://schemas.microsoft.com/office/powerpoint/2010/main" val="15697460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6785EF95-96CC-49FD-82FF-E18BCC0F6300}" type="datetimeFigureOut">
              <a:rPr lang="zh-TW" altLang="en-US" smtClean="0"/>
              <a:t>2013/7/2</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4A99A30-37C6-4C61-96C8-559383E6C044}" type="slidenum">
              <a:rPr lang="zh-TW" altLang="en-US" smtClean="0"/>
              <a:t>‹#›</a:t>
            </a:fld>
            <a:endParaRPr lang="zh-TW" altLang="en-US"/>
          </a:p>
        </p:txBody>
      </p:sp>
    </p:spTree>
    <p:extLst>
      <p:ext uri="{BB962C8B-B14F-4D97-AF65-F5344CB8AC3E}">
        <p14:creationId xmlns:p14="http://schemas.microsoft.com/office/powerpoint/2010/main" val="4793887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785EF95-96CC-49FD-82FF-E18BCC0F6300}" type="datetimeFigureOut">
              <a:rPr lang="zh-TW" altLang="en-US" smtClean="0"/>
              <a:t>2013/7/2</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4A99A30-37C6-4C61-96C8-559383E6C044}" type="slidenum">
              <a:rPr lang="zh-TW" altLang="en-US" smtClean="0"/>
              <a:t>‹#›</a:t>
            </a:fld>
            <a:endParaRPr lang="zh-TW" altLang="en-US"/>
          </a:p>
        </p:txBody>
      </p:sp>
    </p:spTree>
    <p:extLst>
      <p:ext uri="{BB962C8B-B14F-4D97-AF65-F5344CB8AC3E}">
        <p14:creationId xmlns:p14="http://schemas.microsoft.com/office/powerpoint/2010/main" val="5058582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lstStyle/>
          <a:p>
            <a:r>
              <a:rPr lang="en-US" altLang="zh-TW" dirty="0" smtClean="0"/>
              <a:t>RTED: A Robust Algorithm</a:t>
            </a:r>
            <a:br>
              <a:rPr lang="en-US" altLang="zh-TW" dirty="0" smtClean="0"/>
            </a:br>
            <a:r>
              <a:rPr lang="en-US" altLang="zh-TW" dirty="0" smtClean="0"/>
              <a:t>for the Tree Edit Distance</a:t>
            </a:r>
            <a:endParaRPr lang="zh-TW" altLang="en-US" dirty="0"/>
          </a:p>
        </p:txBody>
      </p:sp>
      <p:sp>
        <p:nvSpPr>
          <p:cNvPr id="3" name="副標題 2"/>
          <p:cNvSpPr>
            <a:spLocks noGrp="1"/>
          </p:cNvSpPr>
          <p:nvPr>
            <p:ph type="subTitle" idx="1"/>
          </p:nvPr>
        </p:nvSpPr>
        <p:spPr>
          <a:xfrm>
            <a:off x="1371600" y="3886200"/>
            <a:ext cx="6400800" cy="2160000"/>
          </a:xfrm>
        </p:spPr>
        <p:txBody>
          <a:bodyPr>
            <a:noAutofit/>
          </a:bodyPr>
          <a:lstStyle/>
          <a:p>
            <a:r>
              <a:rPr lang="en-US" altLang="zh-TW" sz="2000" dirty="0" smtClean="0">
                <a:solidFill>
                  <a:schemeClr val="tx1"/>
                </a:solidFill>
              </a:rPr>
              <a:t>Mateusz </a:t>
            </a:r>
            <a:r>
              <a:rPr lang="en-US" altLang="zh-TW" sz="2000" dirty="0" err="1" smtClean="0">
                <a:solidFill>
                  <a:schemeClr val="tx1"/>
                </a:solidFill>
              </a:rPr>
              <a:t>Pawlik</a:t>
            </a:r>
            <a:r>
              <a:rPr lang="en-US" altLang="zh-TW" sz="2000" dirty="0" smtClean="0">
                <a:solidFill>
                  <a:schemeClr val="tx1"/>
                </a:solidFill>
              </a:rPr>
              <a:t> and </a:t>
            </a:r>
            <a:r>
              <a:rPr lang="en-US" altLang="zh-TW" sz="2000" dirty="0" err="1" smtClean="0">
                <a:solidFill>
                  <a:schemeClr val="tx1"/>
                </a:solidFill>
              </a:rPr>
              <a:t>Nikolaus</a:t>
            </a:r>
            <a:r>
              <a:rPr lang="en-US" altLang="zh-TW" sz="2000" dirty="0" smtClean="0">
                <a:solidFill>
                  <a:schemeClr val="tx1"/>
                </a:solidFill>
              </a:rPr>
              <a:t> </a:t>
            </a:r>
            <a:r>
              <a:rPr lang="en-US" altLang="zh-TW" sz="2000" dirty="0" err="1" smtClean="0">
                <a:solidFill>
                  <a:schemeClr val="tx1"/>
                </a:solidFill>
              </a:rPr>
              <a:t>Augsten</a:t>
            </a:r>
            <a:r>
              <a:rPr lang="en-US" altLang="zh-TW" sz="2000" dirty="0" smtClean="0">
                <a:solidFill>
                  <a:schemeClr val="tx1"/>
                </a:solidFill>
              </a:rPr>
              <a:t/>
            </a:r>
            <a:br>
              <a:rPr lang="en-US" altLang="zh-TW" sz="2000" dirty="0" smtClean="0">
                <a:solidFill>
                  <a:schemeClr val="tx1"/>
                </a:solidFill>
              </a:rPr>
            </a:br>
            <a:r>
              <a:rPr lang="en-US" altLang="zh-TW" sz="2000" dirty="0" smtClean="0">
                <a:solidFill>
                  <a:schemeClr val="tx1"/>
                </a:solidFill>
              </a:rPr>
              <a:t>Free University of </a:t>
            </a:r>
            <a:r>
              <a:rPr lang="en-US" altLang="zh-TW" sz="2000" dirty="0" err="1" smtClean="0">
                <a:solidFill>
                  <a:schemeClr val="tx1"/>
                </a:solidFill>
              </a:rPr>
              <a:t>Bozen</a:t>
            </a:r>
            <a:r>
              <a:rPr lang="en-US" altLang="zh-TW" sz="2000" dirty="0" smtClean="0">
                <a:solidFill>
                  <a:schemeClr val="tx1"/>
                </a:solidFill>
              </a:rPr>
              <a:t>-Bolzano </a:t>
            </a:r>
            <a:r>
              <a:rPr lang="en-US" altLang="zh-TW" sz="2000" dirty="0" err="1" smtClean="0">
                <a:solidFill>
                  <a:schemeClr val="tx1"/>
                </a:solidFill>
              </a:rPr>
              <a:t>Bolzano</a:t>
            </a:r>
            <a:r>
              <a:rPr lang="en-US" altLang="zh-TW" sz="2000" dirty="0" smtClean="0">
                <a:solidFill>
                  <a:schemeClr val="tx1"/>
                </a:solidFill>
              </a:rPr>
              <a:t>, Italy</a:t>
            </a:r>
          </a:p>
          <a:p>
            <a:r>
              <a:rPr lang="en-US" altLang="zh-TW" sz="2000" dirty="0" smtClean="0">
                <a:solidFill>
                  <a:schemeClr val="tx1"/>
                </a:solidFill>
              </a:rPr>
              <a:t>The Proceedings of the VLDB Endowment (PVLDB)</a:t>
            </a:r>
            <a:br>
              <a:rPr lang="en-US" altLang="zh-TW" sz="2000" dirty="0" smtClean="0">
                <a:solidFill>
                  <a:schemeClr val="tx1"/>
                </a:solidFill>
              </a:rPr>
            </a:br>
            <a:r>
              <a:rPr lang="en-US" altLang="zh-TW" sz="2000" dirty="0" smtClean="0">
                <a:solidFill>
                  <a:schemeClr val="tx1"/>
                </a:solidFill>
              </a:rPr>
              <a:t>Volume 5 Issue 4, December 2011 Pages 334-345</a:t>
            </a:r>
          </a:p>
          <a:p>
            <a:r>
              <a:rPr lang="en-US" altLang="zh-TW" sz="2000" dirty="0" smtClean="0">
                <a:solidFill>
                  <a:schemeClr val="tx1"/>
                </a:solidFill>
              </a:rPr>
              <a:t>Presenter: Yi-</a:t>
            </a:r>
            <a:r>
              <a:rPr lang="en-US" altLang="zh-TW" sz="2000" dirty="0" err="1" smtClean="0">
                <a:solidFill>
                  <a:schemeClr val="tx1"/>
                </a:solidFill>
              </a:rPr>
              <a:t>Pu</a:t>
            </a:r>
            <a:r>
              <a:rPr lang="en-US" altLang="zh-TW" sz="2000" dirty="0" smtClean="0">
                <a:solidFill>
                  <a:schemeClr val="tx1"/>
                </a:solidFill>
              </a:rPr>
              <a:t> </a:t>
            </a:r>
            <a:r>
              <a:rPr lang="en-US" altLang="zh-TW" sz="2000" dirty="0" err="1" smtClean="0">
                <a:solidFill>
                  <a:schemeClr val="tx1"/>
                </a:solidFill>
              </a:rPr>
              <a:t>Guo</a:t>
            </a:r>
            <a:r>
              <a:rPr lang="en-US" altLang="zh-TW" sz="2000" dirty="0" smtClean="0">
                <a:solidFill>
                  <a:schemeClr val="tx1"/>
                </a:solidFill>
              </a:rPr>
              <a:t/>
            </a:r>
            <a:br>
              <a:rPr lang="en-US" altLang="zh-TW" sz="2000" dirty="0" smtClean="0">
                <a:solidFill>
                  <a:schemeClr val="tx1"/>
                </a:solidFill>
              </a:rPr>
            </a:br>
            <a:r>
              <a:rPr lang="en-US" altLang="zh-TW" sz="2000" dirty="0" smtClean="0">
                <a:solidFill>
                  <a:schemeClr val="tx1"/>
                </a:solidFill>
              </a:rPr>
              <a:t>2013-07-02</a:t>
            </a:r>
            <a:endParaRPr lang="zh-TW" altLang="en-US" sz="2000" dirty="0">
              <a:solidFill>
                <a:schemeClr val="tx1"/>
              </a:solidFill>
            </a:endParaRPr>
          </a:p>
        </p:txBody>
      </p:sp>
    </p:spTree>
    <p:extLst>
      <p:ext uri="{BB962C8B-B14F-4D97-AF65-F5344CB8AC3E}">
        <p14:creationId xmlns:p14="http://schemas.microsoft.com/office/powerpoint/2010/main" val="23026506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 (1/2)</a:t>
            </a:r>
            <a:endParaRPr lang="zh-TW" altLang="en-US" dirty="0"/>
          </a:p>
        </p:txBody>
      </p:sp>
      <p:sp>
        <p:nvSpPr>
          <p:cNvPr id="3" name="內容版面配置區 2"/>
          <p:cNvSpPr>
            <a:spLocks noGrp="1"/>
          </p:cNvSpPr>
          <p:nvPr>
            <p:ph idx="1"/>
          </p:nvPr>
        </p:nvSpPr>
        <p:spPr/>
        <p:txBody>
          <a:bodyPr>
            <a:normAutofit/>
          </a:bodyPr>
          <a:lstStyle/>
          <a:p>
            <a:pPr marL="0" indent="457200" algn="just">
              <a:lnSpc>
                <a:spcPct val="150000"/>
              </a:lnSpc>
              <a:buNone/>
            </a:pPr>
            <a:r>
              <a:rPr lang="en-US" altLang="zh-TW" sz="2000" dirty="0" smtClean="0"/>
              <a:t>We consider the classical tree edit distance between ordered labeled trees, which is defined as the minimum-cost sequence of node edit operations that transform one tree into another. The state-of-the-art solutions for the tree edit distance are not satisfactory. The main competitors in the field either have optimal worst-case complexity, but the worst case happens frequently, or they are very efficient for some tree shapes, but degenerate for others. This leads to unpredictable and often infeasible runtimes. There is no obvious way to choose between the algorithms.</a:t>
            </a:r>
            <a:endParaRPr lang="zh-TW" altLang="en-US" sz="2000" dirty="0"/>
          </a:p>
        </p:txBody>
      </p:sp>
    </p:spTree>
    <p:extLst>
      <p:ext uri="{BB962C8B-B14F-4D97-AF65-F5344CB8AC3E}">
        <p14:creationId xmlns:p14="http://schemas.microsoft.com/office/powerpoint/2010/main" val="38315422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 (2/2)</a:t>
            </a:r>
            <a:endParaRPr lang="zh-TW" altLang="en-US" dirty="0"/>
          </a:p>
        </p:txBody>
      </p:sp>
      <p:sp>
        <p:nvSpPr>
          <p:cNvPr id="3" name="內容版面配置區 2"/>
          <p:cNvSpPr>
            <a:spLocks noGrp="1"/>
          </p:cNvSpPr>
          <p:nvPr>
            <p:ph idx="1"/>
          </p:nvPr>
        </p:nvSpPr>
        <p:spPr/>
        <p:txBody>
          <a:bodyPr>
            <a:normAutofit/>
          </a:bodyPr>
          <a:lstStyle/>
          <a:p>
            <a:pPr marL="0" indent="457200" algn="just">
              <a:lnSpc>
                <a:spcPct val="150000"/>
              </a:lnSpc>
              <a:buNone/>
            </a:pPr>
            <a:r>
              <a:rPr lang="en-US" altLang="zh-TW" sz="2000" dirty="0" smtClean="0"/>
              <a:t>In this paper we present RTED, a robust tree edit distance algorithm. The asymptotic complexity of RTED is smaller or equal to the complexity of the best competitors for any input instance, i.e., RTED is both efficient and worst-case optimal. We introduce the class of LRH (Left-Right-Heavy) algorithms, which includes RTED and the fastest tree edit distance algorithms presented in literature. We prove that RTED outperforms all previously proposed LRH algorithms in terms of runtime complexity. In our experiments on synthetic and real world data we empirically evaluate our solution and compare it to the state-of-the-art.</a:t>
            </a:r>
            <a:endParaRPr lang="zh-TW" altLang="en-US" sz="2000" dirty="0"/>
          </a:p>
        </p:txBody>
      </p:sp>
    </p:spTree>
    <p:extLst>
      <p:ext uri="{BB962C8B-B14F-4D97-AF65-F5344CB8AC3E}">
        <p14:creationId xmlns:p14="http://schemas.microsoft.com/office/powerpoint/2010/main" val="16711597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The Problem to Solve</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normAutofit/>
              </a:bodyPr>
              <a:lstStyle/>
              <a:p>
                <a:pPr>
                  <a:lnSpc>
                    <a:spcPct val="150000"/>
                  </a:lnSpc>
                </a:pPr>
                <a:r>
                  <a:rPr lang="en-US" altLang="zh-TW" sz="2000" dirty="0" smtClean="0"/>
                  <a:t>The classical tree edit distance problem</a:t>
                </a:r>
              </a:p>
              <a:p>
                <a:pPr lvl="1">
                  <a:lnSpc>
                    <a:spcPct val="150000"/>
                  </a:lnSpc>
                </a:pPr>
                <a14:m>
                  <m:oMath xmlns:m="http://schemas.openxmlformats.org/officeDocument/2006/math">
                    <m:r>
                      <a:rPr lang="zh-TW" altLang="en-US" sz="2000" smtClean="0">
                        <a:latin typeface="Cambria Math"/>
                      </a:rPr>
                      <m:t>𝛿</m:t>
                    </m:r>
                    <m:d>
                      <m:dPr>
                        <m:ctrlPr>
                          <a:rPr lang="en-US" altLang="zh-TW" sz="2000" i="1" smtClean="0">
                            <a:latin typeface="Cambria Math"/>
                          </a:rPr>
                        </m:ctrlPr>
                      </m:dPr>
                      <m:e>
                        <m:r>
                          <a:rPr lang="en-US" altLang="zh-TW" sz="2000" smtClean="0">
                            <a:latin typeface="Cambria Math"/>
                          </a:rPr>
                          <m:t>𝐹</m:t>
                        </m:r>
                        <m:r>
                          <a:rPr lang="en-US" altLang="zh-TW" sz="2000" smtClean="0">
                            <a:latin typeface="Cambria Math"/>
                          </a:rPr>
                          <m:t>,</m:t>
                        </m:r>
                        <m:r>
                          <a:rPr lang="en-US" altLang="zh-TW" sz="2000" smtClean="0">
                            <a:latin typeface="Cambria Math"/>
                          </a:rPr>
                          <m:t>𝐺</m:t>
                        </m:r>
                      </m:e>
                    </m:d>
                  </m:oMath>
                </a14:m>
                <a:r>
                  <a:rPr lang="en-US" altLang="zh-TW" sz="2000" dirty="0" smtClean="0"/>
                  <a:t>: the minimum-cost sequence of node edit operations</a:t>
                </a:r>
                <a:br>
                  <a:rPr lang="en-US" altLang="zh-TW" sz="2000" dirty="0" smtClean="0"/>
                </a:br>
                <a:r>
                  <a:rPr lang="en-US" altLang="zh-TW" sz="2000" dirty="0" smtClean="0"/>
                  <a:t>that transforms F into G.</a:t>
                </a:r>
              </a:p>
              <a:p>
                <a:pPr>
                  <a:lnSpc>
                    <a:spcPct val="150000"/>
                  </a:lnSpc>
                </a:pPr>
                <a:r>
                  <a:rPr lang="en-US" altLang="zh-TW" sz="2000" dirty="0" smtClean="0"/>
                  <a:t>Tree </a:t>
                </a:r>
                <a14:m>
                  <m:oMath xmlns:m="http://schemas.openxmlformats.org/officeDocument/2006/math">
                    <m:r>
                      <a:rPr lang="en-US" altLang="zh-TW" sz="2000" smtClean="0">
                        <a:latin typeface="Cambria Math"/>
                      </a:rPr>
                      <m:t>𝑇</m:t>
                    </m:r>
                  </m:oMath>
                </a14:m>
                <a:endParaRPr lang="en-US" altLang="zh-TW" sz="2000" dirty="0" smtClean="0"/>
              </a:p>
              <a:p>
                <a:pPr lvl="1">
                  <a:lnSpc>
                    <a:spcPct val="150000"/>
                  </a:lnSpc>
                </a:pPr>
                <a:r>
                  <a:rPr lang="en-US" altLang="zh-TW" sz="2000" dirty="0" smtClean="0"/>
                  <a:t>A directed, acyclic, connected graph</a:t>
                </a:r>
                <a:br>
                  <a:rPr lang="en-US" altLang="zh-TW" sz="2000" dirty="0" smtClean="0"/>
                </a:br>
                <a:r>
                  <a:rPr lang="en-US" altLang="zh-TW" sz="2000" dirty="0" smtClean="0"/>
                  <a:t>with </a:t>
                </a:r>
                <a14:m>
                  <m:oMath xmlns:m="http://schemas.openxmlformats.org/officeDocument/2006/math">
                    <m:r>
                      <a:rPr lang="en-US" altLang="zh-TW" sz="2000" smtClean="0">
                        <a:latin typeface="Cambria Math"/>
                      </a:rPr>
                      <m:t>𝑁</m:t>
                    </m:r>
                    <m:d>
                      <m:dPr>
                        <m:ctrlPr>
                          <a:rPr lang="en-US" altLang="zh-TW" sz="2000" i="1" smtClean="0">
                            <a:latin typeface="Cambria Math"/>
                          </a:rPr>
                        </m:ctrlPr>
                      </m:dPr>
                      <m:e>
                        <m:r>
                          <a:rPr lang="en-US" altLang="zh-TW" sz="2000" smtClean="0">
                            <a:latin typeface="Cambria Math"/>
                          </a:rPr>
                          <m:t>𝑇</m:t>
                        </m:r>
                      </m:e>
                    </m:d>
                  </m:oMath>
                </a14:m>
                <a:r>
                  <a:rPr lang="en-US" altLang="zh-TW" sz="2000" dirty="0" smtClean="0"/>
                  <a:t> and edges </a:t>
                </a:r>
                <a14:m>
                  <m:oMath xmlns:m="http://schemas.openxmlformats.org/officeDocument/2006/math">
                    <m:r>
                      <a:rPr lang="en-US" altLang="zh-TW" sz="2000" smtClean="0">
                        <a:latin typeface="Cambria Math"/>
                      </a:rPr>
                      <m:t>𝐸</m:t>
                    </m:r>
                    <m:d>
                      <m:dPr>
                        <m:ctrlPr>
                          <a:rPr lang="en-US" altLang="zh-TW" sz="2000" i="1" smtClean="0">
                            <a:latin typeface="Cambria Math"/>
                          </a:rPr>
                        </m:ctrlPr>
                      </m:dPr>
                      <m:e>
                        <m:r>
                          <a:rPr lang="en-US" altLang="zh-TW" sz="2000" smtClean="0">
                            <a:latin typeface="Cambria Math"/>
                          </a:rPr>
                          <m:t>𝑇</m:t>
                        </m:r>
                      </m:e>
                    </m:d>
                    <m:r>
                      <a:rPr lang="en-US" altLang="zh-TW" sz="2000" smtClean="0">
                        <a:latin typeface="Cambria Math"/>
                      </a:rPr>
                      <m:t>⊆</m:t>
                    </m:r>
                    <m:r>
                      <a:rPr lang="en-US" altLang="zh-TW" sz="2000" smtClean="0">
                        <a:latin typeface="Cambria Math"/>
                      </a:rPr>
                      <m:t>𝑁</m:t>
                    </m:r>
                    <m:d>
                      <m:dPr>
                        <m:ctrlPr>
                          <a:rPr lang="en-US" altLang="zh-TW" sz="2000" i="1" smtClean="0">
                            <a:latin typeface="Cambria Math"/>
                          </a:rPr>
                        </m:ctrlPr>
                      </m:dPr>
                      <m:e>
                        <m:r>
                          <a:rPr lang="en-US" altLang="zh-TW" sz="2000" smtClean="0">
                            <a:latin typeface="Cambria Math"/>
                          </a:rPr>
                          <m:t>𝑇</m:t>
                        </m:r>
                      </m:e>
                    </m:d>
                    <m:r>
                      <a:rPr lang="en-US" altLang="zh-TW" sz="2000" smtClean="0">
                        <a:latin typeface="Cambria Math"/>
                      </a:rPr>
                      <m:t>×</m:t>
                    </m:r>
                    <m:r>
                      <a:rPr lang="en-US" altLang="zh-TW" sz="2000" smtClean="0">
                        <a:latin typeface="Cambria Math"/>
                      </a:rPr>
                      <m:t>𝑁</m:t>
                    </m:r>
                    <m:d>
                      <m:dPr>
                        <m:ctrlPr>
                          <a:rPr lang="en-US" altLang="zh-TW" sz="2000" i="1" smtClean="0">
                            <a:latin typeface="Cambria Math"/>
                          </a:rPr>
                        </m:ctrlPr>
                      </m:dPr>
                      <m:e>
                        <m:r>
                          <a:rPr lang="en-US" altLang="zh-TW" sz="2000" smtClean="0">
                            <a:latin typeface="Cambria Math"/>
                          </a:rPr>
                          <m:t>𝑇</m:t>
                        </m:r>
                      </m:e>
                    </m:d>
                  </m:oMath>
                </a14:m>
                <a:r>
                  <a:rPr lang="en-US" altLang="zh-TW" sz="2000" dirty="0" smtClean="0"/>
                  <a:t>.</a:t>
                </a:r>
              </a:p>
              <a:p>
                <a:pPr lvl="1">
                  <a:lnSpc>
                    <a:spcPct val="150000"/>
                  </a:lnSpc>
                </a:pPr>
                <a:r>
                  <a:rPr lang="en-US" altLang="zh-TW" sz="2000" dirty="0" smtClean="0"/>
                  <a:t>Each node has a label (doesn’t have to be unique).</a:t>
                </a:r>
              </a:p>
              <a:p>
                <a:pPr lvl="1">
                  <a:lnSpc>
                    <a:spcPct val="150000"/>
                  </a:lnSpc>
                </a:pPr>
                <a:r>
                  <a:rPr lang="en-US" altLang="zh-TW" sz="2000" dirty="0" smtClean="0"/>
                  <a:t>For example, XML.</a:t>
                </a:r>
                <a:endParaRPr lang="zh-TW" altLang="en-US" sz="2000"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1">
                <a:blip r:embed="rId2"/>
                <a:stretch>
                  <a:fillRect l="-593"/>
                </a:stretch>
              </a:blipFill>
            </p:spPr>
            <p:txBody>
              <a:bodyPr/>
              <a:lstStyle/>
              <a:p>
                <a:r>
                  <a:rPr lang="zh-TW" altLang="en-US">
                    <a:noFill/>
                  </a:rPr>
                  <a:t> </a:t>
                </a:r>
              </a:p>
            </p:txBody>
          </p:sp>
        </mc:Fallback>
      </mc:AlternateContent>
      <p:sp>
        <p:nvSpPr>
          <p:cNvPr id="4" name="文字方塊 3"/>
          <p:cNvSpPr txBox="1"/>
          <p:nvPr/>
        </p:nvSpPr>
        <p:spPr>
          <a:xfrm>
            <a:off x="5940152" y="2987660"/>
            <a:ext cx="3026341" cy="369332"/>
          </a:xfrm>
          <a:prstGeom prst="rect">
            <a:avLst/>
          </a:prstGeom>
          <a:noFill/>
        </p:spPr>
        <p:txBody>
          <a:bodyPr wrap="none" rtlCol="0">
            <a:spAutoFit/>
          </a:bodyPr>
          <a:lstStyle/>
          <a:p>
            <a:r>
              <a:rPr lang="en-US" altLang="zh-TW" dirty="0" smtClean="0"/>
              <a:t>T, G </a:t>
            </a:r>
            <a:r>
              <a:rPr lang="zh-TW" altLang="en-US" dirty="0" smtClean="0"/>
              <a:t>看來甚至可以是 </a:t>
            </a:r>
            <a:r>
              <a:rPr lang="en-US" altLang="zh-TW" dirty="0" smtClean="0"/>
              <a:t>forest</a:t>
            </a:r>
            <a:r>
              <a:rPr lang="zh-TW" altLang="en-US" dirty="0" smtClean="0"/>
              <a:t>。</a:t>
            </a:r>
            <a:endParaRPr lang="zh-TW" altLang="en-US" dirty="0"/>
          </a:p>
        </p:txBody>
      </p:sp>
    </p:spTree>
    <p:extLst>
      <p:ext uri="{BB962C8B-B14F-4D97-AF65-F5344CB8AC3E}">
        <p14:creationId xmlns:p14="http://schemas.microsoft.com/office/powerpoint/2010/main" val="1552540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The Standard Edit Operations</a:t>
            </a:r>
            <a:endParaRPr lang="zh-TW" altLang="en-US" dirty="0"/>
          </a:p>
        </p:txBody>
      </p:sp>
      <mc:AlternateContent xmlns:mc="http://schemas.openxmlformats.org/markup-compatibility/2006" xmlns:a14="http://schemas.microsoft.com/office/drawing/2010/main">
        <mc:Choice Requires="a14">
          <p:sp>
            <p:nvSpPr>
              <p:cNvPr id="15" name="內容版面配置區 14"/>
              <p:cNvSpPr>
                <a:spLocks noGrp="1"/>
              </p:cNvSpPr>
              <p:nvPr>
                <p:ph idx="1"/>
              </p:nvPr>
            </p:nvSpPr>
            <p:spPr/>
            <p:txBody>
              <a:bodyPr>
                <a:normAutofit/>
              </a:bodyPr>
              <a:lstStyle/>
              <a:p>
                <a:pPr>
                  <a:lnSpc>
                    <a:spcPct val="150000"/>
                  </a:lnSpc>
                </a:pPr>
                <a:r>
                  <a:rPr lang="en-US" altLang="zh-TW" sz="2400" dirty="0" smtClean="0"/>
                  <a:t>Delete (cost </a:t>
                </a:r>
                <a14:m>
                  <m:oMath xmlns:m="http://schemas.openxmlformats.org/officeDocument/2006/math">
                    <m:sSub>
                      <m:sSubPr>
                        <m:ctrlPr>
                          <a:rPr lang="en-US" altLang="zh-TW" sz="2400" i="1" smtClean="0">
                            <a:latin typeface="Cambria Math"/>
                          </a:rPr>
                        </m:ctrlPr>
                      </m:sSubPr>
                      <m:e>
                        <m:r>
                          <a:rPr lang="en-US" altLang="zh-TW" sz="2400" smtClean="0">
                            <a:latin typeface="Cambria Math"/>
                          </a:rPr>
                          <m:t>𝑐</m:t>
                        </m:r>
                      </m:e>
                      <m:sub>
                        <m:r>
                          <a:rPr lang="en-US" altLang="zh-TW" sz="2400" smtClean="0">
                            <a:latin typeface="Cambria Math"/>
                          </a:rPr>
                          <m:t>𝑑</m:t>
                        </m:r>
                      </m:sub>
                    </m:sSub>
                    <m:d>
                      <m:dPr>
                        <m:ctrlPr>
                          <a:rPr lang="en-US" altLang="zh-TW" sz="2400" i="1" smtClean="0">
                            <a:latin typeface="Cambria Math"/>
                          </a:rPr>
                        </m:ctrlPr>
                      </m:dPr>
                      <m:e>
                        <m:r>
                          <a:rPr lang="zh-TW" altLang="en-US" sz="2400" smtClean="0">
                            <a:latin typeface="Cambria Math"/>
                          </a:rPr>
                          <m:t>𝜐</m:t>
                        </m:r>
                      </m:e>
                    </m:d>
                  </m:oMath>
                </a14:m>
                <a:r>
                  <a:rPr lang="en-US" altLang="zh-TW" sz="2400" dirty="0" smtClean="0"/>
                  <a:t>)</a:t>
                </a:r>
              </a:p>
              <a:p>
                <a:pPr>
                  <a:lnSpc>
                    <a:spcPct val="150000"/>
                  </a:lnSpc>
                </a:pPr>
                <a:r>
                  <a:rPr lang="en-US" altLang="zh-TW" sz="2400" dirty="0" smtClean="0"/>
                  <a:t>Insert (cost </a:t>
                </a:r>
                <a14:m>
                  <m:oMath xmlns:m="http://schemas.openxmlformats.org/officeDocument/2006/math">
                    <m:sSub>
                      <m:sSubPr>
                        <m:ctrlPr>
                          <a:rPr lang="en-US" altLang="zh-TW" sz="2400" i="1" smtClean="0">
                            <a:latin typeface="Cambria Math"/>
                          </a:rPr>
                        </m:ctrlPr>
                      </m:sSubPr>
                      <m:e>
                        <m:r>
                          <a:rPr lang="en-US" altLang="zh-TW" sz="2400" smtClean="0">
                            <a:latin typeface="Cambria Math"/>
                          </a:rPr>
                          <m:t>𝑐</m:t>
                        </m:r>
                      </m:e>
                      <m:sub>
                        <m:r>
                          <a:rPr lang="en-US" altLang="zh-TW" sz="2400" smtClean="0">
                            <a:latin typeface="Cambria Math"/>
                          </a:rPr>
                          <m:t>𝑖</m:t>
                        </m:r>
                      </m:sub>
                    </m:sSub>
                    <m:d>
                      <m:dPr>
                        <m:ctrlPr>
                          <a:rPr lang="en-US" altLang="zh-TW" sz="2400" i="1" smtClean="0">
                            <a:latin typeface="Cambria Math"/>
                          </a:rPr>
                        </m:ctrlPr>
                      </m:dPr>
                      <m:e>
                        <m:r>
                          <a:rPr lang="zh-TW" altLang="en-US" sz="2400" smtClean="0">
                            <a:latin typeface="Cambria Math"/>
                          </a:rPr>
                          <m:t>𝜐</m:t>
                        </m:r>
                      </m:e>
                    </m:d>
                  </m:oMath>
                </a14:m>
                <a:r>
                  <a:rPr lang="en-US" altLang="zh-TW" sz="2400" dirty="0" smtClean="0"/>
                  <a:t>)</a:t>
                </a:r>
              </a:p>
              <a:p>
                <a:pPr>
                  <a:lnSpc>
                    <a:spcPct val="150000"/>
                  </a:lnSpc>
                </a:pPr>
                <a:r>
                  <a:rPr lang="en-US" altLang="zh-TW" sz="2400" dirty="0" smtClean="0"/>
                  <a:t>Rename (cost </a:t>
                </a:r>
                <a14:m>
                  <m:oMath xmlns:m="http://schemas.openxmlformats.org/officeDocument/2006/math">
                    <m:sSub>
                      <m:sSubPr>
                        <m:ctrlPr>
                          <a:rPr lang="en-US" altLang="zh-TW" sz="2400" i="1" smtClean="0">
                            <a:latin typeface="Cambria Math"/>
                          </a:rPr>
                        </m:ctrlPr>
                      </m:sSubPr>
                      <m:e>
                        <m:r>
                          <a:rPr lang="en-US" altLang="zh-TW" sz="2400" smtClean="0">
                            <a:latin typeface="Cambria Math"/>
                          </a:rPr>
                          <m:t>𝑐</m:t>
                        </m:r>
                      </m:e>
                      <m:sub>
                        <m:r>
                          <a:rPr lang="en-US" altLang="zh-TW" sz="2400" smtClean="0">
                            <a:latin typeface="Cambria Math"/>
                          </a:rPr>
                          <m:t>𝑟</m:t>
                        </m:r>
                      </m:sub>
                    </m:sSub>
                    <m:d>
                      <m:dPr>
                        <m:ctrlPr>
                          <a:rPr lang="en-US" altLang="zh-TW" sz="2400" i="1" smtClean="0">
                            <a:latin typeface="Cambria Math"/>
                          </a:rPr>
                        </m:ctrlPr>
                      </m:dPr>
                      <m:e>
                        <m:r>
                          <a:rPr lang="zh-TW" altLang="en-US" sz="2400" smtClean="0">
                            <a:latin typeface="Cambria Math"/>
                          </a:rPr>
                          <m:t>𝜐</m:t>
                        </m:r>
                        <m:r>
                          <a:rPr lang="en-US" altLang="zh-TW" sz="2400" smtClean="0">
                            <a:latin typeface="Cambria Math"/>
                          </a:rPr>
                          <m:t>,</m:t>
                        </m:r>
                        <m:r>
                          <a:rPr lang="zh-TW" altLang="en-US" sz="2400" smtClean="0">
                            <a:latin typeface="Cambria Math"/>
                          </a:rPr>
                          <m:t>𝜔</m:t>
                        </m:r>
                      </m:e>
                    </m:d>
                  </m:oMath>
                </a14:m>
                <a:r>
                  <a:rPr lang="en-US" altLang="zh-TW" sz="2400" dirty="0" smtClean="0"/>
                  <a:t>)</a:t>
                </a:r>
                <a:endParaRPr lang="zh-TW" altLang="en-US" sz="2400" dirty="0"/>
              </a:p>
            </p:txBody>
          </p:sp>
        </mc:Choice>
        <mc:Fallback xmlns="">
          <p:sp>
            <p:nvSpPr>
              <p:cNvPr id="15" name="內容版面配置區 14"/>
              <p:cNvSpPr>
                <a:spLocks noGrp="1" noRot="1" noChangeAspect="1" noMove="1" noResize="1" noEditPoints="1" noAdjustHandles="1" noChangeArrowheads="1" noChangeShapeType="1" noTextEdit="1"/>
              </p:cNvSpPr>
              <p:nvPr>
                <p:ph idx="1"/>
              </p:nvPr>
            </p:nvSpPr>
            <p:spPr>
              <a:blipFill rotWithShape="1">
                <a:blip r:embed="rId2"/>
                <a:stretch>
                  <a:fillRect l="-963"/>
                </a:stretch>
              </a:blipFill>
            </p:spPr>
            <p:txBody>
              <a:bodyPr/>
              <a:lstStyle/>
              <a:p>
                <a:r>
                  <a:rPr lang="zh-TW" altLang="en-US">
                    <a:noFill/>
                  </a:rPr>
                  <a:t> </a:t>
                </a:r>
              </a:p>
            </p:txBody>
          </p:sp>
        </mc:Fallback>
      </mc:AlternateContent>
      <p:pic>
        <p:nvPicPr>
          <p:cNvPr id="20" name="圖片 1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8206" y="3717032"/>
            <a:ext cx="7087589" cy="2400635"/>
          </a:xfrm>
          <a:prstGeom prst="rect">
            <a:avLst/>
          </a:prstGeom>
        </p:spPr>
      </p:pic>
    </p:spTree>
    <p:extLst>
      <p:ext uri="{BB962C8B-B14F-4D97-AF65-F5344CB8AC3E}">
        <p14:creationId xmlns:p14="http://schemas.microsoft.com/office/powerpoint/2010/main" val="16616498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Recursive Formula for TED</a:t>
            </a:r>
            <a:endParaRPr lang="zh-TW" altLang="en-US" dirty="0"/>
          </a:p>
        </p:txBody>
      </p:sp>
      <p:sp>
        <p:nvSpPr>
          <p:cNvPr id="4" name="內容版面配置區 3"/>
          <p:cNvSpPr>
            <a:spLocks noGrp="1"/>
          </p:cNvSpPr>
          <p:nvPr>
            <p:ph idx="1"/>
          </p:nvPr>
        </p:nvSpPr>
        <p:spPr/>
        <p:txBody>
          <a:bodyPr>
            <a:normAutofit/>
          </a:bodyPr>
          <a:lstStyle/>
          <a:p>
            <a:pPr marL="0" indent="0">
              <a:buNone/>
            </a:pPr>
            <a:r>
              <a:rPr lang="en-US" altLang="zh-TW" sz="2000" dirty="0"/>
              <a:t>The fastest algorithms are DP implementations of the recursive solution.</a:t>
            </a:r>
            <a:endParaRPr lang="zh-TW" altLang="en-US" sz="2000" dirty="0"/>
          </a:p>
        </p:txBody>
      </p:sp>
      <p:pic>
        <p:nvPicPr>
          <p:cNvPr id="6" name="圖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14101" y="2024714"/>
            <a:ext cx="5715798" cy="4572638"/>
          </a:xfrm>
          <a:prstGeom prst="rect">
            <a:avLst/>
          </a:prstGeom>
        </p:spPr>
      </p:pic>
    </p:spTree>
    <p:extLst>
      <p:ext uri="{BB962C8B-B14F-4D97-AF65-F5344CB8AC3E}">
        <p14:creationId xmlns:p14="http://schemas.microsoft.com/office/powerpoint/2010/main" val="39075482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Space &amp; Time Complexity</a:t>
            </a:r>
            <a:endParaRPr lang="zh-TW" altLang="en-US" dirty="0"/>
          </a:p>
        </p:txBody>
      </p:sp>
      <mc:AlternateContent xmlns:mc="http://schemas.openxmlformats.org/markup-compatibility/2006" xmlns:a14="http://schemas.microsoft.com/office/drawing/2010/main">
        <mc:Choice Requires="a14">
          <p:sp>
            <p:nvSpPr>
              <p:cNvPr id="5" name="內容版面配置區 4"/>
              <p:cNvSpPr>
                <a:spLocks noGrp="1"/>
              </p:cNvSpPr>
              <p:nvPr>
                <p:ph idx="1"/>
              </p:nvPr>
            </p:nvSpPr>
            <p:spPr/>
            <p:txBody>
              <a:bodyPr>
                <a:normAutofit/>
              </a:bodyPr>
              <a:lstStyle/>
              <a:p>
                <a:pPr>
                  <a:lnSpc>
                    <a:spcPct val="150000"/>
                  </a:lnSpc>
                </a:pPr>
                <a:r>
                  <a:rPr lang="en-US" altLang="zh-TW" sz="2400" dirty="0" smtClean="0"/>
                  <a:t>Space</a:t>
                </a:r>
              </a:p>
              <a:p>
                <a:pPr marL="457200" lvl="1" indent="0">
                  <a:lnSpc>
                    <a:spcPct val="150000"/>
                  </a:lnSpc>
                  <a:buNone/>
                </a:pPr>
                <a14:m>
                  <m:oMath xmlns:m="http://schemas.openxmlformats.org/officeDocument/2006/math">
                    <m:r>
                      <a:rPr lang="en-US" altLang="zh-TW" sz="2400" smtClean="0">
                        <a:latin typeface="Cambria Math"/>
                      </a:rPr>
                      <m:t>𝑂</m:t>
                    </m:r>
                    <m:d>
                      <m:dPr>
                        <m:ctrlPr>
                          <a:rPr lang="en-US" altLang="zh-TW" sz="2400" i="1" smtClean="0">
                            <a:latin typeface="Cambria Math"/>
                          </a:rPr>
                        </m:ctrlPr>
                      </m:dPr>
                      <m:e>
                        <m:sSup>
                          <m:sSupPr>
                            <m:ctrlPr>
                              <a:rPr lang="en-US" altLang="zh-TW" sz="2400" i="1" smtClean="0">
                                <a:latin typeface="Cambria Math"/>
                              </a:rPr>
                            </m:ctrlPr>
                          </m:sSupPr>
                          <m:e>
                            <m:d>
                              <m:dPr>
                                <m:begChr m:val="|"/>
                                <m:endChr m:val="|"/>
                                <m:ctrlPr>
                                  <a:rPr lang="en-US" altLang="zh-TW" sz="2400" i="1" smtClean="0">
                                    <a:latin typeface="Cambria Math"/>
                                  </a:rPr>
                                </m:ctrlPr>
                              </m:dPr>
                              <m:e>
                                <m:r>
                                  <a:rPr lang="en-US" altLang="zh-TW" sz="2400" smtClean="0">
                                    <a:latin typeface="Cambria Math"/>
                                  </a:rPr>
                                  <m:t>𝐹</m:t>
                                </m:r>
                              </m:e>
                            </m:d>
                          </m:e>
                          <m:sup>
                            <m:r>
                              <a:rPr lang="en-US" altLang="zh-TW" sz="2400" smtClean="0">
                                <a:latin typeface="Cambria Math"/>
                              </a:rPr>
                              <m:t>2</m:t>
                            </m:r>
                          </m:sup>
                        </m:sSup>
                        <m:sSup>
                          <m:sSupPr>
                            <m:ctrlPr>
                              <a:rPr lang="en-US" altLang="zh-TW" sz="2400" i="1" smtClean="0">
                                <a:latin typeface="Cambria Math"/>
                              </a:rPr>
                            </m:ctrlPr>
                          </m:sSupPr>
                          <m:e>
                            <m:d>
                              <m:dPr>
                                <m:begChr m:val="|"/>
                                <m:endChr m:val="|"/>
                                <m:ctrlPr>
                                  <a:rPr lang="en-US" altLang="zh-TW" sz="2400" i="1" smtClean="0">
                                    <a:latin typeface="Cambria Math"/>
                                  </a:rPr>
                                </m:ctrlPr>
                              </m:dPr>
                              <m:e>
                                <m:r>
                                  <a:rPr lang="en-US" altLang="zh-TW" sz="2400" smtClean="0">
                                    <a:latin typeface="Cambria Math"/>
                                  </a:rPr>
                                  <m:t>𝐺</m:t>
                                </m:r>
                              </m:e>
                            </m:d>
                          </m:e>
                          <m:sup>
                            <m:r>
                              <a:rPr lang="en-US" altLang="zh-TW" sz="2400" smtClean="0">
                                <a:latin typeface="Cambria Math"/>
                              </a:rPr>
                              <m:t>2</m:t>
                            </m:r>
                          </m:sup>
                        </m:sSup>
                      </m:e>
                    </m:d>
                  </m:oMath>
                </a14:m>
                <a:r>
                  <a:rPr lang="en-US" altLang="zh-TW" sz="2400" dirty="0" smtClean="0"/>
                  <a:t> </a:t>
                </a:r>
                <a:r>
                  <a:rPr lang="en-US" altLang="zh-TW" sz="2000" dirty="0" smtClean="0"/>
                  <a:t>(all sub-forests pairs)</a:t>
                </a:r>
                <a:r>
                  <a:rPr lang="en-US" altLang="zh-TW" sz="2400" dirty="0" smtClean="0"/>
                  <a:t> </a:t>
                </a:r>
                <a:r>
                  <a:rPr lang="en-US" altLang="zh-TW" sz="2400" dirty="0" smtClean="0">
                    <a:sym typeface="Wingdings" pitchFamily="2" charset="2"/>
                  </a:rPr>
                  <a:t> </a:t>
                </a:r>
                <a14:m>
                  <m:oMath xmlns:m="http://schemas.openxmlformats.org/officeDocument/2006/math">
                    <m:r>
                      <a:rPr lang="en-US" altLang="zh-TW" sz="2400" smtClean="0">
                        <a:latin typeface="Cambria Math"/>
                        <a:sym typeface="Wingdings" pitchFamily="2" charset="2"/>
                      </a:rPr>
                      <m:t>𝑂</m:t>
                    </m:r>
                    <m:d>
                      <m:dPr>
                        <m:ctrlPr>
                          <a:rPr lang="en-US" altLang="zh-TW" sz="2400" i="1" smtClean="0">
                            <a:latin typeface="Cambria Math"/>
                            <a:sym typeface="Wingdings" pitchFamily="2" charset="2"/>
                          </a:rPr>
                        </m:ctrlPr>
                      </m:dPr>
                      <m:e>
                        <m:d>
                          <m:dPr>
                            <m:begChr m:val="|"/>
                            <m:endChr m:val="|"/>
                            <m:ctrlPr>
                              <a:rPr lang="en-US" altLang="zh-TW" sz="2400" i="1" smtClean="0">
                                <a:latin typeface="Cambria Math"/>
                                <a:sym typeface="Wingdings" pitchFamily="2" charset="2"/>
                              </a:rPr>
                            </m:ctrlPr>
                          </m:dPr>
                          <m:e>
                            <m:r>
                              <a:rPr lang="en-US" altLang="zh-TW" sz="2400" smtClean="0">
                                <a:latin typeface="Cambria Math"/>
                                <a:sym typeface="Wingdings" pitchFamily="2" charset="2"/>
                              </a:rPr>
                              <m:t>𝐹</m:t>
                            </m:r>
                          </m:e>
                        </m:d>
                        <m:d>
                          <m:dPr>
                            <m:begChr m:val="|"/>
                            <m:endChr m:val="|"/>
                            <m:ctrlPr>
                              <a:rPr lang="en-US" altLang="zh-TW" sz="2400" i="1" smtClean="0">
                                <a:latin typeface="Cambria Math"/>
                                <a:sym typeface="Wingdings" pitchFamily="2" charset="2"/>
                              </a:rPr>
                            </m:ctrlPr>
                          </m:dPr>
                          <m:e>
                            <m:r>
                              <a:rPr lang="en-US" altLang="zh-TW" sz="2400" smtClean="0">
                                <a:latin typeface="Cambria Math"/>
                                <a:sym typeface="Wingdings" pitchFamily="2" charset="2"/>
                              </a:rPr>
                              <m:t>𝐺</m:t>
                            </m:r>
                          </m:e>
                        </m:d>
                      </m:e>
                    </m:d>
                  </m:oMath>
                </a14:m>
                <a:r>
                  <a:rPr lang="en-US" altLang="zh-TW" sz="2400" dirty="0" smtClean="0"/>
                  <a:t> </a:t>
                </a:r>
                <a:r>
                  <a:rPr lang="en-US" altLang="zh-TW" sz="2000" dirty="0" smtClean="0"/>
                  <a:t>(bottom-up DP)</a:t>
                </a:r>
              </a:p>
              <a:p>
                <a:pPr>
                  <a:lnSpc>
                    <a:spcPct val="150000"/>
                  </a:lnSpc>
                </a:pPr>
                <a:r>
                  <a:rPr lang="en-US" altLang="zh-TW" sz="2400" dirty="0" smtClean="0"/>
                  <a:t>Time</a:t>
                </a:r>
              </a:p>
              <a:p>
                <a:pPr lvl="1">
                  <a:lnSpc>
                    <a:spcPct val="150000"/>
                  </a:lnSpc>
                </a:pPr>
                <a:r>
                  <a:rPr lang="en-US" altLang="zh-TW" sz="2400" dirty="0"/>
                  <a:t># of different relevant </a:t>
                </a:r>
                <a:r>
                  <a:rPr lang="en-US" altLang="zh-TW" sz="2400" dirty="0" smtClean="0"/>
                  <a:t>sub-problems </a:t>
                </a:r>
                <a:r>
                  <a:rPr lang="en-US" altLang="zh-TW" sz="2400" dirty="0"/>
                  <a:t>produced</a:t>
                </a:r>
                <a:r>
                  <a:rPr lang="en-US" altLang="zh-TW" sz="2400" dirty="0" smtClean="0"/>
                  <a:t>.</a:t>
                </a:r>
              </a:p>
              <a:p>
                <a:pPr lvl="1">
                  <a:lnSpc>
                    <a:spcPct val="150000"/>
                  </a:lnSpc>
                </a:pPr>
                <a:r>
                  <a:rPr lang="en-US" altLang="zh-TW" sz="2400" dirty="0" smtClean="0"/>
                  <a:t>The choose (left or right) of each recursive step do affect.</a:t>
                </a:r>
                <a:endParaRPr lang="zh-TW" altLang="en-US" sz="2400" dirty="0"/>
              </a:p>
            </p:txBody>
          </p:sp>
        </mc:Choice>
        <mc:Fallback xmlns="">
          <p:sp>
            <p:nvSpPr>
              <p:cNvPr id="5" name="內容版面配置區 4"/>
              <p:cNvSpPr>
                <a:spLocks noGrp="1" noRot="1" noChangeAspect="1" noMove="1" noResize="1" noEditPoints="1" noAdjustHandles="1" noChangeArrowheads="1" noChangeShapeType="1" noTextEdit="1"/>
              </p:cNvSpPr>
              <p:nvPr>
                <p:ph idx="1"/>
              </p:nvPr>
            </p:nvSpPr>
            <p:spPr>
              <a:blipFill rotWithShape="1">
                <a:blip r:embed="rId2"/>
                <a:stretch>
                  <a:fillRect l="-963"/>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6734428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Root-leaf Path</a:t>
            </a:r>
            <a:endParaRPr lang="zh-TW" altLang="en-US" dirty="0"/>
          </a:p>
        </p:txBody>
      </p:sp>
      <mc:AlternateContent xmlns:mc="http://schemas.openxmlformats.org/markup-compatibility/2006" xmlns:a14="http://schemas.microsoft.com/office/drawing/2010/main">
        <mc:Choice Requires="a14">
          <p:sp>
            <p:nvSpPr>
              <p:cNvPr id="13" name="內容版面配置區 12"/>
              <p:cNvSpPr>
                <a:spLocks noGrp="1"/>
              </p:cNvSpPr>
              <p:nvPr>
                <p:ph idx="1"/>
              </p:nvPr>
            </p:nvSpPr>
            <p:spPr>
              <a:xfrm>
                <a:off x="457200" y="1600200"/>
                <a:ext cx="3744000" cy="4525963"/>
              </a:xfrm>
            </p:spPr>
            <p:txBody>
              <a:bodyPr>
                <a:normAutofit/>
              </a:bodyPr>
              <a:lstStyle/>
              <a:p>
                <a:pPr>
                  <a:lnSpc>
                    <a:spcPct val="150000"/>
                  </a:lnSpc>
                </a:pPr>
                <a14:m>
                  <m:oMath xmlns:m="http://schemas.openxmlformats.org/officeDocument/2006/math">
                    <m:sSup>
                      <m:sSupPr>
                        <m:ctrlPr>
                          <a:rPr lang="en-US" altLang="zh-TW" sz="2400" i="1" smtClean="0">
                            <a:latin typeface="Cambria Math"/>
                          </a:rPr>
                        </m:ctrlPr>
                      </m:sSupPr>
                      <m:e>
                        <m:r>
                          <a:rPr lang="zh-TW" altLang="en-US" sz="2400">
                            <a:latin typeface="Cambria Math"/>
                          </a:rPr>
                          <m:t>𝛾</m:t>
                        </m:r>
                      </m:e>
                      <m:sup>
                        <m:r>
                          <a:rPr lang="en-US" altLang="zh-TW" sz="2400" smtClean="0">
                            <a:latin typeface="Cambria Math"/>
                          </a:rPr>
                          <m:t>∗</m:t>
                        </m:r>
                      </m:sup>
                    </m:sSup>
                    <m:d>
                      <m:dPr>
                        <m:ctrlPr>
                          <a:rPr lang="en-US" altLang="zh-TW" sz="2400" i="1">
                            <a:latin typeface="Cambria Math"/>
                          </a:rPr>
                        </m:ctrlPr>
                      </m:dPr>
                      <m:e>
                        <m:r>
                          <a:rPr lang="en-US" altLang="zh-TW" sz="2400">
                            <a:latin typeface="Cambria Math"/>
                          </a:rPr>
                          <m:t>𝐹</m:t>
                        </m:r>
                      </m:e>
                    </m:d>
                  </m:oMath>
                </a14:m>
                <a:r>
                  <a:rPr lang="en-US" altLang="zh-TW" sz="2400" dirty="0" smtClean="0"/>
                  <a:t>: The set of all root-leaf path</a:t>
                </a:r>
                <a:endParaRPr lang="en-US" altLang="zh-TW" sz="2400" dirty="0"/>
              </a:p>
              <a:p>
                <a:pPr>
                  <a:lnSpc>
                    <a:spcPct val="150000"/>
                  </a:lnSpc>
                </a:pPr>
                <a:r>
                  <a:rPr lang="en-US" altLang="zh-TW" sz="2400" dirty="0" smtClean="0"/>
                  <a:t>Recursively connect a parent to its …</a:t>
                </a:r>
                <a:endParaRPr lang="en-US" altLang="zh-TW" sz="2400" dirty="0"/>
              </a:p>
              <a:p>
                <a:pPr>
                  <a:lnSpc>
                    <a:spcPct val="150000"/>
                  </a:lnSpc>
                </a:pPr>
                <a14:m>
                  <m:oMath xmlns:m="http://schemas.openxmlformats.org/officeDocument/2006/math">
                    <m:sSup>
                      <m:sSupPr>
                        <m:ctrlPr>
                          <a:rPr lang="en-US" altLang="zh-TW" sz="2400" i="1">
                            <a:latin typeface="Cambria Math"/>
                          </a:rPr>
                        </m:ctrlPr>
                      </m:sSupPr>
                      <m:e>
                        <m:r>
                          <a:rPr lang="zh-TW" altLang="en-US" sz="2400">
                            <a:latin typeface="Cambria Math"/>
                          </a:rPr>
                          <m:t>𝛾</m:t>
                        </m:r>
                      </m:e>
                      <m:sup>
                        <m:r>
                          <a:rPr lang="en-US" altLang="zh-TW" sz="2400" smtClean="0">
                            <a:latin typeface="Cambria Math"/>
                          </a:rPr>
                          <m:t>𝐿</m:t>
                        </m:r>
                      </m:sup>
                    </m:sSup>
                    <m:d>
                      <m:dPr>
                        <m:ctrlPr>
                          <a:rPr lang="en-US" altLang="zh-TW" sz="2400" i="1">
                            <a:latin typeface="Cambria Math"/>
                          </a:rPr>
                        </m:ctrlPr>
                      </m:dPr>
                      <m:e>
                        <m:r>
                          <a:rPr lang="en-US" altLang="zh-TW" sz="2400">
                            <a:latin typeface="Cambria Math"/>
                          </a:rPr>
                          <m:t>𝐹</m:t>
                        </m:r>
                      </m:e>
                    </m:d>
                  </m:oMath>
                </a14:m>
                <a:r>
                  <a:rPr lang="en-US" altLang="zh-TW" sz="2400" dirty="0" smtClean="0"/>
                  <a:t>: leftmost child</a:t>
                </a:r>
              </a:p>
              <a:p>
                <a:pPr>
                  <a:lnSpc>
                    <a:spcPct val="150000"/>
                  </a:lnSpc>
                </a:pPr>
                <a14:m>
                  <m:oMath xmlns:m="http://schemas.openxmlformats.org/officeDocument/2006/math">
                    <m:sSup>
                      <m:sSupPr>
                        <m:ctrlPr>
                          <a:rPr lang="en-US" altLang="zh-TW" sz="2400" i="1">
                            <a:latin typeface="Cambria Math"/>
                          </a:rPr>
                        </m:ctrlPr>
                      </m:sSupPr>
                      <m:e>
                        <m:r>
                          <a:rPr lang="zh-TW" altLang="en-US" sz="2400">
                            <a:latin typeface="Cambria Math"/>
                          </a:rPr>
                          <m:t>𝛾</m:t>
                        </m:r>
                      </m:e>
                      <m:sup>
                        <m:r>
                          <a:rPr lang="en-US" altLang="zh-TW" sz="2400" smtClean="0">
                            <a:latin typeface="Cambria Math"/>
                          </a:rPr>
                          <m:t>𝑅</m:t>
                        </m:r>
                      </m:sup>
                    </m:sSup>
                    <m:d>
                      <m:dPr>
                        <m:ctrlPr>
                          <a:rPr lang="en-US" altLang="zh-TW" sz="2400" i="1">
                            <a:latin typeface="Cambria Math"/>
                          </a:rPr>
                        </m:ctrlPr>
                      </m:dPr>
                      <m:e>
                        <m:r>
                          <a:rPr lang="en-US" altLang="zh-TW" sz="2400">
                            <a:latin typeface="Cambria Math"/>
                          </a:rPr>
                          <m:t>𝐹</m:t>
                        </m:r>
                      </m:e>
                    </m:d>
                  </m:oMath>
                </a14:m>
                <a:r>
                  <a:rPr lang="en-US" altLang="zh-TW" sz="2400" dirty="0" smtClean="0"/>
                  <a:t>: rightmost child</a:t>
                </a:r>
                <a:endParaRPr lang="en-US" altLang="zh-TW" sz="2400" dirty="0"/>
              </a:p>
              <a:p>
                <a:pPr>
                  <a:lnSpc>
                    <a:spcPct val="150000"/>
                  </a:lnSpc>
                </a:pPr>
                <a14:m>
                  <m:oMath xmlns:m="http://schemas.openxmlformats.org/officeDocument/2006/math">
                    <m:sSup>
                      <m:sSupPr>
                        <m:ctrlPr>
                          <a:rPr lang="en-US" altLang="zh-TW" sz="2400" i="1">
                            <a:latin typeface="Cambria Math"/>
                          </a:rPr>
                        </m:ctrlPr>
                      </m:sSupPr>
                      <m:e>
                        <m:r>
                          <a:rPr lang="zh-TW" altLang="en-US" sz="2400">
                            <a:latin typeface="Cambria Math"/>
                          </a:rPr>
                          <m:t>𝛾</m:t>
                        </m:r>
                      </m:e>
                      <m:sup>
                        <m:r>
                          <a:rPr lang="en-US" altLang="zh-TW" sz="2400" smtClean="0">
                            <a:latin typeface="Cambria Math"/>
                          </a:rPr>
                          <m:t>𝐻</m:t>
                        </m:r>
                      </m:sup>
                    </m:sSup>
                    <m:d>
                      <m:dPr>
                        <m:ctrlPr>
                          <a:rPr lang="en-US" altLang="zh-TW" sz="2400" i="1">
                            <a:latin typeface="Cambria Math"/>
                          </a:rPr>
                        </m:ctrlPr>
                      </m:dPr>
                      <m:e>
                        <m:r>
                          <a:rPr lang="en-US" altLang="zh-TW" sz="2400">
                            <a:latin typeface="Cambria Math"/>
                          </a:rPr>
                          <m:t>𝐹</m:t>
                        </m:r>
                      </m:e>
                    </m:d>
                  </m:oMath>
                </a14:m>
                <a:r>
                  <a:rPr lang="en-US" altLang="zh-TW" sz="2400" dirty="0" smtClean="0"/>
                  <a:t>: largest sub-tree</a:t>
                </a:r>
                <a:endParaRPr lang="en-US" altLang="zh-TW" sz="2400" dirty="0"/>
              </a:p>
            </p:txBody>
          </p:sp>
        </mc:Choice>
        <mc:Fallback xmlns="">
          <p:sp>
            <p:nvSpPr>
              <p:cNvPr id="13" name="內容版面配置區 12"/>
              <p:cNvSpPr>
                <a:spLocks noGrp="1" noRot="1" noChangeAspect="1" noMove="1" noResize="1" noEditPoints="1" noAdjustHandles="1" noChangeArrowheads="1" noChangeShapeType="1" noTextEdit="1"/>
              </p:cNvSpPr>
              <p:nvPr>
                <p:ph idx="1"/>
              </p:nvPr>
            </p:nvSpPr>
            <p:spPr>
              <a:xfrm>
                <a:off x="457200" y="1600200"/>
                <a:ext cx="3744000" cy="4525963"/>
              </a:xfrm>
              <a:blipFill rotWithShape="1">
                <a:blip r:embed="rId2"/>
                <a:stretch>
                  <a:fillRect l="-2117"/>
                </a:stretch>
              </a:blipFill>
            </p:spPr>
            <p:txBody>
              <a:bodyPr/>
              <a:lstStyle/>
              <a:p>
                <a:r>
                  <a:rPr lang="zh-TW" altLang="en-US">
                    <a:noFill/>
                  </a:rPr>
                  <a:t> </a:t>
                </a:r>
              </a:p>
            </p:txBody>
          </p:sp>
        </mc:Fallback>
      </mc:AlternateContent>
      <p:pic>
        <p:nvPicPr>
          <p:cNvPr id="75" name="圖片 7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93916" y="1268760"/>
            <a:ext cx="3810532" cy="5334745"/>
          </a:xfrm>
          <a:prstGeom prst="rect">
            <a:avLst/>
          </a:prstGeom>
        </p:spPr>
      </p:pic>
    </p:spTree>
    <p:extLst>
      <p:ext uri="{BB962C8B-B14F-4D97-AF65-F5344CB8AC3E}">
        <p14:creationId xmlns:p14="http://schemas.microsoft.com/office/powerpoint/2010/main" val="17587407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RTED</a:t>
            </a:r>
            <a:endParaRPr lang="zh-TW" altLang="en-US" dirty="0"/>
          </a:p>
        </p:txBody>
      </p:sp>
      <p:sp>
        <p:nvSpPr>
          <p:cNvPr id="3" name="內容版面配置區 2"/>
          <p:cNvSpPr>
            <a:spLocks noGrp="1"/>
          </p:cNvSpPr>
          <p:nvPr>
            <p:ph idx="1"/>
          </p:nvPr>
        </p:nvSpPr>
        <p:spPr/>
        <p:txBody>
          <a:bodyPr>
            <a:normAutofit/>
          </a:bodyPr>
          <a:lstStyle/>
          <a:p>
            <a:pPr>
              <a:lnSpc>
                <a:spcPct val="150000"/>
              </a:lnSpc>
            </a:pPr>
            <a:r>
              <a:rPr lang="en-US" altLang="zh-TW" sz="2400" dirty="0" smtClean="0"/>
              <a:t>The optimal LRH strategy for finding the optimal strategy.</a:t>
            </a:r>
            <a:endParaRPr lang="zh-TW" altLang="en-US" sz="2400" dirty="0"/>
          </a:p>
        </p:txBody>
      </p:sp>
      <p:pic>
        <p:nvPicPr>
          <p:cNvPr id="14" name="圖片 1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99891" y="2492896"/>
            <a:ext cx="5144218" cy="3658111"/>
          </a:xfrm>
          <a:prstGeom prst="rect">
            <a:avLst/>
          </a:prstGeom>
        </p:spPr>
      </p:pic>
    </p:spTree>
    <p:extLst>
      <p:ext uri="{BB962C8B-B14F-4D97-AF65-F5344CB8AC3E}">
        <p14:creationId xmlns:p14="http://schemas.microsoft.com/office/powerpoint/2010/main" val="21634846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Dataset</a:t>
            </a:r>
            <a:endParaRPr lang="zh-TW" altLang="en-US" dirty="0"/>
          </a:p>
        </p:txBody>
      </p:sp>
      <p:sp>
        <p:nvSpPr>
          <p:cNvPr id="3" name="內容版面配置區 2"/>
          <p:cNvSpPr>
            <a:spLocks noGrp="1"/>
          </p:cNvSpPr>
          <p:nvPr>
            <p:ph idx="1"/>
          </p:nvPr>
        </p:nvSpPr>
        <p:spPr/>
        <p:txBody>
          <a:bodyPr>
            <a:normAutofit/>
          </a:bodyPr>
          <a:lstStyle/>
          <a:p>
            <a:r>
              <a:rPr lang="en-US" altLang="zh-TW" sz="1800" dirty="0" smtClean="0"/>
              <a:t>Synthetic data</a:t>
            </a:r>
          </a:p>
          <a:p>
            <a:pPr lvl="1"/>
            <a:r>
              <a:rPr lang="en-US" altLang="zh-TW" sz="1800" dirty="0" smtClean="0"/>
              <a:t>6 different shapes</a:t>
            </a:r>
          </a:p>
          <a:p>
            <a:pPr lvl="1"/>
            <a:r>
              <a:rPr lang="en-US" altLang="zh-TW" sz="1800" dirty="0" smtClean="0"/>
              <a:t>depth &lt; 15, </a:t>
            </a:r>
            <a:r>
              <a:rPr lang="en-US" altLang="zh-TW" sz="1800" dirty="0" err="1" smtClean="0"/>
              <a:t>fanout</a:t>
            </a:r>
            <a:r>
              <a:rPr lang="en-US" altLang="zh-TW" sz="1800" dirty="0" smtClean="0"/>
              <a:t> &lt; 6</a:t>
            </a:r>
          </a:p>
          <a:p>
            <a:r>
              <a:rPr lang="en-US" altLang="zh-TW" sz="1800" dirty="0" smtClean="0"/>
              <a:t>Real world data</a:t>
            </a:r>
          </a:p>
          <a:p>
            <a:pPr lvl="1"/>
            <a:r>
              <a:rPr lang="en-US" altLang="zh-TW" sz="1800" dirty="0" err="1" smtClean="0"/>
              <a:t>SwissPort</a:t>
            </a:r>
            <a:endParaRPr lang="en-US" altLang="zh-TW" sz="1800" dirty="0" smtClean="0"/>
          </a:p>
          <a:p>
            <a:pPr lvl="2"/>
            <a:r>
              <a:rPr lang="en-US" altLang="zh-TW" sz="1800" dirty="0" smtClean="0"/>
              <a:t>XML protein sequence database</a:t>
            </a:r>
          </a:p>
          <a:p>
            <a:pPr lvl="2"/>
            <a:r>
              <a:rPr lang="en-US" altLang="zh-TW" sz="1800" dirty="0" smtClean="0"/>
              <a:t>50,000 flat trees, depth ≤ 4, </a:t>
            </a:r>
            <a:r>
              <a:rPr lang="en-US" altLang="zh-TW" sz="1800" dirty="0" err="1" smtClean="0"/>
              <a:t>fanout</a:t>
            </a:r>
            <a:r>
              <a:rPr lang="en-US" altLang="zh-TW" sz="1800" dirty="0" smtClean="0"/>
              <a:t> ≤ 346, </a:t>
            </a:r>
            <a:r>
              <a:rPr lang="en-US" altLang="zh-TW" sz="1800" dirty="0" err="1" smtClean="0"/>
              <a:t>avg</a:t>
            </a:r>
            <a:r>
              <a:rPr lang="en-US" altLang="zh-TW" sz="1800" dirty="0" smtClean="0"/>
              <a:t> size = 187</a:t>
            </a:r>
          </a:p>
          <a:p>
            <a:pPr lvl="1"/>
            <a:r>
              <a:rPr lang="en-US" altLang="zh-TW" sz="1800" dirty="0" err="1" smtClean="0"/>
              <a:t>TreeBank</a:t>
            </a:r>
            <a:endParaRPr lang="en-US" altLang="zh-TW" sz="1800" dirty="0" smtClean="0"/>
          </a:p>
          <a:p>
            <a:pPr lvl="2"/>
            <a:r>
              <a:rPr lang="en-US" altLang="zh-TW" sz="1800" dirty="0" smtClean="0"/>
              <a:t>XML representation of natural language syntax trees</a:t>
            </a:r>
          </a:p>
          <a:p>
            <a:pPr lvl="2"/>
            <a:r>
              <a:rPr lang="en-US" altLang="zh-TW" sz="1800" dirty="0" smtClean="0"/>
              <a:t>56,385 small and deep trees, </a:t>
            </a:r>
            <a:r>
              <a:rPr lang="en-US" altLang="zh-TW" sz="1800" dirty="0" err="1" smtClean="0"/>
              <a:t>avg</a:t>
            </a:r>
            <a:r>
              <a:rPr lang="en-US" altLang="zh-TW" sz="1800" dirty="0" smtClean="0"/>
              <a:t> size = 68, </a:t>
            </a:r>
            <a:r>
              <a:rPr lang="en-US" altLang="zh-TW" sz="1800" dirty="0" err="1" smtClean="0"/>
              <a:t>avg</a:t>
            </a:r>
            <a:r>
              <a:rPr lang="en-US" altLang="zh-TW" sz="1800" dirty="0" smtClean="0"/>
              <a:t> depth = 10.4</a:t>
            </a:r>
          </a:p>
          <a:p>
            <a:pPr lvl="1"/>
            <a:r>
              <a:rPr lang="en-US" altLang="zh-TW" sz="1800" dirty="0" err="1" smtClean="0"/>
              <a:t>TreeFam</a:t>
            </a:r>
            <a:endParaRPr lang="en-US" altLang="zh-TW" sz="1800" dirty="0" smtClean="0"/>
          </a:p>
          <a:p>
            <a:pPr lvl="2"/>
            <a:r>
              <a:rPr lang="en-US" altLang="zh-TW" sz="1800" dirty="0" smtClean="0"/>
              <a:t>16,138 phylogenetic trees of animal genes</a:t>
            </a:r>
          </a:p>
          <a:p>
            <a:pPr lvl="2"/>
            <a:r>
              <a:rPr lang="en-US" altLang="zh-TW" sz="1800" dirty="0" smtClean="0"/>
              <a:t>depth &lt; 158 (</a:t>
            </a:r>
            <a:r>
              <a:rPr lang="en-US" altLang="zh-TW" sz="1800" dirty="0" err="1" smtClean="0"/>
              <a:t>avg</a:t>
            </a:r>
            <a:r>
              <a:rPr lang="en-US" altLang="zh-TW" sz="1800" dirty="0" smtClean="0"/>
              <a:t> = 14), </a:t>
            </a:r>
            <a:r>
              <a:rPr lang="en-US" altLang="zh-TW" sz="1800" dirty="0" err="1" smtClean="0"/>
              <a:t>avg</a:t>
            </a:r>
            <a:r>
              <a:rPr lang="en-US" altLang="zh-TW" sz="1800" dirty="0" smtClean="0"/>
              <a:t> </a:t>
            </a:r>
            <a:r>
              <a:rPr lang="en-US" altLang="zh-TW" sz="1800" dirty="0" err="1" smtClean="0"/>
              <a:t>fanout</a:t>
            </a:r>
            <a:r>
              <a:rPr lang="en-US" altLang="zh-TW" sz="1800" dirty="0" smtClean="0"/>
              <a:t> = 2, </a:t>
            </a:r>
            <a:r>
              <a:rPr lang="en-US" altLang="zh-TW" sz="1800" dirty="0" err="1" smtClean="0"/>
              <a:t>avg</a:t>
            </a:r>
            <a:r>
              <a:rPr lang="en-US" altLang="zh-TW" sz="1800" dirty="0" smtClean="0"/>
              <a:t> size = 95</a:t>
            </a:r>
            <a:endParaRPr lang="zh-TW" altLang="en-US" sz="1800" dirty="0"/>
          </a:p>
        </p:txBody>
      </p:sp>
      <p:pic>
        <p:nvPicPr>
          <p:cNvPr id="58" name="圖片 5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04048" y="1142681"/>
            <a:ext cx="4001059" cy="2286319"/>
          </a:xfrm>
          <a:prstGeom prst="rect">
            <a:avLst/>
          </a:prstGeom>
        </p:spPr>
      </p:pic>
    </p:spTree>
    <p:extLst>
      <p:ext uri="{BB962C8B-B14F-4D97-AF65-F5344CB8AC3E}">
        <p14:creationId xmlns:p14="http://schemas.microsoft.com/office/powerpoint/2010/main" val="32871196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Compared with</a:t>
            </a:r>
            <a:endParaRPr lang="zh-TW" altLang="en-US" dirty="0"/>
          </a:p>
        </p:txBody>
      </p:sp>
      <p:sp>
        <p:nvSpPr>
          <p:cNvPr id="3" name="內容版面配置區 2"/>
          <p:cNvSpPr>
            <a:spLocks noGrp="1"/>
          </p:cNvSpPr>
          <p:nvPr>
            <p:ph idx="1"/>
          </p:nvPr>
        </p:nvSpPr>
        <p:spPr/>
        <p:txBody>
          <a:bodyPr>
            <a:normAutofit/>
          </a:bodyPr>
          <a:lstStyle/>
          <a:p>
            <a:r>
              <a:rPr lang="en-US" altLang="zh-TW" sz="2400" dirty="0" smtClean="0"/>
              <a:t>Zhang-L</a:t>
            </a:r>
          </a:p>
          <a:p>
            <a:pPr lvl="1"/>
            <a:r>
              <a:rPr lang="en-US" altLang="zh-TW" sz="2400" dirty="0" smtClean="0"/>
              <a:t>Left paths only</a:t>
            </a:r>
          </a:p>
          <a:p>
            <a:r>
              <a:rPr lang="en-US" altLang="zh-TW" sz="2400" dirty="0" smtClean="0"/>
              <a:t>Zhang-R</a:t>
            </a:r>
          </a:p>
          <a:p>
            <a:pPr lvl="1"/>
            <a:r>
              <a:rPr lang="en-US" altLang="zh-TW" sz="2400" dirty="0" smtClean="0"/>
              <a:t>Right paths only</a:t>
            </a:r>
          </a:p>
          <a:p>
            <a:r>
              <a:rPr lang="en-US" altLang="zh-TW" sz="2400" dirty="0" smtClean="0"/>
              <a:t>Klein-H</a:t>
            </a:r>
          </a:p>
          <a:p>
            <a:pPr lvl="1"/>
            <a:r>
              <a:rPr lang="en-US" altLang="zh-TW" sz="2400" dirty="0" smtClean="0"/>
              <a:t>Heavy paths only</a:t>
            </a:r>
          </a:p>
          <a:p>
            <a:r>
              <a:rPr lang="en-US" altLang="zh-TW" sz="2400" dirty="0" err="1" smtClean="0"/>
              <a:t>Demain</a:t>
            </a:r>
            <a:r>
              <a:rPr lang="en-US" altLang="zh-TW" sz="2400" dirty="0" smtClean="0"/>
              <a:t>-H</a:t>
            </a:r>
          </a:p>
          <a:p>
            <a:pPr lvl="1"/>
            <a:r>
              <a:rPr lang="en-US" altLang="zh-TW" sz="2400" dirty="0" smtClean="0"/>
              <a:t>The worst case optimal solution</a:t>
            </a:r>
            <a:endParaRPr lang="zh-TW" altLang="en-US" sz="2400" dirty="0"/>
          </a:p>
        </p:txBody>
      </p:sp>
    </p:spTree>
    <p:extLst>
      <p:ext uri="{BB962C8B-B14F-4D97-AF65-F5344CB8AC3E}">
        <p14:creationId xmlns:p14="http://schemas.microsoft.com/office/powerpoint/2010/main" val="10891479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Result</a:t>
            </a:r>
            <a:endParaRPr lang="zh-TW" altLang="en-US" dirty="0"/>
          </a:p>
        </p:txBody>
      </p:sp>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2074138"/>
            <a:ext cx="8229600" cy="3578086"/>
          </a:xfrm>
        </p:spPr>
      </p:pic>
    </p:spTree>
    <p:extLst>
      <p:ext uri="{BB962C8B-B14F-4D97-AF65-F5344CB8AC3E}">
        <p14:creationId xmlns:p14="http://schemas.microsoft.com/office/powerpoint/2010/main" val="37499178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47750"/>
            <a:ext cx="9144000" cy="4762500"/>
          </a:xfrm>
          <a:prstGeom prst="rect">
            <a:avLst/>
          </a:prstGeom>
        </p:spPr>
      </p:pic>
    </p:spTree>
    <p:extLst>
      <p:ext uri="{BB962C8B-B14F-4D97-AF65-F5344CB8AC3E}">
        <p14:creationId xmlns:p14="http://schemas.microsoft.com/office/powerpoint/2010/main" val="7718023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148840"/>
            <a:ext cx="9144000" cy="2560320"/>
          </a:xfrm>
          <a:prstGeom prst="rect">
            <a:avLst/>
          </a:prstGeom>
        </p:spPr>
      </p:pic>
    </p:spTree>
    <p:extLst>
      <p:ext uri="{BB962C8B-B14F-4D97-AF65-F5344CB8AC3E}">
        <p14:creationId xmlns:p14="http://schemas.microsoft.com/office/powerpoint/2010/main" val="3930455583"/>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233</TotalTime>
  <Words>525</Words>
  <Application>Microsoft Office PowerPoint</Application>
  <PresentationFormat>如螢幕大小 (4:3)</PresentationFormat>
  <Paragraphs>60</Paragraphs>
  <Slides>14</Slides>
  <Notes>0</Notes>
  <HiddenSlides>0</HiddenSlides>
  <MMClips>0</MMClips>
  <ScaleCrop>false</ScaleCrop>
  <HeadingPairs>
    <vt:vector size="4" baseType="variant">
      <vt:variant>
        <vt:lpstr>佈景主題</vt:lpstr>
      </vt:variant>
      <vt:variant>
        <vt:i4>1</vt:i4>
      </vt:variant>
      <vt:variant>
        <vt:lpstr>投影片標題</vt:lpstr>
      </vt:variant>
      <vt:variant>
        <vt:i4>14</vt:i4>
      </vt:variant>
    </vt:vector>
  </HeadingPairs>
  <TitlesOfParts>
    <vt:vector size="15" baseType="lpstr">
      <vt:lpstr>Office 佈景主題</vt:lpstr>
      <vt:lpstr>RTED: A Robust Algorithm for the Tree Edit Distance</vt:lpstr>
      <vt:lpstr>Abstract (1/2)</vt:lpstr>
      <vt:lpstr>Abstract (2/2)</vt:lpstr>
      <vt:lpstr>The Problem to Solve</vt:lpstr>
      <vt:lpstr>The Standard Edit Operations</vt:lpstr>
      <vt:lpstr>Recursive Formula for TED</vt:lpstr>
      <vt:lpstr>Space &amp; Time Complexity</vt:lpstr>
      <vt:lpstr>Root-leaf Path</vt:lpstr>
      <vt:lpstr>RTED</vt:lpstr>
      <vt:lpstr>Dataset</vt:lpstr>
      <vt:lpstr>Compared with</vt:lpstr>
      <vt:lpstr>Result</vt:lpstr>
      <vt:lpstr>PowerPoint 簡報</vt:lpstr>
      <vt:lpstr>PowerPoint 簡報</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RTED: A Robust Algorithm for the Tree Edit Distance</dc:title>
  <dc:creator>YiPo</dc:creator>
  <cp:lastModifiedBy>YiPo</cp:lastModifiedBy>
  <cp:revision>32</cp:revision>
  <dcterms:created xsi:type="dcterms:W3CDTF">2013-07-01T14:49:06Z</dcterms:created>
  <dcterms:modified xsi:type="dcterms:W3CDTF">2013-07-02T10:25:46Z</dcterms:modified>
</cp:coreProperties>
</file>