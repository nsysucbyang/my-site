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8" r:id="rId10"/>
    <p:sldId id="264" r:id="rId11"/>
    <p:sldId id="265" r:id="rId12"/>
    <p:sldId id="266" r:id="rId13"/>
    <p:sldId id="267" r:id="rId14"/>
    <p:sldId id="269" r:id="rId15"/>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淺色樣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0" d="100"/>
          <a:sy n="80" d="100"/>
        </p:scale>
        <p:origin x="-53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C91296B7-C093-4C5D-8F19-BE06CD73028E}" type="datetimeFigureOut">
              <a:rPr lang="zh-TW" altLang="en-US" smtClean="0"/>
              <a:t>2013/3/18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47BBAE62-8BE6-4D30-BD40-578B98E495D0}" type="slidenum">
              <a:rPr lang="zh-TW" altLang="en-US" smtClean="0"/>
              <a:t>‹#›</a:t>
            </a:fld>
            <a:endParaRPr lang="zh-TW" altLang="en-US"/>
          </a:p>
        </p:txBody>
      </p:sp>
    </p:spTree>
    <p:extLst>
      <p:ext uri="{BB962C8B-B14F-4D97-AF65-F5344CB8AC3E}">
        <p14:creationId xmlns:p14="http://schemas.microsoft.com/office/powerpoint/2010/main" val="3284690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C91296B7-C093-4C5D-8F19-BE06CD73028E}" type="datetimeFigureOut">
              <a:rPr lang="zh-TW" altLang="en-US" smtClean="0"/>
              <a:t>2013/3/18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47BBAE62-8BE6-4D30-BD40-578B98E495D0}" type="slidenum">
              <a:rPr lang="zh-TW" altLang="en-US" smtClean="0"/>
              <a:t>‹#›</a:t>
            </a:fld>
            <a:endParaRPr lang="zh-TW" altLang="en-US"/>
          </a:p>
        </p:txBody>
      </p:sp>
    </p:spTree>
    <p:extLst>
      <p:ext uri="{BB962C8B-B14F-4D97-AF65-F5344CB8AC3E}">
        <p14:creationId xmlns:p14="http://schemas.microsoft.com/office/powerpoint/2010/main" val="2677507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C91296B7-C093-4C5D-8F19-BE06CD73028E}" type="datetimeFigureOut">
              <a:rPr lang="zh-TW" altLang="en-US" smtClean="0"/>
              <a:t>2013/3/18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47BBAE62-8BE6-4D30-BD40-578B98E495D0}" type="slidenum">
              <a:rPr lang="zh-TW" altLang="en-US" smtClean="0"/>
              <a:t>‹#›</a:t>
            </a:fld>
            <a:endParaRPr lang="zh-TW" altLang="en-US"/>
          </a:p>
        </p:txBody>
      </p:sp>
    </p:spTree>
    <p:extLst>
      <p:ext uri="{BB962C8B-B14F-4D97-AF65-F5344CB8AC3E}">
        <p14:creationId xmlns:p14="http://schemas.microsoft.com/office/powerpoint/2010/main" val="1649184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C91296B7-C093-4C5D-8F19-BE06CD73028E}" type="datetimeFigureOut">
              <a:rPr lang="zh-TW" altLang="en-US" smtClean="0"/>
              <a:t>2013/3/18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47BBAE62-8BE6-4D30-BD40-578B98E495D0}" type="slidenum">
              <a:rPr lang="zh-TW" altLang="en-US" smtClean="0"/>
              <a:t>‹#›</a:t>
            </a:fld>
            <a:endParaRPr lang="zh-TW" altLang="en-US"/>
          </a:p>
        </p:txBody>
      </p:sp>
    </p:spTree>
    <p:extLst>
      <p:ext uri="{BB962C8B-B14F-4D97-AF65-F5344CB8AC3E}">
        <p14:creationId xmlns:p14="http://schemas.microsoft.com/office/powerpoint/2010/main" val="28976014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C91296B7-C093-4C5D-8F19-BE06CD73028E}" type="datetimeFigureOut">
              <a:rPr lang="zh-TW" altLang="en-US" smtClean="0"/>
              <a:t>2013/3/18</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47BBAE62-8BE6-4D30-BD40-578B98E495D0}" type="slidenum">
              <a:rPr lang="zh-TW" altLang="en-US" smtClean="0"/>
              <a:t>‹#›</a:t>
            </a:fld>
            <a:endParaRPr lang="zh-TW" altLang="en-US"/>
          </a:p>
        </p:txBody>
      </p:sp>
    </p:spTree>
    <p:extLst>
      <p:ext uri="{BB962C8B-B14F-4D97-AF65-F5344CB8AC3E}">
        <p14:creationId xmlns:p14="http://schemas.microsoft.com/office/powerpoint/2010/main" val="30046651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C91296B7-C093-4C5D-8F19-BE06CD73028E}" type="datetimeFigureOut">
              <a:rPr lang="zh-TW" altLang="en-US" smtClean="0"/>
              <a:t>2013/3/18</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47BBAE62-8BE6-4D30-BD40-578B98E495D0}" type="slidenum">
              <a:rPr lang="zh-TW" altLang="en-US" smtClean="0"/>
              <a:t>‹#›</a:t>
            </a:fld>
            <a:endParaRPr lang="zh-TW" altLang="en-US"/>
          </a:p>
        </p:txBody>
      </p:sp>
    </p:spTree>
    <p:extLst>
      <p:ext uri="{BB962C8B-B14F-4D97-AF65-F5344CB8AC3E}">
        <p14:creationId xmlns:p14="http://schemas.microsoft.com/office/powerpoint/2010/main" val="314540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C91296B7-C093-4C5D-8F19-BE06CD73028E}" type="datetimeFigureOut">
              <a:rPr lang="zh-TW" altLang="en-US" smtClean="0"/>
              <a:t>2013/3/18</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47BBAE62-8BE6-4D30-BD40-578B98E495D0}" type="slidenum">
              <a:rPr lang="zh-TW" altLang="en-US" smtClean="0"/>
              <a:t>‹#›</a:t>
            </a:fld>
            <a:endParaRPr lang="zh-TW" altLang="en-US"/>
          </a:p>
        </p:txBody>
      </p:sp>
    </p:spTree>
    <p:extLst>
      <p:ext uri="{BB962C8B-B14F-4D97-AF65-F5344CB8AC3E}">
        <p14:creationId xmlns:p14="http://schemas.microsoft.com/office/powerpoint/2010/main" val="2398464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C91296B7-C093-4C5D-8F19-BE06CD73028E}" type="datetimeFigureOut">
              <a:rPr lang="zh-TW" altLang="en-US" smtClean="0"/>
              <a:t>2013/3/18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47BBAE62-8BE6-4D30-BD40-578B98E495D0}" type="slidenum">
              <a:rPr lang="zh-TW" altLang="en-US" smtClean="0"/>
              <a:t>‹#›</a:t>
            </a:fld>
            <a:endParaRPr lang="zh-TW" altLang="en-US"/>
          </a:p>
        </p:txBody>
      </p:sp>
    </p:spTree>
    <p:extLst>
      <p:ext uri="{BB962C8B-B14F-4D97-AF65-F5344CB8AC3E}">
        <p14:creationId xmlns:p14="http://schemas.microsoft.com/office/powerpoint/2010/main" val="39139486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C91296B7-C093-4C5D-8F19-BE06CD73028E}" type="datetimeFigureOut">
              <a:rPr lang="zh-TW" altLang="en-US" smtClean="0"/>
              <a:t>2013/3/18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47BBAE62-8BE6-4D30-BD40-578B98E495D0}" type="slidenum">
              <a:rPr lang="zh-TW" altLang="en-US" smtClean="0"/>
              <a:t>‹#›</a:t>
            </a:fld>
            <a:endParaRPr lang="zh-TW" altLang="en-US"/>
          </a:p>
        </p:txBody>
      </p:sp>
    </p:spTree>
    <p:extLst>
      <p:ext uri="{BB962C8B-B14F-4D97-AF65-F5344CB8AC3E}">
        <p14:creationId xmlns:p14="http://schemas.microsoft.com/office/powerpoint/2010/main" val="25723703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C91296B7-C093-4C5D-8F19-BE06CD73028E}" type="datetimeFigureOut">
              <a:rPr lang="zh-TW" altLang="en-US" smtClean="0"/>
              <a:t>2013/3/18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47BBAE62-8BE6-4D30-BD40-578B98E495D0}" type="slidenum">
              <a:rPr lang="zh-TW" altLang="en-US" smtClean="0"/>
              <a:t>‹#›</a:t>
            </a:fld>
            <a:endParaRPr lang="zh-TW" altLang="en-US"/>
          </a:p>
        </p:txBody>
      </p:sp>
    </p:spTree>
    <p:extLst>
      <p:ext uri="{BB962C8B-B14F-4D97-AF65-F5344CB8AC3E}">
        <p14:creationId xmlns:p14="http://schemas.microsoft.com/office/powerpoint/2010/main" val="1509892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C91296B7-C093-4C5D-8F19-BE06CD73028E}" type="datetimeFigureOut">
              <a:rPr lang="zh-TW" altLang="en-US" smtClean="0"/>
              <a:t>2013/3/18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47BBAE62-8BE6-4D30-BD40-578B98E495D0}" type="slidenum">
              <a:rPr lang="zh-TW" altLang="en-US" smtClean="0"/>
              <a:t>‹#›</a:t>
            </a:fld>
            <a:endParaRPr lang="zh-TW" altLang="en-US"/>
          </a:p>
        </p:txBody>
      </p:sp>
    </p:spTree>
    <p:extLst>
      <p:ext uri="{BB962C8B-B14F-4D97-AF65-F5344CB8AC3E}">
        <p14:creationId xmlns:p14="http://schemas.microsoft.com/office/powerpoint/2010/main" val="24429780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1296B7-C093-4C5D-8F19-BE06CD73028E}" type="datetimeFigureOut">
              <a:rPr lang="zh-TW" altLang="en-US" smtClean="0"/>
              <a:t>2013/3/18</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BBAE62-8BE6-4D30-BD40-578B98E495D0}" type="slidenum">
              <a:rPr lang="zh-TW" altLang="en-US" smtClean="0"/>
              <a:t>‹#›</a:t>
            </a:fld>
            <a:endParaRPr lang="zh-TW" altLang="en-US"/>
          </a:p>
        </p:txBody>
      </p:sp>
    </p:spTree>
    <p:extLst>
      <p:ext uri="{BB962C8B-B14F-4D97-AF65-F5344CB8AC3E}">
        <p14:creationId xmlns:p14="http://schemas.microsoft.com/office/powerpoint/2010/main" val="9398083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en-US" altLang="zh-TW" dirty="0" smtClean="0"/>
              <a:t>All Common Subsequences</a:t>
            </a:r>
            <a:endParaRPr lang="zh-TW" altLang="en-US" dirty="0"/>
          </a:p>
        </p:txBody>
      </p:sp>
      <p:sp>
        <p:nvSpPr>
          <p:cNvPr id="5" name="副標題 4"/>
          <p:cNvSpPr>
            <a:spLocks noGrp="1"/>
          </p:cNvSpPr>
          <p:nvPr>
            <p:ph type="subTitle" idx="1"/>
          </p:nvPr>
        </p:nvSpPr>
        <p:spPr>
          <a:xfrm>
            <a:off x="288000" y="3886200"/>
            <a:ext cx="8568000" cy="1752600"/>
          </a:xfrm>
        </p:spPr>
        <p:txBody>
          <a:bodyPr>
            <a:noAutofit/>
          </a:bodyPr>
          <a:lstStyle/>
          <a:p>
            <a:r>
              <a:rPr lang="en-US" altLang="zh-TW" sz="2000" dirty="0" err="1" smtClean="0">
                <a:solidFill>
                  <a:schemeClr val="tx1"/>
                </a:solidFill>
              </a:rPr>
              <a:t>Hui</a:t>
            </a:r>
            <a:r>
              <a:rPr lang="en-US" altLang="zh-TW" sz="2000" dirty="0" smtClean="0">
                <a:solidFill>
                  <a:schemeClr val="tx1"/>
                </a:solidFill>
              </a:rPr>
              <a:t> Wang (</a:t>
            </a:r>
            <a:r>
              <a:rPr lang="zh-TW" altLang="en-US" sz="1800" dirty="0" smtClean="0">
                <a:solidFill>
                  <a:schemeClr val="tx1"/>
                </a:solidFill>
              </a:rPr>
              <a:t>王暉</a:t>
            </a:r>
            <a:r>
              <a:rPr lang="en-US" altLang="zh-TW" sz="2000" dirty="0" smtClean="0">
                <a:solidFill>
                  <a:schemeClr val="tx1"/>
                </a:solidFill>
              </a:rPr>
              <a:t>)</a:t>
            </a:r>
            <a:br>
              <a:rPr lang="en-US" altLang="zh-TW" sz="2000" dirty="0" smtClean="0">
                <a:solidFill>
                  <a:schemeClr val="tx1"/>
                </a:solidFill>
              </a:rPr>
            </a:br>
            <a:r>
              <a:rPr lang="en-US" altLang="zh-TW" sz="2000" dirty="0" smtClean="0">
                <a:solidFill>
                  <a:schemeClr val="tx1"/>
                </a:solidFill>
              </a:rPr>
              <a:t>School of Computing and Mathematics University of Ulster, Northern Ireland, UK</a:t>
            </a:r>
            <a:br>
              <a:rPr lang="en-US" altLang="zh-TW" sz="2000" dirty="0" smtClean="0">
                <a:solidFill>
                  <a:schemeClr val="tx1"/>
                </a:solidFill>
              </a:rPr>
            </a:br>
            <a:r>
              <a:rPr lang="en-US" altLang="zh-TW" sz="2000" dirty="0" smtClean="0">
                <a:solidFill>
                  <a:schemeClr val="tx1"/>
                </a:solidFill>
              </a:rPr>
              <a:t>Proceedings of the 20th international joint conference, 2007</a:t>
            </a:r>
          </a:p>
          <a:p>
            <a:r>
              <a:rPr lang="en-US" altLang="zh-TW" sz="2000" dirty="0" smtClean="0">
                <a:solidFill>
                  <a:schemeClr val="tx1"/>
                </a:solidFill>
              </a:rPr>
              <a:t>Presenter: </a:t>
            </a:r>
            <a:r>
              <a:rPr lang="en-US" altLang="zh-TW" sz="2000" dirty="0" err="1" smtClean="0">
                <a:solidFill>
                  <a:schemeClr val="tx1"/>
                </a:solidFill>
              </a:rPr>
              <a:t>Guo</a:t>
            </a:r>
            <a:r>
              <a:rPr lang="en-US" altLang="zh-TW" sz="2000" dirty="0" smtClean="0">
                <a:solidFill>
                  <a:schemeClr val="tx1"/>
                </a:solidFill>
              </a:rPr>
              <a:t> Yi-</a:t>
            </a:r>
            <a:r>
              <a:rPr lang="en-US" altLang="zh-TW" sz="2000" dirty="0" err="1" smtClean="0">
                <a:solidFill>
                  <a:schemeClr val="tx1"/>
                </a:solidFill>
              </a:rPr>
              <a:t>Pu</a:t>
            </a:r>
            <a:r>
              <a:rPr lang="en-US" altLang="zh-TW" sz="2000" dirty="0" smtClean="0">
                <a:solidFill>
                  <a:schemeClr val="tx1"/>
                </a:solidFill>
              </a:rPr>
              <a:t/>
            </a:r>
            <a:br>
              <a:rPr lang="en-US" altLang="zh-TW" sz="2000" dirty="0" smtClean="0">
                <a:solidFill>
                  <a:schemeClr val="tx1"/>
                </a:solidFill>
              </a:rPr>
            </a:br>
            <a:r>
              <a:rPr lang="en-US" altLang="zh-TW" sz="2000" dirty="0" smtClean="0">
                <a:solidFill>
                  <a:schemeClr val="tx1"/>
                </a:solidFill>
              </a:rPr>
              <a:t>2013-03-18</a:t>
            </a:r>
            <a:endParaRPr lang="zh-TW" altLang="en-US" sz="2000" dirty="0">
              <a:solidFill>
                <a:schemeClr val="tx1"/>
              </a:solidFill>
            </a:endParaRPr>
          </a:p>
        </p:txBody>
      </p:sp>
    </p:spTree>
    <p:extLst>
      <p:ext uri="{BB962C8B-B14F-4D97-AF65-F5344CB8AC3E}">
        <p14:creationId xmlns:p14="http://schemas.microsoft.com/office/powerpoint/2010/main" val="6190708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 (1/2)</a:t>
            </a:r>
            <a:endParaRPr lang="zh-TW" altLang="en-US" dirty="0"/>
          </a:p>
        </p:txBody>
      </p:sp>
      <p:sp>
        <p:nvSpPr>
          <p:cNvPr id="7" name="內容版面配置區 6"/>
          <p:cNvSpPr>
            <a:spLocks noGrp="1"/>
          </p:cNvSpPr>
          <p:nvPr>
            <p:ph idx="1"/>
          </p:nvPr>
        </p:nvSpPr>
        <p:spPr/>
        <p:txBody>
          <a:bodyPr>
            <a:noAutofit/>
          </a:bodyPr>
          <a:lstStyle/>
          <a:p>
            <a:pPr marL="0" indent="457200" algn="just">
              <a:lnSpc>
                <a:spcPct val="150000"/>
              </a:lnSpc>
              <a:buNone/>
            </a:pPr>
            <a:r>
              <a:rPr lang="en-US" altLang="zh-TW" sz="2000" dirty="0" smtClean="0"/>
              <a:t>Time series data abounds in real world problems. Measuring the similarity of time series is a key to solving these problems. One state of the art measure is the longest common subsequence. This measure advocates using the length of the longest common subsequence as an indication of similarity between sequences, but ignores information contained in the second, third, ..., longest subsequences.</a:t>
            </a:r>
          </a:p>
          <a:p>
            <a:pPr marL="0" indent="457200" algn="just">
              <a:lnSpc>
                <a:spcPct val="150000"/>
              </a:lnSpc>
              <a:buNone/>
            </a:pPr>
            <a:r>
              <a:rPr lang="en-US" altLang="zh-TW" sz="2000" dirty="0" smtClean="0"/>
              <a:t>In order to capture the common information in sequences maximally we propose a novel measure of sequence similarity – the number of all common subsequences. We show that this measure satisfies the common properties of similarity functions. Calculating this measure is not trivial as a brute force</a:t>
            </a:r>
            <a:br>
              <a:rPr lang="en-US" altLang="zh-TW" sz="2000" dirty="0" smtClean="0"/>
            </a:br>
            <a:endParaRPr lang="zh-TW" altLang="en-US" sz="2000" dirty="0"/>
          </a:p>
        </p:txBody>
      </p:sp>
    </p:spTree>
    <p:extLst>
      <p:ext uri="{BB962C8B-B14F-4D97-AF65-F5344CB8AC3E}">
        <p14:creationId xmlns:p14="http://schemas.microsoft.com/office/powerpoint/2010/main" val="13387777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6"/>
          <p:cNvSpPr>
            <a:spLocks noGrp="1"/>
          </p:cNvSpPr>
          <p:nvPr>
            <p:ph type="title"/>
          </p:nvPr>
        </p:nvSpPr>
        <p:spPr/>
        <p:txBody>
          <a:bodyPr/>
          <a:lstStyle/>
          <a:p>
            <a:r>
              <a:rPr lang="en-US" altLang="zh-TW" dirty="0" smtClean="0"/>
              <a:t>Abstract (2/2)</a:t>
            </a:r>
            <a:endParaRPr lang="zh-TW" altLang="en-US" dirty="0"/>
          </a:p>
        </p:txBody>
      </p:sp>
      <p:sp>
        <p:nvSpPr>
          <p:cNvPr id="3" name="內容版面配置區 2"/>
          <p:cNvSpPr>
            <a:spLocks noGrp="1"/>
          </p:cNvSpPr>
          <p:nvPr>
            <p:ph idx="1"/>
          </p:nvPr>
        </p:nvSpPr>
        <p:spPr/>
        <p:txBody>
          <a:bodyPr>
            <a:normAutofit/>
          </a:bodyPr>
          <a:lstStyle/>
          <a:p>
            <a:pPr marL="0" indent="0" algn="just">
              <a:lnSpc>
                <a:spcPct val="150000"/>
              </a:lnSpc>
              <a:buNone/>
            </a:pPr>
            <a:r>
              <a:rPr lang="en-US" altLang="zh-TW" sz="2000" dirty="0" smtClean="0"/>
              <a:t>approach is exponential in time. We present a novel dynamic programming algorithm to calculate this number in polynomial time. We also suggest a different way of extending a class of such measures to multidimensional, real-valued time series, in the spirit of probabilistic metric spaces.</a:t>
            </a:r>
          </a:p>
          <a:p>
            <a:pPr marL="0" indent="457200" algn="just">
              <a:lnSpc>
                <a:spcPct val="150000"/>
              </a:lnSpc>
              <a:buNone/>
            </a:pPr>
            <a:r>
              <a:rPr lang="en-US" altLang="zh-TW" sz="2000" dirty="0" smtClean="0"/>
              <a:t>We conducted an experimental study on the new similarity measure and the extension method for classification. It was found that both the new similarity and the extension method are consistently competitive.</a:t>
            </a:r>
            <a:endParaRPr lang="zh-TW" altLang="en-US" sz="2000" dirty="0"/>
          </a:p>
        </p:txBody>
      </p:sp>
    </p:spTree>
    <p:extLst>
      <p:ext uri="{BB962C8B-B14F-4D97-AF65-F5344CB8AC3E}">
        <p14:creationId xmlns:p14="http://schemas.microsoft.com/office/powerpoint/2010/main" val="27128329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All Common Subsequences (ACS)</a:t>
            </a:r>
            <a:endParaRPr lang="zh-TW" altLang="en-US" dirty="0"/>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p:txBody>
              <a:bodyPr>
                <a:normAutofit/>
              </a:bodyPr>
              <a:lstStyle/>
              <a:p>
                <a:pPr>
                  <a:lnSpc>
                    <a:spcPct val="150000"/>
                  </a:lnSpc>
                </a:pPr>
                <a:r>
                  <a:rPr lang="en-US" altLang="zh-TW" sz="2000" dirty="0" smtClean="0"/>
                  <a:t>LCS ignores information contained in the 2nd, 3rd, ..., longest subsequences.</a:t>
                </a:r>
              </a:p>
              <a:p>
                <a:pPr>
                  <a:lnSpc>
                    <a:spcPct val="150000"/>
                  </a:lnSpc>
                </a:pPr>
                <a14:m>
                  <m:oMath xmlns:m="http://schemas.openxmlformats.org/officeDocument/2006/math">
                    <m:d>
                      <m:dPr>
                        <m:begChr m:val="{"/>
                        <m:endChr m:val="}"/>
                        <m:ctrlPr>
                          <a:rPr lang="en-US" altLang="zh-TW" sz="2000" i="1" smtClean="0">
                            <a:latin typeface="Cambria Math"/>
                          </a:rPr>
                        </m:ctrlPr>
                      </m:dPr>
                      <m:e>
                        <m:r>
                          <a:rPr lang="en-US" altLang="zh-TW" sz="2000" smtClean="0">
                            <a:latin typeface="Cambria Math"/>
                          </a:rPr>
                          <m:t>𝛼</m:t>
                        </m:r>
                        <m:r>
                          <a:rPr lang="en-US" altLang="zh-TW" sz="2000" smtClean="0">
                            <a:latin typeface="Cambria Math"/>
                          </a:rPr>
                          <m:t>,</m:t>
                        </m:r>
                        <m:r>
                          <a:rPr lang="en-US" altLang="zh-TW" sz="2000" smtClean="0">
                            <a:latin typeface="Cambria Math"/>
                          </a:rPr>
                          <m:t>𝛽</m:t>
                        </m:r>
                        <m:r>
                          <a:rPr lang="en-US" altLang="zh-TW" sz="2000" smtClean="0">
                            <a:latin typeface="Cambria Math"/>
                          </a:rPr>
                          <m:t>,</m:t>
                        </m:r>
                        <m:r>
                          <a:rPr lang="zh-TW" altLang="en-US" sz="2000" smtClean="0">
                            <a:latin typeface="Cambria Math"/>
                          </a:rPr>
                          <m:t>𝛾</m:t>
                        </m:r>
                      </m:e>
                    </m:d>
                    <m:r>
                      <a:rPr lang="en-US" altLang="zh-TW" sz="2000" smtClean="0">
                        <a:latin typeface="Cambria Math"/>
                      </a:rPr>
                      <m:t>=</m:t>
                    </m:r>
                    <m:d>
                      <m:dPr>
                        <m:begChr m:val="{"/>
                        <m:endChr m:val="}"/>
                        <m:ctrlPr>
                          <a:rPr lang="en-US" altLang="zh-TW" sz="2000" i="1" smtClean="0">
                            <a:latin typeface="Cambria Math"/>
                          </a:rPr>
                        </m:ctrlPr>
                      </m:dPr>
                      <m:e>
                        <m:r>
                          <a:rPr lang="en-US" altLang="zh-TW" sz="2000">
                            <a:latin typeface="Cambria Math"/>
                          </a:rPr>
                          <m:t>𝑐𝑏𝑎𝑏𝑐𝑎</m:t>
                        </m:r>
                        <m:r>
                          <a:rPr lang="en-US" altLang="zh-TW" sz="2000">
                            <a:latin typeface="Cambria Math"/>
                          </a:rPr>
                          <m:t>,</m:t>
                        </m:r>
                        <m:r>
                          <a:rPr lang="en-US" altLang="zh-TW" sz="2000">
                            <a:latin typeface="Cambria Math"/>
                          </a:rPr>
                          <m:t>𝑏𝑐𝑎𝑏𝑎𝑐</m:t>
                        </m:r>
                        <m:r>
                          <a:rPr lang="en-US" altLang="zh-TW" sz="2000">
                            <a:latin typeface="Cambria Math"/>
                          </a:rPr>
                          <m:t>,</m:t>
                        </m:r>
                        <m:r>
                          <a:rPr lang="en-US" altLang="zh-TW" sz="2000">
                            <a:latin typeface="Cambria Math"/>
                          </a:rPr>
                          <m:t>𝑎𝑏𝑐𝑎𝑑𝑒</m:t>
                        </m:r>
                      </m:e>
                    </m:d>
                  </m:oMath>
                </a14:m>
                <a:endParaRPr lang="en-US" altLang="zh-TW" sz="2000" dirty="0" smtClean="0"/>
              </a:p>
              <a:p>
                <a:pPr lvl="1">
                  <a:lnSpc>
                    <a:spcPct val="150000"/>
                  </a:lnSpc>
                </a:pPr>
                <a:r>
                  <a:rPr lang="en-US" altLang="zh-TW" sz="2000" dirty="0" err="1" smtClean="0"/>
                  <a:t>lcs</a:t>
                </a:r>
                <a:r>
                  <a:rPr lang="en-US" altLang="zh-TW" sz="2000" dirty="0" smtClean="0"/>
                  <a:t>(</a:t>
                </a:r>
                <a:r>
                  <a:rPr lang="el-GR" altLang="zh-TW" sz="2000" dirty="0" smtClean="0"/>
                  <a:t>α, β) = </a:t>
                </a:r>
                <a:r>
                  <a:rPr lang="en-US" altLang="zh-TW" sz="2000" dirty="0" err="1" smtClean="0"/>
                  <a:t>lcs</a:t>
                </a:r>
                <a:r>
                  <a:rPr lang="en-US" altLang="zh-TW" sz="2000" dirty="0" smtClean="0"/>
                  <a:t>(</a:t>
                </a:r>
                <a:r>
                  <a:rPr lang="el-GR" altLang="zh-TW" sz="2000" dirty="0" smtClean="0"/>
                  <a:t>α, γ) = 4</a:t>
                </a:r>
                <a:r>
                  <a:rPr lang="en-US" altLang="zh-TW" sz="2000" dirty="0" smtClean="0"/>
                  <a:t>; </a:t>
                </a:r>
                <a:r>
                  <a:rPr lang="en-US" altLang="zh-TW" sz="2000" dirty="0" err="1" smtClean="0"/>
                  <a:t>cbac</a:t>
                </a:r>
                <a:r>
                  <a:rPr lang="en-US" altLang="zh-TW" sz="2000" dirty="0"/>
                  <a:t>, </a:t>
                </a:r>
                <a:r>
                  <a:rPr lang="en-US" altLang="zh-TW" sz="2000" dirty="0" err="1" smtClean="0"/>
                  <a:t>abca</a:t>
                </a:r>
                <a:r>
                  <a:rPr lang="en-US" altLang="zh-TW" sz="2000" dirty="0" smtClean="0"/>
                  <a:t>.</a:t>
                </a:r>
                <a:endParaRPr lang="el-GR" altLang="zh-TW" sz="2000" dirty="0" smtClean="0"/>
              </a:p>
              <a:p>
                <a:pPr lvl="1">
                  <a:lnSpc>
                    <a:spcPct val="150000"/>
                  </a:lnSpc>
                </a:pPr>
                <a:r>
                  <a:rPr lang="el-GR" altLang="zh-TW" sz="2000" dirty="0" smtClean="0"/>
                  <a:t>α </a:t>
                </a:r>
                <a:r>
                  <a:rPr lang="el-GR" altLang="zh-TW" sz="2000" dirty="0"/>
                  <a:t>&amp; β: {</a:t>
                </a:r>
                <a:r>
                  <a:rPr lang="en-US" altLang="zh-TW" sz="2000" dirty="0"/>
                  <a:t>a, aa, ab, aba, abc, ac, b, ba, baa, bab, baba, babc, bac, bb, bba, bbc, bc, bca, c, ca, caa, cab, caba, cabc, cac, cb, cba, cbac, cbc, cc</a:t>
                </a:r>
                <a:r>
                  <a:rPr lang="en-US" altLang="zh-TW" sz="2000" dirty="0" smtClean="0"/>
                  <a:t>},</a:t>
                </a:r>
                <a:br>
                  <a:rPr lang="en-US" altLang="zh-TW" sz="2000" dirty="0" smtClean="0"/>
                </a:br>
                <a:r>
                  <a:rPr lang="en-US" altLang="zh-TW" sz="2000" dirty="0" smtClean="0"/>
                  <a:t>acs(</a:t>
                </a:r>
                <a:r>
                  <a:rPr lang="el-GR" altLang="zh-TW" sz="2000" dirty="0"/>
                  <a:t>α, β</a:t>
                </a:r>
                <a:r>
                  <a:rPr lang="en-US" altLang="zh-TW" sz="2000" dirty="0" smtClean="0"/>
                  <a:t>) </a:t>
                </a:r>
                <a:r>
                  <a:rPr lang="en-US" altLang="zh-TW" sz="2000" dirty="0"/>
                  <a:t>= </a:t>
                </a:r>
                <a:r>
                  <a:rPr lang="en-US" altLang="zh-TW" sz="2000" dirty="0" smtClean="0"/>
                  <a:t>31.</a:t>
                </a:r>
                <a:endParaRPr lang="en-US" altLang="zh-TW" sz="2000" dirty="0"/>
              </a:p>
              <a:p>
                <a:pPr lvl="1">
                  <a:lnSpc>
                    <a:spcPct val="150000"/>
                  </a:lnSpc>
                </a:pPr>
                <a:r>
                  <a:rPr lang="el-GR" altLang="zh-TW" sz="2000" dirty="0" smtClean="0"/>
                  <a:t>α </a:t>
                </a:r>
                <a:r>
                  <a:rPr lang="el-GR" altLang="zh-TW" sz="2000" dirty="0"/>
                  <a:t>&amp; γ: {</a:t>
                </a:r>
                <a:r>
                  <a:rPr lang="en-US" altLang="zh-TW" sz="2000" dirty="0"/>
                  <a:t>a, aa, ab, aba, abc, abca, ac, aca, b, ba, bc, bca, c, ca</a:t>
                </a:r>
                <a:r>
                  <a:rPr lang="en-US" altLang="zh-TW" sz="2000" dirty="0" smtClean="0"/>
                  <a:t>},</a:t>
                </a:r>
                <a:br>
                  <a:rPr lang="en-US" altLang="zh-TW" sz="2000" dirty="0" smtClean="0"/>
                </a:br>
                <a:r>
                  <a:rPr lang="en-US" altLang="zh-TW" sz="2000" dirty="0" smtClean="0"/>
                  <a:t>acs(</a:t>
                </a:r>
                <a:r>
                  <a:rPr lang="el-GR" altLang="zh-TW" sz="2000" dirty="0" smtClean="0"/>
                  <a:t>α,</a:t>
                </a:r>
                <a:r>
                  <a:rPr lang="en-US" altLang="zh-TW" sz="2000" dirty="0" smtClean="0"/>
                  <a:t> </a:t>
                </a:r>
                <a:r>
                  <a:rPr lang="el-GR" altLang="zh-TW" sz="2000" dirty="0" smtClean="0"/>
                  <a:t>γ) </a:t>
                </a:r>
                <a:r>
                  <a:rPr lang="el-GR" altLang="zh-TW" sz="2000" dirty="0"/>
                  <a:t>= </a:t>
                </a:r>
                <a:r>
                  <a:rPr lang="el-GR" altLang="zh-TW" sz="2000" dirty="0" smtClean="0"/>
                  <a:t>15</a:t>
                </a:r>
                <a:r>
                  <a:rPr lang="en-US" altLang="zh-TW" sz="2000" dirty="0" smtClean="0"/>
                  <a:t>.</a:t>
                </a:r>
                <a:endParaRPr lang="en-US" altLang="zh-TW" sz="2000" dirty="0" smtClean="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593" r="-140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8689610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For Discrete Symbols</a:t>
            </a:r>
            <a:endParaRPr lang="zh-TW" altLang="en-US" dirty="0"/>
          </a:p>
        </p:txBody>
      </p:sp>
      <mc:AlternateContent xmlns:mc="http://schemas.openxmlformats.org/markup-compatibility/2006" xmlns:a14="http://schemas.microsoft.com/office/drawing/2010/main">
        <mc:Choice Requires="a14">
          <p:sp>
            <p:nvSpPr>
              <p:cNvPr id="7" name="內容版面配置區 6"/>
              <p:cNvSpPr>
                <a:spLocks noGrp="1"/>
              </p:cNvSpPr>
              <p:nvPr>
                <p:ph idx="1"/>
              </p:nvPr>
            </p:nvSpPr>
            <p:spPr/>
            <p:txBody>
              <a:bodyPr>
                <a:normAutofit/>
              </a:bodyPr>
              <a:lstStyle/>
              <a:p>
                <a:pPr marL="0" indent="0">
                  <a:lnSpc>
                    <a:spcPct val="150000"/>
                  </a:lnSpc>
                  <a:buNone/>
                </a:pPr>
                <a14:m>
                  <m:oMathPara xmlns:m="http://schemas.openxmlformats.org/officeDocument/2006/math">
                    <m:oMathParaPr>
                      <m:jc m:val="centerGroup"/>
                    </m:oMathParaPr>
                    <m:oMath xmlns:m="http://schemas.openxmlformats.org/officeDocument/2006/math">
                      <m:r>
                        <a:rPr lang="en-US" altLang="zh-TW" sz="2000" smtClean="0">
                          <a:latin typeface="Cambria Math"/>
                        </a:rPr>
                        <m:t>𝑁</m:t>
                      </m:r>
                      <m:d>
                        <m:dPr>
                          <m:ctrlPr>
                            <a:rPr lang="en-US" altLang="zh-TW" sz="2000" i="1" smtClean="0">
                              <a:latin typeface="Cambria Math"/>
                            </a:rPr>
                          </m:ctrlPr>
                        </m:dPr>
                        <m:e>
                          <m:r>
                            <a:rPr lang="en-US" altLang="zh-TW" sz="2000" smtClean="0">
                              <a:latin typeface="Cambria Math"/>
                            </a:rPr>
                            <m:t>𝑖</m:t>
                          </m:r>
                          <m:r>
                            <a:rPr lang="en-US" altLang="zh-TW" sz="2000" smtClean="0">
                              <a:latin typeface="Cambria Math"/>
                            </a:rPr>
                            <m:t>,</m:t>
                          </m:r>
                          <m:r>
                            <a:rPr lang="en-US" altLang="zh-TW" sz="2000" smtClean="0">
                              <a:latin typeface="Cambria Math"/>
                            </a:rPr>
                            <m:t>𝑗</m:t>
                          </m:r>
                        </m:e>
                      </m:d>
                      <m:r>
                        <a:rPr lang="en-US" altLang="zh-TW" sz="2000" smtClean="0">
                          <a:latin typeface="Cambria Math"/>
                        </a:rPr>
                        <m:t>=</m:t>
                      </m:r>
                      <m:d>
                        <m:dPr>
                          <m:begChr m:val="{"/>
                          <m:endChr m:val=""/>
                          <m:ctrlPr>
                            <a:rPr lang="en-US" altLang="zh-TW" sz="2000" i="1" smtClean="0">
                              <a:latin typeface="Cambria Math"/>
                            </a:rPr>
                          </m:ctrlPr>
                        </m:dPr>
                        <m:e>
                          <m:eqArr>
                            <m:eqArrPr>
                              <m:ctrlPr>
                                <a:rPr lang="en-US" altLang="zh-TW" sz="2000" i="1" smtClean="0">
                                  <a:latin typeface="Cambria Math"/>
                                </a:rPr>
                              </m:ctrlPr>
                            </m:eqArrPr>
                            <m:e>
                              <m:r>
                                <a:rPr lang="en-US" altLang="zh-TW" sz="2000" b="0" i="0" smtClean="0">
                                  <a:latin typeface="Cambria Math"/>
                                </a:rPr>
                                <m:t>&amp;</m:t>
                              </m:r>
                              <m:r>
                                <a:rPr lang="en-US" altLang="zh-TW" sz="2000">
                                  <a:latin typeface="Cambria Math"/>
                                </a:rPr>
                                <m:t>𝑁</m:t>
                              </m:r>
                              <m:d>
                                <m:dPr>
                                  <m:ctrlPr>
                                    <a:rPr lang="en-US" altLang="zh-TW" sz="2000" i="1">
                                      <a:latin typeface="Cambria Math"/>
                                    </a:rPr>
                                  </m:ctrlPr>
                                </m:dPr>
                                <m:e>
                                  <m:r>
                                    <a:rPr lang="en-US" altLang="zh-TW" sz="2000">
                                      <a:latin typeface="Cambria Math"/>
                                    </a:rPr>
                                    <m:t>𝑖</m:t>
                                  </m:r>
                                  <m:r>
                                    <a:rPr lang="en-US" altLang="zh-TW" sz="2000" smtClean="0">
                                      <a:latin typeface="Cambria Math"/>
                                    </a:rPr>
                                    <m:t>−1</m:t>
                                  </m:r>
                                  <m:r>
                                    <a:rPr lang="en-US" altLang="zh-TW" sz="2000">
                                      <a:latin typeface="Cambria Math"/>
                                    </a:rPr>
                                    <m:t>,</m:t>
                                  </m:r>
                                  <m:r>
                                    <a:rPr lang="en-US" altLang="zh-TW" sz="2000">
                                      <a:latin typeface="Cambria Math"/>
                                    </a:rPr>
                                    <m:t>𝑗</m:t>
                                  </m:r>
                                  <m:r>
                                    <a:rPr lang="en-US" altLang="zh-TW" sz="2000" smtClean="0">
                                      <a:latin typeface="Cambria Math"/>
                                    </a:rPr>
                                    <m:t>−1</m:t>
                                  </m:r>
                                </m:e>
                              </m:d>
                              <m:r>
                                <a:rPr lang="en-US" altLang="zh-TW" sz="2000" smtClean="0">
                                  <a:latin typeface="Cambria Math"/>
                                </a:rPr>
                                <m:t>×2</m:t>
                              </m:r>
                              <m:r>
                                <a:rPr lang="en-US" altLang="zh-TW" sz="2000" b="0" i="0" smtClean="0">
                                  <a:latin typeface="Cambria Math"/>
                                </a:rPr>
                                <m:t>,&amp;</m:t>
                              </m:r>
                              <m:r>
                                <a:rPr lang="en-US" altLang="zh-TW" sz="2000" smtClean="0">
                                  <a:latin typeface="Cambria Math"/>
                                </a:rPr>
                                <m:t>𝑖𝑓</m:t>
                              </m:r>
                              <m:r>
                                <a:rPr lang="en-US" altLang="zh-TW" sz="2000" smtClean="0">
                                  <a:latin typeface="Cambria Math"/>
                                </a:rPr>
                                <m:t> </m:t>
                              </m:r>
                              <m:sSub>
                                <m:sSubPr>
                                  <m:ctrlPr>
                                    <a:rPr lang="en-US" altLang="zh-TW" sz="2000" i="1" smtClean="0">
                                      <a:latin typeface="Cambria Math"/>
                                    </a:rPr>
                                  </m:ctrlPr>
                                </m:sSubPr>
                                <m:e>
                                  <m:r>
                                    <a:rPr lang="en-US" altLang="zh-TW" sz="2000" smtClean="0">
                                      <a:latin typeface="Cambria Math"/>
                                    </a:rPr>
                                    <m:t>𝐴</m:t>
                                  </m:r>
                                </m:e>
                                <m:sub>
                                  <m:r>
                                    <a:rPr lang="en-US" altLang="zh-TW" sz="2000" smtClean="0">
                                      <a:latin typeface="Cambria Math"/>
                                    </a:rPr>
                                    <m:t>𝑖</m:t>
                                  </m:r>
                                </m:sub>
                              </m:sSub>
                              <m:r>
                                <a:rPr lang="en-US" altLang="zh-TW" sz="2000" smtClean="0">
                                  <a:latin typeface="Cambria Math"/>
                                </a:rPr>
                                <m:t>=</m:t>
                              </m:r>
                              <m:sSub>
                                <m:sSubPr>
                                  <m:ctrlPr>
                                    <a:rPr lang="en-US" altLang="zh-TW" sz="2000" i="1" smtClean="0">
                                      <a:latin typeface="Cambria Math"/>
                                    </a:rPr>
                                  </m:ctrlPr>
                                </m:sSubPr>
                                <m:e>
                                  <m:r>
                                    <a:rPr lang="en-US" altLang="zh-TW" sz="2000" smtClean="0">
                                      <a:latin typeface="Cambria Math"/>
                                    </a:rPr>
                                    <m:t>𝐵</m:t>
                                  </m:r>
                                </m:e>
                                <m:sub>
                                  <m:r>
                                    <a:rPr lang="en-US" altLang="zh-TW" sz="2000" smtClean="0">
                                      <a:latin typeface="Cambria Math"/>
                                    </a:rPr>
                                    <m:t>𝑗</m:t>
                                  </m:r>
                                </m:sub>
                              </m:sSub>
                            </m:e>
                            <m:e>
                              <m:r>
                                <a:rPr lang="en-US" altLang="zh-TW" sz="2000" b="0" i="0" smtClean="0">
                                  <a:latin typeface="Cambria Math"/>
                                </a:rPr>
                                <m:t>&amp;</m:t>
                              </m:r>
                              <m:r>
                                <a:rPr lang="en-US" altLang="zh-TW" sz="2000">
                                  <a:latin typeface="Cambria Math"/>
                                </a:rPr>
                                <m:t>𝑁</m:t>
                              </m:r>
                              <m:d>
                                <m:dPr>
                                  <m:ctrlPr>
                                    <a:rPr lang="en-US" altLang="zh-TW" sz="2000" i="1">
                                      <a:latin typeface="Cambria Math"/>
                                    </a:rPr>
                                  </m:ctrlPr>
                                </m:dPr>
                                <m:e>
                                  <m:r>
                                    <a:rPr lang="en-US" altLang="zh-TW" sz="2000">
                                      <a:latin typeface="Cambria Math"/>
                                    </a:rPr>
                                    <m:t>𝑖</m:t>
                                  </m:r>
                                  <m:r>
                                    <a:rPr lang="en-US" altLang="zh-TW" sz="2000" smtClean="0">
                                      <a:latin typeface="Cambria Math"/>
                                    </a:rPr>
                                    <m:t>−1</m:t>
                                  </m:r>
                                  <m:r>
                                    <a:rPr lang="en-US" altLang="zh-TW" sz="2000">
                                      <a:latin typeface="Cambria Math"/>
                                    </a:rPr>
                                    <m:t>,</m:t>
                                  </m:r>
                                  <m:r>
                                    <a:rPr lang="en-US" altLang="zh-TW" sz="2000">
                                      <a:latin typeface="Cambria Math"/>
                                    </a:rPr>
                                    <m:t>𝑗</m:t>
                                  </m:r>
                                </m:e>
                              </m:d>
                              <m:r>
                                <a:rPr lang="en-US" altLang="zh-TW" sz="2000" smtClean="0">
                                  <a:latin typeface="Cambria Math"/>
                                </a:rPr>
                                <m:t>+</m:t>
                              </m:r>
                              <m:r>
                                <a:rPr lang="en-US" altLang="zh-TW" sz="2000">
                                  <a:latin typeface="Cambria Math"/>
                                </a:rPr>
                                <m:t>𝑁</m:t>
                              </m:r>
                              <m:d>
                                <m:dPr>
                                  <m:ctrlPr>
                                    <a:rPr lang="en-US" altLang="zh-TW" sz="2000" i="1">
                                      <a:latin typeface="Cambria Math"/>
                                    </a:rPr>
                                  </m:ctrlPr>
                                </m:dPr>
                                <m:e>
                                  <m:r>
                                    <a:rPr lang="en-US" altLang="zh-TW" sz="2000">
                                      <a:latin typeface="Cambria Math"/>
                                    </a:rPr>
                                    <m:t>𝑖</m:t>
                                  </m:r>
                                  <m:r>
                                    <a:rPr lang="en-US" altLang="zh-TW" sz="2000">
                                      <a:latin typeface="Cambria Math"/>
                                    </a:rPr>
                                    <m:t>,</m:t>
                                  </m:r>
                                  <m:r>
                                    <a:rPr lang="en-US" altLang="zh-TW" sz="2000">
                                      <a:latin typeface="Cambria Math"/>
                                    </a:rPr>
                                    <m:t>𝑗</m:t>
                                  </m:r>
                                  <m:r>
                                    <a:rPr lang="en-US" altLang="zh-TW" sz="2000" smtClean="0">
                                      <a:latin typeface="Cambria Math"/>
                                    </a:rPr>
                                    <m:t>−1</m:t>
                                  </m:r>
                                </m:e>
                              </m:d>
                              <m:r>
                                <a:rPr lang="en-US" altLang="zh-TW" sz="2000" smtClean="0">
                                  <a:latin typeface="Cambria Math"/>
                                </a:rPr>
                                <m:t>−</m:t>
                              </m:r>
                              <m:r>
                                <a:rPr lang="en-US" altLang="zh-TW" sz="2000">
                                  <a:latin typeface="Cambria Math"/>
                                </a:rPr>
                                <m:t>𝑁</m:t>
                              </m:r>
                              <m:d>
                                <m:dPr>
                                  <m:ctrlPr>
                                    <a:rPr lang="en-US" altLang="zh-TW" sz="2000" i="1">
                                      <a:latin typeface="Cambria Math"/>
                                    </a:rPr>
                                  </m:ctrlPr>
                                </m:dPr>
                                <m:e>
                                  <m:r>
                                    <a:rPr lang="en-US" altLang="zh-TW" sz="2000">
                                      <a:latin typeface="Cambria Math"/>
                                    </a:rPr>
                                    <m:t>𝑖</m:t>
                                  </m:r>
                                  <m:r>
                                    <a:rPr lang="en-US" altLang="zh-TW" sz="2000" smtClean="0">
                                      <a:latin typeface="Cambria Math"/>
                                    </a:rPr>
                                    <m:t>−1</m:t>
                                  </m:r>
                                  <m:r>
                                    <a:rPr lang="en-US" altLang="zh-TW" sz="2000">
                                      <a:latin typeface="Cambria Math"/>
                                    </a:rPr>
                                    <m:t>,</m:t>
                                  </m:r>
                                  <m:r>
                                    <a:rPr lang="en-US" altLang="zh-TW" sz="2000">
                                      <a:latin typeface="Cambria Math"/>
                                    </a:rPr>
                                    <m:t>𝑗</m:t>
                                  </m:r>
                                  <m:r>
                                    <a:rPr lang="en-US" altLang="zh-TW" sz="2000" smtClean="0">
                                      <a:latin typeface="Cambria Math"/>
                                    </a:rPr>
                                    <m:t>−1</m:t>
                                  </m:r>
                                </m:e>
                              </m:d>
                              <m:r>
                                <a:rPr lang="en-US" altLang="zh-TW" sz="2000" b="0" i="1" smtClean="0">
                                  <a:latin typeface="Cambria Math"/>
                                </a:rPr>
                                <m:t>,</m:t>
                              </m:r>
                              <m:r>
                                <a:rPr lang="en-US" altLang="zh-TW" sz="2000" b="0" i="0" smtClean="0">
                                  <a:latin typeface="Cambria Math"/>
                                </a:rPr>
                                <m:t>&amp;</m:t>
                              </m:r>
                              <m:r>
                                <a:rPr lang="en-US" altLang="zh-TW" sz="2000" smtClean="0">
                                  <a:latin typeface="Cambria Math"/>
                                </a:rPr>
                                <m:t>𝑖𝑓</m:t>
                              </m:r>
                              <m:r>
                                <a:rPr lang="en-US" altLang="zh-TW" sz="2000" smtClean="0">
                                  <a:latin typeface="Cambria Math"/>
                                </a:rPr>
                                <m:t> </m:t>
                              </m:r>
                              <m:sSub>
                                <m:sSubPr>
                                  <m:ctrlPr>
                                    <a:rPr lang="en-US" altLang="zh-TW" sz="2000" i="1" smtClean="0">
                                      <a:latin typeface="Cambria Math"/>
                                    </a:rPr>
                                  </m:ctrlPr>
                                </m:sSubPr>
                                <m:e>
                                  <m:r>
                                    <a:rPr lang="en-US" altLang="zh-TW" sz="2000" smtClean="0">
                                      <a:latin typeface="Cambria Math"/>
                                    </a:rPr>
                                    <m:t>𝐴</m:t>
                                  </m:r>
                                </m:e>
                                <m:sub>
                                  <m:r>
                                    <a:rPr lang="en-US" altLang="zh-TW" sz="2000" smtClean="0">
                                      <a:latin typeface="Cambria Math"/>
                                    </a:rPr>
                                    <m:t>𝑖</m:t>
                                  </m:r>
                                </m:sub>
                              </m:sSub>
                              <m:r>
                                <a:rPr lang="en-US" altLang="zh-TW" sz="2000" smtClean="0">
                                  <a:latin typeface="Cambria Math"/>
                                </a:rPr>
                                <m:t>≠</m:t>
                              </m:r>
                              <m:sSub>
                                <m:sSubPr>
                                  <m:ctrlPr>
                                    <a:rPr lang="en-US" altLang="zh-TW" sz="2000" i="1" smtClean="0">
                                      <a:latin typeface="Cambria Math"/>
                                    </a:rPr>
                                  </m:ctrlPr>
                                </m:sSubPr>
                                <m:e>
                                  <m:r>
                                    <a:rPr lang="en-US" altLang="zh-TW" sz="2000" smtClean="0">
                                      <a:latin typeface="Cambria Math"/>
                                    </a:rPr>
                                    <m:t>𝐵</m:t>
                                  </m:r>
                                </m:e>
                                <m:sub>
                                  <m:r>
                                    <a:rPr lang="en-US" altLang="zh-TW" sz="2000" smtClean="0">
                                      <a:latin typeface="Cambria Math"/>
                                    </a:rPr>
                                    <m:t>𝑗</m:t>
                                  </m:r>
                                </m:sub>
                              </m:sSub>
                            </m:e>
                          </m:eqArr>
                        </m:e>
                      </m:d>
                    </m:oMath>
                  </m:oMathPara>
                </a14:m>
                <a:endParaRPr lang="en-US" altLang="zh-TW" sz="2000" dirty="0" smtClean="0"/>
              </a:p>
              <a:p>
                <a:pPr>
                  <a:lnSpc>
                    <a:spcPct val="150000"/>
                  </a:lnSpc>
                </a:pPr>
                <a14:m>
                  <m:oMath xmlns:m="http://schemas.openxmlformats.org/officeDocument/2006/math">
                    <m:sSub>
                      <m:sSubPr>
                        <m:ctrlPr>
                          <a:rPr lang="en-US" altLang="zh-TW" sz="2000" i="1">
                            <a:latin typeface="Cambria Math"/>
                          </a:rPr>
                        </m:ctrlPr>
                      </m:sSubPr>
                      <m:e>
                        <m:r>
                          <a:rPr lang="en-US" altLang="zh-TW" sz="2000">
                            <a:latin typeface="Cambria Math"/>
                          </a:rPr>
                          <m:t>𝐴</m:t>
                        </m:r>
                      </m:e>
                      <m:sub>
                        <m:r>
                          <a:rPr lang="en-US" altLang="zh-TW" sz="2000">
                            <a:latin typeface="Cambria Math"/>
                          </a:rPr>
                          <m:t>𝑖</m:t>
                        </m:r>
                      </m:sub>
                    </m:sSub>
                    <m:r>
                      <a:rPr lang="en-US" altLang="zh-TW" sz="2000">
                        <a:latin typeface="Cambria Math"/>
                      </a:rPr>
                      <m:t>=</m:t>
                    </m:r>
                    <m:sSub>
                      <m:sSubPr>
                        <m:ctrlPr>
                          <a:rPr lang="en-US" altLang="zh-TW" sz="2000" i="1">
                            <a:latin typeface="Cambria Math"/>
                          </a:rPr>
                        </m:ctrlPr>
                      </m:sSubPr>
                      <m:e>
                        <m:r>
                          <a:rPr lang="en-US" altLang="zh-TW" sz="2000">
                            <a:latin typeface="Cambria Math"/>
                          </a:rPr>
                          <m:t>𝐵</m:t>
                        </m:r>
                      </m:e>
                      <m:sub>
                        <m:r>
                          <a:rPr lang="en-US" altLang="zh-TW" sz="2000">
                            <a:latin typeface="Cambria Math"/>
                          </a:rPr>
                          <m:t>𝑗</m:t>
                        </m:r>
                      </m:sub>
                    </m:sSub>
                  </m:oMath>
                </a14:m>
                <a:endParaRPr lang="en-US" altLang="zh-TW" sz="2000" dirty="0" smtClean="0"/>
              </a:p>
              <a:p>
                <a:pPr lvl="1">
                  <a:lnSpc>
                    <a:spcPct val="150000"/>
                  </a:lnSpc>
                </a:pPr>
                <a14:m>
                  <m:oMath xmlns:m="http://schemas.openxmlformats.org/officeDocument/2006/math">
                    <m:r>
                      <a:rPr lang="en-US" altLang="zh-TW" sz="1600" b="0" i="1" smtClean="0">
                        <a:latin typeface="Cambria Math"/>
                      </a:rPr>
                      <m:t>𝑆</m:t>
                    </m:r>
                    <m:d>
                      <m:dPr>
                        <m:ctrlPr>
                          <a:rPr lang="en-US" altLang="zh-TW" sz="1600" b="0" i="1" smtClean="0">
                            <a:latin typeface="Cambria Math"/>
                          </a:rPr>
                        </m:ctrlPr>
                      </m:dPr>
                      <m:e>
                        <m:r>
                          <a:rPr lang="en-US" altLang="zh-TW" sz="1600" b="0" i="1" smtClean="0">
                            <a:latin typeface="Cambria Math"/>
                          </a:rPr>
                          <m:t>𝑖</m:t>
                        </m:r>
                        <m:r>
                          <a:rPr lang="en-US" altLang="zh-TW" sz="1600" b="0" i="1" smtClean="0">
                            <a:latin typeface="Cambria Math"/>
                          </a:rPr>
                          <m:t>,</m:t>
                        </m:r>
                        <m:r>
                          <a:rPr lang="en-US" altLang="zh-TW" sz="1600" b="0" i="1" smtClean="0">
                            <a:latin typeface="Cambria Math"/>
                          </a:rPr>
                          <m:t>𝑗</m:t>
                        </m:r>
                      </m:e>
                    </m:d>
                    <m:r>
                      <a:rPr lang="en-US" altLang="zh-TW" sz="1600" b="0" i="1" smtClean="0">
                        <a:latin typeface="Cambria Math"/>
                      </a:rPr>
                      <m:t>=</m:t>
                    </m:r>
                    <m:r>
                      <a:rPr lang="en-US" altLang="zh-TW" sz="1600" b="0" i="1" smtClean="0">
                        <a:latin typeface="Cambria Math"/>
                      </a:rPr>
                      <m:t>𝑆</m:t>
                    </m:r>
                    <m:d>
                      <m:dPr>
                        <m:ctrlPr>
                          <a:rPr lang="en-US" altLang="zh-TW" sz="1600" b="0" i="1" smtClean="0">
                            <a:latin typeface="Cambria Math"/>
                          </a:rPr>
                        </m:ctrlPr>
                      </m:dPr>
                      <m:e>
                        <m:r>
                          <a:rPr lang="en-US" altLang="zh-TW" sz="1600" b="0" i="1" smtClean="0">
                            <a:latin typeface="Cambria Math"/>
                          </a:rPr>
                          <m:t>𝑖</m:t>
                        </m:r>
                        <m:r>
                          <a:rPr lang="en-US" altLang="zh-TW" sz="1600" b="0" i="1" smtClean="0">
                            <a:latin typeface="Cambria Math"/>
                          </a:rPr>
                          <m:t>−1,</m:t>
                        </m:r>
                        <m:r>
                          <a:rPr lang="en-US" altLang="zh-TW" sz="1600" b="0" i="1" smtClean="0">
                            <a:latin typeface="Cambria Math"/>
                          </a:rPr>
                          <m:t>𝑗</m:t>
                        </m:r>
                        <m:r>
                          <a:rPr lang="en-US" altLang="zh-TW" sz="1600" b="0" i="1" smtClean="0">
                            <a:latin typeface="Cambria Math"/>
                          </a:rPr>
                          <m:t>−1</m:t>
                        </m:r>
                      </m:e>
                    </m:d>
                    <m:r>
                      <a:rPr lang="en-US" altLang="zh-TW" sz="1600" b="0" i="1" smtClean="0">
                        <a:latin typeface="Cambria Math"/>
                        <a:ea typeface="Cambria Math"/>
                      </a:rPr>
                      <m:t>∪</m:t>
                    </m:r>
                    <m:r>
                      <a:rPr lang="en-US" altLang="zh-TW" sz="1600" b="0" i="1" smtClean="0">
                        <a:latin typeface="Cambria Math"/>
                        <a:ea typeface="Cambria Math"/>
                      </a:rPr>
                      <m:t>𝑆</m:t>
                    </m:r>
                    <m:d>
                      <m:dPr>
                        <m:ctrlPr>
                          <a:rPr lang="en-US" altLang="zh-TW" sz="1600" b="0" i="1" smtClean="0">
                            <a:latin typeface="Cambria Math"/>
                            <a:ea typeface="Cambria Math"/>
                          </a:rPr>
                        </m:ctrlPr>
                      </m:dPr>
                      <m:e>
                        <m:r>
                          <a:rPr lang="en-US" altLang="zh-TW" sz="1600" b="0" i="1" smtClean="0">
                            <a:latin typeface="Cambria Math"/>
                            <a:ea typeface="Cambria Math"/>
                          </a:rPr>
                          <m:t>𝑖</m:t>
                        </m:r>
                        <m:r>
                          <a:rPr lang="en-US" altLang="zh-TW" sz="1600" b="0" i="1" smtClean="0">
                            <a:latin typeface="Cambria Math"/>
                            <a:ea typeface="Cambria Math"/>
                          </a:rPr>
                          <m:t>−1,</m:t>
                        </m:r>
                        <m:r>
                          <a:rPr lang="en-US" altLang="zh-TW" sz="1600" b="0" i="1" smtClean="0">
                            <a:latin typeface="Cambria Math"/>
                            <a:ea typeface="Cambria Math"/>
                          </a:rPr>
                          <m:t>𝑗</m:t>
                        </m:r>
                        <m:r>
                          <a:rPr lang="en-US" altLang="zh-TW" sz="1600" b="0" i="1" smtClean="0">
                            <a:latin typeface="Cambria Math"/>
                            <a:ea typeface="Cambria Math"/>
                          </a:rPr>
                          <m:t>−1</m:t>
                        </m:r>
                      </m:e>
                    </m:d>
                    <m:sSub>
                      <m:sSubPr>
                        <m:ctrlPr>
                          <a:rPr lang="en-US" altLang="zh-TW" sz="1600" b="0" i="1" smtClean="0">
                            <a:latin typeface="Cambria Math"/>
                            <a:ea typeface="Cambria Math"/>
                          </a:rPr>
                        </m:ctrlPr>
                      </m:sSubPr>
                      <m:e>
                        <m:r>
                          <a:rPr lang="en-US" altLang="zh-TW" sz="1600" b="0" i="1" smtClean="0">
                            <a:latin typeface="Cambria Math"/>
                            <a:ea typeface="Cambria Math"/>
                          </a:rPr>
                          <m:t>𝐴</m:t>
                        </m:r>
                      </m:e>
                      <m:sub>
                        <m:r>
                          <a:rPr lang="en-US" altLang="zh-TW" sz="1600" b="0" i="1" smtClean="0">
                            <a:latin typeface="Cambria Math"/>
                            <a:ea typeface="Cambria Math"/>
                          </a:rPr>
                          <m:t>𝑖</m:t>
                        </m:r>
                      </m:sub>
                    </m:sSub>
                  </m:oMath>
                </a14:m>
                <a:endParaRPr lang="en-US" altLang="zh-TW" sz="1600" dirty="0" smtClean="0"/>
              </a:p>
              <a:p>
                <a:pPr>
                  <a:lnSpc>
                    <a:spcPct val="150000"/>
                  </a:lnSpc>
                </a:pPr>
                <a14:m>
                  <m:oMath xmlns:m="http://schemas.openxmlformats.org/officeDocument/2006/math">
                    <m:sSub>
                      <m:sSubPr>
                        <m:ctrlPr>
                          <a:rPr lang="en-US" altLang="zh-TW" sz="2000" i="1">
                            <a:latin typeface="Cambria Math"/>
                          </a:rPr>
                        </m:ctrlPr>
                      </m:sSubPr>
                      <m:e>
                        <m:r>
                          <a:rPr lang="en-US" altLang="zh-TW" sz="2000">
                            <a:latin typeface="Cambria Math"/>
                          </a:rPr>
                          <m:t>𝐴</m:t>
                        </m:r>
                      </m:e>
                      <m:sub>
                        <m:r>
                          <a:rPr lang="en-US" altLang="zh-TW" sz="2000">
                            <a:latin typeface="Cambria Math"/>
                          </a:rPr>
                          <m:t>𝑖</m:t>
                        </m:r>
                      </m:sub>
                    </m:sSub>
                    <m:r>
                      <a:rPr lang="en-US" altLang="zh-TW" sz="2000">
                        <a:latin typeface="Cambria Math"/>
                      </a:rPr>
                      <m:t>≠</m:t>
                    </m:r>
                    <m:sSub>
                      <m:sSubPr>
                        <m:ctrlPr>
                          <a:rPr lang="en-US" altLang="zh-TW" sz="2000" i="1">
                            <a:latin typeface="Cambria Math"/>
                          </a:rPr>
                        </m:ctrlPr>
                      </m:sSubPr>
                      <m:e>
                        <m:r>
                          <a:rPr lang="en-US" altLang="zh-TW" sz="2000">
                            <a:latin typeface="Cambria Math"/>
                          </a:rPr>
                          <m:t>𝐵</m:t>
                        </m:r>
                      </m:e>
                      <m:sub>
                        <m:r>
                          <a:rPr lang="en-US" altLang="zh-TW" sz="2000">
                            <a:latin typeface="Cambria Math"/>
                          </a:rPr>
                          <m:t>𝑗</m:t>
                        </m:r>
                      </m:sub>
                    </m:sSub>
                  </m:oMath>
                </a14:m>
                <a:endParaRPr lang="en-US" altLang="zh-TW" sz="2000" dirty="0" smtClean="0"/>
              </a:p>
              <a:p>
                <a:pPr lvl="1">
                  <a:lnSpc>
                    <a:spcPct val="150000"/>
                  </a:lnSpc>
                </a:pPr>
                <a14:m>
                  <m:oMath xmlns:m="http://schemas.openxmlformats.org/officeDocument/2006/math">
                    <m:r>
                      <a:rPr lang="en-US" altLang="zh-TW" sz="1600" b="0" i="1" smtClean="0">
                        <a:latin typeface="Cambria Math"/>
                      </a:rPr>
                      <m:t>𝑆</m:t>
                    </m:r>
                    <m:d>
                      <m:dPr>
                        <m:ctrlPr>
                          <a:rPr lang="en-US" altLang="zh-TW" sz="1600" b="0" i="1" smtClean="0">
                            <a:latin typeface="Cambria Math"/>
                          </a:rPr>
                        </m:ctrlPr>
                      </m:dPr>
                      <m:e>
                        <m:r>
                          <a:rPr lang="en-US" altLang="zh-TW" sz="1600" b="0" i="1" smtClean="0">
                            <a:latin typeface="Cambria Math"/>
                          </a:rPr>
                          <m:t>𝑖</m:t>
                        </m:r>
                        <m:r>
                          <a:rPr lang="en-US" altLang="zh-TW" sz="1600" b="0" i="1" smtClean="0">
                            <a:latin typeface="Cambria Math"/>
                          </a:rPr>
                          <m:t>,</m:t>
                        </m:r>
                        <m:r>
                          <a:rPr lang="en-US" altLang="zh-TW" sz="1600" b="0" i="1" smtClean="0">
                            <a:latin typeface="Cambria Math"/>
                          </a:rPr>
                          <m:t>𝑗</m:t>
                        </m:r>
                      </m:e>
                    </m:d>
                    <m:r>
                      <a:rPr lang="en-US" altLang="zh-TW" sz="1600" b="0" i="1" smtClean="0">
                        <a:latin typeface="Cambria Math"/>
                      </a:rPr>
                      <m:t>=</m:t>
                    </m:r>
                    <m:r>
                      <a:rPr lang="en-US" altLang="zh-TW" sz="1600" b="0" i="1" smtClean="0">
                        <a:latin typeface="Cambria Math"/>
                      </a:rPr>
                      <m:t>𝑆</m:t>
                    </m:r>
                    <m:d>
                      <m:dPr>
                        <m:ctrlPr>
                          <a:rPr lang="en-US" altLang="zh-TW" sz="1600" b="0" i="1" smtClean="0">
                            <a:latin typeface="Cambria Math"/>
                          </a:rPr>
                        </m:ctrlPr>
                      </m:dPr>
                      <m:e>
                        <m:r>
                          <a:rPr lang="en-US" altLang="zh-TW" sz="1600" b="0" i="1" smtClean="0">
                            <a:latin typeface="Cambria Math"/>
                          </a:rPr>
                          <m:t>𝑖</m:t>
                        </m:r>
                        <m:r>
                          <a:rPr lang="en-US" altLang="zh-TW" sz="1600" b="0" i="1" smtClean="0">
                            <a:latin typeface="Cambria Math"/>
                          </a:rPr>
                          <m:t>−1,</m:t>
                        </m:r>
                        <m:r>
                          <a:rPr lang="en-US" altLang="zh-TW" sz="1600" b="0" i="1" smtClean="0">
                            <a:latin typeface="Cambria Math"/>
                          </a:rPr>
                          <m:t>𝑗</m:t>
                        </m:r>
                      </m:e>
                    </m:d>
                    <m:r>
                      <a:rPr lang="en-US" altLang="zh-TW" sz="1600" b="0" i="1" smtClean="0">
                        <a:latin typeface="Cambria Math"/>
                        <a:ea typeface="Cambria Math"/>
                      </a:rPr>
                      <m:t>∪</m:t>
                    </m:r>
                    <m:r>
                      <a:rPr lang="en-US" altLang="zh-TW" sz="1600" b="0" i="1" smtClean="0">
                        <a:latin typeface="Cambria Math"/>
                      </a:rPr>
                      <m:t>𝑆</m:t>
                    </m:r>
                    <m:d>
                      <m:dPr>
                        <m:ctrlPr>
                          <a:rPr lang="en-US" altLang="zh-TW" sz="1600" b="0" i="1" smtClean="0">
                            <a:latin typeface="Cambria Math"/>
                          </a:rPr>
                        </m:ctrlPr>
                      </m:dPr>
                      <m:e>
                        <m:r>
                          <a:rPr lang="en-US" altLang="zh-TW" sz="1600" b="0" i="1" smtClean="0">
                            <a:latin typeface="Cambria Math"/>
                          </a:rPr>
                          <m:t>𝑖</m:t>
                        </m:r>
                        <m:r>
                          <a:rPr lang="en-US" altLang="zh-TW" sz="1600" b="0" i="1" smtClean="0">
                            <a:latin typeface="Cambria Math"/>
                          </a:rPr>
                          <m:t>,</m:t>
                        </m:r>
                        <m:r>
                          <a:rPr lang="en-US" altLang="zh-TW" sz="1600" b="0" i="1" smtClean="0">
                            <a:latin typeface="Cambria Math"/>
                          </a:rPr>
                          <m:t>𝑗</m:t>
                        </m:r>
                        <m:r>
                          <a:rPr lang="en-US" altLang="zh-TW" sz="1600" b="0" i="1" smtClean="0">
                            <a:latin typeface="Cambria Math"/>
                          </a:rPr>
                          <m:t>−1</m:t>
                        </m:r>
                      </m:e>
                    </m:d>
                  </m:oMath>
                </a14:m>
                <a:endParaRPr lang="zh-TW" altLang="en-US" sz="1600" dirty="0"/>
              </a:p>
            </p:txBody>
          </p:sp>
        </mc:Choice>
        <mc:Fallback xmlns="">
          <p:sp>
            <p:nvSpPr>
              <p:cNvPr id="7" name="內容版面配置區 6"/>
              <p:cNvSpPr>
                <a:spLocks noGrp="1" noRot="1" noChangeAspect="1" noMove="1" noResize="1" noEditPoints="1" noAdjustHandles="1" noChangeArrowheads="1" noChangeShapeType="1" noTextEdit="1"/>
              </p:cNvSpPr>
              <p:nvPr>
                <p:ph idx="1"/>
              </p:nvPr>
            </p:nvSpPr>
            <p:spPr>
              <a:blipFill rotWithShape="1">
                <a:blip r:embed="rId2"/>
                <a:stretch>
                  <a:fillRect l="-59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6124068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LCS Extended </a:t>
            </a:r>
            <a:r>
              <a:rPr lang="en-US" altLang="zh-TW" sz="1200" dirty="0" smtClean="0"/>
              <a:t>[Vlac03]</a:t>
            </a:r>
            <a:endParaRPr lang="zh-TW" altLang="en-US" sz="1200"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Autofit/>
              </a:bodyPr>
              <a:lstStyle/>
              <a:p>
                <a:pPr marL="0" indent="0">
                  <a:lnSpc>
                    <a:spcPct val="150000"/>
                  </a:lnSpc>
                  <a:buNone/>
                </a:pPr>
                <a:r>
                  <a:rPr lang="en-US" altLang="zh-TW" sz="2000" dirty="0" smtClean="0"/>
                  <a:t>For multidimensional</a:t>
                </a:r>
                <a:r>
                  <a:rPr lang="en-US" altLang="zh-TW" sz="2000" dirty="0"/>
                  <a:t>, real-valued </a:t>
                </a:r>
                <a:r>
                  <a:rPr lang="en-US" altLang="zh-TW" sz="2000" dirty="0" smtClean="0"/>
                  <a:t>sequences A and B:</a:t>
                </a:r>
              </a:p>
              <a:p>
                <a:pPr>
                  <a:lnSpc>
                    <a:spcPct val="150000"/>
                  </a:lnSpc>
                </a:pPr>
                <a14:m>
                  <m:oMath xmlns:m="http://schemas.openxmlformats.org/officeDocument/2006/math">
                    <m:r>
                      <a:rPr lang="en-US" altLang="zh-TW" sz="2000">
                        <a:latin typeface="Cambria Math"/>
                      </a:rPr>
                      <m:t>𝐴</m:t>
                    </m:r>
                    <m:r>
                      <a:rPr lang="en-US" altLang="zh-TW" sz="2000">
                        <a:latin typeface="Cambria Math"/>
                      </a:rPr>
                      <m:t>=</m:t>
                    </m:r>
                    <m:d>
                      <m:dPr>
                        <m:ctrlPr>
                          <a:rPr lang="en-US" altLang="zh-TW" sz="2000" i="1">
                            <a:latin typeface="Cambria Math"/>
                          </a:rPr>
                        </m:ctrlPr>
                      </m:dPr>
                      <m:e>
                        <m:sSub>
                          <m:sSubPr>
                            <m:ctrlPr>
                              <a:rPr lang="en-US" altLang="zh-TW" sz="2000" i="1">
                                <a:latin typeface="Cambria Math"/>
                              </a:rPr>
                            </m:ctrlPr>
                          </m:sSubPr>
                          <m:e>
                            <m:r>
                              <a:rPr lang="en-US" altLang="zh-TW" sz="2000">
                                <a:latin typeface="Cambria Math"/>
                              </a:rPr>
                              <m:t>𝑎</m:t>
                            </m:r>
                          </m:e>
                          <m:sub>
                            <m:r>
                              <a:rPr lang="en-US" altLang="zh-TW" sz="2000">
                                <a:latin typeface="Cambria Math"/>
                              </a:rPr>
                              <m:t>1</m:t>
                            </m:r>
                          </m:sub>
                        </m:sSub>
                        <m:r>
                          <a:rPr lang="en-US" altLang="zh-TW" sz="2000">
                            <a:latin typeface="Cambria Math"/>
                          </a:rPr>
                          <m:t>,</m:t>
                        </m:r>
                        <m:sSub>
                          <m:sSubPr>
                            <m:ctrlPr>
                              <a:rPr lang="en-US" altLang="zh-TW" sz="2000" i="1">
                                <a:latin typeface="Cambria Math"/>
                              </a:rPr>
                            </m:ctrlPr>
                          </m:sSubPr>
                          <m:e>
                            <m:r>
                              <a:rPr lang="en-US" altLang="zh-TW" sz="2000">
                                <a:latin typeface="Cambria Math"/>
                              </a:rPr>
                              <m:t>𝑎</m:t>
                            </m:r>
                          </m:e>
                          <m:sub>
                            <m:r>
                              <a:rPr lang="en-US" altLang="zh-TW" sz="2000">
                                <a:latin typeface="Cambria Math"/>
                              </a:rPr>
                              <m:t>2</m:t>
                            </m:r>
                          </m:sub>
                        </m:sSub>
                        <m:r>
                          <a:rPr lang="en-US" altLang="zh-TW" sz="2000">
                            <a:latin typeface="Cambria Math"/>
                          </a:rPr>
                          <m:t>,…,</m:t>
                        </m:r>
                        <m:sSub>
                          <m:sSubPr>
                            <m:ctrlPr>
                              <a:rPr lang="en-US" altLang="zh-TW" sz="2000" i="1">
                                <a:latin typeface="Cambria Math"/>
                              </a:rPr>
                            </m:ctrlPr>
                          </m:sSubPr>
                          <m:e>
                            <m:r>
                              <a:rPr lang="en-US" altLang="zh-TW" sz="2000">
                                <a:latin typeface="Cambria Math"/>
                              </a:rPr>
                              <m:t>𝑎</m:t>
                            </m:r>
                          </m:e>
                          <m:sub>
                            <m:r>
                              <a:rPr lang="en-US" altLang="zh-TW" sz="2000">
                                <a:latin typeface="Cambria Math"/>
                              </a:rPr>
                              <m:t>𝑛</m:t>
                            </m:r>
                          </m:sub>
                        </m:sSub>
                      </m:e>
                    </m:d>
                    <m:r>
                      <a:rPr lang="en-US" altLang="zh-TW" sz="2000">
                        <a:latin typeface="Cambria Math"/>
                      </a:rPr>
                      <m:t>,</m:t>
                    </m:r>
                    <m:sSub>
                      <m:sSubPr>
                        <m:ctrlPr>
                          <a:rPr lang="en-US" altLang="zh-TW" sz="2000" i="1">
                            <a:latin typeface="Cambria Math"/>
                          </a:rPr>
                        </m:ctrlPr>
                      </m:sSubPr>
                      <m:e>
                        <m:r>
                          <a:rPr lang="en-US" altLang="zh-TW" sz="2000">
                            <a:latin typeface="Cambria Math"/>
                          </a:rPr>
                          <m:t>𝑎</m:t>
                        </m:r>
                      </m:e>
                      <m:sub>
                        <m:r>
                          <a:rPr lang="en-US" altLang="zh-TW" sz="2000">
                            <a:latin typeface="Cambria Math"/>
                          </a:rPr>
                          <m:t>𝑖</m:t>
                        </m:r>
                      </m:sub>
                    </m:sSub>
                    <m:r>
                      <a:rPr lang="en-US" altLang="zh-TW" sz="2000">
                        <a:latin typeface="Cambria Math"/>
                      </a:rPr>
                      <m:t>=</m:t>
                    </m:r>
                    <m:d>
                      <m:dPr>
                        <m:ctrlPr>
                          <a:rPr lang="en-US" altLang="zh-TW" sz="2000" i="1">
                            <a:latin typeface="Cambria Math"/>
                          </a:rPr>
                        </m:ctrlPr>
                      </m:dPr>
                      <m:e>
                        <m:sSub>
                          <m:sSubPr>
                            <m:ctrlPr>
                              <a:rPr lang="en-US" altLang="zh-TW" sz="2000" i="1">
                                <a:latin typeface="Cambria Math"/>
                              </a:rPr>
                            </m:ctrlPr>
                          </m:sSubPr>
                          <m:e>
                            <m:r>
                              <a:rPr lang="en-US" altLang="zh-TW" sz="2000">
                                <a:latin typeface="Cambria Math"/>
                              </a:rPr>
                              <m:t>𝑎</m:t>
                            </m:r>
                          </m:e>
                          <m:sub>
                            <m:r>
                              <a:rPr lang="en-US" altLang="zh-TW" sz="2000">
                                <a:latin typeface="Cambria Math"/>
                              </a:rPr>
                              <m:t>𝑖</m:t>
                            </m:r>
                            <m:r>
                              <a:rPr lang="en-US" altLang="zh-TW" sz="2000">
                                <a:latin typeface="Cambria Math"/>
                              </a:rPr>
                              <m:t>,1</m:t>
                            </m:r>
                          </m:sub>
                        </m:sSub>
                        <m:r>
                          <a:rPr lang="en-US" altLang="zh-TW" sz="2000">
                            <a:latin typeface="Cambria Math"/>
                          </a:rPr>
                          <m:t>,</m:t>
                        </m:r>
                        <m:sSub>
                          <m:sSubPr>
                            <m:ctrlPr>
                              <a:rPr lang="en-US" altLang="zh-TW" sz="2000" i="1">
                                <a:latin typeface="Cambria Math"/>
                              </a:rPr>
                            </m:ctrlPr>
                          </m:sSubPr>
                          <m:e>
                            <m:r>
                              <a:rPr lang="en-US" altLang="zh-TW" sz="2000">
                                <a:latin typeface="Cambria Math"/>
                              </a:rPr>
                              <m:t>𝑎</m:t>
                            </m:r>
                          </m:e>
                          <m:sub>
                            <m:r>
                              <a:rPr lang="en-US" altLang="zh-TW" sz="2000">
                                <a:latin typeface="Cambria Math"/>
                              </a:rPr>
                              <m:t>𝑖</m:t>
                            </m:r>
                            <m:r>
                              <a:rPr lang="en-US" altLang="zh-TW" sz="2000">
                                <a:latin typeface="Cambria Math"/>
                              </a:rPr>
                              <m:t>,2</m:t>
                            </m:r>
                          </m:sub>
                        </m:sSub>
                        <m:r>
                          <a:rPr lang="en-US" altLang="zh-TW" sz="2000">
                            <a:latin typeface="Cambria Math"/>
                          </a:rPr>
                          <m:t>,…,</m:t>
                        </m:r>
                        <m:sSub>
                          <m:sSubPr>
                            <m:ctrlPr>
                              <a:rPr lang="en-US" altLang="zh-TW" sz="2000" i="1">
                                <a:latin typeface="Cambria Math"/>
                              </a:rPr>
                            </m:ctrlPr>
                          </m:sSubPr>
                          <m:e>
                            <m:r>
                              <a:rPr lang="en-US" altLang="zh-TW" sz="2000">
                                <a:latin typeface="Cambria Math"/>
                              </a:rPr>
                              <m:t>𝑎</m:t>
                            </m:r>
                          </m:e>
                          <m:sub>
                            <m:r>
                              <a:rPr lang="en-US" altLang="zh-TW" sz="2000">
                                <a:latin typeface="Cambria Math"/>
                              </a:rPr>
                              <m:t>𝑑</m:t>
                            </m:r>
                          </m:sub>
                        </m:sSub>
                      </m:e>
                    </m:d>
                    <m:r>
                      <a:rPr lang="en-US" altLang="zh-TW" sz="2000" smtClean="0">
                        <a:latin typeface="Cambria Math"/>
                      </a:rPr>
                      <m:t>,</m:t>
                    </m:r>
                    <m:r>
                      <a:rPr lang="en-US" altLang="zh-TW" sz="2000" smtClean="0">
                        <a:latin typeface="Cambria Math"/>
                      </a:rPr>
                      <m:t>𝐻𝑒𝑎𝑑</m:t>
                    </m:r>
                    <m:d>
                      <m:dPr>
                        <m:ctrlPr>
                          <a:rPr lang="en-US" altLang="zh-TW" sz="2000" i="1" smtClean="0">
                            <a:latin typeface="Cambria Math"/>
                          </a:rPr>
                        </m:ctrlPr>
                      </m:dPr>
                      <m:e>
                        <m:r>
                          <a:rPr lang="en-US" altLang="zh-TW" sz="2000" smtClean="0">
                            <a:latin typeface="Cambria Math"/>
                          </a:rPr>
                          <m:t>𝐴</m:t>
                        </m:r>
                      </m:e>
                    </m:d>
                    <m:r>
                      <a:rPr lang="en-US" altLang="zh-TW" sz="2000">
                        <a:latin typeface="Cambria Math"/>
                      </a:rPr>
                      <m:t>=</m:t>
                    </m:r>
                    <m:d>
                      <m:dPr>
                        <m:ctrlPr>
                          <a:rPr lang="en-US" altLang="zh-TW" sz="2000" i="1">
                            <a:latin typeface="Cambria Math"/>
                          </a:rPr>
                        </m:ctrlPr>
                      </m:dPr>
                      <m:e>
                        <m:sSub>
                          <m:sSubPr>
                            <m:ctrlPr>
                              <a:rPr lang="en-US" altLang="zh-TW" sz="2000" i="1">
                                <a:latin typeface="Cambria Math"/>
                              </a:rPr>
                            </m:ctrlPr>
                          </m:sSubPr>
                          <m:e>
                            <m:r>
                              <a:rPr lang="en-US" altLang="zh-TW" sz="2000">
                                <a:latin typeface="Cambria Math"/>
                              </a:rPr>
                              <m:t>𝑎</m:t>
                            </m:r>
                          </m:e>
                          <m:sub>
                            <m:r>
                              <a:rPr lang="en-US" altLang="zh-TW" sz="2000">
                                <a:latin typeface="Cambria Math"/>
                              </a:rPr>
                              <m:t>1</m:t>
                            </m:r>
                          </m:sub>
                        </m:sSub>
                        <m:r>
                          <a:rPr lang="en-US" altLang="zh-TW" sz="2000">
                            <a:latin typeface="Cambria Math"/>
                          </a:rPr>
                          <m:t>,</m:t>
                        </m:r>
                        <m:sSub>
                          <m:sSubPr>
                            <m:ctrlPr>
                              <a:rPr lang="en-US" altLang="zh-TW" sz="2000" i="1">
                                <a:latin typeface="Cambria Math"/>
                              </a:rPr>
                            </m:ctrlPr>
                          </m:sSubPr>
                          <m:e>
                            <m:r>
                              <a:rPr lang="en-US" altLang="zh-TW" sz="2000">
                                <a:latin typeface="Cambria Math"/>
                              </a:rPr>
                              <m:t>𝑎</m:t>
                            </m:r>
                          </m:e>
                          <m:sub>
                            <m:r>
                              <a:rPr lang="en-US" altLang="zh-TW" sz="2000">
                                <a:latin typeface="Cambria Math"/>
                              </a:rPr>
                              <m:t>2</m:t>
                            </m:r>
                          </m:sub>
                        </m:sSub>
                        <m:r>
                          <a:rPr lang="en-US" altLang="zh-TW" sz="2000">
                            <a:latin typeface="Cambria Math"/>
                          </a:rPr>
                          <m:t>,…,</m:t>
                        </m:r>
                        <m:sSub>
                          <m:sSubPr>
                            <m:ctrlPr>
                              <a:rPr lang="en-US" altLang="zh-TW" sz="2000" i="1">
                                <a:latin typeface="Cambria Math"/>
                              </a:rPr>
                            </m:ctrlPr>
                          </m:sSubPr>
                          <m:e>
                            <m:r>
                              <a:rPr lang="en-US" altLang="zh-TW" sz="2000">
                                <a:latin typeface="Cambria Math"/>
                              </a:rPr>
                              <m:t>𝑎</m:t>
                            </m:r>
                          </m:e>
                          <m:sub>
                            <m:r>
                              <a:rPr lang="en-US" altLang="zh-TW" sz="2000">
                                <a:latin typeface="Cambria Math"/>
                              </a:rPr>
                              <m:t>𝑛</m:t>
                            </m:r>
                            <m:r>
                              <a:rPr lang="en-US" altLang="zh-TW" sz="2000" smtClean="0">
                                <a:latin typeface="Cambria Math"/>
                              </a:rPr>
                              <m:t>−1</m:t>
                            </m:r>
                          </m:sub>
                        </m:sSub>
                      </m:e>
                    </m:d>
                  </m:oMath>
                </a14:m>
                <a:endParaRPr lang="en-US" altLang="zh-TW" sz="2000" dirty="0"/>
              </a:p>
              <a:p>
                <a:pPr>
                  <a:lnSpc>
                    <a:spcPct val="150000"/>
                  </a:lnSpc>
                  <a:spcAft>
                    <a:spcPts val="1800"/>
                  </a:spcAft>
                </a:pPr>
                <a14:m>
                  <m:oMath xmlns:m="http://schemas.openxmlformats.org/officeDocument/2006/math">
                    <m:r>
                      <a:rPr lang="en-US" altLang="zh-TW" sz="2000" smtClean="0">
                        <a:latin typeface="Cambria Math"/>
                      </a:rPr>
                      <m:t>𝐵</m:t>
                    </m:r>
                    <m:r>
                      <a:rPr lang="en-US" altLang="zh-TW" sz="2000">
                        <a:latin typeface="Cambria Math"/>
                      </a:rPr>
                      <m:t>=</m:t>
                    </m:r>
                    <m:d>
                      <m:dPr>
                        <m:ctrlPr>
                          <a:rPr lang="en-US" altLang="zh-TW" sz="2000" i="1">
                            <a:latin typeface="Cambria Math"/>
                          </a:rPr>
                        </m:ctrlPr>
                      </m:dPr>
                      <m:e>
                        <m:sSub>
                          <m:sSubPr>
                            <m:ctrlPr>
                              <a:rPr lang="en-US" altLang="zh-TW" sz="2000" i="1">
                                <a:latin typeface="Cambria Math"/>
                              </a:rPr>
                            </m:ctrlPr>
                          </m:sSubPr>
                          <m:e>
                            <m:r>
                              <a:rPr lang="en-US" altLang="zh-TW" sz="2000" smtClean="0">
                                <a:latin typeface="Cambria Math"/>
                              </a:rPr>
                              <m:t>𝑏</m:t>
                            </m:r>
                          </m:e>
                          <m:sub>
                            <m:r>
                              <a:rPr lang="en-US" altLang="zh-TW" sz="2000">
                                <a:latin typeface="Cambria Math"/>
                              </a:rPr>
                              <m:t>1</m:t>
                            </m:r>
                          </m:sub>
                        </m:sSub>
                        <m:r>
                          <a:rPr lang="en-US" altLang="zh-TW" sz="2000">
                            <a:latin typeface="Cambria Math"/>
                          </a:rPr>
                          <m:t>,</m:t>
                        </m:r>
                        <m:sSub>
                          <m:sSubPr>
                            <m:ctrlPr>
                              <a:rPr lang="en-US" altLang="zh-TW" sz="2000" i="1">
                                <a:latin typeface="Cambria Math"/>
                              </a:rPr>
                            </m:ctrlPr>
                          </m:sSubPr>
                          <m:e>
                            <m:r>
                              <a:rPr lang="en-US" altLang="zh-TW" sz="2000" smtClean="0">
                                <a:latin typeface="Cambria Math"/>
                              </a:rPr>
                              <m:t>𝑏</m:t>
                            </m:r>
                          </m:e>
                          <m:sub>
                            <m:r>
                              <a:rPr lang="en-US" altLang="zh-TW" sz="2000">
                                <a:latin typeface="Cambria Math"/>
                              </a:rPr>
                              <m:t>2</m:t>
                            </m:r>
                          </m:sub>
                        </m:sSub>
                        <m:r>
                          <a:rPr lang="en-US" altLang="zh-TW" sz="2000">
                            <a:latin typeface="Cambria Math"/>
                          </a:rPr>
                          <m:t>,…,</m:t>
                        </m:r>
                        <m:sSub>
                          <m:sSubPr>
                            <m:ctrlPr>
                              <a:rPr lang="en-US" altLang="zh-TW" sz="2000" i="1">
                                <a:latin typeface="Cambria Math"/>
                              </a:rPr>
                            </m:ctrlPr>
                          </m:sSubPr>
                          <m:e>
                            <m:r>
                              <a:rPr lang="en-US" altLang="zh-TW" sz="2000" smtClean="0">
                                <a:latin typeface="Cambria Math"/>
                              </a:rPr>
                              <m:t>𝑏</m:t>
                            </m:r>
                          </m:e>
                          <m:sub>
                            <m:r>
                              <a:rPr lang="en-US" altLang="zh-TW" sz="2000" b="0" i="1" smtClean="0">
                                <a:latin typeface="Cambria Math"/>
                              </a:rPr>
                              <m:t>𝑚</m:t>
                            </m:r>
                          </m:sub>
                        </m:sSub>
                      </m:e>
                    </m:d>
                    <m:r>
                      <a:rPr lang="en-US" altLang="zh-TW" sz="2000">
                        <a:latin typeface="Cambria Math"/>
                      </a:rPr>
                      <m:t>,</m:t>
                    </m:r>
                    <m:sSub>
                      <m:sSubPr>
                        <m:ctrlPr>
                          <a:rPr lang="en-US" altLang="zh-TW" sz="2000" i="1">
                            <a:latin typeface="Cambria Math"/>
                          </a:rPr>
                        </m:ctrlPr>
                      </m:sSubPr>
                      <m:e>
                        <m:r>
                          <a:rPr lang="en-US" altLang="zh-TW" sz="2000" smtClean="0">
                            <a:latin typeface="Cambria Math"/>
                          </a:rPr>
                          <m:t>𝑏</m:t>
                        </m:r>
                      </m:e>
                      <m:sub>
                        <m:r>
                          <a:rPr lang="en-US" altLang="zh-TW" sz="2000">
                            <a:latin typeface="Cambria Math"/>
                          </a:rPr>
                          <m:t>𝑖</m:t>
                        </m:r>
                      </m:sub>
                    </m:sSub>
                    <m:r>
                      <a:rPr lang="en-US" altLang="zh-TW" sz="2000">
                        <a:latin typeface="Cambria Math"/>
                      </a:rPr>
                      <m:t>=</m:t>
                    </m:r>
                    <m:d>
                      <m:dPr>
                        <m:ctrlPr>
                          <a:rPr lang="en-US" altLang="zh-TW" sz="2000" i="1">
                            <a:latin typeface="Cambria Math"/>
                          </a:rPr>
                        </m:ctrlPr>
                      </m:dPr>
                      <m:e>
                        <m:sSub>
                          <m:sSubPr>
                            <m:ctrlPr>
                              <a:rPr lang="en-US" altLang="zh-TW" sz="2000" i="1">
                                <a:latin typeface="Cambria Math"/>
                              </a:rPr>
                            </m:ctrlPr>
                          </m:sSubPr>
                          <m:e>
                            <m:r>
                              <a:rPr lang="en-US" altLang="zh-TW" sz="2000" smtClean="0">
                                <a:latin typeface="Cambria Math"/>
                              </a:rPr>
                              <m:t>𝑏</m:t>
                            </m:r>
                          </m:e>
                          <m:sub>
                            <m:r>
                              <a:rPr lang="en-US" altLang="zh-TW" sz="2000">
                                <a:latin typeface="Cambria Math"/>
                              </a:rPr>
                              <m:t>𝑖</m:t>
                            </m:r>
                            <m:r>
                              <a:rPr lang="en-US" altLang="zh-TW" sz="2000">
                                <a:latin typeface="Cambria Math"/>
                              </a:rPr>
                              <m:t>,1</m:t>
                            </m:r>
                          </m:sub>
                        </m:sSub>
                        <m:r>
                          <a:rPr lang="en-US" altLang="zh-TW" sz="2000">
                            <a:latin typeface="Cambria Math"/>
                          </a:rPr>
                          <m:t>,</m:t>
                        </m:r>
                        <m:sSub>
                          <m:sSubPr>
                            <m:ctrlPr>
                              <a:rPr lang="en-US" altLang="zh-TW" sz="2000" i="1">
                                <a:latin typeface="Cambria Math"/>
                              </a:rPr>
                            </m:ctrlPr>
                          </m:sSubPr>
                          <m:e>
                            <m:r>
                              <a:rPr lang="en-US" altLang="zh-TW" sz="2000" smtClean="0">
                                <a:latin typeface="Cambria Math"/>
                              </a:rPr>
                              <m:t>𝑏</m:t>
                            </m:r>
                          </m:e>
                          <m:sub>
                            <m:r>
                              <a:rPr lang="en-US" altLang="zh-TW" sz="2000">
                                <a:latin typeface="Cambria Math"/>
                              </a:rPr>
                              <m:t>𝑖</m:t>
                            </m:r>
                            <m:r>
                              <a:rPr lang="en-US" altLang="zh-TW" sz="2000">
                                <a:latin typeface="Cambria Math"/>
                              </a:rPr>
                              <m:t>,2</m:t>
                            </m:r>
                          </m:sub>
                        </m:sSub>
                        <m:r>
                          <a:rPr lang="en-US" altLang="zh-TW" sz="2000">
                            <a:latin typeface="Cambria Math"/>
                          </a:rPr>
                          <m:t>,…,</m:t>
                        </m:r>
                        <m:sSub>
                          <m:sSubPr>
                            <m:ctrlPr>
                              <a:rPr lang="en-US" altLang="zh-TW" sz="2000" i="1">
                                <a:latin typeface="Cambria Math"/>
                              </a:rPr>
                            </m:ctrlPr>
                          </m:sSubPr>
                          <m:e>
                            <m:r>
                              <a:rPr lang="en-US" altLang="zh-TW" sz="2000" smtClean="0">
                                <a:latin typeface="Cambria Math"/>
                              </a:rPr>
                              <m:t>𝑏</m:t>
                            </m:r>
                          </m:e>
                          <m:sub>
                            <m:r>
                              <a:rPr lang="en-US" altLang="zh-TW" sz="2000">
                                <a:latin typeface="Cambria Math"/>
                              </a:rPr>
                              <m:t>𝑑</m:t>
                            </m:r>
                          </m:sub>
                        </m:sSub>
                      </m:e>
                    </m:d>
                    <m:r>
                      <a:rPr lang="en-US" altLang="zh-TW" sz="2000" smtClean="0">
                        <a:latin typeface="Cambria Math"/>
                      </a:rPr>
                      <m:t>,</m:t>
                    </m:r>
                    <m:r>
                      <a:rPr lang="en-US" altLang="zh-TW" sz="2000" smtClean="0">
                        <a:latin typeface="Cambria Math"/>
                      </a:rPr>
                      <m:t>𝐻𝑒𝑎𝑑</m:t>
                    </m:r>
                    <m:d>
                      <m:dPr>
                        <m:ctrlPr>
                          <a:rPr lang="en-US" altLang="zh-TW" sz="2000" i="1" smtClean="0">
                            <a:latin typeface="Cambria Math"/>
                          </a:rPr>
                        </m:ctrlPr>
                      </m:dPr>
                      <m:e>
                        <m:r>
                          <a:rPr lang="en-US" altLang="zh-TW" sz="2000" smtClean="0">
                            <a:latin typeface="Cambria Math"/>
                          </a:rPr>
                          <m:t>𝐵</m:t>
                        </m:r>
                      </m:e>
                    </m:d>
                    <m:r>
                      <a:rPr lang="en-US" altLang="zh-TW" sz="2000">
                        <a:latin typeface="Cambria Math"/>
                      </a:rPr>
                      <m:t>=</m:t>
                    </m:r>
                    <m:d>
                      <m:dPr>
                        <m:ctrlPr>
                          <a:rPr lang="en-US" altLang="zh-TW" sz="2000" i="1">
                            <a:latin typeface="Cambria Math"/>
                          </a:rPr>
                        </m:ctrlPr>
                      </m:dPr>
                      <m:e>
                        <m:sSub>
                          <m:sSubPr>
                            <m:ctrlPr>
                              <a:rPr lang="en-US" altLang="zh-TW" sz="2000" i="1">
                                <a:latin typeface="Cambria Math"/>
                              </a:rPr>
                            </m:ctrlPr>
                          </m:sSubPr>
                          <m:e>
                            <m:r>
                              <a:rPr lang="en-US" altLang="zh-TW" sz="2000">
                                <a:latin typeface="Cambria Math"/>
                              </a:rPr>
                              <m:t>𝑏</m:t>
                            </m:r>
                          </m:e>
                          <m:sub>
                            <m:r>
                              <a:rPr lang="en-US" altLang="zh-TW" sz="2000">
                                <a:latin typeface="Cambria Math"/>
                              </a:rPr>
                              <m:t>1</m:t>
                            </m:r>
                          </m:sub>
                        </m:sSub>
                        <m:r>
                          <a:rPr lang="en-US" altLang="zh-TW" sz="2000">
                            <a:latin typeface="Cambria Math"/>
                          </a:rPr>
                          <m:t>,</m:t>
                        </m:r>
                        <m:sSub>
                          <m:sSubPr>
                            <m:ctrlPr>
                              <a:rPr lang="en-US" altLang="zh-TW" sz="2000" i="1">
                                <a:latin typeface="Cambria Math"/>
                              </a:rPr>
                            </m:ctrlPr>
                          </m:sSubPr>
                          <m:e>
                            <m:r>
                              <a:rPr lang="en-US" altLang="zh-TW" sz="2000">
                                <a:latin typeface="Cambria Math"/>
                              </a:rPr>
                              <m:t>𝑏</m:t>
                            </m:r>
                          </m:e>
                          <m:sub>
                            <m:r>
                              <a:rPr lang="en-US" altLang="zh-TW" sz="2000">
                                <a:latin typeface="Cambria Math"/>
                              </a:rPr>
                              <m:t>2</m:t>
                            </m:r>
                          </m:sub>
                        </m:sSub>
                        <m:r>
                          <a:rPr lang="en-US" altLang="zh-TW" sz="2000">
                            <a:latin typeface="Cambria Math"/>
                          </a:rPr>
                          <m:t>,…,</m:t>
                        </m:r>
                        <m:sSub>
                          <m:sSubPr>
                            <m:ctrlPr>
                              <a:rPr lang="en-US" altLang="zh-TW" sz="2000" i="1">
                                <a:latin typeface="Cambria Math"/>
                              </a:rPr>
                            </m:ctrlPr>
                          </m:sSubPr>
                          <m:e>
                            <m:r>
                              <a:rPr lang="en-US" altLang="zh-TW" sz="2000">
                                <a:latin typeface="Cambria Math"/>
                              </a:rPr>
                              <m:t>𝑏</m:t>
                            </m:r>
                          </m:e>
                          <m:sub>
                            <m:r>
                              <m:rPr>
                                <m:sty m:val="p"/>
                              </m:rPr>
                              <a:rPr lang="en-US" altLang="zh-TW" sz="2000" b="0" i="0" smtClean="0">
                                <a:latin typeface="Cambria Math"/>
                              </a:rPr>
                              <m:t>m</m:t>
                            </m:r>
                            <m:r>
                              <a:rPr lang="en-US" altLang="zh-TW" sz="2000" smtClean="0">
                                <a:latin typeface="Cambria Math"/>
                              </a:rPr>
                              <m:t>−1</m:t>
                            </m:r>
                          </m:sub>
                        </m:sSub>
                      </m:e>
                    </m:d>
                  </m:oMath>
                </a14:m>
                <a:endParaRPr lang="en-US" altLang="zh-TW" sz="2000" dirty="0" smtClean="0"/>
              </a:p>
              <a:p>
                <a:pPr marL="0" indent="0">
                  <a:spcBef>
                    <a:spcPts val="0"/>
                  </a:spcBef>
                  <a:spcAft>
                    <a:spcPts val="1800"/>
                  </a:spcAft>
                  <a:buNone/>
                </a:pPr>
                <a14:m>
                  <m:oMathPara xmlns:m="http://schemas.openxmlformats.org/officeDocument/2006/math">
                    <m:oMathParaPr>
                      <m:jc m:val="centerGroup"/>
                    </m:oMathParaPr>
                    <m:oMath xmlns:m="http://schemas.openxmlformats.org/officeDocument/2006/math">
                      <m:sSub>
                        <m:sSubPr>
                          <m:ctrlPr>
                            <a:rPr lang="en-US" altLang="zh-TW" sz="1600" i="1" smtClean="0">
                              <a:latin typeface="Cambria Math"/>
                            </a:rPr>
                          </m:ctrlPr>
                        </m:sSubPr>
                        <m:e>
                          <m:r>
                            <a:rPr lang="en-US" altLang="zh-TW" sz="1600" smtClean="0">
                              <a:latin typeface="Cambria Math"/>
                            </a:rPr>
                            <m:t>𝑙𝑐𝑠</m:t>
                          </m:r>
                        </m:e>
                        <m:sub>
                          <m:r>
                            <a:rPr lang="zh-TW" altLang="en-US" sz="1600" smtClean="0">
                              <a:latin typeface="Cambria Math"/>
                            </a:rPr>
                            <m:t>𝛿</m:t>
                          </m:r>
                          <m:r>
                            <a:rPr lang="en-US" altLang="zh-TW" sz="1600" smtClean="0">
                              <a:latin typeface="Cambria Math"/>
                            </a:rPr>
                            <m:t>,</m:t>
                          </m:r>
                          <m:r>
                            <a:rPr lang="zh-TW" altLang="en-US" sz="1600" smtClean="0">
                              <a:latin typeface="Cambria Math"/>
                            </a:rPr>
                            <m:t>𝜖</m:t>
                          </m:r>
                        </m:sub>
                      </m:sSub>
                      <m:d>
                        <m:dPr>
                          <m:ctrlPr>
                            <a:rPr lang="en-US" altLang="zh-TW" sz="1600" i="1" smtClean="0">
                              <a:latin typeface="Cambria Math"/>
                            </a:rPr>
                          </m:ctrlPr>
                        </m:dPr>
                        <m:e>
                          <m:r>
                            <a:rPr lang="en-US" altLang="zh-TW" sz="1600" smtClean="0">
                              <a:latin typeface="Cambria Math"/>
                            </a:rPr>
                            <m:t>𝐴</m:t>
                          </m:r>
                          <m:r>
                            <a:rPr lang="en-US" altLang="zh-TW" sz="1600" smtClean="0">
                              <a:latin typeface="Cambria Math"/>
                            </a:rPr>
                            <m:t>,</m:t>
                          </m:r>
                          <m:r>
                            <a:rPr lang="en-US" altLang="zh-TW" sz="1600" smtClean="0">
                              <a:latin typeface="Cambria Math"/>
                            </a:rPr>
                            <m:t>𝐵</m:t>
                          </m:r>
                        </m:e>
                      </m:d>
                      <m:r>
                        <a:rPr lang="en-US" altLang="zh-TW" sz="1600" smtClean="0">
                          <a:latin typeface="Cambria Math"/>
                        </a:rPr>
                        <m:t>=</m:t>
                      </m:r>
                      <m:d>
                        <m:dPr>
                          <m:begChr m:val="{"/>
                          <m:endChr m:val=""/>
                          <m:ctrlPr>
                            <a:rPr lang="en-US" altLang="zh-TW" sz="1600" i="1" smtClean="0">
                              <a:latin typeface="Cambria Math"/>
                            </a:rPr>
                          </m:ctrlPr>
                        </m:dPr>
                        <m:e>
                          <m:eqArr>
                            <m:eqArrPr>
                              <m:ctrlPr>
                                <a:rPr lang="en-US" altLang="zh-TW" sz="1600" b="0" i="1" smtClean="0">
                                  <a:latin typeface="Cambria Math"/>
                                </a:rPr>
                              </m:ctrlPr>
                            </m:eqArrPr>
                            <m:e>
                              <m:r>
                                <a:rPr lang="en-US" altLang="zh-TW" sz="1600" b="0" i="0" smtClean="0">
                                  <a:latin typeface="Cambria Math"/>
                                </a:rPr>
                                <m:t>&amp;</m:t>
                              </m:r>
                              <m:r>
                                <a:rPr lang="en-US" altLang="zh-TW" sz="1600" smtClean="0">
                                  <a:latin typeface="Cambria Math"/>
                                </a:rPr>
                                <m:t>0</m:t>
                              </m:r>
                              <m:r>
                                <a:rPr lang="en-US" altLang="zh-TW" sz="1600" b="0" i="0" smtClean="0">
                                  <a:latin typeface="Cambria Math"/>
                                </a:rPr>
                                <m:t>,&amp;</m:t>
                              </m:r>
                              <m:r>
                                <a:rPr lang="en-US" altLang="zh-TW" sz="1600" smtClean="0">
                                  <a:latin typeface="Cambria Math"/>
                                </a:rPr>
                                <m:t>𝑖𝑓</m:t>
                              </m:r>
                              <m:r>
                                <a:rPr lang="en-US" altLang="zh-TW" sz="1600" smtClean="0">
                                  <a:latin typeface="Cambria Math"/>
                                </a:rPr>
                                <m:t> </m:t>
                              </m:r>
                              <m:r>
                                <a:rPr lang="en-US" altLang="zh-TW" sz="1600" smtClean="0">
                                  <a:latin typeface="Cambria Math"/>
                                </a:rPr>
                                <m:t>𝐴</m:t>
                              </m:r>
                              <m:r>
                                <a:rPr lang="en-US" altLang="zh-TW" sz="1600" smtClean="0">
                                  <a:latin typeface="Cambria Math"/>
                                </a:rPr>
                                <m:t> </m:t>
                              </m:r>
                              <m:r>
                                <a:rPr lang="en-US" altLang="zh-TW" sz="1600" smtClean="0">
                                  <a:latin typeface="Cambria Math"/>
                                </a:rPr>
                                <m:t>𝑜𝑟</m:t>
                              </m:r>
                              <m:r>
                                <a:rPr lang="en-US" altLang="zh-TW" sz="1600" smtClean="0">
                                  <a:latin typeface="Cambria Math"/>
                                </a:rPr>
                                <m:t> </m:t>
                              </m:r>
                              <m:r>
                                <a:rPr lang="en-US" altLang="zh-TW" sz="1600" smtClean="0">
                                  <a:latin typeface="Cambria Math"/>
                                </a:rPr>
                                <m:t>𝐵</m:t>
                              </m:r>
                              <m:r>
                                <a:rPr lang="en-US" altLang="zh-TW" sz="1600" smtClean="0">
                                  <a:latin typeface="Cambria Math"/>
                                </a:rPr>
                                <m:t> </m:t>
                              </m:r>
                              <m:r>
                                <a:rPr lang="en-US" altLang="zh-TW" sz="1600" smtClean="0">
                                  <a:latin typeface="Cambria Math"/>
                                </a:rPr>
                                <m:t>𝑖𝑠</m:t>
                              </m:r>
                              <m:r>
                                <a:rPr lang="en-US" altLang="zh-TW" sz="1600" smtClean="0">
                                  <a:latin typeface="Cambria Math"/>
                                </a:rPr>
                                <m:t> </m:t>
                              </m:r>
                              <m:r>
                                <a:rPr lang="en-US" altLang="zh-TW" sz="1600" smtClean="0">
                                  <a:latin typeface="Cambria Math"/>
                                </a:rPr>
                                <m:t>𝑒𝑚𝑝𝑡𝑦</m:t>
                              </m:r>
                            </m:e>
                            <m:e>
                              <m:r>
                                <a:rPr lang="en-US" altLang="zh-TW" sz="1600" b="0" i="0" smtClean="0">
                                  <a:latin typeface="Cambria Math"/>
                                </a:rPr>
                                <m:t>&amp;</m:t>
                              </m:r>
                              <m:r>
                                <a:rPr lang="en-US" altLang="zh-TW" sz="1600" smtClean="0">
                                  <a:latin typeface="Cambria Math"/>
                                </a:rPr>
                                <m:t>1+</m:t>
                              </m:r>
                              <m:sSub>
                                <m:sSubPr>
                                  <m:ctrlPr>
                                    <a:rPr lang="en-US" altLang="zh-TW" sz="1600" i="1">
                                      <a:latin typeface="Cambria Math"/>
                                    </a:rPr>
                                  </m:ctrlPr>
                                </m:sSubPr>
                                <m:e>
                                  <m:r>
                                    <a:rPr lang="en-US" altLang="zh-TW" sz="1600">
                                      <a:latin typeface="Cambria Math"/>
                                    </a:rPr>
                                    <m:t>𝑙𝑐𝑠</m:t>
                                  </m:r>
                                </m:e>
                                <m:sub>
                                  <m:r>
                                    <a:rPr lang="zh-TW" altLang="en-US" sz="1600">
                                      <a:latin typeface="Cambria Math"/>
                                    </a:rPr>
                                    <m:t>𝛿</m:t>
                                  </m:r>
                                  <m:r>
                                    <a:rPr lang="en-US" altLang="zh-TW" sz="1600">
                                      <a:latin typeface="Cambria Math"/>
                                    </a:rPr>
                                    <m:t>,</m:t>
                                  </m:r>
                                  <m:r>
                                    <a:rPr lang="zh-TW" altLang="en-US" sz="1600">
                                      <a:latin typeface="Cambria Math"/>
                                    </a:rPr>
                                    <m:t>𝜖</m:t>
                                  </m:r>
                                </m:sub>
                              </m:sSub>
                              <m:d>
                                <m:dPr>
                                  <m:ctrlPr>
                                    <a:rPr lang="en-US" altLang="zh-TW" sz="1600" i="1">
                                      <a:latin typeface="Cambria Math"/>
                                    </a:rPr>
                                  </m:ctrlPr>
                                </m:dPr>
                                <m:e>
                                  <m:r>
                                    <a:rPr lang="en-US" altLang="zh-TW" sz="1600" smtClean="0">
                                      <a:latin typeface="Cambria Math"/>
                                    </a:rPr>
                                    <m:t>𝐻𝑒𝑎𝑑</m:t>
                                  </m:r>
                                  <m:d>
                                    <m:dPr>
                                      <m:ctrlPr>
                                        <a:rPr lang="en-US" altLang="zh-TW" sz="1600" i="1" smtClean="0">
                                          <a:latin typeface="Cambria Math"/>
                                        </a:rPr>
                                      </m:ctrlPr>
                                    </m:dPr>
                                    <m:e>
                                      <m:r>
                                        <a:rPr lang="en-US" altLang="zh-TW" sz="1600" smtClean="0">
                                          <a:latin typeface="Cambria Math"/>
                                        </a:rPr>
                                        <m:t>𝐴</m:t>
                                      </m:r>
                                    </m:e>
                                  </m:d>
                                  <m:r>
                                    <a:rPr lang="en-US" altLang="zh-TW" sz="1600">
                                      <a:latin typeface="Cambria Math"/>
                                    </a:rPr>
                                    <m:t>,</m:t>
                                  </m:r>
                                  <m:r>
                                    <a:rPr lang="en-US" altLang="zh-TW" sz="1600" smtClean="0">
                                      <a:latin typeface="Cambria Math"/>
                                    </a:rPr>
                                    <m:t>𝐻𝑒𝑎𝑑</m:t>
                                  </m:r>
                                  <m:d>
                                    <m:dPr>
                                      <m:ctrlPr>
                                        <a:rPr lang="en-US" altLang="zh-TW" sz="1600" i="1" smtClean="0">
                                          <a:latin typeface="Cambria Math"/>
                                        </a:rPr>
                                      </m:ctrlPr>
                                    </m:dPr>
                                    <m:e>
                                      <m:r>
                                        <a:rPr lang="en-US" altLang="zh-TW" sz="1600" smtClean="0">
                                          <a:latin typeface="Cambria Math"/>
                                        </a:rPr>
                                        <m:t>𝐵</m:t>
                                      </m:r>
                                    </m:e>
                                  </m:d>
                                </m:e>
                              </m:d>
                              <m:r>
                                <a:rPr lang="en-US" altLang="zh-TW" sz="1600" b="0" i="1" smtClean="0">
                                  <a:latin typeface="Cambria Math"/>
                                </a:rPr>
                                <m:t>,</m:t>
                              </m:r>
                            </m:e>
                            <m:e>
                              <m:r>
                                <a:rPr lang="en-US" altLang="zh-TW" sz="1600" b="0" i="0" smtClean="0">
                                  <a:latin typeface="Cambria Math"/>
                                </a:rPr>
                                <m:t>&amp;        </m:t>
                              </m:r>
                              <m:r>
                                <a:rPr lang="en-US" altLang="zh-TW" sz="1600" smtClean="0">
                                  <a:latin typeface="Cambria Math"/>
                                </a:rPr>
                                <m:t>𝑖𝑓</m:t>
                              </m:r>
                              <m:r>
                                <a:rPr lang="en-US" altLang="zh-TW" sz="1600" smtClean="0">
                                  <a:latin typeface="Cambria Math"/>
                                </a:rPr>
                                <m:t> </m:t>
                              </m:r>
                              <m:d>
                                <m:dPr>
                                  <m:begChr m:val="|"/>
                                  <m:endChr m:val="|"/>
                                  <m:ctrlPr>
                                    <a:rPr lang="en-US" altLang="zh-TW" sz="1600" i="1" smtClean="0">
                                      <a:latin typeface="Cambria Math"/>
                                    </a:rPr>
                                  </m:ctrlPr>
                                </m:dPr>
                                <m:e>
                                  <m:sSub>
                                    <m:sSubPr>
                                      <m:ctrlPr>
                                        <a:rPr lang="en-US" altLang="zh-TW" sz="1600" i="1" smtClean="0">
                                          <a:latin typeface="Cambria Math"/>
                                        </a:rPr>
                                      </m:ctrlPr>
                                    </m:sSubPr>
                                    <m:e>
                                      <m:r>
                                        <a:rPr lang="en-US" altLang="zh-TW" sz="1600" smtClean="0">
                                          <a:latin typeface="Cambria Math"/>
                                        </a:rPr>
                                        <m:t>𝐴</m:t>
                                      </m:r>
                                    </m:e>
                                    <m:sub>
                                      <m:r>
                                        <a:rPr lang="en-US" altLang="zh-TW" sz="1600" smtClean="0">
                                          <a:latin typeface="Cambria Math"/>
                                        </a:rPr>
                                        <m:t>𝑛</m:t>
                                      </m:r>
                                      <m:r>
                                        <a:rPr lang="en-US" altLang="zh-TW" sz="1600" smtClean="0">
                                          <a:latin typeface="Cambria Math"/>
                                        </a:rPr>
                                        <m:t>,</m:t>
                                      </m:r>
                                      <m:r>
                                        <a:rPr lang="en-US" altLang="zh-TW" sz="1600" smtClean="0">
                                          <a:latin typeface="Cambria Math"/>
                                        </a:rPr>
                                        <m:t>𝑖</m:t>
                                      </m:r>
                                    </m:sub>
                                  </m:sSub>
                                  <m:r>
                                    <a:rPr lang="en-US" altLang="zh-TW" sz="1600" smtClean="0">
                                      <a:latin typeface="Cambria Math"/>
                                    </a:rPr>
                                    <m:t>−</m:t>
                                  </m:r>
                                  <m:sSub>
                                    <m:sSubPr>
                                      <m:ctrlPr>
                                        <a:rPr lang="en-US" altLang="zh-TW" sz="1600" i="1" smtClean="0">
                                          <a:latin typeface="Cambria Math"/>
                                        </a:rPr>
                                      </m:ctrlPr>
                                    </m:sSubPr>
                                    <m:e>
                                      <m:r>
                                        <a:rPr lang="en-US" altLang="zh-TW" sz="1600" smtClean="0">
                                          <a:latin typeface="Cambria Math"/>
                                        </a:rPr>
                                        <m:t>𝐵</m:t>
                                      </m:r>
                                    </m:e>
                                    <m:sub>
                                      <m:r>
                                        <a:rPr lang="en-US" altLang="zh-TW" sz="1600" smtClean="0">
                                          <a:latin typeface="Cambria Math"/>
                                        </a:rPr>
                                        <m:t>𝑚</m:t>
                                      </m:r>
                                      <m:r>
                                        <a:rPr lang="en-US" altLang="zh-TW" sz="1600" smtClean="0">
                                          <a:latin typeface="Cambria Math"/>
                                        </a:rPr>
                                        <m:t>,</m:t>
                                      </m:r>
                                      <m:r>
                                        <a:rPr lang="en-US" altLang="zh-TW" sz="1600" smtClean="0">
                                          <a:latin typeface="Cambria Math"/>
                                        </a:rPr>
                                        <m:t>𝑖</m:t>
                                      </m:r>
                                    </m:sub>
                                  </m:sSub>
                                </m:e>
                              </m:d>
                              <m:r>
                                <a:rPr lang="en-US" altLang="zh-TW" sz="1600" smtClean="0">
                                  <a:latin typeface="Cambria Math"/>
                                </a:rPr>
                                <m:t>&lt;</m:t>
                              </m:r>
                              <m:r>
                                <a:rPr lang="zh-TW" altLang="en-US" sz="1600" smtClean="0">
                                  <a:latin typeface="Cambria Math"/>
                                </a:rPr>
                                <m:t>𝜖</m:t>
                              </m:r>
                              <m:r>
                                <a:rPr lang="en-US" altLang="zh-TW" sz="1600" smtClean="0">
                                  <a:latin typeface="Cambria Math"/>
                                </a:rPr>
                                <m:t> </m:t>
                              </m:r>
                              <m:r>
                                <a:rPr lang="en-US" altLang="zh-TW" sz="1600" smtClean="0">
                                  <a:latin typeface="Cambria Math"/>
                                </a:rPr>
                                <m:t>𝑓𝑜𝑟</m:t>
                              </m:r>
                              <m:r>
                                <a:rPr lang="en-US" altLang="zh-TW" sz="1600" smtClean="0">
                                  <a:latin typeface="Cambria Math"/>
                                </a:rPr>
                                <m:t> 1≤</m:t>
                              </m:r>
                              <m:r>
                                <a:rPr lang="en-US" altLang="zh-TW" sz="1600" smtClean="0">
                                  <a:latin typeface="Cambria Math"/>
                                </a:rPr>
                                <m:t>𝑖</m:t>
                              </m:r>
                              <m:r>
                                <a:rPr lang="en-US" altLang="zh-TW" sz="1600" smtClean="0">
                                  <a:latin typeface="Cambria Math"/>
                                </a:rPr>
                                <m:t>≤</m:t>
                              </m:r>
                              <m:r>
                                <a:rPr lang="en-US" altLang="zh-TW" sz="1600" smtClean="0">
                                  <a:latin typeface="Cambria Math"/>
                                </a:rPr>
                                <m:t>𝑑</m:t>
                              </m:r>
                              <m:r>
                                <a:rPr lang="en-US" altLang="zh-TW" sz="1600" smtClean="0">
                                  <a:latin typeface="Cambria Math"/>
                                </a:rPr>
                                <m:t> </m:t>
                              </m:r>
                              <m:r>
                                <a:rPr lang="en-US" altLang="zh-TW" sz="1600" smtClean="0">
                                  <a:latin typeface="Cambria Math"/>
                                </a:rPr>
                                <m:t>𝑎𝑛𝑑</m:t>
                              </m:r>
                              <m:r>
                                <a:rPr lang="en-US" altLang="zh-TW" sz="1600" smtClean="0">
                                  <a:latin typeface="Cambria Math"/>
                                </a:rPr>
                                <m:t> </m:t>
                              </m:r>
                              <m:d>
                                <m:dPr>
                                  <m:begChr m:val="|"/>
                                  <m:endChr m:val="|"/>
                                  <m:ctrlPr>
                                    <a:rPr lang="en-US" altLang="zh-TW" sz="1600" i="1" smtClean="0">
                                      <a:latin typeface="Cambria Math"/>
                                    </a:rPr>
                                  </m:ctrlPr>
                                </m:dPr>
                                <m:e>
                                  <m:r>
                                    <a:rPr lang="en-US" altLang="zh-TW" sz="1600" smtClean="0">
                                      <a:latin typeface="Cambria Math"/>
                                    </a:rPr>
                                    <m:t>𝑛</m:t>
                                  </m:r>
                                  <m:r>
                                    <a:rPr lang="en-US" altLang="zh-TW" sz="1600" smtClean="0">
                                      <a:latin typeface="Cambria Math"/>
                                    </a:rPr>
                                    <m:t>−</m:t>
                                  </m:r>
                                  <m:r>
                                    <a:rPr lang="en-US" altLang="zh-TW" sz="1600" smtClean="0">
                                      <a:latin typeface="Cambria Math"/>
                                    </a:rPr>
                                    <m:t>𝑚</m:t>
                                  </m:r>
                                </m:e>
                              </m:d>
                              <m:r>
                                <a:rPr lang="en-US" altLang="zh-TW" sz="1600" smtClean="0">
                                  <a:latin typeface="Cambria Math"/>
                                </a:rPr>
                                <m:t>&lt;</m:t>
                              </m:r>
                              <m:r>
                                <a:rPr lang="zh-TW" altLang="en-US" sz="1600" smtClean="0">
                                  <a:latin typeface="Cambria Math"/>
                                </a:rPr>
                                <m:t>𝛿</m:t>
                              </m:r>
                            </m:e>
                            <m:e>
                              <m:r>
                                <a:rPr lang="en-US" altLang="zh-TW" sz="1600" b="0" i="0" smtClean="0">
                                  <a:latin typeface="Cambria Math"/>
                                </a:rPr>
                                <m:t>&amp;</m:t>
                              </m:r>
                              <m:func>
                                <m:funcPr>
                                  <m:ctrlPr>
                                    <a:rPr lang="en-US" altLang="zh-TW" sz="1600" i="1" smtClean="0">
                                      <a:latin typeface="Cambria Math"/>
                                    </a:rPr>
                                  </m:ctrlPr>
                                </m:funcPr>
                                <m:fName>
                                  <m:r>
                                    <m:rPr>
                                      <m:sty m:val="p"/>
                                    </m:rPr>
                                    <a:rPr lang="en-US" altLang="zh-TW" sz="1600" smtClean="0">
                                      <a:latin typeface="Cambria Math"/>
                                    </a:rPr>
                                    <m:t>max</m:t>
                                  </m:r>
                                </m:fName>
                                <m:e>
                                  <m:d>
                                    <m:dPr>
                                      <m:ctrlPr>
                                        <a:rPr lang="en-US" altLang="zh-TW" sz="1600" i="1" smtClean="0">
                                          <a:latin typeface="Cambria Math"/>
                                        </a:rPr>
                                      </m:ctrlPr>
                                    </m:dPr>
                                    <m:e>
                                      <m:sSub>
                                        <m:sSubPr>
                                          <m:ctrlPr>
                                            <a:rPr lang="en-US" altLang="zh-TW" sz="1600" i="1">
                                              <a:latin typeface="Cambria Math"/>
                                            </a:rPr>
                                          </m:ctrlPr>
                                        </m:sSubPr>
                                        <m:e>
                                          <m:r>
                                            <a:rPr lang="en-US" altLang="zh-TW" sz="1600">
                                              <a:latin typeface="Cambria Math"/>
                                            </a:rPr>
                                            <m:t>𝑙𝑐𝑠</m:t>
                                          </m:r>
                                        </m:e>
                                        <m:sub>
                                          <m:r>
                                            <a:rPr lang="zh-TW" altLang="en-US" sz="1600">
                                              <a:latin typeface="Cambria Math"/>
                                            </a:rPr>
                                            <m:t>𝛿</m:t>
                                          </m:r>
                                          <m:r>
                                            <a:rPr lang="en-US" altLang="zh-TW" sz="1600">
                                              <a:latin typeface="Cambria Math"/>
                                            </a:rPr>
                                            <m:t>,</m:t>
                                          </m:r>
                                          <m:r>
                                            <a:rPr lang="zh-TW" altLang="en-US" sz="1600">
                                              <a:latin typeface="Cambria Math"/>
                                            </a:rPr>
                                            <m:t>𝜖</m:t>
                                          </m:r>
                                        </m:sub>
                                      </m:sSub>
                                      <m:d>
                                        <m:dPr>
                                          <m:ctrlPr>
                                            <a:rPr lang="en-US" altLang="zh-TW" sz="1600" i="1">
                                              <a:latin typeface="Cambria Math"/>
                                            </a:rPr>
                                          </m:ctrlPr>
                                        </m:dPr>
                                        <m:e>
                                          <m:r>
                                            <a:rPr lang="en-US" altLang="zh-TW" sz="1600" smtClean="0">
                                              <a:latin typeface="Cambria Math"/>
                                            </a:rPr>
                                            <m:t>𝐻𝑒𝑎𝑑</m:t>
                                          </m:r>
                                          <m:d>
                                            <m:dPr>
                                              <m:ctrlPr>
                                                <a:rPr lang="en-US" altLang="zh-TW" sz="1600" i="1" smtClean="0">
                                                  <a:latin typeface="Cambria Math"/>
                                                </a:rPr>
                                              </m:ctrlPr>
                                            </m:dPr>
                                            <m:e>
                                              <m:r>
                                                <a:rPr lang="en-US" altLang="zh-TW" sz="1600" smtClean="0">
                                                  <a:latin typeface="Cambria Math"/>
                                                </a:rPr>
                                                <m:t>𝐴</m:t>
                                              </m:r>
                                            </m:e>
                                          </m:d>
                                          <m:r>
                                            <a:rPr lang="en-US" altLang="zh-TW" sz="1600">
                                              <a:latin typeface="Cambria Math"/>
                                            </a:rPr>
                                            <m:t>,</m:t>
                                          </m:r>
                                          <m:r>
                                            <a:rPr lang="en-US" altLang="zh-TW" sz="1600">
                                              <a:latin typeface="Cambria Math"/>
                                            </a:rPr>
                                            <m:t>𝐵</m:t>
                                          </m:r>
                                        </m:e>
                                      </m:d>
                                      <m:r>
                                        <a:rPr lang="en-US" altLang="zh-TW" sz="1600" smtClean="0">
                                          <a:latin typeface="Cambria Math"/>
                                        </a:rPr>
                                        <m:t>,</m:t>
                                      </m:r>
                                      <m:sSub>
                                        <m:sSubPr>
                                          <m:ctrlPr>
                                            <a:rPr lang="en-US" altLang="zh-TW" sz="1600" i="1">
                                              <a:latin typeface="Cambria Math"/>
                                            </a:rPr>
                                          </m:ctrlPr>
                                        </m:sSubPr>
                                        <m:e>
                                          <m:r>
                                            <a:rPr lang="en-US" altLang="zh-TW" sz="1600">
                                              <a:latin typeface="Cambria Math"/>
                                            </a:rPr>
                                            <m:t>𝑙𝑐𝑠</m:t>
                                          </m:r>
                                        </m:e>
                                        <m:sub>
                                          <m:r>
                                            <a:rPr lang="zh-TW" altLang="en-US" sz="1600">
                                              <a:latin typeface="Cambria Math"/>
                                            </a:rPr>
                                            <m:t>𝛿</m:t>
                                          </m:r>
                                          <m:r>
                                            <a:rPr lang="en-US" altLang="zh-TW" sz="1600">
                                              <a:latin typeface="Cambria Math"/>
                                            </a:rPr>
                                            <m:t>,</m:t>
                                          </m:r>
                                          <m:r>
                                            <a:rPr lang="zh-TW" altLang="en-US" sz="1600">
                                              <a:latin typeface="Cambria Math"/>
                                            </a:rPr>
                                            <m:t>𝜖</m:t>
                                          </m:r>
                                        </m:sub>
                                      </m:sSub>
                                      <m:d>
                                        <m:dPr>
                                          <m:ctrlPr>
                                            <a:rPr lang="en-US" altLang="zh-TW" sz="1600" i="1">
                                              <a:latin typeface="Cambria Math"/>
                                            </a:rPr>
                                          </m:ctrlPr>
                                        </m:dPr>
                                        <m:e>
                                          <m:r>
                                            <a:rPr lang="en-US" altLang="zh-TW" sz="1600">
                                              <a:latin typeface="Cambria Math"/>
                                            </a:rPr>
                                            <m:t>𝐴</m:t>
                                          </m:r>
                                          <m:r>
                                            <a:rPr lang="en-US" altLang="zh-TW" sz="1600">
                                              <a:latin typeface="Cambria Math"/>
                                            </a:rPr>
                                            <m:t>,</m:t>
                                          </m:r>
                                          <m:r>
                                            <a:rPr lang="en-US" altLang="zh-TW" sz="1600" smtClean="0">
                                              <a:latin typeface="Cambria Math"/>
                                            </a:rPr>
                                            <m:t>𝐻𝑒𝑎𝑑</m:t>
                                          </m:r>
                                          <m:d>
                                            <m:dPr>
                                              <m:ctrlPr>
                                                <a:rPr lang="en-US" altLang="zh-TW" sz="1600" i="1" smtClean="0">
                                                  <a:latin typeface="Cambria Math"/>
                                                </a:rPr>
                                              </m:ctrlPr>
                                            </m:dPr>
                                            <m:e>
                                              <m:r>
                                                <a:rPr lang="en-US" altLang="zh-TW" sz="1600" smtClean="0">
                                                  <a:latin typeface="Cambria Math"/>
                                                </a:rPr>
                                                <m:t>𝐵</m:t>
                                              </m:r>
                                            </m:e>
                                          </m:d>
                                        </m:e>
                                      </m:d>
                                    </m:e>
                                  </m:d>
                                  <m:r>
                                    <a:rPr lang="en-US" altLang="zh-TW" sz="1600" b="0" i="0" smtClean="0">
                                      <a:latin typeface="Cambria Math"/>
                                    </a:rPr>
                                    <m:t>,</m:t>
                                  </m:r>
                                </m:e>
                              </m:func>
                              <m:r>
                                <a:rPr lang="en-US" altLang="zh-TW" sz="1600" b="0" i="0" smtClean="0">
                                  <a:latin typeface="Cambria Math"/>
                                </a:rPr>
                                <m:t>&amp;</m:t>
                              </m:r>
                              <m:r>
                                <a:rPr lang="en-US" altLang="zh-TW" sz="1600" smtClean="0">
                                  <a:latin typeface="Cambria Math"/>
                                </a:rPr>
                                <m:t>𝑜𝑡h𝑒𝑟𝑤𝑖𝑠𝑒</m:t>
                              </m:r>
                            </m:e>
                          </m:eqArr>
                        </m:e>
                      </m:d>
                    </m:oMath>
                  </m:oMathPara>
                </a14:m>
                <a:endParaRPr lang="en-US" altLang="zh-TW" sz="1600" dirty="0" smtClean="0"/>
              </a:p>
              <a:p>
                <a:pPr>
                  <a:lnSpc>
                    <a:spcPct val="150000"/>
                  </a:lnSpc>
                </a:pPr>
                <a14:m>
                  <m:oMath xmlns:m="http://schemas.openxmlformats.org/officeDocument/2006/math">
                    <m:r>
                      <a:rPr lang="zh-TW" altLang="en-US" sz="2000" i="1" smtClean="0">
                        <a:latin typeface="Cambria Math"/>
                      </a:rPr>
                      <m:t>𝛿</m:t>
                    </m:r>
                  </m:oMath>
                </a14:m>
                <a:r>
                  <a:rPr lang="en-US" altLang="zh-TW" sz="2000" dirty="0" smtClean="0"/>
                  <a:t> </a:t>
                </a:r>
                <a:r>
                  <a:rPr lang="zh-TW" altLang="en-US" sz="2000" dirty="0" smtClean="0"/>
                  <a:t>控制時間差；</a:t>
                </a:r>
                <a14:m>
                  <m:oMath xmlns:m="http://schemas.openxmlformats.org/officeDocument/2006/math">
                    <m:r>
                      <a:rPr lang="zh-TW" altLang="en-US" sz="2000" i="1" smtClean="0">
                        <a:latin typeface="Cambria Math"/>
                      </a:rPr>
                      <m:t>𝜖</m:t>
                    </m:r>
                  </m:oMath>
                </a14:m>
                <a:r>
                  <a:rPr lang="en-US" altLang="zh-TW" sz="2000" dirty="0" smtClean="0"/>
                  <a:t> </a:t>
                </a:r>
                <a:r>
                  <a:rPr lang="zh-TW" altLang="en-US" sz="2000" dirty="0" smtClean="0"/>
                  <a:t>控制空間差。</a:t>
                </a:r>
                <a:endParaRPr lang="en-US" altLang="zh-TW" sz="2000" dirty="0" smtClean="0"/>
              </a:p>
              <a:p>
                <a:pPr>
                  <a:lnSpc>
                    <a:spcPct val="150000"/>
                  </a:lnSpc>
                </a:pPr>
                <a:r>
                  <a:rPr lang="en-US" altLang="zh-TW" sz="2000" dirty="0"/>
                  <a:t>T</a:t>
                </a:r>
                <a:r>
                  <a:rPr lang="en-US" altLang="zh-TW" sz="2000" dirty="0" smtClean="0"/>
                  <a:t>he </a:t>
                </a:r>
                <a:r>
                  <a:rPr lang="en-US" altLang="zh-TW" sz="2000" dirty="0"/>
                  <a:t>threshold is hard to choose and is usually different </a:t>
                </a:r>
                <a:r>
                  <a:rPr lang="en-US" altLang="zh-TW" sz="2000" dirty="0" smtClean="0"/>
                  <a:t>for different </a:t>
                </a:r>
                <a:r>
                  <a:rPr lang="en-US" altLang="zh-TW" sz="2000" dirty="0"/>
                  <a:t>data.</a:t>
                </a:r>
                <a:endParaRPr lang="zh-TW" altLang="en-US" sz="2000"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74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0448690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smtClean="0"/>
              <a:t>Extended: Probabilistic Metric Spaces</a:t>
            </a:r>
            <a:endParaRPr lang="zh-TW" altLang="en-US" dirty="0"/>
          </a:p>
        </p:txBody>
      </p:sp>
      <mc:AlternateContent xmlns:mc="http://schemas.openxmlformats.org/markup-compatibility/2006" xmlns:a14="http://schemas.microsoft.com/office/drawing/2010/main">
        <mc:Choice Requires="a14">
          <p:sp>
            <p:nvSpPr>
              <p:cNvPr id="5" name="內容版面配置區 4"/>
              <p:cNvSpPr>
                <a:spLocks noGrp="1"/>
              </p:cNvSpPr>
              <p:nvPr>
                <p:ph idx="1"/>
              </p:nvPr>
            </p:nvSpPr>
            <p:spPr/>
            <p:txBody>
              <a:bodyPr>
                <a:normAutofit/>
              </a:bodyPr>
              <a:lstStyle/>
              <a:p>
                <a:pPr>
                  <a:lnSpc>
                    <a:spcPct val="150000"/>
                  </a:lnSpc>
                </a:pPr>
                <a14:m>
                  <m:oMath xmlns:m="http://schemas.openxmlformats.org/officeDocument/2006/math">
                    <m:r>
                      <a:rPr lang="en-US" altLang="zh-TW" sz="2000" smtClean="0">
                        <a:latin typeface="Cambria Math"/>
                      </a:rPr>
                      <m:t>𝐷𝑆</m:t>
                    </m:r>
                    <m:d>
                      <m:dPr>
                        <m:ctrlPr>
                          <a:rPr lang="en-US" altLang="zh-TW" sz="2000" i="1" smtClean="0">
                            <a:latin typeface="Cambria Math"/>
                          </a:rPr>
                        </m:ctrlPr>
                      </m:dPr>
                      <m:e>
                        <m:r>
                          <a:rPr lang="en-US" altLang="zh-TW" sz="2000" smtClean="0">
                            <a:latin typeface="Cambria Math"/>
                          </a:rPr>
                          <m:t>𝑖</m:t>
                        </m:r>
                        <m:r>
                          <a:rPr lang="en-US" altLang="zh-TW" sz="2000" smtClean="0">
                            <a:latin typeface="Cambria Math"/>
                          </a:rPr>
                          <m:t>,</m:t>
                        </m:r>
                        <m:r>
                          <a:rPr lang="en-US" altLang="zh-TW" sz="2000" smtClean="0">
                            <a:latin typeface="Cambria Math"/>
                          </a:rPr>
                          <m:t>𝑗</m:t>
                        </m:r>
                      </m:e>
                    </m:d>
                    <m:r>
                      <a:rPr lang="en-US" altLang="zh-TW" sz="2000" b="0" i="0" smtClean="0">
                        <a:latin typeface="Cambria Math"/>
                      </a:rPr>
                      <m:t>=</m:t>
                    </m:r>
                    <m:d>
                      <m:dPr>
                        <m:begChr m:val="{"/>
                        <m:endChr m:val=""/>
                        <m:ctrlPr>
                          <a:rPr lang="en-US" altLang="zh-TW" sz="2000" i="1" smtClean="0">
                            <a:latin typeface="Cambria Math"/>
                          </a:rPr>
                        </m:ctrlPr>
                      </m:dPr>
                      <m:e>
                        <m:eqArr>
                          <m:eqArrPr>
                            <m:ctrlPr>
                              <a:rPr lang="en-US" altLang="zh-TW" sz="2000" i="1" smtClean="0">
                                <a:latin typeface="Cambria Math"/>
                              </a:rPr>
                            </m:ctrlPr>
                          </m:eqArrPr>
                          <m:e>
                            <m:r>
                              <a:rPr lang="en-US" altLang="zh-TW" sz="2000" b="0" i="0" smtClean="0">
                                <a:latin typeface="Cambria Math"/>
                              </a:rPr>
                              <m:t>&amp;</m:t>
                            </m:r>
                            <m:sSub>
                              <m:sSubPr>
                                <m:ctrlPr>
                                  <a:rPr lang="en-US" altLang="zh-TW" sz="2000" i="1" smtClean="0">
                                    <a:latin typeface="Cambria Math"/>
                                  </a:rPr>
                                </m:ctrlPr>
                              </m:sSubPr>
                              <m:e>
                                <m:r>
                                  <a:rPr lang="en-US" altLang="zh-TW" sz="2000" smtClean="0">
                                    <a:latin typeface="Cambria Math"/>
                                  </a:rPr>
                                  <m:t>𝐷𝑆</m:t>
                                </m:r>
                              </m:e>
                              <m:sub>
                                <m:r>
                                  <a:rPr lang="en-US" altLang="zh-TW" sz="2000" smtClean="0">
                                    <a:latin typeface="Cambria Math"/>
                                  </a:rPr>
                                  <m:t>1</m:t>
                                </m:r>
                              </m:sub>
                            </m:sSub>
                            <m:r>
                              <a:rPr lang="en-US" altLang="zh-TW" sz="2000" smtClean="0">
                                <a:latin typeface="Cambria Math"/>
                              </a:rPr>
                              <m:t>,</m:t>
                            </m:r>
                            <m:r>
                              <a:rPr lang="en-US" altLang="zh-TW" sz="2000" b="0" i="0" smtClean="0">
                                <a:latin typeface="Cambria Math"/>
                              </a:rPr>
                              <m:t>&amp;</m:t>
                            </m:r>
                            <m:r>
                              <a:rPr lang="en-US" altLang="zh-TW" sz="2000" smtClean="0">
                                <a:latin typeface="Cambria Math"/>
                              </a:rPr>
                              <m:t>𝑖𝑓</m:t>
                            </m:r>
                            <m:r>
                              <a:rPr lang="en-US" altLang="zh-TW" sz="2000" smtClean="0">
                                <a:latin typeface="Cambria Math"/>
                              </a:rPr>
                              <m:t> </m:t>
                            </m:r>
                            <m:sSub>
                              <m:sSubPr>
                                <m:ctrlPr>
                                  <a:rPr lang="en-US" altLang="zh-TW" sz="2000" i="1" smtClean="0">
                                    <a:latin typeface="Cambria Math"/>
                                  </a:rPr>
                                </m:ctrlPr>
                              </m:sSubPr>
                              <m:e>
                                <m:r>
                                  <a:rPr lang="en-US" altLang="zh-TW" sz="2000" smtClean="0">
                                    <a:latin typeface="Cambria Math"/>
                                  </a:rPr>
                                  <m:t>𝐴</m:t>
                                </m:r>
                              </m:e>
                              <m:sub>
                                <m:r>
                                  <a:rPr lang="en-US" altLang="zh-TW" sz="2000" smtClean="0">
                                    <a:latin typeface="Cambria Math"/>
                                  </a:rPr>
                                  <m:t>𝑖</m:t>
                                </m:r>
                              </m:sub>
                            </m:sSub>
                            <m:r>
                              <a:rPr lang="en-US" altLang="zh-TW" sz="2000" smtClean="0">
                                <a:latin typeface="Cambria Math"/>
                              </a:rPr>
                              <m:t>=</m:t>
                            </m:r>
                            <m:sSub>
                              <m:sSubPr>
                                <m:ctrlPr>
                                  <a:rPr lang="en-US" altLang="zh-TW" sz="2000" i="1" smtClean="0">
                                    <a:latin typeface="Cambria Math"/>
                                  </a:rPr>
                                </m:ctrlPr>
                              </m:sSubPr>
                              <m:e>
                                <m:r>
                                  <a:rPr lang="en-US" altLang="zh-TW" sz="2000" smtClean="0">
                                    <a:latin typeface="Cambria Math"/>
                                  </a:rPr>
                                  <m:t>𝐵</m:t>
                                </m:r>
                              </m:e>
                              <m:sub>
                                <m:r>
                                  <a:rPr lang="en-US" altLang="zh-TW" sz="2000" smtClean="0">
                                    <a:latin typeface="Cambria Math"/>
                                  </a:rPr>
                                  <m:t>𝑗</m:t>
                                </m:r>
                              </m:sub>
                            </m:sSub>
                          </m:e>
                          <m:e>
                            <m:r>
                              <a:rPr lang="en-US" altLang="zh-TW" sz="2000" b="0" i="0" smtClean="0">
                                <a:latin typeface="Cambria Math"/>
                              </a:rPr>
                              <m:t>&amp;</m:t>
                            </m:r>
                            <m:sSub>
                              <m:sSubPr>
                                <m:ctrlPr>
                                  <a:rPr lang="en-US" altLang="zh-TW" sz="2000" i="1" smtClean="0">
                                    <a:latin typeface="Cambria Math"/>
                                  </a:rPr>
                                </m:ctrlPr>
                              </m:sSubPr>
                              <m:e>
                                <m:r>
                                  <a:rPr lang="en-US" altLang="zh-TW" sz="2000" smtClean="0">
                                    <a:latin typeface="Cambria Math"/>
                                  </a:rPr>
                                  <m:t>𝐷𝑆</m:t>
                                </m:r>
                              </m:e>
                              <m:sub>
                                <m:r>
                                  <a:rPr lang="en-US" altLang="zh-TW" sz="2000" smtClean="0">
                                    <a:latin typeface="Cambria Math"/>
                                  </a:rPr>
                                  <m:t>0</m:t>
                                </m:r>
                              </m:sub>
                            </m:sSub>
                            <m:r>
                              <a:rPr lang="en-US" altLang="zh-TW" sz="2000" smtClean="0">
                                <a:latin typeface="Cambria Math"/>
                              </a:rPr>
                              <m:t>,</m:t>
                            </m:r>
                            <m:r>
                              <a:rPr lang="en-US" altLang="zh-TW" sz="2000" b="0" i="0" smtClean="0">
                                <a:latin typeface="Cambria Math"/>
                              </a:rPr>
                              <m:t>&amp;</m:t>
                            </m:r>
                            <m:r>
                              <a:rPr lang="en-US" altLang="zh-TW" sz="2000" smtClean="0">
                                <a:latin typeface="Cambria Math"/>
                              </a:rPr>
                              <m:t>𝑜𝑡h𝑒𝑟𝑤𝑖𝑠𝑒</m:t>
                            </m:r>
                          </m:e>
                        </m:eqArr>
                      </m:e>
                    </m:d>
                  </m:oMath>
                </a14:m>
                <a:endParaRPr lang="en-US" altLang="zh-TW" sz="2000" dirty="0" smtClean="0"/>
              </a:p>
              <a:p>
                <a:pPr lvl="1">
                  <a:lnSpc>
                    <a:spcPct val="150000"/>
                  </a:lnSpc>
                </a:pPr>
                <a:r>
                  <a:rPr lang="en-US" altLang="zh-TW" sz="1600" dirty="0" smtClean="0"/>
                  <a:t>LCS: </a:t>
                </a:r>
                <a14:m>
                  <m:oMath xmlns:m="http://schemas.openxmlformats.org/officeDocument/2006/math">
                    <m:sSub>
                      <m:sSubPr>
                        <m:ctrlPr>
                          <a:rPr lang="en-US" altLang="zh-TW" sz="1600" i="1" smtClean="0">
                            <a:latin typeface="Cambria Math"/>
                          </a:rPr>
                        </m:ctrlPr>
                      </m:sSubPr>
                      <m:e>
                        <m:r>
                          <a:rPr lang="en-US" altLang="zh-TW" sz="1600" smtClean="0">
                            <a:latin typeface="Cambria Math"/>
                          </a:rPr>
                          <m:t>𝐷𝑆</m:t>
                        </m:r>
                      </m:e>
                      <m:sub>
                        <m:r>
                          <a:rPr lang="en-US" altLang="zh-TW" sz="1600" smtClean="0">
                            <a:latin typeface="Cambria Math"/>
                          </a:rPr>
                          <m:t>1</m:t>
                        </m:r>
                      </m:sub>
                    </m:sSub>
                    <m:r>
                      <a:rPr lang="en-US" altLang="zh-TW" sz="1600" smtClean="0">
                        <a:latin typeface="Cambria Math"/>
                      </a:rPr>
                      <m:t>=1+</m:t>
                    </m:r>
                    <m:r>
                      <a:rPr lang="en-US" altLang="zh-TW" sz="1600" smtClean="0">
                        <a:latin typeface="Cambria Math"/>
                      </a:rPr>
                      <m:t>𝐷𝑆</m:t>
                    </m:r>
                    <m:d>
                      <m:dPr>
                        <m:ctrlPr>
                          <a:rPr lang="en-US" altLang="zh-TW" sz="1600" i="1" smtClean="0">
                            <a:latin typeface="Cambria Math"/>
                          </a:rPr>
                        </m:ctrlPr>
                      </m:dPr>
                      <m:e>
                        <m:r>
                          <a:rPr lang="en-US" altLang="zh-TW" sz="1600" smtClean="0">
                            <a:latin typeface="Cambria Math"/>
                          </a:rPr>
                          <m:t>𝑖</m:t>
                        </m:r>
                        <m:r>
                          <a:rPr lang="en-US" altLang="zh-TW" sz="1600" smtClean="0">
                            <a:latin typeface="Cambria Math"/>
                          </a:rPr>
                          <m:t>−1,</m:t>
                        </m:r>
                        <m:r>
                          <a:rPr lang="en-US" altLang="zh-TW" sz="1600" smtClean="0">
                            <a:latin typeface="Cambria Math"/>
                          </a:rPr>
                          <m:t>𝑗</m:t>
                        </m:r>
                        <m:r>
                          <a:rPr lang="en-US" altLang="zh-TW" sz="1600" smtClean="0">
                            <a:latin typeface="Cambria Math"/>
                          </a:rPr>
                          <m:t>−1</m:t>
                        </m:r>
                      </m:e>
                    </m:d>
                    <m:r>
                      <a:rPr lang="en-US" altLang="zh-TW" sz="1600" smtClean="0">
                        <a:latin typeface="Cambria Math"/>
                      </a:rPr>
                      <m:t>;</m:t>
                    </m:r>
                    <m:sSub>
                      <m:sSubPr>
                        <m:ctrlPr>
                          <a:rPr lang="en-US" altLang="zh-TW" sz="1600" i="1" smtClean="0">
                            <a:latin typeface="Cambria Math"/>
                          </a:rPr>
                        </m:ctrlPr>
                      </m:sSubPr>
                      <m:e>
                        <m:r>
                          <a:rPr lang="en-US" altLang="zh-TW" sz="1600" smtClean="0">
                            <a:latin typeface="Cambria Math"/>
                          </a:rPr>
                          <m:t>𝐷𝑆</m:t>
                        </m:r>
                      </m:e>
                      <m:sub>
                        <m:r>
                          <a:rPr lang="en-US" altLang="zh-TW" sz="1600" smtClean="0">
                            <a:latin typeface="Cambria Math"/>
                          </a:rPr>
                          <m:t>0</m:t>
                        </m:r>
                      </m:sub>
                    </m:sSub>
                    <m:r>
                      <a:rPr lang="en-US" altLang="zh-TW" sz="1600" smtClean="0">
                        <a:latin typeface="Cambria Math"/>
                      </a:rPr>
                      <m:t>=</m:t>
                    </m:r>
                    <m:func>
                      <m:funcPr>
                        <m:ctrlPr>
                          <a:rPr lang="en-US" altLang="zh-TW" sz="1600" i="1" smtClean="0">
                            <a:latin typeface="Cambria Math"/>
                          </a:rPr>
                        </m:ctrlPr>
                      </m:funcPr>
                      <m:fName>
                        <m:r>
                          <m:rPr>
                            <m:sty m:val="p"/>
                          </m:rPr>
                          <a:rPr lang="en-US" altLang="zh-TW" sz="1600" smtClean="0">
                            <a:latin typeface="Cambria Math"/>
                          </a:rPr>
                          <m:t>max</m:t>
                        </m:r>
                      </m:fName>
                      <m:e>
                        <m:d>
                          <m:dPr>
                            <m:ctrlPr>
                              <a:rPr lang="en-US" altLang="zh-TW" sz="1600" i="1" smtClean="0">
                                <a:latin typeface="Cambria Math"/>
                              </a:rPr>
                            </m:ctrlPr>
                          </m:dPr>
                          <m:e>
                            <m:r>
                              <a:rPr lang="en-US" altLang="zh-TW" sz="1600">
                                <a:latin typeface="Cambria Math"/>
                              </a:rPr>
                              <m:t>𝐷𝑆</m:t>
                            </m:r>
                            <m:d>
                              <m:dPr>
                                <m:ctrlPr>
                                  <a:rPr lang="en-US" altLang="zh-TW" sz="1600" i="1">
                                    <a:latin typeface="Cambria Math"/>
                                  </a:rPr>
                                </m:ctrlPr>
                              </m:dPr>
                              <m:e>
                                <m:r>
                                  <a:rPr lang="en-US" altLang="zh-TW" sz="1600">
                                    <a:latin typeface="Cambria Math"/>
                                  </a:rPr>
                                  <m:t>𝑖</m:t>
                                </m:r>
                                <m:r>
                                  <a:rPr lang="en-US" altLang="zh-TW" sz="1600">
                                    <a:latin typeface="Cambria Math"/>
                                  </a:rPr>
                                  <m:t>−1,</m:t>
                                </m:r>
                                <m:r>
                                  <a:rPr lang="en-US" altLang="zh-TW" sz="1600">
                                    <a:latin typeface="Cambria Math"/>
                                  </a:rPr>
                                  <m:t>𝑗</m:t>
                                </m:r>
                              </m:e>
                            </m:d>
                            <m:r>
                              <a:rPr lang="en-US" altLang="zh-TW" sz="1600" smtClean="0">
                                <a:latin typeface="Cambria Math"/>
                              </a:rPr>
                              <m:t>,</m:t>
                            </m:r>
                            <m:r>
                              <a:rPr lang="en-US" altLang="zh-TW" sz="1600">
                                <a:latin typeface="Cambria Math"/>
                              </a:rPr>
                              <m:t>𝐷𝑆</m:t>
                            </m:r>
                            <m:d>
                              <m:dPr>
                                <m:ctrlPr>
                                  <a:rPr lang="en-US" altLang="zh-TW" sz="1600" i="1">
                                    <a:latin typeface="Cambria Math"/>
                                  </a:rPr>
                                </m:ctrlPr>
                              </m:dPr>
                              <m:e>
                                <m:r>
                                  <a:rPr lang="en-US" altLang="zh-TW" sz="1600">
                                    <a:latin typeface="Cambria Math"/>
                                  </a:rPr>
                                  <m:t>𝑖</m:t>
                                </m:r>
                                <m:r>
                                  <a:rPr lang="en-US" altLang="zh-TW" sz="1600">
                                    <a:latin typeface="Cambria Math"/>
                                  </a:rPr>
                                  <m:t>,</m:t>
                                </m:r>
                                <m:r>
                                  <a:rPr lang="en-US" altLang="zh-TW" sz="1600">
                                    <a:latin typeface="Cambria Math"/>
                                  </a:rPr>
                                  <m:t>𝑗</m:t>
                                </m:r>
                                <m:r>
                                  <a:rPr lang="en-US" altLang="zh-TW" sz="1600">
                                    <a:latin typeface="Cambria Math"/>
                                  </a:rPr>
                                  <m:t>−1</m:t>
                                </m:r>
                              </m:e>
                            </m:d>
                          </m:e>
                        </m:d>
                      </m:e>
                    </m:func>
                  </m:oMath>
                </a14:m>
                <a:endParaRPr lang="en-US" altLang="zh-TW" sz="1600" dirty="0"/>
              </a:p>
              <a:p>
                <a:pPr lvl="1">
                  <a:lnSpc>
                    <a:spcPct val="150000"/>
                  </a:lnSpc>
                </a:pPr>
                <a:r>
                  <a:rPr lang="en-US" altLang="zh-TW" sz="1600" dirty="0" smtClean="0"/>
                  <a:t>ACS: </a:t>
                </a:r>
                <a14:m>
                  <m:oMath xmlns:m="http://schemas.openxmlformats.org/officeDocument/2006/math">
                    <m:sSub>
                      <m:sSubPr>
                        <m:ctrlPr>
                          <a:rPr lang="en-US" altLang="zh-TW" sz="1600" i="1" smtClean="0">
                            <a:latin typeface="Cambria Math"/>
                          </a:rPr>
                        </m:ctrlPr>
                      </m:sSubPr>
                      <m:e>
                        <m:r>
                          <a:rPr lang="en-US" altLang="zh-TW" sz="1600" smtClean="0">
                            <a:latin typeface="Cambria Math"/>
                          </a:rPr>
                          <m:t>𝐷𝑆</m:t>
                        </m:r>
                      </m:e>
                      <m:sub>
                        <m:r>
                          <a:rPr lang="en-US" altLang="zh-TW" sz="1600" smtClean="0">
                            <a:latin typeface="Cambria Math"/>
                          </a:rPr>
                          <m:t>1</m:t>
                        </m:r>
                      </m:sub>
                    </m:sSub>
                    <m:r>
                      <a:rPr lang="en-US" altLang="zh-TW" sz="1600" smtClean="0">
                        <a:latin typeface="Cambria Math"/>
                      </a:rPr>
                      <m:t>=</m:t>
                    </m:r>
                    <m:r>
                      <a:rPr lang="en-US" altLang="zh-TW" sz="1600" smtClean="0">
                        <a:latin typeface="Cambria Math"/>
                      </a:rPr>
                      <m:t>𝐷𝑆</m:t>
                    </m:r>
                    <m:d>
                      <m:dPr>
                        <m:ctrlPr>
                          <a:rPr lang="en-US" altLang="zh-TW" sz="1600" i="1" smtClean="0">
                            <a:latin typeface="Cambria Math"/>
                          </a:rPr>
                        </m:ctrlPr>
                      </m:dPr>
                      <m:e>
                        <m:r>
                          <a:rPr lang="en-US" altLang="zh-TW" sz="1600" smtClean="0">
                            <a:latin typeface="Cambria Math"/>
                          </a:rPr>
                          <m:t>𝑖</m:t>
                        </m:r>
                        <m:r>
                          <a:rPr lang="en-US" altLang="zh-TW" sz="1600" smtClean="0">
                            <a:latin typeface="Cambria Math"/>
                          </a:rPr>
                          <m:t>−1,</m:t>
                        </m:r>
                        <m:r>
                          <a:rPr lang="en-US" altLang="zh-TW" sz="1600" smtClean="0">
                            <a:latin typeface="Cambria Math"/>
                          </a:rPr>
                          <m:t>𝑗</m:t>
                        </m:r>
                        <m:r>
                          <a:rPr lang="en-US" altLang="zh-TW" sz="1600" smtClean="0">
                            <a:latin typeface="Cambria Math"/>
                          </a:rPr>
                          <m:t>−1</m:t>
                        </m:r>
                      </m:e>
                    </m:d>
                    <m:r>
                      <a:rPr lang="en-US" altLang="zh-TW" sz="1600" smtClean="0">
                        <a:latin typeface="Cambria Math"/>
                      </a:rPr>
                      <m:t>×2;</m:t>
                    </m:r>
                    <m:sSub>
                      <m:sSubPr>
                        <m:ctrlPr>
                          <a:rPr lang="en-US" altLang="zh-TW" sz="1600" i="1" smtClean="0">
                            <a:latin typeface="Cambria Math"/>
                          </a:rPr>
                        </m:ctrlPr>
                      </m:sSubPr>
                      <m:e>
                        <m:r>
                          <a:rPr lang="en-US" altLang="zh-TW" sz="1600" smtClean="0">
                            <a:latin typeface="Cambria Math"/>
                          </a:rPr>
                          <m:t>𝐷𝑆</m:t>
                        </m:r>
                      </m:e>
                      <m:sub>
                        <m:r>
                          <a:rPr lang="en-US" altLang="zh-TW" sz="1600" smtClean="0">
                            <a:latin typeface="Cambria Math"/>
                          </a:rPr>
                          <m:t>0</m:t>
                        </m:r>
                      </m:sub>
                    </m:sSub>
                    <m:r>
                      <a:rPr lang="en-US" altLang="zh-TW" sz="1600" smtClean="0">
                        <a:latin typeface="Cambria Math"/>
                      </a:rPr>
                      <m:t>=</m:t>
                    </m:r>
                    <m:r>
                      <a:rPr lang="en-US" altLang="zh-TW" sz="1600">
                        <a:latin typeface="Cambria Math"/>
                      </a:rPr>
                      <m:t>𝐷𝑆</m:t>
                    </m:r>
                    <m:d>
                      <m:dPr>
                        <m:ctrlPr>
                          <a:rPr lang="en-US" altLang="zh-TW" sz="1600" i="1">
                            <a:latin typeface="Cambria Math"/>
                          </a:rPr>
                        </m:ctrlPr>
                      </m:dPr>
                      <m:e>
                        <m:r>
                          <a:rPr lang="en-US" altLang="zh-TW" sz="1600">
                            <a:latin typeface="Cambria Math"/>
                          </a:rPr>
                          <m:t>𝑖</m:t>
                        </m:r>
                        <m:r>
                          <a:rPr lang="en-US" altLang="zh-TW" sz="1600" smtClean="0">
                            <a:latin typeface="Cambria Math"/>
                          </a:rPr>
                          <m:t>−</m:t>
                        </m:r>
                        <m:r>
                          <a:rPr lang="en-US" altLang="zh-TW" sz="1600">
                            <a:latin typeface="Cambria Math"/>
                          </a:rPr>
                          <m:t>1,</m:t>
                        </m:r>
                        <m:r>
                          <a:rPr lang="en-US" altLang="zh-TW" sz="1600">
                            <a:latin typeface="Cambria Math"/>
                          </a:rPr>
                          <m:t>𝑗</m:t>
                        </m:r>
                      </m:e>
                    </m:d>
                    <m:r>
                      <a:rPr lang="en-US" altLang="zh-TW" sz="1600" smtClean="0">
                        <a:latin typeface="Cambria Math"/>
                      </a:rPr>
                      <m:t>+</m:t>
                    </m:r>
                    <m:r>
                      <a:rPr lang="en-US" altLang="zh-TW" sz="1600">
                        <a:latin typeface="Cambria Math"/>
                      </a:rPr>
                      <m:t>𝐷𝑆</m:t>
                    </m:r>
                    <m:d>
                      <m:dPr>
                        <m:ctrlPr>
                          <a:rPr lang="en-US" altLang="zh-TW" sz="1600" i="1">
                            <a:latin typeface="Cambria Math"/>
                          </a:rPr>
                        </m:ctrlPr>
                      </m:dPr>
                      <m:e>
                        <m:r>
                          <a:rPr lang="en-US" altLang="zh-TW" sz="1600">
                            <a:latin typeface="Cambria Math"/>
                          </a:rPr>
                          <m:t>𝑖</m:t>
                        </m:r>
                        <m:r>
                          <a:rPr lang="en-US" altLang="zh-TW" sz="1600">
                            <a:latin typeface="Cambria Math"/>
                          </a:rPr>
                          <m:t>,</m:t>
                        </m:r>
                        <m:r>
                          <a:rPr lang="en-US" altLang="zh-TW" sz="1600">
                            <a:latin typeface="Cambria Math"/>
                          </a:rPr>
                          <m:t>𝑗</m:t>
                        </m:r>
                        <m:r>
                          <a:rPr lang="en-US" altLang="zh-TW" sz="1600" smtClean="0">
                            <a:latin typeface="Cambria Math"/>
                          </a:rPr>
                          <m:t>−1</m:t>
                        </m:r>
                      </m:e>
                    </m:d>
                    <m:r>
                      <a:rPr lang="en-US" altLang="zh-TW" sz="1600" smtClean="0">
                        <a:latin typeface="Cambria Math"/>
                      </a:rPr>
                      <m:t>−</m:t>
                    </m:r>
                    <m:r>
                      <a:rPr lang="en-US" altLang="zh-TW" sz="1600">
                        <a:latin typeface="Cambria Math"/>
                      </a:rPr>
                      <m:t>𝐷𝑆</m:t>
                    </m:r>
                    <m:d>
                      <m:dPr>
                        <m:ctrlPr>
                          <a:rPr lang="en-US" altLang="zh-TW" sz="1600" i="1">
                            <a:latin typeface="Cambria Math"/>
                          </a:rPr>
                        </m:ctrlPr>
                      </m:dPr>
                      <m:e>
                        <m:r>
                          <a:rPr lang="en-US" altLang="zh-TW" sz="1600">
                            <a:latin typeface="Cambria Math"/>
                          </a:rPr>
                          <m:t>𝑖</m:t>
                        </m:r>
                        <m:r>
                          <a:rPr lang="en-US" altLang="zh-TW" sz="1600">
                            <a:latin typeface="Cambria Math"/>
                          </a:rPr>
                          <m:t>−1,</m:t>
                        </m:r>
                        <m:r>
                          <a:rPr lang="en-US" altLang="zh-TW" sz="1600">
                            <a:latin typeface="Cambria Math"/>
                          </a:rPr>
                          <m:t>𝑗</m:t>
                        </m:r>
                        <m:r>
                          <a:rPr lang="en-US" altLang="zh-TW" sz="1600">
                            <a:latin typeface="Cambria Math"/>
                          </a:rPr>
                          <m:t>−1</m:t>
                        </m:r>
                      </m:e>
                    </m:d>
                  </m:oMath>
                </a14:m>
                <a:endParaRPr lang="en-US" altLang="zh-TW" sz="1600" dirty="0" smtClean="0"/>
              </a:p>
              <a:p>
                <a:pPr>
                  <a:lnSpc>
                    <a:spcPct val="150000"/>
                  </a:lnSpc>
                </a:pPr>
                <a14:m>
                  <m:oMath xmlns:m="http://schemas.openxmlformats.org/officeDocument/2006/math">
                    <m:r>
                      <a:rPr lang="en-US" altLang="zh-TW" sz="2000" smtClean="0">
                        <a:latin typeface="Cambria Math"/>
                      </a:rPr>
                      <m:t>𝐷𝑆</m:t>
                    </m:r>
                    <m:d>
                      <m:dPr>
                        <m:ctrlPr>
                          <a:rPr lang="en-US" altLang="zh-TW" sz="2000" i="1" smtClean="0">
                            <a:latin typeface="Cambria Math"/>
                          </a:rPr>
                        </m:ctrlPr>
                      </m:dPr>
                      <m:e>
                        <m:r>
                          <a:rPr lang="en-US" altLang="zh-TW" sz="2000" smtClean="0">
                            <a:latin typeface="Cambria Math"/>
                          </a:rPr>
                          <m:t>𝑖</m:t>
                        </m:r>
                        <m:r>
                          <a:rPr lang="en-US" altLang="zh-TW" sz="2000" smtClean="0">
                            <a:latin typeface="Cambria Math"/>
                          </a:rPr>
                          <m:t>,</m:t>
                        </m:r>
                        <m:r>
                          <a:rPr lang="en-US" altLang="zh-TW" sz="2000" smtClean="0">
                            <a:latin typeface="Cambria Math"/>
                          </a:rPr>
                          <m:t>𝑗</m:t>
                        </m:r>
                      </m:e>
                    </m:d>
                    <m:r>
                      <a:rPr lang="en-US" altLang="zh-TW" sz="2000" smtClean="0">
                        <a:latin typeface="Cambria Math"/>
                      </a:rPr>
                      <m:t>=</m:t>
                    </m:r>
                    <m:sSub>
                      <m:sSubPr>
                        <m:ctrlPr>
                          <a:rPr lang="en-US" altLang="zh-TW" sz="2000" i="1" smtClean="0">
                            <a:latin typeface="Cambria Math"/>
                          </a:rPr>
                        </m:ctrlPr>
                      </m:sSubPr>
                      <m:e>
                        <m:r>
                          <a:rPr lang="en-US" altLang="zh-TW" sz="2000" smtClean="0">
                            <a:latin typeface="Cambria Math"/>
                          </a:rPr>
                          <m:t>𝐷𝑆</m:t>
                        </m:r>
                      </m:e>
                      <m:sub>
                        <m:r>
                          <a:rPr lang="en-US" altLang="zh-TW" sz="2000" smtClean="0">
                            <a:latin typeface="Cambria Math"/>
                          </a:rPr>
                          <m:t>1</m:t>
                        </m:r>
                      </m:sub>
                    </m:sSub>
                    <m:r>
                      <a:rPr lang="en-US" altLang="zh-TW" sz="2000" smtClean="0">
                        <a:latin typeface="Cambria Math"/>
                      </a:rPr>
                      <m:t>×</m:t>
                    </m:r>
                    <m:r>
                      <a:rPr lang="en-US" altLang="zh-TW" sz="2000" smtClean="0">
                        <a:latin typeface="Cambria Math"/>
                      </a:rPr>
                      <m:t>𝑃</m:t>
                    </m:r>
                    <m:d>
                      <m:dPr>
                        <m:ctrlPr>
                          <a:rPr lang="en-US" altLang="zh-TW" sz="2000" i="1" smtClean="0">
                            <a:latin typeface="Cambria Math"/>
                          </a:rPr>
                        </m:ctrlPr>
                      </m:dPr>
                      <m:e>
                        <m:sSub>
                          <m:sSubPr>
                            <m:ctrlPr>
                              <a:rPr lang="en-US" altLang="zh-TW" sz="2000" i="1" smtClean="0">
                                <a:latin typeface="Cambria Math"/>
                              </a:rPr>
                            </m:ctrlPr>
                          </m:sSubPr>
                          <m:e>
                            <m:r>
                              <a:rPr lang="en-US" altLang="zh-TW" sz="2000" smtClean="0">
                                <a:latin typeface="Cambria Math"/>
                              </a:rPr>
                              <m:t>𝐴</m:t>
                            </m:r>
                          </m:e>
                          <m:sub>
                            <m:r>
                              <a:rPr lang="en-US" altLang="zh-TW" sz="2000" smtClean="0">
                                <a:latin typeface="Cambria Math"/>
                              </a:rPr>
                              <m:t>𝑖</m:t>
                            </m:r>
                          </m:sub>
                        </m:sSub>
                        <m:r>
                          <a:rPr lang="en-US" altLang="zh-TW" sz="2000" smtClean="0">
                            <a:latin typeface="Cambria Math"/>
                          </a:rPr>
                          <m:t>=</m:t>
                        </m:r>
                        <m:sSub>
                          <m:sSubPr>
                            <m:ctrlPr>
                              <a:rPr lang="en-US" altLang="zh-TW" sz="2000" i="1" smtClean="0">
                                <a:latin typeface="Cambria Math"/>
                              </a:rPr>
                            </m:ctrlPr>
                          </m:sSubPr>
                          <m:e>
                            <m:r>
                              <a:rPr lang="en-US" altLang="zh-TW" sz="2000" smtClean="0">
                                <a:latin typeface="Cambria Math"/>
                              </a:rPr>
                              <m:t>𝐵</m:t>
                            </m:r>
                          </m:e>
                          <m:sub>
                            <m:r>
                              <a:rPr lang="en-US" altLang="zh-TW" sz="2000" smtClean="0">
                                <a:latin typeface="Cambria Math"/>
                              </a:rPr>
                              <m:t>𝑗</m:t>
                            </m:r>
                          </m:sub>
                        </m:sSub>
                      </m:e>
                    </m:d>
                    <m:r>
                      <a:rPr lang="en-US" altLang="zh-TW" sz="2000" smtClean="0">
                        <a:latin typeface="Cambria Math"/>
                      </a:rPr>
                      <m:t>+</m:t>
                    </m:r>
                    <m:sSub>
                      <m:sSubPr>
                        <m:ctrlPr>
                          <a:rPr lang="en-US" altLang="zh-TW" sz="2000" i="1" smtClean="0">
                            <a:latin typeface="Cambria Math"/>
                          </a:rPr>
                        </m:ctrlPr>
                      </m:sSubPr>
                      <m:e>
                        <m:r>
                          <a:rPr lang="en-US" altLang="zh-TW" sz="2000" smtClean="0">
                            <a:latin typeface="Cambria Math"/>
                          </a:rPr>
                          <m:t>𝐷𝑆</m:t>
                        </m:r>
                      </m:e>
                      <m:sub>
                        <m:r>
                          <a:rPr lang="en-US" altLang="zh-TW" sz="2000" smtClean="0">
                            <a:latin typeface="Cambria Math"/>
                          </a:rPr>
                          <m:t>2</m:t>
                        </m:r>
                      </m:sub>
                    </m:sSub>
                    <m:r>
                      <a:rPr lang="en-US" altLang="zh-TW" sz="2000" smtClean="0">
                        <a:latin typeface="Cambria Math"/>
                      </a:rPr>
                      <m:t>×</m:t>
                    </m:r>
                    <m:r>
                      <a:rPr lang="en-US" altLang="zh-TW" sz="2000" smtClean="0">
                        <a:latin typeface="Cambria Math"/>
                      </a:rPr>
                      <m:t>𝑃</m:t>
                    </m:r>
                    <m:d>
                      <m:dPr>
                        <m:ctrlPr>
                          <a:rPr lang="en-US" altLang="zh-TW" sz="2000" i="1" smtClean="0">
                            <a:latin typeface="Cambria Math"/>
                          </a:rPr>
                        </m:ctrlPr>
                      </m:dPr>
                      <m:e>
                        <m:sSub>
                          <m:sSubPr>
                            <m:ctrlPr>
                              <a:rPr lang="en-US" altLang="zh-TW" sz="2000" i="1" smtClean="0">
                                <a:latin typeface="Cambria Math"/>
                              </a:rPr>
                            </m:ctrlPr>
                          </m:sSubPr>
                          <m:e>
                            <m:r>
                              <a:rPr lang="en-US" altLang="zh-TW" sz="2000" smtClean="0">
                                <a:latin typeface="Cambria Math"/>
                              </a:rPr>
                              <m:t>𝐴</m:t>
                            </m:r>
                          </m:e>
                          <m:sub>
                            <m:r>
                              <a:rPr lang="en-US" altLang="zh-TW" sz="2000" smtClean="0">
                                <a:latin typeface="Cambria Math"/>
                              </a:rPr>
                              <m:t>𝑖</m:t>
                            </m:r>
                          </m:sub>
                        </m:sSub>
                        <m:r>
                          <a:rPr lang="en-US" altLang="zh-TW" sz="2000" smtClean="0">
                            <a:latin typeface="Cambria Math"/>
                          </a:rPr>
                          <m:t>≠</m:t>
                        </m:r>
                        <m:sSub>
                          <m:sSubPr>
                            <m:ctrlPr>
                              <a:rPr lang="en-US" altLang="zh-TW" sz="2000" i="1" smtClean="0">
                                <a:latin typeface="Cambria Math"/>
                              </a:rPr>
                            </m:ctrlPr>
                          </m:sSubPr>
                          <m:e>
                            <m:r>
                              <a:rPr lang="en-US" altLang="zh-TW" sz="2000" smtClean="0">
                                <a:latin typeface="Cambria Math"/>
                              </a:rPr>
                              <m:t>𝐵</m:t>
                            </m:r>
                          </m:e>
                          <m:sub>
                            <m:r>
                              <a:rPr lang="en-US" altLang="zh-TW" sz="2000" smtClean="0">
                                <a:latin typeface="Cambria Math"/>
                              </a:rPr>
                              <m:t>𝑗</m:t>
                            </m:r>
                          </m:sub>
                        </m:sSub>
                      </m:e>
                    </m:d>
                  </m:oMath>
                </a14:m>
                <a:endParaRPr lang="en-US" altLang="zh-TW" sz="2000" dirty="0" smtClean="0"/>
              </a:p>
              <a:p>
                <a:pPr>
                  <a:lnSpc>
                    <a:spcPct val="150000"/>
                  </a:lnSpc>
                </a:pPr>
                <a14:m>
                  <m:oMath xmlns:m="http://schemas.openxmlformats.org/officeDocument/2006/math">
                    <m:r>
                      <a:rPr lang="en-US" altLang="zh-TW" sz="2000">
                        <a:latin typeface="Cambria Math"/>
                      </a:rPr>
                      <m:t>𝑃</m:t>
                    </m:r>
                    <m:d>
                      <m:dPr>
                        <m:ctrlPr>
                          <a:rPr lang="en-US" altLang="zh-TW" sz="2000" i="1">
                            <a:latin typeface="Cambria Math"/>
                          </a:rPr>
                        </m:ctrlPr>
                      </m:dPr>
                      <m:e>
                        <m:sSub>
                          <m:sSubPr>
                            <m:ctrlPr>
                              <a:rPr lang="en-US" altLang="zh-TW" sz="2000" i="1">
                                <a:latin typeface="Cambria Math"/>
                              </a:rPr>
                            </m:ctrlPr>
                          </m:sSubPr>
                          <m:e>
                            <m:r>
                              <a:rPr lang="en-US" altLang="zh-TW" sz="2000">
                                <a:latin typeface="Cambria Math"/>
                              </a:rPr>
                              <m:t>𝐴</m:t>
                            </m:r>
                          </m:e>
                          <m:sub>
                            <m:r>
                              <a:rPr lang="en-US" altLang="zh-TW" sz="2000">
                                <a:latin typeface="Cambria Math"/>
                              </a:rPr>
                              <m:t>𝑖</m:t>
                            </m:r>
                          </m:sub>
                        </m:sSub>
                        <m:r>
                          <a:rPr lang="en-US" altLang="zh-TW" sz="2000">
                            <a:latin typeface="Cambria Math"/>
                          </a:rPr>
                          <m:t>=</m:t>
                        </m:r>
                        <m:sSub>
                          <m:sSubPr>
                            <m:ctrlPr>
                              <a:rPr lang="en-US" altLang="zh-TW" sz="2000" i="1">
                                <a:latin typeface="Cambria Math"/>
                              </a:rPr>
                            </m:ctrlPr>
                          </m:sSubPr>
                          <m:e>
                            <m:r>
                              <a:rPr lang="en-US" altLang="zh-TW" sz="2000">
                                <a:latin typeface="Cambria Math"/>
                              </a:rPr>
                              <m:t>𝐵</m:t>
                            </m:r>
                          </m:e>
                          <m:sub>
                            <m:r>
                              <a:rPr lang="en-US" altLang="zh-TW" sz="2000">
                                <a:latin typeface="Cambria Math"/>
                              </a:rPr>
                              <m:t>𝑗</m:t>
                            </m:r>
                          </m:sub>
                        </m:sSub>
                      </m:e>
                    </m:d>
                    <m:r>
                      <a:rPr lang="en-US" altLang="zh-TW" sz="2000" smtClean="0">
                        <a:latin typeface="Cambria Math"/>
                      </a:rPr>
                      <m:t>+</m:t>
                    </m:r>
                    <m:r>
                      <a:rPr lang="en-US" altLang="zh-TW" sz="2000">
                        <a:latin typeface="Cambria Math"/>
                      </a:rPr>
                      <m:t>𝑃</m:t>
                    </m:r>
                    <m:d>
                      <m:dPr>
                        <m:ctrlPr>
                          <a:rPr lang="en-US" altLang="zh-TW" sz="2000" i="1">
                            <a:latin typeface="Cambria Math"/>
                          </a:rPr>
                        </m:ctrlPr>
                      </m:dPr>
                      <m:e>
                        <m:sSub>
                          <m:sSubPr>
                            <m:ctrlPr>
                              <a:rPr lang="en-US" altLang="zh-TW" sz="2000" i="1">
                                <a:latin typeface="Cambria Math"/>
                              </a:rPr>
                            </m:ctrlPr>
                          </m:sSubPr>
                          <m:e>
                            <m:r>
                              <a:rPr lang="en-US" altLang="zh-TW" sz="2000">
                                <a:latin typeface="Cambria Math"/>
                              </a:rPr>
                              <m:t>𝐴</m:t>
                            </m:r>
                          </m:e>
                          <m:sub>
                            <m:r>
                              <a:rPr lang="en-US" altLang="zh-TW" sz="2000">
                                <a:latin typeface="Cambria Math"/>
                              </a:rPr>
                              <m:t>𝑖</m:t>
                            </m:r>
                          </m:sub>
                        </m:sSub>
                        <m:r>
                          <a:rPr lang="en-US" altLang="zh-TW" sz="2000">
                            <a:latin typeface="Cambria Math"/>
                          </a:rPr>
                          <m:t>≠</m:t>
                        </m:r>
                        <m:sSub>
                          <m:sSubPr>
                            <m:ctrlPr>
                              <a:rPr lang="en-US" altLang="zh-TW" sz="2000" i="1">
                                <a:latin typeface="Cambria Math"/>
                              </a:rPr>
                            </m:ctrlPr>
                          </m:sSubPr>
                          <m:e>
                            <m:r>
                              <a:rPr lang="en-US" altLang="zh-TW" sz="2000">
                                <a:latin typeface="Cambria Math"/>
                              </a:rPr>
                              <m:t>𝐵</m:t>
                            </m:r>
                          </m:e>
                          <m:sub>
                            <m:r>
                              <a:rPr lang="en-US" altLang="zh-TW" sz="2000">
                                <a:latin typeface="Cambria Math"/>
                              </a:rPr>
                              <m:t>𝑗</m:t>
                            </m:r>
                          </m:sub>
                        </m:sSub>
                      </m:e>
                    </m:d>
                    <m:r>
                      <a:rPr lang="en-US" altLang="zh-TW" sz="2000" smtClean="0">
                        <a:latin typeface="Cambria Math"/>
                      </a:rPr>
                      <m:t>=1</m:t>
                    </m:r>
                  </m:oMath>
                </a14:m>
                <a:endParaRPr lang="en-US" altLang="zh-TW" sz="2000" dirty="0" smtClean="0"/>
              </a:p>
              <a:p>
                <a:pPr lvl="1">
                  <a:lnSpc>
                    <a:spcPct val="150000"/>
                  </a:lnSpc>
                </a:pPr>
                <a:r>
                  <a:rPr lang="en-US" altLang="zh-TW" sz="2000" dirty="0" smtClean="0"/>
                  <a:t>Normalize to [0,1]; </a:t>
                </a:r>
                <a14:m>
                  <m:oMath xmlns:m="http://schemas.openxmlformats.org/officeDocument/2006/math">
                    <m:r>
                      <a:rPr lang="en-US" altLang="zh-TW" sz="2000" i="1" dirty="0" smtClean="0">
                        <a:latin typeface="Cambria Math"/>
                      </a:rPr>
                      <m:t>𝑃</m:t>
                    </m:r>
                    <m:d>
                      <m:dPr>
                        <m:ctrlPr>
                          <a:rPr lang="en-US" altLang="zh-TW" sz="2000" i="1" dirty="0" smtClean="0">
                            <a:latin typeface="Cambria Math"/>
                          </a:rPr>
                        </m:ctrlPr>
                      </m:dPr>
                      <m:e>
                        <m:sSub>
                          <m:sSubPr>
                            <m:ctrlPr>
                              <a:rPr lang="en-US" altLang="zh-TW" sz="2000" i="1" dirty="0" smtClean="0">
                                <a:latin typeface="Cambria Math"/>
                              </a:rPr>
                            </m:ctrlPr>
                          </m:sSubPr>
                          <m:e>
                            <m:r>
                              <a:rPr lang="en-US" altLang="zh-TW" sz="2000" b="0" i="1" dirty="0" smtClean="0">
                                <a:latin typeface="Cambria Math"/>
                              </a:rPr>
                              <m:t>𝐴</m:t>
                            </m:r>
                          </m:e>
                          <m:sub>
                            <m:r>
                              <a:rPr lang="en-US" altLang="zh-TW" sz="2000" b="0" i="1" dirty="0" smtClean="0">
                                <a:latin typeface="Cambria Math"/>
                              </a:rPr>
                              <m:t>𝑖</m:t>
                            </m:r>
                          </m:sub>
                        </m:sSub>
                        <m:r>
                          <a:rPr lang="en-US" altLang="zh-TW" sz="2000" i="1" dirty="0" smtClean="0">
                            <a:latin typeface="Cambria Math"/>
                          </a:rPr>
                          <m:t>=</m:t>
                        </m:r>
                        <m:sSub>
                          <m:sSubPr>
                            <m:ctrlPr>
                              <a:rPr lang="en-US" altLang="zh-TW" sz="2000" i="1" dirty="0" smtClean="0">
                                <a:latin typeface="Cambria Math"/>
                              </a:rPr>
                            </m:ctrlPr>
                          </m:sSubPr>
                          <m:e>
                            <m:r>
                              <a:rPr lang="en-US" altLang="zh-TW" sz="2000" b="0" i="1" dirty="0" smtClean="0">
                                <a:latin typeface="Cambria Math"/>
                              </a:rPr>
                              <m:t>𝐵</m:t>
                            </m:r>
                          </m:e>
                          <m:sub>
                            <m:r>
                              <a:rPr lang="en-US" altLang="zh-TW" sz="2000" b="0" i="1" dirty="0" smtClean="0">
                                <a:latin typeface="Cambria Math"/>
                              </a:rPr>
                              <m:t>𝑗</m:t>
                            </m:r>
                          </m:sub>
                        </m:sSub>
                      </m:e>
                    </m:d>
                    <m:r>
                      <a:rPr lang="en-US" altLang="zh-TW" sz="2000" i="1" dirty="0" smtClean="0">
                        <a:latin typeface="Cambria Math"/>
                      </a:rPr>
                      <m:t>= </m:t>
                    </m:r>
                    <m:r>
                      <a:rPr lang="en-US" altLang="zh-TW" sz="2000" i="1" dirty="0" smtClean="0">
                        <a:latin typeface="Cambria Math"/>
                      </a:rPr>
                      <m:t>𝑑</m:t>
                    </m:r>
                    <m:d>
                      <m:dPr>
                        <m:ctrlPr>
                          <a:rPr lang="en-US" altLang="zh-TW" sz="2000" i="1" dirty="0" smtClean="0">
                            <a:latin typeface="Cambria Math"/>
                          </a:rPr>
                        </m:ctrlPr>
                      </m:dPr>
                      <m:e>
                        <m:sSub>
                          <m:sSubPr>
                            <m:ctrlPr>
                              <a:rPr lang="en-US" altLang="zh-TW" sz="2000" i="1" dirty="0">
                                <a:latin typeface="Cambria Math"/>
                              </a:rPr>
                            </m:ctrlPr>
                          </m:sSubPr>
                          <m:e>
                            <m:r>
                              <a:rPr lang="en-US" altLang="zh-TW" sz="2000" i="1" dirty="0">
                                <a:latin typeface="Cambria Math"/>
                              </a:rPr>
                              <m:t>𝐴</m:t>
                            </m:r>
                          </m:e>
                          <m:sub>
                            <m:r>
                              <a:rPr lang="en-US" altLang="zh-TW" sz="2000" i="1" dirty="0">
                                <a:latin typeface="Cambria Math"/>
                              </a:rPr>
                              <m:t>𝑖</m:t>
                            </m:r>
                          </m:sub>
                        </m:sSub>
                        <m:r>
                          <a:rPr lang="en-US" altLang="zh-TW" sz="2000" b="0" i="1" dirty="0" smtClean="0">
                            <a:latin typeface="Cambria Math"/>
                          </a:rPr>
                          <m:t>,</m:t>
                        </m:r>
                        <m:sSub>
                          <m:sSubPr>
                            <m:ctrlPr>
                              <a:rPr lang="en-US" altLang="zh-TW" sz="2000" i="1" dirty="0">
                                <a:latin typeface="Cambria Math"/>
                              </a:rPr>
                            </m:ctrlPr>
                          </m:sSubPr>
                          <m:e>
                            <m:r>
                              <a:rPr lang="en-US" altLang="zh-TW" sz="2000" i="1" dirty="0">
                                <a:latin typeface="Cambria Math"/>
                              </a:rPr>
                              <m:t>𝐵</m:t>
                            </m:r>
                          </m:e>
                          <m:sub>
                            <m:r>
                              <a:rPr lang="en-US" altLang="zh-TW" sz="2000" i="1" dirty="0">
                                <a:latin typeface="Cambria Math"/>
                              </a:rPr>
                              <m:t>𝑗</m:t>
                            </m:r>
                          </m:sub>
                        </m:sSub>
                      </m:e>
                    </m:d>
                  </m:oMath>
                </a14:m>
                <a:r>
                  <a:rPr lang="en-US" altLang="zh-TW" sz="2000" dirty="0" smtClean="0"/>
                  <a:t>.</a:t>
                </a:r>
              </a:p>
              <a:p>
                <a:pPr lvl="1">
                  <a:lnSpc>
                    <a:spcPct val="150000"/>
                  </a:lnSpc>
                </a:pPr>
                <a:r>
                  <a:rPr lang="en-US" altLang="zh-TW" sz="2000" dirty="0" smtClean="0"/>
                  <a:t>Or more </a:t>
                </a:r>
                <a:r>
                  <a:rPr lang="en-US" altLang="zh-TW" sz="2000" dirty="0"/>
                  <a:t>involved </a:t>
                </a:r>
                <a:r>
                  <a:rPr lang="en-US" altLang="zh-TW" sz="2000" dirty="0" smtClean="0"/>
                  <a:t>approach.</a:t>
                </a:r>
                <a:endParaRPr lang="zh-TW" altLang="en-US" sz="2000" dirty="0"/>
              </a:p>
            </p:txBody>
          </p:sp>
        </mc:Choice>
        <mc:Fallback xmlns="">
          <p:sp>
            <p:nvSpPr>
              <p:cNvPr id="5" name="內容版面配置區 4"/>
              <p:cNvSpPr>
                <a:spLocks noGrp="1" noRot="1" noChangeAspect="1" noMove="1" noResize="1" noEditPoints="1" noAdjustHandles="1" noChangeArrowheads="1" noChangeShapeType="1" noTextEdit="1"/>
              </p:cNvSpPr>
              <p:nvPr>
                <p:ph idx="1"/>
              </p:nvPr>
            </p:nvSpPr>
            <p:spPr>
              <a:blipFill rotWithShape="1">
                <a:blip r:embed="rId2"/>
                <a:stretch>
                  <a:fillRect l="-59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6186960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Experiment (1/2)</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ormAutofit/>
              </a:bodyPr>
              <a:lstStyle/>
              <a:p>
                <a:pPr>
                  <a:lnSpc>
                    <a:spcPct val="150000"/>
                  </a:lnSpc>
                </a:pPr>
                <a:r>
                  <a:rPr lang="en-US" altLang="zh-TW" sz="2000" dirty="0" smtClean="0"/>
                  <a:t>Data Sets:</a:t>
                </a:r>
              </a:p>
              <a:p>
                <a:pPr lvl="1">
                  <a:lnSpc>
                    <a:spcPct val="150000"/>
                  </a:lnSpc>
                </a:pPr>
                <a:r>
                  <a:rPr lang="en-US" altLang="zh-TW" sz="2000" dirty="0" smtClean="0"/>
                  <a:t>ECG (ECG2c, ECG3c)</a:t>
                </a:r>
              </a:p>
              <a:p>
                <a:pPr lvl="2">
                  <a:lnSpc>
                    <a:spcPct val="110000"/>
                  </a:lnSpc>
                </a:pPr>
                <a:r>
                  <a:rPr lang="en-US" altLang="zh-TW" sz="2000" dirty="0"/>
                  <a:t>3,200 points (about 20 heartbeats) pre </a:t>
                </a:r>
                <a:r>
                  <a:rPr lang="en-US" altLang="zh-TW" sz="2000" dirty="0" smtClean="0"/>
                  <a:t>instance.</a:t>
                </a:r>
              </a:p>
              <a:p>
                <a:pPr lvl="2">
                  <a:lnSpc>
                    <a:spcPct val="110000"/>
                  </a:lnSpc>
                </a:pPr>
                <a:r>
                  <a:rPr lang="en-US" altLang="zh-TW" sz="2000" dirty="0" smtClean="0"/>
                  <a:t>20 instance x 4 classes.</a:t>
                </a:r>
              </a:p>
              <a:p>
                <a:pPr lvl="1">
                  <a:lnSpc>
                    <a:spcPct val="150000"/>
                  </a:lnSpc>
                </a:pPr>
                <a:r>
                  <a:rPr lang="en-US" altLang="zh-TW" sz="2000" dirty="0" smtClean="0"/>
                  <a:t>Australian Sign Language (</a:t>
                </a:r>
                <a:r>
                  <a:rPr lang="en-US" altLang="zh-TW" sz="2000" dirty="0" err="1" smtClean="0"/>
                  <a:t>Auslan</a:t>
                </a:r>
                <a:r>
                  <a:rPr lang="en-US" altLang="zh-TW" sz="2000" dirty="0" smtClean="0"/>
                  <a:t>)</a:t>
                </a:r>
              </a:p>
              <a:p>
                <a:pPr lvl="2"/>
                <a:r>
                  <a:rPr lang="en-US" altLang="zh-TW" sz="2000" dirty="0" smtClean="0"/>
                  <a:t>10 classes: ‘come’, ‘girl’, ‘man’, ‘maybe’, ‘mine’, ‘name’, ‘read’, ‘right’, ‘science’, ‘thank’; 20 examples per class.</a:t>
                </a:r>
              </a:p>
              <a:p>
                <a:pPr lvl="2"/>
                <a:r>
                  <a:rPr lang="en-US" altLang="zh-TW" sz="2000" dirty="0" smtClean="0"/>
                  <a:t>All </a:t>
                </a:r>
                <a:r>
                  <a:rPr lang="en-US" altLang="zh-TW" sz="2000" dirty="0"/>
                  <a:t>classes come from one </a:t>
                </a:r>
                <a:r>
                  <a:rPr lang="en-US" altLang="zh-TW" sz="2000" dirty="0" smtClean="0"/>
                  <a:t>signer.</a:t>
                </a:r>
              </a:p>
              <a:p>
                <a:pPr>
                  <a:lnSpc>
                    <a:spcPct val="150000"/>
                  </a:lnSpc>
                </a:pPr>
                <a:r>
                  <a:rPr lang="en-US" altLang="zh-TW" sz="2000" dirty="0" smtClean="0"/>
                  <a:t>Leave-one-out, </a:t>
                </a:r>
                <a:r>
                  <a:rPr lang="en-US" altLang="zh-TW" sz="2000" dirty="0" err="1" smtClean="0"/>
                  <a:t>kNN</a:t>
                </a:r>
                <a:r>
                  <a:rPr lang="en-US" altLang="zh-TW" sz="2000" dirty="0" smtClean="0"/>
                  <a:t> (k = 1, 4, 7, 10, 13, 16, 19)</a:t>
                </a:r>
              </a:p>
              <a:p>
                <a:pPr>
                  <a:lnSpc>
                    <a:spcPct val="150000"/>
                  </a:lnSpc>
                </a:pPr>
                <a14:m>
                  <m:oMath xmlns:m="http://schemas.openxmlformats.org/officeDocument/2006/math">
                    <m:r>
                      <a:rPr lang="zh-TW" altLang="en-US" sz="2000" smtClean="0">
                        <a:latin typeface="Cambria Math"/>
                      </a:rPr>
                      <m:t>𝛿</m:t>
                    </m:r>
                    <m:r>
                      <a:rPr lang="en-US" altLang="zh-TW" sz="2000" smtClean="0">
                        <a:latin typeface="Cambria Math"/>
                      </a:rPr>
                      <m:t>=3,</m:t>
                    </m:r>
                    <m:r>
                      <a:rPr lang="zh-TW" altLang="en-US" sz="2000" smtClean="0">
                        <a:latin typeface="Cambria Math"/>
                      </a:rPr>
                      <m:t>𝜖</m:t>
                    </m:r>
                    <m:r>
                      <a:rPr lang="en-US" altLang="zh-TW" sz="2000" smtClean="0">
                        <a:latin typeface="Cambria Math"/>
                      </a:rPr>
                      <m:t>=0.13</m:t>
                    </m:r>
                  </m:oMath>
                </a14:m>
                <a:endParaRPr lang="zh-TW" altLang="en-US" sz="2000"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59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762995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mtClean="0"/>
              <a:t>Experiment (2/2)</a:t>
            </a:r>
            <a:endParaRPr lang="zh-TW" altLang="en-US" dirty="0"/>
          </a:p>
        </p:txBody>
      </p:sp>
      <p:sp>
        <p:nvSpPr>
          <p:cNvPr id="3" name="內容版面配置區 2"/>
          <p:cNvSpPr>
            <a:spLocks noGrp="1"/>
          </p:cNvSpPr>
          <p:nvPr>
            <p:ph idx="1"/>
          </p:nvPr>
        </p:nvSpPr>
        <p:spPr/>
        <p:txBody>
          <a:bodyPr>
            <a:normAutofit/>
          </a:bodyPr>
          <a:lstStyle/>
          <a:p>
            <a:pPr>
              <a:lnSpc>
                <a:spcPct val="150000"/>
              </a:lnSpc>
            </a:pPr>
            <a:r>
              <a:rPr lang="en-US" altLang="zh-TW" sz="2000" dirty="0" smtClean="0"/>
              <a:t>lcs_vhgk:	the extended LCS presented in [Vlac03].</a:t>
            </a:r>
          </a:p>
          <a:p>
            <a:pPr>
              <a:lnSpc>
                <a:spcPct val="150000"/>
              </a:lnSpc>
            </a:pPr>
            <a:r>
              <a:rPr lang="en-US" altLang="zh-TW" sz="2000" dirty="0" smtClean="0"/>
              <a:t>acs_vhgk:	ACS extended in a way similar to lcs_vhgk.</a:t>
            </a:r>
          </a:p>
          <a:p>
            <a:pPr>
              <a:lnSpc>
                <a:spcPct val="150000"/>
              </a:lnSpc>
            </a:pPr>
            <a:r>
              <a:rPr lang="en-US" altLang="zh-TW" sz="2000" dirty="0" smtClean="0"/>
              <a:t>lcs_w_euc:	LCS extended with normalized Euclidean distance.</a:t>
            </a:r>
          </a:p>
          <a:p>
            <a:pPr>
              <a:lnSpc>
                <a:spcPct val="150000"/>
              </a:lnSpc>
            </a:pPr>
            <a:r>
              <a:rPr lang="en-US" altLang="zh-TW" sz="2000" dirty="0" smtClean="0"/>
              <a:t>acs_w_euc:	ACS extended with normalized Euclidean distance.</a:t>
            </a:r>
          </a:p>
          <a:p>
            <a:pPr>
              <a:lnSpc>
                <a:spcPct val="150000"/>
              </a:lnSpc>
            </a:pPr>
            <a:r>
              <a:rPr lang="en-US" altLang="zh-TW" sz="2000" dirty="0" smtClean="0"/>
              <a:t>lcs_w_ncm:	LCS extended with normalized NCM.</a:t>
            </a:r>
          </a:p>
          <a:p>
            <a:pPr>
              <a:lnSpc>
                <a:spcPct val="150000"/>
              </a:lnSpc>
            </a:pPr>
            <a:r>
              <a:rPr lang="en-US" altLang="zh-TW" sz="2000" dirty="0" smtClean="0"/>
              <a:t>acs_w_ncm:	ACS extended with normalized NCM.</a:t>
            </a:r>
          </a:p>
          <a:p>
            <a:pPr lvl="1">
              <a:lnSpc>
                <a:spcPct val="150000"/>
              </a:lnSpc>
            </a:pPr>
            <a:r>
              <a:rPr lang="en-US" altLang="zh-TW" sz="2000" dirty="0" smtClean="0"/>
              <a:t>The NCM similarity: H. Wang and W. Dubitzky. A flexible and robust similarity measure based on contextual probability.</a:t>
            </a:r>
            <a:endParaRPr lang="zh-TW" altLang="en-US" sz="2000" dirty="0"/>
          </a:p>
        </p:txBody>
      </p:sp>
    </p:spTree>
    <p:extLst>
      <p:ext uri="{BB962C8B-B14F-4D97-AF65-F5344CB8AC3E}">
        <p14:creationId xmlns:p14="http://schemas.microsoft.com/office/powerpoint/2010/main" val="34772777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t>Auslan</a:t>
            </a:r>
            <a:r>
              <a:rPr lang="en-US" altLang="zh-TW" dirty="0"/>
              <a:t> (Sampled)</a:t>
            </a:r>
            <a:endParaRPr lang="zh-TW" altLang="en-US" dirty="0"/>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1468" y="2196073"/>
            <a:ext cx="7621064" cy="3334216"/>
          </a:xfrm>
        </p:spPr>
      </p:pic>
    </p:spTree>
    <p:extLst>
      <p:ext uri="{BB962C8B-B14F-4D97-AF65-F5344CB8AC3E}">
        <p14:creationId xmlns:p14="http://schemas.microsoft.com/office/powerpoint/2010/main" val="3532396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t>Auslan</a:t>
            </a:r>
            <a:r>
              <a:rPr lang="en-US" altLang="zh-TW" dirty="0" smtClean="0"/>
              <a:t> (All)</a:t>
            </a:r>
            <a:endParaRPr lang="zh-TW" altLang="en-US" dirty="0"/>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1468" y="2196073"/>
            <a:ext cx="7621064" cy="3334216"/>
          </a:xfrm>
        </p:spPr>
      </p:pic>
    </p:spTree>
    <p:extLst>
      <p:ext uri="{BB962C8B-B14F-4D97-AF65-F5344CB8AC3E}">
        <p14:creationId xmlns:p14="http://schemas.microsoft.com/office/powerpoint/2010/main" val="36518256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ECG2c</a:t>
            </a:r>
            <a:endParaRPr lang="zh-TW" altLang="en-US" dirty="0"/>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1468" y="2338968"/>
            <a:ext cx="7621064" cy="3048426"/>
          </a:xfrm>
        </p:spPr>
      </p:pic>
    </p:spTree>
    <p:extLst>
      <p:ext uri="{BB962C8B-B14F-4D97-AF65-F5344CB8AC3E}">
        <p14:creationId xmlns:p14="http://schemas.microsoft.com/office/powerpoint/2010/main" val="581536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ECG3c</a:t>
            </a:r>
            <a:endParaRPr lang="zh-TW" altLang="en-US" dirty="0"/>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1468" y="2338968"/>
            <a:ext cx="7621064" cy="3048426"/>
          </a:xfrm>
        </p:spPr>
      </p:pic>
    </p:spTree>
    <p:extLst>
      <p:ext uri="{BB962C8B-B14F-4D97-AF65-F5344CB8AC3E}">
        <p14:creationId xmlns:p14="http://schemas.microsoft.com/office/powerpoint/2010/main" val="4821343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327025"/>
            <a:ext cx="4572000" cy="6210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2424393"/>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227</TotalTime>
  <Words>1059</Words>
  <Application>Microsoft Office PowerPoint</Application>
  <PresentationFormat>如螢幕大小 (4:3)</PresentationFormat>
  <Paragraphs>58</Paragraphs>
  <Slides>14</Slides>
  <Notes>0</Notes>
  <HiddenSlides>0</HiddenSlides>
  <MMClips>0</MMClips>
  <ScaleCrop>false</ScaleCrop>
  <HeadingPairs>
    <vt:vector size="4" baseType="variant">
      <vt:variant>
        <vt:lpstr>佈景主題</vt:lpstr>
      </vt:variant>
      <vt:variant>
        <vt:i4>1</vt:i4>
      </vt:variant>
      <vt:variant>
        <vt:lpstr>投影片標題</vt:lpstr>
      </vt:variant>
      <vt:variant>
        <vt:i4>14</vt:i4>
      </vt:variant>
    </vt:vector>
  </HeadingPairs>
  <TitlesOfParts>
    <vt:vector size="15" baseType="lpstr">
      <vt:lpstr>Office 佈景主題</vt:lpstr>
      <vt:lpstr>All Common Subsequences</vt:lpstr>
      <vt:lpstr>Abstract (1/2)</vt:lpstr>
      <vt:lpstr>Abstract (2/2)</vt:lpstr>
      <vt:lpstr>All Common Subsequences (ACS)</vt:lpstr>
      <vt:lpstr>For Discrete Symbols</vt:lpstr>
      <vt:lpstr>LCS Extended [Vlac03]</vt:lpstr>
      <vt:lpstr>Extended: Probabilistic Metric Spaces</vt:lpstr>
      <vt:lpstr>Experiment (1/2)</vt:lpstr>
      <vt:lpstr>Experiment (2/2)</vt:lpstr>
      <vt:lpstr>Auslan (Sampled)</vt:lpstr>
      <vt:lpstr>Auslan (All)</vt:lpstr>
      <vt:lpstr>ECG2c</vt:lpstr>
      <vt:lpstr>ECG3c</vt:lpstr>
      <vt:lpstr>PowerPoint 簡報</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All Common Subsequences</dc:title>
  <dc:creator>YiPo</dc:creator>
  <cp:lastModifiedBy>YiPo</cp:lastModifiedBy>
  <cp:revision>40</cp:revision>
  <dcterms:created xsi:type="dcterms:W3CDTF">2013-03-17T16:12:03Z</dcterms:created>
  <dcterms:modified xsi:type="dcterms:W3CDTF">2013-03-18T10:32:07Z</dcterms:modified>
</cp:coreProperties>
</file>