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4" r:id="rId12"/>
    <p:sldId id="265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2" autoAdjust="0"/>
    <p:restoredTop sz="94660"/>
  </p:normalViewPr>
  <p:slideViewPr>
    <p:cSldViewPr>
      <p:cViewPr varScale="1">
        <p:scale>
          <a:sx n="111" d="100"/>
          <a:sy n="111" d="100"/>
        </p:scale>
        <p:origin x="-52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4000" b="1" dirty="0"/>
              <a:t>Partitions based computational method for high-order fuzzy time series forecasting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Sukhdev</a:t>
            </a:r>
            <a:r>
              <a:rPr lang="en-US" altLang="zh-TW" sz="2800" dirty="0"/>
              <a:t> Singh </a:t>
            </a:r>
            <a:r>
              <a:rPr lang="en-US" altLang="zh-TW" sz="2800" dirty="0" err="1"/>
              <a:t>Gangwar</a:t>
            </a:r>
            <a:r>
              <a:rPr lang="en-US" altLang="zh-TW" sz="2800" dirty="0"/>
              <a:t>, Sanjay </a:t>
            </a:r>
            <a:r>
              <a:rPr lang="en-US" altLang="zh-TW" sz="2800" dirty="0" smtClean="0"/>
              <a:t>Kumar</a:t>
            </a:r>
          </a:p>
          <a:p>
            <a:r>
              <a:rPr lang="en-US" altLang="zh-TW" sz="2800" dirty="0"/>
              <a:t>Expert Systems with Applications 39 (2012) 12158–12164</a:t>
            </a:r>
            <a:endParaRPr lang="en-US" altLang="zh-TW" sz="2800" dirty="0" smtClean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Date: </a:t>
            </a:r>
            <a:fld id="{3DC95CE2-72FD-4627-B4FE-7CBC89963158}" type="datetime1">
              <a:rPr lang="zh-TW" altLang="en-US" sz="2800" smtClean="0">
                <a:solidFill>
                  <a:schemeClr val="tx1"/>
                </a:solidFill>
              </a:rPr>
              <a:t>2013/3/17</a:t>
            </a:fld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en-US" altLang="zh-TW" sz="2200" dirty="0"/>
              <a:t>In this paper, we present a computational method of forecasting based on multiple partitioning </a:t>
            </a:r>
            <a:r>
              <a:rPr lang="en-US" altLang="zh-TW" sz="2200" dirty="0" smtClean="0"/>
              <a:t>and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higher </a:t>
            </a:r>
            <a:r>
              <a:rPr lang="en-US" altLang="zh-TW" sz="2200" dirty="0"/>
              <a:t>order fuzzy time series. The developed computational method provides a better approach </a:t>
            </a:r>
            <a:r>
              <a:rPr lang="en-US" altLang="zh-TW" sz="2200" dirty="0" smtClean="0"/>
              <a:t>to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enhance </a:t>
            </a:r>
            <a:r>
              <a:rPr lang="en-US" altLang="zh-TW" sz="2200" dirty="0"/>
              <a:t>the accuracy in forecasted values. The objective of the present study is to establish the fuzzy </a:t>
            </a:r>
            <a:r>
              <a:rPr lang="en-US" altLang="zh-TW" sz="2200" dirty="0" smtClean="0"/>
              <a:t>logical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relations </a:t>
            </a:r>
            <a:r>
              <a:rPr lang="en-US" altLang="zh-TW" sz="2200" dirty="0"/>
              <a:t>of different order for each forecast. Robustness of the proposed method is also examined </a:t>
            </a:r>
            <a:r>
              <a:rPr lang="en-US" altLang="zh-TW" sz="2200" dirty="0" smtClean="0"/>
              <a:t>in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case </a:t>
            </a:r>
            <a:r>
              <a:rPr lang="en-US" altLang="zh-TW" sz="2200" dirty="0"/>
              <a:t>of external perturbation that causes the fluctuations in time series data. The general suitability of </a:t>
            </a:r>
            <a:r>
              <a:rPr lang="en-US" altLang="zh-TW" sz="2200" dirty="0" smtClean="0"/>
              <a:t>the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developed </a:t>
            </a:r>
            <a:r>
              <a:rPr lang="en-US" altLang="zh-TW" sz="2200" dirty="0"/>
              <a:t>model has been tested by implementing it in forecasting of student enrollments at </a:t>
            </a:r>
            <a:r>
              <a:rPr lang="en-US" altLang="zh-TW" sz="2200" dirty="0" smtClean="0"/>
              <a:t>University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of </a:t>
            </a:r>
            <a:r>
              <a:rPr lang="en-US" altLang="zh-TW" sz="2200" dirty="0"/>
              <a:t>Alabama. Further it has also been implemented in the forecasting the market price of share of </a:t>
            </a:r>
            <a:r>
              <a:rPr lang="en-US" altLang="zh-TW" sz="2200" dirty="0" smtClean="0"/>
              <a:t>State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Bank </a:t>
            </a:r>
            <a:r>
              <a:rPr lang="en-US" altLang="zh-TW" sz="2200" dirty="0"/>
              <a:t>of India (SBI) at Bombay Stock Exchange (BSE), India. In order to show the superiority of the </a:t>
            </a:r>
            <a:r>
              <a:rPr lang="en-US" altLang="zh-TW" sz="2200" dirty="0" smtClean="0"/>
              <a:t>proposed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model </a:t>
            </a:r>
            <a:r>
              <a:rPr lang="en-US" altLang="zh-TW" sz="2200" dirty="0"/>
              <a:t>over few existing models, the results obtained have been compared in terms of mean </a:t>
            </a:r>
            <a:r>
              <a:rPr lang="en-US" altLang="zh-TW" sz="2200" dirty="0" smtClean="0"/>
              <a:t>square</a:t>
            </a:r>
            <a:r>
              <a:rPr lang="zh-TW" altLang="en-US" sz="2200" dirty="0" smtClean="0"/>
              <a:t> </a:t>
            </a:r>
            <a:r>
              <a:rPr lang="en-US" altLang="zh-TW" sz="2200" dirty="0" smtClean="0"/>
              <a:t>and </a:t>
            </a:r>
            <a:r>
              <a:rPr lang="en-US" altLang="zh-TW" sz="2200" dirty="0"/>
              <a:t>average forecasting errors.</a:t>
            </a:r>
            <a:endParaRPr lang="zh-TW" altLang="en-US" sz="2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Proposed </a:t>
            </a:r>
            <a:r>
              <a:rPr lang="en-US" altLang="zh-TW" b="1" dirty="0" smtClean="0"/>
              <a:t>algorithm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Define </a:t>
                </a:r>
                <a:r>
                  <a:rPr lang="en-US" altLang="zh-TW" dirty="0"/>
                  <a:t>the Universe of discourse,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altLang="zh-TW" dirty="0"/>
                  <a:t> based on the range of </a:t>
                </a:r>
                <a:r>
                  <a:rPr lang="en-US" altLang="zh-TW" dirty="0" smtClean="0"/>
                  <a:t>available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time </a:t>
                </a:r>
                <a:r>
                  <a:rPr lang="en-US" altLang="zh-TW" dirty="0"/>
                  <a:t>series data, by the rule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𝑈</m:t>
                    </m:r>
                    <m:r>
                      <a:rPr lang="en-US" altLang="zh-TW" i="1" dirty="0" smtClean="0">
                        <a:latin typeface="Cambria Math"/>
                      </a:rPr>
                      <m:t>=[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𝑚𝑖𝑛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−</m:t>
                    </m:r>
                    <m:r>
                      <a:rPr lang="en-US" altLang="zh-TW" i="1" dirty="0">
                        <a:latin typeface="Cambria Math"/>
                      </a:rPr>
                      <m:t>𝐸</m:t>
                    </m:r>
                    <m:r>
                      <a:rPr lang="en-US" altLang="zh-TW" i="1" dirty="0">
                        <a:latin typeface="Cambria Math"/>
                      </a:rPr>
                      <m:t>1, 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𝑚𝑎𝑥</m:t>
                        </m:r>
                      </m:sub>
                    </m:sSub>
                    <m:r>
                      <a:rPr lang="en-US" altLang="zh-TW" i="1" dirty="0">
                        <a:latin typeface="Cambria Math"/>
                      </a:rPr>
                      <m:t>+</m:t>
                    </m:r>
                    <m:r>
                      <a:rPr lang="en-US" altLang="zh-TW" i="1" dirty="0">
                        <a:latin typeface="Cambria Math"/>
                      </a:rPr>
                      <m:t>𝐸</m:t>
                    </m:r>
                    <m:r>
                      <a:rPr lang="en-US" altLang="zh-TW" i="1" dirty="0">
                        <a:latin typeface="Cambria Math"/>
                      </a:rPr>
                      <m:t>2] </m:t>
                    </m:r>
                  </m:oMath>
                </a14:m>
                <a:r>
                  <a:rPr lang="en-US" altLang="zh-TW" dirty="0" smtClean="0"/>
                  <a:t>where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𝐸</m:t>
                    </m:r>
                    <m:r>
                      <a:rPr lang="en-US" altLang="zh-TW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𝐸</m:t>
                    </m:r>
                    <m:r>
                      <a:rPr lang="en-US" altLang="zh-TW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dirty="0"/>
                  <a:t> are two proper positive numbers.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Partition </a:t>
                </a:r>
                <a:r>
                  <a:rPr lang="en-US" altLang="zh-TW" dirty="0"/>
                  <a:t>the universe of discourse into equal length of </a:t>
                </a:r>
                <a:r>
                  <a:rPr lang="en-US" altLang="zh-TW" dirty="0" smtClean="0"/>
                  <a:t>intervals: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/>
                      </a:rPr>
                      <m:t>, </m:t>
                    </m:r>
                    <m:r>
                      <a:rPr lang="en-US" altLang="zh-TW" b="0" i="1" dirty="0" smtClean="0">
                        <a:latin typeface="Cambria Math"/>
                      </a:rPr>
                      <m:t>…</m:t>
                    </m:r>
                    <m:r>
                      <a:rPr lang="en-US" altLang="zh-TW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. The number of intervals will be in </a:t>
                </a:r>
                <a:r>
                  <a:rPr lang="en-US" altLang="zh-TW" dirty="0" smtClean="0"/>
                  <a:t>accordance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with </a:t>
                </a:r>
                <a:r>
                  <a:rPr lang="en-US" altLang="zh-TW" dirty="0"/>
                  <a:t>the number of fuzzy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Construct </a:t>
                </a:r>
                <a:r>
                  <a:rPr lang="en-US" altLang="zh-TW" dirty="0"/>
                  <a:t>the fuzzy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in accordance with the intervals </a:t>
                </a:r>
                <a:r>
                  <a:rPr lang="en-US" altLang="zh-TW" dirty="0" smtClean="0"/>
                  <a:t>in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Step </a:t>
                </a:r>
                <a:r>
                  <a:rPr lang="en-US" altLang="zh-TW" dirty="0"/>
                  <a:t>2 and apply the triangular membership rule to each </a:t>
                </a:r>
                <a:r>
                  <a:rPr lang="en-US" altLang="zh-TW" dirty="0" smtClean="0"/>
                  <a:t>interval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in </a:t>
                </a:r>
                <a:r>
                  <a:rPr lang="en-US" altLang="zh-TW" dirty="0"/>
                  <a:t>each triangular fuzzy set so constructed.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Repartition </a:t>
                </a:r>
                <a:r>
                  <a:rPr lang="en-US" altLang="zh-TW" dirty="0"/>
                  <a:t>the whole fuzzy time series using the </a:t>
                </a:r>
                <a:r>
                  <a:rPr lang="en-US" altLang="zh-TW" dirty="0" smtClean="0"/>
                  <a:t>expression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/>
                      </a:rPr>
                      <m:t>𝜌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𝑖𝑛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err="1" smtClean="0"/>
                  <a:t>Fuzzify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the data and establish the fuzzy logical relationships </a:t>
                </a:r>
                <a:r>
                  <a:rPr lang="en-US" altLang="zh-TW" dirty="0" smtClean="0"/>
                  <a:t>by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rule </a:t>
                </a:r>
                <a:r>
                  <a:rPr lang="en-US" altLang="zh-TW" dirty="0" smtClean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smtClean="0">
                            <a:latin typeface="Cambria Math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b="0" i="1" smtClean="0">
                                    <a:latin typeface="Cambria Math"/>
                                  </a:rPr>
                                  <m:t>𝑐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+1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r>
                          <a:rPr lang="en-US" altLang="zh-TW" b="0" i="1" smtClean="0">
                            <a:latin typeface="Cambria Math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Rules </a:t>
                </a:r>
                <a:r>
                  <a:rPr lang="en-US" altLang="zh-TW" dirty="0"/>
                  <a:t>(Computational algorithm) for forecasting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2426" r="-1185" b="-21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858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</a:t>
            </a:r>
            <a:r>
              <a:rPr lang="en-US" altLang="zh-TW" b="1" dirty="0" smtClean="0"/>
              <a:t>method (1/8)</a:t>
            </a:r>
            <a:endParaRPr lang="zh-TW" altLang="en-US" b="1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738809"/>
            <a:ext cx="5212808" cy="5098492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079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</a:t>
            </a:r>
            <a:r>
              <a:rPr lang="en-US" altLang="zh-TW" b="1" dirty="0" smtClean="0"/>
              <a:t>method (2/8)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500" b="1" dirty="0" smtClean="0"/>
                  <a:t>Step 1: </a:t>
                </a:r>
                <a:r>
                  <a:rPr lang="en-US" altLang="zh-TW" sz="2500" dirty="0" smtClean="0"/>
                  <a:t>Universe of discourse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/>
                      </a:rPr>
                      <m:t>𝑈</m:t>
                    </m:r>
                    <m:r>
                      <a:rPr lang="en-US" altLang="zh-TW" sz="2500" b="0" i="0" dirty="0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/>
                          </a:rPr>
                          <m:t>13000,20000</m:t>
                        </m:r>
                      </m:e>
                    </m:d>
                  </m:oMath>
                </a14:m>
                <a:r>
                  <a:rPr lang="en-US" altLang="zh-TW" sz="2500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500" b="1" dirty="0"/>
                  <a:t>Step 2: </a:t>
                </a:r>
                <a:r>
                  <a:rPr lang="en-US" altLang="zh-TW" sz="2500" dirty="0"/>
                  <a:t>The Universe of discourse is partitioned into </a:t>
                </a:r>
                <a:r>
                  <a:rPr lang="en-US" altLang="zh-TW" sz="2500" dirty="0" smtClean="0"/>
                  <a:t>seven intervals </a:t>
                </a:r>
                <a:r>
                  <a:rPr lang="en-US" altLang="zh-TW" sz="2500" dirty="0"/>
                  <a:t>(linguistic values</a:t>
                </a:r>
                <a:r>
                  <a:rPr lang="en-US" altLang="zh-TW" sz="2500" dirty="0" smtClean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b="0" i="1" dirty="0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13000,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14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/>
                          </a:rPr>
                          <m:t>14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000,1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5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/>
                          </a:rPr>
                          <m:t>15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000,1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6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6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000,1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7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7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000,1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8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8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000,1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9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9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000,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20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500" b="1" dirty="0"/>
                  <a:t>Step 3: </a:t>
                </a:r>
                <a:r>
                  <a:rPr lang="en-US" altLang="zh-TW" sz="2500" dirty="0"/>
                  <a:t>Seven fuzzy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500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500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5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500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500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2500" i="1" dirty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500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500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sz="2500" dirty="0"/>
                  <a:t> are define on the </a:t>
                </a:r>
                <a:r>
                  <a:rPr lang="en-US" altLang="zh-TW" sz="2500" dirty="0" smtClean="0"/>
                  <a:t>universe of </a:t>
                </a:r>
                <a:r>
                  <a:rPr lang="en-US" altLang="zh-TW" sz="2500" dirty="0"/>
                  <a:t>discourse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altLang="zh-TW" sz="2500" dirty="0"/>
                  <a:t> and the membership grades to these fuzzy </a:t>
                </a:r>
                <a:r>
                  <a:rPr lang="en-US" altLang="zh-TW" sz="2500" dirty="0" smtClean="0"/>
                  <a:t>sets are </a:t>
                </a:r>
                <a:r>
                  <a:rPr lang="en-US" altLang="zh-TW" sz="2500" dirty="0"/>
                  <a:t>defined as follows</a:t>
                </a:r>
                <a:r>
                  <a:rPr lang="en-US" altLang="zh-TW" sz="25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185" t="-879" r="-6667" b="-183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31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method </a:t>
            </a:r>
            <a:r>
              <a:rPr lang="en-US" altLang="zh-TW" b="1" dirty="0" smtClean="0"/>
              <a:t>(3/8)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b="0" i="1" smtClean="0"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b="0" i="1" smtClean="0">
                              <a:latin typeface="Cambria Math"/>
                            </a:rPr>
                            <m:t>7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500" dirty="0" smtClean="0"/>
              </a:p>
              <a:p>
                <a:pPr marL="0" indent="0">
                  <a:buNone/>
                </a:pPr>
                <a:r>
                  <a:rPr lang="en-US" altLang="zh-TW" sz="2500" b="1" dirty="0"/>
                  <a:t>Step 4: </a:t>
                </a:r>
                <a:r>
                  <a:rPr lang="en-US" altLang="zh-TW" sz="2500" dirty="0"/>
                  <a:t>The </a:t>
                </a:r>
                <a:r>
                  <a:rPr lang="en-US" altLang="zh-TW" sz="2500" dirty="0" err="1"/>
                  <a:t>fuzzified</a:t>
                </a:r>
                <a:r>
                  <a:rPr lang="en-US" altLang="zh-TW" sz="2500" dirty="0"/>
                  <a:t> historical time series data of </a:t>
                </a:r>
                <a:r>
                  <a:rPr lang="en-US" altLang="zh-TW" sz="2500" dirty="0" smtClean="0"/>
                  <a:t>enrollments are </a:t>
                </a:r>
                <a:r>
                  <a:rPr lang="en-US" altLang="zh-TW" sz="2500" dirty="0"/>
                  <a:t>obtained and fuzzy logical relations are </a:t>
                </a:r>
                <a:r>
                  <a:rPr lang="en-US" altLang="zh-TW" sz="2500" dirty="0" smtClean="0"/>
                  <a:t>established (Table </a:t>
                </a:r>
                <a:r>
                  <a:rPr lang="en-US" altLang="zh-TW" sz="2500" dirty="0"/>
                  <a:t>1</a:t>
                </a:r>
                <a:r>
                  <a:rPr lang="en-US" altLang="zh-TW" sz="2500" dirty="0" smtClean="0"/>
                  <a:t>).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185" t="-11809" r="-6741" b="-13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82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28936"/>
            <a:ext cx="751332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method </a:t>
            </a:r>
            <a:r>
              <a:rPr lang="en-US" altLang="zh-TW" b="1" dirty="0" smtClean="0"/>
              <a:t>(4/8)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243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method </a:t>
            </a:r>
            <a:r>
              <a:rPr lang="en-US" altLang="zh-TW" b="1" dirty="0" smtClean="0"/>
              <a:t>(5/8)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500" b="1" dirty="0" smtClean="0"/>
                  <a:t>Step 5: </a:t>
                </a:r>
                <a:r>
                  <a:rPr lang="en-US" altLang="zh-TW" sz="2500" dirty="0" smtClean="0"/>
                  <a:t>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500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sz="25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zh-TW" sz="2500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sz="2500" i="1">
                            <a:latin typeface="Cambria Math"/>
                          </a:rPr>
                          <m:t>2</m:t>
                        </m:r>
                        <m:d>
                          <m:dPr>
                            <m:ctrlPr>
                              <a:rPr lang="en-US" altLang="zh-TW" sz="25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zh-TW" sz="25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TW" sz="2500" b="0" i="1" smtClean="0">
                        <a:latin typeface="Cambria Math"/>
                      </a:rPr>
                      <m:t>=2.578</m:t>
                    </m:r>
                  </m:oMath>
                </a14:m>
                <a:r>
                  <a:rPr lang="en-US" altLang="zh-TW" sz="2500" dirty="0"/>
                  <a:t>, the time series data again </a:t>
                </a:r>
                <a:r>
                  <a:rPr lang="en-US" altLang="zh-TW" sz="2500" dirty="0" smtClean="0"/>
                  <a:t>partitioned in </a:t>
                </a:r>
                <a:r>
                  <a:rPr lang="en-US" altLang="zh-TW" sz="2500" dirty="0"/>
                  <a:t>three parts. First partition contains enrollments </a:t>
                </a:r>
                <a:r>
                  <a:rPr lang="en-US" altLang="zh-TW" sz="2500" dirty="0" smtClean="0"/>
                  <a:t>from 1971 </a:t>
                </a:r>
                <a:r>
                  <a:rPr lang="en-US" altLang="zh-TW" sz="2500" dirty="0"/>
                  <a:t>to 1978, second partition contains enrollments </a:t>
                </a:r>
                <a:r>
                  <a:rPr lang="en-US" altLang="zh-TW" sz="2500" dirty="0" smtClean="0"/>
                  <a:t>from 1979 </a:t>
                </a:r>
                <a:r>
                  <a:rPr lang="en-US" altLang="zh-TW" sz="2500" dirty="0"/>
                  <a:t>to 1985 and third partition contains enrollments </a:t>
                </a:r>
                <a:r>
                  <a:rPr lang="en-US" altLang="zh-TW" sz="2500" dirty="0" smtClean="0"/>
                  <a:t>from 1986 </a:t>
                </a:r>
                <a:r>
                  <a:rPr lang="en-US" altLang="zh-TW" sz="2500" dirty="0"/>
                  <a:t>to 1992.</a:t>
                </a:r>
              </a:p>
              <a:p>
                <a:pPr marL="0" indent="0">
                  <a:buNone/>
                </a:pPr>
                <a:r>
                  <a:rPr lang="en-US" altLang="zh-TW" sz="2500" b="1" dirty="0"/>
                  <a:t>Step 6: </a:t>
                </a:r>
                <a:r>
                  <a:rPr lang="en-US" altLang="zh-TW" sz="2500" dirty="0"/>
                  <a:t>The computations for the enrollments of University </a:t>
                </a:r>
                <a:r>
                  <a:rPr lang="en-US" altLang="zh-TW" sz="2500" dirty="0" smtClean="0"/>
                  <a:t>of Alabama </a:t>
                </a:r>
                <a:r>
                  <a:rPr lang="en-US" altLang="zh-TW" sz="2500" dirty="0"/>
                  <a:t>have been carried out by using the proposed </a:t>
                </a:r>
                <a:r>
                  <a:rPr lang="en-US" altLang="zh-TW" sz="2500" dirty="0" smtClean="0"/>
                  <a:t>model (computational algorithm). The results obtained </a:t>
                </a:r>
                <a:r>
                  <a:rPr lang="en-US" altLang="zh-TW" sz="2500" dirty="0"/>
                  <a:t>are placed in the Table 2 along with results of </a:t>
                </a:r>
                <a:r>
                  <a:rPr lang="en-US" altLang="zh-TW" sz="2500" dirty="0" smtClean="0"/>
                  <a:t>other models</a:t>
                </a:r>
                <a:r>
                  <a:rPr lang="en-US" altLang="zh-TW" sz="2500" dirty="0"/>
                  <a:t>.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r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96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Computational </a:t>
            </a:r>
            <a:r>
              <a:rPr lang="en-US" altLang="zh-TW" b="1" dirty="0" smtClean="0"/>
              <a:t>algorithm (1/2)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8" r="4997" b="1350"/>
          <a:stretch/>
        </p:blipFill>
        <p:spPr bwMode="auto">
          <a:xfrm>
            <a:off x="2123728" y="1268553"/>
            <a:ext cx="4797550" cy="554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55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Computational algorithm </a:t>
            </a:r>
            <a:r>
              <a:rPr lang="en-US" altLang="zh-TW" b="1" dirty="0" smtClean="0"/>
              <a:t>(2/2)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內容版面配置區 13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b="1" dirty="0" smtClean="0"/>
                  <a:t>Step 1: </a:t>
                </a:r>
                <a:r>
                  <a:rPr lang="en-US" altLang="zh-TW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/>
                                  </a:rPr>
                                  <m:t>𝑐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+1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b="1" dirty="0" smtClean="0"/>
                  <a:t>Step 2: </a:t>
                </a:r>
                <a:r>
                  <a:rPr lang="en-US" altLang="zh-TW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𝑖𝑎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𝐹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𝑖𝑎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a:rPr lang="en-US" altLang="zh-TW" i="1">
                        <a:latin typeface="Cambria Math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b="1" dirty="0" smtClean="0"/>
                  <a:t>Step 3: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𝑖𝑎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b="0" i="1" smtClean="0">
                        <a:latin typeface="Cambria Math"/>
                      </a:rPr>
                      <m:t>𝐿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𝑖𝑎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, then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/>
                      </a:rPr>
                      <m:t>𝑃</m:t>
                    </m:r>
                    <m:r>
                      <a:rPr lang="en-US" altLang="zh-TW" b="0" i="1" dirty="0" smtClean="0">
                        <a:latin typeface="Cambria Math"/>
                      </a:rPr>
                      <m:t>+=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𝑖𝑎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𝑄</m:t>
                    </m:r>
                    <m:r>
                      <a:rPr lang="en-US" altLang="zh-TW" b="0" i="1" smtClean="0">
                        <a:latin typeface="Cambria Math"/>
                      </a:rPr>
                      <m:t>++</m:t>
                    </m:r>
                  </m:oMath>
                </a14:m>
                <a:r>
                  <a:rPr lang="en-US" altLang="zh-TW" dirty="0" smtClean="0"/>
                  <a:t>;</a:t>
                </a:r>
                <a:r>
                  <a:rPr lang="en-US" altLang="zh-TW" dirty="0" smtClean="0"/>
                  <a:t> same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𝐹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𝑖𝑎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b="1" dirty="0" smtClean="0"/>
                  <a:t>Step 4: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𝑎</m:t>
                    </m:r>
                    <m:r>
                      <a:rPr lang="en-US" altLang="zh-TW" b="0" i="1" smtClean="0">
                        <a:latin typeface="Cambria Math"/>
                      </a:rPr>
                      <m:t>++</m:t>
                    </m:r>
                  </m:oMath>
                </a14:m>
                <a:r>
                  <a:rPr lang="en-US" altLang="zh-TW" dirty="0" smtClean="0"/>
                  <a:t> and go to step 2 while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𝑎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</m:oMath>
                </a14:m>
                <a:endParaRPr lang="en-US" altLang="zh-TW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b="1" dirty="0" smtClean="0"/>
                  <a:t>Step 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𝑃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𝑀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𝑄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en-US" altLang="zh-TW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b="1" dirty="0" smtClean="0"/>
                  <a:t>Step 6: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</a:rPr>
                      <m:t>++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go to step 1 while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altLang="zh-TW" dirty="0" smtClean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TW" b="1" dirty="0" smtClean="0"/>
                  <a:t>Step 7: </a:t>
                </a:r>
                <a:r>
                  <a:rPr lang="en-US" altLang="zh-TW" dirty="0" smtClean="0"/>
                  <a:t>Do step 1 to step 6 again for other partitions.</a:t>
                </a:r>
                <a:endParaRPr lang="zh-TW" altLang="en-US" dirty="0"/>
              </a:p>
            </p:txBody>
          </p:sp>
        </mc:Choice>
        <mc:Fallback>
          <p:sp>
            <p:nvSpPr>
              <p:cNvPr id="135" name="內容版面配置區 13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8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1398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method </a:t>
            </a:r>
            <a:r>
              <a:rPr lang="en-US" altLang="zh-TW" b="1" dirty="0" smtClean="0"/>
              <a:t>(6/8)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" y="1988840"/>
            <a:ext cx="9017127" cy="401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360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1"/>
          <a:stretch/>
        </p:blipFill>
        <p:spPr bwMode="auto">
          <a:xfrm>
            <a:off x="1303994" y="1577295"/>
            <a:ext cx="6652382" cy="5092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method </a:t>
            </a:r>
            <a:r>
              <a:rPr lang="en-US" altLang="zh-TW" b="1" dirty="0" smtClean="0"/>
              <a:t>(7/8)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41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Forecasting enrollments with proposed method </a:t>
            </a:r>
            <a:r>
              <a:rPr lang="en-US" altLang="zh-TW" b="1" dirty="0" smtClean="0"/>
              <a:t>(8/8)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48272"/>
                <a:ext cx="8229600" cy="225026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Mean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Square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Error</m:t>
                    </m:r>
                    <m:r>
                      <a:rPr lang="en-US" altLang="zh-TW" sz="2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22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sz="2200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TW" sz="2200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200">
                                            <a:latin typeface="Cambria Math"/>
                                          </a:rPr>
                                          <m:t>actual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20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200">
                                            <a:latin typeface="Cambria Math"/>
                                          </a:rPr>
                                          <m:t>value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TW" sz="2200" i="1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2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200">
                                            <a:latin typeface="Cambria Math"/>
                                          </a:rPr>
                                          <m:t>forecasted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20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2200">
                                            <a:latin typeface="Cambria Math"/>
                                          </a:rPr>
                                          <m:t>value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sz="22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altLang="zh-TW" sz="22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US" altLang="zh-TW" sz="2200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Forecasting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Error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  <a:ea typeface="Cambria Math"/>
                          </a:rPr>
                          <m:t>%</m:t>
                        </m:r>
                      </m:e>
                    </m:d>
                    <m:r>
                      <a:rPr lang="en-US" altLang="zh-TW" sz="2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TW" sz="2200" b="0" i="0" smtClean="0">
                                <a:latin typeface="Cambria Math"/>
                              </a:rPr>
                              <m:t>forecasted</m:t>
                            </m:r>
                            <m:r>
                              <m:rPr>
                                <m:nor/>
                              </m:rPr>
                              <a:rPr lang="en-US" altLang="zh-TW" sz="22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200" b="0" i="0" smtClean="0">
                                <a:latin typeface="Cambria Math"/>
                              </a:rPr>
                              <m:t>value</m:t>
                            </m:r>
                            <m:r>
                              <a:rPr lang="en-US" altLang="zh-TW" sz="22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2200" b="0" i="0" smtClean="0">
                                <a:latin typeface="Cambria Math"/>
                              </a:rPr>
                              <m:t>actual</m:t>
                            </m:r>
                            <m:r>
                              <m:rPr>
                                <m:nor/>
                              </m:rPr>
                              <a:rPr lang="en-US" altLang="zh-TW" sz="22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200" b="0" i="0" smtClean="0">
                                <a:latin typeface="Cambria Math"/>
                              </a:rPr>
                              <m:t>value</m:t>
                            </m:r>
                          </m:e>
                        </m:d>
                      </m:num>
                      <m:den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actual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value</m:t>
                        </m:r>
                      </m:den>
                    </m:f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×100</m:t>
                    </m:r>
                  </m:oMath>
                </a14:m>
                <a:endParaRPr lang="en-US" altLang="zh-TW" sz="2200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Average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forecasting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/>
                      </a:rPr>
                      <m:t>error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  <a:ea typeface="Cambria Math"/>
                          </a:rPr>
                          <m:t>%</m:t>
                        </m:r>
                      </m:e>
                    </m:d>
                    <m:r>
                      <a:rPr lang="en-US" altLang="zh-TW" sz="2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sum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forecasting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200" b="0" i="0" smtClean="0">
                            <a:latin typeface="Cambria Math"/>
                          </a:rPr>
                          <m:t>error</m:t>
                        </m:r>
                      </m:num>
                      <m:den>
                        <m:r>
                          <a:rPr lang="en-US" altLang="zh-TW" sz="22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US" altLang="zh-TW" sz="2200" dirty="0" smtClean="0"/>
              </a:p>
            </p:txBody>
          </p:sp>
        </mc:Choice>
        <mc:Fallback xmlns=""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48272"/>
                <a:ext cx="8229600" cy="2250261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" y="4498533"/>
            <a:ext cx="8964549" cy="101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956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Robustness of the proposed method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4620" y="1556792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Select year: 1973, 1981, 1988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14</a:t>
            </a:fld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72000" y="2276872"/>
            <a:ext cx="9072000" cy="2678049"/>
            <a:chOff x="72000" y="2276872"/>
            <a:chExt cx="9072000" cy="2678049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00" y="2276872"/>
              <a:ext cx="9014841" cy="2678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文字方塊 4"/>
            <p:cNvSpPr txBox="1"/>
            <p:nvPr/>
          </p:nvSpPr>
          <p:spPr>
            <a:xfrm>
              <a:off x="2627784" y="3068960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↑↑↑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3419872" y="3068960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7030A0"/>
                  </a:solidFill>
                </a:rPr>
                <a:t>↓↓↓</a:t>
              </a:r>
              <a:endParaRPr lang="zh-TW" altLang="en-US" sz="1200" b="1" dirty="0">
                <a:solidFill>
                  <a:srgbClr val="7030A0"/>
                </a:solidFill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4355976" y="3068960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↑</a:t>
              </a:r>
              <a:r>
                <a:rPr lang="zh-TW" altLang="en-US" sz="1200" b="1" dirty="0" smtClean="0">
                  <a:solidFill>
                    <a:srgbClr val="7030A0"/>
                  </a:solidFill>
                </a:rPr>
                <a:t>↓↓</a:t>
              </a:r>
              <a:endParaRPr lang="zh-TW" altLang="en-US" sz="1200" b="1" dirty="0">
                <a:solidFill>
                  <a:srgbClr val="7030A0"/>
                </a:solidFill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220072" y="3068960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solidFill>
                    <a:srgbClr val="7030A0"/>
                  </a:solidFill>
                </a:rPr>
                <a:t>↓</a:t>
              </a:r>
              <a:r>
                <a:rPr lang="zh-TW" altLang="en-US" sz="1200" b="1" dirty="0" smtClean="0">
                  <a:solidFill>
                    <a:srgbClr val="FF0000"/>
                  </a:solidFill>
                </a:rPr>
                <a:t>↑</a:t>
              </a:r>
              <a:r>
                <a:rPr lang="zh-TW" altLang="en-US" sz="1200" b="1" dirty="0" smtClean="0">
                  <a:solidFill>
                    <a:srgbClr val="7030A0"/>
                  </a:solidFill>
                </a:rPr>
                <a:t>↓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6084168" y="3068960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7030A0"/>
                  </a:solidFill>
                </a:rPr>
                <a:t>↓</a:t>
              </a:r>
              <a:r>
                <a:rPr lang="zh-TW" altLang="en-US" sz="1200" b="1" dirty="0">
                  <a:solidFill>
                    <a:srgbClr val="7030A0"/>
                  </a:solidFill>
                </a:rPr>
                <a:t>↓</a:t>
              </a:r>
              <a:r>
                <a:rPr lang="zh-TW" altLang="en-US" sz="1200" b="1" dirty="0" smtClean="0">
                  <a:solidFill>
                    <a:srgbClr val="FF0000"/>
                  </a:solidFill>
                </a:rPr>
                <a:t>↑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6876256" y="3068960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↑↑</a:t>
              </a:r>
              <a:r>
                <a:rPr lang="zh-TW" altLang="en-US" sz="1200" b="1" dirty="0">
                  <a:solidFill>
                    <a:srgbClr val="7030A0"/>
                  </a:solidFill>
                </a:rPr>
                <a:t>↓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7668344" y="3068960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solidFill>
                    <a:srgbClr val="7030A0"/>
                  </a:solidFill>
                </a:rPr>
                <a:t>↓</a:t>
              </a:r>
              <a:r>
                <a:rPr lang="zh-TW" altLang="en-US" sz="1200" b="1" dirty="0" smtClean="0">
                  <a:solidFill>
                    <a:srgbClr val="FF0000"/>
                  </a:solidFill>
                </a:rPr>
                <a:t>↑↑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8532440" y="3068960"/>
              <a:ext cx="6115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rgbClr val="FF0000"/>
                  </a:solidFill>
                </a:rPr>
                <a:t>↑</a:t>
              </a:r>
              <a:r>
                <a:rPr lang="zh-TW" altLang="en-US" sz="1200" b="1" dirty="0">
                  <a:solidFill>
                    <a:srgbClr val="7030A0"/>
                  </a:solidFill>
                </a:rPr>
                <a:t>↓</a:t>
              </a:r>
              <a:r>
                <a:rPr lang="zh-TW" altLang="en-US" sz="1200" b="1" dirty="0" smtClean="0">
                  <a:solidFill>
                    <a:srgbClr val="FF0000"/>
                  </a:solidFill>
                </a:rPr>
                <a:t>↑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430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900" b="1" dirty="0"/>
              <a:t>Forecasting market price of SBI’s </a:t>
            </a:r>
            <a:r>
              <a:rPr lang="en-US" altLang="zh-TW" sz="3900" b="1" dirty="0" smtClean="0"/>
              <a:t>share at </a:t>
            </a:r>
            <a:r>
              <a:rPr lang="en-US" altLang="zh-TW" sz="3900" b="1" dirty="0"/>
              <a:t>Bombay Stock </a:t>
            </a:r>
            <a:r>
              <a:rPr lang="en-US" altLang="zh-TW" sz="3900" b="1" dirty="0" smtClean="0"/>
              <a:t>Exchange (BSE) </a:t>
            </a:r>
            <a:r>
              <a:rPr lang="en-US" altLang="zh-TW" sz="3900" b="1" smtClean="0"/>
              <a:t>(1/7)</a:t>
            </a:r>
            <a:endParaRPr lang="zh-TW" altLang="en-US" sz="39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19" y="1828575"/>
            <a:ext cx="8928077" cy="384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97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900" b="1" dirty="0"/>
              <a:t>Forecasting market </a:t>
            </a:r>
            <a:r>
              <a:rPr lang="en-US" altLang="zh-TW" sz="3900" b="1" dirty="0" smtClean="0"/>
              <a:t>price </a:t>
            </a:r>
            <a:r>
              <a:rPr lang="en-US" altLang="zh-TW" sz="3900" b="1" dirty="0"/>
              <a:t>of SBI’s share at Bombay Stock Exchange (BSE) </a:t>
            </a:r>
            <a:r>
              <a:rPr lang="en-US" altLang="zh-TW" sz="3900" b="1" dirty="0" smtClean="0"/>
              <a:t>(2/7)</a:t>
            </a:r>
            <a:endParaRPr lang="zh-TW" alt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500" b="1" dirty="0" smtClean="0"/>
                  <a:t>Step 1:</a:t>
                </a:r>
                <a:r>
                  <a:rPr lang="en-US" altLang="zh-TW" sz="2500" dirty="0"/>
                  <a:t> </a:t>
                </a:r>
                <a:r>
                  <a:rPr lang="en-US" altLang="zh-TW" sz="2500" dirty="0" smtClean="0"/>
                  <a:t>Define the universe of </a:t>
                </a:r>
                <a:r>
                  <a:rPr lang="en-US" altLang="zh-TW" sz="2500" dirty="0"/>
                  <a:t>discourse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/>
                      </a:rPr>
                      <m:t>𝑈</m:t>
                    </m:r>
                    <m:r>
                      <a:rPr lang="en-US" altLang="zh-TW" sz="2500" i="1" dirty="0" smtClean="0">
                        <a:latin typeface="Cambria Math"/>
                      </a:rPr>
                      <m:t>=[1000,2600]</m:t>
                    </m:r>
                  </m:oMath>
                </a14:m>
                <a:r>
                  <a:rPr lang="en-US" altLang="zh-TW" sz="2500" dirty="0"/>
                  <a:t>.</a:t>
                </a:r>
                <a:endParaRPr lang="en-US" altLang="zh-TW" sz="2500" dirty="0" smtClean="0"/>
              </a:p>
              <a:p>
                <a:pPr marL="0" indent="0">
                  <a:buNone/>
                </a:pPr>
                <a:r>
                  <a:rPr lang="en-US" altLang="zh-TW" sz="2500" b="1" dirty="0"/>
                  <a:t>Step 2:</a:t>
                </a:r>
                <a:r>
                  <a:rPr lang="en-US" altLang="zh-TW" sz="2500" dirty="0"/>
                  <a:t> Partitioned the universe of discourse into eight </a:t>
                </a:r>
                <a:r>
                  <a:rPr lang="en-US" altLang="zh-TW" sz="2500" dirty="0" smtClean="0"/>
                  <a:t>intervals of </a:t>
                </a:r>
                <a:r>
                  <a:rPr lang="en-US" altLang="zh-TW" sz="2500" dirty="0"/>
                  <a:t>linguistic values</a:t>
                </a:r>
                <a:r>
                  <a:rPr lang="en-US" altLang="zh-TW" sz="2500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/>
                          </a:rPr>
                          <m:t>1000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,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2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TW" sz="2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2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00,1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4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TW" sz="2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4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00,1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6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TW" sz="2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6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00,1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8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TW" sz="2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8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00,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2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000</m:t>
                        </m:r>
                      </m:e>
                    </m:d>
                  </m:oMath>
                </a14:m>
                <a:r>
                  <a:rPr lang="en-US" altLang="zh-TW" sz="2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/>
                          </a:rPr>
                          <m:t>200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0,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22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TW" sz="2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/>
                          </a:rPr>
                          <m:t>22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00,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2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4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8</m:t>
                        </m:r>
                      </m:sub>
                    </m:sSub>
                    <m:r>
                      <a:rPr lang="en-US" altLang="zh-TW" sz="2500" dirty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/>
                          </a:rPr>
                          <m:t>2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4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00,2</m:t>
                        </m:r>
                        <m:r>
                          <a:rPr lang="en-US" altLang="zh-TW" sz="2500" b="0" i="1" dirty="0" smtClean="0">
                            <a:latin typeface="Cambria Math"/>
                          </a:rPr>
                          <m:t>6</m:t>
                        </m:r>
                        <m:r>
                          <a:rPr lang="en-US" altLang="zh-TW" sz="2500" i="1" dirty="0">
                            <a:latin typeface="Cambria Math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500" b="1" dirty="0"/>
                  <a:t>Step 3:</a:t>
                </a:r>
                <a:r>
                  <a:rPr lang="en-US" altLang="zh-TW" sz="2500" dirty="0"/>
                  <a:t> Eight fuzzy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500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500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5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500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500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sz="25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2500" i="1" dirty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sz="2500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500" i="1" dirty="0">
                                <a:latin typeface="Cambria Math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sz="2500" b="0" i="1" dirty="0" smtClean="0">
                            <a:latin typeface="Cambria Math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TW" sz="2500" dirty="0"/>
                  <a:t>, are defined on the </a:t>
                </a:r>
                <a:r>
                  <a:rPr lang="en-US" altLang="zh-TW" sz="2500" dirty="0" smtClean="0"/>
                  <a:t>universe of </a:t>
                </a:r>
                <a:r>
                  <a:rPr lang="en-US" altLang="zh-TW" sz="2500" dirty="0"/>
                  <a:t>discourse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altLang="zh-TW" sz="2500" dirty="0"/>
                  <a:t> and membership grades to these fuzzy </a:t>
                </a:r>
                <a:r>
                  <a:rPr lang="en-US" altLang="zh-TW" sz="2500" dirty="0" smtClean="0"/>
                  <a:t>sets are </a:t>
                </a:r>
                <a:r>
                  <a:rPr lang="en-US" altLang="zh-TW" sz="2500" dirty="0"/>
                  <a:t>defined as follows</a:t>
                </a:r>
                <a:r>
                  <a:rPr lang="en-US" altLang="zh-TW" sz="25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b="0" i="1" smtClean="0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5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5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1185" t="-812" r="-6667" b="-164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006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900" b="1" dirty="0"/>
              <a:t>Forecasting market price of SBI’s share at Bombay Stock Exchange (BSE) </a:t>
            </a:r>
            <a:r>
              <a:rPr lang="en-US" altLang="zh-TW" sz="3900" b="1" dirty="0" smtClean="0"/>
              <a:t>(3/7)</a:t>
            </a:r>
            <a:endParaRPr lang="zh-TW" alt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0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i="1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i="1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i="1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i="1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i="1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i="1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i="1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i="1">
                              <a:latin typeface="Cambria Math"/>
                            </a:rPr>
                            <m:t>7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  <m:r>
                            <a:rPr lang="en-US" altLang="zh-TW" sz="2500" b="0" i="1" smtClean="0">
                              <a:latin typeface="Cambria Math"/>
                            </a:rPr>
                            <m:t>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50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2500" b="0" i="1" smtClean="0">
                              <a:latin typeface="Cambria Math"/>
                            </a:rPr>
                            <m:t>8</m:t>
                          </m:r>
                        </m:sub>
                      </m:sSub>
                      <m:r>
                        <a:rPr lang="en-US" altLang="zh-TW" sz="2500" i="1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0.5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/>
                        </a:rPr>
                        <m:t>+</m:t>
                      </m:r>
                      <m:f>
                        <m:fPr>
                          <m:type m:val="lin"/>
                          <m:ctrlPr>
                            <a:rPr lang="en-US" altLang="zh-TW" sz="2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/>
                                </a:rPr>
                                <m:t>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5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09120"/>
              </a:xfrm>
              <a:blipFill rotWithShape="1">
                <a:blip r:embed="rId2"/>
                <a:stretch>
                  <a:fillRect l="-148" t="-12176" r="-6741" b="-191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724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900" b="1" dirty="0"/>
              <a:t>Forecasting market price of SBI’s share at Bombay Stock Exchange (BSE) </a:t>
            </a:r>
            <a:r>
              <a:rPr lang="en-US" altLang="zh-TW" sz="3900" b="1" dirty="0" smtClean="0"/>
              <a:t>(4/7)</a:t>
            </a:r>
            <a:endParaRPr lang="zh-TW" altLang="en-US" sz="39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500" b="1" dirty="0"/>
              <a:t>Step 4: </a:t>
            </a:r>
            <a:r>
              <a:rPr lang="en-US" altLang="zh-TW" sz="2500" dirty="0"/>
              <a:t>The market prices of SBI’s share at BSE are </a:t>
            </a:r>
            <a:r>
              <a:rPr lang="en-US" altLang="zh-TW" sz="2500" dirty="0" err="1"/>
              <a:t>fuzzified</a:t>
            </a:r>
            <a:r>
              <a:rPr lang="en-US" altLang="zh-TW" sz="2500" dirty="0"/>
              <a:t> with triangular membership function and are placed in Table 5.</a:t>
            </a:r>
            <a:endParaRPr lang="zh-TW" altLang="en-US" sz="2500" dirty="0"/>
          </a:p>
          <a:p>
            <a:pPr marL="0" indent="0">
              <a:buNone/>
            </a:pPr>
            <a:endParaRPr lang="zh-TW" altLang="en-US" sz="25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" y="2543910"/>
            <a:ext cx="9022175" cy="2829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538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900" b="1" dirty="0"/>
              <a:t>Forecasting market price of SBI’s share at Bombay Stock Exchange (BSE) </a:t>
            </a:r>
            <a:r>
              <a:rPr lang="en-US" altLang="zh-TW" sz="3900" b="1" dirty="0" smtClean="0"/>
              <a:t>(5/7)</a:t>
            </a:r>
            <a:endParaRPr lang="zh-TW" altLang="en-US" sz="39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500" b="1" dirty="0" smtClean="0"/>
                  <a:t>Step 5: </a:t>
                </a:r>
                <a:r>
                  <a:rPr lang="en-US" altLang="zh-TW" sz="2500" dirty="0" smtClean="0"/>
                  <a:t>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500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sz="25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zh-TW" sz="2500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sz="2500" i="1">
                            <a:latin typeface="Cambria Math"/>
                          </a:rPr>
                          <m:t>2</m:t>
                        </m:r>
                        <m:d>
                          <m:dPr>
                            <m:ctrlPr>
                              <a:rPr lang="en-US" altLang="zh-TW" sz="25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altLang="zh-TW" sz="25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sz="2500" i="1">
                                    <a:latin typeface="Cambria Math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altLang="zh-TW" sz="2500" i="1">
                        <a:latin typeface="Cambria Math"/>
                      </a:rPr>
                      <m:t>=</m:t>
                    </m:r>
                    <m:r>
                      <a:rPr lang="en-US" altLang="zh-TW" sz="2500" b="0" i="1" smtClean="0">
                        <a:latin typeface="Cambria Math"/>
                      </a:rPr>
                      <m:t>1.3278</m:t>
                    </m:r>
                  </m:oMath>
                </a14:m>
                <a:r>
                  <a:rPr lang="en-US" altLang="zh-TW" sz="2500" dirty="0"/>
                  <a:t>, the time series data again </a:t>
                </a:r>
                <a:r>
                  <a:rPr lang="en-US" altLang="zh-TW" sz="2500" dirty="0" smtClean="0"/>
                  <a:t>partitioned in </a:t>
                </a:r>
                <a:r>
                  <a:rPr lang="en-US" altLang="zh-TW" sz="2500" dirty="0"/>
                  <a:t>two parts. First partition contains data from </a:t>
                </a:r>
                <a:r>
                  <a:rPr lang="en-US" altLang="zh-TW" sz="2500" dirty="0" smtClean="0"/>
                  <a:t>April 2008 </a:t>
                </a:r>
                <a:r>
                  <a:rPr lang="en-US" altLang="zh-TW" sz="2500" dirty="0"/>
                  <a:t>to March 2009 and second partition contains data </a:t>
                </a:r>
                <a:r>
                  <a:rPr lang="en-US" altLang="zh-TW" sz="2500" dirty="0" smtClean="0"/>
                  <a:t>April 2009 </a:t>
                </a:r>
                <a:r>
                  <a:rPr lang="en-US" altLang="zh-TW" sz="2500" dirty="0"/>
                  <a:t>to March 2010.</a:t>
                </a:r>
              </a:p>
              <a:p>
                <a:pPr marL="0" indent="0">
                  <a:buNone/>
                </a:pPr>
                <a:r>
                  <a:rPr lang="en-US" altLang="zh-TW" sz="2500" b="1" dirty="0"/>
                  <a:t>Step 6: </a:t>
                </a:r>
                <a:r>
                  <a:rPr lang="en-US" altLang="zh-TW" sz="2500" dirty="0"/>
                  <a:t>The computations have been carried out to forecast </a:t>
                </a:r>
                <a:r>
                  <a:rPr lang="en-US" altLang="zh-TW" sz="2500" dirty="0" smtClean="0"/>
                  <a:t>the market </a:t>
                </a:r>
                <a:r>
                  <a:rPr lang="en-US" altLang="zh-TW" sz="2500" dirty="0"/>
                  <a:t>prices of share of SBI at BSE by using the </a:t>
                </a:r>
                <a:r>
                  <a:rPr lang="en-US" altLang="zh-TW" sz="2500" dirty="0" smtClean="0"/>
                  <a:t>proposed method </a:t>
                </a:r>
                <a:r>
                  <a:rPr lang="en-US" altLang="zh-TW" sz="2500" dirty="0"/>
                  <a:t>(Computational algorithm</a:t>
                </a:r>
                <a:r>
                  <a:rPr lang="en-US" altLang="zh-TW" sz="2500" dirty="0" smtClean="0"/>
                  <a:t>). The results </a:t>
                </a:r>
                <a:r>
                  <a:rPr lang="en-US" altLang="zh-TW" sz="2500" dirty="0"/>
                  <a:t>obtained are placed in the Table 6 along with </a:t>
                </a:r>
                <a:r>
                  <a:rPr lang="en-US" altLang="zh-TW" sz="2500" dirty="0" smtClean="0"/>
                  <a:t>forecasted values </a:t>
                </a:r>
                <a:r>
                  <a:rPr lang="en-US" altLang="zh-TW" sz="2500" dirty="0"/>
                  <a:t>proposed by Chen (1996) and Singh (2007b).</a:t>
                </a:r>
                <a:endParaRPr lang="zh-TW" altLang="en-US" sz="25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r="-1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137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900" b="1" dirty="0"/>
              <a:t>Forecasting market price of SBI’s share at Bombay Stock Exchange (BSE) </a:t>
            </a:r>
            <a:r>
              <a:rPr lang="en-US" altLang="zh-TW" sz="3900" b="1" dirty="0" smtClean="0"/>
              <a:t>(6/7)</a:t>
            </a:r>
            <a:endParaRPr lang="zh-TW" altLang="en-US" sz="39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700808"/>
            <a:ext cx="488632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1996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900" b="1" dirty="0"/>
              <a:t>Forecasting market price of SBI’s share at Bombay Stock Exchange (BSE) </a:t>
            </a:r>
            <a:r>
              <a:rPr lang="en-US" altLang="zh-TW" sz="3900" b="1" dirty="0" smtClean="0"/>
              <a:t>(7/7)</a:t>
            </a:r>
            <a:endParaRPr lang="zh-TW" altLang="en-US" sz="39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6" t="1278" r="2446" b="1387"/>
          <a:stretch/>
        </p:blipFill>
        <p:spPr bwMode="auto">
          <a:xfrm>
            <a:off x="2193617" y="1480976"/>
            <a:ext cx="4826655" cy="436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589240"/>
            <a:ext cx="5181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493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2203</Words>
  <Application>Microsoft Office PowerPoint</Application>
  <PresentationFormat>如螢幕大小 (4:3)</PresentationFormat>
  <Paragraphs>100</Paragraphs>
  <Slides>21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Office 佈景主題</vt:lpstr>
      <vt:lpstr>Partitions based computational method for high-order fuzzy time series forecasting</vt:lpstr>
      <vt:lpstr>Abstract</vt:lpstr>
      <vt:lpstr>Proposed algorithm</vt:lpstr>
      <vt:lpstr>Forecasting enrollments with proposed method (1/8)</vt:lpstr>
      <vt:lpstr>Forecasting enrollments with proposed method (2/8)</vt:lpstr>
      <vt:lpstr>Forecasting enrollments with proposed method (3/8)</vt:lpstr>
      <vt:lpstr>Forecasting enrollments with proposed method (4/8)</vt:lpstr>
      <vt:lpstr>Forecasting enrollments with proposed method (5/8)</vt:lpstr>
      <vt:lpstr>Computational algorithm (1/2)</vt:lpstr>
      <vt:lpstr>Computational algorithm (2/2)</vt:lpstr>
      <vt:lpstr>Forecasting enrollments with proposed method (6/8)</vt:lpstr>
      <vt:lpstr>Forecasting enrollments with proposed method (7/8)</vt:lpstr>
      <vt:lpstr>Forecasting enrollments with proposed method (8/8)</vt:lpstr>
      <vt:lpstr>Robustness of the proposed method</vt:lpstr>
      <vt:lpstr>Forecasting market price of SBI’s share at Bombay Stock Exchange (BSE) (1/7)</vt:lpstr>
      <vt:lpstr>Forecasting market price of SBI’s share at Bombay Stock Exchange (BSE) (2/7)</vt:lpstr>
      <vt:lpstr>Forecasting market price of SBI’s share at Bombay Stock Exchange (BSE) (3/7)</vt:lpstr>
      <vt:lpstr>Forecasting market price of SBI’s share at Bombay Stock Exchange (BSE) (4/7)</vt:lpstr>
      <vt:lpstr>Forecasting market price of SBI’s share at Bombay Stock Exchange (BSE) (5/7)</vt:lpstr>
      <vt:lpstr>Forecasting market price of SBI’s share at Bombay Stock Exchange (BSE) (6/7)</vt:lpstr>
      <vt:lpstr>Forecasting market price of SBI’s share at Bombay Stock Exchange (BSE) (7/7)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455</cp:revision>
  <dcterms:created xsi:type="dcterms:W3CDTF">2012-09-09T09:37:21Z</dcterms:created>
  <dcterms:modified xsi:type="dcterms:W3CDTF">2013-03-17T10:06:33Z</dcterms:modified>
</cp:coreProperties>
</file>