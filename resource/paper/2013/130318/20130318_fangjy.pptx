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3" r:id="rId6"/>
    <p:sldId id="260" r:id="rId7"/>
    <p:sldId id="261" r:id="rId8"/>
    <p:sldId id="265" r:id="rId9"/>
    <p:sldId id="264" r:id="rId10"/>
    <p:sldId id="266" r:id="rId11"/>
    <p:sldId id="267" r:id="rId12"/>
    <p:sldId id="269" r:id="rId13"/>
    <p:sldId id="270" r:id="rId14"/>
    <p:sldId id="286" r:id="rId15"/>
    <p:sldId id="287" r:id="rId16"/>
    <p:sldId id="271" r:id="rId17"/>
    <p:sldId id="272" r:id="rId18"/>
    <p:sldId id="275" r:id="rId19"/>
    <p:sldId id="274" r:id="rId20"/>
    <p:sldId id="276" r:id="rId21"/>
    <p:sldId id="277" r:id="rId22"/>
    <p:sldId id="278" r:id="rId23"/>
    <p:sldId id="279" r:id="rId24"/>
    <p:sldId id="280" r:id="rId25"/>
    <p:sldId id="281" r:id="rId26"/>
    <p:sldId id="282" r:id="rId27"/>
    <p:sldId id="283" r:id="rId28"/>
    <p:sldId id="284" r:id="rId29"/>
    <p:sldId id="285" r:id="rId30"/>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17" d="100"/>
          <a:sy n="117" d="100"/>
        </p:scale>
        <p:origin x="-1452"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C1C912F8-4948-4523-949D-6D70199DC384}" type="datetimeFigureOut">
              <a:rPr lang="zh-TW" altLang="en-US" smtClean="0"/>
              <a:pPr/>
              <a:t>2013/3/18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C6BD3C5-9003-4B2E-97DA-CDDDF7895D1F}"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1C912F8-4948-4523-949D-6D70199DC384}" type="datetimeFigureOut">
              <a:rPr lang="zh-TW" altLang="en-US" smtClean="0"/>
              <a:pPr/>
              <a:t>2013/3/18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C6BD3C5-9003-4B2E-97DA-CDDDF7895D1F}"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C1C912F8-4948-4523-949D-6D70199DC384}" type="datetimeFigureOut">
              <a:rPr lang="zh-TW" altLang="en-US" smtClean="0"/>
              <a:pPr/>
              <a:t>2013/3/18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C6BD3C5-9003-4B2E-97DA-CDDDF7895D1F}"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C1C912F8-4948-4523-949D-6D70199DC384}" type="datetimeFigureOut">
              <a:rPr lang="zh-TW" altLang="en-US" smtClean="0"/>
              <a:pPr/>
              <a:t>2013/3/18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C6BD3C5-9003-4B2E-97DA-CDDDF7895D1F}"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C1C912F8-4948-4523-949D-6D70199DC384}" type="datetimeFigureOut">
              <a:rPr lang="zh-TW" altLang="en-US" smtClean="0"/>
              <a:pPr/>
              <a:t>2013/3/18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3C6BD3C5-9003-4B2E-97DA-CDDDF7895D1F}"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C1C912F8-4948-4523-949D-6D70199DC384}" type="datetimeFigureOut">
              <a:rPr lang="zh-TW" altLang="en-US" smtClean="0"/>
              <a:pPr/>
              <a:t>2013/3/18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3C6BD3C5-9003-4B2E-97DA-CDDDF7895D1F}"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C1C912F8-4948-4523-949D-6D70199DC384}" type="datetimeFigureOut">
              <a:rPr lang="zh-TW" altLang="en-US" smtClean="0"/>
              <a:pPr/>
              <a:t>2013/3/18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3C6BD3C5-9003-4B2E-97DA-CDDDF7895D1F}"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C1C912F8-4948-4523-949D-6D70199DC384}" type="datetimeFigureOut">
              <a:rPr lang="zh-TW" altLang="en-US" smtClean="0"/>
              <a:pPr/>
              <a:t>2013/3/18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C6BD3C5-9003-4B2E-97DA-CDDDF7895D1F}"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C1C912F8-4948-4523-949D-6D70199DC384}" type="datetimeFigureOut">
              <a:rPr lang="zh-TW" altLang="en-US" smtClean="0"/>
              <a:pPr/>
              <a:t>2013/3/18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C6BD3C5-9003-4B2E-97DA-CDDDF7895D1F}"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1C912F8-4948-4523-949D-6D70199DC384}" type="datetimeFigureOut">
              <a:rPr lang="zh-TW" altLang="en-US" smtClean="0"/>
              <a:pPr/>
              <a:t>2013/3/18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C6BD3C5-9003-4B2E-97DA-CDDDF7895D1F}"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1C912F8-4948-4523-949D-6D70199DC384}" type="datetimeFigureOut">
              <a:rPr lang="zh-TW" altLang="en-US" smtClean="0"/>
              <a:pPr/>
              <a:t>2013/3/18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C6BD3C5-9003-4B2E-97DA-CDDDF7895D1F}"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C912F8-4948-4523-949D-6D70199DC384}" type="datetimeFigureOut">
              <a:rPr lang="zh-TW" altLang="en-US" smtClean="0"/>
              <a:pPr/>
              <a:t>2013/3/18</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6BD3C5-9003-4B2E-97DA-CDDDF7895D1F}"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3568" y="980728"/>
            <a:ext cx="7772400" cy="1470025"/>
          </a:xfrm>
        </p:spPr>
        <p:txBody>
          <a:bodyPr>
            <a:normAutofit fontScale="90000"/>
          </a:bodyPr>
          <a:lstStyle/>
          <a:p>
            <a:r>
              <a:rPr lang="en-US" altLang="zh-TW" b="1" dirty="0" smtClean="0"/>
              <a:t>An </a:t>
            </a:r>
            <a:r>
              <a:rPr lang="en-US" altLang="zh-TW" b="1" dirty="0" err="1" smtClean="0"/>
              <a:t>efﬁcient</a:t>
            </a:r>
            <a:r>
              <a:rPr lang="en-US" altLang="zh-TW" b="1" dirty="0" smtClean="0"/>
              <a:t> multiple-kernel learning for pattern </a:t>
            </a:r>
            <a:r>
              <a:rPr lang="en-US" altLang="zh-TW" b="1" smtClean="0"/>
              <a:t>classiﬁcation</a:t>
            </a:r>
            <a:endParaRPr lang="zh-TW" altLang="en-US" dirty="0"/>
          </a:p>
        </p:txBody>
      </p:sp>
      <p:sp>
        <p:nvSpPr>
          <p:cNvPr id="3" name="副標題 2"/>
          <p:cNvSpPr>
            <a:spLocks noGrp="1"/>
          </p:cNvSpPr>
          <p:nvPr>
            <p:ph type="subTitle" idx="1"/>
          </p:nvPr>
        </p:nvSpPr>
        <p:spPr>
          <a:xfrm>
            <a:off x="1331640" y="2924944"/>
            <a:ext cx="6400800" cy="2256656"/>
          </a:xfrm>
        </p:spPr>
        <p:txBody>
          <a:bodyPr>
            <a:normAutofit fontScale="85000" lnSpcReduction="10000"/>
          </a:bodyPr>
          <a:lstStyle/>
          <a:p>
            <a:pPr fontAlgn="base"/>
            <a:r>
              <a:rPr lang="en-US" altLang="zh-TW" dirty="0" smtClean="0">
                <a:solidFill>
                  <a:schemeClr val="tx1"/>
                </a:solidFill>
              </a:rPr>
              <a:t>Chi-Yuan </a:t>
            </a:r>
            <a:r>
              <a:rPr lang="en-US" altLang="zh-TW" dirty="0" err="1" smtClean="0">
                <a:solidFill>
                  <a:schemeClr val="tx1"/>
                </a:solidFill>
              </a:rPr>
              <a:t>Yeh</a:t>
            </a:r>
            <a:r>
              <a:rPr lang="en-US" altLang="zh-TW" dirty="0" smtClean="0">
                <a:solidFill>
                  <a:schemeClr val="tx1"/>
                </a:solidFill>
              </a:rPr>
              <a:t>, </a:t>
            </a:r>
            <a:r>
              <a:rPr lang="en-US" altLang="zh-TW" dirty="0" err="1" smtClean="0">
                <a:solidFill>
                  <a:schemeClr val="tx1"/>
                </a:solidFill>
              </a:rPr>
              <a:t>Wen</a:t>
            </a:r>
            <a:r>
              <a:rPr lang="en-US" altLang="zh-TW" dirty="0" smtClean="0">
                <a:solidFill>
                  <a:schemeClr val="tx1"/>
                </a:solidFill>
              </a:rPr>
              <a:t>-Pin Su, </a:t>
            </a:r>
            <a:r>
              <a:rPr lang="en-US" altLang="zh-TW" dirty="0" err="1" smtClean="0">
                <a:solidFill>
                  <a:schemeClr val="tx1"/>
                </a:solidFill>
              </a:rPr>
              <a:t>Shie-Jue</a:t>
            </a:r>
            <a:r>
              <a:rPr lang="en-US" altLang="zh-TW" dirty="0" smtClean="0">
                <a:solidFill>
                  <a:schemeClr val="tx1"/>
                </a:solidFill>
              </a:rPr>
              <a:t> Lee</a:t>
            </a:r>
            <a:r>
              <a:rPr lang="en-US" altLang="zh-TW" baseline="30000" dirty="0" smtClean="0">
                <a:solidFill>
                  <a:schemeClr val="tx1"/>
                </a:solidFill>
              </a:rPr>
              <a:t> </a:t>
            </a:r>
          </a:p>
          <a:p>
            <a:pPr fontAlgn="base"/>
            <a:endParaRPr lang="en-US" altLang="zh-TW" dirty="0" smtClean="0">
              <a:solidFill>
                <a:schemeClr val="tx1"/>
              </a:solidFill>
            </a:endParaRPr>
          </a:p>
          <a:p>
            <a:pPr fontAlgn="base"/>
            <a:r>
              <a:rPr lang="en-US" altLang="zh-TW" sz="2000" dirty="0" smtClean="0">
                <a:solidFill>
                  <a:schemeClr val="tx1"/>
                </a:solidFill>
              </a:rPr>
              <a:t>Department of Electrical Engineering, National Sun </a:t>
            </a:r>
            <a:r>
              <a:rPr lang="en-US" altLang="zh-TW" sz="2000" dirty="0" err="1" smtClean="0">
                <a:solidFill>
                  <a:schemeClr val="tx1"/>
                </a:solidFill>
              </a:rPr>
              <a:t>Yat-Sen</a:t>
            </a:r>
            <a:r>
              <a:rPr lang="en-US" altLang="zh-TW" sz="2000" dirty="0" smtClean="0">
                <a:solidFill>
                  <a:schemeClr val="tx1"/>
                </a:solidFill>
              </a:rPr>
              <a:t> University, Kaohsiung 804, Taiwan, ROC</a:t>
            </a:r>
          </a:p>
          <a:p>
            <a:pPr fontAlgn="base"/>
            <a:endParaRPr lang="en-US" altLang="zh-TW" sz="2000" dirty="0" smtClean="0">
              <a:solidFill>
                <a:schemeClr val="tx1"/>
              </a:solidFill>
            </a:endParaRPr>
          </a:p>
          <a:p>
            <a:pPr fontAlgn="base"/>
            <a:r>
              <a:rPr lang="en-US" altLang="zh-TW" sz="2600" dirty="0" smtClean="0">
                <a:solidFill>
                  <a:schemeClr val="tx1"/>
                </a:solidFill>
              </a:rPr>
              <a:t>Expert Systems with Applications 40 (2013) 3491–3499</a:t>
            </a:r>
            <a:endParaRPr lang="zh-TW" altLang="en-US" sz="2600" dirty="0"/>
          </a:p>
        </p:txBody>
      </p:sp>
      <p:sp>
        <p:nvSpPr>
          <p:cNvPr id="4" name="Text Box 4"/>
          <p:cNvSpPr txBox="1">
            <a:spLocks noChangeArrowheads="1"/>
          </p:cNvSpPr>
          <p:nvPr/>
        </p:nvSpPr>
        <p:spPr bwMode="auto">
          <a:xfrm>
            <a:off x="5292725" y="5805264"/>
            <a:ext cx="36004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0" lang="en-US" altLang="zh-TW" dirty="0">
                <a:latin typeface="Times New Roman" pitchFamily="18" charset="0"/>
              </a:rPr>
              <a:t>Presenter: </a:t>
            </a:r>
            <a:r>
              <a:rPr lang="zh-TW" altLang="en-US" dirty="0">
                <a:latin typeface="Times New Roman" pitchFamily="18" charset="0"/>
              </a:rPr>
              <a:t>方鈞毅</a:t>
            </a:r>
            <a:endParaRPr kumimoji="0" lang="en-US" altLang="zh-TW" dirty="0">
              <a:latin typeface="Times New Roman" pitchFamily="18" charset="0"/>
            </a:endParaRPr>
          </a:p>
          <a:p>
            <a:r>
              <a:rPr kumimoji="0" lang="en-US" altLang="zh-TW" dirty="0">
                <a:latin typeface="Times New Roman" pitchFamily="18" charset="0"/>
              </a:rPr>
              <a:t>Date: </a:t>
            </a:r>
            <a:r>
              <a:rPr lang="en-US" altLang="zh-TW" dirty="0" smtClean="0">
                <a:latin typeface="Times New Roman" pitchFamily="18" charset="0"/>
              </a:rPr>
              <a:t>Mar</a:t>
            </a:r>
            <a:r>
              <a:rPr kumimoji="0" lang="en-US" altLang="zh-TW" dirty="0" smtClean="0">
                <a:latin typeface="Times New Roman" pitchFamily="18" charset="0"/>
              </a:rPr>
              <a:t>. 18, 2013</a:t>
            </a:r>
            <a:endParaRPr kumimoji="0" lang="en-US" altLang="zh-TW" dirty="0">
              <a:latin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abstract</a:t>
            </a:r>
            <a:endParaRPr lang="zh-TW" altLang="en-US" dirty="0"/>
          </a:p>
        </p:txBody>
      </p:sp>
      <p:sp>
        <p:nvSpPr>
          <p:cNvPr id="3" name="內容版面配置區 2"/>
          <p:cNvSpPr>
            <a:spLocks noGrp="1"/>
          </p:cNvSpPr>
          <p:nvPr>
            <p:ph idx="1"/>
          </p:nvPr>
        </p:nvSpPr>
        <p:spPr/>
        <p:txBody>
          <a:bodyPr>
            <a:normAutofit fontScale="77500" lnSpcReduction="20000"/>
          </a:bodyPr>
          <a:lstStyle/>
          <a:p>
            <a:r>
              <a:rPr lang="en-US" altLang="zh-TW" dirty="0" smtClean="0"/>
              <a:t>Support vector machines (SVMs) have been broadly applied to </a:t>
            </a:r>
            <a:r>
              <a:rPr lang="en-US" altLang="zh-TW" dirty="0" err="1" smtClean="0"/>
              <a:t>classiﬁcation</a:t>
            </a:r>
            <a:r>
              <a:rPr lang="en-US" altLang="zh-TW" dirty="0" smtClean="0"/>
              <a:t> problems. However, a successful application of SVMs depends heavily on the determination of the right type and suitable </a:t>
            </a:r>
            <a:r>
              <a:rPr lang="en-US" altLang="zh-TW" dirty="0" err="1" smtClean="0"/>
              <a:t>hyperparameter</a:t>
            </a:r>
            <a:r>
              <a:rPr lang="en-US" altLang="zh-TW" dirty="0" smtClean="0"/>
              <a:t> settings of kernel functions. Recently, multiple-kernel learning (MKL) algorithms have been developed to deal with these issues by combining different kernels together. The weight with each kernel in the combination is obtained through learning. </a:t>
            </a:r>
          </a:p>
          <a:p>
            <a:r>
              <a:rPr lang="en-US" altLang="zh-TW" dirty="0" err="1" smtClean="0"/>
              <a:t>Lanckriet</a:t>
            </a:r>
            <a:r>
              <a:rPr lang="en-US" altLang="zh-TW" dirty="0" smtClean="0"/>
              <a:t> et al. proposed a way of deriving the weights by transforming the learning into a </a:t>
            </a:r>
            <a:r>
              <a:rPr lang="en-US" altLang="zh-TW" dirty="0" err="1" smtClean="0"/>
              <a:t>semideﬁnite</a:t>
            </a:r>
            <a:r>
              <a:rPr lang="en-US" altLang="zh-TW" dirty="0" smtClean="0"/>
              <a:t> programming (SDP) problem with a transduction </a:t>
            </a:r>
            <a:r>
              <a:rPr lang="en-US" altLang="zh-TW" dirty="0" err="1" smtClean="0"/>
              <a:t>setting.However</a:t>
            </a:r>
            <a:r>
              <a:rPr lang="en-US" altLang="zh-TW" dirty="0" smtClean="0"/>
              <a:t>, the amount of time and space required by this method is demanding.</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abstract</a:t>
            </a:r>
            <a:endParaRPr lang="zh-TW" altLang="en-US" dirty="0"/>
          </a:p>
        </p:txBody>
      </p:sp>
      <p:sp>
        <p:nvSpPr>
          <p:cNvPr id="3" name="內容版面配置區 2"/>
          <p:cNvSpPr>
            <a:spLocks noGrp="1"/>
          </p:cNvSpPr>
          <p:nvPr>
            <p:ph idx="1"/>
          </p:nvPr>
        </p:nvSpPr>
        <p:spPr>
          <a:xfrm>
            <a:off x="457200" y="1600201"/>
            <a:ext cx="8229600" cy="4709120"/>
          </a:xfrm>
        </p:spPr>
        <p:txBody>
          <a:bodyPr>
            <a:normAutofit/>
          </a:bodyPr>
          <a:lstStyle/>
          <a:p>
            <a:r>
              <a:rPr lang="en-US" altLang="zh-TW" sz="2500" dirty="0" smtClean="0"/>
              <a:t>In this paper, we reformulate the SDP problem with an induction setting and incorporate two strategies to reduce the search complexity of the learning process, based on the comments discussed in the </a:t>
            </a:r>
            <a:r>
              <a:rPr lang="en-US" altLang="zh-TW" sz="2500" dirty="0" err="1" smtClean="0"/>
              <a:t>Lanckriet</a:t>
            </a:r>
            <a:r>
              <a:rPr lang="en-US" altLang="zh-TW" sz="2500" dirty="0" smtClean="0"/>
              <a:t> et al. paper. </a:t>
            </a:r>
          </a:p>
          <a:p>
            <a:r>
              <a:rPr lang="en-US" altLang="zh-TW" sz="2500" dirty="0" smtClean="0"/>
              <a:t>The primal and dual forms of SDP are derived. A discussion on computation complexity is given. Experimental results obtained from synthetic and benchmark datasets show that the proposed method runs </a:t>
            </a:r>
            <a:r>
              <a:rPr lang="en-US" altLang="zh-TW" sz="2500" dirty="0" err="1" smtClean="0"/>
              <a:t>efﬁciently</a:t>
            </a:r>
            <a:r>
              <a:rPr lang="en-US" altLang="zh-TW" sz="2500" dirty="0" smtClean="0"/>
              <a:t> in multiple-kernel learning.</a:t>
            </a:r>
            <a:endParaRPr lang="zh-TW" altLang="en-US" sz="2500" dirty="0" smtClean="0"/>
          </a:p>
          <a:p>
            <a:endParaRPr lang="zh-TW"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67544" y="0"/>
            <a:ext cx="8229600" cy="1143000"/>
          </a:xfrm>
        </p:spPr>
        <p:txBody>
          <a:bodyPr/>
          <a:lstStyle/>
          <a:p>
            <a:r>
              <a:rPr lang="en-US" altLang="zh-TW" dirty="0" smtClean="0"/>
              <a:t>Lagrange Multiplier Method</a:t>
            </a:r>
            <a:endParaRPr lang="zh-TW" altLang="en-US" dirty="0"/>
          </a:p>
        </p:txBody>
      </p:sp>
      <p:sp>
        <p:nvSpPr>
          <p:cNvPr id="3" name="內容版面配置區 2"/>
          <p:cNvSpPr>
            <a:spLocks noGrp="1"/>
          </p:cNvSpPr>
          <p:nvPr>
            <p:ph idx="1"/>
          </p:nvPr>
        </p:nvSpPr>
        <p:spPr>
          <a:xfrm>
            <a:off x="323528" y="1052736"/>
            <a:ext cx="8229600" cy="3600400"/>
          </a:xfrm>
        </p:spPr>
        <p:txBody>
          <a:bodyPr>
            <a:normAutofit fontScale="92500" lnSpcReduction="10000"/>
          </a:bodyPr>
          <a:lstStyle/>
          <a:p>
            <a:r>
              <a:rPr lang="en-US" altLang="zh-TW" dirty="0" smtClean="0"/>
              <a:t>Lagrange multiplier method</a:t>
            </a:r>
            <a:r>
              <a:rPr lang="zh-TW" altLang="en-US" dirty="0" smtClean="0"/>
              <a:t>，是一個求極值的方法。</a:t>
            </a:r>
            <a:endParaRPr lang="en-US" altLang="zh-TW" dirty="0" smtClean="0"/>
          </a:p>
          <a:p>
            <a:pPr lvl="1"/>
            <a:r>
              <a:rPr lang="zh-TW" altLang="en-US" dirty="0" smtClean="0"/>
              <a:t> </a:t>
            </a:r>
            <a:r>
              <a:rPr lang="en-US" altLang="zh-TW" i="1" dirty="0" smtClean="0"/>
              <a:t>f</a:t>
            </a:r>
            <a:r>
              <a:rPr lang="en-US" altLang="zh-TW" dirty="0" smtClean="0"/>
              <a:t>(</a:t>
            </a:r>
            <a:r>
              <a:rPr lang="en-US" altLang="zh-TW" i="1" dirty="0" err="1" smtClean="0"/>
              <a:t>x</a:t>
            </a:r>
            <a:r>
              <a:rPr lang="en-US" altLang="zh-TW" dirty="0" err="1" smtClean="0"/>
              <a:t>,</a:t>
            </a:r>
            <a:r>
              <a:rPr lang="en-US" altLang="zh-TW" i="1" dirty="0" err="1" smtClean="0"/>
              <a:t>y</a:t>
            </a:r>
            <a:r>
              <a:rPr lang="en-US" altLang="zh-TW" dirty="0" smtClean="0"/>
              <a:t>):</a:t>
            </a:r>
            <a:r>
              <a:rPr lang="zh-TW" altLang="en-US" dirty="0" smtClean="0"/>
              <a:t>目標函式</a:t>
            </a:r>
            <a:endParaRPr lang="en-US" altLang="zh-TW" dirty="0" smtClean="0"/>
          </a:p>
          <a:p>
            <a:pPr lvl="1"/>
            <a:r>
              <a:rPr lang="en-US" altLang="zh-TW" i="1" dirty="0" smtClean="0"/>
              <a:t>g</a:t>
            </a:r>
            <a:r>
              <a:rPr lang="en-US" altLang="zh-TW" dirty="0" smtClean="0"/>
              <a:t>(</a:t>
            </a:r>
            <a:r>
              <a:rPr lang="en-US" altLang="zh-TW" i="1" dirty="0" err="1" smtClean="0"/>
              <a:t>x</a:t>
            </a:r>
            <a:r>
              <a:rPr lang="en-US" altLang="zh-TW" dirty="0" err="1" smtClean="0"/>
              <a:t>,</a:t>
            </a:r>
            <a:r>
              <a:rPr lang="en-US" altLang="zh-TW" i="1" dirty="0" err="1" smtClean="0"/>
              <a:t>y</a:t>
            </a:r>
            <a:r>
              <a:rPr lang="en-US" altLang="zh-TW" dirty="0" smtClean="0"/>
              <a:t>)=0 :</a:t>
            </a:r>
            <a:r>
              <a:rPr lang="zh-TW" altLang="en-US" dirty="0" smtClean="0"/>
              <a:t>限制函式</a:t>
            </a:r>
            <a:endParaRPr lang="en-US" altLang="zh-TW" dirty="0" smtClean="0"/>
          </a:p>
          <a:p>
            <a:pPr lvl="1"/>
            <a:r>
              <a:rPr lang="el-GR" altLang="zh-TW" dirty="0" smtClean="0"/>
              <a:t>λ</a:t>
            </a:r>
            <a:r>
              <a:rPr lang="en-US" altLang="zh-TW" dirty="0" smtClean="0"/>
              <a:t>:</a:t>
            </a:r>
            <a:r>
              <a:rPr lang="zh-TW" altLang="en-US" dirty="0" smtClean="0"/>
              <a:t>為一待求的數值</a:t>
            </a:r>
            <a:endParaRPr lang="en-US" altLang="zh-TW" dirty="0" smtClean="0"/>
          </a:p>
          <a:p>
            <a:pPr lvl="1"/>
            <a:r>
              <a:rPr lang="en-US" altLang="zh-TW" dirty="0" smtClean="0"/>
              <a:t>Lagrange </a:t>
            </a:r>
            <a:r>
              <a:rPr lang="zh-TW" altLang="en-US" dirty="0" smtClean="0"/>
              <a:t>提出以  </a:t>
            </a:r>
            <a:r>
              <a:rPr lang="en-US" altLang="zh-TW" i="1" dirty="0" smtClean="0"/>
              <a:t>f</a:t>
            </a:r>
            <a:r>
              <a:rPr lang="en-US" altLang="zh-TW" dirty="0" smtClean="0"/>
              <a:t>(</a:t>
            </a:r>
            <a:r>
              <a:rPr lang="en-US" altLang="zh-TW" i="1" dirty="0" err="1" smtClean="0"/>
              <a:t>x</a:t>
            </a:r>
            <a:r>
              <a:rPr lang="en-US" altLang="zh-TW" dirty="0" err="1" smtClean="0"/>
              <a:t>,</a:t>
            </a:r>
            <a:r>
              <a:rPr lang="en-US" altLang="zh-TW" i="1" dirty="0" err="1" smtClean="0"/>
              <a:t>y</a:t>
            </a:r>
            <a:r>
              <a:rPr lang="en-US" altLang="zh-TW" dirty="0" smtClean="0"/>
              <a:t>)</a:t>
            </a:r>
            <a:r>
              <a:rPr lang="zh-TW" altLang="en-US" dirty="0" smtClean="0"/>
              <a:t> </a:t>
            </a:r>
            <a:r>
              <a:rPr lang="en-US" altLang="zh-TW" dirty="0" smtClean="0"/>
              <a:t>+ </a:t>
            </a:r>
            <a:r>
              <a:rPr lang="el-GR" altLang="zh-TW" dirty="0" smtClean="0"/>
              <a:t>λ</a:t>
            </a:r>
            <a:r>
              <a:rPr lang="en-US" altLang="zh-TW" i="1" dirty="0" smtClean="0"/>
              <a:t>g</a:t>
            </a:r>
            <a:r>
              <a:rPr lang="en-US" altLang="zh-TW" dirty="0" smtClean="0"/>
              <a:t>(</a:t>
            </a:r>
            <a:r>
              <a:rPr lang="en-US" altLang="zh-TW" i="1" dirty="0" err="1" smtClean="0"/>
              <a:t>x</a:t>
            </a:r>
            <a:r>
              <a:rPr lang="en-US" altLang="zh-TW" dirty="0" err="1" smtClean="0"/>
              <a:t>,</a:t>
            </a:r>
            <a:r>
              <a:rPr lang="en-US" altLang="zh-TW" i="1" dirty="0" err="1" smtClean="0"/>
              <a:t>y</a:t>
            </a:r>
            <a:r>
              <a:rPr lang="en-US" altLang="zh-TW" dirty="0" smtClean="0"/>
              <a:t>)</a:t>
            </a:r>
            <a:r>
              <a:rPr lang="zh-TW" altLang="en-US" dirty="0" smtClean="0"/>
              <a:t>  對 </a:t>
            </a:r>
            <a:r>
              <a:rPr lang="en-US" altLang="zh-TW" i="1" dirty="0" smtClean="0"/>
              <a:t>x</a:t>
            </a:r>
            <a:r>
              <a:rPr lang="en-US" altLang="zh-TW" dirty="0" smtClean="0"/>
              <a:t> </a:t>
            </a:r>
            <a:r>
              <a:rPr lang="zh-TW" altLang="en-US" dirty="0" smtClean="0"/>
              <a:t>和 </a:t>
            </a:r>
            <a:r>
              <a:rPr lang="en-US" altLang="zh-TW" i="1" dirty="0" smtClean="0"/>
              <a:t>y</a:t>
            </a:r>
            <a:r>
              <a:rPr lang="en-US" altLang="zh-TW" dirty="0" smtClean="0"/>
              <a:t> </a:t>
            </a:r>
            <a:r>
              <a:rPr lang="zh-TW" altLang="en-US" dirty="0" smtClean="0"/>
              <a:t>的偏導數為 </a:t>
            </a:r>
            <a:r>
              <a:rPr lang="en-US" altLang="zh-TW" dirty="0" smtClean="0"/>
              <a:t>0</a:t>
            </a:r>
            <a:r>
              <a:rPr lang="zh-TW" altLang="en-US" dirty="0" smtClean="0"/>
              <a:t>，來代替，作為在 </a:t>
            </a:r>
            <a:r>
              <a:rPr lang="en-US" altLang="zh-TW" i="1" dirty="0" smtClean="0"/>
              <a:t>g</a:t>
            </a:r>
            <a:r>
              <a:rPr lang="en-US" altLang="zh-TW" dirty="0" smtClean="0"/>
              <a:t>(</a:t>
            </a:r>
            <a:r>
              <a:rPr lang="en-US" altLang="zh-TW" i="1" dirty="0" err="1" smtClean="0"/>
              <a:t>x</a:t>
            </a:r>
            <a:r>
              <a:rPr lang="en-US" altLang="zh-TW" dirty="0" err="1" smtClean="0"/>
              <a:t>,</a:t>
            </a:r>
            <a:r>
              <a:rPr lang="en-US" altLang="zh-TW" i="1" dirty="0" err="1" smtClean="0"/>
              <a:t>y</a:t>
            </a:r>
            <a:r>
              <a:rPr lang="en-US" altLang="zh-TW" dirty="0" smtClean="0"/>
              <a:t>)=0 </a:t>
            </a:r>
            <a:r>
              <a:rPr lang="zh-TW" altLang="en-US" dirty="0" smtClean="0"/>
              <a:t>上面尋找 </a:t>
            </a:r>
            <a:r>
              <a:rPr lang="en-US" altLang="zh-TW" i="1" dirty="0" smtClean="0"/>
              <a:t>f</a:t>
            </a:r>
            <a:r>
              <a:rPr lang="en-US" altLang="zh-TW" dirty="0" smtClean="0"/>
              <a:t>(</a:t>
            </a:r>
            <a:r>
              <a:rPr lang="en-US" altLang="zh-TW" i="1" dirty="0" err="1" smtClean="0"/>
              <a:t>x</a:t>
            </a:r>
            <a:r>
              <a:rPr lang="en-US" altLang="zh-TW" dirty="0" err="1" smtClean="0"/>
              <a:t>,</a:t>
            </a:r>
            <a:r>
              <a:rPr lang="en-US" altLang="zh-TW" i="1" dirty="0" err="1" smtClean="0"/>
              <a:t>y</a:t>
            </a:r>
            <a:r>
              <a:rPr lang="en-US" altLang="zh-TW" dirty="0" smtClean="0"/>
              <a:t>) </a:t>
            </a:r>
            <a:r>
              <a:rPr lang="zh-TW" altLang="en-US" dirty="0" smtClean="0"/>
              <a:t>極值的條件。</a:t>
            </a:r>
            <a:endParaRPr lang="zh-TW" altLang="en-US" dirty="0"/>
          </a:p>
        </p:txBody>
      </p:sp>
      <p:pic>
        <p:nvPicPr>
          <p:cNvPr id="3075" name="Picture 3"/>
          <p:cNvPicPr>
            <a:picLocks noChangeAspect="1" noChangeArrowheads="1"/>
          </p:cNvPicPr>
          <p:nvPr/>
        </p:nvPicPr>
        <p:blipFill>
          <a:blip r:embed="rId2" cstate="print"/>
          <a:srcRect/>
          <a:stretch>
            <a:fillRect/>
          </a:stretch>
        </p:blipFill>
        <p:spPr bwMode="auto">
          <a:xfrm>
            <a:off x="3347864" y="4149080"/>
            <a:ext cx="2657475" cy="241935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Lagrange Multiplier Method</a:t>
            </a:r>
            <a:endParaRPr lang="zh-TW" altLang="en-US" dirty="0"/>
          </a:p>
        </p:txBody>
      </p:sp>
      <p:pic>
        <p:nvPicPr>
          <p:cNvPr id="4099" name="Picture 3"/>
          <p:cNvPicPr>
            <a:picLocks noGrp="1" noChangeAspect="1" noChangeArrowheads="1"/>
          </p:cNvPicPr>
          <p:nvPr>
            <p:ph idx="1"/>
          </p:nvPr>
        </p:nvPicPr>
        <p:blipFill>
          <a:blip r:embed="rId2" cstate="print"/>
          <a:srcRect/>
          <a:stretch>
            <a:fillRect/>
          </a:stretch>
        </p:blipFill>
        <p:spPr bwMode="auto">
          <a:xfrm>
            <a:off x="457200" y="2621940"/>
            <a:ext cx="8229600" cy="2482483"/>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67544" y="0"/>
            <a:ext cx="8229600" cy="1143000"/>
          </a:xfrm>
        </p:spPr>
        <p:txBody>
          <a:bodyPr/>
          <a:lstStyle/>
          <a:p>
            <a:r>
              <a:rPr lang="en-US" altLang="zh-TW" dirty="0" smtClean="0"/>
              <a:t>SVM </a:t>
            </a:r>
            <a:r>
              <a:rPr lang="zh-TW" altLang="en-US" dirty="0" smtClean="0"/>
              <a:t>的概念</a:t>
            </a:r>
            <a:endParaRPr lang="zh-TW" altLang="en-US" dirty="0"/>
          </a:p>
        </p:txBody>
      </p:sp>
      <p:sp>
        <p:nvSpPr>
          <p:cNvPr id="3" name="內容版面配置區 2"/>
          <p:cNvSpPr>
            <a:spLocks noGrp="1"/>
          </p:cNvSpPr>
          <p:nvPr>
            <p:ph idx="1"/>
          </p:nvPr>
        </p:nvSpPr>
        <p:spPr>
          <a:xfrm>
            <a:off x="457200" y="1340768"/>
            <a:ext cx="8229600" cy="2304257"/>
          </a:xfrm>
        </p:spPr>
        <p:txBody>
          <a:bodyPr>
            <a:normAutofit fontScale="85000" lnSpcReduction="10000"/>
          </a:bodyPr>
          <a:lstStyle/>
          <a:p>
            <a:r>
              <a:rPr lang="en-US" altLang="zh-TW" dirty="0" smtClean="0"/>
              <a:t>SVM</a:t>
            </a:r>
            <a:r>
              <a:rPr lang="zh-TW" altLang="en-US" dirty="0" smtClean="0"/>
              <a:t>對於一群在 </a:t>
            </a:r>
            <a:r>
              <a:rPr lang="en-US" altLang="zh-TW" dirty="0" smtClean="0"/>
              <a:t>R</a:t>
            </a:r>
            <a:r>
              <a:rPr lang="en-US" altLang="zh-TW" baseline="30000" dirty="0" smtClean="0"/>
              <a:t>d</a:t>
            </a:r>
            <a:r>
              <a:rPr lang="en-US" altLang="zh-TW" dirty="0" smtClean="0"/>
              <a:t> </a:t>
            </a:r>
            <a:r>
              <a:rPr lang="zh-TW" altLang="en-US" dirty="0" smtClean="0"/>
              <a:t>空間中的資料，我們希望能夠在該空間之中找出一</a:t>
            </a:r>
            <a:r>
              <a:rPr lang="en-US" altLang="zh-TW" dirty="0" smtClean="0"/>
              <a:t>Hyper-plan</a:t>
            </a:r>
            <a:r>
              <a:rPr lang="zh-TW" altLang="en-US" dirty="0" smtClean="0"/>
              <a:t>，並且，希望此</a:t>
            </a:r>
            <a:r>
              <a:rPr lang="en-US" altLang="zh-TW" dirty="0" smtClean="0"/>
              <a:t>Hyper-plan</a:t>
            </a:r>
            <a:r>
              <a:rPr lang="zh-TW" altLang="en-US" dirty="0" smtClean="0"/>
              <a:t>可以將這群資料切成兩群</a:t>
            </a:r>
            <a:r>
              <a:rPr lang="en-US" altLang="zh-TW" dirty="0" smtClean="0"/>
              <a:t>(</a:t>
            </a:r>
            <a:r>
              <a:rPr lang="en-US" altLang="zh-TW" dirty="0" err="1" smtClean="0"/>
              <a:t>ie</a:t>
            </a:r>
            <a:r>
              <a:rPr lang="en-US" altLang="zh-TW" dirty="0" smtClean="0"/>
              <a:t>:</a:t>
            </a:r>
            <a:r>
              <a:rPr lang="zh-TW" altLang="en-US" dirty="0" smtClean="0"/>
              <a:t>群組 </a:t>
            </a:r>
            <a:r>
              <a:rPr lang="en-US" altLang="zh-TW" dirty="0" smtClean="0"/>
              <a:t>A</a:t>
            </a:r>
            <a:r>
              <a:rPr lang="zh-TW" altLang="en-US" dirty="0" smtClean="0"/>
              <a:t>、群組 </a:t>
            </a:r>
            <a:r>
              <a:rPr lang="en-US" altLang="zh-TW" dirty="0" smtClean="0"/>
              <a:t>B)</a:t>
            </a:r>
            <a:r>
              <a:rPr lang="zh-TW" altLang="en-US" dirty="0" smtClean="0"/>
              <a:t>。</a:t>
            </a:r>
            <a:endParaRPr lang="en-US" altLang="zh-TW" dirty="0" smtClean="0"/>
          </a:p>
          <a:p>
            <a:r>
              <a:rPr lang="zh-TW" altLang="en-US" dirty="0" smtClean="0"/>
              <a:t>而屬於群組 </a:t>
            </a:r>
            <a:r>
              <a:rPr lang="en-US" altLang="zh-TW" dirty="0" smtClean="0"/>
              <a:t>A </a:t>
            </a:r>
            <a:r>
              <a:rPr lang="zh-TW" altLang="en-US" dirty="0" smtClean="0"/>
              <a:t>的資料均位於 </a:t>
            </a:r>
            <a:r>
              <a:rPr lang="en-US" altLang="zh-TW" dirty="0" smtClean="0"/>
              <a:t>Hyper-plan </a:t>
            </a:r>
            <a:r>
              <a:rPr lang="zh-TW" altLang="en-US" dirty="0" smtClean="0"/>
              <a:t>的同側，而群組 </a:t>
            </a:r>
            <a:r>
              <a:rPr lang="en-US" altLang="zh-TW" dirty="0" smtClean="0"/>
              <a:t>B </a:t>
            </a:r>
            <a:r>
              <a:rPr lang="zh-TW" altLang="en-US" dirty="0" smtClean="0"/>
              <a:t>的資料均位於 </a:t>
            </a:r>
            <a:r>
              <a:rPr lang="en-US" altLang="zh-TW" dirty="0" smtClean="0"/>
              <a:t>Hyper-plan</a:t>
            </a:r>
            <a:r>
              <a:rPr lang="zh-TW" altLang="en-US" dirty="0" smtClean="0"/>
              <a:t>的另一側，如下圖：</a:t>
            </a:r>
          </a:p>
        </p:txBody>
      </p:sp>
      <p:pic>
        <p:nvPicPr>
          <p:cNvPr id="1027" name="Picture 3"/>
          <p:cNvPicPr>
            <a:picLocks noChangeAspect="1" noChangeArrowheads="1"/>
          </p:cNvPicPr>
          <p:nvPr/>
        </p:nvPicPr>
        <p:blipFill>
          <a:blip r:embed="rId2" cstate="print"/>
          <a:srcRect/>
          <a:stretch>
            <a:fillRect/>
          </a:stretch>
        </p:blipFill>
        <p:spPr bwMode="auto">
          <a:xfrm>
            <a:off x="3131840" y="3284984"/>
            <a:ext cx="3178526" cy="3284984"/>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260647"/>
            <a:ext cx="8229600" cy="2880321"/>
          </a:xfrm>
        </p:spPr>
        <p:txBody>
          <a:bodyPr>
            <a:normAutofit fontScale="92500" lnSpcReduction="20000"/>
          </a:bodyPr>
          <a:lstStyle/>
          <a:p>
            <a:r>
              <a:rPr lang="zh-TW" altLang="en-US" dirty="0" smtClean="0"/>
              <a:t>比較下圖左以及右，我們可以發現左圖所找出的 </a:t>
            </a:r>
            <a:r>
              <a:rPr lang="en-US" altLang="zh-TW" dirty="0" smtClean="0"/>
              <a:t>Hyper-plan(</a:t>
            </a:r>
            <a:r>
              <a:rPr lang="zh-TW" altLang="en-US" dirty="0" smtClean="0"/>
              <a:t>虛線</a:t>
            </a:r>
            <a:r>
              <a:rPr lang="en-US" altLang="zh-TW" dirty="0" smtClean="0"/>
              <a:t>)</a:t>
            </a:r>
            <a:r>
              <a:rPr lang="zh-TW" altLang="en-US" dirty="0" smtClean="0"/>
              <a:t>，其兩平行且與兩組資料點相切的 </a:t>
            </a:r>
            <a:r>
              <a:rPr lang="en-US" altLang="zh-TW" dirty="0" smtClean="0"/>
              <a:t>Hyper-plan(</a:t>
            </a:r>
            <a:r>
              <a:rPr lang="zh-TW" altLang="en-US" dirty="0" smtClean="0"/>
              <a:t>實線</a:t>
            </a:r>
            <a:r>
              <a:rPr lang="en-US" altLang="zh-TW" dirty="0" smtClean="0"/>
              <a:t>)</a:t>
            </a:r>
            <a:r>
              <a:rPr lang="zh-TW" altLang="en-US" dirty="0" smtClean="0"/>
              <a:t>之間距離較近，而右圖則具有較大的 </a:t>
            </a:r>
            <a:r>
              <a:rPr lang="en-US" altLang="zh-TW" dirty="0" smtClean="0"/>
              <a:t>Margin</a:t>
            </a:r>
            <a:r>
              <a:rPr lang="zh-TW" altLang="en-US" dirty="0" smtClean="0"/>
              <a:t>。</a:t>
            </a:r>
            <a:endParaRPr lang="en-US" altLang="zh-TW" dirty="0" smtClean="0"/>
          </a:p>
          <a:p>
            <a:r>
              <a:rPr lang="zh-TW" altLang="en-US" dirty="0" smtClean="0"/>
              <a:t>而由於我們希望可以找出將兩群資料點分的較開的 </a:t>
            </a:r>
            <a:r>
              <a:rPr lang="en-US" altLang="zh-TW" dirty="0" smtClean="0"/>
              <a:t>Hyper-plan</a:t>
            </a:r>
            <a:r>
              <a:rPr lang="zh-TW" altLang="en-US" dirty="0" smtClean="0"/>
              <a:t>，因次我們認為右圖所找出的是比較好的 </a:t>
            </a:r>
            <a:r>
              <a:rPr lang="en-US" altLang="zh-TW" dirty="0" smtClean="0"/>
              <a:t>Hyper-plan</a:t>
            </a:r>
            <a:r>
              <a:rPr lang="zh-TW" altLang="en-US" dirty="0" smtClean="0"/>
              <a:t>。</a:t>
            </a:r>
          </a:p>
          <a:p>
            <a:endParaRPr lang="zh-TW" altLang="en-US" dirty="0"/>
          </a:p>
        </p:txBody>
      </p:sp>
      <p:pic>
        <p:nvPicPr>
          <p:cNvPr id="2050" name="Picture 2"/>
          <p:cNvPicPr>
            <a:picLocks noChangeAspect="1" noChangeArrowheads="1"/>
          </p:cNvPicPr>
          <p:nvPr/>
        </p:nvPicPr>
        <p:blipFill>
          <a:blip r:embed="rId2" cstate="print"/>
          <a:srcRect/>
          <a:stretch>
            <a:fillRect/>
          </a:stretch>
        </p:blipFill>
        <p:spPr bwMode="auto">
          <a:xfrm>
            <a:off x="1259632" y="3140968"/>
            <a:ext cx="6693371" cy="3433715"/>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67544" y="0"/>
            <a:ext cx="8229600" cy="1143000"/>
          </a:xfrm>
        </p:spPr>
        <p:txBody>
          <a:bodyPr/>
          <a:lstStyle/>
          <a:p>
            <a:r>
              <a:rPr lang="en-US" altLang="zh-TW" dirty="0" smtClean="0"/>
              <a:t>Soft margin SVM</a:t>
            </a:r>
            <a:endParaRPr lang="zh-TW" altLang="en-US" dirty="0"/>
          </a:p>
        </p:txBody>
      </p:sp>
      <p:sp>
        <p:nvSpPr>
          <p:cNvPr id="3" name="內容版面配置區 2"/>
          <p:cNvSpPr>
            <a:spLocks noGrp="1"/>
          </p:cNvSpPr>
          <p:nvPr>
            <p:ph idx="1"/>
          </p:nvPr>
        </p:nvSpPr>
        <p:spPr>
          <a:xfrm>
            <a:off x="467544" y="1196752"/>
            <a:ext cx="8229600" cy="4525963"/>
          </a:xfrm>
        </p:spPr>
        <p:txBody>
          <a:bodyPr>
            <a:normAutofit/>
          </a:bodyPr>
          <a:lstStyle/>
          <a:p>
            <a:r>
              <a:rPr lang="en-US" altLang="zh-TW" dirty="0" smtClean="0"/>
              <a:t>To make the method more </a:t>
            </a:r>
            <a:r>
              <a:rPr lang="en-US" altLang="zh-TW" dirty="0" err="1" smtClean="0"/>
              <a:t>ﬂexible</a:t>
            </a:r>
            <a:r>
              <a:rPr lang="en-US" altLang="zh-TW" dirty="0" smtClean="0"/>
              <a:t> and robust,</a:t>
            </a:r>
          </a:p>
          <a:p>
            <a:pPr>
              <a:buNone/>
            </a:pPr>
            <a:r>
              <a:rPr lang="en-US" altLang="zh-TW" dirty="0" smtClean="0"/>
              <a:t>    all the patterns need not be correctly </a:t>
            </a:r>
            <a:r>
              <a:rPr lang="en-US" altLang="zh-TW" dirty="0" err="1" smtClean="0"/>
              <a:t>classiﬁed</a:t>
            </a:r>
            <a:r>
              <a:rPr lang="en-US" altLang="zh-TW" dirty="0" smtClean="0"/>
              <a:t> by the </a:t>
            </a:r>
            <a:r>
              <a:rPr lang="en-US" altLang="zh-TW" dirty="0" err="1" smtClean="0"/>
              <a:t>hyperplane</a:t>
            </a:r>
            <a:r>
              <a:rPr lang="en-US" altLang="zh-TW" dirty="0" smtClean="0"/>
              <a:t>.</a:t>
            </a:r>
          </a:p>
          <a:p>
            <a:r>
              <a:rPr lang="en-US" altLang="zh-TW" dirty="0" smtClean="0"/>
              <a:t>The </a:t>
            </a:r>
            <a:r>
              <a:rPr lang="en-US" altLang="zh-TW" dirty="0" err="1" smtClean="0"/>
              <a:t>misclassiﬁed</a:t>
            </a:r>
            <a:r>
              <a:rPr lang="en-US" altLang="zh-TW" dirty="0" smtClean="0"/>
              <a:t> patterns are penalized, and slack variables </a:t>
            </a:r>
            <a:r>
              <a:rPr lang="el-GR" altLang="zh-TW" dirty="0" smtClean="0"/>
              <a:t>ξ</a:t>
            </a:r>
            <a:r>
              <a:rPr lang="en-US" altLang="zh-TW" dirty="0" smtClean="0"/>
              <a:t> are introduced to account for such </a:t>
            </a:r>
            <a:r>
              <a:rPr lang="en-US" altLang="zh-TW" dirty="0" err="1" smtClean="0"/>
              <a:t>misclassiﬁcations</a:t>
            </a:r>
            <a:r>
              <a:rPr lang="en-US" altLang="zh-TW" dirty="0" smtClean="0"/>
              <a:t>.</a:t>
            </a:r>
            <a:endParaRPr lang="zh-TW" altLang="en-US" dirty="0"/>
          </a:p>
        </p:txBody>
      </p:sp>
      <p:pic>
        <p:nvPicPr>
          <p:cNvPr id="5123" name="Picture 3"/>
          <p:cNvPicPr>
            <a:picLocks noChangeAspect="1" noChangeArrowheads="1"/>
          </p:cNvPicPr>
          <p:nvPr/>
        </p:nvPicPr>
        <p:blipFill>
          <a:blip r:embed="rId2" cstate="print"/>
          <a:srcRect/>
          <a:stretch>
            <a:fillRect/>
          </a:stretch>
        </p:blipFill>
        <p:spPr bwMode="auto">
          <a:xfrm>
            <a:off x="1619672" y="4365104"/>
            <a:ext cx="5544616" cy="2056421"/>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188640"/>
            <a:ext cx="8229600" cy="6480720"/>
          </a:xfrm>
        </p:spPr>
        <p:txBody>
          <a:bodyPr/>
          <a:lstStyle/>
          <a:p>
            <a:r>
              <a:rPr lang="zh-TW" altLang="en-US" dirty="0" smtClean="0"/>
              <a:t>我們希望誤差項 </a:t>
            </a:r>
            <a:r>
              <a:rPr lang="en-US" altLang="zh-TW" dirty="0" smtClean="0"/>
              <a:t>ξ</a:t>
            </a:r>
            <a:r>
              <a:rPr lang="zh-TW" altLang="en-US" dirty="0" smtClean="0"/>
              <a:t>的範圍愈小愈好，所以給有誤差的資料多一點成本</a:t>
            </a:r>
            <a:r>
              <a:rPr lang="en-US" altLang="zh-TW" dirty="0" smtClean="0"/>
              <a:t>(cost)</a:t>
            </a:r>
            <a:r>
              <a:rPr lang="zh-TW" altLang="en-US" dirty="0" smtClean="0"/>
              <a:t>。</a:t>
            </a:r>
          </a:p>
          <a:p>
            <a:r>
              <a:rPr lang="en-US" altLang="zh-TW" dirty="0" smtClean="0"/>
              <a:t>C</a:t>
            </a:r>
            <a:r>
              <a:rPr lang="zh-TW" altLang="en-US" dirty="0" smtClean="0"/>
              <a:t>是我們決定要給多少懲罰的權重。</a:t>
            </a:r>
            <a:endParaRPr lang="en-US" altLang="zh-TW" dirty="0" smtClean="0"/>
          </a:p>
          <a:p>
            <a:r>
              <a:rPr lang="zh-TW" altLang="en-US" dirty="0" smtClean="0"/>
              <a:t>則目標函式與限制函式可寫成</a:t>
            </a:r>
            <a:r>
              <a:rPr lang="en-US" altLang="zh-TW" dirty="0" smtClean="0"/>
              <a:t>:</a:t>
            </a:r>
          </a:p>
          <a:p>
            <a:pPr lvl="1"/>
            <a:endParaRPr lang="en-US" altLang="zh-TW" dirty="0" smtClean="0"/>
          </a:p>
          <a:p>
            <a:pPr lvl="1"/>
            <a:endParaRPr lang="en-US" altLang="zh-TW" dirty="0" smtClean="0"/>
          </a:p>
          <a:p>
            <a:pPr lvl="1"/>
            <a:endParaRPr lang="en-US" altLang="zh-TW" dirty="0" smtClean="0"/>
          </a:p>
          <a:p>
            <a:r>
              <a:rPr lang="zh-TW" altLang="en-US" dirty="0" smtClean="0"/>
              <a:t>再使用</a:t>
            </a:r>
            <a:r>
              <a:rPr lang="en-US" altLang="zh-TW" dirty="0" smtClean="0"/>
              <a:t>Lagrange Multiplier</a:t>
            </a:r>
            <a:r>
              <a:rPr lang="zh-TW" altLang="en-US" dirty="0" smtClean="0"/>
              <a:t>求解</a:t>
            </a:r>
            <a:endParaRPr lang="zh-TW" altLang="en-US" dirty="0"/>
          </a:p>
        </p:txBody>
      </p:sp>
      <p:pic>
        <p:nvPicPr>
          <p:cNvPr id="4" name="Picture 2"/>
          <p:cNvPicPr>
            <a:picLocks noChangeAspect="1" noChangeArrowheads="1"/>
          </p:cNvPicPr>
          <p:nvPr/>
        </p:nvPicPr>
        <p:blipFill>
          <a:blip r:embed="rId2" cstate="print"/>
          <a:srcRect/>
          <a:stretch>
            <a:fillRect/>
          </a:stretch>
        </p:blipFill>
        <p:spPr bwMode="auto">
          <a:xfrm>
            <a:off x="827584" y="2423568"/>
            <a:ext cx="7416824" cy="1396914"/>
          </a:xfrm>
          <a:prstGeom prst="rect">
            <a:avLst/>
          </a:prstGeom>
          <a:noFill/>
          <a:ln w="9525">
            <a:noFill/>
            <a:miter lim="800000"/>
            <a:headEnd/>
            <a:tailEnd/>
          </a:ln>
        </p:spPr>
      </p:pic>
      <p:pic>
        <p:nvPicPr>
          <p:cNvPr id="6146" name="Picture 2"/>
          <p:cNvPicPr>
            <a:picLocks noChangeAspect="1" noChangeArrowheads="1"/>
          </p:cNvPicPr>
          <p:nvPr/>
        </p:nvPicPr>
        <p:blipFill>
          <a:blip r:embed="rId3" cstate="print"/>
          <a:srcRect/>
          <a:stretch>
            <a:fillRect/>
          </a:stretch>
        </p:blipFill>
        <p:spPr bwMode="auto">
          <a:xfrm>
            <a:off x="395536" y="4712876"/>
            <a:ext cx="4248471" cy="2027678"/>
          </a:xfrm>
          <a:prstGeom prst="rect">
            <a:avLst/>
          </a:prstGeom>
          <a:noFill/>
          <a:ln w="9525">
            <a:noFill/>
            <a:miter lim="800000"/>
            <a:headEnd/>
            <a:tailEnd/>
          </a:ln>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6136" y="4712876"/>
            <a:ext cx="2984834" cy="1872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Multiple-kernel learning</a:t>
            </a:r>
            <a:endParaRPr lang="zh-TW" altLang="en-US" dirty="0"/>
          </a:p>
        </p:txBody>
      </p:sp>
      <p:sp>
        <p:nvSpPr>
          <p:cNvPr id="3" name="內容版面配置區 2"/>
          <p:cNvSpPr>
            <a:spLocks noGrp="1"/>
          </p:cNvSpPr>
          <p:nvPr>
            <p:ph idx="1"/>
          </p:nvPr>
        </p:nvSpPr>
        <p:spPr/>
        <p:txBody>
          <a:bodyPr>
            <a:normAutofit fontScale="92500"/>
          </a:bodyPr>
          <a:lstStyle/>
          <a:p>
            <a:r>
              <a:rPr lang="en-US" altLang="zh-TW" dirty="0" smtClean="0"/>
              <a:t>The performance</a:t>
            </a:r>
            <a:r>
              <a:rPr lang="zh-TW" altLang="en-US" dirty="0" smtClean="0"/>
              <a:t> </a:t>
            </a:r>
            <a:r>
              <a:rPr lang="en-US" altLang="zh-TW" dirty="0" smtClean="0"/>
              <a:t>of a single-kernel method depends heavily on the choice of the kernel</a:t>
            </a:r>
          </a:p>
          <a:p>
            <a:r>
              <a:rPr lang="en-US" altLang="zh-TW" dirty="0" smtClean="0"/>
              <a:t>Kernel fusion has been proposed to</a:t>
            </a:r>
            <a:r>
              <a:rPr lang="zh-TW" altLang="en-US" dirty="0" smtClean="0"/>
              <a:t> </a:t>
            </a:r>
            <a:r>
              <a:rPr lang="en-US" altLang="zh-TW" dirty="0" smtClean="0"/>
              <a:t>deal with this problem</a:t>
            </a:r>
          </a:p>
          <a:p>
            <a:endParaRPr lang="en-US" altLang="zh-TW" dirty="0" smtClean="0"/>
          </a:p>
          <a:p>
            <a:endParaRPr lang="en-US" altLang="zh-TW" dirty="0" smtClean="0"/>
          </a:p>
          <a:p>
            <a:endParaRPr lang="en-US" altLang="zh-TW" dirty="0" smtClean="0"/>
          </a:p>
          <a:p>
            <a:r>
              <a:rPr lang="en-US" altLang="zh-TW" dirty="0" smtClean="0"/>
              <a:t>where </a:t>
            </a:r>
            <a:r>
              <a:rPr lang="en-US" altLang="zh-TW" dirty="0" err="1" smtClean="0"/>
              <a:t>μ</a:t>
            </a:r>
            <a:r>
              <a:rPr lang="en-US" altLang="zh-TW" baseline="-25000" dirty="0" err="1" smtClean="0"/>
              <a:t>s</a:t>
            </a:r>
            <a:r>
              <a:rPr lang="en-US" altLang="zh-TW" dirty="0" smtClean="0"/>
              <a:t> are weights. we’d like </a:t>
            </a:r>
            <a:r>
              <a:rPr lang="en-US" altLang="zh-TW" dirty="0" err="1" smtClean="0"/>
              <a:t>μ</a:t>
            </a:r>
            <a:r>
              <a:rPr lang="en-US" altLang="zh-TW" baseline="-25000" dirty="0" err="1" smtClean="0"/>
              <a:t>s</a:t>
            </a:r>
            <a:r>
              <a:rPr lang="en-US" altLang="zh-TW" baseline="-25000" dirty="0" smtClean="0"/>
              <a:t> </a:t>
            </a:r>
            <a:r>
              <a:rPr lang="en-US" altLang="zh-TW" dirty="0" smtClean="0"/>
              <a:t>to be optimal.</a:t>
            </a:r>
          </a:p>
        </p:txBody>
      </p:sp>
      <p:pic>
        <p:nvPicPr>
          <p:cNvPr id="7170" name="Picture 2"/>
          <p:cNvPicPr>
            <a:picLocks noChangeAspect="1" noChangeArrowheads="1"/>
          </p:cNvPicPr>
          <p:nvPr/>
        </p:nvPicPr>
        <p:blipFill>
          <a:blip r:embed="rId2" cstate="print"/>
          <a:srcRect/>
          <a:stretch>
            <a:fillRect/>
          </a:stretch>
        </p:blipFill>
        <p:spPr bwMode="auto">
          <a:xfrm>
            <a:off x="2771800" y="3429000"/>
            <a:ext cx="3067050" cy="139065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67544" y="188640"/>
            <a:ext cx="8229600" cy="2952328"/>
          </a:xfrm>
        </p:spPr>
        <p:txBody>
          <a:bodyPr>
            <a:normAutofit fontScale="92500" lnSpcReduction="20000"/>
          </a:bodyPr>
          <a:lstStyle/>
          <a:p>
            <a:r>
              <a:rPr lang="en-US" altLang="zh-TW" dirty="0" smtClean="0"/>
              <a:t>The generalized performance measure is minimized with respect to the combined kernel matrix </a:t>
            </a:r>
            <a:r>
              <a:rPr lang="en-US" altLang="zh-TW" u="sng" dirty="0" smtClean="0"/>
              <a:t>K</a:t>
            </a:r>
            <a:r>
              <a:rPr lang="en-US" altLang="zh-TW" dirty="0" smtClean="0"/>
              <a:t>, where                                    is obtained from both the training and testing patterns, and </a:t>
            </a:r>
            <a:r>
              <a:rPr lang="en-US" altLang="zh-TW" u="sng" dirty="0" smtClean="0"/>
              <a:t>l</a:t>
            </a:r>
            <a:r>
              <a:rPr lang="en-US" altLang="zh-TW" dirty="0" smtClean="0"/>
              <a:t> is the total number of patterns. The objective function and constraints of the underlying problem are formulated as</a:t>
            </a:r>
            <a:endParaRPr lang="zh-TW" altLang="en-US" dirty="0"/>
          </a:p>
        </p:txBody>
      </p:sp>
      <p:pic>
        <p:nvPicPr>
          <p:cNvPr id="8194" name="Picture 2"/>
          <p:cNvPicPr>
            <a:picLocks noChangeAspect="1" noChangeArrowheads="1"/>
          </p:cNvPicPr>
          <p:nvPr/>
        </p:nvPicPr>
        <p:blipFill>
          <a:blip r:embed="rId2" cstate="print"/>
          <a:srcRect/>
          <a:stretch>
            <a:fillRect/>
          </a:stretch>
        </p:blipFill>
        <p:spPr bwMode="auto">
          <a:xfrm>
            <a:off x="3419872" y="908720"/>
            <a:ext cx="2880319" cy="407982"/>
          </a:xfrm>
          <a:prstGeom prst="rect">
            <a:avLst/>
          </a:prstGeom>
          <a:noFill/>
          <a:ln w="9525">
            <a:noFill/>
            <a:miter lim="800000"/>
            <a:headEnd/>
            <a:tailEnd/>
          </a:ln>
        </p:spPr>
      </p:pic>
      <p:pic>
        <p:nvPicPr>
          <p:cNvPr id="8195" name="Picture 3"/>
          <p:cNvPicPr>
            <a:picLocks noChangeAspect="1" noChangeArrowheads="1"/>
          </p:cNvPicPr>
          <p:nvPr/>
        </p:nvPicPr>
        <p:blipFill>
          <a:blip r:embed="rId3" cstate="print"/>
          <a:srcRect/>
          <a:stretch>
            <a:fillRect/>
          </a:stretch>
        </p:blipFill>
        <p:spPr bwMode="auto">
          <a:xfrm>
            <a:off x="467544" y="2996952"/>
            <a:ext cx="3136098" cy="2709292"/>
          </a:xfrm>
          <a:prstGeom prst="rect">
            <a:avLst/>
          </a:prstGeom>
          <a:noFill/>
          <a:ln w="9525">
            <a:noFill/>
            <a:miter lim="800000"/>
            <a:headEnd/>
            <a:tailEnd/>
          </a:ln>
        </p:spPr>
      </p:pic>
      <p:pic>
        <p:nvPicPr>
          <p:cNvPr id="8196" name="Picture 4"/>
          <p:cNvPicPr>
            <a:picLocks noChangeAspect="1" noChangeArrowheads="1"/>
          </p:cNvPicPr>
          <p:nvPr/>
        </p:nvPicPr>
        <p:blipFill>
          <a:blip r:embed="rId4" cstate="print"/>
          <a:srcRect/>
          <a:stretch>
            <a:fillRect/>
          </a:stretch>
        </p:blipFill>
        <p:spPr bwMode="auto">
          <a:xfrm>
            <a:off x="4355976" y="3140968"/>
            <a:ext cx="4613158" cy="2592288"/>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Proposed </a:t>
            </a:r>
            <a:r>
              <a:rPr lang="en-US" altLang="zh-TW" dirty="0" smtClean="0"/>
              <a:t>Method</a:t>
            </a:r>
            <a:endParaRPr lang="zh-TW" altLang="en-US" dirty="0"/>
          </a:p>
        </p:txBody>
      </p:sp>
      <p:sp>
        <p:nvSpPr>
          <p:cNvPr id="3" name="內容版面配置區 2"/>
          <p:cNvSpPr>
            <a:spLocks noGrp="1"/>
          </p:cNvSpPr>
          <p:nvPr>
            <p:ph idx="1"/>
          </p:nvPr>
        </p:nvSpPr>
        <p:spPr>
          <a:xfrm>
            <a:off x="457200" y="1600201"/>
            <a:ext cx="8229600" cy="2044823"/>
          </a:xfrm>
        </p:spPr>
        <p:txBody>
          <a:bodyPr>
            <a:normAutofit fontScale="85000" lnSpcReduction="20000"/>
          </a:bodyPr>
          <a:lstStyle/>
          <a:p>
            <a:r>
              <a:rPr lang="en-US" altLang="zh-TW" dirty="0"/>
              <a:t>T</a:t>
            </a:r>
            <a:r>
              <a:rPr lang="en-US" altLang="zh-TW" dirty="0" smtClean="0"/>
              <a:t>wo </a:t>
            </a:r>
            <a:r>
              <a:rPr lang="en-US" altLang="zh-TW" dirty="0" smtClean="0"/>
              <a:t>strategies are incorporated </a:t>
            </a:r>
          </a:p>
          <a:p>
            <a:pPr lvl="1"/>
            <a:r>
              <a:rPr lang="en-US" altLang="zh-TW" dirty="0" smtClean="0"/>
              <a:t>kernel weights to be non-negative</a:t>
            </a:r>
          </a:p>
          <a:p>
            <a:pPr lvl="1"/>
            <a:r>
              <a:rPr lang="en-US" altLang="zh-TW" dirty="0" smtClean="0"/>
              <a:t>the sum of the weights to be one</a:t>
            </a:r>
          </a:p>
          <a:p>
            <a:r>
              <a:rPr lang="en-US" altLang="zh-TW" dirty="0" smtClean="0"/>
              <a:t>Therefore, the </a:t>
            </a:r>
            <a:r>
              <a:rPr lang="en-US" altLang="zh-TW" dirty="0" err="1" smtClean="0"/>
              <a:t>multiplekernel</a:t>
            </a:r>
            <a:r>
              <a:rPr lang="en-US" altLang="zh-TW" dirty="0" smtClean="0"/>
              <a:t> optimization problem for SVMs becomes</a:t>
            </a:r>
            <a:r>
              <a:rPr lang="en-US" altLang="zh-TW" dirty="0" smtClean="0"/>
              <a:t>:</a:t>
            </a:r>
          </a:p>
          <a:p>
            <a:endParaRPr lang="en-US" altLang="zh-TW" dirty="0" smtClean="0"/>
          </a:p>
          <a:p>
            <a:endParaRPr lang="en-US" altLang="zh-TW" dirty="0" smtClean="0"/>
          </a:p>
          <a:p>
            <a:endParaRPr lang="en-US" altLang="zh-TW" dirty="0"/>
          </a:p>
          <a:p>
            <a:endParaRPr lang="en-US" altLang="zh-TW" dirty="0" smtClean="0"/>
          </a:p>
          <a:p>
            <a:endParaRPr lang="en-US" altLang="zh-TW" dirty="0"/>
          </a:p>
          <a:p>
            <a:endParaRPr lang="en-US" altLang="zh-TW" dirty="0" smtClean="0"/>
          </a:p>
          <a:p>
            <a:endParaRPr lang="en-US" altLang="zh-TW" dirty="0"/>
          </a:p>
          <a:p>
            <a:endParaRPr lang="en-US" altLang="zh-TW" dirty="0" smtClean="0"/>
          </a:p>
          <a:p>
            <a:pPr marL="0" indent="0">
              <a:buNone/>
            </a:pPr>
            <a:endParaRPr lang="en-US" altLang="zh-TW" dirty="0" smtClean="0"/>
          </a:p>
          <a:p>
            <a:endParaRPr lang="en-US" altLang="zh-TW" dirty="0"/>
          </a:p>
          <a:p>
            <a:endParaRPr lang="en-US" altLang="zh-TW" dirty="0" smtClean="0"/>
          </a:p>
          <a:p>
            <a:endParaRPr lang="en-US" altLang="zh-TW" dirty="0"/>
          </a:p>
          <a:p>
            <a:endParaRPr lang="en-US" altLang="zh-TW" dirty="0" smtClean="0"/>
          </a:p>
          <a:p>
            <a:endParaRPr lang="en-US" altLang="zh-TW" dirty="0"/>
          </a:p>
          <a:p>
            <a:endParaRPr lang="en-US" altLang="zh-TW" dirty="0" smtClean="0"/>
          </a:p>
          <a:p>
            <a:endParaRPr lang="zh-TW" altLang="en-US" dirty="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800" y="3617083"/>
            <a:ext cx="3314700" cy="256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188640"/>
            <a:ext cx="8229600" cy="6336704"/>
          </a:xfrm>
        </p:spPr>
        <p:txBody>
          <a:bodyPr>
            <a:normAutofit/>
          </a:bodyPr>
          <a:lstStyle/>
          <a:p>
            <a:pPr marL="0" indent="0">
              <a:buNone/>
            </a:pPr>
            <a:r>
              <a:rPr lang="zh-TW" altLang="en-US" sz="2700" dirty="0"/>
              <a:t>引入變數</a:t>
            </a:r>
            <a:r>
              <a:rPr lang="en-US" altLang="zh-TW" sz="2700" dirty="0"/>
              <a:t>t</a:t>
            </a:r>
            <a:r>
              <a:rPr lang="zh-TW" altLang="en-US" sz="2700" dirty="0"/>
              <a:t>當作此目標函式的</a:t>
            </a:r>
            <a:r>
              <a:rPr lang="en-US" altLang="zh-TW" sz="2700" dirty="0"/>
              <a:t>upper </a:t>
            </a:r>
            <a:r>
              <a:rPr lang="en-US" altLang="zh-TW" sz="2700" dirty="0" smtClean="0"/>
              <a:t>bound </a:t>
            </a:r>
            <a:r>
              <a:rPr lang="zh-TW" altLang="en-US" sz="2700" dirty="0" smtClean="0"/>
              <a:t>則上式可改寫為</a:t>
            </a:r>
            <a:r>
              <a:rPr lang="en-US" altLang="zh-TW" sz="2700" dirty="0" smtClean="0"/>
              <a:t>:</a:t>
            </a:r>
          </a:p>
          <a:p>
            <a:pPr marL="0" indent="0">
              <a:buNone/>
            </a:pPr>
            <a:endParaRPr lang="en-US" altLang="zh-TW" sz="2700" dirty="0"/>
          </a:p>
          <a:p>
            <a:pPr marL="0" indent="0">
              <a:buNone/>
            </a:pPr>
            <a:endParaRPr lang="en-US" altLang="zh-TW" sz="2700" dirty="0" smtClean="0"/>
          </a:p>
          <a:p>
            <a:pPr marL="400050" lvl="1" indent="0">
              <a:buNone/>
            </a:pPr>
            <a:endParaRPr lang="en-US" altLang="zh-TW" sz="2300" dirty="0" smtClean="0"/>
          </a:p>
          <a:p>
            <a:pPr marL="400050" lvl="1" indent="0">
              <a:buNone/>
            </a:pPr>
            <a:endParaRPr lang="en-US" altLang="zh-TW" sz="2300" dirty="0"/>
          </a:p>
          <a:p>
            <a:pPr marL="0" indent="0">
              <a:buNone/>
            </a:pPr>
            <a:r>
              <a:rPr lang="en-US" altLang="zh-TW" sz="2700" dirty="0" smtClean="0"/>
              <a:t>By using </a:t>
            </a:r>
            <a:r>
              <a:rPr lang="en-US" altLang="zh-TW" sz="2800" dirty="0" smtClean="0"/>
              <a:t>Lagrange </a:t>
            </a:r>
            <a:r>
              <a:rPr lang="en-US" altLang="zh-TW" sz="2800" dirty="0"/>
              <a:t>Multiplier </a:t>
            </a:r>
            <a:r>
              <a:rPr lang="en-US" altLang="zh-TW" sz="2800" dirty="0" smtClean="0"/>
              <a:t>Method,</a:t>
            </a:r>
            <a:r>
              <a:rPr lang="zh-TW" altLang="en-US" sz="2800" dirty="0" smtClean="0"/>
              <a:t> </a:t>
            </a:r>
            <a:r>
              <a:rPr lang="en-US" altLang="zh-TW" sz="2800" dirty="0" smtClean="0"/>
              <a:t>and </a:t>
            </a:r>
            <a:r>
              <a:rPr lang="en-US" altLang="zh-TW" sz="2800" dirty="0" err="1" smtClean="0"/>
              <a:t>Schur</a:t>
            </a:r>
            <a:r>
              <a:rPr lang="en-US" altLang="zh-TW" sz="2800" dirty="0" smtClean="0"/>
              <a:t> </a:t>
            </a:r>
            <a:r>
              <a:rPr lang="en-US" altLang="zh-TW" sz="2800" dirty="0"/>
              <a:t>complement </a:t>
            </a:r>
            <a:r>
              <a:rPr lang="en-US" altLang="zh-TW" sz="2800" dirty="0" smtClean="0"/>
              <a:t>lemma</a:t>
            </a:r>
            <a:r>
              <a:rPr lang="zh-TW" altLang="en-US" sz="2800" dirty="0" smtClean="0"/>
              <a:t> </a:t>
            </a:r>
            <a:r>
              <a:rPr lang="en-US" altLang="zh-TW" sz="2800" dirty="0" smtClean="0"/>
              <a:t>we can derive</a:t>
            </a:r>
            <a:endParaRPr lang="en-US" altLang="zh-TW" sz="2700" dirty="0"/>
          </a:p>
          <a:p>
            <a:pPr marL="0" indent="0">
              <a:buNone/>
            </a:pPr>
            <a:endParaRPr lang="en-US" altLang="zh-TW" sz="2700" dirty="0" smtClean="0"/>
          </a:p>
          <a:p>
            <a:pPr marL="0" indent="0">
              <a:buNone/>
            </a:pPr>
            <a:endParaRPr lang="en-US" altLang="zh-TW" sz="2700" dirty="0" smtClean="0"/>
          </a:p>
          <a:p>
            <a:pPr marL="0" indent="0">
              <a:buNone/>
            </a:pPr>
            <a:endParaRPr lang="en-US" altLang="zh-TW" sz="2700" dirty="0"/>
          </a:p>
          <a:p>
            <a:pPr marL="0" indent="0">
              <a:buNone/>
            </a:pPr>
            <a:endParaRPr lang="en-US" altLang="zh-TW" sz="2700" dirty="0" smtClean="0"/>
          </a:p>
          <a:p>
            <a:pPr marL="0" indent="0">
              <a:buNone/>
            </a:pPr>
            <a:endParaRPr lang="en-US" altLang="zh-TW" sz="2700" dirty="0"/>
          </a:p>
          <a:p>
            <a:pPr marL="0" indent="0">
              <a:buNone/>
            </a:pPr>
            <a:endParaRPr lang="en-US" altLang="zh-TW" sz="2700" dirty="0" smtClean="0"/>
          </a:p>
          <a:p>
            <a:pPr marL="0" indent="0">
              <a:buNone/>
            </a:pPr>
            <a:endParaRPr lang="zh-TW" altLang="en-US" sz="2700" dirty="0"/>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0149" y="5517232"/>
            <a:ext cx="5248275"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0149" y="1124744"/>
            <a:ext cx="6696744" cy="170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0149" y="4141826"/>
            <a:ext cx="5841792" cy="760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188640"/>
            <a:ext cx="8229600" cy="6768752"/>
          </a:xfrm>
        </p:spPr>
        <p:txBody>
          <a:bodyPr>
            <a:normAutofit/>
          </a:bodyPr>
          <a:lstStyle/>
          <a:p>
            <a:r>
              <a:rPr lang="en-US" altLang="zh-TW" sz="2700" dirty="0" smtClean="0"/>
              <a:t>Than P can imply as </a:t>
            </a:r>
            <a:endParaRPr lang="zh-TW" altLang="en-US" sz="27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764704"/>
            <a:ext cx="5495925" cy="79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1772816"/>
            <a:ext cx="6459590" cy="3934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7984" y="2408616"/>
            <a:ext cx="3787034" cy="2458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0966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67544" y="188640"/>
            <a:ext cx="8229600" cy="6552728"/>
          </a:xfrm>
        </p:spPr>
        <p:txBody>
          <a:bodyPr>
            <a:normAutofit lnSpcReduction="10000"/>
          </a:bodyPr>
          <a:lstStyle/>
          <a:p>
            <a:r>
              <a:rPr lang="en-US" altLang="zh-TW" sz="2700" dirty="0"/>
              <a:t>Then Eq. (15) can be rewritten </a:t>
            </a:r>
            <a:r>
              <a:rPr lang="en-US" altLang="zh-TW" sz="2700" dirty="0" smtClean="0"/>
              <a:t>as follows:</a:t>
            </a:r>
          </a:p>
          <a:p>
            <a:endParaRPr lang="en-US" altLang="zh-TW" sz="2700" dirty="0"/>
          </a:p>
          <a:p>
            <a:endParaRPr lang="en-US" altLang="zh-TW" sz="2700" dirty="0" smtClean="0"/>
          </a:p>
          <a:p>
            <a:endParaRPr lang="en-US" altLang="zh-TW" sz="2700" dirty="0"/>
          </a:p>
          <a:p>
            <a:endParaRPr lang="en-US" altLang="zh-TW" sz="2700" dirty="0" smtClean="0"/>
          </a:p>
          <a:p>
            <a:endParaRPr lang="en-US" altLang="zh-TW" sz="2700" dirty="0"/>
          </a:p>
          <a:p>
            <a:r>
              <a:rPr lang="en-US" altLang="zh-TW" sz="2800" dirty="0"/>
              <a:t>By applying the </a:t>
            </a:r>
            <a:r>
              <a:rPr lang="en-US" altLang="zh-TW" sz="2800" dirty="0" err="1"/>
              <a:t>Lagrangian</a:t>
            </a:r>
            <a:r>
              <a:rPr lang="en-US" altLang="zh-TW" sz="2800" dirty="0"/>
              <a:t>, we </a:t>
            </a:r>
            <a:r>
              <a:rPr lang="en-US" altLang="zh-TW" sz="2800" dirty="0" smtClean="0"/>
              <a:t>have</a:t>
            </a:r>
          </a:p>
          <a:p>
            <a:endParaRPr lang="en-US" altLang="zh-TW" sz="2800" dirty="0"/>
          </a:p>
          <a:p>
            <a:endParaRPr lang="en-US" altLang="zh-TW" sz="2800" dirty="0" smtClean="0"/>
          </a:p>
          <a:p>
            <a:endParaRPr lang="en-US" altLang="zh-TW" sz="2800" dirty="0"/>
          </a:p>
          <a:p>
            <a:endParaRPr lang="en-US" altLang="zh-TW" sz="2800" dirty="0" smtClean="0"/>
          </a:p>
          <a:p>
            <a:endParaRPr lang="en-US" altLang="zh-TW" sz="2800" dirty="0"/>
          </a:p>
          <a:p>
            <a:r>
              <a:rPr lang="zh-TW" altLang="en-US" sz="2800" dirty="0" smtClean="0"/>
              <a:t>最後使用</a:t>
            </a:r>
            <a:r>
              <a:rPr lang="en-US" altLang="zh-TW" sz="2800" dirty="0"/>
              <a:t>primal–dual interior point </a:t>
            </a:r>
            <a:r>
              <a:rPr lang="en-US" altLang="zh-TW" sz="2800" dirty="0" smtClean="0"/>
              <a:t>method</a:t>
            </a:r>
            <a:r>
              <a:rPr lang="zh-TW" altLang="en-US" sz="2800" dirty="0" smtClean="0"/>
              <a:t>求解</a:t>
            </a:r>
            <a:endParaRPr lang="zh-TW" altLang="en-US" sz="2700"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620688"/>
            <a:ext cx="4392488" cy="2171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3429000"/>
            <a:ext cx="4375815" cy="2278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574871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Experimental results</a:t>
            </a:r>
            <a:endParaRPr lang="zh-TW" altLang="en-US" dirty="0"/>
          </a:p>
        </p:txBody>
      </p:sp>
      <p:sp>
        <p:nvSpPr>
          <p:cNvPr id="3" name="內容版面配置區 2"/>
          <p:cNvSpPr>
            <a:spLocks noGrp="1"/>
          </p:cNvSpPr>
          <p:nvPr>
            <p:ph idx="1"/>
          </p:nvPr>
        </p:nvSpPr>
        <p:spPr>
          <a:xfrm>
            <a:off x="457200" y="1340769"/>
            <a:ext cx="8229600" cy="1296143"/>
          </a:xfrm>
        </p:spPr>
        <p:txBody>
          <a:bodyPr>
            <a:normAutofit fontScale="70000" lnSpcReduction="20000"/>
          </a:bodyPr>
          <a:lstStyle/>
          <a:p>
            <a:r>
              <a:rPr lang="en-US" altLang="zh-TW" dirty="0" smtClean="0"/>
              <a:t>SDPI use two-kernel learning is adopted for this case, i.e., K = μ</a:t>
            </a:r>
            <a:r>
              <a:rPr lang="en-US" altLang="zh-TW" baseline="-25000" dirty="0" smtClean="0"/>
              <a:t>1</a:t>
            </a:r>
            <a:r>
              <a:rPr lang="en-US" altLang="zh-TW" dirty="0" smtClean="0"/>
              <a:t> *K</a:t>
            </a:r>
            <a:r>
              <a:rPr lang="en-US" altLang="zh-TW" baseline="-25000" dirty="0" smtClean="0"/>
              <a:t>1</a:t>
            </a:r>
            <a:r>
              <a:rPr lang="en-US" altLang="zh-TW" dirty="0" smtClean="0"/>
              <a:t>+ μ</a:t>
            </a:r>
            <a:r>
              <a:rPr lang="en-US" altLang="zh-TW" baseline="-25000" dirty="0" smtClean="0"/>
              <a:t>2</a:t>
            </a:r>
            <a:r>
              <a:rPr lang="en-US" altLang="zh-TW" dirty="0" smtClean="0"/>
              <a:t> *K</a:t>
            </a:r>
            <a:r>
              <a:rPr lang="en-US" altLang="zh-TW" baseline="-25000" dirty="0" smtClean="0"/>
              <a:t>2</a:t>
            </a:r>
            <a:r>
              <a:rPr lang="en-US" altLang="zh-TW" dirty="0" smtClean="0"/>
              <a:t>, where K</a:t>
            </a:r>
            <a:r>
              <a:rPr lang="en-US" altLang="zh-TW" baseline="-25000" dirty="0" smtClean="0"/>
              <a:t>1</a:t>
            </a:r>
            <a:r>
              <a:rPr lang="en-US" altLang="zh-TW" dirty="0" smtClean="0"/>
              <a:t> and K</a:t>
            </a:r>
            <a:r>
              <a:rPr lang="en-US" altLang="zh-TW" baseline="-25000" dirty="0" smtClean="0"/>
              <a:t>2 </a:t>
            </a:r>
            <a:r>
              <a:rPr lang="en-US" altLang="zh-TW" dirty="0" smtClean="0"/>
              <a:t>are RBFs with </a:t>
            </a:r>
            <a:r>
              <a:rPr lang="el-GR" altLang="zh-TW" dirty="0" smtClean="0"/>
              <a:t>γ</a:t>
            </a:r>
            <a:r>
              <a:rPr lang="en-US" altLang="zh-TW" baseline="-25000" dirty="0" smtClean="0"/>
              <a:t>1</a:t>
            </a:r>
            <a:r>
              <a:rPr lang="en-US" altLang="zh-TW" dirty="0" smtClean="0"/>
              <a:t> = 10 and </a:t>
            </a:r>
            <a:r>
              <a:rPr lang="el-GR" altLang="zh-TW" dirty="0" smtClean="0"/>
              <a:t>γ</a:t>
            </a:r>
            <a:r>
              <a:rPr lang="en-US" altLang="zh-TW" baseline="-25000" dirty="0" smtClean="0"/>
              <a:t>2</a:t>
            </a:r>
            <a:r>
              <a:rPr lang="en-US" altLang="zh-TW" dirty="0" smtClean="0"/>
              <a:t> = 0.01, respectively. The optimal weights μ</a:t>
            </a:r>
            <a:r>
              <a:rPr lang="en-US" altLang="zh-TW" baseline="-25000" dirty="0" smtClean="0"/>
              <a:t>1</a:t>
            </a:r>
            <a:r>
              <a:rPr lang="en-US" altLang="zh-TW" dirty="0" smtClean="0"/>
              <a:t> and μ</a:t>
            </a:r>
            <a:r>
              <a:rPr lang="en-US" altLang="zh-TW" baseline="-25000" dirty="0" smtClean="0"/>
              <a:t>2</a:t>
            </a:r>
            <a:r>
              <a:rPr lang="en-US" altLang="zh-TW" dirty="0" smtClean="0"/>
              <a:t> obtained by our SDPI are 0.726 and 0.274.</a:t>
            </a:r>
          </a:p>
          <a:p>
            <a:endParaRPr lang="en-US" altLang="zh-TW" dirty="0" smtClean="0"/>
          </a:p>
          <a:p>
            <a:endParaRPr lang="zh-TW" altLang="en-US" dirty="0"/>
          </a:p>
        </p:txBody>
      </p:sp>
      <p:pic>
        <p:nvPicPr>
          <p:cNvPr id="9218" name="Picture 2"/>
          <p:cNvPicPr>
            <a:picLocks noChangeAspect="1" noChangeArrowheads="1"/>
          </p:cNvPicPr>
          <p:nvPr/>
        </p:nvPicPr>
        <p:blipFill>
          <a:blip r:embed="rId2" cstate="print"/>
          <a:srcRect/>
          <a:stretch>
            <a:fillRect/>
          </a:stretch>
        </p:blipFill>
        <p:spPr bwMode="auto">
          <a:xfrm>
            <a:off x="1979712" y="2564904"/>
            <a:ext cx="5040560" cy="4059031"/>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67544" y="5445224"/>
            <a:ext cx="8301608" cy="936104"/>
          </a:xfrm>
        </p:spPr>
        <p:txBody>
          <a:bodyPr>
            <a:normAutofit fontScale="70000" lnSpcReduction="20000"/>
          </a:bodyPr>
          <a:lstStyle/>
          <a:p>
            <a:r>
              <a:rPr lang="en-US" altLang="zh-TW" dirty="0" smtClean="0"/>
              <a:t>SDPI  and SDPT both adopt two-kernel learning like above Experimental1 , i.e., K = μ</a:t>
            </a:r>
            <a:r>
              <a:rPr lang="en-US" altLang="zh-TW" baseline="-25000" dirty="0" smtClean="0"/>
              <a:t>1</a:t>
            </a:r>
            <a:r>
              <a:rPr lang="en-US" altLang="zh-TW" dirty="0" smtClean="0"/>
              <a:t> *K</a:t>
            </a:r>
            <a:r>
              <a:rPr lang="en-US" altLang="zh-TW" baseline="-25000" dirty="0" smtClean="0"/>
              <a:t>1</a:t>
            </a:r>
            <a:r>
              <a:rPr lang="en-US" altLang="zh-TW" dirty="0" smtClean="0"/>
              <a:t>+ μ</a:t>
            </a:r>
            <a:r>
              <a:rPr lang="en-US" altLang="zh-TW" baseline="-25000" dirty="0" smtClean="0"/>
              <a:t>2</a:t>
            </a:r>
            <a:r>
              <a:rPr lang="en-US" altLang="zh-TW" dirty="0" smtClean="0"/>
              <a:t> *K</a:t>
            </a:r>
            <a:r>
              <a:rPr lang="en-US" altLang="zh-TW" baseline="-25000" dirty="0" smtClean="0"/>
              <a:t>2</a:t>
            </a:r>
            <a:r>
              <a:rPr lang="en-US" altLang="zh-TW" dirty="0" smtClean="0"/>
              <a:t>, where K</a:t>
            </a:r>
            <a:r>
              <a:rPr lang="en-US" altLang="zh-TW" baseline="-25000" dirty="0" smtClean="0"/>
              <a:t>1</a:t>
            </a:r>
            <a:r>
              <a:rPr lang="en-US" altLang="zh-TW" dirty="0" smtClean="0"/>
              <a:t> and K</a:t>
            </a:r>
            <a:r>
              <a:rPr lang="en-US" altLang="zh-TW" baseline="-25000" dirty="0" smtClean="0"/>
              <a:t>2 </a:t>
            </a:r>
            <a:r>
              <a:rPr lang="en-US" altLang="zh-TW" dirty="0" smtClean="0"/>
              <a:t>are RBFs with </a:t>
            </a:r>
            <a:r>
              <a:rPr lang="el-GR" altLang="zh-TW" dirty="0" smtClean="0"/>
              <a:t>γ</a:t>
            </a:r>
            <a:r>
              <a:rPr lang="en-US" altLang="zh-TW" baseline="-25000" dirty="0" smtClean="0"/>
              <a:t>1</a:t>
            </a:r>
            <a:r>
              <a:rPr lang="en-US" altLang="zh-TW" dirty="0" smtClean="0"/>
              <a:t> = 10 and </a:t>
            </a:r>
            <a:r>
              <a:rPr lang="el-GR" altLang="zh-TW" dirty="0" smtClean="0"/>
              <a:t>γ</a:t>
            </a:r>
            <a:r>
              <a:rPr lang="en-US" altLang="zh-TW" baseline="-25000" dirty="0" smtClean="0"/>
              <a:t>2</a:t>
            </a:r>
            <a:r>
              <a:rPr lang="en-US" altLang="zh-TW" dirty="0" smtClean="0"/>
              <a:t> = 0.01, respectively. </a:t>
            </a:r>
          </a:p>
          <a:p>
            <a:endParaRPr lang="en-US" altLang="zh-TW" dirty="0" smtClean="0"/>
          </a:p>
        </p:txBody>
      </p:sp>
      <p:pic>
        <p:nvPicPr>
          <p:cNvPr id="10242" name="Picture 2"/>
          <p:cNvPicPr>
            <a:picLocks noChangeAspect="1" noChangeArrowheads="1"/>
          </p:cNvPicPr>
          <p:nvPr/>
        </p:nvPicPr>
        <p:blipFill>
          <a:blip r:embed="rId2" cstate="print"/>
          <a:srcRect/>
          <a:stretch>
            <a:fillRect/>
          </a:stretch>
        </p:blipFill>
        <p:spPr bwMode="auto">
          <a:xfrm>
            <a:off x="1835696" y="404664"/>
            <a:ext cx="5523334" cy="4849923"/>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457200" y="5517232"/>
            <a:ext cx="8229600" cy="608931"/>
          </a:xfrm>
        </p:spPr>
        <p:txBody>
          <a:bodyPr>
            <a:normAutofit/>
          </a:bodyPr>
          <a:lstStyle/>
          <a:p>
            <a:endParaRPr lang="zh-TW" altLang="en-US" dirty="0"/>
          </a:p>
        </p:txBody>
      </p:sp>
      <p:pic>
        <p:nvPicPr>
          <p:cNvPr id="11266" name="Picture 2"/>
          <p:cNvPicPr>
            <a:picLocks noChangeAspect="1" noChangeArrowheads="1"/>
          </p:cNvPicPr>
          <p:nvPr/>
        </p:nvPicPr>
        <p:blipFill>
          <a:blip r:embed="rId2" cstate="print"/>
          <a:srcRect/>
          <a:stretch>
            <a:fillRect/>
          </a:stretch>
        </p:blipFill>
        <p:spPr bwMode="auto">
          <a:xfrm>
            <a:off x="1403648" y="404664"/>
            <a:ext cx="5778982" cy="5056609"/>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a:xfrm>
            <a:off x="539552" y="5877272"/>
            <a:ext cx="8229600" cy="608931"/>
          </a:xfrm>
        </p:spPr>
        <p:txBody>
          <a:bodyPr/>
          <a:lstStyle/>
          <a:p>
            <a:endParaRPr lang="zh-TW" altLang="en-US" dirty="0"/>
          </a:p>
        </p:txBody>
      </p:sp>
      <p:pic>
        <p:nvPicPr>
          <p:cNvPr id="12290" name="Picture 2"/>
          <p:cNvPicPr>
            <a:picLocks noChangeAspect="1" noChangeArrowheads="1"/>
          </p:cNvPicPr>
          <p:nvPr/>
        </p:nvPicPr>
        <p:blipFill>
          <a:blip r:embed="rId2" cstate="print"/>
          <a:srcRect/>
          <a:stretch>
            <a:fillRect/>
          </a:stretch>
        </p:blipFill>
        <p:spPr bwMode="auto">
          <a:xfrm>
            <a:off x="1547664" y="548680"/>
            <a:ext cx="6120680" cy="5344289"/>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13314" name="Picture 2"/>
          <p:cNvPicPr>
            <a:picLocks noChangeAspect="1" noChangeArrowheads="1"/>
          </p:cNvPicPr>
          <p:nvPr/>
        </p:nvPicPr>
        <p:blipFill>
          <a:blip r:embed="rId2" cstate="print"/>
          <a:srcRect/>
          <a:stretch>
            <a:fillRect/>
          </a:stretch>
        </p:blipFill>
        <p:spPr bwMode="auto">
          <a:xfrm>
            <a:off x="1547664" y="1340768"/>
            <a:ext cx="6154300" cy="5354166"/>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14338" name="Picture 2"/>
          <p:cNvPicPr>
            <a:picLocks noChangeAspect="1" noChangeArrowheads="1"/>
          </p:cNvPicPr>
          <p:nvPr/>
        </p:nvPicPr>
        <p:blipFill>
          <a:blip r:embed="rId2" cstate="print"/>
          <a:srcRect/>
          <a:stretch>
            <a:fillRect/>
          </a:stretch>
        </p:blipFill>
        <p:spPr bwMode="auto">
          <a:xfrm>
            <a:off x="1259632" y="908720"/>
            <a:ext cx="6736232" cy="5184141"/>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116632"/>
            <a:ext cx="8229600" cy="2304256"/>
          </a:xfrm>
        </p:spPr>
        <p:txBody>
          <a:bodyPr>
            <a:normAutofit fontScale="92500" lnSpcReduction="10000"/>
          </a:bodyPr>
          <a:lstStyle/>
          <a:p>
            <a:r>
              <a:rPr lang="en-US" altLang="zh-TW" dirty="0" smtClean="0"/>
              <a:t>Single kernel SVM, SDPI, and SDPT, on some real datasets. </a:t>
            </a:r>
          </a:p>
          <a:p>
            <a:r>
              <a:rPr lang="en-US" altLang="zh-TW" dirty="0" smtClean="0"/>
              <a:t>Three </a:t>
            </a:r>
            <a:r>
              <a:rPr lang="en-US" altLang="zh-TW" dirty="0" err="1" smtClean="0"/>
              <a:t>datasets,‘breast</a:t>
            </a:r>
            <a:r>
              <a:rPr lang="en-US" altLang="zh-TW" dirty="0" smtClean="0"/>
              <a:t> cancer’, ‘ionosphere’, and ‘sonar’, are taken from the UCI, and one dataset, ‘heart’, is taken from the </a:t>
            </a:r>
            <a:r>
              <a:rPr lang="en-US" altLang="zh-TW" dirty="0" err="1" smtClean="0"/>
              <a:t>Statlog</a:t>
            </a:r>
            <a:r>
              <a:rPr lang="en-US" altLang="zh-TW" dirty="0" smtClean="0"/>
              <a:t> collection</a:t>
            </a:r>
            <a:endParaRPr lang="zh-TW" altLang="en-US" dirty="0"/>
          </a:p>
        </p:txBody>
      </p:sp>
      <p:pic>
        <p:nvPicPr>
          <p:cNvPr id="15362" name="Picture 2"/>
          <p:cNvPicPr>
            <a:picLocks noChangeAspect="1" noChangeArrowheads="1"/>
          </p:cNvPicPr>
          <p:nvPr/>
        </p:nvPicPr>
        <p:blipFill>
          <a:blip r:embed="rId2" cstate="print"/>
          <a:srcRect/>
          <a:stretch>
            <a:fillRect/>
          </a:stretch>
        </p:blipFill>
        <p:spPr bwMode="auto">
          <a:xfrm>
            <a:off x="467544" y="2564904"/>
            <a:ext cx="8105775" cy="4086225"/>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16386" name="Picture 2"/>
          <p:cNvPicPr>
            <a:picLocks noChangeAspect="1" noChangeArrowheads="1"/>
          </p:cNvPicPr>
          <p:nvPr/>
        </p:nvPicPr>
        <p:blipFill>
          <a:blip r:embed="rId2" cstate="print"/>
          <a:srcRect/>
          <a:stretch>
            <a:fillRect/>
          </a:stretch>
        </p:blipFill>
        <p:spPr bwMode="auto">
          <a:xfrm>
            <a:off x="611560" y="1844824"/>
            <a:ext cx="8086725" cy="4391025"/>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17410" name="Picture 2"/>
          <p:cNvPicPr>
            <a:picLocks noChangeAspect="1" noChangeArrowheads="1"/>
          </p:cNvPicPr>
          <p:nvPr/>
        </p:nvPicPr>
        <p:blipFill>
          <a:blip r:embed="rId2" cstate="print"/>
          <a:srcRect/>
          <a:stretch>
            <a:fillRect/>
          </a:stretch>
        </p:blipFill>
        <p:spPr bwMode="auto">
          <a:xfrm>
            <a:off x="539552" y="1268760"/>
            <a:ext cx="8029575" cy="5172075"/>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18434" name="Picture 2"/>
          <p:cNvPicPr>
            <a:picLocks noChangeAspect="1" noChangeArrowheads="1"/>
          </p:cNvPicPr>
          <p:nvPr/>
        </p:nvPicPr>
        <p:blipFill>
          <a:blip r:embed="rId2" cstate="print"/>
          <a:srcRect/>
          <a:stretch>
            <a:fillRect/>
          </a:stretch>
        </p:blipFill>
        <p:spPr bwMode="auto">
          <a:xfrm>
            <a:off x="611560" y="1628800"/>
            <a:ext cx="8115300" cy="468630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19458" name="Picture 2"/>
          <p:cNvPicPr>
            <a:picLocks noChangeAspect="1" noChangeArrowheads="1"/>
          </p:cNvPicPr>
          <p:nvPr/>
        </p:nvPicPr>
        <p:blipFill>
          <a:blip r:embed="rId2" cstate="print"/>
          <a:srcRect/>
          <a:stretch>
            <a:fillRect/>
          </a:stretch>
        </p:blipFill>
        <p:spPr bwMode="auto">
          <a:xfrm>
            <a:off x="1314450" y="1671638"/>
            <a:ext cx="6515100" cy="3514725"/>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21506" name="Picture 2"/>
          <p:cNvPicPr>
            <a:picLocks noChangeAspect="1" noChangeArrowheads="1"/>
          </p:cNvPicPr>
          <p:nvPr/>
        </p:nvPicPr>
        <p:blipFill>
          <a:blip r:embed="rId2" cstate="print"/>
          <a:srcRect/>
          <a:stretch>
            <a:fillRect/>
          </a:stretch>
        </p:blipFill>
        <p:spPr bwMode="auto">
          <a:xfrm>
            <a:off x="1547664" y="1772816"/>
            <a:ext cx="6457950" cy="4162425"/>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20482" name="Picture 2"/>
          <p:cNvPicPr>
            <a:picLocks noChangeAspect="1" noChangeArrowheads="1"/>
          </p:cNvPicPr>
          <p:nvPr/>
        </p:nvPicPr>
        <p:blipFill>
          <a:blip r:embed="rId2" cstate="print"/>
          <a:srcRect/>
          <a:stretch>
            <a:fillRect/>
          </a:stretch>
        </p:blipFill>
        <p:spPr bwMode="auto">
          <a:xfrm>
            <a:off x="1328738" y="1666875"/>
            <a:ext cx="6486525" cy="352425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22530" name="Picture 2"/>
          <p:cNvPicPr>
            <a:picLocks noChangeAspect="1" noChangeArrowheads="1"/>
          </p:cNvPicPr>
          <p:nvPr/>
        </p:nvPicPr>
        <p:blipFill>
          <a:blip r:embed="rId2" cstate="print"/>
          <a:srcRect/>
          <a:stretch>
            <a:fillRect/>
          </a:stretch>
        </p:blipFill>
        <p:spPr bwMode="auto">
          <a:xfrm>
            <a:off x="1331640" y="2204864"/>
            <a:ext cx="6496050" cy="3524250"/>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767</TotalTime>
  <Words>830</Words>
  <Application>Microsoft Office PowerPoint</Application>
  <PresentationFormat>如螢幕大小 (4:3)</PresentationFormat>
  <Paragraphs>94</Paragraphs>
  <Slides>29</Slides>
  <Notes>0</Notes>
  <HiddenSlides>0</HiddenSlides>
  <MMClips>0</MMClips>
  <ScaleCrop>false</ScaleCrop>
  <HeadingPairs>
    <vt:vector size="4" baseType="variant">
      <vt:variant>
        <vt:lpstr>佈景主題</vt:lpstr>
      </vt:variant>
      <vt:variant>
        <vt:i4>1</vt:i4>
      </vt:variant>
      <vt:variant>
        <vt:lpstr>投影片標題</vt:lpstr>
      </vt:variant>
      <vt:variant>
        <vt:i4>29</vt:i4>
      </vt:variant>
    </vt:vector>
  </HeadingPairs>
  <TitlesOfParts>
    <vt:vector size="30" baseType="lpstr">
      <vt:lpstr>Office 佈景主題</vt:lpstr>
      <vt:lpstr>An efﬁcient multiple-kernel learning for pattern classiﬁcation</vt:lpstr>
      <vt:lpstr>abstract</vt:lpstr>
      <vt:lpstr>abstract</vt:lpstr>
      <vt:lpstr>Lagrange Multiplier Method</vt:lpstr>
      <vt:lpstr>Lagrange Multiplier Method</vt:lpstr>
      <vt:lpstr>SVM 的概念</vt:lpstr>
      <vt:lpstr>PowerPoint 簡報</vt:lpstr>
      <vt:lpstr>Soft margin SVM</vt:lpstr>
      <vt:lpstr>PowerPoint 簡報</vt:lpstr>
      <vt:lpstr>Multiple-kernel learning</vt:lpstr>
      <vt:lpstr>PowerPoint 簡報</vt:lpstr>
      <vt:lpstr>Proposed Method</vt:lpstr>
      <vt:lpstr>PowerPoint 簡報</vt:lpstr>
      <vt:lpstr>PowerPoint 簡報</vt:lpstr>
      <vt:lpstr>PowerPoint 簡報</vt:lpstr>
      <vt:lpstr>Experimental results</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new grouping genetic algorithm for clustering problems</dc:title>
  <dc:creator>Transcend</dc:creator>
  <cp:lastModifiedBy>fjy</cp:lastModifiedBy>
  <cp:revision>73</cp:revision>
  <dcterms:created xsi:type="dcterms:W3CDTF">2013-02-25T04:11:30Z</dcterms:created>
  <dcterms:modified xsi:type="dcterms:W3CDTF">2013-03-18T10:34:49Z</dcterms:modified>
</cp:coreProperties>
</file>